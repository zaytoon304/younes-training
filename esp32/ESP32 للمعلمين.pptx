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</p:sldIdLst>
  <p:notesMasterIdLst>
    <p:notesMasterId r:id="rId15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notesMaster" Target="notesMasters/notesMaster1.xml"/><Relationship Id="rId157" Type="http://schemas.openxmlformats.org/officeDocument/2006/relationships/presProps" Target="presProps.xml"/><Relationship Id="rId158" Type="http://schemas.openxmlformats.org/officeDocument/2006/relationships/viewProps" Target="viewProps.xml"/><Relationship Id="rId159" Type="http://schemas.openxmlformats.org/officeDocument/2006/relationships/theme" Target="theme/theme1.xml"/><Relationship Id="rId1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رحّب بالمعلمين. قل: «في دورة الأردوينو صنعنا أول ليد يومض. اليوم نتعلم لوحة أقوى بخمس عشرة مرة، فيها واي فاي وبلوتوث، وبالسعر نفسه تقريبًا: ESP32. وكل ما تعلمناه في الأردوينو سيبقى معنا».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عرّف بنفسك، واذكر أن مشروعي الفريق في أولمبياد الروبوت العالمي هذا العام بُنيا على ESP32: هذه ليست دورة نظرية.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اترك المشهد يعمل: الليد الأزرق يومض، وموجات الواي فاي تخرج من الهوائي إلى جوال وسحابة وبيت ذكي، والحساسات والروبوت والإضاءة متصلة بها. اسأل: «ما الذي لا يستطيعه الأونو هنا؟» الاتصال.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اربطها بما رآه المعلمون: «لمسة تراث» يستخدم ESP32 لتدوير المجسم واستقبال أوامر العين عبر الواي فاي، و«صانع الذكريات» يدير كل شيء من ESP32 واحدة.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اللحظة ستكون في الجزء الثاني. في هذا الجزء نبني الأساس المتين الذي يجعلها ممكنة.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اضغط «تشغيل»: الليد الأزرق في اللوحة يومض، والسطر الذي يُنفَّذ يتلوّن. غيّر الانتظار. ثم اختر GPIO34: لا يضيء أبدًا! سنعرف السبب في المحور الثاني. قل: «بنهاية المحور السابع ستكتبون هذا وتفهمون كل سطر».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الكابل أكثر سبب لفشل المبتدئين: كابلات كثيرة تشحن فقط ولا تنقل بيانات. جرّبوه قبل الدورة.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من درس دورة الأردوينو الأولى سيرى الترتيب نفسه تمامًا. الفرق في التفاصيل التي تجعل ESP32 مختلفًا: ٣٫٣ فولت، والأطراف الممنوعة، وزر BOOT، واللمس، وPWM بلا حدود.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ابدأ بسؤال: «لو أردت أن يرسل مشروع الأردوينو رسالة إلى جوالك، ماذا تحتاج؟» قطعة واي فاي إضافية وأسلاك ومكتبات. ESP32 فيها كل ذلك.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الجملة المفتاحية للمعلمين: «كل ما تعلمته في الأردوينو يعمل هنا تقريبًا كما هو». pinMode وdigitalWrite وdelay… كلها هي.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أرِ المعلمين لوحة حقيقية إن وُجدت، ودعها تمر بينهم.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ESP32 اليوم في أجهزة منزلية ذكية ومصانع وألعاب حول العالم: طلابك يتعلمون على شريحة صناعية حقيقية.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الصف الأول هو الأهم عمليًا: ٣٫٣ فولت. سنعود إليه في كل محور تقريبًا.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كل اللوحات تُبرمج بالطريقة نفسها تقريبًا. نبدأ بـ DevKit V1 لأنها الأكثر توفرًا والأكثر دروسًا على الإنترنت.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المقابس الذكية والمصابيح الذكية الرخيصة كثير منها يعمل فعلًا بشرائح Espressif.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المحور التالي: نفتح اللوحة جزءًا جزءًا.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هذا المحور أهم فرق عن الأونو: في الأونو كل الأطراف الرقمية تقريبًا متشابهة، أما هنا فبعضها ممنوع وبعضها مدخل فقط.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اضغط «جولة على اللوحة» لتمر الأجزاء العشرة واحدًا واحدًا، أو اضغط ما يسأل عنه المعلمون. ركّز على: الهوائي (لا نغطيه)، وزرّي EN وBOOT، والليد الأزرق على GPIO2.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بعض اللوحات تطبع G23 أو IO23 بدل D23: كلها تعني GPIO23.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اضغط «آمن للمخرجات»: هذه أطراف الليدات والمحركات. ثم «مدخلات فقط»: ٣٤ و٣٥ و٣٦ و٣٩ (تذكروا تجربة الوميض على ٣٤ في الافتتاح!). ثم «أطراف الإقلاع» و«منفذ الحاسوب». ثم الفئات الخاصة: ADC2 الذي لا يعمل مع الواي فاي، واللمس، والـ DAC. اضغط أي طرف لترى كل فئاته.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علّقوا خريطة الأطراف في المعمل. أغلب أعطال ESP32 عند المبتدئين سببها طرف من الفئة الخطأ.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الآمنة أبواب عادية، و٣٤–٣٩ أبواب دخول فقط، وأطراف الإقلاع أبواب طوارئ.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اطبعوا خريطة الأطراف بحجم كبير. سيعود إليها الطلاب في كل حصة.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المحور التالي: الطاقة، ورفع أول برنامج.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من يعرف Arduino IDE سيجد البرنامج نفسه: نضيف إليه لوحات ESP32 فقط.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تدخل ١٢ فولت على VIN في لوحات DevKit الرخيصة: منظّمها صغير. وكل الأطراف تعمل على ٣٫٣ فولت.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في الأونو كان ٥ فولت جهد كل شيء. هنا قد يتلف الطرف أو الشريحة. حساسات ٥ فولت تحتاج مقسّم جهد، وسنتعلمه في الجزء الثاني.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رابط اللوحات: https://espressif.github.io/arduino-esp32/package_esp32_index.json — اكتبوه على السبورة. والتعريف: ابحث عن «CP210x driver» أو «CH340 driver» من مواقع الشركات الرسمية.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من حضر دورة الأردوينو الأولى عنده البرنامج: يكفيه إضافة الرابط وتثبيت الحزمة.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اضغط «رفع» ولا تفعل شيئًا: تظهر Connecting بنقاط وشرطات… ثم يفشل الرفع برسالة Wrong boot mode. هذا أشهر موقف مع ESP32! أعد واضغط مطولًا «BOOT» حين تظهر Connecting: ينجح. ثم فعّل «لوحتي تدخل وحدها»: لوحات كثيرة لا تحتاج BOOT. قاعدة للطلاب: إن رأيت Connecting طويلًا… اضغط BOOT.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جهزوا الحزمة على حواسيب المعمل قبل الحصة: تنزيلها قد يأخذ وقتًا مع شبكة المدرسة.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المحور التالي: المختبر الافتراضي Wokwi ولوح التوصيل.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في دورة الأردوينو استعملنا Tinkercad. لكنه لا يدعم ESP32، فننتقل إلى Wokwi: أقوى، ومجاني، ويعمل بلا تسجيل.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وWokwi يحاكي الواي فاي أيضًا! سنحتاج هذا في الجزء الثاني.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الليد في Wokwi يضيء فعلًا، والشاشة التسلسلية تظهر تحت المحاكاة.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أعطهم خمس دقائق ليضغطوا ▶ ويروا اللوحة تعمل.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نفس لوح التوصيل الذي عرفناه في دورة الأردوينو. مرّر الماوس على الثقوب، ثم الجولة. الخطوتان الأخيرتان (الليد الصحيح والخاطئ) أهم ما في المحور.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بعض المدارس تشتري «لوحة توسعة» (Expansion board) تحت ESP32 بأطراف مرقّمة: مريحة جدًا للطلاب الصغار.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تماس 3V3 مع GND قد يُسخن منظّم اللوحة. اجعلوا الفحص عادة قبل كل تشغيل.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الجمع بين الافتراضي والحقيقي أقوى تعليميًا من أي منهما وحده.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المحور التالي: الدوائر الكهربائية.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قوانين الكهرباء لا تتغير مع اللوحة: ما تعلمناه في دورة الأردوينو صالح هنا كله، مع ٣٫٣ فولت بدل 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نفس رموز دورة الأردوينو. اطلب من المتدربين رسم دائرة «طرف ← مقاومة ← ليد ← أرضي» بالرموز قبل الشريحة التالية.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المسار المغلق هو مفتاح فهم كل الأعطال: إن لم يضئ الليد فابحث عن المكان المفتوح.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لاحظوا: نختار الطرف 23 لأنه آمن (المحور الثاني). والمقاومة ٢٢٠ أوم، وسنعرف في المحور القادم لماذا تكفي مع ٣٫٣ فولت.
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اكتبوها على السبورة طوال الدورة.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اضغط ليدًا في دائرة التوالي: تنطفئ كلها. ثم في التوازي: يبقى الباقي مضاءً. ومع ٣٫٣ فولت: ليدان على التوالي (٢ + ٢ = ٤ فولت) لا يضيئان أبدًا! لهذا نوصل ليدات ESP32 على التوازي أو كل ليد على طرف.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السطر الثالث خاص بـ ESP32، ومهم جدًا: طالب يضع ثلاثة ليدات متتالية على طرف واحد ويستغرب أنها لا تضيء.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تتبع المسار بالإصبع من الطرف إلى GND أفضل أداة تشخيص للطلاب.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المحور التالي: لماذا ٢٢٠ أوم؟ قانون أوم مع ٣٫٣ فولت.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هنا يظهر أثر ٣٫٣ فولت في الحساب: مقاومات أصغر، وليدات زرقاء خافتة.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السطر الأخير يربط المحور الثاني: المدخلات تقبل كل الأطراف تقريبًا، والمخرجات على الآمنة فقط.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الجديد هنا السطر الثالث: الليد الأزرق والأبيض يحتاجان نحو ٣ فولت، فلا يبقى للمقاومة إلا ٠٫٣ فولت.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نفس أداة دورة الأردوينو. جرّب ١٠٠ (بني أسود بني) و٢٢٠ (أحمر أحمر بني)، فهما الأشهر مع ESP32.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ضغط أقل يعني أننا نحتاج أنبوبًا أوسع (مقاومة أصغر) ليمر الماء نفسه.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نستعمل الصيغة الثالثة لحساب المقاومة: R = (جهد الطرف − جهد الليد) ÷ التيار.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ابدأ بالأحمر و٢٢٠ أوم: نحو ٦ مللي أمبير، إضاءة جيدة. قلّل المقاومة إلى ٣٠: يتجاوز ٢٠ مللي أمبير، تحذير. ثم اختر الأزرق: خافت مهما فعلت تقريبًا! هذا درس حقيقي: الليد الأزرق مع ٣٫٣ فولت يحتاج مقاومة صغيرة جدًا، أو ترانزستور مع ٥ فولت.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قارنوا بالأونو: (٥ − ٢) ÷ ٠٫٠١ = ٣٠٠ ← ٣٣٠ أوم. مع ESP32 قيمة أصغر للسطوع نفسه.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مقارنة ٣٫٣ و٥ في النشاط نفسه ترسّخ الفكرة أكثر من أي شرح.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المحور التالي: أول برنامج نكتبه بأيدينا.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لحظة الدورة الأولى: كل متدرب يجعل لوحته تومض.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ابدأ بـ GPIO2: الليد الأزرق المدمج. ثم GPIO23: الليد الخارجي يومض والسلك ظاهر. ثم 25. ثم 34: لا شيء! ورسالة تشرح السبب. غيّر WAIT إلى ١٠٠: وميض سريع.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نفس دائرة المحور الخامس: الآن نبرمجها.
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هذا الملف ضمن «حقيبة الأكواد» في آخر الدورة: يُنزَّل ويُرفع مباشرة.
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نشاط مورس يجعل الطلاب يكتبون عشرات الأسطر من digitalWrite وdelay بحماس.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المحور التالي: ثلاثة ليدات، وإشارة مرور، ومتغيرات.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أول مشروع حقيقي متعدد المخرجات.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لماذا 25 و26 و27؟ آمنة، ومتجاورة، فالأسلاك مرتبة.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ارسموا الجدول قبل الكود دائمًا: الكود ترجمة للجدول.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سكة أرضي واحدة لكل الليدات توفر الأسلاك وتنظم الدائرة.
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اضغط تشغيل: الإشارة تعمل والسطر المنفَّذ يضيء في الكود، والعدّاد يعدّ الثواني. سرّع العرض. اسأل: «أين نضيف مرحلة جديدة (أحمر + أصفر معًا)؟»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هذا هو التفكير الحاسوبي: تصميم ثم ترجمة ثم تنفيذ.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 red = 25: صندوق اسمه red فيه الرقم 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في ESP32 مساحة int أكبر من الأونو (٣٢ بت)، فلا نقلق من الأرقام الكبيرة.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اضغط EN: يظهر سطرا الإقلاع الخاصان بـ ESP32، ثم Round 1 إلى 5 ثم Done. الآن اختر 9600 واضغط EN: رموز غريبة! أشهر سؤال من الطلاب. القاعدة: سرعة الشاشة = الرقم في Serial.begin، و115200 هي المعتادة مع ESP32.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الطباعة على الشاشة التسلسلية أفضل أداة لفهم ما يحدث داخل الكود.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المحور التالي: الضوء بدرجات… PWM في ESP32.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في الأونو ستة أطراف فقط عليها ~. في ESP32 تقريبًا كل الأطراف الآمنة، ومعها تحكم كامل.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نفس سر الأونو. الجديد في ESP32 أننا نتحكم في عدد المرات (التردد) وعدد الدرجات (الدقة).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حرّك DUTY: الموجة تتغير والليد يخفت. اخفض التردد تحت ٤٠ هرتز: الليد يومض أمام العين! ارفعه: ضوء ثابت. غيّر الدقة إلى ١٠ بت: السطوع من ٠ إلى ١٠٢٣ بدل ٢٥٥، أي درجات أنعم. الكود يتغير مع كل حركة.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المحرّك داخل الشريحة اسمه LEDC (LED Control)، وفيه ١٦ قناة PWM مستقلة.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الأسهل: analogWrite(23, d) تعمل أيضًا في حزمة ESP32 الحديثة (٣٫x) بإعدادات افتراضية. نعلّم ledcAttach لأنها تفتح التحكم في التردد والدقة. ملاحظة: الحزمة القديمة (٢٫x) كانت تستعمل ledcSetup وledcAttachPin.
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الفولتميتر يقيس المتوسط. والأقصى ٣٫٣ لا ٥ كما في الأونو.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إن عملت الألوان بالعكس فالليد مصعد مشترك: اعكس القيم بـ 255 − القيمة.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الأطراف 16 و17 و18 آمنة ومتجاورة. ضعوا مقاومة لكل لون.
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حرّك المؤشرات الثلاثة، أو اختر لونًا جاهزًا. الكود يتولد فورًا بأطراف ESP32. بدّل إلى «مصعد مشترك»: القيم تنعكس في الكود.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نشاط يجمع البرمجة والفنون: ممتاز لتدريس STEAM.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المحور التالي: الأزرار… وميزة لا يملكها الأونو، اللمس.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الأزرار كما في الأونو تقريبًا، ثم مفاجأة: ESP32 تحس بالإصبع على سلك عادي.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هذا التحذير صادف فريق «صانع الذكريات» فعلًا: أزرارهم على 35 و36 و39 احتاجت مقاومات خارجية.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اضغط الزر: LOW والليد يضيء. اختر INPUT: الطرف عائم والقراءة ترتجف. أعد INPUT_PULLUP واختر GPIO34: يرتجف أيضًا! لأن 34 لا سحب داخلي فيه. الكود يتغير مع كل اختيار.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لاحظوا: لا مقاومة للزر. INPUT_PULLUP يكفي على الطرف 4.
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الخطأ الأشهر: if (digitalRead(BTN) = LOW) بعلامة واحدة. المقارنة == بعلامتين.
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الجسم يغيّر «سعة» السلك، والشريحة تقيس هذا التغير. سلك أو رقاقة ألمنيوم أو حتى ثمرة فاكهة تصبح زرًا!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حرّك المؤشر ليقترب الإصبع: قراءة touchRead تنخفض من نحو ٧٠ إلى أقل من ٢٠. حين تعبر الحد (٣٠) يضيء الليد. راقب الرسم. في الواقع: سلك من الطرف 4 إلى رقاقة ألمنيوم، والمس.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كل لوحة وكل سلك يعطي أرقامًا مختلفة قليلًا: لهذا نطبع أولًا ثم نختار الحد. هذا خاص بـ ESP32 الأصلية (DevKit V1)؛ في S2 وS3 القراءة ترتفع مع اللمس بدل أن تنخفض.
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نشاط يبهر الطلاب الصغار ويعلّمهم الموصلات والعوازل. أطراف اللمس: 4 و13 و14 و27 و32 و33 وغيرها.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المحور الأخير: مشروع التخرج.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كل ما تعلمناه في مشروع واحد.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اربط المشروع بمشكلة حقيقية: معبر أمام المدرسة.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كل الأطراف من الفئة الآمنة.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ركّبوا كل جزء واختبروه قبل التالي: السيارات، ثم المشاة، ثم الزر.
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تحدٍّ ESP32: استبدلوا السطر ١١ بـ if (touchRead(4) &lt; 30) لزر عبور باللمس.
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معيار «الإضافة» يفتح باب الإبداع: زر لمس، أو إضاءة تتلاشى، أو عدّاد على الشاشة التسلسلية.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وزّعوا الحقيبة على المعلمين في نهاية الدورة: يكفي النقر لتنزيل أي كود.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حصتان أسبوعيًا تكفيان. ومن أنهى الجزء الأول جاهز للجزء الثاني: الواي فاي.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شوّقهم: «الإشارة التي بنيتموها اليوم… ستتحكمون بها من جوالاتكم في الجزء الثاني».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السؤال الثالث عملي: قائمة لوحات وكابلات وليدات للأسبوع القادم.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اشكر المعلمين، وذكّرهم بأن كل المحاكيات وحقيبة الأكواد على منصة جذور.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شريحة الختام.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jpg"/><Relationship Id="rId2" Type="http://schemas.openxmlformats.org/officeDocument/2006/relationships/image" Target="../media/image-61-2.jpg"/><Relationship Id="rId3" Type="http://schemas.openxmlformats.org/officeDocument/2006/relationships/image" Target="../media/image-61-3.jpg"/><Relationship Id="rId4" Type="http://schemas.openxmlformats.org/officeDocument/2006/relationships/image" Target="../media/image-61-4.jpg"/><Relationship Id="rId5" Type="http://schemas.openxmlformats.org/officeDocument/2006/relationships/image" Target="../media/image-61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jpg"/><Relationship Id="rId2" Type="http://schemas.openxmlformats.org/officeDocument/2006/relationships/image" Target="../media/image-86-2.jpg"/><Relationship Id="rId3" Type="http://schemas.openxmlformats.org/officeDocument/2006/relationships/image" Target="../media/image-86-3.jpg"/><Relationship Id="rId4" Type="http://schemas.openxmlformats.org/officeDocument/2006/relationships/image" Target="../media/image-86-4.jpg"/><Relationship Id="rId5" Type="http://schemas.openxmlformats.org/officeDocument/2006/relationships/image" Target="../media/image-86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jpg"/><Relationship Id="rId2" Type="http://schemas.openxmlformats.org/officeDocument/2006/relationships/image" Target="../media/image-88-2.jpg"/><Relationship Id="rId3" Type="http://schemas.openxmlformats.org/officeDocument/2006/relationships/image" Target="../media/image-88-3.jpg"/><Relationship Id="rId4" Type="http://schemas.openxmlformats.org/officeDocument/2006/relationships/image" Target="../media/image-88-4.jpg"/><Relationship Id="rId5" Type="http://schemas.openxmlformats.org/officeDocument/2006/relationships/image" Target="../media/image-88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jpg"/><Relationship Id="rId2" Type="http://schemas.openxmlformats.org/officeDocument/2006/relationships/image" Target="../media/image-89-2.jpg"/><Relationship Id="rId3" Type="http://schemas.openxmlformats.org/officeDocument/2006/relationships/image" Target="../media/image-89-3.jpg"/><Relationship Id="rId4" Type="http://schemas.openxmlformats.org/officeDocument/2006/relationships/image" Target="../media/image-89-4.jpg"/><Relationship Id="rId5" Type="http://schemas.openxmlformats.org/officeDocument/2006/relationships/image" Target="../media/image-89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jpg"/><Relationship Id="rId2" Type="http://schemas.openxmlformats.org/officeDocument/2006/relationships/image" Target="../media/image-100-2.jpg"/><Relationship Id="rId3" Type="http://schemas.openxmlformats.org/officeDocument/2006/relationships/image" Target="../media/image-100-3.jpg"/><Relationship Id="rId4" Type="http://schemas.openxmlformats.org/officeDocument/2006/relationships/image" Target="../media/image-100-4.jpg"/><Relationship Id="rId5" Type="http://schemas.openxmlformats.org/officeDocument/2006/relationships/image" Target="../media/image-100-5.jpg"/><Relationship Id="rId6" Type="http://schemas.openxmlformats.org/officeDocument/2006/relationships/image" Target="../media/image-100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7-1.jpg"/><Relationship Id="rId2" Type="http://schemas.openxmlformats.org/officeDocument/2006/relationships/image" Target="../media/image-107-2.jpg"/><Relationship Id="rId3" Type="http://schemas.openxmlformats.org/officeDocument/2006/relationships/image" Target="../media/image-107-3.jpg"/><Relationship Id="rId4" Type="http://schemas.openxmlformats.org/officeDocument/2006/relationships/image" Target="../media/image-107-4.jpg"/><Relationship Id="rId5" Type="http://schemas.openxmlformats.org/officeDocument/2006/relationships/image" Target="../media/image-107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9-1.jpg"/><Relationship Id="rId2" Type="http://schemas.openxmlformats.org/officeDocument/2006/relationships/image" Target="../media/image-119-2.jpg"/><Relationship Id="rId3" Type="http://schemas.openxmlformats.org/officeDocument/2006/relationships/image" Target="../media/image-119-3.jpg"/><Relationship Id="rId4" Type="http://schemas.openxmlformats.org/officeDocument/2006/relationships/image" Target="../media/image-119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2-1.jpg"/><Relationship Id="rId2" Type="http://schemas.openxmlformats.org/officeDocument/2006/relationships/image" Target="../media/image-122-2.jpg"/><Relationship Id="rId3" Type="http://schemas.openxmlformats.org/officeDocument/2006/relationships/image" Target="../media/image-122-3.jpg"/><Relationship Id="rId4" Type="http://schemas.openxmlformats.org/officeDocument/2006/relationships/image" Target="../media/image-122-4.jpg"/><Relationship Id="rId5" Type="http://schemas.openxmlformats.org/officeDocument/2006/relationships/image" Target="../media/image-122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3-1.jpg"/><Relationship Id="rId2" Type="http://schemas.openxmlformats.org/officeDocument/2006/relationships/image" Target="../media/image-133-2.jpg"/><Relationship Id="rId3" Type="http://schemas.openxmlformats.org/officeDocument/2006/relationships/image" Target="../media/image-133-3.jpg"/><Relationship Id="rId4" Type="http://schemas.openxmlformats.org/officeDocument/2006/relationships/image" Target="../media/image-133-4.jpg"/><Relationship Id="rId5" Type="http://schemas.openxmlformats.org/officeDocument/2006/relationships/image" Target="../media/image-133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4-1.jpg"/><Relationship Id="rId2" Type="http://schemas.openxmlformats.org/officeDocument/2006/relationships/image" Target="../media/image-134-2.jpg"/><Relationship Id="rId3" Type="http://schemas.openxmlformats.org/officeDocument/2006/relationships/image" Target="../media/image-134-3.jpg"/><Relationship Id="rId4" Type="http://schemas.openxmlformats.org/officeDocument/2006/relationships/image" Target="../media/image-134-4.jpg"/><Relationship Id="rId5" Type="http://schemas.openxmlformats.org/officeDocument/2006/relationships/image" Target="../media/image-134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5-1.jpg"/><Relationship Id="rId2" Type="http://schemas.openxmlformats.org/officeDocument/2006/relationships/image" Target="../media/image-135-2.jpg"/><Relationship Id="rId3" Type="http://schemas.openxmlformats.org/officeDocument/2006/relationships/image" Target="../media/image-135-3.jpg"/><Relationship Id="rId4" Type="http://schemas.openxmlformats.org/officeDocument/2006/relationships/image" Target="../media/image-135-4.jpg"/><Relationship Id="rId5" Type="http://schemas.openxmlformats.org/officeDocument/2006/relationships/image" Target="../media/image-135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8-1.jpg"/><Relationship Id="rId2" Type="http://schemas.openxmlformats.org/officeDocument/2006/relationships/image" Target="../media/image-138-2.jpg"/><Relationship Id="rId3" Type="http://schemas.openxmlformats.org/officeDocument/2006/relationships/image" Target="../media/image-138-3.jpg"/><Relationship Id="rId4" Type="http://schemas.openxmlformats.org/officeDocument/2006/relationships/image" Target="../media/image-138-4.jpg"/><Relationship Id="rId5" Type="http://schemas.openxmlformats.org/officeDocument/2006/relationships/image" Target="../media/image-138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4-image-1.jpeg"/><Relationship Id="rId2" Type="http://schemas.openxmlformats.org/officeDocument/2006/relationships/image" Target="../media/image-144-2.jpg"/><Relationship Id="rId3" Type="http://schemas.openxmlformats.org/officeDocument/2006/relationships/image" Target="../media/image-14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6-1.jpg"/><Relationship Id="rId2" Type="http://schemas.openxmlformats.org/officeDocument/2006/relationships/image" Target="../media/image-146-2.jpg"/><Relationship Id="rId3" Type="http://schemas.openxmlformats.org/officeDocument/2006/relationships/image" Target="../media/image-146-3.jpg"/><Relationship Id="rId4" Type="http://schemas.openxmlformats.org/officeDocument/2006/relationships/image" Target="../media/image-146-4.jpg"/><Relationship Id="rId5" Type="http://schemas.openxmlformats.org/officeDocument/2006/relationships/image" Target="../media/image-146-5.jpg"/><Relationship Id="rId6" Type="http://schemas.openxmlformats.org/officeDocument/2006/relationships/image" Target="../media/image-146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7-1.jpg"/><Relationship Id="rId2" Type="http://schemas.openxmlformats.org/officeDocument/2006/relationships/image" Target="../media/image-147-2.jpg"/><Relationship Id="rId3" Type="http://schemas.openxmlformats.org/officeDocument/2006/relationships/image" Target="../media/image-147-3.jpg"/><Relationship Id="rId4" Type="http://schemas.openxmlformats.org/officeDocument/2006/relationships/image" Target="../media/image-147-4.jpg"/><Relationship Id="rId5" Type="http://schemas.openxmlformats.org/officeDocument/2006/relationships/image" Target="../media/image-147-5.jpg"/><Relationship Id="rId6" Type="http://schemas.openxmlformats.org/officeDocument/2006/relationships/image" Target="../media/image-147-6.jpg"/><Relationship Id="rId7" Type="http://schemas.openxmlformats.org/officeDocument/2006/relationships/image" Target="../media/image-147-7.jpg"/><Relationship Id="rId8" Type="http://schemas.openxmlformats.org/officeDocument/2006/relationships/image" Target="../media/image-147-8.jp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15788" y="731520"/>
            <a:ext cx="960120" cy="960120"/>
          </a:xfrm>
          <a:prstGeom prst="roundRect">
            <a:avLst>
              <a:gd name="adj" fmla="val 26667"/>
            </a:avLst>
          </a:prstGeom>
          <a:solidFill>
            <a:srgbClr val="D9AE4B"/>
          </a:solidFill>
          <a:ln/>
          <a:effectLst>
            <a:outerShdw sx="100000" sy="100000" kx="0" ky="0" algn="bl" rotWithShape="0" blurRad="254000" dist="50800" dir="16200000">
              <a:srgbClr val="D9AE4B">
                <a:alpha val="4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15788" y="7315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</a:t>
            </a:r>
            <a:endParaRPr lang="ar-SA" sz="4400" dirty="0"/>
          </a:p>
        </p:txBody>
      </p:sp>
      <p:sp>
        <p:nvSpPr>
          <p:cNvPr id="4" name="Text 2"/>
          <p:cNvSpPr/>
          <p:nvPr/>
        </p:nvSpPr>
        <p:spPr>
          <a:xfrm>
            <a:off x="0" y="19202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مغامرات ESP32</a:t>
            </a:r>
            <a:endParaRPr lang="ar-SA" sz="2000" dirty="0"/>
          </a:p>
        </p:txBody>
      </p:sp>
      <p:sp>
        <p:nvSpPr>
          <p:cNvPr id="5" name="Text 3"/>
          <p:cNvSpPr/>
          <p:nvPr/>
        </p:nvSpPr>
        <p:spPr>
          <a:xfrm>
            <a:off x="0" y="2331720"/>
            <a:ext cx="121916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FFF3D6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ESP32 للمعلمين</a:t>
            </a:r>
            <a:endParaRPr lang="ar-SA" sz="9600" dirty="0"/>
          </a:p>
        </p:txBody>
      </p:sp>
      <p:sp>
        <p:nvSpPr>
          <p:cNvPr id="6" name="Text 4"/>
          <p:cNvSpPr/>
          <p:nvPr/>
        </p:nvSpPr>
        <p:spPr>
          <a:xfrm>
            <a:off x="0" y="379476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الجزء الأول: من أول وميض… إلى أول مشروع يصنعه طلابك</a:t>
            </a:r>
            <a:endParaRPr lang="ar-SA" sz="2800" dirty="0"/>
          </a:p>
        </p:txBody>
      </p:sp>
      <p:sp>
        <p:nvSpPr>
          <p:cNvPr id="7" name="Shape 5"/>
          <p:cNvSpPr/>
          <p:nvPr/>
        </p:nvSpPr>
        <p:spPr>
          <a:xfrm>
            <a:off x="5364328" y="4617720"/>
            <a:ext cx="1463040" cy="36576"/>
          </a:xfrm>
          <a:prstGeom prst="rect">
            <a:avLst/>
          </a:prstGeom>
          <a:solidFill>
            <a:srgbClr val="D9AE4B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20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إعداد وتقديم: </a:t>
            </a:r>
            <a:pPr algn="ctr" indent="0" marL="0">
              <a:buNone/>
            </a:pPr>
            <a:r>
              <a:rPr lang="ar-SA" altLang="en-US" sz="20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أ. محمد زيتون</a:t>
            </a:r>
            <a:endParaRPr lang="ar-SA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مقدّم الدورة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أ. محمد زيتون</a:t>
            </a:r>
            <a:endParaRPr lang="ar-SA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22346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مشرف تربوي — الابتكار والذكاء الاصطناعي وSTEAM · مدارس الأرقم</a:t>
            </a:r>
            <a:endParaRPr lang="ar-SA" sz="2000" dirty="0"/>
          </a:p>
        </p:txBody>
      </p:sp>
      <p:sp>
        <p:nvSpPr>
          <p:cNvPr id="6" name="anim-g1-1"/>
          <p:cNvSpPr/>
          <p:nvPr/>
        </p:nvSpPr>
        <p:spPr>
          <a:xfrm>
            <a:off x="8066837" y="2560320"/>
            <a:ext cx="3301898" cy="2286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7" name="anim-g1-2"/>
          <p:cNvSpPr/>
          <p:nvPr/>
        </p:nvSpPr>
        <p:spPr>
          <a:xfrm>
            <a:off x="8066837" y="2743200"/>
            <a:ext cx="33018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B08A2E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٣٣</a:t>
            </a:r>
            <a:endParaRPr lang="ar-SA" sz="5600" dirty="0"/>
          </a:p>
        </p:txBody>
      </p:sp>
      <p:sp>
        <p:nvSpPr>
          <p:cNvPr id="8" name="anim-g1-3"/>
          <p:cNvSpPr/>
          <p:nvPr/>
        </p:nvSpPr>
        <p:spPr>
          <a:xfrm>
            <a:off x="8249717" y="3886200"/>
            <a:ext cx="29361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01B4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عامًا في الميدان التعليمي</a:t>
            </a:r>
            <a:endParaRPr lang="ar-SA" sz="2000" dirty="0"/>
          </a:p>
        </p:txBody>
      </p:sp>
      <p:sp>
        <p:nvSpPr>
          <p:cNvPr id="9" name="anim-g2-4"/>
          <p:cNvSpPr/>
          <p:nvPr/>
        </p:nvSpPr>
        <p:spPr>
          <a:xfrm>
            <a:off x="4444898" y="2560320"/>
            <a:ext cx="3301898" cy="2286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0" name="anim-g2-5"/>
          <p:cNvSpPr/>
          <p:nvPr/>
        </p:nvSpPr>
        <p:spPr>
          <a:xfrm>
            <a:off x="4444898" y="2743200"/>
            <a:ext cx="33018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B08A2E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WRO</a:t>
            </a:r>
            <a:endParaRPr lang="ar-SA" sz="3600" dirty="0"/>
          </a:p>
        </p:txBody>
      </p:sp>
      <p:sp>
        <p:nvSpPr>
          <p:cNvPr id="11" name="anim-g2-6"/>
          <p:cNvSpPr/>
          <p:nvPr/>
        </p:nvSpPr>
        <p:spPr>
          <a:xfrm>
            <a:off x="4627778" y="3886200"/>
            <a:ext cx="29361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01B4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مشروعان على ESP32: لمسة تراث وصانع الذكريات</a:t>
            </a:r>
            <a:endParaRPr lang="ar-SA" sz="2000" dirty="0"/>
          </a:p>
        </p:txBody>
      </p:sp>
      <p:sp>
        <p:nvSpPr>
          <p:cNvPr id="12" name="anim-g3-7"/>
          <p:cNvSpPr/>
          <p:nvPr/>
        </p:nvSpPr>
        <p:spPr>
          <a:xfrm>
            <a:off x="822960" y="2560320"/>
            <a:ext cx="3301898" cy="2286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3" name="anim-g3-8"/>
          <p:cNvSpPr/>
          <p:nvPr/>
        </p:nvSpPr>
        <p:spPr>
          <a:xfrm>
            <a:off x="822960" y="2743200"/>
            <a:ext cx="33018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B08A2E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Microsoft</a:t>
            </a:r>
            <a:endParaRPr lang="ar-SA" sz="3600" dirty="0"/>
          </a:p>
        </p:txBody>
      </p:sp>
      <p:sp>
        <p:nvSpPr>
          <p:cNvPr id="14" name="anim-g3-9"/>
          <p:cNvSpPr/>
          <p:nvPr/>
        </p:nvSpPr>
        <p:spPr>
          <a:xfrm>
            <a:off x="1005840" y="3886200"/>
            <a:ext cx="29361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01B4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مدرب معتمد</a:t>
            </a:r>
            <a:endParaRPr lang="ar-SA" sz="2000" dirty="0"/>
          </a:p>
        </p:txBody>
      </p:sp>
      <p:sp>
        <p:nvSpPr>
          <p:cNvPr id="15" name="anim-g4-10"/>
          <p:cNvSpPr/>
          <p:nvPr/>
        </p:nvSpPr>
        <p:spPr>
          <a:xfrm>
            <a:off x="822960" y="525780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مؤلف «رحلة عبر الأردوينو» و«أردوينو بلا قيود» و«دليل المعلم في تعلم الأردوينو»</a:t>
            </a:r>
            <a:endParaRPr lang="ar-SA" sz="1800" dirty="0"/>
          </a:p>
        </p:txBody>
      </p:sp>
      <p:sp>
        <p:nvSpPr>
          <p:cNvPr id="16" name="Text 14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الافتتاح  ·  ٢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27871" y="457200"/>
            <a:ext cx="2340864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9027871" y="45720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أربعة أسباب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ماذا يكسب طلابك من ESP32؟</a:t>
            </a:r>
            <a:endParaRPr lang="ar-SA" sz="3800" dirty="0"/>
          </a:p>
        </p:txBody>
      </p:sp>
      <p:sp>
        <p:nvSpPr>
          <p:cNvPr id="5" name="anim-g1-11"/>
          <p:cNvSpPr/>
          <p:nvPr/>
        </p:nvSpPr>
        <p:spPr>
          <a:xfrm>
            <a:off x="6233008" y="2011680"/>
            <a:ext cx="513572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12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13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📡</a:t>
            </a:r>
            <a:endParaRPr lang="ar-SA" sz="2200" dirty="0"/>
          </a:p>
        </p:txBody>
      </p:sp>
      <p:sp>
        <p:nvSpPr>
          <p:cNvPr id="8" name="anim-g1-14"/>
          <p:cNvSpPr/>
          <p:nvPr/>
        </p:nvSpPr>
        <p:spPr>
          <a:xfrm>
            <a:off x="6507328" y="294436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إنترنت الأشياء</a:t>
            </a:r>
            <a:endParaRPr lang="ar-SA" sz="2200" dirty="0"/>
          </a:p>
        </p:txBody>
      </p:sp>
      <p:sp>
        <p:nvSpPr>
          <p:cNvPr id="9" name="anim-g1-15"/>
          <p:cNvSpPr/>
          <p:nvPr/>
        </p:nvSpPr>
        <p:spPr>
          <a:xfrm>
            <a:off x="6507328" y="3493008"/>
            <a:ext cx="458708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مشاريعهم تتصل بالجوال والإنترنت دون أي قطعة إضافية</a:t>
            </a:r>
            <a:endParaRPr lang="ar-SA" sz="1900" dirty="0"/>
          </a:p>
        </p:txBody>
      </p:sp>
      <p:sp>
        <p:nvSpPr>
          <p:cNvPr id="10" name="anim-g2-16"/>
          <p:cNvSpPr/>
          <p:nvPr/>
        </p:nvSpPr>
        <p:spPr>
          <a:xfrm>
            <a:off x="822960" y="2011680"/>
            <a:ext cx="513572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17"/>
          <p:cNvSpPr/>
          <p:nvPr/>
        </p:nvSpPr>
        <p:spPr>
          <a:xfrm>
            <a:off x="511744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18"/>
          <p:cNvSpPr/>
          <p:nvPr/>
        </p:nvSpPr>
        <p:spPr>
          <a:xfrm>
            <a:off x="511744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⚡</a:t>
            </a:r>
            <a:endParaRPr lang="ar-SA" sz="2200" dirty="0"/>
          </a:p>
        </p:txBody>
      </p:sp>
      <p:sp>
        <p:nvSpPr>
          <p:cNvPr id="13" name="anim-g2-19"/>
          <p:cNvSpPr/>
          <p:nvPr/>
        </p:nvSpPr>
        <p:spPr>
          <a:xfrm>
            <a:off x="1097280" y="294436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قوة حقيقية</a:t>
            </a:r>
            <a:endParaRPr lang="ar-SA" sz="2200" dirty="0"/>
          </a:p>
        </p:txBody>
      </p:sp>
      <p:sp>
        <p:nvSpPr>
          <p:cNvPr id="14" name="anim-g2-20"/>
          <p:cNvSpPr/>
          <p:nvPr/>
        </p:nvSpPr>
        <p:spPr>
          <a:xfrm>
            <a:off x="1097280" y="3493008"/>
            <a:ext cx="458708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نواتان وسرعة ٢٤٠ ميجاهرتز: يكفي لمشاريع المسابقات</a:t>
            </a:r>
            <a:endParaRPr lang="ar-SA" sz="1900" dirty="0"/>
          </a:p>
        </p:txBody>
      </p:sp>
      <p:sp>
        <p:nvSpPr>
          <p:cNvPr id="15" name="anim-g3-21"/>
          <p:cNvSpPr/>
          <p:nvPr/>
        </p:nvSpPr>
        <p:spPr>
          <a:xfrm>
            <a:off x="6233008" y="4137660"/>
            <a:ext cx="513572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22"/>
          <p:cNvSpPr/>
          <p:nvPr/>
        </p:nvSpPr>
        <p:spPr>
          <a:xfrm>
            <a:off x="10527487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23"/>
          <p:cNvSpPr/>
          <p:nvPr/>
        </p:nvSpPr>
        <p:spPr>
          <a:xfrm>
            <a:off x="10527487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💰</a:t>
            </a:r>
            <a:endParaRPr lang="ar-SA" sz="2200" dirty="0"/>
          </a:p>
        </p:txBody>
      </p:sp>
      <p:sp>
        <p:nvSpPr>
          <p:cNvPr id="18" name="anim-g3-24"/>
          <p:cNvSpPr/>
          <p:nvPr/>
        </p:nvSpPr>
        <p:spPr>
          <a:xfrm>
            <a:off x="6507328" y="507034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رخيصة ومتوفرة</a:t>
            </a:r>
            <a:endParaRPr lang="ar-SA" sz="2200" dirty="0"/>
          </a:p>
        </p:txBody>
      </p:sp>
      <p:sp>
        <p:nvSpPr>
          <p:cNvPr id="19" name="anim-g3-25"/>
          <p:cNvSpPr/>
          <p:nvPr/>
        </p:nvSpPr>
        <p:spPr>
          <a:xfrm>
            <a:off x="6507328" y="5618988"/>
            <a:ext cx="458708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قريبة من سعر الأونو، وتُستعمل في منتجات حقيقية حول العالم</a:t>
            </a:r>
            <a:endParaRPr lang="ar-SA" sz="1900" dirty="0"/>
          </a:p>
        </p:txBody>
      </p:sp>
      <p:sp>
        <p:nvSpPr>
          <p:cNvPr id="20" name="anim-g4-26"/>
          <p:cNvSpPr/>
          <p:nvPr/>
        </p:nvSpPr>
        <p:spPr>
          <a:xfrm>
            <a:off x="822960" y="4137660"/>
            <a:ext cx="513572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21" name="anim-g4-27"/>
          <p:cNvSpPr/>
          <p:nvPr/>
        </p:nvSpPr>
        <p:spPr>
          <a:xfrm>
            <a:off x="5117440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22" name="anim-g4-28"/>
          <p:cNvSpPr/>
          <p:nvPr/>
        </p:nvSpPr>
        <p:spPr>
          <a:xfrm>
            <a:off x="5117440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🏆</a:t>
            </a:r>
            <a:endParaRPr lang="ar-SA" sz="2200" dirty="0"/>
          </a:p>
        </p:txBody>
      </p:sp>
      <p:sp>
        <p:nvSpPr>
          <p:cNvPr id="23" name="anim-g4-29"/>
          <p:cNvSpPr/>
          <p:nvPr/>
        </p:nvSpPr>
        <p:spPr>
          <a:xfrm>
            <a:off x="1097280" y="507034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لغة المسابقات</a:t>
            </a:r>
            <a:endParaRPr lang="ar-SA" sz="2200" dirty="0"/>
          </a:p>
        </p:txBody>
      </p:sp>
      <p:sp>
        <p:nvSpPr>
          <p:cNvPr id="24" name="anim-g4-30"/>
          <p:cNvSpPr/>
          <p:nvPr/>
        </p:nvSpPr>
        <p:spPr>
          <a:xfrm>
            <a:off x="1097280" y="5618988"/>
            <a:ext cx="458708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مشاريع WRO والمعارض الحديثة تعتمد عليها</a:t>
            </a:r>
            <a:endParaRPr lang="ar-SA" sz="1900" dirty="0"/>
          </a:p>
        </p:txBody>
      </p:sp>
      <p:sp>
        <p:nvSpPr>
          <p:cNvPr id="25" name="Text 2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الافتتاح  ·  ٤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79112" y="1188720"/>
            <a:ext cx="2633472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79112" y="118872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لحظة لا تُنسى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الطالب الذي يُضيء ليدًا من جواله لأول مرة…</a:t>
            </a:r>
            <a:endParaRPr lang="ar-SA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 يدرك أن العالم كله صار في متناول يده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الافتتاح  ·  ٥</a:t>
            </a:r>
            <a:endParaRPr lang="ar-SA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قبل الانطلاق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ماذا تحتاج لهذه الدورة؟</a:t>
            </a:r>
            <a:endParaRPr lang="ar-SA" sz="3800" dirty="0"/>
          </a:p>
        </p:txBody>
      </p:sp>
      <p:sp>
        <p:nvSpPr>
          <p:cNvPr id="5" name="anim-g1-31"/>
          <p:cNvSpPr/>
          <p:nvPr/>
        </p:nvSpPr>
        <p:spPr>
          <a:xfrm>
            <a:off x="6233008" y="2011680"/>
            <a:ext cx="513572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32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33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💻</a:t>
            </a:r>
            <a:endParaRPr lang="ar-SA" sz="2200" dirty="0"/>
          </a:p>
        </p:txBody>
      </p:sp>
      <p:sp>
        <p:nvSpPr>
          <p:cNvPr id="8" name="anim-g1-34"/>
          <p:cNvSpPr/>
          <p:nvPr/>
        </p:nvSpPr>
        <p:spPr>
          <a:xfrm>
            <a:off x="6507328" y="294436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حاسوب ومتصفح</a:t>
            </a:r>
            <a:endParaRPr lang="ar-SA" sz="2200" dirty="0"/>
          </a:p>
        </p:txBody>
      </p:sp>
      <p:sp>
        <p:nvSpPr>
          <p:cNvPr id="9" name="anim-g1-35"/>
          <p:cNvSpPr/>
          <p:nvPr/>
        </p:nvSpPr>
        <p:spPr>
          <a:xfrm>
            <a:off x="6507328" y="3493008"/>
            <a:ext cx="458708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مع برنامج Arduino IDE (مجاني)</a:t>
            </a:r>
            <a:endParaRPr lang="ar-SA" sz="1900" dirty="0"/>
          </a:p>
        </p:txBody>
      </p:sp>
      <p:sp>
        <p:nvSpPr>
          <p:cNvPr id="10" name="anim-g2-36"/>
          <p:cNvSpPr/>
          <p:nvPr/>
        </p:nvSpPr>
        <p:spPr>
          <a:xfrm>
            <a:off x="822960" y="2011680"/>
            <a:ext cx="513572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37"/>
          <p:cNvSpPr/>
          <p:nvPr/>
        </p:nvSpPr>
        <p:spPr>
          <a:xfrm>
            <a:off x="511744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38"/>
          <p:cNvSpPr/>
          <p:nvPr/>
        </p:nvSpPr>
        <p:spPr>
          <a:xfrm>
            <a:off x="511744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🌐</a:t>
            </a:r>
            <a:endParaRPr lang="ar-SA" sz="2200" dirty="0"/>
          </a:p>
        </p:txBody>
      </p:sp>
      <p:sp>
        <p:nvSpPr>
          <p:cNvPr id="13" name="anim-g2-39"/>
          <p:cNvSpPr/>
          <p:nvPr/>
        </p:nvSpPr>
        <p:spPr>
          <a:xfrm>
            <a:off x="1097280" y="294436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Wokwi</a:t>
            </a:r>
            <a:endParaRPr lang="ar-SA" sz="2200" dirty="0"/>
          </a:p>
        </p:txBody>
      </p:sp>
      <p:sp>
        <p:nvSpPr>
          <p:cNvPr id="14" name="anim-g2-40"/>
          <p:cNvSpPr/>
          <p:nvPr/>
        </p:nvSpPr>
        <p:spPr>
          <a:xfrm>
            <a:off x="1097280" y="3493008"/>
            <a:ext cx="458708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محاكي مجاني يدعم ESP32، بلا حساب حتى</a:t>
            </a:r>
            <a:endParaRPr lang="ar-SA" sz="1900" dirty="0"/>
          </a:p>
        </p:txBody>
      </p:sp>
      <p:sp>
        <p:nvSpPr>
          <p:cNvPr id="15" name="anim-g3-41"/>
          <p:cNvSpPr/>
          <p:nvPr/>
        </p:nvSpPr>
        <p:spPr>
          <a:xfrm>
            <a:off x="6233008" y="4137660"/>
            <a:ext cx="513572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42"/>
          <p:cNvSpPr/>
          <p:nvPr/>
        </p:nvSpPr>
        <p:spPr>
          <a:xfrm>
            <a:off x="10527487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43"/>
          <p:cNvSpPr/>
          <p:nvPr/>
        </p:nvSpPr>
        <p:spPr>
          <a:xfrm>
            <a:off x="10527487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🔌</a:t>
            </a:r>
            <a:endParaRPr lang="ar-SA" sz="2200" dirty="0"/>
          </a:p>
        </p:txBody>
      </p:sp>
      <p:sp>
        <p:nvSpPr>
          <p:cNvPr id="18" name="anim-g3-44"/>
          <p:cNvSpPr/>
          <p:nvPr/>
        </p:nvSpPr>
        <p:spPr>
          <a:xfrm>
            <a:off x="6507328" y="507034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لوحة ESP32 DevKit (اختياري)</a:t>
            </a:r>
            <a:endParaRPr lang="ar-SA" sz="2200" dirty="0"/>
          </a:p>
        </p:txBody>
      </p:sp>
      <p:sp>
        <p:nvSpPr>
          <p:cNvPr id="19" name="anim-g3-45"/>
          <p:cNvSpPr/>
          <p:nvPr/>
        </p:nvSpPr>
        <p:spPr>
          <a:xfrm>
            <a:off x="6507328" y="5618988"/>
            <a:ext cx="458708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مع كابل USB يدعم البيانات لا الشحن فقط</a:t>
            </a:r>
            <a:endParaRPr lang="ar-SA" sz="1900" dirty="0"/>
          </a:p>
        </p:txBody>
      </p:sp>
      <p:sp>
        <p:nvSpPr>
          <p:cNvPr id="20" name="anim-g4-46"/>
          <p:cNvSpPr/>
          <p:nvPr/>
        </p:nvSpPr>
        <p:spPr>
          <a:xfrm>
            <a:off x="822960" y="4137660"/>
            <a:ext cx="513572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21" name="anim-g4-47"/>
          <p:cNvSpPr/>
          <p:nvPr/>
        </p:nvSpPr>
        <p:spPr>
          <a:xfrm>
            <a:off x="5117440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22" name="anim-g4-48"/>
          <p:cNvSpPr/>
          <p:nvPr/>
        </p:nvSpPr>
        <p:spPr>
          <a:xfrm>
            <a:off x="5117440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☕</a:t>
            </a:r>
            <a:endParaRPr lang="ar-SA" sz="2200" dirty="0"/>
          </a:p>
        </p:txBody>
      </p:sp>
      <p:sp>
        <p:nvSpPr>
          <p:cNvPr id="23" name="anim-g4-49"/>
          <p:cNvSpPr/>
          <p:nvPr/>
        </p:nvSpPr>
        <p:spPr>
          <a:xfrm>
            <a:off x="1097280" y="507034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خبرة الأردوينو الأولى</a:t>
            </a:r>
            <a:endParaRPr lang="ar-SA" sz="2200" dirty="0"/>
          </a:p>
        </p:txBody>
      </p:sp>
      <p:sp>
        <p:nvSpPr>
          <p:cNvPr id="24" name="anim-g4-50"/>
          <p:cNvSpPr/>
          <p:nvPr/>
        </p:nvSpPr>
        <p:spPr>
          <a:xfrm>
            <a:off x="1097280" y="5618988"/>
            <a:ext cx="458708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تفيدك جدًا، لكنها ليست شرطًا</a:t>
            </a:r>
            <a:endParaRPr lang="ar-SA" sz="1900" dirty="0"/>
          </a:p>
        </p:txBody>
      </p:sp>
      <p:sp>
        <p:nvSpPr>
          <p:cNvPr id="25" name="Text 2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الافتتاح  ·  ٧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خريطة الرحلة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اثنا عشر محورًا… بخطوات دورة الأردوينو نفسها</a:t>
            </a:r>
            <a:endParaRPr lang="ar-SA" sz="3200" dirty="0"/>
          </a:p>
        </p:txBody>
      </p:sp>
      <p:sp>
        <p:nvSpPr>
          <p:cNvPr id="5" name="Shape 3"/>
          <p:cNvSpPr/>
          <p:nvPr/>
        </p:nvSpPr>
        <p:spPr>
          <a:xfrm>
            <a:off x="8903741" y="1965960"/>
            <a:ext cx="246499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64063" y="212598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01B45"/>
          </a:solidFill>
          <a:ln/>
        </p:spPr>
      </p:sp>
      <p:sp>
        <p:nvSpPr>
          <p:cNvPr id="7" name="Text 5"/>
          <p:cNvSpPr/>
          <p:nvPr/>
        </p:nvSpPr>
        <p:spPr>
          <a:xfrm>
            <a:off x="10564063" y="21259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🚀</a:t>
            </a:r>
            <a:endParaRPr lang="ar-SA" sz="2400" dirty="0"/>
          </a:p>
        </p:txBody>
      </p:sp>
      <p:sp>
        <p:nvSpPr>
          <p:cNvPr id="8" name="Text 6"/>
          <p:cNvSpPr/>
          <p:nvPr/>
        </p:nvSpPr>
        <p:spPr>
          <a:xfrm>
            <a:off x="9040901" y="2057400"/>
            <a:ext cx="1413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٠</a:t>
            </a:r>
            <a:endParaRPr lang="ar-SA" sz="1400" dirty="0"/>
          </a:p>
        </p:txBody>
      </p:sp>
      <p:sp>
        <p:nvSpPr>
          <p:cNvPr id="9" name="Text 7"/>
          <p:cNvSpPr/>
          <p:nvPr/>
        </p:nvSpPr>
        <p:spPr>
          <a:xfrm>
            <a:off x="9040901" y="2331720"/>
            <a:ext cx="141343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الافتتاح</a:t>
            </a:r>
            <a:endParaRPr lang="ar-SA" sz="1800" dirty="0"/>
          </a:p>
        </p:txBody>
      </p:sp>
      <p:sp>
        <p:nvSpPr>
          <p:cNvPr id="10" name="Shape 8"/>
          <p:cNvSpPr/>
          <p:nvPr/>
        </p:nvSpPr>
        <p:spPr>
          <a:xfrm>
            <a:off x="6210148" y="1965960"/>
            <a:ext cx="246499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70469" y="212598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01B45"/>
          </a:solidFill>
          <a:ln/>
        </p:spPr>
      </p:sp>
      <p:sp>
        <p:nvSpPr>
          <p:cNvPr id="12" name="Text 10"/>
          <p:cNvSpPr/>
          <p:nvPr/>
        </p:nvSpPr>
        <p:spPr>
          <a:xfrm>
            <a:off x="7870469" y="21259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❓</a:t>
            </a:r>
            <a:endParaRPr lang="ar-SA" sz="2400" dirty="0"/>
          </a:p>
        </p:txBody>
      </p:sp>
      <p:sp>
        <p:nvSpPr>
          <p:cNvPr id="13" name="Text 11"/>
          <p:cNvSpPr/>
          <p:nvPr/>
        </p:nvSpPr>
        <p:spPr>
          <a:xfrm>
            <a:off x="6347308" y="2057400"/>
            <a:ext cx="1413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١</a:t>
            </a:r>
            <a:endParaRPr lang="ar-SA" sz="1400" dirty="0"/>
          </a:p>
        </p:txBody>
      </p:sp>
      <p:sp>
        <p:nvSpPr>
          <p:cNvPr id="14" name="Text 12"/>
          <p:cNvSpPr/>
          <p:nvPr/>
        </p:nvSpPr>
        <p:spPr>
          <a:xfrm>
            <a:off x="6347308" y="2331720"/>
            <a:ext cx="141343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ما ESP32؟</a:t>
            </a:r>
            <a:endParaRPr lang="ar-SA" sz="1800" dirty="0"/>
          </a:p>
        </p:txBody>
      </p:sp>
      <p:sp>
        <p:nvSpPr>
          <p:cNvPr id="15" name="Shape 13"/>
          <p:cNvSpPr/>
          <p:nvPr/>
        </p:nvSpPr>
        <p:spPr>
          <a:xfrm>
            <a:off x="3516554" y="1965960"/>
            <a:ext cx="246499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76876" y="212598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01B45"/>
          </a:solidFill>
          <a:ln/>
        </p:spPr>
      </p:sp>
      <p:sp>
        <p:nvSpPr>
          <p:cNvPr id="17" name="Text 15"/>
          <p:cNvSpPr/>
          <p:nvPr/>
        </p:nvSpPr>
        <p:spPr>
          <a:xfrm>
            <a:off x="5176876" y="21259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🔍</a:t>
            </a:r>
            <a:endParaRPr lang="ar-SA" sz="2400" dirty="0"/>
          </a:p>
        </p:txBody>
      </p:sp>
      <p:sp>
        <p:nvSpPr>
          <p:cNvPr id="18" name="Text 16"/>
          <p:cNvSpPr/>
          <p:nvPr/>
        </p:nvSpPr>
        <p:spPr>
          <a:xfrm>
            <a:off x="3653714" y="2057400"/>
            <a:ext cx="1413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٢</a:t>
            </a:r>
            <a:endParaRPr lang="ar-SA" sz="1400" dirty="0"/>
          </a:p>
        </p:txBody>
      </p:sp>
      <p:sp>
        <p:nvSpPr>
          <p:cNvPr id="19" name="Text 17"/>
          <p:cNvSpPr/>
          <p:nvPr/>
        </p:nvSpPr>
        <p:spPr>
          <a:xfrm>
            <a:off x="3653714" y="2331720"/>
            <a:ext cx="141343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تشريح اللوحة والأطراف</a:t>
            </a:r>
            <a:endParaRPr lang="ar-SA" sz="1800" dirty="0"/>
          </a:p>
        </p:txBody>
      </p:sp>
      <p:sp>
        <p:nvSpPr>
          <p:cNvPr id="20" name="Shape 18"/>
          <p:cNvSpPr/>
          <p:nvPr/>
        </p:nvSpPr>
        <p:spPr>
          <a:xfrm>
            <a:off x="822960" y="1965960"/>
            <a:ext cx="246499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83282" y="212598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01B45"/>
          </a:solidFill>
          <a:ln/>
        </p:spPr>
      </p:sp>
      <p:sp>
        <p:nvSpPr>
          <p:cNvPr id="22" name="Text 20"/>
          <p:cNvSpPr/>
          <p:nvPr/>
        </p:nvSpPr>
        <p:spPr>
          <a:xfrm>
            <a:off x="2483282" y="21259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⚡</a:t>
            </a:r>
            <a:endParaRPr lang="ar-SA" sz="2400" dirty="0"/>
          </a:p>
        </p:txBody>
      </p:sp>
      <p:sp>
        <p:nvSpPr>
          <p:cNvPr id="23" name="Text 21"/>
          <p:cNvSpPr/>
          <p:nvPr/>
        </p:nvSpPr>
        <p:spPr>
          <a:xfrm>
            <a:off x="960120" y="2057400"/>
            <a:ext cx="1413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٣</a:t>
            </a:r>
            <a:endParaRPr lang="ar-SA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2331720"/>
            <a:ext cx="141343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الطاقة والرفع</a:t>
            </a:r>
            <a:endParaRPr lang="ar-SA" sz="1800" dirty="0"/>
          </a:p>
        </p:txBody>
      </p:sp>
      <p:sp>
        <p:nvSpPr>
          <p:cNvPr id="25" name="Shape 23"/>
          <p:cNvSpPr/>
          <p:nvPr/>
        </p:nvSpPr>
        <p:spPr>
          <a:xfrm>
            <a:off x="8903741" y="3090672"/>
            <a:ext cx="246499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64063" y="3250692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01B45"/>
          </a:solidFill>
          <a:ln/>
        </p:spPr>
      </p:sp>
      <p:sp>
        <p:nvSpPr>
          <p:cNvPr id="27" name="Text 25"/>
          <p:cNvSpPr/>
          <p:nvPr/>
        </p:nvSpPr>
        <p:spPr>
          <a:xfrm>
            <a:off x="10564063" y="32506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🧪</a:t>
            </a:r>
            <a:endParaRPr lang="ar-SA" sz="2400" dirty="0"/>
          </a:p>
        </p:txBody>
      </p:sp>
      <p:sp>
        <p:nvSpPr>
          <p:cNvPr id="28" name="Text 26"/>
          <p:cNvSpPr/>
          <p:nvPr/>
        </p:nvSpPr>
        <p:spPr>
          <a:xfrm>
            <a:off x="9040901" y="3182112"/>
            <a:ext cx="1413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٤</a:t>
            </a:r>
            <a:endParaRPr lang="ar-SA" sz="1400" dirty="0"/>
          </a:p>
        </p:txBody>
      </p:sp>
      <p:sp>
        <p:nvSpPr>
          <p:cNvPr id="29" name="Text 27"/>
          <p:cNvSpPr/>
          <p:nvPr/>
        </p:nvSpPr>
        <p:spPr>
          <a:xfrm>
            <a:off x="9040901" y="3456432"/>
            <a:ext cx="141343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Wokwi ولوح التوصيل</a:t>
            </a:r>
            <a:endParaRPr lang="ar-SA" sz="1800" dirty="0"/>
          </a:p>
        </p:txBody>
      </p:sp>
      <p:sp>
        <p:nvSpPr>
          <p:cNvPr id="30" name="Shape 28"/>
          <p:cNvSpPr/>
          <p:nvPr/>
        </p:nvSpPr>
        <p:spPr>
          <a:xfrm>
            <a:off x="6210148" y="3090672"/>
            <a:ext cx="246499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70469" y="3250692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01B45"/>
          </a:solidFill>
          <a:ln/>
        </p:spPr>
      </p:sp>
      <p:sp>
        <p:nvSpPr>
          <p:cNvPr id="32" name="Text 30"/>
          <p:cNvSpPr/>
          <p:nvPr/>
        </p:nvSpPr>
        <p:spPr>
          <a:xfrm>
            <a:off x="7870469" y="32506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🔋</a:t>
            </a:r>
            <a:endParaRPr lang="ar-SA" sz="2400" dirty="0"/>
          </a:p>
        </p:txBody>
      </p:sp>
      <p:sp>
        <p:nvSpPr>
          <p:cNvPr id="33" name="Text 31"/>
          <p:cNvSpPr/>
          <p:nvPr/>
        </p:nvSpPr>
        <p:spPr>
          <a:xfrm>
            <a:off x="6347308" y="3182112"/>
            <a:ext cx="1413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٥</a:t>
            </a:r>
            <a:endParaRPr lang="ar-SA" sz="1400" dirty="0"/>
          </a:p>
        </p:txBody>
      </p:sp>
      <p:sp>
        <p:nvSpPr>
          <p:cNvPr id="34" name="Text 32"/>
          <p:cNvSpPr/>
          <p:nvPr/>
        </p:nvSpPr>
        <p:spPr>
          <a:xfrm>
            <a:off x="6347308" y="3456432"/>
            <a:ext cx="141343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الدوائر</a:t>
            </a:r>
            <a:endParaRPr lang="ar-SA" sz="1800" dirty="0"/>
          </a:p>
        </p:txBody>
      </p:sp>
      <p:sp>
        <p:nvSpPr>
          <p:cNvPr id="35" name="Shape 33"/>
          <p:cNvSpPr/>
          <p:nvPr/>
        </p:nvSpPr>
        <p:spPr>
          <a:xfrm>
            <a:off x="3516554" y="3090672"/>
            <a:ext cx="246499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76876" y="3250692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01B45"/>
          </a:solidFill>
          <a:ln/>
        </p:spPr>
      </p:sp>
      <p:sp>
        <p:nvSpPr>
          <p:cNvPr id="37" name="Text 35"/>
          <p:cNvSpPr/>
          <p:nvPr/>
        </p:nvSpPr>
        <p:spPr>
          <a:xfrm>
            <a:off x="5176876" y="32506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🎨</a:t>
            </a:r>
            <a:endParaRPr lang="ar-SA" sz="2400" dirty="0"/>
          </a:p>
        </p:txBody>
      </p:sp>
      <p:sp>
        <p:nvSpPr>
          <p:cNvPr id="38" name="Text 36"/>
          <p:cNvSpPr/>
          <p:nvPr/>
        </p:nvSpPr>
        <p:spPr>
          <a:xfrm>
            <a:off x="3653714" y="3182112"/>
            <a:ext cx="1413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٦</a:t>
            </a:r>
            <a:endParaRPr lang="ar-SA" sz="1400" dirty="0"/>
          </a:p>
        </p:txBody>
      </p:sp>
      <p:sp>
        <p:nvSpPr>
          <p:cNvPr id="39" name="Text 37"/>
          <p:cNvSpPr/>
          <p:nvPr/>
        </p:nvSpPr>
        <p:spPr>
          <a:xfrm>
            <a:off x="3653714" y="3456432"/>
            <a:ext cx="141343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أوم مع ٣٫٣ فولت</a:t>
            </a:r>
            <a:endParaRPr lang="ar-SA" sz="1800" dirty="0"/>
          </a:p>
        </p:txBody>
      </p:sp>
      <p:sp>
        <p:nvSpPr>
          <p:cNvPr id="40" name="Shape 38"/>
          <p:cNvSpPr/>
          <p:nvPr/>
        </p:nvSpPr>
        <p:spPr>
          <a:xfrm>
            <a:off x="822960" y="3090672"/>
            <a:ext cx="246499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83282" y="3250692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01B45"/>
          </a:solidFill>
          <a:ln/>
        </p:spPr>
      </p:sp>
      <p:sp>
        <p:nvSpPr>
          <p:cNvPr id="42" name="Text 40"/>
          <p:cNvSpPr/>
          <p:nvPr/>
        </p:nvSpPr>
        <p:spPr>
          <a:xfrm>
            <a:off x="2483282" y="32506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💡</a:t>
            </a:r>
            <a:endParaRPr lang="ar-SA" sz="2400" dirty="0"/>
          </a:p>
        </p:txBody>
      </p:sp>
      <p:sp>
        <p:nvSpPr>
          <p:cNvPr id="43" name="Text 41"/>
          <p:cNvSpPr/>
          <p:nvPr/>
        </p:nvSpPr>
        <p:spPr>
          <a:xfrm>
            <a:off x="960120" y="3182112"/>
            <a:ext cx="1413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٧</a:t>
            </a:r>
            <a:endParaRPr lang="ar-SA" sz="1400" dirty="0"/>
          </a:p>
        </p:txBody>
      </p:sp>
      <p:sp>
        <p:nvSpPr>
          <p:cNvPr id="44" name="Text 42"/>
          <p:cNvSpPr/>
          <p:nvPr/>
        </p:nvSpPr>
        <p:spPr>
          <a:xfrm>
            <a:off x="960120" y="3456432"/>
            <a:ext cx="141343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أول برنامج: الوميض</a:t>
            </a:r>
            <a:endParaRPr lang="ar-SA" sz="1800" dirty="0"/>
          </a:p>
        </p:txBody>
      </p:sp>
      <p:sp>
        <p:nvSpPr>
          <p:cNvPr id="45" name="Shape 43"/>
          <p:cNvSpPr/>
          <p:nvPr/>
        </p:nvSpPr>
        <p:spPr>
          <a:xfrm>
            <a:off x="8903741" y="4215384"/>
            <a:ext cx="246499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564063" y="4375404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01B45"/>
          </a:solidFill>
          <a:ln/>
        </p:spPr>
      </p:sp>
      <p:sp>
        <p:nvSpPr>
          <p:cNvPr id="47" name="Text 45"/>
          <p:cNvSpPr/>
          <p:nvPr/>
        </p:nvSpPr>
        <p:spPr>
          <a:xfrm>
            <a:off x="10564063" y="43754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🚦</a:t>
            </a:r>
            <a:endParaRPr lang="ar-SA" sz="2400" dirty="0"/>
          </a:p>
        </p:txBody>
      </p:sp>
      <p:sp>
        <p:nvSpPr>
          <p:cNvPr id="48" name="Text 46"/>
          <p:cNvSpPr/>
          <p:nvPr/>
        </p:nvSpPr>
        <p:spPr>
          <a:xfrm>
            <a:off x="9040901" y="4306824"/>
            <a:ext cx="1413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٨</a:t>
            </a:r>
            <a:endParaRPr lang="ar-SA" sz="1400" dirty="0"/>
          </a:p>
        </p:txBody>
      </p:sp>
      <p:sp>
        <p:nvSpPr>
          <p:cNvPr id="49" name="Text 47"/>
          <p:cNvSpPr/>
          <p:nvPr/>
        </p:nvSpPr>
        <p:spPr>
          <a:xfrm>
            <a:off x="9040901" y="4581144"/>
            <a:ext cx="141343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إشارة المرور والمتغيرات</a:t>
            </a:r>
            <a:endParaRPr lang="ar-SA" sz="1800" dirty="0"/>
          </a:p>
        </p:txBody>
      </p:sp>
      <p:sp>
        <p:nvSpPr>
          <p:cNvPr id="50" name="Shape 48"/>
          <p:cNvSpPr/>
          <p:nvPr/>
        </p:nvSpPr>
        <p:spPr>
          <a:xfrm>
            <a:off x="6210148" y="4215384"/>
            <a:ext cx="246499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870469" y="4375404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01B45"/>
          </a:solidFill>
          <a:ln/>
        </p:spPr>
      </p:sp>
      <p:sp>
        <p:nvSpPr>
          <p:cNvPr id="52" name="Text 50"/>
          <p:cNvSpPr/>
          <p:nvPr/>
        </p:nvSpPr>
        <p:spPr>
          <a:xfrm>
            <a:off x="7870469" y="43754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🌈</a:t>
            </a:r>
            <a:endParaRPr lang="ar-SA" sz="2400" dirty="0"/>
          </a:p>
        </p:txBody>
      </p:sp>
      <p:sp>
        <p:nvSpPr>
          <p:cNvPr id="53" name="Text 51"/>
          <p:cNvSpPr/>
          <p:nvPr/>
        </p:nvSpPr>
        <p:spPr>
          <a:xfrm>
            <a:off x="6347308" y="4306824"/>
            <a:ext cx="1413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٩</a:t>
            </a:r>
            <a:endParaRPr lang="ar-SA" sz="1400" dirty="0"/>
          </a:p>
        </p:txBody>
      </p:sp>
      <p:sp>
        <p:nvSpPr>
          <p:cNvPr id="54" name="Text 52"/>
          <p:cNvSpPr/>
          <p:nvPr/>
        </p:nvSpPr>
        <p:spPr>
          <a:xfrm>
            <a:off x="6347308" y="4581144"/>
            <a:ext cx="141343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PWM والألوان</a:t>
            </a:r>
            <a:endParaRPr lang="ar-SA" sz="1800" dirty="0"/>
          </a:p>
        </p:txBody>
      </p:sp>
      <p:sp>
        <p:nvSpPr>
          <p:cNvPr id="55" name="Shape 53"/>
          <p:cNvSpPr/>
          <p:nvPr/>
        </p:nvSpPr>
        <p:spPr>
          <a:xfrm>
            <a:off x="3516554" y="4215384"/>
            <a:ext cx="246499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176876" y="4375404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01B45"/>
          </a:solidFill>
          <a:ln/>
        </p:spPr>
      </p:sp>
      <p:sp>
        <p:nvSpPr>
          <p:cNvPr id="57" name="Text 55"/>
          <p:cNvSpPr/>
          <p:nvPr/>
        </p:nvSpPr>
        <p:spPr>
          <a:xfrm>
            <a:off x="5176876" y="43754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✋</a:t>
            </a:r>
            <a:endParaRPr lang="ar-SA" sz="2400" dirty="0"/>
          </a:p>
        </p:txBody>
      </p:sp>
      <p:sp>
        <p:nvSpPr>
          <p:cNvPr id="58" name="Text 56"/>
          <p:cNvSpPr/>
          <p:nvPr/>
        </p:nvSpPr>
        <p:spPr>
          <a:xfrm>
            <a:off x="3653714" y="4306824"/>
            <a:ext cx="1413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١٠</a:t>
            </a:r>
            <a:endParaRPr lang="ar-SA" sz="1400" dirty="0"/>
          </a:p>
        </p:txBody>
      </p:sp>
      <p:sp>
        <p:nvSpPr>
          <p:cNvPr id="59" name="Text 57"/>
          <p:cNvSpPr/>
          <p:nvPr/>
        </p:nvSpPr>
        <p:spPr>
          <a:xfrm>
            <a:off x="3653714" y="4581144"/>
            <a:ext cx="141343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الأزرار واللمس</a:t>
            </a:r>
            <a:endParaRPr lang="ar-SA" sz="1800" dirty="0"/>
          </a:p>
        </p:txBody>
      </p:sp>
      <p:sp>
        <p:nvSpPr>
          <p:cNvPr id="60" name="Shape 58"/>
          <p:cNvSpPr/>
          <p:nvPr/>
        </p:nvSpPr>
        <p:spPr>
          <a:xfrm>
            <a:off x="822960" y="4215384"/>
            <a:ext cx="246499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483282" y="4375404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01B45"/>
          </a:solidFill>
          <a:ln/>
        </p:spPr>
      </p:sp>
      <p:sp>
        <p:nvSpPr>
          <p:cNvPr id="62" name="Text 60"/>
          <p:cNvSpPr/>
          <p:nvPr/>
        </p:nvSpPr>
        <p:spPr>
          <a:xfrm>
            <a:off x="2483282" y="43754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🎓</a:t>
            </a:r>
            <a:endParaRPr lang="ar-SA" sz="2400" dirty="0"/>
          </a:p>
        </p:txBody>
      </p:sp>
      <p:sp>
        <p:nvSpPr>
          <p:cNvPr id="63" name="Text 61"/>
          <p:cNvSpPr/>
          <p:nvPr/>
        </p:nvSpPr>
        <p:spPr>
          <a:xfrm>
            <a:off x="960120" y="4306824"/>
            <a:ext cx="1413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١١</a:t>
            </a:r>
            <a:endParaRPr lang="ar-SA" sz="1400" dirty="0"/>
          </a:p>
        </p:txBody>
      </p:sp>
      <p:sp>
        <p:nvSpPr>
          <p:cNvPr id="64" name="Text 62"/>
          <p:cNvSpPr/>
          <p:nvPr/>
        </p:nvSpPr>
        <p:spPr>
          <a:xfrm>
            <a:off x="960120" y="4581144"/>
            <a:ext cx="141343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مشروع التخرج</a:t>
            </a:r>
            <a:endParaRPr lang="ar-SA" sz="1800" dirty="0"/>
          </a:p>
        </p:txBody>
      </p:sp>
      <p:sp>
        <p:nvSpPr>
          <p:cNvPr id="65" name="Text 6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66" name="Text 6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الافتتاح  ·  ٨</a:t>
            </a:r>
            <a:endParaRPr lang="ar-SA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منهج كل محور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كل محور يسير بخمس خطوات</a:t>
            </a:r>
            <a:endParaRPr lang="ar-SA" sz="3800" dirty="0"/>
          </a:p>
        </p:txBody>
      </p:sp>
      <p:sp>
        <p:nvSpPr>
          <p:cNvPr id="5" name="anim-g1-51"/>
          <p:cNvSpPr/>
          <p:nvPr/>
        </p:nvSpPr>
        <p:spPr>
          <a:xfrm>
            <a:off x="822960" y="1920240"/>
            <a:ext cx="10545775" cy="735178"/>
          </a:xfrm>
          <a:prstGeom prst="roundRect">
            <a:avLst>
              <a:gd name="adj" fmla="val 1990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52"/>
          <p:cNvSpPr/>
          <p:nvPr/>
        </p:nvSpPr>
        <p:spPr>
          <a:xfrm>
            <a:off x="10587838" y="2011680"/>
            <a:ext cx="552298" cy="55229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53"/>
          <p:cNvSpPr/>
          <p:nvPr/>
        </p:nvSpPr>
        <p:spPr>
          <a:xfrm>
            <a:off x="10587838" y="2011680"/>
            <a:ext cx="552298" cy="5522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54"/>
          <p:cNvSpPr/>
          <p:nvPr/>
        </p:nvSpPr>
        <p:spPr>
          <a:xfrm>
            <a:off x="1097280" y="1920240"/>
            <a:ext cx="9261958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الفكرة</a:t>
            </a:r>
            <a:pPr algn="r" indent="0" marL="0">
              <a:buNone/>
            </a:pPr>
            <a:r>
              <a:rPr lang="ar-SA" altLang="en-US" sz="18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— ماذا ولماذا، بتشبيه من الحياة</a:t>
            </a:r>
            <a:endParaRPr lang="ar-SA" sz="2200" dirty="0"/>
          </a:p>
        </p:txBody>
      </p:sp>
      <p:sp>
        <p:nvSpPr>
          <p:cNvPr id="9" name="anim-g2-55"/>
          <p:cNvSpPr/>
          <p:nvPr/>
        </p:nvSpPr>
        <p:spPr>
          <a:xfrm>
            <a:off x="822960" y="2765146"/>
            <a:ext cx="10545775" cy="735178"/>
          </a:xfrm>
          <a:prstGeom prst="roundRect">
            <a:avLst>
              <a:gd name="adj" fmla="val 1990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56"/>
          <p:cNvSpPr/>
          <p:nvPr/>
        </p:nvSpPr>
        <p:spPr>
          <a:xfrm>
            <a:off x="10587838" y="2856586"/>
            <a:ext cx="552298" cy="55229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57"/>
          <p:cNvSpPr/>
          <p:nvPr/>
        </p:nvSpPr>
        <p:spPr>
          <a:xfrm>
            <a:off x="10587838" y="2856586"/>
            <a:ext cx="552298" cy="5522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58"/>
          <p:cNvSpPr/>
          <p:nvPr/>
        </p:nvSpPr>
        <p:spPr>
          <a:xfrm>
            <a:off x="1097280" y="2765146"/>
            <a:ext cx="9261958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الأداة التفاعلية</a:t>
            </a:r>
            <a:pPr algn="r" indent="0" marL="0">
              <a:buNone/>
            </a:pPr>
            <a:r>
              <a:rPr lang="ar-SA" altLang="en-US" sz="18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— جرّب بيدك قبل أي قطعة حقيقية</a:t>
            </a:r>
            <a:endParaRPr lang="ar-SA" sz="2200" dirty="0"/>
          </a:p>
        </p:txBody>
      </p:sp>
      <p:sp>
        <p:nvSpPr>
          <p:cNvPr id="13" name="anim-g3-59"/>
          <p:cNvSpPr/>
          <p:nvPr/>
        </p:nvSpPr>
        <p:spPr>
          <a:xfrm>
            <a:off x="822960" y="3610051"/>
            <a:ext cx="10545775" cy="735178"/>
          </a:xfrm>
          <a:prstGeom prst="roundRect">
            <a:avLst>
              <a:gd name="adj" fmla="val 1990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60"/>
          <p:cNvSpPr/>
          <p:nvPr/>
        </p:nvSpPr>
        <p:spPr>
          <a:xfrm>
            <a:off x="10587838" y="3701491"/>
            <a:ext cx="552298" cy="55229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61"/>
          <p:cNvSpPr/>
          <p:nvPr/>
        </p:nvSpPr>
        <p:spPr>
          <a:xfrm>
            <a:off x="10587838" y="3701491"/>
            <a:ext cx="552298" cy="5522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62"/>
          <p:cNvSpPr/>
          <p:nvPr/>
        </p:nvSpPr>
        <p:spPr>
          <a:xfrm>
            <a:off x="1097280" y="3610051"/>
            <a:ext cx="9261958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التركيب والكود</a:t>
            </a:r>
            <a:pPr algn="r" indent="0" marL="0">
              <a:buNone/>
            </a:pPr>
            <a:r>
              <a:rPr lang="ar-SA" altLang="en-US" sz="18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— قطعة قطعة وسطرًا سطرًا</a:t>
            </a:r>
            <a:endParaRPr lang="ar-SA" sz="2200" dirty="0"/>
          </a:p>
        </p:txBody>
      </p:sp>
      <p:sp>
        <p:nvSpPr>
          <p:cNvPr id="17" name="anim-g4-63"/>
          <p:cNvSpPr/>
          <p:nvPr/>
        </p:nvSpPr>
        <p:spPr>
          <a:xfrm>
            <a:off x="822960" y="4454957"/>
            <a:ext cx="10545775" cy="735178"/>
          </a:xfrm>
          <a:prstGeom prst="roundRect">
            <a:avLst>
              <a:gd name="adj" fmla="val 1990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64"/>
          <p:cNvSpPr/>
          <p:nvPr/>
        </p:nvSpPr>
        <p:spPr>
          <a:xfrm>
            <a:off x="10587838" y="4546397"/>
            <a:ext cx="552298" cy="55229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65"/>
          <p:cNvSpPr/>
          <p:nvPr/>
        </p:nvSpPr>
        <p:spPr>
          <a:xfrm>
            <a:off x="10587838" y="4546397"/>
            <a:ext cx="552298" cy="5522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66"/>
          <p:cNvSpPr/>
          <p:nvPr/>
        </p:nvSpPr>
        <p:spPr>
          <a:xfrm>
            <a:off x="1097280" y="4454957"/>
            <a:ext cx="9261958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اختبر نفسك</a:t>
            </a:r>
            <a:pPr algn="r" indent="0" marL="0">
              <a:buNone/>
            </a:pPr>
            <a:r>
              <a:rPr lang="ar-SA" altLang="en-US" sz="18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— صح أم خطأ، وأسئلة تكشف الفهم</a:t>
            </a:r>
            <a:endParaRPr lang="ar-SA" sz="2200" dirty="0"/>
          </a:p>
        </p:txBody>
      </p:sp>
      <p:sp>
        <p:nvSpPr>
          <p:cNvPr id="21" name="anim-g5-67"/>
          <p:cNvSpPr/>
          <p:nvPr/>
        </p:nvSpPr>
        <p:spPr>
          <a:xfrm>
            <a:off x="822960" y="5299862"/>
            <a:ext cx="10545775" cy="735178"/>
          </a:xfrm>
          <a:prstGeom prst="roundRect">
            <a:avLst>
              <a:gd name="adj" fmla="val 1990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2" name="anim-g5-68"/>
          <p:cNvSpPr/>
          <p:nvPr/>
        </p:nvSpPr>
        <p:spPr>
          <a:xfrm>
            <a:off x="10587838" y="5391302"/>
            <a:ext cx="552298" cy="55229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23" name="anim-g5-69"/>
          <p:cNvSpPr/>
          <p:nvPr/>
        </p:nvSpPr>
        <p:spPr>
          <a:xfrm>
            <a:off x="10587838" y="5391302"/>
            <a:ext cx="552298" cy="5522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٥</a:t>
            </a:r>
            <a:endParaRPr lang="ar-SA" sz="2000" dirty="0"/>
          </a:p>
        </p:txBody>
      </p:sp>
      <p:sp>
        <p:nvSpPr>
          <p:cNvPr id="24" name="anim-g5-70"/>
          <p:cNvSpPr/>
          <p:nvPr/>
        </p:nvSpPr>
        <p:spPr>
          <a:xfrm>
            <a:off x="1097280" y="5299862"/>
            <a:ext cx="9261958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كيف تدرّسها؟</a:t>
            </a:r>
            <a:pPr algn="r" indent="0" marL="0">
              <a:buNone/>
            </a:pPr>
            <a:r>
              <a:rPr lang="ar-SA" altLang="en-US" sz="18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— أخطاء الطلاب الشائعة ونشاط صفي جاهز</a:t>
            </a:r>
            <a:endParaRPr lang="ar-SA" sz="2200" dirty="0"/>
          </a:p>
        </p:txBody>
      </p:sp>
      <p:sp>
        <p:nvSpPr>
          <p:cNvPr id="25" name="Text 2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الافتتاح  ·  ٩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103120"/>
            <a:ext cx="2651760" cy="2651760"/>
          </a:xfrm>
          <a:prstGeom prst="ellipse">
            <a:avLst/>
          </a:prstGeom>
          <a:solidFill>
            <a:srgbClr val="D9AE4B">
              <a:alpha val="12000"/>
            </a:srgbClr>
          </a:solidFill>
          <a:ln w="635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1031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12000" dirty="0"/>
          </a:p>
        </p:txBody>
      </p:sp>
      <p:sp>
        <p:nvSpPr>
          <p:cNvPr id="4" name="Text 2"/>
          <p:cNvSpPr/>
          <p:nvPr/>
        </p:nvSpPr>
        <p:spPr>
          <a:xfrm>
            <a:off x="4206240" y="1828800"/>
            <a:ext cx="7162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١</a:t>
            </a:r>
            <a:endParaRPr lang="ar-SA" sz="2000" dirty="0"/>
          </a:p>
        </p:txBody>
      </p:sp>
      <p:sp>
        <p:nvSpPr>
          <p:cNvPr id="5" name="Text 3"/>
          <p:cNvSpPr/>
          <p:nvPr/>
        </p:nvSpPr>
        <p:spPr>
          <a:xfrm>
            <a:off x="4206240" y="2286000"/>
            <a:ext cx="7162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56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ما ESP32؟</a:t>
            </a:r>
            <a:endParaRPr lang="ar-SA" sz="5600" dirty="0"/>
          </a:p>
        </p:txBody>
      </p:sp>
      <p:sp>
        <p:nvSpPr>
          <p:cNvPr id="6" name="Text 4"/>
          <p:cNvSpPr/>
          <p:nvPr/>
        </p:nvSpPr>
        <p:spPr>
          <a:xfrm>
            <a:off x="4206240" y="3749040"/>
            <a:ext cx="7162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متحكم دقيق… يتكلم الواي فاي والبلوتوث</a:t>
            </a:r>
            <a:endParaRPr lang="ar-SA" sz="2200" dirty="0"/>
          </a:p>
        </p:txBody>
      </p:sp>
      <p:sp>
        <p:nvSpPr>
          <p:cNvPr id="7" name="Text 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ما ESP32؟  ·  ١٠</a:t>
            </a:r>
            <a:endParaRPr lang="ar-SA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095" y="45720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6248095" y="457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 بنهاية هذا المحور تستطيع أن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أهداف المحور</a:t>
            </a:r>
            <a:endParaRPr lang="ar-SA" sz="3800" dirty="0"/>
          </a:p>
        </p:txBody>
      </p:sp>
      <p:sp>
        <p:nvSpPr>
          <p:cNvPr id="5" name="anim-g1-71"/>
          <p:cNvSpPr/>
          <p:nvPr/>
        </p:nvSpPr>
        <p:spPr>
          <a:xfrm>
            <a:off x="822960" y="1920240"/>
            <a:ext cx="10545775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72"/>
          <p:cNvSpPr/>
          <p:nvPr/>
        </p:nvSpPr>
        <p:spPr>
          <a:xfrm>
            <a:off x="10573207" y="2286000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73"/>
          <p:cNvSpPr/>
          <p:nvPr/>
        </p:nvSpPr>
        <p:spPr>
          <a:xfrm>
            <a:off x="10573207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74"/>
          <p:cNvSpPr/>
          <p:nvPr/>
        </p:nvSpPr>
        <p:spPr>
          <a:xfrm>
            <a:off x="1097280" y="1920240"/>
            <a:ext cx="9247327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تعرّف ESP32 وتذكر شركتها المصنّعة</a:t>
            </a:r>
            <a:endParaRPr lang="ar-SA" sz="2400" dirty="0"/>
          </a:p>
        </p:txBody>
      </p:sp>
      <p:sp>
        <p:nvSpPr>
          <p:cNvPr id="9" name="anim-g2-75"/>
          <p:cNvSpPr/>
          <p:nvPr/>
        </p:nvSpPr>
        <p:spPr>
          <a:xfrm>
            <a:off x="822960" y="3328416"/>
            <a:ext cx="10545775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76"/>
          <p:cNvSpPr/>
          <p:nvPr/>
        </p:nvSpPr>
        <p:spPr>
          <a:xfrm>
            <a:off x="10573207" y="3694176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77"/>
          <p:cNvSpPr/>
          <p:nvPr/>
        </p:nvSpPr>
        <p:spPr>
          <a:xfrm>
            <a:off x="10573207" y="3694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78"/>
          <p:cNvSpPr/>
          <p:nvPr/>
        </p:nvSpPr>
        <p:spPr>
          <a:xfrm>
            <a:off x="1097280" y="3328416"/>
            <a:ext cx="9247327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تقارن بينها وبين الأردوينو أونو</a:t>
            </a:r>
            <a:endParaRPr lang="ar-SA" sz="2400" dirty="0"/>
          </a:p>
        </p:txBody>
      </p:sp>
      <p:sp>
        <p:nvSpPr>
          <p:cNvPr id="13" name="anim-g3-79"/>
          <p:cNvSpPr/>
          <p:nvPr/>
        </p:nvSpPr>
        <p:spPr>
          <a:xfrm>
            <a:off x="822960" y="4736592"/>
            <a:ext cx="10545775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80"/>
          <p:cNvSpPr/>
          <p:nvPr/>
        </p:nvSpPr>
        <p:spPr>
          <a:xfrm>
            <a:off x="10573207" y="5102352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81"/>
          <p:cNvSpPr/>
          <p:nvPr/>
        </p:nvSpPr>
        <p:spPr>
          <a:xfrm>
            <a:off x="10573207" y="5102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82"/>
          <p:cNvSpPr/>
          <p:nvPr/>
        </p:nvSpPr>
        <p:spPr>
          <a:xfrm>
            <a:off x="1097280" y="4736592"/>
            <a:ext cx="9247327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تختار اللوحة المناسبة من عائلة ESP32 لمدرستك</a:t>
            </a:r>
            <a:endParaRPr lang="ar-SA" sz="2400" dirty="0"/>
          </a:p>
        </p:txBody>
      </p:sp>
      <p:sp>
        <p:nvSpPr>
          <p:cNvPr id="17" name="Text 1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ما ESP32؟  ·  ١١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66783" y="457200"/>
            <a:ext cx="1901952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9466783" y="45720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في سطرين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ESP32: أردوينو… مع إنترنت</a:t>
            </a:r>
            <a:endParaRPr lang="ar-SA" sz="3800" dirty="0"/>
          </a:p>
        </p:txBody>
      </p:sp>
      <p:sp>
        <p:nvSpPr>
          <p:cNvPr id="5" name="anim-g1-83"/>
          <p:cNvSpPr/>
          <p:nvPr/>
        </p:nvSpPr>
        <p:spPr>
          <a:xfrm>
            <a:off x="8036357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84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85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🧠</a:t>
            </a:r>
            <a:endParaRPr lang="ar-SA" sz="2200" dirty="0"/>
          </a:p>
        </p:txBody>
      </p:sp>
      <p:sp>
        <p:nvSpPr>
          <p:cNvPr id="8" name="anim-g1-86"/>
          <p:cNvSpPr/>
          <p:nvPr/>
        </p:nvSpPr>
        <p:spPr>
          <a:xfrm>
            <a:off x="8310677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متحكم دقيق</a:t>
            </a:r>
            <a:endParaRPr lang="ar-SA" sz="2200" dirty="0"/>
          </a:p>
        </p:txBody>
      </p:sp>
      <p:sp>
        <p:nvSpPr>
          <p:cNvPr id="9" name="anim-g1-87"/>
          <p:cNvSpPr/>
          <p:nvPr/>
        </p:nvSpPr>
        <p:spPr>
          <a:xfrm>
            <a:off x="8310677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مثل الأونو: يقرأ الحساسات ويشغّل المخرجات بالكود</a:t>
            </a:r>
            <a:endParaRPr lang="ar-SA" sz="1900" dirty="0"/>
          </a:p>
        </p:txBody>
      </p:sp>
      <p:sp>
        <p:nvSpPr>
          <p:cNvPr id="10" name="anim-g2-88"/>
          <p:cNvSpPr/>
          <p:nvPr/>
        </p:nvSpPr>
        <p:spPr>
          <a:xfrm>
            <a:off x="4429658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89"/>
          <p:cNvSpPr/>
          <p:nvPr/>
        </p:nvSpPr>
        <p:spPr>
          <a:xfrm>
            <a:off x="6920789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90"/>
          <p:cNvSpPr/>
          <p:nvPr/>
        </p:nvSpPr>
        <p:spPr>
          <a:xfrm>
            <a:off x="6920789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📡</a:t>
            </a:r>
            <a:endParaRPr lang="ar-SA" sz="2200" dirty="0"/>
          </a:p>
        </p:txBody>
      </p:sp>
      <p:sp>
        <p:nvSpPr>
          <p:cNvPr id="13" name="anim-g2-91"/>
          <p:cNvSpPr/>
          <p:nvPr/>
        </p:nvSpPr>
        <p:spPr>
          <a:xfrm>
            <a:off x="4703978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لاسلكي مدمج</a:t>
            </a:r>
            <a:endParaRPr lang="ar-SA" sz="2200" dirty="0"/>
          </a:p>
        </p:txBody>
      </p:sp>
      <p:sp>
        <p:nvSpPr>
          <p:cNvPr id="14" name="anim-g2-92"/>
          <p:cNvSpPr/>
          <p:nvPr/>
        </p:nvSpPr>
        <p:spPr>
          <a:xfrm>
            <a:off x="4703978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واي فاي وبلوتوث داخل الشريحة نفسها</a:t>
            </a:r>
            <a:endParaRPr lang="ar-SA" sz="1900" dirty="0"/>
          </a:p>
        </p:txBody>
      </p:sp>
      <p:sp>
        <p:nvSpPr>
          <p:cNvPr id="15" name="anim-g3-93"/>
          <p:cNvSpPr/>
          <p:nvPr/>
        </p:nvSpPr>
        <p:spPr>
          <a:xfrm>
            <a:off x="822960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94"/>
          <p:cNvSpPr/>
          <p:nvPr/>
        </p:nvSpPr>
        <p:spPr>
          <a:xfrm>
            <a:off x="331409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95"/>
          <p:cNvSpPr/>
          <p:nvPr/>
        </p:nvSpPr>
        <p:spPr>
          <a:xfrm>
            <a:off x="331409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🔁</a:t>
            </a:r>
            <a:endParaRPr lang="ar-SA" sz="2200" dirty="0"/>
          </a:p>
        </p:txBody>
      </p:sp>
      <p:sp>
        <p:nvSpPr>
          <p:cNvPr id="18" name="anim-g3-96"/>
          <p:cNvSpPr/>
          <p:nvPr/>
        </p:nvSpPr>
        <p:spPr>
          <a:xfrm>
            <a:off x="1097280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بلغة الأردوينو</a:t>
            </a:r>
            <a:endParaRPr lang="ar-SA" sz="2200" dirty="0"/>
          </a:p>
        </p:txBody>
      </p:sp>
      <p:sp>
        <p:nvSpPr>
          <p:cNvPr id="19" name="anim-g3-97"/>
          <p:cNvSpPr/>
          <p:nvPr/>
        </p:nvSpPr>
        <p:spPr>
          <a:xfrm>
            <a:off x="1097280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نبرمجها من Arduino IDE بالدوال التي نعرفها</a:t>
            </a:r>
            <a:endParaRPr lang="ar-SA" sz="1900" dirty="0"/>
          </a:p>
        </p:txBody>
      </p:sp>
      <p:sp>
        <p:nvSpPr>
          <p:cNvPr id="20" name="Text 18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ما ESP32؟  ·  ١٢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79112" y="1188720"/>
            <a:ext cx="2633472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79112" y="118872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في جملة واحدة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ESP32 متحكم دقيق صغير بقوة حاسوب قديم…</a:t>
            </a:r>
            <a:endParaRPr lang="ar-SA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 ومعه واي فاي وبلوتوث، وثمنه ثمن وجبة غداء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ما ESP32؟  ·  ١٣</a:t>
            </a:r>
            <a:endParaRPr lang="ar-SA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59391" y="457200"/>
            <a:ext cx="1609344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9759391" y="45720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مقارنة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الأونو أم ESP32؟</a:t>
            </a:r>
            <a:endParaRPr lang="ar-SA" sz="3800" dirty="0"/>
          </a:p>
        </p:txBody>
      </p:sp>
      <p:sp>
        <p:nvSpPr>
          <p:cNvPr id="5" name="Shape 3"/>
          <p:cNvSpPr/>
          <p:nvPr/>
        </p:nvSpPr>
        <p:spPr>
          <a:xfrm>
            <a:off x="8370772" y="1874520"/>
            <a:ext cx="2997964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6" name="Text 4"/>
          <p:cNvSpPr/>
          <p:nvPr/>
        </p:nvSpPr>
        <p:spPr>
          <a:xfrm>
            <a:off x="8370772" y="1874520"/>
            <a:ext cx="2997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endParaRPr lang="ar-SA" sz="1900" dirty="0"/>
          </a:p>
        </p:txBody>
      </p:sp>
      <p:sp>
        <p:nvSpPr>
          <p:cNvPr id="7" name="Shape 5"/>
          <p:cNvSpPr/>
          <p:nvPr/>
        </p:nvSpPr>
        <p:spPr>
          <a:xfrm>
            <a:off x="4929973" y="1874520"/>
            <a:ext cx="3331071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8" name="Text 6"/>
          <p:cNvSpPr/>
          <p:nvPr/>
        </p:nvSpPr>
        <p:spPr>
          <a:xfrm>
            <a:off x="4929973" y="1874520"/>
            <a:ext cx="33310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Arduino Uno</a:t>
            </a:r>
            <a:endParaRPr lang="ar-SA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3997285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74520"/>
            <a:ext cx="39972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ESP32 DevKit</a:t>
            </a:r>
            <a:endParaRPr lang="ar-SA" sz="1900" dirty="0"/>
          </a:p>
        </p:txBody>
      </p:sp>
      <p:sp>
        <p:nvSpPr>
          <p:cNvPr id="11" name="anim-g1-98"/>
          <p:cNvSpPr/>
          <p:nvPr/>
        </p:nvSpPr>
        <p:spPr>
          <a:xfrm>
            <a:off x="8370772" y="2514600"/>
            <a:ext cx="2997964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2" name="anim-g1-99"/>
          <p:cNvSpPr/>
          <p:nvPr/>
        </p:nvSpPr>
        <p:spPr>
          <a:xfrm>
            <a:off x="8507932" y="2514600"/>
            <a:ext cx="2723644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⚡ جهد الأطراف</a:t>
            </a:r>
            <a:endParaRPr lang="ar-SA" sz="2100" dirty="0"/>
          </a:p>
        </p:txBody>
      </p:sp>
      <p:sp>
        <p:nvSpPr>
          <p:cNvPr id="13" name="anim-g1-100"/>
          <p:cNvSpPr/>
          <p:nvPr/>
        </p:nvSpPr>
        <p:spPr>
          <a:xfrm>
            <a:off x="4929973" y="2514600"/>
            <a:ext cx="3331071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1-101"/>
          <p:cNvSpPr/>
          <p:nvPr/>
        </p:nvSpPr>
        <p:spPr>
          <a:xfrm>
            <a:off x="5067133" y="2514600"/>
            <a:ext cx="3056751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٥ فولت</a:t>
            </a:r>
            <a:endParaRPr lang="ar-SA" sz="2100" dirty="0"/>
          </a:p>
        </p:txBody>
      </p:sp>
      <p:sp>
        <p:nvSpPr>
          <p:cNvPr id="15" name="anim-g1-102"/>
          <p:cNvSpPr/>
          <p:nvPr/>
        </p:nvSpPr>
        <p:spPr>
          <a:xfrm>
            <a:off x="822960" y="2514600"/>
            <a:ext cx="3997285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16" name="anim-g1-103"/>
          <p:cNvSpPr/>
          <p:nvPr/>
        </p:nvSpPr>
        <p:spPr>
          <a:xfrm>
            <a:off x="960120" y="2514600"/>
            <a:ext cx="3722965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٣٫٣ فولت</a:t>
            </a:r>
            <a:endParaRPr lang="ar-SA" sz="2100" dirty="0"/>
          </a:p>
        </p:txBody>
      </p:sp>
      <p:sp>
        <p:nvSpPr>
          <p:cNvPr id="17" name="anim-g2-104"/>
          <p:cNvSpPr/>
          <p:nvPr/>
        </p:nvSpPr>
        <p:spPr>
          <a:xfrm>
            <a:off x="8370772" y="3240634"/>
            <a:ext cx="2997964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8" name="anim-g2-105"/>
          <p:cNvSpPr/>
          <p:nvPr/>
        </p:nvSpPr>
        <p:spPr>
          <a:xfrm>
            <a:off x="8507932" y="3240634"/>
            <a:ext cx="2723644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🧠 السرعة</a:t>
            </a:r>
            <a:endParaRPr lang="ar-SA" sz="2100" dirty="0"/>
          </a:p>
        </p:txBody>
      </p:sp>
      <p:sp>
        <p:nvSpPr>
          <p:cNvPr id="19" name="anim-g2-106"/>
          <p:cNvSpPr/>
          <p:nvPr/>
        </p:nvSpPr>
        <p:spPr>
          <a:xfrm>
            <a:off x="4929973" y="3240634"/>
            <a:ext cx="3331071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0" name="anim-g2-107"/>
          <p:cNvSpPr/>
          <p:nvPr/>
        </p:nvSpPr>
        <p:spPr>
          <a:xfrm>
            <a:off x="5067133" y="3240634"/>
            <a:ext cx="3056751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١٦ ميجاهرتز · نواة واحدة</a:t>
            </a:r>
            <a:endParaRPr lang="ar-SA" sz="2100" dirty="0"/>
          </a:p>
        </p:txBody>
      </p:sp>
      <p:sp>
        <p:nvSpPr>
          <p:cNvPr id="21" name="anim-g2-108"/>
          <p:cNvSpPr/>
          <p:nvPr/>
        </p:nvSpPr>
        <p:spPr>
          <a:xfrm>
            <a:off x="822960" y="3240634"/>
            <a:ext cx="3997285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2" name="anim-g2-109"/>
          <p:cNvSpPr/>
          <p:nvPr/>
        </p:nvSpPr>
        <p:spPr>
          <a:xfrm>
            <a:off x="960120" y="3240634"/>
            <a:ext cx="3722965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٢٤٠ ميجاهرتز · نواتان</a:t>
            </a:r>
            <a:endParaRPr lang="ar-SA" sz="2100" dirty="0"/>
          </a:p>
        </p:txBody>
      </p:sp>
      <p:sp>
        <p:nvSpPr>
          <p:cNvPr id="23" name="anim-g3-110"/>
          <p:cNvSpPr/>
          <p:nvPr/>
        </p:nvSpPr>
        <p:spPr>
          <a:xfrm>
            <a:off x="8370772" y="3966667"/>
            <a:ext cx="2997964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24" name="anim-g3-111"/>
          <p:cNvSpPr/>
          <p:nvPr/>
        </p:nvSpPr>
        <p:spPr>
          <a:xfrm>
            <a:off x="8507932" y="3966667"/>
            <a:ext cx="2723644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💾 الذاكرة</a:t>
            </a:r>
            <a:endParaRPr lang="ar-SA" sz="2100" dirty="0"/>
          </a:p>
        </p:txBody>
      </p:sp>
      <p:sp>
        <p:nvSpPr>
          <p:cNvPr id="25" name="anim-g3-112"/>
          <p:cNvSpPr/>
          <p:nvPr/>
        </p:nvSpPr>
        <p:spPr>
          <a:xfrm>
            <a:off x="4929973" y="3966667"/>
            <a:ext cx="3331071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6" name="anim-g3-113"/>
          <p:cNvSpPr/>
          <p:nvPr/>
        </p:nvSpPr>
        <p:spPr>
          <a:xfrm>
            <a:off x="5067133" y="3966667"/>
            <a:ext cx="3056751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٣٢ كيلوبايت</a:t>
            </a:r>
            <a:endParaRPr lang="ar-SA" sz="2100" dirty="0"/>
          </a:p>
        </p:txBody>
      </p:sp>
      <p:sp>
        <p:nvSpPr>
          <p:cNvPr id="27" name="anim-g3-114"/>
          <p:cNvSpPr/>
          <p:nvPr/>
        </p:nvSpPr>
        <p:spPr>
          <a:xfrm>
            <a:off x="822960" y="3966667"/>
            <a:ext cx="3997285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8" name="anim-g3-115"/>
          <p:cNvSpPr/>
          <p:nvPr/>
        </p:nvSpPr>
        <p:spPr>
          <a:xfrm>
            <a:off x="960120" y="3966667"/>
            <a:ext cx="3722965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٤ ميجابايت (أكبر بمئة مرة)</a:t>
            </a:r>
            <a:endParaRPr lang="ar-SA" sz="2100" dirty="0"/>
          </a:p>
        </p:txBody>
      </p:sp>
      <p:sp>
        <p:nvSpPr>
          <p:cNvPr id="29" name="anim-g4-116"/>
          <p:cNvSpPr/>
          <p:nvPr/>
        </p:nvSpPr>
        <p:spPr>
          <a:xfrm>
            <a:off x="8370772" y="4692701"/>
            <a:ext cx="2997964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30" name="anim-g4-117"/>
          <p:cNvSpPr/>
          <p:nvPr/>
        </p:nvSpPr>
        <p:spPr>
          <a:xfrm>
            <a:off x="8507932" y="4692701"/>
            <a:ext cx="2723644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📈 القراءة التماثلية</a:t>
            </a:r>
            <a:endParaRPr lang="ar-SA" sz="2100" dirty="0"/>
          </a:p>
        </p:txBody>
      </p:sp>
      <p:sp>
        <p:nvSpPr>
          <p:cNvPr id="31" name="anim-g4-118"/>
          <p:cNvSpPr/>
          <p:nvPr/>
        </p:nvSpPr>
        <p:spPr>
          <a:xfrm>
            <a:off x="4929973" y="4692701"/>
            <a:ext cx="3331071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2" name="anim-g4-119"/>
          <p:cNvSpPr/>
          <p:nvPr/>
        </p:nvSpPr>
        <p:spPr>
          <a:xfrm>
            <a:off x="5067133" y="4692701"/>
            <a:ext cx="3056751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٠–١٠٢٣ (١٠ بت)</a:t>
            </a:r>
            <a:endParaRPr lang="ar-SA" sz="2100" dirty="0"/>
          </a:p>
        </p:txBody>
      </p:sp>
      <p:sp>
        <p:nvSpPr>
          <p:cNvPr id="33" name="anim-g4-120"/>
          <p:cNvSpPr/>
          <p:nvPr/>
        </p:nvSpPr>
        <p:spPr>
          <a:xfrm>
            <a:off x="822960" y="4692701"/>
            <a:ext cx="3997285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34" name="anim-g4-121"/>
          <p:cNvSpPr/>
          <p:nvPr/>
        </p:nvSpPr>
        <p:spPr>
          <a:xfrm>
            <a:off x="960120" y="4692701"/>
            <a:ext cx="3722965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٠–٤٠٩٥ (١٢ بت)</a:t>
            </a:r>
            <a:endParaRPr lang="ar-SA" sz="2100" dirty="0"/>
          </a:p>
        </p:txBody>
      </p:sp>
      <p:sp>
        <p:nvSpPr>
          <p:cNvPr id="35" name="anim-g5-122"/>
          <p:cNvSpPr/>
          <p:nvPr/>
        </p:nvSpPr>
        <p:spPr>
          <a:xfrm>
            <a:off x="8370772" y="5418734"/>
            <a:ext cx="2997964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36" name="anim-g5-123"/>
          <p:cNvSpPr/>
          <p:nvPr/>
        </p:nvSpPr>
        <p:spPr>
          <a:xfrm>
            <a:off x="8507932" y="5418734"/>
            <a:ext cx="2723644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📡 لاسلكي</a:t>
            </a:r>
            <a:endParaRPr lang="ar-SA" sz="2100" dirty="0"/>
          </a:p>
        </p:txBody>
      </p:sp>
      <p:sp>
        <p:nvSpPr>
          <p:cNvPr id="37" name="anim-g5-124"/>
          <p:cNvSpPr/>
          <p:nvPr/>
        </p:nvSpPr>
        <p:spPr>
          <a:xfrm>
            <a:off x="4929973" y="5418734"/>
            <a:ext cx="3331071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8" name="anim-g5-125"/>
          <p:cNvSpPr/>
          <p:nvPr/>
        </p:nvSpPr>
        <p:spPr>
          <a:xfrm>
            <a:off x="5067133" y="5418734"/>
            <a:ext cx="3056751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يوجد</a:t>
            </a:r>
            <a:endParaRPr lang="ar-SA" sz="2100" dirty="0"/>
          </a:p>
        </p:txBody>
      </p:sp>
      <p:sp>
        <p:nvSpPr>
          <p:cNvPr id="39" name="anim-g5-126"/>
          <p:cNvSpPr/>
          <p:nvPr/>
        </p:nvSpPr>
        <p:spPr>
          <a:xfrm>
            <a:off x="822960" y="5418734"/>
            <a:ext cx="3997285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40" name="anim-g5-127"/>
          <p:cNvSpPr/>
          <p:nvPr/>
        </p:nvSpPr>
        <p:spPr>
          <a:xfrm>
            <a:off x="960120" y="5418734"/>
            <a:ext cx="3722965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واي فاي وبلوتوث</a:t>
            </a:r>
            <a:endParaRPr lang="ar-SA" sz="2100" dirty="0"/>
          </a:p>
        </p:txBody>
      </p:sp>
      <p:sp>
        <p:nvSpPr>
          <p:cNvPr id="41" name="Text 3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42" name="Text 4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ما ESP32؟  ·  ١٥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27871" y="457200"/>
            <a:ext cx="2340864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9027871" y="45720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عائلة ESP32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أي لوحة تناسب مدرستك؟</a:t>
            </a:r>
            <a:endParaRPr lang="ar-SA" sz="3800" dirty="0"/>
          </a:p>
        </p:txBody>
      </p:sp>
      <p:sp>
        <p:nvSpPr>
          <p:cNvPr id="5" name="Shape 3"/>
          <p:cNvSpPr/>
          <p:nvPr/>
        </p:nvSpPr>
        <p:spPr>
          <a:xfrm>
            <a:off x="8713396" y="1874520"/>
            <a:ext cx="2655339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6" name="Text 4"/>
          <p:cNvSpPr/>
          <p:nvPr/>
        </p:nvSpPr>
        <p:spPr>
          <a:xfrm>
            <a:off x="8713396" y="1874520"/>
            <a:ext cx="26553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اللوحة</a:t>
            </a:r>
            <a:endParaRPr lang="ar-SA" sz="1900" dirty="0"/>
          </a:p>
        </p:txBody>
      </p:sp>
      <p:sp>
        <p:nvSpPr>
          <p:cNvPr id="7" name="Shape 5"/>
          <p:cNvSpPr/>
          <p:nvPr/>
        </p:nvSpPr>
        <p:spPr>
          <a:xfrm>
            <a:off x="4768178" y="1874520"/>
            <a:ext cx="3835490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8" name="Text 6"/>
          <p:cNvSpPr/>
          <p:nvPr/>
        </p:nvSpPr>
        <p:spPr>
          <a:xfrm>
            <a:off x="4768178" y="1874520"/>
            <a:ext cx="38354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ميزتها</a:t>
            </a:r>
            <a:endParaRPr lang="ar-SA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3835490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74520"/>
            <a:ext cx="38354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متى نختارها؟</a:t>
            </a:r>
            <a:endParaRPr lang="ar-SA" sz="1900" dirty="0"/>
          </a:p>
        </p:txBody>
      </p:sp>
      <p:sp>
        <p:nvSpPr>
          <p:cNvPr id="11" name="anim-g1-128"/>
          <p:cNvSpPr/>
          <p:nvPr/>
        </p:nvSpPr>
        <p:spPr>
          <a:xfrm>
            <a:off x="8713396" y="2514600"/>
            <a:ext cx="2655339" cy="797814"/>
          </a:xfrm>
          <a:prstGeom prst="roundRect">
            <a:avLst>
              <a:gd name="adj" fmla="val 137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2" name="anim-g1-129"/>
          <p:cNvSpPr/>
          <p:nvPr/>
        </p:nvSpPr>
        <p:spPr>
          <a:xfrm>
            <a:off x="8850556" y="2514600"/>
            <a:ext cx="2381019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ESP32 DevKit V1</a:t>
            </a:r>
            <a:endParaRPr lang="ar-SA" sz="2100" dirty="0"/>
          </a:p>
        </p:txBody>
      </p:sp>
      <p:sp>
        <p:nvSpPr>
          <p:cNvPr id="13" name="anim-g1-130"/>
          <p:cNvSpPr/>
          <p:nvPr/>
        </p:nvSpPr>
        <p:spPr>
          <a:xfrm>
            <a:off x="4768178" y="2514600"/>
            <a:ext cx="383549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1-131"/>
          <p:cNvSpPr/>
          <p:nvPr/>
        </p:nvSpPr>
        <p:spPr>
          <a:xfrm>
            <a:off x="4905338" y="2514600"/>
            <a:ext cx="356117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الأشهر والأرخص · ٣٠ طرفًا</a:t>
            </a:r>
            <a:endParaRPr lang="ar-SA" sz="2100" dirty="0"/>
          </a:p>
        </p:txBody>
      </p:sp>
      <p:sp>
        <p:nvSpPr>
          <p:cNvPr id="15" name="anim-g1-132"/>
          <p:cNvSpPr/>
          <p:nvPr/>
        </p:nvSpPr>
        <p:spPr>
          <a:xfrm>
            <a:off x="822960" y="2514600"/>
            <a:ext cx="3835490" cy="797814"/>
          </a:xfrm>
          <a:prstGeom prst="roundRect">
            <a:avLst>
              <a:gd name="adj" fmla="val 137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16" name="anim-g1-133"/>
          <p:cNvSpPr/>
          <p:nvPr/>
        </p:nvSpPr>
        <p:spPr>
          <a:xfrm>
            <a:off x="960120" y="2514600"/>
            <a:ext cx="356117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البداية مع الطلاب (هذه الدورة)</a:t>
            </a:r>
            <a:endParaRPr lang="ar-SA" sz="2100" dirty="0"/>
          </a:p>
        </p:txBody>
      </p:sp>
      <p:sp>
        <p:nvSpPr>
          <p:cNvPr id="17" name="anim-g2-134"/>
          <p:cNvSpPr/>
          <p:nvPr/>
        </p:nvSpPr>
        <p:spPr>
          <a:xfrm>
            <a:off x="8713396" y="3422142"/>
            <a:ext cx="2655339" cy="797814"/>
          </a:xfrm>
          <a:prstGeom prst="roundRect">
            <a:avLst>
              <a:gd name="adj" fmla="val 137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8" name="anim-g2-135"/>
          <p:cNvSpPr/>
          <p:nvPr/>
        </p:nvSpPr>
        <p:spPr>
          <a:xfrm>
            <a:off x="8850556" y="3422142"/>
            <a:ext cx="2381019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ESP32-S3</a:t>
            </a:r>
            <a:endParaRPr lang="ar-SA" sz="2100" dirty="0"/>
          </a:p>
        </p:txBody>
      </p:sp>
      <p:sp>
        <p:nvSpPr>
          <p:cNvPr id="19" name="anim-g2-136"/>
          <p:cNvSpPr/>
          <p:nvPr/>
        </p:nvSpPr>
        <p:spPr>
          <a:xfrm>
            <a:off x="4768178" y="3422142"/>
            <a:ext cx="383549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0" name="anim-g2-137"/>
          <p:cNvSpPr/>
          <p:nvPr/>
        </p:nvSpPr>
        <p:spPr>
          <a:xfrm>
            <a:off x="4905338" y="3422142"/>
            <a:ext cx="356117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أقوى، وفيها ذكاء اصطناعي بسيط</a:t>
            </a:r>
            <a:endParaRPr lang="ar-SA" sz="2100" dirty="0"/>
          </a:p>
        </p:txBody>
      </p:sp>
      <p:sp>
        <p:nvSpPr>
          <p:cNvPr id="21" name="anim-g2-138"/>
          <p:cNvSpPr/>
          <p:nvPr/>
        </p:nvSpPr>
        <p:spPr>
          <a:xfrm>
            <a:off x="822960" y="3422142"/>
            <a:ext cx="3835490" cy="797814"/>
          </a:xfrm>
          <a:prstGeom prst="roundRect">
            <a:avLst>
              <a:gd name="adj" fmla="val 137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2" name="anim-g2-139"/>
          <p:cNvSpPr/>
          <p:nvPr/>
        </p:nvSpPr>
        <p:spPr>
          <a:xfrm>
            <a:off x="960120" y="3422142"/>
            <a:ext cx="356117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الكاميرا والصوت والمشاريع المتقدمة</a:t>
            </a:r>
            <a:endParaRPr lang="ar-SA" sz="2100" dirty="0"/>
          </a:p>
        </p:txBody>
      </p:sp>
      <p:sp>
        <p:nvSpPr>
          <p:cNvPr id="23" name="anim-g3-140"/>
          <p:cNvSpPr/>
          <p:nvPr/>
        </p:nvSpPr>
        <p:spPr>
          <a:xfrm>
            <a:off x="8713396" y="4329684"/>
            <a:ext cx="2655339" cy="797814"/>
          </a:xfrm>
          <a:prstGeom prst="roundRect">
            <a:avLst>
              <a:gd name="adj" fmla="val 137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24" name="anim-g3-141"/>
          <p:cNvSpPr/>
          <p:nvPr/>
        </p:nvSpPr>
        <p:spPr>
          <a:xfrm>
            <a:off x="8850556" y="4329684"/>
            <a:ext cx="2381019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ESP32-C3</a:t>
            </a:r>
            <a:endParaRPr lang="ar-SA" sz="2100" dirty="0"/>
          </a:p>
        </p:txBody>
      </p:sp>
      <p:sp>
        <p:nvSpPr>
          <p:cNvPr id="25" name="anim-g3-142"/>
          <p:cNvSpPr/>
          <p:nvPr/>
        </p:nvSpPr>
        <p:spPr>
          <a:xfrm>
            <a:off x="4768178" y="4329684"/>
            <a:ext cx="383549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6" name="anim-g3-143"/>
          <p:cNvSpPr/>
          <p:nvPr/>
        </p:nvSpPr>
        <p:spPr>
          <a:xfrm>
            <a:off x="4905338" y="4329684"/>
            <a:ext cx="356117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صغيرة وموفرة للطاقة</a:t>
            </a:r>
            <a:endParaRPr lang="ar-SA" sz="2100" dirty="0"/>
          </a:p>
        </p:txBody>
      </p:sp>
      <p:sp>
        <p:nvSpPr>
          <p:cNvPr id="27" name="anim-g3-144"/>
          <p:cNvSpPr/>
          <p:nvPr/>
        </p:nvSpPr>
        <p:spPr>
          <a:xfrm>
            <a:off x="822960" y="4329684"/>
            <a:ext cx="3835490" cy="797814"/>
          </a:xfrm>
          <a:prstGeom prst="roundRect">
            <a:avLst>
              <a:gd name="adj" fmla="val 137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8" name="anim-g3-145"/>
          <p:cNvSpPr/>
          <p:nvPr/>
        </p:nvSpPr>
        <p:spPr>
          <a:xfrm>
            <a:off x="960120" y="4329684"/>
            <a:ext cx="356117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الأجهزة التي تعمل ببطارية</a:t>
            </a:r>
            <a:endParaRPr lang="ar-SA" sz="2100" dirty="0"/>
          </a:p>
        </p:txBody>
      </p:sp>
      <p:sp>
        <p:nvSpPr>
          <p:cNvPr id="29" name="anim-g4-146"/>
          <p:cNvSpPr/>
          <p:nvPr/>
        </p:nvSpPr>
        <p:spPr>
          <a:xfrm>
            <a:off x="8713396" y="5237226"/>
            <a:ext cx="2655339" cy="797814"/>
          </a:xfrm>
          <a:prstGeom prst="roundRect">
            <a:avLst>
              <a:gd name="adj" fmla="val 137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30" name="anim-g4-147"/>
          <p:cNvSpPr/>
          <p:nvPr/>
        </p:nvSpPr>
        <p:spPr>
          <a:xfrm>
            <a:off x="8850556" y="5237226"/>
            <a:ext cx="2381019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ESP32-CAM</a:t>
            </a:r>
            <a:endParaRPr lang="ar-SA" sz="2100" dirty="0"/>
          </a:p>
        </p:txBody>
      </p:sp>
      <p:sp>
        <p:nvSpPr>
          <p:cNvPr id="31" name="anim-g4-148"/>
          <p:cNvSpPr/>
          <p:nvPr/>
        </p:nvSpPr>
        <p:spPr>
          <a:xfrm>
            <a:off x="4768178" y="5237226"/>
            <a:ext cx="383549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2" name="anim-g4-149"/>
          <p:cNvSpPr/>
          <p:nvPr/>
        </p:nvSpPr>
        <p:spPr>
          <a:xfrm>
            <a:off x="4905338" y="5237226"/>
            <a:ext cx="356117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كاميرا مدمجة</a:t>
            </a:r>
            <a:endParaRPr lang="ar-SA" sz="2100" dirty="0"/>
          </a:p>
        </p:txBody>
      </p:sp>
      <p:sp>
        <p:nvSpPr>
          <p:cNvPr id="33" name="anim-g4-150"/>
          <p:cNvSpPr/>
          <p:nvPr/>
        </p:nvSpPr>
        <p:spPr>
          <a:xfrm>
            <a:off x="822960" y="5237226"/>
            <a:ext cx="3835490" cy="797814"/>
          </a:xfrm>
          <a:prstGeom prst="roundRect">
            <a:avLst>
              <a:gd name="adj" fmla="val 137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34" name="anim-g4-151"/>
          <p:cNvSpPr/>
          <p:nvPr/>
        </p:nvSpPr>
        <p:spPr>
          <a:xfrm>
            <a:off x="960120" y="5237226"/>
            <a:ext cx="356117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المراقبة والتعرف على الصور</a:t>
            </a:r>
            <a:endParaRPr lang="ar-SA" sz="2100" dirty="0"/>
          </a:p>
        </p:txBody>
      </p:sp>
      <p:sp>
        <p:nvSpPr>
          <p:cNvPr id="35" name="Text 3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36" name="Text 3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ما ESP32؟  ·  ١٦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اختبر نفسك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مدرسة تريد مشاريع تتصل بالجوال… بماذا تنصحها؟</a:t>
            </a:r>
            <a:endParaRPr lang="ar-SA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31831" y="2194560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101B45"/>
          </a:solidFill>
          <a:ln/>
        </p:spPr>
      </p:sp>
      <p:sp>
        <p:nvSpPr>
          <p:cNvPr id="7" name="Text 5"/>
          <p:cNvSpPr/>
          <p:nvPr/>
        </p:nvSpPr>
        <p:spPr>
          <a:xfrm>
            <a:off x="10231831" y="2194560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8951671" cy="1228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أونو + قطعة واي فاي منفصلة</a:t>
            </a:r>
            <a:endParaRPr lang="ar-SA" sz="2500" dirty="0"/>
          </a:p>
        </p:txBody>
      </p:sp>
      <p:sp>
        <p:nvSpPr>
          <p:cNvPr id="9" name="anim-g1-152"/>
          <p:cNvSpPr/>
          <p:nvPr/>
        </p:nvSpPr>
        <p:spPr>
          <a:xfrm>
            <a:off x="822960" y="2057400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0" name="anim-g1-153"/>
          <p:cNvSpPr/>
          <p:nvPr/>
        </p:nvSpPr>
        <p:spPr>
          <a:xfrm>
            <a:off x="10231831" y="2194560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A3A9BA"/>
          </a:solidFill>
          <a:ln/>
        </p:spPr>
      </p:sp>
      <p:sp>
        <p:nvSpPr>
          <p:cNvPr id="11" name="anim-g1-154"/>
          <p:cNvSpPr/>
          <p:nvPr/>
        </p:nvSpPr>
        <p:spPr>
          <a:xfrm>
            <a:off x="10231831" y="2194560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400" dirty="0"/>
          </a:p>
        </p:txBody>
      </p:sp>
      <p:sp>
        <p:nvSpPr>
          <p:cNvPr id="12" name="anim-g1-155"/>
          <p:cNvSpPr/>
          <p:nvPr/>
        </p:nvSpPr>
        <p:spPr>
          <a:xfrm>
            <a:off x="1097280" y="2093976"/>
            <a:ext cx="8951671" cy="61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أونو + قطعة واي فاي منفصلة</a:t>
            </a:r>
            <a:endParaRPr lang="ar-SA" sz="2400" dirty="0"/>
          </a:p>
        </p:txBody>
      </p:sp>
      <p:sp>
        <p:nvSpPr>
          <p:cNvPr id="13" name="anim-g1-156"/>
          <p:cNvSpPr/>
          <p:nvPr/>
        </p:nvSpPr>
        <p:spPr>
          <a:xfrm>
            <a:off x="1097280" y="2720706"/>
            <a:ext cx="8951671" cy="51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ممكن، لكنها أغلى وأعقد في التوصيل والبرمجة</a:t>
            </a:r>
            <a:endParaRPr lang="ar-SA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432048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31831" y="3569208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101B45"/>
          </a:solidFill>
          <a:ln/>
        </p:spPr>
      </p:sp>
      <p:sp>
        <p:nvSpPr>
          <p:cNvPr id="16" name="Text 14"/>
          <p:cNvSpPr/>
          <p:nvPr/>
        </p:nvSpPr>
        <p:spPr>
          <a:xfrm>
            <a:off x="10231831" y="3569208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400" dirty="0"/>
          </a:p>
        </p:txBody>
      </p:sp>
      <p:sp>
        <p:nvSpPr>
          <p:cNvPr id="17" name="Text 15"/>
          <p:cNvSpPr/>
          <p:nvPr/>
        </p:nvSpPr>
        <p:spPr>
          <a:xfrm>
            <a:off x="1097280" y="3432048"/>
            <a:ext cx="8951671" cy="1228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لوحة ESP32 DevKit</a:t>
            </a:r>
            <a:endParaRPr lang="ar-SA" sz="2500" dirty="0"/>
          </a:p>
        </p:txBody>
      </p:sp>
      <p:sp>
        <p:nvSpPr>
          <p:cNvPr id="18" name="anim-g1-157"/>
          <p:cNvSpPr/>
          <p:nvPr/>
        </p:nvSpPr>
        <p:spPr>
          <a:xfrm>
            <a:off x="822960" y="3432048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E6F4EC"/>
          </a:solidFill>
          <a:ln w="31750">
            <a:solidFill>
              <a:srgbClr val="2E9E6B"/>
            </a:solidFill>
            <a:prstDash val="solid"/>
          </a:ln>
        </p:spPr>
      </p:sp>
      <p:sp>
        <p:nvSpPr>
          <p:cNvPr id="19" name="anim-g1-158"/>
          <p:cNvSpPr/>
          <p:nvPr/>
        </p:nvSpPr>
        <p:spPr>
          <a:xfrm>
            <a:off x="10231831" y="3569208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2E9E6B"/>
          </a:solidFill>
          <a:ln/>
        </p:spPr>
      </p:sp>
      <p:sp>
        <p:nvSpPr>
          <p:cNvPr id="20" name="anim-g1-159"/>
          <p:cNvSpPr/>
          <p:nvPr/>
        </p:nvSpPr>
        <p:spPr>
          <a:xfrm>
            <a:off x="10231831" y="3569208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✓</a:t>
            </a:r>
            <a:endParaRPr lang="ar-SA" sz="2400" dirty="0"/>
          </a:p>
        </p:txBody>
      </p:sp>
      <p:sp>
        <p:nvSpPr>
          <p:cNvPr id="21" name="anim-g1-160"/>
          <p:cNvSpPr/>
          <p:nvPr/>
        </p:nvSpPr>
        <p:spPr>
          <a:xfrm>
            <a:off x="1097280" y="3468624"/>
            <a:ext cx="8951671" cy="61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لوحة ESP32 DevKit</a:t>
            </a:r>
            <a:endParaRPr lang="ar-SA" sz="2400" dirty="0"/>
          </a:p>
        </p:txBody>
      </p:sp>
      <p:sp>
        <p:nvSpPr>
          <p:cNvPr id="22" name="anim-g1-161"/>
          <p:cNvSpPr/>
          <p:nvPr/>
        </p:nvSpPr>
        <p:spPr>
          <a:xfrm>
            <a:off x="1097280" y="4095354"/>
            <a:ext cx="8951671" cy="51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صحيح: الواي فاي مدمج، والسعر قريب من الأونو</a:t>
            </a:r>
            <a:endParaRPr lang="ar-SA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4806696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31831" y="4943856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101B45"/>
          </a:solidFill>
          <a:ln/>
        </p:spPr>
      </p:sp>
      <p:sp>
        <p:nvSpPr>
          <p:cNvPr id="25" name="Text 23"/>
          <p:cNvSpPr/>
          <p:nvPr/>
        </p:nvSpPr>
        <p:spPr>
          <a:xfrm>
            <a:off x="10231831" y="4943856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400" dirty="0"/>
          </a:p>
        </p:txBody>
      </p:sp>
      <p:sp>
        <p:nvSpPr>
          <p:cNvPr id="26" name="Text 24"/>
          <p:cNvSpPr/>
          <p:nvPr/>
        </p:nvSpPr>
        <p:spPr>
          <a:xfrm>
            <a:off x="1097280" y="4806696"/>
            <a:ext cx="8951671" cy="1228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حاسوب كامل لكل مشروع</a:t>
            </a:r>
            <a:endParaRPr lang="ar-SA" sz="2500" dirty="0"/>
          </a:p>
        </p:txBody>
      </p:sp>
      <p:sp>
        <p:nvSpPr>
          <p:cNvPr id="27" name="anim-g1-162"/>
          <p:cNvSpPr/>
          <p:nvPr/>
        </p:nvSpPr>
        <p:spPr>
          <a:xfrm>
            <a:off x="822960" y="4806696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8" name="anim-g1-163"/>
          <p:cNvSpPr/>
          <p:nvPr/>
        </p:nvSpPr>
        <p:spPr>
          <a:xfrm>
            <a:off x="10231831" y="4943856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A3A9BA"/>
          </a:solidFill>
          <a:ln/>
        </p:spPr>
      </p:sp>
      <p:sp>
        <p:nvSpPr>
          <p:cNvPr id="29" name="anim-g1-164"/>
          <p:cNvSpPr/>
          <p:nvPr/>
        </p:nvSpPr>
        <p:spPr>
          <a:xfrm>
            <a:off x="10231831" y="4943856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400" dirty="0"/>
          </a:p>
        </p:txBody>
      </p:sp>
      <p:sp>
        <p:nvSpPr>
          <p:cNvPr id="30" name="anim-g1-165"/>
          <p:cNvSpPr/>
          <p:nvPr/>
        </p:nvSpPr>
        <p:spPr>
          <a:xfrm>
            <a:off x="1097280" y="4843272"/>
            <a:ext cx="8951671" cy="61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حاسوب كامل لكل مشروع</a:t>
            </a:r>
            <a:endParaRPr lang="ar-SA" sz="2400" dirty="0"/>
          </a:p>
        </p:txBody>
      </p:sp>
      <p:sp>
        <p:nvSpPr>
          <p:cNvPr id="31" name="anim-g1-166"/>
          <p:cNvSpPr/>
          <p:nvPr/>
        </p:nvSpPr>
        <p:spPr>
          <a:xfrm>
            <a:off x="1097280" y="5470002"/>
            <a:ext cx="8951671" cy="51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مكلف جدًا وغير عملي</a:t>
            </a:r>
            <a:endParaRPr lang="ar-SA" sz="1800" dirty="0"/>
          </a:p>
        </p:txBody>
      </p:sp>
      <p:sp>
        <p:nvSpPr>
          <p:cNvPr id="32" name="Text 30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33" name="Text 31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ما ESP32؟  ·  ١٧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2264" y="118872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52264" y="11887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خلاصة المحور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ESP32 أخ أكبر للأردوينو: يتكلم لغته نفسها…</a:t>
            </a:r>
            <a:endParaRPr lang="ar-SA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 ويعرف الطريق إلى الإنترنت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ما ESP32؟  ·  ٢٠</a:t>
            </a:r>
            <a:endParaRPr lang="ar-SA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103120"/>
            <a:ext cx="2651760" cy="2651760"/>
          </a:xfrm>
          <a:prstGeom prst="ellipse">
            <a:avLst/>
          </a:prstGeom>
          <a:solidFill>
            <a:srgbClr val="D9AE4B">
              <a:alpha val="12000"/>
            </a:srgbClr>
          </a:solidFill>
          <a:ln w="635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1031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12000" dirty="0"/>
          </a:p>
        </p:txBody>
      </p:sp>
      <p:sp>
        <p:nvSpPr>
          <p:cNvPr id="4" name="Text 2"/>
          <p:cNvSpPr/>
          <p:nvPr/>
        </p:nvSpPr>
        <p:spPr>
          <a:xfrm>
            <a:off x="4206240" y="1828800"/>
            <a:ext cx="7162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٢</a:t>
            </a:r>
            <a:endParaRPr lang="ar-SA" sz="2000" dirty="0"/>
          </a:p>
        </p:txBody>
      </p:sp>
      <p:sp>
        <p:nvSpPr>
          <p:cNvPr id="5" name="Text 3"/>
          <p:cNvSpPr/>
          <p:nvPr/>
        </p:nvSpPr>
        <p:spPr>
          <a:xfrm>
            <a:off x="4206240" y="2286000"/>
            <a:ext cx="7162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56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تشريح لوحة ESP32</a:t>
            </a:r>
            <a:endParaRPr lang="ar-SA" sz="5600" dirty="0"/>
          </a:p>
        </p:txBody>
      </p:sp>
      <p:sp>
        <p:nvSpPr>
          <p:cNvPr id="6" name="Text 4"/>
          <p:cNvSpPr/>
          <p:nvPr/>
        </p:nvSpPr>
        <p:spPr>
          <a:xfrm>
            <a:off x="4206240" y="3749040"/>
            <a:ext cx="7162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عشرة أجزاء… وثلاثون طرفًا ليست كلها متساوية</a:t>
            </a:r>
            <a:endParaRPr lang="ar-SA" sz="2200" dirty="0"/>
          </a:p>
        </p:txBody>
      </p:sp>
      <p:sp>
        <p:nvSpPr>
          <p:cNvPr id="7" name="Text 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تشريح اللوحة والأطراف  ·  ٢١</a:t>
            </a:r>
            <a:endParaRPr lang="ar-SA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095" y="45720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6248095" y="457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 بنهاية هذا المحور تستطيع أن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أهداف المحور</a:t>
            </a:r>
            <a:endParaRPr lang="ar-SA" sz="3800" dirty="0"/>
          </a:p>
        </p:txBody>
      </p:sp>
      <p:sp>
        <p:nvSpPr>
          <p:cNvPr id="5" name="anim-g1-167"/>
          <p:cNvSpPr/>
          <p:nvPr/>
        </p:nvSpPr>
        <p:spPr>
          <a:xfrm>
            <a:off x="822960" y="1920240"/>
            <a:ext cx="10545775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168"/>
          <p:cNvSpPr/>
          <p:nvPr/>
        </p:nvSpPr>
        <p:spPr>
          <a:xfrm>
            <a:off x="10573207" y="2286000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169"/>
          <p:cNvSpPr/>
          <p:nvPr/>
        </p:nvSpPr>
        <p:spPr>
          <a:xfrm>
            <a:off x="10573207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170"/>
          <p:cNvSpPr/>
          <p:nvPr/>
        </p:nvSpPr>
        <p:spPr>
          <a:xfrm>
            <a:off x="1097280" y="1920240"/>
            <a:ext cx="9247327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تحدد أجزاء اللوحة ووظيفة كل جزء</a:t>
            </a:r>
            <a:endParaRPr lang="ar-SA" sz="2400" dirty="0"/>
          </a:p>
        </p:txBody>
      </p:sp>
      <p:sp>
        <p:nvSpPr>
          <p:cNvPr id="9" name="anim-g2-171"/>
          <p:cNvSpPr/>
          <p:nvPr/>
        </p:nvSpPr>
        <p:spPr>
          <a:xfrm>
            <a:off x="822960" y="3328416"/>
            <a:ext cx="10545775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172"/>
          <p:cNvSpPr/>
          <p:nvPr/>
        </p:nvSpPr>
        <p:spPr>
          <a:xfrm>
            <a:off x="10573207" y="3694176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173"/>
          <p:cNvSpPr/>
          <p:nvPr/>
        </p:nvSpPr>
        <p:spPr>
          <a:xfrm>
            <a:off x="10573207" y="3694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174"/>
          <p:cNvSpPr/>
          <p:nvPr/>
        </p:nvSpPr>
        <p:spPr>
          <a:xfrm>
            <a:off x="1097280" y="3328416"/>
            <a:ext cx="9247327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تقرأ اسم الطرف وتعرف رقمه في الكود</a:t>
            </a:r>
            <a:endParaRPr lang="ar-SA" sz="2400" dirty="0"/>
          </a:p>
        </p:txBody>
      </p:sp>
      <p:sp>
        <p:nvSpPr>
          <p:cNvPr id="13" name="anim-g3-175"/>
          <p:cNvSpPr/>
          <p:nvPr/>
        </p:nvSpPr>
        <p:spPr>
          <a:xfrm>
            <a:off x="822960" y="4736592"/>
            <a:ext cx="10545775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176"/>
          <p:cNvSpPr/>
          <p:nvPr/>
        </p:nvSpPr>
        <p:spPr>
          <a:xfrm>
            <a:off x="10573207" y="5102352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177"/>
          <p:cNvSpPr/>
          <p:nvPr/>
        </p:nvSpPr>
        <p:spPr>
          <a:xfrm>
            <a:off x="10573207" y="5102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178"/>
          <p:cNvSpPr/>
          <p:nvPr/>
        </p:nvSpPr>
        <p:spPr>
          <a:xfrm>
            <a:off x="1097280" y="4736592"/>
            <a:ext cx="9247327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تفرّق بين الأطراف الآمنة والمدخلات فقط وأطراف الإقلاع</a:t>
            </a:r>
            <a:endParaRPr lang="ar-SA" sz="2400" dirty="0"/>
          </a:p>
        </p:txBody>
      </p:sp>
      <p:sp>
        <p:nvSpPr>
          <p:cNvPr id="17" name="Text 1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تشريح اللوحة والأطراف  ·  ٢٢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42655" y="457200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442655" y="457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اسم الطرف ورقمه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D23 في اللوحة… 23 في الكود</a:t>
            </a:r>
            <a:endParaRPr lang="ar-SA" sz="3800" dirty="0"/>
          </a:p>
        </p:txBody>
      </p:sp>
      <p:sp>
        <p:nvSpPr>
          <p:cNvPr id="5" name="anim-g1-179"/>
          <p:cNvSpPr/>
          <p:nvPr/>
        </p:nvSpPr>
        <p:spPr>
          <a:xfrm>
            <a:off x="8036357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180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181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🔢</a:t>
            </a:r>
            <a:endParaRPr lang="ar-SA" sz="2200" dirty="0"/>
          </a:p>
        </p:txBody>
      </p:sp>
      <p:sp>
        <p:nvSpPr>
          <p:cNvPr id="8" name="anim-g1-182"/>
          <p:cNvSpPr/>
          <p:nvPr/>
        </p:nvSpPr>
        <p:spPr>
          <a:xfrm>
            <a:off x="8310677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D23 ← 23</a:t>
            </a:r>
            <a:endParaRPr lang="ar-SA" sz="2200" dirty="0"/>
          </a:p>
        </p:txBody>
      </p:sp>
      <p:sp>
        <p:nvSpPr>
          <p:cNvPr id="9" name="anim-g1-183"/>
          <p:cNvSpPr/>
          <p:nvPr/>
        </p:nvSpPr>
        <p:spPr>
          <a:xfrm>
            <a:off x="8310677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الحرف D للتمييز فقط: نكتب الرقم في الكود pinMode(23, OUTPUT)</a:t>
            </a:r>
            <a:endParaRPr lang="ar-SA" sz="1900" dirty="0"/>
          </a:p>
        </p:txBody>
      </p:sp>
      <p:sp>
        <p:nvSpPr>
          <p:cNvPr id="10" name="anim-g2-184"/>
          <p:cNvSpPr/>
          <p:nvPr/>
        </p:nvSpPr>
        <p:spPr>
          <a:xfrm>
            <a:off x="4429658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185"/>
          <p:cNvSpPr/>
          <p:nvPr/>
        </p:nvSpPr>
        <p:spPr>
          <a:xfrm>
            <a:off x="6920789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186"/>
          <p:cNvSpPr/>
          <p:nvPr/>
        </p:nvSpPr>
        <p:spPr>
          <a:xfrm>
            <a:off x="6920789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🏷️</a:t>
            </a:r>
            <a:endParaRPr lang="ar-SA" sz="2200" dirty="0"/>
          </a:p>
        </p:txBody>
      </p:sp>
      <p:sp>
        <p:nvSpPr>
          <p:cNvPr id="13" name="anim-g2-187"/>
          <p:cNvSpPr/>
          <p:nvPr/>
        </p:nvSpPr>
        <p:spPr>
          <a:xfrm>
            <a:off x="4703978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VP ← 36 · VN ← 39</a:t>
            </a:r>
            <a:endParaRPr lang="ar-SA" sz="2200" dirty="0"/>
          </a:p>
        </p:txBody>
      </p:sp>
      <p:sp>
        <p:nvSpPr>
          <p:cNvPr id="14" name="anim-g2-188"/>
          <p:cNvSpPr/>
          <p:nvPr/>
        </p:nvSpPr>
        <p:spPr>
          <a:xfrm>
            <a:off x="4703978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أسماء خاصة لطرفين: رقمهما في الكود ٣٦ و٣٩</a:t>
            </a:r>
            <a:endParaRPr lang="ar-SA" sz="1900" dirty="0"/>
          </a:p>
        </p:txBody>
      </p:sp>
      <p:sp>
        <p:nvSpPr>
          <p:cNvPr id="15" name="anim-g3-189"/>
          <p:cNvSpPr/>
          <p:nvPr/>
        </p:nvSpPr>
        <p:spPr>
          <a:xfrm>
            <a:off x="822960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190"/>
          <p:cNvSpPr/>
          <p:nvPr/>
        </p:nvSpPr>
        <p:spPr>
          <a:xfrm>
            <a:off x="331409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191"/>
          <p:cNvSpPr/>
          <p:nvPr/>
        </p:nvSpPr>
        <p:spPr>
          <a:xfrm>
            <a:off x="331409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🔁</a:t>
            </a:r>
            <a:endParaRPr lang="ar-SA" sz="2200" dirty="0"/>
          </a:p>
        </p:txBody>
      </p:sp>
      <p:sp>
        <p:nvSpPr>
          <p:cNvPr id="18" name="anim-g3-192"/>
          <p:cNvSpPr/>
          <p:nvPr/>
        </p:nvSpPr>
        <p:spPr>
          <a:xfrm>
            <a:off x="1097280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RX2 ← 16 · TX2 ← 17</a:t>
            </a:r>
            <a:endParaRPr lang="ar-SA" sz="2200" dirty="0"/>
          </a:p>
        </p:txBody>
      </p:sp>
      <p:sp>
        <p:nvSpPr>
          <p:cNvPr id="19" name="anim-g3-193"/>
          <p:cNvSpPr/>
          <p:nvPr/>
        </p:nvSpPr>
        <p:spPr>
          <a:xfrm>
            <a:off x="1097280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المنفذ التسلسلي الثاني، ويصلحان مخرجين عاديين</a:t>
            </a:r>
            <a:endParaRPr lang="ar-SA" sz="1900" dirty="0"/>
          </a:p>
        </p:txBody>
      </p:sp>
      <p:sp>
        <p:nvSpPr>
          <p:cNvPr id="20" name="Text 18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تشريح اللوحة والأطراف  ·  ٢٤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57439" y="457200"/>
            <a:ext cx="3511296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7857439" y="4572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⚠️ ثلاث قواعد ذهبية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قبل أن توصل أي سلك</a:t>
            </a:r>
            <a:endParaRPr lang="ar-SA" sz="3800" dirty="0"/>
          </a:p>
        </p:txBody>
      </p:sp>
      <p:sp>
        <p:nvSpPr>
          <p:cNvPr id="5" name="anim-g1-194"/>
          <p:cNvSpPr/>
          <p:nvPr/>
        </p:nvSpPr>
        <p:spPr>
          <a:xfrm>
            <a:off x="8036357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195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196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ar-SA" sz="2200" dirty="0"/>
          </a:p>
        </p:txBody>
      </p:sp>
      <p:sp>
        <p:nvSpPr>
          <p:cNvPr id="8" name="anim-g1-197"/>
          <p:cNvSpPr/>
          <p:nvPr/>
        </p:nvSpPr>
        <p:spPr>
          <a:xfrm>
            <a:off x="8310677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ابدأ بالآمنة</a:t>
            </a:r>
            <a:endParaRPr lang="ar-SA" sz="2200" dirty="0"/>
          </a:p>
        </p:txBody>
      </p:sp>
      <p:sp>
        <p:nvSpPr>
          <p:cNvPr id="9" name="anim-g1-198"/>
          <p:cNvSpPr/>
          <p:nvPr/>
        </p:nvSpPr>
        <p:spPr>
          <a:xfrm>
            <a:off x="8310677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4 و13 و14 و16 حتى 33 (عدا 34 فما فوق): لكل مشاريع الطلاب</a:t>
            </a:r>
            <a:endParaRPr lang="ar-SA" sz="1900" dirty="0"/>
          </a:p>
        </p:txBody>
      </p:sp>
      <p:sp>
        <p:nvSpPr>
          <p:cNvPr id="10" name="anim-g2-199"/>
          <p:cNvSpPr/>
          <p:nvPr/>
        </p:nvSpPr>
        <p:spPr>
          <a:xfrm>
            <a:off x="4429658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200"/>
          <p:cNvSpPr/>
          <p:nvPr/>
        </p:nvSpPr>
        <p:spPr>
          <a:xfrm>
            <a:off x="6920789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201"/>
          <p:cNvSpPr/>
          <p:nvPr/>
        </p:nvSpPr>
        <p:spPr>
          <a:xfrm>
            <a:off x="6920789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👁️</a:t>
            </a:r>
            <a:endParaRPr lang="ar-SA" sz="2200" dirty="0"/>
          </a:p>
        </p:txBody>
      </p:sp>
      <p:sp>
        <p:nvSpPr>
          <p:cNvPr id="13" name="anim-g2-202"/>
          <p:cNvSpPr/>
          <p:nvPr/>
        </p:nvSpPr>
        <p:spPr>
          <a:xfrm>
            <a:off x="4703978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34–39 تقرأ فقط</a:t>
            </a:r>
            <a:endParaRPr lang="ar-SA" sz="2200" dirty="0"/>
          </a:p>
        </p:txBody>
      </p:sp>
      <p:sp>
        <p:nvSpPr>
          <p:cNvPr id="14" name="anim-g2-203"/>
          <p:cNvSpPr/>
          <p:nvPr/>
        </p:nvSpPr>
        <p:spPr>
          <a:xfrm>
            <a:off x="4703978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للحساسات والأزرار، ولا تُخرج جهدًا أبدًا</a:t>
            </a:r>
            <a:endParaRPr lang="ar-SA" sz="1900" dirty="0"/>
          </a:p>
        </p:txBody>
      </p:sp>
      <p:sp>
        <p:nvSpPr>
          <p:cNvPr id="15" name="anim-g3-204"/>
          <p:cNvSpPr/>
          <p:nvPr/>
        </p:nvSpPr>
        <p:spPr>
          <a:xfrm>
            <a:off x="822960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205"/>
          <p:cNvSpPr/>
          <p:nvPr/>
        </p:nvSpPr>
        <p:spPr>
          <a:xfrm>
            <a:off x="331409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206"/>
          <p:cNvSpPr/>
          <p:nvPr/>
        </p:nvSpPr>
        <p:spPr>
          <a:xfrm>
            <a:off x="331409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🚫</a:t>
            </a:r>
            <a:endParaRPr lang="ar-SA" sz="2200" dirty="0"/>
          </a:p>
        </p:txBody>
      </p:sp>
      <p:sp>
        <p:nvSpPr>
          <p:cNvPr id="18" name="anim-g3-207"/>
          <p:cNvSpPr/>
          <p:nvPr/>
        </p:nvSpPr>
        <p:spPr>
          <a:xfrm>
            <a:off x="1097280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تجنّب 0 و1 و2 و3 و5 و12 و15</a:t>
            </a:r>
            <a:endParaRPr lang="ar-SA" sz="2200" dirty="0"/>
          </a:p>
        </p:txBody>
      </p:sp>
      <p:sp>
        <p:nvSpPr>
          <p:cNvPr id="19" name="anim-g3-208"/>
          <p:cNvSpPr/>
          <p:nvPr/>
        </p:nvSpPr>
        <p:spPr>
          <a:xfrm>
            <a:off x="1097280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إقلاع ومنفذ الحاسوب: قد تمنع الرفع أو الإقلاع</a:t>
            </a:r>
            <a:endParaRPr lang="ar-SA" sz="1900" dirty="0"/>
          </a:p>
        </p:txBody>
      </p:sp>
      <p:sp>
        <p:nvSpPr>
          <p:cNvPr id="20" name="Text 18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تشريح اللوحة والأطراف  ·  ٢٦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40200" y="1188720"/>
            <a:ext cx="3511296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40200" y="118872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تشبيه يفهمه كل طالب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الأطراف مثل أبواب مدرسة: أبواب للدخول والخروج، وأبواب للدخول فقط…</a:t>
            </a:r>
            <a:endParaRPr lang="ar-SA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 وأبواب طوارئ لا تُفتح إلا لسبب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تشريح اللوحة والأطراف  ·  ٢٧</a:t>
            </a:r>
            <a:endParaRPr lang="ar-SA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اختبر نفسك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أين الليد الذي تبرمجه دون أي توصيل؟</a:t>
            </a:r>
            <a:endParaRPr lang="ar-SA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31831" y="2194560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101B45"/>
          </a:solidFill>
          <a:ln/>
        </p:spPr>
      </p:sp>
      <p:sp>
        <p:nvSpPr>
          <p:cNvPr id="7" name="Text 5"/>
          <p:cNvSpPr/>
          <p:nvPr/>
        </p:nvSpPr>
        <p:spPr>
          <a:xfrm>
            <a:off x="10231831" y="2194560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8951671" cy="1228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ليد الطاقة الأحمر</a:t>
            </a:r>
            <a:endParaRPr lang="ar-SA" sz="2500" dirty="0"/>
          </a:p>
        </p:txBody>
      </p:sp>
      <p:sp>
        <p:nvSpPr>
          <p:cNvPr id="9" name="anim-g1-209"/>
          <p:cNvSpPr/>
          <p:nvPr/>
        </p:nvSpPr>
        <p:spPr>
          <a:xfrm>
            <a:off x="822960" y="2057400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0" name="anim-g1-210"/>
          <p:cNvSpPr/>
          <p:nvPr/>
        </p:nvSpPr>
        <p:spPr>
          <a:xfrm>
            <a:off x="10231831" y="2194560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A3A9BA"/>
          </a:solidFill>
          <a:ln/>
        </p:spPr>
      </p:sp>
      <p:sp>
        <p:nvSpPr>
          <p:cNvPr id="11" name="anim-g1-211"/>
          <p:cNvSpPr/>
          <p:nvPr/>
        </p:nvSpPr>
        <p:spPr>
          <a:xfrm>
            <a:off x="10231831" y="2194560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400" dirty="0"/>
          </a:p>
        </p:txBody>
      </p:sp>
      <p:sp>
        <p:nvSpPr>
          <p:cNvPr id="12" name="anim-g1-212"/>
          <p:cNvSpPr/>
          <p:nvPr/>
        </p:nvSpPr>
        <p:spPr>
          <a:xfrm>
            <a:off x="1097280" y="2093976"/>
            <a:ext cx="8951671" cy="61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ليد الطاقة الأحمر</a:t>
            </a:r>
            <a:endParaRPr lang="ar-SA" sz="2400" dirty="0"/>
          </a:p>
        </p:txBody>
      </p:sp>
      <p:sp>
        <p:nvSpPr>
          <p:cNvPr id="13" name="anim-g1-213"/>
          <p:cNvSpPr/>
          <p:nvPr/>
        </p:nvSpPr>
        <p:spPr>
          <a:xfrm>
            <a:off x="1097280" y="2720706"/>
            <a:ext cx="8951671" cy="51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هذا يضيء مع الطاقة فقط ولا يُبرمج</a:t>
            </a:r>
            <a:endParaRPr lang="ar-SA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432048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31831" y="3569208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101B45"/>
          </a:solidFill>
          <a:ln/>
        </p:spPr>
      </p:sp>
      <p:sp>
        <p:nvSpPr>
          <p:cNvPr id="16" name="Text 14"/>
          <p:cNvSpPr/>
          <p:nvPr/>
        </p:nvSpPr>
        <p:spPr>
          <a:xfrm>
            <a:off x="10231831" y="3569208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400" dirty="0"/>
          </a:p>
        </p:txBody>
      </p:sp>
      <p:sp>
        <p:nvSpPr>
          <p:cNvPr id="17" name="Text 15"/>
          <p:cNvSpPr/>
          <p:nvPr/>
        </p:nvSpPr>
        <p:spPr>
          <a:xfrm>
            <a:off x="1097280" y="3432048"/>
            <a:ext cx="8951671" cy="1228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على الطرف 23</a:t>
            </a:r>
            <a:endParaRPr lang="ar-SA" sz="2500" dirty="0"/>
          </a:p>
        </p:txBody>
      </p:sp>
      <p:sp>
        <p:nvSpPr>
          <p:cNvPr id="18" name="anim-g1-214"/>
          <p:cNvSpPr/>
          <p:nvPr/>
        </p:nvSpPr>
        <p:spPr>
          <a:xfrm>
            <a:off x="822960" y="3432048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9" name="anim-g1-215"/>
          <p:cNvSpPr/>
          <p:nvPr/>
        </p:nvSpPr>
        <p:spPr>
          <a:xfrm>
            <a:off x="10231831" y="3569208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A3A9BA"/>
          </a:solidFill>
          <a:ln/>
        </p:spPr>
      </p:sp>
      <p:sp>
        <p:nvSpPr>
          <p:cNvPr id="20" name="anim-g1-216"/>
          <p:cNvSpPr/>
          <p:nvPr/>
        </p:nvSpPr>
        <p:spPr>
          <a:xfrm>
            <a:off x="10231831" y="3569208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400" dirty="0"/>
          </a:p>
        </p:txBody>
      </p:sp>
      <p:sp>
        <p:nvSpPr>
          <p:cNvPr id="21" name="anim-g1-217"/>
          <p:cNvSpPr/>
          <p:nvPr/>
        </p:nvSpPr>
        <p:spPr>
          <a:xfrm>
            <a:off x="1097280" y="3468624"/>
            <a:ext cx="8951671" cy="61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على الطرف 23</a:t>
            </a:r>
            <a:endParaRPr lang="ar-SA" sz="2400" dirty="0"/>
          </a:p>
        </p:txBody>
      </p:sp>
      <p:sp>
        <p:nvSpPr>
          <p:cNvPr id="22" name="anim-g1-218"/>
          <p:cNvSpPr/>
          <p:nvPr/>
        </p:nvSpPr>
        <p:spPr>
          <a:xfrm>
            <a:off x="1097280" y="4095354"/>
            <a:ext cx="8951671" cy="51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الطرف 23 يحتاج ليدًا خارجيًا</a:t>
            </a:r>
            <a:endParaRPr lang="ar-SA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4806696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31831" y="4943856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101B45"/>
          </a:solidFill>
          <a:ln/>
        </p:spPr>
      </p:sp>
      <p:sp>
        <p:nvSpPr>
          <p:cNvPr id="25" name="Text 23"/>
          <p:cNvSpPr/>
          <p:nvPr/>
        </p:nvSpPr>
        <p:spPr>
          <a:xfrm>
            <a:off x="10231831" y="4943856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400" dirty="0"/>
          </a:p>
        </p:txBody>
      </p:sp>
      <p:sp>
        <p:nvSpPr>
          <p:cNvPr id="26" name="Text 24"/>
          <p:cNvSpPr/>
          <p:nvPr/>
        </p:nvSpPr>
        <p:spPr>
          <a:xfrm>
            <a:off x="1097280" y="4806696"/>
            <a:ext cx="8951671" cy="1228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الليد الأزرق على GPIO2</a:t>
            </a:r>
            <a:endParaRPr lang="ar-SA" sz="2500" dirty="0"/>
          </a:p>
        </p:txBody>
      </p:sp>
      <p:sp>
        <p:nvSpPr>
          <p:cNvPr id="27" name="anim-g1-219"/>
          <p:cNvSpPr/>
          <p:nvPr/>
        </p:nvSpPr>
        <p:spPr>
          <a:xfrm>
            <a:off x="822960" y="4806696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E6F4EC"/>
          </a:solidFill>
          <a:ln w="31750">
            <a:solidFill>
              <a:srgbClr val="2E9E6B"/>
            </a:solidFill>
            <a:prstDash val="solid"/>
          </a:ln>
        </p:spPr>
      </p:sp>
      <p:sp>
        <p:nvSpPr>
          <p:cNvPr id="28" name="anim-g1-220"/>
          <p:cNvSpPr/>
          <p:nvPr/>
        </p:nvSpPr>
        <p:spPr>
          <a:xfrm>
            <a:off x="10231831" y="4943856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2E9E6B"/>
          </a:solidFill>
          <a:ln/>
        </p:spPr>
      </p:sp>
      <p:sp>
        <p:nvSpPr>
          <p:cNvPr id="29" name="anim-g1-221"/>
          <p:cNvSpPr/>
          <p:nvPr/>
        </p:nvSpPr>
        <p:spPr>
          <a:xfrm>
            <a:off x="10231831" y="4943856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✓</a:t>
            </a:r>
            <a:endParaRPr lang="ar-SA" sz="2400" dirty="0"/>
          </a:p>
        </p:txBody>
      </p:sp>
      <p:sp>
        <p:nvSpPr>
          <p:cNvPr id="30" name="anim-g1-222"/>
          <p:cNvSpPr/>
          <p:nvPr/>
        </p:nvSpPr>
        <p:spPr>
          <a:xfrm>
            <a:off x="1097280" y="4843272"/>
            <a:ext cx="8951671" cy="61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الليد الأزرق على GPIO2</a:t>
            </a:r>
            <a:endParaRPr lang="ar-SA" sz="2400" dirty="0"/>
          </a:p>
        </p:txBody>
      </p:sp>
      <p:sp>
        <p:nvSpPr>
          <p:cNvPr id="31" name="anim-g1-223"/>
          <p:cNvSpPr/>
          <p:nvPr/>
        </p:nvSpPr>
        <p:spPr>
          <a:xfrm>
            <a:off x="1097280" y="5470002"/>
            <a:ext cx="8951671" cy="51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صحيح: الليد الأزرق المدمج متصل بـ GPIO2 في أغلب لوحات DevKit</a:t>
            </a:r>
            <a:endParaRPr lang="ar-SA" sz="1800" dirty="0"/>
          </a:p>
        </p:txBody>
      </p:sp>
      <p:sp>
        <p:nvSpPr>
          <p:cNvPr id="32" name="Text 30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33" name="Text 31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تشريح اللوحة والأطراف  ·  ٢٨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اختبر نفسك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أي طرف تختار لليد خارجي؟</a:t>
            </a:r>
            <a:endParaRPr lang="ar-SA" sz="38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31831" y="2194560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101B45"/>
          </a:solidFill>
          <a:ln/>
        </p:spPr>
      </p:sp>
      <p:sp>
        <p:nvSpPr>
          <p:cNvPr id="7" name="Text 5"/>
          <p:cNvSpPr/>
          <p:nvPr/>
        </p:nvSpPr>
        <p:spPr>
          <a:xfrm>
            <a:off x="10231831" y="2194560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8951671" cy="1228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GPIO23</a:t>
            </a:r>
            <a:endParaRPr lang="ar-SA" sz="2500" dirty="0"/>
          </a:p>
        </p:txBody>
      </p:sp>
      <p:sp>
        <p:nvSpPr>
          <p:cNvPr id="9" name="anim-g1-224"/>
          <p:cNvSpPr/>
          <p:nvPr/>
        </p:nvSpPr>
        <p:spPr>
          <a:xfrm>
            <a:off x="822960" y="2057400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E6F4EC"/>
          </a:solidFill>
          <a:ln w="31750">
            <a:solidFill>
              <a:srgbClr val="2E9E6B"/>
            </a:solidFill>
            <a:prstDash val="solid"/>
          </a:ln>
        </p:spPr>
      </p:sp>
      <p:sp>
        <p:nvSpPr>
          <p:cNvPr id="10" name="anim-g1-225"/>
          <p:cNvSpPr/>
          <p:nvPr/>
        </p:nvSpPr>
        <p:spPr>
          <a:xfrm>
            <a:off x="10231831" y="2194560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2E9E6B"/>
          </a:solidFill>
          <a:ln/>
        </p:spPr>
      </p:sp>
      <p:sp>
        <p:nvSpPr>
          <p:cNvPr id="11" name="anim-g1-226"/>
          <p:cNvSpPr/>
          <p:nvPr/>
        </p:nvSpPr>
        <p:spPr>
          <a:xfrm>
            <a:off x="10231831" y="2194560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✓</a:t>
            </a:r>
            <a:endParaRPr lang="ar-SA" sz="2400" dirty="0"/>
          </a:p>
        </p:txBody>
      </p:sp>
      <p:sp>
        <p:nvSpPr>
          <p:cNvPr id="12" name="anim-g1-227"/>
          <p:cNvSpPr/>
          <p:nvPr/>
        </p:nvSpPr>
        <p:spPr>
          <a:xfrm>
            <a:off x="1097280" y="2093976"/>
            <a:ext cx="8951671" cy="61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GPIO23</a:t>
            </a:r>
            <a:endParaRPr lang="ar-SA" sz="2400" dirty="0"/>
          </a:p>
        </p:txBody>
      </p:sp>
      <p:sp>
        <p:nvSpPr>
          <p:cNvPr id="13" name="anim-g1-228"/>
          <p:cNvSpPr/>
          <p:nvPr/>
        </p:nvSpPr>
        <p:spPr>
          <a:xfrm>
            <a:off x="1097280" y="2720706"/>
            <a:ext cx="8951671" cy="51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صحيح: طرف آمن للمخرجات</a:t>
            </a:r>
            <a:endParaRPr lang="ar-SA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432048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31831" y="3569208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101B45"/>
          </a:solidFill>
          <a:ln/>
        </p:spPr>
      </p:sp>
      <p:sp>
        <p:nvSpPr>
          <p:cNvPr id="16" name="Text 14"/>
          <p:cNvSpPr/>
          <p:nvPr/>
        </p:nvSpPr>
        <p:spPr>
          <a:xfrm>
            <a:off x="10231831" y="3569208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400" dirty="0"/>
          </a:p>
        </p:txBody>
      </p:sp>
      <p:sp>
        <p:nvSpPr>
          <p:cNvPr id="17" name="Text 15"/>
          <p:cNvSpPr/>
          <p:nvPr/>
        </p:nvSpPr>
        <p:spPr>
          <a:xfrm>
            <a:off x="1097280" y="3432048"/>
            <a:ext cx="8951671" cy="1228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GPIO34</a:t>
            </a:r>
            <a:endParaRPr lang="ar-SA" sz="2500" dirty="0"/>
          </a:p>
        </p:txBody>
      </p:sp>
      <p:sp>
        <p:nvSpPr>
          <p:cNvPr id="18" name="anim-g1-229"/>
          <p:cNvSpPr/>
          <p:nvPr/>
        </p:nvSpPr>
        <p:spPr>
          <a:xfrm>
            <a:off x="822960" y="3432048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9" name="anim-g1-230"/>
          <p:cNvSpPr/>
          <p:nvPr/>
        </p:nvSpPr>
        <p:spPr>
          <a:xfrm>
            <a:off x="10231831" y="3569208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A3A9BA"/>
          </a:solidFill>
          <a:ln/>
        </p:spPr>
      </p:sp>
      <p:sp>
        <p:nvSpPr>
          <p:cNvPr id="20" name="anim-g1-231"/>
          <p:cNvSpPr/>
          <p:nvPr/>
        </p:nvSpPr>
        <p:spPr>
          <a:xfrm>
            <a:off x="10231831" y="3569208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400" dirty="0"/>
          </a:p>
        </p:txBody>
      </p:sp>
      <p:sp>
        <p:nvSpPr>
          <p:cNvPr id="21" name="anim-g1-232"/>
          <p:cNvSpPr/>
          <p:nvPr/>
        </p:nvSpPr>
        <p:spPr>
          <a:xfrm>
            <a:off x="1097280" y="3468624"/>
            <a:ext cx="8951671" cy="61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GPIO34</a:t>
            </a:r>
            <a:endParaRPr lang="ar-SA" sz="2400" dirty="0"/>
          </a:p>
        </p:txBody>
      </p:sp>
      <p:sp>
        <p:nvSpPr>
          <p:cNvPr id="22" name="anim-g1-233"/>
          <p:cNvSpPr/>
          <p:nvPr/>
        </p:nvSpPr>
        <p:spPr>
          <a:xfrm>
            <a:off x="1097280" y="4095354"/>
            <a:ext cx="8951671" cy="51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34 مدخل فقط: لن يضيء الليد</a:t>
            </a:r>
            <a:endParaRPr lang="ar-SA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4806696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31831" y="4943856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101B45"/>
          </a:solidFill>
          <a:ln/>
        </p:spPr>
      </p:sp>
      <p:sp>
        <p:nvSpPr>
          <p:cNvPr id="25" name="Text 23"/>
          <p:cNvSpPr/>
          <p:nvPr/>
        </p:nvSpPr>
        <p:spPr>
          <a:xfrm>
            <a:off x="10231831" y="4943856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400" dirty="0"/>
          </a:p>
        </p:txBody>
      </p:sp>
      <p:sp>
        <p:nvSpPr>
          <p:cNvPr id="26" name="Text 24"/>
          <p:cNvSpPr/>
          <p:nvPr/>
        </p:nvSpPr>
        <p:spPr>
          <a:xfrm>
            <a:off x="1097280" y="4806696"/>
            <a:ext cx="8951671" cy="1228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GPIO1 (TX0)</a:t>
            </a:r>
            <a:endParaRPr lang="ar-SA" sz="2500" dirty="0"/>
          </a:p>
        </p:txBody>
      </p:sp>
      <p:sp>
        <p:nvSpPr>
          <p:cNvPr id="27" name="anim-g1-234"/>
          <p:cNvSpPr/>
          <p:nvPr/>
        </p:nvSpPr>
        <p:spPr>
          <a:xfrm>
            <a:off x="822960" y="4806696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8" name="anim-g1-235"/>
          <p:cNvSpPr/>
          <p:nvPr/>
        </p:nvSpPr>
        <p:spPr>
          <a:xfrm>
            <a:off x="10231831" y="4943856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A3A9BA"/>
          </a:solidFill>
          <a:ln/>
        </p:spPr>
      </p:sp>
      <p:sp>
        <p:nvSpPr>
          <p:cNvPr id="29" name="anim-g1-236"/>
          <p:cNvSpPr/>
          <p:nvPr/>
        </p:nvSpPr>
        <p:spPr>
          <a:xfrm>
            <a:off x="10231831" y="4943856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400" dirty="0"/>
          </a:p>
        </p:txBody>
      </p:sp>
      <p:sp>
        <p:nvSpPr>
          <p:cNvPr id="30" name="anim-g1-237"/>
          <p:cNvSpPr/>
          <p:nvPr/>
        </p:nvSpPr>
        <p:spPr>
          <a:xfrm>
            <a:off x="1097280" y="4843272"/>
            <a:ext cx="8951671" cy="61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GPIO1 (TX0)</a:t>
            </a:r>
            <a:endParaRPr lang="ar-SA" sz="2400" dirty="0"/>
          </a:p>
        </p:txBody>
      </p:sp>
      <p:sp>
        <p:nvSpPr>
          <p:cNvPr id="31" name="anim-g1-238"/>
          <p:cNvSpPr/>
          <p:nvPr/>
        </p:nvSpPr>
        <p:spPr>
          <a:xfrm>
            <a:off x="1097280" y="5470002"/>
            <a:ext cx="8951671" cy="51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منفذ الحاسوب: سيعطّل الرفع والشاشة التسلسلية</a:t>
            </a:r>
            <a:endParaRPr lang="ar-SA" sz="1800" dirty="0"/>
          </a:p>
        </p:txBody>
      </p:sp>
      <p:sp>
        <p:nvSpPr>
          <p:cNvPr id="32" name="Text 30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33" name="Text 31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تشريح اللوحة والأطراف  ·  ٢٩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3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3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2264" y="118872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52264" y="11887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خلاصة المحور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عشرة أجزاء تعرفها، وثلاثون طرفًا تفرّقها: نصف أعطال ESP32 تختفي قبل أن تبدأ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تشريح اللوحة والأطراف  ·  ٣٢</a:t>
            </a:r>
            <a:endParaRPr lang="ar-SA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103120"/>
            <a:ext cx="2651760" cy="2651760"/>
          </a:xfrm>
          <a:prstGeom prst="ellipse">
            <a:avLst/>
          </a:prstGeom>
          <a:solidFill>
            <a:srgbClr val="D9AE4B">
              <a:alpha val="12000"/>
            </a:srgbClr>
          </a:solidFill>
          <a:ln w="635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1031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12000" dirty="0"/>
          </a:p>
        </p:txBody>
      </p:sp>
      <p:sp>
        <p:nvSpPr>
          <p:cNvPr id="4" name="Text 2"/>
          <p:cNvSpPr/>
          <p:nvPr/>
        </p:nvSpPr>
        <p:spPr>
          <a:xfrm>
            <a:off x="4206240" y="1828800"/>
            <a:ext cx="7162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٣</a:t>
            </a:r>
            <a:endParaRPr lang="ar-SA" sz="2000" dirty="0"/>
          </a:p>
        </p:txBody>
      </p:sp>
      <p:sp>
        <p:nvSpPr>
          <p:cNvPr id="5" name="Text 3"/>
          <p:cNvSpPr/>
          <p:nvPr/>
        </p:nvSpPr>
        <p:spPr>
          <a:xfrm>
            <a:off x="4206240" y="2286000"/>
            <a:ext cx="7162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56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الطاقة وبيئة البرمجة</a:t>
            </a:r>
            <a:endParaRPr lang="ar-SA" sz="5600" dirty="0"/>
          </a:p>
        </p:txBody>
      </p:sp>
      <p:sp>
        <p:nvSpPr>
          <p:cNvPr id="6" name="Text 4"/>
          <p:cNvSpPr/>
          <p:nvPr/>
        </p:nvSpPr>
        <p:spPr>
          <a:xfrm>
            <a:off x="4206240" y="3749040"/>
            <a:ext cx="7162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٣٫٣ فولت… وزر صغير اسمه BOOT</a:t>
            </a:r>
            <a:endParaRPr lang="ar-SA" sz="2200" dirty="0"/>
          </a:p>
        </p:txBody>
      </p:sp>
      <p:sp>
        <p:nvSpPr>
          <p:cNvPr id="7" name="Text 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الطاقة والرفع  ·  ٣٣</a:t>
            </a:r>
            <a:endParaRPr lang="ar-SA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095" y="45720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6248095" y="457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 بنهاية هذا المحور تستطيع أن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أهداف المحور</a:t>
            </a:r>
            <a:endParaRPr lang="ar-SA" sz="3800" dirty="0"/>
          </a:p>
        </p:txBody>
      </p:sp>
      <p:sp>
        <p:nvSpPr>
          <p:cNvPr id="5" name="anim-g1-239"/>
          <p:cNvSpPr/>
          <p:nvPr/>
        </p:nvSpPr>
        <p:spPr>
          <a:xfrm>
            <a:off x="822960" y="1920240"/>
            <a:ext cx="10545775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240"/>
          <p:cNvSpPr/>
          <p:nvPr/>
        </p:nvSpPr>
        <p:spPr>
          <a:xfrm>
            <a:off x="10573207" y="2286000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241"/>
          <p:cNvSpPr/>
          <p:nvPr/>
        </p:nvSpPr>
        <p:spPr>
          <a:xfrm>
            <a:off x="10573207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242"/>
          <p:cNvSpPr/>
          <p:nvPr/>
        </p:nvSpPr>
        <p:spPr>
          <a:xfrm>
            <a:off x="1097280" y="1920240"/>
            <a:ext cx="9247327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تغذّي اللوحة بأمان من USB أو VIN</a:t>
            </a:r>
            <a:endParaRPr lang="ar-SA" sz="2400" dirty="0"/>
          </a:p>
        </p:txBody>
      </p:sp>
      <p:sp>
        <p:nvSpPr>
          <p:cNvPr id="9" name="anim-g2-243"/>
          <p:cNvSpPr/>
          <p:nvPr/>
        </p:nvSpPr>
        <p:spPr>
          <a:xfrm>
            <a:off x="822960" y="3328416"/>
            <a:ext cx="10545775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244"/>
          <p:cNvSpPr/>
          <p:nvPr/>
        </p:nvSpPr>
        <p:spPr>
          <a:xfrm>
            <a:off x="10573207" y="3694176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245"/>
          <p:cNvSpPr/>
          <p:nvPr/>
        </p:nvSpPr>
        <p:spPr>
          <a:xfrm>
            <a:off x="10573207" y="3694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246"/>
          <p:cNvSpPr/>
          <p:nvPr/>
        </p:nvSpPr>
        <p:spPr>
          <a:xfrm>
            <a:off x="1097280" y="3328416"/>
            <a:ext cx="9247327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تضيف لوحات ESP32 إلى Arduino IDE</a:t>
            </a:r>
            <a:endParaRPr lang="ar-SA" sz="2400" dirty="0"/>
          </a:p>
        </p:txBody>
      </p:sp>
      <p:sp>
        <p:nvSpPr>
          <p:cNvPr id="13" name="anim-g3-247"/>
          <p:cNvSpPr/>
          <p:nvPr/>
        </p:nvSpPr>
        <p:spPr>
          <a:xfrm>
            <a:off x="822960" y="4736592"/>
            <a:ext cx="10545775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248"/>
          <p:cNvSpPr/>
          <p:nvPr/>
        </p:nvSpPr>
        <p:spPr>
          <a:xfrm>
            <a:off x="10573207" y="5102352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249"/>
          <p:cNvSpPr/>
          <p:nvPr/>
        </p:nvSpPr>
        <p:spPr>
          <a:xfrm>
            <a:off x="10573207" y="5102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250"/>
          <p:cNvSpPr/>
          <p:nvPr/>
        </p:nvSpPr>
        <p:spPr>
          <a:xfrm>
            <a:off x="1097280" y="4736592"/>
            <a:ext cx="9247327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ترفع برنامجًا وتحل مشكلة Connecting…</a:t>
            </a:r>
            <a:endParaRPr lang="ar-SA" sz="2400" dirty="0"/>
          </a:p>
        </p:txBody>
      </p:sp>
      <p:sp>
        <p:nvSpPr>
          <p:cNvPr id="17" name="Text 1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الطاقة والرفع  ·  ٣٤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42655" y="457200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442655" y="457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ثلاث طرق للطاقة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كيف نغذّي ESP32؟</a:t>
            </a:r>
            <a:endParaRPr lang="ar-SA" sz="3800" dirty="0"/>
          </a:p>
        </p:txBody>
      </p:sp>
      <p:sp>
        <p:nvSpPr>
          <p:cNvPr id="5" name="anim-g1-251"/>
          <p:cNvSpPr/>
          <p:nvPr/>
        </p:nvSpPr>
        <p:spPr>
          <a:xfrm>
            <a:off x="8036357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252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253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🔌</a:t>
            </a:r>
            <a:endParaRPr lang="ar-SA" sz="2200" dirty="0"/>
          </a:p>
        </p:txBody>
      </p:sp>
      <p:sp>
        <p:nvSpPr>
          <p:cNvPr id="8" name="anim-g1-254"/>
          <p:cNvSpPr/>
          <p:nvPr/>
        </p:nvSpPr>
        <p:spPr>
          <a:xfrm>
            <a:off x="8310677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USB</a:t>
            </a:r>
            <a:endParaRPr lang="ar-SA" sz="2200" dirty="0"/>
          </a:p>
        </p:txBody>
      </p:sp>
      <p:sp>
        <p:nvSpPr>
          <p:cNvPr id="9" name="anim-g1-255"/>
          <p:cNvSpPr/>
          <p:nvPr/>
        </p:nvSpPr>
        <p:spPr>
          <a:xfrm>
            <a:off x="8310677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الأسهل: ٥ فولت من الحاسوب أو شاحن جوال</a:t>
            </a:r>
            <a:endParaRPr lang="ar-SA" sz="1900" dirty="0"/>
          </a:p>
        </p:txBody>
      </p:sp>
      <p:sp>
        <p:nvSpPr>
          <p:cNvPr id="10" name="anim-g2-256"/>
          <p:cNvSpPr/>
          <p:nvPr/>
        </p:nvSpPr>
        <p:spPr>
          <a:xfrm>
            <a:off x="4429658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257"/>
          <p:cNvSpPr/>
          <p:nvPr/>
        </p:nvSpPr>
        <p:spPr>
          <a:xfrm>
            <a:off x="6920789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258"/>
          <p:cNvSpPr/>
          <p:nvPr/>
        </p:nvSpPr>
        <p:spPr>
          <a:xfrm>
            <a:off x="6920789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🔋</a:t>
            </a:r>
            <a:endParaRPr lang="ar-SA" sz="2200" dirty="0"/>
          </a:p>
        </p:txBody>
      </p:sp>
      <p:sp>
        <p:nvSpPr>
          <p:cNvPr id="13" name="anim-g2-259"/>
          <p:cNvSpPr/>
          <p:nvPr/>
        </p:nvSpPr>
        <p:spPr>
          <a:xfrm>
            <a:off x="4703978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VIN</a:t>
            </a:r>
            <a:endParaRPr lang="ar-SA" sz="2200" dirty="0"/>
          </a:p>
        </p:txBody>
      </p:sp>
      <p:sp>
        <p:nvSpPr>
          <p:cNvPr id="14" name="anim-g2-260"/>
          <p:cNvSpPr/>
          <p:nvPr/>
        </p:nvSpPr>
        <p:spPr>
          <a:xfrm>
            <a:off x="4703978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٥ فولت من مصدر خارجي، والمنظّم يحولها إلى ٣٫٣</a:t>
            </a:r>
            <a:endParaRPr lang="ar-SA" sz="1900" dirty="0"/>
          </a:p>
        </p:txBody>
      </p:sp>
      <p:sp>
        <p:nvSpPr>
          <p:cNvPr id="15" name="anim-g3-261"/>
          <p:cNvSpPr/>
          <p:nvPr/>
        </p:nvSpPr>
        <p:spPr>
          <a:xfrm>
            <a:off x="822960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262"/>
          <p:cNvSpPr/>
          <p:nvPr/>
        </p:nvSpPr>
        <p:spPr>
          <a:xfrm>
            <a:off x="331409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263"/>
          <p:cNvSpPr/>
          <p:nvPr/>
        </p:nvSpPr>
        <p:spPr>
          <a:xfrm>
            <a:off x="331409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⚡</a:t>
            </a:r>
            <a:endParaRPr lang="ar-SA" sz="2200" dirty="0"/>
          </a:p>
        </p:txBody>
      </p:sp>
      <p:sp>
        <p:nvSpPr>
          <p:cNvPr id="18" name="anim-g3-264"/>
          <p:cNvSpPr/>
          <p:nvPr/>
        </p:nvSpPr>
        <p:spPr>
          <a:xfrm>
            <a:off x="1097280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3V3</a:t>
            </a:r>
            <a:endParaRPr lang="ar-SA" sz="2200" dirty="0"/>
          </a:p>
        </p:txBody>
      </p:sp>
      <p:sp>
        <p:nvSpPr>
          <p:cNvPr id="19" name="anim-g3-265"/>
          <p:cNvSpPr/>
          <p:nvPr/>
        </p:nvSpPr>
        <p:spPr>
          <a:xfrm>
            <a:off x="1097280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متقدم: ٣٫٣ فولت منظمة مباشرة، ولا تزد عنها أبدًا</a:t>
            </a:r>
            <a:endParaRPr lang="ar-SA" sz="1900" dirty="0"/>
          </a:p>
        </p:txBody>
      </p:sp>
      <p:sp>
        <p:nvSpPr>
          <p:cNvPr id="20" name="Text 18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الطاقة والرفع  ·  ٣٥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67048" y="1188720"/>
            <a:ext cx="3657600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67048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قاعدة الأمان الذهبية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لا تُدخل ٥ فولت على أي طرف من أطراف ESP32…</a:t>
            </a:r>
            <a:endParaRPr lang="ar-SA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 فهي تعيش على ٣٫٣ فولت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الطاقة والرفع  ·  ٣٦</a:t>
            </a:r>
            <a:endParaRPr lang="ar-SA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64831" y="457200"/>
            <a:ext cx="3803904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7564831" y="457200"/>
            <a:ext cx="3803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🛠️ التجهيز مرة واحدة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أضف ESP32 إلى Arduino IDE في أربع خطوات</a:t>
            </a:r>
            <a:endParaRPr lang="ar-SA" sz="3200" dirty="0"/>
          </a:p>
        </p:txBody>
      </p:sp>
      <p:sp>
        <p:nvSpPr>
          <p:cNvPr id="5" name="anim-g1-266"/>
          <p:cNvSpPr/>
          <p:nvPr/>
        </p:nvSpPr>
        <p:spPr>
          <a:xfrm>
            <a:off x="822960" y="1920240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267"/>
          <p:cNvSpPr/>
          <p:nvPr/>
        </p:nvSpPr>
        <p:spPr>
          <a:xfrm>
            <a:off x="10573207" y="2109978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268"/>
          <p:cNvSpPr/>
          <p:nvPr/>
        </p:nvSpPr>
        <p:spPr>
          <a:xfrm>
            <a:off x="10573207" y="210997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269"/>
          <p:cNvSpPr/>
          <p:nvPr/>
        </p:nvSpPr>
        <p:spPr>
          <a:xfrm>
            <a:off x="1097280" y="1920240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File ← Preferences</a:t>
            </a:r>
            <a:endParaRPr lang="ar-SA" sz="2400" dirty="0"/>
          </a:p>
          <a:p>
            <a:pPr algn="r" indent="0" marL="0">
              <a:buNone/>
            </a:pPr>
            <a:r>
              <a:rPr lang="ar-SA" altLang="en-US" sz="20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في Additional boards manager URLs ألصق رابط Espressif (التالي)</a:t>
            </a:r>
            <a:endParaRPr lang="ar-SA" sz="2400" dirty="0"/>
          </a:p>
        </p:txBody>
      </p:sp>
      <p:sp>
        <p:nvSpPr>
          <p:cNvPr id="9" name="anim-g2-270"/>
          <p:cNvSpPr/>
          <p:nvPr/>
        </p:nvSpPr>
        <p:spPr>
          <a:xfrm>
            <a:off x="822960" y="2976372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271"/>
          <p:cNvSpPr/>
          <p:nvPr/>
        </p:nvSpPr>
        <p:spPr>
          <a:xfrm>
            <a:off x="10573207" y="3166110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272"/>
          <p:cNvSpPr/>
          <p:nvPr/>
        </p:nvSpPr>
        <p:spPr>
          <a:xfrm>
            <a:off x="10573207" y="316611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273"/>
          <p:cNvSpPr/>
          <p:nvPr/>
        </p:nvSpPr>
        <p:spPr>
          <a:xfrm>
            <a:off x="1097280" y="2976372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Tools ← Board ← Boards Manager</a:t>
            </a:r>
            <a:endParaRPr lang="ar-SA" sz="2400" dirty="0"/>
          </a:p>
          <a:p>
            <a:pPr algn="r" indent="0" marL="0">
              <a:buNone/>
            </a:pPr>
            <a:r>
              <a:rPr lang="ar-SA" altLang="en-US" sz="20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ابحث عن esp32 وثبّت حزمة «esp32 by Espressif Systems»</a:t>
            </a:r>
            <a:endParaRPr lang="ar-SA" sz="2400" dirty="0"/>
          </a:p>
        </p:txBody>
      </p:sp>
      <p:sp>
        <p:nvSpPr>
          <p:cNvPr id="13" name="anim-g3-274"/>
          <p:cNvSpPr/>
          <p:nvPr/>
        </p:nvSpPr>
        <p:spPr>
          <a:xfrm>
            <a:off x="822960" y="4032504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275"/>
          <p:cNvSpPr/>
          <p:nvPr/>
        </p:nvSpPr>
        <p:spPr>
          <a:xfrm>
            <a:off x="10573207" y="4222242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276"/>
          <p:cNvSpPr/>
          <p:nvPr/>
        </p:nvSpPr>
        <p:spPr>
          <a:xfrm>
            <a:off x="10573207" y="422224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277"/>
          <p:cNvSpPr/>
          <p:nvPr/>
        </p:nvSpPr>
        <p:spPr>
          <a:xfrm>
            <a:off x="1097280" y="4032504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Tools ← Board ← ESP32 Dev Module</a:t>
            </a:r>
            <a:endParaRPr lang="ar-SA" sz="2400" dirty="0"/>
          </a:p>
          <a:p>
            <a:pPr algn="r" indent="0" marL="0">
              <a:buNone/>
            </a:pPr>
            <a:r>
              <a:rPr lang="ar-SA" altLang="en-US" sz="20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ثم Tools ← Port واختر المنفذ الجديد</a:t>
            </a:r>
            <a:endParaRPr lang="ar-SA" sz="2400" dirty="0"/>
          </a:p>
        </p:txBody>
      </p:sp>
      <p:sp>
        <p:nvSpPr>
          <p:cNvPr id="17" name="anim-g4-278"/>
          <p:cNvSpPr/>
          <p:nvPr/>
        </p:nvSpPr>
        <p:spPr>
          <a:xfrm>
            <a:off x="822960" y="5088636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279"/>
          <p:cNvSpPr/>
          <p:nvPr/>
        </p:nvSpPr>
        <p:spPr>
          <a:xfrm>
            <a:off x="10573207" y="5278374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280"/>
          <p:cNvSpPr/>
          <p:nvPr/>
        </p:nvSpPr>
        <p:spPr>
          <a:xfrm>
            <a:off x="10573207" y="527837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281"/>
          <p:cNvSpPr/>
          <p:nvPr/>
        </p:nvSpPr>
        <p:spPr>
          <a:xfrm>
            <a:off x="1097280" y="5088636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لم يظهر منفذ؟</a:t>
            </a:r>
            <a:endParaRPr lang="ar-SA" sz="2400" dirty="0"/>
          </a:p>
          <a:p>
            <a:pPr algn="r" indent="0" marL="0">
              <a:buNone/>
            </a:pPr>
            <a:r>
              <a:rPr lang="ar-SA" altLang="en-US" sz="20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ثبّت تعريف CP210x أو CH340 حسب الشريحة المكتوبة على لوحتك</a:t>
            </a:r>
            <a:endParaRPr lang="ar-SA" sz="2400" dirty="0"/>
          </a:p>
        </p:txBody>
      </p:sp>
      <p:sp>
        <p:nvSpPr>
          <p:cNvPr id="21" name="Text 1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الطاقة والرفع  ·  ٣٧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3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3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4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اختبر نفسك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ظهرت Connecting…_____ طويلًا ثم فشل الرفع. ماذا تفعل؟</a:t>
            </a:r>
            <a:endParaRPr lang="ar-SA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31831" y="2194560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101B45"/>
          </a:solidFill>
          <a:ln/>
        </p:spPr>
      </p:sp>
      <p:sp>
        <p:nvSpPr>
          <p:cNvPr id="7" name="Text 5"/>
          <p:cNvSpPr/>
          <p:nvPr/>
        </p:nvSpPr>
        <p:spPr>
          <a:xfrm>
            <a:off x="10231831" y="2194560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8951671" cy="1228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أشتري لوحة جديدة</a:t>
            </a:r>
            <a:endParaRPr lang="ar-SA" sz="2500" dirty="0"/>
          </a:p>
        </p:txBody>
      </p:sp>
      <p:sp>
        <p:nvSpPr>
          <p:cNvPr id="9" name="anim-g1-282"/>
          <p:cNvSpPr/>
          <p:nvPr/>
        </p:nvSpPr>
        <p:spPr>
          <a:xfrm>
            <a:off x="822960" y="2057400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0" name="anim-g1-283"/>
          <p:cNvSpPr/>
          <p:nvPr/>
        </p:nvSpPr>
        <p:spPr>
          <a:xfrm>
            <a:off x="10231831" y="2194560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A3A9BA"/>
          </a:solidFill>
          <a:ln/>
        </p:spPr>
      </p:sp>
      <p:sp>
        <p:nvSpPr>
          <p:cNvPr id="11" name="anim-g1-284"/>
          <p:cNvSpPr/>
          <p:nvPr/>
        </p:nvSpPr>
        <p:spPr>
          <a:xfrm>
            <a:off x="10231831" y="2194560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400" dirty="0"/>
          </a:p>
        </p:txBody>
      </p:sp>
      <p:sp>
        <p:nvSpPr>
          <p:cNvPr id="12" name="anim-g1-285"/>
          <p:cNvSpPr/>
          <p:nvPr/>
        </p:nvSpPr>
        <p:spPr>
          <a:xfrm>
            <a:off x="1097280" y="2093976"/>
            <a:ext cx="8951671" cy="61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أشتري لوحة جديدة</a:t>
            </a:r>
            <a:endParaRPr lang="ar-SA" sz="2400" dirty="0"/>
          </a:p>
        </p:txBody>
      </p:sp>
      <p:sp>
        <p:nvSpPr>
          <p:cNvPr id="13" name="anim-g1-286"/>
          <p:cNvSpPr/>
          <p:nvPr/>
        </p:nvSpPr>
        <p:spPr>
          <a:xfrm>
            <a:off x="1097280" y="2720706"/>
            <a:ext cx="8951671" cy="51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اللوحة سليمة غالبًا</a:t>
            </a:r>
            <a:endParaRPr lang="ar-SA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432048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31831" y="3569208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101B45"/>
          </a:solidFill>
          <a:ln/>
        </p:spPr>
      </p:sp>
      <p:sp>
        <p:nvSpPr>
          <p:cNvPr id="16" name="Text 14"/>
          <p:cNvSpPr/>
          <p:nvPr/>
        </p:nvSpPr>
        <p:spPr>
          <a:xfrm>
            <a:off x="10231831" y="3569208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400" dirty="0"/>
          </a:p>
        </p:txBody>
      </p:sp>
      <p:sp>
        <p:nvSpPr>
          <p:cNvPr id="17" name="Text 15"/>
          <p:cNvSpPr/>
          <p:nvPr/>
        </p:nvSpPr>
        <p:spPr>
          <a:xfrm>
            <a:off x="1097280" y="3432048"/>
            <a:ext cx="8951671" cy="1228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أعيد الرفع وأضغط BOOT مطولًا عند Connecting</a:t>
            </a:r>
            <a:endParaRPr lang="ar-SA" sz="2500" dirty="0"/>
          </a:p>
        </p:txBody>
      </p:sp>
      <p:sp>
        <p:nvSpPr>
          <p:cNvPr id="18" name="anim-g1-287"/>
          <p:cNvSpPr/>
          <p:nvPr/>
        </p:nvSpPr>
        <p:spPr>
          <a:xfrm>
            <a:off x="822960" y="3432048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E6F4EC"/>
          </a:solidFill>
          <a:ln w="31750">
            <a:solidFill>
              <a:srgbClr val="2E9E6B"/>
            </a:solidFill>
            <a:prstDash val="solid"/>
          </a:ln>
        </p:spPr>
      </p:sp>
      <p:sp>
        <p:nvSpPr>
          <p:cNvPr id="19" name="anim-g1-288"/>
          <p:cNvSpPr/>
          <p:nvPr/>
        </p:nvSpPr>
        <p:spPr>
          <a:xfrm>
            <a:off x="10231831" y="3569208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2E9E6B"/>
          </a:solidFill>
          <a:ln/>
        </p:spPr>
      </p:sp>
      <p:sp>
        <p:nvSpPr>
          <p:cNvPr id="20" name="anim-g1-289"/>
          <p:cNvSpPr/>
          <p:nvPr/>
        </p:nvSpPr>
        <p:spPr>
          <a:xfrm>
            <a:off x="10231831" y="3569208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✓</a:t>
            </a:r>
            <a:endParaRPr lang="ar-SA" sz="2400" dirty="0"/>
          </a:p>
        </p:txBody>
      </p:sp>
      <p:sp>
        <p:nvSpPr>
          <p:cNvPr id="21" name="anim-g1-290"/>
          <p:cNvSpPr/>
          <p:nvPr/>
        </p:nvSpPr>
        <p:spPr>
          <a:xfrm>
            <a:off x="1097280" y="3468624"/>
            <a:ext cx="8951671" cy="61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أعيد الرفع وأضغط BOOT مطولًا عند Connecting</a:t>
            </a:r>
            <a:endParaRPr lang="ar-SA" sz="2400" dirty="0"/>
          </a:p>
        </p:txBody>
      </p:sp>
      <p:sp>
        <p:nvSpPr>
          <p:cNvPr id="22" name="anim-g1-291"/>
          <p:cNvSpPr/>
          <p:nvPr/>
        </p:nvSpPr>
        <p:spPr>
          <a:xfrm>
            <a:off x="1097280" y="4095354"/>
            <a:ext cx="8951671" cy="51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صحيح: اللوحة لم تدخل وضع الرفع وحدها</a:t>
            </a:r>
            <a:endParaRPr lang="ar-SA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4806696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31831" y="4943856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101B45"/>
          </a:solidFill>
          <a:ln/>
        </p:spPr>
      </p:sp>
      <p:sp>
        <p:nvSpPr>
          <p:cNvPr id="25" name="Text 23"/>
          <p:cNvSpPr/>
          <p:nvPr/>
        </p:nvSpPr>
        <p:spPr>
          <a:xfrm>
            <a:off x="10231831" y="4943856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400" dirty="0"/>
          </a:p>
        </p:txBody>
      </p:sp>
      <p:sp>
        <p:nvSpPr>
          <p:cNvPr id="26" name="Text 24"/>
          <p:cNvSpPr/>
          <p:nvPr/>
        </p:nvSpPr>
        <p:spPr>
          <a:xfrm>
            <a:off x="1097280" y="4806696"/>
            <a:ext cx="8951671" cy="1228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أغيّر الكود</a:t>
            </a:r>
            <a:endParaRPr lang="ar-SA" sz="2500" dirty="0"/>
          </a:p>
        </p:txBody>
      </p:sp>
      <p:sp>
        <p:nvSpPr>
          <p:cNvPr id="27" name="anim-g1-292"/>
          <p:cNvSpPr/>
          <p:nvPr/>
        </p:nvSpPr>
        <p:spPr>
          <a:xfrm>
            <a:off x="822960" y="4806696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8" name="anim-g1-293"/>
          <p:cNvSpPr/>
          <p:nvPr/>
        </p:nvSpPr>
        <p:spPr>
          <a:xfrm>
            <a:off x="10231831" y="4943856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A3A9BA"/>
          </a:solidFill>
          <a:ln/>
        </p:spPr>
      </p:sp>
      <p:sp>
        <p:nvSpPr>
          <p:cNvPr id="29" name="anim-g1-294"/>
          <p:cNvSpPr/>
          <p:nvPr/>
        </p:nvSpPr>
        <p:spPr>
          <a:xfrm>
            <a:off x="10231831" y="4943856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400" dirty="0"/>
          </a:p>
        </p:txBody>
      </p:sp>
      <p:sp>
        <p:nvSpPr>
          <p:cNvPr id="30" name="anim-g1-295"/>
          <p:cNvSpPr/>
          <p:nvPr/>
        </p:nvSpPr>
        <p:spPr>
          <a:xfrm>
            <a:off x="1097280" y="4843272"/>
            <a:ext cx="8951671" cy="61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أغيّر الكود</a:t>
            </a:r>
            <a:endParaRPr lang="ar-SA" sz="2400" dirty="0"/>
          </a:p>
        </p:txBody>
      </p:sp>
      <p:sp>
        <p:nvSpPr>
          <p:cNvPr id="31" name="anim-g1-296"/>
          <p:cNvSpPr/>
          <p:nvPr/>
        </p:nvSpPr>
        <p:spPr>
          <a:xfrm>
            <a:off x="1097280" y="5470002"/>
            <a:ext cx="8951671" cy="51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الكود ليس السبب: الرفع لم يبدأ أصلًا</a:t>
            </a:r>
            <a:endParaRPr lang="ar-SA" sz="1800" dirty="0"/>
          </a:p>
        </p:txBody>
      </p:sp>
      <p:sp>
        <p:nvSpPr>
          <p:cNvPr id="32" name="Text 30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33" name="Text 31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الطاقة والرفع  ·  ٤١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4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4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2264" y="118872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52264" y="11887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خلاصة المحور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رابط واحد، وحزمة واحدة، وزر صغير اسمه BOOT: وصارت لوحتك جاهزة لأي برنامج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الطاقة والرفع  ·  ٤٤</a:t>
            </a:r>
            <a:endParaRPr lang="ar-SA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103120"/>
            <a:ext cx="2651760" cy="2651760"/>
          </a:xfrm>
          <a:prstGeom prst="ellipse">
            <a:avLst/>
          </a:prstGeom>
          <a:solidFill>
            <a:srgbClr val="D9AE4B">
              <a:alpha val="12000"/>
            </a:srgbClr>
          </a:solidFill>
          <a:ln w="635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1031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12000" dirty="0"/>
          </a:p>
        </p:txBody>
      </p:sp>
      <p:sp>
        <p:nvSpPr>
          <p:cNvPr id="4" name="Text 2"/>
          <p:cNvSpPr/>
          <p:nvPr/>
        </p:nvSpPr>
        <p:spPr>
          <a:xfrm>
            <a:off x="4206240" y="1828800"/>
            <a:ext cx="7162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٤</a:t>
            </a:r>
            <a:endParaRPr lang="ar-SA" sz="2000" dirty="0"/>
          </a:p>
        </p:txBody>
      </p:sp>
      <p:sp>
        <p:nvSpPr>
          <p:cNvPr id="5" name="Text 3"/>
          <p:cNvSpPr/>
          <p:nvPr/>
        </p:nvSpPr>
        <p:spPr>
          <a:xfrm>
            <a:off x="4206240" y="2286000"/>
            <a:ext cx="7162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56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Wokwi ولوح التوصيل</a:t>
            </a:r>
            <a:endParaRPr lang="ar-SA" sz="5600" dirty="0"/>
          </a:p>
        </p:txBody>
      </p:sp>
      <p:sp>
        <p:nvSpPr>
          <p:cNvPr id="6" name="Text 4"/>
          <p:cNvSpPr/>
          <p:nvPr/>
        </p:nvSpPr>
        <p:spPr>
          <a:xfrm>
            <a:off x="4206240" y="3749040"/>
            <a:ext cx="7162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مختبر ESP32 في المتصفح… ثم على الطاولة</a:t>
            </a:r>
            <a:endParaRPr lang="ar-SA" sz="2200" dirty="0"/>
          </a:p>
        </p:txBody>
      </p:sp>
      <p:sp>
        <p:nvSpPr>
          <p:cNvPr id="7" name="Text 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Wokwi ولوح التوصيل  ·  ٤٥</a:t>
            </a:r>
            <a:endParaRPr lang="ar-SA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095" y="45720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6248095" y="457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 بنهاية هذا المحور تستطيع أن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أهداف المحور</a:t>
            </a:r>
            <a:endParaRPr lang="ar-SA" sz="3800" dirty="0"/>
          </a:p>
        </p:txBody>
      </p:sp>
      <p:sp>
        <p:nvSpPr>
          <p:cNvPr id="5" name="anim-g1-297"/>
          <p:cNvSpPr/>
          <p:nvPr/>
        </p:nvSpPr>
        <p:spPr>
          <a:xfrm>
            <a:off x="822960" y="1920240"/>
            <a:ext cx="10545775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298"/>
          <p:cNvSpPr/>
          <p:nvPr/>
        </p:nvSpPr>
        <p:spPr>
          <a:xfrm>
            <a:off x="10573207" y="2286000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299"/>
          <p:cNvSpPr/>
          <p:nvPr/>
        </p:nvSpPr>
        <p:spPr>
          <a:xfrm>
            <a:off x="10573207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300"/>
          <p:cNvSpPr/>
          <p:nvPr/>
        </p:nvSpPr>
        <p:spPr>
          <a:xfrm>
            <a:off x="1097280" y="1920240"/>
            <a:ext cx="9247327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تنشئ مشروع ESP32 في Wokwi وتشغّله</a:t>
            </a:r>
            <a:endParaRPr lang="ar-SA" sz="2400" dirty="0"/>
          </a:p>
        </p:txBody>
      </p:sp>
      <p:sp>
        <p:nvSpPr>
          <p:cNvPr id="9" name="anim-g2-301"/>
          <p:cNvSpPr/>
          <p:nvPr/>
        </p:nvSpPr>
        <p:spPr>
          <a:xfrm>
            <a:off x="822960" y="3328416"/>
            <a:ext cx="10545775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302"/>
          <p:cNvSpPr/>
          <p:nvPr/>
        </p:nvSpPr>
        <p:spPr>
          <a:xfrm>
            <a:off x="10573207" y="3694176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303"/>
          <p:cNvSpPr/>
          <p:nvPr/>
        </p:nvSpPr>
        <p:spPr>
          <a:xfrm>
            <a:off x="10573207" y="3694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304"/>
          <p:cNvSpPr/>
          <p:nvPr/>
        </p:nvSpPr>
        <p:spPr>
          <a:xfrm>
            <a:off x="1097280" y="3328416"/>
            <a:ext cx="9247327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تعرف كيف يتصل لوح التوصيل من الداخل</a:t>
            </a:r>
            <a:endParaRPr lang="ar-SA" sz="2400" dirty="0"/>
          </a:p>
        </p:txBody>
      </p:sp>
      <p:sp>
        <p:nvSpPr>
          <p:cNvPr id="13" name="anim-g3-305"/>
          <p:cNvSpPr/>
          <p:nvPr/>
        </p:nvSpPr>
        <p:spPr>
          <a:xfrm>
            <a:off x="822960" y="4736592"/>
            <a:ext cx="10545775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306"/>
          <p:cNvSpPr/>
          <p:nvPr/>
        </p:nvSpPr>
        <p:spPr>
          <a:xfrm>
            <a:off x="10573207" y="5102352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307"/>
          <p:cNvSpPr/>
          <p:nvPr/>
        </p:nvSpPr>
        <p:spPr>
          <a:xfrm>
            <a:off x="10573207" y="5102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308"/>
          <p:cNvSpPr/>
          <p:nvPr/>
        </p:nvSpPr>
        <p:spPr>
          <a:xfrm>
            <a:off x="1097280" y="4736592"/>
            <a:ext cx="9247327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تضع لوحة ESP32 العريضة على لوح التوصيل بطريقة صحيحة</a:t>
            </a:r>
            <a:endParaRPr lang="ar-SA" sz="2400" dirty="0"/>
          </a:p>
        </p:txBody>
      </p:sp>
      <p:sp>
        <p:nvSpPr>
          <p:cNvPr id="17" name="Text 1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Wokwi ولوح التوصيل  ·  ٤٦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لماذا Wokwi؟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مختبر افتراضي يحل مشكلات المدارس</a:t>
            </a:r>
            <a:endParaRPr lang="ar-SA" sz="3800" dirty="0"/>
          </a:p>
        </p:txBody>
      </p:sp>
      <p:sp>
        <p:nvSpPr>
          <p:cNvPr id="5" name="anim-g1-309"/>
          <p:cNvSpPr/>
          <p:nvPr/>
        </p:nvSpPr>
        <p:spPr>
          <a:xfrm>
            <a:off x="6233008" y="2011680"/>
            <a:ext cx="513572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310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311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🆓</a:t>
            </a:r>
            <a:endParaRPr lang="ar-SA" sz="2200" dirty="0"/>
          </a:p>
        </p:txBody>
      </p:sp>
      <p:sp>
        <p:nvSpPr>
          <p:cNvPr id="8" name="anim-g1-312"/>
          <p:cNvSpPr/>
          <p:nvPr/>
        </p:nvSpPr>
        <p:spPr>
          <a:xfrm>
            <a:off x="6507328" y="294436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مجاني وبلا تثبيت</a:t>
            </a:r>
            <a:endParaRPr lang="ar-SA" sz="2200" dirty="0"/>
          </a:p>
        </p:txBody>
      </p:sp>
      <p:sp>
        <p:nvSpPr>
          <p:cNvPr id="9" name="anim-g1-313"/>
          <p:cNvSpPr/>
          <p:nvPr/>
        </p:nvSpPr>
        <p:spPr>
          <a:xfrm>
            <a:off x="6507328" y="3493008"/>
            <a:ext cx="458708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متصفح فقط، ويعمل حتى بلا حساب</a:t>
            </a:r>
            <a:endParaRPr lang="ar-SA" sz="1900" dirty="0"/>
          </a:p>
        </p:txBody>
      </p:sp>
      <p:sp>
        <p:nvSpPr>
          <p:cNvPr id="10" name="anim-g2-314"/>
          <p:cNvSpPr/>
          <p:nvPr/>
        </p:nvSpPr>
        <p:spPr>
          <a:xfrm>
            <a:off x="822960" y="2011680"/>
            <a:ext cx="513572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315"/>
          <p:cNvSpPr/>
          <p:nvPr/>
        </p:nvSpPr>
        <p:spPr>
          <a:xfrm>
            <a:off x="511744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316"/>
          <p:cNvSpPr/>
          <p:nvPr/>
        </p:nvSpPr>
        <p:spPr>
          <a:xfrm>
            <a:off x="511744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🧪</a:t>
            </a:r>
            <a:endParaRPr lang="ar-SA" sz="2200" dirty="0"/>
          </a:p>
        </p:txBody>
      </p:sp>
      <p:sp>
        <p:nvSpPr>
          <p:cNvPr id="13" name="anim-g2-317"/>
          <p:cNvSpPr/>
          <p:nvPr/>
        </p:nvSpPr>
        <p:spPr>
          <a:xfrm>
            <a:off x="1097280" y="294436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ESP32 حقيقية افتراضيًا</a:t>
            </a:r>
            <a:endParaRPr lang="ar-SA" sz="2200" dirty="0"/>
          </a:p>
        </p:txBody>
      </p:sp>
      <p:sp>
        <p:nvSpPr>
          <p:cNvPr id="14" name="anim-g2-318"/>
          <p:cNvSpPr/>
          <p:nvPr/>
        </p:nvSpPr>
        <p:spPr>
          <a:xfrm>
            <a:off x="1097280" y="3493008"/>
            <a:ext cx="458708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نفس الكود يعمل على اللوحة الحقيقية بلا تعديل</a:t>
            </a:r>
            <a:endParaRPr lang="ar-SA" sz="1900" dirty="0"/>
          </a:p>
        </p:txBody>
      </p:sp>
      <p:sp>
        <p:nvSpPr>
          <p:cNvPr id="15" name="anim-g3-319"/>
          <p:cNvSpPr/>
          <p:nvPr/>
        </p:nvSpPr>
        <p:spPr>
          <a:xfrm>
            <a:off x="6233008" y="4137660"/>
            <a:ext cx="513572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320"/>
          <p:cNvSpPr/>
          <p:nvPr/>
        </p:nvSpPr>
        <p:spPr>
          <a:xfrm>
            <a:off x="10527487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321"/>
          <p:cNvSpPr/>
          <p:nvPr/>
        </p:nvSpPr>
        <p:spPr>
          <a:xfrm>
            <a:off x="10527487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🔥</a:t>
            </a:r>
            <a:endParaRPr lang="ar-SA" sz="2200" dirty="0"/>
          </a:p>
        </p:txBody>
      </p:sp>
      <p:sp>
        <p:nvSpPr>
          <p:cNvPr id="18" name="anim-g3-322"/>
          <p:cNvSpPr/>
          <p:nvPr/>
        </p:nvSpPr>
        <p:spPr>
          <a:xfrm>
            <a:off x="6507328" y="507034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لا شيء يحترق</a:t>
            </a:r>
            <a:endParaRPr lang="ar-SA" sz="2200" dirty="0"/>
          </a:p>
        </p:txBody>
      </p:sp>
      <p:sp>
        <p:nvSpPr>
          <p:cNvPr id="19" name="anim-g3-323"/>
          <p:cNvSpPr/>
          <p:nvPr/>
        </p:nvSpPr>
        <p:spPr>
          <a:xfrm>
            <a:off x="6507328" y="5618988"/>
            <a:ext cx="458708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يجرّب الطالب بحرية تامة</a:t>
            </a:r>
            <a:endParaRPr lang="ar-SA" sz="1900" dirty="0"/>
          </a:p>
        </p:txBody>
      </p:sp>
      <p:sp>
        <p:nvSpPr>
          <p:cNvPr id="20" name="anim-g4-324"/>
          <p:cNvSpPr/>
          <p:nvPr/>
        </p:nvSpPr>
        <p:spPr>
          <a:xfrm>
            <a:off x="822960" y="4137660"/>
            <a:ext cx="513572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21" name="anim-g4-325"/>
          <p:cNvSpPr/>
          <p:nvPr/>
        </p:nvSpPr>
        <p:spPr>
          <a:xfrm>
            <a:off x="5117440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22" name="anim-g4-326"/>
          <p:cNvSpPr/>
          <p:nvPr/>
        </p:nvSpPr>
        <p:spPr>
          <a:xfrm>
            <a:off x="5117440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🔗</a:t>
            </a:r>
            <a:endParaRPr lang="ar-SA" sz="2200" dirty="0"/>
          </a:p>
        </p:txBody>
      </p:sp>
      <p:sp>
        <p:nvSpPr>
          <p:cNvPr id="23" name="anim-g4-327"/>
          <p:cNvSpPr/>
          <p:nvPr/>
        </p:nvSpPr>
        <p:spPr>
          <a:xfrm>
            <a:off x="1097280" y="507034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رابط للمشاركة</a:t>
            </a:r>
            <a:endParaRPr lang="ar-SA" sz="2200" dirty="0"/>
          </a:p>
        </p:txBody>
      </p:sp>
      <p:sp>
        <p:nvSpPr>
          <p:cNvPr id="24" name="anim-g4-328"/>
          <p:cNvSpPr/>
          <p:nvPr/>
        </p:nvSpPr>
        <p:spPr>
          <a:xfrm>
            <a:off x="1097280" y="5618988"/>
            <a:ext cx="458708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يرسل الطالب مشروعه برابط واحد</a:t>
            </a:r>
            <a:endParaRPr lang="ar-SA" sz="1900" dirty="0"/>
          </a:p>
        </p:txBody>
      </p:sp>
      <p:sp>
        <p:nvSpPr>
          <p:cNvPr id="25" name="Text 2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Wokwi ولوح التوصيل  ·  ٤٧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74175" y="45720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9174175" y="457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خطوة بخطوة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أول مشروع ESP32 في Wokwi</a:t>
            </a:r>
            <a:endParaRPr lang="ar-SA" sz="3800" dirty="0"/>
          </a:p>
        </p:txBody>
      </p:sp>
      <p:sp>
        <p:nvSpPr>
          <p:cNvPr id="5" name="anim-g1-329"/>
          <p:cNvSpPr/>
          <p:nvPr/>
        </p:nvSpPr>
        <p:spPr>
          <a:xfrm>
            <a:off x="822960" y="1920240"/>
            <a:ext cx="10545775" cy="735178"/>
          </a:xfrm>
          <a:prstGeom prst="roundRect">
            <a:avLst>
              <a:gd name="adj" fmla="val 1990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330"/>
          <p:cNvSpPr/>
          <p:nvPr/>
        </p:nvSpPr>
        <p:spPr>
          <a:xfrm>
            <a:off x="10587838" y="2011680"/>
            <a:ext cx="552298" cy="55229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331"/>
          <p:cNvSpPr/>
          <p:nvPr/>
        </p:nvSpPr>
        <p:spPr>
          <a:xfrm>
            <a:off x="10587838" y="2011680"/>
            <a:ext cx="552298" cy="5522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332"/>
          <p:cNvSpPr/>
          <p:nvPr/>
        </p:nvSpPr>
        <p:spPr>
          <a:xfrm>
            <a:off x="1097280" y="1920240"/>
            <a:ext cx="9261958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افتح wokwi.com/projects/new/esp32</a:t>
            </a:r>
            <a:pPr algn="r" indent="0" marL="0">
              <a:buNone/>
            </a:pPr>
            <a:r>
              <a:rPr lang="ar-SA" altLang="en-US" sz="18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— مشروع جديد بلوحة ESP32 جاهزة</a:t>
            </a:r>
            <a:endParaRPr lang="ar-SA" sz="2200" dirty="0"/>
          </a:p>
        </p:txBody>
      </p:sp>
      <p:sp>
        <p:nvSpPr>
          <p:cNvPr id="9" name="anim-g2-333"/>
          <p:cNvSpPr/>
          <p:nvPr/>
        </p:nvSpPr>
        <p:spPr>
          <a:xfrm>
            <a:off x="822960" y="2765146"/>
            <a:ext cx="10545775" cy="735178"/>
          </a:xfrm>
          <a:prstGeom prst="roundRect">
            <a:avLst>
              <a:gd name="adj" fmla="val 1990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334"/>
          <p:cNvSpPr/>
          <p:nvPr/>
        </p:nvSpPr>
        <p:spPr>
          <a:xfrm>
            <a:off x="10587838" y="2856586"/>
            <a:ext cx="552298" cy="55229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335"/>
          <p:cNvSpPr/>
          <p:nvPr/>
        </p:nvSpPr>
        <p:spPr>
          <a:xfrm>
            <a:off x="10587838" y="2856586"/>
            <a:ext cx="552298" cy="5522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336"/>
          <p:cNvSpPr/>
          <p:nvPr/>
        </p:nvSpPr>
        <p:spPr>
          <a:xfrm>
            <a:off x="1097280" y="2765146"/>
            <a:ext cx="9261958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الكود في اليسار</a:t>
            </a:r>
            <a:pPr algn="r" indent="0" marL="0">
              <a:buNone/>
            </a:pPr>
            <a:r>
              <a:rPr lang="ar-SA" altLang="en-US" sz="18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— نفس محرر Arduino تقريبًا</a:t>
            </a:r>
            <a:endParaRPr lang="ar-SA" sz="2200" dirty="0"/>
          </a:p>
        </p:txBody>
      </p:sp>
      <p:sp>
        <p:nvSpPr>
          <p:cNvPr id="13" name="anim-g3-337"/>
          <p:cNvSpPr/>
          <p:nvPr/>
        </p:nvSpPr>
        <p:spPr>
          <a:xfrm>
            <a:off x="822960" y="3610051"/>
            <a:ext cx="10545775" cy="735178"/>
          </a:xfrm>
          <a:prstGeom prst="roundRect">
            <a:avLst>
              <a:gd name="adj" fmla="val 1990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338"/>
          <p:cNvSpPr/>
          <p:nvPr/>
        </p:nvSpPr>
        <p:spPr>
          <a:xfrm>
            <a:off x="10587838" y="3701491"/>
            <a:ext cx="552298" cy="55229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339"/>
          <p:cNvSpPr/>
          <p:nvPr/>
        </p:nvSpPr>
        <p:spPr>
          <a:xfrm>
            <a:off x="10587838" y="3701491"/>
            <a:ext cx="552298" cy="5522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340"/>
          <p:cNvSpPr/>
          <p:nvPr/>
        </p:nvSpPr>
        <p:spPr>
          <a:xfrm>
            <a:off x="1097280" y="3610051"/>
            <a:ext cx="9261958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زر + لإضافة القطع</a:t>
            </a:r>
            <a:pPr algn="r" indent="0" marL="0">
              <a:buNone/>
            </a:pPr>
            <a:r>
              <a:rPr lang="ar-SA" altLang="en-US" sz="18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— ليد ومقاومة وزر…</a:t>
            </a:r>
            <a:endParaRPr lang="ar-SA" sz="2200" dirty="0"/>
          </a:p>
        </p:txBody>
      </p:sp>
      <p:sp>
        <p:nvSpPr>
          <p:cNvPr id="17" name="anim-g4-341"/>
          <p:cNvSpPr/>
          <p:nvPr/>
        </p:nvSpPr>
        <p:spPr>
          <a:xfrm>
            <a:off x="822960" y="4454957"/>
            <a:ext cx="10545775" cy="735178"/>
          </a:xfrm>
          <a:prstGeom prst="roundRect">
            <a:avLst>
              <a:gd name="adj" fmla="val 1990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342"/>
          <p:cNvSpPr/>
          <p:nvPr/>
        </p:nvSpPr>
        <p:spPr>
          <a:xfrm>
            <a:off x="10587838" y="4546397"/>
            <a:ext cx="552298" cy="55229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343"/>
          <p:cNvSpPr/>
          <p:nvPr/>
        </p:nvSpPr>
        <p:spPr>
          <a:xfrm>
            <a:off x="10587838" y="4546397"/>
            <a:ext cx="552298" cy="5522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344"/>
          <p:cNvSpPr/>
          <p:nvPr/>
        </p:nvSpPr>
        <p:spPr>
          <a:xfrm>
            <a:off x="1097280" y="4454957"/>
            <a:ext cx="9261958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اسحب الأسلاك بين الأطراف</a:t>
            </a:r>
            <a:pPr algn="r" indent="0" marL="0">
              <a:buNone/>
            </a:pPr>
            <a:r>
              <a:rPr lang="ar-SA" altLang="en-US" sz="18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— من طرف اللوحة إلى ساق القطعة</a:t>
            </a:r>
            <a:endParaRPr lang="ar-SA" sz="2200" dirty="0"/>
          </a:p>
        </p:txBody>
      </p:sp>
      <p:sp>
        <p:nvSpPr>
          <p:cNvPr id="21" name="anim-g5-345"/>
          <p:cNvSpPr/>
          <p:nvPr/>
        </p:nvSpPr>
        <p:spPr>
          <a:xfrm>
            <a:off x="822960" y="5299862"/>
            <a:ext cx="10545775" cy="735178"/>
          </a:xfrm>
          <a:prstGeom prst="roundRect">
            <a:avLst>
              <a:gd name="adj" fmla="val 1990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2" name="anim-g5-346"/>
          <p:cNvSpPr/>
          <p:nvPr/>
        </p:nvSpPr>
        <p:spPr>
          <a:xfrm>
            <a:off x="10587838" y="5391302"/>
            <a:ext cx="552298" cy="55229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23" name="anim-g5-347"/>
          <p:cNvSpPr/>
          <p:nvPr/>
        </p:nvSpPr>
        <p:spPr>
          <a:xfrm>
            <a:off x="10587838" y="5391302"/>
            <a:ext cx="552298" cy="5522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٥</a:t>
            </a:r>
            <a:endParaRPr lang="ar-SA" sz="2000" dirty="0"/>
          </a:p>
        </p:txBody>
      </p:sp>
      <p:sp>
        <p:nvSpPr>
          <p:cNvPr id="24" name="anim-g5-348"/>
          <p:cNvSpPr/>
          <p:nvPr/>
        </p:nvSpPr>
        <p:spPr>
          <a:xfrm>
            <a:off x="1097280" y="5299862"/>
            <a:ext cx="9261958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زر ▶ الأخضر</a:t>
            </a:r>
            <a:pPr algn="r" indent="0" marL="0">
              <a:buNone/>
            </a:pPr>
            <a:r>
              <a:rPr lang="ar-SA" altLang="en-US" sz="18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— يترجم ويشغّل المحاكاة فورًا</a:t>
            </a:r>
            <a:endParaRPr lang="ar-SA" sz="2200" dirty="0"/>
          </a:p>
        </p:txBody>
      </p:sp>
      <p:sp>
        <p:nvSpPr>
          <p:cNvPr id="25" name="Text 2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Wokwi ولوح التوصيل  ·  ٤٨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4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5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57439" y="457200"/>
            <a:ext cx="3511296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7857439" y="4572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مشكلة خاصة بـ ESP32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اللوحة عريضة… تغطي لوح التوصيل</a:t>
            </a:r>
            <a:endParaRPr lang="ar-SA" sz="3800" dirty="0"/>
          </a:p>
        </p:txBody>
      </p:sp>
      <p:sp>
        <p:nvSpPr>
          <p:cNvPr id="5" name="anim-g1-349"/>
          <p:cNvSpPr/>
          <p:nvPr/>
        </p:nvSpPr>
        <p:spPr>
          <a:xfrm>
            <a:off x="8036357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350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351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😬</a:t>
            </a:r>
            <a:endParaRPr lang="ar-SA" sz="2200" dirty="0"/>
          </a:p>
        </p:txBody>
      </p:sp>
      <p:sp>
        <p:nvSpPr>
          <p:cNvPr id="8" name="anim-g1-352"/>
          <p:cNvSpPr/>
          <p:nvPr/>
        </p:nvSpPr>
        <p:spPr>
          <a:xfrm>
            <a:off x="8310677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المشكلة</a:t>
            </a:r>
            <a:endParaRPr lang="ar-SA" sz="2200" dirty="0"/>
          </a:p>
        </p:txBody>
      </p:sp>
      <p:sp>
        <p:nvSpPr>
          <p:cNvPr id="9" name="anim-g1-353"/>
          <p:cNvSpPr/>
          <p:nvPr/>
        </p:nvSpPr>
        <p:spPr>
          <a:xfrm>
            <a:off x="8310677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لوحة DevKit تغطي كل الثقوب في جهة واحدة، فلا يبقى مكان للأسلاك</a:t>
            </a:r>
            <a:endParaRPr lang="ar-SA" sz="1900" dirty="0"/>
          </a:p>
        </p:txBody>
      </p:sp>
      <p:sp>
        <p:nvSpPr>
          <p:cNvPr id="10" name="anim-g2-354"/>
          <p:cNvSpPr/>
          <p:nvPr/>
        </p:nvSpPr>
        <p:spPr>
          <a:xfrm>
            <a:off x="4429658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355"/>
          <p:cNvSpPr/>
          <p:nvPr/>
        </p:nvSpPr>
        <p:spPr>
          <a:xfrm>
            <a:off x="6920789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356"/>
          <p:cNvSpPr/>
          <p:nvPr/>
        </p:nvSpPr>
        <p:spPr>
          <a:xfrm>
            <a:off x="6920789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🧱</a:t>
            </a:r>
            <a:endParaRPr lang="ar-SA" sz="2200" dirty="0"/>
          </a:p>
        </p:txBody>
      </p:sp>
      <p:sp>
        <p:nvSpPr>
          <p:cNvPr id="13" name="anim-g2-357"/>
          <p:cNvSpPr/>
          <p:nvPr/>
        </p:nvSpPr>
        <p:spPr>
          <a:xfrm>
            <a:off x="4703978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الحل الأول</a:t>
            </a:r>
            <a:endParaRPr lang="ar-SA" sz="2200" dirty="0"/>
          </a:p>
        </p:txBody>
      </p:sp>
      <p:sp>
        <p:nvSpPr>
          <p:cNvPr id="14" name="anim-g2-358"/>
          <p:cNvSpPr/>
          <p:nvPr/>
        </p:nvSpPr>
        <p:spPr>
          <a:xfrm>
            <a:off x="4703978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لوحا توصيل متجاوران: كل صف أطراف على لوح</a:t>
            </a:r>
            <a:endParaRPr lang="ar-SA" sz="1900" dirty="0"/>
          </a:p>
        </p:txBody>
      </p:sp>
      <p:sp>
        <p:nvSpPr>
          <p:cNvPr id="15" name="anim-g3-359"/>
          <p:cNvSpPr/>
          <p:nvPr/>
        </p:nvSpPr>
        <p:spPr>
          <a:xfrm>
            <a:off x="822960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360"/>
          <p:cNvSpPr/>
          <p:nvPr/>
        </p:nvSpPr>
        <p:spPr>
          <a:xfrm>
            <a:off x="331409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361"/>
          <p:cNvSpPr/>
          <p:nvPr/>
        </p:nvSpPr>
        <p:spPr>
          <a:xfrm>
            <a:off x="331409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🔌</a:t>
            </a:r>
            <a:endParaRPr lang="ar-SA" sz="2200" dirty="0"/>
          </a:p>
        </p:txBody>
      </p:sp>
      <p:sp>
        <p:nvSpPr>
          <p:cNvPr id="18" name="anim-g3-362"/>
          <p:cNvSpPr/>
          <p:nvPr/>
        </p:nvSpPr>
        <p:spPr>
          <a:xfrm>
            <a:off x="1097280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الحل الثاني</a:t>
            </a:r>
            <a:endParaRPr lang="ar-SA" sz="2200" dirty="0"/>
          </a:p>
        </p:txBody>
      </p:sp>
      <p:sp>
        <p:nvSpPr>
          <p:cNvPr id="19" name="anim-g3-363"/>
          <p:cNvSpPr/>
          <p:nvPr/>
        </p:nvSpPr>
        <p:spPr>
          <a:xfrm>
            <a:off x="1097280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أسلاك أنثى-ذكر مباشرة من أطراف اللوحة دون لوح</a:t>
            </a:r>
            <a:endParaRPr lang="ar-SA" sz="1900" dirty="0"/>
          </a:p>
        </p:txBody>
      </p:sp>
      <p:sp>
        <p:nvSpPr>
          <p:cNvPr id="20" name="Text 18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Wokwi ولوح التوصيل  ·  ٥١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قبل أي مشروع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أوصل الطاقة إلى لوح التوصيل هكذا</a:t>
            </a:r>
            <a:endParaRPr lang="ar-SA" sz="3800" dirty="0"/>
          </a:p>
        </p:txBody>
      </p:sp>
      <p:sp>
        <p:nvSpPr>
          <p:cNvPr id="5" name="anim-g1-364"/>
          <p:cNvSpPr/>
          <p:nvPr/>
        </p:nvSpPr>
        <p:spPr>
          <a:xfrm>
            <a:off x="822960" y="1920240"/>
            <a:ext cx="10545775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365"/>
          <p:cNvSpPr/>
          <p:nvPr/>
        </p:nvSpPr>
        <p:spPr>
          <a:xfrm>
            <a:off x="10573207" y="2286000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366"/>
          <p:cNvSpPr/>
          <p:nvPr/>
        </p:nvSpPr>
        <p:spPr>
          <a:xfrm>
            <a:off x="10573207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367"/>
          <p:cNvSpPr/>
          <p:nvPr/>
        </p:nvSpPr>
        <p:spPr>
          <a:xfrm>
            <a:off x="1097280" y="1920240"/>
            <a:ext cx="9247327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سلك أحمر: 3V3 ← الخط الأحمر (+)</a:t>
            </a:r>
            <a:endParaRPr lang="ar-SA" sz="2400" dirty="0"/>
          </a:p>
          <a:p>
            <a:pPr algn="r" indent="0" marL="0">
              <a:buNone/>
            </a:pPr>
            <a:r>
              <a:rPr lang="ar-SA" altLang="en-US" sz="20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5V: كل قطعنا تعمل على ٣٫٣ فولت</a:t>
            </a:r>
            <a:endParaRPr lang="ar-SA" sz="2400" dirty="0"/>
          </a:p>
        </p:txBody>
      </p:sp>
      <p:sp>
        <p:nvSpPr>
          <p:cNvPr id="9" name="anim-g2-368"/>
          <p:cNvSpPr/>
          <p:nvPr/>
        </p:nvSpPr>
        <p:spPr>
          <a:xfrm>
            <a:off x="822960" y="3328416"/>
            <a:ext cx="10545775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369"/>
          <p:cNvSpPr/>
          <p:nvPr/>
        </p:nvSpPr>
        <p:spPr>
          <a:xfrm>
            <a:off x="10573207" y="3694176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370"/>
          <p:cNvSpPr/>
          <p:nvPr/>
        </p:nvSpPr>
        <p:spPr>
          <a:xfrm>
            <a:off x="10573207" y="3694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371"/>
          <p:cNvSpPr/>
          <p:nvPr/>
        </p:nvSpPr>
        <p:spPr>
          <a:xfrm>
            <a:off x="1097280" y="3328416"/>
            <a:ext cx="9247327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سلك أسود: GND ← الخط الأزرق (−)</a:t>
            </a:r>
            <a:endParaRPr lang="ar-SA" sz="2400" dirty="0"/>
          </a:p>
          <a:p>
            <a:pPr algn="r" indent="0" marL="0">
              <a:buNone/>
            </a:pPr>
            <a:r>
              <a:rPr lang="ar-SA" altLang="en-US" sz="20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الأرضي المشترك لكل الدائرة</a:t>
            </a:r>
            <a:endParaRPr lang="ar-SA" sz="2400" dirty="0"/>
          </a:p>
        </p:txBody>
      </p:sp>
      <p:sp>
        <p:nvSpPr>
          <p:cNvPr id="13" name="anim-g3-372"/>
          <p:cNvSpPr/>
          <p:nvPr/>
        </p:nvSpPr>
        <p:spPr>
          <a:xfrm>
            <a:off x="822960" y="4736592"/>
            <a:ext cx="10545775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373"/>
          <p:cNvSpPr/>
          <p:nvPr/>
        </p:nvSpPr>
        <p:spPr>
          <a:xfrm>
            <a:off x="10573207" y="5102352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374"/>
          <p:cNvSpPr/>
          <p:nvPr/>
        </p:nvSpPr>
        <p:spPr>
          <a:xfrm>
            <a:off x="10573207" y="5102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375"/>
          <p:cNvSpPr/>
          <p:nvPr/>
        </p:nvSpPr>
        <p:spPr>
          <a:xfrm>
            <a:off x="1097280" y="4736592"/>
            <a:ext cx="9247327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افحص قبل التشغيل</a:t>
            </a:r>
            <a:endParaRPr lang="ar-SA" sz="2400" dirty="0"/>
          </a:p>
          <a:p>
            <a:pPr algn="r" indent="0" marL="0">
              <a:buNone/>
            </a:pPr>
            <a:r>
              <a:rPr lang="ar-SA" altLang="en-US" sz="20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سلك بين 3V3 وGND مباشرة</a:t>
            </a:r>
            <a:endParaRPr lang="ar-SA" sz="2400" dirty="0"/>
          </a:p>
        </p:txBody>
      </p:sp>
      <p:sp>
        <p:nvSpPr>
          <p:cNvPr id="17" name="Text 1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Wokwi ولوح التوصيل  ·  ٥٢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اختبر نفسك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لماذا لا نستعمل Tinkercad مع ESP32؟</a:t>
            </a:r>
            <a:endParaRPr lang="ar-SA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31831" y="2194560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101B45"/>
          </a:solidFill>
          <a:ln/>
        </p:spPr>
      </p:sp>
      <p:sp>
        <p:nvSpPr>
          <p:cNvPr id="7" name="Text 5"/>
          <p:cNvSpPr/>
          <p:nvPr/>
        </p:nvSpPr>
        <p:spPr>
          <a:xfrm>
            <a:off x="10231831" y="2194560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8951671" cy="1228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لأنه مدفوع</a:t>
            </a:r>
            <a:endParaRPr lang="ar-SA" sz="2500" dirty="0"/>
          </a:p>
        </p:txBody>
      </p:sp>
      <p:sp>
        <p:nvSpPr>
          <p:cNvPr id="9" name="anim-g1-376"/>
          <p:cNvSpPr/>
          <p:nvPr/>
        </p:nvSpPr>
        <p:spPr>
          <a:xfrm>
            <a:off x="822960" y="2057400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0" name="anim-g1-377"/>
          <p:cNvSpPr/>
          <p:nvPr/>
        </p:nvSpPr>
        <p:spPr>
          <a:xfrm>
            <a:off x="10231831" y="2194560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A3A9BA"/>
          </a:solidFill>
          <a:ln/>
        </p:spPr>
      </p:sp>
      <p:sp>
        <p:nvSpPr>
          <p:cNvPr id="11" name="anim-g1-378"/>
          <p:cNvSpPr/>
          <p:nvPr/>
        </p:nvSpPr>
        <p:spPr>
          <a:xfrm>
            <a:off x="10231831" y="2194560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400" dirty="0"/>
          </a:p>
        </p:txBody>
      </p:sp>
      <p:sp>
        <p:nvSpPr>
          <p:cNvPr id="12" name="anim-g1-379"/>
          <p:cNvSpPr/>
          <p:nvPr/>
        </p:nvSpPr>
        <p:spPr>
          <a:xfrm>
            <a:off x="1097280" y="2093976"/>
            <a:ext cx="8951671" cy="61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لأنه مدفوع</a:t>
            </a:r>
            <a:endParaRPr lang="ar-SA" sz="2400" dirty="0"/>
          </a:p>
        </p:txBody>
      </p:sp>
      <p:sp>
        <p:nvSpPr>
          <p:cNvPr id="13" name="anim-g1-380"/>
          <p:cNvSpPr/>
          <p:nvPr/>
        </p:nvSpPr>
        <p:spPr>
          <a:xfrm>
            <a:off x="1097280" y="2720706"/>
            <a:ext cx="8951671" cy="51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Tinkercad مجاني</a:t>
            </a:r>
            <a:endParaRPr lang="ar-SA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432048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31831" y="3569208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101B45"/>
          </a:solidFill>
          <a:ln/>
        </p:spPr>
      </p:sp>
      <p:sp>
        <p:nvSpPr>
          <p:cNvPr id="16" name="Text 14"/>
          <p:cNvSpPr/>
          <p:nvPr/>
        </p:nvSpPr>
        <p:spPr>
          <a:xfrm>
            <a:off x="10231831" y="3569208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400" dirty="0"/>
          </a:p>
        </p:txBody>
      </p:sp>
      <p:sp>
        <p:nvSpPr>
          <p:cNvPr id="17" name="Text 15"/>
          <p:cNvSpPr/>
          <p:nvPr/>
        </p:nvSpPr>
        <p:spPr>
          <a:xfrm>
            <a:off x="1097280" y="3432048"/>
            <a:ext cx="8951671" cy="1228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لأنه لا يدعم لوحات ESP32</a:t>
            </a:r>
            <a:endParaRPr lang="ar-SA" sz="2500" dirty="0"/>
          </a:p>
        </p:txBody>
      </p:sp>
      <p:sp>
        <p:nvSpPr>
          <p:cNvPr id="18" name="anim-g1-381"/>
          <p:cNvSpPr/>
          <p:nvPr/>
        </p:nvSpPr>
        <p:spPr>
          <a:xfrm>
            <a:off x="822960" y="3432048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E6F4EC"/>
          </a:solidFill>
          <a:ln w="31750">
            <a:solidFill>
              <a:srgbClr val="2E9E6B"/>
            </a:solidFill>
            <a:prstDash val="solid"/>
          </a:ln>
        </p:spPr>
      </p:sp>
      <p:sp>
        <p:nvSpPr>
          <p:cNvPr id="19" name="anim-g1-382"/>
          <p:cNvSpPr/>
          <p:nvPr/>
        </p:nvSpPr>
        <p:spPr>
          <a:xfrm>
            <a:off x="10231831" y="3569208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2E9E6B"/>
          </a:solidFill>
          <a:ln/>
        </p:spPr>
      </p:sp>
      <p:sp>
        <p:nvSpPr>
          <p:cNvPr id="20" name="anim-g1-383"/>
          <p:cNvSpPr/>
          <p:nvPr/>
        </p:nvSpPr>
        <p:spPr>
          <a:xfrm>
            <a:off x="10231831" y="3569208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✓</a:t>
            </a:r>
            <a:endParaRPr lang="ar-SA" sz="2400" dirty="0"/>
          </a:p>
        </p:txBody>
      </p:sp>
      <p:sp>
        <p:nvSpPr>
          <p:cNvPr id="21" name="anim-g1-384"/>
          <p:cNvSpPr/>
          <p:nvPr/>
        </p:nvSpPr>
        <p:spPr>
          <a:xfrm>
            <a:off x="1097280" y="3468624"/>
            <a:ext cx="8951671" cy="61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لأنه لا يدعم لوحات ESP32</a:t>
            </a:r>
            <a:endParaRPr lang="ar-SA" sz="2400" dirty="0"/>
          </a:p>
        </p:txBody>
      </p:sp>
      <p:sp>
        <p:nvSpPr>
          <p:cNvPr id="22" name="anim-g1-385"/>
          <p:cNvSpPr/>
          <p:nvPr/>
        </p:nvSpPr>
        <p:spPr>
          <a:xfrm>
            <a:off x="1097280" y="4095354"/>
            <a:ext cx="8951671" cy="51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صحيح: يدعم الأونو وmicro:bit، أما ESP32 فنجدها في Wokwi</a:t>
            </a:r>
            <a:endParaRPr lang="ar-SA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4806696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31831" y="4943856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101B45"/>
          </a:solidFill>
          <a:ln/>
        </p:spPr>
      </p:sp>
      <p:sp>
        <p:nvSpPr>
          <p:cNvPr id="25" name="Text 23"/>
          <p:cNvSpPr/>
          <p:nvPr/>
        </p:nvSpPr>
        <p:spPr>
          <a:xfrm>
            <a:off x="10231831" y="4943856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400" dirty="0"/>
          </a:p>
        </p:txBody>
      </p:sp>
      <p:sp>
        <p:nvSpPr>
          <p:cNvPr id="26" name="Text 24"/>
          <p:cNvSpPr/>
          <p:nvPr/>
        </p:nvSpPr>
        <p:spPr>
          <a:xfrm>
            <a:off x="1097280" y="4806696"/>
            <a:ext cx="8951671" cy="1228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لأنه لا يعمل في المدارس</a:t>
            </a:r>
            <a:endParaRPr lang="ar-SA" sz="2500" dirty="0"/>
          </a:p>
        </p:txBody>
      </p:sp>
      <p:sp>
        <p:nvSpPr>
          <p:cNvPr id="27" name="anim-g1-386"/>
          <p:cNvSpPr/>
          <p:nvPr/>
        </p:nvSpPr>
        <p:spPr>
          <a:xfrm>
            <a:off x="822960" y="4806696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8" name="anim-g1-387"/>
          <p:cNvSpPr/>
          <p:nvPr/>
        </p:nvSpPr>
        <p:spPr>
          <a:xfrm>
            <a:off x="10231831" y="4943856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A3A9BA"/>
          </a:solidFill>
          <a:ln/>
        </p:spPr>
      </p:sp>
      <p:sp>
        <p:nvSpPr>
          <p:cNvPr id="29" name="anim-g1-388"/>
          <p:cNvSpPr/>
          <p:nvPr/>
        </p:nvSpPr>
        <p:spPr>
          <a:xfrm>
            <a:off x="10231831" y="4943856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400" dirty="0"/>
          </a:p>
        </p:txBody>
      </p:sp>
      <p:sp>
        <p:nvSpPr>
          <p:cNvPr id="30" name="anim-g1-389"/>
          <p:cNvSpPr/>
          <p:nvPr/>
        </p:nvSpPr>
        <p:spPr>
          <a:xfrm>
            <a:off x="1097280" y="4843272"/>
            <a:ext cx="8951671" cy="61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لأنه لا يعمل في المدارس</a:t>
            </a:r>
            <a:endParaRPr lang="ar-SA" sz="2400" dirty="0"/>
          </a:p>
        </p:txBody>
      </p:sp>
      <p:sp>
        <p:nvSpPr>
          <p:cNvPr id="31" name="anim-g1-390"/>
          <p:cNvSpPr/>
          <p:nvPr/>
        </p:nvSpPr>
        <p:spPr>
          <a:xfrm>
            <a:off x="1097280" y="5470002"/>
            <a:ext cx="8951671" cy="51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يعمل، لكن بلا ESP32</a:t>
            </a:r>
            <a:endParaRPr lang="ar-SA" sz="1800" dirty="0"/>
          </a:p>
        </p:txBody>
      </p:sp>
      <p:sp>
        <p:nvSpPr>
          <p:cNvPr id="32" name="Text 30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33" name="Text 31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Wokwi ولوح التوصيل  ·  ٥٣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5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5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2264" y="118872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52264" y="11887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خلاصة المحور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نجرّب في Wokwi بلا خوف…</a:t>
            </a:r>
            <a:endParaRPr lang="ar-SA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 ثم نبني على الطاولة بثقة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Wokwi ولوح التوصيل  ·  ٥٦</a:t>
            </a:r>
            <a:endParaRPr lang="ar-SA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103120"/>
            <a:ext cx="2651760" cy="2651760"/>
          </a:xfrm>
          <a:prstGeom prst="ellipse">
            <a:avLst/>
          </a:prstGeom>
          <a:solidFill>
            <a:srgbClr val="D9AE4B">
              <a:alpha val="12000"/>
            </a:srgbClr>
          </a:solidFill>
          <a:ln w="635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1031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٥</a:t>
            </a:r>
            <a:endParaRPr lang="ar-SA" sz="12000" dirty="0"/>
          </a:p>
        </p:txBody>
      </p:sp>
      <p:sp>
        <p:nvSpPr>
          <p:cNvPr id="4" name="Text 2"/>
          <p:cNvSpPr/>
          <p:nvPr/>
        </p:nvSpPr>
        <p:spPr>
          <a:xfrm>
            <a:off x="4206240" y="1828800"/>
            <a:ext cx="7162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٥</a:t>
            </a:r>
            <a:endParaRPr lang="ar-SA" sz="2000" dirty="0"/>
          </a:p>
        </p:txBody>
      </p:sp>
      <p:sp>
        <p:nvSpPr>
          <p:cNvPr id="5" name="Text 3"/>
          <p:cNvSpPr/>
          <p:nvPr/>
        </p:nvSpPr>
        <p:spPr>
          <a:xfrm>
            <a:off x="4206240" y="2286000"/>
            <a:ext cx="7162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56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الدوائر الكهربائية</a:t>
            </a:r>
            <a:endParaRPr lang="ar-SA" sz="5600" dirty="0"/>
          </a:p>
        </p:txBody>
      </p:sp>
      <p:sp>
        <p:nvSpPr>
          <p:cNvPr id="6" name="Text 4"/>
          <p:cNvSpPr/>
          <p:nvPr/>
        </p:nvSpPr>
        <p:spPr>
          <a:xfrm>
            <a:off x="4206240" y="3749040"/>
            <a:ext cx="7162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مسار مغلق… يخرج من الطرف ويعود إلى الأرضي</a:t>
            </a:r>
            <a:endParaRPr lang="ar-SA" sz="2200" dirty="0"/>
          </a:p>
        </p:txBody>
      </p:sp>
      <p:sp>
        <p:nvSpPr>
          <p:cNvPr id="7" name="Text 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الدوائر  ·  ٥٧</a:t>
            </a:r>
            <a:endParaRPr lang="ar-SA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095" y="45720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6248095" y="457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 بنهاية هذا المحور تستطيع أن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أهداف المحور</a:t>
            </a:r>
            <a:endParaRPr lang="ar-SA" sz="3800" dirty="0"/>
          </a:p>
        </p:txBody>
      </p:sp>
      <p:sp>
        <p:nvSpPr>
          <p:cNvPr id="5" name="anim-g1-391"/>
          <p:cNvSpPr/>
          <p:nvPr/>
        </p:nvSpPr>
        <p:spPr>
          <a:xfrm>
            <a:off x="822960" y="1920240"/>
            <a:ext cx="10545775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392"/>
          <p:cNvSpPr/>
          <p:nvPr/>
        </p:nvSpPr>
        <p:spPr>
          <a:xfrm>
            <a:off x="10573207" y="2286000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393"/>
          <p:cNvSpPr/>
          <p:nvPr/>
        </p:nvSpPr>
        <p:spPr>
          <a:xfrm>
            <a:off x="10573207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394"/>
          <p:cNvSpPr/>
          <p:nvPr/>
        </p:nvSpPr>
        <p:spPr>
          <a:xfrm>
            <a:off x="1097280" y="1920240"/>
            <a:ext cx="9247327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تقرأ رموز الدوائر وترسمها</a:t>
            </a:r>
            <a:endParaRPr lang="ar-SA" sz="2400" dirty="0"/>
          </a:p>
        </p:txBody>
      </p:sp>
      <p:sp>
        <p:nvSpPr>
          <p:cNvPr id="9" name="anim-g2-395"/>
          <p:cNvSpPr/>
          <p:nvPr/>
        </p:nvSpPr>
        <p:spPr>
          <a:xfrm>
            <a:off x="822960" y="3328416"/>
            <a:ext cx="10545775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396"/>
          <p:cNvSpPr/>
          <p:nvPr/>
        </p:nvSpPr>
        <p:spPr>
          <a:xfrm>
            <a:off x="10573207" y="3694176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397"/>
          <p:cNvSpPr/>
          <p:nvPr/>
        </p:nvSpPr>
        <p:spPr>
          <a:xfrm>
            <a:off x="10573207" y="3694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398"/>
          <p:cNvSpPr/>
          <p:nvPr/>
        </p:nvSpPr>
        <p:spPr>
          <a:xfrm>
            <a:off x="1097280" y="3328416"/>
            <a:ext cx="9247327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تفرّق بين التوصيل على التوالي والتوازي</a:t>
            </a:r>
            <a:endParaRPr lang="ar-SA" sz="2400" dirty="0"/>
          </a:p>
        </p:txBody>
      </p:sp>
      <p:sp>
        <p:nvSpPr>
          <p:cNvPr id="13" name="anim-g3-399"/>
          <p:cNvSpPr/>
          <p:nvPr/>
        </p:nvSpPr>
        <p:spPr>
          <a:xfrm>
            <a:off x="822960" y="4736592"/>
            <a:ext cx="10545775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400"/>
          <p:cNvSpPr/>
          <p:nvPr/>
        </p:nvSpPr>
        <p:spPr>
          <a:xfrm>
            <a:off x="10573207" y="5102352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401"/>
          <p:cNvSpPr/>
          <p:nvPr/>
        </p:nvSpPr>
        <p:spPr>
          <a:xfrm>
            <a:off x="10573207" y="5102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402"/>
          <p:cNvSpPr/>
          <p:nvPr/>
        </p:nvSpPr>
        <p:spPr>
          <a:xfrm>
            <a:off x="1097280" y="4736592"/>
            <a:ext cx="9247327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تبني أول دائرة ليد على ESP32</a:t>
            </a:r>
            <a:endParaRPr lang="ar-SA" sz="2400" dirty="0"/>
          </a:p>
        </p:txBody>
      </p:sp>
      <p:sp>
        <p:nvSpPr>
          <p:cNvPr id="17" name="Text 1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الدوائر  ·  ٥٨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5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27871" y="457200"/>
            <a:ext cx="2340864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9027871" y="45720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أربعة أشياء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كل دائرة تحتاج…</a:t>
            </a:r>
            <a:endParaRPr lang="ar-SA" sz="3800" dirty="0"/>
          </a:p>
        </p:txBody>
      </p:sp>
      <p:sp>
        <p:nvSpPr>
          <p:cNvPr id="5" name="anim-g1-403"/>
          <p:cNvSpPr/>
          <p:nvPr/>
        </p:nvSpPr>
        <p:spPr>
          <a:xfrm>
            <a:off x="6233008" y="2011680"/>
            <a:ext cx="513572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404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405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⚡</a:t>
            </a:r>
            <a:endParaRPr lang="ar-SA" sz="2200" dirty="0"/>
          </a:p>
        </p:txBody>
      </p:sp>
      <p:sp>
        <p:nvSpPr>
          <p:cNvPr id="8" name="anim-g1-406"/>
          <p:cNvSpPr/>
          <p:nvPr/>
        </p:nvSpPr>
        <p:spPr>
          <a:xfrm>
            <a:off x="6507328" y="294436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مصدر</a:t>
            </a:r>
            <a:endParaRPr lang="ar-SA" sz="2200" dirty="0"/>
          </a:p>
        </p:txBody>
      </p:sp>
      <p:sp>
        <p:nvSpPr>
          <p:cNvPr id="9" name="anim-g1-407"/>
          <p:cNvSpPr/>
          <p:nvPr/>
        </p:nvSpPr>
        <p:spPr>
          <a:xfrm>
            <a:off x="6507328" y="3493008"/>
            <a:ext cx="458708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طرف ESP32 يُخرج ٣٫٣ فولت حين نكتب HIGH</a:t>
            </a:r>
            <a:endParaRPr lang="ar-SA" sz="1900" dirty="0"/>
          </a:p>
        </p:txBody>
      </p:sp>
      <p:sp>
        <p:nvSpPr>
          <p:cNvPr id="10" name="anim-g2-408"/>
          <p:cNvSpPr/>
          <p:nvPr/>
        </p:nvSpPr>
        <p:spPr>
          <a:xfrm>
            <a:off x="822960" y="2011680"/>
            <a:ext cx="513572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409"/>
          <p:cNvSpPr/>
          <p:nvPr/>
        </p:nvSpPr>
        <p:spPr>
          <a:xfrm>
            <a:off x="511744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410"/>
          <p:cNvSpPr/>
          <p:nvPr/>
        </p:nvSpPr>
        <p:spPr>
          <a:xfrm>
            <a:off x="511744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🎚️</a:t>
            </a:r>
            <a:endParaRPr lang="ar-SA" sz="2200" dirty="0"/>
          </a:p>
        </p:txBody>
      </p:sp>
      <p:sp>
        <p:nvSpPr>
          <p:cNvPr id="13" name="anim-g2-411"/>
          <p:cNvSpPr/>
          <p:nvPr/>
        </p:nvSpPr>
        <p:spPr>
          <a:xfrm>
            <a:off x="1097280" y="294436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حماية</a:t>
            </a:r>
            <a:endParaRPr lang="ar-SA" sz="2200" dirty="0"/>
          </a:p>
        </p:txBody>
      </p:sp>
      <p:sp>
        <p:nvSpPr>
          <p:cNvPr id="14" name="anim-g2-412"/>
          <p:cNvSpPr/>
          <p:nvPr/>
        </p:nvSpPr>
        <p:spPr>
          <a:xfrm>
            <a:off x="1097280" y="3493008"/>
            <a:ext cx="458708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مقاومة تحدّ من التيار</a:t>
            </a:r>
            <a:endParaRPr lang="ar-SA" sz="1900" dirty="0"/>
          </a:p>
        </p:txBody>
      </p:sp>
      <p:sp>
        <p:nvSpPr>
          <p:cNvPr id="15" name="anim-g3-413"/>
          <p:cNvSpPr/>
          <p:nvPr/>
        </p:nvSpPr>
        <p:spPr>
          <a:xfrm>
            <a:off x="6233008" y="4137660"/>
            <a:ext cx="513572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414"/>
          <p:cNvSpPr/>
          <p:nvPr/>
        </p:nvSpPr>
        <p:spPr>
          <a:xfrm>
            <a:off x="10527487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415"/>
          <p:cNvSpPr/>
          <p:nvPr/>
        </p:nvSpPr>
        <p:spPr>
          <a:xfrm>
            <a:off x="10527487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💡</a:t>
            </a:r>
            <a:endParaRPr lang="ar-SA" sz="2200" dirty="0"/>
          </a:p>
        </p:txBody>
      </p:sp>
      <p:sp>
        <p:nvSpPr>
          <p:cNvPr id="18" name="anim-g3-416"/>
          <p:cNvSpPr/>
          <p:nvPr/>
        </p:nvSpPr>
        <p:spPr>
          <a:xfrm>
            <a:off x="6507328" y="507034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حِمل</a:t>
            </a:r>
            <a:endParaRPr lang="ar-SA" sz="2200" dirty="0"/>
          </a:p>
        </p:txBody>
      </p:sp>
      <p:sp>
        <p:nvSpPr>
          <p:cNvPr id="19" name="anim-g3-417"/>
          <p:cNvSpPr/>
          <p:nvPr/>
        </p:nvSpPr>
        <p:spPr>
          <a:xfrm>
            <a:off x="6507328" y="5618988"/>
            <a:ext cx="458708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الليد أو أي قطعة تستهلك الطاقة</a:t>
            </a:r>
            <a:endParaRPr lang="ar-SA" sz="1900" dirty="0"/>
          </a:p>
        </p:txBody>
      </p:sp>
      <p:sp>
        <p:nvSpPr>
          <p:cNvPr id="20" name="anim-g4-418"/>
          <p:cNvSpPr/>
          <p:nvPr/>
        </p:nvSpPr>
        <p:spPr>
          <a:xfrm>
            <a:off x="822960" y="4137660"/>
            <a:ext cx="513572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21" name="anim-g4-419"/>
          <p:cNvSpPr/>
          <p:nvPr/>
        </p:nvSpPr>
        <p:spPr>
          <a:xfrm>
            <a:off x="5117440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22" name="anim-g4-420"/>
          <p:cNvSpPr/>
          <p:nvPr/>
        </p:nvSpPr>
        <p:spPr>
          <a:xfrm>
            <a:off x="5117440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🔁</a:t>
            </a:r>
            <a:endParaRPr lang="ar-SA" sz="2200" dirty="0"/>
          </a:p>
        </p:txBody>
      </p:sp>
      <p:sp>
        <p:nvSpPr>
          <p:cNvPr id="23" name="anim-g4-421"/>
          <p:cNvSpPr/>
          <p:nvPr/>
        </p:nvSpPr>
        <p:spPr>
          <a:xfrm>
            <a:off x="1097280" y="507034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مسار مغلق</a:t>
            </a:r>
            <a:endParaRPr lang="ar-SA" sz="2200" dirty="0"/>
          </a:p>
        </p:txBody>
      </p:sp>
      <p:sp>
        <p:nvSpPr>
          <p:cNvPr id="24" name="anim-g4-422"/>
          <p:cNvSpPr/>
          <p:nvPr/>
        </p:nvSpPr>
        <p:spPr>
          <a:xfrm>
            <a:off x="1097280" y="5618988"/>
            <a:ext cx="458708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يعود إلى GND، وإلا لم يمر تيار</a:t>
            </a:r>
            <a:endParaRPr lang="ar-SA" sz="1900" dirty="0"/>
          </a:p>
        </p:txBody>
      </p:sp>
      <p:sp>
        <p:nvSpPr>
          <p:cNvPr id="25" name="Text 2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الدوائر  ·  ٦٠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61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423" descr="C:\Users\user\projects\younes-training\esp32\.pptx-cache\s61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424" descr="C:\Users\user\projects\younes-training\esp32\.pptx-cache\s61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425" descr="C:\Users\user\projects\younes-training\esp32\.pptx-cache\s61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426" descr="C:\Users\user\projects\younes-training\esp32\.pptx-cache\s61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05960" y="1188720"/>
            <a:ext cx="2779776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05960" y="118872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القاعدة الأولى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كل تيار يخرج من الطرف…</a:t>
            </a:r>
            <a:endParaRPr lang="ar-SA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 لا بد أن يجد طريقه إلى GND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الدوائر  ·  ٦٢</a:t>
            </a:r>
            <a:endParaRPr lang="ar-SA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6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66783" y="457200"/>
            <a:ext cx="1901952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9466783" y="45720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المقارنة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التوالي والتوازي مع ESP32</a:t>
            </a:r>
            <a:endParaRPr lang="ar-SA" sz="3800" dirty="0"/>
          </a:p>
        </p:txBody>
      </p:sp>
      <p:sp>
        <p:nvSpPr>
          <p:cNvPr id="5" name="Shape 3"/>
          <p:cNvSpPr/>
          <p:nvPr/>
        </p:nvSpPr>
        <p:spPr>
          <a:xfrm>
            <a:off x="8552466" y="1874520"/>
            <a:ext cx="2816269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6" name="Text 4"/>
          <p:cNvSpPr/>
          <p:nvPr/>
        </p:nvSpPr>
        <p:spPr>
          <a:xfrm>
            <a:off x="8552466" y="1874520"/>
            <a:ext cx="281626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الخاصية</a:t>
            </a:r>
            <a:endParaRPr lang="ar-SA" sz="1900" dirty="0"/>
          </a:p>
        </p:txBody>
      </p:sp>
      <p:sp>
        <p:nvSpPr>
          <p:cNvPr id="7" name="Shape 5"/>
          <p:cNvSpPr/>
          <p:nvPr/>
        </p:nvSpPr>
        <p:spPr>
          <a:xfrm>
            <a:off x="4687713" y="1874520"/>
            <a:ext cx="3755025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8" name="Text 6"/>
          <p:cNvSpPr/>
          <p:nvPr/>
        </p:nvSpPr>
        <p:spPr>
          <a:xfrm>
            <a:off x="4687713" y="1874520"/>
            <a:ext cx="37550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التوالي</a:t>
            </a:r>
            <a:endParaRPr lang="ar-SA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3755025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74520"/>
            <a:ext cx="37550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التوازي</a:t>
            </a:r>
            <a:endParaRPr lang="ar-SA" sz="1900" dirty="0"/>
          </a:p>
        </p:txBody>
      </p:sp>
      <p:sp>
        <p:nvSpPr>
          <p:cNvPr id="11" name="anim-g1-427"/>
          <p:cNvSpPr/>
          <p:nvPr/>
        </p:nvSpPr>
        <p:spPr>
          <a:xfrm>
            <a:off x="8552466" y="2514600"/>
            <a:ext cx="2816269" cy="797814"/>
          </a:xfrm>
          <a:prstGeom prst="roundRect">
            <a:avLst>
              <a:gd name="adj" fmla="val 137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2" name="anim-g1-428"/>
          <p:cNvSpPr/>
          <p:nvPr/>
        </p:nvSpPr>
        <p:spPr>
          <a:xfrm>
            <a:off x="8689626" y="2514600"/>
            <a:ext cx="2541949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المسار</a:t>
            </a:r>
            <a:endParaRPr lang="ar-SA" sz="2100" dirty="0"/>
          </a:p>
        </p:txBody>
      </p:sp>
      <p:sp>
        <p:nvSpPr>
          <p:cNvPr id="13" name="anim-g1-429"/>
          <p:cNvSpPr/>
          <p:nvPr/>
        </p:nvSpPr>
        <p:spPr>
          <a:xfrm>
            <a:off x="4687713" y="2514600"/>
            <a:ext cx="3755025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1-430"/>
          <p:cNvSpPr/>
          <p:nvPr/>
        </p:nvSpPr>
        <p:spPr>
          <a:xfrm>
            <a:off x="4824873" y="2514600"/>
            <a:ext cx="3480705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مسار واحد لكل المكونات</a:t>
            </a:r>
            <a:endParaRPr lang="ar-SA" sz="2100" dirty="0"/>
          </a:p>
        </p:txBody>
      </p:sp>
      <p:sp>
        <p:nvSpPr>
          <p:cNvPr id="15" name="anim-g1-431"/>
          <p:cNvSpPr/>
          <p:nvPr/>
        </p:nvSpPr>
        <p:spPr>
          <a:xfrm>
            <a:off x="822960" y="2514600"/>
            <a:ext cx="3755025" cy="797814"/>
          </a:xfrm>
          <a:prstGeom prst="roundRect">
            <a:avLst>
              <a:gd name="adj" fmla="val 137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16" name="anim-g1-432"/>
          <p:cNvSpPr/>
          <p:nvPr/>
        </p:nvSpPr>
        <p:spPr>
          <a:xfrm>
            <a:off x="960120" y="2514600"/>
            <a:ext cx="3480705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مسار مستقل لكل مكوّن</a:t>
            </a:r>
            <a:endParaRPr lang="ar-SA" sz="2100" dirty="0"/>
          </a:p>
        </p:txBody>
      </p:sp>
      <p:sp>
        <p:nvSpPr>
          <p:cNvPr id="17" name="anim-g2-433"/>
          <p:cNvSpPr/>
          <p:nvPr/>
        </p:nvSpPr>
        <p:spPr>
          <a:xfrm>
            <a:off x="8552466" y="3422142"/>
            <a:ext cx="2816269" cy="797814"/>
          </a:xfrm>
          <a:prstGeom prst="roundRect">
            <a:avLst>
              <a:gd name="adj" fmla="val 137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8" name="anim-g2-434"/>
          <p:cNvSpPr/>
          <p:nvPr/>
        </p:nvSpPr>
        <p:spPr>
          <a:xfrm>
            <a:off x="8689626" y="3422142"/>
            <a:ext cx="2541949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إذا تعطّل مكوّن</a:t>
            </a:r>
            <a:endParaRPr lang="ar-SA" sz="2100" dirty="0"/>
          </a:p>
        </p:txBody>
      </p:sp>
      <p:sp>
        <p:nvSpPr>
          <p:cNvPr id="19" name="anim-g2-435"/>
          <p:cNvSpPr/>
          <p:nvPr/>
        </p:nvSpPr>
        <p:spPr>
          <a:xfrm>
            <a:off x="4687713" y="3422142"/>
            <a:ext cx="3755025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0" name="anim-g2-436"/>
          <p:cNvSpPr/>
          <p:nvPr/>
        </p:nvSpPr>
        <p:spPr>
          <a:xfrm>
            <a:off x="4824873" y="3422142"/>
            <a:ext cx="3480705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تتوقف الدائرة كلها</a:t>
            </a:r>
            <a:endParaRPr lang="ar-SA" sz="2100" dirty="0"/>
          </a:p>
        </p:txBody>
      </p:sp>
      <p:sp>
        <p:nvSpPr>
          <p:cNvPr id="21" name="anim-g2-437"/>
          <p:cNvSpPr/>
          <p:nvPr/>
        </p:nvSpPr>
        <p:spPr>
          <a:xfrm>
            <a:off x="822960" y="3422142"/>
            <a:ext cx="3755025" cy="797814"/>
          </a:xfrm>
          <a:prstGeom prst="roundRect">
            <a:avLst>
              <a:gd name="adj" fmla="val 137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2" name="anim-g2-438"/>
          <p:cNvSpPr/>
          <p:nvPr/>
        </p:nvSpPr>
        <p:spPr>
          <a:xfrm>
            <a:off x="960120" y="3422142"/>
            <a:ext cx="3480705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يستمر الباقي</a:t>
            </a:r>
            <a:endParaRPr lang="ar-SA" sz="2100" dirty="0"/>
          </a:p>
        </p:txBody>
      </p:sp>
      <p:sp>
        <p:nvSpPr>
          <p:cNvPr id="23" name="anim-g3-439"/>
          <p:cNvSpPr/>
          <p:nvPr/>
        </p:nvSpPr>
        <p:spPr>
          <a:xfrm>
            <a:off x="8552466" y="4329684"/>
            <a:ext cx="2816269" cy="797814"/>
          </a:xfrm>
          <a:prstGeom prst="roundRect">
            <a:avLst>
              <a:gd name="adj" fmla="val 137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24" name="anim-g3-440"/>
          <p:cNvSpPr/>
          <p:nvPr/>
        </p:nvSpPr>
        <p:spPr>
          <a:xfrm>
            <a:off x="8689626" y="4329684"/>
            <a:ext cx="2541949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ليدان مع ٣٫٣ فولت</a:t>
            </a:r>
            <a:endParaRPr lang="ar-SA" sz="2100" dirty="0"/>
          </a:p>
        </p:txBody>
      </p:sp>
      <p:sp>
        <p:nvSpPr>
          <p:cNvPr id="25" name="anim-g3-441"/>
          <p:cNvSpPr/>
          <p:nvPr/>
        </p:nvSpPr>
        <p:spPr>
          <a:xfrm>
            <a:off x="4687713" y="4329684"/>
            <a:ext cx="3755025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6" name="anim-g3-442"/>
          <p:cNvSpPr/>
          <p:nvPr/>
        </p:nvSpPr>
        <p:spPr>
          <a:xfrm>
            <a:off x="4824873" y="4329684"/>
            <a:ext cx="3480705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❌ يحتاجان ٤ فولت: لا يضيئان</a:t>
            </a:r>
            <a:endParaRPr lang="ar-SA" sz="2100" dirty="0"/>
          </a:p>
        </p:txBody>
      </p:sp>
      <p:sp>
        <p:nvSpPr>
          <p:cNvPr id="27" name="anim-g3-443"/>
          <p:cNvSpPr/>
          <p:nvPr/>
        </p:nvSpPr>
        <p:spPr>
          <a:xfrm>
            <a:off x="822960" y="4329684"/>
            <a:ext cx="3755025" cy="797814"/>
          </a:xfrm>
          <a:prstGeom prst="roundRect">
            <a:avLst>
              <a:gd name="adj" fmla="val 137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8" name="anim-g3-444"/>
          <p:cNvSpPr/>
          <p:nvPr/>
        </p:nvSpPr>
        <p:spPr>
          <a:xfrm>
            <a:off x="960120" y="4329684"/>
            <a:ext cx="3480705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يضيء كل منهما</a:t>
            </a:r>
            <a:endParaRPr lang="ar-SA" sz="2100" dirty="0"/>
          </a:p>
        </p:txBody>
      </p:sp>
      <p:sp>
        <p:nvSpPr>
          <p:cNvPr id="29" name="anim-g4-445"/>
          <p:cNvSpPr/>
          <p:nvPr/>
        </p:nvSpPr>
        <p:spPr>
          <a:xfrm>
            <a:off x="8552466" y="5237226"/>
            <a:ext cx="2816269" cy="797814"/>
          </a:xfrm>
          <a:prstGeom prst="roundRect">
            <a:avLst>
              <a:gd name="adj" fmla="val 137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30" name="anim-g4-446"/>
          <p:cNvSpPr/>
          <p:nvPr/>
        </p:nvSpPr>
        <p:spPr>
          <a:xfrm>
            <a:off x="8689626" y="5237226"/>
            <a:ext cx="2541949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في المشاريع</a:t>
            </a:r>
            <a:endParaRPr lang="ar-SA" sz="2100" dirty="0"/>
          </a:p>
        </p:txBody>
      </p:sp>
      <p:sp>
        <p:nvSpPr>
          <p:cNvPr id="31" name="anim-g4-447"/>
          <p:cNvSpPr/>
          <p:nvPr/>
        </p:nvSpPr>
        <p:spPr>
          <a:xfrm>
            <a:off x="4687713" y="5237226"/>
            <a:ext cx="3755025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2" name="anim-g4-448"/>
          <p:cNvSpPr/>
          <p:nvPr/>
        </p:nvSpPr>
        <p:spPr>
          <a:xfrm>
            <a:off x="4824873" y="5237226"/>
            <a:ext cx="3480705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نادرًا</a:t>
            </a:r>
            <a:endParaRPr lang="ar-SA" sz="2100" dirty="0"/>
          </a:p>
        </p:txBody>
      </p:sp>
      <p:sp>
        <p:nvSpPr>
          <p:cNvPr id="33" name="anim-g4-449"/>
          <p:cNvSpPr/>
          <p:nvPr/>
        </p:nvSpPr>
        <p:spPr>
          <a:xfrm>
            <a:off x="822960" y="5237226"/>
            <a:ext cx="3755025" cy="797814"/>
          </a:xfrm>
          <a:prstGeom prst="roundRect">
            <a:avLst>
              <a:gd name="adj" fmla="val 137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34" name="anim-g4-450"/>
          <p:cNvSpPr/>
          <p:nvPr/>
        </p:nvSpPr>
        <p:spPr>
          <a:xfrm>
            <a:off x="960120" y="5237226"/>
            <a:ext cx="3480705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الشائع: أو ليد لكل طرف</a:t>
            </a:r>
            <a:endParaRPr lang="ar-SA" sz="2100" dirty="0"/>
          </a:p>
        </p:txBody>
      </p:sp>
      <p:sp>
        <p:nvSpPr>
          <p:cNvPr id="35" name="Text 3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36" name="Text 3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الدوائر  ·  ٦٤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اختبر نفسك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بنيت الدائرة ولم يضئ الليد… ما السبب الأرجح؟</a:t>
            </a:r>
            <a:endParaRPr lang="ar-SA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31831" y="2194560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101B45"/>
          </a:solidFill>
          <a:ln/>
        </p:spPr>
      </p:sp>
      <p:sp>
        <p:nvSpPr>
          <p:cNvPr id="7" name="Text 5"/>
          <p:cNvSpPr/>
          <p:nvPr/>
        </p:nvSpPr>
        <p:spPr>
          <a:xfrm>
            <a:off x="10231831" y="2194560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8951671" cy="1228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ESP32 تالفة</a:t>
            </a:r>
            <a:endParaRPr lang="ar-SA" sz="2500" dirty="0"/>
          </a:p>
        </p:txBody>
      </p:sp>
      <p:sp>
        <p:nvSpPr>
          <p:cNvPr id="9" name="anim-g1-451"/>
          <p:cNvSpPr/>
          <p:nvPr/>
        </p:nvSpPr>
        <p:spPr>
          <a:xfrm>
            <a:off x="822960" y="2057400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0" name="anim-g1-452"/>
          <p:cNvSpPr/>
          <p:nvPr/>
        </p:nvSpPr>
        <p:spPr>
          <a:xfrm>
            <a:off x="10231831" y="2194560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A3A9BA"/>
          </a:solidFill>
          <a:ln/>
        </p:spPr>
      </p:sp>
      <p:sp>
        <p:nvSpPr>
          <p:cNvPr id="11" name="anim-g1-453"/>
          <p:cNvSpPr/>
          <p:nvPr/>
        </p:nvSpPr>
        <p:spPr>
          <a:xfrm>
            <a:off x="10231831" y="2194560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400" dirty="0"/>
          </a:p>
        </p:txBody>
      </p:sp>
      <p:sp>
        <p:nvSpPr>
          <p:cNvPr id="12" name="anim-g1-454"/>
          <p:cNvSpPr/>
          <p:nvPr/>
        </p:nvSpPr>
        <p:spPr>
          <a:xfrm>
            <a:off x="1097280" y="2093976"/>
            <a:ext cx="8951671" cy="61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ESP32 تالفة</a:t>
            </a:r>
            <a:endParaRPr lang="ar-SA" sz="2400" dirty="0"/>
          </a:p>
        </p:txBody>
      </p:sp>
      <p:sp>
        <p:nvSpPr>
          <p:cNvPr id="13" name="anim-g1-455"/>
          <p:cNvSpPr/>
          <p:nvPr/>
        </p:nvSpPr>
        <p:spPr>
          <a:xfrm>
            <a:off x="1097280" y="2720706"/>
            <a:ext cx="8951671" cy="51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نادر جدًا</a:t>
            </a:r>
            <a:endParaRPr lang="ar-SA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432048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31831" y="3569208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101B45"/>
          </a:solidFill>
          <a:ln/>
        </p:spPr>
      </p:sp>
      <p:sp>
        <p:nvSpPr>
          <p:cNvPr id="16" name="Text 14"/>
          <p:cNvSpPr/>
          <p:nvPr/>
        </p:nvSpPr>
        <p:spPr>
          <a:xfrm>
            <a:off x="10231831" y="3569208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400" dirty="0"/>
          </a:p>
        </p:txBody>
      </p:sp>
      <p:sp>
        <p:nvSpPr>
          <p:cNvPr id="17" name="Text 15"/>
          <p:cNvSpPr/>
          <p:nvPr/>
        </p:nvSpPr>
        <p:spPr>
          <a:xfrm>
            <a:off x="1097280" y="3432048"/>
            <a:ext cx="8951671" cy="1228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الليد مقلوب أو المسار لا يصل إلى GND</a:t>
            </a:r>
            <a:endParaRPr lang="ar-SA" sz="2500" dirty="0"/>
          </a:p>
        </p:txBody>
      </p:sp>
      <p:sp>
        <p:nvSpPr>
          <p:cNvPr id="18" name="anim-g1-456"/>
          <p:cNvSpPr/>
          <p:nvPr/>
        </p:nvSpPr>
        <p:spPr>
          <a:xfrm>
            <a:off x="822960" y="3432048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E6F4EC"/>
          </a:solidFill>
          <a:ln w="31750">
            <a:solidFill>
              <a:srgbClr val="2E9E6B"/>
            </a:solidFill>
            <a:prstDash val="solid"/>
          </a:ln>
        </p:spPr>
      </p:sp>
      <p:sp>
        <p:nvSpPr>
          <p:cNvPr id="19" name="anim-g1-457"/>
          <p:cNvSpPr/>
          <p:nvPr/>
        </p:nvSpPr>
        <p:spPr>
          <a:xfrm>
            <a:off x="10231831" y="3569208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2E9E6B"/>
          </a:solidFill>
          <a:ln/>
        </p:spPr>
      </p:sp>
      <p:sp>
        <p:nvSpPr>
          <p:cNvPr id="20" name="anim-g1-458"/>
          <p:cNvSpPr/>
          <p:nvPr/>
        </p:nvSpPr>
        <p:spPr>
          <a:xfrm>
            <a:off x="10231831" y="3569208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✓</a:t>
            </a:r>
            <a:endParaRPr lang="ar-SA" sz="2400" dirty="0"/>
          </a:p>
        </p:txBody>
      </p:sp>
      <p:sp>
        <p:nvSpPr>
          <p:cNvPr id="21" name="anim-g1-459"/>
          <p:cNvSpPr/>
          <p:nvPr/>
        </p:nvSpPr>
        <p:spPr>
          <a:xfrm>
            <a:off x="1097280" y="3468624"/>
            <a:ext cx="8951671" cy="61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الليد مقلوب أو المسار لا يصل إلى GND</a:t>
            </a:r>
            <a:endParaRPr lang="ar-SA" sz="2400" dirty="0"/>
          </a:p>
        </p:txBody>
      </p:sp>
      <p:sp>
        <p:nvSpPr>
          <p:cNvPr id="22" name="anim-g1-460"/>
          <p:cNvSpPr/>
          <p:nvPr/>
        </p:nvSpPr>
        <p:spPr>
          <a:xfrm>
            <a:off x="1097280" y="4095354"/>
            <a:ext cx="8951671" cy="51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صحيح: افحص اتجاه الليد والمسار المغلق أولًا</a:t>
            </a:r>
            <a:endParaRPr lang="ar-SA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4806696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31831" y="4943856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101B45"/>
          </a:solidFill>
          <a:ln/>
        </p:spPr>
      </p:sp>
      <p:sp>
        <p:nvSpPr>
          <p:cNvPr id="25" name="Text 23"/>
          <p:cNvSpPr/>
          <p:nvPr/>
        </p:nvSpPr>
        <p:spPr>
          <a:xfrm>
            <a:off x="10231831" y="4943856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400" dirty="0"/>
          </a:p>
        </p:txBody>
      </p:sp>
      <p:sp>
        <p:nvSpPr>
          <p:cNvPr id="26" name="Text 24"/>
          <p:cNvSpPr/>
          <p:nvPr/>
        </p:nvSpPr>
        <p:spPr>
          <a:xfrm>
            <a:off x="1097280" y="4806696"/>
            <a:ext cx="8951671" cy="1228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الكود طويل</a:t>
            </a:r>
            <a:endParaRPr lang="ar-SA" sz="2500" dirty="0"/>
          </a:p>
        </p:txBody>
      </p:sp>
      <p:sp>
        <p:nvSpPr>
          <p:cNvPr id="27" name="anim-g1-461"/>
          <p:cNvSpPr/>
          <p:nvPr/>
        </p:nvSpPr>
        <p:spPr>
          <a:xfrm>
            <a:off x="822960" y="4806696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8" name="anim-g1-462"/>
          <p:cNvSpPr/>
          <p:nvPr/>
        </p:nvSpPr>
        <p:spPr>
          <a:xfrm>
            <a:off x="10231831" y="4943856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A3A9BA"/>
          </a:solidFill>
          <a:ln/>
        </p:spPr>
      </p:sp>
      <p:sp>
        <p:nvSpPr>
          <p:cNvPr id="29" name="anim-g1-463"/>
          <p:cNvSpPr/>
          <p:nvPr/>
        </p:nvSpPr>
        <p:spPr>
          <a:xfrm>
            <a:off x="10231831" y="4943856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400" dirty="0"/>
          </a:p>
        </p:txBody>
      </p:sp>
      <p:sp>
        <p:nvSpPr>
          <p:cNvPr id="30" name="anim-g1-464"/>
          <p:cNvSpPr/>
          <p:nvPr/>
        </p:nvSpPr>
        <p:spPr>
          <a:xfrm>
            <a:off x="1097280" y="4843272"/>
            <a:ext cx="8951671" cy="61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الكود طويل</a:t>
            </a:r>
            <a:endParaRPr lang="ar-SA" sz="2400" dirty="0"/>
          </a:p>
        </p:txBody>
      </p:sp>
      <p:sp>
        <p:nvSpPr>
          <p:cNvPr id="31" name="anim-g1-465"/>
          <p:cNvSpPr/>
          <p:nvPr/>
        </p:nvSpPr>
        <p:spPr>
          <a:xfrm>
            <a:off x="1097280" y="5470002"/>
            <a:ext cx="8951671" cy="51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طول الكود لا علاقة له</a:t>
            </a:r>
            <a:endParaRPr lang="ar-SA" sz="1800" dirty="0"/>
          </a:p>
        </p:txBody>
      </p:sp>
      <p:sp>
        <p:nvSpPr>
          <p:cNvPr id="32" name="Text 30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33" name="Text 31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الدوائر  ·  ٦٥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6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6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2264" y="118872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52264" y="11887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خلاصة المحور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من الطرف…</a:t>
            </a:r>
            <a:endParaRPr lang="ar-SA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 عبر المقاومة… إلى الليد… ثم إلى GND: هذا هو المسار الذي يضيء كل شيء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الدوائر  ·  ٦٨</a:t>
            </a:r>
            <a:endParaRPr lang="ar-SA" sz="1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103120"/>
            <a:ext cx="2651760" cy="2651760"/>
          </a:xfrm>
          <a:prstGeom prst="ellipse">
            <a:avLst/>
          </a:prstGeom>
          <a:solidFill>
            <a:srgbClr val="D9AE4B">
              <a:alpha val="12000"/>
            </a:srgbClr>
          </a:solidFill>
          <a:ln w="635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1031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٦</a:t>
            </a:r>
            <a:endParaRPr lang="ar-SA" sz="12000" dirty="0"/>
          </a:p>
        </p:txBody>
      </p:sp>
      <p:sp>
        <p:nvSpPr>
          <p:cNvPr id="4" name="Text 2"/>
          <p:cNvSpPr/>
          <p:nvPr/>
        </p:nvSpPr>
        <p:spPr>
          <a:xfrm>
            <a:off x="4206240" y="1828800"/>
            <a:ext cx="7162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٦</a:t>
            </a:r>
            <a:endParaRPr lang="ar-SA" sz="2000" dirty="0"/>
          </a:p>
        </p:txBody>
      </p:sp>
      <p:sp>
        <p:nvSpPr>
          <p:cNvPr id="5" name="Text 3"/>
          <p:cNvSpPr/>
          <p:nvPr/>
        </p:nvSpPr>
        <p:spPr>
          <a:xfrm>
            <a:off x="4206240" y="2286000"/>
            <a:ext cx="7162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56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المكونات وقانون أوم</a:t>
            </a:r>
            <a:endParaRPr lang="ar-SA" sz="5600" dirty="0"/>
          </a:p>
        </p:txBody>
      </p:sp>
      <p:sp>
        <p:nvSpPr>
          <p:cNvPr id="6" name="Text 4"/>
          <p:cNvSpPr/>
          <p:nvPr/>
        </p:nvSpPr>
        <p:spPr>
          <a:xfrm>
            <a:off x="4206240" y="3749040"/>
            <a:ext cx="7162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الحساب نفسه… لكن بـ ٣٫٣ فولت بدل ٥</a:t>
            </a:r>
            <a:endParaRPr lang="ar-SA" sz="2200" dirty="0"/>
          </a:p>
        </p:txBody>
      </p:sp>
      <p:sp>
        <p:nvSpPr>
          <p:cNvPr id="7" name="Text 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أوم مع ٣٫٣ فولت  ·  ٦٩</a:t>
            </a:r>
            <a:endParaRPr lang="ar-SA" sz="1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095" y="45720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6248095" y="457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 بنهاية هذا المحور تستطيع أن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أهداف المحور</a:t>
            </a:r>
            <a:endParaRPr lang="ar-SA" sz="3800" dirty="0"/>
          </a:p>
        </p:txBody>
      </p:sp>
      <p:sp>
        <p:nvSpPr>
          <p:cNvPr id="5" name="anim-g1-466"/>
          <p:cNvSpPr/>
          <p:nvPr/>
        </p:nvSpPr>
        <p:spPr>
          <a:xfrm>
            <a:off x="822960" y="1920240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467"/>
          <p:cNvSpPr/>
          <p:nvPr/>
        </p:nvSpPr>
        <p:spPr>
          <a:xfrm>
            <a:off x="10573207" y="2109978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468"/>
          <p:cNvSpPr/>
          <p:nvPr/>
        </p:nvSpPr>
        <p:spPr>
          <a:xfrm>
            <a:off x="10573207" y="210997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469"/>
          <p:cNvSpPr/>
          <p:nvPr/>
        </p:nvSpPr>
        <p:spPr>
          <a:xfrm>
            <a:off x="1097280" y="1920240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تفرّق بين المدخلات والمخرجات</a:t>
            </a:r>
            <a:endParaRPr lang="ar-SA" sz="2400" dirty="0"/>
          </a:p>
        </p:txBody>
      </p:sp>
      <p:sp>
        <p:nvSpPr>
          <p:cNvPr id="9" name="anim-g2-470"/>
          <p:cNvSpPr/>
          <p:nvPr/>
        </p:nvSpPr>
        <p:spPr>
          <a:xfrm>
            <a:off x="822960" y="2976372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471"/>
          <p:cNvSpPr/>
          <p:nvPr/>
        </p:nvSpPr>
        <p:spPr>
          <a:xfrm>
            <a:off x="10573207" y="3166110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472"/>
          <p:cNvSpPr/>
          <p:nvPr/>
        </p:nvSpPr>
        <p:spPr>
          <a:xfrm>
            <a:off x="10573207" y="316611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473"/>
          <p:cNvSpPr/>
          <p:nvPr/>
        </p:nvSpPr>
        <p:spPr>
          <a:xfrm>
            <a:off x="1097280" y="2976372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تقرأ المقاومة من ألوانها</a:t>
            </a:r>
            <a:endParaRPr lang="ar-SA" sz="2400" dirty="0"/>
          </a:p>
        </p:txBody>
      </p:sp>
      <p:sp>
        <p:nvSpPr>
          <p:cNvPr id="13" name="anim-g3-474"/>
          <p:cNvSpPr/>
          <p:nvPr/>
        </p:nvSpPr>
        <p:spPr>
          <a:xfrm>
            <a:off x="822960" y="4032504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475"/>
          <p:cNvSpPr/>
          <p:nvPr/>
        </p:nvSpPr>
        <p:spPr>
          <a:xfrm>
            <a:off x="10573207" y="4222242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476"/>
          <p:cNvSpPr/>
          <p:nvPr/>
        </p:nvSpPr>
        <p:spPr>
          <a:xfrm>
            <a:off x="10573207" y="422224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477"/>
          <p:cNvSpPr/>
          <p:nvPr/>
        </p:nvSpPr>
        <p:spPr>
          <a:xfrm>
            <a:off x="1097280" y="4032504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تحسب مقاومة الليد مع ٣٫٣ فولت</a:t>
            </a:r>
            <a:endParaRPr lang="ar-SA" sz="2400" dirty="0"/>
          </a:p>
        </p:txBody>
      </p:sp>
      <p:sp>
        <p:nvSpPr>
          <p:cNvPr id="17" name="anim-g4-478"/>
          <p:cNvSpPr/>
          <p:nvPr/>
        </p:nvSpPr>
        <p:spPr>
          <a:xfrm>
            <a:off x="822960" y="5088636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479"/>
          <p:cNvSpPr/>
          <p:nvPr/>
        </p:nvSpPr>
        <p:spPr>
          <a:xfrm>
            <a:off x="10573207" y="5278374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480"/>
          <p:cNvSpPr/>
          <p:nvPr/>
        </p:nvSpPr>
        <p:spPr>
          <a:xfrm>
            <a:off x="10573207" y="527837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481"/>
          <p:cNvSpPr/>
          <p:nvPr/>
        </p:nvSpPr>
        <p:spPr>
          <a:xfrm>
            <a:off x="1097280" y="5088636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تحترم حد التيار لأطراف ESP32</a:t>
            </a:r>
            <a:endParaRPr lang="ar-SA" sz="2400" dirty="0"/>
          </a:p>
        </p:txBody>
      </p:sp>
      <p:sp>
        <p:nvSpPr>
          <p:cNvPr id="21" name="Text 1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أوم مع ٣٫٣ فولت  ·  ٧٠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المدخلات والمخرجات</a:t>
            </a:r>
            <a:endParaRPr lang="ar-SA" sz="3800" dirty="0"/>
          </a:p>
        </p:txBody>
      </p:sp>
      <p:sp>
        <p:nvSpPr>
          <p:cNvPr id="3" name="Text 1"/>
          <p:cNvSpPr/>
          <p:nvPr/>
        </p:nvSpPr>
        <p:spPr>
          <a:xfrm>
            <a:off x="6415888" y="160020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100" dirty="0">
                <a:solidFill>
                  <a:srgbClr val="D645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❌ الخطأ الشائع</a:t>
            </a:r>
            <a:endParaRPr lang="ar-SA" sz="21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100" dirty="0">
                <a:solidFill>
                  <a:srgbClr val="2E9E6B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✅ البديل</a:t>
            </a:r>
            <a:endParaRPr lang="ar-SA" sz="2100" dirty="0"/>
          </a:p>
        </p:txBody>
      </p:sp>
      <p:sp>
        <p:nvSpPr>
          <p:cNvPr id="5" name="anim-g1-482"/>
          <p:cNvSpPr/>
          <p:nvPr/>
        </p:nvSpPr>
        <p:spPr>
          <a:xfrm>
            <a:off x="6415888" y="2194560"/>
            <a:ext cx="4952848" cy="804672"/>
          </a:xfrm>
          <a:prstGeom prst="roundRect">
            <a:avLst>
              <a:gd name="adj" fmla="val 15909"/>
            </a:avLst>
          </a:prstGeom>
          <a:solidFill>
            <a:srgbClr val="FBECEC"/>
          </a:solidFill>
          <a:ln/>
        </p:spPr>
      </p:sp>
      <p:sp>
        <p:nvSpPr>
          <p:cNvPr id="6" name="anim-g1-483"/>
          <p:cNvSpPr/>
          <p:nvPr/>
        </p:nvSpPr>
        <p:spPr>
          <a:xfrm>
            <a:off x="6644488" y="2194560"/>
            <a:ext cx="44956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E2A2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زر ضاغط أو لمس</a:t>
            </a:r>
            <a:endParaRPr lang="ar-SA" sz="2200" dirty="0"/>
          </a:p>
        </p:txBody>
      </p:sp>
      <p:sp>
        <p:nvSpPr>
          <p:cNvPr id="7" name="anim-g1-484"/>
          <p:cNvSpPr/>
          <p:nvPr/>
        </p:nvSpPr>
        <p:spPr>
          <a:xfrm>
            <a:off x="822960" y="2194560"/>
            <a:ext cx="4952848" cy="804672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9050">
            <a:solidFill>
              <a:srgbClr val="BFD9CB"/>
            </a:solidFill>
            <a:prstDash val="dash"/>
          </a:ln>
        </p:spPr>
      </p:sp>
      <p:sp>
        <p:nvSpPr>
          <p:cNvPr id="8" name="anim-g1-485"/>
          <p:cNvSpPr/>
          <p:nvPr/>
        </p:nvSpPr>
        <p:spPr>
          <a:xfrm>
            <a:off x="822960" y="2194560"/>
            <a:ext cx="49528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8FB5A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💬 ناقشوا… ما البديل؟</a:t>
            </a:r>
            <a:endParaRPr lang="ar-SA" sz="1900" dirty="0"/>
          </a:p>
        </p:txBody>
      </p:sp>
      <p:sp>
        <p:nvSpPr>
          <p:cNvPr id="9" name="anim-g2-486"/>
          <p:cNvSpPr/>
          <p:nvPr/>
        </p:nvSpPr>
        <p:spPr>
          <a:xfrm>
            <a:off x="5775808" y="2194560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←</a:t>
            </a:r>
            <a:endParaRPr lang="ar-SA" sz="2600" dirty="0"/>
          </a:p>
        </p:txBody>
      </p:sp>
      <p:sp>
        <p:nvSpPr>
          <p:cNvPr id="10" name="anim-g2-487"/>
          <p:cNvSpPr/>
          <p:nvPr/>
        </p:nvSpPr>
        <p:spPr>
          <a:xfrm>
            <a:off x="822960" y="2194560"/>
            <a:ext cx="4952848" cy="804672"/>
          </a:xfrm>
          <a:prstGeom prst="roundRect">
            <a:avLst>
              <a:gd name="adj" fmla="val 15909"/>
            </a:avLst>
          </a:prstGeom>
          <a:solidFill>
            <a:srgbClr val="E6F4EC"/>
          </a:solidFill>
          <a:ln/>
        </p:spPr>
      </p:sp>
      <p:sp>
        <p:nvSpPr>
          <p:cNvPr id="11" name="anim-g2-488"/>
          <p:cNvSpPr/>
          <p:nvPr/>
        </p:nvSpPr>
        <p:spPr>
          <a:xfrm>
            <a:off x="1051560" y="2194560"/>
            <a:ext cx="44956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ليد (ضوء)</a:t>
            </a:r>
            <a:endParaRPr lang="ar-SA" sz="2200" dirty="0"/>
          </a:p>
        </p:txBody>
      </p:sp>
      <p:sp>
        <p:nvSpPr>
          <p:cNvPr id="12" name="anim-g3-489"/>
          <p:cNvSpPr/>
          <p:nvPr/>
        </p:nvSpPr>
        <p:spPr>
          <a:xfrm>
            <a:off x="6415888" y="3154680"/>
            <a:ext cx="4952848" cy="804672"/>
          </a:xfrm>
          <a:prstGeom prst="roundRect">
            <a:avLst>
              <a:gd name="adj" fmla="val 15909"/>
            </a:avLst>
          </a:prstGeom>
          <a:solidFill>
            <a:srgbClr val="FBECEC"/>
          </a:solidFill>
          <a:ln/>
        </p:spPr>
      </p:sp>
      <p:sp>
        <p:nvSpPr>
          <p:cNvPr id="13" name="anim-g3-490"/>
          <p:cNvSpPr/>
          <p:nvPr/>
        </p:nvSpPr>
        <p:spPr>
          <a:xfrm>
            <a:off x="6644488" y="3154680"/>
            <a:ext cx="44956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E2A2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حساس ضوء أو حرارة</a:t>
            </a:r>
            <a:endParaRPr lang="ar-SA" sz="2200" dirty="0"/>
          </a:p>
        </p:txBody>
      </p:sp>
      <p:sp>
        <p:nvSpPr>
          <p:cNvPr id="14" name="anim-g3-491"/>
          <p:cNvSpPr/>
          <p:nvPr/>
        </p:nvSpPr>
        <p:spPr>
          <a:xfrm>
            <a:off x="822960" y="3154680"/>
            <a:ext cx="4952848" cy="804672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9050">
            <a:solidFill>
              <a:srgbClr val="BFD9CB"/>
            </a:solidFill>
            <a:prstDash val="dash"/>
          </a:ln>
        </p:spPr>
      </p:sp>
      <p:sp>
        <p:nvSpPr>
          <p:cNvPr id="15" name="anim-g3-492"/>
          <p:cNvSpPr/>
          <p:nvPr/>
        </p:nvSpPr>
        <p:spPr>
          <a:xfrm>
            <a:off x="822960" y="3154680"/>
            <a:ext cx="49528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8FB5A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💬 ناقشوا… ما البديل؟</a:t>
            </a:r>
            <a:endParaRPr lang="ar-SA" sz="1900" dirty="0"/>
          </a:p>
        </p:txBody>
      </p:sp>
      <p:sp>
        <p:nvSpPr>
          <p:cNvPr id="16" name="anim-g4-493"/>
          <p:cNvSpPr/>
          <p:nvPr/>
        </p:nvSpPr>
        <p:spPr>
          <a:xfrm>
            <a:off x="5775808" y="3154680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←</a:t>
            </a:r>
            <a:endParaRPr lang="ar-SA" sz="2600" dirty="0"/>
          </a:p>
        </p:txBody>
      </p:sp>
      <p:sp>
        <p:nvSpPr>
          <p:cNvPr id="17" name="anim-g4-494"/>
          <p:cNvSpPr/>
          <p:nvPr/>
        </p:nvSpPr>
        <p:spPr>
          <a:xfrm>
            <a:off x="822960" y="3154680"/>
            <a:ext cx="4952848" cy="804672"/>
          </a:xfrm>
          <a:prstGeom prst="roundRect">
            <a:avLst>
              <a:gd name="adj" fmla="val 15909"/>
            </a:avLst>
          </a:prstGeom>
          <a:solidFill>
            <a:srgbClr val="E6F4EC"/>
          </a:solidFill>
          <a:ln/>
        </p:spPr>
      </p:sp>
      <p:sp>
        <p:nvSpPr>
          <p:cNvPr id="18" name="anim-g4-495"/>
          <p:cNvSpPr/>
          <p:nvPr/>
        </p:nvSpPr>
        <p:spPr>
          <a:xfrm>
            <a:off x="1051560" y="3154680"/>
            <a:ext cx="44956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جرس (صوت)</a:t>
            </a:r>
            <a:endParaRPr lang="ar-SA" sz="2200" dirty="0"/>
          </a:p>
        </p:txBody>
      </p:sp>
      <p:sp>
        <p:nvSpPr>
          <p:cNvPr id="19" name="anim-g5-496"/>
          <p:cNvSpPr/>
          <p:nvPr/>
        </p:nvSpPr>
        <p:spPr>
          <a:xfrm>
            <a:off x="6415888" y="4114800"/>
            <a:ext cx="4952848" cy="804672"/>
          </a:xfrm>
          <a:prstGeom prst="roundRect">
            <a:avLst>
              <a:gd name="adj" fmla="val 15909"/>
            </a:avLst>
          </a:prstGeom>
          <a:solidFill>
            <a:srgbClr val="FBECEC"/>
          </a:solidFill>
          <a:ln/>
        </p:spPr>
      </p:sp>
      <p:sp>
        <p:nvSpPr>
          <p:cNvPr id="20" name="anim-g5-497"/>
          <p:cNvSpPr/>
          <p:nvPr/>
        </p:nvSpPr>
        <p:spPr>
          <a:xfrm>
            <a:off x="6644488" y="4114800"/>
            <a:ext cx="44956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E2A2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حساس مسافة</a:t>
            </a:r>
            <a:endParaRPr lang="ar-SA" sz="2200" dirty="0"/>
          </a:p>
        </p:txBody>
      </p:sp>
      <p:sp>
        <p:nvSpPr>
          <p:cNvPr id="21" name="anim-g5-498"/>
          <p:cNvSpPr/>
          <p:nvPr/>
        </p:nvSpPr>
        <p:spPr>
          <a:xfrm>
            <a:off x="822960" y="4114800"/>
            <a:ext cx="4952848" cy="804672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9050">
            <a:solidFill>
              <a:srgbClr val="BFD9CB"/>
            </a:solidFill>
            <a:prstDash val="dash"/>
          </a:ln>
        </p:spPr>
      </p:sp>
      <p:sp>
        <p:nvSpPr>
          <p:cNvPr id="22" name="anim-g5-499"/>
          <p:cNvSpPr/>
          <p:nvPr/>
        </p:nvSpPr>
        <p:spPr>
          <a:xfrm>
            <a:off x="822960" y="4114800"/>
            <a:ext cx="49528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8FB5A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💬 ناقشوا… ما البديل؟</a:t>
            </a:r>
            <a:endParaRPr lang="ar-SA" sz="1900" dirty="0"/>
          </a:p>
        </p:txBody>
      </p:sp>
      <p:sp>
        <p:nvSpPr>
          <p:cNvPr id="23" name="anim-g6-500"/>
          <p:cNvSpPr/>
          <p:nvPr/>
        </p:nvSpPr>
        <p:spPr>
          <a:xfrm>
            <a:off x="5775808" y="4114800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←</a:t>
            </a:r>
            <a:endParaRPr lang="ar-SA" sz="2600" dirty="0"/>
          </a:p>
        </p:txBody>
      </p:sp>
      <p:sp>
        <p:nvSpPr>
          <p:cNvPr id="24" name="anim-g6-501"/>
          <p:cNvSpPr/>
          <p:nvPr/>
        </p:nvSpPr>
        <p:spPr>
          <a:xfrm>
            <a:off x="822960" y="4114800"/>
            <a:ext cx="4952848" cy="804672"/>
          </a:xfrm>
          <a:prstGeom prst="roundRect">
            <a:avLst>
              <a:gd name="adj" fmla="val 15909"/>
            </a:avLst>
          </a:prstGeom>
          <a:solidFill>
            <a:srgbClr val="E6F4EC"/>
          </a:solidFill>
          <a:ln/>
        </p:spPr>
      </p:sp>
      <p:sp>
        <p:nvSpPr>
          <p:cNvPr id="25" name="anim-g6-502"/>
          <p:cNvSpPr/>
          <p:nvPr/>
        </p:nvSpPr>
        <p:spPr>
          <a:xfrm>
            <a:off x="1051560" y="4114800"/>
            <a:ext cx="44956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محرك (حركة)</a:t>
            </a:r>
            <a:endParaRPr lang="ar-SA" sz="2200" dirty="0"/>
          </a:p>
        </p:txBody>
      </p:sp>
      <p:sp>
        <p:nvSpPr>
          <p:cNvPr id="26" name="anim-g7-503"/>
          <p:cNvSpPr/>
          <p:nvPr/>
        </p:nvSpPr>
        <p:spPr>
          <a:xfrm>
            <a:off x="6415888" y="5074920"/>
            <a:ext cx="4952848" cy="804672"/>
          </a:xfrm>
          <a:prstGeom prst="roundRect">
            <a:avLst>
              <a:gd name="adj" fmla="val 15909"/>
            </a:avLst>
          </a:prstGeom>
          <a:solidFill>
            <a:srgbClr val="FBECEC"/>
          </a:solidFill>
          <a:ln/>
        </p:spPr>
      </p:sp>
      <p:sp>
        <p:nvSpPr>
          <p:cNvPr id="27" name="anim-g7-504"/>
          <p:cNvSpPr/>
          <p:nvPr/>
        </p:nvSpPr>
        <p:spPr>
          <a:xfrm>
            <a:off x="6644488" y="5074920"/>
            <a:ext cx="44956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E2A2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حتى على 34–39 فقط</a:t>
            </a:r>
            <a:endParaRPr lang="ar-SA" sz="2200" dirty="0"/>
          </a:p>
        </p:txBody>
      </p:sp>
      <p:sp>
        <p:nvSpPr>
          <p:cNvPr id="28" name="anim-g7-505"/>
          <p:cNvSpPr/>
          <p:nvPr/>
        </p:nvSpPr>
        <p:spPr>
          <a:xfrm>
            <a:off x="822960" y="5074920"/>
            <a:ext cx="4952848" cy="804672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9050">
            <a:solidFill>
              <a:srgbClr val="BFD9CB"/>
            </a:solidFill>
            <a:prstDash val="dash"/>
          </a:ln>
        </p:spPr>
      </p:sp>
      <p:sp>
        <p:nvSpPr>
          <p:cNvPr id="29" name="anim-g7-506"/>
          <p:cNvSpPr/>
          <p:nvPr/>
        </p:nvSpPr>
        <p:spPr>
          <a:xfrm>
            <a:off x="822960" y="5074920"/>
            <a:ext cx="49528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8FB5A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💬 ناقشوا… ما البديل؟</a:t>
            </a:r>
            <a:endParaRPr lang="ar-SA" sz="1900" dirty="0"/>
          </a:p>
        </p:txBody>
      </p:sp>
      <p:sp>
        <p:nvSpPr>
          <p:cNvPr id="30" name="anim-g8-507"/>
          <p:cNvSpPr/>
          <p:nvPr/>
        </p:nvSpPr>
        <p:spPr>
          <a:xfrm>
            <a:off x="5775808" y="5074920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←</a:t>
            </a:r>
            <a:endParaRPr lang="ar-SA" sz="2600" dirty="0"/>
          </a:p>
        </p:txBody>
      </p:sp>
      <p:sp>
        <p:nvSpPr>
          <p:cNvPr id="31" name="anim-g8-508"/>
          <p:cNvSpPr/>
          <p:nvPr/>
        </p:nvSpPr>
        <p:spPr>
          <a:xfrm>
            <a:off x="822960" y="5074920"/>
            <a:ext cx="4952848" cy="804672"/>
          </a:xfrm>
          <a:prstGeom prst="roundRect">
            <a:avLst>
              <a:gd name="adj" fmla="val 15909"/>
            </a:avLst>
          </a:prstGeom>
          <a:solidFill>
            <a:srgbClr val="E6F4EC"/>
          </a:solidFill>
          <a:ln/>
        </p:spPr>
      </p:sp>
      <p:sp>
        <p:nvSpPr>
          <p:cNvPr id="32" name="anim-g8-509"/>
          <p:cNvSpPr/>
          <p:nvPr/>
        </p:nvSpPr>
        <p:spPr>
          <a:xfrm>
            <a:off x="1051560" y="5074920"/>
            <a:ext cx="44956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على الأطراف الآمنة فقط</a:t>
            </a:r>
            <a:endParaRPr lang="ar-SA" sz="2200" dirty="0"/>
          </a:p>
        </p:txBody>
      </p:sp>
      <p:sp>
        <p:nvSpPr>
          <p:cNvPr id="33" name="Text 31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34" name="Text 32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أوم مع ٣٫٣ فولت  ·  ٧١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7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7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25416" y="1188720"/>
            <a:ext cx="2340864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25416" y="118872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تشبيه الماء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الجهد ضغط الماء، والتيار كمية الماء المتدفقة…</a:t>
            </a:r>
            <a:endParaRPr lang="ar-SA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 و٣٫٣ فولت ضغط أقل من ٥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أوم مع ٣٫٣ فولت  ·  ٧٤</a:t>
            </a:r>
            <a:endParaRPr lang="ar-SA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0479" y="457200"/>
            <a:ext cx="2048256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9320479" y="45720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قانون أوم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ثلاث صيغ لقانون واحد</a:t>
            </a:r>
            <a:endParaRPr lang="ar-SA" sz="3800" dirty="0"/>
          </a:p>
        </p:txBody>
      </p:sp>
      <p:sp>
        <p:nvSpPr>
          <p:cNvPr id="5" name="anim-g1-510"/>
          <p:cNvSpPr/>
          <p:nvPr/>
        </p:nvSpPr>
        <p:spPr>
          <a:xfrm>
            <a:off x="8036357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511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512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⚡</a:t>
            </a:r>
            <a:endParaRPr lang="ar-SA" sz="2200" dirty="0"/>
          </a:p>
        </p:txBody>
      </p:sp>
      <p:sp>
        <p:nvSpPr>
          <p:cNvPr id="8" name="anim-g1-513"/>
          <p:cNvSpPr/>
          <p:nvPr/>
        </p:nvSpPr>
        <p:spPr>
          <a:xfrm>
            <a:off x="8310677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V = I × R</a:t>
            </a:r>
            <a:endParaRPr lang="ar-SA" sz="2200" dirty="0"/>
          </a:p>
        </p:txBody>
      </p:sp>
      <p:sp>
        <p:nvSpPr>
          <p:cNvPr id="9" name="anim-g1-514"/>
          <p:cNvSpPr/>
          <p:nvPr/>
        </p:nvSpPr>
        <p:spPr>
          <a:xfrm>
            <a:off x="8310677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الجهد = التيار × المقاومة</a:t>
            </a:r>
            <a:endParaRPr lang="ar-SA" sz="1900" dirty="0"/>
          </a:p>
        </p:txBody>
      </p:sp>
      <p:sp>
        <p:nvSpPr>
          <p:cNvPr id="10" name="anim-g2-515"/>
          <p:cNvSpPr/>
          <p:nvPr/>
        </p:nvSpPr>
        <p:spPr>
          <a:xfrm>
            <a:off x="4429658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516"/>
          <p:cNvSpPr/>
          <p:nvPr/>
        </p:nvSpPr>
        <p:spPr>
          <a:xfrm>
            <a:off x="6920789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517"/>
          <p:cNvSpPr/>
          <p:nvPr/>
        </p:nvSpPr>
        <p:spPr>
          <a:xfrm>
            <a:off x="6920789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💧</a:t>
            </a:r>
            <a:endParaRPr lang="ar-SA" sz="2200" dirty="0"/>
          </a:p>
        </p:txBody>
      </p:sp>
      <p:sp>
        <p:nvSpPr>
          <p:cNvPr id="13" name="anim-g2-518"/>
          <p:cNvSpPr/>
          <p:nvPr/>
        </p:nvSpPr>
        <p:spPr>
          <a:xfrm>
            <a:off x="4703978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I = V ÷ R</a:t>
            </a:r>
            <a:endParaRPr lang="ar-SA" sz="2200" dirty="0"/>
          </a:p>
        </p:txBody>
      </p:sp>
      <p:sp>
        <p:nvSpPr>
          <p:cNvPr id="14" name="anim-g2-519"/>
          <p:cNvSpPr/>
          <p:nvPr/>
        </p:nvSpPr>
        <p:spPr>
          <a:xfrm>
            <a:off x="4703978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التيار = الجهد ÷ المقاومة</a:t>
            </a:r>
            <a:endParaRPr lang="ar-SA" sz="1900" dirty="0"/>
          </a:p>
        </p:txBody>
      </p:sp>
      <p:sp>
        <p:nvSpPr>
          <p:cNvPr id="15" name="anim-g3-520"/>
          <p:cNvSpPr/>
          <p:nvPr/>
        </p:nvSpPr>
        <p:spPr>
          <a:xfrm>
            <a:off x="822960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521"/>
          <p:cNvSpPr/>
          <p:nvPr/>
        </p:nvSpPr>
        <p:spPr>
          <a:xfrm>
            <a:off x="331409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522"/>
          <p:cNvSpPr/>
          <p:nvPr/>
        </p:nvSpPr>
        <p:spPr>
          <a:xfrm>
            <a:off x="331409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🎚️</a:t>
            </a:r>
            <a:endParaRPr lang="ar-SA" sz="2200" dirty="0"/>
          </a:p>
        </p:txBody>
      </p:sp>
      <p:sp>
        <p:nvSpPr>
          <p:cNvPr id="18" name="anim-g3-523"/>
          <p:cNvSpPr/>
          <p:nvPr/>
        </p:nvSpPr>
        <p:spPr>
          <a:xfrm>
            <a:off x="1097280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R = V ÷ I</a:t>
            </a:r>
            <a:endParaRPr lang="ar-SA" sz="2200" dirty="0"/>
          </a:p>
        </p:txBody>
      </p:sp>
      <p:sp>
        <p:nvSpPr>
          <p:cNvPr id="19" name="anim-g3-524"/>
          <p:cNvSpPr/>
          <p:nvPr/>
        </p:nvSpPr>
        <p:spPr>
          <a:xfrm>
            <a:off x="1097280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المقاومة = الجهد ÷ التيار</a:t>
            </a:r>
            <a:endParaRPr lang="ar-SA" sz="1900" dirty="0"/>
          </a:p>
        </p:txBody>
      </p:sp>
      <p:sp>
        <p:nvSpPr>
          <p:cNvPr id="20" name="Text 18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أوم مع ٣٫٣ فولت  ·  ٧٥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7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27871" y="457200"/>
            <a:ext cx="2340864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9027871" y="45720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احسبها بيدك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كم مقاومة يحتاج ليد أحمر مع ٣٫٣ فولت؟</a:t>
            </a:r>
            <a:endParaRPr lang="ar-SA" sz="3200" dirty="0"/>
          </a:p>
        </p:txBody>
      </p:sp>
      <p:sp>
        <p:nvSpPr>
          <p:cNvPr id="5" name="anim-g1-525"/>
          <p:cNvSpPr/>
          <p:nvPr/>
        </p:nvSpPr>
        <p:spPr>
          <a:xfrm>
            <a:off x="822960" y="1920240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526"/>
          <p:cNvSpPr/>
          <p:nvPr/>
        </p:nvSpPr>
        <p:spPr>
          <a:xfrm>
            <a:off x="10573207" y="2109978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527"/>
          <p:cNvSpPr/>
          <p:nvPr/>
        </p:nvSpPr>
        <p:spPr>
          <a:xfrm>
            <a:off x="10573207" y="210997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528"/>
          <p:cNvSpPr/>
          <p:nvPr/>
        </p:nvSpPr>
        <p:spPr>
          <a:xfrm>
            <a:off x="1097280" y="1920240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جهد المقاومة</a:t>
            </a:r>
            <a:endParaRPr lang="ar-SA" sz="2400" dirty="0"/>
          </a:p>
          <a:p>
            <a:pPr algn="r" indent="0" marL="0">
              <a:buNone/>
            </a:pPr>
            <a:r>
              <a:rPr lang="ar-SA" altLang="en-US" sz="20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٣٫٣ − ٢٫٠ = ١٫٣ فولت</a:t>
            </a:r>
            <a:endParaRPr lang="ar-SA" sz="2400" dirty="0"/>
          </a:p>
        </p:txBody>
      </p:sp>
      <p:sp>
        <p:nvSpPr>
          <p:cNvPr id="9" name="anim-g2-529"/>
          <p:cNvSpPr/>
          <p:nvPr/>
        </p:nvSpPr>
        <p:spPr>
          <a:xfrm>
            <a:off x="822960" y="2976372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530"/>
          <p:cNvSpPr/>
          <p:nvPr/>
        </p:nvSpPr>
        <p:spPr>
          <a:xfrm>
            <a:off x="10573207" y="3166110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531"/>
          <p:cNvSpPr/>
          <p:nvPr/>
        </p:nvSpPr>
        <p:spPr>
          <a:xfrm>
            <a:off x="10573207" y="316611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532"/>
          <p:cNvSpPr/>
          <p:nvPr/>
        </p:nvSpPr>
        <p:spPr>
          <a:xfrm>
            <a:off x="1097280" y="2976372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التيار المطلوب</a:t>
            </a:r>
            <a:endParaRPr lang="ar-SA" sz="2400" dirty="0"/>
          </a:p>
          <a:p>
            <a:pPr algn="r" indent="0" marL="0">
              <a:buNone/>
            </a:pPr>
            <a:r>
              <a:rPr lang="ar-SA" altLang="en-US" sz="20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١٠ مللي أمبير = ٠٫٠١ أمبير</a:t>
            </a:r>
            <a:endParaRPr lang="ar-SA" sz="2400" dirty="0"/>
          </a:p>
        </p:txBody>
      </p:sp>
      <p:sp>
        <p:nvSpPr>
          <p:cNvPr id="13" name="anim-g3-533"/>
          <p:cNvSpPr/>
          <p:nvPr/>
        </p:nvSpPr>
        <p:spPr>
          <a:xfrm>
            <a:off x="822960" y="4032504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534"/>
          <p:cNvSpPr/>
          <p:nvPr/>
        </p:nvSpPr>
        <p:spPr>
          <a:xfrm>
            <a:off x="10573207" y="4222242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535"/>
          <p:cNvSpPr/>
          <p:nvPr/>
        </p:nvSpPr>
        <p:spPr>
          <a:xfrm>
            <a:off x="10573207" y="422224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536"/>
          <p:cNvSpPr/>
          <p:nvPr/>
        </p:nvSpPr>
        <p:spPr>
          <a:xfrm>
            <a:off x="1097280" y="4032504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المقاومة</a:t>
            </a:r>
            <a:endParaRPr lang="ar-SA" sz="2400" dirty="0"/>
          </a:p>
          <a:p>
            <a:pPr algn="r" indent="0" marL="0">
              <a:buNone/>
            </a:pPr>
            <a:r>
              <a:rPr lang="ar-SA" altLang="en-US" sz="20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١٫٣ ÷ ٠٫٠١ = ١٣٠ أوم</a:t>
            </a:r>
            <a:endParaRPr lang="ar-SA" sz="2400" dirty="0"/>
          </a:p>
        </p:txBody>
      </p:sp>
      <p:sp>
        <p:nvSpPr>
          <p:cNvPr id="17" name="anim-g4-537"/>
          <p:cNvSpPr/>
          <p:nvPr/>
        </p:nvSpPr>
        <p:spPr>
          <a:xfrm>
            <a:off x="822960" y="5088636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538"/>
          <p:cNvSpPr/>
          <p:nvPr/>
        </p:nvSpPr>
        <p:spPr>
          <a:xfrm>
            <a:off x="10573207" y="5278374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539"/>
          <p:cNvSpPr/>
          <p:nvPr/>
        </p:nvSpPr>
        <p:spPr>
          <a:xfrm>
            <a:off x="10573207" y="527837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540"/>
          <p:cNvSpPr/>
          <p:nvPr/>
        </p:nvSpPr>
        <p:spPr>
          <a:xfrm>
            <a:off x="1097280" y="5088636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نختار القيمة المتوفرة الأقرب الأكبر</a:t>
            </a:r>
            <a:endParaRPr lang="ar-SA" sz="2400" dirty="0"/>
          </a:p>
          <a:p>
            <a:pPr algn="r" indent="0" marL="0">
              <a:buNone/>
            </a:pPr>
            <a:r>
              <a:rPr lang="ar-SA" altLang="en-US" sz="20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١٥٠ أو ٢٢٠ أوم (أكثر أمانًا)</a:t>
            </a:r>
            <a:endParaRPr lang="ar-SA" sz="2400" dirty="0"/>
          </a:p>
        </p:txBody>
      </p:sp>
      <p:sp>
        <p:nvSpPr>
          <p:cNvPr id="21" name="Text 1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أوم مع ٣٫٣ فولت  ·  ٧٧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اختبر نفسك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أي مقاومة تختار لليد أحمر على طرف ESP32؟</a:t>
            </a:r>
            <a:endParaRPr lang="ar-SA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31831" y="2194560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101B45"/>
          </a:solidFill>
          <a:ln/>
        </p:spPr>
      </p:sp>
      <p:sp>
        <p:nvSpPr>
          <p:cNvPr id="7" name="Text 5"/>
          <p:cNvSpPr/>
          <p:nvPr/>
        </p:nvSpPr>
        <p:spPr>
          <a:xfrm>
            <a:off x="10231831" y="2194560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8951671" cy="1228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١٠ أوم</a:t>
            </a:r>
            <a:endParaRPr lang="ar-SA" sz="2500" dirty="0"/>
          </a:p>
        </p:txBody>
      </p:sp>
      <p:sp>
        <p:nvSpPr>
          <p:cNvPr id="9" name="anim-g1-541"/>
          <p:cNvSpPr/>
          <p:nvPr/>
        </p:nvSpPr>
        <p:spPr>
          <a:xfrm>
            <a:off x="822960" y="2057400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0" name="anim-g1-542"/>
          <p:cNvSpPr/>
          <p:nvPr/>
        </p:nvSpPr>
        <p:spPr>
          <a:xfrm>
            <a:off x="10231831" y="2194560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A3A9BA"/>
          </a:solidFill>
          <a:ln/>
        </p:spPr>
      </p:sp>
      <p:sp>
        <p:nvSpPr>
          <p:cNvPr id="11" name="anim-g1-543"/>
          <p:cNvSpPr/>
          <p:nvPr/>
        </p:nvSpPr>
        <p:spPr>
          <a:xfrm>
            <a:off x="10231831" y="2194560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400" dirty="0"/>
          </a:p>
        </p:txBody>
      </p:sp>
      <p:sp>
        <p:nvSpPr>
          <p:cNvPr id="12" name="anim-g1-544"/>
          <p:cNvSpPr/>
          <p:nvPr/>
        </p:nvSpPr>
        <p:spPr>
          <a:xfrm>
            <a:off x="1097280" y="2093976"/>
            <a:ext cx="8951671" cy="61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١٠ أوم</a:t>
            </a:r>
            <a:endParaRPr lang="ar-SA" sz="2400" dirty="0"/>
          </a:p>
        </p:txBody>
      </p:sp>
      <p:sp>
        <p:nvSpPr>
          <p:cNvPr id="13" name="anim-g1-545"/>
          <p:cNvSpPr/>
          <p:nvPr/>
        </p:nvSpPr>
        <p:spPr>
          <a:xfrm>
            <a:off x="1097280" y="2720706"/>
            <a:ext cx="8951671" cy="51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نحو ١٣٠ مللي أمبير: يحرق الليد ويضر الطرف</a:t>
            </a:r>
            <a:endParaRPr lang="ar-SA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432048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31831" y="3569208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101B45"/>
          </a:solidFill>
          <a:ln/>
        </p:spPr>
      </p:sp>
      <p:sp>
        <p:nvSpPr>
          <p:cNvPr id="16" name="Text 14"/>
          <p:cNvSpPr/>
          <p:nvPr/>
        </p:nvSpPr>
        <p:spPr>
          <a:xfrm>
            <a:off x="10231831" y="3569208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400" dirty="0"/>
          </a:p>
        </p:txBody>
      </p:sp>
      <p:sp>
        <p:nvSpPr>
          <p:cNvPr id="17" name="Text 15"/>
          <p:cNvSpPr/>
          <p:nvPr/>
        </p:nvSpPr>
        <p:spPr>
          <a:xfrm>
            <a:off x="1097280" y="3432048"/>
            <a:ext cx="8951671" cy="1228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٢٢٠ أوم</a:t>
            </a:r>
            <a:endParaRPr lang="ar-SA" sz="2500" dirty="0"/>
          </a:p>
        </p:txBody>
      </p:sp>
      <p:sp>
        <p:nvSpPr>
          <p:cNvPr id="18" name="anim-g1-546"/>
          <p:cNvSpPr/>
          <p:nvPr/>
        </p:nvSpPr>
        <p:spPr>
          <a:xfrm>
            <a:off x="822960" y="3432048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E6F4EC"/>
          </a:solidFill>
          <a:ln w="31750">
            <a:solidFill>
              <a:srgbClr val="2E9E6B"/>
            </a:solidFill>
            <a:prstDash val="solid"/>
          </a:ln>
        </p:spPr>
      </p:sp>
      <p:sp>
        <p:nvSpPr>
          <p:cNvPr id="19" name="anim-g1-547"/>
          <p:cNvSpPr/>
          <p:nvPr/>
        </p:nvSpPr>
        <p:spPr>
          <a:xfrm>
            <a:off x="10231831" y="3569208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2E9E6B"/>
          </a:solidFill>
          <a:ln/>
        </p:spPr>
      </p:sp>
      <p:sp>
        <p:nvSpPr>
          <p:cNvPr id="20" name="anim-g1-548"/>
          <p:cNvSpPr/>
          <p:nvPr/>
        </p:nvSpPr>
        <p:spPr>
          <a:xfrm>
            <a:off x="10231831" y="3569208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✓</a:t>
            </a:r>
            <a:endParaRPr lang="ar-SA" sz="2400" dirty="0"/>
          </a:p>
        </p:txBody>
      </p:sp>
      <p:sp>
        <p:nvSpPr>
          <p:cNvPr id="21" name="anim-g1-549"/>
          <p:cNvSpPr/>
          <p:nvPr/>
        </p:nvSpPr>
        <p:spPr>
          <a:xfrm>
            <a:off x="1097280" y="3468624"/>
            <a:ext cx="8951671" cy="61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٢٢٠ أوم</a:t>
            </a:r>
            <a:endParaRPr lang="ar-SA" sz="2400" dirty="0"/>
          </a:p>
        </p:txBody>
      </p:sp>
      <p:sp>
        <p:nvSpPr>
          <p:cNvPr id="22" name="anim-g1-550"/>
          <p:cNvSpPr/>
          <p:nvPr/>
        </p:nvSpPr>
        <p:spPr>
          <a:xfrm>
            <a:off x="1097280" y="4095354"/>
            <a:ext cx="8951671" cy="51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صحيح: نحو ٦ مللي أمبير، إضاءة جيدة وآمنة</a:t>
            </a:r>
            <a:endParaRPr lang="ar-SA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4806696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31831" y="4943856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101B45"/>
          </a:solidFill>
          <a:ln/>
        </p:spPr>
      </p:sp>
      <p:sp>
        <p:nvSpPr>
          <p:cNvPr id="25" name="Text 23"/>
          <p:cNvSpPr/>
          <p:nvPr/>
        </p:nvSpPr>
        <p:spPr>
          <a:xfrm>
            <a:off x="10231831" y="4943856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400" dirty="0"/>
          </a:p>
        </p:txBody>
      </p:sp>
      <p:sp>
        <p:nvSpPr>
          <p:cNvPr id="26" name="Text 24"/>
          <p:cNvSpPr/>
          <p:nvPr/>
        </p:nvSpPr>
        <p:spPr>
          <a:xfrm>
            <a:off x="1097280" y="4806696"/>
            <a:ext cx="8951671" cy="1228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١٠ كيلو أوم</a:t>
            </a:r>
            <a:endParaRPr lang="ar-SA" sz="2500" dirty="0"/>
          </a:p>
        </p:txBody>
      </p:sp>
      <p:sp>
        <p:nvSpPr>
          <p:cNvPr id="27" name="anim-g1-551"/>
          <p:cNvSpPr/>
          <p:nvPr/>
        </p:nvSpPr>
        <p:spPr>
          <a:xfrm>
            <a:off x="822960" y="4806696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8" name="anim-g1-552"/>
          <p:cNvSpPr/>
          <p:nvPr/>
        </p:nvSpPr>
        <p:spPr>
          <a:xfrm>
            <a:off x="10231831" y="4943856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A3A9BA"/>
          </a:solidFill>
          <a:ln/>
        </p:spPr>
      </p:sp>
      <p:sp>
        <p:nvSpPr>
          <p:cNvPr id="29" name="anim-g1-553"/>
          <p:cNvSpPr/>
          <p:nvPr/>
        </p:nvSpPr>
        <p:spPr>
          <a:xfrm>
            <a:off x="10231831" y="4943856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400" dirty="0"/>
          </a:p>
        </p:txBody>
      </p:sp>
      <p:sp>
        <p:nvSpPr>
          <p:cNvPr id="30" name="anim-g1-554"/>
          <p:cNvSpPr/>
          <p:nvPr/>
        </p:nvSpPr>
        <p:spPr>
          <a:xfrm>
            <a:off x="1097280" y="4843272"/>
            <a:ext cx="8951671" cy="61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١٠ كيلو أوم</a:t>
            </a:r>
            <a:endParaRPr lang="ar-SA" sz="2400" dirty="0"/>
          </a:p>
        </p:txBody>
      </p:sp>
      <p:sp>
        <p:nvSpPr>
          <p:cNvPr id="31" name="anim-g1-555"/>
          <p:cNvSpPr/>
          <p:nvPr/>
        </p:nvSpPr>
        <p:spPr>
          <a:xfrm>
            <a:off x="1097280" y="5470002"/>
            <a:ext cx="8951671" cy="51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نحو ٠٫١ مللي أمبير: لا يكاد يضيء</a:t>
            </a:r>
            <a:endParaRPr lang="ar-SA" sz="1800" dirty="0"/>
          </a:p>
        </p:txBody>
      </p:sp>
      <p:sp>
        <p:nvSpPr>
          <p:cNvPr id="32" name="Text 30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33" name="Text 31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أوم مع ٣٫٣ فولت  ·  ٧٨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7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8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2264" y="118872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52264" y="11887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خلاصة المحور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جهد أقل…</a:t>
            </a:r>
            <a:endParaRPr lang="ar-SA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 مقاومة أصغر: ٢٢٠ أوم صديقة كل ليد أحمر على ESP32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أوم مع ٣٫٣ فولت  ·  ٨١</a:t>
            </a:r>
            <a:endParaRPr lang="ar-SA" sz="12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103120"/>
            <a:ext cx="2651760" cy="2651760"/>
          </a:xfrm>
          <a:prstGeom prst="ellipse">
            <a:avLst/>
          </a:prstGeom>
          <a:solidFill>
            <a:srgbClr val="D9AE4B">
              <a:alpha val="12000"/>
            </a:srgbClr>
          </a:solidFill>
          <a:ln w="635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1031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٧</a:t>
            </a:r>
            <a:endParaRPr lang="ar-SA" sz="12000" dirty="0"/>
          </a:p>
        </p:txBody>
      </p:sp>
      <p:sp>
        <p:nvSpPr>
          <p:cNvPr id="4" name="Text 2"/>
          <p:cNvSpPr/>
          <p:nvPr/>
        </p:nvSpPr>
        <p:spPr>
          <a:xfrm>
            <a:off x="4206240" y="1828800"/>
            <a:ext cx="7162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٧</a:t>
            </a:r>
            <a:endParaRPr lang="ar-SA" sz="2000" dirty="0"/>
          </a:p>
        </p:txBody>
      </p:sp>
      <p:sp>
        <p:nvSpPr>
          <p:cNvPr id="5" name="Text 3"/>
          <p:cNvSpPr/>
          <p:nvPr/>
        </p:nvSpPr>
        <p:spPr>
          <a:xfrm>
            <a:off x="4206240" y="2286000"/>
            <a:ext cx="7162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56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أول برنامج: الوميض</a:t>
            </a:r>
            <a:endParaRPr lang="ar-SA" sz="5600" dirty="0"/>
          </a:p>
        </p:txBody>
      </p:sp>
      <p:sp>
        <p:nvSpPr>
          <p:cNvPr id="6" name="Text 4"/>
          <p:cNvSpPr/>
          <p:nvPr/>
        </p:nvSpPr>
        <p:spPr>
          <a:xfrm>
            <a:off x="4206240" y="3749040"/>
            <a:ext cx="7162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الليد الأزرق المدمج… ثم ليد على GPIO23</a:t>
            </a:r>
            <a:endParaRPr lang="ar-SA" sz="2200" dirty="0"/>
          </a:p>
        </p:txBody>
      </p:sp>
      <p:sp>
        <p:nvSpPr>
          <p:cNvPr id="7" name="Text 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أول برنامج: الوميض  ·  ٨٢</a:t>
            </a:r>
            <a:endParaRPr lang="ar-SA" sz="12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095" y="45720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6248095" y="457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 بنهاية هذا المحور تستطيع أن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أهداف المحور</a:t>
            </a:r>
            <a:endParaRPr lang="ar-SA" sz="3800" dirty="0"/>
          </a:p>
        </p:txBody>
      </p:sp>
      <p:sp>
        <p:nvSpPr>
          <p:cNvPr id="5" name="anim-g1-556"/>
          <p:cNvSpPr/>
          <p:nvPr/>
        </p:nvSpPr>
        <p:spPr>
          <a:xfrm>
            <a:off x="822960" y="1920240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557"/>
          <p:cNvSpPr/>
          <p:nvPr/>
        </p:nvSpPr>
        <p:spPr>
          <a:xfrm>
            <a:off x="10573207" y="2109978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558"/>
          <p:cNvSpPr/>
          <p:nvPr/>
        </p:nvSpPr>
        <p:spPr>
          <a:xfrm>
            <a:off x="10573207" y="210997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559"/>
          <p:cNvSpPr/>
          <p:nvPr/>
        </p:nvSpPr>
        <p:spPr>
          <a:xfrm>
            <a:off x="1097280" y="1920240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تكتب setup وloop وتفهم كل سطر</a:t>
            </a:r>
            <a:endParaRPr lang="ar-SA" sz="2400" dirty="0"/>
          </a:p>
        </p:txBody>
      </p:sp>
      <p:sp>
        <p:nvSpPr>
          <p:cNvPr id="9" name="anim-g2-560"/>
          <p:cNvSpPr/>
          <p:nvPr/>
        </p:nvSpPr>
        <p:spPr>
          <a:xfrm>
            <a:off x="822960" y="2976372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561"/>
          <p:cNvSpPr/>
          <p:nvPr/>
        </p:nvSpPr>
        <p:spPr>
          <a:xfrm>
            <a:off x="10573207" y="3166110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562"/>
          <p:cNvSpPr/>
          <p:nvPr/>
        </p:nvSpPr>
        <p:spPr>
          <a:xfrm>
            <a:off x="10573207" y="316611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563"/>
          <p:cNvSpPr/>
          <p:nvPr/>
        </p:nvSpPr>
        <p:spPr>
          <a:xfrm>
            <a:off x="1097280" y="2976372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تجعل الليد المدمج يومض بلا أي توصيل</a:t>
            </a:r>
            <a:endParaRPr lang="ar-SA" sz="2400" dirty="0"/>
          </a:p>
        </p:txBody>
      </p:sp>
      <p:sp>
        <p:nvSpPr>
          <p:cNvPr id="13" name="anim-g3-564"/>
          <p:cNvSpPr/>
          <p:nvPr/>
        </p:nvSpPr>
        <p:spPr>
          <a:xfrm>
            <a:off x="822960" y="4032504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565"/>
          <p:cNvSpPr/>
          <p:nvPr/>
        </p:nvSpPr>
        <p:spPr>
          <a:xfrm>
            <a:off x="10573207" y="4222242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566"/>
          <p:cNvSpPr/>
          <p:nvPr/>
        </p:nvSpPr>
        <p:spPr>
          <a:xfrm>
            <a:off x="10573207" y="422224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567"/>
          <p:cNvSpPr/>
          <p:nvPr/>
        </p:nvSpPr>
        <p:spPr>
          <a:xfrm>
            <a:off x="1097280" y="4032504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تنقل الوميض إلى ليد خارجي على طرف آمن</a:t>
            </a:r>
            <a:endParaRPr lang="ar-SA" sz="2400" dirty="0"/>
          </a:p>
        </p:txBody>
      </p:sp>
      <p:sp>
        <p:nvSpPr>
          <p:cNvPr id="17" name="anim-g4-568"/>
          <p:cNvSpPr/>
          <p:nvPr/>
        </p:nvSpPr>
        <p:spPr>
          <a:xfrm>
            <a:off x="822960" y="5088636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569"/>
          <p:cNvSpPr/>
          <p:nvPr/>
        </p:nvSpPr>
        <p:spPr>
          <a:xfrm>
            <a:off x="10573207" y="5278374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570"/>
          <p:cNvSpPr/>
          <p:nvPr/>
        </p:nvSpPr>
        <p:spPr>
          <a:xfrm>
            <a:off x="10573207" y="527837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571"/>
          <p:cNvSpPr/>
          <p:nvPr/>
        </p:nvSpPr>
        <p:spPr>
          <a:xfrm>
            <a:off x="1097280" y="5088636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تكتشف أخطاء الطرف الخطأ</a:t>
            </a:r>
            <a:endParaRPr lang="ar-SA" sz="2400" dirty="0"/>
          </a:p>
        </p:txBody>
      </p:sp>
      <p:sp>
        <p:nvSpPr>
          <p:cNvPr id="21" name="Text 1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أول برنامج: الوميض  ·  ٨٣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8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8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86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572" descr="C:\Users\user\projects\younes-training\esp32\.pptx-cache\s86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573" descr="C:\Users\user\projects\younes-training\esp32\.pptx-cache\s86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574" descr="C:\Users\user\projects\younes-training\esp32\.pptx-cache\s86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575" descr="C:\Users\user\projects\younes-training\esp32\.pptx-cache\s86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8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88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576" descr="C:\Users\user\projects\younes-training\esp32\.pptx-cache\s88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577" descr="C:\Users\user\projects\younes-training\esp32\.pptx-cache\s88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578" descr="C:\Users\user\projects\younes-training\esp32\.pptx-cache\s88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579" descr="C:\Users\user\projects\younes-training\esp32\.pptx-cache\s88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89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580" descr="C:\Users\user\projects\younes-training\esp32\.pptx-cache\s89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581" descr="C:\Users\user\projects\younes-training\esp32\.pptx-cache\s89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582" descr="C:\Users\user\projects\younes-training\esp32\.pptx-cache\s89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583" descr="C:\Users\user\projects\younes-training\esp32\.pptx-cache\s89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74175" y="45720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9174175" y="457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خطوة بخطوة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ابنِ مشروع الوميض</a:t>
            </a:r>
            <a:endParaRPr lang="ar-SA" sz="3800" dirty="0"/>
          </a:p>
        </p:txBody>
      </p:sp>
      <p:sp>
        <p:nvSpPr>
          <p:cNvPr id="5" name="anim-g1-584"/>
          <p:cNvSpPr/>
          <p:nvPr/>
        </p:nvSpPr>
        <p:spPr>
          <a:xfrm>
            <a:off x="822960" y="1920240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585"/>
          <p:cNvSpPr/>
          <p:nvPr/>
        </p:nvSpPr>
        <p:spPr>
          <a:xfrm>
            <a:off x="10573207" y="2109978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586"/>
          <p:cNvSpPr/>
          <p:nvPr/>
        </p:nvSpPr>
        <p:spPr>
          <a:xfrm>
            <a:off x="10573207" y="210997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587"/>
          <p:cNvSpPr/>
          <p:nvPr/>
        </p:nvSpPr>
        <p:spPr>
          <a:xfrm>
            <a:off x="1097280" y="1920240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جرّب في Wokwi أولًا</a:t>
            </a:r>
            <a:endParaRPr lang="ar-SA" sz="2400" dirty="0"/>
          </a:p>
          <a:p>
            <a:pPr algn="r" indent="0" marL="0">
              <a:buNone/>
            </a:pPr>
            <a:r>
              <a:rPr lang="ar-SA" altLang="en-US" sz="20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ESP32 + ليد + مقاومة، والصق الكود</a:t>
            </a:r>
            <a:endParaRPr lang="ar-SA" sz="2400" dirty="0"/>
          </a:p>
        </p:txBody>
      </p:sp>
      <p:sp>
        <p:nvSpPr>
          <p:cNvPr id="9" name="anim-g2-588"/>
          <p:cNvSpPr/>
          <p:nvPr/>
        </p:nvSpPr>
        <p:spPr>
          <a:xfrm>
            <a:off x="822960" y="2976372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589"/>
          <p:cNvSpPr/>
          <p:nvPr/>
        </p:nvSpPr>
        <p:spPr>
          <a:xfrm>
            <a:off x="10573207" y="3166110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590"/>
          <p:cNvSpPr/>
          <p:nvPr/>
        </p:nvSpPr>
        <p:spPr>
          <a:xfrm>
            <a:off x="10573207" y="316611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591"/>
          <p:cNvSpPr/>
          <p:nvPr/>
        </p:nvSpPr>
        <p:spPr>
          <a:xfrm>
            <a:off x="1097280" y="2976372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ركّب على الطاولة</a:t>
            </a:r>
            <a:endParaRPr lang="ar-SA" sz="2400" dirty="0"/>
          </a:p>
          <a:p>
            <a:pPr algn="r" indent="0" marL="0">
              <a:buNone/>
            </a:pPr>
            <a:r>
              <a:rPr lang="ar-SA" altLang="en-US" sz="20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GPIO23 ← ٢٢٠ أوم ← ليد ← GND</a:t>
            </a:r>
            <a:endParaRPr lang="ar-SA" sz="2400" dirty="0"/>
          </a:p>
        </p:txBody>
      </p:sp>
      <p:sp>
        <p:nvSpPr>
          <p:cNvPr id="13" name="anim-g3-592"/>
          <p:cNvSpPr/>
          <p:nvPr/>
        </p:nvSpPr>
        <p:spPr>
          <a:xfrm>
            <a:off x="822960" y="4032504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593"/>
          <p:cNvSpPr/>
          <p:nvPr/>
        </p:nvSpPr>
        <p:spPr>
          <a:xfrm>
            <a:off x="10573207" y="4222242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594"/>
          <p:cNvSpPr/>
          <p:nvPr/>
        </p:nvSpPr>
        <p:spPr>
          <a:xfrm>
            <a:off x="10573207" y="422224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595"/>
          <p:cNvSpPr/>
          <p:nvPr/>
        </p:nvSpPr>
        <p:spPr>
          <a:xfrm>
            <a:off x="1097280" y="4032504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ارفع</a:t>
            </a:r>
            <a:endParaRPr lang="ar-SA" sz="2400" dirty="0"/>
          </a:p>
          <a:p>
            <a:pPr algn="r" indent="0" marL="0">
              <a:buNone/>
            </a:pPr>
            <a:r>
              <a:rPr lang="ar-SA" altLang="en-US" sz="20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ESP32 Dev Module والمنفذ، وBOOT إن احتجت</a:t>
            </a:r>
            <a:endParaRPr lang="ar-SA" sz="2400" dirty="0"/>
          </a:p>
        </p:txBody>
      </p:sp>
      <p:sp>
        <p:nvSpPr>
          <p:cNvPr id="17" name="anim-g4-596"/>
          <p:cNvSpPr/>
          <p:nvPr/>
        </p:nvSpPr>
        <p:spPr>
          <a:xfrm>
            <a:off x="822960" y="5088636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597"/>
          <p:cNvSpPr/>
          <p:nvPr/>
        </p:nvSpPr>
        <p:spPr>
          <a:xfrm>
            <a:off x="10573207" y="5278374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598"/>
          <p:cNvSpPr/>
          <p:nvPr/>
        </p:nvSpPr>
        <p:spPr>
          <a:xfrm>
            <a:off x="10573207" y="527837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599"/>
          <p:cNvSpPr/>
          <p:nvPr/>
        </p:nvSpPr>
        <p:spPr>
          <a:xfrm>
            <a:off x="1097280" y="5088636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غيّر وجرّب</a:t>
            </a:r>
            <a:endParaRPr lang="ar-SA" sz="2400" dirty="0"/>
          </a:p>
          <a:p>
            <a:pPr algn="r" indent="0" marL="0">
              <a:buNone/>
            </a:pPr>
            <a:r>
              <a:rPr lang="ar-SA" altLang="en-US" sz="20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السرعة، والطرف (من الآمنة فقط)</a:t>
            </a:r>
            <a:endParaRPr lang="ar-SA" sz="2400" dirty="0"/>
          </a:p>
        </p:txBody>
      </p:sp>
      <p:sp>
        <p:nvSpPr>
          <p:cNvPr id="21" name="Text 1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أول برنامج: الوميض  ·  ٩٠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اختبر نفسك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الليد على 34 لا يضيء أبدًا رغم صحة الدائرة. لماذا؟</a:t>
            </a:r>
            <a:endParaRPr lang="ar-SA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31831" y="2194560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101B45"/>
          </a:solidFill>
          <a:ln/>
        </p:spPr>
      </p:sp>
      <p:sp>
        <p:nvSpPr>
          <p:cNvPr id="7" name="Text 5"/>
          <p:cNvSpPr/>
          <p:nvPr/>
        </p:nvSpPr>
        <p:spPr>
          <a:xfrm>
            <a:off x="10231831" y="2194560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8951671" cy="1228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المقاومة كبيرة</a:t>
            </a:r>
            <a:endParaRPr lang="ar-SA" sz="2500" dirty="0"/>
          </a:p>
        </p:txBody>
      </p:sp>
      <p:sp>
        <p:nvSpPr>
          <p:cNvPr id="9" name="anim-g1-600"/>
          <p:cNvSpPr/>
          <p:nvPr/>
        </p:nvSpPr>
        <p:spPr>
          <a:xfrm>
            <a:off x="822960" y="2057400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0" name="anim-g1-601"/>
          <p:cNvSpPr/>
          <p:nvPr/>
        </p:nvSpPr>
        <p:spPr>
          <a:xfrm>
            <a:off x="10231831" y="2194560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A3A9BA"/>
          </a:solidFill>
          <a:ln/>
        </p:spPr>
      </p:sp>
      <p:sp>
        <p:nvSpPr>
          <p:cNvPr id="11" name="anim-g1-602"/>
          <p:cNvSpPr/>
          <p:nvPr/>
        </p:nvSpPr>
        <p:spPr>
          <a:xfrm>
            <a:off x="10231831" y="2194560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400" dirty="0"/>
          </a:p>
        </p:txBody>
      </p:sp>
      <p:sp>
        <p:nvSpPr>
          <p:cNvPr id="12" name="anim-g1-603"/>
          <p:cNvSpPr/>
          <p:nvPr/>
        </p:nvSpPr>
        <p:spPr>
          <a:xfrm>
            <a:off x="1097280" y="2093976"/>
            <a:ext cx="8951671" cy="61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المقاومة كبيرة</a:t>
            </a:r>
            <a:endParaRPr lang="ar-SA" sz="2400" dirty="0"/>
          </a:p>
        </p:txBody>
      </p:sp>
      <p:sp>
        <p:nvSpPr>
          <p:cNvPr id="13" name="anim-g1-604"/>
          <p:cNvSpPr/>
          <p:nvPr/>
        </p:nvSpPr>
        <p:spPr>
          <a:xfrm>
            <a:off x="1097280" y="2720706"/>
            <a:ext cx="8951671" cy="51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لو كانت كبيرة لأضاء خافتًا</a:t>
            </a:r>
            <a:endParaRPr lang="ar-SA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432048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31831" y="3569208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101B45"/>
          </a:solidFill>
          <a:ln/>
        </p:spPr>
      </p:sp>
      <p:sp>
        <p:nvSpPr>
          <p:cNvPr id="16" name="Text 14"/>
          <p:cNvSpPr/>
          <p:nvPr/>
        </p:nvSpPr>
        <p:spPr>
          <a:xfrm>
            <a:off x="10231831" y="3569208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400" dirty="0"/>
          </a:p>
        </p:txBody>
      </p:sp>
      <p:sp>
        <p:nvSpPr>
          <p:cNvPr id="17" name="Text 15"/>
          <p:cNvSpPr/>
          <p:nvPr/>
        </p:nvSpPr>
        <p:spPr>
          <a:xfrm>
            <a:off x="1097280" y="3432048"/>
            <a:ext cx="8951671" cy="1228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34 مدخل فقط ولا يُخرج جهدًا</a:t>
            </a:r>
            <a:endParaRPr lang="ar-SA" sz="2500" dirty="0"/>
          </a:p>
        </p:txBody>
      </p:sp>
      <p:sp>
        <p:nvSpPr>
          <p:cNvPr id="18" name="anim-g1-605"/>
          <p:cNvSpPr/>
          <p:nvPr/>
        </p:nvSpPr>
        <p:spPr>
          <a:xfrm>
            <a:off x="822960" y="3432048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E6F4EC"/>
          </a:solidFill>
          <a:ln w="31750">
            <a:solidFill>
              <a:srgbClr val="2E9E6B"/>
            </a:solidFill>
            <a:prstDash val="solid"/>
          </a:ln>
        </p:spPr>
      </p:sp>
      <p:sp>
        <p:nvSpPr>
          <p:cNvPr id="19" name="anim-g1-606"/>
          <p:cNvSpPr/>
          <p:nvPr/>
        </p:nvSpPr>
        <p:spPr>
          <a:xfrm>
            <a:off x="10231831" y="3569208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2E9E6B"/>
          </a:solidFill>
          <a:ln/>
        </p:spPr>
      </p:sp>
      <p:sp>
        <p:nvSpPr>
          <p:cNvPr id="20" name="anim-g1-607"/>
          <p:cNvSpPr/>
          <p:nvPr/>
        </p:nvSpPr>
        <p:spPr>
          <a:xfrm>
            <a:off x="10231831" y="3569208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✓</a:t>
            </a:r>
            <a:endParaRPr lang="ar-SA" sz="2400" dirty="0"/>
          </a:p>
        </p:txBody>
      </p:sp>
      <p:sp>
        <p:nvSpPr>
          <p:cNvPr id="21" name="anim-g1-608"/>
          <p:cNvSpPr/>
          <p:nvPr/>
        </p:nvSpPr>
        <p:spPr>
          <a:xfrm>
            <a:off x="1097280" y="3468624"/>
            <a:ext cx="8951671" cy="61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34 مدخل فقط ولا يُخرج جهدًا</a:t>
            </a:r>
            <a:endParaRPr lang="ar-SA" sz="2400" dirty="0"/>
          </a:p>
        </p:txBody>
      </p:sp>
      <p:sp>
        <p:nvSpPr>
          <p:cNvPr id="22" name="anim-g1-609"/>
          <p:cNvSpPr/>
          <p:nvPr/>
        </p:nvSpPr>
        <p:spPr>
          <a:xfrm>
            <a:off x="1097280" y="4095354"/>
            <a:ext cx="8951671" cy="51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صحيح: انقله إلى 23 أو أي طرف آمن</a:t>
            </a:r>
            <a:endParaRPr lang="ar-SA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4806696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31831" y="4943856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101B45"/>
          </a:solidFill>
          <a:ln/>
        </p:spPr>
      </p:sp>
      <p:sp>
        <p:nvSpPr>
          <p:cNvPr id="25" name="Text 23"/>
          <p:cNvSpPr/>
          <p:nvPr/>
        </p:nvSpPr>
        <p:spPr>
          <a:xfrm>
            <a:off x="10231831" y="4943856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400" dirty="0"/>
          </a:p>
        </p:txBody>
      </p:sp>
      <p:sp>
        <p:nvSpPr>
          <p:cNvPr id="26" name="Text 24"/>
          <p:cNvSpPr/>
          <p:nvPr/>
        </p:nvSpPr>
        <p:spPr>
          <a:xfrm>
            <a:off x="1097280" y="4806696"/>
            <a:ext cx="8951671" cy="1228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delay قصيرة</a:t>
            </a:r>
            <a:endParaRPr lang="ar-SA" sz="2500" dirty="0"/>
          </a:p>
        </p:txBody>
      </p:sp>
      <p:sp>
        <p:nvSpPr>
          <p:cNvPr id="27" name="anim-g1-610"/>
          <p:cNvSpPr/>
          <p:nvPr/>
        </p:nvSpPr>
        <p:spPr>
          <a:xfrm>
            <a:off x="822960" y="4806696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8" name="anim-g1-611"/>
          <p:cNvSpPr/>
          <p:nvPr/>
        </p:nvSpPr>
        <p:spPr>
          <a:xfrm>
            <a:off x="10231831" y="4943856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A3A9BA"/>
          </a:solidFill>
          <a:ln/>
        </p:spPr>
      </p:sp>
      <p:sp>
        <p:nvSpPr>
          <p:cNvPr id="29" name="anim-g1-612"/>
          <p:cNvSpPr/>
          <p:nvPr/>
        </p:nvSpPr>
        <p:spPr>
          <a:xfrm>
            <a:off x="10231831" y="4943856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400" dirty="0"/>
          </a:p>
        </p:txBody>
      </p:sp>
      <p:sp>
        <p:nvSpPr>
          <p:cNvPr id="30" name="anim-g1-613"/>
          <p:cNvSpPr/>
          <p:nvPr/>
        </p:nvSpPr>
        <p:spPr>
          <a:xfrm>
            <a:off x="1097280" y="4843272"/>
            <a:ext cx="8951671" cy="61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delay قصيرة</a:t>
            </a:r>
            <a:endParaRPr lang="ar-SA" sz="2400" dirty="0"/>
          </a:p>
        </p:txBody>
      </p:sp>
      <p:sp>
        <p:nvSpPr>
          <p:cNvPr id="31" name="anim-g1-614"/>
          <p:cNvSpPr/>
          <p:nvPr/>
        </p:nvSpPr>
        <p:spPr>
          <a:xfrm>
            <a:off x="1097280" y="5470002"/>
            <a:ext cx="8951671" cy="51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علاقة لها</a:t>
            </a:r>
            <a:endParaRPr lang="ar-SA" sz="1800" dirty="0"/>
          </a:p>
        </p:txBody>
      </p:sp>
      <p:sp>
        <p:nvSpPr>
          <p:cNvPr id="32" name="Text 30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33" name="Text 31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أول برنامج: الوميض  ·  ٩١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9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9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9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2264" y="118872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52264" y="11887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خلاصة المحور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أربعة أسطر في loop…</a:t>
            </a:r>
            <a:endParaRPr lang="ar-SA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 والليد الأزرق يومض: هذه بداية كل شيء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أول برنامج: الوميض  ·  ٩٥</a:t>
            </a:r>
            <a:endParaRPr lang="ar-SA" sz="12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103120"/>
            <a:ext cx="2651760" cy="2651760"/>
          </a:xfrm>
          <a:prstGeom prst="ellipse">
            <a:avLst/>
          </a:prstGeom>
          <a:solidFill>
            <a:srgbClr val="D9AE4B">
              <a:alpha val="12000"/>
            </a:srgbClr>
          </a:solidFill>
          <a:ln w="635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1031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٨</a:t>
            </a:r>
            <a:endParaRPr lang="ar-SA" sz="12000" dirty="0"/>
          </a:p>
        </p:txBody>
      </p:sp>
      <p:sp>
        <p:nvSpPr>
          <p:cNvPr id="4" name="Text 2"/>
          <p:cNvSpPr/>
          <p:nvPr/>
        </p:nvSpPr>
        <p:spPr>
          <a:xfrm>
            <a:off x="4206240" y="1828800"/>
            <a:ext cx="7162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٨</a:t>
            </a:r>
            <a:endParaRPr lang="ar-SA" sz="2000" dirty="0"/>
          </a:p>
        </p:txBody>
      </p:sp>
      <p:sp>
        <p:nvSpPr>
          <p:cNvPr id="5" name="Text 3"/>
          <p:cNvSpPr/>
          <p:nvPr/>
        </p:nvSpPr>
        <p:spPr>
          <a:xfrm>
            <a:off x="4206240" y="2286000"/>
            <a:ext cx="7162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56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إشارة المرور والمتغيرات</a:t>
            </a:r>
            <a:endParaRPr lang="ar-SA" sz="5600" dirty="0"/>
          </a:p>
        </p:txBody>
      </p:sp>
      <p:sp>
        <p:nvSpPr>
          <p:cNvPr id="6" name="Text 4"/>
          <p:cNvSpPr/>
          <p:nvPr/>
        </p:nvSpPr>
        <p:spPr>
          <a:xfrm>
            <a:off x="4206240" y="3749040"/>
            <a:ext cx="7162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ثلاثة أطراف آمنة: 25 و26 و27</a:t>
            </a:r>
            <a:endParaRPr lang="ar-SA" sz="2200" dirty="0"/>
          </a:p>
        </p:txBody>
      </p:sp>
      <p:sp>
        <p:nvSpPr>
          <p:cNvPr id="7" name="Text 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إشارة المرور والمتغيرات  ·  ٩٦</a:t>
            </a:r>
            <a:endParaRPr lang="ar-SA" sz="12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095" y="45720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6248095" y="457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 بنهاية هذا المحور تستطيع أن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أهداف المحور</a:t>
            </a:r>
            <a:endParaRPr lang="ar-SA" sz="3800" dirty="0"/>
          </a:p>
        </p:txBody>
      </p:sp>
      <p:sp>
        <p:nvSpPr>
          <p:cNvPr id="5" name="anim-g1-615"/>
          <p:cNvSpPr/>
          <p:nvPr/>
        </p:nvSpPr>
        <p:spPr>
          <a:xfrm>
            <a:off x="822960" y="1920240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616"/>
          <p:cNvSpPr/>
          <p:nvPr/>
        </p:nvSpPr>
        <p:spPr>
          <a:xfrm>
            <a:off x="10573207" y="2109978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617"/>
          <p:cNvSpPr/>
          <p:nvPr/>
        </p:nvSpPr>
        <p:spPr>
          <a:xfrm>
            <a:off x="10573207" y="210997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618"/>
          <p:cNvSpPr/>
          <p:nvPr/>
        </p:nvSpPr>
        <p:spPr>
          <a:xfrm>
            <a:off x="1097280" y="1920240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تتحكم بثلاثة ليدات في تسلسل</a:t>
            </a:r>
            <a:endParaRPr lang="ar-SA" sz="2400" dirty="0"/>
          </a:p>
        </p:txBody>
      </p:sp>
      <p:sp>
        <p:nvSpPr>
          <p:cNvPr id="9" name="anim-g2-619"/>
          <p:cNvSpPr/>
          <p:nvPr/>
        </p:nvSpPr>
        <p:spPr>
          <a:xfrm>
            <a:off x="822960" y="2976372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620"/>
          <p:cNvSpPr/>
          <p:nvPr/>
        </p:nvSpPr>
        <p:spPr>
          <a:xfrm>
            <a:off x="10573207" y="3166110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621"/>
          <p:cNvSpPr/>
          <p:nvPr/>
        </p:nvSpPr>
        <p:spPr>
          <a:xfrm>
            <a:off x="10573207" y="316611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622"/>
          <p:cNvSpPr/>
          <p:nvPr/>
        </p:nvSpPr>
        <p:spPr>
          <a:xfrm>
            <a:off x="1097280" y="2976372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تستعمل المتغيرات بأسماء واضحة</a:t>
            </a:r>
            <a:endParaRPr lang="ar-SA" sz="2400" dirty="0"/>
          </a:p>
        </p:txBody>
      </p:sp>
      <p:sp>
        <p:nvSpPr>
          <p:cNvPr id="13" name="anim-g3-623"/>
          <p:cNvSpPr/>
          <p:nvPr/>
        </p:nvSpPr>
        <p:spPr>
          <a:xfrm>
            <a:off x="822960" y="4032504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624"/>
          <p:cNvSpPr/>
          <p:nvPr/>
        </p:nvSpPr>
        <p:spPr>
          <a:xfrm>
            <a:off x="10573207" y="4222242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625"/>
          <p:cNvSpPr/>
          <p:nvPr/>
        </p:nvSpPr>
        <p:spPr>
          <a:xfrm>
            <a:off x="10573207" y="422224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626"/>
          <p:cNvSpPr/>
          <p:nvPr/>
        </p:nvSpPr>
        <p:spPr>
          <a:xfrm>
            <a:off x="1097280" y="4032504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تكرر الأوامر بحلقة for</a:t>
            </a:r>
            <a:endParaRPr lang="ar-SA" sz="2400" dirty="0"/>
          </a:p>
        </p:txBody>
      </p:sp>
      <p:sp>
        <p:nvSpPr>
          <p:cNvPr id="17" name="anim-g4-627"/>
          <p:cNvSpPr/>
          <p:nvPr/>
        </p:nvSpPr>
        <p:spPr>
          <a:xfrm>
            <a:off x="822960" y="5088636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628"/>
          <p:cNvSpPr/>
          <p:nvPr/>
        </p:nvSpPr>
        <p:spPr>
          <a:xfrm>
            <a:off x="10573207" y="5278374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629"/>
          <p:cNvSpPr/>
          <p:nvPr/>
        </p:nvSpPr>
        <p:spPr>
          <a:xfrm>
            <a:off x="10573207" y="527837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630"/>
          <p:cNvSpPr/>
          <p:nvPr/>
        </p:nvSpPr>
        <p:spPr>
          <a:xfrm>
            <a:off x="1097280" y="5088636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تطبع على الشاشة التسلسلية بسرعة 115200</a:t>
            </a:r>
            <a:endParaRPr lang="ar-SA" sz="2400" dirty="0"/>
          </a:p>
        </p:txBody>
      </p:sp>
      <p:sp>
        <p:nvSpPr>
          <p:cNvPr id="21" name="Text 1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إشارة المرور والمتغيرات  ·  ٩٧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45720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9905695" y="457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القطع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ماذا نحتاج لإشارة المرور؟</a:t>
            </a:r>
            <a:endParaRPr lang="ar-SA" sz="3800" dirty="0"/>
          </a:p>
        </p:txBody>
      </p:sp>
      <p:sp>
        <p:nvSpPr>
          <p:cNvPr id="5" name="anim-g1-631"/>
          <p:cNvSpPr/>
          <p:nvPr/>
        </p:nvSpPr>
        <p:spPr>
          <a:xfrm>
            <a:off x="8036357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632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633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🔴🟡🟢</a:t>
            </a:r>
            <a:endParaRPr lang="ar-SA" sz="2200" dirty="0"/>
          </a:p>
        </p:txBody>
      </p:sp>
      <p:sp>
        <p:nvSpPr>
          <p:cNvPr id="8" name="anim-g1-634"/>
          <p:cNvSpPr/>
          <p:nvPr/>
        </p:nvSpPr>
        <p:spPr>
          <a:xfrm>
            <a:off x="8310677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ثلاثة ليدات</a:t>
            </a:r>
            <a:endParaRPr lang="ar-SA" sz="2200" dirty="0"/>
          </a:p>
        </p:txBody>
      </p:sp>
      <p:sp>
        <p:nvSpPr>
          <p:cNvPr id="9" name="anim-g1-635"/>
          <p:cNvSpPr/>
          <p:nvPr/>
        </p:nvSpPr>
        <p:spPr>
          <a:xfrm>
            <a:off x="8310677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أحمر وأصفر وأخضر</a:t>
            </a:r>
            <a:endParaRPr lang="ar-SA" sz="1900" dirty="0"/>
          </a:p>
        </p:txBody>
      </p:sp>
      <p:sp>
        <p:nvSpPr>
          <p:cNvPr id="10" name="anim-g2-636"/>
          <p:cNvSpPr/>
          <p:nvPr/>
        </p:nvSpPr>
        <p:spPr>
          <a:xfrm>
            <a:off x="4429658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637"/>
          <p:cNvSpPr/>
          <p:nvPr/>
        </p:nvSpPr>
        <p:spPr>
          <a:xfrm>
            <a:off x="6920789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638"/>
          <p:cNvSpPr/>
          <p:nvPr/>
        </p:nvSpPr>
        <p:spPr>
          <a:xfrm>
            <a:off x="6920789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🎚️</a:t>
            </a:r>
            <a:endParaRPr lang="ar-SA" sz="2200" dirty="0"/>
          </a:p>
        </p:txBody>
      </p:sp>
      <p:sp>
        <p:nvSpPr>
          <p:cNvPr id="13" name="anim-g2-639"/>
          <p:cNvSpPr/>
          <p:nvPr/>
        </p:nvSpPr>
        <p:spPr>
          <a:xfrm>
            <a:off x="4703978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ثلاث مقاومات</a:t>
            </a:r>
            <a:endParaRPr lang="ar-SA" sz="2200" dirty="0"/>
          </a:p>
        </p:txBody>
      </p:sp>
      <p:sp>
        <p:nvSpPr>
          <p:cNvPr id="14" name="anim-g2-640"/>
          <p:cNvSpPr/>
          <p:nvPr/>
        </p:nvSpPr>
        <p:spPr>
          <a:xfrm>
            <a:off x="4703978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٢٢٠ أوم لكل ليد</a:t>
            </a:r>
            <a:endParaRPr lang="ar-SA" sz="1900" dirty="0"/>
          </a:p>
        </p:txBody>
      </p:sp>
      <p:sp>
        <p:nvSpPr>
          <p:cNvPr id="15" name="anim-g3-641"/>
          <p:cNvSpPr/>
          <p:nvPr/>
        </p:nvSpPr>
        <p:spPr>
          <a:xfrm>
            <a:off x="822960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642"/>
          <p:cNvSpPr/>
          <p:nvPr/>
        </p:nvSpPr>
        <p:spPr>
          <a:xfrm>
            <a:off x="331409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643"/>
          <p:cNvSpPr/>
          <p:nvPr/>
        </p:nvSpPr>
        <p:spPr>
          <a:xfrm>
            <a:off x="331409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🔢</a:t>
            </a:r>
            <a:endParaRPr lang="ar-SA" sz="2200" dirty="0"/>
          </a:p>
        </p:txBody>
      </p:sp>
      <p:sp>
        <p:nvSpPr>
          <p:cNvPr id="18" name="anim-g3-644"/>
          <p:cNvSpPr/>
          <p:nvPr/>
        </p:nvSpPr>
        <p:spPr>
          <a:xfrm>
            <a:off x="1097280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ثلاثة أطراف آمنة</a:t>
            </a:r>
            <a:endParaRPr lang="ar-SA" sz="2200" dirty="0"/>
          </a:p>
        </p:txBody>
      </p:sp>
      <p:sp>
        <p:nvSpPr>
          <p:cNvPr id="19" name="anim-g3-645"/>
          <p:cNvSpPr/>
          <p:nvPr/>
        </p:nvSpPr>
        <p:spPr>
          <a:xfrm>
            <a:off x="1097280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25 و26 و27: متجاورة على اللوحة</a:t>
            </a:r>
            <a:endParaRPr lang="ar-SA" sz="1900" dirty="0"/>
          </a:p>
        </p:txBody>
      </p:sp>
      <p:sp>
        <p:nvSpPr>
          <p:cNvPr id="20" name="Text 18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إشارة المرور والمتغيرات  ·  ٩٨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50047" y="457200"/>
            <a:ext cx="321868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150047" y="457200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التصميم قبل الكود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ماذا يكون كل ليد في كل مرحلة؟</a:t>
            </a:r>
            <a:endParaRPr lang="ar-SA" sz="3800" dirty="0"/>
          </a:p>
        </p:txBody>
      </p:sp>
      <p:sp>
        <p:nvSpPr>
          <p:cNvPr id="5" name="Shape 3"/>
          <p:cNvSpPr/>
          <p:nvPr/>
        </p:nvSpPr>
        <p:spPr>
          <a:xfrm>
            <a:off x="8561273" y="1874520"/>
            <a:ext cx="2807462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6" name="Text 4"/>
          <p:cNvSpPr/>
          <p:nvPr/>
        </p:nvSpPr>
        <p:spPr>
          <a:xfrm>
            <a:off x="8561273" y="1874520"/>
            <a:ext cx="28074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المرحلة</a:t>
            </a:r>
            <a:endParaRPr lang="ar-SA" sz="1900" dirty="0"/>
          </a:p>
        </p:txBody>
      </p:sp>
      <p:sp>
        <p:nvSpPr>
          <p:cNvPr id="7" name="Shape 5"/>
          <p:cNvSpPr/>
          <p:nvPr/>
        </p:nvSpPr>
        <p:spPr>
          <a:xfrm>
            <a:off x="6767068" y="1874520"/>
            <a:ext cx="1684477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8" name="Text 6"/>
          <p:cNvSpPr/>
          <p:nvPr/>
        </p:nvSpPr>
        <p:spPr>
          <a:xfrm>
            <a:off x="6767068" y="1874520"/>
            <a:ext cx="16844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🔴 25</a:t>
            </a:r>
            <a:endParaRPr lang="ar-SA" sz="1900" dirty="0"/>
          </a:p>
        </p:txBody>
      </p:sp>
      <p:sp>
        <p:nvSpPr>
          <p:cNvPr id="9" name="Shape 7"/>
          <p:cNvSpPr/>
          <p:nvPr/>
        </p:nvSpPr>
        <p:spPr>
          <a:xfrm>
            <a:off x="4972863" y="1874520"/>
            <a:ext cx="1684477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10" name="Text 8"/>
          <p:cNvSpPr/>
          <p:nvPr/>
        </p:nvSpPr>
        <p:spPr>
          <a:xfrm>
            <a:off x="4972863" y="1874520"/>
            <a:ext cx="16844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🟡 26</a:t>
            </a:r>
            <a:endParaRPr lang="ar-SA" sz="1900" dirty="0"/>
          </a:p>
        </p:txBody>
      </p:sp>
      <p:sp>
        <p:nvSpPr>
          <p:cNvPr id="11" name="Shape 9"/>
          <p:cNvSpPr/>
          <p:nvPr/>
        </p:nvSpPr>
        <p:spPr>
          <a:xfrm>
            <a:off x="3178658" y="1874520"/>
            <a:ext cx="1684477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12" name="Text 10"/>
          <p:cNvSpPr/>
          <p:nvPr/>
        </p:nvSpPr>
        <p:spPr>
          <a:xfrm>
            <a:off x="3178658" y="1874520"/>
            <a:ext cx="16844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🟢 27</a:t>
            </a:r>
            <a:endParaRPr lang="ar-SA" sz="1900" dirty="0"/>
          </a:p>
        </p:txBody>
      </p:sp>
      <p:sp>
        <p:nvSpPr>
          <p:cNvPr id="13" name="Shape 11"/>
          <p:cNvSpPr/>
          <p:nvPr/>
        </p:nvSpPr>
        <p:spPr>
          <a:xfrm>
            <a:off x="822960" y="1874520"/>
            <a:ext cx="2245970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1874520"/>
            <a:ext cx="22459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المدة</a:t>
            </a:r>
            <a:endParaRPr lang="ar-SA" sz="1900" dirty="0"/>
          </a:p>
        </p:txBody>
      </p:sp>
      <p:sp>
        <p:nvSpPr>
          <p:cNvPr id="15" name="anim-g1-646"/>
          <p:cNvSpPr/>
          <p:nvPr/>
        </p:nvSpPr>
        <p:spPr>
          <a:xfrm>
            <a:off x="8561273" y="2514600"/>
            <a:ext cx="2807462" cy="1100328"/>
          </a:xfrm>
          <a:prstGeom prst="roundRect">
            <a:avLst>
              <a:gd name="adj" fmla="val 9972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6" name="anim-g1-647"/>
          <p:cNvSpPr/>
          <p:nvPr/>
        </p:nvSpPr>
        <p:spPr>
          <a:xfrm>
            <a:off x="8698433" y="2514600"/>
            <a:ext cx="2533142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انطلاق</a:t>
            </a:r>
            <a:endParaRPr lang="ar-SA" sz="2100" dirty="0"/>
          </a:p>
        </p:txBody>
      </p:sp>
      <p:sp>
        <p:nvSpPr>
          <p:cNvPr id="17" name="anim-g1-648"/>
          <p:cNvSpPr/>
          <p:nvPr/>
        </p:nvSpPr>
        <p:spPr>
          <a:xfrm>
            <a:off x="6767068" y="2514600"/>
            <a:ext cx="1684477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1-649"/>
          <p:cNvSpPr/>
          <p:nvPr/>
        </p:nvSpPr>
        <p:spPr>
          <a:xfrm>
            <a:off x="6904228" y="2514600"/>
            <a:ext cx="1410157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—</a:t>
            </a:r>
            <a:endParaRPr lang="ar-SA" sz="2100" dirty="0"/>
          </a:p>
        </p:txBody>
      </p:sp>
      <p:sp>
        <p:nvSpPr>
          <p:cNvPr id="19" name="anim-g1-650"/>
          <p:cNvSpPr/>
          <p:nvPr/>
        </p:nvSpPr>
        <p:spPr>
          <a:xfrm>
            <a:off x="4972863" y="2514600"/>
            <a:ext cx="1684477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0" name="anim-g1-651"/>
          <p:cNvSpPr/>
          <p:nvPr/>
        </p:nvSpPr>
        <p:spPr>
          <a:xfrm>
            <a:off x="5110023" y="2514600"/>
            <a:ext cx="1410157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—</a:t>
            </a:r>
            <a:endParaRPr lang="ar-SA" sz="2100" dirty="0"/>
          </a:p>
        </p:txBody>
      </p:sp>
      <p:sp>
        <p:nvSpPr>
          <p:cNvPr id="21" name="anim-g1-652"/>
          <p:cNvSpPr/>
          <p:nvPr/>
        </p:nvSpPr>
        <p:spPr>
          <a:xfrm>
            <a:off x="3178658" y="2514600"/>
            <a:ext cx="1684477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2" name="anim-g1-653"/>
          <p:cNvSpPr/>
          <p:nvPr/>
        </p:nvSpPr>
        <p:spPr>
          <a:xfrm>
            <a:off x="3315818" y="2514600"/>
            <a:ext cx="1410157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ar-SA" sz="2100" dirty="0"/>
          </a:p>
        </p:txBody>
      </p:sp>
      <p:sp>
        <p:nvSpPr>
          <p:cNvPr id="23" name="anim-g1-654"/>
          <p:cNvSpPr/>
          <p:nvPr/>
        </p:nvSpPr>
        <p:spPr>
          <a:xfrm>
            <a:off x="822960" y="2514600"/>
            <a:ext cx="2245970" cy="1100328"/>
          </a:xfrm>
          <a:prstGeom prst="roundRect">
            <a:avLst>
              <a:gd name="adj" fmla="val 9972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4" name="anim-g1-655"/>
          <p:cNvSpPr/>
          <p:nvPr/>
        </p:nvSpPr>
        <p:spPr>
          <a:xfrm>
            <a:off x="960120" y="2514600"/>
            <a:ext cx="197165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٤ ث</a:t>
            </a:r>
            <a:endParaRPr lang="ar-SA" sz="2100" dirty="0"/>
          </a:p>
        </p:txBody>
      </p:sp>
      <p:sp>
        <p:nvSpPr>
          <p:cNvPr id="25" name="anim-g2-656"/>
          <p:cNvSpPr/>
          <p:nvPr/>
        </p:nvSpPr>
        <p:spPr>
          <a:xfrm>
            <a:off x="8561273" y="3724656"/>
            <a:ext cx="2807462" cy="1100328"/>
          </a:xfrm>
          <a:prstGeom prst="roundRect">
            <a:avLst>
              <a:gd name="adj" fmla="val 9972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26" name="anim-g2-657"/>
          <p:cNvSpPr/>
          <p:nvPr/>
        </p:nvSpPr>
        <p:spPr>
          <a:xfrm>
            <a:off x="8698433" y="3724656"/>
            <a:ext cx="2533142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تمهّل</a:t>
            </a:r>
            <a:endParaRPr lang="ar-SA" sz="2100" dirty="0"/>
          </a:p>
        </p:txBody>
      </p:sp>
      <p:sp>
        <p:nvSpPr>
          <p:cNvPr id="27" name="anim-g2-658"/>
          <p:cNvSpPr/>
          <p:nvPr/>
        </p:nvSpPr>
        <p:spPr>
          <a:xfrm>
            <a:off x="6767068" y="3724656"/>
            <a:ext cx="1684477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8" name="anim-g2-659"/>
          <p:cNvSpPr/>
          <p:nvPr/>
        </p:nvSpPr>
        <p:spPr>
          <a:xfrm>
            <a:off x="6904228" y="3724656"/>
            <a:ext cx="1410157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—</a:t>
            </a:r>
            <a:endParaRPr lang="ar-SA" sz="2100" dirty="0"/>
          </a:p>
        </p:txBody>
      </p:sp>
      <p:sp>
        <p:nvSpPr>
          <p:cNvPr id="29" name="anim-g2-660"/>
          <p:cNvSpPr/>
          <p:nvPr/>
        </p:nvSpPr>
        <p:spPr>
          <a:xfrm>
            <a:off x="4972863" y="3724656"/>
            <a:ext cx="1684477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0" name="anim-g2-661"/>
          <p:cNvSpPr/>
          <p:nvPr/>
        </p:nvSpPr>
        <p:spPr>
          <a:xfrm>
            <a:off x="5110023" y="3724656"/>
            <a:ext cx="1410157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ar-SA" sz="2100" dirty="0"/>
          </a:p>
        </p:txBody>
      </p:sp>
      <p:sp>
        <p:nvSpPr>
          <p:cNvPr id="31" name="anim-g2-662"/>
          <p:cNvSpPr/>
          <p:nvPr/>
        </p:nvSpPr>
        <p:spPr>
          <a:xfrm>
            <a:off x="3178658" y="3724656"/>
            <a:ext cx="1684477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2" name="anim-g2-663"/>
          <p:cNvSpPr/>
          <p:nvPr/>
        </p:nvSpPr>
        <p:spPr>
          <a:xfrm>
            <a:off x="3315818" y="3724656"/>
            <a:ext cx="1410157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—</a:t>
            </a:r>
            <a:endParaRPr lang="ar-SA" sz="2100" dirty="0"/>
          </a:p>
        </p:txBody>
      </p:sp>
      <p:sp>
        <p:nvSpPr>
          <p:cNvPr id="33" name="anim-g2-664"/>
          <p:cNvSpPr/>
          <p:nvPr/>
        </p:nvSpPr>
        <p:spPr>
          <a:xfrm>
            <a:off x="822960" y="3724656"/>
            <a:ext cx="2245970" cy="1100328"/>
          </a:xfrm>
          <a:prstGeom prst="roundRect">
            <a:avLst>
              <a:gd name="adj" fmla="val 9972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34" name="anim-g2-665"/>
          <p:cNvSpPr/>
          <p:nvPr/>
        </p:nvSpPr>
        <p:spPr>
          <a:xfrm>
            <a:off x="960120" y="3724656"/>
            <a:ext cx="197165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١٫٥ ث</a:t>
            </a:r>
            <a:endParaRPr lang="ar-SA" sz="2100" dirty="0"/>
          </a:p>
        </p:txBody>
      </p:sp>
      <p:sp>
        <p:nvSpPr>
          <p:cNvPr id="35" name="anim-g3-666"/>
          <p:cNvSpPr/>
          <p:nvPr/>
        </p:nvSpPr>
        <p:spPr>
          <a:xfrm>
            <a:off x="8561273" y="4934712"/>
            <a:ext cx="2807462" cy="1100328"/>
          </a:xfrm>
          <a:prstGeom prst="roundRect">
            <a:avLst>
              <a:gd name="adj" fmla="val 9972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36" name="anim-g3-667"/>
          <p:cNvSpPr/>
          <p:nvPr/>
        </p:nvSpPr>
        <p:spPr>
          <a:xfrm>
            <a:off x="8698433" y="4934712"/>
            <a:ext cx="2533142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قف</a:t>
            </a:r>
            <a:endParaRPr lang="ar-SA" sz="2100" dirty="0"/>
          </a:p>
        </p:txBody>
      </p:sp>
      <p:sp>
        <p:nvSpPr>
          <p:cNvPr id="37" name="anim-g3-668"/>
          <p:cNvSpPr/>
          <p:nvPr/>
        </p:nvSpPr>
        <p:spPr>
          <a:xfrm>
            <a:off x="6767068" y="4934712"/>
            <a:ext cx="1684477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8" name="anim-g3-669"/>
          <p:cNvSpPr/>
          <p:nvPr/>
        </p:nvSpPr>
        <p:spPr>
          <a:xfrm>
            <a:off x="6904228" y="4934712"/>
            <a:ext cx="1410157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ar-SA" sz="2100" dirty="0"/>
          </a:p>
        </p:txBody>
      </p:sp>
      <p:sp>
        <p:nvSpPr>
          <p:cNvPr id="39" name="anim-g3-670"/>
          <p:cNvSpPr/>
          <p:nvPr/>
        </p:nvSpPr>
        <p:spPr>
          <a:xfrm>
            <a:off x="4972863" y="4934712"/>
            <a:ext cx="1684477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40" name="anim-g3-671"/>
          <p:cNvSpPr/>
          <p:nvPr/>
        </p:nvSpPr>
        <p:spPr>
          <a:xfrm>
            <a:off x="5110023" y="4934712"/>
            <a:ext cx="1410157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—</a:t>
            </a:r>
            <a:endParaRPr lang="ar-SA" sz="2100" dirty="0"/>
          </a:p>
        </p:txBody>
      </p:sp>
      <p:sp>
        <p:nvSpPr>
          <p:cNvPr id="41" name="anim-g3-672"/>
          <p:cNvSpPr/>
          <p:nvPr/>
        </p:nvSpPr>
        <p:spPr>
          <a:xfrm>
            <a:off x="3178658" y="4934712"/>
            <a:ext cx="1684477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42" name="anim-g3-673"/>
          <p:cNvSpPr/>
          <p:nvPr/>
        </p:nvSpPr>
        <p:spPr>
          <a:xfrm>
            <a:off x="3315818" y="4934712"/>
            <a:ext cx="1410157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—</a:t>
            </a:r>
            <a:endParaRPr lang="ar-SA" sz="2100" dirty="0"/>
          </a:p>
        </p:txBody>
      </p:sp>
      <p:sp>
        <p:nvSpPr>
          <p:cNvPr id="43" name="anim-g3-674"/>
          <p:cNvSpPr/>
          <p:nvPr/>
        </p:nvSpPr>
        <p:spPr>
          <a:xfrm>
            <a:off x="822960" y="4934712"/>
            <a:ext cx="2245970" cy="1100328"/>
          </a:xfrm>
          <a:prstGeom prst="roundRect">
            <a:avLst>
              <a:gd name="adj" fmla="val 9972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44" name="anim-g3-675"/>
          <p:cNvSpPr/>
          <p:nvPr/>
        </p:nvSpPr>
        <p:spPr>
          <a:xfrm>
            <a:off x="960120" y="4934712"/>
            <a:ext cx="197165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٤ ث</a:t>
            </a:r>
            <a:endParaRPr lang="ar-SA" sz="2100" dirty="0"/>
          </a:p>
        </p:txBody>
      </p:sp>
      <p:sp>
        <p:nvSpPr>
          <p:cNvPr id="45" name="Text 4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46" name="Text 4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إشارة المرور والمتغيرات  ·  ٩٩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100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676" descr="C:\Users\user\projects\younes-training\esp32\.pptx-cache\s100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677" descr="C:\Users\user\projects\younes-training\esp32\.pptx-cache\s100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678" descr="C:\Users\user\projects\younes-training\esp32\.pptx-cache\s100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679" descr="C:\Users\user\projects\younes-training\esp32\.pptx-cache\s100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680" descr="C:\Users\user\projects\younes-training\esp32\.pptx-cache\s100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1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1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05960" y="1188720"/>
            <a:ext cx="2779776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05960" y="118872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الفكرة الكبيرة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الجدول على الورق…</a:t>
            </a:r>
            <a:endParaRPr lang="ar-SA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 يصبح أسطرًا في loop… يصبح ضوءًا على الطاولة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إشارة المرور والمتغيرات  ·  ١٠٣</a:t>
            </a:r>
            <a:endParaRPr lang="ar-SA" sz="12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1720" y="1188720"/>
            <a:ext cx="2048256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1720" y="118872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المتغيرات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المتغير صندوق له اسم: نضع فيه رقمًا…</a:t>
            </a:r>
            <a:endParaRPr lang="ar-SA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 ونناديه باسمه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إشارة المرور والمتغيرات  ·  ١٠٤</a:t>
            </a:r>
            <a:endParaRPr lang="ar-SA" sz="12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1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13087" y="457200"/>
            <a:ext cx="175564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9613087" y="45720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الأنواع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أشهر أنواع المتغيرات</a:t>
            </a:r>
            <a:endParaRPr lang="ar-SA" sz="3800" dirty="0"/>
          </a:p>
        </p:txBody>
      </p:sp>
      <p:sp>
        <p:nvSpPr>
          <p:cNvPr id="5" name="Shape 3"/>
          <p:cNvSpPr/>
          <p:nvPr/>
        </p:nvSpPr>
        <p:spPr>
          <a:xfrm>
            <a:off x="8939013" y="1874520"/>
            <a:ext cx="2429722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6" name="Text 4"/>
          <p:cNvSpPr/>
          <p:nvPr/>
        </p:nvSpPr>
        <p:spPr>
          <a:xfrm>
            <a:off x="8939013" y="1874520"/>
            <a:ext cx="24297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النوع</a:t>
            </a:r>
            <a:endParaRPr lang="ar-SA" sz="1900" dirty="0"/>
          </a:p>
        </p:txBody>
      </p:sp>
      <p:sp>
        <p:nvSpPr>
          <p:cNvPr id="7" name="Shape 5"/>
          <p:cNvSpPr/>
          <p:nvPr/>
        </p:nvSpPr>
        <p:spPr>
          <a:xfrm>
            <a:off x="5184702" y="1874520"/>
            <a:ext cx="3644583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8" name="Text 6"/>
          <p:cNvSpPr/>
          <p:nvPr/>
        </p:nvSpPr>
        <p:spPr>
          <a:xfrm>
            <a:off x="5184702" y="1874520"/>
            <a:ext cx="36445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يحفظ</a:t>
            </a:r>
            <a:endParaRPr lang="ar-SA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4252014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74520"/>
            <a:ext cx="42520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مثال</a:t>
            </a:r>
            <a:endParaRPr lang="ar-SA" sz="1900" dirty="0"/>
          </a:p>
        </p:txBody>
      </p:sp>
      <p:sp>
        <p:nvSpPr>
          <p:cNvPr id="11" name="anim-g1-681"/>
          <p:cNvSpPr/>
          <p:nvPr/>
        </p:nvSpPr>
        <p:spPr>
          <a:xfrm>
            <a:off x="8939013" y="2514600"/>
            <a:ext cx="2429722" cy="797814"/>
          </a:xfrm>
          <a:prstGeom prst="roundRect">
            <a:avLst>
              <a:gd name="adj" fmla="val 137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2" name="anim-g1-682"/>
          <p:cNvSpPr/>
          <p:nvPr/>
        </p:nvSpPr>
        <p:spPr>
          <a:xfrm>
            <a:off x="9076173" y="2514600"/>
            <a:ext cx="2155402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int</a:t>
            </a:r>
            <a:endParaRPr lang="ar-SA" sz="2100" dirty="0"/>
          </a:p>
        </p:txBody>
      </p:sp>
      <p:sp>
        <p:nvSpPr>
          <p:cNvPr id="13" name="anim-g1-683"/>
          <p:cNvSpPr/>
          <p:nvPr/>
        </p:nvSpPr>
        <p:spPr>
          <a:xfrm>
            <a:off x="5184702" y="2514600"/>
            <a:ext cx="3644583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1-684"/>
          <p:cNvSpPr/>
          <p:nvPr/>
        </p:nvSpPr>
        <p:spPr>
          <a:xfrm>
            <a:off x="5321862" y="2514600"/>
            <a:ext cx="3370263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عددًا صحيحًا</a:t>
            </a:r>
            <a:endParaRPr lang="ar-SA" sz="2100" dirty="0"/>
          </a:p>
        </p:txBody>
      </p:sp>
      <p:sp>
        <p:nvSpPr>
          <p:cNvPr id="15" name="anim-g1-685"/>
          <p:cNvSpPr/>
          <p:nvPr/>
        </p:nvSpPr>
        <p:spPr>
          <a:xfrm>
            <a:off x="822960" y="2514600"/>
            <a:ext cx="4252014" cy="797814"/>
          </a:xfrm>
          <a:prstGeom prst="roundRect">
            <a:avLst>
              <a:gd name="adj" fmla="val 137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16" name="anim-g1-686"/>
          <p:cNvSpPr/>
          <p:nvPr/>
        </p:nvSpPr>
        <p:spPr>
          <a:xfrm>
            <a:off x="960120" y="2514600"/>
            <a:ext cx="3977694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int red = 25;</a:t>
            </a:r>
            <a:endParaRPr lang="ar-SA" sz="2100" dirty="0"/>
          </a:p>
        </p:txBody>
      </p:sp>
      <p:sp>
        <p:nvSpPr>
          <p:cNvPr id="17" name="anim-g2-687"/>
          <p:cNvSpPr/>
          <p:nvPr/>
        </p:nvSpPr>
        <p:spPr>
          <a:xfrm>
            <a:off x="8939013" y="3422142"/>
            <a:ext cx="2429722" cy="797814"/>
          </a:xfrm>
          <a:prstGeom prst="roundRect">
            <a:avLst>
              <a:gd name="adj" fmla="val 137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8" name="anim-g2-688"/>
          <p:cNvSpPr/>
          <p:nvPr/>
        </p:nvSpPr>
        <p:spPr>
          <a:xfrm>
            <a:off x="9076173" y="3422142"/>
            <a:ext cx="2155402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float</a:t>
            </a:r>
            <a:endParaRPr lang="ar-SA" sz="2100" dirty="0"/>
          </a:p>
        </p:txBody>
      </p:sp>
      <p:sp>
        <p:nvSpPr>
          <p:cNvPr id="19" name="anim-g2-689"/>
          <p:cNvSpPr/>
          <p:nvPr/>
        </p:nvSpPr>
        <p:spPr>
          <a:xfrm>
            <a:off x="5184702" y="3422142"/>
            <a:ext cx="3644583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0" name="anim-g2-690"/>
          <p:cNvSpPr/>
          <p:nvPr/>
        </p:nvSpPr>
        <p:spPr>
          <a:xfrm>
            <a:off x="5321862" y="3422142"/>
            <a:ext cx="3370263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عددًا بفاصلة</a:t>
            </a:r>
            <a:endParaRPr lang="ar-SA" sz="2100" dirty="0"/>
          </a:p>
        </p:txBody>
      </p:sp>
      <p:sp>
        <p:nvSpPr>
          <p:cNvPr id="21" name="anim-g2-691"/>
          <p:cNvSpPr/>
          <p:nvPr/>
        </p:nvSpPr>
        <p:spPr>
          <a:xfrm>
            <a:off x="822960" y="3422142"/>
            <a:ext cx="4252014" cy="797814"/>
          </a:xfrm>
          <a:prstGeom prst="roundRect">
            <a:avLst>
              <a:gd name="adj" fmla="val 137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2" name="anim-g2-692"/>
          <p:cNvSpPr/>
          <p:nvPr/>
        </p:nvSpPr>
        <p:spPr>
          <a:xfrm>
            <a:off x="960120" y="3422142"/>
            <a:ext cx="3977694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float volt = 3.3;</a:t>
            </a:r>
            <a:endParaRPr lang="ar-SA" sz="2100" dirty="0"/>
          </a:p>
        </p:txBody>
      </p:sp>
      <p:sp>
        <p:nvSpPr>
          <p:cNvPr id="23" name="anim-g3-693"/>
          <p:cNvSpPr/>
          <p:nvPr/>
        </p:nvSpPr>
        <p:spPr>
          <a:xfrm>
            <a:off x="8939013" y="4329684"/>
            <a:ext cx="2429722" cy="797814"/>
          </a:xfrm>
          <a:prstGeom prst="roundRect">
            <a:avLst>
              <a:gd name="adj" fmla="val 137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24" name="anim-g3-694"/>
          <p:cNvSpPr/>
          <p:nvPr/>
        </p:nvSpPr>
        <p:spPr>
          <a:xfrm>
            <a:off x="9076173" y="4329684"/>
            <a:ext cx="2155402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bool</a:t>
            </a:r>
            <a:endParaRPr lang="ar-SA" sz="2100" dirty="0"/>
          </a:p>
        </p:txBody>
      </p:sp>
      <p:sp>
        <p:nvSpPr>
          <p:cNvPr id="25" name="anim-g3-695"/>
          <p:cNvSpPr/>
          <p:nvPr/>
        </p:nvSpPr>
        <p:spPr>
          <a:xfrm>
            <a:off x="5184702" y="4329684"/>
            <a:ext cx="3644583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6" name="anim-g3-696"/>
          <p:cNvSpPr/>
          <p:nvPr/>
        </p:nvSpPr>
        <p:spPr>
          <a:xfrm>
            <a:off x="5321862" y="4329684"/>
            <a:ext cx="3370263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صحيح أو خطأ</a:t>
            </a:r>
            <a:endParaRPr lang="ar-SA" sz="2100" dirty="0"/>
          </a:p>
        </p:txBody>
      </p:sp>
      <p:sp>
        <p:nvSpPr>
          <p:cNvPr id="27" name="anim-g3-697"/>
          <p:cNvSpPr/>
          <p:nvPr/>
        </p:nvSpPr>
        <p:spPr>
          <a:xfrm>
            <a:off x="822960" y="4329684"/>
            <a:ext cx="4252014" cy="797814"/>
          </a:xfrm>
          <a:prstGeom prst="roundRect">
            <a:avLst>
              <a:gd name="adj" fmla="val 137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8" name="anim-g3-698"/>
          <p:cNvSpPr/>
          <p:nvPr/>
        </p:nvSpPr>
        <p:spPr>
          <a:xfrm>
            <a:off x="960120" y="4329684"/>
            <a:ext cx="3977694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bool on = true;</a:t>
            </a:r>
            <a:endParaRPr lang="ar-SA" sz="2100" dirty="0"/>
          </a:p>
        </p:txBody>
      </p:sp>
      <p:sp>
        <p:nvSpPr>
          <p:cNvPr id="29" name="anim-g4-699"/>
          <p:cNvSpPr/>
          <p:nvPr/>
        </p:nvSpPr>
        <p:spPr>
          <a:xfrm>
            <a:off x="8939013" y="5237226"/>
            <a:ext cx="2429722" cy="797814"/>
          </a:xfrm>
          <a:prstGeom prst="roundRect">
            <a:avLst>
              <a:gd name="adj" fmla="val 137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30" name="anim-g4-700"/>
          <p:cNvSpPr/>
          <p:nvPr/>
        </p:nvSpPr>
        <p:spPr>
          <a:xfrm>
            <a:off x="9076173" y="5237226"/>
            <a:ext cx="2155402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String</a:t>
            </a:r>
            <a:endParaRPr lang="ar-SA" sz="2100" dirty="0"/>
          </a:p>
        </p:txBody>
      </p:sp>
      <p:sp>
        <p:nvSpPr>
          <p:cNvPr id="31" name="anim-g4-701"/>
          <p:cNvSpPr/>
          <p:nvPr/>
        </p:nvSpPr>
        <p:spPr>
          <a:xfrm>
            <a:off x="5184702" y="5237226"/>
            <a:ext cx="3644583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2" name="anim-g4-702"/>
          <p:cNvSpPr/>
          <p:nvPr/>
        </p:nvSpPr>
        <p:spPr>
          <a:xfrm>
            <a:off x="5321862" y="5237226"/>
            <a:ext cx="3370263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نصًا</a:t>
            </a:r>
            <a:endParaRPr lang="ar-SA" sz="2100" dirty="0"/>
          </a:p>
        </p:txBody>
      </p:sp>
      <p:sp>
        <p:nvSpPr>
          <p:cNvPr id="33" name="anim-g4-703"/>
          <p:cNvSpPr/>
          <p:nvPr/>
        </p:nvSpPr>
        <p:spPr>
          <a:xfrm>
            <a:off x="822960" y="5237226"/>
            <a:ext cx="4252014" cy="797814"/>
          </a:xfrm>
          <a:prstGeom prst="roundRect">
            <a:avLst>
              <a:gd name="adj" fmla="val 137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34" name="anim-g4-704"/>
          <p:cNvSpPr/>
          <p:nvPr/>
        </p:nvSpPr>
        <p:spPr>
          <a:xfrm>
            <a:off x="960120" y="5237226"/>
            <a:ext cx="3977694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String name = "ESP32";</a:t>
            </a:r>
            <a:endParaRPr lang="ar-SA" sz="2100" dirty="0"/>
          </a:p>
        </p:txBody>
      </p:sp>
      <p:sp>
        <p:nvSpPr>
          <p:cNvPr id="35" name="Text 3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36" name="Text 3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إشارة المرور والمتغيرات  ·  ١٠٦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107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705" descr="C:\Users\user\projects\younes-training\esp32\.pptx-cache\s107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706" descr="C:\Users\user\projects\younes-training\esp32\.pptx-cache\s107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707" descr="C:\Users\user\projects\younes-training\esp32\.pptx-cache\s107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708" descr="C:\Users\user\projects\younes-training\esp32\.pptx-cache\s107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1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1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اختبر نفسك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كم مرة تتكرر هذه الحلقة؟ for (int i = 0; i &lt; 5; i++)</a:t>
            </a:r>
            <a:endParaRPr lang="ar-SA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31831" y="2194560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101B45"/>
          </a:solidFill>
          <a:ln/>
        </p:spPr>
      </p:sp>
      <p:sp>
        <p:nvSpPr>
          <p:cNvPr id="7" name="Text 5"/>
          <p:cNvSpPr/>
          <p:nvPr/>
        </p:nvSpPr>
        <p:spPr>
          <a:xfrm>
            <a:off x="10231831" y="2194560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8951671" cy="1228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٤ مرات</a:t>
            </a:r>
            <a:endParaRPr lang="ar-SA" sz="2500" dirty="0"/>
          </a:p>
        </p:txBody>
      </p:sp>
      <p:sp>
        <p:nvSpPr>
          <p:cNvPr id="9" name="anim-g1-709"/>
          <p:cNvSpPr/>
          <p:nvPr/>
        </p:nvSpPr>
        <p:spPr>
          <a:xfrm>
            <a:off x="822960" y="2057400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0" name="anim-g1-710"/>
          <p:cNvSpPr/>
          <p:nvPr/>
        </p:nvSpPr>
        <p:spPr>
          <a:xfrm>
            <a:off x="10231831" y="2194560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A3A9BA"/>
          </a:solidFill>
          <a:ln/>
        </p:spPr>
      </p:sp>
      <p:sp>
        <p:nvSpPr>
          <p:cNvPr id="11" name="anim-g1-711"/>
          <p:cNvSpPr/>
          <p:nvPr/>
        </p:nvSpPr>
        <p:spPr>
          <a:xfrm>
            <a:off x="10231831" y="2194560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400" dirty="0"/>
          </a:p>
        </p:txBody>
      </p:sp>
      <p:sp>
        <p:nvSpPr>
          <p:cNvPr id="12" name="anim-g1-712"/>
          <p:cNvSpPr/>
          <p:nvPr/>
        </p:nvSpPr>
        <p:spPr>
          <a:xfrm>
            <a:off x="1097280" y="2093976"/>
            <a:ext cx="8951671" cy="61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٤ مرات</a:t>
            </a:r>
            <a:endParaRPr lang="ar-SA" sz="2400" dirty="0"/>
          </a:p>
        </p:txBody>
      </p:sp>
      <p:sp>
        <p:nvSpPr>
          <p:cNvPr id="13" name="anim-g1-713"/>
          <p:cNvSpPr/>
          <p:nvPr/>
        </p:nvSpPr>
        <p:spPr>
          <a:xfrm>
            <a:off x="1097280" y="2720706"/>
            <a:ext cx="8951671" cy="51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 ٠ إلى ٤: خمسة أرقام</a:t>
            </a:r>
            <a:endParaRPr lang="ar-SA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432048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31831" y="3569208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101B45"/>
          </a:solidFill>
          <a:ln/>
        </p:spPr>
      </p:sp>
      <p:sp>
        <p:nvSpPr>
          <p:cNvPr id="16" name="Text 14"/>
          <p:cNvSpPr/>
          <p:nvPr/>
        </p:nvSpPr>
        <p:spPr>
          <a:xfrm>
            <a:off x="10231831" y="3569208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400" dirty="0"/>
          </a:p>
        </p:txBody>
      </p:sp>
      <p:sp>
        <p:nvSpPr>
          <p:cNvPr id="17" name="Text 15"/>
          <p:cNvSpPr/>
          <p:nvPr/>
        </p:nvSpPr>
        <p:spPr>
          <a:xfrm>
            <a:off x="1097280" y="3432048"/>
            <a:ext cx="8951671" cy="1228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٥ مرات</a:t>
            </a:r>
            <a:endParaRPr lang="ar-SA" sz="2500" dirty="0"/>
          </a:p>
        </p:txBody>
      </p:sp>
      <p:sp>
        <p:nvSpPr>
          <p:cNvPr id="18" name="anim-g1-714"/>
          <p:cNvSpPr/>
          <p:nvPr/>
        </p:nvSpPr>
        <p:spPr>
          <a:xfrm>
            <a:off x="822960" y="3432048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E6F4EC"/>
          </a:solidFill>
          <a:ln w="31750">
            <a:solidFill>
              <a:srgbClr val="2E9E6B"/>
            </a:solidFill>
            <a:prstDash val="solid"/>
          </a:ln>
        </p:spPr>
      </p:sp>
      <p:sp>
        <p:nvSpPr>
          <p:cNvPr id="19" name="anim-g1-715"/>
          <p:cNvSpPr/>
          <p:nvPr/>
        </p:nvSpPr>
        <p:spPr>
          <a:xfrm>
            <a:off x="10231831" y="3569208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2E9E6B"/>
          </a:solidFill>
          <a:ln/>
        </p:spPr>
      </p:sp>
      <p:sp>
        <p:nvSpPr>
          <p:cNvPr id="20" name="anim-g1-716"/>
          <p:cNvSpPr/>
          <p:nvPr/>
        </p:nvSpPr>
        <p:spPr>
          <a:xfrm>
            <a:off x="10231831" y="3569208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✓</a:t>
            </a:r>
            <a:endParaRPr lang="ar-SA" sz="2400" dirty="0"/>
          </a:p>
        </p:txBody>
      </p:sp>
      <p:sp>
        <p:nvSpPr>
          <p:cNvPr id="21" name="anim-g1-717"/>
          <p:cNvSpPr/>
          <p:nvPr/>
        </p:nvSpPr>
        <p:spPr>
          <a:xfrm>
            <a:off x="1097280" y="3468624"/>
            <a:ext cx="8951671" cy="61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٥ مرات</a:t>
            </a:r>
            <a:endParaRPr lang="ar-SA" sz="2400" dirty="0"/>
          </a:p>
        </p:txBody>
      </p:sp>
      <p:sp>
        <p:nvSpPr>
          <p:cNvPr id="22" name="anim-g1-718"/>
          <p:cNvSpPr/>
          <p:nvPr/>
        </p:nvSpPr>
        <p:spPr>
          <a:xfrm>
            <a:off x="1097280" y="4095354"/>
            <a:ext cx="8951671" cy="51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صحيح: ٠، ١، ٢، ٣، ٤</a:t>
            </a:r>
            <a:endParaRPr lang="ar-SA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4806696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31831" y="4943856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101B45"/>
          </a:solidFill>
          <a:ln/>
        </p:spPr>
      </p:sp>
      <p:sp>
        <p:nvSpPr>
          <p:cNvPr id="25" name="Text 23"/>
          <p:cNvSpPr/>
          <p:nvPr/>
        </p:nvSpPr>
        <p:spPr>
          <a:xfrm>
            <a:off x="10231831" y="4943856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400" dirty="0"/>
          </a:p>
        </p:txBody>
      </p:sp>
      <p:sp>
        <p:nvSpPr>
          <p:cNvPr id="26" name="Text 24"/>
          <p:cNvSpPr/>
          <p:nvPr/>
        </p:nvSpPr>
        <p:spPr>
          <a:xfrm>
            <a:off x="1097280" y="4806696"/>
            <a:ext cx="8951671" cy="1228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٦ مرات</a:t>
            </a:r>
            <a:endParaRPr lang="ar-SA" sz="2500" dirty="0"/>
          </a:p>
        </p:txBody>
      </p:sp>
      <p:sp>
        <p:nvSpPr>
          <p:cNvPr id="27" name="anim-g1-719"/>
          <p:cNvSpPr/>
          <p:nvPr/>
        </p:nvSpPr>
        <p:spPr>
          <a:xfrm>
            <a:off x="822960" y="4806696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8" name="anim-g1-720"/>
          <p:cNvSpPr/>
          <p:nvPr/>
        </p:nvSpPr>
        <p:spPr>
          <a:xfrm>
            <a:off x="10231831" y="4943856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A3A9BA"/>
          </a:solidFill>
          <a:ln/>
        </p:spPr>
      </p:sp>
      <p:sp>
        <p:nvSpPr>
          <p:cNvPr id="29" name="anim-g1-721"/>
          <p:cNvSpPr/>
          <p:nvPr/>
        </p:nvSpPr>
        <p:spPr>
          <a:xfrm>
            <a:off x="10231831" y="4943856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400" dirty="0"/>
          </a:p>
        </p:txBody>
      </p:sp>
      <p:sp>
        <p:nvSpPr>
          <p:cNvPr id="30" name="anim-g1-722"/>
          <p:cNvSpPr/>
          <p:nvPr/>
        </p:nvSpPr>
        <p:spPr>
          <a:xfrm>
            <a:off x="1097280" y="4843272"/>
            <a:ext cx="8951671" cy="61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٦ مرات</a:t>
            </a:r>
            <a:endParaRPr lang="ar-SA" sz="2400" dirty="0"/>
          </a:p>
        </p:txBody>
      </p:sp>
      <p:sp>
        <p:nvSpPr>
          <p:cNvPr id="31" name="anim-g1-723"/>
          <p:cNvSpPr/>
          <p:nvPr/>
        </p:nvSpPr>
        <p:spPr>
          <a:xfrm>
            <a:off x="1097280" y="5470002"/>
            <a:ext cx="8951671" cy="51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تتوقف عند ٥ دون تنفيذها</a:t>
            </a:r>
            <a:endParaRPr lang="ar-SA" sz="1800" dirty="0"/>
          </a:p>
        </p:txBody>
      </p:sp>
      <p:sp>
        <p:nvSpPr>
          <p:cNvPr id="32" name="Text 30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33" name="Text 31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إشارة المرور والمتغيرات  ·  ١١٠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1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1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2264" y="118872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52264" y="11887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خلاصة المحور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أسماء واضحة، وحلقات توفر الأسطر، وشاشة تخبرنا بما يحدث: هكذا يكتب المحترفون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إشارة المرور والمتغيرات  ·  ١١٣</a:t>
            </a:r>
            <a:endParaRPr lang="ar-SA" sz="12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103120"/>
            <a:ext cx="2651760" cy="2651760"/>
          </a:xfrm>
          <a:prstGeom prst="ellipse">
            <a:avLst/>
          </a:prstGeom>
          <a:solidFill>
            <a:srgbClr val="D9AE4B">
              <a:alpha val="12000"/>
            </a:srgbClr>
          </a:solidFill>
          <a:ln w="635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1031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٩</a:t>
            </a:r>
            <a:endParaRPr lang="ar-SA" sz="12000" dirty="0"/>
          </a:p>
        </p:txBody>
      </p:sp>
      <p:sp>
        <p:nvSpPr>
          <p:cNvPr id="4" name="Text 2"/>
          <p:cNvSpPr/>
          <p:nvPr/>
        </p:nvSpPr>
        <p:spPr>
          <a:xfrm>
            <a:off x="4206240" y="1828800"/>
            <a:ext cx="7162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٩</a:t>
            </a:r>
            <a:endParaRPr lang="ar-SA" sz="2000" dirty="0"/>
          </a:p>
        </p:txBody>
      </p:sp>
      <p:sp>
        <p:nvSpPr>
          <p:cNvPr id="5" name="Text 3"/>
          <p:cNvSpPr/>
          <p:nvPr/>
        </p:nvSpPr>
        <p:spPr>
          <a:xfrm>
            <a:off x="4206240" y="2286000"/>
            <a:ext cx="7162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56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PWM والإضاءة الملونة</a:t>
            </a:r>
            <a:endParaRPr lang="ar-SA" sz="5600" dirty="0"/>
          </a:p>
        </p:txBody>
      </p:sp>
      <p:sp>
        <p:nvSpPr>
          <p:cNvPr id="6" name="Text 4"/>
          <p:cNvSpPr/>
          <p:nvPr/>
        </p:nvSpPr>
        <p:spPr>
          <a:xfrm>
            <a:off x="4206240" y="3749040"/>
            <a:ext cx="7162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في ESP32: كل طرف آمن يدعم PWM… وأنت تختار التردد والدقة</a:t>
            </a:r>
            <a:endParaRPr lang="ar-SA" sz="2200" dirty="0"/>
          </a:p>
        </p:txBody>
      </p:sp>
      <p:sp>
        <p:nvSpPr>
          <p:cNvPr id="7" name="Text 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PWM والألوان  ·  ١١٤</a:t>
            </a:r>
            <a:endParaRPr lang="ar-SA" sz="12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095" y="45720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6248095" y="457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 بنهاية هذا المحور تستطيع أن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أهداف المحور</a:t>
            </a:r>
            <a:endParaRPr lang="ar-SA" sz="3800" dirty="0"/>
          </a:p>
        </p:txBody>
      </p:sp>
      <p:sp>
        <p:nvSpPr>
          <p:cNvPr id="5" name="anim-g1-724"/>
          <p:cNvSpPr/>
          <p:nvPr/>
        </p:nvSpPr>
        <p:spPr>
          <a:xfrm>
            <a:off x="822960" y="1920240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725"/>
          <p:cNvSpPr/>
          <p:nvPr/>
        </p:nvSpPr>
        <p:spPr>
          <a:xfrm>
            <a:off x="10573207" y="2109978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726"/>
          <p:cNvSpPr/>
          <p:nvPr/>
        </p:nvSpPr>
        <p:spPr>
          <a:xfrm>
            <a:off x="10573207" y="210997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727"/>
          <p:cNvSpPr/>
          <p:nvPr/>
        </p:nvSpPr>
        <p:spPr>
          <a:xfrm>
            <a:off x="1097280" y="1920240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تشرح كيف يصنع PWM درجات من الضوء</a:t>
            </a:r>
            <a:endParaRPr lang="ar-SA" sz="2400" dirty="0"/>
          </a:p>
        </p:txBody>
      </p:sp>
      <p:sp>
        <p:nvSpPr>
          <p:cNvPr id="9" name="anim-g2-728"/>
          <p:cNvSpPr/>
          <p:nvPr/>
        </p:nvSpPr>
        <p:spPr>
          <a:xfrm>
            <a:off x="822960" y="2976372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729"/>
          <p:cNvSpPr/>
          <p:nvPr/>
        </p:nvSpPr>
        <p:spPr>
          <a:xfrm>
            <a:off x="10573207" y="3166110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730"/>
          <p:cNvSpPr/>
          <p:nvPr/>
        </p:nvSpPr>
        <p:spPr>
          <a:xfrm>
            <a:off x="10573207" y="316611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731"/>
          <p:cNvSpPr/>
          <p:nvPr/>
        </p:nvSpPr>
        <p:spPr>
          <a:xfrm>
            <a:off x="1097280" y="2976372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تستعمل analogWrite وledcAttach وledcWrite</a:t>
            </a:r>
            <a:endParaRPr lang="ar-SA" sz="2400" dirty="0"/>
          </a:p>
        </p:txBody>
      </p:sp>
      <p:sp>
        <p:nvSpPr>
          <p:cNvPr id="13" name="anim-g3-732"/>
          <p:cNvSpPr/>
          <p:nvPr/>
        </p:nvSpPr>
        <p:spPr>
          <a:xfrm>
            <a:off x="822960" y="4032504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733"/>
          <p:cNvSpPr/>
          <p:nvPr/>
        </p:nvSpPr>
        <p:spPr>
          <a:xfrm>
            <a:off x="10573207" y="4222242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734"/>
          <p:cNvSpPr/>
          <p:nvPr/>
        </p:nvSpPr>
        <p:spPr>
          <a:xfrm>
            <a:off x="10573207" y="422224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735"/>
          <p:cNvSpPr/>
          <p:nvPr/>
        </p:nvSpPr>
        <p:spPr>
          <a:xfrm>
            <a:off x="1097280" y="4032504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تختار التردد والدقة المناسبين</a:t>
            </a:r>
            <a:endParaRPr lang="ar-SA" sz="2400" dirty="0"/>
          </a:p>
        </p:txBody>
      </p:sp>
      <p:sp>
        <p:nvSpPr>
          <p:cNvPr id="17" name="anim-g4-736"/>
          <p:cNvSpPr/>
          <p:nvPr/>
        </p:nvSpPr>
        <p:spPr>
          <a:xfrm>
            <a:off x="822960" y="5088636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737"/>
          <p:cNvSpPr/>
          <p:nvPr/>
        </p:nvSpPr>
        <p:spPr>
          <a:xfrm>
            <a:off x="10573207" y="5278374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738"/>
          <p:cNvSpPr/>
          <p:nvPr/>
        </p:nvSpPr>
        <p:spPr>
          <a:xfrm>
            <a:off x="10573207" y="527837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739"/>
          <p:cNvSpPr/>
          <p:nvPr/>
        </p:nvSpPr>
        <p:spPr>
          <a:xfrm>
            <a:off x="1097280" y="5088636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تمزج الألوان بليد RGB</a:t>
            </a:r>
            <a:endParaRPr lang="ar-SA" sz="2400" dirty="0"/>
          </a:p>
        </p:txBody>
      </p:sp>
      <p:sp>
        <p:nvSpPr>
          <p:cNvPr id="21" name="Text 1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PWM والألوان  ·  ١١٥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37480" y="1188720"/>
            <a:ext cx="1316736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37480" y="118872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السر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الليد لا يعرف «نصف إضاءة»…</a:t>
            </a:r>
            <a:endParaRPr lang="ar-SA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 لكنه يُشعل ويُطفأ آلاف المرات في الثانية فتراه العين خافتًا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PWM والألوان  ·  ١١٦</a:t>
            </a:r>
            <a:endParaRPr lang="ar-SA" sz="12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1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PWM في ESP32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ثلاث حقائق تميّزه عن الأونو</a:t>
            </a:r>
            <a:endParaRPr lang="ar-SA" sz="3800" dirty="0"/>
          </a:p>
        </p:txBody>
      </p:sp>
      <p:sp>
        <p:nvSpPr>
          <p:cNvPr id="5" name="anim-g1-740"/>
          <p:cNvSpPr/>
          <p:nvPr/>
        </p:nvSpPr>
        <p:spPr>
          <a:xfrm>
            <a:off x="8036357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741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742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🔢</a:t>
            </a:r>
            <a:endParaRPr lang="ar-SA" sz="2200" dirty="0"/>
          </a:p>
        </p:txBody>
      </p:sp>
      <p:sp>
        <p:nvSpPr>
          <p:cNvPr id="8" name="anim-g1-743"/>
          <p:cNvSpPr/>
          <p:nvPr/>
        </p:nvSpPr>
        <p:spPr>
          <a:xfrm>
            <a:off x="8310677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كل طرف آمن</a:t>
            </a:r>
            <a:endParaRPr lang="ar-SA" sz="2200" dirty="0"/>
          </a:p>
        </p:txBody>
      </p:sp>
      <p:sp>
        <p:nvSpPr>
          <p:cNvPr id="9" name="anim-g1-744"/>
          <p:cNvSpPr/>
          <p:nvPr/>
        </p:nvSpPr>
        <p:spPr>
          <a:xfrm>
            <a:off x="8310677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قيود بعلامة ~: اختر الطرف الأقرب لدائرتك</a:t>
            </a:r>
            <a:endParaRPr lang="ar-SA" sz="1900" dirty="0"/>
          </a:p>
        </p:txBody>
      </p:sp>
      <p:sp>
        <p:nvSpPr>
          <p:cNvPr id="10" name="anim-g2-745"/>
          <p:cNvSpPr/>
          <p:nvPr/>
        </p:nvSpPr>
        <p:spPr>
          <a:xfrm>
            <a:off x="4429658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746"/>
          <p:cNvSpPr/>
          <p:nvPr/>
        </p:nvSpPr>
        <p:spPr>
          <a:xfrm>
            <a:off x="6920789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747"/>
          <p:cNvSpPr/>
          <p:nvPr/>
        </p:nvSpPr>
        <p:spPr>
          <a:xfrm>
            <a:off x="6920789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〰️</a:t>
            </a:r>
            <a:endParaRPr lang="ar-SA" sz="2200" dirty="0"/>
          </a:p>
        </p:txBody>
      </p:sp>
      <p:sp>
        <p:nvSpPr>
          <p:cNvPr id="13" name="anim-g2-748"/>
          <p:cNvSpPr/>
          <p:nvPr/>
        </p:nvSpPr>
        <p:spPr>
          <a:xfrm>
            <a:off x="4703978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أنت تختار التردد</a:t>
            </a:r>
            <a:endParaRPr lang="ar-SA" sz="2200" dirty="0"/>
          </a:p>
        </p:txBody>
      </p:sp>
      <p:sp>
        <p:nvSpPr>
          <p:cNvPr id="14" name="anim-g2-749"/>
          <p:cNvSpPr/>
          <p:nvPr/>
        </p:nvSpPr>
        <p:spPr>
          <a:xfrm>
            <a:off x="4703978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٥٠٠٠ هرتز لليد، و٥٠ للسيرفو، وآلاف للمحركات</a:t>
            </a:r>
            <a:endParaRPr lang="ar-SA" sz="1900" dirty="0"/>
          </a:p>
        </p:txBody>
      </p:sp>
      <p:sp>
        <p:nvSpPr>
          <p:cNvPr id="15" name="anim-g3-750"/>
          <p:cNvSpPr/>
          <p:nvPr/>
        </p:nvSpPr>
        <p:spPr>
          <a:xfrm>
            <a:off x="822960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751"/>
          <p:cNvSpPr/>
          <p:nvPr/>
        </p:nvSpPr>
        <p:spPr>
          <a:xfrm>
            <a:off x="331409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752"/>
          <p:cNvSpPr/>
          <p:nvPr/>
        </p:nvSpPr>
        <p:spPr>
          <a:xfrm>
            <a:off x="331409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🎚️</a:t>
            </a:r>
            <a:endParaRPr lang="ar-SA" sz="2200" dirty="0"/>
          </a:p>
        </p:txBody>
      </p:sp>
      <p:sp>
        <p:nvSpPr>
          <p:cNvPr id="18" name="anim-g3-753"/>
          <p:cNvSpPr/>
          <p:nvPr/>
        </p:nvSpPr>
        <p:spPr>
          <a:xfrm>
            <a:off x="1097280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دقة حتى ١٦ بت</a:t>
            </a:r>
            <a:endParaRPr lang="ar-SA" sz="2200" dirty="0"/>
          </a:p>
        </p:txBody>
      </p:sp>
      <p:sp>
        <p:nvSpPr>
          <p:cNvPr id="19" name="anim-g3-754"/>
          <p:cNvSpPr/>
          <p:nvPr/>
        </p:nvSpPr>
        <p:spPr>
          <a:xfrm>
            <a:off x="1097280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٨ بت = ٢٥٦ درجة، و١٢ بت = ٤٠٩٦ درجة</a:t>
            </a:r>
            <a:endParaRPr lang="ar-SA" sz="1900" dirty="0"/>
          </a:p>
        </p:txBody>
      </p:sp>
      <p:sp>
        <p:nvSpPr>
          <p:cNvPr id="20" name="Text 18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PWM والألوان  ·  ١١٨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119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755" descr="C:\Users\user\projects\younes-training\esp32\.pptx-cache\s119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756" descr="C:\Users\user\projects\younes-training\esp32\.pptx-cache\s119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757" descr="C:\Users\user\projects\younes-training\esp32\.pptx-cache\s119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45720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9905695" y="457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قِسها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قِس PWM بالفولتميتر</a:t>
            </a:r>
            <a:endParaRPr lang="ar-SA" sz="3800" dirty="0"/>
          </a:p>
        </p:txBody>
      </p:sp>
      <p:sp>
        <p:nvSpPr>
          <p:cNvPr id="5" name="anim-g1-758"/>
          <p:cNvSpPr/>
          <p:nvPr/>
        </p:nvSpPr>
        <p:spPr>
          <a:xfrm>
            <a:off x="822960" y="1920240"/>
            <a:ext cx="10545775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759"/>
          <p:cNvSpPr/>
          <p:nvPr/>
        </p:nvSpPr>
        <p:spPr>
          <a:xfrm>
            <a:off x="10573207" y="2286000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760"/>
          <p:cNvSpPr/>
          <p:nvPr/>
        </p:nvSpPr>
        <p:spPr>
          <a:xfrm>
            <a:off x="10573207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761"/>
          <p:cNvSpPr/>
          <p:nvPr/>
        </p:nvSpPr>
        <p:spPr>
          <a:xfrm>
            <a:off x="1097280" y="1920240"/>
            <a:ext cx="9247327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ledcWrite(23, 0)</a:t>
            </a:r>
            <a:endParaRPr lang="ar-SA" sz="2400" dirty="0"/>
          </a:p>
          <a:p>
            <a:pPr algn="r" indent="0" marL="0">
              <a:buNone/>
            </a:pPr>
            <a:r>
              <a:rPr lang="ar-SA" altLang="en-US" sz="20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٠ فولت</a:t>
            </a:r>
            <a:endParaRPr lang="ar-SA" sz="2400" dirty="0"/>
          </a:p>
        </p:txBody>
      </p:sp>
      <p:sp>
        <p:nvSpPr>
          <p:cNvPr id="9" name="anim-g2-762"/>
          <p:cNvSpPr/>
          <p:nvPr/>
        </p:nvSpPr>
        <p:spPr>
          <a:xfrm>
            <a:off x="822960" y="3328416"/>
            <a:ext cx="10545775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763"/>
          <p:cNvSpPr/>
          <p:nvPr/>
        </p:nvSpPr>
        <p:spPr>
          <a:xfrm>
            <a:off x="10573207" y="3694176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764"/>
          <p:cNvSpPr/>
          <p:nvPr/>
        </p:nvSpPr>
        <p:spPr>
          <a:xfrm>
            <a:off x="10573207" y="3694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765"/>
          <p:cNvSpPr/>
          <p:nvPr/>
        </p:nvSpPr>
        <p:spPr>
          <a:xfrm>
            <a:off x="1097280" y="3328416"/>
            <a:ext cx="9247327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ledcWrite(23, 128)</a:t>
            </a:r>
            <a:endParaRPr lang="ar-SA" sz="2400" dirty="0"/>
          </a:p>
          <a:p>
            <a:pPr algn="r" indent="0" marL="0">
              <a:buNone/>
            </a:pPr>
            <a:r>
              <a:rPr lang="ar-SA" altLang="en-US" sz="20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نحو ١٫٦٥ فولت (نصف ٣٫٣)</a:t>
            </a:r>
            <a:endParaRPr lang="ar-SA" sz="2400" dirty="0"/>
          </a:p>
        </p:txBody>
      </p:sp>
      <p:sp>
        <p:nvSpPr>
          <p:cNvPr id="13" name="anim-g3-766"/>
          <p:cNvSpPr/>
          <p:nvPr/>
        </p:nvSpPr>
        <p:spPr>
          <a:xfrm>
            <a:off x="822960" y="4736592"/>
            <a:ext cx="10545775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767"/>
          <p:cNvSpPr/>
          <p:nvPr/>
        </p:nvSpPr>
        <p:spPr>
          <a:xfrm>
            <a:off x="10573207" y="5102352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768"/>
          <p:cNvSpPr/>
          <p:nvPr/>
        </p:nvSpPr>
        <p:spPr>
          <a:xfrm>
            <a:off x="10573207" y="5102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769"/>
          <p:cNvSpPr/>
          <p:nvPr/>
        </p:nvSpPr>
        <p:spPr>
          <a:xfrm>
            <a:off x="1097280" y="4736592"/>
            <a:ext cx="9247327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ledcWrite(23, 255)</a:t>
            </a:r>
            <a:endParaRPr lang="ar-SA" sz="2400" dirty="0"/>
          </a:p>
          <a:p>
            <a:pPr algn="r" indent="0" marL="0">
              <a:buNone/>
            </a:pPr>
            <a:r>
              <a:rPr lang="ar-SA" altLang="en-US" sz="20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نحو ٣٫٣ فولت</a:t>
            </a:r>
            <a:endParaRPr lang="ar-SA" sz="2400" dirty="0"/>
          </a:p>
        </p:txBody>
      </p:sp>
      <p:sp>
        <p:nvSpPr>
          <p:cNvPr id="17" name="Text 1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PWM والألوان  ·  ١٢٠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13087" y="457200"/>
            <a:ext cx="175564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9613087" y="45720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ليد RGB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ثلاثة ليدات في غلاف واحد… بنوعين</a:t>
            </a:r>
            <a:endParaRPr lang="ar-SA" sz="3800" dirty="0"/>
          </a:p>
        </p:txBody>
      </p:sp>
      <p:sp>
        <p:nvSpPr>
          <p:cNvPr id="5" name="anim-g1-770"/>
          <p:cNvSpPr/>
          <p:nvPr/>
        </p:nvSpPr>
        <p:spPr>
          <a:xfrm>
            <a:off x="6233008" y="2011680"/>
            <a:ext cx="5135728" cy="402336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771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772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➖</a:t>
            </a:r>
            <a:endParaRPr lang="ar-SA" sz="2200" dirty="0"/>
          </a:p>
        </p:txBody>
      </p:sp>
      <p:sp>
        <p:nvSpPr>
          <p:cNvPr id="8" name="anim-g1-773"/>
          <p:cNvSpPr/>
          <p:nvPr/>
        </p:nvSpPr>
        <p:spPr>
          <a:xfrm>
            <a:off x="6507328" y="294436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مهبط مشترك</a:t>
            </a:r>
            <a:endParaRPr lang="ar-SA" sz="2200" dirty="0"/>
          </a:p>
        </p:txBody>
      </p:sp>
      <p:sp>
        <p:nvSpPr>
          <p:cNvPr id="9" name="anim-g1-774"/>
          <p:cNvSpPr/>
          <p:nvPr/>
        </p:nvSpPr>
        <p:spPr>
          <a:xfrm>
            <a:off x="6507328" y="3493008"/>
            <a:ext cx="458708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الساق الطويلة إلى GND، و٢٥٥ = أقوى لون</a:t>
            </a:r>
            <a:endParaRPr lang="ar-SA" sz="1900" dirty="0"/>
          </a:p>
        </p:txBody>
      </p:sp>
      <p:sp>
        <p:nvSpPr>
          <p:cNvPr id="10" name="anim-g2-775"/>
          <p:cNvSpPr/>
          <p:nvPr/>
        </p:nvSpPr>
        <p:spPr>
          <a:xfrm>
            <a:off x="822960" y="2011680"/>
            <a:ext cx="5135728" cy="402336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776"/>
          <p:cNvSpPr/>
          <p:nvPr/>
        </p:nvSpPr>
        <p:spPr>
          <a:xfrm>
            <a:off x="511744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777"/>
          <p:cNvSpPr/>
          <p:nvPr/>
        </p:nvSpPr>
        <p:spPr>
          <a:xfrm>
            <a:off x="511744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➕</a:t>
            </a:r>
            <a:endParaRPr lang="ar-SA" sz="2200" dirty="0"/>
          </a:p>
        </p:txBody>
      </p:sp>
      <p:sp>
        <p:nvSpPr>
          <p:cNvPr id="13" name="anim-g2-778"/>
          <p:cNvSpPr/>
          <p:nvPr/>
        </p:nvSpPr>
        <p:spPr>
          <a:xfrm>
            <a:off x="1097280" y="294436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مصعد مشترك</a:t>
            </a:r>
            <a:endParaRPr lang="ar-SA" sz="2200" dirty="0"/>
          </a:p>
        </p:txBody>
      </p:sp>
      <p:sp>
        <p:nvSpPr>
          <p:cNvPr id="14" name="anim-g2-779"/>
          <p:cNvSpPr/>
          <p:nvPr/>
        </p:nvSpPr>
        <p:spPr>
          <a:xfrm>
            <a:off x="1097280" y="3493008"/>
            <a:ext cx="458708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الساق الطويلة إلى 3V3، و٠ = أقوى لون (القيم معكوسة)</a:t>
            </a:r>
            <a:endParaRPr lang="ar-SA" sz="1900" dirty="0"/>
          </a:p>
        </p:txBody>
      </p:sp>
      <p:sp>
        <p:nvSpPr>
          <p:cNvPr id="15" name="Text 1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PWM والألوان  ·  ١٢١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122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780" descr="C:\Users\user\projects\younes-training\esp32\.pptx-cache\s122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781" descr="C:\Users\user\projects\younes-training\esp32\.pptx-cache\s122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782" descr="C:\Users\user\projects\younes-training\esp32\.pptx-cache\s122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783" descr="C:\Users\user\projects\younes-training\esp32\.pptx-cache\s122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1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اختبر نفسك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ليد RGB بمصعد مشترك… ماذا يعطي analogWrite(16, 0)؟</a:t>
            </a:r>
            <a:endParaRPr lang="ar-SA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31831" y="2194560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101B45"/>
          </a:solidFill>
          <a:ln/>
        </p:spPr>
      </p:sp>
      <p:sp>
        <p:nvSpPr>
          <p:cNvPr id="7" name="Text 5"/>
          <p:cNvSpPr/>
          <p:nvPr/>
        </p:nvSpPr>
        <p:spPr>
          <a:xfrm>
            <a:off x="10231831" y="2194560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8951671" cy="1228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الأحمر مطفأ</a:t>
            </a:r>
            <a:endParaRPr lang="ar-SA" sz="2500" dirty="0"/>
          </a:p>
        </p:txBody>
      </p:sp>
      <p:sp>
        <p:nvSpPr>
          <p:cNvPr id="9" name="anim-g1-784"/>
          <p:cNvSpPr/>
          <p:nvPr/>
        </p:nvSpPr>
        <p:spPr>
          <a:xfrm>
            <a:off x="822960" y="2057400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0" name="anim-g1-785"/>
          <p:cNvSpPr/>
          <p:nvPr/>
        </p:nvSpPr>
        <p:spPr>
          <a:xfrm>
            <a:off x="10231831" y="2194560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A3A9BA"/>
          </a:solidFill>
          <a:ln/>
        </p:spPr>
      </p:sp>
      <p:sp>
        <p:nvSpPr>
          <p:cNvPr id="11" name="anim-g1-786"/>
          <p:cNvSpPr/>
          <p:nvPr/>
        </p:nvSpPr>
        <p:spPr>
          <a:xfrm>
            <a:off x="10231831" y="2194560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400" dirty="0"/>
          </a:p>
        </p:txBody>
      </p:sp>
      <p:sp>
        <p:nvSpPr>
          <p:cNvPr id="12" name="anim-g1-787"/>
          <p:cNvSpPr/>
          <p:nvPr/>
        </p:nvSpPr>
        <p:spPr>
          <a:xfrm>
            <a:off x="1097280" y="2093976"/>
            <a:ext cx="8951671" cy="61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الأحمر مطفأ</a:t>
            </a:r>
            <a:endParaRPr lang="ar-SA" sz="2400" dirty="0"/>
          </a:p>
        </p:txBody>
      </p:sp>
      <p:sp>
        <p:nvSpPr>
          <p:cNvPr id="13" name="anim-g1-788"/>
          <p:cNvSpPr/>
          <p:nvPr/>
        </p:nvSpPr>
        <p:spPr>
          <a:xfrm>
            <a:off x="1097280" y="2720706"/>
            <a:ext cx="8951671" cy="51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هذا في المهبط المشترك</a:t>
            </a:r>
            <a:endParaRPr lang="ar-SA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432048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31831" y="3569208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101B45"/>
          </a:solidFill>
          <a:ln/>
        </p:spPr>
      </p:sp>
      <p:sp>
        <p:nvSpPr>
          <p:cNvPr id="16" name="Text 14"/>
          <p:cNvSpPr/>
          <p:nvPr/>
        </p:nvSpPr>
        <p:spPr>
          <a:xfrm>
            <a:off x="10231831" y="3569208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400" dirty="0"/>
          </a:p>
        </p:txBody>
      </p:sp>
      <p:sp>
        <p:nvSpPr>
          <p:cNvPr id="17" name="Text 15"/>
          <p:cNvSpPr/>
          <p:nvPr/>
        </p:nvSpPr>
        <p:spPr>
          <a:xfrm>
            <a:off x="1097280" y="3432048"/>
            <a:ext cx="8951671" cy="1228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الأحمر نصف إضاءة</a:t>
            </a:r>
            <a:endParaRPr lang="ar-SA" sz="2500" dirty="0"/>
          </a:p>
        </p:txBody>
      </p:sp>
      <p:sp>
        <p:nvSpPr>
          <p:cNvPr id="18" name="anim-g1-789"/>
          <p:cNvSpPr/>
          <p:nvPr/>
        </p:nvSpPr>
        <p:spPr>
          <a:xfrm>
            <a:off x="822960" y="3432048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9" name="anim-g1-790"/>
          <p:cNvSpPr/>
          <p:nvPr/>
        </p:nvSpPr>
        <p:spPr>
          <a:xfrm>
            <a:off x="10231831" y="3569208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A3A9BA"/>
          </a:solidFill>
          <a:ln/>
        </p:spPr>
      </p:sp>
      <p:sp>
        <p:nvSpPr>
          <p:cNvPr id="20" name="anim-g1-791"/>
          <p:cNvSpPr/>
          <p:nvPr/>
        </p:nvSpPr>
        <p:spPr>
          <a:xfrm>
            <a:off x="10231831" y="3569208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400" dirty="0"/>
          </a:p>
        </p:txBody>
      </p:sp>
      <p:sp>
        <p:nvSpPr>
          <p:cNvPr id="21" name="anim-g1-792"/>
          <p:cNvSpPr/>
          <p:nvPr/>
        </p:nvSpPr>
        <p:spPr>
          <a:xfrm>
            <a:off x="1097280" y="3468624"/>
            <a:ext cx="8951671" cy="61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الأحمر نصف إضاءة</a:t>
            </a:r>
            <a:endParaRPr lang="ar-SA" sz="2400" dirty="0"/>
          </a:p>
        </p:txBody>
      </p:sp>
      <p:sp>
        <p:nvSpPr>
          <p:cNvPr id="22" name="anim-g1-793"/>
          <p:cNvSpPr/>
          <p:nvPr/>
        </p:nvSpPr>
        <p:spPr>
          <a:xfrm>
            <a:off x="1097280" y="4095354"/>
            <a:ext cx="8951671" cy="51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</a:t>
            </a:r>
            <a:endParaRPr lang="ar-SA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4806696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31831" y="4943856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101B45"/>
          </a:solidFill>
          <a:ln/>
        </p:spPr>
      </p:sp>
      <p:sp>
        <p:nvSpPr>
          <p:cNvPr id="25" name="Text 23"/>
          <p:cNvSpPr/>
          <p:nvPr/>
        </p:nvSpPr>
        <p:spPr>
          <a:xfrm>
            <a:off x="10231831" y="4943856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400" dirty="0"/>
          </a:p>
        </p:txBody>
      </p:sp>
      <p:sp>
        <p:nvSpPr>
          <p:cNvPr id="26" name="Text 24"/>
          <p:cNvSpPr/>
          <p:nvPr/>
        </p:nvSpPr>
        <p:spPr>
          <a:xfrm>
            <a:off x="1097280" y="4806696"/>
            <a:ext cx="8951671" cy="1228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الأحمر بأقوى إضاءة</a:t>
            </a:r>
            <a:endParaRPr lang="ar-SA" sz="2500" dirty="0"/>
          </a:p>
        </p:txBody>
      </p:sp>
      <p:sp>
        <p:nvSpPr>
          <p:cNvPr id="27" name="anim-g1-794"/>
          <p:cNvSpPr/>
          <p:nvPr/>
        </p:nvSpPr>
        <p:spPr>
          <a:xfrm>
            <a:off x="822960" y="4806696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E6F4EC"/>
          </a:solidFill>
          <a:ln w="31750">
            <a:solidFill>
              <a:srgbClr val="2E9E6B"/>
            </a:solidFill>
            <a:prstDash val="solid"/>
          </a:ln>
        </p:spPr>
      </p:sp>
      <p:sp>
        <p:nvSpPr>
          <p:cNvPr id="28" name="anim-g1-795"/>
          <p:cNvSpPr/>
          <p:nvPr/>
        </p:nvSpPr>
        <p:spPr>
          <a:xfrm>
            <a:off x="10231831" y="4943856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2E9E6B"/>
          </a:solidFill>
          <a:ln/>
        </p:spPr>
      </p:sp>
      <p:sp>
        <p:nvSpPr>
          <p:cNvPr id="29" name="anim-g1-796"/>
          <p:cNvSpPr/>
          <p:nvPr/>
        </p:nvSpPr>
        <p:spPr>
          <a:xfrm>
            <a:off x="10231831" y="4943856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✓</a:t>
            </a:r>
            <a:endParaRPr lang="ar-SA" sz="2400" dirty="0"/>
          </a:p>
        </p:txBody>
      </p:sp>
      <p:sp>
        <p:nvSpPr>
          <p:cNvPr id="30" name="anim-g1-797"/>
          <p:cNvSpPr/>
          <p:nvPr/>
        </p:nvSpPr>
        <p:spPr>
          <a:xfrm>
            <a:off x="1097280" y="4843272"/>
            <a:ext cx="8951671" cy="61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الأحمر بأقوى إضاءة</a:t>
            </a:r>
            <a:endParaRPr lang="ar-SA" sz="2400" dirty="0"/>
          </a:p>
        </p:txBody>
      </p:sp>
      <p:sp>
        <p:nvSpPr>
          <p:cNvPr id="31" name="anim-g1-798"/>
          <p:cNvSpPr/>
          <p:nvPr/>
        </p:nvSpPr>
        <p:spPr>
          <a:xfrm>
            <a:off x="1097280" y="5470002"/>
            <a:ext cx="8951671" cy="51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صحيح: في المصعد المشترك القيم معكوسة</a:t>
            </a:r>
            <a:endParaRPr lang="ar-SA" sz="1800" dirty="0"/>
          </a:p>
        </p:txBody>
      </p:sp>
      <p:sp>
        <p:nvSpPr>
          <p:cNvPr id="32" name="Text 30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33" name="Text 31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PWM والألوان  ·  ١٢٤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1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1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2264" y="118872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52264" y="11887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خلاصة المحور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أي طرف، وأي تردد، وأي دقة: PWM في ESP32 حرية كاملة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PWM والألوان  ·  ١٢٧</a:t>
            </a:r>
            <a:endParaRPr lang="ar-SA" sz="12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103120"/>
            <a:ext cx="2651760" cy="2651760"/>
          </a:xfrm>
          <a:prstGeom prst="ellipse">
            <a:avLst/>
          </a:prstGeom>
          <a:solidFill>
            <a:srgbClr val="D9AE4B">
              <a:alpha val="12000"/>
            </a:srgbClr>
          </a:solidFill>
          <a:ln w="635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1031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١٠</a:t>
            </a:r>
            <a:endParaRPr lang="ar-SA" sz="12000" dirty="0"/>
          </a:p>
        </p:txBody>
      </p:sp>
      <p:sp>
        <p:nvSpPr>
          <p:cNvPr id="4" name="Text 2"/>
          <p:cNvSpPr/>
          <p:nvPr/>
        </p:nvSpPr>
        <p:spPr>
          <a:xfrm>
            <a:off x="4206240" y="1828800"/>
            <a:ext cx="7162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١٠</a:t>
            </a:r>
            <a:endParaRPr lang="ar-SA" sz="2000" dirty="0"/>
          </a:p>
        </p:txBody>
      </p:sp>
      <p:sp>
        <p:nvSpPr>
          <p:cNvPr id="5" name="Text 3"/>
          <p:cNvSpPr/>
          <p:nvPr/>
        </p:nvSpPr>
        <p:spPr>
          <a:xfrm>
            <a:off x="4206240" y="2286000"/>
            <a:ext cx="7162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56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الأزرار… واللمس</a:t>
            </a:r>
            <a:endParaRPr lang="ar-SA" sz="5600" dirty="0"/>
          </a:p>
        </p:txBody>
      </p:sp>
      <p:sp>
        <p:nvSpPr>
          <p:cNvPr id="6" name="Text 4"/>
          <p:cNvSpPr/>
          <p:nvPr/>
        </p:nvSpPr>
        <p:spPr>
          <a:xfrm>
            <a:off x="4206240" y="3749040"/>
            <a:ext cx="7162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INPUT_PULLUP بلا مقاومة… وزر بلا زر!</a:t>
            </a:r>
            <a:endParaRPr lang="ar-SA" sz="2200" dirty="0"/>
          </a:p>
        </p:txBody>
      </p:sp>
      <p:sp>
        <p:nvSpPr>
          <p:cNvPr id="7" name="Text 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الأزرار واللمس  ·  ١٢٨</a:t>
            </a:r>
            <a:endParaRPr lang="ar-SA" sz="12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095" y="45720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6248095" y="457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 بنهاية هذا المحور تستطيع أن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أهداف المحور</a:t>
            </a:r>
            <a:endParaRPr lang="ar-SA" sz="3800" dirty="0"/>
          </a:p>
        </p:txBody>
      </p:sp>
      <p:sp>
        <p:nvSpPr>
          <p:cNvPr id="5" name="anim-g1-799"/>
          <p:cNvSpPr/>
          <p:nvPr/>
        </p:nvSpPr>
        <p:spPr>
          <a:xfrm>
            <a:off x="822960" y="1920240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800"/>
          <p:cNvSpPr/>
          <p:nvPr/>
        </p:nvSpPr>
        <p:spPr>
          <a:xfrm>
            <a:off x="10573207" y="2109978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801"/>
          <p:cNvSpPr/>
          <p:nvPr/>
        </p:nvSpPr>
        <p:spPr>
          <a:xfrm>
            <a:off x="10573207" y="210997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802"/>
          <p:cNvSpPr/>
          <p:nvPr/>
        </p:nvSpPr>
        <p:spPr>
          <a:xfrm>
            <a:off x="1097280" y="1920240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تقرأ زرًا بـ digitalRead وINPUT_PULLUP</a:t>
            </a:r>
            <a:endParaRPr lang="ar-SA" sz="2400" dirty="0"/>
          </a:p>
        </p:txBody>
      </p:sp>
      <p:sp>
        <p:nvSpPr>
          <p:cNvPr id="9" name="anim-g2-803"/>
          <p:cNvSpPr/>
          <p:nvPr/>
        </p:nvSpPr>
        <p:spPr>
          <a:xfrm>
            <a:off x="822960" y="2976372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804"/>
          <p:cNvSpPr/>
          <p:nvPr/>
        </p:nvSpPr>
        <p:spPr>
          <a:xfrm>
            <a:off x="10573207" y="3166110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805"/>
          <p:cNvSpPr/>
          <p:nvPr/>
        </p:nvSpPr>
        <p:spPr>
          <a:xfrm>
            <a:off x="10573207" y="316611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806"/>
          <p:cNvSpPr/>
          <p:nvPr/>
        </p:nvSpPr>
        <p:spPr>
          <a:xfrm>
            <a:off x="1097280" y="2976372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تعرف لماذا 34–39 لا تصلح لهذا</a:t>
            </a:r>
            <a:endParaRPr lang="ar-SA" sz="2400" dirty="0"/>
          </a:p>
        </p:txBody>
      </p:sp>
      <p:sp>
        <p:nvSpPr>
          <p:cNvPr id="13" name="anim-g3-807"/>
          <p:cNvSpPr/>
          <p:nvPr/>
        </p:nvSpPr>
        <p:spPr>
          <a:xfrm>
            <a:off x="822960" y="4032504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808"/>
          <p:cNvSpPr/>
          <p:nvPr/>
        </p:nvSpPr>
        <p:spPr>
          <a:xfrm>
            <a:off x="10573207" y="4222242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809"/>
          <p:cNvSpPr/>
          <p:nvPr/>
        </p:nvSpPr>
        <p:spPr>
          <a:xfrm>
            <a:off x="10573207" y="422224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810"/>
          <p:cNvSpPr/>
          <p:nvPr/>
        </p:nvSpPr>
        <p:spPr>
          <a:xfrm>
            <a:off x="1097280" y="4032504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تكتب قرارًا بجملة if</a:t>
            </a:r>
            <a:endParaRPr lang="ar-SA" sz="2400" dirty="0"/>
          </a:p>
        </p:txBody>
      </p:sp>
      <p:sp>
        <p:nvSpPr>
          <p:cNvPr id="17" name="anim-g4-811"/>
          <p:cNvSpPr/>
          <p:nvPr/>
        </p:nvSpPr>
        <p:spPr>
          <a:xfrm>
            <a:off x="822960" y="5088636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812"/>
          <p:cNvSpPr/>
          <p:nvPr/>
        </p:nvSpPr>
        <p:spPr>
          <a:xfrm>
            <a:off x="10573207" y="5278374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813"/>
          <p:cNvSpPr/>
          <p:nvPr/>
        </p:nvSpPr>
        <p:spPr>
          <a:xfrm>
            <a:off x="10573207" y="527837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814"/>
          <p:cNvSpPr/>
          <p:nvPr/>
        </p:nvSpPr>
        <p:spPr>
          <a:xfrm>
            <a:off x="1097280" y="5088636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تصنع زر لمس بـ touchRead</a:t>
            </a:r>
            <a:endParaRPr lang="ar-SA" sz="2400" dirty="0"/>
          </a:p>
        </p:txBody>
      </p:sp>
      <p:sp>
        <p:nvSpPr>
          <p:cNvPr id="21" name="Text 1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الأزرار واللمس  ·  ١٢٩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13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الطرف العائم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حلّان… وتحذير خاص بـ ESP32</a:t>
            </a:r>
            <a:endParaRPr lang="ar-SA" sz="3800" dirty="0"/>
          </a:p>
        </p:txBody>
      </p:sp>
      <p:sp>
        <p:nvSpPr>
          <p:cNvPr id="5" name="anim-g1-815"/>
          <p:cNvSpPr/>
          <p:nvPr/>
        </p:nvSpPr>
        <p:spPr>
          <a:xfrm>
            <a:off x="8036357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816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817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🔼</a:t>
            </a:r>
            <a:endParaRPr lang="ar-SA" sz="2200" dirty="0"/>
          </a:p>
        </p:txBody>
      </p:sp>
      <p:sp>
        <p:nvSpPr>
          <p:cNvPr id="8" name="anim-g1-818"/>
          <p:cNvSpPr/>
          <p:nvPr/>
        </p:nvSpPr>
        <p:spPr>
          <a:xfrm>
            <a:off x="8310677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INPUT_PULLUP</a:t>
            </a:r>
            <a:endParaRPr lang="ar-SA" sz="2200" dirty="0"/>
          </a:p>
        </p:txBody>
      </p:sp>
      <p:sp>
        <p:nvSpPr>
          <p:cNvPr id="9" name="anim-g1-819"/>
          <p:cNvSpPr/>
          <p:nvPr/>
        </p:nvSpPr>
        <p:spPr>
          <a:xfrm>
            <a:off x="8310677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مقاومة داخلية تثبّت الطرف على HIGH: الأسهل</a:t>
            </a:r>
            <a:endParaRPr lang="ar-SA" sz="1900" dirty="0"/>
          </a:p>
        </p:txBody>
      </p:sp>
      <p:sp>
        <p:nvSpPr>
          <p:cNvPr id="10" name="anim-g2-820"/>
          <p:cNvSpPr/>
          <p:nvPr/>
        </p:nvSpPr>
        <p:spPr>
          <a:xfrm>
            <a:off x="4429658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821"/>
          <p:cNvSpPr/>
          <p:nvPr/>
        </p:nvSpPr>
        <p:spPr>
          <a:xfrm>
            <a:off x="6920789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822"/>
          <p:cNvSpPr/>
          <p:nvPr/>
        </p:nvSpPr>
        <p:spPr>
          <a:xfrm>
            <a:off x="6920789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🔧</a:t>
            </a:r>
            <a:endParaRPr lang="ar-SA" sz="2200" dirty="0"/>
          </a:p>
        </p:txBody>
      </p:sp>
      <p:sp>
        <p:nvSpPr>
          <p:cNvPr id="13" name="anim-g2-823"/>
          <p:cNvSpPr/>
          <p:nvPr/>
        </p:nvSpPr>
        <p:spPr>
          <a:xfrm>
            <a:off x="4703978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مقاومة خارجية 10k</a:t>
            </a:r>
            <a:endParaRPr lang="ar-SA" sz="2200" dirty="0"/>
          </a:p>
        </p:txBody>
      </p:sp>
      <p:sp>
        <p:nvSpPr>
          <p:cNvPr id="14" name="anim-g2-824"/>
          <p:cNvSpPr/>
          <p:nvPr/>
        </p:nvSpPr>
        <p:spPr>
          <a:xfrm>
            <a:off x="4703978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 الطرف إلى 3V3: حين لا يوجد سحب داخلي</a:t>
            </a:r>
            <a:endParaRPr lang="ar-SA" sz="1900" dirty="0"/>
          </a:p>
        </p:txBody>
      </p:sp>
      <p:sp>
        <p:nvSpPr>
          <p:cNvPr id="15" name="anim-g3-825"/>
          <p:cNvSpPr/>
          <p:nvPr/>
        </p:nvSpPr>
        <p:spPr>
          <a:xfrm>
            <a:off x="822960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826"/>
          <p:cNvSpPr/>
          <p:nvPr/>
        </p:nvSpPr>
        <p:spPr>
          <a:xfrm>
            <a:off x="331409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827"/>
          <p:cNvSpPr/>
          <p:nvPr/>
        </p:nvSpPr>
        <p:spPr>
          <a:xfrm>
            <a:off x="331409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⚠️</a:t>
            </a:r>
            <a:endParaRPr lang="ar-SA" sz="2200" dirty="0"/>
          </a:p>
        </p:txBody>
      </p:sp>
      <p:sp>
        <p:nvSpPr>
          <p:cNvPr id="18" name="anim-g3-828"/>
          <p:cNvSpPr/>
          <p:nvPr/>
        </p:nvSpPr>
        <p:spPr>
          <a:xfrm>
            <a:off x="1097280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34–39 بلا سحب داخلي</a:t>
            </a:r>
            <a:endParaRPr lang="ar-SA" sz="2200" dirty="0"/>
          </a:p>
        </p:txBody>
      </p:sp>
      <p:sp>
        <p:nvSpPr>
          <p:cNvPr id="19" name="anim-g3-829"/>
          <p:cNvSpPr/>
          <p:nvPr/>
        </p:nvSpPr>
        <p:spPr>
          <a:xfrm>
            <a:off x="1097280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INPUT_PULLUP لا يفعل شيئًا عليها: مقاومة خارجية أو طرف آخر</a:t>
            </a:r>
            <a:endParaRPr lang="ar-SA" sz="1900" dirty="0"/>
          </a:p>
        </p:txBody>
      </p:sp>
      <p:sp>
        <p:nvSpPr>
          <p:cNvPr id="20" name="Text 18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الأزرار واللمس  ·  ١٣١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13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133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830" descr="C:\Users\user\projects\younes-training\esp32\.pptx-cache\s133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831" descr="C:\Users\user\projects\younes-training\esp32\.pptx-cache\s133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832" descr="C:\Users\user\projects\younes-training\esp32\.pptx-cache\s133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833" descr="C:\Users\user\projects\younes-training\esp32\.pptx-cache\s133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134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834" descr="C:\Users\user\projects\younes-training\esp32\.pptx-cache\s134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835" descr="C:\Users\user\projects\younes-training\esp32\.pptx-cache\s134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836" descr="C:\Users\user\projects\younes-training\esp32\.pptx-cache\s134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837" descr="C:\Users\user\projects\younes-training\esp32\.pptx-cache\s134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135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838" descr="C:\Users\user\projects\younes-training\esp32\.pptx-cache\s135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839" descr="C:\Users\user\projects\younes-training\esp32\.pptx-cache\s135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840" descr="C:\Users\user\projects\younes-training\esp32\.pptx-cache\s135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841" descr="C:\Users\user\projects\younes-training\esp32\.pptx-cache\s135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2264" y="118872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52264" y="11887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مفاجأة ESP32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عشرة أطراف في ESP32 تحس بإصبعك…</a:t>
            </a:r>
            <a:endParaRPr lang="ar-SA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 دون أي زر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الأزرار واللمس  ·  ١٣٦</a:t>
            </a:r>
            <a:endParaRPr lang="ar-SA" sz="12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13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138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842" descr="C:\Users\user\projects\younes-training\esp32\.pptx-cache\s138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843" descr="C:\Users\user\projects\younes-training\esp32\.pptx-cache\s138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844" descr="C:\Users\user\projects\younes-training\esp32\.pptx-cache\s138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845" descr="C:\Users\user\projects\younes-training\esp32\.pptx-cache\s138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اختبر نفسك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الشاشة تعرض 0 و1 عشوائيًا والزر على 35 غير مضغوط… لماذا؟</a:t>
            </a:r>
            <a:endParaRPr lang="ar-SA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31831" y="2194560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101B45"/>
          </a:solidFill>
          <a:ln/>
        </p:spPr>
      </p:sp>
      <p:sp>
        <p:nvSpPr>
          <p:cNvPr id="7" name="Text 5"/>
          <p:cNvSpPr/>
          <p:nvPr/>
        </p:nvSpPr>
        <p:spPr>
          <a:xfrm>
            <a:off x="10231831" y="2194560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8951671" cy="1228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الزر تالف</a:t>
            </a:r>
            <a:endParaRPr lang="ar-SA" sz="2500" dirty="0"/>
          </a:p>
        </p:txBody>
      </p:sp>
      <p:sp>
        <p:nvSpPr>
          <p:cNvPr id="9" name="anim-g1-846"/>
          <p:cNvSpPr/>
          <p:nvPr/>
        </p:nvSpPr>
        <p:spPr>
          <a:xfrm>
            <a:off x="822960" y="2057400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0" name="anim-g1-847"/>
          <p:cNvSpPr/>
          <p:nvPr/>
        </p:nvSpPr>
        <p:spPr>
          <a:xfrm>
            <a:off x="10231831" y="2194560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A3A9BA"/>
          </a:solidFill>
          <a:ln/>
        </p:spPr>
      </p:sp>
      <p:sp>
        <p:nvSpPr>
          <p:cNvPr id="11" name="anim-g1-848"/>
          <p:cNvSpPr/>
          <p:nvPr/>
        </p:nvSpPr>
        <p:spPr>
          <a:xfrm>
            <a:off x="10231831" y="2194560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400" dirty="0"/>
          </a:p>
        </p:txBody>
      </p:sp>
      <p:sp>
        <p:nvSpPr>
          <p:cNvPr id="12" name="anim-g1-849"/>
          <p:cNvSpPr/>
          <p:nvPr/>
        </p:nvSpPr>
        <p:spPr>
          <a:xfrm>
            <a:off x="1097280" y="2093976"/>
            <a:ext cx="8951671" cy="61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الزر تالف</a:t>
            </a:r>
            <a:endParaRPr lang="ar-SA" sz="2400" dirty="0"/>
          </a:p>
        </p:txBody>
      </p:sp>
      <p:sp>
        <p:nvSpPr>
          <p:cNvPr id="13" name="anim-g1-850"/>
          <p:cNvSpPr/>
          <p:nvPr/>
        </p:nvSpPr>
        <p:spPr>
          <a:xfrm>
            <a:off x="1097280" y="2720706"/>
            <a:ext cx="8951671" cy="51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الزر سليم غالبًا</a:t>
            </a:r>
            <a:endParaRPr lang="ar-SA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432048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31831" y="3569208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101B45"/>
          </a:solidFill>
          <a:ln/>
        </p:spPr>
      </p:sp>
      <p:sp>
        <p:nvSpPr>
          <p:cNvPr id="16" name="Text 14"/>
          <p:cNvSpPr/>
          <p:nvPr/>
        </p:nvSpPr>
        <p:spPr>
          <a:xfrm>
            <a:off x="10231831" y="3569208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400" dirty="0"/>
          </a:p>
        </p:txBody>
      </p:sp>
      <p:sp>
        <p:nvSpPr>
          <p:cNvPr id="17" name="Text 15"/>
          <p:cNvSpPr/>
          <p:nvPr/>
        </p:nvSpPr>
        <p:spPr>
          <a:xfrm>
            <a:off x="1097280" y="3432048"/>
            <a:ext cx="8951671" cy="1228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35 بلا سحب داخلي: الطرف عائم</a:t>
            </a:r>
            <a:endParaRPr lang="ar-SA" sz="2500" dirty="0"/>
          </a:p>
        </p:txBody>
      </p:sp>
      <p:sp>
        <p:nvSpPr>
          <p:cNvPr id="18" name="anim-g1-851"/>
          <p:cNvSpPr/>
          <p:nvPr/>
        </p:nvSpPr>
        <p:spPr>
          <a:xfrm>
            <a:off x="822960" y="3432048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E6F4EC"/>
          </a:solidFill>
          <a:ln w="31750">
            <a:solidFill>
              <a:srgbClr val="2E9E6B"/>
            </a:solidFill>
            <a:prstDash val="solid"/>
          </a:ln>
        </p:spPr>
      </p:sp>
      <p:sp>
        <p:nvSpPr>
          <p:cNvPr id="19" name="anim-g1-852"/>
          <p:cNvSpPr/>
          <p:nvPr/>
        </p:nvSpPr>
        <p:spPr>
          <a:xfrm>
            <a:off x="10231831" y="3569208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2E9E6B"/>
          </a:solidFill>
          <a:ln/>
        </p:spPr>
      </p:sp>
      <p:sp>
        <p:nvSpPr>
          <p:cNvPr id="20" name="anim-g1-853"/>
          <p:cNvSpPr/>
          <p:nvPr/>
        </p:nvSpPr>
        <p:spPr>
          <a:xfrm>
            <a:off x="10231831" y="3569208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✓</a:t>
            </a:r>
            <a:endParaRPr lang="ar-SA" sz="2400" dirty="0"/>
          </a:p>
        </p:txBody>
      </p:sp>
      <p:sp>
        <p:nvSpPr>
          <p:cNvPr id="21" name="anim-g1-854"/>
          <p:cNvSpPr/>
          <p:nvPr/>
        </p:nvSpPr>
        <p:spPr>
          <a:xfrm>
            <a:off x="1097280" y="3468624"/>
            <a:ext cx="8951671" cy="61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35 بلا سحب داخلي: الطرف عائم</a:t>
            </a:r>
            <a:endParaRPr lang="ar-SA" sz="2400" dirty="0"/>
          </a:p>
        </p:txBody>
      </p:sp>
      <p:sp>
        <p:nvSpPr>
          <p:cNvPr id="22" name="anim-g1-855"/>
          <p:cNvSpPr/>
          <p:nvPr/>
        </p:nvSpPr>
        <p:spPr>
          <a:xfrm>
            <a:off x="1097280" y="4095354"/>
            <a:ext cx="8951671" cy="51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صحيح: أضف مقاومة 10k إلى 3V3، أو انقل الزر إلى 4</a:t>
            </a:r>
            <a:endParaRPr lang="ar-SA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4806696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31831" y="4943856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101B45"/>
          </a:solidFill>
          <a:ln/>
        </p:spPr>
      </p:sp>
      <p:sp>
        <p:nvSpPr>
          <p:cNvPr id="25" name="Text 23"/>
          <p:cNvSpPr/>
          <p:nvPr/>
        </p:nvSpPr>
        <p:spPr>
          <a:xfrm>
            <a:off x="10231831" y="4943856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400" dirty="0"/>
          </a:p>
        </p:txBody>
      </p:sp>
      <p:sp>
        <p:nvSpPr>
          <p:cNvPr id="26" name="Text 24"/>
          <p:cNvSpPr/>
          <p:nvPr/>
        </p:nvSpPr>
        <p:spPr>
          <a:xfrm>
            <a:off x="1097280" y="4806696"/>
            <a:ext cx="8951671" cy="1228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الكود بطيء</a:t>
            </a:r>
            <a:endParaRPr lang="ar-SA" sz="2500" dirty="0"/>
          </a:p>
        </p:txBody>
      </p:sp>
      <p:sp>
        <p:nvSpPr>
          <p:cNvPr id="27" name="anim-g1-856"/>
          <p:cNvSpPr/>
          <p:nvPr/>
        </p:nvSpPr>
        <p:spPr>
          <a:xfrm>
            <a:off x="822960" y="4806696"/>
            <a:ext cx="10545775" cy="1228344"/>
          </a:xfrm>
          <a:prstGeom prst="roundRect">
            <a:avLst>
              <a:gd name="adj" fmla="val 11911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8" name="anim-g1-857"/>
          <p:cNvSpPr/>
          <p:nvPr/>
        </p:nvSpPr>
        <p:spPr>
          <a:xfrm>
            <a:off x="10231831" y="4943856"/>
            <a:ext cx="954024" cy="954024"/>
          </a:xfrm>
          <a:prstGeom prst="roundRect">
            <a:avLst>
              <a:gd name="adj" fmla="val 11502"/>
            </a:avLst>
          </a:prstGeom>
          <a:solidFill>
            <a:srgbClr val="A3A9BA"/>
          </a:solidFill>
          <a:ln/>
        </p:spPr>
      </p:sp>
      <p:sp>
        <p:nvSpPr>
          <p:cNvPr id="29" name="anim-g1-858"/>
          <p:cNvSpPr/>
          <p:nvPr/>
        </p:nvSpPr>
        <p:spPr>
          <a:xfrm>
            <a:off x="10231831" y="4943856"/>
            <a:ext cx="954024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400" dirty="0"/>
          </a:p>
        </p:txBody>
      </p:sp>
      <p:sp>
        <p:nvSpPr>
          <p:cNvPr id="30" name="anim-g1-859"/>
          <p:cNvSpPr/>
          <p:nvPr/>
        </p:nvSpPr>
        <p:spPr>
          <a:xfrm>
            <a:off x="1097280" y="4843272"/>
            <a:ext cx="8951671" cy="61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الكود بطيء</a:t>
            </a:r>
            <a:endParaRPr lang="ar-SA" sz="2400" dirty="0"/>
          </a:p>
        </p:txBody>
      </p:sp>
      <p:sp>
        <p:nvSpPr>
          <p:cNvPr id="31" name="anim-g1-860"/>
          <p:cNvSpPr/>
          <p:nvPr/>
        </p:nvSpPr>
        <p:spPr>
          <a:xfrm>
            <a:off x="1097280" y="5470002"/>
            <a:ext cx="8951671" cy="51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السرعة لا تسبب ذلك</a:t>
            </a:r>
            <a:endParaRPr lang="ar-SA" sz="1800" dirty="0"/>
          </a:p>
        </p:txBody>
      </p:sp>
      <p:sp>
        <p:nvSpPr>
          <p:cNvPr id="32" name="Text 30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33" name="Text 31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الأزرار واللمس  ·  ١٣٩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14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14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2264" y="118872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52264" y="11887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خلاصة المحور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زر بمقاومة داخلية، وزر بلا زر أصلًا: ESP32 تحس بالعالم بطرق لا يعرفها الأونو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الأزرار واللمس  ·  ١٤٢</a:t>
            </a:r>
            <a:endParaRPr lang="ar-SA" sz="12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103120"/>
            <a:ext cx="2651760" cy="2651760"/>
          </a:xfrm>
          <a:prstGeom prst="ellipse">
            <a:avLst/>
          </a:prstGeom>
          <a:solidFill>
            <a:srgbClr val="D9AE4B">
              <a:alpha val="12000"/>
            </a:srgbClr>
          </a:solidFill>
          <a:ln w="635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1031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١١</a:t>
            </a:r>
            <a:endParaRPr lang="ar-SA" sz="12000" dirty="0"/>
          </a:p>
        </p:txBody>
      </p:sp>
      <p:sp>
        <p:nvSpPr>
          <p:cNvPr id="4" name="Text 2"/>
          <p:cNvSpPr/>
          <p:nvPr/>
        </p:nvSpPr>
        <p:spPr>
          <a:xfrm>
            <a:off x="4206240" y="1828800"/>
            <a:ext cx="7162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١١</a:t>
            </a:r>
            <a:endParaRPr lang="ar-SA" sz="2000" dirty="0"/>
          </a:p>
        </p:txBody>
      </p:sp>
      <p:sp>
        <p:nvSpPr>
          <p:cNvPr id="5" name="Text 3"/>
          <p:cNvSpPr/>
          <p:nvPr/>
        </p:nvSpPr>
        <p:spPr>
          <a:xfrm>
            <a:off x="4206240" y="2286000"/>
            <a:ext cx="7162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56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مشروع التخرج</a:t>
            </a:r>
            <a:endParaRPr lang="ar-SA" sz="5600" dirty="0"/>
          </a:p>
        </p:txBody>
      </p:sp>
      <p:sp>
        <p:nvSpPr>
          <p:cNvPr id="6" name="Text 4"/>
          <p:cNvSpPr/>
          <p:nvPr/>
        </p:nvSpPr>
        <p:spPr>
          <a:xfrm>
            <a:off x="4206240" y="3749040"/>
            <a:ext cx="7162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إشارة مشاة بزر… أو بلمسة</a:t>
            </a:r>
            <a:endParaRPr lang="ar-SA" sz="2200" dirty="0"/>
          </a:p>
        </p:txBody>
      </p:sp>
      <p:sp>
        <p:nvSpPr>
          <p:cNvPr id="7" name="Text 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مشروع التخرج  ·  ١٤٣</a:t>
            </a:r>
            <a:endParaRPr lang="ar-SA" sz="12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b-861" descr="C:\Users\user\projects\younes-training\arduino\assets\exp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user\projects\younes-training\shared\assets\mcover-overl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120640" y="1645920"/>
            <a:ext cx="6248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مشروع التخرج</a:t>
            </a:r>
            <a:endParaRPr lang="ar-SA" sz="2200" dirty="0"/>
          </a:p>
        </p:txBody>
      </p:sp>
      <p:sp>
        <p:nvSpPr>
          <p:cNvPr id="5" name="Text 1"/>
          <p:cNvSpPr/>
          <p:nvPr/>
        </p:nvSpPr>
        <p:spPr>
          <a:xfrm>
            <a:off x="4572000" y="2194560"/>
            <a:ext cx="67967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SA" altLang="en-US" sz="48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من فكرة… إلى معرض المدرسة</a:t>
            </a:r>
            <a:endParaRPr lang="ar-SA" sz="4800" dirty="0"/>
          </a:p>
        </p:txBody>
      </p:sp>
      <p:sp>
        <p:nvSpPr>
          <p:cNvPr id="6" name="Text 2"/>
          <p:cNvSpPr/>
          <p:nvPr/>
        </p:nvSpPr>
        <p:spPr>
          <a:xfrm>
            <a:off x="4572000" y="4023360"/>
            <a:ext cx="67967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إشارة مرور ذكية للمشاة على ESP32</a:t>
            </a:r>
            <a:endParaRPr lang="ar-SA" sz="2200" dirty="0"/>
          </a:p>
        </p:txBody>
      </p:sp>
      <p:sp>
        <p:nvSpPr>
          <p:cNvPr id="7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8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مشروع التخرج  ·  ١٤٤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6000" fill="hold"/>
                                        <p:tgtEl>
                                          <p:spTgt spid="2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13087" y="457200"/>
            <a:ext cx="175564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9613087" y="45720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المشروع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إشارة مرور للمشاة… بزر عبور</a:t>
            </a:r>
            <a:endParaRPr lang="ar-SA" sz="3800" dirty="0"/>
          </a:p>
        </p:txBody>
      </p:sp>
      <p:sp>
        <p:nvSpPr>
          <p:cNvPr id="5" name="anim-g1-862"/>
          <p:cNvSpPr/>
          <p:nvPr/>
        </p:nvSpPr>
        <p:spPr>
          <a:xfrm>
            <a:off x="8036357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863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864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🚗</a:t>
            </a:r>
            <a:endParaRPr lang="ar-SA" sz="2200" dirty="0"/>
          </a:p>
        </p:txBody>
      </p:sp>
      <p:sp>
        <p:nvSpPr>
          <p:cNvPr id="8" name="anim-g1-865"/>
          <p:cNvSpPr/>
          <p:nvPr/>
        </p:nvSpPr>
        <p:spPr>
          <a:xfrm>
            <a:off x="8310677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إشارة السيارات</a:t>
            </a:r>
            <a:endParaRPr lang="ar-SA" sz="2200" dirty="0"/>
          </a:p>
        </p:txBody>
      </p:sp>
      <p:sp>
        <p:nvSpPr>
          <p:cNvPr id="9" name="anim-g1-866"/>
          <p:cNvSpPr/>
          <p:nvPr/>
        </p:nvSpPr>
        <p:spPr>
          <a:xfrm>
            <a:off x="8310677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25 أحمر · 26 أصفر · 27 أخضر</a:t>
            </a:r>
            <a:endParaRPr lang="ar-SA" sz="1900" dirty="0"/>
          </a:p>
        </p:txBody>
      </p:sp>
      <p:sp>
        <p:nvSpPr>
          <p:cNvPr id="10" name="anim-g2-867"/>
          <p:cNvSpPr/>
          <p:nvPr/>
        </p:nvSpPr>
        <p:spPr>
          <a:xfrm>
            <a:off x="4429658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868"/>
          <p:cNvSpPr/>
          <p:nvPr/>
        </p:nvSpPr>
        <p:spPr>
          <a:xfrm>
            <a:off x="6920789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869"/>
          <p:cNvSpPr/>
          <p:nvPr/>
        </p:nvSpPr>
        <p:spPr>
          <a:xfrm>
            <a:off x="6920789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🚶</a:t>
            </a:r>
            <a:endParaRPr lang="ar-SA" sz="2200" dirty="0"/>
          </a:p>
        </p:txBody>
      </p:sp>
      <p:sp>
        <p:nvSpPr>
          <p:cNvPr id="13" name="anim-g2-870"/>
          <p:cNvSpPr/>
          <p:nvPr/>
        </p:nvSpPr>
        <p:spPr>
          <a:xfrm>
            <a:off x="4703978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إشارة المشاة</a:t>
            </a:r>
            <a:endParaRPr lang="ar-SA" sz="2200" dirty="0"/>
          </a:p>
        </p:txBody>
      </p:sp>
      <p:sp>
        <p:nvSpPr>
          <p:cNvPr id="14" name="anim-g2-871"/>
          <p:cNvSpPr/>
          <p:nvPr/>
        </p:nvSpPr>
        <p:spPr>
          <a:xfrm>
            <a:off x="4703978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32 أحمر · 33 أخضر</a:t>
            </a:r>
            <a:endParaRPr lang="ar-SA" sz="1900" dirty="0"/>
          </a:p>
        </p:txBody>
      </p:sp>
      <p:sp>
        <p:nvSpPr>
          <p:cNvPr id="15" name="anim-g3-872"/>
          <p:cNvSpPr/>
          <p:nvPr/>
        </p:nvSpPr>
        <p:spPr>
          <a:xfrm>
            <a:off x="822960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873"/>
          <p:cNvSpPr/>
          <p:nvPr/>
        </p:nvSpPr>
        <p:spPr>
          <a:xfrm>
            <a:off x="331409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874"/>
          <p:cNvSpPr/>
          <p:nvPr/>
        </p:nvSpPr>
        <p:spPr>
          <a:xfrm>
            <a:off x="331409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🔘</a:t>
            </a:r>
            <a:endParaRPr lang="ar-SA" sz="2200" dirty="0"/>
          </a:p>
        </p:txBody>
      </p:sp>
      <p:sp>
        <p:nvSpPr>
          <p:cNvPr id="18" name="anim-g3-875"/>
          <p:cNvSpPr/>
          <p:nvPr/>
        </p:nvSpPr>
        <p:spPr>
          <a:xfrm>
            <a:off x="1097280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زر العبور</a:t>
            </a:r>
            <a:endParaRPr lang="ar-SA" sz="2200" dirty="0"/>
          </a:p>
        </p:txBody>
      </p:sp>
      <p:sp>
        <p:nvSpPr>
          <p:cNvPr id="19" name="anim-g3-876"/>
          <p:cNvSpPr/>
          <p:nvPr/>
        </p:nvSpPr>
        <p:spPr>
          <a:xfrm>
            <a:off x="1097280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على 4 بسحب داخلي… أو زر لمس!</a:t>
            </a:r>
            <a:endParaRPr lang="ar-SA" sz="1900" dirty="0"/>
          </a:p>
        </p:txBody>
      </p:sp>
      <p:sp>
        <p:nvSpPr>
          <p:cNvPr id="20" name="Text 18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مشروع التخرج  ·  ١٤٥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146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877" descr="C:\Users\user\projects\younes-training\esp32\.pptx-cache\s146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878" descr="C:\Users\user\projects\younes-training\esp32\.pptx-cache\s146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879" descr="C:\Users\user\projects\younes-training\esp32\.pptx-cache\s146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880" descr="C:\Users\user\projects\younes-training\esp32\.pptx-cache\s146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881" descr="C:\Users\user\projects\younes-training\esp32\.pptx-cache\s146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147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882" descr="C:\Users\user\projects\younes-training\esp32\.pptx-cache\s147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883" descr="C:\Users\user\projects\younes-training\esp32\.pptx-cache\s147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884" descr="C:\Users\user\projects\younes-training\esp32\.pptx-cache\s147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885" descr="C:\Users\user\projects\younes-training\esp32\.pptx-cache\s147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886" descr="C:\Users\user\projects\younes-training\esp32\.pptx-cache\s147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8" name="anim-g6-887" descr="C:\Users\user\projects\younes-training\esp32\.pptx-cache\s147-6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9" name="anim-g7-888" descr="C:\Users\user\projects\younes-training\esp32\.pptx-cache\s147-7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59391" y="457200"/>
            <a:ext cx="1609344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9759391" y="45720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للمعلم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كيف تقيّم مشروع طالبك؟</a:t>
            </a:r>
            <a:endParaRPr lang="ar-SA" sz="3800" dirty="0"/>
          </a:p>
        </p:txBody>
      </p:sp>
      <p:sp>
        <p:nvSpPr>
          <p:cNvPr id="5" name="Shape 3"/>
          <p:cNvSpPr/>
          <p:nvPr/>
        </p:nvSpPr>
        <p:spPr>
          <a:xfrm>
            <a:off x="8939013" y="1874520"/>
            <a:ext cx="2429722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6" name="Text 4"/>
          <p:cNvSpPr/>
          <p:nvPr/>
        </p:nvSpPr>
        <p:spPr>
          <a:xfrm>
            <a:off x="8939013" y="1874520"/>
            <a:ext cx="24297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المعيار</a:t>
            </a:r>
            <a:endParaRPr lang="ar-SA" sz="1900" dirty="0"/>
          </a:p>
        </p:txBody>
      </p:sp>
      <p:sp>
        <p:nvSpPr>
          <p:cNvPr id="7" name="Shape 5"/>
          <p:cNvSpPr/>
          <p:nvPr/>
        </p:nvSpPr>
        <p:spPr>
          <a:xfrm>
            <a:off x="5184702" y="1874520"/>
            <a:ext cx="3644583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8" name="Text 6"/>
          <p:cNvSpPr/>
          <p:nvPr/>
        </p:nvSpPr>
        <p:spPr>
          <a:xfrm>
            <a:off x="5184702" y="1874520"/>
            <a:ext cx="36445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يحتاج دعمًا</a:t>
            </a:r>
            <a:endParaRPr lang="ar-SA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4252014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74520"/>
            <a:ext cx="42520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متميز</a:t>
            </a:r>
            <a:endParaRPr lang="ar-SA" sz="1900" dirty="0"/>
          </a:p>
        </p:txBody>
      </p:sp>
      <p:sp>
        <p:nvSpPr>
          <p:cNvPr id="11" name="anim-g1-889"/>
          <p:cNvSpPr/>
          <p:nvPr/>
        </p:nvSpPr>
        <p:spPr>
          <a:xfrm>
            <a:off x="8939013" y="2514600"/>
            <a:ext cx="2429722" cy="797814"/>
          </a:xfrm>
          <a:prstGeom prst="roundRect">
            <a:avLst>
              <a:gd name="adj" fmla="val 137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2" name="anim-g1-890"/>
          <p:cNvSpPr/>
          <p:nvPr/>
        </p:nvSpPr>
        <p:spPr>
          <a:xfrm>
            <a:off x="9076173" y="2514600"/>
            <a:ext cx="2155402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🔌 الدائرة</a:t>
            </a:r>
            <a:endParaRPr lang="ar-SA" sz="2100" dirty="0"/>
          </a:p>
        </p:txBody>
      </p:sp>
      <p:sp>
        <p:nvSpPr>
          <p:cNvPr id="13" name="anim-g1-891"/>
          <p:cNvSpPr/>
          <p:nvPr/>
        </p:nvSpPr>
        <p:spPr>
          <a:xfrm>
            <a:off x="5184702" y="2514600"/>
            <a:ext cx="3644583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1-892"/>
          <p:cNvSpPr/>
          <p:nvPr/>
        </p:nvSpPr>
        <p:spPr>
          <a:xfrm>
            <a:off x="5321862" y="2514600"/>
            <a:ext cx="3370263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تعمل بمساعدة</a:t>
            </a:r>
            <a:endParaRPr lang="ar-SA" sz="2100" dirty="0"/>
          </a:p>
        </p:txBody>
      </p:sp>
      <p:sp>
        <p:nvSpPr>
          <p:cNvPr id="15" name="anim-g1-893"/>
          <p:cNvSpPr/>
          <p:nvPr/>
        </p:nvSpPr>
        <p:spPr>
          <a:xfrm>
            <a:off x="822960" y="2514600"/>
            <a:ext cx="4252014" cy="797814"/>
          </a:xfrm>
          <a:prstGeom prst="roundRect">
            <a:avLst>
              <a:gd name="adj" fmla="val 137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16" name="anim-g1-894"/>
          <p:cNvSpPr/>
          <p:nvPr/>
        </p:nvSpPr>
        <p:spPr>
          <a:xfrm>
            <a:off x="960120" y="2514600"/>
            <a:ext cx="3977694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مرتبة، وكل الأطراف من الفئة الآمنة</a:t>
            </a:r>
            <a:endParaRPr lang="ar-SA" sz="2100" dirty="0"/>
          </a:p>
        </p:txBody>
      </p:sp>
      <p:sp>
        <p:nvSpPr>
          <p:cNvPr id="17" name="anim-g2-895"/>
          <p:cNvSpPr/>
          <p:nvPr/>
        </p:nvSpPr>
        <p:spPr>
          <a:xfrm>
            <a:off x="8939013" y="3422142"/>
            <a:ext cx="2429722" cy="797814"/>
          </a:xfrm>
          <a:prstGeom prst="roundRect">
            <a:avLst>
              <a:gd name="adj" fmla="val 137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8" name="anim-g2-896"/>
          <p:cNvSpPr/>
          <p:nvPr/>
        </p:nvSpPr>
        <p:spPr>
          <a:xfrm>
            <a:off x="9076173" y="3422142"/>
            <a:ext cx="2155402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💻 الكود</a:t>
            </a:r>
            <a:endParaRPr lang="ar-SA" sz="2100" dirty="0"/>
          </a:p>
        </p:txBody>
      </p:sp>
      <p:sp>
        <p:nvSpPr>
          <p:cNvPr id="19" name="anim-g2-897"/>
          <p:cNvSpPr/>
          <p:nvPr/>
        </p:nvSpPr>
        <p:spPr>
          <a:xfrm>
            <a:off x="5184702" y="3422142"/>
            <a:ext cx="3644583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0" name="anim-g2-898"/>
          <p:cNvSpPr/>
          <p:nvPr/>
        </p:nvSpPr>
        <p:spPr>
          <a:xfrm>
            <a:off x="5321862" y="3422142"/>
            <a:ext cx="3370263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أرقام بلا أسماء</a:t>
            </a:r>
            <a:endParaRPr lang="ar-SA" sz="2100" dirty="0"/>
          </a:p>
        </p:txBody>
      </p:sp>
      <p:sp>
        <p:nvSpPr>
          <p:cNvPr id="21" name="anim-g2-899"/>
          <p:cNvSpPr/>
          <p:nvPr/>
        </p:nvSpPr>
        <p:spPr>
          <a:xfrm>
            <a:off x="822960" y="3422142"/>
            <a:ext cx="4252014" cy="797814"/>
          </a:xfrm>
          <a:prstGeom prst="roundRect">
            <a:avLst>
              <a:gd name="adj" fmla="val 137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2" name="anim-g2-900"/>
          <p:cNvSpPr/>
          <p:nvPr/>
        </p:nvSpPr>
        <p:spPr>
          <a:xfrm>
            <a:off x="960120" y="3422142"/>
            <a:ext cx="3977694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متغيرات واضحة وحلقات</a:t>
            </a:r>
            <a:endParaRPr lang="ar-SA" sz="2100" dirty="0"/>
          </a:p>
        </p:txBody>
      </p:sp>
      <p:sp>
        <p:nvSpPr>
          <p:cNvPr id="23" name="anim-g3-901"/>
          <p:cNvSpPr/>
          <p:nvPr/>
        </p:nvSpPr>
        <p:spPr>
          <a:xfrm>
            <a:off x="8939013" y="4329684"/>
            <a:ext cx="2429722" cy="797814"/>
          </a:xfrm>
          <a:prstGeom prst="roundRect">
            <a:avLst>
              <a:gd name="adj" fmla="val 137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24" name="anim-g3-902"/>
          <p:cNvSpPr/>
          <p:nvPr/>
        </p:nvSpPr>
        <p:spPr>
          <a:xfrm>
            <a:off x="9076173" y="4329684"/>
            <a:ext cx="2155402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🧪 الاختبار</a:t>
            </a:r>
            <a:endParaRPr lang="ar-SA" sz="2100" dirty="0"/>
          </a:p>
        </p:txBody>
      </p:sp>
      <p:sp>
        <p:nvSpPr>
          <p:cNvPr id="25" name="anim-g3-903"/>
          <p:cNvSpPr/>
          <p:nvPr/>
        </p:nvSpPr>
        <p:spPr>
          <a:xfrm>
            <a:off x="5184702" y="4329684"/>
            <a:ext cx="3644583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6" name="anim-g3-904"/>
          <p:cNvSpPr/>
          <p:nvPr/>
        </p:nvSpPr>
        <p:spPr>
          <a:xfrm>
            <a:off x="5321862" y="4329684"/>
            <a:ext cx="3370263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يعمل أحيانًا</a:t>
            </a:r>
            <a:endParaRPr lang="ar-SA" sz="2100" dirty="0"/>
          </a:p>
        </p:txBody>
      </p:sp>
      <p:sp>
        <p:nvSpPr>
          <p:cNvPr id="27" name="anim-g3-905"/>
          <p:cNvSpPr/>
          <p:nvPr/>
        </p:nvSpPr>
        <p:spPr>
          <a:xfrm>
            <a:off x="822960" y="4329684"/>
            <a:ext cx="4252014" cy="797814"/>
          </a:xfrm>
          <a:prstGeom prst="roundRect">
            <a:avLst>
              <a:gd name="adj" fmla="val 137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8" name="anim-g3-906"/>
          <p:cNvSpPr/>
          <p:nvPr/>
        </p:nvSpPr>
        <p:spPr>
          <a:xfrm>
            <a:off x="960120" y="4329684"/>
            <a:ext cx="3977694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اختبر كل جزء ثم الكل</a:t>
            </a:r>
            <a:endParaRPr lang="ar-SA" sz="2100" dirty="0"/>
          </a:p>
        </p:txBody>
      </p:sp>
      <p:sp>
        <p:nvSpPr>
          <p:cNvPr id="29" name="anim-g4-907"/>
          <p:cNvSpPr/>
          <p:nvPr/>
        </p:nvSpPr>
        <p:spPr>
          <a:xfrm>
            <a:off x="8939013" y="5237226"/>
            <a:ext cx="2429722" cy="797814"/>
          </a:xfrm>
          <a:prstGeom prst="roundRect">
            <a:avLst>
              <a:gd name="adj" fmla="val 137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30" name="anim-g4-908"/>
          <p:cNvSpPr/>
          <p:nvPr/>
        </p:nvSpPr>
        <p:spPr>
          <a:xfrm>
            <a:off x="9076173" y="5237226"/>
            <a:ext cx="2155402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✨ الإضافة</a:t>
            </a:r>
            <a:endParaRPr lang="ar-SA" sz="2100" dirty="0"/>
          </a:p>
        </p:txBody>
      </p:sp>
      <p:sp>
        <p:nvSpPr>
          <p:cNvPr id="31" name="anim-g4-909"/>
          <p:cNvSpPr/>
          <p:nvPr/>
        </p:nvSpPr>
        <p:spPr>
          <a:xfrm>
            <a:off x="5184702" y="5237226"/>
            <a:ext cx="3644583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2" name="anim-g4-910"/>
          <p:cNvSpPr/>
          <p:nvPr/>
        </p:nvSpPr>
        <p:spPr>
          <a:xfrm>
            <a:off x="5321862" y="5237226"/>
            <a:ext cx="3370263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المشروع كما هو</a:t>
            </a:r>
            <a:endParaRPr lang="ar-SA" sz="2100" dirty="0"/>
          </a:p>
        </p:txBody>
      </p:sp>
      <p:sp>
        <p:nvSpPr>
          <p:cNvPr id="33" name="anim-g4-911"/>
          <p:cNvSpPr/>
          <p:nvPr/>
        </p:nvSpPr>
        <p:spPr>
          <a:xfrm>
            <a:off x="822960" y="5237226"/>
            <a:ext cx="4252014" cy="797814"/>
          </a:xfrm>
          <a:prstGeom prst="roundRect">
            <a:avLst>
              <a:gd name="adj" fmla="val 137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34" name="anim-g4-912"/>
          <p:cNvSpPr/>
          <p:nvPr/>
        </p:nvSpPr>
        <p:spPr>
          <a:xfrm>
            <a:off x="960120" y="5237226"/>
            <a:ext cx="3977694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لمس أو PWM أو صوت من إبداعه</a:t>
            </a:r>
            <a:endParaRPr lang="ar-SA" sz="2100" dirty="0"/>
          </a:p>
        </p:txBody>
      </p:sp>
      <p:sp>
        <p:nvSpPr>
          <p:cNvPr id="35" name="Text 3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36" name="Text 3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مشروع التخرج  ·  ١٤٨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\.pptx-cache\s14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خارطة الطريق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علّم ESP32 لطلابك في ستة أسابيع</a:t>
            </a:r>
            <a:endParaRPr lang="ar-SA" sz="3800" dirty="0"/>
          </a:p>
        </p:txBody>
      </p:sp>
      <p:sp>
        <p:nvSpPr>
          <p:cNvPr id="5" name="anim-g1-913"/>
          <p:cNvSpPr/>
          <p:nvPr/>
        </p:nvSpPr>
        <p:spPr>
          <a:xfrm>
            <a:off x="822960" y="1920240"/>
            <a:ext cx="10545775" cy="594360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914"/>
          <p:cNvSpPr/>
          <p:nvPr/>
        </p:nvSpPr>
        <p:spPr>
          <a:xfrm>
            <a:off x="10728655" y="2011680"/>
            <a:ext cx="411480" cy="411480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915"/>
          <p:cNvSpPr/>
          <p:nvPr/>
        </p:nvSpPr>
        <p:spPr>
          <a:xfrm>
            <a:off x="10728655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916"/>
          <p:cNvSpPr/>
          <p:nvPr/>
        </p:nvSpPr>
        <p:spPr>
          <a:xfrm>
            <a:off x="1097280" y="1920240"/>
            <a:ext cx="9402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الأسبوع ١: ESP32 واللوحة والأطراف</a:t>
            </a:r>
            <a:pPr algn="r" indent="0" marL="0">
              <a:buNone/>
            </a:pPr>
            <a:r>
              <a:rPr lang="ar-SA" altLang="en-US" sz="18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— صيد الأطراف والليد الأزرق</a:t>
            </a:r>
            <a:endParaRPr lang="ar-SA" sz="2200" dirty="0"/>
          </a:p>
        </p:txBody>
      </p:sp>
      <p:sp>
        <p:nvSpPr>
          <p:cNvPr id="9" name="anim-g2-917"/>
          <p:cNvSpPr/>
          <p:nvPr/>
        </p:nvSpPr>
        <p:spPr>
          <a:xfrm>
            <a:off x="822960" y="2624328"/>
            <a:ext cx="10545775" cy="594360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918"/>
          <p:cNvSpPr/>
          <p:nvPr/>
        </p:nvSpPr>
        <p:spPr>
          <a:xfrm>
            <a:off x="10728655" y="2715768"/>
            <a:ext cx="411480" cy="411480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919"/>
          <p:cNvSpPr/>
          <p:nvPr/>
        </p:nvSpPr>
        <p:spPr>
          <a:xfrm>
            <a:off x="10728655" y="2715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920"/>
          <p:cNvSpPr/>
          <p:nvPr/>
        </p:nvSpPr>
        <p:spPr>
          <a:xfrm>
            <a:off x="1097280" y="2624328"/>
            <a:ext cx="9402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الأسبوع ٢: الرفع وWokwi والدوائر</a:t>
            </a:r>
            <a:pPr algn="r" indent="0" marL="0">
              <a:buNone/>
            </a:pPr>
            <a:r>
              <a:rPr lang="ar-SA" altLang="en-US" sz="18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— أول دائرة افتراضية وحقيقية</a:t>
            </a:r>
            <a:endParaRPr lang="ar-SA" sz="2200" dirty="0"/>
          </a:p>
        </p:txBody>
      </p:sp>
      <p:sp>
        <p:nvSpPr>
          <p:cNvPr id="13" name="anim-g3-921"/>
          <p:cNvSpPr/>
          <p:nvPr/>
        </p:nvSpPr>
        <p:spPr>
          <a:xfrm>
            <a:off x="822960" y="3328416"/>
            <a:ext cx="10545775" cy="594360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922"/>
          <p:cNvSpPr/>
          <p:nvPr/>
        </p:nvSpPr>
        <p:spPr>
          <a:xfrm>
            <a:off x="10728655" y="3419856"/>
            <a:ext cx="411480" cy="411480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923"/>
          <p:cNvSpPr/>
          <p:nvPr/>
        </p:nvSpPr>
        <p:spPr>
          <a:xfrm>
            <a:off x="10728655" y="34198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924"/>
          <p:cNvSpPr/>
          <p:nvPr/>
        </p:nvSpPr>
        <p:spPr>
          <a:xfrm>
            <a:off x="1097280" y="3328416"/>
            <a:ext cx="9402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الأسبوع ٣: أوم والوميض</a:t>
            </a:r>
            <a:pPr algn="r" indent="0" marL="0">
              <a:buNone/>
            </a:pPr>
            <a:r>
              <a:rPr lang="ar-SA" altLang="en-US" sz="18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— رسائل الضوء</a:t>
            </a:r>
            <a:endParaRPr lang="ar-SA" sz="2200" dirty="0"/>
          </a:p>
        </p:txBody>
      </p:sp>
      <p:sp>
        <p:nvSpPr>
          <p:cNvPr id="17" name="anim-g4-925"/>
          <p:cNvSpPr/>
          <p:nvPr/>
        </p:nvSpPr>
        <p:spPr>
          <a:xfrm>
            <a:off x="822960" y="4032504"/>
            <a:ext cx="10545775" cy="594360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926"/>
          <p:cNvSpPr/>
          <p:nvPr/>
        </p:nvSpPr>
        <p:spPr>
          <a:xfrm>
            <a:off x="10728655" y="4123944"/>
            <a:ext cx="411480" cy="411480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927"/>
          <p:cNvSpPr/>
          <p:nvPr/>
        </p:nvSpPr>
        <p:spPr>
          <a:xfrm>
            <a:off x="10728655" y="41239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928"/>
          <p:cNvSpPr/>
          <p:nvPr/>
        </p:nvSpPr>
        <p:spPr>
          <a:xfrm>
            <a:off x="1097280" y="4032504"/>
            <a:ext cx="9402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الأسبوع ٤: إشارة المرور والمتغيرات</a:t>
            </a:r>
            <a:pPr algn="r" indent="0" marL="0">
              <a:buNone/>
            </a:pPr>
            <a:r>
              <a:rPr lang="ar-SA" altLang="en-US" sz="18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— والشاشة التسلسلية</a:t>
            </a:r>
            <a:endParaRPr lang="ar-SA" sz="2200" dirty="0"/>
          </a:p>
        </p:txBody>
      </p:sp>
      <p:sp>
        <p:nvSpPr>
          <p:cNvPr id="21" name="anim-g5-929"/>
          <p:cNvSpPr/>
          <p:nvPr/>
        </p:nvSpPr>
        <p:spPr>
          <a:xfrm>
            <a:off x="822960" y="4736592"/>
            <a:ext cx="10545775" cy="594360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2" name="anim-g5-930"/>
          <p:cNvSpPr/>
          <p:nvPr/>
        </p:nvSpPr>
        <p:spPr>
          <a:xfrm>
            <a:off x="10728655" y="4828032"/>
            <a:ext cx="411480" cy="411480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23" name="anim-g5-931"/>
          <p:cNvSpPr/>
          <p:nvPr/>
        </p:nvSpPr>
        <p:spPr>
          <a:xfrm>
            <a:off x="10728655" y="4828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٥</a:t>
            </a:r>
            <a:endParaRPr lang="ar-SA" sz="2000" dirty="0"/>
          </a:p>
        </p:txBody>
      </p:sp>
      <p:sp>
        <p:nvSpPr>
          <p:cNvPr id="24" name="anim-g5-932"/>
          <p:cNvSpPr/>
          <p:nvPr/>
        </p:nvSpPr>
        <p:spPr>
          <a:xfrm>
            <a:off x="1097280" y="4736592"/>
            <a:ext cx="9402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الأسبوع ٥: PWM والأزرار واللمس</a:t>
            </a:r>
            <a:pPr algn="r" indent="0" marL="0">
              <a:buNone/>
            </a:pPr>
            <a:r>
              <a:rPr lang="ar-SA" altLang="en-US" sz="18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— مصباح المزاج وبيانو الفاكهة</a:t>
            </a:r>
            <a:endParaRPr lang="ar-SA" sz="2200" dirty="0"/>
          </a:p>
        </p:txBody>
      </p:sp>
      <p:sp>
        <p:nvSpPr>
          <p:cNvPr id="25" name="anim-g6-933"/>
          <p:cNvSpPr/>
          <p:nvPr/>
        </p:nvSpPr>
        <p:spPr>
          <a:xfrm>
            <a:off x="822960" y="5440680"/>
            <a:ext cx="10545775" cy="594360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6" name="anim-g6-934"/>
          <p:cNvSpPr/>
          <p:nvPr/>
        </p:nvSpPr>
        <p:spPr>
          <a:xfrm>
            <a:off x="10728655" y="5532120"/>
            <a:ext cx="411480" cy="411480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27" name="anim-g6-935"/>
          <p:cNvSpPr/>
          <p:nvPr/>
        </p:nvSpPr>
        <p:spPr>
          <a:xfrm>
            <a:off x="10728655" y="5532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٦</a:t>
            </a:r>
            <a:endParaRPr lang="ar-SA" sz="2000" dirty="0"/>
          </a:p>
        </p:txBody>
      </p:sp>
      <p:sp>
        <p:nvSpPr>
          <p:cNvPr id="28" name="anim-g6-936"/>
          <p:cNvSpPr/>
          <p:nvPr/>
        </p:nvSpPr>
        <p:spPr>
          <a:xfrm>
            <a:off x="1097280" y="5440680"/>
            <a:ext cx="9402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الأسبوع ٦: مشروع التخرج</a:t>
            </a:r>
            <a:pPr algn="r" indent="0" marL="0">
              <a:buNone/>
            </a:pPr>
            <a:r>
              <a:rPr lang="ar-SA" altLang="en-US" sz="18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— إشارة المشاة والمعرض</a:t>
            </a:r>
            <a:endParaRPr lang="ar-SA" sz="2200" dirty="0"/>
          </a:p>
        </p:txBody>
      </p:sp>
      <p:sp>
        <p:nvSpPr>
          <p:cNvPr id="29" name="Text 27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مشروع التخرج  ·  ١٥٠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الجزء الثاني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القادم: ESP32 تتصل بالعالم</a:t>
            </a:r>
            <a:endParaRPr lang="ar-SA" sz="3800" dirty="0"/>
          </a:p>
        </p:txBody>
      </p:sp>
      <p:sp>
        <p:nvSpPr>
          <p:cNvPr id="5" name="anim-g1-937"/>
          <p:cNvSpPr/>
          <p:nvPr/>
        </p:nvSpPr>
        <p:spPr>
          <a:xfrm>
            <a:off x="8036357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938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939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📶</a:t>
            </a:r>
            <a:endParaRPr lang="ar-SA" sz="2200" dirty="0"/>
          </a:p>
        </p:txBody>
      </p:sp>
      <p:sp>
        <p:nvSpPr>
          <p:cNvPr id="8" name="anim-g1-940"/>
          <p:cNvSpPr/>
          <p:nvPr/>
        </p:nvSpPr>
        <p:spPr>
          <a:xfrm>
            <a:off x="8310677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الواي فاي</a:t>
            </a:r>
            <a:endParaRPr lang="ar-SA" sz="2200" dirty="0"/>
          </a:p>
        </p:txBody>
      </p:sp>
      <p:sp>
        <p:nvSpPr>
          <p:cNvPr id="9" name="anim-g1-941"/>
          <p:cNvSpPr/>
          <p:nvPr/>
        </p:nvSpPr>
        <p:spPr>
          <a:xfrm>
            <a:off x="8310677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صفحة ويب على ESP32 تتحكم بالليدات من الجوال</a:t>
            </a:r>
            <a:endParaRPr lang="ar-SA" sz="1900" dirty="0"/>
          </a:p>
        </p:txBody>
      </p:sp>
      <p:sp>
        <p:nvSpPr>
          <p:cNvPr id="10" name="anim-g2-942"/>
          <p:cNvSpPr/>
          <p:nvPr/>
        </p:nvSpPr>
        <p:spPr>
          <a:xfrm>
            <a:off x="4429658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943"/>
          <p:cNvSpPr/>
          <p:nvPr/>
        </p:nvSpPr>
        <p:spPr>
          <a:xfrm>
            <a:off x="6920789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944"/>
          <p:cNvSpPr/>
          <p:nvPr/>
        </p:nvSpPr>
        <p:spPr>
          <a:xfrm>
            <a:off x="6920789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📡</a:t>
            </a:r>
            <a:endParaRPr lang="ar-SA" sz="2200" dirty="0"/>
          </a:p>
        </p:txBody>
      </p:sp>
      <p:sp>
        <p:nvSpPr>
          <p:cNvPr id="13" name="anim-g2-945"/>
          <p:cNvSpPr/>
          <p:nvPr/>
        </p:nvSpPr>
        <p:spPr>
          <a:xfrm>
            <a:off x="4703978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ESP-NOW</a:t>
            </a:r>
            <a:endParaRPr lang="ar-SA" sz="2200" dirty="0"/>
          </a:p>
        </p:txBody>
      </p:sp>
      <p:sp>
        <p:nvSpPr>
          <p:cNvPr id="14" name="anim-g2-946"/>
          <p:cNvSpPr/>
          <p:nvPr/>
        </p:nvSpPr>
        <p:spPr>
          <a:xfrm>
            <a:off x="4703978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لوحات تتكلم بلا راوتر، كما في روبوتي لمسة تراث</a:t>
            </a:r>
            <a:endParaRPr lang="ar-SA" sz="1900" dirty="0"/>
          </a:p>
        </p:txBody>
      </p:sp>
      <p:sp>
        <p:nvSpPr>
          <p:cNvPr id="15" name="anim-g3-947"/>
          <p:cNvSpPr/>
          <p:nvPr/>
        </p:nvSpPr>
        <p:spPr>
          <a:xfrm>
            <a:off x="822960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948"/>
          <p:cNvSpPr/>
          <p:nvPr/>
        </p:nvSpPr>
        <p:spPr>
          <a:xfrm>
            <a:off x="331409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949"/>
          <p:cNvSpPr/>
          <p:nvPr/>
        </p:nvSpPr>
        <p:spPr>
          <a:xfrm>
            <a:off x="331409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☁️</a:t>
            </a:r>
            <a:endParaRPr lang="ar-SA" sz="2200" dirty="0"/>
          </a:p>
        </p:txBody>
      </p:sp>
      <p:sp>
        <p:nvSpPr>
          <p:cNvPr id="18" name="anim-g3-950"/>
          <p:cNvSpPr/>
          <p:nvPr/>
        </p:nvSpPr>
        <p:spPr>
          <a:xfrm>
            <a:off x="1097280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إنترنت الأشياء</a:t>
            </a:r>
            <a:endParaRPr lang="ar-SA" sz="2200" dirty="0"/>
          </a:p>
        </p:txBody>
      </p:sp>
      <p:sp>
        <p:nvSpPr>
          <p:cNvPr id="19" name="anim-g3-951"/>
          <p:cNvSpPr/>
          <p:nvPr/>
        </p:nvSpPr>
        <p:spPr>
          <a:xfrm>
            <a:off x="1097280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بيانات الحساسات على السحابة</a:t>
            </a:r>
            <a:endParaRPr lang="ar-SA" sz="1900" dirty="0"/>
          </a:p>
        </p:txBody>
      </p:sp>
      <p:sp>
        <p:nvSpPr>
          <p:cNvPr id="20" name="Text 18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مشروع التخرج  ·  ١٥١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72223" y="457200"/>
            <a:ext cx="4096512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72223" y="457200"/>
            <a:ext cx="4096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نشاط ختامي — ثلاث دقائق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خطتي مع طلابي</a:t>
            </a:r>
            <a:endParaRPr lang="ar-SA" sz="3800" dirty="0"/>
          </a:p>
        </p:txBody>
      </p:sp>
      <p:sp>
        <p:nvSpPr>
          <p:cNvPr id="5" name="anim-g1-952"/>
          <p:cNvSpPr/>
          <p:nvPr/>
        </p:nvSpPr>
        <p:spPr>
          <a:xfrm>
            <a:off x="10637215" y="2286000"/>
            <a:ext cx="731520" cy="731520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6" name="anim-g1-953"/>
          <p:cNvSpPr/>
          <p:nvPr/>
        </p:nvSpPr>
        <p:spPr>
          <a:xfrm>
            <a:off x="10637215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400" dirty="0"/>
          </a:p>
        </p:txBody>
      </p:sp>
      <p:sp>
        <p:nvSpPr>
          <p:cNvPr id="7" name="anim-g1-954"/>
          <p:cNvSpPr/>
          <p:nvPr/>
        </p:nvSpPr>
        <p:spPr>
          <a:xfrm>
            <a:off x="4023360" y="2194560"/>
            <a:ext cx="6339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أي محور ستبدأ به مع طلابك؟ ولماذا؟</a:t>
            </a:r>
            <a:endParaRPr lang="ar-SA" sz="2200" dirty="0"/>
          </a:p>
        </p:txBody>
      </p:sp>
      <p:sp>
        <p:nvSpPr>
          <p:cNvPr id="8" name="anim-g2-955"/>
          <p:cNvSpPr/>
          <p:nvPr/>
        </p:nvSpPr>
        <p:spPr>
          <a:xfrm>
            <a:off x="10637215" y="3383280"/>
            <a:ext cx="731520" cy="731520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9" name="anim-g2-956"/>
          <p:cNvSpPr/>
          <p:nvPr/>
        </p:nvSpPr>
        <p:spPr>
          <a:xfrm>
            <a:off x="10637215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400" dirty="0"/>
          </a:p>
        </p:txBody>
      </p:sp>
      <p:sp>
        <p:nvSpPr>
          <p:cNvPr id="10" name="anim-g2-957"/>
          <p:cNvSpPr/>
          <p:nvPr/>
        </p:nvSpPr>
        <p:spPr>
          <a:xfrm>
            <a:off x="4023360" y="3291840"/>
            <a:ext cx="6339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أي نشاط من الدورة سيحبه طلابك أكثر؟</a:t>
            </a:r>
            <a:endParaRPr lang="ar-SA" sz="2200" dirty="0"/>
          </a:p>
        </p:txBody>
      </p:sp>
      <p:sp>
        <p:nvSpPr>
          <p:cNvPr id="11" name="anim-g3-958"/>
          <p:cNvSpPr/>
          <p:nvPr/>
        </p:nvSpPr>
        <p:spPr>
          <a:xfrm>
            <a:off x="10637215" y="4480560"/>
            <a:ext cx="731520" cy="731520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2" name="anim-g3-959"/>
          <p:cNvSpPr/>
          <p:nvPr/>
        </p:nvSpPr>
        <p:spPr>
          <a:xfrm>
            <a:off x="10637215" y="4480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400" dirty="0"/>
          </a:p>
        </p:txBody>
      </p:sp>
      <p:sp>
        <p:nvSpPr>
          <p:cNvPr id="13" name="anim-g3-960"/>
          <p:cNvSpPr/>
          <p:nvPr/>
        </p:nvSpPr>
        <p:spPr>
          <a:xfrm>
            <a:off x="4023360" y="4389120"/>
            <a:ext cx="6339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ما الذي تحتاجه من المدرسة لتبدأ؟</a:t>
            </a:r>
            <a:endParaRPr lang="ar-SA" sz="2200" dirty="0"/>
          </a:p>
        </p:txBody>
      </p:sp>
      <p:sp>
        <p:nvSpPr>
          <p:cNvPr id="14" name="Shape 12"/>
          <p:cNvSpPr/>
          <p:nvPr/>
        </p:nvSpPr>
        <p:spPr>
          <a:xfrm>
            <a:off x="822960" y="2194560"/>
            <a:ext cx="2834640" cy="2834640"/>
          </a:xfrm>
          <a:prstGeom prst="ellipse">
            <a:avLst/>
          </a:prstGeom>
          <a:solidFill>
            <a:srgbClr val="FFFFFF">
              <a:alpha val="5000"/>
            </a:srgbClr>
          </a:solidFill>
          <a:ln w="88900">
            <a:solidFill>
              <a:srgbClr val="D9AE4B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8346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60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3:00</a:t>
            </a:r>
            <a:endParaRPr lang="ar-SA" sz="6000" dirty="0"/>
          </a:p>
        </p:txBody>
      </p:sp>
      <p:sp>
        <p:nvSpPr>
          <p:cNvPr id="16" name="Text 14"/>
          <p:cNvSpPr/>
          <p:nvPr/>
        </p:nvSpPr>
        <p:spPr>
          <a:xfrm>
            <a:off x="822960" y="3840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٣ دقائق</a:t>
            </a:r>
            <a:endParaRPr lang="ar-SA" sz="1600" dirty="0"/>
          </a:p>
        </p:txBody>
      </p:sp>
      <p:sp>
        <p:nvSpPr>
          <p:cNvPr id="17" name="Text 1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مشروع التخرج  ·  ١٥٢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2264" y="118872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52264" y="11887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رسالة الدورة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الأردوينو علّم طلابنا كيف يصنعون…</a:t>
            </a:r>
            <a:endParaRPr lang="ar-SA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 وESP32 يعلّمهم كيف يصلون بما يصنعونه إلى العالم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مشروع التخرج  ·  ١٥٣</a:t>
            </a:r>
            <a:endParaRPr lang="ar-SA" sz="12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15788" y="914400"/>
            <a:ext cx="960120" cy="960120"/>
          </a:xfrm>
          <a:prstGeom prst="roundRect">
            <a:avLst>
              <a:gd name="adj" fmla="val 26667"/>
            </a:avLst>
          </a:prstGeom>
          <a:solidFill>
            <a:srgbClr val="D9AE4B"/>
          </a:solidFill>
          <a:ln/>
        </p:spPr>
      </p:sp>
      <p:sp>
        <p:nvSpPr>
          <p:cNvPr id="3" name="Text 1"/>
          <p:cNvSpPr/>
          <p:nvPr/>
        </p:nvSpPr>
        <p:spPr>
          <a:xfrm>
            <a:off x="5615788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</a:t>
            </a:r>
            <a:endParaRPr lang="ar-SA" sz="4400" dirty="0"/>
          </a:p>
        </p:txBody>
      </p:sp>
      <p:sp>
        <p:nvSpPr>
          <p:cNvPr id="4" name="Text 2"/>
          <p:cNvSpPr/>
          <p:nvPr/>
        </p:nvSpPr>
        <p:spPr>
          <a:xfrm>
            <a:off x="0" y="2194560"/>
            <a:ext cx="12191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FFF3D6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شكرًا لكم</a:t>
            </a:r>
            <a:endParaRPr lang="ar-SA" sz="8000" dirty="0"/>
          </a:p>
        </p:txBody>
      </p:sp>
      <p:sp>
        <p:nvSpPr>
          <p:cNvPr id="5" name="Text 3"/>
          <p:cNvSpPr/>
          <p:nvPr/>
        </p:nvSpPr>
        <p:spPr>
          <a:xfrm>
            <a:off x="0" y="356616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إلى اللقاء في الجزء الثاني: ESP32 تتصل بالعالم</a:t>
            </a:r>
            <a:endParaRPr lang="ar-SA" sz="2800" dirty="0"/>
          </a:p>
        </p:txBody>
      </p:sp>
      <p:sp>
        <p:nvSpPr>
          <p:cNvPr id="6" name="Shape 4"/>
          <p:cNvSpPr/>
          <p:nvPr/>
        </p:nvSpPr>
        <p:spPr>
          <a:xfrm>
            <a:off x="5364328" y="4434840"/>
            <a:ext cx="1463040" cy="36576"/>
          </a:xfrm>
          <a:prstGeom prst="rect">
            <a:avLst/>
          </a:prstGeom>
          <a:solidFill>
            <a:srgbClr val="D9AE4B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ESP32 للمعلمين · إعداد وتقديم: أ. محمد زيتون</a:t>
            </a:r>
            <a:endParaRPr lang="ar-SA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154</Slides>
  <Notes>154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154</vt:i4>
      </vt:variant>
    </vt:vector>
  </HeadingPairs>
  <TitlesOfParts>
    <vt:vector size="1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ESP32 للمعلمين</dc:title>
  <dc:subject>PptxGenJS Presentation</dc:subject>
  <dc:creator>أ. محمد زيتون</dc:creator>
  <cp:lastModifiedBy>أ. محمد زيتون</cp:lastModifiedBy>
  <cp:revision>1</cp:revision>
  <dcterms:created xsi:type="dcterms:W3CDTF">2026-10-02T21:15:49Z</dcterms:created>
  <dcterms:modified xsi:type="dcterms:W3CDTF">2026-10-02T21:15:49Z</dcterms:modified>
</cp:coreProperties>
</file>