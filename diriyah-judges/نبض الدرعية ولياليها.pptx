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حكامنا الكرام. يسعدنا أن نقدّم لكم مشروعنا: «نبض الدرعية ولياليها».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دقيقة دون كلام كثير. الستارة تُفتح بالمحرك الخطوي. الزائر يقف عند المحطة الأولى، فيراه حساس IR، فيضيء الكشاف وتدور ألوان RGB، وتطير رسالة لاسلكية إلى لوحة الصوت فيحكي الراوي. ثم المحطة الثانية والثالثة. وفي النهاية يختار الزائر بزر كيف نحمي التراث، فيسمع نتيجة اختياره. اسأل اللجنة: «من قرر أي محطة تتكلم؟» الجواب: النظام نفسه، من بيانات الحساسات.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عروض الصوت والضوء التقليدية ثابتة ١٠٠٪. ونحن أردنا عرضًا يرى الزائر ويتفاعل معه، ثم يسلّمه سؤالًا حقيقيًا عن حماية التراث.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قراران مستقلان في المشروع: الأول يتخذه النظام (أي محطة تتكلم الآن؟)، والثاني يتخذه الزائر (كيف نحمي التراث؟). وهذا يحقق شرط الاستقلالية في قواعد WRO.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محطة لها حساس وكشاف وضوء ملوّن ومقطع صوتي خاص. والمحطة الثالثة تنقلنا من الماضي إلى مسؤوليتنا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المشروع يجمع الهوية الوطنية والهدف العالمي للتنمية المستدامة، وفي الوقت نفسه يحقق شرط WRO الهندسي: قرار مبني على بيانات حسية.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انقر أي جزء لتشرحه، أو اترك الجولة التلقائية. اللوحة الأولى ترى وتضيء: ٣ حساسات IR، وPCA9685 يقود ٣ ليدات RGB، و٣ كشافات. واللوحة الثانية تتكلم: DFPlayer وسماعة وأزرار القرار. وبينهما ESP-NOW لاسلكيًا. والستارة بمحرك خطوي. لماذا لوحتان؟ فصلنا «الرؤية والضوء» عن «الصوت والقرار»: كل لوحة تُبنى وتُختبر وحدها، والعطل في واحدة لا يوقف الأخرى.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الأطراف من الكود الفعلي. لاحظوا: أزرار القرار في لوحة الصوت تستخدم INPUT_PULLUP فلا تحتاج مقاومات خارجية.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قصة هندسية حقيقية. بدأنا ببيت نجدي بأزرار، ثم عرض صوت وضوء، ثم روبوت يتحرك على مسار. كل نسخة كشفت مشكلة: الأولى بلا قرار، والثانية ثابتة، والثالثة معقدة جدًا. فبسّطنا إلى ثلاث محطات ثابتة لكن ذكية: صفر أجزاء متحركة في المحطات يعني صفر مفاجآت يوم العرض.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منهجيتنا: لا نجمع شيئًا دفعة واحدة. كل قطعة لها برنامج اختبار خاص بها، وحين تنجح ننتقل للتي بعدها. هكذا اكتشفنا سلكًا مرتخيًا في RGB2 وRGB3، وزرًا أحمر لحامه ضعيف، قبل أن تختلط المشكلات.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المحرك الخطوي لا يدور دورانًا حرًا: يتحرك خطوة خطوة حين نشغّل ملفاته الأربعة بترتيب معيّن (٨ حالات نصف خطوة). الأضواء الحمراء على ULN2003 تُظهر الملف الذي يعمل الآن. حرّك منزلق التأخير: المدة ثابتة ١٠ ثوانٍ، فإن قلّ التأخير زادت الخطوات وتجاوزت الستارة نهايتها، وإن زاد لم تُفتح كاملة. لهذا اخترنا ٣ مللي ثانية.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moveForDuration(10000, true) تفتح الستارة، وmoveForDuration(10000, false) تُغلقها.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القرار المستقل الأول. شاهدوا: الزائر يقف عند المحطة ٢ فتعمل ١٢ ثانية حتى يكتمل صوتها. يتحرك إلى ٣ أثناء ذلك، فيراه الحساس، لكن النظام يتجاهله مؤقتًا حتى لا يقطع الراوي في منتصف الجملة. وحين يصل زائران معًا، الأولوية للمحطة الأصغر رقمًا. جرّبوا بأنفسكم: اضغطوا «زائر عند…».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يوجد delay في الحلقة: البرنامج يبقى حرًا يقرأ ويحدّث الألوان في كل لحظة.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PCA9685 يعطينا ١٦ قناة PWM بدقة ٤٠٩٦ درجة عبر سلكين فقط (I2C). لكل محطة ثلاث قنوات: أحمر وأخضر وأزرق. نحوّل «الدرجة اللونية» من ٠ إلى ٣٥٩ إلى ثلاث قيم، ونقسم الدائرة إلى ستة قطاعات في كل قطاع لون يصعد ولون ينزل. لاحظوا الأعمدة في اللوحة الزرقاء. غيّروا السرعة أو المحطة.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وفي loop: كل ١٥ مللي ثانية نزيد الدرجة واحدًا، فتكتمل الدورة كل ٥٫٤ ثانية تقريبًا.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حين تُفعَّل المحطة، ترسل لوحة الحساسات حرفًا واحدًا ('2' أو '3' أو '4') بالبث إلى أي لوحة تسمع. لوحة الصوت تلتقطه وتشغّل المقطع بالرقم نفسه. لا سلك يُقطع، ولا راوتر يتعطل. اضغطوا «أرسل».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لا نشغّل الصوت داخل دالة الاستقبال مباشرة؟ لأنها تعمل في مهمة الاتصال، والتأخير فيها قد يُفقدنا رسائل. فنحفظ الحرف وننفذ في loop.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القرار المستقل الثاني. لا يوجد جواب صح وجواب خطأ، بل ثلاث سياسات حقيقية: التوعية والمشاركة والابتكار، ولكل منها نتيجة صوتية. والزر الأصفر يعيد الترحيب. انظروا إلى الإشارة: حين أضغط الزر وأبقيه مضغوطًا، لا يتكرر الصوت؛ النقطة الذهبية تظهر مرة واحدة فقط عند لحظة الضغط.
🎬 المشهد يتحرك وحده أثناء العرض، وهو تفاعلي بالكامل في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الدالة pressedOnce تحفظ حالة كل زر في متغير خاص به، فتعمل للأزرار الأربعة بالكود نفسه.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صف هنا حدث فعلًا أثناء البناء. اذكروا مثالًا واحدًا بالتفصيل: مشكلة انقطاع الصوت ومدة البقاء.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 قوي، ثم: نشكركم على وقتكم، ونرحّب بأي سؤال.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نرحّب بأسئلتكم.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gif"/><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gif"/><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gif"/><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gif"/><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gif"/><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image" Target="../media/image-16-5.jpg"/><Relationship Id="rId6" Type="http://schemas.openxmlformats.org/officeDocument/2006/relationships/image" Target="../media/image-16-6.jp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gif"/><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image" Target="../media/image-18-6.jp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gif"/><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jpg"/><Relationship Id="rId6" Type="http://schemas.openxmlformats.org/officeDocument/2006/relationships/image" Target="../media/image-20-6.jpg"/><Relationship Id="rId7" Type="http://schemas.openxmlformats.org/officeDocument/2006/relationships/image" Target="../media/image-20-7.jp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WRO 2026 · Future Innovators · عرض لجنة التحكيم</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نبض الدرعية ولياليها</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عرض صوت وضوء تفاعلي… يرى الزائر ويقرر بنفسه</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فريق مدارس الأرقم</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user\projects\younes-training\diriyah-judges\.pptx-cache\s2.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2.gif">    </p:cNvPr>
          <p:cNvPicPr>
            <a:picLocks noChangeAspect="1"/>
          </p:cNvPicPr>
          <p:nvPr/>
        </p:nvPicPr>
        <p:blipFill>
          <a:blip r:embed="rId2"/>
          <a:stretch>
            <a:fillRect/>
          </a:stretch>
        </p:blipFill>
        <p:spPr>
          <a:xfrm>
            <a:off x="1492213" y="1482030"/>
            <a:ext cx="9207269" cy="44393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المشكلة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عروض الصوت والضوء جميلة… لكنها لا ترى أحدًا</a:t>
            </a:r>
            <a:endParaRPr lang="ar-SA" sz="3200" dirty="0"/>
          </a:p>
        </p:txBody>
      </p:sp>
      <p:sp>
        <p:nvSpPr>
          <p:cNvPr id="5" name="anim-g1-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
          <p:cNvSpPr/>
          <p:nvPr/>
        </p:nvSpPr>
        <p:spPr>
          <a:xfrm>
            <a:off x="10527487" y="2267712"/>
            <a:ext cx="566928" cy="566928"/>
          </a:xfrm>
          <a:prstGeom prst="roundRect">
            <a:avLst>
              <a:gd name="adj" fmla="val 32258"/>
            </a:avLst>
          </a:prstGeom>
          <a:solidFill>
            <a:srgbClr val="F7E6BC"/>
          </a:solidFill>
          <a:ln/>
        </p:spPr>
      </p:sp>
      <p:sp>
        <p:nvSpPr>
          <p:cNvPr id="7" name="anim-g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نسخة واحدة لكل الناس</a:t>
            </a:r>
            <a:endParaRPr lang="ar-SA" sz="2200" dirty="0"/>
          </a:p>
        </p:txBody>
      </p:sp>
      <p:sp>
        <p:nvSpPr>
          <p:cNvPr id="9" name="anim-g1-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نفس الترتيب ونفس التوقيت في كل مرة، وقف الزائر أو مشى</a:t>
            </a:r>
            <a:endParaRPr lang="ar-SA" sz="1900" dirty="0"/>
          </a:p>
        </p:txBody>
      </p:sp>
      <p:sp>
        <p:nvSpPr>
          <p:cNvPr id="10" name="anim-g2-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7"/>
          <p:cNvSpPr/>
          <p:nvPr/>
        </p:nvSpPr>
        <p:spPr>
          <a:xfrm>
            <a:off x="6920789" y="2267712"/>
            <a:ext cx="566928" cy="566928"/>
          </a:xfrm>
          <a:prstGeom prst="roundRect">
            <a:avLst>
              <a:gd name="adj" fmla="val 32258"/>
            </a:avLst>
          </a:prstGeom>
          <a:solidFill>
            <a:srgbClr val="F7E6BC"/>
          </a:solidFill>
          <a:ln/>
        </p:spPr>
      </p:sp>
      <p:sp>
        <p:nvSpPr>
          <p:cNvPr id="12" name="anim-g2-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الزائر متفرّج فقط</a:t>
            </a:r>
            <a:endParaRPr lang="ar-SA" sz="2200" dirty="0"/>
          </a:p>
        </p:txBody>
      </p:sp>
      <p:sp>
        <p:nvSpPr>
          <p:cNvPr id="14" name="anim-g2-1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يختار ولا يشارك، فينسى ما سمعه بسرعة</a:t>
            </a:r>
            <a:endParaRPr lang="ar-SA" sz="1900" dirty="0"/>
          </a:p>
        </p:txBody>
      </p:sp>
      <p:sp>
        <p:nvSpPr>
          <p:cNvPr id="15" name="anim-g3-1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2"/>
          <p:cNvSpPr/>
          <p:nvPr/>
        </p:nvSpPr>
        <p:spPr>
          <a:xfrm>
            <a:off x="3314090" y="2267712"/>
            <a:ext cx="566928" cy="566928"/>
          </a:xfrm>
          <a:prstGeom prst="roundRect">
            <a:avLst>
              <a:gd name="adj" fmla="val 32258"/>
            </a:avLst>
          </a:prstGeom>
          <a:solidFill>
            <a:srgbClr val="F7E6BC"/>
          </a:solidFill>
          <a:ln/>
        </p:spPr>
      </p:sp>
      <p:sp>
        <p:nvSpPr>
          <p:cNvPr id="17" name="anim-g3-1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التراث يحتاج حماية</a:t>
            </a:r>
            <a:endParaRPr lang="ar-SA" sz="2200" dirty="0"/>
          </a:p>
        </p:txBody>
      </p:sp>
      <p:sp>
        <p:nvSpPr>
          <p:cNvPr id="19" name="anim-g3-1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المشاهدة وحدها لا تصنع إنسانًا يحافظ على الدرعية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الفكرة والهدف  ·  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91176" y="1188720"/>
            <a:ext cx="1609344"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91176" y="1188720"/>
            <a:ext cx="160934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الفكرة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عرضٌ لا يعيد نفسه…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يكتشف أين يقف الزائر فيقرر ماذا يحكي، ثم يسلّمه هو القرار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نبض الدرعية ولياليها</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الفكرة والهدف  ·  ٤</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564831" y="457200"/>
            <a:ext cx="3803904" cy="457200"/>
          </a:xfrm>
          <a:prstGeom prst="roundRect">
            <a:avLst>
              <a:gd name="adj" fmla="val 50000"/>
            </a:avLst>
          </a:prstGeom>
          <a:solidFill>
            <a:srgbClr val="F6EBCF"/>
          </a:solidFill>
          <a:ln/>
        </p:spPr>
      </p:sp>
      <p:sp>
        <p:nvSpPr>
          <p:cNvPr id="3" name="Text 1"/>
          <p:cNvSpPr/>
          <p:nvPr/>
        </p:nvSpPr>
        <p:spPr>
          <a:xfrm>
            <a:off x="7564831" y="457200"/>
            <a:ext cx="380390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الدرعية في ثلاث محطات</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من مهد الدولة السعودية الأولى (١٧٢٧م)… إلى سؤال المستقبل</a:t>
            </a:r>
            <a:endParaRPr lang="ar-SA" sz="3200" dirty="0"/>
          </a:p>
        </p:txBody>
      </p:sp>
      <p:sp>
        <p:nvSpPr>
          <p:cNvPr id="5" name="anim-g1-1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7"/>
          <p:cNvSpPr/>
          <p:nvPr/>
        </p:nvSpPr>
        <p:spPr>
          <a:xfrm>
            <a:off x="10527487" y="2267712"/>
            <a:ext cx="566928" cy="566928"/>
          </a:xfrm>
          <a:prstGeom prst="roundRect">
            <a:avLst>
              <a:gd name="adj" fmla="val 32258"/>
            </a:avLst>
          </a:prstGeom>
          <a:solidFill>
            <a:srgbClr val="F7E6BC"/>
          </a:solidFill>
          <a:ln/>
        </p:spPr>
      </p:sp>
      <p:sp>
        <p:nvSpPr>
          <p:cNvPr id="7" name="anim-g1-1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١. الطريف التاريخي</a:t>
            </a:r>
            <a:endParaRPr lang="ar-SA" sz="2200" dirty="0"/>
          </a:p>
        </p:txBody>
      </p:sp>
      <p:sp>
        <p:nvSpPr>
          <p:cNvPr id="9" name="anim-g1-2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جذور الدولة السعودية الأولى والعمارة النجدية الطينية · موقع تراث عالمي في اليونسكو</a:t>
            </a:r>
            <a:endParaRPr lang="ar-SA" sz="1900" dirty="0"/>
          </a:p>
        </p:txBody>
      </p:sp>
      <p:sp>
        <p:nvSpPr>
          <p:cNvPr id="10" name="anim-g2-2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2"/>
          <p:cNvSpPr/>
          <p:nvPr/>
        </p:nvSpPr>
        <p:spPr>
          <a:xfrm>
            <a:off x="6920789" y="2267712"/>
            <a:ext cx="566928" cy="566928"/>
          </a:xfrm>
          <a:prstGeom prst="roundRect">
            <a:avLst>
              <a:gd name="adj" fmla="val 32258"/>
            </a:avLst>
          </a:prstGeom>
          <a:solidFill>
            <a:srgbClr val="F7E6BC"/>
          </a:solidFill>
          <a:ln/>
        </p:spPr>
      </p:sp>
      <p:sp>
        <p:nvSpPr>
          <p:cNvPr id="12" name="anim-g2-2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٢. حياة الناس</a:t>
            </a:r>
            <a:endParaRPr lang="ar-SA" sz="2200" dirty="0"/>
          </a:p>
        </p:txBody>
      </p:sp>
      <p:sp>
        <p:nvSpPr>
          <p:cNvPr id="14" name="anim-g2-2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أسواق عامرة وحِرف تقليدية وتفاصيل الحياة اليومية في الحي</a:t>
            </a:r>
            <a:endParaRPr lang="ar-SA" sz="1900" dirty="0"/>
          </a:p>
        </p:txBody>
      </p:sp>
      <p:sp>
        <p:nvSpPr>
          <p:cNvPr id="15" name="anim-g3-2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7"/>
          <p:cNvSpPr/>
          <p:nvPr/>
        </p:nvSpPr>
        <p:spPr>
          <a:xfrm>
            <a:off x="3314090" y="2267712"/>
            <a:ext cx="566928" cy="566928"/>
          </a:xfrm>
          <a:prstGeom prst="roundRect">
            <a:avLst>
              <a:gd name="adj" fmla="val 32258"/>
            </a:avLst>
          </a:prstGeom>
          <a:solidFill>
            <a:srgbClr val="F7E6BC"/>
          </a:solidFill>
          <a:ln/>
        </p:spPr>
      </p:sp>
      <p:sp>
        <p:nvSpPr>
          <p:cNvPr id="17" name="anim-g3-2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 حماية التراث</a:t>
            </a:r>
            <a:endParaRPr lang="ar-SA" sz="2200" dirty="0"/>
          </a:p>
        </p:txBody>
      </p:sp>
      <p:sp>
        <p:nvSpPr>
          <p:cNvPr id="19" name="anim-g3-3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هنا تصل التجربة ذروتها: معضلة قرار يختار فيها الزائر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الفكرة والهدف  ·  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66783" y="457200"/>
            <a:ext cx="1901952" cy="457200"/>
          </a:xfrm>
          <a:prstGeom prst="roundRect">
            <a:avLst>
              <a:gd name="adj" fmla="val 50000"/>
            </a:avLst>
          </a:prstGeom>
          <a:solidFill>
            <a:srgbClr val="F6EBCF"/>
          </a:solidFill>
          <a:ln/>
        </p:spPr>
      </p:sp>
      <p:sp>
        <p:nvSpPr>
          <p:cNvPr id="3" name="Text 1"/>
          <p:cNvSpPr/>
          <p:nvPr/>
        </p:nvSpPr>
        <p:spPr>
          <a:xfrm>
            <a:off x="9466783" y="457200"/>
            <a:ext cx="190195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الهدف</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هذا المشروع؟</a:t>
            </a:r>
            <a:endParaRPr lang="ar-SA" sz="3800" dirty="0"/>
          </a:p>
        </p:txBody>
      </p:sp>
      <p:sp>
        <p:nvSpPr>
          <p:cNvPr id="5" name="anim-g1-31"/>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2"/>
          <p:cNvSpPr/>
          <p:nvPr/>
        </p:nvSpPr>
        <p:spPr>
          <a:xfrm>
            <a:off x="10527487" y="2267712"/>
            <a:ext cx="566928" cy="566928"/>
          </a:xfrm>
          <a:prstGeom prst="roundRect">
            <a:avLst>
              <a:gd name="adj" fmla="val 32258"/>
            </a:avLst>
          </a:prstGeom>
          <a:solidFill>
            <a:srgbClr val="F7E6BC"/>
          </a:solidFill>
          <a:ln/>
        </p:spPr>
      </p:sp>
      <p:sp>
        <p:nvSpPr>
          <p:cNvPr id="7" name="anim-g1-3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4"/>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رؤية ٢٠٣٠</a:t>
            </a:r>
            <a:endParaRPr lang="ar-SA" sz="2200" dirty="0"/>
          </a:p>
        </p:txBody>
      </p:sp>
      <p:sp>
        <p:nvSpPr>
          <p:cNvPr id="9" name="anim-g1-35"/>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إحياء التراث والهوية الوطنية بأسلوب يجذب الجيل الجديد</a:t>
            </a:r>
            <a:endParaRPr lang="ar-SA" sz="1900" dirty="0"/>
          </a:p>
        </p:txBody>
      </p:sp>
      <p:sp>
        <p:nvSpPr>
          <p:cNvPr id="10" name="anim-g2-36"/>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7"/>
          <p:cNvSpPr/>
          <p:nvPr/>
        </p:nvSpPr>
        <p:spPr>
          <a:xfrm>
            <a:off x="5117440" y="2267712"/>
            <a:ext cx="566928" cy="566928"/>
          </a:xfrm>
          <a:prstGeom prst="roundRect">
            <a:avLst>
              <a:gd name="adj" fmla="val 32258"/>
            </a:avLst>
          </a:prstGeom>
          <a:solidFill>
            <a:srgbClr val="F7E6BC"/>
          </a:solidFill>
          <a:ln/>
        </p:spPr>
      </p:sp>
      <p:sp>
        <p:nvSpPr>
          <p:cNvPr id="12" name="anim-g2-38"/>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9"/>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الهدف ١١٫٤ للتنمية المستدامة</a:t>
            </a:r>
            <a:endParaRPr lang="ar-SA" sz="2200" dirty="0"/>
          </a:p>
        </p:txBody>
      </p:sp>
      <p:sp>
        <p:nvSpPr>
          <p:cNvPr id="14" name="anim-g2-40"/>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حماية التراث الثقافي والطبيعي في العالم وصونه</a:t>
            </a:r>
            <a:endParaRPr lang="ar-SA" sz="1900" dirty="0"/>
          </a:p>
        </p:txBody>
      </p:sp>
      <p:sp>
        <p:nvSpPr>
          <p:cNvPr id="15" name="anim-g3-41"/>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2"/>
          <p:cNvSpPr/>
          <p:nvPr/>
        </p:nvSpPr>
        <p:spPr>
          <a:xfrm>
            <a:off x="10527487" y="4393692"/>
            <a:ext cx="566928" cy="566928"/>
          </a:xfrm>
          <a:prstGeom prst="roundRect">
            <a:avLst>
              <a:gd name="adj" fmla="val 32258"/>
            </a:avLst>
          </a:prstGeom>
          <a:solidFill>
            <a:srgbClr val="F7E6BC"/>
          </a:solidFill>
          <a:ln/>
        </p:spPr>
      </p:sp>
      <p:sp>
        <p:nvSpPr>
          <p:cNvPr id="17" name="anim-g3-43"/>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4"/>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استقلالية حقيقية</a:t>
            </a:r>
            <a:endParaRPr lang="ar-SA" sz="2200" dirty="0"/>
          </a:p>
        </p:txBody>
      </p:sp>
      <p:sp>
        <p:nvSpPr>
          <p:cNvPr id="19" name="anim-g3-45"/>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حساسات تقرر متى تبدأ كل محطة، لا سيناريو ثابت</a:t>
            </a:r>
            <a:endParaRPr lang="ar-SA" sz="1900" dirty="0"/>
          </a:p>
        </p:txBody>
      </p:sp>
      <p:sp>
        <p:nvSpPr>
          <p:cNvPr id="20" name="anim-g4-46"/>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47"/>
          <p:cNvSpPr/>
          <p:nvPr/>
        </p:nvSpPr>
        <p:spPr>
          <a:xfrm>
            <a:off x="5117440" y="4393692"/>
            <a:ext cx="566928" cy="566928"/>
          </a:xfrm>
          <a:prstGeom prst="roundRect">
            <a:avLst>
              <a:gd name="adj" fmla="val 32258"/>
            </a:avLst>
          </a:prstGeom>
          <a:solidFill>
            <a:srgbClr val="F7E6BC"/>
          </a:solidFill>
          <a:ln/>
        </p:spPr>
      </p:sp>
      <p:sp>
        <p:nvSpPr>
          <p:cNvPr id="22" name="anim-g4-48"/>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49"/>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من متفرّج إلى صاحب قرار</a:t>
            </a:r>
            <a:endParaRPr lang="ar-SA" sz="2200" dirty="0"/>
          </a:p>
        </p:txBody>
      </p:sp>
      <p:sp>
        <p:nvSpPr>
          <p:cNvPr id="24" name="anim-g4-50"/>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يختار الزائر سياسة: التوعية أو المشاركة أو الابتكار</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الفكرة والهدف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projects\younes-training\diriyah-judges\.pptx-cache\s7.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7.gif">    </p:cNvPr>
          <p:cNvPicPr>
            <a:picLocks noChangeAspect="1"/>
          </p:cNvPicPr>
          <p:nvPr/>
        </p:nvPicPr>
        <p:blipFill>
          <a:blip r:embed="rId2"/>
          <a:stretch>
            <a:fillRect/>
          </a:stretch>
        </p:blipFill>
        <p:spPr>
          <a:xfrm>
            <a:off x="4319281" y="1847850"/>
            <a:ext cx="7046935" cy="293231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قائمة المكوّنات</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قطعة… ودورها… ومكانها</a:t>
            </a:r>
            <a:endParaRPr lang="ar-SA" sz="3800" dirty="0"/>
          </a:p>
        </p:txBody>
      </p:sp>
      <p:sp>
        <p:nvSpPr>
          <p:cNvPr id="5" name="Shape 3"/>
          <p:cNvSpPr/>
          <p:nvPr/>
        </p:nvSpPr>
        <p:spPr>
          <a:xfrm>
            <a:off x="8732196" y="1874520"/>
            <a:ext cx="2636540" cy="548640"/>
          </a:xfrm>
          <a:prstGeom prst="roundRect">
            <a:avLst>
              <a:gd name="adj" fmla="val 20000"/>
            </a:avLst>
          </a:prstGeom>
          <a:solidFill>
            <a:srgbClr val="101B45"/>
          </a:solidFill>
          <a:ln/>
        </p:spPr>
      </p:sp>
      <p:sp>
        <p:nvSpPr>
          <p:cNvPr id="6" name="Text 4"/>
          <p:cNvSpPr/>
          <p:nvPr/>
        </p:nvSpPr>
        <p:spPr>
          <a:xfrm>
            <a:off x="8732196" y="1874520"/>
            <a:ext cx="2636540"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القطعة</a:t>
            </a:r>
            <a:endParaRPr lang="ar-SA" sz="1900" dirty="0"/>
          </a:p>
        </p:txBody>
      </p:sp>
      <p:sp>
        <p:nvSpPr>
          <p:cNvPr id="7" name="Shape 5"/>
          <p:cNvSpPr/>
          <p:nvPr/>
        </p:nvSpPr>
        <p:spPr>
          <a:xfrm>
            <a:off x="7633765" y="1874520"/>
            <a:ext cx="988702" cy="548640"/>
          </a:xfrm>
          <a:prstGeom prst="roundRect">
            <a:avLst>
              <a:gd name="adj" fmla="val 20000"/>
            </a:avLst>
          </a:prstGeom>
          <a:solidFill>
            <a:srgbClr val="101B45"/>
          </a:solidFill>
          <a:ln/>
        </p:spPr>
      </p:sp>
      <p:sp>
        <p:nvSpPr>
          <p:cNvPr id="8" name="Text 6"/>
          <p:cNvSpPr/>
          <p:nvPr/>
        </p:nvSpPr>
        <p:spPr>
          <a:xfrm>
            <a:off x="7633765" y="1874520"/>
            <a:ext cx="98870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العدد</a:t>
            </a:r>
            <a:endParaRPr lang="ar-SA" sz="1900" dirty="0"/>
          </a:p>
        </p:txBody>
      </p:sp>
      <p:sp>
        <p:nvSpPr>
          <p:cNvPr id="9" name="Shape 7"/>
          <p:cNvSpPr/>
          <p:nvPr/>
        </p:nvSpPr>
        <p:spPr>
          <a:xfrm>
            <a:off x="3349516" y="1874520"/>
            <a:ext cx="4174521" cy="548640"/>
          </a:xfrm>
          <a:prstGeom prst="roundRect">
            <a:avLst>
              <a:gd name="adj" fmla="val 20000"/>
            </a:avLst>
          </a:prstGeom>
          <a:solidFill>
            <a:srgbClr val="101B45"/>
          </a:solidFill>
          <a:ln/>
        </p:spPr>
      </p:sp>
      <p:sp>
        <p:nvSpPr>
          <p:cNvPr id="10" name="Text 8"/>
          <p:cNvSpPr/>
          <p:nvPr/>
        </p:nvSpPr>
        <p:spPr>
          <a:xfrm>
            <a:off x="3349516" y="1874520"/>
            <a:ext cx="4174521"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دورها</a:t>
            </a:r>
            <a:endParaRPr lang="ar-SA" sz="1900" dirty="0"/>
          </a:p>
        </p:txBody>
      </p:sp>
      <p:sp>
        <p:nvSpPr>
          <p:cNvPr id="11" name="Shape 9"/>
          <p:cNvSpPr/>
          <p:nvPr/>
        </p:nvSpPr>
        <p:spPr>
          <a:xfrm>
            <a:off x="822960" y="1874520"/>
            <a:ext cx="2416828" cy="548640"/>
          </a:xfrm>
          <a:prstGeom prst="roundRect">
            <a:avLst>
              <a:gd name="adj" fmla="val 20000"/>
            </a:avLst>
          </a:prstGeom>
          <a:solidFill>
            <a:srgbClr val="101B45"/>
          </a:solidFill>
          <a:ln/>
        </p:spPr>
      </p:sp>
      <p:sp>
        <p:nvSpPr>
          <p:cNvPr id="12" name="Text 10"/>
          <p:cNvSpPr/>
          <p:nvPr/>
        </p:nvSpPr>
        <p:spPr>
          <a:xfrm>
            <a:off x="822960" y="1874520"/>
            <a:ext cx="241682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التوصيل</a:t>
            </a:r>
            <a:endParaRPr lang="ar-SA" sz="1900" dirty="0"/>
          </a:p>
        </p:txBody>
      </p:sp>
      <p:sp>
        <p:nvSpPr>
          <p:cNvPr id="13" name="anim-g1-51"/>
          <p:cNvSpPr/>
          <p:nvPr/>
        </p:nvSpPr>
        <p:spPr>
          <a:xfrm>
            <a:off x="8732196" y="2514600"/>
            <a:ext cx="2636540" cy="408867"/>
          </a:xfrm>
          <a:prstGeom prst="roundRect">
            <a:avLst>
              <a:gd name="adj" fmla="val 26837"/>
            </a:avLst>
          </a:prstGeom>
          <a:solidFill>
            <a:srgbClr val="FBF3DF"/>
          </a:solidFill>
          <a:ln w="12700">
            <a:solidFill>
              <a:srgbClr val="EFDDAF"/>
            </a:solidFill>
            <a:prstDash val="solid"/>
          </a:ln>
        </p:spPr>
      </p:sp>
      <p:sp>
        <p:nvSpPr>
          <p:cNvPr id="14" name="anim-g1-52"/>
          <p:cNvSpPr/>
          <p:nvPr/>
        </p:nvSpPr>
        <p:spPr>
          <a:xfrm>
            <a:off x="8869356" y="2514600"/>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ESP32 DevKit</a:t>
            </a:r>
            <a:endParaRPr lang="ar-SA" sz="2100" dirty="0"/>
          </a:p>
        </p:txBody>
      </p:sp>
      <p:sp>
        <p:nvSpPr>
          <p:cNvPr id="15" name="anim-g1-53"/>
          <p:cNvSpPr/>
          <p:nvPr/>
        </p:nvSpPr>
        <p:spPr>
          <a:xfrm>
            <a:off x="7633765" y="2514600"/>
            <a:ext cx="988702" cy="408867"/>
          </a:xfrm>
          <a:prstGeom prst="roundRect">
            <a:avLst>
              <a:gd name="adj" fmla="val 26837"/>
            </a:avLst>
          </a:prstGeom>
          <a:solidFill>
            <a:srgbClr val="FFFFFF"/>
          </a:solidFill>
          <a:ln w="12700">
            <a:solidFill>
              <a:srgbClr val="E4DCC8"/>
            </a:solidFill>
            <a:prstDash val="solid"/>
          </a:ln>
        </p:spPr>
      </p:sp>
      <p:sp>
        <p:nvSpPr>
          <p:cNvPr id="16" name="anim-g1-54"/>
          <p:cNvSpPr/>
          <p:nvPr/>
        </p:nvSpPr>
        <p:spPr>
          <a:xfrm>
            <a:off x="7770925" y="2514600"/>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٢</a:t>
            </a:r>
            <a:endParaRPr lang="ar-SA" sz="2100" dirty="0"/>
          </a:p>
        </p:txBody>
      </p:sp>
      <p:sp>
        <p:nvSpPr>
          <p:cNvPr id="17" name="anim-g1-55"/>
          <p:cNvSpPr/>
          <p:nvPr/>
        </p:nvSpPr>
        <p:spPr>
          <a:xfrm>
            <a:off x="3349516" y="2514600"/>
            <a:ext cx="4174521" cy="408867"/>
          </a:xfrm>
          <a:prstGeom prst="roundRect">
            <a:avLst>
              <a:gd name="adj" fmla="val 26837"/>
            </a:avLst>
          </a:prstGeom>
          <a:solidFill>
            <a:srgbClr val="FFFFFF"/>
          </a:solidFill>
          <a:ln w="12700">
            <a:solidFill>
              <a:srgbClr val="E4DCC8"/>
            </a:solidFill>
            <a:prstDash val="solid"/>
          </a:ln>
        </p:spPr>
      </p:sp>
      <p:sp>
        <p:nvSpPr>
          <p:cNvPr id="18" name="anim-g1-56"/>
          <p:cNvSpPr/>
          <p:nvPr/>
        </p:nvSpPr>
        <p:spPr>
          <a:xfrm>
            <a:off x="3486676" y="2514600"/>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لوحة للحساسات والإضاءة، ولوحة للصوت والقرار</a:t>
            </a:r>
            <a:endParaRPr lang="ar-SA" sz="2100" dirty="0"/>
          </a:p>
        </p:txBody>
      </p:sp>
      <p:sp>
        <p:nvSpPr>
          <p:cNvPr id="19" name="anim-g1-57"/>
          <p:cNvSpPr/>
          <p:nvPr/>
        </p:nvSpPr>
        <p:spPr>
          <a:xfrm>
            <a:off x="822960" y="2514600"/>
            <a:ext cx="2416828" cy="408867"/>
          </a:xfrm>
          <a:prstGeom prst="roundRect">
            <a:avLst>
              <a:gd name="adj" fmla="val 26837"/>
            </a:avLst>
          </a:prstGeom>
          <a:solidFill>
            <a:srgbClr val="E6F4EC"/>
          </a:solidFill>
          <a:ln w="12700">
            <a:solidFill>
              <a:srgbClr val="CDE9D9"/>
            </a:solidFill>
            <a:prstDash val="solid"/>
          </a:ln>
        </p:spPr>
      </p:sp>
      <p:sp>
        <p:nvSpPr>
          <p:cNvPr id="20" name="anim-g1-58"/>
          <p:cNvSpPr/>
          <p:nvPr/>
        </p:nvSpPr>
        <p:spPr>
          <a:xfrm>
            <a:off x="960120" y="2514600"/>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ESP-NOW بينهما</a:t>
            </a:r>
            <a:endParaRPr lang="ar-SA" sz="2100" dirty="0"/>
          </a:p>
        </p:txBody>
      </p:sp>
      <p:sp>
        <p:nvSpPr>
          <p:cNvPr id="21" name="anim-g2-59"/>
          <p:cNvSpPr/>
          <p:nvPr/>
        </p:nvSpPr>
        <p:spPr>
          <a:xfrm>
            <a:off x="8732196" y="3033195"/>
            <a:ext cx="2636540" cy="408867"/>
          </a:xfrm>
          <a:prstGeom prst="roundRect">
            <a:avLst>
              <a:gd name="adj" fmla="val 26837"/>
            </a:avLst>
          </a:prstGeom>
          <a:solidFill>
            <a:srgbClr val="FBF3DF"/>
          </a:solidFill>
          <a:ln w="12700">
            <a:solidFill>
              <a:srgbClr val="EFDDAF"/>
            </a:solidFill>
            <a:prstDash val="solid"/>
          </a:ln>
        </p:spPr>
      </p:sp>
      <p:sp>
        <p:nvSpPr>
          <p:cNvPr id="22" name="anim-g2-60"/>
          <p:cNvSpPr/>
          <p:nvPr/>
        </p:nvSpPr>
        <p:spPr>
          <a:xfrm>
            <a:off x="8869356" y="3033195"/>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حساس IR رقمي</a:t>
            </a:r>
            <a:endParaRPr lang="ar-SA" sz="2100" dirty="0"/>
          </a:p>
        </p:txBody>
      </p:sp>
      <p:sp>
        <p:nvSpPr>
          <p:cNvPr id="23" name="anim-g2-61"/>
          <p:cNvSpPr/>
          <p:nvPr/>
        </p:nvSpPr>
        <p:spPr>
          <a:xfrm>
            <a:off x="7633765" y="3033195"/>
            <a:ext cx="988702" cy="408867"/>
          </a:xfrm>
          <a:prstGeom prst="roundRect">
            <a:avLst>
              <a:gd name="adj" fmla="val 26837"/>
            </a:avLst>
          </a:prstGeom>
          <a:solidFill>
            <a:srgbClr val="FFFFFF"/>
          </a:solidFill>
          <a:ln w="12700">
            <a:solidFill>
              <a:srgbClr val="E4DCC8"/>
            </a:solidFill>
            <a:prstDash val="solid"/>
          </a:ln>
        </p:spPr>
      </p:sp>
      <p:sp>
        <p:nvSpPr>
          <p:cNvPr id="24" name="anim-g2-62"/>
          <p:cNvSpPr/>
          <p:nvPr/>
        </p:nvSpPr>
        <p:spPr>
          <a:xfrm>
            <a:off x="7770925" y="3033195"/>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٣</a:t>
            </a:r>
            <a:endParaRPr lang="ar-SA" sz="2100" dirty="0"/>
          </a:p>
        </p:txBody>
      </p:sp>
      <p:sp>
        <p:nvSpPr>
          <p:cNvPr id="25" name="anim-g2-63"/>
          <p:cNvSpPr/>
          <p:nvPr/>
        </p:nvSpPr>
        <p:spPr>
          <a:xfrm>
            <a:off x="3349516" y="3033195"/>
            <a:ext cx="4174521" cy="408867"/>
          </a:xfrm>
          <a:prstGeom prst="roundRect">
            <a:avLst>
              <a:gd name="adj" fmla="val 26837"/>
            </a:avLst>
          </a:prstGeom>
          <a:solidFill>
            <a:srgbClr val="FFFFFF"/>
          </a:solidFill>
          <a:ln w="12700">
            <a:solidFill>
              <a:srgbClr val="E4DCC8"/>
            </a:solidFill>
            <a:prstDash val="solid"/>
          </a:ln>
        </p:spPr>
      </p:sp>
      <p:sp>
        <p:nvSpPr>
          <p:cNvPr id="26" name="anim-g2-64"/>
          <p:cNvSpPr/>
          <p:nvPr/>
        </p:nvSpPr>
        <p:spPr>
          <a:xfrm>
            <a:off x="3486676" y="3033195"/>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يكتشف وقوف الزائر أمام محطته</a:t>
            </a:r>
            <a:endParaRPr lang="ar-SA" sz="2100" dirty="0"/>
          </a:p>
        </p:txBody>
      </p:sp>
      <p:sp>
        <p:nvSpPr>
          <p:cNvPr id="27" name="anim-g2-65"/>
          <p:cNvSpPr/>
          <p:nvPr/>
        </p:nvSpPr>
        <p:spPr>
          <a:xfrm>
            <a:off x="822960" y="3033195"/>
            <a:ext cx="2416828" cy="408867"/>
          </a:xfrm>
          <a:prstGeom prst="roundRect">
            <a:avLst>
              <a:gd name="adj" fmla="val 26837"/>
            </a:avLst>
          </a:prstGeom>
          <a:solidFill>
            <a:srgbClr val="E6F4EC"/>
          </a:solidFill>
          <a:ln w="12700">
            <a:solidFill>
              <a:srgbClr val="CDE9D9"/>
            </a:solidFill>
            <a:prstDash val="solid"/>
          </a:ln>
        </p:spPr>
      </p:sp>
      <p:sp>
        <p:nvSpPr>
          <p:cNvPr id="28" name="anim-g2-66"/>
          <p:cNvSpPr/>
          <p:nvPr/>
        </p:nvSpPr>
        <p:spPr>
          <a:xfrm>
            <a:off x="960120" y="3033195"/>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GPIO 18 · 19 · 23</a:t>
            </a:r>
            <a:endParaRPr lang="ar-SA" sz="2100" dirty="0"/>
          </a:p>
        </p:txBody>
      </p:sp>
      <p:sp>
        <p:nvSpPr>
          <p:cNvPr id="29" name="anim-g3-67"/>
          <p:cNvSpPr/>
          <p:nvPr/>
        </p:nvSpPr>
        <p:spPr>
          <a:xfrm>
            <a:off x="8732196" y="3551791"/>
            <a:ext cx="2636540" cy="408867"/>
          </a:xfrm>
          <a:prstGeom prst="roundRect">
            <a:avLst>
              <a:gd name="adj" fmla="val 26837"/>
            </a:avLst>
          </a:prstGeom>
          <a:solidFill>
            <a:srgbClr val="FBF3DF"/>
          </a:solidFill>
          <a:ln w="12700">
            <a:solidFill>
              <a:srgbClr val="EFDDAF"/>
            </a:solidFill>
            <a:prstDash val="solid"/>
          </a:ln>
        </p:spPr>
      </p:sp>
      <p:sp>
        <p:nvSpPr>
          <p:cNvPr id="30" name="anim-g3-68"/>
          <p:cNvSpPr/>
          <p:nvPr/>
        </p:nvSpPr>
        <p:spPr>
          <a:xfrm>
            <a:off x="8869356" y="3551791"/>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PCA9685 + RGB</a:t>
            </a:r>
            <a:endParaRPr lang="ar-SA" sz="2100" dirty="0"/>
          </a:p>
        </p:txBody>
      </p:sp>
      <p:sp>
        <p:nvSpPr>
          <p:cNvPr id="31" name="anim-g3-69"/>
          <p:cNvSpPr/>
          <p:nvPr/>
        </p:nvSpPr>
        <p:spPr>
          <a:xfrm>
            <a:off x="7633765" y="3551791"/>
            <a:ext cx="988702" cy="408867"/>
          </a:xfrm>
          <a:prstGeom prst="roundRect">
            <a:avLst>
              <a:gd name="adj" fmla="val 26837"/>
            </a:avLst>
          </a:prstGeom>
          <a:solidFill>
            <a:srgbClr val="FFFFFF"/>
          </a:solidFill>
          <a:ln w="12700">
            <a:solidFill>
              <a:srgbClr val="E4DCC8"/>
            </a:solidFill>
            <a:prstDash val="solid"/>
          </a:ln>
        </p:spPr>
      </p:sp>
      <p:sp>
        <p:nvSpPr>
          <p:cNvPr id="32" name="anim-g3-70"/>
          <p:cNvSpPr/>
          <p:nvPr/>
        </p:nvSpPr>
        <p:spPr>
          <a:xfrm>
            <a:off x="7770925" y="3551791"/>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 + ٣</a:t>
            </a:r>
            <a:endParaRPr lang="ar-SA" sz="2100" dirty="0"/>
          </a:p>
        </p:txBody>
      </p:sp>
      <p:sp>
        <p:nvSpPr>
          <p:cNvPr id="33" name="anim-g3-71"/>
          <p:cNvSpPr/>
          <p:nvPr/>
        </p:nvSpPr>
        <p:spPr>
          <a:xfrm>
            <a:off x="3349516" y="3551791"/>
            <a:ext cx="4174521" cy="408867"/>
          </a:xfrm>
          <a:prstGeom prst="roundRect">
            <a:avLst>
              <a:gd name="adj" fmla="val 26837"/>
            </a:avLst>
          </a:prstGeom>
          <a:solidFill>
            <a:srgbClr val="FFFFFF"/>
          </a:solidFill>
          <a:ln w="12700">
            <a:solidFill>
              <a:srgbClr val="E4DCC8"/>
            </a:solidFill>
            <a:prstDash val="solid"/>
          </a:ln>
        </p:spPr>
      </p:sp>
      <p:sp>
        <p:nvSpPr>
          <p:cNvPr id="34" name="anim-g3-72"/>
          <p:cNvSpPr/>
          <p:nvPr/>
        </p:nvSpPr>
        <p:spPr>
          <a:xfrm>
            <a:off x="3486676" y="3551791"/>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ضوء ملوّن يدور في المحطة النشطة</a:t>
            </a:r>
            <a:endParaRPr lang="ar-SA" sz="2100" dirty="0"/>
          </a:p>
        </p:txBody>
      </p:sp>
      <p:sp>
        <p:nvSpPr>
          <p:cNvPr id="35" name="anim-g3-73"/>
          <p:cNvSpPr/>
          <p:nvPr/>
        </p:nvSpPr>
        <p:spPr>
          <a:xfrm>
            <a:off x="822960" y="3551791"/>
            <a:ext cx="2416828" cy="408867"/>
          </a:xfrm>
          <a:prstGeom prst="roundRect">
            <a:avLst>
              <a:gd name="adj" fmla="val 26837"/>
            </a:avLst>
          </a:prstGeom>
          <a:solidFill>
            <a:srgbClr val="E6F4EC"/>
          </a:solidFill>
          <a:ln w="12700">
            <a:solidFill>
              <a:srgbClr val="CDE9D9"/>
            </a:solidFill>
            <a:prstDash val="solid"/>
          </a:ln>
        </p:spPr>
      </p:sp>
      <p:sp>
        <p:nvSpPr>
          <p:cNvPr id="36" name="anim-g3-74"/>
          <p:cNvSpPr/>
          <p:nvPr/>
        </p:nvSpPr>
        <p:spPr>
          <a:xfrm>
            <a:off x="960120" y="3551791"/>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I2C: 21 · 22 · 0x40</a:t>
            </a:r>
            <a:endParaRPr lang="ar-SA" sz="2100" dirty="0"/>
          </a:p>
        </p:txBody>
      </p:sp>
      <p:sp>
        <p:nvSpPr>
          <p:cNvPr id="37" name="anim-g4-75"/>
          <p:cNvSpPr/>
          <p:nvPr/>
        </p:nvSpPr>
        <p:spPr>
          <a:xfrm>
            <a:off x="8732196" y="4070386"/>
            <a:ext cx="2636540" cy="408867"/>
          </a:xfrm>
          <a:prstGeom prst="roundRect">
            <a:avLst>
              <a:gd name="adj" fmla="val 26837"/>
            </a:avLst>
          </a:prstGeom>
          <a:solidFill>
            <a:srgbClr val="FBF3DF"/>
          </a:solidFill>
          <a:ln w="12700">
            <a:solidFill>
              <a:srgbClr val="EFDDAF"/>
            </a:solidFill>
            <a:prstDash val="solid"/>
          </a:ln>
        </p:spPr>
      </p:sp>
      <p:sp>
        <p:nvSpPr>
          <p:cNvPr id="38" name="anim-g4-76"/>
          <p:cNvSpPr/>
          <p:nvPr/>
        </p:nvSpPr>
        <p:spPr>
          <a:xfrm>
            <a:off x="8869356" y="4070386"/>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كشافات LED</a:t>
            </a:r>
            <a:endParaRPr lang="ar-SA" sz="2100" dirty="0"/>
          </a:p>
        </p:txBody>
      </p:sp>
      <p:sp>
        <p:nvSpPr>
          <p:cNvPr id="39" name="anim-g4-77"/>
          <p:cNvSpPr/>
          <p:nvPr/>
        </p:nvSpPr>
        <p:spPr>
          <a:xfrm>
            <a:off x="7633765" y="4070386"/>
            <a:ext cx="988702" cy="408867"/>
          </a:xfrm>
          <a:prstGeom prst="roundRect">
            <a:avLst>
              <a:gd name="adj" fmla="val 26837"/>
            </a:avLst>
          </a:prstGeom>
          <a:solidFill>
            <a:srgbClr val="FFFFFF"/>
          </a:solidFill>
          <a:ln w="12700">
            <a:solidFill>
              <a:srgbClr val="E4DCC8"/>
            </a:solidFill>
            <a:prstDash val="solid"/>
          </a:ln>
        </p:spPr>
      </p:sp>
      <p:sp>
        <p:nvSpPr>
          <p:cNvPr id="40" name="anim-g4-78"/>
          <p:cNvSpPr/>
          <p:nvPr/>
        </p:nvSpPr>
        <p:spPr>
          <a:xfrm>
            <a:off x="7770925" y="4070386"/>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٣</a:t>
            </a:r>
            <a:endParaRPr lang="ar-SA" sz="2100" dirty="0"/>
          </a:p>
        </p:txBody>
      </p:sp>
      <p:sp>
        <p:nvSpPr>
          <p:cNvPr id="41" name="anim-g4-79"/>
          <p:cNvSpPr/>
          <p:nvPr/>
        </p:nvSpPr>
        <p:spPr>
          <a:xfrm>
            <a:off x="3349516" y="4070386"/>
            <a:ext cx="4174521" cy="408867"/>
          </a:xfrm>
          <a:prstGeom prst="roundRect">
            <a:avLst>
              <a:gd name="adj" fmla="val 26837"/>
            </a:avLst>
          </a:prstGeom>
          <a:solidFill>
            <a:srgbClr val="FFFFFF"/>
          </a:solidFill>
          <a:ln w="12700">
            <a:solidFill>
              <a:srgbClr val="E4DCC8"/>
            </a:solidFill>
            <a:prstDash val="solid"/>
          </a:ln>
        </p:spPr>
      </p:sp>
      <p:sp>
        <p:nvSpPr>
          <p:cNvPr id="42" name="anim-g4-80"/>
          <p:cNvSpPr/>
          <p:nvPr/>
        </p:nvSpPr>
        <p:spPr>
          <a:xfrm>
            <a:off x="3486676" y="4070386"/>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تكشف مجسّم المحطة النشطة فقط</a:t>
            </a:r>
            <a:endParaRPr lang="ar-SA" sz="2100" dirty="0"/>
          </a:p>
        </p:txBody>
      </p:sp>
      <p:sp>
        <p:nvSpPr>
          <p:cNvPr id="43" name="anim-g4-81"/>
          <p:cNvSpPr/>
          <p:nvPr/>
        </p:nvSpPr>
        <p:spPr>
          <a:xfrm>
            <a:off x="822960" y="4070386"/>
            <a:ext cx="2416828" cy="408867"/>
          </a:xfrm>
          <a:prstGeom prst="roundRect">
            <a:avLst>
              <a:gd name="adj" fmla="val 26837"/>
            </a:avLst>
          </a:prstGeom>
          <a:solidFill>
            <a:srgbClr val="E6F4EC"/>
          </a:solidFill>
          <a:ln w="12700">
            <a:solidFill>
              <a:srgbClr val="CDE9D9"/>
            </a:solidFill>
            <a:prstDash val="solid"/>
          </a:ln>
        </p:spPr>
      </p:sp>
      <p:sp>
        <p:nvSpPr>
          <p:cNvPr id="44" name="anim-g4-82"/>
          <p:cNvSpPr/>
          <p:nvPr/>
        </p:nvSpPr>
        <p:spPr>
          <a:xfrm>
            <a:off x="960120" y="4070386"/>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GPIO 25 · 26 · 27</a:t>
            </a:r>
            <a:endParaRPr lang="ar-SA" sz="2100" dirty="0"/>
          </a:p>
        </p:txBody>
      </p:sp>
      <p:sp>
        <p:nvSpPr>
          <p:cNvPr id="45" name="anim-g5-83"/>
          <p:cNvSpPr/>
          <p:nvPr/>
        </p:nvSpPr>
        <p:spPr>
          <a:xfrm>
            <a:off x="8732196" y="4588982"/>
            <a:ext cx="2636540" cy="408867"/>
          </a:xfrm>
          <a:prstGeom prst="roundRect">
            <a:avLst>
              <a:gd name="adj" fmla="val 26837"/>
            </a:avLst>
          </a:prstGeom>
          <a:solidFill>
            <a:srgbClr val="FBF3DF"/>
          </a:solidFill>
          <a:ln w="12700">
            <a:solidFill>
              <a:srgbClr val="EFDDAF"/>
            </a:solidFill>
            <a:prstDash val="solid"/>
          </a:ln>
        </p:spPr>
      </p:sp>
      <p:sp>
        <p:nvSpPr>
          <p:cNvPr id="46" name="anim-g5-84"/>
          <p:cNvSpPr/>
          <p:nvPr/>
        </p:nvSpPr>
        <p:spPr>
          <a:xfrm>
            <a:off x="8869356" y="4588982"/>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DFPlayer + سماعة</a:t>
            </a:r>
            <a:endParaRPr lang="ar-SA" sz="2100" dirty="0"/>
          </a:p>
        </p:txBody>
      </p:sp>
      <p:sp>
        <p:nvSpPr>
          <p:cNvPr id="47" name="anim-g5-85"/>
          <p:cNvSpPr/>
          <p:nvPr/>
        </p:nvSpPr>
        <p:spPr>
          <a:xfrm>
            <a:off x="7633765" y="4588982"/>
            <a:ext cx="988702" cy="408867"/>
          </a:xfrm>
          <a:prstGeom prst="roundRect">
            <a:avLst>
              <a:gd name="adj" fmla="val 26837"/>
            </a:avLst>
          </a:prstGeom>
          <a:solidFill>
            <a:srgbClr val="FFFFFF"/>
          </a:solidFill>
          <a:ln w="12700">
            <a:solidFill>
              <a:srgbClr val="E4DCC8"/>
            </a:solidFill>
            <a:prstDash val="solid"/>
          </a:ln>
        </p:spPr>
      </p:sp>
      <p:sp>
        <p:nvSpPr>
          <p:cNvPr id="48" name="anim-g5-86"/>
          <p:cNvSpPr/>
          <p:nvPr/>
        </p:nvSpPr>
        <p:spPr>
          <a:xfrm>
            <a:off x="7770925" y="4588982"/>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 + ١</a:t>
            </a:r>
            <a:endParaRPr lang="ar-SA" sz="2100" dirty="0"/>
          </a:p>
        </p:txBody>
      </p:sp>
      <p:sp>
        <p:nvSpPr>
          <p:cNvPr id="49" name="anim-g5-87"/>
          <p:cNvSpPr/>
          <p:nvPr/>
        </p:nvSpPr>
        <p:spPr>
          <a:xfrm>
            <a:off x="3349516" y="4588982"/>
            <a:ext cx="4174521" cy="408867"/>
          </a:xfrm>
          <a:prstGeom prst="roundRect">
            <a:avLst>
              <a:gd name="adj" fmla="val 26837"/>
            </a:avLst>
          </a:prstGeom>
          <a:solidFill>
            <a:srgbClr val="FFFFFF"/>
          </a:solidFill>
          <a:ln w="12700">
            <a:solidFill>
              <a:srgbClr val="E4DCC8"/>
            </a:solidFill>
            <a:prstDash val="solid"/>
          </a:ln>
        </p:spPr>
      </p:sp>
      <p:sp>
        <p:nvSpPr>
          <p:cNvPr id="50" name="anim-g5-88"/>
          <p:cNvSpPr/>
          <p:nvPr/>
        </p:nvSpPr>
        <p:spPr>
          <a:xfrm>
            <a:off x="3486676" y="4588982"/>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٨ مقاطع صوتية: ترحيب ومحطات ونتائج</a:t>
            </a:r>
            <a:endParaRPr lang="ar-SA" sz="2100" dirty="0"/>
          </a:p>
        </p:txBody>
      </p:sp>
      <p:sp>
        <p:nvSpPr>
          <p:cNvPr id="51" name="anim-g5-89"/>
          <p:cNvSpPr/>
          <p:nvPr/>
        </p:nvSpPr>
        <p:spPr>
          <a:xfrm>
            <a:off x="822960" y="4588982"/>
            <a:ext cx="2416828" cy="408867"/>
          </a:xfrm>
          <a:prstGeom prst="roundRect">
            <a:avLst>
              <a:gd name="adj" fmla="val 26837"/>
            </a:avLst>
          </a:prstGeom>
          <a:solidFill>
            <a:srgbClr val="E6F4EC"/>
          </a:solidFill>
          <a:ln w="12700">
            <a:solidFill>
              <a:srgbClr val="CDE9D9"/>
            </a:solidFill>
            <a:prstDash val="solid"/>
          </a:ln>
        </p:spPr>
      </p:sp>
      <p:sp>
        <p:nvSpPr>
          <p:cNvPr id="52" name="anim-g5-90"/>
          <p:cNvSpPr/>
          <p:nvPr/>
        </p:nvSpPr>
        <p:spPr>
          <a:xfrm>
            <a:off x="960120" y="4588982"/>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UART2: 16 · 17 (1kΩ)</a:t>
            </a:r>
            <a:endParaRPr lang="ar-SA" sz="2100" dirty="0"/>
          </a:p>
        </p:txBody>
      </p:sp>
      <p:sp>
        <p:nvSpPr>
          <p:cNvPr id="53" name="anim-g6-91"/>
          <p:cNvSpPr/>
          <p:nvPr/>
        </p:nvSpPr>
        <p:spPr>
          <a:xfrm>
            <a:off x="8732196" y="5107577"/>
            <a:ext cx="2636540" cy="408867"/>
          </a:xfrm>
          <a:prstGeom prst="roundRect">
            <a:avLst>
              <a:gd name="adj" fmla="val 26837"/>
            </a:avLst>
          </a:prstGeom>
          <a:solidFill>
            <a:srgbClr val="FBF3DF"/>
          </a:solidFill>
          <a:ln w="12700">
            <a:solidFill>
              <a:srgbClr val="EFDDAF"/>
            </a:solidFill>
            <a:prstDash val="solid"/>
          </a:ln>
        </p:spPr>
      </p:sp>
      <p:sp>
        <p:nvSpPr>
          <p:cNvPr id="54" name="anim-g6-92"/>
          <p:cNvSpPr/>
          <p:nvPr/>
        </p:nvSpPr>
        <p:spPr>
          <a:xfrm>
            <a:off x="8869356" y="5107577"/>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أزرار القرار</a:t>
            </a:r>
            <a:endParaRPr lang="ar-SA" sz="2100" dirty="0"/>
          </a:p>
        </p:txBody>
      </p:sp>
      <p:sp>
        <p:nvSpPr>
          <p:cNvPr id="55" name="anim-g6-93"/>
          <p:cNvSpPr/>
          <p:nvPr/>
        </p:nvSpPr>
        <p:spPr>
          <a:xfrm>
            <a:off x="7633765" y="5107577"/>
            <a:ext cx="988702" cy="408867"/>
          </a:xfrm>
          <a:prstGeom prst="roundRect">
            <a:avLst>
              <a:gd name="adj" fmla="val 26837"/>
            </a:avLst>
          </a:prstGeom>
          <a:solidFill>
            <a:srgbClr val="FFFFFF"/>
          </a:solidFill>
          <a:ln w="12700">
            <a:solidFill>
              <a:srgbClr val="E4DCC8"/>
            </a:solidFill>
            <a:prstDash val="solid"/>
          </a:ln>
        </p:spPr>
      </p:sp>
      <p:sp>
        <p:nvSpPr>
          <p:cNvPr id="56" name="anim-g6-94"/>
          <p:cNvSpPr/>
          <p:nvPr/>
        </p:nvSpPr>
        <p:spPr>
          <a:xfrm>
            <a:off x="7770925" y="5107577"/>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٤</a:t>
            </a:r>
            <a:endParaRPr lang="ar-SA" sz="2100" dirty="0"/>
          </a:p>
        </p:txBody>
      </p:sp>
      <p:sp>
        <p:nvSpPr>
          <p:cNvPr id="57" name="anim-g6-95"/>
          <p:cNvSpPr/>
          <p:nvPr/>
        </p:nvSpPr>
        <p:spPr>
          <a:xfrm>
            <a:off x="3349516" y="5107577"/>
            <a:ext cx="4174521" cy="408867"/>
          </a:xfrm>
          <a:prstGeom prst="roundRect">
            <a:avLst>
              <a:gd name="adj" fmla="val 26837"/>
            </a:avLst>
          </a:prstGeom>
          <a:solidFill>
            <a:srgbClr val="FFFFFF"/>
          </a:solidFill>
          <a:ln w="12700">
            <a:solidFill>
              <a:srgbClr val="E4DCC8"/>
            </a:solidFill>
            <a:prstDash val="solid"/>
          </a:ln>
        </p:spPr>
      </p:sp>
      <p:sp>
        <p:nvSpPr>
          <p:cNvPr id="58" name="anim-g6-96"/>
          <p:cNvSpPr/>
          <p:nvPr/>
        </p:nvSpPr>
        <p:spPr>
          <a:xfrm>
            <a:off x="3486676" y="5107577"/>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ترحيب · توعية · مشاركة · ابتكار</a:t>
            </a:r>
            <a:endParaRPr lang="ar-SA" sz="2100" dirty="0"/>
          </a:p>
        </p:txBody>
      </p:sp>
      <p:sp>
        <p:nvSpPr>
          <p:cNvPr id="59" name="anim-g6-97"/>
          <p:cNvSpPr/>
          <p:nvPr/>
        </p:nvSpPr>
        <p:spPr>
          <a:xfrm>
            <a:off x="822960" y="5107577"/>
            <a:ext cx="2416828" cy="408867"/>
          </a:xfrm>
          <a:prstGeom prst="roundRect">
            <a:avLst>
              <a:gd name="adj" fmla="val 26837"/>
            </a:avLst>
          </a:prstGeom>
          <a:solidFill>
            <a:srgbClr val="E6F4EC"/>
          </a:solidFill>
          <a:ln w="12700">
            <a:solidFill>
              <a:srgbClr val="CDE9D9"/>
            </a:solidFill>
            <a:prstDash val="solid"/>
          </a:ln>
        </p:spPr>
      </p:sp>
      <p:sp>
        <p:nvSpPr>
          <p:cNvPr id="60" name="anim-g6-98"/>
          <p:cNvSpPr/>
          <p:nvPr/>
        </p:nvSpPr>
        <p:spPr>
          <a:xfrm>
            <a:off x="960120" y="5107577"/>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GPIO 33 · 26 · 27 · 25</a:t>
            </a:r>
            <a:endParaRPr lang="ar-SA" sz="2100" dirty="0"/>
          </a:p>
        </p:txBody>
      </p:sp>
      <p:sp>
        <p:nvSpPr>
          <p:cNvPr id="61" name="anim-g7-99"/>
          <p:cNvSpPr/>
          <p:nvPr/>
        </p:nvSpPr>
        <p:spPr>
          <a:xfrm>
            <a:off x="8732196" y="5626173"/>
            <a:ext cx="2636540" cy="408867"/>
          </a:xfrm>
          <a:prstGeom prst="roundRect">
            <a:avLst>
              <a:gd name="adj" fmla="val 26837"/>
            </a:avLst>
          </a:prstGeom>
          <a:solidFill>
            <a:srgbClr val="FBF3DF"/>
          </a:solidFill>
          <a:ln w="12700">
            <a:solidFill>
              <a:srgbClr val="EFDDAF"/>
            </a:solidFill>
            <a:prstDash val="solid"/>
          </a:ln>
        </p:spPr>
      </p:sp>
      <p:sp>
        <p:nvSpPr>
          <p:cNvPr id="62" name="anim-g7-100"/>
          <p:cNvSpPr/>
          <p:nvPr/>
        </p:nvSpPr>
        <p:spPr>
          <a:xfrm>
            <a:off x="8869356" y="5626173"/>
            <a:ext cx="2362220"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28BYJ-48 + ULN2003</a:t>
            </a:r>
            <a:endParaRPr lang="ar-SA" sz="2100" dirty="0"/>
          </a:p>
        </p:txBody>
      </p:sp>
      <p:sp>
        <p:nvSpPr>
          <p:cNvPr id="63" name="anim-g7-101"/>
          <p:cNvSpPr/>
          <p:nvPr/>
        </p:nvSpPr>
        <p:spPr>
          <a:xfrm>
            <a:off x="7633765" y="5626173"/>
            <a:ext cx="988702" cy="408867"/>
          </a:xfrm>
          <a:prstGeom prst="roundRect">
            <a:avLst>
              <a:gd name="adj" fmla="val 26837"/>
            </a:avLst>
          </a:prstGeom>
          <a:solidFill>
            <a:srgbClr val="FFFFFF"/>
          </a:solidFill>
          <a:ln w="12700">
            <a:solidFill>
              <a:srgbClr val="E4DCC8"/>
            </a:solidFill>
            <a:prstDash val="solid"/>
          </a:ln>
        </p:spPr>
      </p:sp>
      <p:sp>
        <p:nvSpPr>
          <p:cNvPr id="64" name="anim-g7-102"/>
          <p:cNvSpPr/>
          <p:nvPr/>
        </p:nvSpPr>
        <p:spPr>
          <a:xfrm>
            <a:off x="7770925" y="5626173"/>
            <a:ext cx="714382"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a:t>
            </a:r>
            <a:endParaRPr lang="ar-SA" sz="2100" dirty="0"/>
          </a:p>
        </p:txBody>
      </p:sp>
      <p:sp>
        <p:nvSpPr>
          <p:cNvPr id="65" name="anim-g7-103"/>
          <p:cNvSpPr/>
          <p:nvPr/>
        </p:nvSpPr>
        <p:spPr>
          <a:xfrm>
            <a:off x="3349516" y="5626173"/>
            <a:ext cx="4174521" cy="408867"/>
          </a:xfrm>
          <a:prstGeom prst="roundRect">
            <a:avLst>
              <a:gd name="adj" fmla="val 26837"/>
            </a:avLst>
          </a:prstGeom>
          <a:solidFill>
            <a:srgbClr val="FFFFFF"/>
          </a:solidFill>
          <a:ln w="12700">
            <a:solidFill>
              <a:srgbClr val="E4DCC8"/>
            </a:solidFill>
            <a:prstDash val="solid"/>
          </a:ln>
        </p:spPr>
      </p:sp>
      <p:sp>
        <p:nvSpPr>
          <p:cNvPr id="66" name="anim-g7-104"/>
          <p:cNvSpPr/>
          <p:nvPr/>
        </p:nvSpPr>
        <p:spPr>
          <a:xfrm>
            <a:off x="3486676" y="5626173"/>
            <a:ext cx="3900201"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يفتح الستارة ويغلقها</a:t>
            </a:r>
            <a:endParaRPr lang="ar-SA" sz="2100" dirty="0"/>
          </a:p>
        </p:txBody>
      </p:sp>
      <p:sp>
        <p:nvSpPr>
          <p:cNvPr id="67" name="anim-g7-105"/>
          <p:cNvSpPr/>
          <p:nvPr/>
        </p:nvSpPr>
        <p:spPr>
          <a:xfrm>
            <a:off x="822960" y="5626173"/>
            <a:ext cx="2416828" cy="408867"/>
          </a:xfrm>
          <a:prstGeom prst="roundRect">
            <a:avLst>
              <a:gd name="adj" fmla="val 26837"/>
            </a:avLst>
          </a:prstGeom>
          <a:solidFill>
            <a:srgbClr val="E6F4EC"/>
          </a:solidFill>
          <a:ln w="12700">
            <a:solidFill>
              <a:srgbClr val="CDE9D9"/>
            </a:solidFill>
            <a:prstDash val="solid"/>
          </a:ln>
        </p:spPr>
      </p:sp>
      <p:sp>
        <p:nvSpPr>
          <p:cNvPr id="68" name="anim-g7-106"/>
          <p:cNvSpPr/>
          <p:nvPr/>
        </p:nvSpPr>
        <p:spPr>
          <a:xfrm>
            <a:off x="960120" y="5626173"/>
            <a:ext cx="2142508" cy="408867"/>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IN1–4: 14 · 27 · 26 · 25</a:t>
            </a:r>
            <a:endParaRPr lang="ar-SA" sz="2100" dirty="0"/>
          </a:p>
        </p:txBody>
      </p:sp>
      <p:sp>
        <p:nvSpPr>
          <p:cNvPr id="69" name="Text 6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70" name="Text 6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المكوّنات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7"/>
                                        </p:tgtEl>
                                        <p:attrNameLst>
                                          <p:attrName>style.visibility</p:attrName>
                                        </p:attrNameLst>
                                      </p:cBhvr>
                                      <p:to>
                                        <p:strVal val="visible"/>
                                      </p:to>
                                    </p:set>
                                    <p:animEffect transition="in" filter="fade">
                                      <p:cBhvr>
                                        <p:cTn id="117" dur="400"/>
                                        <p:tgtEl>
                                          <p:spTgt spid="4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fade">
                                      <p:cBhvr>
                                        <p:cTn id="120" dur="400"/>
                                        <p:tgtEl>
                                          <p:spTgt spid="4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9"/>
                                        </p:tgtEl>
                                        <p:attrNameLst>
                                          <p:attrName>style.visibility</p:attrName>
                                        </p:attrNameLst>
                                      </p:cBhvr>
                                      <p:to>
                                        <p:strVal val="visible"/>
                                      </p:to>
                                    </p:set>
                                    <p:animEffect transition="in" filter="fade">
                                      <p:cBhvr>
                                        <p:cTn id="123" dur="400"/>
                                        <p:tgtEl>
                                          <p:spTgt spid="4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0"/>
                                        </p:tgtEl>
                                        <p:attrNameLst>
                                          <p:attrName>style.visibility</p:attrName>
                                        </p:attrNameLst>
                                      </p:cBhvr>
                                      <p:to>
                                        <p:strVal val="visible"/>
                                      </p:to>
                                    </p:set>
                                    <p:animEffect transition="in" filter="fade">
                                      <p:cBhvr>
                                        <p:cTn id="126" dur="400"/>
                                        <p:tgtEl>
                                          <p:spTgt spid="5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1"/>
                                        </p:tgtEl>
                                        <p:attrNameLst>
                                          <p:attrName>style.visibility</p:attrName>
                                        </p:attrNameLst>
                                      </p:cBhvr>
                                      <p:to>
                                        <p:strVal val="visible"/>
                                      </p:to>
                                    </p:set>
                                    <p:animEffect transition="in" filter="fade">
                                      <p:cBhvr>
                                        <p:cTn id="129" dur="400"/>
                                        <p:tgtEl>
                                          <p:spTgt spid="5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fade">
                                      <p:cBhvr>
                                        <p:cTn id="132" dur="400"/>
                                        <p:tgtEl>
                                          <p:spTgt spid="52"/>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9"/>
                                        </p:tgtEl>
                                        <p:attrNameLst>
                                          <p:attrName>style.visibility</p:attrName>
                                        </p:attrNameLst>
                                      </p:cBhvr>
                                      <p:to>
                                        <p:strVal val="visible"/>
                                      </p:to>
                                    </p:set>
                                    <p:animEffect transition="in" filter="fade">
                                      <p:cBhvr>
                                        <p:cTn id="155" dur="400"/>
                                        <p:tgtEl>
                                          <p:spTgt spid="59"/>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60"/>
                                        </p:tgtEl>
                                        <p:attrNameLst>
                                          <p:attrName>style.visibility</p:attrName>
                                        </p:attrNameLst>
                                      </p:cBhvr>
                                      <p:to>
                                        <p:strVal val="visible"/>
                                      </p:to>
                                    </p:set>
                                    <p:animEffect transition="in" filter="fade">
                                      <p:cBhvr>
                                        <p:cTn id="158" dur="400"/>
                                        <p:tgtEl>
                                          <p:spTgt spid="60"/>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user\projects\younes-training\diriyah-judges\.pptx-cache\s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خطوات البناء</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كل قطعة وحدها… ثم الدمج</a:t>
            </a:r>
            <a:endParaRPr lang="ar-SA" sz="3800" dirty="0"/>
          </a:p>
        </p:txBody>
      </p:sp>
      <p:sp>
        <p:nvSpPr>
          <p:cNvPr id="5" name="anim-g1-107"/>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108"/>
          <p:cNvSpPr/>
          <p:nvPr/>
        </p:nvSpPr>
        <p:spPr>
          <a:xfrm>
            <a:off x="10587838" y="2011680"/>
            <a:ext cx="552298" cy="552298"/>
          </a:xfrm>
          <a:prstGeom prst="ellipse">
            <a:avLst/>
          </a:prstGeom>
          <a:solidFill>
            <a:srgbClr val="D9AE4B"/>
          </a:solidFill>
          <a:ln/>
        </p:spPr>
      </p:sp>
      <p:sp>
        <p:nvSpPr>
          <p:cNvPr id="7" name="anim-g1-109"/>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10"/>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اختبار اللوحة وحدها</a:t>
            </a:r>
            <a:pPr algn="r" indent="0" marL="0">
              <a:buNone/>
            </a:pPr>
            <a:r>
              <a:rPr lang="ar-SA" altLang="en-US" sz="1800" b="1" dirty="0">
                <a:solidFill>
                  <a:srgbClr val="3B4460"/>
                </a:solidFill>
                <a:latin typeface="Cairo" pitchFamily="34" charset="0"/>
                <a:ea typeface="Cairo" pitchFamily="34" charset="-122"/>
                <a:cs typeface="Cairo" pitchFamily="34" charset="-120"/>
              </a:rPr>
              <a:t>   — برنامج Serial بسيط: اللوحة تتصل وتُبرمج</a:t>
            </a:r>
            <a:endParaRPr lang="ar-SA" sz="2200" dirty="0"/>
          </a:p>
        </p:txBody>
      </p:sp>
      <p:sp>
        <p:nvSpPr>
          <p:cNvPr id="9" name="anim-g2-111"/>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112"/>
          <p:cNvSpPr/>
          <p:nvPr/>
        </p:nvSpPr>
        <p:spPr>
          <a:xfrm>
            <a:off x="10587838" y="2856586"/>
            <a:ext cx="552298" cy="552298"/>
          </a:xfrm>
          <a:prstGeom prst="ellipse">
            <a:avLst/>
          </a:prstGeom>
          <a:solidFill>
            <a:srgbClr val="D9AE4B"/>
          </a:solidFill>
          <a:ln/>
        </p:spPr>
      </p:sp>
      <p:sp>
        <p:nvSpPr>
          <p:cNvPr id="11" name="anim-g2-113"/>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14"/>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اختبار كل قطعة على حدة</a:t>
            </a:r>
            <a:pPr algn="r" indent="0" marL="0">
              <a:buNone/>
            </a:pPr>
            <a:r>
              <a:rPr lang="ar-SA" altLang="en-US" sz="1800" b="1" dirty="0">
                <a:solidFill>
                  <a:srgbClr val="3B4460"/>
                </a:solidFill>
                <a:latin typeface="Cairo" pitchFamily="34" charset="0"/>
                <a:ea typeface="Cairo" pitchFamily="34" charset="-122"/>
                <a:cs typeface="Cairo" pitchFamily="34" charset="-120"/>
              </a:rPr>
              <a:t>   — الحساسات الثلاثة، ثم PCA9685 على I2C، ثم كل RGB، ثم الكشافات، ثم DFPlayer، ثم الأزرار: أكثر من ٢٠ برنامج اختبار</a:t>
            </a:r>
            <a:endParaRPr lang="ar-SA" sz="2200" dirty="0"/>
          </a:p>
        </p:txBody>
      </p:sp>
      <p:sp>
        <p:nvSpPr>
          <p:cNvPr id="13" name="anim-g3-115"/>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116"/>
          <p:cNvSpPr/>
          <p:nvPr/>
        </p:nvSpPr>
        <p:spPr>
          <a:xfrm>
            <a:off x="10587838" y="3701491"/>
            <a:ext cx="552298" cy="552298"/>
          </a:xfrm>
          <a:prstGeom prst="ellipse">
            <a:avLst/>
          </a:prstGeom>
          <a:solidFill>
            <a:srgbClr val="D9AE4B"/>
          </a:solidFill>
          <a:ln/>
        </p:spPr>
      </p:sp>
      <p:sp>
        <p:nvSpPr>
          <p:cNvPr id="15" name="anim-g3-117"/>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18"/>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الدمج الأول</a:t>
            </a:r>
            <a:pPr algn="r" indent="0" marL="0">
              <a:buNone/>
            </a:pPr>
            <a:r>
              <a:rPr lang="ar-SA" altLang="en-US" sz="1800" b="1" dirty="0">
                <a:solidFill>
                  <a:srgbClr val="3B4460"/>
                </a:solidFill>
                <a:latin typeface="Cairo" pitchFamily="34" charset="0"/>
                <a:ea typeface="Cairo" pitchFamily="34" charset="-122"/>
                <a:cs typeface="Cairo" pitchFamily="34" charset="-120"/>
              </a:rPr>
              <a:t>   — كل حساس يشغّل محطته (كشاف + ألوان) ويطفئ الباقي</a:t>
            </a:r>
            <a:endParaRPr lang="ar-SA" sz="2200" dirty="0"/>
          </a:p>
        </p:txBody>
      </p:sp>
      <p:sp>
        <p:nvSpPr>
          <p:cNvPr id="17" name="anim-g4-119"/>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120"/>
          <p:cNvSpPr/>
          <p:nvPr/>
        </p:nvSpPr>
        <p:spPr>
          <a:xfrm>
            <a:off x="10587838" y="4546397"/>
            <a:ext cx="552298" cy="552298"/>
          </a:xfrm>
          <a:prstGeom prst="ellipse">
            <a:avLst/>
          </a:prstGeom>
          <a:solidFill>
            <a:srgbClr val="D9AE4B"/>
          </a:solidFill>
          <a:ln/>
        </p:spPr>
      </p:sp>
      <p:sp>
        <p:nvSpPr>
          <p:cNvPr id="19" name="anim-g4-121"/>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22"/>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الدمج اللاسلكي</a:t>
            </a:r>
            <a:pPr algn="r" indent="0" marL="0">
              <a:buNone/>
            </a:pPr>
            <a:r>
              <a:rPr lang="ar-SA" altLang="en-US" sz="1800" b="1" dirty="0">
                <a:solidFill>
                  <a:srgbClr val="3B4460"/>
                </a:solidFill>
                <a:latin typeface="Cairo" pitchFamily="34" charset="0"/>
                <a:ea typeface="Cairo" pitchFamily="34" charset="-122"/>
                <a:cs typeface="Cairo" pitchFamily="34" charset="-120"/>
              </a:rPr>
              <a:t>   — لوحة الحساسات تُخبر لوحة الصوت عبر ESP-NOW بلا أي سلك</a:t>
            </a:r>
            <a:endParaRPr lang="ar-SA" sz="2200" dirty="0"/>
          </a:p>
        </p:txBody>
      </p:sp>
      <p:sp>
        <p:nvSpPr>
          <p:cNvPr id="21" name="anim-g5-123"/>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124"/>
          <p:cNvSpPr/>
          <p:nvPr/>
        </p:nvSpPr>
        <p:spPr>
          <a:xfrm>
            <a:off x="10587838" y="5391302"/>
            <a:ext cx="552298" cy="552298"/>
          </a:xfrm>
          <a:prstGeom prst="ellipse">
            <a:avLst/>
          </a:prstGeom>
          <a:solidFill>
            <a:srgbClr val="D9AE4B"/>
          </a:solidFill>
          <a:ln/>
        </p:spPr>
      </p:sp>
      <p:sp>
        <p:nvSpPr>
          <p:cNvPr id="23" name="anim-g5-125"/>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126"/>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المجسّم</a:t>
            </a:r>
            <a:pPr algn="r" indent="0" marL="0">
              <a:buNone/>
            </a:pPr>
            <a:r>
              <a:rPr lang="ar-SA" altLang="en-US" sz="1800" b="1" dirty="0">
                <a:solidFill>
                  <a:srgbClr val="3B4460"/>
                </a:solidFill>
                <a:latin typeface="Cairo" pitchFamily="34" charset="0"/>
                <a:ea typeface="Cairo" pitchFamily="34" charset="-122"/>
                <a:cs typeface="Cairo" pitchFamily="34" charset="-120"/>
              </a:rPr>
              <a:t>   — قاعدة خشبية، وواجهات نجدية من الفوم والجبس مدهونة بألوان الطين، وصندوق معتم وستارة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طريقة البناء  ·  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user\projects\younes-training\diriyah-judges\.pptx-cache\s11.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11.gif">    </p:cNvPr>
          <p:cNvPicPr>
            <a:picLocks noChangeAspect="1"/>
          </p:cNvPicPr>
          <p:nvPr/>
        </p:nvPicPr>
        <p:blipFill>
          <a:blip r:embed="rId2"/>
          <a:stretch>
            <a:fillRect/>
          </a:stretch>
        </p:blipFill>
        <p:spPr>
          <a:xfrm>
            <a:off x="5348650" y="1847850"/>
            <a:ext cx="6017566" cy="374431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projects\younes-training\diriyah-judges\.pptx-cache\s12-0.jpg">    </p:cNvPr>
          <p:cNvPicPr>
            <a:picLocks noChangeAspect="1"/>
          </p:cNvPicPr>
          <p:nvPr/>
        </p:nvPicPr>
        <p:blipFill>
          <a:blip r:embed="rId1"/>
          <a:stretch>
            <a:fillRect/>
          </a:stretch>
        </p:blipFill>
        <p:spPr>
          <a:xfrm>
            <a:off x="0" y="0"/>
            <a:ext cx="12191695" cy="6858000"/>
          </a:xfrm>
          <a:prstGeom prst="rect">
            <a:avLst/>
          </a:prstGeom>
        </p:spPr>
      </p:pic>
      <p:pic>
        <p:nvPicPr>
          <p:cNvPr id="3" name="anim-g1-127" descr="C:\Users\user\projects\younes-training\diriyah-judges\.pptx-cache\s12-1.jpg">    </p:cNvPr>
          <p:cNvPicPr>
            <a:picLocks noChangeAspect="1"/>
          </p:cNvPicPr>
          <p:nvPr/>
        </p:nvPicPr>
        <p:blipFill>
          <a:blip r:embed="rId2"/>
          <a:stretch>
            <a:fillRect/>
          </a:stretch>
        </p:blipFill>
        <p:spPr>
          <a:xfrm>
            <a:off x="0" y="0"/>
            <a:ext cx="12191695" cy="6858000"/>
          </a:xfrm>
          <a:prstGeom prst="rect">
            <a:avLst/>
          </a:prstGeom>
        </p:spPr>
      </p:pic>
      <p:pic>
        <p:nvPicPr>
          <p:cNvPr id="4" name="anim-g2-128" descr="C:\Users\user\projects\younes-training\diriyah-judges\.pptx-cache\s12-2.jpg">    </p:cNvPr>
          <p:cNvPicPr>
            <a:picLocks noChangeAspect="1"/>
          </p:cNvPicPr>
          <p:nvPr/>
        </p:nvPicPr>
        <p:blipFill>
          <a:blip r:embed="rId3"/>
          <a:stretch>
            <a:fillRect/>
          </a:stretch>
        </p:blipFill>
        <p:spPr>
          <a:xfrm>
            <a:off x="0" y="0"/>
            <a:ext cx="12191695" cy="6858000"/>
          </a:xfrm>
          <a:prstGeom prst="rect">
            <a:avLst/>
          </a:prstGeom>
        </p:spPr>
      </p:pic>
      <p:pic>
        <p:nvPicPr>
          <p:cNvPr id="5" name="anim-g3-129" descr="C:\Users\user\projects\younes-training\diriyah-judges\.pptx-cache\s12-3.jpg">    </p:cNvPr>
          <p:cNvPicPr>
            <a:picLocks noChangeAspect="1"/>
          </p:cNvPicPr>
          <p:nvPr/>
        </p:nvPicPr>
        <p:blipFill>
          <a:blip r:embed="rId4"/>
          <a:stretch>
            <a:fillRect/>
          </a:stretch>
        </p:blipFill>
        <p:spPr>
          <a:xfrm>
            <a:off x="0" y="0"/>
            <a:ext cx="12191695" cy="6858000"/>
          </a:xfrm>
          <a:prstGeom prst="rect">
            <a:avLst/>
          </a:prstGeom>
        </p:spPr>
      </p:pic>
      <p:pic>
        <p:nvPicPr>
          <p:cNvPr id="6" name="anim-g4-130" descr="C:\Users\user\projects\younes-training\diriyah-judges\.pptx-cache\s12-4.jpg">    </p:cNvPr>
          <p:cNvPicPr>
            <a:picLocks noChangeAspect="1"/>
          </p:cNvPicPr>
          <p:nvPr/>
        </p:nvPicPr>
        <p:blipFill>
          <a:blip r:embed="rId5"/>
          <a:stretch>
            <a:fillRect/>
          </a:stretch>
        </p:blipFill>
        <p:spPr>
          <a:xfrm>
            <a:off x="0" y="0"/>
            <a:ext cx="12191695" cy="6858000"/>
          </a:xfrm>
          <a:prstGeom prst="rect">
            <a:avLst/>
          </a:prstGeom>
        </p:spPr>
      </p:pic>
      <p:pic>
        <p:nvPicPr>
          <p:cNvPr id="7" name="anim-g5-131" descr="C:\Users\user\projects\younes-training\diriyah-judges\.pptx-cache\s12-5.jpg">    </p:cNvPr>
          <p:cNvPicPr>
            <a:picLocks noChangeAspect="1"/>
          </p:cNvPicPr>
          <p:nvPr/>
        </p:nvPicPr>
        <p:blipFill>
          <a:blip r:embed="rId6"/>
          <a:stretch>
            <a:fillRect/>
          </a:stretch>
        </p:blipFill>
        <p:spPr>
          <a:xfrm>
            <a:off x="0" y="0"/>
            <a:ext cx="12191695" cy="6858000"/>
          </a:xfrm>
          <a:prstGeom prst="rect">
            <a:avLst/>
          </a:prstGeom>
        </p:spPr>
      </p:pic>
      <p:pic>
        <p:nvPicPr>
          <p:cNvPr id="8" name="anim-g6-132" descr="C:\Users\user\projects\younes-training\diriyah-judges\.pptx-cache\s12-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user\projects\younes-training\diriyah-judges\.pptx-cache\s13.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13.gif">    </p:cNvPr>
          <p:cNvPicPr>
            <a:picLocks noChangeAspect="1"/>
          </p:cNvPicPr>
          <p:nvPr/>
        </p:nvPicPr>
        <p:blipFill>
          <a:blip r:embed="rId2"/>
          <a:stretch>
            <a:fillRect/>
          </a:stretch>
        </p:blipFill>
        <p:spPr>
          <a:xfrm>
            <a:off x="5348650" y="1847850"/>
            <a:ext cx="6017566" cy="37251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user\projects\younes-training\diriyah-judges\.pptx-cache\s14-0.jpg">    </p:cNvPr>
          <p:cNvPicPr>
            <a:picLocks noChangeAspect="1"/>
          </p:cNvPicPr>
          <p:nvPr/>
        </p:nvPicPr>
        <p:blipFill>
          <a:blip r:embed="rId1"/>
          <a:stretch>
            <a:fillRect/>
          </a:stretch>
        </p:blipFill>
        <p:spPr>
          <a:xfrm>
            <a:off x="0" y="0"/>
            <a:ext cx="12191695" cy="6858000"/>
          </a:xfrm>
          <a:prstGeom prst="rect">
            <a:avLst/>
          </a:prstGeom>
        </p:spPr>
      </p:pic>
      <p:pic>
        <p:nvPicPr>
          <p:cNvPr id="3" name="anim-g1-133" descr="C:\Users\user\projects\younes-training\diriyah-judges\.pptx-cache\s14-1.jpg">    </p:cNvPr>
          <p:cNvPicPr>
            <a:picLocks noChangeAspect="1"/>
          </p:cNvPicPr>
          <p:nvPr/>
        </p:nvPicPr>
        <p:blipFill>
          <a:blip r:embed="rId2"/>
          <a:stretch>
            <a:fillRect/>
          </a:stretch>
        </p:blipFill>
        <p:spPr>
          <a:xfrm>
            <a:off x="0" y="0"/>
            <a:ext cx="12191695" cy="6858000"/>
          </a:xfrm>
          <a:prstGeom prst="rect">
            <a:avLst/>
          </a:prstGeom>
        </p:spPr>
      </p:pic>
      <p:pic>
        <p:nvPicPr>
          <p:cNvPr id="4" name="anim-g2-134" descr="C:\Users\user\projects\younes-training\diriyah-judges\.pptx-cache\s14-2.jpg">    </p:cNvPr>
          <p:cNvPicPr>
            <a:picLocks noChangeAspect="1"/>
          </p:cNvPicPr>
          <p:nvPr/>
        </p:nvPicPr>
        <p:blipFill>
          <a:blip r:embed="rId3"/>
          <a:stretch>
            <a:fillRect/>
          </a:stretch>
        </p:blipFill>
        <p:spPr>
          <a:xfrm>
            <a:off x="0" y="0"/>
            <a:ext cx="12191695" cy="6858000"/>
          </a:xfrm>
          <a:prstGeom prst="rect">
            <a:avLst/>
          </a:prstGeom>
        </p:spPr>
      </p:pic>
      <p:pic>
        <p:nvPicPr>
          <p:cNvPr id="5" name="anim-g3-135" descr="C:\Users\user\projects\younes-training\diriyah-judges\.pptx-cache\s14-3.jpg">    </p:cNvPr>
          <p:cNvPicPr>
            <a:picLocks noChangeAspect="1"/>
          </p:cNvPicPr>
          <p:nvPr/>
        </p:nvPicPr>
        <p:blipFill>
          <a:blip r:embed="rId4"/>
          <a:stretch>
            <a:fillRect/>
          </a:stretch>
        </p:blipFill>
        <p:spPr>
          <a:xfrm>
            <a:off x="0" y="0"/>
            <a:ext cx="12191695" cy="6858000"/>
          </a:xfrm>
          <a:prstGeom prst="rect">
            <a:avLst/>
          </a:prstGeom>
        </p:spPr>
      </p:pic>
      <p:pic>
        <p:nvPicPr>
          <p:cNvPr id="6" name="anim-g4-136" descr="C:\Users\user\projects\younes-training\diriyah-judges\.pptx-cache\s14-4.jpg">    </p:cNvPr>
          <p:cNvPicPr>
            <a:picLocks noChangeAspect="1"/>
          </p:cNvPicPr>
          <p:nvPr/>
        </p:nvPicPr>
        <p:blipFill>
          <a:blip r:embed="rId5"/>
          <a:stretch>
            <a:fillRect/>
          </a:stretch>
        </p:blipFill>
        <p:spPr>
          <a:xfrm>
            <a:off x="0" y="0"/>
            <a:ext cx="12191695" cy="6858000"/>
          </a:xfrm>
          <a:prstGeom prst="rect">
            <a:avLst/>
          </a:prstGeom>
        </p:spPr>
      </p:pic>
      <p:pic>
        <p:nvPicPr>
          <p:cNvPr id="7" name="anim-g5-137" descr="C:\Users\user\projects\younes-training\diriyah-judges\.pptx-cache\s14-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user\projects\younes-training\diriyah-judges\.pptx-cache\s15.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15.gif">    </p:cNvPr>
          <p:cNvPicPr>
            <a:picLocks noChangeAspect="1"/>
          </p:cNvPicPr>
          <p:nvPr/>
        </p:nvPicPr>
        <p:blipFill>
          <a:blip r:embed="rId2"/>
          <a:stretch>
            <a:fillRect/>
          </a:stretch>
        </p:blipFill>
        <p:spPr>
          <a:xfrm>
            <a:off x="5348650" y="1736725"/>
            <a:ext cx="6017566" cy="38160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user\projects\younes-training\diriyah-judges\.pptx-cache\s16-0.jpg">    </p:cNvPr>
          <p:cNvPicPr>
            <a:picLocks noChangeAspect="1"/>
          </p:cNvPicPr>
          <p:nvPr/>
        </p:nvPicPr>
        <p:blipFill>
          <a:blip r:embed="rId1"/>
          <a:stretch>
            <a:fillRect/>
          </a:stretch>
        </p:blipFill>
        <p:spPr>
          <a:xfrm>
            <a:off x="0" y="0"/>
            <a:ext cx="12191695" cy="6858000"/>
          </a:xfrm>
          <a:prstGeom prst="rect">
            <a:avLst/>
          </a:prstGeom>
        </p:spPr>
      </p:pic>
      <p:pic>
        <p:nvPicPr>
          <p:cNvPr id="3" name="anim-g1-138" descr="C:\Users\user\projects\younes-training\diriyah-judges\.pptx-cache\s16-1.jpg">    </p:cNvPr>
          <p:cNvPicPr>
            <a:picLocks noChangeAspect="1"/>
          </p:cNvPicPr>
          <p:nvPr/>
        </p:nvPicPr>
        <p:blipFill>
          <a:blip r:embed="rId2"/>
          <a:stretch>
            <a:fillRect/>
          </a:stretch>
        </p:blipFill>
        <p:spPr>
          <a:xfrm>
            <a:off x="0" y="0"/>
            <a:ext cx="12191695" cy="6858000"/>
          </a:xfrm>
          <a:prstGeom prst="rect">
            <a:avLst/>
          </a:prstGeom>
        </p:spPr>
      </p:pic>
      <p:pic>
        <p:nvPicPr>
          <p:cNvPr id="4" name="anim-g2-139" descr="C:\Users\user\projects\younes-training\diriyah-judges\.pptx-cache\s16-2.jpg">    </p:cNvPr>
          <p:cNvPicPr>
            <a:picLocks noChangeAspect="1"/>
          </p:cNvPicPr>
          <p:nvPr/>
        </p:nvPicPr>
        <p:blipFill>
          <a:blip r:embed="rId3"/>
          <a:stretch>
            <a:fillRect/>
          </a:stretch>
        </p:blipFill>
        <p:spPr>
          <a:xfrm>
            <a:off x="0" y="0"/>
            <a:ext cx="12191695" cy="6858000"/>
          </a:xfrm>
          <a:prstGeom prst="rect">
            <a:avLst/>
          </a:prstGeom>
        </p:spPr>
      </p:pic>
      <p:pic>
        <p:nvPicPr>
          <p:cNvPr id="5" name="anim-g3-140" descr="C:\Users\user\projects\younes-training\diriyah-judges\.pptx-cache\s16-3.jpg">    </p:cNvPr>
          <p:cNvPicPr>
            <a:picLocks noChangeAspect="1"/>
          </p:cNvPicPr>
          <p:nvPr/>
        </p:nvPicPr>
        <p:blipFill>
          <a:blip r:embed="rId4"/>
          <a:stretch>
            <a:fillRect/>
          </a:stretch>
        </p:blipFill>
        <p:spPr>
          <a:xfrm>
            <a:off x="0" y="0"/>
            <a:ext cx="12191695" cy="6858000"/>
          </a:xfrm>
          <a:prstGeom prst="rect">
            <a:avLst/>
          </a:prstGeom>
        </p:spPr>
      </p:pic>
      <p:pic>
        <p:nvPicPr>
          <p:cNvPr id="6" name="anim-g4-141" descr="C:\Users\user\projects\younes-training\diriyah-judges\.pptx-cache\s16-4.jpg">    </p:cNvPr>
          <p:cNvPicPr>
            <a:picLocks noChangeAspect="1"/>
          </p:cNvPicPr>
          <p:nvPr/>
        </p:nvPicPr>
        <p:blipFill>
          <a:blip r:embed="rId5"/>
          <a:stretch>
            <a:fillRect/>
          </a:stretch>
        </p:blipFill>
        <p:spPr>
          <a:xfrm>
            <a:off x="0" y="0"/>
            <a:ext cx="12191695" cy="6858000"/>
          </a:xfrm>
          <a:prstGeom prst="rect">
            <a:avLst/>
          </a:prstGeom>
        </p:spPr>
      </p:pic>
      <p:pic>
        <p:nvPicPr>
          <p:cNvPr id="7" name="anim-g5-142" descr="C:\Users\user\projects\younes-training\diriyah-judges\.pptx-cache\s16-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user\projects\younes-training\diriyah-judges\.pptx-cache\s17.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17.gif">    </p:cNvPr>
          <p:cNvPicPr>
            <a:picLocks noChangeAspect="1"/>
          </p:cNvPicPr>
          <p:nvPr/>
        </p:nvPicPr>
        <p:blipFill>
          <a:blip r:embed="rId2"/>
          <a:stretch>
            <a:fillRect/>
          </a:stretch>
        </p:blipFill>
        <p:spPr>
          <a:xfrm>
            <a:off x="5348650" y="1847850"/>
            <a:ext cx="6017566" cy="3638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user\projects\younes-training\diriyah-judges\.pptx-cache\s18-0.jpg">    </p:cNvPr>
          <p:cNvPicPr>
            <a:picLocks noChangeAspect="1"/>
          </p:cNvPicPr>
          <p:nvPr/>
        </p:nvPicPr>
        <p:blipFill>
          <a:blip r:embed="rId1"/>
          <a:stretch>
            <a:fillRect/>
          </a:stretch>
        </p:blipFill>
        <p:spPr>
          <a:xfrm>
            <a:off x="0" y="0"/>
            <a:ext cx="12191695" cy="6858000"/>
          </a:xfrm>
          <a:prstGeom prst="rect">
            <a:avLst/>
          </a:prstGeom>
        </p:spPr>
      </p:pic>
      <p:pic>
        <p:nvPicPr>
          <p:cNvPr id="3" name="anim-g1-143" descr="C:\Users\user\projects\younes-training\diriyah-judges\.pptx-cache\s18-1.jpg">    </p:cNvPr>
          <p:cNvPicPr>
            <a:picLocks noChangeAspect="1"/>
          </p:cNvPicPr>
          <p:nvPr/>
        </p:nvPicPr>
        <p:blipFill>
          <a:blip r:embed="rId2"/>
          <a:stretch>
            <a:fillRect/>
          </a:stretch>
        </p:blipFill>
        <p:spPr>
          <a:xfrm>
            <a:off x="0" y="0"/>
            <a:ext cx="12191695" cy="6858000"/>
          </a:xfrm>
          <a:prstGeom prst="rect">
            <a:avLst/>
          </a:prstGeom>
        </p:spPr>
      </p:pic>
      <p:pic>
        <p:nvPicPr>
          <p:cNvPr id="4" name="anim-g2-144" descr="C:\Users\user\projects\younes-training\diriyah-judges\.pptx-cache\s18-2.jpg">    </p:cNvPr>
          <p:cNvPicPr>
            <a:picLocks noChangeAspect="1"/>
          </p:cNvPicPr>
          <p:nvPr/>
        </p:nvPicPr>
        <p:blipFill>
          <a:blip r:embed="rId3"/>
          <a:stretch>
            <a:fillRect/>
          </a:stretch>
        </p:blipFill>
        <p:spPr>
          <a:xfrm>
            <a:off x="0" y="0"/>
            <a:ext cx="12191695" cy="6858000"/>
          </a:xfrm>
          <a:prstGeom prst="rect">
            <a:avLst/>
          </a:prstGeom>
        </p:spPr>
      </p:pic>
      <p:pic>
        <p:nvPicPr>
          <p:cNvPr id="5" name="anim-g3-145" descr="C:\Users\user\projects\younes-training\diriyah-judges\.pptx-cache\s18-3.jpg">    </p:cNvPr>
          <p:cNvPicPr>
            <a:picLocks noChangeAspect="1"/>
          </p:cNvPicPr>
          <p:nvPr/>
        </p:nvPicPr>
        <p:blipFill>
          <a:blip r:embed="rId4"/>
          <a:stretch>
            <a:fillRect/>
          </a:stretch>
        </p:blipFill>
        <p:spPr>
          <a:xfrm>
            <a:off x="0" y="0"/>
            <a:ext cx="12191695" cy="6858000"/>
          </a:xfrm>
          <a:prstGeom prst="rect">
            <a:avLst/>
          </a:prstGeom>
        </p:spPr>
      </p:pic>
      <p:pic>
        <p:nvPicPr>
          <p:cNvPr id="6" name="anim-g4-146" descr="C:\Users\user\projects\younes-training\diriyah-judges\.pptx-cache\s18-4.jpg">    </p:cNvPr>
          <p:cNvPicPr>
            <a:picLocks noChangeAspect="1"/>
          </p:cNvPicPr>
          <p:nvPr/>
        </p:nvPicPr>
        <p:blipFill>
          <a:blip r:embed="rId5"/>
          <a:stretch>
            <a:fillRect/>
          </a:stretch>
        </p:blipFill>
        <p:spPr>
          <a:xfrm>
            <a:off x="0" y="0"/>
            <a:ext cx="12191695" cy="6858000"/>
          </a:xfrm>
          <a:prstGeom prst="rect">
            <a:avLst/>
          </a:prstGeom>
        </p:spPr>
      </p:pic>
      <p:pic>
        <p:nvPicPr>
          <p:cNvPr id="7" name="anim-g5-147" descr="C:\Users\user\projects\younes-training\diriyah-judges\.pptx-cache\s18-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user\projects\younes-training\diriyah-judges\.pptx-cache\s19.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user\projects\younes-training\diriyah-judges\.pptx-cache\s19.gif">    </p:cNvPr>
          <p:cNvPicPr>
            <a:picLocks noChangeAspect="1"/>
          </p:cNvPicPr>
          <p:nvPr/>
        </p:nvPicPr>
        <p:blipFill>
          <a:blip r:embed="rId2"/>
          <a:stretch>
            <a:fillRect/>
          </a:stretch>
        </p:blipFill>
        <p:spPr>
          <a:xfrm>
            <a:off x="825479" y="1736725"/>
            <a:ext cx="4332675" cy="239434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user\projects\younes-training\diriyah-judges\.pptx-cache\s20-0.jpg">    </p:cNvPr>
          <p:cNvPicPr>
            <a:picLocks noChangeAspect="1"/>
          </p:cNvPicPr>
          <p:nvPr/>
        </p:nvPicPr>
        <p:blipFill>
          <a:blip r:embed="rId1"/>
          <a:stretch>
            <a:fillRect/>
          </a:stretch>
        </p:blipFill>
        <p:spPr>
          <a:xfrm>
            <a:off x="0" y="0"/>
            <a:ext cx="12191695" cy="6858000"/>
          </a:xfrm>
          <a:prstGeom prst="rect">
            <a:avLst/>
          </a:prstGeom>
        </p:spPr>
      </p:pic>
      <p:pic>
        <p:nvPicPr>
          <p:cNvPr id="3" name="anim-g1-148" descr="C:\Users\user\projects\younes-training\diriyah-judges\.pptx-cache\s20-1.jpg">    </p:cNvPr>
          <p:cNvPicPr>
            <a:picLocks noChangeAspect="1"/>
          </p:cNvPicPr>
          <p:nvPr/>
        </p:nvPicPr>
        <p:blipFill>
          <a:blip r:embed="rId2"/>
          <a:stretch>
            <a:fillRect/>
          </a:stretch>
        </p:blipFill>
        <p:spPr>
          <a:xfrm>
            <a:off x="0" y="0"/>
            <a:ext cx="12191695" cy="6858000"/>
          </a:xfrm>
          <a:prstGeom prst="rect">
            <a:avLst/>
          </a:prstGeom>
        </p:spPr>
      </p:pic>
      <p:pic>
        <p:nvPicPr>
          <p:cNvPr id="4" name="anim-g2-149" descr="C:\Users\user\projects\younes-training\diriyah-judges\.pptx-cache\s20-2.jpg">    </p:cNvPr>
          <p:cNvPicPr>
            <a:picLocks noChangeAspect="1"/>
          </p:cNvPicPr>
          <p:nvPr/>
        </p:nvPicPr>
        <p:blipFill>
          <a:blip r:embed="rId3"/>
          <a:stretch>
            <a:fillRect/>
          </a:stretch>
        </p:blipFill>
        <p:spPr>
          <a:xfrm>
            <a:off x="0" y="0"/>
            <a:ext cx="12191695" cy="6858000"/>
          </a:xfrm>
          <a:prstGeom prst="rect">
            <a:avLst/>
          </a:prstGeom>
        </p:spPr>
      </p:pic>
      <p:pic>
        <p:nvPicPr>
          <p:cNvPr id="5" name="anim-g3-150" descr="C:\Users\user\projects\younes-training\diriyah-judges\.pptx-cache\s20-3.jpg">    </p:cNvPr>
          <p:cNvPicPr>
            <a:picLocks noChangeAspect="1"/>
          </p:cNvPicPr>
          <p:nvPr/>
        </p:nvPicPr>
        <p:blipFill>
          <a:blip r:embed="rId4"/>
          <a:stretch>
            <a:fillRect/>
          </a:stretch>
        </p:blipFill>
        <p:spPr>
          <a:xfrm>
            <a:off x="0" y="0"/>
            <a:ext cx="12191695" cy="6858000"/>
          </a:xfrm>
          <a:prstGeom prst="rect">
            <a:avLst/>
          </a:prstGeom>
        </p:spPr>
      </p:pic>
      <p:pic>
        <p:nvPicPr>
          <p:cNvPr id="6" name="anim-g4-151" descr="C:\Users\user\projects\younes-training\diriyah-judges\.pptx-cache\s20-4.jpg">    </p:cNvPr>
          <p:cNvPicPr>
            <a:picLocks noChangeAspect="1"/>
          </p:cNvPicPr>
          <p:nvPr/>
        </p:nvPicPr>
        <p:blipFill>
          <a:blip r:embed="rId5"/>
          <a:stretch>
            <a:fillRect/>
          </a:stretch>
        </p:blipFill>
        <p:spPr>
          <a:xfrm>
            <a:off x="0" y="0"/>
            <a:ext cx="12191695" cy="6858000"/>
          </a:xfrm>
          <a:prstGeom prst="rect">
            <a:avLst/>
          </a:prstGeom>
        </p:spPr>
      </p:pic>
      <p:pic>
        <p:nvPicPr>
          <p:cNvPr id="7" name="anim-g5-152" descr="C:\Users\user\projects\younes-training\diriyah-judges\.pptx-cache\s20-5.jpg">    </p:cNvPr>
          <p:cNvPicPr>
            <a:picLocks noChangeAspect="1"/>
          </p:cNvPicPr>
          <p:nvPr/>
        </p:nvPicPr>
        <p:blipFill>
          <a:blip r:embed="rId6"/>
          <a:stretch>
            <a:fillRect/>
          </a:stretch>
        </p:blipFill>
        <p:spPr>
          <a:xfrm>
            <a:off x="0" y="0"/>
            <a:ext cx="12191695" cy="6858000"/>
          </a:xfrm>
          <a:prstGeom prst="rect">
            <a:avLst/>
          </a:prstGeom>
        </p:spPr>
      </p:pic>
      <p:pic>
        <p:nvPicPr>
          <p:cNvPr id="8" name="anim-g6-153" descr="C:\Users\user\projects\younes-training\diriyah-judges\.pptx-cache\s2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ما واجهناه</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ست مشكلات حقيقية… وكيف حللناها</a:t>
            </a:r>
            <a:endParaRPr lang="ar-SA" sz="3800" dirty="0"/>
          </a:p>
        </p:txBody>
      </p:sp>
      <p:sp>
        <p:nvSpPr>
          <p:cNvPr id="5" name="Shape 3"/>
          <p:cNvSpPr/>
          <p:nvPr/>
        </p:nvSpPr>
        <p:spPr>
          <a:xfrm>
            <a:off x="6730492" y="1874520"/>
            <a:ext cx="4638243" cy="548640"/>
          </a:xfrm>
          <a:prstGeom prst="roundRect">
            <a:avLst>
              <a:gd name="adj" fmla="val 20000"/>
            </a:avLst>
          </a:prstGeom>
          <a:solidFill>
            <a:srgbClr val="101B45"/>
          </a:solidFill>
          <a:ln/>
        </p:spPr>
      </p:sp>
      <p:sp>
        <p:nvSpPr>
          <p:cNvPr id="6" name="Text 4"/>
          <p:cNvSpPr/>
          <p:nvPr/>
        </p:nvSpPr>
        <p:spPr>
          <a:xfrm>
            <a:off x="6730492" y="1874520"/>
            <a:ext cx="463824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المشكلة</a:t>
            </a:r>
            <a:endParaRPr lang="ar-SA" sz="1900" dirty="0"/>
          </a:p>
        </p:txBody>
      </p:sp>
      <p:sp>
        <p:nvSpPr>
          <p:cNvPr id="7" name="Shape 5"/>
          <p:cNvSpPr/>
          <p:nvPr/>
        </p:nvSpPr>
        <p:spPr>
          <a:xfrm>
            <a:off x="822960" y="1874520"/>
            <a:ext cx="5797804" cy="548640"/>
          </a:xfrm>
          <a:prstGeom prst="roundRect">
            <a:avLst>
              <a:gd name="adj" fmla="val 20000"/>
            </a:avLst>
          </a:prstGeom>
          <a:solidFill>
            <a:srgbClr val="101B45"/>
          </a:solidFill>
          <a:ln/>
        </p:spPr>
      </p:sp>
      <p:sp>
        <p:nvSpPr>
          <p:cNvPr id="8" name="Text 6"/>
          <p:cNvSpPr/>
          <p:nvPr/>
        </p:nvSpPr>
        <p:spPr>
          <a:xfrm>
            <a:off x="822960" y="1874520"/>
            <a:ext cx="5797804"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الحل</a:t>
            </a:r>
            <a:endParaRPr lang="ar-SA" sz="1900" dirty="0"/>
          </a:p>
        </p:txBody>
      </p:sp>
      <p:sp>
        <p:nvSpPr>
          <p:cNvPr id="9" name="anim-g1-154"/>
          <p:cNvSpPr/>
          <p:nvPr/>
        </p:nvSpPr>
        <p:spPr>
          <a:xfrm>
            <a:off x="6730492" y="2514600"/>
            <a:ext cx="4638243" cy="495300"/>
          </a:xfrm>
          <a:prstGeom prst="roundRect">
            <a:avLst>
              <a:gd name="adj" fmla="val 22154"/>
            </a:avLst>
          </a:prstGeom>
          <a:solidFill>
            <a:srgbClr val="FBF3DF"/>
          </a:solidFill>
          <a:ln w="12700">
            <a:solidFill>
              <a:srgbClr val="EFDDAF"/>
            </a:solidFill>
            <a:prstDash val="solid"/>
          </a:ln>
        </p:spPr>
      </p:sp>
      <p:sp>
        <p:nvSpPr>
          <p:cNvPr id="10" name="anim-g1-155"/>
          <p:cNvSpPr/>
          <p:nvPr/>
        </p:nvSpPr>
        <p:spPr>
          <a:xfrm>
            <a:off x="6867652" y="2514600"/>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الصوت ينقطع إن ابتعد الزائر لحظة</a:t>
            </a:r>
            <a:endParaRPr lang="ar-SA" sz="2100" dirty="0"/>
          </a:p>
        </p:txBody>
      </p:sp>
      <p:sp>
        <p:nvSpPr>
          <p:cNvPr id="11" name="anim-g1-156"/>
          <p:cNvSpPr/>
          <p:nvPr/>
        </p:nvSpPr>
        <p:spPr>
          <a:xfrm>
            <a:off x="822960" y="2514600"/>
            <a:ext cx="5797804" cy="495300"/>
          </a:xfrm>
          <a:prstGeom prst="roundRect">
            <a:avLst>
              <a:gd name="adj" fmla="val 22154"/>
            </a:avLst>
          </a:prstGeom>
          <a:solidFill>
            <a:srgbClr val="E6F4EC"/>
          </a:solidFill>
          <a:ln w="12700">
            <a:solidFill>
              <a:srgbClr val="CDE9D9"/>
            </a:solidFill>
            <a:prstDash val="solid"/>
          </a:ln>
        </p:spPr>
      </p:sp>
      <p:sp>
        <p:nvSpPr>
          <p:cNvPr id="12" name="anim-g1-157"/>
          <p:cNvSpPr/>
          <p:nvPr/>
        </p:nvSpPr>
        <p:spPr>
          <a:xfrm>
            <a:off x="960120" y="2514600"/>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مدة بقاء ١٢ ثانية: المحطة تكمل كلامها مهما حدث</a:t>
            </a:r>
            <a:endParaRPr lang="ar-SA" sz="2100" dirty="0"/>
          </a:p>
        </p:txBody>
      </p:sp>
      <p:sp>
        <p:nvSpPr>
          <p:cNvPr id="13" name="anim-g2-158"/>
          <p:cNvSpPr/>
          <p:nvPr/>
        </p:nvSpPr>
        <p:spPr>
          <a:xfrm>
            <a:off x="6730492" y="3119628"/>
            <a:ext cx="4638243" cy="495300"/>
          </a:xfrm>
          <a:prstGeom prst="roundRect">
            <a:avLst>
              <a:gd name="adj" fmla="val 22154"/>
            </a:avLst>
          </a:prstGeom>
          <a:solidFill>
            <a:srgbClr val="FBF3DF"/>
          </a:solidFill>
          <a:ln w="12700">
            <a:solidFill>
              <a:srgbClr val="EFDDAF"/>
            </a:solidFill>
            <a:prstDash val="solid"/>
          </a:ln>
        </p:spPr>
      </p:sp>
      <p:sp>
        <p:nvSpPr>
          <p:cNvPr id="14" name="anim-g2-159"/>
          <p:cNvSpPr/>
          <p:nvPr/>
        </p:nvSpPr>
        <p:spPr>
          <a:xfrm>
            <a:off x="6867652" y="3119628"/>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زائران أمام محطتين معًا</a:t>
            </a:r>
            <a:endParaRPr lang="ar-SA" sz="2100" dirty="0"/>
          </a:p>
        </p:txBody>
      </p:sp>
      <p:sp>
        <p:nvSpPr>
          <p:cNvPr id="15" name="anim-g2-160"/>
          <p:cNvSpPr/>
          <p:nvPr/>
        </p:nvSpPr>
        <p:spPr>
          <a:xfrm>
            <a:off x="822960" y="3119628"/>
            <a:ext cx="5797804" cy="495300"/>
          </a:xfrm>
          <a:prstGeom prst="roundRect">
            <a:avLst>
              <a:gd name="adj" fmla="val 22154"/>
            </a:avLst>
          </a:prstGeom>
          <a:solidFill>
            <a:srgbClr val="E6F4EC"/>
          </a:solidFill>
          <a:ln w="12700">
            <a:solidFill>
              <a:srgbClr val="CDE9D9"/>
            </a:solidFill>
            <a:prstDash val="solid"/>
          </a:ln>
        </p:spPr>
      </p:sp>
      <p:sp>
        <p:nvSpPr>
          <p:cNvPr id="16" name="anim-g2-161"/>
          <p:cNvSpPr/>
          <p:nvPr/>
        </p:nvSpPr>
        <p:spPr>
          <a:xfrm>
            <a:off x="960120" y="3119628"/>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أولوية واضحة في الكود: المحطة الأصغر رقمًا</a:t>
            </a:r>
            <a:endParaRPr lang="ar-SA" sz="2100" dirty="0"/>
          </a:p>
        </p:txBody>
      </p:sp>
      <p:sp>
        <p:nvSpPr>
          <p:cNvPr id="17" name="anim-g3-162"/>
          <p:cNvSpPr/>
          <p:nvPr/>
        </p:nvSpPr>
        <p:spPr>
          <a:xfrm>
            <a:off x="6730492" y="3724656"/>
            <a:ext cx="4638243" cy="495300"/>
          </a:xfrm>
          <a:prstGeom prst="roundRect">
            <a:avLst>
              <a:gd name="adj" fmla="val 22154"/>
            </a:avLst>
          </a:prstGeom>
          <a:solidFill>
            <a:srgbClr val="FBF3DF"/>
          </a:solidFill>
          <a:ln w="12700">
            <a:solidFill>
              <a:srgbClr val="EFDDAF"/>
            </a:solidFill>
            <a:prstDash val="solid"/>
          </a:ln>
        </p:spPr>
      </p:sp>
      <p:sp>
        <p:nvSpPr>
          <p:cNvPr id="18" name="anim-g3-163"/>
          <p:cNvSpPr/>
          <p:nvPr/>
        </p:nvSpPr>
        <p:spPr>
          <a:xfrm>
            <a:off x="6867652" y="3724656"/>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سلك بين اللوحتين قد ينفصل يوم العرض</a:t>
            </a:r>
            <a:endParaRPr lang="ar-SA" sz="2100" dirty="0"/>
          </a:p>
        </p:txBody>
      </p:sp>
      <p:sp>
        <p:nvSpPr>
          <p:cNvPr id="19" name="anim-g3-164"/>
          <p:cNvSpPr/>
          <p:nvPr/>
        </p:nvSpPr>
        <p:spPr>
          <a:xfrm>
            <a:off x="822960" y="3724656"/>
            <a:ext cx="5797804" cy="495300"/>
          </a:xfrm>
          <a:prstGeom prst="roundRect">
            <a:avLst>
              <a:gd name="adj" fmla="val 22154"/>
            </a:avLst>
          </a:prstGeom>
          <a:solidFill>
            <a:srgbClr val="E6F4EC"/>
          </a:solidFill>
          <a:ln w="12700">
            <a:solidFill>
              <a:srgbClr val="CDE9D9"/>
            </a:solidFill>
            <a:prstDash val="solid"/>
          </a:ln>
        </p:spPr>
      </p:sp>
      <p:sp>
        <p:nvSpPr>
          <p:cNvPr id="20" name="anim-g3-165"/>
          <p:cNvSpPr/>
          <p:nvPr/>
        </p:nvSpPr>
        <p:spPr>
          <a:xfrm>
            <a:off x="960120" y="3724656"/>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ESP-NOW لاسلكيًا: بايت واحد بلا أسلاك ولا راوتر</a:t>
            </a:r>
            <a:endParaRPr lang="ar-SA" sz="2100" dirty="0"/>
          </a:p>
        </p:txBody>
      </p:sp>
      <p:sp>
        <p:nvSpPr>
          <p:cNvPr id="21" name="anim-g4-166"/>
          <p:cNvSpPr/>
          <p:nvPr/>
        </p:nvSpPr>
        <p:spPr>
          <a:xfrm>
            <a:off x="6730492" y="4329684"/>
            <a:ext cx="4638243" cy="495300"/>
          </a:xfrm>
          <a:prstGeom prst="roundRect">
            <a:avLst>
              <a:gd name="adj" fmla="val 22154"/>
            </a:avLst>
          </a:prstGeom>
          <a:solidFill>
            <a:srgbClr val="FBF3DF"/>
          </a:solidFill>
          <a:ln w="12700">
            <a:solidFill>
              <a:srgbClr val="EFDDAF"/>
            </a:solidFill>
            <a:prstDash val="solid"/>
          </a:ln>
        </p:spPr>
      </p:sp>
      <p:sp>
        <p:nvSpPr>
          <p:cNvPr id="22" name="anim-g4-167"/>
          <p:cNvSpPr/>
          <p:nvPr/>
        </p:nvSpPr>
        <p:spPr>
          <a:xfrm>
            <a:off x="6867652" y="4329684"/>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ستارة بمحرك عادي لا تعرف أين تقف</a:t>
            </a:r>
            <a:endParaRPr lang="ar-SA" sz="2100" dirty="0"/>
          </a:p>
        </p:txBody>
      </p:sp>
      <p:sp>
        <p:nvSpPr>
          <p:cNvPr id="23" name="anim-g4-168"/>
          <p:cNvSpPr/>
          <p:nvPr/>
        </p:nvSpPr>
        <p:spPr>
          <a:xfrm>
            <a:off x="822960" y="4329684"/>
            <a:ext cx="5797804" cy="495300"/>
          </a:xfrm>
          <a:prstGeom prst="roundRect">
            <a:avLst>
              <a:gd name="adj" fmla="val 22154"/>
            </a:avLst>
          </a:prstGeom>
          <a:solidFill>
            <a:srgbClr val="E6F4EC"/>
          </a:solidFill>
          <a:ln w="12700">
            <a:solidFill>
              <a:srgbClr val="CDE9D9"/>
            </a:solidFill>
            <a:prstDash val="solid"/>
          </a:ln>
        </p:spPr>
      </p:sp>
      <p:sp>
        <p:nvSpPr>
          <p:cNvPr id="24" name="anim-g4-169"/>
          <p:cNvSpPr/>
          <p:nvPr/>
        </p:nvSpPr>
        <p:spPr>
          <a:xfrm>
            <a:off x="960120" y="4329684"/>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محرك خطوي: عدد خطوات محسوب = مسافة محسوبة</a:t>
            </a:r>
            <a:endParaRPr lang="ar-SA" sz="2100" dirty="0"/>
          </a:p>
        </p:txBody>
      </p:sp>
      <p:sp>
        <p:nvSpPr>
          <p:cNvPr id="25" name="anim-g5-170"/>
          <p:cNvSpPr/>
          <p:nvPr/>
        </p:nvSpPr>
        <p:spPr>
          <a:xfrm>
            <a:off x="6730492" y="4934712"/>
            <a:ext cx="4638243" cy="495300"/>
          </a:xfrm>
          <a:prstGeom prst="roundRect">
            <a:avLst>
              <a:gd name="adj" fmla="val 22154"/>
            </a:avLst>
          </a:prstGeom>
          <a:solidFill>
            <a:srgbClr val="FBF3DF"/>
          </a:solidFill>
          <a:ln w="12700">
            <a:solidFill>
              <a:srgbClr val="EFDDAF"/>
            </a:solidFill>
            <a:prstDash val="solid"/>
          </a:ln>
        </p:spPr>
      </p:sp>
      <p:sp>
        <p:nvSpPr>
          <p:cNvPr id="26" name="anim-g5-171"/>
          <p:cNvSpPr/>
          <p:nvPr/>
        </p:nvSpPr>
        <p:spPr>
          <a:xfrm>
            <a:off x="6867652" y="4934712"/>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أسلاك مرتخية ولحام ضعيف في القطع</a:t>
            </a:r>
            <a:endParaRPr lang="ar-SA" sz="2100" dirty="0"/>
          </a:p>
        </p:txBody>
      </p:sp>
      <p:sp>
        <p:nvSpPr>
          <p:cNvPr id="27" name="anim-g5-172"/>
          <p:cNvSpPr/>
          <p:nvPr/>
        </p:nvSpPr>
        <p:spPr>
          <a:xfrm>
            <a:off x="822960" y="4934712"/>
            <a:ext cx="5797804" cy="495300"/>
          </a:xfrm>
          <a:prstGeom prst="roundRect">
            <a:avLst>
              <a:gd name="adj" fmla="val 22154"/>
            </a:avLst>
          </a:prstGeom>
          <a:solidFill>
            <a:srgbClr val="E6F4EC"/>
          </a:solidFill>
          <a:ln w="12700">
            <a:solidFill>
              <a:srgbClr val="CDE9D9"/>
            </a:solidFill>
            <a:prstDash val="solid"/>
          </a:ln>
        </p:spPr>
      </p:sp>
      <p:sp>
        <p:nvSpPr>
          <p:cNvPr id="28" name="anim-g5-173"/>
          <p:cNvSpPr/>
          <p:nvPr/>
        </p:nvSpPr>
        <p:spPr>
          <a:xfrm>
            <a:off x="960120" y="4934712"/>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برنامج اختبار لكل قطعة وحدها قبل أي دمج</a:t>
            </a:r>
            <a:endParaRPr lang="ar-SA" sz="2100" dirty="0"/>
          </a:p>
        </p:txBody>
      </p:sp>
      <p:sp>
        <p:nvSpPr>
          <p:cNvPr id="29" name="anim-g6-174"/>
          <p:cNvSpPr/>
          <p:nvPr/>
        </p:nvSpPr>
        <p:spPr>
          <a:xfrm>
            <a:off x="6730492" y="5539740"/>
            <a:ext cx="4638243" cy="495300"/>
          </a:xfrm>
          <a:prstGeom prst="roundRect">
            <a:avLst>
              <a:gd name="adj" fmla="val 22154"/>
            </a:avLst>
          </a:prstGeom>
          <a:solidFill>
            <a:srgbClr val="FBF3DF"/>
          </a:solidFill>
          <a:ln w="12700">
            <a:solidFill>
              <a:srgbClr val="EFDDAF"/>
            </a:solidFill>
            <a:prstDash val="solid"/>
          </a:ln>
        </p:spPr>
      </p:sp>
      <p:sp>
        <p:nvSpPr>
          <p:cNvPr id="30" name="anim-g6-175"/>
          <p:cNvSpPr/>
          <p:nvPr/>
        </p:nvSpPr>
        <p:spPr>
          <a:xfrm>
            <a:off x="6867652" y="5539740"/>
            <a:ext cx="4363923"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نهاية «سؤال وجواب» تشبه مشروعًا آخر</a:t>
            </a:r>
            <a:endParaRPr lang="ar-SA" sz="2100" dirty="0"/>
          </a:p>
        </p:txBody>
      </p:sp>
      <p:sp>
        <p:nvSpPr>
          <p:cNvPr id="31" name="anim-g6-176"/>
          <p:cNvSpPr/>
          <p:nvPr/>
        </p:nvSpPr>
        <p:spPr>
          <a:xfrm>
            <a:off x="822960" y="5539740"/>
            <a:ext cx="5797804" cy="495300"/>
          </a:xfrm>
          <a:prstGeom prst="roundRect">
            <a:avLst>
              <a:gd name="adj" fmla="val 22154"/>
            </a:avLst>
          </a:prstGeom>
          <a:solidFill>
            <a:srgbClr val="E6F4EC"/>
          </a:solidFill>
          <a:ln w="12700">
            <a:solidFill>
              <a:srgbClr val="CDE9D9"/>
            </a:solidFill>
            <a:prstDash val="solid"/>
          </a:ln>
        </p:spPr>
      </p:sp>
      <p:sp>
        <p:nvSpPr>
          <p:cNvPr id="32" name="anim-g6-177"/>
          <p:cNvSpPr/>
          <p:nvPr/>
        </p:nvSpPr>
        <p:spPr>
          <a:xfrm>
            <a:off x="960120" y="5539740"/>
            <a:ext cx="5523484"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معضلة قرار بلا إجابة خاطئة: تفكير لا حفظ</a:t>
            </a:r>
            <a:endParaRPr lang="ar-SA" sz="2100" dirty="0"/>
          </a:p>
        </p:txBody>
      </p:sp>
      <p:sp>
        <p:nvSpPr>
          <p:cNvPr id="33" name="Text 3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نبض الدرعية ولياليها</a:t>
            </a:r>
            <a:endParaRPr lang="ar-SA" sz="1200" dirty="0"/>
          </a:p>
        </p:txBody>
      </p:sp>
      <p:sp>
        <p:nvSpPr>
          <p:cNvPr id="34" name="Text 3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التحديات  ·  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18024" y="1188720"/>
            <a:ext cx="175564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5218024" y="118872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رسالتنا</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الدرعية لم تُبنَ لتُشاهد فقط…</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بل لتُحمى، وكل زائر يخرج من عرضنا وقد قرر كيف يحميها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نبض الدرعية ولياليها</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التحديات  ·  ٢٢</a:t>
            </a:r>
            <a:endParaRPr lang="ar-SA"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نبض الدرعية ولياليها · WRO 2026</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نبض الدرعية ولياليها · إعداد وتقديم: فريق مدارس الأرقم</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نبض الدرعية ولياليها</dc:title>
  <dc:subject>PptxGenJS Presentation</dc:subject>
  <dc:creator>فريق مدارس الأرقم</dc:creator>
  <cp:lastModifiedBy>فريق مدارس الأرقم</cp:lastModifiedBy>
  <cp:revision>1</cp:revision>
  <dcterms:created xsi:type="dcterms:W3CDTF">2026-10-08T20:07:24Z</dcterms:created>
  <dcterms:modified xsi:type="dcterms:W3CDTF">2026-10-08T20:07:24Z</dcterms:modified>
</cp:coreProperties>
</file>