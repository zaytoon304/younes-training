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0-1.jpg" ContentType="image/jpg"/>
  <Override PartName="/ppt/media/image-100-2.jpg" ContentType="image/jpg"/>
  <Override PartName="/ppt/media/image-100-3.jpg" ContentType="image/jpg"/>
  <Override PartName="/ppt/media/image-100-4.jpg" ContentType="image/jpg"/>
  <Override PartName="/ppt/media/image-100-5.jpg" ContentType="image/jpg"/>
  <Override PartName="/ppt/media/image-102-1.jpg" ContentType="image/jpg"/>
  <Override PartName="/ppt/media/image-108-1.jpg" ContentType="image/jpg"/>
  <Override PartName="/ppt/media/image-109-1.jpg" ContentType="image/jpg"/>
  <Override PartName="/ppt/media/image-109-2.jpg" ContentType="image/jpg"/>
  <Override PartName="/ppt/media/image-109-3.jpg" ContentType="image/jpg"/>
  <Override PartName="/ppt/media/image-109-4.jpg" ContentType="image/jpg"/>
  <Override PartName="/ppt/media/image-109-5.jpg" ContentType="image/jpg"/>
  <Override PartName="/ppt/media/image-109-6.jpg" ContentType="image/jpg"/>
  <Override PartName="/ppt/media/image-109-7.jpg" ContentType="image/jpg"/>
  <Override PartName="/ppt/media/image-109-8.jpg" ContentType="image/jpg"/>
  <Override PartName="/ppt/media/image-110-1.jpg" ContentType="image/jpg"/>
  <Override PartName="/ppt/media/image-110-2.jpg" ContentType="image/jpg"/>
  <Override PartName="/ppt/media/image-110-3.jpg" ContentType="image/jpg"/>
  <Override PartName="/ppt/media/image-110-4.jpg" ContentType="image/jpg"/>
  <Override PartName="/ppt/media/image-110-5.jpg" ContentType="image/jpg"/>
  <Override PartName="/ppt/media/image-110-6.jpg" ContentType="image/jpg"/>
  <Override PartName="/ppt/media/image-110-7.jpg" ContentType="image/jpg"/>
  <Override PartName="/ppt/media/image-111-1.jpg" ContentType="image/jpg"/>
  <Override PartName="/ppt/media/image-112-1.jpg" ContentType="image/jpg"/>
  <Override PartName="/ppt/media/image-112-2.jpg" ContentType="image/jpg"/>
  <Override PartName="/ppt/media/image-112-3.jpg" ContentType="image/jpg"/>
  <Override PartName="/ppt/media/image-112-4.jpg" ContentType="image/jpg"/>
  <Override PartName="/ppt/media/image-112-5.jpg" ContentType="image/jpg"/>
  <Override PartName="/ppt/media/image-113-1.jpg" ContentType="image/jpg"/>
  <Override PartName="/ppt/media/image-114-1.jpg" ContentType="image/jpg"/>
  <Override PartName="/ppt/media/image-119-1.jpg" ContentType="image/jpg"/>
  <Override PartName="/ppt/media/image-119-2.jpg" ContentType="image/jpg"/>
  <Override PartName="/ppt/media/image-119-3.jpg" ContentType="image/jpg"/>
  <Override PartName="/ppt/media/image-119-4.jpg" ContentType="image/jpg"/>
  <Override PartName="/ppt/media/image-119-5.jpg" ContentType="image/jpg"/>
  <Override PartName="/ppt/media/image-119-6.jpg" ContentType="image/jpg"/>
  <Override PartName="/ppt/media/image-119-7.jpg" ContentType="image/jpg"/>
  <Override PartName="/ppt/media/image-119-8.jpg" ContentType="image/jpg"/>
  <Override PartName="/ppt/media/image-120-1.jpg" ContentType="image/jpg"/>
  <Override PartName="/ppt/media/image-121-1.jpg" ContentType="image/jpg"/>
  <Override PartName="/ppt/media/image-121-2.jpg" ContentType="image/jpg"/>
  <Override PartName="/ppt/media/image-121-3.jpg" ContentType="image/jpg"/>
  <Override PartName="/ppt/media/image-121-4.jpg" ContentType="image/jpg"/>
  <Override PartName="/ppt/media/image-121-5.jpg" ContentType="image/jpg"/>
  <Override PartName="/ppt/media/image-121-6.jpg" ContentType="image/jpg"/>
  <Override PartName="/ppt/media/image-121-7.jpg" ContentType="image/jpg"/>
  <Override PartName="/ppt/media/image-121-8.jpg" ContentType="image/jpg"/>
  <Override PartName="/ppt/media/image-122-1.jpg" ContentType="image/jpg"/>
  <Override PartName="/ppt/media/image-122-2.jpg" ContentType="image/jpg"/>
  <Override PartName="/ppt/media/image-122-3.jpg" ContentType="image/jpg"/>
  <Override PartName="/ppt/media/image-122-4.jpg" ContentType="image/jpg"/>
  <Override PartName="/ppt/media/image-122-5.jpg" ContentType="image/jpg"/>
  <Override PartName="/ppt/media/image-124-1.jpg" ContentType="image/jpg"/>
  <Override PartName="/ppt/media/image-127-1.jpg" ContentType="image/jpg"/>
  <Override PartName="/ppt/media/image-129-1.jpg" ContentType="image/jpg"/>
  <Override PartName="/ppt/media/image-129-2.jpg" ContentType="image/jpg"/>
  <Override PartName="/ppt/media/image-129-3.jpg" ContentType="image/jpg"/>
  <Override PartName="/ppt/media/image-129-4.jpg" ContentType="image/jpg"/>
  <Override PartName="/ppt/media/image-129-5.jpg" ContentType="image/jpg"/>
  <Override PartName="/ppt/media/image-13-1.jpg" ContentType="image/jpg"/>
  <Override PartName="/ppt/media/image-130-1.jpg" ContentType="image/jpg"/>
  <Override PartName="/ppt/media/image-130-2.jpg" ContentType="image/jpg"/>
  <Override PartName="/ppt/media/image-130-3.jpg" ContentType="image/jpg"/>
  <Override PartName="/ppt/media/image-130-4.jpg" ContentType="image/jpg"/>
  <Override PartName="/ppt/media/image-130-5.jpg" ContentType="image/jpg"/>
  <Override PartName="/ppt/media/image-132-1.jpg" ContentType="image/jpg"/>
  <Override PartName="/ppt/media/image-138-1.jpg" ContentType="image/jpg"/>
  <Override PartName="/ppt/media/image-139-1.jpg" ContentType="image/jpg"/>
  <Override PartName="/ppt/media/image-139-2.jpg" ContentType="image/jpg"/>
  <Override PartName="/ppt/media/image-139-3.jpg" ContentType="image/jpg"/>
  <Override PartName="/ppt/media/image-139-4.jpg" ContentType="image/jpg"/>
  <Override PartName="/ppt/media/image-139-5.jpg" ContentType="image/jpg"/>
  <Override PartName="/ppt/media/image-139-6.jpg" ContentType="image/jpg"/>
  <Override PartName="/ppt/media/image-139-7.jpg" ContentType="image/jpg"/>
  <Override PartName="/ppt/media/image-140-1.jpg" ContentType="image/jpg"/>
  <Override PartName="/ppt/media/image-140-2.jpg" ContentType="image/jpg"/>
  <Override PartName="/ppt/media/image-140-3.jpg" ContentType="image/jpg"/>
  <Override PartName="/ppt/media/image-140-4.jpg" ContentType="image/jpg"/>
  <Override PartName="/ppt/media/image-140-5.jpg" ContentType="image/jpg"/>
  <Override PartName="/ppt/media/image-140-6.jpg" ContentType="image/jpg"/>
  <Override PartName="/ppt/media/image-141-1.jpg" ContentType="image/jpg"/>
  <Override PartName="/ppt/media/image-141-2.jpg" ContentType="image/jpg"/>
  <Override PartName="/ppt/media/image-141-3.jpg" ContentType="image/jpg"/>
  <Override PartName="/ppt/media/image-141-4.jpg" ContentType="image/jpg"/>
  <Override PartName="/ppt/media/image-141-5.jpg" ContentType="image/jpg"/>
  <Override PartName="/ppt/media/image-142-1.jpg" ContentType="image/jpg"/>
  <Override PartName="/ppt/media/image-142-2.jpg" ContentType="image/jpg"/>
  <Override PartName="/ppt/media/image-142-3.jpg" ContentType="image/jpg"/>
  <Override PartName="/ppt/media/image-142-4.jpg" ContentType="image/jpg"/>
  <Override PartName="/ppt/media/image-142-5.jpg" ContentType="image/jpg"/>
  <Override PartName="/ppt/media/image-144-1.jpg" ContentType="image/jpg"/>
  <Override PartName="/ppt/media/image-150-1.jpg" ContentType="image/jpg"/>
  <Override PartName="/ppt/media/image-151-1.jpg" ContentType="image/jpg"/>
  <Override PartName="/ppt/media/image-151-2.jpg" ContentType="image/jpg"/>
  <Override PartName="/ppt/media/image-151-3.jpg" ContentType="image/jpg"/>
  <Override PartName="/ppt/media/image-151-4.jpg" ContentType="image/jpg"/>
  <Override PartName="/ppt/media/image-151-5.jpg" ContentType="image/jpg"/>
  <Override PartName="/ppt/media/image-151-6.jpg" ContentType="image/jpg"/>
  <Override PartName="/ppt/media/image-151-7.jpg" ContentType="image/jpg"/>
  <Override PartName="/ppt/media/image-151-8.jpg" ContentType="image/jpg"/>
  <Override PartName="/ppt/media/image-152-1.jpg" ContentType="image/jpg"/>
  <Override PartName="/ppt/media/image-152-2.jpg" ContentType="image/jpg"/>
  <Override PartName="/ppt/media/image-152-3.jpg" ContentType="image/jpg"/>
  <Override PartName="/ppt/media/image-152-4.jpg" ContentType="image/jpg"/>
  <Override PartName="/ppt/media/image-152-5.jpg" ContentType="image/jpg"/>
  <Override PartName="/ppt/media/image-154-1.jpg" ContentType="image/jpg"/>
  <Override PartName="/ppt/media/image-160-1.jpg" ContentType="image/jpg"/>
  <Override PartName="/ppt/media/image-161-1.jpg" ContentType="image/jpg"/>
  <Override PartName="/ppt/media/image-161-2.jpg" ContentType="image/jpg"/>
  <Override PartName="/ppt/media/image-161-3.jpg" ContentType="image/jpg"/>
  <Override PartName="/ppt/media/image-161-4.jpg" ContentType="image/jpg"/>
  <Override PartName="/ppt/media/image-161-5.jpg" ContentType="image/jpg"/>
  <Override PartName="/ppt/media/image-161-6.jpg" ContentType="image/jpg"/>
  <Override PartName="/ppt/media/image-161-7.jpg" ContentType="image/jpg"/>
  <Override PartName="/ppt/media/image-161-8.jpg" ContentType="image/jpg"/>
  <Override PartName="/ppt/media/image-162-1.jpg" ContentType="image/jpg"/>
  <Override PartName="/ppt/media/image-162-2.jpg" ContentType="image/jpg"/>
  <Override PartName="/ppt/media/image-162-3.jpg" ContentType="image/jpg"/>
  <Override PartName="/ppt/media/image-162-4.jpg" ContentType="image/jpg"/>
  <Override PartName="/ppt/media/image-162-5.jpg" ContentType="image/jpg"/>
  <Override PartName="/ppt/media/image-163-1.jpg" ContentType="image/jpg"/>
  <Override PartName="/ppt/media/image-165-1.jpg" ContentType="image/jpg"/>
  <Override PartName="/ppt/media/image-166-1.jpg" ContentType="image/jpg"/>
  <Override PartName="/ppt/media/image-167-1.jpg" ContentType="image/jpg"/>
  <Override PartName="/ppt/media/image-167-2.jpg" ContentType="image/jpg"/>
  <Override PartName="/ppt/media/image-167-3.jpg" ContentType="image/jpg"/>
  <Override PartName="/ppt/media/image-167-4.jpg" ContentType="image/jpg"/>
  <Override PartName="/ppt/media/image-167-5.jpg" ContentType="image/jpg"/>
  <Override PartName="/ppt/media/image-167-6.jpg" ContentType="image/jpg"/>
  <Override PartName="/ppt/media/image-167-7.jpg" ContentType="image/jpg"/>
  <Override PartName="/ppt/media/image-169-1.jpg" ContentType="image/jpg"/>
  <Override PartName="/ppt/media/image-173-1.jpg" ContentType="image/jpg"/>
  <Override PartName="/ppt/media/image-174-1.jpg" ContentType="image/jpg"/>
  <Override PartName="/ppt/media/image-176-1.jpg" ContentType="image/jpg"/>
  <Override PartName="/ppt/media/image-21-1.jpg" ContentType="image/jpg"/>
  <Override PartName="/ppt/media/image-24-1.jpg" ContentType="image/jpg"/>
  <Override PartName="/ppt/media/image-24-2.jpg" ContentType="image/jpg"/>
  <Override PartName="/ppt/media/image-24-3.jpg" ContentType="image/jpg"/>
  <Override PartName="/ppt/media/image-24-4.jpg" ContentType="image/jpg"/>
  <Override PartName="/ppt/media/image-24-5.jpg" ContentType="image/jpg"/>
  <Override PartName="/ppt/media/image-25-1.jpg" ContentType="image/jpg"/>
  <Override PartName="/ppt/media/image-3-1.jpg" ContentType="image/jpg"/>
  <Override PartName="/ppt/media/image-30-1.jpg" ContentType="image/jpg"/>
  <Override PartName="/ppt/media/image-31-1.jpg" ContentType="image/jpg"/>
  <Override PartName="/ppt/media/image-31-2.jpg" ContentType="image/jpg"/>
  <Override PartName="/ppt/media/image-31-3.jpg" ContentType="image/jpg"/>
  <Override PartName="/ppt/media/image-31-4.jpg" ContentType="image/jpg"/>
  <Override PartName="/ppt/media/image-31-5.jpg" ContentType="image/jpg"/>
  <Override PartName="/ppt/media/image-31-6.jpg" ContentType="image/jpg"/>
  <Override PartName="/ppt/media/image-31-7.jpg" ContentType="image/jpg"/>
  <Override PartName="/ppt/media/image-33-1.jpg" ContentType="image/jpg"/>
  <Override PartName="/ppt/media/image-33-2.jpg" ContentType="image/jpg"/>
  <Override PartName="/ppt/media/image-33-3.jpg" ContentType="image/jpg"/>
  <Override PartName="/ppt/media/image-33-4.jpg" ContentType="image/jpg"/>
  <Override PartName="/ppt/media/image-33-5.jpg" ContentType="image/jpg"/>
  <Override PartName="/ppt/media/image-35-1.jpg" ContentType="image/jpg"/>
  <Override PartName="/ppt/media/image-40-1.jpg" ContentType="image/jpg"/>
  <Override PartName="/ppt/media/image-41-1.jpg" ContentType="image/jpg"/>
  <Override PartName="/ppt/media/image-41-2.jpg" ContentType="image/jpg"/>
  <Override PartName="/ppt/media/image-41-3.jpg" ContentType="image/jpg"/>
  <Override PartName="/ppt/media/image-41-4.jpg" ContentType="image/jpg"/>
  <Override PartName="/ppt/media/image-41-5.jpg" ContentType="image/jpg"/>
  <Override PartName="/ppt/media/image-41-6.jpg" ContentType="image/jpg"/>
  <Override PartName="/ppt/media/image-41-7.jpg" ContentType="image/jpg"/>
  <Override PartName="/ppt/media/image-42-1.jpg" ContentType="image/jpg"/>
  <Override PartName="/ppt/media/image-42-2.jpg" ContentType="image/jpg"/>
  <Override PartName="/ppt/media/image-42-3.jpg" ContentType="image/jpg"/>
  <Override PartName="/ppt/media/image-42-4.jpg" ContentType="image/jpg"/>
  <Override PartName="/ppt/media/image-42-5.jpg" ContentType="image/jpg"/>
  <Override PartName="/ppt/media/image-47-1.jpg" ContentType="image/jpg"/>
  <Override PartName="/ppt/media/image-48-1.jpg" ContentType="image/jpg"/>
  <Override PartName="/ppt/media/image-48-2.jpg" ContentType="image/jpg"/>
  <Override PartName="/ppt/media/image-48-3.jpg" ContentType="image/jpg"/>
  <Override PartName="/ppt/media/image-48-4.jpg" ContentType="image/jpg"/>
  <Override PartName="/ppt/media/image-48-5.jpg" ContentType="image/jpg"/>
  <Override PartName="/ppt/media/image-48-6.jpg" ContentType="image/jpg"/>
  <Override PartName="/ppt/media/image-48-7.jpg" ContentType="image/jpg"/>
  <Override PartName="/ppt/media/image-51-1.jpg" ContentType="image/jpg"/>
  <Override PartName="/ppt/media/image-51-2.jpg" ContentType="image/jpg"/>
  <Override PartName="/ppt/media/image-51-3.jpg" ContentType="image/jpg"/>
  <Override PartName="/ppt/media/image-51-4.jpg" ContentType="image/jpg"/>
  <Override PartName="/ppt/media/image-51-5.jpg" ContentType="image/jpg"/>
  <Override PartName="/ppt/media/image-56-1.jpg" ContentType="image/jpg"/>
  <Override PartName="/ppt/media/image-57-1.jpg" ContentType="image/jpg"/>
  <Override PartName="/ppt/media/image-58-1.jpg" ContentType="image/jpg"/>
  <Override PartName="/ppt/media/image-58-2.jpg" ContentType="image/jpg"/>
  <Override PartName="/ppt/media/image-58-3.jpg" ContentType="image/jpg"/>
  <Override PartName="/ppt/media/image-58-4.jpg" ContentType="image/jpg"/>
  <Override PartName="/ppt/media/image-58-5.jpg" ContentType="image/jpg"/>
  <Override PartName="/ppt/media/image-58-6.jpg" ContentType="image/jpg"/>
  <Override PartName="/ppt/media/image-59-1.jpg" ContentType="image/jpg"/>
  <Override PartName="/ppt/media/image-59-2.jpg" ContentType="image/jpg"/>
  <Override PartName="/ppt/media/image-59-3.jpg" ContentType="image/jpg"/>
  <Override PartName="/ppt/media/image-59-4.jpg" ContentType="image/jpg"/>
  <Override PartName="/ppt/media/image-59-5.jpg" ContentType="image/jpg"/>
  <Override PartName="/ppt/media/image-61-1.jpg" ContentType="image/jpg"/>
  <Override PartName="/ppt/media/image-67-1.jpg" ContentType="image/jpg"/>
  <Override PartName="/ppt/media/image-68-1.jpg" ContentType="image/jpg"/>
  <Override PartName="/ppt/media/image-68-2.jpg" ContentType="image/jpg"/>
  <Override PartName="/ppt/media/image-68-3.jpg" ContentType="image/jpg"/>
  <Override PartName="/ppt/media/image-68-4.jpg" ContentType="image/jpg"/>
  <Override PartName="/ppt/media/image-68-5.jpg" ContentType="image/jpg"/>
  <Override PartName="/ppt/media/image-68-6.jpg" ContentType="image/jpg"/>
  <Override PartName="/ppt/media/image-68-7.jpg" ContentType="image/jpg"/>
  <Override PartName="/ppt/media/image-7-1.jpg" ContentType="image/jpg"/>
  <Override PartName="/ppt/media/image-70-1.jpg" ContentType="image/jpg"/>
  <Override PartName="/ppt/media/image-70-2.jpg" ContentType="image/jpg"/>
  <Override PartName="/ppt/media/image-70-3.jpg" ContentType="image/jpg"/>
  <Override PartName="/ppt/media/image-70-4.jpg" ContentType="image/jpg"/>
  <Override PartName="/ppt/media/image-70-5.jpg" ContentType="image/jpg"/>
  <Override PartName="/ppt/media/image-72-1.jpg" ContentType="image/jpg"/>
  <Override PartName="/ppt/media/image-77-1.jpg" ContentType="image/jpg"/>
  <Override PartName="/ppt/media/image-80-1.jpg" ContentType="image/jpg"/>
  <Override PartName="/ppt/media/image-83-1.jpg" ContentType="image/jpg"/>
  <Override PartName="/ppt/media/image-84-1.jpg" ContentType="image/jpg"/>
  <Override PartName="/ppt/media/image-88-1.jpg" ContentType="image/jpg"/>
  <Override PartName="/ppt/media/image-89-1.jpg" ContentType="image/jpg"/>
  <Override PartName="/ppt/media/image-89-2.jpg" ContentType="image/jpg"/>
  <Override PartName="/ppt/media/image-89-3.jpg" ContentType="image/jpg"/>
  <Override PartName="/ppt/media/image-89-4.jpg" ContentType="image/jpg"/>
  <Override PartName="/ppt/media/image-89-5.jpg" ContentType="image/jpg"/>
  <Override PartName="/ppt/media/image-89-6.jpg" ContentType="image/jpg"/>
  <Override PartName="/ppt/media/image-90-1.jpg" ContentType="image/jpg"/>
  <Override PartName="/ppt/media/image-90-2.jpg" ContentType="image/jpg"/>
  <Override PartName="/ppt/media/image-90-3.jpg" ContentType="image/jpg"/>
  <Override PartName="/ppt/media/image-90-4.jpg" ContentType="image/jpg"/>
  <Override PartName="/ppt/media/image-90-5.jpg" ContentType="image/jpg"/>
  <Override PartName="/ppt/media/image-92-1.jpg" ContentType="image/jpg"/>
  <Override PartName="/ppt/media/image-97-1.jpg" ContentType="image/jpg"/>
  <Override PartName="/ppt/media/image-98-1.jpg" ContentType="image/jpg"/>
  <Override PartName="/ppt/media/image-98-2.jpg" ContentType="image/jpg"/>
  <Override PartName="/ppt/media/image-98-3.jpg" ContentType="image/jpg"/>
  <Override PartName="/ppt/media/image-98-4.jpg" ContentType="image/jpg"/>
  <Override PartName="/ppt/media/image-98-5.jpg" ContentType="image/jpg"/>
  <Override PartName="/ppt/media/image-98-6.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Lst>
  <p:notesMasterIdLst>
    <p:notesMasterId r:id="rId1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notesMaster" Target="notesMasters/notesMaster1.xml"/><Relationship Id="rId186" Type="http://schemas.openxmlformats.org/officeDocument/2006/relationships/presProps" Target="presProps.xml"/><Relationship Id="rId187" Type="http://schemas.openxmlformats.org/officeDocument/2006/relationships/viewProps" Target="viewProps.xml"/><Relationship Id="rId188" Type="http://schemas.openxmlformats.org/officeDocument/2006/relationships/theme" Target="theme/theme1.xml"/><Relationship Id="rId18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بالمعلمين. قل: «هذه الدورة ليست مثالًا من كتاب. إنها مشروع حقيقي بناه طلاب في المرحلة الابتدائية وشاركوا به في أولمبياد الروبوت العالمي WRO: لمسة تراث».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بنفسك وبالمشروع في أقل من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المشهد يعمل دون كلام: زائر على كرسي متحرك أمام كاميرا. ينظر بعينه يمينًا فيدور المجسّم وتجري موجة ذهبية حول المنصة. يثبّت نظره فيتوقف المجسّم، ويضيء لون الجهة، ويبدأ على الشاشة فيديو بلغة الإشارة مع شرح صوتي. ثم اسأل: «من يتحكم هنا؟» الجواب: عين الزائر فقط. وفي الزاوية: روبوت سلامة يحرس المعرض.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 الفريق بالزيارات الميدانية والنقاش مع أشخاص من ذوي الإعاقة أن المواقع التراثية نادرًا ما تُصمم للجميع. والحاجة ليست ثلاثة حلول منفصلة، بل حل واحد ذكي.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الحركية: لا أزرار تحتاج قوة أو دقة. السمعية: فيديو لغة الإشارة. البصرية: الشرح الصوتي. هذا التصميم الموحّد ما يميز المشروع عن الحلول التقليدية التي تعامل كل إعاقة وحدها.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ومعها كرسي متحرك من LEGO SPIKE Prime. كل وحدة تُبنى وتُختبر وحدها، ثم ندمجها: هذه منهجية الفريق نفسها.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المحاور ٣–٨ هي المشروع الرئيسي. والمحاور ٩–١٥ روبوتا السلامة اللذان أضافهما الفريق ليحمي الزوار حين يزدحم المعرض.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الأول: نرى المنظومة كاملة قبل أن نبني أي قطعة.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المهندس المحترف يبدأ بالمخطط، لا بالأسلاك. وفريقنا بدأ بالبحث قبل التصميم.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نقطة تربوية مهمة: الفريق لم يكتفِ بترجمة اجتهادية للغة الإشارة، بل استعان بمختص. وجرّب تتبع الرأس أولًا ونجح، ثم تقدّم إلى تتبع البؤبؤ لأن بعض الزوار لا يحركون رؤوسهم أيضًا: من حل «جيد» إلى حل «أشمل».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كل عقدة واقرأ دورها. ثم «شاهد نظرة واحدة»: ثماني خطوات من الكاميرا حتى فيديو لغة الإشارة. اسأل: «كم جهازًا شارك في نظرة واحدة؟» أربعة: الكاميرا والحاسوب، والراسبيري، وESP32، والدرايفر.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الأجهزة تتواصل برسائل شبكية خفيفة وسريعة. الراسبيري لا يعرف كيف يدور المحرك، وESP32 لا يعرف ما الفيديو: كل منهما يتقن مهمته.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المجسّم نفسه من الفلين المضغوط، مرشوش بألوان ممزوجة بالرمل الطبيعي ليظهر ملمس الطين وقِدمه. مشروع هندسي وفني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لوحة ESP32 وأطراف المشروع الحقيقية.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عرف الأردوينو أونو يعرف ESP32 في ساعة. نفس الدوال، مع فروق قليلة مهمة جدًا.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الفرق الأهم عمليًا: ٣٫٣ فولت. لا تدخل ٥ فولت على أي طرف إدخال. والقراءة التماثلية تصل ٤٠٩٥ لا ١٠٢٣، فحدود MQ-2 ستكون أرقامًا أكبر.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«المنصة» أولًا: STEP 26 وDIR 25 وEN 27 والإضاءة 23. ثم «المحطة»: سبعة أطراف. ثم «السيارة». ثم «القواعد» لترى الأطراف الممنوعة (TX0/RX0 والإقلاع 2 و12 و15) والأطراف مدخل فقط (34 و35 و36 و39). اسأل: «لماذا وضعنا MQ-2 على 34؟» لأنه مدخل تماثلي لا نحتاجه مخرجًا.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حساس اللهب يعمل على ٣٫٣ فولت بلا مشكلة. وMQ-2 يحتاج ٥ فولت للتسخين، لكن مخرجه التماثلي لا يتجاوز عادة ٣٫٣ في التراكيز العادية؛ للأمان يمكن إضافة مقسم جهد.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زر BOOT هو أكثر ما يحيّر المبتدئين. بعض اللوحات تحتاجه وبعضها لا. ومشغل CP2102 أو CH340 قد يحتاج تثبيتًا على ويندوز.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نبدأ بالمحطة، وأول حواسها حساس اللهب.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وحدة يبنيها الفريق ويختبرها وحدها: المحرك. قبل أي عين أو فيديو.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نُعطّل المحرك عند التوقف؟ المحرك الخطوي المفعّل يسحب تيارًا حتى وهو واقف فيسخن. والمنصة لا تحتاج قوة إمساك كبيرة. فـ EN = HIGH عند التوقف يحمي المحرك والدرايفر.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r يمين: ليد STEP يومض مع كل نبضة، وDIR مضاء، والمجسّم يدور وموجة ذهبية تجري حوله. اضغط s: ‏EN يصبح HIGH ويظهر اسم الجهة. غيّر wait: أكبر = أبطأ. ثم اختر «كاملة ×١» وقلّل wait تحت ٧٠٠: المحرك يفقد خطواته ويهتز. الخطوات الدقيقة تجعل الحركة ناعمة لعين تتابع.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الدالة turn تخطو خطوة واحدة فقط، وloop تستدعيها آلاف المرات. هكذا يبقى ESP32 حرًا ليقرأ الأوامر الجديدة بين كل خطوة وأخرى، وهذا مهم جدًا في المحور السادس.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المقاومة المتغيرة الصغيرة على A4988 تحدد أقصى تيار للمحرك. اضبطوها قبل التشغيل (Vref)، وإلا سخن المحرك جدًا. ولا تفصلوا المحرك والدرايفر يعمل: قد يحترق الدرايفر.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الضوء الذي يرافق كل جهة.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الضوء هنا ليس زينة: الزائر يعرف الجهة باللون، ويعرف أن المنصة تتحرك من الموجة.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ضعوا مقاومة ٣٣٠ أوم على سلك البيانات، ومكثفًا كبيرًا على مدخل الطاقة. والشريط يعمل بـ 5V بينما ESP32 يخرج 3.3V: يعمل غالبًا، وإن لم يعمل فاستخدموا محول مستوى.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كل جهة: المنصة تدور إليها ويتلون الشريط بلونها. ثم «موجة الدوران». ثم «مكافأة الاهتمام»: فكرة قيد التطوير عند الفريق، حين يطيل الزائر النظر إلى جهة. ارفع السطوع إلى ٢٥٥ وراقب التيار: هذا سبب «السطوع المضبوط أمانيًا» في تقرير الفريق.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يتغير شيء قبل show! هذا خطأ شائع: يكتب الطالب الألوان وينسى show فلا يرى شيئًا.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الشاشة وفيديو لغة الإشارة على الراسبيري باي.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يصبح المشروع «شاملًا» حقًا. كل جهة من المجسّم لها فيديو بلغة الإشارة وشرح صوتي يعملان في الوقت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الراسبيري هو «العقل المركزي» للتجربة، كما سمّاه الفريق في تقريره.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اختر جهة وراقب الشريطين: الصوت أطول من الفيديو! بلا تمديد: ينتهي الفيديو فتظهر شاشة سوداء والصوت مستمر، والزائر الأصم فقد المترجم. هذا ما حدث للفريق فعلًا: الفرق بين ثانيتين و١١ ثانية. اضغط «تمديد بآخر إطار»: الصورة تبقى حتى ينتهي الصوت. الحل بأمر ffmpeg واحد، مع الاحتفاظ بالنسخ الأصلية احتياطًا.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Popen لا تنتظر انتهاء البرنامج، فيعمل الفيديو والصوت معًا ويبقى بايثون حرًا لاستقبال أوامر العين.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هاتان المشكلتان تعلّمان الطلاب فهم الطبقات الأساسية لنظام التشغيل، لا البرمجة العليا فقط. اكتبوها في سجل المشروع: لجان التحكيم تحب «التحديات وكيف حُلّت».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رسالة للمعلمين: لا تكتفوا بترجمة اجتهادية. الشراكة مع مختص جزء من الجودة، وتعلّم الطلاب احترام لغة مجتمع الصم.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كيف يصل أمر العين من الحاسوب إلى المحرك؟ UDP والحارس.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أبسط بروتوكول ممكن: حرف واحد لكل أمر. وأهم درس في المحور: ماذا لو ضاعت رسالة؟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قارن الفريق بين طرق الاتصال واستقر على UDP لبساطته وسرعة استجابته. لكن «لا يضمن الوصول» قادتنا إلى أهم درس في المشروع.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مطولًا «انظر يمينًا»: رسائل r تطير كل ١٠٠ ملي ثانية. ارفع إصبعك: رسائل s. الآن ارفع الفقد إلى ٤٠٪ وأوقف الحارس وكرر: أحيانًا تضيع رسائل s فتستمر المنصة بالدوران! هذا ما اكتشفه الفريق من سجلات التشغيل: رسالة واحدة ضائعة سببت دورانًا أكبر بكثير من المطلوب. ثم شغّل الحارس: إن لم تصل رسالة لأكثر من ثانية توقفت المنصة بأمان. وأخيرًا «اقطع الشبكة» مع الحارس.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ينجح الحارس؟ لأن المرسل يكرر الأمر باستمرار. فالصمت الطويل لا يعني «استمر»، بل يعني «حدث خطأ». هذا مبدأ «الأمان عند العطل» Fail-safe في كل الأنظمة الحرجة: الطائرات والقطارات والمصاعد.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من أين تأتي الأوامر؟ من عين الزائر.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قلب الابتكار في المشروع. زائر لا يستطيع تحريك يديه، وربما رأسه، يستكشف المصمك بعينيه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أجمل قصة في المشروع: الفريق لم يكتفِ بأول حل ناجح. علّموا طلابكم أن «يعمل» ليس نهاية الطريق، والسؤال الصحيح: «من الذي ما زال لا يستطيع؟»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المعايرة مهمة: عيون الناس تختلف، وموضع الكاميرا يختلف. ثانيتان ونصف ينظر فيهما الزائر طبيعيًا دون أي إجراء يدوي.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«معايرة» أولًا. ثم مرّر المؤشر يمينًا ويسارًا فوق الوجه: البؤبؤ يتحرك، والنسبة تتغير، والأمر r أو l، والقصر يدور. عد للوسط: s ويبدأ محتوى الجهة. مرّر للأعلى: البوابة دون أن تتحرك المنصة. اضغط «رمشة»: توقف أماني فوري. و«إغماضة طويلة»: «اشرح هذه الجهة». وأخيرًا «المؤشرات: الموثقة»: الاتجاهان ينعكسان! هذا ما وجده الفريق فعلًا: ترتيب 468 و473 كان معكوسًا عن المصادر الشائعة.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الهامش ٠٫٠٨ «منطقة ميتة»: نظرة أمامية طبيعية فيها اهتزاز بسيط لا يجب أن يحرك المنصة. والغمضة الطويلة المقصودة (أطول من رمشة عادية) تعني «اشرح هذه الجهة».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فكرة مستوحاة من عصا التحكم: انظر يمينًا فيدور باستمرار وببطء، وثبّت نظرك فيتوقف. هذا يقلل التكلفة الهندسية كثيرًا دون التضحية بدقة التجربة.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اجعلوا الطلاب يتبادلون: نسبة كل طالب مختلفة قليلًا، فيكتشفون بأنفسهم لماذا نحتاج المعايرة.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الجولة كاملة، من الكرسي إلى ملخص الزيارة.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الآن تعمل كل القطع معًا: الكرسي، والكاميرا، والراسبيري، والمنصة، والضوء.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الخطوة القادمة عند الفريق: حساس مسافة بالموجات فوق الصوتية يبدّل بين الوضعين دون أي تدخل من الزائر.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«ابدأ الجولة»: ترحيب، ثم الكرسي يتقدم وحساس المسافة يقيس، ثم «وضع الاستكشاف». اضغط مطولًا على «انظر يمينًا»: القصر يدور. اتركها: يتوقف ويبدأ محتوى الجهة، وشريط الاهتمام يمتلئ. أطل النظر إلى جهة: إضاءة احتفالية. زر كل الجهات الأربع: ملخص الجولة. هاتان الميزتان «قيد التطوير» عند الفريق، والمحاكي يريكم كيف ستعمل.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الفرق بين روبوت «يستجيب لأمر» وروبوت «يتخذ قرارًا». ناقشوا مع الطلاب: ما البيانات الأخرى التي يمكن أن يقرر بها النظام؟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منهجية الفريق: اختبار تدريجي يمنع تشابك الأخطاء. وجلسة اختبار طويلة لاحقة تنقّل فيها الزائر بين الجهات مرات متتالية دون أي خطأ.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ننتقل الآن إلى الجزء الثاني من المشروع: روبوتا السلامة اللذان يحميان الزوار.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الثاني من المشروع (القسم ٦٫٦ في تقرير الفريق). حين يتحول المصمك إلى تجربة جذابة يزدحم المعرض، والزوار المنشغلون بالتجربة قد لا يلاحظون تسرب غاز أو بداية حريق.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المشهد يعمل: لهب عند البرج وتسرّب غاز في اللحظة نفسها. الروبوت الأول يقرر أن اللهب أخطر فيتجه إليه، ويرسل إلى الروبوت الثاني «إلى الغاز». ينطلقان معًا: مضخة هنا ومروحة هناك. روبوتان أسرع من روبوت واحد يعالج الخطرين بالتتابع. هذا ما سنبنيه في المحاور ٩–١٥.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ثلاث لوحات ESP32 تتواصل عبر ESP-NOW: محطة ثابتة بحساسي غاز ولهب، وروبوتان متحركان، والأول يكلّم الثاني. اضغط «شاهد رحلة الإنذار».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قارن الفريق بين البدائل قبل أن يختار، وهذا ما يبحث عنه المحكّمون.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زاوية رؤية الحساس نحو ٦٠ درجة، ومداه متر تقريبًا لشمعة صغيرة. ضوء الشمس المباشر فيه أشعة تحت حمراء أيضًا، فقد يخدع الحساس: اختبروا داخل الفصل.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اسحب الشمعة ببطء من بعيد: لاحظ متى يتحول DO إلى LOW. ثم قلّل الحساسية: يحتاج الآن أن تقترب أكثر. وزِد الحساسية كثيرًا: قد يرى ضوء المصباح نارًا! هذا هو «الإنذار الكاذب». المطلوب ضبط وسط.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السطر العاشر يربك المبتدئين: «لماذا LOW؟». ارسم على السبورة: لا نار = HIGH، نار = LOW. هذا يسمى «منطق معكوس» Active LOW، وسنقابله مرة أخرى في الريليه.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السلامة أولًا: شمعة واحدة بيد المعلم، وطفاية أو كوب ماء جاهز، ولا لهب قرب الأسلاك أو الورق.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الأنف الإلكتروني، حساس الغاز MQ-2.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الحاسة الثانية. الغاز لا يُرى، ولا نشمه أحيانًا إلا بعد فوات الأوان.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لهذا يسخن الحساس عند لمسه، وهذا طبيعي. ولهذا يحتاج دقيقة أو دقائق بعد التشغيل حتى تستقر القراءة. وللحساس مخرج رقمي DO أيضًا، لكننا نفضل AO لأننا نرى الرقم ونختار الحد بأنفسنا.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بإيقاف التسخين: القراءة تتأرجح بلا معنى. شغّله وانتظر الاستقرار. ثم افتح الغاز قليلًا: المنحنى يصعد ببطء. حين يعبر خط ١٨٠٠ يضيء الأزرق. أغلق الغاز وراقب: القراءة تنزل ببطء لأن الغاز يحتاج وقتًا ليتبدد. هذا سبب وجود المروحة في السيارة!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اطلبوا من المتدربين فتح Serial Plotter ومراقبة القراءة دقيقتين في الهواء النظيف. إن كانت حول ٦٠٠ مثلًا، فالحد ١٨٠٠ يعطي هامشًا كبيرًا ضد الإنذار الكاذب.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التجربة بالولاعة المطفأة تتم بيد المعلم فقط، لثانية واحدة، وبعيدًا عن أي لهب. بديل آمن: قطعة قطن عليها قليل من الكحول.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نجمع العين والأنف والشاشة في محطة واحدة.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المحطة هي النظام الأول في المشروع الحقيقي. بعد هذا المحور يملك كل متدرب محطة تعمل وحدها.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النسبة؟ لأن قراءة MQ-2 (٠–٤٠٩٥) وقراءة اللهب لا تُقارنان مباشرة. حين تصبح كلتاهما نسبة، يستطيع الروبوت أن يقرر أيهما أخطر. والحدّان ٥٠٪ و٣٠٪ هنا مقترحان، وكل فريق يضبطهما بالتجربة.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ارسموا الجدول قبل الكود. والحالة الرابعة ينساها الجميع: ماذا لو حدث الأمران معًا؟ عندها يأتي دور القرار.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جرّب الحالات الأربع بالترتيب. اطلب من المتدربين إغماض أعينهم: هل يميزون اللهب من الغاز بالصوت فقط؟ هذا تصميم مقصود لمن لا ينظر إلى الشاشة.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ركّبوا بالترتيب: اللوحة، ثم الحساسان، ثم الليدان بمقاومتيهما، ثم البازر، ثم الشاشة. اختبروا كل قطعة بكودها الصغير قبل الانتقال. ولا تنسوا الأرضي المشترك.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setup نقرأ base = analogRead(34) بعد التسخين: هذه «المعايرة التلقائية لقراءة الهواء النظيف» في تقرير الفريق. ووحدة اللهب لها مخرجان: DO الرقمي الذي استخدمناه في المحور التاسع، وAO التماثلي الذي يعطي الشدة ونحتاجه هنا للنسبة.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قيد ١٦ حرفًا تمرين رائع في الإيجاز. والحالة الخامسة تمهّد لفكرة «درجات الخطر» في محور القرار.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النظام الثاني، سيارة الروبوت.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درس الدورة الثالثة يعرف L298N. الجديد هنا: الدفع الرباعي، وESP32 بدل أونو، ومشكلة حقيقية واجهناها في المشروع: جانب يدور بالعكس.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المحركان الأيسران موصولان على التوازي إلى OUT1/OUT2، والأيمنان إلى OUT3/OUT4. فبرمجيًا نتعامل مع «يسار» و«يمين»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أطراف المشروع: ENA 33 وENB 32، وIN1/IN2 على 27/26، وIN3/IN4 على 25/14، والريليه على 16 و17. اختبروا كل جانب وحده قبل تركيب الريليه والمضخة.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بـ «أمام» و«يمين» و«يسار»: كل شيء سليم. ثم أطفئ INVERT_RIGHT واضغط «أمام»: السيارة تدور حول نفسها! هذا ما حدث فعلًا في مشروعنا: أسلاك الجانب الأيمن رُكّبت بالعكس. الحل المحترف: سطر واحد في الكود بدل فك السيارة.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نسخ ESP32 الحديثة (المكتبة 3.x) تعمل analogWrite مباشرة. وفي النسخ القديمة نستخدم ledcAttach وledcWrite. السرعة 120 مناسبة داخل نموذج المصمك؛ أسرع من ذلك تنحرف السيارة عن الخط.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والآن: أدوات الإطفاء على ظهر السيارة.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نفس فكرة الريليه من الدورة الرابعة. الفرق: هذه الوحدة تعمل على LOW، وهذا شائع جدًا في الوحدات الزرقاء ذات الـ optocoupler.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LOW على المضخة: تعمل! واضغط HIGH: تتوقف. هذا عكس ما تعودنا عليه. ثم اسأل: «ماذا يحدث لو نسينا كتابة HIGH في setup؟» الطرف يبدأ LOW لحظة التشغيل… فتعمل المضخة فجأة وتبلل النموذج!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 وضعنا المضخة على NC لعملت طوال الوقت وتوقفت عند الإنذار! خطأ شائع جدًا. القاعدة: الجهاز الذي يعمل «عند الحاجة» يوضع على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 ثوانٍ تكفي لشمعة في النموذج دون إغراقه. في المشروع الكامل سنستبدل delay بفحص حساس اللهب على السيارة (GPIO35): نرش حتى تختفي النار.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ضعوا صينية تحت منطقة التجربة. وغلّفوا ESP32 بعلبة بلاستيكية صغيرة: رذاذ واحد قد يتلفه.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كيف تعرف السيارة أن هناك نارًا؟ المحطة تكلّمها لاسلكيًا.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اللحظة التي يتحول فيها المشروع من جهازين منفصلين إلى نظام واحد.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المعارض لا يوجد راوتر غالبًا، أو يكون مزدحمًا. ESP-NOW يعمل في أي مكان: مثالي لمشروع يُعرض في المدرسة والمعارض.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لمعرفة عنوان MAC: ارفع كودًا صغيرًا على السيارة يطبع WiFi.macAddress() في setup. انسخوه بدقة؛ حرف واحد خطأ = لا رسائل.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«لهب A»: الحزمة تطير من المحطة إلى السيارة، وتضيء أسطر الإرسال ثم أسطر الاستقبال، ويظهر في السجل زمن الوصول بالملي ثانية. اسأل: «لماذا نرسل المنطقة مع النوع؟» لأن السيارة تحتاج أن تعرف أين تذهب، لا ماذا حدث فقط.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ترسلوا في كل دورة loop! أرسلوا مرة حين يبدأ الحدث فقط (حين يتغير fire من false إلى true). وإلا أغرقتم السيارة بمئات الرسائل في الثانية.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قاعدة ذهبية: دالة الاستقبال تعمل في سياق خاص، فيجب أن تكون قصيرة جدًا. لا delay ولا قيادة. نرفع علمًا، وloop تتصرف. هذا نمط احترافي اسمه «العلم» Flag. ملاحظة: في حزمة ESP32 القديمة (2.x) تبدأ الدالة بـ const uint8_t *mac بدل info.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التجربة الحية على روبوتين: المحطة تكلّم الروبوت الأول، والأول يقرر ويكلّم الثاني. والروبوت الثاني يستقبل بدالة onReceive نفسها التي كتبناها، وحين يصله GO يذهب مباشرة دون أن يقرر. تحدٍّ: روبوت ثالث؟ يكفي سطر عنوان جديد وأمر جديد.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السيارة تسمع… لكن ماذا لو جاءها إنذاران؟ عليها أن تقرر.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قلب المشروع، وما يجعله «ذكيًا» حقًا. ابدأ بالسؤال وحده دون أي كود، ودع المتدربين يتناقشون.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اسمح بالخلاف! بعضهم يقول اللهب لأنه نار فعلية، وبعضهم الغاز لأنه قد ينفجر. النقطة: نحن من يضع القاعدة، والروبوت ينفذها. وهذا درس في أخلاقيات الذكاء الاصطناعي.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التجربة الحية على روبوتين: لا ينتظر الخطر الثاني حتى ينتهي الأول. الروبوت الأول يتخذ القرار لنفسه ولزميله في اللحظة نفسها، فيُعالَج الخطران معًا. وهذا أسرع وأذكى من روبوت واحد يتنقل بينهما.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جرّب الأزرار الأربعة: حريق فقط (الأول يذهب والثاني يحرس)، ثم الاثنان مع اختلاف الأعلى: الأحمر للأخطر والأزرق للأقل. ثم حرّك المنزلقتين بنفسك وابحث عن لحظة التساوي.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نبلغ الثاني قبل أن نتحرك؟ لأن goTo تستغرق وقتًا، ولو أبلغناه بعدها لانتظر الخطر الثاني بلا داعٍ. ترتيب سطرين يصنع فرقًا في ثوانٍ ثمينة.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رائع لمهارات التفكير الناقد. لا توجد قاعدة صحيحة واحدة، والمهم أن تكون مبررة ومتسقة.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قرر الروبوت أين يذهب. لكن كيف يصل؟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درس الدورة الثالثة يعرف تتبع الخط. الجديد: التقاطع، والذهاب إلى مكان محدد ثم العودة.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النموذج الأولي الذي اختبره الفريق، تتوجه السيارة في الاتجاه المطابق للخطر الأعلى. وتتبع الخط تطوير مقترح لقاعة معرض حقيقية: يناسب نموذجًا على طاولة، ويعيد استخدام ما تعلمناه في الدورة الثالثة.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١ تعني «أرى أسود». التقاطع هو اللحظة التي يرى فيها الحساسان الأسود معًا، لأن الخط العرضي يمر تحتهما.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«اذهب إلى A»: السيارة تتبع الخط، وعند التقاطع الأحمر يزيد العداد وتنعطف يسارًا، ثم تصل وتعود. جرّب B: نفس الطريق حتى التقاطع، ثم يمينًا. نقطة القرار الوحيدة هي التقاطع.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عداد التقاطعات يسمح بتوسيع الساحة: «المنطقة C بعد التقاطع الثاني». وللعودة: نستدير ١٨٠ درجة ونستخدم نفس الدالة بقرار معكوس.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كل القطع معًا… المهمة الكاملة.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اطلب من المتدربين أن يشيروا إلى المحور الذي تعلموا فيه كل خطوة.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بـ «لهب A»: الروبوت الأول (الأحمر) وحده يذهب ويطفئ ويعود، والثاني (الأزرق) يحرس. ثم «معًا: روبوتان»: غاز ٨٨٪ في A ولهب ٧٢٪ في B. الأول يقرر أن الغاز أخطر فيتجه إليه، وتطير رسالة منه إلى الثاني «GO B» فينطلق إلى اللهب. يعملان في الوقت نفسه: مروحة هنا ومضخة هناك. قارنوا زمن الاستجابة بروبوت واحد يتنقل بين الخطرين.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والروبوت الثاني؟ كوده أقصر: إذا وصله أمر GO من الأول ينفّذ mission(zone) مباشرة، فالقرار اتخذه زميله. روبوتان بكود واحد تقريبًا: هذا تصميم أنيق.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المحاكي ينفذ التحسين الثاني: روبوتان معًا. والتحسين الثالث يجعل الاتصال في الاتجاهين: المحطة تعرف أن الخطر زال، وهذا ما يحدث في غرف عمليات الدفاع المدني.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الأخير: كيف نعرض المشروع ونحكّمه وندرّسه.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المشروع العظيم قد يضيع بعرض ضعيف. هذا المحور يحوّل المتدربين إلى عارضين ومحكّمين ومدرّبين.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اعرض المشهد مرة أخرى بعد أن فهم المتدربون كل جزء فيه. اطلب منهم أن يسمّوا كل ما يرونه: الكاميرا، والبؤبؤ، وUDP، وA4988، وWS2812B، والراسبيري، ولغة الإشارة، والكرسي، وروبوت السلامة.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اسأل عند كل محطة: «ما الدرس الهندسي هنا؟» EN على LOW، والحارس، وتجميد آخر إطار، والمعايرة، والمؤشرات المعكوسة، والنسبة الموحّدة، والأعلى نسبة أولًا.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لجان التحكيم تحب هذا الجدول أكثر من قائمة الميزات: يُظهر أن الفريق بنى فعلًا، وأخطأ، وفهم، وأصلح.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تقرير الفريق: عضو من الفريق يطرح على نفسه سؤالًا بالإنجليزية عن المصمك ويجيب أمام الحضور. لحظة بشرية لا برمجية، تُظهر استعداد الفريق للتواصل مع زوار لا يتحدثون العربية. درّبوا الطلاب عليها بصوت عالٍ حتى تصبح طبيعية.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الجملة الذهبية: الزائر يستكشف تراثه «بنفسه وباستقلالية تامة، لا بصفته متلقيًا لرعاية أو مساعدة من الآخرين».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وزّعوا البطاقة على الطلاب قبل البناء لا بعده: يعرفون الهدف من البداية.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بطاقة مشروع ممتد لنادٍ علمي. شاركوا الطلاب في اختيار الخطوة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وزّعوا الأدوار كما فعل الفريق: المجسّم والفن، والمحتوى ولغة الإشارة، والبرمجة والعين، والسلامة، والعرض.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 ثلاثة متدربين يشاركون أفكارهم. كل فكرة منها مشروع جديد لطلابهم.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الجملة من كلمات الطلاب أنفسهم في تقديمهم. اشكر المعلمين، وذكّرهم بأن كل المحاكيات متاحة على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image" Target="../media/image-24-4.jpg"/><Relationship Id="rId5" Type="http://schemas.openxmlformats.org/officeDocument/2006/relationships/image" Target="../media/image-24-5.jp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jpg"/><Relationship Id="rId3" Type="http://schemas.openxmlformats.org/officeDocument/2006/relationships/image" Target="../media/image-31-3.jpg"/><Relationship Id="rId4" Type="http://schemas.openxmlformats.org/officeDocument/2006/relationships/image" Target="../media/image-31-4.jpg"/><Relationship Id="rId5" Type="http://schemas.openxmlformats.org/officeDocument/2006/relationships/image" Target="../media/image-31-5.jpg"/><Relationship Id="rId6" Type="http://schemas.openxmlformats.org/officeDocument/2006/relationships/image" Target="../media/image-31-6.jpg"/><Relationship Id="rId7" Type="http://schemas.openxmlformats.org/officeDocument/2006/relationships/image" Target="../media/image-31-7.jp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jpg"/><Relationship Id="rId3" Type="http://schemas.openxmlformats.org/officeDocument/2006/relationships/image" Target="../media/image-33-3.jpg"/><Relationship Id="rId4" Type="http://schemas.openxmlformats.org/officeDocument/2006/relationships/image" Target="../media/image-33-4.jpg"/><Relationship Id="rId5" Type="http://schemas.openxmlformats.org/officeDocument/2006/relationships/image" Target="../media/image-33-5.jp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41-2.jpg"/><Relationship Id="rId3" Type="http://schemas.openxmlformats.org/officeDocument/2006/relationships/image" Target="../media/image-41-3.jpg"/><Relationship Id="rId4" Type="http://schemas.openxmlformats.org/officeDocument/2006/relationships/image" Target="../media/image-41-4.jpg"/><Relationship Id="rId5" Type="http://schemas.openxmlformats.org/officeDocument/2006/relationships/image" Target="../media/image-41-5.jpg"/><Relationship Id="rId6" Type="http://schemas.openxmlformats.org/officeDocument/2006/relationships/image" Target="../media/image-41-6.jpg"/><Relationship Id="rId7" Type="http://schemas.openxmlformats.org/officeDocument/2006/relationships/image" Target="../media/image-41-7.jp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image" Target="../media/image-42-2.jpg"/><Relationship Id="rId3" Type="http://schemas.openxmlformats.org/officeDocument/2006/relationships/image" Target="../media/image-42-3.jpg"/><Relationship Id="rId4" Type="http://schemas.openxmlformats.org/officeDocument/2006/relationships/image" Target="../media/image-42-4.jpg"/><Relationship Id="rId5" Type="http://schemas.openxmlformats.org/officeDocument/2006/relationships/image" Target="../media/image-42-5.jp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image" Target="../media/image-48-2.jpg"/><Relationship Id="rId3" Type="http://schemas.openxmlformats.org/officeDocument/2006/relationships/image" Target="../media/image-48-3.jpg"/><Relationship Id="rId4" Type="http://schemas.openxmlformats.org/officeDocument/2006/relationships/image" Target="../media/image-48-4.jpg"/><Relationship Id="rId5" Type="http://schemas.openxmlformats.org/officeDocument/2006/relationships/image" Target="../media/image-48-5.jpg"/><Relationship Id="rId6" Type="http://schemas.openxmlformats.org/officeDocument/2006/relationships/image" Target="../media/image-48-6.jpg"/><Relationship Id="rId7" Type="http://schemas.openxmlformats.org/officeDocument/2006/relationships/image" Target="../media/image-48-7.jpg"/><Relationship Id="rId8" Type="http://schemas.openxmlformats.org/officeDocument/2006/relationships/slideLayout" Target="../slideLayouts/slideLayout1.xml"/><Relationship Id="rId9"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image" Target="../media/image-51-2.jpg"/><Relationship Id="rId3" Type="http://schemas.openxmlformats.org/officeDocument/2006/relationships/image" Target="../media/image-51-3.jpg"/><Relationship Id="rId4" Type="http://schemas.openxmlformats.org/officeDocument/2006/relationships/image" Target="../media/image-51-4.jpg"/><Relationship Id="rId5" Type="http://schemas.openxmlformats.org/officeDocument/2006/relationships/image" Target="../media/image-51-5.jpg"/><Relationship Id="rId6" Type="http://schemas.openxmlformats.org/officeDocument/2006/relationships/slideLayout" Target="../slideLayouts/slideLayout1.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image" Target="../media/image-58-2.jpg"/><Relationship Id="rId3" Type="http://schemas.openxmlformats.org/officeDocument/2006/relationships/image" Target="../media/image-58-3.jpg"/><Relationship Id="rId4" Type="http://schemas.openxmlformats.org/officeDocument/2006/relationships/image" Target="../media/image-58-4.jpg"/><Relationship Id="rId5" Type="http://schemas.openxmlformats.org/officeDocument/2006/relationships/image" Target="../media/image-58-5.jpg"/><Relationship Id="rId6" Type="http://schemas.openxmlformats.org/officeDocument/2006/relationships/image" Target="../media/image-58-6.jpg"/><Relationship Id="rId7" Type="http://schemas.openxmlformats.org/officeDocument/2006/relationships/slideLayout" Target="../slideLayouts/slideLayout1.xml"/><Relationship Id="rId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image" Target="../media/image-59-2.jpg"/><Relationship Id="rId3" Type="http://schemas.openxmlformats.org/officeDocument/2006/relationships/image" Target="../media/image-59-3.jpg"/><Relationship Id="rId4" Type="http://schemas.openxmlformats.org/officeDocument/2006/relationships/image" Target="../media/image-59-4.jpg"/><Relationship Id="rId5" Type="http://schemas.openxmlformats.org/officeDocument/2006/relationships/image" Target="../media/image-59-5.jpg"/><Relationship Id="rId6" Type="http://schemas.openxmlformats.org/officeDocument/2006/relationships/slideLayout" Target="../slideLayouts/slideLayout1.xml"/><Relationship Id="rId7"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image" Target="../media/image-68-2.jpg"/><Relationship Id="rId3" Type="http://schemas.openxmlformats.org/officeDocument/2006/relationships/image" Target="../media/image-68-3.jpg"/><Relationship Id="rId4" Type="http://schemas.openxmlformats.org/officeDocument/2006/relationships/image" Target="../media/image-68-4.jpg"/><Relationship Id="rId5" Type="http://schemas.openxmlformats.org/officeDocument/2006/relationships/image" Target="../media/image-68-5.jpg"/><Relationship Id="rId6" Type="http://schemas.openxmlformats.org/officeDocument/2006/relationships/image" Target="../media/image-68-6.jpg"/><Relationship Id="rId7" Type="http://schemas.openxmlformats.org/officeDocument/2006/relationships/image" Target="../media/image-68-7.jpg"/><Relationship Id="rId8" Type="http://schemas.openxmlformats.org/officeDocument/2006/relationships/slideLayout" Target="../slideLayouts/slideLayout1.xml"/><Relationship Id="rId9"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jpe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image" Target="../media/image-70-2.jpg"/><Relationship Id="rId3" Type="http://schemas.openxmlformats.org/officeDocument/2006/relationships/image" Target="../media/image-70-3.jpg"/><Relationship Id="rId4" Type="http://schemas.openxmlformats.org/officeDocument/2006/relationships/image" Target="../media/image-70-4.jpg"/><Relationship Id="rId5" Type="http://schemas.openxmlformats.org/officeDocument/2006/relationships/image" Target="../media/image-70-5.jpg"/><Relationship Id="rId6" Type="http://schemas.openxmlformats.org/officeDocument/2006/relationships/slideLayout" Target="../slideLayouts/slideLayout1.xml"/><Relationship Id="rId7"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jpe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jpe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jpe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jpe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jpe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jpe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jpe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jpe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jpe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jpe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jpe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image" Target="../media/image-89-2.jpg"/><Relationship Id="rId3" Type="http://schemas.openxmlformats.org/officeDocument/2006/relationships/image" Target="../media/image-89-3.jpg"/><Relationship Id="rId4" Type="http://schemas.openxmlformats.org/officeDocument/2006/relationships/image" Target="../media/image-89-4.jpg"/><Relationship Id="rId5" Type="http://schemas.openxmlformats.org/officeDocument/2006/relationships/image" Target="../media/image-89-5.jpg"/><Relationship Id="rId6" Type="http://schemas.openxmlformats.org/officeDocument/2006/relationships/image" Target="../media/image-89-6.jpg"/><Relationship Id="rId7" Type="http://schemas.openxmlformats.org/officeDocument/2006/relationships/slideLayout" Target="../slideLayouts/slideLayout1.xml"/><Relationship Id="rId8"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image" Target="../media/image-90-2.jpg"/><Relationship Id="rId3" Type="http://schemas.openxmlformats.org/officeDocument/2006/relationships/image" Target="../media/image-90-3.jpg"/><Relationship Id="rId4" Type="http://schemas.openxmlformats.org/officeDocument/2006/relationships/image" Target="../media/image-90-4.jpg"/><Relationship Id="rId5" Type="http://schemas.openxmlformats.org/officeDocument/2006/relationships/image" Target="../media/image-90-5.jpg"/><Relationship Id="rId6" Type="http://schemas.openxmlformats.org/officeDocument/2006/relationships/slideLayout" Target="../slideLayouts/slideLayout1.xml"/><Relationship Id="rId7"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jpe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jpe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jpe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jpe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jpe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image" Target="../media/image-98-2.jpg"/><Relationship Id="rId3" Type="http://schemas.openxmlformats.org/officeDocument/2006/relationships/image" Target="../media/image-98-3.jpg"/><Relationship Id="rId4" Type="http://schemas.openxmlformats.org/officeDocument/2006/relationships/image" Target="../media/image-98-4.jpg"/><Relationship Id="rId5" Type="http://schemas.openxmlformats.org/officeDocument/2006/relationships/image" Target="../media/image-98-5.jpg"/><Relationship Id="rId6" Type="http://schemas.openxmlformats.org/officeDocument/2006/relationships/image" Target="../media/image-98-6.jpg"/><Relationship Id="rId7" Type="http://schemas.openxmlformats.org/officeDocument/2006/relationships/slideLayout" Target="../slideLayouts/slideLayout1.xml"/><Relationship Id="rId8"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jpe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image" Target="../media/image-100-2.jpg"/><Relationship Id="rId3" Type="http://schemas.openxmlformats.org/officeDocument/2006/relationships/image" Target="../media/image-100-3.jpg"/><Relationship Id="rId4" Type="http://schemas.openxmlformats.org/officeDocument/2006/relationships/image" Target="../media/image-100-4.jpg"/><Relationship Id="rId5" Type="http://schemas.openxmlformats.org/officeDocument/2006/relationships/image" Target="../media/image-100-5.jpg"/><Relationship Id="rId6" Type="http://schemas.openxmlformats.org/officeDocument/2006/relationships/slideLayout" Target="../slideLayouts/slideLayout1.xml"/><Relationship Id="rId7"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jpe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Slide-103-image-1.jpe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Slide-104-image-1.jpe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Slide-105-image-1.jpe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jpe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jpe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image" Target="../media/image-109-2.jpg"/><Relationship Id="rId3" Type="http://schemas.openxmlformats.org/officeDocument/2006/relationships/image" Target="../media/image-109-3.jpg"/><Relationship Id="rId4" Type="http://schemas.openxmlformats.org/officeDocument/2006/relationships/image" Target="../media/image-109-4.jpg"/><Relationship Id="rId5" Type="http://schemas.openxmlformats.org/officeDocument/2006/relationships/image" Target="../media/image-109-5.jpg"/><Relationship Id="rId6" Type="http://schemas.openxmlformats.org/officeDocument/2006/relationships/image" Target="../media/image-109-6.jpg"/><Relationship Id="rId7" Type="http://schemas.openxmlformats.org/officeDocument/2006/relationships/image" Target="../media/image-109-7.jpg"/><Relationship Id="rId8" Type="http://schemas.openxmlformats.org/officeDocument/2006/relationships/image" Target="../media/image-109-8.jpg"/><Relationship Id="rId9" Type="http://schemas.openxmlformats.org/officeDocument/2006/relationships/slideLayout" Target="../slideLayouts/slideLayout1.xml"/><Relationship Id="rId10"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image" Target="../media/image-110-2.jpg"/><Relationship Id="rId3" Type="http://schemas.openxmlformats.org/officeDocument/2006/relationships/image" Target="../media/image-110-3.jpg"/><Relationship Id="rId4" Type="http://schemas.openxmlformats.org/officeDocument/2006/relationships/image" Target="../media/image-110-4.jpg"/><Relationship Id="rId5" Type="http://schemas.openxmlformats.org/officeDocument/2006/relationships/image" Target="../media/image-110-5.jpg"/><Relationship Id="rId6" Type="http://schemas.openxmlformats.org/officeDocument/2006/relationships/image" Target="../media/image-110-6.jpg"/><Relationship Id="rId7" Type="http://schemas.openxmlformats.org/officeDocument/2006/relationships/image" Target="../media/image-110-7.jpg"/><Relationship Id="rId8" Type="http://schemas.openxmlformats.org/officeDocument/2006/relationships/slideLayout" Target="../slideLayouts/slideLayout1.xml"/><Relationship Id="rId9"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image" Target="../media/image-112-2.jpg"/><Relationship Id="rId3" Type="http://schemas.openxmlformats.org/officeDocument/2006/relationships/image" Target="../media/image-112-3.jpg"/><Relationship Id="rId4" Type="http://schemas.openxmlformats.org/officeDocument/2006/relationships/image" Target="../media/image-112-4.jpg"/><Relationship Id="rId5" Type="http://schemas.openxmlformats.org/officeDocument/2006/relationships/image" Target="../media/image-112-5.jpg"/><Relationship Id="rId6" Type="http://schemas.openxmlformats.org/officeDocument/2006/relationships/slideLayout" Target="../slideLayouts/slideLayout1.xml"/><Relationship Id="rId7"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jp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jpe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jpe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jpe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Slide-118-image-1.jpe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g"/><Relationship Id="rId2" Type="http://schemas.openxmlformats.org/officeDocument/2006/relationships/image" Target="../media/image-119-2.jpg"/><Relationship Id="rId3" Type="http://schemas.openxmlformats.org/officeDocument/2006/relationships/image" Target="../media/image-119-3.jpg"/><Relationship Id="rId4" Type="http://schemas.openxmlformats.org/officeDocument/2006/relationships/image" Target="../media/image-119-4.jpg"/><Relationship Id="rId5" Type="http://schemas.openxmlformats.org/officeDocument/2006/relationships/image" Target="../media/image-119-5.jpg"/><Relationship Id="rId6" Type="http://schemas.openxmlformats.org/officeDocument/2006/relationships/image" Target="../media/image-119-6.jpg"/><Relationship Id="rId7" Type="http://schemas.openxmlformats.org/officeDocument/2006/relationships/image" Target="../media/image-119-7.jpg"/><Relationship Id="rId8" Type="http://schemas.openxmlformats.org/officeDocument/2006/relationships/image" Target="../media/image-119-8.jpg"/><Relationship Id="rId9" Type="http://schemas.openxmlformats.org/officeDocument/2006/relationships/slideLayout" Target="../slideLayouts/slideLayout1.xml"/><Relationship Id="rId10"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image" Target="../media/image-121-2.jpg"/><Relationship Id="rId3" Type="http://schemas.openxmlformats.org/officeDocument/2006/relationships/image" Target="../media/image-121-3.jpg"/><Relationship Id="rId4" Type="http://schemas.openxmlformats.org/officeDocument/2006/relationships/image" Target="../media/image-121-4.jpg"/><Relationship Id="rId5" Type="http://schemas.openxmlformats.org/officeDocument/2006/relationships/image" Target="../media/image-121-5.jpg"/><Relationship Id="rId6" Type="http://schemas.openxmlformats.org/officeDocument/2006/relationships/image" Target="../media/image-121-6.jpg"/><Relationship Id="rId7" Type="http://schemas.openxmlformats.org/officeDocument/2006/relationships/image" Target="../media/image-121-7.jpg"/><Relationship Id="rId8" Type="http://schemas.openxmlformats.org/officeDocument/2006/relationships/image" Target="../media/image-121-8.jpg"/><Relationship Id="rId9" Type="http://schemas.openxmlformats.org/officeDocument/2006/relationships/slideLayout" Target="../slideLayouts/slideLayout1.xml"/><Relationship Id="rId10"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g"/><Relationship Id="rId2" Type="http://schemas.openxmlformats.org/officeDocument/2006/relationships/image" Target="../media/image-122-2.jpg"/><Relationship Id="rId3" Type="http://schemas.openxmlformats.org/officeDocument/2006/relationships/image" Target="../media/image-122-3.jpg"/><Relationship Id="rId4" Type="http://schemas.openxmlformats.org/officeDocument/2006/relationships/image" Target="../media/image-122-4.jpg"/><Relationship Id="rId5" Type="http://schemas.openxmlformats.org/officeDocument/2006/relationships/image" Target="../media/image-122-5.jpg"/><Relationship Id="rId6" Type="http://schemas.openxmlformats.org/officeDocument/2006/relationships/slideLayout" Target="../slideLayouts/slideLayout1.xml"/><Relationship Id="rId7"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jpe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jpe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Slide-126-image-1.jpe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jp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Slide-128-image-1.jpe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jpg"/><Relationship Id="rId2" Type="http://schemas.openxmlformats.org/officeDocument/2006/relationships/image" Target="../media/image-129-2.jpg"/><Relationship Id="rId3" Type="http://schemas.openxmlformats.org/officeDocument/2006/relationships/image" Target="../media/image-129-3.jpg"/><Relationship Id="rId4" Type="http://schemas.openxmlformats.org/officeDocument/2006/relationships/image" Target="../media/image-129-4.jpg"/><Relationship Id="rId5" Type="http://schemas.openxmlformats.org/officeDocument/2006/relationships/image" Target="../media/image-129-5.jpg"/><Relationship Id="rId6" Type="http://schemas.openxmlformats.org/officeDocument/2006/relationships/slideLayout" Target="../slideLayouts/slideLayout1.xml"/><Relationship Id="rId7"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jpg"/><Relationship Id="rId2" Type="http://schemas.openxmlformats.org/officeDocument/2006/relationships/image" Target="../media/image-130-2.jpg"/><Relationship Id="rId3" Type="http://schemas.openxmlformats.org/officeDocument/2006/relationships/image" Target="../media/image-130-3.jpg"/><Relationship Id="rId4" Type="http://schemas.openxmlformats.org/officeDocument/2006/relationships/image" Target="../media/image-130-4.jpg"/><Relationship Id="rId5" Type="http://schemas.openxmlformats.org/officeDocument/2006/relationships/image" Target="../media/image-130-5.jpg"/><Relationship Id="rId6" Type="http://schemas.openxmlformats.org/officeDocument/2006/relationships/slideLayout" Target="../slideLayouts/slideLayout1.xml"/><Relationship Id="rId7"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jpe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jp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Slide-133-image-1.jpe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Slide-134-image-1.jpeg"/><Relationship Id="rId2" Type="http://schemas.openxmlformats.org/officeDocument/2006/relationships/slideLayout" Target="../slideLayouts/slideLayout1.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Slide-135-image-1.jpeg"/><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Slide-136-image-1.jpe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Slide-137-image-1.jpe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jp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jpg"/><Relationship Id="rId2" Type="http://schemas.openxmlformats.org/officeDocument/2006/relationships/image" Target="../media/image-139-2.jpg"/><Relationship Id="rId3" Type="http://schemas.openxmlformats.org/officeDocument/2006/relationships/image" Target="../media/image-139-3.jpg"/><Relationship Id="rId4" Type="http://schemas.openxmlformats.org/officeDocument/2006/relationships/image" Target="../media/image-139-4.jpg"/><Relationship Id="rId5" Type="http://schemas.openxmlformats.org/officeDocument/2006/relationships/image" Target="../media/image-139-5.jpg"/><Relationship Id="rId6" Type="http://schemas.openxmlformats.org/officeDocument/2006/relationships/image" Target="../media/image-139-6.jpg"/><Relationship Id="rId7" Type="http://schemas.openxmlformats.org/officeDocument/2006/relationships/image" Target="../media/image-139-7.jpg"/><Relationship Id="rId8" Type="http://schemas.openxmlformats.org/officeDocument/2006/relationships/slideLayout" Target="../slideLayouts/slideLayout1.xml"/><Relationship Id="rId9"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jpg"/><Relationship Id="rId2" Type="http://schemas.openxmlformats.org/officeDocument/2006/relationships/image" Target="../media/image-140-2.jpg"/><Relationship Id="rId3" Type="http://schemas.openxmlformats.org/officeDocument/2006/relationships/image" Target="../media/image-140-3.jpg"/><Relationship Id="rId4" Type="http://schemas.openxmlformats.org/officeDocument/2006/relationships/image" Target="../media/image-140-4.jpg"/><Relationship Id="rId5" Type="http://schemas.openxmlformats.org/officeDocument/2006/relationships/image" Target="../media/image-140-5.jpg"/><Relationship Id="rId6" Type="http://schemas.openxmlformats.org/officeDocument/2006/relationships/image" Target="../media/image-140-6.jpg"/><Relationship Id="rId7" Type="http://schemas.openxmlformats.org/officeDocument/2006/relationships/slideLayout" Target="../slideLayouts/slideLayout1.xml"/><Relationship Id="rId8"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jpg"/><Relationship Id="rId2" Type="http://schemas.openxmlformats.org/officeDocument/2006/relationships/image" Target="../media/image-141-2.jpg"/><Relationship Id="rId3" Type="http://schemas.openxmlformats.org/officeDocument/2006/relationships/image" Target="../media/image-141-3.jpg"/><Relationship Id="rId4" Type="http://schemas.openxmlformats.org/officeDocument/2006/relationships/image" Target="../media/image-141-4.jpg"/><Relationship Id="rId5" Type="http://schemas.openxmlformats.org/officeDocument/2006/relationships/image" Target="../media/image-141-5.jpg"/><Relationship Id="rId6" Type="http://schemas.openxmlformats.org/officeDocument/2006/relationships/slideLayout" Target="../slideLayouts/slideLayout1.xml"/><Relationship Id="rId7"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jpg"/><Relationship Id="rId2" Type="http://schemas.openxmlformats.org/officeDocument/2006/relationships/image" Target="../media/image-142-2.jpg"/><Relationship Id="rId3" Type="http://schemas.openxmlformats.org/officeDocument/2006/relationships/image" Target="../media/image-142-3.jpg"/><Relationship Id="rId4" Type="http://schemas.openxmlformats.org/officeDocument/2006/relationships/image" Target="../media/image-142-4.jpg"/><Relationship Id="rId5" Type="http://schemas.openxmlformats.org/officeDocument/2006/relationships/image" Target="../media/image-142-5.jpg"/><Relationship Id="rId6" Type="http://schemas.openxmlformats.org/officeDocument/2006/relationships/slideLayout" Target="../slideLayouts/slideLayout1.xml"/><Relationship Id="rId7"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Slide-143-image-1.jpeg"/><Relationship Id="rId2" Type="http://schemas.openxmlformats.org/officeDocument/2006/relationships/slideLayout" Target="../slideLayouts/slideLayout1.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jp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Slide-145-image-1.jpe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Slide-146-image-1.jpe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Slide-147-image-1.jpe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Slide-148-image-1.jpe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Slide-149-image-1.jpeg"/><Relationship Id="rId2" Type="http://schemas.openxmlformats.org/officeDocument/2006/relationships/slideLayout" Target="../slideLayouts/slideLayout1.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jp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jpg"/><Relationship Id="rId2" Type="http://schemas.openxmlformats.org/officeDocument/2006/relationships/image" Target="../media/image-151-2.jpg"/><Relationship Id="rId3" Type="http://schemas.openxmlformats.org/officeDocument/2006/relationships/image" Target="../media/image-151-3.jpg"/><Relationship Id="rId4" Type="http://schemas.openxmlformats.org/officeDocument/2006/relationships/image" Target="../media/image-151-4.jpg"/><Relationship Id="rId5" Type="http://schemas.openxmlformats.org/officeDocument/2006/relationships/image" Target="../media/image-151-5.jpg"/><Relationship Id="rId6" Type="http://schemas.openxmlformats.org/officeDocument/2006/relationships/image" Target="../media/image-151-6.jpg"/><Relationship Id="rId7" Type="http://schemas.openxmlformats.org/officeDocument/2006/relationships/image" Target="../media/image-151-7.jpg"/><Relationship Id="rId8" Type="http://schemas.openxmlformats.org/officeDocument/2006/relationships/image" Target="../media/image-151-8.jpg"/><Relationship Id="rId9" Type="http://schemas.openxmlformats.org/officeDocument/2006/relationships/slideLayout" Target="../slideLayouts/slideLayout1.xml"/><Relationship Id="rId10"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jpg"/><Relationship Id="rId2" Type="http://schemas.openxmlformats.org/officeDocument/2006/relationships/image" Target="../media/image-152-2.jpg"/><Relationship Id="rId3" Type="http://schemas.openxmlformats.org/officeDocument/2006/relationships/image" Target="../media/image-152-3.jpg"/><Relationship Id="rId4" Type="http://schemas.openxmlformats.org/officeDocument/2006/relationships/image" Target="../media/image-152-4.jpg"/><Relationship Id="rId5" Type="http://schemas.openxmlformats.org/officeDocument/2006/relationships/image" Target="../media/image-152-5.jpg"/><Relationship Id="rId6" Type="http://schemas.openxmlformats.org/officeDocument/2006/relationships/slideLayout" Target="../slideLayouts/slideLayout1.xml"/><Relationship Id="rId7"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Slide-153-image-1.jpe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jpg"/><Relationship Id="rId2" Type="http://schemas.openxmlformats.org/officeDocument/2006/relationships/slideLayout" Target="../slideLayouts/slideLayout1.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Slide-155-image-1.jpe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image" Target="../media/Slide-156-image-1.jpeg"/><Relationship Id="rId2" Type="http://schemas.openxmlformats.org/officeDocument/2006/relationships/slideLayout" Target="../slideLayouts/slideLayout1.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Slide-157-image-1.jpeg"/><Relationship Id="rId2" Type="http://schemas.openxmlformats.org/officeDocument/2006/relationships/slideLayout" Target="../slideLayouts/slideLayout1.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Slide-158-image-1.jpeg"/><Relationship Id="rId2" Type="http://schemas.openxmlformats.org/officeDocument/2006/relationships/slideLayout" Target="../slideLayouts/slideLayout1.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Slide-159-image-1.jpeg"/><Relationship Id="rId2" Type="http://schemas.openxmlformats.org/officeDocument/2006/relationships/slideLayout" Target="../slideLayouts/slideLayout1.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1.jpg"/><Relationship Id="rId2" Type="http://schemas.openxmlformats.org/officeDocument/2006/relationships/slideLayout" Target="../slideLayouts/slideLayout1.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jpg"/><Relationship Id="rId2" Type="http://schemas.openxmlformats.org/officeDocument/2006/relationships/image" Target="../media/image-161-2.jpg"/><Relationship Id="rId3" Type="http://schemas.openxmlformats.org/officeDocument/2006/relationships/image" Target="../media/image-161-3.jpg"/><Relationship Id="rId4" Type="http://schemas.openxmlformats.org/officeDocument/2006/relationships/image" Target="../media/image-161-4.jpg"/><Relationship Id="rId5" Type="http://schemas.openxmlformats.org/officeDocument/2006/relationships/image" Target="../media/image-161-5.jpg"/><Relationship Id="rId6" Type="http://schemas.openxmlformats.org/officeDocument/2006/relationships/image" Target="../media/image-161-6.jpg"/><Relationship Id="rId7" Type="http://schemas.openxmlformats.org/officeDocument/2006/relationships/image" Target="../media/image-161-7.jpg"/><Relationship Id="rId8" Type="http://schemas.openxmlformats.org/officeDocument/2006/relationships/image" Target="../media/image-161-8.jpg"/><Relationship Id="rId9" Type="http://schemas.openxmlformats.org/officeDocument/2006/relationships/slideLayout" Target="../slideLayouts/slideLayout1.xml"/><Relationship Id="rId10"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image" Target="../media/image-162-1.jpg"/><Relationship Id="rId2" Type="http://schemas.openxmlformats.org/officeDocument/2006/relationships/image" Target="../media/image-162-2.jpg"/><Relationship Id="rId3" Type="http://schemas.openxmlformats.org/officeDocument/2006/relationships/image" Target="../media/image-162-3.jpg"/><Relationship Id="rId4" Type="http://schemas.openxmlformats.org/officeDocument/2006/relationships/image" Target="../media/image-162-4.jpg"/><Relationship Id="rId5" Type="http://schemas.openxmlformats.org/officeDocument/2006/relationships/image" Target="../media/image-162-5.jpg"/><Relationship Id="rId6" Type="http://schemas.openxmlformats.org/officeDocument/2006/relationships/slideLayout" Target="../slideLayouts/slideLayout1.xml"/><Relationship Id="rId7"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63-1.jpg"/><Relationship Id="rId2" Type="http://schemas.openxmlformats.org/officeDocument/2006/relationships/slideLayout" Target="../slideLayouts/slideLayout1.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Slide-164-image-1.jpeg"/><Relationship Id="rId2" Type="http://schemas.openxmlformats.org/officeDocument/2006/relationships/slideLayout" Target="../slideLayouts/slideLayout1.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image-165-1.jpg"/><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166-1.jp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jpg"/><Relationship Id="rId2" Type="http://schemas.openxmlformats.org/officeDocument/2006/relationships/image" Target="../media/image-167-2.jpg"/><Relationship Id="rId3" Type="http://schemas.openxmlformats.org/officeDocument/2006/relationships/image" Target="../media/image-167-3.jpg"/><Relationship Id="rId4" Type="http://schemas.openxmlformats.org/officeDocument/2006/relationships/image" Target="../media/image-167-4.jpg"/><Relationship Id="rId5" Type="http://schemas.openxmlformats.org/officeDocument/2006/relationships/image" Target="../media/image-167-5.jpg"/><Relationship Id="rId6" Type="http://schemas.openxmlformats.org/officeDocument/2006/relationships/image" Target="../media/image-167-6.jpg"/><Relationship Id="rId7" Type="http://schemas.openxmlformats.org/officeDocument/2006/relationships/image" Target="../media/image-167-7.jpg"/><Relationship Id="rId8" Type="http://schemas.openxmlformats.org/officeDocument/2006/relationships/slideLayout" Target="../slideLayouts/slideLayout1.xml"/><Relationship Id="rId9"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Slide-168-image-1.jpe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jp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Slide-170-image-1.jpe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Slide-171-image-1.jpe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Slide-172-image-1.jpe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image-173-1.jp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jpg"/><Relationship Id="rId2" Type="http://schemas.openxmlformats.org/officeDocument/2006/relationships/slideLayout" Target="../slideLayouts/slideLayout1.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Slide-175-image-1.jpeg"/><Relationship Id="rId2" Type="http://schemas.openxmlformats.org/officeDocument/2006/relationships/slideLayout" Target="../slideLayouts/slideLayout1.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image" Target="../media/image-176-1.jpg"/><Relationship Id="rId2" Type="http://schemas.openxmlformats.org/officeDocument/2006/relationships/slideLayout" Target="../slideLayouts/slideLayout1.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Slide-177-image-1.jpeg"/><Relationship Id="rId2" Type="http://schemas.openxmlformats.org/officeDocument/2006/relationships/slideLayout" Target="../slideLayouts/slideLayout1.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Slide-178-image-1.jpeg"/><Relationship Id="rId2" Type="http://schemas.openxmlformats.org/officeDocument/2006/relationships/slideLayout" Target="../slideLayouts/slideLayout1.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Slide-179-image-1.jpeg"/><Relationship Id="rId2" Type="http://schemas.openxmlformats.org/officeDocument/2006/relationships/slideLayout" Target="../slideLayouts/slideLayout1.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Slide-180-image-1.jpeg"/><Relationship Id="rId2" Type="http://schemas.openxmlformats.org/officeDocument/2006/relationships/slideLayout" Target="../slideLayouts/slideLayout1.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Slide-181-image-1.jpeg"/><Relationship Id="rId2" Type="http://schemas.openxmlformats.org/officeDocument/2006/relationships/slideLayout" Target="../slideLayouts/slideLayout1.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Slide-182-image-1.jpe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Slide-183-image-1.jpeg"/><Relationship Id="rId2" Type="http://schemas.openxmlformats.org/officeDocument/2006/relationships/slideLayout" Target="../slideLayouts/slideLayout1.xml"/><Relationship Id="rId3" Type="http://schemas.openxmlformats.org/officeDocument/2006/relationships/notesSlide" Target="../notesSlides/notesSlide1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الأردوينو للمعلمين · الدورة الخامسة</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لمسة تراث</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قصر المصمك التفاعلي الشامل: العين تقود… والروبوت يحرس</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أ. محمد زيتون</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مقدّم الدورة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 محمد زيتون</a:t>
            </a:r>
            <a:endParaRPr lang="ar-SA" sz="3800" dirty="0"/>
          </a:p>
        </p:txBody>
      </p:sp>
      <p:sp>
        <p:nvSpPr>
          <p:cNvPr id="5" name="Text 3"/>
          <p:cNvSpPr/>
          <p:nvPr/>
        </p:nvSpPr>
        <p:spPr>
          <a:xfrm>
            <a:off x="822960" y="1783080"/>
            <a:ext cx="1054577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22346F"/>
                </a:solidFill>
                <a:latin typeface="Cairo" pitchFamily="34" charset="0"/>
                <a:ea typeface="Cairo" pitchFamily="34" charset="-122"/>
                <a:cs typeface="Cairo" pitchFamily="34" charset="-120"/>
              </a:rPr>
              <a:t>مشرف تربوي — الابتكار والذكاء الاصطناعي وSTEAM · مدارس الأرقم</a:t>
            </a:r>
            <a:endParaRPr lang="ar-SA" sz="2000" dirty="0"/>
          </a:p>
        </p:txBody>
      </p:sp>
      <p:sp>
        <p:nvSpPr>
          <p:cNvPr id="6" name="anim-g1-1"/>
          <p:cNvSpPr/>
          <p:nvPr/>
        </p:nvSpPr>
        <p:spPr>
          <a:xfrm>
            <a:off x="8066837"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7" name="anim-g1-2"/>
          <p:cNvSpPr/>
          <p:nvPr/>
        </p:nvSpPr>
        <p:spPr>
          <a:xfrm>
            <a:off x="8066837"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٣٣</a:t>
            </a:r>
            <a:endParaRPr lang="ar-SA" sz="5600" dirty="0"/>
          </a:p>
        </p:txBody>
      </p:sp>
      <p:sp>
        <p:nvSpPr>
          <p:cNvPr id="8" name="anim-g1-3"/>
          <p:cNvSpPr/>
          <p:nvPr/>
        </p:nvSpPr>
        <p:spPr>
          <a:xfrm>
            <a:off x="8249717"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عامًا في الميدان التعليمي</a:t>
            </a:r>
            <a:endParaRPr lang="ar-SA" sz="2000" dirty="0"/>
          </a:p>
        </p:txBody>
      </p:sp>
      <p:sp>
        <p:nvSpPr>
          <p:cNvPr id="9" name="anim-g2-4"/>
          <p:cNvSpPr/>
          <p:nvPr/>
        </p:nvSpPr>
        <p:spPr>
          <a:xfrm>
            <a:off x="4444898"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0" name="anim-g2-5"/>
          <p:cNvSpPr/>
          <p:nvPr/>
        </p:nvSpPr>
        <p:spPr>
          <a:xfrm>
            <a:off x="4444898"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a:t>
            </a:r>
            <a:endParaRPr lang="ar-SA" sz="5600" dirty="0"/>
          </a:p>
        </p:txBody>
      </p:sp>
      <p:sp>
        <p:nvSpPr>
          <p:cNvPr id="11" name="anim-g2-6"/>
          <p:cNvSpPr/>
          <p:nvPr/>
        </p:nvSpPr>
        <p:spPr>
          <a:xfrm>
            <a:off x="4627778"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كتب في تعليم الأردوينو</a:t>
            </a:r>
            <a:endParaRPr lang="ar-SA" sz="2000" dirty="0"/>
          </a:p>
        </p:txBody>
      </p:sp>
      <p:sp>
        <p:nvSpPr>
          <p:cNvPr id="12" name="anim-g3-7"/>
          <p:cNvSpPr/>
          <p:nvPr/>
        </p:nvSpPr>
        <p:spPr>
          <a:xfrm>
            <a:off x="822960"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3" name="anim-g3-8"/>
          <p:cNvSpPr/>
          <p:nvPr/>
        </p:nvSpPr>
        <p:spPr>
          <a:xfrm>
            <a:off x="822960" y="2743200"/>
            <a:ext cx="3301898" cy="1097280"/>
          </a:xfrm>
          <a:prstGeom prst="rect">
            <a:avLst/>
          </a:prstGeom>
          <a:noFill/>
          <a:ln/>
        </p:spPr>
        <p:txBody>
          <a:bodyPr wrap="square" lIns="0" tIns="0" rIns="0" bIns="0" rtlCol="0" anchor="ctr">
            <a:normAutofit/>
          </a:bodyPr>
          <a:lstStyle/>
          <a:p>
            <a:pPr rtl="1" algn="ctr" indent="0" marL="0">
              <a:buNone/>
            </a:pPr>
            <a:r>
              <a:rPr lang="ar-SA" altLang="en-US" sz="3600" dirty="0">
                <a:solidFill>
                  <a:srgbClr val="B08A2E"/>
                </a:solidFill>
                <a:latin typeface="Cairo Black" pitchFamily="34" charset="0"/>
                <a:ea typeface="Cairo Black" pitchFamily="34" charset="-122"/>
                <a:cs typeface="Cairo Black" pitchFamily="34" charset="-120"/>
              </a:rPr>
              <a:t>WRO</a:t>
            </a:r>
            <a:endParaRPr lang="ar-SA" sz="3600" dirty="0"/>
          </a:p>
        </p:txBody>
      </p:sp>
      <p:sp>
        <p:nvSpPr>
          <p:cNvPr id="14" name="anim-g3-9"/>
          <p:cNvSpPr/>
          <p:nvPr/>
        </p:nvSpPr>
        <p:spPr>
          <a:xfrm>
            <a:off x="1005840"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مشروع «لمسة تراث» · Future Innovators</a:t>
            </a:r>
            <a:endParaRPr lang="ar-SA" sz="2000" dirty="0"/>
          </a:p>
        </p:txBody>
      </p:sp>
      <p:sp>
        <p:nvSpPr>
          <p:cNvPr id="15" name="anim-g4-10"/>
          <p:cNvSpPr/>
          <p:nvPr/>
        </p:nvSpPr>
        <p:spPr>
          <a:xfrm>
            <a:off x="822960" y="5257800"/>
            <a:ext cx="1054577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فريق al arqam innovators · مدارس الأرقم · «ننظر إلى الماضي… بعين المستقبل»</a:t>
            </a:r>
            <a:endParaRPr lang="ar-SA" sz="1800" dirty="0"/>
          </a:p>
        </p:txBody>
      </p:sp>
      <p:sp>
        <p:nvSpPr>
          <p:cNvPr id="16" name="Text 1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7" name="Text 1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user\projects\younes-training\turath\.pptx-cache\s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المشكلة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التراث لنا جميعًا… لكن الوصول إليه ليس سهلًا للجميع</a:t>
            </a:r>
            <a:endParaRPr lang="ar-SA" sz="3200" dirty="0"/>
          </a:p>
        </p:txBody>
      </p:sp>
      <p:sp>
        <p:nvSpPr>
          <p:cNvPr id="5" name="anim-g1-1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2"/>
          <p:cNvSpPr/>
          <p:nvPr/>
        </p:nvSpPr>
        <p:spPr>
          <a:xfrm>
            <a:off x="10527487" y="2267712"/>
            <a:ext cx="566928" cy="566928"/>
          </a:xfrm>
          <a:prstGeom prst="roundRect">
            <a:avLst>
              <a:gd name="adj" fmla="val 32258"/>
            </a:avLst>
          </a:prstGeom>
          <a:solidFill>
            <a:srgbClr val="F7E6BC"/>
          </a:solidFill>
          <a:ln/>
        </p:spPr>
      </p:sp>
      <p:sp>
        <p:nvSpPr>
          <p:cNvPr id="7" name="anim-g1-1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الإعاقة الحركية</a:t>
            </a:r>
            <a:endParaRPr lang="ar-SA" sz="2200" dirty="0"/>
          </a:p>
        </p:txBody>
      </p:sp>
      <p:sp>
        <p:nvSpPr>
          <p:cNvPr id="9" name="anim-g1-1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صعوبة التنقل حول المجسمات الثابتة، والحاجة الدائمة لمرافق</a:t>
            </a:r>
            <a:endParaRPr lang="ar-SA" sz="1900" dirty="0"/>
          </a:p>
        </p:txBody>
      </p:sp>
      <p:sp>
        <p:nvSpPr>
          <p:cNvPr id="10" name="anim-g2-1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7"/>
          <p:cNvSpPr/>
          <p:nvPr/>
        </p:nvSpPr>
        <p:spPr>
          <a:xfrm>
            <a:off x="6920789" y="2267712"/>
            <a:ext cx="566928" cy="566928"/>
          </a:xfrm>
          <a:prstGeom prst="roundRect">
            <a:avLst>
              <a:gd name="adj" fmla="val 32258"/>
            </a:avLst>
          </a:prstGeom>
          <a:solidFill>
            <a:srgbClr val="F7E6BC"/>
          </a:solidFill>
          <a:ln/>
        </p:spPr>
      </p:sp>
      <p:sp>
        <p:nvSpPr>
          <p:cNvPr id="12" name="anim-g2-1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الإعاقة السمعية</a:t>
            </a:r>
            <a:endParaRPr lang="ar-SA" sz="2200" dirty="0"/>
          </a:p>
        </p:txBody>
      </p:sp>
      <p:sp>
        <p:nvSpPr>
          <p:cNvPr id="14" name="anim-g2-2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شرح المرشد والتسجيلات الصوتية لا تصل</a:t>
            </a:r>
            <a:endParaRPr lang="ar-SA" sz="1900" dirty="0"/>
          </a:p>
        </p:txBody>
      </p:sp>
      <p:sp>
        <p:nvSpPr>
          <p:cNvPr id="15" name="anim-g3-2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2"/>
          <p:cNvSpPr/>
          <p:nvPr/>
        </p:nvSpPr>
        <p:spPr>
          <a:xfrm>
            <a:off x="3314090" y="2267712"/>
            <a:ext cx="566928" cy="566928"/>
          </a:xfrm>
          <a:prstGeom prst="roundRect">
            <a:avLst>
              <a:gd name="adj" fmla="val 32258"/>
            </a:avLst>
          </a:prstGeom>
          <a:solidFill>
            <a:srgbClr val="F7E6BC"/>
          </a:solidFill>
          <a:ln/>
        </p:spPr>
      </p:sp>
      <p:sp>
        <p:nvSpPr>
          <p:cNvPr id="17" name="anim-g3-2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الإعاقة البصرية</a:t>
            </a:r>
            <a:endParaRPr lang="ar-SA" sz="2200" dirty="0"/>
          </a:p>
        </p:txBody>
      </p:sp>
      <p:sp>
        <p:nvSpPr>
          <p:cNvPr id="19" name="anim-g3-2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التفاصيل المعروضة واللوحات الإرشادية لا تُرى</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632808" y="1188720"/>
            <a:ext cx="292608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632808" y="118872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الفكرة الجوهرية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واجهة تفاعل واحدة بسيطة وطبيعية: حركة العين…</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تخدم ثلاث فئات إعاقة في آن واحد</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الافتتاح  ·  ٥</a:t>
            </a:r>
            <a:endParaRPr lang="ar-SA"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المشروع في أربع وحدات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 الذي سنبنيه في هذه الدورة؟</a:t>
            </a:r>
            <a:endParaRPr lang="ar-SA" sz="3800" dirty="0"/>
          </a:p>
        </p:txBody>
      </p:sp>
      <p:sp>
        <p:nvSpPr>
          <p:cNvPr id="5" name="anim-g1-26"/>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7"/>
          <p:cNvSpPr/>
          <p:nvPr/>
        </p:nvSpPr>
        <p:spPr>
          <a:xfrm>
            <a:off x="10527487" y="2267712"/>
            <a:ext cx="566928" cy="566928"/>
          </a:xfrm>
          <a:prstGeom prst="roundRect">
            <a:avLst>
              <a:gd name="adj" fmla="val 32258"/>
            </a:avLst>
          </a:prstGeom>
          <a:solidFill>
            <a:srgbClr val="F7E6BC"/>
          </a:solidFill>
          <a:ln/>
        </p:spPr>
      </p:sp>
      <p:sp>
        <p:nvSpPr>
          <p:cNvPr id="7" name="anim-g1-2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9"/>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المجسّم الدوّار</a:t>
            </a:r>
            <a:endParaRPr lang="ar-SA" sz="2200" dirty="0"/>
          </a:p>
        </p:txBody>
      </p:sp>
      <p:sp>
        <p:nvSpPr>
          <p:cNvPr id="9" name="anim-g1-30"/>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محرك خطوي NEMA17 ودرايفر A4988 وشريط إضاءة WS2812B على ESP32</a:t>
            </a:r>
            <a:endParaRPr lang="ar-SA" sz="1900" dirty="0"/>
          </a:p>
        </p:txBody>
      </p:sp>
      <p:sp>
        <p:nvSpPr>
          <p:cNvPr id="10" name="anim-g2-31"/>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2"/>
          <p:cNvSpPr/>
          <p:nvPr/>
        </p:nvSpPr>
        <p:spPr>
          <a:xfrm>
            <a:off x="5117440" y="2267712"/>
            <a:ext cx="566928" cy="566928"/>
          </a:xfrm>
          <a:prstGeom prst="roundRect">
            <a:avLst>
              <a:gd name="adj" fmla="val 32258"/>
            </a:avLst>
          </a:prstGeom>
          <a:solidFill>
            <a:srgbClr val="F7E6BC"/>
          </a:solidFill>
          <a:ln/>
        </p:spPr>
      </p:sp>
      <p:sp>
        <p:nvSpPr>
          <p:cNvPr id="12" name="anim-g2-33"/>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4"/>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العقل المركزي</a:t>
            </a:r>
            <a:endParaRPr lang="ar-SA" sz="2200" dirty="0"/>
          </a:p>
        </p:txBody>
      </p:sp>
      <p:sp>
        <p:nvSpPr>
          <p:cNvPr id="14" name="anim-g2-35"/>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راسبيري باي يشغّل لغة الإشارة والصوت، ويوجّه الأوامر عبر UDP</a:t>
            </a:r>
            <a:endParaRPr lang="ar-SA" sz="1900" dirty="0"/>
          </a:p>
        </p:txBody>
      </p:sp>
      <p:sp>
        <p:nvSpPr>
          <p:cNvPr id="15" name="anim-g3-36"/>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7"/>
          <p:cNvSpPr/>
          <p:nvPr/>
        </p:nvSpPr>
        <p:spPr>
          <a:xfrm>
            <a:off x="10527487" y="4393692"/>
            <a:ext cx="566928" cy="566928"/>
          </a:xfrm>
          <a:prstGeom prst="roundRect">
            <a:avLst>
              <a:gd name="adj" fmla="val 32258"/>
            </a:avLst>
          </a:prstGeom>
          <a:solidFill>
            <a:srgbClr val="F7E6BC"/>
          </a:solidFill>
          <a:ln/>
        </p:spPr>
      </p:sp>
      <p:sp>
        <p:nvSpPr>
          <p:cNvPr id="17" name="anim-g3-38"/>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9"/>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تتبع العين</a:t>
            </a:r>
            <a:endParaRPr lang="ar-SA" sz="2200" dirty="0"/>
          </a:p>
        </p:txBody>
      </p:sp>
      <p:sp>
        <p:nvSpPr>
          <p:cNvPr id="19" name="anim-g3-40"/>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بايثون وMediaPipe: ٤٧٨ نقطة على الوجه، وبؤبؤ يقود المجسّم</a:t>
            </a:r>
            <a:endParaRPr lang="ar-SA" sz="1900" dirty="0"/>
          </a:p>
        </p:txBody>
      </p:sp>
      <p:sp>
        <p:nvSpPr>
          <p:cNvPr id="20" name="anim-g4-41"/>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42"/>
          <p:cNvSpPr/>
          <p:nvPr/>
        </p:nvSpPr>
        <p:spPr>
          <a:xfrm>
            <a:off x="5117440" y="4393692"/>
            <a:ext cx="566928" cy="566928"/>
          </a:xfrm>
          <a:prstGeom prst="roundRect">
            <a:avLst>
              <a:gd name="adj" fmla="val 32258"/>
            </a:avLst>
          </a:prstGeom>
          <a:solidFill>
            <a:srgbClr val="F7E6BC"/>
          </a:solidFill>
          <a:ln/>
        </p:spPr>
      </p:sp>
      <p:sp>
        <p:nvSpPr>
          <p:cNvPr id="22" name="anim-g4-43"/>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44"/>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روبوتا السلامة</a:t>
            </a:r>
            <a:endParaRPr lang="ar-SA" sz="2200" dirty="0"/>
          </a:p>
        </p:txBody>
      </p:sp>
      <p:sp>
        <p:nvSpPr>
          <p:cNvPr id="24" name="anim-g4-45"/>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محطة غاز ولهب تكلّم روبوتين بـ ESP-NOW: الأول للأخطر، ويبلغ الثاني بالأقل خطورة</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user\projects\younes-training\turath\.pptx-cache\s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الدورة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الدورة</a:t>
            </a:r>
            <a:endParaRPr lang="ar-SA" sz="3800" dirty="0"/>
          </a:p>
        </p:txBody>
      </p:sp>
      <p:sp>
        <p:nvSpPr>
          <p:cNvPr id="5" name="anim-g1-46"/>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47"/>
          <p:cNvSpPr/>
          <p:nvPr/>
        </p:nvSpPr>
        <p:spPr>
          <a:xfrm>
            <a:off x="10587838" y="2011680"/>
            <a:ext cx="552298" cy="552298"/>
          </a:xfrm>
          <a:prstGeom prst="ellipse">
            <a:avLst/>
          </a:prstGeom>
          <a:solidFill>
            <a:srgbClr val="D9AE4B"/>
          </a:solidFill>
          <a:ln/>
        </p:spPr>
      </p:sp>
      <p:sp>
        <p:nvSpPr>
          <p:cNvPr id="7" name="anim-g1-48"/>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9"/>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تبني منصة دوارة دقيقة بمحرك خطوي ودرايفر A4988</a:t>
            </a:r>
            <a:endParaRPr lang="ar-SA" sz="2200" dirty="0"/>
          </a:p>
        </p:txBody>
      </p:sp>
      <p:sp>
        <p:nvSpPr>
          <p:cNvPr id="9" name="anim-g2-50"/>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51"/>
          <p:cNvSpPr/>
          <p:nvPr/>
        </p:nvSpPr>
        <p:spPr>
          <a:xfrm>
            <a:off x="10587838" y="2856586"/>
            <a:ext cx="552298" cy="552298"/>
          </a:xfrm>
          <a:prstGeom prst="ellipse">
            <a:avLst/>
          </a:prstGeom>
          <a:solidFill>
            <a:srgbClr val="D9AE4B"/>
          </a:solidFill>
          <a:ln/>
        </p:spPr>
      </p:sp>
      <p:sp>
        <p:nvSpPr>
          <p:cNvPr id="11" name="anim-g2-52"/>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3"/>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تجهّز راسبيري باي يعرض فيديو بلغة الإشارة وصوتًا لكل جهة</a:t>
            </a:r>
            <a:endParaRPr lang="ar-SA" sz="2200" dirty="0"/>
          </a:p>
        </p:txBody>
      </p:sp>
      <p:sp>
        <p:nvSpPr>
          <p:cNvPr id="13" name="anim-g3-54"/>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55"/>
          <p:cNvSpPr/>
          <p:nvPr/>
        </p:nvSpPr>
        <p:spPr>
          <a:xfrm>
            <a:off x="10587838" y="3701491"/>
            <a:ext cx="552298" cy="552298"/>
          </a:xfrm>
          <a:prstGeom prst="ellipse">
            <a:avLst/>
          </a:prstGeom>
          <a:solidFill>
            <a:srgbClr val="D9AE4B"/>
          </a:solidFill>
          <a:ln/>
        </p:spPr>
      </p:sp>
      <p:sp>
        <p:nvSpPr>
          <p:cNvPr id="15" name="anim-g3-56"/>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7"/>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تربط الأجهزة عبر الشبكة بـ UDP وESP-NOW بحارس أمان</a:t>
            </a:r>
            <a:endParaRPr lang="ar-SA" sz="2200" dirty="0"/>
          </a:p>
        </p:txBody>
      </p:sp>
      <p:sp>
        <p:nvSpPr>
          <p:cNvPr id="17" name="anim-g4-58"/>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59"/>
          <p:cNvSpPr/>
          <p:nvPr/>
        </p:nvSpPr>
        <p:spPr>
          <a:xfrm>
            <a:off x="10587838" y="4546397"/>
            <a:ext cx="552298" cy="552298"/>
          </a:xfrm>
          <a:prstGeom prst="ellipse">
            <a:avLst/>
          </a:prstGeom>
          <a:solidFill>
            <a:srgbClr val="D9AE4B"/>
          </a:solidFill>
          <a:ln/>
        </p:spPr>
      </p:sp>
      <p:sp>
        <p:nvSpPr>
          <p:cNvPr id="19" name="anim-g4-60"/>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61"/>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تتحكم بمجسم بحركة العين عبر الرؤية الحاسوبية</a:t>
            </a:r>
            <a:endParaRPr lang="ar-SA" sz="2200" dirty="0"/>
          </a:p>
        </p:txBody>
      </p:sp>
      <p:sp>
        <p:nvSpPr>
          <p:cNvPr id="21" name="anim-g5-62"/>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63"/>
          <p:cNvSpPr/>
          <p:nvPr/>
        </p:nvSpPr>
        <p:spPr>
          <a:xfrm>
            <a:off x="10587838" y="5391302"/>
            <a:ext cx="552298" cy="552298"/>
          </a:xfrm>
          <a:prstGeom prst="ellipse">
            <a:avLst/>
          </a:prstGeom>
          <a:solidFill>
            <a:srgbClr val="D9AE4B"/>
          </a:solidFill>
          <a:ln/>
        </p:spPr>
      </p:sp>
      <p:sp>
        <p:nvSpPr>
          <p:cNvPr id="23" name="anim-g5-64"/>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65"/>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تبني روبوت سلامة يقرر بنفسه أي الخطرين أعلى</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98568" y="1188720"/>
            <a:ext cx="219456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98568" y="118872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وعد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حين يرى زائر لا يحرك إلا عينيه قصر المصمك يدور أمامه ويُحكى له…</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يدرك طلابك أن التقنية رحمة قبل أن تكون أسلاكًا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الافتتاح  ·  ٩</a:t>
            </a:r>
            <a:endParaRPr lang="ar-SA"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المنظومة كاملة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قبل أن نلحم سلكًا… نرسم النظام كله</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المنظومة كاملة  ·  ١٠</a:t>
            </a:r>
            <a:endParaRPr lang="ar-SA"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6"/>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67"/>
          <p:cNvSpPr/>
          <p:nvPr/>
        </p:nvSpPr>
        <p:spPr>
          <a:xfrm>
            <a:off x="10573207" y="2286000"/>
            <a:ext cx="566928" cy="566928"/>
          </a:xfrm>
          <a:prstGeom prst="ellipse">
            <a:avLst/>
          </a:prstGeom>
          <a:solidFill>
            <a:srgbClr val="D9AE4B"/>
          </a:solidFill>
          <a:ln/>
        </p:spPr>
      </p:sp>
      <p:sp>
        <p:nvSpPr>
          <p:cNvPr id="7" name="anim-g1-68"/>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9"/>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دور كل جهاز في المنظومة</a:t>
            </a:r>
            <a:endParaRPr lang="ar-SA" sz="2400" dirty="0"/>
          </a:p>
        </p:txBody>
      </p:sp>
      <p:sp>
        <p:nvSpPr>
          <p:cNvPr id="9" name="anim-g2-70"/>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71"/>
          <p:cNvSpPr/>
          <p:nvPr/>
        </p:nvSpPr>
        <p:spPr>
          <a:xfrm>
            <a:off x="10573207" y="3694176"/>
            <a:ext cx="566928" cy="566928"/>
          </a:xfrm>
          <a:prstGeom prst="ellipse">
            <a:avLst/>
          </a:prstGeom>
          <a:solidFill>
            <a:srgbClr val="D9AE4B"/>
          </a:solidFill>
          <a:ln/>
        </p:spPr>
      </p:sp>
      <p:sp>
        <p:nvSpPr>
          <p:cNvPr id="11" name="anim-g2-72"/>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3"/>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تتبع رحلة نظرة واحدة من العين حتى المحرك</a:t>
            </a:r>
            <a:endParaRPr lang="ar-SA" sz="2400" dirty="0"/>
          </a:p>
        </p:txBody>
      </p:sp>
      <p:sp>
        <p:nvSpPr>
          <p:cNvPr id="13" name="anim-g3-74"/>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75"/>
          <p:cNvSpPr/>
          <p:nvPr/>
        </p:nvSpPr>
        <p:spPr>
          <a:xfrm>
            <a:off x="10573207" y="5102352"/>
            <a:ext cx="566928" cy="566928"/>
          </a:xfrm>
          <a:prstGeom prst="ellipse">
            <a:avLst/>
          </a:prstGeom>
          <a:solidFill>
            <a:srgbClr val="D9AE4B"/>
          </a:solidFill>
          <a:ln/>
        </p:spPr>
      </p:sp>
      <p:sp>
        <p:nvSpPr>
          <p:cNvPr id="15" name="anim-g3-76"/>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7"/>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تفسّر لماذا اختار الفريق التصميم الموزّع</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المنظومة كاملة  ·  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البحث قبل التصميم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درس الفريق قبل أن يبني؟</a:t>
            </a:r>
            <a:endParaRPr lang="ar-SA" sz="3800" dirty="0"/>
          </a:p>
        </p:txBody>
      </p:sp>
      <p:sp>
        <p:nvSpPr>
          <p:cNvPr id="5" name="anim-g1-78"/>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9"/>
          <p:cNvSpPr/>
          <p:nvPr/>
        </p:nvSpPr>
        <p:spPr>
          <a:xfrm>
            <a:off x="10527487" y="2267712"/>
            <a:ext cx="566928" cy="566928"/>
          </a:xfrm>
          <a:prstGeom prst="roundRect">
            <a:avLst>
              <a:gd name="adj" fmla="val 32258"/>
            </a:avLst>
          </a:prstGeom>
          <a:solidFill>
            <a:srgbClr val="F7E6BC"/>
          </a:solidFill>
          <a:ln/>
        </p:spPr>
      </p:sp>
      <p:sp>
        <p:nvSpPr>
          <p:cNvPr id="7" name="anim-g1-8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1"/>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إتاحة المتاحف عالميًا</a:t>
            </a:r>
            <a:endParaRPr lang="ar-SA" sz="2200" dirty="0"/>
          </a:p>
        </p:txBody>
      </p:sp>
      <p:sp>
        <p:nvSpPr>
          <p:cNvPr id="9" name="anim-g1-82"/>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ووجد أن الحلول التي تخدم أكثر من إعاقة في الوقت نفسه نادرة</a:t>
            </a:r>
            <a:endParaRPr lang="ar-SA" sz="1900" dirty="0"/>
          </a:p>
        </p:txBody>
      </p:sp>
      <p:sp>
        <p:nvSpPr>
          <p:cNvPr id="10" name="anim-g2-83"/>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4"/>
          <p:cNvSpPr/>
          <p:nvPr/>
        </p:nvSpPr>
        <p:spPr>
          <a:xfrm>
            <a:off x="5117440" y="2267712"/>
            <a:ext cx="566928" cy="566928"/>
          </a:xfrm>
          <a:prstGeom prst="roundRect">
            <a:avLst>
              <a:gd name="adj" fmla="val 32258"/>
            </a:avLst>
          </a:prstGeom>
          <a:solidFill>
            <a:srgbClr val="F7E6BC"/>
          </a:solidFill>
          <a:ln/>
        </p:spPr>
      </p:sp>
      <p:sp>
        <p:nvSpPr>
          <p:cNvPr id="12" name="anim-g2-85"/>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6"/>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تتبع الرأس والبؤبؤ</a:t>
            </a:r>
            <a:endParaRPr lang="ar-SA" sz="2200" dirty="0"/>
          </a:p>
        </p:txBody>
      </p:sp>
      <p:sp>
        <p:nvSpPr>
          <p:cNvPr id="14" name="anim-g2-87"/>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MediaPipe من Google بنموذج ٤٧٨ نقطة، بلا أجهزة استشعار غالية</a:t>
            </a:r>
            <a:endParaRPr lang="ar-SA" sz="1900" dirty="0"/>
          </a:p>
        </p:txBody>
      </p:sp>
      <p:sp>
        <p:nvSpPr>
          <p:cNvPr id="15" name="anim-g3-88"/>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9"/>
          <p:cNvSpPr/>
          <p:nvPr/>
        </p:nvSpPr>
        <p:spPr>
          <a:xfrm>
            <a:off x="10527487" y="4393692"/>
            <a:ext cx="566928" cy="566928"/>
          </a:xfrm>
          <a:prstGeom prst="roundRect">
            <a:avLst>
              <a:gd name="adj" fmla="val 32258"/>
            </a:avLst>
          </a:prstGeom>
          <a:solidFill>
            <a:srgbClr val="F7E6BC"/>
          </a:solidFill>
          <a:ln/>
        </p:spPr>
      </p:sp>
      <p:sp>
        <p:nvSpPr>
          <p:cNvPr id="17" name="anim-g3-90"/>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1"/>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المحركات الخطوية</a:t>
            </a:r>
            <a:endParaRPr lang="ar-SA" sz="2200" dirty="0"/>
          </a:p>
        </p:txBody>
      </p:sp>
      <p:sp>
        <p:nvSpPr>
          <p:cNvPr id="19" name="anim-g3-92"/>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ودرايفر A4988 لدوران بطيء متحكم به</a:t>
            </a:r>
            <a:endParaRPr lang="ar-SA" sz="1900" dirty="0"/>
          </a:p>
        </p:txBody>
      </p:sp>
      <p:sp>
        <p:nvSpPr>
          <p:cNvPr id="20" name="anim-g4-93"/>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94"/>
          <p:cNvSpPr/>
          <p:nvPr/>
        </p:nvSpPr>
        <p:spPr>
          <a:xfrm>
            <a:off x="5117440" y="4393692"/>
            <a:ext cx="566928" cy="566928"/>
          </a:xfrm>
          <a:prstGeom prst="roundRect">
            <a:avLst>
              <a:gd name="adj" fmla="val 32258"/>
            </a:avLst>
          </a:prstGeom>
          <a:solidFill>
            <a:srgbClr val="F7E6BC"/>
          </a:solidFill>
          <a:ln/>
        </p:spPr>
      </p:sp>
      <p:sp>
        <p:nvSpPr>
          <p:cNvPr id="22" name="anim-g4-95"/>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96"/>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مدرسة للصم</a:t>
            </a:r>
            <a:endParaRPr lang="ar-SA" sz="2200" dirty="0"/>
          </a:p>
        </p:txBody>
      </p:sp>
      <p:sp>
        <p:nvSpPr>
          <p:cNvPr id="24" name="anim-g4-97"/>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معلم لغة إشارة علّم الفريق وراجع كل جملة مسجلة</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المنظومة كاملة  ·  ١٢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user\projects\younes-training\turath\.pptx-cache\s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قرار هندسي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تصميم «موزّع» لا جهاز واحد يفعل كل شيء؟</a:t>
            </a:r>
            <a:endParaRPr lang="ar-SA" sz="3200" dirty="0"/>
          </a:p>
        </p:txBody>
      </p:sp>
      <p:sp>
        <p:nvSpPr>
          <p:cNvPr id="5" name="anim-g1-9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9"/>
          <p:cNvSpPr/>
          <p:nvPr/>
        </p:nvSpPr>
        <p:spPr>
          <a:xfrm>
            <a:off x="10527487" y="2267712"/>
            <a:ext cx="566928" cy="566928"/>
          </a:xfrm>
          <a:prstGeom prst="roundRect">
            <a:avLst>
              <a:gd name="adj" fmla="val 32258"/>
            </a:avLst>
          </a:prstGeom>
          <a:solidFill>
            <a:srgbClr val="F7E6BC"/>
          </a:solidFill>
          <a:ln/>
        </p:spPr>
      </p:sp>
      <p:sp>
        <p:nvSpPr>
          <p:cNvPr id="7" name="anim-g1-10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كل جهاز لمهمته</a:t>
            </a:r>
            <a:endParaRPr lang="ar-SA" sz="2200" dirty="0"/>
          </a:p>
        </p:txBody>
      </p:sp>
      <p:sp>
        <p:nvSpPr>
          <p:cNvPr id="9" name="anim-g1-10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الحركة، أو المحتوى، أو تتبع العين، فقط</a:t>
            </a:r>
            <a:endParaRPr lang="ar-SA" sz="1900" dirty="0"/>
          </a:p>
        </p:txBody>
      </p:sp>
      <p:sp>
        <p:nvSpPr>
          <p:cNvPr id="10" name="anim-g2-10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4"/>
          <p:cNvSpPr/>
          <p:nvPr/>
        </p:nvSpPr>
        <p:spPr>
          <a:xfrm>
            <a:off x="6920789" y="2267712"/>
            <a:ext cx="566928" cy="566928"/>
          </a:xfrm>
          <a:prstGeom prst="roundRect">
            <a:avLst>
              <a:gd name="adj" fmla="val 32258"/>
            </a:avLst>
          </a:prstGeom>
          <a:solidFill>
            <a:srgbClr val="F7E6BC"/>
          </a:solidFill>
          <a:ln/>
        </p:spPr>
      </p:sp>
      <p:sp>
        <p:nvSpPr>
          <p:cNvPr id="12" name="anim-g2-10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أسهل صيانة</a:t>
            </a:r>
            <a:endParaRPr lang="ar-SA" sz="2200" dirty="0"/>
          </a:p>
        </p:txBody>
      </p:sp>
      <p:sp>
        <p:nvSpPr>
          <p:cNvPr id="14" name="anim-g2-10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عطل في الفيديو لا يوقف المحرك، ونختبر كل جزء وحده</a:t>
            </a:r>
            <a:endParaRPr lang="ar-SA" sz="1900" dirty="0"/>
          </a:p>
        </p:txBody>
      </p:sp>
      <p:sp>
        <p:nvSpPr>
          <p:cNvPr id="15" name="anim-g3-10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9"/>
          <p:cNvSpPr/>
          <p:nvPr/>
        </p:nvSpPr>
        <p:spPr>
          <a:xfrm>
            <a:off x="3314090" y="2267712"/>
            <a:ext cx="566928" cy="566928"/>
          </a:xfrm>
          <a:prstGeom prst="roundRect">
            <a:avLst>
              <a:gd name="adj" fmla="val 32258"/>
            </a:avLst>
          </a:prstGeom>
          <a:solidFill>
            <a:srgbClr val="F7E6BC"/>
          </a:solidFill>
          <a:ln/>
        </p:spPr>
      </p:sp>
      <p:sp>
        <p:nvSpPr>
          <p:cNvPr id="17" name="anim-g3-11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أسهل توسعة</a:t>
            </a:r>
            <a:endParaRPr lang="ar-SA" sz="2200" dirty="0"/>
          </a:p>
        </p:txBody>
      </p:sp>
      <p:sp>
        <p:nvSpPr>
          <p:cNvPr id="19" name="anim-g3-11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نضيف كرسيًا أو روبوت سلامة دون أن نهدم ما بنيناه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المنظومة كاملة  ·  ١٤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قائمة القطع</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المشروع الرئيسي: المجسّم الدوّار</a:t>
            </a:r>
            <a:endParaRPr lang="ar-SA" sz="3800" dirty="0"/>
          </a:p>
        </p:txBody>
      </p:sp>
      <p:sp>
        <p:nvSpPr>
          <p:cNvPr id="5" name="Shape 3"/>
          <p:cNvSpPr/>
          <p:nvPr/>
        </p:nvSpPr>
        <p:spPr>
          <a:xfrm>
            <a:off x="8939013" y="1874520"/>
            <a:ext cx="2429722" cy="548640"/>
          </a:xfrm>
          <a:prstGeom prst="roundRect">
            <a:avLst>
              <a:gd name="adj" fmla="val 20000"/>
            </a:avLst>
          </a:prstGeom>
          <a:solidFill>
            <a:srgbClr val="101B45"/>
          </a:solidFill>
          <a:ln/>
        </p:spPr>
      </p:sp>
      <p:sp>
        <p:nvSpPr>
          <p:cNvPr id="6" name="Text 4"/>
          <p:cNvSpPr/>
          <p:nvPr/>
        </p:nvSpPr>
        <p:spPr>
          <a:xfrm>
            <a:off x="8939013" y="1874520"/>
            <a:ext cx="24297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الوحدة</a:t>
            </a:r>
            <a:endParaRPr lang="ar-SA" sz="1900" dirty="0"/>
          </a:p>
        </p:txBody>
      </p:sp>
      <p:sp>
        <p:nvSpPr>
          <p:cNvPr id="7" name="Shape 5"/>
          <p:cNvSpPr/>
          <p:nvPr/>
        </p:nvSpPr>
        <p:spPr>
          <a:xfrm>
            <a:off x="4577271" y="1874520"/>
            <a:ext cx="4252014" cy="548640"/>
          </a:xfrm>
          <a:prstGeom prst="roundRect">
            <a:avLst>
              <a:gd name="adj" fmla="val 20000"/>
            </a:avLst>
          </a:prstGeom>
          <a:solidFill>
            <a:srgbClr val="101B45"/>
          </a:solidFill>
          <a:ln/>
        </p:spPr>
      </p:sp>
      <p:sp>
        <p:nvSpPr>
          <p:cNvPr id="8" name="Text 6"/>
          <p:cNvSpPr/>
          <p:nvPr/>
        </p:nvSpPr>
        <p:spPr>
          <a:xfrm>
            <a:off x="4577271" y="1874520"/>
            <a:ext cx="425201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القطع</a:t>
            </a:r>
            <a:endParaRPr lang="ar-SA" sz="1900" dirty="0"/>
          </a:p>
        </p:txBody>
      </p:sp>
      <p:sp>
        <p:nvSpPr>
          <p:cNvPr id="9" name="Shape 7"/>
          <p:cNvSpPr/>
          <p:nvPr/>
        </p:nvSpPr>
        <p:spPr>
          <a:xfrm>
            <a:off x="822960" y="1874520"/>
            <a:ext cx="3644583" cy="548640"/>
          </a:xfrm>
          <a:prstGeom prst="roundRect">
            <a:avLst>
              <a:gd name="adj" fmla="val 20000"/>
            </a:avLst>
          </a:prstGeom>
          <a:solidFill>
            <a:srgbClr val="101B45"/>
          </a:solidFill>
          <a:ln/>
        </p:spPr>
      </p:sp>
      <p:sp>
        <p:nvSpPr>
          <p:cNvPr id="10" name="Text 8"/>
          <p:cNvSpPr/>
          <p:nvPr/>
        </p:nvSpPr>
        <p:spPr>
          <a:xfrm>
            <a:off x="822960" y="1874520"/>
            <a:ext cx="364458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الدور</a:t>
            </a:r>
            <a:endParaRPr lang="ar-SA" sz="1900" dirty="0"/>
          </a:p>
        </p:txBody>
      </p:sp>
      <p:sp>
        <p:nvSpPr>
          <p:cNvPr id="11" name="anim-g1-113"/>
          <p:cNvSpPr/>
          <p:nvPr/>
        </p:nvSpPr>
        <p:spPr>
          <a:xfrm>
            <a:off x="8939013" y="2514600"/>
            <a:ext cx="2429722" cy="616306"/>
          </a:xfrm>
          <a:prstGeom prst="roundRect">
            <a:avLst>
              <a:gd name="adj" fmla="val 17804"/>
            </a:avLst>
          </a:prstGeom>
          <a:solidFill>
            <a:srgbClr val="FBF3DF"/>
          </a:solidFill>
          <a:ln w="12700">
            <a:solidFill>
              <a:srgbClr val="EFDDAF"/>
            </a:solidFill>
            <a:prstDash val="solid"/>
          </a:ln>
        </p:spPr>
      </p:sp>
      <p:sp>
        <p:nvSpPr>
          <p:cNvPr id="12" name="anim-g1-114"/>
          <p:cNvSpPr/>
          <p:nvPr/>
        </p:nvSpPr>
        <p:spPr>
          <a:xfrm>
            <a:off x="9076173" y="2514600"/>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الحركة</a:t>
            </a:r>
            <a:endParaRPr lang="ar-SA" sz="2100" dirty="0"/>
          </a:p>
        </p:txBody>
      </p:sp>
      <p:sp>
        <p:nvSpPr>
          <p:cNvPr id="13" name="anim-g1-115"/>
          <p:cNvSpPr/>
          <p:nvPr/>
        </p:nvSpPr>
        <p:spPr>
          <a:xfrm>
            <a:off x="4577271" y="2514600"/>
            <a:ext cx="4252014" cy="616306"/>
          </a:xfrm>
          <a:prstGeom prst="roundRect">
            <a:avLst>
              <a:gd name="adj" fmla="val 17804"/>
            </a:avLst>
          </a:prstGeom>
          <a:solidFill>
            <a:srgbClr val="FFFFFF"/>
          </a:solidFill>
          <a:ln w="12700">
            <a:solidFill>
              <a:srgbClr val="E4DCC8"/>
            </a:solidFill>
            <a:prstDash val="solid"/>
          </a:ln>
        </p:spPr>
      </p:sp>
      <p:sp>
        <p:nvSpPr>
          <p:cNvPr id="14" name="anim-g1-116"/>
          <p:cNvSpPr/>
          <p:nvPr/>
        </p:nvSpPr>
        <p:spPr>
          <a:xfrm>
            <a:off x="4714431" y="2514600"/>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ESP32 · A4988 · NEMA17 · مصدر 12V</a:t>
            </a:r>
            <a:endParaRPr lang="ar-SA" sz="2100" dirty="0"/>
          </a:p>
        </p:txBody>
      </p:sp>
      <p:sp>
        <p:nvSpPr>
          <p:cNvPr id="15" name="anim-g1-117"/>
          <p:cNvSpPr/>
          <p:nvPr/>
        </p:nvSpPr>
        <p:spPr>
          <a:xfrm>
            <a:off x="822960" y="2514600"/>
            <a:ext cx="3644583" cy="616306"/>
          </a:xfrm>
          <a:prstGeom prst="roundRect">
            <a:avLst>
              <a:gd name="adj" fmla="val 17804"/>
            </a:avLst>
          </a:prstGeom>
          <a:solidFill>
            <a:srgbClr val="E6F4EC"/>
          </a:solidFill>
          <a:ln w="12700">
            <a:solidFill>
              <a:srgbClr val="CDE9D9"/>
            </a:solidFill>
            <a:prstDash val="solid"/>
          </a:ln>
        </p:spPr>
      </p:sp>
      <p:sp>
        <p:nvSpPr>
          <p:cNvPr id="16" name="anim-g1-118"/>
          <p:cNvSpPr/>
          <p:nvPr/>
        </p:nvSpPr>
        <p:spPr>
          <a:xfrm>
            <a:off x="960120" y="2514600"/>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تدوير المنصة بدقة وبطء</a:t>
            </a:r>
            <a:endParaRPr lang="ar-SA" sz="2100" dirty="0"/>
          </a:p>
        </p:txBody>
      </p:sp>
      <p:sp>
        <p:nvSpPr>
          <p:cNvPr id="17" name="anim-g2-119"/>
          <p:cNvSpPr/>
          <p:nvPr/>
        </p:nvSpPr>
        <p:spPr>
          <a:xfrm>
            <a:off x="8939013" y="3240634"/>
            <a:ext cx="2429722" cy="616306"/>
          </a:xfrm>
          <a:prstGeom prst="roundRect">
            <a:avLst>
              <a:gd name="adj" fmla="val 17804"/>
            </a:avLst>
          </a:prstGeom>
          <a:solidFill>
            <a:srgbClr val="FBF3DF"/>
          </a:solidFill>
          <a:ln w="12700">
            <a:solidFill>
              <a:srgbClr val="EFDDAF"/>
            </a:solidFill>
            <a:prstDash val="solid"/>
          </a:ln>
        </p:spPr>
      </p:sp>
      <p:sp>
        <p:nvSpPr>
          <p:cNvPr id="18" name="anim-g2-120"/>
          <p:cNvSpPr/>
          <p:nvPr/>
        </p:nvSpPr>
        <p:spPr>
          <a:xfrm>
            <a:off x="9076173" y="3240634"/>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الإضاءة</a:t>
            </a:r>
            <a:endParaRPr lang="ar-SA" sz="2100" dirty="0"/>
          </a:p>
        </p:txBody>
      </p:sp>
      <p:sp>
        <p:nvSpPr>
          <p:cNvPr id="19" name="anim-g2-121"/>
          <p:cNvSpPr/>
          <p:nvPr/>
        </p:nvSpPr>
        <p:spPr>
          <a:xfrm>
            <a:off x="4577271" y="3240634"/>
            <a:ext cx="4252014" cy="616306"/>
          </a:xfrm>
          <a:prstGeom prst="roundRect">
            <a:avLst>
              <a:gd name="adj" fmla="val 17804"/>
            </a:avLst>
          </a:prstGeom>
          <a:solidFill>
            <a:srgbClr val="FFFFFF"/>
          </a:solidFill>
          <a:ln w="12700">
            <a:solidFill>
              <a:srgbClr val="E4DCC8"/>
            </a:solidFill>
            <a:prstDash val="solid"/>
          </a:ln>
        </p:spPr>
      </p:sp>
      <p:sp>
        <p:nvSpPr>
          <p:cNvPr id="20" name="anim-g2-122"/>
          <p:cNvSpPr/>
          <p:nvPr/>
        </p:nvSpPr>
        <p:spPr>
          <a:xfrm>
            <a:off x="4714431" y="3240634"/>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شريط WS2812B على GPIO23</a:t>
            </a:r>
            <a:endParaRPr lang="ar-SA" sz="2100" dirty="0"/>
          </a:p>
        </p:txBody>
      </p:sp>
      <p:sp>
        <p:nvSpPr>
          <p:cNvPr id="21" name="anim-g2-123"/>
          <p:cNvSpPr/>
          <p:nvPr/>
        </p:nvSpPr>
        <p:spPr>
          <a:xfrm>
            <a:off x="822960" y="3240634"/>
            <a:ext cx="3644583" cy="616306"/>
          </a:xfrm>
          <a:prstGeom prst="roundRect">
            <a:avLst>
              <a:gd name="adj" fmla="val 17804"/>
            </a:avLst>
          </a:prstGeom>
          <a:solidFill>
            <a:srgbClr val="E6F4EC"/>
          </a:solidFill>
          <a:ln w="12700">
            <a:solidFill>
              <a:srgbClr val="CDE9D9"/>
            </a:solidFill>
            <a:prstDash val="solid"/>
          </a:ln>
        </p:spPr>
      </p:sp>
      <p:sp>
        <p:nvSpPr>
          <p:cNvPr id="22" name="anim-g2-124"/>
          <p:cNvSpPr/>
          <p:nvPr/>
        </p:nvSpPr>
        <p:spPr>
          <a:xfrm>
            <a:off x="960120" y="3240634"/>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لون لكل جهة وموجة أثناء الدوران</a:t>
            </a:r>
            <a:endParaRPr lang="ar-SA" sz="2100" dirty="0"/>
          </a:p>
        </p:txBody>
      </p:sp>
      <p:sp>
        <p:nvSpPr>
          <p:cNvPr id="23" name="anim-g3-125"/>
          <p:cNvSpPr/>
          <p:nvPr/>
        </p:nvSpPr>
        <p:spPr>
          <a:xfrm>
            <a:off x="8939013" y="3966667"/>
            <a:ext cx="2429722" cy="616306"/>
          </a:xfrm>
          <a:prstGeom prst="roundRect">
            <a:avLst>
              <a:gd name="adj" fmla="val 17804"/>
            </a:avLst>
          </a:prstGeom>
          <a:solidFill>
            <a:srgbClr val="FBF3DF"/>
          </a:solidFill>
          <a:ln w="12700">
            <a:solidFill>
              <a:srgbClr val="EFDDAF"/>
            </a:solidFill>
            <a:prstDash val="solid"/>
          </a:ln>
        </p:spPr>
      </p:sp>
      <p:sp>
        <p:nvSpPr>
          <p:cNvPr id="24" name="anim-g3-126"/>
          <p:cNvSpPr/>
          <p:nvPr/>
        </p:nvSpPr>
        <p:spPr>
          <a:xfrm>
            <a:off x="9076173" y="3966667"/>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العقل</a:t>
            </a:r>
            <a:endParaRPr lang="ar-SA" sz="2100" dirty="0"/>
          </a:p>
        </p:txBody>
      </p:sp>
      <p:sp>
        <p:nvSpPr>
          <p:cNvPr id="25" name="anim-g3-127"/>
          <p:cNvSpPr/>
          <p:nvPr/>
        </p:nvSpPr>
        <p:spPr>
          <a:xfrm>
            <a:off x="4577271" y="3966667"/>
            <a:ext cx="4252014" cy="616306"/>
          </a:xfrm>
          <a:prstGeom prst="roundRect">
            <a:avLst>
              <a:gd name="adj" fmla="val 17804"/>
            </a:avLst>
          </a:prstGeom>
          <a:solidFill>
            <a:srgbClr val="FFFFFF"/>
          </a:solidFill>
          <a:ln w="12700">
            <a:solidFill>
              <a:srgbClr val="E4DCC8"/>
            </a:solidFill>
            <a:prstDash val="solid"/>
          </a:ln>
        </p:spPr>
      </p:sp>
      <p:sp>
        <p:nvSpPr>
          <p:cNvPr id="26" name="anim-g3-128"/>
          <p:cNvSpPr/>
          <p:nvPr/>
        </p:nvSpPr>
        <p:spPr>
          <a:xfrm>
            <a:off x="4714431" y="3966667"/>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Raspberry Pi · شاشة · سماعة</a:t>
            </a:r>
            <a:endParaRPr lang="ar-SA" sz="2100" dirty="0"/>
          </a:p>
        </p:txBody>
      </p:sp>
      <p:sp>
        <p:nvSpPr>
          <p:cNvPr id="27" name="anim-g3-129"/>
          <p:cNvSpPr/>
          <p:nvPr/>
        </p:nvSpPr>
        <p:spPr>
          <a:xfrm>
            <a:off x="822960" y="3966667"/>
            <a:ext cx="3644583" cy="616306"/>
          </a:xfrm>
          <a:prstGeom prst="roundRect">
            <a:avLst>
              <a:gd name="adj" fmla="val 17804"/>
            </a:avLst>
          </a:prstGeom>
          <a:solidFill>
            <a:srgbClr val="E6F4EC"/>
          </a:solidFill>
          <a:ln w="12700">
            <a:solidFill>
              <a:srgbClr val="CDE9D9"/>
            </a:solidFill>
            <a:prstDash val="solid"/>
          </a:ln>
        </p:spPr>
      </p:sp>
      <p:sp>
        <p:nvSpPr>
          <p:cNvPr id="28" name="anim-g3-130"/>
          <p:cNvSpPr/>
          <p:nvPr/>
        </p:nvSpPr>
        <p:spPr>
          <a:xfrm>
            <a:off x="960120" y="3966667"/>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لغة الإشارة والصوت وتوجيه الأوامر</a:t>
            </a:r>
            <a:endParaRPr lang="ar-SA" sz="2100" dirty="0"/>
          </a:p>
        </p:txBody>
      </p:sp>
      <p:sp>
        <p:nvSpPr>
          <p:cNvPr id="29" name="anim-g4-131"/>
          <p:cNvSpPr/>
          <p:nvPr/>
        </p:nvSpPr>
        <p:spPr>
          <a:xfrm>
            <a:off x="8939013" y="4692701"/>
            <a:ext cx="2429722" cy="616306"/>
          </a:xfrm>
          <a:prstGeom prst="roundRect">
            <a:avLst>
              <a:gd name="adj" fmla="val 17804"/>
            </a:avLst>
          </a:prstGeom>
          <a:solidFill>
            <a:srgbClr val="FBF3DF"/>
          </a:solidFill>
          <a:ln w="12700">
            <a:solidFill>
              <a:srgbClr val="EFDDAF"/>
            </a:solidFill>
            <a:prstDash val="solid"/>
          </a:ln>
        </p:spPr>
      </p:sp>
      <p:sp>
        <p:nvSpPr>
          <p:cNvPr id="30" name="anim-g4-132"/>
          <p:cNvSpPr/>
          <p:nvPr/>
        </p:nvSpPr>
        <p:spPr>
          <a:xfrm>
            <a:off x="9076173" y="4692701"/>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العين</a:t>
            </a:r>
            <a:endParaRPr lang="ar-SA" sz="2100" dirty="0"/>
          </a:p>
        </p:txBody>
      </p:sp>
      <p:sp>
        <p:nvSpPr>
          <p:cNvPr id="31" name="anim-g4-133"/>
          <p:cNvSpPr/>
          <p:nvPr/>
        </p:nvSpPr>
        <p:spPr>
          <a:xfrm>
            <a:off x="4577271" y="4692701"/>
            <a:ext cx="4252014" cy="616306"/>
          </a:xfrm>
          <a:prstGeom prst="roundRect">
            <a:avLst>
              <a:gd name="adj" fmla="val 17804"/>
            </a:avLst>
          </a:prstGeom>
          <a:solidFill>
            <a:srgbClr val="FFFFFF"/>
          </a:solidFill>
          <a:ln w="12700">
            <a:solidFill>
              <a:srgbClr val="E4DCC8"/>
            </a:solidFill>
            <a:prstDash val="solid"/>
          </a:ln>
        </p:spPr>
      </p:sp>
      <p:sp>
        <p:nvSpPr>
          <p:cNvPr id="32" name="anim-g4-134"/>
          <p:cNvSpPr/>
          <p:nvPr/>
        </p:nvSpPr>
        <p:spPr>
          <a:xfrm>
            <a:off x="4714431" y="4692701"/>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كاميرا + حاسوب (بايثون)</a:t>
            </a:r>
            <a:endParaRPr lang="ar-SA" sz="2100" dirty="0"/>
          </a:p>
        </p:txBody>
      </p:sp>
      <p:sp>
        <p:nvSpPr>
          <p:cNvPr id="33" name="anim-g4-135"/>
          <p:cNvSpPr/>
          <p:nvPr/>
        </p:nvSpPr>
        <p:spPr>
          <a:xfrm>
            <a:off x="822960" y="4692701"/>
            <a:ext cx="3644583" cy="616306"/>
          </a:xfrm>
          <a:prstGeom prst="roundRect">
            <a:avLst>
              <a:gd name="adj" fmla="val 17804"/>
            </a:avLst>
          </a:prstGeom>
          <a:solidFill>
            <a:srgbClr val="E6F4EC"/>
          </a:solidFill>
          <a:ln w="12700">
            <a:solidFill>
              <a:srgbClr val="CDE9D9"/>
            </a:solidFill>
            <a:prstDash val="solid"/>
          </a:ln>
        </p:spPr>
      </p:sp>
      <p:sp>
        <p:nvSpPr>
          <p:cNvPr id="34" name="anim-g4-136"/>
          <p:cNvSpPr/>
          <p:nvPr/>
        </p:nvSpPr>
        <p:spPr>
          <a:xfrm>
            <a:off x="960120" y="4692701"/>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تحويل النظرة إلى أمر</a:t>
            </a:r>
            <a:endParaRPr lang="ar-SA" sz="2100" dirty="0"/>
          </a:p>
        </p:txBody>
      </p:sp>
      <p:sp>
        <p:nvSpPr>
          <p:cNvPr id="35" name="anim-g5-137"/>
          <p:cNvSpPr/>
          <p:nvPr/>
        </p:nvSpPr>
        <p:spPr>
          <a:xfrm>
            <a:off x="8939013" y="5418734"/>
            <a:ext cx="2429722" cy="616306"/>
          </a:xfrm>
          <a:prstGeom prst="roundRect">
            <a:avLst>
              <a:gd name="adj" fmla="val 17804"/>
            </a:avLst>
          </a:prstGeom>
          <a:solidFill>
            <a:srgbClr val="FBF3DF"/>
          </a:solidFill>
          <a:ln w="12700">
            <a:solidFill>
              <a:srgbClr val="EFDDAF"/>
            </a:solidFill>
            <a:prstDash val="solid"/>
          </a:ln>
        </p:spPr>
      </p:sp>
      <p:sp>
        <p:nvSpPr>
          <p:cNvPr id="36" name="anim-g5-138"/>
          <p:cNvSpPr/>
          <p:nvPr/>
        </p:nvSpPr>
        <p:spPr>
          <a:xfrm>
            <a:off x="9076173" y="5418734"/>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الكرسي</a:t>
            </a:r>
            <a:endParaRPr lang="ar-SA" sz="2100" dirty="0"/>
          </a:p>
        </p:txBody>
      </p:sp>
      <p:sp>
        <p:nvSpPr>
          <p:cNvPr id="37" name="anim-g5-139"/>
          <p:cNvSpPr/>
          <p:nvPr/>
        </p:nvSpPr>
        <p:spPr>
          <a:xfrm>
            <a:off x="4577271" y="5418734"/>
            <a:ext cx="4252014" cy="616306"/>
          </a:xfrm>
          <a:prstGeom prst="roundRect">
            <a:avLst>
              <a:gd name="adj" fmla="val 17804"/>
            </a:avLst>
          </a:prstGeom>
          <a:solidFill>
            <a:srgbClr val="FFFFFF"/>
          </a:solidFill>
          <a:ln w="12700">
            <a:solidFill>
              <a:srgbClr val="E4DCC8"/>
            </a:solidFill>
            <a:prstDash val="solid"/>
          </a:ln>
        </p:spPr>
      </p:sp>
      <p:sp>
        <p:nvSpPr>
          <p:cNvPr id="38" name="anim-g5-140"/>
          <p:cNvSpPr/>
          <p:nvPr/>
        </p:nvSpPr>
        <p:spPr>
          <a:xfrm>
            <a:off x="4714431" y="5418734"/>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LEGO SPIKE Prime</a:t>
            </a:r>
            <a:endParaRPr lang="ar-SA" sz="2100" dirty="0"/>
          </a:p>
        </p:txBody>
      </p:sp>
      <p:sp>
        <p:nvSpPr>
          <p:cNvPr id="39" name="anim-g5-141"/>
          <p:cNvSpPr/>
          <p:nvPr/>
        </p:nvSpPr>
        <p:spPr>
          <a:xfrm>
            <a:off x="822960" y="5418734"/>
            <a:ext cx="3644583" cy="616306"/>
          </a:xfrm>
          <a:prstGeom prst="roundRect">
            <a:avLst>
              <a:gd name="adj" fmla="val 17804"/>
            </a:avLst>
          </a:prstGeom>
          <a:solidFill>
            <a:srgbClr val="E6F4EC"/>
          </a:solidFill>
          <a:ln w="12700">
            <a:solidFill>
              <a:srgbClr val="CDE9D9"/>
            </a:solidFill>
            <a:prstDash val="solid"/>
          </a:ln>
        </p:spPr>
      </p:sp>
      <p:sp>
        <p:nvSpPr>
          <p:cNvPr id="40" name="anim-g5-142"/>
          <p:cNvSpPr/>
          <p:nvPr/>
        </p:nvSpPr>
        <p:spPr>
          <a:xfrm>
            <a:off x="960120" y="5418734"/>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تقريب الزائر من المجسّم</a:t>
            </a:r>
            <a:endParaRPr lang="ar-SA" sz="21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المنظومة كاملة  ·  ١٥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0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00"/>
                                        <p:tgtEl>
                                          <p:spTgt spid="3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400"/>
                                        <p:tgtEl>
                                          <p:spTgt spid="3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40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00"/>
                                        <p:tgtEl>
                                          <p:spTgt spid="3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لا يشغّل ESP32 الفيديو بنفسه؟</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لأنه لا يتصل بالشبكة</a:t>
            </a:r>
            <a:endParaRPr lang="ar-SA" sz="2500" dirty="0"/>
          </a:p>
        </p:txBody>
      </p:sp>
      <p:sp>
        <p:nvSpPr>
          <p:cNvPr id="9" name="anim-g1-143"/>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44"/>
          <p:cNvSpPr/>
          <p:nvPr/>
        </p:nvSpPr>
        <p:spPr>
          <a:xfrm>
            <a:off x="10231831" y="2194560"/>
            <a:ext cx="954024" cy="954024"/>
          </a:xfrm>
          <a:prstGeom prst="roundRect">
            <a:avLst>
              <a:gd name="adj" fmla="val 11502"/>
            </a:avLst>
          </a:prstGeom>
          <a:solidFill>
            <a:srgbClr val="A3A9BA"/>
          </a:solidFill>
          <a:ln/>
        </p:spPr>
      </p:sp>
      <p:sp>
        <p:nvSpPr>
          <p:cNvPr id="11" name="anim-g1-14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46"/>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لأنه لا يتصل بالشبكة</a:t>
            </a:r>
            <a:endParaRPr lang="ar-SA" sz="2400" dirty="0"/>
          </a:p>
        </p:txBody>
      </p:sp>
      <p:sp>
        <p:nvSpPr>
          <p:cNvPr id="13" name="anim-g1-147"/>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بل يتصل بالواي فاي جيدًا</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لأنه متحكم صغير لا يشغّل فيديو عالي الدقة، فهذه مهمة حاسوب كالراسبيري</a:t>
            </a:r>
            <a:endParaRPr lang="ar-SA" sz="2500" dirty="0"/>
          </a:p>
        </p:txBody>
      </p:sp>
      <p:sp>
        <p:nvSpPr>
          <p:cNvPr id="18" name="anim-g1-148"/>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49"/>
          <p:cNvSpPr/>
          <p:nvPr/>
        </p:nvSpPr>
        <p:spPr>
          <a:xfrm>
            <a:off x="10231831" y="3569208"/>
            <a:ext cx="954024" cy="954024"/>
          </a:xfrm>
          <a:prstGeom prst="roundRect">
            <a:avLst>
              <a:gd name="adj" fmla="val 11502"/>
            </a:avLst>
          </a:prstGeom>
          <a:solidFill>
            <a:srgbClr val="2E9E6B"/>
          </a:solidFill>
          <a:ln/>
        </p:spPr>
      </p:sp>
      <p:sp>
        <p:nvSpPr>
          <p:cNvPr id="20" name="anim-g1-150"/>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51"/>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لأنه متحكم صغير لا يشغّل فيديو عالي الدقة، فهذه مهمة حاسوب كالراسبيري</a:t>
            </a:r>
            <a:endParaRPr lang="ar-SA" sz="2400" dirty="0"/>
          </a:p>
        </p:txBody>
      </p:sp>
      <p:sp>
        <p:nvSpPr>
          <p:cNvPr id="22" name="anim-g1-152"/>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المتحكم للحساسات والمحركات، والحاسوب للفيديو والصوت</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الفيديو ممنوع في المسابقة</a:t>
            </a:r>
            <a:endParaRPr lang="ar-SA" sz="2500" dirty="0"/>
          </a:p>
        </p:txBody>
      </p:sp>
      <p:sp>
        <p:nvSpPr>
          <p:cNvPr id="27" name="anim-g1-153"/>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54"/>
          <p:cNvSpPr/>
          <p:nvPr/>
        </p:nvSpPr>
        <p:spPr>
          <a:xfrm>
            <a:off x="10231831" y="4943856"/>
            <a:ext cx="954024" cy="954024"/>
          </a:xfrm>
          <a:prstGeom prst="roundRect">
            <a:avLst>
              <a:gd name="adj" fmla="val 11502"/>
            </a:avLst>
          </a:prstGeom>
          <a:solidFill>
            <a:srgbClr val="A3A9BA"/>
          </a:solidFill>
          <a:ln/>
        </p:spPr>
      </p:sp>
      <p:sp>
        <p:nvSpPr>
          <p:cNvPr id="29" name="anim-g1-155"/>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56"/>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 الفيديو ممنوع في المسابقة</a:t>
            </a:r>
            <a:endParaRPr lang="ar-SA" sz="2400" dirty="0"/>
          </a:p>
        </p:txBody>
      </p:sp>
      <p:sp>
        <p:nvSpPr>
          <p:cNvPr id="31" name="anim-g1-157"/>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لا يوجد منع كهذا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المنظومة كاملة  ·  ١٦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عين ترى، وعقل يوجّه، ويد تدير، وضوء يرشد: أربعة أجهزة…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وتجربة واحدة لكل زائر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المنظومة كاملة  ·  ١٧</a:t>
            </a:r>
            <a:endParaRPr lang="ar-SA"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ESP32: دماغ المشروع</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أردوينو… لكن بلاسلكي وقوة أكبر</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ESP32  ·  ١٨</a:t>
            </a:r>
            <a:endParaRPr lang="ar-SA"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158"/>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159"/>
          <p:cNvSpPr/>
          <p:nvPr/>
        </p:nvSpPr>
        <p:spPr>
          <a:xfrm>
            <a:off x="10573207" y="2286000"/>
            <a:ext cx="566928" cy="566928"/>
          </a:xfrm>
          <a:prstGeom prst="ellipse">
            <a:avLst/>
          </a:prstGeom>
          <a:solidFill>
            <a:srgbClr val="D9AE4B"/>
          </a:solidFill>
          <a:ln/>
        </p:spPr>
      </p:sp>
      <p:sp>
        <p:nvSpPr>
          <p:cNvPr id="7" name="anim-g1-160"/>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61"/>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تفرّق بين ESP32 والأردوينو أونو</a:t>
            </a:r>
            <a:endParaRPr lang="ar-SA" sz="2400" dirty="0"/>
          </a:p>
        </p:txBody>
      </p:sp>
      <p:sp>
        <p:nvSpPr>
          <p:cNvPr id="9" name="anim-g2-162"/>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163"/>
          <p:cNvSpPr/>
          <p:nvPr/>
        </p:nvSpPr>
        <p:spPr>
          <a:xfrm>
            <a:off x="10573207" y="3694176"/>
            <a:ext cx="566928" cy="566928"/>
          </a:xfrm>
          <a:prstGeom prst="ellipse">
            <a:avLst/>
          </a:prstGeom>
          <a:solidFill>
            <a:srgbClr val="D9AE4B"/>
          </a:solidFill>
          <a:ln/>
        </p:spPr>
      </p:sp>
      <p:sp>
        <p:nvSpPr>
          <p:cNvPr id="11" name="anim-g2-164"/>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65"/>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تعرف الأطراف الممنوعة والأطراف «مدخل فقط»</a:t>
            </a:r>
            <a:endParaRPr lang="ar-SA" sz="2400" dirty="0"/>
          </a:p>
        </p:txBody>
      </p:sp>
      <p:sp>
        <p:nvSpPr>
          <p:cNvPr id="13" name="anim-g3-166"/>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167"/>
          <p:cNvSpPr/>
          <p:nvPr/>
        </p:nvSpPr>
        <p:spPr>
          <a:xfrm>
            <a:off x="10573207" y="5102352"/>
            <a:ext cx="566928" cy="566928"/>
          </a:xfrm>
          <a:prstGeom prst="ellipse">
            <a:avLst/>
          </a:prstGeom>
          <a:solidFill>
            <a:srgbClr val="D9AE4B"/>
          </a:solidFill>
          <a:ln/>
        </p:spPr>
      </p:sp>
      <p:sp>
        <p:nvSpPr>
          <p:cNvPr id="15" name="anim-g3-168"/>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69"/>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تجهّز Arduino IDE وترفع أول كود</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ESP32  ·  ١٩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مقارنة سريعة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أونو أم ESP32؟</a:t>
            </a:r>
            <a:endParaRPr lang="ar-SA" sz="3800" dirty="0"/>
          </a:p>
        </p:txBody>
      </p:sp>
      <p:sp>
        <p:nvSpPr>
          <p:cNvPr id="5" name="Shape 3"/>
          <p:cNvSpPr/>
          <p:nvPr/>
        </p:nvSpPr>
        <p:spPr>
          <a:xfrm>
            <a:off x="8615050" y="1874520"/>
            <a:ext cx="2753685" cy="548640"/>
          </a:xfrm>
          <a:prstGeom prst="roundRect">
            <a:avLst>
              <a:gd name="adj" fmla="val 20000"/>
            </a:avLst>
          </a:prstGeom>
          <a:solidFill>
            <a:srgbClr val="101B45"/>
          </a:solidFill>
          <a:ln/>
        </p:spPr>
      </p:sp>
      <p:sp>
        <p:nvSpPr>
          <p:cNvPr id="6" name="Text 4"/>
          <p:cNvSpPr/>
          <p:nvPr/>
        </p:nvSpPr>
        <p:spPr>
          <a:xfrm>
            <a:off x="8615050" y="1874520"/>
            <a:ext cx="2753685" cy="548640"/>
          </a:xfrm>
          <a:prstGeom prst="rect">
            <a:avLst/>
          </a:prstGeom>
          <a:noFill/>
          <a:ln/>
        </p:spPr>
        <p:txBody>
          <a:bodyPr wrap="square" lIns="0" tIns="0" rIns="0" bIns="0" rtlCol="0" anchor="ctr">
            <a:normAutofit/>
          </a:bodyPr>
          <a:lstStyle/>
          <a:p>
            <a:pPr rtl="1" algn="ctr" indent="0" marL="0">
              <a:buNone/>
            </a:pPr>
            <a:endParaRPr lang="ar-SA" sz="1900" dirty="0"/>
          </a:p>
        </p:txBody>
      </p:sp>
      <p:sp>
        <p:nvSpPr>
          <p:cNvPr id="7" name="Shape 5"/>
          <p:cNvSpPr/>
          <p:nvPr/>
        </p:nvSpPr>
        <p:spPr>
          <a:xfrm>
            <a:off x="5063216" y="1874520"/>
            <a:ext cx="3442106" cy="548640"/>
          </a:xfrm>
          <a:prstGeom prst="roundRect">
            <a:avLst>
              <a:gd name="adj" fmla="val 20000"/>
            </a:avLst>
          </a:prstGeom>
          <a:solidFill>
            <a:srgbClr val="101B45"/>
          </a:solidFill>
          <a:ln/>
        </p:spPr>
      </p:sp>
      <p:sp>
        <p:nvSpPr>
          <p:cNvPr id="8" name="Text 6"/>
          <p:cNvSpPr/>
          <p:nvPr/>
        </p:nvSpPr>
        <p:spPr>
          <a:xfrm>
            <a:off x="5063216" y="1874520"/>
            <a:ext cx="3442106"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Arduino Uno</a:t>
            </a:r>
            <a:endParaRPr lang="ar-SA" sz="1900" dirty="0"/>
          </a:p>
        </p:txBody>
      </p:sp>
      <p:sp>
        <p:nvSpPr>
          <p:cNvPr id="9" name="Shape 7"/>
          <p:cNvSpPr/>
          <p:nvPr/>
        </p:nvSpPr>
        <p:spPr>
          <a:xfrm>
            <a:off x="822960" y="1874520"/>
            <a:ext cx="4130528" cy="548640"/>
          </a:xfrm>
          <a:prstGeom prst="roundRect">
            <a:avLst>
              <a:gd name="adj" fmla="val 20000"/>
            </a:avLst>
          </a:prstGeom>
          <a:solidFill>
            <a:srgbClr val="101B45"/>
          </a:solidFill>
          <a:ln/>
        </p:spPr>
      </p:sp>
      <p:sp>
        <p:nvSpPr>
          <p:cNvPr id="10" name="Text 8"/>
          <p:cNvSpPr/>
          <p:nvPr/>
        </p:nvSpPr>
        <p:spPr>
          <a:xfrm>
            <a:off x="822960" y="1874520"/>
            <a:ext cx="413052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ESP32 DevKit V1</a:t>
            </a:r>
            <a:endParaRPr lang="ar-SA" sz="1900" dirty="0"/>
          </a:p>
        </p:txBody>
      </p:sp>
      <p:sp>
        <p:nvSpPr>
          <p:cNvPr id="11" name="anim-g1-170"/>
          <p:cNvSpPr/>
          <p:nvPr/>
        </p:nvSpPr>
        <p:spPr>
          <a:xfrm>
            <a:off x="8615050" y="2514600"/>
            <a:ext cx="2753685" cy="797814"/>
          </a:xfrm>
          <a:prstGeom prst="roundRect">
            <a:avLst>
              <a:gd name="adj" fmla="val 13754"/>
            </a:avLst>
          </a:prstGeom>
          <a:solidFill>
            <a:srgbClr val="FBF3DF"/>
          </a:solidFill>
          <a:ln w="12700">
            <a:solidFill>
              <a:srgbClr val="EFDDAF"/>
            </a:solidFill>
            <a:prstDash val="solid"/>
          </a:ln>
        </p:spPr>
      </p:sp>
      <p:sp>
        <p:nvSpPr>
          <p:cNvPr id="12" name="anim-g1-171"/>
          <p:cNvSpPr/>
          <p:nvPr/>
        </p:nvSpPr>
        <p:spPr>
          <a:xfrm>
            <a:off x="8752210" y="2514600"/>
            <a:ext cx="247936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جهد المنطق</a:t>
            </a:r>
            <a:endParaRPr lang="ar-SA" sz="2100" dirty="0"/>
          </a:p>
        </p:txBody>
      </p:sp>
      <p:sp>
        <p:nvSpPr>
          <p:cNvPr id="13" name="anim-g1-172"/>
          <p:cNvSpPr/>
          <p:nvPr/>
        </p:nvSpPr>
        <p:spPr>
          <a:xfrm>
            <a:off x="5063216" y="2514600"/>
            <a:ext cx="3442106" cy="797814"/>
          </a:xfrm>
          <a:prstGeom prst="roundRect">
            <a:avLst>
              <a:gd name="adj" fmla="val 13754"/>
            </a:avLst>
          </a:prstGeom>
          <a:solidFill>
            <a:srgbClr val="FFFFFF"/>
          </a:solidFill>
          <a:ln w="12700">
            <a:solidFill>
              <a:srgbClr val="E4DCC8"/>
            </a:solidFill>
            <a:prstDash val="solid"/>
          </a:ln>
        </p:spPr>
      </p:sp>
      <p:sp>
        <p:nvSpPr>
          <p:cNvPr id="14" name="anim-g1-173"/>
          <p:cNvSpPr/>
          <p:nvPr/>
        </p:nvSpPr>
        <p:spPr>
          <a:xfrm>
            <a:off x="5200376" y="2514600"/>
            <a:ext cx="3167786"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٥ فولت</a:t>
            </a:r>
            <a:endParaRPr lang="ar-SA" sz="2100" dirty="0"/>
          </a:p>
        </p:txBody>
      </p:sp>
      <p:sp>
        <p:nvSpPr>
          <p:cNvPr id="15" name="anim-g1-174"/>
          <p:cNvSpPr/>
          <p:nvPr/>
        </p:nvSpPr>
        <p:spPr>
          <a:xfrm>
            <a:off x="822960" y="2514600"/>
            <a:ext cx="4130528" cy="797814"/>
          </a:xfrm>
          <a:prstGeom prst="roundRect">
            <a:avLst>
              <a:gd name="adj" fmla="val 13754"/>
            </a:avLst>
          </a:prstGeom>
          <a:solidFill>
            <a:srgbClr val="E6F4EC"/>
          </a:solidFill>
          <a:ln w="12700">
            <a:solidFill>
              <a:srgbClr val="CDE9D9"/>
            </a:solidFill>
            <a:prstDash val="solid"/>
          </a:ln>
        </p:spPr>
      </p:sp>
      <p:sp>
        <p:nvSpPr>
          <p:cNvPr id="16" name="anim-g1-175"/>
          <p:cNvSpPr/>
          <p:nvPr/>
        </p:nvSpPr>
        <p:spPr>
          <a:xfrm>
            <a:off x="960120" y="2514600"/>
            <a:ext cx="3856208"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٣٫٣ فولت</a:t>
            </a:r>
            <a:endParaRPr lang="ar-SA" sz="2100" dirty="0"/>
          </a:p>
        </p:txBody>
      </p:sp>
      <p:sp>
        <p:nvSpPr>
          <p:cNvPr id="17" name="anim-g2-176"/>
          <p:cNvSpPr/>
          <p:nvPr/>
        </p:nvSpPr>
        <p:spPr>
          <a:xfrm>
            <a:off x="8615050" y="3422142"/>
            <a:ext cx="2753685" cy="797814"/>
          </a:xfrm>
          <a:prstGeom prst="roundRect">
            <a:avLst>
              <a:gd name="adj" fmla="val 13754"/>
            </a:avLst>
          </a:prstGeom>
          <a:solidFill>
            <a:srgbClr val="FBF3DF"/>
          </a:solidFill>
          <a:ln w="12700">
            <a:solidFill>
              <a:srgbClr val="EFDDAF"/>
            </a:solidFill>
            <a:prstDash val="solid"/>
          </a:ln>
        </p:spPr>
      </p:sp>
      <p:sp>
        <p:nvSpPr>
          <p:cNvPr id="18" name="anim-g2-177"/>
          <p:cNvSpPr/>
          <p:nvPr/>
        </p:nvSpPr>
        <p:spPr>
          <a:xfrm>
            <a:off x="8752210" y="3422142"/>
            <a:ext cx="247936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السرعة</a:t>
            </a:r>
            <a:endParaRPr lang="ar-SA" sz="2100" dirty="0"/>
          </a:p>
        </p:txBody>
      </p:sp>
      <p:sp>
        <p:nvSpPr>
          <p:cNvPr id="19" name="anim-g2-178"/>
          <p:cNvSpPr/>
          <p:nvPr/>
        </p:nvSpPr>
        <p:spPr>
          <a:xfrm>
            <a:off x="5063216" y="3422142"/>
            <a:ext cx="3442106" cy="797814"/>
          </a:xfrm>
          <a:prstGeom prst="roundRect">
            <a:avLst>
              <a:gd name="adj" fmla="val 13754"/>
            </a:avLst>
          </a:prstGeom>
          <a:solidFill>
            <a:srgbClr val="FFFFFF"/>
          </a:solidFill>
          <a:ln w="12700">
            <a:solidFill>
              <a:srgbClr val="E4DCC8"/>
            </a:solidFill>
            <a:prstDash val="solid"/>
          </a:ln>
        </p:spPr>
      </p:sp>
      <p:sp>
        <p:nvSpPr>
          <p:cNvPr id="20" name="anim-g2-179"/>
          <p:cNvSpPr/>
          <p:nvPr/>
        </p:nvSpPr>
        <p:spPr>
          <a:xfrm>
            <a:off x="5200376" y="3422142"/>
            <a:ext cx="3167786"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١٦ ميجاهرتز</a:t>
            </a:r>
            <a:endParaRPr lang="ar-SA" sz="2100" dirty="0"/>
          </a:p>
        </p:txBody>
      </p:sp>
      <p:sp>
        <p:nvSpPr>
          <p:cNvPr id="21" name="anim-g2-180"/>
          <p:cNvSpPr/>
          <p:nvPr/>
        </p:nvSpPr>
        <p:spPr>
          <a:xfrm>
            <a:off x="822960" y="3422142"/>
            <a:ext cx="4130528" cy="797814"/>
          </a:xfrm>
          <a:prstGeom prst="roundRect">
            <a:avLst>
              <a:gd name="adj" fmla="val 13754"/>
            </a:avLst>
          </a:prstGeom>
          <a:solidFill>
            <a:srgbClr val="E6F4EC"/>
          </a:solidFill>
          <a:ln w="12700">
            <a:solidFill>
              <a:srgbClr val="CDE9D9"/>
            </a:solidFill>
            <a:prstDash val="solid"/>
          </a:ln>
        </p:spPr>
      </p:sp>
      <p:sp>
        <p:nvSpPr>
          <p:cNvPr id="22" name="anim-g2-181"/>
          <p:cNvSpPr/>
          <p:nvPr/>
        </p:nvSpPr>
        <p:spPr>
          <a:xfrm>
            <a:off x="960120" y="3422142"/>
            <a:ext cx="3856208"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٢٤٠ ميجاهرتز · نواتان</a:t>
            </a:r>
            <a:endParaRPr lang="ar-SA" sz="2100" dirty="0"/>
          </a:p>
        </p:txBody>
      </p:sp>
      <p:sp>
        <p:nvSpPr>
          <p:cNvPr id="23" name="anim-g3-182"/>
          <p:cNvSpPr/>
          <p:nvPr/>
        </p:nvSpPr>
        <p:spPr>
          <a:xfrm>
            <a:off x="8615050" y="4329684"/>
            <a:ext cx="2753685" cy="797814"/>
          </a:xfrm>
          <a:prstGeom prst="roundRect">
            <a:avLst>
              <a:gd name="adj" fmla="val 13754"/>
            </a:avLst>
          </a:prstGeom>
          <a:solidFill>
            <a:srgbClr val="FBF3DF"/>
          </a:solidFill>
          <a:ln w="12700">
            <a:solidFill>
              <a:srgbClr val="EFDDAF"/>
            </a:solidFill>
            <a:prstDash val="solid"/>
          </a:ln>
        </p:spPr>
      </p:sp>
      <p:sp>
        <p:nvSpPr>
          <p:cNvPr id="24" name="anim-g3-183"/>
          <p:cNvSpPr/>
          <p:nvPr/>
        </p:nvSpPr>
        <p:spPr>
          <a:xfrm>
            <a:off x="8752210" y="4329684"/>
            <a:ext cx="247936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القراءة التماثلية</a:t>
            </a:r>
            <a:endParaRPr lang="ar-SA" sz="2100" dirty="0"/>
          </a:p>
        </p:txBody>
      </p:sp>
      <p:sp>
        <p:nvSpPr>
          <p:cNvPr id="25" name="anim-g3-184"/>
          <p:cNvSpPr/>
          <p:nvPr/>
        </p:nvSpPr>
        <p:spPr>
          <a:xfrm>
            <a:off x="5063216" y="4329684"/>
            <a:ext cx="3442106" cy="797814"/>
          </a:xfrm>
          <a:prstGeom prst="roundRect">
            <a:avLst>
              <a:gd name="adj" fmla="val 13754"/>
            </a:avLst>
          </a:prstGeom>
          <a:solidFill>
            <a:srgbClr val="FFFFFF"/>
          </a:solidFill>
          <a:ln w="12700">
            <a:solidFill>
              <a:srgbClr val="E4DCC8"/>
            </a:solidFill>
            <a:prstDash val="solid"/>
          </a:ln>
        </p:spPr>
      </p:sp>
      <p:sp>
        <p:nvSpPr>
          <p:cNvPr id="26" name="anim-g3-185"/>
          <p:cNvSpPr/>
          <p:nvPr/>
        </p:nvSpPr>
        <p:spPr>
          <a:xfrm>
            <a:off x="5200376" y="4329684"/>
            <a:ext cx="3167786"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٠–١٠٢٣ (١٠ بت)</a:t>
            </a:r>
            <a:endParaRPr lang="ar-SA" sz="2100" dirty="0"/>
          </a:p>
        </p:txBody>
      </p:sp>
      <p:sp>
        <p:nvSpPr>
          <p:cNvPr id="27" name="anim-g3-186"/>
          <p:cNvSpPr/>
          <p:nvPr/>
        </p:nvSpPr>
        <p:spPr>
          <a:xfrm>
            <a:off x="822960" y="4329684"/>
            <a:ext cx="4130528" cy="797814"/>
          </a:xfrm>
          <a:prstGeom prst="roundRect">
            <a:avLst>
              <a:gd name="adj" fmla="val 13754"/>
            </a:avLst>
          </a:prstGeom>
          <a:solidFill>
            <a:srgbClr val="E6F4EC"/>
          </a:solidFill>
          <a:ln w="12700">
            <a:solidFill>
              <a:srgbClr val="CDE9D9"/>
            </a:solidFill>
            <a:prstDash val="solid"/>
          </a:ln>
        </p:spPr>
      </p:sp>
      <p:sp>
        <p:nvSpPr>
          <p:cNvPr id="28" name="anim-g3-187"/>
          <p:cNvSpPr/>
          <p:nvPr/>
        </p:nvSpPr>
        <p:spPr>
          <a:xfrm>
            <a:off x="960120" y="4329684"/>
            <a:ext cx="3856208"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٠–٤٠٩٥ (١٢ بت)</a:t>
            </a:r>
            <a:endParaRPr lang="ar-SA" sz="2100" dirty="0"/>
          </a:p>
        </p:txBody>
      </p:sp>
      <p:sp>
        <p:nvSpPr>
          <p:cNvPr id="29" name="anim-g4-188"/>
          <p:cNvSpPr/>
          <p:nvPr/>
        </p:nvSpPr>
        <p:spPr>
          <a:xfrm>
            <a:off x="8615050" y="5237226"/>
            <a:ext cx="2753685" cy="797814"/>
          </a:xfrm>
          <a:prstGeom prst="roundRect">
            <a:avLst>
              <a:gd name="adj" fmla="val 13754"/>
            </a:avLst>
          </a:prstGeom>
          <a:solidFill>
            <a:srgbClr val="FBF3DF"/>
          </a:solidFill>
          <a:ln w="12700">
            <a:solidFill>
              <a:srgbClr val="EFDDAF"/>
            </a:solidFill>
            <a:prstDash val="solid"/>
          </a:ln>
        </p:spPr>
      </p:sp>
      <p:sp>
        <p:nvSpPr>
          <p:cNvPr id="30" name="anim-g4-189"/>
          <p:cNvSpPr/>
          <p:nvPr/>
        </p:nvSpPr>
        <p:spPr>
          <a:xfrm>
            <a:off x="8752210" y="5237226"/>
            <a:ext cx="2479365"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لاسلكي</a:t>
            </a:r>
            <a:endParaRPr lang="ar-SA" sz="2100" dirty="0"/>
          </a:p>
        </p:txBody>
      </p:sp>
      <p:sp>
        <p:nvSpPr>
          <p:cNvPr id="31" name="anim-g4-190"/>
          <p:cNvSpPr/>
          <p:nvPr/>
        </p:nvSpPr>
        <p:spPr>
          <a:xfrm>
            <a:off x="5063216" y="5237226"/>
            <a:ext cx="3442106" cy="797814"/>
          </a:xfrm>
          <a:prstGeom prst="roundRect">
            <a:avLst>
              <a:gd name="adj" fmla="val 13754"/>
            </a:avLst>
          </a:prstGeom>
          <a:solidFill>
            <a:srgbClr val="FFFFFF"/>
          </a:solidFill>
          <a:ln w="12700">
            <a:solidFill>
              <a:srgbClr val="E4DCC8"/>
            </a:solidFill>
            <a:prstDash val="solid"/>
          </a:ln>
        </p:spPr>
      </p:sp>
      <p:sp>
        <p:nvSpPr>
          <p:cNvPr id="32" name="anim-g4-191"/>
          <p:cNvSpPr/>
          <p:nvPr/>
        </p:nvSpPr>
        <p:spPr>
          <a:xfrm>
            <a:off x="5200376" y="5237226"/>
            <a:ext cx="3167786"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لا يوجد</a:t>
            </a:r>
            <a:endParaRPr lang="ar-SA" sz="2100" dirty="0"/>
          </a:p>
        </p:txBody>
      </p:sp>
      <p:sp>
        <p:nvSpPr>
          <p:cNvPr id="33" name="anim-g4-192"/>
          <p:cNvSpPr/>
          <p:nvPr/>
        </p:nvSpPr>
        <p:spPr>
          <a:xfrm>
            <a:off x="822960" y="5237226"/>
            <a:ext cx="4130528" cy="797814"/>
          </a:xfrm>
          <a:prstGeom prst="roundRect">
            <a:avLst>
              <a:gd name="adj" fmla="val 13754"/>
            </a:avLst>
          </a:prstGeom>
          <a:solidFill>
            <a:srgbClr val="E6F4EC"/>
          </a:solidFill>
          <a:ln w="12700">
            <a:solidFill>
              <a:srgbClr val="CDE9D9"/>
            </a:solidFill>
            <a:prstDash val="solid"/>
          </a:ln>
        </p:spPr>
      </p:sp>
      <p:sp>
        <p:nvSpPr>
          <p:cNvPr id="34" name="anim-g4-193"/>
          <p:cNvSpPr/>
          <p:nvPr/>
        </p:nvSpPr>
        <p:spPr>
          <a:xfrm>
            <a:off x="960120" y="5237226"/>
            <a:ext cx="3856208"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واي فاي وبلوتوث وESP-NOW</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ESP32  ·  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Users\user\projects\younes-training\turath\.pptx-cache\s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ثلاث قواعد ذهبية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قبل أن توصل أي سلك بـ ESP32</a:t>
            </a:r>
            <a:endParaRPr lang="ar-SA" sz="3800" dirty="0"/>
          </a:p>
        </p:txBody>
      </p:sp>
      <p:sp>
        <p:nvSpPr>
          <p:cNvPr id="5" name="anim-g1-194"/>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95"/>
          <p:cNvSpPr/>
          <p:nvPr/>
        </p:nvSpPr>
        <p:spPr>
          <a:xfrm>
            <a:off x="10527487" y="2267712"/>
            <a:ext cx="566928" cy="566928"/>
          </a:xfrm>
          <a:prstGeom prst="roundRect">
            <a:avLst>
              <a:gd name="adj" fmla="val 32258"/>
            </a:avLst>
          </a:prstGeom>
          <a:solidFill>
            <a:srgbClr val="F7E6BC"/>
          </a:solidFill>
          <a:ln/>
        </p:spPr>
      </p:sp>
      <p:sp>
        <p:nvSpPr>
          <p:cNvPr id="7" name="anim-g1-19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97"/>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٣٫٣ فولت</a:t>
            </a:r>
            <a:endParaRPr lang="ar-SA" sz="2200" dirty="0"/>
          </a:p>
        </p:txBody>
      </p:sp>
      <p:sp>
        <p:nvSpPr>
          <p:cNvPr id="9" name="anim-g1-198"/>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تدخل ٥ فولت على طرف إدخال: قد تتلف اللوحة</a:t>
            </a:r>
            <a:endParaRPr lang="ar-SA" sz="1900" dirty="0"/>
          </a:p>
        </p:txBody>
      </p:sp>
      <p:sp>
        <p:nvSpPr>
          <p:cNvPr id="10" name="anim-g2-199"/>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00"/>
          <p:cNvSpPr/>
          <p:nvPr/>
        </p:nvSpPr>
        <p:spPr>
          <a:xfrm>
            <a:off x="6920789" y="2267712"/>
            <a:ext cx="566928" cy="566928"/>
          </a:xfrm>
          <a:prstGeom prst="roundRect">
            <a:avLst>
              <a:gd name="adj" fmla="val 32258"/>
            </a:avLst>
          </a:prstGeom>
          <a:solidFill>
            <a:srgbClr val="F7E6BC"/>
          </a:solidFill>
          <a:ln/>
        </p:spPr>
      </p:sp>
      <p:sp>
        <p:nvSpPr>
          <p:cNvPr id="12" name="anim-g2-201"/>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02"/>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٣٤–٣٩ مدخلات فقط</a:t>
            </a:r>
            <a:endParaRPr lang="ar-SA" sz="2200" dirty="0"/>
          </a:p>
        </p:txBody>
      </p:sp>
      <p:sp>
        <p:nvSpPr>
          <p:cNvPr id="14" name="anim-g2-203"/>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ممتازة للحساسات، ولا تصلح لليد أو ريليه</a:t>
            </a:r>
            <a:endParaRPr lang="ar-SA" sz="1900" dirty="0"/>
          </a:p>
        </p:txBody>
      </p:sp>
      <p:sp>
        <p:nvSpPr>
          <p:cNvPr id="15" name="anim-g3-204"/>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05"/>
          <p:cNvSpPr/>
          <p:nvPr/>
        </p:nvSpPr>
        <p:spPr>
          <a:xfrm>
            <a:off x="3314090" y="2267712"/>
            <a:ext cx="566928" cy="566928"/>
          </a:xfrm>
          <a:prstGeom prst="roundRect">
            <a:avLst>
              <a:gd name="adj" fmla="val 32258"/>
            </a:avLst>
          </a:prstGeom>
          <a:solidFill>
            <a:srgbClr val="F7E6BC"/>
          </a:solidFill>
          <a:ln/>
        </p:spPr>
      </p:sp>
      <p:sp>
        <p:nvSpPr>
          <p:cNvPr id="17" name="anim-g3-206"/>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07"/>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أطراف الإقلاع</a:t>
            </a:r>
            <a:endParaRPr lang="ar-SA" sz="2200" dirty="0"/>
          </a:p>
        </p:txBody>
      </p:sp>
      <p:sp>
        <p:nvSpPr>
          <p:cNvPr id="19" name="anim-g3-208"/>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تجنب 0 و2 و12 و15 وTX0/RX0 ما استطعت</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ESP32  ·  ٢٢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تجهيز البيئة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ESP32 في Arduino IDE بأربع خطوات</a:t>
            </a:r>
            <a:endParaRPr lang="ar-SA" sz="3800" dirty="0"/>
          </a:p>
        </p:txBody>
      </p:sp>
      <p:sp>
        <p:nvSpPr>
          <p:cNvPr id="5" name="anim-g1-20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10"/>
          <p:cNvSpPr/>
          <p:nvPr/>
        </p:nvSpPr>
        <p:spPr>
          <a:xfrm>
            <a:off x="10573207" y="2109978"/>
            <a:ext cx="566928" cy="566928"/>
          </a:xfrm>
          <a:prstGeom prst="ellipse">
            <a:avLst/>
          </a:prstGeom>
          <a:solidFill>
            <a:srgbClr val="D9AE4B"/>
          </a:solidFill>
          <a:ln/>
        </p:spPr>
      </p:sp>
      <p:sp>
        <p:nvSpPr>
          <p:cNvPr id="7" name="anim-g1-21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1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File ← Preferences</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أضف رابط لوحات Espressif في Additional boards URLs</a:t>
            </a:r>
            <a:endParaRPr lang="ar-SA" sz="2400" dirty="0"/>
          </a:p>
        </p:txBody>
      </p:sp>
      <p:sp>
        <p:nvSpPr>
          <p:cNvPr id="9" name="anim-g2-21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14"/>
          <p:cNvSpPr/>
          <p:nvPr/>
        </p:nvSpPr>
        <p:spPr>
          <a:xfrm>
            <a:off x="10573207" y="3166110"/>
            <a:ext cx="566928" cy="566928"/>
          </a:xfrm>
          <a:prstGeom prst="ellipse">
            <a:avLst/>
          </a:prstGeom>
          <a:solidFill>
            <a:srgbClr val="D9AE4B"/>
          </a:solidFill>
          <a:ln/>
        </p:spPr>
      </p:sp>
      <p:sp>
        <p:nvSpPr>
          <p:cNvPr id="11" name="anim-g2-21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1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Boards Manager</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ابحث عن esp32 وثبّت حزمة Espressif Systems</a:t>
            </a:r>
            <a:endParaRPr lang="ar-SA" sz="2400" dirty="0"/>
          </a:p>
        </p:txBody>
      </p:sp>
      <p:sp>
        <p:nvSpPr>
          <p:cNvPr id="13" name="anim-g3-21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18"/>
          <p:cNvSpPr/>
          <p:nvPr/>
        </p:nvSpPr>
        <p:spPr>
          <a:xfrm>
            <a:off x="10573207" y="4222242"/>
            <a:ext cx="566928" cy="566928"/>
          </a:xfrm>
          <a:prstGeom prst="ellipse">
            <a:avLst/>
          </a:prstGeom>
          <a:solidFill>
            <a:srgbClr val="D9AE4B"/>
          </a:solidFill>
          <a:ln/>
        </p:spPr>
      </p:sp>
      <p:sp>
        <p:nvSpPr>
          <p:cNvPr id="15" name="anim-g3-21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2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Tools ← Board</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اختر ESP32 Dev Module، ثم المنفذ</a:t>
            </a:r>
            <a:endParaRPr lang="ar-SA" sz="2400" dirty="0"/>
          </a:p>
        </p:txBody>
      </p:sp>
      <p:sp>
        <p:nvSpPr>
          <p:cNvPr id="17" name="anim-g4-22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22"/>
          <p:cNvSpPr/>
          <p:nvPr/>
        </p:nvSpPr>
        <p:spPr>
          <a:xfrm>
            <a:off x="10573207" y="5278374"/>
            <a:ext cx="566928" cy="566928"/>
          </a:xfrm>
          <a:prstGeom prst="ellipse">
            <a:avLst/>
          </a:prstGeom>
          <a:solidFill>
            <a:srgbClr val="D9AE4B"/>
          </a:solidFill>
          <a:ln/>
        </p:spPr>
      </p:sp>
      <p:sp>
        <p:nvSpPr>
          <p:cNvPr id="19" name="anim-g4-22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2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ارفع Blink على GPIO2</a:t>
            </a:r>
            <a:endParaRPr lang="ar-SA" sz="2400" dirty="0"/>
          </a:p>
          <a:p>
            <a:pPr algn="r" indent="0" marL="0">
              <a:buNone/>
            </a:pPr>
            <a:r>
              <a:rPr lang="ar-SA" altLang="en-US" sz="2000" b="1" dirty="0">
                <a:solidFill>
                  <a:srgbClr val="3B4460"/>
                </a:solidFill>
                <a:latin typeface="Cairo" pitchFamily="34" charset="0"/>
                <a:ea typeface="Cairo" pitchFamily="34" charset="-122"/>
                <a:cs typeface="Cairo" pitchFamily="34" charset="-120"/>
              </a:rPr>
              <a:t>إن لم يبدأ الرفع: اضغط زر BOOT لحظة ظهور Connecting…</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ESP32  ·  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user\projects\younes-training\turath\.pptx-cache\s24-0.jpg">    </p:cNvPr>
          <p:cNvPicPr>
            <a:picLocks noChangeAspect="1"/>
          </p:cNvPicPr>
          <p:nvPr/>
        </p:nvPicPr>
        <p:blipFill>
          <a:blip r:embed="rId1"/>
          <a:stretch>
            <a:fillRect/>
          </a:stretch>
        </p:blipFill>
        <p:spPr>
          <a:xfrm>
            <a:off x="0" y="0"/>
            <a:ext cx="12191695" cy="6858000"/>
          </a:xfrm>
          <a:prstGeom prst="rect">
            <a:avLst/>
          </a:prstGeom>
        </p:spPr>
      </p:pic>
      <p:pic>
        <p:nvPicPr>
          <p:cNvPr id="3" name="anim-g1-225" descr="C:\Users\user\projects\younes-training\turath\.pptx-cache\s24-1.jpg">    </p:cNvPr>
          <p:cNvPicPr>
            <a:picLocks noChangeAspect="1"/>
          </p:cNvPicPr>
          <p:nvPr/>
        </p:nvPicPr>
        <p:blipFill>
          <a:blip r:embed="rId2"/>
          <a:stretch>
            <a:fillRect/>
          </a:stretch>
        </p:blipFill>
        <p:spPr>
          <a:xfrm>
            <a:off x="0" y="0"/>
            <a:ext cx="12191695" cy="6858000"/>
          </a:xfrm>
          <a:prstGeom prst="rect">
            <a:avLst/>
          </a:prstGeom>
        </p:spPr>
      </p:pic>
      <p:pic>
        <p:nvPicPr>
          <p:cNvPr id="4" name="anim-g2-226" descr="C:\Users\user\projects\younes-training\turath\.pptx-cache\s24-2.jpg">    </p:cNvPr>
          <p:cNvPicPr>
            <a:picLocks noChangeAspect="1"/>
          </p:cNvPicPr>
          <p:nvPr/>
        </p:nvPicPr>
        <p:blipFill>
          <a:blip r:embed="rId3"/>
          <a:stretch>
            <a:fillRect/>
          </a:stretch>
        </p:blipFill>
        <p:spPr>
          <a:xfrm>
            <a:off x="0" y="0"/>
            <a:ext cx="12191695" cy="6858000"/>
          </a:xfrm>
          <a:prstGeom prst="rect">
            <a:avLst/>
          </a:prstGeom>
        </p:spPr>
      </p:pic>
      <p:pic>
        <p:nvPicPr>
          <p:cNvPr id="5" name="anim-g3-227" descr="C:\Users\user\projects\younes-training\turath\.pptx-cache\s24-3.jpg">    </p:cNvPr>
          <p:cNvPicPr>
            <a:picLocks noChangeAspect="1"/>
          </p:cNvPicPr>
          <p:nvPr/>
        </p:nvPicPr>
        <p:blipFill>
          <a:blip r:embed="rId4"/>
          <a:stretch>
            <a:fillRect/>
          </a:stretch>
        </p:blipFill>
        <p:spPr>
          <a:xfrm>
            <a:off x="0" y="0"/>
            <a:ext cx="12191695" cy="6858000"/>
          </a:xfrm>
          <a:prstGeom prst="rect">
            <a:avLst/>
          </a:prstGeom>
        </p:spPr>
      </p:pic>
      <p:pic>
        <p:nvPicPr>
          <p:cNvPr id="6" name="anim-g4-228" descr="C:\Users\user\projects\younes-training\turath\.pptx-cache\s24-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user\projects\younes-training\turath\.pptx-cache\s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دماغ أسرع بخمس عشرة مرة، وجهد أقل، وأذن لاسلكية: ESP32 جاهز لحراسة المصمك</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ESP32  ·  ٢٦</a:t>
            </a:r>
            <a:endParaRPr lang="ar-SA"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المصمك يدور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محرك خطوي NEMA17 ودرايفر A4988</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المنصة الدوّارة  ·  ٢٧</a:t>
            </a:r>
            <a:endParaRPr lang="ar-SA"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22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30"/>
          <p:cNvSpPr/>
          <p:nvPr/>
        </p:nvSpPr>
        <p:spPr>
          <a:xfrm>
            <a:off x="10573207" y="2109978"/>
            <a:ext cx="566928" cy="566928"/>
          </a:xfrm>
          <a:prstGeom prst="ellipse">
            <a:avLst/>
          </a:prstGeom>
          <a:solidFill>
            <a:srgbClr val="D9AE4B"/>
          </a:solidFill>
          <a:ln/>
        </p:spPr>
      </p:sp>
      <p:sp>
        <p:nvSpPr>
          <p:cNvPr id="7" name="anim-g1-23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3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عمل أطراف A4988: STEP وDIR وEN</a:t>
            </a:r>
            <a:endParaRPr lang="ar-SA" sz="2400" dirty="0"/>
          </a:p>
        </p:txBody>
      </p:sp>
      <p:sp>
        <p:nvSpPr>
          <p:cNvPr id="9" name="anim-g2-23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34"/>
          <p:cNvSpPr/>
          <p:nvPr/>
        </p:nvSpPr>
        <p:spPr>
          <a:xfrm>
            <a:off x="10573207" y="3166110"/>
            <a:ext cx="566928" cy="566928"/>
          </a:xfrm>
          <a:prstGeom prst="ellipse">
            <a:avLst/>
          </a:prstGeom>
          <a:solidFill>
            <a:srgbClr val="D9AE4B"/>
          </a:solidFill>
          <a:ln/>
        </p:spPr>
      </p:sp>
      <p:sp>
        <p:nvSpPr>
          <p:cNvPr id="11" name="anim-g2-23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3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تضبط السرعة بالزمن بين النبضات</a:t>
            </a:r>
            <a:endParaRPr lang="ar-SA" sz="2400" dirty="0"/>
          </a:p>
        </p:txBody>
      </p:sp>
      <p:sp>
        <p:nvSpPr>
          <p:cNvPr id="13" name="anim-g3-23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38"/>
          <p:cNvSpPr/>
          <p:nvPr/>
        </p:nvSpPr>
        <p:spPr>
          <a:xfrm>
            <a:off x="10573207" y="4222242"/>
            <a:ext cx="566928" cy="566928"/>
          </a:xfrm>
          <a:prstGeom prst="ellipse">
            <a:avLst/>
          </a:prstGeom>
          <a:solidFill>
            <a:srgbClr val="D9AE4B"/>
          </a:solidFill>
          <a:ln/>
        </p:spPr>
      </p:sp>
      <p:sp>
        <p:nvSpPr>
          <p:cNvPr id="15" name="anim-g3-23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4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تفهم الخطوات الدقيقة وفائدتها للنعومة</a:t>
            </a:r>
            <a:endParaRPr lang="ar-SA" sz="2400" dirty="0"/>
          </a:p>
        </p:txBody>
      </p:sp>
      <p:sp>
        <p:nvSpPr>
          <p:cNvPr id="17" name="anim-g4-24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42"/>
          <p:cNvSpPr/>
          <p:nvPr/>
        </p:nvSpPr>
        <p:spPr>
          <a:xfrm>
            <a:off x="10573207" y="5278374"/>
            <a:ext cx="566928" cy="566928"/>
          </a:xfrm>
          <a:prstGeom prst="ellipse">
            <a:avLst/>
          </a:prstGeom>
          <a:solidFill>
            <a:srgbClr val="D9AE4B"/>
          </a:solidFill>
          <a:ln/>
        </p:spPr>
      </p:sp>
      <p:sp>
        <p:nvSpPr>
          <p:cNvPr id="19" name="anim-g4-24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4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المحرك بمصدر 12 فولت مستقل وأرضي مشترك</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المنصة الدوّارة  ·  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ثلاثة أطراف فقط</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كيف يتكلم ESP32 مع A4988؟</a:t>
            </a:r>
            <a:endParaRPr lang="ar-SA" sz="3800" dirty="0"/>
          </a:p>
        </p:txBody>
      </p:sp>
      <p:sp>
        <p:nvSpPr>
          <p:cNvPr id="5" name="anim-g1-245"/>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46"/>
          <p:cNvSpPr/>
          <p:nvPr/>
        </p:nvSpPr>
        <p:spPr>
          <a:xfrm>
            <a:off x="10527487" y="2267712"/>
            <a:ext cx="566928" cy="566928"/>
          </a:xfrm>
          <a:prstGeom prst="roundRect">
            <a:avLst>
              <a:gd name="adj" fmla="val 32258"/>
            </a:avLst>
          </a:prstGeom>
          <a:solidFill>
            <a:srgbClr val="F7E6BC"/>
          </a:solidFill>
          <a:ln/>
        </p:spPr>
      </p:sp>
      <p:sp>
        <p:nvSpPr>
          <p:cNvPr id="7" name="anim-g1-24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48"/>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STEP ← 26</a:t>
            </a:r>
            <a:endParaRPr lang="ar-SA" sz="2200" dirty="0"/>
          </a:p>
        </p:txBody>
      </p:sp>
      <p:sp>
        <p:nvSpPr>
          <p:cNvPr id="9" name="anim-g1-249"/>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نبضة (HIGH ثم LOW) = خطوة واحدة</a:t>
            </a:r>
            <a:endParaRPr lang="ar-SA" sz="1900" dirty="0"/>
          </a:p>
        </p:txBody>
      </p:sp>
      <p:sp>
        <p:nvSpPr>
          <p:cNvPr id="10" name="anim-g2-250"/>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51"/>
          <p:cNvSpPr/>
          <p:nvPr/>
        </p:nvSpPr>
        <p:spPr>
          <a:xfrm>
            <a:off x="6920789" y="2267712"/>
            <a:ext cx="566928" cy="566928"/>
          </a:xfrm>
          <a:prstGeom prst="roundRect">
            <a:avLst>
              <a:gd name="adj" fmla="val 32258"/>
            </a:avLst>
          </a:prstGeom>
          <a:solidFill>
            <a:srgbClr val="F7E6BC"/>
          </a:solidFill>
          <a:ln/>
        </p:spPr>
      </p:sp>
      <p:sp>
        <p:nvSpPr>
          <p:cNvPr id="12" name="anim-g2-252"/>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53"/>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DIR ← 25</a:t>
            </a:r>
            <a:endParaRPr lang="ar-SA" sz="2200" dirty="0"/>
          </a:p>
        </p:txBody>
      </p:sp>
      <p:sp>
        <p:nvSpPr>
          <p:cNvPr id="14" name="anim-g2-254"/>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HIGH اتجاه، وLOW الاتجاه الآخر</a:t>
            </a:r>
            <a:endParaRPr lang="ar-SA" sz="1900" dirty="0"/>
          </a:p>
        </p:txBody>
      </p:sp>
      <p:sp>
        <p:nvSpPr>
          <p:cNvPr id="15" name="anim-g3-255"/>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56"/>
          <p:cNvSpPr/>
          <p:nvPr/>
        </p:nvSpPr>
        <p:spPr>
          <a:xfrm>
            <a:off x="3314090" y="2267712"/>
            <a:ext cx="566928" cy="566928"/>
          </a:xfrm>
          <a:prstGeom prst="roundRect">
            <a:avLst>
              <a:gd name="adj" fmla="val 32258"/>
            </a:avLst>
          </a:prstGeom>
          <a:solidFill>
            <a:srgbClr val="F7E6BC"/>
          </a:solidFill>
          <a:ln/>
        </p:spPr>
      </p:sp>
      <p:sp>
        <p:nvSpPr>
          <p:cNvPr id="17" name="anim-g3-257"/>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58"/>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EN ← 27</a:t>
            </a:r>
            <a:endParaRPr lang="ar-SA" sz="2200" dirty="0"/>
          </a:p>
        </p:txBody>
      </p:sp>
      <p:sp>
        <p:nvSpPr>
          <p:cNvPr id="19" name="anim-g3-259"/>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يعمل على LOW: LOW = المحرك مفعّل، HIGH = مُعطّل</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المنصة الدوّارة  ·  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user\projects\younes-training\turath\.pptx-cache\s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C:\Users\user\projects\younes-training\turath\.pptx-cache\s31-0.jpg">    </p:cNvPr>
          <p:cNvPicPr>
            <a:picLocks noChangeAspect="1"/>
          </p:cNvPicPr>
          <p:nvPr/>
        </p:nvPicPr>
        <p:blipFill>
          <a:blip r:embed="rId1"/>
          <a:stretch>
            <a:fillRect/>
          </a:stretch>
        </p:blipFill>
        <p:spPr>
          <a:xfrm>
            <a:off x="0" y="0"/>
            <a:ext cx="12191695" cy="6858000"/>
          </a:xfrm>
          <a:prstGeom prst="rect">
            <a:avLst/>
          </a:prstGeom>
        </p:spPr>
      </p:pic>
      <p:pic>
        <p:nvPicPr>
          <p:cNvPr id="3" name="anim-g1-260" descr="C:\Users\user\projects\younes-training\turath\.pptx-cache\s31-1.jpg">    </p:cNvPr>
          <p:cNvPicPr>
            <a:picLocks noChangeAspect="1"/>
          </p:cNvPicPr>
          <p:nvPr/>
        </p:nvPicPr>
        <p:blipFill>
          <a:blip r:embed="rId2"/>
          <a:stretch>
            <a:fillRect/>
          </a:stretch>
        </p:blipFill>
        <p:spPr>
          <a:xfrm>
            <a:off x="0" y="0"/>
            <a:ext cx="12191695" cy="6858000"/>
          </a:xfrm>
          <a:prstGeom prst="rect">
            <a:avLst/>
          </a:prstGeom>
        </p:spPr>
      </p:pic>
      <p:pic>
        <p:nvPicPr>
          <p:cNvPr id="4" name="anim-g2-261" descr="C:\Users\user\projects\younes-training\turath\.pptx-cache\s31-2.jpg">    </p:cNvPr>
          <p:cNvPicPr>
            <a:picLocks noChangeAspect="1"/>
          </p:cNvPicPr>
          <p:nvPr/>
        </p:nvPicPr>
        <p:blipFill>
          <a:blip r:embed="rId3"/>
          <a:stretch>
            <a:fillRect/>
          </a:stretch>
        </p:blipFill>
        <p:spPr>
          <a:xfrm>
            <a:off x="0" y="0"/>
            <a:ext cx="12191695" cy="6858000"/>
          </a:xfrm>
          <a:prstGeom prst="rect">
            <a:avLst/>
          </a:prstGeom>
        </p:spPr>
      </p:pic>
      <p:pic>
        <p:nvPicPr>
          <p:cNvPr id="5" name="anim-g3-262" descr="C:\Users\user\projects\younes-training\turath\.pptx-cache\s31-3.jpg">    </p:cNvPr>
          <p:cNvPicPr>
            <a:picLocks noChangeAspect="1"/>
          </p:cNvPicPr>
          <p:nvPr/>
        </p:nvPicPr>
        <p:blipFill>
          <a:blip r:embed="rId4"/>
          <a:stretch>
            <a:fillRect/>
          </a:stretch>
        </p:blipFill>
        <p:spPr>
          <a:xfrm>
            <a:off x="0" y="0"/>
            <a:ext cx="12191695" cy="6858000"/>
          </a:xfrm>
          <a:prstGeom prst="rect">
            <a:avLst/>
          </a:prstGeom>
        </p:spPr>
      </p:pic>
      <p:pic>
        <p:nvPicPr>
          <p:cNvPr id="6" name="anim-g4-263" descr="C:\Users\user\projects\younes-training\turath\.pptx-cache\s31-4.jpg">    </p:cNvPr>
          <p:cNvPicPr>
            <a:picLocks noChangeAspect="1"/>
          </p:cNvPicPr>
          <p:nvPr/>
        </p:nvPicPr>
        <p:blipFill>
          <a:blip r:embed="rId5"/>
          <a:stretch>
            <a:fillRect/>
          </a:stretch>
        </p:blipFill>
        <p:spPr>
          <a:xfrm>
            <a:off x="0" y="0"/>
            <a:ext cx="12191695" cy="6858000"/>
          </a:xfrm>
          <a:prstGeom prst="rect">
            <a:avLst/>
          </a:prstGeom>
        </p:spPr>
      </p:pic>
      <p:pic>
        <p:nvPicPr>
          <p:cNvPr id="7" name="anim-g5-264" descr="C:\Users\user\projects\younes-training\turath\.pptx-cache\s31-5.jpg">    </p:cNvPr>
          <p:cNvPicPr>
            <a:picLocks noChangeAspect="1"/>
          </p:cNvPicPr>
          <p:nvPr/>
        </p:nvPicPr>
        <p:blipFill>
          <a:blip r:embed="rId6"/>
          <a:stretch>
            <a:fillRect/>
          </a:stretch>
        </p:blipFill>
        <p:spPr>
          <a:xfrm>
            <a:off x="0" y="0"/>
            <a:ext cx="12191695" cy="6858000"/>
          </a:xfrm>
          <a:prstGeom prst="rect">
            <a:avLst/>
          </a:prstGeom>
        </p:spPr>
      </p:pic>
      <p:pic>
        <p:nvPicPr>
          <p:cNvPr id="8" name="anim-g6-265" descr="C:\Users\user\projects\younes-training\turath\.pptx-cache\s31-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الطاقة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مصدران… وأرضي واحد</a:t>
            </a:r>
            <a:endParaRPr lang="ar-SA" sz="3800" dirty="0"/>
          </a:p>
        </p:txBody>
      </p:sp>
      <p:sp>
        <p:nvSpPr>
          <p:cNvPr id="5" name="anim-g1-26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67"/>
          <p:cNvSpPr/>
          <p:nvPr/>
        </p:nvSpPr>
        <p:spPr>
          <a:xfrm>
            <a:off x="10527487" y="2267712"/>
            <a:ext cx="566928" cy="566928"/>
          </a:xfrm>
          <a:prstGeom prst="roundRect">
            <a:avLst>
              <a:gd name="adj" fmla="val 32258"/>
            </a:avLst>
          </a:prstGeom>
          <a:solidFill>
            <a:srgbClr val="F7E6BC"/>
          </a:solidFill>
          <a:ln/>
        </p:spPr>
      </p:sp>
      <p:sp>
        <p:nvSpPr>
          <p:cNvPr id="7" name="anim-g1-26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6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12 فولت للمحرك</a:t>
            </a:r>
            <a:endParaRPr lang="ar-SA" sz="2200" dirty="0"/>
          </a:p>
        </p:txBody>
      </p:sp>
      <p:sp>
        <p:nvSpPr>
          <p:cNvPr id="9" name="anim-g1-27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على VMOT وGND في A4988، ومعه مكثف ١٠٠ ميكروفاراد</a:t>
            </a:r>
            <a:endParaRPr lang="ar-SA" sz="1900" dirty="0"/>
          </a:p>
        </p:txBody>
      </p:sp>
      <p:sp>
        <p:nvSpPr>
          <p:cNvPr id="10" name="anim-g2-27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72"/>
          <p:cNvSpPr/>
          <p:nvPr/>
        </p:nvSpPr>
        <p:spPr>
          <a:xfrm>
            <a:off x="6920789" y="2267712"/>
            <a:ext cx="566928" cy="566928"/>
          </a:xfrm>
          <a:prstGeom prst="roundRect">
            <a:avLst>
              <a:gd name="adj" fmla="val 32258"/>
            </a:avLst>
          </a:prstGeom>
          <a:solidFill>
            <a:srgbClr val="F7E6BC"/>
          </a:solidFill>
          <a:ln/>
        </p:spPr>
      </p:sp>
      <p:sp>
        <p:nvSpPr>
          <p:cNvPr id="12" name="anim-g2-27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7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ESP32 منفصل</a:t>
            </a:r>
            <a:endParaRPr lang="ar-SA" sz="2200" dirty="0"/>
          </a:p>
        </p:txBody>
      </p:sp>
      <p:sp>
        <p:nvSpPr>
          <p:cNvPr id="14" name="anim-g2-27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 USB أو منظم ٥ فولت: ضجيج المحرك لا يصل إليه</a:t>
            </a:r>
            <a:endParaRPr lang="ar-SA" sz="1900" dirty="0"/>
          </a:p>
        </p:txBody>
      </p:sp>
      <p:sp>
        <p:nvSpPr>
          <p:cNvPr id="15" name="anim-g3-27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77"/>
          <p:cNvSpPr/>
          <p:nvPr/>
        </p:nvSpPr>
        <p:spPr>
          <a:xfrm>
            <a:off x="3314090" y="2267712"/>
            <a:ext cx="566928" cy="566928"/>
          </a:xfrm>
          <a:prstGeom prst="roundRect">
            <a:avLst>
              <a:gd name="adj" fmla="val 32258"/>
            </a:avLst>
          </a:prstGeom>
          <a:solidFill>
            <a:srgbClr val="F7E6BC"/>
          </a:solidFill>
          <a:ln/>
        </p:spPr>
      </p:sp>
      <p:sp>
        <p:nvSpPr>
          <p:cNvPr id="17" name="anim-g3-27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7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أرضي مشترك</a:t>
            </a:r>
            <a:endParaRPr lang="ar-SA" sz="2200" dirty="0"/>
          </a:p>
        </p:txBody>
      </p:sp>
      <p:sp>
        <p:nvSpPr>
          <p:cNvPr id="19" name="anim-g3-28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GND المصدرين متصلان، وإلا لم يفهم الدرايفر النبضات</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المنصة الدوّارة  ·  ٣٢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C:\Users\user\projects\younes-training\turath\.pptx-cache\s33-0.jpg">    </p:cNvPr>
          <p:cNvPicPr>
            <a:picLocks noChangeAspect="1"/>
          </p:cNvPicPr>
          <p:nvPr/>
        </p:nvPicPr>
        <p:blipFill>
          <a:blip r:embed="rId1"/>
          <a:stretch>
            <a:fillRect/>
          </a:stretch>
        </p:blipFill>
        <p:spPr>
          <a:xfrm>
            <a:off x="0" y="0"/>
            <a:ext cx="12191695" cy="6858000"/>
          </a:xfrm>
          <a:prstGeom prst="rect">
            <a:avLst/>
          </a:prstGeom>
        </p:spPr>
      </p:pic>
      <p:pic>
        <p:nvPicPr>
          <p:cNvPr id="3" name="anim-g1-281" descr="C:\Users\user\projects\younes-training\turath\.pptx-cache\s33-1.jpg">    </p:cNvPr>
          <p:cNvPicPr>
            <a:picLocks noChangeAspect="1"/>
          </p:cNvPicPr>
          <p:nvPr/>
        </p:nvPicPr>
        <p:blipFill>
          <a:blip r:embed="rId2"/>
          <a:stretch>
            <a:fillRect/>
          </a:stretch>
        </p:blipFill>
        <p:spPr>
          <a:xfrm>
            <a:off x="0" y="0"/>
            <a:ext cx="12191695" cy="6858000"/>
          </a:xfrm>
          <a:prstGeom prst="rect">
            <a:avLst/>
          </a:prstGeom>
        </p:spPr>
      </p:pic>
      <p:pic>
        <p:nvPicPr>
          <p:cNvPr id="4" name="anim-g2-282" descr="C:\Users\user\projects\younes-training\turath\.pptx-cache\s33-2.jpg">    </p:cNvPr>
          <p:cNvPicPr>
            <a:picLocks noChangeAspect="1"/>
          </p:cNvPicPr>
          <p:nvPr/>
        </p:nvPicPr>
        <p:blipFill>
          <a:blip r:embed="rId3"/>
          <a:stretch>
            <a:fillRect/>
          </a:stretch>
        </p:blipFill>
        <p:spPr>
          <a:xfrm>
            <a:off x="0" y="0"/>
            <a:ext cx="12191695" cy="6858000"/>
          </a:xfrm>
          <a:prstGeom prst="rect">
            <a:avLst/>
          </a:prstGeom>
        </p:spPr>
      </p:pic>
      <p:pic>
        <p:nvPicPr>
          <p:cNvPr id="5" name="anim-g3-283" descr="C:\Users\user\projects\younes-training\turath\.pptx-cache\s33-3.jpg">    </p:cNvPr>
          <p:cNvPicPr>
            <a:picLocks noChangeAspect="1"/>
          </p:cNvPicPr>
          <p:nvPr/>
        </p:nvPicPr>
        <p:blipFill>
          <a:blip r:embed="rId4"/>
          <a:stretch>
            <a:fillRect/>
          </a:stretch>
        </p:blipFill>
        <p:spPr>
          <a:xfrm>
            <a:off x="0" y="0"/>
            <a:ext cx="12191695" cy="6858000"/>
          </a:xfrm>
          <a:prstGeom prst="rect">
            <a:avLst/>
          </a:prstGeom>
        </p:spPr>
      </p:pic>
      <p:pic>
        <p:nvPicPr>
          <p:cNvPr id="6" name="anim-g4-284" descr="C:\Users\user\projects\younes-training\turath\.pptx-cache\s3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جعل الفريق الدوران بطيئًا عمدًا؟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المحرك ضعيف</a:t>
            </a:r>
            <a:endParaRPr lang="ar-SA" sz="2500" dirty="0"/>
          </a:p>
        </p:txBody>
      </p:sp>
      <p:sp>
        <p:nvSpPr>
          <p:cNvPr id="9" name="anim-g1-28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286"/>
          <p:cNvSpPr/>
          <p:nvPr/>
        </p:nvSpPr>
        <p:spPr>
          <a:xfrm>
            <a:off x="10231831" y="2194560"/>
            <a:ext cx="954024" cy="954024"/>
          </a:xfrm>
          <a:prstGeom prst="roundRect">
            <a:avLst>
              <a:gd name="adj" fmla="val 11502"/>
            </a:avLst>
          </a:prstGeom>
          <a:solidFill>
            <a:srgbClr val="A3A9BA"/>
          </a:solidFill>
          <a:ln/>
        </p:spPr>
      </p:sp>
      <p:sp>
        <p:nvSpPr>
          <p:cNvPr id="11" name="anim-g1-28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28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 المحرك ضعيف</a:t>
            </a:r>
            <a:endParaRPr lang="ar-SA" sz="2400" dirty="0"/>
          </a:p>
        </p:txBody>
      </p:sp>
      <p:sp>
        <p:nvSpPr>
          <p:cNvPr id="13" name="anim-g1-28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NEMA17 قوي بما يكفي</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لتوفير الكهرباء</a:t>
            </a:r>
            <a:endParaRPr lang="ar-SA" sz="2500" dirty="0"/>
          </a:p>
        </p:txBody>
      </p:sp>
      <p:sp>
        <p:nvSpPr>
          <p:cNvPr id="18" name="anim-g1-290"/>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291"/>
          <p:cNvSpPr/>
          <p:nvPr/>
        </p:nvSpPr>
        <p:spPr>
          <a:xfrm>
            <a:off x="10231831" y="3569208"/>
            <a:ext cx="954024" cy="954024"/>
          </a:xfrm>
          <a:prstGeom prst="roundRect">
            <a:avLst>
              <a:gd name="adj" fmla="val 11502"/>
            </a:avLst>
          </a:prstGeom>
          <a:solidFill>
            <a:srgbClr val="A3A9BA"/>
          </a:solidFill>
          <a:ln/>
        </p:spPr>
      </p:sp>
      <p:sp>
        <p:nvSpPr>
          <p:cNvPr id="20" name="anim-g1-29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29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لتوفير الكهرباء</a:t>
            </a:r>
            <a:endParaRPr lang="ar-SA" sz="2400" dirty="0"/>
          </a:p>
        </p:txBody>
      </p:sp>
      <p:sp>
        <p:nvSpPr>
          <p:cNvPr id="22" name="anim-g1-29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الفرق في الكهرباء صغير</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زائرًا يتابع المجسّم بعينه مباشرة</a:t>
            </a:r>
            <a:endParaRPr lang="ar-SA" sz="2500" dirty="0"/>
          </a:p>
        </p:txBody>
      </p:sp>
      <p:sp>
        <p:nvSpPr>
          <p:cNvPr id="27" name="anim-g1-295"/>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296"/>
          <p:cNvSpPr/>
          <p:nvPr/>
        </p:nvSpPr>
        <p:spPr>
          <a:xfrm>
            <a:off x="10231831" y="4943856"/>
            <a:ext cx="954024" cy="954024"/>
          </a:xfrm>
          <a:prstGeom prst="roundRect">
            <a:avLst>
              <a:gd name="adj" fmla="val 11502"/>
            </a:avLst>
          </a:prstGeom>
          <a:solidFill>
            <a:srgbClr val="2E9E6B"/>
          </a:solidFill>
          <a:ln/>
        </p:spPr>
      </p:sp>
      <p:sp>
        <p:nvSpPr>
          <p:cNvPr id="29" name="anim-g1-29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29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لأن زائرًا يتابع المجسّم بعينه مباشرة</a:t>
            </a:r>
            <a:endParaRPr lang="ar-SA" sz="2400" dirty="0"/>
          </a:p>
        </p:txBody>
      </p:sp>
      <p:sp>
        <p:nvSpPr>
          <p:cNvPr id="31" name="anim-g1-29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الحركة السريعة تُتعب العين وتفقد الزائر موضعه</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المنصة الدوّارة  ·  ٣٤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C:\Users\user\projects\younes-training\turath\.pptx-cache\s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نبضة على STEP، ومستوى على DIR، وLOW على EN: ثلاثة أسلاك تجعل قصر المصمك يدور ببطء مهيب</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المنصة الدوّارة  ·  ٣٦</a:t>
            </a:r>
            <a:endParaRPr lang="ar-SA"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ضوء يحكي</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شريط WS2812B: لون لكل جهة، وموجة أثناء الدوران</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الإضاءة الذكية  ·  ٣٧</a:t>
            </a:r>
            <a:endParaRPr lang="ar-SA"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300"/>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301"/>
          <p:cNvSpPr/>
          <p:nvPr/>
        </p:nvSpPr>
        <p:spPr>
          <a:xfrm>
            <a:off x="10573207" y="2286000"/>
            <a:ext cx="566928" cy="566928"/>
          </a:xfrm>
          <a:prstGeom prst="ellipse">
            <a:avLst/>
          </a:prstGeom>
          <a:solidFill>
            <a:srgbClr val="D9AE4B"/>
          </a:solidFill>
          <a:ln/>
        </p:spPr>
      </p:sp>
      <p:sp>
        <p:nvSpPr>
          <p:cNvPr id="7" name="anim-g1-302"/>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03"/>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تتحكم بكل ليد في الشريط من طرف واحد</a:t>
            </a:r>
            <a:endParaRPr lang="ar-SA" sz="2400" dirty="0"/>
          </a:p>
        </p:txBody>
      </p:sp>
      <p:sp>
        <p:nvSpPr>
          <p:cNvPr id="9" name="anim-g2-304"/>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305"/>
          <p:cNvSpPr/>
          <p:nvPr/>
        </p:nvSpPr>
        <p:spPr>
          <a:xfrm>
            <a:off x="10573207" y="3694176"/>
            <a:ext cx="566928" cy="566928"/>
          </a:xfrm>
          <a:prstGeom prst="ellipse">
            <a:avLst/>
          </a:prstGeom>
          <a:solidFill>
            <a:srgbClr val="D9AE4B"/>
          </a:solidFill>
          <a:ln/>
        </p:spPr>
      </p:sp>
      <p:sp>
        <p:nvSpPr>
          <p:cNvPr id="11" name="anim-g2-306"/>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07"/>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تعطي كل جهة لونًا، وتصنع موجة متحركة</a:t>
            </a:r>
            <a:endParaRPr lang="ar-SA" sz="2400" dirty="0"/>
          </a:p>
        </p:txBody>
      </p:sp>
      <p:sp>
        <p:nvSpPr>
          <p:cNvPr id="13" name="anim-g3-308"/>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309"/>
          <p:cNvSpPr/>
          <p:nvPr/>
        </p:nvSpPr>
        <p:spPr>
          <a:xfrm>
            <a:off x="10573207" y="5102352"/>
            <a:ext cx="566928" cy="566928"/>
          </a:xfrm>
          <a:prstGeom prst="ellipse">
            <a:avLst/>
          </a:prstGeom>
          <a:solidFill>
            <a:srgbClr val="D9AE4B"/>
          </a:solidFill>
          <a:ln/>
        </p:spPr>
      </p:sp>
      <p:sp>
        <p:nvSpPr>
          <p:cNvPr id="15" name="anim-g3-310"/>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11"/>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تحسب التيار وتضبط السطوع بأمان</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الإضاءة الذكية  ·  ٣٨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شريط ذكي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طرف واحد… وأربعة وعشرون ليدًا</a:t>
            </a:r>
            <a:endParaRPr lang="ar-SA" sz="3800" dirty="0"/>
          </a:p>
        </p:txBody>
      </p:sp>
      <p:sp>
        <p:nvSpPr>
          <p:cNvPr id="5" name="anim-g1-31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13"/>
          <p:cNvSpPr/>
          <p:nvPr/>
        </p:nvSpPr>
        <p:spPr>
          <a:xfrm>
            <a:off x="10527487" y="2267712"/>
            <a:ext cx="566928" cy="566928"/>
          </a:xfrm>
          <a:prstGeom prst="roundRect">
            <a:avLst>
              <a:gd name="adj" fmla="val 32258"/>
            </a:avLst>
          </a:prstGeom>
          <a:solidFill>
            <a:srgbClr val="F7E6BC"/>
          </a:solidFill>
          <a:ln/>
        </p:spPr>
      </p:sp>
      <p:sp>
        <p:nvSpPr>
          <p:cNvPr id="7" name="anim-g1-31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1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سلسلة</a:t>
            </a:r>
            <a:endParaRPr lang="ar-SA" sz="2200" dirty="0"/>
          </a:p>
        </p:txBody>
      </p:sp>
      <p:sp>
        <p:nvSpPr>
          <p:cNvPr id="9" name="anim-g1-31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ليد يأخذ لونه ويمرر الباقي لجاره: سلك بيانات واحد على GPIO23</a:t>
            </a:r>
            <a:endParaRPr lang="ar-SA" sz="1900" dirty="0"/>
          </a:p>
        </p:txBody>
      </p:sp>
      <p:sp>
        <p:nvSpPr>
          <p:cNvPr id="10" name="anim-g2-31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18"/>
          <p:cNvSpPr/>
          <p:nvPr/>
        </p:nvSpPr>
        <p:spPr>
          <a:xfrm>
            <a:off x="6920789" y="2267712"/>
            <a:ext cx="566928" cy="566928"/>
          </a:xfrm>
          <a:prstGeom prst="roundRect">
            <a:avLst>
              <a:gd name="adj" fmla="val 32258"/>
            </a:avLst>
          </a:prstGeom>
          <a:solidFill>
            <a:srgbClr val="F7E6BC"/>
          </a:solidFill>
          <a:ln/>
        </p:spPr>
      </p:sp>
      <p:sp>
        <p:nvSpPr>
          <p:cNvPr id="12" name="anim-g2-31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2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١٦ مليون لون</a:t>
            </a:r>
            <a:endParaRPr lang="ar-SA" sz="2200" dirty="0"/>
          </a:p>
        </p:txBody>
      </p:sp>
      <p:sp>
        <p:nvSpPr>
          <p:cNvPr id="14" name="anim-g2-32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أحمر وأخضر وأزرق، كل منها من ٠ إلى ٢٥٥</a:t>
            </a:r>
            <a:endParaRPr lang="ar-SA" sz="1900" dirty="0"/>
          </a:p>
        </p:txBody>
      </p:sp>
      <p:sp>
        <p:nvSpPr>
          <p:cNvPr id="15" name="anim-g3-32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23"/>
          <p:cNvSpPr/>
          <p:nvPr/>
        </p:nvSpPr>
        <p:spPr>
          <a:xfrm>
            <a:off x="3314090" y="2267712"/>
            <a:ext cx="566928" cy="566928"/>
          </a:xfrm>
          <a:prstGeom prst="roundRect">
            <a:avLst>
              <a:gd name="adj" fmla="val 32258"/>
            </a:avLst>
          </a:prstGeom>
          <a:solidFill>
            <a:srgbClr val="F7E6BC"/>
          </a:solidFill>
          <a:ln/>
        </p:spPr>
      </p:sp>
      <p:sp>
        <p:nvSpPr>
          <p:cNvPr id="17" name="anim-g3-32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2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تيار</a:t>
            </a:r>
            <a:endParaRPr lang="ar-SA" sz="2200" dirty="0"/>
          </a:p>
        </p:txBody>
      </p:sp>
      <p:sp>
        <p:nvSpPr>
          <p:cNvPr id="19" name="anim-g3-32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ليد حتى ٦٠ ملي أمبير بالأبيض الكامل</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الإضاءة الذكية  ·  ٣٩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C:\Users\user\projects\younes-training\turath\.pptx-cache\s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C:\Users\user\projects\younes-training\turath\.pptx-cache\s41-0.jpg">    </p:cNvPr>
          <p:cNvPicPr>
            <a:picLocks noChangeAspect="1"/>
          </p:cNvPicPr>
          <p:nvPr/>
        </p:nvPicPr>
        <p:blipFill>
          <a:blip r:embed="rId1"/>
          <a:stretch>
            <a:fillRect/>
          </a:stretch>
        </p:blipFill>
        <p:spPr>
          <a:xfrm>
            <a:off x="0" y="0"/>
            <a:ext cx="12191695" cy="6858000"/>
          </a:xfrm>
          <a:prstGeom prst="rect">
            <a:avLst/>
          </a:prstGeom>
        </p:spPr>
      </p:pic>
      <p:pic>
        <p:nvPicPr>
          <p:cNvPr id="3" name="anim-g1-327" descr="C:\Users\user\projects\younes-training\turath\.pptx-cache\s41-1.jpg">    </p:cNvPr>
          <p:cNvPicPr>
            <a:picLocks noChangeAspect="1"/>
          </p:cNvPicPr>
          <p:nvPr/>
        </p:nvPicPr>
        <p:blipFill>
          <a:blip r:embed="rId2"/>
          <a:stretch>
            <a:fillRect/>
          </a:stretch>
        </p:blipFill>
        <p:spPr>
          <a:xfrm>
            <a:off x="0" y="0"/>
            <a:ext cx="12191695" cy="6858000"/>
          </a:xfrm>
          <a:prstGeom prst="rect">
            <a:avLst/>
          </a:prstGeom>
        </p:spPr>
      </p:pic>
      <p:pic>
        <p:nvPicPr>
          <p:cNvPr id="4" name="anim-g2-328" descr="C:\Users\user\projects\younes-training\turath\.pptx-cache\s41-2.jpg">    </p:cNvPr>
          <p:cNvPicPr>
            <a:picLocks noChangeAspect="1"/>
          </p:cNvPicPr>
          <p:nvPr/>
        </p:nvPicPr>
        <p:blipFill>
          <a:blip r:embed="rId3"/>
          <a:stretch>
            <a:fillRect/>
          </a:stretch>
        </p:blipFill>
        <p:spPr>
          <a:xfrm>
            <a:off x="0" y="0"/>
            <a:ext cx="12191695" cy="6858000"/>
          </a:xfrm>
          <a:prstGeom prst="rect">
            <a:avLst/>
          </a:prstGeom>
        </p:spPr>
      </p:pic>
      <p:pic>
        <p:nvPicPr>
          <p:cNvPr id="5" name="anim-g3-329" descr="C:\Users\user\projects\younes-training\turath\.pptx-cache\s41-3.jpg">    </p:cNvPr>
          <p:cNvPicPr>
            <a:picLocks noChangeAspect="1"/>
          </p:cNvPicPr>
          <p:nvPr/>
        </p:nvPicPr>
        <p:blipFill>
          <a:blip r:embed="rId4"/>
          <a:stretch>
            <a:fillRect/>
          </a:stretch>
        </p:blipFill>
        <p:spPr>
          <a:xfrm>
            <a:off x="0" y="0"/>
            <a:ext cx="12191695" cy="6858000"/>
          </a:xfrm>
          <a:prstGeom prst="rect">
            <a:avLst/>
          </a:prstGeom>
        </p:spPr>
      </p:pic>
      <p:pic>
        <p:nvPicPr>
          <p:cNvPr id="6" name="anim-g4-330" descr="C:\Users\user\projects\younes-training\turath\.pptx-cache\s41-4.jpg">    </p:cNvPr>
          <p:cNvPicPr>
            <a:picLocks noChangeAspect="1"/>
          </p:cNvPicPr>
          <p:nvPr/>
        </p:nvPicPr>
        <p:blipFill>
          <a:blip r:embed="rId5"/>
          <a:stretch>
            <a:fillRect/>
          </a:stretch>
        </p:blipFill>
        <p:spPr>
          <a:xfrm>
            <a:off x="0" y="0"/>
            <a:ext cx="12191695" cy="6858000"/>
          </a:xfrm>
          <a:prstGeom prst="rect">
            <a:avLst/>
          </a:prstGeom>
        </p:spPr>
      </p:pic>
      <p:pic>
        <p:nvPicPr>
          <p:cNvPr id="7" name="anim-g5-331" descr="C:\Users\user\projects\younes-training\turath\.pptx-cache\s41-5.jpg">    </p:cNvPr>
          <p:cNvPicPr>
            <a:picLocks noChangeAspect="1"/>
          </p:cNvPicPr>
          <p:nvPr/>
        </p:nvPicPr>
        <p:blipFill>
          <a:blip r:embed="rId6"/>
          <a:stretch>
            <a:fillRect/>
          </a:stretch>
        </p:blipFill>
        <p:spPr>
          <a:xfrm>
            <a:off x="0" y="0"/>
            <a:ext cx="12191695" cy="6858000"/>
          </a:xfrm>
          <a:prstGeom prst="rect">
            <a:avLst/>
          </a:prstGeom>
        </p:spPr>
      </p:pic>
      <p:pic>
        <p:nvPicPr>
          <p:cNvPr id="8" name="anim-g6-332" descr="C:\Users\user\projects\younes-training\turath\.pptx-cache\s41-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C:\Users\user\projects\younes-training\turath\.pptx-cache\s42-0.jpg">    </p:cNvPr>
          <p:cNvPicPr>
            <a:picLocks noChangeAspect="1"/>
          </p:cNvPicPr>
          <p:nvPr/>
        </p:nvPicPr>
        <p:blipFill>
          <a:blip r:embed="rId1"/>
          <a:stretch>
            <a:fillRect/>
          </a:stretch>
        </p:blipFill>
        <p:spPr>
          <a:xfrm>
            <a:off x="0" y="0"/>
            <a:ext cx="12191695" cy="6858000"/>
          </a:xfrm>
          <a:prstGeom prst="rect">
            <a:avLst/>
          </a:prstGeom>
        </p:spPr>
      </p:pic>
      <p:pic>
        <p:nvPicPr>
          <p:cNvPr id="3" name="anim-g1-333" descr="C:\Users\user\projects\younes-training\turath\.pptx-cache\s42-1.jpg">    </p:cNvPr>
          <p:cNvPicPr>
            <a:picLocks noChangeAspect="1"/>
          </p:cNvPicPr>
          <p:nvPr/>
        </p:nvPicPr>
        <p:blipFill>
          <a:blip r:embed="rId2"/>
          <a:stretch>
            <a:fillRect/>
          </a:stretch>
        </p:blipFill>
        <p:spPr>
          <a:xfrm>
            <a:off x="0" y="0"/>
            <a:ext cx="12191695" cy="6858000"/>
          </a:xfrm>
          <a:prstGeom prst="rect">
            <a:avLst/>
          </a:prstGeom>
        </p:spPr>
      </p:pic>
      <p:pic>
        <p:nvPicPr>
          <p:cNvPr id="4" name="anim-g2-334" descr="C:\Users\user\projects\younes-training\turath\.pptx-cache\s42-2.jpg">    </p:cNvPr>
          <p:cNvPicPr>
            <a:picLocks noChangeAspect="1"/>
          </p:cNvPicPr>
          <p:nvPr/>
        </p:nvPicPr>
        <p:blipFill>
          <a:blip r:embed="rId3"/>
          <a:stretch>
            <a:fillRect/>
          </a:stretch>
        </p:blipFill>
        <p:spPr>
          <a:xfrm>
            <a:off x="0" y="0"/>
            <a:ext cx="12191695" cy="6858000"/>
          </a:xfrm>
          <a:prstGeom prst="rect">
            <a:avLst/>
          </a:prstGeom>
        </p:spPr>
      </p:pic>
      <p:pic>
        <p:nvPicPr>
          <p:cNvPr id="5" name="anim-g3-335" descr="C:\Users\user\projects\younes-training\turath\.pptx-cache\s42-3.jpg">    </p:cNvPr>
          <p:cNvPicPr>
            <a:picLocks noChangeAspect="1"/>
          </p:cNvPicPr>
          <p:nvPr/>
        </p:nvPicPr>
        <p:blipFill>
          <a:blip r:embed="rId4"/>
          <a:stretch>
            <a:fillRect/>
          </a:stretch>
        </p:blipFill>
        <p:spPr>
          <a:xfrm>
            <a:off x="0" y="0"/>
            <a:ext cx="12191695" cy="6858000"/>
          </a:xfrm>
          <a:prstGeom prst="rect">
            <a:avLst/>
          </a:prstGeom>
        </p:spPr>
      </p:pic>
      <p:pic>
        <p:nvPicPr>
          <p:cNvPr id="6" name="anim-g4-336" descr="C:\Users\user\projects\younes-training\turath\.pptx-cache\s4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ذهبي للأبراج، وأخضر للفناء، وأزرق للمسجد، وبنفسجي للديوانية: الضوء لغة يفهمها الجميع</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الإضاءة الذكية  ·  ٤٣</a:t>
            </a:r>
            <a:endParaRPr lang="ar-SA"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الأصم يرى… والكفيف يسمع</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راسبيري باي يشغّل فيديو لغة الإشارة والشرح الصوتي معًا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الشاشة ولغة الإشارة  ·  ٤٤</a:t>
            </a:r>
            <a:endParaRPr lang="ar-SA"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337"/>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338"/>
          <p:cNvSpPr/>
          <p:nvPr/>
        </p:nvSpPr>
        <p:spPr>
          <a:xfrm>
            <a:off x="10573207" y="2109978"/>
            <a:ext cx="566928" cy="566928"/>
          </a:xfrm>
          <a:prstGeom prst="ellipse">
            <a:avLst/>
          </a:prstGeom>
          <a:solidFill>
            <a:srgbClr val="D9AE4B"/>
          </a:solidFill>
          <a:ln/>
        </p:spPr>
      </p:sp>
      <p:sp>
        <p:nvSpPr>
          <p:cNvPr id="7" name="anim-g1-339"/>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40"/>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تشغّل فيديو وصوتًا معًا من بايثون على الراسبيري</a:t>
            </a:r>
            <a:endParaRPr lang="ar-SA" sz="2400" dirty="0"/>
          </a:p>
        </p:txBody>
      </p:sp>
      <p:sp>
        <p:nvSpPr>
          <p:cNvPr id="9" name="anim-g2-341"/>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342"/>
          <p:cNvSpPr/>
          <p:nvPr/>
        </p:nvSpPr>
        <p:spPr>
          <a:xfrm>
            <a:off x="10573207" y="3166110"/>
            <a:ext cx="566928" cy="566928"/>
          </a:xfrm>
          <a:prstGeom prst="ellipse">
            <a:avLst/>
          </a:prstGeom>
          <a:solidFill>
            <a:srgbClr val="D9AE4B"/>
          </a:solidFill>
          <a:ln/>
        </p:spPr>
      </p:sp>
      <p:sp>
        <p:nvSpPr>
          <p:cNvPr id="11" name="anim-g2-343"/>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44"/>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تحل مشكلة اختلاف طول الفيديو عن الصوت</a:t>
            </a:r>
            <a:endParaRPr lang="ar-SA" sz="2400" dirty="0"/>
          </a:p>
        </p:txBody>
      </p:sp>
      <p:sp>
        <p:nvSpPr>
          <p:cNvPr id="13" name="anim-g3-345"/>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346"/>
          <p:cNvSpPr/>
          <p:nvPr/>
        </p:nvSpPr>
        <p:spPr>
          <a:xfrm>
            <a:off x="10573207" y="4222242"/>
            <a:ext cx="566928" cy="566928"/>
          </a:xfrm>
          <a:prstGeom prst="ellipse">
            <a:avLst/>
          </a:prstGeom>
          <a:solidFill>
            <a:srgbClr val="D9AE4B"/>
          </a:solidFill>
          <a:ln/>
        </p:spPr>
      </p:sp>
      <p:sp>
        <p:nvSpPr>
          <p:cNvPr id="15" name="anim-g3-347"/>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48"/>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تعالج الصوت الخافت في نظام PipeWire</a:t>
            </a:r>
            <a:endParaRPr lang="ar-SA" sz="2400" dirty="0"/>
          </a:p>
        </p:txBody>
      </p:sp>
      <p:sp>
        <p:nvSpPr>
          <p:cNvPr id="17" name="anim-g4-349"/>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350"/>
          <p:cNvSpPr/>
          <p:nvPr/>
        </p:nvSpPr>
        <p:spPr>
          <a:xfrm>
            <a:off x="10573207" y="5278374"/>
            <a:ext cx="566928" cy="566928"/>
          </a:xfrm>
          <a:prstGeom prst="ellipse">
            <a:avLst/>
          </a:prstGeom>
          <a:solidFill>
            <a:srgbClr val="D9AE4B"/>
          </a:solidFill>
          <a:ln/>
        </p:spPr>
      </p:sp>
      <p:sp>
        <p:nvSpPr>
          <p:cNvPr id="19" name="anim-g4-351"/>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352"/>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تصمم محتوى لغة إشارة دقيقًا بالتعاون مع مختص</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الشاشة ولغة الإشارة  ·  ٤٥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راسبيري باي؟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حاسوب كامل بحجم كف اليد</a:t>
            </a:r>
            <a:endParaRPr lang="ar-SA" sz="3800" dirty="0"/>
          </a:p>
        </p:txBody>
      </p:sp>
      <p:sp>
        <p:nvSpPr>
          <p:cNvPr id="5" name="anim-g1-353"/>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54"/>
          <p:cNvSpPr/>
          <p:nvPr/>
        </p:nvSpPr>
        <p:spPr>
          <a:xfrm>
            <a:off x="10527487" y="2267712"/>
            <a:ext cx="566928" cy="566928"/>
          </a:xfrm>
          <a:prstGeom prst="roundRect">
            <a:avLst>
              <a:gd name="adj" fmla="val 32258"/>
            </a:avLst>
          </a:prstGeom>
          <a:solidFill>
            <a:srgbClr val="F7E6BC"/>
          </a:solidFill>
          <a:ln/>
        </p:spPr>
      </p:sp>
      <p:sp>
        <p:nvSpPr>
          <p:cNvPr id="7" name="anim-g1-35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5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فيديو وصوت</a:t>
            </a:r>
            <a:endParaRPr lang="ar-SA" sz="2200" dirty="0"/>
          </a:p>
        </p:txBody>
      </p:sp>
      <p:sp>
        <p:nvSpPr>
          <p:cNvPr id="9" name="anim-g1-357"/>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VLC للفيديو بلغة الإشارة، وmpg123 للشرح الصوتي</a:t>
            </a:r>
            <a:endParaRPr lang="ar-SA" sz="1900" dirty="0"/>
          </a:p>
        </p:txBody>
      </p:sp>
      <p:sp>
        <p:nvSpPr>
          <p:cNvPr id="10" name="anim-g2-358"/>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59"/>
          <p:cNvSpPr/>
          <p:nvPr/>
        </p:nvSpPr>
        <p:spPr>
          <a:xfrm>
            <a:off x="6920789" y="2267712"/>
            <a:ext cx="566928" cy="566928"/>
          </a:xfrm>
          <a:prstGeom prst="roundRect">
            <a:avLst>
              <a:gd name="adj" fmla="val 32258"/>
            </a:avLst>
          </a:prstGeom>
          <a:solidFill>
            <a:srgbClr val="F7E6BC"/>
          </a:solidFill>
          <a:ln/>
        </p:spPr>
      </p:sp>
      <p:sp>
        <p:nvSpPr>
          <p:cNvPr id="12" name="anim-g2-36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6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بايثون</a:t>
            </a:r>
            <a:endParaRPr lang="ar-SA" sz="2200" dirty="0"/>
          </a:p>
        </p:txBody>
      </p:sp>
      <p:sp>
        <p:nvSpPr>
          <p:cNvPr id="14" name="anim-g2-362"/>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برنامج واحد يختار محتوى الجهة ويشغّله</a:t>
            </a:r>
            <a:endParaRPr lang="ar-SA" sz="1900" dirty="0"/>
          </a:p>
        </p:txBody>
      </p:sp>
      <p:sp>
        <p:nvSpPr>
          <p:cNvPr id="15" name="anim-g3-363"/>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64"/>
          <p:cNvSpPr/>
          <p:nvPr/>
        </p:nvSpPr>
        <p:spPr>
          <a:xfrm>
            <a:off x="3314090" y="2267712"/>
            <a:ext cx="566928" cy="566928"/>
          </a:xfrm>
          <a:prstGeom prst="roundRect">
            <a:avLst>
              <a:gd name="adj" fmla="val 32258"/>
            </a:avLst>
          </a:prstGeom>
          <a:solidFill>
            <a:srgbClr val="F7E6BC"/>
          </a:solidFill>
          <a:ln/>
        </p:spPr>
      </p:sp>
      <p:sp>
        <p:nvSpPr>
          <p:cNvPr id="17" name="anim-g3-36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6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محطة توجيه</a:t>
            </a:r>
            <a:endParaRPr lang="ar-SA" sz="2200" dirty="0"/>
          </a:p>
        </p:txBody>
      </p:sp>
      <p:sp>
        <p:nvSpPr>
          <p:cNvPr id="19" name="anim-g3-367"/>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يستقبل أوامر العين ويعيد إرسالها فورًا إلى ESP32</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الشاشة ولغة الإشارة  ·  ٤٦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C:\Users\user\projects\younes-training\turath\.pptx-cache\s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C:\Users\user\projects\younes-training\turath\.pptx-cache\s48-0.jpg">    </p:cNvPr>
          <p:cNvPicPr>
            <a:picLocks noChangeAspect="1"/>
          </p:cNvPicPr>
          <p:nvPr/>
        </p:nvPicPr>
        <p:blipFill>
          <a:blip r:embed="rId1"/>
          <a:stretch>
            <a:fillRect/>
          </a:stretch>
        </p:blipFill>
        <p:spPr>
          <a:xfrm>
            <a:off x="0" y="0"/>
            <a:ext cx="12191695" cy="6858000"/>
          </a:xfrm>
          <a:prstGeom prst="rect">
            <a:avLst/>
          </a:prstGeom>
        </p:spPr>
      </p:pic>
      <p:pic>
        <p:nvPicPr>
          <p:cNvPr id="3" name="anim-g1-368" descr="C:\Users\user\projects\younes-training\turath\.pptx-cache\s48-1.jpg">    </p:cNvPr>
          <p:cNvPicPr>
            <a:picLocks noChangeAspect="1"/>
          </p:cNvPicPr>
          <p:nvPr/>
        </p:nvPicPr>
        <p:blipFill>
          <a:blip r:embed="rId2"/>
          <a:stretch>
            <a:fillRect/>
          </a:stretch>
        </p:blipFill>
        <p:spPr>
          <a:xfrm>
            <a:off x="0" y="0"/>
            <a:ext cx="12191695" cy="6858000"/>
          </a:xfrm>
          <a:prstGeom prst="rect">
            <a:avLst/>
          </a:prstGeom>
        </p:spPr>
      </p:pic>
      <p:pic>
        <p:nvPicPr>
          <p:cNvPr id="4" name="anim-g2-369" descr="C:\Users\user\projects\younes-training\turath\.pptx-cache\s48-2.jpg">    </p:cNvPr>
          <p:cNvPicPr>
            <a:picLocks noChangeAspect="1"/>
          </p:cNvPicPr>
          <p:nvPr/>
        </p:nvPicPr>
        <p:blipFill>
          <a:blip r:embed="rId3"/>
          <a:stretch>
            <a:fillRect/>
          </a:stretch>
        </p:blipFill>
        <p:spPr>
          <a:xfrm>
            <a:off x="0" y="0"/>
            <a:ext cx="12191695" cy="6858000"/>
          </a:xfrm>
          <a:prstGeom prst="rect">
            <a:avLst/>
          </a:prstGeom>
        </p:spPr>
      </p:pic>
      <p:pic>
        <p:nvPicPr>
          <p:cNvPr id="5" name="anim-g3-370" descr="C:\Users\user\projects\younes-training\turath\.pptx-cache\s48-3.jpg">    </p:cNvPr>
          <p:cNvPicPr>
            <a:picLocks noChangeAspect="1"/>
          </p:cNvPicPr>
          <p:nvPr/>
        </p:nvPicPr>
        <p:blipFill>
          <a:blip r:embed="rId4"/>
          <a:stretch>
            <a:fillRect/>
          </a:stretch>
        </p:blipFill>
        <p:spPr>
          <a:xfrm>
            <a:off x="0" y="0"/>
            <a:ext cx="12191695" cy="6858000"/>
          </a:xfrm>
          <a:prstGeom prst="rect">
            <a:avLst/>
          </a:prstGeom>
        </p:spPr>
      </p:pic>
      <p:pic>
        <p:nvPicPr>
          <p:cNvPr id="6" name="anim-g4-371" descr="C:\Users\user\projects\younes-training\turath\.pptx-cache\s48-4.jpg">    </p:cNvPr>
          <p:cNvPicPr>
            <a:picLocks noChangeAspect="1"/>
          </p:cNvPicPr>
          <p:nvPr/>
        </p:nvPicPr>
        <p:blipFill>
          <a:blip r:embed="rId5"/>
          <a:stretch>
            <a:fillRect/>
          </a:stretch>
        </p:blipFill>
        <p:spPr>
          <a:xfrm>
            <a:off x="0" y="0"/>
            <a:ext cx="12191695" cy="6858000"/>
          </a:xfrm>
          <a:prstGeom prst="rect">
            <a:avLst/>
          </a:prstGeom>
        </p:spPr>
      </p:pic>
      <p:pic>
        <p:nvPicPr>
          <p:cNvPr id="7" name="anim-g5-372" descr="C:\Users\user\projects\younes-training\turath\.pptx-cache\s48-5.jpg">    </p:cNvPr>
          <p:cNvPicPr>
            <a:picLocks noChangeAspect="1"/>
          </p:cNvPicPr>
          <p:nvPr/>
        </p:nvPicPr>
        <p:blipFill>
          <a:blip r:embed="rId6"/>
          <a:stretch>
            <a:fillRect/>
          </a:stretch>
        </p:blipFill>
        <p:spPr>
          <a:xfrm>
            <a:off x="0" y="0"/>
            <a:ext cx="12191695" cy="6858000"/>
          </a:xfrm>
          <a:prstGeom prst="rect">
            <a:avLst/>
          </a:prstGeom>
        </p:spPr>
      </p:pic>
      <p:pic>
        <p:nvPicPr>
          <p:cNvPr id="8" name="anim-g6-373" descr="C:\Users\user\projects\younes-training\turath\.pptx-cache\s48-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تحديات واجهها الفريق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مشكلتان حقيقيتان… وحلّان</a:t>
            </a:r>
            <a:endParaRPr lang="ar-SA" sz="3800" dirty="0"/>
          </a:p>
        </p:txBody>
      </p:sp>
      <p:sp>
        <p:nvSpPr>
          <p:cNvPr id="5" name="anim-g1-374"/>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75"/>
          <p:cNvSpPr/>
          <p:nvPr/>
        </p:nvSpPr>
        <p:spPr>
          <a:xfrm>
            <a:off x="10527487" y="2267712"/>
            <a:ext cx="566928" cy="566928"/>
          </a:xfrm>
          <a:prstGeom prst="roundRect">
            <a:avLst>
              <a:gd name="adj" fmla="val 32258"/>
            </a:avLst>
          </a:prstGeom>
          <a:solidFill>
            <a:srgbClr val="F7E6BC"/>
          </a:solidFill>
          <a:ln/>
        </p:spPr>
      </p:sp>
      <p:sp>
        <p:nvSpPr>
          <p:cNvPr id="7" name="anim-g1-37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77"/>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صوت خافت جدًا</a:t>
            </a:r>
            <a:endParaRPr lang="ar-SA" sz="2200" dirty="0"/>
          </a:p>
        </p:txBody>
      </p:sp>
      <p:sp>
        <p:nvSpPr>
          <p:cNvPr id="9" name="anim-g1-378"/>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الراسبيري يستخدم نظام PipeWire بطبقات تحكم منفصلة. الحل: رفع الصوت من النظام ومن المشغّل نفسه معًا</a:t>
            </a:r>
            <a:endParaRPr lang="ar-SA" sz="1900" dirty="0"/>
          </a:p>
        </p:txBody>
      </p:sp>
      <p:sp>
        <p:nvSpPr>
          <p:cNvPr id="10" name="anim-g2-379"/>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80"/>
          <p:cNvSpPr/>
          <p:nvPr/>
        </p:nvSpPr>
        <p:spPr>
          <a:xfrm>
            <a:off x="5117440" y="2267712"/>
            <a:ext cx="566928" cy="566928"/>
          </a:xfrm>
          <a:prstGeom prst="roundRect">
            <a:avLst>
              <a:gd name="adj" fmla="val 32258"/>
            </a:avLst>
          </a:prstGeom>
          <a:solidFill>
            <a:srgbClr val="F7E6BC"/>
          </a:solidFill>
          <a:ln/>
        </p:spPr>
      </p:sp>
      <p:sp>
        <p:nvSpPr>
          <p:cNvPr id="12" name="anim-g2-381"/>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82"/>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نسيان كلمة المرور</a:t>
            </a:r>
            <a:endParaRPr lang="ar-SA" sz="2200" dirty="0"/>
          </a:p>
        </p:txBody>
      </p:sp>
      <p:sp>
        <p:nvSpPr>
          <p:cNvPr id="14" name="anim-g2-383"/>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تعذّر الدخول عن بُعد. الحل: إعادة ضبط بيانات الدخول من بطاقة الذاكرة مباشرة، دون فقد أي ملف</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الشاشة ولغة الإشارة  ·  ٤٩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لغة الإشارة بإتقان</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كيف صنع الفريق محتوى يثق به الأصم؟</a:t>
            </a:r>
            <a:endParaRPr lang="ar-SA" sz="3200" dirty="0"/>
          </a:p>
        </p:txBody>
      </p:sp>
      <p:sp>
        <p:nvSpPr>
          <p:cNvPr id="5" name="anim-g1-384"/>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85"/>
          <p:cNvSpPr/>
          <p:nvPr/>
        </p:nvSpPr>
        <p:spPr>
          <a:xfrm>
            <a:off x="10527487" y="2267712"/>
            <a:ext cx="566928" cy="566928"/>
          </a:xfrm>
          <a:prstGeom prst="roundRect">
            <a:avLst>
              <a:gd name="adj" fmla="val 32258"/>
            </a:avLst>
          </a:prstGeom>
          <a:solidFill>
            <a:srgbClr val="F7E6BC"/>
          </a:solidFill>
          <a:ln/>
        </p:spPr>
      </p:sp>
      <p:sp>
        <p:nvSpPr>
          <p:cNvPr id="7" name="anim-g1-38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87"/>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مدرسة للصم</a:t>
            </a:r>
            <a:endParaRPr lang="ar-SA" sz="2200" dirty="0"/>
          </a:p>
        </p:txBody>
      </p:sp>
      <p:sp>
        <p:nvSpPr>
          <p:cNvPr id="9" name="anim-g1-388"/>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تواصل الفريق مباشرة مع مدرسة للصم والبكم</a:t>
            </a:r>
            <a:endParaRPr lang="ar-SA" sz="1900" dirty="0"/>
          </a:p>
        </p:txBody>
      </p:sp>
      <p:sp>
        <p:nvSpPr>
          <p:cNvPr id="10" name="anim-g2-389"/>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90"/>
          <p:cNvSpPr/>
          <p:nvPr/>
        </p:nvSpPr>
        <p:spPr>
          <a:xfrm>
            <a:off x="6920789" y="2267712"/>
            <a:ext cx="566928" cy="566928"/>
          </a:xfrm>
          <a:prstGeom prst="roundRect">
            <a:avLst>
              <a:gd name="adj" fmla="val 32258"/>
            </a:avLst>
          </a:prstGeom>
          <a:solidFill>
            <a:srgbClr val="F7E6BC"/>
          </a:solidFill>
          <a:ln/>
        </p:spPr>
      </p:sp>
      <p:sp>
        <p:nvSpPr>
          <p:cNvPr id="12" name="anim-g2-391"/>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92"/>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معلم متطوع</a:t>
            </a:r>
            <a:endParaRPr lang="ar-SA" sz="2200" dirty="0"/>
          </a:p>
        </p:txBody>
      </p:sp>
      <p:sp>
        <p:nvSpPr>
          <p:cNvPr id="14" name="anim-g2-393"/>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علّم الفريق أساسيات لغة الإشارة</a:t>
            </a:r>
            <a:endParaRPr lang="ar-SA" sz="1900" dirty="0"/>
          </a:p>
        </p:txBody>
      </p:sp>
      <p:sp>
        <p:nvSpPr>
          <p:cNvPr id="15" name="anim-g3-394"/>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95"/>
          <p:cNvSpPr/>
          <p:nvPr/>
        </p:nvSpPr>
        <p:spPr>
          <a:xfrm>
            <a:off x="3314090" y="2267712"/>
            <a:ext cx="566928" cy="566928"/>
          </a:xfrm>
          <a:prstGeom prst="roundRect">
            <a:avLst>
              <a:gd name="adj" fmla="val 32258"/>
            </a:avLst>
          </a:prstGeom>
          <a:solidFill>
            <a:srgbClr val="F7E6BC"/>
          </a:solidFill>
          <a:ln/>
        </p:spPr>
      </p:sp>
      <p:sp>
        <p:nvSpPr>
          <p:cNvPr id="17" name="anim-g3-396"/>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97"/>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مراجعة كل جملة</a:t>
            </a:r>
            <a:endParaRPr lang="ar-SA" sz="2200" dirty="0"/>
          </a:p>
        </p:txBody>
      </p:sp>
      <p:sp>
        <p:nvSpPr>
          <p:cNvPr id="19" name="anim-g3-398"/>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صوّب الجمل المسجلة لكل جهة لتطابق الشرح الصوتي تمامًا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الشاشة ولغة الإشارة  ·  ٥٠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C:\Users\user\projects\younes-training\turath\.pptx-cache\s51-0.jpg">    </p:cNvPr>
          <p:cNvPicPr>
            <a:picLocks noChangeAspect="1"/>
          </p:cNvPicPr>
          <p:nvPr/>
        </p:nvPicPr>
        <p:blipFill>
          <a:blip r:embed="rId1"/>
          <a:stretch>
            <a:fillRect/>
          </a:stretch>
        </p:blipFill>
        <p:spPr>
          <a:xfrm>
            <a:off x="0" y="0"/>
            <a:ext cx="12191695" cy="6858000"/>
          </a:xfrm>
          <a:prstGeom prst="rect">
            <a:avLst/>
          </a:prstGeom>
        </p:spPr>
      </p:pic>
      <p:pic>
        <p:nvPicPr>
          <p:cNvPr id="3" name="anim-g1-399" descr="C:\Users\user\projects\younes-training\turath\.pptx-cache\s51-1.jpg">    </p:cNvPr>
          <p:cNvPicPr>
            <a:picLocks noChangeAspect="1"/>
          </p:cNvPicPr>
          <p:nvPr/>
        </p:nvPicPr>
        <p:blipFill>
          <a:blip r:embed="rId2"/>
          <a:stretch>
            <a:fillRect/>
          </a:stretch>
        </p:blipFill>
        <p:spPr>
          <a:xfrm>
            <a:off x="0" y="0"/>
            <a:ext cx="12191695" cy="6858000"/>
          </a:xfrm>
          <a:prstGeom prst="rect">
            <a:avLst/>
          </a:prstGeom>
        </p:spPr>
      </p:pic>
      <p:pic>
        <p:nvPicPr>
          <p:cNvPr id="4" name="anim-g2-400" descr="C:\Users\user\projects\younes-training\turath\.pptx-cache\s51-2.jpg">    </p:cNvPr>
          <p:cNvPicPr>
            <a:picLocks noChangeAspect="1"/>
          </p:cNvPicPr>
          <p:nvPr/>
        </p:nvPicPr>
        <p:blipFill>
          <a:blip r:embed="rId3"/>
          <a:stretch>
            <a:fillRect/>
          </a:stretch>
        </p:blipFill>
        <p:spPr>
          <a:xfrm>
            <a:off x="0" y="0"/>
            <a:ext cx="12191695" cy="6858000"/>
          </a:xfrm>
          <a:prstGeom prst="rect">
            <a:avLst/>
          </a:prstGeom>
        </p:spPr>
      </p:pic>
      <p:pic>
        <p:nvPicPr>
          <p:cNvPr id="5" name="anim-g3-401" descr="C:\Users\user\projects\younes-training\turath\.pptx-cache\s51-3.jpg">    </p:cNvPr>
          <p:cNvPicPr>
            <a:picLocks noChangeAspect="1"/>
          </p:cNvPicPr>
          <p:nvPr/>
        </p:nvPicPr>
        <p:blipFill>
          <a:blip r:embed="rId4"/>
          <a:stretch>
            <a:fillRect/>
          </a:stretch>
        </p:blipFill>
        <p:spPr>
          <a:xfrm>
            <a:off x="0" y="0"/>
            <a:ext cx="12191695" cy="6858000"/>
          </a:xfrm>
          <a:prstGeom prst="rect">
            <a:avLst/>
          </a:prstGeom>
        </p:spPr>
      </p:pic>
      <p:pic>
        <p:nvPicPr>
          <p:cNvPr id="6" name="anim-g4-402" descr="C:\Users\user\projects\younes-training\turath\.pptx-cache\s51-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صورة لا تنطفئ قبل الصوت، ومترجم يرافق كل كلمة: هكذا يُحترم كل زائر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الشاشة ولغة الإشارة  ·  ٥٢</a:t>
            </a:r>
            <a:endParaRPr lang="ar-SA"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حرف واحد عبر الشبكة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UDP: ‏r يمين · l يسار · s توقف… وحارس لا ينام</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UDP والحارس  ·  ٥٣</a:t>
            </a:r>
            <a:endParaRPr lang="ar-SA"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403"/>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404"/>
          <p:cNvSpPr/>
          <p:nvPr/>
        </p:nvSpPr>
        <p:spPr>
          <a:xfrm>
            <a:off x="10573207" y="2286000"/>
            <a:ext cx="566928" cy="566928"/>
          </a:xfrm>
          <a:prstGeom prst="ellipse">
            <a:avLst/>
          </a:prstGeom>
          <a:solidFill>
            <a:srgbClr val="D9AE4B"/>
          </a:solidFill>
          <a:ln/>
        </p:spPr>
      </p:sp>
      <p:sp>
        <p:nvSpPr>
          <p:cNvPr id="7" name="anim-g1-405"/>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06"/>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ترسل أمرًا من بايثون إلى ESP32 عبر UDP</a:t>
            </a:r>
            <a:endParaRPr lang="ar-SA" sz="2400" dirty="0"/>
          </a:p>
        </p:txBody>
      </p:sp>
      <p:sp>
        <p:nvSpPr>
          <p:cNvPr id="9" name="anim-g2-407"/>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408"/>
          <p:cNvSpPr/>
          <p:nvPr/>
        </p:nvSpPr>
        <p:spPr>
          <a:xfrm>
            <a:off x="10573207" y="3694176"/>
            <a:ext cx="566928" cy="566928"/>
          </a:xfrm>
          <a:prstGeom prst="ellipse">
            <a:avLst/>
          </a:prstGeom>
          <a:solidFill>
            <a:srgbClr val="D9AE4B"/>
          </a:solidFill>
          <a:ln/>
        </p:spPr>
      </p:sp>
      <p:sp>
        <p:nvSpPr>
          <p:cNvPr id="11" name="anim-g2-409"/>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10"/>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تفسّر لماذا اختار الفريق UDP</a:t>
            </a:r>
            <a:endParaRPr lang="ar-SA" sz="2400" dirty="0"/>
          </a:p>
        </p:txBody>
      </p:sp>
      <p:sp>
        <p:nvSpPr>
          <p:cNvPr id="13" name="anim-g3-411"/>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412"/>
          <p:cNvSpPr/>
          <p:nvPr/>
        </p:nvSpPr>
        <p:spPr>
          <a:xfrm>
            <a:off x="10573207" y="5102352"/>
            <a:ext cx="566928" cy="566928"/>
          </a:xfrm>
          <a:prstGeom prst="ellipse">
            <a:avLst/>
          </a:prstGeom>
          <a:solidFill>
            <a:srgbClr val="D9AE4B"/>
          </a:solidFill>
          <a:ln/>
        </p:spPr>
      </p:sp>
      <p:sp>
        <p:nvSpPr>
          <p:cNvPr id="15" name="anim-g3-413"/>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14"/>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حارسًا يوقف المنصة إن انقطعت الرسائل</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UDP والحارس  ·  ٥٤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UDP؟</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رسالة خفيفة… سريعة… بلا انتظار</a:t>
            </a:r>
            <a:endParaRPr lang="ar-SA" sz="3800" dirty="0"/>
          </a:p>
        </p:txBody>
      </p:sp>
      <p:sp>
        <p:nvSpPr>
          <p:cNvPr id="5" name="anim-g1-415"/>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16"/>
          <p:cNvSpPr/>
          <p:nvPr/>
        </p:nvSpPr>
        <p:spPr>
          <a:xfrm>
            <a:off x="10527487" y="2267712"/>
            <a:ext cx="566928" cy="566928"/>
          </a:xfrm>
          <a:prstGeom prst="roundRect">
            <a:avLst>
              <a:gd name="adj" fmla="val 32258"/>
            </a:avLst>
          </a:prstGeom>
          <a:solidFill>
            <a:srgbClr val="F7E6BC"/>
          </a:solidFill>
          <a:ln/>
        </p:spPr>
      </p:sp>
      <p:sp>
        <p:nvSpPr>
          <p:cNvPr id="7" name="anim-g1-41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18"/>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سريع</a:t>
            </a:r>
            <a:endParaRPr lang="ar-SA" sz="2200" dirty="0"/>
          </a:p>
        </p:txBody>
      </p:sp>
      <p:sp>
        <p:nvSpPr>
          <p:cNvPr id="9" name="anim-g1-419"/>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مصافحة ولا انتظار رد: يُرسل الحرف ويمضي</a:t>
            </a:r>
            <a:endParaRPr lang="ar-SA" sz="1900" dirty="0"/>
          </a:p>
        </p:txBody>
      </p:sp>
      <p:sp>
        <p:nvSpPr>
          <p:cNvPr id="10" name="anim-g2-420"/>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21"/>
          <p:cNvSpPr/>
          <p:nvPr/>
        </p:nvSpPr>
        <p:spPr>
          <a:xfrm>
            <a:off x="6920789" y="2267712"/>
            <a:ext cx="566928" cy="566928"/>
          </a:xfrm>
          <a:prstGeom prst="roundRect">
            <a:avLst>
              <a:gd name="adj" fmla="val 32258"/>
            </a:avLst>
          </a:prstGeom>
          <a:solidFill>
            <a:srgbClr val="F7E6BC"/>
          </a:solidFill>
          <a:ln/>
        </p:spPr>
      </p:sp>
      <p:sp>
        <p:nvSpPr>
          <p:cNvPr id="12" name="anim-g2-422"/>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23"/>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خفيف</a:t>
            </a:r>
            <a:endParaRPr lang="ar-SA" sz="2200" dirty="0"/>
          </a:p>
        </p:txBody>
      </p:sp>
      <p:sp>
        <p:nvSpPr>
          <p:cNvPr id="14" name="anim-g2-424"/>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حرف واحد: ‏r أو l أو s. لا شيء أبسط</a:t>
            </a:r>
            <a:endParaRPr lang="ar-SA" sz="1900" dirty="0"/>
          </a:p>
        </p:txBody>
      </p:sp>
      <p:sp>
        <p:nvSpPr>
          <p:cNvPr id="15" name="anim-g3-425"/>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26"/>
          <p:cNvSpPr/>
          <p:nvPr/>
        </p:nvSpPr>
        <p:spPr>
          <a:xfrm>
            <a:off x="3314090" y="2267712"/>
            <a:ext cx="566928" cy="566928"/>
          </a:xfrm>
          <a:prstGeom prst="roundRect">
            <a:avLst>
              <a:gd name="adj" fmla="val 32258"/>
            </a:avLst>
          </a:prstGeom>
          <a:solidFill>
            <a:srgbClr val="F7E6BC"/>
          </a:solidFill>
          <a:ln/>
        </p:spPr>
      </p:sp>
      <p:sp>
        <p:nvSpPr>
          <p:cNvPr id="17" name="anim-g3-427"/>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28"/>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لكن…</a:t>
            </a:r>
            <a:endParaRPr lang="ar-SA" sz="2200" dirty="0"/>
          </a:p>
        </p:txBody>
      </p:sp>
      <p:sp>
        <p:nvSpPr>
          <p:cNvPr id="19" name="anim-g3-429"/>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يضمن الوصول: قد تضيع رسالة في الطريق</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UDP والحارس  ·  ٥٥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C:\Users\user\projects\younes-training\turath\.pptx-cache\s5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Image 0" descr="C:\Users\user\projects\younes-training\turath\.pptx-cache\s5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C:\Users\user\projects\younes-training\turath\.pptx-cache\s58-0.jpg">    </p:cNvPr>
          <p:cNvPicPr>
            <a:picLocks noChangeAspect="1"/>
          </p:cNvPicPr>
          <p:nvPr/>
        </p:nvPicPr>
        <p:blipFill>
          <a:blip r:embed="rId1"/>
          <a:stretch>
            <a:fillRect/>
          </a:stretch>
        </p:blipFill>
        <p:spPr>
          <a:xfrm>
            <a:off x="0" y="0"/>
            <a:ext cx="12191695" cy="6858000"/>
          </a:xfrm>
          <a:prstGeom prst="rect">
            <a:avLst/>
          </a:prstGeom>
        </p:spPr>
      </p:pic>
      <p:pic>
        <p:nvPicPr>
          <p:cNvPr id="3" name="anim-g1-430" descr="C:\Users\user\projects\younes-training\turath\.pptx-cache\s58-1.jpg">    </p:cNvPr>
          <p:cNvPicPr>
            <a:picLocks noChangeAspect="1"/>
          </p:cNvPicPr>
          <p:nvPr/>
        </p:nvPicPr>
        <p:blipFill>
          <a:blip r:embed="rId2"/>
          <a:stretch>
            <a:fillRect/>
          </a:stretch>
        </p:blipFill>
        <p:spPr>
          <a:xfrm>
            <a:off x="0" y="0"/>
            <a:ext cx="12191695" cy="6858000"/>
          </a:xfrm>
          <a:prstGeom prst="rect">
            <a:avLst/>
          </a:prstGeom>
        </p:spPr>
      </p:pic>
      <p:pic>
        <p:nvPicPr>
          <p:cNvPr id="4" name="anim-g2-431" descr="C:\Users\user\projects\younes-training\turath\.pptx-cache\s58-2.jpg">    </p:cNvPr>
          <p:cNvPicPr>
            <a:picLocks noChangeAspect="1"/>
          </p:cNvPicPr>
          <p:nvPr/>
        </p:nvPicPr>
        <p:blipFill>
          <a:blip r:embed="rId3"/>
          <a:stretch>
            <a:fillRect/>
          </a:stretch>
        </p:blipFill>
        <p:spPr>
          <a:xfrm>
            <a:off x="0" y="0"/>
            <a:ext cx="12191695" cy="6858000"/>
          </a:xfrm>
          <a:prstGeom prst="rect">
            <a:avLst/>
          </a:prstGeom>
        </p:spPr>
      </p:pic>
      <p:pic>
        <p:nvPicPr>
          <p:cNvPr id="5" name="anim-g3-432" descr="C:\Users\user\projects\younes-training\turath\.pptx-cache\s58-3.jpg">    </p:cNvPr>
          <p:cNvPicPr>
            <a:picLocks noChangeAspect="1"/>
          </p:cNvPicPr>
          <p:nvPr/>
        </p:nvPicPr>
        <p:blipFill>
          <a:blip r:embed="rId4"/>
          <a:stretch>
            <a:fillRect/>
          </a:stretch>
        </p:blipFill>
        <p:spPr>
          <a:xfrm>
            <a:off x="0" y="0"/>
            <a:ext cx="12191695" cy="6858000"/>
          </a:xfrm>
          <a:prstGeom prst="rect">
            <a:avLst/>
          </a:prstGeom>
        </p:spPr>
      </p:pic>
      <p:pic>
        <p:nvPicPr>
          <p:cNvPr id="6" name="anim-g4-433" descr="C:\Users\user\projects\younes-training\turath\.pptx-cache\s58-4.jpg">    </p:cNvPr>
          <p:cNvPicPr>
            <a:picLocks noChangeAspect="1"/>
          </p:cNvPicPr>
          <p:nvPr/>
        </p:nvPicPr>
        <p:blipFill>
          <a:blip r:embed="rId5"/>
          <a:stretch>
            <a:fillRect/>
          </a:stretch>
        </p:blipFill>
        <p:spPr>
          <a:xfrm>
            <a:off x="0" y="0"/>
            <a:ext cx="12191695" cy="6858000"/>
          </a:xfrm>
          <a:prstGeom prst="rect">
            <a:avLst/>
          </a:prstGeom>
        </p:spPr>
      </p:pic>
      <p:pic>
        <p:nvPicPr>
          <p:cNvPr id="7" name="anim-g5-434" descr="C:\Users\user\projects\younes-training\turath\.pptx-cache\s58-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C:\Users\user\projects\younes-training\turath\.pptx-cache\s59-0.jpg">    </p:cNvPr>
          <p:cNvPicPr>
            <a:picLocks noChangeAspect="1"/>
          </p:cNvPicPr>
          <p:nvPr/>
        </p:nvPicPr>
        <p:blipFill>
          <a:blip r:embed="rId1"/>
          <a:stretch>
            <a:fillRect/>
          </a:stretch>
        </p:blipFill>
        <p:spPr>
          <a:xfrm>
            <a:off x="0" y="0"/>
            <a:ext cx="12191695" cy="6858000"/>
          </a:xfrm>
          <a:prstGeom prst="rect">
            <a:avLst/>
          </a:prstGeom>
        </p:spPr>
      </p:pic>
      <p:pic>
        <p:nvPicPr>
          <p:cNvPr id="3" name="anim-g1-435" descr="C:\Users\user\projects\younes-training\turath\.pptx-cache\s59-1.jpg">    </p:cNvPr>
          <p:cNvPicPr>
            <a:picLocks noChangeAspect="1"/>
          </p:cNvPicPr>
          <p:nvPr/>
        </p:nvPicPr>
        <p:blipFill>
          <a:blip r:embed="rId2"/>
          <a:stretch>
            <a:fillRect/>
          </a:stretch>
        </p:blipFill>
        <p:spPr>
          <a:xfrm>
            <a:off x="0" y="0"/>
            <a:ext cx="12191695" cy="6858000"/>
          </a:xfrm>
          <a:prstGeom prst="rect">
            <a:avLst/>
          </a:prstGeom>
        </p:spPr>
      </p:pic>
      <p:pic>
        <p:nvPicPr>
          <p:cNvPr id="4" name="anim-g2-436" descr="C:\Users\user\projects\younes-training\turath\.pptx-cache\s59-2.jpg">    </p:cNvPr>
          <p:cNvPicPr>
            <a:picLocks noChangeAspect="1"/>
          </p:cNvPicPr>
          <p:nvPr/>
        </p:nvPicPr>
        <p:blipFill>
          <a:blip r:embed="rId3"/>
          <a:stretch>
            <a:fillRect/>
          </a:stretch>
        </p:blipFill>
        <p:spPr>
          <a:xfrm>
            <a:off x="0" y="0"/>
            <a:ext cx="12191695" cy="6858000"/>
          </a:xfrm>
          <a:prstGeom prst="rect">
            <a:avLst/>
          </a:prstGeom>
        </p:spPr>
      </p:pic>
      <p:pic>
        <p:nvPicPr>
          <p:cNvPr id="5" name="anim-g3-437" descr="C:\Users\user\projects\younes-training\turath\.pptx-cache\s59-3.jpg">    </p:cNvPr>
          <p:cNvPicPr>
            <a:picLocks noChangeAspect="1"/>
          </p:cNvPicPr>
          <p:nvPr/>
        </p:nvPicPr>
        <p:blipFill>
          <a:blip r:embed="rId4"/>
          <a:stretch>
            <a:fillRect/>
          </a:stretch>
        </p:blipFill>
        <p:spPr>
          <a:xfrm>
            <a:off x="0" y="0"/>
            <a:ext cx="12191695" cy="6858000"/>
          </a:xfrm>
          <a:prstGeom prst="rect">
            <a:avLst/>
          </a:prstGeom>
        </p:spPr>
      </p:pic>
      <p:pic>
        <p:nvPicPr>
          <p:cNvPr id="6" name="anim-g4-438" descr="C:\Users\user\projects\younes-training\turath\.pptx-cache\s59-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كيف اكتشف الفريق أن رسالة ضائعة هي سبب الدوران الزائد؟</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بالتخمين</a:t>
            </a:r>
            <a:endParaRPr lang="ar-SA" sz="2500" dirty="0"/>
          </a:p>
        </p:txBody>
      </p:sp>
      <p:sp>
        <p:nvSpPr>
          <p:cNvPr id="9" name="anim-g1-439"/>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440"/>
          <p:cNvSpPr/>
          <p:nvPr/>
        </p:nvSpPr>
        <p:spPr>
          <a:xfrm>
            <a:off x="10231831" y="2194560"/>
            <a:ext cx="954024" cy="954024"/>
          </a:xfrm>
          <a:prstGeom prst="roundRect">
            <a:avLst>
              <a:gd name="adj" fmla="val 11502"/>
            </a:avLst>
          </a:prstGeom>
          <a:solidFill>
            <a:srgbClr val="A3A9BA"/>
          </a:solidFill>
          <a:ln/>
        </p:spPr>
      </p:sp>
      <p:sp>
        <p:nvSpPr>
          <p:cNvPr id="11" name="anim-g1-441"/>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442"/>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بالتخمين</a:t>
            </a:r>
            <a:endParaRPr lang="ar-SA" sz="2400" dirty="0"/>
          </a:p>
        </p:txBody>
      </p:sp>
      <p:sp>
        <p:nvSpPr>
          <p:cNvPr id="13" name="anim-g1-443"/>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التخمين لا يكفي في الهندسة</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بمراجعة سجلات التشغيل الفعلية</a:t>
            </a:r>
            <a:endParaRPr lang="ar-SA" sz="2500" dirty="0"/>
          </a:p>
        </p:txBody>
      </p:sp>
      <p:sp>
        <p:nvSpPr>
          <p:cNvPr id="18" name="anim-g1-444"/>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445"/>
          <p:cNvSpPr/>
          <p:nvPr/>
        </p:nvSpPr>
        <p:spPr>
          <a:xfrm>
            <a:off x="10231831" y="3569208"/>
            <a:ext cx="954024" cy="954024"/>
          </a:xfrm>
          <a:prstGeom prst="roundRect">
            <a:avLst>
              <a:gd name="adj" fmla="val 11502"/>
            </a:avLst>
          </a:prstGeom>
          <a:solidFill>
            <a:srgbClr val="2E9E6B"/>
          </a:solidFill>
          <a:ln/>
        </p:spPr>
      </p:sp>
      <p:sp>
        <p:nvSpPr>
          <p:cNvPr id="20" name="anim-g1-446"/>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447"/>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بمراجعة سجلات التشغيل الفعلية</a:t>
            </a:r>
            <a:endParaRPr lang="ar-SA" sz="2400" dirty="0"/>
          </a:p>
        </p:txBody>
      </p:sp>
      <p:sp>
        <p:nvSpPr>
          <p:cNvPr id="22" name="anim-g1-448"/>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السجلات أظهرت رسالة مفقودة قبل كل دوران زائد</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بتغيير المحرك</a:t>
            </a:r>
            <a:endParaRPr lang="ar-SA" sz="2500" dirty="0"/>
          </a:p>
        </p:txBody>
      </p:sp>
      <p:sp>
        <p:nvSpPr>
          <p:cNvPr id="27" name="anim-g1-449"/>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450"/>
          <p:cNvSpPr/>
          <p:nvPr/>
        </p:nvSpPr>
        <p:spPr>
          <a:xfrm>
            <a:off x="10231831" y="4943856"/>
            <a:ext cx="954024" cy="954024"/>
          </a:xfrm>
          <a:prstGeom prst="roundRect">
            <a:avLst>
              <a:gd name="adj" fmla="val 11502"/>
            </a:avLst>
          </a:prstGeom>
          <a:solidFill>
            <a:srgbClr val="A3A9BA"/>
          </a:solidFill>
          <a:ln/>
        </p:spPr>
      </p:sp>
      <p:sp>
        <p:nvSpPr>
          <p:cNvPr id="29" name="anim-g1-451"/>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452"/>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بتغيير المحرك</a:t>
            </a:r>
            <a:endParaRPr lang="ar-SA" sz="2400" dirty="0"/>
          </a:p>
        </p:txBody>
      </p:sp>
      <p:sp>
        <p:nvSpPr>
          <p:cNvPr id="31" name="anim-g1-453"/>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المحرك كان سليمًا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UDP والحارس  ·  ٦٠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C:\Users\user\projects\younes-training\turath\.pptx-cache\s6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الصمت في الشبكة ليس «استمر»…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بل «توقف»: ثانية واحدة تحمي القصر من دوران لا ينتهي</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UDP والحارس  ·  ٦٢</a:t>
            </a:r>
            <a:endParaRPr lang="ar-SA"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٧</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٧</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العين تقود القصر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بايثون + MediaPipe Face Landmarker</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تتبع العين  ·  ٦٣</a:t>
            </a:r>
            <a:endParaRPr lang="ar-SA"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454"/>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455"/>
          <p:cNvSpPr/>
          <p:nvPr/>
        </p:nvSpPr>
        <p:spPr>
          <a:xfrm>
            <a:off x="10573207" y="2109978"/>
            <a:ext cx="566928" cy="566928"/>
          </a:xfrm>
          <a:prstGeom prst="ellipse">
            <a:avLst/>
          </a:prstGeom>
          <a:solidFill>
            <a:srgbClr val="D9AE4B"/>
          </a:solidFill>
          <a:ln/>
        </p:spPr>
      </p:sp>
      <p:sp>
        <p:nvSpPr>
          <p:cNvPr id="7" name="anim-g1-456"/>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57"/>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كيف تحدد الرؤية الحاسوبية موضع البؤبؤ</a:t>
            </a:r>
            <a:endParaRPr lang="ar-SA" sz="2400" dirty="0"/>
          </a:p>
        </p:txBody>
      </p:sp>
      <p:sp>
        <p:nvSpPr>
          <p:cNvPr id="9" name="anim-g2-458"/>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459"/>
          <p:cNvSpPr/>
          <p:nvPr/>
        </p:nvSpPr>
        <p:spPr>
          <a:xfrm>
            <a:off x="10573207" y="3166110"/>
            <a:ext cx="566928" cy="566928"/>
          </a:xfrm>
          <a:prstGeom prst="ellipse">
            <a:avLst/>
          </a:prstGeom>
          <a:solidFill>
            <a:srgbClr val="D9AE4B"/>
          </a:solidFill>
          <a:ln/>
        </p:spPr>
      </p:sp>
      <p:sp>
        <p:nvSpPr>
          <p:cNvPr id="11" name="anim-g2-460"/>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61"/>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تحوّل موضع البؤبؤ إلى نسبة ثم إلى أمر</a:t>
            </a:r>
            <a:endParaRPr lang="ar-SA" sz="2400" dirty="0"/>
          </a:p>
        </p:txBody>
      </p:sp>
      <p:sp>
        <p:nvSpPr>
          <p:cNvPr id="13" name="anim-g3-462"/>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63"/>
          <p:cNvSpPr/>
          <p:nvPr/>
        </p:nvSpPr>
        <p:spPr>
          <a:xfrm>
            <a:off x="10573207" y="4222242"/>
            <a:ext cx="566928" cy="566928"/>
          </a:xfrm>
          <a:prstGeom prst="ellipse">
            <a:avLst/>
          </a:prstGeom>
          <a:solidFill>
            <a:srgbClr val="D9AE4B"/>
          </a:solidFill>
          <a:ln/>
        </p:spPr>
      </p:sp>
      <p:sp>
        <p:nvSpPr>
          <p:cNvPr id="15" name="anim-g3-464"/>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65"/>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معايرة تلقائية وحارسًا للرمشة</a:t>
            </a:r>
            <a:endParaRPr lang="ar-SA" sz="2400" dirty="0"/>
          </a:p>
        </p:txBody>
      </p:sp>
      <p:sp>
        <p:nvSpPr>
          <p:cNvPr id="17" name="anim-g4-466"/>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467"/>
          <p:cNvSpPr/>
          <p:nvPr/>
        </p:nvSpPr>
        <p:spPr>
          <a:xfrm>
            <a:off x="10573207" y="5278374"/>
            <a:ext cx="566928" cy="566928"/>
          </a:xfrm>
          <a:prstGeom prst="ellipse">
            <a:avLst/>
          </a:prstGeom>
          <a:solidFill>
            <a:srgbClr val="D9AE4B"/>
          </a:solidFill>
          <a:ln/>
        </p:spPr>
      </p:sp>
      <p:sp>
        <p:nvSpPr>
          <p:cNvPr id="19" name="anim-g4-468"/>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69"/>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تتحقق من المؤشرات بنفسك ولا تثق بالمصادر عمياء</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تتبع العين  ·  ٦٤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من الرأس إلى البؤبؤ</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قرار شجاع: من حل «جيد» إلى حل «أشمل»</a:t>
            </a:r>
            <a:endParaRPr lang="ar-SA" sz="3200" dirty="0"/>
          </a:p>
        </p:txBody>
      </p:sp>
      <p:sp>
        <p:nvSpPr>
          <p:cNvPr id="5" name="anim-g1-470"/>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71"/>
          <p:cNvSpPr/>
          <p:nvPr/>
        </p:nvSpPr>
        <p:spPr>
          <a:xfrm>
            <a:off x="10527487" y="2267712"/>
            <a:ext cx="566928" cy="566928"/>
          </a:xfrm>
          <a:prstGeom prst="roundRect">
            <a:avLst>
              <a:gd name="adj" fmla="val 32258"/>
            </a:avLst>
          </a:prstGeom>
          <a:solidFill>
            <a:srgbClr val="F7E6BC"/>
          </a:solidFill>
          <a:ln/>
        </p:spPr>
      </p:sp>
      <p:sp>
        <p:nvSpPr>
          <p:cNvPr id="7" name="anim-g1-47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73"/>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البداية: ميلان الرأس</a:t>
            </a:r>
            <a:endParaRPr lang="ar-SA" sz="2200" dirty="0"/>
          </a:p>
        </p:txBody>
      </p:sp>
      <p:sp>
        <p:nvSpPr>
          <p:cNvPr id="9" name="anim-g1-474"/>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جرّبه الفريق فعليًا وحقق نتائج جيدة</a:t>
            </a:r>
            <a:endParaRPr lang="ar-SA" sz="1900" dirty="0"/>
          </a:p>
        </p:txBody>
      </p:sp>
      <p:sp>
        <p:nvSpPr>
          <p:cNvPr id="10" name="anim-g2-475"/>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76"/>
          <p:cNvSpPr/>
          <p:nvPr/>
        </p:nvSpPr>
        <p:spPr>
          <a:xfrm>
            <a:off x="6920789" y="2267712"/>
            <a:ext cx="566928" cy="566928"/>
          </a:xfrm>
          <a:prstGeom prst="roundRect">
            <a:avLst>
              <a:gd name="adj" fmla="val 32258"/>
            </a:avLst>
          </a:prstGeom>
          <a:solidFill>
            <a:srgbClr val="F7E6BC"/>
          </a:solidFill>
          <a:ln/>
        </p:spPr>
      </p:sp>
      <p:sp>
        <p:nvSpPr>
          <p:cNvPr id="12" name="anim-g2-477"/>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78"/>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السؤال</a:t>
            </a:r>
            <a:endParaRPr lang="ar-SA" sz="2200" dirty="0"/>
          </a:p>
        </p:txBody>
      </p:sp>
      <p:sp>
        <p:nvSpPr>
          <p:cNvPr id="14" name="anim-g2-479"/>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بعض ذوي الإعاقة الحركية الشديدة لا يحركون رؤوسهم أيضًا</a:t>
            </a:r>
            <a:endParaRPr lang="ar-SA" sz="1900" dirty="0"/>
          </a:p>
        </p:txBody>
      </p:sp>
      <p:sp>
        <p:nvSpPr>
          <p:cNvPr id="15" name="anim-g3-480"/>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81"/>
          <p:cNvSpPr/>
          <p:nvPr/>
        </p:nvSpPr>
        <p:spPr>
          <a:xfrm>
            <a:off x="3314090" y="2267712"/>
            <a:ext cx="566928" cy="566928"/>
          </a:xfrm>
          <a:prstGeom prst="roundRect">
            <a:avLst>
              <a:gd name="adj" fmla="val 32258"/>
            </a:avLst>
          </a:prstGeom>
          <a:solidFill>
            <a:srgbClr val="F7E6BC"/>
          </a:solidFill>
          <a:ln/>
        </p:spPr>
      </p:sp>
      <p:sp>
        <p:nvSpPr>
          <p:cNvPr id="17" name="anim-g3-482"/>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83"/>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التطوير: البؤبؤ</a:t>
            </a:r>
            <a:endParaRPr lang="ar-SA" sz="2200" dirty="0"/>
          </a:p>
        </p:txBody>
      </p:sp>
      <p:sp>
        <p:nvSpPr>
          <p:cNvPr id="19" name="anim-g3-484"/>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حركة العين متاحة لشريحة أوسع… فتقدّم الفريق خطوة أعمق</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تتبع العين  ·  ٦٥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كيف يعمل؟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أربع خطوات في كل إطار من الكاميرا</a:t>
            </a:r>
            <a:endParaRPr lang="ar-SA" sz="3200" dirty="0"/>
          </a:p>
        </p:txBody>
      </p:sp>
      <p:sp>
        <p:nvSpPr>
          <p:cNvPr id="5" name="anim-g1-485"/>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86"/>
          <p:cNvSpPr/>
          <p:nvPr/>
        </p:nvSpPr>
        <p:spPr>
          <a:xfrm>
            <a:off x="10527487" y="2267712"/>
            <a:ext cx="566928" cy="566928"/>
          </a:xfrm>
          <a:prstGeom prst="roundRect">
            <a:avLst>
              <a:gd name="adj" fmla="val 32258"/>
            </a:avLst>
          </a:prstGeom>
          <a:solidFill>
            <a:srgbClr val="F7E6BC"/>
          </a:solidFill>
          <a:ln/>
        </p:spPr>
      </p:sp>
      <p:sp>
        <p:nvSpPr>
          <p:cNvPr id="7" name="anim-g1-48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88"/>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٤٧٨ نقطة</a:t>
            </a:r>
            <a:endParaRPr lang="ar-SA" sz="2200" dirty="0"/>
          </a:p>
        </p:txBody>
      </p:sp>
      <p:sp>
        <p:nvSpPr>
          <p:cNvPr id="9" name="anim-g1-489"/>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MediaPipe يرسم شبكة على الوجه، منها نقاط زوايا العين ومركز البؤبؤ</a:t>
            </a:r>
            <a:endParaRPr lang="ar-SA" sz="1900" dirty="0"/>
          </a:p>
        </p:txBody>
      </p:sp>
      <p:sp>
        <p:nvSpPr>
          <p:cNvPr id="10" name="anim-g2-490"/>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91"/>
          <p:cNvSpPr/>
          <p:nvPr/>
        </p:nvSpPr>
        <p:spPr>
          <a:xfrm>
            <a:off x="5117440" y="2267712"/>
            <a:ext cx="566928" cy="566928"/>
          </a:xfrm>
          <a:prstGeom prst="roundRect">
            <a:avLst>
              <a:gd name="adj" fmla="val 32258"/>
            </a:avLst>
          </a:prstGeom>
          <a:solidFill>
            <a:srgbClr val="F7E6BC"/>
          </a:solidFill>
          <a:ln/>
        </p:spPr>
      </p:sp>
      <p:sp>
        <p:nvSpPr>
          <p:cNvPr id="12" name="anim-g2-492"/>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93"/>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النسبة</a:t>
            </a:r>
            <a:endParaRPr lang="ar-SA" sz="2200" dirty="0"/>
          </a:p>
        </p:txBody>
      </p:sp>
      <p:sp>
        <p:nvSpPr>
          <p:cNvPr id="14" name="anim-g2-494"/>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موضع البؤبؤ بين زاويتي العين: ٠ طرف، و١ الطرف الآخر، والوسط نحو ٠٫٥</a:t>
            </a:r>
            <a:endParaRPr lang="ar-SA" sz="1900" dirty="0"/>
          </a:p>
        </p:txBody>
      </p:sp>
      <p:sp>
        <p:nvSpPr>
          <p:cNvPr id="15" name="anim-g3-495"/>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96"/>
          <p:cNvSpPr/>
          <p:nvPr/>
        </p:nvSpPr>
        <p:spPr>
          <a:xfrm>
            <a:off x="10527487" y="4393692"/>
            <a:ext cx="566928" cy="566928"/>
          </a:xfrm>
          <a:prstGeom prst="roundRect">
            <a:avLst>
              <a:gd name="adj" fmla="val 32258"/>
            </a:avLst>
          </a:prstGeom>
          <a:solidFill>
            <a:srgbClr val="F7E6BC"/>
          </a:solidFill>
          <a:ln/>
        </p:spPr>
      </p:sp>
      <p:sp>
        <p:nvSpPr>
          <p:cNvPr id="17" name="anim-g3-497"/>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98"/>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المعايرة</a:t>
            </a:r>
            <a:endParaRPr lang="ar-SA" sz="2200" dirty="0"/>
          </a:p>
        </p:txBody>
      </p:sp>
      <p:sp>
        <p:nvSpPr>
          <p:cNvPr id="19" name="anim-g3-499"/>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٢٫٥ ثانية في البداية ينظر فيها الزائر للأمام: هذا «وسطه» هو</a:t>
            </a:r>
            <a:endParaRPr lang="ar-SA" sz="1900" dirty="0"/>
          </a:p>
        </p:txBody>
      </p:sp>
      <p:sp>
        <p:nvSpPr>
          <p:cNvPr id="20" name="anim-g4-500"/>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501"/>
          <p:cNvSpPr/>
          <p:nvPr/>
        </p:nvSpPr>
        <p:spPr>
          <a:xfrm>
            <a:off x="5117440" y="4393692"/>
            <a:ext cx="566928" cy="566928"/>
          </a:xfrm>
          <a:prstGeom prst="roundRect">
            <a:avLst>
              <a:gd name="adj" fmla="val 32258"/>
            </a:avLst>
          </a:prstGeom>
          <a:solidFill>
            <a:srgbClr val="F7E6BC"/>
          </a:solidFill>
          <a:ln/>
        </p:spPr>
      </p:sp>
      <p:sp>
        <p:nvSpPr>
          <p:cNvPr id="22" name="anim-g4-502"/>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503"/>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الأمر</a:t>
            </a:r>
            <a:endParaRPr lang="ar-SA" sz="2200" dirty="0"/>
          </a:p>
        </p:txBody>
      </p:sp>
      <p:sp>
        <p:nvSpPr>
          <p:cNvPr id="24" name="anim-g4-504"/>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أبعد من الوسط يمينًا ← r، يسارًا ← l، قريب من الوسط ← s</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تتبع العين  ·  ٦٦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pic>
        <p:nvPicPr>
          <p:cNvPr id="2" name="Image 0" descr="C:\Users\user\projects\younes-training\turath\.pptx-cache\s6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pic>
        <p:nvPicPr>
          <p:cNvPr id="2" name="Image 0" descr="C:\Users\user\projects\younes-training\turath\.pptx-cache\s68-0.jpg">    </p:cNvPr>
          <p:cNvPicPr>
            <a:picLocks noChangeAspect="1"/>
          </p:cNvPicPr>
          <p:nvPr/>
        </p:nvPicPr>
        <p:blipFill>
          <a:blip r:embed="rId1"/>
          <a:stretch>
            <a:fillRect/>
          </a:stretch>
        </p:blipFill>
        <p:spPr>
          <a:xfrm>
            <a:off x="0" y="0"/>
            <a:ext cx="12191695" cy="6858000"/>
          </a:xfrm>
          <a:prstGeom prst="rect">
            <a:avLst/>
          </a:prstGeom>
        </p:spPr>
      </p:pic>
      <p:pic>
        <p:nvPicPr>
          <p:cNvPr id="3" name="anim-g1-505" descr="C:\Users\user\projects\younes-training\turath\.pptx-cache\s68-1.jpg">    </p:cNvPr>
          <p:cNvPicPr>
            <a:picLocks noChangeAspect="1"/>
          </p:cNvPicPr>
          <p:nvPr/>
        </p:nvPicPr>
        <p:blipFill>
          <a:blip r:embed="rId2"/>
          <a:stretch>
            <a:fillRect/>
          </a:stretch>
        </p:blipFill>
        <p:spPr>
          <a:xfrm>
            <a:off x="0" y="0"/>
            <a:ext cx="12191695" cy="6858000"/>
          </a:xfrm>
          <a:prstGeom prst="rect">
            <a:avLst/>
          </a:prstGeom>
        </p:spPr>
      </p:pic>
      <p:pic>
        <p:nvPicPr>
          <p:cNvPr id="4" name="anim-g2-506" descr="C:\Users\user\projects\younes-training\turath\.pptx-cache\s68-2.jpg">    </p:cNvPr>
          <p:cNvPicPr>
            <a:picLocks noChangeAspect="1"/>
          </p:cNvPicPr>
          <p:nvPr/>
        </p:nvPicPr>
        <p:blipFill>
          <a:blip r:embed="rId3"/>
          <a:stretch>
            <a:fillRect/>
          </a:stretch>
        </p:blipFill>
        <p:spPr>
          <a:xfrm>
            <a:off x="0" y="0"/>
            <a:ext cx="12191695" cy="6858000"/>
          </a:xfrm>
          <a:prstGeom prst="rect">
            <a:avLst/>
          </a:prstGeom>
        </p:spPr>
      </p:pic>
      <p:pic>
        <p:nvPicPr>
          <p:cNvPr id="5" name="anim-g3-507" descr="C:\Users\user\projects\younes-training\turath\.pptx-cache\s68-3.jpg">    </p:cNvPr>
          <p:cNvPicPr>
            <a:picLocks noChangeAspect="1"/>
          </p:cNvPicPr>
          <p:nvPr/>
        </p:nvPicPr>
        <p:blipFill>
          <a:blip r:embed="rId4"/>
          <a:stretch>
            <a:fillRect/>
          </a:stretch>
        </p:blipFill>
        <p:spPr>
          <a:xfrm>
            <a:off x="0" y="0"/>
            <a:ext cx="12191695" cy="6858000"/>
          </a:xfrm>
          <a:prstGeom prst="rect">
            <a:avLst/>
          </a:prstGeom>
        </p:spPr>
      </p:pic>
      <p:pic>
        <p:nvPicPr>
          <p:cNvPr id="6" name="anim-g4-508" descr="C:\Users\user\projects\younes-training\turath\.pptx-cache\s68-4.jpg">    </p:cNvPr>
          <p:cNvPicPr>
            <a:picLocks noChangeAspect="1"/>
          </p:cNvPicPr>
          <p:nvPr/>
        </p:nvPicPr>
        <p:blipFill>
          <a:blip r:embed="rId5"/>
          <a:stretch>
            <a:fillRect/>
          </a:stretch>
        </p:blipFill>
        <p:spPr>
          <a:xfrm>
            <a:off x="0" y="0"/>
            <a:ext cx="12191695" cy="6858000"/>
          </a:xfrm>
          <a:prstGeom prst="rect">
            <a:avLst/>
          </a:prstGeom>
        </p:spPr>
      </p:pic>
      <p:pic>
        <p:nvPicPr>
          <p:cNvPr id="7" name="anim-g5-509" descr="C:\Users\user\projects\younes-training\turath\.pptx-cache\s68-5.jpg">    </p:cNvPr>
          <p:cNvPicPr>
            <a:picLocks noChangeAspect="1"/>
          </p:cNvPicPr>
          <p:nvPr/>
        </p:nvPicPr>
        <p:blipFill>
          <a:blip r:embed="rId6"/>
          <a:stretch>
            <a:fillRect/>
          </a:stretch>
        </p:blipFill>
        <p:spPr>
          <a:xfrm>
            <a:off x="0" y="0"/>
            <a:ext cx="12191695" cy="6858000"/>
          </a:xfrm>
          <a:prstGeom prst="rect">
            <a:avLst/>
          </a:prstGeom>
        </p:spPr>
      </p:pic>
      <p:pic>
        <p:nvPicPr>
          <p:cNvPr id="8" name="anim-g6-510" descr="C:\Users\user\projects\younes-training\turath\.pptx-cache\s68-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ابتكار</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الزائر نفسه هو «حلقة التغذية الراجعة»</a:t>
            </a:r>
            <a:endParaRPr lang="ar-SA" sz="3200" dirty="0"/>
          </a:p>
        </p:txBody>
      </p:sp>
      <p:sp>
        <p:nvSpPr>
          <p:cNvPr id="5" name="anim-g1-511"/>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12"/>
          <p:cNvSpPr/>
          <p:nvPr/>
        </p:nvSpPr>
        <p:spPr>
          <a:xfrm>
            <a:off x="10527487" y="2267712"/>
            <a:ext cx="566928" cy="566928"/>
          </a:xfrm>
          <a:prstGeom prst="roundRect">
            <a:avLst>
              <a:gd name="adj" fmla="val 32258"/>
            </a:avLst>
          </a:prstGeom>
          <a:solidFill>
            <a:srgbClr val="F7E6BC"/>
          </a:solidFill>
          <a:ln/>
        </p:spPr>
      </p:sp>
      <p:sp>
        <p:nvSpPr>
          <p:cNvPr id="7" name="anim-g1-51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14"/>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بدل حساسات موضع غالية</a:t>
            </a:r>
            <a:endParaRPr lang="ar-SA" sz="2200" dirty="0"/>
          </a:p>
        </p:txBody>
      </p:sp>
      <p:sp>
        <p:nvSpPr>
          <p:cNvPr id="9" name="anim-g1-515"/>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مُرمّز (Encoder) يخبرنا أين توقفت المنصة</a:t>
            </a:r>
            <a:endParaRPr lang="ar-SA" sz="1900" dirty="0"/>
          </a:p>
        </p:txBody>
      </p:sp>
      <p:sp>
        <p:nvSpPr>
          <p:cNvPr id="10" name="anim-g2-516"/>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17"/>
          <p:cNvSpPr/>
          <p:nvPr/>
        </p:nvSpPr>
        <p:spPr>
          <a:xfrm>
            <a:off x="5117440" y="2267712"/>
            <a:ext cx="566928" cy="566928"/>
          </a:xfrm>
          <a:prstGeom prst="roundRect">
            <a:avLst>
              <a:gd name="adj" fmla="val 32258"/>
            </a:avLst>
          </a:prstGeom>
          <a:solidFill>
            <a:srgbClr val="F7E6BC"/>
          </a:solidFill>
          <a:ln/>
        </p:spPr>
      </p:sp>
      <p:sp>
        <p:nvSpPr>
          <p:cNvPr id="12" name="anim-g2-518"/>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19"/>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العين هي الحساس</a:t>
            </a:r>
            <a:endParaRPr lang="ar-SA" sz="2200" dirty="0"/>
          </a:p>
        </p:txBody>
      </p:sp>
      <p:sp>
        <p:nvSpPr>
          <p:cNvPr id="14" name="anim-g2-520"/>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الزائر يرى الجهة التي يريدها فيعيد نظره للأمام: فتتوقف المنصة</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تتبع العين  ·  ٦٩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pic>
        <p:nvPicPr>
          <p:cNvPr id="2" name="Image 0" descr="C:\Users\user\projects\younes-training\turath\.pptx-cache\s70-0.jpg">    </p:cNvPr>
          <p:cNvPicPr>
            <a:picLocks noChangeAspect="1"/>
          </p:cNvPicPr>
          <p:nvPr/>
        </p:nvPicPr>
        <p:blipFill>
          <a:blip r:embed="rId1"/>
          <a:stretch>
            <a:fillRect/>
          </a:stretch>
        </p:blipFill>
        <p:spPr>
          <a:xfrm>
            <a:off x="0" y="0"/>
            <a:ext cx="12191695" cy="6858000"/>
          </a:xfrm>
          <a:prstGeom prst="rect">
            <a:avLst/>
          </a:prstGeom>
        </p:spPr>
      </p:pic>
      <p:pic>
        <p:nvPicPr>
          <p:cNvPr id="3" name="anim-g1-521" descr="C:\Users\user\projects\younes-training\turath\.pptx-cache\s70-1.jpg">    </p:cNvPr>
          <p:cNvPicPr>
            <a:picLocks noChangeAspect="1"/>
          </p:cNvPicPr>
          <p:nvPr/>
        </p:nvPicPr>
        <p:blipFill>
          <a:blip r:embed="rId2"/>
          <a:stretch>
            <a:fillRect/>
          </a:stretch>
        </p:blipFill>
        <p:spPr>
          <a:xfrm>
            <a:off x="0" y="0"/>
            <a:ext cx="12191695" cy="6858000"/>
          </a:xfrm>
          <a:prstGeom prst="rect">
            <a:avLst/>
          </a:prstGeom>
        </p:spPr>
      </p:pic>
      <p:pic>
        <p:nvPicPr>
          <p:cNvPr id="4" name="anim-g2-522" descr="C:\Users\user\projects\younes-training\turath\.pptx-cache\s70-2.jpg">    </p:cNvPr>
          <p:cNvPicPr>
            <a:picLocks noChangeAspect="1"/>
          </p:cNvPicPr>
          <p:nvPr/>
        </p:nvPicPr>
        <p:blipFill>
          <a:blip r:embed="rId3"/>
          <a:stretch>
            <a:fillRect/>
          </a:stretch>
        </p:blipFill>
        <p:spPr>
          <a:xfrm>
            <a:off x="0" y="0"/>
            <a:ext cx="12191695" cy="6858000"/>
          </a:xfrm>
          <a:prstGeom prst="rect">
            <a:avLst/>
          </a:prstGeom>
        </p:spPr>
      </p:pic>
      <p:pic>
        <p:nvPicPr>
          <p:cNvPr id="5" name="anim-g3-523" descr="C:\Users\user\projects\younes-training\turath\.pptx-cache\s70-3.jpg">    </p:cNvPr>
          <p:cNvPicPr>
            <a:picLocks noChangeAspect="1"/>
          </p:cNvPicPr>
          <p:nvPr/>
        </p:nvPicPr>
        <p:blipFill>
          <a:blip r:embed="rId4"/>
          <a:stretch>
            <a:fillRect/>
          </a:stretch>
        </p:blipFill>
        <p:spPr>
          <a:xfrm>
            <a:off x="0" y="0"/>
            <a:ext cx="12191695" cy="6858000"/>
          </a:xfrm>
          <a:prstGeom prst="rect">
            <a:avLst/>
          </a:prstGeom>
        </p:spPr>
      </p:pic>
      <p:pic>
        <p:nvPicPr>
          <p:cNvPr id="6" name="anim-g4-524" descr="C:\Users\user\projects\younes-training\turath\.pptx-cache\s7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ما الدرس الأهم من قصة المؤشرات المعكوسة؟</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MediaPipe مكتبة سيئة</a:t>
            </a:r>
            <a:endParaRPr lang="ar-SA" sz="2500" dirty="0"/>
          </a:p>
        </p:txBody>
      </p:sp>
      <p:sp>
        <p:nvSpPr>
          <p:cNvPr id="9" name="anim-g1-52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526"/>
          <p:cNvSpPr/>
          <p:nvPr/>
        </p:nvSpPr>
        <p:spPr>
          <a:xfrm>
            <a:off x="10231831" y="2194560"/>
            <a:ext cx="954024" cy="954024"/>
          </a:xfrm>
          <a:prstGeom prst="roundRect">
            <a:avLst>
              <a:gd name="adj" fmla="val 11502"/>
            </a:avLst>
          </a:prstGeom>
          <a:solidFill>
            <a:srgbClr val="A3A9BA"/>
          </a:solidFill>
          <a:ln/>
        </p:spPr>
      </p:sp>
      <p:sp>
        <p:nvSpPr>
          <p:cNvPr id="11" name="anim-g1-52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52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MediaPipe مكتبة سيئة</a:t>
            </a:r>
            <a:endParaRPr lang="ar-SA" sz="2400" dirty="0"/>
          </a:p>
        </p:txBody>
      </p:sp>
      <p:sp>
        <p:nvSpPr>
          <p:cNvPr id="13" name="anim-g1-52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المكتبة ممتازة، والخطأ في الافتراض</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لا تستخدم الرؤية الحاسوبية</a:t>
            </a:r>
            <a:endParaRPr lang="ar-SA" sz="2500" dirty="0"/>
          </a:p>
        </p:txBody>
      </p:sp>
      <p:sp>
        <p:nvSpPr>
          <p:cNvPr id="18" name="anim-g1-530"/>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531"/>
          <p:cNvSpPr/>
          <p:nvPr/>
        </p:nvSpPr>
        <p:spPr>
          <a:xfrm>
            <a:off x="10231831" y="3569208"/>
            <a:ext cx="954024" cy="954024"/>
          </a:xfrm>
          <a:prstGeom prst="roundRect">
            <a:avLst>
              <a:gd name="adj" fmla="val 11502"/>
            </a:avLst>
          </a:prstGeom>
          <a:solidFill>
            <a:srgbClr val="A3A9BA"/>
          </a:solidFill>
          <a:ln/>
        </p:spPr>
      </p:sp>
      <p:sp>
        <p:nvSpPr>
          <p:cNvPr id="20" name="anim-g1-53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53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لا تستخدم الرؤية الحاسوبية</a:t>
            </a:r>
            <a:endParaRPr lang="ar-SA" sz="2400" dirty="0"/>
          </a:p>
        </p:txBody>
      </p:sp>
      <p:sp>
        <p:nvSpPr>
          <p:cNvPr id="22" name="anim-g1-53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بل هي أساس المشروع</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تحقق بالتشخيص الفعلي ولا تفترض، حتى لو المصدر شائع</a:t>
            </a:r>
            <a:endParaRPr lang="ar-SA" sz="2500" dirty="0"/>
          </a:p>
        </p:txBody>
      </p:sp>
      <p:sp>
        <p:nvSpPr>
          <p:cNvPr id="27" name="anim-g1-535"/>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536"/>
          <p:cNvSpPr/>
          <p:nvPr/>
        </p:nvSpPr>
        <p:spPr>
          <a:xfrm>
            <a:off x="10231831" y="4943856"/>
            <a:ext cx="954024" cy="954024"/>
          </a:xfrm>
          <a:prstGeom prst="roundRect">
            <a:avLst>
              <a:gd name="adj" fmla="val 11502"/>
            </a:avLst>
          </a:prstGeom>
          <a:solidFill>
            <a:srgbClr val="2E9E6B"/>
          </a:solidFill>
          <a:ln/>
        </p:spPr>
      </p:sp>
      <p:sp>
        <p:nvSpPr>
          <p:cNvPr id="29" name="anim-g1-53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53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تحقق بالتشخيص الفعلي ولا تفترض، حتى لو المصدر شائع</a:t>
            </a:r>
            <a:endParaRPr lang="ar-SA" sz="2400" dirty="0"/>
          </a:p>
        </p:txBody>
      </p:sp>
      <p:sp>
        <p:nvSpPr>
          <p:cNvPr id="31" name="anim-g1-53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اطبع الإحداثيات الخام وانظر بعينك</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تتبع العين  ·  ٧١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pic>
        <p:nvPicPr>
          <p:cNvPr id="2" name="Image 0" descr="C:\Users\user\projects\younes-training\turath\.pptx-cache\s7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نقطة سوداء صغيرة تتحرك داخل العين…</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تكفي لتدير قصرًا عمره أكثر من مئة وخمسين عامًا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تتبع العين  ·  ٧٣</a:t>
            </a:r>
            <a:endParaRPr lang="ar-SA"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٨</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٨</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الجولة الكاملة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من الكرسي المتحرك… إلى ملخص الزيارة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الجولة الكاملة  ·  ٧٤</a:t>
            </a:r>
            <a:endParaRPr lang="ar-SA"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40"/>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541"/>
          <p:cNvSpPr/>
          <p:nvPr/>
        </p:nvSpPr>
        <p:spPr>
          <a:xfrm>
            <a:off x="10573207" y="2286000"/>
            <a:ext cx="566928" cy="566928"/>
          </a:xfrm>
          <a:prstGeom prst="ellipse">
            <a:avLst/>
          </a:prstGeom>
          <a:solidFill>
            <a:srgbClr val="D9AE4B"/>
          </a:solidFill>
          <a:ln/>
        </p:spPr>
      </p:sp>
      <p:sp>
        <p:nvSpPr>
          <p:cNvPr id="7" name="anim-g1-542"/>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43"/>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تتبع تجربة الزائر من الترحيب حتى الختام</a:t>
            </a:r>
            <a:endParaRPr lang="ar-SA" sz="2400" dirty="0"/>
          </a:p>
        </p:txBody>
      </p:sp>
      <p:sp>
        <p:nvSpPr>
          <p:cNvPr id="9" name="anim-g2-544"/>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545"/>
          <p:cNvSpPr/>
          <p:nvPr/>
        </p:nvSpPr>
        <p:spPr>
          <a:xfrm>
            <a:off x="10573207" y="3694176"/>
            <a:ext cx="566928" cy="566928"/>
          </a:xfrm>
          <a:prstGeom prst="ellipse">
            <a:avLst/>
          </a:prstGeom>
          <a:solidFill>
            <a:srgbClr val="D9AE4B"/>
          </a:solidFill>
          <a:ln/>
        </p:spPr>
      </p:sp>
      <p:sp>
        <p:nvSpPr>
          <p:cNvPr id="11" name="anim-g2-546"/>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47"/>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وضعي الكرسي: القيادة والاستكشاف</a:t>
            </a:r>
            <a:endParaRPr lang="ar-SA" sz="2400" dirty="0"/>
          </a:p>
        </p:txBody>
      </p:sp>
      <p:sp>
        <p:nvSpPr>
          <p:cNvPr id="13" name="anim-g3-548"/>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549"/>
          <p:cNvSpPr/>
          <p:nvPr/>
        </p:nvSpPr>
        <p:spPr>
          <a:xfrm>
            <a:off x="10573207" y="5102352"/>
            <a:ext cx="566928" cy="566928"/>
          </a:xfrm>
          <a:prstGeom prst="ellipse">
            <a:avLst/>
          </a:prstGeom>
          <a:solidFill>
            <a:srgbClr val="D9AE4B"/>
          </a:solidFill>
          <a:ln/>
        </p:spPr>
      </p:sp>
      <p:sp>
        <p:nvSpPr>
          <p:cNvPr id="15" name="anim-g3-550"/>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51"/>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تصمم «قياس الاهتمام» قرارًا مستقلًا مبنيًا على البيانات</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الجولة الكاملة  ·  ٧٥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الكرسي المتحرك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LEGO SPIKE Prime… لزائر بشلل رباعي</a:t>
            </a:r>
            <a:endParaRPr lang="ar-SA" sz="3200" dirty="0"/>
          </a:p>
        </p:txBody>
      </p:sp>
      <p:sp>
        <p:nvSpPr>
          <p:cNvPr id="5" name="anim-g1-55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53"/>
          <p:cNvSpPr/>
          <p:nvPr/>
        </p:nvSpPr>
        <p:spPr>
          <a:xfrm>
            <a:off x="10527487" y="2267712"/>
            <a:ext cx="566928" cy="566928"/>
          </a:xfrm>
          <a:prstGeom prst="roundRect">
            <a:avLst>
              <a:gd name="adj" fmla="val 32258"/>
            </a:avLst>
          </a:prstGeom>
          <a:solidFill>
            <a:srgbClr val="F7E6BC"/>
          </a:solidFill>
          <a:ln/>
        </p:spPr>
      </p:sp>
      <p:sp>
        <p:nvSpPr>
          <p:cNvPr id="7" name="anim-g1-55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5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مبني بالكامل من LEGO</a:t>
            </a:r>
            <a:endParaRPr lang="ar-SA" sz="2200" dirty="0"/>
          </a:p>
        </p:txBody>
      </p:sp>
      <p:sp>
        <p:nvSpPr>
          <p:cNvPr id="9" name="anim-g1-55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مكعبات تعليمية ووحدة SPIKE Prime الذكية، بمحركات فعلية</a:t>
            </a:r>
            <a:endParaRPr lang="ar-SA" sz="1900" dirty="0"/>
          </a:p>
        </p:txBody>
      </p:sp>
      <p:sp>
        <p:nvSpPr>
          <p:cNvPr id="10" name="anim-g2-55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58"/>
          <p:cNvSpPr/>
          <p:nvPr/>
        </p:nvSpPr>
        <p:spPr>
          <a:xfrm>
            <a:off x="6920789" y="2267712"/>
            <a:ext cx="566928" cy="566928"/>
          </a:xfrm>
          <a:prstGeom prst="roundRect">
            <a:avLst>
              <a:gd name="adj" fmla="val 32258"/>
            </a:avLst>
          </a:prstGeom>
          <a:solidFill>
            <a:srgbClr val="F7E6BC"/>
          </a:solidFill>
          <a:ln/>
        </p:spPr>
      </p:sp>
      <p:sp>
        <p:nvSpPr>
          <p:cNvPr id="12" name="anim-g2-55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6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وضع القيادة</a:t>
            </a:r>
            <a:endParaRPr lang="ar-SA" sz="2200" dirty="0"/>
          </a:p>
        </p:txBody>
      </p:sp>
      <p:sp>
        <p:nvSpPr>
          <p:cNvPr id="14" name="anim-g2-56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يحرك الزائر مسافة قصيرة متحكمًا بها حتى محطة المجسّم</a:t>
            </a:r>
            <a:endParaRPr lang="ar-SA" sz="1900" dirty="0"/>
          </a:p>
        </p:txBody>
      </p:sp>
      <p:sp>
        <p:nvSpPr>
          <p:cNvPr id="15" name="anim-g3-56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63"/>
          <p:cNvSpPr/>
          <p:nvPr/>
        </p:nvSpPr>
        <p:spPr>
          <a:xfrm>
            <a:off x="3314090" y="2267712"/>
            <a:ext cx="566928" cy="566928"/>
          </a:xfrm>
          <a:prstGeom prst="roundRect">
            <a:avLst>
              <a:gd name="adj" fmla="val 32258"/>
            </a:avLst>
          </a:prstGeom>
          <a:solidFill>
            <a:srgbClr val="F7E6BC"/>
          </a:solidFill>
          <a:ln/>
        </p:spPr>
      </p:sp>
      <p:sp>
        <p:nvSpPr>
          <p:cNvPr id="17" name="anim-g3-56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6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وضع الاستكشاف</a:t>
            </a:r>
            <a:endParaRPr lang="ar-SA" sz="2200" dirty="0"/>
          </a:p>
        </p:txBody>
      </p:sp>
      <p:sp>
        <p:nvSpPr>
          <p:cNvPr id="19" name="anim-g3-56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عند الاقتراب ينتقل التحكم تلقائيًا إلى المجسّم نفسه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الجولة الكاملة  ·  ٧٦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C:\Users\user\projects\younes-training\turath\.pptx-cache\s7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روبوت يتخذ قرارًا</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قياس الاهتمام: من أداة… إلى نظام يقرر</a:t>
            </a:r>
            <a:endParaRPr lang="ar-SA" sz="3200" dirty="0"/>
          </a:p>
        </p:txBody>
      </p:sp>
      <p:sp>
        <p:nvSpPr>
          <p:cNvPr id="5" name="anim-g1-567"/>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68"/>
          <p:cNvSpPr/>
          <p:nvPr/>
        </p:nvSpPr>
        <p:spPr>
          <a:xfrm>
            <a:off x="10527487" y="2267712"/>
            <a:ext cx="566928" cy="566928"/>
          </a:xfrm>
          <a:prstGeom prst="roundRect">
            <a:avLst>
              <a:gd name="adj" fmla="val 32258"/>
            </a:avLst>
          </a:prstGeom>
          <a:solidFill>
            <a:srgbClr val="F7E6BC"/>
          </a:solidFill>
          <a:ln/>
        </p:spPr>
      </p:sp>
      <p:sp>
        <p:nvSpPr>
          <p:cNvPr id="7" name="anim-g1-56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70"/>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البيانات</a:t>
            </a:r>
            <a:endParaRPr lang="ar-SA" sz="2200" dirty="0"/>
          </a:p>
        </p:txBody>
      </p:sp>
      <p:sp>
        <p:nvSpPr>
          <p:cNvPr id="9" name="anim-g1-571"/>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كم ثانية ثبّت الزائر نظره على كل جهة؟ وهل بقي حتى بعد انتهاء الفيديو؟</a:t>
            </a:r>
            <a:endParaRPr lang="ar-SA" sz="1900" dirty="0"/>
          </a:p>
        </p:txBody>
      </p:sp>
      <p:sp>
        <p:nvSpPr>
          <p:cNvPr id="10" name="anim-g2-572"/>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73"/>
          <p:cNvSpPr/>
          <p:nvPr/>
        </p:nvSpPr>
        <p:spPr>
          <a:xfrm>
            <a:off x="5117440" y="2267712"/>
            <a:ext cx="566928" cy="566928"/>
          </a:xfrm>
          <a:prstGeom prst="roundRect">
            <a:avLst>
              <a:gd name="adj" fmla="val 32258"/>
            </a:avLst>
          </a:prstGeom>
          <a:solidFill>
            <a:srgbClr val="F7E6BC"/>
          </a:solidFill>
          <a:ln/>
        </p:spPr>
      </p:sp>
      <p:sp>
        <p:nvSpPr>
          <p:cNvPr id="12" name="anim-g2-574"/>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75"/>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القرار</a:t>
            </a:r>
            <a:endParaRPr lang="ar-SA" sz="2200" dirty="0"/>
          </a:p>
        </p:txBody>
      </p:sp>
      <p:sp>
        <p:nvSpPr>
          <p:cNvPr id="14" name="anim-g2-576"/>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اهتمام طويل وعميق؟ النظام يقرر وحده مكافأته بنمط إضاءة احتفالي</a:t>
            </a:r>
            <a:endParaRPr lang="ar-SA" sz="1900" dirty="0"/>
          </a:p>
        </p:txBody>
      </p:sp>
      <p:sp>
        <p:nvSpPr>
          <p:cNvPr id="15" name="anim-g3-577"/>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78"/>
          <p:cNvSpPr/>
          <p:nvPr/>
        </p:nvSpPr>
        <p:spPr>
          <a:xfrm>
            <a:off x="10527487" y="4393692"/>
            <a:ext cx="566928" cy="566928"/>
          </a:xfrm>
          <a:prstGeom prst="roundRect">
            <a:avLst>
              <a:gd name="adj" fmla="val 32258"/>
            </a:avLst>
          </a:prstGeom>
          <a:solidFill>
            <a:srgbClr val="F7E6BC"/>
          </a:solidFill>
          <a:ln/>
        </p:spPr>
      </p:sp>
      <p:sp>
        <p:nvSpPr>
          <p:cNvPr id="17" name="anim-g3-579"/>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80"/>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ملخص الجولة</a:t>
            </a:r>
            <a:endParaRPr lang="ar-SA" sz="2200" dirty="0"/>
          </a:p>
        </p:txBody>
      </p:sp>
      <p:sp>
        <p:nvSpPr>
          <p:cNvPr id="19" name="anim-g3-581"/>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 الختام: «أكثر ما شدّك كان…» بدل أن تنتهي التجربة فجأة</a:t>
            </a:r>
            <a:endParaRPr lang="ar-SA" sz="1900" dirty="0"/>
          </a:p>
        </p:txBody>
      </p:sp>
      <p:sp>
        <p:nvSpPr>
          <p:cNvPr id="20" name="anim-g4-582"/>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583"/>
          <p:cNvSpPr/>
          <p:nvPr/>
        </p:nvSpPr>
        <p:spPr>
          <a:xfrm>
            <a:off x="5117440" y="4393692"/>
            <a:ext cx="566928" cy="566928"/>
          </a:xfrm>
          <a:prstGeom prst="roundRect">
            <a:avLst>
              <a:gd name="adj" fmla="val 32258"/>
            </a:avLst>
          </a:prstGeom>
          <a:solidFill>
            <a:srgbClr val="F7E6BC"/>
          </a:solidFill>
          <a:ln/>
        </p:spPr>
      </p:sp>
      <p:sp>
        <p:nvSpPr>
          <p:cNvPr id="22" name="anim-g4-584"/>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585"/>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لماذا يهم؟</a:t>
            </a:r>
            <a:endParaRPr lang="ar-SA" sz="2200" dirty="0"/>
          </a:p>
        </p:txBody>
      </p:sp>
      <p:sp>
        <p:nvSpPr>
          <p:cNvPr id="24" name="anim-g4-586"/>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قرار مستقل مبني على بيانات لحظية: شرط الاستقلالية في مسابقات الروبوت</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الجولة الكاملة  ·  ٧٨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منهجية الاختبار</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كل جزء وحده… ثم الكل معًا</a:t>
            </a:r>
            <a:endParaRPr lang="ar-SA" sz="3800" dirty="0"/>
          </a:p>
        </p:txBody>
      </p:sp>
      <p:sp>
        <p:nvSpPr>
          <p:cNvPr id="5" name="Shape 3"/>
          <p:cNvSpPr/>
          <p:nvPr/>
        </p:nvSpPr>
        <p:spPr>
          <a:xfrm>
            <a:off x="7354871" y="1874520"/>
            <a:ext cx="4013864" cy="548640"/>
          </a:xfrm>
          <a:prstGeom prst="roundRect">
            <a:avLst>
              <a:gd name="adj" fmla="val 20000"/>
            </a:avLst>
          </a:prstGeom>
          <a:solidFill>
            <a:srgbClr val="101B45"/>
          </a:solidFill>
          <a:ln/>
        </p:spPr>
      </p:sp>
      <p:sp>
        <p:nvSpPr>
          <p:cNvPr id="6" name="Text 4"/>
          <p:cNvSpPr/>
          <p:nvPr/>
        </p:nvSpPr>
        <p:spPr>
          <a:xfrm>
            <a:off x="7354871" y="1874520"/>
            <a:ext cx="401386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الاختبار</a:t>
            </a:r>
            <a:endParaRPr lang="ar-SA" sz="1900" dirty="0"/>
          </a:p>
        </p:txBody>
      </p:sp>
      <p:sp>
        <p:nvSpPr>
          <p:cNvPr id="7" name="Shape 5"/>
          <p:cNvSpPr/>
          <p:nvPr/>
        </p:nvSpPr>
        <p:spPr>
          <a:xfrm>
            <a:off x="822960" y="1874520"/>
            <a:ext cx="6422183" cy="548640"/>
          </a:xfrm>
          <a:prstGeom prst="roundRect">
            <a:avLst>
              <a:gd name="adj" fmla="val 20000"/>
            </a:avLst>
          </a:prstGeom>
          <a:solidFill>
            <a:srgbClr val="101B45"/>
          </a:solidFill>
          <a:ln/>
        </p:spPr>
      </p:sp>
      <p:sp>
        <p:nvSpPr>
          <p:cNvPr id="8" name="Text 6"/>
          <p:cNvSpPr/>
          <p:nvPr/>
        </p:nvSpPr>
        <p:spPr>
          <a:xfrm>
            <a:off x="822960" y="1874520"/>
            <a:ext cx="642218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نتأكد منه</a:t>
            </a:r>
            <a:endParaRPr lang="ar-SA" sz="1900" dirty="0"/>
          </a:p>
        </p:txBody>
      </p:sp>
      <p:sp>
        <p:nvSpPr>
          <p:cNvPr id="9" name="anim-g1-587"/>
          <p:cNvSpPr/>
          <p:nvPr/>
        </p:nvSpPr>
        <p:spPr>
          <a:xfrm>
            <a:off x="7354871" y="2514600"/>
            <a:ext cx="4013864" cy="495300"/>
          </a:xfrm>
          <a:prstGeom prst="roundRect">
            <a:avLst>
              <a:gd name="adj" fmla="val 22154"/>
            </a:avLst>
          </a:prstGeom>
          <a:solidFill>
            <a:srgbClr val="FBF3DF"/>
          </a:solidFill>
          <a:ln w="12700">
            <a:solidFill>
              <a:srgbClr val="EFDDAF"/>
            </a:solidFill>
            <a:prstDash val="solid"/>
          </a:ln>
        </p:spPr>
      </p:sp>
      <p:sp>
        <p:nvSpPr>
          <p:cNvPr id="10" name="anim-g1-588"/>
          <p:cNvSpPr/>
          <p:nvPr/>
        </p:nvSpPr>
        <p:spPr>
          <a:xfrm>
            <a:off x="7492031" y="2514600"/>
            <a:ext cx="373954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المحرك منفردًا</a:t>
            </a:r>
            <a:endParaRPr lang="ar-SA" sz="2100" dirty="0"/>
          </a:p>
        </p:txBody>
      </p:sp>
      <p:sp>
        <p:nvSpPr>
          <p:cNvPr id="11" name="anim-g1-589"/>
          <p:cNvSpPr/>
          <p:nvPr/>
        </p:nvSpPr>
        <p:spPr>
          <a:xfrm>
            <a:off x="822960" y="2514600"/>
            <a:ext cx="6422183" cy="495300"/>
          </a:xfrm>
          <a:prstGeom prst="roundRect">
            <a:avLst>
              <a:gd name="adj" fmla="val 22154"/>
            </a:avLst>
          </a:prstGeom>
          <a:solidFill>
            <a:srgbClr val="E6F4EC"/>
          </a:solidFill>
          <a:ln w="12700">
            <a:solidFill>
              <a:srgbClr val="CDE9D9"/>
            </a:solidFill>
            <a:prstDash val="solid"/>
          </a:ln>
        </p:spPr>
      </p:sp>
      <p:sp>
        <p:nvSpPr>
          <p:cNvPr id="12" name="anim-g1-590"/>
          <p:cNvSpPr/>
          <p:nvPr/>
        </p:nvSpPr>
        <p:spPr>
          <a:xfrm>
            <a:off x="960120" y="2514600"/>
            <a:ext cx="614786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الاتجاه والسرعة الصحيحان قبل أي ربط</a:t>
            </a:r>
            <a:endParaRPr lang="ar-SA" sz="2100" dirty="0"/>
          </a:p>
        </p:txBody>
      </p:sp>
      <p:sp>
        <p:nvSpPr>
          <p:cNvPr id="13" name="anim-g2-591"/>
          <p:cNvSpPr/>
          <p:nvPr/>
        </p:nvSpPr>
        <p:spPr>
          <a:xfrm>
            <a:off x="7354871" y="3119628"/>
            <a:ext cx="4013864" cy="495300"/>
          </a:xfrm>
          <a:prstGeom prst="roundRect">
            <a:avLst>
              <a:gd name="adj" fmla="val 22154"/>
            </a:avLst>
          </a:prstGeom>
          <a:solidFill>
            <a:srgbClr val="FBF3DF"/>
          </a:solidFill>
          <a:ln w="12700">
            <a:solidFill>
              <a:srgbClr val="EFDDAF"/>
            </a:solidFill>
            <a:prstDash val="solid"/>
          </a:ln>
        </p:spPr>
      </p:sp>
      <p:sp>
        <p:nvSpPr>
          <p:cNvPr id="14" name="anim-g2-592"/>
          <p:cNvSpPr/>
          <p:nvPr/>
        </p:nvSpPr>
        <p:spPr>
          <a:xfrm>
            <a:off x="7492031" y="3119628"/>
            <a:ext cx="373954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الإضاءة منفردة</a:t>
            </a:r>
            <a:endParaRPr lang="ar-SA" sz="2100" dirty="0"/>
          </a:p>
        </p:txBody>
      </p:sp>
      <p:sp>
        <p:nvSpPr>
          <p:cNvPr id="15" name="anim-g2-593"/>
          <p:cNvSpPr/>
          <p:nvPr/>
        </p:nvSpPr>
        <p:spPr>
          <a:xfrm>
            <a:off x="822960" y="3119628"/>
            <a:ext cx="6422183" cy="495300"/>
          </a:xfrm>
          <a:prstGeom prst="roundRect">
            <a:avLst>
              <a:gd name="adj" fmla="val 22154"/>
            </a:avLst>
          </a:prstGeom>
          <a:solidFill>
            <a:srgbClr val="E6F4EC"/>
          </a:solidFill>
          <a:ln w="12700">
            <a:solidFill>
              <a:srgbClr val="CDE9D9"/>
            </a:solidFill>
            <a:prstDash val="solid"/>
          </a:ln>
        </p:spPr>
      </p:sp>
      <p:sp>
        <p:nvSpPr>
          <p:cNvPr id="16" name="anim-g2-594"/>
          <p:cNvSpPr/>
          <p:nvPr/>
        </p:nvSpPr>
        <p:spPr>
          <a:xfrm>
            <a:off x="960120" y="3119628"/>
            <a:ext cx="614786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الألوان والموجة قبل دمجها مع كود المحرك</a:t>
            </a:r>
            <a:endParaRPr lang="ar-SA" sz="2100" dirty="0"/>
          </a:p>
        </p:txBody>
      </p:sp>
      <p:sp>
        <p:nvSpPr>
          <p:cNvPr id="17" name="anim-g3-595"/>
          <p:cNvSpPr/>
          <p:nvPr/>
        </p:nvSpPr>
        <p:spPr>
          <a:xfrm>
            <a:off x="7354871" y="3724656"/>
            <a:ext cx="4013864" cy="495300"/>
          </a:xfrm>
          <a:prstGeom prst="roundRect">
            <a:avLst>
              <a:gd name="adj" fmla="val 22154"/>
            </a:avLst>
          </a:prstGeom>
          <a:solidFill>
            <a:srgbClr val="FBF3DF"/>
          </a:solidFill>
          <a:ln w="12700">
            <a:solidFill>
              <a:srgbClr val="EFDDAF"/>
            </a:solidFill>
            <a:prstDash val="solid"/>
          </a:ln>
        </p:spPr>
      </p:sp>
      <p:sp>
        <p:nvSpPr>
          <p:cNvPr id="18" name="anim-g3-596"/>
          <p:cNvSpPr/>
          <p:nvPr/>
        </p:nvSpPr>
        <p:spPr>
          <a:xfrm>
            <a:off x="7492031" y="3724656"/>
            <a:ext cx="373954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المحتوى منفردًا</a:t>
            </a:r>
            <a:endParaRPr lang="ar-SA" sz="2100" dirty="0"/>
          </a:p>
        </p:txBody>
      </p:sp>
      <p:sp>
        <p:nvSpPr>
          <p:cNvPr id="19" name="anim-g3-597"/>
          <p:cNvSpPr/>
          <p:nvPr/>
        </p:nvSpPr>
        <p:spPr>
          <a:xfrm>
            <a:off x="822960" y="3724656"/>
            <a:ext cx="6422183" cy="495300"/>
          </a:xfrm>
          <a:prstGeom prst="roundRect">
            <a:avLst>
              <a:gd name="adj" fmla="val 22154"/>
            </a:avLst>
          </a:prstGeom>
          <a:solidFill>
            <a:srgbClr val="E6F4EC"/>
          </a:solidFill>
          <a:ln w="12700">
            <a:solidFill>
              <a:srgbClr val="CDE9D9"/>
            </a:solidFill>
            <a:prstDash val="solid"/>
          </a:ln>
        </p:spPr>
      </p:sp>
      <p:sp>
        <p:nvSpPr>
          <p:cNvPr id="20" name="anim-g3-598"/>
          <p:cNvSpPr/>
          <p:nvPr/>
        </p:nvSpPr>
        <p:spPr>
          <a:xfrm>
            <a:off x="960120" y="3724656"/>
            <a:ext cx="614786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كل ملفات الفيديو والصوت موجودة وسليمة</a:t>
            </a:r>
            <a:endParaRPr lang="ar-SA" sz="2100" dirty="0"/>
          </a:p>
        </p:txBody>
      </p:sp>
      <p:sp>
        <p:nvSpPr>
          <p:cNvPr id="21" name="anim-g4-599"/>
          <p:cNvSpPr/>
          <p:nvPr/>
        </p:nvSpPr>
        <p:spPr>
          <a:xfrm>
            <a:off x="7354871" y="4329684"/>
            <a:ext cx="4013864" cy="495300"/>
          </a:xfrm>
          <a:prstGeom prst="roundRect">
            <a:avLst>
              <a:gd name="adj" fmla="val 22154"/>
            </a:avLst>
          </a:prstGeom>
          <a:solidFill>
            <a:srgbClr val="FBF3DF"/>
          </a:solidFill>
          <a:ln w="12700">
            <a:solidFill>
              <a:srgbClr val="EFDDAF"/>
            </a:solidFill>
            <a:prstDash val="solid"/>
          </a:ln>
        </p:spPr>
      </p:sp>
      <p:sp>
        <p:nvSpPr>
          <p:cNvPr id="22" name="anim-g4-600"/>
          <p:cNvSpPr/>
          <p:nvPr/>
        </p:nvSpPr>
        <p:spPr>
          <a:xfrm>
            <a:off x="7492031" y="4329684"/>
            <a:ext cx="373954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الاتصال</a:t>
            </a:r>
            <a:endParaRPr lang="ar-SA" sz="2100" dirty="0"/>
          </a:p>
        </p:txBody>
      </p:sp>
      <p:sp>
        <p:nvSpPr>
          <p:cNvPr id="23" name="anim-g4-601"/>
          <p:cNvSpPr/>
          <p:nvPr/>
        </p:nvSpPr>
        <p:spPr>
          <a:xfrm>
            <a:off x="822960" y="4329684"/>
            <a:ext cx="6422183" cy="495300"/>
          </a:xfrm>
          <a:prstGeom prst="roundRect">
            <a:avLst>
              <a:gd name="adj" fmla="val 22154"/>
            </a:avLst>
          </a:prstGeom>
          <a:solidFill>
            <a:srgbClr val="E6F4EC"/>
          </a:solidFill>
          <a:ln w="12700">
            <a:solidFill>
              <a:srgbClr val="CDE9D9"/>
            </a:solidFill>
            <a:prstDash val="solid"/>
          </a:ln>
        </p:spPr>
      </p:sp>
      <p:sp>
        <p:nvSpPr>
          <p:cNvPr id="24" name="anim-g4-602"/>
          <p:cNvSpPr/>
          <p:nvPr/>
        </p:nvSpPr>
        <p:spPr>
          <a:xfrm>
            <a:off x="960120" y="4329684"/>
            <a:ext cx="614786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أوامر حقيقية من الراسبيري ومراقبة المحرك</a:t>
            </a:r>
            <a:endParaRPr lang="ar-SA" sz="2100" dirty="0"/>
          </a:p>
        </p:txBody>
      </p:sp>
      <p:sp>
        <p:nvSpPr>
          <p:cNvPr id="25" name="anim-g5-603"/>
          <p:cNvSpPr/>
          <p:nvPr/>
        </p:nvSpPr>
        <p:spPr>
          <a:xfrm>
            <a:off x="7354871" y="4934712"/>
            <a:ext cx="4013864" cy="495300"/>
          </a:xfrm>
          <a:prstGeom prst="roundRect">
            <a:avLst>
              <a:gd name="adj" fmla="val 22154"/>
            </a:avLst>
          </a:prstGeom>
          <a:solidFill>
            <a:srgbClr val="FBF3DF"/>
          </a:solidFill>
          <a:ln w="12700">
            <a:solidFill>
              <a:srgbClr val="EFDDAF"/>
            </a:solidFill>
            <a:prstDash val="solid"/>
          </a:ln>
        </p:spPr>
      </p:sp>
      <p:sp>
        <p:nvSpPr>
          <p:cNvPr id="26" name="anim-g5-604"/>
          <p:cNvSpPr/>
          <p:nvPr/>
        </p:nvSpPr>
        <p:spPr>
          <a:xfrm>
            <a:off x="7492031" y="4934712"/>
            <a:ext cx="373954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العين حيًا</a:t>
            </a:r>
            <a:endParaRPr lang="ar-SA" sz="2100" dirty="0"/>
          </a:p>
        </p:txBody>
      </p:sp>
      <p:sp>
        <p:nvSpPr>
          <p:cNvPr id="27" name="anim-g5-605"/>
          <p:cNvSpPr/>
          <p:nvPr/>
        </p:nvSpPr>
        <p:spPr>
          <a:xfrm>
            <a:off x="822960" y="4934712"/>
            <a:ext cx="6422183" cy="495300"/>
          </a:xfrm>
          <a:prstGeom prst="roundRect">
            <a:avLst>
              <a:gd name="adj" fmla="val 22154"/>
            </a:avLst>
          </a:prstGeom>
          <a:solidFill>
            <a:srgbClr val="E6F4EC"/>
          </a:solidFill>
          <a:ln w="12700">
            <a:solidFill>
              <a:srgbClr val="CDE9D9"/>
            </a:solidFill>
            <a:prstDash val="solid"/>
          </a:ln>
        </p:spPr>
      </p:sp>
      <p:sp>
        <p:nvSpPr>
          <p:cNvPr id="28" name="anim-g5-606"/>
          <p:cNvSpPr/>
          <p:nvPr/>
        </p:nvSpPr>
        <p:spPr>
          <a:xfrm>
            <a:off x="960120" y="4934712"/>
            <a:ext cx="614786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الحركة والتوقف وحارس الرمشة والنظر لأعلى</a:t>
            </a:r>
            <a:endParaRPr lang="ar-SA" sz="2100" dirty="0"/>
          </a:p>
        </p:txBody>
      </p:sp>
      <p:sp>
        <p:nvSpPr>
          <p:cNvPr id="29" name="anim-g6-607"/>
          <p:cNvSpPr/>
          <p:nvPr/>
        </p:nvSpPr>
        <p:spPr>
          <a:xfrm>
            <a:off x="7354871" y="5539740"/>
            <a:ext cx="4013864" cy="495300"/>
          </a:xfrm>
          <a:prstGeom prst="roundRect">
            <a:avLst>
              <a:gd name="adj" fmla="val 22154"/>
            </a:avLst>
          </a:prstGeom>
          <a:solidFill>
            <a:srgbClr val="FBF3DF"/>
          </a:solidFill>
          <a:ln w="12700">
            <a:solidFill>
              <a:srgbClr val="EFDDAF"/>
            </a:solidFill>
            <a:prstDash val="solid"/>
          </a:ln>
        </p:spPr>
      </p:sp>
      <p:sp>
        <p:nvSpPr>
          <p:cNvPr id="30" name="anim-g6-608"/>
          <p:cNvSpPr/>
          <p:nvPr/>
        </p:nvSpPr>
        <p:spPr>
          <a:xfrm>
            <a:off x="7492031" y="5539740"/>
            <a:ext cx="373954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التكامل</a:t>
            </a:r>
            <a:endParaRPr lang="ar-SA" sz="2100" dirty="0"/>
          </a:p>
        </p:txBody>
      </p:sp>
      <p:sp>
        <p:nvSpPr>
          <p:cNvPr id="31" name="anim-g6-609"/>
          <p:cNvSpPr/>
          <p:nvPr/>
        </p:nvSpPr>
        <p:spPr>
          <a:xfrm>
            <a:off x="822960" y="5539740"/>
            <a:ext cx="6422183" cy="495300"/>
          </a:xfrm>
          <a:prstGeom prst="roundRect">
            <a:avLst>
              <a:gd name="adj" fmla="val 22154"/>
            </a:avLst>
          </a:prstGeom>
          <a:solidFill>
            <a:srgbClr val="E6F4EC"/>
          </a:solidFill>
          <a:ln w="12700">
            <a:solidFill>
              <a:srgbClr val="CDE9D9"/>
            </a:solidFill>
            <a:prstDash val="solid"/>
          </a:ln>
        </p:spPr>
      </p:sp>
      <p:sp>
        <p:nvSpPr>
          <p:cNvPr id="32" name="anim-g6-610"/>
          <p:cNvSpPr/>
          <p:nvPr/>
        </p:nvSpPr>
        <p:spPr>
          <a:xfrm>
            <a:off x="960120" y="5539740"/>
            <a:ext cx="614786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الجولة كاملة مرارًا دون خطأ في التزامن أو الموضع</a:t>
            </a:r>
            <a:endParaRPr lang="ar-SA" sz="21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الجولة الكاملة  ·  ٧٩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0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C:\Users\user\projects\younes-training\turath\.pptx-cache\s8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زائر يصل بكرسيه، ويستكشف بعينه، ويسمع ويرى بلغته: تجربة كاملة…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بلا زر واحد</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الجولة الكاملة  ·  ٨١</a:t>
            </a:r>
            <a:endParaRPr lang="ar-SA"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٩</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٩</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روبوتا السلامة: عين ترى النار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حين يزدحم المعرض… من يحرس الزوار؟</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السلامة: حساس اللهب  ·  ٨٢</a:t>
            </a:r>
            <a:endParaRPr lang="ar-SA"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pic>
        <p:nvPicPr>
          <p:cNvPr id="2" name="Image 0" descr="C:\Users\user\projects\younes-training\turath\.pptx-cache\s8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C:\Users\user\projects\younes-training\turath\.pptx-cache\s8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بحث الفريق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هذه القطع بالذات؟</a:t>
            </a:r>
            <a:endParaRPr lang="ar-SA" sz="3800" dirty="0"/>
          </a:p>
        </p:txBody>
      </p:sp>
      <p:sp>
        <p:nvSpPr>
          <p:cNvPr id="5" name="anim-g1-61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12"/>
          <p:cNvSpPr/>
          <p:nvPr/>
        </p:nvSpPr>
        <p:spPr>
          <a:xfrm>
            <a:off x="10527487" y="2267712"/>
            <a:ext cx="566928" cy="566928"/>
          </a:xfrm>
          <a:prstGeom prst="roundRect">
            <a:avLst>
              <a:gd name="adj" fmla="val 32258"/>
            </a:avLst>
          </a:prstGeom>
          <a:solidFill>
            <a:srgbClr val="F7E6BC"/>
          </a:solidFill>
          <a:ln/>
        </p:spPr>
      </p:sp>
      <p:sp>
        <p:nvSpPr>
          <p:cNvPr id="7" name="anim-g1-61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1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MQ-2 لا MQ-135</a:t>
            </a:r>
            <a:endParaRPr lang="ar-SA" sz="2200" dirty="0"/>
          </a:p>
        </p:txBody>
      </p:sp>
      <p:sp>
        <p:nvSpPr>
          <p:cNvPr id="9" name="anim-g1-61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MQ-135 لجودة الهواء العامة، وMQ-2 للغازات القابلة للاشتعال والدخان: سيناريو المعرض</a:t>
            </a:r>
            <a:endParaRPr lang="ar-SA" sz="1900" dirty="0"/>
          </a:p>
        </p:txBody>
      </p:sp>
      <p:sp>
        <p:nvSpPr>
          <p:cNvPr id="10" name="anim-g2-61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17"/>
          <p:cNvSpPr/>
          <p:nvPr/>
        </p:nvSpPr>
        <p:spPr>
          <a:xfrm>
            <a:off x="6920789" y="2267712"/>
            <a:ext cx="566928" cy="566928"/>
          </a:xfrm>
          <a:prstGeom prst="roundRect">
            <a:avLst>
              <a:gd name="adj" fmla="val 32258"/>
            </a:avLst>
          </a:prstGeom>
          <a:solidFill>
            <a:srgbClr val="F7E6BC"/>
          </a:solidFill>
          <a:ln/>
        </p:spPr>
      </p:sp>
      <p:sp>
        <p:nvSpPr>
          <p:cNvPr id="12" name="anim-g2-61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1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ESP-NOW</a:t>
            </a:r>
            <a:endParaRPr lang="ar-SA" sz="2200" dirty="0"/>
          </a:p>
        </p:txBody>
      </p:sp>
      <p:sp>
        <p:nvSpPr>
          <p:cNvPr id="14" name="anim-g2-62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أقل تأخيرًا من الواي فاي والبلوتوث، وبلا راوتر ولا إعداد شبكة</a:t>
            </a:r>
            <a:endParaRPr lang="ar-SA" sz="1900" dirty="0"/>
          </a:p>
        </p:txBody>
      </p:sp>
      <p:sp>
        <p:nvSpPr>
          <p:cNvPr id="15" name="anim-g3-62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22"/>
          <p:cNvSpPr/>
          <p:nvPr/>
        </p:nvSpPr>
        <p:spPr>
          <a:xfrm>
            <a:off x="3314090" y="2267712"/>
            <a:ext cx="566928" cy="566928"/>
          </a:xfrm>
          <a:prstGeom prst="roundRect">
            <a:avLst>
              <a:gd name="adj" fmla="val 32258"/>
            </a:avLst>
          </a:prstGeom>
          <a:solidFill>
            <a:srgbClr val="F7E6BC"/>
          </a:solidFill>
          <a:ln/>
        </p:spPr>
      </p:sp>
      <p:sp>
        <p:nvSpPr>
          <p:cNvPr id="17" name="anim-g3-62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2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نسبة خطر موحّدة</a:t>
            </a:r>
            <a:endParaRPr lang="ar-SA" sz="2200" dirty="0"/>
          </a:p>
        </p:txBody>
      </p:sp>
      <p:sp>
        <p:nvSpPr>
          <p:cNvPr id="19" name="anim-g3-62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حساس يتحول إلى نسبة ٠–١٠٠٪ فتصبح المقارنة ممكنة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السلامة: حساس اللهب  ·  ٨٥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26"/>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627"/>
          <p:cNvSpPr/>
          <p:nvPr/>
        </p:nvSpPr>
        <p:spPr>
          <a:xfrm>
            <a:off x="10573207" y="2286000"/>
            <a:ext cx="566928" cy="566928"/>
          </a:xfrm>
          <a:prstGeom prst="ellipse">
            <a:avLst/>
          </a:prstGeom>
          <a:solidFill>
            <a:srgbClr val="D9AE4B"/>
          </a:solidFill>
          <a:ln/>
        </p:spPr>
      </p:sp>
      <p:sp>
        <p:nvSpPr>
          <p:cNvPr id="7" name="anim-g1-628"/>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29"/>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كيف يكتشف الحساس الأشعة تحت الحمراء من اللهب</a:t>
            </a:r>
            <a:endParaRPr lang="ar-SA" sz="2400" dirty="0"/>
          </a:p>
        </p:txBody>
      </p:sp>
      <p:sp>
        <p:nvSpPr>
          <p:cNvPr id="9" name="anim-g2-630"/>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631"/>
          <p:cNvSpPr/>
          <p:nvPr/>
        </p:nvSpPr>
        <p:spPr>
          <a:xfrm>
            <a:off x="10573207" y="3694176"/>
            <a:ext cx="566928" cy="566928"/>
          </a:xfrm>
          <a:prstGeom prst="ellipse">
            <a:avLst/>
          </a:prstGeom>
          <a:solidFill>
            <a:srgbClr val="D9AE4B"/>
          </a:solidFill>
          <a:ln/>
        </p:spPr>
      </p:sp>
      <p:sp>
        <p:nvSpPr>
          <p:cNvPr id="11" name="anim-g2-632"/>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33"/>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تضبط حساسيته بالمقاومة المتغيرة</a:t>
            </a:r>
            <a:endParaRPr lang="ar-SA" sz="2400" dirty="0"/>
          </a:p>
        </p:txBody>
      </p:sp>
      <p:sp>
        <p:nvSpPr>
          <p:cNvPr id="13" name="anim-g3-634"/>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635"/>
          <p:cNvSpPr/>
          <p:nvPr/>
        </p:nvSpPr>
        <p:spPr>
          <a:xfrm>
            <a:off x="10573207" y="5102352"/>
            <a:ext cx="566928" cy="566928"/>
          </a:xfrm>
          <a:prstGeom prst="ellipse">
            <a:avLst/>
          </a:prstGeom>
          <a:solidFill>
            <a:srgbClr val="D9AE4B"/>
          </a:solidFill>
          <a:ln/>
        </p:spPr>
      </p:sp>
      <p:sp>
        <p:nvSpPr>
          <p:cNvPr id="15" name="anim-g3-636"/>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37"/>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كودًا يضيء الأحمر ويطلق البازر عند اللهب</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السلامة: حساس اللهب  ·  ٨٦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داخل الحساس</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ثلاثة أشياء على اللوحة الصغيرة</a:t>
            </a:r>
            <a:endParaRPr lang="ar-SA" sz="3800" dirty="0"/>
          </a:p>
        </p:txBody>
      </p:sp>
      <p:sp>
        <p:nvSpPr>
          <p:cNvPr id="5" name="anim-g1-63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39"/>
          <p:cNvSpPr/>
          <p:nvPr/>
        </p:nvSpPr>
        <p:spPr>
          <a:xfrm>
            <a:off x="10527487" y="2267712"/>
            <a:ext cx="566928" cy="566928"/>
          </a:xfrm>
          <a:prstGeom prst="roundRect">
            <a:avLst>
              <a:gd name="adj" fmla="val 32258"/>
            </a:avLst>
          </a:prstGeom>
          <a:solidFill>
            <a:srgbClr val="F7E6BC"/>
          </a:solidFill>
          <a:ln/>
        </p:spPr>
      </p:sp>
      <p:sp>
        <p:nvSpPr>
          <p:cNvPr id="7" name="anim-g1-64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4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الثنائي الضوئي</a:t>
            </a:r>
            <a:endParaRPr lang="ar-SA" sz="2200" dirty="0"/>
          </a:p>
        </p:txBody>
      </p:sp>
      <p:sp>
        <p:nvSpPr>
          <p:cNvPr id="9" name="anim-g1-64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يرى الأشعة تحت الحمراء (٧٦٠–١١٠٠ نانومتر) التي يطلقها اللهب</a:t>
            </a:r>
            <a:endParaRPr lang="ar-SA" sz="1900" dirty="0"/>
          </a:p>
        </p:txBody>
      </p:sp>
      <p:sp>
        <p:nvSpPr>
          <p:cNvPr id="10" name="anim-g2-64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44"/>
          <p:cNvSpPr/>
          <p:nvPr/>
        </p:nvSpPr>
        <p:spPr>
          <a:xfrm>
            <a:off x="6920789" y="2267712"/>
            <a:ext cx="566928" cy="566928"/>
          </a:xfrm>
          <a:prstGeom prst="roundRect">
            <a:avLst>
              <a:gd name="adj" fmla="val 32258"/>
            </a:avLst>
          </a:prstGeom>
          <a:solidFill>
            <a:srgbClr val="F7E6BC"/>
          </a:solidFill>
          <a:ln/>
        </p:spPr>
      </p:sp>
      <p:sp>
        <p:nvSpPr>
          <p:cNvPr id="12" name="anim-g2-64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4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المقاومة الزرقاء</a:t>
            </a:r>
            <a:endParaRPr lang="ar-SA" sz="2200" dirty="0"/>
          </a:p>
        </p:txBody>
      </p:sp>
      <p:sp>
        <p:nvSpPr>
          <p:cNvPr id="14" name="anim-g2-64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تضبط الحساسية: متى يقرر أن ما يراه «نار»</a:t>
            </a:r>
            <a:endParaRPr lang="ar-SA" sz="1900" dirty="0"/>
          </a:p>
        </p:txBody>
      </p:sp>
      <p:sp>
        <p:nvSpPr>
          <p:cNvPr id="15" name="anim-g3-64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49"/>
          <p:cNvSpPr/>
          <p:nvPr/>
        </p:nvSpPr>
        <p:spPr>
          <a:xfrm>
            <a:off x="3314090" y="2267712"/>
            <a:ext cx="566928" cy="566928"/>
          </a:xfrm>
          <a:prstGeom prst="roundRect">
            <a:avLst>
              <a:gd name="adj" fmla="val 32258"/>
            </a:avLst>
          </a:prstGeom>
          <a:solidFill>
            <a:srgbClr val="F7E6BC"/>
          </a:solidFill>
          <a:ln/>
        </p:spPr>
      </p:sp>
      <p:sp>
        <p:nvSpPr>
          <p:cNvPr id="17" name="anim-g3-65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5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DO</a:t>
            </a:r>
            <a:endParaRPr lang="ar-SA" sz="2200" dirty="0"/>
          </a:p>
        </p:txBody>
      </p:sp>
      <p:sp>
        <p:nvSpPr>
          <p:cNvPr id="19" name="anim-g3-65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مخرج رقمي: LOW عند اللهب، وHIGH في الأمان</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السلامة: حساس اللهب  ·  ٨٧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pic>
        <p:nvPicPr>
          <p:cNvPr id="2" name="Image 0" descr="C:\Users\user\projects\younes-training\turath\.pptx-cache\s8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pic>
        <p:nvPicPr>
          <p:cNvPr id="2" name="Image 0" descr="C:\Users\user\projects\younes-training\turath\.pptx-cache\s89-0.jpg">    </p:cNvPr>
          <p:cNvPicPr>
            <a:picLocks noChangeAspect="1"/>
          </p:cNvPicPr>
          <p:nvPr/>
        </p:nvPicPr>
        <p:blipFill>
          <a:blip r:embed="rId1"/>
          <a:stretch>
            <a:fillRect/>
          </a:stretch>
        </p:blipFill>
        <p:spPr>
          <a:xfrm>
            <a:off x="0" y="0"/>
            <a:ext cx="12191695" cy="6858000"/>
          </a:xfrm>
          <a:prstGeom prst="rect">
            <a:avLst/>
          </a:prstGeom>
        </p:spPr>
      </p:pic>
      <p:pic>
        <p:nvPicPr>
          <p:cNvPr id="3" name="anim-g1-653" descr="C:\Users\user\projects\younes-training\turath\.pptx-cache\s89-1.jpg">    </p:cNvPr>
          <p:cNvPicPr>
            <a:picLocks noChangeAspect="1"/>
          </p:cNvPicPr>
          <p:nvPr/>
        </p:nvPicPr>
        <p:blipFill>
          <a:blip r:embed="rId2"/>
          <a:stretch>
            <a:fillRect/>
          </a:stretch>
        </p:blipFill>
        <p:spPr>
          <a:xfrm>
            <a:off x="0" y="0"/>
            <a:ext cx="12191695" cy="6858000"/>
          </a:xfrm>
          <a:prstGeom prst="rect">
            <a:avLst/>
          </a:prstGeom>
        </p:spPr>
      </p:pic>
      <p:pic>
        <p:nvPicPr>
          <p:cNvPr id="4" name="anim-g2-654" descr="C:\Users\user\projects\younes-training\turath\.pptx-cache\s89-2.jpg">    </p:cNvPr>
          <p:cNvPicPr>
            <a:picLocks noChangeAspect="1"/>
          </p:cNvPicPr>
          <p:nvPr/>
        </p:nvPicPr>
        <p:blipFill>
          <a:blip r:embed="rId3"/>
          <a:stretch>
            <a:fillRect/>
          </a:stretch>
        </p:blipFill>
        <p:spPr>
          <a:xfrm>
            <a:off x="0" y="0"/>
            <a:ext cx="12191695" cy="6858000"/>
          </a:xfrm>
          <a:prstGeom prst="rect">
            <a:avLst/>
          </a:prstGeom>
        </p:spPr>
      </p:pic>
      <p:pic>
        <p:nvPicPr>
          <p:cNvPr id="5" name="anim-g3-655" descr="C:\Users\user\projects\younes-training\turath\.pptx-cache\s89-3.jpg">    </p:cNvPr>
          <p:cNvPicPr>
            <a:picLocks noChangeAspect="1"/>
          </p:cNvPicPr>
          <p:nvPr/>
        </p:nvPicPr>
        <p:blipFill>
          <a:blip r:embed="rId4"/>
          <a:stretch>
            <a:fillRect/>
          </a:stretch>
        </p:blipFill>
        <p:spPr>
          <a:xfrm>
            <a:off x="0" y="0"/>
            <a:ext cx="12191695" cy="6858000"/>
          </a:xfrm>
          <a:prstGeom prst="rect">
            <a:avLst/>
          </a:prstGeom>
        </p:spPr>
      </p:pic>
      <p:pic>
        <p:nvPicPr>
          <p:cNvPr id="6" name="anim-g4-656" descr="C:\Users\user\projects\younes-training\turath\.pptx-cache\s89-4.jpg">    </p:cNvPr>
          <p:cNvPicPr>
            <a:picLocks noChangeAspect="1"/>
          </p:cNvPicPr>
          <p:nvPr/>
        </p:nvPicPr>
        <p:blipFill>
          <a:blip r:embed="rId5"/>
          <a:stretch>
            <a:fillRect/>
          </a:stretch>
        </p:blipFill>
        <p:spPr>
          <a:xfrm>
            <a:off x="0" y="0"/>
            <a:ext cx="12191695" cy="6858000"/>
          </a:xfrm>
          <a:prstGeom prst="rect">
            <a:avLst/>
          </a:prstGeom>
        </p:spPr>
      </p:pic>
      <p:pic>
        <p:nvPicPr>
          <p:cNvPr id="7" name="anim-g5-657" descr="C:\Users\user\projects\younes-training\turath\.pptx-cache\s89-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pic>
        <p:nvPicPr>
          <p:cNvPr id="2" name="Image 0" descr="C:\Users\user\projects\younes-training\turath\.pptx-cache\s90-0.jpg">    </p:cNvPr>
          <p:cNvPicPr>
            <a:picLocks noChangeAspect="1"/>
          </p:cNvPicPr>
          <p:nvPr/>
        </p:nvPicPr>
        <p:blipFill>
          <a:blip r:embed="rId1"/>
          <a:stretch>
            <a:fillRect/>
          </a:stretch>
        </p:blipFill>
        <p:spPr>
          <a:xfrm>
            <a:off x="0" y="0"/>
            <a:ext cx="12191695" cy="6858000"/>
          </a:xfrm>
          <a:prstGeom prst="rect">
            <a:avLst/>
          </a:prstGeom>
        </p:spPr>
      </p:pic>
      <p:pic>
        <p:nvPicPr>
          <p:cNvPr id="3" name="anim-g1-658" descr="C:\Users\user\projects\younes-training\turath\.pptx-cache\s90-1.jpg">    </p:cNvPr>
          <p:cNvPicPr>
            <a:picLocks noChangeAspect="1"/>
          </p:cNvPicPr>
          <p:nvPr/>
        </p:nvPicPr>
        <p:blipFill>
          <a:blip r:embed="rId2"/>
          <a:stretch>
            <a:fillRect/>
          </a:stretch>
        </p:blipFill>
        <p:spPr>
          <a:xfrm>
            <a:off x="0" y="0"/>
            <a:ext cx="12191695" cy="6858000"/>
          </a:xfrm>
          <a:prstGeom prst="rect">
            <a:avLst/>
          </a:prstGeom>
        </p:spPr>
      </p:pic>
      <p:pic>
        <p:nvPicPr>
          <p:cNvPr id="4" name="anim-g2-659" descr="C:\Users\user\projects\younes-training\turath\.pptx-cache\s90-2.jpg">    </p:cNvPr>
          <p:cNvPicPr>
            <a:picLocks noChangeAspect="1"/>
          </p:cNvPicPr>
          <p:nvPr/>
        </p:nvPicPr>
        <p:blipFill>
          <a:blip r:embed="rId3"/>
          <a:stretch>
            <a:fillRect/>
          </a:stretch>
        </p:blipFill>
        <p:spPr>
          <a:xfrm>
            <a:off x="0" y="0"/>
            <a:ext cx="12191695" cy="6858000"/>
          </a:xfrm>
          <a:prstGeom prst="rect">
            <a:avLst/>
          </a:prstGeom>
        </p:spPr>
      </p:pic>
      <p:pic>
        <p:nvPicPr>
          <p:cNvPr id="5" name="anim-g3-660" descr="C:\Users\user\projects\younes-training\turath\.pptx-cache\s90-3.jpg">    </p:cNvPr>
          <p:cNvPicPr>
            <a:picLocks noChangeAspect="1"/>
          </p:cNvPicPr>
          <p:nvPr/>
        </p:nvPicPr>
        <p:blipFill>
          <a:blip r:embed="rId4"/>
          <a:stretch>
            <a:fillRect/>
          </a:stretch>
        </p:blipFill>
        <p:spPr>
          <a:xfrm>
            <a:off x="0" y="0"/>
            <a:ext cx="12191695" cy="6858000"/>
          </a:xfrm>
          <a:prstGeom prst="rect">
            <a:avLst/>
          </a:prstGeom>
        </p:spPr>
      </p:pic>
      <p:pic>
        <p:nvPicPr>
          <p:cNvPr id="6" name="anim-g4-661" descr="C:\Users\user\projects\younes-training\turath\.pptx-cache\s9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المحطة تنذر بنار كل صباح حين تُفتح النافذة. ما الحل الأفضل؟</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نزيل البازر</a:t>
            </a:r>
            <a:endParaRPr lang="ar-SA" sz="2500" dirty="0"/>
          </a:p>
        </p:txBody>
      </p:sp>
      <p:sp>
        <p:nvSpPr>
          <p:cNvPr id="9" name="anim-g1-662"/>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663"/>
          <p:cNvSpPr/>
          <p:nvPr/>
        </p:nvSpPr>
        <p:spPr>
          <a:xfrm>
            <a:off x="10231831" y="2194560"/>
            <a:ext cx="954024" cy="954024"/>
          </a:xfrm>
          <a:prstGeom prst="roundRect">
            <a:avLst>
              <a:gd name="adj" fmla="val 11502"/>
            </a:avLst>
          </a:prstGeom>
          <a:solidFill>
            <a:srgbClr val="A3A9BA"/>
          </a:solidFill>
          <a:ln/>
        </p:spPr>
      </p:sp>
      <p:sp>
        <p:nvSpPr>
          <p:cNvPr id="11" name="anim-g1-664"/>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665"/>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نزيل البازر</a:t>
            </a:r>
            <a:endParaRPr lang="ar-SA" sz="2400" dirty="0"/>
          </a:p>
        </p:txBody>
      </p:sp>
      <p:sp>
        <p:nvSpPr>
          <p:cNvPr id="13" name="anim-g1-666"/>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نفقد التنبيه كله: خطر</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نغيّر الحساس بنوع آخر</a:t>
            </a:r>
            <a:endParaRPr lang="ar-SA" sz="2500" dirty="0"/>
          </a:p>
        </p:txBody>
      </p:sp>
      <p:sp>
        <p:nvSpPr>
          <p:cNvPr id="18" name="anim-g1-667"/>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668"/>
          <p:cNvSpPr/>
          <p:nvPr/>
        </p:nvSpPr>
        <p:spPr>
          <a:xfrm>
            <a:off x="10231831" y="3569208"/>
            <a:ext cx="954024" cy="954024"/>
          </a:xfrm>
          <a:prstGeom prst="roundRect">
            <a:avLst>
              <a:gd name="adj" fmla="val 11502"/>
            </a:avLst>
          </a:prstGeom>
          <a:solidFill>
            <a:srgbClr val="A3A9BA"/>
          </a:solidFill>
          <a:ln/>
        </p:spPr>
      </p:sp>
      <p:sp>
        <p:nvSpPr>
          <p:cNvPr id="20" name="anim-g1-669"/>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670"/>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نغيّر الحساس بنوع آخر</a:t>
            </a:r>
            <a:endParaRPr lang="ar-SA" sz="2400" dirty="0"/>
          </a:p>
        </p:txBody>
      </p:sp>
      <p:sp>
        <p:nvSpPr>
          <p:cNvPr id="22" name="anim-g1-671"/>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الحساس سليم، المشكلة في الضبط</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نقلل الحساسية ونوجّه الحساس بعيدًا عن النافذة</a:t>
            </a:r>
            <a:endParaRPr lang="ar-SA" sz="2500" dirty="0"/>
          </a:p>
        </p:txBody>
      </p:sp>
      <p:sp>
        <p:nvSpPr>
          <p:cNvPr id="27" name="anim-g1-672"/>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673"/>
          <p:cNvSpPr/>
          <p:nvPr/>
        </p:nvSpPr>
        <p:spPr>
          <a:xfrm>
            <a:off x="10231831" y="4943856"/>
            <a:ext cx="954024" cy="954024"/>
          </a:xfrm>
          <a:prstGeom prst="roundRect">
            <a:avLst>
              <a:gd name="adj" fmla="val 11502"/>
            </a:avLst>
          </a:prstGeom>
          <a:solidFill>
            <a:srgbClr val="2E9E6B"/>
          </a:solidFill>
          <a:ln/>
        </p:spPr>
      </p:sp>
      <p:sp>
        <p:nvSpPr>
          <p:cNvPr id="29" name="anim-g1-674"/>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675"/>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نقلل الحساسية ونوجّه الحساس بعيدًا عن النافذة</a:t>
            </a:r>
            <a:endParaRPr lang="ar-SA" sz="2400" dirty="0"/>
          </a:p>
        </p:txBody>
      </p:sp>
      <p:sp>
        <p:nvSpPr>
          <p:cNvPr id="31" name="anim-g1-676"/>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الضبط والمكان يحلان الإنذار الكاذب دون التضحية بالأمان</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السلامة: حساس اللهب  ·  ٩١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pic>
        <p:nvPicPr>
          <p:cNvPr id="2" name="Image 0" descr="C:\Users\user\projects\younes-training\turath\.pptx-cache\s9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عين صغيرة ترى ما لا نراه، وسطران يحولان رؤيتها إلى ضوء أحمر وصوت ينذر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السلامة: حساس اللهب  ·  ٩٣</a:t>
            </a:r>
            <a:endParaRPr lang="ar-SA"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١٠</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١٠</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أنف لا ينام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حساس الغاز MQ-2 + الليد الأزرق</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حساس الغاز  ·  ٩٤</a:t>
            </a:r>
            <a:endParaRPr lang="ar-SA"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77"/>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678"/>
          <p:cNvSpPr/>
          <p:nvPr/>
        </p:nvSpPr>
        <p:spPr>
          <a:xfrm>
            <a:off x="10573207" y="2286000"/>
            <a:ext cx="566928" cy="566928"/>
          </a:xfrm>
          <a:prstGeom prst="ellipse">
            <a:avLst/>
          </a:prstGeom>
          <a:solidFill>
            <a:srgbClr val="D9AE4B"/>
          </a:solidFill>
          <a:ln/>
        </p:spPr>
      </p:sp>
      <p:sp>
        <p:nvSpPr>
          <p:cNvPr id="7" name="anim-g1-679"/>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80"/>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كيف يغير الغاز مقاومة عنصر MQ-2 المسخَّن</a:t>
            </a:r>
            <a:endParaRPr lang="ar-SA" sz="2400" dirty="0"/>
          </a:p>
        </p:txBody>
      </p:sp>
      <p:sp>
        <p:nvSpPr>
          <p:cNvPr id="9" name="anim-g2-681"/>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682"/>
          <p:cNvSpPr/>
          <p:nvPr/>
        </p:nvSpPr>
        <p:spPr>
          <a:xfrm>
            <a:off x="10573207" y="3694176"/>
            <a:ext cx="566928" cy="566928"/>
          </a:xfrm>
          <a:prstGeom prst="ellipse">
            <a:avLst/>
          </a:prstGeom>
          <a:solidFill>
            <a:srgbClr val="D9AE4B"/>
          </a:solidFill>
          <a:ln/>
        </p:spPr>
      </p:sp>
      <p:sp>
        <p:nvSpPr>
          <p:cNvPr id="11" name="anim-g2-683"/>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84"/>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القيمة التماثلية على ESP32 (٠–٤٠٩٥)</a:t>
            </a:r>
            <a:endParaRPr lang="ar-SA" sz="2400" dirty="0"/>
          </a:p>
        </p:txBody>
      </p:sp>
      <p:sp>
        <p:nvSpPr>
          <p:cNvPr id="13" name="anim-g3-685"/>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686"/>
          <p:cNvSpPr/>
          <p:nvPr/>
        </p:nvSpPr>
        <p:spPr>
          <a:xfrm>
            <a:off x="10573207" y="5102352"/>
            <a:ext cx="566928" cy="566928"/>
          </a:xfrm>
          <a:prstGeom prst="ellipse">
            <a:avLst/>
          </a:prstGeom>
          <a:solidFill>
            <a:srgbClr val="D9AE4B"/>
          </a:solidFill>
          <a:ln/>
        </p:spPr>
      </p:sp>
      <p:sp>
        <p:nvSpPr>
          <p:cNvPr id="15" name="anim-g3-687"/>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88"/>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تختار حدًا للإنذار من قراءات حقيقية</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حساس الغاز  ·  ٩٥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كيف يشم؟</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سخان صغير… ومادة تتغير</a:t>
            </a:r>
            <a:endParaRPr lang="ar-SA" sz="3800" dirty="0"/>
          </a:p>
        </p:txBody>
      </p:sp>
      <p:sp>
        <p:nvSpPr>
          <p:cNvPr id="5" name="anim-g1-68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90"/>
          <p:cNvSpPr/>
          <p:nvPr/>
        </p:nvSpPr>
        <p:spPr>
          <a:xfrm>
            <a:off x="10527487" y="2267712"/>
            <a:ext cx="566928" cy="566928"/>
          </a:xfrm>
          <a:prstGeom prst="roundRect">
            <a:avLst>
              <a:gd name="adj" fmla="val 32258"/>
            </a:avLst>
          </a:prstGeom>
          <a:solidFill>
            <a:srgbClr val="F7E6BC"/>
          </a:solidFill>
          <a:ln/>
        </p:spPr>
      </p:sp>
      <p:sp>
        <p:nvSpPr>
          <p:cNvPr id="7" name="anim-g1-69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9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التسخين</a:t>
            </a:r>
            <a:endParaRPr lang="ar-SA" sz="2200" dirty="0"/>
          </a:p>
        </p:txBody>
      </p:sp>
      <p:sp>
        <p:nvSpPr>
          <p:cNvPr id="9" name="anim-g1-69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سلك داخل الشبكة يسخّن طبقة أكسيد القصدير</a:t>
            </a:r>
            <a:endParaRPr lang="ar-SA" sz="1900" dirty="0"/>
          </a:p>
        </p:txBody>
      </p:sp>
      <p:sp>
        <p:nvSpPr>
          <p:cNvPr id="10" name="anim-g2-69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95"/>
          <p:cNvSpPr/>
          <p:nvPr/>
        </p:nvSpPr>
        <p:spPr>
          <a:xfrm>
            <a:off x="6920789" y="2267712"/>
            <a:ext cx="566928" cy="566928"/>
          </a:xfrm>
          <a:prstGeom prst="roundRect">
            <a:avLst>
              <a:gd name="adj" fmla="val 32258"/>
            </a:avLst>
          </a:prstGeom>
          <a:solidFill>
            <a:srgbClr val="F7E6BC"/>
          </a:solidFill>
          <a:ln/>
        </p:spPr>
      </p:sp>
      <p:sp>
        <p:nvSpPr>
          <p:cNvPr id="12" name="anim-g2-69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9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التفاعل</a:t>
            </a:r>
            <a:endParaRPr lang="ar-SA" sz="2200" dirty="0"/>
          </a:p>
        </p:txBody>
      </p:sp>
      <p:sp>
        <p:nvSpPr>
          <p:cNvPr id="14" name="anim-g2-69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غاز الطبخ والدخان يقللان مقاومة الطبقة</a:t>
            </a:r>
            <a:endParaRPr lang="ar-SA" sz="1900" dirty="0"/>
          </a:p>
        </p:txBody>
      </p:sp>
      <p:sp>
        <p:nvSpPr>
          <p:cNvPr id="15" name="anim-g3-69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00"/>
          <p:cNvSpPr/>
          <p:nvPr/>
        </p:nvSpPr>
        <p:spPr>
          <a:xfrm>
            <a:off x="3314090" y="2267712"/>
            <a:ext cx="566928" cy="566928"/>
          </a:xfrm>
          <a:prstGeom prst="roundRect">
            <a:avLst>
              <a:gd name="adj" fmla="val 32258"/>
            </a:avLst>
          </a:prstGeom>
          <a:solidFill>
            <a:srgbClr val="F7E6BC"/>
          </a:solidFill>
          <a:ln/>
        </p:spPr>
      </p:sp>
      <p:sp>
        <p:nvSpPr>
          <p:cNvPr id="17" name="anim-g3-70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0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AO</a:t>
            </a:r>
            <a:endParaRPr lang="ar-SA" sz="2200" dirty="0"/>
          </a:p>
        </p:txBody>
      </p:sp>
      <p:sp>
        <p:nvSpPr>
          <p:cNvPr id="19" name="anim-g3-70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مقاومة أقل = جهد أعلى = قراءة أكبر</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حساس الغاز  ·  ٩٦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C:\Users\user\projects\younes-training\turath\.pptx-cache\s9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pic>
        <p:nvPicPr>
          <p:cNvPr id="2" name="Image 0" descr="C:\Users\user\projects\younes-training\turath\.pptx-cache\s98-0.jpg">    </p:cNvPr>
          <p:cNvPicPr>
            <a:picLocks noChangeAspect="1"/>
          </p:cNvPicPr>
          <p:nvPr/>
        </p:nvPicPr>
        <p:blipFill>
          <a:blip r:embed="rId1"/>
          <a:stretch>
            <a:fillRect/>
          </a:stretch>
        </p:blipFill>
        <p:spPr>
          <a:xfrm>
            <a:off x="0" y="0"/>
            <a:ext cx="12191695" cy="6858000"/>
          </a:xfrm>
          <a:prstGeom prst="rect">
            <a:avLst/>
          </a:prstGeom>
        </p:spPr>
      </p:pic>
      <p:pic>
        <p:nvPicPr>
          <p:cNvPr id="3" name="anim-g1-704" descr="C:\Users\user\projects\younes-training\turath\.pptx-cache\s98-1.jpg">    </p:cNvPr>
          <p:cNvPicPr>
            <a:picLocks noChangeAspect="1"/>
          </p:cNvPicPr>
          <p:nvPr/>
        </p:nvPicPr>
        <p:blipFill>
          <a:blip r:embed="rId2"/>
          <a:stretch>
            <a:fillRect/>
          </a:stretch>
        </p:blipFill>
        <p:spPr>
          <a:xfrm>
            <a:off x="0" y="0"/>
            <a:ext cx="12191695" cy="6858000"/>
          </a:xfrm>
          <a:prstGeom prst="rect">
            <a:avLst/>
          </a:prstGeom>
        </p:spPr>
      </p:pic>
      <p:pic>
        <p:nvPicPr>
          <p:cNvPr id="4" name="anim-g2-705" descr="C:\Users\user\projects\younes-training\turath\.pptx-cache\s98-2.jpg">    </p:cNvPr>
          <p:cNvPicPr>
            <a:picLocks noChangeAspect="1"/>
          </p:cNvPicPr>
          <p:nvPr/>
        </p:nvPicPr>
        <p:blipFill>
          <a:blip r:embed="rId3"/>
          <a:stretch>
            <a:fillRect/>
          </a:stretch>
        </p:blipFill>
        <p:spPr>
          <a:xfrm>
            <a:off x="0" y="0"/>
            <a:ext cx="12191695" cy="6858000"/>
          </a:xfrm>
          <a:prstGeom prst="rect">
            <a:avLst/>
          </a:prstGeom>
        </p:spPr>
      </p:pic>
      <p:pic>
        <p:nvPicPr>
          <p:cNvPr id="5" name="anim-g3-706" descr="C:\Users\user\projects\younes-training\turath\.pptx-cache\s98-3.jpg">    </p:cNvPr>
          <p:cNvPicPr>
            <a:picLocks noChangeAspect="1"/>
          </p:cNvPicPr>
          <p:nvPr/>
        </p:nvPicPr>
        <p:blipFill>
          <a:blip r:embed="rId4"/>
          <a:stretch>
            <a:fillRect/>
          </a:stretch>
        </p:blipFill>
        <p:spPr>
          <a:xfrm>
            <a:off x="0" y="0"/>
            <a:ext cx="12191695" cy="6858000"/>
          </a:xfrm>
          <a:prstGeom prst="rect">
            <a:avLst/>
          </a:prstGeom>
        </p:spPr>
      </p:pic>
      <p:pic>
        <p:nvPicPr>
          <p:cNvPr id="6" name="anim-g4-707" descr="C:\Users\user\projects\younes-training\turath\.pptx-cache\s98-4.jpg">    </p:cNvPr>
          <p:cNvPicPr>
            <a:picLocks noChangeAspect="1"/>
          </p:cNvPicPr>
          <p:nvPr/>
        </p:nvPicPr>
        <p:blipFill>
          <a:blip r:embed="rId5"/>
          <a:stretch>
            <a:fillRect/>
          </a:stretch>
        </p:blipFill>
        <p:spPr>
          <a:xfrm>
            <a:off x="0" y="0"/>
            <a:ext cx="12191695" cy="6858000"/>
          </a:xfrm>
          <a:prstGeom prst="rect">
            <a:avLst/>
          </a:prstGeom>
        </p:spPr>
      </p:pic>
      <p:pic>
        <p:nvPicPr>
          <p:cNvPr id="7" name="anim-g5-708" descr="C:\Users\user\projects\younes-training\turath\.pptx-cache\s98-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كيف تختار الحد؟</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قراءات تحسم الأمر</a:t>
            </a:r>
            <a:endParaRPr lang="ar-SA" sz="3800" dirty="0"/>
          </a:p>
        </p:txBody>
      </p:sp>
      <p:sp>
        <p:nvSpPr>
          <p:cNvPr id="5" name="anim-g1-70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10"/>
          <p:cNvSpPr/>
          <p:nvPr/>
        </p:nvSpPr>
        <p:spPr>
          <a:xfrm>
            <a:off x="10527487" y="2267712"/>
            <a:ext cx="566928" cy="566928"/>
          </a:xfrm>
          <a:prstGeom prst="roundRect">
            <a:avLst>
              <a:gd name="adj" fmla="val 32258"/>
            </a:avLst>
          </a:prstGeom>
          <a:solidFill>
            <a:srgbClr val="F7E6BC"/>
          </a:solidFill>
          <a:ln/>
        </p:spPr>
      </p:sp>
      <p:sp>
        <p:nvSpPr>
          <p:cNvPr id="7" name="anim-g1-71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1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هواء نظيف</a:t>
            </a:r>
            <a:endParaRPr lang="ar-SA" sz="2200" dirty="0"/>
          </a:p>
        </p:txBody>
      </p:sp>
      <p:sp>
        <p:nvSpPr>
          <p:cNvPr id="9" name="anim-g1-71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سجّل القراءة بعد التسخين: هذا «صفرك»</a:t>
            </a:r>
            <a:endParaRPr lang="ar-SA" sz="1900" dirty="0"/>
          </a:p>
        </p:txBody>
      </p:sp>
      <p:sp>
        <p:nvSpPr>
          <p:cNvPr id="10" name="anim-g2-71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15"/>
          <p:cNvSpPr/>
          <p:nvPr/>
        </p:nvSpPr>
        <p:spPr>
          <a:xfrm>
            <a:off x="6920789" y="2267712"/>
            <a:ext cx="566928" cy="566928"/>
          </a:xfrm>
          <a:prstGeom prst="roundRect">
            <a:avLst>
              <a:gd name="adj" fmla="val 32258"/>
            </a:avLst>
          </a:prstGeom>
          <a:solidFill>
            <a:srgbClr val="F7E6BC"/>
          </a:solidFill>
          <a:ln/>
        </p:spPr>
      </p:sp>
      <p:sp>
        <p:nvSpPr>
          <p:cNvPr id="12" name="anim-g2-71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1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ولاعة مطفأة</a:t>
            </a:r>
            <a:endParaRPr lang="ar-SA" sz="2200" dirty="0"/>
          </a:p>
        </p:txBody>
      </p:sp>
      <p:sp>
        <p:nvSpPr>
          <p:cNvPr id="14" name="anim-g2-71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اضغط زر الغاز دون إشعال قرب الحساس لحظة واحدة وسجّل</a:t>
            </a:r>
            <a:endParaRPr lang="ar-SA" sz="1900" dirty="0"/>
          </a:p>
        </p:txBody>
      </p:sp>
      <p:sp>
        <p:nvSpPr>
          <p:cNvPr id="15" name="anim-g3-71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20"/>
          <p:cNvSpPr/>
          <p:nvPr/>
        </p:nvSpPr>
        <p:spPr>
          <a:xfrm>
            <a:off x="3314090" y="2267712"/>
            <a:ext cx="566928" cy="566928"/>
          </a:xfrm>
          <a:prstGeom prst="roundRect">
            <a:avLst>
              <a:gd name="adj" fmla="val 32258"/>
            </a:avLst>
          </a:prstGeom>
          <a:solidFill>
            <a:srgbClr val="F7E6BC"/>
          </a:solidFill>
          <a:ln/>
        </p:spPr>
      </p:sp>
      <p:sp>
        <p:nvSpPr>
          <p:cNvPr id="17" name="anim-g3-72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2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الحد</a:t>
            </a:r>
            <a:endParaRPr lang="ar-SA" sz="2200" dirty="0"/>
          </a:p>
        </p:txBody>
      </p:sp>
      <p:sp>
        <p:nvSpPr>
          <p:cNvPr id="19" name="anim-g3-72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اختر رقمًا بينهما، أقرب للهواء النظيف قليلًا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حساس الغاز  ·  ٩٩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pic>
        <p:nvPicPr>
          <p:cNvPr id="2" name="Image 0" descr="C:\Users\user\projects\younes-training\turath\.pptx-cache\s100-0.jpg">    </p:cNvPr>
          <p:cNvPicPr>
            <a:picLocks noChangeAspect="1"/>
          </p:cNvPicPr>
          <p:nvPr/>
        </p:nvPicPr>
        <p:blipFill>
          <a:blip r:embed="rId1"/>
          <a:stretch>
            <a:fillRect/>
          </a:stretch>
        </p:blipFill>
        <p:spPr>
          <a:xfrm>
            <a:off x="0" y="0"/>
            <a:ext cx="12191695" cy="6858000"/>
          </a:xfrm>
          <a:prstGeom prst="rect">
            <a:avLst/>
          </a:prstGeom>
        </p:spPr>
      </p:pic>
      <p:pic>
        <p:nvPicPr>
          <p:cNvPr id="3" name="anim-g1-724" descr="C:\Users\user\projects\younes-training\turath\.pptx-cache\s100-1.jpg">    </p:cNvPr>
          <p:cNvPicPr>
            <a:picLocks noChangeAspect="1"/>
          </p:cNvPicPr>
          <p:nvPr/>
        </p:nvPicPr>
        <p:blipFill>
          <a:blip r:embed="rId2"/>
          <a:stretch>
            <a:fillRect/>
          </a:stretch>
        </p:blipFill>
        <p:spPr>
          <a:xfrm>
            <a:off x="0" y="0"/>
            <a:ext cx="12191695" cy="6858000"/>
          </a:xfrm>
          <a:prstGeom prst="rect">
            <a:avLst/>
          </a:prstGeom>
        </p:spPr>
      </p:pic>
      <p:pic>
        <p:nvPicPr>
          <p:cNvPr id="4" name="anim-g2-725" descr="C:\Users\user\projects\younes-training\turath\.pptx-cache\s100-2.jpg">    </p:cNvPr>
          <p:cNvPicPr>
            <a:picLocks noChangeAspect="1"/>
          </p:cNvPicPr>
          <p:nvPr/>
        </p:nvPicPr>
        <p:blipFill>
          <a:blip r:embed="rId3"/>
          <a:stretch>
            <a:fillRect/>
          </a:stretch>
        </p:blipFill>
        <p:spPr>
          <a:xfrm>
            <a:off x="0" y="0"/>
            <a:ext cx="12191695" cy="6858000"/>
          </a:xfrm>
          <a:prstGeom prst="rect">
            <a:avLst/>
          </a:prstGeom>
        </p:spPr>
      </p:pic>
      <p:pic>
        <p:nvPicPr>
          <p:cNvPr id="5" name="anim-g3-726" descr="C:\Users\user\projects\younes-training\turath\.pptx-cache\s100-3.jpg">    </p:cNvPr>
          <p:cNvPicPr>
            <a:picLocks noChangeAspect="1"/>
          </p:cNvPicPr>
          <p:nvPr/>
        </p:nvPicPr>
        <p:blipFill>
          <a:blip r:embed="rId4"/>
          <a:stretch>
            <a:fillRect/>
          </a:stretch>
        </p:blipFill>
        <p:spPr>
          <a:xfrm>
            <a:off x="0" y="0"/>
            <a:ext cx="12191695" cy="6858000"/>
          </a:xfrm>
          <a:prstGeom prst="rect">
            <a:avLst/>
          </a:prstGeom>
        </p:spPr>
      </p:pic>
      <p:pic>
        <p:nvPicPr>
          <p:cNvPr id="6" name="anim-g4-727" descr="C:\Users\user\projects\younes-training\turath\.pptx-cache\s10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أغلقنا الغاز لكن الأزرق بقي مضاءً نصف دقيقة. لماذا؟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الكود فيه خطأ</a:t>
            </a:r>
            <a:endParaRPr lang="ar-SA" sz="2500" dirty="0"/>
          </a:p>
        </p:txBody>
      </p:sp>
      <p:sp>
        <p:nvSpPr>
          <p:cNvPr id="9" name="anim-g1-728"/>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729"/>
          <p:cNvSpPr/>
          <p:nvPr/>
        </p:nvSpPr>
        <p:spPr>
          <a:xfrm>
            <a:off x="10231831" y="2194560"/>
            <a:ext cx="954024" cy="954024"/>
          </a:xfrm>
          <a:prstGeom prst="roundRect">
            <a:avLst>
              <a:gd name="adj" fmla="val 11502"/>
            </a:avLst>
          </a:prstGeom>
          <a:solidFill>
            <a:srgbClr val="A3A9BA"/>
          </a:solidFill>
          <a:ln/>
        </p:spPr>
      </p:sp>
      <p:sp>
        <p:nvSpPr>
          <p:cNvPr id="11" name="anim-g1-730"/>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731"/>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الكود فيه خطأ</a:t>
            </a:r>
            <a:endParaRPr lang="ar-SA" sz="2400" dirty="0"/>
          </a:p>
        </p:txBody>
      </p:sp>
      <p:sp>
        <p:nvSpPr>
          <p:cNvPr id="13" name="anim-g1-732"/>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الكود يعمل كما كُتب</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الغاز ما زال في الهواء حول الحساس، يحتاج وقتًا ليتبدد</a:t>
            </a:r>
            <a:endParaRPr lang="ar-SA" sz="2500" dirty="0"/>
          </a:p>
        </p:txBody>
      </p:sp>
      <p:sp>
        <p:nvSpPr>
          <p:cNvPr id="18" name="anim-g1-733"/>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734"/>
          <p:cNvSpPr/>
          <p:nvPr/>
        </p:nvSpPr>
        <p:spPr>
          <a:xfrm>
            <a:off x="10231831" y="3569208"/>
            <a:ext cx="954024" cy="954024"/>
          </a:xfrm>
          <a:prstGeom prst="roundRect">
            <a:avLst>
              <a:gd name="adj" fmla="val 11502"/>
            </a:avLst>
          </a:prstGeom>
          <a:solidFill>
            <a:srgbClr val="2E9E6B"/>
          </a:solidFill>
          <a:ln/>
        </p:spPr>
      </p:sp>
      <p:sp>
        <p:nvSpPr>
          <p:cNvPr id="20" name="anim-g1-735"/>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736"/>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الغاز ما زال في الهواء حول الحساس، يحتاج وقتًا ليتبدد</a:t>
            </a:r>
            <a:endParaRPr lang="ar-SA" sz="2400" dirty="0"/>
          </a:p>
        </p:txBody>
      </p:sp>
      <p:sp>
        <p:nvSpPr>
          <p:cNvPr id="22" name="anim-g1-737"/>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لهذا تحمل سيارتنا مروحة تسرّع تبديد الغاز</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الليد احترق</a:t>
            </a:r>
            <a:endParaRPr lang="ar-SA" sz="2500" dirty="0"/>
          </a:p>
        </p:txBody>
      </p:sp>
      <p:sp>
        <p:nvSpPr>
          <p:cNvPr id="27" name="anim-g1-738"/>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739"/>
          <p:cNvSpPr/>
          <p:nvPr/>
        </p:nvSpPr>
        <p:spPr>
          <a:xfrm>
            <a:off x="10231831" y="4943856"/>
            <a:ext cx="954024" cy="954024"/>
          </a:xfrm>
          <a:prstGeom prst="roundRect">
            <a:avLst>
              <a:gd name="adj" fmla="val 11502"/>
            </a:avLst>
          </a:prstGeom>
          <a:solidFill>
            <a:srgbClr val="A3A9BA"/>
          </a:solidFill>
          <a:ln/>
        </p:spPr>
      </p:sp>
      <p:sp>
        <p:nvSpPr>
          <p:cNvPr id="29" name="anim-g1-740"/>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741"/>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الليد احترق</a:t>
            </a:r>
            <a:endParaRPr lang="ar-SA" sz="2400" dirty="0"/>
          </a:p>
        </p:txBody>
      </p:sp>
      <p:sp>
        <p:nvSpPr>
          <p:cNvPr id="31" name="anim-g1-742"/>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الليد سليم ويستجيب للقراءة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حساس الغاز  ·  ١٠١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Image 0" descr="C:\Users\user\projects\younes-training\turath\.pptx-cache\s1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رقم يصعد ببطء على الشاشة…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وليد أزرق يقول: هنا غاز لا تراه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حساس الغاز  ·  ١٠٣</a:t>
            </a:r>
            <a:endParaRPr lang="ar-SA" sz="1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محطة الأمان الكاملة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عين وأنف وصوت وشاشة… في صندوق واحد</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محطة الأمان  ·  ١٠٤</a:t>
            </a:r>
            <a:endParaRPr lang="ar-SA" sz="1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74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744"/>
          <p:cNvSpPr/>
          <p:nvPr/>
        </p:nvSpPr>
        <p:spPr>
          <a:xfrm>
            <a:off x="10573207" y="2109978"/>
            <a:ext cx="566928" cy="566928"/>
          </a:xfrm>
          <a:prstGeom prst="ellipse">
            <a:avLst/>
          </a:prstGeom>
          <a:solidFill>
            <a:srgbClr val="D9AE4B"/>
          </a:solidFill>
          <a:ln/>
        </p:spPr>
      </p:sp>
      <p:sp>
        <p:nvSpPr>
          <p:cNvPr id="7" name="anim-g1-74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4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شاشة LCD بـ I2C على ESP32</a:t>
            </a:r>
            <a:endParaRPr lang="ar-SA" sz="2400" dirty="0"/>
          </a:p>
        </p:txBody>
      </p:sp>
      <p:sp>
        <p:nvSpPr>
          <p:cNvPr id="9" name="anim-g2-74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48"/>
          <p:cNvSpPr/>
          <p:nvPr/>
        </p:nvSpPr>
        <p:spPr>
          <a:xfrm>
            <a:off x="10573207" y="3166110"/>
            <a:ext cx="566928" cy="566928"/>
          </a:xfrm>
          <a:prstGeom prst="ellipse">
            <a:avLst/>
          </a:prstGeom>
          <a:solidFill>
            <a:srgbClr val="D9AE4B"/>
          </a:solidFill>
          <a:ln/>
        </p:spPr>
      </p:sp>
      <p:sp>
        <p:nvSpPr>
          <p:cNvPr id="11" name="anim-g2-74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5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تحوّل القراءتين إلى نسبتي خطر وتعرضهما</a:t>
            </a:r>
            <a:endParaRPr lang="ar-SA" sz="2400" dirty="0"/>
          </a:p>
        </p:txBody>
      </p:sp>
      <p:sp>
        <p:nvSpPr>
          <p:cNvPr id="13" name="anim-g3-75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52"/>
          <p:cNvSpPr/>
          <p:nvPr/>
        </p:nvSpPr>
        <p:spPr>
          <a:xfrm>
            <a:off x="10573207" y="4222242"/>
            <a:ext cx="566928" cy="566928"/>
          </a:xfrm>
          <a:prstGeom prst="ellipse">
            <a:avLst/>
          </a:prstGeom>
          <a:solidFill>
            <a:srgbClr val="D9AE4B"/>
          </a:solidFill>
          <a:ln/>
        </p:spPr>
      </p:sp>
      <p:sp>
        <p:nvSpPr>
          <p:cNvPr id="15" name="anim-g3-75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5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تميّز اللهب من الغاز بالصوت: سريع وبطيء</a:t>
            </a:r>
            <a:endParaRPr lang="ar-SA" sz="2400" dirty="0"/>
          </a:p>
        </p:txBody>
      </p:sp>
      <p:sp>
        <p:nvSpPr>
          <p:cNvPr id="17" name="anim-g4-75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56"/>
          <p:cNvSpPr/>
          <p:nvPr/>
        </p:nvSpPr>
        <p:spPr>
          <a:xfrm>
            <a:off x="10573207" y="5278374"/>
            <a:ext cx="566928" cy="566928"/>
          </a:xfrm>
          <a:prstGeom prst="ellipse">
            <a:avLst/>
          </a:prstGeom>
          <a:solidFill>
            <a:srgbClr val="D9AE4B"/>
          </a:solidFill>
          <a:ln/>
        </p:spPr>
      </p:sp>
      <p:sp>
        <p:nvSpPr>
          <p:cNvPr id="19" name="anim-g4-75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5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تركّب المحطة كاملة بأطراف المشروع الحقيقي</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محطة الأمان  ·  ١٠٥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فكرة الفريق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من قراءتين مختلفتين… إلى نسبتين يمكن مقارنتهما</a:t>
            </a:r>
            <a:endParaRPr lang="ar-SA" sz="3200" dirty="0"/>
          </a:p>
        </p:txBody>
      </p:sp>
      <p:sp>
        <p:nvSpPr>
          <p:cNvPr id="5" name="anim-g1-759"/>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760"/>
          <p:cNvSpPr/>
          <p:nvPr/>
        </p:nvSpPr>
        <p:spPr>
          <a:xfrm>
            <a:off x="10527487" y="2267712"/>
            <a:ext cx="566928" cy="566928"/>
          </a:xfrm>
          <a:prstGeom prst="roundRect">
            <a:avLst>
              <a:gd name="adj" fmla="val 32258"/>
            </a:avLst>
          </a:prstGeom>
          <a:solidFill>
            <a:srgbClr val="F7E6BC"/>
          </a:solidFill>
          <a:ln/>
        </p:spPr>
      </p:sp>
      <p:sp>
        <p:nvSpPr>
          <p:cNvPr id="7" name="anim-g1-76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762"/>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معايرة تلقائية</a:t>
            </a:r>
            <a:endParaRPr lang="ar-SA" sz="2200" dirty="0"/>
          </a:p>
        </p:txBody>
      </p:sp>
      <p:sp>
        <p:nvSpPr>
          <p:cNvPr id="9" name="anim-g1-763"/>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عند التشغيل تُحفظ قراءة الهواء النظيف (base): فلا إنذارات كاذبة</a:t>
            </a:r>
            <a:endParaRPr lang="ar-SA" sz="1900" dirty="0"/>
          </a:p>
        </p:txBody>
      </p:sp>
      <p:sp>
        <p:nvSpPr>
          <p:cNvPr id="10" name="anim-g2-764"/>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65"/>
          <p:cNvSpPr/>
          <p:nvPr/>
        </p:nvSpPr>
        <p:spPr>
          <a:xfrm>
            <a:off x="6920789" y="2267712"/>
            <a:ext cx="566928" cy="566928"/>
          </a:xfrm>
          <a:prstGeom prst="roundRect">
            <a:avLst>
              <a:gd name="adj" fmla="val 32258"/>
            </a:avLst>
          </a:prstGeom>
          <a:solidFill>
            <a:srgbClr val="F7E6BC"/>
          </a:solidFill>
          <a:ln/>
        </p:spPr>
      </p:sp>
      <p:sp>
        <p:nvSpPr>
          <p:cNvPr id="12" name="anim-g2-766"/>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767"/>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نسبة خطر ٠–١٠٠٪</a:t>
            </a:r>
            <a:endParaRPr lang="ar-SA" sz="2200" dirty="0"/>
          </a:p>
        </p:txBody>
      </p:sp>
      <p:sp>
        <p:nvSpPr>
          <p:cNvPr id="14" name="anim-g2-768"/>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حساس يتحول إلى نسبة موحّدة تُعرض لحظيًا على الشاشة</a:t>
            </a:r>
            <a:endParaRPr lang="ar-SA" sz="1900" dirty="0"/>
          </a:p>
        </p:txBody>
      </p:sp>
      <p:sp>
        <p:nvSpPr>
          <p:cNvPr id="15" name="anim-g3-769"/>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770"/>
          <p:cNvSpPr/>
          <p:nvPr/>
        </p:nvSpPr>
        <p:spPr>
          <a:xfrm>
            <a:off x="3314090" y="2267712"/>
            <a:ext cx="566928" cy="566928"/>
          </a:xfrm>
          <a:prstGeom prst="roundRect">
            <a:avLst>
              <a:gd name="adj" fmla="val 32258"/>
            </a:avLst>
          </a:prstGeom>
          <a:solidFill>
            <a:srgbClr val="F7E6BC"/>
          </a:solidFill>
          <a:ln/>
        </p:spPr>
      </p:sp>
      <p:sp>
        <p:nvSpPr>
          <p:cNvPr id="17" name="anim-g3-771"/>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772"/>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إنذار مزدوج</a:t>
            </a:r>
            <a:endParaRPr lang="ar-SA" sz="2200" dirty="0"/>
          </a:p>
        </p:txBody>
      </p:sp>
      <p:sp>
        <p:nvSpPr>
          <p:cNvPr id="19" name="anim-g3-773"/>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الأحمر للحريق والأزرق للغاز، وصفارة تنبيه</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محطة الأمان  ·  ١٠٦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جدول الحالات</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ماذا تعرض المحطة؟</a:t>
            </a:r>
            <a:endParaRPr lang="ar-SA" sz="3800" dirty="0"/>
          </a:p>
        </p:txBody>
      </p:sp>
      <p:sp>
        <p:nvSpPr>
          <p:cNvPr id="5" name="Shape 3"/>
          <p:cNvSpPr/>
          <p:nvPr/>
        </p:nvSpPr>
        <p:spPr>
          <a:xfrm>
            <a:off x="9070002" y="1874520"/>
            <a:ext cx="2298733" cy="548640"/>
          </a:xfrm>
          <a:prstGeom prst="roundRect">
            <a:avLst>
              <a:gd name="adj" fmla="val 20000"/>
            </a:avLst>
          </a:prstGeom>
          <a:solidFill>
            <a:srgbClr val="101B45"/>
          </a:solidFill>
          <a:ln/>
        </p:spPr>
      </p:sp>
      <p:sp>
        <p:nvSpPr>
          <p:cNvPr id="6" name="Text 4"/>
          <p:cNvSpPr/>
          <p:nvPr/>
        </p:nvSpPr>
        <p:spPr>
          <a:xfrm>
            <a:off x="9070002" y="1874520"/>
            <a:ext cx="229873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الحالة</a:t>
            </a:r>
            <a:endParaRPr lang="ar-SA" sz="1900" dirty="0"/>
          </a:p>
        </p:txBody>
      </p:sp>
      <p:sp>
        <p:nvSpPr>
          <p:cNvPr id="7" name="Shape 5"/>
          <p:cNvSpPr/>
          <p:nvPr/>
        </p:nvSpPr>
        <p:spPr>
          <a:xfrm>
            <a:off x="6661541" y="1874520"/>
            <a:ext cx="2298733" cy="548640"/>
          </a:xfrm>
          <a:prstGeom prst="roundRect">
            <a:avLst>
              <a:gd name="adj" fmla="val 20000"/>
            </a:avLst>
          </a:prstGeom>
          <a:solidFill>
            <a:srgbClr val="101B45"/>
          </a:solidFill>
          <a:ln/>
        </p:spPr>
      </p:sp>
      <p:sp>
        <p:nvSpPr>
          <p:cNvPr id="8" name="Text 6"/>
          <p:cNvSpPr/>
          <p:nvPr/>
        </p:nvSpPr>
        <p:spPr>
          <a:xfrm>
            <a:off x="6661541" y="1874520"/>
            <a:ext cx="229873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الليدان</a:t>
            </a:r>
            <a:endParaRPr lang="ar-SA" sz="1900" dirty="0"/>
          </a:p>
        </p:txBody>
      </p:sp>
      <p:sp>
        <p:nvSpPr>
          <p:cNvPr id="9" name="Shape 7"/>
          <p:cNvSpPr/>
          <p:nvPr/>
        </p:nvSpPr>
        <p:spPr>
          <a:xfrm>
            <a:off x="4253080" y="1874520"/>
            <a:ext cx="2298733" cy="548640"/>
          </a:xfrm>
          <a:prstGeom prst="roundRect">
            <a:avLst>
              <a:gd name="adj" fmla="val 20000"/>
            </a:avLst>
          </a:prstGeom>
          <a:solidFill>
            <a:srgbClr val="101B45"/>
          </a:solidFill>
          <a:ln/>
        </p:spPr>
      </p:sp>
      <p:sp>
        <p:nvSpPr>
          <p:cNvPr id="10" name="Text 8"/>
          <p:cNvSpPr/>
          <p:nvPr/>
        </p:nvSpPr>
        <p:spPr>
          <a:xfrm>
            <a:off x="4253080" y="1874520"/>
            <a:ext cx="229873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البازر</a:t>
            </a:r>
            <a:endParaRPr lang="ar-SA" sz="1900" dirty="0"/>
          </a:p>
        </p:txBody>
      </p:sp>
      <p:sp>
        <p:nvSpPr>
          <p:cNvPr id="11" name="Shape 9"/>
          <p:cNvSpPr/>
          <p:nvPr/>
        </p:nvSpPr>
        <p:spPr>
          <a:xfrm>
            <a:off x="822960" y="1874520"/>
            <a:ext cx="3320392" cy="548640"/>
          </a:xfrm>
          <a:prstGeom prst="roundRect">
            <a:avLst>
              <a:gd name="adj" fmla="val 20000"/>
            </a:avLst>
          </a:prstGeom>
          <a:solidFill>
            <a:srgbClr val="101B45"/>
          </a:solidFill>
          <a:ln/>
        </p:spPr>
      </p:sp>
      <p:sp>
        <p:nvSpPr>
          <p:cNvPr id="12" name="Text 10"/>
          <p:cNvSpPr/>
          <p:nvPr/>
        </p:nvSpPr>
        <p:spPr>
          <a:xfrm>
            <a:off x="822960" y="1874520"/>
            <a:ext cx="332039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الشاشة</a:t>
            </a:r>
            <a:endParaRPr lang="ar-SA" sz="1900" dirty="0"/>
          </a:p>
        </p:txBody>
      </p:sp>
      <p:sp>
        <p:nvSpPr>
          <p:cNvPr id="13" name="anim-g1-774"/>
          <p:cNvSpPr/>
          <p:nvPr/>
        </p:nvSpPr>
        <p:spPr>
          <a:xfrm>
            <a:off x="9070002" y="2514600"/>
            <a:ext cx="2298733" cy="797814"/>
          </a:xfrm>
          <a:prstGeom prst="roundRect">
            <a:avLst>
              <a:gd name="adj" fmla="val 13754"/>
            </a:avLst>
          </a:prstGeom>
          <a:solidFill>
            <a:srgbClr val="FBF3DF"/>
          </a:solidFill>
          <a:ln w="12700">
            <a:solidFill>
              <a:srgbClr val="EFDDAF"/>
            </a:solidFill>
            <a:prstDash val="solid"/>
          </a:ln>
        </p:spPr>
      </p:sp>
      <p:sp>
        <p:nvSpPr>
          <p:cNvPr id="14" name="anim-g1-775"/>
          <p:cNvSpPr/>
          <p:nvPr/>
        </p:nvSpPr>
        <p:spPr>
          <a:xfrm>
            <a:off x="9207162" y="2514600"/>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آمن</a:t>
            </a:r>
            <a:endParaRPr lang="ar-SA" sz="2100" dirty="0"/>
          </a:p>
        </p:txBody>
      </p:sp>
      <p:sp>
        <p:nvSpPr>
          <p:cNvPr id="15" name="anim-g1-776"/>
          <p:cNvSpPr/>
          <p:nvPr/>
        </p:nvSpPr>
        <p:spPr>
          <a:xfrm>
            <a:off x="6661541" y="2514600"/>
            <a:ext cx="2298733" cy="797814"/>
          </a:xfrm>
          <a:prstGeom prst="roundRect">
            <a:avLst>
              <a:gd name="adj" fmla="val 13754"/>
            </a:avLst>
          </a:prstGeom>
          <a:solidFill>
            <a:srgbClr val="FFFFFF"/>
          </a:solidFill>
          <a:ln w="12700">
            <a:solidFill>
              <a:srgbClr val="E4DCC8"/>
            </a:solidFill>
            <a:prstDash val="solid"/>
          </a:ln>
        </p:spPr>
      </p:sp>
      <p:sp>
        <p:nvSpPr>
          <p:cNvPr id="16" name="anim-g1-777"/>
          <p:cNvSpPr/>
          <p:nvPr/>
        </p:nvSpPr>
        <p:spPr>
          <a:xfrm>
            <a:off x="6798701" y="2514600"/>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مطفآن</a:t>
            </a:r>
            <a:endParaRPr lang="ar-SA" sz="2100" dirty="0"/>
          </a:p>
        </p:txBody>
      </p:sp>
      <p:sp>
        <p:nvSpPr>
          <p:cNvPr id="17" name="anim-g1-778"/>
          <p:cNvSpPr/>
          <p:nvPr/>
        </p:nvSpPr>
        <p:spPr>
          <a:xfrm>
            <a:off x="4253080" y="2514600"/>
            <a:ext cx="2298733" cy="797814"/>
          </a:xfrm>
          <a:prstGeom prst="roundRect">
            <a:avLst>
              <a:gd name="adj" fmla="val 13754"/>
            </a:avLst>
          </a:prstGeom>
          <a:solidFill>
            <a:srgbClr val="FFFFFF"/>
          </a:solidFill>
          <a:ln w="12700">
            <a:solidFill>
              <a:srgbClr val="E4DCC8"/>
            </a:solidFill>
            <a:prstDash val="solid"/>
          </a:ln>
        </p:spPr>
      </p:sp>
      <p:sp>
        <p:nvSpPr>
          <p:cNvPr id="18" name="anim-g1-779"/>
          <p:cNvSpPr/>
          <p:nvPr/>
        </p:nvSpPr>
        <p:spPr>
          <a:xfrm>
            <a:off x="4390240" y="2514600"/>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صامت</a:t>
            </a:r>
            <a:endParaRPr lang="ar-SA" sz="2100" dirty="0"/>
          </a:p>
        </p:txBody>
      </p:sp>
      <p:sp>
        <p:nvSpPr>
          <p:cNvPr id="19" name="anim-g1-780"/>
          <p:cNvSpPr/>
          <p:nvPr/>
        </p:nvSpPr>
        <p:spPr>
          <a:xfrm>
            <a:off x="822960" y="2514600"/>
            <a:ext cx="3320392" cy="797814"/>
          </a:xfrm>
          <a:prstGeom prst="roundRect">
            <a:avLst>
              <a:gd name="adj" fmla="val 13754"/>
            </a:avLst>
          </a:prstGeom>
          <a:solidFill>
            <a:srgbClr val="E6F4EC"/>
          </a:solidFill>
          <a:ln w="12700">
            <a:solidFill>
              <a:srgbClr val="CDE9D9"/>
            </a:solidFill>
            <a:prstDash val="solid"/>
          </a:ln>
        </p:spPr>
      </p:sp>
      <p:sp>
        <p:nvSpPr>
          <p:cNvPr id="20" name="anim-g1-781"/>
          <p:cNvSpPr/>
          <p:nvPr/>
        </p:nvSpPr>
        <p:spPr>
          <a:xfrm>
            <a:off x="960120" y="2514600"/>
            <a:ext cx="304607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Fire: 2% · Gas: 0%</a:t>
            </a:r>
            <a:endParaRPr lang="ar-SA" sz="2100" dirty="0"/>
          </a:p>
        </p:txBody>
      </p:sp>
      <p:sp>
        <p:nvSpPr>
          <p:cNvPr id="21" name="anim-g2-782"/>
          <p:cNvSpPr/>
          <p:nvPr/>
        </p:nvSpPr>
        <p:spPr>
          <a:xfrm>
            <a:off x="9070002" y="3422142"/>
            <a:ext cx="2298733" cy="797814"/>
          </a:xfrm>
          <a:prstGeom prst="roundRect">
            <a:avLst>
              <a:gd name="adj" fmla="val 13754"/>
            </a:avLst>
          </a:prstGeom>
          <a:solidFill>
            <a:srgbClr val="FBF3DF"/>
          </a:solidFill>
          <a:ln w="12700">
            <a:solidFill>
              <a:srgbClr val="EFDDAF"/>
            </a:solidFill>
            <a:prstDash val="solid"/>
          </a:ln>
        </p:spPr>
      </p:sp>
      <p:sp>
        <p:nvSpPr>
          <p:cNvPr id="22" name="anim-g2-783"/>
          <p:cNvSpPr/>
          <p:nvPr/>
        </p:nvSpPr>
        <p:spPr>
          <a:xfrm>
            <a:off x="9207162" y="3422142"/>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حريق</a:t>
            </a:r>
            <a:endParaRPr lang="ar-SA" sz="2100" dirty="0"/>
          </a:p>
        </p:txBody>
      </p:sp>
      <p:sp>
        <p:nvSpPr>
          <p:cNvPr id="23" name="anim-g2-784"/>
          <p:cNvSpPr/>
          <p:nvPr/>
        </p:nvSpPr>
        <p:spPr>
          <a:xfrm>
            <a:off x="6661541" y="3422142"/>
            <a:ext cx="2298733" cy="797814"/>
          </a:xfrm>
          <a:prstGeom prst="roundRect">
            <a:avLst>
              <a:gd name="adj" fmla="val 13754"/>
            </a:avLst>
          </a:prstGeom>
          <a:solidFill>
            <a:srgbClr val="FFFFFF"/>
          </a:solidFill>
          <a:ln w="12700">
            <a:solidFill>
              <a:srgbClr val="E4DCC8"/>
            </a:solidFill>
            <a:prstDash val="solid"/>
          </a:ln>
        </p:spPr>
      </p:sp>
      <p:sp>
        <p:nvSpPr>
          <p:cNvPr id="24" name="anim-g2-785"/>
          <p:cNvSpPr/>
          <p:nvPr/>
        </p:nvSpPr>
        <p:spPr>
          <a:xfrm>
            <a:off x="6798701" y="3422142"/>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الأحمر</a:t>
            </a:r>
            <a:endParaRPr lang="ar-SA" sz="2100" dirty="0"/>
          </a:p>
        </p:txBody>
      </p:sp>
      <p:sp>
        <p:nvSpPr>
          <p:cNvPr id="25" name="anim-g2-786"/>
          <p:cNvSpPr/>
          <p:nvPr/>
        </p:nvSpPr>
        <p:spPr>
          <a:xfrm>
            <a:off x="4253080" y="3422142"/>
            <a:ext cx="2298733" cy="797814"/>
          </a:xfrm>
          <a:prstGeom prst="roundRect">
            <a:avLst>
              <a:gd name="adj" fmla="val 13754"/>
            </a:avLst>
          </a:prstGeom>
          <a:solidFill>
            <a:srgbClr val="FFFFFF"/>
          </a:solidFill>
          <a:ln w="12700">
            <a:solidFill>
              <a:srgbClr val="E4DCC8"/>
            </a:solidFill>
            <a:prstDash val="solid"/>
          </a:ln>
        </p:spPr>
      </p:sp>
      <p:sp>
        <p:nvSpPr>
          <p:cNvPr id="26" name="anim-g2-787"/>
          <p:cNvSpPr/>
          <p:nvPr/>
        </p:nvSpPr>
        <p:spPr>
          <a:xfrm>
            <a:off x="4390240" y="3422142"/>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سريع متقطع</a:t>
            </a:r>
            <a:endParaRPr lang="ar-SA" sz="2100" dirty="0"/>
          </a:p>
        </p:txBody>
      </p:sp>
      <p:sp>
        <p:nvSpPr>
          <p:cNvPr id="27" name="anim-g2-788"/>
          <p:cNvSpPr/>
          <p:nvPr/>
        </p:nvSpPr>
        <p:spPr>
          <a:xfrm>
            <a:off x="822960" y="3422142"/>
            <a:ext cx="3320392" cy="797814"/>
          </a:xfrm>
          <a:prstGeom prst="roundRect">
            <a:avLst>
              <a:gd name="adj" fmla="val 13754"/>
            </a:avLst>
          </a:prstGeom>
          <a:solidFill>
            <a:srgbClr val="E6F4EC"/>
          </a:solidFill>
          <a:ln w="12700">
            <a:solidFill>
              <a:srgbClr val="CDE9D9"/>
            </a:solidFill>
            <a:prstDash val="solid"/>
          </a:ln>
        </p:spPr>
      </p:sp>
      <p:sp>
        <p:nvSpPr>
          <p:cNvPr id="28" name="anim-g2-789"/>
          <p:cNvSpPr/>
          <p:nvPr/>
        </p:nvSpPr>
        <p:spPr>
          <a:xfrm>
            <a:off x="960120" y="3422142"/>
            <a:ext cx="304607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Fire: 82% !!</a:t>
            </a:r>
            <a:endParaRPr lang="ar-SA" sz="2100" dirty="0"/>
          </a:p>
        </p:txBody>
      </p:sp>
      <p:sp>
        <p:nvSpPr>
          <p:cNvPr id="29" name="anim-g3-790"/>
          <p:cNvSpPr/>
          <p:nvPr/>
        </p:nvSpPr>
        <p:spPr>
          <a:xfrm>
            <a:off x="9070002" y="4329684"/>
            <a:ext cx="2298733" cy="797814"/>
          </a:xfrm>
          <a:prstGeom prst="roundRect">
            <a:avLst>
              <a:gd name="adj" fmla="val 13754"/>
            </a:avLst>
          </a:prstGeom>
          <a:solidFill>
            <a:srgbClr val="FBF3DF"/>
          </a:solidFill>
          <a:ln w="12700">
            <a:solidFill>
              <a:srgbClr val="EFDDAF"/>
            </a:solidFill>
            <a:prstDash val="solid"/>
          </a:ln>
        </p:spPr>
      </p:sp>
      <p:sp>
        <p:nvSpPr>
          <p:cNvPr id="30" name="anim-g3-791"/>
          <p:cNvSpPr/>
          <p:nvPr/>
        </p:nvSpPr>
        <p:spPr>
          <a:xfrm>
            <a:off x="9207162" y="4329684"/>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غاز</a:t>
            </a:r>
            <a:endParaRPr lang="ar-SA" sz="2100" dirty="0"/>
          </a:p>
        </p:txBody>
      </p:sp>
      <p:sp>
        <p:nvSpPr>
          <p:cNvPr id="31" name="anim-g3-792"/>
          <p:cNvSpPr/>
          <p:nvPr/>
        </p:nvSpPr>
        <p:spPr>
          <a:xfrm>
            <a:off x="6661541" y="4329684"/>
            <a:ext cx="2298733" cy="797814"/>
          </a:xfrm>
          <a:prstGeom prst="roundRect">
            <a:avLst>
              <a:gd name="adj" fmla="val 13754"/>
            </a:avLst>
          </a:prstGeom>
          <a:solidFill>
            <a:srgbClr val="FFFFFF"/>
          </a:solidFill>
          <a:ln w="12700">
            <a:solidFill>
              <a:srgbClr val="E4DCC8"/>
            </a:solidFill>
            <a:prstDash val="solid"/>
          </a:ln>
        </p:spPr>
      </p:sp>
      <p:sp>
        <p:nvSpPr>
          <p:cNvPr id="32" name="anim-g3-793"/>
          <p:cNvSpPr/>
          <p:nvPr/>
        </p:nvSpPr>
        <p:spPr>
          <a:xfrm>
            <a:off x="6798701" y="4329684"/>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الأزرق</a:t>
            </a:r>
            <a:endParaRPr lang="ar-SA" sz="2100" dirty="0"/>
          </a:p>
        </p:txBody>
      </p:sp>
      <p:sp>
        <p:nvSpPr>
          <p:cNvPr id="33" name="anim-g3-794"/>
          <p:cNvSpPr/>
          <p:nvPr/>
        </p:nvSpPr>
        <p:spPr>
          <a:xfrm>
            <a:off x="4253080" y="4329684"/>
            <a:ext cx="2298733" cy="797814"/>
          </a:xfrm>
          <a:prstGeom prst="roundRect">
            <a:avLst>
              <a:gd name="adj" fmla="val 13754"/>
            </a:avLst>
          </a:prstGeom>
          <a:solidFill>
            <a:srgbClr val="FFFFFF"/>
          </a:solidFill>
          <a:ln w="12700">
            <a:solidFill>
              <a:srgbClr val="E4DCC8"/>
            </a:solidFill>
            <a:prstDash val="solid"/>
          </a:ln>
        </p:spPr>
      </p:sp>
      <p:sp>
        <p:nvSpPr>
          <p:cNvPr id="34" name="anim-g3-795"/>
          <p:cNvSpPr/>
          <p:nvPr/>
        </p:nvSpPr>
        <p:spPr>
          <a:xfrm>
            <a:off x="4390240" y="4329684"/>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بطيء</a:t>
            </a:r>
            <a:endParaRPr lang="ar-SA" sz="2100" dirty="0"/>
          </a:p>
        </p:txBody>
      </p:sp>
      <p:sp>
        <p:nvSpPr>
          <p:cNvPr id="35" name="anim-g3-796"/>
          <p:cNvSpPr/>
          <p:nvPr/>
        </p:nvSpPr>
        <p:spPr>
          <a:xfrm>
            <a:off x="822960" y="4329684"/>
            <a:ext cx="3320392" cy="797814"/>
          </a:xfrm>
          <a:prstGeom prst="roundRect">
            <a:avLst>
              <a:gd name="adj" fmla="val 13754"/>
            </a:avLst>
          </a:prstGeom>
          <a:solidFill>
            <a:srgbClr val="E6F4EC"/>
          </a:solidFill>
          <a:ln w="12700">
            <a:solidFill>
              <a:srgbClr val="CDE9D9"/>
            </a:solidFill>
            <a:prstDash val="solid"/>
          </a:ln>
        </p:spPr>
      </p:sp>
      <p:sp>
        <p:nvSpPr>
          <p:cNvPr id="36" name="anim-g3-797"/>
          <p:cNvSpPr/>
          <p:nvPr/>
        </p:nvSpPr>
        <p:spPr>
          <a:xfrm>
            <a:off x="960120" y="4329684"/>
            <a:ext cx="304607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Gas: 64% !!</a:t>
            </a:r>
            <a:endParaRPr lang="ar-SA" sz="2100" dirty="0"/>
          </a:p>
        </p:txBody>
      </p:sp>
      <p:sp>
        <p:nvSpPr>
          <p:cNvPr id="37" name="anim-g4-798"/>
          <p:cNvSpPr/>
          <p:nvPr/>
        </p:nvSpPr>
        <p:spPr>
          <a:xfrm>
            <a:off x="9070002" y="5237226"/>
            <a:ext cx="2298733" cy="797814"/>
          </a:xfrm>
          <a:prstGeom prst="roundRect">
            <a:avLst>
              <a:gd name="adj" fmla="val 13754"/>
            </a:avLst>
          </a:prstGeom>
          <a:solidFill>
            <a:srgbClr val="FBF3DF"/>
          </a:solidFill>
          <a:ln w="12700">
            <a:solidFill>
              <a:srgbClr val="EFDDAF"/>
            </a:solidFill>
            <a:prstDash val="solid"/>
          </a:ln>
        </p:spPr>
      </p:sp>
      <p:sp>
        <p:nvSpPr>
          <p:cNvPr id="38" name="anim-g4-799"/>
          <p:cNvSpPr/>
          <p:nvPr/>
        </p:nvSpPr>
        <p:spPr>
          <a:xfrm>
            <a:off x="9207162" y="5237226"/>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معًا</a:t>
            </a:r>
            <a:endParaRPr lang="ar-SA" sz="2100" dirty="0"/>
          </a:p>
        </p:txBody>
      </p:sp>
      <p:sp>
        <p:nvSpPr>
          <p:cNvPr id="39" name="anim-g4-800"/>
          <p:cNvSpPr/>
          <p:nvPr/>
        </p:nvSpPr>
        <p:spPr>
          <a:xfrm>
            <a:off x="6661541" y="5237226"/>
            <a:ext cx="2298733" cy="797814"/>
          </a:xfrm>
          <a:prstGeom prst="roundRect">
            <a:avLst>
              <a:gd name="adj" fmla="val 13754"/>
            </a:avLst>
          </a:prstGeom>
          <a:solidFill>
            <a:srgbClr val="FFFFFF"/>
          </a:solidFill>
          <a:ln w="12700">
            <a:solidFill>
              <a:srgbClr val="E4DCC8"/>
            </a:solidFill>
            <a:prstDash val="solid"/>
          </a:ln>
        </p:spPr>
      </p:sp>
      <p:sp>
        <p:nvSpPr>
          <p:cNvPr id="40" name="anim-g4-801"/>
          <p:cNvSpPr/>
          <p:nvPr/>
        </p:nvSpPr>
        <p:spPr>
          <a:xfrm>
            <a:off x="6798701" y="5237226"/>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كلاهما</a:t>
            </a:r>
            <a:endParaRPr lang="ar-SA" sz="2100" dirty="0"/>
          </a:p>
        </p:txBody>
      </p:sp>
      <p:sp>
        <p:nvSpPr>
          <p:cNvPr id="41" name="anim-g4-802"/>
          <p:cNvSpPr/>
          <p:nvPr/>
        </p:nvSpPr>
        <p:spPr>
          <a:xfrm>
            <a:off x="4253080" y="5237226"/>
            <a:ext cx="2298733" cy="797814"/>
          </a:xfrm>
          <a:prstGeom prst="roundRect">
            <a:avLst>
              <a:gd name="adj" fmla="val 13754"/>
            </a:avLst>
          </a:prstGeom>
          <a:solidFill>
            <a:srgbClr val="FFFFFF"/>
          </a:solidFill>
          <a:ln w="12700">
            <a:solidFill>
              <a:srgbClr val="E4DCC8"/>
            </a:solidFill>
            <a:prstDash val="solid"/>
          </a:ln>
        </p:spPr>
      </p:sp>
      <p:sp>
        <p:nvSpPr>
          <p:cNvPr id="42" name="anim-g4-803"/>
          <p:cNvSpPr/>
          <p:nvPr/>
        </p:nvSpPr>
        <p:spPr>
          <a:xfrm>
            <a:off x="4390240" y="5237226"/>
            <a:ext cx="2024413"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سريع</a:t>
            </a:r>
            <a:endParaRPr lang="ar-SA" sz="2100" dirty="0"/>
          </a:p>
        </p:txBody>
      </p:sp>
      <p:sp>
        <p:nvSpPr>
          <p:cNvPr id="43" name="anim-g4-804"/>
          <p:cNvSpPr/>
          <p:nvPr/>
        </p:nvSpPr>
        <p:spPr>
          <a:xfrm>
            <a:off x="822960" y="5237226"/>
            <a:ext cx="3320392" cy="797814"/>
          </a:xfrm>
          <a:prstGeom prst="roundRect">
            <a:avLst>
              <a:gd name="adj" fmla="val 13754"/>
            </a:avLst>
          </a:prstGeom>
          <a:solidFill>
            <a:srgbClr val="E6F4EC"/>
          </a:solidFill>
          <a:ln w="12700">
            <a:solidFill>
              <a:srgbClr val="CDE9D9"/>
            </a:solidFill>
            <a:prstDash val="solid"/>
          </a:ln>
        </p:spPr>
      </p:sp>
      <p:sp>
        <p:nvSpPr>
          <p:cNvPr id="44" name="anim-g4-805"/>
          <p:cNvSpPr/>
          <p:nvPr/>
        </p:nvSpPr>
        <p:spPr>
          <a:xfrm>
            <a:off x="960120" y="5237226"/>
            <a:ext cx="304607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النسبتان معًا… والسيارة تقارن</a:t>
            </a:r>
            <a:endParaRPr lang="ar-SA" sz="2100" dirty="0"/>
          </a:p>
        </p:txBody>
      </p:sp>
      <p:sp>
        <p:nvSpPr>
          <p:cNvPr id="45" name="Text 4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46" name="Text 4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محطة الأمان  ·  ١٠٧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400"/>
                                        <p:tgtEl>
                                          <p:spTgt spid="3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400"/>
                                        <p:tgtEl>
                                          <p:spTgt spid="3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400"/>
                                        <p:tgtEl>
                                          <p:spTgt spid="3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400"/>
                                        <p:tgtEl>
                                          <p:spTgt spid="4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400"/>
                                        <p:tgtEl>
                                          <p:spTgt spid="4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400"/>
                                        <p:tgtEl>
                                          <p:spTgt spid="4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00"/>
                                        <p:tgtEl>
                                          <p:spTgt spid="4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pic>
        <p:nvPicPr>
          <p:cNvPr id="2" name="Image 0" descr="C:\Users\user\projects\younes-training\turath\.pptx-cache\s1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pic>
        <p:nvPicPr>
          <p:cNvPr id="2" name="Image 0" descr="C:\Users\user\projects\younes-training\turath\.pptx-cache\s109-0.jpg">    </p:cNvPr>
          <p:cNvPicPr>
            <a:picLocks noChangeAspect="1"/>
          </p:cNvPicPr>
          <p:nvPr/>
        </p:nvPicPr>
        <p:blipFill>
          <a:blip r:embed="rId1"/>
          <a:stretch>
            <a:fillRect/>
          </a:stretch>
        </p:blipFill>
        <p:spPr>
          <a:xfrm>
            <a:off x="0" y="0"/>
            <a:ext cx="12191695" cy="6858000"/>
          </a:xfrm>
          <a:prstGeom prst="rect">
            <a:avLst/>
          </a:prstGeom>
        </p:spPr>
      </p:pic>
      <p:pic>
        <p:nvPicPr>
          <p:cNvPr id="3" name="anim-g1-806" descr="C:\Users\user\projects\younes-training\turath\.pptx-cache\s109-1.jpg">    </p:cNvPr>
          <p:cNvPicPr>
            <a:picLocks noChangeAspect="1"/>
          </p:cNvPicPr>
          <p:nvPr/>
        </p:nvPicPr>
        <p:blipFill>
          <a:blip r:embed="rId2"/>
          <a:stretch>
            <a:fillRect/>
          </a:stretch>
        </p:blipFill>
        <p:spPr>
          <a:xfrm>
            <a:off x="0" y="0"/>
            <a:ext cx="12191695" cy="6858000"/>
          </a:xfrm>
          <a:prstGeom prst="rect">
            <a:avLst/>
          </a:prstGeom>
        </p:spPr>
      </p:pic>
      <p:pic>
        <p:nvPicPr>
          <p:cNvPr id="4" name="anim-g2-807" descr="C:\Users\user\projects\younes-training\turath\.pptx-cache\s109-2.jpg">    </p:cNvPr>
          <p:cNvPicPr>
            <a:picLocks noChangeAspect="1"/>
          </p:cNvPicPr>
          <p:nvPr/>
        </p:nvPicPr>
        <p:blipFill>
          <a:blip r:embed="rId3"/>
          <a:stretch>
            <a:fillRect/>
          </a:stretch>
        </p:blipFill>
        <p:spPr>
          <a:xfrm>
            <a:off x="0" y="0"/>
            <a:ext cx="12191695" cy="6858000"/>
          </a:xfrm>
          <a:prstGeom prst="rect">
            <a:avLst/>
          </a:prstGeom>
        </p:spPr>
      </p:pic>
      <p:pic>
        <p:nvPicPr>
          <p:cNvPr id="5" name="anim-g3-808" descr="C:\Users\user\projects\younes-training\turath\.pptx-cache\s109-3.jpg">    </p:cNvPr>
          <p:cNvPicPr>
            <a:picLocks noChangeAspect="1"/>
          </p:cNvPicPr>
          <p:nvPr/>
        </p:nvPicPr>
        <p:blipFill>
          <a:blip r:embed="rId4"/>
          <a:stretch>
            <a:fillRect/>
          </a:stretch>
        </p:blipFill>
        <p:spPr>
          <a:xfrm>
            <a:off x="0" y="0"/>
            <a:ext cx="12191695" cy="6858000"/>
          </a:xfrm>
          <a:prstGeom prst="rect">
            <a:avLst/>
          </a:prstGeom>
        </p:spPr>
      </p:pic>
      <p:pic>
        <p:nvPicPr>
          <p:cNvPr id="6" name="anim-g4-809" descr="C:\Users\user\projects\younes-training\turath\.pptx-cache\s109-4.jpg">    </p:cNvPr>
          <p:cNvPicPr>
            <a:picLocks noChangeAspect="1"/>
          </p:cNvPicPr>
          <p:nvPr/>
        </p:nvPicPr>
        <p:blipFill>
          <a:blip r:embed="rId5"/>
          <a:stretch>
            <a:fillRect/>
          </a:stretch>
        </p:blipFill>
        <p:spPr>
          <a:xfrm>
            <a:off x="0" y="0"/>
            <a:ext cx="12191695" cy="6858000"/>
          </a:xfrm>
          <a:prstGeom prst="rect">
            <a:avLst/>
          </a:prstGeom>
        </p:spPr>
      </p:pic>
      <p:pic>
        <p:nvPicPr>
          <p:cNvPr id="7" name="anim-g5-810" descr="C:\Users\user\projects\younes-training\turath\.pptx-cache\s109-5.jpg">    </p:cNvPr>
          <p:cNvPicPr>
            <a:picLocks noChangeAspect="1"/>
          </p:cNvPicPr>
          <p:nvPr/>
        </p:nvPicPr>
        <p:blipFill>
          <a:blip r:embed="rId6"/>
          <a:stretch>
            <a:fillRect/>
          </a:stretch>
        </p:blipFill>
        <p:spPr>
          <a:xfrm>
            <a:off x="0" y="0"/>
            <a:ext cx="12191695" cy="6858000"/>
          </a:xfrm>
          <a:prstGeom prst="rect">
            <a:avLst/>
          </a:prstGeom>
        </p:spPr>
      </p:pic>
      <p:pic>
        <p:nvPicPr>
          <p:cNvPr id="8" name="anim-g6-811" descr="C:\Users\user\projects\younes-training\turath\.pptx-cache\s109-6.jpg">    </p:cNvPr>
          <p:cNvPicPr>
            <a:picLocks noChangeAspect="1"/>
          </p:cNvPicPr>
          <p:nvPr/>
        </p:nvPicPr>
        <p:blipFill>
          <a:blip r:embed="rId7"/>
          <a:stretch>
            <a:fillRect/>
          </a:stretch>
        </p:blipFill>
        <p:spPr>
          <a:xfrm>
            <a:off x="0" y="0"/>
            <a:ext cx="12191695" cy="6858000"/>
          </a:xfrm>
          <a:prstGeom prst="rect">
            <a:avLst/>
          </a:prstGeom>
        </p:spPr>
      </p:pic>
      <p:pic>
        <p:nvPicPr>
          <p:cNvPr id="9" name="anim-g7-812" descr="C:\Users\user\projects\younes-training\turath\.pptx-cache\s109-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Image 0" descr="C:\Users\user\projects\younes-training\turath\.pptx-cache\s110-0.jpg">    </p:cNvPr>
          <p:cNvPicPr>
            <a:picLocks noChangeAspect="1"/>
          </p:cNvPicPr>
          <p:nvPr/>
        </p:nvPicPr>
        <p:blipFill>
          <a:blip r:embed="rId1"/>
          <a:stretch>
            <a:fillRect/>
          </a:stretch>
        </p:blipFill>
        <p:spPr>
          <a:xfrm>
            <a:off x="0" y="0"/>
            <a:ext cx="12191695" cy="6858000"/>
          </a:xfrm>
          <a:prstGeom prst="rect">
            <a:avLst/>
          </a:prstGeom>
        </p:spPr>
      </p:pic>
      <p:pic>
        <p:nvPicPr>
          <p:cNvPr id="3" name="anim-g1-813" descr="C:\Users\user\projects\younes-training\turath\.pptx-cache\s110-1.jpg">    </p:cNvPr>
          <p:cNvPicPr>
            <a:picLocks noChangeAspect="1"/>
          </p:cNvPicPr>
          <p:nvPr/>
        </p:nvPicPr>
        <p:blipFill>
          <a:blip r:embed="rId2"/>
          <a:stretch>
            <a:fillRect/>
          </a:stretch>
        </p:blipFill>
        <p:spPr>
          <a:xfrm>
            <a:off x="0" y="0"/>
            <a:ext cx="12191695" cy="6858000"/>
          </a:xfrm>
          <a:prstGeom prst="rect">
            <a:avLst/>
          </a:prstGeom>
        </p:spPr>
      </p:pic>
      <p:pic>
        <p:nvPicPr>
          <p:cNvPr id="4" name="anim-g2-814" descr="C:\Users\user\projects\younes-training\turath\.pptx-cache\s110-2.jpg">    </p:cNvPr>
          <p:cNvPicPr>
            <a:picLocks noChangeAspect="1"/>
          </p:cNvPicPr>
          <p:nvPr/>
        </p:nvPicPr>
        <p:blipFill>
          <a:blip r:embed="rId3"/>
          <a:stretch>
            <a:fillRect/>
          </a:stretch>
        </p:blipFill>
        <p:spPr>
          <a:xfrm>
            <a:off x="0" y="0"/>
            <a:ext cx="12191695" cy="6858000"/>
          </a:xfrm>
          <a:prstGeom prst="rect">
            <a:avLst/>
          </a:prstGeom>
        </p:spPr>
      </p:pic>
      <p:pic>
        <p:nvPicPr>
          <p:cNvPr id="5" name="anim-g3-815" descr="C:\Users\user\projects\younes-training\turath\.pptx-cache\s110-3.jpg">    </p:cNvPr>
          <p:cNvPicPr>
            <a:picLocks noChangeAspect="1"/>
          </p:cNvPicPr>
          <p:nvPr/>
        </p:nvPicPr>
        <p:blipFill>
          <a:blip r:embed="rId4"/>
          <a:stretch>
            <a:fillRect/>
          </a:stretch>
        </p:blipFill>
        <p:spPr>
          <a:xfrm>
            <a:off x="0" y="0"/>
            <a:ext cx="12191695" cy="6858000"/>
          </a:xfrm>
          <a:prstGeom prst="rect">
            <a:avLst/>
          </a:prstGeom>
        </p:spPr>
      </p:pic>
      <p:pic>
        <p:nvPicPr>
          <p:cNvPr id="6" name="anim-g4-816" descr="C:\Users\user\projects\younes-training\turath\.pptx-cache\s110-4.jpg">    </p:cNvPr>
          <p:cNvPicPr>
            <a:picLocks noChangeAspect="1"/>
          </p:cNvPicPr>
          <p:nvPr/>
        </p:nvPicPr>
        <p:blipFill>
          <a:blip r:embed="rId5"/>
          <a:stretch>
            <a:fillRect/>
          </a:stretch>
        </p:blipFill>
        <p:spPr>
          <a:xfrm>
            <a:off x="0" y="0"/>
            <a:ext cx="12191695" cy="6858000"/>
          </a:xfrm>
          <a:prstGeom prst="rect">
            <a:avLst/>
          </a:prstGeom>
        </p:spPr>
      </p:pic>
      <p:pic>
        <p:nvPicPr>
          <p:cNvPr id="7" name="anim-g5-817" descr="C:\Users\user\projects\younes-training\turath\.pptx-cache\s110-5.jpg">    </p:cNvPr>
          <p:cNvPicPr>
            <a:picLocks noChangeAspect="1"/>
          </p:cNvPicPr>
          <p:nvPr/>
        </p:nvPicPr>
        <p:blipFill>
          <a:blip r:embed="rId6"/>
          <a:stretch>
            <a:fillRect/>
          </a:stretch>
        </p:blipFill>
        <p:spPr>
          <a:xfrm>
            <a:off x="0" y="0"/>
            <a:ext cx="12191695" cy="6858000"/>
          </a:xfrm>
          <a:prstGeom prst="rect">
            <a:avLst/>
          </a:prstGeom>
        </p:spPr>
      </p:pic>
      <p:pic>
        <p:nvPicPr>
          <p:cNvPr id="8" name="anim-g6-818" descr="C:\Users\user\projects\younes-training\turath\.pptx-cache\s110-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Image 0" descr="C:\Users\user\projects\younes-training\turath\.pptx-cache\s1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Image 0" descr="C:\Users\user\projects\younes-training\turath\.pptx-cache\s112-0.jpg">    </p:cNvPr>
          <p:cNvPicPr>
            <a:picLocks noChangeAspect="1"/>
          </p:cNvPicPr>
          <p:nvPr/>
        </p:nvPicPr>
        <p:blipFill>
          <a:blip r:embed="rId1"/>
          <a:stretch>
            <a:fillRect/>
          </a:stretch>
        </p:blipFill>
        <p:spPr>
          <a:xfrm>
            <a:off x="0" y="0"/>
            <a:ext cx="12191695" cy="6858000"/>
          </a:xfrm>
          <a:prstGeom prst="rect">
            <a:avLst/>
          </a:prstGeom>
        </p:spPr>
      </p:pic>
      <p:pic>
        <p:nvPicPr>
          <p:cNvPr id="3" name="anim-g1-819" descr="C:\Users\user\projects\younes-training\turath\.pptx-cache\s112-1.jpg">    </p:cNvPr>
          <p:cNvPicPr>
            <a:picLocks noChangeAspect="1"/>
          </p:cNvPicPr>
          <p:nvPr/>
        </p:nvPicPr>
        <p:blipFill>
          <a:blip r:embed="rId2"/>
          <a:stretch>
            <a:fillRect/>
          </a:stretch>
        </p:blipFill>
        <p:spPr>
          <a:xfrm>
            <a:off x="0" y="0"/>
            <a:ext cx="12191695" cy="6858000"/>
          </a:xfrm>
          <a:prstGeom prst="rect">
            <a:avLst/>
          </a:prstGeom>
        </p:spPr>
      </p:pic>
      <p:pic>
        <p:nvPicPr>
          <p:cNvPr id="4" name="anim-g2-820" descr="C:\Users\user\projects\younes-training\turath\.pptx-cache\s112-2.jpg">    </p:cNvPr>
          <p:cNvPicPr>
            <a:picLocks noChangeAspect="1"/>
          </p:cNvPicPr>
          <p:nvPr/>
        </p:nvPicPr>
        <p:blipFill>
          <a:blip r:embed="rId3"/>
          <a:stretch>
            <a:fillRect/>
          </a:stretch>
        </p:blipFill>
        <p:spPr>
          <a:xfrm>
            <a:off x="0" y="0"/>
            <a:ext cx="12191695" cy="6858000"/>
          </a:xfrm>
          <a:prstGeom prst="rect">
            <a:avLst/>
          </a:prstGeom>
        </p:spPr>
      </p:pic>
      <p:pic>
        <p:nvPicPr>
          <p:cNvPr id="5" name="anim-g3-821" descr="C:\Users\user\projects\younes-training\turath\.pptx-cache\s112-3.jpg">    </p:cNvPr>
          <p:cNvPicPr>
            <a:picLocks noChangeAspect="1"/>
          </p:cNvPicPr>
          <p:nvPr/>
        </p:nvPicPr>
        <p:blipFill>
          <a:blip r:embed="rId4"/>
          <a:stretch>
            <a:fillRect/>
          </a:stretch>
        </p:blipFill>
        <p:spPr>
          <a:xfrm>
            <a:off x="0" y="0"/>
            <a:ext cx="12191695" cy="6858000"/>
          </a:xfrm>
          <a:prstGeom prst="rect">
            <a:avLst/>
          </a:prstGeom>
        </p:spPr>
      </p:pic>
      <p:pic>
        <p:nvPicPr>
          <p:cNvPr id="6" name="anim-g4-822" descr="C:\Users\user\projects\younes-training\turath\.pptx-cache\s11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pic>
        <p:nvPicPr>
          <p:cNvPr id="2" name="Image 0" descr="C:\Users\user\projects\younes-training\turath\.pptx-cache\s1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pic>
        <p:nvPicPr>
          <p:cNvPr id="2" name="Image 0" descr="C:\Users\user\projects\younes-training\turath\.pptx-cache\s1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محطة واحدة ترى وتشم وتنذر وتكتب: النظام الأول في مشروع لمسات تراث اكتمل</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محطة الأمان  ·  ١١٥</a:t>
            </a:r>
            <a:endParaRPr lang="ar-SA" sz="1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سيارة السلامة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دفع رباعي، ومضخة للحريق، ومروحة للغاز</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سيارة السلامة  ·  ١١٦</a:t>
            </a:r>
            <a:endParaRPr lang="ar-SA" sz="12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823"/>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824"/>
          <p:cNvSpPr/>
          <p:nvPr/>
        </p:nvSpPr>
        <p:spPr>
          <a:xfrm>
            <a:off x="10587838" y="2011680"/>
            <a:ext cx="552298" cy="552298"/>
          </a:xfrm>
          <a:prstGeom prst="ellipse">
            <a:avLst/>
          </a:prstGeom>
          <a:solidFill>
            <a:srgbClr val="D9AE4B"/>
          </a:solidFill>
          <a:ln/>
        </p:spPr>
      </p:sp>
      <p:sp>
        <p:nvSpPr>
          <p:cNvPr id="7" name="anim-g1-825"/>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826"/>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توصل أربعة محركات بدرايفر L298N واحد</a:t>
            </a:r>
            <a:endParaRPr lang="ar-SA" sz="2200" dirty="0"/>
          </a:p>
        </p:txBody>
      </p:sp>
      <p:sp>
        <p:nvSpPr>
          <p:cNvPr id="9" name="anim-g2-827"/>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828"/>
          <p:cNvSpPr/>
          <p:nvPr/>
        </p:nvSpPr>
        <p:spPr>
          <a:xfrm>
            <a:off x="10587838" y="2856586"/>
            <a:ext cx="552298" cy="552298"/>
          </a:xfrm>
          <a:prstGeom prst="ellipse">
            <a:avLst/>
          </a:prstGeom>
          <a:solidFill>
            <a:srgbClr val="D9AE4B"/>
          </a:solidFill>
          <a:ln/>
        </p:spPr>
      </p:sp>
      <p:sp>
        <p:nvSpPr>
          <p:cNvPr id="11" name="anim-g2-829"/>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830"/>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تقود السيارة من ESP32 بأطراف المشروع الحقيقي</a:t>
            </a:r>
            <a:endParaRPr lang="ar-SA" sz="2200" dirty="0"/>
          </a:p>
        </p:txBody>
      </p:sp>
      <p:sp>
        <p:nvSpPr>
          <p:cNvPr id="13" name="anim-g3-831"/>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832"/>
          <p:cNvSpPr/>
          <p:nvPr/>
        </p:nvSpPr>
        <p:spPr>
          <a:xfrm>
            <a:off x="10587838" y="3701491"/>
            <a:ext cx="552298" cy="552298"/>
          </a:xfrm>
          <a:prstGeom prst="ellipse">
            <a:avLst/>
          </a:prstGeom>
          <a:solidFill>
            <a:srgbClr val="D9AE4B"/>
          </a:solidFill>
          <a:ln/>
        </p:spPr>
      </p:sp>
      <p:sp>
        <p:nvSpPr>
          <p:cNvPr id="15" name="anim-g3-833"/>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834"/>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تكتب دالة drive واحدة لكل الحركات</a:t>
            </a:r>
            <a:endParaRPr lang="ar-SA" sz="2200" dirty="0"/>
          </a:p>
        </p:txBody>
      </p:sp>
      <p:sp>
        <p:nvSpPr>
          <p:cNvPr id="17" name="anim-g4-835"/>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836"/>
          <p:cNvSpPr/>
          <p:nvPr/>
        </p:nvSpPr>
        <p:spPr>
          <a:xfrm>
            <a:off x="10587838" y="4546397"/>
            <a:ext cx="552298" cy="552298"/>
          </a:xfrm>
          <a:prstGeom prst="ellipse">
            <a:avLst/>
          </a:prstGeom>
          <a:solidFill>
            <a:srgbClr val="D9AE4B"/>
          </a:solidFill>
          <a:ln/>
        </p:spPr>
      </p:sp>
      <p:sp>
        <p:nvSpPr>
          <p:cNvPr id="19" name="anim-g4-837"/>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38"/>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تصلح جانبًا معكوسًا بالكود بدل إعادة اللحام</a:t>
            </a:r>
            <a:endParaRPr lang="ar-SA" sz="2200" dirty="0"/>
          </a:p>
        </p:txBody>
      </p:sp>
      <p:sp>
        <p:nvSpPr>
          <p:cNvPr id="21" name="anim-g5-839"/>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840"/>
          <p:cNvSpPr/>
          <p:nvPr/>
        </p:nvSpPr>
        <p:spPr>
          <a:xfrm>
            <a:off x="10587838" y="5391302"/>
            <a:ext cx="552298" cy="552298"/>
          </a:xfrm>
          <a:prstGeom prst="ellipse">
            <a:avLst/>
          </a:prstGeom>
          <a:solidFill>
            <a:srgbClr val="D9AE4B"/>
          </a:solidFill>
          <a:ln/>
        </p:spPr>
      </p:sp>
      <p:sp>
        <p:nvSpPr>
          <p:cNvPr id="23" name="anim-g5-841"/>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842"/>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تشغّل المضخة والمروحة بريليه مزدوج يعمل على LOW</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سيارة السلامة  ·  ١١٧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name="Slide 1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رباعي؟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سيارة تحمل الماء… تحتاج قوة</a:t>
            </a:r>
            <a:endParaRPr lang="ar-SA" sz="3800" dirty="0"/>
          </a:p>
        </p:txBody>
      </p:sp>
      <p:sp>
        <p:nvSpPr>
          <p:cNvPr id="5" name="anim-g1-843"/>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44"/>
          <p:cNvSpPr/>
          <p:nvPr/>
        </p:nvSpPr>
        <p:spPr>
          <a:xfrm>
            <a:off x="10527487" y="2267712"/>
            <a:ext cx="566928" cy="566928"/>
          </a:xfrm>
          <a:prstGeom prst="roundRect">
            <a:avLst>
              <a:gd name="adj" fmla="val 32258"/>
            </a:avLst>
          </a:prstGeom>
          <a:solidFill>
            <a:srgbClr val="F7E6BC"/>
          </a:solidFill>
          <a:ln/>
        </p:spPr>
      </p:sp>
      <p:sp>
        <p:nvSpPr>
          <p:cNvPr id="7" name="anim-g1-84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4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الوزن</a:t>
            </a:r>
            <a:endParaRPr lang="ar-SA" sz="2200" dirty="0"/>
          </a:p>
        </p:txBody>
      </p:sp>
      <p:sp>
        <p:nvSpPr>
          <p:cNvPr id="9" name="anim-g1-847"/>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خزان ماء ومضخة وريليه وبطاريات: الثقل يحتاج أربعة محركات</a:t>
            </a:r>
            <a:endParaRPr lang="ar-SA" sz="1900" dirty="0"/>
          </a:p>
        </p:txBody>
      </p:sp>
      <p:sp>
        <p:nvSpPr>
          <p:cNvPr id="10" name="anim-g2-848"/>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49"/>
          <p:cNvSpPr/>
          <p:nvPr/>
        </p:nvSpPr>
        <p:spPr>
          <a:xfrm>
            <a:off x="6920789" y="2267712"/>
            <a:ext cx="566928" cy="566928"/>
          </a:xfrm>
          <a:prstGeom prst="roundRect">
            <a:avLst>
              <a:gd name="adj" fmla="val 32258"/>
            </a:avLst>
          </a:prstGeom>
          <a:solidFill>
            <a:srgbClr val="F7E6BC"/>
          </a:solidFill>
          <a:ln/>
        </p:spPr>
      </p:sp>
      <p:sp>
        <p:nvSpPr>
          <p:cNvPr id="12" name="anim-g2-85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5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التماسك</a:t>
            </a:r>
            <a:endParaRPr lang="ar-SA" sz="2200" dirty="0"/>
          </a:p>
        </p:txBody>
      </p:sp>
      <p:sp>
        <p:nvSpPr>
          <p:cNvPr id="14" name="anim-g2-852"/>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أربع عجلات تمسك الأرض فلا تنزلق عند الدوران</a:t>
            </a:r>
            <a:endParaRPr lang="ar-SA" sz="1900" dirty="0"/>
          </a:p>
        </p:txBody>
      </p:sp>
      <p:sp>
        <p:nvSpPr>
          <p:cNvPr id="15" name="anim-g3-853"/>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54"/>
          <p:cNvSpPr/>
          <p:nvPr/>
        </p:nvSpPr>
        <p:spPr>
          <a:xfrm>
            <a:off x="3314090" y="2267712"/>
            <a:ext cx="566928" cy="566928"/>
          </a:xfrm>
          <a:prstGeom prst="roundRect">
            <a:avLst>
              <a:gd name="adj" fmla="val 32258"/>
            </a:avLst>
          </a:prstGeom>
          <a:solidFill>
            <a:srgbClr val="F7E6BC"/>
          </a:solidFill>
          <a:ln/>
        </p:spPr>
      </p:sp>
      <p:sp>
        <p:nvSpPr>
          <p:cNvPr id="17" name="anim-g3-85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5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البساطة</a:t>
            </a:r>
            <a:endParaRPr lang="ar-SA" sz="2200" dirty="0"/>
          </a:p>
        </p:txBody>
      </p:sp>
      <p:sp>
        <p:nvSpPr>
          <p:cNvPr id="19" name="anim-g3-857"/>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جانبين على مخرج واحد: نتحكم بجانبين لا بأربعة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سيارة السلامة  ·  ١١٨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pic>
        <p:nvPicPr>
          <p:cNvPr id="2" name="Image 0" descr="C:\Users\user\projects\younes-training\turath\.pptx-cache\s119-0.jpg">    </p:cNvPr>
          <p:cNvPicPr>
            <a:picLocks noChangeAspect="1"/>
          </p:cNvPicPr>
          <p:nvPr/>
        </p:nvPicPr>
        <p:blipFill>
          <a:blip r:embed="rId1"/>
          <a:stretch>
            <a:fillRect/>
          </a:stretch>
        </p:blipFill>
        <p:spPr>
          <a:xfrm>
            <a:off x="0" y="0"/>
            <a:ext cx="12191695" cy="6858000"/>
          </a:xfrm>
          <a:prstGeom prst="rect">
            <a:avLst/>
          </a:prstGeom>
        </p:spPr>
      </p:pic>
      <p:pic>
        <p:nvPicPr>
          <p:cNvPr id="3" name="anim-g1-858" descr="C:\Users\user\projects\younes-training\turath\.pptx-cache\s119-1.jpg">    </p:cNvPr>
          <p:cNvPicPr>
            <a:picLocks noChangeAspect="1"/>
          </p:cNvPicPr>
          <p:nvPr/>
        </p:nvPicPr>
        <p:blipFill>
          <a:blip r:embed="rId2"/>
          <a:stretch>
            <a:fillRect/>
          </a:stretch>
        </p:blipFill>
        <p:spPr>
          <a:xfrm>
            <a:off x="0" y="0"/>
            <a:ext cx="12191695" cy="6858000"/>
          </a:xfrm>
          <a:prstGeom prst="rect">
            <a:avLst/>
          </a:prstGeom>
        </p:spPr>
      </p:pic>
      <p:pic>
        <p:nvPicPr>
          <p:cNvPr id="4" name="anim-g2-859" descr="C:\Users\user\projects\younes-training\turath\.pptx-cache\s119-2.jpg">    </p:cNvPr>
          <p:cNvPicPr>
            <a:picLocks noChangeAspect="1"/>
          </p:cNvPicPr>
          <p:nvPr/>
        </p:nvPicPr>
        <p:blipFill>
          <a:blip r:embed="rId3"/>
          <a:stretch>
            <a:fillRect/>
          </a:stretch>
        </p:blipFill>
        <p:spPr>
          <a:xfrm>
            <a:off x="0" y="0"/>
            <a:ext cx="12191695" cy="6858000"/>
          </a:xfrm>
          <a:prstGeom prst="rect">
            <a:avLst/>
          </a:prstGeom>
        </p:spPr>
      </p:pic>
      <p:pic>
        <p:nvPicPr>
          <p:cNvPr id="5" name="anim-g3-860" descr="C:\Users\user\projects\younes-training\turath\.pptx-cache\s119-3.jpg">    </p:cNvPr>
          <p:cNvPicPr>
            <a:picLocks noChangeAspect="1"/>
          </p:cNvPicPr>
          <p:nvPr/>
        </p:nvPicPr>
        <p:blipFill>
          <a:blip r:embed="rId4"/>
          <a:stretch>
            <a:fillRect/>
          </a:stretch>
        </p:blipFill>
        <p:spPr>
          <a:xfrm>
            <a:off x="0" y="0"/>
            <a:ext cx="12191695" cy="6858000"/>
          </a:xfrm>
          <a:prstGeom prst="rect">
            <a:avLst/>
          </a:prstGeom>
        </p:spPr>
      </p:pic>
      <p:pic>
        <p:nvPicPr>
          <p:cNvPr id="6" name="anim-g4-861" descr="C:\Users\user\projects\younes-training\turath\.pptx-cache\s119-4.jpg">    </p:cNvPr>
          <p:cNvPicPr>
            <a:picLocks noChangeAspect="1"/>
          </p:cNvPicPr>
          <p:nvPr/>
        </p:nvPicPr>
        <p:blipFill>
          <a:blip r:embed="rId5"/>
          <a:stretch>
            <a:fillRect/>
          </a:stretch>
        </p:blipFill>
        <p:spPr>
          <a:xfrm>
            <a:off x="0" y="0"/>
            <a:ext cx="12191695" cy="6858000"/>
          </a:xfrm>
          <a:prstGeom prst="rect">
            <a:avLst/>
          </a:prstGeom>
        </p:spPr>
      </p:pic>
      <p:pic>
        <p:nvPicPr>
          <p:cNvPr id="7" name="anim-g5-862" descr="C:\Users\user\projects\younes-training\turath\.pptx-cache\s119-5.jpg">    </p:cNvPr>
          <p:cNvPicPr>
            <a:picLocks noChangeAspect="1"/>
          </p:cNvPicPr>
          <p:nvPr/>
        </p:nvPicPr>
        <p:blipFill>
          <a:blip r:embed="rId6"/>
          <a:stretch>
            <a:fillRect/>
          </a:stretch>
        </p:blipFill>
        <p:spPr>
          <a:xfrm>
            <a:off x="0" y="0"/>
            <a:ext cx="12191695" cy="6858000"/>
          </a:xfrm>
          <a:prstGeom prst="rect">
            <a:avLst/>
          </a:prstGeom>
        </p:spPr>
      </p:pic>
      <p:pic>
        <p:nvPicPr>
          <p:cNvPr id="8" name="anim-g6-863" descr="C:\Users\user\projects\younes-training\turath\.pptx-cache\s119-6.jpg">    </p:cNvPr>
          <p:cNvPicPr>
            <a:picLocks noChangeAspect="1"/>
          </p:cNvPicPr>
          <p:nvPr/>
        </p:nvPicPr>
        <p:blipFill>
          <a:blip r:embed="rId7"/>
          <a:stretch>
            <a:fillRect/>
          </a:stretch>
        </p:blipFill>
        <p:spPr>
          <a:xfrm>
            <a:off x="0" y="0"/>
            <a:ext cx="12191695" cy="6858000"/>
          </a:xfrm>
          <a:prstGeom prst="rect">
            <a:avLst/>
          </a:prstGeom>
        </p:spPr>
      </p:pic>
      <p:pic>
        <p:nvPicPr>
          <p:cNvPr id="9" name="anim-g7-864" descr="C:\Users\user\projects\younes-training\turath\.pptx-cache\s119-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pic>
        <p:nvPicPr>
          <p:cNvPr id="2" name="Image 0" descr="C:\Users\user\projects\younes-training\turath\.pptx-cache\s1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Image 0" descr="C:\Users\user\projects\younes-training\turath\.pptx-cache\s121-0.jpg">    </p:cNvPr>
          <p:cNvPicPr>
            <a:picLocks noChangeAspect="1"/>
          </p:cNvPicPr>
          <p:nvPr/>
        </p:nvPicPr>
        <p:blipFill>
          <a:blip r:embed="rId1"/>
          <a:stretch>
            <a:fillRect/>
          </a:stretch>
        </p:blipFill>
        <p:spPr>
          <a:xfrm>
            <a:off x="0" y="0"/>
            <a:ext cx="12191695" cy="6858000"/>
          </a:xfrm>
          <a:prstGeom prst="rect">
            <a:avLst/>
          </a:prstGeom>
        </p:spPr>
      </p:pic>
      <p:pic>
        <p:nvPicPr>
          <p:cNvPr id="3" name="anim-g1-865" descr="C:\Users\user\projects\younes-training\turath\.pptx-cache\s121-1.jpg">    </p:cNvPr>
          <p:cNvPicPr>
            <a:picLocks noChangeAspect="1"/>
          </p:cNvPicPr>
          <p:nvPr/>
        </p:nvPicPr>
        <p:blipFill>
          <a:blip r:embed="rId2"/>
          <a:stretch>
            <a:fillRect/>
          </a:stretch>
        </p:blipFill>
        <p:spPr>
          <a:xfrm>
            <a:off x="0" y="0"/>
            <a:ext cx="12191695" cy="6858000"/>
          </a:xfrm>
          <a:prstGeom prst="rect">
            <a:avLst/>
          </a:prstGeom>
        </p:spPr>
      </p:pic>
      <p:pic>
        <p:nvPicPr>
          <p:cNvPr id="4" name="anim-g2-866" descr="C:\Users\user\projects\younes-training\turath\.pptx-cache\s121-2.jpg">    </p:cNvPr>
          <p:cNvPicPr>
            <a:picLocks noChangeAspect="1"/>
          </p:cNvPicPr>
          <p:nvPr/>
        </p:nvPicPr>
        <p:blipFill>
          <a:blip r:embed="rId3"/>
          <a:stretch>
            <a:fillRect/>
          </a:stretch>
        </p:blipFill>
        <p:spPr>
          <a:xfrm>
            <a:off x="0" y="0"/>
            <a:ext cx="12191695" cy="6858000"/>
          </a:xfrm>
          <a:prstGeom prst="rect">
            <a:avLst/>
          </a:prstGeom>
        </p:spPr>
      </p:pic>
      <p:pic>
        <p:nvPicPr>
          <p:cNvPr id="5" name="anim-g3-867" descr="C:\Users\user\projects\younes-training\turath\.pptx-cache\s121-3.jpg">    </p:cNvPr>
          <p:cNvPicPr>
            <a:picLocks noChangeAspect="1"/>
          </p:cNvPicPr>
          <p:nvPr/>
        </p:nvPicPr>
        <p:blipFill>
          <a:blip r:embed="rId4"/>
          <a:stretch>
            <a:fillRect/>
          </a:stretch>
        </p:blipFill>
        <p:spPr>
          <a:xfrm>
            <a:off x="0" y="0"/>
            <a:ext cx="12191695" cy="6858000"/>
          </a:xfrm>
          <a:prstGeom prst="rect">
            <a:avLst/>
          </a:prstGeom>
        </p:spPr>
      </p:pic>
      <p:pic>
        <p:nvPicPr>
          <p:cNvPr id="6" name="anim-g4-868" descr="C:\Users\user\projects\younes-training\turath\.pptx-cache\s121-4.jpg">    </p:cNvPr>
          <p:cNvPicPr>
            <a:picLocks noChangeAspect="1"/>
          </p:cNvPicPr>
          <p:nvPr/>
        </p:nvPicPr>
        <p:blipFill>
          <a:blip r:embed="rId5"/>
          <a:stretch>
            <a:fillRect/>
          </a:stretch>
        </p:blipFill>
        <p:spPr>
          <a:xfrm>
            <a:off x="0" y="0"/>
            <a:ext cx="12191695" cy="6858000"/>
          </a:xfrm>
          <a:prstGeom prst="rect">
            <a:avLst/>
          </a:prstGeom>
        </p:spPr>
      </p:pic>
      <p:pic>
        <p:nvPicPr>
          <p:cNvPr id="7" name="anim-g5-869" descr="C:\Users\user\projects\younes-training\turath\.pptx-cache\s121-5.jpg">    </p:cNvPr>
          <p:cNvPicPr>
            <a:picLocks noChangeAspect="1"/>
          </p:cNvPicPr>
          <p:nvPr/>
        </p:nvPicPr>
        <p:blipFill>
          <a:blip r:embed="rId6"/>
          <a:stretch>
            <a:fillRect/>
          </a:stretch>
        </p:blipFill>
        <p:spPr>
          <a:xfrm>
            <a:off x="0" y="0"/>
            <a:ext cx="12191695" cy="6858000"/>
          </a:xfrm>
          <a:prstGeom prst="rect">
            <a:avLst/>
          </a:prstGeom>
        </p:spPr>
      </p:pic>
      <p:pic>
        <p:nvPicPr>
          <p:cNvPr id="8" name="anim-g6-870" descr="C:\Users\user\projects\younes-training\turath\.pptx-cache\s121-6.jpg">    </p:cNvPr>
          <p:cNvPicPr>
            <a:picLocks noChangeAspect="1"/>
          </p:cNvPicPr>
          <p:nvPr/>
        </p:nvPicPr>
        <p:blipFill>
          <a:blip r:embed="rId7"/>
          <a:stretch>
            <a:fillRect/>
          </a:stretch>
        </p:blipFill>
        <p:spPr>
          <a:xfrm>
            <a:off x="0" y="0"/>
            <a:ext cx="12191695" cy="6858000"/>
          </a:xfrm>
          <a:prstGeom prst="rect">
            <a:avLst/>
          </a:prstGeom>
        </p:spPr>
      </p:pic>
      <p:pic>
        <p:nvPicPr>
          <p:cNvPr id="9" name="anim-g7-871" descr="C:\Users\user\projects\younes-training\turath\.pptx-cache\s121-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pic>
        <p:nvPicPr>
          <p:cNvPr id="2" name="Image 0" descr="C:\Users\user\projects\younes-training\turath\.pptx-cache\s122-0.jpg">    </p:cNvPr>
          <p:cNvPicPr>
            <a:picLocks noChangeAspect="1"/>
          </p:cNvPicPr>
          <p:nvPr/>
        </p:nvPicPr>
        <p:blipFill>
          <a:blip r:embed="rId1"/>
          <a:stretch>
            <a:fillRect/>
          </a:stretch>
        </p:blipFill>
        <p:spPr>
          <a:xfrm>
            <a:off x="0" y="0"/>
            <a:ext cx="12191695" cy="6858000"/>
          </a:xfrm>
          <a:prstGeom prst="rect">
            <a:avLst/>
          </a:prstGeom>
        </p:spPr>
      </p:pic>
      <p:pic>
        <p:nvPicPr>
          <p:cNvPr id="3" name="anim-g1-872" descr="C:\Users\user\projects\younes-training\turath\.pptx-cache\s122-1.jpg">    </p:cNvPr>
          <p:cNvPicPr>
            <a:picLocks noChangeAspect="1"/>
          </p:cNvPicPr>
          <p:nvPr/>
        </p:nvPicPr>
        <p:blipFill>
          <a:blip r:embed="rId2"/>
          <a:stretch>
            <a:fillRect/>
          </a:stretch>
        </p:blipFill>
        <p:spPr>
          <a:xfrm>
            <a:off x="0" y="0"/>
            <a:ext cx="12191695" cy="6858000"/>
          </a:xfrm>
          <a:prstGeom prst="rect">
            <a:avLst/>
          </a:prstGeom>
        </p:spPr>
      </p:pic>
      <p:pic>
        <p:nvPicPr>
          <p:cNvPr id="4" name="anim-g2-873" descr="C:\Users\user\projects\younes-training\turath\.pptx-cache\s122-2.jpg">    </p:cNvPr>
          <p:cNvPicPr>
            <a:picLocks noChangeAspect="1"/>
          </p:cNvPicPr>
          <p:nvPr/>
        </p:nvPicPr>
        <p:blipFill>
          <a:blip r:embed="rId3"/>
          <a:stretch>
            <a:fillRect/>
          </a:stretch>
        </p:blipFill>
        <p:spPr>
          <a:xfrm>
            <a:off x="0" y="0"/>
            <a:ext cx="12191695" cy="6858000"/>
          </a:xfrm>
          <a:prstGeom prst="rect">
            <a:avLst/>
          </a:prstGeom>
        </p:spPr>
      </p:pic>
      <p:pic>
        <p:nvPicPr>
          <p:cNvPr id="5" name="anim-g3-874" descr="C:\Users\user\projects\younes-training\turath\.pptx-cache\s122-3.jpg">    </p:cNvPr>
          <p:cNvPicPr>
            <a:picLocks noChangeAspect="1"/>
          </p:cNvPicPr>
          <p:nvPr/>
        </p:nvPicPr>
        <p:blipFill>
          <a:blip r:embed="rId4"/>
          <a:stretch>
            <a:fillRect/>
          </a:stretch>
        </p:blipFill>
        <p:spPr>
          <a:xfrm>
            <a:off x="0" y="0"/>
            <a:ext cx="12191695" cy="6858000"/>
          </a:xfrm>
          <a:prstGeom prst="rect">
            <a:avLst/>
          </a:prstGeom>
        </p:spPr>
      </p:pic>
      <p:pic>
        <p:nvPicPr>
          <p:cNvPr id="6" name="anim-g4-875" descr="C:\Users\user\projects\younes-training\turath\.pptx-cache\s12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ضغطنا «أمام» فدارت السيارة حول نفسها. أين المشكلة غالبًا؟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جانب واحد موصول بالعكس</a:t>
            </a:r>
            <a:endParaRPr lang="ar-SA" sz="2500" dirty="0"/>
          </a:p>
        </p:txBody>
      </p:sp>
      <p:sp>
        <p:nvSpPr>
          <p:cNvPr id="9" name="anim-g1-876"/>
          <p:cNvSpPr/>
          <p:nvPr/>
        </p:nvSpPr>
        <p:spPr>
          <a:xfrm>
            <a:off x="822960" y="2057400"/>
            <a:ext cx="10545775" cy="1228344"/>
          </a:xfrm>
          <a:prstGeom prst="roundRect">
            <a:avLst>
              <a:gd name="adj" fmla="val 11911"/>
            </a:avLst>
          </a:prstGeom>
          <a:solidFill>
            <a:srgbClr val="E6F4EC"/>
          </a:solidFill>
          <a:ln w="31750">
            <a:solidFill>
              <a:srgbClr val="2E9E6B"/>
            </a:solidFill>
            <a:prstDash val="solid"/>
          </a:ln>
        </p:spPr>
      </p:sp>
      <p:sp>
        <p:nvSpPr>
          <p:cNvPr id="10" name="anim-g1-877"/>
          <p:cNvSpPr/>
          <p:nvPr/>
        </p:nvSpPr>
        <p:spPr>
          <a:xfrm>
            <a:off x="10231831" y="2194560"/>
            <a:ext cx="954024" cy="954024"/>
          </a:xfrm>
          <a:prstGeom prst="roundRect">
            <a:avLst>
              <a:gd name="adj" fmla="val 11502"/>
            </a:avLst>
          </a:prstGeom>
          <a:solidFill>
            <a:srgbClr val="2E9E6B"/>
          </a:solidFill>
          <a:ln/>
        </p:spPr>
      </p:sp>
      <p:sp>
        <p:nvSpPr>
          <p:cNvPr id="11" name="anim-g1-878"/>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12" name="anim-g1-879"/>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جانب واحد موصول بالعكس</a:t>
            </a:r>
            <a:endParaRPr lang="ar-SA" sz="2400" dirty="0"/>
          </a:p>
        </p:txBody>
      </p:sp>
      <p:sp>
        <p:nvSpPr>
          <p:cNvPr id="13" name="anim-g1-880"/>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جانب للأمام وجانب للخلف = دوران. الحل INVERT_RIGHT</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البطارية ضعيفة</a:t>
            </a:r>
            <a:endParaRPr lang="ar-SA" sz="2500" dirty="0"/>
          </a:p>
        </p:txBody>
      </p:sp>
      <p:sp>
        <p:nvSpPr>
          <p:cNvPr id="18" name="anim-g1-881"/>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882"/>
          <p:cNvSpPr/>
          <p:nvPr/>
        </p:nvSpPr>
        <p:spPr>
          <a:xfrm>
            <a:off x="10231831" y="3569208"/>
            <a:ext cx="954024" cy="954024"/>
          </a:xfrm>
          <a:prstGeom prst="roundRect">
            <a:avLst>
              <a:gd name="adj" fmla="val 11502"/>
            </a:avLst>
          </a:prstGeom>
          <a:solidFill>
            <a:srgbClr val="A3A9BA"/>
          </a:solidFill>
          <a:ln/>
        </p:spPr>
      </p:sp>
      <p:sp>
        <p:nvSpPr>
          <p:cNvPr id="20" name="anim-g1-883"/>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884"/>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البطارية ضعيفة</a:t>
            </a:r>
            <a:endParaRPr lang="ar-SA" sz="2400" dirty="0"/>
          </a:p>
        </p:txBody>
      </p:sp>
      <p:sp>
        <p:nvSpPr>
          <p:cNvPr id="22" name="anim-g1-885"/>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البطارية الضعيفة تبطئ الحركة ولا تعكسها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ESP32 تالف</a:t>
            </a:r>
            <a:endParaRPr lang="ar-SA" sz="2500" dirty="0"/>
          </a:p>
        </p:txBody>
      </p:sp>
      <p:sp>
        <p:nvSpPr>
          <p:cNvPr id="27" name="anim-g1-886"/>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887"/>
          <p:cNvSpPr/>
          <p:nvPr/>
        </p:nvSpPr>
        <p:spPr>
          <a:xfrm>
            <a:off x="10231831" y="4943856"/>
            <a:ext cx="954024" cy="954024"/>
          </a:xfrm>
          <a:prstGeom prst="roundRect">
            <a:avLst>
              <a:gd name="adj" fmla="val 11502"/>
            </a:avLst>
          </a:prstGeom>
          <a:solidFill>
            <a:srgbClr val="A3A9BA"/>
          </a:solidFill>
          <a:ln/>
        </p:spPr>
      </p:sp>
      <p:sp>
        <p:nvSpPr>
          <p:cNvPr id="29" name="anim-g1-888"/>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889"/>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ESP32 تالف</a:t>
            </a:r>
            <a:endParaRPr lang="ar-SA" sz="2400" dirty="0"/>
          </a:p>
        </p:txBody>
      </p:sp>
      <p:sp>
        <p:nvSpPr>
          <p:cNvPr id="31" name="anim-g1-890"/>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اللوحة تعمل، فهي تحرّك الجانبين</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سيارة السلامة  ·  ١٢٣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pic>
        <p:nvPicPr>
          <p:cNvPr id="2" name="Image 0" descr="C:\Users\user\projects\younes-training\turath\.pptx-cache\s1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أربع عجلات، ودالة واحدة، وسطر ذكي: المهندس الماهر يصلح بالكود ما لا يستحق فك السيارة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سيارة السلامة  ·  ١٢٥</a:t>
            </a:r>
            <a:endParaRPr lang="ar-SA" sz="12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ريليه؟</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ESP32 يهمس… والمضخة تحتاج صوتًا عاليًا</a:t>
            </a:r>
            <a:endParaRPr lang="ar-SA" sz="3200" dirty="0"/>
          </a:p>
        </p:txBody>
      </p:sp>
      <p:sp>
        <p:nvSpPr>
          <p:cNvPr id="5" name="anim-g1-89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92"/>
          <p:cNvSpPr/>
          <p:nvPr/>
        </p:nvSpPr>
        <p:spPr>
          <a:xfrm>
            <a:off x="10527487" y="2267712"/>
            <a:ext cx="566928" cy="566928"/>
          </a:xfrm>
          <a:prstGeom prst="roundRect">
            <a:avLst>
              <a:gd name="adj" fmla="val 32258"/>
            </a:avLst>
          </a:prstGeom>
          <a:solidFill>
            <a:srgbClr val="F7E6BC"/>
          </a:solidFill>
          <a:ln/>
        </p:spPr>
      </p:sp>
      <p:sp>
        <p:nvSpPr>
          <p:cNvPr id="7" name="anim-g1-89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9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طرف ESP32</a:t>
            </a:r>
            <a:endParaRPr lang="ar-SA" sz="2200" dirty="0"/>
          </a:p>
        </p:txBody>
      </p:sp>
      <p:sp>
        <p:nvSpPr>
          <p:cNvPr id="9" name="anim-g1-89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٣٫٣ فولت وتيار قليل جدًا: لا يكفي لمضخة</a:t>
            </a:r>
            <a:endParaRPr lang="ar-SA" sz="1900" dirty="0"/>
          </a:p>
        </p:txBody>
      </p:sp>
      <p:sp>
        <p:nvSpPr>
          <p:cNvPr id="10" name="anim-g2-89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97"/>
          <p:cNvSpPr/>
          <p:nvPr/>
        </p:nvSpPr>
        <p:spPr>
          <a:xfrm>
            <a:off x="6920789" y="2267712"/>
            <a:ext cx="566928" cy="566928"/>
          </a:xfrm>
          <a:prstGeom prst="roundRect">
            <a:avLst>
              <a:gd name="adj" fmla="val 32258"/>
            </a:avLst>
          </a:prstGeom>
          <a:solidFill>
            <a:srgbClr val="F7E6BC"/>
          </a:solidFill>
          <a:ln/>
        </p:spPr>
      </p:sp>
      <p:sp>
        <p:nvSpPr>
          <p:cNvPr id="12" name="anim-g2-89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9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الريليه</a:t>
            </a:r>
            <a:endParaRPr lang="ar-SA" sz="2200" dirty="0"/>
          </a:p>
        </p:txBody>
      </p:sp>
      <p:sp>
        <p:nvSpPr>
          <p:cNvPr id="14" name="anim-g2-90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مفتاح يغلقه ESP32 بإشارة صغيرة، فيمر تيار البطارية</a:t>
            </a:r>
            <a:endParaRPr lang="ar-SA" sz="1900" dirty="0"/>
          </a:p>
        </p:txBody>
      </p:sp>
      <p:sp>
        <p:nvSpPr>
          <p:cNvPr id="15" name="anim-g3-90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02"/>
          <p:cNvSpPr/>
          <p:nvPr/>
        </p:nvSpPr>
        <p:spPr>
          <a:xfrm>
            <a:off x="3314090" y="2267712"/>
            <a:ext cx="566928" cy="566928"/>
          </a:xfrm>
          <a:prstGeom prst="roundRect">
            <a:avLst>
              <a:gd name="adj" fmla="val 32258"/>
            </a:avLst>
          </a:prstGeom>
          <a:solidFill>
            <a:srgbClr val="F7E6BC"/>
          </a:solidFill>
          <a:ln/>
        </p:spPr>
      </p:sp>
      <p:sp>
        <p:nvSpPr>
          <p:cNvPr id="17" name="anim-g3-90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0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قناتان</a:t>
            </a:r>
            <a:endParaRPr lang="ar-SA" sz="2200" dirty="0"/>
          </a:p>
        </p:txBody>
      </p:sp>
      <p:sp>
        <p:nvSpPr>
          <p:cNvPr id="19" name="anim-g3-90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المضخة على الأولى (16) والمروحة على الثانية (17)</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سيارة السلامة  ·  ١٢٦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pic>
        <p:nvPicPr>
          <p:cNvPr id="2" name="Image 0" descr="C:\Users\user\projects\younes-training\turath\.pptx-cache\s1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أطراف الريليه</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COM وNO وNC: أين أضع المضخة؟</a:t>
            </a:r>
            <a:endParaRPr lang="ar-SA" sz="3800" dirty="0"/>
          </a:p>
        </p:txBody>
      </p:sp>
      <p:sp>
        <p:nvSpPr>
          <p:cNvPr id="5" name="anim-g1-90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07"/>
          <p:cNvSpPr/>
          <p:nvPr/>
        </p:nvSpPr>
        <p:spPr>
          <a:xfrm>
            <a:off x="10527487" y="2267712"/>
            <a:ext cx="566928" cy="566928"/>
          </a:xfrm>
          <a:prstGeom prst="roundRect">
            <a:avLst>
              <a:gd name="adj" fmla="val 32258"/>
            </a:avLst>
          </a:prstGeom>
          <a:solidFill>
            <a:srgbClr val="F7E6BC"/>
          </a:solidFill>
          <a:ln/>
        </p:spPr>
      </p:sp>
      <p:sp>
        <p:nvSpPr>
          <p:cNvPr id="7" name="anim-g1-90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0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COM</a:t>
            </a:r>
            <a:endParaRPr lang="ar-SA" sz="2200" dirty="0"/>
          </a:p>
        </p:txBody>
      </p:sp>
      <p:sp>
        <p:nvSpPr>
          <p:cNvPr id="9" name="anim-g1-91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المشترك: موجب البطارية يدخل هنا</a:t>
            </a:r>
            <a:endParaRPr lang="ar-SA" sz="1900" dirty="0"/>
          </a:p>
        </p:txBody>
      </p:sp>
      <p:sp>
        <p:nvSpPr>
          <p:cNvPr id="10" name="anim-g2-91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12"/>
          <p:cNvSpPr/>
          <p:nvPr/>
        </p:nvSpPr>
        <p:spPr>
          <a:xfrm>
            <a:off x="6920789" y="2267712"/>
            <a:ext cx="566928" cy="566928"/>
          </a:xfrm>
          <a:prstGeom prst="roundRect">
            <a:avLst>
              <a:gd name="adj" fmla="val 32258"/>
            </a:avLst>
          </a:prstGeom>
          <a:solidFill>
            <a:srgbClr val="F7E6BC"/>
          </a:solidFill>
          <a:ln/>
        </p:spPr>
      </p:sp>
      <p:sp>
        <p:nvSpPr>
          <p:cNvPr id="12" name="anim-g2-91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1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NO</a:t>
            </a:r>
            <a:endParaRPr lang="ar-SA" sz="2200" dirty="0"/>
          </a:p>
        </p:txBody>
      </p:sp>
      <p:sp>
        <p:nvSpPr>
          <p:cNvPr id="14" name="anim-g2-91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مفتوح عادةً: يتصل بـ COM فقط حين يعمل الريليه. هنا المضخة</a:t>
            </a:r>
            <a:endParaRPr lang="ar-SA" sz="1900" dirty="0"/>
          </a:p>
        </p:txBody>
      </p:sp>
      <p:sp>
        <p:nvSpPr>
          <p:cNvPr id="15" name="anim-g3-91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17"/>
          <p:cNvSpPr/>
          <p:nvPr/>
        </p:nvSpPr>
        <p:spPr>
          <a:xfrm>
            <a:off x="3314090" y="2267712"/>
            <a:ext cx="566928" cy="566928"/>
          </a:xfrm>
          <a:prstGeom prst="roundRect">
            <a:avLst>
              <a:gd name="adj" fmla="val 32258"/>
            </a:avLst>
          </a:prstGeom>
          <a:solidFill>
            <a:srgbClr val="F7E6BC"/>
          </a:solidFill>
          <a:ln/>
        </p:spPr>
      </p:sp>
      <p:sp>
        <p:nvSpPr>
          <p:cNvPr id="17" name="anim-g3-91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1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NC</a:t>
            </a:r>
            <a:endParaRPr lang="ar-SA" sz="2200" dirty="0"/>
          </a:p>
        </p:txBody>
      </p:sp>
      <p:sp>
        <p:nvSpPr>
          <p:cNvPr id="19" name="anim-g3-92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مغلق عادةً: متصل دائمًا إلا حين يعمل الريليه. لا نستخدمه هنا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سيارة السلامة  ·  ١٢٨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pic>
        <p:nvPicPr>
          <p:cNvPr id="2" name="Image 0" descr="C:\Users\user\projects\younes-training\turath\.pptx-cache\s129-0.jpg">    </p:cNvPr>
          <p:cNvPicPr>
            <a:picLocks noChangeAspect="1"/>
          </p:cNvPicPr>
          <p:nvPr/>
        </p:nvPicPr>
        <p:blipFill>
          <a:blip r:embed="rId1"/>
          <a:stretch>
            <a:fillRect/>
          </a:stretch>
        </p:blipFill>
        <p:spPr>
          <a:xfrm>
            <a:off x="0" y="0"/>
            <a:ext cx="12191695" cy="6858000"/>
          </a:xfrm>
          <a:prstGeom prst="rect">
            <a:avLst/>
          </a:prstGeom>
        </p:spPr>
      </p:pic>
      <p:pic>
        <p:nvPicPr>
          <p:cNvPr id="3" name="anim-g1-921" descr="C:\Users\user\projects\younes-training\turath\.pptx-cache\s129-1.jpg">    </p:cNvPr>
          <p:cNvPicPr>
            <a:picLocks noChangeAspect="1"/>
          </p:cNvPicPr>
          <p:nvPr/>
        </p:nvPicPr>
        <p:blipFill>
          <a:blip r:embed="rId2"/>
          <a:stretch>
            <a:fillRect/>
          </a:stretch>
        </p:blipFill>
        <p:spPr>
          <a:xfrm>
            <a:off x="0" y="0"/>
            <a:ext cx="12191695" cy="6858000"/>
          </a:xfrm>
          <a:prstGeom prst="rect">
            <a:avLst/>
          </a:prstGeom>
        </p:spPr>
      </p:pic>
      <p:pic>
        <p:nvPicPr>
          <p:cNvPr id="4" name="anim-g2-922" descr="C:\Users\user\projects\younes-training\turath\.pptx-cache\s129-2.jpg">    </p:cNvPr>
          <p:cNvPicPr>
            <a:picLocks noChangeAspect="1"/>
          </p:cNvPicPr>
          <p:nvPr/>
        </p:nvPicPr>
        <p:blipFill>
          <a:blip r:embed="rId3"/>
          <a:stretch>
            <a:fillRect/>
          </a:stretch>
        </p:blipFill>
        <p:spPr>
          <a:xfrm>
            <a:off x="0" y="0"/>
            <a:ext cx="12191695" cy="6858000"/>
          </a:xfrm>
          <a:prstGeom prst="rect">
            <a:avLst/>
          </a:prstGeom>
        </p:spPr>
      </p:pic>
      <p:pic>
        <p:nvPicPr>
          <p:cNvPr id="5" name="anim-g3-923" descr="C:\Users\user\projects\younes-training\turath\.pptx-cache\s129-3.jpg">    </p:cNvPr>
          <p:cNvPicPr>
            <a:picLocks noChangeAspect="1"/>
          </p:cNvPicPr>
          <p:nvPr/>
        </p:nvPicPr>
        <p:blipFill>
          <a:blip r:embed="rId4"/>
          <a:stretch>
            <a:fillRect/>
          </a:stretch>
        </p:blipFill>
        <p:spPr>
          <a:xfrm>
            <a:off x="0" y="0"/>
            <a:ext cx="12191695" cy="6858000"/>
          </a:xfrm>
          <a:prstGeom prst="rect">
            <a:avLst/>
          </a:prstGeom>
        </p:spPr>
      </p:pic>
      <p:pic>
        <p:nvPicPr>
          <p:cNvPr id="6" name="anim-g4-924" descr="C:\Users\user\projects\younes-training\turath\.pptx-cache\s129-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pic>
        <p:nvPicPr>
          <p:cNvPr id="2" name="Image 0" descr="C:\Users\user\projects\younes-training\turath\.pptx-cache\s130-0.jpg">    </p:cNvPr>
          <p:cNvPicPr>
            <a:picLocks noChangeAspect="1"/>
          </p:cNvPicPr>
          <p:nvPr/>
        </p:nvPicPr>
        <p:blipFill>
          <a:blip r:embed="rId1"/>
          <a:stretch>
            <a:fillRect/>
          </a:stretch>
        </p:blipFill>
        <p:spPr>
          <a:xfrm>
            <a:off x="0" y="0"/>
            <a:ext cx="12191695" cy="6858000"/>
          </a:xfrm>
          <a:prstGeom prst="rect">
            <a:avLst/>
          </a:prstGeom>
        </p:spPr>
      </p:pic>
      <p:pic>
        <p:nvPicPr>
          <p:cNvPr id="3" name="anim-g1-925" descr="C:\Users\user\projects\younes-training\turath\.pptx-cache\s130-1.jpg">    </p:cNvPr>
          <p:cNvPicPr>
            <a:picLocks noChangeAspect="1"/>
          </p:cNvPicPr>
          <p:nvPr/>
        </p:nvPicPr>
        <p:blipFill>
          <a:blip r:embed="rId2"/>
          <a:stretch>
            <a:fillRect/>
          </a:stretch>
        </p:blipFill>
        <p:spPr>
          <a:xfrm>
            <a:off x="0" y="0"/>
            <a:ext cx="12191695" cy="6858000"/>
          </a:xfrm>
          <a:prstGeom prst="rect">
            <a:avLst/>
          </a:prstGeom>
        </p:spPr>
      </p:pic>
      <p:pic>
        <p:nvPicPr>
          <p:cNvPr id="4" name="anim-g2-926" descr="C:\Users\user\projects\younes-training\turath\.pptx-cache\s130-2.jpg">    </p:cNvPr>
          <p:cNvPicPr>
            <a:picLocks noChangeAspect="1"/>
          </p:cNvPicPr>
          <p:nvPr/>
        </p:nvPicPr>
        <p:blipFill>
          <a:blip r:embed="rId3"/>
          <a:stretch>
            <a:fillRect/>
          </a:stretch>
        </p:blipFill>
        <p:spPr>
          <a:xfrm>
            <a:off x="0" y="0"/>
            <a:ext cx="12191695" cy="6858000"/>
          </a:xfrm>
          <a:prstGeom prst="rect">
            <a:avLst/>
          </a:prstGeom>
        </p:spPr>
      </p:pic>
      <p:pic>
        <p:nvPicPr>
          <p:cNvPr id="5" name="anim-g3-927" descr="C:\Users\user\projects\younes-training\turath\.pptx-cache\s130-3.jpg">    </p:cNvPr>
          <p:cNvPicPr>
            <a:picLocks noChangeAspect="1"/>
          </p:cNvPicPr>
          <p:nvPr/>
        </p:nvPicPr>
        <p:blipFill>
          <a:blip r:embed="rId4"/>
          <a:stretch>
            <a:fillRect/>
          </a:stretch>
        </p:blipFill>
        <p:spPr>
          <a:xfrm>
            <a:off x="0" y="0"/>
            <a:ext cx="12191695" cy="6858000"/>
          </a:xfrm>
          <a:prstGeom prst="rect">
            <a:avLst/>
          </a:prstGeom>
        </p:spPr>
      </p:pic>
      <p:pic>
        <p:nvPicPr>
          <p:cNvPr id="6" name="anim-g4-928" descr="C:\Users\user\projects\younes-training\turath\.pptx-cache\s13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شغّلنا السيارة فرشّت المضخة ثانية ثم توقفت قبل أي إنذار. لماذا؟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المضخة تالفة</a:t>
            </a:r>
            <a:endParaRPr lang="ar-SA" sz="2500" dirty="0"/>
          </a:p>
        </p:txBody>
      </p:sp>
      <p:sp>
        <p:nvSpPr>
          <p:cNvPr id="9" name="anim-g1-929"/>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930"/>
          <p:cNvSpPr/>
          <p:nvPr/>
        </p:nvSpPr>
        <p:spPr>
          <a:xfrm>
            <a:off x="10231831" y="2194560"/>
            <a:ext cx="954024" cy="954024"/>
          </a:xfrm>
          <a:prstGeom prst="roundRect">
            <a:avLst>
              <a:gd name="adj" fmla="val 11502"/>
            </a:avLst>
          </a:prstGeom>
          <a:solidFill>
            <a:srgbClr val="A3A9BA"/>
          </a:solidFill>
          <a:ln/>
        </p:spPr>
      </p:sp>
      <p:sp>
        <p:nvSpPr>
          <p:cNvPr id="11" name="anim-g1-931"/>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932"/>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المضخة تالفة</a:t>
            </a:r>
            <a:endParaRPr lang="ar-SA" sz="2400" dirty="0"/>
          </a:p>
        </p:txBody>
      </p:sp>
      <p:sp>
        <p:nvSpPr>
          <p:cNvPr id="13" name="anim-g1-933"/>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المضخة تعمل جيدًا، وهذا هو الدليل</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الحساس رأى نارًا</a:t>
            </a:r>
            <a:endParaRPr lang="ar-SA" sz="2500" dirty="0"/>
          </a:p>
        </p:txBody>
      </p:sp>
      <p:sp>
        <p:nvSpPr>
          <p:cNvPr id="18" name="anim-g1-934"/>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935"/>
          <p:cNvSpPr/>
          <p:nvPr/>
        </p:nvSpPr>
        <p:spPr>
          <a:xfrm>
            <a:off x="10231831" y="3569208"/>
            <a:ext cx="954024" cy="954024"/>
          </a:xfrm>
          <a:prstGeom prst="roundRect">
            <a:avLst>
              <a:gd name="adj" fmla="val 11502"/>
            </a:avLst>
          </a:prstGeom>
          <a:solidFill>
            <a:srgbClr val="A3A9BA"/>
          </a:solidFill>
          <a:ln/>
        </p:spPr>
      </p:sp>
      <p:sp>
        <p:nvSpPr>
          <p:cNvPr id="20" name="anim-g1-936"/>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937"/>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الحساس رأى نارًا</a:t>
            </a:r>
            <a:endParaRPr lang="ar-SA" sz="2400" dirty="0"/>
          </a:p>
        </p:txBody>
      </p:sp>
      <p:sp>
        <p:nvSpPr>
          <p:cNvPr id="22" name="anim-g1-938"/>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لم يرسل أحد إنذارًا بعد</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الطرف بدأ LOW قبل أن يكتب الكود HIGH</a:t>
            </a:r>
            <a:endParaRPr lang="ar-SA" sz="2500" dirty="0"/>
          </a:p>
        </p:txBody>
      </p:sp>
      <p:sp>
        <p:nvSpPr>
          <p:cNvPr id="27" name="anim-g1-939"/>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940"/>
          <p:cNvSpPr/>
          <p:nvPr/>
        </p:nvSpPr>
        <p:spPr>
          <a:xfrm>
            <a:off x="10231831" y="4943856"/>
            <a:ext cx="954024" cy="954024"/>
          </a:xfrm>
          <a:prstGeom prst="roundRect">
            <a:avLst>
              <a:gd name="adj" fmla="val 11502"/>
            </a:avLst>
          </a:prstGeom>
          <a:solidFill>
            <a:srgbClr val="2E9E6B"/>
          </a:solidFill>
          <a:ln/>
        </p:spPr>
      </p:sp>
      <p:sp>
        <p:nvSpPr>
          <p:cNvPr id="29" name="anim-g1-941"/>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942"/>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الطرف بدأ LOW قبل أن يكتب الكود HIGH</a:t>
            </a:r>
            <a:endParaRPr lang="ar-SA" sz="2400" dirty="0"/>
          </a:p>
        </p:txBody>
      </p:sp>
      <p:sp>
        <p:nvSpPr>
          <p:cNvPr id="31" name="anim-g1-943"/>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لهذا نكتب HIGH في أول setup، وبعض المعلمين يضيف مقاومة سحب للأعلى</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سيارة السلامة  ·  ١٣١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pic>
        <p:nvPicPr>
          <p:cNvPr id="2" name="Image 0" descr="C:\Users\user\projects\younes-training\turath\.pptx-cache\s1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LOW يعني «اعمل»، وHIGH يعني «قف»: ريليه صغير يحول السيارة إلى فرقة إطفاء</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سيارة السلامة  ·  ١٣٣</a:t>
            </a:r>
            <a:endParaRPr lang="ar-SA" sz="12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المحطة تكلّم السيارة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ESP-NOW: رسالة مباشرة… بلا راوتر ولا إنترنت</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ESP-NOW  ·  ١٣٤</a:t>
            </a:r>
            <a:endParaRPr lang="ar-SA" sz="12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944"/>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945"/>
          <p:cNvSpPr/>
          <p:nvPr/>
        </p:nvSpPr>
        <p:spPr>
          <a:xfrm>
            <a:off x="10573207" y="2286000"/>
            <a:ext cx="566928" cy="566928"/>
          </a:xfrm>
          <a:prstGeom prst="ellipse">
            <a:avLst/>
          </a:prstGeom>
          <a:solidFill>
            <a:srgbClr val="D9AE4B"/>
          </a:solidFill>
          <a:ln/>
        </p:spPr>
      </p:sp>
      <p:sp>
        <p:nvSpPr>
          <p:cNvPr id="7" name="anim-g1-946"/>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947"/>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تعرف عنوان MAC لجهازك وتستخدمه</a:t>
            </a:r>
            <a:endParaRPr lang="ar-SA" sz="2400" dirty="0"/>
          </a:p>
        </p:txBody>
      </p:sp>
      <p:sp>
        <p:nvSpPr>
          <p:cNvPr id="9" name="anim-g2-948"/>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949"/>
          <p:cNvSpPr/>
          <p:nvPr/>
        </p:nvSpPr>
        <p:spPr>
          <a:xfrm>
            <a:off x="10573207" y="3694176"/>
            <a:ext cx="566928" cy="566928"/>
          </a:xfrm>
          <a:prstGeom prst="ellipse">
            <a:avLst/>
          </a:prstGeom>
          <a:solidFill>
            <a:srgbClr val="D9AE4B"/>
          </a:solidFill>
          <a:ln/>
        </p:spPr>
      </p:sp>
      <p:sp>
        <p:nvSpPr>
          <p:cNvPr id="11" name="anim-g2-950"/>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951"/>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تصمم رسالة بـ struct فيها النوع والشدة والمنطقة</a:t>
            </a:r>
            <a:endParaRPr lang="ar-SA" sz="2400" dirty="0"/>
          </a:p>
        </p:txBody>
      </p:sp>
      <p:sp>
        <p:nvSpPr>
          <p:cNvPr id="13" name="anim-g3-952"/>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953"/>
          <p:cNvSpPr/>
          <p:nvPr/>
        </p:nvSpPr>
        <p:spPr>
          <a:xfrm>
            <a:off x="10573207" y="5102352"/>
            <a:ext cx="566928" cy="566928"/>
          </a:xfrm>
          <a:prstGeom prst="ellipse">
            <a:avLst/>
          </a:prstGeom>
          <a:solidFill>
            <a:srgbClr val="D9AE4B"/>
          </a:solidFill>
          <a:ln/>
        </p:spPr>
      </p:sp>
      <p:sp>
        <p:nvSpPr>
          <p:cNvPr id="15" name="anim-g3-954"/>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955"/>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ترسل من المحطة وتستقبل في الروبوت، ومن روبوت إلى روبوت</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ESP-NOW  ·  ١٣٥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name="Slide 1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588959" y="457200"/>
            <a:ext cx="2779776" cy="457200"/>
          </a:xfrm>
          <a:prstGeom prst="roundRect">
            <a:avLst>
              <a:gd name="adj" fmla="val 50000"/>
            </a:avLst>
          </a:prstGeom>
          <a:solidFill>
            <a:srgbClr val="F6EBCF"/>
          </a:solidFill>
          <a:ln/>
        </p:spPr>
      </p:sp>
      <p:sp>
        <p:nvSpPr>
          <p:cNvPr id="3" name="Text 1"/>
          <p:cNvSpPr/>
          <p:nvPr/>
        </p:nvSpPr>
        <p:spPr>
          <a:xfrm>
            <a:off x="8588959" y="457200"/>
            <a:ext cx="277977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ESP-NOW؟</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طرق لربط جهازين</a:t>
            </a:r>
            <a:endParaRPr lang="ar-SA" sz="3800" dirty="0"/>
          </a:p>
        </p:txBody>
      </p:sp>
      <p:sp>
        <p:nvSpPr>
          <p:cNvPr id="5" name="Shape 3"/>
          <p:cNvSpPr/>
          <p:nvPr/>
        </p:nvSpPr>
        <p:spPr>
          <a:xfrm>
            <a:off x="9217874" y="1874520"/>
            <a:ext cx="2150861" cy="548640"/>
          </a:xfrm>
          <a:prstGeom prst="roundRect">
            <a:avLst>
              <a:gd name="adj" fmla="val 20000"/>
            </a:avLst>
          </a:prstGeom>
          <a:solidFill>
            <a:srgbClr val="101B45"/>
          </a:solidFill>
          <a:ln/>
        </p:spPr>
      </p:sp>
      <p:sp>
        <p:nvSpPr>
          <p:cNvPr id="6" name="Text 4"/>
          <p:cNvSpPr/>
          <p:nvPr/>
        </p:nvSpPr>
        <p:spPr>
          <a:xfrm>
            <a:off x="9217874" y="1874520"/>
            <a:ext cx="2150861" cy="548640"/>
          </a:xfrm>
          <a:prstGeom prst="rect">
            <a:avLst/>
          </a:prstGeom>
          <a:noFill/>
          <a:ln/>
        </p:spPr>
        <p:txBody>
          <a:bodyPr wrap="square" lIns="0" tIns="0" rIns="0" bIns="0" rtlCol="0" anchor="ctr">
            <a:normAutofit/>
          </a:bodyPr>
          <a:lstStyle/>
          <a:p>
            <a:pPr rtl="1" algn="ctr" indent="0" marL="0">
              <a:buNone/>
            </a:pPr>
            <a:endParaRPr lang="ar-SA" sz="1900" dirty="0"/>
          </a:p>
        </p:txBody>
      </p:sp>
      <p:sp>
        <p:nvSpPr>
          <p:cNvPr id="7" name="Shape 5"/>
          <p:cNvSpPr/>
          <p:nvPr/>
        </p:nvSpPr>
        <p:spPr>
          <a:xfrm>
            <a:off x="6419569" y="1874520"/>
            <a:ext cx="2688577" cy="548640"/>
          </a:xfrm>
          <a:prstGeom prst="roundRect">
            <a:avLst>
              <a:gd name="adj" fmla="val 20000"/>
            </a:avLst>
          </a:prstGeom>
          <a:solidFill>
            <a:srgbClr val="101B45"/>
          </a:solidFill>
          <a:ln/>
        </p:spPr>
      </p:sp>
      <p:sp>
        <p:nvSpPr>
          <p:cNvPr id="8" name="Text 6"/>
          <p:cNvSpPr/>
          <p:nvPr/>
        </p:nvSpPr>
        <p:spPr>
          <a:xfrm>
            <a:off x="6419569" y="1874520"/>
            <a:ext cx="268857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واي فاي وإنترنت</a:t>
            </a:r>
            <a:endParaRPr lang="ar-SA" sz="1900" dirty="0"/>
          </a:p>
        </p:txBody>
      </p:sp>
      <p:sp>
        <p:nvSpPr>
          <p:cNvPr id="9" name="Shape 7"/>
          <p:cNvSpPr/>
          <p:nvPr/>
        </p:nvSpPr>
        <p:spPr>
          <a:xfrm>
            <a:off x="3621265" y="1874520"/>
            <a:ext cx="2688577" cy="548640"/>
          </a:xfrm>
          <a:prstGeom prst="roundRect">
            <a:avLst>
              <a:gd name="adj" fmla="val 20000"/>
            </a:avLst>
          </a:prstGeom>
          <a:solidFill>
            <a:srgbClr val="101B45"/>
          </a:solidFill>
          <a:ln/>
        </p:spPr>
      </p:sp>
      <p:sp>
        <p:nvSpPr>
          <p:cNvPr id="10" name="Text 8"/>
          <p:cNvSpPr/>
          <p:nvPr/>
        </p:nvSpPr>
        <p:spPr>
          <a:xfrm>
            <a:off x="3621265" y="1874520"/>
            <a:ext cx="268857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بلوتوث</a:t>
            </a:r>
            <a:endParaRPr lang="ar-SA" sz="1900" dirty="0"/>
          </a:p>
        </p:txBody>
      </p:sp>
      <p:sp>
        <p:nvSpPr>
          <p:cNvPr id="11" name="Shape 9"/>
          <p:cNvSpPr/>
          <p:nvPr/>
        </p:nvSpPr>
        <p:spPr>
          <a:xfrm>
            <a:off x="822960" y="1874520"/>
            <a:ext cx="2688577" cy="548640"/>
          </a:xfrm>
          <a:prstGeom prst="roundRect">
            <a:avLst>
              <a:gd name="adj" fmla="val 20000"/>
            </a:avLst>
          </a:prstGeom>
          <a:solidFill>
            <a:srgbClr val="101B45"/>
          </a:solidFill>
          <a:ln/>
        </p:spPr>
      </p:sp>
      <p:sp>
        <p:nvSpPr>
          <p:cNvPr id="12" name="Text 10"/>
          <p:cNvSpPr/>
          <p:nvPr/>
        </p:nvSpPr>
        <p:spPr>
          <a:xfrm>
            <a:off x="822960" y="1874520"/>
            <a:ext cx="268857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ESP-NOW</a:t>
            </a:r>
            <a:endParaRPr lang="ar-SA" sz="1900" dirty="0"/>
          </a:p>
        </p:txBody>
      </p:sp>
      <p:sp>
        <p:nvSpPr>
          <p:cNvPr id="13" name="anim-g1-956"/>
          <p:cNvSpPr/>
          <p:nvPr/>
        </p:nvSpPr>
        <p:spPr>
          <a:xfrm>
            <a:off x="9217874" y="2514600"/>
            <a:ext cx="2150861" cy="797814"/>
          </a:xfrm>
          <a:prstGeom prst="roundRect">
            <a:avLst>
              <a:gd name="adj" fmla="val 13754"/>
            </a:avLst>
          </a:prstGeom>
          <a:solidFill>
            <a:srgbClr val="FBF3DF"/>
          </a:solidFill>
          <a:ln w="12700">
            <a:solidFill>
              <a:srgbClr val="EFDDAF"/>
            </a:solidFill>
            <a:prstDash val="solid"/>
          </a:ln>
        </p:spPr>
      </p:sp>
      <p:sp>
        <p:nvSpPr>
          <p:cNvPr id="14" name="anim-g1-957"/>
          <p:cNvSpPr/>
          <p:nvPr/>
        </p:nvSpPr>
        <p:spPr>
          <a:xfrm>
            <a:off x="9355034" y="2514600"/>
            <a:ext cx="1876541"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يحتاج راوتر؟</a:t>
            </a:r>
            <a:endParaRPr lang="ar-SA" sz="2100" dirty="0"/>
          </a:p>
        </p:txBody>
      </p:sp>
      <p:sp>
        <p:nvSpPr>
          <p:cNvPr id="15" name="anim-g1-958"/>
          <p:cNvSpPr/>
          <p:nvPr/>
        </p:nvSpPr>
        <p:spPr>
          <a:xfrm>
            <a:off x="6419569" y="2514600"/>
            <a:ext cx="2688577" cy="797814"/>
          </a:xfrm>
          <a:prstGeom prst="roundRect">
            <a:avLst>
              <a:gd name="adj" fmla="val 13754"/>
            </a:avLst>
          </a:prstGeom>
          <a:solidFill>
            <a:srgbClr val="FFFFFF"/>
          </a:solidFill>
          <a:ln w="12700">
            <a:solidFill>
              <a:srgbClr val="E4DCC8"/>
            </a:solidFill>
            <a:prstDash val="solid"/>
          </a:ln>
        </p:spPr>
      </p:sp>
      <p:sp>
        <p:nvSpPr>
          <p:cNvPr id="16" name="anim-g1-959"/>
          <p:cNvSpPr/>
          <p:nvPr/>
        </p:nvSpPr>
        <p:spPr>
          <a:xfrm>
            <a:off x="6556729" y="2514600"/>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نعم</a:t>
            </a:r>
            <a:endParaRPr lang="ar-SA" sz="2100" dirty="0"/>
          </a:p>
        </p:txBody>
      </p:sp>
      <p:sp>
        <p:nvSpPr>
          <p:cNvPr id="17" name="anim-g1-960"/>
          <p:cNvSpPr/>
          <p:nvPr/>
        </p:nvSpPr>
        <p:spPr>
          <a:xfrm>
            <a:off x="3621265" y="2514600"/>
            <a:ext cx="2688577" cy="797814"/>
          </a:xfrm>
          <a:prstGeom prst="roundRect">
            <a:avLst>
              <a:gd name="adj" fmla="val 13754"/>
            </a:avLst>
          </a:prstGeom>
          <a:solidFill>
            <a:srgbClr val="FFFFFF"/>
          </a:solidFill>
          <a:ln w="12700">
            <a:solidFill>
              <a:srgbClr val="E4DCC8"/>
            </a:solidFill>
            <a:prstDash val="solid"/>
          </a:ln>
        </p:spPr>
      </p:sp>
      <p:sp>
        <p:nvSpPr>
          <p:cNvPr id="18" name="anim-g1-961"/>
          <p:cNvSpPr/>
          <p:nvPr/>
        </p:nvSpPr>
        <p:spPr>
          <a:xfrm>
            <a:off x="3758425" y="2514600"/>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لا</a:t>
            </a:r>
            <a:endParaRPr lang="ar-SA" sz="2100" dirty="0"/>
          </a:p>
        </p:txBody>
      </p:sp>
      <p:sp>
        <p:nvSpPr>
          <p:cNvPr id="19" name="anim-g1-962"/>
          <p:cNvSpPr/>
          <p:nvPr/>
        </p:nvSpPr>
        <p:spPr>
          <a:xfrm>
            <a:off x="822960" y="2514600"/>
            <a:ext cx="2688577" cy="797814"/>
          </a:xfrm>
          <a:prstGeom prst="roundRect">
            <a:avLst>
              <a:gd name="adj" fmla="val 13754"/>
            </a:avLst>
          </a:prstGeom>
          <a:solidFill>
            <a:srgbClr val="E6F4EC"/>
          </a:solidFill>
          <a:ln w="12700">
            <a:solidFill>
              <a:srgbClr val="CDE9D9"/>
            </a:solidFill>
            <a:prstDash val="solid"/>
          </a:ln>
        </p:spPr>
      </p:sp>
      <p:sp>
        <p:nvSpPr>
          <p:cNvPr id="20" name="anim-g1-963"/>
          <p:cNvSpPr/>
          <p:nvPr/>
        </p:nvSpPr>
        <p:spPr>
          <a:xfrm>
            <a:off x="960120" y="2514600"/>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لا</a:t>
            </a:r>
            <a:endParaRPr lang="ar-SA" sz="2100" dirty="0"/>
          </a:p>
        </p:txBody>
      </p:sp>
      <p:sp>
        <p:nvSpPr>
          <p:cNvPr id="21" name="anim-g2-964"/>
          <p:cNvSpPr/>
          <p:nvPr/>
        </p:nvSpPr>
        <p:spPr>
          <a:xfrm>
            <a:off x="9217874" y="3422142"/>
            <a:ext cx="2150861" cy="797814"/>
          </a:xfrm>
          <a:prstGeom prst="roundRect">
            <a:avLst>
              <a:gd name="adj" fmla="val 13754"/>
            </a:avLst>
          </a:prstGeom>
          <a:solidFill>
            <a:srgbClr val="FBF3DF"/>
          </a:solidFill>
          <a:ln w="12700">
            <a:solidFill>
              <a:srgbClr val="EFDDAF"/>
            </a:solidFill>
            <a:prstDash val="solid"/>
          </a:ln>
        </p:spPr>
      </p:sp>
      <p:sp>
        <p:nvSpPr>
          <p:cNvPr id="22" name="anim-g2-965"/>
          <p:cNvSpPr/>
          <p:nvPr/>
        </p:nvSpPr>
        <p:spPr>
          <a:xfrm>
            <a:off x="9355034" y="3422142"/>
            <a:ext cx="1876541"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السرعة</a:t>
            </a:r>
            <a:endParaRPr lang="ar-SA" sz="2100" dirty="0"/>
          </a:p>
        </p:txBody>
      </p:sp>
      <p:sp>
        <p:nvSpPr>
          <p:cNvPr id="23" name="anim-g2-966"/>
          <p:cNvSpPr/>
          <p:nvPr/>
        </p:nvSpPr>
        <p:spPr>
          <a:xfrm>
            <a:off x="6419569" y="3422142"/>
            <a:ext cx="2688577" cy="797814"/>
          </a:xfrm>
          <a:prstGeom prst="roundRect">
            <a:avLst>
              <a:gd name="adj" fmla="val 13754"/>
            </a:avLst>
          </a:prstGeom>
          <a:solidFill>
            <a:srgbClr val="FFFFFF"/>
          </a:solidFill>
          <a:ln w="12700">
            <a:solidFill>
              <a:srgbClr val="E4DCC8"/>
            </a:solidFill>
            <a:prstDash val="solid"/>
          </a:ln>
        </p:spPr>
      </p:sp>
      <p:sp>
        <p:nvSpPr>
          <p:cNvPr id="24" name="anim-g2-967"/>
          <p:cNvSpPr/>
          <p:nvPr/>
        </p:nvSpPr>
        <p:spPr>
          <a:xfrm>
            <a:off x="6556729" y="3422142"/>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بطيء نسبيًا</a:t>
            </a:r>
            <a:endParaRPr lang="ar-SA" sz="2100" dirty="0"/>
          </a:p>
        </p:txBody>
      </p:sp>
      <p:sp>
        <p:nvSpPr>
          <p:cNvPr id="25" name="anim-g2-968"/>
          <p:cNvSpPr/>
          <p:nvPr/>
        </p:nvSpPr>
        <p:spPr>
          <a:xfrm>
            <a:off x="3621265" y="3422142"/>
            <a:ext cx="2688577" cy="797814"/>
          </a:xfrm>
          <a:prstGeom prst="roundRect">
            <a:avLst>
              <a:gd name="adj" fmla="val 13754"/>
            </a:avLst>
          </a:prstGeom>
          <a:solidFill>
            <a:srgbClr val="FFFFFF"/>
          </a:solidFill>
          <a:ln w="12700">
            <a:solidFill>
              <a:srgbClr val="E4DCC8"/>
            </a:solidFill>
            <a:prstDash val="solid"/>
          </a:ln>
        </p:spPr>
      </p:sp>
      <p:sp>
        <p:nvSpPr>
          <p:cNvPr id="26" name="anim-g2-969"/>
          <p:cNvSpPr/>
          <p:nvPr/>
        </p:nvSpPr>
        <p:spPr>
          <a:xfrm>
            <a:off x="3758425" y="3422142"/>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متوسط</a:t>
            </a:r>
            <a:endParaRPr lang="ar-SA" sz="2100" dirty="0"/>
          </a:p>
        </p:txBody>
      </p:sp>
      <p:sp>
        <p:nvSpPr>
          <p:cNvPr id="27" name="anim-g2-970"/>
          <p:cNvSpPr/>
          <p:nvPr/>
        </p:nvSpPr>
        <p:spPr>
          <a:xfrm>
            <a:off x="822960" y="3422142"/>
            <a:ext cx="2688577" cy="797814"/>
          </a:xfrm>
          <a:prstGeom prst="roundRect">
            <a:avLst>
              <a:gd name="adj" fmla="val 13754"/>
            </a:avLst>
          </a:prstGeom>
          <a:solidFill>
            <a:srgbClr val="E6F4EC"/>
          </a:solidFill>
          <a:ln w="12700">
            <a:solidFill>
              <a:srgbClr val="CDE9D9"/>
            </a:solidFill>
            <a:prstDash val="solid"/>
          </a:ln>
        </p:spPr>
      </p:sp>
      <p:sp>
        <p:nvSpPr>
          <p:cNvPr id="28" name="anim-g2-971"/>
          <p:cNvSpPr/>
          <p:nvPr/>
        </p:nvSpPr>
        <p:spPr>
          <a:xfrm>
            <a:off x="960120" y="3422142"/>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أجزاء من الثانية</a:t>
            </a:r>
            <a:endParaRPr lang="ar-SA" sz="2100" dirty="0"/>
          </a:p>
        </p:txBody>
      </p:sp>
      <p:sp>
        <p:nvSpPr>
          <p:cNvPr id="29" name="anim-g3-972"/>
          <p:cNvSpPr/>
          <p:nvPr/>
        </p:nvSpPr>
        <p:spPr>
          <a:xfrm>
            <a:off x="9217874" y="4329684"/>
            <a:ext cx="2150861" cy="797814"/>
          </a:xfrm>
          <a:prstGeom prst="roundRect">
            <a:avLst>
              <a:gd name="adj" fmla="val 13754"/>
            </a:avLst>
          </a:prstGeom>
          <a:solidFill>
            <a:srgbClr val="FBF3DF"/>
          </a:solidFill>
          <a:ln w="12700">
            <a:solidFill>
              <a:srgbClr val="EFDDAF"/>
            </a:solidFill>
            <a:prstDash val="solid"/>
          </a:ln>
        </p:spPr>
      </p:sp>
      <p:sp>
        <p:nvSpPr>
          <p:cNvPr id="30" name="anim-g3-973"/>
          <p:cNvSpPr/>
          <p:nvPr/>
        </p:nvSpPr>
        <p:spPr>
          <a:xfrm>
            <a:off x="9355034" y="4329684"/>
            <a:ext cx="1876541"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المدى</a:t>
            </a:r>
            <a:endParaRPr lang="ar-SA" sz="2100" dirty="0"/>
          </a:p>
        </p:txBody>
      </p:sp>
      <p:sp>
        <p:nvSpPr>
          <p:cNvPr id="31" name="anim-g3-974"/>
          <p:cNvSpPr/>
          <p:nvPr/>
        </p:nvSpPr>
        <p:spPr>
          <a:xfrm>
            <a:off x="6419569" y="4329684"/>
            <a:ext cx="2688577" cy="797814"/>
          </a:xfrm>
          <a:prstGeom prst="roundRect">
            <a:avLst>
              <a:gd name="adj" fmla="val 13754"/>
            </a:avLst>
          </a:prstGeom>
          <a:solidFill>
            <a:srgbClr val="FFFFFF"/>
          </a:solidFill>
          <a:ln w="12700">
            <a:solidFill>
              <a:srgbClr val="E4DCC8"/>
            </a:solidFill>
            <a:prstDash val="solid"/>
          </a:ln>
        </p:spPr>
      </p:sp>
      <p:sp>
        <p:nvSpPr>
          <p:cNvPr id="32" name="anim-g3-975"/>
          <p:cNvSpPr/>
          <p:nvPr/>
        </p:nvSpPr>
        <p:spPr>
          <a:xfrm>
            <a:off x="6556729" y="4329684"/>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حسب الراوتر</a:t>
            </a:r>
            <a:endParaRPr lang="ar-SA" sz="2100" dirty="0"/>
          </a:p>
        </p:txBody>
      </p:sp>
      <p:sp>
        <p:nvSpPr>
          <p:cNvPr id="33" name="anim-g3-976"/>
          <p:cNvSpPr/>
          <p:nvPr/>
        </p:nvSpPr>
        <p:spPr>
          <a:xfrm>
            <a:off x="3621265" y="4329684"/>
            <a:ext cx="2688577" cy="797814"/>
          </a:xfrm>
          <a:prstGeom prst="roundRect">
            <a:avLst>
              <a:gd name="adj" fmla="val 13754"/>
            </a:avLst>
          </a:prstGeom>
          <a:solidFill>
            <a:srgbClr val="FFFFFF"/>
          </a:solidFill>
          <a:ln w="12700">
            <a:solidFill>
              <a:srgbClr val="E4DCC8"/>
            </a:solidFill>
            <a:prstDash val="solid"/>
          </a:ln>
        </p:spPr>
      </p:sp>
      <p:sp>
        <p:nvSpPr>
          <p:cNvPr id="34" name="anim-g3-977"/>
          <p:cNvSpPr/>
          <p:nvPr/>
        </p:nvSpPr>
        <p:spPr>
          <a:xfrm>
            <a:off x="3758425" y="4329684"/>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قصير</a:t>
            </a:r>
            <a:endParaRPr lang="ar-SA" sz="2100" dirty="0"/>
          </a:p>
        </p:txBody>
      </p:sp>
      <p:sp>
        <p:nvSpPr>
          <p:cNvPr id="35" name="anim-g3-978"/>
          <p:cNvSpPr/>
          <p:nvPr/>
        </p:nvSpPr>
        <p:spPr>
          <a:xfrm>
            <a:off x="822960" y="4329684"/>
            <a:ext cx="2688577" cy="797814"/>
          </a:xfrm>
          <a:prstGeom prst="roundRect">
            <a:avLst>
              <a:gd name="adj" fmla="val 13754"/>
            </a:avLst>
          </a:prstGeom>
          <a:solidFill>
            <a:srgbClr val="E6F4EC"/>
          </a:solidFill>
          <a:ln w="12700">
            <a:solidFill>
              <a:srgbClr val="CDE9D9"/>
            </a:solidFill>
            <a:prstDash val="solid"/>
          </a:ln>
        </p:spPr>
      </p:sp>
      <p:sp>
        <p:nvSpPr>
          <p:cNvPr id="36" name="anim-g3-979"/>
          <p:cNvSpPr/>
          <p:nvPr/>
        </p:nvSpPr>
        <p:spPr>
          <a:xfrm>
            <a:off x="960120" y="4329684"/>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حتى ٢٠٠ م في المكشوف</a:t>
            </a:r>
            <a:endParaRPr lang="ar-SA" sz="2100" dirty="0"/>
          </a:p>
        </p:txBody>
      </p:sp>
      <p:sp>
        <p:nvSpPr>
          <p:cNvPr id="37" name="anim-g4-980"/>
          <p:cNvSpPr/>
          <p:nvPr/>
        </p:nvSpPr>
        <p:spPr>
          <a:xfrm>
            <a:off x="9217874" y="5237226"/>
            <a:ext cx="2150861" cy="797814"/>
          </a:xfrm>
          <a:prstGeom prst="roundRect">
            <a:avLst>
              <a:gd name="adj" fmla="val 13754"/>
            </a:avLst>
          </a:prstGeom>
          <a:solidFill>
            <a:srgbClr val="FBF3DF"/>
          </a:solidFill>
          <a:ln w="12700">
            <a:solidFill>
              <a:srgbClr val="EFDDAF"/>
            </a:solidFill>
            <a:prstDash val="solid"/>
          </a:ln>
        </p:spPr>
      </p:sp>
      <p:sp>
        <p:nvSpPr>
          <p:cNvPr id="38" name="anim-g4-981"/>
          <p:cNvSpPr/>
          <p:nvPr/>
        </p:nvSpPr>
        <p:spPr>
          <a:xfrm>
            <a:off x="9355034" y="5237226"/>
            <a:ext cx="1876541"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الاقتران</a:t>
            </a:r>
            <a:endParaRPr lang="ar-SA" sz="2100" dirty="0"/>
          </a:p>
        </p:txBody>
      </p:sp>
      <p:sp>
        <p:nvSpPr>
          <p:cNvPr id="39" name="anim-g4-982"/>
          <p:cNvSpPr/>
          <p:nvPr/>
        </p:nvSpPr>
        <p:spPr>
          <a:xfrm>
            <a:off x="6419569" y="5237226"/>
            <a:ext cx="2688577" cy="797814"/>
          </a:xfrm>
          <a:prstGeom prst="roundRect">
            <a:avLst>
              <a:gd name="adj" fmla="val 13754"/>
            </a:avLst>
          </a:prstGeom>
          <a:solidFill>
            <a:srgbClr val="FFFFFF"/>
          </a:solidFill>
          <a:ln w="12700">
            <a:solidFill>
              <a:srgbClr val="E4DCC8"/>
            </a:solidFill>
            <a:prstDash val="solid"/>
          </a:ln>
        </p:spPr>
      </p:sp>
      <p:sp>
        <p:nvSpPr>
          <p:cNvPr id="40" name="anim-g4-983"/>
          <p:cNvSpPr/>
          <p:nvPr/>
        </p:nvSpPr>
        <p:spPr>
          <a:xfrm>
            <a:off x="6556729" y="5237226"/>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كلمة مرور</a:t>
            </a:r>
            <a:endParaRPr lang="ar-SA" sz="2100" dirty="0"/>
          </a:p>
        </p:txBody>
      </p:sp>
      <p:sp>
        <p:nvSpPr>
          <p:cNvPr id="41" name="anim-g4-984"/>
          <p:cNvSpPr/>
          <p:nvPr/>
        </p:nvSpPr>
        <p:spPr>
          <a:xfrm>
            <a:off x="3621265" y="5237226"/>
            <a:ext cx="2688577" cy="797814"/>
          </a:xfrm>
          <a:prstGeom prst="roundRect">
            <a:avLst>
              <a:gd name="adj" fmla="val 13754"/>
            </a:avLst>
          </a:prstGeom>
          <a:solidFill>
            <a:srgbClr val="FFFFFF"/>
          </a:solidFill>
          <a:ln w="12700">
            <a:solidFill>
              <a:srgbClr val="E4DCC8"/>
            </a:solidFill>
            <a:prstDash val="solid"/>
          </a:ln>
        </p:spPr>
      </p:sp>
      <p:sp>
        <p:nvSpPr>
          <p:cNvPr id="42" name="anim-g4-985"/>
          <p:cNvSpPr/>
          <p:nvPr/>
        </p:nvSpPr>
        <p:spPr>
          <a:xfrm>
            <a:off x="3758425" y="5237226"/>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اقتران</a:t>
            </a:r>
            <a:endParaRPr lang="ar-SA" sz="2100" dirty="0"/>
          </a:p>
        </p:txBody>
      </p:sp>
      <p:sp>
        <p:nvSpPr>
          <p:cNvPr id="43" name="anim-g4-986"/>
          <p:cNvSpPr/>
          <p:nvPr/>
        </p:nvSpPr>
        <p:spPr>
          <a:xfrm>
            <a:off x="822960" y="5237226"/>
            <a:ext cx="2688577" cy="797814"/>
          </a:xfrm>
          <a:prstGeom prst="roundRect">
            <a:avLst>
              <a:gd name="adj" fmla="val 13754"/>
            </a:avLst>
          </a:prstGeom>
          <a:solidFill>
            <a:srgbClr val="E6F4EC"/>
          </a:solidFill>
          <a:ln w="12700">
            <a:solidFill>
              <a:srgbClr val="CDE9D9"/>
            </a:solidFill>
            <a:prstDash val="solid"/>
          </a:ln>
        </p:spPr>
      </p:sp>
      <p:sp>
        <p:nvSpPr>
          <p:cNvPr id="44" name="anim-g4-987"/>
          <p:cNvSpPr/>
          <p:nvPr/>
        </p:nvSpPr>
        <p:spPr>
          <a:xfrm>
            <a:off x="960120" y="5237226"/>
            <a:ext cx="2414257"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عنوان MAC فقط</a:t>
            </a:r>
            <a:endParaRPr lang="ar-SA" sz="2100" dirty="0"/>
          </a:p>
        </p:txBody>
      </p:sp>
      <p:sp>
        <p:nvSpPr>
          <p:cNvPr id="45" name="Text 4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46" name="Text 4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ESP-NOW  ·  ١٣٦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400"/>
                                        <p:tgtEl>
                                          <p:spTgt spid="3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400"/>
                                        <p:tgtEl>
                                          <p:spTgt spid="3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400"/>
                                        <p:tgtEl>
                                          <p:spTgt spid="3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400"/>
                                        <p:tgtEl>
                                          <p:spTgt spid="4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400"/>
                                        <p:tgtEl>
                                          <p:spTgt spid="4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400"/>
                                        <p:tgtEl>
                                          <p:spTgt spid="4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00"/>
                                        <p:tgtEl>
                                          <p:spTgt spid="4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name="Slide 1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ثلاث كلمات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العنوان… والرسالة… والتأكيد</a:t>
            </a:r>
            <a:endParaRPr lang="ar-SA" sz="3800" dirty="0"/>
          </a:p>
        </p:txBody>
      </p:sp>
      <p:sp>
        <p:nvSpPr>
          <p:cNvPr id="5" name="anim-g1-98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89"/>
          <p:cNvSpPr/>
          <p:nvPr/>
        </p:nvSpPr>
        <p:spPr>
          <a:xfrm>
            <a:off x="10527487" y="2267712"/>
            <a:ext cx="566928" cy="566928"/>
          </a:xfrm>
          <a:prstGeom prst="roundRect">
            <a:avLst>
              <a:gd name="adj" fmla="val 32258"/>
            </a:avLst>
          </a:prstGeom>
          <a:solidFill>
            <a:srgbClr val="F7E6BC"/>
          </a:solidFill>
          <a:ln/>
        </p:spPr>
      </p:sp>
      <p:sp>
        <p:nvSpPr>
          <p:cNvPr id="7" name="anim-g1-99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99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MAC</a:t>
            </a:r>
            <a:endParaRPr lang="ar-SA" sz="2200" dirty="0"/>
          </a:p>
        </p:txBody>
      </p:sp>
      <p:sp>
        <p:nvSpPr>
          <p:cNvPr id="9" name="anim-g1-99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رقم فريد لكل ESP32 مثل رقم الهوية: EC:E3:34:08:BE:D8</a:t>
            </a:r>
            <a:endParaRPr lang="ar-SA" sz="1900" dirty="0"/>
          </a:p>
        </p:txBody>
      </p:sp>
      <p:sp>
        <p:nvSpPr>
          <p:cNvPr id="10" name="anim-g2-99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94"/>
          <p:cNvSpPr/>
          <p:nvPr/>
        </p:nvSpPr>
        <p:spPr>
          <a:xfrm>
            <a:off x="6920789" y="2267712"/>
            <a:ext cx="566928" cy="566928"/>
          </a:xfrm>
          <a:prstGeom prst="roundRect">
            <a:avLst>
              <a:gd name="adj" fmla="val 32258"/>
            </a:avLst>
          </a:prstGeom>
          <a:solidFill>
            <a:srgbClr val="F7E6BC"/>
          </a:solidFill>
          <a:ln/>
        </p:spPr>
      </p:sp>
      <p:sp>
        <p:nvSpPr>
          <p:cNvPr id="12" name="anim-g2-99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9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struct</a:t>
            </a:r>
            <a:endParaRPr lang="ar-SA" sz="2200" dirty="0"/>
          </a:p>
        </p:txBody>
      </p:sp>
      <p:sp>
        <p:nvSpPr>
          <p:cNvPr id="14" name="anim-g2-99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صندوق نرتب فيه البيانات: النوع والشدة والمنطقة</a:t>
            </a:r>
            <a:endParaRPr lang="ar-SA" sz="1900" dirty="0"/>
          </a:p>
        </p:txBody>
      </p:sp>
      <p:sp>
        <p:nvSpPr>
          <p:cNvPr id="15" name="anim-g3-99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99"/>
          <p:cNvSpPr/>
          <p:nvPr/>
        </p:nvSpPr>
        <p:spPr>
          <a:xfrm>
            <a:off x="3314090" y="2267712"/>
            <a:ext cx="566928" cy="566928"/>
          </a:xfrm>
          <a:prstGeom prst="roundRect">
            <a:avLst>
              <a:gd name="adj" fmla="val 32258"/>
            </a:avLst>
          </a:prstGeom>
          <a:solidFill>
            <a:srgbClr val="F7E6BC"/>
          </a:solidFill>
          <a:ln/>
        </p:spPr>
      </p:sp>
      <p:sp>
        <p:nvSpPr>
          <p:cNvPr id="17" name="anim-g3-100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0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Callback</a:t>
            </a:r>
            <a:endParaRPr lang="ar-SA" sz="2200" dirty="0"/>
          </a:p>
        </p:txBody>
      </p:sp>
      <p:sp>
        <p:nvSpPr>
          <p:cNvPr id="19" name="anim-g3-100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دالة تُستدعى تلقائيًا حين تصل الرسالة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ESP-NOW  ·  ١٣٧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pic>
        <p:nvPicPr>
          <p:cNvPr id="2" name="Image 0" descr="C:\Users\user\projects\younes-training\turath\.pptx-cache\s1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pic>
        <p:nvPicPr>
          <p:cNvPr id="2" name="Image 0" descr="C:\Users\user\projects\younes-training\turath\.pptx-cache\s139-0.jpg">    </p:cNvPr>
          <p:cNvPicPr>
            <a:picLocks noChangeAspect="1"/>
          </p:cNvPicPr>
          <p:nvPr/>
        </p:nvPicPr>
        <p:blipFill>
          <a:blip r:embed="rId1"/>
          <a:stretch>
            <a:fillRect/>
          </a:stretch>
        </p:blipFill>
        <p:spPr>
          <a:xfrm>
            <a:off x="0" y="0"/>
            <a:ext cx="12191695" cy="6858000"/>
          </a:xfrm>
          <a:prstGeom prst="rect">
            <a:avLst/>
          </a:prstGeom>
        </p:spPr>
      </p:pic>
      <p:pic>
        <p:nvPicPr>
          <p:cNvPr id="3" name="anim-g1-1003" descr="C:\Users\user\projects\younes-training\turath\.pptx-cache\s139-1.jpg">    </p:cNvPr>
          <p:cNvPicPr>
            <a:picLocks noChangeAspect="1"/>
          </p:cNvPicPr>
          <p:nvPr/>
        </p:nvPicPr>
        <p:blipFill>
          <a:blip r:embed="rId2"/>
          <a:stretch>
            <a:fillRect/>
          </a:stretch>
        </p:blipFill>
        <p:spPr>
          <a:xfrm>
            <a:off x="0" y="0"/>
            <a:ext cx="12191695" cy="6858000"/>
          </a:xfrm>
          <a:prstGeom prst="rect">
            <a:avLst/>
          </a:prstGeom>
        </p:spPr>
      </p:pic>
      <p:pic>
        <p:nvPicPr>
          <p:cNvPr id="4" name="anim-g2-1004" descr="C:\Users\user\projects\younes-training\turath\.pptx-cache\s139-2.jpg">    </p:cNvPr>
          <p:cNvPicPr>
            <a:picLocks noChangeAspect="1"/>
          </p:cNvPicPr>
          <p:nvPr/>
        </p:nvPicPr>
        <p:blipFill>
          <a:blip r:embed="rId3"/>
          <a:stretch>
            <a:fillRect/>
          </a:stretch>
        </p:blipFill>
        <p:spPr>
          <a:xfrm>
            <a:off x="0" y="0"/>
            <a:ext cx="12191695" cy="6858000"/>
          </a:xfrm>
          <a:prstGeom prst="rect">
            <a:avLst/>
          </a:prstGeom>
        </p:spPr>
      </p:pic>
      <p:pic>
        <p:nvPicPr>
          <p:cNvPr id="5" name="anim-g3-1005" descr="C:\Users\user\projects\younes-training\turath\.pptx-cache\s139-3.jpg">    </p:cNvPr>
          <p:cNvPicPr>
            <a:picLocks noChangeAspect="1"/>
          </p:cNvPicPr>
          <p:nvPr/>
        </p:nvPicPr>
        <p:blipFill>
          <a:blip r:embed="rId4"/>
          <a:stretch>
            <a:fillRect/>
          </a:stretch>
        </p:blipFill>
        <p:spPr>
          <a:xfrm>
            <a:off x="0" y="0"/>
            <a:ext cx="12191695" cy="6858000"/>
          </a:xfrm>
          <a:prstGeom prst="rect">
            <a:avLst/>
          </a:prstGeom>
        </p:spPr>
      </p:pic>
      <p:pic>
        <p:nvPicPr>
          <p:cNvPr id="6" name="anim-g4-1006" descr="C:\Users\user\projects\younes-training\turath\.pptx-cache\s139-4.jpg">    </p:cNvPr>
          <p:cNvPicPr>
            <a:picLocks noChangeAspect="1"/>
          </p:cNvPicPr>
          <p:nvPr/>
        </p:nvPicPr>
        <p:blipFill>
          <a:blip r:embed="rId5"/>
          <a:stretch>
            <a:fillRect/>
          </a:stretch>
        </p:blipFill>
        <p:spPr>
          <a:xfrm>
            <a:off x="0" y="0"/>
            <a:ext cx="12191695" cy="6858000"/>
          </a:xfrm>
          <a:prstGeom prst="rect">
            <a:avLst/>
          </a:prstGeom>
        </p:spPr>
      </p:pic>
      <p:pic>
        <p:nvPicPr>
          <p:cNvPr id="7" name="anim-g5-1007" descr="C:\Users\user\projects\younes-training\turath\.pptx-cache\s139-5.jpg">    </p:cNvPr>
          <p:cNvPicPr>
            <a:picLocks noChangeAspect="1"/>
          </p:cNvPicPr>
          <p:nvPr/>
        </p:nvPicPr>
        <p:blipFill>
          <a:blip r:embed="rId6"/>
          <a:stretch>
            <a:fillRect/>
          </a:stretch>
        </p:blipFill>
        <p:spPr>
          <a:xfrm>
            <a:off x="0" y="0"/>
            <a:ext cx="12191695" cy="6858000"/>
          </a:xfrm>
          <a:prstGeom prst="rect">
            <a:avLst/>
          </a:prstGeom>
        </p:spPr>
      </p:pic>
      <p:pic>
        <p:nvPicPr>
          <p:cNvPr id="8" name="anim-g6-1008" descr="C:\Users\user\projects\younes-training\turath\.pptx-cache\s139-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pic>
        <p:nvPicPr>
          <p:cNvPr id="2" name="Image 0" descr="C:\Users\user\projects\younes-training\turath\.pptx-cache\s140-0.jpg">    </p:cNvPr>
          <p:cNvPicPr>
            <a:picLocks noChangeAspect="1"/>
          </p:cNvPicPr>
          <p:nvPr/>
        </p:nvPicPr>
        <p:blipFill>
          <a:blip r:embed="rId1"/>
          <a:stretch>
            <a:fillRect/>
          </a:stretch>
        </p:blipFill>
        <p:spPr>
          <a:xfrm>
            <a:off x="0" y="0"/>
            <a:ext cx="12191695" cy="6858000"/>
          </a:xfrm>
          <a:prstGeom prst="rect">
            <a:avLst/>
          </a:prstGeom>
        </p:spPr>
      </p:pic>
      <p:pic>
        <p:nvPicPr>
          <p:cNvPr id="3" name="anim-g1-1009" descr="C:\Users\user\projects\younes-training\turath\.pptx-cache\s140-1.jpg">    </p:cNvPr>
          <p:cNvPicPr>
            <a:picLocks noChangeAspect="1"/>
          </p:cNvPicPr>
          <p:nvPr/>
        </p:nvPicPr>
        <p:blipFill>
          <a:blip r:embed="rId2"/>
          <a:stretch>
            <a:fillRect/>
          </a:stretch>
        </p:blipFill>
        <p:spPr>
          <a:xfrm>
            <a:off x="0" y="0"/>
            <a:ext cx="12191695" cy="6858000"/>
          </a:xfrm>
          <a:prstGeom prst="rect">
            <a:avLst/>
          </a:prstGeom>
        </p:spPr>
      </p:pic>
      <p:pic>
        <p:nvPicPr>
          <p:cNvPr id="4" name="anim-g2-1010" descr="C:\Users\user\projects\younes-training\turath\.pptx-cache\s140-2.jpg">    </p:cNvPr>
          <p:cNvPicPr>
            <a:picLocks noChangeAspect="1"/>
          </p:cNvPicPr>
          <p:nvPr/>
        </p:nvPicPr>
        <p:blipFill>
          <a:blip r:embed="rId3"/>
          <a:stretch>
            <a:fillRect/>
          </a:stretch>
        </p:blipFill>
        <p:spPr>
          <a:xfrm>
            <a:off x="0" y="0"/>
            <a:ext cx="12191695" cy="6858000"/>
          </a:xfrm>
          <a:prstGeom prst="rect">
            <a:avLst/>
          </a:prstGeom>
        </p:spPr>
      </p:pic>
      <p:pic>
        <p:nvPicPr>
          <p:cNvPr id="5" name="anim-g3-1011" descr="C:\Users\user\projects\younes-training\turath\.pptx-cache\s140-3.jpg">    </p:cNvPr>
          <p:cNvPicPr>
            <a:picLocks noChangeAspect="1"/>
          </p:cNvPicPr>
          <p:nvPr/>
        </p:nvPicPr>
        <p:blipFill>
          <a:blip r:embed="rId4"/>
          <a:stretch>
            <a:fillRect/>
          </a:stretch>
        </p:blipFill>
        <p:spPr>
          <a:xfrm>
            <a:off x="0" y="0"/>
            <a:ext cx="12191695" cy="6858000"/>
          </a:xfrm>
          <a:prstGeom prst="rect">
            <a:avLst/>
          </a:prstGeom>
        </p:spPr>
      </p:pic>
      <p:pic>
        <p:nvPicPr>
          <p:cNvPr id="6" name="anim-g4-1012" descr="C:\Users\user\projects\younes-training\turath\.pptx-cache\s140-4.jpg">    </p:cNvPr>
          <p:cNvPicPr>
            <a:picLocks noChangeAspect="1"/>
          </p:cNvPicPr>
          <p:nvPr/>
        </p:nvPicPr>
        <p:blipFill>
          <a:blip r:embed="rId5"/>
          <a:stretch>
            <a:fillRect/>
          </a:stretch>
        </p:blipFill>
        <p:spPr>
          <a:xfrm>
            <a:off x="0" y="0"/>
            <a:ext cx="12191695" cy="6858000"/>
          </a:xfrm>
          <a:prstGeom prst="rect">
            <a:avLst/>
          </a:prstGeom>
        </p:spPr>
      </p:pic>
      <p:pic>
        <p:nvPicPr>
          <p:cNvPr id="7" name="anim-g5-1013" descr="C:\Users\user\projects\younes-training\turath\.pptx-cache\s140-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pic>
        <p:nvPicPr>
          <p:cNvPr id="2" name="Image 0" descr="C:\Users\user\projects\younes-training\turath\.pptx-cache\s141-0.jpg">    </p:cNvPr>
          <p:cNvPicPr>
            <a:picLocks noChangeAspect="1"/>
          </p:cNvPicPr>
          <p:nvPr/>
        </p:nvPicPr>
        <p:blipFill>
          <a:blip r:embed="rId1"/>
          <a:stretch>
            <a:fillRect/>
          </a:stretch>
        </p:blipFill>
        <p:spPr>
          <a:xfrm>
            <a:off x="0" y="0"/>
            <a:ext cx="12191695" cy="6858000"/>
          </a:xfrm>
          <a:prstGeom prst="rect">
            <a:avLst/>
          </a:prstGeom>
        </p:spPr>
      </p:pic>
      <p:pic>
        <p:nvPicPr>
          <p:cNvPr id="3" name="anim-g1-1014" descr="C:\Users\user\projects\younes-training\turath\.pptx-cache\s141-1.jpg">    </p:cNvPr>
          <p:cNvPicPr>
            <a:picLocks noChangeAspect="1"/>
          </p:cNvPicPr>
          <p:nvPr/>
        </p:nvPicPr>
        <p:blipFill>
          <a:blip r:embed="rId2"/>
          <a:stretch>
            <a:fillRect/>
          </a:stretch>
        </p:blipFill>
        <p:spPr>
          <a:xfrm>
            <a:off x="0" y="0"/>
            <a:ext cx="12191695" cy="6858000"/>
          </a:xfrm>
          <a:prstGeom prst="rect">
            <a:avLst/>
          </a:prstGeom>
        </p:spPr>
      </p:pic>
      <p:pic>
        <p:nvPicPr>
          <p:cNvPr id="4" name="anim-g2-1015" descr="C:\Users\user\projects\younes-training\turath\.pptx-cache\s141-2.jpg">    </p:cNvPr>
          <p:cNvPicPr>
            <a:picLocks noChangeAspect="1"/>
          </p:cNvPicPr>
          <p:nvPr/>
        </p:nvPicPr>
        <p:blipFill>
          <a:blip r:embed="rId3"/>
          <a:stretch>
            <a:fillRect/>
          </a:stretch>
        </p:blipFill>
        <p:spPr>
          <a:xfrm>
            <a:off x="0" y="0"/>
            <a:ext cx="12191695" cy="6858000"/>
          </a:xfrm>
          <a:prstGeom prst="rect">
            <a:avLst/>
          </a:prstGeom>
        </p:spPr>
      </p:pic>
      <p:pic>
        <p:nvPicPr>
          <p:cNvPr id="5" name="anim-g3-1016" descr="C:\Users\user\projects\younes-training\turath\.pptx-cache\s141-3.jpg">    </p:cNvPr>
          <p:cNvPicPr>
            <a:picLocks noChangeAspect="1"/>
          </p:cNvPicPr>
          <p:nvPr/>
        </p:nvPicPr>
        <p:blipFill>
          <a:blip r:embed="rId4"/>
          <a:stretch>
            <a:fillRect/>
          </a:stretch>
        </p:blipFill>
        <p:spPr>
          <a:xfrm>
            <a:off x="0" y="0"/>
            <a:ext cx="12191695" cy="6858000"/>
          </a:xfrm>
          <a:prstGeom prst="rect">
            <a:avLst/>
          </a:prstGeom>
        </p:spPr>
      </p:pic>
      <p:pic>
        <p:nvPicPr>
          <p:cNvPr id="6" name="anim-g4-1017" descr="C:\Users\user\projects\younes-training\turath\.pptx-cache\s141-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pic>
        <p:nvPicPr>
          <p:cNvPr id="2" name="Image 0" descr="C:\Users\user\projects\younes-training\turath\.pptx-cache\s142-0.jpg">    </p:cNvPr>
          <p:cNvPicPr>
            <a:picLocks noChangeAspect="1"/>
          </p:cNvPicPr>
          <p:nvPr/>
        </p:nvPicPr>
        <p:blipFill>
          <a:blip r:embed="rId1"/>
          <a:stretch>
            <a:fillRect/>
          </a:stretch>
        </p:blipFill>
        <p:spPr>
          <a:xfrm>
            <a:off x="0" y="0"/>
            <a:ext cx="12191695" cy="6858000"/>
          </a:xfrm>
          <a:prstGeom prst="rect">
            <a:avLst/>
          </a:prstGeom>
        </p:spPr>
      </p:pic>
      <p:pic>
        <p:nvPicPr>
          <p:cNvPr id="3" name="anim-g1-1018" descr="C:\Users\user\projects\younes-training\turath\.pptx-cache\s142-1.jpg">    </p:cNvPr>
          <p:cNvPicPr>
            <a:picLocks noChangeAspect="1"/>
          </p:cNvPicPr>
          <p:nvPr/>
        </p:nvPicPr>
        <p:blipFill>
          <a:blip r:embed="rId2"/>
          <a:stretch>
            <a:fillRect/>
          </a:stretch>
        </p:blipFill>
        <p:spPr>
          <a:xfrm>
            <a:off x="0" y="0"/>
            <a:ext cx="12191695" cy="6858000"/>
          </a:xfrm>
          <a:prstGeom prst="rect">
            <a:avLst/>
          </a:prstGeom>
        </p:spPr>
      </p:pic>
      <p:pic>
        <p:nvPicPr>
          <p:cNvPr id="4" name="anim-g2-1019" descr="C:\Users\user\projects\younes-training\turath\.pptx-cache\s142-2.jpg">    </p:cNvPr>
          <p:cNvPicPr>
            <a:picLocks noChangeAspect="1"/>
          </p:cNvPicPr>
          <p:nvPr/>
        </p:nvPicPr>
        <p:blipFill>
          <a:blip r:embed="rId3"/>
          <a:stretch>
            <a:fillRect/>
          </a:stretch>
        </p:blipFill>
        <p:spPr>
          <a:xfrm>
            <a:off x="0" y="0"/>
            <a:ext cx="12191695" cy="6858000"/>
          </a:xfrm>
          <a:prstGeom prst="rect">
            <a:avLst/>
          </a:prstGeom>
        </p:spPr>
      </p:pic>
      <p:pic>
        <p:nvPicPr>
          <p:cNvPr id="5" name="anim-g3-1020" descr="C:\Users\user\projects\younes-training\turath\.pptx-cache\s142-3.jpg">    </p:cNvPr>
          <p:cNvPicPr>
            <a:picLocks noChangeAspect="1"/>
          </p:cNvPicPr>
          <p:nvPr/>
        </p:nvPicPr>
        <p:blipFill>
          <a:blip r:embed="rId4"/>
          <a:stretch>
            <a:fillRect/>
          </a:stretch>
        </p:blipFill>
        <p:spPr>
          <a:xfrm>
            <a:off x="0" y="0"/>
            <a:ext cx="12191695" cy="6858000"/>
          </a:xfrm>
          <a:prstGeom prst="rect">
            <a:avLst/>
          </a:prstGeom>
        </p:spPr>
      </p:pic>
      <p:pic>
        <p:nvPicPr>
          <p:cNvPr id="6" name="anim-g4-1021" descr="C:\Users\user\projects\younes-training\turath\.pptx-cache\s14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name="Slide 1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المحطة ترسل لكن السيارة لا تستقبل شيئًا. ما أول ما تفحصه؟</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البطارية</a:t>
            </a:r>
            <a:endParaRPr lang="ar-SA" sz="2500" dirty="0"/>
          </a:p>
        </p:txBody>
      </p:sp>
      <p:sp>
        <p:nvSpPr>
          <p:cNvPr id="9" name="anim-g1-1022"/>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023"/>
          <p:cNvSpPr/>
          <p:nvPr/>
        </p:nvSpPr>
        <p:spPr>
          <a:xfrm>
            <a:off x="10231831" y="2194560"/>
            <a:ext cx="954024" cy="954024"/>
          </a:xfrm>
          <a:prstGeom prst="roundRect">
            <a:avLst>
              <a:gd name="adj" fmla="val 11502"/>
            </a:avLst>
          </a:prstGeom>
          <a:solidFill>
            <a:srgbClr val="A3A9BA"/>
          </a:solidFill>
          <a:ln/>
        </p:spPr>
      </p:sp>
      <p:sp>
        <p:nvSpPr>
          <p:cNvPr id="11" name="anim-g1-1024"/>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025"/>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البطارية</a:t>
            </a:r>
            <a:endParaRPr lang="ar-SA" sz="2400" dirty="0"/>
          </a:p>
        </p:txBody>
      </p:sp>
      <p:sp>
        <p:nvSpPr>
          <p:cNvPr id="13" name="anim-g1-1026"/>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ممكن، لكن السيارة تعمل وتضيء</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عنوان MAC للسيارة في كود المحطة</a:t>
            </a:r>
            <a:endParaRPr lang="ar-SA" sz="2500" dirty="0"/>
          </a:p>
        </p:txBody>
      </p:sp>
      <p:sp>
        <p:nvSpPr>
          <p:cNvPr id="18" name="anim-g1-1027"/>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028"/>
          <p:cNvSpPr/>
          <p:nvPr/>
        </p:nvSpPr>
        <p:spPr>
          <a:xfrm>
            <a:off x="10231831" y="3569208"/>
            <a:ext cx="954024" cy="954024"/>
          </a:xfrm>
          <a:prstGeom prst="roundRect">
            <a:avLst>
              <a:gd name="adj" fmla="val 11502"/>
            </a:avLst>
          </a:prstGeom>
          <a:solidFill>
            <a:srgbClr val="2E9E6B"/>
          </a:solidFill>
          <a:ln/>
        </p:spPr>
      </p:sp>
      <p:sp>
        <p:nvSpPr>
          <p:cNvPr id="20" name="anim-g1-1029"/>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030"/>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عنوان MAC للسيارة في كود المحطة</a:t>
            </a:r>
            <a:endParaRPr lang="ar-SA" sz="2400" dirty="0"/>
          </a:p>
        </p:txBody>
      </p:sp>
      <p:sp>
        <p:nvSpPr>
          <p:cNvPr id="22" name="anim-g1-1031"/>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حرف واحد خطأ في العنوان يكفي لضياع كل الرسائل</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شاشة LCD</a:t>
            </a:r>
            <a:endParaRPr lang="ar-SA" sz="2500" dirty="0"/>
          </a:p>
        </p:txBody>
      </p:sp>
      <p:sp>
        <p:nvSpPr>
          <p:cNvPr id="27" name="anim-g1-1032"/>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033"/>
          <p:cNvSpPr/>
          <p:nvPr/>
        </p:nvSpPr>
        <p:spPr>
          <a:xfrm>
            <a:off x="10231831" y="4943856"/>
            <a:ext cx="954024" cy="954024"/>
          </a:xfrm>
          <a:prstGeom prst="roundRect">
            <a:avLst>
              <a:gd name="adj" fmla="val 11502"/>
            </a:avLst>
          </a:prstGeom>
          <a:solidFill>
            <a:srgbClr val="A3A9BA"/>
          </a:solidFill>
          <a:ln/>
        </p:spPr>
      </p:sp>
      <p:sp>
        <p:nvSpPr>
          <p:cNvPr id="29" name="anim-g1-1034"/>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035"/>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شاشة LCD</a:t>
            </a:r>
            <a:endParaRPr lang="ar-SA" sz="2400" dirty="0"/>
          </a:p>
        </p:txBody>
      </p:sp>
      <p:sp>
        <p:nvSpPr>
          <p:cNvPr id="31" name="anim-g1-1036"/>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الشاشة لا علاقة لها بالإرسال</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ESP-NOW  ·  ١٤٣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pic>
        <p:nvPicPr>
          <p:cNvPr id="2" name="Image 0" descr="C:\Users\user\projects\younes-training\turath\.pptx-cache\s1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ستة أرقام عنوانًا، وصندوق صغير رسالةً: والسيارة تسمع المحطة من آخر الساحة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ESP-NOW  ·  ١٤٥</a:t>
            </a:r>
            <a:endParaRPr lang="ar-SA" sz="12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روبوت يتخذ القرار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نار هنا… وغاز هناك. إلى أين أذهب أولًا؟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القرار  ·  ١٤٦</a:t>
            </a:r>
            <a:endParaRPr lang="ar-SA" sz="12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1037"/>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038"/>
          <p:cNvSpPr/>
          <p:nvPr/>
        </p:nvSpPr>
        <p:spPr>
          <a:xfrm>
            <a:off x="10573207" y="2109978"/>
            <a:ext cx="566928" cy="566928"/>
          </a:xfrm>
          <a:prstGeom prst="ellipse">
            <a:avLst/>
          </a:prstGeom>
          <a:solidFill>
            <a:srgbClr val="D9AE4B"/>
          </a:solidFill>
          <a:ln/>
        </p:spPr>
      </p:sp>
      <p:sp>
        <p:nvSpPr>
          <p:cNvPr id="7" name="anim-g1-1039"/>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040"/>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تفسّر لماذا نحوّل الخطر إلى نسبة</a:t>
            </a:r>
            <a:endParaRPr lang="ar-SA" sz="2400" dirty="0"/>
          </a:p>
        </p:txBody>
      </p:sp>
      <p:sp>
        <p:nvSpPr>
          <p:cNvPr id="9" name="anim-g2-1041"/>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042"/>
          <p:cNvSpPr/>
          <p:nvPr/>
        </p:nvSpPr>
        <p:spPr>
          <a:xfrm>
            <a:off x="10573207" y="3166110"/>
            <a:ext cx="566928" cy="566928"/>
          </a:xfrm>
          <a:prstGeom prst="ellipse">
            <a:avLst/>
          </a:prstGeom>
          <a:solidFill>
            <a:srgbClr val="D9AE4B"/>
          </a:solidFill>
          <a:ln/>
        </p:spPr>
      </p:sp>
      <p:sp>
        <p:nvSpPr>
          <p:cNvPr id="11" name="anim-g2-1043"/>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44"/>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قرار التزامن: الأعلى نسبة أولًا</a:t>
            </a:r>
            <a:endParaRPr lang="ar-SA" sz="2400" dirty="0"/>
          </a:p>
        </p:txBody>
      </p:sp>
      <p:sp>
        <p:nvSpPr>
          <p:cNvPr id="13" name="anim-g3-1045"/>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046"/>
          <p:cNvSpPr/>
          <p:nvPr/>
        </p:nvSpPr>
        <p:spPr>
          <a:xfrm>
            <a:off x="10573207" y="4222242"/>
            <a:ext cx="566928" cy="566928"/>
          </a:xfrm>
          <a:prstGeom prst="ellipse">
            <a:avLst/>
          </a:prstGeom>
          <a:solidFill>
            <a:srgbClr val="D9AE4B"/>
          </a:solidFill>
          <a:ln/>
        </p:spPr>
      </p:sp>
      <p:sp>
        <p:nvSpPr>
          <p:cNvPr id="15" name="anim-g3-1047"/>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048"/>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قرارًا يختار الحدث الأخطر</a:t>
            </a:r>
            <a:endParaRPr lang="ar-SA" sz="2400" dirty="0"/>
          </a:p>
        </p:txBody>
      </p:sp>
      <p:sp>
        <p:nvSpPr>
          <p:cNvPr id="17" name="anim-g4-1049"/>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050"/>
          <p:cNvSpPr/>
          <p:nvPr/>
        </p:nvSpPr>
        <p:spPr>
          <a:xfrm>
            <a:off x="10573207" y="5278374"/>
            <a:ext cx="566928" cy="566928"/>
          </a:xfrm>
          <a:prstGeom prst="ellipse">
            <a:avLst/>
          </a:prstGeom>
          <a:solidFill>
            <a:srgbClr val="D9AE4B"/>
          </a:solidFill>
          <a:ln/>
        </p:spPr>
      </p:sp>
      <p:sp>
        <p:nvSpPr>
          <p:cNvPr id="19" name="anim-g4-1051"/>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052"/>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تناقش أخلاقيات قرار الآلة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القرار  ·  ١٤٧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name="Slide 1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نقاش</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لو كنت أنت قائد فرقة الإطفاء…</a:t>
            </a:r>
            <a:endParaRPr lang="ar-SA" sz="3800" dirty="0"/>
          </a:p>
        </p:txBody>
      </p:sp>
      <p:sp>
        <p:nvSpPr>
          <p:cNvPr id="5" name="anim-g1-1053"/>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54"/>
          <p:cNvSpPr/>
          <p:nvPr/>
        </p:nvSpPr>
        <p:spPr>
          <a:xfrm>
            <a:off x="10527487" y="2267712"/>
            <a:ext cx="566928" cy="566928"/>
          </a:xfrm>
          <a:prstGeom prst="roundRect">
            <a:avLst>
              <a:gd name="adj" fmla="val 32258"/>
            </a:avLst>
          </a:prstGeom>
          <a:solidFill>
            <a:srgbClr val="F7E6BC"/>
          </a:solidFill>
          <a:ln/>
        </p:spPr>
      </p:sp>
      <p:sp>
        <p:nvSpPr>
          <p:cNvPr id="7" name="anim-g1-105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56"/>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لهب صغير</a:t>
            </a:r>
            <a:endParaRPr lang="ar-SA" sz="2200" dirty="0"/>
          </a:p>
        </p:txBody>
      </p:sp>
      <p:sp>
        <p:nvSpPr>
          <p:cNvPr id="9" name="anim-g1-1057"/>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 البرج الغربي، قرب أبواب خشبية قديمة</a:t>
            </a:r>
            <a:endParaRPr lang="ar-SA" sz="1900" dirty="0"/>
          </a:p>
        </p:txBody>
      </p:sp>
      <p:sp>
        <p:nvSpPr>
          <p:cNvPr id="10" name="anim-g2-1058"/>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59"/>
          <p:cNvSpPr/>
          <p:nvPr/>
        </p:nvSpPr>
        <p:spPr>
          <a:xfrm>
            <a:off x="6920789" y="2267712"/>
            <a:ext cx="566928" cy="566928"/>
          </a:xfrm>
          <a:prstGeom prst="roundRect">
            <a:avLst>
              <a:gd name="adj" fmla="val 32258"/>
            </a:avLst>
          </a:prstGeom>
          <a:solidFill>
            <a:srgbClr val="F7E6BC"/>
          </a:solidFill>
          <a:ln/>
        </p:spPr>
      </p:sp>
      <p:sp>
        <p:nvSpPr>
          <p:cNvPr id="12" name="anim-g2-1060"/>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61"/>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غاز كثيف</a:t>
            </a:r>
            <a:endParaRPr lang="ar-SA" sz="2200" dirty="0"/>
          </a:p>
        </p:txBody>
      </p:sp>
      <p:sp>
        <p:nvSpPr>
          <p:cNvPr id="14" name="anim-g2-1062"/>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 مخزن الحطب، القراءة ٣٥٠٠ من ٤٠٩٥</a:t>
            </a:r>
            <a:endParaRPr lang="ar-SA" sz="1900" dirty="0"/>
          </a:p>
        </p:txBody>
      </p:sp>
      <p:sp>
        <p:nvSpPr>
          <p:cNvPr id="15" name="anim-g3-1063"/>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64"/>
          <p:cNvSpPr/>
          <p:nvPr/>
        </p:nvSpPr>
        <p:spPr>
          <a:xfrm>
            <a:off x="3314090" y="2267712"/>
            <a:ext cx="566928" cy="566928"/>
          </a:xfrm>
          <a:prstGeom prst="roundRect">
            <a:avLst>
              <a:gd name="adj" fmla="val 32258"/>
            </a:avLst>
          </a:prstGeom>
          <a:solidFill>
            <a:srgbClr val="F7E6BC"/>
          </a:solidFill>
          <a:ln/>
        </p:spPr>
      </p:sp>
      <p:sp>
        <p:nvSpPr>
          <p:cNvPr id="17" name="anim-g3-1065"/>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66"/>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قرارك؟</a:t>
            </a:r>
            <a:endParaRPr lang="ar-SA" sz="2200" dirty="0"/>
          </a:p>
        </p:txBody>
      </p:sp>
      <p:sp>
        <p:nvSpPr>
          <p:cNvPr id="19" name="anim-g3-1067"/>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إلى أين تذهب أولًا؟ ولماذا؟ وكيف تجعل الروبوت يفكر مثلك؟</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القرار  ·  ١٤٨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name="Slide 1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قاعدة الفريق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نسبتان… وقرار واحد</a:t>
            </a:r>
            <a:endParaRPr lang="ar-SA" sz="3800" dirty="0"/>
          </a:p>
        </p:txBody>
      </p:sp>
      <p:sp>
        <p:nvSpPr>
          <p:cNvPr id="5" name="anim-g1-106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069"/>
          <p:cNvSpPr/>
          <p:nvPr/>
        </p:nvSpPr>
        <p:spPr>
          <a:xfrm>
            <a:off x="10527487" y="2267712"/>
            <a:ext cx="566928" cy="566928"/>
          </a:xfrm>
          <a:prstGeom prst="roundRect">
            <a:avLst>
              <a:gd name="adj" fmla="val 32258"/>
            </a:avLst>
          </a:prstGeom>
          <a:solidFill>
            <a:srgbClr val="F7E6BC"/>
          </a:solidFill>
          <a:ln/>
        </p:spPr>
      </p:sp>
      <p:sp>
        <p:nvSpPr>
          <p:cNvPr id="7" name="anim-g1-107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07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حريق وحده</a:t>
            </a:r>
            <a:endParaRPr lang="ar-SA" sz="2200" dirty="0"/>
          </a:p>
        </p:txBody>
      </p:sp>
      <p:sp>
        <p:nvSpPr>
          <p:cNvPr id="9" name="anim-g1-107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الروبوت الأول يتوجه إليه فورًا، والثاني يبقى حارسًا</a:t>
            </a:r>
            <a:endParaRPr lang="ar-SA" sz="1900" dirty="0"/>
          </a:p>
        </p:txBody>
      </p:sp>
      <p:sp>
        <p:nvSpPr>
          <p:cNvPr id="10" name="anim-g2-107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074"/>
          <p:cNvSpPr/>
          <p:nvPr/>
        </p:nvSpPr>
        <p:spPr>
          <a:xfrm>
            <a:off x="6920789" y="2267712"/>
            <a:ext cx="566928" cy="566928"/>
          </a:xfrm>
          <a:prstGeom prst="roundRect">
            <a:avLst>
              <a:gd name="adj" fmla="val 32258"/>
            </a:avLst>
          </a:prstGeom>
          <a:solidFill>
            <a:srgbClr val="F7E6BC"/>
          </a:solidFill>
          <a:ln/>
        </p:spPr>
      </p:sp>
      <p:sp>
        <p:nvSpPr>
          <p:cNvPr id="12" name="anim-g2-107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07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غاز وحده</a:t>
            </a:r>
            <a:endParaRPr lang="ar-SA" sz="2200" dirty="0"/>
          </a:p>
        </p:txBody>
      </p:sp>
      <p:sp>
        <p:nvSpPr>
          <p:cNvPr id="14" name="anim-g2-107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الروبوت الأول يتوجه إليه فورًا، والثاني يبقى حارسًا</a:t>
            </a:r>
            <a:endParaRPr lang="ar-SA" sz="1900" dirty="0"/>
          </a:p>
        </p:txBody>
      </p:sp>
      <p:sp>
        <p:nvSpPr>
          <p:cNvPr id="15" name="anim-g3-107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079"/>
          <p:cNvSpPr/>
          <p:nvPr/>
        </p:nvSpPr>
        <p:spPr>
          <a:xfrm>
            <a:off x="3314090" y="2267712"/>
            <a:ext cx="566928" cy="566928"/>
          </a:xfrm>
          <a:prstGeom prst="roundRect">
            <a:avLst>
              <a:gd name="adj" fmla="val 32258"/>
            </a:avLst>
          </a:prstGeom>
          <a:solidFill>
            <a:srgbClr val="F7E6BC"/>
          </a:solidFill>
          <a:ln/>
        </p:spPr>
      </p:sp>
      <p:sp>
        <p:nvSpPr>
          <p:cNvPr id="17" name="anim-g3-108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08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الاثنان معًا</a:t>
            </a:r>
            <a:endParaRPr lang="ar-SA" sz="2200" dirty="0"/>
          </a:p>
        </p:txBody>
      </p:sp>
      <p:sp>
        <p:nvSpPr>
          <p:cNvPr id="19" name="anim-g3-108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الأول يقارن النسبتين ويذهب إلى الأخطر، ويبلغ الثاني ليتجه إلى الأقل خطورة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القرار  ·  ١٤٩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pic>
        <p:nvPicPr>
          <p:cNvPr id="2" name="Image 0" descr="C:\Users\user\projects\younes-training\turath\.pptx-cache\s15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pic>
        <p:nvPicPr>
          <p:cNvPr id="2" name="Image 0" descr="C:\Users\user\projects\younes-training\turath\.pptx-cache\s151-0.jpg">    </p:cNvPr>
          <p:cNvPicPr>
            <a:picLocks noChangeAspect="1"/>
          </p:cNvPicPr>
          <p:nvPr/>
        </p:nvPicPr>
        <p:blipFill>
          <a:blip r:embed="rId1"/>
          <a:stretch>
            <a:fillRect/>
          </a:stretch>
        </p:blipFill>
        <p:spPr>
          <a:xfrm>
            <a:off x="0" y="0"/>
            <a:ext cx="12191695" cy="6858000"/>
          </a:xfrm>
          <a:prstGeom prst="rect">
            <a:avLst/>
          </a:prstGeom>
        </p:spPr>
      </p:pic>
      <p:pic>
        <p:nvPicPr>
          <p:cNvPr id="3" name="anim-g1-1083" descr="C:\Users\user\projects\younes-training\turath\.pptx-cache\s151-1.jpg">    </p:cNvPr>
          <p:cNvPicPr>
            <a:picLocks noChangeAspect="1"/>
          </p:cNvPicPr>
          <p:nvPr/>
        </p:nvPicPr>
        <p:blipFill>
          <a:blip r:embed="rId2"/>
          <a:stretch>
            <a:fillRect/>
          </a:stretch>
        </p:blipFill>
        <p:spPr>
          <a:xfrm>
            <a:off x="0" y="0"/>
            <a:ext cx="12191695" cy="6858000"/>
          </a:xfrm>
          <a:prstGeom prst="rect">
            <a:avLst/>
          </a:prstGeom>
        </p:spPr>
      </p:pic>
      <p:pic>
        <p:nvPicPr>
          <p:cNvPr id="4" name="anim-g2-1084" descr="C:\Users\user\projects\younes-training\turath\.pptx-cache\s151-2.jpg">    </p:cNvPr>
          <p:cNvPicPr>
            <a:picLocks noChangeAspect="1"/>
          </p:cNvPicPr>
          <p:nvPr/>
        </p:nvPicPr>
        <p:blipFill>
          <a:blip r:embed="rId3"/>
          <a:stretch>
            <a:fillRect/>
          </a:stretch>
        </p:blipFill>
        <p:spPr>
          <a:xfrm>
            <a:off x="0" y="0"/>
            <a:ext cx="12191695" cy="6858000"/>
          </a:xfrm>
          <a:prstGeom prst="rect">
            <a:avLst/>
          </a:prstGeom>
        </p:spPr>
      </p:pic>
      <p:pic>
        <p:nvPicPr>
          <p:cNvPr id="5" name="anim-g3-1085" descr="C:\Users\user\projects\younes-training\turath\.pptx-cache\s151-3.jpg">    </p:cNvPr>
          <p:cNvPicPr>
            <a:picLocks noChangeAspect="1"/>
          </p:cNvPicPr>
          <p:nvPr/>
        </p:nvPicPr>
        <p:blipFill>
          <a:blip r:embed="rId4"/>
          <a:stretch>
            <a:fillRect/>
          </a:stretch>
        </p:blipFill>
        <p:spPr>
          <a:xfrm>
            <a:off x="0" y="0"/>
            <a:ext cx="12191695" cy="6858000"/>
          </a:xfrm>
          <a:prstGeom prst="rect">
            <a:avLst/>
          </a:prstGeom>
        </p:spPr>
      </p:pic>
      <p:pic>
        <p:nvPicPr>
          <p:cNvPr id="6" name="anim-g4-1086" descr="C:\Users\user\projects\younes-training\turath\.pptx-cache\s151-4.jpg">    </p:cNvPr>
          <p:cNvPicPr>
            <a:picLocks noChangeAspect="1"/>
          </p:cNvPicPr>
          <p:nvPr/>
        </p:nvPicPr>
        <p:blipFill>
          <a:blip r:embed="rId5"/>
          <a:stretch>
            <a:fillRect/>
          </a:stretch>
        </p:blipFill>
        <p:spPr>
          <a:xfrm>
            <a:off x="0" y="0"/>
            <a:ext cx="12191695" cy="6858000"/>
          </a:xfrm>
          <a:prstGeom prst="rect">
            <a:avLst/>
          </a:prstGeom>
        </p:spPr>
      </p:pic>
      <p:pic>
        <p:nvPicPr>
          <p:cNvPr id="7" name="anim-g5-1087" descr="C:\Users\user\projects\younes-training\turath\.pptx-cache\s151-5.jpg">    </p:cNvPr>
          <p:cNvPicPr>
            <a:picLocks noChangeAspect="1"/>
          </p:cNvPicPr>
          <p:nvPr/>
        </p:nvPicPr>
        <p:blipFill>
          <a:blip r:embed="rId6"/>
          <a:stretch>
            <a:fillRect/>
          </a:stretch>
        </p:blipFill>
        <p:spPr>
          <a:xfrm>
            <a:off x="0" y="0"/>
            <a:ext cx="12191695" cy="6858000"/>
          </a:xfrm>
          <a:prstGeom prst="rect">
            <a:avLst/>
          </a:prstGeom>
        </p:spPr>
      </p:pic>
      <p:pic>
        <p:nvPicPr>
          <p:cNvPr id="8" name="anim-g6-1088" descr="C:\Users\user\projects\younes-training\turath\.pptx-cache\s151-6.jpg">    </p:cNvPr>
          <p:cNvPicPr>
            <a:picLocks noChangeAspect="1"/>
          </p:cNvPicPr>
          <p:nvPr/>
        </p:nvPicPr>
        <p:blipFill>
          <a:blip r:embed="rId7"/>
          <a:stretch>
            <a:fillRect/>
          </a:stretch>
        </p:blipFill>
        <p:spPr>
          <a:xfrm>
            <a:off x="0" y="0"/>
            <a:ext cx="12191695" cy="6858000"/>
          </a:xfrm>
          <a:prstGeom prst="rect">
            <a:avLst/>
          </a:prstGeom>
        </p:spPr>
      </p:pic>
      <p:pic>
        <p:nvPicPr>
          <p:cNvPr id="9" name="anim-g7-1089" descr="C:\Users\user\projects\younes-training\turath\.pptx-cache\s151-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pic>
        <p:nvPicPr>
          <p:cNvPr id="2" name="Image 0" descr="C:\Users\user\projects\younes-training\turath\.pptx-cache\s152-0.jpg">    </p:cNvPr>
          <p:cNvPicPr>
            <a:picLocks noChangeAspect="1"/>
          </p:cNvPicPr>
          <p:nvPr/>
        </p:nvPicPr>
        <p:blipFill>
          <a:blip r:embed="rId1"/>
          <a:stretch>
            <a:fillRect/>
          </a:stretch>
        </p:blipFill>
        <p:spPr>
          <a:xfrm>
            <a:off x="0" y="0"/>
            <a:ext cx="12191695" cy="6858000"/>
          </a:xfrm>
          <a:prstGeom prst="rect">
            <a:avLst/>
          </a:prstGeom>
        </p:spPr>
      </p:pic>
      <p:pic>
        <p:nvPicPr>
          <p:cNvPr id="3" name="anim-g1-1090" descr="C:\Users\user\projects\younes-training\turath\.pptx-cache\s152-1.jpg">    </p:cNvPr>
          <p:cNvPicPr>
            <a:picLocks noChangeAspect="1"/>
          </p:cNvPicPr>
          <p:nvPr/>
        </p:nvPicPr>
        <p:blipFill>
          <a:blip r:embed="rId2"/>
          <a:stretch>
            <a:fillRect/>
          </a:stretch>
        </p:blipFill>
        <p:spPr>
          <a:xfrm>
            <a:off x="0" y="0"/>
            <a:ext cx="12191695" cy="6858000"/>
          </a:xfrm>
          <a:prstGeom prst="rect">
            <a:avLst/>
          </a:prstGeom>
        </p:spPr>
      </p:pic>
      <p:pic>
        <p:nvPicPr>
          <p:cNvPr id="4" name="anim-g2-1091" descr="C:\Users\user\projects\younes-training\turath\.pptx-cache\s152-2.jpg">    </p:cNvPr>
          <p:cNvPicPr>
            <a:picLocks noChangeAspect="1"/>
          </p:cNvPicPr>
          <p:nvPr/>
        </p:nvPicPr>
        <p:blipFill>
          <a:blip r:embed="rId3"/>
          <a:stretch>
            <a:fillRect/>
          </a:stretch>
        </p:blipFill>
        <p:spPr>
          <a:xfrm>
            <a:off x="0" y="0"/>
            <a:ext cx="12191695" cy="6858000"/>
          </a:xfrm>
          <a:prstGeom prst="rect">
            <a:avLst/>
          </a:prstGeom>
        </p:spPr>
      </p:pic>
      <p:pic>
        <p:nvPicPr>
          <p:cNvPr id="5" name="anim-g3-1092" descr="C:\Users\user\projects\younes-training\turath\.pptx-cache\s152-3.jpg">    </p:cNvPr>
          <p:cNvPicPr>
            <a:picLocks noChangeAspect="1"/>
          </p:cNvPicPr>
          <p:nvPr/>
        </p:nvPicPr>
        <p:blipFill>
          <a:blip r:embed="rId4"/>
          <a:stretch>
            <a:fillRect/>
          </a:stretch>
        </p:blipFill>
        <p:spPr>
          <a:xfrm>
            <a:off x="0" y="0"/>
            <a:ext cx="12191695" cy="6858000"/>
          </a:xfrm>
          <a:prstGeom prst="rect">
            <a:avLst/>
          </a:prstGeom>
        </p:spPr>
      </p:pic>
      <p:pic>
        <p:nvPicPr>
          <p:cNvPr id="6" name="anim-g4-1093" descr="C:\Users\user\projects\younes-training\turath\.pptx-cache\s15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name="Slide 1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الحريق ٦٠٪ والغاز ٩٠٪ في اللحظة نفسها. ماذا يفعل الروبوتان؟</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الاثنان إلى الحريق لأن النار أخطر دائمًا</a:t>
            </a:r>
            <a:endParaRPr lang="ar-SA" sz="2500" dirty="0"/>
          </a:p>
        </p:txBody>
      </p:sp>
      <p:sp>
        <p:nvSpPr>
          <p:cNvPr id="9" name="anim-g1-1094"/>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095"/>
          <p:cNvSpPr/>
          <p:nvPr/>
        </p:nvSpPr>
        <p:spPr>
          <a:xfrm>
            <a:off x="10231831" y="2194560"/>
            <a:ext cx="954024" cy="954024"/>
          </a:xfrm>
          <a:prstGeom prst="roundRect">
            <a:avLst>
              <a:gd name="adj" fmla="val 11502"/>
            </a:avLst>
          </a:prstGeom>
          <a:solidFill>
            <a:srgbClr val="A3A9BA"/>
          </a:solidFill>
          <a:ln/>
        </p:spPr>
      </p:sp>
      <p:sp>
        <p:nvSpPr>
          <p:cNvPr id="11" name="anim-g1-1096"/>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097"/>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الاثنان إلى الحريق لأن النار أخطر دائمًا</a:t>
            </a:r>
            <a:endParaRPr lang="ar-SA" sz="2400" dirty="0"/>
          </a:p>
        </p:txBody>
      </p:sp>
      <p:sp>
        <p:nvSpPr>
          <p:cNvPr id="13" name="anim-g1-1098"/>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القاعدة تقارن النسبتين، ولا يذهب الاثنان إلى المكان نفسه</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الأول إلى الغاز (الأعلى نسبة)، ويبلغ الثاني ليتجه إلى الحريق</a:t>
            </a:r>
            <a:endParaRPr lang="ar-SA" sz="2500" dirty="0"/>
          </a:p>
        </p:txBody>
      </p:sp>
      <p:sp>
        <p:nvSpPr>
          <p:cNvPr id="18" name="anim-g1-1099"/>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1100"/>
          <p:cNvSpPr/>
          <p:nvPr/>
        </p:nvSpPr>
        <p:spPr>
          <a:xfrm>
            <a:off x="10231831" y="3569208"/>
            <a:ext cx="954024" cy="954024"/>
          </a:xfrm>
          <a:prstGeom prst="roundRect">
            <a:avLst>
              <a:gd name="adj" fmla="val 11502"/>
            </a:avLst>
          </a:prstGeom>
          <a:solidFill>
            <a:srgbClr val="2E9E6B"/>
          </a:solidFill>
          <a:ln/>
        </p:spPr>
      </p:sp>
      <p:sp>
        <p:nvSpPr>
          <p:cNvPr id="20" name="anim-g1-1101"/>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1102"/>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الأول إلى الغاز (الأعلى نسبة)، ويبلغ الثاني ليتجه إلى الحريق</a:t>
            </a:r>
            <a:endParaRPr lang="ar-SA" sz="2400" dirty="0"/>
          </a:p>
        </p:txBody>
      </p:sp>
      <p:sp>
        <p:nvSpPr>
          <p:cNvPr id="22" name="anim-g1-1103"/>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الأخطر للأول، والأقل للثاني… في اللحظة نفسها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الأول إلى الغاز، والثاني ينتظر حتى ينتهي</a:t>
            </a:r>
            <a:endParaRPr lang="ar-SA" sz="2500" dirty="0"/>
          </a:p>
        </p:txBody>
      </p:sp>
      <p:sp>
        <p:nvSpPr>
          <p:cNvPr id="27" name="anim-g1-1104"/>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1105"/>
          <p:cNvSpPr/>
          <p:nvPr/>
        </p:nvSpPr>
        <p:spPr>
          <a:xfrm>
            <a:off x="10231831" y="4943856"/>
            <a:ext cx="954024" cy="954024"/>
          </a:xfrm>
          <a:prstGeom prst="roundRect">
            <a:avLst>
              <a:gd name="adj" fmla="val 11502"/>
            </a:avLst>
          </a:prstGeom>
          <a:solidFill>
            <a:srgbClr val="A3A9BA"/>
          </a:solidFill>
          <a:ln/>
        </p:spPr>
      </p:sp>
      <p:sp>
        <p:nvSpPr>
          <p:cNvPr id="29" name="anim-g1-1106"/>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1107"/>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الأول إلى الغاز، والثاني ينتظر حتى ينتهي</a:t>
            </a:r>
            <a:endParaRPr lang="ar-SA" sz="2400" dirty="0"/>
          </a:p>
        </p:txBody>
      </p:sp>
      <p:sp>
        <p:nvSpPr>
          <p:cNvPr id="31" name="anim-g1-1108"/>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الانتظار يضيّع وقتًا ثمينًا: لهذا عندنا روبوت ثانٍ</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القرار  ·  ١٥٣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pic>
        <p:nvPicPr>
          <p:cNvPr id="2" name="Image 0" descr="C:\Users\user\projects\younes-training\turath\.pptx-cache\s15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الروبوت لا يملك حكمة…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نحن نعطيه قاعدتنا بالأرقام، وهو ينفذها أسرع منا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القرار  ·  ١٥٥</a:t>
            </a:r>
            <a:endParaRPr lang="ar-SA" sz="12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من الإنذار… إلى الإطفاء</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كيف تصل السيارة؟ ثم المهمة كاملة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المهمة الكاملة  ·  ١٥٦</a:t>
            </a:r>
            <a:endParaRPr lang="ar-SA" sz="12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1109"/>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110"/>
          <p:cNvSpPr/>
          <p:nvPr/>
        </p:nvSpPr>
        <p:spPr>
          <a:xfrm>
            <a:off x="10573207" y="2109978"/>
            <a:ext cx="566928" cy="566928"/>
          </a:xfrm>
          <a:prstGeom prst="ellipse">
            <a:avLst/>
          </a:prstGeom>
          <a:solidFill>
            <a:srgbClr val="D9AE4B"/>
          </a:solidFill>
          <a:ln/>
        </p:spPr>
      </p:sp>
      <p:sp>
        <p:nvSpPr>
          <p:cNvPr id="7" name="anim-g1-1111"/>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112"/>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تصمم ساحة بخطوط تقود إلى كل منطقة</a:t>
            </a:r>
            <a:endParaRPr lang="ar-SA" sz="2400" dirty="0"/>
          </a:p>
        </p:txBody>
      </p:sp>
      <p:sp>
        <p:nvSpPr>
          <p:cNvPr id="9" name="anim-g2-1113"/>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114"/>
          <p:cNvSpPr/>
          <p:nvPr/>
        </p:nvSpPr>
        <p:spPr>
          <a:xfrm>
            <a:off x="10573207" y="3166110"/>
            <a:ext cx="566928" cy="566928"/>
          </a:xfrm>
          <a:prstGeom prst="ellipse">
            <a:avLst/>
          </a:prstGeom>
          <a:solidFill>
            <a:srgbClr val="D9AE4B"/>
          </a:solidFill>
          <a:ln/>
        </p:spPr>
      </p:sp>
      <p:sp>
        <p:nvSpPr>
          <p:cNvPr id="11" name="anim-g2-1115"/>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116"/>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تكتشف التقاطع بحساسي الخط معًا</a:t>
            </a:r>
            <a:endParaRPr lang="ar-SA" sz="2400" dirty="0"/>
          </a:p>
        </p:txBody>
      </p:sp>
      <p:sp>
        <p:nvSpPr>
          <p:cNvPr id="13" name="anim-g3-1117"/>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118"/>
          <p:cNvSpPr/>
          <p:nvPr/>
        </p:nvSpPr>
        <p:spPr>
          <a:xfrm>
            <a:off x="10573207" y="4222242"/>
            <a:ext cx="566928" cy="566928"/>
          </a:xfrm>
          <a:prstGeom prst="ellipse">
            <a:avLst/>
          </a:prstGeom>
          <a:solidFill>
            <a:srgbClr val="D9AE4B"/>
          </a:solidFill>
          <a:ln/>
        </p:spPr>
      </p:sp>
      <p:sp>
        <p:nvSpPr>
          <p:cNvPr id="15" name="anim-g3-1119"/>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120"/>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تختار اليمين أو اليسار حسب المنطقة</a:t>
            </a:r>
            <a:endParaRPr lang="ar-SA" sz="2400" dirty="0"/>
          </a:p>
        </p:txBody>
      </p:sp>
      <p:sp>
        <p:nvSpPr>
          <p:cNvPr id="17" name="anim-g4-1121"/>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122"/>
          <p:cNvSpPr/>
          <p:nvPr/>
        </p:nvSpPr>
        <p:spPr>
          <a:xfrm>
            <a:off x="10573207" y="5278374"/>
            <a:ext cx="566928" cy="566928"/>
          </a:xfrm>
          <a:prstGeom prst="ellipse">
            <a:avLst/>
          </a:prstGeom>
          <a:solidFill>
            <a:srgbClr val="D9AE4B"/>
          </a:solidFill>
          <a:ln/>
        </p:spPr>
      </p:sp>
      <p:sp>
        <p:nvSpPr>
          <p:cNvPr id="19" name="anim-g4-1123"/>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124"/>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تعود إلى نقطة الانطلاق بعد المهمة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المهمة الكاملة  ·  ١٥٧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name="Slide 1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خط؟</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طرق ليصل الروبوت</a:t>
            </a:r>
            <a:endParaRPr lang="ar-SA" sz="3800" dirty="0"/>
          </a:p>
        </p:txBody>
      </p:sp>
      <p:sp>
        <p:nvSpPr>
          <p:cNvPr id="5" name="anim-g1-1125"/>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26"/>
          <p:cNvSpPr/>
          <p:nvPr/>
        </p:nvSpPr>
        <p:spPr>
          <a:xfrm>
            <a:off x="10527487" y="2267712"/>
            <a:ext cx="566928" cy="566928"/>
          </a:xfrm>
          <a:prstGeom prst="roundRect">
            <a:avLst>
              <a:gd name="adj" fmla="val 32258"/>
            </a:avLst>
          </a:prstGeom>
          <a:solidFill>
            <a:srgbClr val="F7E6BC"/>
          </a:solidFill>
          <a:ln/>
        </p:spPr>
      </p:sp>
      <p:sp>
        <p:nvSpPr>
          <p:cNvPr id="7" name="anim-g1-1127"/>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28"/>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بالوقت</a:t>
            </a:r>
            <a:endParaRPr lang="ar-SA" sz="2200" dirty="0"/>
          </a:p>
        </p:txBody>
      </p:sp>
      <p:sp>
        <p:nvSpPr>
          <p:cNvPr id="9" name="anim-g1-1129"/>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«امشِ ٣ ثوانٍ ثم استدر»: بسيط لكن يخطئ مع ضعف البطارية</a:t>
            </a:r>
            <a:endParaRPr lang="ar-SA" sz="1900" dirty="0"/>
          </a:p>
        </p:txBody>
      </p:sp>
      <p:sp>
        <p:nvSpPr>
          <p:cNvPr id="10" name="anim-g2-1130"/>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31"/>
          <p:cNvSpPr/>
          <p:nvPr/>
        </p:nvSpPr>
        <p:spPr>
          <a:xfrm>
            <a:off x="6920789" y="2267712"/>
            <a:ext cx="566928" cy="566928"/>
          </a:xfrm>
          <a:prstGeom prst="roundRect">
            <a:avLst>
              <a:gd name="adj" fmla="val 32258"/>
            </a:avLst>
          </a:prstGeom>
          <a:solidFill>
            <a:srgbClr val="F7E6BC"/>
          </a:solidFill>
          <a:ln/>
        </p:spPr>
      </p:sp>
      <p:sp>
        <p:nvSpPr>
          <p:cNvPr id="12" name="anim-g2-1132"/>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33"/>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بالخط</a:t>
            </a:r>
            <a:endParaRPr lang="ar-SA" sz="2200" dirty="0"/>
          </a:p>
        </p:txBody>
      </p:sp>
      <p:sp>
        <p:nvSpPr>
          <p:cNvPr id="14" name="anim-g2-1134"/>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خط أسود على أرض فاتحة: دقيق ورخيص ومناسب للنموذج</a:t>
            </a:r>
            <a:endParaRPr lang="ar-SA" sz="1900" dirty="0"/>
          </a:p>
        </p:txBody>
      </p:sp>
      <p:sp>
        <p:nvSpPr>
          <p:cNvPr id="15" name="anim-g3-1135"/>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36"/>
          <p:cNvSpPr/>
          <p:nvPr/>
        </p:nvSpPr>
        <p:spPr>
          <a:xfrm>
            <a:off x="3314090" y="2267712"/>
            <a:ext cx="566928" cy="566928"/>
          </a:xfrm>
          <a:prstGeom prst="roundRect">
            <a:avLst>
              <a:gd name="adj" fmla="val 32258"/>
            </a:avLst>
          </a:prstGeom>
          <a:solidFill>
            <a:srgbClr val="F7E6BC"/>
          </a:solidFill>
          <a:ln/>
        </p:spPr>
      </p:sp>
      <p:sp>
        <p:nvSpPr>
          <p:cNvPr id="17" name="anim-g3-1137"/>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38"/>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بالخريطة والحساسات</a:t>
            </a:r>
            <a:endParaRPr lang="ar-SA" sz="2200" dirty="0"/>
          </a:p>
        </p:txBody>
      </p:sp>
      <p:sp>
        <p:nvSpPr>
          <p:cNvPr id="19" name="anim-g3-1139"/>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كما في السيارات الذاتية: متقدم ومكلف</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المهمة الكاملة  ·  ١٥٨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name="Slide 1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حساسا الخط</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أربع قراءات… أربعة معانٍ</a:t>
            </a:r>
            <a:endParaRPr lang="ar-SA" sz="3800" dirty="0"/>
          </a:p>
        </p:txBody>
      </p:sp>
      <p:sp>
        <p:nvSpPr>
          <p:cNvPr id="5" name="anim-g1-1140"/>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41"/>
          <p:cNvSpPr/>
          <p:nvPr/>
        </p:nvSpPr>
        <p:spPr>
          <a:xfrm>
            <a:off x="10527487" y="2267712"/>
            <a:ext cx="566928" cy="566928"/>
          </a:xfrm>
          <a:prstGeom prst="roundRect">
            <a:avLst>
              <a:gd name="adj" fmla="val 32258"/>
            </a:avLst>
          </a:prstGeom>
          <a:solidFill>
            <a:srgbClr val="F7E6BC"/>
          </a:solidFill>
          <a:ln/>
        </p:spPr>
      </p:sp>
      <p:sp>
        <p:nvSpPr>
          <p:cNvPr id="7" name="anim-g1-114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43"/>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0 0: الخط بينهما</a:t>
            </a:r>
            <a:endParaRPr lang="ar-SA" sz="2200" dirty="0"/>
          </a:p>
        </p:txBody>
      </p:sp>
      <p:sp>
        <p:nvSpPr>
          <p:cNvPr id="9" name="anim-g1-1144"/>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تقدّم للأمام</a:t>
            </a:r>
            <a:endParaRPr lang="ar-SA" sz="1900" dirty="0"/>
          </a:p>
        </p:txBody>
      </p:sp>
      <p:sp>
        <p:nvSpPr>
          <p:cNvPr id="10" name="anim-g2-1145"/>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46"/>
          <p:cNvSpPr/>
          <p:nvPr/>
        </p:nvSpPr>
        <p:spPr>
          <a:xfrm>
            <a:off x="5117440" y="2267712"/>
            <a:ext cx="566928" cy="566928"/>
          </a:xfrm>
          <a:prstGeom prst="roundRect">
            <a:avLst>
              <a:gd name="adj" fmla="val 32258"/>
            </a:avLst>
          </a:prstGeom>
          <a:solidFill>
            <a:srgbClr val="F7E6BC"/>
          </a:solidFill>
          <a:ln/>
        </p:spPr>
      </p:sp>
      <p:sp>
        <p:nvSpPr>
          <p:cNvPr id="12" name="anim-g2-1147"/>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48"/>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1 0: الخط تحت الأيسر</a:t>
            </a:r>
            <a:endParaRPr lang="ar-SA" sz="2200" dirty="0"/>
          </a:p>
        </p:txBody>
      </p:sp>
      <p:sp>
        <p:nvSpPr>
          <p:cNvPr id="14" name="anim-g2-1149"/>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انحرف يسارًا لتعود</a:t>
            </a:r>
            <a:endParaRPr lang="ar-SA" sz="1900" dirty="0"/>
          </a:p>
        </p:txBody>
      </p:sp>
      <p:sp>
        <p:nvSpPr>
          <p:cNvPr id="15" name="anim-g3-1150"/>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51"/>
          <p:cNvSpPr/>
          <p:nvPr/>
        </p:nvSpPr>
        <p:spPr>
          <a:xfrm>
            <a:off x="10527487" y="4393692"/>
            <a:ext cx="566928" cy="566928"/>
          </a:xfrm>
          <a:prstGeom prst="roundRect">
            <a:avLst>
              <a:gd name="adj" fmla="val 32258"/>
            </a:avLst>
          </a:prstGeom>
          <a:solidFill>
            <a:srgbClr val="F7E6BC"/>
          </a:solidFill>
          <a:ln/>
        </p:spPr>
      </p:sp>
      <p:sp>
        <p:nvSpPr>
          <p:cNvPr id="17" name="anim-g3-1152"/>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53"/>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0 1: الخط تحت الأيمن</a:t>
            </a:r>
            <a:endParaRPr lang="ar-SA" sz="2200" dirty="0"/>
          </a:p>
        </p:txBody>
      </p:sp>
      <p:sp>
        <p:nvSpPr>
          <p:cNvPr id="19" name="anim-g3-1154"/>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انحرف يمينًا لتعود</a:t>
            </a:r>
            <a:endParaRPr lang="ar-SA" sz="1900" dirty="0"/>
          </a:p>
        </p:txBody>
      </p:sp>
      <p:sp>
        <p:nvSpPr>
          <p:cNvPr id="20" name="anim-g4-1155"/>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156"/>
          <p:cNvSpPr/>
          <p:nvPr/>
        </p:nvSpPr>
        <p:spPr>
          <a:xfrm>
            <a:off x="5117440" y="4393692"/>
            <a:ext cx="566928" cy="566928"/>
          </a:xfrm>
          <a:prstGeom prst="roundRect">
            <a:avLst>
              <a:gd name="adj" fmla="val 32258"/>
            </a:avLst>
          </a:prstGeom>
          <a:solidFill>
            <a:srgbClr val="F7E6BC"/>
          </a:solidFill>
          <a:ln/>
        </p:spPr>
      </p:sp>
      <p:sp>
        <p:nvSpPr>
          <p:cNvPr id="22" name="anim-g4-1157"/>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158"/>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1 1: الاثنان على الأسود</a:t>
            </a:r>
            <a:endParaRPr lang="ar-SA" sz="2200" dirty="0"/>
          </a:p>
        </p:txBody>
      </p:sp>
      <p:sp>
        <p:nvSpPr>
          <p:cNvPr id="24" name="anim-g4-1159"/>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تقاطع! حان وقت القرار</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المهمة الكاملة  ·  ١٥٩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pic>
        <p:nvPicPr>
          <p:cNvPr id="2" name="Image 0" descr="C:\Users\user\projects\younes-training\turath\.pptx-cache\s16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pic>
        <p:nvPicPr>
          <p:cNvPr id="2" name="Image 0" descr="C:\Users\user\projects\younes-training\turath\.pptx-cache\s161-0.jpg">    </p:cNvPr>
          <p:cNvPicPr>
            <a:picLocks noChangeAspect="1"/>
          </p:cNvPicPr>
          <p:nvPr/>
        </p:nvPicPr>
        <p:blipFill>
          <a:blip r:embed="rId1"/>
          <a:stretch>
            <a:fillRect/>
          </a:stretch>
        </p:blipFill>
        <p:spPr>
          <a:xfrm>
            <a:off x="0" y="0"/>
            <a:ext cx="12191695" cy="6858000"/>
          </a:xfrm>
          <a:prstGeom prst="rect">
            <a:avLst/>
          </a:prstGeom>
        </p:spPr>
      </p:pic>
      <p:pic>
        <p:nvPicPr>
          <p:cNvPr id="3" name="anim-g1-1160" descr="C:\Users\user\projects\younes-training\turath\.pptx-cache\s161-1.jpg">    </p:cNvPr>
          <p:cNvPicPr>
            <a:picLocks noChangeAspect="1"/>
          </p:cNvPicPr>
          <p:nvPr/>
        </p:nvPicPr>
        <p:blipFill>
          <a:blip r:embed="rId2"/>
          <a:stretch>
            <a:fillRect/>
          </a:stretch>
        </p:blipFill>
        <p:spPr>
          <a:xfrm>
            <a:off x="0" y="0"/>
            <a:ext cx="12191695" cy="6858000"/>
          </a:xfrm>
          <a:prstGeom prst="rect">
            <a:avLst/>
          </a:prstGeom>
        </p:spPr>
      </p:pic>
      <p:pic>
        <p:nvPicPr>
          <p:cNvPr id="4" name="anim-g2-1161" descr="C:\Users\user\projects\younes-training\turath\.pptx-cache\s161-2.jpg">    </p:cNvPr>
          <p:cNvPicPr>
            <a:picLocks noChangeAspect="1"/>
          </p:cNvPicPr>
          <p:nvPr/>
        </p:nvPicPr>
        <p:blipFill>
          <a:blip r:embed="rId3"/>
          <a:stretch>
            <a:fillRect/>
          </a:stretch>
        </p:blipFill>
        <p:spPr>
          <a:xfrm>
            <a:off x="0" y="0"/>
            <a:ext cx="12191695" cy="6858000"/>
          </a:xfrm>
          <a:prstGeom prst="rect">
            <a:avLst/>
          </a:prstGeom>
        </p:spPr>
      </p:pic>
      <p:pic>
        <p:nvPicPr>
          <p:cNvPr id="5" name="anim-g3-1162" descr="C:\Users\user\projects\younes-training\turath\.pptx-cache\s161-3.jpg">    </p:cNvPr>
          <p:cNvPicPr>
            <a:picLocks noChangeAspect="1"/>
          </p:cNvPicPr>
          <p:nvPr/>
        </p:nvPicPr>
        <p:blipFill>
          <a:blip r:embed="rId4"/>
          <a:stretch>
            <a:fillRect/>
          </a:stretch>
        </p:blipFill>
        <p:spPr>
          <a:xfrm>
            <a:off x="0" y="0"/>
            <a:ext cx="12191695" cy="6858000"/>
          </a:xfrm>
          <a:prstGeom prst="rect">
            <a:avLst/>
          </a:prstGeom>
        </p:spPr>
      </p:pic>
      <p:pic>
        <p:nvPicPr>
          <p:cNvPr id="6" name="anim-g4-1163" descr="C:\Users\user\projects\younes-training\turath\.pptx-cache\s161-4.jpg">    </p:cNvPr>
          <p:cNvPicPr>
            <a:picLocks noChangeAspect="1"/>
          </p:cNvPicPr>
          <p:nvPr/>
        </p:nvPicPr>
        <p:blipFill>
          <a:blip r:embed="rId5"/>
          <a:stretch>
            <a:fillRect/>
          </a:stretch>
        </p:blipFill>
        <p:spPr>
          <a:xfrm>
            <a:off x="0" y="0"/>
            <a:ext cx="12191695" cy="6858000"/>
          </a:xfrm>
          <a:prstGeom prst="rect">
            <a:avLst/>
          </a:prstGeom>
        </p:spPr>
      </p:pic>
      <p:pic>
        <p:nvPicPr>
          <p:cNvPr id="7" name="anim-g5-1164" descr="C:\Users\user\projects\younes-training\turath\.pptx-cache\s161-5.jpg">    </p:cNvPr>
          <p:cNvPicPr>
            <a:picLocks noChangeAspect="1"/>
          </p:cNvPicPr>
          <p:nvPr/>
        </p:nvPicPr>
        <p:blipFill>
          <a:blip r:embed="rId6"/>
          <a:stretch>
            <a:fillRect/>
          </a:stretch>
        </p:blipFill>
        <p:spPr>
          <a:xfrm>
            <a:off x="0" y="0"/>
            <a:ext cx="12191695" cy="6858000"/>
          </a:xfrm>
          <a:prstGeom prst="rect">
            <a:avLst/>
          </a:prstGeom>
        </p:spPr>
      </p:pic>
      <p:pic>
        <p:nvPicPr>
          <p:cNvPr id="8" name="anim-g6-1165" descr="C:\Users\user\projects\younes-training\turath\.pptx-cache\s161-6.jpg">    </p:cNvPr>
          <p:cNvPicPr>
            <a:picLocks noChangeAspect="1"/>
          </p:cNvPicPr>
          <p:nvPr/>
        </p:nvPicPr>
        <p:blipFill>
          <a:blip r:embed="rId7"/>
          <a:stretch>
            <a:fillRect/>
          </a:stretch>
        </p:blipFill>
        <p:spPr>
          <a:xfrm>
            <a:off x="0" y="0"/>
            <a:ext cx="12191695" cy="6858000"/>
          </a:xfrm>
          <a:prstGeom prst="rect">
            <a:avLst/>
          </a:prstGeom>
        </p:spPr>
      </p:pic>
      <p:pic>
        <p:nvPicPr>
          <p:cNvPr id="9" name="anim-g7-1166" descr="C:\Users\user\projects\younes-training\turath\.pptx-cache\s161-7.jpg">    </p:cNvPr>
          <p:cNvPicPr>
            <a:picLocks noChangeAspect="1"/>
          </p:cNvPicPr>
          <p:nvPr/>
        </p:nvPicPr>
        <p:blipFill>
          <a:blip r:embed="rId8"/>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pic>
        <p:nvPicPr>
          <p:cNvPr id="2" name="Image 0" descr="C:\Users\user\projects\younes-training\turath\.pptx-cache\s162-0.jpg">    </p:cNvPr>
          <p:cNvPicPr>
            <a:picLocks noChangeAspect="1"/>
          </p:cNvPicPr>
          <p:nvPr/>
        </p:nvPicPr>
        <p:blipFill>
          <a:blip r:embed="rId1"/>
          <a:stretch>
            <a:fillRect/>
          </a:stretch>
        </p:blipFill>
        <p:spPr>
          <a:xfrm>
            <a:off x="0" y="0"/>
            <a:ext cx="12191695" cy="6858000"/>
          </a:xfrm>
          <a:prstGeom prst="rect">
            <a:avLst/>
          </a:prstGeom>
        </p:spPr>
      </p:pic>
      <p:pic>
        <p:nvPicPr>
          <p:cNvPr id="3" name="anim-g1-1167" descr="C:\Users\user\projects\younes-training\turath\.pptx-cache\s162-1.jpg">    </p:cNvPr>
          <p:cNvPicPr>
            <a:picLocks noChangeAspect="1"/>
          </p:cNvPicPr>
          <p:nvPr/>
        </p:nvPicPr>
        <p:blipFill>
          <a:blip r:embed="rId2"/>
          <a:stretch>
            <a:fillRect/>
          </a:stretch>
        </p:blipFill>
        <p:spPr>
          <a:xfrm>
            <a:off x="0" y="0"/>
            <a:ext cx="12191695" cy="6858000"/>
          </a:xfrm>
          <a:prstGeom prst="rect">
            <a:avLst/>
          </a:prstGeom>
        </p:spPr>
      </p:pic>
      <p:pic>
        <p:nvPicPr>
          <p:cNvPr id="4" name="anim-g2-1168" descr="C:\Users\user\projects\younes-training\turath\.pptx-cache\s162-2.jpg">    </p:cNvPr>
          <p:cNvPicPr>
            <a:picLocks noChangeAspect="1"/>
          </p:cNvPicPr>
          <p:nvPr/>
        </p:nvPicPr>
        <p:blipFill>
          <a:blip r:embed="rId3"/>
          <a:stretch>
            <a:fillRect/>
          </a:stretch>
        </p:blipFill>
        <p:spPr>
          <a:xfrm>
            <a:off x="0" y="0"/>
            <a:ext cx="12191695" cy="6858000"/>
          </a:xfrm>
          <a:prstGeom prst="rect">
            <a:avLst/>
          </a:prstGeom>
        </p:spPr>
      </p:pic>
      <p:pic>
        <p:nvPicPr>
          <p:cNvPr id="5" name="anim-g3-1169" descr="C:\Users\user\projects\younes-training\turath\.pptx-cache\s162-3.jpg">    </p:cNvPr>
          <p:cNvPicPr>
            <a:picLocks noChangeAspect="1"/>
          </p:cNvPicPr>
          <p:nvPr/>
        </p:nvPicPr>
        <p:blipFill>
          <a:blip r:embed="rId4"/>
          <a:stretch>
            <a:fillRect/>
          </a:stretch>
        </p:blipFill>
        <p:spPr>
          <a:xfrm>
            <a:off x="0" y="0"/>
            <a:ext cx="12191695" cy="6858000"/>
          </a:xfrm>
          <a:prstGeom prst="rect">
            <a:avLst/>
          </a:prstGeom>
        </p:spPr>
      </p:pic>
      <p:pic>
        <p:nvPicPr>
          <p:cNvPr id="6" name="anim-g4-1170" descr="C:\Users\user\projects\younes-training\turath\.pptx-cache\s16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pic>
        <p:nvPicPr>
          <p:cNvPr id="2" name="Image 0" descr="C:\Users\user\projects\younes-training\turath\.pptx-cache\s16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خط أسود، وتقاطع واحد، وسؤال واحد: يمينًا أم يسارًا؟ والقرار جاء من المحطة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المهمة الكاملة  ·  ١٦٤</a:t>
            </a:r>
            <a:endParaRPr lang="ar-SA" sz="12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pic>
        <p:nvPicPr>
          <p:cNvPr id="2" name="Image 0" descr="C:\Users\user\projects\younes-training\turath\.pptx-cache\s16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pic>
        <p:nvPicPr>
          <p:cNvPr id="2" name="Image 0" descr="C:\Users\user\projects\younes-training\turath\.pptx-cache\s16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pic>
        <p:nvPicPr>
          <p:cNvPr id="2" name="Image 0" descr="C:\Users\user\projects\younes-training\turath\.pptx-cache\s167-0.jpg">    </p:cNvPr>
          <p:cNvPicPr>
            <a:picLocks noChangeAspect="1"/>
          </p:cNvPicPr>
          <p:nvPr/>
        </p:nvPicPr>
        <p:blipFill>
          <a:blip r:embed="rId1"/>
          <a:stretch>
            <a:fillRect/>
          </a:stretch>
        </p:blipFill>
        <p:spPr>
          <a:xfrm>
            <a:off x="0" y="0"/>
            <a:ext cx="12191695" cy="6858000"/>
          </a:xfrm>
          <a:prstGeom prst="rect">
            <a:avLst/>
          </a:prstGeom>
        </p:spPr>
      </p:pic>
      <p:pic>
        <p:nvPicPr>
          <p:cNvPr id="3" name="anim-g1-1171" descr="C:\Users\user\projects\younes-training\turath\.pptx-cache\s167-1.jpg">    </p:cNvPr>
          <p:cNvPicPr>
            <a:picLocks noChangeAspect="1"/>
          </p:cNvPicPr>
          <p:nvPr/>
        </p:nvPicPr>
        <p:blipFill>
          <a:blip r:embed="rId2"/>
          <a:stretch>
            <a:fillRect/>
          </a:stretch>
        </p:blipFill>
        <p:spPr>
          <a:xfrm>
            <a:off x="0" y="0"/>
            <a:ext cx="12191695" cy="6858000"/>
          </a:xfrm>
          <a:prstGeom prst="rect">
            <a:avLst/>
          </a:prstGeom>
        </p:spPr>
      </p:pic>
      <p:pic>
        <p:nvPicPr>
          <p:cNvPr id="4" name="anim-g2-1172" descr="C:\Users\user\projects\younes-training\turath\.pptx-cache\s167-2.jpg">    </p:cNvPr>
          <p:cNvPicPr>
            <a:picLocks noChangeAspect="1"/>
          </p:cNvPicPr>
          <p:nvPr/>
        </p:nvPicPr>
        <p:blipFill>
          <a:blip r:embed="rId3"/>
          <a:stretch>
            <a:fillRect/>
          </a:stretch>
        </p:blipFill>
        <p:spPr>
          <a:xfrm>
            <a:off x="0" y="0"/>
            <a:ext cx="12191695" cy="6858000"/>
          </a:xfrm>
          <a:prstGeom prst="rect">
            <a:avLst/>
          </a:prstGeom>
        </p:spPr>
      </p:pic>
      <p:pic>
        <p:nvPicPr>
          <p:cNvPr id="5" name="anim-g3-1173" descr="C:\Users\user\projects\younes-training\turath\.pptx-cache\s167-3.jpg">    </p:cNvPr>
          <p:cNvPicPr>
            <a:picLocks noChangeAspect="1"/>
          </p:cNvPicPr>
          <p:nvPr/>
        </p:nvPicPr>
        <p:blipFill>
          <a:blip r:embed="rId4"/>
          <a:stretch>
            <a:fillRect/>
          </a:stretch>
        </p:blipFill>
        <p:spPr>
          <a:xfrm>
            <a:off x="0" y="0"/>
            <a:ext cx="12191695" cy="6858000"/>
          </a:xfrm>
          <a:prstGeom prst="rect">
            <a:avLst/>
          </a:prstGeom>
        </p:spPr>
      </p:pic>
      <p:pic>
        <p:nvPicPr>
          <p:cNvPr id="6" name="anim-g4-1174" descr="C:\Users\user\projects\younes-training\turath\.pptx-cache\s167-4.jpg">    </p:cNvPr>
          <p:cNvPicPr>
            <a:picLocks noChangeAspect="1"/>
          </p:cNvPicPr>
          <p:nvPr/>
        </p:nvPicPr>
        <p:blipFill>
          <a:blip r:embed="rId5"/>
          <a:stretch>
            <a:fillRect/>
          </a:stretch>
        </p:blipFill>
        <p:spPr>
          <a:xfrm>
            <a:off x="0" y="0"/>
            <a:ext cx="12191695" cy="6858000"/>
          </a:xfrm>
          <a:prstGeom prst="rect">
            <a:avLst/>
          </a:prstGeom>
        </p:spPr>
      </p:pic>
      <p:pic>
        <p:nvPicPr>
          <p:cNvPr id="7" name="anim-g5-1175" descr="C:\Users\user\projects\younes-training\turath\.pptx-cache\s167-5.jpg">    </p:cNvPr>
          <p:cNvPicPr>
            <a:picLocks noChangeAspect="1"/>
          </p:cNvPicPr>
          <p:nvPr/>
        </p:nvPicPr>
        <p:blipFill>
          <a:blip r:embed="rId6"/>
          <a:stretch>
            <a:fillRect/>
          </a:stretch>
        </p:blipFill>
        <p:spPr>
          <a:xfrm>
            <a:off x="0" y="0"/>
            <a:ext cx="12191695" cy="6858000"/>
          </a:xfrm>
          <a:prstGeom prst="rect">
            <a:avLst/>
          </a:prstGeom>
        </p:spPr>
      </p:pic>
      <p:pic>
        <p:nvPicPr>
          <p:cNvPr id="8" name="anim-g6-1176" descr="C:\Users\user\projects\younes-training\turath\.pptx-cache\s167-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name="Slide 1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تحسينات المحترفين</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«يعمل» إلى «يعمل بذكاء»</a:t>
            </a:r>
            <a:endParaRPr lang="ar-SA" sz="3800" dirty="0"/>
          </a:p>
        </p:txBody>
      </p:sp>
      <p:sp>
        <p:nvSpPr>
          <p:cNvPr id="5" name="anim-g1-1177"/>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178"/>
          <p:cNvSpPr/>
          <p:nvPr/>
        </p:nvSpPr>
        <p:spPr>
          <a:xfrm>
            <a:off x="10527487" y="2267712"/>
            <a:ext cx="566928" cy="566928"/>
          </a:xfrm>
          <a:prstGeom prst="roundRect">
            <a:avLst>
              <a:gd name="adj" fmla="val 32258"/>
            </a:avLst>
          </a:prstGeom>
          <a:solidFill>
            <a:srgbClr val="F7E6BC"/>
          </a:solidFill>
          <a:ln/>
        </p:spPr>
      </p:sp>
      <p:sp>
        <p:nvSpPr>
          <p:cNvPr id="7" name="anim-g1-117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180"/>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تأكد قبل أن تتوقف</a:t>
            </a:r>
            <a:endParaRPr lang="ar-SA" sz="2200" dirty="0"/>
          </a:p>
        </p:txBody>
      </p:sp>
      <p:sp>
        <p:nvSpPr>
          <p:cNvPr id="9" name="anim-g1-1181"/>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لهب السيارة على 35: ارشّ حتى تختفي النار، لا ٤ ثوانٍ ثابتة</a:t>
            </a:r>
            <a:endParaRPr lang="ar-SA" sz="1900" dirty="0"/>
          </a:p>
        </p:txBody>
      </p:sp>
      <p:sp>
        <p:nvSpPr>
          <p:cNvPr id="10" name="anim-g2-1182"/>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183"/>
          <p:cNvSpPr/>
          <p:nvPr/>
        </p:nvSpPr>
        <p:spPr>
          <a:xfrm>
            <a:off x="5117440" y="2267712"/>
            <a:ext cx="566928" cy="566928"/>
          </a:xfrm>
          <a:prstGeom prst="roundRect">
            <a:avLst>
              <a:gd name="adj" fmla="val 32258"/>
            </a:avLst>
          </a:prstGeom>
          <a:solidFill>
            <a:srgbClr val="F7E6BC"/>
          </a:solidFill>
          <a:ln/>
        </p:spPr>
      </p:sp>
      <p:sp>
        <p:nvSpPr>
          <p:cNvPr id="12" name="anim-g2-1184"/>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185"/>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روبوتان معًا</a:t>
            </a:r>
            <a:endParaRPr lang="ar-SA" sz="2200" dirty="0"/>
          </a:p>
        </p:txBody>
      </p:sp>
      <p:sp>
        <p:nvSpPr>
          <p:cNvPr id="14" name="anim-g2-1186"/>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الخطران يُعالَجان في الوقت نفسه بدل التتابع</a:t>
            </a:r>
            <a:endParaRPr lang="ar-SA" sz="1900" dirty="0"/>
          </a:p>
        </p:txBody>
      </p:sp>
      <p:sp>
        <p:nvSpPr>
          <p:cNvPr id="15" name="anim-g3-1187"/>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188"/>
          <p:cNvSpPr/>
          <p:nvPr/>
        </p:nvSpPr>
        <p:spPr>
          <a:xfrm>
            <a:off x="10527487" y="4393692"/>
            <a:ext cx="566928" cy="566928"/>
          </a:xfrm>
          <a:prstGeom prst="roundRect">
            <a:avLst>
              <a:gd name="adj" fmla="val 32258"/>
            </a:avLst>
          </a:prstGeom>
          <a:solidFill>
            <a:srgbClr val="F7E6BC"/>
          </a:solidFill>
          <a:ln/>
        </p:spPr>
      </p:sp>
      <p:sp>
        <p:nvSpPr>
          <p:cNvPr id="17" name="anim-g3-1189"/>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190"/>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رسالة «تمت المهمة»</a:t>
            </a:r>
            <a:endParaRPr lang="ar-SA" sz="2200" dirty="0"/>
          </a:p>
        </p:txBody>
      </p:sp>
      <p:sp>
        <p:nvSpPr>
          <p:cNvPr id="19" name="anim-g3-1191"/>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السيارة تخبر المحطة فتعرض «Zone A Safe»</a:t>
            </a:r>
            <a:endParaRPr lang="ar-SA" sz="1900" dirty="0"/>
          </a:p>
        </p:txBody>
      </p:sp>
      <p:sp>
        <p:nvSpPr>
          <p:cNvPr id="20" name="anim-g4-1192"/>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193"/>
          <p:cNvSpPr/>
          <p:nvPr/>
        </p:nvSpPr>
        <p:spPr>
          <a:xfrm>
            <a:off x="5117440" y="4393692"/>
            <a:ext cx="566928" cy="566928"/>
          </a:xfrm>
          <a:prstGeom prst="roundRect">
            <a:avLst>
              <a:gd name="adj" fmla="val 32258"/>
            </a:avLst>
          </a:prstGeom>
          <a:solidFill>
            <a:srgbClr val="F7E6BC"/>
          </a:solidFill>
          <a:ln/>
        </p:spPr>
      </p:sp>
      <p:sp>
        <p:nvSpPr>
          <p:cNvPr id="22" name="anim-g4-1194"/>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195"/>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راقب البطارية</a:t>
            </a:r>
            <a:endParaRPr lang="ar-SA" sz="2200" dirty="0"/>
          </a:p>
        </p:txBody>
      </p:sp>
      <p:sp>
        <p:nvSpPr>
          <p:cNvPr id="24" name="anim-g4-1196"/>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سيارة ضعيفة البطارية تعود ولا تخرج</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المهمة الكاملة  ·  ١٦٨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pic>
        <p:nvPicPr>
          <p:cNvPr id="2" name="Image 0" descr="C:\Users\user\projects\younes-training\turath\.pptx-cache\s16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نكتب newAlarm = false في أول المهمة لا في آخرها؟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لا فرق</a:t>
            </a:r>
            <a:endParaRPr lang="ar-SA" sz="2500" dirty="0"/>
          </a:p>
        </p:txBody>
      </p:sp>
      <p:sp>
        <p:nvSpPr>
          <p:cNvPr id="9" name="anim-g1-1197"/>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198"/>
          <p:cNvSpPr/>
          <p:nvPr/>
        </p:nvSpPr>
        <p:spPr>
          <a:xfrm>
            <a:off x="10231831" y="2194560"/>
            <a:ext cx="954024" cy="954024"/>
          </a:xfrm>
          <a:prstGeom prst="roundRect">
            <a:avLst>
              <a:gd name="adj" fmla="val 11502"/>
            </a:avLst>
          </a:prstGeom>
          <a:solidFill>
            <a:srgbClr val="A3A9BA"/>
          </a:solidFill>
          <a:ln/>
        </p:spPr>
      </p:sp>
      <p:sp>
        <p:nvSpPr>
          <p:cNvPr id="11" name="anim-g1-1199"/>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200"/>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لا فرق</a:t>
            </a:r>
            <a:endParaRPr lang="ar-SA" sz="2400" dirty="0"/>
          </a:p>
        </p:txBody>
      </p:sp>
      <p:sp>
        <p:nvSpPr>
          <p:cNvPr id="13" name="anim-g1-1201"/>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هناك فرق مهم</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لتسريع الكود</a:t>
            </a:r>
            <a:endParaRPr lang="ar-SA" sz="2500" dirty="0"/>
          </a:p>
        </p:txBody>
      </p:sp>
      <p:sp>
        <p:nvSpPr>
          <p:cNvPr id="18" name="anim-g1-1202"/>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203"/>
          <p:cNvSpPr/>
          <p:nvPr/>
        </p:nvSpPr>
        <p:spPr>
          <a:xfrm>
            <a:off x="10231831" y="3569208"/>
            <a:ext cx="954024" cy="954024"/>
          </a:xfrm>
          <a:prstGeom prst="roundRect">
            <a:avLst>
              <a:gd name="adj" fmla="val 11502"/>
            </a:avLst>
          </a:prstGeom>
          <a:solidFill>
            <a:srgbClr val="A3A9BA"/>
          </a:solidFill>
          <a:ln/>
        </p:spPr>
      </p:sp>
      <p:sp>
        <p:nvSpPr>
          <p:cNvPr id="20" name="anim-g1-120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1205"/>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لتسريع الكود</a:t>
            </a:r>
            <a:endParaRPr lang="ar-SA" sz="2400" dirty="0"/>
          </a:p>
        </p:txBody>
      </p:sp>
      <p:sp>
        <p:nvSpPr>
          <p:cNvPr id="22" name="anim-g1-1206"/>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السرعة متقاربة</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حتى لا نضيّع إنذارًا جديدًا يصل أثناء المهمة</a:t>
            </a:r>
            <a:endParaRPr lang="ar-SA" sz="2500" dirty="0"/>
          </a:p>
        </p:txBody>
      </p:sp>
      <p:sp>
        <p:nvSpPr>
          <p:cNvPr id="27" name="anim-g1-1207"/>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1208"/>
          <p:cNvSpPr/>
          <p:nvPr/>
        </p:nvSpPr>
        <p:spPr>
          <a:xfrm>
            <a:off x="10231831" y="4943856"/>
            <a:ext cx="954024" cy="954024"/>
          </a:xfrm>
          <a:prstGeom prst="roundRect">
            <a:avLst>
              <a:gd name="adj" fmla="val 11502"/>
            </a:avLst>
          </a:prstGeom>
          <a:solidFill>
            <a:srgbClr val="2E9E6B"/>
          </a:solidFill>
          <a:ln/>
        </p:spPr>
      </p:sp>
      <p:sp>
        <p:nvSpPr>
          <p:cNvPr id="29" name="anim-g1-1209"/>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1210"/>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حتى لا نضيّع إنذارًا جديدًا يصل أثناء المهمة</a:t>
            </a:r>
            <a:endParaRPr lang="ar-SA" sz="2400" dirty="0"/>
          </a:p>
        </p:txBody>
      </p:sp>
      <p:sp>
        <p:nvSpPr>
          <p:cNvPr id="31" name="anim-g1-1211"/>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لو أنزلناه في الآخر لمسحنا إنذارًا وصل ونحن نطفئ الأول</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المهمة الكاملة  ·  ١٧٠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name="Slide 1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محطة رأت، ورسالة طارت، وسيارة قررت وذهبت وأطفأت وعادت: لمسات تراث تعمل</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المهمة الكاملة  ·  ١٧١</a:t>
            </a:r>
            <a:endParaRPr lang="ar-SA" sz="12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يوم المعرض</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مشروع للجميع… يستحق عرضًا يليق به</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المعرض والختام  ·  ١٧٢</a:t>
            </a:r>
            <a:endParaRPr lang="ar-SA" sz="12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pic>
        <p:nvPicPr>
          <p:cNvPr id="2" name="Image 0" descr="C:\Users\user\projects\younes-training\turath\.pptx-cache\s17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pic>
        <p:nvPicPr>
          <p:cNvPr id="2" name="Image 0" descr="C:\Users\user\projects\younes-training\turath\.pptx-cache\s17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txBody>
          <a:bodyPr/>
          <a:p/>
        </p:txBody>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قصص التحديات</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خمسة تحديات واجهها الفريق… وكيف حُلّت</a:t>
            </a:r>
            <a:endParaRPr lang="ar-SA" sz="3200" dirty="0"/>
          </a:p>
        </p:txBody>
      </p:sp>
      <p:sp>
        <p:nvSpPr>
          <p:cNvPr id="5" name="Shape 3"/>
          <p:cNvSpPr/>
          <p:nvPr/>
        </p:nvSpPr>
        <p:spPr>
          <a:xfrm>
            <a:off x="7194316" y="1874520"/>
            <a:ext cx="4174419" cy="548640"/>
          </a:xfrm>
          <a:prstGeom prst="roundRect">
            <a:avLst>
              <a:gd name="adj" fmla="val 20000"/>
            </a:avLst>
          </a:prstGeom>
          <a:solidFill>
            <a:srgbClr val="101B45"/>
          </a:solidFill>
          <a:ln/>
        </p:spPr>
        <p:txBody>
          <a:bodyPr/>
          <a:p/>
        </p:txBody>
      </p:sp>
      <p:sp>
        <p:nvSpPr>
          <p:cNvPr id="6" name="Text 4"/>
          <p:cNvSpPr/>
          <p:nvPr/>
        </p:nvSpPr>
        <p:spPr>
          <a:xfrm>
            <a:off x="7194316" y="1874520"/>
            <a:ext cx="417441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التحدي</a:t>
            </a:r>
            <a:endParaRPr lang="ar-SA" sz="1900" dirty="0"/>
          </a:p>
        </p:txBody>
      </p:sp>
      <p:sp>
        <p:nvSpPr>
          <p:cNvPr id="7" name="Shape 5"/>
          <p:cNvSpPr/>
          <p:nvPr/>
        </p:nvSpPr>
        <p:spPr>
          <a:xfrm>
            <a:off x="822960" y="1874520"/>
            <a:ext cx="6261628" cy="548640"/>
          </a:xfrm>
          <a:prstGeom prst="roundRect">
            <a:avLst>
              <a:gd name="adj" fmla="val 20000"/>
            </a:avLst>
          </a:prstGeom>
          <a:solidFill>
            <a:srgbClr val="101B45"/>
          </a:solidFill>
          <a:ln/>
        </p:spPr>
        <p:txBody>
          <a:bodyPr/>
          <a:p/>
        </p:txBody>
      </p:sp>
      <p:sp>
        <p:nvSpPr>
          <p:cNvPr id="8" name="Text 6"/>
          <p:cNvSpPr/>
          <p:nvPr/>
        </p:nvSpPr>
        <p:spPr>
          <a:xfrm>
            <a:off x="822960" y="1874520"/>
            <a:ext cx="626162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الحل</a:t>
            </a:r>
            <a:endParaRPr lang="ar-SA" sz="1900" dirty="0"/>
          </a:p>
        </p:txBody>
      </p:sp>
      <p:sp>
        <p:nvSpPr>
          <p:cNvPr id="9" name="anim-g1-1212"/>
          <p:cNvSpPr/>
          <p:nvPr/>
        </p:nvSpPr>
        <p:spPr>
          <a:xfrm>
            <a:off x="7194316" y="2514600"/>
            <a:ext cx="4174419" cy="616306"/>
          </a:xfrm>
          <a:prstGeom prst="roundRect">
            <a:avLst>
              <a:gd name="adj" fmla="val 17804"/>
            </a:avLst>
          </a:prstGeom>
          <a:solidFill>
            <a:srgbClr val="FBF3DF"/>
          </a:solidFill>
          <a:ln w="12700">
            <a:solidFill>
              <a:srgbClr val="EFDDAF"/>
            </a:solidFill>
            <a:prstDash val="solid"/>
          </a:ln>
        </p:spPr>
        <p:txBody>
          <a:bodyPr/>
          <a:p/>
        </p:txBody>
      </p:sp>
      <p:sp>
        <p:nvSpPr>
          <p:cNvPr id="10" name="anim-g1-1213"/>
          <p:cNvSpPr/>
          <p:nvPr/>
        </p:nvSpPr>
        <p:spPr>
          <a:xfrm>
            <a:off x="7331476" y="2514600"/>
            <a:ext cx="390009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الفيديو أقصر من الصوت (٢–١١ ث)</a:t>
            </a:r>
            <a:endParaRPr lang="ar-SA" sz="2100" dirty="0"/>
          </a:p>
        </p:txBody>
      </p:sp>
      <p:sp>
        <p:nvSpPr>
          <p:cNvPr id="11" name="anim-g1-1214"/>
          <p:cNvSpPr/>
          <p:nvPr/>
        </p:nvSpPr>
        <p:spPr>
          <a:xfrm>
            <a:off x="822960" y="2514600"/>
            <a:ext cx="6261628" cy="616306"/>
          </a:xfrm>
          <a:prstGeom prst="roundRect">
            <a:avLst>
              <a:gd name="adj" fmla="val 17804"/>
            </a:avLst>
          </a:prstGeom>
          <a:solidFill>
            <a:srgbClr val="E6F4EC"/>
          </a:solidFill>
          <a:ln w="12700">
            <a:solidFill>
              <a:srgbClr val="CDE9D9"/>
            </a:solidFill>
            <a:prstDash val="solid"/>
          </a:ln>
        </p:spPr>
        <p:txBody>
          <a:bodyPr/>
          <a:p/>
        </p:txBody>
      </p:sp>
      <p:sp>
        <p:nvSpPr>
          <p:cNvPr id="12" name="anim-g1-1215"/>
          <p:cNvSpPr/>
          <p:nvPr/>
        </p:nvSpPr>
        <p:spPr>
          <a:xfrm>
            <a:off x="960120" y="2514600"/>
            <a:ext cx="598730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تكرار آخر صورة بأمر ffmpeg، مع حفظ النسخ الأصلية</a:t>
            </a:r>
            <a:endParaRPr lang="ar-SA" sz="2100" dirty="0"/>
          </a:p>
        </p:txBody>
      </p:sp>
      <p:sp>
        <p:nvSpPr>
          <p:cNvPr id="13" name="anim-g2-1216"/>
          <p:cNvSpPr/>
          <p:nvPr/>
        </p:nvSpPr>
        <p:spPr>
          <a:xfrm>
            <a:off x="7194316" y="3240634"/>
            <a:ext cx="4174419" cy="616306"/>
          </a:xfrm>
          <a:prstGeom prst="roundRect">
            <a:avLst>
              <a:gd name="adj" fmla="val 17804"/>
            </a:avLst>
          </a:prstGeom>
          <a:solidFill>
            <a:srgbClr val="FBF3DF"/>
          </a:solidFill>
          <a:ln w="12700">
            <a:solidFill>
              <a:srgbClr val="EFDDAF"/>
            </a:solidFill>
            <a:prstDash val="solid"/>
          </a:ln>
        </p:spPr>
        <p:txBody>
          <a:bodyPr/>
          <a:p/>
        </p:txBody>
      </p:sp>
      <p:sp>
        <p:nvSpPr>
          <p:cNvPr id="14" name="anim-g2-1217"/>
          <p:cNvSpPr/>
          <p:nvPr/>
        </p:nvSpPr>
        <p:spPr>
          <a:xfrm>
            <a:off x="7331476" y="3240634"/>
            <a:ext cx="390009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رسالة ضائعة = دوران زائد</a:t>
            </a:r>
            <a:endParaRPr lang="ar-SA" sz="2100" dirty="0"/>
          </a:p>
        </p:txBody>
      </p:sp>
      <p:sp>
        <p:nvSpPr>
          <p:cNvPr id="15" name="anim-g2-1218"/>
          <p:cNvSpPr/>
          <p:nvPr/>
        </p:nvSpPr>
        <p:spPr>
          <a:xfrm>
            <a:off x="822960" y="3240634"/>
            <a:ext cx="6261628" cy="616306"/>
          </a:xfrm>
          <a:prstGeom prst="roundRect">
            <a:avLst>
              <a:gd name="adj" fmla="val 17804"/>
            </a:avLst>
          </a:prstGeom>
          <a:solidFill>
            <a:srgbClr val="E6F4EC"/>
          </a:solidFill>
          <a:ln w="12700">
            <a:solidFill>
              <a:srgbClr val="CDE9D9"/>
            </a:solidFill>
            <a:prstDash val="solid"/>
          </a:ln>
        </p:spPr>
        <p:txBody>
          <a:bodyPr/>
          <a:p/>
        </p:txBody>
      </p:sp>
      <p:sp>
        <p:nvSpPr>
          <p:cNvPr id="16" name="anim-g2-1219"/>
          <p:cNvSpPr/>
          <p:nvPr/>
        </p:nvSpPr>
        <p:spPr>
          <a:xfrm>
            <a:off x="960120" y="3240634"/>
            <a:ext cx="598730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من سجلات التشغيل، وحارس يوقفها بعد ثانية بلا رسالة</a:t>
            </a:r>
            <a:endParaRPr lang="ar-SA" sz="2100" dirty="0"/>
          </a:p>
        </p:txBody>
      </p:sp>
      <p:sp>
        <p:nvSpPr>
          <p:cNvPr id="17" name="anim-g3-1220"/>
          <p:cNvSpPr/>
          <p:nvPr/>
        </p:nvSpPr>
        <p:spPr>
          <a:xfrm>
            <a:off x="7194316" y="3966667"/>
            <a:ext cx="4174419" cy="616306"/>
          </a:xfrm>
          <a:prstGeom prst="roundRect">
            <a:avLst>
              <a:gd name="adj" fmla="val 17804"/>
            </a:avLst>
          </a:prstGeom>
          <a:solidFill>
            <a:srgbClr val="FBF3DF"/>
          </a:solidFill>
          <a:ln w="12700">
            <a:solidFill>
              <a:srgbClr val="EFDDAF"/>
            </a:solidFill>
            <a:prstDash val="solid"/>
          </a:ln>
        </p:spPr>
        <p:txBody>
          <a:bodyPr/>
          <a:p/>
        </p:txBody>
      </p:sp>
      <p:sp>
        <p:nvSpPr>
          <p:cNvPr id="18" name="anim-g3-1221"/>
          <p:cNvSpPr/>
          <p:nvPr/>
        </p:nvSpPr>
        <p:spPr>
          <a:xfrm>
            <a:off x="7331476" y="3966667"/>
            <a:ext cx="390009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مؤشرات البؤبؤ معكوسة</a:t>
            </a:r>
            <a:endParaRPr lang="ar-SA" sz="2100" dirty="0"/>
          </a:p>
        </p:txBody>
      </p:sp>
      <p:sp>
        <p:nvSpPr>
          <p:cNvPr id="19" name="anim-g3-1222"/>
          <p:cNvSpPr/>
          <p:nvPr/>
        </p:nvSpPr>
        <p:spPr>
          <a:xfrm>
            <a:off x="822960" y="3966667"/>
            <a:ext cx="6261628" cy="616306"/>
          </a:xfrm>
          <a:prstGeom prst="roundRect">
            <a:avLst>
              <a:gd name="adj" fmla="val 17804"/>
            </a:avLst>
          </a:prstGeom>
          <a:solidFill>
            <a:srgbClr val="E6F4EC"/>
          </a:solidFill>
          <a:ln w="12700">
            <a:solidFill>
              <a:srgbClr val="CDE9D9"/>
            </a:solidFill>
            <a:prstDash val="solid"/>
          </a:ln>
        </p:spPr>
        <p:txBody>
          <a:bodyPr/>
          <a:p/>
        </p:txBody>
      </p:sp>
      <p:sp>
        <p:nvSpPr>
          <p:cNvPr id="20" name="anim-g3-1223"/>
          <p:cNvSpPr/>
          <p:nvPr/>
        </p:nvSpPr>
        <p:spPr>
          <a:xfrm>
            <a:off x="960120" y="3966667"/>
            <a:ext cx="598730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طبعنا الأرقام الخام: ٤٦٨ لليمنى و٤٧٣ لليسرى</a:t>
            </a:r>
            <a:endParaRPr lang="ar-SA" sz="2100" dirty="0"/>
          </a:p>
        </p:txBody>
      </p:sp>
      <p:sp>
        <p:nvSpPr>
          <p:cNvPr id="21" name="anim-g4-1224"/>
          <p:cNvSpPr/>
          <p:nvPr/>
        </p:nvSpPr>
        <p:spPr>
          <a:xfrm>
            <a:off x="7194316" y="4692701"/>
            <a:ext cx="4174419" cy="616306"/>
          </a:xfrm>
          <a:prstGeom prst="roundRect">
            <a:avLst>
              <a:gd name="adj" fmla="val 17804"/>
            </a:avLst>
          </a:prstGeom>
          <a:solidFill>
            <a:srgbClr val="FBF3DF"/>
          </a:solidFill>
          <a:ln w="12700">
            <a:solidFill>
              <a:srgbClr val="EFDDAF"/>
            </a:solidFill>
            <a:prstDash val="solid"/>
          </a:ln>
        </p:spPr>
        <p:txBody>
          <a:bodyPr/>
          <a:p/>
        </p:txBody>
      </p:sp>
      <p:sp>
        <p:nvSpPr>
          <p:cNvPr id="22" name="anim-g4-1225"/>
          <p:cNvSpPr/>
          <p:nvPr/>
        </p:nvSpPr>
        <p:spPr>
          <a:xfrm>
            <a:off x="7331476" y="4692701"/>
            <a:ext cx="390009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صوت خافت جدًا</a:t>
            </a:r>
            <a:endParaRPr lang="ar-SA" sz="2100" dirty="0"/>
          </a:p>
        </p:txBody>
      </p:sp>
      <p:sp>
        <p:nvSpPr>
          <p:cNvPr id="23" name="anim-g4-1226"/>
          <p:cNvSpPr/>
          <p:nvPr/>
        </p:nvSpPr>
        <p:spPr>
          <a:xfrm>
            <a:off x="822960" y="4692701"/>
            <a:ext cx="6261628" cy="616306"/>
          </a:xfrm>
          <a:prstGeom prst="roundRect">
            <a:avLst>
              <a:gd name="adj" fmla="val 17804"/>
            </a:avLst>
          </a:prstGeom>
          <a:solidFill>
            <a:srgbClr val="E6F4EC"/>
          </a:solidFill>
          <a:ln w="12700">
            <a:solidFill>
              <a:srgbClr val="CDE9D9"/>
            </a:solidFill>
            <a:prstDash val="solid"/>
          </a:ln>
        </p:spPr>
        <p:txBody>
          <a:bodyPr/>
          <a:p/>
        </p:txBody>
      </p:sp>
      <p:sp>
        <p:nvSpPr>
          <p:cNvPr id="24" name="anim-g4-1227"/>
          <p:cNvSpPr/>
          <p:nvPr/>
        </p:nvSpPr>
        <p:spPr>
          <a:xfrm>
            <a:off x="960120" y="4692701"/>
            <a:ext cx="598730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من ٣ أماكن: كرت الصوت، ونظام PipeWire، والمشغّل</a:t>
            </a:r>
            <a:endParaRPr lang="ar-SA" sz="2100" dirty="0"/>
          </a:p>
        </p:txBody>
      </p:sp>
      <p:sp>
        <p:nvSpPr>
          <p:cNvPr id="25" name="anim-g5-1228"/>
          <p:cNvSpPr/>
          <p:nvPr/>
        </p:nvSpPr>
        <p:spPr>
          <a:xfrm>
            <a:off x="7194316" y="5418734"/>
            <a:ext cx="4174419" cy="616306"/>
          </a:xfrm>
          <a:prstGeom prst="roundRect">
            <a:avLst>
              <a:gd name="adj" fmla="val 17804"/>
            </a:avLst>
          </a:prstGeom>
          <a:solidFill>
            <a:srgbClr val="FBF3DF"/>
          </a:solidFill>
          <a:ln w="12700">
            <a:solidFill>
              <a:srgbClr val="EFDDAF"/>
            </a:solidFill>
            <a:prstDash val="solid"/>
          </a:ln>
        </p:spPr>
        <p:txBody>
          <a:bodyPr/>
          <a:p/>
        </p:txBody>
      </p:sp>
      <p:sp>
        <p:nvSpPr>
          <p:cNvPr id="26" name="anim-g5-1229"/>
          <p:cNvSpPr/>
          <p:nvPr/>
        </p:nvSpPr>
        <p:spPr>
          <a:xfrm>
            <a:off x="7331476" y="5418734"/>
            <a:ext cx="390009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نسيان كلمة مرور الراسبيري</a:t>
            </a:r>
            <a:endParaRPr lang="ar-SA" sz="2100" dirty="0"/>
          </a:p>
        </p:txBody>
      </p:sp>
      <p:sp>
        <p:nvSpPr>
          <p:cNvPr id="27" name="anim-g5-1230"/>
          <p:cNvSpPr/>
          <p:nvPr/>
        </p:nvSpPr>
        <p:spPr>
          <a:xfrm>
            <a:off x="822960" y="5418734"/>
            <a:ext cx="6261628" cy="616306"/>
          </a:xfrm>
          <a:prstGeom prst="roundRect">
            <a:avLst>
              <a:gd name="adj" fmla="val 17804"/>
            </a:avLst>
          </a:prstGeom>
          <a:solidFill>
            <a:srgbClr val="E6F4EC"/>
          </a:solidFill>
          <a:ln w="12700">
            <a:solidFill>
              <a:srgbClr val="CDE9D9"/>
            </a:solidFill>
            <a:prstDash val="solid"/>
          </a:ln>
        </p:spPr>
        <p:txBody>
          <a:bodyPr/>
          <a:p/>
        </p:txBody>
      </p:sp>
      <p:sp>
        <p:nvSpPr>
          <p:cNvPr id="28" name="anim-g5-1231"/>
          <p:cNvSpPr/>
          <p:nvPr/>
        </p:nvSpPr>
        <p:spPr>
          <a:xfrm>
            <a:off x="960120" y="5418734"/>
            <a:ext cx="598730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وضع إصلاح من كرت الذاكرة، دون فقد أي ملف</a:t>
            </a:r>
            <a:endParaRPr lang="ar-SA" sz="21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المعرض والختام  ·  ١٧٥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pic>
        <p:nvPicPr>
          <p:cNvPr id="2" name="Image 0" descr="C:\Users\user\projects\younes-training\turath\.pptx-cache\s17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الأثر</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يهم هذا المشروع العالم؟</a:t>
            </a:r>
            <a:endParaRPr lang="ar-SA" sz="3800" dirty="0"/>
          </a:p>
        </p:txBody>
      </p:sp>
      <p:sp>
        <p:nvSpPr>
          <p:cNvPr id="5" name="anim-g1-1232"/>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233"/>
          <p:cNvSpPr/>
          <p:nvPr/>
        </p:nvSpPr>
        <p:spPr>
          <a:xfrm>
            <a:off x="10527487" y="2267712"/>
            <a:ext cx="566928" cy="566928"/>
          </a:xfrm>
          <a:prstGeom prst="roundRect">
            <a:avLst>
              <a:gd name="adj" fmla="val 32258"/>
            </a:avLst>
          </a:prstGeom>
          <a:solidFill>
            <a:srgbClr val="F7E6BC"/>
          </a:solidFill>
          <a:ln/>
        </p:spPr>
      </p:sp>
      <p:sp>
        <p:nvSpPr>
          <p:cNvPr id="7" name="anim-g1-123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235"/>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الهدف ١٠ للتنمية المستدامة</a:t>
            </a:r>
            <a:endParaRPr lang="ar-SA" sz="2200" dirty="0"/>
          </a:p>
        </p:txBody>
      </p:sp>
      <p:sp>
        <p:nvSpPr>
          <p:cNvPr id="9" name="anim-g1-1236"/>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الحد من أوجه عدم المساواة: تجربة متساوية لذوي الإعاقات المختلفة</a:t>
            </a:r>
            <a:endParaRPr lang="ar-SA" sz="1900" dirty="0"/>
          </a:p>
        </p:txBody>
      </p:sp>
      <p:sp>
        <p:nvSpPr>
          <p:cNvPr id="10" name="anim-g2-1237"/>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238"/>
          <p:cNvSpPr/>
          <p:nvPr/>
        </p:nvSpPr>
        <p:spPr>
          <a:xfrm>
            <a:off x="5117440" y="2267712"/>
            <a:ext cx="566928" cy="566928"/>
          </a:xfrm>
          <a:prstGeom prst="roundRect">
            <a:avLst>
              <a:gd name="adj" fmla="val 32258"/>
            </a:avLst>
          </a:prstGeom>
          <a:solidFill>
            <a:srgbClr val="F7E6BC"/>
          </a:solidFill>
          <a:ln/>
        </p:spPr>
      </p:sp>
      <p:sp>
        <p:nvSpPr>
          <p:cNvPr id="12" name="anim-g2-1239"/>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240"/>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الهدف ١١</a:t>
            </a:r>
            <a:endParaRPr lang="ar-SA" sz="2200" dirty="0"/>
          </a:p>
        </p:txBody>
      </p:sp>
      <p:sp>
        <p:nvSpPr>
          <p:cNvPr id="14" name="anim-g2-1241"/>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مدن ومجتمعات مستدامة: التراث الثقافي متاح للجميع بلا استثناء</a:t>
            </a:r>
            <a:endParaRPr lang="ar-SA" sz="1900" dirty="0"/>
          </a:p>
        </p:txBody>
      </p:sp>
      <p:sp>
        <p:nvSpPr>
          <p:cNvPr id="15" name="anim-g3-1242"/>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243"/>
          <p:cNvSpPr/>
          <p:nvPr/>
        </p:nvSpPr>
        <p:spPr>
          <a:xfrm>
            <a:off x="10527487" y="4393692"/>
            <a:ext cx="566928" cy="566928"/>
          </a:xfrm>
          <a:prstGeom prst="roundRect">
            <a:avLst>
              <a:gd name="adj" fmla="val 32258"/>
            </a:avLst>
          </a:prstGeom>
          <a:solidFill>
            <a:srgbClr val="F7E6BC"/>
          </a:solidFill>
          <a:ln/>
        </p:spPr>
      </p:sp>
      <p:sp>
        <p:nvSpPr>
          <p:cNvPr id="17" name="anim-g3-1244"/>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245"/>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رؤية ٢٠٣٠: مجتمع حيوي</a:t>
            </a:r>
            <a:endParaRPr lang="ar-SA" sz="2200" dirty="0"/>
          </a:p>
        </p:txBody>
      </p:sp>
      <p:sp>
        <p:nvSpPr>
          <p:cNvPr id="19" name="anim-g3-1246"/>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 نموذج الرعاية إلى نموذج التمكين والمشاركة الكاملة</a:t>
            </a:r>
            <a:endParaRPr lang="ar-SA" sz="1900" dirty="0"/>
          </a:p>
        </p:txBody>
      </p:sp>
      <p:sp>
        <p:nvSpPr>
          <p:cNvPr id="20" name="anim-g4-1247"/>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248"/>
          <p:cNvSpPr/>
          <p:nvPr/>
        </p:nvSpPr>
        <p:spPr>
          <a:xfrm>
            <a:off x="5117440" y="4393692"/>
            <a:ext cx="566928" cy="566928"/>
          </a:xfrm>
          <a:prstGeom prst="roundRect">
            <a:avLst>
              <a:gd name="adj" fmla="val 32258"/>
            </a:avLst>
          </a:prstGeom>
          <a:solidFill>
            <a:srgbClr val="F7E6BC"/>
          </a:solidFill>
          <a:ln/>
        </p:spPr>
      </p:sp>
      <p:sp>
        <p:nvSpPr>
          <p:cNvPr id="22" name="anim-g4-1249"/>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250"/>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قابل للتكرار</a:t>
            </a:r>
            <a:endParaRPr lang="ar-SA" sz="2200" dirty="0"/>
          </a:p>
        </p:txBody>
      </p:sp>
      <p:sp>
        <p:nvSpPr>
          <p:cNvPr id="24" name="anim-g4-1251"/>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على مواقع تراثية أخرى، بتكلفة معقولة مقارنة بالحلول التجارية</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المعرض والختام  ·  ١٧٧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name="Slide 1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للمعلم والمحكّم</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بطاقة تقييم «لمسة تراث»</a:t>
            </a:r>
            <a:endParaRPr lang="ar-SA" sz="3800" dirty="0"/>
          </a:p>
        </p:txBody>
      </p:sp>
      <p:sp>
        <p:nvSpPr>
          <p:cNvPr id="5" name="Shape 3"/>
          <p:cNvSpPr/>
          <p:nvPr/>
        </p:nvSpPr>
        <p:spPr>
          <a:xfrm>
            <a:off x="8939013" y="1874520"/>
            <a:ext cx="2429722" cy="548640"/>
          </a:xfrm>
          <a:prstGeom prst="roundRect">
            <a:avLst>
              <a:gd name="adj" fmla="val 20000"/>
            </a:avLst>
          </a:prstGeom>
          <a:solidFill>
            <a:srgbClr val="101B45"/>
          </a:solidFill>
          <a:ln/>
        </p:spPr>
      </p:sp>
      <p:sp>
        <p:nvSpPr>
          <p:cNvPr id="6" name="Text 4"/>
          <p:cNvSpPr/>
          <p:nvPr/>
        </p:nvSpPr>
        <p:spPr>
          <a:xfrm>
            <a:off x="8939013" y="1874520"/>
            <a:ext cx="24297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المعيار</a:t>
            </a:r>
            <a:endParaRPr lang="ar-SA" sz="1900" dirty="0"/>
          </a:p>
        </p:txBody>
      </p:sp>
      <p:sp>
        <p:nvSpPr>
          <p:cNvPr id="7" name="Shape 5"/>
          <p:cNvSpPr/>
          <p:nvPr/>
        </p:nvSpPr>
        <p:spPr>
          <a:xfrm>
            <a:off x="5184702" y="1874520"/>
            <a:ext cx="3644583" cy="548640"/>
          </a:xfrm>
          <a:prstGeom prst="roundRect">
            <a:avLst>
              <a:gd name="adj" fmla="val 20000"/>
            </a:avLst>
          </a:prstGeom>
          <a:solidFill>
            <a:srgbClr val="101B45"/>
          </a:solidFill>
          <a:ln/>
        </p:spPr>
      </p:sp>
      <p:sp>
        <p:nvSpPr>
          <p:cNvPr id="8" name="Text 6"/>
          <p:cNvSpPr/>
          <p:nvPr/>
        </p:nvSpPr>
        <p:spPr>
          <a:xfrm>
            <a:off x="5184702" y="1874520"/>
            <a:ext cx="364458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يحتاج دعمًا</a:t>
            </a:r>
            <a:endParaRPr lang="ar-SA" sz="1900" dirty="0"/>
          </a:p>
        </p:txBody>
      </p:sp>
      <p:sp>
        <p:nvSpPr>
          <p:cNvPr id="9" name="Shape 7"/>
          <p:cNvSpPr/>
          <p:nvPr/>
        </p:nvSpPr>
        <p:spPr>
          <a:xfrm>
            <a:off x="822960" y="1874520"/>
            <a:ext cx="4252014" cy="548640"/>
          </a:xfrm>
          <a:prstGeom prst="roundRect">
            <a:avLst>
              <a:gd name="adj" fmla="val 20000"/>
            </a:avLst>
          </a:prstGeom>
          <a:solidFill>
            <a:srgbClr val="101B45"/>
          </a:solidFill>
          <a:ln/>
        </p:spPr>
      </p:sp>
      <p:sp>
        <p:nvSpPr>
          <p:cNvPr id="10" name="Text 8"/>
          <p:cNvSpPr/>
          <p:nvPr/>
        </p:nvSpPr>
        <p:spPr>
          <a:xfrm>
            <a:off x="822960" y="1874520"/>
            <a:ext cx="425201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متميز</a:t>
            </a:r>
            <a:endParaRPr lang="ar-SA" sz="1900" dirty="0"/>
          </a:p>
        </p:txBody>
      </p:sp>
      <p:sp>
        <p:nvSpPr>
          <p:cNvPr id="11" name="anim-g1-1252"/>
          <p:cNvSpPr/>
          <p:nvPr/>
        </p:nvSpPr>
        <p:spPr>
          <a:xfrm>
            <a:off x="8939013" y="2514600"/>
            <a:ext cx="2429722" cy="616306"/>
          </a:xfrm>
          <a:prstGeom prst="roundRect">
            <a:avLst>
              <a:gd name="adj" fmla="val 17804"/>
            </a:avLst>
          </a:prstGeom>
          <a:solidFill>
            <a:srgbClr val="FBF3DF"/>
          </a:solidFill>
          <a:ln w="12700">
            <a:solidFill>
              <a:srgbClr val="EFDDAF"/>
            </a:solidFill>
            <a:prstDash val="solid"/>
          </a:ln>
        </p:spPr>
      </p:sp>
      <p:sp>
        <p:nvSpPr>
          <p:cNvPr id="12" name="anim-g1-1253"/>
          <p:cNvSpPr/>
          <p:nvPr/>
        </p:nvSpPr>
        <p:spPr>
          <a:xfrm>
            <a:off x="9076173" y="2514600"/>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المجسّم</a:t>
            </a:r>
            <a:endParaRPr lang="ar-SA" sz="2100" dirty="0"/>
          </a:p>
        </p:txBody>
      </p:sp>
      <p:sp>
        <p:nvSpPr>
          <p:cNvPr id="13" name="anim-g1-1254"/>
          <p:cNvSpPr/>
          <p:nvPr/>
        </p:nvSpPr>
        <p:spPr>
          <a:xfrm>
            <a:off x="5184702" y="2514600"/>
            <a:ext cx="3644583" cy="616306"/>
          </a:xfrm>
          <a:prstGeom prst="roundRect">
            <a:avLst>
              <a:gd name="adj" fmla="val 17804"/>
            </a:avLst>
          </a:prstGeom>
          <a:solidFill>
            <a:srgbClr val="FFFFFF"/>
          </a:solidFill>
          <a:ln w="12700">
            <a:solidFill>
              <a:srgbClr val="E4DCC8"/>
            </a:solidFill>
            <a:prstDash val="solid"/>
          </a:ln>
        </p:spPr>
      </p:sp>
      <p:sp>
        <p:nvSpPr>
          <p:cNvPr id="14" name="anim-g1-1255"/>
          <p:cNvSpPr/>
          <p:nvPr/>
        </p:nvSpPr>
        <p:spPr>
          <a:xfrm>
            <a:off x="5321862" y="2514600"/>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يدور بزر</a:t>
            </a:r>
            <a:endParaRPr lang="ar-SA" sz="2100" dirty="0"/>
          </a:p>
        </p:txBody>
      </p:sp>
      <p:sp>
        <p:nvSpPr>
          <p:cNvPr id="15" name="anim-g1-1256"/>
          <p:cNvSpPr/>
          <p:nvPr/>
        </p:nvSpPr>
        <p:spPr>
          <a:xfrm>
            <a:off x="822960" y="2514600"/>
            <a:ext cx="4252014" cy="616306"/>
          </a:xfrm>
          <a:prstGeom prst="roundRect">
            <a:avLst>
              <a:gd name="adj" fmla="val 17804"/>
            </a:avLst>
          </a:prstGeom>
          <a:solidFill>
            <a:srgbClr val="E6F4EC"/>
          </a:solidFill>
          <a:ln w="12700">
            <a:solidFill>
              <a:srgbClr val="CDE9D9"/>
            </a:solidFill>
            <a:prstDash val="solid"/>
          </a:ln>
        </p:spPr>
      </p:sp>
      <p:sp>
        <p:nvSpPr>
          <p:cNvPr id="16" name="anim-g1-1257"/>
          <p:cNvSpPr/>
          <p:nvPr/>
        </p:nvSpPr>
        <p:spPr>
          <a:xfrm>
            <a:off x="960120" y="2514600"/>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يدور بالعين بنعومة، ويتوقف بأمان</a:t>
            </a:r>
            <a:endParaRPr lang="ar-SA" sz="2100" dirty="0"/>
          </a:p>
        </p:txBody>
      </p:sp>
      <p:sp>
        <p:nvSpPr>
          <p:cNvPr id="17" name="anim-g2-1258"/>
          <p:cNvSpPr/>
          <p:nvPr/>
        </p:nvSpPr>
        <p:spPr>
          <a:xfrm>
            <a:off x="8939013" y="3240634"/>
            <a:ext cx="2429722" cy="616306"/>
          </a:xfrm>
          <a:prstGeom prst="roundRect">
            <a:avLst>
              <a:gd name="adj" fmla="val 17804"/>
            </a:avLst>
          </a:prstGeom>
          <a:solidFill>
            <a:srgbClr val="FBF3DF"/>
          </a:solidFill>
          <a:ln w="12700">
            <a:solidFill>
              <a:srgbClr val="EFDDAF"/>
            </a:solidFill>
            <a:prstDash val="solid"/>
          </a:ln>
        </p:spPr>
      </p:sp>
      <p:sp>
        <p:nvSpPr>
          <p:cNvPr id="18" name="anim-g2-1259"/>
          <p:cNvSpPr/>
          <p:nvPr/>
        </p:nvSpPr>
        <p:spPr>
          <a:xfrm>
            <a:off x="9076173" y="3240634"/>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الشمول</a:t>
            </a:r>
            <a:endParaRPr lang="ar-SA" sz="2100" dirty="0"/>
          </a:p>
        </p:txBody>
      </p:sp>
      <p:sp>
        <p:nvSpPr>
          <p:cNvPr id="19" name="anim-g2-1260"/>
          <p:cNvSpPr/>
          <p:nvPr/>
        </p:nvSpPr>
        <p:spPr>
          <a:xfrm>
            <a:off x="5184702" y="3240634"/>
            <a:ext cx="3644583" cy="616306"/>
          </a:xfrm>
          <a:prstGeom prst="roundRect">
            <a:avLst>
              <a:gd name="adj" fmla="val 17804"/>
            </a:avLst>
          </a:prstGeom>
          <a:solidFill>
            <a:srgbClr val="FFFFFF"/>
          </a:solidFill>
          <a:ln w="12700">
            <a:solidFill>
              <a:srgbClr val="E4DCC8"/>
            </a:solidFill>
            <a:prstDash val="solid"/>
          </a:ln>
        </p:spPr>
      </p:sp>
      <p:sp>
        <p:nvSpPr>
          <p:cNvPr id="20" name="anim-g2-1261"/>
          <p:cNvSpPr/>
          <p:nvPr/>
        </p:nvSpPr>
        <p:spPr>
          <a:xfrm>
            <a:off x="5321862" y="3240634"/>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فئة واحدة</a:t>
            </a:r>
            <a:endParaRPr lang="ar-SA" sz="2100" dirty="0"/>
          </a:p>
        </p:txBody>
      </p:sp>
      <p:sp>
        <p:nvSpPr>
          <p:cNvPr id="21" name="anim-g2-1262"/>
          <p:cNvSpPr/>
          <p:nvPr/>
        </p:nvSpPr>
        <p:spPr>
          <a:xfrm>
            <a:off x="822960" y="3240634"/>
            <a:ext cx="4252014" cy="616306"/>
          </a:xfrm>
          <a:prstGeom prst="roundRect">
            <a:avLst>
              <a:gd name="adj" fmla="val 17804"/>
            </a:avLst>
          </a:prstGeom>
          <a:solidFill>
            <a:srgbClr val="E6F4EC"/>
          </a:solidFill>
          <a:ln w="12700">
            <a:solidFill>
              <a:srgbClr val="CDE9D9"/>
            </a:solidFill>
            <a:prstDash val="solid"/>
          </a:ln>
        </p:spPr>
      </p:sp>
      <p:sp>
        <p:nvSpPr>
          <p:cNvPr id="22" name="anim-g2-1263"/>
          <p:cNvSpPr/>
          <p:nvPr/>
        </p:nvSpPr>
        <p:spPr>
          <a:xfrm>
            <a:off x="960120" y="3240634"/>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حركية وسمعية وبصرية بواجهة واحدة</a:t>
            </a:r>
            <a:endParaRPr lang="ar-SA" sz="2100" dirty="0"/>
          </a:p>
        </p:txBody>
      </p:sp>
      <p:sp>
        <p:nvSpPr>
          <p:cNvPr id="23" name="anim-g3-1264"/>
          <p:cNvSpPr/>
          <p:nvPr/>
        </p:nvSpPr>
        <p:spPr>
          <a:xfrm>
            <a:off x="8939013" y="3966667"/>
            <a:ext cx="2429722" cy="616306"/>
          </a:xfrm>
          <a:prstGeom prst="roundRect">
            <a:avLst>
              <a:gd name="adj" fmla="val 17804"/>
            </a:avLst>
          </a:prstGeom>
          <a:solidFill>
            <a:srgbClr val="FBF3DF"/>
          </a:solidFill>
          <a:ln w="12700">
            <a:solidFill>
              <a:srgbClr val="EFDDAF"/>
            </a:solidFill>
            <a:prstDash val="solid"/>
          </a:ln>
        </p:spPr>
      </p:sp>
      <p:sp>
        <p:nvSpPr>
          <p:cNvPr id="24" name="anim-g3-1265"/>
          <p:cNvSpPr/>
          <p:nvPr/>
        </p:nvSpPr>
        <p:spPr>
          <a:xfrm>
            <a:off x="9076173" y="3966667"/>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الأمان</a:t>
            </a:r>
            <a:endParaRPr lang="ar-SA" sz="2100" dirty="0"/>
          </a:p>
        </p:txBody>
      </p:sp>
      <p:sp>
        <p:nvSpPr>
          <p:cNvPr id="25" name="anim-g3-1266"/>
          <p:cNvSpPr/>
          <p:nvPr/>
        </p:nvSpPr>
        <p:spPr>
          <a:xfrm>
            <a:off x="5184702" y="3966667"/>
            <a:ext cx="3644583" cy="616306"/>
          </a:xfrm>
          <a:prstGeom prst="roundRect">
            <a:avLst>
              <a:gd name="adj" fmla="val 17804"/>
            </a:avLst>
          </a:prstGeom>
          <a:solidFill>
            <a:srgbClr val="FFFFFF"/>
          </a:solidFill>
          <a:ln w="12700">
            <a:solidFill>
              <a:srgbClr val="E4DCC8"/>
            </a:solidFill>
            <a:prstDash val="solid"/>
          </a:ln>
        </p:spPr>
      </p:sp>
      <p:sp>
        <p:nvSpPr>
          <p:cNvPr id="26" name="anim-g3-1267"/>
          <p:cNvSpPr/>
          <p:nvPr/>
        </p:nvSpPr>
        <p:spPr>
          <a:xfrm>
            <a:off x="5321862" y="3966667"/>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لا حارس</a:t>
            </a:r>
            <a:endParaRPr lang="ar-SA" sz="2100" dirty="0"/>
          </a:p>
        </p:txBody>
      </p:sp>
      <p:sp>
        <p:nvSpPr>
          <p:cNvPr id="27" name="anim-g3-1268"/>
          <p:cNvSpPr/>
          <p:nvPr/>
        </p:nvSpPr>
        <p:spPr>
          <a:xfrm>
            <a:off x="822960" y="3966667"/>
            <a:ext cx="4252014" cy="616306"/>
          </a:xfrm>
          <a:prstGeom prst="roundRect">
            <a:avLst>
              <a:gd name="adj" fmla="val 17804"/>
            </a:avLst>
          </a:prstGeom>
          <a:solidFill>
            <a:srgbClr val="E6F4EC"/>
          </a:solidFill>
          <a:ln w="12700">
            <a:solidFill>
              <a:srgbClr val="CDE9D9"/>
            </a:solidFill>
            <a:prstDash val="solid"/>
          </a:ln>
        </p:spPr>
      </p:sp>
      <p:sp>
        <p:nvSpPr>
          <p:cNvPr id="28" name="anim-g3-1269"/>
          <p:cNvSpPr/>
          <p:nvPr/>
        </p:nvSpPr>
        <p:spPr>
          <a:xfrm>
            <a:off x="960120" y="3966667"/>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حارس شبكة، وحارس رمشة، وروبوت سلامة</a:t>
            </a:r>
            <a:endParaRPr lang="ar-SA" sz="2100" dirty="0"/>
          </a:p>
        </p:txBody>
      </p:sp>
      <p:sp>
        <p:nvSpPr>
          <p:cNvPr id="29" name="anim-g4-1270"/>
          <p:cNvSpPr/>
          <p:nvPr/>
        </p:nvSpPr>
        <p:spPr>
          <a:xfrm>
            <a:off x="8939013" y="4692701"/>
            <a:ext cx="2429722" cy="616306"/>
          </a:xfrm>
          <a:prstGeom prst="roundRect">
            <a:avLst>
              <a:gd name="adj" fmla="val 17804"/>
            </a:avLst>
          </a:prstGeom>
          <a:solidFill>
            <a:srgbClr val="FBF3DF"/>
          </a:solidFill>
          <a:ln w="12700">
            <a:solidFill>
              <a:srgbClr val="EFDDAF"/>
            </a:solidFill>
            <a:prstDash val="solid"/>
          </a:ln>
        </p:spPr>
      </p:sp>
      <p:sp>
        <p:nvSpPr>
          <p:cNvPr id="30" name="anim-g4-1271"/>
          <p:cNvSpPr/>
          <p:nvPr/>
        </p:nvSpPr>
        <p:spPr>
          <a:xfrm>
            <a:off x="9076173" y="4692701"/>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القرار</a:t>
            </a:r>
            <a:endParaRPr lang="ar-SA" sz="2100" dirty="0"/>
          </a:p>
        </p:txBody>
      </p:sp>
      <p:sp>
        <p:nvSpPr>
          <p:cNvPr id="31" name="anim-g4-1272"/>
          <p:cNvSpPr/>
          <p:nvPr/>
        </p:nvSpPr>
        <p:spPr>
          <a:xfrm>
            <a:off x="5184702" y="4692701"/>
            <a:ext cx="3644583" cy="616306"/>
          </a:xfrm>
          <a:prstGeom prst="roundRect">
            <a:avLst>
              <a:gd name="adj" fmla="val 17804"/>
            </a:avLst>
          </a:prstGeom>
          <a:solidFill>
            <a:srgbClr val="FFFFFF"/>
          </a:solidFill>
          <a:ln w="12700">
            <a:solidFill>
              <a:srgbClr val="E4DCC8"/>
            </a:solidFill>
            <a:prstDash val="solid"/>
          </a:ln>
        </p:spPr>
      </p:sp>
      <p:sp>
        <p:nvSpPr>
          <p:cNvPr id="32" name="anim-g4-1273"/>
          <p:cNvSpPr/>
          <p:nvPr/>
        </p:nvSpPr>
        <p:spPr>
          <a:xfrm>
            <a:off x="5321862" y="4692701"/>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أوامر مباشرة فقط</a:t>
            </a:r>
            <a:endParaRPr lang="ar-SA" sz="2100" dirty="0"/>
          </a:p>
        </p:txBody>
      </p:sp>
      <p:sp>
        <p:nvSpPr>
          <p:cNvPr id="33" name="anim-g4-1274"/>
          <p:cNvSpPr/>
          <p:nvPr/>
        </p:nvSpPr>
        <p:spPr>
          <a:xfrm>
            <a:off x="822960" y="4692701"/>
            <a:ext cx="4252014" cy="616306"/>
          </a:xfrm>
          <a:prstGeom prst="roundRect">
            <a:avLst>
              <a:gd name="adj" fmla="val 17804"/>
            </a:avLst>
          </a:prstGeom>
          <a:solidFill>
            <a:srgbClr val="E6F4EC"/>
          </a:solidFill>
          <a:ln w="12700">
            <a:solidFill>
              <a:srgbClr val="CDE9D9"/>
            </a:solidFill>
            <a:prstDash val="solid"/>
          </a:ln>
        </p:spPr>
      </p:sp>
      <p:sp>
        <p:nvSpPr>
          <p:cNvPr id="34" name="anim-g4-1275"/>
          <p:cNvSpPr/>
          <p:nvPr/>
        </p:nvSpPr>
        <p:spPr>
          <a:xfrm>
            <a:off x="960120" y="4692701"/>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قرارات مبنية على بيانات: الخطر الأعلى، والاهتمام</a:t>
            </a:r>
            <a:endParaRPr lang="ar-SA" sz="2100" dirty="0"/>
          </a:p>
        </p:txBody>
      </p:sp>
      <p:sp>
        <p:nvSpPr>
          <p:cNvPr id="35" name="anim-g5-1276"/>
          <p:cNvSpPr/>
          <p:nvPr/>
        </p:nvSpPr>
        <p:spPr>
          <a:xfrm>
            <a:off x="8939013" y="5418734"/>
            <a:ext cx="2429722" cy="616306"/>
          </a:xfrm>
          <a:prstGeom prst="roundRect">
            <a:avLst>
              <a:gd name="adj" fmla="val 17804"/>
            </a:avLst>
          </a:prstGeom>
          <a:solidFill>
            <a:srgbClr val="FBF3DF"/>
          </a:solidFill>
          <a:ln w="12700">
            <a:solidFill>
              <a:srgbClr val="EFDDAF"/>
            </a:solidFill>
            <a:prstDash val="solid"/>
          </a:ln>
        </p:spPr>
      </p:sp>
      <p:sp>
        <p:nvSpPr>
          <p:cNvPr id="36" name="anim-g5-1277"/>
          <p:cNvSpPr/>
          <p:nvPr/>
        </p:nvSpPr>
        <p:spPr>
          <a:xfrm>
            <a:off x="9076173" y="5418734"/>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العرض</a:t>
            </a:r>
            <a:endParaRPr lang="ar-SA" sz="2100" dirty="0"/>
          </a:p>
        </p:txBody>
      </p:sp>
      <p:sp>
        <p:nvSpPr>
          <p:cNvPr id="37" name="anim-g5-1278"/>
          <p:cNvSpPr/>
          <p:nvPr/>
        </p:nvSpPr>
        <p:spPr>
          <a:xfrm>
            <a:off x="5184702" y="5418734"/>
            <a:ext cx="3644583" cy="616306"/>
          </a:xfrm>
          <a:prstGeom prst="roundRect">
            <a:avLst>
              <a:gd name="adj" fmla="val 17804"/>
            </a:avLst>
          </a:prstGeom>
          <a:solidFill>
            <a:srgbClr val="FFFFFF"/>
          </a:solidFill>
          <a:ln w="12700">
            <a:solidFill>
              <a:srgbClr val="E4DCC8"/>
            </a:solidFill>
            <a:prstDash val="solid"/>
          </a:ln>
        </p:spPr>
      </p:sp>
      <p:sp>
        <p:nvSpPr>
          <p:cNvPr id="38" name="anim-g5-1279"/>
          <p:cNvSpPr/>
          <p:nvPr/>
        </p:nvSpPr>
        <p:spPr>
          <a:xfrm>
            <a:off x="5321862" y="5418734"/>
            <a:ext cx="337026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يقرأ من الورقة</a:t>
            </a:r>
            <a:endParaRPr lang="ar-SA" sz="2100" dirty="0"/>
          </a:p>
        </p:txBody>
      </p:sp>
      <p:sp>
        <p:nvSpPr>
          <p:cNvPr id="39" name="anim-g5-1280"/>
          <p:cNvSpPr/>
          <p:nvPr/>
        </p:nvSpPr>
        <p:spPr>
          <a:xfrm>
            <a:off x="822960" y="5418734"/>
            <a:ext cx="4252014" cy="616306"/>
          </a:xfrm>
          <a:prstGeom prst="roundRect">
            <a:avLst>
              <a:gd name="adj" fmla="val 17804"/>
            </a:avLst>
          </a:prstGeom>
          <a:solidFill>
            <a:srgbClr val="E6F4EC"/>
          </a:solidFill>
          <a:ln w="12700">
            <a:solidFill>
              <a:srgbClr val="CDE9D9"/>
            </a:solidFill>
            <a:prstDash val="solid"/>
          </a:ln>
        </p:spPr>
      </p:sp>
      <p:sp>
        <p:nvSpPr>
          <p:cNvPr id="40" name="anim-g5-1281"/>
          <p:cNvSpPr/>
          <p:nvPr/>
        </p:nvSpPr>
        <p:spPr>
          <a:xfrm>
            <a:off x="960120" y="5418734"/>
            <a:ext cx="3977694"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قصة وتجربة حية وتحديات ولحظة إنجليزية</a:t>
            </a:r>
            <a:endParaRPr lang="ar-SA" sz="21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المعرض والختام  ·  ١٧٨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0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00"/>
                                        <p:tgtEl>
                                          <p:spTgt spid="3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400"/>
                                        <p:tgtEl>
                                          <p:spTgt spid="3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40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00"/>
                                        <p:tgtEl>
                                          <p:spTgt spid="3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name="Slide 1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الخطوات القادمة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ما الذي يعمل عليه الفريق الآن؟</a:t>
            </a:r>
            <a:endParaRPr lang="ar-SA" sz="3800" dirty="0"/>
          </a:p>
        </p:txBody>
      </p:sp>
      <p:sp>
        <p:nvSpPr>
          <p:cNvPr id="5" name="anim-g1-1282"/>
          <p:cNvSpPr/>
          <p:nvPr/>
        </p:nvSpPr>
        <p:spPr>
          <a:xfrm>
            <a:off x="8036357"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283"/>
          <p:cNvSpPr/>
          <p:nvPr/>
        </p:nvSpPr>
        <p:spPr>
          <a:xfrm>
            <a:off x="10527487" y="2267712"/>
            <a:ext cx="566928" cy="566928"/>
          </a:xfrm>
          <a:prstGeom prst="roundRect">
            <a:avLst>
              <a:gd name="adj" fmla="val 32258"/>
            </a:avLst>
          </a:prstGeom>
          <a:solidFill>
            <a:srgbClr val="F7E6BC"/>
          </a:solidFill>
          <a:ln/>
        </p:spPr>
      </p:sp>
      <p:sp>
        <p:nvSpPr>
          <p:cNvPr id="7" name="anim-g1-128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28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محتوى البوابة</a:t>
            </a:r>
            <a:endParaRPr lang="ar-SA" sz="2200" dirty="0"/>
          </a:p>
        </p:txBody>
      </p:sp>
      <p:sp>
        <p:nvSpPr>
          <p:cNvPr id="9" name="anim-g1-1286"/>
          <p:cNvSpPr/>
          <p:nvPr/>
        </p:nvSpPr>
        <p:spPr>
          <a:xfrm>
            <a:off x="8310677"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الميزة جاهزة ومختبرة (النظر لأعلى)، وتنتظر المحتوى النهائي</a:t>
            </a:r>
            <a:endParaRPr lang="ar-SA" sz="1900" dirty="0"/>
          </a:p>
        </p:txBody>
      </p:sp>
      <p:sp>
        <p:nvSpPr>
          <p:cNvPr id="10" name="anim-g2-1287"/>
          <p:cNvSpPr/>
          <p:nvPr/>
        </p:nvSpPr>
        <p:spPr>
          <a:xfrm>
            <a:off x="4429658"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288"/>
          <p:cNvSpPr/>
          <p:nvPr/>
        </p:nvSpPr>
        <p:spPr>
          <a:xfrm>
            <a:off x="6920789" y="2267712"/>
            <a:ext cx="566928" cy="566928"/>
          </a:xfrm>
          <a:prstGeom prst="roundRect">
            <a:avLst>
              <a:gd name="adj" fmla="val 32258"/>
            </a:avLst>
          </a:prstGeom>
          <a:solidFill>
            <a:srgbClr val="F7E6BC"/>
          </a:solidFill>
          <a:ln/>
        </p:spPr>
      </p:sp>
      <p:sp>
        <p:nvSpPr>
          <p:cNvPr id="12" name="anim-g2-128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29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قياس الاهتمام</a:t>
            </a:r>
            <a:endParaRPr lang="ar-SA" sz="2200" dirty="0"/>
          </a:p>
        </p:txBody>
      </p:sp>
      <p:sp>
        <p:nvSpPr>
          <p:cNvPr id="14" name="anim-g2-1291"/>
          <p:cNvSpPr/>
          <p:nvPr/>
        </p:nvSpPr>
        <p:spPr>
          <a:xfrm>
            <a:off x="4703978"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ومكافأته بإضاءة خاصة، ثم ملخص شخصي للجولة</a:t>
            </a:r>
            <a:endParaRPr lang="ar-SA" sz="1900" dirty="0"/>
          </a:p>
        </p:txBody>
      </p:sp>
      <p:sp>
        <p:nvSpPr>
          <p:cNvPr id="15" name="anim-g3-1292"/>
          <p:cNvSpPr/>
          <p:nvPr/>
        </p:nvSpPr>
        <p:spPr>
          <a:xfrm>
            <a:off x="822960" y="201168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293"/>
          <p:cNvSpPr/>
          <p:nvPr/>
        </p:nvSpPr>
        <p:spPr>
          <a:xfrm>
            <a:off x="3314090" y="2267712"/>
            <a:ext cx="566928" cy="566928"/>
          </a:xfrm>
          <a:prstGeom prst="roundRect">
            <a:avLst>
              <a:gd name="adj" fmla="val 32258"/>
            </a:avLst>
          </a:prstGeom>
          <a:solidFill>
            <a:srgbClr val="F7E6BC"/>
          </a:solidFill>
          <a:ln/>
        </p:spPr>
      </p:sp>
      <p:sp>
        <p:nvSpPr>
          <p:cNvPr id="17" name="anim-g3-129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29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كاميرا على آيباد</a:t>
            </a:r>
            <a:endParaRPr lang="ar-SA" sz="2200" dirty="0"/>
          </a:p>
        </p:txBody>
      </p:sp>
      <p:sp>
        <p:nvSpPr>
          <p:cNvPr id="19" name="anim-g3-1296"/>
          <p:cNvSpPr/>
          <p:nvPr/>
        </p:nvSpPr>
        <p:spPr>
          <a:xfrm>
            <a:off x="1097280" y="349300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حل محمول للاستخدام الميداني بدل الحاسوب</a:t>
            </a:r>
            <a:endParaRPr lang="ar-SA" sz="1900" dirty="0"/>
          </a:p>
        </p:txBody>
      </p:sp>
      <p:sp>
        <p:nvSpPr>
          <p:cNvPr id="20" name="anim-g4-1297"/>
          <p:cNvSpPr/>
          <p:nvPr/>
        </p:nvSpPr>
        <p:spPr>
          <a:xfrm>
            <a:off x="8036357"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1298"/>
          <p:cNvSpPr/>
          <p:nvPr/>
        </p:nvSpPr>
        <p:spPr>
          <a:xfrm>
            <a:off x="10527487" y="4393692"/>
            <a:ext cx="566928" cy="566928"/>
          </a:xfrm>
          <a:prstGeom prst="roundRect">
            <a:avLst>
              <a:gd name="adj" fmla="val 32258"/>
            </a:avLst>
          </a:prstGeom>
          <a:solidFill>
            <a:srgbClr val="F7E6BC"/>
          </a:solidFill>
          <a:ln/>
        </p:spPr>
      </p:sp>
      <p:sp>
        <p:nvSpPr>
          <p:cNvPr id="22" name="anim-g4-1299"/>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1300"/>
          <p:cNvSpPr/>
          <p:nvPr/>
        </p:nvSpPr>
        <p:spPr>
          <a:xfrm>
            <a:off x="8310677"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حساس مسافة</a:t>
            </a:r>
            <a:endParaRPr lang="ar-SA" sz="2200" dirty="0"/>
          </a:p>
        </p:txBody>
      </p:sp>
      <p:sp>
        <p:nvSpPr>
          <p:cNvPr id="24" name="anim-g4-1301"/>
          <p:cNvSpPr/>
          <p:nvPr/>
        </p:nvSpPr>
        <p:spPr>
          <a:xfrm>
            <a:off x="8310677"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يبدّل تلقائيًا بين وضع القيادة ووضع الاستكشاف</a:t>
            </a:r>
            <a:endParaRPr lang="ar-SA" sz="1900" dirty="0"/>
          </a:p>
        </p:txBody>
      </p:sp>
      <p:sp>
        <p:nvSpPr>
          <p:cNvPr id="25" name="anim-g5-1302"/>
          <p:cNvSpPr/>
          <p:nvPr/>
        </p:nvSpPr>
        <p:spPr>
          <a:xfrm>
            <a:off x="4429658"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6" name="anim-g5-1303"/>
          <p:cNvSpPr/>
          <p:nvPr/>
        </p:nvSpPr>
        <p:spPr>
          <a:xfrm>
            <a:off x="6920789" y="4393692"/>
            <a:ext cx="566928" cy="566928"/>
          </a:xfrm>
          <a:prstGeom prst="roundRect">
            <a:avLst>
              <a:gd name="adj" fmla="val 32258"/>
            </a:avLst>
          </a:prstGeom>
          <a:solidFill>
            <a:srgbClr val="F7E6BC"/>
          </a:solidFill>
          <a:ln/>
        </p:spPr>
      </p:sp>
      <p:sp>
        <p:nvSpPr>
          <p:cNvPr id="27" name="anim-g5-1304"/>
          <p:cNvSpPr/>
          <p:nvPr/>
        </p:nvSpPr>
        <p:spPr>
          <a:xfrm>
            <a:off x="6920789"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8" name="anim-g5-1305"/>
          <p:cNvSpPr/>
          <p:nvPr/>
        </p:nvSpPr>
        <p:spPr>
          <a:xfrm>
            <a:off x="4703978"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دمج الكرسي</a:t>
            </a:r>
            <a:endParaRPr lang="ar-SA" sz="2200" dirty="0"/>
          </a:p>
        </p:txBody>
      </p:sp>
      <p:sp>
        <p:nvSpPr>
          <p:cNvPr id="29" name="anim-g5-1306"/>
          <p:cNvSpPr/>
          <p:nvPr/>
        </p:nvSpPr>
        <p:spPr>
          <a:xfrm>
            <a:off x="4703978"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توحيد تجربة القيادة والاستكشاف بالكامل</a:t>
            </a:r>
            <a:endParaRPr lang="ar-SA" sz="1900" dirty="0"/>
          </a:p>
        </p:txBody>
      </p:sp>
      <p:sp>
        <p:nvSpPr>
          <p:cNvPr id="30" name="anim-g6-1307"/>
          <p:cNvSpPr/>
          <p:nvPr/>
        </p:nvSpPr>
        <p:spPr>
          <a:xfrm>
            <a:off x="822960" y="4137660"/>
            <a:ext cx="333237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31" name="anim-g6-1308"/>
          <p:cNvSpPr/>
          <p:nvPr/>
        </p:nvSpPr>
        <p:spPr>
          <a:xfrm>
            <a:off x="3314090" y="4393692"/>
            <a:ext cx="566928" cy="566928"/>
          </a:xfrm>
          <a:prstGeom prst="roundRect">
            <a:avLst>
              <a:gd name="adj" fmla="val 32258"/>
            </a:avLst>
          </a:prstGeom>
          <a:solidFill>
            <a:srgbClr val="F7E6BC"/>
          </a:solidFill>
          <a:ln/>
        </p:spPr>
      </p:sp>
      <p:sp>
        <p:nvSpPr>
          <p:cNvPr id="32" name="anim-g6-1309"/>
          <p:cNvSpPr/>
          <p:nvPr/>
        </p:nvSpPr>
        <p:spPr>
          <a:xfrm>
            <a:off x="331409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33" name="anim-g6-1310"/>
          <p:cNvSpPr/>
          <p:nvPr/>
        </p:nvSpPr>
        <p:spPr>
          <a:xfrm>
            <a:off x="1097280" y="507034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روبوت ثالث وأكثر</a:t>
            </a:r>
            <a:endParaRPr lang="ar-SA" sz="2200" dirty="0"/>
          </a:p>
        </p:txBody>
      </p:sp>
      <p:sp>
        <p:nvSpPr>
          <p:cNvPr id="34" name="anim-g6-1311"/>
          <p:cNvSpPr/>
          <p:nvPr/>
        </p:nvSpPr>
        <p:spPr>
          <a:xfrm>
            <a:off x="1097280" y="5618988"/>
            <a:ext cx="278373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كل روبوت جديد يحتاج عنوانًا وأمرًا: شبكة تحمي معرضًا كاملًا</a:t>
            </a:r>
            <a:endParaRPr lang="ar-SA" sz="19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المعرض والختام  ·  ١٧٩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4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4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4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4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4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4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4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4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name="Slide 1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خارطة الطريق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درّس «لمسة تراث» في عشرة أسابيع</a:t>
            </a:r>
            <a:endParaRPr lang="ar-SA" sz="3800" dirty="0"/>
          </a:p>
        </p:txBody>
      </p:sp>
      <p:sp>
        <p:nvSpPr>
          <p:cNvPr id="5" name="anim-g1-1312"/>
          <p:cNvSpPr/>
          <p:nvPr/>
        </p:nvSpPr>
        <p:spPr>
          <a:xfrm>
            <a:off x="822960" y="1920240"/>
            <a:ext cx="10545775" cy="594360"/>
          </a:xfrm>
          <a:prstGeom prst="roundRect">
            <a:avLst>
              <a:gd name="adj" fmla="val 24615"/>
            </a:avLst>
          </a:prstGeom>
          <a:solidFill>
            <a:srgbClr val="FFFFFF"/>
          </a:solidFill>
          <a:ln w="12700">
            <a:solidFill>
              <a:srgbClr val="E4DCC8"/>
            </a:solidFill>
            <a:prstDash val="solid"/>
          </a:ln>
        </p:spPr>
      </p:sp>
      <p:sp>
        <p:nvSpPr>
          <p:cNvPr id="6" name="anim-g1-1313"/>
          <p:cNvSpPr/>
          <p:nvPr/>
        </p:nvSpPr>
        <p:spPr>
          <a:xfrm>
            <a:off x="10728655" y="2011680"/>
            <a:ext cx="411480" cy="411480"/>
          </a:xfrm>
          <a:prstGeom prst="ellipse">
            <a:avLst/>
          </a:prstGeom>
          <a:solidFill>
            <a:srgbClr val="D9AE4B"/>
          </a:solidFill>
          <a:ln/>
        </p:spPr>
      </p:sp>
      <p:sp>
        <p:nvSpPr>
          <p:cNvPr id="7" name="anim-g1-1314"/>
          <p:cNvSpPr/>
          <p:nvPr/>
        </p:nvSpPr>
        <p:spPr>
          <a:xfrm>
            <a:off x="10728655" y="201168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315"/>
          <p:cNvSpPr/>
          <p:nvPr/>
        </p:nvSpPr>
        <p:spPr>
          <a:xfrm>
            <a:off x="1097280" y="192024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١: القصة والبحث والمنظومة</a:t>
            </a:r>
            <a:pPr algn="r" indent="0" marL="0">
              <a:buNone/>
            </a:pPr>
            <a:r>
              <a:rPr lang="ar-SA" altLang="en-US" sz="1800" b="1" dirty="0">
                <a:solidFill>
                  <a:srgbClr val="3B4460"/>
                </a:solidFill>
                <a:latin typeface="Cairo" pitchFamily="34" charset="0"/>
                <a:ea typeface="Cairo" pitchFamily="34" charset="-122"/>
                <a:cs typeface="Cairo" pitchFamily="34" charset="-120"/>
              </a:rPr>
              <a:t>   — زيارة افتراضية للمصمك ونقاش عن الإعاقة والوصول</a:t>
            </a:r>
            <a:endParaRPr lang="ar-SA" sz="2200" dirty="0"/>
          </a:p>
        </p:txBody>
      </p:sp>
      <p:sp>
        <p:nvSpPr>
          <p:cNvPr id="9" name="anim-g2-1316"/>
          <p:cNvSpPr/>
          <p:nvPr/>
        </p:nvSpPr>
        <p:spPr>
          <a:xfrm>
            <a:off x="822960" y="2624328"/>
            <a:ext cx="10545775" cy="594360"/>
          </a:xfrm>
          <a:prstGeom prst="roundRect">
            <a:avLst>
              <a:gd name="adj" fmla="val 24615"/>
            </a:avLst>
          </a:prstGeom>
          <a:solidFill>
            <a:srgbClr val="FFFFFF"/>
          </a:solidFill>
          <a:ln w="12700">
            <a:solidFill>
              <a:srgbClr val="E4DCC8"/>
            </a:solidFill>
            <a:prstDash val="solid"/>
          </a:ln>
        </p:spPr>
      </p:sp>
      <p:sp>
        <p:nvSpPr>
          <p:cNvPr id="10" name="anim-g2-1317"/>
          <p:cNvSpPr/>
          <p:nvPr/>
        </p:nvSpPr>
        <p:spPr>
          <a:xfrm>
            <a:off x="10728655" y="2715768"/>
            <a:ext cx="411480" cy="411480"/>
          </a:xfrm>
          <a:prstGeom prst="ellipse">
            <a:avLst/>
          </a:prstGeom>
          <a:solidFill>
            <a:srgbClr val="D9AE4B"/>
          </a:solidFill>
          <a:ln/>
        </p:spPr>
      </p:sp>
      <p:sp>
        <p:nvSpPr>
          <p:cNvPr id="11" name="anim-g2-1318"/>
          <p:cNvSpPr/>
          <p:nvPr/>
        </p:nvSpPr>
        <p:spPr>
          <a:xfrm>
            <a:off x="10728655" y="2715768"/>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319"/>
          <p:cNvSpPr/>
          <p:nvPr/>
        </p:nvSpPr>
        <p:spPr>
          <a:xfrm>
            <a:off x="1097280" y="2624328"/>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٢–٣: المجسّم الدوّار</a:t>
            </a:r>
            <a:pPr algn="r" indent="0" marL="0">
              <a:buNone/>
            </a:pPr>
            <a:r>
              <a:rPr lang="ar-SA" altLang="en-US" sz="1800" b="1" dirty="0">
                <a:solidFill>
                  <a:srgbClr val="3B4460"/>
                </a:solidFill>
                <a:latin typeface="Cairo" pitchFamily="34" charset="0"/>
                <a:ea typeface="Cairo" pitchFamily="34" charset="-122"/>
                <a:cs typeface="Cairo" pitchFamily="34" charset="-120"/>
              </a:rPr>
              <a:t>   — A4988 وNEMA17، ثم WS2812B</a:t>
            </a:r>
            <a:endParaRPr lang="ar-SA" sz="2200" dirty="0"/>
          </a:p>
        </p:txBody>
      </p:sp>
      <p:sp>
        <p:nvSpPr>
          <p:cNvPr id="13" name="anim-g3-1320"/>
          <p:cNvSpPr/>
          <p:nvPr/>
        </p:nvSpPr>
        <p:spPr>
          <a:xfrm>
            <a:off x="822960" y="3328416"/>
            <a:ext cx="10545775" cy="594360"/>
          </a:xfrm>
          <a:prstGeom prst="roundRect">
            <a:avLst>
              <a:gd name="adj" fmla="val 24615"/>
            </a:avLst>
          </a:prstGeom>
          <a:solidFill>
            <a:srgbClr val="FFFFFF"/>
          </a:solidFill>
          <a:ln w="12700">
            <a:solidFill>
              <a:srgbClr val="E4DCC8"/>
            </a:solidFill>
            <a:prstDash val="solid"/>
          </a:ln>
        </p:spPr>
      </p:sp>
      <p:sp>
        <p:nvSpPr>
          <p:cNvPr id="14" name="anim-g3-1321"/>
          <p:cNvSpPr/>
          <p:nvPr/>
        </p:nvSpPr>
        <p:spPr>
          <a:xfrm>
            <a:off x="10728655" y="3419856"/>
            <a:ext cx="411480" cy="411480"/>
          </a:xfrm>
          <a:prstGeom prst="ellipse">
            <a:avLst/>
          </a:prstGeom>
          <a:solidFill>
            <a:srgbClr val="D9AE4B"/>
          </a:solidFill>
          <a:ln/>
        </p:spPr>
      </p:sp>
      <p:sp>
        <p:nvSpPr>
          <p:cNvPr id="15" name="anim-g3-1322"/>
          <p:cNvSpPr/>
          <p:nvPr/>
        </p:nvSpPr>
        <p:spPr>
          <a:xfrm>
            <a:off x="10728655" y="3419856"/>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323"/>
          <p:cNvSpPr/>
          <p:nvPr/>
        </p:nvSpPr>
        <p:spPr>
          <a:xfrm>
            <a:off x="1097280" y="3328416"/>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٤–٥: المحتوى والشبكة</a:t>
            </a:r>
            <a:pPr algn="r" indent="0" marL="0">
              <a:buNone/>
            </a:pPr>
            <a:r>
              <a:rPr lang="ar-SA" altLang="en-US" sz="1800" b="1" dirty="0">
                <a:solidFill>
                  <a:srgbClr val="3B4460"/>
                </a:solidFill>
                <a:latin typeface="Cairo" pitchFamily="34" charset="0"/>
                <a:ea typeface="Cairo" pitchFamily="34" charset="-122"/>
                <a:cs typeface="Cairo" pitchFamily="34" charset="-120"/>
              </a:rPr>
              <a:t>   — الراسبيري ولغة الإشارة، ثم UDP والحارس</a:t>
            </a:r>
            <a:endParaRPr lang="ar-SA" sz="2200" dirty="0"/>
          </a:p>
        </p:txBody>
      </p:sp>
      <p:sp>
        <p:nvSpPr>
          <p:cNvPr id="17" name="anim-g4-1324"/>
          <p:cNvSpPr/>
          <p:nvPr/>
        </p:nvSpPr>
        <p:spPr>
          <a:xfrm>
            <a:off x="822960" y="4032504"/>
            <a:ext cx="10545775" cy="594360"/>
          </a:xfrm>
          <a:prstGeom prst="roundRect">
            <a:avLst>
              <a:gd name="adj" fmla="val 24615"/>
            </a:avLst>
          </a:prstGeom>
          <a:solidFill>
            <a:srgbClr val="FFFFFF"/>
          </a:solidFill>
          <a:ln w="12700">
            <a:solidFill>
              <a:srgbClr val="E4DCC8"/>
            </a:solidFill>
            <a:prstDash val="solid"/>
          </a:ln>
        </p:spPr>
      </p:sp>
      <p:sp>
        <p:nvSpPr>
          <p:cNvPr id="18" name="anim-g4-1325"/>
          <p:cNvSpPr/>
          <p:nvPr/>
        </p:nvSpPr>
        <p:spPr>
          <a:xfrm>
            <a:off x="10728655" y="4123944"/>
            <a:ext cx="411480" cy="411480"/>
          </a:xfrm>
          <a:prstGeom prst="ellipse">
            <a:avLst/>
          </a:prstGeom>
          <a:solidFill>
            <a:srgbClr val="D9AE4B"/>
          </a:solidFill>
          <a:ln/>
        </p:spPr>
      </p:sp>
      <p:sp>
        <p:nvSpPr>
          <p:cNvPr id="19" name="anim-g4-1326"/>
          <p:cNvSpPr/>
          <p:nvPr/>
        </p:nvSpPr>
        <p:spPr>
          <a:xfrm>
            <a:off x="10728655" y="4123944"/>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327"/>
          <p:cNvSpPr/>
          <p:nvPr/>
        </p:nvSpPr>
        <p:spPr>
          <a:xfrm>
            <a:off x="1097280" y="4032504"/>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٦–٧: العين والجولة</a:t>
            </a:r>
            <a:pPr algn="r" indent="0" marL="0">
              <a:buNone/>
            </a:pPr>
            <a:r>
              <a:rPr lang="ar-SA" altLang="en-US" sz="1800" b="1" dirty="0">
                <a:solidFill>
                  <a:srgbClr val="3B4460"/>
                </a:solidFill>
                <a:latin typeface="Cairo" pitchFamily="34" charset="0"/>
                <a:ea typeface="Cairo" pitchFamily="34" charset="-122"/>
                <a:cs typeface="Cairo" pitchFamily="34" charset="-120"/>
              </a:rPr>
              <a:t>   — MediaPipe والمعايرة، ثم الكرسي والتكامل</a:t>
            </a:r>
            <a:endParaRPr lang="ar-SA" sz="2200" dirty="0"/>
          </a:p>
        </p:txBody>
      </p:sp>
      <p:sp>
        <p:nvSpPr>
          <p:cNvPr id="21" name="anim-g5-1328"/>
          <p:cNvSpPr/>
          <p:nvPr/>
        </p:nvSpPr>
        <p:spPr>
          <a:xfrm>
            <a:off x="822960" y="4736592"/>
            <a:ext cx="10545775" cy="594360"/>
          </a:xfrm>
          <a:prstGeom prst="roundRect">
            <a:avLst>
              <a:gd name="adj" fmla="val 24615"/>
            </a:avLst>
          </a:prstGeom>
          <a:solidFill>
            <a:srgbClr val="FFFFFF"/>
          </a:solidFill>
          <a:ln w="12700">
            <a:solidFill>
              <a:srgbClr val="E4DCC8"/>
            </a:solidFill>
            <a:prstDash val="solid"/>
          </a:ln>
        </p:spPr>
      </p:sp>
      <p:sp>
        <p:nvSpPr>
          <p:cNvPr id="22" name="anim-g5-1329"/>
          <p:cNvSpPr/>
          <p:nvPr/>
        </p:nvSpPr>
        <p:spPr>
          <a:xfrm>
            <a:off x="10728655" y="4828032"/>
            <a:ext cx="411480" cy="411480"/>
          </a:xfrm>
          <a:prstGeom prst="ellipse">
            <a:avLst/>
          </a:prstGeom>
          <a:solidFill>
            <a:srgbClr val="D9AE4B"/>
          </a:solidFill>
          <a:ln/>
        </p:spPr>
      </p:sp>
      <p:sp>
        <p:nvSpPr>
          <p:cNvPr id="23" name="anim-g5-1330"/>
          <p:cNvSpPr/>
          <p:nvPr/>
        </p:nvSpPr>
        <p:spPr>
          <a:xfrm>
            <a:off x="10728655" y="4828032"/>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1331"/>
          <p:cNvSpPr/>
          <p:nvPr/>
        </p:nvSpPr>
        <p:spPr>
          <a:xfrm>
            <a:off x="1097280" y="4736592"/>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٨–٩: روبوتا السلامة</a:t>
            </a:r>
            <a:pPr algn="r" indent="0" marL="0">
              <a:buNone/>
            </a:pPr>
            <a:r>
              <a:rPr lang="ar-SA" altLang="en-US" sz="1800" b="1" dirty="0">
                <a:solidFill>
                  <a:srgbClr val="3B4460"/>
                </a:solidFill>
                <a:latin typeface="Cairo" pitchFamily="34" charset="0"/>
                <a:ea typeface="Cairo" pitchFamily="34" charset="-122"/>
                <a:cs typeface="Cairo" pitchFamily="34" charset="-120"/>
              </a:rPr>
              <a:t>   — المحطة بالنسب، والروبوتان، وESP-NOW والقرار</a:t>
            </a:r>
            <a:endParaRPr lang="ar-SA" sz="2200" dirty="0"/>
          </a:p>
        </p:txBody>
      </p:sp>
      <p:sp>
        <p:nvSpPr>
          <p:cNvPr id="25" name="anim-g6-1332"/>
          <p:cNvSpPr/>
          <p:nvPr/>
        </p:nvSpPr>
        <p:spPr>
          <a:xfrm>
            <a:off x="822960" y="5440680"/>
            <a:ext cx="10545775" cy="594360"/>
          </a:xfrm>
          <a:prstGeom prst="roundRect">
            <a:avLst>
              <a:gd name="adj" fmla="val 24615"/>
            </a:avLst>
          </a:prstGeom>
          <a:solidFill>
            <a:srgbClr val="FFFFFF"/>
          </a:solidFill>
          <a:ln w="12700">
            <a:solidFill>
              <a:srgbClr val="E4DCC8"/>
            </a:solidFill>
            <a:prstDash val="solid"/>
          </a:ln>
        </p:spPr>
      </p:sp>
      <p:sp>
        <p:nvSpPr>
          <p:cNvPr id="26" name="anim-g6-1333"/>
          <p:cNvSpPr/>
          <p:nvPr/>
        </p:nvSpPr>
        <p:spPr>
          <a:xfrm>
            <a:off x="10728655" y="5532120"/>
            <a:ext cx="411480" cy="411480"/>
          </a:xfrm>
          <a:prstGeom prst="ellipse">
            <a:avLst/>
          </a:prstGeom>
          <a:solidFill>
            <a:srgbClr val="D9AE4B"/>
          </a:solidFill>
          <a:ln/>
        </p:spPr>
      </p:sp>
      <p:sp>
        <p:nvSpPr>
          <p:cNvPr id="27" name="anim-g6-1334"/>
          <p:cNvSpPr/>
          <p:nvPr/>
        </p:nvSpPr>
        <p:spPr>
          <a:xfrm>
            <a:off x="10728655" y="553212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٦</a:t>
            </a:r>
            <a:endParaRPr lang="ar-SA" sz="2000" dirty="0"/>
          </a:p>
        </p:txBody>
      </p:sp>
      <p:sp>
        <p:nvSpPr>
          <p:cNvPr id="28" name="anim-g6-1335"/>
          <p:cNvSpPr/>
          <p:nvPr/>
        </p:nvSpPr>
        <p:spPr>
          <a:xfrm>
            <a:off x="1097280" y="544068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١٠: المعرض</a:t>
            </a:r>
            <a:pPr algn="r" indent="0" marL="0">
              <a:buNone/>
            </a:pPr>
            <a:r>
              <a:rPr lang="ar-SA" altLang="en-US" sz="1800" b="1" dirty="0">
                <a:solidFill>
                  <a:srgbClr val="3B4460"/>
                </a:solidFill>
                <a:latin typeface="Cairo" pitchFamily="34" charset="0"/>
                <a:ea typeface="Cairo" pitchFamily="34" charset="-122"/>
                <a:cs typeface="Cairo" pitchFamily="34" charset="-120"/>
              </a:rPr>
              <a:t>   — البروفة والعرض بلغتين والتحكيم</a:t>
            </a:r>
            <a:endParaRPr lang="ar-SA" sz="22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لمسة تراث</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المعرض والختام  ·  ١٨٠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name="Slide 1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ختامي — ثلاث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معلمي… للجميع</a:t>
            </a:r>
            <a:endParaRPr lang="ar-SA" sz="3800" dirty="0"/>
          </a:p>
        </p:txBody>
      </p:sp>
      <p:sp>
        <p:nvSpPr>
          <p:cNvPr id="5" name="anim-g1-1336"/>
          <p:cNvSpPr/>
          <p:nvPr/>
        </p:nvSpPr>
        <p:spPr>
          <a:xfrm>
            <a:off x="10637215" y="2286000"/>
            <a:ext cx="731520" cy="731520"/>
          </a:xfrm>
          <a:prstGeom prst="ellipse">
            <a:avLst/>
          </a:prstGeom>
          <a:solidFill>
            <a:srgbClr val="D9AE4B"/>
          </a:solidFill>
          <a:ln/>
        </p:spPr>
      </p:sp>
      <p:sp>
        <p:nvSpPr>
          <p:cNvPr id="6" name="anim-g1-1337"/>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1338"/>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أي معلم تراثي في منطقتك تختاره لمشروع طلابك؟</a:t>
            </a:r>
            <a:endParaRPr lang="ar-SA" sz="2200" dirty="0"/>
          </a:p>
        </p:txBody>
      </p:sp>
      <p:sp>
        <p:nvSpPr>
          <p:cNvPr id="8" name="anim-g2-1339"/>
          <p:cNvSpPr/>
          <p:nvPr/>
        </p:nvSpPr>
        <p:spPr>
          <a:xfrm>
            <a:off x="10637215" y="3383280"/>
            <a:ext cx="731520" cy="731520"/>
          </a:xfrm>
          <a:prstGeom prst="ellipse">
            <a:avLst/>
          </a:prstGeom>
          <a:solidFill>
            <a:srgbClr val="D9AE4B"/>
          </a:solidFill>
          <a:ln/>
        </p:spPr>
      </p:sp>
      <p:sp>
        <p:nvSpPr>
          <p:cNvPr id="9" name="anim-g2-1340"/>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1341"/>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من الزائر الذي لا يستطيع اليوم أن يستمتع به؟ ولماذا؟</a:t>
            </a:r>
            <a:endParaRPr lang="ar-SA" sz="2200" dirty="0"/>
          </a:p>
        </p:txBody>
      </p:sp>
      <p:sp>
        <p:nvSpPr>
          <p:cNvPr id="11" name="anim-g3-1342"/>
          <p:cNvSpPr/>
          <p:nvPr/>
        </p:nvSpPr>
        <p:spPr>
          <a:xfrm>
            <a:off x="10637215" y="4480560"/>
            <a:ext cx="731520" cy="731520"/>
          </a:xfrm>
          <a:prstGeom prst="ellipse">
            <a:avLst/>
          </a:prstGeom>
          <a:solidFill>
            <a:srgbClr val="D9AE4B"/>
          </a:solidFill>
          <a:ln/>
        </p:spPr>
      </p:sp>
      <p:sp>
        <p:nvSpPr>
          <p:cNvPr id="12" name="anim-g3-1343"/>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1344"/>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ما الواجهة الواحدة التي تخدمه وتخدم غيره معًا؟</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3:00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٣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المعرض والختام  ·  ١٨١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name="Slide 1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رسالة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نجعل التراث يُرى ويُسمع ويُعاش…</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ليصبح تاريخ وطننا أقرب وأسهل للجميع</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لمسة تراث</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المعرض والختام  ·  ١٨٢</a:t>
            </a:r>
            <a:endParaRPr lang="ar-SA" sz="12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ننظر إلى الماضي… بعين المستقبل</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لمسة تراث · إعداد وتقديم: أ. محمد زيتون</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183</Slides>
  <Notes>183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183</vt:i4>
      </vt:variant>
    </vt:vector>
  </HeadingPairs>
  <TitlesOfParts>
    <vt:vector size="1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لمسة تراث</dc:title>
  <dc:subject>PptxGenJS Presentation</dc:subject>
  <dc:creator>أ. محمد زيتون</dc:creator>
  <cp:lastModifiedBy>أ. محمد زيتون</cp:lastModifiedBy>
  <cp:revision>1</cp:revision>
  <dcterms:created xsi:type="dcterms:W3CDTF">2026-10-02T17:32:29Z</dcterms:created>
  <dcterms:modified xsi:type="dcterms:W3CDTF">2026-10-02T17:32:29Z</dcterms:modified>
</cp:coreProperties>
</file>