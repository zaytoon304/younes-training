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slideMasters/slideMaster134.xml" ContentType="application/vnd.openxmlformats-officedocument.presentationml.slideMaster+xml"/>
  <Override PartName="/ppt/slides/slide134.xml" ContentType="application/vnd.openxmlformats-officedocument.presentationml.slide+xml"/>
  <Override PartName="/ppt/slideMasters/slideMaster135.xml" ContentType="application/vnd.openxmlformats-officedocument.presentationml.slideMaster+xml"/>
  <Override PartName="/ppt/slides/slide135.xml" ContentType="application/vnd.openxmlformats-officedocument.presentationml.slide+xml"/>
  <Override PartName="/ppt/slideMasters/slideMaster136.xml" ContentType="application/vnd.openxmlformats-officedocument.presentationml.slideMaster+xml"/>
  <Override PartName="/ppt/slides/slide136.xml" ContentType="application/vnd.openxmlformats-officedocument.presentationml.slide+xml"/>
  <Override PartName="/ppt/slideMasters/slideMaster137.xml" ContentType="application/vnd.openxmlformats-officedocument.presentationml.slideMaster+xml"/>
  <Override PartName="/ppt/slides/slide137.xml" ContentType="application/vnd.openxmlformats-officedocument.presentationml.slide+xml"/>
  <Override PartName="/ppt/slideMasters/slideMaster138.xml" ContentType="application/vnd.openxmlformats-officedocument.presentationml.slideMaster+xml"/>
  <Override PartName="/ppt/slides/slide138.xml" ContentType="application/vnd.openxmlformats-officedocument.presentationml.slide+xml"/>
  <Override PartName="/ppt/slideMasters/slideMaster139.xml" ContentType="application/vnd.openxmlformats-officedocument.presentationml.slideMaster+xml"/>
  <Override PartName="/ppt/slides/slide139.xml" ContentType="application/vnd.openxmlformats-officedocument.presentationml.slide+xml"/>
  <Override PartName="/ppt/slideMasters/slideMaster140.xml" ContentType="application/vnd.openxmlformats-officedocument.presentationml.slideMaster+xml"/>
  <Override PartName="/ppt/slides/slide140.xml" ContentType="application/vnd.openxmlformats-officedocument.presentationml.slide+xml"/>
  <Override PartName="/ppt/slideMasters/slideMaster141.xml" ContentType="application/vnd.openxmlformats-officedocument.presentationml.slideMaster+xml"/>
  <Override PartName="/ppt/slides/slide141.xml" ContentType="application/vnd.openxmlformats-officedocument.presentationml.slide+xml"/>
  <Override PartName="/ppt/slideMasters/slideMaster142.xml" ContentType="application/vnd.openxmlformats-officedocument.presentationml.slideMaster+xml"/>
  <Override PartName="/ppt/slides/slide142.xml" ContentType="application/vnd.openxmlformats-officedocument.presentationml.slide+xml"/>
  <Override PartName="/ppt/slideMasters/slideMaster143.xml" ContentType="application/vnd.openxmlformats-officedocument.presentationml.slideMaster+xml"/>
  <Override PartName="/ppt/slides/slide143.xml" ContentType="application/vnd.openxmlformats-officedocument.presentationml.slide+xml"/>
  <Override PartName="/ppt/slideMasters/slideMaster144.xml" ContentType="application/vnd.openxmlformats-officedocument.presentationml.slideMaster+xml"/>
  <Override PartName="/ppt/slides/slide144.xml" ContentType="application/vnd.openxmlformats-officedocument.presentationml.slide+xml"/>
  <Override PartName="/ppt/slideMasters/slideMaster145.xml" ContentType="application/vnd.openxmlformats-officedocument.presentationml.slideMaster+xml"/>
  <Override PartName="/ppt/slides/slide145.xml" ContentType="application/vnd.openxmlformats-officedocument.presentationml.slide+xml"/>
  <Override PartName="/ppt/slideMasters/slideMaster146.xml" ContentType="application/vnd.openxmlformats-officedocument.presentationml.slideMaster+xml"/>
  <Override PartName="/ppt/slides/slide146.xml" ContentType="application/vnd.openxmlformats-officedocument.presentationml.slide+xml"/>
  <Override PartName="/ppt/slideMasters/slideMaster147.xml" ContentType="application/vnd.openxmlformats-officedocument.presentationml.slideMaster+xml"/>
  <Override PartName="/ppt/slides/slide147.xml" ContentType="application/vnd.openxmlformats-officedocument.presentationml.slide+xml"/>
  <Override PartName="/ppt/slideMasters/slideMaster148.xml" ContentType="application/vnd.openxmlformats-officedocument.presentationml.slideMaster+xml"/>
  <Override PartName="/ppt/slides/slide148.xml" ContentType="application/vnd.openxmlformats-officedocument.presentationml.slide+xml"/>
  <Override PartName="/ppt/slideMasters/slideMaster149.xml" ContentType="application/vnd.openxmlformats-officedocument.presentationml.slideMaster+xml"/>
  <Override PartName="/ppt/slides/slide149.xml" ContentType="application/vnd.openxmlformats-officedocument.presentationml.slide+xml"/>
  <Override PartName="/ppt/slideMasters/slideMaster150.xml" ContentType="application/vnd.openxmlformats-officedocument.presentationml.slideMaster+xml"/>
  <Override PartName="/ppt/slides/slide150.xml" ContentType="application/vnd.openxmlformats-officedocument.presentationml.slide+xml"/>
  <Override PartName="/ppt/slideMasters/slideMaster151.xml" ContentType="application/vnd.openxmlformats-officedocument.presentationml.slideMaster+xml"/>
  <Override PartName="/ppt/slides/slide151.xml" ContentType="application/vnd.openxmlformats-officedocument.presentationml.slide+xml"/>
  <Override PartName="/ppt/slideMasters/slideMaster152.xml" ContentType="application/vnd.openxmlformats-officedocument.presentationml.slideMaster+xml"/>
  <Override PartName="/ppt/slides/slide152.xml" ContentType="application/vnd.openxmlformats-officedocument.presentationml.slide+xml"/>
  <Override PartName="/ppt/slideMasters/slideMaster153.xml" ContentType="application/vnd.openxmlformats-officedocument.presentationml.slideMaster+xml"/>
  <Override PartName="/ppt/slides/slide153.xml" ContentType="application/vnd.openxmlformats-officedocument.presentationml.slide+xml"/>
  <Override PartName="/ppt/slideMasters/slideMaster154.xml" ContentType="application/vnd.openxmlformats-officedocument.presentationml.slideMaster+xml"/>
  <Override PartName="/ppt/slides/slide154.xml" ContentType="application/vnd.openxmlformats-officedocument.presentationml.slide+xml"/>
  <Override PartName="/ppt/slideMasters/slideMaster155.xml" ContentType="application/vnd.openxmlformats-officedocument.presentationml.slideMaster+xml"/>
  <Override PartName="/ppt/slides/slide155.xml" ContentType="application/vnd.openxmlformats-officedocument.presentationml.slide+xml"/>
  <Override PartName="/ppt/slideMasters/slideMaster156.xml" ContentType="application/vnd.openxmlformats-officedocument.presentationml.slideMaster+xml"/>
  <Override PartName="/ppt/slides/slide156.xml" ContentType="application/vnd.openxmlformats-officedocument.presentationml.slide+xml"/>
  <Override PartName="/ppt/slideMasters/slideMaster157.xml" ContentType="application/vnd.openxmlformats-officedocument.presentationml.slideMaster+xml"/>
  <Override PartName="/ppt/slides/slide157.xml" ContentType="application/vnd.openxmlformats-officedocument.presentationml.slide+xml"/>
  <Override PartName="/ppt/slideMasters/slideMaster158.xml" ContentType="application/vnd.openxmlformats-officedocument.presentationml.slideMaster+xml"/>
  <Override PartName="/ppt/slides/slide158.xml" ContentType="application/vnd.openxmlformats-officedocument.presentationml.slide+xml"/>
  <Override PartName="/ppt/slideMasters/slideMaster159.xml" ContentType="application/vnd.openxmlformats-officedocument.presentationml.slideMaster+xml"/>
  <Override PartName="/ppt/slides/slide159.xml" ContentType="application/vnd.openxmlformats-officedocument.presentationml.slide+xml"/>
  <Override PartName="/ppt/slideMasters/slideMaster160.xml" ContentType="application/vnd.openxmlformats-officedocument.presentationml.slideMaster+xml"/>
  <Override PartName="/ppt/slides/slide160.xml" ContentType="application/vnd.openxmlformats-officedocument.presentationml.slide+xml"/>
  <Override PartName="/ppt/slideMasters/slideMaster161.xml" ContentType="application/vnd.openxmlformats-officedocument.presentationml.slideMaster+xml"/>
  <Override PartName="/ppt/slides/slide161.xml" ContentType="application/vnd.openxmlformats-officedocument.presentationml.slide+xml"/>
  <Override PartName="/ppt/slideMasters/slideMaster162.xml" ContentType="application/vnd.openxmlformats-officedocument.presentationml.slideMaster+xml"/>
  <Override PartName="/ppt/slides/slide162.xml" ContentType="application/vnd.openxmlformats-officedocument.presentationml.slide+xml"/>
  <Override PartName="/ppt/slideMasters/slideMaster163.xml" ContentType="application/vnd.openxmlformats-officedocument.presentationml.slideMaster+xml"/>
  <Override PartName="/ppt/slides/slide163.xml" ContentType="application/vnd.openxmlformats-officedocument.presentationml.slide+xml"/>
  <Override PartName="/ppt/slideMasters/slideMaster164.xml" ContentType="application/vnd.openxmlformats-officedocument.presentationml.slideMaster+xml"/>
  <Override PartName="/ppt/slides/slide164.xml" ContentType="application/vnd.openxmlformats-officedocument.presentationml.slide+xml"/>
  <Override PartName="/ppt/slideMasters/slideMaster165.xml" ContentType="application/vnd.openxmlformats-officedocument.presentationml.slideMaster+xml"/>
  <Override PartName="/ppt/slides/slide165.xml" ContentType="application/vnd.openxmlformats-officedocument.presentationml.slide+xml"/>
  <Override PartName="/ppt/slideMasters/slideMaster166.xml" ContentType="application/vnd.openxmlformats-officedocument.presentationml.slideMaster+xml"/>
  <Override PartName="/ppt/slides/slide166.xml" ContentType="application/vnd.openxmlformats-officedocument.presentationml.slide+xml"/>
  <Override PartName="/ppt/slideMasters/slideMaster167.xml" ContentType="application/vnd.openxmlformats-officedocument.presentationml.slideMaster+xml"/>
  <Override PartName="/ppt/slides/slide167.xml" ContentType="application/vnd.openxmlformats-officedocument.presentationml.slide+xml"/>
  <Override PartName="/ppt/slideMasters/slideMaster168.xml" ContentType="application/vnd.openxmlformats-officedocument.presentationml.slideMaster+xml"/>
  <Override PartName="/ppt/slides/slide168.xml" ContentType="application/vnd.openxmlformats-officedocument.presentationml.slide+xml"/>
  <Override PartName="/ppt/slideMasters/slideMaster169.xml" ContentType="application/vnd.openxmlformats-officedocument.presentationml.slideMaster+xml"/>
  <Override PartName="/ppt/slides/slide169.xml" ContentType="application/vnd.openxmlformats-officedocument.presentationml.slide+xml"/>
  <Override PartName="/ppt/slideMasters/slideMaster170.xml" ContentType="application/vnd.openxmlformats-officedocument.presentationml.slideMaster+xml"/>
  <Override PartName="/ppt/slides/slide170.xml" ContentType="application/vnd.openxmlformats-officedocument.presentationml.slide+xml"/>
  <Override PartName="/ppt/slideMasters/slideMaster171.xml" ContentType="application/vnd.openxmlformats-officedocument.presentationml.slideMaster+xml"/>
  <Override PartName="/ppt/slides/slide171.xml" ContentType="application/vnd.openxmlformats-officedocument.presentationml.slide+xml"/>
  <Override PartName="/ppt/slideMasters/slideMaster172.xml" ContentType="application/vnd.openxmlformats-officedocument.presentationml.slideMaster+xml"/>
  <Override PartName="/ppt/slides/slide172.xml" ContentType="application/vnd.openxmlformats-officedocument.presentationml.slide+xml"/>
  <Override PartName="/ppt/slideMasters/slideMaster173.xml" ContentType="application/vnd.openxmlformats-officedocument.presentationml.slideMaster+xml"/>
  <Override PartName="/ppt/slides/slide173.xml" ContentType="application/vnd.openxmlformats-officedocument.presentationml.slide+xml"/>
  <Override PartName="/ppt/slideMasters/slideMaster174.xml" ContentType="application/vnd.openxmlformats-officedocument.presentationml.slideMaster+xml"/>
  <Override PartName="/ppt/slides/slide174.xml" ContentType="application/vnd.openxmlformats-officedocument.presentationml.slide+xml"/>
  <Override PartName="/ppt/slideMasters/slideMaster175.xml" ContentType="application/vnd.openxmlformats-officedocument.presentationml.slideMaster+xml"/>
  <Override PartName="/ppt/slides/slide175.xml" ContentType="application/vnd.openxmlformats-officedocument.presentationml.slide+xml"/>
  <Override PartName="/ppt/slideMasters/slideMaster176.xml" ContentType="application/vnd.openxmlformats-officedocument.presentationml.slideMaster+xml"/>
  <Override PartName="/ppt/slides/slide176.xml" ContentType="application/vnd.openxmlformats-officedocument.presentationml.slide+xml"/>
  <Override PartName="/ppt/slideMasters/slideMaster177.xml" ContentType="application/vnd.openxmlformats-officedocument.presentationml.slideMaster+xml"/>
  <Override PartName="/ppt/slides/slide177.xml" ContentType="application/vnd.openxmlformats-officedocument.presentationml.slide+xml"/>
  <Override PartName="/ppt/slideMasters/slideMaster178.xml" ContentType="application/vnd.openxmlformats-officedocument.presentationml.slideMaster+xml"/>
  <Override PartName="/ppt/slides/slide178.xml" ContentType="application/vnd.openxmlformats-officedocument.presentationml.slide+xml"/>
  <Override PartName="/ppt/slideMasters/slideMaster179.xml" ContentType="application/vnd.openxmlformats-officedocument.presentationml.slideMaster+xml"/>
  <Override PartName="/ppt/slides/slide179.xml" ContentType="application/vnd.openxmlformats-officedocument.presentationml.slide+xml"/>
  <Override PartName="/ppt/slideMasters/slideMaster180.xml" ContentType="application/vnd.openxmlformats-officedocument.presentationml.slideMaster+xml"/>
  <Override PartName="/ppt/slides/slide180.xml" ContentType="application/vnd.openxmlformats-officedocument.presentationml.slide+xml"/>
  <Override PartName="/ppt/slideMasters/slideMaster181.xml" ContentType="application/vnd.openxmlformats-officedocument.presentationml.slideMaster+xml"/>
  <Override PartName="/ppt/slides/slide181.xml" ContentType="application/vnd.openxmlformats-officedocument.presentationml.slide+xml"/>
  <Override PartName="/ppt/slideMasters/slideMaster182.xml" ContentType="application/vnd.openxmlformats-officedocument.presentationml.slideMaster+xml"/>
  <Override PartName="/ppt/slides/slide182.xml" ContentType="application/vnd.openxmlformats-officedocument.presentationml.slide+xml"/>
  <Override PartName="/ppt/slideMasters/slideMaster183.xml" ContentType="application/vnd.openxmlformats-officedocument.presentationml.slideMaster+xml"/>
  <Override PartName="/ppt/slides/slide18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Lst>
  <p:notesMasterIdLst>
    <p:notesMasterId r:id="rId18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notesMaster" Target="notesMasters/notesMaster1.xml"/><Relationship Id="rId186" Type="http://schemas.openxmlformats.org/officeDocument/2006/relationships/presProps" Target="presProps.xml"/><Relationship Id="rId187" Type="http://schemas.openxmlformats.org/officeDocument/2006/relationships/viewProps" Target="viewProps.xml"/><Relationship Id="rId188" Type="http://schemas.openxmlformats.org/officeDocument/2006/relationships/theme" Target="theme/theme1.xml"/><Relationship Id="rId18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_rels/notesSlide1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5.xml"/>
		</Relationships>
</file>

<file path=ppt/notesSlides/_rels/notesSlide1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6.xml"/>
		</Relationships>
</file>

<file path=ppt/notesSlides/_rels/notesSlide1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7.xml"/>
		</Relationships>
</file>

<file path=ppt/notesSlides/_rels/notesSlide1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8.xml"/>
		</Relationships>
</file>

<file path=ppt/notesSlides/_rels/notesSlide1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9.xml"/>
		</Relationships>
</file>

<file path=ppt/notesSlides/_rels/notesSlide1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0.xml"/>
		</Relationships>
</file>

<file path=ppt/notesSlides/_rels/notesSlide1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1.xml"/>
		</Relationships>
</file>

<file path=ppt/notesSlides/_rels/notesSlide1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2.xml"/>
		</Relationships>
</file>

<file path=ppt/notesSlides/_rels/notesSlide1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3.xml"/>
		</Relationships>
</file>

<file path=ppt/notesSlides/_rels/notesSlide1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4.xml"/>
		</Relationships>
</file>

<file path=ppt/notesSlides/_rels/notesSlide1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5.xml"/>
		</Relationships>
</file>

<file path=ppt/notesSlides/_rels/notesSlide1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6.xml"/>
		</Relationships>
</file>

<file path=ppt/notesSlides/_rels/notesSlide1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7.xml"/>
		</Relationships>
</file>

<file path=ppt/notesSlides/_rels/notesSlide1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8.xml"/>
		</Relationships>
</file>

<file path=ppt/notesSlides/_rels/notesSlide1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9.xml"/>
		</Relationships>
</file>

<file path=ppt/notesSlides/_rels/notesSlide1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0.xml"/>
		</Relationships>
</file>

<file path=ppt/notesSlides/_rels/notesSlide1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1.xml"/>
		</Relationships>
</file>

<file path=ppt/notesSlides/_rels/notesSlide1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2.xml"/>
		</Relationships>
</file>

<file path=ppt/notesSlides/_rels/notesSlide1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3.xml"/>
		</Relationships>
</file>

<file path=ppt/notesSlides/_rels/notesSlide1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4.xml"/>
		</Relationships>
</file>

<file path=ppt/notesSlides/_rels/notesSlide1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5.xml"/>
		</Relationships>
</file>

<file path=ppt/notesSlides/_rels/notesSlide1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6.xml"/>
		</Relationships>
</file>

<file path=ppt/notesSlides/_rels/notesSlide1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7.xml"/>
		</Relationships>
</file>

<file path=ppt/notesSlides/_rels/notesSlide1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8.xml"/>
		</Relationships>
</file>

<file path=ppt/notesSlides/_rels/notesSlide1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9.xml"/>
		</Relationships>
</file>

<file path=ppt/notesSlides/_rels/notesSlide1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0.xml"/>
		</Relationships>
</file>

<file path=ppt/notesSlides/_rels/notesSlide1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1.xml"/>
		</Relationships>
</file>

<file path=ppt/notesSlides/_rels/notesSlide1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2.xml"/>
		</Relationships>
</file>

<file path=ppt/notesSlides/_rels/notesSlide1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3.xml"/>
		</Relationships>
</file>

<file path=ppt/notesSlides/_rels/notesSlide1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4.xml"/>
		</Relationships>
</file>

<file path=ppt/notesSlides/_rels/notesSlide1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5.xml"/>
		</Relationships>
</file>

<file path=ppt/notesSlides/_rels/notesSlide1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6.xml"/>
		</Relationships>
</file>

<file path=ppt/notesSlides/_rels/notesSlide1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7.xml"/>
		</Relationships>
</file>

<file path=ppt/notesSlides/_rels/notesSlide1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8.xml"/>
		</Relationships>
</file>

<file path=ppt/notesSlides/_rels/notesSlide1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9.xml"/>
		</Relationships>
</file>

<file path=ppt/notesSlides/_rels/notesSlide1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0.xml"/>
		</Relationships>
</file>

<file path=ppt/notesSlides/_rels/notesSlide1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1.xml"/>
		</Relationships>
</file>

<file path=ppt/notesSlides/_rels/notesSlide1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2.xml"/>
		</Relationships>
</file>

<file path=ppt/notesSlides/_rels/notesSlide1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3.xml"/>
		</Relationships>
</file>

<file path=ppt/notesSlides/_rels/notesSlide1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4.xml"/>
		</Relationships>
</file>

<file path=ppt/notesSlides/_rels/notesSlide1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5.xml"/>
		</Relationships>
</file>

<file path=ppt/notesSlides/_rels/notesSlide1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6.xml"/>
		</Relationships>
</file>

<file path=ppt/notesSlides/_rels/notesSlide1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7.xml"/>
		</Relationships>
</file>

<file path=ppt/notesSlides/_rels/notesSlide1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8.xml"/>
		</Relationships>
</file>

<file path=ppt/notesSlides/_rels/notesSlide1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9.xml"/>
		</Relationships>
</file>

<file path=ppt/notesSlides/_rels/notesSlide1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0.xml"/>
		</Relationships>
</file>

<file path=ppt/notesSlides/_rels/notesSlide1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1.xml"/>
		</Relationships>
</file>

<file path=ppt/notesSlides/_rels/notesSlide1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2.xml"/>
		</Relationships>
</file>

<file path=ppt/notesSlides/_rels/notesSlide1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رحّب بالمعلمين. قل: «هذه الدورة ليست مثالًا من كتاب. إنها مشروع حقيقي بناه طلاب في المرحلة الابتدائية وشاركوا به في أولمبياد الروبوت العالمي WRO: لمسة تراث».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عرّف بنفسك وبالمشروع في أقل من دقيقة.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اترك المشهد يعمل دون كلام: زائر على كرسي متحرك أمام كاميرا. ينظر بعينه يمينًا فيدور المجسّم وتجري موجة ذهبية حول المنصة. يثبّت نظره فيتوقف المجسّم، ويضيء لون الجهة، ويبدأ على الشاشة فيديو بلغة الإشارة مع شرح صوتي. ثم اسأل: «من يتحكم هنا؟» الجواب: عين الزائر فقط. وفي الزاوية: روبوت سلامة يحرس المعرض.
💡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لاحظ الفريق بالزيارات الميدانية والنقاش مع أشخاص من ذوي الإعاقة أن المواقع التراثية نادرًا ما تُصمم للجميع. والحاجة ليست ثلاثة حلول منفصلة، بل حل واحد ذكي.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الحركية: لا أزرار تحتاج قوة أو دقة. السمعية: فيديو لغة الإشارة. البصرية: الشرح الصوتي. هذا التصميم الموحّد ما يميز المشروع عن الحلول التقليدية التي تعامل كل إعاقة وحدها.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ومعها كرسي متحرك من LEGO SPIKE Prime. كل وحدة تُبنى وتُختبر وحدها، ثم ندمجها: هذه منهجية الفريق نفسها.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المحاور ٣–٨ هي المشروع الرئيسي. والمحاور ٩–١٥ روبوتا السلامة اللذان أضافهما الفريق ليحمي الزوار حين يزدحم المعرض.
💡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المحور الأول: نرى المنظومة كاملة قبل أن نبني أي قطعة.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المهندس المحترف يبدأ بالمخطط، لا بالأسلاك. وفريقنا بدأ بالبحث قبل التصميم.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نقطة تربوية مهمة: الفريق لم يكتفِ بترجمة اجتهادية للغة الإشارة، بل استعان بمختص. وجرّب تتبع الرأس أولًا ونجح، ثم تقدّم إلى تتبع البؤبؤ لأن بعض الزوار لا يحركون رؤوسهم أيضًا: من حل «جيد» إلى حل «أشمل».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كل عقدة واقرأ دورها. ثم «شاهد نظرة واحدة»: ثماني خطوات من الكاميرا حتى فيديو لغة الإشارة. اسأل: «كم جهازًا شارك في نظرة واحدة؟» أربعة: الكاميرا والحاسوب، والراسبيري، وESP32، والدرايفر.
💡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الأجهزة تتواصل برسائل شبكية خفيفة وسريعة. الراسبيري لا يعرف كيف يدور المحرك، وESP32 لا يعرف ما الفيديو: كل منهما يتقن مهمته.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المجسّم نفسه من الفلين المضغوط، مرشوش بألوان ممزوجة بالرمل الطبيعي ليظهر ملمس الطين وقِدمه. مشروع هندسي وفني معًا.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المحور التالي: لوحة ESP32 وأطراف المشروع الحقيقية.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من عرف الأردوينو أونو يعرف ESP32 في ساعة. نفس الدوال، مع فروق قليلة مهمة جدًا.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الفرق الأهم عمليًا: ٣٫٣ فولت. لا تدخل ٥ فولت على أي طرف إدخال. والقراءة التماثلية تصل ٤٠٩٥ لا ١٠٢٣، فحدود MQ-2 ستكون أرقامًا أكبر.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«المنصة» أولًا: STEP 26 وDIR 25 وEN 27 والإضاءة 23. ثم «المحطة»: سبعة أطراف. ثم «السيارة». ثم «القواعد» لترى الأطراف الممنوعة (TX0/RX0 والإقلاع 2 و12 و15) والأطراف مدخل فقط (34 و35 و36 و39). اسأل: «لماذا وضعنا MQ-2 على 34؟» لأنه مدخل تماثلي لا نحتاجه مخرجًا.
💡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حساس اللهب يعمل على ٣٫٣ فولت بلا مشكلة. وMQ-2 يحتاج ٥ فولت للتسخين، لكن مخرجه التماثلي لا يتجاوز عادة ٣٫٣ في التراكيز العادية؛ للأمان يمكن إضافة مقسم جهد.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زر BOOT هو أكثر ما يحيّر المبتدئين. بعض اللوحات تحتاجه وبعضها لا. ومشغل CP2102 أو CH340 قد يحتاج تثبيتًا على ويندوز.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اضغط للانتقال بين الخطوات.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المحور التالي: نبدأ بالمحطة، وأول حواسها حساس اللهب.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أول وحدة يبنيها الفريق ويختبرها وحدها: المحرك. قبل أي عين أو فيديو.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لماذا نُعطّل المحرك عند التوقف؟ المحرك الخطوي المفعّل يسحب تيارًا حتى وهو واقف فيسخن. والمنصة لا تحتاج قوة إمساك كبيرة. فـ EN = HIGH عند التوقف يحمي المحرك والدرايفر.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r يمين: ليد STEP يومض مع كل نبضة، وDIR مضاء، والمجسّم يدور وموجة ذهبية تجري حوله. اضغط s: ‏EN يصبح HIGH ويظهر اسم الجهة. غيّر wait: أكبر = أبطأ. ثم اختر «كاملة ×١» وقلّل wait تحت ٧٠٠: المحرك يفقد خطواته ويهتز. الخطوات الدقيقة تجعل الحركة ناعمة لعين تتابع.
💡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الدالة turn تخطو خطوة واحدة فقط، وloop تستدعيها آلاف المرات. هكذا يبقى ESP32 حرًا ليقرأ الأوامر الجديدة بين كل خطوة وأخرى، وهذا مهم جدًا في المحور السادس.
🖱️ اضغط للانتقال بين الخطوات.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المقاومة المتغيرة الصغيرة على A4988 تحدد أقصى تيار للمحرك. اضبطوها قبل التشغيل (Vref)، وإلا سخن المحرك جدًا. ولا تفصلوا المحرك والدرايفر يعمل: قد يحترق الدرايفر.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اضغط للانتقال بين الخطوات.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المحور التالي: الضوء الذي يرافق كل جهة.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الضوء هنا ليس زينة: الزائر يعرف الجهة باللون، ويعرف أن المنصة تتحرك من الموجة.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ضعوا مقاومة ٣٣٠ أوم على سلك البيانات، ومكثفًا كبيرًا على مدخل الطاقة. والشريط يعمل بـ 5V بينما ESP32 يخرج 3.3V: يعمل غالبًا، وإن لم يعمل فاستخدموا محول مستوى.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كل جهة: المنصة تدور إليها ويتلون الشريط بلونها. ثم «موجة الدوران». ثم «مكافأة الاهتمام»: فكرة قيد التطوير عند الفريق، حين يطيل الزائر النظر إلى جهة. ارفع السطوع إلى ٢٥٥ وراقب التيار: هذا سبب «السطوع المضبوط أمانيًا» في تقرير الفريق.
💡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لا يتغير شيء قبل show! هذا خطأ شائع: يكتب الطالب الألوان وينسى show فلا يرى شيئًا.
🖱️ اضغط للانتقال بين الخطوات.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اضغط للانتقال بين الخطوات.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المحور التالي: الشاشة وفيديو لغة الإشارة على الراسبيري باي.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هنا يصبح المشروع «شاملًا» حقًا. كل جهة من المجسّم لها فيديو بلغة الإشارة وشرح صوتي يعملان في الوقت نفسه.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الراسبيري هو «العقل المركزي» للتجربة، كما سمّاه الفريق في تقريره.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اختر جهة وراقب الشريطين: الصوت أطول من الفيديو! بلا تمديد: ينتهي الفيديو فتظهر شاشة سوداء والصوت مستمر، والزائر الأصم فقد المترجم. هذا ما حدث للفريق فعلًا: الفرق بين ثانيتين و١١ ثانية. اضغط «تمديد بآخر إطار»: الصورة تبقى حتى ينتهي الصوت. الحل بأمر ffmpeg واحد، مع الاحتفاظ بالنسخ الأصلية احتياطًا.
💡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Popen لا تنتظر انتهاء البرنامج، فيعمل الفيديو والصوت معًا ويبقى بايثون حرًا لاستقبال أوامر العين.
🖱️ اضغط للانتقال بين الخطوات.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هاتان المشكلتان تعلّمان الطلاب فهم الطبقات الأساسية لنظام التشغيل، لا البرمجة العليا فقط. اكتبوها في سجل المشروع: لجان التحكيم تحب «التحديات وكيف حُلّت».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رسالة للمعلمين: لا تكتفوا بترجمة اجتهادية. الشراكة مع مختص جزء من الجودة، وتعلّم الطلاب احترام لغة مجتمع الصم.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اضغط للانتقال بين الخطوات.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المحور التالي: كيف يصل أمر العين من الحاسوب إلى المحرك؟ UDP والحارس.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أبسط بروتوكول ممكن: حرف واحد لكل أمر. وأهم درس في المحور: ماذا لو ضاعت رسالة؟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قارن الفريق بين طرق الاتصال واستقر على UDP لبساطته وسرعة استجابته. لكن «لا يضمن الوصول» قادتنا إلى أهم درس في المشروع.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مطولًا «انظر يمينًا»: رسائل r تطير كل ١٠٠ ملي ثانية. ارفع إصبعك: رسائل s. الآن ارفع الفقد إلى ٤٠٪ وأوقف الحارس وكرر: أحيانًا تضيع رسائل s فتستمر المنصة بالدوران! هذا ما اكتشفه الفريق من سجلات التشغيل: رسالة واحدة ضائعة سببت دورانًا أكبر بكثير من المطلوب. ثم شغّل الحارس: إن لم تصل رسالة لأكثر من ثانية توقفت المنصة بأمان. وأخيرًا «اقطع الشبكة» مع الحارس.
💡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لماذا ينجح الحارس؟ لأن المرسل يكرر الأمر باستمرار. فالصمت الطويل لا يعني «استمر»، بل يعني «حدث خطأ». هذا مبدأ «الأمان عند العطل» Fail-safe في كل الأنظمة الحرجة: الطائرات والقطارات والمصاعد.
🖱️ اضغط للانتقال بين الخطوات.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اضغط للانتقال بين الخطوات.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المحور التالي: من أين تأتي الأوامر؟ من عين الزائر.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قلب الابتكار في المشروع. زائر لا يستطيع تحريك يديه، وربما رأسه، يستكشف المصمك بعينيه فقط.</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أجمل قصة في المشروع: الفريق لم يكتفِ بأول حل ناجح. علّموا طلابكم أن «يعمل» ليس نهاية الطريق، والسؤال الصحيح: «من الذي ما زال لا يستطيع؟»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المعايرة مهمة: عيون الناس تختلف، وموضع الكاميرا يختلف. ثانيتان ونصف ينظر فيهما الزائر طبيعيًا دون أي إجراء يدوي.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«معايرة» أولًا. ثم مرّر المؤشر يمينًا ويسارًا فوق الوجه: البؤبؤ يتحرك، والنسبة تتغير، والأمر r أو l، والقصر يدور. عد للوسط: s ويبدأ محتوى الجهة. مرّر للأعلى: البوابة دون أن تتحرك المنصة. اضغط «رمشة»: توقف أماني فوري. و«إغماضة طويلة»: «اشرح هذه الجهة». وأخيرًا «المؤشرات: الموثقة»: الاتجاهان ينعكسان! هذا ما وجده الفريق فعلًا: ترتيب 468 و473 كان معكوسًا عن المصادر الشائعة.
💡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الهامش ٠٫٠٨ «منطقة ميتة»: نظرة أمامية طبيعية فيها اهتزاز بسيط لا يجب أن يحرك المنصة. والغمضة الطويلة المقصودة (أطول من رمشة عادية) تعني «اشرح هذه الجهة».
🖱️ اضغط للانتقال بين الخطوات.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فكرة مستوحاة من عصا التحكم: انظر يمينًا فيدور باستمرار وببطء، وثبّت نظرك فيتوقف. هذا يقلل التكلفة الهندسية كثيرًا دون التضحية بدقة التجربة.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اضغط للانتقال بين الخطوات.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اجعلوا الطلاب يتبادلون: نسبة كل طالب مختلفة قليلًا، فيكتشفون بأنفسهم لماذا نحتاج المعايرة.
💡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المحور التالي: الجولة كاملة، من الكرسي إلى ملخص الزيارة.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الآن تعمل كل القطع معًا: الكرسي، والكاميرا، والراسبيري، والمنصة، والضوء.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الخطوة القادمة عند الفريق: حساس مسافة بالموجات فوق الصوتية يبدّل بين الوضعين دون أي تدخل من الزائر.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«ابدأ الجولة»: ترحيب، ثم الكرسي يتقدم وحساس المسافة يقيس، ثم «وضع الاستكشاف». اضغط مطولًا على «انظر يمينًا»: القصر يدور. اتركها: يتوقف ويبدأ محتوى الجهة، وشريط الاهتمام يمتلئ. أطل النظر إلى جهة: إضاءة احتفالية. زر كل الجهات الأربع: ملخص الجولة. هاتان الميزتان «قيد التطوير» عند الفريق، والمحاكي يريكم كيف ستعمل.
💡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هذا الفرق بين روبوت «يستجيب لأمر» وروبوت «يتخذ قرارًا». ناقشوا مع الطلاب: ما البيانات الأخرى التي يمكن أن يقرر بها النظام؟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منهجية الفريق: اختبار تدريجي يمنع تشابك الأخطاء. وجلسة اختبار طويلة لاحقة تنقّل فيها الزائر بين الجهات مرات متتالية دون أي خطأ.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ننتقل الآن إلى الجزء الثاني من المشروع: روبوتا السلامة اللذان يحميان الزوار.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الجزء الثاني من المشروع (القسم ٦٫٦ في تقرير الفريق). حين يتحول المصمك إلى تجربة جذابة يزدحم المعرض، والزوار المنشغلون بالتجربة قد لا يلاحظون تسرب غاز أو بداية حريق.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اترك المشهد يعمل: لهب عند البرج وتسرّب غاز في اللحظة نفسها. الروبوت الأول يقرر أن اللهب أخطر فيتجه إليه، ويرسل إلى الروبوت الثاني «إلى الغاز». ينطلقان معًا: مضخة هنا ومروحة هناك. روبوتان أسرع من روبوت واحد يعالج الخطرين بالتتابع. هذا ما سنبنيه في المحاور ٩–١٥.
💡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ثلاث لوحات ESP32 تتواصل عبر ESP-NOW: محطة ثابتة بحساسي غاز ولهب، وروبوتان متحركان، والأول يكلّم الثاني. اضغط «شاهد رحلة الإنذار».
💡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قارن الفريق بين البدائل قبل أن يختار، وهذا ما يبحث عنه المحكّمون.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زاوية رؤية الحساس نحو ٦٠ درجة، ومداه متر تقريبًا لشمعة صغيرة. ضوء الشمس المباشر فيه أشعة تحت حمراء أيضًا، فقد يخدع الحساس: اختبروا داخل الفصل.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اسحب الشمعة ببطء من بعيد: لاحظ متى يتحول DO إلى LOW. ثم قلّل الحساسية: يحتاج الآن أن تقترب أكثر. وزِد الحساسية كثيرًا: قد يرى ضوء المصباح نارًا! هذا هو «الإنذار الكاذب». المطلوب ضبط وسط.
💡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السطر العاشر يربك المبتدئين: «لماذا LOW؟». ارسم على السبورة: لا نار = HIGH، نار = LOW. هذا يسمى «منطق معكوس» Active LOW، وسنقابله مرة أخرى في الريليه.
🖱️ اضغط للانتقال بين الخطوات.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اضغط للانتقال بين الخطوات.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السلامة أولًا: شمعة واحدة بيد المعلم، وطفاية أو كوب ماء جاهز، ولا لهب قرب الأسلاك أو الورق.
💡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المحور التالي: الأنف الإلكتروني، حساس الغاز MQ-2.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الحاسة الثانية. الغاز لا يُرى، ولا نشمه أحيانًا إلا بعد فوات الأوان.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لهذا يسخن الحساس عند لمسه، وهذا طبيعي. ولهذا يحتاج دقيقة أو دقائق بعد التشغيل حتى تستقر القراءة. وللحساس مخرج رقمي DO أيضًا، لكننا نفضل AO لأننا نرى الرقم ونختار الحد بأنفسنا.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ابدأ بإيقاف التسخين: القراءة تتأرجح بلا معنى. شغّله وانتظر الاستقرار. ثم افتح الغاز قليلًا: المنحنى يصعد ببطء. حين يعبر خط ١٨٠٠ يضيء الأزرق. أغلق الغاز وراقب: القراءة تنزل ببطء لأن الغاز يحتاج وقتًا ليتبدد. هذا سبب وجود المروحة في السيارة!
💡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اطلبوا من المتدربين فتح Serial Plotter ومراقبة القراءة دقيقتين في الهواء النظيف. إن كانت حول ٦٠٠ مثلًا، فالحد ١٨٠٠ يعطي هامشًا كبيرًا ضد الإنذار الكاذب.
🖱️ اضغط للانتقال بين الخطوات.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التجربة بالولاعة المطفأة تتم بيد المعلم فقط، لثانية واحدة، وبعيدًا عن أي لهب. بديل آمن: قطعة قطن عليها قليل من الكحول.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اضغط للانتقال بين الخطوات.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المحور التالي: نجمع العين والأنف والشاشة في محطة واحدة.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المحطة هي النظام الأول في المشروع الحقيقي. بعد هذا المحور يملك كل متدرب محطة تعمل وحدها.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لماذا النسبة؟ لأن قراءة MQ-2 (٠–٤٠٩٥) وقراءة اللهب لا تُقارنان مباشرة. حين تصبح كلتاهما نسبة، يستطيع الروبوت أن يقرر أيهما أخطر. والحدّان ٥٠٪ و٣٠٪ هنا مقترحان، وكل فريق يضبطهما بالتجربة.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ارسموا الجدول قبل الكود. والحالة الرابعة ينساها الجميع: ماذا لو حدث الأمران معًا؟ عندها يأتي دور القرار.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جرّب الحالات الأربع بالترتيب. اطلب من المتدربين إغماض أعينهم: هل يميزون اللهب من الغاز بالصوت فقط؟ هذا تصميم مقصود لمن لا ينظر إلى الشاشة.
💡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ركّبوا بالترتيب: اللوحة، ثم الحساسان، ثم الليدان بمقاومتيهما، ثم البازر، ثم الشاشة. اختبروا كل قطعة بكودها الصغير قبل الانتقال. ولا تنسوا الأرضي المشترك.
🖱️ اضغط للانتقال بين الخطوات.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في setup نقرأ base = analogRead(34) بعد التسخين: هذه «المعايرة التلقائية لقراءة الهواء النظيف» في تقرير الفريق. ووحدة اللهب لها مخرجان: DO الرقمي الذي استخدمناه في المحور التاسع، وAO التماثلي الذي يعطي الشدة ونحتاجه هنا للنسبة.
🖱️ اضغط للانتقال بين الخطوات.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اضغط للانتقال بين الخطوات.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قيد ١٦ حرفًا تمرين رائع في الإيجاز. والحالة الخامسة تمهّد لفكرة «درجات الخطر» في محور القرار.
💡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المحور التالي: النظام الثاني، سيارة الروبوت.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من درس الدورة الثالثة يعرف L298N. الجديد هنا: الدفع الرباعي، وESP32 بدل أونو، ومشكلة حقيقية واجهناها في المشروع: جانب يدور بالعكس.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المحركان الأيسران موصولان على التوازي إلى OUT1/OUT2، والأيمنان إلى OUT3/OUT4. فبرمجيًا نتعامل مع «يسار» و«يمين» فقط.</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أطراف المشروع: ENA 33 وENB 32، وIN1/IN2 على 27/26، وIN3/IN4 على 25/14، والريليه على 16 و17. اختبروا كل جانب وحده قبل تركيب الريليه والمضخة.
🖱️ اضغط للانتقال بين الخطوات.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ابدأ بـ «أمام» و«يمين» و«يسار»: كل شيء سليم. ثم أطفئ INVERT_RIGHT واضغط «أمام»: السيارة تدور حول نفسها! هذا ما حدث فعلًا في مشروعنا: أسلاك الجانب الأيمن رُكّبت بالعكس. الحل المحترف: سطر واحد في الكود بدل فك السيارة.
💡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في نسخ ESP32 الحديثة (المكتبة 3.x) تعمل analogWrite مباشرة. وفي النسخ القديمة نستخدم ledcAttach وledcWrite. السرعة 120 مناسبة داخل نموذج المصمك؛ أسرع من ذلك تنحرف السيارة عن الخط.
🖱️ اضغط للانتقال بين الخطوات.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اضغط للانتقال بين الخطوات.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والآن: أدوات الإطفاء على ظهر السيارة.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نفس فكرة الريليه من الدورة الرابعة. الفرق: هذه الوحدة تعمل على LOW، وهذا شائع جدًا في الوحدات الزرقاء ذات الـ optocoupler.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LOW على المضخة: تعمل! واضغط HIGH: تتوقف. هذا عكس ما تعودنا عليه. ثم اسأل: «ماذا يحدث لو نسينا كتابة HIGH في setup؟» الطرف يبدأ LOW لحظة التشغيل… فتعمل المضخة فجأة وتبلل النموذج!
💡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لو وضعنا المضخة على NC لعملت طوال الوقت وتوقفت عند الإنذار! خطأ شائع جدًا. القاعدة: الجهاز الذي يعمل «عند الحاجة» يوضع على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أربع ثوانٍ تكفي لشمعة في النموذج دون إغراقه. في المشروع الكامل سنستبدل delay بفحص حساس اللهب على السيارة (GPIO35): نرش حتى تختفي النار.
🖱️ اضغط للانتقال بين الخطوات.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اضغط للانتقال بين الخطوات.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ضعوا صينية تحت منطقة التجربة. وغلّفوا ESP32 بعلبة بلاستيكية صغيرة: رذاذ واحد قد يتلفه.
💡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المحور التالي: كيف تعرف السيارة أن هناك نارًا؟ المحطة تكلّمها لاسلكيًا.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اللحظة التي يتحول فيها المشروع من جهازين منفصلين إلى نظام واحد.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في المعارض لا يوجد راوتر غالبًا، أو يكون مزدحمًا. ESP-NOW يعمل في أي مكان: مثالي لمشروع يُعرض في المدرسة والمعارض.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لمعرفة عنوان MAC: ارفع كودًا صغيرًا على السيارة يطبع WiFi.macAddress() في setup. انسخوه بدقة؛ حرف واحد خطأ = لا رسائل.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«لهب A»: الحزمة تطير من المحطة إلى السيارة، وتضيء أسطر الإرسال ثم أسطر الاستقبال، ويظهر في السجل زمن الوصول بالملي ثانية. اسأل: «لماذا نرسل المنطقة مع النوع؟» لأن السيارة تحتاج أن تعرف أين تذهب، لا ماذا حدث فقط.
💡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لا ترسلوا في كل دورة loop! أرسلوا مرة حين يبدأ الحدث فقط (حين يتغير fire من false إلى true). وإلا أغرقتم السيارة بمئات الرسائل في الثانية.
🖱️ اضغط للانتقال بين الخطوات.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قاعدة ذهبية: دالة الاستقبال تعمل في سياق خاص، فيجب أن تكون قصيرة جدًا. لا delay ولا قيادة. نرفع علمًا، وloop تتصرف. هذا نمط احترافي اسمه «العلم» Flag. ملاحظة: في حزمة ESP32 القديمة (2.x) تبدأ الدالة بـ const uint8_t *mac بدل info.
🖱️ اضغط للانتقال بين الخطوات.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التجربة الحية على روبوتين: المحطة تكلّم الروبوت الأول، والأول يقرر ويكلّم الثاني. والروبوت الثاني يستقبل بدالة onReceive نفسها التي كتبناها، وحين يصله GO يذهب مباشرة دون أن يقرر. تحدٍّ: روبوت ثالث؟ يكفي سطر عنوان جديد وأمر جديد.
🖱️ اضغط للانتقال بين الخطوات.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اضغط للانتقال بين الخطوات.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المحور التالي: السيارة تسمع… لكن ماذا لو جاءها إنذاران؟ عليها أن تقرر.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هذا قلب المشروع، وما يجعله «ذكيًا» حقًا. ابدأ بالسؤال وحده دون أي كود، ودع المتدربين يتناقشون.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اسمح بالخلاف! بعضهم يقول اللهب لأنه نار فعلية، وبعضهم الغاز لأنه قد ينفجر. النقطة: نحن من يضع القاعدة، والروبوت ينفذها. وهذا درس في أخلاقيات الذكاء الاصطناعي.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التجربة الحية على روبوتين: لا ينتظر الخطر الثاني حتى ينتهي الأول. الروبوت الأول يتخذ القرار لنفسه ولزميله في اللحظة نفسها، فيُعالَج الخطران معًا. وهذا أسرع وأذكى من روبوت واحد يتنقل بينهما.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جرّب الأزرار الأربعة: حريق فقط (الأول يذهب والثاني يحرس)، ثم الاثنان مع اختلاف الأعلى: الأحمر للأخطر والأزرق للأقل. ثم حرّك المنزلقتين بنفسك وابحث عن لحظة التساوي.
💡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لماذا نبلغ الثاني قبل أن نتحرك؟ لأن goTo تستغرق وقتًا، ولو أبلغناه بعدها لانتظر الخطر الثاني بلا داعٍ. ترتيب سطرين يصنع فرقًا في ثوانٍ ثمينة.
🖱️ اضغط للانتقال بين الخطوات.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اضغط للانتقال بين الخطوات.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نشاط رائع لمهارات التفكير الناقد. لا توجد قاعدة صحيحة واحدة، والمهم أن تكون مبررة ومتسقة.
💡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المحور التالي: قرر الروبوت أين يذهب. لكن كيف يصل؟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من درس الدورة الثالثة يعرف تتبع الخط. الجديد: التقاطع، والذهاب إلى مكان محدد ثم العودة.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في النموذج الأولي الذي اختبره الفريق، تتوجه السيارة في الاتجاه المطابق للخطر الأعلى. وتتبع الخط تطوير مقترح لقاعة معرض حقيقية: يناسب نموذجًا على طاولة، ويعيد استخدام ما تعلمناه في الدورة الثالثة.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١ تعني «أرى أسود». التقاطع هو اللحظة التي يرى فيها الحساسان الأسود معًا، لأن الخط العرضي يمر تحتهما.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«اذهب إلى A»: السيارة تتبع الخط، وعند التقاطع الأحمر يزيد العداد وتنعطف يسارًا، ثم تصل وتعود. جرّب B: نفس الطريق حتى التقاطع، ثم يمينًا. نقطة القرار الوحيدة هي التقاطع.
💡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عداد التقاطعات يسمح بتوسيع الساحة: «المنطقة C بعد التقاطع الثاني». وللعودة: نستدير ١٨٠ درجة ونستخدم نفس الدالة بقرار معكوس.
🖱️ اضغط للانتقال بين الخطوات.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اضغط للانتقال بين الخطوات.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المحور التالي: كل القطع معًا… المهمة الكاملة.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المتدربين أن يشيروا إلى المحور الذي تعلموا فيه كل خطوة.
💡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ابدأ بـ «لهب A»: الروبوت الأول (الأحمر) وحده يذهب ويطفئ ويعود، والثاني (الأزرق) يحرس. ثم «معًا: روبوتان»: غاز ٨٨٪ في A ولهب ٧٢٪ في B. الأول يقرر أن الغاز أخطر فيتجه إليه، وتطير رسالة منه إلى الثاني «GO B» فينطلق إلى اللهب. يعملان في الوقت نفسه: مروحة هنا ومضخة هناك. قارنوا زمن الاستجابة بروبوت واحد يتنقل بين الخطرين.
💡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والروبوت الثاني؟ كوده أقصر: إذا وصله أمر GO من الأول ينفّذ mission(zone) مباشرة، فالقرار اتخذه زميله. روبوتان بكود واحد تقريبًا: هذا تصميم أنيق.
🖱️ اضغط للانتقال بين الخطوات.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المحاكي ينفذ التحسين الثاني: روبوتان معًا. والتحسين الثالث يجعل الاتصال في الاتجاهين: المحطة تعرف أن الخطر زال، وهذا ما يحدث في غرف عمليات الدفاع المدني.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المحور الأخير: كيف نعرض المشروع ونحكّمه وندرّسه.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المشروع العظيم قد يضيع بعرض ضعيف. هذا المحور يحوّل المتدربين إلى عارضين ومحكّمين ومدرّبين.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المشهد مرة أخرى بعد أن فهم المتدربون كل جزء فيه. اطلب منهم أن يسمّوا كل ما يرونه: الكاميرا، والبؤبؤ، وUDP، وA4988، وWS2812B، والراسبيري، ولغة الإشارة، والكرسي، وروبوت السلامة.
💡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اسأل عند كل محطة: «ما الدرس الهندسي هنا؟» EN على LOW، والحارس، وتجميد آخر إطار، والمعايرة، والمؤشرات المعكوسة، والنسبة الموحّدة، والأعلى نسبة أولًا.
💡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لجان التحكيم تحب هذا الجدول أكثر من قائمة الميزات: يُظهر أن الفريق بنى فعلًا، وأخطأ، وفهم، وأصلح.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في تقرير الفريق: عضو من الفريق يطرح على نفسه سؤالًا بالإنجليزية عن المصمك ويجيب أمام الحضور. لحظة بشرية لا برمجية، تُظهر استعداد الفريق للتواصل مع زوار لا يتحدثون العربية. درّبوا الطلاب عليها بصوت عالٍ حتى تصبح طبيعية.
💡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الجملة الذهبية: الزائر يستكشف تراثه «بنفسه وباستقلالية تامة، لا بصفته متلقيًا لرعاية أو مساعدة من الآخرين».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وزّعوا البطاقة على الطلاب قبل البناء لا بعده: يعرفون الهدف من البداية.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كل بطاقة مشروع ممتد لنادٍ علمي. شاركوا الطلاب في اختيار الخطوة التالية.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وزّعوا الأدوار كما فعل الفريق: المجسّم والفن، والمحتوى ولغة الإشارة، والبرمجة والعين، والسلامة، والعرض.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دع ثلاثة متدربين يشاركون أفكارهم. كل فكرة منها مشروع جديد لطلابهم.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الجملة من كلمات الطلاب أنفسهم في تقديمهم. اشكر المعلمين، وذكّرهم بأن كل المحاكيات متاحة على منصة جذور.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شريحة الختام.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jpe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image" Target="../media/image-24-2.jpg"/><Relationship Id="rId3" Type="http://schemas.openxmlformats.org/officeDocument/2006/relationships/image" Target="../media/image-24-3.jpg"/><Relationship Id="rId4" Type="http://schemas.openxmlformats.org/officeDocument/2006/relationships/image" Target="../media/image-24-4.jpg"/><Relationship Id="rId5" Type="http://schemas.openxmlformats.org/officeDocument/2006/relationships/image" Target="../media/image-24-5.jp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jpe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jpe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jpe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jpe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image" Target="../media/image-31-2.jpg"/><Relationship Id="rId3" Type="http://schemas.openxmlformats.org/officeDocument/2006/relationships/image" Target="../media/image-31-3.jpg"/><Relationship Id="rId4" Type="http://schemas.openxmlformats.org/officeDocument/2006/relationships/image" Target="../media/image-31-4.jpg"/><Relationship Id="rId5" Type="http://schemas.openxmlformats.org/officeDocument/2006/relationships/image" Target="../media/image-31-5.jpg"/><Relationship Id="rId6" Type="http://schemas.openxmlformats.org/officeDocument/2006/relationships/image" Target="../media/image-31-6.jpg"/><Relationship Id="rId7" Type="http://schemas.openxmlformats.org/officeDocument/2006/relationships/image" Target="../media/image-31-7.jpg"/><Relationship Id="rId8" Type="http://schemas.openxmlformats.org/officeDocument/2006/relationships/slideLayout" Target="../slideLayouts/slideLayout1.xml"/><Relationship Id="rId9"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jpe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image" Target="../media/image-33-2.jpg"/><Relationship Id="rId3" Type="http://schemas.openxmlformats.org/officeDocument/2006/relationships/image" Target="../media/image-33-3.jpg"/><Relationship Id="rId4" Type="http://schemas.openxmlformats.org/officeDocument/2006/relationships/image" Target="../media/image-33-4.jpg"/><Relationship Id="rId5" Type="http://schemas.openxmlformats.org/officeDocument/2006/relationships/image" Target="../media/image-33-5.jpg"/><Relationship Id="rId6" Type="http://schemas.openxmlformats.org/officeDocument/2006/relationships/slideLayout" Target="../slideLayouts/slideLayout1.xml"/><Relationship Id="rId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jpe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jpe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jpe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jpe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jpe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image" Target="../media/image-41-2.jpg"/><Relationship Id="rId3" Type="http://schemas.openxmlformats.org/officeDocument/2006/relationships/image" Target="../media/image-41-3.jpg"/><Relationship Id="rId4" Type="http://schemas.openxmlformats.org/officeDocument/2006/relationships/image" Target="../media/image-41-4.jpg"/><Relationship Id="rId5" Type="http://schemas.openxmlformats.org/officeDocument/2006/relationships/image" Target="../media/image-41-5.jpg"/><Relationship Id="rId6" Type="http://schemas.openxmlformats.org/officeDocument/2006/relationships/image" Target="../media/image-41-6.jpg"/><Relationship Id="rId7" Type="http://schemas.openxmlformats.org/officeDocument/2006/relationships/image" Target="../media/image-41-7.jpg"/><Relationship Id="rId8" Type="http://schemas.openxmlformats.org/officeDocument/2006/relationships/slideLayout" Target="../slideLayouts/slideLayout1.xml"/><Relationship Id="rId9"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image" Target="../media/image-42-2.jpg"/><Relationship Id="rId3" Type="http://schemas.openxmlformats.org/officeDocument/2006/relationships/image" Target="../media/image-42-3.jpg"/><Relationship Id="rId4" Type="http://schemas.openxmlformats.org/officeDocument/2006/relationships/image" Target="../media/image-42-4.jpg"/><Relationship Id="rId5" Type="http://schemas.openxmlformats.org/officeDocument/2006/relationships/image" Target="../media/image-42-5.jpg"/><Relationship Id="rId6" Type="http://schemas.openxmlformats.org/officeDocument/2006/relationships/slideLayout" Target="../slideLayouts/slideLayout1.xml"/><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Slide-43-image-1.jpe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Slide-44-image-1.jpe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Slide-45-image-1.jpe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Slide-46-image-1.jpe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image" Target="../media/image-48-2.jpg"/><Relationship Id="rId3" Type="http://schemas.openxmlformats.org/officeDocument/2006/relationships/image" Target="../media/image-48-3.jpg"/><Relationship Id="rId4" Type="http://schemas.openxmlformats.org/officeDocument/2006/relationships/image" Target="../media/image-48-4.jpg"/><Relationship Id="rId5" Type="http://schemas.openxmlformats.org/officeDocument/2006/relationships/image" Target="../media/image-48-5.jpg"/><Relationship Id="rId6" Type="http://schemas.openxmlformats.org/officeDocument/2006/relationships/image" Target="../media/image-48-6.jpg"/><Relationship Id="rId7" Type="http://schemas.openxmlformats.org/officeDocument/2006/relationships/image" Target="../media/image-48-7.jpg"/><Relationship Id="rId8" Type="http://schemas.openxmlformats.org/officeDocument/2006/relationships/slideLayout" Target="../slideLayouts/slideLayout1.xml"/><Relationship Id="rId9"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Slide-49-image-1.jpe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Slide-50-image-1.jpe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image" Target="../media/image-51-2.jpg"/><Relationship Id="rId3" Type="http://schemas.openxmlformats.org/officeDocument/2006/relationships/image" Target="../media/image-51-3.jpg"/><Relationship Id="rId4" Type="http://schemas.openxmlformats.org/officeDocument/2006/relationships/image" Target="../media/image-51-4.jpg"/><Relationship Id="rId5" Type="http://schemas.openxmlformats.org/officeDocument/2006/relationships/image" Target="../media/image-51-5.jpg"/><Relationship Id="rId6" Type="http://schemas.openxmlformats.org/officeDocument/2006/relationships/slideLayout" Target="../slideLayouts/slideLayout1.xml"/><Relationship Id="rId7"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Slide-52-image-1.jpe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Slide-53-image-1.jpe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Slide-54-image-1.jpe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Slide-55-image-1.jpe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jp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jp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jpg"/><Relationship Id="rId2" Type="http://schemas.openxmlformats.org/officeDocument/2006/relationships/image" Target="../media/image-58-2.jpg"/><Relationship Id="rId3" Type="http://schemas.openxmlformats.org/officeDocument/2006/relationships/image" Target="../media/image-58-3.jpg"/><Relationship Id="rId4" Type="http://schemas.openxmlformats.org/officeDocument/2006/relationships/image" Target="../media/image-58-4.jpg"/><Relationship Id="rId5" Type="http://schemas.openxmlformats.org/officeDocument/2006/relationships/image" Target="../media/image-58-5.jpg"/><Relationship Id="rId6" Type="http://schemas.openxmlformats.org/officeDocument/2006/relationships/image" Target="../media/image-58-6.jpg"/><Relationship Id="rId7" Type="http://schemas.openxmlformats.org/officeDocument/2006/relationships/slideLayout" Target="../slideLayouts/slideLayout1.xml"/><Relationship Id="rId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jpg"/><Relationship Id="rId2" Type="http://schemas.openxmlformats.org/officeDocument/2006/relationships/image" Target="../media/image-59-2.jpg"/><Relationship Id="rId3" Type="http://schemas.openxmlformats.org/officeDocument/2006/relationships/image" Target="../media/image-59-3.jpg"/><Relationship Id="rId4" Type="http://schemas.openxmlformats.org/officeDocument/2006/relationships/image" Target="../media/image-59-4.jpg"/><Relationship Id="rId5" Type="http://schemas.openxmlformats.org/officeDocument/2006/relationships/image" Target="../media/image-59-5.jpg"/><Relationship Id="rId6" Type="http://schemas.openxmlformats.org/officeDocument/2006/relationships/slideLayout" Target="../slideLayouts/slideLayout1.xml"/><Relationship Id="rId7"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Slide-60-image-1.jpe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jp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Slide-62-image-1.jpe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Slide-63-image-1.jpe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Slide-64-image-1.jpe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Slide-65-image-1.jpe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Slide-66-image-1.jpe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jp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jpg"/><Relationship Id="rId2" Type="http://schemas.openxmlformats.org/officeDocument/2006/relationships/image" Target="../media/image-68-2.jpg"/><Relationship Id="rId3" Type="http://schemas.openxmlformats.org/officeDocument/2006/relationships/image" Target="../media/image-68-3.jpg"/><Relationship Id="rId4" Type="http://schemas.openxmlformats.org/officeDocument/2006/relationships/image" Target="../media/image-68-4.jpg"/><Relationship Id="rId5" Type="http://schemas.openxmlformats.org/officeDocument/2006/relationships/image" Target="../media/image-68-5.jpg"/><Relationship Id="rId6" Type="http://schemas.openxmlformats.org/officeDocument/2006/relationships/image" Target="../media/image-68-6.jpg"/><Relationship Id="rId7" Type="http://schemas.openxmlformats.org/officeDocument/2006/relationships/image" Target="../media/image-68-7.jpg"/><Relationship Id="rId8" Type="http://schemas.openxmlformats.org/officeDocument/2006/relationships/slideLayout" Target="../slideLayouts/slideLayout1.xml"/><Relationship Id="rId9"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Slide-69-image-1.jpe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jpg"/><Relationship Id="rId2" Type="http://schemas.openxmlformats.org/officeDocument/2006/relationships/image" Target="../media/image-70-2.jpg"/><Relationship Id="rId3" Type="http://schemas.openxmlformats.org/officeDocument/2006/relationships/image" Target="../media/image-70-3.jpg"/><Relationship Id="rId4" Type="http://schemas.openxmlformats.org/officeDocument/2006/relationships/image" Target="../media/image-70-4.jpg"/><Relationship Id="rId5" Type="http://schemas.openxmlformats.org/officeDocument/2006/relationships/image" Target="../media/image-70-5.jpg"/><Relationship Id="rId6" Type="http://schemas.openxmlformats.org/officeDocument/2006/relationships/slideLayout" Target="../slideLayouts/slideLayout1.xml"/><Relationship Id="rId7"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Slide-71-image-1.jpeg"/><Relationship Id="rId2" Type="http://schemas.openxmlformats.org/officeDocument/2006/relationships/slideLayout" Target="../slideLayouts/slideLayout1.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jpg"/><Relationship Id="rId2" Type="http://schemas.openxmlformats.org/officeDocument/2006/relationships/slideLayout" Target="../slideLayouts/slideLayout1.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Slide-73-image-1.jpeg"/><Relationship Id="rId2" Type="http://schemas.openxmlformats.org/officeDocument/2006/relationships/slideLayout" Target="../slideLayouts/slideLayout1.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Slide-74-image-1.jpeg"/><Relationship Id="rId2" Type="http://schemas.openxmlformats.org/officeDocument/2006/relationships/slideLayout" Target="../slideLayouts/slideLayout1.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Slide-75-image-1.jpe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Slide-76-image-1.jpeg"/><Relationship Id="rId2" Type="http://schemas.openxmlformats.org/officeDocument/2006/relationships/slideLayout" Target="../slideLayouts/slideLayout1.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jpg"/><Relationship Id="rId2" Type="http://schemas.openxmlformats.org/officeDocument/2006/relationships/slideLayout" Target="../slideLayouts/slideLayout1.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Slide-78-image-1.jpeg"/><Relationship Id="rId2" Type="http://schemas.openxmlformats.org/officeDocument/2006/relationships/slideLayout" Target="../slideLayouts/slideLayout1.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Slide-79-image-1.jpeg"/><Relationship Id="rId2" Type="http://schemas.openxmlformats.org/officeDocument/2006/relationships/slideLayout" Target="../slideLayouts/slideLayout1.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jpg"/><Relationship Id="rId2" Type="http://schemas.openxmlformats.org/officeDocument/2006/relationships/slideLayout" Target="../slideLayouts/slideLayout1.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Slide-81-image-1.jpeg"/><Relationship Id="rId2" Type="http://schemas.openxmlformats.org/officeDocument/2006/relationships/slideLayout" Target="../slideLayouts/slideLayout1.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Slide-82-image-1.jpeg"/><Relationship Id="rId2" Type="http://schemas.openxmlformats.org/officeDocument/2006/relationships/slideLayout" Target="../slideLayouts/slideLayout1.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jpg"/><Relationship Id="rId2" Type="http://schemas.openxmlformats.org/officeDocument/2006/relationships/slideLayout" Target="../slideLayouts/slideLayout1.xml"/><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84-1.jpg"/><Relationship Id="rId2" Type="http://schemas.openxmlformats.org/officeDocument/2006/relationships/slideLayout" Target="../slideLayouts/slideLayout1.xml"/><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Slide-85-image-1.jpeg"/><Relationship Id="rId2" Type="http://schemas.openxmlformats.org/officeDocument/2006/relationships/slideLayout" Target="../slideLayouts/slideLayout1.xm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Slide-86-image-1.jpeg"/><Relationship Id="rId2" Type="http://schemas.openxmlformats.org/officeDocument/2006/relationships/slideLayout" Target="../slideLayouts/slideLayout1.xml"/><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Slide-87-image-1.jpeg"/><Relationship Id="rId2" Type="http://schemas.openxmlformats.org/officeDocument/2006/relationships/slideLayout" Target="../slideLayouts/slideLayout1.xm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jpg"/><Relationship Id="rId2" Type="http://schemas.openxmlformats.org/officeDocument/2006/relationships/slideLayout" Target="../slideLayouts/slideLayout1.xml"/><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jpg"/><Relationship Id="rId2" Type="http://schemas.openxmlformats.org/officeDocument/2006/relationships/image" Target="../media/image-89-2.jpg"/><Relationship Id="rId3" Type="http://schemas.openxmlformats.org/officeDocument/2006/relationships/image" Target="../media/image-89-3.jpg"/><Relationship Id="rId4" Type="http://schemas.openxmlformats.org/officeDocument/2006/relationships/image" Target="../media/image-89-4.jpg"/><Relationship Id="rId5" Type="http://schemas.openxmlformats.org/officeDocument/2006/relationships/image" Target="../media/image-89-5.jpg"/><Relationship Id="rId6" Type="http://schemas.openxmlformats.org/officeDocument/2006/relationships/image" Target="../media/image-89-6.jpg"/><Relationship Id="rId7" Type="http://schemas.openxmlformats.org/officeDocument/2006/relationships/slideLayout" Target="../slideLayouts/slideLayout1.xml"/><Relationship Id="rId8"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90-1.jpg"/><Relationship Id="rId2" Type="http://schemas.openxmlformats.org/officeDocument/2006/relationships/image" Target="../media/image-90-2.jpg"/><Relationship Id="rId3" Type="http://schemas.openxmlformats.org/officeDocument/2006/relationships/image" Target="../media/image-90-3.jpg"/><Relationship Id="rId4" Type="http://schemas.openxmlformats.org/officeDocument/2006/relationships/image" Target="../media/image-90-4.jpg"/><Relationship Id="rId5" Type="http://schemas.openxmlformats.org/officeDocument/2006/relationships/image" Target="../media/image-90-5.jpg"/><Relationship Id="rId6" Type="http://schemas.openxmlformats.org/officeDocument/2006/relationships/slideLayout" Target="../slideLayouts/slideLayout1.xml"/><Relationship Id="rId7"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Slide-91-image-1.jpeg"/><Relationship Id="rId2" Type="http://schemas.openxmlformats.org/officeDocument/2006/relationships/slideLayout" Target="../slideLayouts/slideLayout1.xm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jpg"/><Relationship Id="rId2" Type="http://schemas.openxmlformats.org/officeDocument/2006/relationships/slideLayout" Target="../slideLayouts/slideLayout1.xm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Slide-93-image-1.jpeg"/><Relationship Id="rId2" Type="http://schemas.openxmlformats.org/officeDocument/2006/relationships/slideLayout" Target="../slideLayouts/slideLayout1.xml"/><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image" Target="../media/Slide-94-image-1.jpeg"/><Relationship Id="rId2" Type="http://schemas.openxmlformats.org/officeDocument/2006/relationships/slideLayout" Target="../slideLayouts/slideLayout1.xml"/><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image" Target="../media/Slide-95-image-1.jpeg"/><Relationship Id="rId2" Type="http://schemas.openxmlformats.org/officeDocument/2006/relationships/slideLayout" Target="../slideLayouts/slideLayout1.xml"/><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image" Target="../media/Slide-96-image-1.jpeg"/><Relationship Id="rId2" Type="http://schemas.openxmlformats.org/officeDocument/2006/relationships/slideLayout" Target="../slideLayouts/slideLayout1.xml"/><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jpg"/><Relationship Id="rId2" Type="http://schemas.openxmlformats.org/officeDocument/2006/relationships/slideLayout" Target="../slideLayouts/slideLayout1.xml"/><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image-98-1.jpg"/><Relationship Id="rId2" Type="http://schemas.openxmlformats.org/officeDocument/2006/relationships/image" Target="../media/image-98-2.jpg"/><Relationship Id="rId3" Type="http://schemas.openxmlformats.org/officeDocument/2006/relationships/image" Target="../media/image-98-3.jpg"/><Relationship Id="rId4" Type="http://schemas.openxmlformats.org/officeDocument/2006/relationships/image" Target="../media/image-98-4.jpg"/><Relationship Id="rId5" Type="http://schemas.openxmlformats.org/officeDocument/2006/relationships/image" Target="../media/image-98-5.jpg"/><Relationship Id="rId6" Type="http://schemas.openxmlformats.org/officeDocument/2006/relationships/image" Target="../media/image-98-6.jpg"/><Relationship Id="rId7" Type="http://schemas.openxmlformats.org/officeDocument/2006/relationships/slideLayout" Target="../slideLayouts/slideLayout1.xml"/><Relationship Id="rId8"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image" Target="../media/Slide-99-image-1.jpeg"/><Relationship Id="rId2" Type="http://schemas.openxmlformats.org/officeDocument/2006/relationships/slideLayout" Target="../slideLayouts/slideLayout1.xml"/><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jpg"/><Relationship Id="rId2" Type="http://schemas.openxmlformats.org/officeDocument/2006/relationships/image" Target="../media/image-100-2.jpg"/><Relationship Id="rId3" Type="http://schemas.openxmlformats.org/officeDocument/2006/relationships/image" Target="../media/image-100-3.jpg"/><Relationship Id="rId4" Type="http://schemas.openxmlformats.org/officeDocument/2006/relationships/image" Target="../media/image-100-4.jpg"/><Relationship Id="rId5" Type="http://schemas.openxmlformats.org/officeDocument/2006/relationships/image" Target="../media/image-100-5.jpg"/><Relationship Id="rId6" Type="http://schemas.openxmlformats.org/officeDocument/2006/relationships/slideLayout" Target="../slideLayouts/slideLayout1.xml"/><Relationship Id="rId7"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Slide-101-image-1.jpeg"/><Relationship Id="rId2" Type="http://schemas.openxmlformats.org/officeDocument/2006/relationships/slideLayout" Target="../slideLayouts/slideLayout1.xml"/><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image" Target="../media/image-102-1.jpg"/><Relationship Id="rId2" Type="http://schemas.openxmlformats.org/officeDocument/2006/relationships/slideLayout" Target="../slideLayouts/slideLayout1.xml"/><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image" Target="../media/Slide-103-image-1.jpeg"/><Relationship Id="rId2" Type="http://schemas.openxmlformats.org/officeDocument/2006/relationships/slideLayout" Target="../slideLayouts/slideLayout1.xml"/><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image" Target="../media/Slide-104-image-1.jpeg"/><Relationship Id="rId2" Type="http://schemas.openxmlformats.org/officeDocument/2006/relationships/slideLayout" Target="../slideLayouts/slideLayout1.xml"/><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image" Target="../media/Slide-105-image-1.jpeg"/><Relationship Id="rId2" Type="http://schemas.openxmlformats.org/officeDocument/2006/relationships/slideLayout" Target="../slideLayouts/slideLayout1.xml"/><Relationship Id="rId3"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image" Target="../media/Slide-106-image-1.jpeg"/><Relationship Id="rId2" Type="http://schemas.openxmlformats.org/officeDocument/2006/relationships/slideLayout" Target="../slideLayouts/slideLayout1.xml"/><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image" Target="../media/Slide-107-image-1.jpeg"/><Relationship Id="rId2" Type="http://schemas.openxmlformats.org/officeDocument/2006/relationships/slideLayout" Target="../slideLayouts/slideLayout1.xml"/><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image" Target="../media/image-108-1.jpg"/><Relationship Id="rId2" Type="http://schemas.openxmlformats.org/officeDocument/2006/relationships/slideLayout" Target="../slideLayouts/slideLayout1.xml"/><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image" Target="../media/image-109-1.jpg"/><Relationship Id="rId2" Type="http://schemas.openxmlformats.org/officeDocument/2006/relationships/image" Target="../media/image-109-2.jpg"/><Relationship Id="rId3" Type="http://schemas.openxmlformats.org/officeDocument/2006/relationships/image" Target="../media/image-109-3.jpg"/><Relationship Id="rId4" Type="http://schemas.openxmlformats.org/officeDocument/2006/relationships/image" Target="../media/image-109-4.jpg"/><Relationship Id="rId5" Type="http://schemas.openxmlformats.org/officeDocument/2006/relationships/image" Target="../media/image-109-5.jpg"/><Relationship Id="rId6" Type="http://schemas.openxmlformats.org/officeDocument/2006/relationships/image" Target="../media/image-109-6.jpg"/><Relationship Id="rId7" Type="http://schemas.openxmlformats.org/officeDocument/2006/relationships/image" Target="../media/image-109-7.jpg"/><Relationship Id="rId8" Type="http://schemas.openxmlformats.org/officeDocument/2006/relationships/image" Target="../media/image-109-8.jpg"/><Relationship Id="rId9" Type="http://schemas.openxmlformats.org/officeDocument/2006/relationships/slideLayout" Target="../slideLayouts/slideLayout1.xml"/><Relationship Id="rId10"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image" Target="../media/image-110-1.jpg"/><Relationship Id="rId2" Type="http://schemas.openxmlformats.org/officeDocument/2006/relationships/image" Target="../media/image-110-2.jpg"/><Relationship Id="rId3" Type="http://schemas.openxmlformats.org/officeDocument/2006/relationships/image" Target="../media/image-110-3.jpg"/><Relationship Id="rId4" Type="http://schemas.openxmlformats.org/officeDocument/2006/relationships/image" Target="../media/image-110-4.jpg"/><Relationship Id="rId5" Type="http://schemas.openxmlformats.org/officeDocument/2006/relationships/image" Target="../media/image-110-5.jpg"/><Relationship Id="rId6" Type="http://schemas.openxmlformats.org/officeDocument/2006/relationships/image" Target="../media/image-110-6.jpg"/><Relationship Id="rId7" Type="http://schemas.openxmlformats.org/officeDocument/2006/relationships/image" Target="../media/image-110-7.jpg"/><Relationship Id="rId8" Type="http://schemas.openxmlformats.org/officeDocument/2006/relationships/slideLayout" Target="../slideLayouts/slideLayout1.xml"/><Relationship Id="rId9"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image" Target="../media/image-111-1.jpg"/><Relationship Id="rId2" Type="http://schemas.openxmlformats.org/officeDocument/2006/relationships/slideLayout" Target="../slideLayouts/slideLayout1.xml"/><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image" Target="../media/image-112-1.jpg"/><Relationship Id="rId2" Type="http://schemas.openxmlformats.org/officeDocument/2006/relationships/image" Target="../media/image-112-2.jpg"/><Relationship Id="rId3" Type="http://schemas.openxmlformats.org/officeDocument/2006/relationships/image" Target="../media/image-112-3.jpg"/><Relationship Id="rId4" Type="http://schemas.openxmlformats.org/officeDocument/2006/relationships/image" Target="../media/image-112-4.jpg"/><Relationship Id="rId5" Type="http://schemas.openxmlformats.org/officeDocument/2006/relationships/image" Target="../media/image-112-5.jpg"/><Relationship Id="rId6" Type="http://schemas.openxmlformats.org/officeDocument/2006/relationships/slideLayout" Target="../slideLayouts/slideLayout1.xml"/><Relationship Id="rId7"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image" Target="../media/image-113-1.jpg"/><Relationship Id="rId2" Type="http://schemas.openxmlformats.org/officeDocument/2006/relationships/slideLayout" Target="../slideLayouts/slideLayout1.xml"/><Relationship Id="rId3"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image" Target="../media/image-114-1.jpg"/><Relationship Id="rId2" Type="http://schemas.openxmlformats.org/officeDocument/2006/relationships/slideLayout" Target="../slideLayouts/slideLayout1.xml"/><Relationship Id="rId3"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image" Target="../media/Slide-115-image-1.jpeg"/><Relationship Id="rId2" Type="http://schemas.openxmlformats.org/officeDocument/2006/relationships/slideLayout" Target="../slideLayouts/slideLayout1.xml"/><Relationship Id="rId3"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image" Target="../media/Slide-116-image-1.jpeg"/><Relationship Id="rId2" Type="http://schemas.openxmlformats.org/officeDocument/2006/relationships/slideLayout" Target="../slideLayouts/slideLayout1.xml"/><Relationship Id="rId3"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image" Target="../media/Slide-117-image-1.jpeg"/><Relationship Id="rId2" Type="http://schemas.openxmlformats.org/officeDocument/2006/relationships/slideLayout" Target="../slideLayouts/slideLayout1.xml"/><Relationship Id="rId3"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image" Target="../media/Slide-118-image-1.jpeg"/><Relationship Id="rId2" Type="http://schemas.openxmlformats.org/officeDocument/2006/relationships/slideLayout" Target="../slideLayouts/slideLayout1.xml"/><Relationship Id="rId3"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image" Target="../media/image-119-1.jpg"/><Relationship Id="rId2" Type="http://schemas.openxmlformats.org/officeDocument/2006/relationships/image" Target="../media/image-119-2.jpg"/><Relationship Id="rId3" Type="http://schemas.openxmlformats.org/officeDocument/2006/relationships/image" Target="../media/image-119-3.jpg"/><Relationship Id="rId4" Type="http://schemas.openxmlformats.org/officeDocument/2006/relationships/image" Target="../media/image-119-4.jpg"/><Relationship Id="rId5" Type="http://schemas.openxmlformats.org/officeDocument/2006/relationships/image" Target="../media/image-119-5.jpg"/><Relationship Id="rId6" Type="http://schemas.openxmlformats.org/officeDocument/2006/relationships/image" Target="../media/image-119-6.jpg"/><Relationship Id="rId7" Type="http://schemas.openxmlformats.org/officeDocument/2006/relationships/image" Target="../media/image-119-7.jpg"/><Relationship Id="rId8" Type="http://schemas.openxmlformats.org/officeDocument/2006/relationships/image" Target="../media/image-119-8.jpg"/><Relationship Id="rId9" Type="http://schemas.openxmlformats.org/officeDocument/2006/relationships/slideLayout" Target="../slideLayouts/slideLayout1.xml"/><Relationship Id="rId10"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image" Target="../media/image-120-1.jpg"/><Relationship Id="rId2" Type="http://schemas.openxmlformats.org/officeDocument/2006/relationships/slideLayout" Target="../slideLayouts/slideLayout1.xml"/><Relationship Id="rId3"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image" Target="../media/image-121-1.jpg"/><Relationship Id="rId2" Type="http://schemas.openxmlformats.org/officeDocument/2006/relationships/image" Target="../media/image-121-2.jpg"/><Relationship Id="rId3" Type="http://schemas.openxmlformats.org/officeDocument/2006/relationships/image" Target="../media/image-121-3.jpg"/><Relationship Id="rId4" Type="http://schemas.openxmlformats.org/officeDocument/2006/relationships/image" Target="../media/image-121-4.jpg"/><Relationship Id="rId5" Type="http://schemas.openxmlformats.org/officeDocument/2006/relationships/image" Target="../media/image-121-5.jpg"/><Relationship Id="rId6" Type="http://schemas.openxmlformats.org/officeDocument/2006/relationships/image" Target="../media/image-121-6.jpg"/><Relationship Id="rId7" Type="http://schemas.openxmlformats.org/officeDocument/2006/relationships/image" Target="../media/image-121-7.jpg"/><Relationship Id="rId8" Type="http://schemas.openxmlformats.org/officeDocument/2006/relationships/image" Target="../media/image-121-8.jpg"/><Relationship Id="rId9" Type="http://schemas.openxmlformats.org/officeDocument/2006/relationships/slideLayout" Target="../slideLayouts/slideLayout1.xml"/><Relationship Id="rId10"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image" Target="../media/image-122-1.jpg"/><Relationship Id="rId2" Type="http://schemas.openxmlformats.org/officeDocument/2006/relationships/image" Target="../media/image-122-2.jpg"/><Relationship Id="rId3" Type="http://schemas.openxmlformats.org/officeDocument/2006/relationships/image" Target="../media/image-122-3.jpg"/><Relationship Id="rId4" Type="http://schemas.openxmlformats.org/officeDocument/2006/relationships/image" Target="../media/image-122-4.jpg"/><Relationship Id="rId5" Type="http://schemas.openxmlformats.org/officeDocument/2006/relationships/image" Target="../media/image-122-5.jpg"/><Relationship Id="rId6" Type="http://schemas.openxmlformats.org/officeDocument/2006/relationships/slideLayout" Target="../slideLayouts/slideLayout1.xml"/><Relationship Id="rId7"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image" Target="../media/Slide-123-image-1.jpeg"/><Relationship Id="rId2" Type="http://schemas.openxmlformats.org/officeDocument/2006/relationships/slideLayout" Target="../slideLayouts/slideLayout1.xml"/><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image" Target="../media/image-124-1.jpg"/><Relationship Id="rId2" Type="http://schemas.openxmlformats.org/officeDocument/2006/relationships/slideLayout" Target="../slideLayouts/slideLayout1.xml"/><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image" Target="../media/Slide-125-image-1.jpeg"/><Relationship Id="rId2" Type="http://schemas.openxmlformats.org/officeDocument/2006/relationships/slideLayout" Target="../slideLayouts/slideLayout1.xml"/><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image" Target="../media/Slide-126-image-1.jpeg"/><Relationship Id="rId2" Type="http://schemas.openxmlformats.org/officeDocument/2006/relationships/slideLayout" Target="../slideLayouts/slideLayout1.xml"/><Relationship Id="rId3"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image" Target="../media/image-127-1.jpg"/><Relationship Id="rId2" Type="http://schemas.openxmlformats.org/officeDocument/2006/relationships/slideLayout" Target="../slideLayouts/slideLayout1.xml"/><Relationship Id="rId3"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image" Target="../media/Slide-128-image-1.jpeg"/><Relationship Id="rId2" Type="http://schemas.openxmlformats.org/officeDocument/2006/relationships/slideLayout" Target="../slideLayouts/slideLayout1.xml"/><Relationship Id="rId3"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image" Target="../media/image-129-1.jpg"/><Relationship Id="rId2" Type="http://schemas.openxmlformats.org/officeDocument/2006/relationships/image" Target="../media/image-129-2.jpg"/><Relationship Id="rId3" Type="http://schemas.openxmlformats.org/officeDocument/2006/relationships/image" Target="../media/image-129-3.jpg"/><Relationship Id="rId4" Type="http://schemas.openxmlformats.org/officeDocument/2006/relationships/image" Target="../media/image-129-4.jpg"/><Relationship Id="rId5" Type="http://schemas.openxmlformats.org/officeDocument/2006/relationships/image" Target="../media/image-129-5.jpg"/><Relationship Id="rId6" Type="http://schemas.openxmlformats.org/officeDocument/2006/relationships/slideLayout" Target="../slideLayouts/slideLayout1.xml"/><Relationship Id="rId7"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image" Target="../media/image-130-1.jpg"/><Relationship Id="rId2" Type="http://schemas.openxmlformats.org/officeDocument/2006/relationships/image" Target="../media/image-130-2.jpg"/><Relationship Id="rId3" Type="http://schemas.openxmlformats.org/officeDocument/2006/relationships/image" Target="../media/image-130-3.jpg"/><Relationship Id="rId4" Type="http://schemas.openxmlformats.org/officeDocument/2006/relationships/image" Target="../media/image-130-4.jpg"/><Relationship Id="rId5" Type="http://schemas.openxmlformats.org/officeDocument/2006/relationships/image" Target="../media/image-130-5.jpg"/><Relationship Id="rId6" Type="http://schemas.openxmlformats.org/officeDocument/2006/relationships/slideLayout" Target="../slideLayouts/slideLayout1.xml"/><Relationship Id="rId7"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image" Target="../media/Slide-131-image-1.jpeg"/><Relationship Id="rId2" Type="http://schemas.openxmlformats.org/officeDocument/2006/relationships/slideLayout" Target="../slideLayouts/slideLayout1.xml"/><Relationship Id="rId3"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image" Target="../media/image-132-1.jpg"/><Relationship Id="rId2" Type="http://schemas.openxmlformats.org/officeDocument/2006/relationships/slideLayout" Target="../slideLayouts/slideLayout1.xml"/><Relationship Id="rId3"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image" Target="../media/Slide-133-image-1.jpeg"/><Relationship Id="rId2" Type="http://schemas.openxmlformats.org/officeDocument/2006/relationships/slideLayout" Target="../slideLayouts/slideLayout1.xml"/><Relationship Id="rId3"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image" Target="../media/Slide-134-image-1.jpeg"/><Relationship Id="rId2" Type="http://schemas.openxmlformats.org/officeDocument/2006/relationships/slideLayout" Target="../slideLayouts/slideLayout1.xml"/><Relationship Id="rId3"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image" Target="../media/Slide-135-image-1.jpeg"/><Relationship Id="rId2" Type="http://schemas.openxmlformats.org/officeDocument/2006/relationships/slideLayout" Target="../slideLayouts/slideLayout1.xml"/><Relationship Id="rId3"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image" Target="../media/Slide-136-image-1.jpeg"/><Relationship Id="rId2" Type="http://schemas.openxmlformats.org/officeDocument/2006/relationships/slideLayout" Target="../slideLayouts/slideLayout1.xml"/><Relationship Id="rId3"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image" Target="../media/Slide-137-image-1.jpeg"/><Relationship Id="rId2" Type="http://schemas.openxmlformats.org/officeDocument/2006/relationships/slideLayout" Target="../slideLayouts/slideLayout1.xml"/><Relationship Id="rId3"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image" Target="../media/image-138-1.jpg"/><Relationship Id="rId2" Type="http://schemas.openxmlformats.org/officeDocument/2006/relationships/slideLayout" Target="../slideLayouts/slideLayout1.xml"/><Relationship Id="rId3"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image" Target="../media/image-139-1.jpg"/><Relationship Id="rId2" Type="http://schemas.openxmlformats.org/officeDocument/2006/relationships/image" Target="../media/image-139-2.jpg"/><Relationship Id="rId3" Type="http://schemas.openxmlformats.org/officeDocument/2006/relationships/image" Target="../media/image-139-3.jpg"/><Relationship Id="rId4" Type="http://schemas.openxmlformats.org/officeDocument/2006/relationships/image" Target="../media/image-139-4.jpg"/><Relationship Id="rId5" Type="http://schemas.openxmlformats.org/officeDocument/2006/relationships/image" Target="../media/image-139-5.jpg"/><Relationship Id="rId6" Type="http://schemas.openxmlformats.org/officeDocument/2006/relationships/image" Target="../media/image-139-6.jpg"/><Relationship Id="rId7" Type="http://schemas.openxmlformats.org/officeDocument/2006/relationships/image" Target="../media/image-139-7.jpg"/><Relationship Id="rId8" Type="http://schemas.openxmlformats.org/officeDocument/2006/relationships/slideLayout" Target="../slideLayouts/slideLayout1.xml"/><Relationship Id="rId9"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image" Target="../media/image-140-1.jpg"/><Relationship Id="rId2" Type="http://schemas.openxmlformats.org/officeDocument/2006/relationships/image" Target="../media/image-140-2.jpg"/><Relationship Id="rId3" Type="http://schemas.openxmlformats.org/officeDocument/2006/relationships/image" Target="../media/image-140-3.jpg"/><Relationship Id="rId4" Type="http://schemas.openxmlformats.org/officeDocument/2006/relationships/image" Target="../media/image-140-4.jpg"/><Relationship Id="rId5" Type="http://schemas.openxmlformats.org/officeDocument/2006/relationships/image" Target="../media/image-140-5.jpg"/><Relationship Id="rId6" Type="http://schemas.openxmlformats.org/officeDocument/2006/relationships/image" Target="../media/image-140-6.jpg"/><Relationship Id="rId7" Type="http://schemas.openxmlformats.org/officeDocument/2006/relationships/slideLayout" Target="../slideLayouts/slideLayout1.xml"/><Relationship Id="rId8"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image" Target="../media/image-141-1.jpg"/><Relationship Id="rId2" Type="http://schemas.openxmlformats.org/officeDocument/2006/relationships/image" Target="../media/image-141-2.jpg"/><Relationship Id="rId3" Type="http://schemas.openxmlformats.org/officeDocument/2006/relationships/image" Target="../media/image-141-3.jpg"/><Relationship Id="rId4" Type="http://schemas.openxmlformats.org/officeDocument/2006/relationships/image" Target="../media/image-141-4.jpg"/><Relationship Id="rId5" Type="http://schemas.openxmlformats.org/officeDocument/2006/relationships/image" Target="../media/image-141-5.jpg"/><Relationship Id="rId6" Type="http://schemas.openxmlformats.org/officeDocument/2006/relationships/slideLayout" Target="../slideLayouts/slideLayout1.xml"/><Relationship Id="rId7"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image" Target="../media/image-142-1.jpg"/><Relationship Id="rId2" Type="http://schemas.openxmlformats.org/officeDocument/2006/relationships/image" Target="../media/image-142-2.jpg"/><Relationship Id="rId3" Type="http://schemas.openxmlformats.org/officeDocument/2006/relationships/image" Target="../media/image-142-3.jpg"/><Relationship Id="rId4" Type="http://schemas.openxmlformats.org/officeDocument/2006/relationships/image" Target="../media/image-142-4.jpg"/><Relationship Id="rId5" Type="http://schemas.openxmlformats.org/officeDocument/2006/relationships/image" Target="../media/image-142-5.jpg"/><Relationship Id="rId6" Type="http://schemas.openxmlformats.org/officeDocument/2006/relationships/slideLayout" Target="../slideLayouts/slideLayout1.xml"/><Relationship Id="rId7"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image" Target="../media/Slide-143-image-1.jpeg"/><Relationship Id="rId2" Type="http://schemas.openxmlformats.org/officeDocument/2006/relationships/slideLayout" Target="../slideLayouts/slideLayout1.xml"/><Relationship Id="rId3"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image" Target="../media/image-144-1.jpg"/><Relationship Id="rId2" Type="http://schemas.openxmlformats.org/officeDocument/2006/relationships/slideLayout" Target="../slideLayouts/slideLayout1.xml"/><Relationship Id="rId3"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image" Target="../media/Slide-145-image-1.jpeg"/><Relationship Id="rId2" Type="http://schemas.openxmlformats.org/officeDocument/2006/relationships/slideLayout" Target="../slideLayouts/slideLayout1.xml"/><Relationship Id="rId3"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image" Target="../media/Slide-146-image-1.jpeg"/><Relationship Id="rId2" Type="http://schemas.openxmlformats.org/officeDocument/2006/relationships/slideLayout" Target="../slideLayouts/slideLayout1.xml"/><Relationship Id="rId3"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image" Target="../media/Slide-147-image-1.jpeg"/><Relationship Id="rId2" Type="http://schemas.openxmlformats.org/officeDocument/2006/relationships/slideLayout" Target="../slideLayouts/slideLayout1.xml"/><Relationship Id="rId3"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image" Target="../media/Slide-148-image-1.jpeg"/><Relationship Id="rId2" Type="http://schemas.openxmlformats.org/officeDocument/2006/relationships/slideLayout" Target="../slideLayouts/slideLayout1.xml"/><Relationship Id="rId3"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image" Target="../media/Slide-149-image-1.jpeg"/><Relationship Id="rId2" Type="http://schemas.openxmlformats.org/officeDocument/2006/relationships/slideLayout" Target="../slideLayouts/slideLayout1.xml"/><Relationship Id="rId3"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image" Target="../media/image-150-1.jpg"/><Relationship Id="rId2" Type="http://schemas.openxmlformats.org/officeDocument/2006/relationships/slideLayout" Target="../slideLayouts/slideLayout1.xml"/><Relationship Id="rId3"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image" Target="../media/image-151-1.jpg"/><Relationship Id="rId2" Type="http://schemas.openxmlformats.org/officeDocument/2006/relationships/image" Target="../media/image-151-2.jpg"/><Relationship Id="rId3" Type="http://schemas.openxmlformats.org/officeDocument/2006/relationships/image" Target="../media/image-151-3.jpg"/><Relationship Id="rId4" Type="http://schemas.openxmlformats.org/officeDocument/2006/relationships/image" Target="../media/image-151-4.jpg"/><Relationship Id="rId5" Type="http://schemas.openxmlformats.org/officeDocument/2006/relationships/image" Target="../media/image-151-5.jpg"/><Relationship Id="rId6" Type="http://schemas.openxmlformats.org/officeDocument/2006/relationships/image" Target="../media/image-151-6.jpg"/><Relationship Id="rId7" Type="http://schemas.openxmlformats.org/officeDocument/2006/relationships/image" Target="../media/image-151-7.jpg"/><Relationship Id="rId8" Type="http://schemas.openxmlformats.org/officeDocument/2006/relationships/image" Target="../media/image-151-8.jpg"/><Relationship Id="rId9" Type="http://schemas.openxmlformats.org/officeDocument/2006/relationships/slideLayout" Target="../slideLayouts/slideLayout1.xml"/><Relationship Id="rId10"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image" Target="../media/image-152-1.jpg"/><Relationship Id="rId2" Type="http://schemas.openxmlformats.org/officeDocument/2006/relationships/image" Target="../media/image-152-2.jpg"/><Relationship Id="rId3" Type="http://schemas.openxmlformats.org/officeDocument/2006/relationships/image" Target="../media/image-152-3.jpg"/><Relationship Id="rId4" Type="http://schemas.openxmlformats.org/officeDocument/2006/relationships/image" Target="../media/image-152-4.jpg"/><Relationship Id="rId5" Type="http://schemas.openxmlformats.org/officeDocument/2006/relationships/image" Target="../media/image-152-5.jpg"/><Relationship Id="rId6" Type="http://schemas.openxmlformats.org/officeDocument/2006/relationships/slideLayout" Target="../slideLayouts/slideLayout1.xml"/><Relationship Id="rId7"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image" Target="../media/Slide-153-image-1.jpeg"/><Relationship Id="rId2" Type="http://schemas.openxmlformats.org/officeDocument/2006/relationships/slideLayout" Target="../slideLayouts/slideLayout1.xml"/><Relationship Id="rId3"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image" Target="../media/image-154-1.jpg"/><Relationship Id="rId2" Type="http://schemas.openxmlformats.org/officeDocument/2006/relationships/slideLayout" Target="../slideLayouts/slideLayout1.xml"/><Relationship Id="rId3"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image" Target="../media/Slide-155-image-1.jpeg"/><Relationship Id="rId2" Type="http://schemas.openxmlformats.org/officeDocument/2006/relationships/slideLayout" Target="../slideLayouts/slideLayout1.xml"/><Relationship Id="rId3"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image" Target="../media/Slide-156-image-1.jpeg"/><Relationship Id="rId2" Type="http://schemas.openxmlformats.org/officeDocument/2006/relationships/slideLayout" Target="../slideLayouts/slideLayout1.xml"/><Relationship Id="rId3"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image" Target="../media/Slide-157-image-1.jpeg"/><Relationship Id="rId2" Type="http://schemas.openxmlformats.org/officeDocument/2006/relationships/slideLayout" Target="../slideLayouts/slideLayout1.xml"/><Relationship Id="rId3"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image" Target="../media/Slide-158-image-1.jpeg"/><Relationship Id="rId2" Type="http://schemas.openxmlformats.org/officeDocument/2006/relationships/slideLayout" Target="../slideLayouts/slideLayout1.xml"/><Relationship Id="rId3"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image" Target="../media/Slide-159-image-1.jpeg"/><Relationship Id="rId2" Type="http://schemas.openxmlformats.org/officeDocument/2006/relationships/slideLayout" Target="../slideLayouts/slideLayout1.xml"/><Relationship Id="rId3"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image" Target="../media/image-160-1.jpg"/><Relationship Id="rId2" Type="http://schemas.openxmlformats.org/officeDocument/2006/relationships/slideLayout" Target="../slideLayouts/slideLayout1.xml"/><Relationship Id="rId3"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image" Target="../media/image-161-1.jpg"/><Relationship Id="rId2" Type="http://schemas.openxmlformats.org/officeDocument/2006/relationships/image" Target="../media/image-161-2.jpg"/><Relationship Id="rId3" Type="http://schemas.openxmlformats.org/officeDocument/2006/relationships/image" Target="../media/image-161-3.jpg"/><Relationship Id="rId4" Type="http://schemas.openxmlformats.org/officeDocument/2006/relationships/image" Target="../media/image-161-4.jpg"/><Relationship Id="rId5" Type="http://schemas.openxmlformats.org/officeDocument/2006/relationships/image" Target="../media/image-161-5.jpg"/><Relationship Id="rId6" Type="http://schemas.openxmlformats.org/officeDocument/2006/relationships/image" Target="../media/image-161-6.jpg"/><Relationship Id="rId7" Type="http://schemas.openxmlformats.org/officeDocument/2006/relationships/image" Target="../media/image-161-7.jpg"/><Relationship Id="rId8" Type="http://schemas.openxmlformats.org/officeDocument/2006/relationships/image" Target="../media/image-161-8.jpg"/><Relationship Id="rId9" Type="http://schemas.openxmlformats.org/officeDocument/2006/relationships/slideLayout" Target="../slideLayouts/slideLayout1.xml"/><Relationship Id="rId10"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image" Target="../media/image-162-1.jpg"/><Relationship Id="rId2" Type="http://schemas.openxmlformats.org/officeDocument/2006/relationships/image" Target="../media/image-162-2.jpg"/><Relationship Id="rId3" Type="http://schemas.openxmlformats.org/officeDocument/2006/relationships/image" Target="../media/image-162-3.jpg"/><Relationship Id="rId4" Type="http://schemas.openxmlformats.org/officeDocument/2006/relationships/image" Target="../media/image-162-4.jpg"/><Relationship Id="rId5" Type="http://schemas.openxmlformats.org/officeDocument/2006/relationships/image" Target="../media/image-162-5.jpg"/><Relationship Id="rId6" Type="http://schemas.openxmlformats.org/officeDocument/2006/relationships/slideLayout" Target="../slideLayouts/slideLayout1.xml"/><Relationship Id="rId7"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image" Target="../media/image-163-1.jpg"/><Relationship Id="rId2" Type="http://schemas.openxmlformats.org/officeDocument/2006/relationships/slideLayout" Target="../slideLayouts/slideLayout1.xml"/><Relationship Id="rId3"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image" Target="../media/Slide-164-image-1.jpeg"/><Relationship Id="rId2" Type="http://schemas.openxmlformats.org/officeDocument/2006/relationships/slideLayout" Target="../slideLayouts/slideLayout1.xml"/><Relationship Id="rId3"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image" Target="../media/image-165-1.jpg"/><Relationship Id="rId2" Type="http://schemas.openxmlformats.org/officeDocument/2006/relationships/slideLayout" Target="../slideLayouts/slideLayout1.xml"/><Relationship Id="rId3"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image" Target="../media/image-166-1.jpg"/><Relationship Id="rId2" Type="http://schemas.openxmlformats.org/officeDocument/2006/relationships/slideLayout" Target="../slideLayouts/slideLayout1.xml"/><Relationship Id="rId3"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image" Target="../media/image-167-1.jpg"/><Relationship Id="rId2" Type="http://schemas.openxmlformats.org/officeDocument/2006/relationships/image" Target="../media/image-167-2.jpg"/><Relationship Id="rId3" Type="http://schemas.openxmlformats.org/officeDocument/2006/relationships/image" Target="../media/image-167-3.jpg"/><Relationship Id="rId4" Type="http://schemas.openxmlformats.org/officeDocument/2006/relationships/image" Target="../media/image-167-4.jpg"/><Relationship Id="rId5" Type="http://schemas.openxmlformats.org/officeDocument/2006/relationships/image" Target="../media/image-167-5.jpg"/><Relationship Id="rId6" Type="http://schemas.openxmlformats.org/officeDocument/2006/relationships/image" Target="../media/image-167-6.jpg"/><Relationship Id="rId7" Type="http://schemas.openxmlformats.org/officeDocument/2006/relationships/image" Target="../media/image-167-7.jpg"/><Relationship Id="rId8" Type="http://schemas.openxmlformats.org/officeDocument/2006/relationships/slideLayout" Target="../slideLayouts/slideLayout1.xml"/><Relationship Id="rId9"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image" Target="../media/Slide-168-image-1.jpeg"/><Relationship Id="rId2" Type="http://schemas.openxmlformats.org/officeDocument/2006/relationships/slideLayout" Target="../slideLayouts/slideLayout1.xml"/><Relationship Id="rId3"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image" Target="../media/image-169-1.jpg"/><Relationship Id="rId2" Type="http://schemas.openxmlformats.org/officeDocument/2006/relationships/slideLayout" Target="../slideLayouts/slideLayout1.xml"/><Relationship Id="rId3"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image" Target="../media/Slide-170-image-1.jpeg"/><Relationship Id="rId2" Type="http://schemas.openxmlformats.org/officeDocument/2006/relationships/slideLayout" Target="../slideLayouts/slideLayout1.xml"/><Relationship Id="rId3"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image" Target="../media/Slide-171-image-1.jpeg"/><Relationship Id="rId2" Type="http://schemas.openxmlformats.org/officeDocument/2006/relationships/slideLayout" Target="../slideLayouts/slideLayout1.xml"/><Relationship Id="rId3"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image" Target="../media/Slide-172-image-1.jpeg"/><Relationship Id="rId2" Type="http://schemas.openxmlformats.org/officeDocument/2006/relationships/slideLayout" Target="../slideLayouts/slideLayout1.xml"/><Relationship Id="rId3"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image" Target="../media/image-173-1.jpg"/><Relationship Id="rId2" Type="http://schemas.openxmlformats.org/officeDocument/2006/relationships/slideLayout" Target="../slideLayouts/slideLayout1.xml"/><Relationship Id="rId3"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image" Target="../media/image-174-1.jpg"/><Relationship Id="rId2" Type="http://schemas.openxmlformats.org/officeDocument/2006/relationships/slideLayout" Target="../slideLayouts/slideLayout1.xml"/><Relationship Id="rId3"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image" Target="../media/Slide-175-image-1.jpeg"/><Relationship Id="rId2" Type="http://schemas.openxmlformats.org/officeDocument/2006/relationships/slideLayout" Target="../slideLayouts/slideLayout1.xml"/><Relationship Id="rId3"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image" Target="../media/image-176-1.jpg"/><Relationship Id="rId2" Type="http://schemas.openxmlformats.org/officeDocument/2006/relationships/slideLayout" Target="../slideLayouts/slideLayout1.xml"/><Relationship Id="rId3"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image" Target="../media/Slide-177-image-1.jpeg"/><Relationship Id="rId2" Type="http://schemas.openxmlformats.org/officeDocument/2006/relationships/slideLayout" Target="../slideLayouts/slideLayout1.xml"/><Relationship Id="rId3"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image" Target="../media/Slide-178-image-1.jpeg"/><Relationship Id="rId2" Type="http://schemas.openxmlformats.org/officeDocument/2006/relationships/slideLayout" Target="../slideLayouts/slideLayout1.xml"/><Relationship Id="rId3"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image" Target="../media/Slide-179-image-1.jpeg"/><Relationship Id="rId2" Type="http://schemas.openxmlformats.org/officeDocument/2006/relationships/slideLayout" Target="../slideLayouts/slideLayout1.xml"/><Relationship Id="rId3"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image" Target="../media/Slide-180-image-1.jpeg"/><Relationship Id="rId2" Type="http://schemas.openxmlformats.org/officeDocument/2006/relationships/slideLayout" Target="../slideLayouts/slideLayout1.xml"/><Relationship Id="rId3"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image" Target="../media/Slide-181-image-1.jpeg"/><Relationship Id="rId2" Type="http://schemas.openxmlformats.org/officeDocument/2006/relationships/slideLayout" Target="../slideLayouts/slideLayout1.xml"/><Relationship Id="rId3"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image" Target="../media/Slide-182-image-1.jpeg"/><Relationship Id="rId2" Type="http://schemas.openxmlformats.org/officeDocument/2006/relationships/slideLayout" Target="../slideLayouts/slideLayout1.xml"/><Relationship Id="rId3"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image" Target="../media/Slide-183-image-1.jpeg"/><Relationship Id="rId2" Type="http://schemas.openxmlformats.org/officeDocument/2006/relationships/slideLayout" Target="../slideLayouts/slideLayout1.xml"/><Relationship Id="rId3" Type="http://schemas.openxmlformats.org/officeDocument/2006/relationships/notesSlide" Target="../notesSlides/notesSlide18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615788" y="731520"/>
            <a:ext cx="960120" cy="960120"/>
          </a:xfrm>
          <a:prstGeom prst="roundRect">
            <a:avLst>
              <a:gd name="adj" fmla="val 26667"/>
            </a:avLst>
          </a:prstGeom>
          <a:solidFill>
            <a:srgbClr val="D9AE4B"/>
          </a:solidFill>
          <a:ln/>
          <a:effectLst>
            <a:outerShdw sx="100000" sy="100000" kx="0" ky="0" algn="bl" rotWithShape="0" blurRad="254000" dist="50800" dir="16200000">
              <a:srgbClr val="D9AE4B">
                <a:alpha val="45000"/>
              </a:srgbClr>
            </a:outerShdw>
          </a:effectLst>
        </p:spPr>
      </p:sp>
      <p:sp>
        <p:nvSpPr>
          <p:cNvPr id="3" name="Text 1"/>
          <p:cNvSpPr/>
          <p:nvPr/>
        </p:nvSpPr>
        <p:spPr>
          <a:xfrm>
            <a:off x="5615788" y="731520"/>
            <a:ext cx="960120" cy="960120"/>
          </a:xfrm>
          <a:prstGeom prst="rect">
            <a:avLst/>
          </a:prstGeom>
          <a:noFill/>
          <a:ln/>
        </p:spPr>
        <p:txBody>
          <a:bodyPr wrap="square" lIns="0" tIns="0" rIns="0" bIns="0" rtlCol="0" anchor="ctr">
            <a:normAutofit/>
          </a:bodyPr>
          <a:lstStyle/>
          <a:p>
            <a:pPr rtl="1" algn="ctr" indent="0" marL="0">
              <a:buNone/>
            </a:pPr>
            <a:r>
              <a:rPr lang="ar-SA" altLang="en-US" sz="4400" dirty="0">
                <a:solidFill>
                  <a:srgbClr val="131B34"/>
                </a:solidFill>
                <a:latin typeface="Cairo" pitchFamily="34" charset="0"/>
                <a:ea typeface="Cairo" pitchFamily="34" charset="-122"/>
                <a:cs typeface="Cairo" pitchFamily="34" charset="-120"/>
              </a:rPr>
              <a:t>🌳</a:t>
            </a:r>
            <a:endParaRPr lang="ar-SA" sz="4400" dirty="0"/>
          </a:p>
        </p:txBody>
      </p:sp>
      <p:sp>
        <p:nvSpPr>
          <p:cNvPr id="4" name="Text 2"/>
          <p:cNvSpPr/>
          <p:nvPr/>
        </p:nvSpPr>
        <p:spPr>
          <a:xfrm>
            <a:off x="0" y="1920240"/>
            <a:ext cx="12191695" cy="457200"/>
          </a:xfrm>
          <a:prstGeom prst="rect">
            <a:avLst/>
          </a:prstGeom>
          <a:noFill/>
          <a:ln/>
        </p:spPr>
        <p:txBody>
          <a:bodyPr wrap="square" lIns="0" tIns="0" rIns="0" bIns="0" rtlCol="0" anchor="ctr">
            <a:normAutofit/>
          </a:bodyPr>
          <a:lstStyle/>
          <a:p>
            <a:pPr rtl="1" algn="ctr" indent="0" marL="0">
              <a:buNone/>
            </a:pPr>
            <a:r>
              <a:rPr lang="ar-SA" altLang="en-US" sz="2000" b="1" dirty="0">
                <a:solidFill>
                  <a:srgbClr val="F0CC7A"/>
                </a:solidFill>
                <a:latin typeface="Cairo" pitchFamily="34" charset="0"/>
                <a:ea typeface="Cairo" pitchFamily="34" charset="-122"/>
                <a:cs typeface="Cairo" pitchFamily="34" charset="-120"/>
              </a:rPr>
              <a:t>الأردوينو للمعلمين · الدورة الخامسة</a:t>
            </a:r>
            <a:endParaRPr lang="ar-SA" sz="2000" dirty="0"/>
          </a:p>
        </p:txBody>
      </p:sp>
      <p:sp>
        <p:nvSpPr>
          <p:cNvPr id="5" name="Text 3"/>
          <p:cNvSpPr/>
          <p:nvPr/>
        </p:nvSpPr>
        <p:spPr>
          <a:xfrm>
            <a:off x="0" y="2331720"/>
            <a:ext cx="12191695" cy="1463040"/>
          </a:xfrm>
          <a:prstGeom prst="rect">
            <a:avLst/>
          </a:prstGeom>
          <a:noFill/>
          <a:ln/>
        </p:spPr>
        <p:txBody>
          <a:bodyPr wrap="square" lIns="0" tIns="0" rIns="0" bIns="0" rtlCol="0" anchor="ctr">
            <a:normAutofit/>
          </a:bodyPr>
          <a:lstStyle/>
          <a:p>
            <a:pPr rtl="1" algn="ctr" indent="0" marL="0">
              <a:buNone/>
            </a:pPr>
            <a:r>
              <a:rPr lang="ar-SA" altLang="en-US" sz="9600" dirty="0">
                <a:solidFill>
                  <a:srgbClr val="FFF3D6"/>
                </a:solidFill>
                <a:latin typeface="Cairo Black" pitchFamily="34" charset="0"/>
                <a:ea typeface="Cairo Black" pitchFamily="34" charset="-122"/>
                <a:cs typeface="Cairo Black" pitchFamily="34" charset="-120"/>
              </a:rPr>
              <a:t>لمسة تراث</a:t>
            </a:r>
            <a:endParaRPr lang="ar-SA" sz="9600" dirty="0"/>
          </a:p>
        </p:txBody>
      </p:sp>
      <p:sp>
        <p:nvSpPr>
          <p:cNvPr id="6" name="Text 4"/>
          <p:cNvSpPr/>
          <p:nvPr/>
        </p:nvSpPr>
        <p:spPr>
          <a:xfrm>
            <a:off x="0" y="3794760"/>
            <a:ext cx="12191695" cy="640080"/>
          </a:xfrm>
          <a:prstGeom prst="rect">
            <a:avLst/>
          </a:prstGeom>
          <a:noFill/>
          <a:ln/>
        </p:spPr>
        <p:txBody>
          <a:bodyPr wrap="square" lIns="0" tIns="0" rIns="0" bIns="0" rtlCol="0" anchor="ctr">
            <a:normAutofit/>
          </a:bodyPr>
          <a:lstStyle/>
          <a:p>
            <a:pPr rtl="1" algn="ctr" indent="0" marL="0">
              <a:buNone/>
            </a:pPr>
            <a:r>
              <a:rPr lang="ar-SA" altLang="en-US" sz="2800" b="1" dirty="0">
                <a:solidFill>
                  <a:srgbClr val="FFFFFF"/>
                </a:solidFill>
                <a:latin typeface="Cairo" pitchFamily="34" charset="0"/>
                <a:ea typeface="Cairo" pitchFamily="34" charset="-122"/>
                <a:cs typeface="Cairo" pitchFamily="34" charset="-120"/>
              </a:rPr>
              <a:t>قصر المصمك التفاعلي الشامل: العين تقود… والروبوت يحرس</a:t>
            </a:r>
            <a:endParaRPr lang="ar-SA" sz="2800" dirty="0"/>
          </a:p>
        </p:txBody>
      </p:sp>
      <p:sp>
        <p:nvSpPr>
          <p:cNvPr id="7" name="Shape 5"/>
          <p:cNvSpPr/>
          <p:nvPr/>
        </p:nvSpPr>
        <p:spPr>
          <a:xfrm>
            <a:off x="5364328" y="4617720"/>
            <a:ext cx="1463040" cy="36576"/>
          </a:xfrm>
          <a:prstGeom prst="rect">
            <a:avLst/>
          </a:prstGeom>
          <a:solidFill>
            <a:srgbClr val="D9AE4B"/>
          </a:solidFill>
          <a:ln/>
        </p:spPr>
      </p:sp>
      <p:sp>
        <p:nvSpPr>
          <p:cNvPr id="8" name="Text 6"/>
          <p:cNvSpPr/>
          <p:nvPr/>
        </p:nvSpPr>
        <p:spPr>
          <a:xfrm>
            <a:off x="0" y="5029200"/>
            <a:ext cx="12191695" cy="457200"/>
          </a:xfrm>
          <a:prstGeom prst="rect">
            <a:avLst/>
          </a:prstGeom>
          <a:noFill/>
          <a:ln/>
        </p:spPr>
        <p:txBody>
          <a:bodyPr wrap="square" lIns="0" tIns="0" rIns="0" bIns="0" rtlCol="0" anchor="ctr">
            <a:normAutofit/>
          </a:bodyPr>
          <a:lstStyle/>
          <a:p>
            <a:pPr algn="ctr" indent="0" marL="0">
              <a:buNone/>
            </a:pPr>
            <a:r>
              <a:rPr lang="ar-SA" altLang="en-US" sz="2000" b="1" dirty="0">
                <a:solidFill>
                  <a:srgbClr val="C9CFE6"/>
                </a:solidFill>
                <a:latin typeface="Cairo" pitchFamily="34" charset="0"/>
                <a:ea typeface="Cairo" pitchFamily="34" charset="-122"/>
                <a:cs typeface="Cairo" pitchFamily="34" charset="-120"/>
              </a:rPr>
              <a:t>إعداد وتقديم: </a:t>
            </a:r>
            <a:pPr algn="ctr" indent="0" marL="0">
              <a:buNone/>
            </a:pPr>
            <a:r>
              <a:rPr lang="ar-SA" altLang="en-US" sz="2000" b="1" dirty="0">
                <a:solidFill>
                  <a:srgbClr val="D9AE4B"/>
                </a:solidFill>
                <a:latin typeface="Cairo" pitchFamily="34" charset="0"/>
                <a:ea typeface="Cairo" pitchFamily="34" charset="-122"/>
                <a:cs typeface="Cairo" pitchFamily="34" charset="-120"/>
              </a:rPr>
              <a:t>أ. محمد زيتون</a:t>
            </a:r>
            <a:endParaRPr lang="ar-SA"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881567" y="457200"/>
            <a:ext cx="2487168" cy="457200"/>
          </a:xfrm>
          <a:prstGeom prst="roundRect">
            <a:avLst>
              <a:gd name="adj" fmla="val 50000"/>
            </a:avLst>
          </a:prstGeom>
          <a:solidFill>
            <a:srgbClr val="F6EBCF"/>
          </a:solidFill>
          <a:ln/>
        </p:spPr>
      </p:sp>
      <p:sp>
        <p:nvSpPr>
          <p:cNvPr id="3" name="Text 1"/>
          <p:cNvSpPr/>
          <p:nvPr/>
        </p:nvSpPr>
        <p:spPr>
          <a:xfrm>
            <a:off x="8881567" y="45720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مقدّم الدورة</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 محمد زيتون</a:t>
            </a:r>
            <a:endParaRPr lang="ar-SA" sz="3800" dirty="0"/>
          </a:p>
        </p:txBody>
      </p:sp>
      <p:sp>
        <p:nvSpPr>
          <p:cNvPr id="5" name="Text 3"/>
          <p:cNvSpPr/>
          <p:nvPr/>
        </p:nvSpPr>
        <p:spPr>
          <a:xfrm>
            <a:off x="822960" y="1783080"/>
            <a:ext cx="10545775" cy="457200"/>
          </a:xfrm>
          <a:prstGeom prst="rect">
            <a:avLst/>
          </a:prstGeom>
          <a:noFill/>
          <a:ln/>
        </p:spPr>
        <p:txBody>
          <a:bodyPr wrap="square" lIns="0" tIns="0" rIns="0" bIns="0" rtlCol="0" anchor="ctr">
            <a:normAutofit/>
          </a:bodyPr>
          <a:lstStyle/>
          <a:p>
            <a:pPr rtl="1" algn="r" indent="0" marL="0">
              <a:buNone/>
            </a:pPr>
            <a:r>
              <a:rPr lang="ar-SA" altLang="en-US" sz="2000" b="1" dirty="0">
                <a:solidFill>
                  <a:srgbClr val="22346F"/>
                </a:solidFill>
                <a:latin typeface="Cairo" pitchFamily="34" charset="0"/>
                <a:ea typeface="Cairo" pitchFamily="34" charset="-122"/>
                <a:cs typeface="Cairo" pitchFamily="34" charset="-120"/>
              </a:rPr>
              <a:t>مشرف تربوي — الابتكار والذكاء الاصطناعي وSTEAM · مدارس الأرقم</a:t>
            </a:r>
            <a:endParaRPr lang="ar-SA" sz="2000" dirty="0"/>
          </a:p>
        </p:txBody>
      </p:sp>
      <p:sp>
        <p:nvSpPr>
          <p:cNvPr id="6" name="anim-g1-1"/>
          <p:cNvSpPr/>
          <p:nvPr/>
        </p:nvSpPr>
        <p:spPr>
          <a:xfrm>
            <a:off x="8066837" y="2560320"/>
            <a:ext cx="3301898" cy="2286000"/>
          </a:xfrm>
          <a:prstGeom prst="roundRect">
            <a:avLst>
              <a:gd name="adj" fmla="val 7200"/>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7" name="anim-g1-2"/>
          <p:cNvSpPr/>
          <p:nvPr/>
        </p:nvSpPr>
        <p:spPr>
          <a:xfrm>
            <a:off x="8066837" y="2743200"/>
            <a:ext cx="3301898" cy="1097280"/>
          </a:xfrm>
          <a:prstGeom prst="rect">
            <a:avLst/>
          </a:prstGeom>
          <a:noFill/>
          <a:ln/>
        </p:spPr>
        <p:txBody>
          <a:bodyPr wrap="square" lIns="0" tIns="0" rIns="0" bIns="0" rtlCol="0" anchor="ctr">
            <a:normAutofit/>
          </a:bodyPr>
          <a:lstStyle/>
          <a:p>
            <a:pPr rtl="1" algn="ctr" indent="0" marL="0">
              <a:buNone/>
            </a:pPr>
            <a:r>
              <a:rPr lang="ar-SA" altLang="en-US" sz="5600" dirty="0">
                <a:solidFill>
                  <a:srgbClr val="B08A2E"/>
                </a:solidFill>
                <a:latin typeface="Cairo Black" pitchFamily="34" charset="0"/>
                <a:ea typeface="Cairo Black" pitchFamily="34" charset="-122"/>
                <a:cs typeface="Cairo Black" pitchFamily="34" charset="-120"/>
              </a:rPr>
              <a:t>٣٣</a:t>
            </a:r>
            <a:endParaRPr lang="ar-SA" sz="5600" dirty="0"/>
          </a:p>
        </p:txBody>
      </p:sp>
      <p:sp>
        <p:nvSpPr>
          <p:cNvPr id="8" name="anim-g1-3"/>
          <p:cNvSpPr/>
          <p:nvPr/>
        </p:nvSpPr>
        <p:spPr>
          <a:xfrm>
            <a:off x="8249717" y="3886200"/>
            <a:ext cx="2936138" cy="731520"/>
          </a:xfrm>
          <a:prstGeom prst="rect">
            <a:avLst/>
          </a:prstGeom>
          <a:noFill/>
          <a:ln/>
        </p:spPr>
        <p:txBody>
          <a:bodyPr wrap="square" lIns="0" tIns="0" rIns="0" bIns="0" rtlCol="0" anchor="ctr">
            <a:normAutofit/>
          </a:bodyPr>
          <a:lstStyle/>
          <a:p>
            <a:pPr rtl="1" algn="ctr" indent="0" marL="0">
              <a:buNone/>
            </a:pPr>
            <a:r>
              <a:rPr lang="ar-SA" altLang="en-US" sz="2000" b="1" dirty="0">
                <a:solidFill>
                  <a:srgbClr val="101B45"/>
                </a:solidFill>
                <a:latin typeface="Cairo" pitchFamily="34" charset="0"/>
                <a:ea typeface="Cairo" pitchFamily="34" charset="-122"/>
                <a:cs typeface="Cairo" pitchFamily="34" charset="-120"/>
              </a:rPr>
              <a:t>عامًا في الميدان التعليمي</a:t>
            </a:r>
            <a:endParaRPr lang="ar-SA" sz="2000" dirty="0"/>
          </a:p>
        </p:txBody>
      </p:sp>
      <p:sp>
        <p:nvSpPr>
          <p:cNvPr id="9" name="anim-g2-4"/>
          <p:cNvSpPr/>
          <p:nvPr/>
        </p:nvSpPr>
        <p:spPr>
          <a:xfrm>
            <a:off x="4444898" y="2560320"/>
            <a:ext cx="3301898" cy="2286000"/>
          </a:xfrm>
          <a:prstGeom prst="roundRect">
            <a:avLst>
              <a:gd name="adj" fmla="val 7200"/>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0" name="anim-g2-5"/>
          <p:cNvSpPr/>
          <p:nvPr/>
        </p:nvSpPr>
        <p:spPr>
          <a:xfrm>
            <a:off x="4444898" y="2743200"/>
            <a:ext cx="3301898" cy="1097280"/>
          </a:xfrm>
          <a:prstGeom prst="rect">
            <a:avLst/>
          </a:prstGeom>
          <a:noFill/>
          <a:ln/>
        </p:spPr>
        <p:txBody>
          <a:bodyPr wrap="square" lIns="0" tIns="0" rIns="0" bIns="0" rtlCol="0" anchor="ctr">
            <a:normAutofit/>
          </a:bodyPr>
          <a:lstStyle/>
          <a:p>
            <a:pPr rtl="1" algn="ctr" indent="0" marL="0">
              <a:buNone/>
            </a:pPr>
            <a:r>
              <a:rPr lang="ar-SA" altLang="en-US" sz="5600" dirty="0">
                <a:solidFill>
                  <a:srgbClr val="B08A2E"/>
                </a:solidFill>
                <a:latin typeface="Cairo Black" pitchFamily="34" charset="0"/>
                <a:ea typeface="Cairo Black" pitchFamily="34" charset="-122"/>
                <a:cs typeface="Cairo Black" pitchFamily="34" charset="-120"/>
              </a:rPr>
              <a:t>٣</a:t>
            </a:r>
            <a:endParaRPr lang="ar-SA" sz="5600" dirty="0"/>
          </a:p>
        </p:txBody>
      </p:sp>
      <p:sp>
        <p:nvSpPr>
          <p:cNvPr id="11" name="anim-g2-6"/>
          <p:cNvSpPr/>
          <p:nvPr/>
        </p:nvSpPr>
        <p:spPr>
          <a:xfrm>
            <a:off x="4627778" y="3886200"/>
            <a:ext cx="2936138" cy="731520"/>
          </a:xfrm>
          <a:prstGeom prst="rect">
            <a:avLst/>
          </a:prstGeom>
          <a:noFill/>
          <a:ln/>
        </p:spPr>
        <p:txBody>
          <a:bodyPr wrap="square" lIns="0" tIns="0" rIns="0" bIns="0" rtlCol="0" anchor="ctr">
            <a:normAutofit/>
          </a:bodyPr>
          <a:lstStyle/>
          <a:p>
            <a:pPr rtl="1" algn="ctr" indent="0" marL="0">
              <a:buNone/>
            </a:pPr>
            <a:r>
              <a:rPr lang="ar-SA" altLang="en-US" sz="2000" b="1" dirty="0">
                <a:solidFill>
                  <a:srgbClr val="101B45"/>
                </a:solidFill>
                <a:latin typeface="Cairo" pitchFamily="34" charset="0"/>
                <a:ea typeface="Cairo" pitchFamily="34" charset="-122"/>
                <a:cs typeface="Cairo" pitchFamily="34" charset="-120"/>
              </a:rPr>
              <a:t>كتب في تعليم الأردوينو</a:t>
            </a:r>
            <a:endParaRPr lang="ar-SA" sz="2000" dirty="0"/>
          </a:p>
        </p:txBody>
      </p:sp>
      <p:sp>
        <p:nvSpPr>
          <p:cNvPr id="12" name="anim-g3-7"/>
          <p:cNvSpPr/>
          <p:nvPr/>
        </p:nvSpPr>
        <p:spPr>
          <a:xfrm>
            <a:off x="822960" y="2560320"/>
            <a:ext cx="3301898" cy="2286000"/>
          </a:xfrm>
          <a:prstGeom prst="roundRect">
            <a:avLst>
              <a:gd name="adj" fmla="val 7200"/>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3" name="anim-g3-8"/>
          <p:cNvSpPr/>
          <p:nvPr/>
        </p:nvSpPr>
        <p:spPr>
          <a:xfrm>
            <a:off x="822960" y="2743200"/>
            <a:ext cx="3301898" cy="1097280"/>
          </a:xfrm>
          <a:prstGeom prst="rect">
            <a:avLst/>
          </a:prstGeom>
          <a:noFill/>
          <a:ln/>
        </p:spPr>
        <p:txBody>
          <a:bodyPr wrap="square" lIns="0" tIns="0" rIns="0" bIns="0" rtlCol="0" anchor="ctr">
            <a:normAutofit/>
          </a:bodyPr>
          <a:lstStyle/>
          <a:p>
            <a:pPr rtl="1" algn="ctr" indent="0" marL="0">
              <a:buNone/>
            </a:pPr>
            <a:r>
              <a:rPr lang="ar-SA" altLang="en-US" sz="3600" dirty="0">
                <a:solidFill>
                  <a:srgbClr val="B08A2E"/>
                </a:solidFill>
                <a:latin typeface="Cairo Black" pitchFamily="34" charset="0"/>
                <a:ea typeface="Cairo Black" pitchFamily="34" charset="-122"/>
                <a:cs typeface="Cairo Black" pitchFamily="34" charset="-120"/>
              </a:rPr>
              <a:t>WRO</a:t>
            </a:r>
            <a:endParaRPr lang="ar-SA" sz="3600" dirty="0"/>
          </a:p>
        </p:txBody>
      </p:sp>
      <p:sp>
        <p:nvSpPr>
          <p:cNvPr id="14" name="anim-g3-9"/>
          <p:cNvSpPr/>
          <p:nvPr/>
        </p:nvSpPr>
        <p:spPr>
          <a:xfrm>
            <a:off x="1005840" y="3886200"/>
            <a:ext cx="2936138" cy="731520"/>
          </a:xfrm>
          <a:prstGeom prst="rect">
            <a:avLst/>
          </a:prstGeom>
          <a:noFill/>
          <a:ln/>
        </p:spPr>
        <p:txBody>
          <a:bodyPr wrap="square" lIns="0" tIns="0" rIns="0" bIns="0" rtlCol="0" anchor="ctr">
            <a:normAutofit/>
          </a:bodyPr>
          <a:lstStyle/>
          <a:p>
            <a:pPr rtl="1" algn="ctr" indent="0" marL="0">
              <a:buNone/>
            </a:pPr>
            <a:r>
              <a:rPr lang="ar-SA" altLang="en-US" sz="2000" b="1" dirty="0">
                <a:solidFill>
                  <a:srgbClr val="101B45"/>
                </a:solidFill>
                <a:latin typeface="Cairo" pitchFamily="34" charset="0"/>
                <a:ea typeface="Cairo" pitchFamily="34" charset="-122"/>
                <a:cs typeface="Cairo" pitchFamily="34" charset="-120"/>
              </a:rPr>
              <a:t>مشروع «لمسة تراث» · Future Innovators</a:t>
            </a:r>
            <a:endParaRPr lang="ar-SA" sz="2000" dirty="0"/>
          </a:p>
        </p:txBody>
      </p:sp>
      <p:sp>
        <p:nvSpPr>
          <p:cNvPr id="15" name="anim-g4-10"/>
          <p:cNvSpPr/>
          <p:nvPr/>
        </p:nvSpPr>
        <p:spPr>
          <a:xfrm>
            <a:off x="822960" y="5257800"/>
            <a:ext cx="10545775"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5E6782"/>
                </a:solidFill>
                <a:latin typeface="Cairo" pitchFamily="34" charset="0"/>
                <a:ea typeface="Cairo" pitchFamily="34" charset="-122"/>
                <a:cs typeface="Cairo" pitchFamily="34" charset="-120"/>
              </a:rPr>
              <a:t>فريق al arqam innovators · مدارس الأرقم · «ننظر إلى الماضي… بعين المستقبل»</a:t>
            </a:r>
            <a:endParaRPr lang="ar-SA" sz="1800" dirty="0"/>
          </a:p>
        </p:txBody>
      </p:sp>
      <p:sp>
        <p:nvSpPr>
          <p:cNvPr id="16" name="Text 14"/>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17" name="Text 15"/>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الافتتاح  ·  ٢</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400"/>
                                        <p:tgtEl>
                                          <p:spTgt spid="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400"/>
                                        <p:tgtEl>
                                          <p:spTgt spid="8"/>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400"/>
                                        <p:tgtEl>
                                          <p:spTgt spid="9"/>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400"/>
                                        <p:tgtEl>
                                          <p:spTgt spid="1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1"/>
                                        </p:tgtEl>
                                        <p:attrNameLst>
                                          <p:attrName>style.visibility</p:attrName>
                                        </p:attrNameLst>
                                      </p:cBhvr>
                                      <p:to>
                                        <p:strVal val="visible"/>
                                      </p:to>
                                    </p:set>
                                    <p:animEffect transition="in" filter="fade">
                                      <p:cBhvr>
                                        <p:cTn id="24" dur="400"/>
                                        <p:tgtEl>
                                          <p:spTgt spid="11"/>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2"/>
                                        </p:tgtEl>
                                        <p:attrNameLst>
                                          <p:attrName>style.visibility</p:attrName>
                                        </p:attrNameLst>
                                      </p:cBhvr>
                                      <p:to>
                                        <p:strVal val="visible"/>
                                      </p:to>
                                    </p:set>
                                    <p:animEffect transition="in" filter="fade">
                                      <p:cBhvr>
                                        <p:cTn id="29" dur="400"/>
                                        <p:tgtEl>
                                          <p:spTgt spid="12"/>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400"/>
                                        <p:tgtEl>
                                          <p:spTgt spid="13"/>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4"/>
                                        </p:tgtEl>
                                        <p:attrNameLst>
                                          <p:attrName>style.visibility</p:attrName>
                                        </p:attrNameLst>
                                      </p:cBhvr>
                                      <p:to>
                                        <p:strVal val="visible"/>
                                      </p:to>
                                    </p:set>
                                    <p:animEffect transition="in" filter="fade">
                                      <p:cBhvr>
                                        <p:cTn id="35" dur="400"/>
                                        <p:tgtEl>
                                          <p:spTgt spid="14"/>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4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C:\Users\user\projects\younes-training\turath\.pptx-cache\s3.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613087" y="457200"/>
            <a:ext cx="1755648" cy="457200"/>
          </a:xfrm>
          <a:prstGeom prst="roundRect">
            <a:avLst>
              <a:gd name="adj" fmla="val 50000"/>
            </a:avLst>
          </a:prstGeom>
          <a:solidFill>
            <a:srgbClr val="F6EBCF"/>
          </a:solidFill>
          <a:ln/>
        </p:spPr>
      </p:sp>
      <p:sp>
        <p:nvSpPr>
          <p:cNvPr id="3" name="Text 1"/>
          <p:cNvSpPr/>
          <p:nvPr/>
        </p:nvSpPr>
        <p:spPr>
          <a:xfrm>
            <a:off x="9613087" y="457200"/>
            <a:ext cx="175564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المشكلة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التراث لنا جميعًا… لكن الوصول إليه ليس سهلًا للجميع</a:t>
            </a:r>
            <a:endParaRPr lang="ar-SA" sz="3200" dirty="0"/>
          </a:p>
        </p:txBody>
      </p:sp>
      <p:sp>
        <p:nvSpPr>
          <p:cNvPr id="5" name="anim-g1-11"/>
          <p:cNvSpPr/>
          <p:nvPr/>
        </p:nvSpPr>
        <p:spPr>
          <a:xfrm>
            <a:off x="8036357"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12"/>
          <p:cNvSpPr/>
          <p:nvPr/>
        </p:nvSpPr>
        <p:spPr>
          <a:xfrm>
            <a:off x="10527487" y="2267712"/>
            <a:ext cx="566928" cy="566928"/>
          </a:xfrm>
          <a:prstGeom prst="roundRect">
            <a:avLst>
              <a:gd name="adj" fmla="val 32258"/>
            </a:avLst>
          </a:prstGeom>
          <a:solidFill>
            <a:srgbClr val="F7E6BC"/>
          </a:solidFill>
          <a:ln/>
        </p:spPr>
      </p:sp>
      <p:sp>
        <p:nvSpPr>
          <p:cNvPr id="7" name="anim-g1-13"/>
          <p:cNvSpPr/>
          <p:nvPr/>
        </p:nvSpPr>
        <p:spPr>
          <a:xfrm>
            <a:off x="10527487"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14"/>
          <p:cNvSpPr/>
          <p:nvPr/>
        </p:nvSpPr>
        <p:spPr>
          <a:xfrm>
            <a:off x="8310677"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الإعاقة الحركية</a:t>
            </a:r>
            <a:endParaRPr lang="ar-SA" sz="2200" dirty="0"/>
          </a:p>
        </p:txBody>
      </p:sp>
      <p:sp>
        <p:nvSpPr>
          <p:cNvPr id="9" name="anim-g1-15"/>
          <p:cNvSpPr/>
          <p:nvPr/>
        </p:nvSpPr>
        <p:spPr>
          <a:xfrm>
            <a:off x="8310677"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صعوبة التنقل حول المجسمات الثابتة، والحاجة الدائمة لمرافق</a:t>
            </a:r>
            <a:endParaRPr lang="ar-SA" sz="1900" dirty="0"/>
          </a:p>
        </p:txBody>
      </p:sp>
      <p:sp>
        <p:nvSpPr>
          <p:cNvPr id="10" name="anim-g2-16"/>
          <p:cNvSpPr/>
          <p:nvPr/>
        </p:nvSpPr>
        <p:spPr>
          <a:xfrm>
            <a:off x="4429658"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17"/>
          <p:cNvSpPr/>
          <p:nvPr/>
        </p:nvSpPr>
        <p:spPr>
          <a:xfrm>
            <a:off x="6920789" y="2267712"/>
            <a:ext cx="566928" cy="566928"/>
          </a:xfrm>
          <a:prstGeom prst="roundRect">
            <a:avLst>
              <a:gd name="adj" fmla="val 32258"/>
            </a:avLst>
          </a:prstGeom>
          <a:solidFill>
            <a:srgbClr val="F7E6BC"/>
          </a:solidFill>
          <a:ln/>
        </p:spPr>
      </p:sp>
      <p:sp>
        <p:nvSpPr>
          <p:cNvPr id="12" name="anim-g2-18"/>
          <p:cNvSpPr/>
          <p:nvPr/>
        </p:nvSpPr>
        <p:spPr>
          <a:xfrm>
            <a:off x="6920789"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19"/>
          <p:cNvSpPr/>
          <p:nvPr/>
        </p:nvSpPr>
        <p:spPr>
          <a:xfrm>
            <a:off x="4703978"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الإعاقة السمعية</a:t>
            </a:r>
            <a:endParaRPr lang="ar-SA" sz="2200" dirty="0"/>
          </a:p>
        </p:txBody>
      </p:sp>
      <p:sp>
        <p:nvSpPr>
          <p:cNvPr id="14" name="anim-g2-20"/>
          <p:cNvSpPr/>
          <p:nvPr/>
        </p:nvSpPr>
        <p:spPr>
          <a:xfrm>
            <a:off x="4703978"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شرح المرشد والتسجيلات الصوتية لا تصل</a:t>
            </a:r>
            <a:endParaRPr lang="ar-SA" sz="1900" dirty="0"/>
          </a:p>
        </p:txBody>
      </p:sp>
      <p:sp>
        <p:nvSpPr>
          <p:cNvPr id="15" name="anim-g3-21"/>
          <p:cNvSpPr/>
          <p:nvPr/>
        </p:nvSpPr>
        <p:spPr>
          <a:xfrm>
            <a:off x="822960"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22"/>
          <p:cNvSpPr/>
          <p:nvPr/>
        </p:nvSpPr>
        <p:spPr>
          <a:xfrm>
            <a:off x="3314090" y="2267712"/>
            <a:ext cx="566928" cy="566928"/>
          </a:xfrm>
          <a:prstGeom prst="roundRect">
            <a:avLst>
              <a:gd name="adj" fmla="val 32258"/>
            </a:avLst>
          </a:prstGeom>
          <a:solidFill>
            <a:srgbClr val="F7E6BC"/>
          </a:solidFill>
          <a:ln/>
        </p:spPr>
      </p:sp>
      <p:sp>
        <p:nvSpPr>
          <p:cNvPr id="17" name="anim-g3-23"/>
          <p:cNvSpPr/>
          <p:nvPr/>
        </p:nvSpPr>
        <p:spPr>
          <a:xfrm>
            <a:off x="3314090"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24"/>
          <p:cNvSpPr/>
          <p:nvPr/>
        </p:nvSpPr>
        <p:spPr>
          <a:xfrm>
            <a:off x="1097280"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الإعاقة البصرية</a:t>
            </a:r>
            <a:endParaRPr lang="ar-SA" sz="2200" dirty="0"/>
          </a:p>
        </p:txBody>
      </p:sp>
      <p:sp>
        <p:nvSpPr>
          <p:cNvPr id="19" name="anim-g3-25"/>
          <p:cNvSpPr/>
          <p:nvPr/>
        </p:nvSpPr>
        <p:spPr>
          <a:xfrm>
            <a:off x="1097280"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التفاصيل المعروضة واللوحات الإرشادية لا تُرى</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الافتتاح  ·  ٤</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632808" y="1188720"/>
            <a:ext cx="2926080"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632808" y="1188720"/>
            <a:ext cx="292608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الفكرة الجوهرية</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واجهة تفاعل واحدة بسيطة وطبيعية: حركة العين…</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تخدم ثلاث فئات إعاقة في آن واحد</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لمسة تراث</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الافتتاح  ·  ٥</a:t>
            </a:r>
            <a:endParaRPr lang="ar-SA"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564831" y="457200"/>
            <a:ext cx="3803904" cy="457200"/>
          </a:xfrm>
          <a:prstGeom prst="roundRect">
            <a:avLst>
              <a:gd name="adj" fmla="val 50000"/>
            </a:avLst>
          </a:prstGeom>
          <a:solidFill>
            <a:srgbClr val="F6EBCF"/>
          </a:solidFill>
          <a:ln/>
        </p:spPr>
      </p:sp>
      <p:sp>
        <p:nvSpPr>
          <p:cNvPr id="3" name="Text 1"/>
          <p:cNvSpPr/>
          <p:nvPr/>
        </p:nvSpPr>
        <p:spPr>
          <a:xfrm>
            <a:off x="7564831" y="457200"/>
            <a:ext cx="3803904"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المشروع في أربع وحدات</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 الذي سنبنيه في هذه الدورة؟</a:t>
            </a:r>
            <a:endParaRPr lang="ar-SA" sz="3800" dirty="0"/>
          </a:p>
        </p:txBody>
      </p:sp>
      <p:sp>
        <p:nvSpPr>
          <p:cNvPr id="5" name="anim-g1-26"/>
          <p:cNvSpPr/>
          <p:nvPr/>
        </p:nvSpPr>
        <p:spPr>
          <a:xfrm>
            <a:off x="6233008" y="2011680"/>
            <a:ext cx="513572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27"/>
          <p:cNvSpPr/>
          <p:nvPr/>
        </p:nvSpPr>
        <p:spPr>
          <a:xfrm>
            <a:off x="10527487" y="2267712"/>
            <a:ext cx="566928" cy="566928"/>
          </a:xfrm>
          <a:prstGeom prst="roundRect">
            <a:avLst>
              <a:gd name="adj" fmla="val 32258"/>
            </a:avLst>
          </a:prstGeom>
          <a:solidFill>
            <a:srgbClr val="F7E6BC"/>
          </a:solidFill>
          <a:ln/>
        </p:spPr>
      </p:sp>
      <p:sp>
        <p:nvSpPr>
          <p:cNvPr id="7" name="anim-g1-28"/>
          <p:cNvSpPr/>
          <p:nvPr/>
        </p:nvSpPr>
        <p:spPr>
          <a:xfrm>
            <a:off x="10527487"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29"/>
          <p:cNvSpPr/>
          <p:nvPr/>
        </p:nvSpPr>
        <p:spPr>
          <a:xfrm>
            <a:off x="6507328" y="2944368"/>
            <a:ext cx="458708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المجسّم الدوّار</a:t>
            </a:r>
            <a:endParaRPr lang="ar-SA" sz="2200" dirty="0"/>
          </a:p>
        </p:txBody>
      </p:sp>
      <p:sp>
        <p:nvSpPr>
          <p:cNvPr id="9" name="anim-g1-30"/>
          <p:cNvSpPr/>
          <p:nvPr/>
        </p:nvSpPr>
        <p:spPr>
          <a:xfrm>
            <a:off x="6507328" y="3493008"/>
            <a:ext cx="458708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محرك خطوي NEMA17 ودرايفر A4988 وشريط إضاءة WS2812B على ESP32</a:t>
            </a:r>
            <a:endParaRPr lang="ar-SA" sz="1900" dirty="0"/>
          </a:p>
        </p:txBody>
      </p:sp>
      <p:sp>
        <p:nvSpPr>
          <p:cNvPr id="10" name="anim-g2-31"/>
          <p:cNvSpPr/>
          <p:nvPr/>
        </p:nvSpPr>
        <p:spPr>
          <a:xfrm>
            <a:off x="822960" y="2011680"/>
            <a:ext cx="513572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32"/>
          <p:cNvSpPr/>
          <p:nvPr/>
        </p:nvSpPr>
        <p:spPr>
          <a:xfrm>
            <a:off x="5117440" y="2267712"/>
            <a:ext cx="566928" cy="566928"/>
          </a:xfrm>
          <a:prstGeom prst="roundRect">
            <a:avLst>
              <a:gd name="adj" fmla="val 32258"/>
            </a:avLst>
          </a:prstGeom>
          <a:solidFill>
            <a:srgbClr val="F7E6BC"/>
          </a:solidFill>
          <a:ln/>
        </p:spPr>
      </p:sp>
      <p:sp>
        <p:nvSpPr>
          <p:cNvPr id="12" name="anim-g2-33"/>
          <p:cNvSpPr/>
          <p:nvPr/>
        </p:nvSpPr>
        <p:spPr>
          <a:xfrm>
            <a:off x="5117440"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34"/>
          <p:cNvSpPr/>
          <p:nvPr/>
        </p:nvSpPr>
        <p:spPr>
          <a:xfrm>
            <a:off x="1097280" y="2944368"/>
            <a:ext cx="458708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العقل المركزي</a:t>
            </a:r>
            <a:endParaRPr lang="ar-SA" sz="2200" dirty="0"/>
          </a:p>
        </p:txBody>
      </p:sp>
      <p:sp>
        <p:nvSpPr>
          <p:cNvPr id="14" name="anim-g2-35"/>
          <p:cNvSpPr/>
          <p:nvPr/>
        </p:nvSpPr>
        <p:spPr>
          <a:xfrm>
            <a:off x="1097280" y="3493008"/>
            <a:ext cx="458708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راسبيري باي يشغّل لغة الإشارة والصوت، ويوجّه الأوامر عبر UDP</a:t>
            </a:r>
            <a:endParaRPr lang="ar-SA" sz="1900" dirty="0"/>
          </a:p>
        </p:txBody>
      </p:sp>
      <p:sp>
        <p:nvSpPr>
          <p:cNvPr id="15" name="anim-g3-36"/>
          <p:cNvSpPr/>
          <p:nvPr/>
        </p:nvSpPr>
        <p:spPr>
          <a:xfrm>
            <a:off x="6233008" y="4137660"/>
            <a:ext cx="513572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37"/>
          <p:cNvSpPr/>
          <p:nvPr/>
        </p:nvSpPr>
        <p:spPr>
          <a:xfrm>
            <a:off x="10527487" y="4393692"/>
            <a:ext cx="566928" cy="566928"/>
          </a:xfrm>
          <a:prstGeom prst="roundRect">
            <a:avLst>
              <a:gd name="adj" fmla="val 32258"/>
            </a:avLst>
          </a:prstGeom>
          <a:solidFill>
            <a:srgbClr val="F7E6BC"/>
          </a:solidFill>
          <a:ln/>
        </p:spPr>
      </p:sp>
      <p:sp>
        <p:nvSpPr>
          <p:cNvPr id="17" name="anim-g3-38"/>
          <p:cNvSpPr/>
          <p:nvPr/>
        </p:nvSpPr>
        <p:spPr>
          <a:xfrm>
            <a:off x="10527487" y="439369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39"/>
          <p:cNvSpPr/>
          <p:nvPr/>
        </p:nvSpPr>
        <p:spPr>
          <a:xfrm>
            <a:off x="6507328" y="5070348"/>
            <a:ext cx="458708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تتبع العين</a:t>
            </a:r>
            <a:endParaRPr lang="ar-SA" sz="2200" dirty="0"/>
          </a:p>
        </p:txBody>
      </p:sp>
      <p:sp>
        <p:nvSpPr>
          <p:cNvPr id="19" name="anim-g3-40"/>
          <p:cNvSpPr/>
          <p:nvPr/>
        </p:nvSpPr>
        <p:spPr>
          <a:xfrm>
            <a:off x="6507328" y="5618988"/>
            <a:ext cx="458708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بايثون وMediaPipe: ٤٧٨ نقطة على الوجه، وبؤبؤ يقود المجسّم</a:t>
            </a:r>
            <a:endParaRPr lang="ar-SA" sz="1900" dirty="0"/>
          </a:p>
        </p:txBody>
      </p:sp>
      <p:sp>
        <p:nvSpPr>
          <p:cNvPr id="20" name="anim-g4-41"/>
          <p:cNvSpPr/>
          <p:nvPr/>
        </p:nvSpPr>
        <p:spPr>
          <a:xfrm>
            <a:off x="822960" y="4137660"/>
            <a:ext cx="513572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21" name="anim-g4-42"/>
          <p:cNvSpPr/>
          <p:nvPr/>
        </p:nvSpPr>
        <p:spPr>
          <a:xfrm>
            <a:off x="5117440" y="4393692"/>
            <a:ext cx="566928" cy="566928"/>
          </a:xfrm>
          <a:prstGeom prst="roundRect">
            <a:avLst>
              <a:gd name="adj" fmla="val 32258"/>
            </a:avLst>
          </a:prstGeom>
          <a:solidFill>
            <a:srgbClr val="F7E6BC"/>
          </a:solidFill>
          <a:ln/>
        </p:spPr>
      </p:sp>
      <p:sp>
        <p:nvSpPr>
          <p:cNvPr id="22" name="anim-g4-43"/>
          <p:cNvSpPr/>
          <p:nvPr/>
        </p:nvSpPr>
        <p:spPr>
          <a:xfrm>
            <a:off x="5117440" y="439369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23" name="anim-g4-44"/>
          <p:cNvSpPr/>
          <p:nvPr/>
        </p:nvSpPr>
        <p:spPr>
          <a:xfrm>
            <a:off x="1097280" y="5070348"/>
            <a:ext cx="458708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روبوتا السلامة</a:t>
            </a:r>
            <a:endParaRPr lang="ar-SA" sz="2200" dirty="0"/>
          </a:p>
        </p:txBody>
      </p:sp>
      <p:sp>
        <p:nvSpPr>
          <p:cNvPr id="24" name="anim-g4-45"/>
          <p:cNvSpPr/>
          <p:nvPr/>
        </p:nvSpPr>
        <p:spPr>
          <a:xfrm>
            <a:off x="1097280" y="5618988"/>
            <a:ext cx="458708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محطة غاز ولهب تكلّم روبوتين بـ ESP-NOW: الأول للأخطر، ويبلغ الثاني بالأقل خطورة</a:t>
            </a:r>
            <a:endParaRPr lang="ar-SA" sz="1900" dirty="0"/>
          </a:p>
        </p:txBody>
      </p:sp>
      <p:sp>
        <p:nvSpPr>
          <p:cNvPr id="25" name="Text 2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6" name="Text 2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الافتتاح  ·  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C:\Users\user\projects\younes-training\turath\.pptx-cache\s7.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833311" y="457200"/>
            <a:ext cx="4535424" cy="457200"/>
          </a:xfrm>
          <a:prstGeom prst="roundRect">
            <a:avLst>
              <a:gd name="adj" fmla="val 50000"/>
            </a:avLst>
          </a:prstGeom>
          <a:solidFill>
            <a:srgbClr val="F6EBCF"/>
          </a:solidFill>
          <a:ln/>
        </p:spPr>
      </p:sp>
      <p:sp>
        <p:nvSpPr>
          <p:cNvPr id="3" name="Text 1"/>
          <p:cNvSpPr/>
          <p:nvPr/>
        </p:nvSpPr>
        <p:spPr>
          <a:xfrm>
            <a:off x="6833311" y="457200"/>
            <a:ext cx="4535424"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بنهاية الدورة تستطيع أن</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أهداف الدورة</a:t>
            </a:r>
            <a:endParaRPr lang="ar-SA" sz="3800" dirty="0"/>
          </a:p>
        </p:txBody>
      </p:sp>
      <p:sp>
        <p:nvSpPr>
          <p:cNvPr id="5" name="anim-g1-46"/>
          <p:cNvSpPr/>
          <p:nvPr/>
        </p:nvSpPr>
        <p:spPr>
          <a:xfrm>
            <a:off x="822960" y="1920240"/>
            <a:ext cx="10545775" cy="735178"/>
          </a:xfrm>
          <a:prstGeom prst="roundRect">
            <a:avLst>
              <a:gd name="adj" fmla="val 19900"/>
            </a:avLst>
          </a:prstGeom>
          <a:solidFill>
            <a:srgbClr val="FFFFFF"/>
          </a:solidFill>
          <a:ln w="12700">
            <a:solidFill>
              <a:srgbClr val="E4DCC8"/>
            </a:solidFill>
            <a:prstDash val="solid"/>
          </a:ln>
        </p:spPr>
      </p:sp>
      <p:sp>
        <p:nvSpPr>
          <p:cNvPr id="6" name="anim-g1-47"/>
          <p:cNvSpPr/>
          <p:nvPr/>
        </p:nvSpPr>
        <p:spPr>
          <a:xfrm>
            <a:off x="10587838" y="2011680"/>
            <a:ext cx="552298" cy="552298"/>
          </a:xfrm>
          <a:prstGeom prst="ellipse">
            <a:avLst/>
          </a:prstGeom>
          <a:solidFill>
            <a:srgbClr val="D9AE4B"/>
          </a:solidFill>
          <a:ln/>
        </p:spPr>
      </p:sp>
      <p:sp>
        <p:nvSpPr>
          <p:cNvPr id="7" name="anim-g1-48"/>
          <p:cNvSpPr/>
          <p:nvPr/>
        </p:nvSpPr>
        <p:spPr>
          <a:xfrm>
            <a:off x="10587838" y="2011680"/>
            <a:ext cx="552298" cy="55229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١</a:t>
            </a:r>
            <a:endParaRPr lang="ar-SA" sz="2000" dirty="0"/>
          </a:p>
        </p:txBody>
      </p:sp>
      <p:sp>
        <p:nvSpPr>
          <p:cNvPr id="8" name="anim-g1-49"/>
          <p:cNvSpPr/>
          <p:nvPr/>
        </p:nvSpPr>
        <p:spPr>
          <a:xfrm>
            <a:off x="1097280" y="1920240"/>
            <a:ext cx="9261958" cy="735178"/>
          </a:xfrm>
          <a:prstGeom prst="rect">
            <a:avLst/>
          </a:prstGeom>
          <a:noFill/>
          <a:ln/>
        </p:spPr>
        <p:txBody>
          <a:bodyPr wrap="square" lIns="0" tIns="0" rIns="0" bIns="0" rtlCol="0" anchor="ctr">
            <a:normAutofit/>
          </a:bodyPr>
          <a:lstStyle/>
          <a:p>
            <a:pPr algn="r" indent="0" marL="0">
              <a:buNone/>
            </a:pPr>
            <a:r>
              <a:rPr lang="ar-SA" altLang="en-US" sz="2200" b="1" dirty="0">
                <a:solidFill>
                  <a:srgbClr val="101B45"/>
                </a:solidFill>
                <a:latin typeface="Cairo Black" pitchFamily="34" charset="0"/>
                <a:ea typeface="Cairo Black" pitchFamily="34" charset="-122"/>
                <a:cs typeface="Cairo Black" pitchFamily="34" charset="-120"/>
              </a:rPr>
              <a:t>تبني منصة دوارة دقيقة بمحرك خطوي ودرايفر A4988</a:t>
            </a:r>
            <a:endParaRPr lang="ar-SA" sz="2200" dirty="0"/>
          </a:p>
        </p:txBody>
      </p:sp>
      <p:sp>
        <p:nvSpPr>
          <p:cNvPr id="9" name="anim-g2-50"/>
          <p:cNvSpPr/>
          <p:nvPr/>
        </p:nvSpPr>
        <p:spPr>
          <a:xfrm>
            <a:off x="822960" y="2765146"/>
            <a:ext cx="10545775" cy="735178"/>
          </a:xfrm>
          <a:prstGeom prst="roundRect">
            <a:avLst>
              <a:gd name="adj" fmla="val 19900"/>
            </a:avLst>
          </a:prstGeom>
          <a:solidFill>
            <a:srgbClr val="FFFFFF"/>
          </a:solidFill>
          <a:ln w="12700">
            <a:solidFill>
              <a:srgbClr val="E4DCC8"/>
            </a:solidFill>
            <a:prstDash val="solid"/>
          </a:ln>
        </p:spPr>
      </p:sp>
      <p:sp>
        <p:nvSpPr>
          <p:cNvPr id="10" name="anim-g2-51"/>
          <p:cNvSpPr/>
          <p:nvPr/>
        </p:nvSpPr>
        <p:spPr>
          <a:xfrm>
            <a:off x="10587838" y="2856586"/>
            <a:ext cx="552298" cy="552298"/>
          </a:xfrm>
          <a:prstGeom prst="ellipse">
            <a:avLst/>
          </a:prstGeom>
          <a:solidFill>
            <a:srgbClr val="D9AE4B"/>
          </a:solidFill>
          <a:ln/>
        </p:spPr>
      </p:sp>
      <p:sp>
        <p:nvSpPr>
          <p:cNvPr id="11" name="anim-g2-52"/>
          <p:cNvSpPr/>
          <p:nvPr/>
        </p:nvSpPr>
        <p:spPr>
          <a:xfrm>
            <a:off x="10587838" y="2856586"/>
            <a:ext cx="552298" cy="55229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٢</a:t>
            </a:r>
            <a:endParaRPr lang="ar-SA" sz="2000" dirty="0"/>
          </a:p>
        </p:txBody>
      </p:sp>
      <p:sp>
        <p:nvSpPr>
          <p:cNvPr id="12" name="anim-g2-53"/>
          <p:cNvSpPr/>
          <p:nvPr/>
        </p:nvSpPr>
        <p:spPr>
          <a:xfrm>
            <a:off x="1097280" y="2765146"/>
            <a:ext cx="9261958" cy="735178"/>
          </a:xfrm>
          <a:prstGeom prst="rect">
            <a:avLst/>
          </a:prstGeom>
          <a:noFill/>
          <a:ln/>
        </p:spPr>
        <p:txBody>
          <a:bodyPr wrap="square" lIns="0" tIns="0" rIns="0" bIns="0" rtlCol="0" anchor="ctr">
            <a:normAutofit/>
          </a:bodyPr>
          <a:lstStyle/>
          <a:p>
            <a:pPr algn="r" indent="0" marL="0">
              <a:buNone/>
            </a:pPr>
            <a:r>
              <a:rPr lang="ar-SA" altLang="en-US" sz="2200" b="1" dirty="0">
                <a:solidFill>
                  <a:srgbClr val="101B45"/>
                </a:solidFill>
                <a:latin typeface="Cairo Black" pitchFamily="34" charset="0"/>
                <a:ea typeface="Cairo Black" pitchFamily="34" charset="-122"/>
                <a:cs typeface="Cairo Black" pitchFamily="34" charset="-120"/>
              </a:rPr>
              <a:t>تجهّز راسبيري باي يعرض فيديو بلغة الإشارة وصوتًا لكل جهة</a:t>
            </a:r>
            <a:endParaRPr lang="ar-SA" sz="2200" dirty="0"/>
          </a:p>
        </p:txBody>
      </p:sp>
      <p:sp>
        <p:nvSpPr>
          <p:cNvPr id="13" name="anim-g3-54"/>
          <p:cNvSpPr/>
          <p:nvPr/>
        </p:nvSpPr>
        <p:spPr>
          <a:xfrm>
            <a:off x="822960" y="3610051"/>
            <a:ext cx="10545775" cy="735178"/>
          </a:xfrm>
          <a:prstGeom prst="roundRect">
            <a:avLst>
              <a:gd name="adj" fmla="val 19900"/>
            </a:avLst>
          </a:prstGeom>
          <a:solidFill>
            <a:srgbClr val="FFFFFF"/>
          </a:solidFill>
          <a:ln w="12700">
            <a:solidFill>
              <a:srgbClr val="E4DCC8"/>
            </a:solidFill>
            <a:prstDash val="solid"/>
          </a:ln>
        </p:spPr>
      </p:sp>
      <p:sp>
        <p:nvSpPr>
          <p:cNvPr id="14" name="anim-g3-55"/>
          <p:cNvSpPr/>
          <p:nvPr/>
        </p:nvSpPr>
        <p:spPr>
          <a:xfrm>
            <a:off x="10587838" y="3701491"/>
            <a:ext cx="552298" cy="552298"/>
          </a:xfrm>
          <a:prstGeom prst="ellipse">
            <a:avLst/>
          </a:prstGeom>
          <a:solidFill>
            <a:srgbClr val="D9AE4B"/>
          </a:solidFill>
          <a:ln/>
        </p:spPr>
      </p:sp>
      <p:sp>
        <p:nvSpPr>
          <p:cNvPr id="15" name="anim-g3-56"/>
          <p:cNvSpPr/>
          <p:nvPr/>
        </p:nvSpPr>
        <p:spPr>
          <a:xfrm>
            <a:off x="10587838" y="3701491"/>
            <a:ext cx="552298" cy="55229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٣</a:t>
            </a:r>
            <a:endParaRPr lang="ar-SA" sz="2000" dirty="0"/>
          </a:p>
        </p:txBody>
      </p:sp>
      <p:sp>
        <p:nvSpPr>
          <p:cNvPr id="16" name="anim-g3-57"/>
          <p:cNvSpPr/>
          <p:nvPr/>
        </p:nvSpPr>
        <p:spPr>
          <a:xfrm>
            <a:off x="1097280" y="3610051"/>
            <a:ext cx="9261958" cy="735178"/>
          </a:xfrm>
          <a:prstGeom prst="rect">
            <a:avLst/>
          </a:prstGeom>
          <a:noFill/>
          <a:ln/>
        </p:spPr>
        <p:txBody>
          <a:bodyPr wrap="square" lIns="0" tIns="0" rIns="0" bIns="0" rtlCol="0" anchor="ctr">
            <a:normAutofit/>
          </a:bodyPr>
          <a:lstStyle/>
          <a:p>
            <a:pPr algn="r" indent="0" marL="0">
              <a:buNone/>
            </a:pPr>
            <a:r>
              <a:rPr lang="ar-SA" altLang="en-US" sz="2200" b="1" dirty="0">
                <a:solidFill>
                  <a:srgbClr val="101B45"/>
                </a:solidFill>
                <a:latin typeface="Cairo Black" pitchFamily="34" charset="0"/>
                <a:ea typeface="Cairo Black" pitchFamily="34" charset="-122"/>
                <a:cs typeface="Cairo Black" pitchFamily="34" charset="-120"/>
              </a:rPr>
              <a:t>تربط الأجهزة عبر الشبكة بـ UDP وESP-NOW بحارس أمان</a:t>
            </a:r>
            <a:endParaRPr lang="ar-SA" sz="2200" dirty="0"/>
          </a:p>
        </p:txBody>
      </p:sp>
      <p:sp>
        <p:nvSpPr>
          <p:cNvPr id="17" name="anim-g4-58"/>
          <p:cNvSpPr/>
          <p:nvPr/>
        </p:nvSpPr>
        <p:spPr>
          <a:xfrm>
            <a:off x="822960" y="4454957"/>
            <a:ext cx="10545775" cy="735178"/>
          </a:xfrm>
          <a:prstGeom prst="roundRect">
            <a:avLst>
              <a:gd name="adj" fmla="val 19900"/>
            </a:avLst>
          </a:prstGeom>
          <a:solidFill>
            <a:srgbClr val="FFFFFF"/>
          </a:solidFill>
          <a:ln w="12700">
            <a:solidFill>
              <a:srgbClr val="E4DCC8"/>
            </a:solidFill>
            <a:prstDash val="solid"/>
          </a:ln>
        </p:spPr>
      </p:sp>
      <p:sp>
        <p:nvSpPr>
          <p:cNvPr id="18" name="anim-g4-59"/>
          <p:cNvSpPr/>
          <p:nvPr/>
        </p:nvSpPr>
        <p:spPr>
          <a:xfrm>
            <a:off x="10587838" y="4546397"/>
            <a:ext cx="552298" cy="552298"/>
          </a:xfrm>
          <a:prstGeom prst="ellipse">
            <a:avLst/>
          </a:prstGeom>
          <a:solidFill>
            <a:srgbClr val="D9AE4B"/>
          </a:solidFill>
          <a:ln/>
        </p:spPr>
      </p:sp>
      <p:sp>
        <p:nvSpPr>
          <p:cNvPr id="19" name="anim-g4-60"/>
          <p:cNvSpPr/>
          <p:nvPr/>
        </p:nvSpPr>
        <p:spPr>
          <a:xfrm>
            <a:off x="10587838" y="4546397"/>
            <a:ext cx="552298" cy="55229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٤</a:t>
            </a:r>
            <a:endParaRPr lang="ar-SA" sz="2000" dirty="0"/>
          </a:p>
        </p:txBody>
      </p:sp>
      <p:sp>
        <p:nvSpPr>
          <p:cNvPr id="20" name="anim-g4-61"/>
          <p:cNvSpPr/>
          <p:nvPr/>
        </p:nvSpPr>
        <p:spPr>
          <a:xfrm>
            <a:off x="1097280" y="4454957"/>
            <a:ext cx="9261958" cy="735178"/>
          </a:xfrm>
          <a:prstGeom prst="rect">
            <a:avLst/>
          </a:prstGeom>
          <a:noFill/>
          <a:ln/>
        </p:spPr>
        <p:txBody>
          <a:bodyPr wrap="square" lIns="0" tIns="0" rIns="0" bIns="0" rtlCol="0" anchor="ctr">
            <a:normAutofit/>
          </a:bodyPr>
          <a:lstStyle/>
          <a:p>
            <a:pPr algn="r" indent="0" marL="0">
              <a:buNone/>
            </a:pPr>
            <a:r>
              <a:rPr lang="ar-SA" altLang="en-US" sz="2200" b="1" dirty="0">
                <a:solidFill>
                  <a:srgbClr val="101B45"/>
                </a:solidFill>
                <a:latin typeface="Cairo Black" pitchFamily="34" charset="0"/>
                <a:ea typeface="Cairo Black" pitchFamily="34" charset="-122"/>
                <a:cs typeface="Cairo Black" pitchFamily="34" charset="-120"/>
              </a:rPr>
              <a:t>تتحكم بمجسم بحركة العين عبر الرؤية الحاسوبية</a:t>
            </a:r>
            <a:endParaRPr lang="ar-SA" sz="2200" dirty="0"/>
          </a:p>
        </p:txBody>
      </p:sp>
      <p:sp>
        <p:nvSpPr>
          <p:cNvPr id="21" name="anim-g5-62"/>
          <p:cNvSpPr/>
          <p:nvPr/>
        </p:nvSpPr>
        <p:spPr>
          <a:xfrm>
            <a:off x="822960" y="5299862"/>
            <a:ext cx="10545775" cy="735178"/>
          </a:xfrm>
          <a:prstGeom prst="roundRect">
            <a:avLst>
              <a:gd name="adj" fmla="val 19900"/>
            </a:avLst>
          </a:prstGeom>
          <a:solidFill>
            <a:srgbClr val="FFFFFF"/>
          </a:solidFill>
          <a:ln w="12700">
            <a:solidFill>
              <a:srgbClr val="E4DCC8"/>
            </a:solidFill>
            <a:prstDash val="solid"/>
          </a:ln>
        </p:spPr>
      </p:sp>
      <p:sp>
        <p:nvSpPr>
          <p:cNvPr id="22" name="anim-g5-63"/>
          <p:cNvSpPr/>
          <p:nvPr/>
        </p:nvSpPr>
        <p:spPr>
          <a:xfrm>
            <a:off x="10587838" y="5391302"/>
            <a:ext cx="552298" cy="552298"/>
          </a:xfrm>
          <a:prstGeom prst="ellipse">
            <a:avLst/>
          </a:prstGeom>
          <a:solidFill>
            <a:srgbClr val="D9AE4B"/>
          </a:solidFill>
          <a:ln/>
        </p:spPr>
      </p:sp>
      <p:sp>
        <p:nvSpPr>
          <p:cNvPr id="23" name="anim-g5-64"/>
          <p:cNvSpPr/>
          <p:nvPr/>
        </p:nvSpPr>
        <p:spPr>
          <a:xfrm>
            <a:off x="10587838" y="5391302"/>
            <a:ext cx="552298" cy="55229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٥</a:t>
            </a:r>
            <a:endParaRPr lang="ar-SA" sz="2000" dirty="0"/>
          </a:p>
        </p:txBody>
      </p:sp>
      <p:sp>
        <p:nvSpPr>
          <p:cNvPr id="24" name="anim-g5-65"/>
          <p:cNvSpPr/>
          <p:nvPr/>
        </p:nvSpPr>
        <p:spPr>
          <a:xfrm>
            <a:off x="1097280" y="5299862"/>
            <a:ext cx="9261958" cy="735178"/>
          </a:xfrm>
          <a:prstGeom prst="rect">
            <a:avLst/>
          </a:prstGeom>
          <a:noFill/>
          <a:ln/>
        </p:spPr>
        <p:txBody>
          <a:bodyPr wrap="square" lIns="0" tIns="0" rIns="0" bIns="0" rtlCol="0" anchor="ctr">
            <a:normAutofit/>
          </a:bodyPr>
          <a:lstStyle/>
          <a:p>
            <a:pPr algn="r" indent="0" marL="0">
              <a:buNone/>
            </a:pPr>
            <a:r>
              <a:rPr lang="ar-SA" altLang="en-US" sz="2200" b="1" dirty="0">
                <a:solidFill>
                  <a:srgbClr val="101B45"/>
                </a:solidFill>
                <a:latin typeface="Cairo Black" pitchFamily="34" charset="0"/>
                <a:ea typeface="Cairo Black" pitchFamily="34" charset="-122"/>
                <a:cs typeface="Cairo Black" pitchFamily="34" charset="-120"/>
              </a:rPr>
              <a:t>تبني روبوت سلامة يقرر بنفسه أي الخطرين أعلى</a:t>
            </a:r>
            <a:endParaRPr lang="ar-SA" sz="2200" dirty="0"/>
          </a:p>
        </p:txBody>
      </p:sp>
      <p:sp>
        <p:nvSpPr>
          <p:cNvPr id="25" name="Text 2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6" name="Text 2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الافتتاح  ·  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400"/>
                                        <p:tgtEl>
                                          <p:spTgt spid="22"/>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3"/>
                                        </p:tgtEl>
                                        <p:attrNameLst>
                                          <p:attrName>style.visibility</p:attrName>
                                        </p:attrNameLst>
                                      </p:cBhvr>
                                      <p:to>
                                        <p:strVal val="visible"/>
                                      </p:to>
                                    </p:set>
                                    <p:animEffect transition="in" filter="fade">
                                      <p:cBhvr>
                                        <p:cTn id="69" dur="400"/>
                                        <p:tgtEl>
                                          <p:spTgt spid="23"/>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4"/>
                                        </p:tgtEl>
                                        <p:attrNameLst>
                                          <p:attrName>style.visibility</p:attrName>
                                        </p:attrNameLst>
                                      </p:cBhvr>
                                      <p:to>
                                        <p:strVal val="visible"/>
                                      </p:to>
                                    </p:set>
                                    <p:animEffect transition="in" filter="fade">
                                      <p:cBhvr>
                                        <p:cTn id="72"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998568" y="1188720"/>
            <a:ext cx="2194560"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998568" y="1188720"/>
            <a:ext cx="219456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وعد الدورة</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حين يرى زائر لا يحرك إلا عينيه قصر المصمك يدور أمامه ويُحكى له…</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يدرك طلابك أن التقنية رحمة قبل أن تكون أسلاكًا</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لمسة تراث</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الافتتاح  ·  ٩</a:t>
            </a:r>
            <a:endParaRPr lang="ar-SA"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097280" y="2103120"/>
            <a:ext cx="2651760" cy="2651760"/>
          </a:xfrm>
          <a:prstGeom prst="ellipse">
            <a:avLst/>
          </a:prstGeom>
          <a:solidFill>
            <a:srgbClr val="D9AE4B">
              <a:alpha val="12000"/>
            </a:srgbClr>
          </a:solidFill>
          <a:ln w="63500">
            <a:solidFill>
              <a:srgbClr val="D9AE4B">
                <a:alpha val="60000"/>
              </a:srgbClr>
            </a:solidFill>
            <a:prstDash val="solid"/>
          </a:ln>
        </p:spPr>
      </p:sp>
      <p:sp>
        <p:nvSpPr>
          <p:cNvPr id="3" name="Text 1"/>
          <p:cNvSpPr/>
          <p:nvPr/>
        </p:nvSpPr>
        <p:spPr>
          <a:xfrm>
            <a:off x="1097280" y="2103120"/>
            <a:ext cx="2651760" cy="2651760"/>
          </a:xfrm>
          <a:prstGeom prst="rect">
            <a:avLst/>
          </a:prstGeom>
          <a:noFill/>
          <a:ln/>
        </p:spPr>
        <p:txBody>
          <a:bodyPr wrap="square" lIns="0" tIns="0" rIns="0" bIns="0" rtlCol="0" anchor="ctr">
            <a:normAutofit/>
          </a:bodyPr>
          <a:lstStyle/>
          <a:p>
            <a:pPr rtl="1" algn="ctr" indent="0" marL="0">
              <a:buNone/>
            </a:pPr>
            <a:r>
              <a:rPr lang="ar-SA" altLang="en-US" sz="12000" dirty="0">
                <a:solidFill>
                  <a:srgbClr val="F0CC7A"/>
                </a:solidFill>
                <a:latin typeface="Cairo Black" pitchFamily="34" charset="0"/>
                <a:ea typeface="Cairo Black" pitchFamily="34" charset="-122"/>
                <a:cs typeface="Cairo Black" pitchFamily="34" charset="-120"/>
              </a:rPr>
              <a:t>١</a:t>
            </a:r>
            <a:endParaRPr lang="ar-SA" sz="12000" dirty="0"/>
          </a:p>
        </p:txBody>
      </p:sp>
      <p:sp>
        <p:nvSpPr>
          <p:cNvPr id="4" name="Text 2"/>
          <p:cNvSpPr/>
          <p:nvPr/>
        </p:nvSpPr>
        <p:spPr>
          <a:xfrm>
            <a:off x="4206240" y="1828800"/>
            <a:ext cx="7162495" cy="457200"/>
          </a:xfrm>
          <a:prstGeom prst="rect">
            <a:avLst/>
          </a:prstGeom>
          <a:noFill/>
          <a:ln/>
        </p:spPr>
        <p:txBody>
          <a:bodyPr wrap="square" lIns="0" tIns="0" rIns="0" bIns="0" rtlCol="0" anchor="ctr">
            <a:normAutofit/>
          </a:bodyPr>
          <a:lstStyle/>
          <a:p>
            <a:pPr rtl="1" algn="r" indent="0" marL="0">
              <a:buNone/>
            </a:pPr>
            <a:r>
              <a:rPr lang="ar-SA" altLang="en-US" sz="2000" b="1" dirty="0">
                <a:solidFill>
                  <a:srgbClr val="D9AE4B"/>
                </a:solidFill>
                <a:latin typeface="Cairo" pitchFamily="34" charset="0"/>
                <a:ea typeface="Cairo" pitchFamily="34" charset="-122"/>
                <a:cs typeface="Cairo" pitchFamily="34" charset="-120"/>
              </a:rPr>
              <a:t>المحور ١</a:t>
            </a:r>
            <a:endParaRPr lang="ar-SA" sz="2000" dirty="0"/>
          </a:p>
        </p:txBody>
      </p:sp>
      <p:sp>
        <p:nvSpPr>
          <p:cNvPr id="5" name="Text 3"/>
          <p:cNvSpPr/>
          <p:nvPr/>
        </p:nvSpPr>
        <p:spPr>
          <a:xfrm>
            <a:off x="4206240" y="2286000"/>
            <a:ext cx="7162495" cy="1371600"/>
          </a:xfrm>
          <a:prstGeom prst="rect">
            <a:avLst/>
          </a:prstGeom>
          <a:noFill/>
          <a:ln/>
        </p:spPr>
        <p:txBody>
          <a:bodyPr wrap="square" lIns="0" tIns="0" rIns="0" bIns="0" rtlCol="0" anchor="ctr">
            <a:normAutofit/>
          </a:bodyPr>
          <a:lstStyle/>
          <a:p>
            <a:pPr rtl="1" algn="r" indent="0" marL="0">
              <a:buNone/>
            </a:pPr>
            <a:r>
              <a:rPr lang="ar-SA" altLang="en-US" sz="5600" dirty="0">
                <a:solidFill>
                  <a:srgbClr val="FFFFFF"/>
                </a:solidFill>
                <a:latin typeface="Cairo Black" pitchFamily="34" charset="0"/>
                <a:ea typeface="Cairo Black" pitchFamily="34" charset="-122"/>
                <a:cs typeface="Cairo Black" pitchFamily="34" charset="-120"/>
              </a:rPr>
              <a:t>🗺️ المنظومة كاملة</a:t>
            </a:r>
            <a:endParaRPr lang="ar-SA" sz="5600" dirty="0"/>
          </a:p>
        </p:txBody>
      </p:sp>
      <p:sp>
        <p:nvSpPr>
          <p:cNvPr id="6" name="Text 4"/>
          <p:cNvSpPr/>
          <p:nvPr/>
        </p:nvSpPr>
        <p:spPr>
          <a:xfrm>
            <a:off x="4206240" y="3749040"/>
            <a:ext cx="7162495" cy="822960"/>
          </a:xfrm>
          <a:prstGeom prst="rect">
            <a:avLst/>
          </a:prstGeom>
          <a:noFill/>
          <a:ln/>
        </p:spPr>
        <p:txBody>
          <a:bodyPr wrap="square" lIns="0" tIns="0" rIns="0" bIns="0" rtlCol="0" anchor="ctr">
            <a:normAutofit/>
          </a:bodyPr>
          <a:lstStyle/>
          <a:p>
            <a:pPr rtl="1" algn="r" indent="0" marL="0">
              <a:buNone/>
            </a:pPr>
            <a:r>
              <a:rPr lang="ar-SA" altLang="en-US" sz="2200" b="1" dirty="0">
                <a:solidFill>
                  <a:srgbClr val="C9CFE6"/>
                </a:solidFill>
                <a:latin typeface="Cairo" pitchFamily="34" charset="0"/>
                <a:ea typeface="Cairo" pitchFamily="34" charset="-122"/>
                <a:cs typeface="Cairo" pitchFamily="34" charset="-120"/>
              </a:rPr>
              <a:t>قبل أن نلحم سلكًا… نرسم النظام كله</a:t>
            </a:r>
            <a:endParaRPr lang="ar-SA" sz="2200" dirty="0"/>
          </a:p>
        </p:txBody>
      </p:sp>
      <p:sp>
        <p:nvSpPr>
          <p:cNvPr id="7" name="Text 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لمسة تراث</a:t>
            </a:r>
            <a:endParaRPr lang="ar-SA" sz="1200" dirty="0"/>
          </a:p>
        </p:txBody>
      </p:sp>
      <p:sp>
        <p:nvSpPr>
          <p:cNvPr id="8" name="Text 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 المنظومة كاملة  ·  ١٠</a:t>
            </a:r>
            <a:endParaRPr lang="ar-SA"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248095" y="457200"/>
            <a:ext cx="5120640" cy="457200"/>
          </a:xfrm>
          <a:prstGeom prst="roundRect">
            <a:avLst>
              <a:gd name="adj" fmla="val 50000"/>
            </a:avLst>
          </a:prstGeom>
          <a:solidFill>
            <a:srgbClr val="F6EBCF"/>
          </a:solidFill>
          <a:ln/>
        </p:spPr>
      </p:sp>
      <p:sp>
        <p:nvSpPr>
          <p:cNvPr id="3" name="Text 1"/>
          <p:cNvSpPr/>
          <p:nvPr/>
        </p:nvSpPr>
        <p:spPr>
          <a:xfrm>
            <a:off x="6248095" y="457200"/>
            <a:ext cx="512064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بنهاية هذا المحور تستطيع أن</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أهداف المحور</a:t>
            </a:r>
            <a:endParaRPr lang="ar-SA" sz="3800" dirty="0"/>
          </a:p>
        </p:txBody>
      </p:sp>
      <p:sp>
        <p:nvSpPr>
          <p:cNvPr id="5" name="anim-g1-66"/>
          <p:cNvSpPr/>
          <p:nvPr/>
        </p:nvSpPr>
        <p:spPr>
          <a:xfrm>
            <a:off x="822960" y="1920240"/>
            <a:ext cx="10545775" cy="1298448"/>
          </a:xfrm>
          <a:prstGeom prst="roundRect">
            <a:avLst>
              <a:gd name="adj" fmla="val 11268"/>
            </a:avLst>
          </a:prstGeom>
          <a:solidFill>
            <a:srgbClr val="FFFFFF"/>
          </a:solidFill>
          <a:ln w="12700">
            <a:solidFill>
              <a:srgbClr val="E4DCC8"/>
            </a:solidFill>
            <a:prstDash val="solid"/>
          </a:ln>
        </p:spPr>
      </p:sp>
      <p:sp>
        <p:nvSpPr>
          <p:cNvPr id="6" name="anim-g1-67"/>
          <p:cNvSpPr/>
          <p:nvPr/>
        </p:nvSpPr>
        <p:spPr>
          <a:xfrm>
            <a:off x="10573207" y="2286000"/>
            <a:ext cx="566928" cy="566928"/>
          </a:xfrm>
          <a:prstGeom prst="ellipse">
            <a:avLst/>
          </a:prstGeom>
          <a:solidFill>
            <a:srgbClr val="D9AE4B"/>
          </a:solidFill>
          <a:ln/>
        </p:spPr>
      </p:sp>
      <p:sp>
        <p:nvSpPr>
          <p:cNvPr id="7" name="anim-g1-68"/>
          <p:cNvSpPr/>
          <p:nvPr/>
        </p:nvSpPr>
        <p:spPr>
          <a:xfrm>
            <a:off x="10573207" y="2286000"/>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١</a:t>
            </a:r>
            <a:endParaRPr lang="ar-SA" sz="2000" dirty="0"/>
          </a:p>
        </p:txBody>
      </p:sp>
      <p:sp>
        <p:nvSpPr>
          <p:cNvPr id="8" name="anim-g1-69"/>
          <p:cNvSpPr/>
          <p:nvPr/>
        </p:nvSpPr>
        <p:spPr>
          <a:xfrm>
            <a:off x="1097280" y="1920240"/>
            <a:ext cx="9247327" cy="1298448"/>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تشرح دور كل جهاز في المنظومة</a:t>
            </a:r>
            <a:endParaRPr lang="ar-SA" sz="2400" dirty="0"/>
          </a:p>
        </p:txBody>
      </p:sp>
      <p:sp>
        <p:nvSpPr>
          <p:cNvPr id="9" name="anim-g2-70"/>
          <p:cNvSpPr/>
          <p:nvPr/>
        </p:nvSpPr>
        <p:spPr>
          <a:xfrm>
            <a:off x="822960" y="3328416"/>
            <a:ext cx="10545775" cy="1298448"/>
          </a:xfrm>
          <a:prstGeom prst="roundRect">
            <a:avLst>
              <a:gd name="adj" fmla="val 11268"/>
            </a:avLst>
          </a:prstGeom>
          <a:solidFill>
            <a:srgbClr val="FFFFFF"/>
          </a:solidFill>
          <a:ln w="12700">
            <a:solidFill>
              <a:srgbClr val="E4DCC8"/>
            </a:solidFill>
            <a:prstDash val="solid"/>
          </a:ln>
        </p:spPr>
      </p:sp>
      <p:sp>
        <p:nvSpPr>
          <p:cNvPr id="10" name="anim-g2-71"/>
          <p:cNvSpPr/>
          <p:nvPr/>
        </p:nvSpPr>
        <p:spPr>
          <a:xfrm>
            <a:off x="10573207" y="3694176"/>
            <a:ext cx="566928" cy="566928"/>
          </a:xfrm>
          <a:prstGeom prst="ellipse">
            <a:avLst/>
          </a:prstGeom>
          <a:solidFill>
            <a:srgbClr val="D9AE4B"/>
          </a:solidFill>
          <a:ln/>
        </p:spPr>
      </p:sp>
      <p:sp>
        <p:nvSpPr>
          <p:cNvPr id="11" name="anim-g2-72"/>
          <p:cNvSpPr/>
          <p:nvPr/>
        </p:nvSpPr>
        <p:spPr>
          <a:xfrm>
            <a:off x="10573207" y="3694176"/>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٢</a:t>
            </a:r>
            <a:endParaRPr lang="ar-SA" sz="2000" dirty="0"/>
          </a:p>
        </p:txBody>
      </p:sp>
      <p:sp>
        <p:nvSpPr>
          <p:cNvPr id="12" name="anim-g2-73"/>
          <p:cNvSpPr/>
          <p:nvPr/>
        </p:nvSpPr>
        <p:spPr>
          <a:xfrm>
            <a:off x="1097280" y="3328416"/>
            <a:ext cx="9247327" cy="1298448"/>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تتبع رحلة نظرة واحدة من العين حتى المحرك</a:t>
            </a:r>
            <a:endParaRPr lang="ar-SA" sz="2400" dirty="0"/>
          </a:p>
        </p:txBody>
      </p:sp>
      <p:sp>
        <p:nvSpPr>
          <p:cNvPr id="13" name="anim-g3-74"/>
          <p:cNvSpPr/>
          <p:nvPr/>
        </p:nvSpPr>
        <p:spPr>
          <a:xfrm>
            <a:off x="822960" y="4736592"/>
            <a:ext cx="10545775" cy="1298448"/>
          </a:xfrm>
          <a:prstGeom prst="roundRect">
            <a:avLst>
              <a:gd name="adj" fmla="val 11268"/>
            </a:avLst>
          </a:prstGeom>
          <a:solidFill>
            <a:srgbClr val="FFFFFF"/>
          </a:solidFill>
          <a:ln w="12700">
            <a:solidFill>
              <a:srgbClr val="E4DCC8"/>
            </a:solidFill>
            <a:prstDash val="solid"/>
          </a:ln>
        </p:spPr>
      </p:sp>
      <p:sp>
        <p:nvSpPr>
          <p:cNvPr id="14" name="anim-g3-75"/>
          <p:cNvSpPr/>
          <p:nvPr/>
        </p:nvSpPr>
        <p:spPr>
          <a:xfrm>
            <a:off x="10573207" y="5102352"/>
            <a:ext cx="566928" cy="566928"/>
          </a:xfrm>
          <a:prstGeom prst="ellipse">
            <a:avLst/>
          </a:prstGeom>
          <a:solidFill>
            <a:srgbClr val="D9AE4B"/>
          </a:solidFill>
          <a:ln/>
        </p:spPr>
      </p:sp>
      <p:sp>
        <p:nvSpPr>
          <p:cNvPr id="15" name="anim-g3-76"/>
          <p:cNvSpPr/>
          <p:nvPr/>
        </p:nvSpPr>
        <p:spPr>
          <a:xfrm>
            <a:off x="10573207" y="5102352"/>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٣</a:t>
            </a:r>
            <a:endParaRPr lang="ar-SA" sz="2000" dirty="0"/>
          </a:p>
        </p:txBody>
      </p:sp>
      <p:sp>
        <p:nvSpPr>
          <p:cNvPr id="16" name="anim-g3-77"/>
          <p:cNvSpPr/>
          <p:nvPr/>
        </p:nvSpPr>
        <p:spPr>
          <a:xfrm>
            <a:off x="1097280" y="4736592"/>
            <a:ext cx="9247327" cy="1298448"/>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تفسّر لماذا اختار الفريق التصميم الموزّع</a:t>
            </a:r>
            <a:endParaRPr lang="ar-SA" sz="2400" dirty="0"/>
          </a:p>
        </p:txBody>
      </p:sp>
      <p:sp>
        <p:nvSpPr>
          <p:cNvPr id="17" name="Text 1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18" name="Text 1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المنظومة كاملة  ·  ١١</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711135" y="457200"/>
            <a:ext cx="3657600" cy="457200"/>
          </a:xfrm>
          <a:prstGeom prst="roundRect">
            <a:avLst>
              <a:gd name="adj" fmla="val 50000"/>
            </a:avLst>
          </a:prstGeom>
          <a:solidFill>
            <a:srgbClr val="F6EBCF"/>
          </a:solidFill>
          <a:ln/>
        </p:spPr>
      </p:sp>
      <p:sp>
        <p:nvSpPr>
          <p:cNvPr id="3" name="Text 1"/>
          <p:cNvSpPr/>
          <p:nvPr/>
        </p:nvSpPr>
        <p:spPr>
          <a:xfrm>
            <a:off x="7711135" y="457200"/>
            <a:ext cx="365760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البحث قبل التصميم</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درس الفريق قبل أن يبني؟</a:t>
            </a:r>
            <a:endParaRPr lang="ar-SA" sz="3800" dirty="0"/>
          </a:p>
        </p:txBody>
      </p:sp>
      <p:sp>
        <p:nvSpPr>
          <p:cNvPr id="5" name="anim-g1-78"/>
          <p:cNvSpPr/>
          <p:nvPr/>
        </p:nvSpPr>
        <p:spPr>
          <a:xfrm>
            <a:off x="6233008" y="2011680"/>
            <a:ext cx="513572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79"/>
          <p:cNvSpPr/>
          <p:nvPr/>
        </p:nvSpPr>
        <p:spPr>
          <a:xfrm>
            <a:off x="10527487" y="2267712"/>
            <a:ext cx="566928" cy="566928"/>
          </a:xfrm>
          <a:prstGeom prst="roundRect">
            <a:avLst>
              <a:gd name="adj" fmla="val 32258"/>
            </a:avLst>
          </a:prstGeom>
          <a:solidFill>
            <a:srgbClr val="F7E6BC"/>
          </a:solidFill>
          <a:ln/>
        </p:spPr>
      </p:sp>
      <p:sp>
        <p:nvSpPr>
          <p:cNvPr id="7" name="anim-g1-80"/>
          <p:cNvSpPr/>
          <p:nvPr/>
        </p:nvSpPr>
        <p:spPr>
          <a:xfrm>
            <a:off x="10527487"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81"/>
          <p:cNvSpPr/>
          <p:nvPr/>
        </p:nvSpPr>
        <p:spPr>
          <a:xfrm>
            <a:off x="6507328" y="2944368"/>
            <a:ext cx="458708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إتاحة المتاحف عالميًا</a:t>
            </a:r>
            <a:endParaRPr lang="ar-SA" sz="2200" dirty="0"/>
          </a:p>
        </p:txBody>
      </p:sp>
      <p:sp>
        <p:nvSpPr>
          <p:cNvPr id="9" name="anim-g1-82"/>
          <p:cNvSpPr/>
          <p:nvPr/>
        </p:nvSpPr>
        <p:spPr>
          <a:xfrm>
            <a:off x="6507328" y="3493008"/>
            <a:ext cx="458708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ووجد أن الحلول التي تخدم أكثر من إعاقة في الوقت نفسه نادرة</a:t>
            </a:r>
            <a:endParaRPr lang="ar-SA" sz="1900" dirty="0"/>
          </a:p>
        </p:txBody>
      </p:sp>
      <p:sp>
        <p:nvSpPr>
          <p:cNvPr id="10" name="anim-g2-83"/>
          <p:cNvSpPr/>
          <p:nvPr/>
        </p:nvSpPr>
        <p:spPr>
          <a:xfrm>
            <a:off x="822960" y="2011680"/>
            <a:ext cx="513572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84"/>
          <p:cNvSpPr/>
          <p:nvPr/>
        </p:nvSpPr>
        <p:spPr>
          <a:xfrm>
            <a:off x="5117440" y="2267712"/>
            <a:ext cx="566928" cy="566928"/>
          </a:xfrm>
          <a:prstGeom prst="roundRect">
            <a:avLst>
              <a:gd name="adj" fmla="val 32258"/>
            </a:avLst>
          </a:prstGeom>
          <a:solidFill>
            <a:srgbClr val="F7E6BC"/>
          </a:solidFill>
          <a:ln/>
        </p:spPr>
      </p:sp>
      <p:sp>
        <p:nvSpPr>
          <p:cNvPr id="12" name="anim-g2-85"/>
          <p:cNvSpPr/>
          <p:nvPr/>
        </p:nvSpPr>
        <p:spPr>
          <a:xfrm>
            <a:off x="5117440"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86"/>
          <p:cNvSpPr/>
          <p:nvPr/>
        </p:nvSpPr>
        <p:spPr>
          <a:xfrm>
            <a:off x="1097280" y="2944368"/>
            <a:ext cx="458708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تتبع الرأس والبؤبؤ</a:t>
            </a:r>
            <a:endParaRPr lang="ar-SA" sz="2200" dirty="0"/>
          </a:p>
        </p:txBody>
      </p:sp>
      <p:sp>
        <p:nvSpPr>
          <p:cNvPr id="14" name="anim-g2-87"/>
          <p:cNvSpPr/>
          <p:nvPr/>
        </p:nvSpPr>
        <p:spPr>
          <a:xfrm>
            <a:off x="1097280" y="3493008"/>
            <a:ext cx="458708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MediaPipe من Google بنموذج ٤٧٨ نقطة، بلا أجهزة استشعار غالية</a:t>
            </a:r>
            <a:endParaRPr lang="ar-SA" sz="1900" dirty="0"/>
          </a:p>
        </p:txBody>
      </p:sp>
      <p:sp>
        <p:nvSpPr>
          <p:cNvPr id="15" name="anim-g3-88"/>
          <p:cNvSpPr/>
          <p:nvPr/>
        </p:nvSpPr>
        <p:spPr>
          <a:xfrm>
            <a:off x="6233008" y="4137660"/>
            <a:ext cx="513572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89"/>
          <p:cNvSpPr/>
          <p:nvPr/>
        </p:nvSpPr>
        <p:spPr>
          <a:xfrm>
            <a:off x="10527487" y="4393692"/>
            <a:ext cx="566928" cy="566928"/>
          </a:xfrm>
          <a:prstGeom prst="roundRect">
            <a:avLst>
              <a:gd name="adj" fmla="val 32258"/>
            </a:avLst>
          </a:prstGeom>
          <a:solidFill>
            <a:srgbClr val="F7E6BC"/>
          </a:solidFill>
          <a:ln/>
        </p:spPr>
      </p:sp>
      <p:sp>
        <p:nvSpPr>
          <p:cNvPr id="17" name="anim-g3-90"/>
          <p:cNvSpPr/>
          <p:nvPr/>
        </p:nvSpPr>
        <p:spPr>
          <a:xfrm>
            <a:off x="10527487" y="439369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91"/>
          <p:cNvSpPr/>
          <p:nvPr/>
        </p:nvSpPr>
        <p:spPr>
          <a:xfrm>
            <a:off x="6507328" y="5070348"/>
            <a:ext cx="458708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المحركات الخطوية</a:t>
            </a:r>
            <a:endParaRPr lang="ar-SA" sz="2200" dirty="0"/>
          </a:p>
        </p:txBody>
      </p:sp>
      <p:sp>
        <p:nvSpPr>
          <p:cNvPr id="19" name="anim-g3-92"/>
          <p:cNvSpPr/>
          <p:nvPr/>
        </p:nvSpPr>
        <p:spPr>
          <a:xfrm>
            <a:off x="6507328" y="5618988"/>
            <a:ext cx="458708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ودرايفر A4988 لدوران بطيء متحكم به</a:t>
            </a:r>
            <a:endParaRPr lang="ar-SA" sz="1900" dirty="0"/>
          </a:p>
        </p:txBody>
      </p:sp>
      <p:sp>
        <p:nvSpPr>
          <p:cNvPr id="20" name="anim-g4-93"/>
          <p:cNvSpPr/>
          <p:nvPr/>
        </p:nvSpPr>
        <p:spPr>
          <a:xfrm>
            <a:off x="822960" y="4137660"/>
            <a:ext cx="513572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21" name="anim-g4-94"/>
          <p:cNvSpPr/>
          <p:nvPr/>
        </p:nvSpPr>
        <p:spPr>
          <a:xfrm>
            <a:off x="5117440" y="4393692"/>
            <a:ext cx="566928" cy="566928"/>
          </a:xfrm>
          <a:prstGeom prst="roundRect">
            <a:avLst>
              <a:gd name="adj" fmla="val 32258"/>
            </a:avLst>
          </a:prstGeom>
          <a:solidFill>
            <a:srgbClr val="F7E6BC"/>
          </a:solidFill>
          <a:ln/>
        </p:spPr>
      </p:sp>
      <p:sp>
        <p:nvSpPr>
          <p:cNvPr id="22" name="anim-g4-95"/>
          <p:cNvSpPr/>
          <p:nvPr/>
        </p:nvSpPr>
        <p:spPr>
          <a:xfrm>
            <a:off x="5117440" y="439369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23" name="anim-g4-96"/>
          <p:cNvSpPr/>
          <p:nvPr/>
        </p:nvSpPr>
        <p:spPr>
          <a:xfrm>
            <a:off x="1097280" y="5070348"/>
            <a:ext cx="458708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مدرسة للصم</a:t>
            </a:r>
            <a:endParaRPr lang="ar-SA" sz="2200" dirty="0"/>
          </a:p>
        </p:txBody>
      </p:sp>
      <p:sp>
        <p:nvSpPr>
          <p:cNvPr id="24" name="anim-g4-97"/>
          <p:cNvSpPr/>
          <p:nvPr/>
        </p:nvSpPr>
        <p:spPr>
          <a:xfrm>
            <a:off x="1097280" y="5618988"/>
            <a:ext cx="458708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معلم لغة إشارة علّم الفريق وراجع كل جملة مسجلة</a:t>
            </a:r>
            <a:endParaRPr lang="ar-SA" sz="1900" dirty="0"/>
          </a:p>
        </p:txBody>
      </p:sp>
      <p:sp>
        <p:nvSpPr>
          <p:cNvPr id="25" name="Text 2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6" name="Text 2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المنظومة كاملة  ·  ١٢</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C:\Users\user\projects\younes-training\turath\.pptx-cache\s13.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174175" y="457200"/>
            <a:ext cx="2194560" cy="457200"/>
          </a:xfrm>
          <a:prstGeom prst="roundRect">
            <a:avLst>
              <a:gd name="adj" fmla="val 50000"/>
            </a:avLst>
          </a:prstGeom>
          <a:solidFill>
            <a:srgbClr val="F6EBCF"/>
          </a:solidFill>
          <a:ln/>
        </p:spPr>
      </p:sp>
      <p:sp>
        <p:nvSpPr>
          <p:cNvPr id="3" name="Text 1"/>
          <p:cNvSpPr/>
          <p:nvPr/>
        </p:nvSpPr>
        <p:spPr>
          <a:xfrm>
            <a:off x="9174175" y="457200"/>
            <a:ext cx="219456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قرار هندسي</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لماذا تصميم «موزّع» لا جهاز واحد يفعل كل شيء؟</a:t>
            </a:r>
            <a:endParaRPr lang="ar-SA" sz="3200" dirty="0"/>
          </a:p>
        </p:txBody>
      </p:sp>
      <p:sp>
        <p:nvSpPr>
          <p:cNvPr id="5" name="anim-g1-98"/>
          <p:cNvSpPr/>
          <p:nvPr/>
        </p:nvSpPr>
        <p:spPr>
          <a:xfrm>
            <a:off x="8036357"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99"/>
          <p:cNvSpPr/>
          <p:nvPr/>
        </p:nvSpPr>
        <p:spPr>
          <a:xfrm>
            <a:off x="10527487" y="2267712"/>
            <a:ext cx="566928" cy="566928"/>
          </a:xfrm>
          <a:prstGeom prst="roundRect">
            <a:avLst>
              <a:gd name="adj" fmla="val 32258"/>
            </a:avLst>
          </a:prstGeom>
          <a:solidFill>
            <a:srgbClr val="F7E6BC"/>
          </a:solidFill>
          <a:ln/>
        </p:spPr>
      </p:sp>
      <p:sp>
        <p:nvSpPr>
          <p:cNvPr id="7" name="anim-g1-100"/>
          <p:cNvSpPr/>
          <p:nvPr/>
        </p:nvSpPr>
        <p:spPr>
          <a:xfrm>
            <a:off x="10527487"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101"/>
          <p:cNvSpPr/>
          <p:nvPr/>
        </p:nvSpPr>
        <p:spPr>
          <a:xfrm>
            <a:off x="8310677"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كل جهاز لمهمته</a:t>
            </a:r>
            <a:endParaRPr lang="ar-SA" sz="2200" dirty="0"/>
          </a:p>
        </p:txBody>
      </p:sp>
      <p:sp>
        <p:nvSpPr>
          <p:cNvPr id="9" name="anim-g1-102"/>
          <p:cNvSpPr/>
          <p:nvPr/>
        </p:nvSpPr>
        <p:spPr>
          <a:xfrm>
            <a:off x="8310677"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الحركة، أو المحتوى، أو تتبع العين، فقط</a:t>
            </a:r>
            <a:endParaRPr lang="ar-SA" sz="1900" dirty="0"/>
          </a:p>
        </p:txBody>
      </p:sp>
      <p:sp>
        <p:nvSpPr>
          <p:cNvPr id="10" name="anim-g2-103"/>
          <p:cNvSpPr/>
          <p:nvPr/>
        </p:nvSpPr>
        <p:spPr>
          <a:xfrm>
            <a:off x="4429658"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104"/>
          <p:cNvSpPr/>
          <p:nvPr/>
        </p:nvSpPr>
        <p:spPr>
          <a:xfrm>
            <a:off x="6920789" y="2267712"/>
            <a:ext cx="566928" cy="566928"/>
          </a:xfrm>
          <a:prstGeom prst="roundRect">
            <a:avLst>
              <a:gd name="adj" fmla="val 32258"/>
            </a:avLst>
          </a:prstGeom>
          <a:solidFill>
            <a:srgbClr val="F7E6BC"/>
          </a:solidFill>
          <a:ln/>
        </p:spPr>
      </p:sp>
      <p:sp>
        <p:nvSpPr>
          <p:cNvPr id="12" name="anim-g2-105"/>
          <p:cNvSpPr/>
          <p:nvPr/>
        </p:nvSpPr>
        <p:spPr>
          <a:xfrm>
            <a:off x="6920789"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106"/>
          <p:cNvSpPr/>
          <p:nvPr/>
        </p:nvSpPr>
        <p:spPr>
          <a:xfrm>
            <a:off x="4703978"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أسهل صيانة</a:t>
            </a:r>
            <a:endParaRPr lang="ar-SA" sz="2200" dirty="0"/>
          </a:p>
        </p:txBody>
      </p:sp>
      <p:sp>
        <p:nvSpPr>
          <p:cNvPr id="14" name="anim-g2-107"/>
          <p:cNvSpPr/>
          <p:nvPr/>
        </p:nvSpPr>
        <p:spPr>
          <a:xfrm>
            <a:off x="4703978"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عطل في الفيديو لا يوقف المحرك، ونختبر كل جزء وحده</a:t>
            </a:r>
            <a:endParaRPr lang="ar-SA" sz="1900" dirty="0"/>
          </a:p>
        </p:txBody>
      </p:sp>
      <p:sp>
        <p:nvSpPr>
          <p:cNvPr id="15" name="anim-g3-108"/>
          <p:cNvSpPr/>
          <p:nvPr/>
        </p:nvSpPr>
        <p:spPr>
          <a:xfrm>
            <a:off x="822960"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109"/>
          <p:cNvSpPr/>
          <p:nvPr/>
        </p:nvSpPr>
        <p:spPr>
          <a:xfrm>
            <a:off x="3314090" y="2267712"/>
            <a:ext cx="566928" cy="566928"/>
          </a:xfrm>
          <a:prstGeom prst="roundRect">
            <a:avLst>
              <a:gd name="adj" fmla="val 32258"/>
            </a:avLst>
          </a:prstGeom>
          <a:solidFill>
            <a:srgbClr val="F7E6BC"/>
          </a:solidFill>
          <a:ln/>
        </p:spPr>
      </p:sp>
      <p:sp>
        <p:nvSpPr>
          <p:cNvPr id="17" name="anim-g3-110"/>
          <p:cNvSpPr/>
          <p:nvPr/>
        </p:nvSpPr>
        <p:spPr>
          <a:xfrm>
            <a:off x="3314090"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111"/>
          <p:cNvSpPr/>
          <p:nvPr/>
        </p:nvSpPr>
        <p:spPr>
          <a:xfrm>
            <a:off x="1097280"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أسهل توسعة</a:t>
            </a:r>
            <a:endParaRPr lang="ar-SA" sz="2200" dirty="0"/>
          </a:p>
        </p:txBody>
      </p:sp>
      <p:sp>
        <p:nvSpPr>
          <p:cNvPr id="19" name="anim-g3-112"/>
          <p:cNvSpPr/>
          <p:nvPr/>
        </p:nvSpPr>
        <p:spPr>
          <a:xfrm>
            <a:off x="1097280"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نضيف كرسيًا أو روبوت سلامة دون أن نهدم ما بنيناه</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المنظومة كاملة  ·  ١٤</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588959" y="457200"/>
            <a:ext cx="2779776" cy="457200"/>
          </a:xfrm>
          <a:prstGeom prst="roundRect">
            <a:avLst>
              <a:gd name="adj" fmla="val 50000"/>
            </a:avLst>
          </a:prstGeom>
          <a:solidFill>
            <a:srgbClr val="F6EBCF"/>
          </a:solidFill>
          <a:ln/>
        </p:spPr>
      </p:sp>
      <p:sp>
        <p:nvSpPr>
          <p:cNvPr id="3" name="Text 1"/>
          <p:cNvSpPr/>
          <p:nvPr/>
        </p:nvSpPr>
        <p:spPr>
          <a:xfrm>
            <a:off x="8588959" y="457200"/>
            <a:ext cx="277977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قائمة القطع</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المشروع الرئيسي: المجسّم الدوّار</a:t>
            </a:r>
            <a:endParaRPr lang="ar-SA" sz="3800" dirty="0"/>
          </a:p>
        </p:txBody>
      </p:sp>
      <p:sp>
        <p:nvSpPr>
          <p:cNvPr id="5" name="Shape 3"/>
          <p:cNvSpPr/>
          <p:nvPr/>
        </p:nvSpPr>
        <p:spPr>
          <a:xfrm>
            <a:off x="8939013" y="1874520"/>
            <a:ext cx="2429722" cy="548640"/>
          </a:xfrm>
          <a:prstGeom prst="roundRect">
            <a:avLst>
              <a:gd name="adj" fmla="val 20000"/>
            </a:avLst>
          </a:prstGeom>
          <a:solidFill>
            <a:srgbClr val="101B45"/>
          </a:solidFill>
          <a:ln/>
        </p:spPr>
      </p:sp>
      <p:sp>
        <p:nvSpPr>
          <p:cNvPr id="6" name="Text 4"/>
          <p:cNvSpPr/>
          <p:nvPr/>
        </p:nvSpPr>
        <p:spPr>
          <a:xfrm>
            <a:off x="8939013" y="1874520"/>
            <a:ext cx="2429722" cy="548640"/>
          </a:xfrm>
          <a:prstGeom prst="rect">
            <a:avLst/>
          </a:prstGeom>
          <a:noFill/>
          <a:ln/>
        </p:spPr>
        <p:txBody>
          <a:bodyPr wrap="square" lIns="0" tIns="0" rIns="0" bIns="0" rtlCol="0" anchor="ctr">
            <a:normAutofit/>
          </a:bodyPr>
          <a:lstStyle/>
          <a:p>
            <a:pPr rtl="1" algn="ctr" indent="0" marL="0">
              <a:buNone/>
            </a:pPr>
            <a:r>
              <a:rPr lang="ar-SA" altLang="en-US" sz="1900" dirty="0">
                <a:solidFill>
                  <a:srgbClr val="FFFFFF"/>
                </a:solidFill>
                <a:latin typeface="Cairo Black" pitchFamily="34" charset="0"/>
                <a:ea typeface="Cairo Black" pitchFamily="34" charset="-122"/>
                <a:cs typeface="Cairo Black" pitchFamily="34" charset="-120"/>
              </a:rPr>
              <a:t>الوحدة</a:t>
            </a:r>
            <a:endParaRPr lang="ar-SA" sz="1900" dirty="0"/>
          </a:p>
        </p:txBody>
      </p:sp>
      <p:sp>
        <p:nvSpPr>
          <p:cNvPr id="7" name="Shape 5"/>
          <p:cNvSpPr/>
          <p:nvPr/>
        </p:nvSpPr>
        <p:spPr>
          <a:xfrm>
            <a:off x="4577271" y="1874520"/>
            <a:ext cx="4252014" cy="548640"/>
          </a:xfrm>
          <a:prstGeom prst="roundRect">
            <a:avLst>
              <a:gd name="adj" fmla="val 20000"/>
            </a:avLst>
          </a:prstGeom>
          <a:solidFill>
            <a:srgbClr val="101B45"/>
          </a:solidFill>
          <a:ln/>
        </p:spPr>
      </p:sp>
      <p:sp>
        <p:nvSpPr>
          <p:cNvPr id="8" name="Text 6"/>
          <p:cNvSpPr/>
          <p:nvPr/>
        </p:nvSpPr>
        <p:spPr>
          <a:xfrm>
            <a:off x="4577271" y="1874520"/>
            <a:ext cx="4252014" cy="548640"/>
          </a:xfrm>
          <a:prstGeom prst="rect">
            <a:avLst/>
          </a:prstGeom>
          <a:noFill/>
          <a:ln/>
        </p:spPr>
        <p:txBody>
          <a:bodyPr wrap="square" lIns="0" tIns="0" rIns="0" bIns="0" rtlCol="0" anchor="ctr">
            <a:normAutofit/>
          </a:bodyPr>
          <a:lstStyle/>
          <a:p>
            <a:pPr rtl="1" algn="ctr" indent="0" marL="0">
              <a:buNone/>
            </a:pPr>
            <a:r>
              <a:rPr lang="ar-SA" altLang="en-US" sz="1900" dirty="0">
                <a:solidFill>
                  <a:srgbClr val="FFFFFF"/>
                </a:solidFill>
                <a:latin typeface="Cairo Black" pitchFamily="34" charset="0"/>
                <a:ea typeface="Cairo Black" pitchFamily="34" charset="-122"/>
                <a:cs typeface="Cairo Black" pitchFamily="34" charset="-120"/>
              </a:rPr>
              <a:t>القطع</a:t>
            </a:r>
            <a:endParaRPr lang="ar-SA" sz="1900" dirty="0"/>
          </a:p>
        </p:txBody>
      </p:sp>
      <p:sp>
        <p:nvSpPr>
          <p:cNvPr id="9" name="Shape 7"/>
          <p:cNvSpPr/>
          <p:nvPr/>
        </p:nvSpPr>
        <p:spPr>
          <a:xfrm>
            <a:off x="822960" y="1874520"/>
            <a:ext cx="3644583" cy="548640"/>
          </a:xfrm>
          <a:prstGeom prst="roundRect">
            <a:avLst>
              <a:gd name="adj" fmla="val 20000"/>
            </a:avLst>
          </a:prstGeom>
          <a:solidFill>
            <a:srgbClr val="101B45"/>
          </a:solidFill>
          <a:ln/>
        </p:spPr>
      </p:sp>
      <p:sp>
        <p:nvSpPr>
          <p:cNvPr id="10" name="Text 8"/>
          <p:cNvSpPr/>
          <p:nvPr/>
        </p:nvSpPr>
        <p:spPr>
          <a:xfrm>
            <a:off x="822960" y="1874520"/>
            <a:ext cx="3644583" cy="548640"/>
          </a:xfrm>
          <a:prstGeom prst="rect">
            <a:avLst/>
          </a:prstGeom>
          <a:noFill/>
          <a:ln/>
        </p:spPr>
        <p:txBody>
          <a:bodyPr wrap="square" lIns="0" tIns="0" rIns="0" bIns="0" rtlCol="0" anchor="ctr">
            <a:normAutofit/>
          </a:bodyPr>
          <a:lstStyle/>
          <a:p>
            <a:pPr rtl="1" algn="ctr" indent="0" marL="0">
              <a:buNone/>
            </a:pPr>
            <a:r>
              <a:rPr lang="ar-SA" altLang="en-US" sz="1900" dirty="0">
                <a:solidFill>
                  <a:srgbClr val="FFFFFF"/>
                </a:solidFill>
                <a:latin typeface="Cairo Black" pitchFamily="34" charset="0"/>
                <a:ea typeface="Cairo Black" pitchFamily="34" charset="-122"/>
                <a:cs typeface="Cairo Black" pitchFamily="34" charset="-120"/>
              </a:rPr>
              <a:t>الدور</a:t>
            </a:r>
            <a:endParaRPr lang="ar-SA" sz="1900" dirty="0"/>
          </a:p>
        </p:txBody>
      </p:sp>
      <p:sp>
        <p:nvSpPr>
          <p:cNvPr id="11" name="anim-g1-113"/>
          <p:cNvSpPr/>
          <p:nvPr/>
        </p:nvSpPr>
        <p:spPr>
          <a:xfrm>
            <a:off x="8939013" y="2514600"/>
            <a:ext cx="2429722" cy="616306"/>
          </a:xfrm>
          <a:prstGeom prst="roundRect">
            <a:avLst>
              <a:gd name="adj" fmla="val 17804"/>
            </a:avLst>
          </a:prstGeom>
          <a:solidFill>
            <a:srgbClr val="FBF3DF"/>
          </a:solidFill>
          <a:ln w="12700">
            <a:solidFill>
              <a:srgbClr val="EFDDAF"/>
            </a:solidFill>
            <a:prstDash val="solid"/>
          </a:ln>
        </p:spPr>
      </p:sp>
      <p:sp>
        <p:nvSpPr>
          <p:cNvPr id="12" name="anim-g1-114"/>
          <p:cNvSpPr/>
          <p:nvPr/>
        </p:nvSpPr>
        <p:spPr>
          <a:xfrm>
            <a:off x="9076173" y="2514600"/>
            <a:ext cx="2155402" cy="616306"/>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 الحركة</a:t>
            </a:r>
            <a:endParaRPr lang="ar-SA" sz="2100" dirty="0"/>
          </a:p>
        </p:txBody>
      </p:sp>
      <p:sp>
        <p:nvSpPr>
          <p:cNvPr id="13" name="anim-g1-115"/>
          <p:cNvSpPr/>
          <p:nvPr/>
        </p:nvSpPr>
        <p:spPr>
          <a:xfrm>
            <a:off x="4577271" y="2514600"/>
            <a:ext cx="4252014" cy="616306"/>
          </a:xfrm>
          <a:prstGeom prst="roundRect">
            <a:avLst>
              <a:gd name="adj" fmla="val 17804"/>
            </a:avLst>
          </a:prstGeom>
          <a:solidFill>
            <a:srgbClr val="FFFFFF"/>
          </a:solidFill>
          <a:ln w="12700">
            <a:solidFill>
              <a:srgbClr val="E4DCC8"/>
            </a:solidFill>
            <a:prstDash val="solid"/>
          </a:ln>
        </p:spPr>
      </p:sp>
      <p:sp>
        <p:nvSpPr>
          <p:cNvPr id="14" name="anim-g1-116"/>
          <p:cNvSpPr/>
          <p:nvPr/>
        </p:nvSpPr>
        <p:spPr>
          <a:xfrm>
            <a:off x="4714431" y="2514600"/>
            <a:ext cx="3977694" cy="616306"/>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ESP32 · A4988 · NEMA17 · مصدر 12V</a:t>
            </a:r>
            <a:endParaRPr lang="ar-SA" sz="2100" dirty="0"/>
          </a:p>
        </p:txBody>
      </p:sp>
      <p:sp>
        <p:nvSpPr>
          <p:cNvPr id="15" name="anim-g1-117"/>
          <p:cNvSpPr/>
          <p:nvPr/>
        </p:nvSpPr>
        <p:spPr>
          <a:xfrm>
            <a:off x="822960" y="2514600"/>
            <a:ext cx="3644583" cy="616306"/>
          </a:xfrm>
          <a:prstGeom prst="roundRect">
            <a:avLst>
              <a:gd name="adj" fmla="val 17804"/>
            </a:avLst>
          </a:prstGeom>
          <a:solidFill>
            <a:srgbClr val="E6F4EC"/>
          </a:solidFill>
          <a:ln w="12700">
            <a:solidFill>
              <a:srgbClr val="CDE9D9"/>
            </a:solidFill>
            <a:prstDash val="solid"/>
          </a:ln>
        </p:spPr>
      </p:sp>
      <p:sp>
        <p:nvSpPr>
          <p:cNvPr id="16" name="anim-g1-118"/>
          <p:cNvSpPr/>
          <p:nvPr/>
        </p:nvSpPr>
        <p:spPr>
          <a:xfrm>
            <a:off x="960120" y="2514600"/>
            <a:ext cx="3370263" cy="616306"/>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تدوير المنصة بدقة وبطء</a:t>
            </a:r>
            <a:endParaRPr lang="ar-SA" sz="2100" dirty="0"/>
          </a:p>
        </p:txBody>
      </p:sp>
      <p:sp>
        <p:nvSpPr>
          <p:cNvPr id="17" name="anim-g2-119"/>
          <p:cNvSpPr/>
          <p:nvPr/>
        </p:nvSpPr>
        <p:spPr>
          <a:xfrm>
            <a:off x="8939013" y="3240634"/>
            <a:ext cx="2429722" cy="616306"/>
          </a:xfrm>
          <a:prstGeom prst="roundRect">
            <a:avLst>
              <a:gd name="adj" fmla="val 17804"/>
            </a:avLst>
          </a:prstGeom>
          <a:solidFill>
            <a:srgbClr val="FBF3DF"/>
          </a:solidFill>
          <a:ln w="12700">
            <a:solidFill>
              <a:srgbClr val="EFDDAF"/>
            </a:solidFill>
            <a:prstDash val="solid"/>
          </a:ln>
        </p:spPr>
      </p:sp>
      <p:sp>
        <p:nvSpPr>
          <p:cNvPr id="18" name="anim-g2-120"/>
          <p:cNvSpPr/>
          <p:nvPr/>
        </p:nvSpPr>
        <p:spPr>
          <a:xfrm>
            <a:off x="9076173" y="3240634"/>
            <a:ext cx="2155402" cy="616306"/>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 الإضاءة</a:t>
            </a:r>
            <a:endParaRPr lang="ar-SA" sz="2100" dirty="0"/>
          </a:p>
        </p:txBody>
      </p:sp>
      <p:sp>
        <p:nvSpPr>
          <p:cNvPr id="19" name="anim-g2-121"/>
          <p:cNvSpPr/>
          <p:nvPr/>
        </p:nvSpPr>
        <p:spPr>
          <a:xfrm>
            <a:off x="4577271" y="3240634"/>
            <a:ext cx="4252014" cy="616306"/>
          </a:xfrm>
          <a:prstGeom prst="roundRect">
            <a:avLst>
              <a:gd name="adj" fmla="val 17804"/>
            </a:avLst>
          </a:prstGeom>
          <a:solidFill>
            <a:srgbClr val="FFFFFF"/>
          </a:solidFill>
          <a:ln w="12700">
            <a:solidFill>
              <a:srgbClr val="E4DCC8"/>
            </a:solidFill>
            <a:prstDash val="solid"/>
          </a:ln>
        </p:spPr>
      </p:sp>
      <p:sp>
        <p:nvSpPr>
          <p:cNvPr id="20" name="anim-g2-122"/>
          <p:cNvSpPr/>
          <p:nvPr/>
        </p:nvSpPr>
        <p:spPr>
          <a:xfrm>
            <a:off x="4714431" y="3240634"/>
            <a:ext cx="3977694" cy="616306"/>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شريط WS2812B على GPIO23</a:t>
            </a:r>
            <a:endParaRPr lang="ar-SA" sz="2100" dirty="0"/>
          </a:p>
        </p:txBody>
      </p:sp>
      <p:sp>
        <p:nvSpPr>
          <p:cNvPr id="21" name="anim-g2-123"/>
          <p:cNvSpPr/>
          <p:nvPr/>
        </p:nvSpPr>
        <p:spPr>
          <a:xfrm>
            <a:off x="822960" y="3240634"/>
            <a:ext cx="3644583" cy="616306"/>
          </a:xfrm>
          <a:prstGeom prst="roundRect">
            <a:avLst>
              <a:gd name="adj" fmla="val 17804"/>
            </a:avLst>
          </a:prstGeom>
          <a:solidFill>
            <a:srgbClr val="E6F4EC"/>
          </a:solidFill>
          <a:ln w="12700">
            <a:solidFill>
              <a:srgbClr val="CDE9D9"/>
            </a:solidFill>
            <a:prstDash val="solid"/>
          </a:ln>
        </p:spPr>
      </p:sp>
      <p:sp>
        <p:nvSpPr>
          <p:cNvPr id="22" name="anim-g2-124"/>
          <p:cNvSpPr/>
          <p:nvPr/>
        </p:nvSpPr>
        <p:spPr>
          <a:xfrm>
            <a:off x="960120" y="3240634"/>
            <a:ext cx="3370263" cy="616306"/>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لون لكل جهة وموجة أثناء الدوران</a:t>
            </a:r>
            <a:endParaRPr lang="ar-SA" sz="2100" dirty="0"/>
          </a:p>
        </p:txBody>
      </p:sp>
      <p:sp>
        <p:nvSpPr>
          <p:cNvPr id="23" name="anim-g3-125"/>
          <p:cNvSpPr/>
          <p:nvPr/>
        </p:nvSpPr>
        <p:spPr>
          <a:xfrm>
            <a:off x="8939013" y="3966667"/>
            <a:ext cx="2429722" cy="616306"/>
          </a:xfrm>
          <a:prstGeom prst="roundRect">
            <a:avLst>
              <a:gd name="adj" fmla="val 17804"/>
            </a:avLst>
          </a:prstGeom>
          <a:solidFill>
            <a:srgbClr val="FBF3DF"/>
          </a:solidFill>
          <a:ln w="12700">
            <a:solidFill>
              <a:srgbClr val="EFDDAF"/>
            </a:solidFill>
            <a:prstDash val="solid"/>
          </a:ln>
        </p:spPr>
      </p:sp>
      <p:sp>
        <p:nvSpPr>
          <p:cNvPr id="24" name="anim-g3-126"/>
          <p:cNvSpPr/>
          <p:nvPr/>
        </p:nvSpPr>
        <p:spPr>
          <a:xfrm>
            <a:off x="9076173" y="3966667"/>
            <a:ext cx="2155402" cy="616306"/>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 العقل</a:t>
            </a:r>
            <a:endParaRPr lang="ar-SA" sz="2100" dirty="0"/>
          </a:p>
        </p:txBody>
      </p:sp>
      <p:sp>
        <p:nvSpPr>
          <p:cNvPr id="25" name="anim-g3-127"/>
          <p:cNvSpPr/>
          <p:nvPr/>
        </p:nvSpPr>
        <p:spPr>
          <a:xfrm>
            <a:off x="4577271" y="3966667"/>
            <a:ext cx="4252014" cy="616306"/>
          </a:xfrm>
          <a:prstGeom prst="roundRect">
            <a:avLst>
              <a:gd name="adj" fmla="val 17804"/>
            </a:avLst>
          </a:prstGeom>
          <a:solidFill>
            <a:srgbClr val="FFFFFF"/>
          </a:solidFill>
          <a:ln w="12700">
            <a:solidFill>
              <a:srgbClr val="E4DCC8"/>
            </a:solidFill>
            <a:prstDash val="solid"/>
          </a:ln>
        </p:spPr>
      </p:sp>
      <p:sp>
        <p:nvSpPr>
          <p:cNvPr id="26" name="anim-g3-128"/>
          <p:cNvSpPr/>
          <p:nvPr/>
        </p:nvSpPr>
        <p:spPr>
          <a:xfrm>
            <a:off x="4714431" y="3966667"/>
            <a:ext cx="3977694" cy="616306"/>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Raspberry Pi · شاشة · سماعة</a:t>
            </a:r>
            <a:endParaRPr lang="ar-SA" sz="2100" dirty="0"/>
          </a:p>
        </p:txBody>
      </p:sp>
      <p:sp>
        <p:nvSpPr>
          <p:cNvPr id="27" name="anim-g3-129"/>
          <p:cNvSpPr/>
          <p:nvPr/>
        </p:nvSpPr>
        <p:spPr>
          <a:xfrm>
            <a:off x="822960" y="3966667"/>
            <a:ext cx="3644583" cy="616306"/>
          </a:xfrm>
          <a:prstGeom prst="roundRect">
            <a:avLst>
              <a:gd name="adj" fmla="val 17804"/>
            </a:avLst>
          </a:prstGeom>
          <a:solidFill>
            <a:srgbClr val="E6F4EC"/>
          </a:solidFill>
          <a:ln w="12700">
            <a:solidFill>
              <a:srgbClr val="CDE9D9"/>
            </a:solidFill>
            <a:prstDash val="solid"/>
          </a:ln>
        </p:spPr>
      </p:sp>
      <p:sp>
        <p:nvSpPr>
          <p:cNvPr id="28" name="anim-g3-130"/>
          <p:cNvSpPr/>
          <p:nvPr/>
        </p:nvSpPr>
        <p:spPr>
          <a:xfrm>
            <a:off x="960120" y="3966667"/>
            <a:ext cx="3370263" cy="616306"/>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لغة الإشارة والصوت وتوجيه الأوامر</a:t>
            </a:r>
            <a:endParaRPr lang="ar-SA" sz="2100" dirty="0"/>
          </a:p>
        </p:txBody>
      </p:sp>
      <p:sp>
        <p:nvSpPr>
          <p:cNvPr id="29" name="anim-g4-131"/>
          <p:cNvSpPr/>
          <p:nvPr/>
        </p:nvSpPr>
        <p:spPr>
          <a:xfrm>
            <a:off x="8939013" y="4692701"/>
            <a:ext cx="2429722" cy="616306"/>
          </a:xfrm>
          <a:prstGeom prst="roundRect">
            <a:avLst>
              <a:gd name="adj" fmla="val 17804"/>
            </a:avLst>
          </a:prstGeom>
          <a:solidFill>
            <a:srgbClr val="FBF3DF"/>
          </a:solidFill>
          <a:ln w="12700">
            <a:solidFill>
              <a:srgbClr val="EFDDAF"/>
            </a:solidFill>
            <a:prstDash val="solid"/>
          </a:ln>
        </p:spPr>
      </p:sp>
      <p:sp>
        <p:nvSpPr>
          <p:cNvPr id="30" name="anim-g4-132"/>
          <p:cNvSpPr/>
          <p:nvPr/>
        </p:nvSpPr>
        <p:spPr>
          <a:xfrm>
            <a:off x="9076173" y="4692701"/>
            <a:ext cx="2155402" cy="616306"/>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 العين</a:t>
            </a:r>
            <a:endParaRPr lang="ar-SA" sz="2100" dirty="0"/>
          </a:p>
        </p:txBody>
      </p:sp>
      <p:sp>
        <p:nvSpPr>
          <p:cNvPr id="31" name="anim-g4-133"/>
          <p:cNvSpPr/>
          <p:nvPr/>
        </p:nvSpPr>
        <p:spPr>
          <a:xfrm>
            <a:off x="4577271" y="4692701"/>
            <a:ext cx="4252014" cy="616306"/>
          </a:xfrm>
          <a:prstGeom prst="roundRect">
            <a:avLst>
              <a:gd name="adj" fmla="val 17804"/>
            </a:avLst>
          </a:prstGeom>
          <a:solidFill>
            <a:srgbClr val="FFFFFF"/>
          </a:solidFill>
          <a:ln w="12700">
            <a:solidFill>
              <a:srgbClr val="E4DCC8"/>
            </a:solidFill>
            <a:prstDash val="solid"/>
          </a:ln>
        </p:spPr>
      </p:sp>
      <p:sp>
        <p:nvSpPr>
          <p:cNvPr id="32" name="anim-g4-134"/>
          <p:cNvSpPr/>
          <p:nvPr/>
        </p:nvSpPr>
        <p:spPr>
          <a:xfrm>
            <a:off x="4714431" y="4692701"/>
            <a:ext cx="3977694" cy="616306"/>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كاميرا + حاسوب (بايثون)</a:t>
            </a:r>
            <a:endParaRPr lang="ar-SA" sz="2100" dirty="0"/>
          </a:p>
        </p:txBody>
      </p:sp>
      <p:sp>
        <p:nvSpPr>
          <p:cNvPr id="33" name="anim-g4-135"/>
          <p:cNvSpPr/>
          <p:nvPr/>
        </p:nvSpPr>
        <p:spPr>
          <a:xfrm>
            <a:off x="822960" y="4692701"/>
            <a:ext cx="3644583" cy="616306"/>
          </a:xfrm>
          <a:prstGeom prst="roundRect">
            <a:avLst>
              <a:gd name="adj" fmla="val 17804"/>
            </a:avLst>
          </a:prstGeom>
          <a:solidFill>
            <a:srgbClr val="E6F4EC"/>
          </a:solidFill>
          <a:ln w="12700">
            <a:solidFill>
              <a:srgbClr val="CDE9D9"/>
            </a:solidFill>
            <a:prstDash val="solid"/>
          </a:ln>
        </p:spPr>
      </p:sp>
      <p:sp>
        <p:nvSpPr>
          <p:cNvPr id="34" name="anim-g4-136"/>
          <p:cNvSpPr/>
          <p:nvPr/>
        </p:nvSpPr>
        <p:spPr>
          <a:xfrm>
            <a:off x="960120" y="4692701"/>
            <a:ext cx="3370263" cy="616306"/>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تحويل النظرة إلى أمر</a:t>
            </a:r>
            <a:endParaRPr lang="ar-SA" sz="2100" dirty="0"/>
          </a:p>
        </p:txBody>
      </p:sp>
      <p:sp>
        <p:nvSpPr>
          <p:cNvPr id="35" name="anim-g5-137"/>
          <p:cNvSpPr/>
          <p:nvPr/>
        </p:nvSpPr>
        <p:spPr>
          <a:xfrm>
            <a:off x="8939013" y="5418734"/>
            <a:ext cx="2429722" cy="616306"/>
          </a:xfrm>
          <a:prstGeom prst="roundRect">
            <a:avLst>
              <a:gd name="adj" fmla="val 17804"/>
            </a:avLst>
          </a:prstGeom>
          <a:solidFill>
            <a:srgbClr val="FBF3DF"/>
          </a:solidFill>
          <a:ln w="12700">
            <a:solidFill>
              <a:srgbClr val="EFDDAF"/>
            </a:solidFill>
            <a:prstDash val="solid"/>
          </a:ln>
        </p:spPr>
      </p:sp>
      <p:sp>
        <p:nvSpPr>
          <p:cNvPr id="36" name="anim-g5-138"/>
          <p:cNvSpPr/>
          <p:nvPr/>
        </p:nvSpPr>
        <p:spPr>
          <a:xfrm>
            <a:off x="9076173" y="5418734"/>
            <a:ext cx="2155402" cy="616306"/>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 الكرسي</a:t>
            </a:r>
            <a:endParaRPr lang="ar-SA" sz="2100" dirty="0"/>
          </a:p>
        </p:txBody>
      </p:sp>
      <p:sp>
        <p:nvSpPr>
          <p:cNvPr id="37" name="anim-g5-139"/>
          <p:cNvSpPr/>
          <p:nvPr/>
        </p:nvSpPr>
        <p:spPr>
          <a:xfrm>
            <a:off x="4577271" y="5418734"/>
            <a:ext cx="4252014" cy="616306"/>
          </a:xfrm>
          <a:prstGeom prst="roundRect">
            <a:avLst>
              <a:gd name="adj" fmla="val 17804"/>
            </a:avLst>
          </a:prstGeom>
          <a:solidFill>
            <a:srgbClr val="FFFFFF"/>
          </a:solidFill>
          <a:ln w="12700">
            <a:solidFill>
              <a:srgbClr val="E4DCC8"/>
            </a:solidFill>
            <a:prstDash val="solid"/>
          </a:ln>
        </p:spPr>
      </p:sp>
      <p:sp>
        <p:nvSpPr>
          <p:cNvPr id="38" name="anim-g5-140"/>
          <p:cNvSpPr/>
          <p:nvPr/>
        </p:nvSpPr>
        <p:spPr>
          <a:xfrm>
            <a:off x="4714431" y="5418734"/>
            <a:ext cx="3977694" cy="616306"/>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LEGO SPIKE Prime</a:t>
            </a:r>
            <a:endParaRPr lang="ar-SA" sz="2100" dirty="0"/>
          </a:p>
        </p:txBody>
      </p:sp>
      <p:sp>
        <p:nvSpPr>
          <p:cNvPr id="39" name="anim-g5-141"/>
          <p:cNvSpPr/>
          <p:nvPr/>
        </p:nvSpPr>
        <p:spPr>
          <a:xfrm>
            <a:off x="822960" y="5418734"/>
            <a:ext cx="3644583" cy="616306"/>
          </a:xfrm>
          <a:prstGeom prst="roundRect">
            <a:avLst>
              <a:gd name="adj" fmla="val 17804"/>
            </a:avLst>
          </a:prstGeom>
          <a:solidFill>
            <a:srgbClr val="E6F4EC"/>
          </a:solidFill>
          <a:ln w="12700">
            <a:solidFill>
              <a:srgbClr val="CDE9D9"/>
            </a:solidFill>
            <a:prstDash val="solid"/>
          </a:ln>
        </p:spPr>
      </p:sp>
      <p:sp>
        <p:nvSpPr>
          <p:cNvPr id="40" name="anim-g5-142"/>
          <p:cNvSpPr/>
          <p:nvPr/>
        </p:nvSpPr>
        <p:spPr>
          <a:xfrm>
            <a:off x="960120" y="5418734"/>
            <a:ext cx="3370263" cy="616306"/>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تقريب الزائر من المجسّم</a:t>
            </a:r>
            <a:endParaRPr lang="ar-SA" sz="2100" dirty="0"/>
          </a:p>
        </p:txBody>
      </p:sp>
      <p:sp>
        <p:nvSpPr>
          <p:cNvPr id="41" name="Text 39"/>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42" name="Text 40"/>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المنظومة كاملة  ·  ١٥</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400"/>
                                        <p:tgtEl>
                                          <p:spTgt spid="14"/>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5"/>
                                        </p:tgtEl>
                                        <p:attrNameLst>
                                          <p:attrName>style.visibility</p:attrName>
                                        </p:attrNameLst>
                                      </p:cBhvr>
                                      <p:to>
                                        <p:strVal val="visible"/>
                                      </p:to>
                                    </p:set>
                                    <p:animEffect transition="in" filter="fade">
                                      <p:cBhvr>
                                        <p:cTn id="19" dur="400"/>
                                        <p:tgtEl>
                                          <p:spTgt spid="15"/>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400"/>
                                        <p:tgtEl>
                                          <p:spTgt spid="1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400"/>
                                        <p:tgtEl>
                                          <p:spTgt spid="17"/>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400"/>
                                        <p:tgtEl>
                                          <p:spTgt spid="18"/>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9"/>
                                        </p:tgtEl>
                                        <p:attrNameLst>
                                          <p:attrName>style.visibility</p:attrName>
                                        </p:attrNameLst>
                                      </p:cBhvr>
                                      <p:to>
                                        <p:strVal val="visible"/>
                                      </p:to>
                                    </p:set>
                                    <p:animEffect transition="in" filter="fade">
                                      <p:cBhvr>
                                        <p:cTn id="33" dur="400"/>
                                        <p:tgtEl>
                                          <p:spTgt spid="19"/>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0"/>
                                        </p:tgtEl>
                                        <p:attrNameLst>
                                          <p:attrName>style.visibility</p:attrName>
                                        </p:attrNameLst>
                                      </p:cBhvr>
                                      <p:to>
                                        <p:strVal val="visible"/>
                                      </p:to>
                                    </p:set>
                                    <p:animEffect transition="in" filter="fade">
                                      <p:cBhvr>
                                        <p:cTn id="36" dur="400"/>
                                        <p:tgtEl>
                                          <p:spTgt spid="20"/>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400"/>
                                        <p:tgtEl>
                                          <p:spTgt spid="21"/>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2"/>
                                        </p:tgtEl>
                                        <p:attrNameLst>
                                          <p:attrName>style.visibility</p:attrName>
                                        </p:attrNameLst>
                                      </p:cBhvr>
                                      <p:to>
                                        <p:strVal val="visible"/>
                                      </p:to>
                                    </p:set>
                                    <p:animEffect transition="in" filter="fade">
                                      <p:cBhvr>
                                        <p:cTn id="42" dur="400"/>
                                        <p:tgtEl>
                                          <p:spTgt spid="22"/>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400"/>
                                        <p:tgtEl>
                                          <p:spTgt spid="23"/>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400"/>
                                        <p:tgtEl>
                                          <p:spTgt spid="24"/>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400"/>
                                        <p:tgtEl>
                                          <p:spTgt spid="25"/>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26"/>
                                        </p:tgtEl>
                                        <p:attrNameLst>
                                          <p:attrName>style.visibility</p:attrName>
                                        </p:attrNameLst>
                                      </p:cBhvr>
                                      <p:to>
                                        <p:strVal val="visible"/>
                                      </p:to>
                                    </p:set>
                                    <p:animEffect transition="in" filter="fade">
                                      <p:cBhvr>
                                        <p:cTn id="56" dur="400"/>
                                        <p:tgtEl>
                                          <p:spTgt spid="26"/>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7"/>
                                        </p:tgtEl>
                                        <p:attrNameLst>
                                          <p:attrName>style.visibility</p:attrName>
                                        </p:attrNameLst>
                                      </p:cBhvr>
                                      <p:to>
                                        <p:strVal val="visible"/>
                                      </p:to>
                                    </p:set>
                                    <p:animEffect transition="in" filter="fade">
                                      <p:cBhvr>
                                        <p:cTn id="59" dur="400"/>
                                        <p:tgtEl>
                                          <p:spTgt spid="27"/>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8"/>
                                        </p:tgtEl>
                                        <p:attrNameLst>
                                          <p:attrName>style.visibility</p:attrName>
                                        </p:attrNameLst>
                                      </p:cBhvr>
                                      <p:to>
                                        <p:strVal val="visible"/>
                                      </p:to>
                                    </p:set>
                                    <p:animEffect transition="in" filter="fade">
                                      <p:cBhvr>
                                        <p:cTn id="62" dur="400"/>
                                        <p:tgtEl>
                                          <p:spTgt spid="28"/>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grpId="0" nodeType="clickEffect">
                                  <p:stCondLst>
                                    <p:cond delay="0"/>
                                  </p:stCondLst>
                                  <p:childTnLst>
                                    <p:set>
                                      <p:cBhvr>
                                        <p:cTn id="66" dur="1" fill="hold">
                                          <p:stCondLst>
                                            <p:cond delay="0"/>
                                          </p:stCondLst>
                                        </p:cTn>
                                        <p:tgtEl>
                                          <p:spTgt spid="29"/>
                                        </p:tgtEl>
                                        <p:attrNameLst>
                                          <p:attrName>style.visibility</p:attrName>
                                        </p:attrNameLst>
                                      </p:cBhvr>
                                      <p:to>
                                        <p:strVal val="visible"/>
                                      </p:to>
                                    </p:set>
                                    <p:animEffect transition="in" filter="fade">
                                      <p:cBhvr>
                                        <p:cTn id="67" dur="400"/>
                                        <p:tgtEl>
                                          <p:spTgt spid="29"/>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30"/>
                                        </p:tgtEl>
                                        <p:attrNameLst>
                                          <p:attrName>style.visibility</p:attrName>
                                        </p:attrNameLst>
                                      </p:cBhvr>
                                      <p:to>
                                        <p:strVal val="visible"/>
                                      </p:to>
                                    </p:set>
                                    <p:animEffect transition="in" filter="fade">
                                      <p:cBhvr>
                                        <p:cTn id="70" dur="400"/>
                                        <p:tgtEl>
                                          <p:spTgt spid="30"/>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31"/>
                                        </p:tgtEl>
                                        <p:attrNameLst>
                                          <p:attrName>style.visibility</p:attrName>
                                        </p:attrNameLst>
                                      </p:cBhvr>
                                      <p:to>
                                        <p:strVal val="visible"/>
                                      </p:to>
                                    </p:set>
                                    <p:animEffect transition="in" filter="fade">
                                      <p:cBhvr>
                                        <p:cTn id="73" dur="400"/>
                                        <p:tgtEl>
                                          <p:spTgt spid="31"/>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32"/>
                                        </p:tgtEl>
                                        <p:attrNameLst>
                                          <p:attrName>style.visibility</p:attrName>
                                        </p:attrNameLst>
                                      </p:cBhvr>
                                      <p:to>
                                        <p:strVal val="visible"/>
                                      </p:to>
                                    </p:set>
                                    <p:animEffect transition="in" filter="fade">
                                      <p:cBhvr>
                                        <p:cTn id="76" dur="400"/>
                                        <p:tgtEl>
                                          <p:spTgt spid="32"/>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33"/>
                                        </p:tgtEl>
                                        <p:attrNameLst>
                                          <p:attrName>style.visibility</p:attrName>
                                        </p:attrNameLst>
                                      </p:cBhvr>
                                      <p:to>
                                        <p:strVal val="visible"/>
                                      </p:to>
                                    </p:set>
                                    <p:animEffect transition="in" filter="fade">
                                      <p:cBhvr>
                                        <p:cTn id="79" dur="400"/>
                                        <p:tgtEl>
                                          <p:spTgt spid="33"/>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34"/>
                                        </p:tgtEl>
                                        <p:attrNameLst>
                                          <p:attrName>style.visibility</p:attrName>
                                        </p:attrNameLst>
                                      </p:cBhvr>
                                      <p:to>
                                        <p:strVal val="visible"/>
                                      </p:to>
                                    </p:set>
                                    <p:animEffect transition="in" filter="fade">
                                      <p:cBhvr>
                                        <p:cTn id="82" dur="400"/>
                                        <p:tgtEl>
                                          <p:spTgt spid="34"/>
                                        </p:tgtEl>
                                      </p:cBhvr>
                                    </p:animEffect>
                                  </p:childTnLst>
                                </p:cTn>
                              </p:par>
                            </p:childTnLst>
                          </p:cTn>
                        </p:par>
                      </p:childTnLst>
                    </p:cTn>
                  </p:par>
                  <p:par>
                    <p:cTn id="83" fill="hold">
                      <p:stCondLst>
                        <p:cond delay="indefinite"/>
                      </p:stCondLst>
                      <p:childTnLst>
                        <p:par>
                          <p:cTn id="84" fill="hold">
                            <p:stCondLst>
                              <p:cond delay="0"/>
                            </p:stCondLst>
                            <p:childTnLst>
                              <p:par>
                                <p:cTn id="85" presetID="10" presetClass="entr" presetSubtype="0" fill="hold" grpId="0" nodeType="clickEffect">
                                  <p:stCondLst>
                                    <p:cond delay="0"/>
                                  </p:stCondLst>
                                  <p:childTnLst>
                                    <p:set>
                                      <p:cBhvr>
                                        <p:cTn id="86" dur="1" fill="hold">
                                          <p:stCondLst>
                                            <p:cond delay="0"/>
                                          </p:stCondLst>
                                        </p:cTn>
                                        <p:tgtEl>
                                          <p:spTgt spid="35"/>
                                        </p:tgtEl>
                                        <p:attrNameLst>
                                          <p:attrName>style.visibility</p:attrName>
                                        </p:attrNameLst>
                                      </p:cBhvr>
                                      <p:to>
                                        <p:strVal val="visible"/>
                                      </p:to>
                                    </p:set>
                                    <p:animEffect transition="in" filter="fade">
                                      <p:cBhvr>
                                        <p:cTn id="87" dur="400"/>
                                        <p:tgtEl>
                                          <p:spTgt spid="35"/>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36"/>
                                        </p:tgtEl>
                                        <p:attrNameLst>
                                          <p:attrName>style.visibility</p:attrName>
                                        </p:attrNameLst>
                                      </p:cBhvr>
                                      <p:to>
                                        <p:strVal val="visible"/>
                                      </p:to>
                                    </p:set>
                                    <p:animEffect transition="in" filter="fade">
                                      <p:cBhvr>
                                        <p:cTn id="90" dur="400"/>
                                        <p:tgtEl>
                                          <p:spTgt spid="36"/>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37"/>
                                        </p:tgtEl>
                                        <p:attrNameLst>
                                          <p:attrName>style.visibility</p:attrName>
                                        </p:attrNameLst>
                                      </p:cBhvr>
                                      <p:to>
                                        <p:strVal val="visible"/>
                                      </p:to>
                                    </p:set>
                                    <p:animEffect transition="in" filter="fade">
                                      <p:cBhvr>
                                        <p:cTn id="93" dur="400"/>
                                        <p:tgtEl>
                                          <p:spTgt spid="37"/>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38"/>
                                        </p:tgtEl>
                                        <p:attrNameLst>
                                          <p:attrName>style.visibility</p:attrName>
                                        </p:attrNameLst>
                                      </p:cBhvr>
                                      <p:to>
                                        <p:strVal val="visible"/>
                                      </p:to>
                                    </p:set>
                                    <p:animEffect transition="in" filter="fade">
                                      <p:cBhvr>
                                        <p:cTn id="96" dur="400"/>
                                        <p:tgtEl>
                                          <p:spTgt spid="38"/>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9"/>
                                        </p:tgtEl>
                                        <p:attrNameLst>
                                          <p:attrName>style.visibility</p:attrName>
                                        </p:attrNameLst>
                                      </p:cBhvr>
                                      <p:to>
                                        <p:strVal val="visible"/>
                                      </p:to>
                                    </p:set>
                                    <p:animEffect transition="in" filter="fade">
                                      <p:cBhvr>
                                        <p:cTn id="99" dur="400"/>
                                        <p:tgtEl>
                                          <p:spTgt spid="39"/>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40"/>
                                        </p:tgtEl>
                                        <p:attrNameLst>
                                          <p:attrName>style.visibility</p:attrName>
                                        </p:attrNameLst>
                                      </p:cBhvr>
                                      <p:to>
                                        <p:strVal val="visible"/>
                                      </p:to>
                                    </p:set>
                                    <p:animEffect transition="in" filter="fade">
                                      <p:cBhvr>
                                        <p:cTn id="102"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881567" y="457200"/>
            <a:ext cx="2487168" cy="457200"/>
          </a:xfrm>
          <a:prstGeom prst="roundRect">
            <a:avLst>
              <a:gd name="adj" fmla="val 50000"/>
            </a:avLst>
          </a:prstGeom>
          <a:solidFill>
            <a:srgbClr val="F6EBCF"/>
          </a:solidFill>
          <a:ln/>
        </p:spPr>
      </p:sp>
      <p:sp>
        <p:nvSpPr>
          <p:cNvPr id="3" name="Text 1"/>
          <p:cNvSpPr/>
          <p:nvPr/>
        </p:nvSpPr>
        <p:spPr>
          <a:xfrm>
            <a:off x="8881567" y="45720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اختبر نفسك</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لماذا لا يشغّل ESP32 الفيديو بنفسه؟</a:t>
            </a:r>
            <a:endParaRPr lang="ar-SA" sz="3200" dirty="0"/>
          </a:p>
        </p:txBody>
      </p:sp>
      <p:sp>
        <p:nvSpPr>
          <p:cNvPr id="5" name="Shape 3"/>
          <p:cNvSpPr/>
          <p:nvPr/>
        </p:nvSpPr>
        <p:spPr>
          <a:xfrm>
            <a:off x="822960" y="2057400"/>
            <a:ext cx="10545775" cy="1228344"/>
          </a:xfrm>
          <a:prstGeom prst="roundRect">
            <a:avLst>
              <a:gd name="adj" fmla="val 11911"/>
            </a:avLst>
          </a:prstGeom>
          <a:solidFill>
            <a:srgbClr val="FFFFFF"/>
          </a:solidFill>
          <a:ln w="19050">
            <a:solidFill>
              <a:srgbClr val="E4DCC8"/>
            </a:solidFill>
            <a:prstDash val="solid"/>
          </a:ln>
        </p:spPr>
      </p:sp>
      <p:sp>
        <p:nvSpPr>
          <p:cNvPr id="6" name="Shape 4"/>
          <p:cNvSpPr/>
          <p:nvPr/>
        </p:nvSpPr>
        <p:spPr>
          <a:xfrm>
            <a:off x="10231831" y="2194560"/>
            <a:ext cx="954024" cy="954024"/>
          </a:xfrm>
          <a:prstGeom prst="roundRect">
            <a:avLst>
              <a:gd name="adj" fmla="val 11502"/>
            </a:avLst>
          </a:prstGeom>
          <a:solidFill>
            <a:srgbClr val="101B45"/>
          </a:solidFill>
          <a:ln/>
        </p:spPr>
      </p:sp>
      <p:sp>
        <p:nvSpPr>
          <p:cNvPr id="7" name="Text 5"/>
          <p:cNvSpPr/>
          <p:nvPr/>
        </p:nvSpPr>
        <p:spPr>
          <a:xfrm>
            <a:off x="10231831" y="2194560"/>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8" name="Text 6"/>
          <p:cNvSpPr/>
          <p:nvPr/>
        </p:nvSpPr>
        <p:spPr>
          <a:xfrm>
            <a:off x="1097280" y="2057400"/>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لأنه لا يتصل بالشبكة</a:t>
            </a:r>
            <a:endParaRPr lang="ar-SA" sz="2500" dirty="0"/>
          </a:p>
        </p:txBody>
      </p:sp>
      <p:sp>
        <p:nvSpPr>
          <p:cNvPr id="9" name="anim-g1-143"/>
          <p:cNvSpPr/>
          <p:nvPr/>
        </p:nvSpPr>
        <p:spPr>
          <a:xfrm>
            <a:off x="822960" y="2057400"/>
            <a:ext cx="10545775" cy="1228344"/>
          </a:xfrm>
          <a:prstGeom prst="roundRect">
            <a:avLst>
              <a:gd name="adj" fmla="val 11911"/>
            </a:avLst>
          </a:prstGeom>
          <a:solidFill>
            <a:srgbClr val="F7F7F9"/>
          </a:solidFill>
          <a:ln w="19050">
            <a:solidFill>
              <a:srgbClr val="E4DCC8"/>
            </a:solidFill>
            <a:prstDash val="solid"/>
          </a:ln>
        </p:spPr>
      </p:sp>
      <p:sp>
        <p:nvSpPr>
          <p:cNvPr id="10" name="anim-g1-144"/>
          <p:cNvSpPr/>
          <p:nvPr/>
        </p:nvSpPr>
        <p:spPr>
          <a:xfrm>
            <a:off x="10231831" y="2194560"/>
            <a:ext cx="954024" cy="954024"/>
          </a:xfrm>
          <a:prstGeom prst="roundRect">
            <a:avLst>
              <a:gd name="adj" fmla="val 11502"/>
            </a:avLst>
          </a:prstGeom>
          <a:solidFill>
            <a:srgbClr val="A3A9BA"/>
          </a:solidFill>
          <a:ln/>
        </p:spPr>
      </p:sp>
      <p:sp>
        <p:nvSpPr>
          <p:cNvPr id="11" name="anim-g1-145"/>
          <p:cNvSpPr/>
          <p:nvPr/>
        </p:nvSpPr>
        <p:spPr>
          <a:xfrm>
            <a:off x="10231831" y="2194560"/>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12" name="anim-g1-146"/>
          <p:cNvSpPr/>
          <p:nvPr/>
        </p:nvSpPr>
        <p:spPr>
          <a:xfrm>
            <a:off x="1097280" y="2093976"/>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8A90A3"/>
                </a:solidFill>
                <a:latin typeface="Cairo" pitchFamily="34" charset="0"/>
                <a:ea typeface="Cairo" pitchFamily="34" charset="-122"/>
                <a:cs typeface="Cairo" pitchFamily="34" charset="-120"/>
              </a:rPr>
              <a:t>لأنه لا يتصل بالشبكة</a:t>
            </a:r>
            <a:endParaRPr lang="ar-SA" sz="2400" dirty="0"/>
          </a:p>
        </p:txBody>
      </p:sp>
      <p:sp>
        <p:nvSpPr>
          <p:cNvPr id="13" name="anim-g1-147"/>
          <p:cNvSpPr/>
          <p:nvPr/>
        </p:nvSpPr>
        <p:spPr>
          <a:xfrm>
            <a:off x="1097280" y="2720706"/>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بل يتصل بالواي فاي جيدًا</a:t>
            </a:r>
            <a:endParaRPr lang="ar-SA" sz="1800" dirty="0"/>
          </a:p>
        </p:txBody>
      </p:sp>
      <p:sp>
        <p:nvSpPr>
          <p:cNvPr id="14" name="Shape 12"/>
          <p:cNvSpPr/>
          <p:nvPr/>
        </p:nvSpPr>
        <p:spPr>
          <a:xfrm>
            <a:off x="822960" y="3432048"/>
            <a:ext cx="10545775" cy="1228344"/>
          </a:xfrm>
          <a:prstGeom prst="roundRect">
            <a:avLst>
              <a:gd name="adj" fmla="val 11911"/>
            </a:avLst>
          </a:prstGeom>
          <a:solidFill>
            <a:srgbClr val="FFFFFF"/>
          </a:solidFill>
          <a:ln w="19050">
            <a:solidFill>
              <a:srgbClr val="E4DCC8"/>
            </a:solidFill>
            <a:prstDash val="solid"/>
          </a:ln>
        </p:spPr>
      </p:sp>
      <p:sp>
        <p:nvSpPr>
          <p:cNvPr id="15" name="Shape 13"/>
          <p:cNvSpPr/>
          <p:nvPr/>
        </p:nvSpPr>
        <p:spPr>
          <a:xfrm>
            <a:off x="10231831" y="3569208"/>
            <a:ext cx="954024" cy="954024"/>
          </a:xfrm>
          <a:prstGeom prst="roundRect">
            <a:avLst>
              <a:gd name="adj" fmla="val 11502"/>
            </a:avLst>
          </a:prstGeom>
          <a:solidFill>
            <a:srgbClr val="101B45"/>
          </a:solidFill>
          <a:ln/>
        </p:spPr>
      </p:sp>
      <p:sp>
        <p:nvSpPr>
          <p:cNvPr id="16" name="Text 14"/>
          <p:cNvSpPr/>
          <p:nvPr/>
        </p:nvSpPr>
        <p:spPr>
          <a:xfrm>
            <a:off x="10231831" y="3569208"/>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17" name="Text 15"/>
          <p:cNvSpPr/>
          <p:nvPr/>
        </p:nvSpPr>
        <p:spPr>
          <a:xfrm>
            <a:off x="1097280" y="3432048"/>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لأنه متحكم صغير لا يشغّل فيديو عالي الدقة، فهذه مهمة حاسوب كالراسبيري</a:t>
            </a:r>
            <a:endParaRPr lang="ar-SA" sz="2500" dirty="0"/>
          </a:p>
        </p:txBody>
      </p:sp>
      <p:sp>
        <p:nvSpPr>
          <p:cNvPr id="18" name="anim-g1-148"/>
          <p:cNvSpPr/>
          <p:nvPr/>
        </p:nvSpPr>
        <p:spPr>
          <a:xfrm>
            <a:off x="822960" y="3432048"/>
            <a:ext cx="10545775" cy="1228344"/>
          </a:xfrm>
          <a:prstGeom prst="roundRect">
            <a:avLst>
              <a:gd name="adj" fmla="val 11911"/>
            </a:avLst>
          </a:prstGeom>
          <a:solidFill>
            <a:srgbClr val="E6F4EC"/>
          </a:solidFill>
          <a:ln w="31750">
            <a:solidFill>
              <a:srgbClr val="2E9E6B"/>
            </a:solidFill>
            <a:prstDash val="solid"/>
          </a:ln>
        </p:spPr>
      </p:sp>
      <p:sp>
        <p:nvSpPr>
          <p:cNvPr id="19" name="anim-g1-149"/>
          <p:cNvSpPr/>
          <p:nvPr/>
        </p:nvSpPr>
        <p:spPr>
          <a:xfrm>
            <a:off x="10231831" y="3569208"/>
            <a:ext cx="954024" cy="954024"/>
          </a:xfrm>
          <a:prstGeom prst="roundRect">
            <a:avLst>
              <a:gd name="adj" fmla="val 11502"/>
            </a:avLst>
          </a:prstGeom>
          <a:solidFill>
            <a:srgbClr val="2E9E6B"/>
          </a:solidFill>
          <a:ln/>
        </p:spPr>
      </p:sp>
      <p:sp>
        <p:nvSpPr>
          <p:cNvPr id="20" name="anim-g1-150"/>
          <p:cNvSpPr/>
          <p:nvPr/>
        </p:nvSpPr>
        <p:spPr>
          <a:xfrm>
            <a:off x="10231831" y="3569208"/>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a:t>
            </a:r>
            <a:endParaRPr lang="ar-SA" sz="2400" dirty="0"/>
          </a:p>
        </p:txBody>
      </p:sp>
      <p:sp>
        <p:nvSpPr>
          <p:cNvPr id="21" name="anim-g1-151"/>
          <p:cNvSpPr/>
          <p:nvPr/>
        </p:nvSpPr>
        <p:spPr>
          <a:xfrm>
            <a:off x="1097280" y="3468624"/>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131B34"/>
                </a:solidFill>
                <a:latin typeface="Cairo" pitchFamily="34" charset="0"/>
                <a:ea typeface="Cairo" pitchFamily="34" charset="-122"/>
                <a:cs typeface="Cairo" pitchFamily="34" charset="-120"/>
              </a:rPr>
              <a:t>لأنه متحكم صغير لا يشغّل فيديو عالي الدقة، فهذه مهمة حاسوب كالراسبيري</a:t>
            </a:r>
            <a:endParaRPr lang="ar-SA" sz="2400" dirty="0"/>
          </a:p>
        </p:txBody>
      </p:sp>
      <p:sp>
        <p:nvSpPr>
          <p:cNvPr id="22" name="anim-g1-152"/>
          <p:cNvSpPr/>
          <p:nvPr/>
        </p:nvSpPr>
        <p:spPr>
          <a:xfrm>
            <a:off x="1097280" y="4095354"/>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1D5E40"/>
                </a:solidFill>
                <a:latin typeface="Cairo" pitchFamily="34" charset="0"/>
                <a:ea typeface="Cairo" pitchFamily="34" charset="-122"/>
                <a:cs typeface="Cairo" pitchFamily="34" charset="-120"/>
              </a:rPr>
              <a:t>صحيح: المتحكم للحساسات والمحركات، والحاسوب للفيديو والصوت</a:t>
            </a:r>
            <a:endParaRPr lang="ar-SA" sz="1800" dirty="0"/>
          </a:p>
        </p:txBody>
      </p:sp>
      <p:sp>
        <p:nvSpPr>
          <p:cNvPr id="23" name="Shape 21"/>
          <p:cNvSpPr/>
          <p:nvPr/>
        </p:nvSpPr>
        <p:spPr>
          <a:xfrm>
            <a:off x="822960" y="4806696"/>
            <a:ext cx="10545775" cy="1228344"/>
          </a:xfrm>
          <a:prstGeom prst="roundRect">
            <a:avLst>
              <a:gd name="adj" fmla="val 11911"/>
            </a:avLst>
          </a:prstGeom>
          <a:solidFill>
            <a:srgbClr val="FFFFFF"/>
          </a:solidFill>
          <a:ln w="19050">
            <a:solidFill>
              <a:srgbClr val="E4DCC8"/>
            </a:solidFill>
            <a:prstDash val="solid"/>
          </a:ln>
        </p:spPr>
      </p:sp>
      <p:sp>
        <p:nvSpPr>
          <p:cNvPr id="24" name="Shape 22"/>
          <p:cNvSpPr/>
          <p:nvPr/>
        </p:nvSpPr>
        <p:spPr>
          <a:xfrm>
            <a:off x="10231831" y="4943856"/>
            <a:ext cx="954024" cy="954024"/>
          </a:xfrm>
          <a:prstGeom prst="roundRect">
            <a:avLst>
              <a:gd name="adj" fmla="val 11502"/>
            </a:avLst>
          </a:prstGeom>
          <a:solidFill>
            <a:srgbClr val="101B45"/>
          </a:solidFill>
          <a:ln/>
        </p:spPr>
      </p:sp>
      <p:sp>
        <p:nvSpPr>
          <p:cNvPr id="25" name="Text 23"/>
          <p:cNvSpPr/>
          <p:nvPr/>
        </p:nvSpPr>
        <p:spPr>
          <a:xfrm>
            <a:off x="10231831" y="4943856"/>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26" name="Text 24"/>
          <p:cNvSpPr/>
          <p:nvPr/>
        </p:nvSpPr>
        <p:spPr>
          <a:xfrm>
            <a:off x="1097280" y="4806696"/>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لأن الفيديو ممنوع في المسابقة</a:t>
            </a:r>
            <a:endParaRPr lang="ar-SA" sz="2500" dirty="0"/>
          </a:p>
        </p:txBody>
      </p:sp>
      <p:sp>
        <p:nvSpPr>
          <p:cNvPr id="27" name="anim-g1-153"/>
          <p:cNvSpPr/>
          <p:nvPr/>
        </p:nvSpPr>
        <p:spPr>
          <a:xfrm>
            <a:off x="822960" y="4806696"/>
            <a:ext cx="10545775" cy="1228344"/>
          </a:xfrm>
          <a:prstGeom prst="roundRect">
            <a:avLst>
              <a:gd name="adj" fmla="val 11911"/>
            </a:avLst>
          </a:prstGeom>
          <a:solidFill>
            <a:srgbClr val="F7F7F9"/>
          </a:solidFill>
          <a:ln w="19050">
            <a:solidFill>
              <a:srgbClr val="E4DCC8"/>
            </a:solidFill>
            <a:prstDash val="solid"/>
          </a:ln>
        </p:spPr>
      </p:sp>
      <p:sp>
        <p:nvSpPr>
          <p:cNvPr id="28" name="anim-g1-154"/>
          <p:cNvSpPr/>
          <p:nvPr/>
        </p:nvSpPr>
        <p:spPr>
          <a:xfrm>
            <a:off x="10231831" y="4943856"/>
            <a:ext cx="954024" cy="954024"/>
          </a:xfrm>
          <a:prstGeom prst="roundRect">
            <a:avLst>
              <a:gd name="adj" fmla="val 11502"/>
            </a:avLst>
          </a:prstGeom>
          <a:solidFill>
            <a:srgbClr val="A3A9BA"/>
          </a:solidFill>
          <a:ln/>
        </p:spPr>
      </p:sp>
      <p:sp>
        <p:nvSpPr>
          <p:cNvPr id="29" name="anim-g1-155"/>
          <p:cNvSpPr/>
          <p:nvPr/>
        </p:nvSpPr>
        <p:spPr>
          <a:xfrm>
            <a:off x="10231831" y="4943856"/>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30" name="anim-g1-156"/>
          <p:cNvSpPr/>
          <p:nvPr/>
        </p:nvSpPr>
        <p:spPr>
          <a:xfrm>
            <a:off x="1097280" y="4843272"/>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8A90A3"/>
                </a:solidFill>
                <a:latin typeface="Cairo" pitchFamily="34" charset="0"/>
                <a:ea typeface="Cairo" pitchFamily="34" charset="-122"/>
                <a:cs typeface="Cairo" pitchFamily="34" charset="-120"/>
              </a:rPr>
              <a:t>لأن الفيديو ممنوع في المسابقة</a:t>
            </a:r>
            <a:endParaRPr lang="ar-SA" sz="2400" dirty="0"/>
          </a:p>
        </p:txBody>
      </p:sp>
      <p:sp>
        <p:nvSpPr>
          <p:cNvPr id="31" name="anim-g1-157"/>
          <p:cNvSpPr/>
          <p:nvPr/>
        </p:nvSpPr>
        <p:spPr>
          <a:xfrm>
            <a:off x="1097280" y="5470002"/>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لا يوجد منع كهذا</a:t>
            </a:r>
            <a:endParaRPr lang="ar-SA" sz="1800" dirty="0"/>
          </a:p>
        </p:txBody>
      </p:sp>
      <p:sp>
        <p:nvSpPr>
          <p:cNvPr id="32" name="Text 3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33" name="Text 3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المنظومة كاملة  ·  ١٦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خلاصة المحور</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عين ترى، وعقل يوجّه، ويد تدير، وضوء يرشد: أربعة أجهزة…</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وتجربة واحدة لكل زائر</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لمسة تراث</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 المنظومة كاملة  ·  ١٧</a:t>
            </a:r>
            <a:endParaRPr lang="ar-SA"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097280" y="2103120"/>
            <a:ext cx="2651760" cy="2651760"/>
          </a:xfrm>
          <a:prstGeom prst="ellipse">
            <a:avLst/>
          </a:prstGeom>
          <a:solidFill>
            <a:srgbClr val="D9AE4B">
              <a:alpha val="12000"/>
            </a:srgbClr>
          </a:solidFill>
          <a:ln w="63500">
            <a:solidFill>
              <a:srgbClr val="D9AE4B">
                <a:alpha val="60000"/>
              </a:srgbClr>
            </a:solidFill>
            <a:prstDash val="solid"/>
          </a:ln>
        </p:spPr>
      </p:sp>
      <p:sp>
        <p:nvSpPr>
          <p:cNvPr id="3" name="Text 1"/>
          <p:cNvSpPr/>
          <p:nvPr/>
        </p:nvSpPr>
        <p:spPr>
          <a:xfrm>
            <a:off x="1097280" y="2103120"/>
            <a:ext cx="2651760" cy="2651760"/>
          </a:xfrm>
          <a:prstGeom prst="rect">
            <a:avLst/>
          </a:prstGeom>
          <a:noFill/>
          <a:ln/>
        </p:spPr>
        <p:txBody>
          <a:bodyPr wrap="square" lIns="0" tIns="0" rIns="0" bIns="0" rtlCol="0" anchor="ctr">
            <a:normAutofit/>
          </a:bodyPr>
          <a:lstStyle/>
          <a:p>
            <a:pPr rtl="1" algn="ctr" indent="0" marL="0">
              <a:buNone/>
            </a:pPr>
            <a:r>
              <a:rPr lang="ar-SA" altLang="en-US" sz="12000" dirty="0">
                <a:solidFill>
                  <a:srgbClr val="F0CC7A"/>
                </a:solidFill>
                <a:latin typeface="Cairo Black" pitchFamily="34" charset="0"/>
                <a:ea typeface="Cairo Black" pitchFamily="34" charset="-122"/>
                <a:cs typeface="Cairo Black" pitchFamily="34" charset="-120"/>
              </a:rPr>
              <a:t>٢</a:t>
            </a:r>
            <a:endParaRPr lang="ar-SA" sz="12000" dirty="0"/>
          </a:p>
        </p:txBody>
      </p:sp>
      <p:sp>
        <p:nvSpPr>
          <p:cNvPr id="4" name="Text 2"/>
          <p:cNvSpPr/>
          <p:nvPr/>
        </p:nvSpPr>
        <p:spPr>
          <a:xfrm>
            <a:off x="4206240" y="1828800"/>
            <a:ext cx="7162495" cy="457200"/>
          </a:xfrm>
          <a:prstGeom prst="rect">
            <a:avLst/>
          </a:prstGeom>
          <a:noFill/>
          <a:ln/>
        </p:spPr>
        <p:txBody>
          <a:bodyPr wrap="square" lIns="0" tIns="0" rIns="0" bIns="0" rtlCol="0" anchor="ctr">
            <a:normAutofit/>
          </a:bodyPr>
          <a:lstStyle/>
          <a:p>
            <a:pPr rtl="1" algn="r" indent="0" marL="0">
              <a:buNone/>
            </a:pPr>
            <a:r>
              <a:rPr lang="ar-SA" altLang="en-US" sz="2000" b="1" dirty="0">
                <a:solidFill>
                  <a:srgbClr val="D9AE4B"/>
                </a:solidFill>
                <a:latin typeface="Cairo" pitchFamily="34" charset="0"/>
                <a:ea typeface="Cairo" pitchFamily="34" charset="-122"/>
                <a:cs typeface="Cairo" pitchFamily="34" charset="-120"/>
              </a:rPr>
              <a:t>المحور ٢</a:t>
            </a:r>
            <a:endParaRPr lang="ar-SA" sz="2000" dirty="0"/>
          </a:p>
        </p:txBody>
      </p:sp>
      <p:sp>
        <p:nvSpPr>
          <p:cNvPr id="5" name="Text 3"/>
          <p:cNvSpPr/>
          <p:nvPr/>
        </p:nvSpPr>
        <p:spPr>
          <a:xfrm>
            <a:off x="4206240" y="2286000"/>
            <a:ext cx="7162495" cy="1371600"/>
          </a:xfrm>
          <a:prstGeom prst="rect">
            <a:avLst/>
          </a:prstGeom>
          <a:noFill/>
          <a:ln/>
        </p:spPr>
        <p:txBody>
          <a:bodyPr wrap="square" lIns="0" tIns="0" rIns="0" bIns="0" rtlCol="0" anchor="ctr">
            <a:normAutofit/>
          </a:bodyPr>
          <a:lstStyle/>
          <a:p>
            <a:pPr rtl="1" algn="r" indent="0" marL="0">
              <a:buNone/>
            </a:pPr>
            <a:r>
              <a:rPr lang="ar-SA" altLang="en-US" sz="5600" dirty="0">
                <a:solidFill>
                  <a:srgbClr val="FFFFFF"/>
                </a:solidFill>
                <a:latin typeface="Cairo Black" pitchFamily="34" charset="0"/>
                <a:ea typeface="Cairo Black" pitchFamily="34" charset="-122"/>
                <a:cs typeface="Cairo Black" pitchFamily="34" charset="-120"/>
              </a:rPr>
              <a:t>🧠 ESP32: دماغ المشروع</a:t>
            </a:r>
            <a:endParaRPr lang="ar-SA" sz="5600" dirty="0"/>
          </a:p>
        </p:txBody>
      </p:sp>
      <p:sp>
        <p:nvSpPr>
          <p:cNvPr id="6" name="Text 4"/>
          <p:cNvSpPr/>
          <p:nvPr/>
        </p:nvSpPr>
        <p:spPr>
          <a:xfrm>
            <a:off x="4206240" y="3749040"/>
            <a:ext cx="7162495" cy="822960"/>
          </a:xfrm>
          <a:prstGeom prst="rect">
            <a:avLst/>
          </a:prstGeom>
          <a:noFill/>
          <a:ln/>
        </p:spPr>
        <p:txBody>
          <a:bodyPr wrap="square" lIns="0" tIns="0" rIns="0" bIns="0" rtlCol="0" anchor="ctr">
            <a:normAutofit/>
          </a:bodyPr>
          <a:lstStyle/>
          <a:p>
            <a:pPr rtl="1" algn="r" indent="0" marL="0">
              <a:buNone/>
            </a:pPr>
            <a:r>
              <a:rPr lang="ar-SA" altLang="en-US" sz="2200" b="1" dirty="0">
                <a:solidFill>
                  <a:srgbClr val="C9CFE6"/>
                </a:solidFill>
                <a:latin typeface="Cairo" pitchFamily="34" charset="0"/>
                <a:ea typeface="Cairo" pitchFamily="34" charset="-122"/>
                <a:cs typeface="Cairo" pitchFamily="34" charset="-120"/>
              </a:rPr>
              <a:t>أردوينو… لكن بلاسلكي وقوة أكبر</a:t>
            </a:r>
            <a:endParaRPr lang="ar-SA" sz="2200" dirty="0"/>
          </a:p>
        </p:txBody>
      </p:sp>
      <p:sp>
        <p:nvSpPr>
          <p:cNvPr id="7" name="Text 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لمسة تراث</a:t>
            </a:r>
            <a:endParaRPr lang="ar-SA" sz="1200" dirty="0"/>
          </a:p>
        </p:txBody>
      </p:sp>
      <p:sp>
        <p:nvSpPr>
          <p:cNvPr id="8" name="Text 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 ESP32  ·  ١٨</a:t>
            </a:r>
            <a:endParaRPr lang="ar-SA"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248095" y="457200"/>
            <a:ext cx="5120640" cy="457200"/>
          </a:xfrm>
          <a:prstGeom prst="roundRect">
            <a:avLst>
              <a:gd name="adj" fmla="val 50000"/>
            </a:avLst>
          </a:prstGeom>
          <a:solidFill>
            <a:srgbClr val="F6EBCF"/>
          </a:solidFill>
          <a:ln/>
        </p:spPr>
      </p:sp>
      <p:sp>
        <p:nvSpPr>
          <p:cNvPr id="3" name="Text 1"/>
          <p:cNvSpPr/>
          <p:nvPr/>
        </p:nvSpPr>
        <p:spPr>
          <a:xfrm>
            <a:off x="6248095" y="457200"/>
            <a:ext cx="512064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بنهاية هذا المحور تستطيع أن</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أهداف المحور</a:t>
            </a:r>
            <a:endParaRPr lang="ar-SA" sz="3800" dirty="0"/>
          </a:p>
        </p:txBody>
      </p:sp>
      <p:sp>
        <p:nvSpPr>
          <p:cNvPr id="5" name="anim-g1-158"/>
          <p:cNvSpPr/>
          <p:nvPr/>
        </p:nvSpPr>
        <p:spPr>
          <a:xfrm>
            <a:off x="822960" y="1920240"/>
            <a:ext cx="10545775" cy="1298448"/>
          </a:xfrm>
          <a:prstGeom prst="roundRect">
            <a:avLst>
              <a:gd name="adj" fmla="val 11268"/>
            </a:avLst>
          </a:prstGeom>
          <a:solidFill>
            <a:srgbClr val="FFFFFF"/>
          </a:solidFill>
          <a:ln w="12700">
            <a:solidFill>
              <a:srgbClr val="E4DCC8"/>
            </a:solidFill>
            <a:prstDash val="solid"/>
          </a:ln>
        </p:spPr>
      </p:sp>
      <p:sp>
        <p:nvSpPr>
          <p:cNvPr id="6" name="anim-g1-159"/>
          <p:cNvSpPr/>
          <p:nvPr/>
        </p:nvSpPr>
        <p:spPr>
          <a:xfrm>
            <a:off x="10573207" y="2286000"/>
            <a:ext cx="566928" cy="566928"/>
          </a:xfrm>
          <a:prstGeom prst="ellipse">
            <a:avLst/>
          </a:prstGeom>
          <a:solidFill>
            <a:srgbClr val="D9AE4B"/>
          </a:solidFill>
          <a:ln/>
        </p:spPr>
      </p:sp>
      <p:sp>
        <p:nvSpPr>
          <p:cNvPr id="7" name="anim-g1-160"/>
          <p:cNvSpPr/>
          <p:nvPr/>
        </p:nvSpPr>
        <p:spPr>
          <a:xfrm>
            <a:off x="10573207" y="2286000"/>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١</a:t>
            </a:r>
            <a:endParaRPr lang="ar-SA" sz="2000" dirty="0"/>
          </a:p>
        </p:txBody>
      </p:sp>
      <p:sp>
        <p:nvSpPr>
          <p:cNvPr id="8" name="anim-g1-161"/>
          <p:cNvSpPr/>
          <p:nvPr/>
        </p:nvSpPr>
        <p:spPr>
          <a:xfrm>
            <a:off x="1097280" y="1920240"/>
            <a:ext cx="9247327" cy="1298448"/>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تفرّق بين ESP32 والأردوينو أونو</a:t>
            </a:r>
            <a:endParaRPr lang="ar-SA" sz="2400" dirty="0"/>
          </a:p>
        </p:txBody>
      </p:sp>
      <p:sp>
        <p:nvSpPr>
          <p:cNvPr id="9" name="anim-g2-162"/>
          <p:cNvSpPr/>
          <p:nvPr/>
        </p:nvSpPr>
        <p:spPr>
          <a:xfrm>
            <a:off x="822960" y="3328416"/>
            <a:ext cx="10545775" cy="1298448"/>
          </a:xfrm>
          <a:prstGeom prst="roundRect">
            <a:avLst>
              <a:gd name="adj" fmla="val 11268"/>
            </a:avLst>
          </a:prstGeom>
          <a:solidFill>
            <a:srgbClr val="FFFFFF"/>
          </a:solidFill>
          <a:ln w="12700">
            <a:solidFill>
              <a:srgbClr val="E4DCC8"/>
            </a:solidFill>
            <a:prstDash val="solid"/>
          </a:ln>
        </p:spPr>
      </p:sp>
      <p:sp>
        <p:nvSpPr>
          <p:cNvPr id="10" name="anim-g2-163"/>
          <p:cNvSpPr/>
          <p:nvPr/>
        </p:nvSpPr>
        <p:spPr>
          <a:xfrm>
            <a:off x="10573207" y="3694176"/>
            <a:ext cx="566928" cy="566928"/>
          </a:xfrm>
          <a:prstGeom prst="ellipse">
            <a:avLst/>
          </a:prstGeom>
          <a:solidFill>
            <a:srgbClr val="D9AE4B"/>
          </a:solidFill>
          <a:ln/>
        </p:spPr>
      </p:sp>
      <p:sp>
        <p:nvSpPr>
          <p:cNvPr id="11" name="anim-g2-164"/>
          <p:cNvSpPr/>
          <p:nvPr/>
        </p:nvSpPr>
        <p:spPr>
          <a:xfrm>
            <a:off x="10573207" y="3694176"/>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٢</a:t>
            </a:r>
            <a:endParaRPr lang="ar-SA" sz="2000" dirty="0"/>
          </a:p>
        </p:txBody>
      </p:sp>
      <p:sp>
        <p:nvSpPr>
          <p:cNvPr id="12" name="anim-g2-165"/>
          <p:cNvSpPr/>
          <p:nvPr/>
        </p:nvSpPr>
        <p:spPr>
          <a:xfrm>
            <a:off x="1097280" y="3328416"/>
            <a:ext cx="9247327" cy="1298448"/>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تعرف الأطراف الممنوعة والأطراف «مدخل فقط»</a:t>
            </a:r>
            <a:endParaRPr lang="ar-SA" sz="2400" dirty="0"/>
          </a:p>
        </p:txBody>
      </p:sp>
      <p:sp>
        <p:nvSpPr>
          <p:cNvPr id="13" name="anim-g3-166"/>
          <p:cNvSpPr/>
          <p:nvPr/>
        </p:nvSpPr>
        <p:spPr>
          <a:xfrm>
            <a:off x="822960" y="4736592"/>
            <a:ext cx="10545775" cy="1298448"/>
          </a:xfrm>
          <a:prstGeom prst="roundRect">
            <a:avLst>
              <a:gd name="adj" fmla="val 11268"/>
            </a:avLst>
          </a:prstGeom>
          <a:solidFill>
            <a:srgbClr val="FFFFFF"/>
          </a:solidFill>
          <a:ln w="12700">
            <a:solidFill>
              <a:srgbClr val="E4DCC8"/>
            </a:solidFill>
            <a:prstDash val="solid"/>
          </a:ln>
        </p:spPr>
      </p:sp>
      <p:sp>
        <p:nvSpPr>
          <p:cNvPr id="14" name="anim-g3-167"/>
          <p:cNvSpPr/>
          <p:nvPr/>
        </p:nvSpPr>
        <p:spPr>
          <a:xfrm>
            <a:off x="10573207" y="5102352"/>
            <a:ext cx="566928" cy="566928"/>
          </a:xfrm>
          <a:prstGeom prst="ellipse">
            <a:avLst/>
          </a:prstGeom>
          <a:solidFill>
            <a:srgbClr val="D9AE4B"/>
          </a:solidFill>
          <a:ln/>
        </p:spPr>
      </p:sp>
      <p:sp>
        <p:nvSpPr>
          <p:cNvPr id="15" name="anim-g3-168"/>
          <p:cNvSpPr/>
          <p:nvPr/>
        </p:nvSpPr>
        <p:spPr>
          <a:xfrm>
            <a:off x="10573207" y="5102352"/>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٣</a:t>
            </a:r>
            <a:endParaRPr lang="ar-SA" sz="2000" dirty="0"/>
          </a:p>
        </p:txBody>
      </p:sp>
      <p:sp>
        <p:nvSpPr>
          <p:cNvPr id="16" name="anim-g3-169"/>
          <p:cNvSpPr/>
          <p:nvPr/>
        </p:nvSpPr>
        <p:spPr>
          <a:xfrm>
            <a:off x="1097280" y="4736592"/>
            <a:ext cx="9247327" cy="1298448"/>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تجهّز Arduino IDE وترفع أول كود</a:t>
            </a:r>
            <a:endParaRPr lang="ar-SA" sz="2400" dirty="0"/>
          </a:p>
        </p:txBody>
      </p:sp>
      <p:sp>
        <p:nvSpPr>
          <p:cNvPr id="17" name="Text 1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18" name="Text 1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ESP32  ·  ١٩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881567" y="457200"/>
            <a:ext cx="2487168" cy="457200"/>
          </a:xfrm>
          <a:prstGeom prst="roundRect">
            <a:avLst>
              <a:gd name="adj" fmla="val 50000"/>
            </a:avLst>
          </a:prstGeom>
          <a:solidFill>
            <a:srgbClr val="F6EBCF"/>
          </a:solidFill>
          <a:ln/>
        </p:spPr>
      </p:sp>
      <p:sp>
        <p:nvSpPr>
          <p:cNvPr id="3" name="Text 1"/>
          <p:cNvSpPr/>
          <p:nvPr/>
        </p:nvSpPr>
        <p:spPr>
          <a:xfrm>
            <a:off x="8881567" y="45720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مقارنة سريعة</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أونو أم ESP32؟</a:t>
            </a:r>
            <a:endParaRPr lang="ar-SA" sz="3800" dirty="0"/>
          </a:p>
        </p:txBody>
      </p:sp>
      <p:sp>
        <p:nvSpPr>
          <p:cNvPr id="5" name="Shape 3"/>
          <p:cNvSpPr/>
          <p:nvPr/>
        </p:nvSpPr>
        <p:spPr>
          <a:xfrm>
            <a:off x="8615050" y="1874520"/>
            <a:ext cx="2753685" cy="548640"/>
          </a:xfrm>
          <a:prstGeom prst="roundRect">
            <a:avLst>
              <a:gd name="adj" fmla="val 20000"/>
            </a:avLst>
          </a:prstGeom>
          <a:solidFill>
            <a:srgbClr val="101B45"/>
          </a:solidFill>
          <a:ln/>
        </p:spPr>
      </p:sp>
      <p:sp>
        <p:nvSpPr>
          <p:cNvPr id="6" name="Text 4"/>
          <p:cNvSpPr/>
          <p:nvPr/>
        </p:nvSpPr>
        <p:spPr>
          <a:xfrm>
            <a:off x="8615050" y="1874520"/>
            <a:ext cx="2753685" cy="548640"/>
          </a:xfrm>
          <a:prstGeom prst="rect">
            <a:avLst/>
          </a:prstGeom>
          <a:noFill/>
          <a:ln/>
        </p:spPr>
        <p:txBody>
          <a:bodyPr wrap="square" lIns="0" tIns="0" rIns="0" bIns="0" rtlCol="0" anchor="ctr">
            <a:normAutofit/>
          </a:bodyPr>
          <a:lstStyle/>
          <a:p>
            <a:pPr rtl="1" algn="ctr" indent="0" marL="0">
              <a:buNone/>
            </a:pPr>
            <a:endParaRPr lang="ar-SA" sz="1900" dirty="0"/>
          </a:p>
        </p:txBody>
      </p:sp>
      <p:sp>
        <p:nvSpPr>
          <p:cNvPr id="7" name="Shape 5"/>
          <p:cNvSpPr/>
          <p:nvPr/>
        </p:nvSpPr>
        <p:spPr>
          <a:xfrm>
            <a:off x="5063216" y="1874520"/>
            <a:ext cx="3442106" cy="548640"/>
          </a:xfrm>
          <a:prstGeom prst="roundRect">
            <a:avLst>
              <a:gd name="adj" fmla="val 20000"/>
            </a:avLst>
          </a:prstGeom>
          <a:solidFill>
            <a:srgbClr val="101B45"/>
          </a:solidFill>
          <a:ln/>
        </p:spPr>
      </p:sp>
      <p:sp>
        <p:nvSpPr>
          <p:cNvPr id="8" name="Text 6"/>
          <p:cNvSpPr/>
          <p:nvPr/>
        </p:nvSpPr>
        <p:spPr>
          <a:xfrm>
            <a:off x="5063216" y="1874520"/>
            <a:ext cx="3442106" cy="548640"/>
          </a:xfrm>
          <a:prstGeom prst="rect">
            <a:avLst/>
          </a:prstGeom>
          <a:noFill/>
          <a:ln/>
        </p:spPr>
        <p:txBody>
          <a:bodyPr wrap="square" lIns="0" tIns="0" rIns="0" bIns="0" rtlCol="0" anchor="ctr">
            <a:normAutofit/>
          </a:bodyPr>
          <a:lstStyle/>
          <a:p>
            <a:pPr rtl="1" algn="ctr" indent="0" marL="0">
              <a:buNone/>
            </a:pPr>
            <a:r>
              <a:rPr lang="ar-SA" altLang="en-US" sz="1900" dirty="0">
                <a:solidFill>
                  <a:srgbClr val="FFFFFF"/>
                </a:solidFill>
                <a:latin typeface="Cairo Black" pitchFamily="34" charset="0"/>
                <a:ea typeface="Cairo Black" pitchFamily="34" charset="-122"/>
                <a:cs typeface="Cairo Black" pitchFamily="34" charset="-120"/>
              </a:rPr>
              <a:t>Arduino Uno</a:t>
            </a:r>
            <a:endParaRPr lang="ar-SA" sz="1900" dirty="0"/>
          </a:p>
        </p:txBody>
      </p:sp>
      <p:sp>
        <p:nvSpPr>
          <p:cNvPr id="9" name="Shape 7"/>
          <p:cNvSpPr/>
          <p:nvPr/>
        </p:nvSpPr>
        <p:spPr>
          <a:xfrm>
            <a:off x="822960" y="1874520"/>
            <a:ext cx="4130528" cy="548640"/>
          </a:xfrm>
          <a:prstGeom prst="roundRect">
            <a:avLst>
              <a:gd name="adj" fmla="val 20000"/>
            </a:avLst>
          </a:prstGeom>
          <a:solidFill>
            <a:srgbClr val="101B45"/>
          </a:solidFill>
          <a:ln/>
        </p:spPr>
      </p:sp>
      <p:sp>
        <p:nvSpPr>
          <p:cNvPr id="10" name="Text 8"/>
          <p:cNvSpPr/>
          <p:nvPr/>
        </p:nvSpPr>
        <p:spPr>
          <a:xfrm>
            <a:off x="822960" y="1874520"/>
            <a:ext cx="4130528" cy="548640"/>
          </a:xfrm>
          <a:prstGeom prst="rect">
            <a:avLst/>
          </a:prstGeom>
          <a:noFill/>
          <a:ln/>
        </p:spPr>
        <p:txBody>
          <a:bodyPr wrap="square" lIns="0" tIns="0" rIns="0" bIns="0" rtlCol="0" anchor="ctr">
            <a:normAutofit/>
          </a:bodyPr>
          <a:lstStyle/>
          <a:p>
            <a:pPr rtl="1" algn="ctr" indent="0" marL="0">
              <a:buNone/>
            </a:pPr>
            <a:r>
              <a:rPr lang="ar-SA" altLang="en-US" sz="1900" dirty="0">
                <a:solidFill>
                  <a:srgbClr val="FFFFFF"/>
                </a:solidFill>
                <a:latin typeface="Cairo Black" pitchFamily="34" charset="0"/>
                <a:ea typeface="Cairo Black" pitchFamily="34" charset="-122"/>
                <a:cs typeface="Cairo Black" pitchFamily="34" charset="-120"/>
              </a:rPr>
              <a:t>ESP32 DevKit V1</a:t>
            </a:r>
            <a:endParaRPr lang="ar-SA" sz="1900" dirty="0"/>
          </a:p>
        </p:txBody>
      </p:sp>
      <p:sp>
        <p:nvSpPr>
          <p:cNvPr id="11" name="anim-g1-170"/>
          <p:cNvSpPr/>
          <p:nvPr/>
        </p:nvSpPr>
        <p:spPr>
          <a:xfrm>
            <a:off x="8615050" y="2514600"/>
            <a:ext cx="2753685" cy="797814"/>
          </a:xfrm>
          <a:prstGeom prst="roundRect">
            <a:avLst>
              <a:gd name="adj" fmla="val 13754"/>
            </a:avLst>
          </a:prstGeom>
          <a:solidFill>
            <a:srgbClr val="FBF3DF"/>
          </a:solidFill>
          <a:ln w="12700">
            <a:solidFill>
              <a:srgbClr val="EFDDAF"/>
            </a:solidFill>
            <a:prstDash val="solid"/>
          </a:ln>
        </p:spPr>
      </p:sp>
      <p:sp>
        <p:nvSpPr>
          <p:cNvPr id="12" name="anim-g1-171"/>
          <p:cNvSpPr/>
          <p:nvPr/>
        </p:nvSpPr>
        <p:spPr>
          <a:xfrm>
            <a:off x="8752210" y="2514600"/>
            <a:ext cx="2479365"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 جهد المنطق</a:t>
            </a:r>
            <a:endParaRPr lang="ar-SA" sz="2100" dirty="0"/>
          </a:p>
        </p:txBody>
      </p:sp>
      <p:sp>
        <p:nvSpPr>
          <p:cNvPr id="13" name="anim-g1-172"/>
          <p:cNvSpPr/>
          <p:nvPr/>
        </p:nvSpPr>
        <p:spPr>
          <a:xfrm>
            <a:off x="5063216" y="2514600"/>
            <a:ext cx="3442106" cy="797814"/>
          </a:xfrm>
          <a:prstGeom prst="roundRect">
            <a:avLst>
              <a:gd name="adj" fmla="val 13754"/>
            </a:avLst>
          </a:prstGeom>
          <a:solidFill>
            <a:srgbClr val="FFFFFF"/>
          </a:solidFill>
          <a:ln w="12700">
            <a:solidFill>
              <a:srgbClr val="E4DCC8"/>
            </a:solidFill>
            <a:prstDash val="solid"/>
          </a:ln>
        </p:spPr>
      </p:sp>
      <p:sp>
        <p:nvSpPr>
          <p:cNvPr id="14" name="anim-g1-173"/>
          <p:cNvSpPr/>
          <p:nvPr/>
        </p:nvSpPr>
        <p:spPr>
          <a:xfrm>
            <a:off x="5200376" y="2514600"/>
            <a:ext cx="3167786"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٥ فولت</a:t>
            </a:r>
            <a:endParaRPr lang="ar-SA" sz="2100" dirty="0"/>
          </a:p>
        </p:txBody>
      </p:sp>
      <p:sp>
        <p:nvSpPr>
          <p:cNvPr id="15" name="anim-g1-174"/>
          <p:cNvSpPr/>
          <p:nvPr/>
        </p:nvSpPr>
        <p:spPr>
          <a:xfrm>
            <a:off x="822960" y="2514600"/>
            <a:ext cx="4130528" cy="797814"/>
          </a:xfrm>
          <a:prstGeom prst="roundRect">
            <a:avLst>
              <a:gd name="adj" fmla="val 13754"/>
            </a:avLst>
          </a:prstGeom>
          <a:solidFill>
            <a:srgbClr val="E6F4EC"/>
          </a:solidFill>
          <a:ln w="12700">
            <a:solidFill>
              <a:srgbClr val="CDE9D9"/>
            </a:solidFill>
            <a:prstDash val="solid"/>
          </a:ln>
        </p:spPr>
      </p:sp>
      <p:sp>
        <p:nvSpPr>
          <p:cNvPr id="16" name="anim-g1-175"/>
          <p:cNvSpPr/>
          <p:nvPr/>
        </p:nvSpPr>
        <p:spPr>
          <a:xfrm>
            <a:off x="960120" y="2514600"/>
            <a:ext cx="3856208"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٣٫٣ فولت</a:t>
            </a:r>
            <a:endParaRPr lang="ar-SA" sz="2100" dirty="0"/>
          </a:p>
        </p:txBody>
      </p:sp>
      <p:sp>
        <p:nvSpPr>
          <p:cNvPr id="17" name="anim-g2-176"/>
          <p:cNvSpPr/>
          <p:nvPr/>
        </p:nvSpPr>
        <p:spPr>
          <a:xfrm>
            <a:off x="8615050" y="3422142"/>
            <a:ext cx="2753685" cy="797814"/>
          </a:xfrm>
          <a:prstGeom prst="roundRect">
            <a:avLst>
              <a:gd name="adj" fmla="val 13754"/>
            </a:avLst>
          </a:prstGeom>
          <a:solidFill>
            <a:srgbClr val="FBF3DF"/>
          </a:solidFill>
          <a:ln w="12700">
            <a:solidFill>
              <a:srgbClr val="EFDDAF"/>
            </a:solidFill>
            <a:prstDash val="solid"/>
          </a:ln>
        </p:spPr>
      </p:sp>
      <p:sp>
        <p:nvSpPr>
          <p:cNvPr id="18" name="anim-g2-177"/>
          <p:cNvSpPr/>
          <p:nvPr/>
        </p:nvSpPr>
        <p:spPr>
          <a:xfrm>
            <a:off x="8752210" y="3422142"/>
            <a:ext cx="2479365"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 السرعة</a:t>
            </a:r>
            <a:endParaRPr lang="ar-SA" sz="2100" dirty="0"/>
          </a:p>
        </p:txBody>
      </p:sp>
      <p:sp>
        <p:nvSpPr>
          <p:cNvPr id="19" name="anim-g2-178"/>
          <p:cNvSpPr/>
          <p:nvPr/>
        </p:nvSpPr>
        <p:spPr>
          <a:xfrm>
            <a:off x="5063216" y="3422142"/>
            <a:ext cx="3442106" cy="797814"/>
          </a:xfrm>
          <a:prstGeom prst="roundRect">
            <a:avLst>
              <a:gd name="adj" fmla="val 13754"/>
            </a:avLst>
          </a:prstGeom>
          <a:solidFill>
            <a:srgbClr val="FFFFFF"/>
          </a:solidFill>
          <a:ln w="12700">
            <a:solidFill>
              <a:srgbClr val="E4DCC8"/>
            </a:solidFill>
            <a:prstDash val="solid"/>
          </a:ln>
        </p:spPr>
      </p:sp>
      <p:sp>
        <p:nvSpPr>
          <p:cNvPr id="20" name="anim-g2-179"/>
          <p:cNvSpPr/>
          <p:nvPr/>
        </p:nvSpPr>
        <p:spPr>
          <a:xfrm>
            <a:off x="5200376" y="3422142"/>
            <a:ext cx="3167786"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١٦ ميجاهرتز</a:t>
            </a:r>
            <a:endParaRPr lang="ar-SA" sz="2100" dirty="0"/>
          </a:p>
        </p:txBody>
      </p:sp>
      <p:sp>
        <p:nvSpPr>
          <p:cNvPr id="21" name="anim-g2-180"/>
          <p:cNvSpPr/>
          <p:nvPr/>
        </p:nvSpPr>
        <p:spPr>
          <a:xfrm>
            <a:off x="822960" y="3422142"/>
            <a:ext cx="4130528" cy="797814"/>
          </a:xfrm>
          <a:prstGeom prst="roundRect">
            <a:avLst>
              <a:gd name="adj" fmla="val 13754"/>
            </a:avLst>
          </a:prstGeom>
          <a:solidFill>
            <a:srgbClr val="E6F4EC"/>
          </a:solidFill>
          <a:ln w="12700">
            <a:solidFill>
              <a:srgbClr val="CDE9D9"/>
            </a:solidFill>
            <a:prstDash val="solid"/>
          </a:ln>
        </p:spPr>
      </p:sp>
      <p:sp>
        <p:nvSpPr>
          <p:cNvPr id="22" name="anim-g2-181"/>
          <p:cNvSpPr/>
          <p:nvPr/>
        </p:nvSpPr>
        <p:spPr>
          <a:xfrm>
            <a:off x="960120" y="3422142"/>
            <a:ext cx="3856208"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٢٤٠ ميجاهرتز · نواتان</a:t>
            </a:r>
            <a:endParaRPr lang="ar-SA" sz="2100" dirty="0"/>
          </a:p>
        </p:txBody>
      </p:sp>
      <p:sp>
        <p:nvSpPr>
          <p:cNvPr id="23" name="anim-g3-182"/>
          <p:cNvSpPr/>
          <p:nvPr/>
        </p:nvSpPr>
        <p:spPr>
          <a:xfrm>
            <a:off x="8615050" y="4329684"/>
            <a:ext cx="2753685" cy="797814"/>
          </a:xfrm>
          <a:prstGeom prst="roundRect">
            <a:avLst>
              <a:gd name="adj" fmla="val 13754"/>
            </a:avLst>
          </a:prstGeom>
          <a:solidFill>
            <a:srgbClr val="FBF3DF"/>
          </a:solidFill>
          <a:ln w="12700">
            <a:solidFill>
              <a:srgbClr val="EFDDAF"/>
            </a:solidFill>
            <a:prstDash val="solid"/>
          </a:ln>
        </p:spPr>
      </p:sp>
      <p:sp>
        <p:nvSpPr>
          <p:cNvPr id="24" name="anim-g3-183"/>
          <p:cNvSpPr/>
          <p:nvPr/>
        </p:nvSpPr>
        <p:spPr>
          <a:xfrm>
            <a:off x="8752210" y="4329684"/>
            <a:ext cx="2479365"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 القراءة التماثلية</a:t>
            </a:r>
            <a:endParaRPr lang="ar-SA" sz="2100" dirty="0"/>
          </a:p>
        </p:txBody>
      </p:sp>
      <p:sp>
        <p:nvSpPr>
          <p:cNvPr id="25" name="anim-g3-184"/>
          <p:cNvSpPr/>
          <p:nvPr/>
        </p:nvSpPr>
        <p:spPr>
          <a:xfrm>
            <a:off x="5063216" y="4329684"/>
            <a:ext cx="3442106" cy="797814"/>
          </a:xfrm>
          <a:prstGeom prst="roundRect">
            <a:avLst>
              <a:gd name="adj" fmla="val 13754"/>
            </a:avLst>
          </a:prstGeom>
          <a:solidFill>
            <a:srgbClr val="FFFFFF"/>
          </a:solidFill>
          <a:ln w="12700">
            <a:solidFill>
              <a:srgbClr val="E4DCC8"/>
            </a:solidFill>
            <a:prstDash val="solid"/>
          </a:ln>
        </p:spPr>
      </p:sp>
      <p:sp>
        <p:nvSpPr>
          <p:cNvPr id="26" name="anim-g3-185"/>
          <p:cNvSpPr/>
          <p:nvPr/>
        </p:nvSpPr>
        <p:spPr>
          <a:xfrm>
            <a:off x="5200376" y="4329684"/>
            <a:ext cx="3167786"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٠–١٠٢٣ (١٠ بت)</a:t>
            </a:r>
            <a:endParaRPr lang="ar-SA" sz="2100" dirty="0"/>
          </a:p>
        </p:txBody>
      </p:sp>
      <p:sp>
        <p:nvSpPr>
          <p:cNvPr id="27" name="anim-g3-186"/>
          <p:cNvSpPr/>
          <p:nvPr/>
        </p:nvSpPr>
        <p:spPr>
          <a:xfrm>
            <a:off x="822960" y="4329684"/>
            <a:ext cx="4130528" cy="797814"/>
          </a:xfrm>
          <a:prstGeom prst="roundRect">
            <a:avLst>
              <a:gd name="adj" fmla="val 13754"/>
            </a:avLst>
          </a:prstGeom>
          <a:solidFill>
            <a:srgbClr val="E6F4EC"/>
          </a:solidFill>
          <a:ln w="12700">
            <a:solidFill>
              <a:srgbClr val="CDE9D9"/>
            </a:solidFill>
            <a:prstDash val="solid"/>
          </a:ln>
        </p:spPr>
      </p:sp>
      <p:sp>
        <p:nvSpPr>
          <p:cNvPr id="28" name="anim-g3-187"/>
          <p:cNvSpPr/>
          <p:nvPr/>
        </p:nvSpPr>
        <p:spPr>
          <a:xfrm>
            <a:off x="960120" y="4329684"/>
            <a:ext cx="3856208"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٠–٤٠٩٥ (١٢ بت)</a:t>
            </a:r>
            <a:endParaRPr lang="ar-SA" sz="2100" dirty="0"/>
          </a:p>
        </p:txBody>
      </p:sp>
      <p:sp>
        <p:nvSpPr>
          <p:cNvPr id="29" name="anim-g4-188"/>
          <p:cNvSpPr/>
          <p:nvPr/>
        </p:nvSpPr>
        <p:spPr>
          <a:xfrm>
            <a:off x="8615050" y="5237226"/>
            <a:ext cx="2753685" cy="797814"/>
          </a:xfrm>
          <a:prstGeom prst="roundRect">
            <a:avLst>
              <a:gd name="adj" fmla="val 13754"/>
            </a:avLst>
          </a:prstGeom>
          <a:solidFill>
            <a:srgbClr val="FBF3DF"/>
          </a:solidFill>
          <a:ln w="12700">
            <a:solidFill>
              <a:srgbClr val="EFDDAF"/>
            </a:solidFill>
            <a:prstDash val="solid"/>
          </a:ln>
        </p:spPr>
      </p:sp>
      <p:sp>
        <p:nvSpPr>
          <p:cNvPr id="30" name="anim-g4-189"/>
          <p:cNvSpPr/>
          <p:nvPr/>
        </p:nvSpPr>
        <p:spPr>
          <a:xfrm>
            <a:off x="8752210" y="5237226"/>
            <a:ext cx="2479365"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 لاسلكي</a:t>
            </a:r>
            <a:endParaRPr lang="ar-SA" sz="2100" dirty="0"/>
          </a:p>
        </p:txBody>
      </p:sp>
      <p:sp>
        <p:nvSpPr>
          <p:cNvPr id="31" name="anim-g4-190"/>
          <p:cNvSpPr/>
          <p:nvPr/>
        </p:nvSpPr>
        <p:spPr>
          <a:xfrm>
            <a:off x="5063216" y="5237226"/>
            <a:ext cx="3442106" cy="797814"/>
          </a:xfrm>
          <a:prstGeom prst="roundRect">
            <a:avLst>
              <a:gd name="adj" fmla="val 13754"/>
            </a:avLst>
          </a:prstGeom>
          <a:solidFill>
            <a:srgbClr val="FFFFFF"/>
          </a:solidFill>
          <a:ln w="12700">
            <a:solidFill>
              <a:srgbClr val="E4DCC8"/>
            </a:solidFill>
            <a:prstDash val="solid"/>
          </a:ln>
        </p:spPr>
      </p:sp>
      <p:sp>
        <p:nvSpPr>
          <p:cNvPr id="32" name="anim-g4-191"/>
          <p:cNvSpPr/>
          <p:nvPr/>
        </p:nvSpPr>
        <p:spPr>
          <a:xfrm>
            <a:off x="5200376" y="5237226"/>
            <a:ext cx="3167786"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لا يوجد</a:t>
            </a:r>
            <a:endParaRPr lang="ar-SA" sz="2100" dirty="0"/>
          </a:p>
        </p:txBody>
      </p:sp>
      <p:sp>
        <p:nvSpPr>
          <p:cNvPr id="33" name="anim-g4-192"/>
          <p:cNvSpPr/>
          <p:nvPr/>
        </p:nvSpPr>
        <p:spPr>
          <a:xfrm>
            <a:off x="822960" y="5237226"/>
            <a:ext cx="4130528" cy="797814"/>
          </a:xfrm>
          <a:prstGeom prst="roundRect">
            <a:avLst>
              <a:gd name="adj" fmla="val 13754"/>
            </a:avLst>
          </a:prstGeom>
          <a:solidFill>
            <a:srgbClr val="E6F4EC"/>
          </a:solidFill>
          <a:ln w="12700">
            <a:solidFill>
              <a:srgbClr val="CDE9D9"/>
            </a:solidFill>
            <a:prstDash val="solid"/>
          </a:ln>
        </p:spPr>
      </p:sp>
      <p:sp>
        <p:nvSpPr>
          <p:cNvPr id="34" name="anim-g4-193"/>
          <p:cNvSpPr/>
          <p:nvPr/>
        </p:nvSpPr>
        <p:spPr>
          <a:xfrm>
            <a:off x="960120" y="5237226"/>
            <a:ext cx="3856208"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واي فاي وبلوتوث وESP-NOW</a:t>
            </a:r>
            <a:endParaRPr lang="ar-SA" sz="2100" dirty="0"/>
          </a:p>
        </p:txBody>
      </p:sp>
      <p:sp>
        <p:nvSpPr>
          <p:cNvPr id="35" name="Text 3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36" name="Text 3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ESP32  ·  ٢٠</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400"/>
                                        <p:tgtEl>
                                          <p:spTgt spid="14"/>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5"/>
                                        </p:tgtEl>
                                        <p:attrNameLst>
                                          <p:attrName>style.visibility</p:attrName>
                                        </p:attrNameLst>
                                      </p:cBhvr>
                                      <p:to>
                                        <p:strVal val="visible"/>
                                      </p:to>
                                    </p:set>
                                    <p:animEffect transition="in" filter="fade">
                                      <p:cBhvr>
                                        <p:cTn id="19" dur="400"/>
                                        <p:tgtEl>
                                          <p:spTgt spid="15"/>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400"/>
                                        <p:tgtEl>
                                          <p:spTgt spid="1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400"/>
                                        <p:tgtEl>
                                          <p:spTgt spid="17"/>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400"/>
                                        <p:tgtEl>
                                          <p:spTgt spid="18"/>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9"/>
                                        </p:tgtEl>
                                        <p:attrNameLst>
                                          <p:attrName>style.visibility</p:attrName>
                                        </p:attrNameLst>
                                      </p:cBhvr>
                                      <p:to>
                                        <p:strVal val="visible"/>
                                      </p:to>
                                    </p:set>
                                    <p:animEffect transition="in" filter="fade">
                                      <p:cBhvr>
                                        <p:cTn id="33" dur="400"/>
                                        <p:tgtEl>
                                          <p:spTgt spid="19"/>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0"/>
                                        </p:tgtEl>
                                        <p:attrNameLst>
                                          <p:attrName>style.visibility</p:attrName>
                                        </p:attrNameLst>
                                      </p:cBhvr>
                                      <p:to>
                                        <p:strVal val="visible"/>
                                      </p:to>
                                    </p:set>
                                    <p:animEffect transition="in" filter="fade">
                                      <p:cBhvr>
                                        <p:cTn id="36" dur="400"/>
                                        <p:tgtEl>
                                          <p:spTgt spid="20"/>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400"/>
                                        <p:tgtEl>
                                          <p:spTgt spid="21"/>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2"/>
                                        </p:tgtEl>
                                        <p:attrNameLst>
                                          <p:attrName>style.visibility</p:attrName>
                                        </p:attrNameLst>
                                      </p:cBhvr>
                                      <p:to>
                                        <p:strVal val="visible"/>
                                      </p:to>
                                    </p:set>
                                    <p:animEffect transition="in" filter="fade">
                                      <p:cBhvr>
                                        <p:cTn id="42" dur="400"/>
                                        <p:tgtEl>
                                          <p:spTgt spid="22"/>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400"/>
                                        <p:tgtEl>
                                          <p:spTgt spid="23"/>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400"/>
                                        <p:tgtEl>
                                          <p:spTgt spid="24"/>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400"/>
                                        <p:tgtEl>
                                          <p:spTgt spid="25"/>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26"/>
                                        </p:tgtEl>
                                        <p:attrNameLst>
                                          <p:attrName>style.visibility</p:attrName>
                                        </p:attrNameLst>
                                      </p:cBhvr>
                                      <p:to>
                                        <p:strVal val="visible"/>
                                      </p:to>
                                    </p:set>
                                    <p:animEffect transition="in" filter="fade">
                                      <p:cBhvr>
                                        <p:cTn id="56" dur="400"/>
                                        <p:tgtEl>
                                          <p:spTgt spid="26"/>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7"/>
                                        </p:tgtEl>
                                        <p:attrNameLst>
                                          <p:attrName>style.visibility</p:attrName>
                                        </p:attrNameLst>
                                      </p:cBhvr>
                                      <p:to>
                                        <p:strVal val="visible"/>
                                      </p:to>
                                    </p:set>
                                    <p:animEffect transition="in" filter="fade">
                                      <p:cBhvr>
                                        <p:cTn id="59" dur="400"/>
                                        <p:tgtEl>
                                          <p:spTgt spid="27"/>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8"/>
                                        </p:tgtEl>
                                        <p:attrNameLst>
                                          <p:attrName>style.visibility</p:attrName>
                                        </p:attrNameLst>
                                      </p:cBhvr>
                                      <p:to>
                                        <p:strVal val="visible"/>
                                      </p:to>
                                    </p:set>
                                    <p:animEffect transition="in" filter="fade">
                                      <p:cBhvr>
                                        <p:cTn id="62" dur="400"/>
                                        <p:tgtEl>
                                          <p:spTgt spid="28"/>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grpId="0" nodeType="clickEffect">
                                  <p:stCondLst>
                                    <p:cond delay="0"/>
                                  </p:stCondLst>
                                  <p:childTnLst>
                                    <p:set>
                                      <p:cBhvr>
                                        <p:cTn id="66" dur="1" fill="hold">
                                          <p:stCondLst>
                                            <p:cond delay="0"/>
                                          </p:stCondLst>
                                        </p:cTn>
                                        <p:tgtEl>
                                          <p:spTgt spid="29"/>
                                        </p:tgtEl>
                                        <p:attrNameLst>
                                          <p:attrName>style.visibility</p:attrName>
                                        </p:attrNameLst>
                                      </p:cBhvr>
                                      <p:to>
                                        <p:strVal val="visible"/>
                                      </p:to>
                                    </p:set>
                                    <p:animEffect transition="in" filter="fade">
                                      <p:cBhvr>
                                        <p:cTn id="67" dur="400"/>
                                        <p:tgtEl>
                                          <p:spTgt spid="29"/>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30"/>
                                        </p:tgtEl>
                                        <p:attrNameLst>
                                          <p:attrName>style.visibility</p:attrName>
                                        </p:attrNameLst>
                                      </p:cBhvr>
                                      <p:to>
                                        <p:strVal val="visible"/>
                                      </p:to>
                                    </p:set>
                                    <p:animEffect transition="in" filter="fade">
                                      <p:cBhvr>
                                        <p:cTn id="70" dur="400"/>
                                        <p:tgtEl>
                                          <p:spTgt spid="30"/>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31"/>
                                        </p:tgtEl>
                                        <p:attrNameLst>
                                          <p:attrName>style.visibility</p:attrName>
                                        </p:attrNameLst>
                                      </p:cBhvr>
                                      <p:to>
                                        <p:strVal val="visible"/>
                                      </p:to>
                                    </p:set>
                                    <p:animEffect transition="in" filter="fade">
                                      <p:cBhvr>
                                        <p:cTn id="73" dur="400"/>
                                        <p:tgtEl>
                                          <p:spTgt spid="31"/>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32"/>
                                        </p:tgtEl>
                                        <p:attrNameLst>
                                          <p:attrName>style.visibility</p:attrName>
                                        </p:attrNameLst>
                                      </p:cBhvr>
                                      <p:to>
                                        <p:strVal val="visible"/>
                                      </p:to>
                                    </p:set>
                                    <p:animEffect transition="in" filter="fade">
                                      <p:cBhvr>
                                        <p:cTn id="76" dur="400"/>
                                        <p:tgtEl>
                                          <p:spTgt spid="32"/>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33"/>
                                        </p:tgtEl>
                                        <p:attrNameLst>
                                          <p:attrName>style.visibility</p:attrName>
                                        </p:attrNameLst>
                                      </p:cBhvr>
                                      <p:to>
                                        <p:strVal val="visible"/>
                                      </p:to>
                                    </p:set>
                                    <p:animEffect transition="in" filter="fade">
                                      <p:cBhvr>
                                        <p:cTn id="79" dur="400"/>
                                        <p:tgtEl>
                                          <p:spTgt spid="33"/>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34"/>
                                        </p:tgtEl>
                                        <p:attrNameLst>
                                          <p:attrName>style.visibility</p:attrName>
                                        </p:attrNameLst>
                                      </p:cBhvr>
                                      <p:to>
                                        <p:strVal val="visible"/>
                                      </p:to>
                                    </p:set>
                                    <p:animEffect transition="in" filter="fade">
                                      <p:cBhvr>
                                        <p:cTn id="82"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Image 0" descr="C:\Users\user\projects\younes-training\turath\.pptx-cache\s21.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857439" y="457200"/>
            <a:ext cx="3511296" cy="457200"/>
          </a:xfrm>
          <a:prstGeom prst="roundRect">
            <a:avLst>
              <a:gd name="adj" fmla="val 50000"/>
            </a:avLst>
          </a:prstGeom>
          <a:solidFill>
            <a:srgbClr val="F6EBCF"/>
          </a:solidFill>
          <a:ln/>
        </p:spPr>
      </p:sp>
      <p:sp>
        <p:nvSpPr>
          <p:cNvPr id="3" name="Text 1"/>
          <p:cNvSpPr/>
          <p:nvPr/>
        </p:nvSpPr>
        <p:spPr>
          <a:xfrm>
            <a:off x="7857439" y="457200"/>
            <a:ext cx="351129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ثلاث قواعد ذهبية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قبل أن توصل أي سلك بـ ESP32</a:t>
            </a:r>
            <a:endParaRPr lang="ar-SA" sz="3800" dirty="0"/>
          </a:p>
        </p:txBody>
      </p:sp>
      <p:sp>
        <p:nvSpPr>
          <p:cNvPr id="5" name="anim-g1-194"/>
          <p:cNvSpPr/>
          <p:nvPr/>
        </p:nvSpPr>
        <p:spPr>
          <a:xfrm>
            <a:off x="8036357"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195"/>
          <p:cNvSpPr/>
          <p:nvPr/>
        </p:nvSpPr>
        <p:spPr>
          <a:xfrm>
            <a:off x="10527487" y="2267712"/>
            <a:ext cx="566928" cy="566928"/>
          </a:xfrm>
          <a:prstGeom prst="roundRect">
            <a:avLst>
              <a:gd name="adj" fmla="val 32258"/>
            </a:avLst>
          </a:prstGeom>
          <a:solidFill>
            <a:srgbClr val="F7E6BC"/>
          </a:solidFill>
          <a:ln/>
        </p:spPr>
      </p:sp>
      <p:sp>
        <p:nvSpPr>
          <p:cNvPr id="7" name="anim-g1-196"/>
          <p:cNvSpPr/>
          <p:nvPr/>
        </p:nvSpPr>
        <p:spPr>
          <a:xfrm>
            <a:off x="10527487"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197"/>
          <p:cNvSpPr/>
          <p:nvPr/>
        </p:nvSpPr>
        <p:spPr>
          <a:xfrm>
            <a:off x="8310677"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٣٫٣ فولت</a:t>
            </a:r>
            <a:endParaRPr lang="ar-SA" sz="2200" dirty="0"/>
          </a:p>
        </p:txBody>
      </p:sp>
      <p:sp>
        <p:nvSpPr>
          <p:cNvPr id="9" name="anim-g1-198"/>
          <p:cNvSpPr/>
          <p:nvPr/>
        </p:nvSpPr>
        <p:spPr>
          <a:xfrm>
            <a:off x="8310677"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لا تدخل ٥ فولت على طرف إدخال: قد تتلف اللوحة</a:t>
            </a:r>
            <a:endParaRPr lang="ar-SA" sz="1900" dirty="0"/>
          </a:p>
        </p:txBody>
      </p:sp>
      <p:sp>
        <p:nvSpPr>
          <p:cNvPr id="10" name="anim-g2-199"/>
          <p:cNvSpPr/>
          <p:nvPr/>
        </p:nvSpPr>
        <p:spPr>
          <a:xfrm>
            <a:off x="4429658"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200"/>
          <p:cNvSpPr/>
          <p:nvPr/>
        </p:nvSpPr>
        <p:spPr>
          <a:xfrm>
            <a:off x="6920789" y="2267712"/>
            <a:ext cx="566928" cy="566928"/>
          </a:xfrm>
          <a:prstGeom prst="roundRect">
            <a:avLst>
              <a:gd name="adj" fmla="val 32258"/>
            </a:avLst>
          </a:prstGeom>
          <a:solidFill>
            <a:srgbClr val="F7E6BC"/>
          </a:solidFill>
          <a:ln/>
        </p:spPr>
      </p:sp>
      <p:sp>
        <p:nvSpPr>
          <p:cNvPr id="12" name="anim-g2-201"/>
          <p:cNvSpPr/>
          <p:nvPr/>
        </p:nvSpPr>
        <p:spPr>
          <a:xfrm>
            <a:off x="6920789"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202"/>
          <p:cNvSpPr/>
          <p:nvPr/>
        </p:nvSpPr>
        <p:spPr>
          <a:xfrm>
            <a:off x="4703978"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٣٤–٣٩ مدخلات فقط</a:t>
            </a:r>
            <a:endParaRPr lang="ar-SA" sz="2200" dirty="0"/>
          </a:p>
        </p:txBody>
      </p:sp>
      <p:sp>
        <p:nvSpPr>
          <p:cNvPr id="14" name="anim-g2-203"/>
          <p:cNvSpPr/>
          <p:nvPr/>
        </p:nvSpPr>
        <p:spPr>
          <a:xfrm>
            <a:off x="4703978"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ممتازة للحساسات، ولا تصلح لليد أو ريليه</a:t>
            </a:r>
            <a:endParaRPr lang="ar-SA" sz="1900" dirty="0"/>
          </a:p>
        </p:txBody>
      </p:sp>
      <p:sp>
        <p:nvSpPr>
          <p:cNvPr id="15" name="anim-g3-204"/>
          <p:cNvSpPr/>
          <p:nvPr/>
        </p:nvSpPr>
        <p:spPr>
          <a:xfrm>
            <a:off x="822960"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205"/>
          <p:cNvSpPr/>
          <p:nvPr/>
        </p:nvSpPr>
        <p:spPr>
          <a:xfrm>
            <a:off x="3314090" y="2267712"/>
            <a:ext cx="566928" cy="566928"/>
          </a:xfrm>
          <a:prstGeom prst="roundRect">
            <a:avLst>
              <a:gd name="adj" fmla="val 32258"/>
            </a:avLst>
          </a:prstGeom>
          <a:solidFill>
            <a:srgbClr val="F7E6BC"/>
          </a:solidFill>
          <a:ln/>
        </p:spPr>
      </p:sp>
      <p:sp>
        <p:nvSpPr>
          <p:cNvPr id="17" name="anim-g3-206"/>
          <p:cNvSpPr/>
          <p:nvPr/>
        </p:nvSpPr>
        <p:spPr>
          <a:xfrm>
            <a:off x="3314090"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207"/>
          <p:cNvSpPr/>
          <p:nvPr/>
        </p:nvSpPr>
        <p:spPr>
          <a:xfrm>
            <a:off x="1097280"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أطراف الإقلاع</a:t>
            </a:r>
            <a:endParaRPr lang="ar-SA" sz="2200" dirty="0"/>
          </a:p>
        </p:txBody>
      </p:sp>
      <p:sp>
        <p:nvSpPr>
          <p:cNvPr id="19" name="anim-g3-208"/>
          <p:cNvSpPr/>
          <p:nvPr/>
        </p:nvSpPr>
        <p:spPr>
          <a:xfrm>
            <a:off x="1097280"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تجنب 0 و2 و12 و15 وTX0/RX0 ما استطعت</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ESP32  ·  ٢٢</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296351" y="457200"/>
            <a:ext cx="3072384" cy="457200"/>
          </a:xfrm>
          <a:prstGeom prst="roundRect">
            <a:avLst>
              <a:gd name="adj" fmla="val 50000"/>
            </a:avLst>
          </a:prstGeom>
          <a:solidFill>
            <a:srgbClr val="F6EBCF"/>
          </a:solidFill>
          <a:ln/>
        </p:spPr>
      </p:sp>
      <p:sp>
        <p:nvSpPr>
          <p:cNvPr id="3" name="Text 1"/>
          <p:cNvSpPr/>
          <p:nvPr/>
        </p:nvSpPr>
        <p:spPr>
          <a:xfrm>
            <a:off x="8296351" y="457200"/>
            <a:ext cx="3072384"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تجهيز البيئة</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ESP32 في Arduino IDE بأربع خطوات</a:t>
            </a:r>
            <a:endParaRPr lang="ar-SA" sz="3800" dirty="0"/>
          </a:p>
        </p:txBody>
      </p:sp>
      <p:sp>
        <p:nvSpPr>
          <p:cNvPr id="5" name="anim-g1-209"/>
          <p:cNvSpPr/>
          <p:nvPr/>
        </p:nvSpPr>
        <p:spPr>
          <a:xfrm>
            <a:off x="822960" y="1920240"/>
            <a:ext cx="10545775" cy="946404"/>
          </a:xfrm>
          <a:prstGeom prst="roundRect">
            <a:avLst>
              <a:gd name="adj" fmla="val 15459"/>
            </a:avLst>
          </a:prstGeom>
          <a:solidFill>
            <a:srgbClr val="FFFFFF"/>
          </a:solidFill>
          <a:ln w="12700">
            <a:solidFill>
              <a:srgbClr val="E4DCC8"/>
            </a:solidFill>
            <a:prstDash val="solid"/>
          </a:ln>
        </p:spPr>
      </p:sp>
      <p:sp>
        <p:nvSpPr>
          <p:cNvPr id="6" name="anim-g1-210"/>
          <p:cNvSpPr/>
          <p:nvPr/>
        </p:nvSpPr>
        <p:spPr>
          <a:xfrm>
            <a:off x="10573207" y="2109978"/>
            <a:ext cx="566928" cy="566928"/>
          </a:xfrm>
          <a:prstGeom prst="ellipse">
            <a:avLst/>
          </a:prstGeom>
          <a:solidFill>
            <a:srgbClr val="D9AE4B"/>
          </a:solidFill>
          <a:ln/>
        </p:spPr>
      </p:sp>
      <p:sp>
        <p:nvSpPr>
          <p:cNvPr id="7" name="anim-g1-211"/>
          <p:cNvSpPr/>
          <p:nvPr/>
        </p:nvSpPr>
        <p:spPr>
          <a:xfrm>
            <a:off x="10573207" y="2109978"/>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١</a:t>
            </a:r>
            <a:endParaRPr lang="ar-SA" sz="2000" dirty="0"/>
          </a:p>
        </p:txBody>
      </p:sp>
      <p:sp>
        <p:nvSpPr>
          <p:cNvPr id="8" name="anim-g1-212"/>
          <p:cNvSpPr/>
          <p:nvPr/>
        </p:nvSpPr>
        <p:spPr>
          <a:xfrm>
            <a:off x="1097280" y="1920240"/>
            <a:ext cx="9247327" cy="946404"/>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File ← Preferences</a:t>
            </a:r>
            <a:endParaRPr lang="ar-SA" sz="2400" dirty="0"/>
          </a:p>
          <a:p>
            <a:pPr algn="r" indent="0" marL="0">
              <a:buNone/>
            </a:pPr>
            <a:r>
              <a:rPr lang="ar-SA" altLang="en-US" sz="2000" b="1" dirty="0">
                <a:solidFill>
                  <a:srgbClr val="3B4460"/>
                </a:solidFill>
                <a:latin typeface="Cairo" pitchFamily="34" charset="0"/>
                <a:ea typeface="Cairo" pitchFamily="34" charset="-122"/>
                <a:cs typeface="Cairo" pitchFamily="34" charset="-120"/>
              </a:rPr>
              <a:t>أضف رابط لوحات Espressif في Additional boards URLs</a:t>
            </a:r>
            <a:endParaRPr lang="ar-SA" sz="2400" dirty="0"/>
          </a:p>
        </p:txBody>
      </p:sp>
      <p:sp>
        <p:nvSpPr>
          <p:cNvPr id="9" name="anim-g2-213"/>
          <p:cNvSpPr/>
          <p:nvPr/>
        </p:nvSpPr>
        <p:spPr>
          <a:xfrm>
            <a:off x="822960" y="2976372"/>
            <a:ext cx="10545775" cy="946404"/>
          </a:xfrm>
          <a:prstGeom prst="roundRect">
            <a:avLst>
              <a:gd name="adj" fmla="val 15459"/>
            </a:avLst>
          </a:prstGeom>
          <a:solidFill>
            <a:srgbClr val="FFFFFF"/>
          </a:solidFill>
          <a:ln w="12700">
            <a:solidFill>
              <a:srgbClr val="E4DCC8"/>
            </a:solidFill>
            <a:prstDash val="solid"/>
          </a:ln>
        </p:spPr>
      </p:sp>
      <p:sp>
        <p:nvSpPr>
          <p:cNvPr id="10" name="anim-g2-214"/>
          <p:cNvSpPr/>
          <p:nvPr/>
        </p:nvSpPr>
        <p:spPr>
          <a:xfrm>
            <a:off x="10573207" y="3166110"/>
            <a:ext cx="566928" cy="566928"/>
          </a:xfrm>
          <a:prstGeom prst="ellipse">
            <a:avLst/>
          </a:prstGeom>
          <a:solidFill>
            <a:srgbClr val="D9AE4B"/>
          </a:solidFill>
          <a:ln/>
        </p:spPr>
      </p:sp>
      <p:sp>
        <p:nvSpPr>
          <p:cNvPr id="11" name="anim-g2-215"/>
          <p:cNvSpPr/>
          <p:nvPr/>
        </p:nvSpPr>
        <p:spPr>
          <a:xfrm>
            <a:off x="10573207" y="3166110"/>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٢</a:t>
            </a:r>
            <a:endParaRPr lang="ar-SA" sz="2000" dirty="0"/>
          </a:p>
        </p:txBody>
      </p:sp>
      <p:sp>
        <p:nvSpPr>
          <p:cNvPr id="12" name="anim-g2-216"/>
          <p:cNvSpPr/>
          <p:nvPr/>
        </p:nvSpPr>
        <p:spPr>
          <a:xfrm>
            <a:off x="1097280" y="2976372"/>
            <a:ext cx="9247327" cy="946404"/>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Boards Manager</a:t>
            </a:r>
            <a:endParaRPr lang="ar-SA" sz="2400" dirty="0"/>
          </a:p>
          <a:p>
            <a:pPr algn="r" indent="0" marL="0">
              <a:buNone/>
            </a:pPr>
            <a:r>
              <a:rPr lang="ar-SA" altLang="en-US" sz="2000" b="1" dirty="0">
                <a:solidFill>
                  <a:srgbClr val="3B4460"/>
                </a:solidFill>
                <a:latin typeface="Cairo" pitchFamily="34" charset="0"/>
                <a:ea typeface="Cairo" pitchFamily="34" charset="-122"/>
                <a:cs typeface="Cairo" pitchFamily="34" charset="-120"/>
              </a:rPr>
              <a:t>ابحث عن esp32 وثبّت حزمة Espressif Systems</a:t>
            </a:r>
            <a:endParaRPr lang="ar-SA" sz="2400" dirty="0"/>
          </a:p>
        </p:txBody>
      </p:sp>
      <p:sp>
        <p:nvSpPr>
          <p:cNvPr id="13" name="anim-g3-217"/>
          <p:cNvSpPr/>
          <p:nvPr/>
        </p:nvSpPr>
        <p:spPr>
          <a:xfrm>
            <a:off x="822960" y="4032504"/>
            <a:ext cx="10545775" cy="946404"/>
          </a:xfrm>
          <a:prstGeom prst="roundRect">
            <a:avLst>
              <a:gd name="adj" fmla="val 15459"/>
            </a:avLst>
          </a:prstGeom>
          <a:solidFill>
            <a:srgbClr val="FFFFFF"/>
          </a:solidFill>
          <a:ln w="12700">
            <a:solidFill>
              <a:srgbClr val="E4DCC8"/>
            </a:solidFill>
            <a:prstDash val="solid"/>
          </a:ln>
        </p:spPr>
      </p:sp>
      <p:sp>
        <p:nvSpPr>
          <p:cNvPr id="14" name="anim-g3-218"/>
          <p:cNvSpPr/>
          <p:nvPr/>
        </p:nvSpPr>
        <p:spPr>
          <a:xfrm>
            <a:off x="10573207" y="4222242"/>
            <a:ext cx="566928" cy="566928"/>
          </a:xfrm>
          <a:prstGeom prst="ellipse">
            <a:avLst/>
          </a:prstGeom>
          <a:solidFill>
            <a:srgbClr val="D9AE4B"/>
          </a:solidFill>
          <a:ln/>
        </p:spPr>
      </p:sp>
      <p:sp>
        <p:nvSpPr>
          <p:cNvPr id="15" name="anim-g3-219"/>
          <p:cNvSpPr/>
          <p:nvPr/>
        </p:nvSpPr>
        <p:spPr>
          <a:xfrm>
            <a:off x="10573207" y="4222242"/>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٣</a:t>
            </a:r>
            <a:endParaRPr lang="ar-SA" sz="2000" dirty="0"/>
          </a:p>
        </p:txBody>
      </p:sp>
      <p:sp>
        <p:nvSpPr>
          <p:cNvPr id="16" name="anim-g3-220"/>
          <p:cNvSpPr/>
          <p:nvPr/>
        </p:nvSpPr>
        <p:spPr>
          <a:xfrm>
            <a:off x="1097280" y="4032504"/>
            <a:ext cx="9247327" cy="946404"/>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Tools ← Board</a:t>
            </a:r>
            <a:endParaRPr lang="ar-SA" sz="2400" dirty="0"/>
          </a:p>
          <a:p>
            <a:pPr algn="r" indent="0" marL="0">
              <a:buNone/>
            </a:pPr>
            <a:r>
              <a:rPr lang="ar-SA" altLang="en-US" sz="2000" b="1" dirty="0">
                <a:solidFill>
                  <a:srgbClr val="3B4460"/>
                </a:solidFill>
                <a:latin typeface="Cairo" pitchFamily="34" charset="0"/>
                <a:ea typeface="Cairo" pitchFamily="34" charset="-122"/>
                <a:cs typeface="Cairo" pitchFamily="34" charset="-120"/>
              </a:rPr>
              <a:t>اختر ESP32 Dev Module، ثم المنفذ</a:t>
            </a:r>
            <a:endParaRPr lang="ar-SA" sz="2400" dirty="0"/>
          </a:p>
        </p:txBody>
      </p:sp>
      <p:sp>
        <p:nvSpPr>
          <p:cNvPr id="17" name="anim-g4-221"/>
          <p:cNvSpPr/>
          <p:nvPr/>
        </p:nvSpPr>
        <p:spPr>
          <a:xfrm>
            <a:off x="822960" y="5088636"/>
            <a:ext cx="10545775" cy="946404"/>
          </a:xfrm>
          <a:prstGeom prst="roundRect">
            <a:avLst>
              <a:gd name="adj" fmla="val 15459"/>
            </a:avLst>
          </a:prstGeom>
          <a:solidFill>
            <a:srgbClr val="FFFFFF"/>
          </a:solidFill>
          <a:ln w="12700">
            <a:solidFill>
              <a:srgbClr val="E4DCC8"/>
            </a:solidFill>
            <a:prstDash val="solid"/>
          </a:ln>
        </p:spPr>
      </p:sp>
      <p:sp>
        <p:nvSpPr>
          <p:cNvPr id="18" name="anim-g4-222"/>
          <p:cNvSpPr/>
          <p:nvPr/>
        </p:nvSpPr>
        <p:spPr>
          <a:xfrm>
            <a:off x="10573207" y="5278374"/>
            <a:ext cx="566928" cy="566928"/>
          </a:xfrm>
          <a:prstGeom prst="ellipse">
            <a:avLst/>
          </a:prstGeom>
          <a:solidFill>
            <a:srgbClr val="D9AE4B"/>
          </a:solidFill>
          <a:ln/>
        </p:spPr>
      </p:sp>
      <p:sp>
        <p:nvSpPr>
          <p:cNvPr id="19" name="anim-g4-223"/>
          <p:cNvSpPr/>
          <p:nvPr/>
        </p:nvSpPr>
        <p:spPr>
          <a:xfrm>
            <a:off x="10573207" y="5278374"/>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٤</a:t>
            </a:r>
            <a:endParaRPr lang="ar-SA" sz="2000" dirty="0"/>
          </a:p>
        </p:txBody>
      </p:sp>
      <p:sp>
        <p:nvSpPr>
          <p:cNvPr id="20" name="anim-g4-224"/>
          <p:cNvSpPr/>
          <p:nvPr/>
        </p:nvSpPr>
        <p:spPr>
          <a:xfrm>
            <a:off x="1097280" y="5088636"/>
            <a:ext cx="9247327" cy="946404"/>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ارفع Blink على GPIO2</a:t>
            </a:r>
            <a:endParaRPr lang="ar-SA" sz="2400" dirty="0"/>
          </a:p>
          <a:p>
            <a:pPr algn="r" indent="0" marL="0">
              <a:buNone/>
            </a:pPr>
            <a:r>
              <a:rPr lang="ar-SA" altLang="en-US" sz="2000" b="1" dirty="0">
                <a:solidFill>
                  <a:srgbClr val="3B4460"/>
                </a:solidFill>
                <a:latin typeface="Cairo" pitchFamily="34" charset="0"/>
                <a:ea typeface="Cairo" pitchFamily="34" charset="-122"/>
                <a:cs typeface="Cairo" pitchFamily="34" charset="-120"/>
              </a:rPr>
              <a:t>إن لم يبدأ الرفع: اضغط زر BOOT لحظة ظهور Connecting…</a:t>
            </a:r>
            <a:endParaRPr lang="ar-SA" sz="2400" dirty="0"/>
          </a:p>
        </p:txBody>
      </p:sp>
      <p:sp>
        <p:nvSpPr>
          <p:cNvPr id="21" name="Text 19"/>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2" name="Text 20"/>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ESP32  ·  ٢٣</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Image 0" descr="C:\Users\user\projects\younes-training\turath\.pptx-cache\s24-0.jpg">    </p:cNvPr>
          <p:cNvPicPr>
            <a:picLocks noChangeAspect="1"/>
          </p:cNvPicPr>
          <p:nvPr/>
        </p:nvPicPr>
        <p:blipFill>
          <a:blip r:embed="rId1"/>
          <a:stretch>
            <a:fillRect/>
          </a:stretch>
        </p:blipFill>
        <p:spPr>
          <a:xfrm>
            <a:off x="0" y="0"/>
            <a:ext cx="12191695" cy="6858000"/>
          </a:xfrm>
          <a:prstGeom prst="rect">
            <a:avLst/>
          </a:prstGeom>
        </p:spPr>
      </p:pic>
      <p:pic>
        <p:nvPicPr>
          <p:cNvPr id="3" name="anim-g1-225" descr="C:\Users\user\projects\younes-training\turath\.pptx-cache\s24-1.jpg">    </p:cNvPr>
          <p:cNvPicPr>
            <a:picLocks noChangeAspect="1"/>
          </p:cNvPicPr>
          <p:nvPr/>
        </p:nvPicPr>
        <p:blipFill>
          <a:blip r:embed="rId2"/>
          <a:stretch>
            <a:fillRect/>
          </a:stretch>
        </p:blipFill>
        <p:spPr>
          <a:xfrm>
            <a:off x="0" y="0"/>
            <a:ext cx="12191695" cy="6858000"/>
          </a:xfrm>
          <a:prstGeom prst="rect">
            <a:avLst/>
          </a:prstGeom>
        </p:spPr>
      </p:pic>
      <p:pic>
        <p:nvPicPr>
          <p:cNvPr id="4" name="anim-g2-226" descr="C:\Users\user\projects\younes-training\turath\.pptx-cache\s24-2.jpg">    </p:cNvPr>
          <p:cNvPicPr>
            <a:picLocks noChangeAspect="1"/>
          </p:cNvPicPr>
          <p:nvPr/>
        </p:nvPicPr>
        <p:blipFill>
          <a:blip r:embed="rId3"/>
          <a:stretch>
            <a:fillRect/>
          </a:stretch>
        </p:blipFill>
        <p:spPr>
          <a:xfrm>
            <a:off x="0" y="0"/>
            <a:ext cx="12191695" cy="6858000"/>
          </a:xfrm>
          <a:prstGeom prst="rect">
            <a:avLst/>
          </a:prstGeom>
        </p:spPr>
      </p:pic>
      <p:pic>
        <p:nvPicPr>
          <p:cNvPr id="5" name="anim-g3-227" descr="C:\Users\user\projects\younes-training\turath\.pptx-cache\s24-3.jpg">    </p:cNvPr>
          <p:cNvPicPr>
            <a:picLocks noChangeAspect="1"/>
          </p:cNvPicPr>
          <p:nvPr/>
        </p:nvPicPr>
        <p:blipFill>
          <a:blip r:embed="rId4"/>
          <a:stretch>
            <a:fillRect/>
          </a:stretch>
        </p:blipFill>
        <p:spPr>
          <a:xfrm>
            <a:off x="0" y="0"/>
            <a:ext cx="12191695" cy="6858000"/>
          </a:xfrm>
          <a:prstGeom prst="rect">
            <a:avLst/>
          </a:prstGeom>
        </p:spPr>
      </p:pic>
      <p:pic>
        <p:nvPicPr>
          <p:cNvPr id="6" name="anim-g4-228" descr="C:\Users\user\projects\younes-training\turath\.pptx-cache\s24-4.jpg">    </p:cNvPr>
          <p:cNvPicPr>
            <a:picLocks noChangeAspect="1"/>
          </p:cNvPicPr>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Image 0" descr="C:\Users\user\projects\younes-training\turath\.pptx-cache\s25.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خلاصة المحور</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rtl="1"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دماغ أسرع بخمس عشرة مرة، وجهد أقل، وأذن لاسلكية: ESP32 جاهز لحراسة المصمك</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لمسة تراث</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 ESP32  ·  ٢٦</a:t>
            </a:r>
            <a:endParaRPr lang="ar-SA"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097280" y="2103120"/>
            <a:ext cx="2651760" cy="2651760"/>
          </a:xfrm>
          <a:prstGeom prst="ellipse">
            <a:avLst/>
          </a:prstGeom>
          <a:solidFill>
            <a:srgbClr val="D9AE4B">
              <a:alpha val="12000"/>
            </a:srgbClr>
          </a:solidFill>
          <a:ln w="63500">
            <a:solidFill>
              <a:srgbClr val="D9AE4B">
                <a:alpha val="60000"/>
              </a:srgbClr>
            </a:solidFill>
            <a:prstDash val="solid"/>
          </a:ln>
        </p:spPr>
      </p:sp>
      <p:sp>
        <p:nvSpPr>
          <p:cNvPr id="3" name="Text 1"/>
          <p:cNvSpPr/>
          <p:nvPr/>
        </p:nvSpPr>
        <p:spPr>
          <a:xfrm>
            <a:off x="1097280" y="2103120"/>
            <a:ext cx="2651760" cy="2651760"/>
          </a:xfrm>
          <a:prstGeom prst="rect">
            <a:avLst/>
          </a:prstGeom>
          <a:noFill/>
          <a:ln/>
        </p:spPr>
        <p:txBody>
          <a:bodyPr wrap="square" lIns="0" tIns="0" rIns="0" bIns="0" rtlCol="0" anchor="ctr">
            <a:normAutofit/>
          </a:bodyPr>
          <a:lstStyle/>
          <a:p>
            <a:pPr rtl="1" algn="ctr" indent="0" marL="0">
              <a:buNone/>
            </a:pPr>
            <a:r>
              <a:rPr lang="ar-SA" altLang="en-US" sz="12000" dirty="0">
                <a:solidFill>
                  <a:srgbClr val="F0CC7A"/>
                </a:solidFill>
                <a:latin typeface="Cairo Black" pitchFamily="34" charset="0"/>
                <a:ea typeface="Cairo Black" pitchFamily="34" charset="-122"/>
                <a:cs typeface="Cairo Black" pitchFamily="34" charset="-120"/>
              </a:rPr>
              <a:t>٣</a:t>
            </a:r>
            <a:endParaRPr lang="ar-SA" sz="12000" dirty="0"/>
          </a:p>
        </p:txBody>
      </p:sp>
      <p:sp>
        <p:nvSpPr>
          <p:cNvPr id="4" name="Text 2"/>
          <p:cNvSpPr/>
          <p:nvPr/>
        </p:nvSpPr>
        <p:spPr>
          <a:xfrm>
            <a:off x="4206240" y="1828800"/>
            <a:ext cx="7162495" cy="457200"/>
          </a:xfrm>
          <a:prstGeom prst="rect">
            <a:avLst/>
          </a:prstGeom>
          <a:noFill/>
          <a:ln/>
        </p:spPr>
        <p:txBody>
          <a:bodyPr wrap="square" lIns="0" tIns="0" rIns="0" bIns="0" rtlCol="0" anchor="ctr">
            <a:normAutofit/>
          </a:bodyPr>
          <a:lstStyle/>
          <a:p>
            <a:pPr rtl="1" algn="r" indent="0" marL="0">
              <a:buNone/>
            </a:pPr>
            <a:r>
              <a:rPr lang="ar-SA" altLang="en-US" sz="2000" b="1" dirty="0">
                <a:solidFill>
                  <a:srgbClr val="D9AE4B"/>
                </a:solidFill>
                <a:latin typeface="Cairo" pitchFamily="34" charset="0"/>
                <a:ea typeface="Cairo" pitchFamily="34" charset="-122"/>
                <a:cs typeface="Cairo" pitchFamily="34" charset="-120"/>
              </a:rPr>
              <a:t>المحور ٣</a:t>
            </a:r>
            <a:endParaRPr lang="ar-SA" sz="2000" dirty="0"/>
          </a:p>
        </p:txBody>
      </p:sp>
      <p:sp>
        <p:nvSpPr>
          <p:cNvPr id="5" name="Text 3"/>
          <p:cNvSpPr/>
          <p:nvPr/>
        </p:nvSpPr>
        <p:spPr>
          <a:xfrm>
            <a:off x="4206240" y="2286000"/>
            <a:ext cx="7162495" cy="1371600"/>
          </a:xfrm>
          <a:prstGeom prst="rect">
            <a:avLst/>
          </a:prstGeom>
          <a:noFill/>
          <a:ln/>
        </p:spPr>
        <p:txBody>
          <a:bodyPr wrap="square" lIns="0" tIns="0" rIns="0" bIns="0" rtlCol="0" anchor="ctr">
            <a:normAutofit/>
          </a:bodyPr>
          <a:lstStyle/>
          <a:p>
            <a:pPr rtl="1" algn="r" indent="0" marL="0">
              <a:buNone/>
            </a:pPr>
            <a:r>
              <a:rPr lang="ar-SA" altLang="en-US" sz="5600" dirty="0">
                <a:solidFill>
                  <a:srgbClr val="FFFFFF"/>
                </a:solidFill>
                <a:latin typeface="Cairo Black" pitchFamily="34" charset="0"/>
                <a:ea typeface="Cairo Black" pitchFamily="34" charset="-122"/>
                <a:cs typeface="Cairo Black" pitchFamily="34" charset="-120"/>
              </a:rPr>
              <a:t>🎠 المصمك يدور</a:t>
            </a:r>
            <a:endParaRPr lang="ar-SA" sz="5600" dirty="0"/>
          </a:p>
        </p:txBody>
      </p:sp>
      <p:sp>
        <p:nvSpPr>
          <p:cNvPr id="6" name="Text 4"/>
          <p:cNvSpPr/>
          <p:nvPr/>
        </p:nvSpPr>
        <p:spPr>
          <a:xfrm>
            <a:off x="4206240" y="3749040"/>
            <a:ext cx="7162495" cy="822960"/>
          </a:xfrm>
          <a:prstGeom prst="rect">
            <a:avLst/>
          </a:prstGeom>
          <a:noFill/>
          <a:ln/>
        </p:spPr>
        <p:txBody>
          <a:bodyPr wrap="square" lIns="0" tIns="0" rIns="0" bIns="0" rtlCol="0" anchor="ctr">
            <a:normAutofit/>
          </a:bodyPr>
          <a:lstStyle/>
          <a:p>
            <a:pPr rtl="1" algn="r" indent="0" marL="0">
              <a:buNone/>
            </a:pPr>
            <a:r>
              <a:rPr lang="ar-SA" altLang="en-US" sz="2200" b="1" dirty="0">
                <a:solidFill>
                  <a:srgbClr val="C9CFE6"/>
                </a:solidFill>
                <a:latin typeface="Cairo" pitchFamily="34" charset="0"/>
                <a:ea typeface="Cairo" pitchFamily="34" charset="-122"/>
                <a:cs typeface="Cairo" pitchFamily="34" charset="-120"/>
              </a:rPr>
              <a:t>محرك خطوي NEMA17 ودرايفر A4988</a:t>
            </a:r>
            <a:endParaRPr lang="ar-SA" sz="2200" dirty="0"/>
          </a:p>
        </p:txBody>
      </p:sp>
      <p:sp>
        <p:nvSpPr>
          <p:cNvPr id="7" name="Text 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لمسة تراث</a:t>
            </a:r>
            <a:endParaRPr lang="ar-SA" sz="1200" dirty="0"/>
          </a:p>
        </p:txBody>
      </p:sp>
      <p:sp>
        <p:nvSpPr>
          <p:cNvPr id="8" name="Text 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 المنصة الدوّارة  ·  ٢٧</a:t>
            </a:r>
            <a:endParaRPr lang="ar-SA"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248095" y="457200"/>
            <a:ext cx="5120640" cy="457200"/>
          </a:xfrm>
          <a:prstGeom prst="roundRect">
            <a:avLst>
              <a:gd name="adj" fmla="val 50000"/>
            </a:avLst>
          </a:prstGeom>
          <a:solidFill>
            <a:srgbClr val="F6EBCF"/>
          </a:solidFill>
          <a:ln/>
        </p:spPr>
      </p:sp>
      <p:sp>
        <p:nvSpPr>
          <p:cNvPr id="3" name="Text 1"/>
          <p:cNvSpPr/>
          <p:nvPr/>
        </p:nvSpPr>
        <p:spPr>
          <a:xfrm>
            <a:off x="6248095" y="457200"/>
            <a:ext cx="512064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بنهاية هذا المحور تستطيع أن</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أهداف المحور</a:t>
            </a:r>
            <a:endParaRPr lang="ar-SA" sz="3800" dirty="0"/>
          </a:p>
        </p:txBody>
      </p:sp>
      <p:sp>
        <p:nvSpPr>
          <p:cNvPr id="5" name="anim-g1-229"/>
          <p:cNvSpPr/>
          <p:nvPr/>
        </p:nvSpPr>
        <p:spPr>
          <a:xfrm>
            <a:off x="822960" y="1920240"/>
            <a:ext cx="10545775" cy="946404"/>
          </a:xfrm>
          <a:prstGeom prst="roundRect">
            <a:avLst>
              <a:gd name="adj" fmla="val 15459"/>
            </a:avLst>
          </a:prstGeom>
          <a:solidFill>
            <a:srgbClr val="FFFFFF"/>
          </a:solidFill>
          <a:ln w="12700">
            <a:solidFill>
              <a:srgbClr val="E4DCC8"/>
            </a:solidFill>
            <a:prstDash val="solid"/>
          </a:ln>
        </p:spPr>
      </p:sp>
      <p:sp>
        <p:nvSpPr>
          <p:cNvPr id="6" name="anim-g1-230"/>
          <p:cNvSpPr/>
          <p:nvPr/>
        </p:nvSpPr>
        <p:spPr>
          <a:xfrm>
            <a:off x="10573207" y="2109978"/>
            <a:ext cx="566928" cy="566928"/>
          </a:xfrm>
          <a:prstGeom prst="ellipse">
            <a:avLst/>
          </a:prstGeom>
          <a:solidFill>
            <a:srgbClr val="D9AE4B"/>
          </a:solidFill>
          <a:ln/>
        </p:spPr>
      </p:sp>
      <p:sp>
        <p:nvSpPr>
          <p:cNvPr id="7" name="anim-g1-231"/>
          <p:cNvSpPr/>
          <p:nvPr/>
        </p:nvSpPr>
        <p:spPr>
          <a:xfrm>
            <a:off x="10573207" y="2109978"/>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١</a:t>
            </a:r>
            <a:endParaRPr lang="ar-SA" sz="2000" dirty="0"/>
          </a:p>
        </p:txBody>
      </p:sp>
      <p:sp>
        <p:nvSpPr>
          <p:cNvPr id="8" name="anim-g1-232"/>
          <p:cNvSpPr/>
          <p:nvPr/>
        </p:nvSpPr>
        <p:spPr>
          <a:xfrm>
            <a:off x="1097280" y="1920240"/>
            <a:ext cx="9247327" cy="946404"/>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تشرح عمل أطراف A4988: STEP وDIR وEN</a:t>
            </a:r>
            <a:endParaRPr lang="ar-SA" sz="2400" dirty="0"/>
          </a:p>
        </p:txBody>
      </p:sp>
      <p:sp>
        <p:nvSpPr>
          <p:cNvPr id="9" name="anim-g2-233"/>
          <p:cNvSpPr/>
          <p:nvPr/>
        </p:nvSpPr>
        <p:spPr>
          <a:xfrm>
            <a:off x="822960" y="2976372"/>
            <a:ext cx="10545775" cy="946404"/>
          </a:xfrm>
          <a:prstGeom prst="roundRect">
            <a:avLst>
              <a:gd name="adj" fmla="val 15459"/>
            </a:avLst>
          </a:prstGeom>
          <a:solidFill>
            <a:srgbClr val="FFFFFF"/>
          </a:solidFill>
          <a:ln w="12700">
            <a:solidFill>
              <a:srgbClr val="E4DCC8"/>
            </a:solidFill>
            <a:prstDash val="solid"/>
          </a:ln>
        </p:spPr>
      </p:sp>
      <p:sp>
        <p:nvSpPr>
          <p:cNvPr id="10" name="anim-g2-234"/>
          <p:cNvSpPr/>
          <p:nvPr/>
        </p:nvSpPr>
        <p:spPr>
          <a:xfrm>
            <a:off x="10573207" y="3166110"/>
            <a:ext cx="566928" cy="566928"/>
          </a:xfrm>
          <a:prstGeom prst="ellipse">
            <a:avLst/>
          </a:prstGeom>
          <a:solidFill>
            <a:srgbClr val="D9AE4B"/>
          </a:solidFill>
          <a:ln/>
        </p:spPr>
      </p:sp>
      <p:sp>
        <p:nvSpPr>
          <p:cNvPr id="11" name="anim-g2-235"/>
          <p:cNvSpPr/>
          <p:nvPr/>
        </p:nvSpPr>
        <p:spPr>
          <a:xfrm>
            <a:off x="10573207" y="3166110"/>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٢</a:t>
            </a:r>
            <a:endParaRPr lang="ar-SA" sz="2000" dirty="0"/>
          </a:p>
        </p:txBody>
      </p:sp>
      <p:sp>
        <p:nvSpPr>
          <p:cNvPr id="12" name="anim-g2-236"/>
          <p:cNvSpPr/>
          <p:nvPr/>
        </p:nvSpPr>
        <p:spPr>
          <a:xfrm>
            <a:off x="1097280" y="2976372"/>
            <a:ext cx="9247327" cy="946404"/>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تضبط السرعة بالزمن بين النبضات</a:t>
            </a:r>
            <a:endParaRPr lang="ar-SA" sz="2400" dirty="0"/>
          </a:p>
        </p:txBody>
      </p:sp>
      <p:sp>
        <p:nvSpPr>
          <p:cNvPr id="13" name="anim-g3-237"/>
          <p:cNvSpPr/>
          <p:nvPr/>
        </p:nvSpPr>
        <p:spPr>
          <a:xfrm>
            <a:off x="822960" y="4032504"/>
            <a:ext cx="10545775" cy="946404"/>
          </a:xfrm>
          <a:prstGeom prst="roundRect">
            <a:avLst>
              <a:gd name="adj" fmla="val 15459"/>
            </a:avLst>
          </a:prstGeom>
          <a:solidFill>
            <a:srgbClr val="FFFFFF"/>
          </a:solidFill>
          <a:ln w="12700">
            <a:solidFill>
              <a:srgbClr val="E4DCC8"/>
            </a:solidFill>
            <a:prstDash val="solid"/>
          </a:ln>
        </p:spPr>
      </p:sp>
      <p:sp>
        <p:nvSpPr>
          <p:cNvPr id="14" name="anim-g3-238"/>
          <p:cNvSpPr/>
          <p:nvPr/>
        </p:nvSpPr>
        <p:spPr>
          <a:xfrm>
            <a:off x="10573207" y="4222242"/>
            <a:ext cx="566928" cy="566928"/>
          </a:xfrm>
          <a:prstGeom prst="ellipse">
            <a:avLst/>
          </a:prstGeom>
          <a:solidFill>
            <a:srgbClr val="D9AE4B"/>
          </a:solidFill>
          <a:ln/>
        </p:spPr>
      </p:sp>
      <p:sp>
        <p:nvSpPr>
          <p:cNvPr id="15" name="anim-g3-239"/>
          <p:cNvSpPr/>
          <p:nvPr/>
        </p:nvSpPr>
        <p:spPr>
          <a:xfrm>
            <a:off x="10573207" y="4222242"/>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٣</a:t>
            </a:r>
            <a:endParaRPr lang="ar-SA" sz="2000" dirty="0"/>
          </a:p>
        </p:txBody>
      </p:sp>
      <p:sp>
        <p:nvSpPr>
          <p:cNvPr id="16" name="anim-g3-240"/>
          <p:cNvSpPr/>
          <p:nvPr/>
        </p:nvSpPr>
        <p:spPr>
          <a:xfrm>
            <a:off x="1097280" y="4032504"/>
            <a:ext cx="9247327" cy="946404"/>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تفهم الخطوات الدقيقة وفائدتها للنعومة</a:t>
            </a:r>
            <a:endParaRPr lang="ar-SA" sz="2400" dirty="0"/>
          </a:p>
        </p:txBody>
      </p:sp>
      <p:sp>
        <p:nvSpPr>
          <p:cNvPr id="17" name="anim-g4-241"/>
          <p:cNvSpPr/>
          <p:nvPr/>
        </p:nvSpPr>
        <p:spPr>
          <a:xfrm>
            <a:off x="822960" y="5088636"/>
            <a:ext cx="10545775" cy="946404"/>
          </a:xfrm>
          <a:prstGeom prst="roundRect">
            <a:avLst>
              <a:gd name="adj" fmla="val 15459"/>
            </a:avLst>
          </a:prstGeom>
          <a:solidFill>
            <a:srgbClr val="FFFFFF"/>
          </a:solidFill>
          <a:ln w="12700">
            <a:solidFill>
              <a:srgbClr val="E4DCC8"/>
            </a:solidFill>
            <a:prstDash val="solid"/>
          </a:ln>
        </p:spPr>
      </p:sp>
      <p:sp>
        <p:nvSpPr>
          <p:cNvPr id="18" name="anim-g4-242"/>
          <p:cNvSpPr/>
          <p:nvPr/>
        </p:nvSpPr>
        <p:spPr>
          <a:xfrm>
            <a:off x="10573207" y="5278374"/>
            <a:ext cx="566928" cy="566928"/>
          </a:xfrm>
          <a:prstGeom prst="ellipse">
            <a:avLst/>
          </a:prstGeom>
          <a:solidFill>
            <a:srgbClr val="D9AE4B"/>
          </a:solidFill>
          <a:ln/>
        </p:spPr>
      </p:sp>
      <p:sp>
        <p:nvSpPr>
          <p:cNvPr id="19" name="anim-g4-243"/>
          <p:cNvSpPr/>
          <p:nvPr/>
        </p:nvSpPr>
        <p:spPr>
          <a:xfrm>
            <a:off x="10573207" y="5278374"/>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٤</a:t>
            </a:r>
            <a:endParaRPr lang="ar-SA" sz="2000" dirty="0"/>
          </a:p>
        </p:txBody>
      </p:sp>
      <p:sp>
        <p:nvSpPr>
          <p:cNvPr id="20" name="anim-g4-244"/>
          <p:cNvSpPr/>
          <p:nvPr/>
        </p:nvSpPr>
        <p:spPr>
          <a:xfrm>
            <a:off x="1097280" y="5088636"/>
            <a:ext cx="9247327" cy="946404"/>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توصل المحرك بمصدر 12 فولت مستقل وأرضي مشترك</a:t>
            </a:r>
            <a:endParaRPr lang="ar-SA" sz="2400" dirty="0"/>
          </a:p>
        </p:txBody>
      </p:sp>
      <p:sp>
        <p:nvSpPr>
          <p:cNvPr id="21" name="Text 19"/>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2" name="Text 20"/>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المنصة الدوّارة  ·  ٢٨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442655" y="457200"/>
            <a:ext cx="2926080" cy="457200"/>
          </a:xfrm>
          <a:prstGeom prst="roundRect">
            <a:avLst>
              <a:gd name="adj" fmla="val 50000"/>
            </a:avLst>
          </a:prstGeom>
          <a:solidFill>
            <a:srgbClr val="F6EBCF"/>
          </a:solidFill>
          <a:ln/>
        </p:spPr>
      </p:sp>
      <p:sp>
        <p:nvSpPr>
          <p:cNvPr id="3" name="Text 1"/>
          <p:cNvSpPr/>
          <p:nvPr/>
        </p:nvSpPr>
        <p:spPr>
          <a:xfrm>
            <a:off x="8442655" y="457200"/>
            <a:ext cx="292608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ثلاثة أطراف فقط</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كيف يتكلم ESP32 مع A4988؟</a:t>
            </a:r>
            <a:endParaRPr lang="ar-SA" sz="3800" dirty="0"/>
          </a:p>
        </p:txBody>
      </p:sp>
      <p:sp>
        <p:nvSpPr>
          <p:cNvPr id="5" name="anim-g1-245"/>
          <p:cNvSpPr/>
          <p:nvPr/>
        </p:nvSpPr>
        <p:spPr>
          <a:xfrm>
            <a:off x="8036357"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246"/>
          <p:cNvSpPr/>
          <p:nvPr/>
        </p:nvSpPr>
        <p:spPr>
          <a:xfrm>
            <a:off x="10527487" y="2267712"/>
            <a:ext cx="566928" cy="566928"/>
          </a:xfrm>
          <a:prstGeom prst="roundRect">
            <a:avLst>
              <a:gd name="adj" fmla="val 32258"/>
            </a:avLst>
          </a:prstGeom>
          <a:solidFill>
            <a:srgbClr val="F7E6BC"/>
          </a:solidFill>
          <a:ln/>
        </p:spPr>
      </p:sp>
      <p:sp>
        <p:nvSpPr>
          <p:cNvPr id="7" name="anim-g1-247"/>
          <p:cNvSpPr/>
          <p:nvPr/>
        </p:nvSpPr>
        <p:spPr>
          <a:xfrm>
            <a:off x="10527487"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248"/>
          <p:cNvSpPr/>
          <p:nvPr/>
        </p:nvSpPr>
        <p:spPr>
          <a:xfrm>
            <a:off x="8310677"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STEP ← 26</a:t>
            </a:r>
            <a:endParaRPr lang="ar-SA" sz="2200" dirty="0"/>
          </a:p>
        </p:txBody>
      </p:sp>
      <p:sp>
        <p:nvSpPr>
          <p:cNvPr id="9" name="anim-g1-249"/>
          <p:cNvSpPr/>
          <p:nvPr/>
        </p:nvSpPr>
        <p:spPr>
          <a:xfrm>
            <a:off x="8310677"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كل نبضة (HIGH ثم LOW) = خطوة واحدة</a:t>
            </a:r>
            <a:endParaRPr lang="ar-SA" sz="1900" dirty="0"/>
          </a:p>
        </p:txBody>
      </p:sp>
      <p:sp>
        <p:nvSpPr>
          <p:cNvPr id="10" name="anim-g2-250"/>
          <p:cNvSpPr/>
          <p:nvPr/>
        </p:nvSpPr>
        <p:spPr>
          <a:xfrm>
            <a:off x="4429658"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251"/>
          <p:cNvSpPr/>
          <p:nvPr/>
        </p:nvSpPr>
        <p:spPr>
          <a:xfrm>
            <a:off x="6920789" y="2267712"/>
            <a:ext cx="566928" cy="566928"/>
          </a:xfrm>
          <a:prstGeom prst="roundRect">
            <a:avLst>
              <a:gd name="adj" fmla="val 32258"/>
            </a:avLst>
          </a:prstGeom>
          <a:solidFill>
            <a:srgbClr val="F7E6BC"/>
          </a:solidFill>
          <a:ln/>
        </p:spPr>
      </p:sp>
      <p:sp>
        <p:nvSpPr>
          <p:cNvPr id="12" name="anim-g2-252"/>
          <p:cNvSpPr/>
          <p:nvPr/>
        </p:nvSpPr>
        <p:spPr>
          <a:xfrm>
            <a:off x="6920789"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253"/>
          <p:cNvSpPr/>
          <p:nvPr/>
        </p:nvSpPr>
        <p:spPr>
          <a:xfrm>
            <a:off x="4703978"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DIR ← 25</a:t>
            </a:r>
            <a:endParaRPr lang="ar-SA" sz="2200" dirty="0"/>
          </a:p>
        </p:txBody>
      </p:sp>
      <p:sp>
        <p:nvSpPr>
          <p:cNvPr id="14" name="anim-g2-254"/>
          <p:cNvSpPr/>
          <p:nvPr/>
        </p:nvSpPr>
        <p:spPr>
          <a:xfrm>
            <a:off x="4703978"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HIGH اتجاه، وLOW الاتجاه الآخر</a:t>
            </a:r>
            <a:endParaRPr lang="ar-SA" sz="1900" dirty="0"/>
          </a:p>
        </p:txBody>
      </p:sp>
      <p:sp>
        <p:nvSpPr>
          <p:cNvPr id="15" name="anim-g3-255"/>
          <p:cNvSpPr/>
          <p:nvPr/>
        </p:nvSpPr>
        <p:spPr>
          <a:xfrm>
            <a:off x="822960"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256"/>
          <p:cNvSpPr/>
          <p:nvPr/>
        </p:nvSpPr>
        <p:spPr>
          <a:xfrm>
            <a:off x="3314090" y="2267712"/>
            <a:ext cx="566928" cy="566928"/>
          </a:xfrm>
          <a:prstGeom prst="roundRect">
            <a:avLst>
              <a:gd name="adj" fmla="val 32258"/>
            </a:avLst>
          </a:prstGeom>
          <a:solidFill>
            <a:srgbClr val="F7E6BC"/>
          </a:solidFill>
          <a:ln/>
        </p:spPr>
      </p:sp>
      <p:sp>
        <p:nvSpPr>
          <p:cNvPr id="17" name="anim-g3-257"/>
          <p:cNvSpPr/>
          <p:nvPr/>
        </p:nvSpPr>
        <p:spPr>
          <a:xfrm>
            <a:off x="3314090"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258"/>
          <p:cNvSpPr/>
          <p:nvPr/>
        </p:nvSpPr>
        <p:spPr>
          <a:xfrm>
            <a:off x="1097280"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EN ← 27</a:t>
            </a:r>
            <a:endParaRPr lang="ar-SA" sz="2200" dirty="0"/>
          </a:p>
        </p:txBody>
      </p:sp>
      <p:sp>
        <p:nvSpPr>
          <p:cNvPr id="19" name="anim-g3-259"/>
          <p:cNvSpPr/>
          <p:nvPr/>
        </p:nvSpPr>
        <p:spPr>
          <a:xfrm>
            <a:off x="1097280"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يعمل على LOW: LOW = المحرك مفعّل، HIGH = مُعطّل</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المنصة الدوّارة  ·  ٢٩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Image 0" descr="C:\Users\user\projects\younes-training\turath\.pptx-cache\s30.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Image 0" descr="C:\Users\user\projects\younes-training\turath\.pptx-cache\s31-0.jpg">    </p:cNvPr>
          <p:cNvPicPr>
            <a:picLocks noChangeAspect="1"/>
          </p:cNvPicPr>
          <p:nvPr/>
        </p:nvPicPr>
        <p:blipFill>
          <a:blip r:embed="rId1"/>
          <a:stretch>
            <a:fillRect/>
          </a:stretch>
        </p:blipFill>
        <p:spPr>
          <a:xfrm>
            <a:off x="0" y="0"/>
            <a:ext cx="12191695" cy="6858000"/>
          </a:xfrm>
          <a:prstGeom prst="rect">
            <a:avLst/>
          </a:prstGeom>
        </p:spPr>
      </p:pic>
      <p:pic>
        <p:nvPicPr>
          <p:cNvPr id="3" name="anim-g1-260" descr="C:\Users\user\projects\younes-training\turath\.pptx-cache\s31-1.jpg">    </p:cNvPr>
          <p:cNvPicPr>
            <a:picLocks noChangeAspect="1"/>
          </p:cNvPicPr>
          <p:nvPr/>
        </p:nvPicPr>
        <p:blipFill>
          <a:blip r:embed="rId2"/>
          <a:stretch>
            <a:fillRect/>
          </a:stretch>
        </p:blipFill>
        <p:spPr>
          <a:xfrm>
            <a:off x="0" y="0"/>
            <a:ext cx="12191695" cy="6858000"/>
          </a:xfrm>
          <a:prstGeom prst="rect">
            <a:avLst/>
          </a:prstGeom>
        </p:spPr>
      </p:pic>
      <p:pic>
        <p:nvPicPr>
          <p:cNvPr id="4" name="anim-g2-261" descr="C:\Users\user\projects\younes-training\turath\.pptx-cache\s31-2.jpg">    </p:cNvPr>
          <p:cNvPicPr>
            <a:picLocks noChangeAspect="1"/>
          </p:cNvPicPr>
          <p:nvPr/>
        </p:nvPicPr>
        <p:blipFill>
          <a:blip r:embed="rId3"/>
          <a:stretch>
            <a:fillRect/>
          </a:stretch>
        </p:blipFill>
        <p:spPr>
          <a:xfrm>
            <a:off x="0" y="0"/>
            <a:ext cx="12191695" cy="6858000"/>
          </a:xfrm>
          <a:prstGeom prst="rect">
            <a:avLst/>
          </a:prstGeom>
        </p:spPr>
      </p:pic>
      <p:pic>
        <p:nvPicPr>
          <p:cNvPr id="5" name="anim-g3-262" descr="C:\Users\user\projects\younes-training\turath\.pptx-cache\s31-3.jpg">    </p:cNvPr>
          <p:cNvPicPr>
            <a:picLocks noChangeAspect="1"/>
          </p:cNvPicPr>
          <p:nvPr/>
        </p:nvPicPr>
        <p:blipFill>
          <a:blip r:embed="rId4"/>
          <a:stretch>
            <a:fillRect/>
          </a:stretch>
        </p:blipFill>
        <p:spPr>
          <a:xfrm>
            <a:off x="0" y="0"/>
            <a:ext cx="12191695" cy="6858000"/>
          </a:xfrm>
          <a:prstGeom prst="rect">
            <a:avLst/>
          </a:prstGeom>
        </p:spPr>
      </p:pic>
      <p:pic>
        <p:nvPicPr>
          <p:cNvPr id="6" name="anim-g4-263" descr="C:\Users\user\projects\younes-training\turath\.pptx-cache\s31-4.jpg">    </p:cNvPr>
          <p:cNvPicPr>
            <a:picLocks noChangeAspect="1"/>
          </p:cNvPicPr>
          <p:nvPr/>
        </p:nvPicPr>
        <p:blipFill>
          <a:blip r:embed="rId5"/>
          <a:stretch>
            <a:fillRect/>
          </a:stretch>
        </p:blipFill>
        <p:spPr>
          <a:xfrm>
            <a:off x="0" y="0"/>
            <a:ext cx="12191695" cy="6858000"/>
          </a:xfrm>
          <a:prstGeom prst="rect">
            <a:avLst/>
          </a:prstGeom>
        </p:spPr>
      </p:pic>
      <p:pic>
        <p:nvPicPr>
          <p:cNvPr id="7" name="anim-g5-264" descr="C:\Users\user\projects\younes-training\turath\.pptx-cache\s31-5.jpg">    </p:cNvPr>
          <p:cNvPicPr>
            <a:picLocks noChangeAspect="1"/>
          </p:cNvPicPr>
          <p:nvPr/>
        </p:nvPicPr>
        <p:blipFill>
          <a:blip r:embed="rId6"/>
          <a:stretch>
            <a:fillRect/>
          </a:stretch>
        </p:blipFill>
        <p:spPr>
          <a:xfrm>
            <a:off x="0" y="0"/>
            <a:ext cx="12191695" cy="6858000"/>
          </a:xfrm>
          <a:prstGeom prst="rect">
            <a:avLst/>
          </a:prstGeom>
        </p:spPr>
      </p:pic>
      <p:pic>
        <p:nvPicPr>
          <p:cNvPr id="8" name="anim-g6-265" descr="C:\Users\user\projects\younes-training\turath\.pptx-cache\s31-6.jpg">    </p:cNvPr>
          <p:cNvPicPr>
            <a:picLocks noChangeAspect="1"/>
          </p:cNvPicPr>
          <p:nvPr/>
        </p:nvPicPr>
        <p:blipFill>
          <a:blip r:embed="rId7"/>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466783" y="457200"/>
            <a:ext cx="1901952" cy="457200"/>
          </a:xfrm>
          <a:prstGeom prst="roundRect">
            <a:avLst>
              <a:gd name="adj" fmla="val 50000"/>
            </a:avLst>
          </a:prstGeom>
          <a:solidFill>
            <a:srgbClr val="F6EBCF"/>
          </a:solidFill>
          <a:ln/>
        </p:spPr>
      </p:sp>
      <p:sp>
        <p:nvSpPr>
          <p:cNvPr id="3" name="Text 1"/>
          <p:cNvSpPr/>
          <p:nvPr/>
        </p:nvSpPr>
        <p:spPr>
          <a:xfrm>
            <a:off x="9466783" y="457200"/>
            <a:ext cx="1901952"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الطاقة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مصدران… وأرضي واحد</a:t>
            </a:r>
            <a:endParaRPr lang="ar-SA" sz="3800" dirty="0"/>
          </a:p>
        </p:txBody>
      </p:sp>
      <p:sp>
        <p:nvSpPr>
          <p:cNvPr id="5" name="anim-g1-266"/>
          <p:cNvSpPr/>
          <p:nvPr/>
        </p:nvSpPr>
        <p:spPr>
          <a:xfrm>
            <a:off x="8036357"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267"/>
          <p:cNvSpPr/>
          <p:nvPr/>
        </p:nvSpPr>
        <p:spPr>
          <a:xfrm>
            <a:off x="10527487" y="2267712"/>
            <a:ext cx="566928" cy="566928"/>
          </a:xfrm>
          <a:prstGeom prst="roundRect">
            <a:avLst>
              <a:gd name="adj" fmla="val 32258"/>
            </a:avLst>
          </a:prstGeom>
          <a:solidFill>
            <a:srgbClr val="F7E6BC"/>
          </a:solidFill>
          <a:ln/>
        </p:spPr>
      </p:sp>
      <p:sp>
        <p:nvSpPr>
          <p:cNvPr id="7" name="anim-g1-268"/>
          <p:cNvSpPr/>
          <p:nvPr/>
        </p:nvSpPr>
        <p:spPr>
          <a:xfrm>
            <a:off x="10527487"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269"/>
          <p:cNvSpPr/>
          <p:nvPr/>
        </p:nvSpPr>
        <p:spPr>
          <a:xfrm>
            <a:off x="8310677"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12 فولت للمحرك</a:t>
            </a:r>
            <a:endParaRPr lang="ar-SA" sz="2200" dirty="0"/>
          </a:p>
        </p:txBody>
      </p:sp>
      <p:sp>
        <p:nvSpPr>
          <p:cNvPr id="9" name="anim-g1-270"/>
          <p:cNvSpPr/>
          <p:nvPr/>
        </p:nvSpPr>
        <p:spPr>
          <a:xfrm>
            <a:off x="8310677"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على VMOT وGND في A4988، ومعه مكثف ١٠٠ ميكروفاراد</a:t>
            </a:r>
            <a:endParaRPr lang="ar-SA" sz="1900" dirty="0"/>
          </a:p>
        </p:txBody>
      </p:sp>
      <p:sp>
        <p:nvSpPr>
          <p:cNvPr id="10" name="anim-g2-271"/>
          <p:cNvSpPr/>
          <p:nvPr/>
        </p:nvSpPr>
        <p:spPr>
          <a:xfrm>
            <a:off x="4429658"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272"/>
          <p:cNvSpPr/>
          <p:nvPr/>
        </p:nvSpPr>
        <p:spPr>
          <a:xfrm>
            <a:off x="6920789" y="2267712"/>
            <a:ext cx="566928" cy="566928"/>
          </a:xfrm>
          <a:prstGeom prst="roundRect">
            <a:avLst>
              <a:gd name="adj" fmla="val 32258"/>
            </a:avLst>
          </a:prstGeom>
          <a:solidFill>
            <a:srgbClr val="F7E6BC"/>
          </a:solidFill>
          <a:ln/>
        </p:spPr>
      </p:sp>
      <p:sp>
        <p:nvSpPr>
          <p:cNvPr id="12" name="anim-g2-273"/>
          <p:cNvSpPr/>
          <p:nvPr/>
        </p:nvSpPr>
        <p:spPr>
          <a:xfrm>
            <a:off x="6920789"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274"/>
          <p:cNvSpPr/>
          <p:nvPr/>
        </p:nvSpPr>
        <p:spPr>
          <a:xfrm>
            <a:off x="4703978"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ESP32 منفصل</a:t>
            </a:r>
            <a:endParaRPr lang="ar-SA" sz="2200" dirty="0"/>
          </a:p>
        </p:txBody>
      </p:sp>
      <p:sp>
        <p:nvSpPr>
          <p:cNvPr id="14" name="anim-g2-275"/>
          <p:cNvSpPr/>
          <p:nvPr/>
        </p:nvSpPr>
        <p:spPr>
          <a:xfrm>
            <a:off x="4703978"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من USB أو منظم ٥ فولت: ضجيج المحرك لا يصل إليه</a:t>
            </a:r>
            <a:endParaRPr lang="ar-SA" sz="1900" dirty="0"/>
          </a:p>
        </p:txBody>
      </p:sp>
      <p:sp>
        <p:nvSpPr>
          <p:cNvPr id="15" name="anim-g3-276"/>
          <p:cNvSpPr/>
          <p:nvPr/>
        </p:nvSpPr>
        <p:spPr>
          <a:xfrm>
            <a:off x="822960"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277"/>
          <p:cNvSpPr/>
          <p:nvPr/>
        </p:nvSpPr>
        <p:spPr>
          <a:xfrm>
            <a:off x="3314090" y="2267712"/>
            <a:ext cx="566928" cy="566928"/>
          </a:xfrm>
          <a:prstGeom prst="roundRect">
            <a:avLst>
              <a:gd name="adj" fmla="val 32258"/>
            </a:avLst>
          </a:prstGeom>
          <a:solidFill>
            <a:srgbClr val="F7E6BC"/>
          </a:solidFill>
          <a:ln/>
        </p:spPr>
      </p:sp>
      <p:sp>
        <p:nvSpPr>
          <p:cNvPr id="17" name="anim-g3-278"/>
          <p:cNvSpPr/>
          <p:nvPr/>
        </p:nvSpPr>
        <p:spPr>
          <a:xfrm>
            <a:off x="3314090"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279"/>
          <p:cNvSpPr/>
          <p:nvPr/>
        </p:nvSpPr>
        <p:spPr>
          <a:xfrm>
            <a:off x="1097280"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أرضي مشترك</a:t>
            </a:r>
            <a:endParaRPr lang="ar-SA" sz="2200" dirty="0"/>
          </a:p>
        </p:txBody>
      </p:sp>
      <p:sp>
        <p:nvSpPr>
          <p:cNvPr id="19" name="anim-g3-280"/>
          <p:cNvSpPr/>
          <p:nvPr/>
        </p:nvSpPr>
        <p:spPr>
          <a:xfrm>
            <a:off x="1097280"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GND المصدرين متصلان، وإلا لم يفهم الدرايفر النبضات</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المنصة الدوّارة  ·  ٣٢</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Image 0" descr="C:\Users\user\projects\younes-training\turath\.pptx-cache\s33-0.jpg">    </p:cNvPr>
          <p:cNvPicPr>
            <a:picLocks noChangeAspect="1"/>
          </p:cNvPicPr>
          <p:nvPr/>
        </p:nvPicPr>
        <p:blipFill>
          <a:blip r:embed="rId1"/>
          <a:stretch>
            <a:fillRect/>
          </a:stretch>
        </p:blipFill>
        <p:spPr>
          <a:xfrm>
            <a:off x="0" y="0"/>
            <a:ext cx="12191695" cy="6858000"/>
          </a:xfrm>
          <a:prstGeom prst="rect">
            <a:avLst/>
          </a:prstGeom>
        </p:spPr>
      </p:pic>
      <p:pic>
        <p:nvPicPr>
          <p:cNvPr id="3" name="anim-g1-281" descr="C:\Users\user\projects\younes-training\turath\.pptx-cache\s33-1.jpg">    </p:cNvPr>
          <p:cNvPicPr>
            <a:picLocks noChangeAspect="1"/>
          </p:cNvPicPr>
          <p:nvPr/>
        </p:nvPicPr>
        <p:blipFill>
          <a:blip r:embed="rId2"/>
          <a:stretch>
            <a:fillRect/>
          </a:stretch>
        </p:blipFill>
        <p:spPr>
          <a:xfrm>
            <a:off x="0" y="0"/>
            <a:ext cx="12191695" cy="6858000"/>
          </a:xfrm>
          <a:prstGeom prst="rect">
            <a:avLst/>
          </a:prstGeom>
        </p:spPr>
      </p:pic>
      <p:pic>
        <p:nvPicPr>
          <p:cNvPr id="4" name="anim-g2-282" descr="C:\Users\user\projects\younes-training\turath\.pptx-cache\s33-2.jpg">    </p:cNvPr>
          <p:cNvPicPr>
            <a:picLocks noChangeAspect="1"/>
          </p:cNvPicPr>
          <p:nvPr/>
        </p:nvPicPr>
        <p:blipFill>
          <a:blip r:embed="rId3"/>
          <a:stretch>
            <a:fillRect/>
          </a:stretch>
        </p:blipFill>
        <p:spPr>
          <a:xfrm>
            <a:off x="0" y="0"/>
            <a:ext cx="12191695" cy="6858000"/>
          </a:xfrm>
          <a:prstGeom prst="rect">
            <a:avLst/>
          </a:prstGeom>
        </p:spPr>
      </p:pic>
      <p:pic>
        <p:nvPicPr>
          <p:cNvPr id="5" name="anim-g3-283" descr="C:\Users\user\projects\younes-training\turath\.pptx-cache\s33-3.jpg">    </p:cNvPr>
          <p:cNvPicPr>
            <a:picLocks noChangeAspect="1"/>
          </p:cNvPicPr>
          <p:nvPr/>
        </p:nvPicPr>
        <p:blipFill>
          <a:blip r:embed="rId4"/>
          <a:stretch>
            <a:fillRect/>
          </a:stretch>
        </p:blipFill>
        <p:spPr>
          <a:xfrm>
            <a:off x="0" y="0"/>
            <a:ext cx="12191695" cy="6858000"/>
          </a:xfrm>
          <a:prstGeom prst="rect">
            <a:avLst/>
          </a:prstGeom>
        </p:spPr>
      </p:pic>
      <p:pic>
        <p:nvPicPr>
          <p:cNvPr id="6" name="anim-g4-284" descr="C:\Users\user\projects\younes-training\turath\.pptx-cache\s33-4.jpg">    </p:cNvPr>
          <p:cNvPicPr>
            <a:picLocks noChangeAspect="1"/>
          </p:cNvPicPr>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881567" y="457200"/>
            <a:ext cx="2487168" cy="457200"/>
          </a:xfrm>
          <a:prstGeom prst="roundRect">
            <a:avLst>
              <a:gd name="adj" fmla="val 50000"/>
            </a:avLst>
          </a:prstGeom>
          <a:solidFill>
            <a:srgbClr val="F6EBCF"/>
          </a:solidFill>
          <a:ln/>
        </p:spPr>
      </p:sp>
      <p:sp>
        <p:nvSpPr>
          <p:cNvPr id="3" name="Text 1"/>
          <p:cNvSpPr/>
          <p:nvPr/>
        </p:nvSpPr>
        <p:spPr>
          <a:xfrm>
            <a:off x="8881567" y="45720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اختبر نفسك</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لماذا جعل الفريق الدوران بطيئًا عمدًا؟</a:t>
            </a:r>
            <a:endParaRPr lang="ar-SA" sz="3200" dirty="0"/>
          </a:p>
        </p:txBody>
      </p:sp>
      <p:sp>
        <p:nvSpPr>
          <p:cNvPr id="5" name="Shape 3"/>
          <p:cNvSpPr/>
          <p:nvPr/>
        </p:nvSpPr>
        <p:spPr>
          <a:xfrm>
            <a:off x="822960" y="2057400"/>
            <a:ext cx="10545775" cy="1228344"/>
          </a:xfrm>
          <a:prstGeom prst="roundRect">
            <a:avLst>
              <a:gd name="adj" fmla="val 11911"/>
            </a:avLst>
          </a:prstGeom>
          <a:solidFill>
            <a:srgbClr val="FFFFFF"/>
          </a:solidFill>
          <a:ln w="19050">
            <a:solidFill>
              <a:srgbClr val="E4DCC8"/>
            </a:solidFill>
            <a:prstDash val="solid"/>
          </a:ln>
        </p:spPr>
      </p:sp>
      <p:sp>
        <p:nvSpPr>
          <p:cNvPr id="6" name="Shape 4"/>
          <p:cNvSpPr/>
          <p:nvPr/>
        </p:nvSpPr>
        <p:spPr>
          <a:xfrm>
            <a:off x="10231831" y="2194560"/>
            <a:ext cx="954024" cy="954024"/>
          </a:xfrm>
          <a:prstGeom prst="roundRect">
            <a:avLst>
              <a:gd name="adj" fmla="val 11502"/>
            </a:avLst>
          </a:prstGeom>
          <a:solidFill>
            <a:srgbClr val="101B45"/>
          </a:solidFill>
          <a:ln/>
        </p:spPr>
      </p:sp>
      <p:sp>
        <p:nvSpPr>
          <p:cNvPr id="7" name="Text 5"/>
          <p:cNvSpPr/>
          <p:nvPr/>
        </p:nvSpPr>
        <p:spPr>
          <a:xfrm>
            <a:off x="10231831" y="2194560"/>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8" name="Text 6"/>
          <p:cNvSpPr/>
          <p:nvPr/>
        </p:nvSpPr>
        <p:spPr>
          <a:xfrm>
            <a:off x="1097280" y="2057400"/>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لأن المحرك ضعيف</a:t>
            </a:r>
            <a:endParaRPr lang="ar-SA" sz="2500" dirty="0"/>
          </a:p>
        </p:txBody>
      </p:sp>
      <p:sp>
        <p:nvSpPr>
          <p:cNvPr id="9" name="anim-g1-285"/>
          <p:cNvSpPr/>
          <p:nvPr/>
        </p:nvSpPr>
        <p:spPr>
          <a:xfrm>
            <a:off x="822960" y="2057400"/>
            <a:ext cx="10545775" cy="1228344"/>
          </a:xfrm>
          <a:prstGeom prst="roundRect">
            <a:avLst>
              <a:gd name="adj" fmla="val 11911"/>
            </a:avLst>
          </a:prstGeom>
          <a:solidFill>
            <a:srgbClr val="F7F7F9"/>
          </a:solidFill>
          <a:ln w="19050">
            <a:solidFill>
              <a:srgbClr val="E4DCC8"/>
            </a:solidFill>
            <a:prstDash val="solid"/>
          </a:ln>
        </p:spPr>
      </p:sp>
      <p:sp>
        <p:nvSpPr>
          <p:cNvPr id="10" name="anim-g1-286"/>
          <p:cNvSpPr/>
          <p:nvPr/>
        </p:nvSpPr>
        <p:spPr>
          <a:xfrm>
            <a:off x="10231831" y="2194560"/>
            <a:ext cx="954024" cy="954024"/>
          </a:xfrm>
          <a:prstGeom prst="roundRect">
            <a:avLst>
              <a:gd name="adj" fmla="val 11502"/>
            </a:avLst>
          </a:prstGeom>
          <a:solidFill>
            <a:srgbClr val="A3A9BA"/>
          </a:solidFill>
          <a:ln/>
        </p:spPr>
      </p:sp>
      <p:sp>
        <p:nvSpPr>
          <p:cNvPr id="11" name="anim-g1-287"/>
          <p:cNvSpPr/>
          <p:nvPr/>
        </p:nvSpPr>
        <p:spPr>
          <a:xfrm>
            <a:off x="10231831" y="2194560"/>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12" name="anim-g1-288"/>
          <p:cNvSpPr/>
          <p:nvPr/>
        </p:nvSpPr>
        <p:spPr>
          <a:xfrm>
            <a:off x="1097280" y="2093976"/>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8A90A3"/>
                </a:solidFill>
                <a:latin typeface="Cairo" pitchFamily="34" charset="0"/>
                <a:ea typeface="Cairo" pitchFamily="34" charset="-122"/>
                <a:cs typeface="Cairo" pitchFamily="34" charset="-120"/>
              </a:rPr>
              <a:t>لأن المحرك ضعيف</a:t>
            </a:r>
            <a:endParaRPr lang="ar-SA" sz="2400" dirty="0"/>
          </a:p>
        </p:txBody>
      </p:sp>
      <p:sp>
        <p:nvSpPr>
          <p:cNvPr id="13" name="anim-g1-289"/>
          <p:cNvSpPr/>
          <p:nvPr/>
        </p:nvSpPr>
        <p:spPr>
          <a:xfrm>
            <a:off x="1097280" y="2720706"/>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NEMA17 قوي بما يكفي</a:t>
            </a:r>
            <a:endParaRPr lang="ar-SA" sz="1800" dirty="0"/>
          </a:p>
        </p:txBody>
      </p:sp>
      <p:sp>
        <p:nvSpPr>
          <p:cNvPr id="14" name="Shape 12"/>
          <p:cNvSpPr/>
          <p:nvPr/>
        </p:nvSpPr>
        <p:spPr>
          <a:xfrm>
            <a:off x="822960" y="3432048"/>
            <a:ext cx="10545775" cy="1228344"/>
          </a:xfrm>
          <a:prstGeom prst="roundRect">
            <a:avLst>
              <a:gd name="adj" fmla="val 11911"/>
            </a:avLst>
          </a:prstGeom>
          <a:solidFill>
            <a:srgbClr val="FFFFFF"/>
          </a:solidFill>
          <a:ln w="19050">
            <a:solidFill>
              <a:srgbClr val="E4DCC8"/>
            </a:solidFill>
            <a:prstDash val="solid"/>
          </a:ln>
        </p:spPr>
      </p:sp>
      <p:sp>
        <p:nvSpPr>
          <p:cNvPr id="15" name="Shape 13"/>
          <p:cNvSpPr/>
          <p:nvPr/>
        </p:nvSpPr>
        <p:spPr>
          <a:xfrm>
            <a:off x="10231831" y="3569208"/>
            <a:ext cx="954024" cy="954024"/>
          </a:xfrm>
          <a:prstGeom prst="roundRect">
            <a:avLst>
              <a:gd name="adj" fmla="val 11502"/>
            </a:avLst>
          </a:prstGeom>
          <a:solidFill>
            <a:srgbClr val="101B45"/>
          </a:solidFill>
          <a:ln/>
        </p:spPr>
      </p:sp>
      <p:sp>
        <p:nvSpPr>
          <p:cNvPr id="16" name="Text 14"/>
          <p:cNvSpPr/>
          <p:nvPr/>
        </p:nvSpPr>
        <p:spPr>
          <a:xfrm>
            <a:off x="10231831" y="3569208"/>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17" name="Text 15"/>
          <p:cNvSpPr/>
          <p:nvPr/>
        </p:nvSpPr>
        <p:spPr>
          <a:xfrm>
            <a:off x="1097280" y="3432048"/>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لتوفير الكهرباء</a:t>
            </a:r>
            <a:endParaRPr lang="ar-SA" sz="2500" dirty="0"/>
          </a:p>
        </p:txBody>
      </p:sp>
      <p:sp>
        <p:nvSpPr>
          <p:cNvPr id="18" name="anim-g1-290"/>
          <p:cNvSpPr/>
          <p:nvPr/>
        </p:nvSpPr>
        <p:spPr>
          <a:xfrm>
            <a:off x="822960" y="3432048"/>
            <a:ext cx="10545775" cy="1228344"/>
          </a:xfrm>
          <a:prstGeom prst="roundRect">
            <a:avLst>
              <a:gd name="adj" fmla="val 11911"/>
            </a:avLst>
          </a:prstGeom>
          <a:solidFill>
            <a:srgbClr val="F7F7F9"/>
          </a:solidFill>
          <a:ln w="19050">
            <a:solidFill>
              <a:srgbClr val="E4DCC8"/>
            </a:solidFill>
            <a:prstDash val="solid"/>
          </a:ln>
        </p:spPr>
      </p:sp>
      <p:sp>
        <p:nvSpPr>
          <p:cNvPr id="19" name="anim-g1-291"/>
          <p:cNvSpPr/>
          <p:nvPr/>
        </p:nvSpPr>
        <p:spPr>
          <a:xfrm>
            <a:off x="10231831" y="3569208"/>
            <a:ext cx="954024" cy="954024"/>
          </a:xfrm>
          <a:prstGeom prst="roundRect">
            <a:avLst>
              <a:gd name="adj" fmla="val 11502"/>
            </a:avLst>
          </a:prstGeom>
          <a:solidFill>
            <a:srgbClr val="A3A9BA"/>
          </a:solidFill>
          <a:ln/>
        </p:spPr>
      </p:sp>
      <p:sp>
        <p:nvSpPr>
          <p:cNvPr id="20" name="anim-g1-292"/>
          <p:cNvSpPr/>
          <p:nvPr/>
        </p:nvSpPr>
        <p:spPr>
          <a:xfrm>
            <a:off x="10231831" y="3569208"/>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21" name="anim-g1-293"/>
          <p:cNvSpPr/>
          <p:nvPr/>
        </p:nvSpPr>
        <p:spPr>
          <a:xfrm>
            <a:off x="1097280" y="3468624"/>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8A90A3"/>
                </a:solidFill>
                <a:latin typeface="Cairo" pitchFamily="34" charset="0"/>
                <a:ea typeface="Cairo" pitchFamily="34" charset="-122"/>
                <a:cs typeface="Cairo" pitchFamily="34" charset="-120"/>
              </a:rPr>
              <a:t>لتوفير الكهرباء</a:t>
            </a:r>
            <a:endParaRPr lang="ar-SA" sz="2400" dirty="0"/>
          </a:p>
        </p:txBody>
      </p:sp>
      <p:sp>
        <p:nvSpPr>
          <p:cNvPr id="22" name="anim-g1-294"/>
          <p:cNvSpPr/>
          <p:nvPr/>
        </p:nvSpPr>
        <p:spPr>
          <a:xfrm>
            <a:off x="1097280" y="4095354"/>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الفرق في الكهرباء صغير</a:t>
            </a:r>
            <a:endParaRPr lang="ar-SA" sz="1800" dirty="0"/>
          </a:p>
        </p:txBody>
      </p:sp>
      <p:sp>
        <p:nvSpPr>
          <p:cNvPr id="23" name="Shape 21"/>
          <p:cNvSpPr/>
          <p:nvPr/>
        </p:nvSpPr>
        <p:spPr>
          <a:xfrm>
            <a:off x="822960" y="4806696"/>
            <a:ext cx="10545775" cy="1228344"/>
          </a:xfrm>
          <a:prstGeom prst="roundRect">
            <a:avLst>
              <a:gd name="adj" fmla="val 11911"/>
            </a:avLst>
          </a:prstGeom>
          <a:solidFill>
            <a:srgbClr val="FFFFFF"/>
          </a:solidFill>
          <a:ln w="19050">
            <a:solidFill>
              <a:srgbClr val="E4DCC8"/>
            </a:solidFill>
            <a:prstDash val="solid"/>
          </a:ln>
        </p:spPr>
      </p:sp>
      <p:sp>
        <p:nvSpPr>
          <p:cNvPr id="24" name="Shape 22"/>
          <p:cNvSpPr/>
          <p:nvPr/>
        </p:nvSpPr>
        <p:spPr>
          <a:xfrm>
            <a:off x="10231831" y="4943856"/>
            <a:ext cx="954024" cy="954024"/>
          </a:xfrm>
          <a:prstGeom prst="roundRect">
            <a:avLst>
              <a:gd name="adj" fmla="val 11502"/>
            </a:avLst>
          </a:prstGeom>
          <a:solidFill>
            <a:srgbClr val="101B45"/>
          </a:solidFill>
          <a:ln/>
        </p:spPr>
      </p:sp>
      <p:sp>
        <p:nvSpPr>
          <p:cNvPr id="25" name="Text 23"/>
          <p:cNvSpPr/>
          <p:nvPr/>
        </p:nvSpPr>
        <p:spPr>
          <a:xfrm>
            <a:off x="10231831" y="4943856"/>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26" name="Text 24"/>
          <p:cNvSpPr/>
          <p:nvPr/>
        </p:nvSpPr>
        <p:spPr>
          <a:xfrm>
            <a:off x="1097280" y="4806696"/>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لأن زائرًا يتابع المجسّم بعينه مباشرة</a:t>
            </a:r>
            <a:endParaRPr lang="ar-SA" sz="2500" dirty="0"/>
          </a:p>
        </p:txBody>
      </p:sp>
      <p:sp>
        <p:nvSpPr>
          <p:cNvPr id="27" name="anim-g1-295"/>
          <p:cNvSpPr/>
          <p:nvPr/>
        </p:nvSpPr>
        <p:spPr>
          <a:xfrm>
            <a:off x="822960" y="4806696"/>
            <a:ext cx="10545775" cy="1228344"/>
          </a:xfrm>
          <a:prstGeom prst="roundRect">
            <a:avLst>
              <a:gd name="adj" fmla="val 11911"/>
            </a:avLst>
          </a:prstGeom>
          <a:solidFill>
            <a:srgbClr val="E6F4EC"/>
          </a:solidFill>
          <a:ln w="31750">
            <a:solidFill>
              <a:srgbClr val="2E9E6B"/>
            </a:solidFill>
            <a:prstDash val="solid"/>
          </a:ln>
        </p:spPr>
      </p:sp>
      <p:sp>
        <p:nvSpPr>
          <p:cNvPr id="28" name="anim-g1-296"/>
          <p:cNvSpPr/>
          <p:nvPr/>
        </p:nvSpPr>
        <p:spPr>
          <a:xfrm>
            <a:off x="10231831" y="4943856"/>
            <a:ext cx="954024" cy="954024"/>
          </a:xfrm>
          <a:prstGeom prst="roundRect">
            <a:avLst>
              <a:gd name="adj" fmla="val 11502"/>
            </a:avLst>
          </a:prstGeom>
          <a:solidFill>
            <a:srgbClr val="2E9E6B"/>
          </a:solidFill>
          <a:ln/>
        </p:spPr>
      </p:sp>
      <p:sp>
        <p:nvSpPr>
          <p:cNvPr id="29" name="anim-g1-297"/>
          <p:cNvSpPr/>
          <p:nvPr/>
        </p:nvSpPr>
        <p:spPr>
          <a:xfrm>
            <a:off x="10231831" y="4943856"/>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a:t>
            </a:r>
            <a:endParaRPr lang="ar-SA" sz="2400" dirty="0"/>
          </a:p>
        </p:txBody>
      </p:sp>
      <p:sp>
        <p:nvSpPr>
          <p:cNvPr id="30" name="anim-g1-298"/>
          <p:cNvSpPr/>
          <p:nvPr/>
        </p:nvSpPr>
        <p:spPr>
          <a:xfrm>
            <a:off x="1097280" y="4843272"/>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131B34"/>
                </a:solidFill>
                <a:latin typeface="Cairo" pitchFamily="34" charset="0"/>
                <a:ea typeface="Cairo" pitchFamily="34" charset="-122"/>
                <a:cs typeface="Cairo" pitchFamily="34" charset="-120"/>
              </a:rPr>
              <a:t>لأن زائرًا يتابع المجسّم بعينه مباشرة</a:t>
            </a:r>
            <a:endParaRPr lang="ar-SA" sz="2400" dirty="0"/>
          </a:p>
        </p:txBody>
      </p:sp>
      <p:sp>
        <p:nvSpPr>
          <p:cNvPr id="31" name="anim-g1-299"/>
          <p:cNvSpPr/>
          <p:nvPr/>
        </p:nvSpPr>
        <p:spPr>
          <a:xfrm>
            <a:off x="1097280" y="5470002"/>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1D5E40"/>
                </a:solidFill>
                <a:latin typeface="Cairo" pitchFamily="34" charset="0"/>
                <a:ea typeface="Cairo" pitchFamily="34" charset="-122"/>
                <a:cs typeface="Cairo" pitchFamily="34" charset="-120"/>
              </a:rPr>
              <a:t>صحيح: الحركة السريعة تُتعب العين وتفقد الزائر موضعه</a:t>
            </a:r>
            <a:endParaRPr lang="ar-SA" sz="1800" dirty="0"/>
          </a:p>
        </p:txBody>
      </p:sp>
      <p:sp>
        <p:nvSpPr>
          <p:cNvPr id="32" name="Text 3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33" name="Text 3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المنصة الدوّارة  ·  ٣٤</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Image 0" descr="C:\Users\user\projects\younes-training\turath\.pptx-cache\s35.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خلاصة المحور</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rtl="1"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نبضة على STEP، ومستوى على DIR، وLOW على EN: ثلاثة أسلاك تجعل قصر المصمك يدور ببطء مهيب</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لمسة تراث</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 المنصة الدوّارة  ·  ٣٦</a:t>
            </a:r>
            <a:endParaRPr lang="ar-SA" sz="1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097280" y="2103120"/>
            <a:ext cx="2651760" cy="2651760"/>
          </a:xfrm>
          <a:prstGeom prst="ellipse">
            <a:avLst/>
          </a:prstGeom>
          <a:solidFill>
            <a:srgbClr val="D9AE4B">
              <a:alpha val="12000"/>
            </a:srgbClr>
          </a:solidFill>
          <a:ln w="63500">
            <a:solidFill>
              <a:srgbClr val="D9AE4B">
                <a:alpha val="60000"/>
              </a:srgbClr>
            </a:solidFill>
            <a:prstDash val="solid"/>
          </a:ln>
        </p:spPr>
      </p:sp>
      <p:sp>
        <p:nvSpPr>
          <p:cNvPr id="3" name="Text 1"/>
          <p:cNvSpPr/>
          <p:nvPr/>
        </p:nvSpPr>
        <p:spPr>
          <a:xfrm>
            <a:off x="1097280" y="2103120"/>
            <a:ext cx="2651760" cy="2651760"/>
          </a:xfrm>
          <a:prstGeom prst="rect">
            <a:avLst/>
          </a:prstGeom>
          <a:noFill/>
          <a:ln/>
        </p:spPr>
        <p:txBody>
          <a:bodyPr wrap="square" lIns="0" tIns="0" rIns="0" bIns="0" rtlCol="0" anchor="ctr">
            <a:normAutofit/>
          </a:bodyPr>
          <a:lstStyle/>
          <a:p>
            <a:pPr rtl="1" algn="ctr" indent="0" marL="0">
              <a:buNone/>
            </a:pPr>
            <a:r>
              <a:rPr lang="ar-SA" altLang="en-US" sz="12000" dirty="0">
                <a:solidFill>
                  <a:srgbClr val="F0CC7A"/>
                </a:solidFill>
                <a:latin typeface="Cairo Black" pitchFamily="34" charset="0"/>
                <a:ea typeface="Cairo Black" pitchFamily="34" charset="-122"/>
                <a:cs typeface="Cairo Black" pitchFamily="34" charset="-120"/>
              </a:rPr>
              <a:t>٤</a:t>
            </a:r>
            <a:endParaRPr lang="ar-SA" sz="12000" dirty="0"/>
          </a:p>
        </p:txBody>
      </p:sp>
      <p:sp>
        <p:nvSpPr>
          <p:cNvPr id="4" name="Text 2"/>
          <p:cNvSpPr/>
          <p:nvPr/>
        </p:nvSpPr>
        <p:spPr>
          <a:xfrm>
            <a:off x="4206240" y="1828800"/>
            <a:ext cx="7162495" cy="457200"/>
          </a:xfrm>
          <a:prstGeom prst="rect">
            <a:avLst/>
          </a:prstGeom>
          <a:noFill/>
          <a:ln/>
        </p:spPr>
        <p:txBody>
          <a:bodyPr wrap="square" lIns="0" tIns="0" rIns="0" bIns="0" rtlCol="0" anchor="ctr">
            <a:normAutofit/>
          </a:bodyPr>
          <a:lstStyle/>
          <a:p>
            <a:pPr rtl="1" algn="r" indent="0" marL="0">
              <a:buNone/>
            </a:pPr>
            <a:r>
              <a:rPr lang="ar-SA" altLang="en-US" sz="2000" b="1" dirty="0">
                <a:solidFill>
                  <a:srgbClr val="D9AE4B"/>
                </a:solidFill>
                <a:latin typeface="Cairo" pitchFamily="34" charset="0"/>
                <a:ea typeface="Cairo" pitchFamily="34" charset="-122"/>
                <a:cs typeface="Cairo" pitchFamily="34" charset="-120"/>
              </a:rPr>
              <a:t>المحور ٤</a:t>
            </a:r>
            <a:endParaRPr lang="ar-SA" sz="2000" dirty="0"/>
          </a:p>
        </p:txBody>
      </p:sp>
      <p:sp>
        <p:nvSpPr>
          <p:cNvPr id="5" name="Text 3"/>
          <p:cNvSpPr/>
          <p:nvPr/>
        </p:nvSpPr>
        <p:spPr>
          <a:xfrm>
            <a:off x="4206240" y="2286000"/>
            <a:ext cx="7162495" cy="1371600"/>
          </a:xfrm>
          <a:prstGeom prst="rect">
            <a:avLst/>
          </a:prstGeom>
          <a:noFill/>
          <a:ln/>
        </p:spPr>
        <p:txBody>
          <a:bodyPr wrap="square" lIns="0" tIns="0" rIns="0" bIns="0" rtlCol="0" anchor="ctr">
            <a:normAutofit/>
          </a:bodyPr>
          <a:lstStyle/>
          <a:p>
            <a:pPr rtl="1" algn="r" indent="0" marL="0">
              <a:buNone/>
            </a:pPr>
            <a:r>
              <a:rPr lang="ar-SA" altLang="en-US" sz="5600" dirty="0">
                <a:solidFill>
                  <a:srgbClr val="FFFFFF"/>
                </a:solidFill>
                <a:latin typeface="Cairo Black" pitchFamily="34" charset="0"/>
                <a:ea typeface="Cairo Black" pitchFamily="34" charset="-122"/>
                <a:cs typeface="Cairo Black" pitchFamily="34" charset="-120"/>
              </a:rPr>
              <a:t>🌈 ضوء يحكي</a:t>
            </a:r>
            <a:endParaRPr lang="ar-SA" sz="5600" dirty="0"/>
          </a:p>
        </p:txBody>
      </p:sp>
      <p:sp>
        <p:nvSpPr>
          <p:cNvPr id="6" name="Text 4"/>
          <p:cNvSpPr/>
          <p:nvPr/>
        </p:nvSpPr>
        <p:spPr>
          <a:xfrm>
            <a:off x="4206240" y="3749040"/>
            <a:ext cx="7162495" cy="822960"/>
          </a:xfrm>
          <a:prstGeom prst="rect">
            <a:avLst/>
          </a:prstGeom>
          <a:noFill/>
          <a:ln/>
        </p:spPr>
        <p:txBody>
          <a:bodyPr wrap="square" lIns="0" tIns="0" rIns="0" bIns="0" rtlCol="0" anchor="ctr">
            <a:normAutofit/>
          </a:bodyPr>
          <a:lstStyle/>
          <a:p>
            <a:pPr rtl="1" algn="r" indent="0" marL="0">
              <a:buNone/>
            </a:pPr>
            <a:r>
              <a:rPr lang="ar-SA" altLang="en-US" sz="2200" b="1" dirty="0">
                <a:solidFill>
                  <a:srgbClr val="C9CFE6"/>
                </a:solidFill>
                <a:latin typeface="Cairo" pitchFamily="34" charset="0"/>
                <a:ea typeface="Cairo" pitchFamily="34" charset="-122"/>
                <a:cs typeface="Cairo" pitchFamily="34" charset="-120"/>
              </a:rPr>
              <a:t>شريط WS2812B: لون لكل جهة، وموجة أثناء الدوران</a:t>
            </a:r>
            <a:endParaRPr lang="ar-SA" sz="2200" dirty="0"/>
          </a:p>
        </p:txBody>
      </p:sp>
      <p:sp>
        <p:nvSpPr>
          <p:cNvPr id="7" name="Text 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لمسة تراث</a:t>
            </a:r>
            <a:endParaRPr lang="ar-SA" sz="1200" dirty="0"/>
          </a:p>
        </p:txBody>
      </p:sp>
      <p:sp>
        <p:nvSpPr>
          <p:cNvPr id="8" name="Text 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 الإضاءة الذكية  ·  ٣٧</a:t>
            </a:r>
            <a:endParaRPr lang="ar-SA"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248095" y="457200"/>
            <a:ext cx="5120640" cy="457200"/>
          </a:xfrm>
          <a:prstGeom prst="roundRect">
            <a:avLst>
              <a:gd name="adj" fmla="val 50000"/>
            </a:avLst>
          </a:prstGeom>
          <a:solidFill>
            <a:srgbClr val="F6EBCF"/>
          </a:solidFill>
          <a:ln/>
        </p:spPr>
      </p:sp>
      <p:sp>
        <p:nvSpPr>
          <p:cNvPr id="3" name="Text 1"/>
          <p:cNvSpPr/>
          <p:nvPr/>
        </p:nvSpPr>
        <p:spPr>
          <a:xfrm>
            <a:off x="6248095" y="457200"/>
            <a:ext cx="512064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بنهاية هذا المحور تستطيع أن</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أهداف المحور</a:t>
            </a:r>
            <a:endParaRPr lang="ar-SA" sz="3800" dirty="0"/>
          </a:p>
        </p:txBody>
      </p:sp>
      <p:sp>
        <p:nvSpPr>
          <p:cNvPr id="5" name="anim-g1-300"/>
          <p:cNvSpPr/>
          <p:nvPr/>
        </p:nvSpPr>
        <p:spPr>
          <a:xfrm>
            <a:off x="822960" y="1920240"/>
            <a:ext cx="10545775" cy="1298448"/>
          </a:xfrm>
          <a:prstGeom prst="roundRect">
            <a:avLst>
              <a:gd name="adj" fmla="val 11268"/>
            </a:avLst>
          </a:prstGeom>
          <a:solidFill>
            <a:srgbClr val="FFFFFF"/>
          </a:solidFill>
          <a:ln w="12700">
            <a:solidFill>
              <a:srgbClr val="E4DCC8"/>
            </a:solidFill>
            <a:prstDash val="solid"/>
          </a:ln>
        </p:spPr>
      </p:sp>
      <p:sp>
        <p:nvSpPr>
          <p:cNvPr id="6" name="anim-g1-301"/>
          <p:cNvSpPr/>
          <p:nvPr/>
        </p:nvSpPr>
        <p:spPr>
          <a:xfrm>
            <a:off x="10573207" y="2286000"/>
            <a:ext cx="566928" cy="566928"/>
          </a:xfrm>
          <a:prstGeom prst="ellipse">
            <a:avLst/>
          </a:prstGeom>
          <a:solidFill>
            <a:srgbClr val="D9AE4B"/>
          </a:solidFill>
          <a:ln/>
        </p:spPr>
      </p:sp>
      <p:sp>
        <p:nvSpPr>
          <p:cNvPr id="7" name="anim-g1-302"/>
          <p:cNvSpPr/>
          <p:nvPr/>
        </p:nvSpPr>
        <p:spPr>
          <a:xfrm>
            <a:off x="10573207" y="2286000"/>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١</a:t>
            </a:r>
            <a:endParaRPr lang="ar-SA" sz="2000" dirty="0"/>
          </a:p>
        </p:txBody>
      </p:sp>
      <p:sp>
        <p:nvSpPr>
          <p:cNvPr id="8" name="anim-g1-303"/>
          <p:cNvSpPr/>
          <p:nvPr/>
        </p:nvSpPr>
        <p:spPr>
          <a:xfrm>
            <a:off x="1097280" y="1920240"/>
            <a:ext cx="9247327" cy="1298448"/>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تتحكم بكل ليد في الشريط من طرف واحد</a:t>
            </a:r>
            <a:endParaRPr lang="ar-SA" sz="2400" dirty="0"/>
          </a:p>
        </p:txBody>
      </p:sp>
      <p:sp>
        <p:nvSpPr>
          <p:cNvPr id="9" name="anim-g2-304"/>
          <p:cNvSpPr/>
          <p:nvPr/>
        </p:nvSpPr>
        <p:spPr>
          <a:xfrm>
            <a:off x="822960" y="3328416"/>
            <a:ext cx="10545775" cy="1298448"/>
          </a:xfrm>
          <a:prstGeom prst="roundRect">
            <a:avLst>
              <a:gd name="adj" fmla="val 11268"/>
            </a:avLst>
          </a:prstGeom>
          <a:solidFill>
            <a:srgbClr val="FFFFFF"/>
          </a:solidFill>
          <a:ln w="12700">
            <a:solidFill>
              <a:srgbClr val="E4DCC8"/>
            </a:solidFill>
            <a:prstDash val="solid"/>
          </a:ln>
        </p:spPr>
      </p:sp>
      <p:sp>
        <p:nvSpPr>
          <p:cNvPr id="10" name="anim-g2-305"/>
          <p:cNvSpPr/>
          <p:nvPr/>
        </p:nvSpPr>
        <p:spPr>
          <a:xfrm>
            <a:off x="10573207" y="3694176"/>
            <a:ext cx="566928" cy="566928"/>
          </a:xfrm>
          <a:prstGeom prst="ellipse">
            <a:avLst/>
          </a:prstGeom>
          <a:solidFill>
            <a:srgbClr val="D9AE4B"/>
          </a:solidFill>
          <a:ln/>
        </p:spPr>
      </p:sp>
      <p:sp>
        <p:nvSpPr>
          <p:cNvPr id="11" name="anim-g2-306"/>
          <p:cNvSpPr/>
          <p:nvPr/>
        </p:nvSpPr>
        <p:spPr>
          <a:xfrm>
            <a:off x="10573207" y="3694176"/>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٢</a:t>
            </a:r>
            <a:endParaRPr lang="ar-SA" sz="2000" dirty="0"/>
          </a:p>
        </p:txBody>
      </p:sp>
      <p:sp>
        <p:nvSpPr>
          <p:cNvPr id="12" name="anim-g2-307"/>
          <p:cNvSpPr/>
          <p:nvPr/>
        </p:nvSpPr>
        <p:spPr>
          <a:xfrm>
            <a:off x="1097280" y="3328416"/>
            <a:ext cx="9247327" cy="1298448"/>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تعطي كل جهة لونًا، وتصنع موجة متحركة</a:t>
            </a:r>
            <a:endParaRPr lang="ar-SA" sz="2400" dirty="0"/>
          </a:p>
        </p:txBody>
      </p:sp>
      <p:sp>
        <p:nvSpPr>
          <p:cNvPr id="13" name="anim-g3-308"/>
          <p:cNvSpPr/>
          <p:nvPr/>
        </p:nvSpPr>
        <p:spPr>
          <a:xfrm>
            <a:off x="822960" y="4736592"/>
            <a:ext cx="10545775" cy="1298448"/>
          </a:xfrm>
          <a:prstGeom prst="roundRect">
            <a:avLst>
              <a:gd name="adj" fmla="val 11268"/>
            </a:avLst>
          </a:prstGeom>
          <a:solidFill>
            <a:srgbClr val="FFFFFF"/>
          </a:solidFill>
          <a:ln w="12700">
            <a:solidFill>
              <a:srgbClr val="E4DCC8"/>
            </a:solidFill>
            <a:prstDash val="solid"/>
          </a:ln>
        </p:spPr>
      </p:sp>
      <p:sp>
        <p:nvSpPr>
          <p:cNvPr id="14" name="anim-g3-309"/>
          <p:cNvSpPr/>
          <p:nvPr/>
        </p:nvSpPr>
        <p:spPr>
          <a:xfrm>
            <a:off x="10573207" y="5102352"/>
            <a:ext cx="566928" cy="566928"/>
          </a:xfrm>
          <a:prstGeom prst="ellipse">
            <a:avLst/>
          </a:prstGeom>
          <a:solidFill>
            <a:srgbClr val="D9AE4B"/>
          </a:solidFill>
          <a:ln/>
        </p:spPr>
      </p:sp>
      <p:sp>
        <p:nvSpPr>
          <p:cNvPr id="15" name="anim-g3-310"/>
          <p:cNvSpPr/>
          <p:nvPr/>
        </p:nvSpPr>
        <p:spPr>
          <a:xfrm>
            <a:off x="10573207" y="5102352"/>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٣</a:t>
            </a:r>
            <a:endParaRPr lang="ar-SA" sz="2000" dirty="0"/>
          </a:p>
        </p:txBody>
      </p:sp>
      <p:sp>
        <p:nvSpPr>
          <p:cNvPr id="16" name="anim-g3-311"/>
          <p:cNvSpPr/>
          <p:nvPr/>
        </p:nvSpPr>
        <p:spPr>
          <a:xfrm>
            <a:off x="1097280" y="4736592"/>
            <a:ext cx="9247327" cy="1298448"/>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تحسب التيار وتضبط السطوع بأمان</a:t>
            </a:r>
            <a:endParaRPr lang="ar-SA" sz="2400" dirty="0"/>
          </a:p>
        </p:txBody>
      </p:sp>
      <p:sp>
        <p:nvSpPr>
          <p:cNvPr id="17" name="Text 1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18" name="Text 1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الإضاءة الذكية  ·  ٣٨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466783" y="457200"/>
            <a:ext cx="1901952" cy="457200"/>
          </a:xfrm>
          <a:prstGeom prst="roundRect">
            <a:avLst>
              <a:gd name="adj" fmla="val 50000"/>
            </a:avLst>
          </a:prstGeom>
          <a:solidFill>
            <a:srgbClr val="F6EBCF"/>
          </a:solidFill>
          <a:ln/>
        </p:spPr>
      </p:sp>
      <p:sp>
        <p:nvSpPr>
          <p:cNvPr id="3" name="Text 1"/>
          <p:cNvSpPr/>
          <p:nvPr/>
        </p:nvSpPr>
        <p:spPr>
          <a:xfrm>
            <a:off x="9466783" y="457200"/>
            <a:ext cx="1901952"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شريط ذكي</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طرف واحد… وأربعة وعشرون ليدًا</a:t>
            </a:r>
            <a:endParaRPr lang="ar-SA" sz="3800" dirty="0"/>
          </a:p>
        </p:txBody>
      </p:sp>
      <p:sp>
        <p:nvSpPr>
          <p:cNvPr id="5" name="anim-g1-312"/>
          <p:cNvSpPr/>
          <p:nvPr/>
        </p:nvSpPr>
        <p:spPr>
          <a:xfrm>
            <a:off x="8036357"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313"/>
          <p:cNvSpPr/>
          <p:nvPr/>
        </p:nvSpPr>
        <p:spPr>
          <a:xfrm>
            <a:off x="10527487" y="2267712"/>
            <a:ext cx="566928" cy="566928"/>
          </a:xfrm>
          <a:prstGeom prst="roundRect">
            <a:avLst>
              <a:gd name="adj" fmla="val 32258"/>
            </a:avLst>
          </a:prstGeom>
          <a:solidFill>
            <a:srgbClr val="F7E6BC"/>
          </a:solidFill>
          <a:ln/>
        </p:spPr>
      </p:sp>
      <p:sp>
        <p:nvSpPr>
          <p:cNvPr id="7" name="anim-g1-314"/>
          <p:cNvSpPr/>
          <p:nvPr/>
        </p:nvSpPr>
        <p:spPr>
          <a:xfrm>
            <a:off x="10527487"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315"/>
          <p:cNvSpPr/>
          <p:nvPr/>
        </p:nvSpPr>
        <p:spPr>
          <a:xfrm>
            <a:off x="8310677"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سلسلة</a:t>
            </a:r>
            <a:endParaRPr lang="ar-SA" sz="2200" dirty="0"/>
          </a:p>
        </p:txBody>
      </p:sp>
      <p:sp>
        <p:nvSpPr>
          <p:cNvPr id="9" name="anim-g1-316"/>
          <p:cNvSpPr/>
          <p:nvPr/>
        </p:nvSpPr>
        <p:spPr>
          <a:xfrm>
            <a:off x="8310677"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كل ليد يأخذ لونه ويمرر الباقي لجاره: سلك بيانات واحد على GPIO23</a:t>
            </a:r>
            <a:endParaRPr lang="ar-SA" sz="1900" dirty="0"/>
          </a:p>
        </p:txBody>
      </p:sp>
      <p:sp>
        <p:nvSpPr>
          <p:cNvPr id="10" name="anim-g2-317"/>
          <p:cNvSpPr/>
          <p:nvPr/>
        </p:nvSpPr>
        <p:spPr>
          <a:xfrm>
            <a:off x="4429658"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318"/>
          <p:cNvSpPr/>
          <p:nvPr/>
        </p:nvSpPr>
        <p:spPr>
          <a:xfrm>
            <a:off x="6920789" y="2267712"/>
            <a:ext cx="566928" cy="566928"/>
          </a:xfrm>
          <a:prstGeom prst="roundRect">
            <a:avLst>
              <a:gd name="adj" fmla="val 32258"/>
            </a:avLst>
          </a:prstGeom>
          <a:solidFill>
            <a:srgbClr val="F7E6BC"/>
          </a:solidFill>
          <a:ln/>
        </p:spPr>
      </p:sp>
      <p:sp>
        <p:nvSpPr>
          <p:cNvPr id="12" name="anim-g2-319"/>
          <p:cNvSpPr/>
          <p:nvPr/>
        </p:nvSpPr>
        <p:spPr>
          <a:xfrm>
            <a:off x="6920789"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320"/>
          <p:cNvSpPr/>
          <p:nvPr/>
        </p:nvSpPr>
        <p:spPr>
          <a:xfrm>
            <a:off x="4703978"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١٦ مليون لون</a:t>
            </a:r>
            <a:endParaRPr lang="ar-SA" sz="2200" dirty="0"/>
          </a:p>
        </p:txBody>
      </p:sp>
      <p:sp>
        <p:nvSpPr>
          <p:cNvPr id="14" name="anim-g2-321"/>
          <p:cNvSpPr/>
          <p:nvPr/>
        </p:nvSpPr>
        <p:spPr>
          <a:xfrm>
            <a:off x="4703978"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أحمر وأخضر وأزرق، كل منها من ٠ إلى ٢٥٥</a:t>
            </a:r>
            <a:endParaRPr lang="ar-SA" sz="1900" dirty="0"/>
          </a:p>
        </p:txBody>
      </p:sp>
      <p:sp>
        <p:nvSpPr>
          <p:cNvPr id="15" name="anim-g3-322"/>
          <p:cNvSpPr/>
          <p:nvPr/>
        </p:nvSpPr>
        <p:spPr>
          <a:xfrm>
            <a:off x="822960"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323"/>
          <p:cNvSpPr/>
          <p:nvPr/>
        </p:nvSpPr>
        <p:spPr>
          <a:xfrm>
            <a:off x="3314090" y="2267712"/>
            <a:ext cx="566928" cy="566928"/>
          </a:xfrm>
          <a:prstGeom prst="roundRect">
            <a:avLst>
              <a:gd name="adj" fmla="val 32258"/>
            </a:avLst>
          </a:prstGeom>
          <a:solidFill>
            <a:srgbClr val="F7E6BC"/>
          </a:solidFill>
          <a:ln/>
        </p:spPr>
      </p:sp>
      <p:sp>
        <p:nvSpPr>
          <p:cNvPr id="17" name="anim-g3-324"/>
          <p:cNvSpPr/>
          <p:nvPr/>
        </p:nvSpPr>
        <p:spPr>
          <a:xfrm>
            <a:off x="3314090"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325"/>
          <p:cNvSpPr/>
          <p:nvPr/>
        </p:nvSpPr>
        <p:spPr>
          <a:xfrm>
            <a:off x="1097280"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تيار</a:t>
            </a:r>
            <a:endParaRPr lang="ar-SA" sz="2200" dirty="0"/>
          </a:p>
        </p:txBody>
      </p:sp>
      <p:sp>
        <p:nvSpPr>
          <p:cNvPr id="19" name="anim-g3-326"/>
          <p:cNvSpPr/>
          <p:nvPr/>
        </p:nvSpPr>
        <p:spPr>
          <a:xfrm>
            <a:off x="1097280"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كل ليد حتى ٦٠ ملي أمبير بالأبيض الكامل</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الإضاءة الذكية  ·  ٣٩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Image 0" descr="C:\Users\user\projects\younes-training\turath\.pptx-cache\s40.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Image 0" descr="C:\Users\user\projects\younes-training\turath\.pptx-cache\s41-0.jpg">    </p:cNvPr>
          <p:cNvPicPr>
            <a:picLocks noChangeAspect="1"/>
          </p:cNvPicPr>
          <p:nvPr/>
        </p:nvPicPr>
        <p:blipFill>
          <a:blip r:embed="rId1"/>
          <a:stretch>
            <a:fillRect/>
          </a:stretch>
        </p:blipFill>
        <p:spPr>
          <a:xfrm>
            <a:off x="0" y="0"/>
            <a:ext cx="12191695" cy="6858000"/>
          </a:xfrm>
          <a:prstGeom prst="rect">
            <a:avLst/>
          </a:prstGeom>
        </p:spPr>
      </p:pic>
      <p:pic>
        <p:nvPicPr>
          <p:cNvPr id="3" name="anim-g1-327" descr="C:\Users\user\projects\younes-training\turath\.pptx-cache\s41-1.jpg">    </p:cNvPr>
          <p:cNvPicPr>
            <a:picLocks noChangeAspect="1"/>
          </p:cNvPicPr>
          <p:nvPr/>
        </p:nvPicPr>
        <p:blipFill>
          <a:blip r:embed="rId2"/>
          <a:stretch>
            <a:fillRect/>
          </a:stretch>
        </p:blipFill>
        <p:spPr>
          <a:xfrm>
            <a:off x="0" y="0"/>
            <a:ext cx="12191695" cy="6858000"/>
          </a:xfrm>
          <a:prstGeom prst="rect">
            <a:avLst/>
          </a:prstGeom>
        </p:spPr>
      </p:pic>
      <p:pic>
        <p:nvPicPr>
          <p:cNvPr id="4" name="anim-g2-328" descr="C:\Users\user\projects\younes-training\turath\.pptx-cache\s41-2.jpg">    </p:cNvPr>
          <p:cNvPicPr>
            <a:picLocks noChangeAspect="1"/>
          </p:cNvPicPr>
          <p:nvPr/>
        </p:nvPicPr>
        <p:blipFill>
          <a:blip r:embed="rId3"/>
          <a:stretch>
            <a:fillRect/>
          </a:stretch>
        </p:blipFill>
        <p:spPr>
          <a:xfrm>
            <a:off x="0" y="0"/>
            <a:ext cx="12191695" cy="6858000"/>
          </a:xfrm>
          <a:prstGeom prst="rect">
            <a:avLst/>
          </a:prstGeom>
        </p:spPr>
      </p:pic>
      <p:pic>
        <p:nvPicPr>
          <p:cNvPr id="5" name="anim-g3-329" descr="C:\Users\user\projects\younes-training\turath\.pptx-cache\s41-3.jpg">    </p:cNvPr>
          <p:cNvPicPr>
            <a:picLocks noChangeAspect="1"/>
          </p:cNvPicPr>
          <p:nvPr/>
        </p:nvPicPr>
        <p:blipFill>
          <a:blip r:embed="rId4"/>
          <a:stretch>
            <a:fillRect/>
          </a:stretch>
        </p:blipFill>
        <p:spPr>
          <a:xfrm>
            <a:off x="0" y="0"/>
            <a:ext cx="12191695" cy="6858000"/>
          </a:xfrm>
          <a:prstGeom prst="rect">
            <a:avLst/>
          </a:prstGeom>
        </p:spPr>
      </p:pic>
      <p:pic>
        <p:nvPicPr>
          <p:cNvPr id="6" name="anim-g4-330" descr="C:\Users\user\projects\younes-training\turath\.pptx-cache\s41-4.jpg">    </p:cNvPr>
          <p:cNvPicPr>
            <a:picLocks noChangeAspect="1"/>
          </p:cNvPicPr>
          <p:nvPr/>
        </p:nvPicPr>
        <p:blipFill>
          <a:blip r:embed="rId5"/>
          <a:stretch>
            <a:fillRect/>
          </a:stretch>
        </p:blipFill>
        <p:spPr>
          <a:xfrm>
            <a:off x="0" y="0"/>
            <a:ext cx="12191695" cy="6858000"/>
          </a:xfrm>
          <a:prstGeom prst="rect">
            <a:avLst/>
          </a:prstGeom>
        </p:spPr>
      </p:pic>
      <p:pic>
        <p:nvPicPr>
          <p:cNvPr id="7" name="anim-g5-331" descr="C:\Users\user\projects\younes-training\turath\.pptx-cache\s41-5.jpg">    </p:cNvPr>
          <p:cNvPicPr>
            <a:picLocks noChangeAspect="1"/>
          </p:cNvPicPr>
          <p:nvPr/>
        </p:nvPicPr>
        <p:blipFill>
          <a:blip r:embed="rId6"/>
          <a:stretch>
            <a:fillRect/>
          </a:stretch>
        </p:blipFill>
        <p:spPr>
          <a:xfrm>
            <a:off x="0" y="0"/>
            <a:ext cx="12191695" cy="6858000"/>
          </a:xfrm>
          <a:prstGeom prst="rect">
            <a:avLst/>
          </a:prstGeom>
        </p:spPr>
      </p:pic>
      <p:pic>
        <p:nvPicPr>
          <p:cNvPr id="8" name="anim-g6-332" descr="C:\Users\user\projects\younes-training\turath\.pptx-cache\s41-6.jpg">    </p:cNvPr>
          <p:cNvPicPr>
            <a:picLocks noChangeAspect="1"/>
          </p:cNvPicPr>
          <p:nvPr/>
        </p:nvPicPr>
        <p:blipFill>
          <a:blip r:embed="rId7"/>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Image 0" descr="C:\Users\user\projects\younes-training\turath\.pptx-cache\s42-0.jpg">    </p:cNvPr>
          <p:cNvPicPr>
            <a:picLocks noChangeAspect="1"/>
          </p:cNvPicPr>
          <p:nvPr/>
        </p:nvPicPr>
        <p:blipFill>
          <a:blip r:embed="rId1"/>
          <a:stretch>
            <a:fillRect/>
          </a:stretch>
        </p:blipFill>
        <p:spPr>
          <a:xfrm>
            <a:off x="0" y="0"/>
            <a:ext cx="12191695" cy="6858000"/>
          </a:xfrm>
          <a:prstGeom prst="rect">
            <a:avLst/>
          </a:prstGeom>
        </p:spPr>
      </p:pic>
      <p:pic>
        <p:nvPicPr>
          <p:cNvPr id="3" name="anim-g1-333" descr="C:\Users\user\projects\younes-training\turath\.pptx-cache\s42-1.jpg">    </p:cNvPr>
          <p:cNvPicPr>
            <a:picLocks noChangeAspect="1"/>
          </p:cNvPicPr>
          <p:nvPr/>
        </p:nvPicPr>
        <p:blipFill>
          <a:blip r:embed="rId2"/>
          <a:stretch>
            <a:fillRect/>
          </a:stretch>
        </p:blipFill>
        <p:spPr>
          <a:xfrm>
            <a:off x="0" y="0"/>
            <a:ext cx="12191695" cy="6858000"/>
          </a:xfrm>
          <a:prstGeom prst="rect">
            <a:avLst/>
          </a:prstGeom>
        </p:spPr>
      </p:pic>
      <p:pic>
        <p:nvPicPr>
          <p:cNvPr id="4" name="anim-g2-334" descr="C:\Users\user\projects\younes-training\turath\.pptx-cache\s42-2.jpg">    </p:cNvPr>
          <p:cNvPicPr>
            <a:picLocks noChangeAspect="1"/>
          </p:cNvPicPr>
          <p:nvPr/>
        </p:nvPicPr>
        <p:blipFill>
          <a:blip r:embed="rId3"/>
          <a:stretch>
            <a:fillRect/>
          </a:stretch>
        </p:blipFill>
        <p:spPr>
          <a:xfrm>
            <a:off x="0" y="0"/>
            <a:ext cx="12191695" cy="6858000"/>
          </a:xfrm>
          <a:prstGeom prst="rect">
            <a:avLst/>
          </a:prstGeom>
        </p:spPr>
      </p:pic>
      <p:pic>
        <p:nvPicPr>
          <p:cNvPr id="5" name="anim-g3-335" descr="C:\Users\user\projects\younes-training\turath\.pptx-cache\s42-3.jpg">    </p:cNvPr>
          <p:cNvPicPr>
            <a:picLocks noChangeAspect="1"/>
          </p:cNvPicPr>
          <p:nvPr/>
        </p:nvPicPr>
        <p:blipFill>
          <a:blip r:embed="rId4"/>
          <a:stretch>
            <a:fillRect/>
          </a:stretch>
        </p:blipFill>
        <p:spPr>
          <a:xfrm>
            <a:off x="0" y="0"/>
            <a:ext cx="12191695" cy="6858000"/>
          </a:xfrm>
          <a:prstGeom prst="rect">
            <a:avLst/>
          </a:prstGeom>
        </p:spPr>
      </p:pic>
      <p:pic>
        <p:nvPicPr>
          <p:cNvPr id="6" name="anim-g4-336" descr="C:\Users\user\projects\younes-training\turath\.pptx-cache\s42-4.jpg">    </p:cNvPr>
          <p:cNvPicPr>
            <a:picLocks noChangeAspect="1"/>
          </p:cNvPicPr>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name="Slide 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خلاصة المحور</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rtl="1"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ذهبي للأبراج، وأخضر للفناء، وأزرق للمسجد، وبنفسجي للديوانية: الضوء لغة يفهمها الجميع</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لمسة تراث</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 الإضاءة الذكية  ·  ٤٣</a:t>
            </a:r>
            <a:endParaRPr lang="ar-SA" sz="12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097280" y="2103120"/>
            <a:ext cx="2651760" cy="2651760"/>
          </a:xfrm>
          <a:prstGeom prst="ellipse">
            <a:avLst/>
          </a:prstGeom>
          <a:solidFill>
            <a:srgbClr val="D9AE4B">
              <a:alpha val="12000"/>
            </a:srgbClr>
          </a:solidFill>
          <a:ln w="63500">
            <a:solidFill>
              <a:srgbClr val="D9AE4B">
                <a:alpha val="60000"/>
              </a:srgbClr>
            </a:solidFill>
            <a:prstDash val="solid"/>
          </a:ln>
        </p:spPr>
      </p:sp>
      <p:sp>
        <p:nvSpPr>
          <p:cNvPr id="3" name="Text 1"/>
          <p:cNvSpPr/>
          <p:nvPr/>
        </p:nvSpPr>
        <p:spPr>
          <a:xfrm>
            <a:off x="1097280" y="2103120"/>
            <a:ext cx="2651760" cy="2651760"/>
          </a:xfrm>
          <a:prstGeom prst="rect">
            <a:avLst/>
          </a:prstGeom>
          <a:noFill/>
          <a:ln/>
        </p:spPr>
        <p:txBody>
          <a:bodyPr wrap="square" lIns="0" tIns="0" rIns="0" bIns="0" rtlCol="0" anchor="ctr">
            <a:normAutofit/>
          </a:bodyPr>
          <a:lstStyle/>
          <a:p>
            <a:pPr rtl="1" algn="ctr" indent="0" marL="0">
              <a:buNone/>
            </a:pPr>
            <a:r>
              <a:rPr lang="ar-SA" altLang="en-US" sz="12000" dirty="0">
                <a:solidFill>
                  <a:srgbClr val="F0CC7A"/>
                </a:solidFill>
                <a:latin typeface="Cairo Black" pitchFamily="34" charset="0"/>
                <a:ea typeface="Cairo Black" pitchFamily="34" charset="-122"/>
                <a:cs typeface="Cairo Black" pitchFamily="34" charset="-120"/>
              </a:rPr>
              <a:t>٥</a:t>
            </a:r>
            <a:endParaRPr lang="ar-SA" sz="12000" dirty="0"/>
          </a:p>
        </p:txBody>
      </p:sp>
      <p:sp>
        <p:nvSpPr>
          <p:cNvPr id="4" name="Text 2"/>
          <p:cNvSpPr/>
          <p:nvPr/>
        </p:nvSpPr>
        <p:spPr>
          <a:xfrm>
            <a:off x="4206240" y="1828800"/>
            <a:ext cx="7162495" cy="457200"/>
          </a:xfrm>
          <a:prstGeom prst="rect">
            <a:avLst/>
          </a:prstGeom>
          <a:noFill/>
          <a:ln/>
        </p:spPr>
        <p:txBody>
          <a:bodyPr wrap="square" lIns="0" tIns="0" rIns="0" bIns="0" rtlCol="0" anchor="ctr">
            <a:normAutofit/>
          </a:bodyPr>
          <a:lstStyle/>
          <a:p>
            <a:pPr rtl="1" algn="r" indent="0" marL="0">
              <a:buNone/>
            </a:pPr>
            <a:r>
              <a:rPr lang="ar-SA" altLang="en-US" sz="2000" b="1" dirty="0">
                <a:solidFill>
                  <a:srgbClr val="D9AE4B"/>
                </a:solidFill>
                <a:latin typeface="Cairo" pitchFamily="34" charset="0"/>
                <a:ea typeface="Cairo" pitchFamily="34" charset="-122"/>
                <a:cs typeface="Cairo" pitchFamily="34" charset="-120"/>
              </a:rPr>
              <a:t>المحور ٥</a:t>
            </a:r>
            <a:endParaRPr lang="ar-SA" sz="2000" dirty="0"/>
          </a:p>
        </p:txBody>
      </p:sp>
      <p:sp>
        <p:nvSpPr>
          <p:cNvPr id="5" name="Text 3"/>
          <p:cNvSpPr/>
          <p:nvPr/>
        </p:nvSpPr>
        <p:spPr>
          <a:xfrm>
            <a:off x="4206240" y="2286000"/>
            <a:ext cx="7162495" cy="1371600"/>
          </a:xfrm>
          <a:prstGeom prst="rect">
            <a:avLst/>
          </a:prstGeom>
          <a:noFill/>
          <a:ln/>
        </p:spPr>
        <p:txBody>
          <a:bodyPr wrap="square" lIns="0" tIns="0" rIns="0" bIns="0" rtlCol="0" anchor="ctr">
            <a:normAutofit/>
          </a:bodyPr>
          <a:lstStyle/>
          <a:p>
            <a:pPr rtl="1" algn="r" indent="0" marL="0">
              <a:buNone/>
            </a:pPr>
            <a:r>
              <a:rPr lang="ar-SA" altLang="en-US" sz="5600" dirty="0">
                <a:solidFill>
                  <a:srgbClr val="FFFFFF"/>
                </a:solidFill>
                <a:latin typeface="Cairo Black" pitchFamily="34" charset="0"/>
                <a:ea typeface="Cairo Black" pitchFamily="34" charset="-122"/>
                <a:cs typeface="Cairo Black" pitchFamily="34" charset="-120"/>
              </a:rPr>
              <a:t>🍓 الأصم يرى… والكفيف يسمع</a:t>
            </a:r>
            <a:endParaRPr lang="ar-SA" sz="5600" dirty="0"/>
          </a:p>
        </p:txBody>
      </p:sp>
      <p:sp>
        <p:nvSpPr>
          <p:cNvPr id="6" name="Text 4"/>
          <p:cNvSpPr/>
          <p:nvPr/>
        </p:nvSpPr>
        <p:spPr>
          <a:xfrm>
            <a:off x="4206240" y="3749040"/>
            <a:ext cx="7162495" cy="822960"/>
          </a:xfrm>
          <a:prstGeom prst="rect">
            <a:avLst/>
          </a:prstGeom>
          <a:noFill/>
          <a:ln/>
        </p:spPr>
        <p:txBody>
          <a:bodyPr wrap="square" lIns="0" tIns="0" rIns="0" bIns="0" rtlCol="0" anchor="ctr">
            <a:normAutofit/>
          </a:bodyPr>
          <a:lstStyle/>
          <a:p>
            <a:pPr rtl="1" algn="r" indent="0" marL="0">
              <a:buNone/>
            </a:pPr>
            <a:r>
              <a:rPr lang="ar-SA" altLang="en-US" sz="2200" b="1" dirty="0">
                <a:solidFill>
                  <a:srgbClr val="C9CFE6"/>
                </a:solidFill>
                <a:latin typeface="Cairo" pitchFamily="34" charset="0"/>
                <a:ea typeface="Cairo" pitchFamily="34" charset="-122"/>
                <a:cs typeface="Cairo" pitchFamily="34" charset="-120"/>
              </a:rPr>
              <a:t>راسبيري باي يشغّل فيديو لغة الإشارة والشرح الصوتي معًا</a:t>
            </a:r>
            <a:endParaRPr lang="ar-SA" sz="2200" dirty="0"/>
          </a:p>
        </p:txBody>
      </p:sp>
      <p:sp>
        <p:nvSpPr>
          <p:cNvPr id="7" name="Text 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لمسة تراث</a:t>
            </a:r>
            <a:endParaRPr lang="ar-SA" sz="1200" dirty="0"/>
          </a:p>
        </p:txBody>
      </p:sp>
      <p:sp>
        <p:nvSpPr>
          <p:cNvPr id="8" name="Text 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 الشاشة ولغة الإشارة  ·  ٤٤</a:t>
            </a:r>
            <a:endParaRPr lang="ar-SA" sz="12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248095" y="457200"/>
            <a:ext cx="5120640" cy="457200"/>
          </a:xfrm>
          <a:prstGeom prst="roundRect">
            <a:avLst>
              <a:gd name="adj" fmla="val 50000"/>
            </a:avLst>
          </a:prstGeom>
          <a:solidFill>
            <a:srgbClr val="F6EBCF"/>
          </a:solidFill>
          <a:ln/>
        </p:spPr>
      </p:sp>
      <p:sp>
        <p:nvSpPr>
          <p:cNvPr id="3" name="Text 1"/>
          <p:cNvSpPr/>
          <p:nvPr/>
        </p:nvSpPr>
        <p:spPr>
          <a:xfrm>
            <a:off x="6248095" y="457200"/>
            <a:ext cx="512064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بنهاية هذا المحور تستطيع أن</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أهداف المحور</a:t>
            </a:r>
            <a:endParaRPr lang="ar-SA" sz="3800" dirty="0"/>
          </a:p>
        </p:txBody>
      </p:sp>
      <p:sp>
        <p:nvSpPr>
          <p:cNvPr id="5" name="anim-g1-337"/>
          <p:cNvSpPr/>
          <p:nvPr/>
        </p:nvSpPr>
        <p:spPr>
          <a:xfrm>
            <a:off x="822960" y="1920240"/>
            <a:ext cx="10545775" cy="946404"/>
          </a:xfrm>
          <a:prstGeom prst="roundRect">
            <a:avLst>
              <a:gd name="adj" fmla="val 15459"/>
            </a:avLst>
          </a:prstGeom>
          <a:solidFill>
            <a:srgbClr val="FFFFFF"/>
          </a:solidFill>
          <a:ln w="12700">
            <a:solidFill>
              <a:srgbClr val="E4DCC8"/>
            </a:solidFill>
            <a:prstDash val="solid"/>
          </a:ln>
        </p:spPr>
      </p:sp>
      <p:sp>
        <p:nvSpPr>
          <p:cNvPr id="6" name="anim-g1-338"/>
          <p:cNvSpPr/>
          <p:nvPr/>
        </p:nvSpPr>
        <p:spPr>
          <a:xfrm>
            <a:off x="10573207" y="2109978"/>
            <a:ext cx="566928" cy="566928"/>
          </a:xfrm>
          <a:prstGeom prst="ellipse">
            <a:avLst/>
          </a:prstGeom>
          <a:solidFill>
            <a:srgbClr val="D9AE4B"/>
          </a:solidFill>
          <a:ln/>
        </p:spPr>
      </p:sp>
      <p:sp>
        <p:nvSpPr>
          <p:cNvPr id="7" name="anim-g1-339"/>
          <p:cNvSpPr/>
          <p:nvPr/>
        </p:nvSpPr>
        <p:spPr>
          <a:xfrm>
            <a:off x="10573207" y="2109978"/>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١</a:t>
            </a:r>
            <a:endParaRPr lang="ar-SA" sz="2000" dirty="0"/>
          </a:p>
        </p:txBody>
      </p:sp>
      <p:sp>
        <p:nvSpPr>
          <p:cNvPr id="8" name="anim-g1-340"/>
          <p:cNvSpPr/>
          <p:nvPr/>
        </p:nvSpPr>
        <p:spPr>
          <a:xfrm>
            <a:off x="1097280" y="1920240"/>
            <a:ext cx="9247327" cy="946404"/>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تشغّل فيديو وصوتًا معًا من بايثون على الراسبيري</a:t>
            </a:r>
            <a:endParaRPr lang="ar-SA" sz="2400" dirty="0"/>
          </a:p>
        </p:txBody>
      </p:sp>
      <p:sp>
        <p:nvSpPr>
          <p:cNvPr id="9" name="anim-g2-341"/>
          <p:cNvSpPr/>
          <p:nvPr/>
        </p:nvSpPr>
        <p:spPr>
          <a:xfrm>
            <a:off x="822960" y="2976372"/>
            <a:ext cx="10545775" cy="946404"/>
          </a:xfrm>
          <a:prstGeom prst="roundRect">
            <a:avLst>
              <a:gd name="adj" fmla="val 15459"/>
            </a:avLst>
          </a:prstGeom>
          <a:solidFill>
            <a:srgbClr val="FFFFFF"/>
          </a:solidFill>
          <a:ln w="12700">
            <a:solidFill>
              <a:srgbClr val="E4DCC8"/>
            </a:solidFill>
            <a:prstDash val="solid"/>
          </a:ln>
        </p:spPr>
      </p:sp>
      <p:sp>
        <p:nvSpPr>
          <p:cNvPr id="10" name="anim-g2-342"/>
          <p:cNvSpPr/>
          <p:nvPr/>
        </p:nvSpPr>
        <p:spPr>
          <a:xfrm>
            <a:off x="10573207" y="3166110"/>
            <a:ext cx="566928" cy="566928"/>
          </a:xfrm>
          <a:prstGeom prst="ellipse">
            <a:avLst/>
          </a:prstGeom>
          <a:solidFill>
            <a:srgbClr val="D9AE4B"/>
          </a:solidFill>
          <a:ln/>
        </p:spPr>
      </p:sp>
      <p:sp>
        <p:nvSpPr>
          <p:cNvPr id="11" name="anim-g2-343"/>
          <p:cNvSpPr/>
          <p:nvPr/>
        </p:nvSpPr>
        <p:spPr>
          <a:xfrm>
            <a:off x="10573207" y="3166110"/>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٢</a:t>
            </a:r>
            <a:endParaRPr lang="ar-SA" sz="2000" dirty="0"/>
          </a:p>
        </p:txBody>
      </p:sp>
      <p:sp>
        <p:nvSpPr>
          <p:cNvPr id="12" name="anim-g2-344"/>
          <p:cNvSpPr/>
          <p:nvPr/>
        </p:nvSpPr>
        <p:spPr>
          <a:xfrm>
            <a:off x="1097280" y="2976372"/>
            <a:ext cx="9247327" cy="946404"/>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تحل مشكلة اختلاف طول الفيديو عن الصوت</a:t>
            </a:r>
            <a:endParaRPr lang="ar-SA" sz="2400" dirty="0"/>
          </a:p>
        </p:txBody>
      </p:sp>
      <p:sp>
        <p:nvSpPr>
          <p:cNvPr id="13" name="anim-g3-345"/>
          <p:cNvSpPr/>
          <p:nvPr/>
        </p:nvSpPr>
        <p:spPr>
          <a:xfrm>
            <a:off x="822960" y="4032504"/>
            <a:ext cx="10545775" cy="946404"/>
          </a:xfrm>
          <a:prstGeom prst="roundRect">
            <a:avLst>
              <a:gd name="adj" fmla="val 15459"/>
            </a:avLst>
          </a:prstGeom>
          <a:solidFill>
            <a:srgbClr val="FFFFFF"/>
          </a:solidFill>
          <a:ln w="12700">
            <a:solidFill>
              <a:srgbClr val="E4DCC8"/>
            </a:solidFill>
            <a:prstDash val="solid"/>
          </a:ln>
        </p:spPr>
      </p:sp>
      <p:sp>
        <p:nvSpPr>
          <p:cNvPr id="14" name="anim-g3-346"/>
          <p:cNvSpPr/>
          <p:nvPr/>
        </p:nvSpPr>
        <p:spPr>
          <a:xfrm>
            <a:off x="10573207" y="4222242"/>
            <a:ext cx="566928" cy="566928"/>
          </a:xfrm>
          <a:prstGeom prst="ellipse">
            <a:avLst/>
          </a:prstGeom>
          <a:solidFill>
            <a:srgbClr val="D9AE4B"/>
          </a:solidFill>
          <a:ln/>
        </p:spPr>
      </p:sp>
      <p:sp>
        <p:nvSpPr>
          <p:cNvPr id="15" name="anim-g3-347"/>
          <p:cNvSpPr/>
          <p:nvPr/>
        </p:nvSpPr>
        <p:spPr>
          <a:xfrm>
            <a:off x="10573207" y="4222242"/>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٣</a:t>
            </a:r>
            <a:endParaRPr lang="ar-SA" sz="2000" dirty="0"/>
          </a:p>
        </p:txBody>
      </p:sp>
      <p:sp>
        <p:nvSpPr>
          <p:cNvPr id="16" name="anim-g3-348"/>
          <p:cNvSpPr/>
          <p:nvPr/>
        </p:nvSpPr>
        <p:spPr>
          <a:xfrm>
            <a:off x="1097280" y="4032504"/>
            <a:ext cx="9247327" cy="946404"/>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تعالج الصوت الخافت في نظام PipeWire</a:t>
            </a:r>
            <a:endParaRPr lang="ar-SA" sz="2400" dirty="0"/>
          </a:p>
        </p:txBody>
      </p:sp>
      <p:sp>
        <p:nvSpPr>
          <p:cNvPr id="17" name="anim-g4-349"/>
          <p:cNvSpPr/>
          <p:nvPr/>
        </p:nvSpPr>
        <p:spPr>
          <a:xfrm>
            <a:off x="822960" y="5088636"/>
            <a:ext cx="10545775" cy="946404"/>
          </a:xfrm>
          <a:prstGeom prst="roundRect">
            <a:avLst>
              <a:gd name="adj" fmla="val 15459"/>
            </a:avLst>
          </a:prstGeom>
          <a:solidFill>
            <a:srgbClr val="FFFFFF"/>
          </a:solidFill>
          <a:ln w="12700">
            <a:solidFill>
              <a:srgbClr val="E4DCC8"/>
            </a:solidFill>
            <a:prstDash val="solid"/>
          </a:ln>
        </p:spPr>
      </p:sp>
      <p:sp>
        <p:nvSpPr>
          <p:cNvPr id="18" name="anim-g4-350"/>
          <p:cNvSpPr/>
          <p:nvPr/>
        </p:nvSpPr>
        <p:spPr>
          <a:xfrm>
            <a:off x="10573207" y="5278374"/>
            <a:ext cx="566928" cy="566928"/>
          </a:xfrm>
          <a:prstGeom prst="ellipse">
            <a:avLst/>
          </a:prstGeom>
          <a:solidFill>
            <a:srgbClr val="D9AE4B"/>
          </a:solidFill>
          <a:ln/>
        </p:spPr>
      </p:sp>
      <p:sp>
        <p:nvSpPr>
          <p:cNvPr id="19" name="anim-g4-351"/>
          <p:cNvSpPr/>
          <p:nvPr/>
        </p:nvSpPr>
        <p:spPr>
          <a:xfrm>
            <a:off x="10573207" y="5278374"/>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٤</a:t>
            </a:r>
            <a:endParaRPr lang="ar-SA" sz="2000" dirty="0"/>
          </a:p>
        </p:txBody>
      </p:sp>
      <p:sp>
        <p:nvSpPr>
          <p:cNvPr id="20" name="anim-g4-352"/>
          <p:cNvSpPr/>
          <p:nvPr/>
        </p:nvSpPr>
        <p:spPr>
          <a:xfrm>
            <a:off x="1097280" y="5088636"/>
            <a:ext cx="9247327" cy="946404"/>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تصمم محتوى لغة إشارة دقيقًا بالتعاون مع مختص</a:t>
            </a:r>
            <a:endParaRPr lang="ar-SA" sz="2400" dirty="0"/>
          </a:p>
        </p:txBody>
      </p:sp>
      <p:sp>
        <p:nvSpPr>
          <p:cNvPr id="21" name="Text 19"/>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2" name="Text 20"/>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الشاشة ولغة الإشارة  ·  ٤٥</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46.xml><?xml version="1.0" encoding="utf-8"?>
<p:sld xmlns:a="http://schemas.openxmlformats.org/drawingml/2006/main" xmlns:r="http://schemas.openxmlformats.org/officeDocument/2006/relationships" xmlns:p="http://schemas.openxmlformats.org/presentationml/2006/main">
  <p:cSld name="Slide 4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003743" y="457200"/>
            <a:ext cx="3364992" cy="457200"/>
          </a:xfrm>
          <a:prstGeom prst="roundRect">
            <a:avLst>
              <a:gd name="adj" fmla="val 50000"/>
            </a:avLst>
          </a:prstGeom>
          <a:solidFill>
            <a:srgbClr val="F6EBCF"/>
          </a:solidFill>
          <a:ln/>
        </p:spPr>
      </p:sp>
      <p:sp>
        <p:nvSpPr>
          <p:cNvPr id="3" name="Text 1"/>
          <p:cNvSpPr/>
          <p:nvPr/>
        </p:nvSpPr>
        <p:spPr>
          <a:xfrm>
            <a:off x="8003743" y="457200"/>
            <a:ext cx="3364992"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لماذا راسبيري باي؟</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حاسوب كامل بحجم كف اليد</a:t>
            </a:r>
            <a:endParaRPr lang="ar-SA" sz="3800" dirty="0"/>
          </a:p>
        </p:txBody>
      </p:sp>
      <p:sp>
        <p:nvSpPr>
          <p:cNvPr id="5" name="anim-g1-353"/>
          <p:cNvSpPr/>
          <p:nvPr/>
        </p:nvSpPr>
        <p:spPr>
          <a:xfrm>
            <a:off x="8036357"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354"/>
          <p:cNvSpPr/>
          <p:nvPr/>
        </p:nvSpPr>
        <p:spPr>
          <a:xfrm>
            <a:off x="10527487" y="2267712"/>
            <a:ext cx="566928" cy="566928"/>
          </a:xfrm>
          <a:prstGeom prst="roundRect">
            <a:avLst>
              <a:gd name="adj" fmla="val 32258"/>
            </a:avLst>
          </a:prstGeom>
          <a:solidFill>
            <a:srgbClr val="F7E6BC"/>
          </a:solidFill>
          <a:ln/>
        </p:spPr>
      </p:sp>
      <p:sp>
        <p:nvSpPr>
          <p:cNvPr id="7" name="anim-g1-355"/>
          <p:cNvSpPr/>
          <p:nvPr/>
        </p:nvSpPr>
        <p:spPr>
          <a:xfrm>
            <a:off x="10527487"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356"/>
          <p:cNvSpPr/>
          <p:nvPr/>
        </p:nvSpPr>
        <p:spPr>
          <a:xfrm>
            <a:off x="8310677"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فيديو وصوت</a:t>
            </a:r>
            <a:endParaRPr lang="ar-SA" sz="2200" dirty="0"/>
          </a:p>
        </p:txBody>
      </p:sp>
      <p:sp>
        <p:nvSpPr>
          <p:cNvPr id="9" name="anim-g1-357"/>
          <p:cNvSpPr/>
          <p:nvPr/>
        </p:nvSpPr>
        <p:spPr>
          <a:xfrm>
            <a:off x="8310677"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VLC للفيديو بلغة الإشارة، وmpg123 للشرح الصوتي</a:t>
            </a:r>
            <a:endParaRPr lang="ar-SA" sz="1900" dirty="0"/>
          </a:p>
        </p:txBody>
      </p:sp>
      <p:sp>
        <p:nvSpPr>
          <p:cNvPr id="10" name="anim-g2-358"/>
          <p:cNvSpPr/>
          <p:nvPr/>
        </p:nvSpPr>
        <p:spPr>
          <a:xfrm>
            <a:off x="4429658"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359"/>
          <p:cNvSpPr/>
          <p:nvPr/>
        </p:nvSpPr>
        <p:spPr>
          <a:xfrm>
            <a:off x="6920789" y="2267712"/>
            <a:ext cx="566928" cy="566928"/>
          </a:xfrm>
          <a:prstGeom prst="roundRect">
            <a:avLst>
              <a:gd name="adj" fmla="val 32258"/>
            </a:avLst>
          </a:prstGeom>
          <a:solidFill>
            <a:srgbClr val="F7E6BC"/>
          </a:solidFill>
          <a:ln/>
        </p:spPr>
      </p:sp>
      <p:sp>
        <p:nvSpPr>
          <p:cNvPr id="12" name="anim-g2-360"/>
          <p:cNvSpPr/>
          <p:nvPr/>
        </p:nvSpPr>
        <p:spPr>
          <a:xfrm>
            <a:off x="6920789"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361"/>
          <p:cNvSpPr/>
          <p:nvPr/>
        </p:nvSpPr>
        <p:spPr>
          <a:xfrm>
            <a:off x="4703978"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بايثون</a:t>
            </a:r>
            <a:endParaRPr lang="ar-SA" sz="2200" dirty="0"/>
          </a:p>
        </p:txBody>
      </p:sp>
      <p:sp>
        <p:nvSpPr>
          <p:cNvPr id="14" name="anim-g2-362"/>
          <p:cNvSpPr/>
          <p:nvPr/>
        </p:nvSpPr>
        <p:spPr>
          <a:xfrm>
            <a:off x="4703978"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برنامج واحد يختار محتوى الجهة ويشغّله</a:t>
            </a:r>
            <a:endParaRPr lang="ar-SA" sz="1900" dirty="0"/>
          </a:p>
        </p:txBody>
      </p:sp>
      <p:sp>
        <p:nvSpPr>
          <p:cNvPr id="15" name="anim-g3-363"/>
          <p:cNvSpPr/>
          <p:nvPr/>
        </p:nvSpPr>
        <p:spPr>
          <a:xfrm>
            <a:off x="822960"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364"/>
          <p:cNvSpPr/>
          <p:nvPr/>
        </p:nvSpPr>
        <p:spPr>
          <a:xfrm>
            <a:off x="3314090" y="2267712"/>
            <a:ext cx="566928" cy="566928"/>
          </a:xfrm>
          <a:prstGeom prst="roundRect">
            <a:avLst>
              <a:gd name="adj" fmla="val 32258"/>
            </a:avLst>
          </a:prstGeom>
          <a:solidFill>
            <a:srgbClr val="F7E6BC"/>
          </a:solidFill>
          <a:ln/>
        </p:spPr>
      </p:sp>
      <p:sp>
        <p:nvSpPr>
          <p:cNvPr id="17" name="anim-g3-365"/>
          <p:cNvSpPr/>
          <p:nvPr/>
        </p:nvSpPr>
        <p:spPr>
          <a:xfrm>
            <a:off x="3314090"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366"/>
          <p:cNvSpPr/>
          <p:nvPr/>
        </p:nvSpPr>
        <p:spPr>
          <a:xfrm>
            <a:off x="1097280"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محطة توجيه</a:t>
            </a:r>
            <a:endParaRPr lang="ar-SA" sz="2200" dirty="0"/>
          </a:p>
        </p:txBody>
      </p:sp>
      <p:sp>
        <p:nvSpPr>
          <p:cNvPr id="19" name="anim-g3-367"/>
          <p:cNvSpPr/>
          <p:nvPr/>
        </p:nvSpPr>
        <p:spPr>
          <a:xfrm>
            <a:off x="1097280"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يستقبل أوامر العين ويعيد إرسالها فورًا إلى ESP32</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الشاشة ولغة الإشارة  ·  ٤٦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Image 0" descr="C:\Users\user\projects\younes-training\turath\.pptx-cache\s47.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Image 0" descr="C:\Users\user\projects\younes-training\turath\.pptx-cache\s48-0.jpg">    </p:cNvPr>
          <p:cNvPicPr>
            <a:picLocks noChangeAspect="1"/>
          </p:cNvPicPr>
          <p:nvPr/>
        </p:nvPicPr>
        <p:blipFill>
          <a:blip r:embed="rId1"/>
          <a:stretch>
            <a:fillRect/>
          </a:stretch>
        </p:blipFill>
        <p:spPr>
          <a:xfrm>
            <a:off x="0" y="0"/>
            <a:ext cx="12191695" cy="6858000"/>
          </a:xfrm>
          <a:prstGeom prst="rect">
            <a:avLst/>
          </a:prstGeom>
        </p:spPr>
      </p:pic>
      <p:pic>
        <p:nvPicPr>
          <p:cNvPr id="3" name="anim-g1-368" descr="C:\Users\user\projects\younes-training\turath\.pptx-cache\s48-1.jpg">    </p:cNvPr>
          <p:cNvPicPr>
            <a:picLocks noChangeAspect="1"/>
          </p:cNvPicPr>
          <p:nvPr/>
        </p:nvPicPr>
        <p:blipFill>
          <a:blip r:embed="rId2"/>
          <a:stretch>
            <a:fillRect/>
          </a:stretch>
        </p:blipFill>
        <p:spPr>
          <a:xfrm>
            <a:off x="0" y="0"/>
            <a:ext cx="12191695" cy="6858000"/>
          </a:xfrm>
          <a:prstGeom prst="rect">
            <a:avLst/>
          </a:prstGeom>
        </p:spPr>
      </p:pic>
      <p:pic>
        <p:nvPicPr>
          <p:cNvPr id="4" name="anim-g2-369" descr="C:\Users\user\projects\younes-training\turath\.pptx-cache\s48-2.jpg">    </p:cNvPr>
          <p:cNvPicPr>
            <a:picLocks noChangeAspect="1"/>
          </p:cNvPicPr>
          <p:nvPr/>
        </p:nvPicPr>
        <p:blipFill>
          <a:blip r:embed="rId3"/>
          <a:stretch>
            <a:fillRect/>
          </a:stretch>
        </p:blipFill>
        <p:spPr>
          <a:xfrm>
            <a:off x="0" y="0"/>
            <a:ext cx="12191695" cy="6858000"/>
          </a:xfrm>
          <a:prstGeom prst="rect">
            <a:avLst/>
          </a:prstGeom>
        </p:spPr>
      </p:pic>
      <p:pic>
        <p:nvPicPr>
          <p:cNvPr id="5" name="anim-g3-370" descr="C:\Users\user\projects\younes-training\turath\.pptx-cache\s48-3.jpg">    </p:cNvPr>
          <p:cNvPicPr>
            <a:picLocks noChangeAspect="1"/>
          </p:cNvPicPr>
          <p:nvPr/>
        </p:nvPicPr>
        <p:blipFill>
          <a:blip r:embed="rId4"/>
          <a:stretch>
            <a:fillRect/>
          </a:stretch>
        </p:blipFill>
        <p:spPr>
          <a:xfrm>
            <a:off x="0" y="0"/>
            <a:ext cx="12191695" cy="6858000"/>
          </a:xfrm>
          <a:prstGeom prst="rect">
            <a:avLst/>
          </a:prstGeom>
        </p:spPr>
      </p:pic>
      <p:pic>
        <p:nvPicPr>
          <p:cNvPr id="6" name="anim-g4-371" descr="C:\Users\user\projects\younes-training\turath\.pptx-cache\s48-4.jpg">    </p:cNvPr>
          <p:cNvPicPr>
            <a:picLocks noChangeAspect="1"/>
          </p:cNvPicPr>
          <p:nvPr/>
        </p:nvPicPr>
        <p:blipFill>
          <a:blip r:embed="rId5"/>
          <a:stretch>
            <a:fillRect/>
          </a:stretch>
        </p:blipFill>
        <p:spPr>
          <a:xfrm>
            <a:off x="0" y="0"/>
            <a:ext cx="12191695" cy="6858000"/>
          </a:xfrm>
          <a:prstGeom prst="rect">
            <a:avLst/>
          </a:prstGeom>
        </p:spPr>
      </p:pic>
      <p:pic>
        <p:nvPicPr>
          <p:cNvPr id="7" name="anim-g5-372" descr="C:\Users\user\projects\younes-training\turath\.pptx-cache\s48-5.jpg">    </p:cNvPr>
          <p:cNvPicPr>
            <a:picLocks noChangeAspect="1"/>
          </p:cNvPicPr>
          <p:nvPr/>
        </p:nvPicPr>
        <p:blipFill>
          <a:blip r:embed="rId6"/>
          <a:stretch>
            <a:fillRect/>
          </a:stretch>
        </p:blipFill>
        <p:spPr>
          <a:xfrm>
            <a:off x="0" y="0"/>
            <a:ext cx="12191695" cy="6858000"/>
          </a:xfrm>
          <a:prstGeom prst="rect">
            <a:avLst/>
          </a:prstGeom>
        </p:spPr>
      </p:pic>
      <p:pic>
        <p:nvPicPr>
          <p:cNvPr id="8" name="anim-g6-373" descr="C:\Users\user\projects\younes-training\turath\.pptx-cache\s48-6.jpg">    </p:cNvPr>
          <p:cNvPicPr>
            <a:picLocks noChangeAspect="1"/>
          </p:cNvPicPr>
          <p:nvPr/>
        </p:nvPicPr>
        <p:blipFill>
          <a:blip r:embed="rId7"/>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name="Slide 4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272223" y="457200"/>
            <a:ext cx="4096512" cy="457200"/>
          </a:xfrm>
          <a:prstGeom prst="roundRect">
            <a:avLst>
              <a:gd name="adj" fmla="val 50000"/>
            </a:avLst>
          </a:prstGeom>
          <a:solidFill>
            <a:srgbClr val="F6EBCF"/>
          </a:solidFill>
          <a:ln/>
        </p:spPr>
      </p:sp>
      <p:sp>
        <p:nvSpPr>
          <p:cNvPr id="3" name="Text 1"/>
          <p:cNvSpPr/>
          <p:nvPr/>
        </p:nvSpPr>
        <p:spPr>
          <a:xfrm>
            <a:off x="7272223" y="457200"/>
            <a:ext cx="4096512"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تحديات واجهها الفريق</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مشكلتان حقيقيتان… وحلّان</a:t>
            </a:r>
            <a:endParaRPr lang="ar-SA" sz="3800" dirty="0"/>
          </a:p>
        </p:txBody>
      </p:sp>
      <p:sp>
        <p:nvSpPr>
          <p:cNvPr id="5" name="anim-g1-374"/>
          <p:cNvSpPr/>
          <p:nvPr/>
        </p:nvSpPr>
        <p:spPr>
          <a:xfrm>
            <a:off x="6233008" y="2011680"/>
            <a:ext cx="5135728" cy="4023360"/>
          </a:xfrm>
          <a:prstGeom prst="roundRect">
            <a:avLst>
              <a:gd name="adj" fmla="val 4091"/>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375"/>
          <p:cNvSpPr/>
          <p:nvPr/>
        </p:nvSpPr>
        <p:spPr>
          <a:xfrm>
            <a:off x="10527487" y="2267712"/>
            <a:ext cx="566928" cy="566928"/>
          </a:xfrm>
          <a:prstGeom prst="roundRect">
            <a:avLst>
              <a:gd name="adj" fmla="val 32258"/>
            </a:avLst>
          </a:prstGeom>
          <a:solidFill>
            <a:srgbClr val="F7E6BC"/>
          </a:solidFill>
          <a:ln/>
        </p:spPr>
      </p:sp>
      <p:sp>
        <p:nvSpPr>
          <p:cNvPr id="7" name="anim-g1-376"/>
          <p:cNvSpPr/>
          <p:nvPr/>
        </p:nvSpPr>
        <p:spPr>
          <a:xfrm>
            <a:off x="10527487"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377"/>
          <p:cNvSpPr/>
          <p:nvPr/>
        </p:nvSpPr>
        <p:spPr>
          <a:xfrm>
            <a:off x="6507328" y="2944368"/>
            <a:ext cx="458708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صوت خافت جدًا</a:t>
            </a:r>
            <a:endParaRPr lang="ar-SA" sz="2200" dirty="0"/>
          </a:p>
        </p:txBody>
      </p:sp>
      <p:sp>
        <p:nvSpPr>
          <p:cNvPr id="9" name="anim-g1-378"/>
          <p:cNvSpPr/>
          <p:nvPr/>
        </p:nvSpPr>
        <p:spPr>
          <a:xfrm>
            <a:off x="6507328" y="3493008"/>
            <a:ext cx="458708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الراسبيري يستخدم نظام PipeWire بطبقات تحكم منفصلة. الحل: رفع الصوت من النظام ومن المشغّل نفسه معًا</a:t>
            </a:r>
            <a:endParaRPr lang="ar-SA" sz="1900" dirty="0"/>
          </a:p>
        </p:txBody>
      </p:sp>
      <p:sp>
        <p:nvSpPr>
          <p:cNvPr id="10" name="anim-g2-379"/>
          <p:cNvSpPr/>
          <p:nvPr/>
        </p:nvSpPr>
        <p:spPr>
          <a:xfrm>
            <a:off x="822960" y="2011680"/>
            <a:ext cx="5135728" cy="4023360"/>
          </a:xfrm>
          <a:prstGeom prst="roundRect">
            <a:avLst>
              <a:gd name="adj" fmla="val 4091"/>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380"/>
          <p:cNvSpPr/>
          <p:nvPr/>
        </p:nvSpPr>
        <p:spPr>
          <a:xfrm>
            <a:off x="5117440" y="2267712"/>
            <a:ext cx="566928" cy="566928"/>
          </a:xfrm>
          <a:prstGeom prst="roundRect">
            <a:avLst>
              <a:gd name="adj" fmla="val 32258"/>
            </a:avLst>
          </a:prstGeom>
          <a:solidFill>
            <a:srgbClr val="F7E6BC"/>
          </a:solidFill>
          <a:ln/>
        </p:spPr>
      </p:sp>
      <p:sp>
        <p:nvSpPr>
          <p:cNvPr id="12" name="anim-g2-381"/>
          <p:cNvSpPr/>
          <p:nvPr/>
        </p:nvSpPr>
        <p:spPr>
          <a:xfrm>
            <a:off x="5117440"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382"/>
          <p:cNvSpPr/>
          <p:nvPr/>
        </p:nvSpPr>
        <p:spPr>
          <a:xfrm>
            <a:off x="1097280" y="2944368"/>
            <a:ext cx="458708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نسيان كلمة المرور</a:t>
            </a:r>
            <a:endParaRPr lang="ar-SA" sz="2200" dirty="0"/>
          </a:p>
        </p:txBody>
      </p:sp>
      <p:sp>
        <p:nvSpPr>
          <p:cNvPr id="14" name="anim-g2-383"/>
          <p:cNvSpPr/>
          <p:nvPr/>
        </p:nvSpPr>
        <p:spPr>
          <a:xfrm>
            <a:off x="1097280" y="3493008"/>
            <a:ext cx="458708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تعذّر الدخول عن بُعد. الحل: إعادة ضبط بيانات الدخول من بطاقة الذاكرة مباشرة، دون فقد أي ملف</a:t>
            </a:r>
            <a:endParaRPr lang="ar-SA" sz="1900" dirty="0"/>
          </a:p>
        </p:txBody>
      </p:sp>
      <p:sp>
        <p:nvSpPr>
          <p:cNvPr id="15" name="Text 1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16" name="Text 1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الشاشة ولغة الإشارة  ·  ٤٩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name="Slide 5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564831" y="457200"/>
            <a:ext cx="3803904" cy="457200"/>
          </a:xfrm>
          <a:prstGeom prst="roundRect">
            <a:avLst>
              <a:gd name="adj" fmla="val 50000"/>
            </a:avLst>
          </a:prstGeom>
          <a:solidFill>
            <a:srgbClr val="F6EBCF"/>
          </a:solidFill>
          <a:ln/>
        </p:spPr>
      </p:sp>
      <p:sp>
        <p:nvSpPr>
          <p:cNvPr id="3" name="Text 1"/>
          <p:cNvSpPr/>
          <p:nvPr/>
        </p:nvSpPr>
        <p:spPr>
          <a:xfrm>
            <a:off x="7564831" y="457200"/>
            <a:ext cx="3803904"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لغة الإشارة بإتقان</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كيف صنع الفريق محتوى يثق به الأصم؟</a:t>
            </a:r>
            <a:endParaRPr lang="ar-SA" sz="3200" dirty="0"/>
          </a:p>
        </p:txBody>
      </p:sp>
      <p:sp>
        <p:nvSpPr>
          <p:cNvPr id="5" name="anim-g1-384"/>
          <p:cNvSpPr/>
          <p:nvPr/>
        </p:nvSpPr>
        <p:spPr>
          <a:xfrm>
            <a:off x="8036357"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385"/>
          <p:cNvSpPr/>
          <p:nvPr/>
        </p:nvSpPr>
        <p:spPr>
          <a:xfrm>
            <a:off x="10527487" y="2267712"/>
            <a:ext cx="566928" cy="566928"/>
          </a:xfrm>
          <a:prstGeom prst="roundRect">
            <a:avLst>
              <a:gd name="adj" fmla="val 32258"/>
            </a:avLst>
          </a:prstGeom>
          <a:solidFill>
            <a:srgbClr val="F7E6BC"/>
          </a:solidFill>
          <a:ln/>
        </p:spPr>
      </p:sp>
      <p:sp>
        <p:nvSpPr>
          <p:cNvPr id="7" name="anim-g1-386"/>
          <p:cNvSpPr/>
          <p:nvPr/>
        </p:nvSpPr>
        <p:spPr>
          <a:xfrm>
            <a:off x="10527487"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387"/>
          <p:cNvSpPr/>
          <p:nvPr/>
        </p:nvSpPr>
        <p:spPr>
          <a:xfrm>
            <a:off x="8310677"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مدرسة للصم</a:t>
            </a:r>
            <a:endParaRPr lang="ar-SA" sz="2200" dirty="0"/>
          </a:p>
        </p:txBody>
      </p:sp>
      <p:sp>
        <p:nvSpPr>
          <p:cNvPr id="9" name="anim-g1-388"/>
          <p:cNvSpPr/>
          <p:nvPr/>
        </p:nvSpPr>
        <p:spPr>
          <a:xfrm>
            <a:off x="8310677"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تواصل الفريق مباشرة مع مدرسة للصم والبكم</a:t>
            </a:r>
            <a:endParaRPr lang="ar-SA" sz="1900" dirty="0"/>
          </a:p>
        </p:txBody>
      </p:sp>
      <p:sp>
        <p:nvSpPr>
          <p:cNvPr id="10" name="anim-g2-389"/>
          <p:cNvSpPr/>
          <p:nvPr/>
        </p:nvSpPr>
        <p:spPr>
          <a:xfrm>
            <a:off x="4429658"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390"/>
          <p:cNvSpPr/>
          <p:nvPr/>
        </p:nvSpPr>
        <p:spPr>
          <a:xfrm>
            <a:off x="6920789" y="2267712"/>
            <a:ext cx="566928" cy="566928"/>
          </a:xfrm>
          <a:prstGeom prst="roundRect">
            <a:avLst>
              <a:gd name="adj" fmla="val 32258"/>
            </a:avLst>
          </a:prstGeom>
          <a:solidFill>
            <a:srgbClr val="F7E6BC"/>
          </a:solidFill>
          <a:ln/>
        </p:spPr>
      </p:sp>
      <p:sp>
        <p:nvSpPr>
          <p:cNvPr id="12" name="anim-g2-391"/>
          <p:cNvSpPr/>
          <p:nvPr/>
        </p:nvSpPr>
        <p:spPr>
          <a:xfrm>
            <a:off x="6920789"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392"/>
          <p:cNvSpPr/>
          <p:nvPr/>
        </p:nvSpPr>
        <p:spPr>
          <a:xfrm>
            <a:off x="4703978"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معلم متطوع</a:t>
            </a:r>
            <a:endParaRPr lang="ar-SA" sz="2200" dirty="0"/>
          </a:p>
        </p:txBody>
      </p:sp>
      <p:sp>
        <p:nvSpPr>
          <p:cNvPr id="14" name="anim-g2-393"/>
          <p:cNvSpPr/>
          <p:nvPr/>
        </p:nvSpPr>
        <p:spPr>
          <a:xfrm>
            <a:off x="4703978"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علّم الفريق أساسيات لغة الإشارة</a:t>
            </a:r>
            <a:endParaRPr lang="ar-SA" sz="1900" dirty="0"/>
          </a:p>
        </p:txBody>
      </p:sp>
      <p:sp>
        <p:nvSpPr>
          <p:cNvPr id="15" name="anim-g3-394"/>
          <p:cNvSpPr/>
          <p:nvPr/>
        </p:nvSpPr>
        <p:spPr>
          <a:xfrm>
            <a:off x="822960"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395"/>
          <p:cNvSpPr/>
          <p:nvPr/>
        </p:nvSpPr>
        <p:spPr>
          <a:xfrm>
            <a:off x="3314090" y="2267712"/>
            <a:ext cx="566928" cy="566928"/>
          </a:xfrm>
          <a:prstGeom prst="roundRect">
            <a:avLst>
              <a:gd name="adj" fmla="val 32258"/>
            </a:avLst>
          </a:prstGeom>
          <a:solidFill>
            <a:srgbClr val="F7E6BC"/>
          </a:solidFill>
          <a:ln/>
        </p:spPr>
      </p:sp>
      <p:sp>
        <p:nvSpPr>
          <p:cNvPr id="17" name="anim-g3-396"/>
          <p:cNvSpPr/>
          <p:nvPr/>
        </p:nvSpPr>
        <p:spPr>
          <a:xfrm>
            <a:off x="3314090"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397"/>
          <p:cNvSpPr/>
          <p:nvPr/>
        </p:nvSpPr>
        <p:spPr>
          <a:xfrm>
            <a:off x="1097280"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مراجعة كل جملة</a:t>
            </a:r>
            <a:endParaRPr lang="ar-SA" sz="2200" dirty="0"/>
          </a:p>
        </p:txBody>
      </p:sp>
      <p:sp>
        <p:nvSpPr>
          <p:cNvPr id="19" name="anim-g3-398"/>
          <p:cNvSpPr/>
          <p:nvPr/>
        </p:nvSpPr>
        <p:spPr>
          <a:xfrm>
            <a:off x="1097280"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صوّب الجمل المسجلة لكل جهة لتطابق الشرح الصوتي تمامًا</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الشاشة ولغة الإشارة  ·  ٥٠</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Image 0" descr="C:\Users\user\projects\younes-training\turath\.pptx-cache\s51-0.jpg">    </p:cNvPr>
          <p:cNvPicPr>
            <a:picLocks noChangeAspect="1"/>
          </p:cNvPicPr>
          <p:nvPr/>
        </p:nvPicPr>
        <p:blipFill>
          <a:blip r:embed="rId1"/>
          <a:stretch>
            <a:fillRect/>
          </a:stretch>
        </p:blipFill>
        <p:spPr>
          <a:xfrm>
            <a:off x="0" y="0"/>
            <a:ext cx="12191695" cy="6858000"/>
          </a:xfrm>
          <a:prstGeom prst="rect">
            <a:avLst/>
          </a:prstGeom>
        </p:spPr>
      </p:pic>
      <p:pic>
        <p:nvPicPr>
          <p:cNvPr id="3" name="anim-g1-399" descr="C:\Users\user\projects\younes-training\turath\.pptx-cache\s51-1.jpg">    </p:cNvPr>
          <p:cNvPicPr>
            <a:picLocks noChangeAspect="1"/>
          </p:cNvPicPr>
          <p:nvPr/>
        </p:nvPicPr>
        <p:blipFill>
          <a:blip r:embed="rId2"/>
          <a:stretch>
            <a:fillRect/>
          </a:stretch>
        </p:blipFill>
        <p:spPr>
          <a:xfrm>
            <a:off x="0" y="0"/>
            <a:ext cx="12191695" cy="6858000"/>
          </a:xfrm>
          <a:prstGeom prst="rect">
            <a:avLst/>
          </a:prstGeom>
        </p:spPr>
      </p:pic>
      <p:pic>
        <p:nvPicPr>
          <p:cNvPr id="4" name="anim-g2-400" descr="C:\Users\user\projects\younes-training\turath\.pptx-cache\s51-2.jpg">    </p:cNvPr>
          <p:cNvPicPr>
            <a:picLocks noChangeAspect="1"/>
          </p:cNvPicPr>
          <p:nvPr/>
        </p:nvPicPr>
        <p:blipFill>
          <a:blip r:embed="rId3"/>
          <a:stretch>
            <a:fillRect/>
          </a:stretch>
        </p:blipFill>
        <p:spPr>
          <a:xfrm>
            <a:off x="0" y="0"/>
            <a:ext cx="12191695" cy="6858000"/>
          </a:xfrm>
          <a:prstGeom prst="rect">
            <a:avLst/>
          </a:prstGeom>
        </p:spPr>
      </p:pic>
      <p:pic>
        <p:nvPicPr>
          <p:cNvPr id="5" name="anim-g3-401" descr="C:\Users\user\projects\younes-training\turath\.pptx-cache\s51-3.jpg">    </p:cNvPr>
          <p:cNvPicPr>
            <a:picLocks noChangeAspect="1"/>
          </p:cNvPicPr>
          <p:nvPr/>
        </p:nvPicPr>
        <p:blipFill>
          <a:blip r:embed="rId4"/>
          <a:stretch>
            <a:fillRect/>
          </a:stretch>
        </p:blipFill>
        <p:spPr>
          <a:xfrm>
            <a:off x="0" y="0"/>
            <a:ext cx="12191695" cy="6858000"/>
          </a:xfrm>
          <a:prstGeom prst="rect">
            <a:avLst/>
          </a:prstGeom>
        </p:spPr>
      </p:pic>
      <p:pic>
        <p:nvPicPr>
          <p:cNvPr id="6" name="anim-g4-402" descr="C:\Users\user\projects\younes-training\turath\.pptx-cache\s51-4.jpg">    </p:cNvPr>
          <p:cNvPicPr>
            <a:picLocks noChangeAspect="1"/>
          </p:cNvPicPr>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name="Slide 5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خلاصة المحور</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rtl="1"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صورة لا تنطفئ قبل الصوت، ومترجم يرافق كل كلمة: هكذا يُحترم كل زائر</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لمسة تراث</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 الشاشة ولغة الإشارة  ·  ٥٢</a:t>
            </a:r>
            <a:endParaRPr lang="ar-SA" sz="12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097280" y="2103120"/>
            <a:ext cx="2651760" cy="2651760"/>
          </a:xfrm>
          <a:prstGeom prst="ellipse">
            <a:avLst/>
          </a:prstGeom>
          <a:solidFill>
            <a:srgbClr val="D9AE4B">
              <a:alpha val="12000"/>
            </a:srgbClr>
          </a:solidFill>
          <a:ln w="63500">
            <a:solidFill>
              <a:srgbClr val="D9AE4B">
                <a:alpha val="60000"/>
              </a:srgbClr>
            </a:solidFill>
            <a:prstDash val="solid"/>
          </a:ln>
        </p:spPr>
      </p:sp>
      <p:sp>
        <p:nvSpPr>
          <p:cNvPr id="3" name="Text 1"/>
          <p:cNvSpPr/>
          <p:nvPr/>
        </p:nvSpPr>
        <p:spPr>
          <a:xfrm>
            <a:off x="1097280" y="2103120"/>
            <a:ext cx="2651760" cy="2651760"/>
          </a:xfrm>
          <a:prstGeom prst="rect">
            <a:avLst/>
          </a:prstGeom>
          <a:noFill/>
          <a:ln/>
        </p:spPr>
        <p:txBody>
          <a:bodyPr wrap="square" lIns="0" tIns="0" rIns="0" bIns="0" rtlCol="0" anchor="ctr">
            <a:normAutofit/>
          </a:bodyPr>
          <a:lstStyle/>
          <a:p>
            <a:pPr rtl="1" algn="ctr" indent="0" marL="0">
              <a:buNone/>
            </a:pPr>
            <a:r>
              <a:rPr lang="ar-SA" altLang="en-US" sz="12000" dirty="0">
                <a:solidFill>
                  <a:srgbClr val="F0CC7A"/>
                </a:solidFill>
                <a:latin typeface="Cairo Black" pitchFamily="34" charset="0"/>
                <a:ea typeface="Cairo Black" pitchFamily="34" charset="-122"/>
                <a:cs typeface="Cairo Black" pitchFamily="34" charset="-120"/>
              </a:rPr>
              <a:t>٦</a:t>
            </a:r>
            <a:endParaRPr lang="ar-SA" sz="12000" dirty="0"/>
          </a:p>
        </p:txBody>
      </p:sp>
      <p:sp>
        <p:nvSpPr>
          <p:cNvPr id="4" name="Text 2"/>
          <p:cNvSpPr/>
          <p:nvPr/>
        </p:nvSpPr>
        <p:spPr>
          <a:xfrm>
            <a:off x="4206240" y="1828800"/>
            <a:ext cx="7162495" cy="457200"/>
          </a:xfrm>
          <a:prstGeom prst="rect">
            <a:avLst/>
          </a:prstGeom>
          <a:noFill/>
          <a:ln/>
        </p:spPr>
        <p:txBody>
          <a:bodyPr wrap="square" lIns="0" tIns="0" rIns="0" bIns="0" rtlCol="0" anchor="ctr">
            <a:normAutofit/>
          </a:bodyPr>
          <a:lstStyle/>
          <a:p>
            <a:pPr rtl="1" algn="r" indent="0" marL="0">
              <a:buNone/>
            </a:pPr>
            <a:r>
              <a:rPr lang="ar-SA" altLang="en-US" sz="2000" b="1" dirty="0">
                <a:solidFill>
                  <a:srgbClr val="D9AE4B"/>
                </a:solidFill>
                <a:latin typeface="Cairo" pitchFamily="34" charset="0"/>
                <a:ea typeface="Cairo" pitchFamily="34" charset="-122"/>
                <a:cs typeface="Cairo" pitchFamily="34" charset="-120"/>
              </a:rPr>
              <a:t>المحور ٦</a:t>
            </a:r>
            <a:endParaRPr lang="ar-SA" sz="2000" dirty="0"/>
          </a:p>
        </p:txBody>
      </p:sp>
      <p:sp>
        <p:nvSpPr>
          <p:cNvPr id="5" name="Text 3"/>
          <p:cNvSpPr/>
          <p:nvPr/>
        </p:nvSpPr>
        <p:spPr>
          <a:xfrm>
            <a:off x="4206240" y="2286000"/>
            <a:ext cx="7162495" cy="1371600"/>
          </a:xfrm>
          <a:prstGeom prst="rect">
            <a:avLst/>
          </a:prstGeom>
          <a:noFill/>
          <a:ln/>
        </p:spPr>
        <p:txBody>
          <a:bodyPr wrap="square" lIns="0" tIns="0" rIns="0" bIns="0" rtlCol="0" anchor="ctr">
            <a:normAutofit/>
          </a:bodyPr>
          <a:lstStyle/>
          <a:p>
            <a:pPr rtl="1" algn="r" indent="0" marL="0">
              <a:buNone/>
            </a:pPr>
            <a:r>
              <a:rPr lang="ar-SA" altLang="en-US" sz="5600" dirty="0">
                <a:solidFill>
                  <a:srgbClr val="FFFFFF"/>
                </a:solidFill>
                <a:latin typeface="Cairo Black" pitchFamily="34" charset="0"/>
                <a:ea typeface="Cairo Black" pitchFamily="34" charset="-122"/>
                <a:cs typeface="Cairo Black" pitchFamily="34" charset="-120"/>
              </a:rPr>
              <a:t>📶 حرف واحد عبر الشبكة</a:t>
            </a:r>
            <a:endParaRPr lang="ar-SA" sz="5600" dirty="0"/>
          </a:p>
        </p:txBody>
      </p:sp>
      <p:sp>
        <p:nvSpPr>
          <p:cNvPr id="6" name="Text 4"/>
          <p:cNvSpPr/>
          <p:nvPr/>
        </p:nvSpPr>
        <p:spPr>
          <a:xfrm>
            <a:off x="4206240" y="3749040"/>
            <a:ext cx="7162495" cy="822960"/>
          </a:xfrm>
          <a:prstGeom prst="rect">
            <a:avLst/>
          </a:prstGeom>
          <a:noFill/>
          <a:ln/>
        </p:spPr>
        <p:txBody>
          <a:bodyPr wrap="square" lIns="0" tIns="0" rIns="0" bIns="0" rtlCol="0" anchor="ctr">
            <a:normAutofit/>
          </a:bodyPr>
          <a:lstStyle/>
          <a:p>
            <a:pPr rtl="1" algn="r" indent="0" marL="0">
              <a:buNone/>
            </a:pPr>
            <a:r>
              <a:rPr lang="ar-SA" altLang="en-US" sz="2200" b="1" dirty="0">
                <a:solidFill>
                  <a:srgbClr val="C9CFE6"/>
                </a:solidFill>
                <a:latin typeface="Cairo" pitchFamily="34" charset="0"/>
                <a:ea typeface="Cairo" pitchFamily="34" charset="-122"/>
                <a:cs typeface="Cairo" pitchFamily="34" charset="-120"/>
              </a:rPr>
              <a:t>UDP: ‏r يمين · l يسار · s توقف… وحارس لا ينام</a:t>
            </a:r>
            <a:endParaRPr lang="ar-SA" sz="2200" dirty="0"/>
          </a:p>
        </p:txBody>
      </p:sp>
      <p:sp>
        <p:nvSpPr>
          <p:cNvPr id="7" name="Text 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لمسة تراث</a:t>
            </a:r>
            <a:endParaRPr lang="ar-SA" sz="1200" dirty="0"/>
          </a:p>
        </p:txBody>
      </p:sp>
      <p:sp>
        <p:nvSpPr>
          <p:cNvPr id="8" name="Text 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 UDP والحارس  ·  ٥٣</a:t>
            </a:r>
            <a:endParaRPr lang="ar-SA" sz="12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248095" y="457200"/>
            <a:ext cx="5120640" cy="457200"/>
          </a:xfrm>
          <a:prstGeom prst="roundRect">
            <a:avLst>
              <a:gd name="adj" fmla="val 50000"/>
            </a:avLst>
          </a:prstGeom>
          <a:solidFill>
            <a:srgbClr val="F6EBCF"/>
          </a:solidFill>
          <a:ln/>
        </p:spPr>
      </p:sp>
      <p:sp>
        <p:nvSpPr>
          <p:cNvPr id="3" name="Text 1"/>
          <p:cNvSpPr/>
          <p:nvPr/>
        </p:nvSpPr>
        <p:spPr>
          <a:xfrm>
            <a:off x="6248095" y="457200"/>
            <a:ext cx="512064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بنهاية هذا المحور تستطيع أن</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أهداف المحور</a:t>
            </a:r>
            <a:endParaRPr lang="ar-SA" sz="3800" dirty="0"/>
          </a:p>
        </p:txBody>
      </p:sp>
      <p:sp>
        <p:nvSpPr>
          <p:cNvPr id="5" name="anim-g1-403"/>
          <p:cNvSpPr/>
          <p:nvPr/>
        </p:nvSpPr>
        <p:spPr>
          <a:xfrm>
            <a:off x="822960" y="1920240"/>
            <a:ext cx="10545775" cy="1298448"/>
          </a:xfrm>
          <a:prstGeom prst="roundRect">
            <a:avLst>
              <a:gd name="adj" fmla="val 11268"/>
            </a:avLst>
          </a:prstGeom>
          <a:solidFill>
            <a:srgbClr val="FFFFFF"/>
          </a:solidFill>
          <a:ln w="12700">
            <a:solidFill>
              <a:srgbClr val="E4DCC8"/>
            </a:solidFill>
            <a:prstDash val="solid"/>
          </a:ln>
        </p:spPr>
      </p:sp>
      <p:sp>
        <p:nvSpPr>
          <p:cNvPr id="6" name="anim-g1-404"/>
          <p:cNvSpPr/>
          <p:nvPr/>
        </p:nvSpPr>
        <p:spPr>
          <a:xfrm>
            <a:off x="10573207" y="2286000"/>
            <a:ext cx="566928" cy="566928"/>
          </a:xfrm>
          <a:prstGeom prst="ellipse">
            <a:avLst/>
          </a:prstGeom>
          <a:solidFill>
            <a:srgbClr val="D9AE4B"/>
          </a:solidFill>
          <a:ln/>
        </p:spPr>
      </p:sp>
      <p:sp>
        <p:nvSpPr>
          <p:cNvPr id="7" name="anim-g1-405"/>
          <p:cNvSpPr/>
          <p:nvPr/>
        </p:nvSpPr>
        <p:spPr>
          <a:xfrm>
            <a:off x="10573207" y="2286000"/>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١</a:t>
            </a:r>
            <a:endParaRPr lang="ar-SA" sz="2000" dirty="0"/>
          </a:p>
        </p:txBody>
      </p:sp>
      <p:sp>
        <p:nvSpPr>
          <p:cNvPr id="8" name="anim-g1-406"/>
          <p:cNvSpPr/>
          <p:nvPr/>
        </p:nvSpPr>
        <p:spPr>
          <a:xfrm>
            <a:off x="1097280" y="1920240"/>
            <a:ext cx="9247327" cy="1298448"/>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ترسل أمرًا من بايثون إلى ESP32 عبر UDP</a:t>
            </a:r>
            <a:endParaRPr lang="ar-SA" sz="2400" dirty="0"/>
          </a:p>
        </p:txBody>
      </p:sp>
      <p:sp>
        <p:nvSpPr>
          <p:cNvPr id="9" name="anim-g2-407"/>
          <p:cNvSpPr/>
          <p:nvPr/>
        </p:nvSpPr>
        <p:spPr>
          <a:xfrm>
            <a:off x="822960" y="3328416"/>
            <a:ext cx="10545775" cy="1298448"/>
          </a:xfrm>
          <a:prstGeom prst="roundRect">
            <a:avLst>
              <a:gd name="adj" fmla="val 11268"/>
            </a:avLst>
          </a:prstGeom>
          <a:solidFill>
            <a:srgbClr val="FFFFFF"/>
          </a:solidFill>
          <a:ln w="12700">
            <a:solidFill>
              <a:srgbClr val="E4DCC8"/>
            </a:solidFill>
            <a:prstDash val="solid"/>
          </a:ln>
        </p:spPr>
      </p:sp>
      <p:sp>
        <p:nvSpPr>
          <p:cNvPr id="10" name="anim-g2-408"/>
          <p:cNvSpPr/>
          <p:nvPr/>
        </p:nvSpPr>
        <p:spPr>
          <a:xfrm>
            <a:off x="10573207" y="3694176"/>
            <a:ext cx="566928" cy="566928"/>
          </a:xfrm>
          <a:prstGeom prst="ellipse">
            <a:avLst/>
          </a:prstGeom>
          <a:solidFill>
            <a:srgbClr val="D9AE4B"/>
          </a:solidFill>
          <a:ln/>
        </p:spPr>
      </p:sp>
      <p:sp>
        <p:nvSpPr>
          <p:cNvPr id="11" name="anim-g2-409"/>
          <p:cNvSpPr/>
          <p:nvPr/>
        </p:nvSpPr>
        <p:spPr>
          <a:xfrm>
            <a:off x="10573207" y="3694176"/>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٢</a:t>
            </a:r>
            <a:endParaRPr lang="ar-SA" sz="2000" dirty="0"/>
          </a:p>
        </p:txBody>
      </p:sp>
      <p:sp>
        <p:nvSpPr>
          <p:cNvPr id="12" name="anim-g2-410"/>
          <p:cNvSpPr/>
          <p:nvPr/>
        </p:nvSpPr>
        <p:spPr>
          <a:xfrm>
            <a:off x="1097280" y="3328416"/>
            <a:ext cx="9247327" cy="1298448"/>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تفسّر لماذا اختار الفريق UDP</a:t>
            </a:r>
            <a:endParaRPr lang="ar-SA" sz="2400" dirty="0"/>
          </a:p>
        </p:txBody>
      </p:sp>
      <p:sp>
        <p:nvSpPr>
          <p:cNvPr id="13" name="anim-g3-411"/>
          <p:cNvSpPr/>
          <p:nvPr/>
        </p:nvSpPr>
        <p:spPr>
          <a:xfrm>
            <a:off x="822960" y="4736592"/>
            <a:ext cx="10545775" cy="1298448"/>
          </a:xfrm>
          <a:prstGeom prst="roundRect">
            <a:avLst>
              <a:gd name="adj" fmla="val 11268"/>
            </a:avLst>
          </a:prstGeom>
          <a:solidFill>
            <a:srgbClr val="FFFFFF"/>
          </a:solidFill>
          <a:ln w="12700">
            <a:solidFill>
              <a:srgbClr val="E4DCC8"/>
            </a:solidFill>
            <a:prstDash val="solid"/>
          </a:ln>
        </p:spPr>
      </p:sp>
      <p:sp>
        <p:nvSpPr>
          <p:cNvPr id="14" name="anim-g3-412"/>
          <p:cNvSpPr/>
          <p:nvPr/>
        </p:nvSpPr>
        <p:spPr>
          <a:xfrm>
            <a:off x="10573207" y="5102352"/>
            <a:ext cx="566928" cy="566928"/>
          </a:xfrm>
          <a:prstGeom prst="ellipse">
            <a:avLst/>
          </a:prstGeom>
          <a:solidFill>
            <a:srgbClr val="D9AE4B"/>
          </a:solidFill>
          <a:ln/>
        </p:spPr>
      </p:sp>
      <p:sp>
        <p:nvSpPr>
          <p:cNvPr id="15" name="anim-g3-413"/>
          <p:cNvSpPr/>
          <p:nvPr/>
        </p:nvSpPr>
        <p:spPr>
          <a:xfrm>
            <a:off x="10573207" y="5102352"/>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٣</a:t>
            </a:r>
            <a:endParaRPr lang="ar-SA" sz="2000" dirty="0"/>
          </a:p>
        </p:txBody>
      </p:sp>
      <p:sp>
        <p:nvSpPr>
          <p:cNvPr id="16" name="anim-g3-414"/>
          <p:cNvSpPr/>
          <p:nvPr/>
        </p:nvSpPr>
        <p:spPr>
          <a:xfrm>
            <a:off x="1097280" y="4736592"/>
            <a:ext cx="9247327" cy="1298448"/>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تبني حارسًا يوقف المنصة إن انقطعت الرسائل</a:t>
            </a:r>
            <a:endParaRPr lang="ar-SA" sz="2400" dirty="0"/>
          </a:p>
        </p:txBody>
      </p:sp>
      <p:sp>
        <p:nvSpPr>
          <p:cNvPr id="17" name="Text 1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18" name="Text 1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UDP والحارس  ·  ٥٤</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55.xml><?xml version="1.0" encoding="utf-8"?>
<p:sld xmlns:a="http://schemas.openxmlformats.org/drawingml/2006/main" xmlns:r="http://schemas.openxmlformats.org/officeDocument/2006/relationships" xmlns:p="http://schemas.openxmlformats.org/presentationml/2006/main">
  <p:cSld name="Slide 5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174175" y="457200"/>
            <a:ext cx="2194560" cy="457200"/>
          </a:xfrm>
          <a:prstGeom prst="roundRect">
            <a:avLst>
              <a:gd name="adj" fmla="val 50000"/>
            </a:avLst>
          </a:prstGeom>
          <a:solidFill>
            <a:srgbClr val="F6EBCF"/>
          </a:solidFill>
          <a:ln/>
        </p:spPr>
      </p:sp>
      <p:sp>
        <p:nvSpPr>
          <p:cNvPr id="3" name="Text 1"/>
          <p:cNvSpPr/>
          <p:nvPr/>
        </p:nvSpPr>
        <p:spPr>
          <a:xfrm>
            <a:off x="9174175" y="457200"/>
            <a:ext cx="219456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لماذا UDP؟</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رسالة خفيفة… سريعة… بلا انتظار</a:t>
            </a:r>
            <a:endParaRPr lang="ar-SA" sz="3800" dirty="0"/>
          </a:p>
        </p:txBody>
      </p:sp>
      <p:sp>
        <p:nvSpPr>
          <p:cNvPr id="5" name="anim-g1-415"/>
          <p:cNvSpPr/>
          <p:nvPr/>
        </p:nvSpPr>
        <p:spPr>
          <a:xfrm>
            <a:off x="8036357"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416"/>
          <p:cNvSpPr/>
          <p:nvPr/>
        </p:nvSpPr>
        <p:spPr>
          <a:xfrm>
            <a:off x="10527487" y="2267712"/>
            <a:ext cx="566928" cy="566928"/>
          </a:xfrm>
          <a:prstGeom prst="roundRect">
            <a:avLst>
              <a:gd name="adj" fmla="val 32258"/>
            </a:avLst>
          </a:prstGeom>
          <a:solidFill>
            <a:srgbClr val="F7E6BC"/>
          </a:solidFill>
          <a:ln/>
        </p:spPr>
      </p:sp>
      <p:sp>
        <p:nvSpPr>
          <p:cNvPr id="7" name="anim-g1-417"/>
          <p:cNvSpPr/>
          <p:nvPr/>
        </p:nvSpPr>
        <p:spPr>
          <a:xfrm>
            <a:off x="10527487"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418"/>
          <p:cNvSpPr/>
          <p:nvPr/>
        </p:nvSpPr>
        <p:spPr>
          <a:xfrm>
            <a:off x="8310677"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سريع</a:t>
            </a:r>
            <a:endParaRPr lang="ar-SA" sz="2200" dirty="0"/>
          </a:p>
        </p:txBody>
      </p:sp>
      <p:sp>
        <p:nvSpPr>
          <p:cNvPr id="9" name="anim-g1-419"/>
          <p:cNvSpPr/>
          <p:nvPr/>
        </p:nvSpPr>
        <p:spPr>
          <a:xfrm>
            <a:off x="8310677"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لا مصافحة ولا انتظار رد: يُرسل الحرف ويمضي</a:t>
            </a:r>
            <a:endParaRPr lang="ar-SA" sz="1900" dirty="0"/>
          </a:p>
        </p:txBody>
      </p:sp>
      <p:sp>
        <p:nvSpPr>
          <p:cNvPr id="10" name="anim-g2-420"/>
          <p:cNvSpPr/>
          <p:nvPr/>
        </p:nvSpPr>
        <p:spPr>
          <a:xfrm>
            <a:off x="4429658"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421"/>
          <p:cNvSpPr/>
          <p:nvPr/>
        </p:nvSpPr>
        <p:spPr>
          <a:xfrm>
            <a:off x="6920789" y="2267712"/>
            <a:ext cx="566928" cy="566928"/>
          </a:xfrm>
          <a:prstGeom prst="roundRect">
            <a:avLst>
              <a:gd name="adj" fmla="val 32258"/>
            </a:avLst>
          </a:prstGeom>
          <a:solidFill>
            <a:srgbClr val="F7E6BC"/>
          </a:solidFill>
          <a:ln/>
        </p:spPr>
      </p:sp>
      <p:sp>
        <p:nvSpPr>
          <p:cNvPr id="12" name="anim-g2-422"/>
          <p:cNvSpPr/>
          <p:nvPr/>
        </p:nvSpPr>
        <p:spPr>
          <a:xfrm>
            <a:off x="6920789"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423"/>
          <p:cNvSpPr/>
          <p:nvPr/>
        </p:nvSpPr>
        <p:spPr>
          <a:xfrm>
            <a:off x="4703978"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خفيف</a:t>
            </a:r>
            <a:endParaRPr lang="ar-SA" sz="2200" dirty="0"/>
          </a:p>
        </p:txBody>
      </p:sp>
      <p:sp>
        <p:nvSpPr>
          <p:cNvPr id="14" name="anim-g2-424"/>
          <p:cNvSpPr/>
          <p:nvPr/>
        </p:nvSpPr>
        <p:spPr>
          <a:xfrm>
            <a:off x="4703978"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حرف واحد: ‏r أو l أو s. لا شيء أبسط</a:t>
            </a:r>
            <a:endParaRPr lang="ar-SA" sz="1900" dirty="0"/>
          </a:p>
        </p:txBody>
      </p:sp>
      <p:sp>
        <p:nvSpPr>
          <p:cNvPr id="15" name="anim-g3-425"/>
          <p:cNvSpPr/>
          <p:nvPr/>
        </p:nvSpPr>
        <p:spPr>
          <a:xfrm>
            <a:off x="822960"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426"/>
          <p:cNvSpPr/>
          <p:nvPr/>
        </p:nvSpPr>
        <p:spPr>
          <a:xfrm>
            <a:off x="3314090" y="2267712"/>
            <a:ext cx="566928" cy="566928"/>
          </a:xfrm>
          <a:prstGeom prst="roundRect">
            <a:avLst>
              <a:gd name="adj" fmla="val 32258"/>
            </a:avLst>
          </a:prstGeom>
          <a:solidFill>
            <a:srgbClr val="F7E6BC"/>
          </a:solidFill>
          <a:ln/>
        </p:spPr>
      </p:sp>
      <p:sp>
        <p:nvSpPr>
          <p:cNvPr id="17" name="anim-g3-427"/>
          <p:cNvSpPr/>
          <p:nvPr/>
        </p:nvSpPr>
        <p:spPr>
          <a:xfrm>
            <a:off x="3314090"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428"/>
          <p:cNvSpPr/>
          <p:nvPr/>
        </p:nvSpPr>
        <p:spPr>
          <a:xfrm>
            <a:off x="1097280"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لكن…</a:t>
            </a:r>
            <a:endParaRPr lang="ar-SA" sz="2200" dirty="0"/>
          </a:p>
        </p:txBody>
      </p:sp>
      <p:sp>
        <p:nvSpPr>
          <p:cNvPr id="19" name="anim-g3-429"/>
          <p:cNvSpPr/>
          <p:nvPr/>
        </p:nvSpPr>
        <p:spPr>
          <a:xfrm>
            <a:off x="1097280"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لا يضمن الوصول: قد تضيع رسالة في الطريق</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UDP والحارس  ·  ٥٥</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Image 0" descr="C:\Users\user\projects\younes-training\turath\.pptx-cache\s56.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Image 0" descr="C:\Users\user\projects\younes-training\turath\.pptx-cache\s57.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Image 0" descr="C:\Users\user\projects\younes-training\turath\.pptx-cache\s58-0.jpg">    </p:cNvPr>
          <p:cNvPicPr>
            <a:picLocks noChangeAspect="1"/>
          </p:cNvPicPr>
          <p:nvPr/>
        </p:nvPicPr>
        <p:blipFill>
          <a:blip r:embed="rId1"/>
          <a:stretch>
            <a:fillRect/>
          </a:stretch>
        </p:blipFill>
        <p:spPr>
          <a:xfrm>
            <a:off x="0" y="0"/>
            <a:ext cx="12191695" cy="6858000"/>
          </a:xfrm>
          <a:prstGeom prst="rect">
            <a:avLst/>
          </a:prstGeom>
        </p:spPr>
      </p:pic>
      <p:pic>
        <p:nvPicPr>
          <p:cNvPr id="3" name="anim-g1-430" descr="C:\Users\user\projects\younes-training\turath\.pptx-cache\s58-1.jpg">    </p:cNvPr>
          <p:cNvPicPr>
            <a:picLocks noChangeAspect="1"/>
          </p:cNvPicPr>
          <p:nvPr/>
        </p:nvPicPr>
        <p:blipFill>
          <a:blip r:embed="rId2"/>
          <a:stretch>
            <a:fillRect/>
          </a:stretch>
        </p:blipFill>
        <p:spPr>
          <a:xfrm>
            <a:off x="0" y="0"/>
            <a:ext cx="12191695" cy="6858000"/>
          </a:xfrm>
          <a:prstGeom prst="rect">
            <a:avLst/>
          </a:prstGeom>
        </p:spPr>
      </p:pic>
      <p:pic>
        <p:nvPicPr>
          <p:cNvPr id="4" name="anim-g2-431" descr="C:\Users\user\projects\younes-training\turath\.pptx-cache\s58-2.jpg">    </p:cNvPr>
          <p:cNvPicPr>
            <a:picLocks noChangeAspect="1"/>
          </p:cNvPicPr>
          <p:nvPr/>
        </p:nvPicPr>
        <p:blipFill>
          <a:blip r:embed="rId3"/>
          <a:stretch>
            <a:fillRect/>
          </a:stretch>
        </p:blipFill>
        <p:spPr>
          <a:xfrm>
            <a:off x="0" y="0"/>
            <a:ext cx="12191695" cy="6858000"/>
          </a:xfrm>
          <a:prstGeom prst="rect">
            <a:avLst/>
          </a:prstGeom>
        </p:spPr>
      </p:pic>
      <p:pic>
        <p:nvPicPr>
          <p:cNvPr id="5" name="anim-g3-432" descr="C:\Users\user\projects\younes-training\turath\.pptx-cache\s58-3.jpg">    </p:cNvPr>
          <p:cNvPicPr>
            <a:picLocks noChangeAspect="1"/>
          </p:cNvPicPr>
          <p:nvPr/>
        </p:nvPicPr>
        <p:blipFill>
          <a:blip r:embed="rId4"/>
          <a:stretch>
            <a:fillRect/>
          </a:stretch>
        </p:blipFill>
        <p:spPr>
          <a:xfrm>
            <a:off x="0" y="0"/>
            <a:ext cx="12191695" cy="6858000"/>
          </a:xfrm>
          <a:prstGeom prst="rect">
            <a:avLst/>
          </a:prstGeom>
        </p:spPr>
      </p:pic>
      <p:pic>
        <p:nvPicPr>
          <p:cNvPr id="6" name="anim-g4-433" descr="C:\Users\user\projects\younes-training\turath\.pptx-cache\s58-4.jpg">    </p:cNvPr>
          <p:cNvPicPr>
            <a:picLocks noChangeAspect="1"/>
          </p:cNvPicPr>
          <p:nvPr/>
        </p:nvPicPr>
        <p:blipFill>
          <a:blip r:embed="rId5"/>
          <a:stretch>
            <a:fillRect/>
          </a:stretch>
        </p:blipFill>
        <p:spPr>
          <a:xfrm>
            <a:off x="0" y="0"/>
            <a:ext cx="12191695" cy="6858000"/>
          </a:xfrm>
          <a:prstGeom prst="rect">
            <a:avLst/>
          </a:prstGeom>
        </p:spPr>
      </p:pic>
      <p:pic>
        <p:nvPicPr>
          <p:cNvPr id="7" name="anim-g5-434" descr="C:\Users\user\projects\younes-training\turath\.pptx-cache\s58-5.jpg">    </p:cNvPr>
          <p:cNvPicPr>
            <a:picLocks noChangeAspect="1"/>
          </p:cNvPicPr>
          <p:nvPr/>
        </p:nvPicPr>
        <p:blipFill>
          <a:blip r:embed="rId6"/>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Image 0" descr="C:\Users\user\projects\younes-training\turath\.pptx-cache\s59-0.jpg">    </p:cNvPr>
          <p:cNvPicPr>
            <a:picLocks noChangeAspect="1"/>
          </p:cNvPicPr>
          <p:nvPr/>
        </p:nvPicPr>
        <p:blipFill>
          <a:blip r:embed="rId1"/>
          <a:stretch>
            <a:fillRect/>
          </a:stretch>
        </p:blipFill>
        <p:spPr>
          <a:xfrm>
            <a:off x="0" y="0"/>
            <a:ext cx="12191695" cy="6858000"/>
          </a:xfrm>
          <a:prstGeom prst="rect">
            <a:avLst/>
          </a:prstGeom>
        </p:spPr>
      </p:pic>
      <p:pic>
        <p:nvPicPr>
          <p:cNvPr id="3" name="anim-g1-435" descr="C:\Users\user\projects\younes-training\turath\.pptx-cache\s59-1.jpg">    </p:cNvPr>
          <p:cNvPicPr>
            <a:picLocks noChangeAspect="1"/>
          </p:cNvPicPr>
          <p:nvPr/>
        </p:nvPicPr>
        <p:blipFill>
          <a:blip r:embed="rId2"/>
          <a:stretch>
            <a:fillRect/>
          </a:stretch>
        </p:blipFill>
        <p:spPr>
          <a:xfrm>
            <a:off x="0" y="0"/>
            <a:ext cx="12191695" cy="6858000"/>
          </a:xfrm>
          <a:prstGeom prst="rect">
            <a:avLst/>
          </a:prstGeom>
        </p:spPr>
      </p:pic>
      <p:pic>
        <p:nvPicPr>
          <p:cNvPr id="4" name="anim-g2-436" descr="C:\Users\user\projects\younes-training\turath\.pptx-cache\s59-2.jpg">    </p:cNvPr>
          <p:cNvPicPr>
            <a:picLocks noChangeAspect="1"/>
          </p:cNvPicPr>
          <p:nvPr/>
        </p:nvPicPr>
        <p:blipFill>
          <a:blip r:embed="rId3"/>
          <a:stretch>
            <a:fillRect/>
          </a:stretch>
        </p:blipFill>
        <p:spPr>
          <a:xfrm>
            <a:off x="0" y="0"/>
            <a:ext cx="12191695" cy="6858000"/>
          </a:xfrm>
          <a:prstGeom prst="rect">
            <a:avLst/>
          </a:prstGeom>
        </p:spPr>
      </p:pic>
      <p:pic>
        <p:nvPicPr>
          <p:cNvPr id="5" name="anim-g3-437" descr="C:\Users\user\projects\younes-training\turath\.pptx-cache\s59-3.jpg">    </p:cNvPr>
          <p:cNvPicPr>
            <a:picLocks noChangeAspect="1"/>
          </p:cNvPicPr>
          <p:nvPr/>
        </p:nvPicPr>
        <p:blipFill>
          <a:blip r:embed="rId4"/>
          <a:stretch>
            <a:fillRect/>
          </a:stretch>
        </p:blipFill>
        <p:spPr>
          <a:xfrm>
            <a:off x="0" y="0"/>
            <a:ext cx="12191695" cy="6858000"/>
          </a:xfrm>
          <a:prstGeom prst="rect">
            <a:avLst/>
          </a:prstGeom>
        </p:spPr>
      </p:pic>
      <p:pic>
        <p:nvPicPr>
          <p:cNvPr id="6" name="anim-g4-438" descr="C:\Users\user\projects\younes-training\turath\.pptx-cache\s59-4.jpg">    </p:cNvPr>
          <p:cNvPicPr>
            <a:picLocks noChangeAspect="1"/>
          </p:cNvPicPr>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name="Slide 6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881567" y="457200"/>
            <a:ext cx="2487168" cy="457200"/>
          </a:xfrm>
          <a:prstGeom prst="roundRect">
            <a:avLst>
              <a:gd name="adj" fmla="val 50000"/>
            </a:avLst>
          </a:prstGeom>
          <a:solidFill>
            <a:srgbClr val="F6EBCF"/>
          </a:solidFill>
          <a:ln/>
        </p:spPr>
      </p:sp>
      <p:sp>
        <p:nvSpPr>
          <p:cNvPr id="3" name="Text 1"/>
          <p:cNvSpPr/>
          <p:nvPr/>
        </p:nvSpPr>
        <p:spPr>
          <a:xfrm>
            <a:off x="8881567" y="45720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اختبر نفسك</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كيف اكتشف الفريق أن رسالة ضائعة هي سبب الدوران الزائد؟</a:t>
            </a:r>
            <a:endParaRPr lang="ar-SA" sz="3200" dirty="0"/>
          </a:p>
        </p:txBody>
      </p:sp>
      <p:sp>
        <p:nvSpPr>
          <p:cNvPr id="5" name="Shape 3"/>
          <p:cNvSpPr/>
          <p:nvPr/>
        </p:nvSpPr>
        <p:spPr>
          <a:xfrm>
            <a:off x="822960" y="2057400"/>
            <a:ext cx="10545775" cy="1228344"/>
          </a:xfrm>
          <a:prstGeom prst="roundRect">
            <a:avLst>
              <a:gd name="adj" fmla="val 11911"/>
            </a:avLst>
          </a:prstGeom>
          <a:solidFill>
            <a:srgbClr val="FFFFFF"/>
          </a:solidFill>
          <a:ln w="19050">
            <a:solidFill>
              <a:srgbClr val="E4DCC8"/>
            </a:solidFill>
            <a:prstDash val="solid"/>
          </a:ln>
        </p:spPr>
      </p:sp>
      <p:sp>
        <p:nvSpPr>
          <p:cNvPr id="6" name="Shape 4"/>
          <p:cNvSpPr/>
          <p:nvPr/>
        </p:nvSpPr>
        <p:spPr>
          <a:xfrm>
            <a:off x="10231831" y="2194560"/>
            <a:ext cx="954024" cy="954024"/>
          </a:xfrm>
          <a:prstGeom prst="roundRect">
            <a:avLst>
              <a:gd name="adj" fmla="val 11502"/>
            </a:avLst>
          </a:prstGeom>
          <a:solidFill>
            <a:srgbClr val="101B45"/>
          </a:solidFill>
          <a:ln/>
        </p:spPr>
      </p:sp>
      <p:sp>
        <p:nvSpPr>
          <p:cNvPr id="7" name="Text 5"/>
          <p:cNvSpPr/>
          <p:nvPr/>
        </p:nvSpPr>
        <p:spPr>
          <a:xfrm>
            <a:off x="10231831" y="2194560"/>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8" name="Text 6"/>
          <p:cNvSpPr/>
          <p:nvPr/>
        </p:nvSpPr>
        <p:spPr>
          <a:xfrm>
            <a:off x="1097280" y="2057400"/>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بالتخمين</a:t>
            </a:r>
            <a:endParaRPr lang="ar-SA" sz="2500" dirty="0"/>
          </a:p>
        </p:txBody>
      </p:sp>
      <p:sp>
        <p:nvSpPr>
          <p:cNvPr id="9" name="anim-g1-439"/>
          <p:cNvSpPr/>
          <p:nvPr/>
        </p:nvSpPr>
        <p:spPr>
          <a:xfrm>
            <a:off x="822960" y="2057400"/>
            <a:ext cx="10545775" cy="1228344"/>
          </a:xfrm>
          <a:prstGeom prst="roundRect">
            <a:avLst>
              <a:gd name="adj" fmla="val 11911"/>
            </a:avLst>
          </a:prstGeom>
          <a:solidFill>
            <a:srgbClr val="F7F7F9"/>
          </a:solidFill>
          <a:ln w="19050">
            <a:solidFill>
              <a:srgbClr val="E4DCC8"/>
            </a:solidFill>
            <a:prstDash val="solid"/>
          </a:ln>
        </p:spPr>
      </p:sp>
      <p:sp>
        <p:nvSpPr>
          <p:cNvPr id="10" name="anim-g1-440"/>
          <p:cNvSpPr/>
          <p:nvPr/>
        </p:nvSpPr>
        <p:spPr>
          <a:xfrm>
            <a:off x="10231831" y="2194560"/>
            <a:ext cx="954024" cy="954024"/>
          </a:xfrm>
          <a:prstGeom prst="roundRect">
            <a:avLst>
              <a:gd name="adj" fmla="val 11502"/>
            </a:avLst>
          </a:prstGeom>
          <a:solidFill>
            <a:srgbClr val="A3A9BA"/>
          </a:solidFill>
          <a:ln/>
        </p:spPr>
      </p:sp>
      <p:sp>
        <p:nvSpPr>
          <p:cNvPr id="11" name="anim-g1-441"/>
          <p:cNvSpPr/>
          <p:nvPr/>
        </p:nvSpPr>
        <p:spPr>
          <a:xfrm>
            <a:off x="10231831" y="2194560"/>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12" name="anim-g1-442"/>
          <p:cNvSpPr/>
          <p:nvPr/>
        </p:nvSpPr>
        <p:spPr>
          <a:xfrm>
            <a:off x="1097280" y="2093976"/>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8A90A3"/>
                </a:solidFill>
                <a:latin typeface="Cairo" pitchFamily="34" charset="0"/>
                <a:ea typeface="Cairo" pitchFamily="34" charset="-122"/>
                <a:cs typeface="Cairo" pitchFamily="34" charset="-120"/>
              </a:rPr>
              <a:t>بالتخمين</a:t>
            </a:r>
            <a:endParaRPr lang="ar-SA" sz="2400" dirty="0"/>
          </a:p>
        </p:txBody>
      </p:sp>
      <p:sp>
        <p:nvSpPr>
          <p:cNvPr id="13" name="anim-g1-443"/>
          <p:cNvSpPr/>
          <p:nvPr/>
        </p:nvSpPr>
        <p:spPr>
          <a:xfrm>
            <a:off x="1097280" y="2720706"/>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التخمين لا يكفي في الهندسة</a:t>
            </a:r>
            <a:endParaRPr lang="ar-SA" sz="1800" dirty="0"/>
          </a:p>
        </p:txBody>
      </p:sp>
      <p:sp>
        <p:nvSpPr>
          <p:cNvPr id="14" name="Shape 12"/>
          <p:cNvSpPr/>
          <p:nvPr/>
        </p:nvSpPr>
        <p:spPr>
          <a:xfrm>
            <a:off x="822960" y="3432048"/>
            <a:ext cx="10545775" cy="1228344"/>
          </a:xfrm>
          <a:prstGeom prst="roundRect">
            <a:avLst>
              <a:gd name="adj" fmla="val 11911"/>
            </a:avLst>
          </a:prstGeom>
          <a:solidFill>
            <a:srgbClr val="FFFFFF"/>
          </a:solidFill>
          <a:ln w="19050">
            <a:solidFill>
              <a:srgbClr val="E4DCC8"/>
            </a:solidFill>
            <a:prstDash val="solid"/>
          </a:ln>
        </p:spPr>
      </p:sp>
      <p:sp>
        <p:nvSpPr>
          <p:cNvPr id="15" name="Shape 13"/>
          <p:cNvSpPr/>
          <p:nvPr/>
        </p:nvSpPr>
        <p:spPr>
          <a:xfrm>
            <a:off x="10231831" y="3569208"/>
            <a:ext cx="954024" cy="954024"/>
          </a:xfrm>
          <a:prstGeom prst="roundRect">
            <a:avLst>
              <a:gd name="adj" fmla="val 11502"/>
            </a:avLst>
          </a:prstGeom>
          <a:solidFill>
            <a:srgbClr val="101B45"/>
          </a:solidFill>
          <a:ln/>
        </p:spPr>
      </p:sp>
      <p:sp>
        <p:nvSpPr>
          <p:cNvPr id="16" name="Text 14"/>
          <p:cNvSpPr/>
          <p:nvPr/>
        </p:nvSpPr>
        <p:spPr>
          <a:xfrm>
            <a:off x="10231831" y="3569208"/>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17" name="Text 15"/>
          <p:cNvSpPr/>
          <p:nvPr/>
        </p:nvSpPr>
        <p:spPr>
          <a:xfrm>
            <a:off x="1097280" y="3432048"/>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بمراجعة سجلات التشغيل الفعلية</a:t>
            </a:r>
            <a:endParaRPr lang="ar-SA" sz="2500" dirty="0"/>
          </a:p>
        </p:txBody>
      </p:sp>
      <p:sp>
        <p:nvSpPr>
          <p:cNvPr id="18" name="anim-g1-444"/>
          <p:cNvSpPr/>
          <p:nvPr/>
        </p:nvSpPr>
        <p:spPr>
          <a:xfrm>
            <a:off x="822960" y="3432048"/>
            <a:ext cx="10545775" cy="1228344"/>
          </a:xfrm>
          <a:prstGeom prst="roundRect">
            <a:avLst>
              <a:gd name="adj" fmla="val 11911"/>
            </a:avLst>
          </a:prstGeom>
          <a:solidFill>
            <a:srgbClr val="E6F4EC"/>
          </a:solidFill>
          <a:ln w="31750">
            <a:solidFill>
              <a:srgbClr val="2E9E6B"/>
            </a:solidFill>
            <a:prstDash val="solid"/>
          </a:ln>
        </p:spPr>
      </p:sp>
      <p:sp>
        <p:nvSpPr>
          <p:cNvPr id="19" name="anim-g1-445"/>
          <p:cNvSpPr/>
          <p:nvPr/>
        </p:nvSpPr>
        <p:spPr>
          <a:xfrm>
            <a:off x="10231831" y="3569208"/>
            <a:ext cx="954024" cy="954024"/>
          </a:xfrm>
          <a:prstGeom prst="roundRect">
            <a:avLst>
              <a:gd name="adj" fmla="val 11502"/>
            </a:avLst>
          </a:prstGeom>
          <a:solidFill>
            <a:srgbClr val="2E9E6B"/>
          </a:solidFill>
          <a:ln/>
        </p:spPr>
      </p:sp>
      <p:sp>
        <p:nvSpPr>
          <p:cNvPr id="20" name="anim-g1-446"/>
          <p:cNvSpPr/>
          <p:nvPr/>
        </p:nvSpPr>
        <p:spPr>
          <a:xfrm>
            <a:off x="10231831" y="3569208"/>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a:t>
            </a:r>
            <a:endParaRPr lang="ar-SA" sz="2400" dirty="0"/>
          </a:p>
        </p:txBody>
      </p:sp>
      <p:sp>
        <p:nvSpPr>
          <p:cNvPr id="21" name="anim-g1-447"/>
          <p:cNvSpPr/>
          <p:nvPr/>
        </p:nvSpPr>
        <p:spPr>
          <a:xfrm>
            <a:off x="1097280" y="3468624"/>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131B34"/>
                </a:solidFill>
                <a:latin typeface="Cairo" pitchFamily="34" charset="0"/>
                <a:ea typeface="Cairo" pitchFamily="34" charset="-122"/>
                <a:cs typeface="Cairo" pitchFamily="34" charset="-120"/>
              </a:rPr>
              <a:t>بمراجعة سجلات التشغيل الفعلية</a:t>
            </a:r>
            <a:endParaRPr lang="ar-SA" sz="2400" dirty="0"/>
          </a:p>
        </p:txBody>
      </p:sp>
      <p:sp>
        <p:nvSpPr>
          <p:cNvPr id="22" name="anim-g1-448"/>
          <p:cNvSpPr/>
          <p:nvPr/>
        </p:nvSpPr>
        <p:spPr>
          <a:xfrm>
            <a:off x="1097280" y="4095354"/>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1D5E40"/>
                </a:solidFill>
                <a:latin typeface="Cairo" pitchFamily="34" charset="0"/>
                <a:ea typeface="Cairo" pitchFamily="34" charset="-122"/>
                <a:cs typeface="Cairo" pitchFamily="34" charset="-120"/>
              </a:rPr>
              <a:t>صحيح: السجلات أظهرت رسالة مفقودة قبل كل دوران زائد</a:t>
            </a:r>
            <a:endParaRPr lang="ar-SA" sz="1800" dirty="0"/>
          </a:p>
        </p:txBody>
      </p:sp>
      <p:sp>
        <p:nvSpPr>
          <p:cNvPr id="23" name="Shape 21"/>
          <p:cNvSpPr/>
          <p:nvPr/>
        </p:nvSpPr>
        <p:spPr>
          <a:xfrm>
            <a:off x="822960" y="4806696"/>
            <a:ext cx="10545775" cy="1228344"/>
          </a:xfrm>
          <a:prstGeom prst="roundRect">
            <a:avLst>
              <a:gd name="adj" fmla="val 11911"/>
            </a:avLst>
          </a:prstGeom>
          <a:solidFill>
            <a:srgbClr val="FFFFFF"/>
          </a:solidFill>
          <a:ln w="19050">
            <a:solidFill>
              <a:srgbClr val="E4DCC8"/>
            </a:solidFill>
            <a:prstDash val="solid"/>
          </a:ln>
        </p:spPr>
      </p:sp>
      <p:sp>
        <p:nvSpPr>
          <p:cNvPr id="24" name="Shape 22"/>
          <p:cNvSpPr/>
          <p:nvPr/>
        </p:nvSpPr>
        <p:spPr>
          <a:xfrm>
            <a:off x="10231831" y="4943856"/>
            <a:ext cx="954024" cy="954024"/>
          </a:xfrm>
          <a:prstGeom prst="roundRect">
            <a:avLst>
              <a:gd name="adj" fmla="val 11502"/>
            </a:avLst>
          </a:prstGeom>
          <a:solidFill>
            <a:srgbClr val="101B45"/>
          </a:solidFill>
          <a:ln/>
        </p:spPr>
      </p:sp>
      <p:sp>
        <p:nvSpPr>
          <p:cNvPr id="25" name="Text 23"/>
          <p:cNvSpPr/>
          <p:nvPr/>
        </p:nvSpPr>
        <p:spPr>
          <a:xfrm>
            <a:off x="10231831" y="4943856"/>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26" name="Text 24"/>
          <p:cNvSpPr/>
          <p:nvPr/>
        </p:nvSpPr>
        <p:spPr>
          <a:xfrm>
            <a:off x="1097280" y="4806696"/>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بتغيير المحرك</a:t>
            </a:r>
            <a:endParaRPr lang="ar-SA" sz="2500" dirty="0"/>
          </a:p>
        </p:txBody>
      </p:sp>
      <p:sp>
        <p:nvSpPr>
          <p:cNvPr id="27" name="anim-g1-449"/>
          <p:cNvSpPr/>
          <p:nvPr/>
        </p:nvSpPr>
        <p:spPr>
          <a:xfrm>
            <a:off x="822960" y="4806696"/>
            <a:ext cx="10545775" cy="1228344"/>
          </a:xfrm>
          <a:prstGeom prst="roundRect">
            <a:avLst>
              <a:gd name="adj" fmla="val 11911"/>
            </a:avLst>
          </a:prstGeom>
          <a:solidFill>
            <a:srgbClr val="F7F7F9"/>
          </a:solidFill>
          <a:ln w="19050">
            <a:solidFill>
              <a:srgbClr val="E4DCC8"/>
            </a:solidFill>
            <a:prstDash val="solid"/>
          </a:ln>
        </p:spPr>
      </p:sp>
      <p:sp>
        <p:nvSpPr>
          <p:cNvPr id="28" name="anim-g1-450"/>
          <p:cNvSpPr/>
          <p:nvPr/>
        </p:nvSpPr>
        <p:spPr>
          <a:xfrm>
            <a:off x="10231831" y="4943856"/>
            <a:ext cx="954024" cy="954024"/>
          </a:xfrm>
          <a:prstGeom prst="roundRect">
            <a:avLst>
              <a:gd name="adj" fmla="val 11502"/>
            </a:avLst>
          </a:prstGeom>
          <a:solidFill>
            <a:srgbClr val="A3A9BA"/>
          </a:solidFill>
          <a:ln/>
        </p:spPr>
      </p:sp>
      <p:sp>
        <p:nvSpPr>
          <p:cNvPr id="29" name="anim-g1-451"/>
          <p:cNvSpPr/>
          <p:nvPr/>
        </p:nvSpPr>
        <p:spPr>
          <a:xfrm>
            <a:off x="10231831" y="4943856"/>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30" name="anim-g1-452"/>
          <p:cNvSpPr/>
          <p:nvPr/>
        </p:nvSpPr>
        <p:spPr>
          <a:xfrm>
            <a:off x="1097280" y="4843272"/>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8A90A3"/>
                </a:solidFill>
                <a:latin typeface="Cairo" pitchFamily="34" charset="0"/>
                <a:ea typeface="Cairo" pitchFamily="34" charset="-122"/>
                <a:cs typeface="Cairo" pitchFamily="34" charset="-120"/>
              </a:rPr>
              <a:t>بتغيير المحرك</a:t>
            </a:r>
            <a:endParaRPr lang="ar-SA" sz="2400" dirty="0"/>
          </a:p>
        </p:txBody>
      </p:sp>
      <p:sp>
        <p:nvSpPr>
          <p:cNvPr id="31" name="anim-g1-453"/>
          <p:cNvSpPr/>
          <p:nvPr/>
        </p:nvSpPr>
        <p:spPr>
          <a:xfrm>
            <a:off x="1097280" y="5470002"/>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المحرك كان سليمًا</a:t>
            </a:r>
            <a:endParaRPr lang="ar-SA" sz="1800" dirty="0"/>
          </a:p>
        </p:txBody>
      </p:sp>
      <p:sp>
        <p:nvSpPr>
          <p:cNvPr id="32" name="Text 3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33" name="Text 3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UDP والحارس  ·  ٦٠</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Lst>
  </p:timing>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Image 0" descr="C:\Users\user\projects\younes-training\turath\.pptx-cache\s61.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خلاصة المحور</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الصمت في الشبكة ليس «استمر»…</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بل «توقف»: ثانية واحدة تحمي القصر من دوران لا ينتهي</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لمسة تراث</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 UDP والحارس  ·  ٦٢</a:t>
            </a:r>
            <a:endParaRPr lang="ar-SA" sz="12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097280" y="2103120"/>
            <a:ext cx="2651760" cy="2651760"/>
          </a:xfrm>
          <a:prstGeom prst="ellipse">
            <a:avLst/>
          </a:prstGeom>
          <a:solidFill>
            <a:srgbClr val="D9AE4B">
              <a:alpha val="12000"/>
            </a:srgbClr>
          </a:solidFill>
          <a:ln w="63500">
            <a:solidFill>
              <a:srgbClr val="D9AE4B">
                <a:alpha val="60000"/>
              </a:srgbClr>
            </a:solidFill>
            <a:prstDash val="solid"/>
          </a:ln>
        </p:spPr>
      </p:sp>
      <p:sp>
        <p:nvSpPr>
          <p:cNvPr id="3" name="Text 1"/>
          <p:cNvSpPr/>
          <p:nvPr/>
        </p:nvSpPr>
        <p:spPr>
          <a:xfrm>
            <a:off x="1097280" y="2103120"/>
            <a:ext cx="2651760" cy="2651760"/>
          </a:xfrm>
          <a:prstGeom prst="rect">
            <a:avLst/>
          </a:prstGeom>
          <a:noFill/>
          <a:ln/>
        </p:spPr>
        <p:txBody>
          <a:bodyPr wrap="square" lIns="0" tIns="0" rIns="0" bIns="0" rtlCol="0" anchor="ctr">
            <a:normAutofit/>
          </a:bodyPr>
          <a:lstStyle/>
          <a:p>
            <a:pPr rtl="1" algn="ctr" indent="0" marL="0">
              <a:buNone/>
            </a:pPr>
            <a:r>
              <a:rPr lang="ar-SA" altLang="en-US" sz="12000" dirty="0">
                <a:solidFill>
                  <a:srgbClr val="F0CC7A"/>
                </a:solidFill>
                <a:latin typeface="Cairo Black" pitchFamily="34" charset="0"/>
                <a:ea typeface="Cairo Black" pitchFamily="34" charset="-122"/>
                <a:cs typeface="Cairo Black" pitchFamily="34" charset="-120"/>
              </a:rPr>
              <a:t>٧</a:t>
            </a:r>
            <a:endParaRPr lang="ar-SA" sz="12000" dirty="0"/>
          </a:p>
        </p:txBody>
      </p:sp>
      <p:sp>
        <p:nvSpPr>
          <p:cNvPr id="4" name="Text 2"/>
          <p:cNvSpPr/>
          <p:nvPr/>
        </p:nvSpPr>
        <p:spPr>
          <a:xfrm>
            <a:off x="4206240" y="1828800"/>
            <a:ext cx="7162495" cy="457200"/>
          </a:xfrm>
          <a:prstGeom prst="rect">
            <a:avLst/>
          </a:prstGeom>
          <a:noFill/>
          <a:ln/>
        </p:spPr>
        <p:txBody>
          <a:bodyPr wrap="square" lIns="0" tIns="0" rIns="0" bIns="0" rtlCol="0" anchor="ctr">
            <a:normAutofit/>
          </a:bodyPr>
          <a:lstStyle/>
          <a:p>
            <a:pPr rtl="1" algn="r" indent="0" marL="0">
              <a:buNone/>
            </a:pPr>
            <a:r>
              <a:rPr lang="ar-SA" altLang="en-US" sz="2000" b="1" dirty="0">
                <a:solidFill>
                  <a:srgbClr val="D9AE4B"/>
                </a:solidFill>
                <a:latin typeface="Cairo" pitchFamily="34" charset="0"/>
                <a:ea typeface="Cairo" pitchFamily="34" charset="-122"/>
                <a:cs typeface="Cairo" pitchFamily="34" charset="-120"/>
              </a:rPr>
              <a:t>المحور ٧</a:t>
            </a:r>
            <a:endParaRPr lang="ar-SA" sz="2000" dirty="0"/>
          </a:p>
        </p:txBody>
      </p:sp>
      <p:sp>
        <p:nvSpPr>
          <p:cNvPr id="5" name="Text 3"/>
          <p:cNvSpPr/>
          <p:nvPr/>
        </p:nvSpPr>
        <p:spPr>
          <a:xfrm>
            <a:off x="4206240" y="2286000"/>
            <a:ext cx="7162495" cy="1371600"/>
          </a:xfrm>
          <a:prstGeom prst="rect">
            <a:avLst/>
          </a:prstGeom>
          <a:noFill/>
          <a:ln/>
        </p:spPr>
        <p:txBody>
          <a:bodyPr wrap="square" lIns="0" tIns="0" rIns="0" bIns="0" rtlCol="0" anchor="ctr">
            <a:normAutofit/>
          </a:bodyPr>
          <a:lstStyle/>
          <a:p>
            <a:pPr rtl="1" algn="r" indent="0" marL="0">
              <a:buNone/>
            </a:pPr>
            <a:r>
              <a:rPr lang="ar-SA" altLang="en-US" sz="5600" dirty="0">
                <a:solidFill>
                  <a:srgbClr val="FFFFFF"/>
                </a:solidFill>
                <a:latin typeface="Cairo Black" pitchFamily="34" charset="0"/>
                <a:ea typeface="Cairo Black" pitchFamily="34" charset="-122"/>
                <a:cs typeface="Cairo Black" pitchFamily="34" charset="-120"/>
              </a:rPr>
              <a:t>👁️ العين تقود القصر</a:t>
            </a:r>
            <a:endParaRPr lang="ar-SA" sz="5600" dirty="0"/>
          </a:p>
        </p:txBody>
      </p:sp>
      <p:sp>
        <p:nvSpPr>
          <p:cNvPr id="6" name="Text 4"/>
          <p:cNvSpPr/>
          <p:nvPr/>
        </p:nvSpPr>
        <p:spPr>
          <a:xfrm>
            <a:off x="4206240" y="3749040"/>
            <a:ext cx="7162495" cy="822960"/>
          </a:xfrm>
          <a:prstGeom prst="rect">
            <a:avLst/>
          </a:prstGeom>
          <a:noFill/>
          <a:ln/>
        </p:spPr>
        <p:txBody>
          <a:bodyPr wrap="square" lIns="0" tIns="0" rIns="0" bIns="0" rtlCol="0" anchor="ctr">
            <a:normAutofit/>
          </a:bodyPr>
          <a:lstStyle/>
          <a:p>
            <a:pPr rtl="1" algn="r" indent="0" marL="0">
              <a:buNone/>
            </a:pPr>
            <a:r>
              <a:rPr lang="ar-SA" altLang="en-US" sz="2200" b="1" dirty="0">
                <a:solidFill>
                  <a:srgbClr val="C9CFE6"/>
                </a:solidFill>
                <a:latin typeface="Cairo" pitchFamily="34" charset="0"/>
                <a:ea typeface="Cairo" pitchFamily="34" charset="-122"/>
                <a:cs typeface="Cairo" pitchFamily="34" charset="-120"/>
              </a:rPr>
              <a:t>بايثون + MediaPipe Face Landmarker</a:t>
            </a:r>
            <a:endParaRPr lang="ar-SA" sz="2200" dirty="0"/>
          </a:p>
        </p:txBody>
      </p:sp>
      <p:sp>
        <p:nvSpPr>
          <p:cNvPr id="7" name="Text 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لمسة تراث</a:t>
            </a:r>
            <a:endParaRPr lang="ar-SA" sz="1200" dirty="0"/>
          </a:p>
        </p:txBody>
      </p:sp>
      <p:sp>
        <p:nvSpPr>
          <p:cNvPr id="8" name="Text 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 تتبع العين  ·  ٦٣</a:t>
            </a:r>
            <a:endParaRPr lang="ar-SA" sz="12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248095" y="457200"/>
            <a:ext cx="5120640" cy="457200"/>
          </a:xfrm>
          <a:prstGeom prst="roundRect">
            <a:avLst>
              <a:gd name="adj" fmla="val 50000"/>
            </a:avLst>
          </a:prstGeom>
          <a:solidFill>
            <a:srgbClr val="F6EBCF"/>
          </a:solidFill>
          <a:ln/>
        </p:spPr>
      </p:sp>
      <p:sp>
        <p:nvSpPr>
          <p:cNvPr id="3" name="Text 1"/>
          <p:cNvSpPr/>
          <p:nvPr/>
        </p:nvSpPr>
        <p:spPr>
          <a:xfrm>
            <a:off x="6248095" y="457200"/>
            <a:ext cx="512064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بنهاية هذا المحور تستطيع أن</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أهداف المحور</a:t>
            </a:r>
            <a:endParaRPr lang="ar-SA" sz="3800" dirty="0"/>
          </a:p>
        </p:txBody>
      </p:sp>
      <p:sp>
        <p:nvSpPr>
          <p:cNvPr id="5" name="anim-g1-454"/>
          <p:cNvSpPr/>
          <p:nvPr/>
        </p:nvSpPr>
        <p:spPr>
          <a:xfrm>
            <a:off x="822960" y="1920240"/>
            <a:ext cx="10545775" cy="946404"/>
          </a:xfrm>
          <a:prstGeom prst="roundRect">
            <a:avLst>
              <a:gd name="adj" fmla="val 15459"/>
            </a:avLst>
          </a:prstGeom>
          <a:solidFill>
            <a:srgbClr val="FFFFFF"/>
          </a:solidFill>
          <a:ln w="12700">
            <a:solidFill>
              <a:srgbClr val="E4DCC8"/>
            </a:solidFill>
            <a:prstDash val="solid"/>
          </a:ln>
        </p:spPr>
      </p:sp>
      <p:sp>
        <p:nvSpPr>
          <p:cNvPr id="6" name="anim-g1-455"/>
          <p:cNvSpPr/>
          <p:nvPr/>
        </p:nvSpPr>
        <p:spPr>
          <a:xfrm>
            <a:off x="10573207" y="2109978"/>
            <a:ext cx="566928" cy="566928"/>
          </a:xfrm>
          <a:prstGeom prst="ellipse">
            <a:avLst/>
          </a:prstGeom>
          <a:solidFill>
            <a:srgbClr val="D9AE4B"/>
          </a:solidFill>
          <a:ln/>
        </p:spPr>
      </p:sp>
      <p:sp>
        <p:nvSpPr>
          <p:cNvPr id="7" name="anim-g1-456"/>
          <p:cNvSpPr/>
          <p:nvPr/>
        </p:nvSpPr>
        <p:spPr>
          <a:xfrm>
            <a:off x="10573207" y="2109978"/>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١</a:t>
            </a:r>
            <a:endParaRPr lang="ar-SA" sz="2000" dirty="0"/>
          </a:p>
        </p:txBody>
      </p:sp>
      <p:sp>
        <p:nvSpPr>
          <p:cNvPr id="8" name="anim-g1-457"/>
          <p:cNvSpPr/>
          <p:nvPr/>
        </p:nvSpPr>
        <p:spPr>
          <a:xfrm>
            <a:off x="1097280" y="1920240"/>
            <a:ext cx="9247327" cy="946404"/>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تشرح كيف تحدد الرؤية الحاسوبية موضع البؤبؤ</a:t>
            </a:r>
            <a:endParaRPr lang="ar-SA" sz="2400" dirty="0"/>
          </a:p>
        </p:txBody>
      </p:sp>
      <p:sp>
        <p:nvSpPr>
          <p:cNvPr id="9" name="anim-g2-458"/>
          <p:cNvSpPr/>
          <p:nvPr/>
        </p:nvSpPr>
        <p:spPr>
          <a:xfrm>
            <a:off x="822960" y="2976372"/>
            <a:ext cx="10545775" cy="946404"/>
          </a:xfrm>
          <a:prstGeom prst="roundRect">
            <a:avLst>
              <a:gd name="adj" fmla="val 15459"/>
            </a:avLst>
          </a:prstGeom>
          <a:solidFill>
            <a:srgbClr val="FFFFFF"/>
          </a:solidFill>
          <a:ln w="12700">
            <a:solidFill>
              <a:srgbClr val="E4DCC8"/>
            </a:solidFill>
            <a:prstDash val="solid"/>
          </a:ln>
        </p:spPr>
      </p:sp>
      <p:sp>
        <p:nvSpPr>
          <p:cNvPr id="10" name="anim-g2-459"/>
          <p:cNvSpPr/>
          <p:nvPr/>
        </p:nvSpPr>
        <p:spPr>
          <a:xfrm>
            <a:off x="10573207" y="3166110"/>
            <a:ext cx="566928" cy="566928"/>
          </a:xfrm>
          <a:prstGeom prst="ellipse">
            <a:avLst/>
          </a:prstGeom>
          <a:solidFill>
            <a:srgbClr val="D9AE4B"/>
          </a:solidFill>
          <a:ln/>
        </p:spPr>
      </p:sp>
      <p:sp>
        <p:nvSpPr>
          <p:cNvPr id="11" name="anim-g2-460"/>
          <p:cNvSpPr/>
          <p:nvPr/>
        </p:nvSpPr>
        <p:spPr>
          <a:xfrm>
            <a:off x="10573207" y="3166110"/>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٢</a:t>
            </a:r>
            <a:endParaRPr lang="ar-SA" sz="2000" dirty="0"/>
          </a:p>
        </p:txBody>
      </p:sp>
      <p:sp>
        <p:nvSpPr>
          <p:cNvPr id="12" name="anim-g2-461"/>
          <p:cNvSpPr/>
          <p:nvPr/>
        </p:nvSpPr>
        <p:spPr>
          <a:xfrm>
            <a:off x="1097280" y="2976372"/>
            <a:ext cx="9247327" cy="946404"/>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تحوّل موضع البؤبؤ إلى نسبة ثم إلى أمر</a:t>
            </a:r>
            <a:endParaRPr lang="ar-SA" sz="2400" dirty="0"/>
          </a:p>
        </p:txBody>
      </p:sp>
      <p:sp>
        <p:nvSpPr>
          <p:cNvPr id="13" name="anim-g3-462"/>
          <p:cNvSpPr/>
          <p:nvPr/>
        </p:nvSpPr>
        <p:spPr>
          <a:xfrm>
            <a:off x="822960" y="4032504"/>
            <a:ext cx="10545775" cy="946404"/>
          </a:xfrm>
          <a:prstGeom prst="roundRect">
            <a:avLst>
              <a:gd name="adj" fmla="val 15459"/>
            </a:avLst>
          </a:prstGeom>
          <a:solidFill>
            <a:srgbClr val="FFFFFF"/>
          </a:solidFill>
          <a:ln w="12700">
            <a:solidFill>
              <a:srgbClr val="E4DCC8"/>
            </a:solidFill>
            <a:prstDash val="solid"/>
          </a:ln>
        </p:spPr>
      </p:sp>
      <p:sp>
        <p:nvSpPr>
          <p:cNvPr id="14" name="anim-g3-463"/>
          <p:cNvSpPr/>
          <p:nvPr/>
        </p:nvSpPr>
        <p:spPr>
          <a:xfrm>
            <a:off x="10573207" y="4222242"/>
            <a:ext cx="566928" cy="566928"/>
          </a:xfrm>
          <a:prstGeom prst="ellipse">
            <a:avLst/>
          </a:prstGeom>
          <a:solidFill>
            <a:srgbClr val="D9AE4B"/>
          </a:solidFill>
          <a:ln/>
        </p:spPr>
      </p:sp>
      <p:sp>
        <p:nvSpPr>
          <p:cNvPr id="15" name="anim-g3-464"/>
          <p:cNvSpPr/>
          <p:nvPr/>
        </p:nvSpPr>
        <p:spPr>
          <a:xfrm>
            <a:off x="10573207" y="4222242"/>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٣</a:t>
            </a:r>
            <a:endParaRPr lang="ar-SA" sz="2000" dirty="0"/>
          </a:p>
        </p:txBody>
      </p:sp>
      <p:sp>
        <p:nvSpPr>
          <p:cNvPr id="16" name="anim-g3-465"/>
          <p:cNvSpPr/>
          <p:nvPr/>
        </p:nvSpPr>
        <p:spPr>
          <a:xfrm>
            <a:off x="1097280" y="4032504"/>
            <a:ext cx="9247327" cy="946404"/>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تبني معايرة تلقائية وحارسًا للرمشة</a:t>
            </a:r>
            <a:endParaRPr lang="ar-SA" sz="2400" dirty="0"/>
          </a:p>
        </p:txBody>
      </p:sp>
      <p:sp>
        <p:nvSpPr>
          <p:cNvPr id="17" name="anim-g4-466"/>
          <p:cNvSpPr/>
          <p:nvPr/>
        </p:nvSpPr>
        <p:spPr>
          <a:xfrm>
            <a:off x="822960" y="5088636"/>
            <a:ext cx="10545775" cy="946404"/>
          </a:xfrm>
          <a:prstGeom prst="roundRect">
            <a:avLst>
              <a:gd name="adj" fmla="val 15459"/>
            </a:avLst>
          </a:prstGeom>
          <a:solidFill>
            <a:srgbClr val="FFFFFF"/>
          </a:solidFill>
          <a:ln w="12700">
            <a:solidFill>
              <a:srgbClr val="E4DCC8"/>
            </a:solidFill>
            <a:prstDash val="solid"/>
          </a:ln>
        </p:spPr>
      </p:sp>
      <p:sp>
        <p:nvSpPr>
          <p:cNvPr id="18" name="anim-g4-467"/>
          <p:cNvSpPr/>
          <p:nvPr/>
        </p:nvSpPr>
        <p:spPr>
          <a:xfrm>
            <a:off x="10573207" y="5278374"/>
            <a:ext cx="566928" cy="566928"/>
          </a:xfrm>
          <a:prstGeom prst="ellipse">
            <a:avLst/>
          </a:prstGeom>
          <a:solidFill>
            <a:srgbClr val="D9AE4B"/>
          </a:solidFill>
          <a:ln/>
        </p:spPr>
      </p:sp>
      <p:sp>
        <p:nvSpPr>
          <p:cNvPr id="19" name="anim-g4-468"/>
          <p:cNvSpPr/>
          <p:nvPr/>
        </p:nvSpPr>
        <p:spPr>
          <a:xfrm>
            <a:off x="10573207" y="5278374"/>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٤</a:t>
            </a:r>
            <a:endParaRPr lang="ar-SA" sz="2000" dirty="0"/>
          </a:p>
        </p:txBody>
      </p:sp>
      <p:sp>
        <p:nvSpPr>
          <p:cNvPr id="20" name="anim-g4-469"/>
          <p:cNvSpPr/>
          <p:nvPr/>
        </p:nvSpPr>
        <p:spPr>
          <a:xfrm>
            <a:off x="1097280" y="5088636"/>
            <a:ext cx="9247327" cy="946404"/>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تتحقق من المؤشرات بنفسك ولا تثق بالمصادر عمياء</a:t>
            </a:r>
            <a:endParaRPr lang="ar-SA" sz="2400" dirty="0"/>
          </a:p>
        </p:txBody>
      </p:sp>
      <p:sp>
        <p:nvSpPr>
          <p:cNvPr id="21" name="Text 19"/>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2" name="Text 20"/>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تتبع العين  ·  ٦٤</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65.xml><?xml version="1.0" encoding="utf-8"?>
<p:sld xmlns:a="http://schemas.openxmlformats.org/drawingml/2006/main" xmlns:r="http://schemas.openxmlformats.org/officeDocument/2006/relationships" xmlns:p="http://schemas.openxmlformats.org/presentationml/2006/main">
  <p:cSld name="Slide 6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857439" y="457200"/>
            <a:ext cx="3511296" cy="457200"/>
          </a:xfrm>
          <a:prstGeom prst="roundRect">
            <a:avLst>
              <a:gd name="adj" fmla="val 50000"/>
            </a:avLst>
          </a:prstGeom>
          <a:solidFill>
            <a:srgbClr val="F6EBCF"/>
          </a:solidFill>
          <a:ln/>
        </p:spPr>
      </p:sp>
      <p:sp>
        <p:nvSpPr>
          <p:cNvPr id="3" name="Text 1"/>
          <p:cNvSpPr/>
          <p:nvPr/>
        </p:nvSpPr>
        <p:spPr>
          <a:xfrm>
            <a:off x="7857439" y="457200"/>
            <a:ext cx="351129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من الرأس إلى البؤبؤ</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قرار شجاع: من حل «جيد» إلى حل «أشمل»</a:t>
            </a:r>
            <a:endParaRPr lang="ar-SA" sz="3200" dirty="0"/>
          </a:p>
        </p:txBody>
      </p:sp>
      <p:sp>
        <p:nvSpPr>
          <p:cNvPr id="5" name="anim-g1-470"/>
          <p:cNvSpPr/>
          <p:nvPr/>
        </p:nvSpPr>
        <p:spPr>
          <a:xfrm>
            <a:off x="8036357"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471"/>
          <p:cNvSpPr/>
          <p:nvPr/>
        </p:nvSpPr>
        <p:spPr>
          <a:xfrm>
            <a:off x="10527487" y="2267712"/>
            <a:ext cx="566928" cy="566928"/>
          </a:xfrm>
          <a:prstGeom prst="roundRect">
            <a:avLst>
              <a:gd name="adj" fmla="val 32258"/>
            </a:avLst>
          </a:prstGeom>
          <a:solidFill>
            <a:srgbClr val="F7E6BC"/>
          </a:solidFill>
          <a:ln/>
        </p:spPr>
      </p:sp>
      <p:sp>
        <p:nvSpPr>
          <p:cNvPr id="7" name="anim-g1-472"/>
          <p:cNvSpPr/>
          <p:nvPr/>
        </p:nvSpPr>
        <p:spPr>
          <a:xfrm>
            <a:off x="10527487"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473"/>
          <p:cNvSpPr/>
          <p:nvPr/>
        </p:nvSpPr>
        <p:spPr>
          <a:xfrm>
            <a:off x="8310677"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البداية: ميلان الرأس</a:t>
            </a:r>
            <a:endParaRPr lang="ar-SA" sz="2200" dirty="0"/>
          </a:p>
        </p:txBody>
      </p:sp>
      <p:sp>
        <p:nvSpPr>
          <p:cNvPr id="9" name="anim-g1-474"/>
          <p:cNvSpPr/>
          <p:nvPr/>
        </p:nvSpPr>
        <p:spPr>
          <a:xfrm>
            <a:off x="8310677"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جرّبه الفريق فعليًا وحقق نتائج جيدة</a:t>
            </a:r>
            <a:endParaRPr lang="ar-SA" sz="1900" dirty="0"/>
          </a:p>
        </p:txBody>
      </p:sp>
      <p:sp>
        <p:nvSpPr>
          <p:cNvPr id="10" name="anim-g2-475"/>
          <p:cNvSpPr/>
          <p:nvPr/>
        </p:nvSpPr>
        <p:spPr>
          <a:xfrm>
            <a:off x="4429658"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476"/>
          <p:cNvSpPr/>
          <p:nvPr/>
        </p:nvSpPr>
        <p:spPr>
          <a:xfrm>
            <a:off x="6920789" y="2267712"/>
            <a:ext cx="566928" cy="566928"/>
          </a:xfrm>
          <a:prstGeom prst="roundRect">
            <a:avLst>
              <a:gd name="adj" fmla="val 32258"/>
            </a:avLst>
          </a:prstGeom>
          <a:solidFill>
            <a:srgbClr val="F7E6BC"/>
          </a:solidFill>
          <a:ln/>
        </p:spPr>
      </p:sp>
      <p:sp>
        <p:nvSpPr>
          <p:cNvPr id="12" name="anim-g2-477"/>
          <p:cNvSpPr/>
          <p:nvPr/>
        </p:nvSpPr>
        <p:spPr>
          <a:xfrm>
            <a:off x="6920789"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478"/>
          <p:cNvSpPr/>
          <p:nvPr/>
        </p:nvSpPr>
        <p:spPr>
          <a:xfrm>
            <a:off x="4703978"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السؤال</a:t>
            </a:r>
            <a:endParaRPr lang="ar-SA" sz="2200" dirty="0"/>
          </a:p>
        </p:txBody>
      </p:sp>
      <p:sp>
        <p:nvSpPr>
          <p:cNvPr id="14" name="anim-g2-479"/>
          <p:cNvSpPr/>
          <p:nvPr/>
        </p:nvSpPr>
        <p:spPr>
          <a:xfrm>
            <a:off x="4703978"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بعض ذوي الإعاقة الحركية الشديدة لا يحركون رؤوسهم أيضًا</a:t>
            </a:r>
            <a:endParaRPr lang="ar-SA" sz="1900" dirty="0"/>
          </a:p>
        </p:txBody>
      </p:sp>
      <p:sp>
        <p:nvSpPr>
          <p:cNvPr id="15" name="anim-g3-480"/>
          <p:cNvSpPr/>
          <p:nvPr/>
        </p:nvSpPr>
        <p:spPr>
          <a:xfrm>
            <a:off x="822960"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481"/>
          <p:cNvSpPr/>
          <p:nvPr/>
        </p:nvSpPr>
        <p:spPr>
          <a:xfrm>
            <a:off x="3314090" y="2267712"/>
            <a:ext cx="566928" cy="566928"/>
          </a:xfrm>
          <a:prstGeom prst="roundRect">
            <a:avLst>
              <a:gd name="adj" fmla="val 32258"/>
            </a:avLst>
          </a:prstGeom>
          <a:solidFill>
            <a:srgbClr val="F7E6BC"/>
          </a:solidFill>
          <a:ln/>
        </p:spPr>
      </p:sp>
      <p:sp>
        <p:nvSpPr>
          <p:cNvPr id="17" name="anim-g3-482"/>
          <p:cNvSpPr/>
          <p:nvPr/>
        </p:nvSpPr>
        <p:spPr>
          <a:xfrm>
            <a:off x="3314090"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483"/>
          <p:cNvSpPr/>
          <p:nvPr/>
        </p:nvSpPr>
        <p:spPr>
          <a:xfrm>
            <a:off x="1097280"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التطوير: البؤبؤ</a:t>
            </a:r>
            <a:endParaRPr lang="ar-SA" sz="2200" dirty="0"/>
          </a:p>
        </p:txBody>
      </p:sp>
      <p:sp>
        <p:nvSpPr>
          <p:cNvPr id="19" name="anim-g3-484"/>
          <p:cNvSpPr/>
          <p:nvPr/>
        </p:nvSpPr>
        <p:spPr>
          <a:xfrm>
            <a:off x="1097280"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حركة العين متاحة لشريحة أوسع… فتقدّم الفريق خطوة أعمق</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تتبع العين  ·  ٦٥</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66.xml><?xml version="1.0" encoding="utf-8"?>
<p:sld xmlns:a="http://schemas.openxmlformats.org/drawingml/2006/main" xmlns:r="http://schemas.openxmlformats.org/officeDocument/2006/relationships" xmlns:p="http://schemas.openxmlformats.org/presentationml/2006/main">
  <p:cSld name="Slide 6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320479" y="457200"/>
            <a:ext cx="2048256" cy="457200"/>
          </a:xfrm>
          <a:prstGeom prst="roundRect">
            <a:avLst>
              <a:gd name="adj" fmla="val 50000"/>
            </a:avLst>
          </a:prstGeom>
          <a:solidFill>
            <a:srgbClr val="F6EBCF"/>
          </a:solidFill>
          <a:ln/>
        </p:spPr>
      </p:sp>
      <p:sp>
        <p:nvSpPr>
          <p:cNvPr id="3" name="Text 1"/>
          <p:cNvSpPr/>
          <p:nvPr/>
        </p:nvSpPr>
        <p:spPr>
          <a:xfrm>
            <a:off x="9320479" y="457200"/>
            <a:ext cx="204825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كيف يعمل؟</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أربع خطوات في كل إطار من الكاميرا</a:t>
            </a:r>
            <a:endParaRPr lang="ar-SA" sz="3200" dirty="0"/>
          </a:p>
        </p:txBody>
      </p:sp>
      <p:sp>
        <p:nvSpPr>
          <p:cNvPr id="5" name="anim-g1-485"/>
          <p:cNvSpPr/>
          <p:nvPr/>
        </p:nvSpPr>
        <p:spPr>
          <a:xfrm>
            <a:off x="6233008" y="2011680"/>
            <a:ext cx="513572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486"/>
          <p:cNvSpPr/>
          <p:nvPr/>
        </p:nvSpPr>
        <p:spPr>
          <a:xfrm>
            <a:off x="10527487" y="2267712"/>
            <a:ext cx="566928" cy="566928"/>
          </a:xfrm>
          <a:prstGeom prst="roundRect">
            <a:avLst>
              <a:gd name="adj" fmla="val 32258"/>
            </a:avLst>
          </a:prstGeom>
          <a:solidFill>
            <a:srgbClr val="F7E6BC"/>
          </a:solidFill>
          <a:ln/>
        </p:spPr>
      </p:sp>
      <p:sp>
        <p:nvSpPr>
          <p:cNvPr id="7" name="anim-g1-487"/>
          <p:cNvSpPr/>
          <p:nvPr/>
        </p:nvSpPr>
        <p:spPr>
          <a:xfrm>
            <a:off x="10527487"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488"/>
          <p:cNvSpPr/>
          <p:nvPr/>
        </p:nvSpPr>
        <p:spPr>
          <a:xfrm>
            <a:off x="6507328" y="2944368"/>
            <a:ext cx="458708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٤٧٨ نقطة</a:t>
            </a:r>
            <a:endParaRPr lang="ar-SA" sz="2200" dirty="0"/>
          </a:p>
        </p:txBody>
      </p:sp>
      <p:sp>
        <p:nvSpPr>
          <p:cNvPr id="9" name="anim-g1-489"/>
          <p:cNvSpPr/>
          <p:nvPr/>
        </p:nvSpPr>
        <p:spPr>
          <a:xfrm>
            <a:off x="6507328" y="3493008"/>
            <a:ext cx="458708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MediaPipe يرسم شبكة على الوجه، منها نقاط زوايا العين ومركز البؤبؤ</a:t>
            </a:r>
            <a:endParaRPr lang="ar-SA" sz="1900" dirty="0"/>
          </a:p>
        </p:txBody>
      </p:sp>
      <p:sp>
        <p:nvSpPr>
          <p:cNvPr id="10" name="anim-g2-490"/>
          <p:cNvSpPr/>
          <p:nvPr/>
        </p:nvSpPr>
        <p:spPr>
          <a:xfrm>
            <a:off x="822960" y="2011680"/>
            <a:ext cx="513572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491"/>
          <p:cNvSpPr/>
          <p:nvPr/>
        </p:nvSpPr>
        <p:spPr>
          <a:xfrm>
            <a:off x="5117440" y="2267712"/>
            <a:ext cx="566928" cy="566928"/>
          </a:xfrm>
          <a:prstGeom prst="roundRect">
            <a:avLst>
              <a:gd name="adj" fmla="val 32258"/>
            </a:avLst>
          </a:prstGeom>
          <a:solidFill>
            <a:srgbClr val="F7E6BC"/>
          </a:solidFill>
          <a:ln/>
        </p:spPr>
      </p:sp>
      <p:sp>
        <p:nvSpPr>
          <p:cNvPr id="12" name="anim-g2-492"/>
          <p:cNvSpPr/>
          <p:nvPr/>
        </p:nvSpPr>
        <p:spPr>
          <a:xfrm>
            <a:off x="5117440"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493"/>
          <p:cNvSpPr/>
          <p:nvPr/>
        </p:nvSpPr>
        <p:spPr>
          <a:xfrm>
            <a:off x="1097280" y="2944368"/>
            <a:ext cx="458708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النسبة</a:t>
            </a:r>
            <a:endParaRPr lang="ar-SA" sz="2200" dirty="0"/>
          </a:p>
        </p:txBody>
      </p:sp>
      <p:sp>
        <p:nvSpPr>
          <p:cNvPr id="14" name="anim-g2-494"/>
          <p:cNvSpPr/>
          <p:nvPr/>
        </p:nvSpPr>
        <p:spPr>
          <a:xfrm>
            <a:off x="1097280" y="3493008"/>
            <a:ext cx="458708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موضع البؤبؤ بين زاويتي العين: ٠ طرف، و١ الطرف الآخر، والوسط نحو ٠٫٥</a:t>
            </a:r>
            <a:endParaRPr lang="ar-SA" sz="1900" dirty="0"/>
          </a:p>
        </p:txBody>
      </p:sp>
      <p:sp>
        <p:nvSpPr>
          <p:cNvPr id="15" name="anim-g3-495"/>
          <p:cNvSpPr/>
          <p:nvPr/>
        </p:nvSpPr>
        <p:spPr>
          <a:xfrm>
            <a:off x="6233008" y="4137660"/>
            <a:ext cx="513572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496"/>
          <p:cNvSpPr/>
          <p:nvPr/>
        </p:nvSpPr>
        <p:spPr>
          <a:xfrm>
            <a:off x="10527487" y="4393692"/>
            <a:ext cx="566928" cy="566928"/>
          </a:xfrm>
          <a:prstGeom prst="roundRect">
            <a:avLst>
              <a:gd name="adj" fmla="val 32258"/>
            </a:avLst>
          </a:prstGeom>
          <a:solidFill>
            <a:srgbClr val="F7E6BC"/>
          </a:solidFill>
          <a:ln/>
        </p:spPr>
      </p:sp>
      <p:sp>
        <p:nvSpPr>
          <p:cNvPr id="17" name="anim-g3-497"/>
          <p:cNvSpPr/>
          <p:nvPr/>
        </p:nvSpPr>
        <p:spPr>
          <a:xfrm>
            <a:off x="10527487" y="439369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498"/>
          <p:cNvSpPr/>
          <p:nvPr/>
        </p:nvSpPr>
        <p:spPr>
          <a:xfrm>
            <a:off x="6507328" y="5070348"/>
            <a:ext cx="458708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المعايرة</a:t>
            </a:r>
            <a:endParaRPr lang="ar-SA" sz="2200" dirty="0"/>
          </a:p>
        </p:txBody>
      </p:sp>
      <p:sp>
        <p:nvSpPr>
          <p:cNvPr id="19" name="anim-g3-499"/>
          <p:cNvSpPr/>
          <p:nvPr/>
        </p:nvSpPr>
        <p:spPr>
          <a:xfrm>
            <a:off x="6507328" y="5618988"/>
            <a:ext cx="458708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٢٫٥ ثانية في البداية ينظر فيها الزائر للأمام: هذا «وسطه» هو</a:t>
            </a:r>
            <a:endParaRPr lang="ar-SA" sz="1900" dirty="0"/>
          </a:p>
        </p:txBody>
      </p:sp>
      <p:sp>
        <p:nvSpPr>
          <p:cNvPr id="20" name="anim-g4-500"/>
          <p:cNvSpPr/>
          <p:nvPr/>
        </p:nvSpPr>
        <p:spPr>
          <a:xfrm>
            <a:off x="822960" y="4137660"/>
            <a:ext cx="513572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21" name="anim-g4-501"/>
          <p:cNvSpPr/>
          <p:nvPr/>
        </p:nvSpPr>
        <p:spPr>
          <a:xfrm>
            <a:off x="5117440" y="4393692"/>
            <a:ext cx="566928" cy="566928"/>
          </a:xfrm>
          <a:prstGeom prst="roundRect">
            <a:avLst>
              <a:gd name="adj" fmla="val 32258"/>
            </a:avLst>
          </a:prstGeom>
          <a:solidFill>
            <a:srgbClr val="F7E6BC"/>
          </a:solidFill>
          <a:ln/>
        </p:spPr>
      </p:sp>
      <p:sp>
        <p:nvSpPr>
          <p:cNvPr id="22" name="anim-g4-502"/>
          <p:cNvSpPr/>
          <p:nvPr/>
        </p:nvSpPr>
        <p:spPr>
          <a:xfrm>
            <a:off x="5117440" y="439369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23" name="anim-g4-503"/>
          <p:cNvSpPr/>
          <p:nvPr/>
        </p:nvSpPr>
        <p:spPr>
          <a:xfrm>
            <a:off x="1097280" y="5070348"/>
            <a:ext cx="458708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الأمر</a:t>
            </a:r>
            <a:endParaRPr lang="ar-SA" sz="2200" dirty="0"/>
          </a:p>
        </p:txBody>
      </p:sp>
      <p:sp>
        <p:nvSpPr>
          <p:cNvPr id="24" name="anim-g4-504"/>
          <p:cNvSpPr/>
          <p:nvPr/>
        </p:nvSpPr>
        <p:spPr>
          <a:xfrm>
            <a:off x="1097280" y="5618988"/>
            <a:ext cx="458708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أبعد من الوسط يمينًا ← r، يسارًا ← l، قريب من الوسط ← s</a:t>
            </a:r>
            <a:endParaRPr lang="ar-SA" sz="1900" dirty="0"/>
          </a:p>
        </p:txBody>
      </p:sp>
      <p:sp>
        <p:nvSpPr>
          <p:cNvPr id="25" name="Text 2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6" name="Text 2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تتبع العين  ·  ٦٦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Image 0" descr="C:\Users\user\projects\younes-training\turath\.pptx-cache\s67.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Image 0" descr="C:\Users\user\projects\younes-training\turath\.pptx-cache\s68-0.jpg">    </p:cNvPr>
          <p:cNvPicPr>
            <a:picLocks noChangeAspect="1"/>
          </p:cNvPicPr>
          <p:nvPr/>
        </p:nvPicPr>
        <p:blipFill>
          <a:blip r:embed="rId1"/>
          <a:stretch>
            <a:fillRect/>
          </a:stretch>
        </p:blipFill>
        <p:spPr>
          <a:xfrm>
            <a:off x="0" y="0"/>
            <a:ext cx="12191695" cy="6858000"/>
          </a:xfrm>
          <a:prstGeom prst="rect">
            <a:avLst/>
          </a:prstGeom>
        </p:spPr>
      </p:pic>
      <p:pic>
        <p:nvPicPr>
          <p:cNvPr id="3" name="anim-g1-505" descr="C:\Users\user\projects\younes-training\turath\.pptx-cache\s68-1.jpg">    </p:cNvPr>
          <p:cNvPicPr>
            <a:picLocks noChangeAspect="1"/>
          </p:cNvPicPr>
          <p:nvPr/>
        </p:nvPicPr>
        <p:blipFill>
          <a:blip r:embed="rId2"/>
          <a:stretch>
            <a:fillRect/>
          </a:stretch>
        </p:blipFill>
        <p:spPr>
          <a:xfrm>
            <a:off x="0" y="0"/>
            <a:ext cx="12191695" cy="6858000"/>
          </a:xfrm>
          <a:prstGeom prst="rect">
            <a:avLst/>
          </a:prstGeom>
        </p:spPr>
      </p:pic>
      <p:pic>
        <p:nvPicPr>
          <p:cNvPr id="4" name="anim-g2-506" descr="C:\Users\user\projects\younes-training\turath\.pptx-cache\s68-2.jpg">    </p:cNvPr>
          <p:cNvPicPr>
            <a:picLocks noChangeAspect="1"/>
          </p:cNvPicPr>
          <p:nvPr/>
        </p:nvPicPr>
        <p:blipFill>
          <a:blip r:embed="rId3"/>
          <a:stretch>
            <a:fillRect/>
          </a:stretch>
        </p:blipFill>
        <p:spPr>
          <a:xfrm>
            <a:off x="0" y="0"/>
            <a:ext cx="12191695" cy="6858000"/>
          </a:xfrm>
          <a:prstGeom prst="rect">
            <a:avLst/>
          </a:prstGeom>
        </p:spPr>
      </p:pic>
      <p:pic>
        <p:nvPicPr>
          <p:cNvPr id="5" name="anim-g3-507" descr="C:\Users\user\projects\younes-training\turath\.pptx-cache\s68-3.jpg">    </p:cNvPr>
          <p:cNvPicPr>
            <a:picLocks noChangeAspect="1"/>
          </p:cNvPicPr>
          <p:nvPr/>
        </p:nvPicPr>
        <p:blipFill>
          <a:blip r:embed="rId4"/>
          <a:stretch>
            <a:fillRect/>
          </a:stretch>
        </p:blipFill>
        <p:spPr>
          <a:xfrm>
            <a:off x="0" y="0"/>
            <a:ext cx="12191695" cy="6858000"/>
          </a:xfrm>
          <a:prstGeom prst="rect">
            <a:avLst/>
          </a:prstGeom>
        </p:spPr>
      </p:pic>
      <p:pic>
        <p:nvPicPr>
          <p:cNvPr id="6" name="anim-g4-508" descr="C:\Users\user\projects\younes-training\turath\.pptx-cache\s68-4.jpg">    </p:cNvPr>
          <p:cNvPicPr>
            <a:picLocks noChangeAspect="1"/>
          </p:cNvPicPr>
          <p:nvPr/>
        </p:nvPicPr>
        <p:blipFill>
          <a:blip r:embed="rId5"/>
          <a:stretch>
            <a:fillRect/>
          </a:stretch>
        </p:blipFill>
        <p:spPr>
          <a:xfrm>
            <a:off x="0" y="0"/>
            <a:ext cx="12191695" cy="6858000"/>
          </a:xfrm>
          <a:prstGeom prst="rect">
            <a:avLst/>
          </a:prstGeom>
        </p:spPr>
      </p:pic>
      <p:pic>
        <p:nvPicPr>
          <p:cNvPr id="7" name="anim-g5-509" descr="C:\Users\user\projects\younes-training\turath\.pptx-cache\s68-5.jpg">    </p:cNvPr>
          <p:cNvPicPr>
            <a:picLocks noChangeAspect="1"/>
          </p:cNvPicPr>
          <p:nvPr/>
        </p:nvPicPr>
        <p:blipFill>
          <a:blip r:embed="rId6"/>
          <a:stretch>
            <a:fillRect/>
          </a:stretch>
        </p:blipFill>
        <p:spPr>
          <a:xfrm>
            <a:off x="0" y="0"/>
            <a:ext cx="12191695" cy="6858000"/>
          </a:xfrm>
          <a:prstGeom prst="rect">
            <a:avLst/>
          </a:prstGeom>
        </p:spPr>
      </p:pic>
      <p:pic>
        <p:nvPicPr>
          <p:cNvPr id="8" name="anim-g6-510" descr="C:\Users\user\projects\younes-training\turath\.pptx-cache\s68-6.jpg">    </p:cNvPr>
          <p:cNvPicPr>
            <a:picLocks noChangeAspect="1"/>
          </p:cNvPicPr>
          <p:nvPr/>
        </p:nvPicPr>
        <p:blipFill>
          <a:blip r:embed="rId7"/>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name="Slide 6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320479" y="457200"/>
            <a:ext cx="2048256" cy="457200"/>
          </a:xfrm>
          <a:prstGeom prst="roundRect">
            <a:avLst>
              <a:gd name="adj" fmla="val 50000"/>
            </a:avLst>
          </a:prstGeom>
          <a:solidFill>
            <a:srgbClr val="F6EBCF"/>
          </a:solidFill>
          <a:ln/>
        </p:spPr>
      </p:sp>
      <p:sp>
        <p:nvSpPr>
          <p:cNvPr id="3" name="Text 1"/>
          <p:cNvSpPr/>
          <p:nvPr/>
        </p:nvSpPr>
        <p:spPr>
          <a:xfrm>
            <a:off x="9320479" y="457200"/>
            <a:ext cx="204825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ابتكار</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الزائر نفسه هو «حلقة التغذية الراجعة»</a:t>
            </a:r>
            <a:endParaRPr lang="ar-SA" sz="3200" dirty="0"/>
          </a:p>
        </p:txBody>
      </p:sp>
      <p:sp>
        <p:nvSpPr>
          <p:cNvPr id="5" name="anim-g1-511"/>
          <p:cNvSpPr/>
          <p:nvPr/>
        </p:nvSpPr>
        <p:spPr>
          <a:xfrm>
            <a:off x="6233008" y="2011680"/>
            <a:ext cx="5135728" cy="4023360"/>
          </a:xfrm>
          <a:prstGeom prst="roundRect">
            <a:avLst>
              <a:gd name="adj" fmla="val 4091"/>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512"/>
          <p:cNvSpPr/>
          <p:nvPr/>
        </p:nvSpPr>
        <p:spPr>
          <a:xfrm>
            <a:off x="10527487" y="2267712"/>
            <a:ext cx="566928" cy="566928"/>
          </a:xfrm>
          <a:prstGeom prst="roundRect">
            <a:avLst>
              <a:gd name="adj" fmla="val 32258"/>
            </a:avLst>
          </a:prstGeom>
          <a:solidFill>
            <a:srgbClr val="F7E6BC"/>
          </a:solidFill>
          <a:ln/>
        </p:spPr>
      </p:sp>
      <p:sp>
        <p:nvSpPr>
          <p:cNvPr id="7" name="anim-g1-513"/>
          <p:cNvSpPr/>
          <p:nvPr/>
        </p:nvSpPr>
        <p:spPr>
          <a:xfrm>
            <a:off x="10527487"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514"/>
          <p:cNvSpPr/>
          <p:nvPr/>
        </p:nvSpPr>
        <p:spPr>
          <a:xfrm>
            <a:off x="6507328" y="2944368"/>
            <a:ext cx="458708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بدل حساسات موضع غالية</a:t>
            </a:r>
            <a:endParaRPr lang="ar-SA" sz="2200" dirty="0"/>
          </a:p>
        </p:txBody>
      </p:sp>
      <p:sp>
        <p:nvSpPr>
          <p:cNvPr id="9" name="anim-g1-515"/>
          <p:cNvSpPr/>
          <p:nvPr/>
        </p:nvSpPr>
        <p:spPr>
          <a:xfrm>
            <a:off x="6507328" y="3493008"/>
            <a:ext cx="458708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لا مُرمّز (Encoder) يخبرنا أين توقفت المنصة</a:t>
            </a:r>
            <a:endParaRPr lang="ar-SA" sz="1900" dirty="0"/>
          </a:p>
        </p:txBody>
      </p:sp>
      <p:sp>
        <p:nvSpPr>
          <p:cNvPr id="10" name="anim-g2-516"/>
          <p:cNvSpPr/>
          <p:nvPr/>
        </p:nvSpPr>
        <p:spPr>
          <a:xfrm>
            <a:off x="822960" y="2011680"/>
            <a:ext cx="5135728" cy="4023360"/>
          </a:xfrm>
          <a:prstGeom prst="roundRect">
            <a:avLst>
              <a:gd name="adj" fmla="val 4091"/>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517"/>
          <p:cNvSpPr/>
          <p:nvPr/>
        </p:nvSpPr>
        <p:spPr>
          <a:xfrm>
            <a:off x="5117440" y="2267712"/>
            <a:ext cx="566928" cy="566928"/>
          </a:xfrm>
          <a:prstGeom prst="roundRect">
            <a:avLst>
              <a:gd name="adj" fmla="val 32258"/>
            </a:avLst>
          </a:prstGeom>
          <a:solidFill>
            <a:srgbClr val="F7E6BC"/>
          </a:solidFill>
          <a:ln/>
        </p:spPr>
      </p:sp>
      <p:sp>
        <p:nvSpPr>
          <p:cNvPr id="12" name="anim-g2-518"/>
          <p:cNvSpPr/>
          <p:nvPr/>
        </p:nvSpPr>
        <p:spPr>
          <a:xfrm>
            <a:off x="5117440"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519"/>
          <p:cNvSpPr/>
          <p:nvPr/>
        </p:nvSpPr>
        <p:spPr>
          <a:xfrm>
            <a:off x="1097280" y="2944368"/>
            <a:ext cx="458708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العين هي الحساس</a:t>
            </a:r>
            <a:endParaRPr lang="ar-SA" sz="2200" dirty="0"/>
          </a:p>
        </p:txBody>
      </p:sp>
      <p:sp>
        <p:nvSpPr>
          <p:cNvPr id="14" name="anim-g2-520"/>
          <p:cNvSpPr/>
          <p:nvPr/>
        </p:nvSpPr>
        <p:spPr>
          <a:xfrm>
            <a:off x="1097280" y="3493008"/>
            <a:ext cx="458708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الزائر يرى الجهة التي يريدها فيعيد نظره للأمام: فتتوقف المنصة</a:t>
            </a:r>
            <a:endParaRPr lang="ar-SA" sz="1900" dirty="0"/>
          </a:p>
        </p:txBody>
      </p:sp>
      <p:sp>
        <p:nvSpPr>
          <p:cNvPr id="15" name="Text 1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16" name="Text 1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تتبع العين  ·  ٦٩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Lst>
  </p:timing>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Image 0" descr="C:\Users\user\projects\younes-training\turath\.pptx-cache\s70-0.jpg">    </p:cNvPr>
          <p:cNvPicPr>
            <a:picLocks noChangeAspect="1"/>
          </p:cNvPicPr>
          <p:nvPr/>
        </p:nvPicPr>
        <p:blipFill>
          <a:blip r:embed="rId1"/>
          <a:stretch>
            <a:fillRect/>
          </a:stretch>
        </p:blipFill>
        <p:spPr>
          <a:xfrm>
            <a:off x="0" y="0"/>
            <a:ext cx="12191695" cy="6858000"/>
          </a:xfrm>
          <a:prstGeom prst="rect">
            <a:avLst/>
          </a:prstGeom>
        </p:spPr>
      </p:pic>
      <p:pic>
        <p:nvPicPr>
          <p:cNvPr id="3" name="anim-g1-521" descr="C:\Users\user\projects\younes-training\turath\.pptx-cache\s70-1.jpg">    </p:cNvPr>
          <p:cNvPicPr>
            <a:picLocks noChangeAspect="1"/>
          </p:cNvPicPr>
          <p:nvPr/>
        </p:nvPicPr>
        <p:blipFill>
          <a:blip r:embed="rId2"/>
          <a:stretch>
            <a:fillRect/>
          </a:stretch>
        </p:blipFill>
        <p:spPr>
          <a:xfrm>
            <a:off x="0" y="0"/>
            <a:ext cx="12191695" cy="6858000"/>
          </a:xfrm>
          <a:prstGeom prst="rect">
            <a:avLst/>
          </a:prstGeom>
        </p:spPr>
      </p:pic>
      <p:pic>
        <p:nvPicPr>
          <p:cNvPr id="4" name="anim-g2-522" descr="C:\Users\user\projects\younes-training\turath\.pptx-cache\s70-2.jpg">    </p:cNvPr>
          <p:cNvPicPr>
            <a:picLocks noChangeAspect="1"/>
          </p:cNvPicPr>
          <p:nvPr/>
        </p:nvPicPr>
        <p:blipFill>
          <a:blip r:embed="rId3"/>
          <a:stretch>
            <a:fillRect/>
          </a:stretch>
        </p:blipFill>
        <p:spPr>
          <a:xfrm>
            <a:off x="0" y="0"/>
            <a:ext cx="12191695" cy="6858000"/>
          </a:xfrm>
          <a:prstGeom prst="rect">
            <a:avLst/>
          </a:prstGeom>
        </p:spPr>
      </p:pic>
      <p:pic>
        <p:nvPicPr>
          <p:cNvPr id="5" name="anim-g3-523" descr="C:\Users\user\projects\younes-training\turath\.pptx-cache\s70-3.jpg">    </p:cNvPr>
          <p:cNvPicPr>
            <a:picLocks noChangeAspect="1"/>
          </p:cNvPicPr>
          <p:nvPr/>
        </p:nvPicPr>
        <p:blipFill>
          <a:blip r:embed="rId4"/>
          <a:stretch>
            <a:fillRect/>
          </a:stretch>
        </p:blipFill>
        <p:spPr>
          <a:xfrm>
            <a:off x="0" y="0"/>
            <a:ext cx="12191695" cy="6858000"/>
          </a:xfrm>
          <a:prstGeom prst="rect">
            <a:avLst/>
          </a:prstGeom>
        </p:spPr>
      </p:pic>
      <p:pic>
        <p:nvPicPr>
          <p:cNvPr id="6" name="anim-g4-524" descr="C:\Users\user\projects\younes-training\turath\.pptx-cache\s70-4.jpg">    </p:cNvPr>
          <p:cNvPicPr>
            <a:picLocks noChangeAspect="1"/>
          </p:cNvPicPr>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1.xml><?xml version="1.0" encoding="utf-8"?>
<p:sld xmlns:a="http://schemas.openxmlformats.org/drawingml/2006/main" xmlns:r="http://schemas.openxmlformats.org/officeDocument/2006/relationships" xmlns:p="http://schemas.openxmlformats.org/presentationml/2006/main">
  <p:cSld name="Slide 7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881567" y="457200"/>
            <a:ext cx="2487168" cy="457200"/>
          </a:xfrm>
          <a:prstGeom prst="roundRect">
            <a:avLst>
              <a:gd name="adj" fmla="val 50000"/>
            </a:avLst>
          </a:prstGeom>
          <a:solidFill>
            <a:srgbClr val="F6EBCF"/>
          </a:solidFill>
          <a:ln/>
        </p:spPr>
      </p:sp>
      <p:sp>
        <p:nvSpPr>
          <p:cNvPr id="3" name="Text 1"/>
          <p:cNvSpPr/>
          <p:nvPr/>
        </p:nvSpPr>
        <p:spPr>
          <a:xfrm>
            <a:off x="8881567" y="45720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اختبر نفسك</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ما الدرس الأهم من قصة المؤشرات المعكوسة؟</a:t>
            </a:r>
            <a:endParaRPr lang="ar-SA" sz="3200" dirty="0"/>
          </a:p>
        </p:txBody>
      </p:sp>
      <p:sp>
        <p:nvSpPr>
          <p:cNvPr id="5" name="Shape 3"/>
          <p:cNvSpPr/>
          <p:nvPr/>
        </p:nvSpPr>
        <p:spPr>
          <a:xfrm>
            <a:off x="822960" y="2057400"/>
            <a:ext cx="10545775" cy="1228344"/>
          </a:xfrm>
          <a:prstGeom prst="roundRect">
            <a:avLst>
              <a:gd name="adj" fmla="val 11911"/>
            </a:avLst>
          </a:prstGeom>
          <a:solidFill>
            <a:srgbClr val="FFFFFF"/>
          </a:solidFill>
          <a:ln w="19050">
            <a:solidFill>
              <a:srgbClr val="E4DCC8"/>
            </a:solidFill>
            <a:prstDash val="solid"/>
          </a:ln>
        </p:spPr>
      </p:sp>
      <p:sp>
        <p:nvSpPr>
          <p:cNvPr id="6" name="Shape 4"/>
          <p:cNvSpPr/>
          <p:nvPr/>
        </p:nvSpPr>
        <p:spPr>
          <a:xfrm>
            <a:off x="10231831" y="2194560"/>
            <a:ext cx="954024" cy="954024"/>
          </a:xfrm>
          <a:prstGeom prst="roundRect">
            <a:avLst>
              <a:gd name="adj" fmla="val 11502"/>
            </a:avLst>
          </a:prstGeom>
          <a:solidFill>
            <a:srgbClr val="101B45"/>
          </a:solidFill>
          <a:ln/>
        </p:spPr>
      </p:sp>
      <p:sp>
        <p:nvSpPr>
          <p:cNvPr id="7" name="Text 5"/>
          <p:cNvSpPr/>
          <p:nvPr/>
        </p:nvSpPr>
        <p:spPr>
          <a:xfrm>
            <a:off x="10231831" y="2194560"/>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8" name="Text 6"/>
          <p:cNvSpPr/>
          <p:nvPr/>
        </p:nvSpPr>
        <p:spPr>
          <a:xfrm>
            <a:off x="1097280" y="2057400"/>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MediaPipe مكتبة سيئة</a:t>
            </a:r>
            <a:endParaRPr lang="ar-SA" sz="2500" dirty="0"/>
          </a:p>
        </p:txBody>
      </p:sp>
      <p:sp>
        <p:nvSpPr>
          <p:cNvPr id="9" name="anim-g1-525"/>
          <p:cNvSpPr/>
          <p:nvPr/>
        </p:nvSpPr>
        <p:spPr>
          <a:xfrm>
            <a:off x="822960" y="2057400"/>
            <a:ext cx="10545775" cy="1228344"/>
          </a:xfrm>
          <a:prstGeom prst="roundRect">
            <a:avLst>
              <a:gd name="adj" fmla="val 11911"/>
            </a:avLst>
          </a:prstGeom>
          <a:solidFill>
            <a:srgbClr val="F7F7F9"/>
          </a:solidFill>
          <a:ln w="19050">
            <a:solidFill>
              <a:srgbClr val="E4DCC8"/>
            </a:solidFill>
            <a:prstDash val="solid"/>
          </a:ln>
        </p:spPr>
      </p:sp>
      <p:sp>
        <p:nvSpPr>
          <p:cNvPr id="10" name="anim-g1-526"/>
          <p:cNvSpPr/>
          <p:nvPr/>
        </p:nvSpPr>
        <p:spPr>
          <a:xfrm>
            <a:off x="10231831" y="2194560"/>
            <a:ext cx="954024" cy="954024"/>
          </a:xfrm>
          <a:prstGeom prst="roundRect">
            <a:avLst>
              <a:gd name="adj" fmla="val 11502"/>
            </a:avLst>
          </a:prstGeom>
          <a:solidFill>
            <a:srgbClr val="A3A9BA"/>
          </a:solidFill>
          <a:ln/>
        </p:spPr>
      </p:sp>
      <p:sp>
        <p:nvSpPr>
          <p:cNvPr id="11" name="anim-g1-527"/>
          <p:cNvSpPr/>
          <p:nvPr/>
        </p:nvSpPr>
        <p:spPr>
          <a:xfrm>
            <a:off x="10231831" y="2194560"/>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12" name="anim-g1-528"/>
          <p:cNvSpPr/>
          <p:nvPr/>
        </p:nvSpPr>
        <p:spPr>
          <a:xfrm>
            <a:off x="1097280" y="2093976"/>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8A90A3"/>
                </a:solidFill>
                <a:latin typeface="Cairo" pitchFamily="34" charset="0"/>
                <a:ea typeface="Cairo" pitchFamily="34" charset="-122"/>
                <a:cs typeface="Cairo" pitchFamily="34" charset="-120"/>
              </a:rPr>
              <a:t>MediaPipe مكتبة سيئة</a:t>
            </a:r>
            <a:endParaRPr lang="ar-SA" sz="2400" dirty="0"/>
          </a:p>
        </p:txBody>
      </p:sp>
      <p:sp>
        <p:nvSpPr>
          <p:cNvPr id="13" name="anim-g1-529"/>
          <p:cNvSpPr/>
          <p:nvPr/>
        </p:nvSpPr>
        <p:spPr>
          <a:xfrm>
            <a:off x="1097280" y="2720706"/>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المكتبة ممتازة، والخطأ في الافتراض</a:t>
            </a:r>
            <a:endParaRPr lang="ar-SA" sz="1800" dirty="0"/>
          </a:p>
        </p:txBody>
      </p:sp>
      <p:sp>
        <p:nvSpPr>
          <p:cNvPr id="14" name="Shape 12"/>
          <p:cNvSpPr/>
          <p:nvPr/>
        </p:nvSpPr>
        <p:spPr>
          <a:xfrm>
            <a:off x="822960" y="3432048"/>
            <a:ext cx="10545775" cy="1228344"/>
          </a:xfrm>
          <a:prstGeom prst="roundRect">
            <a:avLst>
              <a:gd name="adj" fmla="val 11911"/>
            </a:avLst>
          </a:prstGeom>
          <a:solidFill>
            <a:srgbClr val="FFFFFF"/>
          </a:solidFill>
          <a:ln w="19050">
            <a:solidFill>
              <a:srgbClr val="E4DCC8"/>
            </a:solidFill>
            <a:prstDash val="solid"/>
          </a:ln>
        </p:spPr>
      </p:sp>
      <p:sp>
        <p:nvSpPr>
          <p:cNvPr id="15" name="Shape 13"/>
          <p:cNvSpPr/>
          <p:nvPr/>
        </p:nvSpPr>
        <p:spPr>
          <a:xfrm>
            <a:off x="10231831" y="3569208"/>
            <a:ext cx="954024" cy="954024"/>
          </a:xfrm>
          <a:prstGeom prst="roundRect">
            <a:avLst>
              <a:gd name="adj" fmla="val 11502"/>
            </a:avLst>
          </a:prstGeom>
          <a:solidFill>
            <a:srgbClr val="101B45"/>
          </a:solidFill>
          <a:ln/>
        </p:spPr>
      </p:sp>
      <p:sp>
        <p:nvSpPr>
          <p:cNvPr id="16" name="Text 14"/>
          <p:cNvSpPr/>
          <p:nvPr/>
        </p:nvSpPr>
        <p:spPr>
          <a:xfrm>
            <a:off x="10231831" y="3569208"/>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17" name="Text 15"/>
          <p:cNvSpPr/>
          <p:nvPr/>
        </p:nvSpPr>
        <p:spPr>
          <a:xfrm>
            <a:off x="1097280" y="3432048"/>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لا تستخدم الرؤية الحاسوبية</a:t>
            </a:r>
            <a:endParaRPr lang="ar-SA" sz="2500" dirty="0"/>
          </a:p>
        </p:txBody>
      </p:sp>
      <p:sp>
        <p:nvSpPr>
          <p:cNvPr id="18" name="anim-g1-530"/>
          <p:cNvSpPr/>
          <p:nvPr/>
        </p:nvSpPr>
        <p:spPr>
          <a:xfrm>
            <a:off x="822960" y="3432048"/>
            <a:ext cx="10545775" cy="1228344"/>
          </a:xfrm>
          <a:prstGeom prst="roundRect">
            <a:avLst>
              <a:gd name="adj" fmla="val 11911"/>
            </a:avLst>
          </a:prstGeom>
          <a:solidFill>
            <a:srgbClr val="F7F7F9"/>
          </a:solidFill>
          <a:ln w="19050">
            <a:solidFill>
              <a:srgbClr val="E4DCC8"/>
            </a:solidFill>
            <a:prstDash val="solid"/>
          </a:ln>
        </p:spPr>
      </p:sp>
      <p:sp>
        <p:nvSpPr>
          <p:cNvPr id="19" name="anim-g1-531"/>
          <p:cNvSpPr/>
          <p:nvPr/>
        </p:nvSpPr>
        <p:spPr>
          <a:xfrm>
            <a:off x="10231831" y="3569208"/>
            <a:ext cx="954024" cy="954024"/>
          </a:xfrm>
          <a:prstGeom prst="roundRect">
            <a:avLst>
              <a:gd name="adj" fmla="val 11502"/>
            </a:avLst>
          </a:prstGeom>
          <a:solidFill>
            <a:srgbClr val="A3A9BA"/>
          </a:solidFill>
          <a:ln/>
        </p:spPr>
      </p:sp>
      <p:sp>
        <p:nvSpPr>
          <p:cNvPr id="20" name="anim-g1-532"/>
          <p:cNvSpPr/>
          <p:nvPr/>
        </p:nvSpPr>
        <p:spPr>
          <a:xfrm>
            <a:off x="10231831" y="3569208"/>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21" name="anim-g1-533"/>
          <p:cNvSpPr/>
          <p:nvPr/>
        </p:nvSpPr>
        <p:spPr>
          <a:xfrm>
            <a:off x="1097280" y="3468624"/>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8A90A3"/>
                </a:solidFill>
                <a:latin typeface="Cairo" pitchFamily="34" charset="0"/>
                <a:ea typeface="Cairo" pitchFamily="34" charset="-122"/>
                <a:cs typeface="Cairo" pitchFamily="34" charset="-120"/>
              </a:rPr>
              <a:t>لا تستخدم الرؤية الحاسوبية</a:t>
            </a:r>
            <a:endParaRPr lang="ar-SA" sz="2400" dirty="0"/>
          </a:p>
        </p:txBody>
      </p:sp>
      <p:sp>
        <p:nvSpPr>
          <p:cNvPr id="22" name="anim-g1-534"/>
          <p:cNvSpPr/>
          <p:nvPr/>
        </p:nvSpPr>
        <p:spPr>
          <a:xfrm>
            <a:off x="1097280" y="4095354"/>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بل هي أساس المشروع</a:t>
            </a:r>
            <a:endParaRPr lang="ar-SA" sz="1800" dirty="0"/>
          </a:p>
        </p:txBody>
      </p:sp>
      <p:sp>
        <p:nvSpPr>
          <p:cNvPr id="23" name="Shape 21"/>
          <p:cNvSpPr/>
          <p:nvPr/>
        </p:nvSpPr>
        <p:spPr>
          <a:xfrm>
            <a:off x="822960" y="4806696"/>
            <a:ext cx="10545775" cy="1228344"/>
          </a:xfrm>
          <a:prstGeom prst="roundRect">
            <a:avLst>
              <a:gd name="adj" fmla="val 11911"/>
            </a:avLst>
          </a:prstGeom>
          <a:solidFill>
            <a:srgbClr val="FFFFFF"/>
          </a:solidFill>
          <a:ln w="19050">
            <a:solidFill>
              <a:srgbClr val="E4DCC8"/>
            </a:solidFill>
            <a:prstDash val="solid"/>
          </a:ln>
        </p:spPr>
      </p:sp>
      <p:sp>
        <p:nvSpPr>
          <p:cNvPr id="24" name="Shape 22"/>
          <p:cNvSpPr/>
          <p:nvPr/>
        </p:nvSpPr>
        <p:spPr>
          <a:xfrm>
            <a:off x="10231831" y="4943856"/>
            <a:ext cx="954024" cy="954024"/>
          </a:xfrm>
          <a:prstGeom prst="roundRect">
            <a:avLst>
              <a:gd name="adj" fmla="val 11502"/>
            </a:avLst>
          </a:prstGeom>
          <a:solidFill>
            <a:srgbClr val="101B45"/>
          </a:solidFill>
          <a:ln/>
        </p:spPr>
      </p:sp>
      <p:sp>
        <p:nvSpPr>
          <p:cNvPr id="25" name="Text 23"/>
          <p:cNvSpPr/>
          <p:nvPr/>
        </p:nvSpPr>
        <p:spPr>
          <a:xfrm>
            <a:off x="10231831" y="4943856"/>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26" name="Text 24"/>
          <p:cNvSpPr/>
          <p:nvPr/>
        </p:nvSpPr>
        <p:spPr>
          <a:xfrm>
            <a:off x="1097280" y="4806696"/>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تحقق بالتشخيص الفعلي ولا تفترض، حتى لو المصدر شائع</a:t>
            </a:r>
            <a:endParaRPr lang="ar-SA" sz="2500" dirty="0"/>
          </a:p>
        </p:txBody>
      </p:sp>
      <p:sp>
        <p:nvSpPr>
          <p:cNvPr id="27" name="anim-g1-535"/>
          <p:cNvSpPr/>
          <p:nvPr/>
        </p:nvSpPr>
        <p:spPr>
          <a:xfrm>
            <a:off x="822960" y="4806696"/>
            <a:ext cx="10545775" cy="1228344"/>
          </a:xfrm>
          <a:prstGeom prst="roundRect">
            <a:avLst>
              <a:gd name="adj" fmla="val 11911"/>
            </a:avLst>
          </a:prstGeom>
          <a:solidFill>
            <a:srgbClr val="E6F4EC"/>
          </a:solidFill>
          <a:ln w="31750">
            <a:solidFill>
              <a:srgbClr val="2E9E6B"/>
            </a:solidFill>
            <a:prstDash val="solid"/>
          </a:ln>
        </p:spPr>
      </p:sp>
      <p:sp>
        <p:nvSpPr>
          <p:cNvPr id="28" name="anim-g1-536"/>
          <p:cNvSpPr/>
          <p:nvPr/>
        </p:nvSpPr>
        <p:spPr>
          <a:xfrm>
            <a:off x="10231831" y="4943856"/>
            <a:ext cx="954024" cy="954024"/>
          </a:xfrm>
          <a:prstGeom prst="roundRect">
            <a:avLst>
              <a:gd name="adj" fmla="val 11502"/>
            </a:avLst>
          </a:prstGeom>
          <a:solidFill>
            <a:srgbClr val="2E9E6B"/>
          </a:solidFill>
          <a:ln/>
        </p:spPr>
      </p:sp>
      <p:sp>
        <p:nvSpPr>
          <p:cNvPr id="29" name="anim-g1-537"/>
          <p:cNvSpPr/>
          <p:nvPr/>
        </p:nvSpPr>
        <p:spPr>
          <a:xfrm>
            <a:off x="10231831" y="4943856"/>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a:t>
            </a:r>
            <a:endParaRPr lang="ar-SA" sz="2400" dirty="0"/>
          </a:p>
        </p:txBody>
      </p:sp>
      <p:sp>
        <p:nvSpPr>
          <p:cNvPr id="30" name="anim-g1-538"/>
          <p:cNvSpPr/>
          <p:nvPr/>
        </p:nvSpPr>
        <p:spPr>
          <a:xfrm>
            <a:off x="1097280" y="4843272"/>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131B34"/>
                </a:solidFill>
                <a:latin typeface="Cairo" pitchFamily="34" charset="0"/>
                <a:ea typeface="Cairo" pitchFamily="34" charset="-122"/>
                <a:cs typeface="Cairo" pitchFamily="34" charset="-120"/>
              </a:rPr>
              <a:t>تحقق بالتشخيص الفعلي ولا تفترض، حتى لو المصدر شائع</a:t>
            </a:r>
            <a:endParaRPr lang="ar-SA" sz="2400" dirty="0"/>
          </a:p>
        </p:txBody>
      </p:sp>
      <p:sp>
        <p:nvSpPr>
          <p:cNvPr id="31" name="anim-g1-539"/>
          <p:cNvSpPr/>
          <p:nvPr/>
        </p:nvSpPr>
        <p:spPr>
          <a:xfrm>
            <a:off x="1097280" y="5470002"/>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1D5E40"/>
                </a:solidFill>
                <a:latin typeface="Cairo" pitchFamily="34" charset="0"/>
                <a:ea typeface="Cairo" pitchFamily="34" charset="-122"/>
                <a:cs typeface="Cairo" pitchFamily="34" charset="-120"/>
              </a:rPr>
              <a:t>صحيح: اطبع الإحداثيات الخام وانظر بعينك</a:t>
            </a:r>
            <a:endParaRPr lang="ar-SA" sz="1800" dirty="0"/>
          </a:p>
        </p:txBody>
      </p:sp>
      <p:sp>
        <p:nvSpPr>
          <p:cNvPr id="32" name="Text 3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33" name="Text 3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تتبع العين  ·  ٧١</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Lst>
  </p:timing>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Image 0" descr="C:\Users\user\projects\younes-training\turath\.pptx-cache\s72.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خلاصة المحور</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نقطة سوداء صغيرة تتحرك داخل العين…</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تكفي لتدير قصرًا عمره أكثر من مئة وخمسين عامًا</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لمسة تراث</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 تتبع العين  ·  ٧٣</a:t>
            </a:r>
            <a:endParaRPr lang="ar-SA" sz="12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097280" y="2103120"/>
            <a:ext cx="2651760" cy="2651760"/>
          </a:xfrm>
          <a:prstGeom prst="ellipse">
            <a:avLst/>
          </a:prstGeom>
          <a:solidFill>
            <a:srgbClr val="D9AE4B">
              <a:alpha val="12000"/>
            </a:srgbClr>
          </a:solidFill>
          <a:ln w="63500">
            <a:solidFill>
              <a:srgbClr val="D9AE4B">
                <a:alpha val="60000"/>
              </a:srgbClr>
            </a:solidFill>
            <a:prstDash val="solid"/>
          </a:ln>
        </p:spPr>
      </p:sp>
      <p:sp>
        <p:nvSpPr>
          <p:cNvPr id="3" name="Text 1"/>
          <p:cNvSpPr/>
          <p:nvPr/>
        </p:nvSpPr>
        <p:spPr>
          <a:xfrm>
            <a:off x="1097280" y="2103120"/>
            <a:ext cx="2651760" cy="2651760"/>
          </a:xfrm>
          <a:prstGeom prst="rect">
            <a:avLst/>
          </a:prstGeom>
          <a:noFill/>
          <a:ln/>
        </p:spPr>
        <p:txBody>
          <a:bodyPr wrap="square" lIns="0" tIns="0" rIns="0" bIns="0" rtlCol="0" anchor="ctr">
            <a:normAutofit/>
          </a:bodyPr>
          <a:lstStyle/>
          <a:p>
            <a:pPr rtl="1" algn="ctr" indent="0" marL="0">
              <a:buNone/>
            </a:pPr>
            <a:r>
              <a:rPr lang="ar-SA" altLang="en-US" sz="12000" dirty="0">
                <a:solidFill>
                  <a:srgbClr val="F0CC7A"/>
                </a:solidFill>
                <a:latin typeface="Cairo Black" pitchFamily="34" charset="0"/>
                <a:ea typeface="Cairo Black" pitchFamily="34" charset="-122"/>
                <a:cs typeface="Cairo Black" pitchFamily="34" charset="-120"/>
              </a:rPr>
              <a:t>٨</a:t>
            </a:r>
            <a:endParaRPr lang="ar-SA" sz="12000" dirty="0"/>
          </a:p>
        </p:txBody>
      </p:sp>
      <p:sp>
        <p:nvSpPr>
          <p:cNvPr id="4" name="Text 2"/>
          <p:cNvSpPr/>
          <p:nvPr/>
        </p:nvSpPr>
        <p:spPr>
          <a:xfrm>
            <a:off x="4206240" y="1828800"/>
            <a:ext cx="7162495" cy="457200"/>
          </a:xfrm>
          <a:prstGeom prst="rect">
            <a:avLst/>
          </a:prstGeom>
          <a:noFill/>
          <a:ln/>
        </p:spPr>
        <p:txBody>
          <a:bodyPr wrap="square" lIns="0" tIns="0" rIns="0" bIns="0" rtlCol="0" anchor="ctr">
            <a:normAutofit/>
          </a:bodyPr>
          <a:lstStyle/>
          <a:p>
            <a:pPr rtl="1" algn="r" indent="0" marL="0">
              <a:buNone/>
            </a:pPr>
            <a:r>
              <a:rPr lang="ar-SA" altLang="en-US" sz="2000" b="1" dirty="0">
                <a:solidFill>
                  <a:srgbClr val="D9AE4B"/>
                </a:solidFill>
                <a:latin typeface="Cairo" pitchFamily="34" charset="0"/>
                <a:ea typeface="Cairo" pitchFamily="34" charset="-122"/>
                <a:cs typeface="Cairo" pitchFamily="34" charset="-120"/>
              </a:rPr>
              <a:t>المحور ٨</a:t>
            </a:r>
            <a:endParaRPr lang="ar-SA" sz="2000" dirty="0"/>
          </a:p>
        </p:txBody>
      </p:sp>
      <p:sp>
        <p:nvSpPr>
          <p:cNvPr id="5" name="Text 3"/>
          <p:cNvSpPr/>
          <p:nvPr/>
        </p:nvSpPr>
        <p:spPr>
          <a:xfrm>
            <a:off x="4206240" y="2286000"/>
            <a:ext cx="7162495" cy="1371600"/>
          </a:xfrm>
          <a:prstGeom prst="rect">
            <a:avLst/>
          </a:prstGeom>
          <a:noFill/>
          <a:ln/>
        </p:spPr>
        <p:txBody>
          <a:bodyPr wrap="square" lIns="0" tIns="0" rIns="0" bIns="0" rtlCol="0" anchor="ctr">
            <a:normAutofit/>
          </a:bodyPr>
          <a:lstStyle/>
          <a:p>
            <a:pPr rtl="1" algn="r" indent="0" marL="0">
              <a:buNone/>
            </a:pPr>
            <a:r>
              <a:rPr lang="ar-SA" altLang="en-US" sz="5600" dirty="0">
                <a:solidFill>
                  <a:srgbClr val="FFFFFF"/>
                </a:solidFill>
                <a:latin typeface="Cairo Black" pitchFamily="34" charset="0"/>
                <a:ea typeface="Cairo Black" pitchFamily="34" charset="-122"/>
                <a:cs typeface="Cairo Black" pitchFamily="34" charset="-120"/>
              </a:rPr>
              <a:t>🦽 الجولة الكاملة</a:t>
            </a:r>
            <a:endParaRPr lang="ar-SA" sz="5600" dirty="0"/>
          </a:p>
        </p:txBody>
      </p:sp>
      <p:sp>
        <p:nvSpPr>
          <p:cNvPr id="6" name="Text 4"/>
          <p:cNvSpPr/>
          <p:nvPr/>
        </p:nvSpPr>
        <p:spPr>
          <a:xfrm>
            <a:off x="4206240" y="3749040"/>
            <a:ext cx="7162495" cy="822960"/>
          </a:xfrm>
          <a:prstGeom prst="rect">
            <a:avLst/>
          </a:prstGeom>
          <a:noFill/>
          <a:ln/>
        </p:spPr>
        <p:txBody>
          <a:bodyPr wrap="square" lIns="0" tIns="0" rIns="0" bIns="0" rtlCol="0" anchor="ctr">
            <a:normAutofit/>
          </a:bodyPr>
          <a:lstStyle/>
          <a:p>
            <a:pPr rtl="1" algn="r" indent="0" marL="0">
              <a:buNone/>
            </a:pPr>
            <a:r>
              <a:rPr lang="ar-SA" altLang="en-US" sz="2200" b="1" dirty="0">
                <a:solidFill>
                  <a:srgbClr val="C9CFE6"/>
                </a:solidFill>
                <a:latin typeface="Cairo" pitchFamily="34" charset="0"/>
                <a:ea typeface="Cairo" pitchFamily="34" charset="-122"/>
                <a:cs typeface="Cairo" pitchFamily="34" charset="-120"/>
              </a:rPr>
              <a:t>من الكرسي المتحرك… إلى ملخص الزيارة</a:t>
            </a:r>
            <a:endParaRPr lang="ar-SA" sz="2200" dirty="0"/>
          </a:p>
        </p:txBody>
      </p:sp>
      <p:sp>
        <p:nvSpPr>
          <p:cNvPr id="7" name="Text 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لمسة تراث</a:t>
            </a:r>
            <a:endParaRPr lang="ar-SA" sz="1200" dirty="0"/>
          </a:p>
        </p:txBody>
      </p:sp>
      <p:sp>
        <p:nvSpPr>
          <p:cNvPr id="8" name="Text 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 الجولة الكاملة  ·  ٧٤</a:t>
            </a:r>
            <a:endParaRPr lang="ar-SA" sz="12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248095" y="457200"/>
            <a:ext cx="5120640" cy="457200"/>
          </a:xfrm>
          <a:prstGeom prst="roundRect">
            <a:avLst>
              <a:gd name="adj" fmla="val 50000"/>
            </a:avLst>
          </a:prstGeom>
          <a:solidFill>
            <a:srgbClr val="F6EBCF"/>
          </a:solidFill>
          <a:ln/>
        </p:spPr>
      </p:sp>
      <p:sp>
        <p:nvSpPr>
          <p:cNvPr id="3" name="Text 1"/>
          <p:cNvSpPr/>
          <p:nvPr/>
        </p:nvSpPr>
        <p:spPr>
          <a:xfrm>
            <a:off x="6248095" y="457200"/>
            <a:ext cx="512064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بنهاية هذا المحور تستطيع أن</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أهداف المحور</a:t>
            </a:r>
            <a:endParaRPr lang="ar-SA" sz="3800" dirty="0"/>
          </a:p>
        </p:txBody>
      </p:sp>
      <p:sp>
        <p:nvSpPr>
          <p:cNvPr id="5" name="anim-g1-540"/>
          <p:cNvSpPr/>
          <p:nvPr/>
        </p:nvSpPr>
        <p:spPr>
          <a:xfrm>
            <a:off x="822960" y="1920240"/>
            <a:ext cx="10545775" cy="1298448"/>
          </a:xfrm>
          <a:prstGeom prst="roundRect">
            <a:avLst>
              <a:gd name="adj" fmla="val 11268"/>
            </a:avLst>
          </a:prstGeom>
          <a:solidFill>
            <a:srgbClr val="FFFFFF"/>
          </a:solidFill>
          <a:ln w="12700">
            <a:solidFill>
              <a:srgbClr val="E4DCC8"/>
            </a:solidFill>
            <a:prstDash val="solid"/>
          </a:ln>
        </p:spPr>
      </p:sp>
      <p:sp>
        <p:nvSpPr>
          <p:cNvPr id="6" name="anim-g1-541"/>
          <p:cNvSpPr/>
          <p:nvPr/>
        </p:nvSpPr>
        <p:spPr>
          <a:xfrm>
            <a:off x="10573207" y="2286000"/>
            <a:ext cx="566928" cy="566928"/>
          </a:xfrm>
          <a:prstGeom prst="ellipse">
            <a:avLst/>
          </a:prstGeom>
          <a:solidFill>
            <a:srgbClr val="D9AE4B"/>
          </a:solidFill>
          <a:ln/>
        </p:spPr>
      </p:sp>
      <p:sp>
        <p:nvSpPr>
          <p:cNvPr id="7" name="anim-g1-542"/>
          <p:cNvSpPr/>
          <p:nvPr/>
        </p:nvSpPr>
        <p:spPr>
          <a:xfrm>
            <a:off x="10573207" y="2286000"/>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١</a:t>
            </a:r>
            <a:endParaRPr lang="ar-SA" sz="2000" dirty="0"/>
          </a:p>
        </p:txBody>
      </p:sp>
      <p:sp>
        <p:nvSpPr>
          <p:cNvPr id="8" name="anim-g1-543"/>
          <p:cNvSpPr/>
          <p:nvPr/>
        </p:nvSpPr>
        <p:spPr>
          <a:xfrm>
            <a:off x="1097280" y="1920240"/>
            <a:ext cx="9247327" cy="1298448"/>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تتبع تجربة الزائر من الترحيب حتى الختام</a:t>
            </a:r>
            <a:endParaRPr lang="ar-SA" sz="2400" dirty="0"/>
          </a:p>
        </p:txBody>
      </p:sp>
      <p:sp>
        <p:nvSpPr>
          <p:cNvPr id="9" name="anim-g2-544"/>
          <p:cNvSpPr/>
          <p:nvPr/>
        </p:nvSpPr>
        <p:spPr>
          <a:xfrm>
            <a:off x="822960" y="3328416"/>
            <a:ext cx="10545775" cy="1298448"/>
          </a:xfrm>
          <a:prstGeom prst="roundRect">
            <a:avLst>
              <a:gd name="adj" fmla="val 11268"/>
            </a:avLst>
          </a:prstGeom>
          <a:solidFill>
            <a:srgbClr val="FFFFFF"/>
          </a:solidFill>
          <a:ln w="12700">
            <a:solidFill>
              <a:srgbClr val="E4DCC8"/>
            </a:solidFill>
            <a:prstDash val="solid"/>
          </a:ln>
        </p:spPr>
      </p:sp>
      <p:sp>
        <p:nvSpPr>
          <p:cNvPr id="10" name="anim-g2-545"/>
          <p:cNvSpPr/>
          <p:nvPr/>
        </p:nvSpPr>
        <p:spPr>
          <a:xfrm>
            <a:off x="10573207" y="3694176"/>
            <a:ext cx="566928" cy="566928"/>
          </a:xfrm>
          <a:prstGeom prst="ellipse">
            <a:avLst/>
          </a:prstGeom>
          <a:solidFill>
            <a:srgbClr val="D9AE4B"/>
          </a:solidFill>
          <a:ln/>
        </p:spPr>
      </p:sp>
      <p:sp>
        <p:nvSpPr>
          <p:cNvPr id="11" name="anim-g2-546"/>
          <p:cNvSpPr/>
          <p:nvPr/>
        </p:nvSpPr>
        <p:spPr>
          <a:xfrm>
            <a:off x="10573207" y="3694176"/>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٢</a:t>
            </a:r>
            <a:endParaRPr lang="ar-SA" sz="2000" dirty="0"/>
          </a:p>
        </p:txBody>
      </p:sp>
      <p:sp>
        <p:nvSpPr>
          <p:cNvPr id="12" name="anim-g2-547"/>
          <p:cNvSpPr/>
          <p:nvPr/>
        </p:nvSpPr>
        <p:spPr>
          <a:xfrm>
            <a:off x="1097280" y="3328416"/>
            <a:ext cx="9247327" cy="1298448"/>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تشرح وضعي الكرسي: القيادة والاستكشاف</a:t>
            </a:r>
            <a:endParaRPr lang="ar-SA" sz="2400" dirty="0"/>
          </a:p>
        </p:txBody>
      </p:sp>
      <p:sp>
        <p:nvSpPr>
          <p:cNvPr id="13" name="anim-g3-548"/>
          <p:cNvSpPr/>
          <p:nvPr/>
        </p:nvSpPr>
        <p:spPr>
          <a:xfrm>
            <a:off x="822960" y="4736592"/>
            <a:ext cx="10545775" cy="1298448"/>
          </a:xfrm>
          <a:prstGeom prst="roundRect">
            <a:avLst>
              <a:gd name="adj" fmla="val 11268"/>
            </a:avLst>
          </a:prstGeom>
          <a:solidFill>
            <a:srgbClr val="FFFFFF"/>
          </a:solidFill>
          <a:ln w="12700">
            <a:solidFill>
              <a:srgbClr val="E4DCC8"/>
            </a:solidFill>
            <a:prstDash val="solid"/>
          </a:ln>
        </p:spPr>
      </p:sp>
      <p:sp>
        <p:nvSpPr>
          <p:cNvPr id="14" name="anim-g3-549"/>
          <p:cNvSpPr/>
          <p:nvPr/>
        </p:nvSpPr>
        <p:spPr>
          <a:xfrm>
            <a:off x="10573207" y="5102352"/>
            <a:ext cx="566928" cy="566928"/>
          </a:xfrm>
          <a:prstGeom prst="ellipse">
            <a:avLst/>
          </a:prstGeom>
          <a:solidFill>
            <a:srgbClr val="D9AE4B"/>
          </a:solidFill>
          <a:ln/>
        </p:spPr>
      </p:sp>
      <p:sp>
        <p:nvSpPr>
          <p:cNvPr id="15" name="anim-g3-550"/>
          <p:cNvSpPr/>
          <p:nvPr/>
        </p:nvSpPr>
        <p:spPr>
          <a:xfrm>
            <a:off x="10573207" y="5102352"/>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٣</a:t>
            </a:r>
            <a:endParaRPr lang="ar-SA" sz="2000" dirty="0"/>
          </a:p>
        </p:txBody>
      </p:sp>
      <p:sp>
        <p:nvSpPr>
          <p:cNvPr id="16" name="anim-g3-551"/>
          <p:cNvSpPr/>
          <p:nvPr/>
        </p:nvSpPr>
        <p:spPr>
          <a:xfrm>
            <a:off x="1097280" y="4736592"/>
            <a:ext cx="9247327" cy="1298448"/>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تصمم «قياس الاهتمام» قرارًا مستقلًا مبنيًا على البيانات</a:t>
            </a:r>
            <a:endParaRPr lang="ar-SA" sz="2400" dirty="0"/>
          </a:p>
        </p:txBody>
      </p:sp>
      <p:sp>
        <p:nvSpPr>
          <p:cNvPr id="17" name="Text 1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18" name="Text 1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الجولة الكاملة  ·  ٧٥</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76.xml><?xml version="1.0" encoding="utf-8"?>
<p:sld xmlns:a="http://schemas.openxmlformats.org/drawingml/2006/main" xmlns:r="http://schemas.openxmlformats.org/officeDocument/2006/relationships" xmlns:p="http://schemas.openxmlformats.org/presentationml/2006/main">
  <p:cSld name="Slide 7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588959" y="457200"/>
            <a:ext cx="2779776" cy="457200"/>
          </a:xfrm>
          <a:prstGeom prst="roundRect">
            <a:avLst>
              <a:gd name="adj" fmla="val 50000"/>
            </a:avLst>
          </a:prstGeom>
          <a:solidFill>
            <a:srgbClr val="F6EBCF"/>
          </a:solidFill>
          <a:ln/>
        </p:spPr>
      </p:sp>
      <p:sp>
        <p:nvSpPr>
          <p:cNvPr id="3" name="Text 1"/>
          <p:cNvSpPr/>
          <p:nvPr/>
        </p:nvSpPr>
        <p:spPr>
          <a:xfrm>
            <a:off x="8588959" y="457200"/>
            <a:ext cx="277977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الكرسي المتحرك</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LEGO SPIKE Prime… لزائر بشلل رباعي</a:t>
            </a:r>
            <a:endParaRPr lang="ar-SA" sz="3200" dirty="0"/>
          </a:p>
        </p:txBody>
      </p:sp>
      <p:sp>
        <p:nvSpPr>
          <p:cNvPr id="5" name="anim-g1-552"/>
          <p:cNvSpPr/>
          <p:nvPr/>
        </p:nvSpPr>
        <p:spPr>
          <a:xfrm>
            <a:off x="8036357"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553"/>
          <p:cNvSpPr/>
          <p:nvPr/>
        </p:nvSpPr>
        <p:spPr>
          <a:xfrm>
            <a:off x="10527487" y="2267712"/>
            <a:ext cx="566928" cy="566928"/>
          </a:xfrm>
          <a:prstGeom prst="roundRect">
            <a:avLst>
              <a:gd name="adj" fmla="val 32258"/>
            </a:avLst>
          </a:prstGeom>
          <a:solidFill>
            <a:srgbClr val="F7E6BC"/>
          </a:solidFill>
          <a:ln/>
        </p:spPr>
      </p:sp>
      <p:sp>
        <p:nvSpPr>
          <p:cNvPr id="7" name="anim-g1-554"/>
          <p:cNvSpPr/>
          <p:nvPr/>
        </p:nvSpPr>
        <p:spPr>
          <a:xfrm>
            <a:off x="10527487"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555"/>
          <p:cNvSpPr/>
          <p:nvPr/>
        </p:nvSpPr>
        <p:spPr>
          <a:xfrm>
            <a:off x="8310677"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مبني بالكامل من LEGO</a:t>
            </a:r>
            <a:endParaRPr lang="ar-SA" sz="2200" dirty="0"/>
          </a:p>
        </p:txBody>
      </p:sp>
      <p:sp>
        <p:nvSpPr>
          <p:cNvPr id="9" name="anim-g1-556"/>
          <p:cNvSpPr/>
          <p:nvPr/>
        </p:nvSpPr>
        <p:spPr>
          <a:xfrm>
            <a:off x="8310677"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مكعبات تعليمية ووحدة SPIKE Prime الذكية، بمحركات فعلية</a:t>
            </a:r>
            <a:endParaRPr lang="ar-SA" sz="1900" dirty="0"/>
          </a:p>
        </p:txBody>
      </p:sp>
      <p:sp>
        <p:nvSpPr>
          <p:cNvPr id="10" name="anim-g2-557"/>
          <p:cNvSpPr/>
          <p:nvPr/>
        </p:nvSpPr>
        <p:spPr>
          <a:xfrm>
            <a:off x="4429658"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558"/>
          <p:cNvSpPr/>
          <p:nvPr/>
        </p:nvSpPr>
        <p:spPr>
          <a:xfrm>
            <a:off x="6920789" y="2267712"/>
            <a:ext cx="566928" cy="566928"/>
          </a:xfrm>
          <a:prstGeom prst="roundRect">
            <a:avLst>
              <a:gd name="adj" fmla="val 32258"/>
            </a:avLst>
          </a:prstGeom>
          <a:solidFill>
            <a:srgbClr val="F7E6BC"/>
          </a:solidFill>
          <a:ln/>
        </p:spPr>
      </p:sp>
      <p:sp>
        <p:nvSpPr>
          <p:cNvPr id="12" name="anim-g2-559"/>
          <p:cNvSpPr/>
          <p:nvPr/>
        </p:nvSpPr>
        <p:spPr>
          <a:xfrm>
            <a:off x="6920789"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560"/>
          <p:cNvSpPr/>
          <p:nvPr/>
        </p:nvSpPr>
        <p:spPr>
          <a:xfrm>
            <a:off x="4703978"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وضع القيادة</a:t>
            </a:r>
            <a:endParaRPr lang="ar-SA" sz="2200" dirty="0"/>
          </a:p>
        </p:txBody>
      </p:sp>
      <p:sp>
        <p:nvSpPr>
          <p:cNvPr id="14" name="anim-g2-561"/>
          <p:cNvSpPr/>
          <p:nvPr/>
        </p:nvSpPr>
        <p:spPr>
          <a:xfrm>
            <a:off x="4703978"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يحرك الزائر مسافة قصيرة متحكمًا بها حتى محطة المجسّم</a:t>
            </a:r>
            <a:endParaRPr lang="ar-SA" sz="1900" dirty="0"/>
          </a:p>
        </p:txBody>
      </p:sp>
      <p:sp>
        <p:nvSpPr>
          <p:cNvPr id="15" name="anim-g3-562"/>
          <p:cNvSpPr/>
          <p:nvPr/>
        </p:nvSpPr>
        <p:spPr>
          <a:xfrm>
            <a:off x="822960"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563"/>
          <p:cNvSpPr/>
          <p:nvPr/>
        </p:nvSpPr>
        <p:spPr>
          <a:xfrm>
            <a:off x="3314090" y="2267712"/>
            <a:ext cx="566928" cy="566928"/>
          </a:xfrm>
          <a:prstGeom prst="roundRect">
            <a:avLst>
              <a:gd name="adj" fmla="val 32258"/>
            </a:avLst>
          </a:prstGeom>
          <a:solidFill>
            <a:srgbClr val="F7E6BC"/>
          </a:solidFill>
          <a:ln/>
        </p:spPr>
      </p:sp>
      <p:sp>
        <p:nvSpPr>
          <p:cNvPr id="17" name="anim-g3-564"/>
          <p:cNvSpPr/>
          <p:nvPr/>
        </p:nvSpPr>
        <p:spPr>
          <a:xfrm>
            <a:off x="3314090"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565"/>
          <p:cNvSpPr/>
          <p:nvPr/>
        </p:nvSpPr>
        <p:spPr>
          <a:xfrm>
            <a:off x="1097280"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وضع الاستكشاف</a:t>
            </a:r>
            <a:endParaRPr lang="ar-SA" sz="2200" dirty="0"/>
          </a:p>
        </p:txBody>
      </p:sp>
      <p:sp>
        <p:nvSpPr>
          <p:cNvPr id="19" name="anim-g3-566"/>
          <p:cNvSpPr/>
          <p:nvPr/>
        </p:nvSpPr>
        <p:spPr>
          <a:xfrm>
            <a:off x="1097280"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عند الاقتراب ينتقل التحكم تلقائيًا إلى المجسّم نفسه</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الجولة الكاملة  ·  ٧٦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Image 0" descr="C:\Users\user\projects\younes-training\turath\.pptx-cache\s77.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711135" y="457200"/>
            <a:ext cx="3657600" cy="457200"/>
          </a:xfrm>
          <a:prstGeom prst="roundRect">
            <a:avLst>
              <a:gd name="adj" fmla="val 50000"/>
            </a:avLst>
          </a:prstGeom>
          <a:solidFill>
            <a:srgbClr val="F6EBCF"/>
          </a:solidFill>
          <a:ln/>
        </p:spPr>
      </p:sp>
      <p:sp>
        <p:nvSpPr>
          <p:cNvPr id="3" name="Text 1"/>
          <p:cNvSpPr/>
          <p:nvPr/>
        </p:nvSpPr>
        <p:spPr>
          <a:xfrm>
            <a:off x="7711135" y="457200"/>
            <a:ext cx="365760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روبوت يتخذ قرارًا</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قياس الاهتمام: من أداة… إلى نظام يقرر</a:t>
            </a:r>
            <a:endParaRPr lang="ar-SA" sz="3200" dirty="0"/>
          </a:p>
        </p:txBody>
      </p:sp>
      <p:sp>
        <p:nvSpPr>
          <p:cNvPr id="5" name="anim-g1-567"/>
          <p:cNvSpPr/>
          <p:nvPr/>
        </p:nvSpPr>
        <p:spPr>
          <a:xfrm>
            <a:off x="6233008" y="2011680"/>
            <a:ext cx="513572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568"/>
          <p:cNvSpPr/>
          <p:nvPr/>
        </p:nvSpPr>
        <p:spPr>
          <a:xfrm>
            <a:off x="10527487" y="2267712"/>
            <a:ext cx="566928" cy="566928"/>
          </a:xfrm>
          <a:prstGeom prst="roundRect">
            <a:avLst>
              <a:gd name="adj" fmla="val 32258"/>
            </a:avLst>
          </a:prstGeom>
          <a:solidFill>
            <a:srgbClr val="F7E6BC"/>
          </a:solidFill>
          <a:ln/>
        </p:spPr>
      </p:sp>
      <p:sp>
        <p:nvSpPr>
          <p:cNvPr id="7" name="anim-g1-569"/>
          <p:cNvSpPr/>
          <p:nvPr/>
        </p:nvSpPr>
        <p:spPr>
          <a:xfrm>
            <a:off x="10527487"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570"/>
          <p:cNvSpPr/>
          <p:nvPr/>
        </p:nvSpPr>
        <p:spPr>
          <a:xfrm>
            <a:off x="6507328" y="2944368"/>
            <a:ext cx="458708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البيانات</a:t>
            </a:r>
            <a:endParaRPr lang="ar-SA" sz="2200" dirty="0"/>
          </a:p>
        </p:txBody>
      </p:sp>
      <p:sp>
        <p:nvSpPr>
          <p:cNvPr id="9" name="anim-g1-571"/>
          <p:cNvSpPr/>
          <p:nvPr/>
        </p:nvSpPr>
        <p:spPr>
          <a:xfrm>
            <a:off x="6507328" y="3493008"/>
            <a:ext cx="458708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كم ثانية ثبّت الزائر نظره على كل جهة؟ وهل بقي حتى بعد انتهاء الفيديو؟</a:t>
            </a:r>
            <a:endParaRPr lang="ar-SA" sz="1900" dirty="0"/>
          </a:p>
        </p:txBody>
      </p:sp>
      <p:sp>
        <p:nvSpPr>
          <p:cNvPr id="10" name="anim-g2-572"/>
          <p:cNvSpPr/>
          <p:nvPr/>
        </p:nvSpPr>
        <p:spPr>
          <a:xfrm>
            <a:off x="822960" y="2011680"/>
            <a:ext cx="513572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573"/>
          <p:cNvSpPr/>
          <p:nvPr/>
        </p:nvSpPr>
        <p:spPr>
          <a:xfrm>
            <a:off x="5117440" y="2267712"/>
            <a:ext cx="566928" cy="566928"/>
          </a:xfrm>
          <a:prstGeom prst="roundRect">
            <a:avLst>
              <a:gd name="adj" fmla="val 32258"/>
            </a:avLst>
          </a:prstGeom>
          <a:solidFill>
            <a:srgbClr val="F7E6BC"/>
          </a:solidFill>
          <a:ln/>
        </p:spPr>
      </p:sp>
      <p:sp>
        <p:nvSpPr>
          <p:cNvPr id="12" name="anim-g2-574"/>
          <p:cNvSpPr/>
          <p:nvPr/>
        </p:nvSpPr>
        <p:spPr>
          <a:xfrm>
            <a:off x="5117440"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575"/>
          <p:cNvSpPr/>
          <p:nvPr/>
        </p:nvSpPr>
        <p:spPr>
          <a:xfrm>
            <a:off x="1097280" y="2944368"/>
            <a:ext cx="458708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القرار</a:t>
            </a:r>
            <a:endParaRPr lang="ar-SA" sz="2200" dirty="0"/>
          </a:p>
        </p:txBody>
      </p:sp>
      <p:sp>
        <p:nvSpPr>
          <p:cNvPr id="14" name="anim-g2-576"/>
          <p:cNvSpPr/>
          <p:nvPr/>
        </p:nvSpPr>
        <p:spPr>
          <a:xfrm>
            <a:off x="1097280" y="3493008"/>
            <a:ext cx="458708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اهتمام طويل وعميق؟ النظام يقرر وحده مكافأته بنمط إضاءة احتفالي</a:t>
            </a:r>
            <a:endParaRPr lang="ar-SA" sz="1900" dirty="0"/>
          </a:p>
        </p:txBody>
      </p:sp>
      <p:sp>
        <p:nvSpPr>
          <p:cNvPr id="15" name="anim-g3-577"/>
          <p:cNvSpPr/>
          <p:nvPr/>
        </p:nvSpPr>
        <p:spPr>
          <a:xfrm>
            <a:off x="6233008" y="4137660"/>
            <a:ext cx="513572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578"/>
          <p:cNvSpPr/>
          <p:nvPr/>
        </p:nvSpPr>
        <p:spPr>
          <a:xfrm>
            <a:off x="10527487" y="4393692"/>
            <a:ext cx="566928" cy="566928"/>
          </a:xfrm>
          <a:prstGeom prst="roundRect">
            <a:avLst>
              <a:gd name="adj" fmla="val 32258"/>
            </a:avLst>
          </a:prstGeom>
          <a:solidFill>
            <a:srgbClr val="F7E6BC"/>
          </a:solidFill>
          <a:ln/>
        </p:spPr>
      </p:sp>
      <p:sp>
        <p:nvSpPr>
          <p:cNvPr id="17" name="anim-g3-579"/>
          <p:cNvSpPr/>
          <p:nvPr/>
        </p:nvSpPr>
        <p:spPr>
          <a:xfrm>
            <a:off x="10527487" y="439369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580"/>
          <p:cNvSpPr/>
          <p:nvPr/>
        </p:nvSpPr>
        <p:spPr>
          <a:xfrm>
            <a:off x="6507328" y="5070348"/>
            <a:ext cx="458708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ملخص الجولة</a:t>
            </a:r>
            <a:endParaRPr lang="ar-SA" sz="2200" dirty="0"/>
          </a:p>
        </p:txBody>
      </p:sp>
      <p:sp>
        <p:nvSpPr>
          <p:cNvPr id="19" name="anim-g3-581"/>
          <p:cNvSpPr/>
          <p:nvPr/>
        </p:nvSpPr>
        <p:spPr>
          <a:xfrm>
            <a:off x="6507328" y="5618988"/>
            <a:ext cx="458708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في الختام: «أكثر ما شدّك كان…» بدل أن تنتهي التجربة فجأة</a:t>
            </a:r>
            <a:endParaRPr lang="ar-SA" sz="1900" dirty="0"/>
          </a:p>
        </p:txBody>
      </p:sp>
      <p:sp>
        <p:nvSpPr>
          <p:cNvPr id="20" name="anim-g4-582"/>
          <p:cNvSpPr/>
          <p:nvPr/>
        </p:nvSpPr>
        <p:spPr>
          <a:xfrm>
            <a:off x="822960" y="4137660"/>
            <a:ext cx="513572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21" name="anim-g4-583"/>
          <p:cNvSpPr/>
          <p:nvPr/>
        </p:nvSpPr>
        <p:spPr>
          <a:xfrm>
            <a:off x="5117440" y="4393692"/>
            <a:ext cx="566928" cy="566928"/>
          </a:xfrm>
          <a:prstGeom prst="roundRect">
            <a:avLst>
              <a:gd name="adj" fmla="val 32258"/>
            </a:avLst>
          </a:prstGeom>
          <a:solidFill>
            <a:srgbClr val="F7E6BC"/>
          </a:solidFill>
          <a:ln/>
        </p:spPr>
      </p:sp>
      <p:sp>
        <p:nvSpPr>
          <p:cNvPr id="22" name="anim-g4-584"/>
          <p:cNvSpPr/>
          <p:nvPr/>
        </p:nvSpPr>
        <p:spPr>
          <a:xfrm>
            <a:off x="5117440" y="439369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23" name="anim-g4-585"/>
          <p:cNvSpPr/>
          <p:nvPr/>
        </p:nvSpPr>
        <p:spPr>
          <a:xfrm>
            <a:off x="1097280" y="5070348"/>
            <a:ext cx="458708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لماذا يهم؟</a:t>
            </a:r>
            <a:endParaRPr lang="ar-SA" sz="2200" dirty="0"/>
          </a:p>
        </p:txBody>
      </p:sp>
      <p:sp>
        <p:nvSpPr>
          <p:cNvPr id="24" name="anim-g4-586"/>
          <p:cNvSpPr/>
          <p:nvPr/>
        </p:nvSpPr>
        <p:spPr>
          <a:xfrm>
            <a:off x="1097280" y="5618988"/>
            <a:ext cx="458708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قرار مستقل مبني على بيانات لحظية: شرط الاستقلالية في مسابقات الروبوت</a:t>
            </a:r>
            <a:endParaRPr lang="ar-SA" sz="1900" dirty="0"/>
          </a:p>
        </p:txBody>
      </p:sp>
      <p:sp>
        <p:nvSpPr>
          <p:cNvPr id="25" name="Text 2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6" name="Text 2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الجولة الكاملة  ·  ٧٨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79.xml><?xml version="1.0" encoding="utf-8"?>
<p:sld xmlns:a="http://schemas.openxmlformats.org/drawingml/2006/main" xmlns:r="http://schemas.openxmlformats.org/officeDocument/2006/relationships" xmlns:p="http://schemas.openxmlformats.org/presentationml/2006/main">
  <p:cSld name="Slide 7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003743" y="457200"/>
            <a:ext cx="3364992" cy="457200"/>
          </a:xfrm>
          <a:prstGeom prst="roundRect">
            <a:avLst>
              <a:gd name="adj" fmla="val 50000"/>
            </a:avLst>
          </a:prstGeom>
          <a:solidFill>
            <a:srgbClr val="F6EBCF"/>
          </a:solidFill>
          <a:ln/>
        </p:spPr>
      </p:sp>
      <p:sp>
        <p:nvSpPr>
          <p:cNvPr id="3" name="Text 1"/>
          <p:cNvSpPr/>
          <p:nvPr/>
        </p:nvSpPr>
        <p:spPr>
          <a:xfrm>
            <a:off x="8003743" y="457200"/>
            <a:ext cx="3364992"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منهجية الاختبار</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كل جزء وحده… ثم الكل معًا</a:t>
            </a:r>
            <a:endParaRPr lang="ar-SA" sz="3800" dirty="0"/>
          </a:p>
        </p:txBody>
      </p:sp>
      <p:sp>
        <p:nvSpPr>
          <p:cNvPr id="5" name="Shape 3"/>
          <p:cNvSpPr/>
          <p:nvPr/>
        </p:nvSpPr>
        <p:spPr>
          <a:xfrm>
            <a:off x="7354871" y="1874520"/>
            <a:ext cx="4013864" cy="548640"/>
          </a:xfrm>
          <a:prstGeom prst="roundRect">
            <a:avLst>
              <a:gd name="adj" fmla="val 20000"/>
            </a:avLst>
          </a:prstGeom>
          <a:solidFill>
            <a:srgbClr val="101B45"/>
          </a:solidFill>
          <a:ln/>
        </p:spPr>
      </p:sp>
      <p:sp>
        <p:nvSpPr>
          <p:cNvPr id="6" name="Text 4"/>
          <p:cNvSpPr/>
          <p:nvPr/>
        </p:nvSpPr>
        <p:spPr>
          <a:xfrm>
            <a:off x="7354871" y="1874520"/>
            <a:ext cx="4013864" cy="548640"/>
          </a:xfrm>
          <a:prstGeom prst="rect">
            <a:avLst/>
          </a:prstGeom>
          <a:noFill/>
          <a:ln/>
        </p:spPr>
        <p:txBody>
          <a:bodyPr wrap="square" lIns="0" tIns="0" rIns="0" bIns="0" rtlCol="0" anchor="ctr">
            <a:normAutofit/>
          </a:bodyPr>
          <a:lstStyle/>
          <a:p>
            <a:pPr rtl="1" algn="ctr" indent="0" marL="0">
              <a:buNone/>
            </a:pPr>
            <a:r>
              <a:rPr lang="ar-SA" altLang="en-US" sz="1900" dirty="0">
                <a:solidFill>
                  <a:srgbClr val="FFFFFF"/>
                </a:solidFill>
                <a:latin typeface="Cairo Black" pitchFamily="34" charset="0"/>
                <a:ea typeface="Cairo Black" pitchFamily="34" charset="-122"/>
                <a:cs typeface="Cairo Black" pitchFamily="34" charset="-120"/>
              </a:rPr>
              <a:t>الاختبار</a:t>
            </a:r>
            <a:endParaRPr lang="ar-SA" sz="1900" dirty="0"/>
          </a:p>
        </p:txBody>
      </p:sp>
      <p:sp>
        <p:nvSpPr>
          <p:cNvPr id="7" name="Shape 5"/>
          <p:cNvSpPr/>
          <p:nvPr/>
        </p:nvSpPr>
        <p:spPr>
          <a:xfrm>
            <a:off x="822960" y="1874520"/>
            <a:ext cx="6422183" cy="548640"/>
          </a:xfrm>
          <a:prstGeom prst="roundRect">
            <a:avLst>
              <a:gd name="adj" fmla="val 20000"/>
            </a:avLst>
          </a:prstGeom>
          <a:solidFill>
            <a:srgbClr val="101B45"/>
          </a:solidFill>
          <a:ln/>
        </p:spPr>
      </p:sp>
      <p:sp>
        <p:nvSpPr>
          <p:cNvPr id="8" name="Text 6"/>
          <p:cNvSpPr/>
          <p:nvPr/>
        </p:nvSpPr>
        <p:spPr>
          <a:xfrm>
            <a:off x="822960" y="1874520"/>
            <a:ext cx="6422183" cy="548640"/>
          </a:xfrm>
          <a:prstGeom prst="rect">
            <a:avLst/>
          </a:prstGeom>
          <a:noFill/>
          <a:ln/>
        </p:spPr>
        <p:txBody>
          <a:bodyPr wrap="square" lIns="0" tIns="0" rIns="0" bIns="0" rtlCol="0" anchor="ctr">
            <a:normAutofit/>
          </a:bodyPr>
          <a:lstStyle/>
          <a:p>
            <a:pPr rtl="1" algn="ctr" indent="0" marL="0">
              <a:buNone/>
            </a:pPr>
            <a:r>
              <a:rPr lang="ar-SA" altLang="en-US" sz="1900" dirty="0">
                <a:solidFill>
                  <a:srgbClr val="FFFFFF"/>
                </a:solidFill>
                <a:latin typeface="Cairo Black" pitchFamily="34" charset="0"/>
                <a:ea typeface="Cairo Black" pitchFamily="34" charset="-122"/>
                <a:cs typeface="Cairo Black" pitchFamily="34" charset="-120"/>
              </a:rPr>
              <a:t>ماذا نتأكد منه</a:t>
            </a:r>
            <a:endParaRPr lang="ar-SA" sz="1900" dirty="0"/>
          </a:p>
        </p:txBody>
      </p:sp>
      <p:sp>
        <p:nvSpPr>
          <p:cNvPr id="9" name="anim-g1-587"/>
          <p:cNvSpPr/>
          <p:nvPr/>
        </p:nvSpPr>
        <p:spPr>
          <a:xfrm>
            <a:off x="7354871" y="2514600"/>
            <a:ext cx="4013864" cy="495300"/>
          </a:xfrm>
          <a:prstGeom prst="roundRect">
            <a:avLst>
              <a:gd name="adj" fmla="val 22154"/>
            </a:avLst>
          </a:prstGeom>
          <a:solidFill>
            <a:srgbClr val="FBF3DF"/>
          </a:solidFill>
          <a:ln w="12700">
            <a:solidFill>
              <a:srgbClr val="EFDDAF"/>
            </a:solidFill>
            <a:prstDash val="solid"/>
          </a:ln>
        </p:spPr>
      </p:sp>
      <p:sp>
        <p:nvSpPr>
          <p:cNvPr id="10" name="anim-g1-588"/>
          <p:cNvSpPr/>
          <p:nvPr/>
        </p:nvSpPr>
        <p:spPr>
          <a:xfrm>
            <a:off x="7492031" y="2514600"/>
            <a:ext cx="3739544" cy="495300"/>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 المحرك منفردًا</a:t>
            </a:r>
            <a:endParaRPr lang="ar-SA" sz="2100" dirty="0"/>
          </a:p>
        </p:txBody>
      </p:sp>
      <p:sp>
        <p:nvSpPr>
          <p:cNvPr id="11" name="anim-g1-589"/>
          <p:cNvSpPr/>
          <p:nvPr/>
        </p:nvSpPr>
        <p:spPr>
          <a:xfrm>
            <a:off x="822960" y="2514600"/>
            <a:ext cx="6422183" cy="495300"/>
          </a:xfrm>
          <a:prstGeom prst="roundRect">
            <a:avLst>
              <a:gd name="adj" fmla="val 22154"/>
            </a:avLst>
          </a:prstGeom>
          <a:solidFill>
            <a:srgbClr val="E6F4EC"/>
          </a:solidFill>
          <a:ln w="12700">
            <a:solidFill>
              <a:srgbClr val="CDE9D9"/>
            </a:solidFill>
            <a:prstDash val="solid"/>
          </a:ln>
        </p:spPr>
      </p:sp>
      <p:sp>
        <p:nvSpPr>
          <p:cNvPr id="12" name="anim-g1-590"/>
          <p:cNvSpPr/>
          <p:nvPr/>
        </p:nvSpPr>
        <p:spPr>
          <a:xfrm>
            <a:off x="960120" y="2514600"/>
            <a:ext cx="6147863" cy="495300"/>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الاتجاه والسرعة الصحيحان قبل أي ربط</a:t>
            </a:r>
            <a:endParaRPr lang="ar-SA" sz="2100" dirty="0"/>
          </a:p>
        </p:txBody>
      </p:sp>
      <p:sp>
        <p:nvSpPr>
          <p:cNvPr id="13" name="anim-g2-591"/>
          <p:cNvSpPr/>
          <p:nvPr/>
        </p:nvSpPr>
        <p:spPr>
          <a:xfrm>
            <a:off x="7354871" y="3119628"/>
            <a:ext cx="4013864" cy="495300"/>
          </a:xfrm>
          <a:prstGeom prst="roundRect">
            <a:avLst>
              <a:gd name="adj" fmla="val 22154"/>
            </a:avLst>
          </a:prstGeom>
          <a:solidFill>
            <a:srgbClr val="FBF3DF"/>
          </a:solidFill>
          <a:ln w="12700">
            <a:solidFill>
              <a:srgbClr val="EFDDAF"/>
            </a:solidFill>
            <a:prstDash val="solid"/>
          </a:ln>
        </p:spPr>
      </p:sp>
      <p:sp>
        <p:nvSpPr>
          <p:cNvPr id="14" name="anim-g2-592"/>
          <p:cNvSpPr/>
          <p:nvPr/>
        </p:nvSpPr>
        <p:spPr>
          <a:xfrm>
            <a:off x="7492031" y="3119628"/>
            <a:ext cx="3739544" cy="495300"/>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 الإضاءة منفردة</a:t>
            </a:r>
            <a:endParaRPr lang="ar-SA" sz="2100" dirty="0"/>
          </a:p>
        </p:txBody>
      </p:sp>
      <p:sp>
        <p:nvSpPr>
          <p:cNvPr id="15" name="anim-g2-593"/>
          <p:cNvSpPr/>
          <p:nvPr/>
        </p:nvSpPr>
        <p:spPr>
          <a:xfrm>
            <a:off x="822960" y="3119628"/>
            <a:ext cx="6422183" cy="495300"/>
          </a:xfrm>
          <a:prstGeom prst="roundRect">
            <a:avLst>
              <a:gd name="adj" fmla="val 22154"/>
            </a:avLst>
          </a:prstGeom>
          <a:solidFill>
            <a:srgbClr val="E6F4EC"/>
          </a:solidFill>
          <a:ln w="12700">
            <a:solidFill>
              <a:srgbClr val="CDE9D9"/>
            </a:solidFill>
            <a:prstDash val="solid"/>
          </a:ln>
        </p:spPr>
      </p:sp>
      <p:sp>
        <p:nvSpPr>
          <p:cNvPr id="16" name="anim-g2-594"/>
          <p:cNvSpPr/>
          <p:nvPr/>
        </p:nvSpPr>
        <p:spPr>
          <a:xfrm>
            <a:off x="960120" y="3119628"/>
            <a:ext cx="6147863" cy="495300"/>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الألوان والموجة قبل دمجها مع كود المحرك</a:t>
            </a:r>
            <a:endParaRPr lang="ar-SA" sz="2100" dirty="0"/>
          </a:p>
        </p:txBody>
      </p:sp>
      <p:sp>
        <p:nvSpPr>
          <p:cNvPr id="17" name="anim-g3-595"/>
          <p:cNvSpPr/>
          <p:nvPr/>
        </p:nvSpPr>
        <p:spPr>
          <a:xfrm>
            <a:off x="7354871" y="3724656"/>
            <a:ext cx="4013864" cy="495300"/>
          </a:xfrm>
          <a:prstGeom prst="roundRect">
            <a:avLst>
              <a:gd name="adj" fmla="val 22154"/>
            </a:avLst>
          </a:prstGeom>
          <a:solidFill>
            <a:srgbClr val="FBF3DF"/>
          </a:solidFill>
          <a:ln w="12700">
            <a:solidFill>
              <a:srgbClr val="EFDDAF"/>
            </a:solidFill>
            <a:prstDash val="solid"/>
          </a:ln>
        </p:spPr>
      </p:sp>
      <p:sp>
        <p:nvSpPr>
          <p:cNvPr id="18" name="anim-g3-596"/>
          <p:cNvSpPr/>
          <p:nvPr/>
        </p:nvSpPr>
        <p:spPr>
          <a:xfrm>
            <a:off x="7492031" y="3724656"/>
            <a:ext cx="3739544" cy="495300"/>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 المحتوى منفردًا</a:t>
            </a:r>
            <a:endParaRPr lang="ar-SA" sz="2100" dirty="0"/>
          </a:p>
        </p:txBody>
      </p:sp>
      <p:sp>
        <p:nvSpPr>
          <p:cNvPr id="19" name="anim-g3-597"/>
          <p:cNvSpPr/>
          <p:nvPr/>
        </p:nvSpPr>
        <p:spPr>
          <a:xfrm>
            <a:off x="822960" y="3724656"/>
            <a:ext cx="6422183" cy="495300"/>
          </a:xfrm>
          <a:prstGeom prst="roundRect">
            <a:avLst>
              <a:gd name="adj" fmla="val 22154"/>
            </a:avLst>
          </a:prstGeom>
          <a:solidFill>
            <a:srgbClr val="E6F4EC"/>
          </a:solidFill>
          <a:ln w="12700">
            <a:solidFill>
              <a:srgbClr val="CDE9D9"/>
            </a:solidFill>
            <a:prstDash val="solid"/>
          </a:ln>
        </p:spPr>
      </p:sp>
      <p:sp>
        <p:nvSpPr>
          <p:cNvPr id="20" name="anim-g3-598"/>
          <p:cNvSpPr/>
          <p:nvPr/>
        </p:nvSpPr>
        <p:spPr>
          <a:xfrm>
            <a:off x="960120" y="3724656"/>
            <a:ext cx="6147863" cy="495300"/>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كل ملفات الفيديو والصوت موجودة وسليمة</a:t>
            </a:r>
            <a:endParaRPr lang="ar-SA" sz="2100" dirty="0"/>
          </a:p>
        </p:txBody>
      </p:sp>
      <p:sp>
        <p:nvSpPr>
          <p:cNvPr id="21" name="anim-g4-599"/>
          <p:cNvSpPr/>
          <p:nvPr/>
        </p:nvSpPr>
        <p:spPr>
          <a:xfrm>
            <a:off x="7354871" y="4329684"/>
            <a:ext cx="4013864" cy="495300"/>
          </a:xfrm>
          <a:prstGeom prst="roundRect">
            <a:avLst>
              <a:gd name="adj" fmla="val 22154"/>
            </a:avLst>
          </a:prstGeom>
          <a:solidFill>
            <a:srgbClr val="FBF3DF"/>
          </a:solidFill>
          <a:ln w="12700">
            <a:solidFill>
              <a:srgbClr val="EFDDAF"/>
            </a:solidFill>
            <a:prstDash val="solid"/>
          </a:ln>
        </p:spPr>
      </p:sp>
      <p:sp>
        <p:nvSpPr>
          <p:cNvPr id="22" name="anim-g4-600"/>
          <p:cNvSpPr/>
          <p:nvPr/>
        </p:nvSpPr>
        <p:spPr>
          <a:xfrm>
            <a:off x="7492031" y="4329684"/>
            <a:ext cx="3739544" cy="495300"/>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 الاتصال</a:t>
            </a:r>
            <a:endParaRPr lang="ar-SA" sz="2100" dirty="0"/>
          </a:p>
        </p:txBody>
      </p:sp>
      <p:sp>
        <p:nvSpPr>
          <p:cNvPr id="23" name="anim-g4-601"/>
          <p:cNvSpPr/>
          <p:nvPr/>
        </p:nvSpPr>
        <p:spPr>
          <a:xfrm>
            <a:off x="822960" y="4329684"/>
            <a:ext cx="6422183" cy="495300"/>
          </a:xfrm>
          <a:prstGeom prst="roundRect">
            <a:avLst>
              <a:gd name="adj" fmla="val 22154"/>
            </a:avLst>
          </a:prstGeom>
          <a:solidFill>
            <a:srgbClr val="E6F4EC"/>
          </a:solidFill>
          <a:ln w="12700">
            <a:solidFill>
              <a:srgbClr val="CDE9D9"/>
            </a:solidFill>
            <a:prstDash val="solid"/>
          </a:ln>
        </p:spPr>
      </p:sp>
      <p:sp>
        <p:nvSpPr>
          <p:cNvPr id="24" name="anim-g4-602"/>
          <p:cNvSpPr/>
          <p:nvPr/>
        </p:nvSpPr>
        <p:spPr>
          <a:xfrm>
            <a:off x="960120" y="4329684"/>
            <a:ext cx="6147863" cy="495300"/>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أوامر حقيقية من الراسبيري ومراقبة المحرك</a:t>
            </a:r>
            <a:endParaRPr lang="ar-SA" sz="2100" dirty="0"/>
          </a:p>
        </p:txBody>
      </p:sp>
      <p:sp>
        <p:nvSpPr>
          <p:cNvPr id="25" name="anim-g5-603"/>
          <p:cNvSpPr/>
          <p:nvPr/>
        </p:nvSpPr>
        <p:spPr>
          <a:xfrm>
            <a:off x="7354871" y="4934712"/>
            <a:ext cx="4013864" cy="495300"/>
          </a:xfrm>
          <a:prstGeom prst="roundRect">
            <a:avLst>
              <a:gd name="adj" fmla="val 22154"/>
            </a:avLst>
          </a:prstGeom>
          <a:solidFill>
            <a:srgbClr val="FBF3DF"/>
          </a:solidFill>
          <a:ln w="12700">
            <a:solidFill>
              <a:srgbClr val="EFDDAF"/>
            </a:solidFill>
            <a:prstDash val="solid"/>
          </a:ln>
        </p:spPr>
      </p:sp>
      <p:sp>
        <p:nvSpPr>
          <p:cNvPr id="26" name="anim-g5-604"/>
          <p:cNvSpPr/>
          <p:nvPr/>
        </p:nvSpPr>
        <p:spPr>
          <a:xfrm>
            <a:off x="7492031" y="4934712"/>
            <a:ext cx="3739544" cy="495300"/>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 العين حيًا</a:t>
            </a:r>
            <a:endParaRPr lang="ar-SA" sz="2100" dirty="0"/>
          </a:p>
        </p:txBody>
      </p:sp>
      <p:sp>
        <p:nvSpPr>
          <p:cNvPr id="27" name="anim-g5-605"/>
          <p:cNvSpPr/>
          <p:nvPr/>
        </p:nvSpPr>
        <p:spPr>
          <a:xfrm>
            <a:off x="822960" y="4934712"/>
            <a:ext cx="6422183" cy="495300"/>
          </a:xfrm>
          <a:prstGeom prst="roundRect">
            <a:avLst>
              <a:gd name="adj" fmla="val 22154"/>
            </a:avLst>
          </a:prstGeom>
          <a:solidFill>
            <a:srgbClr val="E6F4EC"/>
          </a:solidFill>
          <a:ln w="12700">
            <a:solidFill>
              <a:srgbClr val="CDE9D9"/>
            </a:solidFill>
            <a:prstDash val="solid"/>
          </a:ln>
        </p:spPr>
      </p:sp>
      <p:sp>
        <p:nvSpPr>
          <p:cNvPr id="28" name="anim-g5-606"/>
          <p:cNvSpPr/>
          <p:nvPr/>
        </p:nvSpPr>
        <p:spPr>
          <a:xfrm>
            <a:off x="960120" y="4934712"/>
            <a:ext cx="6147863" cy="495300"/>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الحركة والتوقف وحارس الرمشة والنظر لأعلى</a:t>
            </a:r>
            <a:endParaRPr lang="ar-SA" sz="2100" dirty="0"/>
          </a:p>
        </p:txBody>
      </p:sp>
      <p:sp>
        <p:nvSpPr>
          <p:cNvPr id="29" name="anim-g6-607"/>
          <p:cNvSpPr/>
          <p:nvPr/>
        </p:nvSpPr>
        <p:spPr>
          <a:xfrm>
            <a:off x="7354871" y="5539740"/>
            <a:ext cx="4013864" cy="495300"/>
          </a:xfrm>
          <a:prstGeom prst="roundRect">
            <a:avLst>
              <a:gd name="adj" fmla="val 22154"/>
            </a:avLst>
          </a:prstGeom>
          <a:solidFill>
            <a:srgbClr val="FBF3DF"/>
          </a:solidFill>
          <a:ln w="12700">
            <a:solidFill>
              <a:srgbClr val="EFDDAF"/>
            </a:solidFill>
            <a:prstDash val="solid"/>
          </a:ln>
        </p:spPr>
      </p:sp>
      <p:sp>
        <p:nvSpPr>
          <p:cNvPr id="30" name="anim-g6-608"/>
          <p:cNvSpPr/>
          <p:nvPr/>
        </p:nvSpPr>
        <p:spPr>
          <a:xfrm>
            <a:off x="7492031" y="5539740"/>
            <a:ext cx="3739544" cy="495300"/>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 التكامل</a:t>
            </a:r>
            <a:endParaRPr lang="ar-SA" sz="2100" dirty="0"/>
          </a:p>
        </p:txBody>
      </p:sp>
      <p:sp>
        <p:nvSpPr>
          <p:cNvPr id="31" name="anim-g6-609"/>
          <p:cNvSpPr/>
          <p:nvPr/>
        </p:nvSpPr>
        <p:spPr>
          <a:xfrm>
            <a:off x="822960" y="5539740"/>
            <a:ext cx="6422183" cy="495300"/>
          </a:xfrm>
          <a:prstGeom prst="roundRect">
            <a:avLst>
              <a:gd name="adj" fmla="val 22154"/>
            </a:avLst>
          </a:prstGeom>
          <a:solidFill>
            <a:srgbClr val="E6F4EC"/>
          </a:solidFill>
          <a:ln w="12700">
            <a:solidFill>
              <a:srgbClr val="CDE9D9"/>
            </a:solidFill>
            <a:prstDash val="solid"/>
          </a:ln>
        </p:spPr>
      </p:sp>
      <p:sp>
        <p:nvSpPr>
          <p:cNvPr id="32" name="anim-g6-610"/>
          <p:cNvSpPr/>
          <p:nvPr/>
        </p:nvSpPr>
        <p:spPr>
          <a:xfrm>
            <a:off x="960120" y="5539740"/>
            <a:ext cx="6147863" cy="495300"/>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الجولة كاملة مرارًا دون خطأ في التزامن أو الموضع</a:t>
            </a:r>
            <a:endParaRPr lang="ar-SA" sz="2100" dirty="0"/>
          </a:p>
        </p:txBody>
      </p:sp>
      <p:sp>
        <p:nvSpPr>
          <p:cNvPr id="33" name="Text 31"/>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34" name="Text 32"/>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الجولة الكاملة  ·  ٧٩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3"/>
                                        </p:tgtEl>
                                        <p:attrNameLst>
                                          <p:attrName>style.visibility</p:attrName>
                                        </p:attrNameLst>
                                      </p:cBhvr>
                                      <p:to>
                                        <p:strVal val="visible"/>
                                      </p:to>
                                    </p:set>
                                    <p:animEffect transition="in" filter="fade">
                                      <p:cBhvr>
                                        <p:cTn id="21" dur="400"/>
                                        <p:tgtEl>
                                          <p:spTgt spid="13"/>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400"/>
                                        <p:tgtEl>
                                          <p:spTgt spid="14"/>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fade">
                                      <p:cBhvr>
                                        <p:cTn id="27" dur="400"/>
                                        <p:tgtEl>
                                          <p:spTgt spid="15"/>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fade">
                                      <p:cBhvr>
                                        <p:cTn id="30" dur="400"/>
                                        <p:tgtEl>
                                          <p:spTgt spid="16"/>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400"/>
                                        <p:tgtEl>
                                          <p:spTgt spid="17"/>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8"/>
                                        </p:tgtEl>
                                        <p:attrNameLst>
                                          <p:attrName>style.visibility</p:attrName>
                                        </p:attrNameLst>
                                      </p:cBhvr>
                                      <p:to>
                                        <p:strVal val="visible"/>
                                      </p:to>
                                    </p:set>
                                    <p:animEffect transition="in" filter="fade">
                                      <p:cBhvr>
                                        <p:cTn id="38" dur="400"/>
                                        <p:tgtEl>
                                          <p:spTgt spid="18"/>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9"/>
                                        </p:tgtEl>
                                        <p:attrNameLst>
                                          <p:attrName>style.visibility</p:attrName>
                                        </p:attrNameLst>
                                      </p:cBhvr>
                                      <p:to>
                                        <p:strVal val="visible"/>
                                      </p:to>
                                    </p:set>
                                    <p:animEffect transition="in" filter="fade">
                                      <p:cBhvr>
                                        <p:cTn id="41" dur="400"/>
                                        <p:tgtEl>
                                          <p:spTgt spid="19"/>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21"/>
                                        </p:tgtEl>
                                        <p:attrNameLst>
                                          <p:attrName>style.visibility</p:attrName>
                                        </p:attrNameLst>
                                      </p:cBhvr>
                                      <p:to>
                                        <p:strVal val="visible"/>
                                      </p:to>
                                    </p:set>
                                    <p:animEffect transition="in" filter="fade">
                                      <p:cBhvr>
                                        <p:cTn id="49" dur="400"/>
                                        <p:tgtEl>
                                          <p:spTgt spid="21"/>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2"/>
                                        </p:tgtEl>
                                        <p:attrNameLst>
                                          <p:attrName>style.visibility</p:attrName>
                                        </p:attrNameLst>
                                      </p:cBhvr>
                                      <p:to>
                                        <p:strVal val="visible"/>
                                      </p:to>
                                    </p:set>
                                    <p:animEffect transition="in" filter="fade">
                                      <p:cBhvr>
                                        <p:cTn id="52" dur="400"/>
                                        <p:tgtEl>
                                          <p:spTgt spid="22"/>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fade">
                                      <p:cBhvr>
                                        <p:cTn id="55" dur="400"/>
                                        <p:tgtEl>
                                          <p:spTgt spid="23"/>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4"/>
                                        </p:tgtEl>
                                        <p:attrNameLst>
                                          <p:attrName>style.visibility</p:attrName>
                                        </p:attrNameLst>
                                      </p:cBhvr>
                                      <p:to>
                                        <p:strVal val="visible"/>
                                      </p:to>
                                    </p:set>
                                    <p:animEffect transition="in" filter="fade">
                                      <p:cBhvr>
                                        <p:cTn id="58" dur="400"/>
                                        <p:tgtEl>
                                          <p:spTgt spid="24"/>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25"/>
                                        </p:tgtEl>
                                        <p:attrNameLst>
                                          <p:attrName>style.visibility</p:attrName>
                                        </p:attrNameLst>
                                      </p:cBhvr>
                                      <p:to>
                                        <p:strVal val="visible"/>
                                      </p:to>
                                    </p:set>
                                    <p:animEffect transition="in" filter="fade">
                                      <p:cBhvr>
                                        <p:cTn id="63" dur="400"/>
                                        <p:tgtEl>
                                          <p:spTgt spid="25"/>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6"/>
                                        </p:tgtEl>
                                        <p:attrNameLst>
                                          <p:attrName>style.visibility</p:attrName>
                                        </p:attrNameLst>
                                      </p:cBhvr>
                                      <p:to>
                                        <p:strVal val="visible"/>
                                      </p:to>
                                    </p:set>
                                    <p:animEffect transition="in" filter="fade">
                                      <p:cBhvr>
                                        <p:cTn id="66" dur="400"/>
                                        <p:tgtEl>
                                          <p:spTgt spid="26"/>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7"/>
                                        </p:tgtEl>
                                        <p:attrNameLst>
                                          <p:attrName>style.visibility</p:attrName>
                                        </p:attrNameLst>
                                      </p:cBhvr>
                                      <p:to>
                                        <p:strVal val="visible"/>
                                      </p:to>
                                    </p:set>
                                    <p:animEffect transition="in" filter="fade">
                                      <p:cBhvr>
                                        <p:cTn id="69" dur="400"/>
                                        <p:tgtEl>
                                          <p:spTgt spid="27"/>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8"/>
                                        </p:tgtEl>
                                        <p:attrNameLst>
                                          <p:attrName>style.visibility</p:attrName>
                                        </p:attrNameLst>
                                      </p:cBhvr>
                                      <p:to>
                                        <p:strVal val="visible"/>
                                      </p:to>
                                    </p:set>
                                    <p:animEffect transition="in" filter="fade">
                                      <p:cBhvr>
                                        <p:cTn id="72" dur="400"/>
                                        <p:tgtEl>
                                          <p:spTgt spid="28"/>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grpId="0" nodeType="clickEffect">
                                  <p:stCondLst>
                                    <p:cond delay="0"/>
                                  </p:stCondLst>
                                  <p:childTnLst>
                                    <p:set>
                                      <p:cBhvr>
                                        <p:cTn id="76" dur="1" fill="hold">
                                          <p:stCondLst>
                                            <p:cond delay="0"/>
                                          </p:stCondLst>
                                        </p:cTn>
                                        <p:tgtEl>
                                          <p:spTgt spid="29"/>
                                        </p:tgtEl>
                                        <p:attrNameLst>
                                          <p:attrName>style.visibility</p:attrName>
                                        </p:attrNameLst>
                                      </p:cBhvr>
                                      <p:to>
                                        <p:strVal val="visible"/>
                                      </p:to>
                                    </p:set>
                                    <p:animEffect transition="in" filter="fade">
                                      <p:cBhvr>
                                        <p:cTn id="77" dur="400"/>
                                        <p:tgtEl>
                                          <p:spTgt spid="29"/>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30"/>
                                        </p:tgtEl>
                                        <p:attrNameLst>
                                          <p:attrName>style.visibility</p:attrName>
                                        </p:attrNameLst>
                                      </p:cBhvr>
                                      <p:to>
                                        <p:strVal val="visible"/>
                                      </p:to>
                                    </p:set>
                                    <p:animEffect transition="in" filter="fade">
                                      <p:cBhvr>
                                        <p:cTn id="80" dur="400"/>
                                        <p:tgtEl>
                                          <p:spTgt spid="30"/>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31"/>
                                        </p:tgtEl>
                                        <p:attrNameLst>
                                          <p:attrName>style.visibility</p:attrName>
                                        </p:attrNameLst>
                                      </p:cBhvr>
                                      <p:to>
                                        <p:strVal val="visible"/>
                                      </p:to>
                                    </p:set>
                                    <p:animEffect transition="in" filter="fade">
                                      <p:cBhvr>
                                        <p:cTn id="83" dur="400"/>
                                        <p:tgtEl>
                                          <p:spTgt spid="31"/>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32"/>
                                        </p:tgtEl>
                                        <p:attrNameLst>
                                          <p:attrName>style.visibility</p:attrName>
                                        </p:attrNameLst>
                                      </p:cBhvr>
                                      <p:to>
                                        <p:strVal val="visible"/>
                                      </p:to>
                                    </p:set>
                                    <p:animEffect transition="in" filter="fade">
                                      <p:cBhvr>
                                        <p:cTn id="86"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Lst>
  </p:timing>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Image 0" descr="C:\Users\user\projects\younes-training\turath\.pptx-cache\s80.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خلاصة المحور</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زائر يصل بكرسيه، ويستكشف بعينه، ويسمع ويرى بلغته: تجربة كاملة…</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بلا زر واحد</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لمسة تراث</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 الجولة الكاملة  ·  ٨١</a:t>
            </a:r>
            <a:endParaRPr lang="ar-SA" sz="12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097280" y="2103120"/>
            <a:ext cx="2651760" cy="2651760"/>
          </a:xfrm>
          <a:prstGeom prst="ellipse">
            <a:avLst/>
          </a:prstGeom>
          <a:solidFill>
            <a:srgbClr val="D9AE4B">
              <a:alpha val="12000"/>
            </a:srgbClr>
          </a:solidFill>
          <a:ln w="63500">
            <a:solidFill>
              <a:srgbClr val="D9AE4B">
                <a:alpha val="60000"/>
              </a:srgbClr>
            </a:solidFill>
            <a:prstDash val="solid"/>
          </a:ln>
        </p:spPr>
      </p:sp>
      <p:sp>
        <p:nvSpPr>
          <p:cNvPr id="3" name="Text 1"/>
          <p:cNvSpPr/>
          <p:nvPr/>
        </p:nvSpPr>
        <p:spPr>
          <a:xfrm>
            <a:off x="1097280" y="2103120"/>
            <a:ext cx="2651760" cy="2651760"/>
          </a:xfrm>
          <a:prstGeom prst="rect">
            <a:avLst/>
          </a:prstGeom>
          <a:noFill/>
          <a:ln/>
        </p:spPr>
        <p:txBody>
          <a:bodyPr wrap="square" lIns="0" tIns="0" rIns="0" bIns="0" rtlCol="0" anchor="ctr">
            <a:normAutofit/>
          </a:bodyPr>
          <a:lstStyle/>
          <a:p>
            <a:pPr rtl="1" algn="ctr" indent="0" marL="0">
              <a:buNone/>
            </a:pPr>
            <a:r>
              <a:rPr lang="ar-SA" altLang="en-US" sz="12000" dirty="0">
                <a:solidFill>
                  <a:srgbClr val="F0CC7A"/>
                </a:solidFill>
                <a:latin typeface="Cairo Black" pitchFamily="34" charset="0"/>
                <a:ea typeface="Cairo Black" pitchFamily="34" charset="-122"/>
                <a:cs typeface="Cairo Black" pitchFamily="34" charset="-120"/>
              </a:rPr>
              <a:t>٩</a:t>
            </a:r>
            <a:endParaRPr lang="ar-SA" sz="12000" dirty="0"/>
          </a:p>
        </p:txBody>
      </p:sp>
      <p:sp>
        <p:nvSpPr>
          <p:cNvPr id="4" name="Text 2"/>
          <p:cNvSpPr/>
          <p:nvPr/>
        </p:nvSpPr>
        <p:spPr>
          <a:xfrm>
            <a:off x="4206240" y="1828800"/>
            <a:ext cx="7162495" cy="457200"/>
          </a:xfrm>
          <a:prstGeom prst="rect">
            <a:avLst/>
          </a:prstGeom>
          <a:noFill/>
          <a:ln/>
        </p:spPr>
        <p:txBody>
          <a:bodyPr wrap="square" lIns="0" tIns="0" rIns="0" bIns="0" rtlCol="0" anchor="ctr">
            <a:normAutofit/>
          </a:bodyPr>
          <a:lstStyle/>
          <a:p>
            <a:pPr rtl="1" algn="r" indent="0" marL="0">
              <a:buNone/>
            </a:pPr>
            <a:r>
              <a:rPr lang="ar-SA" altLang="en-US" sz="2000" b="1" dirty="0">
                <a:solidFill>
                  <a:srgbClr val="D9AE4B"/>
                </a:solidFill>
                <a:latin typeface="Cairo" pitchFamily="34" charset="0"/>
                <a:ea typeface="Cairo" pitchFamily="34" charset="-122"/>
                <a:cs typeface="Cairo" pitchFamily="34" charset="-120"/>
              </a:rPr>
              <a:t>المحور ٩</a:t>
            </a:r>
            <a:endParaRPr lang="ar-SA" sz="2000" dirty="0"/>
          </a:p>
        </p:txBody>
      </p:sp>
      <p:sp>
        <p:nvSpPr>
          <p:cNvPr id="5" name="Text 3"/>
          <p:cNvSpPr/>
          <p:nvPr/>
        </p:nvSpPr>
        <p:spPr>
          <a:xfrm>
            <a:off x="4206240" y="2286000"/>
            <a:ext cx="7162495" cy="1371600"/>
          </a:xfrm>
          <a:prstGeom prst="rect">
            <a:avLst/>
          </a:prstGeom>
          <a:noFill/>
          <a:ln/>
        </p:spPr>
        <p:txBody>
          <a:bodyPr wrap="square" lIns="0" tIns="0" rIns="0" bIns="0" rtlCol="0" anchor="ctr">
            <a:normAutofit/>
          </a:bodyPr>
          <a:lstStyle/>
          <a:p>
            <a:pPr rtl="1" algn="r" indent="0" marL="0">
              <a:buNone/>
            </a:pPr>
            <a:r>
              <a:rPr lang="ar-SA" altLang="en-US" sz="5600" dirty="0">
                <a:solidFill>
                  <a:srgbClr val="FFFFFF"/>
                </a:solidFill>
                <a:latin typeface="Cairo Black" pitchFamily="34" charset="0"/>
                <a:ea typeface="Cairo Black" pitchFamily="34" charset="-122"/>
                <a:cs typeface="Cairo Black" pitchFamily="34" charset="-120"/>
              </a:rPr>
              <a:t>🛡️ روبوتا السلامة: عين ترى النار</a:t>
            </a:r>
            <a:endParaRPr lang="ar-SA" sz="5600" dirty="0"/>
          </a:p>
        </p:txBody>
      </p:sp>
      <p:sp>
        <p:nvSpPr>
          <p:cNvPr id="6" name="Text 4"/>
          <p:cNvSpPr/>
          <p:nvPr/>
        </p:nvSpPr>
        <p:spPr>
          <a:xfrm>
            <a:off x="4206240" y="3749040"/>
            <a:ext cx="7162495" cy="822960"/>
          </a:xfrm>
          <a:prstGeom prst="rect">
            <a:avLst/>
          </a:prstGeom>
          <a:noFill/>
          <a:ln/>
        </p:spPr>
        <p:txBody>
          <a:bodyPr wrap="square" lIns="0" tIns="0" rIns="0" bIns="0" rtlCol="0" anchor="ctr">
            <a:normAutofit/>
          </a:bodyPr>
          <a:lstStyle/>
          <a:p>
            <a:pPr rtl="1" algn="r" indent="0" marL="0">
              <a:buNone/>
            </a:pPr>
            <a:r>
              <a:rPr lang="ar-SA" altLang="en-US" sz="2200" b="1" dirty="0">
                <a:solidFill>
                  <a:srgbClr val="C9CFE6"/>
                </a:solidFill>
                <a:latin typeface="Cairo" pitchFamily="34" charset="0"/>
                <a:ea typeface="Cairo" pitchFamily="34" charset="-122"/>
                <a:cs typeface="Cairo" pitchFamily="34" charset="-120"/>
              </a:rPr>
              <a:t>حين يزدحم المعرض… من يحرس الزوار؟</a:t>
            </a:r>
            <a:endParaRPr lang="ar-SA" sz="2200" dirty="0"/>
          </a:p>
        </p:txBody>
      </p:sp>
      <p:sp>
        <p:nvSpPr>
          <p:cNvPr id="7" name="Text 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لمسة تراث</a:t>
            </a:r>
            <a:endParaRPr lang="ar-SA" sz="1200" dirty="0"/>
          </a:p>
        </p:txBody>
      </p:sp>
      <p:sp>
        <p:nvSpPr>
          <p:cNvPr id="8" name="Text 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 السلامة: حساس اللهب  ·  ٨٢</a:t>
            </a:r>
            <a:endParaRPr lang="ar-SA" sz="12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Image 0" descr="C:\Users\user\projects\younes-training\turath\.pptx-cache\s83.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Image 0" descr="C:\Users\user\projects\younes-training\turath\.pptx-cache\s84.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174175" y="457200"/>
            <a:ext cx="2194560" cy="457200"/>
          </a:xfrm>
          <a:prstGeom prst="roundRect">
            <a:avLst>
              <a:gd name="adj" fmla="val 50000"/>
            </a:avLst>
          </a:prstGeom>
          <a:solidFill>
            <a:srgbClr val="F6EBCF"/>
          </a:solidFill>
          <a:ln/>
        </p:spPr>
      </p:sp>
      <p:sp>
        <p:nvSpPr>
          <p:cNvPr id="3" name="Text 1"/>
          <p:cNvSpPr/>
          <p:nvPr/>
        </p:nvSpPr>
        <p:spPr>
          <a:xfrm>
            <a:off x="9174175" y="457200"/>
            <a:ext cx="219456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بحث الفريق</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لماذا هذه القطع بالذات؟</a:t>
            </a:r>
            <a:endParaRPr lang="ar-SA" sz="3800" dirty="0"/>
          </a:p>
        </p:txBody>
      </p:sp>
      <p:sp>
        <p:nvSpPr>
          <p:cNvPr id="5" name="anim-g1-611"/>
          <p:cNvSpPr/>
          <p:nvPr/>
        </p:nvSpPr>
        <p:spPr>
          <a:xfrm>
            <a:off x="8036357"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612"/>
          <p:cNvSpPr/>
          <p:nvPr/>
        </p:nvSpPr>
        <p:spPr>
          <a:xfrm>
            <a:off x="10527487" y="2267712"/>
            <a:ext cx="566928" cy="566928"/>
          </a:xfrm>
          <a:prstGeom prst="roundRect">
            <a:avLst>
              <a:gd name="adj" fmla="val 32258"/>
            </a:avLst>
          </a:prstGeom>
          <a:solidFill>
            <a:srgbClr val="F7E6BC"/>
          </a:solidFill>
          <a:ln/>
        </p:spPr>
      </p:sp>
      <p:sp>
        <p:nvSpPr>
          <p:cNvPr id="7" name="anim-g1-613"/>
          <p:cNvSpPr/>
          <p:nvPr/>
        </p:nvSpPr>
        <p:spPr>
          <a:xfrm>
            <a:off x="10527487"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614"/>
          <p:cNvSpPr/>
          <p:nvPr/>
        </p:nvSpPr>
        <p:spPr>
          <a:xfrm>
            <a:off x="8310677"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MQ-2 لا MQ-135</a:t>
            </a:r>
            <a:endParaRPr lang="ar-SA" sz="2200" dirty="0"/>
          </a:p>
        </p:txBody>
      </p:sp>
      <p:sp>
        <p:nvSpPr>
          <p:cNvPr id="9" name="anim-g1-615"/>
          <p:cNvSpPr/>
          <p:nvPr/>
        </p:nvSpPr>
        <p:spPr>
          <a:xfrm>
            <a:off x="8310677"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MQ-135 لجودة الهواء العامة، وMQ-2 للغازات القابلة للاشتعال والدخان: سيناريو المعرض</a:t>
            </a:r>
            <a:endParaRPr lang="ar-SA" sz="1900" dirty="0"/>
          </a:p>
        </p:txBody>
      </p:sp>
      <p:sp>
        <p:nvSpPr>
          <p:cNvPr id="10" name="anim-g2-616"/>
          <p:cNvSpPr/>
          <p:nvPr/>
        </p:nvSpPr>
        <p:spPr>
          <a:xfrm>
            <a:off x="4429658"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617"/>
          <p:cNvSpPr/>
          <p:nvPr/>
        </p:nvSpPr>
        <p:spPr>
          <a:xfrm>
            <a:off x="6920789" y="2267712"/>
            <a:ext cx="566928" cy="566928"/>
          </a:xfrm>
          <a:prstGeom prst="roundRect">
            <a:avLst>
              <a:gd name="adj" fmla="val 32258"/>
            </a:avLst>
          </a:prstGeom>
          <a:solidFill>
            <a:srgbClr val="F7E6BC"/>
          </a:solidFill>
          <a:ln/>
        </p:spPr>
      </p:sp>
      <p:sp>
        <p:nvSpPr>
          <p:cNvPr id="12" name="anim-g2-618"/>
          <p:cNvSpPr/>
          <p:nvPr/>
        </p:nvSpPr>
        <p:spPr>
          <a:xfrm>
            <a:off x="6920789"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619"/>
          <p:cNvSpPr/>
          <p:nvPr/>
        </p:nvSpPr>
        <p:spPr>
          <a:xfrm>
            <a:off x="4703978"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ESP-NOW</a:t>
            </a:r>
            <a:endParaRPr lang="ar-SA" sz="2200" dirty="0"/>
          </a:p>
        </p:txBody>
      </p:sp>
      <p:sp>
        <p:nvSpPr>
          <p:cNvPr id="14" name="anim-g2-620"/>
          <p:cNvSpPr/>
          <p:nvPr/>
        </p:nvSpPr>
        <p:spPr>
          <a:xfrm>
            <a:off x="4703978"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أقل تأخيرًا من الواي فاي والبلوتوث، وبلا راوتر ولا إعداد شبكة</a:t>
            </a:r>
            <a:endParaRPr lang="ar-SA" sz="1900" dirty="0"/>
          </a:p>
        </p:txBody>
      </p:sp>
      <p:sp>
        <p:nvSpPr>
          <p:cNvPr id="15" name="anim-g3-621"/>
          <p:cNvSpPr/>
          <p:nvPr/>
        </p:nvSpPr>
        <p:spPr>
          <a:xfrm>
            <a:off x="822960"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622"/>
          <p:cNvSpPr/>
          <p:nvPr/>
        </p:nvSpPr>
        <p:spPr>
          <a:xfrm>
            <a:off x="3314090" y="2267712"/>
            <a:ext cx="566928" cy="566928"/>
          </a:xfrm>
          <a:prstGeom prst="roundRect">
            <a:avLst>
              <a:gd name="adj" fmla="val 32258"/>
            </a:avLst>
          </a:prstGeom>
          <a:solidFill>
            <a:srgbClr val="F7E6BC"/>
          </a:solidFill>
          <a:ln/>
        </p:spPr>
      </p:sp>
      <p:sp>
        <p:nvSpPr>
          <p:cNvPr id="17" name="anim-g3-623"/>
          <p:cNvSpPr/>
          <p:nvPr/>
        </p:nvSpPr>
        <p:spPr>
          <a:xfrm>
            <a:off x="3314090"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624"/>
          <p:cNvSpPr/>
          <p:nvPr/>
        </p:nvSpPr>
        <p:spPr>
          <a:xfrm>
            <a:off x="1097280"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نسبة خطر موحّدة</a:t>
            </a:r>
            <a:endParaRPr lang="ar-SA" sz="2200" dirty="0"/>
          </a:p>
        </p:txBody>
      </p:sp>
      <p:sp>
        <p:nvSpPr>
          <p:cNvPr id="19" name="anim-g3-625"/>
          <p:cNvSpPr/>
          <p:nvPr/>
        </p:nvSpPr>
        <p:spPr>
          <a:xfrm>
            <a:off x="1097280"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كل حساس يتحول إلى نسبة ٠–١٠٠٪ فتصبح المقارنة ممكنة</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السلامة: حساس اللهب  ·  ٨٥</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86.xml><?xml version="1.0" encoding="utf-8"?>
<p:sld xmlns:a="http://schemas.openxmlformats.org/drawingml/2006/main" xmlns:r="http://schemas.openxmlformats.org/officeDocument/2006/relationships" xmlns:p="http://schemas.openxmlformats.org/presentationml/2006/main">
  <p:cSld name="Slide 8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248095" y="457200"/>
            <a:ext cx="5120640" cy="457200"/>
          </a:xfrm>
          <a:prstGeom prst="roundRect">
            <a:avLst>
              <a:gd name="adj" fmla="val 50000"/>
            </a:avLst>
          </a:prstGeom>
          <a:solidFill>
            <a:srgbClr val="F6EBCF"/>
          </a:solidFill>
          <a:ln/>
        </p:spPr>
      </p:sp>
      <p:sp>
        <p:nvSpPr>
          <p:cNvPr id="3" name="Text 1"/>
          <p:cNvSpPr/>
          <p:nvPr/>
        </p:nvSpPr>
        <p:spPr>
          <a:xfrm>
            <a:off x="6248095" y="457200"/>
            <a:ext cx="512064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بنهاية هذا المحور تستطيع أن</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أهداف المحور</a:t>
            </a:r>
            <a:endParaRPr lang="ar-SA" sz="3800" dirty="0"/>
          </a:p>
        </p:txBody>
      </p:sp>
      <p:sp>
        <p:nvSpPr>
          <p:cNvPr id="5" name="anim-g1-626"/>
          <p:cNvSpPr/>
          <p:nvPr/>
        </p:nvSpPr>
        <p:spPr>
          <a:xfrm>
            <a:off x="822960" y="1920240"/>
            <a:ext cx="10545775" cy="1298448"/>
          </a:xfrm>
          <a:prstGeom prst="roundRect">
            <a:avLst>
              <a:gd name="adj" fmla="val 11268"/>
            </a:avLst>
          </a:prstGeom>
          <a:solidFill>
            <a:srgbClr val="FFFFFF"/>
          </a:solidFill>
          <a:ln w="12700">
            <a:solidFill>
              <a:srgbClr val="E4DCC8"/>
            </a:solidFill>
            <a:prstDash val="solid"/>
          </a:ln>
        </p:spPr>
      </p:sp>
      <p:sp>
        <p:nvSpPr>
          <p:cNvPr id="6" name="anim-g1-627"/>
          <p:cNvSpPr/>
          <p:nvPr/>
        </p:nvSpPr>
        <p:spPr>
          <a:xfrm>
            <a:off x="10573207" y="2286000"/>
            <a:ext cx="566928" cy="566928"/>
          </a:xfrm>
          <a:prstGeom prst="ellipse">
            <a:avLst/>
          </a:prstGeom>
          <a:solidFill>
            <a:srgbClr val="D9AE4B"/>
          </a:solidFill>
          <a:ln/>
        </p:spPr>
      </p:sp>
      <p:sp>
        <p:nvSpPr>
          <p:cNvPr id="7" name="anim-g1-628"/>
          <p:cNvSpPr/>
          <p:nvPr/>
        </p:nvSpPr>
        <p:spPr>
          <a:xfrm>
            <a:off x="10573207" y="2286000"/>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١</a:t>
            </a:r>
            <a:endParaRPr lang="ar-SA" sz="2000" dirty="0"/>
          </a:p>
        </p:txBody>
      </p:sp>
      <p:sp>
        <p:nvSpPr>
          <p:cNvPr id="8" name="anim-g1-629"/>
          <p:cNvSpPr/>
          <p:nvPr/>
        </p:nvSpPr>
        <p:spPr>
          <a:xfrm>
            <a:off x="1097280" y="1920240"/>
            <a:ext cx="9247327" cy="1298448"/>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تشرح كيف يكتشف الحساس الأشعة تحت الحمراء من اللهب</a:t>
            </a:r>
            <a:endParaRPr lang="ar-SA" sz="2400" dirty="0"/>
          </a:p>
        </p:txBody>
      </p:sp>
      <p:sp>
        <p:nvSpPr>
          <p:cNvPr id="9" name="anim-g2-630"/>
          <p:cNvSpPr/>
          <p:nvPr/>
        </p:nvSpPr>
        <p:spPr>
          <a:xfrm>
            <a:off x="822960" y="3328416"/>
            <a:ext cx="10545775" cy="1298448"/>
          </a:xfrm>
          <a:prstGeom prst="roundRect">
            <a:avLst>
              <a:gd name="adj" fmla="val 11268"/>
            </a:avLst>
          </a:prstGeom>
          <a:solidFill>
            <a:srgbClr val="FFFFFF"/>
          </a:solidFill>
          <a:ln w="12700">
            <a:solidFill>
              <a:srgbClr val="E4DCC8"/>
            </a:solidFill>
            <a:prstDash val="solid"/>
          </a:ln>
        </p:spPr>
      </p:sp>
      <p:sp>
        <p:nvSpPr>
          <p:cNvPr id="10" name="anim-g2-631"/>
          <p:cNvSpPr/>
          <p:nvPr/>
        </p:nvSpPr>
        <p:spPr>
          <a:xfrm>
            <a:off x="10573207" y="3694176"/>
            <a:ext cx="566928" cy="566928"/>
          </a:xfrm>
          <a:prstGeom prst="ellipse">
            <a:avLst/>
          </a:prstGeom>
          <a:solidFill>
            <a:srgbClr val="D9AE4B"/>
          </a:solidFill>
          <a:ln/>
        </p:spPr>
      </p:sp>
      <p:sp>
        <p:nvSpPr>
          <p:cNvPr id="11" name="anim-g2-632"/>
          <p:cNvSpPr/>
          <p:nvPr/>
        </p:nvSpPr>
        <p:spPr>
          <a:xfrm>
            <a:off x="10573207" y="3694176"/>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٢</a:t>
            </a:r>
            <a:endParaRPr lang="ar-SA" sz="2000" dirty="0"/>
          </a:p>
        </p:txBody>
      </p:sp>
      <p:sp>
        <p:nvSpPr>
          <p:cNvPr id="12" name="anim-g2-633"/>
          <p:cNvSpPr/>
          <p:nvPr/>
        </p:nvSpPr>
        <p:spPr>
          <a:xfrm>
            <a:off x="1097280" y="3328416"/>
            <a:ext cx="9247327" cy="1298448"/>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تضبط حساسيته بالمقاومة المتغيرة</a:t>
            </a:r>
            <a:endParaRPr lang="ar-SA" sz="2400" dirty="0"/>
          </a:p>
        </p:txBody>
      </p:sp>
      <p:sp>
        <p:nvSpPr>
          <p:cNvPr id="13" name="anim-g3-634"/>
          <p:cNvSpPr/>
          <p:nvPr/>
        </p:nvSpPr>
        <p:spPr>
          <a:xfrm>
            <a:off x="822960" y="4736592"/>
            <a:ext cx="10545775" cy="1298448"/>
          </a:xfrm>
          <a:prstGeom prst="roundRect">
            <a:avLst>
              <a:gd name="adj" fmla="val 11268"/>
            </a:avLst>
          </a:prstGeom>
          <a:solidFill>
            <a:srgbClr val="FFFFFF"/>
          </a:solidFill>
          <a:ln w="12700">
            <a:solidFill>
              <a:srgbClr val="E4DCC8"/>
            </a:solidFill>
            <a:prstDash val="solid"/>
          </a:ln>
        </p:spPr>
      </p:sp>
      <p:sp>
        <p:nvSpPr>
          <p:cNvPr id="14" name="anim-g3-635"/>
          <p:cNvSpPr/>
          <p:nvPr/>
        </p:nvSpPr>
        <p:spPr>
          <a:xfrm>
            <a:off x="10573207" y="5102352"/>
            <a:ext cx="566928" cy="566928"/>
          </a:xfrm>
          <a:prstGeom prst="ellipse">
            <a:avLst/>
          </a:prstGeom>
          <a:solidFill>
            <a:srgbClr val="D9AE4B"/>
          </a:solidFill>
          <a:ln/>
        </p:spPr>
      </p:sp>
      <p:sp>
        <p:nvSpPr>
          <p:cNvPr id="15" name="anim-g3-636"/>
          <p:cNvSpPr/>
          <p:nvPr/>
        </p:nvSpPr>
        <p:spPr>
          <a:xfrm>
            <a:off x="10573207" y="5102352"/>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٣</a:t>
            </a:r>
            <a:endParaRPr lang="ar-SA" sz="2000" dirty="0"/>
          </a:p>
        </p:txBody>
      </p:sp>
      <p:sp>
        <p:nvSpPr>
          <p:cNvPr id="16" name="anim-g3-637"/>
          <p:cNvSpPr/>
          <p:nvPr/>
        </p:nvSpPr>
        <p:spPr>
          <a:xfrm>
            <a:off x="1097280" y="4736592"/>
            <a:ext cx="9247327" cy="1298448"/>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تكتب كودًا يضيء الأحمر ويطلق البازر عند اللهب</a:t>
            </a:r>
            <a:endParaRPr lang="ar-SA" sz="2400" dirty="0"/>
          </a:p>
        </p:txBody>
      </p:sp>
      <p:sp>
        <p:nvSpPr>
          <p:cNvPr id="17" name="Text 1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18" name="Text 1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السلامة: حساس اللهب  ·  ٨٦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87.xml><?xml version="1.0" encoding="utf-8"?>
<p:sld xmlns:a="http://schemas.openxmlformats.org/drawingml/2006/main" xmlns:r="http://schemas.openxmlformats.org/officeDocument/2006/relationships" xmlns:p="http://schemas.openxmlformats.org/presentationml/2006/main">
  <p:cSld name="Slide 8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027871" y="457200"/>
            <a:ext cx="2340864" cy="457200"/>
          </a:xfrm>
          <a:prstGeom prst="roundRect">
            <a:avLst>
              <a:gd name="adj" fmla="val 50000"/>
            </a:avLst>
          </a:prstGeom>
          <a:solidFill>
            <a:srgbClr val="F6EBCF"/>
          </a:solidFill>
          <a:ln/>
        </p:spPr>
      </p:sp>
      <p:sp>
        <p:nvSpPr>
          <p:cNvPr id="3" name="Text 1"/>
          <p:cNvSpPr/>
          <p:nvPr/>
        </p:nvSpPr>
        <p:spPr>
          <a:xfrm>
            <a:off x="9027871" y="457200"/>
            <a:ext cx="2340864"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داخل الحساس</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ثلاثة أشياء على اللوحة الصغيرة</a:t>
            </a:r>
            <a:endParaRPr lang="ar-SA" sz="3800" dirty="0"/>
          </a:p>
        </p:txBody>
      </p:sp>
      <p:sp>
        <p:nvSpPr>
          <p:cNvPr id="5" name="anim-g1-638"/>
          <p:cNvSpPr/>
          <p:nvPr/>
        </p:nvSpPr>
        <p:spPr>
          <a:xfrm>
            <a:off x="8036357"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639"/>
          <p:cNvSpPr/>
          <p:nvPr/>
        </p:nvSpPr>
        <p:spPr>
          <a:xfrm>
            <a:off x="10527487" y="2267712"/>
            <a:ext cx="566928" cy="566928"/>
          </a:xfrm>
          <a:prstGeom prst="roundRect">
            <a:avLst>
              <a:gd name="adj" fmla="val 32258"/>
            </a:avLst>
          </a:prstGeom>
          <a:solidFill>
            <a:srgbClr val="F7E6BC"/>
          </a:solidFill>
          <a:ln/>
        </p:spPr>
      </p:sp>
      <p:sp>
        <p:nvSpPr>
          <p:cNvPr id="7" name="anim-g1-640"/>
          <p:cNvSpPr/>
          <p:nvPr/>
        </p:nvSpPr>
        <p:spPr>
          <a:xfrm>
            <a:off x="10527487"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641"/>
          <p:cNvSpPr/>
          <p:nvPr/>
        </p:nvSpPr>
        <p:spPr>
          <a:xfrm>
            <a:off x="8310677"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الثنائي الضوئي</a:t>
            </a:r>
            <a:endParaRPr lang="ar-SA" sz="2200" dirty="0"/>
          </a:p>
        </p:txBody>
      </p:sp>
      <p:sp>
        <p:nvSpPr>
          <p:cNvPr id="9" name="anim-g1-642"/>
          <p:cNvSpPr/>
          <p:nvPr/>
        </p:nvSpPr>
        <p:spPr>
          <a:xfrm>
            <a:off x="8310677"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يرى الأشعة تحت الحمراء (٧٦٠–١١٠٠ نانومتر) التي يطلقها اللهب</a:t>
            </a:r>
            <a:endParaRPr lang="ar-SA" sz="1900" dirty="0"/>
          </a:p>
        </p:txBody>
      </p:sp>
      <p:sp>
        <p:nvSpPr>
          <p:cNvPr id="10" name="anim-g2-643"/>
          <p:cNvSpPr/>
          <p:nvPr/>
        </p:nvSpPr>
        <p:spPr>
          <a:xfrm>
            <a:off x="4429658"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644"/>
          <p:cNvSpPr/>
          <p:nvPr/>
        </p:nvSpPr>
        <p:spPr>
          <a:xfrm>
            <a:off x="6920789" y="2267712"/>
            <a:ext cx="566928" cy="566928"/>
          </a:xfrm>
          <a:prstGeom prst="roundRect">
            <a:avLst>
              <a:gd name="adj" fmla="val 32258"/>
            </a:avLst>
          </a:prstGeom>
          <a:solidFill>
            <a:srgbClr val="F7E6BC"/>
          </a:solidFill>
          <a:ln/>
        </p:spPr>
      </p:sp>
      <p:sp>
        <p:nvSpPr>
          <p:cNvPr id="12" name="anim-g2-645"/>
          <p:cNvSpPr/>
          <p:nvPr/>
        </p:nvSpPr>
        <p:spPr>
          <a:xfrm>
            <a:off x="6920789"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646"/>
          <p:cNvSpPr/>
          <p:nvPr/>
        </p:nvSpPr>
        <p:spPr>
          <a:xfrm>
            <a:off x="4703978"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المقاومة الزرقاء</a:t>
            </a:r>
            <a:endParaRPr lang="ar-SA" sz="2200" dirty="0"/>
          </a:p>
        </p:txBody>
      </p:sp>
      <p:sp>
        <p:nvSpPr>
          <p:cNvPr id="14" name="anim-g2-647"/>
          <p:cNvSpPr/>
          <p:nvPr/>
        </p:nvSpPr>
        <p:spPr>
          <a:xfrm>
            <a:off x="4703978"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تضبط الحساسية: متى يقرر أن ما يراه «نار»</a:t>
            </a:r>
            <a:endParaRPr lang="ar-SA" sz="1900" dirty="0"/>
          </a:p>
        </p:txBody>
      </p:sp>
      <p:sp>
        <p:nvSpPr>
          <p:cNvPr id="15" name="anim-g3-648"/>
          <p:cNvSpPr/>
          <p:nvPr/>
        </p:nvSpPr>
        <p:spPr>
          <a:xfrm>
            <a:off x="822960"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649"/>
          <p:cNvSpPr/>
          <p:nvPr/>
        </p:nvSpPr>
        <p:spPr>
          <a:xfrm>
            <a:off x="3314090" y="2267712"/>
            <a:ext cx="566928" cy="566928"/>
          </a:xfrm>
          <a:prstGeom prst="roundRect">
            <a:avLst>
              <a:gd name="adj" fmla="val 32258"/>
            </a:avLst>
          </a:prstGeom>
          <a:solidFill>
            <a:srgbClr val="F7E6BC"/>
          </a:solidFill>
          <a:ln/>
        </p:spPr>
      </p:sp>
      <p:sp>
        <p:nvSpPr>
          <p:cNvPr id="17" name="anim-g3-650"/>
          <p:cNvSpPr/>
          <p:nvPr/>
        </p:nvSpPr>
        <p:spPr>
          <a:xfrm>
            <a:off x="3314090"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651"/>
          <p:cNvSpPr/>
          <p:nvPr/>
        </p:nvSpPr>
        <p:spPr>
          <a:xfrm>
            <a:off x="1097280"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DO</a:t>
            </a:r>
            <a:endParaRPr lang="ar-SA" sz="2200" dirty="0"/>
          </a:p>
        </p:txBody>
      </p:sp>
      <p:sp>
        <p:nvSpPr>
          <p:cNvPr id="19" name="anim-g3-652"/>
          <p:cNvSpPr/>
          <p:nvPr/>
        </p:nvSpPr>
        <p:spPr>
          <a:xfrm>
            <a:off x="1097280"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مخرج رقمي: LOW عند اللهب، وHIGH في الأمان</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السلامة: حساس اللهب  ·  ٨٧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Image 0" descr="C:\Users\user\projects\younes-training\turath\.pptx-cache\s88.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Image 0" descr="C:\Users\user\projects\younes-training\turath\.pptx-cache\s89-0.jpg">    </p:cNvPr>
          <p:cNvPicPr>
            <a:picLocks noChangeAspect="1"/>
          </p:cNvPicPr>
          <p:nvPr/>
        </p:nvPicPr>
        <p:blipFill>
          <a:blip r:embed="rId1"/>
          <a:stretch>
            <a:fillRect/>
          </a:stretch>
        </p:blipFill>
        <p:spPr>
          <a:xfrm>
            <a:off x="0" y="0"/>
            <a:ext cx="12191695" cy="6858000"/>
          </a:xfrm>
          <a:prstGeom prst="rect">
            <a:avLst/>
          </a:prstGeom>
        </p:spPr>
      </p:pic>
      <p:pic>
        <p:nvPicPr>
          <p:cNvPr id="3" name="anim-g1-653" descr="C:\Users\user\projects\younes-training\turath\.pptx-cache\s89-1.jpg">    </p:cNvPr>
          <p:cNvPicPr>
            <a:picLocks noChangeAspect="1"/>
          </p:cNvPicPr>
          <p:nvPr/>
        </p:nvPicPr>
        <p:blipFill>
          <a:blip r:embed="rId2"/>
          <a:stretch>
            <a:fillRect/>
          </a:stretch>
        </p:blipFill>
        <p:spPr>
          <a:xfrm>
            <a:off x="0" y="0"/>
            <a:ext cx="12191695" cy="6858000"/>
          </a:xfrm>
          <a:prstGeom prst="rect">
            <a:avLst/>
          </a:prstGeom>
        </p:spPr>
      </p:pic>
      <p:pic>
        <p:nvPicPr>
          <p:cNvPr id="4" name="anim-g2-654" descr="C:\Users\user\projects\younes-training\turath\.pptx-cache\s89-2.jpg">    </p:cNvPr>
          <p:cNvPicPr>
            <a:picLocks noChangeAspect="1"/>
          </p:cNvPicPr>
          <p:nvPr/>
        </p:nvPicPr>
        <p:blipFill>
          <a:blip r:embed="rId3"/>
          <a:stretch>
            <a:fillRect/>
          </a:stretch>
        </p:blipFill>
        <p:spPr>
          <a:xfrm>
            <a:off x="0" y="0"/>
            <a:ext cx="12191695" cy="6858000"/>
          </a:xfrm>
          <a:prstGeom prst="rect">
            <a:avLst/>
          </a:prstGeom>
        </p:spPr>
      </p:pic>
      <p:pic>
        <p:nvPicPr>
          <p:cNvPr id="5" name="anim-g3-655" descr="C:\Users\user\projects\younes-training\turath\.pptx-cache\s89-3.jpg">    </p:cNvPr>
          <p:cNvPicPr>
            <a:picLocks noChangeAspect="1"/>
          </p:cNvPicPr>
          <p:nvPr/>
        </p:nvPicPr>
        <p:blipFill>
          <a:blip r:embed="rId4"/>
          <a:stretch>
            <a:fillRect/>
          </a:stretch>
        </p:blipFill>
        <p:spPr>
          <a:xfrm>
            <a:off x="0" y="0"/>
            <a:ext cx="12191695" cy="6858000"/>
          </a:xfrm>
          <a:prstGeom prst="rect">
            <a:avLst/>
          </a:prstGeom>
        </p:spPr>
      </p:pic>
      <p:pic>
        <p:nvPicPr>
          <p:cNvPr id="6" name="anim-g4-656" descr="C:\Users\user\projects\younes-training\turath\.pptx-cache\s89-4.jpg">    </p:cNvPr>
          <p:cNvPicPr>
            <a:picLocks noChangeAspect="1"/>
          </p:cNvPicPr>
          <p:nvPr/>
        </p:nvPicPr>
        <p:blipFill>
          <a:blip r:embed="rId5"/>
          <a:stretch>
            <a:fillRect/>
          </a:stretch>
        </p:blipFill>
        <p:spPr>
          <a:xfrm>
            <a:off x="0" y="0"/>
            <a:ext cx="12191695" cy="6858000"/>
          </a:xfrm>
          <a:prstGeom prst="rect">
            <a:avLst/>
          </a:prstGeom>
        </p:spPr>
      </p:pic>
      <p:pic>
        <p:nvPicPr>
          <p:cNvPr id="7" name="anim-g5-657" descr="C:\Users\user\projects\younes-training\turath\.pptx-cache\s89-5.jpg">    </p:cNvPr>
          <p:cNvPicPr>
            <a:picLocks noChangeAspect="1"/>
          </p:cNvPicPr>
          <p:nvPr/>
        </p:nvPicPr>
        <p:blipFill>
          <a:blip r:embed="rId6"/>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Image 0" descr="C:\Users\user\projects\younes-training\turath\.pptx-cache\s90-0.jpg">    </p:cNvPr>
          <p:cNvPicPr>
            <a:picLocks noChangeAspect="1"/>
          </p:cNvPicPr>
          <p:nvPr/>
        </p:nvPicPr>
        <p:blipFill>
          <a:blip r:embed="rId1"/>
          <a:stretch>
            <a:fillRect/>
          </a:stretch>
        </p:blipFill>
        <p:spPr>
          <a:xfrm>
            <a:off x="0" y="0"/>
            <a:ext cx="12191695" cy="6858000"/>
          </a:xfrm>
          <a:prstGeom prst="rect">
            <a:avLst/>
          </a:prstGeom>
        </p:spPr>
      </p:pic>
      <p:pic>
        <p:nvPicPr>
          <p:cNvPr id="3" name="anim-g1-658" descr="C:\Users\user\projects\younes-training\turath\.pptx-cache\s90-1.jpg">    </p:cNvPr>
          <p:cNvPicPr>
            <a:picLocks noChangeAspect="1"/>
          </p:cNvPicPr>
          <p:nvPr/>
        </p:nvPicPr>
        <p:blipFill>
          <a:blip r:embed="rId2"/>
          <a:stretch>
            <a:fillRect/>
          </a:stretch>
        </p:blipFill>
        <p:spPr>
          <a:xfrm>
            <a:off x="0" y="0"/>
            <a:ext cx="12191695" cy="6858000"/>
          </a:xfrm>
          <a:prstGeom prst="rect">
            <a:avLst/>
          </a:prstGeom>
        </p:spPr>
      </p:pic>
      <p:pic>
        <p:nvPicPr>
          <p:cNvPr id="4" name="anim-g2-659" descr="C:\Users\user\projects\younes-training\turath\.pptx-cache\s90-2.jpg">    </p:cNvPr>
          <p:cNvPicPr>
            <a:picLocks noChangeAspect="1"/>
          </p:cNvPicPr>
          <p:nvPr/>
        </p:nvPicPr>
        <p:blipFill>
          <a:blip r:embed="rId3"/>
          <a:stretch>
            <a:fillRect/>
          </a:stretch>
        </p:blipFill>
        <p:spPr>
          <a:xfrm>
            <a:off x="0" y="0"/>
            <a:ext cx="12191695" cy="6858000"/>
          </a:xfrm>
          <a:prstGeom prst="rect">
            <a:avLst/>
          </a:prstGeom>
        </p:spPr>
      </p:pic>
      <p:pic>
        <p:nvPicPr>
          <p:cNvPr id="5" name="anim-g3-660" descr="C:\Users\user\projects\younes-training\turath\.pptx-cache\s90-3.jpg">    </p:cNvPr>
          <p:cNvPicPr>
            <a:picLocks noChangeAspect="1"/>
          </p:cNvPicPr>
          <p:nvPr/>
        </p:nvPicPr>
        <p:blipFill>
          <a:blip r:embed="rId4"/>
          <a:stretch>
            <a:fillRect/>
          </a:stretch>
        </p:blipFill>
        <p:spPr>
          <a:xfrm>
            <a:off x="0" y="0"/>
            <a:ext cx="12191695" cy="6858000"/>
          </a:xfrm>
          <a:prstGeom prst="rect">
            <a:avLst/>
          </a:prstGeom>
        </p:spPr>
      </p:pic>
      <p:pic>
        <p:nvPicPr>
          <p:cNvPr id="6" name="anim-g4-661" descr="C:\Users\user\projects\younes-training\turath\.pptx-cache\s90-4.jpg">    </p:cNvPr>
          <p:cNvPicPr>
            <a:picLocks noChangeAspect="1"/>
          </p:cNvPicPr>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1.xml><?xml version="1.0" encoding="utf-8"?>
<p:sld xmlns:a="http://schemas.openxmlformats.org/drawingml/2006/main" xmlns:r="http://schemas.openxmlformats.org/officeDocument/2006/relationships" xmlns:p="http://schemas.openxmlformats.org/presentationml/2006/main">
  <p:cSld name="Slide 9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881567" y="457200"/>
            <a:ext cx="2487168" cy="457200"/>
          </a:xfrm>
          <a:prstGeom prst="roundRect">
            <a:avLst>
              <a:gd name="adj" fmla="val 50000"/>
            </a:avLst>
          </a:prstGeom>
          <a:solidFill>
            <a:srgbClr val="F6EBCF"/>
          </a:solidFill>
          <a:ln/>
        </p:spPr>
      </p:sp>
      <p:sp>
        <p:nvSpPr>
          <p:cNvPr id="3" name="Text 1"/>
          <p:cNvSpPr/>
          <p:nvPr/>
        </p:nvSpPr>
        <p:spPr>
          <a:xfrm>
            <a:off x="8881567" y="45720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اختبر نفسك</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المحطة تنذر بنار كل صباح حين تُفتح النافذة. ما الحل الأفضل؟</a:t>
            </a:r>
            <a:endParaRPr lang="ar-SA" sz="3200" dirty="0"/>
          </a:p>
        </p:txBody>
      </p:sp>
      <p:sp>
        <p:nvSpPr>
          <p:cNvPr id="5" name="Shape 3"/>
          <p:cNvSpPr/>
          <p:nvPr/>
        </p:nvSpPr>
        <p:spPr>
          <a:xfrm>
            <a:off x="822960" y="2057400"/>
            <a:ext cx="10545775" cy="1228344"/>
          </a:xfrm>
          <a:prstGeom prst="roundRect">
            <a:avLst>
              <a:gd name="adj" fmla="val 11911"/>
            </a:avLst>
          </a:prstGeom>
          <a:solidFill>
            <a:srgbClr val="FFFFFF"/>
          </a:solidFill>
          <a:ln w="19050">
            <a:solidFill>
              <a:srgbClr val="E4DCC8"/>
            </a:solidFill>
            <a:prstDash val="solid"/>
          </a:ln>
        </p:spPr>
      </p:sp>
      <p:sp>
        <p:nvSpPr>
          <p:cNvPr id="6" name="Shape 4"/>
          <p:cNvSpPr/>
          <p:nvPr/>
        </p:nvSpPr>
        <p:spPr>
          <a:xfrm>
            <a:off x="10231831" y="2194560"/>
            <a:ext cx="954024" cy="954024"/>
          </a:xfrm>
          <a:prstGeom prst="roundRect">
            <a:avLst>
              <a:gd name="adj" fmla="val 11502"/>
            </a:avLst>
          </a:prstGeom>
          <a:solidFill>
            <a:srgbClr val="101B45"/>
          </a:solidFill>
          <a:ln/>
        </p:spPr>
      </p:sp>
      <p:sp>
        <p:nvSpPr>
          <p:cNvPr id="7" name="Text 5"/>
          <p:cNvSpPr/>
          <p:nvPr/>
        </p:nvSpPr>
        <p:spPr>
          <a:xfrm>
            <a:off x="10231831" y="2194560"/>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8" name="Text 6"/>
          <p:cNvSpPr/>
          <p:nvPr/>
        </p:nvSpPr>
        <p:spPr>
          <a:xfrm>
            <a:off x="1097280" y="2057400"/>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نزيل البازر</a:t>
            </a:r>
            <a:endParaRPr lang="ar-SA" sz="2500" dirty="0"/>
          </a:p>
        </p:txBody>
      </p:sp>
      <p:sp>
        <p:nvSpPr>
          <p:cNvPr id="9" name="anim-g1-662"/>
          <p:cNvSpPr/>
          <p:nvPr/>
        </p:nvSpPr>
        <p:spPr>
          <a:xfrm>
            <a:off x="822960" y="2057400"/>
            <a:ext cx="10545775" cy="1228344"/>
          </a:xfrm>
          <a:prstGeom prst="roundRect">
            <a:avLst>
              <a:gd name="adj" fmla="val 11911"/>
            </a:avLst>
          </a:prstGeom>
          <a:solidFill>
            <a:srgbClr val="F7F7F9"/>
          </a:solidFill>
          <a:ln w="19050">
            <a:solidFill>
              <a:srgbClr val="E4DCC8"/>
            </a:solidFill>
            <a:prstDash val="solid"/>
          </a:ln>
        </p:spPr>
      </p:sp>
      <p:sp>
        <p:nvSpPr>
          <p:cNvPr id="10" name="anim-g1-663"/>
          <p:cNvSpPr/>
          <p:nvPr/>
        </p:nvSpPr>
        <p:spPr>
          <a:xfrm>
            <a:off x="10231831" y="2194560"/>
            <a:ext cx="954024" cy="954024"/>
          </a:xfrm>
          <a:prstGeom prst="roundRect">
            <a:avLst>
              <a:gd name="adj" fmla="val 11502"/>
            </a:avLst>
          </a:prstGeom>
          <a:solidFill>
            <a:srgbClr val="A3A9BA"/>
          </a:solidFill>
          <a:ln/>
        </p:spPr>
      </p:sp>
      <p:sp>
        <p:nvSpPr>
          <p:cNvPr id="11" name="anim-g1-664"/>
          <p:cNvSpPr/>
          <p:nvPr/>
        </p:nvSpPr>
        <p:spPr>
          <a:xfrm>
            <a:off x="10231831" y="2194560"/>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12" name="anim-g1-665"/>
          <p:cNvSpPr/>
          <p:nvPr/>
        </p:nvSpPr>
        <p:spPr>
          <a:xfrm>
            <a:off x="1097280" y="2093976"/>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8A90A3"/>
                </a:solidFill>
                <a:latin typeface="Cairo" pitchFamily="34" charset="0"/>
                <a:ea typeface="Cairo" pitchFamily="34" charset="-122"/>
                <a:cs typeface="Cairo" pitchFamily="34" charset="-120"/>
              </a:rPr>
              <a:t>نزيل البازر</a:t>
            </a:r>
            <a:endParaRPr lang="ar-SA" sz="2400" dirty="0"/>
          </a:p>
        </p:txBody>
      </p:sp>
      <p:sp>
        <p:nvSpPr>
          <p:cNvPr id="13" name="anim-g1-666"/>
          <p:cNvSpPr/>
          <p:nvPr/>
        </p:nvSpPr>
        <p:spPr>
          <a:xfrm>
            <a:off x="1097280" y="2720706"/>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نفقد التنبيه كله: خطر</a:t>
            </a:r>
            <a:endParaRPr lang="ar-SA" sz="1800" dirty="0"/>
          </a:p>
        </p:txBody>
      </p:sp>
      <p:sp>
        <p:nvSpPr>
          <p:cNvPr id="14" name="Shape 12"/>
          <p:cNvSpPr/>
          <p:nvPr/>
        </p:nvSpPr>
        <p:spPr>
          <a:xfrm>
            <a:off x="822960" y="3432048"/>
            <a:ext cx="10545775" cy="1228344"/>
          </a:xfrm>
          <a:prstGeom prst="roundRect">
            <a:avLst>
              <a:gd name="adj" fmla="val 11911"/>
            </a:avLst>
          </a:prstGeom>
          <a:solidFill>
            <a:srgbClr val="FFFFFF"/>
          </a:solidFill>
          <a:ln w="19050">
            <a:solidFill>
              <a:srgbClr val="E4DCC8"/>
            </a:solidFill>
            <a:prstDash val="solid"/>
          </a:ln>
        </p:spPr>
      </p:sp>
      <p:sp>
        <p:nvSpPr>
          <p:cNvPr id="15" name="Shape 13"/>
          <p:cNvSpPr/>
          <p:nvPr/>
        </p:nvSpPr>
        <p:spPr>
          <a:xfrm>
            <a:off x="10231831" y="3569208"/>
            <a:ext cx="954024" cy="954024"/>
          </a:xfrm>
          <a:prstGeom prst="roundRect">
            <a:avLst>
              <a:gd name="adj" fmla="val 11502"/>
            </a:avLst>
          </a:prstGeom>
          <a:solidFill>
            <a:srgbClr val="101B45"/>
          </a:solidFill>
          <a:ln/>
        </p:spPr>
      </p:sp>
      <p:sp>
        <p:nvSpPr>
          <p:cNvPr id="16" name="Text 14"/>
          <p:cNvSpPr/>
          <p:nvPr/>
        </p:nvSpPr>
        <p:spPr>
          <a:xfrm>
            <a:off x="10231831" y="3569208"/>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17" name="Text 15"/>
          <p:cNvSpPr/>
          <p:nvPr/>
        </p:nvSpPr>
        <p:spPr>
          <a:xfrm>
            <a:off x="1097280" y="3432048"/>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نغيّر الحساس بنوع آخر</a:t>
            </a:r>
            <a:endParaRPr lang="ar-SA" sz="2500" dirty="0"/>
          </a:p>
        </p:txBody>
      </p:sp>
      <p:sp>
        <p:nvSpPr>
          <p:cNvPr id="18" name="anim-g1-667"/>
          <p:cNvSpPr/>
          <p:nvPr/>
        </p:nvSpPr>
        <p:spPr>
          <a:xfrm>
            <a:off x="822960" y="3432048"/>
            <a:ext cx="10545775" cy="1228344"/>
          </a:xfrm>
          <a:prstGeom prst="roundRect">
            <a:avLst>
              <a:gd name="adj" fmla="val 11911"/>
            </a:avLst>
          </a:prstGeom>
          <a:solidFill>
            <a:srgbClr val="F7F7F9"/>
          </a:solidFill>
          <a:ln w="19050">
            <a:solidFill>
              <a:srgbClr val="E4DCC8"/>
            </a:solidFill>
            <a:prstDash val="solid"/>
          </a:ln>
        </p:spPr>
      </p:sp>
      <p:sp>
        <p:nvSpPr>
          <p:cNvPr id="19" name="anim-g1-668"/>
          <p:cNvSpPr/>
          <p:nvPr/>
        </p:nvSpPr>
        <p:spPr>
          <a:xfrm>
            <a:off x="10231831" y="3569208"/>
            <a:ext cx="954024" cy="954024"/>
          </a:xfrm>
          <a:prstGeom prst="roundRect">
            <a:avLst>
              <a:gd name="adj" fmla="val 11502"/>
            </a:avLst>
          </a:prstGeom>
          <a:solidFill>
            <a:srgbClr val="A3A9BA"/>
          </a:solidFill>
          <a:ln/>
        </p:spPr>
      </p:sp>
      <p:sp>
        <p:nvSpPr>
          <p:cNvPr id="20" name="anim-g1-669"/>
          <p:cNvSpPr/>
          <p:nvPr/>
        </p:nvSpPr>
        <p:spPr>
          <a:xfrm>
            <a:off x="10231831" y="3569208"/>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21" name="anim-g1-670"/>
          <p:cNvSpPr/>
          <p:nvPr/>
        </p:nvSpPr>
        <p:spPr>
          <a:xfrm>
            <a:off x="1097280" y="3468624"/>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8A90A3"/>
                </a:solidFill>
                <a:latin typeface="Cairo" pitchFamily="34" charset="0"/>
                <a:ea typeface="Cairo" pitchFamily="34" charset="-122"/>
                <a:cs typeface="Cairo" pitchFamily="34" charset="-120"/>
              </a:rPr>
              <a:t>نغيّر الحساس بنوع آخر</a:t>
            </a:r>
            <a:endParaRPr lang="ar-SA" sz="2400" dirty="0"/>
          </a:p>
        </p:txBody>
      </p:sp>
      <p:sp>
        <p:nvSpPr>
          <p:cNvPr id="22" name="anim-g1-671"/>
          <p:cNvSpPr/>
          <p:nvPr/>
        </p:nvSpPr>
        <p:spPr>
          <a:xfrm>
            <a:off x="1097280" y="4095354"/>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الحساس سليم، المشكلة في الضبط</a:t>
            </a:r>
            <a:endParaRPr lang="ar-SA" sz="1800" dirty="0"/>
          </a:p>
        </p:txBody>
      </p:sp>
      <p:sp>
        <p:nvSpPr>
          <p:cNvPr id="23" name="Shape 21"/>
          <p:cNvSpPr/>
          <p:nvPr/>
        </p:nvSpPr>
        <p:spPr>
          <a:xfrm>
            <a:off x="822960" y="4806696"/>
            <a:ext cx="10545775" cy="1228344"/>
          </a:xfrm>
          <a:prstGeom prst="roundRect">
            <a:avLst>
              <a:gd name="adj" fmla="val 11911"/>
            </a:avLst>
          </a:prstGeom>
          <a:solidFill>
            <a:srgbClr val="FFFFFF"/>
          </a:solidFill>
          <a:ln w="19050">
            <a:solidFill>
              <a:srgbClr val="E4DCC8"/>
            </a:solidFill>
            <a:prstDash val="solid"/>
          </a:ln>
        </p:spPr>
      </p:sp>
      <p:sp>
        <p:nvSpPr>
          <p:cNvPr id="24" name="Shape 22"/>
          <p:cNvSpPr/>
          <p:nvPr/>
        </p:nvSpPr>
        <p:spPr>
          <a:xfrm>
            <a:off x="10231831" y="4943856"/>
            <a:ext cx="954024" cy="954024"/>
          </a:xfrm>
          <a:prstGeom prst="roundRect">
            <a:avLst>
              <a:gd name="adj" fmla="val 11502"/>
            </a:avLst>
          </a:prstGeom>
          <a:solidFill>
            <a:srgbClr val="101B45"/>
          </a:solidFill>
          <a:ln/>
        </p:spPr>
      </p:sp>
      <p:sp>
        <p:nvSpPr>
          <p:cNvPr id="25" name="Text 23"/>
          <p:cNvSpPr/>
          <p:nvPr/>
        </p:nvSpPr>
        <p:spPr>
          <a:xfrm>
            <a:off x="10231831" y="4943856"/>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26" name="Text 24"/>
          <p:cNvSpPr/>
          <p:nvPr/>
        </p:nvSpPr>
        <p:spPr>
          <a:xfrm>
            <a:off x="1097280" y="4806696"/>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نقلل الحساسية ونوجّه الحساس بعيدًا عن النافذة</a:t>
            </a:r>
            <a:endParaRPr lang="ar-SA" sz="2500" dirty="0"/>
          </a:p>
        </p:txBody>
      </p:sp>
      <p:sp>
        <p:nvSpPr>
          <p:cNvPr id="27" name="anim-g1-672"/>
          <p:cNvSpPr/>
          <p:nvPr/>
        </p:nvSpPr>
        <p:spPr>
          <a:xfrm>
            <a:off x="822960" y="4806696"/>
            <a:ext cx="10545775" cy="1228344"/>
          </a:xfrm>
          <a:prstGeom prst="roundRect">
            <a:avLst>
              <a:gd name="adj" fmla="val 11911"/>
            </a:avLst>
          </a:prstGeom>
          <a:solidFill>
            <a:srgbClr val="E6F4EC"/>
          </a:solidFill>
          <a:ln w="31750">
            <a:solidFill>
              <a:srgbClr val="2E9E6B"/>
            </a:solidFill>
            <a:prstDash val="solid"/>
          </a:ln>
        </p:spPr>
      </p:sp>
      <p:sp>
        <p:nvSpPr>
          <p:cNvPr id="28" name="anim-g1-673"/>
          <p:cNvSpPr/>
          <p:nvPr/>
        </p:nvSpPr>
        <p:spPr>
          <a:xfrm>
            <a:off x="10231831" y="4943856"/>
            <a:ext cx="954024" cy="954024"/>
          </a:xfrm>
          <a:prstGeom prst="roundRect">
            <a:avLst>
              <a:gd name="adj" fmla="val 11502"/>
            </a:avLst>
          </a:prstGeom>
          <a:solidFill>
            <a:srgbClr val="2E9E6B"/>
          </a:solidFill>
          <a:ln/>
        </p:spPr>
      </p:sp>
      <p:sp>
        <p:nvSpPr>
          <p:cNvPr id="29" name="anim-g1-674"/>
          <p:cNvSpPr/>
          <p:nvPr/>
        </p:nvSpPr>
        <p:spPr>
          <a:xfrm>
            <a:off x="10231831" y="4943856"/>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a:t>
            </a:r>
            <a:endParaRPr lang="ar-SA" sz="2400" dirty="0"/>
          </a:p>
        </p:txBody>
      </p:sp>
      <p:sp>
        <p:nvSpPr>
          <p:cNvPr id="30" name="anim-g1-675"/>
          <p:cNvSpPr/>
          <p:nvPr/>
        </p:nvSpPr>
        <p:spPr>
          <a:xfrm>
            <a:off x="1097280" y="4843272"/>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131B34"/>
                </a:solidFill>
                <a:latin typeface="Cairo" pitchFamily="34" charset="0"/>
                <a:ea typeface="Cairo" pitchFamily="34" charset="-122"/>
                <a:cs typeface="Cairo" pitchFamily="34" charset="-120"/>
              </a:rPr>
              <a:t>نقلل الحساسية ونوجّه الحساس بعيدًا عن النافذة</a:t>
            </a:r>
            <a:endParaRPr lang="ar-SA" sz="2400" dirty="0"/>
          </a:p>
        </p:txBody>
      </p:sp>
      <p:sp>
        <p:nvSpPr>
          <p:cNvPr id="31" name="anim-g1-676"/>
          <p:cNvSpPr/>
          <p:nvPr/>
        </p:nvSpPr>
        <p:spPr>
          <a:xfrm>
            <a:off x="1097280" y="5470002"/>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1D5E40"/>
                </a:solidFill>
                <a:latin typeface="Cairo" pitchFamily="34" charset="0"/>
                <a:ea typeface="Cairo" pitchFamily="34" charset="-122"/>
                <a:cs typeface="Cairo" pitchFamily="34" charset="-120"/>
              </a:rPr>
              <a:t>الضبط والمكان يحلان الإنذار الكاذب دون التضحية بالأمان</a:t>
            </a:r>
            <a:endParaRPr lang="ar-SA" sz="1800" dirty="0"/>
          </a:p>
        </p:txBody>
      </p:sp>
      <p:sp>
        <p:nvSpPr>
          <p:cNvPr id="32" name="Text 3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33" name="Text 3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السلامة: حساس اللهب  ·  ٩١</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Lst>
  </p:timing>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Image 0" descr="C:\Users\user\projects\younes-training\turath\.pptx-cache\s92.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خلاصة المحور</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rtl="1"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عين صغيرة ترى ما لا نراه، وسطران يحولان رؤيتها إلى ضوء أحمر وصوت ينذر</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لمسة تراث</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 السلامة: حساس اللهب  ·  ٩٣</a:t>
            </a:r>
            <a:endParaRPr lang="ar-SA" sz="12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097280" y="2103120"/>
            <a:ext cx="2651760" cy="2651760"/>
          </a:xfrm>
          <a:prstGeom prst="ellipse">
            <a:avLst/>
          </a:prstGeom>
          <a:solidFill>
            <a:srgbClr val="D9AE4B">
              <a:alpha val="12000"/>
            </a:srgbClr>
          </a:solidFill>
          <a:ln w="63500">
            <a:solidFill>
              <a:srgbClr val="D9AE4B">
                <a:alpha val="60000"/>
              </a:srgbClr>
            </a:solidFill>
            <a:prstDash val="solid"/>
          </a:ln>
        </p:spPr>
      </p:sp>
      <p:sp>
        <p:nvSpPr>
          <p:cNvPr id="3" name="Text 1"/>
          <p:cNvSpPr/>
          <p:nvPr/>
        </p:nvSpPr>
        <p:spPr>
          <a:xfrm>
            <a:off x="1097280" y="2103120"/>
            <a:ext cx="2651760" cy="2651760"/>
          </a:xfrm>
          <a:prstGeom prst="rect">
            <a:avLst/>
          </a:prstGeom>
          <a:noFill/>
          <a:ln/>
        </p:spPr>
        <p:txBody>
          <a:bodyPr wrap="square" lIns="0" tIns="0" rIns="0" bIns="0" rtlCol="0" anchor="ctr">
            <a:normAutofit/>
          </a:bodyPr>
          <a:lstStyle/>
          <a:p>
            <a:pPr rtl="1" algn="ctr" indent="0" marL="0">
              <a:buNone/>
            </a:pPr>
            <a:r>
              <a:rPr lang="ar-SA" altLang="en-US" sz="12000" dirty="0">
                <a:solidFill>
                  <a:srgbClr val="F0CC7A"/>
                </a:solidFill>
                <a:latin typeface="Cairo Black" pitchFamily="34" charset="0"/>
                <a:ea typeface="Cairo Black" pitchFamily="34" charset="-122"/>
                <a:cs typeface="Cairo Black" pitchFamily="34" charset="-120"/>
              </a:rPr>
              <a:t>١٠</a:t>
            </a:r>
            <a:endParaRPr lang="ar-SA" sz="12000" dirty="0"/>
          </a:p>
        </p:txBody>
      </p:sp>
      <p:sp>
        <p:nvSpPr>
          <p:cNvPr id="4" name="Text 2"/>
          <p:cNvSpPr/>
          <p:nvPr/>
        </p:nvSpPr>
        <p:spPr>
          <a:xfrm>
            <a:off x="4206240" y="1828800"/>
            <a:ext cx="7162495" cy="457200"/>
          </a:xfrm>
          <a:prstGeom prst="rect">
            <a:avLst/>
          </a:prstGeom>
          <a:noFill/>
          <a:ln/>
        </p:spPr>
        <p:txBody>
          <a:bodyPr wrap="square" lIns="0" tIns="0" rIns="0" bIns="0" rtlCol="0" anchor="ctr">
            <a:normAutofit/>
          </a:bodyPr>
          <a:lstStyle/>
          <a:p>
            <a:pPr rtl="1" algn="r" indent="0" marL="0">
              <a:buNone/>
            </a:pPr>
            <a:r>
              <a:rPr lang="ar-SA" altLang="en-US" sz="2000" b="1" dirty="0">
                <a:solidFill>
                  <a:srgbClr val="D9AE4B"/>
                </a:solidFill>
                <a:latin typeface="Cairo" pitchFamily="34" charset="0"/>
                <a:ea typeface="Cairo" pitchFamily="34" charset="-122"/>
                <a:cs typeface="Cairo" pitchFamily="34" charset="-120"/>
              </a:rPr>
              <a:t>المحور ١٠</a:t>
            </a:r>
            <a:endParaRPr lang="ar-SA" sz="2000" dirty="0"/>
          </a:p>
        </p:txBody>
      </p:sp>
      <p:sp>
        <p:nvSpPr>
          <p:cNvPr id="5" name="Text 3"/>
          <p:cNvSpPr/>
          <p:nvPr/>
        </p:nvSpPr>
        <p:spPr>
          <a:xfrm>
            <a:off x="4206240" y="2286000"/>
            <a:ext cx="7162495" cy="1371600"/>
          </a:xfrm>
          <a:prstGeom prst="rect">
            <a:avLst/>
          </a:prstGeom>
          <a:noFill/>
          <a:ln/>
        </p:spPr>
        <p:txBody>
          <a:bodyPr wrap="square" lIns="0" tIns="0" rIns="0" bIns="0" rtlCol="0" anchor="ctr">
            <a:normAutofit/>
          </a:bodyPr>
          <a:lstStyle/>
          <a:p>
            <a:pPr rtl="1" algn="r" indent="0" marL="0">
              <a:buNone/>
            </a:pPr>
            <a:r>
              <a:rPr lang="ar-SA" altLang="en-US" sz="5600" dirty="0">
                <a:solidFill>
                  <a:srgbClr val="FFFFFF"/>
                </a:solidFill>
                <a:latin typeface="Cairo Black" pitchFamily="34" charset="0"/>
                <a:ea typeface="Cairo Black" pitchFamily="34" charset="-122"/>
                <a:cs typeface="Cairo Black" pitchFamily="34" charset="-120"/>
              </a:rPr>
              <a:t>💨 أنف لا ينام</a:t>
            </a:r>
            <a:endParaRPr lang="ar-SA" sz="5600" dirty="0"/>
          </a:p>
        </p:txBody>
      </p:sp>
      <p:sp>
        <p:nvSpPr>
          <p:cNvPr id="6" name="Text 4"/>
          <p:cNvSpPr/>
          <p:nvPr/>
        </p:nvSpPr>
        <p:spPr>
          <a:xfrm>
            <a:off x="4206240" y="3749040"/>
            <a:ext cx="7162495" cy="822960"/>
          </a:xfrm>
          <a:prstGeom prst="rect">
            <a:avLst/>
          </a:prstGeom>
          <a:noFill/>
          <a:ln/>
        </p:spPr>
        <p:txBody>
          <a:bodyPr wrap="square" lIns="0" tIns="0" rIns="0" bIns="0" rtlCol="0" anchor="ctr">
            <a:normAutofit/>
          </a:bodyPr>
          <a:lstStyle/>
          <a:p>
            <a:pPr rtl="1" algn="r" indent="0" marL="0">
              <a:buNone/>
            </a:pPr>
            <a:r>
              <a:rPr lang="ar-SA" altLang="en-US" sz="2200" b="1" dirty="0">
                <a:solidFill>
                  <a:srgbClr val="C9CFE6"/>
                </a:solidFill>
                <a:latin typeface="Cairo" pitchFamily="34" charset="0"/>
                <a:ea typeface="Cairo" pitchFamily="34" charset="-122"/>
                <a:cs typeface="Cairo" pitchFamily="34" charset="-120"/>
              </a:rPr>
              <a:t>حساس الغاز MQ-2 + الليد الأزرق</a:t>
            </a:r>
            <a:endParaRPr lang="ar-SA" sz="2200" dirty="0"/>
          </a:p>
        </p:txBody>
      </p:sp>
      <p:sp>
        <p:nvSpPr>
          <p:cNvPr id="7" name="Text 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لمسة تراث</a:t>
            </a:r>
            <a:endParaRPr lang="ar-SA" sz="1200" dirty="0"/>
          </a:p>
        </p:txBody>
      </p:sp>
      <p:sp>
        <p:nvSpPr>
          <p:cNvPr id="8" name="Text 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 حساس الغاز  ·  ٩٤</a:t>
            </a:r>
            <a:endParaRPr lang="ar-SA" sz="12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248095" y="457200"/>
            <a:ext cx="5120640" cy="457200"/>
          </a:xfrm>
          <a:prstGeom prst="roundRect">
            <a:avLst>
              <a:gd name="adj" fmla="val 50000"/>
            </a:avLst>
          </a:prstGeom>
          <a:solidFill>
            <a:srgbClr val="F6EBCF"/>
          </a:solidFill>
          <a:ln/>
        </p:spPr>
      </p:sp>
      <p:sp>
        <p:nvSpPr>
          <p:cNvPr id="3" name="Text 1"/>
          <p:cNvSpPr/>
          <p:nvPr/>
        </p:nvSpPr>
        <p:spPr>
          <a:xfrm>
            <a:off x="6248095" y="457200"/>
            <a:ext cx="512064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بنهاية هذا المحور تستطيع أن</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أهداف المحور</a:t>
            </a:r>
            <a:endParaRPr lang="ar-SA" sz="3800" dirty="0"/>
          </a:p>
        </p:txBody>
      </p:sp>
      <p:sp>
        <p:nvSpPr>
          <p:cNvPr id="5" name="anim-g1-677"/>
          <p:cNvSpPr/>
          <p:nvPr/>
        </p:nvSpPr>
        <p:spPr>
          <a:xfrm>
            <a:off x="822960" y="1920240"/>
            <a:ext cx="10545775" cy="1298448"/>
          </a:xfrm>
          <a:prstGeom prst="roundRect">
            <a:avLst>
              <a:gd name="adj" fmla="val 11268"/>
            </a:avLst>
          </a:prstGeom>
          <a:solidFill>
            <a:srgbClr val="FFFFFF"/>
          </a:solidFill>
          <a:ln w="12700">
            <a:solidFill>
              <a:srgbClr val="E4DCC8"/>
            </a:solidFill>
            <a:prstDash val="solid"/>
          </a:ln>
        </p:spPr>
      </p:sp>
      <p:sp>
        <p:nvSpPr>
          <p:cNvPr id="6" name="anim-g1-678"/>
          <p:cNvSpPr/>
          <p:nvPr/>
        </p:nvSpPr>
        <p:spPr>
          <a:xfrm>
            <a:off x="10573207" y="2286000"/>
            <a:ext cx="566928" cy="566928"/>
          </a:xfrm>
          <a:prstGeom prst="ellipse">
            <a:avLst/>
          </a:prstGeom>
          <a:solidFill>
            <a:srgbClr val="D9AE4B"/>
          </a:solidFill>
          <a:ln/>
        </p:spPr>
      </p:sp>
      <p:sp>
        <p:nvSpPr>
          <p:cNvPr id="7" name="anim-g1-679"/>
          <p:cNvSpPr/>
          <p:nvPr/>
        </p:nvSpPr>
        <p:spPr>
          <a:xfrm>
            <a:off x="10573207" y="2286000"/>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١</a:t>
            </a:r>
            <a:endParaRPr lang="ar-SA" sz="2000" dirty="0"/>
          </a:p>
        </p:txBody>
      </p:sp>
      <p:sp>
        <p:nvSpPr>
          <p:cNvPr id="8" name="anim-g1-680"/>
          <p:cNvSpPr/>
          <p:nvPr/>
        </p:nvSpPr>
        <p:spPr>
          <a:xfrm>
            <a:off x="1097280" y="1920240"/>
            <a:ext cx="9247327" cy="1298448"/>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تشرح كيف يغير الغاز مقاومة عنصر MQ-2 المسخَّن</a:t>
            </a:r>
            <a:endParaRPr lang="ar-SA" sz="2400" dirty="0"/>
          </a:p>
        </p:txBody>
      </p:sp>
      <p:sp>
        <p:nvSpPr>
          <p:cNvPr id="9" name="anim-g2-681"/>
          <p:cNvSpPr/>
          <p:nvPr/>
        </p:nvSpPr>
        <p:spPr>
          <a:xfrm>
            <a:off x="822960" y="3328416"/>
            <a:ext cx="10545775" cy="1298448"/>
          </a:xfrm>
          <a:prstGeom prst="roundRect">
            <a:avLst>
              <a:gd name="adj" fmla="val 11268"/>
            </a:avLst>
          </a:prstGeom>
          <a:solidFill>
            <a:srgbClr val="FFFFFF"/>
          </a:solidFill>
          <a:ln w="12700">
            <a:solidFill>
              <a:srgbClr val="E4DCC8"/>
            </a:solidFill>
            <a:prstDash val="solid"/>
          </a:ln>
        </p:spPr>
      </p:sp>
      <p:sp>
        <p:nvSpPr>
          <p:cNvPr id="10" name="anim-g2-682"/>
          <p:cNvSpPr/>
          <p:nvPr/>
        </p:nvSpPr>
        <p:spPr>
          <a:xfrm>
            <a:off x="10573207" y="3694176"/>
            <a:ext cx="566928" cy="566928"/>
          </a:xfrm>
          <a:prstGeom prst="ellipse">
            <a:avLst/>
          </a:prstGeom>
          <a:solidFill>
            <a:srgbClr val="D9AE4B"/>
          </a:solidFill>
          <a:ln/>
        </p:spPr>
      </p:sp>
      <p:sp>
        <p:nvSpPr>
          <p:cNvPr id="11" name="anim-g2-683"/>
          <p:cNvSpPr/>
          <p:nvPr/>
        </p:nvSpPr>
        <p:spPr>
          <a:xfrm>
            <a:off x="10573207" y="3694176"/>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٢</a:t>
            </a:r>
            <a:endParaRPr lang="ar-SA" sz="2000" dirty="0"/>
          </a:p>
        </p:txBody>
      </p:sp>
      <p:sp>
        <p:nvSpPr>
          <p:cNvPr id="12" name="anim-g2-684"/>
          <p:cNvSpPr/>
          <p:nvPr/>
        </p:nvSpPr>
        <p:spPr>
          <a:xfrm>
            <a:off x="1097280" y="3328416"/>
            <a:ext cx="9247327" cy="1298448"/>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تقرأ القيمة التماثلية على ESP32 (٠–٤٠٩٥)</a:t>
            </a:r>
            <a:endParaRPr lang="ar-SA" sz="2400" dirty="0"/>
          </a:p>
        </p:txBody>
      </p:sp>
      <p:sp>
        <p:nvSpPr>
          <p:cNvPr id="13" name="anim-g3-685"/>
          <p:cNvSpPr/>
          <p:nvPr/>
        </p:nvSpPr>
        <p:spPr>
          <a:xfrm>
            <a:off x="822960" y="4736592"/>
            <a:ext cx="10545775" cy="1298448"/>
          </a:xfrm>
          <a:prstGeom prst="roundRect">
            <a:avLst>
              <a:gd name="adj" fmla="val 11268"/>
            </a:avLst>
          </a:prstGeom>
          <a:solidFill>
            <a:srgbClr val="FFFFFF"/>
          </a:solidFill>
          <a:ln w="12700">
            <a:solidFill>
              <a:srgbClr val="E4DCC8"/>
            </a:solidFill>
            <a:prstDash val="solid"/>
          </a:ln>
        </p:spPr>
      </p:sp>
      <p:sp>
        <p:nvSpPr>
          <p:cNvPr id="14" name="anim-g3-686"/>
          <p:cNvSpPr/>
          <p:nvPr/>
        </p:nvSpPr>
        <p:spPr>
          <a:xfrm>
            <a:off x="10573207" y="5102352"/>
            <a:ext cx="566928" cy="566928"/>
          </a:xfrm>
          <a:prstGeom prst="ellipse">
            <a:avLst/>
          </a:prstGeom>
          <a:solidFill>
            <a:srgbClr val="D9AE4B"/>
          </a:solidFill>
          <a:ln/>
        </p:spPr>
      </p:sp>
      <p:sp>
        <p:nvSpPr>
          <p:cNvPr id="15" name="anim-g3-687"/>
          <p:cNvSpPr/>
          <p:nvPr/>
        </p:nvSpPr>
        <p:spPr>
          <a:xfrm>
            <a:off x="10573207" y="5102352"/>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٣</a:t>
            </a:r>
            <a:endParaRPr lang="ar-SA" sz="2000" dirty="0"/>
          </a:p>
        </p:txBody>
      </p:sp>
      <p:sp>
        <p:nvSpPr>
          <p:cNvPr id="16" name="anim-g3-688"/>
          <p:cNvSpPr/>
          <p:nvPr/>
        </p:nvSpPr>
        <p:spPr>
          <a:xfrm>
            <a:off x="1097280" y="4736592"/>
            <a:ext cx="9247327" cy="1298448"/>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تختار حدًا للإنذار من قراءات حقيقية</a:t>
            </a:r>
            <a:endParaRPr lang="ar-SA" sz="2400" dirty="0"/>
          </a:p>
        </p:txBody>
      </p:sp>
      <p:sp>
        <p:nvSpPr>
          <p:cNvPr id="17" name="Text 1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18" name="Text 1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حساس الغاز  ·  ٩٥</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96.xml><?xml version="1.0" encoding="utf-8"?>
<p:sld xmlns:a="http://schemas.openxmlformats.org/drawingml/2006/main" xmlns:r="http://schemas.openxmlformats.org/officeDocument/2006/relationships" xmlns:p="http://schemas.openxmlformats.org/presentationml/2006/main">
  <p:cSld name="Slide 9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466783" y="457200"/>
            <a:ext cx="1901952" cy="457200"/>
          </a:xfrm>
          <a:prstGeom prst="roundRect">
            <a:avLst>
              <a:gd name="adj" fmla="val 50000"/>
            </a:avLst>
          </a:prstGeom>
          <a:solidFill>
            <a:srgbClr val="F6EBCF"/>
          </a:solidFill>
          <a:ln/>
        </p:spPr>
      </p:sp>
      <p:sp>
        <p:nvSpPr>
          <p:cNvPr id="3" name="Text 1"/>
          <p:cNvSpPr/>
          <p:nvPr/>
        </p:nvSpPr>
        <p:spPr>
          <a:xfrm>
            <a:off x="9466783" y="457200"/>
            <a:ext cx="1901952"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كيف يشم؟</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سخان صغير… ومادة تتغير</a:t>
            </a:r>
            <a:endParaRPr lang="ar-SA" sz="3800" dirty="0"/>
          </a:p>
        </p:txBody>
      </p:sp>
      <p:sp>
        <p:nvSpPr>
          <p:cNvPr id="5" name="anim-g1-689"/>
          <p:cNvSpPr/>
          <p:nvPr/>
        </p:nvSpPr>
        <p:spPr>
          <a:xfrm>
            <a:off x="8036357"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690"/>
          <p:cNvSpPr/>
          <p:nvPr/>
        </p:nvSpPr>
        <p:spPr>
          <a:xfrm>
            <a:off x="10527487" y="2267712"/>
            <a:ext cx="566928" cy="566928"/>
          </a:xfrm>
          <a:prstGeom prst="roundRect">
            <a:avLst>
              <a:gd name="adj" fmla="val 32258"/>
            </a:avLst>
          </a:prstGeom>
          <a:solidFill>
            <a:srgbClr val="F7E6BC"/>
          </a:solidFill>
          <a:ln/>
        </p:spPr>
      </p:sp>
      <p:sp>
        <p:nvSpPr>
          <p:cNvPr id="7" name="anim-g1-691"/>
          <p:cNvSpPr/>
          <p:nvPr/>
        </p:nvSpPr>
        <p:spPr>
          <a:xfrm>
            <a:off x="10527487"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692"/>
          <p:cNvSpPr/>
          <p:nvPr/>
        </p:nvSpPr>
        <p:spPr>
          <a:xfrm>
            <a:off x="8310677"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التسخين</a:t>
            </a:r>
            <a:endParaRPr lang="ar-SA" sz="2200" dirty="0"/>
          </a:p>
        </p:txBody>
      </p:sp>
      <p:sp>
        <p:nvSpPr>
          <p:cNvPr id="9" name="anim-g1-693"/>
          <p:cNvSpPr/>
          <p:nvPr/>
        </p:nvSpPr>
        <p:spPr>
          <a:xfrm>
            <a:off x="8310677"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سلك داخل الشبكة يسخّن طبقة أكسيد القصدير</a:t>
            </a:r>
            <a:endParaRPr lang="ar-SA" sz="1900" dirty="0"/>
          </a:p>
        </p:txBody>
      </p:sp>
      <p:sp>
        <p:nvSpPr>
          <p:cNvPr id="10" name="anim-g2-694"/>
          <p:cNvSpPr/>
          <p:nvPr/>
        </p:nvSpPr>
        <p:spPr>
          <a:xfrm>
            <a:off x="4429658"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695"/>
          <p:cNvSpPr/>
          <p:nvPr/>
        </p:nvSpPr>
        <p:spPr>
          <a:xfrm>
            <a:off x="6920789" y="2267712"/>
            <a:ext cx="566928" cy="566928"/>
          </a:xfrm>
          <a:prstGeom prst="roundRect">
            <a:avLst>
              <a:gd name="adj" fmla="val 32258"/>
            </a:avLst>
          </a:prstGeom>
          <a:solidFill>
            <a:srgbClr val="F7E6BC"/>
          </a:solidFill>
          <a:ln/>
        </p:spPr>
      </p:sp>
      <p:sp>
        <p:nvSpPr>
          <p:cNvPr id="12" name="anim-g2-696"/>
          <p:cNvSpPr/>
          <p:nvPr/>
        </p:nvSpPr>
        <p:spPr>
          <a:xfrm>
            <a:off x="6920789"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697"/>
          <p:cNvSpPr/>
          <p:nvPr/>
        </p:nvSpPr>
        <p:spPr>
          <a:xfrm>
            <a:off x="4703978"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التفاعل</a:t>
            </a:r>
            <a:endParaRPr lang="ar-SA" sz="2200" dirty="0"/>
          </a:p>
        </p:txBody>
      </p:sp>
      <p:sp>
        <p:nvSpPr>
          <p:cNvPr id="14" name="anim-g2-698"/>
          <p:cNvSpPr/>
          <p:nvPr/>
        </p:nvSpPr>
        <p:spPr>
          <a:xfrm>
            <a:off x="4703978"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غاز الطبخ والدخان يقللان مقاومة الطبقة</a:t>
            </a:r>
            <a:endParaRPr lang="ar-SA" sz="1900" dirty="0"/>
          </a:p>
        </p:txBody>
      </p:sp>
      <p:sp>
        <p:nvSpPr>
          <p:cNvPr id="15" name="anim-g3-699"/>
          <p:cNvSpPr/>
          <p:nvPr/>
        </p:nvSpPr>
        <p:spPr>
          <a:xfrm>
            <a:off x="822960"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700"/>
          <p:cNvSpPr/>
          <p:nvPr/>
        </p:nvSpPr>
        <p:spPr>
          <a:xfrm>
            <a:off x="3314090" y="2267712"/>
            <a:ext cx="566928" cy="566928"/>
          </a:xfrm>
          <a:prstGeom prst="roundRect">
            <a:avLst>
              <a:gd name="adj" fmla="val 32258"/>
            </a:avLst>
          </a:prstGeom>
          <a:solidFill>
            <a:srgbClr val="F7E6BC"/>
          </a:solidFill>
          <a:ln/>
        </p:spPr>
      </p:sp>
      <p:sp>
        <p:nvSpPr>
          <p:cNvPr id="17" name="anim-g3-701"/>
          <p:cNvSpPr/>
          <p:nvPr/>
        </p:nvSpPr>
        <p:spPr>
          <a:xfrm>
            <a:off x="3314090"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702"/>
          <p:cNvSpPr/>
          <p:nvPr/>
        </p:nvSpPr>
        <p:spPr>
          <a:xfrm>
            <a:off x="1097280"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AO</a:t>
            </a:r>
            <a:endParaRPr lang="ar-SA" sz="2200" dirty="0"/>
          </a:p>
        </p:txBody>
      </p:sp>
      <p:sp>
        <p:nvSpPr>
          <p:cNvPr id="19" name="anim-g3-703"/>
          <p:cNvSpPr/>
          <p:nvPr/>
        </p:nvSpPr>
        <p:spPr>
          <a:xfrm>
            <a:off x="1097280"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مقاومة أقل = جهد أعلى = قراءة أكبر</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حساس الغاز  ·  ٩٦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Image 0" descr="C:\Users\user\projects\younes-training\turath\.pptx-cache\s97.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Image 0" descr="C:\Users\user\projects\younes-training\turath\.pptx-cache\s98-0.jpg">    </p:cNvPr>
          <p:cNvPicPr>
            <a:picLocks noChangeAspect="1"/>
          </p:cNvPicPr>
          <p:nvPr/>
        </p:nvPicPr>
        <p:blipFill>
          <a:blip r:embed="rId1"/>
          <a:stretch>
            <a:fillRect/>
          </a:stretch>
        </p:blipFill>
        <p:spPr>
          <a:xfrm>
            <a:off x="0" y="0"/>
            <a:ext cx="12191695" cy="6858000"/>
          </a:xfrm>
          <a:prstGeom prst="rect">
            <a:avLst/>
          </a:prstGeom>
        </p:spPr>
      </p:pic>
      <p:pic>
        <p:nvPicPr>
          <p:cNvPr id="3" name="anim-g1-704" descr="C:\Users\user\projects\younes-training\turath\.pptx-cache\s98-1.jpg">    </p:cNvPr>
          <p:cNvPicPr>
            <a:picLocks noChangeAspect="1"/>
          </p:cNvPicPr>
          <p:nvPr/>
        </p:nvPicPr>
        <p:blipFill>
          <a:blip r:embed="rId2"/>
          <a:stretch>
            <a:fillRect/>
          </a:stretch>
        </p:blipFill>
        <p:spPr>
          <a:xfrm>
            <a:off x="0" y="0"/>
            <a:ext cx="12191695" cy="6858000"/>
          </a:xfrm>
          <a:prstGeom prst="rect">
            <a:avLst/>
          </a:prstGeom>
        </p:spPr>
      </p:pic>
      <p:pic>
        <p:nvPicPr>
          <p:cNvPr id="4" name="anim-g2-705" descr="C:\Users\user\projects\younes-training\turath\.pptx-cache\s98-2.jpg">    </p:cNvPr>
          <p:cNvPicPr>
            <a:picLocks noChangeAspect="1"/>
          </p:cNvPicPr>
          <p:nvPr/>
        </p:nvPicPr>
        <p:blipFill>
          <a:blip r:embed="rId3"/>
          <a:stretch>
            <a:fillRect/>
          </a:stretch>
        </p:blipFill>
        <p:spPr>
          <a:xfrm>
            <a:off x="0" y="0"/>
            <a:ext cx="12191695" cy="6858000"/>
          </a:xfrm>
          <a:prstGeom prst="rect">
            <a:avLst/>
          </a:prstGeom>
        </p:spPr>
      </p:pic>
      <p:pic>
        <p:nvPicPr>
          <p:cNvPr id="5" name="anim-g3-706" descr="C:\Users\user\projects\younes-training\turath\.pptx-cache\s98-3.jpg">    </p:cNvPr>
          <p:cNvPicPr>
            <a:picLocks noChangeAspect="1"/>
          </p:cNvPicPr>
          <p:nvPr/>
        </p:nvPicPr>
        <p:blipFill>
          <a:blip r:embed="rId4"/>
          <a:stretch>
            <a:fillRect/>
          </a:stretch>
        </p:blipFill>
        <p:spPr>
          <a:xfrm>
            <a:off x="0" y="0"/>
            <a:ext cx="12191695" cy="6858000"/>
          </a:xfrm>
          <a:prstGeom prst="rect">
            <a:avLst/>
          </a:prstGeom>
        </p:spPr>
      </p:pic>
      <p:pic>
        <p:nvPicPr>
          <p:cNvPr id="6" name="anim-g4-707" descr="C:\Users\user\projects\younes-training\turath\.pptx-cache\s98-4.jpg">    </p:cNvPr>
          <p:cNvPicPr>
            <a:picLocks noChangeAspect="1"/>
          </p:cNvPicPr>
          <p:nvPr/>
        </p:nvPicPr>
        <p:blipFill>
          <a:blip r:embed="rId5"/>
          <a:stretch>
            <a:fillRect/>
          </a:stretch>
        </p:blipFill>
        <p:spPr>
          <a:xfrm>
            <a:off x="0" y="0"/>
            <a:ext cx="12191695" cy="6858000"/>
          </a:xfrm>
          <a:prstGeom prst="rect">
            <a:avLst/>
          </a:prstGeom>
        </p:spPr>
      </p:pic>
      <p:pic>
        <p:nvPicPr>
          <p:cNvPr id="7" name="anim-g5-708" descr="C:\Users\user\projects\younes-training\turath\.pptx-cache\s98-5.jpg">    </p:cNvPr>
          <p:cNvPicPr>
            <a:picLocks noChangeAspect="1"/>
          </p:cNvPicPr>
          <p:nvPr/>
        </p:nvPicPr>
        <p:blipFill>
          <a:blip r:embed="rId6"/>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9.xml><?xml version="1.0" encoding="utf-8"?>
<p:sld xmlns:a="http://schemas.openxmlformats.org/drawingml/2006/main" xmlns:r="http://schemas.openxmlformats.org/officeDocument/2006/relationships" xmlns:p="http://schemas.openxmlformats.org/presentationml/2006/main">
  <p:cSld name="Slide 9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003743" y="457200"/>
            <a:ext cx="3364992" cy="457200"/>
          </a:xfrm>
          <a:prstGeom prst="roundRect">
            <a:avLst>
              <a:gd name="adj" fmla="val 50000"/>
            </a:avLst>
          </a:prstGeom>
          <a:solidFill>
            <a:srgbClr val="F6EBCF"/>
          </a:solidFill>
          <a:ln/>
        </p:spPr>
      </p:sp>
      <p:sp>
        <p:nvSpPr>
          <p:cNvPr id="3" name="Text 1"/>
          <p:cNvSpPr/>
          <p:nvPr/>
        </p:nvSpPr>
        <p:spPr>
          <a:xfrm>
            <a:off x="8003743" y="457200"/>
            <a:ext cx="3364992"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كيف تختار الحد؟</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ثلاث قراءات تحسم الأمر</a:t>
            </a:r>
            <a:endParaRPr lang="ar-SA" sz="3800" dirty="0"/>
          </a:p>
        </p:txBody>
      </p:sp>
      <p:sp>
        <p:nvSpPr>
          <p:cNvPr id="5" name="anim-g1-709"/>
          <p:cNvSpPr/>
          <p:nvPr/>
        </p:nvSpPr>
        <p:spPr>
          <a:xfrm>
            <a:off x="8036357"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710"/>
          <p:cNvSpPr/>
          <p:nvPr/>
        </p:nvSpPr>
        <p:spPr>
          <a:xfrm>
            <a:off x="10527487" y="2267712"/>
            <a:ext cx="566928" cy="566928"/>
          </a:xfrm>
          <a:prstGeom prst="roundRect">
            <a:avLst>
              <a:gd name="adj" fmla="val 32258"/>
            </a:avLst>
          </a:prstGeom>
          <a:solidFill>
            <a:srgbClr val="F7E6BC"/>
          </a:solidFill>
          <a:ln/>
        </p:spPr>
      </p:sp>
      <p:sp>
        <p:nvSpPr>
          <p:cNvPr id="7" name="anim-g1-711"/>
          <p:cNvSpPr/>
          <p:nvPr/>
        </p:nvSpPr>
        <p:spPr>
          <a:xfrm>
            <a:off x="10527487"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712"/>
          <p:cNvSpPr/>
          <p:nvPr/>
        </p:nvSpPr>
        <p:spPr>
          <a:xfrm>
            <a:off x="8310677"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هواء نظيف</a:t>
            </a:r>
            <a:endParaRPr lang="ar-SA" sz="2200" dirty="0"/>
          </a:p>
        </p:txBody>
      </p:sp>
      <p:sp>
        <p:nvSpPr>
          <p:cNvPr id="9" name="anim-g1-713"/>
          <p:cNvSpPr/>
          <p:nvPr/>
        </p:nvSpPr>
        <p:spPr>
          <a:xfrm>
            <a:off x="8310677"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سجّل القراءة بعد التسخين: هذا «صفرك»</a:t>
            </a:r>
            <a:endParaRPr lang="ar-SA" sz="1900" dirty="0"/>
          </a:p>
        </p:txBody>
      </p:sp>
      <p:sp>
        <p:nvSpPr>
          <p:cNvPr id="10" name="anim-g2-714"/>
          <p:cNvSpPr/>
          <p:nvPr/>
        </p:nvSpPr>
        <p:spPr>
          <a:xfrm>
            <a:off x="4429658"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715"/>
          <p:cNvSpPr/>
          <p:nvPr/>
        </p:nvSpPr>
        <p:spPr>
          <a:xfrm>
            <a:off x="6920789" y="2267712"/>
            <a:ext cx="566928" cy="566928"/>
          </a:xfrm>
          <a:prstGeom prst="roundRect">
            <a:avLst>
              <a:gd name="adj" fmla="val 32258"/>
            </a:avLst>
          </a:prstGeom>
          <a:solidFill>
            <a:srgbClr val="F7E6BC"/>
          </a:solidFill>
          <a:ln/>
        </p:spPr>
      </p:sp>
      <p:sp>
        <p:nvSpPr>
          <p:cNvPr id="12" name="anim-g2-716"/>
          <p:cNvSpPr/>
          <p:nvPr/>
        </p:nvSpPr>
        <p:spPr>
          <a:xfrm>
            <a:off x="6920789"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717"/>
          <p:cNvSpPr/>
          <p:nvPr/>
        </p:nvSpPr>
        <p:spPr>
          <a:xfrm>
            <a:off x="4703978"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ولاعة مطفأة</a:t>
            </a:r>
            <a:endParaRPr lang="ar-SA" sz="2200" dirty="0"/>
          </a:p>
        </p:txBody>
      </p:sp>
      <p:sp>
        <p:nvSpPr>
          <p:cNvPr id="14" name="anim-g2-718"/>
          <p:cNvSpPr/>
          <p:nvPr/>
        </p:nvSpPr>
        <p:spPr>
          <a:xfrm>
            <a:off x="4703978"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اضغط زر الغاز دون إشعال قرب الحساس لحظة واحدة وسجّل</a:t>
            </a:r>
            <a:endParaRPr lang="ar-SA" sz="1900" dirty="0"/>
          </a:p>
        </p:txBody>
      </p:sp>
      <p:sp>
        <p:nvSpPr>
          <p:cNvPr id="15" name="anim-g3-719"/>
          <p:cNvSpPr/>
          <p:nvPr/>
        </p:nvSpPr>
        <p:spPr>
          <a:xfrm>
            <a:off x="822960"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720"/>
          <p:cNvSpPr/>
          <p:nvPr/>
        </p:nvSpPr>
        <p:spPr>
          <a:xfrm>
            <a:off x="3314090" y="2267712"/>
            <a:ext cx="566928" cy="566928"/>
          </a:xfrm>
          <a:prstGeom prst="roundRect">
            <a:avLst>
              <a:gd name="adj" fmla="val 32258"/>
            </a:avLst>
          </a:prstGeom>
          <a:solidFill>
            <a:srgbClr val="F7E6BC"/>
          </a:solidFill>
          <a:ln/>
        </p:spPr>
      </p:sp>
      <p:sp>
        <p:nvSpPr>
          <p:cNvPr id="17" name="anim-g3-721"/>
          <p:cNvSpPr/>
          <p:nvPr/>
        </p:nvSpPr>
        <p:spPr>
          <a:xfrm>
            <a:off x="3314090"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722"/>
          <p:cNvSpPr/>
          <p:nvPr/>
        </p:nvSpPr>
        <p:spPr>
          <a:xfrm>
            <a:off x="1097280"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الحد</a:t>
            </a:r>
            <a:endParaRPr lang="ar-SA" sz="2200" dirty="0"/>
          </a:p>
        </p:txBody>
      </p:sp>
      <p:sp>
        <p:nvSpPr>
          <p:cNvPr id="19" name="anim-g3-723"/>
          <p:cNvSpPr/>
          <p:nvPr/>
        </p:nvSpPr>
        <p:spPr>
          <a:xfrm>
            <a:off x="1097280"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اختر رقمًا بينهما، أقرب للهواء النظيف قليلًا</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حساس الغاز  ·  ٩٩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Image 0" descr="C:\Users\user\projects\younes-training\turath\.pptx-cache\s100-0.jpg">    </p:cNvPr>
          <p:cNvPicPr>
            <a:picLocks noChangeAspect="1"/>
          </p:cNvPicPr>
          <p:nvPr/>
        </p:nvPicPr>
        <p:blipFill>
          <a:blip r:embed="rId1"/>
          <a:stretch>
            <a:fillRect/>
          </a:stretch>
        </p:blipFill>
        <p:spPr>
          <a:xfrm>
            <a:off x="0" y="0"/>
            <a:ext cx="12191695" cy="6858000"/>
          </a:xfrm>
          <a:prstGeom prst="rect">
            <a:avLst/>
          </a:prstGeom>
        </p:spPr>
      </p:pic>
      <p:pic>
        <p:nvPicPr>
          <p:cNvPr id="3" name="anim-g1-724" descr="C:\Users\user\projects\younes-training\turath\.pptx-cache\s100-1.jpg">    </p:cNvPr>
          <p:cNvPicPr>
            <a:picLocks noChangeAspect="1"/>
          </p:cNvPicPr>
          <p:nvPr/>
        </p:nvPicPr>
        <p:blipFill>
          <a:blip r:embed="rId2"/>
          <a:stretch>
            <a:fillRect/>
          </a:stretch>
        </p:blipFill>
        <p:spPr>
          <a:xfrm>
            <a:off x="0" y="0"/>
            <a:ext cx="12191695" cy="6858000"/>
          </a:xfrm>
          <a:prstGeom prst="rect">
            <a:avLst/>
          </a:prstGeom>
        </p:spPr>
      </p:pic>
      <p:pic>
        <p:nvPicPr>
          <p:cNvPr id="4" name="anim-g2-725" descr="C:\Users\user\projects\younes-training\turath\.pptx-cache\s100-2.jpg">    </p:cNvPr>
          <p:cNvPicPr>
            <a:picLocks noChangeAspect="1"/>
          </p:cNvPicPr>
          <p:nvPr/>
        </p:nvPicPr>
        <p:blipFill>
          <a:blip r:embed="rId3"/>
          <a:stretch>
            <a:fillRect/>
          </a:stretch>
        </p:blipFill>
        <p:spPr>
          <a:xfrm>
            <a:off x="0" y="0"/>
            <a:ext cx="12191695" cy="6858000"/>
          </a:xfrm>
          <a:prstGeom prst="rect">
            <a:avLst/>
          </a:prstGeom>
        </p:spPr>
      </p:pic>
      <p:pic>
        <p:nvPicPr>
          <p:cNvPr id="5" name="anim-g3-726" descr="C:\Users\user\projects\younes-training\turath\.pptx-cache\s100-3.jpg">    </p:cNvPr>
          <p:cNvPicPr>
            <a:picLocks noChangeAspect="1"/>
          </p:cNvPicPr>
          <p:nvPr/>
        </p:nvPicPr>
        <p:blipFill>
          <a:blip r:embed="rId4"/>
          <a:stretch>
            <a:fillRect/>
          </a:stretch>
        </p:blipFill>
        <p:spPr>
          <a:xfrm>
            <a:off x="0" y="0"/>
            <a:ext cx="12191695" cy="6858000"/>
          </a:xfrm>
          <a:prstGeom prst="rect">
            <a:avLst/>
          </a:prstGeom>
        </p:spPr>
      </p:pic>
      <p:pic>
        <p:nvPicPr>
          <p:cNvPr id="6" name="anim-g4-727" descr="C:\Users\user\projects\younes-training\turath\.pptx-cache\s100-4.jpg">    </p:cNvPr>
          <p:cNvPicPr>
            <a:picLocks noChangeAspect="1"/>
          </p:cNvPicPr>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1.xml><?xml version="1.0" encoding="utf-8"?>
<p:sld xmlns:a="http://schemas.openxmlformats.org/drawingml/2006/main" xmlns:r="http://schemas.openxmlformats.org/officeDocument/2006/relationships" xmlns:p="http://schemas.openxmlformats.org/presentationml/2006/main">
  <p:cSld name="Slide 10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881567" y="457200"/>
            <a:ext cx="2487168" cy="457200"/>
          </a:xfrm>
          <a:prstGeom prst="roundRect">
            <a:avLst>
              <a:gd name="adj" fmla="val 50000"/>
            </a:avLst>
          </a:prstGeom>
          <a:solidFill>
            <a:srgbClr val="F6EBCF"/>
          </a:solidFill>
          <a:ln/>
        </p:spPr>
      </p:sp>
      <p:sp>
        <p:nvSpPr>
          <p:cNvPr id="3" name="Text 1"/>
          <p:cNvSpPr/>
          <p:nvPr/>
        </p:nvSpPr>
        <p:spPr>
          <a:xfrm>
            <a:off x="8881567" y="45720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اختبر نفسك</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أغلقنا الغاز لكن الأزرق بقي مضاءً نصف دقيقة. لماذا؟</a:t>
            </a:r>
            <a:endParaRPr lang="ar-SA" sz="3200" dirty="0"/>
          </a:p>
        </p:txBody>
      </p:sp>
      <p:sp>
        <p:nvSpPr>
          <p:cNvPr id="5" name="Shape 3"/>
          <p:cNvSpPr/>
          <p:nvPr/>
        </p:nvSpPr>
        <p:spPr>
          <a:xfrm>
            <a:off x="822960" y="2057400"/>
            <a:ext cx="10545775" cy="1228344"/>
          </a:xfrm>
          <a:prstGeom prst="roundRect">
            <a:avLst>
              <a:gd name="adj" fmla="val 11911"/>
            </a:avLst>
          </a:prstGeom>
          <a:solidFill>
            <a:srgbClr val="FFFFFF"/>
          </a:solidFill>
          <a:ln w="19050">
            <a:solidFill>
              <a:srgbClr val="E4DCC8"/>
            </a:solidFill>
            <a:prstDash val="solid"/>
          </a:ln>
        </p:spPr>
      </p:sp>
      <p:sp>
        <p:nvSpPr>
          <p:cNvPr id="6" name="Shape 4"/>
          <p:cNvSpPr/>
          <p:nvPr/>
        </p:nvSpPr>
        <p:spPr>
          <a:xfrm>
            <a:off x="10231831" y="2194560"/>
            <a:ext cx="954024" cy="954024"/>
          </a:xfrm>
          <a:prstGeom prst="roundRect">
            <a:avLst>
              <a:gd name="adj" fmla="val 11502"/>
            </a:avLst>
          </a:prstGeom>
          <a:solidFill>
            <a:srgbClr val="101B45"/>
          </a:solidFill>
          <a:ln/>
        </p:spPr>
      </p:sp>
      <p:sp>
        <p:nvSpPr>
          <p:cNvPr id="7" name="Text 5"/>
          <p:cNvSpPr/>
          <p:nvPr/>
        </p:nvSpPr>
        <p:spPr>
          <a:xfrm>
            <a:off x="10231831" y="2194560"/>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8" name="Text 6"/>
          <p:cNvSpPr/>
          <p:nvPr/>
        </p:nvSpPr>
        <p:spPr>
          <a:xfrm>
            <a:off x="1097280" y="2057400"/>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الكود فيه خطأ</a:t>
            </a:r>
            <a:endParaRPr lang="ar-SA" sz="2500" dirty="0"/>
          </a:p>
        </p:txBody>
      </p:sp>
      <p:sp>
        <p:nvSpPr>
          <p:cNvPr id="9" name="anim-g1-728"/>
          <p:cNvSpPr/>
          <p:nvPr/>
        </p:nvSpPr>
        <p:spPr>
          <a:xfrm>
            <a:off x="822960" y="2057400"/>
            <a:ext cx="10545775" cy="1228344"/>
          </a:xfrm>
          <a:prstGeom prst="roundRect">
            <a:avLst>
              <a:gd name="adj" fmla="val 11911"/>
            </a:avLst>
          </a:prstGeom>
          <a:solidFill>
            <a:srgbClr val="F7F7F9"/>
          </a:solidFill>
          <a:ln w="19050">
            <a:solidFill>
              <a:srgbClr val="E4DCC8"/>
            </a:solidFill>
            <a:prstDash val="solid"/>
          </a:ln>
        </p:spPr>
      </p:sp>
      <p:sp>
        <p:nvSpPr>
          <p:cNvPr id="10" name="anim-g1-729"/>
          <p:cNvSpPr/>
          <p:nvPr/>
        </p:nvSpPr>
        <p:spPr>
          <a:xfrm>
            <a:off x="10231831" y="2194560"/>
            <a:ext cx="954024" cy="954024"/>
          </a:xfrm>
          <a:prstGeom prst="roundRect">
            <a:avLst>
              <a:gd name="adj" fmla="val 11502"/>
            </a:avLst>
          </a:prstGeom>
          <a:solidFill>
            <a:srgbClr val="A3A9BA"/>
          </a:solidFill>
          <a:ln/>
        </p:spPr>
      </p:sp>
      <p:sp>
        <p:nvSpPr>
          <p:cNvPr id="11" name="anim-g1-730"/>
          <p:cNvSpPr/>
          <p:nvPr/>
        </p:nvSpPr>
        <p:spPr>
          <a:xfrm>
            <a:off x="10231831" y="2194560"/>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12" name="anim-g1-731"/>
          <p:cNvSpPr/>
          <p:nvPr/>
        </p:nvSpPr>
        <p:spPr>
          <a:xfrm>
            <a:off x="1097280" y="2093976"/>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8A90A3"/>
                </a:solidFill>
                <a:latin typeface="Cairo" pitchFamily="34" charset="0"/>
                <a:ea typeface="Cairo" pitchFamily="34" charset="-122"/>
                <a:cs typeface="Cairo" pitchFamily="34" charset="-120"/>
              </a:rPr>
              <a:t>الكود فيه خطأ</a:t>
            </a:r>
            <a:endParaRPr lang="ar-SA" sz="2400" dirty="0"/>
          </a:p>
        </p:txBody>
      </p:sp>
      <p:sp>
        <p:nvSpPr>
          <p:cNvPr id="13" name="anim-g1-732"/>
          <p:cNvSpPr/>
          <p:nvPr/>
        </p:nvSpPr>
        <p:spPr>
          <a:xfrm>
            <a:off x="1097280" y="2720706"/>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الكود يعمل كما كُتب</a:t>
            </a:r>
            <a:endParaRPr lang="ar-SA" sz="1800" dirty="0"/>
          </a:p>
        </p:txBody>
      </p:sp>
      <p:sp>
        <p:nvSpPr>
          <p:cNvPr id="14" name="Shape 12"/>
          <p:cNvSpPr/>
          <p:nvPr/>
        </p:nvSpPr>
        <p:spPr>
          <a:xfrm>
            <a:off x="822960" y="3432048"/>
            <a:ext cx="10545775" cy="1228344"/>
          </a:xfrm>
          <a:prstGeom prst="roundRect">
            <a:avLst>
              <a:gd name="adj" fmla="val 11911"/>
            </a:avLst>
          </a:prstGeom>
          <a:solidFill>
            <a:srgbClr val="FFFFFF"/>
          </a:solidFill>
          <a:ln w="19050">
            <a:solidFill>
              <a:srgbClr val="E4DCC8"/>
            </a:solidFill>
            <a:prstDash val="solid"/>
          </a:ln>
        </p:spPr>
      </p:sp>
      <p:sp>
        <p:nvSpPr>
          <p:cNvPr id="15" name="Shape 13"/>
          <p:cNvSpPr/>
          <p:nvPr/>
        </p:nvSpPr>
        <p:spPr>
          <a:xfrm>
            <a:off x="10231831" y="3569208"/>
            <a:ext cx="954024" cy="954024"/>
          </a:xfrm>
          <a:prstGeom prst="roundRect">
            <a:avLst>
              <a:gd name="adj" fmla="val 11502"/>
            </a:avLst>
          </a:prstGeom>
          <a:solidFill>
            <a:srgbClr val="101B45"/>
          </a:solidFill>
          <a:ln/>
        </p:spPr>
      </p:sp>
      <p:sp>
        <p:nvSpPr>
          <p:cNvPr id="16" name="Text 14"/>
          <p:cNvSpPr/>
          <p:nvPr/>
        </p:nvSpPr>
        <p:spPr>
          <a:xfrm>
            <a:off x="10231831" y="3569208"/>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17" name="Text 15"/>
          <p:cNvSpPr/>
          <p:nvPr/>
        </p:nvSpPr>
        <p:spPr>
          <a:xfrm>
            <a:off x="1097280" y="3432048"/>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الغاز ما زال في الهواء حول الحساس، يحتاج وقتًا ليتبدد</a:t>
            </a:r>
            <a:endParaRPr lang="ar-SA" sz="2500" dirty="0"/>
          </a:p>
        </p:txBody>
      </p:sp>
      <p:sp>
        <p:nvSpPr>
          <p:cNvPr id="18" name="anim-g1-733"/>
          <p:cNvSpPr/>
          <p:nvPr/>
        </p:nvSpPr>
        <p:spPr>
          <a:xfrm>
            <a:off x="822960" y="3432048"/>
            <a:ext cx="10545775" cy="1228344"/>
          </a:xfrm>
          <a:prstGeom prst="roundRect">
            <a:avLst>
              <a:gd name="adj" fmla="val 11911"/>
            </a:avLst>
          </a:prstGeom>
          <a:solidFill>
            <a:srgbClr val="E6F4EC"/>
          </a:solidFill>
          <a:ln w="31750">
            <a:solidFill>
              <a:srgbClr val="2E9E6B"/>
            </a:solidFill>
            <a:prstDash val="solid"/>
          </a:ln>
        </p:spPr>
      </p:sp>
      <p:sp>
        <p:nvSpPr>
          <p:cNvPr id="19" name="anim-g1-734"/>
          <p:cNvSpPr/>
          <p:nvPr/>
        </p:nvSpPr>
        <p:spPr>
          <a:xfrm>
            <a:off x="10231831" y="3569208"/>
            <a:ext cx="954024" cy="954024"/>
          </a:xfrm>
          <a:prstGeom prst="roundRect">
            <a:avLst>
              <a:gd name="adj" fmla="val 11502"/>
            </a:avLst>
          </a:prstGeom>
          <a:solidFill>
            <a:srgbClr val="2E9E6B"/>
          </a:solidFill>
          <a:ln/>
        </p:spPr>
      </p:sp>
      <p:sp>
        <p:nvSpPr>
          <p:cNvPr id="20" name="anim-g1-735"/>
          <p:cNvSpPr/>
          <p:nvPr/>
        </p:nvSpPr>
        <p:spPr>
          <a:xfrm>
            <a:off x="10231831" y="3569208"/>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a:t>
            </a:r>
            <a:endParaRPr lang="ar-SA" sz="2400" dirty="0"/>
          </a:p>
        </p:txBody>
      </p:sp>
      <p:sp>
        <p:nvSpPr>
          <p:cNvPr id="21" name="anim-g1-736"/>
          <p:cNvSpPr/>
          <p:nvPr/>
        </p:nvSpPr>
        <p:spPr>
          <a:xfrm>
            <a:off x="1097280" y="3468624"/>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131B34"/>
                </a:solidFill>
                <a:latin typeface="Cairo" pitchFamily="34" charset="0"/>
                <a:ea typeface="Cairo" pitchFamily="34" charset="-122"/>
                <a:cs typeface="Cairo" pitchFamily="34" charset="-120"/>
              </a:rPr>
              <a:t>الغاز ما زال في الهواء حول الحساس، يحتاج وقتًا ليتبدد</a:t>
            </a:r>
            <a:endParaRPr lang="ar-SA" sz="2400" dirty="0"/>
          </a:p>
        </p:txBody>
      </p:sp>
      <p:sp>
        <p:nvSpPr>
          <p:cNvPr id="22" name="anim-g1-737"/>
          <p:cNvSpPr/>
          <p:nvPr/>
        </p:nvSpPr>
        <p:spPr>
          <a:xfrm>
            <a:off x="1097280" y="4095354"/>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1D5E40"/>
                </a:solidFill>
                <a:latin typeface="Cairo" pitchFamily="34" charset="0"/>
                <a:ea typeface="Cairo" pitchFamily="34" charset="-122"/>
                <a:cs typeface="Cairo" pitchFamily="34" charset="-120"/>
              </a:rPr>
              <a:t>صحيح: لهذا تحمل سيارتنا مروحة تسرّع تبديد الغاز</a:t>
            </a:r>
            <a:endParaRPr lang="ar-SA" sz="1800" dirty="0"/>
          </a:p>
        </p:txBody>
      </p:sp>
      <p:sp>
        <p:nvSpPr>
          <p:cNvPr id="23" name="Shape 21"/>
          <p:cNvSpPr/>
          <p:nvPr/>
        </p:nvSpPr>
        <p:spPr>
          <a:xfrm>
            <a:off x="822960" y="4806696"/>
            <a:ext cx="10545775" cy="1228344"/>
          </a:xfrm>
          <a:prstGeom prst="roundRect">
            <a:avLst>
              <a:gd name="adj" fmla="val 11911"/>
            </a:avLst>
          </a:prstGeom>
          <a:solidFill>
            <a:srgbClr val="FFFFFF"/>
          </a:solidFill>
          <a:ln w="19050">
            <a:solidFill>
              <a:srgbClr val="E4DCC8"/>
            </a:solidFill>
            <a:prstDash val="solid"/>
          </a:ln>
        </p:spPr>
      </p:sp>
      <p:sp>
        <p:nvSpPr>
          <p:cNvPr id="24" name="Shape 22"/>
          <p:cNvSpPr/>
          <p:nvPr/>
        </p:nvSpPr>
        <p:spPr>
          <a:xfrm>
            <a:off x="10231831" y="4943856"/>
            <a:ext cx="954024" cy="954024"/>
          </a:xfrm>
          <a:prstGeom prst="roundRect">
            <a:avLst>
              <a:gd name="adj" fmla="val 11502"/>
            </a:avLst>
          </a:prstGeom>
          <a:solidFill>
            <a:srgbClr val="101B45"/>
          </a:solidFill>
          <a:ln/>
        </p:spPr>
      </p:sp>
      <p:sp>
        <p:nvSpPr>
          <p:cNvPr id="25" name="Text 23"/>
          <p:cNvSpPr/>
          <p:nvPr/>
        </p:nvSpPr>
        <p:spPr>
          <a:xfrm>
            <a:off x="10231831" y="4943856"/>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26" name="Text 24"/>
          <p:cNvSpPr/>
          <p:nvPr/>
        </p:nvSpPr>
        <p:spPr>
          <a:xfrm>
            <a:off x="1097280" y="4806696"/>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الليد احترق</a:t>
            </a:r>
            <a:endParaRPr lang="ar-SA" sz="2500" dirty="0"/>
          </a:p>
        </p:txBody>
      </p:sp>
      <p:sp>
        <p:nvSpPr>
          <p:cNvPr id="27" name="anim-g1-738"/>
          <p:cNvSpPr/>
          <p:nvPr/>
        </p:nvSpPr>
        <p:spPr>
          <a:xfrm>
            <a:off x="822960" y="4806696"/>
            <a:ext cx="10545775" cy="1228344"/>
          </a:xfrm>
          <a:prstGeom prst="roundRect">
            <a:avLst>
              <a:gd name="adj" fmla="val 11911"/>
            </a:avLst>
          </a:prstGeom>
          <a:solidFill>
            <a:srgbClr val="F7F7F9"/>
          </a:solidFill>
          <a:ln w="19050">
            <a:solidFill>
              <a:srgbClr val="E4DCC8"/>
            </a:solidFill>
            <a:prstDash val="solid"/>
          </a:ln>
        </p:spPr>
      </p:sp>
      <p:sp>
        <p:nvSpPr>
          <p:cNvPr id="28" name="anim-g1-739"/>
          <p:cNvSpPr/>
          <p:nvPr/>
        </p:nvSpPr>
        <p:spPr>
          <a:xfrm>
            <a:off x="10231831" y="4943856"/>
            <a:ext cx="954024" cy="954024"/>
          </a:xfrm>
          <a:prstGeom prst="roundRect">
            <a:avLst>
              <a:gd name="adj" fmla="val 11502"/>
            </a:avLst>
          </a:prstGeom>
          <a:solidFill>
            <a:srgbClr val="A3A9BA"/>
          </a:solidFill>
          <a:ln/>
        </p:spPr>
      </p:sp>
      <p:sp>
        <p:nvSpPr>
          <p:cNvPr id="29" name="anim-g1-740"/>
          <p:cNvSpPr/>
          <p:nvPr/>
        </p:nvSpPr>
        <p:spPr>
          <a:xfrm>
            <a:off x="10231831" y="4943856"/>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30" name="anim-g1-741"/>
          <p:cNvSpPr/>
          <p:nvPr/>
        </p:nvSpPr>
        <p:spPr>
          <a:xfrm>
            <a:off x="1097280" y="4843272"/>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8A90A3"/>
                </a:solidFill>
                <a:latin typeface="Cairo" pitchFamily="34" charset="0"/>
                <a:ea typeface="Cairo" pitchFamily="34" charset="-122"/>
                <a:cs typeface="Cairo" pitchFamily="34" charset="-120"/>
              </a:rPr>
              <a:t>الليد احترق</a:t>
            </a:r>
            <a:endParaRPr lang="ar-SA" sz="2400" dirty="0"/>
          </a:p>
        </p:txBody>
      </p:sp>
      <p:sp>
        <p:nvSpPr>
          <p:cNvPr id="31" name="anim-g1-742"/>
          <p:cNvSpPr/>
          <p:nvPr/>
        </p:nvSpPr>
        <p:spPr>
          <a:xfrm>
            <a:off x="1097280" y="5470002"/>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الليد سليم ويستجيب للقراءة</a:t>
            </a:r>
            <a:endParaRPr lang="ar-SA" sz="1800" dirty="0"/>
          </a:p>
        </p:txBody>
      </p:sp>
      <p:sp>
        <p:nvSpPr>
          <p:cNvPr id="32" name="Text 3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33" name="Text 3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حساس الغاز  ·  ١٠١</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Lst>
  </p:timing>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Image 0" descr="C:\Users\user\projects\younes-training\turath\.pptx-cache\s102.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خلاصة المحور</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رقم يصعد ببطء على الشاشة…</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وليد أزرق يقول: هنا غاز لا تراه</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لمسة تراث</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 حساس الغاز  ·  ١٠٣</a:t>
            </a:r>
            <a:endParaRPr lang="ar-SA" sz="12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097280" y="2103120"/>
            <a:ext cx="2651760" cy="2651760"/>
          </a:xfrm>
          <a:prstGeom prst="ellipse">
            <a:avLst/>
          </a:prstGeom>
          <a:solidFill>
            <a:srgbClr val="D9AE4B">
              <a:alpha val="12000"/>
            </a:srgbClr>
          </a:solidFill>
          <a:ln w="63500">
            <a:solidFill>
              <a:srgbClr val="D9AE4B">
                <a:alpha val="60000"/>
              </a:srgbClr>
            </a:solidFill>
            <a:prstDash val="solid"/>
          </a:ln>
        </p:spPr>
      </p:sp>
      <p:sp>
        <p:nvSpPr>
          <p:cNvPr id="3" name="Text 1"/>
          <p:cNvSpPr/>
          <p:nvPr/>
        </p:nvSpPr>
        <p:spPr>
          <a:xfrm>
            <a:off x="1097280" y="2103120"/>
            <a:ext cx="2651760" cy="2651760"/>
          </a:xfrm>
          <a:prstGeom prst="rect">
            <a:avLst/>
          </a:prstGeom>
          <a:noFill/>
          <a:ln/>
        </p:spPr>
        <p:txBody>
          <a:bodyPr wrap="square" lIns="0" tIns="0" rIns="0" bIns="0" rtlCol="0" anchor="ctr">
            <a:normAutofit/>
          </a:bodyPr>
          <a:lstStyle/>
          <a:p>
            <a:pPr rtl="1" algn="ctr" indent="0" marL="0">
              <a:buNone/>
            </a:pPr>
            <a:r>
              <a:rPr lang="ar-SA" altLang="en-US" sz="12000" dirty="0">
                <a:solidFill>
                  <a:srgbClr val="F0CC7A"/>
                </a:solidFill>
                <a:latin typeface="Cairo Black" pitchFamily="34" charset="0"/>
                <a:ea typeface="Cairo Black" pitchFamily="34" charset="-122"/>
                <a:cs typeface="Cairo Black" pitchFamily="34" charset="-120"/>
              </a:rPr>
              <a:t>١١</a:t>
            </a:r>
            <a:endParaRPr lang="ar-SA" sz="12000" dirty="0"/>
          </a:p>
        </p:txBody>
      </p:sp>
      <p:sp>
        <p:nvSpPr>
          <p:cNvPr id="4" name="Text 2"/>
          <p:cNvSpPr/>
          <p:nvPr/>
        </p:nvSpPr>
        <p:spPr>
          <a:xfrm>
            <a:off x="4206240" y="1828800"/>
            <a:ext cx="7162495" cy="457200"/>
          </a:xfrm>
          <a:prstGeom prst="rect">
            <a:avLst/>
          </a:prstGeom>
          <a:noFill/>
          <a:ln/>
        </p:spPr>
        <p:txBody>
          <a:bodyPr wrap="square" lIns="0" tIns="0" rIns="0" bIns="0" rtlCol="0" anchor="ctr">
            <a:normAutofit/>
          </a:bodyPr>
          <a:lstStyle/>
          <a:p>
            <a:pPr rtl="1" algn="r" indent="0" marL="0">
              <a:buNone/>
            </a:pPr>
            <a:r>
              <a:rPr lang="ar-SA" altLang="en-US" sz="2000" b="1" dirty="0">
                <a:solidFill>
                  <a:srgbClr val="D9AE4B"/>
                </a:solidFill>
                <a:latin typeface="Cairo" pitchFamily="34" charset="0"/>
                <a:ea typeface="Cairo" pitchFamily="34" charset="-122"/>
                <a:cs typeface="Cairo" pitchFamily="34" charset="-120"/>
              </a:rPr>
              <a:t>المحور ١١</a:t>
            </a:r>
            <a:endParaRPr lang="ar-SA" sz="2000" dirty="0"/>
          </a:p>
        </p:txBody>
      </p:sp>
      <p:sp>
        <p:nvSpPr>
          <p:cNvPr id="5" name="Text 3"/>
          <p:cNvSpPr/>
          <p:nvPr/>
        </p:nvSpPr>
        <p:spPr>
          <a:xfrm>
            <a:off x="4206240" y="2286000"/>
            <a:ext cx="7162495" cy="1371600"/>
          </a:xfrm>
          <a:prstGeom prst="rect">
            <a:avLst/>
          </a:prstGeom>
          <a:noFill/>
          <a:ln/>
        </p:spPr>
        <p:txBody>
          <a:bodyPr wrap="square" lIns="0" tIns="0" rIns="0" bIns="0" rtlCol="0" anchor="ctr">
            <a:normAutofit/>
          </a:bodyPr>
          <a:lstStyle/>
          <a:p>
            <a:pPr rtl="1" algn="r" indent="0" marL="0">
              <a:buNone/>
            </a:pPr>
            <a:r>
              <a:rPr lang="ar-SA" altLang="en-US" sz="5600" dirty="0">
                <a:solidFill>
                  <a:srgbClr val="FFFFFF"/>
                </a:solidFill>
                <a:latin typeface="Cairo Black" pitchFamily="34" charset="0"/>
                <a:ea typeface="Cairo Black" pitchFamily="34" charset="-122"/>
                <a:cs typeface="Cairo Black" pitchFamily="34" charset="-120"/>
              </a:rPr>
              <a:t>🛡️ محطة الأمان الكاملة</a:t>
            </a:r>
            <a:endParaRPr lang="ar-SA" sz="5600" dirty="0"/>
          </a:p>
        </p:txBody>
      </p:sp>
      <p:sp>
        <p:nvSpPr>
          <p:cNvPr id="6" name="Text 4"/>
          <p:cNvSpPr/>
          <p:nvPr/>
        </p:nvSpPr>
        <p:spPr>
          <a:xfrm>
            <a:off x="4206240" y="3749040"/>
            <a:ext cx="7162495" cy="822960"/>
          </a:xfrm>
          <a:prstGeom prst="rect">
            <a:avLst/>
          </a:prstGeom>
          <a:noFill/>
          <a:ln/>
        </p:spPr>
        <p:txBody>
          <a:bodyPr wrap="square" lIns="0" tIns="0" rIns="0" bIns="0" rtlCol="0" anchor="ctr">
            <a:normAutofit/>
          </a:bodyPr>
          <a:lstStyle/>
          <a:p>
            <a:pPr rtl="1" algn="r" indent="0" marL="0">
              <a:buNone/>
            </a:pPr>
            <a:r>
              <a:rPr lang="ar-SA" altLang="en-US" sz="2200" b="1" dirty="0">
                <a:solidFill>
                  <a:srgbClr val="C9CFE6"/>
                </a:solidFill>
                <a:latin typeface="Cairo" pitchFamily="34" charset="0"/>
                <a:ea typeface="Cairo" pitchFamily="34" charset="-122"/>
                <a:cs typeface="Cairo" pitchFamily="34" charset="-120"/>
              </a:rPr>
              <a:t>عين وأنف وصوت وشاشة… في صندوق واحد</a:t>
            </a:r>
            <a:endParaRPr lang="ar-SA" sz="2200" dirty="0"/>
          </a:p>
        </p:txBody>
      </p:sp>
      <p:sp>
        <p:nvSpPr>
          <p:cNvPr id="7" name="Text 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لمسة تراث</a:t>
            </a:r>
            <a:endParaRPr lang="ar-SA" sz="1200" dirty="0"/>
          </a:p>
        </p:txBody>
      </p:sp>
      <p:sp>
        <p:nvSpPr>
          <p:cNvPr id="8" name="Text 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 محطة الأمان  ·  ١٠٤</a:t>
            </a:r>
            <a:endParaRPr lang="ar-SA" sz="12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248095" y="457200"/>
            <a:ext cx="5120640" cy="457200"/>
          </a:xfrm>
          <a:prstGeom prst="roundRect">
            <a:avLst>
              <a:gd name="adj" fmla="val 50000"/>
            </a:avLst>
          </a:prstGeom>
          <a:solidFill>
            <a:srgbClr val="F6EBCF"/>
          </a:solidFill>
          <a:ln/>
        </p:spPr>
      </p:sp>
      <p:sp>
        <p:nvSpPr>
          <p:cNvPr id="3" name="Text 1"/>
          <p:cNvSpPr/>
          <p:nvPr/>
        </p:nvSpPr>
        <p:spPr>
          <a:xfrm>
            <a:off x="6248095" y="457200"/>
            <a:ext cx="512064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بنهاية هذا المحور تستطيع أن</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أهداف المحور</a:t>
            </a:r>
            <a:endParaRPr lang="ar-SA" sz="3800" dirty="0"/>
          </a:p>
        </p:txBody>
      </p:sp>
      <p:sp>
        <p:nvSpPr>
          <p:cNvPr id="5" name="anim-g1-743"/>
          <p:cNvSpPr/>
          <p:nvPr/>
        </p:nvSpPr>
        <p:spPr>
          <a:xfrm>
            <a:off x="822960" y="1920240"/>
            <a:ext cx="10545775" cy="946404"/>
          </a:xfrm>
          <a:prstGeom prst="roundRect">
            <a:avLst>
              <a:gd name="adj" fmla="val 15459"/>
            </a:avLst>
          </a:prstGeom>
          <a:solidFill>
            <a:srgbClr val="FFFFFF"/>
          </a:solidFill>
          <a:ln w="12700">
            <a:solidFill>
              <a:srgbClr val="E4DCC8"/>
            </a:solidFill>
            <a:prstDash val="solid"/>
          </a:ln>
        </p:spPr>
      </p:sp>
      <p:sp>
        <p:nvSpPr>
          <p:cNvPr id="6" name="anim-g1-744"/>
          <p:cNvSpPr/>
          <p:nvPr/>
        </p:nvSpPr>
        <p:spPr>
          <a:xfrm>
            <a:off x="10573207" y="2109978"/>
            <a:ext cx="566928" cy="566928"/>
          </a:xfrm>
          <a:prstGeom prst="ellipse">
            <a:avLst/>
          </a:prstGeom>
          <a:solidFill>
            <a:srgbClr val="D9AE4B"/>
          </a:solidFill>
          <a:ln/>
        </p:spPr>
      </p:sp>
      <p:sp>
        <p:nvSpPr>
          <p:cNvPr id="7" name="anim-g1-745"/>
          <p:cNvSpPr/>
          <p:nvPr/>
        </p:nvSpPr>
        <p:spPr>
          <a:xfrm>
            <a:off x="10573207" y="2109978"/>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١</a:t>
            </a:r>
            <a:endParaRPr lang="ar-SA" sz="2000" dirty="0"/>
          </a:p>
        </p:txBody>
      </p:sp>
      <p:sp>
        <p:nvSpPr>
          <p:cNvPr id="8" name="anim-g1-746"/>
          <p:cNvSpPr/>
          <p:nvPr/>
        </p:nvSpPr>
        <p:spPr>
          <a:xfrm>
            <a:off x="1097280" y="1920240"/>
            <a:ext cx="9247327" cy="946404"/>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توصل شاشة LCD بـ I2C على ESP32</a:t>
            </a:r>
            <a:endParaRPr lang="ar-SA" sz="2400" dirty="0"/>
          </a:p>
        </p:txBody>
      </p:sp>
      <p:sp>
        <p:nvSpPr>
          <p:cNvPr id="9" name="anim-g2-747"/>
          <p:cNvSpPr/>
          <p:nvPr/>
        </p:nvSpPr>
        <p:spPr>
          <a:xfrm>
            <a:off x="822960" y="2976372"/>
            <a:ext cx="10545775" cy="946404"/>
          </a:xfrm>
          <a:prstGeom prst="roundRect">
            <a:avLst>
              <a:gd name="adj" fmla="val 15459"/>
            </a:avLst>
          </a:prstGeom>
          <a:solidFill>
            <a:srgbClr val="FFFFFF"/>
          </a:solidFill>
          <a:ln w="12700">
            <a:solidFill>
              <a:srgbClr val="E4DCC8"/>
            </a:solidFill>
            <a:prstDash val="solid"/>
          </a:ln>
        </p:spPr>
      </p:sp>
      <p:sp>
        <p:nvSpPr>
          <p:cNvPr id="10" name="anim-g2-748"/>
          <p:cNvSpPr/>
          <p:nvPr/>
        </p:nvSpPr>
        <p:spPr>
          <a:xfrm>
            <a:off x="10573207" y="3166110"/>
            <a:ext cx="566928" cy="566928"/>
          </a:xfrm>
          <a:prstGeom prst="ellipse">
            <a:avLst/>
          </a:prstGeom>
          <a:solidFill>
            <a:srgbClr val="D9AE4B"/>
          </a:solidFill>
          <a:ln/>
        </p:spPr>
      </p:sp>
      <p:sp>
        <p:nvSpPr>
          <p:cNvPr id="11" name="anim-g2-749"/>
          <p:cNvSpPr/>
          <p:nvPr/>
        </p:nvSpPr>
        <p:spPr>
          <a:xfrm>
            <a:off x="10573207" y="3166110"/>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٢</a:t>
            </a:r>
            <a:endParaRPr lang="ar-SA" sz="2000" dirty="0"/>
          </a:p>
        </p:txBody>
      </p:sp>
      <p:sp>
        <p:nvSpPr>
          <p:cNvPr id="12" name="anim-g2-750"/>
          <p:cNvSpPr/>
          <p:nvPr/>
        </p:nvSpPr>
        <p:spPr>
          <a:xfrm>
            <a:off x="1097280" y="2976372"/>
            <a:ext cx="9247327" cy="946404"/>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تحوّل القراءتين إلى نسبتي خطر وتعرضهما</a:t>
            </a:r>
            <a:endParaRPr lang="ar-SA" sz="2400" dirty="0"/>
          </a:p>
        </p:txBody>
      </p:sp>
      <p:sp>
        <p:nvSpPr>
          <p:cNvPr id="13" name="anim-g3-751"/>
          <p:cNvSpPr/>
          <p:nvPr/>
        </p:nvSpPr>
        <p:spPr>
          <a:xfrm>
            <a:off x="822960" y="4032504"/>
            <a:ext cx="10545775" cy="946404"/>
          </a:xfrm>
          <a:prstGeom prst="roundRect">
            <a:avLst>
              <a:gd name="adj" fmla="val 15459"/>
            </a:avLst>
          </a:prstGeom>
          <a:solidFill>
            <a:srgbClr val="FFFFFF"/>
          </a:solidFill>
          <a:ln w="12700">
            <a:solidFill>
              <a:srgbClr val="E4DCC8"/>
            </a:solidFill>
            <a:prstDash val="solid"/>
          </a:ln>
        </p:spPr>
      </p:sp>
      <p:sp>
        <p:nvSpPr>
          <p:cNvPr id="14" name="anim-g3-752"/>
          <p:cNvSpPr/>
          <p:nvPr/>
        </p:nvSpPr>
        <p:spPr>
          <a:xfrm>
            <a:off x="10573207" y="4222242"/>
            <a:ext cx="566928" cy="566928"/>
          </a:xfrm>
          <a:prstGeom prst="ellipse">
            <a:avLst/>
          </a:prstGeom>
          <a:solidFill>
            <a:srgbClr val="D9AE4B"/>
          </a:solidFill>
          <a:ln/>
        </p:spPr>
      </p:sp>
      <p:sp>
        <p:nvSpPr>
          <p:cNvPr id="15" name="anim-g3-753"/>
          <p:cNvSpPr/>
          <p:nvPr/>
        </p:nvSpPr>
        <p:spPr>
          <a:xfrm>
            <a:off x="10573207" y="4222242"/>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٣</a:t>
            </a:r>
            <a:endParaRPr lang="ar-SA" sz="2000" dirty="0"/>
          </a:p>
        </p:txBody>
      </p:sp>
      <p:sp>
        <p:nvSpPr>
          <p:cNvPr id="16" name="anim-g3-754"/>
          <p:cNvSpPr/>
          <p:nvPr/>
        </p:nvSpPr>
        <p:spPr>
          <a:xfrm>
            <a:off x="1097280" y="4032504"/>
            <a:ext cx="9247327" cy="946404"/>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تميّز اللهب من الغاز بالصوت: سريع وبطيء</a:t>
            </a:r>
            <a:endParaRPr lang="ar-SA" sz="2400" dirty="0"/>
          </a:p>
        </p:txBody>
      </p:sp>
      <p:sp>
        <p:nvSpPr>
          <p:cNvPr id="17" name="anim-g4-755"/>
          <p:cNvSpPr/>
          <p:nvPr/>
        </p:nvSpPr>
        <p:spPr>
          <a:xfrm>
            <a:off x="822960" y="5088636"/>
            <a:ext cx="10545775" cy="946404"/>
          </a:xfrm>
          <a:prstGeom prst="roundRect">
            <a:avLst>
              <a:gd name="adj" fmla="val 15459"/>
            </a:avLst>
          </a:prstGeom>
          <a:solidFill>
            <a:srgbClr val="FFFFFF"/>
          </a:solidFill>
          <a:ln w="12700">
            <a:solidFill>
              <a:srgbClr val="E4DCC8"/>
            </a:solidFill>
            <a:prstDash val="solid"/>
          </a:ln>
        </p:spPr>
      </p:sp>
      <p:sp>
        <p:nvSpPr>
          <p:cNvPr id="18" name="anim-g4-756"/>
          <p:cNvSpPr/>
          <p:nvPr/>
        </p:nvSpPr>
        <p:spPr>
          <a:xfrm>
            <a:off x="10573207" y="5278374"/>
            <a:ext cx="566928" cy="566928"/>
          </a:xfrm>
          <a:prstGeom prst="ellipse">
            <a:avLst/>
          </a:prstGeom>
          <a:solidFill>
            <a:srgbClr val="D9AE4B"/>
          </a:solidFill>
          <a:ln/>
        </p:spPr>
      </p:sp>
      <p:sp>
        <p:nvSpPr>
          <p:cNvPr id="19" name="anim-g4-757"/>
          <p:cNvSpPr/>
          <p:nvPr/>
        </p:nvSpPr>
        <p:spPr>
          <a:xfrm>
            <a:off x="10573207" y="5278374"/>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٤</a:t>
            </a:r>
            <a:endParaRPr lang="ar-SA" sz="2000" dirty="0"/>
          </a:p>
        </p:txBody>
      </p:sp>
      <p:sp>
        <p:nvSpPr>
          <p:cNvPr id="20" name="anim-g4-758"/>
          <p:cNvSpPr/>
          <p:nvPr/>
        </p:nvSpPr>
        <p:spPr>
          <a:xfrm>
            <a:off x="1097280" y="5088636"/>
            <a:ext cx="9247327" cy="946404"/>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تركّب المحطة كاملة بأطراف المشروع الحقيقي</a:t>
            </a:r>
            <a:endParaRPr lang="ar-SA" sz="2400" dirty="0"/>
          </a:p>
        </p:txBody>
      </p:sp>
      <p:sp>
        <p:nvSpPr>
          <p:cNvPr id="21" name="Text 19"/>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2" name="Text 20"/>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محطة الأمان  ·  ١٠٥</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106.xml><?xml version="1.0" encoding="utf-8"?>
<p:sld xmlns:a="http://schemas.openxmlformats.org/drawingml/2006/main" xmlns:r="http://schemas.openxmlformats.org/officeDocument/2006/relationships" xmlns:p="http://schemas.openxmlformats.org/presentationml/2006/main">
  <p:cSld name="Slide 10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027871" y="457200"/>
            <a:ext cx="2340864" cy="457200"/>
          </a:xfrm>
          <a:prstGeom prst="roundRect">
            <a:avLst>
              <a:gd name="adj" fmla="val 50000"/>
            </a:avLst>
          </a:prstGeom>
          <a:solidFill>
            <a:srgbClr val="F6EBCF"/>
          </a:solidFill>
          <a:ln/>
        </p:spPr>
      </p:sp>
      <p:sp>
        <p:nvSpPr>
          <p:cNvPr id="3" name="Text 1"/>
          <p:cNvSpPr/>
          <p:nvPr/>
        </p:nvSpPr>
        <p:spPr>
          <a:xfrm>
            <a:off x="9027871" y="457200"/>
            <a:ext cx="2340864"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فكرة الفريق</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من قراءتين مختلفتين… إلى نسبتين يمكن مقارنتهما</a:t>
            </a:r>
            <a:endParaRPr lang="ar-SA" sz="3200" dirty="0"/>
          </a:p>
        </p:txBody>
      </p:sp>
      <p:sp>
        <p:nvSpPr>
          <p:cNvPr id="5" name="anim-g1-759"/>
          <p:cNvSpPr/>
          <p:nvPr/>
        </p:nvSpPr>
        <p:spPr>
          <a:xfrm>
            <a:off x="8036357"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760"/>
          <p:cNvSpPr/>
          <p:nvPr/>
        </p:nvSpPr>
        <p:spPr>
          <a:xfrm>
            <a:off x="10527487" y="2267712"/>
            <a:ext cx="566928" cy="566928"/>
          </a:xfrm>
          <a:prstGeom prst="roundRect">
            <a:avLst>
              <a:gd name="adj" fmla="val 32258"/>
            </a:avLst>
          </a:prstGeom>
          <a:solidFill>
            <a:srgbClr val="F7E6BC"/>
          </a:solidFill>
          <a:ln/>
        </p:spPr>
      </p:sp>
      <p:sp>
        <p:nvSpPr>
          <p:cNvPr id="7" name="anim-g1-761"/>
          <p:cNvSpPr/>
          <p:nvPr/>
        </p:nvSpPr>
        <p:spPr>
          <a:xfrm>
            <a:off x="10527487"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762"/>
          <p:cNvSpPr/>
          <p:nvPr/>
        </p:nvSpPr>
        <p:spPr>
          <a:xfrm>
            <a:off x="8310677"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معايرة تلقائية</a:t>
            </a:r>
            <a:endParaRPr lang="ar-SA" sz="2200" dirty="0"/>
          </a:p>
        </p:txBody>
      </p:sp>
      <p:sp>
        <p:nvSpPr>
          <p:cNvPr id="9" name="anim-g1-763"/>
          <p:cNvSpPr/>
          <p:nvPr/>
        </p:nvSpPr>
        <p:spPr>
          <a:xfrm>
            <a:off x="8310677"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عند التشغيل تُحفظ قراءة الهواء النظيف (base): فلا إنذارات كاذبة</a:t>
            </a:r>
            <a:endParaRPr lang="ar-SA" sz="1900" dirty="0"/>
          </a:p>
        </p:txBody>
      </p:sp>
      <p:sp>
        <p:nvSpPr>
          <p:cNvPr id="10" name="anim-g2-764"/>
          <p:cNvSpPr/>
          <p:nvPr/>
        </p:nvSpPr>
        <p:spPr>
          <a:xfrm>
            <a:off x="4429658"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765"/>
          <p:cNvSpPr/>
          <p:nvPr/>
        </p:nvSpPr>
        <p:spPr>
          <a:xfrm>
            <a:off x="6920789" y="2267712"/>
            <a:ext cx="566928" cy="566928"/>
          </a:xfrm>
          <a:prstGeom prst="roundRect">
            <a:avLst>
              <a:gd name="adj" fmla="val 32258"/>
            </a:avLst>
          </a:prstGeom>
          <a:solidFill>
            <a:srgbClr val="F7E6BC"/>
          </a:solidFill>
          <a:ln/>
        </p:spPr>
      </p:sp>
      <p:sp>
        <p:nvSpPr>
          <p:cNvPr id="12" name="anim-g2-766"/>
          <p:cNvSpPr/>
          <p:nvPr/>
        </p:nvSpPr>
        <p:spPr>
          <a:xfrm>
            <a:off x="6920789"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767"/>
          <p:cNvSpPr/>
          <p:nvPr/>
        </p:nvSpPr>
        <p:spPr>
          <a:xfrm>
            <a:off x="4703978"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نسبة خطر ٠–١٠٠٪</a:t>
            </a:r>
            <a:endParaRPr lang="ar-SA" sz="2200" dirty="0"/>
          </a:p>
        </p:txBody>
      </p:sp>
      <p:sp>
        <p:nvSpPr>
          <p:cNvPr id="14" name="anim-g2-768"/>
          <p:cNvSpPr/>
          <p:nvPr/>
        </p:nvSpPr>
        <p:spPr>
          <a:xfrm>
            <a:off x="4703978"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كل حساس يتحول إلى نسبة موحّدة تُعرض لحظيًا على الشاشة</a:t>
            </a:r>
            <a:endParaRPr lang="ar-SA" sz="1900" dirty="0"/>
          </a:p>
        </p:txBody>
      </p:sp>
      <p:sp>
        <p:nvSpPr>
          <p:cNvPr id="15" name="anim-g3-769"/>
          <p:cNvSpPr/>
          <p:nvPr/>
        </p:nvSpPr>
        <p:spPr>
          <a:xfrm>
            <a:off x="822960"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770"/>
          <p:cNvSpPr/>
          <p:nvPr/>
        </p:nvSpPr>
        <p:spPr>
          <a:xfrm>
            <a:off x="3314090" y="2267712"/>
            <a:ext cx="566928" cy="566928"/>
          </a:xfrm>
          <a:prstGeom prst="roundRect">
            <a:avLst>
              <a:gd name="adj" fmla="val 32258"/>
            </a:avLst>
          </a:prstGeom>
          <a:solidFill>
            <a:srgbClr val="F7E6BC"/>
          </a:solidFill>
          <a:ln/>
        </p:spPr>
      </p:sp>
      <p:sp>
        <p:nvSpPr>
          <p:cNvPr id="17" name="anim-g3-771"/>
          <p:cNvSpPr/>
          <p:nvPr/>
        </p:nvSpPr>
        <p:spPr>
          <a:xfrm>
            <a:off x="3314090"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772"/>
          <p:cNvSpPr/>
          <p:nvPr/>
        </p:nvSpPr>
        <p:spPr>
          <a:xfrm>
            <a:off x="1097280"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إنذار مزدوج</a:t>
            </a:r>
            <a:endParaRPr lang="ar-SA" sz="2200" dirty="0"/>
          </a:p>
        </p:txBody>
      </p:sp>
      <p:sp>
        <p:nvSpPr>
          <p:cNvPr id="19" name="anim-g3-773"/>
          <p:cNvSpPr/>
          <p:nvPr/>
        </p:nvSpPr>
        <p:spPr>
          <a:xfrm>
            <a:off x="1097280"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الأحمر للحريق والأزرق للغاز، وصفارة تنبيه</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محطة الأمان  ·  ١٠٦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107.xml><?xml version="1.0" encoding="utf-8"?>
<p:sld xmlns:a="http://schemas.openxmlformats.org/drawingml/2006/main" xmlns:r="http://schemas.openxmlformats.org/officeDocument/2006/relationships" xmlns:p="http://schemas.openxmlformats.org/presentationml/2006/main">
  <p:cSld name="Slide 10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881567" y="457200"/>
            <a:ext cx="2487168" cy="457200"/>
          </a:xfrm>
          <a:prstGeom prst="roundRect">
            <a:avLst>
              <a:gd name="adj" fmla="val 50000"/>
            </a:avLst>
          </a:prstGeom>
          <a:solidFill>
            <a:srgbClr val="F6EBCF"/>
          </a:solidFill>
          <a:ln/>
        </p:spPr>
      </p:sp>
      <p:sp>
        <p:nvSpPr>
          <p:cNvPr id="3" name="Text 1"/>
          <p:cNvSpPr/>
          <p:nvPr/>
        </p:nvSpPr>
        <p:spPr>
          <a:xfrm>
            <a:off x="8881567" y="45720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جدول الحالات</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تعرض المحطة؟</a:t>
            </a:r>
            <a:endParaRPr lang="ar-SA" sz="3800" dirty="0"/>
          </a:p>
        </p:txBody>
      </p:sp>
      <p:sp>
        <p:nvSpPr>
          <p:cNvPr id="5" name="Shape 3"/>
          <p:cNvSpPr/>
          <p:nvPr/>
        </p:nvSpPr>
        <p:spPr>
          <a:xfrm>
            <a:off x="9070002" y="1874520"/>
            <a:ext cx="2298733" cy="548640"/>
          </a:xfrm>
          <a:prstGeom prst="roundRect">
            <a:avLst>
              <a:gd name="adj" fmla="val 20000"/>
            </a:avLst>
          </a:prstGeom>
          <a:solidFill>
            <a:srgbClr val="101B45"/>
          </a:solidFill>
          <a:ln/>
        </p:spPr>
      </p:sp>
      <p:sp>
        <p:nvSpPr>
          <p:cNvPr id="6" name="Text 4"/>
          <p:cNvSpPr/>
          <p:nvPr/>
        </p:nvSpPr>
        <p:spPr>
          <a:xfrm>
            <a:off x="9070002" y="1874520"/>
            <a:ext cx="2298733" cy="548640"/>
          </a:xfrm>
          <a:prstGeom prst="rect">
            <a:avLst/>
          </a:prstGeom>
          <a:noFill/>
          <a:ln/>
        </p:spPr>
        <p:txBody>
          <a:bodyPr wrap="square" lIns="0" tIns="0" rIns="0" bIns="0" rtlCol="0" anchor="ctr">
            <a:normAutofit/>
          </a:bodyPr>
          <a:lstStyle/>
          <a:p>
            <a:pPr rtl="1" algn="ctr" indent="0" marL="0">
              <a:buNone/>
            </a:pPr>
            <a:r>
              <a:rPr lang="ar-SA" altLang="en-US" sz="1900" dirty="0">
                <a:solidFill>
                  <a:srgbClr val="FFFFFF"/>
                </a:solidFill>
                <a:latin typeface="Cairo Black" pitchFamily="34" charset="0"/>
                <a:ea typeface="Cairo Black" pitchFamily="34" charset="-122"/>
                <a:cs typeface="Cairo Black" pitchFamily="34" charset="-120"/>
              </a:rPr>
              <a:t>الحالة</a:t>
            </a:r>
            <a:endParaRPr lang="ar-SA" sz="1900" dirty="0"/>
          </a:p>
        </p:txBody>
      </p:sp>
      <p:sp>
        <p:nvSpPr>
          <p:cNvPr id="7" name="Shape 5"/>
          <p:cNvSpPr/>
          <p:nvPr/>
        </p:nvSpPr>
        <p:spPr>
          <a:xfrm>
            <a:off x="6661541" y="1874520"/>
            <a:ext cx="2298733" cy="548640"/>
          </a:xfrm>
          <a:prstGeom prst="roundRect">
            <a:avLst>
              <a:gd name="adj" fmla="val 20000"/>
            </a:avLst>
          </a:prstGeom>
          <a:solidFill>
            <a:srgbClr val="101B45"/>
          </a:solidFill>
          <a:ln/>
        </p:spPr>
      </p:sp>
      <p:sp>
        <p:nvSpPr>
          <p:cNvPr id="8" name="Text 6"/>
          <p:cNvSpPr/>
          <p:nvPr/>
        </p:nvSpPr>
        <p:spPr>
          <a:xfrm>
            <a:off x="6661541" y="1874520"/>
            <a:ext cx="2298733" cy="548640"/>
          </a:xfrm>
          <a:prstGeom prst="rect">
            <a:avLst/>
          </a:prstGeom>
          <a:noFill/>
          <a:ln/>
        </p:spPr>
        <p:txBody>
          <a:bodyPr wrap="square" lIns="0" tIns="0" rIns="0" bIns="0" rtlCol="0" anchor="ctr">
            <a:normAutofit/>
          </a:bodyPr>
          <a:lstStyle/>
          <a:p>
            <a:pPr rtl="1" algn="ctr" indent="0" marL="0">
              <a:buNone/>
            </a:pPr>
            <a:r>
              <a:rPr lang="ar-SA" altLang="en-US" sz="1900" dirty="0">
                <a:solidFill>
                  <a:srgbClr val="FFFFFF"/>
                </a:solidFill>
                <a:latin typeface="Cairo Black" pitchFamily="34" charset="0"/>
                <a:ea typeface="Cairo Black" pitchFamily="34" charset="-122"/>
                <a:cs typeface="Cairo Black" pitchFamily="34" charset="-120"/>
              </a:rPr>
              <a:t>الليدان</a:t>
            </a:r>
            <a:endParaRPr lang="ar-SA" sz="1900" dirty="0"/>
          </a:p>
        </p:txBody>
      </p:sp>
      <p:sp>
        <p:nvSpPr>
          <p:cNvPr id="9" name="Shape 7"/>
          <p:cNvSpPr/>
          <p:nvPr/>
        </p:nvSpPr>
        <p:spPr>
          <a:xfrm>
            <a:off x="4253080" y="1874520"/>
            <a:ext cx="2298733" cy="548640"/>
          </a:xfrm>
          <a:prstGeom prst="roundRect">
            <a:avLst>
              <a:gd name="adj" fmla="val 20000"/>
            </a:avLst>
          </a:prstGeom>
          <a:solidFill>
            <a:srgbClr val="101B45"/>
          </a:solidFill>
          <a:ln/>
        </p:spPr>
      </p:sp>
      <p:sp>
        <p:nvSpPr>
          <p:cNvPr id="10" name="Text 8"/>
          <p:cNvSpPr/>
          <p:nvPr/>
        </p:nvSpPr>
        <p:spPr>
          <a:xfrm>
            <a:off x="4253080" y="1874520"/>
            <a:ext cx="2298733" cy="548640"/>
          </a:xfrm>
          <a:prstGeom prst="rect">
            <a:avLst/>
          </a:prstGeom>
          <a:noFill/>
          <a:ln/>
        </p:spPr>
        <p:txBody>
          <a:bodyPr wrap="square" lIns="0" tIns="0" rIns="0" bIns="0" rtlCol="0" anchor="ctr">
            <a:normAutofit/>
          </a:bodyPr>
          <a:lstStyle/>
          <a:p>
            <a:pPr rtl="1" algn="ctr" indent="0" marL="0">
              <a:buNone/>
            </a:pPr>
            <a:r>
              <a:rPr lang="ar-SA" altLang="en-US" sz="1900" dirty="0">
                <a:solidFill>
                  <a:srgbClr val="FFFFFF"/>
                </a:solidFill>
                <a:latin typeface="Cairo Black" pitchFamily="34" charset="0"/>
                <a:ea typeface="Cairo Black" pitchFamily="34" charset="-122"/>
                <a:cs typeface="Cairo Black" pitchFamily="34" charset="-120"/>
              </a:rPr>
              <a:t>البازر</a:t>
            </a:r>
            <a:endParaRPr lang="ar-SA" sz="1900" dirty="0"/>
          </a:p>
        </p:txBody>
      </p:sp>
      <p:sp>
        <p:nvSpPr>
          <p:cNvPr id="11" name="Shape 9"/>
          <p:cNvSpPr/>
          <p:nvPr/>
        </p:nvSpPr>
        <p:spPr>
          <a:xfrm>
            <a:off x="822960" y="1874520"/>
            <a:ext cx="3320392" cy="548640"/>
          </a:xfrm>
          <a:prstGeom prst="roundRect">
            <a:avLst>
              <a:gd name="adj" fmla="val 20000"/>
            </a:avLst>
          </a:prstGeom>
          <a:solidFill>
            <a:srgbClr val="101B45"/>
          </a:solidFill>
          <a:ln/>
        </p:spPr>
      </p:sp>
      <p:sp>
        <p:nvSpPr>
          <p:cNvPr id="12" name="Text 10"/>
          <p:cNvSpPr/>
          <p:nvPr/>
        </p:nvSpPr>
        <p:spPr>
          <a:xfrm>
            <a:off x="822960" y="1874520"/>
            <a:ext cx="3320392" cy="548640"/>
          </a:xfrm>
          <a:prstGeom prst="rect">
            <a:avLst/>
          </a:prstGeom>
          <a:noFill/>
          <a:ln/>
        </p:spPr>
        <p:txBody>
          <a:bodyPr wrap="square" lIns="0" tIns="0" rIns="0" bIns="0" rtlCol="0" anchor="ctr">
            <a:normAutofit/>
          </a:bodyPr>
          <a:lstStyle/>
          <a:p>
            <a:pPr rtl="1" algn="ctr" indent="0" marL="0">
              <a:buNone/>
            </a:pPr>
            <a:r>
              <a:rPr lang="ar-SA" altLang="en-US" sz="1900" dirty="0">
                <a:solidFill>
                  <a:srgbClr val="FFFFFF"/>
                </a:solidFill>
                <a:latin typeface="Cairo Black" pitchFamily="34" charset="0"/>
                <a:ea typeface="Cairo Black" pitchFamily="34" charset="-122"/>
                <a:cs typeface="Cairo Black" pitchFamily="34" charset="-120"/>
              </a:rPr>
              <a:t>الشاشة</a:t>
            </a:r>
            <a:endParaRPr lang="ar-SA" sz="1900" dirty="0"/>
          </a:p>
        </p:txBody>
      </p:sp>
      <p:sp>
        <p:nvSpPr>
          <p:cNvPr id="13" name="anim-g1-774"/>
          <p:cNvSpPr/>
          <p:nvPr/>
        </p:nvSpPr>
        <p:spPr>
          <a:xfrm>
            <a:off x="9070002" y="2514600"/>
            <a:ext cx="2298733" cy="797814"/>
          </a:xfrm>
          <a:prstGeom prst="roundRect">
            <a:avLst>
              <a:gd name="adj" fmla="val 13754"/>
            </a:avLst>
          </a:prstGeom>
          <a:solidFill>
            <a:srgbClr val="FBF3DF"/>
          </a:solidFill>
          <a:ln w="12700">
            <a:solidFill>
              <a:srgbClr val="EFDDAF"/>
            </a:solidFill>
            <a:prstDash val="solid"/>
          </a:ln>
        </p:spPr>
      </p:sp>
      <p:sp>
        <p:nvSpPr>
          <p:cNvPr id="14" name="anim-g1-775"/>
          <p:cNvSpPr/>
          <p:nvPr/>
        </p:nvSpPr>
        <p:spPr>
          <a:xfrm>
            <a:off x="9207162" y="2514600"/>
            <a:ext cx="2024413"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 آمن</a:t>
            </a:r>
            <a:endParaRPr lang="ar-SA" sz="2100" dirty="0"/>
          </a:p>
        </p:txBody>
      </p:sp>
      <p:sp>
        <p:nvSpPr>
          <p:cNvPr id="15" name="anim-g1-776"/>
          <p:cNvSpPr/>
          <p:nvPr/>
        </p:nvSpPr>
        <p:spPr>
          <a:xfrm>
            <a:off x="6661541" y="2514600"/>
            <a:ext cx="2298733" cy="797814"/>
          </a:xfrm>
          <a:prstGeom prst="roundRect">
            <a:avLst>
              <a:gd name="adj" fmla="val 13754"/>
            </a:avLst>
          </a:prstGeom>
          <a:solidFill>
            <a:srgbClr val="FFFFFF"/>
          </a:solidFill>
          <a:ln w="12700">
            <a:solidFill>
              <a:srgbClr val="E4DCC8"/>
            </a:solidFill>
            <a:prstDash val="solid"/>
          </a:ln>
        </p:spPr>
      </p:sp>
      <p:sp>
        <p:nvSpPr>
          <p:cNvPr id="16" name="anim-g1-777"/>
          <p:cNvSpPr/>
          <p:nvPr/>
        </p:nvSpPr>
        <p:spPr>
          <a:xfrm>
            <a:off x="6798701" y="2514600"/>
            <a:ext cx="2024413"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مطفآن</a:t>
            </a:r>
            <a:endParaRPr lang="ar-SA" sz="2100" dirty="0"/>
          </a:p>
        </p:txBody>
      </p:sp>
      <p:sp>
        <p:nvSpPr>
          <p:cNvPr id="17" name="anim-g1-778"/>
          <p:cNvSpPr/>
          <p:nvPr/>
        </p:nvSpPr>
        <p:spPr>
          <a:xfrm>
            <a:off x="4253080" y="2514600"/>
            <a:ext cx="2298733" cy="797814"/>
          </a:xfrm>
          <a:prstGeom prst="roundRect">
            <a:avLst>
              <a:gd name="adj" fmla="val 13754"/>
            </a:avLst>
          </a:prstGeom>
          <a:solidFill>
            <a:srgbClr val="FFFFFF"/>
          </a:solidFill>
          <a:ln w="12700">
            <a:solidFill>
              <a:srgbClr val="E4DCC8"/>
            </a:solidFill>
            <a:prstDash val="solid"/>
          </a:ln>
        </p:spPr>
      </p:sp>
      <p:sp>
        <p:nvSpPr>
          <p:cNvPr id="18" name="anim-g1-779"/>
          <p:cNvSpPr/>
          <p:nvPr/>
        </p:nvSpPr>
        <p:spPr>
          <a:xfrm>
            <a:off x="4390240" y="2514600"/>
            <a:ext cx="2024413"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صامت</a:t>
            </a:r>
            <a:endParaRPr lang="ar-SA" sz="2100" dirty="0"/>
          </a:p>
        </p:txBody>
      </p:sp>
      <p:sp>
        <p:nvSpPr>
          <p:cNvPr id="19" name="anim-g1-780"/>
          <p:cNvSpPr/>
          <p:nvPr/>
        </p:nvSpPr>
        <p:spPr>
          <a:xfrm>
            <a:off x="822960" y="2514600"/>
            <a:ext cx="3320392" cy="797814"/>
          </a:xfrm>
          <a:prstGeom prst="roundRect">
            <a:avLst>
              <a:gd name="adj" fmla="val 13754"/>
            </a:avLst>
          </a:prstGeom>
          <a:solidFill>
            <a:srgbClr val="E6F4EC"/>
          </a:solidFill>
          <a:ln w="12700">
            <a:solidFill>
              <a:srgbClr val="CDE9D9"/>
            </a:solidFill>
            <a:prstDash val="solid"/>
          </a:ln>
        </p:spPr>
      </p:sp>
      <p:sp>
        <p:nvSpPr>
          <p:cNvPr id="20" name="anim-g1-781"/>
          <p:cNvSpPr/>
          <p:nvPr/>
        </p:nvSpPr>
        <p:spPr>
          <a:xfrm>
            <a:off x="960120" y="2514600"/>
            <a:ext cx="3046072"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Fire: 2% · Gas: 0%</a:t>
            </a:r>
            <a:endParaRPr lang="ar-SA" sz="2100" dirty="0"/>
          </a:p>
        </p:txBody>
      </p:sp>
      <p:sp>
        <p:nvSpPr>
          <p:cNvPr id="21" name="anim-g2-782"/>
          <p:cNvSpPr/>
          <p:nvPr/>
        </p:nvSpPr>
        <p:spPr>
          <a:xfrm>
            <a:off x="9070002" y="3422142"/>
            <a:ext cx="2298733" cy="797814"/>
          </a:xfrm>
          <a:prstGeom prst="roundRect">
            <a:avLst>
              <a:gd name="adj" fmla="val 13754"/>
            </a:avLst>
          </a:prstGeom>
          <a:solidFill>
            <a:srgbClr val="FBF3DF"/>
          </a:solidFill>
          <a:ln w="12700">
            <a:solidFill>
              <a:srgbClr val="EFDDAF"/>
            </a:solidFill>
            <a:prstDash val="solid"/>
          </a:ln>
        </p:spPr>
      </p:sp>
      <p:sp>
        <p:nvSpPr>
          <p:cNvPr id="22" name="anim-g2-783"/>
          <p:cNvSpPr/>
          <p:nvPr/>
        </p:nvSpPr>
        <p:spPr>
          <a:xfrm>
            <a:off x="9207162" y="3422142"/>
            <a:ext cx="2024413"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 حريق</a:t>
            </a:r>
            <a:endParaRPr lang="ar-SA" sz="2100" dirty="0"/>
          </a:p>
        </p:txBody>
      </p:sp>
      <p:sp>
        <p:nvSpPr>
          <p:cNvPr id="23" name="anim-g2-784"/>
          <p:cNvSpPr/>
          <p:nvPr/>
        </p:nvSpPr>
        <p:spPr>
          <a:xfrm>
            <a:off x="6661541" y="3422142"/>
            <a:ext cx="2298733" cy="797814"/>
          </a:xfrm>
          <a:prstGeom prst="roundRect">
            <a:avLst>
              <a:gd name="adj" fmla="val 13754"/>
            </a:avLst>
          </a:prstGeom>
          <a:solidFill>
            <a:srgbClr val="FFFFFF"/>
          </a:solidFill>
          <a:ln w="12700">
            <a:solidFill>
              <a:srgbClr val="E4DCC8"/>
            </a:solidFill>
            <a:prstDash val="solid"/>
          </a:ln>
        </p:spPr>
      </p:sp>
      <p:sp>
        <p:nvSpPr>
          <p:cNvPr id="24" name="anim-g2-785"/>
          <p:cNvSpPr/>
          <p:nvPr/>
        </p:nvSpPr>
        <p:spPr>
          <a:xfrm>
            <a:off x="6798701" y="3422142"/>
            <a:ext cx="2024413"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 الأحمر</a:t>
            </a:r>
            <a:endParaRPr lang="ar-SA" sz="2100" dirty="0"/>
          </a:p>
        </p:txBody>
      </p:sp>
      <p:sp>
        <p:nvSpPr>
          <p:cNvPr id="25" name="anim-g2-786"/>
          <p:cNvSpPr/>
          <p:nvPr/>
        </p:nvSpPr>
        <p:spPr>
          <a:xfrm>
            <a:off x="4253080" y="3422142"/>
            <a:ext cx="2298733" cy="797814"/>
          </a:xfrm>
          <a:prstGeom prst="roundRect">
            <a:avLst>
              <a:gd name="adj" fmla="val 13754"/>
            </a:avLst>
          </a:prstGeom>
          <a:solidFill>
            <a:srgbClr val="FFFFFF"/>
          </a:solidFill>
          <a:ln w="12700">
            <a:solidFill>
              <a:srgbClr val="E4DCC8"/>
            </a:solidFill>
            <a:prstDash val="solid"/>
          </a:ln>
        </p:spPr>
      </p:sp>
      <p:sp>
        <p:nvSpPr>
          <p:cNvPr id="26" name="anim-g2-787"/>
          <p:cNvSpPr/>
          <p:nvPr/>
        </p:nvSpPr>
        <p:spPr>
          <a:xfrm>
            <a:off x="4390240" y="3422142"/>
            <a:ext cx="2024413"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سريع متقطع</a:t>
            </a:r>
            <a:endParaRPr lang="ar-SA" sz="2100" dirty="0"/>
          </a:p>
        </p:txBody>
      </p:sp>
      <p:sp>
        <p:nvSpPr>
          <p:cNvPr id="27" name="anim-g2-788"/>
          <p:cNvSpPr/>
          <p:nvPr/>
        </p:nvSpPr>
        <p:spPr>
          <a:xfrm>
            <a:off x="822960" y="3422142"/>
            <a:ext cx="3320392" cy="797814"/>
          </a:xfrm>
          <a:prstGeom prst="roundRect">
            <a:avLst>
              <a:gd name="adj" fmla="val 13754"/>
            </a:avLst>
          </a:prstGeom>
          <a:solidFill>
            <a:srgbClr val="E6F4EC"/>
          </a:solidFill>
          <a:ln w="12700">
            <a:solidFill>
              <a:srgbClr val="CDE9D9"/>
            </a:solidFill>
            <a:prstDash val="solid"/>
          </a:ln>
        </p:spPr>
      </p:sp>
      <p:sp>
        <p:nvSpPr>
          <p:cNvPr id="28" name="anim-g2-789"/>
          <p:cNvSpPr/>
          <p:nvPr/>
        </p:nvSpPr>
        <p:spPr>
          <a:xfrm>
            <a:off x="960120" y="3422142"/>
            <a:ext cx="3046072"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Fire: 82% !!</a:t>
            </a:r>
            <a:endParaRPr lang="ar-SA" sz="2100" dirty="0"/>
          </a:p>
        </p:txBody>
      </p:sp>
      <p:sp>
        <p:nvSpPr>
          <p:cNvPr id="29" name="anim-g3-790"/>
          <p:cNvSpPr/>
          <p:nvPr/>
        </p:nvSpPr>
        <p:spPr>
          <a:xfrm>
            <a:off x="9070002" y="4329684"/>
            <a:ext cx="2298733" cy="797814"/>
          </a:xfrm>
          <a:prstGeom prst="roundRect">
            <a:avLst>
              <a:gd name="adj" fmla="val 13754"/>
            </a:avLst>
          </a:prstGeom>
          <a:solidFill>
            <a:srgbClr val="FBF3DF"/>
          </a:solidFill>
          <a:ln w="12700">
            <a:solidFill>
              <a:srgbClr val="EFDDAF"/>
            </a:solidFill>
            <a:prstDash val="solid"/>
          </a:ln>
        </p:spPr>
      </p:sp>
      <p:sp>
        <p:nvSpPr>
          <p:cNvPr id="30" name="anim-g3-791"/>
          <p:cNvSpPr/>
          <p:nvPr/>
        </p:nvSpPr>
        <p:spPr>
          <a:xfrm>
            <a:off x="9207162" y="4329684"/>
            <a:ext cx="2024413"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 غاز</a:t>
            </a:r>
            <a:endParaRPr lang="ar-SA" sz="2100" dirty="0"/>
          </a:p>
        </p:txBody>
      </p:sp>
      <p:sp>
        <p:nvSpPr>
          <p:cNvPr id="31" name="anim-g3-792"/>
          <p:cNvSpPr/>
          <p:nvPr/>
        </p:nvSpPr>
        <p:spPr>
          <a:xfrm>
            <a:off x="6661541" y="4329684"/>
            <a:ext cx="2298733" cy="797814"/>
          </a:xfrm>
          <a:prstGeom prst="roundRect">
            <a:avLst>
              <a:gd name="adj" fmla="val 13754"/>
            </a:avLst>
          </a:prstGeom>
          <a:solidFill>
            <a:srgbClr val="FFFFFF"/>
          </a:solidFill>
          <a:ln w="12700">
            <a:solidFill>
              <a:srgbClr val="E4DCC8"/>
            </a:solidFill>
            <a:prstDash val="solid"/>
          </a:ln>
        </p:spPr>
      </p:sp>
      <p:sp>
        <p:nvSpPr>
          <p:cNvPr id="32" name="anim-g3-793"/>
          <p:cNvSpPr/>
          <p:nvPr/>
        </p:nvSpPr>
        <p:spPr>
          <a:xfrm>
            <a:off x="6798701" y="4329684"/>
            <a:ext cx="2024413"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 الأزرق</a:t>
            </a:r>
            <a:endParaRPr lang="ar-SA" sz="2100" dirty="0"/>
          </a:p>
        </p:txBody>
      </p:sp>
      <p:sp>
        <p:nvSpPr>
          <p:cNvPr id="33" name="anim-g3-794"/>
          <p:cNvSpPr/>
          <p:nvPr/>
        </p:nvSpPr>
        <p:spPr>
          <a:xfrm>
            <a:off x="4253080" y="4329684"/>
            <a:ext cx="2298733" cy="797814"/>
          </a:xfrm>
          <a:prstGeom prst="roundRect">
            <a:avLst>
              <a:gd name="adj" fmla="val 13754"/>
            </a:avLst>
          </a:prstGeom>
          <a:solidFill>
            <a:srgbClr val="FFFFFF"/>
          </a:solidFill>
          <a:ln w="12700">
            <a:solidFill>
              <a:srgbClr val="E4DCC8"/>
            </a:solidFill>
            <a:prstDash val="solid"/>
          </a:ln>
        </p:spPr>
      </p:sp>
      <p:sp>
        <p:nvSpPr>
          <p:cNvPr id="34" name="anim-g3-795"/>
          <p:cNvSpPr/>
          <p:nvPr/>
        </p:nvSpPr>
        <p:spPr>
          <a:xfrm>
            <a:off x="4390240" y="4329684"/>
            <a:ext cx="2024413"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بطيء</a:t>
            </a:r>
            <a:endParaRPr lang="ar-SA" sz="2100" dirty="0"/>
          </a:p>
        </p:txBody>
      </p:sp>
      <p:sp>
        <p:nvSpPr>
          <p:cNvPr id="35" name="anim-g3-796"/>
          <p:cNvSpPr/>
          <p:nvPr/>
        </p:nvSpPr>
        <p:spPr>
          <a:xfrm>
            <a:off x="822960" y="4329684"/>
            <a:ext cx="3320392" cy="797814"/>
          </a:xfrm>
          <a:prstGeom prst="roundRect">
            <a:avLst>
              <a:gd name="adj" fmla="val 13754"/>
            </a:avLst>
          </a:prstGeom>
          <a:solidFill>
            <a:srgbClr val="E6F4EC"/>
          </a:solidFill>
          <a:ln w="12700">
            <a:solidFill>
              <a:srgbClr val="CDE9D9"/>
            </a:solidFill>
            <a:prstDash val="solid"/>
          </a:ln>
        </p:spPr>
      </p:sp>
      <p:sp>
        <p:nvSpPr>
          <p:cNvPr id="36" name="anim-g3-797"/>
          <p:cNvSpPr/>
          <p:nvPr/>
        </p:nvSpPr>
        <p:spPr>
          <a:xfrm>
            <a:off x="960120" y="4329684"/>
            <a:ext cx="3046072"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Gas: 64% !!</a:t>
            </a:r>
            <a:endParaRPr lang="ar-SA" sz="2100" dirty="0"/>
          </a:p>
        </p:txBody>
      </p:sp>
      <p:sp>
        <p:nvSpPr>
          <p:cNvPr id="37" name="anim-g4-798"/>
          <p:cNvSpPr/>
          <p:nvPr/>
        </p:nvSpPr>
        <p:spPr>
          <a:xfrm>
            <a:off x="9070002" y="5237226"/>
            <a:ext cx="2298733" cy="797814"/>
          </a:xfrm>
          <a:prstGeom prst="roundRect">
            <a:avLst>
              <a:gd name="adj" fmla="val 13754"/>
            </a:avLst>
          </a:prstGeom>
          <a:solidFill>
            <a:srgbClr val="FBF3DF"/>
          </a:solidFill>
          <a:ln w="12700">
            <a:solidFill>
              <a:srgbClr val="EFDDAF"/>
            </a:solidFill>
            <a:prstDash val="solid"/>
          </a:ln>
        </p:spPr>
      </p:sp>
      <p:sp>
        <p:nvSpPr>
          <p:cNvPr id="38" name="anim-g4-799"/>
          <p:cNvSpPr/>
          <p:nvPr/>
        </p:nvSpPr>
        <p:spPr>
          <a:xfrm>
            <a:off x="9207162" y="5237226"/>
            <a:ext cx="2024413"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 معًا</a:t>
            </a:r>
            <a:endParaRPr lang="ar-SA" sz="2100" dirty="0"/>
          </a:p>
        </p:txBody>
      </p:sp>
      <p:sp>
        <p:nvSpPr>
          <p:cNvPr id="39" name="anim-g4-800"/>
          <p:cNvSpPr/>
          <p:nvPr/>
        </p:nvSpPr>
        <p:spPr>
          <a:xfrm>
            <a:off x="6661541" y="5237226"/>
            <a:ext cx="2298733" cy="797814"/>
          </a:xfrm>
          <a:prstGeom prst="roundRect">
            <a:avLst>
              <a:gd name="adj" fmla="val 13754"/>
            </a:avLst>
          </a:prstGeom>
          <a:solidFill>
            <a:srgbClr val="FFFFFF"/>
          </a:solidFill>
          <a:ln w="12700">
            <a:solidFill>
              <a:srgbClr val="E4DCC8"/>
            </a:solidFill>
            <a:prstDash val="solid"/>
          </a:ln>
        </p:spPr>
      </p:sp>
      <p:sp>
        <p:nvSpPr>
          <p:cNvPr id="40" name="anim-g4-801"/>
          <p:cNvSpPr/>
          <p:nvPr/>
        </p:nvSpPr>
        <p:spPr>
          <a:xfrm>
            <a:off x="6798701" y="5237226"/>
            <a:ext cx="2024413"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 كلاهما</a:t>
            </a:r>
            <a:endParaRPr lang="ar-SA" sz="2100" dirty="0"/>
          </a:p>
        </p:txBody>
      </p:sp>
      <p:sp>
        <p:nvSpPr>
          <p:cNvPr id="41" name="anim-g4-802"/>
          <p:cNvSpPr/>
          <p:nvPr/>
        </p:nvSpPr>
        <p:spPr>
          <a:xfrm>
            <a:off x="4253080" y="5237226"/>
            <a:ext cx="2298733" cy="797814"/>
          </a:xfrm>
          <a:prstGeom prst="roundRect">
            <a:avLst>
              <a:gd name="adj" fmla="val 13754"/>
            </a:avLst>
          </a:prstGeom>
          <a:solidFill>
            <a:srgbClr val="FFFFFF"/>
          </a:solidFill>
          <a:ln w="12700">
            <a:solidFill>
              <a:srgbClr val="E4DCC8"/>
            </a:solidFill>
            <a:prstDash val="solid"/>
          </a:ln>
        </p:spPr>
      </p:sp>
      <p:sp>
        <p:nvSpPr>
          <p:cNvPr id="42" name="anim-g4-803"/>
          <p:cNvSpPr/>
          <p:nvPr/>
        </p:nvSpPr>
        <p:spPr>
          <a:xfrm>
            <a:off x="4390240" y="5237226"/>
            <a:ext cx="2024413"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سريع</a:t>
            </a:r>
            <a:endParaRPr lang="ar-SA" sz="2100" dirty="0"/>
          </a:p>
        </p:txBody>
      </p:sp>
      <p:sp>
        <p:nvSpPr>
          <p:cNvPr id="43" name="anim-g4-804"/>
          <p:cNvSpPr/>
          <p:nvPr/>
        </p:nvSpPr>
        <p:spPr>
          <a:xfrm>
            <a:off x="822960" y="5237226"/>
            <a:ext cx="3320392" cy="797814"/>
          </a:xfrm>
          <a:prstGeom prst="roundRect">
            <a:avLst>
              <a:gd name="adj" fmla="val 13754"/>
            </a:avLst>
          </a:prstGeom>
          <a:solidFill>
            <a:srgbClr val="E6F4EC"/>
          </a:solidFill>
          <a:ln w="12700">
            <a:solidFill>
              <a:srgbClr val="CDE9D9"/>
            </a:solidFill>
            <a:prstDash val="solid"/>
          </a:ln>
        </p:spPr>
      </p:sp>
      <p:sp>
        <p:nvSpPr>
          <p:cNvPr id="44" name="anim-g4-805"/>
          <p:cNvSpPr/>
          <p:nvPr/>
        </p:nvSpPr>
        <p:spPr>
          <a:xfrm>
            <a:off x="960120" y="5237226"/>
            <a:ext cx="3046072"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النسبتان معًا… والسيارة تقارن</a:t>
            </a:r>
            <a:endParaRPr lang="ar-SA" sz="2100" dirty="0"/>
          </a:p>
        </p:txBody>
      </p:sp>
      <p:sp>
        <p:nvSpPr>
          <p:cNvPr id="45" name="Text 4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46" name="Text 4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محطة الأمان  ·  ١٠٧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4"/>
                                        </p:tgtEl>
                                        <p:attrNameLst>
                                          <p:attrName>style.visibility</p:attrName>
                                        </p:attrNameLst>
                                      </p:cBhvr>
                                      <p:to>
                                        <p:strVal val="visible"/>
                                      </p:to>
                                    </p:set>
                                    <p:animEffect transition="in" filter="fade">
                                      <p:cBhvr>
                                        <p:cTn id="10" dur="400"/>
                                        <p:tgtEl>
                                          <p:spTgt spid="1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5"/>
                                        </p:tgtEl>
                                        <p:attrNameLst>
                                          <p:attrName>style.visibility</p:attrName>
                                        </p:attrNameLst>
                                      </p:cBhvr>
                                      <p:to>
                                        <p:strVal val="visible"/>
                                      </p:to>
                                    </p:set>
                                    <p:animEffect transition="in" filter="fade">
                                      <p:cBhvr>
                                        <p:cTn id="13" dur="400"/>
                                        <p:tgtEl>
                                          <p:spTgt spid="15"/>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6"/>
                                        </p:tgtEl>
                                        <p:attrNameLst>
                                          <p:attrName>style.visibility</p:attrName>
                                        </p:attrNameLst>
                                      </p:cBhvr>
                                      <p:to>
                                        <p:strVal val="visible"/>
                                      </p:to>
                                    </p:set>
                                    <p:animEffect transition="in" filter="fade">
                                      <p:cBhvr>
                                        <p:cTn id="16" dur="400"/>
                                        <p:tgtEl>
                                          <p:spTgt spid="16"/>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animEffect transition="in" filter="fade">
                                      <p:cBhvr>
                                        <p:cTn id="19" dur="400"/>
                                        <p:tgtEl>
                                          <p:spTgt spid="17"/>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21"/>
                                        </p:tgtEl>
                                        <p:attrNameLst>
                                          <p:attrName>style.visibility</p:attrName>
                                        </p:attrNameLst>
                                      </p:cBhvr>
                                      <p:to>
                                        <p:strVal val="visible"/>
                                      </p:to>
                                    </p:set>
                                    <p:animEffect transition="in" filter="fade">
                                      <p:cBhvr>
                                        <p:cTn id="33" dur="400"/>
                                        <p:tgtEl>
                                          <p:spTgt spid="21"/>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2"/>
                                        </p:tgtEl>
                                        <p:attrNameLst>
                                          <p:attrName>style.visibility</p:attrName>
                                        </p:attrNameLst>
                                      </p:cBhvr>
                                      <p:to>
                                        <p:strVal val="visible"/>
                                      </p:to>
                                    </p:set>
                                    <p:animEffect transition="in" filter="fade">
                                      <p:cBhvr>
                                        <p:cTn id="36" dur="400"/>
                                        <p:tgtEl>
                                          <p:spTgt spid="22"/>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3"/>
                                        </p:tgtEl>
                                        <p:attrNameLst>
                                          <p:attrName>style.visibility</p:attrName>
                                        </p:attrNameLst>
                                      </p:cBhvr>
                                      <p:to>
                                        <p:strVal val="visible"/>
                                      </p:to>
                                    </p:set>
                                    <p:animEffect transition="in" filter="fade">
                                      <p:cBhvr>
                                        <p:cTn id="39" dur="400"/>
                                        <p:tgtEl>
                                          <p:spTgt spid="23"/>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4"/>
                                        </p:tgtEl>
                                        <p:attrNameLst>
                                          <p:attrName>style.visibility</p:attrName>
                                        </p:attrNameLst>
                                      </p:cBhvr>
                                      <p:to>
                                        <p:strVal val="visible"/>
                                      </p:to>
                                    </p:set>
                                    <p:animEffect transition="in" filter="fade">
                                      <p:cBhvr>
                                        <p:cTn id="42" dur="400"/>
                                        <p:tgtEl>
                                          <p:spTgt spid="24"/>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25"/>
                                        </p:tgtEl>
                                        <p:attrNameLst>
                                          <p:attrName>style.visibility</p:attrName>
                                        </p:attrNameLst>
                                      </p:cBhvr>
                                      <p:to>
                                        <p:strVal val="visible"/>
                                      </p:to>
                                    </p:set>
                                    <p:animEffect transition="in" filter="fade">
                                      <p:cBhvr>
                                        <p:cTn id="45" dur="400"/>
                                        <p:tgtEl>
                                          <p:spTgt spid="25"/>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26"/>
                                        </p:tgtEl>
                                        <p:attrNameLst>
                                          <p:attrName>style.visibility</p:attrName>
                                        </p:attrNameLst>
                                      </p:cBhvr>
                                      <p:to>
                                        <p:strVal val="visible"/>
                                      </p:to>
                                    </p:set>
                                    <p:animEffect transition="in" filter="fade">
                                      <p:cBhvr>
                                        <p:cTn id="48" dur="400"/>
                                        <p:tgtEl>
                                          <p:spTgt spid="26"/>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27"/>
                                        </p:tgtEl>
                                        <p:attrNameLst>
                                          <p:attrName>style.visibility</p:attrName>
                                        </p:attrNameLst>
                                      </p:cBhvr>
                                      <p:to>
                                        <p:strVal val="visible"/>
                                      </p:to>
                                    </p:set>
                                    <p:animEffect transition="in" filter="fade">
                                      <p:cBhvr>
                                        <p:cTn id="51" dur="400"/>
                                        <p:tgtEl>
                                          <p:spTgt spid="27"/>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28"/>
                                        </p:tgtEl>
                                        <p:attrNameLst>
                                          <p:attrName>style.visibility</p:attrName>
                                        </p:attrNameLst>
                                      </p:cBhvr>
                                      <p:to>
                                        <p:strVal val="visible"/>
                                      </p:to>
                                    </p:set>
                                    <p:animEffect transition="in" filter="fade">
                                      <p:cBhvr>
                                        <p:cTn id="54" dur="400"/>
                                        <p:tgtEl>
                                          <p:spTgt spid="28"/>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grpId="0" nodeType="clickEffect">
                                  <p:stCondLst>
                                    <p:cond delay="0"/>
                                  </p:stCondLst>
                                  <p:childTnLst>
                                    <p:set>
                                      <p:cBhvr>
                                        <p:cTn id="58" dur="1" fill="hold">
                                          <p:stCondLst>
                                            <p:cond delay="0"/>
                                          </p:stCondLst>
                                        </p:cTn>
                                        <p:tgtEl>
                                          <p:spTgt spid="29"/>
                                        </p:tgtEl>
                                        <p:attrNameLst>
                                          <p:attrName>style.visibility</p:attrName>
                                        </p:attrNameLst>
                                      </p:cBhvr>
                                      <p:to>
                                        <p:strVal val="visible"/>
                                      </p:to>
                                    </p:set>
                                    <p:animEffect transition="in" filter="fade">
                                      <p:cBhvr>
                                        <p:cTn id="59" dur="400"/>
                                        <p:tgtEl>
                                          <p:spTgt spid="29"/>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30"/>
                                        </p:tgtEl>
                                        <p:attrNameLst>
                                          <p:attrName>style.visibility</p:attrName>
                                        </p:attrNameLst>
                                      </p:cBhvr>
                                      <p:to>
                                        <p:strVal val="visible"/>
                                      </p:to>
                                    </p:set>
                                    <p:animEffect transition="in" filter="fade">
                                      <p:cBhvr>
                                        <p:cTn id="62" dur="400"/>
                                        <p:tgtEl>
                                          <p:spTgt spid="30"/>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31"/>
                                        </p:tgtEl>
                                        <p:attrNameLst>
                                          <p:attrName>style.visibility</p:attrName>
                                        </p:attrNameLst>
                                      </p:cBhvr>
                                      <p:to>
                                        <p:strVal val="visible"/>
                                      </p:to>
                                    </p:set>
                                    <p:animEffect transition="in" filter="fade">
                                      <p:cBhvr>
                                        <p:cTn id="65" dur="400"/>
                                        <p:tgtEl>
                                          <p:spTgt spid="31"/>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32"/>
                                        </p:tgtEl>
                                        <p:attrNameLst>
                                          <p:attrName>style.visibility</p:attrName>
                                        </p:attrNameLst>
                                      </p:cBhvr>
                                      <p:to>
                                        <p:strVal val="visible"/>
                                      </p:to>
                                    </p:set>
                                    <p:animEffect transition="in" filter="fade">
                                      <p:cBhvr>
                                        <p:cTn id="68" dur="400"/>
                                        <p:tgtEl>
                                          <p:spTgt spid="32"/>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33"/>
                                        </p:tgtEl>
                                        <p:attrNameLst>
                                          <p:attrName>style.visibility</p:attrName>
                                        </p:attrNameLst>
                                      </p:cBhvr>
                                      <p:to>
                                        <p:strVal val="visible"/>
                                      </p:to>
                                    </p:set>
                                    <p:animEffect transition="in" filter="fade">
                                      <p:cBhvr>
                                        <p:cTn id="71" dur="400"/>
                                        <p:tgtEl>
                                          <p:spTgt spid="33"/>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34"/>
                                        </p:tgtEl>
                                        <p:attrNameLst>
                                          <p:attrName>style.visibility</p:attrName>
                                        </p:attrNameLst>
                                      </p:cBhvr>
                                      <p:to>
                                        <p:strVal val="visible"/>
                                      </p:to>
                                    </p:set>
                                    <p:animEffect transition="in" filter="fade">
                                      <p:cBhvr>
                                        <p:cTn id="74" dur="400"/>
                                        <p:tgtEl>
                                          <p:spTgt spid="34"/>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35"/>
                                        </p:tgtEl>
                                        <p:attrNameLst>
                                          <p:attrName>style.visibility</p:attrName>
                                        </p:attrNameLst>
                                      </p:cBhvr>
                                      <p:to>
                                        <p:strVal val="visible"/>
                                      </p:to>
                                    </p:set>
                                    <p:animEffect transition="in" filter="fade">
                                      <p:cBhvr>
                                        <p:cTn id="77" dur="400"/>
                                        <p:tgtEl>
                                          <p:spTgt spid="35"/>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36"/>
                                        </p:tgtEl>
                                        <p:attrNameLst>
                                          <p:attrName>style.visibility</p:attrName>
                                        </p:attrNameLst>
                                      </p:cBhvr>
                                      <p:to>
                                        <p:strVal val="visible"/>
                                      </p:to>
                                    </p:set>
                                    <p:animEffect transition="in" filter="fade">
                                      <p:cBhvr>
                                        <p:cTn id="80" dur="400"/>
                                        <p:tgtEl>
                                          <p:spTgt spid="36"/>
                                        </p:tgtEl>
                                      </p:cBhvr>
                                    </p:animEffect>
                                  </p:childTnLst>
                                </p:cTn>
                              </p:par>
                            </p:childTnLst>
                          </p:cTn>
                        </p:par>
                      </p:childTnLst>
                    </p:cTn>
                  </p:par>
                  <p:par>
                    <p:cTn id="81" fill="hold">
                      <p:stCondLst>
                        <p:cond delay="indefinite"/>
                      </p:stCondLst>
                      <p:childTnLst>
                        <p:par>
                          <p:cTn id="82" fill="hold">
                            <p:stCondLst>
                              <p:cond delay="0"/>
                            </p:stCondLst>
                            <p:childTnLst>
                              <p:par>
                                <p:cTn id="83" presetID="10" presetClass="entr" presetSubtype="0" fill="hold" grpId="0" nodeType="clickEffect">
                                  <p:stCondLst>
                                    <p:cond delay="0"/>
                                  </p:stCondLst>
                                  <p:childTnLst>
                                    <p:set>
                                      <p:cBhvr>
                                        <p:cTn id="84" dur="1" fill="hold">
                                          <p:stCondLst>
                                            <p:cond delay="0"/>
                                          </p:stCondLst>
                                        </p:cTn>
                                        <p:tgtEl>
                                          <p:spTgt spid="37"/>
                                        </p:tgtEl>
                                        <p:attrNameLst>
                                          <p:attrName>style.visibility</p:attrName>
                                        </p:attrNameLst>
                                      </p:cBhvr>
                                      <p:to>
                                        <p:strVal val="visible"/>
                                      </p:to>
                                    </p:set>
                                    <p:animEffect transition="in" filter="fade">
                                      <p:cBhvr>
                                        <p:cTn id="85" dur="400"/>
                                        <p:tgtEl>
                                          <p:spTgt spid="37"/>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38"/>
                                        </p:tgtEl>
                                        <p:attrNameLst>
                                          <p:attrName>style.visibility</p:attrName>
                                        </p:attrNameLst>
                                      </p:cBhvr>
                                      <p:to>
                                        <p:strVal val="visible"/>
                                      </p:to>
                                    </p:set>
                                    <p:animEffect transition="in" filter="fade">
                                      <p:cBhvr>
                                        <p:cTn id="88" dur="400"/>
                                        <p:tgtEl>
                                          <p:spTgt spid="38"/>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39"/>
                                        </p:tgtEl>
                                        <p:attrNameLst>
                                          <p:attrName>style.visibility</p:attrName>
                                        </p:attrNameLst>
                                      </p:cBhvr>
                                      <p:to>
                                        <p:strVal val="visible"/>
                                      </p:to>
                                    </p:set>
                                    <p:animEffect transition="in" filter="fade">
                                      <p:cBhvr>
                                        <p:cTn id="91" dur="400"/>
                                        <p:tgtEl>
                                          <p:spTgt spid="39"/>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40"/>
                                        </p:tgtEl>
                                        <p:attrNameLst>
                                          <p:attrName>style.visibility</p:attrName>
                                        </p:attrNameLst>
                                      </p:cBhvr>
                                      <p:to>
                                        <p:strVal val="visible"/>
                                      </p:to>
                                    </p:set>
                                    <p:animEffect transition="in" filter="fade">
                                      <p:cBhvr>
                                        <p:cTn id="94" dur="400"/>
                                        <p:tgtEl>
                                          <p:spTgt spid="40"/>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41"/>
                                        </p:tgtEl>
                                        <p:attrNameLst>
                                          <p:attrName>style.visibility</p:attrName>
                                        </p:attrNameLst>
                                      </p:cBhvr>
                                      <p:to>
                                        <p:strVal val="visible"/>
                                      </p:to>
                                    </p:set>
                                    <p:animEffect transition="in" filter="fade">
                                      <p:cBhvr>
                                        <p:cTn id="97" dur="400"/>
                                        <p:tgtEl>
                                          <p:spTgt spid="41"/>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42"/>
                                        </p:tgtEl>
                                        <p:attrNameLst>
                                          <p:attrName>style.visibility</p:attrName>
                                        </p:attrNameLst>
                                      </p:cBhvr>
                                      <p:to>
                                        <p:strVal val="visible"/>
                                      </p:to>
                                    </p:set>
                                    <p:animEffect transition="in" filter="fade">
                                      <p:cBhvr>
                                        <p:cTn id="100" dur="400"/>
                                        <p:tgtEl>
                                          <p:spTgt spid="42"/>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43"/>
                                        </p:tgtEl>
                                        <p:attrNameLst>
                                          <p:attrName>style.visibility</p:attrName>
                                        </p:attrNameLst>
                                      </p:cBhvr>
                                      <p:to>
                                        <p:strVal val="visible"/>
                                      </p:to>
                                    </p:set>
                                    <p:animEffect transition="in" filter="fade">
                                      <p:cBhvr>
                                        <p:cTn id="103" dur="400"/>
                                        <p:tgtEl>
                                          <p:spTgt spid="43"/>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44"/>
                                        </p:tgtEl>
                                        <p:attrNameLst>
                                          <p:attrName>style.visibility</p:attrName>
                                        </p:attrNameLst>
                                      </p:cBhvr>
                                      <p:to>
                                        <p:strVal val="visible"/>
                                      </p:to>
                                    </p:set>
                                    <p:animEffect transition="in" filter="fade">
                                      <p:cBhvr>
                                        <p:cTn id="106" dur="4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Lst>
  </p:timing>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Image 0" descr="C:\Users\user\projects\younes-training\turath\.pptx-cache\s108.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Image 0" descr="C:\Users\user\projects\younes-training\turath\.pptx-cache\s109-0.jpg">    </p:cNvPr>
          <p:cNvPicPr>
            <a:picLocks noChangeAspect="1"/>
          </p:cNvPicPr>
          <p:nvPr/>
        </p:nvPicPr>
        <p:blipFill>
          <a:blip r:embed="rId1"/>
          <a:stretch>
            <a:fillRect/>
          </a:stretch>
        </p:blipFill>
        <p:spPr>
          <a:xfrm>
            <a:off x="0" y="0"/>
            <a:ext cx="12191695" cy="6858000"/>
          </a:xfrm>
          <a:prstGeom prst="rect">
            <a:avLst/>
          </a:prstGeom>
        </p:spPr>
      </p:pic>
      <p:pic>
        <p:nvPicPr>
          <p:cNvPr id="3" name="anim-g1-806" descr="C:\Users\user\projects\younes-training\turath\.pptx-cache\s109-1.jpg">    </p:cNvPr>
          <p:cNvPicPr>
            <a:picLocks noChangeAspect="1"/>
          </p:cNvPicPr>
          <p:nvPr/>
        </p:nvPicPr>
        <p:blipFill>
          <a:blip r:embed="rId2"/>
          <a:stretch>
            <a:fillRect/>
          </a:stretch>
        </p:blipFill>
        <p:spPr>
          <a:xfrm>
            <a:off x="0" y="0"/>
            <a:ext cx="12191695" cy="6858000"/>
          </a:xfrm>
          <a:prstGeom prst="rect">
            <a:avLst/>
          </a:prstGeom>
        </p:spPr>
      </p:pic>
      <p:pic>
        <p:nvPicPr>
          <p:cNvPr id="4" name="anim-g2-807" descr="C:\Users\user\projects\younes-training\turath\.pptx-cache\s109-2.jpg">    </p:cNvPr>
          <p:cNvPicPr>
            <a:picLocks noChangeAspect="1"/>
          </p:cNvPicPr>
          <p:nvPr/>
        </p:nvPicPr>
        <p:blipFill>
          <a:blip r:embed="rId3"/>
          <a:stretch>
            <a:fillRect/>
          </a:stretch>
        </p:blipFill>
        <p:spPr>
          <a:xfrm>
            <a:off x="0" y="0"/>
            <a:ext cx="12191695" cy="6858000"/>
          </a:xfrm>
          <a:prstGeom prst="rect">
            <a:avLst/>
          </a:prstGeom>
        </p:spPr>
      </p:pic>
      <p:pic>
        <p:nvPicPr>
          <p:cNvPr id="5" name="anim-g3-808" descr="C:\Users\user\projects\younes-training\turath\.pptx-cache\s109-3.jpg">    </p:cNvPr>
          <p:cNvPicPr>
            <a:picLocks noChangeAspect="1"/>
          </p:cNvPicPr>
          <p:nvPr/>
        </p:nvPicPr>
        <p:blipFill>
          <a:blip r:embed="rId4"/>
          <a:stretch>
            <a:fillRect/>
          </a:stretch>
        </p:blipFill>
        <p:spPr>
          <a:xfrm>
            <a:off x="0" y="0"/>
            <a:ext cx="12191695" cy="6858000"/>
          </a:xfrm>
          <a:prstGeom prst="rect">
            <a:avLst/>
          </a:prstGeom>
        </p:spPr>
      </p:pic>
      <p:pic>
        <p:nvPicPr>
          <p:cNvPr id="6" name="anim-g4-809" descr="C:\Users\user\projects\younes-training\turath\.pptx-cache\s109-4.jpg">    </p:cNvPr>
          <p:cNvPicPr>
            <a:picLocks noChangeAspect="1"/>
          </p:cNvPicPr>
          <p:nvPr/>
        </p:nvPicPr>
        <p:blipFill>
          <a:blip r:embed="rId5"/>
          <a:stretch>
            <a:fillRect/>
          </a:stretch>
        </p:blipFill>
        <p:spPr>
          <a:xfrm>
            <a:off x="0" y="0"/>
            <a:ext cx="12191695" cy="6858000"/>
          </a:xfrm>
          <a:prstGeom prst="rect">
            <a:avLst/>
          </a:prstGeom>
        </p:spPr>
      </p:pic>
      <p:pic>
        <p:nvPicPr>
          <p:cNvPr id="7" name="anim-g5-810" descr="C:\Users\user\projects\younes-training\turath\.pptx-cache\s109-5.jpg">    </p:cNvPr>
          <p:cNvPicPr>
            <a:picLocks noChangeAspect="1"/>
          </p:cNvPicPr>
          <p:nvPr/>
        </p:nvPicPr>
        <p:blipFill>
          <a:blip r:embed="rId6"/>
          <a:stretch>
            <a:fillRect/>
          </a:stretch>
        </p:blipFill>
        <p:spPr>
          <a:xfrm>
            <a:off x="0" y="0"/>
            <a:ext cx="12191695" cy="6858000"/>
          </a:xfrm>
          <a:prstGeom prst="rect">
            <a:avLst/>
          </a:prstGeom>
        </p:spPr>
      </p:pic>
      <p:pic>
        <p:nvPicPr>
          <p:cNvPr id="8" name="anim-g6-811" descr="C:\Users\user\projects\younes-training\turath\.pptx-cache\s109-6.jpg">    </p:cNvPr>
          <p:cNvPicPr>
            <a:picLocks noChangeAspect="1"/>
          </p:cNvPicPr>
          <p:nvPr/>
        </p:nvPicPr>
        <p:blipFill>
          <a:blip r:embed="rId7"/>
          <a:stretch>
            <a:fillRect/>
          </a:stretch>
        </p:blipFill>
        <p:spPr>
          <a:xfrm>
            <a:off x="0" y="0"/>
            <a:ext cx="12191695" cy="6858000"/>
          </a:xfrm>
          <a:prstGeom prst="rect">
            <a:avLst/>
          </a:prstGeom>
        </p:spPr>
      </p:pic>
      <p:pic>
        <p:nvPicPr>
          <p:cNvPr id="9" name="anim-g7-812" descr="C:\Users\user\projects\younes-training\turath\.pptx-cache\s109-7.jpg">    </p:cNvPr>
          <p:cNvPicPr>
            <a:picLocks noChangeAspect="1"/>
          </p:cNvPicPr>
          <p:nvPr/>
        </p:nvPicPr>
        <p:blipFill>
          <a:blip r:embed="rId8"/>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fade">
                                      <p:cBhvr>
                                        <p:cTn id="37"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Image 0" descr="C:\Users\user\projects\younes-training\turath\.pptx-cache\s110-0.jpg">    </p:cNvPr>
          <p:cNvPicPr>
            <a:picLocks noChangeAspect="1"/>
          </p:cNvPicPr>
          <p:nvPr/>
        </p:nvPicPr>
        <p:blipFill>
          <a:blip r:embed="rId1"/>
          <a:stretch>
            <a:fillRect/>
          </a:stretch>
        </p:blipFill>
        <p:spPr>
          <a:xfrm>
            <a:off x="0" y="0"/>
            <a:ext cx="12191695" cy="6858000"/>
          </a:xfrm>
          <a:prstGeom prst="rect">
            <a:avLst/>
          </a:prstGeom>
        </p:spPr>
      </p:pic>
      <p:pic>
        <p:nvPicPr>
          <p:cNvPr id="3" name="anim-g1-813" descr="C:\Users\user\projects\younes-training\turath\.pptx-cache\s110-1.jpg">    </p:cNvPr>
          <p:cNvPicPr>
            <a:picLocks noChangeAspect="1"/>
          </p:cNvPicPr>
          <p:nvPr/>
        </p:nvPicPr>
        <p:blipFill>
          <a:blip r:embed="rId2"/>
          <a:stretch>
            <a:fillRect/>
          </a:stretch>
        </p:blipFill>
        <p:spPr>
          <a:xfrm>
            <a:off x="0" y="0"/>
            <a:ext cx="12191695" cy="6858000"/>
          </a:xfrm>
          <a:prstGeom prst="rect">
            <a:avLst/>
          </a:prstGeom>
        </p:spPr>
      </p:pic>
      <p:pic>
        <p:nvPicPr>
          <p:cNvPr id="4" name="anim-g2-814" descr="C:\Users\user\projects\younes-training\turath\.pptx-cache\s110-2.jpg">    </p:cNvPr>
          <p:cNvPicPr>
            <a:picLocks noChangeAspect="1"/>
          </p:cNvPicPr>
          <p:nvPr/>
        </p:nvPicPr>
        <p:blipFill>
          <a:blip r:embed="rId3"/>
          <a:stretch>
            <a:fillRect/>
          </a:stretch>
        </p:blipFill>
        <p:spPr>
          <a:xfrm>
            <a:off x="0" y="0"/>
            <a:ext cx="12191695" cy="6858000"/>
          </a:xfrm>
          <a:prstGeom prst="rect">
            <a:avLst/>
          </a:prstGeom>
        </p:spPr>
      </p:pic>
      <p:pic>
        <p:nvPicPr>
          <p:cNvPr id="5" name="anim-g3-815" descr="C:\Users\user\projects\younes-training\turath\.pptx-cache\s110-3.jpg">    </p:cNvPr>
          <p:cNvPicPr>
            <a:picLocks noChangeAspect="1"/>
          </p:cNvPicPr>
          <p:nvPr/>
        </p:nvPicPr>
        <p:blipFill>
          <a:blip r:embed="rId4"/>
          <a:stretch>
            <a:fillRect/>
          </a:stretch>
        </p:blipFill>
        <p:spPr>
          <a:xfrm>
            <a:off x="0" y="0"/>
            <a:ext cx="12191695" cy="6858000"/>
          </a:xfrm>
          <a:prstGeom prst="rect">
            <a:avLst/>
          </a:prstGeom>
        </p:spPr>
      </p:pic>
      <p:pic>
        <p:nvPicPr>
          <p:cNvPr id="6" name="anim-g4-816" descr="C:\Users\user\projects\younes-training\turath\.pptx-cache\s110-4.jpg">    </p:cNvPr>
          <p:cNvPicPr>
            <a:picLocks noChangeAspect="1"/>
          </p:cNvPicPr>
          <p:nvPr/>
        </p:nvPicPr>
        <p:blipFill>
          <a:blip r:embed="rId5"/>
          <a:stretch>
            <a:fillRect/>
          </a:stretch>
        </p:blipFill>
        <p:spPr>
          <a:xfrm>
            <a:off x="0" y="0"/>
            <a:ext cx="12191695" cy="6858000"/>
          </a:xfrm>
          <a:prstGeom prst="rect">
            <a:avLst/>
          </a:prstGeom>
        </p:spPr>
      </p:pic>
      <p:pic>
        <p:nvPicPr>
          <p:cNvPr id="7" name="anim-g5-817" descr="C:\Users\user\projects\younes-training\turath\.pptx-cache\s110-5.jpg">    </p:cNvPr>
          <p:cNvPicPr>
            <a:picLocks noChangeAspect="1"/>
          </p:cNvPicPr>
          <p:nvPr/>
        </p:nvPicPr>
        <p:blipFill>
          <a:blip r:embed="rId6"/>
          <a:stretch>
            <a:fillRect/>
          </a:stretch>
        </p:blipFill>
        <p:spPr>
          <a:xfrm>
            <a:off x="0" y="0"/>
            <a:ext cx="12191695" cy="6858000"/>
          </a:xfrm>
          <a:prstGeom prst="rect">
            <a:avLst/>
          </a:prstGeom>
        </p:spPr>
      </p:pic>
      <p:pic>
        <p:nvPicPr>
          <p:cNvPr id="8" name="anim-g6-818" descr="C:\Users\user\projects\younes-training\turath\.pptx-cache\s110-6.jpg">    </p:cNvPr>
          <p:cNvPicPr>
            <a:picLocks noChangeAspect="1"/>
          </p:cNvPicPr>
          <p:nvPr/>
        </p:nvPicPr>
        <p:blipFill>
          <a:blip r:embed="rId7"/>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Image 0" descr="C:\Users\user\projects\younes-training\turath\.pptx-cache\s111.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Image 0" descr="C:\Users\user\projects\younes-training\turath\.pptx-cache\s112-0.jpg">    </p:cNvPr>
          <p:cNvPicPr>
            <a:picLocks noChangeAspect="1"/>
          </p:cNvPicPr>
          <p:nvPr/>
        </p:nvPicPr>
        <p:blipFill>
          <a:blip r:embed="rId1"/>
          <a:stretch>
            <a:fillRect/>
          </a:stretch>
        </p:blipFill>
        <p:spPr>
          <a:xfrm>
            <a:off x="0" y="0"/>
            <a:ext cx="12191695" cy="6858000"/>
          </a:xfrm>
          <a:prstGeom prst="rect">
            <a:avLst/>
          </a:prstGeom>
        </p:spPr>
      </p:pic>
      <p:pic>
        <p:nvPicPr>
          <p:cNvPr id="3" name="anim-g1-819" descr="C:\Users\user\projects\younes-training\turath\.pptx-cache\s112-1.jpg">    </p:cNvPr>
          <p:cNvPicPr>
            <a:picLocks noChangeAspect="1"/>
          </p:cNvPicPr>
          <p:nvPr/>
        </p:nvPicPr>
        <p:blipFill>
          <a:blip r:embed="rId2"/>
          <a:stretch>
            <a:fillRect/>
          </a:stretch>
        </p:blipFill>
        <p:spPr>
          <a:xfrm>
            <a:off x="0" y="0"/>
            <a:ext cx="12191695" cy="6858000"/>
          </a:xfrm>
          <a:prstGeom prst="rect">
            <a:avLst/>
          </a:prstGeom>
        </p:spPr>
      </p:pic>
      <p:pic>
        <p:nvPicPr>
          <p:cNvPr id="4" name="anim-g2-820" descr="C:\Users\user\projects\younes-training\turath\.pptx-cache\s112-2.jpg">    </p:cNvPr>
          <p:cNvPicPr>
            <a:picLocks noChangeAspect="1"/>
          </p:cNvPicPr>
          <p:nvPr/>
        </p:nvPicPr>
        <p:blipFill>
          <a:blip r:embed="rId3"/>
          <a:stretch>
            <a:fillRect/>
          </a:stretch>
        </p:blipFill>
        <p:spPr>
          <a:xfrm>
            <a:off x="0" y="0"/>
            <a:ext cx="12191695" cy="6858000"/>
          </a:xfrm>
          <a:prstGeom prst="rect">
            <a:avLst/>
          </a:prstGeom>
        </p:spPr>
      </p:pic>
      <p:pic>
        <p:nvPicPr>
          <p:cNvPr id="5" name="anim-g3-821" descr="C:\Users\user\projects\younes-training\turath\.pptx-cache\s112-3.jpg">    </p:cNvPr>
          <p:cNvPicPr>
            <a:picLocks noChangeAspect="1"/>
          </p:cNvPicPr>
          <p:nvPr/>
        </p:nvPicPr>
        <p:blipFill>
          <a:blip r:embed="rId4"/>
          <a:stretch>
            <a:fillRect/>
          </a:stretch>
        </p:blipFill>
        <p:spPr>
          <a:xfrm>
            <a:off x="0" y="0"/>
            <a:ext cx="12191695" cy="6858000"/>
          </a:xfrm>
          <a:prstGeom prst="rect">
            <a:avLst/>
          </a:prstGeom>
        </p:spPr>
      </p:pic>
      <p:pic>
        <p:nvPicPr>
          <p:cNvPr id="6" name="anim-g4-822" descr="C:\Users\user\projects\younes-training\turath\.pptx-cache\s112-4.jpg">    </p:cNvPr>
          <p:cNvPicPr>
            <a:picLocks noChangeAspect="1"/>
          </p:cNvPicPr>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Image 0" descr="C:\Users\user\projects\younes-training\turath\.pptx-cache\s113.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Image 0" descr="C:\Users\user\projects\younes-training\turath\.pptx-cache\s114.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خلاصة المحور</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rtl="1"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محطة واحدة ترى وتشم وتنذر وتكتب: النظام الأول في مشروع لمسات تراث اكتمل</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لمسة تراث</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 محطة الأمان  ·  ١١٥</a:t>
            </a:r>
            <a:endParaRPr lang="ar-SA" sz="120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097280" y="2103120"/>
            <a:ext cx="2651760" cy="2651760"/>
          </a:xfrm>
          <a:prstGeom prst="ellipse">
            <a:avLst/>
          </a:prstGeom>
          <a:solidFill>
            <a:srgbClr val="D9AE4B">
              <a:alpha val="12000"/>
            </a:srgbClr>
          </a:solidFill>
          <a:ln w="63500">
            <a:solidFill>
              <a:srgbClr val="D9AE4B">
                <a:alpha val="60000"/>
              </a:srgbClr>
            </a:solidFill>
            <a:prstDash val="solid"/>
          </a:ln>
        </p:spPr>
      </p:sp>
      <p:sp>
        <p:nvSpPr>
          <p:cNvPr id="3" name="Text 1"/>
          <p:cNvSpPr/>
          <p:nvPr/>
        </p:nvSpPr>
        <p:spPr>
          <a:xfrm>
            <a:off x="1097280" y="2103120"/>
            <a:ext cx="2651760" cy="2651760"/>
          </a:xfrm>
          <a:prstGeom prst="rect">
            <a:avLst/>
          </a:prstGeom>
          <a:noFill/>
          <a:ln/>
        </p:spPr>
        <p:txBody>
          <a:bodyPr wrap="square" lIns="0" tIns="0" rIns="0" bIns="0" rtlCol="0" anchor="ctr">
            <a:normAutofit/>
          </a:bodyPr>
          <a:lstStyle/>
          <a:p>
            <a:pPr rtl="1" algn="ctr" indent="0" marL="0">
              <a:buNone/>
            </a:pPr>
            <a:r>
              <a:rPr lang="ar-SA" altLang="en-US" sz="12000" dirty="0">
                <a:solidFill>
                  <a:srgbClr val="F0CC7A"/>
                </a:solidFill>
                <a:latin typeface="Cairo Black" pitchFamily="34" charset="0"/>
                <a:ea typeface="Cairo Black" pitchFamily="34" charset="-122"/>
                <a:cs typeface="Cairo Black" pitchFamily="34" charset="-120"/>
              </a:rPr>
              <a:t>١٢</a:t>
            </a:r>
            <a:endParaRPr lang="ar-SA" sz="12000" dirty="0"/>
          </a:p>
        </p:txBody>
      </p:sp>
      <p:sp>
        <p:nvSpPr>
          <p:cNvPr id="4" name="Text 2"/>
          <p:cNvSpPr/>
          <p:nvPr/>
        </p:nvSpPr>
        <p:spPr>
          <a:xfrm>
            <a:off x="4206240" y="1828800"/>
            <a:ext cx="7162495" cy="457200"/>
          </a:xfrm>
          <a:prstGeom prst="rect">
            <a:avLst/>
          </a:prstGeom>
          <a:noFill/>
          <a:ln/>
        </p:spPr>
        <p:txBody>
          <a:bodyPr wrap="square" lIns="0" tIns="0" rIns="0" bIns="0" rtlCol="0" anchor="ctr">
            <a:normAutofit/>
          </a:bodyPr>
          <a:lstStyle/>
          <a:p>
            <a:pPr rtl="1" algn="r" indent="0" marL="0">
              <a:buNone/>
            </a:pPr>
            <a:r>
              <a:rPr lang="ar-SA" altLang="en-US" sz="2000" b="1" dirty="0">
                <a:solidFill>
                  <a:srgbClr val="D9AE4B"/>
                </a:solidFill>
                <a:latin typeface="Cairo" pitchFamily="34" charset="0"/>
                <a:ea typeface="Cairo" pitchFamily="34" charset="-122"/>
                <a:cs typeface="Cairo" pitchFamily="34" charset="-120"/>
              </a:rPr>
              <a:t>المحور ١٢</a:t>
            </a:r>
            <a:endParaRPr lang="ar-SA" sz="2000" dirty="0"/>
          </a:p>
        </p:txBody>
      </p:sp>
      <p:sp>
        <p:nvSpPr>
          <p:cNvPr id="5" name="Text 3"/>
          <p:cNvSpPr/>
          <p:nvPr/>
        </p:nvSpPr>
        <p:spPr>
          <a:xfrm>
            <a:off x="4206240" y="2286000"/>
            <a:ext cx="7162495" cy="1371600"/>
          </a:xfrm>
          <a:prstGeom prst="rect">
            <a:avLst/>
          </a:prstGeom>
          <a:noFill/>
          <a:ln/>
        </p:spPr>
        <p:txBody>
          <a:bodyPr wrap="square" lIns="0" tIns="0" rIns="0" bIns="0" rtlCol="0" anchor="ctr">
            <a:normAutofit/>
          </a:bodyPr>
          <a:lstStyle/>
          <a:p>
            <a:pPr rtl="1" algn="r" indent="0" marL="0">
              <a:buNone/>
            </a:pPr>
            <a:r>
              <a:rPr lang="ar-SA" altLang="en-US" sz="5600" dirty="0">
                <a:solidFill>
                  <a:srgbClr val="FFFFFF"/>
                </a:solidFill>
                <a:latin typeface="Cairo Black" pitchFamily="34" charset="0"/>
                <a:ea typeface="Cairo Black" pitchFamily="34" charset="-122"/>
                <a:cs typeface="Cairo Black" pitchFamily="34" charset="-120"/>
              </a:rPr>
              <a:t>🚙 سيارة السلامة</a:t>
            </a:r>
            <a:endParaRPr lang="ar-SA" sz="5600" dirty="0"/>
          </a:p>
        </p:txBody>
      </p:sp>
      <p:sp>
        <p:nvSpPr>
          <p:cNvPr id="6" name="Text 4"/>
          <p:cNvSpPr/>
          <p:nvPr/>
        </p:nvSpPr>
        <p:spPr>
          <a:xfrm>
            <a:off x="4206240" y="3749040"/>
            <a:ext cx="7162495" cy="822960"/>
          </a:xfrm>
          <a:prstGeom prst="rect">
            <a:avLst/>
          </a:prstGeom>
          <a:noFill/>
          <a:ln/>
        </p:spPr>
        <p:txBody>
          <a:bodyPr wrap="square" lIns="0" tIns="0" rIns="0" bIns="0" rtlCol="0" anchor="ctr">
            <a:normAutofit/>
          </a:bodyPr>
          <a:lstStyle/>
          <a:p>
            <a:pPr rtl="1" algn="r" indent="0" marL="0">
              <a:buNone/>
            </a:pPr>
            <a:r>
              <a:rPr lang="ar-SA" altLang="en-US" sz="2200" b="1" dirty="0">
                <a:solidFill>
                  <a:srgbClr val="C9CFE6"/>
                </a:solidFill>
                <a:latin typeface="Cairo" pitchFamily="34" charset="0"/>
                <a:ea typeface="Cairo" pitchFamily="34" charset="-122"/>
                <a:cs typeface="Cairo" pitchFamily="34" charset="-120"/>
              </a:rPr>
              <a:t>دفع رباعي، ومضخة للحريق، ومروحة للغاز</a:t>
            </a:r>
            <a:endParaRPr lang="ar-SA" sz="2200" dirty="0"/>
          </a:p>
        </p:txBody>
      </p:sp>
      <p:sp>
        <p:nvSpPr>
          <p:cNvPr id="7" name="Text 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لمسة تراث</a:t>
            </a:r>
            <a:endParaRPr lang="ar-SA" sz="1200" dirty="0"/>
          </a:p>
        </p:txBody>
      </p:sp>
      <p:sp>
        <p:nvSpPr>
          <p:cNvPr id="8" name="Text 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 سيارة السلامة  ·  ١١٦</a:t>
            </a:r>
            <a:endParaRPr lang="ar-SA" sz="120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248095" y="457200"/>
            <a:ext cx="5120640" cy="457200"/>
          </a:xfrm>
          <a:prstGeom prst="roundRect">
            <a:avLst>
              <a:gd name="adj" fmla="val 50000"/>
            </a:avLst>
          </a:prstGeom>
          <a:solidFill>
            <a:srgbClr val="F6EBCF"/>
          </a:solidFill>
          <a:ln/>
        </p:spPr>
      </p:sp>
      <p:sp>
        <p:nvSpPr>
          <p:cNvPr id="3" name="Text 1"/>
          <p:cNvSpPr/>
          <p:nvPr/>
        </p:nvSpPr>
        <p:spPr>
          <a:xfrm>
            <a:off x="6248095" y="457200"/>
            <a:ext cx="512064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بنهاية هذا المحور تستطيع أن</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أهداف المحور</a:t>
            </a:r>
            <a:endParaRPr lang="ar-SA" sz="3800" dirty="0"/>
          </a:p>
        </p:txBody>
      </p:sp>
      <p:sp>
        <p:nvSpPr>
          <p:cNvPr id="5" name="anim-g1-823"/>
          <p:cNvSpPr/>
          <p:nvPr/>
        </p:nvSpPr>
        <p:spPr>
          <a:xfrm>
            <a:off x="822960" y="1920240"/>
            <a:ext cx="10545775" cy="735178"/>
          </a:xfrm>
          <a:prstGeom prst="roundRect">
            <a:avLst>
              <a:gd name="adj" fmla="val 19900"/>
            </a:avLst>
          </a:prstGeom>
          <a:solidFill>
            <a:srgbClr val="FFFFFF"/>
          </a:solidFill>
          <a:ln w="12700">
            <a:solidFill>
              <a:srgbClr val="E4DCC8"/>
            </a:solidFill>
            <a:prstDash val="solid"/>
          </a:ln>
        </p:spPr>
      </p:sp>
      <p:sp>
        <p:nvSpPr>
          <p:cNvPr id="6" name="anim-g1-824"/>
          <p:cNvSpPr/>
          <p:nvPr/>
        </p:nvSpPr>
        <p:spPr>
          <a:xfrm>
            <a:off x="10587838" y="2011680"/>
            <a:ext cx="552298" cy="552298"/>
          </a:xfrm>
          <a:prstGeom prst="ellipse">
            <a:avLst/>
          </a:prstGeom>
          <a:solidFill>
            <a:srgbClr val="D9AE4B"/>
          </a:solidFill>
          <a:ln/>
        </p:spPr>
      </p:sp>
      <p:sp>
        <p:nvSpPr>
          <p:cNvPr id="7" name="anim-g1-825"/>
          <p:cNvSpPr/>
          <p:nvPr/>
        </p:nvSpPr>
        <p:spPr>
          <a:xfrm>
            <a:off x="10587838" y="2011680"/>
            <a:ext cx="552298" cy="55229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١</a:t>
            </a:r>
            <a:endParaRPr lang="ar-SA" sz="2000" dirty="0"/>
          </a:p>
        </p:txBody>
      </p:sp>
      <p:sp>
        <p:nvSpPr>
          <p:cNvPr id="8" name="anim-g1-826"/>
          <p:cNvSpPr/>
          <p:nvPr/>
        </p:nvSpPr>
        <p:spPr>
          <a:xfrm>
            <a:off x="1097280" y="1920240"/>
            <a:ext cx="9261958" cy="735178"/>
          </a:xfrm>
          <a:prstGeom prst="rect">
            <a:avLst/>
          </a:prstGeom>
          <a:noFill/>
          <a:ln/>
        </p:spPr>
        <p:txBody>
          <a:bodyPr wrap="square" lIns="0" tIns="0" rIns="0" bIns="0" rtlCol="0" anchor="ctr">
            <a:normAutofit/>
          </a:bodyPr>
          <a:lstStyle/>
          <a:p>
            <a:pPr algn="r" indent="0" marL="0">
              <a:buNone/>
            </a:pPr>
            <a:r>
              <a:rPr lang="ar-SA" altLang="en-US" sz="2200" b="1" dirty="0">
                <a:solidFill>
                  <a:srgbClr val="101B45"/>
                </a:solidFill>
                <a:latin typeface="Cairo Black" pitchFamily="34" charset="0"/>
                <a:ea typeface="Cairo Black" pitchFamily="34" charset="-122"/>
                <a:cs typeface="Cairo Black" pitchFamily="34" charset="-120"/>
              </a:rPr>
              <a:t>توصل أربعة محركات بدرايفر L298N واحد</a:t>
            </a:r>
            <a:endParaRPr lang="ar-SA" sz="2200" dirty="0"/>
          </a:p>
        </p:txBody>
      </p:sp>
      <p:sp>
        <p:nvSpPr>
          <p:cNvPr id="9" name="anim-g2-827"/>
          <p:cNvSpPr/>
          <p:nvPr/>
        </p:nvSpPr>
        <p:spPr>
          <a:xfrm>
            <a:off x="822960" y="2765146"/>
            <a:ext cx="10545775" cy="735178"/>
          </a:xfrm>
          <a:prstGeom prst="roundRect">
            <a:avLst>
              <a:gd name="adj" fmla="val 19900"/>
            </a:avLst>
          </a:prstGeom>
          <a:solidFill>
            <a:srgbClr val="FFFFFF"/>
          </a:solidFill>
          <a:ln w="12700">
            <a:solidFill>
              <a:srgbClr val="E4DCC8"/>
            </a:solidFill>
            <a:prstDash val="solid"/>
          </a:ln>
        </p:spPr>
      </p:sp>
      <p:sp>
        <p:nvSpPr>
          <p:cNvPr id="10" name="anim-g2-828"/>
          <p:cNvSpPr/>
          <p:nvPr/>
        </p:nvSpPr>
        <p:spPr>
          <a:xfrm>
            <a:off x="10587838" y="2856586"/>
            <a:ext cx="552298" cy="552298"/>
          </a:xfrm>
          <a:prstGeom prst="ellipse">
            <a:avLst/>
          </a:prstGeom>
          <a:solidFill>
            <a:srgbClr val="D9AE4B"/>
          </a:solidFill>
          <a:ln/>
        </p:spPr>
      </p:sp>
      <p:sp>
        <p:nvSpPr>
          <p:cNvPr id="11" name="anim-g2-829"/>
          <p:cNvSpPr/>
          <p:nvPr/>
        </p:nvSpPr>
        <p:spPr>
          <a:xfrm>
            <a:off x="10587838" y="2856586"/>
            <a:ext cx="552298" cy="55229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٢</a:t>
            </a:r>
            <a:endParaRPr lang="ar-SA" sz="2000" dirty="0"/>
          </a:p>
        </p:txBody>
      </p:sp>
      <p:sp>
        <p:nvSpPr>
          <p:cNvPr id="12" name="anim-g2-830"/>
          <p:cNvSpPr/>
          <p:nvPr/>
        </p:nvSpPr>
        <p:spPr>
          <a:xfrm>
            <a:off x="1097280" y="2765146"/>
            <a:ext cx="9261958" cy="735178"/>
          </a:xfrm>
          <a:prstGeom prst="rect">
            <a:avLst/>
          </a:prstGeom>
          <a:noFill/>
          <a:ln/>
        </p:spPr>
        <p:txBody>
          <a:bodyPr wrap="square" lIns="0" tIns="0" rIns="0" bIns="0" rtlCol="0" anchor="ctr">
            <a:normAutofit/>
          </a:bodyPr>
          <a:lstStyle/>
          <a:p>
            <a:pPr algn="r" indent="0" marL="0">
              <a:buNone/>
            </a:pPr>
            <a:r>
              <a:rPr lang="ar-SA" altLang="en-US" sz="2200" b="1" dirty="0">
                <a:solidFill>
                  <a:srgbClr val="101B45"/>
                </a:solidFill>
                <a:latin typeface="Cairo Black" pitchFamily="34" charset="0"/>
                <a:ea typeface="Cairo Black" pitchFamily="34" charset="-122"/>
                <a:cs typeface="Cairo Black" pitchFamily="34" charset="-120"/>
              </a:rPr>
              <a:t>تقود السيارة من ESP32 بأطراف المشروع الحقيقي</a:t>
            </a:r>
            <a:endParaRPr lang="ar-SA" sz="2200" dirty="0"/>
          </a:p>
        </p:txBody>
      </p:sp>
      <p:sp>
        <p:nvSpPr>
          <p:cNvPr id="13" name="anim-g3-831"/>
          <p:cNvSpPr/>
          <p:nvPr/>
        </p:nvSpPr>
        <p:spPr>
          <a:xfrm>
            <a:off x="822960" y="3610051"/>
            <a:ext cx="10545775" cy="735178"/>
          </a:xfrm>
          <a:prstGeom prst="roundRect">
            <a:avLst>
              <a:gd name="adj" fmla="val 19900"/>
            </a:avLst>
          </a:prstGeom>
          <a:solidFill>
            <a:srgbClr val="FFFFFF"/>
          </a:solidFill>
          <a:ln w="12700">
            <a:solidFill>
              <a:srgbClr val="E4DCC8"/>
            </a:solidFill>
            <a:prstDash val="solid"/>
          </a:ln>
        </p:spPr>
      </p:sp>
      <p:sp>
        <p:nvSpPr>
          <p:cNvPr id="14" name="anim-g3-832"/>
          <p:cNvSpPr/>
          <p:nvPr/>
        </p:nvSpPr>
        <p:spPr>
          <a:xfrm>
            <a:off x="10587838" y="3701491"/>
            <a:ext cx="552298" cy="552298"/>
          </a:xfrm>
          <a:prstGeom prst="ellipse">
            <a:avLst/>
          </a:prstGeom>
          <a:solidFill>
            <a:srgbClr val="D9AE4B"/>
          </a:solidFill>
          <a:ln/>
        </p:spPr>
      </p:sp>
      <p:sp>
        <p:nvSpPr>
          <p:cNvPr id="15" name="anim-g3-833"/>
          <p:cNvSpPr/>
          <p:nvPr/>
        </p:nvSpPr>
        <p:spPr>
          <a:xfrm>
            <a:off x="10587838" y="3701491"/>
            <a:ext cx="552298" cy="55229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٣</a:t>
            </a:r>
            <a:endParaRPr lang="ar-SA" sz="2000" dirty="0"/>
          </a:p>
        </p:txBody>
      </p:sp>
      <p:sp>
        <p:nvSpPr>
          <p:cNvPr id="16" name="anim-g3-834"/>
          <p:cNvSpPr/>
          <p:nvPr/>
        </p:nvSpPr>
        <p:spPr>
          <a:xfrm>
            <a:off x="1097280" y="3610051"/>
            <a:ext cx="9261958" cy="735178"/>
          </a:xfrm>
          <a:prstGeom prst="rect">
            <a:avLst/>
          </a:prstGeom>
          <a:noFill/>
          <a:ln/>
        </p:spPr>
        <p:txBody>
          <a:bodyPr wrap="square" lIns="0" tIns="0" rIns="0" bIns="0" rtlCol="0" anchor="ctr">
            <a:normAutofit/>
          </a:bodyPr>
          <a:lstStyle/>
          <a:p>
            <a:pPr algn="r" indent="0" marL="0">
              <a:buNone/>
            </a:pPr>
            <a:r>
              <a:rPr lang="ar-SA" altLang="en-US" sz="2200" b="1" dirty="0">
                <a:solidFill>
                  <a:srgbClr val="101B45"/>
                </a:solidFill>
                <a:latin typeface="Cairo Black" pitchFamily="34" charset="0"/>
                <a:ea typeface="Cairo Black" pitchFamily="34" charset="-122"/>
                <a:cs typeface="Cairo Black" pitchFamily="34" charset="-120"/>
              </a:rPr>
              <a:t>تكتب دالة drive واحدة لكل الحركات</a:t>
            </a:r>
            <a:endParaRPr lang="ar-SA" sz="2200" dirty="0"/>
          </a:p>
        </p:txBody>
      </p:sp>
      <p:sp>
        <p:nvSpPr>
          <p:cNvPr id="17" name="anim-g4-835"/>
          <p:cNvSpPr/>
          <p:nvPr/>
        </p:nvSpPr>
        <p:spPr>
          <a:xfrm>
            <a:off x="822960" y="4454957"/>
            <a:ext cx="10545775" cy="735178"/>
          </a:xfrm>
          <a:prstGeom prst="roundRect">
            <a:avLst>
              <a:gd name="adj" fmla="val 19900"/>
            </a:avLst>
          </a:prstGeom>
          <a:solidFill>
            <a:srgbClr val="FFFFFF"/>
          </a:solidFill>
          <a:ln w="12700">
            <a:solidFill>
              <a:srgbClr val="E4DCC8"/>
            </a:solidFill>
            <a:prstDash val="solid"/>
          </a:ln>
        </p:spPr>
      </p:sp>
      <p:sp>
        <p:nvSpPr>
          <p:cNvPr id="18" name="anim-g4-836"/>
          <p:cNvSpPr/>
          <p:nvPr/>
        </p:nvSpPr>
        <p:spPr>
          <a:xfrm>
            <a:off x="10587838" y="4546397"/>
            <a:ext cx="552298" cy="552298"/>
          </a:xfrm>
          <a:prstGeom prst="ellipse">
            <a:avLst/>
          </a:prstGeom>
          <a:solidFill>
            <a:srgbClr val="D9AE4B"/>
          </a:solidFill>
          <a:ln/>
        </p:spPr>
      </p:sp>
      <p:sp>
        <p:nvSpPr>
          <p:cNvPr id="19" name="anim-g4-837"/>
          <p:cNvSpPr/>
          <p:nvPr/>
        </p:nvSpPr>
        <p:spPr>
          <a:xfrm>
            <a:off x="10587838" y="4546397"/>
            <a:ext cx="552298" cy="55229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٤</a:t>
            </a:r>
            <a:endParaRPr lang="ar-SA" sz="2000" dirty="0"/>
          </a:p>
        </p:txBody>
      </p:sp>
      <p:sp>
        <p:nvSpPr>
          <p:cNvPr id="20" name="anim-g4-838"/>
          <p:cNvSpPr/>
          <p:nvPr/>
        </p:nvSpPr>
        <p:spPr>
          <a:xfrm>
            <a:off x="1097280" y="4454957"/>
            <a:ext cx="9261958" cy="735178"/>
          </a:xfrm>
          <a:prstGeom prst="rect">
            <a:avLst/>
          </a:prstGeom>
          <a:noFill/>
          <a:ln/>
        </p:spPr>
        <p:txBody>
          <a:bodyPr wrap="square" lIns="0" tIns="0" rIns="0" bIns="0" rtlCol="0" anchor="ctr">
            <a:normAutofit/>
          </a:bodyPr>
          <a:lstStyle/>
          <a:p>
            <a:pPr algn="r" indent="0" marL="0">
              <a:buNone/>
            </a:pPr>
            <a:r>
              <a:rPr lang="ar-SA" altLang="en-US" sz="2200" b="1" dirty="0">
                <a:solidFill>
                  <a:srgbClr val="101B45"/>
                </a:solidFill>
                <a:latin typeface="Cairo Black" pitchFamily="34" charset="0"/>
                <a:ea typeface="Cairo Black" pitchFamily="34" charset="-122"/>
                <a:cs typeface="Cairo Black" pitchFamily="34" charset="-120"/>
              </a:rPr>
              <a:t>تصلح جانبًا معكوسًا بالكود بدل إعادة اللحام</a:t>
            </a:r>
            <a:endParaRPr lang="ar-SA" sz="2200" dirty="0"/>
          </a:p>
        </p:txBody>
      </p:sp>
      <p:sp>
        <p:nvSpPr>
          <p:cNvPr id="21" name="anim-g5-839"/>
          <p:cNvSpPr/>
          <p:nvPr/>
        </p:nvSpPr>
        <p:spPr>
          <a:xfrm>
            <a:off x="822960" y="5299862"/>
            <a:ext cx="10545775" cy="735178"/>
          </a:xfrm>
          <a:prstGeom prst="roundRect">
            <a:avLst>
              <a:gd name="adj" fmla="val 19900"/>
            </a:avLst>
          </a:prstGeom>
          <a:solidFill>
            <a:srgbClr val="FFFFFF"/>
          </a:solidFill>
          <a:ln w="12700">
            <a:solidFill>
              <a:srgbClr val="E4DCC8"/>
            </a:solidFill>
            <a:prstDash val="solid"/>
          </a:ln>
        </p:spPr>
      </p:sp>
      <p:sp>
        <p:nvSpPr>
          <p:cNvPr id="22" name="anim-g5-840"/>
          <p:cNvSpPr/>
          <p:nvPr/>
        </p:nvSpPr>
        <p:spPr>
          <a:xfrm>
            <a:off x="10587838" y="5391302"/>
            <a:ext cx="552298" cy="552298"/>
          </a:xfrm>
          <a:prstGeom prst="ellipse">
            <a:avLst/>
          </a:prstGeom>
          <a:solidFill>
            <a:srgbClr val="D9AE4B"/>
          </a:solidFill>
          <a:ln/>
        </p:spPr>
      </p:sp>
      <p:sp>
        <p:nvSpPr>
          <p:cNvPr id="23" name="anim-g5-841"/>
          <p:cNvSpPr/>
          <p:nvPr/>
        </p:nvSpPr>
        <p:spPr>
          <a:xfrm>
            <a:off x="10587838" y="5391302"/>
            <a:ext cx="552298" cy="55229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٥</a:t>
            </a:r>
            <a:endParaRPr lang="ar-SA" sz="2000" dirty="0"/>
          </a:p>
        </p:txBody>
      </p:sp>
      <p:sp>
        <p:nvSpPr>
          <p:cNvPr id="24" name="anim-g5-842"/>
          <p:cNvSpPr/>
          <p:nvPr/>
        </p:nvSpPr>
        <p:spPr>
          <a:xfrm>
            <a:off x="1097280" y="5299862"/>
            <a:ext cx="9261958" cy="735178"/>
          </a:xfrm>
          <a:prstGeom prst="rect">
            <a:avLst/>
          </a:prstGeom>
          <a:noFill/>
          <a:ln/>
        </p:spPr>
        <p:txBody>
          <a:bodyPr wrap="square" lIns="0" tIns="0" rIns="0" bIns="0" rtlCol="0" anchor="ctr">
            <a:normAutofit/>
          </a:bodyPr>
          <a:lstStyle/>
          <a:p>
            <a:pPr algn="r" indent="0" marL="0">
              <a:buNone/>
            </a:pPr>
            <a:r>
              <a:rPr lang="ar-SA" altLang="en-US" sz="2200" b="1" dirty="0">
                <a:solidFill>
                  <a:srgbClr val="101B45"/>
                </a:solidFill>
                <a:latin typeface="Cairo Black" pitchFamily="34" charset="0"/>
                <a:ea typeface="Cairo Black" pitchFamily="34" charset="-122"/>
                <a:cs typeface="Cairo Black" pitchFamily="34" charset="-120"/>
              </a:rPr>
              <a:t>تشغّل المضخة والمروحة بريليه مزدوج يعمل على LOW</a:t>
            </a:r>
            <a:endParaRPr lang="ar-SA" sz="2200" dirty="0"/>
          </a:p>
        </p:txBody>
      </p:sp>
      <p:sp>
        <p:nvSpPr>
          <p:cNvPr id="25" name="Text 2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6" name="Text 2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سيارة السلامة  ·  ١١٧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400"/>
                                        <p:tgtEl>
                                          <p:spTgt spid="22"/>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3"/>
                                        </p:tgtEl>
                                        <p:attrNameLst>
                                          <p:attrName>style.visibility</p:attrName>
                                        </p:attrNameLst>
                                      </p:cBhvr>
                                      <p:to>
                                        <p:strVal val="visible"/>
                                      </p:to>
                                    </p:set>
                                    <p:animEffect transition="in" filter="fade">
                                      <p:cBhvr>
                                        <p:cTn id="69" dur="400"/>
                                        <p:tgtEl>
                                          <p:spTgt spid="23"/>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4"/>
                                        </p:tgtEl>
                                        <p:attrNameLst>
                                          <p:attrName>style.visibility</p:attrName>
                                        </p:attrNameLst>
                                      </p:cBhvr>
                                      <p:to>
                                        <p:strVal val="visible"/>
                                      </p:to>
                                    </p:set>
                                    <p:animEffect transition="in" filter="fade">
                                      <p:cBhvr>
                                        <p:cTn id="72"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118.xml><?xml version="1.0" encoding="utf-8"?>
<p:sld xmlns:a="http://schemas.openxmlformats.org/drawingml/2006/main" xmlns:r="http://schemas.openxmlformats.org/officeDocument/2006/relationships" xmlns:p="http://schemas.openxmlformats.org/presentationml/2006/main">
  <p:cSld name="Slide 1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881567" y="457200"/>
            <a:ext cx="2487168" cy="457200"/>
          </a:xfrm>
          <a:prstGeom prst="roundRect">
            <a:avLst>
              <a:gd name="adj" fmla="val 50000"/>
            </a:avLst>
          </a:prstGeom>
          <a:solidFill>
            <a:srgbClr val="F6EBCF"/>
          </a:solidFill>
          <a:ln/>
        </p:spPr>
      </p:sp>
      <p:sp>
        <p:nvSpPr>
          <p:cNvPr id="3" name="Text 1"/>
          <p:cNvSpPr/>
          <p:nvPr/>
        </p:nvSpPr>
        <p:spPr>
          <a:xfrm>
            <a:off x="8881567" y="45720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لماذا رباعي؟</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سيارة تحمل الماء… تحتاج قوة</a:t>
            </a:r>
            <a:endParaRPr lang="ar-SA" sz="3800" dirty="0"/>
          </a:p>
        </p:txBody>
      </p:sp>
      <p:sp>
        <p:nvSpPr>
          <p:cNvPr id="5" name="anim-g1-843"/>
          <p:cNvSpPr/>
          <p:nvPr/>
        </p:nvSpPr>
        <p:spPr>
          <a:xfrm>
            <a:off x="8036357"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844"/>
          <p:cNvSpPr/>
          <p:nvPr/>
        </p:nvSpPr>
        <p:spPr>
          <a:xfrm>
            <a:off x="10527487" y="2267712"/>
            <a:ext cx="566928" cy="566928"/>
          </a:xfrm>
          <a:prstGeom prst="roundRect">
            <a:avLst>
              <a:gd name="adj" fmla="val 32258"/>
            </a:avLst>
          </a:prstGeom>
          <a:solidFill>
            <a:srgbClr val="F7E6BC"/>
          </a:solidFill>
          <a:ln/>
        </p:spPr>
      </p:sp>
      <p:sp>
        <p:nvSpPr>
          <p:cNvPr id="7" name="anim-g1-845"/>
          <p:cNvSpPr/>
          <p:nvPr/>
        </p:nvSpPr>
        <p:spPr>
          <a:xfrm>
            <a:off x="10527487"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846"/>
          <p:cNvSpPr/>
          <p:nvPr/>
        </p:nvSpPr>
        <p:spPr>
          <a:xfrm>
            <a:off x="8310677"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الوزن</a:t>
            </a:r>
            <a:endParaRPr lang="ar-SA" sz="2200" dirty="0"/>
          </a:p>
        </p:txBody>
      </p:sp>
      <p:sp>
        <p:nvSpPr>
          <p:cNvPr id="9" name="anim-g1-847"/>
          <p:cNvSpPr/>
          <p:nvPr/>
        </p:nvSpPr>
        <p:spPr>
          <a:xfrm>
            <a:off x="8310677"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خزان ماء ومضخة وريليه وبطاريات: الثقل يحتاج أربعة محركات</a:t>
            </a:r>
            <a:endParaRPr lang="ar-SA" sz="1900" dirty="0"/>
          </a:p>
        </p:txBody>
      </p:sp>
      <p:sp>
        <p:nvSpPr>
          <p:cNvPr id="10" name="anim-g2-848"/>
          <p:cNvSpPr/>
          <p:nvPr/>
        </p:nvSpPr>
        <p:spPr>
          <a:xfrm>
            <a:off x="4429658"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849"/>
          <p:cNvSpPr/>
          <p:nvPr/>
        </p:nvSpPr>
        <p:spPr>
          <a:xfrm>
            <a:off x="6920789" y="2267712"/>
            <a:ext cx="566928" cy="566928"/>
          </a:xfrm>
          <a:prstGeom prst="roundRect">
            <a:avLst>
              <a:gd name="adj" fmla="val 32258"/>
            </a:avLst>
          </a:prstGeom>
          <a:solidFill>
            <a:srgbClr val="F7E6BC"/>
          </a:solidFill>
          <a:ln/>
        </p:spPr>
      </p:sp>
      <p:sp>
        <p:nvSpPr>
          <p:cNvPr id="12" name="anim-g2-850"/>
          <p:cNvSpPr/>
          <p:nvPr/>
        </p:nvSpPr>
        <p:spPr>
          <a:xfrm>
            <a:off x="6920789"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851"/>
          <p:cNvSpPr/>
          <p:nvPr/>
        </p:nvSpPr>
        <p:spPr>
          <a:xfrm>
            <a:off x="4703978"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التماسك</a:t>
            </a:r>
            <a:endParaRPr lang="ar-SA" sz="2200" dirty="0"/>
          </a:p>
        </p:txBody>
      </p:sp>
      <p:sp>
        <p:nvSpPr>
          <p:cNvPr id="14" name="anim-g2-852"/>
          <p:cNvSpPr/>
          <p:nvPr/>
        </p:nvSpPr>
        <p:spPr>
          <a:xfrm>
            <a:off x="4703978"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أربع عجلات تمسك الأرض فلا تنزلق عند الدوران</a:t>
            </a:r>
            <a:endParaRPr lang="ar-SA" sz="1900" dirty="0"/>
          </a:p>
        </p:txBody>
      </p:sp>
      <p:sp>
        <p:nvSpPr>
          <p:cNvPr id="15" name="anim-g3-853"/>
          <p:cNvSpPr/>
          <p:nvPr/>
        </p:nvSpPr>
        <p:spPr>
          <a:xfrm>
            <a:off x="822960"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854"/>
          <p:cNvSpPr/>
          <p:nvPr/>
        </p:nvSpPr>
        <p:spPr>
          <a:xfrm>
            <a:off x="3314090" y="2267712"/>
            <a:ext cx="566928" cy="566928"/>
          </a:xfrm>
          <a:prstGeom prst="roundRect">
            <a:avLst>
              <a:gd name="adj" fmla="val 32258"/>
            </a:avLst>
          </a:prstGeom>
          <a:solidFill>
            <a:srgbClr val="F7E6BC"/>
          </a:solidFill>
          <a:ln/>
        </p:spPr>
      </p:sp>
      <p:sp>
        <p:nvSpPr>
          <p:cNvPr id="17" name="anim-g3-855"/>
          <p:cNvSpPr/>
          <p:nvPr/>
        </p:nvSpPr>
        <p:spPr>
          <a:xfrm>
            <a:off x="3314090"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856"/>
          <p:cNvSpPr/>
          <p:nvPr/>
        </p:nvSpPr>
        <p:spPr>
          <a:xfrm>
            <a:off x="1097280"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البساطة</a:t>
            </a:r>
            <a:endParaRPr lang="ar-SA" sz="2200" dirty="0"/>
          </a:p>
        </p:txBody>
      </p:sp>
      <p:sp>
        <p:nvSpPr>
          <p:cNvPr id="19" name="anim-g3-857"/>
          <p:cNvSpPr/>
          <p:nvPr/>
        </p:nvSpPr>
        <p:spPr>
          <a:xfrm>
            <a:off x="1097280"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كل جانبين على مخرج واحد: نتحكم بجانبين لا بأربعة</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سيارة السلامة  ·  ١١٨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Image 0" descr="C:\Users\user\projects\younes-training\turath\.pptx-cache\s119-0.jpg">    </p:cNvPr>
          <p:cNvPicPr>
            <a:picLocks noChangeAspect="1"/>
          </p:cNvPicPr>
          <p:nvPr/>
        </p:nvPicPr>
        <p:blipFill>
          <a:blip r:embed="rId1"/>
          <a:stretch>
            <a:fillRect/>
          </a:stretch>
        </p:blipFill>
        <p:spPr>
          <a:xfrm>
            <a:off x="0" y="0"/>
            <a:ext cx="12191695" cy="6858000"/>
          </a:xfrm>
          <a:prstGeom prst="rect">
            <a:avLst/>
          </a:prstGeom>
        </p:spPr>
      </p:pic>
      <p:pic>
        <p:nvPicPr>
          <p:cNvPr id="3" name="anim-g1-858" descr="C:\Users\user\projects\younes-training\turath\.pptx-cache\s119-1.jpg">    </p:cNvPr>
          <p:cNvPicPr>
            <a:picLocks noChangeAspect="1"/>
          </p:cNvPicPr>
          <p:nvPr/>
        </p:nvPicPr>
        <p:blipFill>
          <a:blip r:embed="rId2"/>
          <a:stretch>
            <a:fillRect/>
          </a:stretch>
        </p:blipFill>
        <p:spPr>
          <a:xfrm>
            <a:off x="0" y="0"/>
            <a:ext cx="12191695" cy="6858000"/>
          </a:xfrm>
          <a:prstGeom prst="rect">
            <a:avLst/>
          </a:prstGeom>
        </p:spPr>
      </p:pic>
      <p:pic>
        <p:nvPicPr>
          <p:cNvPr id="4" name="anim-g2-859" descr="C:\Users\user\projects\younes-training\turath\.pptx-cache\s119-2.jpg">    </p:cNvPr>
          <p:cNvPicPr>
            <a:picLocks noChangeAspect="1"/>
          </p:cNvPicPr>
          <p:nvPr/>
        </p:nvPicPr>
        <p:blipFill>
          <a:blip r:embed="rId3"/>
          <a:stretch>
            <a:fillRect/>
          </a:stretch>
        </p:blipFill>
        <p:spPr>
          <a:xfrm>
            <a:off x="0" y="0"/>
            <a:ext cx="12191695" cy="6858000"/>
          </a:xfrm>
          <a:prstGeom prst="rect">
            <a:avLst/>
          </a:prstGeom>
        </p:spPr>
      </p:pic>
      <p:pic>
        <p:nvPicPr>
          <p:cNvPr id="5" name="anim-g3-860" descr="C:\Users\user\projects\younes-training\turath\.pptx-cache\s119-3.jpg">    </p:cNvPr>
          <p:cNvPicPr>
            <a:picLocks noChangeAspect="1"/>
          </p:cNvPicPr>
          <p:nvPr/>
        </p:nvPicPr>
        <p:blipFill>
          <a:blip r:embed="rId4"/>
          <a:stretch>
            <a:fillRect/>
          </a:stretch>
        </p:blipFill>
        <p:spPr>
          <a:xfrm>
            <a:off x="0" y="0"/>
            <a:ext cx="12191695" cy="6858000"/>
          </a:xfrm>
          <a:prstGeom prst="rect">
            <a:avLst/>
          </a:prstGeom>
        </p:spPr>
      </p:pic>
      <p:pic>
        <p:nvPicPr>
          <p:cNvPr id="6" name="anim-g4-861" descr="C:\Users\user\projects\younes-training\turath\.pptx-cache\s119-4.jpg">    </p:cNvPr>
          <p:cNvPicPr>
            <a:picLocks noChangeAspect="1"/>
          </p:cNvPicPr>
          <p:nvPr/>
        </p:nvPicPr>
        <p:blipFill>
          <a:blip r:embed="rId5"/>
          <a:stretch>
            <a:fillRect/>
          </a:stretch>
        </p:blipFill>
        <p:spPr>
          <a:xfrm>
            <a:off x="0" y="0"/>
            <a:ext cx="12191695" cy="6858000"/>
          </a:xfrm>
          <a:prstGeom prst="rect">
            <a:avLst/>
          </a:prstGeom>
        </p:spPr>
      </p:pic>
      <p:pic>
        <p:nvPicPr>
          <p:cNvPr id="7" name="anim-g5-862" descr="C:\Users\user\projects\younes-training\turath\.pptx-cache\s119-5.jpg">    </p:cNvPr>
          <p:cNvPicPr>
            <a:picLocks noChangeAspect="1"/>
          </p:cNvPicPr>
          <p:nvPr/>
        </p:nvPicPr>
        <p:blipFill>
          <a:blip r:embed="rId6"/>
          <a:stretch>
            <a:fillRect/>
          </a:stretch>
        </p:blipFill>
        <p:spPr>
          <a:xfrm>
            <a:off x="0" y="0"/>
            <a:ext cx="12191695" cy="6858000"/>
          </a:xfrm>
          <a:prstGeom prst="rect">
            <a:avLst/>
          </a:prstGeom>
        </p:spPr>
      </p:pic>
      <p:pic>
        <p:nvPicPr>
          <p:cNvPr id="8" name="anim-g6-863" descr="C:\Users\user\projects\younes-training\turath\.pptx-cache\s119-6.jpg">    </p:cNvPr>
          <p:cNvPicPr>
            <a:picLocks noChangeAspect="1"/>
          </p:cNvPicPr>
          <p:nvPr/>
        </p:nvPicPr>
        <p:blipFill>
          <a:blip r:embed="rId7"/>
          <a:stretch>
            <a:fillRect/>
          </a:stretch>
        </p:blipFill>
        <p:spPr>
          <a:xfrm>
            <a:off x="0" y="0"/>
            <a:ext cx="12191695" cy="6858000"/>
          </a:xfrm>
          <a:prstGeom prst="rect">
            <a:avLst/>
          </a:prstGeom>
        </p:spPr>
      </p:pic>
      <p:pic>
        <p:nvPicPr>
          <p:cNvPr id="9" name="anim-g7-864" descr="C:\Users\user\projects\younes-training\turath\.pptx-cache\s119-7.jpg">    </p:cNvPr>
          <p:cNvPicPr>
            <a:picLocks noChangeAspect="1"/>
          </p:cNvPicPr>
          <p:nvPr/>
        </p:nvPicPr>
        <p:blipFill>
          <a:blip r:embed="rId8"/>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fade">
                                      <p:cBhvr>
                                        <p:cTn id="37"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Image 0" descr="C:\Users\user\projects\younes-training\turath\.pptx-cache\s120.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Image 0" descr="C:\Users\user\projects\younes-training\turath\.pptx-cache\s121-0.jpg">    </p:cNvPr>
          <p:cNvPicPr>
            <a:picLocks noChangeAspect="1"/>
          </p:cNvPicPr>
          <p:nvPr/>
        </p:nvPicPr>
        <p:blipFill>
          <a:blip r:embed="rId1"/>
          <a:stretch>
            <a:fillRect/>
          </a:stretch>
        </p:blipFill>
        <p:spPr>
          <a:xfrm>
            <a:off x="0" y="0"/>
            <a:ext cx="12191695" cy="6858000"/>
          </a:xfrm>
          <a:prstGeom prst="rect">
            <a:avLst/>
          </a:prstGeom>
        </p:spPr>
      </p:pic>
      <p:pic>
        <p:nvPicPr>
          <p:cNvPr id="3" name="anim-g1-865" descr="C:\Users\user\projects\younes-training\turath\.pptx-cache\s121-1.jpg">    </p:cNvPr>
          <p:cNvPicPr>
            <a:picLocks noChangeAspect="1"/>
          </p:cNvPicPr>
          <p:nvPr/>
        </p:nvPicPr>
        <p:blipFill>
          <a:blip r:embed="rId2"/>
          <a:stretch>
            <a:fillRect/>
          </a:stretch>
        </p:blipFill>
        <p:spPr>
          <a:xfrm>
            <a:off x="0" y="0"/>
            <a:ext cx="12191695" cy="6858000"/>
          </a:xfrm>
          <a:prstGeom prst="rect">
            <a:avLst/>
          </a:prstGeom>
        </p:spPr>
      </p:pic>
      <p:pic>
        <p:nvPicPr>
          <p:cNvPr id="4" name="anim-g2-866" descr="C:\Users\user\projects\younes-training\turath\.pptx-cache\s121-2.jpg">    </p:cNvPr>
          <p:cNvPicPr>
            <a:picLocks noChangeAspect="1"/>
          </p:cNvPicPr>
          <p:nvPr/>
        </p:nvPicPr>
        <p:blipFill>
          <a:blip r:embed="rId3"/>
          <a:stretch>
            <a:fillRect/>
          </a:stretch>
        </p:blipFill>
        <p:spPr>
          <a:xfrm>
            <a:off x="0" y="0"/>
            <a:ext cx="12191695" cy="6858000"/>
          </a:xfrm>
          <a:prstGeom prst="rect">
            <a:avLst/>
          </a:prstGeom>
        </p:spPr>
      </p:pic>
      <p:pic>
        <p:nvPicPr>
          <p:cNvPr id="5" name="anim-g3-867" descr="C:\Users\user\projects\younes-training\turath\.pptx-cache\s121-3.jpg">    </p:cNvPr>
          <p:cNvPicPr>
            <a:picLocks noChangeAspect="1"/>
          </p:cNvPicPr>
          <p:nvPr/>
        </p:nvPicPr>
        <p:blipFill>
          <a:blip r:embed="rId4"/>
          <a:stretch>
            <a:fillRect/>
          </a:stretch>
        </p:blipFill>
        <p:spPr>
          <a:xfrm>
            <a:off x="0" y="0"/>
            <a:ext cx="12191695" cy="6858000"/>
          </a:xfrm>
          <a:prstGeom prst="rect">
            <a:avLst/>
          </a:prstGeom>
        </p:spPr>
      </p:pic>
      <p:pic>
        <p:nvPicPr>
          <p:cNvPr id="6" name="anim-g4-868" descr="C:\Users\user\projects\younes-training\turath\.pptx-cache\s121-4.jpg">    </p:cNvPr>
          <p:cNvPicPr>
            <a:picLocks noChangeAspect="1"/>
          </p:cNvPicPr>
          <p:nvPr/>
        </p:nvPicPr>
        <p:blipFill>
          <a:blip r:embed="rId5"/>
          <a:stretch>
            <a:fillRect/>
          </a:stretch>
        </p:blipFill>
        <p:spPr>
          <a:xfrm>
            <a:off x="0" y="0"/>
            <a:ext cx="12191695" cy="6858000"/>
          </a:xfrm>
          <a:prstGeom prst="rect">
            <a:avLst/>
          </a:prstGeom>
        </p:spPr>
      </p:pic>
      <p:pic>
        <p:nvPicPr>
          <p:cNvPr id="7" name="anim-g5-869" descr="C:\Users\user\projects\younes-training\turath\.pptx-cache\s121-5.jpg">    </p:cNvPr>
          <p:cNvPicPr>
            <a:picLocks noChangeAspect="1"/>
          </p:cNvPicPr>
          <p:nvPr/>
        </p:nvPicPr>
        <p:blipFill>
          <a:blip r:embed="rId6"/>
          <a:stretch>
            <a:fillRect/>
          </a:stretch>
        </p:blipFill>
        <p:spPr>
          <a:xfrm>
            <a:off x="0" y="0"/>
            <a:ext cx="12191695" cy="6858000"/>
          </a:xfrm>
          <a:prstGeom prst="rect">
            <a:avLst/>
          </a:prstGeom>
        </p:spPr>
      </p:pic>
      <p:pic>
        <p:nvPicPr>
          <p:cNvPr id="8" name="anim-g6-870" descr="C:\Users\user\projects\younes-training\turath\.pptx-cache\s121-6.jpg">    </p:cNvPr>
          <p:cNvPicPr>
            <a:picLocks noChangeAspect="1"/>
          </p:cNvPicPr>
          <p:nvPr/>
        </p:nvPicPr>
        <p:blipFill>
          <a:blip r:embed="rId7"/>
          <a:stretch>
            <a:fillRect/>
          </a:stretch>
        </p:blipFill>
        <p:spPr>
          <a:xfrm>
            <a:off x="0" y="0"/>
            <a:ext cx="12191695" cy="6858000"/>
          </a:xfrm>
          <a:prstGeom prst="rect">
            <a:avLst/>
          </a:prstGeom>
        </p:spPr>
      </p:pic>
      <p:pic>
        <p:nvPicPr>
          <p:cNvPr id="9" name="anim-g7-871" descr="C:\Users\user\projects\younes-training\turath\.pptx-cache\s121-7.jpg">    </p:cNvPr>
          <p:cNvPicPr>
            <a:picLocks noChangeAspect="1"/>
          </p:cNvPicPr>
          <p:nvPr/>
        </p:nvPicPr>
        <p:blipFill>
          <a:blip r:embed="rId8"/>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fade">
                                      <p:cBhvr>
                                        <p:cTn id="37"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Image 0" descr="C:\Users\user\projects\younes-training\turath\.pptx-cache\s122-0.jpg">    </p:cNvPr>
          <p:cNvPicPr>
            <a:picLocks noChangeAspect="1"/>
          </p:cNvPicPr>
          <p:nvPr/>
        </p:nvPicPr>
        <p:blipFill>
          <a:blip r:embed="rId1"/>
          <a:stretch>
            <a:fillRect/>
          </a:stretch>
        </p:blipFill>
        <p:spPr>
          <a:xfrm>
            <a:off x="0" y="0"/>
            <a:ext cx="12191695" cy="6858000"/>
          </a:xfrm>
          <a:prstGeom prst="rect">
            <a:avLst/>
          </a:prstGeom>
        </p:spPr>
      </p:pic>
      <p:pic>
        <p:nvPicPr>
          <p:cNvPr id="3" name="anim-g1-872" descr="C:\Users\user\projects\younes-training\turath\.pptx-cache\s122-1.jpg">    </p:cNvPr>
          <p:cNvPicPr>
            <a:picLocks noChangeAspect="1"/>
          </p:cNvPicPr>
          <p:nvPr/>
        </p:nvPicPr>
        <p:blipFill>
          <a:blip r:embed="rId2"/>
          <a:stretch>
            <a:fillRect/>
          </a:stretch>
        </p:blipFill>
        <p:spPr>
          <a:xfrm>
            <a:off x="0" y="0"/>
            <a:ext cx="12191695" cy="6858000"/>
          </a:xfrm>
          <a:prstGeom prst="rect">
            <a:avLst/>
          </a:prstGeom>
        </p:spPr>
      </p:pic>
      <p:pic>
        <p:nvPicPr>
          <p:cNvPr id="4" name="anim-g2-873" descr="C:\Users\user\projects\younes-training\turath\.pptx-cache\s122-2.jpg">    </p:cNvPr>
          <p:cNvPicPr>
            <a:picLocks noChangeAspect="1"/>
          </p:cNvPicPr>
          <p:nvPr/>
        </p:nvPicPr>
        <p:blipFill>
          <a:blip r:embed="rId3"/>
          <a:stretch>
            <a:fillRect/>
          </a:stretch>
        </p:blipFill>
        <p:spPr>
          <a:xfrm>
            <a:off x="0" y="0"/>
            <a:ext cx="12191695" cy="6858000"/>
          </a:xfrm>
          <a:prstGeom prst="rect">
            <a:avLst/>
          </a:prstGeom>
        </p:spPr>
      </p:pic>
      <p:pic>
        <p:nvPicPr>
          <p:cNvPr id="5" name="anim-g3-874" descr="C:\Users\user\projects\younes-training\turath\.pptx-cache\s122-3.jpg">    </p:cNvPr>
          <p:cNvPicPr>
            <a:picLocks noChangeAspect="1"/>
          </p:cNvPicPr>
          <p:nvPr/>
        </p:nvPicPr>
        <p:blipFill>
          <a:blip r:embed="rId4"/>
          <a:stretch>
            <a:fillRect/>
          </a:stretch>
        </p:blipFill>
        <p:spPr>
          <a:xfrm>
            <a:off x="0" y="0"/>
            <a:ext cx="12191695" cy="6858000"/>
          </a:xfrm>
          <a:prstGeom prst="rect">
            <a:avLst/>
          </a:prstGeom>
        </p:spPr>
      </p:pic>
      <p:pic>
        <p:nvPicPr>
          <p:cNvPr id="6" name="anim-g4-875" descr="C:\Users\user\projects\younes-training\turath\.pptx-cache\s122-4.jpg">    </p:cNvPr>
          <p:cNvPicPr>
            <a:picLocks noChangeAspect="1"/>
          </p:cNvPicPr>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3.xml><?xml version="1.0" encoding="utf-8"?>
<p:sld xmlns:a="http://schemas.openxmlformats.org/drawingml/2006/main" xmlns:r="http://schemas.openxmlformats.org/officeDocument/2006/relationships" xmlns:p="http://schemas.openxmlformats.org/presentationml/2006/main">
  <p:cSld name="Slide 1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881567" y="457200"/>
            <a:ext cx="2487168" cy="457200"/>
          </a:xfrm>
          <a:prstGeom prst="roundRect">
            <a:avLst>
              <a:gd name="adj" fmla="val 50000"/>
            </a:avLst>
          </a:prstGeom>
          <a:solidFill>
            <a:srgbClr val="F6EBCF"/>
          </a:solidFill>
          <a:ln/>
        </p:spPr>
      </p:sp>
      <p:sp>
        <p:nvSpPr>
          <p:cNvPr id="3" name="Text 1"/>
          <p:cNvSpPr/>
          <p:nvPr/>
        </p:nvSpPr>
        <p:spPr>
          <a:xfrm>
            <a:off x="8881567" y="45720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اختبر نفسك</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ضغطنا «أمام» فدارت السيارة حول نفسها. أين المشكلة غالبًا؟</a:t>
            </a:r>
            <a:endParaRPr lang="ar-SA" sz="3200" dirty="0"/>
          </a:p>
        </p:txBody>
      </p:sp>
      <p:sp>
        <p:nvSpPr>
          <p:cNvPr id="5" name="Shape 3"/>
          <p:cNvSpPr/>
          <p:nvPr/>
        </p:nvSpPr>
        <p:spPr>
          <a:xfrm>
            <a:off x="822960" y="2057400"/>
            <a:ext cx="10545775" cy="1228344"/>
          </a:xfrm>
          <a:prstGeom prst="roundRect">
            <a:avLst>
              <a:gd name="adj" fmla="val 11911"/>
            </a:avLst>
          </a:prstGeom>
          <a:solidFill>
            <a:srgbClr val="FFFFFF"/>
          </a:solidFill>
          <a:ln w="19050">
            <a:solidFill>
              <a:srgbClr val="E4DCC8"/>
            </a:solidFill>
            <a:prstDash val="solid"/>
          </a:ln>
        </p:spPr>
      </p:sp>
      <p:sp>
        <p:nvSpPr>
          <p:cNvPr id="6" name="Shape 4"/>
          <p:cNvSpPr/>
          <p:nvPr/>
        </p:nvSpPr>
        <p:spPr>
          <a:xfrm>
            <a:off x="10231831" y="2194560"/>
            <a:ext cx="954024" cy="954024"/>
          </a:xfrm>
          <a:prstGeom prst="roundRect">
            <a:avLst>
              <a:gd name="adj" fmla="val 11502"/>
            </a:avLst>
          </a:prstGeom>
          <a:solidFill>
            <a:srgbClr val="101B45"/>
          </a:solidFill>
          <a:ln/>
        </p:spPr>
      </p:sp>
      <p:sp>
        <p:nvSpPr>
          <p:cNvPr id="7" name="Text 5"/>
          <p:cNvSpPr/>
          <p:nvPr/>
        </p:nvSpPr>
        <p:spPr>
          <a:xfrm>
            <a:off x="10231831" y="2194560"/>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8" name="Text 6"/>
          <p:cNvSpPr/>
          <p:nvPr/>
        </p:nvSpPr>
        <p:spPr>
          <a:xfrm>
            <a:off x="1097280" y="2057400"/>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جانب واحد موصول بالعكس</a:t>
            </a:r>
            <a:endParaRPr lang="ar-SA" sz="2500" dirty="0"/>
          </a:p>
        </p:txBody>
      </p:sp>
      <p:sp>
        <p:nvSpPr>
          <p:cNvPr id="9" name="anim-g1-876"/>
          <p:cNvSpPr/>
          <p:nvPr/>
        </p:nvSpPr>
        <p:spPr>
          <a:xfrm>
            <a:off x="822960" y="2057400"/>
            <a:ext cx="10545775" cy="1228344"/>
          </a:xfrm>
          <a:prstGeom prst="roundRect">
            <a:avLst>
              <a:gd name="adj" fmla="val 11911"/>
            </a:avLst>
          </a:prstGeom>
          <a:solidFill>
            <a:srgbClr val="E6F4EC"/>
          </a:solidFill>
          <a:ln w="31750">
            <a:solidFill>
              <a:srgbClr val="2E9E6B"/>
            </a:solidFill>
            <a:prstDash val="solid"/>
          </a:ln>
        </p:spPr>
      </p:sp>
      <p:sp>
        <p:nvSpPr>
          <p:cNvPr id="10" name="anim-g1-877"/>
          <p:cNvSpPr/>
          <p:nvPr/>
        </p:nvSpPr>
        <p:spPr>
          <a:xfrm>
            <a:off x="10231831" y="2194560"/>
            <a:ext cx="954024" cy="954024"/>
          </a:xfrm>
          <a:prstGeom prst="roundRect">
            <a:avLst>
              <a:gd name="adj" fmla="val 11502"/>
            </a:avLst>
          </a:prstGeom>
          <a:solidFill>
            <a:srgbClr val="2E9E6B"/>
          </a:solidFill>
          <a:ln/>
        </p:spPr>
      </p:sp>
      <p:sp>
        <p:nvSpPr>
          <p:cNvPr id="11" name="anim-g1-878"/>
          <p:cNvSpPr/>
          <p:nvPr/>
        </p:nvSpPr>
        <p:spPr>
          <a:xfrm>
            <a:off x="10231831" y="2194560"/>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a:t>
            </a:r>
            <a:endParaRPr lang="ar-SA" sz="2400" dirty="0"/>
          </a:p>
        </p:txBody>
      </p:sp>
      <p:sp>
        <p:nvSpPr>
          <p:cNvPr id="12" name="anim-g1-879"/>
          <p:cNvSpPr/>
          <p:nvPr/>
        </p:nvSpPr>
        <p:spPr>
          <a:xfrm>
            <a:off x="1097280" y="2093976"/>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131B34"/>
                </a:solidFill>
                <a:latin typeface="Cairo" pitchFamily="34" charset="0"/>
                <a:ea typeface="Cairo" pitchFamily="34" charset="-122"/>
                <a:cs typeface="Cairo" pitchFamily="34" charset="-120"/>
              </a:rPr>
              <a:t>جانب واحد موصول بالعكس</a:t>
            </a:r>
            <a:endParaRPr lang="ar-SA" sz="2400" dirty="0"/>
          </a:p>
        </p:txBody>
      </p:sp>
      <p:sp>
        <p:nvSpPr>
          <p:cNvPr id="13" name="anim-g1-880"/>
          <p:cNvSpPr/>
          <p:nvPr/>
        </p:nvSpPr>
        <p:spPr>
          <a:xfrm>
            <a:off x="1097280" y="2720706"/>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1D5E40"/>
                </a:solidFill>
                <a:latin typeface="Cairo" pitchFamily="34" charset="0"/>
                <a:ea typeface="Cairo" pitchFamily="34" charset="-122"/>
                <a:cs typeface="Cairo" pitchFamily="34" charset="-120"/>
              </a:rPr>
              <a:t>صحيح: جانب للأمام وجانب للخلف = دوران. الحل INVERT_RIGHT</a:t>
            </a:r>
            <a:endParaRPr lang="ar-SA" sz="1800" dirty="0"/>
          </a:p>
        </p:txBody>
      </p:sp>
      <p:sp>
        <p:nvSpPr>
          <p:cNvPr id="14" name="Shape 12"/>
          <p:cNvSpPr/>
          <p:nvPr/>
        </p:nvSpPr>
        <p:spPr>
          <a:xfrm>
            <a:off x="822960" y="3432048"/>
            <a:ext cx="10545775" cy="1228344"/>
          </a:xfrm>
          <a:prstGeom prst="roundRect">
            <a:avLst>
              <a:gd name="adj" fmla="val 11911"/>
            </a:avLst>
          </a:prstGeom>
          <a:solidFill>
            <a:srgbClr val="FFFFFF"/>
          </a:solidFill>
          <a:ln w="19050">
            <a:solidFill>
              <a:srgbClr val="E4DCC8"/>
            </a:solidFill>
            <a:prstDash val="solid"/>
          </a:ln>
        </p:spPr>
      </p:sp>
      <p:sp>
        <p:nvSpPr>
          <p:cNvPr id="15" name="Shape 13"/>
          <p:cNvSpPr/>
          <p:nvPr/>
        </p:nvSpPr>
        <p:spPr>
          <a:xfrm>
            <a:off x="10231831" y="3569208"/>
            <a:ext cx="954024" cy="954024"/>
          </a:xfrm>
          <a:prstGeom prst="roundRect">
            <a:avLst>
              <a:gd name="adj" fmla="val 11502"/>
            </a:avLst>
          </a:prstGeom>
          <a:solidFill>
            <a:srgbClr val="101B45"/>
          </a:solidFill>
          <a:ln/>
        </p:spPr>
      </p:sp>
      <p:sp>
        <p:nvSpPr>
          <p:cNvPr id="16" name="Text 14"/>
          <p:cNvSpPr/>
          <p:nvPr/>
        </p:nvSpPr>
        <p:spPr>
          <a:xfrm>
            <a:off x="10231831" y="3569208"/>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17" name="Text 15"/>
          <p:cNvSpPr/>
          <p:nvPr/>
        </p:nvSpPr>
        <p:spPr>
          <a:xfrm>
            <a:off x="1097280" y="3432048"/>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البطارية ضعيفة</a:t>
            </a:r>
            <a:endParaRPr lang="ar-SA" sz="2500" dirty="0"/>
          </a:p>
        </p:txBody>
      </p:sp>
      <p:sp>
        <p:nvSpPr>
          <p:cNvPr id="18" name="anim-g1-881"/>
          <p:cNvSpPr/>
          <p:nvPr/>
        </p:nvSpPr>
        <p:spPr>
          <a:xfrm>
            <a:off x="822960" y="3432048"/>
            <a:ext cx="10545775" cy="1228344"/>
          </a:xfrm>
          <a:prstGeom prst="roundRect">
            <a:avLst>
              <a:gd name="adj" fmla="val 11911"/>
            </a:avLst>
          </a:prstGeom>
          <a:solidFill>
            <a:srgbClr val="F7F7F9"/>
          </a:solidFill>
          <a:ln w="19050">
            <a:solidFill>
              <a:srgbClr val="E4DCC8"/>
            </a:solidFill>
            <a:prstDash val="solid"/>
          </a:ln>
        </p:spPr>
      </p:sp>
      <p:sp>
        <p:nvSpPr>
          <p:cNvPr id="19" name="anim-g1-882"/>
          <p:cNvSpPr/>
          <p:nvPr/>
        </p:nvSpPr>
        <p:spPr>
          <a:xfrm>
            <a:off x="10231831" y="3569208"/>
            <a:ext cx="954024" cy="954024"/>
          </a:xfrm>
          <a:prstGeom prst="roundRect">
            <a:avLst>
              <a:gd name="adj" fmla="val 11502"/>
            </a:avLst>
          </a:prstGeom>
          <a:solidFill>
            <a:srgbClr val="A3A9BA"/>
          </a:solidFill>
          <a:ln/>
        </p:spPr>
      </p:sp>
      <p:sp>
        <p:nvSpPr>
          <p:cNvPr id="20" name="anim-g1-883"/>
          <p:cNvSpPr/>
          <p:nvPr/>
        </p:nvSpPr>
        <p:spPr>
          <a:xfrm>
            <a:off x="10231831" y="3569208"/>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21" name="anim-g1-884"/>
          <p:cNvSpPr/>
          <p:nvPr/>
        </p:nvSpPr>
        <p:spPr>
          <a:xfrm>
            <a:off x="1097280" y="3468624"/>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8A90A3"/>
                </a:solidFill>
                <a:latin typeface="Cairo" pitchFamily="34" charset="0"/>
                <a:ea typeface="Cairo" pitchFamily="34" charset="-122"/>
                <a:cs typeface="Cairo" pitchFamily="34" charset="-120"/>
              </a:rPr>
              <a:t>البطارية ضعيفة</a:t>
            </a:r>
            <a:endParaRPr lang="ar-SA" sz="2400" dirty="0"/>
          </a:p>
        </p:txBody>
      </p:sp>
      <p:sp>
        <p:nvSpPr>
          <p:cNvPr id="22" name="anim-g1-885"/>
          <p:cNvSpPr/>
          <p:nvPr/>
        </p:nvSpPr>
        <p:spPr>
          <a:xfrm>
            <a:off x="1097280" y="4095354"/>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البطارية الضعيفة تبطئ الحركة ولا تعكسها</a:t>
            </a:r>
            <a:endParaRPr lang="ar-SA" sz="1800" dirty="0"/>
          </a:p>
        </p:txBody>
      </p:sp>
      <p:sp>
        <p:nvSpPr>
          <p:cNvPr id="23" name="Shape 21"/>
          <p:cNvSpPr/>
          <p:nvPr/>
        </p:nvSpPr>
        <p:spPr>
          <a:xfrm>
            <a:off x="822960" y="4806696"/>
            <a:ext cx="10545775" cy="1228344"/>
          </a:xfrm>
          <a:prstGeom prst="roundRect">
            <a:avLst>
              <a:gd name="adj" fmla="val 11911"/>
            </a:avLst>
          </a:prstGeom>
          <a:solidFill>
            <a:srgbClr val="FFFFFF"/>
          </a:solidFill>
          <a:ln w="19050">
            <a:solidFill>
              <a:srgbClr val="E4DCC8"/>
            </a:solidFill>
            <a:prstDash val="solid"/>
          </a:ln>
        </p:spPr>
      </p:sp>
      <p:sp>
        <p:nvSpPr>
          <p:cNvPr id="24" name="Shape 22"/>
          <p:cNvSpPr/>
          <p:nvPr/>
        </p:nvSpPr>
        <p:spPr>
          <a:xfrm>
            <a:off x="10231831" y="4943856"/>
            <a:ext cx="954024" cy="954024"/>
          </a:xfrm>
          <a:prstGeom prst="roundRect">
            <a:avLst>
              <a:gd name="adj" fmla="val 11502"/>
            </a:avLst>
          </a:prstGeom>
          <a:solidFill>
            <a:srgbClr val="101B45"/>
          </a:solidFill>
          <a:ln/>
        </p:spPr>
      </p:sp>
      <p:sp>
        <p:nvSpPr>
          <p:cNvPr id="25" name="Text 23"/>
          <p:cNvSpPr/>
          <p:nvPr/>
        </p:nvSpPr>
        <p:spPr>
          <a:xfrm>
            <a:off x="10231831" y="4943856"/>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26" name="Text 24"/>
          <p:cNvSpPr/>
          <p:nvPr/>
        </p:nvSpPr>
        <p:spPr>
          <a:xfrm>
            <a:off x="1097280" y="4806696"/>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ESP32 تالف</a:t>
            </a:r>
            <a:endParaRPr lang="ar-SA" sz="2500" dirty="0"/>
          </a:p>
        </p:txBody>
      </p:sp>
      <p:sp>
        <p:nvSpPr>
          <p:cNvPr id="27" name="anim-g1-886"/>
          <p:cNvSpPr/>
          <p:nvPr/>
        </p:nvSpPr>
        <p:spPr>
          <a:xfrm>
            <a:off x="822960" y="4806696"/>
            <a:ext cx="10545775" cy="1228344"/>
          </a:xfrm>
          <a:prstGeom prst="roundRect">
            <a:avLst>
              <a:gd name="adj" fmla="val 11911"/>
            </a:avLst>
          </a:prstGeom>
          <a:solidFill>
            <a:srgbClr val="F7F7F9"/>
          </a:solidFill>
          <a:ln w="19050">
            <a:solidFill>
              <a:srgbClr val="E4DCC8"/>
            </a:solidFill>
            <a:prstDash val="solid"/>
          </a:ln>
        </p:spPr>
      </p:sp>
      <p:sp>
        <p:nvSpPr>
          <p:cNvPr id="28" name="anim-g1-887"/>
          <p:cNvSpPr/>
          <p:nvPr/>
        </p:nvSpPr>
        <p:spPr>
          <a:xfrm>
            <a:off x="10231831" y="4943856"/>
            <a:ext cx="954024" cy="954024"/>
          </a:xfrm>
          <a:prstGeom prst="roundRect">
            <a:avLst>
              <a:gd name="adj" fmla="val 11502"/>
            </a:avLst>
          </a:prstGeom>
          <a:solidFill>
            <a:srgbClr val="A3A9BA"/>
          </a:solidFill>
          <a:ln/>
        </p:spPr>
      </p:sp>
      <p:sp>
        <p:nvSpPr>
          <p:cNvPr id="29" name="anim-g1-888"/>
          <p:cNvSpPr/>
          <p:nvPr/>
        </p:nvSpPr>
        <p:spPr>
          <a:xfrm>
            <a:off x="10231831" y="4943856"/>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30" name="anim-g1-889"/>
          <p:cNvSpPr/>
          <p:nvPr/>
        </p:nvSpPr>
        <p:spPr>
          <a:xfrm>
            <a:off x="1097280" y="4843272"/>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8A90A3"/>
                </a:solidFill>
                <a:latin typeface="Cairo" pitchFamily="34" charset="0"/>
                <a:ea typeface="Cairo" pitchFamily="34" charset="-122"/>
                <a:cs typeface="Cairo" pitchFamily="34" charset="-120"/>
              </a:rPr>
              <a:t>ESP32 تالف</a:t>
            </a:r>
            <a:endParaRPr lang="ar-SA" sz="2400" dirty="0"/>
          </a:p>
        </p:txBody>
      </p:sp>
      <p:sp>
        <p:nvSpPr>
          <p:cNvPr id="31" name="anim-g1-890"/>
          <p:cNvSpPr/>
          <p:nvPr/>
        </p:nvSpPr>
        <p:spPr>
          <a:xfrm>
            <a:off x="1097280" y="5470002"/>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اللوحة تعمل، فهي تحرّك الجانبين</a:t>
            </a:r>
            <a:endParaRPr lang="ar-SA" sz="1800" dirty="0"/>
          </a:p>
        </p:txBody>
      </p:sp>
      <p:sp>
        <p:nvSpPr>
          <p:cNvPr id="32" name="Text 3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33" name="Text 3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سيارة السلامة  ·  ١٢٣</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Lst>
  </p:timing>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Image 0" descr="C:\Users\user\projects\younes-training\turath\.pptx-cache\s124.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خلاصة المحور</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rtl="1"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أربع عجلات، ودالة واحدة، وسطر ذكي: المهندس الماهر يصلح بالكود ما لا يستحق فك السيارة</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لمسة تراث</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 سيارة السلامة  ·  ١٢٥</a:t>
            </a:r>
            <a:endParaRPr lang="ar-SA" sz="120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881567" y="457200"/>
            <a:ext cx="2487168" cy="457200"/>
          </a:xfrm>
          <a:prstGeom prst="roundRect">
            <a:avLst>
              <a:gd name="adj" fmla="val 50000"/>
            </a:avLst>
          </a:prstGeom>
          <a:solidFill>
            <a:srgbClr val="F6EBCF"/>
          </a:solidFill>
          <a:ln/>
        </p:spPr>
      </p:sp>
      <p:sp>
        <p:nvSpPr>
          <p:cNvPr id="3" name="Text 1"/>
          <p:cNvSpPr/>
          <p:nvPr/>
        </p:nvSpPr>
        <p:spPr>
          <a:xfrm>
            <a:off x="8881567" y="45720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لماذا ريليه؟</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ESP32 يهمس… والمضخة تحتاج صوتًا عاليًا</a:t>
            </a:r>
            <a:endParaRPr lang="ar-SA" sz="3200" dirty="0"/>
          </a:p>
        </p:txBody>
      </p:sp>
      <p:sp>
        <p:nvSpPr>
          <p:cNvPr id="5" name="anim-g1-891"/>
          <p:cNvSpPr/>
          <p:nvPr/>
        </p:nvSpPr>
        <p:spPr>
          <a:xfrm>
            <a:off x="8036357"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892"/>
          <p:cNvSpPr/>
          <p:nvPr/>
        </p:nvSpPr>
        <p:spPr>
          <a:xfrm>
            <a:off x="10527487" y="2267712"/>
            <a:ext cx="566928" cy="566928"/>
          </a:xfrm>
          <a:prstGeom prst="roundRect">
            <a:avLst>
              <a:gd name="adj" fmla="val 32258"/>
            </a:avLst>
          </a:prstGeom>
          <a:solidFill>
            <a:srgbClr val="F7E6BC"/>
          </a:solidFill>
          <a:ln/>
        </p:spPr>
      </p:sp>
      <p:sp>
        <p:nvSpPr>
          <p:cNvPr id="7" name="anim-g1-893"/>
          <p:cNvSpPr/>
          <p:nvPr/>
        </p:nvSpPr>
        <p:spPr>
          <a:xfrm>
            <a:off x="10527487"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894"/>
          <p:cNvSpPr/>
          <p:nvPr/>
        </p:nvSpPr>
        <p:spPr>
          <a:xfrm>
            <a:off x="8310677"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طرف ESP32</a:t>
            </a:r>
            <a:endParaRPr lang="ar-SA" sz="2200" dirty="0"/>
          </a:p>
        </p:txBody>
      </p:sp>
      <p:sp>
        <p:nvSpPr>
          <p:cNvPr id="9" name="anim-g1-895"/>
          <p:cNvSpPr/>
          <p:nvPr/>
        </p:nvSpPr>
        <p:spPr>
          <a:xfrm>
            <a:off x="8310677"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٣٫٣ فولت وتيار قليل جدًا: لا يكفي لمضخة</a:t>
            </a:r>
            <a:endParaRPr lang="ar-SA" sz="1900" dirty="0"/>
          </a:p>
        </p:txBody>
      </p:sp>
      <p:sp>
        <p:nvSpPr>
          <p:cNvPr id="10" name="anim-g2-896"/>
          <p:cNvSpPr/>
          <p:nvPr/>
        </p:nvSpPr>
        <p:spPr>
          <a:xfrm>
            <a:off x="4429658"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897"/>
          <p:cNvSpPr/>
          <p:nvPr/>
        </p:nvSpPr>
        <p:spPr>
          <a:xfrm>
            <a:off x="6920789" y="2267712"/>
            <a:ext cx="566928" cy="566928"/>
          </a:xfrm>
          <a:prstGeom prst="roundRect">
            <a:avLst>
              <a:gd name="adj" fmla="val 32258"/>
            </a:avLst>
          </a:prstGeom>
          <a:solidFill>
            <a:srgbClr val="F7E6BC"/>
          </a:solidFill>
          <a:ln/>
        </p:spPr>
      </p:sp>
      <p:sp>
        <p:nvSpPr>
          <p:cNvPr id="12" name="anim-g2-898"/>
          <p:cNvSpPr/>
          <p:nvPr/>
        </p:nvSpPr>
        <p:spPr>
          <a:xfrm>
            <a:off x="6920789"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899"/>
          <p:cNvSpPr/>
          <p:nvPr/>
        </p:nvSpPr>
        <p:spPr>
          <a:xfrm>
            <a:off x="4703978"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الريليه</a:t>
            </a:r>
            <a:endParaRPr lang="ar-SA" sz="2200" dirty="0"/>
          </a:p>
        </p:txBody>
      </p:sp>
      <p:sp>
        <p:nvSpPr>
          <p:cNvPr id="14" name="anim-g2-900"/>
          <p:cNvSpPr/>
          <p:nvPr/>
        </p:nvSpPr>
        <p:spPr>
          <a:xfrm>
            <a:off x="4703978"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مفتاح يغلقه ESP32 بإشارة صغيرة، فيمر تيار البطارية</a:t>
            </a:r>
            <a:endParaRPr lang="ar-SA" sz="1900" dirty="0"/>
          </a:p>
        </p:txBody>
      </p:sp>
      <p:sp>
        <p:nvSpPr>
          <p:cNvPr id="15" name="anim-g3-901"/>
          <p:cNvSpPr/>
          <p:nvPr/>
        </p:nvSpPr>
        <p:spPr>
          <a:xfrm>
            <a:off x="822960"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902"/>
          <p:cNvSpPr/>
          <p:nvPr/>
        </p:nvSpPr>
        <p:spPr>
          <a:xfrm>
            <a:off x="3314090" y="2267712"/>
            <a:ext cx="566928" cy="566928"/>
          </a:xfrm>
          <a:prstGeom prst="roundRect">
            <a:avLst>
              <a:gd name="adj" fmla="val 32258"/>
            </a:avLst>
          </a:prstGeom>
          <a:solidFill>
            <a:srgbClr val="F7E6BC"/>
          </a:solidFill>
          <a:ln/>
        </p:spPr>
      </p:sp>
      <p:sp>
        <p:nvSpPr>
          <p:cNvPr id="17" name="anim-g3-903"/>
          <p:cNvSpPr/>
          <p:nvPr/>
        </p:nvSpPr>
        <p:spPr>
          <a:xfrm>
            <a:off x="3314090"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904"/>
          <p:cNvSpPr/>
          <p:nvPr/>
        </p:nvSpPr>
        <p:spPr>
          <a:xfrm>
            <a:off x="1097280"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قناتان</a:t>
            </a:r>
            <a:endParaRPr lang="ar-SA" sz="2200" dirty="0"/>
          </a:p>
        </p:txBody>
      </p:sp>
      <p:sp>
        <p:nvSpPr>
          <p:cNvPr id="19" name="anim-g3-905"/>
          <p:cNvSpPr/>
          <p:nvPr/>
        </p:nvSpPr>
        <p:spPr>
          <a:xfrm>
            <a:off x="1097280"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المضخة على الأولى (16) والمروحة على الثانية (17)</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سيارة السلامة  ·  ١٢٦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Image 0" descr="C:\Users\user\projects\younes-training\turath\.pptx-cache\s127.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296351" y="457200"/>
            <a:ext cx="3072384" cy="457200"/>
          </a:xfrm>
          <a:prstGeom prst="roundRect">
            <a:avLst>
              <a:gd name="adj" fmla="val 50000"/>
            </a:avLst>
          </a:prstGeom>
          <a:solidFill>
            <a:srgbClr val="F6EBCF"/>
          </a:solidFill>
          <a:ln/>
        </p:spPr>
      </p:sp>
      <p:sp>
        <p:nvSpPr>
          <p:cNvPr id="3" name="Text 1"/>
          <p:cNvSpPr/>
          <p:nvPr/>
        </p:nvSpPr>
        <p:spPr>
          <a:xfrm>
            <a:off x="8296351" y="457200"/>
            <a:ext cx="3072384"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أطراف الريليه</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COM وNO وNC: أين أضع المضخة؟</a:t>
            </a:r>
            <a:endParaRPr lang="ar-SA" sz="3800" dirty="0"/>
          </a:p>
        </p:txBody>
      </p:sp>
      <p:sp>
        <p:nvSpPr>
          <p:cNvPr id="5" name="anim-g1-906"/>
          <p:cNvSpPr/>
          <p:nvPr/>
        </p:nvSpPr>
        <p:spPr>
          <a:xfrm>
            <a:off x="8036357"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907"/>
          <p:cNvSpPr/>
          <p:nvPr/>
        </p:nvSpPr>
        <p:spPr>
          <a:xfrm>
            <a:off x="10527487" y="2267712"/>
            <a:ext cx="566928" cy="566928"/>
          </a:xfrm>
          <a:prstGeom prst="roundRect">
            <a:avLst>
              <a:gd name="adj" fmla="val 32258"/>
            </a:avLst>
          </a:prstGeom>
          <a:solidFill>
            <a:srgbClr val="F7E6BC"/>
          </a:solidFill>
          <a:ln/>
        </p:spPr>
      </p:sp>
      <p:sp>
        <p:nvSpPr>
          <p:cNvPr id="7" name="anim-g1-908"/>
          <p:cNvSpPr/>
          <p:nvPr/>
        </p:nvSpPr>
        <p:spPr>
          <a:xfrm>
            <a:off x="10527487"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909"/>
          <p:cNvSpPr/>
          <p:nvPr/>
        </p:nvSpPr>
        <p:spPr>
          <a:xfrm>
            <a:off x="8310677"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COM</a:t>
            </a:r>
            <a:endParaRPr lang="ar-SA" sz="2200" dirty="0"/>
          </a:p>
        </p:txBody>
      </p:sp>
      <p:sp>
        <p:nvSpPr>
          <p:cNvPr id="9" name="anim-g1-910"/>
          <p:cNvSpPr/>
          <p:nvPr/>
        </p:nvSpPr>
        <p:spPr>
          <a:xfrm>
            <a:off x="8310677"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المشترك: موجب البطارية يدخل هنا</a:t>
            </a:r>
            <a:endParaRPr lang="ar-SA" sz="1900" dirty="0"/>
          </a:p>
        </p:txBody>
      </p:sp>
      <p:sp>
        <p:nvSpPr>
          <p:cNvPr id="10" name="anim-g2-911"/>
          <p:cNvSpPr/>
          <p:nvPr/>
        </p:nvSpPr>
        <p:spPr>
          <a:xfrm>
            <a:off x="4429658"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912"/>
          <p:cNvSpPr/>
          <p:nvPr/>
        </p:nvSpPr>
        <p:spPr>
          <a:xfrm>
            <a:off x="6920789" y="2267712"/>
            <a:ext cx="566928" cy="566928"/>
          </a:xfrm>
          <a:prstGeom prst="roundRect">
            <a:avLst>
              <a:gd name="adj" fmla="val 32258"/>
            </a:avLst>
          </a:prstGeom>
          <a:solidFill>
            <a:srgbClr val="F7E6BC"/>
          </a:solidFill>
          <a:ln/>
        </p:spPr>
      </p:sp>
      <p:sp>
        <p:nvSpPr>
          <p:cNvPr id="12" name="anim-g2-913"/>
          <p:cNvSpPr/>
          <p:nvPr/>
        </p:nvSpPr>
        <p:spPr>
          <a:xfrm>
            <a:off x="6920789"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914"/>
          <p:cNvSpPr/>
          <p:nvPr/>
        </p:nvSpPr>
        <p:spPr>
          <a:xfrm>
            <a:off x="4703978"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NO</a:t>
            </a:r>
            <a:endParaRPr lang="ar-SA" sz="2200" dirty="0"/>
          </a:p>
        </p:txBody>
      </p:sp>
      <p:sp>
        <p:nvSpPr>
          <p:cNvPr id="14" name="anim-g2-915"/>
          <p:cNvSpPr/>
          <p:nvPr/>
        </p:nvSpPr>
        <p:spPr>
          <a:xfrm>
            <a:off x="4703978"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مفتوح عادةً: يتصل بـ COM فقط حين يعمل الريليه. هنا المضخة</a:t>
            </a:r>
            <a:endParaRPr lang="ar-SA" sz="1900" dirty="0"/>
          </a:p>
        </p:txBody>
      </p:sp>
      <p:sp>
        <p:nvSpPr>
          <p:cNvPr id="15" name="anim-g3-916"/>
          <p:cNvSpPr/>
          <p:nvPr/>
        </p:nvSpPr>
        <p:spPr>
          <a:xfrm>
            <a:off x="822960"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917"/>
          <p:cNvSpPr/>
          <p:nvPr/>
        </p:nvSpPr>
        <p:spPr>
          <a:xfrm>
            <a:off x="3314090" y="2267712"/>
            <a:ext cx="566928" cy="566928"/>
          </a:xfrm>
          <a:prstGeom prst="roundRect">
            <a:avLst>
              <a:gd name="adj" fmla="val 32258"/>
            </a:avLst>
          </a:prstGeom>
          <a:solidFill>
            <a:srgbClr val="F7E6BC"/>
          </a:solidFill>
          <a:ln/>
        </p:spPr>
      </p:sp>
      <p:sp>
        <p:nvSpPr>
          <p:cNvPr id="17" name="anim-g3-918"/>
          <p:cNvSpPr/>
          <p:nvPr/>
        </p:nvSpPr>
        <p:spPr>
          <a:xfrm>
            <a:off x="3314090"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919"/>
          <p:cNvSpPr/>
          <p:nvPr/>
        </p:nvSpPr>
        <p:spPr>
          <a:xfrm>
            <a:off x="1097280"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NC</a:t>
            </a:r>
            <a:endParaRPr lang="ar-SA" sz="2200" dirty="0"/>
          </a:p>
        </p:txBody>
      </p:sp>
      <p:sp>
        <p:nvSpPr>
          <p:cNvPr id="19" name="anim-g3-920"/>
          <p:cNvSpPr/>
          <p:nvPr/>
        </p:nvSpPr>
        <p:spPr>
          <a:xfrm>
            <a:off x="1097280"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مغلق عادةً: متصل دائمًا إلا حين يعمل الريليه. لا نستخدمه هنا</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سيارة السلامة  ·  ١٢٨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Image 0" descr="C:\Users\user\projects\younes-training\turath\.pptx-cache\s129-0.jpg">    </p:cNvPr>
          <p:cNvPicPr>
            <a:picLocks noChangeAspect="1"/>
          </p:cNvPicPr>
          <p:nvPr/>
        </p:nvPicPr>
        <p:blipFill>
          <a:blip r:embed="rId1"/>
          <a:stretch>
            <a:fillRect/>
          </a:stretch>
        </p:blipFill>
        <p:spPr>
          <a:xfrm>
            <a:off x="0" y="0"/>
            <a:ext cx="12191695" cy="6858000"/>
          </a:xfrm>
          <a:prstGeom prst="rect">
            <a:avLst/>
          </a:prstGeom>
        </p:spPr>
      </p:pic>
      <p:pic>
        <p:nvPicPr>
          <p:cNvPr id="3" name="anim-g1-921" descr="C:\Users\user\projects\younes-training\turath\.pptx-cache\s129-1.jpg">    </p:cNvPr>
          <p:cNvPicPr>
            <a:picLocks noChangeAspect="1"/>
          </p:cNvPicPr>
          <p:nvPr/>
        </p:nvPicPr>
        <p:blipFill>
          <a:blip r:embed="rId2"/>
          <a:stretch>
            <a:fillRect/>
          </a:stretch>
        </p:blipFill>
        <p:spPr>
          <a:xfrm>
            <a:off x="0" y="0"/>
            <a:ext cx="12191695" cy="6858000"/>
          </a:xfrm>
          <a:prstGeom prst="rect">
            <a:avLst/>
          </a:prstGeom>
        </p:spPr>
      </p:pic>
      <p:pic>
        <p:nvPicPr>
          <p:cNvPr id="4" name="anim-g2-922" descr="C:\Users\user\projects\younes-training\turath\.pptx-cache\s129-2.jpg">    </p:cNvPr>
          <p:cNvPicPr>
            <a:picLocks noChangeAspect="1"/>
          </p:cNvPicPr>
          <p:nvPr/>
        </p:nvPicPr>
        <p:blipFill>
          <a:blip r:embed="rId3"/>
          <a:stretch>
            <a:fillRect/>
          </a:stretch>
        </p:blipFill>
        <p:spPr>
          <a:xfrm>
            <a:off x="0" y="0"/>
            <a:ext cx="12191695" cy="6858000"/>
          </a:xfrm>
          <a:prstGeom prst="rect">
            <a:avLst/>
          </a:prstGeom>
        </p:spPr>
      </p:pic>
      <p:pic>
        <p:nvPicPr>
          <p:cNvPr id="5" name="anim-g3-923" descr="C:\Users\user\projects\younes-training\turath\.pptx-cache\s129-3.jpg">    </p:cNvPr>
          <p:cNvPicPr>
            <a:picLocks noChangeAspect="1"/>
          </p:cNvPicPr>
          <p:nvPr/>
        </p:nvPicPr>
        <p:blipFill>
          <a:blip r:embed="rId4"/>
          <a:stretch>
            <a:fillRect/>
          </a:stretch>
        </p:blipFill>
        <p:spPr>
          <a:xfrm>
            <a:off x="0" y="0"/>
            <a:ext cx="12191695" cy="6858000"/>
          </a:xfrm>
          <a:prstGeom prst="rect">
            <a:avLst/>
          </a:prstGeom>
        </p:spPr>
      </p:pic>
      <p:pic>
        <p:nvPicPr>
          <p:cNvPr id="6" name="anim-g4-924" descr="C:\Users\user\projects\younes-training\turath\.pptx-cache\s129-4.jpg">    </p:cNvPr>
          <p:cNvPicPr>
            <a:picLocks noChangeAspect="1"/>
          </p:cNvPicPr>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Image 0" descr="C:\Users\user\projects\younes-training\turath\.pptx-cache\s130-0.jpg">    </p:cNvPr>
          <p:cNvPicPr>
            <a:picLocks noChangeAspect="1"/>
          </p:cNvPicPr>
          <p:nvPr/>
        </p:nvPicPr>
        <p:blipFill>
          <a:blip r:embed="rId1"/>
          <a:stretch>
            <a:fillRect/>
          </a:stretch>
        </p:blipFill>
        <p:spPr>
          <a:xfrm>
            <a:off x="0" y="0"/>
            <a:ext cx="12191695" cy="6858000"/>
          </a:xfrm>
          <a:prstGeom prst="rect">
            <a:avLst/>
          </a:prstGeom>
        </p:spPr>
      </p:pic>
      <p:pic>
        <p:nvPicPr>
          <p:cNvPr id="3" name="anim-g1-925" descr="C:\Users\user\projects\younes-training\turath\.pptx-cache\s130-1.jpg">    </p:cNvPr>
          <p:cNvPicPr>
            <a:picLocks noChangeAspect="1"/>
          </p:cNvPicPr>
          <p:nvPr/>
        </p:nvPicPr>
        <p:blipFill>
          <a:blip r:embed="rId2"/>
          <a:stretch>
            <a:fillRect/>
          </a:stretch>
        </p:blipFill>
        <p:spPr>
          <a:xfrm>
            <a:off x="0" y="0"/>
            <a:ext cx="12191695" cy="6858000"/>
          </a:xfrm>
          <a:prstGeom prst="rect">
            <a:avLst/>
          </a:prstGeom>
        </p:spPr>
      </p:pic>
      <p:pic>
        <p:nvPicPr>
          <p:cNvPr id="4" name="anim-g2-926" descr="C:\Users\user\projects\younes-training\turath\.pptx-cache\s130-2.jpg">    </p:cNvPr>
          <p:cNvPicPr>
            <a:picLocks noChangeAspect="1"/>
          </p:cNvPicPr>
          <p:nvPr/>
        </p:nvPicPr>
        <p:blipFill>
          <a:blip r:embed="rId3"/>
          <a:stretch>
            <a:fillRect/>
          </a:stretch>
        </p:blipFill>
        <p:spPr>
          <a:xfrm>
            <a:off x="0" y="0"/>
            <a:ext cx="12191695" cy="6858000"/>
          </a:xfrm>
          <a:prstGeom prst="rect">
            <a:avLst/>
          </a:prstGeom>
        </p:spPr>
      </p:pic>
      <p:pic>
        <p:nvPicPr>
          <p:cNvPr id="5" name="anim-g3-927" descr="C:\Users\user\projects\younes-training\turath\.pptx-cache\s130-3.jpg">    </p:cNvPr>
          <p:cNvPicPr>
            <a:picLocks noChangeAspect="1"/>
          </p:cNvPicPr>
          <p:nvPr/>
        </p:nvPicPr>
        <p:blipFill>
          <a:blip r:embed="rId4"/>
          <a:stretch>
            <a:fillRect/>
          </a:stretch>
        </p:blipFill>
        <p:spPr>
          <a:xfrm>
            <a:off x="0" y="0"/>
            <a:ext cx="12191695" cy="6858000"/>
          </a:xfrm>
          <a:prstGeom prst="rect">
            <a:avLst/>
          </a:prstGeom>
        </p:spPr>
      </p:pic>
      <p:pic>
        <p:nvPicPr>
          <p:cNvPr id="6" name="anim-g4-928" descr="C:\Users\user\projects\younes-training\turath\.pptx-cache\s130-4.jpg">    </p:cNvPr>
          <p:cNvPicPr>
            <a:picLocks noChangeAspect="1"/>
          </p:cNvPicPr>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1.xml><?xml version="1.0" encoding="utf-8"?>
<p:sld xmlns:a="http://schemas.openxmlformats.org/drawingml/2006/main" xmlns:r="http://schemas.openxmlformats.org/officeDocument/2006/relationships" xmlns:p="http://schemas.openxmlformats.org/presentationml/2006/main">
  <p:cSld name="Slide 1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881567" y="457200"/>
            <a:ext cx="2487168" cy="457200"/>
          </a:xfrm>
          <a:prstGeom prst="roundRect">
            <a:avLst>
              <a:gd name="adj" fmla="val 50000"/>
            </a:avLst>
          </a:prstGeom>
          <a:solidFill>
            <a:srgbClr val="F6EBCF"/>
          </a:solidFill>
          <a:ln/>
        </p:spPr>
      </p:sp>
      <p:sp>
        <p:nvSpPr>
          <p:cNvPr id="3" name="Text 1"/>
          <p:cNvSpPr/>
          <p:nvPr/>
        </p:nvSpPr>
        <p:spPr>
          <a:xfrm>
            <a:off x="8881567" y="45720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اختبر نفسك</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شغّلنا السيارة فرشّت المضخة ثانية ثم توقفت قبل أي إنذار. لماذا؟</a:t>
            </a:r>
            <a:endParaRPr lang="ar-SA" sz="3200" dirty="0"/>
          </a:p>
        </p:txBody>
      </p:sp>
      <p:sp>
        <p:nvSpPr>
          <p:cNvPr id="5" name="Shape 3"/>
          <p:cNvSpPr/>
          <p:nvPr/>
        </p:nvSpPr>
        <p:spPr>
          <a:xfrm>
            <a:off x="822960" y="2057400"/>
            <a:ext cx="10545775" cy="1228344"/>
          </a:xfrm>
          <a:prstGeom prst="roundRect">
            <a:avLst>
              <a:gd name="adj" fmla="val 11911"/>
            </a:avLst>
          </a:prstGeom>
          <a:solidFill>
            <a:srgbClr val="FFFFFF"/>
          </a:solidFill>
          <a:ln w="19050">
            <a:solidFill>
              <a:srgbClr val="E4DCC8"/>
            </a:solidFill>
            <a:prstDash val="solid"/>
          </a:ln>
        </p:spPr>
      </p:sp>
      <p:sp>
        <p:nvSpPr>
          <p:cNvPr id="6" name="Shape 4"/>
          <p:cNvSpPr/>
          <p:nvPr/>
        </p:nvSpPr>
        <p:spPr>
          <a:xfrm>
            <a:off x="10231831" y="2194560"/>
            <a:ext cx="954024" cy="954024"/>
          </a:xfrm>
          <a:prstGeom prst="roundRect">
            <a:avLst>
              <a:gd name="adj" fmla="val 11502"/>
            </a:avLst>
          </a:prstGeom>
          <a:solidFill>
            <a:srgbClr val="101B45"/>
          </a:solidFill>
          <a:ln/>
        </p:spPr>
      </p:sp>
      <p:sp>
        <p:nvSpPr>
          <p:cNvPr id="7" name="Text 5"/>
          <p:cNvSpPr/>
          <p:nvPr/>
        </p:nvSpPr>
        <p:spPr>
          <a:xfrm>
            <a:off x="10231831" y="2194560"/>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8" name="Text 6"/>
          <p:cNvSpPr/>
          <p:nvPr/>
        </p:nvSpPr>
        <p:spPr>
          <a:xfrm>
            <a:off x="1097280" y="2057400"/>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المضخة تالفة</a:t>
            </a:r>
            <a:endParaRPr lang="ar-SA" sz="2500" dirty="0"/>
          </a:p>
        </p:txBody>
      </p:sp>
      <p:sp>
        <p:nvSpPr>
          <p:cNvPr id="9" name="anim-g1-929"/>
          <p:cNvSpPr/>
          <p:nvPr/>
        </p:nvSpPr>
        <p:spPr>
          <a:xfrm>
            <a:off x="822960" y="2057400"/>
            <a:ext cx="10545775" cy="1228344"/>
          </a:xfrm>
          <a:prstGeom prst="roundRect">
            <a:avLst>
              <a:gd name="adj" fmla="val 11911"/>
            </a:avLst>
          </a:prstGeom>
          <a:solidFill>
            <a:srgbClr val="F7F7F9"/>
          </a:solidFill>
          <a:ln w="19050">
            <a:solidFill>
              <a:srgbClr val="E4DCC8"/>
            </a:solidFill>
            <a:prstDash val="solid"/>
          </a:ln>
        </p:spPr>
      </p:sp>
      <p:sp>
        <p:nvSpPr>
          <p:cNvPr id="10" name="anim-g1-930"/>
          <p:cNvSpPr/>
          <p:nvPr/>
        </p:nvSpPr>
        <p:spPr>
          <a:xfrm>
            <a:off x="10231831" y="2194560"/>
            <a:ext cx="954024" cy="954024"/>
          </a:xfrm>
          <a:prstGeom prst="roundRect">
            <a:avLst>
              <a:gd name="adj" fmla="val 11502"/>
            </a:avLst>
          </a:prstGeom>
          <a:solidFill>
            <a:srgbClr val="A3A9BA"/>
          </a:solidFill>
          <a:ln/>
        </p:spPr>
      </p:sp>
      <p:sp>
        <p:nvSpPr>
          <p:cNvPr id="11" name="anim-g1-931"/>
          <p:cNvSpPr/>
          <p:nvPr/>
        </p:nvSpPr>
        <p:spPr>
          <a:xfrm>
            <a:off x="10231831" y="2194560"/>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12" name="anim-g1-932"/>
          <p:cNvSpPr/>
          <p:nvPr/>
        </p:nvSpPr>
        <p:spPr>
          <a:xfrm>
            <a:off x="1097280" y="2093976"/>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8A90A3"/>
                </a:solidFill>
                <a:latin typeface="Cairo" pitchFamily="34" charset="0"/>
                <a:ea typeface="Cairo" pitchFamily="34" charset="-122"/>
                <a:cs typeface="Cairo" pitchFamily="34" charset="-120"/>
              </a:rPr>
              <a:t>المضخة تالفة</a:t>
            </a:r>
            <a:endParaRPr lang="ar-SA" sz="2400" dirty="0"/>
          </a:p>
        </p:txBody>
      </p:sp>
      <p:sp>
        <p:nvSpPr>
          <p:cNvPr id="13" name="anim-g1-933"/>
          <p:cNvSpPr/>
          <p:nvPr/>
        </p:nvSpPr>
        <p:spPr>
          <a:xfrm>
            <a:off x="1097280" y="2720706"/>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المضخة تعمل جيدًا، وهذا هو الدليل</a:t>
            </a:r>
            <a:endParaRPr lang="ar-SA" sz="1800" dirty="0"/>
          </a:p>
        </p:txBody>
      </p:sp>
      <p:sp>
        <p:nvSpPr>
          <p:cNvPr id="14" name="Shape 12"/>
          <p:cNvSpPr/>
          <p:nvPr/>
        </p:nvSpPr>
        <p:spPr>
          <a:xfrm>
            <a:off x="822960" y="3432048"/>
            <a:ext cx="10545775" cy="1228344"/>
          </a:xfrm>
          <a:prstGeom prst="roundRect">
            <a:avLst>
              <a:gd name="adj" fmla="val 11911"/>
            </a:avLst>
          </a:prstGeom>
          <a:solidFill>
            <a:srgbClr val="FFFFFF"/>
          </a:solidFill>
          <a:ln w="19050">
            <a:solidFill>
              <a:srgbClr val="E4DCC8"/>
            </a:solidFill>
            <a:prstDash val="solid"/>
          </a:ln>
        </p:spPr>
      </p:sp>
      <p:sp>
        <p:nvSpPr>
          <p:cNvPr id="15" name="Shape 13"/>
          <p:cNvSpPr/>
          <p:nvPr/>
        </p:nvSpPr>
        <p:spPr>
          <a:xfrm>
            <a:off x="10231831" y="3569208"/>
            <a:ext cx="954024" cy="954024"/>
          </a:xfrm>
          <a:prstGeom prst="roundRect">
            <a:avLst>
              <a:gd name="adj" fmla="val 11502"/>
            </a:avLst>
          </a:prstGeom>
          <a:solidFill>
            <a:srgbClr val="101B45"/>
          </a:solidFill>
          <a:ln/>
        </p:spPr>
      </p:sp>
      <p:sp>
        <p:nvSpPr>
          <p:cNvPr id="16" name="Text 14"/>
          <p:cNvSpPr/>
          <p:nvPr/>
        </p:nvSpPr>
        <p:spPr>
          <a:xfrm>
            <a:off x="10231831" y="3569208"/>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17" name="Text 15"/>
          <p:cNvSpPr/>
          <p:nvPr/>
        </p:nvSpPr>
        <p:spPr>
          <a:xfrm>
            <a:off x="1097280" y="3432048"/>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الحساس رأى نارًا</a:t>
            </a:r>
            <a:endParaRPr lang="ar-SA" sz="2500" dirty="0"/>
          </a:p>
        </p:txBody>
      </p:sp>
      <p:sp>
        <p:nvSpPr>
          <p:cNvPr id="18" name="anim-g1-934"/>
          <p:cNvSpPr/>
          <p:nvPr/>
        </p:nvSpPr>
        <p:spPr>
          <a:xfrm>
            <a:off x="822960" y="3432048"/>
            <a:ext cx="10545775" cy="1228344"/>
          </a:xfrm>
          <a:prstGeom prst="roundRect">
            <a:avLst>
              <a:gd name="adj" fmla="val 11911"/>
            </a:avLst>
          </a:prstGeom>
          <a:solidFill>
            <a:srgbClr val="F7F7F9"/>
          </a:solidFill>
          <a:ln w="19050">
            <a:solidFill>
              <a:srgbClr val="E4DCC8"/>
            </a:solidFill>
            <a:prstDash val="solid"/>
          </a:ln>
        </p:spPr>
      </p:sp>
      <p:sp>
        <p:nvSpPr>
          <p:cNvPr id="19" name="anim-g1-935"/>
          <p:cNvSpPr/>
          <p:nvPr/>
        </p:nvSpPr>
        <p:spPr>
          <a:xfrm>
            <a:off x="10231831" y="3569208"/>
            <a:ext cx="954024" cy="954024"/>
          </a:xfrm>
          <a:prstGeom prst="roundRect">
            <a:avLst>
              <a:gd name="adj" fmla="val 11502"/>
            </a:avLst>
          </a:prstGeom>
          <a:solidFill>
            <a:srgbClr val="A3A9BA"/>
          </a:solidFill>
          <a:ln/>
        </p:spPr>
      </p:sp>
      <p:sp>
        <p:nvSpPr>
          <p:cNvPr id="20" name="anim-g1-936"/>
          <p:cNvSpPr/>
          <p:nvPr/>
        </p:nvSpPr>
        <p:spPr>
          <a:xfrm>
            <a:off x="10231831" y="3569208"/>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21" name="anim-g1-937"/>
          <p:cNvSpPr/>
          <p:nvPr/>
        </p:nvSpPr>
        <p:spPr>
          <a:xfrm>
            <a:off x="1097280" y="3468624"/>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8A90A3"/>
                </a:solidFill>
                <a:latin typeface="Cairo" pitchFamily="34" charset="0"/>
                <a:ea typeface="Cairo" pitchFamily="34" charset="-122"/>
                <a:cs typeface="Cairo" pitchFamily="34" charset="-120"/>
              </a:rPr>
              <a:t>الحساس رأى نارًا</a:t>
            </a:r>
            <a:endParaRPr lang="ar-SA" sz="2400" dirty="0"/>
          </a:p>
        </p:txBody>
      </p:sp>
      <p:sp>
        <p:nvSpPr>
          <p:cNvPr id="22" name="anim-g1-938"/>
          <p:cNvSpPr/>
          <p:nvPr/>
        </p:nvSpPr>
        <p:spPr>
          <a:xfrm>
            <a:off x="1097280" y="4095354"/>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لم يرسل أحد إنذارًا بعد</a:t>
            </a:r>
            <a:endParaRPr lang="ar-SA" sz="1800" dirty="0"/>
          </a:p>
        </p:txBody>
      </p:sp>
      <p:sp>
        <p:nvSpPr>
          <p:cNvPr id="23" name="Shape 21"/>
          <p:cNvSpPr/>
          <p:nvPr/>
        </p:nvSpPr>
        <p:spPr>
          <a:xfrm>
            <a:off x="822960" y="4806696"/>
            <a:ext cx="10545775" cy="1228344"/>
          </a:xfrm>
          <a:prstGeom prst="roundRect">
            <a:avLst>
              <a:gd name="adj" fmla="val 11911"/>
            </a:avLst>
          </a:prstGeom>
          <a:solidFill>
            <a:srgbClr val="FFFFFF"/>
          </a:solidFill>
          <a:ln w="19050">
            <a:solidFill>
              <a:srgbClr val="E4DCC8"/>
            </a:solidFill>
            <a:prstDash val="solid"/>
          </a:ln>
        </p:spPr>
      </p:sp>
      <p:sp>
        <p:nvSpPr>
          <p:cNvPr id="24" name="Shape 22"/>
          <p:cNvSpPr/>
          <p:nvPr/>
        </p:nvSpPr>
        <p:spPr>
          <a:xfrm>
            <a:off x="10231831" y="4943856"/>
            <a:ext cx="954024" cy="954024"/>
          </a:xfrm>
          <a:prstGeom prst="roundRect">
            <a:avLst>
              <a:gd name="adj" fmla="val 11502"/>
            </a:avLst>
          </a:prstGeom>
          <a:solidFill>
            <a:srgbClr val="101B45"/>
          </a:solidFill>
          <a:ln/>
        </p:spPr>
      </p:sp>
      <p:sp>
        <p:nvSpPr>
          <p:cNvPr id="25" name="Text 23"/>
          <p:cNvSpPr/>
          <p:nvPr/>
        </p:nvSpPr>
        <p:spPr>
          <a:xfrm>
            <a:off x="10231831" y="4943856"/>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26" name="Text 24"/>
          <p:cNvSpPr/>
          <p:nvPr/>
        </p:nvSpPr>
        <p:spPr>
          <a:xfrm>
            <a:off x="1097280" y="4806696"/>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الطرف بدأ LOW قبل أن يكتب الكود HIGH</a:t>
            </a:r>
            <a:endParaRPr lang="ar-SA" sz="2500" dirty="0"/>
          </a:p>
        </p:txBody>
      </p:sp>
      <p:sp>
        <p:nvSpPr>
          <p:cNvPr id="27" name="anim-g1-939"/>
          <p:cNvSpPr/>
          <p:nvPr/>
        </p:nvSpPr>
        <p:spPr>
          <a:xfrm>
            <a:off x="822960" y="4806696"/>
            <a:ext cx="10545775" cy="1228344"/>
          </a:xfrm>
          <a:prstGeom prst="roundRect">
            <a:avLst>
              <a:gd name="adj" fmla="val 11911"/>
            </a:avLst>
          </a:prstGeom>
          <a:solidFill>
            <a:srgbClr val="E6F4EC"/>
          </a:solidFill>
          <a:ln w="31750">
            <a:solidFill>
              <a:srgbClr val="2E9E6B"/>
            </a:solidFill>
            <a:prstDash val="solid"/>
          </a:ln>
        </p:spPr>
      </p:sp>
      <p:sp>
        <p:nvSpPr>
          <p:cNvPr id="28" name="anim-g1-940"/>
          <p:cNvSpPr/>
          <p:nvPr/>
        </p:nvSpPr>
        <p:spPr>
          <a:xfrm>
            <a:off x="10231831" y="4943856"/>
            <a:ext cx="954024" cy="954024"/>
          </a:xfrm>
          <a:prstGeom prst="roundRect">
            <a:avLst>
              <a:gd name="adj" fmla="val 11502"/>
            </a:avLst>
          </a:prstGeom>
          <a:solidFill>
            <a:srgbClr val="2E9E6B"/>
          </a:solidFill>
          <a:ln/>
        </p:spPr>
      </p:sp>
      <p:sp>
        <p:nvSpPr>
          <p:cNvPr id="29" name="anim-g1-941"/>
          <p:cNvSpPr/>
          <p:nvPr/>
        </p:nvSpPr>
        <p:spPr>
          <a:xfrm>
            <a:off x="10231831" y="4943856"/>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a:t>
            </a:r>
            <a:endParaRPr lang="ar-SA" sz="2400" dirty="0"/>
          </a:p>
        </p:txBody>
      </p:sp>
      <p:sp>
        <p:nvSpPr>
          <p:cNvPr id="30" name="anim-g1-942"/>
          <p:cNvSpPr/>
          <p:nvPr/>
        </p:nvSpPr>
        <p:spPr>
          <a:xfrm>
            <a:off x="1097280" y="4843272"/>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131B34"/>
                </a:solidFill>
                <a:latin typeface="Cairo" pitchFamily="34" charset="0"/>
                <a:ea typeface="Cairo" pitchFamily="34" charset="-122"/>
                <a:cs typeface="Cairo" pitchFamily="34" charset="-120"/>
              </a:rPr>
              <a:t>الطرف بدأ LOW قبل أن يكتب الكود HIGH</a:t>
            </a:r>
            <a:endParaRPr lang="ar-SA" sz="2400" dirty="0"/>
          </a:p>
        </p:txBody>
      </p:sp>
      <p:sp>
        <p:nvSpPr>
          <p:cNvPr id="31" name="anim-g1-943"/>
          <p:cNvSpPr/>
          <p:nvPr/>
        </p:nvSpPr>
        <p:spPr>
          <a:xfrm>
            <a:off x="1097280" y="5470002"/>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1D5E40"/>
                </a:solidFill>
                <a:latin typeface="Cairo" pitchFamily="34" charset="0"/>
                <a:ea typeface="Cairo" pitchFamily="34" charset="-122"/>
                <a:cs typeface="Cairo" pitchFamily="34" charset="-120"/>
              </a:rPr>
              <a:t>صحيح: لهذا نكتب HIGH في أول setup، وبعض المعلمين يضيف مقاومة سحب للأعلى</a:t>
            </a:r>
            <a:endParaRPr lang="ar-SA" sz="1800" dirty="0"/>
          </a:p>
        </p:txBody>
      </p:sp>
      <p:sp>
        <p:nvSpPr>
          <p:cNvPr id="32" name="Text 3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33" name="Text 3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سيارة السلامة  ·  ١٣١</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Lst>
  </p:timing>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Image 0" descr="C:\Users\user\projects\younes-training\turath\.pptx-cache\s132.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خلاصة المحور</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rtl="1"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LOW يعني «اعمل»، وHIGH يعني «قف»: ريليه صغير يحول السيارة إلى فرقة إطفاء</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لمسة تراث</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 سيارة السلامة  ·  ١٣٣</a:t>
            </a:r>
            <a:endParaRPr lang="ar-SA" sz="1200"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097280" y="2103120"/>
            <a:ext cx="2651760" cy="2651760"/>
          </a:xfrm>
          <a:prstGeom prst="ellipse">
            <a:avLst/>
          </a:prstGeom>
          <a:solidFill>
            <a:srgbClr val="D9AE4B">
              <a:alpha val="12000"/>
            </a:srgbClr>
          </a:solidFill>
          <a:ln w="63500">
            <a:solidFill>
              <a:srgbClr val="D9AE4B">
                <a:alpha val="60000"/>
              </a:srgbClr>
            </a:solidFill>
            <a:prstDash val="solid"/>
          </a:ln>
        </p:spPr>
      </p:sp>
      <p:sp>
        <p:nvSpPr>
          <p:cNvPr id="3" name="Text 1"/>
          <p:cNvSpPr/>
          <p:nvPr/>
        </p:nvSpPr>
        <p:spPr>
          <a:xfrm>
            <a:off x="1097280" y="2103120"/>
            <a:ext cx="2651760" cy="2651760"/>
          </a:xfrm>
          <a:prstGeom prst="rect">
            <a:avLst/>
          </a:prstGeom>
          <a:noFill/>
          <a:ln/>
        </p:spPr>
        <p:txBody>
          <a:bodyPr wrap="square" lIns="0" tIns="0" rIns="0" bIns="0" rtlCol="0" anchor="ctr">
            <a:normAutofit/>
          </a:bodyPr>
          <a:lstStyle/>
          <a:p>
            <a:pPr rtl="1" algn="ctr" indent="0" marL="0">
              <a:buNone/>
            </a:pPr>
            <a:r>
              <a:rPr lang="ar-SA" altLang="en-US" sz="12000" dirty="0">
                <a:solidFill>
                  <a:srgbClr val="F0CC7A"/>
                </a:solidFill>
                <a:latin typeface="Cairo Black" pitchFamily="34" charset="0"/>
                <a:ea typeface="Cairo Black" pitchFamily="34" charset="-122"/>
                <a:cs typeface="Cairo Black" pitchFamily="34" charset="-120"/>
              </a:rPr>
              <a:t>١٣</a:t>
            </a:r>
            <a:endParaRPr lang="ar-SA" sz="12000" dirty="0"/>
          </a:p>
        </p:txBody>
      </p:sp>
      <p:sp>
        <p:nvSpPr>
          <p:cNvPr id="4" name="Text 2"/>
          <p:cNvSpPr/>
          <p:nvPr/>
        </p:nvSpPr>
        <p:spPr>
          <a:xfrm>
            <a:off x="4206240" y="1828800"/>
            <a:ext cx="7162495" cy="457200"/>
          </a:xfrm>
          <a:prstGeom prst="rect">
            <a:avLst/>
          </a:prstGeom>
          <a:noFill/>
          <a:ln/>
        </p:spPr>
        <p:txBody>
          <a:bodyPr wrap="square" lIns="0" tIns="0" rIns="0" bIns="0" rtlCol="0" anchor="ctr">
            <a:normAutofit/>
          </a:bodyPr>
          <a:lstStyle/>
          <a:p>
            <a:pPr rtl="1" algn="r" indent="0" marL="0">
              <a:buNone/>
            </a:pPr>
            <a:r>
              <a:rPr lang="ar-SA" altLang="en-US" sz="2000" b="1" dirty="0">
                <a:solidFill>
                  <a:srgbClr val="D9AE4B"/>
                </a:solidFill>
                <a:latin typeface="Cairo" pitchFamily="34" charset="0"/>
                <a:ea typeface="Cairo" pitchFamily="34" charset="-122"/>
                <a:cs typeface="Cairo" pitchFamily="34" charset="-120"/>
              </a:rPr>
              <a:t>المحور ١٣</a:t>
            </a:r>
            <a:endParaRPr lang="ar-SA" sz="2000" dirty="0"/>
          </a:p>
        </p:txBody>
      </p:sp>
      <p:sp>
        <p:nvSpPr>
          <p:cNvPr id="5" name="Text 3"/>
          <p:cNvSpPr/>
          <p:nvPr/>
        </p:nvSpPr>
        <p:spPr>
          <a:xfrm>
            <a:off x="4206240" y="2286000"/>
            <a:ext cx="7162495" cy="1371600"/>
          </a:xfrm>
          <a:prstGeom prst="rect">
            <a:avLst/>
          </a:prstGeom>
          <a:noFill/>
          <a:ln/>
        </p:spPr>
        <p:txBody>
          <a:bodyPr wrap="square" lIns="0" tIns="0" rIns="0" bIns="0" rtlCol="0" anchor="ctr">
            <a:normAutofit/>
          </a:bodyPr>
          <a:lstStyle/>
          <a:p>
            <a:pPr rtl="1" algn="r" indent="0" marL="0">
              <a:buNone/>
            </a:pPr>
            <a:r>
              <a:rPr lang="ar-SA" altLang="en-US" sz="5600" dirty="0">
                <a:solidFill>
                  <a:srgbClr val="FFFFFF"/>
                </a:solidFill>
                <a:latin typeface="Cairo Black" pitchFamily="34" charset="0"/>
                <a:ea typeface="Cairo Black" pitchFamily="34" charset="-122"/>
                <a:cs typeface="Cairo Black" pitchFamily="34" charset="-120"/>
              </a:rPr>
              <a:t>📡 المحطة تكلّم السيارة</a:t>
            </a:r>
            <a:endParaRPr lang="ar-SA" sz="5600" dirty="0"/>
          </a:p>
        </p:txBody>
      </p:sp>
      <p:sp>
        <p:nvSpPr>
          <p:cNvPr id="6" name="Text 4"/>
          <p:cNvSpPr/>
          <p:nvPr/>
        </p:nvSpPr>
        <p:spPr>
          <a:xfrm>
            <a:off x="4206240" y="3749040"/>
            <a:ext cx="7162495" cy="822960"/>
          </a:xfrm>
          <a:prstGeom prst="rect">
            <a:avLst/>
          </a:prstGeom>
          <a:noFill/>
          <a:ln/>
        </p:spPr>
        <p:txBody>
          <a:bodyPr wrap="square" lIns="0" tIns="0" rIns="0" bIns="0" rtlCol="0" anchor="ctr">
            <a:normAutofit/>
          </a:bodyPr>
          <a:lstStyle/>
          <a:p>
            <a:pPr rtl="1" algn="r" indent="0" marL="0">
              <a:buNone/>
            </a:pPr>
            <a:r>
              <a:rPr lang="ar-SA" altLang="en-US" sz="2200" b="1" dirty="0">
                <a:solidFill>
                  <a:srgbClr val="C9CFE6"/>
                </a:solidFill>
                <a:latin typeface="Cairo" pitchFamily="34" charset="0"/>
                <a:ea typeface="Cairo" pitchFamily="34" charset="-122"/>
                <a:cs typeface="Cairo" pitchFamily="34" charset="-120"/>
              </a:rPr>
              <a:t>ESP-NOW: رسالة مباشرة… بلا راوتر ولا إنترنت</a:t>
            </a:r>
            <a:endParaRPr lang="ar-SA" sz="2200" dirty="0"/>
          </a:p>
        </p:txBody>
      </p:sp>
      <p:sp>
        <p:nvSpPr>
          <p:cNvPr id="7" name="Text 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لمسة تراث</a:t>
            </a:r>
            <a:endParaRPr lang="ar-SA" sz="1200" dirty="0"/>
          </a:p>
        </p:txBody>
      </p:sp>
      <p:sp>
        <p:nvSpPr>
          <p:cNvPr id="8" name="Text 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 ESP-NOW  ·  ١٣٤</a:t>
            </a:r>
            <a:endParaRPr lang="ar-SA" sz="1200"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248095" y="457200"/>
            <a:ext cx="5120640" cy="457200"/>
          </a:xfrm>
          <a:prstGeom prst="roundRect">
            <a:avLst>
              <a:gd name="adj" fmla="val 50000"/>
            </a:avLst>
          </a:prstGeom>
          <a:solidFill>
            <a:srgbClr val="F6EBCF"/>
          </a:solidFill>
          <a:ln/>
        </p:spPr>
      </p:sp>
      <p:sp>
        <p:nvSpPr>
          <p:cNvPr id="3" name="Text 1"/>
          <p:cNvSpPr/>
          <p:nvPr/>
        </p:nvSpPr>
        <p:spPr>
          <a:xfrm>
            <a:off x="6248095" y="457200"/>
            <a:ext cx="512064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بنهاية هذا المحور تستطيع أن</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أهداف المحور</a:t>
            </a:r>
            <a:endParaRPr lang="ar-SA" sz="3800" dirty="0"/>
          </a:p>
        </p:txBody>
      </p:sp>
      <p:sp>
        <p:nvSpPr>
          <p:cNvPr id="5" name="anim-g1-944"/>
          <p:cNvSpPr/>
          <p:nvPr/>
        </p:nvSpPr>
        <p:spPr>
          <a:xfrm>
            <a:off x="822960" y="1920240"/>
            <a:ext cx="10545775" cy="1298448"/>
          </a:xfrm>
          <a:prstGeom prst="roundRect">
            <a:avLst>
              <a:gd name="adj" fmla="val 11268"/>
            </a:avLst>
          </a:prstGeom>
          <a:solidFill>
            <a:srgbClr val="FFFFFF"/>
          </a:solidFill>
          <a:ln w="12700">
            <a:solidFill>
              <a:srgbClr val="E4DCC8"/>
            </a:solidFill>
            <a:prstDash val="solid"/>
          </a:ln>
        </p:spPr>
      </p:sp>
      <p:sp>
        <p:nvSpPr>
          <p:cNvPr id="6" name="anim-g1-945"/>
          <p:cNvSpPr/>
          <p:nvPr/>
        </p:nvSpPr>
        <p:spPr>
          <a:xfrm>
            <a:off x="10573207" y="2286000"/>
            <a:ext cx="566928" cy="566928"/>
          </a:xfrm>
          <a:prstGeom prst="ellipse">
            <a:avLst/>
          </a:prstGeom>
          <a:solidFill>
            <a:srgbClr val="D9AE4B"/>
          </a:solidFill>
          <a:ln/>
        </p:spPr>
      </p:sp>
      <p:sp>
        <p:nvSpPr>
          <p:cNvPr id="7" name="anim-g1-946"/>
          <p:cNvSpPr/>
          <p:nvPr/>
        </p:nvSpPr>
        <p:spPr>
          <a:xfrm>
            <a:off x="10573207" y="2286000"/>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١</a:t>
            </a:r>
            <a:endParaRPr lang="ar-SA" sz="2000" dirty="0"/>
          </a:p>
        </p:txBody>
      </p:sp>
      <p:sp>
        <p:nvSpPr>
          <p:cNvPr id="8" name="anim-g1-947"/>
          <p:cNvSpPr/>
          <p:nvPr/>
        </p:nvSpPr>
        <p:spPr>
          <a:xfrm>
            <a:off x="1097280" y="1920240"/>
            <a:ext cx="9247327" cy="1298448"/>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تعرف عنوان MAC لجهازك وتستخدمه</a:t>
            </a:r>
            <a:endParaRPr lang="ar-SA" sz="2400" dirty="0"/>
          </a:p>
        </p:txBody>
      </p:sp>
      <p:sp>
        <p:nvSpPr>
          <p:cNvPr id="9" name="anim-g2-948"/>
          <p:cNvSpPr/>
          <p:nvPr/>
        </p:nvSpPr>
        <p:spPr>
          <a:xfrm>
            <a:off x="822960" y="3328416"/>
            <a:ext cx="10545775" cy="1298448"/>
          </a:xfrm>
          <a:prstGeom prst="roundRect">
            <a:avLst>
              <a:gd name="adj" fmla="val 11268"/>
            </a:avLst>
          </a:prstGeom>
          <a:solidFill>
            <a:srgbClr val="FFFFFF"/>
          </a:solidFill>
          <a:ln w="12700">
            <a:solidFill>
              <a:srgbClr val="E4DCC8"/>
            </a:solidFill>
            <a:prstDash val="solid"/>
          </a:ln>
        </p:spPr>
      </p:sp>
      <p:sp>
        <p:nvSpPr>
          <p:cNvPr id="10" name="anim-g2-949"/>
          <p:cNvSpPr/>
          <p:nvPr/>
        </p:nvSpPr>
        <p:spPr>
          <a:xfrm>
            <a:off x="10573207" y="3694176"/>
            <a:ext cx="566928" cy="566928"/>
          </a:xfrm>
          <a:prstGeom prst="ellipse">
            <a:avLst/>
          </a:prstGeom>
          <a:solidFill>
            <a:srgbClr val="D9AE4B"/>
          </a:solidFill>
          <a:ln/>
        </p:spPr>
      </p:sp>
      <p:sp>
        <p:nvSpPr>
          <p:cNvPr id="11" name="anim-g2-950"/>
          <p:cNvSpPr/>
          <p:nvPr/>
        </p:nvSpPr>
        <p:spPr>
          <a:xfrm>
            <a:off x="10573207" y="3694176"/>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٢</a:t>
            </a:r>
            <a:endParaRPr lang="ar-SA" sz="2000" dirty="0"/>
          </a:p>
        </p:txBody>
      </p:sp>
      <p:sp>
        <p:nvSpPr>
          <p:cNvPr id="12" name="anim-g2-951"/>
          <p:cNvSpPr/>
          <p:nvPr/>
        </p:nvSpPr>
        <p:spPr>
          <a:xfrm>
            <a:off x="1097280" y="3328416"/>
            <a:ext cx="9247327" cy="1298448"/>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تصمم رسالة بـ struct فيها النوع والشدة والمنطقة</a:t>
            </a:r>
            <a:endParaRPr lang="ar-SA" sz="2400" dirty="0"/>
          </a:p>
        </p:txBody>
      </p:sp>
      <p:sp>
        <p:nvSpPr>
          <p:cNvPr id="13" name="anim-g3-952"/>
          <p:cNvSpPr/>
          <p:nvPr/>
        </p:nvSpPr>
        <p:spPr>
          <a:xfrm>
            <a:off x="822960" y="4736592"/>
            <a:ext cx="10545775" cy="1298448"/>
          </a:xfrm>
          <a:prstGeom prst="roundRect">
            <a:avLst>
              <a:gd name="adj" fmla="val 11268"/>
            </a:avLst>
          </a:prstGeom>
          <a:solidFill>
            <a:srgbClr val="FFFFFF"/>
          </a:solidFill>
          <a:ln w="12700">
            <a:solidFill>
              <a:srgbClr val="E4DCC8"/>
            </a:solidFill>
            <a:prstDash val="solid"/>
          </a:ln>
        </p:spPr>
      </p:sp>
      <p:sp>
        <p:nvSpPr>
          <p:cNvPr id="14" name="anim-g3-953"/>
          <p:cNvSpPr/>
          <p:nvPr/>
        </p:nvSpPr>
        <p:spPr>
          <a:xfrm>
            <a:off x="10573207" y="5102352"/>
            <a:ext cx="566928" cy="566928"/>
          </a:xfrm>
          <a:prstGeom prst="ellipse">
            <a:avLst/>
          </a:prstGeom>
          <a:solidFill>
            <a:srgbClr val="D9AE4B"/>
          </a:solidFill>
          <a:ln/>
        </p:spPr>
      </p:sp>
      <p:sp>
        <p:nvSpPr>
          <p:cNvPr id="15" name="anim-g3-954"/>
          <p:cNvSpPr/>
          <p:nvPr/>
        </p:nvSpPr>
        <p:spPr>
          <a:xfrm>
            <a:off x="10573207" y="5102352"/>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٣</a:t>
            </a:r>
            <a:endParaRPr lang="ar-SA" sz="2000" dirty="0"/>
          </a:p>
        </p:txBody>
      </p:sp>
      <p:sp>
        <p:nvSpPr>
          <p:cNvPr id="16" name="anim-g3-955"/>
          <p:cNvSpPr/>
          <p:nvPr/>
        </p:nvSpPr>
        <p:spPr>
          <a:xfrm>
            <a:off x="1097280" y="4736592"/>
            <a:ext cx="9247327" cy="1298448"/>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ترسل من المحطة وتستقبل في الروبوت، ومن روبوت إلى روبوت</a:t>
            </a:r>
            <a:endParaRPr lang="ar-SA" sz="2400" dirty="0"/>
          </a:p>
        </p:txBody>
      </p:sp>
      <p:sp>
        <p:nvSpPr>
          <p:cNvPr id="17" name="Text 1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18" name="Text 1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ESP-NOW  ·  ١٣٥</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136.xml><?xml version="1.0" encoding="utf-8"?>
<p:sld xmlns:a="http://schemas.openxmlformats.org/drawingml/2006/main" xmlns:r="http://schemas.openxmlformats.org/officeDocument/2006/relationships" xmlns:p="http://schemas.openxmlformats.org/presentationml/2006/main">
  <p:cSld name="Slide 1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588959" y="457200"/>
            <a:ext cx="2779776" cy="457200"/>
          </a:xfrm>
          <a:prstGeom prst="roundRect">
            <a:avLst>
              <a:gd name="adj" fmla="val 50000"/>
            </a:avLst>
          </a:prstGeom>
          <a:solidFill>
            <a:srgbClr val="F6EBCF"/>
          </a:solidFill>
          <a:ln/>
        </p:spPr>
      </p:sp>
      <p:sp>
        <p:nvSpPr>
          <p:cNvPr id="3" name="Text 1"/>
          <p:cNvSpPr/>
          <p:nvPr/>
        </p:nvSpPr>
        <p:spPr>
          <a:xfrm>
            <a:off x="8588959" y="457200"/>
            <a:ext cx="277977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لماذا ESP-NOW؟</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ثلاث طرق لربط جهازين</a:t>
            </a:r>
            <a:endParaRPr lang="ar-SA" sz="3800" dirty="0"/>
          </a:p>
        </p:txBody>
      </p:sp>
      <p:sp>
        <p:nvSpPr>
          <p:cNvPr id="5" name="Shape 3"/>
          <p:cNvSpPr/>
          <p:nvPr/>
        </p:nvSpPr>
        <p:spPr>
          <a:xfrm>
            <a:off x="9217874" y="1874520"/>
            <a:ext cx="2150861" cy="548640"/>
          </a:xfrm>
          <a:prstGeom prst="roundRect">
            <a:avLst>
              <a:gd name="adj" fmla="val 20000"/>
            </a:avLst>
          </a:prstGeom>
          <a:solidFill>
            <a:srgbClr val="101B45"/>
          </a:solidFill>
          <a:ln/>
        </p:spPr>
      </p:sp>
      <p:sp>
        <p:nvSpPr>
          <p:cNvPr id="6" name="Text 4"/>
          <p:cNvSpPr/>
          <p:nvPr/>
        </p:nvSpPr>
        <p:spPr>
          <a:xfrm>
            <a:off x="9217874" y="1874520"/>
            <a:ext cx="2150861" cy="548640"/>
          </a:xfrm>
          <a:prstGeom prst="rect">
            <a:avLst/>
          </a:prstGeom>
          <a:noFill/>
          <a:ln/>
        </p:spPr>
        <p:txBody>
          <a:bodyPr wrap="square" lIns="0" tIns="0" rIns="0" bIns="0" rtlCol="0" anchor="ctr">
            <a:normAutofit/>
          </a:bodyPr>
          <a:lstStyle/>
          <a:p>
            <a:pPr rtl="1" algn="ctr" indent="0" marL="0">
              <a:buNone/>
            </a:pPr>
            <a:endParaRPr lang="ar-SA" sz="1900" dirty="0"/>
          </a:p>
        </p:txBody>
      </p:sp>
      <p:sp>
        <p:nvSpPr>
          <p:cNvPr id="7" name="Shape 5"/>
          <p:cNvSpPr/>
          <p:nvPr/>
        </p:nvSpPr>
        <p:spPr>
          <a:xfrm>
            <a:off x="6419569" y="1874520"/>
            <a:ext cx="2688577" cy="548640"/>
          </a:xfrm>
          <a:prstGeom prst="roundRect">
            <a:avLst>
              <a:gd name="adj" fmla="val 20000"/>
            </a:avLst>
          </a:prstGeom>
          <a:solidFill>
            <a:srgbClr val="101B45"/>
          </a:solidFill>
          <a:ln/>
        </p:spPr>
      </p:sp>
      <p:sp>
        <p:nvSpPr>
          <p:cNvPr id="8" name="Text 6"/>
          <p:cNvSpPr/>
          <p:nvPr/>
        </p:nvSpPr>
        <p:spPr>
          <a:xfrm>
            <a:off x="6419569" y="1874520"/>
            <a:ext cx="2688577" cy="548640"/>
          </a:xfrm>
          <a:prstGeom prst="rect">
            <a:avLst/>
          </a:prstGeom>
          <a:noFill/>
          <a:ln/>
        </p:spPr>
        <p:txBody>
          <a:bodyPr wrap="square" lIns="0" tIns="0" rIns="0" bIns="0" rtlCol="0" anchor="ctr">
            <a:normAutofit/>
          </a:bodyPr>
          <a:lstStyle/>
          <a:p>
            <a:pPr rtl="1" algn="ctr" indent="0" marL="0">
              <a:buNone/>
            </a:pPr>
            <a:r>
              <a:rPr lang="ar-SA" altLang="en-US" sz="1900" dirty="0">
                <a:solidFill>
                  <a:srgbClr val="FFFFFF"/>
                </a:solidFill>
                <a:latin typeface="Cairo Black" pitchFamily="34" charset="0"/>
                <a:ea typeface="Cairo Black" pitchFamily="34" charset="-122"/>
                <a:cs typeface="Cairo Black" pitchFamily="34" charset="-120"/>
              </a:rPr>
              <a:t>واي فاي وإنترنت</a:t>
            </a:r>
            <a:endParaRPr lang="ar-SA" sz="1900" dirty="0"/>
          </a:p>
        </p:txBody>
      </p:sp>
      <p:sp>
        <p:nvSpPr>
          <p:cNvPr id="9" name="Shape 7"/>
          <p:cNvSpPr/>
          <p:nvPr/>
        </p:nvSpPr>
        <p:spPr>
          <a:xfrm>
            <a:off x="3621265" y="1874520"/>
            <a:ext cx="2688577" cy="548640"/>
          </a:xfrm>
          <a:prstGeom prst="roundRect">
            <a:avLst>
              <a:gd name="adj" fmla="val 20000"/>
            </a:avLst>
          </a:prstGeom>
          <a:solidFill>
            <a:srgbClr val="101B45"/>
          </a:solidFill>
          <a:ln/>
        </p:spPr>
      </p:sp>
      <p:sp>
        <p:nvSpPr>
          <p:cNvPr id="10" name="Text 8"/>
          <p:cNvSpPr/>
          <p:nvPr/>
        </p:nvSpPr>
        <p:spPr>
          <a:xfrm>
            <a:off x="3621265" y="1874520"/>
            <a:ext cx="2688577" cy="548640"/>
          </a:xfrm>
          <a:prstGeom prst="rect">
            <a:avLst/>
          </a:prstGeom>
          <a:noFill/>
          <a:ln/>
        </p:spPr>
        <p:txBody>
          <a:bodyPr wrap="square" lIns="0" tIns="0" rIns="0" bIns="0" rtlCol="0" anchor="ctr">
            <a:normAutofit/>
          </a:bodyPr>
          <a:lstStyle/>
          <a:p>
            <a:pPr rtl="1" algn="ctr" indent="0" marL="0">
              <a:buNone/>
            </a:pPr>
            <a:r>
              <a:rPr lang="ar-SA" altLang="en-US" sz="1900" dirty="0">
                <a:solidFill>
                  <a:srgbClr val="FFFFFF"/>
                </a:solidFill>
                <a:latin typeface="Cairo Black" pitchFamily="34" charset="0"/>
                <a:ea typeface="Cairo Black" pitchFamily="34" charset="-122"/>
                <a:cs typeface="Cairo Black" pitchFamily="34" charset="-120"/>
              </a:rPr>
              <a:t>بلوتوث</a:t>
            </a:r>
            <a:endParaRPr lang="ar-SA" sz="1900" dirty="0"/>
          </a:p>
        </p:txBody>
      </p:sp>
      <p:sp>
        <p:nvSpPr>
          <p:cNvPr id="11" name="Shape 9"/>
          <p:cNvSpPr/>
          <p:nvPr/>
        </p:nvSpPr>
        <p:spPr>
          <a:xfrm>
            <a:off x="822960" y="1874520"/>
            <a:ext cx="2688577" cy="548640"/>
          </a:xfrm>
          <a:prstGeom prst="roundRect">
            <a:avLst>
              <a:gd name="adj" fmla="val 20000"/>
            </a:avLst>
          </a:prstGeom>
          <a:solidFill>
            <a:srgbClr val="101B45"/>
          </a:solidFill>
          <a:ln/>
        </p:spPr>
      </p:sp>
      <p:sp>
        <p:nvSpPr>
          <p:cNvPr id="12" name="Text 10"/>
          <p:cNvSpPr/>
          <p:nvPr/>
        </p:nvSpPr>
        <p:spPr>
          <a:xfrm>
            <a:off x="822960" y="1874520"/>
            <a:ext cx="2688577" cy="548640"/>
          </a:xfrm>
          <a:prstGeom prst="rect">
            <a:avLst/>
          </a:prstGeom>
          <a:noFill/>
          <a:ln/>
        </p:spPr>
        <p:txBody>
          <a:bodyPr wrap="square" lIns="0" tIns="0" rIns="0" bIns="0" rtlCol="0" anchor="ctr">
            <a:normAutofit/>
          </a:bodyPr>
          <a:lstStyle/>
          <a:p>
            <a:pPr rtl="1" algn="ctr" indent="0" marL="0">
              <a:buNone/>
            </a:pPr>
            <a:r>
              <a:rPr lang="ar-SA" altLang="en-US" sz="1900" dirty="0">
                <a:solidFill>
                  <a:srgbClr val="FFFFFF"/>
                </a:solidFill>
                <a:latin typeface="Cairo Black" pitchFamily="34" charset="0"/>
                <a:ea typeface="Cairo Black" pitchFamily="34" charset="-122"/>
                <a:cs typeface="Cairo Black" pitchFamily="34" charset="-120"/>
              </a:rPr>
              <a:t>ESP-NOW</a:t>
            </a:r>
            <a:endParaRPr lang="ar-SA" sz="1900" dirty="0"/>
          </a:p>
        </p:txBody>
      </p:sp>
      <p:sp>
        <p:nvSpPr>
          <p:cNvPr id="13" name="anim-g1-956"/>
          <p:cNvSpPr/>
          <p:nvPr/>
        </p:nvSpPr>
        <p:spPr>
          <a:xfrm>
            <a:off x="9217874" y="2514600"/>
            <a:ext cx="2150861" cy="797814"/>
          </a:xfrm>
          <a:prstGeom prst="roundRect">
            <a:avLst>
              <a:gd name="adj" fmla="val 13754"/>
            </a:avLst>
          </a:prstGeom>
          <a:solidFill>
            <a:srgbClr val="FBF3DF"/>
          </a:solidFill>
          <a:ln w="12700">
            <a:solidFill>
              <a:srgbClr val="EFDDAF"/>
            </a:solidFill>
            <a:prstDash val="solid"/>
          </a:ln>
        </p:spPr>
      </p:sp>
      <p:sp>
        <p:nvSpPr>
          <p:cNvPr id="14" name="anim-g1-957"/>
          <p:cNvSpPr/>
          <p:nvPr/>
        </p:nvSpPr>
        <p:spPr>
          <a:xfrm>
            <a:off x="9355034" y="2514600"/>
            <a:ext cx="1876541"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 يحتاج راوتر؟</a:t>
            </a:r>
            <a:endParaRPr lang="ar-SA" sz="2100" dirty="0"/>
          </a:p>
        </p:txBody>
      </p:sp>
      <p:sp>
        <p:nvSpPr>
          <p:cNvPr id="15" name="anim-g1-958"/>
          <p:cNvSpPr/>
          <p:nvPr/>
        </p:nvSpPr>
        <p:spPr>
          <a:xfrm>
            <a:off x="6419569" y="2514600"/>
            <a:ext cx="2688577" cy="797814"/>
          </a:xfrm>
          <a:prstGeom prst="roundRect">
            <a:avLst>
              <a:gd name="adj" fmla="val 13754"/>
            </a:avLst>
          </a:prstGeom>
          <a:solidFill>
            <a:srgbClr val="FFFFFF"/>
          </a:solidFill>
          <a:ln w="12700">
            <a:solidFill>
              <a:srgbClr val="E4DCC8"/>
            </a:solidFill>
            <a:prstDash val="solid"/>
          </a:ln>
        </p:spPr>
      </p:sp>
      <p:sp>
        <p:nvSpPr>
          <p:cNvPr id="16" name="anim-g1-959"/>
          <p:cNvSpPr/>
          <p:nvPr/>
        </p:nvSpPr>
        <p:spPr>
          <a:xfrm>
            <a:off x="6556729" y="2514600"/>
            <a:ext cx="2414257"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نعم</a:t>
            </a:r>
            <a:endParaRPr lang="ar-SA" sz="2100" dirty="0"/>
          </a:p>
        </p:txBody>
      </p:sp>
      <p:sp>
        <p:nvSpPr>
          <p:cNvPr id="17" name="anim-g1-960"/>
          <p:cNvSpPr/>
          <p:nvPr/>
        </p:nvSpPr>
        <p:spPr>
          <a:xfrm>
            <a:off x="3621265" y="2514600"/>
            <a:ext cx="2688577" cy="797814"/>
          </a:xfrm>
          <a:prstGeom prst="roundRect">
            <a:avLst>
              <a:gd name="adj" fmla="val 13754"/>
            </a:avLst>
          </a:prstGeom>
          <a:solidFill>
            <a:srgbClr val="FFFFFF"/>
          </a:solidFill>
          <a:ln w="12700">
            <a:solidFill>
              <a:srgbClr val="E4DCC8"/>
            </a:solidFill>
            <a:prstDash val="solid"/>
          </a:ln>
        </p:spPr>
      </p:sp>
      <p:sp>
        <p:nvSpPr>
          <p:cNvPr id="18" name="anim-g1-961"/>
          <p:cNvSpPr/>
          <p:nvPr/>
        </p:nvSpPr>
        <p:spPr>
          <a:xfrm>
            <a:off x="3758425" y="2514600"/>
            <a:ext cx="2414257"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لا</a:t>
            </a:r>
            <a:endParaRPr lang="ar-SA" sz="2100" dirty="0"/>
          </a:p>
        </p:txBody>
      </p:sp>
      <p:sp>
        <p:nvSpPr>
          <p:cNvPr id="19" name="anim-g1-962"/>
          <p:cNvSpPr/>
          <p:nvPr/>
        </p:nvSpPr>
        <p:spPr>
          <a:xfrm>
            <a:off x="822960" y="2514600"/>
            <a:ext cx="2688577" cy="797814"/>
          </a:xfrm>
          <a:prstGeom prst="roundRect">
            <a:avLst>
              <a:gd name="adj" fmla="val 13754"/>
            </a:avLst>
          </a:prstGeom>
          <a:solidFill>
            <a:srgbClr val="E6F4EC"/>
          </a:solidFill>
          <a:ln w="12700">
            <a:solidFill>
              <a:srgbClr val="CDE9D9"/>
            </a:solidFill>
            <a:prstDash val="solid"/>
          </a:ln>
        </p:spPr>
      </p:sp>
      <p:sp>
        <p:nvSpPr>
          <p:cNvPr id="20" name="anim-g1-963"/>
          <p:cNvSpPr/>
          <p:nvPr/>
        </p:nvSpPr>
        <p:spPr>
          <a:xfrm>
            <a:off x="960120" y="2514600"/>
            <a:ext cx="2414257"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لا</a:t>
            </a:r>
            <a:endParaRPr lang="ar-SA" sz="2100" dirty="0"/>
          </a:p>
        </p:txBody>
      </p:sp>
      <p:sp>
        <p:nvSpPr>
          <p:cNvPr id="21" name="anim-g2-964"/>
          <p:cNvSpPr/>
          <p:nvPr/>
        </p:nvSpPr>
        <p:spPr>
          <a:xfrm>
            <a:off x="9217874" y="3422142"/>
            <a:ext cx="2150861" cy="797814"/>
          </a:xfrm>
          <a:prstGeom prst="roundRect">
            <a:avLst>
              <a:gd name="adj" fmla="val 13754"/>
            </a:avLst>
          </a:prstGeom>
          <a:solidFill>
            <a:srgbClr val="FBF3DF"/>
          </a:solidFill>
          <a:ln w="12700">
            <a:solidFill>
              <a:srgbClr val="EFDDAF"/>
            </a:solidFill>
            <a:prstDash val="solid"/>
          </a:ln>
        </p:spPr>
      </p:sp>
      <p:sp>
        <p:nvSpPr>
          <p:cNvPr id="22" name="anim-g2-965"/>
          <p:cNvSpPr/>
          <p:nvPr/>
        </p:nvSpPr>
        <p:spPr>
          <a:xfrm>
            <a:off x="9355034" y="3422142"/>
            <a:ext cx="1876541"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 السرعة</a:t>
            </a:r>
            <a:endParaRPr lang="ar-SA" sz="2100" dirty="0"/>
          </a:p>
        </p:txBody>
      </p:sp>
      <p:sp>
        <p:nvSpPr>
          <p:cNvPr id="23" name="anim-g2-966"/>
          <p:cNvSpPr/>
          <p:nvPr/>
        </p:nvSpPr>
        <p:spPr>
          <a:xfrm>
            <a:off x="6419569" y="3422142"/>
            <a:ext cx="2688577" cy="797814"/>
          </a:xfrm>
          <a:prstGeom prst="roundRect">
            <a:avLst>
              <a:gd name="adj" fmla="val 13754"/>
            </a:avLst>
          </a:prstGeom>
          <a:solidFill>
            <a:srgbClr val="FFFFFF"/>
          </a:solidFill>
          <a:ln w="12700">
            <a:solidFill>
              <a:srgbClr val="E4DCC8"/>
            </a:solidFill>
            <a:prstDash val="solid"/>
          </a:ln>
        </p:spPr>
      </p:sp>
      <p:sp>
        <p:nvSpPr>
          <p:cNvPr id="24" name="anim-g2-967"/>
          <p:cNvSpPr/>
          <p:nvPr/>
        </p:nvSpPr>
        <p:spPr>
          <a:xfrm>
            <a:off x="6556729" y="3422142"/>
            <a:ext cx="2414257"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بطيء نسبيًا</a:t>
            </a:r>
            <a:endParaRPr lang="ar-SA" sz="2100" dirty="0"/>
          </a:p>
        </p:txBody>
      </p:sp>
      <p:sp>
        <p:nvSpPr>
          <p:cNvPr id="25" name="anim-g2-968"/>
          <p:cNvSpPr/>
          <p:nvPr/>
        </p:nvSpPr>
        <p:spPr>
          <a:xfrm>
            <a:off x="3621265" y="3422142"/>
            <a:ext cx="2688577" cy="797814"/>
          </a:xfrm>
          <a:prstGeom prst="roundRect">
            <a:avLst>
              <a:gd name="adj" fmla="val 13754"/>
            </a:avLst>
          </a:prstGeom>
          <a:solidFill>
            <a:srgbClr val="FFFFFF"/>
          </a:solidFill>
          <a:ln w="12700">
            <a:solidFill>
              <a:srgbClr val="E4DCC8"/>
            </a:solidFill>
            <a:prstDash val="solid"/>
          </a:ln>
        </p:spPr>
      </p:sp>
      <p:sp>
        <p:nvSpPr>
          <p:cNvPr id="26" name="anim-g2-969"/>
          <p:cNvSpPr/>
          <p:nvPr/>
        </p:nvSpPr>
        <p:spPr>
          <a:xfrm>
            <a:off x="3758425" y="3422142"/>
            <a:ext cx="2414257"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متوسط</a:t>
            </a:r>
            <a:endParaRPr lang="ar-SA" sz="2100" dirty="0"/>
          </a:p>
        </p:txBody>
      </p:sp>
      <p:sp>
        <p:nvSpPr>
          <p:cNvPr id="27" name="anim-g2-970"/>
          <p:cNvSpPr/>
          <p:nvPr/>
        </p:nvSpPr>
        <p:spPr>
          <a:xfrm>
            <a:off x="822960" y="3422142"/>
            <a:ext cx="2688577" cy="797814"/>
          </a:xfrm>
          <a:prstGeom prst="roundRect">
            <a:avLst>
              <a:gd name="adj" fmla="val 13754"/>
            </a:avLst>
          </a:prstGeom>
          <a:solidFill>
            <a:srgbClr val="E6F4EC"/>
          </a:solidFill>
          <a:ln w="12700">
            <a:solidFill>
              <a:srgbClr val="CDE9D9"/>
            </a:solidFill>
            <a:prstDash val="solid"/>
          </a:ln>
        </p:spPr>
      </p:sp>
      <p:sp>
        <p:nvSpPr>
          <p:cNvPr id="28" name="anim-g2-971"/>
          <p:cNvSpPr/>
          <p:nvPr/>
        </p:nvSpPr>
        <p:spPr>
          <a:xfrm>
            <a:off x="960120" y="3422142"/>
            <a:ext cx="2414257"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أجزاء من الثانية</a:t>
            </a:r>
            <a:endParaRPr lang="ar-SA" sz="2100" dirty="0"/>
          </a:p>
        </p:txBody>
      </p:sp>
      <p:sp>
        <p:nvSpPr>
          <p:cNvPr id="29" name="anim-g3-972"/>
          <p:cNvSpPr/>
          <p:nvPr/>
        </p:nvSpPr>
        <p:spPr>
          <a:xfrm>
            <a:off x="9217874" y="4329684"/>
            <a:ext cx="2150861" cy="797814"/>
          </a:xfrm>
          <a:prstGeom prst="roundRect">
            <a:avLst>
              <a:gd name="adj" fmla="val 13754"/>
            </a:avLst>
          </a:prstGeom>
          <a:solidFill>
            <a:srgbClr val="FBF3DF"/>
          </a:solidFill>
          <a:ln w="12700">
            <a:solidFill>
              <a:srgbClr val="EFDDAF"/>
            </a:solidFill>
            <a:prstDash val="solid"/>
          </a:ln>
        </p:spPr>
      </p:sp>
      <p:sp>
        <p:nvSpPr>
          <p:cNvPr id="30" name="anim-g3-973"/>
          <p:cNvSpPr/>
          <p:nvPr/>
        </p:nvSpPr>
        <p:spPr>
          <a:xfrm>
            <a:off x="9355034" y="4329684"/>
            <a:ext cx="1876541"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 المدى</a:t>
            </a:r>
            <a:endParaRPr lang="ar-SA" sz="2100" dirty="0"/>
          </a:p>
        </p:txBody>
      </p:sp>
      <p:sp>
        <p:nvSpPr>
          <p:cNvPr id="31" name="anim-g3-974"/>
          <p:cNvSpPr/>
          <p:nvPr/>
        </p:nvSpPr>
        <p:spPr>
          <a:xfrm>
            <a:off x="6419569" y="4329684"/>
            <a:ext cx="2688577" cy="797814"/>
          </a:xfrm>
          <a:prstGeom prst="roundRect">
            <a:avLst>
              <a:gd name="adj" fmla="val 13754"/>
            </a:avLst>
          </a:prstGeom>
          <a:solidFill>
            <a:srgbClr val="FFFFFF"/>
          </a:solidFill>
          <a:ln w="12700">
            <a:solidFill>
              <a:srgbClr val="E4DCC8"/>
            </a:solidFill>
            <a:prstDash val="solid"/>
          </a:ln>
        </p:spPr>
      </p:sp>
      <p:sp>
        <p:nvSpPr>
          <p:cNvPr id="32" name="anim-g3-975"/>
          <p:cNvSpPr/>
          <p:nvPr/>
        </p:nvSpPr>
        <p:spPr>
          <a:xfrm>
            <a:off x="6556729" y="4329684"/>
            <a:ext cx="2414257"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حسب الراوتر</a:t>
            </a:r>
            <a:endParaRPr lang="ar-SA" sz="2100" dirty="0"/>
          </a:p>
        </p:txBody>
      </p:sp>
      <p:sp>
        <p:nvSpPr>
          <p:cNvPr id="33" name="anim-g3-976"/>
          <p:cNvSpPr/>
          <p:nvPr/>
        </p:nvSpPr>
        <p:spPr>
          <a:xfrm>
            <a:off x="3621265" y="4329684"/>
            <a:ext cx="2688577" cy="797814"/>
          </a:xfrm>
          <a:prstGeom prst="roundRect">
            <a:avLst>
              <a:gd name="adj" fmla="val 13754"/>
            </a:avLst>
          </a:prstGeom>
          <a:solidFill>
            <a:srgbClr val="FFFFFF"/>
          </a:solidFill>
          <a:ln w="12700">
            <a:solidFill>
              <a:srgbClr val="E4DCC8"/>
            </a:solidFill>
            <a:prstDash val="solid"/>
          </a:ln>
        </p:spPr>
      </p:sp>
      <p:sp>
        <p:nvSpPr>
          <p:cNvPr id="34" name="anim-g3-977"/>
          <p:cNvSpPr/>
          <p:nvPr/>
        </p:nvSpPr>
        <p:spPr>
          <a:xfrm>
            <a:off x="3758425" y="4329684"/>
            <a:ext cx="2414257"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قصير</a:t>
            </a:r>
            <a:endParaRPr lang="ar-SA" sz="2100" dirty="0"/>
          </a:p>
        </p:txBody>
      </p:sp>
      <p:sp>
        <p:nvSpPr>
          <p:cNvPr id="35" name="anim-g3-978"/>
          <p:cNvSpPr/>
          <p:nvPr/>
        </p:nvSpPr>
        <p:spPr>
          <a:xfrm>
            <a:off x="822960" y="4329684"/>
            <a:ext cx="2688577" cy="797814"/>
          </a:xfrm>
          <a:prstGeom prst="roundRect">
            <a:avLst>
              <a:gd name="adj" fmla="val 13754"/>
            </a:avLst>
          </a:prstGeom>
          <a:solidFill>
            <a:srgbClr val="E6F4EC"/>
          </a:solidFill>
          <a:ln w="12700">
            <a:solidFill>
              <a:srgbClr val="CDE9D9"/>
            </a:solidFill>
            <a:prstDash val="solid"/>
          </a:ln>
        </p:spPr>
      </p:sp>
      <p:sp>
        <p:nvSpPr>
          <p:cNvPr id="36" name="anim-g3-979"/>
          <p:cNvSpPr/>
          <p:nvPr/>
        </p:nvSpPr>
        <p:spPr>
          <a:xfrm>
            <a:off x="960120" y="4329684"/>
            <a:ext cx="2414257"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حتى ٢٠٠ م في المكشوف</a:t>
            </a:r>
            <a:endParaRPr lang="ar-SA" sz="2100" dirty="0"/>
          </a:p>
        </p:txBody>
      </p:sp>
      <p:sp>
        <p:nvSpPr>
          <p:cNvPr id="37" name="anim-g4-980"/>
          <p:cNvSpPr/>
          <p:nvPr/>
        </p:nvSpPr>
        <p:spPr>
          <a:xfrm>
            <a:off x="9217874" y="5237226"/>
            <a:ext cx="2150861" cy="797814"/>
          </a:xfrm>
          <a:prstGeom prst="roundRect">
            <a:avLst>
              <a:gd name="adj" fmla="val 13754"/>
            </a:avLst>
          </a:prstGeom>
          <a:solidFill>
            <a:srgbClr val="FBF3DF"/>
          </a:solidFill>
          <a:ln w="12700">
            <a:solidFill>
              <a:srgbClr val="EFDDAF"/>
            </a:solidFill>
            <a:prstDash val="solid"/>
          </a:ln>
        </p:spPr>
      </p:sp>
      <p:sp>
        <p:nvSpPr>
          <p:cNvPr id="38" name="anim-g4-981"/>
          <p:cNvSpPr/>
          <p:nvPr/>
        </p:nvSpPr>
        <p:spPr>
          <a:xfrm>
            <a:off x="9355034" y="5237226"/>
            <a:ext cx="1876541"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 الاقتران</a:t>
            </a:r>
            <a:endParaRPr lang="ar-SA" sz="2100" dirty="0"/>
          </a:p>
        </p:txBody>
      </p:sp>
      <p:sp>
        <p:nvSpPr>
          <p:cNvPr id="39" name="anim-g4-982"/>
          <p:cNvSpPr/>
          <p:nvPr/>
        </p:nvSpPr>
        <p:spPr>
          <a:xfrm>
            <a:off x="6419569" y="5237226"/>
            <a:ext cx="2688577" cy="797814"/>
          </a:xfrm>
          <a:prstGeom prst="roundRect">
            <a:avLst>
              <a:gd name="adj" fmla="val 13754"/>
            </a:avLst>
          </a:prstGeom>
          <a:solidFill>
            <a:srgbClr val="FFFFFF"/>
          </a:solidFill>
          <a:ln w="12700">
            <a:solidFill>
              <a:srgbClr val="E4DCC8"/>
            </a:solidFill>
            <a:prstDash val="solid"/>
          </a:ln>
        </p:spPr>
      </p:sp>
      <p:sp>
        <p:nvSpPr>
          <p:cNvPr id="40" name="anim-g4-983"/>
          <p:cNvSpPr/>
          <p:nvPr/>
        </p:nvSpPr>
        <p:spPr>
          <a:xfrm>
            <a:off x="6556729" y="5237226"/>
            <a:ext cx="2414257"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كلمة مرور</a:t>
            </a:r>
            <a:endParaRPr lang="ar-SA" sz="2100" dirty="0"/>
          </a:p>
        </p:txBody>
      </p:sp>
      <p:sp>
        <p:nvSpPr>
          <p:cNvPr id="41" name="anim-g4-984"/>
          <p:cNvSpPr/>
          <p:nvPr/>
        </p:nvSpPr>
        <p:spPr>
          <a:xfrm>
            <a:off x="3621265" y="5237226"/>
            <a:ext cx="2688577" cy="797814"/>
          </a:xfrm>
          <a:prstGeom prst="roundRect">
            <a:avLst>
              <a:gd name="adj" fmla="val 13754"/>
            </a:avLst>
          </a:prstGeom>
          <a:solidFill>
            <a:srgbClr val="FFFFFF"/>
          </a:solidFill>
          <a:ln w="12700">
            <a:solidFill>
              <a:srgbClr val="E4DCC8"/>
            </a:solidFill>
            <a:prstDash val="solid"/>
          </a:ln>
        </p:spPr>
      </p:sp>
      <p:sp>
        <p:nvSpPr>
          <p:cNvPr id="42" name="anim-g4-985"/>
          <p:cNvSpPr/>
          <p:nvPr/>
        </p:nvSpPr>
        <p:spPr>
          <a:xfrm>
            <a:off x="3758425" y="5237226"/>
            <a:ext cx="2414257"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اقتران</a:t>
            </a:r>
            <a:endParaRPr lang="ar-SA" sz="2100" dirty="0"/>
          </a:p>
        </p:txBody>
      </p:sp>
      <p:sp>
        <p:nvSpPr>
          <p:cNvPr id="43" name="anim-g4-986"/>
          <p:cNvSpPr/>
          <p:nvPr/>
        </p:nvSpPr>
        <p:spPr>
          <a:xfrm>
            <a:off x="822960" y="5237226"/>
            <a:ext cx="2688577" cy="797814"/>
          </a:xfrm>
          <a:prstGeom prst="roundRect">
            <a:avLst>
              <a:gd name="adj" fmla="val 13754"/>
            </a:avLst>
          </a:prstGeom>
          <a:solidFill>
            <a:srgbClr val="E6F4EC"/>
          </a:solidFill>
          <a:ln w="12700">
            <a:solidFill>
              <a:srgbClr val="CDE9D9"/>
            </a:solidFill>
            <a:prstDash val="solid"/>
          </a:ln>
        </p:spPr>
      </p:sp>
      <p:sp>
        <p:nvSpPr>
          <p:cNvPr id="44" name="anim-g4-987"/>
          <p:cNvSpPr/>
          <p:nvPr/>
        </p:nvSpPr>
        <p:spPr>
          <a:xfrm>
            <a:off x="960120" y="5237226"/>
            <a:ext cx="2414257"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عنوان MAC فقط</a:t>
            </a:r>
            <a:endParaRPr lang="ar-SA" sz="2100" dirty="0"/>
          </a:p>
        </p:txBody>
      </p:sp>
      <p:sp>
        <p:nvSpPr>
          <p:cNvPr id="45" name="Text 4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46" name="Text 4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ESP-NOW  ·  ١٣٦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4"/>
                                        </p:tgtEl>
                                        <p:attrNameLst>
                                          <p:attrName>style.visibility</p:attrName>
                                        </p:attrNameLst>
                                      </p:cBhvr>
                                      <p:to>
                                        <p:strVal val="visible"/>
                                      </p:to>
                                    </p:set>
                                    <p:animEffect transition="in" filter="fade">
                                      <p:cBhvr>
                                        <p:cTn id="10" dur="400"/>
                                        <p:tgtEl>
                                          <p:spTgt spid="1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5"/>
                                        </p:tgtEl>
                                        <p:attrNameLst>
                                          <p:attrName>style.visibility</p:attrName>
                                        </p:attrNameLst>
                                      </p:cBhvr>
                                      <p:to>
                                        <p:strVal val="visible"/>
                                      </p:to>
                                    </p:set>
                                    <p:animEffect transition="in" filter="fade">
                                      <p:cBhvr>
                                        <p:cTn id="13" dur="400"/>
                                        <p:tgtEl>
                                          <p:spTgt spid="15"/>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6"/>
                                        </p:tgtEl>
                                        <p:attrNameLst>
                                          <p:attrName>style.visibility</p:attrName>
                                        </p:attrNameLst>
                                      </p:cBhvr>
                                      <p:to>
                                        <p:strVal val="visible"/>
                                      </p:to>
                                    </p:set>
                                    <p:animEffect transition="in" filter="fade">
                                      <p:cBhvr>
                                        <p:cTn id="16" dur="400"/>
                                        <p:tgtEl>
                                          <p:spTgt spid="16"/>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animEffect transition="in" filter="fade">
                                      <p:cBhvr>
                                        <p:cTn id="19" dur="400"/>
                                        <p:tgtEl>
                                          <p:spTgt spid="17"/>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21"/>
                                        </p:tgtEl>
                                        <p:attrNameLst>
                                          <p:attrName>style.visibility</p:attrName>
                                        </p:attrNameLst>
                                      </p:cBhvr>
                                      <p:to>
                                        <p:strVal val="visible"/>
                                      </p:to>
                                    </p:set>
                                    <p:animEffect transition="in" filter="fade">
                                      <p:cBhvr>
                                        <p:cTn id="33" dur="400"/>
                                        <p:tgtEl>
                                          <p:spTgt spid="21"/>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2"/>
                                        </p:tgtEl>
                                        <p:attrNameLst>
                                          <p:attrName>style.visibility</p:attrName>
                                        </p:attrNameLst>
                                      </p:cBhvr>
                                      <p:to>
                                        <p:strVal val="visible"/>
                                      </p:to>
                                    </p:set>
                                    <p:animEffect transition="in" filter="fade">
                                      <p:cBhvr>
                                        <p:cTn id="36" dur="400"/>
                                        <p:tgtEl>
                                          <p:spTgt spid="22"/>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3"/>
                                        </p:tgtEl>
                                        <p:attrNameLst>
                                          <p:attrName>style.visibility</p:attrName>
                                        </p:attrNameLst>
                                      </p:cBhvr>
                                      <p:to>
                                        <p:strVal val="visible"/>
                                      </p:to>
                                    </p:set>
                                    <p:animEffect transition="in" filter="fade">
                                      <p:cBhvr>
                                        <p:cTn id="39" dur="400"/>
                                        <p:tgtEl>
                                          <p:spTgt spid="23"/>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4"/>
                                        </p:tgtEl>
                                        <p:attrNameLst>
                                          <p:attrName>style.visibility</p:attrName>
                                        </p:attrNameLst>
                                      </p:cBhvr>
                                      <p:to>
                                        <p:strVal val="visible"/>
                                      </p:to>
                                    </p:set>
                                    <p:animEffect transition="in" filter="fade">
                                      <p:cBhvr>
                                        <p:cTn id="42" dur="400"/>
                                        <p:tgtEl>
                                          <p:spTgt spid="24"/>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25"/>
                                        </p:tgtEl>
                                        <p:attrNameLst>
                                          <p:attrName>style.visibility</p:attrName>
                                        </p:attrNameLst>
                                      </p:cBhvr>
                                      <p:to>
                                        <p:strVal val="visible"/>
                                      </p:to>
                                    </p:set>
                                    <p:animEffect transition="in" filter="fade">
                                      <p:cBhvr>
                                        <p:cTn id="45" dur="400"/>
                                        <p:tgtEl>
                                          <p:spTgt spid="25"/>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26"/>
                                        </p:tgtEl>
                                        <p:attrNameLst>
                                          <p:attrName>style.visibility</p:attrName>
                                        </p:attrNameLst>
                                      </p:cBhvr>
                                      <p:to>
                                        <p:strVal val="visible"/>
                                      </p:to>
                                    </p:set>
                                    <p:animEffect transition="in" filter="fade">
                                      <p:cBhvr>
                                        <p:cTn id="48" dur="400"/>
                                        <p:tgtEl>
                                          <p:spTgt spid="26"/>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27"/>
                                        </p:tgtEl>
                                        <p:attrNameLst>
                                          <p:attrName>style.visibility</p:attrName>
                                        </p:attrNameLst>
                                      </p:cBhvr>
                                      <p:to>
                                        <p:strVal val="visible"/>
                                      </p:to>
                                    </p:set>
                                    <p:animEffect transition="in" filter="fade">
                                      <p:cBhvr>
                                        <p:cTn id="51" dur="400"/>
                                        <p:tgtEl>
                                          <p:spTgt spid="27"/>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28"/>
                                        </p:tgtEl>
                                        <p:attrNameLst>
                                          <p:attrName>style.visibility</p:attrName>
                                        </p:attrNameLst>
                                      </p:cBhvr>
                                      <p:to>
                                        <p:strVal val="visible"/>
                                      </p:to>
                                    </p:set>
                                    <p:animEffect transition="in" filter="fade">
                                      <p:cBhvr>
                                        <p:cTn id="54" dur="400"/>
                                        <p:tgtEl>
                                          <p:spTgt spid="28"/>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grpId="0" nodeType="clickEffect">
                                  <p:stCondLst>
                                    <p:cond delay="0"/>
                                  </p:stCondLst>
                                  <p:childTnLst>
                                    <p:set>
                                      <p:cBhvr>
                                        <p:cTn id="58" dur="1" fill="hold">
                                          <p:stCondLst>
                                            <p:cond delay="0"/>
                                          </p:stCondLst>
                                        </p:cTn>
                                        <p:tgtEl>
                                          <p:spTgt spid="29"/>
                                        </p:tgtEl>
                                        <p:attrNameLst>
                                          <p:attrName>style.visibility</p:attrName>
                                        </p:attrNameLst>
                                      </p:cBhvr>
                                      <p:to>
                                        <p:strVal val="visible"/>
                                      </p:to>
                                    </p:set>
                                    <p:animEffect transition="in" filter="fade">
                                      <p:cBhvr>
                                        <p:cTn id="59" dur="400"/>
                                        <p:tgtEl>
                                          <p:spTgt spid="29"/>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30"/>
                                        </p:tgtEl>
                                        <p:attrNameLst>
                                          <p:attrName>style.visibility</p:attrName>
                                        </p:attrNameLst>
                                      </p:cBhvr>
                                      <p:to>
                                        <p:strVal val="visible"/>
                                      </p:to>
                                    </p:set>
                                    <p:animEffect transition="in" filter="fade">
                                      <p:cBhvr>
                                        <p:cTn id="62" dur="400"/>
                                        <p:tgtEl>
                                          <p:spTgt spid="30"/>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31"/>
                                        </p:tgtEl>
                                        <p:attrNameLst>
                                          <p:attrName>style.visibility</p:attrName>
                                        </p:attrNameLst>
                                      </p:cBhvr>
                                      <p:to>
                                        <p:strVal val="visible"/>
                                      </p:to>
                                    </p:set>
                                    <p:animEffect transition="in" filter="fade">
                                      <p:cBhvr>
                                        <p:cTn id="65" dur="400"/>
                                        <p:tgtEl>
                                          <p:spTgt spid="31"/>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32"/>
                                        </p:tgtEl>
                                        <p:attrNameLst>
                                          <p:attrName>style.visibility</p:attrName>
                                        </p:attrNameLst>
                                      </p:cBhvr>
                                      <p:to>
                                        <p:strVal val="visible"/>
                                      </p:to>
                                    </p:set>
                                    <p:animEffect transition="in" filter="fade">
                                      <p:cBhvr>
                                        <p:cTn id="68" dur="400"/>
                                        <p:tgtEl>
                                          <p:spTgt spid="32"/>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33"/>
                                        </p:tgtEl>
                                        <p:attrNameLst>
                                          <p:attrName>style.visibility</p:attrName>
                                        </p:attrNameLst>
                                      </p:cBhvr>
                                      <p:to>
                                        <p:strVal val="visible"/>
                                      </p:to>
                                    </p:set>
                                    <p:animEffect transition="in" filter="fade">
                                      <p:cBhvr>
                                        <p:cTn id="71" dur="400"/>
                                        <p:tgtEl>
                                          <p:spTgt spid="33"/>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34"/>
                                        </p:tgtEl>
                                        <p:attrNameLst>
                                          <p:attrName>style.visibility</p:attrName>
                                        </p:attrNameLst>
                                      </p:cBhvr>
                                      <p:to>
                                        <p:strVal val="visible"/>
                                      </p:to>
                                    </p:set>
                                    <p:animEffect transition="in" filter="fade">
                                      <p:cBhvr>
                                        <p:cTn id="74" dur="400"/>
                                        <p:tgtEl>
                                          <p:spTgt spid="34"/>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35"/>
                                        </p:tgtEl>
                                        <p:attrNameLst>
                                          <p:attrName>style.visibility</p:attrName>
                                        </p:attrNameLst>
                                      </p:cBhvr>
                                      <p:to>
                                        <p:strVal val="visible"/>
                                      </p:to>
                                    </p:set>
                                    <p:animEffect transition="in" filter="fade">
                                      <p:cBhvr>
                                        <p:cTn id="77" dur="400"/>
                                        <p:tgtEl>
                                          <p:spTgt spid="35"/>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36"/>
                                        </p:tgtEl>
                                        <p:attrNameLst>
                                          <p:attrName>style.visibility</p:attrName>
                                        </p:attrNameLst>
                                      </p:cBhvr>
                                      <p:to>
                                        <p:strVal val="visible"/>
                                      </p:to>
                                    </p:set>
                                    <p:animEffect transition="in" filter="fade">
                                      <p:cBhvr>
                                        <p:cTn id="80" dur="400"/>
                                        <p:tgtEl>
                                          <p:spTgt spid="36"/>
                                        </p:tgtEl>
                                      </p:cBhvr>
                                    </p:animEffect>
                                  </p:childTnLst>
                                </p:cTn>
                              </p:par>
                            </p:childTnLst>
                          </p:cTn>
                        </p:par>
                      </p:childTnLst>
                    </p:cTn>
                  </p:par>
                  <p:par>
                    <p:cTn id="81" fill="hold">
                      <p:stCondLst>
                        <p:cond delay="indefinite"/>
                      </p:stCondLst>
                      <p:childTnLst>
                        <p:par>
                          <p:cTn id="82" fill="hold">
                            <p:stCondLst>
                              <p:cond delay="0"/>
                            </p:stCondLst>
                            <p:childTnLst>
                              <p:par>
                                <p:cTn id="83" presetID="10" presetClass="entr" presetSubtype="0" fill="hold" grpId="0" nodeType="clickEffect">
                                  <p:stCondLst>
                                    <p:cond delay="0"/>
                                  </p:stCondLst>
                                  <p:childTnLst>
                                    <p:set>
                                      <p:cBhvr>
                                        <p:cTn id="84" dur="1" fill="hold">
                                          <p:stCondLst>
                                            <p:cond delay="0"/>
                                          </p:stCondLst>
                                        </p:cTn>
                                        <p:tgtEl>
                                          <p:spTgt spid="37"/>
                                        </p:tgtEl>
                                        <p:attrNameLst>
                                          <p:attrName>style.visibility</p:attrName>
                                        </p:attrNameLst>
                                      </p:cBhvr>
                                      <p:to>
                                        <p:strVal val="visible"/>
                                      </p:to>
                                    </p:set>
                                    <p:animEffect transition="in" filter="fade">
                                      <p:cBhvr>
                                        <p:cTn id="85" dur="400"/>
                                        <p:tgtEl>
                                          <p:spTgt spid="37"/>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38"/>
                                        </p:tgtEl>
                                        <p:attrNameLst>
                                          <p:attrName>style.visibility</p:attrName>
                                        </p:attrNameLst>
                                      </p:cBhvr>
                                      <p:to>
                                        <p:strVal val="visible"/>
                                      </p:to>
                                    </p:set>
                                    <p:animEffect transition="in" filter="fade">
                                      <p:cBhvr>
                                        <p:cTn id="88" dur="400"/>
                                        <p:tgtEl>
                                          <p:spTgt spid="38"/>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39"/>
                                        </p:tgtEl>
                                        <p:attrNameLst>
                                          <p:attrName>style.visibility</p:attrName>
                                        </p:attrNameLst>
                                      </p:cBhvr>
                                      <p:to>
                                        <p:strVal val="visible"/>
                                      </p:to>
                                    </p:set>
                                    <p:animEffect transition="in" filter="fade">
                                      <p:cBhvr>
                                        <p:cTn id="91" dur="400"/>
                                        <p:tgtEl>
                                          <p:spTgt spid="39"/>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40"/>
                                        </p:tgtEl>
                                        <p:attrNameLst>
                                          <p:attrName>style.visibility</p:attrName>
                                        </p:attrNameLst>
                                      </p:cBhvr>
                                      <p:to>
                                        <p:strVal val="visible"/>
                                      </p:to>
                                    </p:set>
                                    <p:animEffect transition="in" filter="fade">
                                      <p:cBhvr>
                                        <p:cTn id="94" dur="400"/>
                                        <p:tgtEl>
                                          <p:spTgt spid="40"/>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41"/>
                                        </p:tgtEl>
                                        <p:attrNameLst>
                                          <p:attrName>style.visibility</p:attrName>
                                        </p:attrNameLst>
                                      </p:cBhvr>
                                      <p:to>
                                        <p:strVal val="visible"/>
                                      </p:to>
                                    </p:set>
                                    <p:animEffect transition="in" filter="fade">
                                      <p:cBhvr>
                                        <p:cTn id="97" dur="400"/>
                                        <p:tgtEl>
                                          <p:spTgt spid="41"/>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42"/>
                                        </p:tgtEl>
                                        <p:attrNameLst>
                                          <p:attrName>style.visibility</p:attrName>
                                        </p:attrNameLst>
                                      </p:cBhvr>
                                      <p:to>
                                        <p:strVal val="visible"/>
                                      </p:to>
                                    </p:set>
                                    <p:animEffect transition="in" filter="fade">
                                      <p:cBhvr>
                                        <p:cTn id="100" dur="400"/>
                                        <p:tgtEl>
                                          <p:spTgt spid="42"/>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43"/>
                                        </p:tgtEl>
                                        <p:attrNameLst>
                                          <p:attrName>style.visibility</p:attrName>
                                        </p:attrNameLst>
                                      </p:cBhvr>
                                      <p:to>
                                        <p:strVal val="visible"/>
                                      </p:to>
                                    </p:set>
                                    <p:animEffect transition="in" filter="fade">
                                      <p:cBhvr>
                                        <p:cTn id="103" dur="400"/>
                                        <p:tgtEl>
                                          <p:spTgt spid="43"/>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44"/>
                                        </p:tgtEl>
                                        <p:attrNameLst>
                                          <p:attrName>style.visibility</p:attrName>
                                        </p:attrNameLst>
                                      </p:cBhvr>
                                      <p:to>
                                        <p:strVal val="visible"/>
                                      </p:to>
                                    </p:set>
                                    <p:animEffect transition="in" filter="fade">
                                      <p:cBhvr>
                                        <p:cTn id="106" dur="4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Lst>
  </p:timing>
</p:sld>
</file>

<file path=ppt/slides/slide137.xml><?xml version="1.0" encoding="utf-8"?>
<p:sld xmlns:a="http://schemas.openxmlformats.org/drawingml/2006/main" xmlns:r="http://schemas.openxmlformats.org/officeDocument/2006/relationships" xmlns:p="http://schemas.openxmlformats.org/presentationml/2006/main">
  <p:cSld name="Slide 1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174175" y="457200"/>
            <a:ext cx="2194560" cy="457200"/>
          </a:xfrm>
          <a:prstGeom prst="roundRect">
            <a:avLst>
              <a:gd name="adj" fmla="val 50000"/>
            </a:avLst>
          </a:prstGeom>
          <a:solidFill>
            <a:srgbClr val="F6EBCF"/>
          </a:solidFill>
          <a:ln/>
        </p:spPr>
      </p:sp>
      <p:sp>
        <p:nvSpPr>
          <p:cNvPr id="3" name="Text 1"/>
          <p:cNvSpPr/>
          <p:nvPr/>
        </p:nvSpPr>
        <p:spPr>
          <a:xfrm>
            <a:off x="9174175" y="457200"/>
            <a:ext cx="219456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ثلاث كلمات</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العنوان… والرسالة… والتأكيد</a:t>
            </a:r>
            <a:endParaRPr lang="ar-SA" sz="3800" dirty="0"/>
          </a:p>
        </p:txBody>
      </p:sp>
      <p:sp>
        <p:nvSpPr>
          <p:cNvPr id="5" name="anim-g1-988"/>
          <p:cNvSpPr/>
          <p:nvPr/>
        </p:nvSpPr>
        <p:spPr>
          <a:xfrm>
            <a:off x="8036357"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989"/>
          <p:cNvSpPr/>
          <p:nvPr/>
        </p:nvSpPr>
        <p:spPr>
          <a:xfrm>
            <a:off x="10527487" y="2267712"/>
            <a:ext cx="566928" cy="566928"/>
          </a:xfrm>
          <a:prstGeom prst="roundRect">
            <a:avLst>
              <a:gd name="adj" fmla="val 32258"/>
            </a:avLst>
          </a:prstGeom>
          <a:solidFill>
            <a:srgbClr val="F7E6BC"/>
          </a:solidFill>
          <a:ln/>
        </p:spPr>
      </p:sp>
      <p:sp>
        <p:nvSpPr>
          <p:cNvPr id="7" name="anim-g1-990"/>
          <p:cNvSpPr/>
          <p:nvPr/>
        </p:nvSpPr>
        <p:spPr>
          <a:xfrm>
            <a:off x="10527487"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991"/>
          <p:cNvSpPr/>
          <p:nvPr/>
        </p:nvSpPr>
        <p:spPr>
          <a:xfrm>
            <a:off x="8310677"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MAC</a:t>
            </a:r>
            <a:endParaRPr lang="ar-SA" sz="2200" dirty="0"/>
          </a:p>
        </p:txBody>
      </p:sp>
      <p:sp>
        <p:nvSpPr>
          <p:cNvPr id="9" name="anim-g1-992"/>
          <p:cNvSpPr/>
          <p:nvPr/>
        </p:nvSpPr>
        <p:spPr>
          <a:xfrm>
            <a:off x="8310677"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رقم فريد لكل ESP32 مثل رقم الهوية: EC:E3:34:08:BE:D8</a:t>
            </a:r>
            <a:endParaRPr lang="ar-SA" sz="1900" dirty="0"/>
          </a:p>
        </p:txBody>
      </p:sp>
      <p:sp>
        <p:nvSpPr>
          <p:cNvPr id="10" name="anim-g2-993"/>
          <p:cNvSpPr/>
          <p:nvPr/>
        </p:nvSpPr>
        <p:spPr>
          <a:xfrm>
            <a:off x="4429658"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994"/>
          <p:cNvSpPr/>
          <p:nvPr/>
        </p:nvSpPr>
        <p:spPr>
          <a:xfrm>
            <a:off x="6920789" y="2267712"/>
            <a:ext cx="566928" cy="566928"/>
          </a:xfrm>
          <a:prstGeom prst="roundRect">
            <a:avLst>
              <a:gd name="adj" fmla="val 32258"/>
            </a:avLst>
          </a:prstGeom>
          <a:solidFill>
            <a:srgbClr val="F7E6BC"/>
          </a:solidFill>
          <a:ln/>
        </p:spPr>
      </p:sp>
      <p:sp>
        <p:nvSpPr>
          <p:cNvPr id="12" name="anim-g2-995"/>
          <p:cNvSpPr/>
          <p:nvPr/>
        </p:nvSpPr>
        <p:spPr>
          <a:xfrm>
            <a:off x="6920789"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996"/>
          <p:cNvSpPr/>
          <p:nvPr/>
        </p:nvSpPr>
        <p:spPr>
          <a:xfrm>
            <a:off x="4703978"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struct</a:t>
            </a:r>
            <a:endParaRPr lang="ar-SA" sz="2200" dirty="0"/>
          </a:p>
        </p:txBody>
      </p:sp>
      <p:sp>
        <p:nvSpPr>
          <p:cNvPr id="14" name="anim-g2-997"/>
          <p:cNvSpPr/>
          <p:nvPr/>
        </p:nvSpPr>
        <p:spPr>
          <a:xfrm>
            <a:off x="4703978"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صندوق نرتب فيه البيانات: النوع والشدة والمنطقة</a:t>
            </a:r>
            <a:endParaRPr lang="ar-SA" sz="1900" dirty="0"/>
          </a:p>
        </p:txBody>
      </p:sp>
      <p:sp>
        <p:nvSpPr>
          <p:cNvPr id="15" name="anim-g3-998"/>
          <p:cNvSpPr/>
          <p:nvPr/>
        </p:nvSpPr>
        <p:spPr>
          <a:xfrm>
            <a:off x="822960"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999"/>
          <p:cNvSpPr/>
          <p:nvPr/>
        </p:nvSpPr>
        <p:spPr>
          <a:xfrm>
            <a:off x="3314090" y="2267712"/>
            <a:ext cx="566928" cy="566928"/>
          </a:xfrm>
          <a:prstGeom prst="roundRect">
            <a:avLst>
              <a:gd name="adj" fmla="val 32258"/>
            </a:avLst>
          </a:prstGeom>
          <a:solidFill>
            <a:srgbClr val="F7E6BC"/>
          </a:solidFill>
          <a:ln/>
        </p:spPr>
      </p:sp>
      <p:sp>
        <p:nvSpPr>
          <p:cNvPr id="17" name="anim-g3-1000"/>
          <p:cNvSpPr/>
          <p:nvPr/>
        </p:nvSpPr>
        <p:spPr>
          <a:xfrm>
            <a:off x="3314090"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1001"/>
          <p:cNvSpPr/>
          <p:nvPr/>
        </p:nvSpPr>
        <p:spPr>
          <a:xfrm>
            <a:off x="1097280"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Callback</a:t>
            </a:r>
            <a:endParaRPr lang="ar-SA" sz="2200" dirty="0"/>
          </a:p>
        </p:txBody>
      </p:sp>
      <p:sp>
        <p:nvSpPr>
          <p:cNvPr id="19" name="anim-g3-1002"/>
          <p:cNvSpPr/>
          <p:nvPr/>
        </p:nvSpPr>
        <p:spPr>
          <a:xfrm>
            <a:off x="1097280"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دالة تُستدعى تلقائيًا حين تصل الرسالة</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ESP-NOW  ·  ١٣٧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Image 0" descr="C:\Users\user\projects\younes-training\turath\.pptx-cache\s138.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Image 0" descr="C:\Users\user\projects\younes-training\turath\.pptx-cache\s139-0.jpg">    </p:cNvPr>
          <p:cNvPicPr>
            <a:picLocks noChangeAspect="1"/>
          </p:cNvPicPr>
          <p:nvPr/>
        </p:nvPicPr>
        <p:blipFill>
          <a:blip r:embed="rId1"/>
          <a:stretch>
            <a:fillRect/>
          </a:stretch>
        </p:blipFill>
        <p:spPr>
          <a:xfrm>
            <a:off x="0" y="0"/>
            <a:ext cx="12191695" cy="6858000"/>
          </a:xfrm>
          <a:prstGeom prst="rect">
            <a:avLst/>
          </a:prstGeom>
        </p:spPr>
      </p:pic>
      <p:pic>
        <p:nvPicPr>
          <p:cNvPr id="3" name="anim-g1-1003" descr="C:\Users\user\projects\younes-training\turath\.pptx-cache\s139-1.jpg">    </p:cNvPr>
          <p:cNvPicPr>
            <a:picLocks noChangeAspect="1"/>
          </p:cNvPicPr>
          <p:nvPr/>
        </p:nvPicPr>
        <p:blipFill>
          <a:blip r:embed="rId2"/>
          <a:stretch>
            <a:fillRect/>
          </a:stretch>
        </p:blipFill>
        <p:spPr>
          <a:xfrm>
            <a:off x="0" y="0"/>
            <a:ext cx="12191695" cy="6858000"/>
          </a:xfrm>
          <a:prstGeom prst="rect">
            <a:avLst/>
          </a:prstGeom>
        </p:spPr>
      </p:pic>
      <p:pic>
        <p:nvPicPr>
          <p:cNvPr id="4" name="anim-g2-1004" descr="C:\Users\user\projects\younes-training\turath\.pptx-cache\s139-2.jpg">    </p:cNvPr>
          <p:cNvPicPr>
            <a:picLocks noChangeAspect="1"/>
          </p:cNvPicPr>
          <p:nvPr/>
        </p:nvPicPr>
        <p:blipFill>
          <a:blip r:embed="rId3"/>
          <a:stretch>
            <a:fillRect/>
          </a:stretch>
        </p:blipFill>
        <p:spPr>
          <a:xfrm>
            <a:off x="0" y="0"/>
            <a:ext cx="12191695" cy="6858000"/>
          </a:xfrm>
          <a:prstGeom prst="rect">
            <a:avLst/>
          </a:prstGeom>
        </p:spPr>
      </p:pic>
      <p:pic>
        <p:nvPicPr>
          <p:cNvPr id="5" name="anim-g3-1005" descr="C:\Users\user\projects\younes-training\turath\.pptx-cache\s139-3.jpg">    </p:cNvPr>
          <p:cNvPicPr>
            <a:picLocks noChangeAspect="1"/>
          </p:cNvPicPr>
          <p:nvPr/>
        </p:nvPicPr>
        <p:blipFill>
          <a:blip r:embed="rId4"/>
          <a:stretch>
            <a:fillRect/>
          </a:stretch>
        </p:blipFill>
        <p:spPr>
          <a:xfrm>
            <a:off x="0" y="0"/>
            <a:ext cx="12191695" cy="6858000"/>
          </a:xfrm>
          <a:prstGeom prst="rect">
            <a:avLst/>
          </a:prstGeom>
        </p:spPr>
      </p:pic>
      <p:pic>
        <p:nvPicPr>
          <p:cNvPr id="6" name="anim-g4-1006" descr="C:\Users\user\projects\younes-training\turath\.pptx-cache\s139-4.jpg">    </p:cNvPr>
          <p:cNvPicPr>
            <a:picLocks noChangeAspect="1"/>
          </p:cNvPicPr>
          <p:nvPr/>
        </p:nvPicPr>
        <p:blipFill>
          <a:blip r:embed="rId5"/>
          <a:stretch>
            <a:fillRect/>
          </a:stretch>
        </p:blipFill>
        <p:spPr>
          <a:xfrm>
            <a:off x="0" y="0"/>
            <a:ext cx="12191695" cy="6858000"/>
          </a:xfrm>
          <a:prstGeom prst="rect">
            <a:avLst/>
          </a:prstGeom>
        </p:spPr>
      </p:pic>
      <p:pic>
        <p:nvPicPr>
          <p:cNvPr id="7" name="anim-g5-1007" descr="C:\Users\user\projects\younes-training\turath\.pptx-cache\s139-5.jpg">    </p:cNvPr>
          <p:cNvPicPr>
            <a:picLocks noChangeAspect="1"/>
          </p:cNvPicPr>
          <p:nvPr/>
        </p:nvPicPr>
        <p:blipFill>
          <a:blip r:embed="rId6"/>
          <a:stretch>
            <a:fillRect/>
          </a:stretch>
        </p:blipFill>
        <p:spPr>
          <a:xfrm>
            <a:off x="0" y="0"/>
            <a:ext cx="12191695" cy="6858000"/>
          </a:xfrm>
          <a:prstGeom prst="rect">
            <a:avLst/>
          </a:prstGeom>
        </p:spPr>
      </p:pic>
      <p:pic>
        <p:nvPicPr>
          <p:cNvPr id="8" name="anim-g6-1008" descr="C:\Users\user\projects\younes-training\turath\.pptx-cache\s139-6.jpg">    </p:cNvPr>
          <p:cNvPicPr>
            <a:picLocks noChangeAspect="1"/>
          </p:cNvPicPr>
          <p:nvPr/>
        </p:nvPicPr>
        <p:blipFill>
          <a:blip r:embed="rId7"/>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Image 0" descr="C:\Users\user\projects\younes-training\turath\.pptx-cache\s140-0.jpg">    </p:cNvPr>
          <p:cNvPicPr>
            <a:picLocks noChangeAspect="1"/>
          </p:cNvPicPr>
          <p:nvPr/>
        </p:nvPicPr>
        <p:blipFill>
          <a:blip r:embed="rId1"/>
          <a:stretch>
            <a:fillRect/>
          </a:stretch>
        </p:blipFill>
        <p:spPr>
          <a:xfrm>
            <a:off x="0" y="0"/>
            <a:ext cx="12191695" cy="6858000"/>
          </a:xfrm>
          <a:prstGeom prst="rect">
            <a:avLst/>
          </a:prstGeom>
        </p:spPr>
      </p:pic>
      <p:pic>
        <p:nvPicPr>
          <p:cNvPr id="3" name="anim-g1-1009" descr="C:\Users\user\projects\younes-training\turath\.pptx-cache\s140-1.jpg">    </p:cNvPr>
          <p:cNvPicPr>
            <a:picLocks noChangeAspect="1"/>
          </p:cNvPicPr>
          <p:nvPr/>
        </p:nvPicPr>
        <p:blipFill>
          <a:blip r:embed="rId2"/>
          <a:stretch>
            <a:fillRect/>
          </a:stretch>
        </p:blipFill>
        <p:spPr>
          <a:xfrm>
            <a:off x="0" y="0"/>
            <a:ext cx="12191695" cy="6858000"/>
          </a:xfrm>
          <a:prstGeom prst="rect">
            <a:avLst/>
          </a:prstGeom>
        </p:spPr>
      </p:pic>
      <p:pic>
        <p:nvPicPr>
          <p:cNvPr id="4" name="anim-g2-1010" descr="C:\Users\user\projects\younes-training\turath\.pptx-cache\s140-2.jpg">    </p:cNvPr>
          <p:cNvPicPr>
            <a:picLocks noChangeAspect="1"/>
          </p:cNvPicPr>
          <p:nvPr/>
        </p:nvPicPr>
        <p:blipFill>
          <a:blip r:embed="rId3"/>
          <a:stretch>
            <a:fillRect/>
          </a:stretch>
        </p:blipFill>
        <p:spPr>
          <a:xfrm>
            <a:off x="0" y="0"/>
            <a:ext cx="12191695" cy="6858000"/>
          </a:xfrm>
          <a:prstGeom prst="rect">
            <a:avLst/>
          </a:prstGeom>
        </p:spPr>
      </p:pic>
      <p:pic>
        <p:nvPicPr>
          <p:cNvPr id="5" name="anim-g3-1011" descr="C:\Users\user\projects\younes-training\turath\.pptx-cache\s140-3.jpg">    </p:cNvPr>
          <p:cNvPicPr>
            <a:picLocks noChangeAspect="1"/>
          </p:cNvPicPr>
          <p:nvPr/>
        </p:nvPicPr>
        <p:blipFill>
          <a:blip r:embed="rId4"/>
          <a:stretch>
            <a:fillRect/>
          </a:stretch>
        </p:blipFill>
        <p:spPr>
          <a:xfrm>
            <a:off x="0" y="0"/>
            <a:ext cx="12191695" cy="6858000"/>
          </a:xfrm>
          <a:prstGeom prst="rect">
            <a:avLst/>
          </a:prstGeom>
        </p:spPr>
      </p:pic>
      <p:pic>
        <p:nvPicPr>
          <p:cNvPr id="6" name="anim-g4-1012" descr="C:\Users\user\projects\younes-training\turath\.pptx-cache\s140-4.jpg">    </p:cNvPr>
          <p:cNvPicPr>
            <a:picLocks noChangeAspect="1"/>
          </p:cNvPicPr>
          <p:nvPr/>
        </p:nvPicPr>
        <p:blipFill>
          <a:blip r:embed="rId5"/>
          <a:stretch>
            <a:fillRect/>
          </a:stretch>
        </p:blipFill>
        <p:spPr>
          <a:xfrm>
            <a:off x="0" y="0"/>
            <a:ext cx="12191695" cy="6858000"/>
          </a:xfrm>
          <a:prstGeom prst="rect">
            <a:avLst/>
          </a:prstGeom>
        </p:spPr>
      </p:pic>
      <p:pic>
        <p:nvPicPr>
          <p:cNvPr id="7" name="anim-g5-1013" descr="C:\Users\user\projects\younes-training\turath\.pptx-cache\s140-5.jpg">    </p:cNvPr>
          <p:cNvPicPr>
            <a:picLocks noChangeAspect="1"/>
          </p:cNvPicPr>
          <p:nvPr/>
        </p:nvPicPr>
        <p:blipFill>
          <a:blip r:embed="rId6"/>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Image 0" descr="C:\Users\user\projects\younes-training\turath\.pptx-cache\s141-0.jpg">    </p:cNvPr>
          <p:cNvPicPr>
            <a:picLocks noChangeAspect="1"/>
          </p:cNvPicPr>
          <p:nvPr/>
        </p:nvPicPr>
        <p:blipFill>
          <a:blip r:embed="rId1"/>
          <a:stretch>
            <a:fillRect/>
          </a:stretch>
        </p:blipFill>
        <p:spPr>
          <a:xfrm>
            <a:off x="0" y="0"/>
            <a:ext cx="12191695" cy="6858000"/>
          </a:xfrm>
          <a:prstGeom prst="rect">
            <a:avLst/>
          </a:prstGeom>
        </p:spPr>
      </p:pic>
      <p:pic>
        <p:nvPicPr>
          <p:cNvPr id="3" name="anim-g1-1014" descr="C:\Users\user\projects\younes-training\turath\.pptx-cache\s141-1.jpg">    </p:cNvPr>
          <p:cNvPicPr>
            <a:picLocks noChangeAspect="1"/>
          </p:cNvPicPr>
          <p:nvPr/>
        </p:nvPicPr>
        <p:blipFill>
          <a:blip r:embed="rId2"/>
          <a:stretch>
            <a:fillRect/>
          </a:stretch>
        </p:blipFill>
        <p:spPr>
          <a:xfrm>
            <a:off x="0" y="0"/>
            <a:ext cx="12191695" cy="6858000"/>
          </a:xfrm>
          <a:prstGeom prst="rect">
            <a:avLst/>
          </a:prstGeom>
        </p:spPr>
      </p:pic>
      <p:pic>
        <p:nvPicPr>
          <p:cNvPr id="4" name="anim-g2-1015" descr="C:\Users\user\projects\younes-training\turath\.pptx-cache\s141-2.jpg">    </p:cNvPr>
          <p:cNvPicPr>
            <a:picLocks noChangeAspect="1"/>
          </p:cNvPicPr>
          <p:nvPr/>
        </p:nvPicPr>
        <p:blipFill>
          <a:blip r:embed="rId3"/>
          <a:stretch>
            <a:fillRect/>
          </a:stretch>
        </p:blipFill>
        <p:spPr>
          <a:xfrm>
            <a:off x="0" y="0"/>
            <a:ext cx="12191695" cy="6858000"/>
          </a:xfrm>
          <a:prstGeom prst="rect">
            <a:avLst/>
          </a:prstGeom>
        </p:spPr>
      </p:pic>
      <p:pic>
        <p:nvPicPr>
          <p:cNvPr id="5" name="anim-g3-1016" descr="C:\Users\user\projects\younes-training\turath\.pptx-cache\s141-3.jpg">    </p:cNvPr>
          <p:cNvPicPr>
            <a:picLocks noChangeAspect="1"/>
          </p:cNvPicPr>
          <p:nvPr/>
        </p:nvPicPr>
        <p:blipFill>
          <a:blip r:embed="rId4"/>
          <a:stretch>
            <a:fillRect/>
          </a:stretch>
        </p:blipFill>
        <p:spPr>
          <a:xfrm>
            <a:off x="0" y="0"/>
            <a:ext cx="12191695" cy="6858000"/>
          </a:xfrm>
          <a:prstGeom prst="rect">
            <a:avLst/>
          </a:prstGeom>
        </p:spPr>
      </p:pic>
      <p:pic>
        <p:nvPicPr>
          <p:cNvPr id="6" name="anim-g4-1017" descr="C:\Users\user\projects\younes-training\turath\.pptx-cache\s141-4.jpg">    </p:cNvPr>
          <p:cNvPicPr>
            <a:picLocks noChangeAspect="1"/>
          </p:cNvPicPr>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Image 0" descr="C:\Users\user\projects\younes-training\turath\.pptx-cache\s142-0.jpg">    </p:cNvPr>
          <p:cNvPicPr>
            <a:picLocks noChangeAspect="1"/>
          </p:cNvPicPr>
          <p:nvPr/>
        </p:nvPicPr>
        <p:blipFill>
          <a:blip r:embed="rId1"/>
          <a:stretch>
            <a:fillRect/>
          </a:stretch>
        </p:blipFill>
        <p:spPr>
          <a:xfrm>
            <a:off x="0" y="0"/>
            <a:ext cx="12191695" cy="6858000"/>
          </a:xfrm>
          <a:prstGeom prst="rect">
            <a:avLst/>
          </a:prstGeom>
        </p:spPr>
      </p:pic>
      <p:pic>
        <p:nvPicPr>
          <p:cNvPr id="3" name="anim-g1-1018" descr="C:\Users\user\projects\younes-training\turath\.pptx-cache\s142-1.jpg">    </p:cNvPr>
          <p:cNvPicPr>
            <a:picLocks noChangeAspect="1"/>
          </p:cNvPicPr>
          <p:nvPr/>
        </p:nvPicPr>
        <p:blipFill>
          <a:blip r:embed="rId2"/>
          <a:stretch>
            <a:fillRect/>
          </a:stretch>
        </p:blipFill>
        <p:spPr>
          <a:xfrm>
            <a:off x="0" y="0"/>
            <a:ext cx="12191695" cy="6858000"/>
          </a:xfrm>
          <a:prstGeom prst="rect">
            <a:avLst/>
          </a:prstGeom>
        </p:spPr>
      </p:pic>
      <p:pic>
        <p:nvPicPr>
          <p:cNvPr id="4" name="anim-g2-1019" descr="C:\Users\user\projects\younes-training\turath\.pptx-cache\s142-2.jpg">    </p:cNvPr>
          <p:cNvPicPr>
            <a:picLocks noChangeAspect="1"/>
          </p:cNvPicPr>
          <p:nvPr/>
        </p:nvPicPr>
        <p:blipFill>
          <a:blip r:embed="rId3"/>
          <a:stretch>
            <a:fillRect/>
          </a:stretch>
        </p:blipFill>
        <p:spPr>
          <a:xfrm>
            <a:off x="0" y="0"/>
            <a:ext cx="12191695" cy="6858000"/>
          </a:xfrm>
          <a:prstGeom prst="rect">
            <a:avLst/>
          </a:prstGeom>
        </p:spPr>
      </p:pic>
      <p:pic>
        <p:nvPicPr>
          <p:cNvPr id="5" name="anim-g3-1020" descr="C:\Users\user\projects\younes-training\turath\.pptx-cache\s142-3.jpg">    </p:cNvPr>
          <p:cNvPicPr>
            <a:picLocks noChangeAspect="1"/>
          </p:cNvPicPr>
          <p:nvPr/>
        </p:nvPicPr>
        <p:blipFill>
          <a:blip r:embed="rId4"/>
          <a:stretch>
            <a:fillRect/>
          </a:stretch>
        </p:blipFill>
        <p:spPr>
          <a:xfrm>
            <a:off x="0" y="0"/>
            <a:ext cx="12191695" cy="6858000"/>
          </a:xfrm>
          <a:prstGeom prst="rect">
            <a:avLst/>
          </a:prstGeom>
        </p:spPr>
      </p:pic>
      <p:pic>
        <p:nvPicPr>
          <p:cNvPr id="6" name="anim-g4-1021" descr="C:\Users\user\projects\younes-training\turath\.pptx-cache\s142-4.jpg">    </p:cNvPr>
          <p:cNvPicPr>
            <a:picLocks noChangeAspect="1"/>
          </p:cNvPicPr>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3.xml><?xml version="1.0" encoding="utf-8"?>
<p:sld xmlns:a="http://schemas.openxmlformats.org/drawingml/2006/main" xmlns:r="http://schemas.openxmlformats.org/officeDocument/2006/relationships" xmlns:p="http://schemas.openxmlformats.org/presentationml/2006/main">
  <p:cSld name="Slide 1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881567" y="457200"/>
            <a:ext cx="2487168" cy="457200"/>
          </a:xfrm>
          <a:prstGeom prst="roundRect">
            <a:avLst>
              <a:gd name="adj" fmla="val 50000"/>
            </a:avLst>
          </a:prstGeom>
          <a:solidFill>
            <a:srgbClr val="F6EBCF"/>
          </a:solidFill>
          <a:ln/>
        </p:spPr>
      </p:sp>
      <p:sp>
        <p:nvSpPr>
          <p:cNvPr id="3" name="Text 1"/>
          <p:cNvSpPr/>
          <p:nvPr/>
        </p:nvSpPr>
        <p:spPr>
          <a:xfrm>
            <a:off x="8881567" y="45720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اختبر نفسك</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المحطة ترسل لكن السيارة لا تستقبل شيئًا. ما أول ما تفحصه؟</a:t>
            </a:r>
            <a:endParaRPr lang="ar-SA" sz="3200" dirty="0"/>
          </a:p>
        </p:txBody>
      </p:sp>
      <p:sp>
        <p:nvSpPr>
          <p:cNvPr id="5" name="Shape 3"/>
          <p:cNvSpPr/>
          <p:nvPr/>
        </p:nvSpPr>
        <p:spPr>
          <a:xfrm>
            <a:off x="822960" y="2057400"/>
            <a:ext cx="10545775" cy="1228344"/>
          </a:xfrm>
          <a:prstGeom prst="roundRect">
            <a:avLst>
              <a:gd name="adj" fmla="val 11911"/>
            </a:avLst>
          </a:prstGeom>
          <a:solidFill>
            <a:srgbClr val="FFFFFF"/>
          </a:solidFill>
          <a:ln w="19050">
            <a:solidFill>
              <a:srgbClr val="E4DCC8"/>
            </a:solidFill>
            <a:prstDash val="solid"/>
          </a:ln>
        </p:spPr>
      </p:sp>
      <p:sp>
        <p:nvSpPr>
          <p:cNvPr id="6" name="Shape 4"/>
          <p:cNvSpPr/>
          <p:nvPr/>
        </p:nvSpPr>
        <p:spPr>
          <a:xfrm>
            <a:off x="10231831" y="2194560"/>
            <a:ext cx="954024" cy="954024"/>
          </a:xfrm>
          <a:prstGeom prst="roundRect">
            <a:avLst>
              <a:gd name="adj" fmla="val 11502"/>
            </a:avLst>
          </a:prstGeom>
          <a:solidFill>
            <a:srgbClr val="101B45"/>
          </a:solidFill>
          <a:ln/>
        </p:spPr>
      </p:sp>
      <p:sp>
        <p:nvSpPr>
          <p:cNvPr id="7" name="Text 5"/>
          <p:cNvSpPr/>
          <p:nvPr/>
        </p:nvSpPr>
        <p:spPr>
          <a:xfrm>
            <a:off x="10231831" y="2194560"/>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8" name="Text 6"/>
          <p:cNvSpPr/>
          <p:nvPr/>
        </p:nvSpPr>
        <p:spPr>
          <a:xfrm>
            <a:off x="1097280" y="2057400"/>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البطارية</a:t>
            </a:r>
            <a:endParaRPr lang="ar-SA" sz="2500" dirty="0"/>
          </a:p>
        </p:txBody>
      </p:sp>
      <p:sp>
        <p:nvSpPr>
          <p:cNvPr id="9" name="anim-g1-1022"/>
          <p:cNvSpPr/>
          <p:nvPr/>
        </p:nvSpPr>
        <p:spPr>
          <a:xfrm>
            <a:off x="822960" y="2057400"/>
            <a:ext cx="10545775" cy="1228344"/>
          </a:xfrm>
          <a:prstGeom prst="roundRect">
            <a:avLst>
              <a:gd name="adj" fmla="val 11911"/>
            </a:avLst>
          </a:prstGeom>
          <a:solidFill>
            <a:srgbClr val="F7F7F9"/>
          </a:solidFill>
          <a:ln w="19050">
            <a:solidFill>
              <a:srgbClr val="E4DCC8"/>
            </a:solidFill>
            <a:prstDash val="solid"/>
          </a:ln>
        </p:spPr>
      </p:sp>
      <p:sp>
        <p:nvSpPr>
          <p:cNvPr id="10" name="anim-g1-1023"/>
          <p:cNvSpPr/>
          <p:nvPr/>
        </p:nvSpPr>
        <p:spPr>
          <a:xfrm>
            <a:off x="10231831" y="2194560"/>
            <a:ext cx="954024" cy="954024"/>
          </a:xfrm>
          <a:prstGeom prst="roundRect">
            <a:avLst>
              <a:gd name="adj" fmla="val 11502"/>
            </a:avLst>
          </a:prstGeom>
          <a:solidFill>
            <a:srgbClr val="A3A9BA"/>
          </a:solidFill>
          <a:ln/>
        </p:spPr>
      </p:sp>
      <p:sp>
        <p:nvSpPr>
          <p:cNvPr id="11" name="anim-g1-1024"/>
          <p:cNvSpPr/>
          <p:nvPr/>
        </p:nvSpPr>
        <p:spPr>
          <a:xfrm>
            <a:off x="10231831" y="2194560"/>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12" name="anim-g1-1025"/>
          <p:cNvSpPr/>
          <p:nvPr/>
        </p:nvSpPr>
        <p:spPr>
          <a:xfrm>
            <a:off x="1097280" y="2093976"/>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8A90A3"/>
                </a:solidFill>
                <a:latin typeface="Cairo" pitchFamily="34" charset="0"/>
                <a:ea typeface="Cairo" pitchFamily="34" charset="-122"/>
                <a:cs typeface="Cairo" pitchFamily="34" charset="-120"/>
              </a:rPr>
              <a:t>البطارية</a:t>
            </a:r>
            <a:endParaRPr lang="ar-SA" sz="2400" dirty="0"/>
          </a:p>
        </p:txBody>
      </p:sp>
      <p:sp>
        <p:nvSpPr>
          <p:cNvPr id="13" name="anim-g1-1026"/>
          <p:cNvSpPr/>
          <p:nvPr/>
        </p:nvSpPr>
        <p:spPr>
          <a:xfrm>
            <a:off x="1097280" y="2720706"/>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ممكن، لكن السيارة تعمل وتضيء</a:t>
            </a:r>
            <a:endParaRPr lang="ar-SA" sz="1800" dirty="0"/>
          </a:p>
        </p:txBody>
      </p:sp>
      <p:sp>
        <p:nvSpPr>
          <p:cNvPr id="14" name="Shape 12"/>
          <p:cNvSpPr/>
          <p:nvPr/>
        </p:nvSpPr>
        <p:spPr>
          <a:xfrm>
            <a:off x="822960" y="3432048"/>
            <a:ext cx="10545775" cy="1228344"/>
          </a:xfrm>
          <a:prstGeom prst="roundRect">
            <a:avLst>
              <a:gd name="adj" fmla="val 11911"/>
            </a:avLst>
          </a:prstGeom>
          <a:solidFill>
            <a:srgbClr val="FFFFFF"/>
          </a:solidFill>
          <a:ln w="19050">
            <a:solidFill>
              <a:srgbClr val="E4DCC8"/>
            </a:solidFill>
            <a:prstDash val="solid"/>
          </a:ln>
        </p:spPr>
      </p:sp>
      <p:sp>
        <p:nvSpPr>
          <p:cNvPr id="15" name="Shape 13"/>
          <p:cNvSpPr/>
          <p:nvPr/>
        </p:nvSpPr>
        <p:spPr>
          <a:xfrm>
            <a:off x="10231831" y="3569208"/>
            <a:ext cx="954024" cy="954024"/>
          </a:xfrm>
          <a:prstGeom prst="roundRect">
            <a:avLst>
              <a:gd name="adj" fmla="val 11502"/>
            </a:avLst>
          </a:prstGeom>
          <a:solidFill>
            <a:srgbClr val="101B45"/>
          </a:solidFill>
          <a:ln/>
        </p:spPr>
      </p:sp>
      <p:sp>
        <p:nvSpPr>
          <p:cNvPr id="16" name="Text 14"/>
          <p:cNvSpPr/>
          <p:nvPr/>
        </p:nvSpPr>
        <p:spPr>
          <a:xfrm>
            <a:off x="10231831" y="3569208"/>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17" name="Text 15"/>
          <p:cNvSpPr/>
          <p:nvPr/>
        </p:nvSpPr>
        <p:spPr>
          <a:xfrm>
            <a:off x="1097280" y="3432048"/>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عنوان MAC للسيارة في كود المحطة</a:t>
            </a:r>
            <a:endParaRPr lang="ar-SA" sz="2500" dirty="0"/>
          </a:p>
        </p:txBody>
      </p:sp>
      <p:sp>
        <p:nvSpPr>
          <p:cNvPr id="18" name="anim-g1-1027"/>
          <p:cNvSpPr/>
          <p:nvPr/>
        </p:nvSpPr>
        <p:spPr>
          <a:xfrm>
            <a:off x="822960" y="3432048"/>
            <a:ext cx="10545775" cy="1228344"/>
          </a:xfrm>
          <a:prstGeom prst="roundRect">
            <a:avLst>
              <a:gd name="adj" fmla="val 11911"/>
            </a:avLst>
          </a:prstGeom>
          <a:solidFill>
            <a:srgbClr val="E6F4EC"/>
          </a:solidFill>
          <a:ln w="31750">
            <a:solidFill>
              <a:srgbClr val="2E9E6B"/>
            </a:solidFill>
            <a:prstDash val="solid"/>
          </a:ln>
        </p:spPr>
      </p:sp>
      <p:sp>
        <p:nvSpPr>
          <p:cNvPr id="19" name="anim-g1-1028"/>
          <p:cNvSpPr/>
          <p:nvPr/>
        </p:nvSpPr>
        <p:spPr>
          <a:xfrm>
            <a:off x="10231831" y="3569208"/>
            <a:ext cx="954024" cy="954024"/>
          </a:xfrm>
          <a:prstGeom prst="roundRect">
            <a:avLst>
              <a:gd name="adj" fmla="val 11502"/>
            </a:avLst>
          </a:prstGeom>
          <a:solidFill>
            <a:srgbClr val="2E9E6B"/>
          </a:solidFill>
          <a:ln/>
        </p:spPr>
      </p:sp>
      <p:sp>
        <p:nvSpPr>
          <p:cNvPr id="20" name="anim-g1-1029"/>
          <p:cNvSpPr/>
          <p:nvPr/>
        </p:nvSpPr>
        <p:spPr>
          <a:xfrm>
            <a:off x="10231831" y="3569208"/>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a:t>
            </a:r>
            <a:endParaRPr lang="ar-SA" sz="2400" dirty="0"/>
          </a:p>
        </p:txBody>
      </p:sp>
      <p:sp>
        <p:nvSpPr>
          <p:cNvPr id="21" name="anim-g1-1030"/>
          <p:cNvSpPr/>
          <p:nvPr/>
        </p:nvSpPr>
        <p:spPr>
          <a:xfrm>
            <a:off x="1097280" y="3468624"/>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131B34"/>
                </a:solidFill>
                <a:latin typeface="Cairo" pitchFamily="34" charset="0"/>
                <a:ea typeface="Cairo" pitchFamily="34" charset="-122"/>
                <a:cs typeface="Cairo" pitchFamily="34" charset="-120"/>
              </a:rPr>
              <a:t>عنوان MAC للسيارة في كود المحطة</a:t>
            </a:r>
            <a:endParaRPr lang="ar-SA" sz="2400" dirty="0"/>
          </a:p>
        </p:txBody>
      </p:sp>
      <p:sp>
        <p:nvSpPr>
          <p:cNvPr id="22" name="anim-g1-1031"/>
          <p:cNvSpPr/>
          <p:nvPr/>
        </p:nvSpPr>
        <p:spPr>
          <a:xfrm>
            <a:off x="1097280" y="4095354"/>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1D5E40"/>
                </a:solidFill>
                <a:latin typeface="Cairo" pitchFamily="34" charset="0"/>
                <a:ea typeface="Cairo" pitchFamily="34" charset="-122"/>
                <a:cs typeface="Cairo" pitchFamily="34" charset="-120"/>
              </a:rPr>
              <a:t>صحيح: حرف واحد خطأ في العنوان يكفي لضياع كل الرسائل</a:t>
            </a:r>
            <a:endParaRPr lang="ar-SA" sz="1800" dirty="0"/>
          </a:p>
        </p:txBody>
      </p:sp>
      <p:sp>
        <p:nvSpPr>
          <p:cNvPr id="23" name="Shape 21"/>
          <p:cNvSpPr/>
          <p:nvPr/>
        </p:nvSpPr>
        <p:spPr>
          <a:xfrm>
            <a:off x="822960" y="4806696"/>
            <a:ext cx="10545775" cy="1228344"/>
          </a:xfrm>
          <a:prstGeom prst="roundRect">
            <a:avLst>
              <a:gd name="adj" fmla="val 11911"/>
            </a:avLst>
          </a:prstGeom>
          <a:solidFill>
            <a:srgbClr val="FFFFFF"/>
          </a:solidFill>
          <a:ln w="19050">
            <a:solidFill>
              <a:srgbClr val="E4DCC8"/>
            </a:solidFill>
            <a:prstDash val="solid"/>
          </a:ln>
        </p:spPr>
      </p:sp>
      <p:sp>
        <p:nvSpPr>
          <p:cNvPr id="24" name="Shape 22"/>
          <p:cNvSpPr/>
          <p:nvPr/>
        </p:nvSpPr>
        <p:spPr>
          <a:xfrm>
            <a:off x="10231831" y="4943856"/>
            <a:ext cx="954024" cy="954024"/>
          </a:xfrm>
          <a:prstGeom prst="roundRect">
            <a:avLst>
              <a:gd name="adj" fmla="val 11502"/>
            </a:avLst>
          </a:prstGeom>
          <a:solidFill>
            <a:srgbClr val="101B45"/>
          </a:solidFill>
          <a:ln/>
        </p:spPr>
      </p:sp>
      <p:sp>
        <p:nvSpPr>
          <p:cNvPr id="25" name="Text 23"/>
          <p:cNvSpPr/>
          <p:nvPr/>
        </p:nvSpPr>
        <p:spPr>
          <a:xfrm>
            <a:off x="10231831" y="4943856"/>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26" name="Text 24"/>
          <p:cNvSpPr/>
          <p:nvPr/>
        </p:nvSpPr>
        <p:spPr>
          <a:xfrm>
            <a:off x="1097280" y="4806696"/>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شاشة LCD</a:t>
            </a:r>
            <a:endParaRPr lang="ar-SA" sz="2500" dirty="0"/>
          </a:p>
        </p:txBody>
      </p:sp>
      <p:sp>
        <p:nvSpPr>
          <p:cNvPr id="27" name="anim-g1-1032"/>
          <p:cNvSpPr/>
          <p:nvPr/>
        </p:nvSpPr>
        <p:spPr>
          <a:xfrm>
            <a:off x="822960" y="4806696"/>
            <a:ext cx="10545775" cy="1228344"/>
          </a:xfrm>
          <a:prstGeom prst="roundRect">
            <a:avLst>
              <a:gd name="adj" fmla="val 11911"/>
            </a:avLst>
          </a:prstGeom>
          <a:solidFill>
            <a:srgbClr val="F7F7F9"/>
          </a:solidFill>
          <a:ln w="19050">
            <a:solidFill>
              <a:srgbClr val="E4DCC8"/>
            </a:solidFill>
            <a:prstDash val="solid"/>
          </a:ln>
        </p:spPr>
      </p:sp>
      <p:sp>
        <p:nvSpPr>
          <p:cNvPr id="28" name="anim-g1-1033"/>
          <p:cNvSpPr/>
          <p:nvPr/>
        </p:nvSpPr>
        <p:spPr>
          <a:xfrm>
            <a:off x="10231831" y="4943856"/>
            <a:ext cx="954024" cy="954024"/>
          </a:xfrm>
          <a:prstGeom prst="roundRect">
            <a:avLst>
              <a:gd name="adj" fmla="val 11502"/>
            </a:avLst>
          </a:prstGeom>
          <a:solidFill>
            <a:srgbClr val="A3A9BA"/>
          </a:solidFill>
          <a:ln/>
        </p:spPr>
      </p:sp>
      <p:sp>
        <p:nvSpPr>
          <p:cNvPr id="29" name="anim-g1-1034"/>
          <p:cNvSpPr/>
          <p:nvPr/>
        </p:nvSpPr>
        <p:spPr>
          <a:xfrm>
            <a:off x="10231831" y="4943856"/>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30" name="anim-g1-1035"/>
          <p:cNvSpPr/>
          <p:nvPr/>
        </p:nvSpPr>
        <p:spPr>
          <a:xfrm>
            <a:off x="1097280" y="4843272"/>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8A90A3"/>
                </a:solidFill>
                <a:latin typeface="Cairo" pitchFamily="34" charset="0"/>
                <a:ea typeface="Cairo" pitchFamily="34" charset="-122"/>
                <a:cs typeface="Cairo" pitchFamily="34" charset="-120"/>
              </a:rPr>
              <a:t>شاشة LCD</a:t>
            </a:r>
            <a:endParaRPr lang="ar-SA" sz="2400" dirty="0"/>
          </a:p>
        </p:txBody>
      </p:sp>
      <p:sp>
        <p:nvSpPr>
          <p:cNvPr id="31" name="anim-g1-1036"/>
          <p:cNvSpPr/>
          <p:nvPr/>
        </p:nvSpPr>
        <p:spPr>
          <a:xfrm>
            <a:off x="1097280" y="5470002"/>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الشاشة لا علاقة لها بالإرسال</a:t>
            </a:r>
            <a:endParaRPr lang="ar-SA" sz="1800" dirty="0"/>
          </a:p>
        </p:txBody>
      </p:sp>
      <p:sp>
        <p:nvSpPr>
          <p:cNvPr id="32" name="Text 3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33" name="Text 3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ESP-NOW  ·  ١٤٣</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Lst>
  </p:timing>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Image 0" descr="C:\Users\user\projects\younes-training\turath\.pptx-cache\s144.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خلاصة المحور</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rtl="1"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ستة أرقام عنوانًا، وصندوق صغير رسالةً: والسيارة تسمع المحطة من آخر الساحة</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لمسة تراث</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 ESP-NOW  ·  ١٤٥</a:t>
            </a:r>
            <a:endParaRPr lang="ar-SA" sz="1200"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097280" y="2103120"/>
            <a:ext cx="2651760" cy="2651760"/>
          </a:xfrm>
          <a:prstGeom prst="ellipse">
            <a:avLst/>
          </a:prstGeom>
          <a:solidFill>
            <a:srgbClr val="D9AE4B">
              <a:alpha val="12000"/>
            </a:srgbClr>
          </a:solidFill>
          <a:ln w="63500">
            <a:solidFill>
              <a:srgbClr val="D9AE4B">
                <a:alpha val="60000"/>
              </a:srgbClr>
            </a:solidFill>
            <a:prstDash val="solid"/>
          </a:ln>
        </p:spPr>
      </p:sp>
      <p:sp>
        <p:nvSpPr>
          <p:cNvPr id="3" name="Text 1"/>
          <p:cNvSpPr/>
          <p:nvPr/>
        </p:nvSpPr>
        <p:spPr>
          <a:xfrm>
            <a:off x="1097280" y="2103120"/>
            <a:ext cx="2651760" cy="2651760"/>
          </a:xfrm>
          <a:prstGeom prst="rect">
            <a:avLst/>
          </a:prstGeom>
          <a:noFill/>
          <a:ln/>
        </p:spPr>
        <p:txBody>
          <a:bodyPr wrap="square" lIns="0" tIns="0" rIns="0" bIns="0" rtlCol="0" anchor="ctr">
            <a:normAutofit/>
          </a:bodyPr>
          <a:lstStyle/>
          <a:p>
            <a:pPr rtl="1" algn="ctr" indent="0" marL="0">
              <a:buNone/>
            </a:pPr>
            <a:r>
              <a:rPr lang="ar-SA" altLang="en-US" sz="12000" dirty="0">
                <a:solidFill>
                  <a:srgbClr val="F0CC7A"/>
                </a:solidFill>
                <a:latin typeface="Cairo Black" pitchFamily="34" charset="0"/>
                <a:ea typeface="Cairo Black" pitchFamily="34" charset="-122"/>
                <a:cs typeface="Cairo Black" pitchFamily="34" charset="-120"/>
              </a:rPr>
              <a:t>١٤</a:t>
            </a:r>
            <a:endParaRPr lang="ar-SA" sz="12000" dirty="0"/>
          </a:p>
        </p:txBody>
      </p:sp>
      <p:sp>
        <p:nvSpPr>
          <p:cNvPr id="4" name="Text 2"/>
          <p:cNvSpPr/>
          <p:nvPr/>
        </p:nvSpPr>
        <p:spPr>
          <a:xfrm>
            <a:off x="4206240" y="1828800"/>
            <a:ext cx="7162495" cy="457200"/>
          </a:xfrm>
          <a:prstGeom prst="rect">
            <a:avLst/>
          </a:prstGeom>
          <a:noFill/>
          <a:ln/>
        </p:spPr>
        <p:txBody>
          <a:bodyPr wrap="square" lIns="0" tIns="0" rIns="0" bIns="0" rtlCol="0" anchor="ctr">
            <a:normAutofit/>
          </a:bodyPr>
          <a:lstStyle/>
          <a:p>
            <a:pPr rtl="1" algn="r" indent="0" marL="0">
              <a:buNone/>
            </a:pPr>
            <a:r>
              <a:rPr lang="ar-SA" altLang="en-US" sz="2000" b="1" dirty="0">
                <a:solidFill>
                  <a:srgbClr val="D9AE4B"/>
                </a:solidFill>
                <a:latin typeface="Cairo" pitchFamily="34" charset="0"/>
                <a:ea typeface="Cairo" pitchFamily="34" charset="-122"/>
                <a:cs typeface="Cairo" pitchFamily="34" charset="-120"/>
              </a:rPr>
              <a:t>المحور ١٤</a:t>
            </a:r>
            <a:endParaRPr lang="ar-SA" sz="2000" dirty="0"/>
          </a:p>
        </p:txBody>
      </p:sp>
      <p:sp>
        <p:nvSpPr>
          <p:cNvPr id="5" name="Text 3"/>
          <p:cNvSpPr/>
          <p:nvPr/>
        </p:nvSpPr>
        <p:spPr>
          <a:xfrm>
            <a:off x="4206240" y="2286000"/>
            <a:ext cx="7162495" cy="1371600"/>
          </a:xfrm>
          <a:prstGeom prst="rect">
            <a:avLst/>
          </a:prstGeom>
          <a:noFill/>
          <a:ln/>
        </p:spPr>
        <p:txBody>
          <a:bodyPr wrap="square" lIns="0" tIns="0" rIns="0" bIns="0" rtlCol="0" anchor="ctr">
            <a:normAutofit/>
          </a:bodyPr>
          <a:lstStyle/>
          <a:p>
            <a:pPr rtl="1" algn="r" indent="0" marL="0">
              <a:buNone/>
            </a:pPr>
            <a:r>
              <a:rPr lang="ar-SA" altLang="en-US" sz="5600" dirty="0">
                <a:solidFill>
                  <a:srgbClr val="FFFFFF"/>
                </a:solidFill>
                <a:latin typeface="Cairo Black" pitchFamily="34" charset="0"/>
                <a:ea typeface="Cairo Black" pitchFamily="34" charset="-122"/>
                <a:cs typeface="Cairo Black" pitchFamily="34" charset="-120"/>
              </a:rPr>
              <a:t>🧠 روبوت يتخذ القرار</a:t>
            </a:r>
            <a:endParaRPr lang="ar-SA" sz="5600" dirty="0"/>
          </a:p>
        </p:txBody>
      </p:sp>
      <p:sp>
        <p:nvSpPr>
          <p:cNvPr id="6" name="Text 4"/>
          <p:cNvSpPr/>
          <p:nvPr/>
        </p:nvSpPr>
        <p:spPr>
          <a:xfrm>
            <a:off x="4206240" y="3749040"/>
            <a:ext cx="7162495" cy="822960"/>
          </a:xfrm>
          <a:prstGeom prst="rect">
            <a:avLst/>
          </a:prstGeom>
          <a:noFill/>
          <a:ln/>
        </p:spPr>
        <p:txBody>
          <a:bodyPr wrap="square" lIns="0" tIns="0" rIns="0" bIns="0" rtlCol="0" anchor="ctr">
            <a:normAutofit/>
          </a:bodyPr>
          <a:lstStyle/>
          <a:p>
            <a:pPr rtl="1" algn="r" indent="0" marL="0">
              <a:buNone/>
            </a:pPr>
            <a:r>
              <a:rPr lang="ar-SA" altLang="en-US" sz="2200" b="1" dirty="0">
                <a:solidFill>
                  <a:srgbClr val="C9CFE6"/>
                </a:solidFill>
                <a:latin typeface="Cairo" pitchFamily="34" charset="0"/>
                <a:ea typeface="Cairo" pitchFamily="34" charset="-122"/>
                <a:cs typeface="Cairo" pitchFamily="34" charset="-120"/>
              </a:rPr>
              <a:t>نار هنا… وغاز هناك. إلى أين أذهب أولًا؟</a:t>
            </a:r>
            <a:endParaRPr lang="ar-SA" sz="2200" dirty="0"/>
          </a:p>
        </p:txBody>
      </p:sp>
      <p:sp>
        <p:nvSpPr>
          <p:cNvPr id="7" name="Text 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لمسة تراث</a:t>
            </a:r>
            <a:endParaRPr lang="ar-SA" sz="1200" dirty="0"/>
          </a:p>
        </p:txBody>
      </p:sp>
      <p:sp>
        <p:nvSpPr>
          <p:cNvPr id="8" name="Text 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 القرار  ·  ١٤٦</a:t>
            </a:r>
            <a:endParaRPr lang="ar-SA" sz="1200"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248095" y="457200"/>
            <a:ext cx="5120640" cy="457200"/>
          </a:xfrm>
          <a:prstGeom prst="roundRect">
            <a:avLst>
              <a:gd name="adj" fmla="val 50000"/>
            </a:avLst>
          </a:prstGeom>
          <a:solidFill>
            <a:srgbClr val="F6EBCF"/>
          </a:solidFill>
          <a:ln/>
        </p:spPr>
      </p:sp>
      <p:sp>
        <p:nvSpPr>
          <p:cNvPr id="3" name="Text 1"/>
          <p:cNvSpPr/>
          <p:nvPr/>
        </p:nvSpPr>
        <p:spPr>
          <a:xfrm>
            <a:off x="6248095" y="457200"/>
            <a:ext cx="512064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بنهاية هذا المحور تستطيع أن</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أهداف المحور</a:t>
            </a:r>
            <a:endParaRPr lang="ar-SA" sz="3800" dirty="0"/>
          </a:p>
        </p:txBody>
      </p:sp>
      <p:sp>
        <p:nvSpPr>
          <p:cNvPr id="5" name="anim-g1-1037"/>
          <p:cNvSpPr/>
          <p:nvPr/>
        </p:nvSpPr>
        <p:spPr>
          <a:xfrm>
            <a:off x="822960" y="1920240"/>
            <a:ext cx="10545775" cy="946404"/>
          </a:xfrm>
          <a:prstGeom prst="roundRect">
            <a:avLst>
              <a:gd name="adj" fmla="val 15459"/>
            </a:avLst>
          </a:prstGeom>
          <a:solidFill>
            <a:srgbClr val="FFFFFF"/>
          </a:solidFill>
          <a:ln w="12700">
            <a:solidFill>
              <a:srgbClr val="E4DCC8"/>
            </a:solidFill>
            <a:prstDash val="solid"/>
          </a:ln>
        </p:spPr>
      </p:sp>
      <p:sp>
        <p:nvSpPr>
          <p:cNvPr id="6" name="anim-g1-1038"/>
          <p:cNvSpPr/>
          <p:nvPr/>
        </p:nvSpPr>
        <p:spPr>
          <a:xfrm>
            <a:off x="10573207" y="2109978"/>
            <a:ext cx="566928" cy="566928"/>
          </a:xfrm>
          <a:prstGeom prst="ellipse">
            <a:avLst/>
          </a:prstGeom>
          <a:solidFill>
            <a:srgbClr val="D9AE4B"/>
          </a:solidFill>
          <a:ln/>
        </p:spPr>
      </p:sp>
      <p:sp>
        <p:nvSpPr>
          <p:cNvPr id="7" name="anim-g1-1039"/>
          <p:cNvSpPr/>
          <p:nvPr/>
        </p:nvSpPr>
        <p:spPr>
          <a:xfrm>
            <a:off x="10573207" y="2109978"/>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١</a:t>
            </a:r>
            <a:endParaRPr lang="ar-SA" sz="2000" dirty="0"/>
          </a:p>
        </p:txBody>
      </p:sp>
      <p:sp>
        <p:nvSpPr>
          <p:cNvPr id="8" name="anim-g1-1040"/>
          <p:cNvSpPr/>
          <p:nvPr/>
        </p:nvSpPr>
        <p:spPr>
          <a:xfrm>
            <a:off x="1097280" y="1920240"/>
            <a:ext cx="9247327" cy="946404"/>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تفسّر لماذا نحوّل الخطر إلى نسبة</a:t>
            </a:r>
            <a:endParaRPr lang="ar-SA" sz="2400" dirty="0"/>
          </a:p>
        </p:txBody>
      </p:sp>
      <p:sp>
        <p:nvSpPr>
          <p:cNvPr id="9" name="anim-g2-1041"/>
          <p:cNvSpPr/>
          <p:nvPr/>
        </p:nvSpPr>
        <p:spPr>
          <a:xfrm>
            <a:off x="822960" y="2976372"/>
            <a:ext cx="10545775" cy="946404"/>
          </a:xfrm>
          <a:prstGeom prst="roundRect">
            <a:avLst>
              <a:gd name="adj" fmla="val 15459"/>
            </a:avLst>
          </a:prstGeom>
          <a:solidFill>
            <a:srgbClr val="FFFFFF"/>
          </a:solidFill>
          <a:ln w="12700">
            <a:solidFill>
              <a:srgbClr val="E4DCC8"/>
            </a:solidFill>
            <a:prstDash val="solid"/>
          </a:ln>
        </p:spPr>
      </p:sp>
      <p:sp>
        <p:nvSpPr>
          <p:cNvPr id="10" name="anim-g2-1042"/>
          <p:cNvSpPr/>
          <p:nvPr/>
        </p:nvSpPr>
        <p:spPr>
          <a:xfrm>
            <a:off x="10573207" y="3166110"/>
            <a:ext cx="566928" cy="566928"/>
          </a:xfrm>
          <a:prstGeom prst="ellipse">
            <a:avLst/>
          </a:prstGeom>
          <a:solidFill>
            <a:srgbClr val="D9AE4B"/>
          </a:solidFill>
          <a:ln/>
        </p:spPr>
      </p:sp>
      <p:sp>
        <p:nvSpPr>
          <p:cNvPr id="11" name="anim-g2-1043"/>
          <p:cNvSpPr/>
          <p:nvPr/>
        </p:nvSpPr>
        <p:spPr>
          <a:xfrm>
            <a:off x="10573207" y="3166110"/>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٢</a:t>
            </a:r>
            <a:endParaRPr lang="ar-SA" sz="2000" dirty="0"/>
          </a:p>
        </p:txBody>
      </p:sp>
      <p:sp>
        <p:nvSpPr>
          <p:cNvPr id="12" name="anim-g2-1044"/>
          <p:cNvSpPr/>
          <p:nvPr/>
        </p:nvSpPr>
        <p:spPr>
          <a:xfrm>
            <a:off x="1097280" y="2976372"/>
            <a:ext cx="9247327" cy="946404"/>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تكتب قرار التزامن: الأعلى نسبة أولًا</a:t>
            </a:r>
            <a:endParaRPr lang="ar-SA" sz="2400" dirty="0"/>
          </a:p>
        </p:txBody>
      </p:sp>
      <p:sp>
        <p:nvSpPr>
          <p:cNvPr id="13" name="anim-g3-1045"/>
          <p:cNvSpPr/>
          <p:nvPr/>
        </p:nvSpPr>
        <p:spPr>
          <a:xfrm>
            <a:off x="822960" y="4032504"/>
            <a:ext cx="10545775" cy="946404"/>
          </a:xfrm>
          <a:prstGeom prst="roundRect">
            <a:avLst>
              <a:gd name="adj" fmla="val 15459"/>
            </a:avLst>
          </a:prstGeom>
          <a:solidFill>
            <a:srgbClr val="FFFFFF"/>
          </a:solidFill>
          <a:ln w="12700">
            <a:solidFill>
              <a:srgbClr val="E4DCC8"/>
            </a:solidFill>
            <a:prstDash val="solid"/>
          </a:ln>
        </p:spPr>
      </p:sp>
      <p:sp>
        <p:nvSpPr>
          <p:cNvPr id="14" name="anim-g3-1046"/>
          <p:cNvSpPr/>
          <p:nvPr/>
        </p:nvSpPr>
        <p:spPr>
          <a:xfrm>
            <a:off x="10573207" y="4222242"/>
            <a:ext cx="566928" cy="566928"/>
          </a:xfrm>
          <a:prstGeom prst="ellipse">
            <a:avLst/>
          </a:prstGeom>
          <a:solidFill>
            <a:srgbClr val="D9AE4B"/>
          </a:solidFill>
          <a:ln/>
        </p:spPr>
      </p:sp>
      <p:sp>
        <p:nvSpPr>
          <p:cNvPr id="15" name="anim-g3-1047"/>
          <p:cNvSpPr/>
          <p:nvPr/>
        </p:nvSpPr>
        <p:spPr>
          <a:xfrm>
            <a:off x="10573207" y="4222242"/>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٣</a:t>
            </a:r>
            <a:endParaRPr lang="ar-SA" sz="2000" dirty="0"/>
          </a:p>
        </p:txBody>
      </p:sp>
      <p:sp>
        <p:nvSpPr>
          <p:cNvPr id="16" name="anim-g3-1048"/>
          <p:cNvSpPr/>
          <p:nvPr/>
        </p:nvSpPr>
        <p:spPr>
          <a:xfrm>
            <a:off x="1097280" y="4032504"/>
            <a:ext cx="9247327" cy="946404"/>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تبني قرارًا يختار الحدث الأخطر</a:t>
            </a:r>
            <a:endParaRPr lang="ar-SA" sz="2400" dirty="0"/>
          </a:p>
        </p:txBody>
      </p:sp>
      <p:sp>
        <p:nvSpPr>
          <p:cNvPr id="17" name="anim-g4-1049"/>
          <p:cNvSpPr/>
          <p:nvPr/>
        </p:nvSpPr>
        <p:spPr>
          <a:xfrm>
            <a:off x="822960" y="5088636"/>
            <a:ext cx="10545775" cy="946404"/>
          </a:xfrm>
          <a:prstGeom prst="roundRect">
            <a:avLst>
              <a:gd name="adj" fmla="val 15459"/>
            </a:avLst>
          </a:prstGeom>
          <a:solidFill>
            <a:srgbClr val="FFFFFF"/>
          </a:solidFill>
          <a:ln w="12700">
            <a:solidFill>
              <a:srgbClr val="E4DCC8"/>
            </a:solidFill>
            <a:prstDash val="solid"/>
          </a:ln>
        </p:spPr>
      </p:sp>
      <p:sp>
        <p:nvSpPr>
          <p:cNvPr id="18" name="anim-g4-1050"/>
          <p:cNvSpPr/>
          <p:nvPr/>
        </p:nvSpPr>
        <p:spPr>
          <a:xfrm>
            <a:off x="10573207" y="5278374"/>
            <a:ext cx="566928" cy="566928"/>
          </a:xfrm>
          <a:prstGeom prst="ellipse">
            <a:avLst/>
          </a:prstGeom>
          <a:solidFill>
            <a:srgbClr val="D9AE4B"/>
          </a:solidFill>
          <a:ln/>
        </p:spPr>
      </p:sp>
      <p:sp>
        <p:nvSpPr>
          <p:cNvPr id="19" name="anim-g4-1051"/>
          <p:cNvSpPr/>
          <p:nvPr/>
        </p:nvSpPr>
        <p:spPr>
          <a:xfrm>
            <a:off x="10573207" y="5278374"/>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٤</a:t>
            </a:r>
            <a:endParaRPr lang="ar-SA" sz="2000" dirty="0"/>
          </a:p>
        </p:txBody>
      </p:sp>
      <p:sp>
        <p:nvSpPr>
          <p:cNvPr id="20" name="anim-g4-1052"/>
          <p:cNvSpPr/>
          <p:nvPr/>
        </p:nvSpPr>
        <p:spPr>
          <a:xfrm>
            <a:off x="1097280" y="5088636"/>
            <a:ext cx="9247327" cy="946404"/>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تناقش أخلاقيات قرار الآلة</a:t>
            </a:r>
            <a:endParaRPr lang="ar-SA" sz="2400" dirty="0"/>
          </a:p>
        </p:txBody>
      </p:sp>
      <p:sp>
        <p:nvSpPr>
          <p:cNvPr id="21" name="Text 19"/>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2" name="Text 20"/>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القرار  ·  ١٤٧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148.xml><?xml version="1.0" encoding="utf-8"?>
<p:sld xmlns:a="http://schemas.openxmlformats.org/drawingml/2006/main" xmlns:r="http://schemas.openxmlformats.org/officeDocument/2006/relationships" xmlns:p="http://schemas.openxmlformats.org/presentationml/2006/main">
  <p:cSld name="Slide 14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613087" y="457200"/>
            <a:ext cx="1755648" cy="457200"/>
          </a:xfrm>
          <a:prstGeom prst="roundRect">
            <a:avLst>
              <a:gd name="adj" fmla="val 50000"/>
            </a:avLst>
          </a:prstGeom>
          <a:solidFill>
            <a:srgbClr val="F6EBCF"/>
          </a:solidFill>
          <a:ln/>
        </p:spPr>
      </p:sp>
      <p:sp>
        <p:nvSpPr>
          <p:cNvPr id="3" name="Text 1"/>
          <p:cNvSpPr/>
          <p:nvPr/>
        </p:nvSpPr>
        <p:spPr>
          <a:xfrm>
            <a:off x="9613087" y="457200"/>
            <a:ext cx="175564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نقاش</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لو كنت أنت قائد فرقة الإطفاء…</a:t>
            </a:r>
            <a:endParaRPr lang="ar-SA" sz="3800" dirty="0"/>
          </a:p>
        </p:txBody>
      </p:sp>
      <p:sp>
        <p:nvSpPr>
          <p:cNvPr id="5" name="anim-g1-1053"/>
          <p:cNvSpPr/>
          <p:nvPr/>
        </p:nvSpPr>
        <p:spPr>
          <a:xfrm>
            <a:off x="8036357"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1054"/>
          <p:cNvSpPr/>
          <p:nvPr/>
        </p:nvSpPr>
        <p:spPr>
          <a:xfrm>
            <a:off x="10527487" y="2267712"/>
            <a:ext cx="566928" cy="566928"/>
          </a:xfrm>
          <a:prstGeom prst="roundRect">
            <a:avLst>
              <a:gd name="adj" fmla="val 32258"/>
            </a:avLst>
          </a:prstGeom>
          <a:solidFill>
            <a:srgbClr val="F7E6BC"/>
          </a:solidFill>
          <a:ln/>
        </p:spPr>
      </p:sp>
      <p:sp>
        <p:nvSpPr>
          <p:cNvPr id="7" name="anim-g1-1055"/>
          <p:cNvSpPr/>
          <p:nvPr/>
        </p:nvSpPr>
        <p:spPr>
          <a:xfrm>
            <a:off x="10527487"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1056"/>
          <p:cNvSpPr/>
          <p:nvPr/>
        </p:nvSpPr>
        <p:spPr>
          <a:xfrm>
            <a:off x="8310677"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لهب صغير</a:t>
            </a:r>
            <a:endParaRPr lang="ar-SA" sz="2200" dirty="0"/>
          </a:p>
        </p:txBody>
      </p:sp>
      <p:sp>
        <p:nvSpPr>
          <p:cNvPr id="9" name="anim-g1-1057"/>
          <p:cNvSpPr/>
          <p:nvPr/>
        </p:nvSpPr>
        <p:spPr>
          <a:xfrm>
            <a:off x="8310677"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في البرج الغربي، قرب أبواب خشبية قديمة</a:t>
            </a:r>
            <a:endParaRPr lang="ar-SA" sz="1900" dirty="0"/>
          </a:p>
        </p:txBody>
      </p:sp>
      <p:sp>
        <p:nvSpPr>
          <p:cNvPr id="10" name="anim-g2-1058"/>
          <p:cNvSpPr/>
          <p:nvPr/>
        </p:nvSpPr>
        <p:spPr>
          <a:xfrm>
            <a:off x="4429658"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1059"/>
          <p:cNvSpPr/>
          <p:nvPr/>
        </p:nvSpPr>
        <p:spPr>
          <a:xfrm>
            <a:off x="6920789" y="2267712"/>
            <a:ext cx="566928" cy="566928"/>
          </a:xfrm>
          <a:prstGeom prst="roundRect">
            <a:avLst>
              <a:gd name="adj" fmla="val 32258"/>
            </a:avLst>
          </a:prstGeom>
          <a:solidFill>
            <a:srgbClr val="F7E6BC"/>
          </a:solidFill>
          <a:ln/>
        </p:spPr>
      </p:sp>
      <p:sp>
        <p:nvSpPr>
          <p:cNvPr id="12" name="anim-g2-1060"/>
          <p:cNvSpPr/>
          <p:nvPr/>
        </p:nvSpPr>
        <p:spPr>
          <a:xfrm>
            <a:off x="6920789"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1061"/>
          <p:cNvSpPr/>
          <p:nvPr/>
        </p:nvSpPr>
        <p:spPr>
          <a:xfrm>
            <a:off x="4703978"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غاز كثيف</a:t>
            </a:r>
            <a:endParaRPr lang="ar-SA" sz="2200" dirty="0"/>
          </a:p>
        </p:txBody>
      </p:sp>
      <p:sp>
        <p:nvSpPr>
          <p:cNvPr id="14" name="anim-g2-1062"/>
          <p:cNvSpPr/>
          <p:nvPr/>
        </p:nvSpPr>
        <p:spPr>
          <a:xfrm>
            <a:off x="4703978"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في مخزن الحطب، القراءة ٣٥٠٠ من ٤٠٩٥</a:t>
            </a:r>
            <a:endParaRPr lang="ar-SA" sz="1900" dirty="0"/>
          </a:p>
        </p:txBody>
      </p:sp>
      <p:sp>
        <p:nvSpPr>
          <p:cNvPr id="15" name="anim-g3-1063"/>
          <p:cNvSpPr/>
          <p:nvPr/>
        </p:nvSpPr>
        <p:spPr>
          <a:xfrm>
            <a:off x="822960"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1064"/>
          <p:cNvSpPr/>
          <p:nvPr/>
        </p:nvSpPr>
        <p:spPr>
          <a:xfrm>
            <a:off x="3314090" y="2267712"/>
            <a:ext cx="566928" cy="566928"/>
          </a:xfrm>
          <a:prstGeom prst="roundRect">
            <a:avLst>
              <a:gd name="adj" fmla="val 32258"/>
            </a:avLst>
          </a:prstGeom>
          <a:solidFill>
            <a:srgbClr val="F7E6BC"/>
          </a:solidFill>
          <a:ln/>
        </p:spPr>
      </p:sp>
      <p:sp>
        <p:nvSpPr>
          <p:cNvPr id="17" name="anim-g3-1065"/>
          <p:cNvSpPr/>
          <p:nvPr/>
        </p:nvSpPr>
        <p:spPr>
          <a:xfrm>
            <a:off x="3314090"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1066"/>
          <p:cNvSpPr/>
          <p:nvPr/>
        </p:nvSpPr>
        <p:spPr>
          <a:xfrm>
            <a:off x="1097280"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قرارك؟</a:t>
            </a:r>
            <a:endParaRPr lang="ar-SA" sz="2200" dirty="0"/>
          </a:p>
        </p:txBody>
      </p:sp>
      <p:sp>
        <p:nvSpPr>
          <p:cNvPr id="19" name="anim-g3-1067"/>
          <p:cNvSpPr/>
          <p:nvPr/>
        </p:nvSpPr>
        <p:spPr>
          <a:xfrm>
            <a:off x="1097280"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إلى أين تذهب أولًا؟ ولماذا؟ وكيف تجعل الروبوت يفكر مثلك؟</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القرار  ·  ١٤٨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149.xml><?xml version="1.0" encoding="utf-8"?>
<p:sld xmlns:a="http://schemas.openxmlformats.org/drawingml/2006/main" xmlns:r="http://schemas.openxmlformats.org/officeDocument/2006/relationships" xmlns:p="http://schemas.openxmlformats.org/presentationml/2006/main">
  <p:cSld name="Slide 14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881567" y="457200"/>
            <a:ext cx="2487168" cy="457200"/>
          </a:xfrm>
          <a:prstGeom prst="roundRect">
            <a:avLst>
              <a:gd name="adj" fmla="val 50000"/>
            </a:avLst>
          </a:prstGeom>
          <a:solidFill>
            <a:srgbClr val="F6EBCF"/>
          </a:solidFill>
          <a:ln/>
        </p:spPr>
      </p:sp>
      <p:sp>
        <p:nvSpPr>
          <p:cNvPr id="3" name="Text 1"/>
          <p:cNvSpPr/>
          <p:nvPr/>
        </p:nvSpPr>
        <p:spPr>
          <a:xfrm>
            <a:off x="8881567" y="45720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قاعدة الفريق</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نسبتان… وقرار واحد</a:t>
            </a:r>
            <a:endParaRPr lang="ar-SA" sz="3800" dirty="0"/>
          </a:p>
        </p:txBody>
      </p:sp>
      <p:sp>
        <p:nvSpPr>
          <p:cNvPr id="5" name="anim-g1-1068"/>
          <p:cNvSpPr/>
          <p:nvPr/>
        </p:nvSpPr>
        <p:spPr>
          <a:xfrm>
            <a:off x="8036357"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1069"/>
          <p:cNvSpPr/>
          <p:nvPr/>
        </p:nvSpPr>
        <p:spPr>
          <a:xfrm>
            <a:off x="10527487" y="2267712"/>
            <a:ext cx="566928" cy="566928"/>
          </a:xfrm>
          <a:prstGeom prst="roundRect">
            <a:avLst>
              <a:gd name="adj" fmla="val 32258"/>
            </a:avLst>
          </a:prstGeom>
          <a:solidFill>
            <a:srgbClr val="F7E6BC"/>
          </a:solidFill>
          <a:ln/>
        </p:spPr>
      </p:sp>
      <p:sp>
        <p:nvSpPr>
          <p:cNvPr id="7" name="anim-g1-1070"/>
          <p:cNvSpPr/>
          <p:nvPr/>
        </p:nvSpPr>
        <p:spPr>
          <a:xfrm>
            <a:off x="10527487"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1071"/>
          <p:cNvSpPr/>
          <p:nvPr/>
        </p:nvSpPr>
        <p:spPr>
          <a:xfrm>
            <a:off x="8310677"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حريق وحده</a:t>
            </a:r>
            <a:endParaRPr lang="ar-SA" sz="2200" dirty="0"/>
          </a:p>
        </p:txBody>
      </p:sp>
      <p:sp>
        <p:nvSpPr>
          <p:cNvPr id="9" name="anim-g1-1072"/>
          <p:cNvSpPr/>
          <p:nvPr/>
        </p:nvSpPr>
        <p:spPr>
          <a:xfrm>
            <a:off x="8310677"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الروبوت الأول يتوجه إليه فورًا، والثاني يبقى حارسًا</a:t>
            </a:r>
            <a:endParaRPr lang="ar-SA" sz="1900" dirty="0"/>
          </a:p>
        </p:txBody>
      </p:sp>
      <p:sp>
        <p:nvSpPr>
          <p:cNvPr id="10" name="anim-g2-1073"/>
          <p:cNvSpPr/>
          <p:nvPr/>
        </p:nvSpPr>
        <p:spPr>
          <a:xfrm>
            <a:off x="4429658"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1074"/>
          <p:cNvSpPr/>
          <p:nvPr/>
        </p:nvSpPr>
        <p:spPr>
          <a:xfrm>
            <a:off x="6920789" y="2267712"/>
            <a:ext cx="566928" cy="566928"/>
          </a:xfrm>
          <a:prstGeom prst="roundRect">
            <a:avLst>
              <a:gd name="adj" fmla="val 32258"/>
            </a:avLst>
          </a:prstGeom>
          <a:solidFill>
            <a:srgbClr val="F7E6BC"/>
          </a:solidFill>
          <a:ln/>
        </p:spPr>
      </p:sp>
      <p:sp>
        <p:nvSpPr>
          <p:cNvPr id="12" name="anim-g2-1075"/>
          <p:cNvSpPr/>
          <p:nvPr/>
        </p:nvSpPr>
        <p:spPr>
          <a:xfrm>
            <a:off x="6920789"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1076"/>
          <p:cNvSpPr/>
          <p:nvPr/>
        </p:nvSpPr>
        <p:spPr>
          <a:xfrm>
            <a:off x="4703978"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غاز وحده</a:t>
            </a:r>
            <a:endParaRPr lang="ar-SA" sz="2200" dirty="0"/>
          </a:p>
        </p:txBody>
      </p:sp>
      <p:sp>
        <p:nvSpPr>
          <p:cNvPr id="14" name="anim-g2-1077"/>
          <p:cNvSpPr/>
          <p:nvPr/>
        </p:nvSpPr>
        <p:spPr>
          <a:xfrm>
            <a:off x="4703978"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الروبوت الأول يتوجه إليه فورًا، والثاني يبقى حارسًا</a:t>
            </a:r>
            <a:endParaRPr lang="ar-SA" sz="1900" dirty="0"/>
          </a:p>
        </p:txBody>
      </p:sp>
      <p:sp>
        <p:nvSpPr>
          <p:cNvPr id="15" name="anim-g3-1078"/>
          <p:cNvSpPr/>
          <p:nvPr/>
        </p:nvSpPr>
        <p:spPr>
          <a:xfrm>
            <a:off x="822960"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1079"/>
          <p:cNvSpPr/>
          <p:nvPr/>
        </p:nvSpPr>
        <p:spPr>
          <a:xfrm>
            <a:off x="3314090" y="2267712"/>
            <a:ext cx="566928" cy="566928"/>
          </a:xfrm>
          <a:prstGeom prst="roundRect">
            <a:avLst>
              <a:gd name="adj" fmla="val 32258"/>
            </a:avLst>
          </a:prstGeom>
          <a:solidFill>
            <a:srgbClr val="F7E6BC"/>
          </a:solidFill>
          <a:ln/>
        </p:spPr>
      </p:sp>
      <p:sp>
        <p:nvSpPr>
          <p:cNvPr id="17" name="anim-g3-1080"/>
          <p:cNvSpPr/>
          <p:nvPr/>
        </p:nvSpPr>
        <p:spPr>
          <a:xfrm>
            <a:off x="3314090"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1081"/>
          <p:cNvSpPr/>
          <p:nvPr/>
        </p:nvSpPr>
        <p:spPr>
          <a:xfrm>
            <a:off x="1097280"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الاثنان معًا</a:t>
            </a:r>
            <a:endParaRPr lang="ar-SA" sz="2200" dirty="0"/>
          </a:p>
        </p:txBody>
      </p:sp>
      <p:sp>
        <p:nvSpPr>
          <p:cNvPr id="19" name="anim-g3-1082"/>
          <p:cNvSpPr/>
          <p:nvPr/>
        </p:nvSpPr>
        <p:spPr>
          <a:xfrm>
            <a:off x="1097280"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الأول يقارن النسبتين ويذهب إلى الأخطر، ويبلغ الثاني ليتجه إلى الأقل خطورة</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القرار  ·  ١٤٩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Image 0" descr="C:\Users\user\projects\younes-training\turath\.pptx-cache\s150.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Image 0" descr="C:\Users\user\projects\younes-training\turath\.pptx-cache\s151-0.jpg">    </p:cNvPr>
          <p:cNvPicPr>
            <a:picLocks noChangeAspect="1"/>
          </p:cNvPicPr>
          <p:nvPr/>
        </p:nvPicPr>
        <p:blipFill>
          <a:blip r:embed="rId1"/>
          <a:stretch>
            <a:fillRect/>
          </a:stretch>
        </p:blipFill>
        <p:spPr>
          <a:xfrm>
            <a:off x="0" y="0"/>
            <a:ext cx="12191695" cy="6858000"/>
          </a:xfrm>
          <a:prstGeom prst="rect">
            <a:avLst/>
          </a:prstGeom>
        </p:spPr>
      </p:pic>
      <p:pic>
        <p:nvPicPr>
          <p:cNvPr id="3" name="anim-g1-1083" descr="C:\Users\user\projects\younes-training\turath\.pptx-cache\s151-1.jpg">    </p:cNvPr>
          <p:cNvPicPr>
            <a:picLocks noChangeAspect="1"/>
          </p:cNvPicPr>
          <p:nvPr/>
        </p:nvPicPr>
        <p:blipFill>
          <a:blip r:embed="rId2"/>
          <a:stretch>
            <a:fillRect/>
          </a:stretch>
        </p:blipFill>
        <p:spPr>
          <a:xfrm>
            <a:off x="0" y="0"/>
            <a:ext cx="12191695" cy="6858000"/>
          </a:xfrm>
          <a:prstGeom prst="rect">
            <a:avLst/>
          </a:prstGeom>
        </p:spPr>
      </p:pic>
      <p:pic>
        <p:nvPicPr>
          <p:cNvPr id="4" name="anim-g2-1084" descr="C:\Users\user\projects\younes-training\turath\.pptx-cache\s151-2.jpg">    </p:cNvPr>
          <p:cNvPicPr>
            <a:picLocks noChangeAspect="1"/>
          </p:cNvPicPr>
          <p:nvPr/>
        </p:nvPicPr>
        <p:blipFill>
          <a:blip r:embed="rId3"/>
          <a:stretch>
            <a:fillRect/>
          </a:stretch>
        </p:blipFill>
        <p:spPr>
          <a:xfrm>
            <a:off x="0" y="0"/>
            <a:ext cx="12191695" cy="6858000"/>
          </a:xfrm>
          <a:prstGeom prst="rect">
            <a:avLst/>
          </a:prstGeom>
        </p:spPr>
      </p:pic>
      <p:pic>
        <p:nvPicPr>
          <p:cNvPr id="5" name="anim-g3-1085" descr="C:\Users\user\projects\younes-training\turath\.pptx-cache\s151-3.jpg">    </p:cNvPr>
          <p:cNvPicPr>
            <a:picLocks noChangeAspect="1"/>
          </p:cNvPicPr>
          <p:nvPr/>
        </p:nvPicPr>
        <p:blipFill>
          <a:blip r:embed="rId4"/>
          <a:stretch>
            <a:fillRect/>
          </a:stretch>
        </p:blipFill>
        <p:spPr>
          <a:xfrm>
            <a:off x="0" y="0"/>
            <a:ext cx="12191695" cy="6858000"/>
          </a:xfrm>
          <a:prstGeom prst="rect">
            <a:avLst/>
          </a:prstGeom>
        </p:spPr>
      </p:pic>
      <p:pic>
        <p:nvPicPr>
          <p:cNvPr id="6" name="anim-g4-1086" descr="C:\Users\user\projects\younes-training\turath\.pptx-cache\s151-4.jpg">    </p:cNvPr>
          <p:cNvPicPr>
            <a:picLocks noChangeAspect="1"/>
          </p:cNvPicPr>
          <p:nvPr/>
        </p:nvPicPr>
        <p:blipFill>
          <a:blip r:embed="rId5"/>
          <a:stretch>
            <a:fillRect/>
          </a:stretch>
        </p:blipFill>
        <p:spPr>
          <a:xfrm>
            <a:off x="0" y="0"/>
            <a:ext cx="12191695" cy="6858000"/>
          </a:xfrm>
          <a:prstGeom prst="rect">
            <a:avLst/>
          </a:prstGeom>
        </p:spPr>
      </p:pic>
      <p:pic>
        <p:nvPicPr>
          <p:cNvPr id="7" name="anim-g5-1087" descr="C:\Users\user\projects\younes-training\turath\.pptx-cache\s151-5.jpg">    </p:cNvPr>
          <p:cNvPicPr>
            <a:picLocks noChangeAspect="1"/>
          </p:cNvPicPr>
          <p:nvPr/>
        </p:nvPicPr>
        <p:blipFill>
          <a:blip r:embed="rId6"/>
          <a:stretch>
            <a:fillRect/>
          </a:stretch>
        </p:blipFill>
        <p:spPr>
          <a:xfrm>
            <a:off x="0" y="0"/>
            <a:ext cx="12191695" cy="6858000"/>
          </a:xfrm>
          <a:prstGeom prst="rect">
            <a:avLst/>
          </a:prstGeom>
        </p:spPr>
      </p:pic>
      <p:pic>
        <p:nvPicPr>
          <p:cNvPr id="8" name="anim-g6-1088" descr="C:\Users\user\projects\younes-training\turath\.pptx-cache\s151-6.jpg">    </p:cNvPr>
          <p:cNvPicPr>
            <a:picLocks noChangeAspect="1"/>
          </p:cNvPicPr>
          <p:nvPr/>
        </p:nvPicPr>
        <p:blipFill>
          <a:blip r:embed="rId7"/>
          <a:stretch>
            <a:fillRect/>
          </a:stretch>
        </p:blipFill>
        <p:spPr>
          <a:xfrm>
            <a:off x="0" y="0"/>
            <a:ext cx="12191695" cy="6858000"/>
          </a:xfrm>
          <a:prstGeom prst="rect">
            <a:avLst/>
          </a:prstGeom>
        </p:spPr>
      </p:pic>
      <p:pic>
        <p:nvPicPr>
          <p:cNvPr id="9" name="anim-g7-1089" descr="C:\Users\user\projects\younes-training\turath\.pptx-cache\s151-7.jpg">    </p:cNvPr>
          <p:cNvPicPr>
            <a:picLocks noChangeAspect="1"/>
          </p:cNvPicPr>
          <p:nvPr/>
        </p:nvPicPr>
        <p:blipFill>
          <a:blip r:embed="rId8"/>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fade">
                                      <p:cBhvr>
                                        <p:cTn id="37"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Image 0" descr="C:\Users\user\projects\younes-training\turath\.pptx-cache\s152-0.jpg">    </p:cNvPr>
          <p:cNvPicPr>
            <a:picLocks noChangeAspect="1"/>
          </p:cNvPicPr>
          <p:nvPr/>
        </p:nvPicPr>
        <p:blipFill>
          <a:blip r:embed="rId1"/>
          <a:stretch>
            <a:fillRect/>
          </a:stretch>
        </p:blipFill>
        <p:spPr>
          <a:xfrm>
            <a:off x="0" y="0"/>
            <a:ext cx="12191695" cy="6858000"/>
          </a:xfrm>
          <a:prstGeom prst="rect">
            <a:avLst/>
          </a:prstGeom>
        </p:spPr>
      </p:pic>
      <p:pic>
        <p:nvPicPr>
          <p:cNvPr id="3" name="anim-g1-1090" descr="C:\Users\user\projects\younes-training\turath\.pptx-cache\s152-1.jpg">    </p:cNvPr>
          <p:cNvPicPr>
            <a:picLocks noChangeAspect="1"/>
          </p:cNvPicPr>
          <p:nvPr/>
        </p:nvPicPr>
        <p:blipFill>
          <a:blip r:embed="rId2"/>
          <a:stretch>
            <a:fillRect/>
          </a:stretch>
        </p:blipFill>
        <p:spPr>
          <a:xfrm>
            <a:off x="0" y="0"/>
            <a:ext cx="12191695" cy="6858000"/>
          </a:xfrm>
          <a:prstGeom prst="rect">
            <a:avLst/>
          </a:prstGeom>
        </p:spPr>
      </p:pic>
      <p:pic>
        <p:nvPicPr>
          <p:cNvPr id="4" name="anim-g2-1091" descr="C:\Users\user\projects\younes-training\turath\.pptx-cache\s152-2.jpg">    </p:cNvPr>
          <p:cNvPicPr>
            <a:picLocks noChangeAspect="1"/>
          </p:cNvPicPr>
          <p:nvPr/>
        </p:nvPicPr>
        <p:blipFill>
          <a:blip r:embed="rId3"/>
          <a:stretch>
            <a:fillRect/>
          </a:stretch>
        </p:blipFill>
        <p:spPr>
          <a:xfrm>
            <a:off x="0" y="0"/>
            <a:ext cx="12191695" cy="6858000"/>
          </a:xfrm>
          <a:prstGeom prst="rect">
            <a:avLst/>
          </a:prstGeom>
        </p:spPr>
      </p:pic>
      <p:pic>
        <p:nvPicPr>
          <p:cNvPr id="5" name="anim-g3-1092" descr="C:\Users\user\projects\younes-training\turath\.pptx-cache\s152-3.jpg">    </p:cNvPr>
          <p:cNvPicPr>
            <a:picLocks noChangeAspect="1"/>
          </p:cNvPicPr>
          <p:nvPr/>
        </p:nvPicPr>
        <p:blipFill>
          <a:blip r:embed="rId4"/>
          <a:stretch>
            <a:fillRect/>
          </a:stretch>
        </p:blipFill>
        <p:spPr>
          <a:xfrm>
            <a:off x="0" y="0"/>
            <a:ext cx="12191695" cy="6858000"/>
          </a:xfrm>
          <a:prstGeom prst="rect">
            <a:avLst/>
          </a:prstGeom>
        </p:spPr>
      </p:pic>
      <p:pic>
        <p:nvPicPr>
          <p:cNvPr id="6" name="anim-g4-1093" descr="C:\Users\user\projects\younes-training\turath\.pptx-cache\s152-4.jpg">    </p:cNvPr>
          <p:cNvPicPr>
            <a:picLocks noChangeAspect="1"/>
          </p:cNvPicPr>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3.xml><?xml version="1.0" encoding="utf-8"?>
<p:sld xmlns:a="http://schemas.openxmlformats.org/drawingml/2006/main" xmlns:r="http://schemas.openxmlformats.org/officeDocument/2006/relationships" xmlns:p="http://schemas.openxmlformats.org/presentationml/2006/main">
  <p:cSld name="Slide 15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881567" y="457200"/>
            <a:ext cx="2487168" cy="457200"/>
          </a:xfrm>
          <a:prstGeom prst="roundRect">
            <a:avLst>
              <a:gd name="adj" fmla="val 50000"/>
            </a:avLst>
          </a:prstGeom>
          <a:solidFill>
            <a:srgbClr val="F6EBCF"/>
          </a:solidFill>
          <a:ln/>
        </p:spPr>
      </p:sp>
      <p:sp>
        <p:nvSpPr>
          <p:cNvPr id="3" name="Text 1"/>
          <p:cNvSpPr/>
          <p:nvPr/>
        </p:nvSpPr>
        <p:spPr>
          <a:xfrm>
            <a:off x="8881567" y="45720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اختبر نفسك</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الحريق ٦٠٪ والغاز ٩٠٪ في اللحظة نفسها. ماذا يفعل الروبوتان؟</a:t>
            </a:r>
            <a:endParaRPr lang="ar-SA" sz="3200" dirty="0"/>
          </a:p>
        </p:txBody>
      </p:sp>
      <p:sp>
        <p:nvSpPr>
          <p:cNvPr id="5" name="Shape 3"/>
          <p:cNvSpPr/>
          <p:nvPr/>
        </p:nvSpPr>
        <p:spPr>
          <a:xfrm>
            <a:off x="822960" y="2057400"/>
            <a:ext cx="10545775" cy="1228344"/>
          </a:xfrm>
          <a:prstGeom prst="roundRect">
            <a:avLst>
              <a:gd name="adj" fmla="val 11911"/>
            </a:avLst>
          </a:prstGeom>
          <a:solidFill>
            <a:srgbClr val="FFFFFF"/>
          </a:solidFill>
          <a:ln w="19050">
            <a:solidFill>
              <a:srgbClr val="E4DCC8"/>
            </a:solidFill>
            <a:prstDash val="solid"/>
          </a:ln>
        </p:spPr>
      </p:sp>
      <p:sp>
        <p:nvSpPr>
          <p:cNvPr id="6" name="Shape 4"/>
          <p:cNvSpPr/>
          <p:nvPr/>
        </p:nvSpPr>
        <p:spPr>
          <a:xfrm>
            <a:off x="10231831" y="2194560"/>
            <a:ext cx="954024" cy="954024"/>
          </a:xfrm>
          <a:prstGeom prst="roundRect">
            <a:avLst>
              <a:gd name="adj" fmla="val 11502"/>
            </a:avLst>
          </a:prstGeom>
          <a:solidFill>
            <a:srgbClr val="101B45"/>
          </a:solidFill>
          <a:ln/>
        </p:spPr>
      </p:sp>
      <p:sp>
        <p:nvSpPr>
          <p:cNvPr id="7" name="Text 5"/>
          <p:cNvSpPr/>
          <p:nvPr/>
        </p:nvSpPr>
        <p:spPr>
          <a:xfrm>
            <a:off x="10231831" y="2194560"/>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8" name="Text 6"/>
          <p:cNvSpPr/>
          <p:nvPr/>
        </p:nvSpPr>
        <p:spPr>
          <a:xfrm>
            <a:off x="1097280" y="2057400"/>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الاثنان إلى الحريق لأن النار أخطر دائمًا</a:t>
            </a:r>
            <a:endParaRPr lang="ar-SA" sz="2500" dirty="0"/>
          </a:p>
        </p:txBody>
      </p:sp>
      <p:sp>
        <p:nvSpPr>
          <p:cNvPr id="9" name="anim-g1-1094"/>
          <p:cNvSpPr/>
          <p:nvPr/>
        </p:nvSpPr>
        <p:spPr>
          <a:xfrm>
            <a:off x="822960" y="2057400"/>
            <a:ext cx="10545775" cy="1228344"/>
          </a:xfrm>
          <a:prstGeom prst="roundRect">
            <a:avLst>
              <a:gd name="adj" fmla="val 11911"/>
            </a:avLst>
          </a:prstGeom>
          <a:solidFill>
            <a:srgbClr val="F7F7F9"/>
          </a:solidFill>
          <a:ln w="19050">
            <a:solidFill>
              <a:srgbClr val="E4DCC8"/>
            </a:solidFill>
            <a:prstDash val="solid"/>
          </a:ln>
        </p:spPr>
      </p:sp>
      <p:sp>
        <p:nvSpPr>
          <p:cNvPr id="10" name="anim-g1-1095"/>
          <p:cNvSpPr/>
          <p:nvPr/>
        </p:nvSpPr>
        <p:spPr>
          <a:xfrm>
            <a:off x="10231831" y="2194560"/>
            <a:ext cx="954024" cy="954024"/>
          </a:xfrm>
          <a:prstGeom prst="roundRect">
            <a:avLst>
              <a:gd name="adj" fmla="val 11502"/>
            </a:avLst>
          </a:prstGeom>
          <a:solidFill>
            <a:srgbClr val="A3A9BA"/>
          </a:solidFill>
          <a:ln/>
        </p:spPr>
      </p:sp>
      <p:sp>
        <p:nvSpPr>
          <p:cNvPr id="11" name="anim-g1-1096"/>
          <p:cNvSpPr/>
          <p:nvPr/>
        </p:nvSpPr>
        <p:spPr>
          <a:xfrm>
            <a:off x="10231831" y="2194560"/>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12" name="anim-g1-1097"/>
          <p:cNvSpPr/>
          <p:nvPr/>
        </p:nvSpPr>
        <p:spPr>
          <a:xfrm>
            <a:off x="1097280" y="2093976"/>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8A90A3"/>
                </a:solidFill>
                <a:latin typeface="Cairo" pitchFamily="34" charset="0"/>
                <a:ea typeface="Cairo" pitchFamily="34" charset="-122"/>
                <a:cs typeface="Cairo" pitchFamily="34" charset="-120"/>
              </a:rPr>
              <a:t>الاثنان إلى الحريق لأن النار أخطر دائمًا</a:t>
            </a:r>
            <a:endParaRPr lang="ar-SA" sz="2400" dirty="0"/>
          </a:p>
        </p:txBody>
      </p:sp>
      <p:sp>
        <p:nvSpPr>
          <p:cNvPr id="13" name="anim-g1-1098"/>
          <p:cNvSpPr/>
          <p:nvPr/>
        </p:nvSpPr>
        <p:spPr>
          <a:xfrm>
            <a:off x="1097280" y="2720706"/>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القاعدة تقارن النسبتين، ولا يذهب الاثنان إلى المكان نفسه</a:t>
            </a:r>
            <a:endParaRPr lang="ar-SA" sz="1800" dirty="0"/>
          </a:p>
        </p:txBody>
      </p:sp>
      <p:sp>
        <p:nvSpPr>
          <p:cNvPr id="14" name="Shape 12"/>
          <p:cNvSpPr/>
          <p:nvPr/>
        </p:nvSpPr>
        <p:spPr>
          <a:xfrm>
            <a:off x="822960" y="3432048"/>
            <a:ext cx="10545775" cy="1228344"/>
          </a:xfrm>
          <a:prstGeom prst="roundRect">
            <a:avLst>
              <a:gd name="adj" fmla="val 11911"/>
            </a:avLst>
          </a:prstGeom>
          <a:solidFill>
            <a:srgbClr val="FFFFFF"/>
          </a:solidFill>
          <a:ln w="19050">
            <a:solidFill>
              <a:srgbClr val="E4DCC8"/>
            </a:solidFill>
            <a:prstDash val="solid"/>
          </a:ln>
        </p:spPr>
      </p:sp>
      <p:sp>
        <p:nvSpPr>
          <p:cNvPr id="15" name="Shape 13"/>
          <p:cNvSpPr/>
          <p:nvPr/>
        </p:nvSpPr>
        <p:spPr>
          <a:xfrm>
            <a:off x="10231831" y="3569208"/>
            <a:ext cx="954024" cy="954024"/>
          </a:xfrm>
          <a:prstGeom prst="roundRect">
            <a:avLst>
              <a:gd name="adj" fmla="val 11502"/>
            </a:avLst>
          </a:prstGeom>
          <a:solidFill>
            <a:srgbClr val="101B45"/>
          </a:solidFill>
          <a:ln/>
        </p:spPr>
      </p:sp>
      <p:sp>
        <p:nvSpPr>
          <p:cNvPr id="16" name="Text 14"/>
          <p:cNvSpPr/>
          <p:nvPr/>
        </p:nvSpPr>
        <p:spPr>
          <a:xfrm>
            <a:off x="10231831" y="3569208"/>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17" name="Text 15"/>
          <p:cNvSpPr/>
          <p:nvPr/>
        </p:nvSpPr>
        <p:spPr>
          <a:xfrm>
            <a:off x="1097280" y="3432048"/>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الأول إلى الغاز (الأعلى نسبة)، ويبلغ الثاني ليتجه إلى الحريق</a:t>
            </a:r>
            <a:endParaRPr lang="ar-SA" sz="2500" dirty="0"/>
          </a:p>
        </p:txBody>
      </p:sp>
      <p:sp>
        <p:nvSpPr>
          <p:cNvPr id="18" name="anim-g1-1099"/>
          <p:cNvSpPr/>
          <p:nvPr/>
        </p:nvSpPr>
        <p:spPr>
          <a:xfrm>
            <a:off x="822960" y="3432048"/>
            <a:ext cx="10545775" cy="1228344"/>
          </a:xfrm>
          <a:prstGeom prst="roundRect">
            <a:avLst>
              <a:gd name="adj" fmla="val 11911"/>
            </a:avLst>
          </a:prstGeom>
          <a:solidFill>
            <a:srgbClr val="E6F4EC"/>
          </a:solidFill>
          <a:ln w="31750">
            <a:solidFill>
              <a:srgbClr val="2E9E6B"/>
            </a:solidFill>
            <a:prstDash val="solid"/>
          </a:ln>
        </p:spPr>
      </p:sp>
      <p:sp>
        <p:nvSpPr>
          <p:cNvPr id="19" name="anim-g1-1100"/>
          <p:cNvSpPr/>
          <p:nvPr/>
        </p:nvSpPr>
        <p:spPr>
          <a:xfrm>
            <a:off x="10231831" y="3569208"/>
            <a:ext cx="954024" cy="954024"/>
          </a:xfrm>
          <a:prstGeom prst="roundRect">
            <a:avLst>
              <a:gd name="adj" fmla="val 11502"/>
            </a:avLst>
          </a:prstGeom>
          <a:solidFill>
            <a:srgbClr val="2E9E6B"/>
          </a:solidFill>
          <a:ln/>
        </p:spPr>
      </p:sp>
      <p:sp>
        <p:nvSpPr>
          <p:cNvPr id="20" name="anim-g1-1101"/>
          <p:cNvSpPr/>
          <p:nvPr/>
        </p:nvSpPr>
        <p:spPr>
          <a:xfrm>
            <a:off x="10231831" y="3569208"/>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a:t>
            </a:r>
            <a:endParaRPr lang="ar-SA" sz="2400" dirty="0"/>
          </a:p>
        </p:txBody>
      </p:sp>
      <p:sp>
        <p:nvSpPr>
          <p:cNvPr id="21" name="anim-g1-1102"/>
          <p:cNvSpPr/>
          <p:nvPr/>
        </p:nvSpPr>
        <p:spPr>
          <a:xfrm>
            <a:off x="1097280" y="3468624"/>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131B34"/>
                </a:solidFill>
                <a:latin typeface="Cairo" pitchFamily="34" charset="0"/>
                <a:ea typeface="Cairo" pitchFamily="34" charset="-122"/>
                <a:cs typeface="Cairo" pitchFamily="34" charset="-120"/>
              </a:rPr>
              <a:t>الأول إلى الغاز (الأعلى نسبة)، ويبلغ الثاني ليتجه إلى الحريق</a:t>
            </a:r>
            <a:endParaRPr lang="ar-SA" sz="2400" dirty="0"/>
          </a:p>
        </p:txBody>
      </p:sp>
      <p:sp>
        <p:nvSpPr>
          <p:cNvPr id="22" name="anim-g1-1103"/>
          <p:cNvSpPr/>
          <p:nvPr/>
        </p:nvSpPr>
        <p:spPr>
          <a:xfrm>
            <a:off x="1097280" y="4095354"/>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1D5E40"/>
                </a:solidFill>
                <a:latin typeface="Cairo" pitchFamily="34" charset="0"/>
                <a:ea typeface="Cairo" pitchFamily="34" charset="-122"/>
                <a:cs typeface="Cairo" pitchFamily="34" charset="-120"/>
              </a:rPr>
              <a:t>صحيح: الأخطر للأول، والأقل للثاني… في اللحظة نفسها</a:t>
            </a:r>
            <a:endParaRPr lang="ar-SA" sz="1800" dirty="0"/>
          </a:p>
        </p:txBody>
      </p:sp>
      <p:sp>
        <p:nvSpPr>
          <p:cNvPr id="23" name="Shape 21"/>
          <p:cNvSpPr/>
          <p:nvPr/>
        </p:nvSpPr>
        <p:spPr>
          <a:xfrm>
            <a:off x="822960" y="4806696"/>
            <a:ext cx="10545775" cy="1228344"/>
          </a:xfrm>
          <a:prstGeom prst="roundRect">
            <a:avLst>
              <a:gd name="adj" fmla="val 11911"/>
            </a:avLst>
          </a:prstGeom>
          <a:solidFill>
            <a:srgbClr val="FFFFFF"/>
          </a:solidFill>
          <a:ln w="19050">
            <a:solidFill>
              <a:srgbClr val="E4DCC8"/>
            </a:solidFill>
            <a:prstDash val="solid"/>
          </a:ln>
        </p:spPr>
      </p:sp>
      <p:sp>
        <p:nvSpPr>
          <p:cNvPr id="24" name="Shape 22"/>
          <p:cNvSpPr/>
          <p:nvPr/>
        </p:nvSpPr>
        <p:spPr>
          <a:xfrm>
            <a:off x="10231831" y="4943856"/>
            <a:ext cx="954024" cy="954024"/>
          </a:xfrm>
          <a:prstGeom prst="roundRect">
            <a:avLst>
              <a:gd name="adj" fmla="val 11502"/>
            </a:avLst>
          </a:prstGeom>
          <a:solidFill>
            <a:srgbClr val="101B45"/>
          </a:solidFill>
          <a:ln/>
        </p:spPr>
      </p:sp>
      <p:sp>
        <p:nvSpPr>
          <p:cNvPr id="25" name="Text 23"/>
          <p:cNvSpPr/>
          <p:nvPr/>
        </p:nvSpPr>
        <p:spPr>
          <a:xfrm>
            <a:off x="10231831" y="4943856"/>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26" name="Text 24"/>
          <p:cNvSpPr/>
          <p:nvPr/>
        </p:nvSpPr>
        <p:spPr>
          <a:xfrm>
            <a:off x="1097280" y="4806696"/>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الأول إلى الغاز، والثاني ينتظر حتى ينتهي</a:t>
            </a:r>
            <a:endParaRPr lang="ar-SA" sz="2500" dirty="0"/>
          </a:p>
        </p:txBody>
      </p:sp>
      <p:sp>
        <p:nvSpPr>
          <p:cNvPr id="27" name="anim-g1-1104"/>
          <p:cNvSpPr/>
          <p:nvPr/>
        </p:nvSpPr>
        <p:spPr>
          <a:xfrm>
            <a:off x="822960" y="4806696"/>
            <a:ext cx="10545775" cy="1228344"/>
          </a:xfrm>
          <a:prstGeom prst="roundRect">
            <a:avLst>
              <a:gd name="adj" fmla="val 11911"/>
            </a:avLst>
          </a:prstGeom>
          <a:solidFill>
            <a:srgbClr val="F7F7F9"/>
          </a:solidFill>
          <a:ln w="19050">
            <a:solidFill>
              <a:srgbClr val="E4DCC8"/>
            </a:solidFill>
            <a:prstDash val="solid"/>
          </a:ln>
        </p:spPr>
      </p:sp>
      <p:sp>
        <p:nvSpPr>
          <p:cNvPr id="28" name="anim-g1-1105"/>
          <p:cNvSpPr/>
          <p:nvPr/>
        </p:nvSpPr>
        <p:spPr>
          <a:xfrm>
            <a:off x="10231831" y="4943856"/>
            <a:ext cx="954024" cy="954024"/>
          </a:xfrm>
          <a:prstGeom prst="roundRect">
            <a:avLst>
              <a:gd name="adj" fmla="val 11502"/>
            </a:avLst>
          </a:prstGeom>
          <a:solidFill>
            <a:srgbClr val="A3A9BA"/>
          </a:solidFill>
          <a:ln/>
        </p:spPr>
      </p:sp>
      <p:sp>
        <p:nvSpPr>
          <p:cNvPr id="29" name="anim-g1-1106"/>
          <p:cNvSpPr/>
          <p:nvPr/>
        </p:nvSpPr>
        <p:spPr>
          <a:xfrm>
            <a:off x="10231831" y="4943856"/>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30" name="anim-g1-1107"/>
          <p:cNvSpPr/>
          <p:nvPr/>
        </p:nvSpPr>
        <p:spPr>
          <a:xfrm>
            <a:off x="1097280" y="4843272"/>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8A90A3"/>
                </a:solidFill>
                <a:latin typeface="Cairo" pitchFamily="34" charset="0"/>
                <a:ea typeface="Cairo" pitchFamily="34" charset="-122"/>
                <a:cs typeface="Cairo" pitchFamily="34" charset="-120"/>
              </a:rPr>
              <a:t>الأول إلى الغاز، والثاني ينتظر حتى ينتهي</a:t>
            </a:r>
            <a:endParaRPr lang="ar-SA" sz="2400" dirty="0"/>
          </a:p>
        </p:txBody>
      </p:sp>
      <p:sp>
        <p:nvSpPr>
          <p:cNvPr id="31" name="anim-g1-1108"/>
          <p:cNvSpPr/>
          <p:nvPr/>
        </p:nvSpPr>
        <p:spPr>
          <a:xfrm>
            <a:off x="1097280" y="5470002"/>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الانتظار يضيّع وقتًا ثمينًا: لهذا عندنا روبوت ثانٍ</a:t>
            </a:r>
            <a:endParaRPr lang="ar-SA" sz="1800" dirty="0"/>
          </a:p>
        </p:txBody>
      </p:sp>
      <p:sp>
        <p:nvSpPr>
          <p:cNvPr id="32" name="Text 3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33" name="Text 3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القرار  ·  ١٥٣</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Lst>
  </p:timing>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Image 0" descr="C:\Users\user\projects\younes-training\turath\.pptx-cache\s154.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خلاصة المحور</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الروبوت لا يملك حكمة…</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نحن نعطيه قاعدتنا بالأرقام، وهو ينفذها أسرع منا</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لمسة تراث</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 القرار  ·  ١٥٥</a:t>
            </a:r>
            <a:endParaRPr lang="ar-SA" sz="1200"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097280" y="2103120"/>
            <a:ext cx="2651760" cy="2651760"/>
          </a:xfrm>
          <a:prstGeom prst="ellipse">
            <a:avLst/>
          </a:prstGeom>
          <a:solidFill>
            <a:srgbClr val="D9AE4B">
              <a:alpha val="12000"/>
            </a:srgbClr>
          </a:solidFill>
          <a:ln w="63500">
            <a:solidFill>
              <a:srgbClr val="D9AE4B">
                <a:alpha val="60000"/>
              </a:srgbClr>
            </a:solidFill>
            <a:prstDash val="solid"/>
          </a:ln>
        </p:spPr>
      </p:sp>
      <p:sp>
        <p:nvSpPr>
          <p:cNvPr id="3" name="Text 1"/>
          <p:cNvSpPr/>
          <p:nvPr/>
        </p:nvSpPr>
        <p:spPr>
          <a:xfrm>
            <a:off x="1097280" y="2103120"/>
            <a:ext cx="2651760" cy="2651760"/>
          </a:xfrm>
          <a:prstGeom prst="rect">
            <a:avLst/>
          </a:prstGeom>
          <a:noFill/>
          <a:ln/>
        </p:spPr>
        <p:txBody>
          <a:bodyPr wrap="square" lIns="0" tIns="0" rIns="0" bIns="0" rtlCol="0" anchor="ctr">
            <a:normAutofit/>
          </a:bodyPr>
          <a:lstStyle/>
          <a:p>
            <a:pPr rtl="1" algn="ctr" indent="0" marL="0">
              <a:buNone/>
            </a:pPr>
            <a:r>
              <a:rPr lang="ar-SA" altLang="en-US" sz="12000" dirty="0">
                <a:solidFill>
                  <a:srgbClr val="F0CC7A"/>
                </a:solidFill>
                <a:latin typeface="Cairo Black" pitchFamily="34" charset="0"/>
                <a:ea typeface="Cairo Black" pitchFamily="34" charset="-122"/>
                <a:cs typeface="Cairo Black" pitchFamily="34" charset="-120"/>
              </a:rPr>
              <a:t>١٥</a:t>
            </a:r>
            <a:endParaRPr lang="ar-SA" sz="12000" dirty="0"/>
          </a:p>
        </p:txBody>
      </p:sp>
      <p:sp>
        <p:nvSpPr>
          <p:cNvPr id="4" name="Text 2"/>
          <p:cNvSpPr/>
          <p:nvPr/>
        </p:nvSpPr>
        <p:spPr>
          <a:xfrm>
            <a:off x="4206240" y="1828800"/>
            <a:ext cx="7162495" cy="457200"/>
          </a:xfrm>
          <a:prstGeom prst="rect">
            <a:avLst/>
          </a:prstGeom>
          <a:noFill/>
          <a:ln/>
        </p:spPr>
        <p:txBody>
          <a:bodyPr wrap="square" lIns="0" tIns="0" rIns="0" bIns="0" rtlCol="0" anchor="ctr">
            <a:normAutofit/>
          </a:bodyPr>
          <a:lstStyle/>
          <a:p>
            <a:pPr rtl="1" algn="r" indent="0" marL="0">
              <a:buNone/>
            </a:pPr>
            <a:r>
              <a:rPr lang="ar-SA" altLang="en-US" sz="2000" b="1" dirty="0">
                <a:solidFill>
                  <a:srgbClr val="D9AE4B"/>
                </a:solidFill>
                <a:latin typeface="Cairo" pitchFamily="34" charset="0"/>
                <a:ea typeface="Cairo" pitchFamily="34" charset="-122"/>
                <a:cs typeface="Cairo" pitchFamily="34" charset="-120"/>
              </a:rPr>
              <a:t>المحور ١٥</a:t>
            </a:r>
            <a:endParaRPr lang="ar-SA" sz="2000" dirty="0"/>
          </a:p>
        </p:txBody>
      </p:sp>
      <p:sp>
        <p:nvSpPr>
          <p:cNvPr id="5" name="Text 3"/>
          <p:cNvSpPr/>
          <p:nvPr/>
        </p:nvSpPr>
        <p:spPr>
          <a:xfrm>
            <a:off x="4206240" y="2286000"/>
            <a:ext cx="7162495" cy="1371600"/>
          </a:xfrm>
          <a:prstGeom prst="rect">
            <a:avLst/>
          </a:prstGeom>
          <a:noFill/>
          <a:ln/>
        </p:spPr>
        <p:txBody>
          <a:bodyPr wrap="square" lIns="0" tIns="0" rIns="0" bIns="0" rtlCol="0" anchor="ctr">
            <a:normAutofit/>
          </a:bodyPr>
          <a:lstStyle/>
          <a:p>
            <a:pPr rtl="1" algn="r" indent="0" marL="0">
              <a:buNone/>
            </a:pPr>
            <a:r>
              <a:rPr lang="ar-SA" altLang="en-US" sz="5600" dirty="0">
                <a:solidFill>
                  <a:srgbClr val="FFFFFF"/>
                </a:solidFill>
                <a:latin typeface="Cairo Black" pitchFamily="34" charset="0"/>
                <a:ea typeface="Cairo Black" pitchFamily="34" charset="-122"/>
                <a:cs typeface="Cairo Black" pitchFamily="34" charset="-120"/>
              </a:rPr>
              <a:t>🚒 من الإنذار… إلى الإطفاء</a:t>
            </a:r>
            <a:endParaRPr lang="ar-SA" sz="5600" dirty="0"/>
          </a:p>
        </p:txBody>
      </p:sp>
      <p:sp>
        <p:nvSpPr>
          <p:cNvPr id="6" name="Text 4"/>
          <p:cNvSpPr/>
          <p:nvPr/>
        </p:nvSpPr>
        <p:spPr>
          <a:xfrm>
            <a:off x="4206240" y="3749040"/>
            <a:ext cx="7162495" cy="822960"/>
          </a:xfrm>
          <a:prstGeom prst="rect">
            <a:avLst/>
          </a:prstGeom>
          <a:noFill/>
          <a:ln/>
        </p:spPr>
        <p:txBody>
          <a:bodyPr wrap="square" lIns="0" tIns="0" rIns="0" bIns="0" rtlCol="0" anchor="ctr">
            <a:normAutofit/>
          </a:bodyPr>
          <a:lstStyle/>
          <a:p>
            <a:pPr rtl="1" algn="r" indent="0" marL="0">
              <a:buNone/>
            </a:pPr>
            <a:r>
              <a:rPr lang="ar-SA" altLang="en-US" sz="2200" b="1" dirty="0">
                <a:solidFill>
                  <a:srgbClr val="C9CFE6"/>
                </a:solidFill>
                <a:latin typeface="Cairo" pitchFamily="34" charset="0"/>
                <a:ea typeface="Cairo" pitchFamily="34" charset="-122"/>
                <a:cs typeface="Cairo" pitchFamily="34" charset="-120"/>
              </a:rPr>
              <a:t>كيف تصل السيارة؟ ثم المهمة كاملة</a:t>
            </a:r>
            <a:endParaRPr lang="ar-SA" sz="2200" dirty="0"/>
          </a:p>
        </p:txBody>
      </p:sp>
      <p:sp>
        <p:nvSpPr>
          <p:cNvPr id="7" name="Text 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لمسة تراث</a:t>
            </a:r>
            <a:endParaRPr lang="ar-SA" sz="1200" dirty="0"/>
          </a:p>
        </p:txBody>
      </p:sp>
      <p:sp>
        <p:nvSpPr>
          <p:cNvPr id="8" name="Text 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 المهمة الكاملة  ·  ١٥٦</a:t>
            </a:r>
            <a:endParaRPr lang="ar-SA" sz="1200"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248095" y="457200"/>
            <a:ext cx="5120640" cy="457200"/>
          </a:xfrm>
          <a:prstGeom prst="roundRect">
            <a:avLst>
              <a:gd name="adj" fmla="val 50000"/>
            </a:avLst>
          </a:prstGeom>
          <a:solidFill>
            <a:srgbClr val="F6EBCF"/>
          </a:solidFill>
          <a:ln/>
        </p:spPr>
      </p:sp>
      <p:sp>
        <p:nvSpPr>
          <p:cNvPr id="3" name="Text 1"/>
          <p:cNvSpPr/>
          <p:nvPr/>
        </p:nvSpPr>
        <p:spPr>
          <a:xfrm>
            <a:off x="6248095" y="457200"/>
            <a:ext cx="512064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بنهاية هذا المحور تستطيع أن</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أهداف المحور</a:t>
            </a:r>
            <a:endParaRPr lang="ar-SA" sz="3800" dirty="0"/>
          </a:p>
        </p:txBody>
      </p:sp>
      <p:sp>
        <p:nvSpPr>
          <p:cNvPr id="5" name="anim-g1-1109"/>
          <p:cNvSpPr/>
          <p:nvPr/>
        </p:nvSpPr>
        <p:spPr>
          <a:xfrm>
            <a:off x="822960" y="1920240"/>
            <a:ext cx="10545775" cy="946404"/>
          </a:xfrm>
          <a:prstGeom prst="roundRect">
            <a:avLst>
              <a:gd name="adj" fmla="val 15459"/>
            </a:avLst>
          </a:prstGeom>
          <a:solidFill>
            <a:srgbClr val="FFFFFF"/>
          </a:solidFill>
          <a:ln w="12700">
            <a:solidFill>
              <a:srgbClr val="E4DCC8"/>
            </a:solidFill>
            <a:prstDash val="solid"/>
          </a:ln>
        </p:spPr>
      </p:sp>
      <p:sp>
        <p:nvSpPr>
          <p:cNvPr id="6" name="anim-g1-1110"/>
          <p:cNvSpPr/>
          <p:nvPr/>
        </p:nvSpPr>
        <p:spPr>
          <a:xfrm>
            <a:off x="10573207" y="2109978"/>
            <a:ext cx="566928" cy="566928"/>
          </a:xfrm>
          <a:prstGeom prst="ellipse">
            <a:avLst/>
          </a:prstGeom>
          <a:solidFill>
            <a:srgbClr val="D9AE4B"/>
          </a:solidFill>
          <a:ln/>
        </p:spPr>
      </p:sp>
      <p:sp>
        <p:nvSpPr>
          <p:cNvPr id="7" name="anim-g1-1111"/>
          <p:cNvSpPr/>
          <p:nvPr/>
        </p:nvSpPr>
        <p:spPr>
          <a:xfrm>
            <a:off x="10573207" y="2109978"/>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١</a:t>
            </a:r>
            <a:endParaRPr lang="ar-SA" sz="2000" dirty="0"/>
          </a:p>
        </p:txBody>
      </p:sp>
      <p:sp>
        <p:nvSpPr>
          <p:cNvPr id="8" name="anim-g1-1112"/>
          <p:cNvSpPr/>
          <p:nvPr/>
        </p:nvSpPr>
        <p:spPr>
          <a:xfrm>
            <a:off x="1097280" y="1920240"/>
            <a:ext cx="9247327" cy="946404"/>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تصمم ساحة بخطوط تقود إلى كل منطقة</a:t>
            </a:r>
            <a:endParaRPr lang="ar-SA" sz="2400" dirty="0"/>
          </a:p>
        </p:txBody>
      </p:sp>
      <p:sp>
        <p:nvSpPr>
          <p:cNvPr id="9" name="anim-g2-1113"/>
          <p:cNvSpPr/>
          <p:nvPr/>
        </p:nvSpPr>
        <p:spPr>
          <a:xfrm>
            <a:off x="822960" y="2976372"/>
            <a:ext cx="10545775" cy="946404"/>
          </a:xfrm>
          <a:prstGeom prst="roundRect">
            <a:avLst>
              <a:gd name="adj" fmla="val 15459"/>
            </a:avLst>
          </a:prstGeom>
          <a:solidFill>
            <a:srgbClr val="FFFFFF"/>
          </a:solidFill>
          <a:ln w="12700">
            <a:solidFill>
              <a:srgbClr val="E4DCC8"/>
            </a:solidFill>
            <a:prstDash val="solid"/>
          </a:ln>
        </p:spPr>
      </p:sp>
      <p:sp>
        <p:nvSpPr>
          <p:cNvPr id="10" name="anim-g2-1114"/>
          <p:cNvSpPr/>
          <p:nvPr/>
        </p:nvSpPr>
        <p:spPr>
          <a:xfrm>
            <a:off x="10573207" y="3166110"/>
            <a:ext cx="566928" cy="566928"/>
          </a:xfrm>
          <a:prstGeom prst="ellipse">
            <a:avLst/>
          </a:prstGeom>
          <a:solidFill>
            <a:srgbClr val="D9AE4B"/>
          </a:solidFill>
          <a:ln/>
        </p:spPr>
      </p:sp>
      <p:sp>
        <p:nvSpPr>
          <p:cNvPr id="11" name="anim-g2-1115"/>
          <p:cNvSpPr/>
          <p:nvPr/>
        </p:nvSpPr>
        <p:spPr>
          <a:xfrm>
            <a:off x="10573207" y="3166110"/>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٢</a:t>
            </a:r>
            <a:endParaRPr lang="ar-SA" sz="2000" dirty="0"/>
          </a:p>
        </p:txBody>
      </p:sp>
      <p:sp>
        <p:nvSpPr>
          <p:cNvPr id="12" name="anim-g2-1116"/>
          <p:cNvSpPr/>
          <p:nvPr/>
        </p:nvSpPr>
        <p:spPr>
          <a:xfrm>
            <a:off x="1097280" y="2976372"/>
            <a:ext cx="9247327" cy="946404"/>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تكتشف التقاطع بحساسي الخط معًا</a:t>
            </a:r>
            <a:endParaRPr lang="ar-SA" sz="2400" dirty="0"/>
          </a:p>
        </p:txBody>
      </p:sp>
      <p:sp>
        <p:nvSpPr>
          <p:cNvPr id="13" name="anim-g3-1117"/>
          <p:cNvSpPr/>
          <p:nvPr/>
        </p:nvSpPr>
        <p:spPr>
          <a:xfrm>
            <a:off x="822960" y="4032504"/>
            <a:ext cx="10545775" cy="946404"/>
          </a:xfrm>
          <a:prstGeom prst="roundRect">
            <a:avLst>
              <a:gd name="adj" fmla="val 15459"/>
            </a:avLst>
          </a:prstGeom>
          <a:solidFill>
            <a:srgbClr val="FFFFFF"/>
          </a:solidFill>
          <a:ln w="12700">
            <a:solidFill>
              <a:srgbClr val="E4DCC8"/>
            </a:solidFill>
            <a:prstDash val="solid"/>
          </a:ln>
        </p:spPr>
      </p:sp>
      <p:sp>
        <p:nvSpPr>
          <p:cNvPr id="14" name="anim-g3-1118"/>
          <p:cNvSpPr/>
          <p:nvPr/>
        </p:nvSpPr>
        <p:spPr>
          <a:xfrm>
            <a:off x="10573207" y="4222242"/>
            <a:ext cx="566928" cy="566928"/>
          </a:xfrm>
          <a:prstGeom prst="ellipse">
            <a:avLst/>
          </a:prstGeom>
          <a:solidFill>
            <a:srgbClr val="D9AE4B"/>
          </a:solidFill>
          <a:ln/>
        </p:spPr>
      </p:sp>
      <p:sp>
        <p:nvSpPr>
          <p:cNvPr id="15" name="anim-g3-1119"/>
          <p:cNvSpPr/>
          <p:nvPr/>
        </p:nvSpPr>
        <p:spPr>
          <a:xfrm>
            <a:off x="10573207" y="4222242"/>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٣</a:t>
            </a:r>
            <a:endParaRPr lang="ar-SA" sz="2000" dirty="0"/>
          </a:p>
        </p:txBody>
      </p:sp>
      <p:sp>
        <p:nvSpPr>
          <p:cNvPr id="16" name="anim-g3-1120"/>
          <p:cNvSpPr/>
          <p:nvPr/>
        </p:nvSpPr>
        <p:spPr>
          <a:xfrm>
            <a:off x="1097280" y="4032504"/>
            <a:ext cx="9247327" cy="946404"/>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تختار اليمين أو اليسار حسب المنطقة</a:t>
            </a:r>
            <a:endParaRPr lang="ar-SA" sz="2400" dirty="0"/>
          </a:p>
        </p:txBody>
      </p:sp>
      <p:sp>
        <p:nvSpPr>
          <p:cNvPr id="17" name="anim-g4-1121"/>
          <p:cNvSpPr/>
          <p:nvPr/>
        </p:nvSpPr>
        <p:spPr>
          <a:xfrm>
            <a:off x="822960" y="5088636"/>
            <a:ext cx="10545775" cy="946404"/>
          </a:xfrm>
          <a:prstGeom prst="roundRect">
            <a:avLst>
              <a:gd name="adj" fmla="val 15459"/>
            </a:avLst>
          </a:prstGeom>
          <a:solidFill>
            <a:srgbClr val="FFFFFF"/>
          </a:solidFill>
          <a:ln w="12700">
            <a:solidFill>
              <a:srgbClr val="E4DCC8"/>
            </a:solidFill>
            <a:prstDash val="solid"/>
          </a:ln>
        </p:spPr>
      </p:sp>
      <p:sp>
        <p:nvSpPr>
          <p:cNvPr id="18" name="anim-g4-1122"/>
          <p:cNvSpPr/>
          <p:nvPr/>
        </p:nvSpPr>
        <p:spPr>
          <a:xfrm>
            <a:off x="10573207" y="5278374"/>
            <a:ext cx="566928" cy="566928"/>
          </a:xfrm>
          <a:prstGeom prst="ellipse">
            <a:avLst/>
          </a:prstGeom>
          <a:solidFill>
            <a:srgbClr val="D9AE4B"/>
          </a:solidFill>
          <a:ln/>
        </p:spPr>
      </p:sp>
      <p:sp>
        <p:nvSpPr>
          <p:cNvPr id="19" name="anim-g4-1123"/>
          <p:cNvSpPr/>
          <p:nvPr/>
        </p:nvSpPr>
        <p:spPr>
          <a:xfrm>
            <a:off x="10573207" y="5278374"/>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٤</a:t>
            </a:r>
            <a:endParaRPr lang="ar-SA" sz="2000" dirty="0"/>
          </a:p>
        </p:txBody>
      </p:sp>
      <p:sp>
        <p:nvSpPr>
          <p:cNvPr id="20" name="anim-g4-1124"/>
          <p:cNvSpPr/>
          <p:nvPr/>
        </p:nvSpPr>
        <p:spPr>
          <a:xfrm>
            <a:off x="1097280" y="5088636"/>
            <a:ext cx="9247327" cy="946404"/>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تعود إلى نقطة الانطلاق بعد المهمة</a:t>
            </a:r>
            <a:endParaRPr lang="ar-SA" sz="2400" dirty="0"/>
          </a:p>
        </p:txBody>
      </p:sp>
      <p:sp>
        <p:nvSpPr>
          <p:cNvPr id="21" name="Text 19"/>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2" name="Text 20"/>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المهمة الكاملة  ·  ١٥٧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158.xml><?xml version="1.0" encoding="utf-8"?>
<p:sld xmlns:a="http://schemas.openxmlformats.org/drawingml/2006/main" xmlns:r="http://schemas.openxmlformats.org/officeDocument/2006/relationships" xmlns:p="http://schemas.openxmlformats.org/presentationml/2006/main">
  <p:cSld name="Slide 15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320479" y="457200"/>
            <a:ext cx="2048256" cy="457200"/>
          </a:xfrm>
          <a:prstGeom prst="roundRect">
            <a:avLst>
              <a:gd name="adj" fmla="val 50000"/>
            </a:avLst>
          </a:prstGeom>
          <a:solidFill>
            <a:srgbClr val="F6EBCF"/>
          </a:solidFill>
          <a:ln/>
        </p:spPr>
      </p:sp>
      <p:sp>
        <p:nvSpPr>
          <p:cNvPr id="3" name="Text 1"/>
          <p:cNvSpPr/>
          <p:nvPr/>
        </p:nvSpPr>
        <p:spPr>
          <a:xfrm>
            <a:off x="9320479" y="457200"/>
            <a:ext cx="204825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لماذا خط؟</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ثلاث طرق ليصل الروبوت</a:t>
            </a:r>
            <a:endParaRPr lang="ar-SA" sz="3800" dirty="0"/>
          </a:p>
        </p:txBody>
      </p:sp>
      <p:sp>
        <p:nvSpPr>
          <p:cNvPr id="5" name="anim-g1-1125"/>
          <p:cNvSpPr/>
          <p:nvPr/>
        </p:nvSpPr>
        <p:spPr>
          <a:xfrm>
            <a:off x="8036357"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1126"/>
          <p:cNvSpPr/>
          <p:nvPr/>
        </p:nvSpPr>
        <p:spPr>
          <a:xfrm>
            <a:off x="10527487" y="2267712"/>
            <a:ext cx="566928" cy="566928"/>
          </a:xfrm>
          <a:prstGeom prst="roundRect">
            <a:avLst>
              <a:gd name="adj" fmla="val 32258"/>
            </a:avLst>
          </a:prstGeom>
          <a:solidFill>
            <a:srgbClr val="F7E6BC"/>
          </a:solidFill>
          <a:ln/>
        </p:spPr>
      </p:sp>
      <p:sp>
        <p:nvSpPr>
          <p:cNvPr id="7" name="anim-g1-1127"/>
          <p:cNvSpPr/>
          <p:nvPr/>
        </p:nvSpPr>
        <p:spPr>
          <a:xfrm>
            <a:off x="10527487"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1128"/>
          <p:cNvSpPr/>
          <p:nvPr/>
        </p:nvSpPr>
        <p:spPr>
          <a:xfrm>
            <a:off x="8310677"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بالوقت</a:t>
            </a:r>
            <a:endParaRPr lang="ar-SA" sz="2200" dirty="0"/>
          </a:p>
        </p:txBody>
      </p:sp>
      <p:sp>
        <p:nvSpPr>
          <p:cNvPr id="9" name="anim-g1-1129"/>
          <p:cNvSpPr/>
          <p:nvPr/>
        </p:nvSpPr>
        <p:spPr>
          <a:xfrm>
            <a:off x="8310677"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«امشِ ٣ ثوانٍ ثم استدر»: بسيط لكن يخطئ مع ضعف البطارية</a:t>
            </a:r>
            <a:endParaRPr lang="ar-SA" sz="1900" dirty="0"/>
          </a:p>
        </p:txBody>
      </p:sp>
      <p:sp>
        <p:nvSpPr>
          <p:cNvPr id="10" name="anim-g2-1130"/>
          <p:cNvSpPr/>
          <p:nvPr/>
        </p:nvSpPr>
        <p:spPr>
          <a:xfrm>
            <a:off x="4429658"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1131"/>
          <p:cNvSpPr/>
          <p:nvPr/>
        </p:nvSpPr>
        <p:spPr>
          <a:xfrm>
            <a:off x="6920789" y="2267712"/>
            <a:ext cx="566928" cy="566928"/>
          </a:xfrm>
          <a:prstGeom prst="roundRect">
            <a:avLst>
              <a:gd name="adj" fmla="val 32258"/>
            </a:avLst>
          </a:prstGeom>
          <a:solidFill>
            <a:srgbClr val="F7E6BC"/>
          </a:solidFill>
          <a:ln/>
        </p:spPr>
      </p:sp>
      <p:sp>
        <p:nvSpPr>
          <p:cNvPr id="12" name="anim-g2-1132"/>
          <p:cNvSpPr/>
          <p:nvPr/>
        </p:nvSpPr>
        <p:spPr>
          <a:xfrm>
            <a:off x="6920789"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1133"/>
          <p:cNvSpPr/>
          <p:nvPr/>
        </p:nvSpPr>
        <p:spPr>
          <a:xfrm>
            <a:off x="4703978"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بالخط</a:t>
            </a:r>
            <a:endParaRPr lang="ar-SA" sz="2200" dirty="0"/>
          </a:p>
        </p:txBody>
      </p:sp>
      <p:sp>
        <p:nvSpPr>
          <p:cNvPr id="14" name="anim-g2-1134"/>
          <p:cNvSpPr/>
          <p:nvPr/>
        </p:nvSpPr>
        <p:spPr>
          <a:xfrm>
            <a:off x="4703978"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خط أسود على أرض فاتحة: دقيق ورخيص ومناسب للنموذج</a:t>
            </a:r>
            <a:endParaRPr lang="ar-SA" sz="1900" dirty="0"/>
          </a:p>
        </p:txBody>
      </p:sp>
      <p:sp>
        <p:nvSpPr>
          <p:cNvPr id="15" name="anim-g3-1135"/>
          <p:cNvSpPr/>
          <p:nvPr/>
        </p:nvSpPr>
        <p:spPr>
          <a:xfrm>
            <a:off x="822960"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1136"/>
          <p:cNvSpPr/>
          <p:nvPr/>
        </p:nvSpPr>
        <p:spPr>
          <a:xfrm>
            <a:off x="3314090" y="2267712"/>
            <a:ext cx="566928" cy="566928"/>
          </a:xfrm>
          <a:prstGeom prst="roundRect">
            <a:avLst>
              <a:gd name="adj" fmla="val 32258"/>
            </a:avLst>
          </a:prstGeom>
          <a:solidFill>
            <a:srgbClr val="F7E6BC"/>
          </a:solidFill>
          <a:ln/>
        </p:spPr>
      </p:sp>
      <p:sp>
        <p:nvSpPr>
          <p:cNvPr id="17" name="anim-g3-1137"/>
          <p:cNvSpPr/>
          <p:nvPr/>
        </p:nvSpPr>
        <p:spPr>
          <a:xfrm>
            <a:off x="3314090"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1138"/>
          <p:cNvSpPr/>
          <p:nvPr/>
        </p:nvSpPr>
        <p:spPr>
          <a:xfrm>
            <a:off x="1097280"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بالخريطة والحساسات</a:t>
            </a:r>
            <a:endParaRPr lang="ar-SA" sz="2200" dirty="0"/>
          </a:p>
        </p:txBody>
      </p:sp>
      <p:sp>
        <p:nvSpPr>
          <p:cNvPr id="19" name="anim-g3-1139"/>
          <p:cNvSpPr/>
          <p:nvPr/>
        </p:nvSpPr>
        <p:spPr>
          <a:xfrm>
            <a:off x="1097280"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كما في السيارات الذاتية: متقدم ومكلف</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المهمة الكاملة  ·  ١٥٨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159.xml><?xml version="1.0" encoding="utf-8"?>
<p:sld xmlns:a="http://schemas.openxmlformats.org/drawingml/2006/main" xmlns:r="http://schemas.openxmlformats.org/officeDocument/2006/relationships" xmlns:p="http://schemas.openxmlformats.org/presentationml/2006/main">
  <p:cSld name="Slide 15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174175" y="457200"/>
            <a:ext cx="2194560" cy="457200"/>
          </a:xfrm>
          <a:prstGeom prst="roundRect">
            <a:avLst>
              <a:gd name="adj" fmla="val 50000"/>
            </a:avLst>
          </a:prstGeom>
          <a:solidFill>
            <a:srgbClr val="F6EBCF"/>
          </a:solidFill>
          <a:ln/>
        </p:spPr>
      </p:sp>
      <p:sp>
        <p:nvSpPr>
          <p:cNvPr id="3" name="Text 1"/>
          <p:cNvSpPr/>
          <p:nvPr/>
        </p:nvSpPr>
        <p:spPr>
          <a:xfrm>
            <a:off x="9174175" y="457200"/>
            <a:ext cx="219456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حساسا الخط</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أربع قراءات… أربعة معانٍ</a:t>
            </a:r>
            <a:endParaRPr lang="ar-SA" sz="3800" dirty="0"/>
          </a:p>
        </p:txBody>
      </p:sp>
      <p:sp>
        <p:nvSpPr>
          <p:cNvPr id="5" name="anim-g1-1140"/>
          <p:cNvSpPr/>
          <p:nvPr/>
        </p:nvSpPr>
        <p:spPr>
          <a:xfrm>
            <a:off x="6233008" y="2011680"/>
            <a:ext cx="513572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1141"/>
          <p:cNvSpPr/>
          <p:nvPr/>
        </p:nvSpPr>
        <p:spPr>
          <a:xfrm>
            <a:off x="10527487" y="2267712"/>
            <a:ext cx="566928" cy="566928"/>
          </a:xfrm>
          <a:prstGeom prst="roundRect">
            <a:avLst>
              <a:gd name="adj" fmla="val 32258"/>
            </a:avLst>
          </a:prstGeom>
          <a:solidFill>
            <a:srgbClr val="F7E6BC"/>
          </a:solidFill>
          <a:ln/>
        </p:spPr>
      </p:sp>
      <p:sp>
        <p:nvSpPr>
          <p:cNvPr id="7" name="anim-g1-1142"/>
          <p:cNvSpPr/>
          <p:nvPr/>
        </p:nvSpPr>
        <p:spPr>
          <a:xfrm>
            <a:off x="10527487"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1143"/>
          <p:cNvSpPr/>
          <p:nvPr/>
        </p:nvSpPr>
        <p:spPr>
          <a:xfrm>
            <a:off x="6507328" y="2944368"/>
            <a:ext cx="458708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0 0: الخط بينهما</a:t>
            </a:r>
            <a:endParaRPr lang="ar-SA" sz="2200" dirty="0"/>
          </a:p>
        </p:txBody>
      </p:sp>
      <p:sp>
        <p:nvSpPr>
          <p:cNvPr id="9" name="anim-g1-1144"/>
          <p:cNvSpPr/>
          <p:nvPr/>
        </p:nvSpPr>
        <p:spPr>
          <a:xfrm>
            <a:off x="6507328" y="3493008"/>
            <a:ext cx="458708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تقدّم للأمام</a:t>
            </a:r>
            <a:endParaRPr lang="ar-SA" sz="1900" dirty="0"/>
          </a:p>
        </p:txBody>
      </p:sp>
      <p:sp>
        <p:nvSpPr>
          <p:cNvPr id="10" name="anim-g2-1145"/>
          <p:cNvSpPr/>
          <p:nvPr/>
        </p:nvSpPr>
        <p:spPr>
          <a:xfrm>
            <a:off x="822960" y="2011680"/>
            <a:ext cx="513572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1146"/>
          <p:cNvSpPr/>
          <p:nvPr/>
        </p:nvSpPr>
        <p:spPr>
          <a:xfrm>
            <a:off x="5117440" y="2267712"/>
            <a:ext cx="566928" cy="566928"/>
          </a:xfrm>
          <a:prstGeom prst="roundRect">
            <a:avLst>
              <a:gd name="adj" fmla="val 32258"/>
            </a:avLst>
          </a:prstGeom>
          <a:solidFill>
            <a:srgbClr val="F7E6BC"/>
          </a:solidFill>
          <a:ln/>
        </p:spPr>
      </p:sp>
      <p:sp>
        <p:nvSpPr>
          <p:cNvPr id="12" name="anim-g2-1147"/>
          <p:cNvSpPr/>
          <p:nvPr/>
        </p:nvSpPr>
        <p:spPr>
          <a:xfrm>
            <a:off x="5117440"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1148"/>
          <p:cNvSpPr/>
          <p:nvPr/>
        </p:nvSpPr>
        <p:spPr>
          <a:xfrm>
            <a:off x="1097280" y="2944368"/>
            <a:ext cx="458708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1 0: الخط تحت الأيسر</a:t>
            </a:r>
            <a:endParaRPr lang="ar-SA" sz="2200" dirty="0"/>
          </a:p>
        </p:txBody>
      </p:sp>
      <p:sp>
        <p:nvSpPr>
          <p:cNvPr id="14" name="anim-g2-1149"/>
          <p:cNvSpPr/>
          <p:nvPr/>
        </p:nvSpPr>
        <p:spPr>
          <a:xfrm>
            <a:off x="1097280" y="3493008"/>
            <a:ext cx="458708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انحرف يسارًا لتعود</a:t>
            </a:r>
            <a:endParaRPr lang="ar-SA" sz="1900" dirty="0"/>
          </a:p>
        </p:txBody>
      </p:sp>
      <p:sp>
        <p:nvSpPr>
          <p:cNvPr id="15" name="anim-g3-1150"/>
          <p:cNvSpPr/>
          <p:nvPr/>
        </p:nvSpPr>
        <p:spPr>
          <a:xfrm>
            <a:off x="6233008" y="4137660"/>
            <a:ext cx="513572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1151"/>
          <p:cNvSpPr/>
          <p:nvPr/>
        </p:nvSpPr>
        <p:spPr>
          <a:xfrm>
            <a:off x="10527487" y="4393692"/>
            <a:ext cx="566928" cy="566928"/>
          </a:xfrm>
          <a:prstGeom prst="roundRect">
            <a:avLst>
              <a:gd name="adj" fmla="val 32258"/>
            </a:avLst>
          </a:prstGeom>
          <a:solidFill>
            <a:srgbClr val="F7E6BC"/>
          </a:solidFill>
          <a:ln/>
        </p:spPr>
      </p:sp>
      <p:sp>
        <p:nvSpPr>
          <p:cNvPr id="17" name="anim-g3-1152"/>
          <p:cNvSpPr/>
          <p:nvPr/>
        </p:nvSpPr>
        <p:spPr>
          <a:xfrm>
            <a:off x="10527487" y="439369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1153"/>
          <p:cNvSpPr/>
          <p:nvPr/>
        </p:nvSpPr>
        <p:spPr>
          <a:xfrm>
            <a:off x="6507328" y="5070348"/>
            <a:ext cx="458708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0 1: الخط تحت الأيمن</a:t>
            </a:r>
            <a:endParaRPr lang="ar-SA" sz="2200" dirty="0"/>
          </a:p>
        </p:txBody>
      </p:sp>
      <p:sp>
        <p:nvSpPr>
          <p:cNvPr id="19" name="anim-g3-1154"/>
          <p:cNvSpPr/>
          <p:nvPr/>
        </p:nvSpPr>
        <p:spPr>
          <a:xfrm>
            <a:off x="6507328" y="5618988"/>
            <a:ext cx="458708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انحرف يمينًا لتعود</a:t>
            </a:r>
            <a:endParaRPr lang="ar-SA" sz="1900" dirty="0"/>
          </a:p>
        </p:txBody>
      </p:sp>
      <p:sp>
        <p:nvSpPr>
          <p:cNvPr id="20" name="anim-g4-1155"/>
          <p:cNvSpPr/>
          <p:nvPr/>
        </p:nvSpPr>
        <p:spPr>
          <a:xfrm>
            <a:off x="822960" y="4137660"/>
            <a:ext cx="513572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21" name="anim-g4-1156"/>
          <p:cNvSpPr/>
          <p:nvPr/>
        </p:nvSpPr>
        <p:spPr>
          <a:xfrm>
            <a:off x="5117440" y="4393692"/>
            <a:ext cx="566928" cy="566928"/>
          </a:xfrm>
          <a:prstGeom prst="roundRect">
            <a:avLst>
              <a:gd name="adj" fmla="val 32258"/>
            </a:avLst>
          </a:prstGeom>
          <a:solidFill>
            <a:srgbClr val="F7E6BC"/>
          </a:solidFill>
          <a:ln/>
        </p:spPr>
      </p:sp>
      <p:sp>
        <p:nvSpPr>
          <p:cNvPr id="22" name="anim-g4-1157"/>
          <p:cNvSpPr/>
          <p:nvPr/>
        </p:nvSpPr>
        <p:spPr>
          <a:xfrm>
            <a:off x="5117440" y="439369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23" name="anim-g4-1158"/>
          <p:cNvSpPr/>
          <p:nvPr/>
        </p:nvSpPr>
        <p:spPr>
          <a:xfrm>
            <a:off x="1097280" y="5070348"/>
            <a:ext cx="458708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1 1: الاثنان على الأسود</a:t>
            </a:r>
            <a:endParaRPr lang="ar-SA" sz="2200" dirty="0"/>
          </a:p>
        </p:txBody>
      </p:sp>
      <p:sp>
        <p:nvSpPr>
          <p:cNvPr id="24" name="anim-g4-1159"/>
          <p:cNvSpPr/>
          <p:nvPr/>
        </p:nvSpPr>
        <p:spPr>
          <a:xfrm>
            <a:off x="1097280" y="5618988"/>
            <a:ext cx="458708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تقاطع! حان وقت القرار</a:t>
            </a:r>
            <a:endParaRPr lang="ar-SA" sz="1900" dirty="0"/>
          </a:p>
        </p:txBody>
      </p:sp>
      <p:sp>
        <p:nvSpPr>
          <p:cNvPr id="25" name="Text 2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6" name="Text 2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المهمة الكاملة  ·  ١٥٩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Image 0" descr="C:\Users\user\projects\younes-training\turath\.pptx-cache\s160.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Image 0" descr="C:\Users\user\projects\younes-training\turath\.pptx-cache\s161-0.jpg">    </p:cNvPr>
          <p:cNvPicPr>
            <a:picLocks noChangeAspect="1"/>
          </p:cNvPicPr>
          <p:nvPr/>
        </p:nvPicPr>
        <p:blipFill>
          <a:blip r:embed="rId1"/>
          <a:stretch>
            <a:fillRect/>
          </a:stretch>
        </p:blipFill>
        <p:spPr>
          <a:xfrm>
            <a:off x="0" y="0"/>
            <a:ext cx="12191695" cy="6858000"/>
          </a:xfrm>
          <a:prstGeom prst="rect">
            <a:avLst/>
          </a:prstGeom>
        </p:spPr>
      </p:pic>
      <p:pic>
        <p:nvPicPr>
          <p:cNvPr id="3" name="anim-g1-1160" descr="C:\Users\user\projects\younes-training\turath\.pptx-cache\s161-1.jpg">    </p:cNvPr>
          <p:cNvPicPr>
            <a:picLocks noChangeAspect="1"/>
          </p:cNvPicPr>
          <p:nvPr/>
        </p:nvPicPr>
        <p:blipFill>
          <a:blip r:embed="rId2"/>
          <a:stretch>
            <a:fillRect/>
          </a:stretch>
        </p:blipFill>
        <p:spPr>
          <a:xfrm>
            <a:off x="0" y="0"/>
            <a:ext cx="12191695" cy="6858000"/>
          </a:xfrm>
          <a:prstGeom prst="rect">
            <a:avLst/>
          </a:prstGeom>
        </p:spPr>
      </p:pic>
      <p:pic>
        <p:nvPicPr>
          <p:cNvPr id="4" name="anim-g2-1161" descr="C:\Users\user\projects\younes-training\turath\.pptx-cache\s161-2.jpg">    </p:cNvPr>
          <p:cNvPicPr>
            <a:picLocks noChangeAspect="1"/>
          </p:cNvPicPr>
          <p:nvPr/>
        </p:nvPicPr>
        <p:blipFill>
          <a:blip r:embed="rId3"/>
          <a:stretch>
            <a:fillRect/>
          </a:stretch>
        </p:blipFill>
        <p:spPr>
          <a:xfrm>
            <a:off x="0" y="0"/>
            <a:ext cx="12191695" cy="6858000"/>
          </a:xfrm>
          <a:prstGeom prst="rect">
            <a:avLst/>
          </a:prstGeom>
        </p:spPr>
      </p:pic>
      <p:pic>
        <p:nvPicPr>
          <p:cNvPr id="5" name="anim-g3-1162" descr="C:\Users\user\projects\younes-training\turath\.pptx-cache\s161-3.jpg">    </p:cNvPr>
          <p:cNvPicPr>
            <a:picLocks noChangeAspect="1"/>
          </p:cNvPicPr>
          <p:nvPr/>
        </p:nvPicPr>
        <p:blipFill>
          <a:blip r:embed="rId4"/>
          <a:stretch>
            <a:fillRect/>
          </a:stretch>
        </p:blipFill>
        <p:spPr>
          <a:xfrm>
            <a:off x="0" y="0"/>
            <a:ext cx="12191695" cy="6858000"/>
          </a:xfrm>
          <a:prstGeom prst="rect">
            <a:avLst/>
          </a:prstGeom>
        </p:spPr>
      </p:pic>
      <p:pic>
        <p:nvPicPr>
          <p:cNvPr id="6" name="anim-g4-1163" descr="C:\Users\user\projects\younes-training\turath\.pptx-cache\s161-4.jpg">    </p:cNvPr>
          <p:cNvPicPr>
            <a:picLocks noChangeAspect="1"/>
          </p:cNvPicPr>
          <p:nvPr/>
        </p:nvPicPr>
        <p:blipFill>
          <a:blip r:embed="rId5"/>
          <a:stretch>
            <a:fillRect/>
          </a:stretch>
        </p:blipFill>
        <p:spPr>
          <a:xfrm>
            <a:off x="0" y="0"/>
            <a:ext cx="12191695" cy="6858000"/>
          </a:xfrm>
          <a:prstGeom prst="rect">
            <a:avLst/>
          </a:prstGeom>
        </p:spPr>
      </p:pic>
      <p:pic>
        <p:nvPicPr>
          <p:cNvPr id="7" name="anim-g5-1164" descr="C:\Users\user\projects\younes-training\turath\.pptx-cache\s161-5.jpg">    </p:cNvPr>
          <p:cNvPicPr>
            <a:picLocks noChangeAspect="1"/>
          </p:cNvPicPr>
          <p:nvPr/>
        </p:nvPicPr>
        <p:blipFill>
          <a:blip r:embed="rId6"/>
          <a:stretch>
            <a:fillRect/>
          </a:stretch>
        </p:blipFill>
        <p:spPr>
          <a:xfrm>
            <a:off x="0" y="0"/>
            <a:ext cx="12191695" cy="6858000"/>
          </a:xfrm>
          <a:prstGeom prst="rect">
            <a:avLst/>
          </a:prstGeom>
        </p:spPr>
      </p:pic>
      <p:pic>
        <p:nvPicPr>
          <p:cNvPr id="8" name="anim-g6-1165" descr="C:\Users\user\projects\younes-training\turath\.pptx-cache\s161-6.jpg">    </p:cNvPr>
          <p:cNvPicPr>
            <a:picLocks noChangeAspect="1"/>
          </p:cNvPicPr>
          <p:nvPr/>
        </p:nvPicPr>
        <p:blipFill>
          <a:blip r:embed="rId7"/>
          <a:stretch>
            <a:fillRect/>
          </a:stretch>
        </p:blipFill>
        <p:spPr>
          <a:xfrm>
            <a:off x="0" y="0"/>
            <a:ext cx="12191695" cy="6858000"/>
          </a:xfrm>
          <a:prstGeom prst="rect">
            <a:avLst/>
          </a:prstGeom>
        </p:spPr>
      </p:pic>
      <p:pic>
        <p:nvPicPr>
          <p:cNvPr id="9" name="anim-g7-1166" descr="C:\Users\user\projects\younes-training\turath\.pptx-cache\s161-7.jpg">    </p:cNvPr>
          <p:cNvPicPr>
            <a:picLocks noChangeAspect="1"/>
          </p:cNvPicPr>
          <p:nvPr/>
        </p:nvPicPr>
        <p:blipFill>
          <a:blip r:embed="rId8"/>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fade">
                                      <p:cBhvr>
                                        <p:cTn id="37"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Image 0" descr="C:\Users\user\projects\younes-training\turath\.pptx-cache\s162-0.jpg">    </p:cNvPr>
          <p:cNvPicPr>
            <a:picLocks noChangeAspect="1"/>
          </p:cNvPicPr>
          <p:nvPr/>
        </p:nvPicPr>
        <p:blipFill>
          <a:blip r:embed="rId1"/>
          <a:stretch>
            <a:fillRect/>
          </a:stretch>
        </p:blipFill>
        <p:spPr>
          <a:xfrm>
            <a:off x="0" y="0"/>
            <a:ext cx="12191695" cy="6858000"/>
          </a:xfrm>
          <a:prstGeom prst="rect">
            <a:avLst/>
          </a:prstGeom>
        </p:spPr>
      </p:pic>
      <p:pic>
        <p:nvPicPr>
          <p:cNvPr id="3" name="anim-g1-1167" descr="C:\Users\user\projects\younes-training\turath\.pptx-cache\s162-1.jpg">    </p:cNvPr>
          <p:cNvPicPr>
            <a:picLocks noChangeAspect="1"/>
          </p:cNvPicPr>
          <p:nvPr/>
        </p:nvPicPr>
        <p:blipFill>
          <a:blip r:embed="rId2"/>
          <a:stretch>
            <a:fillRect/>
          </a:stretch>
        </p:blipFill>
        <p:spPr>
          <a:xfrm>
            <a:off x="0" y="0"/>
            <a:ext cx="12191695" cy="6858000"/>
          </a:xfrm>
          <a:prstGeom prst="rect">
            <a:avLst/>
          </a:prstGeom>
        </p:spPr>
      </p:pic>
      <p:pic>
        <p:nvPicPr>
          <p:cNvPr id="4" name="anim-g2-1168" descr="C:\Users\user\projects\younes-training\turath\.pptx-cache\s162-2.jpg">    </p:cNvPr>
          <p:cNvPicPr>
            <a:picLocks noChangeAspect="1"/>
          </p:cNvPicPr>
          <p:nvPr/>
        </p:nvPicPr>
        <p:blipFill>
          <a:blip r:embed="rId3"/>
          <a:stretch>
            <a:fillRect/>
          </a:stretch>
        </p:blipFill>
        <p:spPr>
          <a:xfrm>
            <a:off x="0" y="0"/>
            <a:ext cx="12191695" cy="6858000"/>
          </a:xfrm>
          <a:prstGeom prst="rect">
            <a:avLst/>
          </a:prstGeom>
        </p:spPr>
      </p:pic>
      <p:pic>
        <p:nvPicPr>
          <p:cNvPr id="5" name="anim-g3-1169" descr="C:\Users\user\projects\younes-training\turath\.pptx-cache\s162-3.jpg">    </p:cNvPr>
          <p:cNvPicPr>
            <a:picLocks noChangeAspect="1"/>
          </p:cNvPicPr>
          <p:nvPr/>
        </p:nvPicPr>
        <p:blipFill>
          <a:blip r:embed="rId4"/>
          <a:stretch>
            <a:fillRect/>
          </a:stretch>
        </p:blipFill>
        <p:spPr>
          <a:xfrm>
            <a:off x="0" y="0"/>
            <a:ext cx="12191695" cy="6858000"/>
          </a:xfrm>
          <a:prstGeom prst="rect">
            <a:avLst/>
          </a:prstGeom>
        </p:spPr>
      </p:pic>
      <p:pic>
        <p:nvPicPr>
          <p:cNvPr id="6" name="anim-g4-1170" descr="C:\Users\user\projects\younes-training\turath\.pptx-cache\s162-4.jpg">    </p:cNvPr>
          <p:cNvPicPr>
            <a:picLocks noChangeAspect="1"/>
          </p:cNvPicPr>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Image 0" descr="C:\Users\user\projects\younes-training\turath\.pptx-cache\s163.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خلاصة المحور</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rtl="1"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خط أسود، وتقاطع واحد، وسؤال واحد: يمينًا أم يسارًا؟ والقرار جاء من المحطة</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لمسة تراث</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 المهمة الكاملة  ·  ١٦٤</a:t>
            </a:r>
            <a:endParaRPr lang="ar-SA" sz="1200"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Image 0" descr="C:\Users\user\projects\younes-training\turath\.pptx-cache\s165.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Image 0" descr="C:\Users\user\projects\younes-training\turath\.pptx-cache\s166.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Image 0" descr="C:\Users\user\projects\younes-training\turath\.pptx-cache\s167-0.jpg">    </p:cNvPr>
          <p:cNvPicPr>
            <a:picLocks noChangeAspect="1"/>
          </p:cNvPicPr>
          <p:nvPr/>
        </p:nvPicPr>
        <p:blipFill>
          <a:blip r:embed="rId1"/>
          <a:stretch>
            <a:fillRect/>
          </a:stretch>
        </p:blipFill>
        <p:spPr>
          <a:xfrm>
            <a:off x="0" y="0"/>
            <a:ext cx="12191695" cy="6858000"/>
          </a:xfrm>
          <a:prstGeom prst="rect">
            <a:avLst/>
          </a:prstGeom>
        </p:spPr>
      </p:pic>
      <p:pic>
        <p:nvPicPr>
          <p:cNvPr id="3" name="anim-g1-1171" descr="C:\Users\user\projects\younes-training\turath\.pptx-cache\s167-1.jpg">    </p:cNvPr>
          <p:cNvPicPr>
            <a:picLocks noChangeAspect="1"/>
          </p:cNvPicPr>
          <p:nvPr/>
        </p:nvPicPr>
        <p:blipFill>
          <a:blip r:embed="rId2"/>
          <a:stretch>
            <a:fillRect/>
          </a:stretch>
        </p:blipFill>
        <p:spPr>
          <a:xfrm>
            <a:off x="0" y="0"/>
            <a:ext cx="12191695" cy="6858000"/>
          </a:xfrm>
          <a:prstGeom prst="rect">
            <a:avLst/>
          </a:prstGeom>
        </p:spPr>
      </p:pic>
      <p:pic>
        <p:nvPicPr>
          <p:cNvPr id="4" name="anim-g2-1172" descr="C:\Users\user\projects\younes-training\turath\.pptx-cache\s167-2.jpg">    </p:cNvPr>
          <p:cNvPicPr>
            <a:picLocks noChangeAspect="1"/>
          </p:cNvPicPr>
          <p:nvPr/>
        </p:nvPicPr>
        <p:blipFill>
          <a:blip r:embed="rId3"/>
          <a:stretch>
            <a:fillRect/>
          </a:stretch>
        </p:blipFill>
        <p:spPr>
          <a:xfrm>
            <a:off x="0" y="0"/>
            <a:ext cx="12191695" cy="6858000"/>
          </a:xfrm>
          <a:prstGeom prst="rect">
            <a:avLst/>
          </a:prstGeom>
        </p:spPr>
      </p:pic>
      <p:pic>
        <p:nvPicPr>
          <p:cNvPr id="5" name="anim-g3-1173" descr="C:\Users\user\projects\younes-training\turath\.pptx-cache\s167-3.jpg">    </p:cNvPr>
          <p:cNvPicPr>
            <a:picLocks noChangeAspect="1"/>
          </p:cNvPicPr>
          <p:nvPr/>
        </p:nvPicPr>
        <p:blipFill>
          <a:blip r:embed="rId4"/>
          <a:stretch>
            <a:fillRect/>
          </a:stretch>
        </p:blipFill>
        <p:spPr>
          <a:xfrm>
            <a:off x="0" y="0"/>
            <a:ext cx="12191695" cy="6858000"/>
          </a:xfrm>
          <a:prstGeom prst="rect">
            <a:avLst/>
          </a:prstGeom>
        </p:spPr>
      </p:pic>
      <p:pic>
        <p:nvPicPr>
          <p:cNvPr id="6" name="anim-g4-1174" descr="C:\Users\user\projects\younes-training\turath\.pptx-cache\s167-4.jpg">    </p:cNvPr>
          <p:cNvPicPr>
            <a:picLocks noChangeAspect="1"/>
          </p:cNvPicPr>
          <p:nvPr/>
        </p:nvPicPr>
        <p:blipFill>
          <a:blip r:embed="rId5"/>
          <a:stretch>
            <a:fillRect/>
          </a:stretch>
        </p:blipFill>
        <p:spPr>
          <a:xfrm>
            <a:off x="0" y="0"/>
            <a:ext cx="12191695" cy="6858000"/>
          </a:xfrm>
          <a:prstGeom prst="rect">
            <a:avLst/>
          </a:prstGeom>
        </p:spPr>
      </p:pic>
      <p:pic>
        <p:nvPicPr>
          <p:cNvPr id="7" name="anim-g5-1175" descr="C:\Users\user\projects\younes-training\turath\.pptx-cache\s167-5.jpg">    </p:cNvPr>
          <p:cNvPicPr>
            <a:picLocks noChangeAspect="1"/>
          </p:cNvPicPr>
          <p:nvPr/>
        </p:nvPicPr>
        <p:blipFill>
          <a:blip r:embed="rId6"/>
          <a:stretch>
            <a:fillRect/>
          </a:stretch>
        </p:blipFill>
        <p:spPr>
          <a:xfrm>
            <a:off x="0" y="0"/>
            <a:ext cx="12191695" cy="6858000"/>
          </a:xfrm>
          <a:prstGeom prst="rect">
            <a:avLst/>
          </a:prstGeom>
        </p:spPr>
      </p:pic>
      <p:pic>
        <p:nvPicPr>
          <p:cNvPr id="8" name="anim-g6-1176" descr="C:\Users\user\projects\younes-training\turath\.pptx-cache\s167-6.jpg">    </p:cNvPr>
          <p:cNvPicPr>
            <a:picLocks noChangeAspect="1"/>
          </p:cNvPicPr>
          <p:nvPr/>
        </p:nvPicPr>
        <p:blipFill>
          <a:blip r:embed="rId7"/>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8.xml><?xml version="1.0" encoding="utf-8"?>
<p:sld xmlns:a="http://schemas.openxmlformats.org/drawingml/2006/main" xmlns:r="http://schemas.openxmlformats.org/officeDocument/2006/relationships" xmlns:p="http://schemas.openxmlformats.org/presentationml/2006/main">
  <p:cSld name="Slide 16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711135" y="457200"/>
            <a:ext cx="3657600" cy="457200"/>
          </a:xfrm>
          <a:prstGeom prst="roundRect">
            <a:avLst>
              <a:gd name="adj" fmla="val 50000"/>
            </a:avLst>
          </a:prstGeom>
          <a:solidFill>
            <a:srgbClr val="F6EBCF"/>
          </a:solidFill>
          <a:ln/>
        </p:spPr>
      </p:sp>
      <p:sp>
        <p:nvSpPr>
          <p:cNvPr id="3" name="Text 1"/>
          <p:cNvSpPr/>
          <p:nvPr/>
        </p:nvSpPr>
        <p:spPr>
          <a:xfrm>
            <a:off x="7711135" y="457200"/>
            <a:ext cx="365760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تحسينات المحترفين</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من «يعمل» إلى «يعمل بذكاء»</a:t>
            </a:r>
            <a:endParaRPr lang="ar-SA" sz="3800" dirty="0"/>
          </a:p>
        </p:txBody>
      </p:sp>
      <p:sp>
        <p:nvSpPr>
          <p:cNvPr id="5" name="anim-g1-1177"/>
          <p:cNvSpPr/>
          <p:nvPr/>
        </p:nvSpPr>
        <p:spPr>
          <a:xfrm>
            <a:off x="6233008" y="2011680"/>
            <a:ext cx="513572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1178"/>
          <p:cNvSpPr/>
          <p:nvPr/>
        </p:nvSpPr>
        <p:spPr>
          <a:xfrm>
            <a:off x="10527487" y="2267712"/>
            <a:ext cx="566928" cy="566928"/>
          </a:xfrm>
          <a:prstGeom prst="roundRect">
            <a:avLst>
              <a:gd name="adj" fmla="val 32258"/>
            </a:avLst>
          </a:prstGeom>
          <a:solidFill>
            <a:srgbClr val="F7E6BC"/>
          </a:solidFill>
          <a:ln/>
        </p:spPr>
      </p:sp>
      <p:sp>
        <p:nvSpPr>
          <p:cNvPr id="7" name="anim-g1-1179"/>
          <p:cNvSpPr/>
          <p:nvPr/>
        </p:nvSpPr>
        <p:spPr>
          <a:xfrm>
            <a:off x="10527487"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1180"/>
          <p:cNvSpPr/>
          <p:nvPr/>
        </p:nvSpPr>
        <p:spPr>
          <a:xfrm>
            <a:off x="6507328" y="2944368"/>
            <a:ext cx="458708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تأكد قبل أن تتوقف</a:t>
            </a:r>
            <a:endParaRPr lang="ar-SA" sz="2200" dirty="0"/>
          </a:p>
        </p:txBody>
      </p:sp>
      <p:sp>
        <p:nvSpPr>
          <p:cNvPr id="9" name="anim-g1-1181"/>
          <p:cNvSpPr/>
          <p:nvPr/>
        </p:nvSpPr>
        <p:spPr>
          <a:xfrm>
            <a:off x="6507328" y="3493008"/>
            <a:ext cx="458708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لهب السيارة على 35: ارشّ حتى تختفي النار، لا ٤ ثوانٍ ثابتة</a:t>
            </a:r>
            <a:endParaRPr lang="ar-SA" sz="1900" dirty="0"/>
          </a:p>
        </p:txBody>
      </p:sp>
      <p:sp>
        <p:nvSpPr>
          <p:cNvPr id="10" name="anim-g2-1182"/>
          <p:cNvSpPr/>
          <p:nvPr/>
        </p:nvSpPr>
        <p:spPr>
          <a:xfrm>
            <a:off x="822960" y="2011680"/>
            <a:ext cx="513572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1183"/>
          <p:cNvSpPr/>
          <p:nvPr/>
        </p:nvSpPr>
        <p:spPr>
          <a:xfrm>
            <a:off x="5117440" y="2267712"/>
            <a:ext cx="566928" cy="566928"/>
          </a:xfrm>
          <a:prstGeom prst="roundRect">
            <a:avLst>
              <a:gd name="adj" fmla="val 32258"/>
            </a:avLst>
          </a:prstGeom>
          <a:solidFill>
            <a:srgbClr val="F7E6BC"/>
          </a:solidFill>
          <a:ln/>
        </p:spPr>
      </p:sp>
      <p:sp>
        <p:nvSpPr>
          <p:cNvPr id="12" name="anim-g2-1184"/>
          <p:cNvSpPr/>
          <p:nvPr/>
        </p:nvSpPr>
        <p:spPr>
          <a:xfrm>
            <a:off x="5117440"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1185"/>
          <p:cNvSpPr/>
          <p:nvPr/>
        </p:nvSpPr>
        <p:spPr>
          <a:xfrm>
            <a:off x="1097280" y="2944368"/>
            <a:ext cx="458708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روبوتان معًا</a:t>
            </a:r>
            <a:endParaRPr lang="ar-SA" sz="2200" dirty="0"/>
          </a:p>
        </p:txBody>
      </p:sp>
      <p:sp>
        <p:nvSpPr>
          <p:cNvPr id="14" name="anim-g2-1186"/>
          <p:cNvSpPr/>
          <p:nvPr/>
        </p:nvSpPr>
        <p:spPr>
          <a:xfrm>
            <a:off x="1097280" y="3493008"/>
            <a:ext cx="458708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الخطران يُعالَجان في الوقت نفسه بدل التتابع</a:t>
            </a:r>
            <a:endParaRPr lang="ar-SA" sz="1900" dirty="0"/>
          </a:p>
        </p:txBody>
      </p:sp>
      <p:sp>
        <p:nvSpPr>
          <p:cNvPr id="15" name="anim-g3-1187"/>
          <p:cNvSpPr/>
          <p:nvPr/>
        </p:nvSpPr>
        <p:spPr>
          <a:xfrm>
            <a:off x="6233008" y="4137660"/>
            <a:ext cx="513572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1188"/>
          <p:cNvSpPr/>
          <p:nvPr/>
        </p:nvSpPr>
        <p:spPr>
          <a:xfrm>
            <a:off x="10527487" y="4393692"/>
            <a:ext cx="566928" cy="566928"/>
          </a:xfrm>
          <a:prstGeom prst="roundRect">
            <a:avLst>
              <a:gd name="adj" fmla="val 32258"/>
            </a:avLst>
          </a:prstGeom>
          <a:solidFill>
            <a:srgbClr val="F7E6BC"/>
          </a:solidFill>
          <a:ln/>
        </p:spPr>
      </p:sp>
      <p:sp>
        <p:nvSpPr>
          <p:cNvPr id="17" name="anim-g3-1189"/>
          <p:cNvSpPr/>
          <p:nvPr/>
        </p:nvSpPr>
        <p:spPr>
          <a:xfrm>
            <a:off x="10527487" y="439369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1190"/>
          <p:cNvSpPr/>
          <p:nvPr/>
        </p:nvSpPr>
        <p:spPr>
          <a:xfrm>
            <a:off x="6507328" y="5070348"/>
            <a:ext cx="458708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رسالة «تمت المهمة»</a:t>
            </a:r>
            <a:endParaRPr lang="ar-SA" sz="2200" dirty="0"/>
          </a:p>
        </p:txBody>
      </p:sp>
      <p:sp>
        <p:nvSpPr>
          <p:cNvPr id="19" name="anim-g3-1191"/>
          <p:cNvSpPr/>
          <p:nvPr/>
        </p:nvSpPr>
        <p:spPr>
          <a:xfrm>
            <a:off x="6507328" y="5618988"/>
            <a:ext cx="458708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السيارة تخبر المحطة فتعرض «Zone A Safe»</a:t>
            </a:r>
            <a:endParaRPr lang="ar-SA" sz="1900" dirty="0"/>
          </a:p>
        </p:txBody>
      </p:sp>
      <p:sp>
        <p:nvSpPr>
          <p:cNvPr id="20" name="anim-g4-1192"/>
          <p:cNvSpPr/>
          <p:nvPr/>
        </p:nvSpPr>
        <p:spPr>
          <a:xfrm>
            <a:off x="822960" y="4137660"/>
            <a:ext cx="513572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21" name="anim-g4-1193"/>
          <p:cNvSpPr/>
          <p:nvPr/>
        </p:nvSpPr>
        <p:spPr>
          <a:xfrm>
            <a:off x="5117440" y="4393692"/>
            <a:ext cx="566928" cy="566928"/>
          </a:xfrm>
          <a:prstGeom prst="roundRect">
            <a:avLst>
              <a:gd name="adj" fmla="val 32258"/>
            </a:avLst>
          </a:prstGeom>
          <a:solidFill>
            <a:srgbClr val="F7E6BC"/>
          </a:solidFill>
          <a:ln/>
        </p:spPr>
      </p:sp>
      <p:sp>
        <p:nvSpPr>
          <p:cNvPr id="22" name="anim-g4-1194"/>
          <p:cNvSpPr/>
          <p:nvPr/>
        </p:nvSpPr>
        <p:spPr>
          <a:xfrm>
            <a:off x="5117440" y="439369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23" name="anim-g4-1195"/>
          <p:cNvSpPr/>
          <p:nvPr/>
        </p:nvSpPr>
        <p:spPr>
          <a:xfrm>
            <a:off x="1097280" y="5070348"/>
            <a:ext cx="458708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راقب البطارية</a:t>
            </a:r>
            <a:endParaRPr lang="ar-SA" sz="2200" dirty="0"/>
          </a:p>
        </p:txBody>
      </p:sp>
      <p:sp>
        <p:nvSpPr>
          <p:cNvPr id="24" name="anim-g4-1196"/>
          <p:cNvSpPr/>
          <p:nvPr/>
        </p:nvSpPr>
        <p:spPr>
          <a:xfrm>
            <a:off x="1097280" y="5618988"/>
            <a:ext cx="458708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سيارة ضعيفة البطارية تعود ولا تخرج</a:t>
            </a:r>
            <a:endParaRPr lang="ar-SA" sz="1900" dirty="0"/>
          </a:p>
        </p:txBody>
      </p:sp>
      <p:sp>
        <p:nvSpPr>
          <p:cNvPr id="25" name="Text 2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6" name="Text 2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المهمة الكاملة  ·  ١٦٨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Image 0" descr="C:\Users\user\projects\younes-training\turath\.pptx-cache\s169.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881567" y="457200"/>
            <a:ext cx="2487168" cy="457200"/>
          </a:xfrm>
          <a:prstGeom prst="roundRect">
            <a:avLst>
              <a:gd name="adj" fmla="val 50000"/>
            </a:avLst>
          </a:prstGeom>
          <a:solidFill>
            <a:srgbClr val="F6EBCF"/>
          </a:solidFill>
          <a:ln/>
        </p:spPr>
      </p:sp>
      <p:sp>
        <p:nvSpPr>
          <p:cNvPr id="3" name="Text 1"/>
          <p:cNvSpPr/>
          <p:nvPr/>
        </p:nvSpPr>
        <p:spPr>
          <a:xfrm>
            <a:off x="8881567" y="45720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اختبر نفسك</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لماذا نكتب newAlarm = false في أول المهمة لا في آخرها؟</a:t>
            </a:r>
            <a:endParaRPr lang="ar-SA" sz="3200" dirty="0"/>
          </a:p>
        </p:txBody>
      </p:sp>
      <p:sp>
        <p:nvSpPr>
          <p:cNvPr id="5" name="Shape 3"/>
          <p:cNvSpPr/>
          <p:nvPr/>
        </p:nvSpPr>
        <p:spPr>
          <a:xfrm>
            <a:off x="822960" y="2057400"/>
            <a:ext cx="10545775" cy="1228344"/>
          </a:xfrm>
          <a:prstGeom prst="roundRect">
            <a:avLst>
              <a:gd name="adj" fmla="val 11911"/>
            </a:avLst>
          </a:prstGeom>
          <a:solidFill>
            <a:srgbClr val="FFFFFF"/>
          </a:solidFill>
          <a:ln w="19050">
            <a:solidFill>
              <a:srgbClr val="E4DCC8"/>
            </a:solidFill>
            <a:prstDash val="solid"/>
          </a:ln>
        </p:spPr>
      </p:sp>
      <p:sp>
        <p:nvSpPr>
          <p:cNvPr id="6" name="Shape 4"/>
          <p:cNvSpPr/>
          <p:nvPr/>
        </p:nvSpPr>
        <p:spPr>
          <a:xfrm>
            <a:off x="10231831" y="2194560"/>
            <a:ext cx="954024" cy="954024"/>
          </a:xfrm>
          <a:prstGeom prst="roundRect">
            <a:avLst>
              <a:gd name="adj" fmla="val 11502"/>
            </a:avLst>
          </a:prstGeom>
          <a:solidFill>
            <a:srgbClr val="101B45"/>
          </a:solidFill>
          <a:ln/>
        </p:spPr>
      </p:sp>
      <p:sp>
        <p:nvSpPr>
          <p:cNvPr id="7" name="Text 5"/>
          <p:cNvSpPr/>
          <p:nvPr/>
        </p:nvSpPr>
        <p:spPr>
          <a:xfrm>
            <a:off x="10231831" y="2194560"/>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8" name="Text 6"/>
          <p:cNvSpPr/>
          <p:nvPr/>
        </p:nvSpPr>
        <p:spPr>
          <a:xfrm>
            <a:off x="1097280" y="2057400"/>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لا فرق</a:t>
            </a:r>
            <a:endParaRPr lang="ar-SA" sz="2500" dirty="0"/>
          </a:p>
        </p:txBody>
      </p:sp>
      <p:sp>
        <p:nvSpPr>
          <p:cNvPr id="9" name="anim-g1-1197"/>
          <p:cNvSpPr/>
          <p:nvPr/>
        </p:nvSpPr>
        <p:spPr>
          <a:xfrm>
            <a:off x="822960" y="2057400"/>
            <a:ext cx="10545775" cy="1228344"/>
          </a:xfrm>
          <a:prstGeom prst="roundRect">
            <a:avLst>
              <a:gd name="adj" fmla="val 11911"/>
            </a:avLst>
          </a:prstGeom>
          <a:solidFill>
            <a:srgbClr val="F7F7F9"/>
          </a:solidFill>
          <a:ln w="19050">
            <a:solidFill>
              <a:srgbClr val="E4DCC8"/>
            </a:solidFill>
            <a:prstDash val="solid"/>
          </a:ln>
        </p:spPr>
      </p:sp>
      <p:sp>
        <p:nvSpPr>
          <p:cNvPr id="10" name="anim-g1-1198"/>
          <p:cNvSpPr/>
          <p:nvPr/>
        </p:nvSpPr>
        <p:spPr>
          <a:xfrm>
            <a:off x="10231831" y="2194560"/>
            <a:ext cx="954024" cy="954024"/>
          </a:xfrm>
          <a:prstGeom prst="roundRect">
            <a:avLst>
              <a:gd name="adj" fmla="val 11502"/>
            </a:avLst>
          </a:prstGeom>
          <a:solidFill>
            <a:srgbClr val="A3A9BA"/>
          </a:solidFill>
          <a:ln/>
        </p:spPr>
      </p:sp>
      <p:sp>
        <p:nvSpPr>
          <p:cNvPr id="11" name="anim-g1-1199"/>
          <p:cNvSpPr/>
          <p:nvPr/>
        </p:nvSpPr>
        <p:spPr>
          <a:xfrm>
            <a:off x="10231831" y="2194560"/>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12" name="anim-g1-1200"/>
          <p:cNvSpPr/>
          <p:nvPr/>
        </p:nvSpPr>
        <p:spPr>
          <a:xfrm>
            <a:off x="1097280" y="2093976"/>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8A90A3"/>
                </a:solidFill>
                <a:latin typeface="Cairo" pitchFamily="34" charset="0"/>
                <a:ea typeface="Cairo" pitchFamily="34" charset="-122"/>
                <a:cs typeface="Cairo" pitchFamily="34" charset="-120"/>
              </a:rPr>
              <a:t>لا فرق</a:t>
            </a:r>
            <a:endParaRPr lang="ar-SA" sz="2400" dirty="0"/>
          </a:p>
        </p:txBody>
      </p:sp>
      <p:sp>
        <p:nvSpPr>
          <p:cNvPr id="13" name="anim-g1-1201"/>
          <p:cNvSpPr/>
          <p:nvPr/>
        </p:nvSpPr>
        <p:spPr>
          <a:xfrm>
            <a:off x="1097280" y="2720706"/>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هناك فرق مهم</a:t>
            </a:r>
            <a:endParaRPr lang="ar-SA" sz="1800" dirty="0"/>
          </a:p>
        </p:txBody>
      </p:sp>
      <p:sp>
        <p:nvSpPr>
          <p:cNvPr id="14" name="Shape 12"/>
          <p:cNvSpPr/>
          <p:nvPr/>
        </p:nvSpPr>
        <p:spPr>
          <a:xfrm>
            <a:off x="822960" y="3432048"/>
            <a:ext cx="10545775" cy="1228344"/>
          </a:xfrm>
          <a:prstGeom prst="roundRect">
            <a:avLst>
              <a:gd name="adj" fmla="val 11911"/>
            </a:avLst>
          </a:prstGeom>
          <a:solidFill>
            <a:srgbClr val="FFFFFF"/>
          </a:solidFill>
          <a:ln w="19050">
            <a:solidFill>
              <a:srgbClr val="E4DCC8"/>
            </a:solidFill>
            <a:prstDash val="solid"/>
          </a:ln>
        </p:spPr>
      </p:sp>
      <p:sp>
        <p:nvSpPr>
          <p:cNvPr id="15" name="Shape 13"/>
          <p:cNvSpPr/>
          <p:nvPr/>
        </p:nvSpPr>
        <p:spPr>
          <a:xfrm>
            <a:off x="10231831" y="3569208"/>
            <a:ext cx="954024" cy="954024"/>
          </a:xfrm>
          <a:prstGeom prst="roundRect">
            <a:avLst>
              <a:gd name="adj" fmla="val 11502"/>
            </a:avLst>
          </a:prstGeom>
          <a:solidFill>
            <a:srgbClr val="101B45"/>
          </a:solidFill>
          <a:ln/>
        </p:spPr>
      </p:sp>
      <p:sp>
        <p:nvSpPr>
          <p:cNvPr id="16" name="Text 14"/>
          <p:cNvSpPr/>
          <p:nvPr/>
        </p:nvSpPr>
        <p:spPr>
          <a:xfrm>
            <a:off x="10231831" y="3569208"/>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17" name="Text 15"/>
          <p:cNvSpPr/>
          <p:nvPr/>
        </p:nvSpPr>
        <p:spPr>
          <a:xfrm>
            <a:off x="1097280" y="3432048"/>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لتسريع الكود</a:t>
            </a:r>
            <a:endParaRPr lang="ar-SA" sz="2500" dirty="0"/>
          </a:p>
        </p:txBody>
      </p:sp>
      <p:sp>
        <p:nvSpPr>
          <p:cNvPr id="18" name="anim-g1-1202"/>
          <p:cNvSpPr/>
          <p:nvPr/>
        </p:nvSpPr>
        <p:spPr>
          <a:xfrm>
            <a:off x="822960" y="3432048"/>
            <a:ext cx="10545775" cy="1228344"/>
          </a:xfrm>
          <a:prstGeom prst="roundRect">
            <a:avLst>
              <a:gd name="adj" fmla="val 11911"/>
            </a:avLst>
          </a:prstGeom>
          <a:solidFill>
            <a:srgbClr val="F7F7F9"/>
          </a:solidFill>
          <a:ln w="19050">
            <a:solidFill>
              <a:srgbClr val="E4DCC8"/>
            </a:solidFill>
            <a:prstDash val="solid"/>
          </a:ln>
        </p:spPr>
      </p:sp>
      <p:sp>
        <p:nvSpPr>
          <p:cNvPr id="19" name="anim-g1-1203"/>
          <p:cNvSpPr/>
          <p:nvPr/>
        </p:nvSpPr>
        <p:spPr>
          <a:xfrm>
            <a:off x="10231831" y="3569208"/>
            <a:ext cx="954024" cy="954024"/>
          </a:xfrm>
          <a:prstGeom prst="roundRect">
            <a:avLst>
              <a:gd name="adj" fmla="val 11502"/>
            </a:avLst>
          </a:prstGeom>
          <a:solidFill>
            <a:srgbClr val="A3A9BA"/>
          </a:solidFill>
          <a:ln/>
        </p:spPr>
      </p:sp>
      <p:sp>
        <p:nvSpPr>
          <p:cNvPr id="20" name="anim-g1-1204"/>
          <p:cNvSpPr/>
          <p:nvPr/>
        </p:nvSpPr>
        <p:spPr>
          <a:xfrm>
            <a:off x="10231831" y="3569208"/>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21" name="anim-g1-1205"/>
          <p:cNvSpPr/>
          <p:nvPr/>
        </p:nvSpPr>
        <p:spPr>
          <a:xfrm>
            <a:off x="1097280" y="3468624"/>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8A90A3"/>
                </a:solidFill>
                <a:latin typeface="Cairo" pitchFamily="34" charset="0"/>
                <a:ea typeface="Cairo" pitchFamily="34" charset="-122"/>
                <a:cs typeface="Cairo" pitchFamily="34" charset="-120"/>
              </a:rPr>
              <a:t>لتسريع الكود</a:t>
            </a:r>
            <a:endParaRPr lang="ar-SA" sz="2400" dirty="0"/>
          </a:p>
        </p:txBody>
      </p:sp>
      <p:sp>
        <p:nvSpPr>
          <p:cNvPr id="22" name="anim-g1-1206"/>
          <p:cNvSpPr/>
          <p:nvPr/>
        </p:nvSpPr>
        <p:spPr>
          <a:xfrm>
            <a:off x="1097280" y="4095354"/>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السرعة متقاربة</a:t>
            </a:r>
            <a:endParaRPr lang="ar-SA" sz="1800" dirty="0"/>
          </a:p>
        </p:txBody>
      </p:sp>
      <p:sp>
        <p:nvSpPr>
          <p:cNvPr id="23" name="Shape 21"/>
          <p:cNvSpPr/>
          <p:nvPr/>
        </p:nvSpPr>
        <p:spPr>
          <a:xfrm>
            <a:off x="822960" y="4806696"/>
            <a:ext cx="10545775" cy="1228344"/>
          </a:xfrm>
          <a:prstGeom prst="roundRect">
            <a:avLst>
              <a:gd name="adj" fmla="val 11911"/>
            </a:avLst>
          </a:prstGeom>
          <a:solidFill>
            <a:srgbClr val="FFFFFF"/>
          </a:solidFill>
          <a:ln w="19050">
            <a:solidFill>
              <a:srgbClr val="E4DCC8"/>
            </a:solidFill>
            <a:prstDash val="solid"/>
          </a:ln>
        </p:spPr>
      </p:sp>
      <p:sp>
        <p:nvSpPr>
          <p:cNvPr id="24" name="Shape 22"/>
          <p:cNvSpPr/>
          <p:nvPr/>
        </p:nvSpPr>
        <p:spPr>
          <a:xfrm>
            <a:off x="10231831" y="4943856"/>
            <a:ext cx="954024" cy="954024"/>
          </a:xfrm>
          <a:prstGeom prst="roundRect">
            <a:avLst>
              <a:gd name="adj" fmla="val 11502"/>
            </a:avLst>
          </a:prstGeom>
          <a:solidFill>
            <a:srgbClr val="101B45"/>
          </a:solidFill>
          <a:ln/>
        </p:spPr>
      </p:sp>
      <p:sp>
        <p:nvSpPr>
          <p:cNvPr id="25" name="Text 23"/>
          <p:cNvSpPr/>
          <p:nvPr/>
        </p:nvSpPr>
        <p:spPr>
          <a:xfrm>
            <a:off x="10231831" y="4943856"/>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26" name="Text 24"/>
          <p:cNvSpPr/>
          <p:nvPr/>
        </p:nvSpPr>
        <p:spPr>
          <a:xfrm>
            <a:off x="1097280" y="4806696"/>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حتى لا نضيّع إنذارًا جديدًا يصل أثناء المهمة</a:t>
            </a:r>
            <a:endParaRPr lang="ar-SA" sz="2500" dirty="0"/>
          </a:p>
        </p:txBody>
      </p:sp>
      <p:sp>
        <p:nvSpPr>
          <p:cNvPr id="27" name="anim-g1-1207"/>
          <p:cNvSpPr/>
          <p:nvPr/>
        </p:nvSpPr>
        <p:spPr>
          <a:xfrm>
            <a:off x="822960" y="4806696"/>
            <a:ext cx="10545775" cy="1228344"/>
          </a:xfrm>
          <a:prstGeom prst="roundRect">
            <a:avLst>
              <a:gd name="adj" fmla="val 11911"/>
            </a:avLst>
          </a:prstGeom>
          <a:solidFill>
            <a:srgbClr val="E6F4EC"/>
          </a:solidFill>
          <a:ln w="31750">
            <a:solidFill>
              <a:srgbClr val="2E9E6B"/>
            </a:solidFill>
            <a:prstDash val="solid"/>
          </a:ln>
        </p:spPr>
      </p:sp>
      <p:sp>
        <p:nvSpPr>
          <p:cNvPr id="28" name="anim-g1-1208"/>
          <p:cNvSpPr/>
          <p:nvPr/>
        </p:nvSpPr>
        <p:spPr>
          <a:xfrm>
            <a:off x="10231831" y="4943856"/>
            <a:ext cx="954024" cy="954024"/>
          </a:xfrm>
          <a:prstGeom prst="roundRect">
            <a:avLst>
              <a:gd name="adj" fmla="val 11502"/>
            </a:avLst>
          </a:prstGeom>
          <a:solidFill>
            <a:srgbClr val="2E9E6B"/>
          </a:solidFill>
          <a:ln/>
        </p:spPr>
      </p:sp>
      <p:sp>
        <p:nvSpPr>
          <p:cNvPr id="29" name="anim-g1-1209"/>
          <p:cNvSpPr/>
          <p:nvPr/>
        </p:nvSpPr>
        <p:spPr>
          <a:xfrm>
            <a:off x="10231831" y="4943856"/>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a:t>
            </a:r>
            <a:endParaRPr lang="ar-SA" sz="2400" dirty="0"/>
          </a:p>
        </p:txBody>
      </p:sp>
      <p:sp>
        <p:nvSpPr>
          <p:cNvPr id="30" name="anim-g1-1210"/>
          <p:cNvSpPr/>
          <p:nvPr/>
        </p:nvSpPr>
        <p:spPr>
          <a:xfrm>
            <a:off x="1097280" y="4843272"/>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131B34"/>
                </a:solidFill>
                <a:latin typeface="Cairo" pitchFamily="34" charset="0"/>
                <a:ea typeface="Cairo" pitchFamily="34" charset="-122"/>
                <a:cs typeface="Cairo" pitchFamily="34" charset="-120"/>
              </a:rPr>
              <a:t>حتى لا نضيّع إنذارًا جديدًا يصل أثناء المهمة</a:t>
            </a:r>
            <a:endParaRPr lang="ar-SA" sz="2400" dirty="0"/>
          </a:p>
        </p:txBody>
      </p:sp>
      <p:sp>
        <p:nvSpPr>
          <p:cNvPr id="31" name="anim-g1-1211"/>
          <p:cNvSpPr/>
          <p:nvPr/>
        </p:nvSpPr>
        <p:spPr>
          <a:xfrm>
            <a:off x="1097280" y="5470002"/>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1D5E40"/>
                </a:solidFill>
                <a:latin typeface="Cairo" pitchFamily="34" charset="0"/>
                <a:ea typeface="Cairo" pitchFamily="34" charset="-122"/>
                <a:cs typeface="Cairo" pitchFamily="34" charset="-120"/>
              </a:rPr>
              <a:t>صحيح: لو أنزلناه في الآخر لمسحنا إنذارًا وصل ونحن نطفئ الأول</a:t>
            </a:r>
            <a:endParaRPr lang="ar-SA" sz="1800" dirty="0"/>
          </a:p>
        </p:txBody>
      </p:sp>
      <p:sp>
        <p:nvSpPr>
          <p:cNvPr id="32" name="Text 3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33" name="Text 3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المهمة الكاملة  ·  ١٧٠</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Lst>
  </p:timing>
</p:sld>
</file>

<file path=ppt/slides/slide171.xml><?xml version="1.0" encoding="utf-8"?>
<p:sld xmlns:a="http://schemas.openxmlformats.org/drawingml/2006/main" xmlns:r="http://schemas.openxmlformats.org/officeDocument/2006/relationships" xmlns:p="http://schemas.openxmlformats.org/presentationml/2006/main">
  <p:cSld name="Slide 17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خلاصة المحور</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rtl="1"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محطة رأت، ورسالة طارت، وسيارة قررت وذهبت وأطفأت وعادت: لمسات تراث تعمل</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لمسة تراث</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 المهمة الكاملة  ·  ١٧١</a:t>
            </a:r>
            <a:endParaRPr lang="ar-SA" sz="1200"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097280" y="2103120"/>
            <a:ext cx="2651760" cy="2651760"/>
          </a:xfrm>
          <a:prstGeom prst="ellipse">
            <a:avLst/>
          </a:prstGeom>
          <a:solidFill>
            <a:srgbClr val="D9AE4B">
              <a:alpha val="12000"/>
            </a:srgbClr>
          </a:solidFill>
          <a:ln w="63500">
            <a:solidFill>
              <a:srgbClr val="D9AE4B">
                <a:alpha val="60000"/>
              </a:srgbClr>
            </a:solidFill>
            <a:prstDash val="solid"/>
          </a:ln>
        </p:spPr>
      </p:sp>
      <p:sp>
        <p:nvSpPr>
          <p:cNvPr id="3" name="Text 1"/>
          <p:cNvSpPr/>
          <p:nvPr/>
        </p:nvSpPr>
        <p:spPr>
          <a:xfrm>
            <a:off x="1097280" y="2103120"/>
            <a:ext cx="2651760" cy="2651760"/>
          </a:xfrm>
          <a:prstGeom prst="rect">
            <a:avLst/>
          </a:prstGeom>
          <a:noFill/>
          <a:ln/>
        </p:spPr>
        <p:txBody>
          <a:bodyPr wrap="square" lIns="0" tIns="0" rIns="0" bIns="0" rtlCol="0" anchor="ctr">
            <a:normAutofit/>
          </a:bodyPr>
          <a:lstStyle/>
          <a:p>
            <a:pPr rtl="1" algn="ctr" indent="0" marL="0">
              <a:buNone/>
            </a:pPr>
            <a:r>
              <a:rPr lang="ar-SA" altLang="en-US" sz="12000" dirty="0">
                <a:solidFill>
                  <a:srgbClr val="F0CC7A"/>
                </a:solidFill>
                <a:latin typeface="Cairo Black" pitchFamily="34" charset="0"/>
                <a:ea typeface="Cairo Black" pitchFamily="34" charset="-122"/>
                <a:cs typeface="Cairo Black" pitchFamily="34" charset="-120"/>
              </a:rPr>
              <a:t>١٦</a:t>
            </a:r>
            <a:endParaRPr lang="ar-SA" sz="12000" dirty="0"/>
          </a:p>
        </p:txBody>
      </p:sp>
      <p:sp>
        <p:nvSpPr>
          <p:cNvPr id="4" name="Text 2"/>
          <p:cNvSpPr/>
          <p:nvPr/>
        </p:nvSpPr>
        <p:spPr>
          <a:xfrm>
            <a:off x="4206240" y="1828800"/>
            <a:ext cx="7162495" cy="457200"/>
          </a:xfrm>
          <a:prstGeom prst="rect">
            <a:avLst/>
          </a:prstGeom>
          <a:noFill/>
          <a:ln/>
        </p:spPr>
        <p:txBody>
          <a:bodyPr wrap="square" lIns="0" tIns="0" rIns="0" bIns="0" rtlCol="0" anchor="ctr">
            <a:normAutofit/>
          </a:bodyPr>
          <a:lstStyle/>
          <a:p>
            <a:pPr rtl="1" algn="r" indent="0" marL="0">
              <a:buNone/>
            </a:pPr>
            <a:r>
              <a:rPr lang="ar-SA" altLang="en-US" sz="2000" b="1" dirty="0">
                <a:solidFill>
                  <a:srgbClr val="D9AE4B"/>
                </a:solidFill>
                <a:latin typeface="Cairo" pitchFamily="34" charset="0"/>
                <a:ea typeface="Cairo" pitchFamily="34" charset="-122"/>
                <a:cs typeface="Cairo" pitchFamily="34" charset="-120"/>
              </a:rPr>
              <a:t>المحور ١٦</a:t>
            </a:r>
            <a:endParaRPr lang="ar-SA" sz="2000" dirty="0"/>
          </a:p>
        </p:txBody>
      </p:sp>
      <p:sp>
        <p:nvSpPr>
          <p:cNvPr id="5" name="Text 3"/>
          <p:cNvSpPr/>
          <p:nvPr/>
        </p:nvSpPr>
        <p:spPr>
          <a:xfrm>
            <a:off x="4206240" y="2286000"/>
            <a:ext cx="7162495" cy="1371600"/>
          </a:xfrm>
          <a:prstGeom prst="rect">
            <a:avLst/>
          </a:prstGeom>
          <a:noFill/>
          <a:ln/>
        </p:spPr>
        <p:txBody>
          <a:bodyPr wrap="square" lIns="0" tIns="0" rIns="0" bIns="0" rtlCol="0" anchor="ctr">
            <a:normAutofit/>
          </a:bodyPr>
          <a:lstStyle/>
          <a:p>
            <a:pPr rtl="1" algn="r" indent="0" marL="0">
              <a:buNone/>
            </a:pPr>
            <a:r>
              <a:rPr lang="ar-SA" altLang="en-US" sz="5600" dirty="0">
                <a:solidFill>
                  <a:srgbClr val="FFFFFF"/>
                </a:solidFill>
                <a:latin typeface="Cairo Black" pitchFamily="34" charset="0"/>
                <a:ea typeface="Cairo Black" pitchFamily="34" charset="-122"/>
                <a:cs typeface="Cairo Black" pitchFamily="34" charset="-120"/>
              </a:rPr>
              <a:t>🏆 يوم المعرض</a:t>
            </a:r>
            <a:endParaRPr lang="ar-SA" sz="5600" dirty="0"/>
          </a:p>
        </p:txBody>
      </p:sp>
      <p:sp>
        <p:nvSpPr>
          <p:cNvPr id="6" name="Text 4"/>
          <p:cNvSpPr/>
          <p:nvPr/>
        </p:nvSpPr>
        <p:spPr>
          <a:xfrm>
            <a:off x="4206240" y="3749040"/>
            <a:ext cx="7162495" cy="822960"/>
          </a:xfrm>
          <a:prstGeom prst="rect">
            <a:avLst/>
          </a:prstGeom>
          <a:noFill/>
          <a:ln/>
        </p:spPr>
        <p:txBody>
          <a:bodyPr wrap="square" lIns="0" tIns="0" rIns="0" bIns="0" rtlCol="0" anchor="ctr">
            <a:normAutofit/>
          </a:bodyPr>
          <a:lstStyle/>
          <a:p>
            <a:pPr rtl="1" algn="r" indent="0" marL="0">
              <a:buNone/>
            </a:pPr>
            <a:r>
              <a:rPr lang="ar-SA" altLang="en-US" sz="2200" b="1" dirty="0">
                <a:solidFill>
                  <a:srgbClr val="C9CFE6"/>
                </a:solidFill>
                <a:latin typeface="Cairo" pitchFamily="34" charset="0"/>
                <a:ea typeface="Cairo" pitchFamily="34" charset="-122"/>
                <a:cs typeface="Cairo" pitchFamily="34" charset="-120"/>
              </a:rPr>
              <a:t>مشروع للجميع… يستحق عرضًا يليق به</a:t>
            </a:r>
            <a:endParaRPr lang="ar-SA" sz="2200" dirty="0"/>
          </a:p>
        </p:txBody>
      </p:sp>
      <p:sp>
        <p:nvSpPr>
          <p:cNvPr id="7" name="Text 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لمسة تراث</a:t>
            </a:r>
            <a:endParaRPr lang="ar-SA" sz="1200" dirty="0"/>
          </a:p>
        </p:txBody>
      </p:sp>
      <p:sp>
        <p:nvSpPr>
          <p:cNvPr id="8" name="Text 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 المعرض والختام  ·  ١٧٢</a:t>
            </a:r>
            <a:endParaRPr lang="ar-SA" sz="1200"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Image 0" descr="C:\Users\user\projects\younes-training\turath\.pptx-cache\s173.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Image 0" descr="C:\Users\user\projects\younes-training\turath\.pptx-cache\s174.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442655" y="457200"/>
            <a:ext cx="2926080" cy="457200"/>
          </a:xfrm>
          <a:prstGeom prst="roundRect">
            <a:avLst>
              <a:gd name="adj" fmla="val 50000"/>
            </a:avLst>
          </a:prstGeom>
          <a:solidFill>
            <a:srgbClr val="F6EBCF"/>
          </a:solidFill>
          <a:ln/>
        </p:spPr>
      </p:sp>
      <p:sp>
        <p:nvSpPr>
          <p:cNvPr id="3" name="Text 1"/>
          <p:cNvSpPr/>
          <p:nvPr/>
        </p:nvSpPr>
        <p:spPr>
          <a:xfrm>
            <a:off x="8442655" y="457200"/>
            <a:ext cx="292608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قصص التحديات</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خمسة تحديات واجهها الفريق… وكيف حُلّت</a:t>
            </a:r>
            <a:endParaRPr lang="ar-SA" sz="3200" dirty="0"/>
          </a:p>
        </p:txBody>
      </p:sp>
      <p:sp>
        <p:nvSpPr>
          <p:cNvPr id="5" name="Shape 3"/>
          <p:cNvSpPr/>
          <p:nvPr/>
        </p:nvSpPr>
        <p:spPr>
          <a:xfrm>
            <a:off x="7194316" y="1874520"/>
            <a:ext cx="4174419" cy="548640"/>
          </a:xfrm>
          <a:prstGeom prst="roundRect">
            <a:avLst>
              <a:gd name="adj" fmla="val 20000"/>
            </a:avLst>
          </a:prstGeom>
          <a:solidFill>
            <a:srgbClr val="101B45"/>
          </a:solidFill>
          <a:ln/>
        </p:spPr>
      </p:sp>
      <p:sp>
        <p:nvSpPr>
          <p:cNvPr id="6" name="Text 4"/>
          <p:cNvSpPr/>
          <p:nvPr/>
        </p:nvSpPr>
        <p:spPr>
          <a:xfrm>
            <a:off x="7194316" y="1874520"/>
            <a:ext cx="4174419" cy="548640"/>
          </a:xfrm>
          <a:prstGeom prst="rect">
            <a:avLst/>
          </a:prstGeom>
          <a:noFill/>
          <a:ln/>
        </p:spPr>
        <p:txBody>
          <a:bodyPr wrap="square" lIns="0" tIns="0" rIns="0" bIns="0" rtlCol="0" anchor="ctr">
            <a:normAutofit/>
          </a:bodyPr>
          <a:lstStyle/>
          <a:p>
            <a:pPr rtl="1" algn="ctr" indent="0" marL="0">
              <a:buNone/>
            </a:pPr>
            <a:r>
              <a:rPr lang="ar-SA" altLang="en-US" sz="1900" dirty="0">
                <a:solidFill>
                  <a:srgbClr val="FFFFFF"/>
                </a:solidFill>
                <a:latin typeface="Cairo Black" pitchFamily="34" charset="0"/>
                <a:ea typeface="Cairo Black" pitchFamily="34" charset="-122"/>
                <a:cs typeface="Cairo Black" pitchFamily="34" charset="-120"/>
              </a:rPr>
              <a:t>التحدي</a:t>
            </a:r>
            <a:endParaRPr lang="ar-SA" sz="1900" dirty="0"/>
          </a:p>
        </p:txBody>
      </p:sp>
      <p:sp>
        <p:nvSpPr>
          <p:cNvPr id="7" name="Shape 5"/>
          <p:cNvSpPr/>
          <p:nvPr/>
        </p:nvSpPr>
        <p:spPr>
          <a:xfrm>
            <a:off x="822960" y="1874520"/>
            <a:ext cx="6261628" cy="548640"/>
          </a:xfrm>
          <a:prstGeom prst="roundRect">
            <a:avLst>
              <a:gd name="adj" fmla="val 20000"/>
            </a:avLst>
          </a:prstGeom>
          <a:solidFill>
            <a:srgbClr val="101B45"/>
          </a:solidFill>
          <a:ln/>
        </p:spPr>
      </p:sp>
      <p:sp>
        <p:nvSpPr>
          <p:cNvPr id="8" name="Text 6"/>
          <p:cNvSpPr/>
          <p:nvPr/>
        </p:nvSpPr>
        <p:spPr>
          <a:xfrm>
            <a:off x="822960" y="1874520"/>
            <a:ext cx="6261628" cy="548640"/>
          </a:xfrm>
          <a:prstGeom prst="rect">
            <a:avLst/>
          </a:prstGeom>
          <a:noFill/>
          <a:ln/>
        </p:spPr>
        <p:txBody>
          <a:bodyPr wrap="square" lIns="0" tIns="0" rIns="0" bIns="0" rtlCol="0" anchor="ctr">
            <a:normAutofit/>
          </a:bodyPr>
          <a:lstStyle/>
          <a:p>
            <a:pPr rtl="1" algn="ctr" indent="0" marL="0">
              <a:buNone/>
            </a:pPr>
            <a:r>
              <a:rPr lang="ar-SA" altLang="en-US" sz="1900" dirty="0">
                <a:solidFill>
                  <a:srgbClr val="FFFFFF"/>
                </a:solidFill>
                <a:latin typeface="Cairo Black" pitchFamily="34" charset="0"/>
                <a:ea typeface="Cairo Black" pitchFamily="34" charset="-122"/>
                <a:cs typeface="Cairo Black" pitchFamily="34" charset="-120"/>
              </a:rPr>
              <a:t>الحل</a:t>
            </a:r>
            <a:endParaRPr lang="ar-SA" sz="1900" dirty="0"/>
          </a:p>
        </p:txBody>
      </p:sp>
      <p:sp>
        <p:nvSpPr>
          <p:cNvPr id="9" name="anim-g1-1212"/>
          <p:cNvSpPr/>
          <p:nvPr/>
        </p:nvSpPr>
        <p:spPr>
          <a:xfrm>
            <a:off x="7194316" y="2514600"/>
            <a:ext cx="4174419" cy="616306"/>
          </a:xfrm>
          <a:prstGeom prst="roundRect">
            <a:avLst>
              <a:gd name="adj" fmla="val 17804"/>
            </a:avLst>
          </a:prstGeom>
          <a:solidFill>
            <a:srgbClr val="FBF3DF"/>
          </a:solidFill>
          <a:ln w="12700">
            <a:solidFill>
              <a:srgbClr val="EFDDAF"/>
            </a:solidFill>
            <a:prstDash val="solid"/>
          </a:ln>
        </p:spPr>
      </p:sp>
      <p:sp>
        <p:nvSpPr>
          <p:cNvPr id="10" name="anim-g1-1213"/>
          <p:cNvSpPr/>
          <p:nvPr/>
        </p:nvSpPr>
        <p:spPr>
          <a:xfrm>
            <a:off x="7331476" y="2514600"/>
            <a:ext cx="3900099" cy="616306"/>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 الفيديو أقصر من الصوت (٢–١١ ث)</a:t>
            </a:r>
            <a:endParaRPr lang="ar-SA" sz="2100" dirty="0"/>
          </a:p>
        </p:txBody>
      </p:sp>
      <p:sp>
        <p:nvSpPr>
          <p:cNvPr id="11" name="anim-g1-1214"/>
          <p:cNvSpPr/>
          <p:nvPr/>
        </p:nvSpPr>
        <p:spPr>
          <a:xfrm>
            <a:off x="822960" y="2514600"/>
            <a:ext cx="6261628" cy="616306"/>
          </a:xfrm>
          <a:prstGeom prst="roundRect">
            <a:avLst>
              <a:gd name="adj" fmla="val 17804"/>
            </a:avLst>
          </a:prstGeom>
          <a:solidFill>
            <a:srgbClr val="E6F4EC"/>
          </a:solidFill>
          <a:ln w="12700">
            <a:solidFill>
              <a:srgbClr val="CDE9D9"/>
            </a:solidFill>
            <a:prstDash val="solid"/>
          </a:ln>
        </p:spPr>
      </p:sp>
      <p:sp>
        <p:nvSpPr>
          <p:cNvPr id="12" name="anim-g1-1215"/>
          <p:cNvSpPr/>
          <p:nvPr/>
        </p:nvSpPr>
        <p:spPr>
          <a:xfrm>
            <a:off x="960120" y="2514600"/>
            <a:ext cx="5987308" cy="616306"/>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تمديد كل فيديو بتجميد آخر إطار، مع حفظ النسخ الأصلية</a:t>
            </a:r>
            <a:endParaRPr lang="ar-SA" sz="2100" dirty="0"/>
          </a:p>
        </p:txBody>
      </p:sp>
      <p:sp>
        <p:nvSpPr>
          <p:cNvPr id="13" name="anim-g2-1216"/>
          <p:cNvSpPr/>
          <p:nvPr/>
        </p:nvSpPr>
        <p:spPr>
          <a:xfrm>
            <a:off x="7194316" y="3240634"/>
            <a:ext cx="4174419" cy="616306"/>
          </a:xfrm>
          <a:prstGeom prst="roundRect">
            <a:avLst>
              <a:gd name="adj" fmla="val 17804"/>
            </a:avLst>
          </a:prstGeom>
          <a:solidFill>
            <a:srgbClr val="FBF3DF"/>
          </a:solidFill>
          <a:ln w="12700">
            <a:solidFill>
              <a:srgbClr val="EFDDAF"/>
            </a:solidFill>
            <a:prstDash val="solid"/>
          </a:ln>
        </p:spPr>
      </p:sp>
      <p:sp>
        <p:nvSpPr>
          <p:cNvPr id="14" name="anim-g2-1217"/>
          <p:cNvSpPr/>
          <p:nvPr/>
        </p:nvSpPr>
        <p:spPr>
          <a:xfrm>
            <a:off x="7331476" y="3240634"/>
            <a:ext cx="3900099" cy="616306"/>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 رسالة ضائعة = دوران زائد</a:t>
            </a:r>
            <a:endParaRPr lang="ar-SA" sz="2100" dirty="0"/>
          </a:p>
        </p:txBody>
      </p:sp>
      <p:sp>
        <p:nvSpPr>
          <p:cNvPr id="15" name="anim-g2-1218"/>
          <p:cNvSpPr/>
          <p:nvPr/>
        </p:nvSpPr>
        <p:spPr>
          <a:xfrm>
            <a:off x="822960" y="3240634"/>
            <a:ext cx="6261628" cy="616306"/>
          </a:xfrm>
          <a:prstGeom prst="roundRect">
            <a:avLst>
              <a:gd name="adj" fmla="val 17804"/>
            </a:avLst>
          </a:prstGeom>
          <a:solidFill>
            <a:srgbClr val="E6F4EC"/>
          </a:solidFill>
          <a:ln w="12700">
            <a:solidFill>
              <a:srgbClr val="CDE9D9"/>
            </a:solidFill>
            <a:prstDash val="solid"/>
          </a:ln>
        </p:spPr>
      </p:sp>
      <p:sp>
        <p:nvSpPr>
          <p:cNvPr id="16" name="anim-g2-1219"/>
          <p:cNvSpPr/>
          <p:nvPr/>
        </p:nvSpPr>
        <p:spPr>
          <a:xfrm>
            <a:off x="960120" y="3240634"/>
            <a:ext cx="5987308" cy="616306"/>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تشخيص من سجلات التشغيل، وحارس يوقف المنصة بعد ثانية صمت</a:t>
            </a:r>
            <a:endParaRPr lang="ar-SA" sz="2100" dirty="0"/>
          </a:p>
        </p:txBody>
      </p:sp>
      <p:sp>
        <p:nvSpPr>
          <p:cNvPr id="17" name="anim-g3-1220"/>
          <p:cNvSpPr/>
          <p:nvPr/>
        </p:nvSpPr>
        <p:spPr>
          <a:xfrm>
            <a:off x="7194316" y="3966667"/>
            <a:ext cx="4174419" cy="616306"/>
          </a:xfrm>
          <a:prstGeom prst="roundRect">
            <a:avLst>
              <a:gd name="adj" fmla="val 17804"/>
            </a:avLst>
          </a:prstGeom>
          <a:solidFill>
            <a:srgbClr val="FBF3DF"/>
          </a:solidFill>
          <a:ln w="12700">
            <a:solidFill>
              <a:srgbClr val="EFDDAF"/>
            </a:solidFill>
            <a:prstDash val="solid"/>
          </a:ln>
        </p:spPr>
      </p:sp>
      <p:sp>
        <p:nvSpPr>
          <p:cNvPr id="18" name="anim-g3-1221"/>
          <p:cNvSpPr/>
          <p:nvPr/>
        </p:nvSpPr>
        <p:spPr>
          <a:xfrm>
            <a:off x="7331476" y="3966667"/>
            <a:ext cx="3900099" cy="616306"/>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 مؤشرات البؤبؤ معكوسة</a:t>
            </a:r>
            <a:endParaRPr lang="ar-SA" sz="2100" dirty="0"/>
          </a:p>
        </p:txBody>
      </p:sp>
      <p:sp>
        <p:nvSpPr>
          <p:cNvPr id="19" name="anim-g3-1222"/>
          <p:cNvSpPr/>
          <p:nvPr/>
        </p:nvSpPr>
        <p:spPr>
          <a:xfrm>
            <a:off x="822960" y="3966667"/>
            <a:ext cx="6261628" cy="616306"/>
          </a:xfrm>
          <a:prstGeom prst="roundRect">
            <a:avLst>
              <a:gd name="adj" fmla="val 17804"/>
            </a:avLst>
          </a:prstGeom>
          <a:solidFill>
            <a:srgbClr val="E6F4EC"/>
          </a:solidFill>
          <a:ln w="12700">
            <a:solidFill>
              <a:srgbClr val="CDE9D9"/>
            </a:solidFill>
            <a:prstDash val="solid"/>
          </a:ln>
        </p:spPr>
      </p:sp>
      <p:sp>
        <p:nvSpPr>
          <p:cNvPr id="20" name="anim-g3-1223"/>
          <p:cNvSpPr/>
          <p:nvPr/>
        </p:nvSpPr>
        <p:spPr>
          <a:xfrm>
            <a:off x="960120" y="3966667"/>
            <a:ext cx="5987308" cy="616306"/>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التحقق بالإحداثيات الخام بدل الثقة بالمصادر الشائعة</a:t>
            </a:r>
            <a:endParaRPr lang="ar-SA" sz="2100" dirty="0"/>
          </a:p>
        </p:txBody>
      </p:sp>
      <p:sp>
        <p:nvSpPr>
          <p:cNvPr id="21" name="anim-g4-1224"/>
          <p:cNvSpPr/>
          <p:nvPr/>
        </p:nvSpPr>
        <p:spPr>
          <a:xfrm>
            <a:off x="7194316" y="4692701"/>
            <a:ext cx="4174419" cy="616306"/>
          </a:xfrm>
          <a:prstGeom prst="roundRect">
            <a:avLst>
              <a:gd name="adj" fmla="val 17804"/>
            </a:avLst>
          </a:prstGeom>
          <a:solidFill>
            <a:srgbClr val="FBF3DF"/>
          </a:solidFill>
          <a:ln w="12700">
            <a:solidFill>
              <a:srgbClr val="EFDDAF"/>
            </a:solidFill>
            <a:prstDash val="solid"/>
          </a:ln>
        </p:spPr>
      </p:sp>
      <p:sp>
        <p:nvSpPr>
          <p:cNvPr id="22" name="anim-g4-1225"/>
          <p:cNvSpPr/>
          <p:nvPr/>
        </p:nvSpPr>
        <p:spPr>
          <a:xfrm>
            <a:off x="7331476" y="4692701"/>
            <a:ext cx="3900099" cy="616306"/>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 صوت خافت جدًا</a:t>
            </a:r>
            <a:endParaRPr lang="ar-SA" sz="2100" dirty="0"/>
          </a:p>
        </p:txBody>
      </p:sp>
      <p:sp>
        <p:nvSpPr>
          <p:cNvPr id="23" name="anim-g4-1226"/>
          <p:cNvSpPr/>
          <p:nvPr/>
        </p:nvSpPr>
        <p:spPr>
          <a:xfrm>
            <a:off x="822960" y="4692701"/>
            <a:ext cx="6261628" cy="616306"/>
          </a:xfrm>
          <a:prstGeom prst="roundRect">
            <a:avLst>
              <a:gd name="adj" fmla="val 17804"/>
            </a:avLst>
          </a:prstGeom>
          <a:solidFill>
            <a:srgbClr val="E6F4EC"/>
          </a:solidFill>
          <a:ln w="12700">
            <a:solidFill>
              <a:srgbClr val="CDE9D9"/>
            </a:solidFill>
            <a:prstDash val="solid"/>
          </a:ln>
        </p:spPr>
      </p:sp>
      <p:sp>
        <p:nvSpPr>
          <p:cNvPr id="24" name="anim-g4-1227"/>
          <p:cNvSpPr/>
          <p:nvPr/>
        </p:nvSpPr>
        <p:spPr>
          <a:xfrm>
            <a:off x="960120" y="4692701"/>
            <a:ext cx="5987308" cy="616306"/>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رفع الصوت من PipeWire ومن المشغّل معًا</a:t>
            </a:r>
            <a:endParaRPr lang="ar-SA" sz="2100" dirty="0"/>
          </a:p>
        </p:txBody>
      </p:sp>
      <p:sp>
        <p:nvSpPr>
          <p:cNvPr id="25" name="anim-g5-1228"/>
          <p:cNvSpPr/>
          <p:nvPr/>
        </p:nvSpPr>
        <p:spPr>
          <a:xfrm>
            <a:off x="7194316" y="5418734"/>
            <a:ext cx="4174419" cy="616306"/>
          </a:xfrm>
          <a:prstGeom prst="roundRect">
            <a:avLst>
              <a:gd name="adj" fmla="val 17804"/>
            </a:avLst>
          </a:prstGeom>
          <a:solidFill>
            <a:srgbClr val="FBF3DF"/>
          </a:solidFill>
          <a:ln w="12700">
            <a:solidFill>
              <a:srgbClr val="EFDDAF"/>
            </a:solidFill>
            <a:prstDash val="solid"/>
          </a:ln>
        </p:spPr>
      </p:sp>
      <p:sp>
        <p:nvSpPr>
          <p:cNvPr id="26" name="anim-g5-1229"/>
          <p:cNvSpPr/>
          <p:nvPr/>
        </p:nvSpPr>
        <p:spPr>
          <a:xfrm>
            <a:off x="7331476" y="5418734"/>
            <a:ext cx="3900099" cy="616306"/>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 نسيان كلمة مرور الراسبيري</a:t>
            </a:r>
            <a:endParaRPr lang="ar-SA" sz="2100" dirty="0"/>
          </a:p>
        </p:txBody>
      </p:sp>
      <p:sp>
        <p:nvSpPr>
          <p:cNvPr id="27" name="anim-g5-1230"/>
          <p:cNvSpPr/>
          <p:nvPr/>
        </p:nvSpPr>
        <p:spPr>
          <a:xfrm>
            <a:off x="822960" y="5418734"/>
            <a:ext cx="6261628" cy="616306"/>
          </a:xfrm>
          <a:prstGeom prst="roundRect">
            <a:avLst>
              <a:gd name="adj" fmla="val 17804"/>
            </a:avLst>
          </a:prstGeom>
          <a:solidFill>
            <a:srgbClr val="E6F4EC"/>
          </a:solidFill>
          <a:ln w="12700">
            <a:solidFill>
              <a:srgbClr val="CDE9D9"/>
            </a:solidFill>
            <a:prstDash val="solid"/>
          </a:ln>
        </p:spPr>
      </p:sp>
      <p:sp>
        <p:nvSpPr>
          <p:cNvPr id="28" name="anim-g5-1231"/>
          <p:cNvSpPr/>
          <p:nvPr/>
        </p:nvSpPr>
        <p:spPr>
          <a:xfrm>
            <a:off x="960120" y="5418734"/>
            <a:ext cx="5987308" cy="616306"/>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إعادة ضبطها من بطاقة الذاكرة دون فقد أي ملف</a:t>
            </a:r>
            <a:endParaRPr lang="ar-SA" sz="2100" dirty="0"/>
          </a:p>
        </p:txBody>
      </p:sp>
      <p:sp>
        <p:nvSpPr>
          <p:cNvPr id="29" name="Text 27"/>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30" name="Text 28"/>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المعرض والختام  ·  ١٧٥</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3"/>
                                        </p:tgtEl>
                                        <p:attrNameLst>
                                          <p:attrName>style.visibility</p:attrName>
                                        </p:attrNameLst>
                                      </p:cBhvr>
                                      <p:to>
                                        <p:strVal val="visible"/>
                                      </p:to>
                                    </p:set>
                                    <p:animEffect transition="in" filter="fade">
                                      <p:cBhvr>
                                        <p:cTn id="21" dur="400"/>
                                        <p:tgtEl>
                                          <p:spTgt spid="13"/>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400"/>
                                        <p:tgtEl>
                                          <p:spTgt spid="14"/>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fade">
                                      <p:cBhvr>
                                        <p:cTn id="27" dur="400"/>
                                        <p:tgtEl>
                                          <p:spTgt spid="15"/>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fade">
                                      <p:cBhvr>
                                        <p:cTn id="30" dur="400"/>
                                        <p:tgtEl>
                                          <p:spTgt spid="16"/>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400"/>
                                        <p:tgtEl>
                                          <p:spTgt spid="17"/>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8"/>
                                        </p:tgtEl>
                                        <p:attrNameLst>
                                          <p:attrName>style.visibility</p:attrName>
                                        </p:attrNameLst>
                                      </p:cBhvr>
                                      <p:to>
                                        <p:strVal val="visible"/>
                                      </p:to>
                                    </p:set>
                                    <p:animEffect transition="in" filter="fade">
                                      <p:cBhvr>
                                        <p:cTn id="38" dur="400"/>
                                        <p:tgtEl>
                                          <p:spTgt spid="18"/>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9"/>
                                        </p:tgtEl>
                                        <p:attrNameLst>
                                          <p:attrName>style.visibility</p:attrName>
                                        </p:attrNameLst>
                                      </p:cBhvr>
                                      <p:to>
                                        <p:strVal val="visible"/>
                                      </p:to>
                                    </p:set>
                                    <p:animEffect transition="in" filter="fade">
                                      <p:cBhvr>
                                        <p:cTn id="41" dur="400"/>
                                        <p:tgtEl>
                                          <p:spTgt spid="19"/>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21"/>
                                        </p:tgtEl>
                                        <p:attrNameLst>
                                          <p:attrName>style.visibility</p:attrName>
                                        </p:attrNameLst>
                                      </p:cBhvr>
                                      <p:to>
                                        <p:strVal val="visible"/>
                                      </p:to>
                                    </p:set>
                                    <p:animEffect transition="in" filter="fade">
                                      <p:cBhvr>
                                        <p:cTn id="49" dur="400"/>
                                        <p:tgtEl>
                                          <p:spTgt spid="21"/>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2"/>
                                        </p:tgtEl>
                                        <p:attrNameLst>
                                          <p:attrName>style.visibility</p:attrName>
                                        </p:attrNameLst>
                                      </p:cBhvr>
                                      <p:to>
                                        <p:strVal val="visible"/>
                                      </p:to>
                                    </p:set>
                                    <p:animEffect transition="in" filter="fade">
                                      <p:cBhvr>
                                        <p:cTn id="52" dur="400"/>
                                        <p:tgtEl>
                                          <p:spTgt spid="22"/>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fade">
                                      <p:cBhvr>
                                        <p:cTn id="55" dur="400"/>
                                        <p:tgtEl>
                                          <p:spTgt spid="23"/>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4"/>
                                        </p:tgtEl>
                                        <p:attrNameLst>
                                          <p:attrName>style.visibility</p:attrName>
                                        </p:attrNameLst>
                                      </p:cBhvr>
                                      <p:to>
                                        <p:strVal val="visible"/>
                                      </p:to>
                                    </p:set>
                                    <p:animEffect transition="in" filter="fade">
                                      <p:cBhvr>
                                        <p:cTn id="58" dur="400"/>
                                        <p:tgtEl>
                                          <p:spTgt spid="24"/>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25"/>
                                        </p:tgtEl>
                                        <p:attrNameLst>
                                          <p:attrName>style.visibility</p:attrName>
                                        </p:attrNameLst>
                                      </p:cBhvr>
                                      <p:to>
                                        <p:strVal val="visible"/>
                                      </p:to>
                                    </p:set>
                                    <p:animEffect transition="in" filter="fade">
                                      <p:cBhvr>
                                        <p:cTn id="63" dur="400"/>
                                        <p:tgtEl>
                                          <p:spTgt spid="25"/>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6"/>
                                        </p:tgtEl>
                                        <p:attrNameLst>
                                          <p:attrName>style.visibility</p:attrName>
                                        </p:attrNameLst>
                                      </p:cBhvr>
                                      <p:to>
                                        <p:strVal val="visible"/>
                                      </p:to>
                                    </p:set>
                                    <p:animEffect transition="in" filter="fade">
                                      <p:cBhvr>
                                        <p:cTn id="66" dur="400"/>
                                        <p:tgtEl>
                                          <p:spTgt spid="26"/>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7"/>
                                        </p:tgtEl>
                                        <p:attrNameLst>
                                          <p:attrName>style.visibility</p:attrName>
                                        </p:attrNameLst>
                                      </p:cBhvr>
                                      <p:to>
                                        <p:strVal val="visible"/>
                                      </p:to>
                                    </p:set>
                                    <p:animEffect transition="in" filter="fade">
                                      <p:cBhvr>
                                        <p:cTn id="69" dur="400"/>
                                        <p:tgtEl>
                                          <p:spTgt spid="27"/>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8"/>
                                        </p:tgtEl>
                                        <p:attrNameLst>
                                          <p:attrName>style.visibility</p:attrName>
                                        </p:attrNameLst>
                                      </p:cBhvr>
                                      <p:to>
                                        <p:strVal val="visible"/>
                                      </p:to>
                                    </p:set>
                                    <p:animEffect transition="in" filter="fade">
                                      <p:cBhvr>
                                        <p:cTn id="7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Image 0" descr="C:\Users\user\projects\younes-training\turath\.pptx-cache\s176.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466783" y="457200"/>
            <a:ext cx="1901952" cy="457200"/>
          </a:xfrm>
          <a:prstGeom prst="roundRect">
            <a:avLst>
              <a:gd name="adj" fmla="val 50000"/>
            </a:avLst>
          </a:prstGeom>
          <a:solidFill>
            <a:srgbClr val="F6EBCF"/>
          </a:solidFill>
          <a:ln/>
        </p:spPr>
      </p:sp>
      <p:sp>
        <p:nvSpPr>
          <p:cNvPr id="3" name="Text 1"/>
          <p:cNvSpPr/>
          <p:nvPr/>
        </p:nvSpPr>
        <p:spPr>
          <a:xfrm>
            <a:off x="9466783" y="457200"/>
            <a:ext cx="1901952"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الأثر</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لماذا يهم هذا المشروع العالم؟</a:t>
            </a:r>
            <a:endParaRPr lang="ar-SA" sz="3800" dirty="0"/>
          </a:p>
        </p:txBody>
      </p:sp>
      <p:sp>
        <p:nvSpPr>
          <p:cNvPr id="5" name="anim-g1-1232"/>
          <p:cNvSpPr/>
          <p:nvPr/>
        </p:nvSpPr>
        <p:spPr>
          <a:xfrm>
            <a:off x="6233008" y="2011680"/>
            <a:ext cx="513572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1233"/>
          <p:cNvSpPr/>
          <p:nvPr/>
        </p:nvSpPr>
        <p:spPr>
          <a:xfrm>
            <a:off x="10527487" y="2267712"/>
            <a:ext cx="566928" cy="566928"/>
          </a:xfrm>
          <a:prstGeom prst="roundRect">
            <a:avLst>
              <a:gd name="adj" fmla="val 32258"/>
            </a:avLst>
          </a:prstGeom>
          <a:solidFill>
            <a:srgbClr val="F7E6BC"/>
          </a:solidFill>
          <a:ln/>
        </p:spPr>
      </p:sp>
      <p:sp>
        <p:nvSpPr>
          <p:cNvPr id="7" name="anim-g1-1234"/>
          <p:cNvSpPr/>
          <p:nvPr/>
        </p:nvSpPr>
        <p:spPr>
          <a:xfrm>
            <a:off x="10527487"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1235"/>
          <p:cNvSpPr/>
          <p:nvPr/>
        </p:nvSpPr>
        <p:spPr>
          <a:xfrm>
            <a:off x="6507328" y="2944368"/>
            <a:ext cx="458708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الهدف ١٠ للتنمية المستدامة</a:t>
            </a:r>
            <a:endParaRPr lang="ar-SA" sz="2200" dirty="0"/>
          </a:p>
        </p:txBody>
      </p:sp>
      <p:sp>
        <p:nvSpPr>
          <p:cNvPr id="9" name="anim-g1-1236"/>
          <p:cNvSpPr/>
          <p:nvPr/>
        </p:nvSpPr>
        <p:spPr>
          <a:xfrm>
            <a:off x="6507328" y="3493008"/>
            <a:ext cx="458708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الحد من أوجه عدم المساواة: تجربة متساوية لذوي الإعاقات المختلفة</a:t>
            </a:r>
            <a:endParaRPr lang="ar-SA" sz="1900" dirty="0"/>
          </a:p>
        </p:txBody>
      </p:sp>
      <p:sp>
        <p:nvSpPr>
          <p:cNvPr id="10" name="anim-g2-1237"/>
          <p:cNvSpPr/>
          <p:nvPr/>
        </p:nvSpPr>
        <p:spPr>
          <a:xfrm>
            <a:off x="822960" y="2011680"/>
            <a:ext cx="513572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1238"/>
          <p:cNvSpPr/>
          <p:nvPr/>
        </p:nvSpPr>
        <p:spPr>
          <a:xfrm>
            <a:off x="5117440" y="2267712"/>
            <a:ext cx="566928" cy="566928"/>
          </a:xfrm>
          <a:prstGeom prst="roundRect">
            <a:avLst>
              <a:gd name="adj" fmla="val 32258"/>
            </a:avLst>
          </a:prstGeom>
          <a:solidFill>
            <a:srgbClr val="F7E6BC"/>
          </a:solidFill>
          <a:ln/>
        </p:spPr>
      </p:sp>
      <p:sp>
        <p:nvSpPr>
          <p:cNvPr id="12" name="anim-g2-1239"/>
          <p:cNvSpPr/>
          <p:nvPr/>
        </p:nvSpPr>
        <p:spPr>
          <a:xfrm>
            <a:off x="5117440"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1240"/>
          <p:cNvSpPr/>
          <p:nvPr/>
        </p:nvSpPr>
        <p:spPr>
          <a:xfrm>
            <a:off x="1097280" y="2944368"/>
            <a:ext cx="458708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الهدف ١١</a:t>
            </a:r>
            <a:endParaRPr lang="ar-SA" sz="2200" dirty="0"/>
          </a:p>
        </p:txBody>
      </p:sp>
      <p:sp>
        <p:nvSpPr>
          <p:cNvPr id="14" name="anim-g2-1241"/>
          <p:cNvSpPr/>
          <p:nvPr/>
        </p:nvSpPr>
        <p:spPr>
          <a:xfrm>
            <a:off x="1097280" y="3493008"/>
            <a:ext cx="458708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مدن ومجتمعات مستدامة: التراث الثقافي متاح للجميع بلا استثناء</a:t>
            </a:r>
            <a:endParaRPr lang="ar-SA" sz="1900" dirty="0"/>
          </a:p>
        </p:txBody>
      </p:sp>
      <p:sp>
        <p:nvSpPr>
          <p:cNvPr id="15" name="anim-g3-1242"/>
          <p:cNvSpPr/>
          <p:nvPr/>
        </p:nvSpPr>
        <p:spPr>
          <a:xfrm>
            <a:off x="6233008" y="4137660"/>
            <a:ext cx="513572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1243"/>
          <p:cNvSpPr/>
          <p:nvPr/>
        </p:nvSpPr>
        <p:spPr>
          <a:xfrm>
            <a:off x="10527487" y="4393692"/>
            <a:ext cx="566928" cy="566928"/>
          </a:xfrm>
          <a:prstGeom prst="roundRect">
            <a:avLst>
              <a:gd name="adj" fmla="val 32258"/>
            </a:avLst>
          </a:prstGeom>
          <a:solidFill>
            <a:srgbClr val="F7E6BC"/>
          </a:solidFill>
          <a:ln/>
        </p:spPr>
      </p:sp>
      <p:sp>
        <p:nvSpPr>
          <p:cNvPr id="17" name="anim-g3-1244"/>
          <p:cNvSpPr/>
          <p:nvPr/>
        </p:nvSpPr>
        <p:spPr>
          <a:xfrm>
            <a:off x="10527487" y="439369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1245"/>
          <p:cNvSpPr/>
          <p:nvPr/>
        </p:nvSpPr>
        <p:spPr>
          <a:xfrm>
            <a:off x="6507328" y="5070348"/>
            <a:ext cx="458708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رؤية ٢٠٣٠: مجتمع حيوي</a:t>
            </a:r>
            <a:endParaRPr lang="ar-SA" sz="2200" dirty="0"/>
          </a:p>
        </p:txBody>
      </p:sp>
      <p:sp>
        <p:nvSpPr>
          <p:cNvPr id="19" name="anim-g3-1246"/>
          <p:cNvSpPr/>
          <p:nvPr/>
        </p:nvSpPr>
        <p:spPr>
          <a:xfrm>
            <a:off x="6507328" y="5618988"/>
            <a:ext cx="458708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من نموذج الرعاية إلى نموذج التمكين والمشاركة الكاملة</a:t>
            </a:r>
            <a:endParaRPr lang="ar-SA" sz="1900" dirty="0"/>
          </a:p>
        </p:txBody>
      </p:sp>
      <p:sp>
        <p:nvSpPr>
          <p:cNvPr id="20" name="anim-g4-1247"/>
          <p:cNvSpPr/>
          <p:nvPr/>
        </p:nvSpPr>
        <p:spPr>
          <a:xfrm>
            <a:off x="822960" y="4137660"/>
            <a:ext cx="513572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21" name="anim-g4-1248"/>
          <p:cNvSpPr/>
          <p:nvPr/>
        </p:nvSpPr>
        <p:spPr>
          <a:xfrm>
            <a:off x="5117440" y="4393692"/>
            <a:ext cx="566928" cy="566928"/>
          </a:xfrm>
          <a:prstGeom prst="roundRect">
            <a:avLst>
              <a:gd name="adj" fmla="val 32258"/>
            </a:avLst>
          </a:prstGeom>
          <a:solidFill>
            <a:srgbClr val="F7E6BC"/>
          </a:solidFill>
          <a:ln/>
        </p:spPr>
      </p:sp>
      <p:sp>
        <p:nvSpPr>
          <p:cNvPr id="22" name="anim-g4-1249"/>
          <p:cNvSpPr/>
          <p:nvPr/>
        </p:nvSpPr>
        <p:spPr>
          <a:xfrm>
            <a:off x="5117440" y="439369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23" name="anim-g4-1250"/>
          <p:cNvSpPr/>
          <p:nvPr/>
        </p:nvSpPr>
        <p:spPr>
          <a:xfrm>
            <a:off x="1097280" y="5070348"/>
            <a:ext cx="458708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قابل للتكرار</a:t>
            </a:r>
            <a:endParaRPr lang="ar-SA" sz="2200" dirty="0"/>
          </a:p>
        </p:txBody>
      </p:sp>
      <p:sp>
        <p:nvSpPr>
          <p:cNvPr id="24" name="anim-g4-1251"/>
          <p:cNvSpPr/>
          <p:nvPr/>
        </p:nvSpPr>
        <p:spPr>
          <a:xfrm>
            <a:off x="1097280" y="5618988"/>
            <a:ext cx="458708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على مواقع تراثية أخرى، بتكلفة معقولة مقارنة بالحلول التجارية</a:t>
            </a:r>
            <a:endParaRPr lang="ar-SA" sz="1900" dirty="0"/>
          </a:p>
        </p:txBody>
      </p:sp>
      <p:sp>
        <p:nvSpPr>
          <p:cNvPr id="25" name="Text 2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6" name="Text 2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المعرض والختام  ·  ١٧٧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178.xml><?xml version="1.0" encoding="utf-8"?>
<p:sld xmlns:a="http://schemas.openxmlformats.org/drawingml/2006/main" xmlns:r="http://schemas.openxmlformats.org/officeDocument/2006/relationships" xmlns:p="http://schemas.openxmlformats.org/presentationml/2006/main">
  <p:cSld name="Slide 17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442655" y="457200"/>
            <a:ext cx="2926080" cy="457200"/>
          </a:xfrm>
          <a:prstGeom prst="roundRect">
            <a:avLst>
              <a:gd name="adj" fmla="val 50000"/>
            </a:avLst>
          </a:prstGeom>
          <a:solidFill>
            <a:srgbClr val="F6EBCF"/>
          </a:solidFill>
          <a:ln/>
        </p:spPr>
      </p:sp>
      <p:sp>
        <p:nvSpPr>
          <p:cNvPr id="3" name="Text 1"/>
          <p:cNvSpPr/>
          <p:nvPr/>
        </p:nvSpPr>
        <p:spPr>
          <a:xfrm>
            <a:off x="8442655" y="457200"/>
            <a:ext cx="292608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للمعلم والمحكّم</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بطاقة تقييم «لمسة تراث»</a:t>
            </a:r>
            <a:endParaRPr lang="ar-SA" sz="3800" dirty="0"/>
          </a:p>
        </p:txBody>
      </p:sp>
      <p:sp>
        <p:nvSpPr>
          <p:cNvPr id="5" name="Shape 3"/>
          <p:cNvSpPr/>
          <p:nvPr/>
        </p:nvSpPr>
        <p:spPr>
          <a:xfrm>
            <a:off x="8939013" y="1874520"/>
            <a:ext cx="2429722" cy="548640"/>
          </a:xfrm>
          <a:prstGeom prst="roundRect">
            <a:avLst>
              <a:gd name="adj" fmla="val 20000"/>
            </a:avLst>
          </a:prstGeom>
          <a:solidFill>
            <a:srgbClr val="101B45"/>
          </a:solidFill>
          <a:ln/>
        </p:spPr>
      </p:sp>
      <p:sp>
        <p:nvSpPr>
          <p:cNvPr id="6" name="Text 4"/>
          <p:cNvSpPr/>
          <p:nvPr/>
        </p:nvSpPr>
        <p:spPr>
          <a:xfrm>
            <a:off x="8939013" y="1874520"/>
            <a:ext cx="2429722" cy="548640"/>
          </a:xfrm>
          <a:prstGeom prst="rect">
            <a:avLst/>
          </a:prstGeom>
          <a:noFill/>
          <a:ln/>
        </p:spPr>
        <p:txBody>
          <a:bodyPr wrap="square" lIns="0" tIns="0" rIns="0" bIns="0" rtlCol="0" anchor="ctr">
            <a:normAutofit/>
          </a:bodyPr>
          <a:lstStyle/>
          <a:p>
            <a:pPr rtl="1" algn="ctr" indent="0" marL="0">
              <a:buNone/>
            </a:pPr>
            <a:r>
              <a:rPr lang="ar-SA" altLang="en-US" sz="1900" dirty="0">
                <a:solidFill>
                  <a:srgbClr val="FFFFFF"/>
                </a:solidFill>
                <a:latin typeface="Cairo Black" pitchFamily="34" charset="0"/>
                <a:ea typeface="Cairo Black" pitchFamily="34" charset="-122"/>
                <a:cs typeface="Cairo Black" pitchFamily="34" charset="-120"/>
              </a:rPr>
              <a:t>المعيار</a:t>
            </a:r>
            <a:endParaRPr lang="ar-SA" sz="1900" dirty="0"/>
          </a:p>
        </p:txBody>
      </p:sp>
      <p:sp>
        <p:nvSpPr>
          <p:cNvPr id="7" name="Shape 5"/>
          <p:cNvSpPr/>
          <p:nvPr/>
        </p:nvSpPr>
        <p:spPr>
          <a:xfrm>
            <a:off x="5184702" y="1874520"/>
            <a:ext cx="3644583" cy="548640"/>
          </a:xfrm>
          <a:prstGeom prst="roundRect">
            <a:avLst>
              <a:gd name="adj" fmla="val 20000"/>
            </a:avLst>
          </a:prstGeom>
          <a:solidFill>
            <a:srgbClr val="101B45"/>
          </a:solidFill>
          <a:ln/>
        </p:spPr>
      </p:sp>
      <p:sp>
        <p:nvSpPr>
          <p:cNvPr id="8" name="Text 6"/>
          <p:cNvSpPr/>
          <p:nvPr/>
        </p:nvSpPr>
        <p:spPr>
          <a:xfrm>
            <a:off x="5184702" y="1874520"/>
            <a:ext cx="3644583" cy="548640"/>
          </a:xfrm>
          <a:prstGeom prst="rect">
            <a:avLst/>
          </a:prstGeom>
          <a:noFill/>
          <a:ln/>
        </p:spPr>
        <p:txBody>
          <a:bodyPr wrap="square" lIns="0" tIns="0" rIns="0" bIns="0" rtlCol="0" anchor="ctr">
            <a:normAutofit/>
          </a:bodyPr>
          <a:lstStyle/>
          <a:p>
            <a:pPr rtl="1" algn="ctr" indent="0" marL="0">
              <a:buNone/>
            </a:pPr>
            <a:r>
              <a:rPr lang="ar-SA" altLang="en-US" sz="1900" dirty="0">
                <a:solidFill>
                  <a:srgbClr val="FFFFFF"/>
                </a:solidFill>
                <a:latin typeface="Cairo Black" pitchFamily="34" charset="0"/>
                <a:ea typeface="Cairo Black" pitchFamily="34" charset="-122"/>
                <a:cs typeface="Cairo Black" pitchFamily="34" charset="-120"/>
              </a:rPr>
              <a:t>يحتاج دعمًا</a:t>
            </a:r>
            <a:endParaRPr lang="ar-SA" sz="1900" dirty="0"/>
          </a:p>
        </p:txBody>
      </p:sp>
      <p:sp>
        <p:nvSpPr>
          <p:cNvPr id="9" name="Shape 7"/>
          <p:cNvSpPr/>
          <p:nvPr/>
        </p:nvSpPr>
        <p:spPr>
          <a:xfrm>
            <a:off x="822960" y="1874520"/>
            <a:ext cx="4252014" cy="548640"/>
          </a:xfrm>
          <a:prstGeom prst="roundRect">
            <a:avLst>
              <a:gd name="adj" fmla="val 20000"/>
            </a:avLst>
          </a:prstGeom>
          <a:solidFill>
            <a:srgbClr val="101B45"/>
          </a:solidFill>
          <a:ln/>
        </p:spPr>
      </p:sp>
      <p:sp>
        <p:nvSpPr>
          <p:cNvPr id="10" name="Text 8"/>
          <p:cNvSpPr/>
          <p:nvPr/>
        </p:nvSpPr>
        <p:spPr>
          <a:xfrm>
            <a:off x="822960" y="1874520"/>
            <a:ext cx="4252014" cy="548640"/>
          </a:xfrm>
          <a:prstGeom prst="rect">
            <a:avLst/>
          </a:prstGeom>
          <a:noFill/>
          <a:ln/>
        </p:spPr>
        <p:txBody>
          <a:bodyPr wrap="square" lIns="0" tIns="0" rIns="0" bIns="0" rtlCol="0" anchor="ctr">
            <a:normAutofit/>
          </a:bodyPr>
          <a:lstStyle/>
          <a:p>
            <a:pPr rtl="1" algn="ctr" indent="0" marL="0">
              <a:buNone/>
            </a:pPr>
            <a:r>
              <a:rPr lang="ar-SA" altLang="en-US" sz="1900" dirty="0">
                <a:solidFill>
                  <a:srgbClr val="FFFFFF"/>
                </a:solidFill>
                <a:latin typeface="Cairo Black" pitchFamily="34" charset="0"/>
                <a:ea typeface="Cairo Black" pitchFamily="34" charset="-122"/>
                <a:cs typeface="Cairo Black" pitchFamily="34" charset="-120"/>
              </a:rPr>
              <a:t>متميز</a:t>
            </a:r>
            <a:endParaRPr lang="ar-SA" sz="1900" dirty="0"/>
          </a:p>
        </p:txBody>
      </p:sp>
      <p:sp>
        <p:nvSpPr>
          <p:cNvPr id="11" name="anim-g1-1252"/>
          <p:cNvSpPr/>
          <p:nvPr/>
        </p:nvSpPr>
        <p:spPr>
          <a:xfrm>
            <a:off x="8939013" y="2514600"/>
            <a:ext cx="2429722" cy="616306"/>
          </a:xfrm>
          <a:prstGeom prst="roundRect">
            <a:avLst>
              <a:gd name="adj" fmla="val 17804"/>
            </a:avLst>
          </a:prstGeom>
          <a:solidFill>
            <a:srgbClr val="FBF3DF"/>
          </a:solidFill>
          <a:ln w="12700">
            <a:solidFill>
              <a:srgbClr val="EFDDAF"/>
            </a:solidFill>
            <a:prstDash val="solid"/>
          </a:ln>
        </p:spPr>
      </p:sp>
      <p:sp>
        <p:nvSpPr>
          <p:cNvPr id="12" name="anim-g1-1253"/>
          <p:cNvSpPr/>
          <p:nvPr/>
        </p:nvSpPr>
        <p:spPr>
          <a:xfrm>
            <a:off x="9076173" y="2514600"/>
            <a:ext cx="2155402" cy="616306"/>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 المجسّم</a:t>
            </a:r>
            <a:endParaRPr lang="ar-SA" sz="2100" dirty="0"/>
          </a:p>
        </p:txBody>
      </p:sp>
      <p:sp>
        <p:nvSpPr>
          <p:cNvPr id="13" name="anim-g1-1254"/>
          <p:cNvSpPr/>
          <p:nvPr/>
        </p:nvSpPr>
        <p:spPr>
          <a:xfrm>
            <a:off x="5184702" y="2514600"/>
            <a:ext cx="3644583" cy="616306"/>
          </a:xfrm>
          <a:prstGeom prst="roundRect">
            <a:avLst>
              <a:gd name="adj" fmla="val 17804"/>
            </a:avLst>
          </a:prstGeom>
          <a:solidFill>
            <a:srgbClr val="FFFFFF"/>
          </a:solidFill>
          <a:ln w="12700">
            <a:solidFill>
              <a:srgbClr val="E4DCC8"/>
            </a:solidFill>
            <a:prstDash val="solid"/>
          </a:ln>
        </p:spPr>
      </p:sp>
      <p:sp>
        <p:nvSpPr>
          <p:cNvPr id="14" name="anim-g1-1255"/>
          <p:cNvSpPr/>
          <p:nvPr/>
        </p:nvSpPr>
        <p:spPr>
          <a:xfrm>
            <a:off x="5321862" y="2514600"/>
            <a:ext cx="3370263" cy="616306"/>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يدور بزر</a:t>
            </a:r>
            <a:endParaRPr lang="ar-SA" sz="2100" dirty="0"/>
          </a:p>
        </p:txBody>
      </p:sp>
      <p:sp>
        <p:nvSpPr>
          <p:cNvPr id="15" name="anim-g1-1256"/>
          <p:cNvSpPr/>
          <p:nvPr/>
        </p:nvSpPr>
        <p:spPr>
          <a:xfrm>
            <a:off x="822960" y="2514600"/>
            <a:ext cx="4252014" cy="616306"/>
          </a:xfrm>
          <a:prstGeom prst="roundRect">
            <a:avLst>
              <a:gd name="adj" fmla="val 17804"/>
            </a:avLst>
          </a:prstGeom>
          <a:solidFill>
            <a:srgbClr val="E6F4EC"/>
          </a:solidFill>
          <a:ln w="12700">
            <a:solidFill>
              <a:srgbClr val="CDE9D9"/>
            </a:solidFill>
            <a:prstDash val="solid"/>
          </a:ln>
        </p:spPr>
      </p:sp>
      <p:sp>
        <p:nvSpPr>
          <p:cNvPr id="16" name="anim-g1-1257"/>
          <p:cNvSpPr/>
          <p:nvPr/>
        </p:nvSpPr>
        <p:spPr>
          <a:xfrm>
            <a:off x="960120" y="2514600"/>
            <a:ext cx="3977694" cy="616306"/>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يدور بالعين بنعومة، ويتوقف بأمان</a:t>
            </a:r>
            <a:endParaRPr lang="ar-SA" sz="2100" dirty="0"/>
          </a:p>
        </p:txBody>
      </p:sp>
      <p:sp>
        <p:nvSpPr>
          <p:cNvPr id="17" name="anim-g2-1258"/>
          <p:cNvSpPr/>
          <p:nvPr/>
        </p:nvSpPr>
        <p:spPr>
          <a:xfrm>
            <a:off x="8939013" y="3240634"/>
            <a:ext cx="2429722" cy="616306"/>
          </a:xfrm>
          <a:prstGeom prst="roundRect">
            <a:avLst>
              <a:gd name="adj" fmla="val 17804"/>
            </a:avLst>
          </a:prstGeom>
          <a:solidFill>
            <a:srgbClr val="FBF3DF"/>
          </a:solidFill>
          <a:ln w="12700">
            <a:solidFill>
              <a:srgbClr val="EFDDAF"/>
            </a:solidFill>
            <a:prstDash val="solid"/>
          </a:ln>
        </p:spPr>
      </p:sp>
      <p:sp>
        <p:nvSpPr>
          <p:cNvPr id="18" name="anim-g2-1259"/>
          <p:cNvSpPr/>
          <p:nvPr/>
        </p:nvSpPr>
        <p:spPr>
          <a:xfrm>
            <a:off x="9076173" y="3240634"/>
            <a:ext cx="2155402" cy="616306"/>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 الشمول</a:t>
            </a:r>
            <a:endParaRPr lang="ar-SA" sz="2100" dirty="0"/>
          </a:p>
        </p:txBody>
      </p:sp>
      <p:sp>
        <p:nvSpPr>
          <p:cNvPr id="19" name="anim-g2-1260"/>
          <p:cNvSpPr/>
          <p:nvPr/>
        </p:nvSpPr>
        <p:spPr>
          <a:xfrm>
            <a:off x="5184702" y="3240634"/>
            <a:ext cx="3644583" cy="616306"/>
          </a:xfrm>
          <a:prstGeom prst="roundRect">
            <a:avLst>
              <a:gd name="adj" fmla="val 17804"/>
            </a:avLst>
          </a:prstGeom>
          <a:solidFill>
            <a:srgbClr val="FFFFFF"/>
          </a:solidFill>
          <a:ln w="12700">
            <a:solidFill>
              <a:srgbClr val="E4DCC8"/>
            </a:solidFill>
            <a:prstDash val="solid"/>
          </a:ln>
        </p:spPr>
      </p:sp>
      <p:sp>
        <p:nvSpPr>
          <p:cNvPr id="20" name="anim-g2-1261"/>
          <p:cNvSpPr/>
          <p:nvPr/>
        </p:nvSpPr>
        <p:spPr>
          <a:xfrm>
            <a:off x="5321862" y="3240634"/>
            <a:ext cx="3370263" cy="616306"/>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فئة واحدة</a:t>
            </a:r>
            <a:endParaRPr lang="ar-SA" sz="2100" dirty="0"/>
          </a:p>
        </p:txBody>
      </p:sp>
      <p:sp>
        <p:nvSpPr>
          <p:cNvPr id="21" name="anim-g2-1262"/>
          <p:cNvSpPr/>
          <p:nvPr/>
        </p:nvSpPr>
        <p:spPr>
          <a:xfrm>
            <a:off x="822960" y="3240634"/>
            <a:ext cx="4252014" cy="616306"/>
          </a:xfrm>
          <a:prstGeom prst="roundRect">
            <a:avLst>
              <a:gd name="adj" fmla="val 17804"/>
            </a:avLst>
          </a:prstGeom>
          <a:solidFill>
            <a:srgbClr val="E6F4EC"/>
          </a:solidFill>
          <a:ln w="12700">
            <a:solidFill>
              <a:srgbClr val="CDE9D9"/>
            </a:solidFill>
            <a:prstDash val="solid"/>
          </a:ln>
        </p:spPr>
      </p:sp>
      <p:sp>
        <p:nvSpPr>
          <p:cNvPr id="22" name="anim-g2-1263"/>
          <p:cNvSpPr/>
          <p:nvPr/>
        </p:nvSpPr>
        <p:spPr>
          <a:xfrm>
            <a:off x="960120" y="3240634"/>
            <a:ext cx="3977694" cy="616306"/>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حركية وسمعية وبصرية بواجهة واحدة</a:t>
            </a:r>
            <a:endParaRPr lang="ar-SA" sz="2100" dirty="0"/>
          </a:p>
        </p:txBody>
      </p:sp>
      <p:sp>
        <p:nvSpPr>
          <p:cNvPr id="23" name="anim-g3-1264"/>
          <p:cNvSpPr/>
          <p:nvPr/>
        </p:nvSpPr>
        <p:spPr>
          <a:xfrm>
            <a:off x="8939013" y="3966667"/>
            <a:ext cx="2429722" cy="616306"/>
          </a:xfrm>
          <a:prstGeom prst="roundRect">
            <a:avLst>
              <a:gd name="adj" fmla="val 17804"/>
            </a:avLst>
          </a:prstGeom>
          <a:solidFill>
            <a:srgbClr val="FBF3DF"/>
          </a:solidFill>
          <a:ln w="12700">
            <a:solidFill>
              <a:srgbClr val="EFDDAF"/>
            </a:solidFill>
            <a:prstDash val="solid"/>
          </a:ln>
        </p:spPr>
      </p:sp>
      <p:sp>
        <p:nvSpPr>
          <p:cNvPr id="24" name="anim-g3-1265"/>
          <p:cNvSpPr/>
          <p:nvPr/>
        </p:nvSpPr>
        <p:spPr>
          <a:xfrm>
            <a:off x="9076173" y="3966667"/>
            <a:ext cx="2155402" cy="616306"/>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 الأمان</a:t>
            </a:r>
            <a:endParaRPr lang="ar-SA" sz="2100" dirty="0"/>
          </a:p>
        </p:txBody>
      </p:sp>
      <p:sp>
        <p:nvSpPr>
          <p:cNvPr id="25" name="anim-g3-1266"/>
          <p:cNvSpPr/>
          <p:nvPr/>
        </p:nvSpPr>
        <p:spPr>
          <a:xfrm>
            <a:off x="5184702" y="3966667"/>
            <a:ext cx="3644583" cy="616306"/>
          </a:xfrm>
          <a:prstGeom prst="roundRect">
            <a:avLst>
              <a:gd name="adj" fmla="val 17804"/>
            </a:avLst>
          </a:prstGeom>
          <a:solidFill>
            <a:srgbClr val="FFFFFF"/>
          </a:solidFill>
          <a:ln w="12700">
            <a:solidFill>
              <a:srgbClr val="E4DCC8"/>
            </a:solidFill>
            <a:prstDash val="solid"/>
          </a:ln>
        </p:spPr>
      </p:sp>
      <p:sp>
        <p:nvSpPr>
          <p:cNvPr id="26" name="anim-g3-1267"/>
          <p:cNvSpPr/>
          <p:nvPr/>
        </p:nvSpPr>
        <p:spPr>
          <a:xfrm>
            <a:off x="5321862" y="3966667"/>
            <a:ext cx="3370263" cy="616306"/>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لا حارس</a:t>
            </a:r>
            <a:endParaRPr lang="ar-SA" sz="2100" dirty="0"/>
          </a:p>
        </p:txBody>
      </p:sp>
      <p:sp>
        <p:nvSpPr>
          <p:cNvPr id="27" name="anim-g3-1268"/>
          <p:cNvSpPr/>
          <p:nvPr/>
        </p:nvSpPr>
        <p:spPr>
          <a:xfrm>
            <a:off x="822960" y="3966667"/>
            <a:ext cx="4252014" cy="616306"/>
          </a:xfrm>
          <a:prstGeom prst="roundRect">
            <a:avLst>
              <a:gd name="adj" fmla="val 17804"/>
            </a:avLst>
          </a:prstGeom>
          <a:solidFill>
            <a:srgbClr val="E6F4EC"/>
          </a:solidFill>
          <a:ln w="12700">
            <a:solidFill>
              <a:srgbClr val="CDE9D9"/>
            </a:solidFill>
            <a:prstDash val="solid"/>
          </a:ln>
        </p:spPr>
      </p:sp>
      <p:sp>
        <p:nvSpPr>
          <p:cNvPr id="28" name="anim-g3-1269"/>
          <p:cNvSpPr/>
          <p:nvPr/>
        </p:nvSpPr>
        <p:spPr>
          <a:xfrm>
            <a:off x="960120" y="3966667"/>
            <a:ext cx="3977694" cy="616306"/>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حارس شبكة، وحارس رمشة، وروبوت سلامة</a:t>
            </a:r>
            <a:endParaRPr lang="ar-SA" sz="2100" dirty="0"/>
          </a:p>
        </p:txBody>
      </p:sp>
      <p:sp>
        <p:nvSpPr>
          <p:cNvPr id="29" name="anim-g4-1270"/>
          <p:cNvSpPr/>
          <p:nvPr/>
        </p:nvSpPr>
        <p:spPr>
          <a:xfrm>
            <a:off x="8939013" y="4692701"/>
            <a:ext cx="2429722" cy="616306"/>
          </a:xfrm>
          <a:prstGeom prst="roundRect">
            <a:avLst>
              <a:gd name="adj" fmla="val 17804"/>
            </a:avLst>
          </a:prstGeom>
          <a:solidFill>
            <a:srgbClr val="FBF3DF"/>
          </a:solidFill>
          <a:ln w="12700">
            <a:solidFill>
              <a:srgbClr val="EFDDAF"/>
            </a:solidFill>
            <a:prstDash val="solid"/>
          </a:ln>
        </p:spPr>
      </p:sp>
      <p:sp>
        <p:nvSpPr>
          <p:cNvPr id="30" name="anim-g4-1271"/>
          <p:cNvSpPr/>
          <p:nvPr/>
        </p:nvSpPr>
        <p:spPr>
          <a:xfrm>
            <a:off x="9076173" y="4692701"/>
            <a:ext cx="2155402" cy="616306"/>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 القرار</a:t>
            </a:r>
            <a:endParaRPr lang="ar-SA" sz="2100" dirty="0"/>
          </a:p>
        </p:txBody>
      </p:sp>
      <p:sp>
        <p:nvSpPr>
          <p:cNvPr id="31" name="anim-g4-1272"/>
          <p:cNvSpPr/>
          <p:nvPr/>
        </p:nvSpPr>
        <p:spPr>
          <a:xfrm>
            <a:off x="5184702" y="4692701"/>
            <a:ext cx="3644583" cy="616306"/>
          </a:xfrm>
          <a:prstGeom prst="roundRect">
            <a:avLst>
              <a:gd name="adj" fmla="val 17804"/>
            </a:avLst>
          </a:prstGeom>
          <a:solidFill>
            <a:srgbClr val="FFFFFF"/>
          </a:solidFill>
          <a:ln w="12700">
            <a:solidFill>
              <a:srgbClr val="E4DCC8"/>
            </a:solidFill>
            <a:prstDash val="solid"/>
          </a:ln>
        </p:spPr>
      </p:sp>
      <p:sp>
        <p:nvSpPr>
          <p:cNvPr id="32" name="anim-g4-1273"/>
          <p:cNvSpPr/>
          <p:nvPr/>
        </p:nvSpPr>
        <p:spPr>
          <a:xfrm>
            <a:off x="5321862" y="4692701"/>
            <a:ext cx="3370263" cy="616306"/>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أوامر مباشرة فقط</a:t>
            </a:r>
            <a:endParaRPr lang="ar-SA" sz="2100" dirty="0"/>
          </a:p>
        </p:txBody>
      </p:sp>
      <p:sp>
        <p:nvSpPr>
          <p:cNvPr id="33" name="anim-g4-1274"/>
          <p:cNvSpPr/>
          <p:nvPr/>
        </p:nvSpPr>
        <p:spPr>
          <a:xfrm>
            <a:off x="822960" y="4692701"/>
            <a:ext cx="4252014" cy="616306"/>
          </a:xfrm>
          <a:prstGeom prst="roundRect">
            <a:avLst>
              <a:gd name="adj" fmla="val 17804"/>
            </a:avLst>
          </a:prstGeom>
          <a:solidFill>
            <a:srgbClr val="E6F4EC"/>
          </a:solidFill>
          <a:ln w="12700">
            <a:solidFill>
              <a:srgbClr val="CDE9D9"/>
            </a:solidFill>
            <a:prstDash val="solid"/>
          </a:ln>
        </p:spPr>
      </p:sp>
      <p:sp>
        <p:nvSpPr>
          <p:cNvPr id="34" name="anim-g4-1275"/>
          <p:cNvSpPr/>
          <p:nvPr/>
        </p:nvSpPr>
        <p:spPr>
          <a:xfrm>
            <a:off x="960120" y="4692701"/>
            <a:ext cx="3977694" cy="616306"/>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قرارات مبنية على بيانات: الخطر الأعلى، والاهتمام</a:t>
            </a:r>
            <a:endParaRPr lang="ar-SA" sz="2100" dirty="0"/>
          </a:p>
        </p:txBody>
      </p:sp>
      <p:sp>
        <p:nvSpPr>
          <p:cNvPr id="35" name="anim-g5-1276"/>
          <p:cNvSpPr/>
          <p:nvPr/>
        </p:nvSpPr>
        <p:spPr>
          <a:xfrm>
            <a:off x="8939013" y="5418734"/>
            <a:ext cx="2429722" cy="616306"/>
          </a:xfrm>
          <a:prstGeom prst="roundRect">
            <a:avLst>
              <a:gd name="adj" fmla="val 17804"/>
            </a:avLst>
          </a:prstGeom>
          <a:solidFill>
            <a:srgbClr val="FBF3DF"/>
          </a:solidFill>
          <a:ln w="12700">
            <a:solidFill>
              <a:srgbClr val="EFDDAF"/>
            </a:solidFill>
            <a:prstDash val="solid"/>
          </a:ln>
        </p:spPr>
      </p:sp>
      <p:sp>
        <p:nvSpPr>
          <p:cNvPr id="36" name="anim-g5-1277"/>
          <p:cNvSpPr/>
          <p:nvPr/>
        </p:nvSpPr>
        <p:spPr>
          <a:xfrm>
            <a:off x="9076173" y="5418734"/>
            <a:ext cx="2155402" cy="616306"/>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 العرض</a:t>
            </a:r>
            <a:endParaRPr lang="ar-SA" sz="2100" dirty="0"/>
          </a:p>
        </p:txBody>
      </p:sp>
      <p:sp>
        <p:nvSpPr>
          <p:cNvPr id="37" name="anim-g5-1278"/>
          <p:cNvSpPr/>
          <p:nvPr/>
        </p:nvSpPr>
        <p:spPr>
          <a:xfrm>
            <a:off x="5184702" y="5418734"/>
            <a:ext cx="3644583" cy="616306"/>
          </a:xfrm>
          <a:prstGeom prst="roundRect">
            <a:avLst>
              <a:gd name="adj" fmla="val 17804"/>
            </a:avLst>
          </a:prstGeom>
          <a:solidFill>
            <a:srgbClr val="FFFFFF"/>
          </a:solidFill>
          <a:ln w="12700">
            <a:solidFill>
              <a:srgbClr val="E4DCC8"/>
            </a:solidFill>
            <a:prstDash val="solid"/>
          </a:ln>
        </p:spPr>
      </p:sp>
      <p:sp>
        <p:nvSpPr>
          <p:cNvPr id="38" name="anim-g5-1279"/>
          <p:cNvSpPr/>
          <p:nvPr/>
        </p:nvSpPr>
        <p:spPr>
          <a:xfrm>
            <a:off x="5321862" y="5418734"/>
            <a:ext cx="3370263" cy="616306"/>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يقرأ من الورقة</a:t>
            </a:r>
            <a:endParaRPr lang="ar-SA" sz="2100" dirty="0"/>
          </a:p>
        </p:txBody>
      </p:sp>
      <p:sp>
        <p:nvSpPr>
          <p:cNvPr id="39" name="anim-g5-1280"/>
          <p:cNvSpPr/>
          <p:nvPr/>
        </p:nvSpPr>
        <p:spPr>
          <a:xfrm>
            <a:off x="822960" y="5418734"/>
            <a:ext cx="4252014" cy="616306"/>
          </a:xfrm>
          <a:prstGeom prst="roundRect">
            <a:avLst>
              <a:gd name="adj" fmla="val 17804"/>
            </a:avLst>
          </a:prstGeom>
          <a:solidFill>
            <a:srgbClr val="E6F4EC"/>
          </a:solidFill>
          <a:ln w="12700">
            <a:solidFill>
              <a:srgbClr val="CDE9D9"/>
            </a:solidFill>
            <a:prstDash val="solid"/>
          </a:ln>
        </p:spPr>
      </p:sp>
      <p:sp>
        <p:nvSpPr>
          <p:cNvPr id="40" name="anim-g5-1281"/>
          <p:cNvSpPr/>
          <p:nvPr/>
        </p:nvSpPr>
        <p:spPr>
          <a:xfrm>
            <a:off x="960120" y="5418734"/>
            <a:ext cx="3977694" cy="616306"/>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قصة وتجربة حية وتحديات ولحظة إنجليزية</a:t>
            </a:r>
            <a:endParaRPr lang="ar-SA" sz="2100" dirty="0"/>
          </a:p>
        </p:txBody>
      </p:sp>
      <p:sp>
        <p:nvSpPr>
          <p:cNvPr id="41" name="Text 39"/>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42" name="Text 40"/>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المعرض والختام  ·  ١٧٨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400"/>
                                        <p:tgtEl>
                                          <p:spTgt spid="14"/>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5"/>
                                        </p:tgtEl>
                                        <p:attrNameLst>
                                          <p:attrName>style.visibility</p:attrName>
                                        </p:attrNameLst>
                                      </p:cBhvr>
                                      <p:to>
                                        <p:strVal val="visible"/>
                                      </p:to>
                                    </p:set>
                                    <p:animEffect transition="in" filter="fade">
                                      <p:cBhvr>
                                        <p:cTn id="19" dur="400"/>
                                        <p:tgtEl>
                                          <p:spTgt spid="15"/>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400"/>
                                        <p:tgtEl>
                                          <p:spTgt spid="1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400"/>
                                        <p:tgtEl>
                                          <p:spTgt spid="17"/>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400"/>
                                        <p:tgtEl>
                                          <p:spTgt spid="18"/>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9"/>
                                        </p:tgtEl>
                                        <p:attrNameLst>
                                          <p:attrName>style.visibility</p:attrName>
                                        </p:attrNameLst>
                                      </p:cBhvr>
                                      <p:to>
                                        <p:strVal val="visible"/>
                                      </p:to>
                                    </p:set>
                                    <p:animEffect transition="in" filter="fade">
                                      <p:cBhvr>
                                        <p:cTn id="33" dur="400"/>
                                        <p:tgtEl>
                                          <p:spTgt spid="19"/>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0"/>
                                        </p:tgtEl>
                                        <p:attrNameLst>
                                          <p:attrName>style.visibility</p:attrName>
                                        </p:attrNameLst>
                                      </p:cBhvr>
                                      <p:to>
                                        <p:strVal val="visible"/>
                                      </p:to>
                                    </p:set>
                                    <p:animEffect transition="in" filter="fade">
                                      <p:cBhvr>
                                        <p:cTn id="36" dur="400"/>
                                        <p:tgtEl>
                                          <p:spTgt spid="20"/>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400"/>
                                        <p:tgtEl>
                                          <p:spTgt spid="21"/>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2"/>
                                        </p:tgtEl>
                                        <p:attrNameLst>
                                          <p:attrName>style.visibility</p:attrName>
                                        </p:attrNameLst>
                                      </p:cBhvr>
                                      <p:to>
                                        <p:strVal val="visible"/>
                                      </p:to>
                                    </p:set>
                                    <p:animEffect transition="in" filter="fade">
                                      <p:cBhvr>
                                        <p:cTn id="42" dur="400"/>
                                        <p:tgtEl>
                                          <p:spTgt spid="22"/>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400"/>
                                        <p:tgtEl>
                                          <p:spTgt spid="23"/>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400"/>
                                        <p:tgtEl>
                                          <p:spTgt spid="24"/>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400"/>
                                        <p:tgtEl>
                                          <p:spTgt spid="25"/>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26"/>
                                        </p:tgtEl>
                                        <p:attrNameLst>
                                          <p:attrName>style.visibility</p:attrName>
                                        </p:attrNameLst>
                                      </p:cBhvr>
                                      <p:to>
                                        <p:strVal val="visible"/>
                                      </p:to>
                                    </p:set>
                                    <p:animEffect transition="in" filter="fade">
                                      <p:cBhvr>
                                        <p:cTn id="56" dur="400"/>
                                        <p:tgtEl>
                                          <p:spTgt spid="26"/>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7"/>
                                        </p:tgtEl>
                                        <p:attrNameLst>
                                          <p:attrName>style.visibility</p:attrName>
                                        </p:attrNameLst>
                                      </p:cBhvr>
                                      <p:to>
                                        <p:strVal val="visible"/>
                                      </p:to>
                                    </p:set>
                                    <p:animEffect transition="in" filter="fade">
                                      <p:cBhvr>
                                        <p:cTn id="59" dur="400"/>
                                        <p:tgtEl>
                                          <p:spTgt spid="27"/>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8"/>
                                        </p:tgtEl>
                                        <p:attrNameLst>
                                          <p:attrName>style.visibility</p:attrName>
                                        </p:attrNameLst>
                                      </p:cBhvr>
                                      <p:to>
                                        <p:strVal val="visible"/>
                                      </p:to>
                                    </p:set>
                                    <p:animEffect transition="in" filter="fade">
                                      <p:cBhvr>
                                        <p:cTn id="62" dur="400"/>
                                        <p:tgtEl>
                                          <p:spTgt spid="28"/>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grpId="0" nodeType="clickEffect">
                                  <p:stCondLst>
                                    <p:cond delay="0"/>
                                  </p:stCondLst>
                                  <p:childTnLst>
                                    <p:set>
                                      <p:cBhvr>
                                        <p:cTn id="66" dur="1" fill="hold">
                                          <p:stCondLst>
                                            <p:cond delay="0"/>
                                          </p:stCondLst>
                                        </p:cTn>
                                        <p:tgtEl>
                                          <p:spTgt spid="29"/>
                                        </p:tgtEl>
                                        <p:attrNameLst>
                                          <p:attrName>style.visibility</p:attrName>
                                        </p:attrNameLst>
                                      </p:cBhvr>
                                      <p:to>
                                        <p:strVal val="visible"/>
                                      </p:to>
                                    </p:set>
                                    <p:animEffect transition="in" filter="fade">
                                      <p:cBhvr>
                                        <p:cTn id="67" dur="400"/>
                                        <p:tgtEl>
                                          <p:spTgt spid="29"/>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30"/>
                                        </p:tgtEl>
                                        <p:attrNameLst>
                                          <p:attrName>style.visibility</p:attrName>
                                        </p:attrNameLst>
                                      </p:cBhvr>
                                      <p:to>
                                        <p:strVal val="visible"/>
                                      </p:to>
                                    </p:set>
                                    <p:animEffect transition="in" filter="fade">
                                      <p:cBhvr>
                                        <p:cTn id="70" dur="400"/>
                                        <p:tgtEl>
                                          <p:spTgt spid="30"/>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31"/>
                                        </p:tgtEl>
                                        <p:attrNameLst>
                                          <p:attrName>style.visibility</p:attrName>
                                        </p:attrNameLst>
                                      </p:cBhvr>
                                      <p:to>
                                        <p:strVal val="visible"/>
                                      </p:to>
                                    </p:set>
                                    <p:animEffect transition="in" filter="fade">
                                      <p:cBhvr>
                                        <p:cTn id="73" dur="400"/>
                                        <p:tgtEl>
                                          <p:spTgt spid="31"/>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32"/>
                                        </p:tgtEl>
                                        <p:attrNameLst>
                                          <p:attrName>style.visibility</p:attrName>
                                        </p:attrNameLst>
                                      </p:cBhvr>
                                      <p:to>
                                        <p:strVal val="visible"/>
                                      </p:to>
                                    </p:set>
                                    <p:animEffect transition="in" filter="fade">
                                      <p:cBhvr>
                                        <p:cTn id="76" dur="400"/>
                                        <p:tgtEl>
                                          <p:spTgt spid="32"/>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33"/>
                                        </p:tgtEl>
                                        <p:attrNameLst>
                                          <p:attrName>style.visibility</p:attrName>
                                        </p:attrNameLst>
                                      </p:cBhvr>
                                      <p:to>
                                        <p:strVal val="visible"/>
                                      </p:to>
                                    </p:set>
                                    <p:animEffect transition="in" filter="fade">
                                      <p:cBhvr>
                                        <p:cTn id="79" dur="400"/>
                                        <p:tgtEl>
                                          <p:spTgt spid="33"/>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34"/>
                                        </p:tgtEl>
                                        <p:attrNameLst>
                                          <p:attrName>style.visibility</p:attrName>
                                        </p:attrNameLst>
                                      </p:cBhvr>
                                      <p:to>
                                        <p:strVal val="visible"/>
                                      </p:to>
                                    </p:set>
                                    <p:animEffect transition="in" filter="fade">
                                      <p:cBhvr>
                                        <p:cTn id="82" dur="400"/>
                                        <p:tgtEl>
                                          <p:spTgt spid="34"/>
                                        </p:tgtEl>
                                      </p:cBhvr>
                                    </p:animEffect>
                                  </p:childTnLst>
                                </p:cTn>
                              </p:par>
                            </p:childTnLst>
                          </p:cTn>
                        </p:par>
                      </p:childTnLst>
                    </p:cTn>
                  </p:par>
                  <p:par>
                    <p:cTn id="83" fill="hold">
                      <p:stCondLst>
                        <p:cond delay="indefinite"/>
                      </p:stCondLst>
                      <p:childTnLst>
                        <p:par>
                          <p:cTn id="84" fill="hold">
                            <p:stCondLst>
                              <p:cond delay="0"/>
                            </p:stCondLst>
                            <p:childTnLst>
                              <p:par>
                                <p:cTn id="85" presetID="10" presetClass="entr" presetSubtype="0" fill="hold" grpId="0" nodeType="clickEffect">
                                  <p:stCondLst>
                                    <p:cond delay="0"/>
                                  </p:stCondLst>
                                  <p:childTnLst>
                                    <p:set>
                                      <p:cBhvr>
                                        <p:cTn id="86" dur="1" fill="hold">
                                          <p:stCondLst>
                                            <p:cond delay="0"/>
                                          </p:stCondLst>
                                        </p:cTn>
                                        <p:tgtEl>
                                          <p:spTgt spid="35"/>
                                        </p:tgtEl>
                                        <p:attrNameLst>
                                          <p:attrName>style.visibility</p:attrName>
                                        </p:attrNameLst>
                                      </p:cBhvr>
                                      <p:to>
                                        <p:strVal val="visible"/>
                                      </p:to>
                                    </p:set>
                                    <p:animEffect transition="in" filter="fade">
                                      <p:cBhvr>
                                        <p:cTn id="87" dur="400"/>
                                        <p:tgtEl>
                                          <p:spTgt spid="35"/>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36"/>
                                        </p:tgtEl>
                                        <p:attrNameLst>
                                          <p:attrName>style.visibility</p:attrName>
                                        </p:attrNameLst>
                                      </p:cBhvr>
                                      <p:to>
                                        <p:strVal val="visible"/>
                                      </p:to>
                                    </p:set>
                                    <p:animEffect transition="in" filter="fade">
                                      <p:cBhvr>
                                        <p:cTn id="90" dur="400"/>
                                        <p:tgtEl>
                                          <p:spTgt spid="36"/>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37"/>
                                        </p:tgtEl>
                                        <p:attrNameLst>
                                          <p:attrName>style.visibility</p:attrName>
                                        </p:attrNameLst>
                                      </p:cBhvr>
                                      <p:to>
                                        <p:strVal val="visible"/>
                                      </p:to>
                                    </p:set>
                                    <p:animEffect transition="in" filter="fade">
                                      <p:cBhvr>
                                        <p:cTn id="93" dur="400"/>
                                        <p:tgtEl>
                                          <p:spTgt spid="37"/>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38"/>
                                        </p:tgtEl>
                                        <p:attrNameLst>
                                          <p:attrName>style.visibility</p:attrName>
                                        </p:attrNameLst>
                                      </p:cBhvr>
                                      <p:to>
                                        <p:strVal val="visible"/>
                                      </p:to>
                                    </p:set>
                                    <p:animEffect transition="in" filter="fade">
                                      <p:cBhvr>
                                        <p:cTn id="96" dur="400"/>
                                        <p:tgtEl>
                                          <p:spTgt spid="38"/>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9"/>
                                        </p:tgtEl>
                                        <p:attrNameLst>
                                          <p:attrName>style.visibility</p:attrName>
                                        </p:attrNameLst>
                                      </p:cBhvr>
                                      <p:to>
                                        <p:strVal val="visible"/>
                                      </p:to>
                                    </p:set>
                                    <p:animEffect transition="in" filter="fade">
                                      <p:cBhvr>
                                        <p:cTn id="99" dur="400"/>
                                        <p:tgtEl>
                                          <p:spTgt spid="39"/>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40"/>
                                        </p:tgtEl>
                                        <p:attrNameLst>
                                          <p:attrName>style.visibility</p:attrName>
                                        </p:attrNameLst>
                                      </p:cBhvr>
                                      <p:to>
                                        <p:strVal val="visible"/>
                                      </p:to>
                                    </p:set>
                                    <p:animEffect transition="in" filter="fade">
                                      <p:cBhvr>
                                        <p:cTn id="102"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Lst>
  </p:timing>
</p:sld>
</file>

<file path=ppt/slides/slide179.xml><?xml version="1.0" encoding="utf-8"?>
<p:sld xmlns:a="http://schemas.openxmlformats.org/drawingml/2006/main" xmlns:r="http://schemas.openxmlformats.org/officeDocument/2006/relationships" xmlns:p="http://schemas.openxmlformats.org/presentationml/2006/main">
  <p:cSld name="Slide 17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003743" y="457200"/>
            <a:ext cx="3364992" cy="457200"/>
          </a:xfrm>
          <a:prstGeom prst="roundRect">
            <a:avLst>
              <a:gd name="adj" fmla="val 50000"/>
            </a:avLst>
          </a:prstGeom>
          <a:solidFill>
            <a:srgbClr val="F6EBCF"/>
          </a:solidFill>
          <a:ln/>
        </p:spPr>
      </p:sp>
      <p:sp>
        <p:nvSpPr>
          <p:cNvPr id="3" name="Text 1"/>
          <p:cNvSpPr/>
          <p:nvPr/>
        </p:nvSpPr>
        <p:spPr>
          <a:xfrm>
            <a:off x="8003743" y="457200"/>
            <a:ext cx="3364992"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الخطوات القادمة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 الذي يعمل عليه الفريق الآن؟</a:t>
            </a:r>
            <a:endParaRPr lang="ar-SA" sz="3800" dirty="0"/>
          </a:p>
        </p:txBody>
      </p:sp>
      <p:sp>
        <p:nvSpPr>
          <p:cNvPr id="5" name="anim-g1-1282"/>
          <p:cNvSpPr/>
          <p:nvPr/>
        </p:nvSpPr>
        <p:spPr>
          <a:xfrm>
            <a:off x="8036357" y="2011680"/>
            <a:ext cx="333237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1283"/>
          <p:cNvSpPr/>
          <p:nvPr/>
        </p:nvSpPr>
        <p:spPr>
          <a:xfrm>
            <a:off x="10527487" y="2267712"/>
            <a:ext cx="566928" cy="566928"/>
          </a:xfrm>
          <a:prstGeom prst="roundRect">
            <a:avLst>
              <a:gd name="adj" fmla="val 32258"/>
            </a:avLst>
          </a:prstGeom>
          <a:solidFill>
            <a:srgbClr val="F7E6BC"/>
          </a:solidFill>
          <a:ln/>
        </p:spPr>
      </p:sp>
      <p:sp>
        <p:nvSpPr>
          <p:cNvPr id="7" name="anim-g1-1284"/>
          <p:cNvSpPr/>
          <p:nvPr/>
        </p:nvSpPr>
        <p:spPr>
          <a:xfrm>
            <a:off x="10527487"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1285"/>
          <p:cNvSpPr/>
          <p:nvPr/>
        </p:nvSpPr>
        <p:spPr>
          <a:xfrm>
            <a:off x="8310677"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محتوى البوابة</a:t>
            </a:r>
            <a:endParaRPr lang="ar-SA" sz="2200" dirty="0"/>
          </a:p>
        </p:txBody>
      </p:sp>
      <p:sp>
        <p:nvSpPr>
          <p:cNvPr id="9" name="anim-g1-1286"/>
          <p:cNvSpPr/>
          <p:nvPr/>
        </p:nvSpPr>
        <p:spPr>
          <a:xfrm>
            <a:off x="8310677" y="3493008"/>
            <a:ext cx="278373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الميزة جاهزة ومختبرة (النظر لأعلى)، وتنتظر المحتوى النهائي</a:t>
            </a:r>
            <a:endParaRPr lang="ar-SA" sz="1900" dirty="0"/>
          </a:p>
        </p:txBody>
      </p:sp>
      <p:sp>
        <p:nvSpPr>
          <p:cNvPr id="10" name="anim-g2-1287"/>
          <p:cNvSpPr/>
          <p:nvPr/>
        </p:nvSpPr>
        <p:spPr>
          <a:xfrm>
            <a:off x="4429658" y="2011680"/>
            <a:ext cx="333237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1288"/>
          <p:cNvSpPr/>
          <p:nvPr/>
        </p:nvSpPr>
        <p:spPr>
          <a:xfrm>
            <a:off x="6920789" y="2267712"/>
            <a:ext cx="566928" cy="566928"/>
          </a:xfrm>
          <a:prstGeom prst="roundRect">
            <a:avLst>
              <a:gd name="adj" fmla="val 32258"/>
            </a:avLst>
          </a:prstGeom>
          <a:solidFill>
            <a:srgbClr val="F7E6BC"/>
          </a:solidFill>
          <a:ln/>
        </p:spPr>
      </p:sp>
      <p:sp>
        <p:nvSpPr>
          <p:cNvPr id="12" name="anim-g2-1289"/>
          <p:cNvSpPr/>
          <p:nvPr/>
        </p:nvSpPr>
        <p:spPr>
          <a:xfrm>
            <a:off x="6920789"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1290"/>
          <p:cNvSpPr/>
          <p:nvPr/>
        </p:nvSpPr>
        <p:spPr>
          <a:xfrm>
            <a:off x="4703978"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قياس الاهتمام</a:t>
            </a:r>
            <a:endParaRPr lang="ar-SA" sz="2200" dirty="0"/>
          </a:p>
        </p:txBody>
      </p:sp>
      <p:sp>
        <p:nvSpPr>
          <p:cNvPr id="14" name="anim-g2-1291"/>
          <p:cNvSpPr/>
          <p:nvPr/>
        </p:nvSpPr>
        <p:spPr>
          <a:xfrm>
            <a:off x="4703978" y="3493008"/>
            <a:ext cx="278373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ومكافأته بإضاءة خاصة، ثم ملخص شخصي للجولة</a:t>
            </a:r>
            <a:endParaRPr lang="ar-SA" sz="1900" dirty="0"/>
          </a:p>
        </p:txBody>
      </p:sp>
      <p:sp>
        <p:nvSpPr>
          <p:cNvPr id="15" name="anim-g3-1292"/>
          <p:cNvSpPr/>
          <p:nvPr/>
        </p:nvSpPr>
        <p:spPr>
          <a:xfrm>
            <a:off x="822960" y="2011680"/>
            <a:ext cx="333237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1293"/>
          <p:cNvSpPr/>
          <p:nvPr/>
        </p:nvSpPr>
        <p:spPr>
          <a:xfrm>
            <a:off x="3314090" y="2267712"/>
            <a:ext cx="566928" cy="566928"/>
          </a:xfrm>
          <a:prstGeom prst="roundRect">
            <a:avLst>
              <a:gd name="adj" fmla="val 32258"/>
            </a:avLst>
          </a:prstGeom>
          <a:solidFill>
            <a:srgbClr val="F7E6BC"/>
          </a:solidFill>
          <a:ln/>
        </p:spPr>
      </p:sp>
      <p:sp>
        <p:nvSpPr>
          <p:cNvPr id="17" name="anim-g3-1294"/>
          <p:cNvSpPr/>
          <p:nvPr/>
        </p:nvSpPr>
        <p:spPr>
          <a:xfrm>
            <a:off x="3314090"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1295"/>
          <p:cNvSpPr/>
          <p:nvPr/>
        </p:nvSpPr>
        <p:spPr>
          <a:xfrm>
            <a:off x="1097280"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كاميرا على آيباد</a:t>
            </a:r>
            <a:endParaRPr lang="ar-SA" sz="2200" dirty="0"/>
          </a:p>
        </p:txBody>
      </p:sp>
      <p:sp>
        <p:nvSpPr>
          <p:cNvPr id="19" name="anim-g3-1296"/>
          <p:cNvSpPr/>
          <p:nvPr/>
        </p:nvSpPr>
        <p:spPr>
          <a:xfrm>
            <a:off x="1097280" y="3493008"/>
            <a:ext cx="278373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حل محمول للاستخدام الميداني بدل الحاسوب</a:t>
            </a:r>
            <a:endParaRPr lang="ar-SA" sz="1900" dirty="0"/>
          </a:p>
        </p:txBody>
      </p:sp>
      <p:sp>
        <p:nvSpPr>
          <p:cNvPr id="20" name="anim-g4-1297"/>
          <p:cNvSpPr/>
          <p:nvPr/>
        </p:nvSpPr>
        <p:spPr>
          <a:xfrm>
            <a:off x="8036357" y="4137660"/>
            <a:ext cx="333237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21" name="anim-g4-1298"/>
          <p:cNvSpPr/>
          <p:nvPr/>
        </p:nvSpPr>
        <p:spPr>
          <a:xfrm>
            <a:off x="10527487" y="4393692"/>
            <a:ext cx="566928" cy="566928"/>
          </a:xfrm>
          <a:prstGeom prst="roundRect">
            <a:avLst>
              <a:gd name="adj" fmla="val 32258"/>
            </a:avLst>
          </a:prstGeom>
          <a:solidFill>
            <a:srgbClr val="F7E6BC"/>
          </a:solidFill>
          <a:ln/>
        </p:spPr>
      </p:sp>
      <p:sp>
        <p:nvSpPr>
          <p:cNvPr id="22" name="anim-g4-1299"/>
          <p:cNvSpPr/>
          <p:nvPr/>
        </p:nvSpPr>
        <p:spPr>
          <a:xfrm>
            <a:off x="10527487" y="439369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23" name="anim-g4-1300"/>
          <p:cNvSpPr/>
          <p:nvPr/>
        </p:nvSpPr>
        <p:spPr>
          <a:xfrm>
            <a:off x="8310677" y="507034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حساس مسافة</a:t>
            </a:r>
            <a:endParaRPr lang="ar-SA" sz="2200" dirty="0"/>
          </a:p>
        </p:txBody>
      </p:sp>
      <p:sp>
        <p:nvSpPr>
          <p:cNvPr id="24" name="anim-g4-1301"/>
          <p:cNvSpPr/>
          <p:nvPr/>
        </p:nvSpPr>
        <p:spPr>
          <a:xfrm>
            <a:off x="8310677" y="5618988"/>
            <a:ext cx="278373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يبدّل تلقائيًا بين وضع القيادة ووضع الاستكشاف</a:t>
            </a:r>
            <a:endParaRPr lang="ar-SA" sz="1900" dirty="0"/>
          </a:p>
        </p:txBody>
      </p:sp>
      <p:sp>
        <p:nvSpPr>
          <p:cNvPr id="25" name="anim-g5-1302"/>
          <p:cNvSpPr/>
          <p:nvPr/>
        </p:nvSpPr>
        <p:spPr>
          <a:xfrm>
            <a:off x="4429658" y="4137660"/>
            <a:ext cx="333237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26" name="anim-g5-1303"/>
          <p:cNvSpPr/>
          <p:nvPr/>
        </p:nvSpPr>
        <p:spPr>
          <a:xfrm>
            <a:off x="6920789" y="4393692"/>
            <a:ext cx="566928" cy="566928"/>
          </a:xfrm>
          <a:prstGeom prst="roundRect">
            <a:avLst>
              <a:gd name="adj" fmla="val 32258"/>
            </a:avLst>
          </a:prstGeom>
          <a:solidFill>
            <a:srgbClr val="F7E6BC"/>
          </a:solidFill>
          <a:ln/>
        </p:spPr>
      </p:sp>
      <p:sp>
        <p:nvSpPr>
          <p:cNvPr id="27" name="anim-g5-1304"/>
          <p:cNvSpPr/>
          <p:nvPr/>
        </p:nvSpPr>
        <p:spPr>
          <a:xfrm>
            <a:off x="6920789" y="439369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28" name="anim-g5-1305"/>
          <p:cNvSpPr/>
          <p:nvPr/>
        </p:nvSpPr>
        <p:spPr>
          <a:xfrm>
            <a:off x="4703978" y="507034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دمج الكرسي</a:t>
            </a:r>
            <a:endParaRPr lang="ar-SA" sz="2200" dirty="0"/>
          </a:p>
        </p:txBody>
      </p:sp>
      <p:sp>
        <p:nvSpPr>
          <p:cNvPr id="29" name="anim-g5-1306"/>
          <p:cNvSpPr/>
          <p:nvPr/>
        </p:nvSpPr>
        <p:spPr>
          <a:xfrm>
            <a:off x="4703978" y="5618988"/>
            <a:ext cx="278373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توحيد تجربة القيادة والاستكشاف بالكامل</a:t>
            </a:r>
            <a:endParaRPr lang="ar-SA" sz="1900" dirty="0"/>
          </a:p>
        </p:txBody>
      </p:sp>
      <p:sp>
        <p:nvSpPr>
          <p:cNvPr id="30" name="anim-g6-1307"/>
          <p:cNvSpPr/>
          <p:nvPr/>
        </p:nvSpPr>
        <p:spPr>
          <a:xfrm>
            <a:off x="822960" y="4137660"/>
            <a:ext cx="333237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31" name="anim-g6-1308"/>
          <p:cNvSpPr/>
          <p:nvPr/>
        </p:nvSpPr>
        <p:spPr>
          <a:xfrm>
            <a:off x="3314090" y="4393692"/>
            <a:ext cx="566928" cy="566928"/>
          </a:xfrm>
          <a:prstGeom prst="roundRect">
            <a:avLst>
              <a:gd name="adj" fmla="val 32258"/>
            </a:avLst>
          </a:prstGeom>
          <a:solidFill>
            <a:srgbClr val="F7E6BC"/>
          </a:solidFill>
          <a:ln/>
        </p:spPr>
      </p:sp>
      <p:sp>
        <p:nvSpPr>
          <p:cNvPr id="32" name="anim-g6-1309"/>
          <p:cNvSpPr/>
          <p:nvPr/>
        </p:nvSpPr>
        <p:spPr>
          <a:xfrm>
            <a:off x="3314090" y="439369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33" name="anim-g6-1310"/>
          <p:cNvSpPr/>
          <p:nvPr/>
        </p:nvSpPr>
        <p:spPr>
          <a:xfrm>
            <a:off x="1097280" y="507034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روبوت ثالث وأكثر</a:t>
            </a:r>
            <a:endParaRPr lang="ar-SA" sz="2200" dirty="0"/>
          </a:p>
        </p:txBody>
      </p:sp>
      <p:sp>
        <p:nvSpPr>
          <p:cNvPr id="34" name="anim-g6-1311"/>
          <p:cNvSpPr/>
          <p:nvPr/>
        </p:nvSpPr>
        <p:spPr>
          <a:xfrm>
            <a:off x="1097280" y="5618988"/>
            <a:ext cx="278373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كل روبوت جديد يحتاج عنوانًا وأمرًا: شبكة تحمي معرضًا كاملًا</a:t>
            </a:r>
            <a:endParaRPr lang="ar-SA" sz="1900" dirty="0"/>
          </a:p>
        </p:txBody>
      </p:sp>
      <p:sp>
        <p:nvSpPr>
          <p:cNvPr id="35" name="Text 3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36" name="Text 3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المعرض والختام  ·  ١٧٩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grpId="0" nodeType="click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400"/>
                                        <p:tgtEl>
                                          <p:spTgt spid="25"/>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400"/>
                                        <p:tgtEl>
                                          <p:spTgt spid="26"/>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7"/>
                                        </p:tgtEl>
                                        <p:attrNameLst>
                                          <p:attrName>style.visibility</p:attrName>
                                        </p:attrNameLst>
                                      </p:cBhvr>
                                      <p:to>
                                        <p:strVal val="visible"/>
                                      </p:to>
                                    </p:set>
                                    <p:animEffect transition="in" filter="fade">
                                      <p:cBhvr>
                                        <p:cTn id="81" dur="400"/>
                                        <p:tgtEl>
                                          <p:spTgt spid="27"/>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8"/>
                                        </p:tgtEl>
                                        <p:attrNameLst>
                                          <p:attrName>style.visibility</p:attrName>
                                        </p:attrNameLst>
                                      </p:cBhvr>
                                      <p:to>
                                        <p:strVal val="visible"/>
                                      </p:to>
                                    </p:set>
                                    <p:animEffect transition="in" filter="fade">
                                      <p:cBhvr>
                                        <p:cTn id="84" dur="400"/>
                                        <p:tgtEl>
                                          <p:spTgt spid="28"/>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29"/>
                                        </p:tgtEl>
                                        <p:attrNameLst>
                                          <p:attrName>style.visibility</p:attrName>
                                        </p:attrNameLst>
                                      </p:cBhvr>
                                      <p:to>
                                        <p:strVal val="visible"/>
                                      </p:to>
                                    </p:set>
                                    <p:animEffect transition="in" filter="fade">
                                      <p:cBhvr>
                                        <p:cTn id="87" dur="400"/>
                                        <p:tgtEl>
                                          <p:spTgt spid="29"/>
                                        </p:tgtEl>
                                      </p:cBhvr>
                                    </p:animEffect>
                                  </p:childTnLst>
                                </p:cTn>
                              </p:par>
                            </p:childTnLst>
                          </p:cTn>
                        </p:par>
                      </p:childTnLst>
                    </p:cTn>
                  </p:par>
                  <p:par>
                    <p:cTn id="88" fill="hold">
                      <p:stCondLst>
                        <p:cond delay="indefinite"/>
                      </p:stCondLst>
                      <p:childTnLst>
                        <p:par>
                          <p:cTn id="89"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30"/>
                                        </p:tgtEl>
                                        <p:attrNameLst>
                                          <p:attrName>style.visibility</p:attrName>
                                        </p:attrNameLst>
                                      </p:cBhvr>
                                      <p:to>
                                        <p:strVal val="visible"/>
                                      </p:to>
                                    </p:set>
                                    <p:animEffect transition="in" filter="fade">
                                      <p:cBhvr>
                                        <p:cTn id="92" dur="400"/>
                                        <p:tgtEl>
                                          <p:spTgt spid="30"/>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31"/>
                                        </p:tgtEl>
                                        <p:attrNameLst>
                                          <p:attrName>style.visibility</p:attrName>
                                        </p:attrNameLst>
                                      </p:cBhvr>
                                      <p:to>
                                        <p:strVal val="visible"/>
                                      </p:to>
                                    </p:set>
                                    <p:animEffect transition="in" filter="fade">
                                      <p:cBhvr>
                                        <p:cTn id="95" dur="400"/>
                                        <p:tgtEl>
                                          <p:spTgt spid="31"/>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32"/>
                                        </p:tgtEl>
                                        <p:attrNameLst>
                                          <p:attrName>style.visibility</p:attrName>
                                        </p:attrNameLst>
                                      </p:cBhvr>
                                      <p:to>
                                        <p:strVal val="visible"/>
                                      </p:to>
                                    </p:set>
                                    <p:animEffect transition="in" filter="fade">
                                      <p:cBhvr>
                                        <p:cTn id="98" dur="400"/>
                                        <p:tgtEl>
                                          <p:spTgt spid="32"/>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33"/>
                                        </p:tgtEl>
                                        <p:attrNameLst>
                                          <p:attrName>style.visibility</p:attrName>
                                        </p:attrNameLst>
                                      </p:cBhvr>
                                      <p:to>
                                        <p:strVal val="visible"/>
                                      </p:to>
                                    </p:set>
                                    <p:animEffect transition="in" filter="fade">
                                      <p:cBhvr>
                                        <p:cTn id="101" dur="400"/>
                                        <p:tgtEl>
                                          <p:spTgt spid="33"/>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34"/>
                                        </p:tgtEl>
                                        <p:attrNameLst>
                                          <p:attrName>style.visibility</p:attrName>
                                        </p:attrNameLst>
                                      </p:cBhvr>
                                      <p:to>
                                        <p:strVal val="visible"/>
                                      </p:to>
                                    </p:set>
                                    <p:animEffect transition="in" filter="fade">
                                      <p:cBhvr>
                                        <p:cTn id="104"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180.xml><?xml version="1.0" encoding="utf-8"?>
<p:sld xmlns:a="http://schemas.openxmlformats.org/drawingml/2006/main" xmlns:r="http://schemas.openxmlformats.org/officeDocument/2006/relationships" xmlns:p="http://schemas.openxmlformats.org/presentationml/2006/main">
  <p:cSld name="Slide 18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881567" y="457200"/>
            <a:ext cx="2487168" cy="457200"/>
          </a:xfrm>
          <a:prstGeom prst="roundRect">
            <a:avLst>
              <a:gd name="adj" fmla="val 50000"/>
            </a:avLst>
          </a:prstGeom>
          <a:solidFill>
            <a:srgbClr val="F6EBCF"/>
          </a:solidFill>
          <a:ln/>
        </p:spPr>
      </p:sp>
      <p:sp>
        <p:nvSpPr>
          <p:cNvPr id="3" name="Text 1"/>
          <p:cNvSpPr/>
          <p:nvPr/>
        </p:nvSpPr>
        <p:spPr>
          <a:xfrm>
            <a:off x="8881567" y="45720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خارطة الطريق</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درّس «لمسة تراث» في عشرة أسابيع</a:t>
            </a:r>
            <a:endParaRPr lang="ar-SA" sz="3800" dirty="0"/>
          </a:p>
        </p:txBody>
      </p:sp>
      <p:sp>
        <p:nvSpPr>
          <p:cNvPr id="5" name="anim-g1-1312"/>
          <p:cNvSpPr/>
          <p:nvPr/>
        </p:nvSpPr>
        <p:spPr>
          <a:xfrm>
            <a:off x="822960" y="1920240"/>
            <a:ext cx="10545775" cy="594360"/>
          </a:xfrm>
          <a:prstGeom prst="roundRect">
            <a:avLst>
              <a:gd name="adj" fmla="val 24615"/>
            </a:avLst>
          </a:prstGeom>
          <a:solidFill>
            <a:srgbClr val="FFFFFF"/>
          </a:solidFill>
          <a:ln w="12700">
            <a:solidFill>
              <a:srgbClr val="E4DCC8"/>
            </a:solidFill>
            <a:prstDash val="solid"/>
          </a:ln>
        </p:spPr>
      </p:sp>
      <p:sp>
        <p:nvSpPr>
          <p:cNvPr id="6" name="anim-g1-1313"/>
          <p:cNvSpPr/>
          <p:nvPr/>
        </p:nvSpPr>
        <p:spPr>
          <a:xfrm>
            <a:off x="10728655" y="2011680"/>
            <a:ext cx="411480" cy="411480"/>
          </a:xfrm>
          <a:prstGeom prst="ellipse">
            <a:avLst/>
          </a:prstGeom>
          <a:solidFill>
            <a:srgbClr val="D9AE4B"/>
          </a:solidFill>
          <a:ln/>
        </p:spPr>
      </p:sp>
      <p:sp>
        <p:nvSpPr>
          <p:cNvPr id="7" name="anim-g1-1314"/>
          <p:cNvSpPr/>
          <p:nvPr/>
        </p:nvSpPr>
        <p:spPr>
          <a:xfrm>
            <a:off x="10728655" y="2011680"/>
            <a:ext cx="411480" cy="411480"/>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١</a:t>
            </a:r>
            <a:endParaRPr lang="ar-SA" sz="2000" dirty="0"/>
          </a:p>
        </p:txBody>
      </p:sp>
      <p:sp>
        <p:nvSpPr>
          <p:cNvPr id="8" name="anim-g1-1315"/>
          <p:cNvSpPr/>
          <p:nvPr/>
        </p:nvSpPr>
        <p:spPr>
          <a:xfrm>
            <a:off x="1097280" y="1920240"/>
            <a:ext cx="9402775" cy="594360"/>
          </a:xfrm>
          <a:prstGeom prst="rect">
            <a:avLst/>
          </a:prstGeom>
          <a:noFill/>
          <a:ln/>
        </p:spPr>
        <p:txBody>
          <a:bodyPr wrap="square" lIns="0" tIns="0" rIns="0" bIns="0" rtlCol="0" anchor="ctr">
            <a:normAutofit/>
          </a:bodyPr>
          <a:lstStyle/>
          <a:p>
            <a:pPr algn="r" indent="0" marL="0">
              <a:buNone/>
            </a:pPr>
            <a:r>
              <a:rPr lang="ar-SA" altLang="en-US" sz="2200" b="1" dirty="0">
                <a:solidFill>
                  <a:srgbClr val="101B45"/>
                </a:solidFill>
                <a:latin typeface="Cairo Black" pitchFamily="34" charset="0"/>
                <a:ea typeface="Cairo Black" pitchFamily="34" charset="-122"/>
                <a:cs typeface="Cairo Black" pitchFamily="34" charset="-120"/>
              </a:rPr>
              <a:t>الأسبوع ١: القصة والبحث والمنظومة</a:t>
            </a:r>
            <a:pPr algn="r" indent="0" marL="0">
              <a:buNone/>
            </a:pPr>
            <a:r>
              <a:rPr lang="ar-SA" altLang="en-US" sz="1800" b="1" dirty="0">
                <a:solidFill>
                  <a:srgbClr val="3B4460"/>
                </a:solidFill>
                <a:latin typeface="Cairo" pitchFamily="34" charset="0"/>
                <a:ea typeface="Cairo" pitchFamily="34" charset="-122"/>
                <a:cs typeface="Cairo" pitchFamily="34" charset="-120"/>
              </a:rPr>
              <a:t>   — زيارة افتراضية للمصمك ونقاش عن الإعاقة والوصول</a:t>
            </a:r>
            <a:endParaRPr lang="ar-SA" sz="2200" dirty="0"/>
          </a:p>
        </p:txBody>
      </p:sp>
      <p:sp>
        <p:nvSpPr>
          <p:cNvPr id="9" name="anim-g2-1316"/>
          <p:cNvSpPr/>
          <p:nvPr/>
        </p:nvSpPr>
        <p:spPr>
          <a:xfrm>
            <a:off x="822960" y="2624328"/>
            <a:ext cx="10545775" cy="594360"/>
          </a:xfrm>
          <a:prstGeom prst="roundRect">
            <a:avLst>
              <a:gd name="adj" fmla="val 24615"/>
            </a:avLst>
          </a:prstGeom>
          <a:solidFill>
            <a:srgbClr val="FFFFFF"/>
          </a:solidFill>
          <a:ln w="12700">
            <a:solidFill>
              <a:srgbClr val="E4DCC8"/>
            </a:solidFill>
            <a:prstDash val="solid"/>
          </a:ln>
        </p:spPr>
      </p:sp>
      <p:sp>
        <p:nvSpPr>
          <p:cNvPr id="10" name="anim-g2-1317"/>
          <p:cNvSpPr/>
          <p:nvPr/>
        </p:nvSpPr>
        <p:spPr>
          <a:xfrm>
            <a:off x="10728655" y="2715768"/>
            <a:ext cx="411480" cy="411480"/>
          </a:xfrm>
          <a:prstGeom prst="ellipse">
            <a:avLst/>
          </a:prstGeom>
          <a:solidFill>
            <a:srgbClr val="D9AE4B"/>
          </a:solidFill>
          <a:ln/>
        </p:spPr>
      </p:sp>
      <p:sp>
        <p:nvSpPr>
          <p:cNvPr id="11" name="anim-g2-1318"/>
          <p:cNvSpPr/>
          <p:nvPr/>
        </p:nvSpPr>
        <p:spPr>
          <a:xfrm>
            <a:off x="10728655" y="2715768"/>
            <a:ext cx="411480" cy="411480"/>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٢</a:t>
            </a:r>
            <a:endParaRPr lang="ar-SA" sz="2000" dirty="0"/>
          </a:p>
        </p:txBody>
      </p:sp>
      <p:sp>
        <p:nvSpPr>
          <p:cNvPr id="12" name="anim-g2-1319"/>
          <p:cNvSpPr/>
          <p:nvPr/>
        </p:nvSpPr>
        <p:spPr>
          <a:xfrm>
            <a:off x="1097280" y="2624328"/>
            <a:ext cx="9402775" cy="594360"/>
          </a:xfrm>
          <a:prstGeom prst="rect">
            <a:avLst/>
          </a:prstGeom>
          <a:noFill/>
          <a:ln/>
        </p:spPr>
        <p:txBody>
          <a:bodyPr wrap="square" lIns="0" tIns="0" rIns="0" bIns="0" rtlCol="0" anchor="ctr">
            <a:normAutofit/>
          </a:bodyPr>
          <a:lstStyle/>
          <a:p>
            <a:pPr algn="r" indent="0" marL="0">
              <a:buNone/>
            </a:pPr>
            <a:r>
              <a:rPr lang="ar-SA" altLang="en-US" sz="2200" b="1" dirty="0">
                <a:solidFill>
                  <a:srgbClr val="101B45"/>
                </a:solidFill>
                <a:latin typeface="Cairo Black" pitchFamily="34" charset="0"/>
                <a:ea typeface="Cairo Black" pitchFamily="34" charset="-122"/>
                <a:cs typeface="Cairo Black" pitchFamily="34" charset="-120"/>
              </a:rPr>
              <a:t>الأسبوعان ٢–٣: المجسّم الدوّار</a:t>
            </a:r>
            <a:pPr algn="r" indent="0" marL="0">
              <a:buNone/>
            </a:pPr>
            <a:r>
              <a:rPr lang="ar-SA" altLang="en-US" sz="1800" b="1" dirty="0">
                <a:solidFill>
                  <a:srgbClr val="3B4460"/>
                </a:solidFill>
                <a:latin typeface="Cairo" pitchFamily="34" charset="0"/>
                <a:ea typeface="Cairo" pitchFamily="34" charset="-122"/>
                <a:cs typeface="Cairo" pitchFamily="34" charset="-120"/>
              </a:rPr>
              <a:t>   — A4988 وNEMA17، ثم WS2812B</a:t>
            </a:r>
            <a:endParaRPr lang="ar-SA" sz="2200" dirty="0"/>
          </a:p>
        </p:txBody>
      </p:sp>
      <p:sp>
        <p:nvSpPr>
          <p:cNvPr id="13" name="anim-g3-1320"/>
          <p:cNvSpPr/>
          <p:nvPr/>
        </p:nvSpPr>
        <p:spPr>
          <a:xfrm>
            <a:off x="822960" y="3328416"/>
            <a:ext cx="10545775" cy="594360"/>
          </a:xfrm>
          <a:prstGeom prst="roundRect">
            <a:avLst>
              <a:gd name="adj" fmla="val 24615"/>
            </a:avLst>
          </a:prstGeom>
          <a:solidFill>
            <a:srgbClr val="FFFFFF"/>
          </a:solidFill>
          <a:ln w="12700">
            <a:solidFill>
              <a:srgbClr val="E4DCC8"/>
            </a:solidFill>
            <a:prstDash val="solid"/>
          </a:ln>
        </p:spPr>
      </p:sp>
      <p:sp>
        <p:nvSpPr>
          <p:cNvPr id="14" name="anim-g3-1321"/>
          <p:cNvSpPr/>
          <p:nvPr/>
        </p:nvSpPr>
        <p:spPr>
          <a:xfrm>
            <a:off x="10728655" y="3419856"/>
            <a:ext cx="411480" cy="411480"/>
          </a:xfrm>
          <a:prstGeom prst="ellipse">
            <a:avLst/>
          </a:prstGeom>
          <a:solidFill>
            <a:srgbClr val="D9AE4B"/>
          </a:solidFill>
          <a:ln/>
        </p:spPr>
      </p:sp>
      <p:sp>
        <p:nvSpPr>
          <p:cNvPr id="15" name="anim-g3-1322"/>
          <p:cNvSpPr/>
          <p:nvPr/>
        </p:nvSpPr>
        <p:spPr>
          <a:xfrm>
            <a:off x="10728655" y="3419856"/>
            <a:ext cx="411480" cy="411480"/>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٣</a:t>
            </a:r>
            <a:endParaRPr lang="ar-SA" sz="2000" dirty="0"/>
          </a:p>
        </p:txBody>
      </p:sp>
      <p:sp>
        <p:nvSpPr>
          <p:cNvPr id="16" name="anim-g3-1323"/>
          <p:cNvSpPr/>
          <p:nvPr/>
        </p:nvSpPr>
        <p:spPr>
          <a:xfrm>
            <a:off x="1097280" y="3328416"/>
            <a:ext cx="9402775" cy="594360"/>
          </a:xfrm>
          <a:prstGeom prst="rect">
            <a:avLst/>
          </a:prstGeom>
          <a:noFill/>
          <a:ln/>
        </p:spPr>
        <p:txBody>
          <a:bodyPr wrap="square" lIns="0" tIns="0" rIns="0" bIns="0" rtlCol="0" anchor="ctr">
            <a:normAutofit/>
          </a:bodyPr>
          <a:lstStyle/>
          <a:p>
            <a:pPr algn="r" indent="0" marL="0">
              <a:buNone/>
            </a:pPr>
            <a:r>
              <a:rPr lang="ar-SA" altLang="en-US" sz="2200" b="1" dirty="0">
                <a:solidFill>
                  <a:srgbClr val="101B45"/>
                </a:solidFill>
                <a:latin typeface="Cairo Black" pitchFamily="34" charset="0"/>
                <a:ea typeface="Cairo Black" pitchFamily="34" charset="-122"/>
                <a:cs typeface="Cairo Black" pitchFamily="34" charset="-120"/>
              </a:rPr>
              <a:t>الأسبوعان ٤–٥: المحتوى والشبكة</a:t>
            </a:r>
            <a:pPr algn="r" indent="0" marL="0">
              <a:buNone/>
            </a:pPr>
            <a:r>
              <a:rPr lang="ar-SA" altLang="en-US" sz="1800" b="1" dirty="0">
                <a:solidFill>
                  <a:srgbClr val="3B4460"/>
                </a:solidFill>
                <a:latin typeface="Cairo" pitchFamily="34" charset="0"/>
                <a:ea typeface="Cairo" pitchFamily="34" charset="-122"/>
                <a:cs typeface="Cairo" pitchFamily="34" charset="-120"/>
              </a:rPr>
              <a:t>   — الراسبيري ولغة الإشارة، ثم UDP والحارس</a:t>
            </a:r>
            <a:endParaRPr lang="ar-SA" sz="2200" dirty="0"/>
          </a:p>
        </p:txBody>
      </p:sp>
      <p:sp>
        <p:nvSpPr>
          <p:cNvPr id="17" name="anim-g4-1324"/>
          <p:cNvSpPr/>
          <p:nvPr/>
        </p:nvSpPr>
        <p:spPr>
          <a:xfrm>
            <a:off x="822960" y="4032504"/>
            <a:ext cx="10545775" cy="594360"/>
          </a:xfrm>
          <a:prstGeom prst="roundRect">
            <a:avLst>
              <a:gd name="adj" fmla="val 24615"/>
            </a:avLst>
          </a:prstGeom>
          <a:solidFill>
            <a:srgbClr val="FFFFFF"/>
          </a:solidFill>
          <a:ln w="12700">
            <a:solidFill>
              <a:srgbClr val="E4DCC8"/>
            </a:solidFill>
            <a:prstDash val="solid"/>
          </a:ln>
        </p:spPr>
      </p:sp>
      <p:sp>
        <p:nvSpPr>
          <p:cNvPr id="18" name="anim-g4-1325"/>
          <p:cNvSpPr/>
          <p:nvPr/>
        </p:nvSpPr>
        <p:spPr>
          <a:xfrm>
            <a:off x="10728655" y="4123944"/>
            <a:ext cx="411480" cy="411480"/>
          </a:xfrm>
          <a:prstGeom prst="ellipse">
            <a:avLst/>
          </a:prstGeom>
          <a:solidFill>
            <a:srgbClr val="D9AE4B"/>
          </a:solidFill>
          <a:ln/>
        </p:spPr>
      </p:sp>
      <p:sp>
        <p:nvSpPr>
          <p:cNvPr id="19" name="anim-g4-1326"/>
          <p:cNvSpPr/>
          <p:nvPr/>
        </p:nvSpPr>
        <p:spPr>
          <a:xfrm>
            <a:off x="10728655" y="4123944"/>
            <a:ext cx="411480" cy="411480"/>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٤</a:t>
            </a:r>
            <a:endParaRPr lang="ar-SA" sz="2000" dirty="0"/>
          </a:p>
        </p:txBody>
      </p:sp>
      <p:sp>
        <p:nvSpPr>
          <p:cNvPr id="20" name="anim-g4-1327"/>
          <p:cNvSpPr/>
          <p:nvPr/>
        </p:nvSpPr>
        <p:spPr>
          <a:xfrm>
            <a:off x="1097280" y="4032504"/>
            <a:ext cx="9402775" cy="594360"/>
          </a:xfrm>
          <a:prstGeom prst="rect">
            <a:avLst/>
          </a:prstGeom>
          <a:noFill/>
          <a:ln/>
        </p:spPr>
        <p:txBody>
          <a:bodyPr wrap="square" lIns="0" tIns="0" rIns="0" bIns="0" rtlCol="0" anchor="ctr">
            <a:normAutofit/>
          </a:bodyPr>
          <a:lstStyle/>
          <a:p>
            <a:pPr algn="r" indent="0" marL="0">
              <a:buNone/>
            </a:pPr>
            <a:r>
              <a:rPr lang="ar-SA" altLang="en-US" sz="2200" b="1" dirty="0">
                <a:solidFill>
                  <a:srgbClr val="101B45"/>
                </a:solidFill>
                <a:latin typeface="Cairo Black" pitchFamily="34" charset="0"/>
                <a:ea typeface="Cairo Black" pitchFamily="34" charset="-122"/>
                <a:cs typeface="Cairo Black" pitchFamily="34" charset="-120"/>
              </a:rPr>
              <a:t>الأسبوعان ٦–٧: العين والجولة</a:t>
            </a:r>
            <a:pPr algn="r" indent="0" marL="0">
              <a:buNone/>
            </a:pPr>
            <a:r>
              <a:rPr lang="ar-SA" altLang="en-US" sz="1800" b="1" dirty="0">
                <a:solidFill>
                  <a:srgbClr val="3B4460"/>
                </a:solidFill>
                <a:latin typeface="Cairo" pitchFamily="34" charset="0"/>
                <a:ea typeface="Cairo" pitchFamily="34" charset="-122"/>
                <a:cs typeface="Cairo" pitchFamily="34" charset="-120"/>
              </a:rPr>
              <a:t>   — MediaPipe والمعايرة، ثم الكرسي والتكامل</a:t>
            </a:r>
            <a:endParaRPr lang="ar-SA" sz="2200" dirty="0"/>
          </a:p>
        </p:txBody>
      </p:sp>
      <p:sp>
        <p:nvSpPr>
          <p:cNvPr id="21" name="anim-g5-1328"/>
          <p:cNvSpPr/>
          <p:nvPr/>
        </p:nvSpPr>
        <p:spPr>
          <a:xfrm>
            <a:off x="822960" y="4736592"/>
            <a:ext cx="10545775" cy="594360"/>
          </a:xfrm>
          <a:prstGeom prst="roundRect">
            <a:avLst>
              <a:gd name="adj" fmla="val 24615"/>
            </a:avLst>
          </a:prstGeom>
          <a:solidFill>
            <a:srgbClr val="FFFFFF"/>
          </a:solidFill>
          <a:ln w="12700">
            <a:solidFill>
              <a:srgbClr val="E4DCC8"/>
            </a:solidFill>
            <a:prstDash val="solid"/>
          </a:ln>
        </p:spPr>
      </p:sp>
      <p:sp>
        <p:nvSpPr>
          <p:cNvPr id="22" name="anim-g5-1329"/>
          <p:cNvSpPr/>
          <p:nvPr/>
        </p:nvSpPr>
        <p:spPr>
          <a:xfrm>
            <a:off x="10728655" y="4828032"/>
            <a:ext cx="411480" cy="411480"/>
          </a:xfrm>
          <a:prstGeom prst="ellipse">
            <a:avLst/>
          </a:prstGeom>
          <a:solidFill>
            <a:srgbClr val="D9AE4B"/>
          </a:solidFill>
          <a:ln/>
        </p:spPr>
      </p:sp>
      <p:sp>
        <p:nvSpPr>
          <p:cNvPr id="23" name="anim-g5-1330"/>
          <p:cNvSpPr/>
          <p:nvPr/>
        </p:nvSpPr>
        <p:spPr>
          <a:xfrm>
            <a:off x="10728655" y="4828032"/>
            <a:ext cx="411480" cy="411480"/>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٥</a:t>
            </a:r>
            <a:endParaRPr lang="ar-SA" sz="2000" dirty="0"/>
          </a:p>
        </p:txBody>
      </p:sp>
      <p:sp>
        <p:nvSpPr>
          <p:cNvPr id="24" name="anim-g5-1331"/>
          <p:cNvSpPr/>
          <p:nvPr/>
        </p:nvSpPr>
        <p:spPr>
          <a:xfrm>
            <a:off x="1097280" y="4736592"/>
            <a:ext cx="9402775" cy="594360"/>
          </a:xfrm>
          <a:prstGeom prst="rect">
            <a:avLst/>
          </a:prstGeom>
          <a:noFill/>
          <a:ln/>
        </p:spPr>
        <p:txBody>
          <a:bodyPr wrap="square" lIns="0" tIns="0" rIns="0" bIns="0" rtlCol="0" anchor="ctr">
            <a:normAutofit/>
          </a:bodyPr>
          <a:lstStyle/>
          <a:p>
            <a:pPr algn="r" indent="0" marL="0">
              <a:buNone/>
            </a:pPr>
            <a:r>
              <a:rPr lang="ar-SA" altLang="en-US" sz="2200" b="1" dirty="0">
                <a:solidFill>
                  <a:srgbClr val="101B45"/>
                </a:solidFill>
                <a:latin typeface="Cairo Black" pitchFamily="34" charset="0"/>
                <a:ea typeface="Cairo Black" pitchFamily="34" charset="-122"/>
                <a:cs typeface="Cairo Black" pitchFamily="34" charset="-120"/>
              </a:rPr>
              <a:t>الأسبوعان ٨–٩: روبوتا السلامة</a:t>
            </a:r>
            <a:pPr algn="r" indent="0" marL="0">
              <a:buNone/>
            </a:pPr>
            <a:r>
              <a:rPr lang="ar-SA" altLang="en-US" sz="1800" b="1" dirty="0">
                <a:solidFill>
                  <a:srgbClr val="3B4460"/>
                </a:solidFill>
                <a:latin typeface="Cairo" pitchFamily="34" charset="0"/>
                <a:ea typeface="Cairo" pitchFamily="34" charset="-122"/>
                <a:cs typeface="Cairo" pitchFamily="34" charset="-120"/>
              </a:rPr>
              <a:t>   — المحطة بالنسب، والروبوتان، وESP-NOW والقرار</a:t>
            </a:r>
            <a:endParaRPr lang="ar-SA" sz="2200" dirty="0"/>
          </a:p>
        </p:txBody>
      </p:sp>
      <p:sp>
        <p:nvSpPr>
          <p:cNvPr id="25" name="anim-g6-1332"/>
          <p:cNvSpPr/>
          <p:nvPr/>
        </p:nvSpPr>
        <p:spPr>
          <a:xfrm>
            <a:off x="822960" y="5440680"/>
            <a:ext cx="10545775" cy="594360"/>
          </a:xfrm>
          <a:prstGeom prst="roundRect">
            <a:avLst>
              <a:gd name="adj" fmla="val 24615"/>
            </a:avLst>
          </a:prstGeom>
          <a:solidFill>
            <a:srgbClr val="FFFFFF"/>
          </a:solidFill>
          <a:ln w="12700">
            <a:solidFill>
              <a:srgbClr val="E4DCC8"/>
            </a:solidFill>
            <a:prstDash val="solid"/>
          </a:ln>
        </p:spPr>
      </p:sp>
      <p:sp>
        <p:nvSpPr>
          <p:cNvPr id="26" name="anim-g6-1333"/>
          <p:cNvSpPr/>
          <p:nvPr/>
        </p:nvSpPr>
        <p:spPr>
          <a:xfrm>
            <a:off x="10728655" y="5532120"/>
            <a:ext cx="411480" cy="411480"/>
          </a:xfrm>
          <a:prstGeom prst="ellipse">
            <a:avLst/>
          </a:prstGeom>
          <a:solidFill>
            <a:srgbClr val="D9AE4B"/>
          </a:solidFill>
          <a:ln/>
        </p:spPr>
      </p:sp>
      <p:sp>
        <p:nvSpPr>
          <p:cNvPr id="27" name="anim-g6-1334"/>
          <p:cNvSpPr/>
          <p:nvPr/>
        </p:nvSpPr>
        <p:spPr>
          <a:xfrm>
            <a:off x="10728655" y="5532120"/>
            <a:ext cx="411480" cy="411480"/>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٦</a:t>
            </a:r>
            <a:endParaRPr lang="ar-SA" sz="2000" dirty="0"/>
          </a:p>
        </p:txBody>
      </p:sp>
      <p:sp>
        <p:nvSpPr>
          <p:cNvPr id="28" name="anim-g6-1335"/>
          <p:cNvSpPr/>
          <p:nvPr/>
        </p:nvSpPr>
        <p:spPr>
          <a:xfrm>
            <a:off x="1097280" y="5440680"/>
            <a:ext cx="9402775" cy="594360"/>
          </a:xfrm>
          <a:prstGeom prst="rect">
            <a:avLst/>
          </a:prstGeom>
          <a:noFill/>
          <a:ln/>
        </p:spPr>
        <p:txBody>
          <a:bodyPr wrap="square" lIns="0" tIns="0" rIns="0" bIns="0" rtlCol="0" anchor="ctr">
            <a:normAutofit/>
          </a:bodyPr>
          <a:lstStyle/>
          <a:p>
            <a:pPr algn="r" indent="0" marL="0">
              <a:buNone/>
            </a:pPr>
            <a:r>
              <a:rPr lang="ar-SA" altLang="en-US" sz="2200" b="1" dirty="0">
                <a:solidFill>
                  <a:srgbClr val="101B45"/>
                </a:solidFill>
                <a:latin typeface="Cairo Black" pitchFamily="34" charset="0"/>
                <a:ea typeface="Cairo Black" pitchFamily="34" charset="-122"/>
                <a:cs typeface="Cairo Black" pitchFamily="34" charset="-120"/>
              </a:rPr>
              <a:t>الأسبوع ١٠: المعرض</a:t>
            </a:r>
            <a:pPr algn="r" indent="0" marL="0">
              <a:buNone/>
            </a:pPr>
            <a:r>
              <a:rPr lang="ar-SA" altLang="en-US" sz="1800" b="1" dirty="0">
                <a:solidFill>
                  <a:srgbClr val="3B4460"/>
                </a:solidFill>
                <a:latin typeface="Cairo" pitchFamily="34" charset="0"/>
                <a:ea typeface="Cairo" pitchFamily="34" charset="-122"/>
                <a:cs typeface="Cairo" pitchFamily="34" charset="-120"/>
              </a:rPr>
              <a:t>   — البروفة والعرض بلغتين والتحكيم</a:t>
            </a:r>
            <a:endParaRPr lang="ar-SA" sz="2200" dirty="0"/>
          </a:p>
        </p:txBody>
      </p:sp>
      <p:sp>
        <p:nvSpPr>
          <p:cNvPr id="29" name="Text 27"/>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30" name="Text 28"/>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المعرض والختام  ·  ١٨٠</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400"/>
                                        <p:tgtEl>
                                          <p:spTgt spid="22"/>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3"/>
                                        </p:tgtEl>
                                        <p:attrNameLst>
                                          <p:attrName>style.visibility</p:attrName>
                                        </p:attrNameLst>
                                      </p:cBhvr>
                                      <p:to>
                                        <p:strVal val="visible"/>
                                      </p:to>
                                    </p:set>
                                    <p:animEffect transition="in" filter="fade">
                                      <p:cBhvr>
                                        <p:cTn id="69" dur="400"/>
                                        <p:tgtEl>
                                          <p:spTgt spid="23"/>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4"/>
                                        </p:tgtEl>
                                        <p:attrNameLst>
                                          <p:attrName>style.visibility</p:attrName>
                                        </p:attrNameLst>
                                      </p:cBhvr>
                                      <p:to>
                                        <p:strVal val="visible"/>
                                      </p:to>
                                    </p:set>
                                    <p:animEffect transition="in" filter="fade">
                                      <p:cBhvr>
                                        <p:cTn id="72" dur="400"/>
                                        <p:tgtEl>
                                          <p:spTgt spid="24"/>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grpId="0" nodeType="clickEffect">
                                  <p:stCondLst>
                                    <p:cond delay="0"/>
                                  </p:stCondLst>
                                  <p:childTnLst>
                                    <p:set>
                                      <p:cBhvr>
                                        <p:cTn id="76" dur="1" fill="hold">
                                          <p:stCondLst>
                                            <p:cond delay="0"/>
                                          </p:stCondLst>
                                        </p:cTn>
                                        <p:tgtEl>
                                          <p:spTgt spid="25"/>
                                        </p:tgtEl>
                                        <p:attrNameLst>
                                          <p:attrName>style.visibility</p:attrName>
                                        </p:attrNameLst>
                                      </p:cBhvr>
                                      <p:to>
                                        <p:strVal val="visible"/>
                                      </p:to>
                                    </p:set>
                                    <p:animEffect transition="in" filter="fade">
                                      <p:cBhvr>
                                        <p:cTn id="77" dur="400"/>
                                        <p:tgtEl>
                                          <p:spTgt spid="25"/>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26"/>
                                        </p:tgtEl>
                                        <p:attrNameLst>
                                          <p:attrName>style.visibility</p:attrName>
                                        </p:attrNameLst>
                                      </p:cBhvr>
                                      <p:to>
                                        <p:strVal val="visible"/>
                                      </p:to>
                                    </p:set>
                                    <p:animEffect transition="in" filter="fade">
                                      <p:cBhvr>
                                        <p:cTn id="80" dur="400"/>
                                        <p:tgtEl>
                                          <p:spTgt spid="26"/>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27"/>
                                        </p:tgtEl>
                                        <p:attrNameLst>
                                          <p:attrName>style.visibility</p:attrName>
                                        </p:attrNameLst>
                                      </p:cBhvr>
                                      <p:to>
                                        <p:strVal val="visible"/>
                                      </p:to>
                                    </p:set>
                                    <p:animEffect transition="in" filter="fade">
                                      <p:cBhvr>
                                        <p:cTn id="83" dur="400"/>
                                        <p:tgtEl>
                                          <p:spTgt spid="27"/>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28"/>
                                        </p:tgtEl>
                                        <p:attrNameLst>
                                          <p:attrName>style.visibility</p:attrName>
                                        </p:attrNameLst>
                                      </p:cBhvr>
                                      <p:to>
                                        <p:strVal val="visible"/>
                                      </p:to>
                                    </p:set>
                                    <p:animEffect transition="in" filter="fade">
                                      <p:cBhvr>
                                        <p:cTn id="86"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181.xml><?xml version="1.0" encoding="utf-8"?>
<p:sld xmlns:a="http://schemas.openxmlformats.org/drawingml/2006/main" xmlns:r="http://schemas.openxmlformats.org/officeDocument/2006/relationships" xmlns:p="http://schemas.openxmlformats.org/presentationml/2006/main">
  <p:cSld name="Slide 18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272223" y="457200"/>
            <a:ext cx="4096512"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7272223" y="457200"/>
            <a:ext cx="4096512"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نشاط ختامي — ثلاث دقائق</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F0CC7A"/>
                </a:solidFill>
                <a:latin typeface="Cairo Black" pitchFamily="34" charset="0"/>
                <a:ea typeface="Cairo Black" pitchFamily="34" charset="-122"/>
                <a:cs typeface="Cairo Black" pitchFamily="34" charset="-120"/>
              </a:rPr>
              <a:t>معلمي… للجميع</a:t>
            </a:r>
            <a:endParaRPr lang="ar-SA" sz="3800" dirty="0"/>
          </a:p>
        </p:txBody>
      </p:sp>
      <p:sp>
        <p:nvSpPr>
          <p:cNvPr id="5" name="anim-g1-1336"/>
          <p:cNvSpPr/>
          <p:nvPr/>
        </p:nvSpPr>
        <p:spPr>
          <a:xfrm>
            <a:off x="10637215" y="2286000"/>
            <a:ext cx="731520" cy="731520"/>
          </a:xfrm>
          <a:prstGeom prst="ellipse">
            <a:avLst/>
          </a:prstGeom>
          <a:solidFill>
            <a:srgbClr val="D9AE4B"/>
          </a:solidFill>
          <a:ln/>
        </p:spPr>
      </p:sp>
      <p:sp>
        <p:nvSpPr>
          <p:cNvPr id="6" name="anim-g1-1337"/>
          <p:cNvSpPr/>
          <p:nvPr/>
        </p:nvSpPr>
        <p:spPr>
          <a:xfrm>
            <a:off x="10637215" y="2286000"/>
            <a:ext cx="731520" cy="731520"/>
          </a:xfrm>
          <a:prstGeom prst="rect">
            <a:avLst/>
          </a:prstGeom>
          <a:noFill/>
          <a:ln/>
        </p:spPr>
        <p:txBody>
          <a:bodyPr wrap="square" lIns="0" tIns="0" rIns="0" bIns="0" rtlCol="0" anchor="ctr">
            <a:normAutofit/>
          </a:bodyPr>
          <a:lstStyle/>
          <a:p>
            <a:pPr rtl="1" algn="ctr" indent="0" marL="0">
              <a:buNone/>
            </a:pPr>
            <a:r>
              <a:rPr lang="ar-SA" altLang="en-US" sz="2400" dirty="0">
                <a:solidFill>
                  <a:srgbClr val="0A1230"/>
                </a:solidFill>
                <a:latin typeface="Cairo Black" pitchFamily="34" charset="0"/>
                <a:ea typeface="Cairo Black" pitchFamily="34" charset="-122"/>
                <a:cs typeface="Cairo Black" pitchFamily="34" charset="-120"/>
              </a:rPr>
              <a:t>١</a:t>
            </a:r>
            <a:endParaRPr lang="ar-SA" sz="2400" dirty="0"/>
          </a:p>
        </p:txBody>
      </p:sp>
      <p:sp>
        <p:nvSpPr>
          <p:cNvPr id="7" name="anim-g1-1338"/>
          <p:cNvSpPr/>
          <p:nvPr/>
        </p:nvSpPr>
        <p:spPr>
          <a:xfrm>
            <a:off x="4023360" y="2194560"/>
            <a:ext cx="6339535" cy="914400"/>
          </a:xfrm>
          <a:prstGeom prst="rect">
            <a:avLst/>
          </a:prstGeom>
          <a:noFill/>
          <a:ln/>
        </p:spPr>
        <p:txBody>
          <a:bodyPr wrap="square" lIns="0" tIns="0" rIns="0" bIns="0" rtlCol="0" anchor="ctr">
            <a:normAutofit/>
          </a:bodyPr>
          <a:lstStyle/>
          <a:p>
            <a:pPr rtl="1" algn="r" indent="0" marL="0">
              <a:buNone/>
            </a:pPr>
            <a:r>
              <a:rPr lang="ar-SA" altLang="en-US" sz="2200" b="1" dirty="0">
                <a:solidFill>
                  <a:srgbClr val="FFFFFF"/>
                </a:solidFill>
                <a:latin typeface="Cairo" pitchFamily="34" charset="0"/>
                <a:ea typeface="Cairo" pitchFamily="34" charset="-122"/>
                <a:cs typeface="Cairo" pitchFamily="34" charset="-120"/>
              </a:rPr>
              <a:t>أي معلم تراثي في منطقتك تختاره لمشروع طلابك؟</a:t>
            </a:r>
            <a:endParaRPr lang="ar-SA" sz="2200" dirty="0"/>
          </a:p>
        </p:txBody>
      </p:sp>
      <p:sp>
        <p:nvSpPr>
          <p:cNvPr id="8" name="anim-g2-1339"/>
          <p:cNvSpPr/>
          <p:nvPr/>
        </p:nvSpPr>
        <p:spPr>
          <a:xfrm>
            <a:off x="10637215" y="3383280"/>
            <a:ext cx="731520" cy="731520"/>
          </a:xfrm>
          <a:prstGeom prst="ellipse">
            <a:avLst/>
          </a:prstGeom>
          <a:solidFill>
            <a:srgbClr val="D9AE4B"/>
          </a:solidFill>
          <a:ln/>
        </p:spPr>
      </p:sp>
      <p:sp>
        <p:nvSpPr>
          <p:cNvPr id="9" name="anim-g2-1340"/>
          <p:cNvSpPr/>
          <p:nvPr/>
        </p:nvSpPr>
        <p:spPr>
          <a:xfrm>
            <a:off x="10637215" y="3383280"/>
            <a:ext cx="731520" cy="731520"/>
          </a:xfrm>
          <a:prstGeom prst="rect">
            <a:avLst/>
          </a:prstGeom>
          <a:noFill/>
          <a:ln/>
        </p:spPr>
        <p:txBody>
          <a:bodyPr wrap="square" lIns="0" tIns="0" rIns="0" bIns="0" rtlCol="0" anchor="ctr">
            <a:normAutofit/>
          </a:bodyPr>
          <a:lstStyle/>
          <a:p>
            <a:pPr rtl="1" algn="ctr" indent="0" marL="0">
              <a:buNone/>
            </a:pPr>
            <a:r>
              <a:rPr lang="ar-SA" altLang="en-US" sz="2400" dirty="0">
                <a:solidFill>
                  <a:srgbClr val="0A1230"/>
                </a:solidFill>
                <a:latin typeface="Cairo Black" pitchFamily="34" charset="0"/>
                <a:ea typeface="Cairo Black" pitchFamily="34" charset="-122"/>
                <a:cs typeface="Cairo Black" pitchFamily="34" charset="-120"/>
              </a:rPr>
              <a:t>٢</a:t>
            </a:r>
            <a:endParaRPr lang="ar-SA" sz="2400" dirty="0"/>
          </a:p>
        </p:txBody>
      </p:sp>
      <p:sp>
        <p:nvSpPr>
          <p:cNvPr id="10" name="anim-g2-1341"/>
          <p:cNvSpPr/>
          <p:nvPr/>
        </p:nvSpPr>
        <p:spPr>
          <a:xfrm>
            <a:off x="4023360" y="3291840"/>
            <a:ext cx="6339535" cy="914400"/>
          </a:xfrm>
          <a:prstGeom prst="rect">
            <a:avLst/>
          </a:prstGeom>
          <a:noFill/>
          <a:ln/>
        </p:spPr>
        <p:txBody>
          <a:bodyPr wrap="square" lIns="0" tIns="0" rIns="0" bIns="0" rtlCol="0" anchor="ctr">
            <a:normAutofit/>
          </a:bodyPr>
          <a:lstStyle/>
          <a:p>
            <a:pPr rtl="1" algn="r" indent="0" marL="0">
              <a:buNone/>
            </a:pPr>
            <a:r>
              <a:rPr lang="ar-SA" altLang="en-US" sz="2200" b="1" dirty="0">
                <a:solidFill>
                  <a:srgbClr val="FFFFFF"/>
                </a:solidFill>
                <a:latin typeface="Cairo" pitchFamily="34" charset="0"/>
                <a:ea typeface="Cairo" pitchFamily="34" charset="-122"/>
                <a:cs typeface="Cairo" pitchFamily="34" charset="-120"/>
              </a:rPr>
              <a:t>من الزائر الذي لا يستطيع اليوم أن يستمتع به؟ ولماذا؟</a:t>
            </a:r>
            <a:endParaRPr lang="ar-SA" sz="2200" dirty="0"/>
          </a:p>
        </p:txBody>
      </p:sp>
      <p:sp>
        <p:nvSpPr>
          <p:cNvPr id="11" name="anim-g3-1342"/>
          <p:cNvSpPr/>
          <p:nvPr/>
        </p:nvSpPr>
        <p:spPr>
          <a:xfrm>
            <a:off x="10637215" y="4480560"/>
            <a:ext cx="731520" cy="731520"/>
          </a:xfrm>
          <a:prstGeom prst="ellipse">
            <a:avLst/>
          </a:prstGeom>
          <a:solidFill>
            <a:srgbClr val="D9AE4B"/>
          </a:solidFill>
          <a:ln/>
        </p:spPr>
      </p:sp>
      <p:sp>
        <p:nvSpPr>
          <p:cNvPr id="12" name="anim-g3-1343"/>
          <p:cNvSpPr/>
          <p:nvPr/>
        </p:nvSpPr>
        <p:spPr>
          <a:xfrm>
            <a:off x="10637215" y="4480560"/>
            <a:ext cx="731520" cy="731520"/>
          </a:xfrm>
          <a:prstGeom prst="rect">
            <a:avLst/>
          </a:prstGeom>
          <a:noFill/>
          <a:ln/>
        </p:spPr>
        <p:txBody>
          <a:bodyPr wrap="square" lIns="0" tIns="0" rIns="0" bIns="0" rtlCol="0" anchor="ctr">
            <a:normAutofit/>
          </a:bodyPr>
          <a:lstStyle/>
          <a:p>
            <a:pPr rtl="1" algn="ctr" indent="0" marL="0">
              <a:buNone/>
            </a:pPr>
            <a:r>
              <a:rPr lang="ar-SA" altLang="en-US" sz="2400" dirty="0">
                <a:solidFill>
                  <a:srgbClr val="0A1230"/>
                </a:solidFill>
                <a:latin typeface="Cairo Black" pitchFamily="34" charset="0"/>
                <a:ea typeface="Cairo Black" pitchFamily="34" charset="-122"/>
                <a:cs typeface="Cairo Black" pitchFamily="34" charset="-120"/>
              </a:rPr>
              <a:t>٣</a:t>
            </a:r>
            <a:endParaRPr lang="ar-SA" sz="2400" dirty="0"/>
          </a:p>
        </p:txBody>
      </p:sp>
      <p:sp>
        <p:nvSpPr>
          <p:cNvPr id="13" name="anim-g3-1344"/>
          <p:cNvSpPr/>
          <p:nvPr/>
        </p:nvSpPr>
        <p:spPr>
          <a:xfrm>
            <a:off x="4023360" y="4389120"/>
            <a:ext cx="6339535" cy="914400"/>
          </a:xfrm>
          <a:prstGeom prst="rect">
            <a:avLst/>
          </a:prstGeom>
          <a:noFill/>
          <a:ln/>
        </p:spPr>
        <p:txBody>
          <a:bodyPr wrap="square" lIns="0" tIns="0" rIns="0" bIns="0" rtlCol="0" anchor="ctr">
            <a:normAutofit/>
          </a:bodyPr>
          <a:lstStyle/>
          <a:p>
            <a:pPr rtl="1" algn="r" indent="0" marL="0">
              <a:buNone/>
            </a:pPr>
            <a:r>
              <a:rPr lang="ar-SA" altLang="en-US" sz="2200" b="1" dirty="0">
                <a:solidFill>
                  <a:srgbClr val="FFFFFF"/>
                </a:solidFill>
                <a:latin typeface="Cairo" pitchFamily="34" charset="0"/>
                <a:ea typeface="Cairo" pitchFamily="34" charset="-122"/>
                <a:cs typeface="Cairo" pitchFamily="34" charset="-120"/>
              </a:rPr>
              <a:t>ما الواجهة الواحدة التي تخدمه وتخدم غيره معًا؟</a:t>
            </a:r>
            <a:endParaRPr lang="ar-SA" sz="2200" dirty="0"/>
          </a:p>
        </p:txBody>
      </p:sp>
      <p:sp>
        <p:nvSpPr>
          <p:cNvPr id="14" name="Shape 12"/>
          <p:cNvSpPr/>
          <p:nvPr/>
        </p:nvSpPr>
        <p:spPr>
          <a:xfrm>
            <a:off x="822960" y="2194560"/>
            <a:ext cx="2834640" cy="2834640"/>
          </a:xfrm>
          <a:prstGeom prst="ellipse">
            <a:avLst/>
          </a:prstGeom>
          <a:solidFill>
            <a:srgbClr val="FFFFFF">
              <a:alpha val="5000"/>
            </a:srgbClr>
          </a:solidFill>
          <a:ln w="88900">
            <a:solidFill>
              <a:srgbClr val="D9AE4B">
                <a:alpha val="50000"/>
              </a:srgbClr>
            </a:solidFill>
            <a:prstDash val="solid"/>
          </a:ln>
        </p:spPr>
      </p:sp>
      <p:sp>
        <p:nvSpPr>
          <p:cNvPr id="15" name="Text 13"/>
          <p:cNvSpPr/>
          <p:nvPr/>
        </p:nvSpPr>
        <p:spPr>
          <a:xfrm>
            <a:off x="822960" y="2834640"/>
            <a:ext cx="2834640" cy="1097280"/>
          </a:xfrm>
          <a:prstGeom prst="rect">
            <a:avLst/>
          </a:prstGeom>
          <a:noFill/>
          <a:ln/>
        </p:spPr>
        <p:txBody>
          <a:bodyPr wrap="square" lIns="0" tIns="0" rIns="0" bIns="0" rtlCol="0" anchor="ctr">
            <a:normAutofit/>
          </a:bodyPr>
          <a:lstStyle/>
          <a:p>
            <a:pPr algn="ctr" indent="0" marL="0">
              <a:buNone/>
            </a:pPr>
            <a:r>
              <a:rPr lang="ar-SA" altLang="en-US" sz="6000" dirty="0">
                <a:solidFill>
                  <a:srgbClr val="F0CC7A"/>
                </a:solidFill>
                <a:latin typeface="Cairo Black" pitchFamily="34" charset="0"/>
                <a:ea typeface="Cairo Black" pitchFamily="34" charset="-122"/>
                <a:cs typeface="Cairo Black" pitchFamily="34" charset="-120"/>
              </a:rPr>
              <a:t>3:00</a:t>
            </a:r>
            <a:endParaRPr lang="ar-SA" sz="6000" dirty="0"/>
          </a:p>
        </p:txBody>
      </p:sp>
      <p:sp>
        <p:nvSpPr>
          <p:cNvPr id="16" name="Text 14"/>
          <p:cNvSpPr/>
          <p:nvPr/>
        </p:nvSpPr>
        <p:spPr>
          <a:xfrm>
            <a:off x="822960" y="3840480"/>
            <a:ext cx="2834640"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C9CFE6"/>
                </a:solidFill>
                <a:latin typeface="Cairo" pitchFamily="34" charset="0"/>
                <a:ea typeface="Cairo" pitchFamily="34" charset="-122"/>
                <a:cs typeface="Cairo" pitchFamily="34" charset="-120"/>
              </a:rPr>
              <a:t>٣ دقائق</a:t>
            </a:r>
            <a:endParaRPr lang="ar-SA" sz="1600" dirty="0"/>
          </a:p>
        </p:txBody>
      </p:sp>
      <p:sp>
        <p:nvSpPr>
          <p:cNvPr id="17" name="Text 1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لمسة تراث</a:t>
            </a:r>
            <a:endParaRPr lang="ar-SA" sz="1200" dirty="0"/>
          </a:p>
        </p:txBody>
      </p:sp>
      <p:sp>
        <p:nvSpPr>
          <p:cNvPr id="18" name="Text 1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 المعرض والختام  ·  ١٨١</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00"/>
                                        <p:tgtEl>
                                          <p:spTgt spid="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Lst>
  </p:timing>
</p:sld>
</file>

<file path=ppt/slides/slide182.xml><?xml version="1.0" encoding="utf-8"?>
<p:sld xmlns:a="http://schemas.openxmlformats.org/drawingml/2006/main" xmlns:r="http://schemas.openxmlformats.org/officeDocument/2006/relationships" xmlns:p="http://schemas.openxmlformats.org/presentationml/2006/main">
  <p:cSld name="Slide 18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رسالة الدورة</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نجعل التراث يُرى ويُسمع ويُعاش…</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ليصبح تاريخ وطننا أقرب وأسهل للجميع</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لمسة تراث</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 المعرض والختام  ·  ١٨٢</a:t>
            </a:r>
            <a:endParaRPr lang="ar-SA" sz="1200"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615788" y="914400"/>
            <a:ext cx="960120" cy="960120"/>
          </a:xfrm>
          <a:prstGeom prst="roundRect">
            <a:avLst>
              <a:gd name="adj" fmla="val 26667"/>
            </a:avLst>
          </a:prstGeom>
          <a:solidFill>
            <a:srgbClr val="D9AE4B"/>
          </a:solidFill>
          <a:ln/>
        </p:spPr>
      </p:sp>
      <p:sp>
        <p:nvSpPr>
          <p:cNvPr id="3" name="Text 1"/>
          <p:cNvSpPr/>
          <p:nvPr/>
        </p:nvSpPr>
        <p:spPr>
          <a:xfrm>
            <a:off x="5615788" y="914400"/>
            <a:ext cx="960120" cy="960120"/>
          </a:xfrm>
          <a:prstGeom prst="rect">
            <a:avLst/>
          </a:prstGeom>
          <a:noFill/>
          <a:ln/>
        </p:spPr>
        <p:txBody>
          <a:bodyPr wrap="square" lIns="0" tIns="0" rIns="0" bIns="0" rtlCol="0" anchor="ctr">
            <a:normAutofit/>
          </a:bodyPr>
          <a:lstStyle/>
          <a:p>
            <a:pPr rtl="1" algn="ctr" indent="0" marL="0">
              <a:buNone/>
            </a:pPr>
            <a:r>
              <a:rPr lang="ar-SA" altLang="en-US" sz="4400" dirty="0">
                <a:solidFill>
                  <a:srgbClr val="131B34"/>
                </a:solidFill>
                <a:latin typeface="Cairo" pitchFamily="34" charset="0"/>
                <a:ea typeface="Cairo" pitchFamily="34" charset="-122"/>
                <a:cs typeface="Cairo" pitchFamily="34" charset="-120"/>
              </a:rPr>
              <a:t>🌳</a:t>
            </a:r>
            <a:endParaRPr lang="ar-SA" sz="4400" dirty="0"/>
          </a:p>
        </p:txBody>
      </p:sp>
      <p:sp>
        <p:nvSpPr>
          <p:cNvPr id="4" name="Text 2"/>
          <p:cNvSpPr/>
          <p:nvPr/>
        </p:nvSpPr>
        <p:spPr>
          <a:xfrm>
            <a:off x="0" y="2194560"/>
            <a:ext cx="12191695" cy="1280160"/>
          </a:xfrm>
          <a:prstGeom prst="rect">
            <a:avLst/>
          </a:prstGeom>
          <a:noFill/>
          <a:ln/>
        </p:spPr>
        <p:txBody>
          <a:bodyPr wrap="square" lIns="0" tIns="0" rIns="0" bIns="0" rtlCol="0" anchor="ctr">
            <a:normAutofit/>
          </a:bodyPr>
          <a:lstStyle/>
          <a:p>
            <a:pPr rtl="1" algn="ctr" indent="0" marL="0">
              <a:buNone/>
            </a:pPr>
            <a:r>
              <a:rPr lang="ar-SA" altLang="en-US" sz="8000" dirty="0">
                <a:solidFill>
                  <a:srgbClr val="FFF3D6"/>
                </a:solidFill>
                <a:latin typeface="Cairo Black" pitchFamily="34" charset="0"/>
                <a:ea typeface="Cairo Black" pitchFamily="34" charset="-122"/>
                <a:cs typeface="Cairo Black" pitchFamily="34" charset="-120"/>
              </a:rPr>
              <a:t>شكرًا لكم</a:t>
            </a:r>
            <a:endParaRPr lang="ar-SA" sz="8000" dirty="0"/>
          </a:p>
        </p:txBody>
      </p:sp>
      <p:sp>
        <p:nvSpPr>
          <p:cNvPr id="5" name="Text 3"/>
          <p:cNvSpPr/>
          <p:nvPr/>
        </p:nvSpPr>
        <p:spPr>
          <a:xfrm>
            <a:off x="0" y="3566160"/>
            <a:ext cx="12191695" cy="640080"/>
          </a:xfrm>
          <a:prstGeom prst="rect">
            <a:avLst/>
          </a:prstGeom>
          <a:noFill/>
          <a:ln/>
        </p:spPr>
        <p:txBody>
          <a:bodyPr wrap="square" lIns="0" tIns="0" rIns="0" bIns="0" rtlCol="0" anchor="ctr">
            <a:normAutofit/>
          </a:bodyPr>
          <a:lstStyle/>
          <a:p>
            <a:pPr rtl="1" algn="ctr" indent="0" marL="0">
              <a:buNone/>
            </a:pPr>
            <a:r>
              <a:rPr lang="ar-SA" altLang="en-US" sz="2800" b="1" dirty="0">
                <a:solidFill>
                  <a:srgbClr val="FFFFFF"/>
                </a:solidFill>
                <a:latin typeface="Cairo" pitchFamily="34" charset="0"/>
                <a:ea typeface="Cairo" pitchFamily="34" charset="-122"/>
                <a:cs typeface="Cairo" pitchFamily="34" charset="-120"/>
              </a:rPr>
              <a:t>ننظر إلى الماضي… بعين المستقبل</a:t>
            </a:r>
            <a:endParaRPr lang="ar-SA" sz="2800" dirty="0"/>
          </a:p>
        </p:txBody>
      </p:sp>
      <p:sp>
        <p:nvSpPr>
          <p:cNvPr id="6" name="Shape 4"/>
          <p:cNvSpPr/>
          <p:nvPr/>
        </p:nvSpPr>
        <p:spPr>
          <a:xfrm>
            <a:off x="5364328" y="4434840"/>
            <a:ext cx="1463040" cy="36576"/>
          </a:xfrm>
          <a:prstGeom prst="rect">
            <a:avLst/>
          </a:prstGeom>
          <a:solidFill>
            <a:srgbClr val="D9AE4B"/>
          </a:solidFill>
          <a:ln/>
        </p:spPr>
      </p:sp>
      <p:sp>
        <p:nvSpPr>
          <p:cNvPr id="7" name="Text 5"/>
          <p:cNvSpPr/>
          <p:nvPr/>
        </p:nvSpPr>
        <p:spPr>
          <a:xfrm>
            <a:off x="0" y="4846320"/>
            <a:ext cx="12191695"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C9CFE6"/>
                </a:solidFill>
                <a:latin typeface="Cairo" pitchFamily="34" charset="0"/>
                <a:ea typeface="Cairo" pitchFamily="34" charset="-122"/>
                <a:cs typeface="Cairo" pitchFamily="34" charset="-120"/>
              </a:rPr>
              <a:t>لمسة تراث · إعداد وتقديم: أ. محمد زيتون</a:t>
            </a:r>
            <a:endParaRPr lang="ar-SA"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183</Slides>
  <Notes>183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183</vt:i4>
      </vt:variant>
    </vt:vector>
  </HeadingPairs>
  <TitlesOfParts>
    <vt:vector size="18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لمسة تراث</dc:title>
  <dc:subject>PptxGenJS Presentation</dc:subject>
  <dc:creator>أ. محمد زيتون</dc:creator>
  <cp:lastModifiedBy>أ. محمد زيتون</cp:lastModifiedBy>
  <cp:revision>1</cp:revision>
  <dcterms:created xsi:type="dcterms:W3CDTF">2026-10-02T17:32:29Z</dcterms:created>
  <dcterms:modified xsi:type="dcterms:W3CDTF">2026-10-02T17:32:29Z</dcterms:modified>
</cp:coreProperties>
</file>