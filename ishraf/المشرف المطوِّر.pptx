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Lst>
  <p:notesMasterIdLst>
    <p:notesMasterId r:id="rId1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notesMaster" Target="notesMasters/notesMaster1.xml"/><Relationship Id="rId153" Type="http://schemas.openxmlformats.org/officeDocument/2006/relationships/presProps" Target="presProps.xml"/><Relationship Id="rId154" Type="http://schemas.openxmlformats.org/officeDocument/2006/relationships/viewProps" Target="viewProps.xml"/><Relationship Id="rId155" Type="http://schemas.openxmlformats.org/officeDocument/2006/relationships/theme" Target="theme/theme1.xml"/><Relationship Id="rId1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رحّب بالمشرفين بأسمائهم كلما دخل أحد. اترك الغلاف ثوانيَ، ثم قل: «كل واحد منا زاره مشرف في حياته… بعضهم نسيناه، وبعضهم غيّر حياتنا. اليوم نتعلم كيف نكون من النوع الثاني».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عرّف بنفسك في أقل من دقيقة. قل: «أنا مشرف مثلكم، أزور وأُزار، وما سأعرضه اليوم جمعته من تجارب الميدان ومن أفضل أنظمة التعليم في العالم».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اقرأها ببطء، ثم قل: «نحن المشرفين أعلم الناس بالميدان في نظر المعلمين… فإذا أخطأنا كان خطؤنا أقبح؛ لأن المعلم يأخذ منا ويقلّدنا. لذلك نحن أحوج الناس إلى التعلم». ملاحظة للمدرب: المقولة لسفيان بن عيينة لا لسفيان الثوري.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نبيٌّ من أولي العزم، كليمُ الله، يسافر ويتعب ليتعلّم من الخضر… ويستأذن بأدب: «هل أتّبعك؟». قل: «إذا كان موسى عليه السلام يطلب العلم بهذا التواضع، فلا يكبر أحد منا على أن يتعلّم، حتى من معلم شاب في مدرسته».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الحديث يجيب عن كل من يقول «هذا المعلم ما فيه أمل» أو «أنا طبعي كذا». العلم يُكتسب بالتعلّم، وحتى الحِلم (وهو خُلُق) يُكتسب بالتدرّب. وهذه فلسفة الإشراف كلها: كل معلم قابل للنمو.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الربط: كثير منا مشغول بالزيارات والتقارير حتى صار «فأسه» كليلًا: نفس الأدوات منذ سنوات. هذه الدورة هي وقت سنّ الفأس.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«متى آخر مرة قرأت كتابًا في الإشراف؟ متى حضرت حصة لتتعلّم لا لتقيّم؟». لا تنتظر إجابات.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أكّد أن الدورة عملية: «كل محطة تنتهي بأداة تستخدمها في زيارتك القادمة، وفي الغرف الجانبية ستطبّقونها بأنفسكم».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الجميع فتح الباركود بالجوال (أو الضغط على الرابط في الدردشة) وكتابة الاسم الثلاثي وكلمة سر. هذا يتم مرة واحدة؛ بعدها تُحفظ إجابات كل مشرف باسمه، ويحصل في نهاية الدورة على تقرير خاص به.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دقيقتان. قل: «قيّم نفسك بصدق؛ لا يرى أحد إجابتك، وسنقارن الصورة الجماعية بنهاية الدورة».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عشر عبارات سريعة (ثلاث دقائق). قل: «لا توجد إجابة صحيحة؛ أجب بما تؤمن به فعلًا». النتيجة لا يراها إلا صاحبها والمدرب، وتدخل في تقريره الشخصي.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 تشرح شيئًا. اضغط المؤقت، واصمت ثلاث دقائق كاملة حتى لو شعرت بالحرج. اقرأ بعض الإجابات من الدردشة بصوت عالٍ. ثم اسأل: «من شعر بالانزعاج لأني لم أشرح؟». هذا بالضبط ما يشعر به المعلم حين نزوره بلا معايير معلنة… وهو أيضًا ما يحدث في عقله حين نترك له مساحة ليفكر.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اربطها بالإشراف: «مهمتنا ليست أن نملأ رأس المعلم بالنصائح، بل أن نحرّك تفكيره. لو لم يكن للإشراف إلا هذه المهمة لكفته».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 عليها بسرعة. قل: «كل محطة تجيب عن سؤال واحد، وتنتهي بسؤال واحد: ماذا تعلّمنا؟».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الأوقات تقريبية. التزم بالاستراحة؛ التركيز أونلاين يهبط بعد ٩٠ دقيقة.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انتقال هادئ. اسأل قبل أن تبدأ: «لو ألغت الوزارة الإشراف غدًا… ماذا سيخسر الطالب؟». اسمع إجابتين أو ثلاثًا فقط.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 توجد إجابة صحيحة تُكشف هنا. اعرض النتيجة الجماعية وقل: «سنعود لهذه النتيجة في نهاية المحطة، وسنعرف أي مرحلة من تاريخ الإشراف يمثّلها كل خيار».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قلب الدورة كلها. اشرح الجهات الثلاث بالنقر. ثم قل: «التعلم نفسه تعرّفه الأبحاث بأنه انتقال من واقع إلى مأمول؛ فإذا كان هذا عمل المعلم مع الطالب، فهو أيضًا عملنا مع المعلم».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أكّد أمرين: الأول أن كل مرحلة كانت مناسبة لزمانها (التفتيش حقق الانضباط حين كانت المدارس متباعدة). والثاني أن المراحل كلها ما زالت تعيش في ممارساتنا؛ ارجع لنتيجة التصويت: الخيار (أ) تفتيش، (ب) توجيه، (ج) تطوير.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اقرأها بنبرة فيها شيء من الدعابة. ثم اسأل: «ماذا اكتشف؟ وماذا أصلح؟ وماذا بقي في نفوس المدير والمعلمين بعد زيارته؟». الإجابة: اكتشف عيبًا، ولم يُصلح شيئًا، وزرع النفور.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أكّد أن التفتيش ليس شرًّا في ذاته؛ له وقته (سنعرفه في محطة علبة الألوان). المشكلة حين يصبح هو الأسلوب الوحيد.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بنبرة حكائية، فقرة مع كل نقرة. توقّف بعد الفقرة الأخيرة: «ماذا سيفعل المشرف برأيكم؟».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بنبرة حكائية، فقرة مع كل نقرة. توقّف طويلًا عند الكلمة الأخيرة «ما تعوّدت» ثم انتقل للتصويت دون تعليق.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بعد الكشف اسأل: «كم مرة قيّمنا معلمًا بناءً على ما كنا نفعله نحن حين كنا معلمين؟». خبرتنا الشخصية ثمينة، لكنها ليست معيارًا.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منهم كتابة الجملة. ثم قل: «الحل ليس أن نتساهل، بل أن نتفق مع المعلم على المعيار قبل الزيارة؛ وهذا ما سنتعلمه في المحطة الثالثة».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نظريتا X وY لدوغلاس ماكغريغور (1960)، ونظرية Z لويليام أوتشي (1981) الذي درس سرّ نجاح الإدارة اليابانية: الثقة الطويلة، واتخاذ القرار بالمشاركة، والاهتمام بالموظف كإنسان لا كآلة. اسأل: «افتراضك عن المعلم يحدد أسلوبك قبل أن تدخل الفصل… فأيّ نظرية تعيش في رأسك؟».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التصويت: صح أم خطأ؟ ثم اكشف. الفكرة: التفتيش يكشف العيب ثم يتوقف، والتطوير يبدأ من حيث يتوقف التفتيش.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أهم جملة في المحطة. التقييم يجيب «أين نحن؟»، والإشراف يجيب «كيف نصل؟».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اشرح أن الهرم التقليدي يضع الوزارة في القمة والفصل في القاع، وأن أنظمة التعليم المتقدمة قلبته. اسأل: «لو كانت عندك أحدث شاشة في المكتب… أين يجب أن تكون؟». الإجابة: في الفصل.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الحديث في المسند عن ابن عباس: أخبر الله موسى أن قومه عبدوا العجل فلم يُلقِ الألواح، فلما رآهم ألقاها. اسأل: «كم قرارًا اتخذناه عن مدرسة لم نزرها منذ شهور؟»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اترك الفيديو يعمل ثوانيَ في صمت، ثم اقرأ الجملة. ثم انتقل إلى الأرقام.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الرسالة: المعلم يعرف ١٠٠٪ من مشكلات فصله، والمشرف القريب يعرف معظمها، ومن يجلس في المكتب يرى قمة الجبل فقط. لذلك الميدان هو مكان المشرف. ملاحظة للمدرب: هذه الأرقام مشهورة جدًا في أدبيات الجودة، لكن بعض الباحثين يشككون في دقة الدراسة الأصلية؛ قدّمها كتوضيح للفكرة لا كإحصاء دقيق.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كررها معهم بصوت واحد إن أمكن. هي الجملة التي يجب أن يخرجوا بها من الدورة حتى لو نسوا كل شيء آخر.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السؤال يتكرر في نهاية كل محطة. أكّد: «لا أسأل ماذا قلنا، بل ماذا تعلّمنا». نفس السؤال اسألوه للمعلم بعد كل زيارة.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اعرضها سريعًا، وأخبرهم أن القائمة الكاملة في حقيبة المشرف.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قل: «لن نسافر لنقلّد، بل لنفهم. الحكمة ضالّة المؤمن، أنّى وجدها فهو أحق بها».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ملاحظة أمانة: الحديث في سنده ضعف، لكن معناه مقبول عند العلماء. قدّمه هكذا بصدق. ثم قل: «سنأخذ من فنلندا وسنغافورة واليابان ما يناسبنا، ونترك ما لا يناسب قيمنا وواقعنا».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كثيرون يتوقعون فنلندا، لكن المفاجأة في السبب: ليس تساهلًا، بل ثقة مبنية على اختيار صارم للمعلم من البداية.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أكّد: فنلندا لم تلغِ الجودة، بل نقلت المسؤولية من المفتش إلى المدرسة نفسها. والمدير معلم أصلًا، فحين يناقش المعلم يناقشه «معلّم الصنعة».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قارن: عندنا كثيرًا ما يُرقّى المعلم المتميز فيخرج من الفصل إلى المكتب. في سنغافورة يبقى قريبًا من الفصل، ويصبح دوره صناعة معلمين مثله. وهذا ما سنسميه في المحطة السادسة: «صانع الخبراء».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الفكرة الذهبية: الملاحظون ينظرون إلى الطلاب لا إلى المعلم. فيتحول النقاش من «أنت أخطأت» إلى «الطلاب لم يفهموا هذه النقطة… لماذا؟ وكيف نعدّل؟». ملاحظة أمانة: الأدلة على أثرها في التحصيل أغلبها وصفي، لكنها من أكثر الممارسات انتشارًا في العالم.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شنغهاي تصدّرت اختبارات بيزا الدولية سنوات. وسرّها ليس في المشرف الخارجي، بل في أن كل معلم يُرى ويُرشد ويتعلّم من زملائه أسبوعيًا.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«كم مرة رأينا مدرسة تتحول فجأة يوم وصول المشرف: طابور فيه مسرح، وحصة نشاط لم تكن موجودة؟». بريطانيا اعترفت بهذه المشكلة وغيّرت النظام.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المشرفين تحويل حكم إلى دليل في الدردشة، مثلًا: «الفصل فوضوي» ← «خمسة طلاب تحدثوا أثناء الشرح في الدقيقة العاشرة». هذه مهارة سنتدرب عليها في المحطة الرابعة.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الأرقام للمدرب: ٠٫٤٩ انحرافًا معياريًا على جودة التدريس، و٠٫١٨ على التحصيل (Kraft, Blazar &amp; Hogan, 2018). وتنبيه مهم من الدراسة: الأثر يضعف حين يتوسع البرنامج كثيرًا دون جودة؛ أي أن مشرفًا واحدًا لثمانين معلمًا لن يصنع الأثر نفسه. لذلك سنتعلم في المحطة السادسة كيف نضاعف أنفسنا بصناعة خبراء.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حذّرهم من «استيراد» الأنظمة بلا فهم: الثقة الفنلندية بلا اختيار صارم للمعلم = تسيّب.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خلاصة المحطة. اطلب من كل مشرف أن يختار التحول الأصعب عليه شخصيًا ويكتبه في الدردشة.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قل: «لسنا متأخرين عن العالم في الاتجاه؛ نحن في رحلة تحوّل مرحلية. وعدد مدارسنا كبير، فقيادة الشاحنة تختلف عن قيادة السيارة الصغيرة. المطلوب منا كمشرفين: أن نكون جسر هذا التحول إلى الفصل».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 إجابة صحيحة. اعرض النتيجة، واسأل صاحب أكثر خيار حصل على أصوات: «ما أول خطوة عملية لتطبيقه في مدرستك؟».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اجمع الأفكار من الدردشة واحفظها؛ ستعرضها في محطة الختام كالتزامات.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القائمة الكاملة بالروابط في حقيبة المشرف.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قل: «الطبيب الذي يصرف الدواء قبل التشخيص يقتل المريض… والمشرف الذي ينصح قبل التشخيص يقتل الحماس».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أضف طرفة: «وبعض المشرفين يريد أن يعالج الزكام… فيصيب المدرسة كلها بالحمّى».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نبّه: أحيانًا تزور معلمًا فتجده فوق المستهدف؛ عندها ارفع السقف له، ولا تعامله كأنه يحتاج ما يحتاجه المبتدئ.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أهم مهارة في المحطة: تحويل الكلام العام إلى سلوك يُرى ويُعدّ. قل: «لو كتبتَ في تقريرك: فعّل التعلم النشط… فكل معلم سيفهمها بطريقته».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اضحكوا معًا، ثم قل: «الديك صار المقياس الوحيد في رأسه. وكل منا له ديك: المشرف يقيس بديكه، والمعلم يقيس بديكه. إذا قلتَ للمعلم: فعّل التعلم النشط، فديكك غير ديكه. الحل: أن نتفق على ديك واحد قبل الزيارة».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تشرح القصة صراحة. اسأل قبل كشف المربعين: «ما الديك في رأس المشرف؟ وما الديك في رأس المعلم؟»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أي: إذا لم تكن بيننا لغة مشتركة ومعيار متفق عليه، فلن يحدث تحسين، وسيشعر المعلم أن التقييم مزاجي.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جورج ميلر (1956) وجد أن الإنسان يستوعب نحو سبعة عناصر زائد أو ناقص اثنين. استمارة فيها ٤٠ بندًا لن يتذكر المعلم منها شيئًا. وأهم بند: المعلم الذي شارك في صنع الاستمارة لن يرفض نتيجتها.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نفّذ التعليمات حرفيًا أمام الكاميرا وبشكل مضحك: إذا قالوا «امشِ للأمام» امشِ بلا توقف حتى يقولوا «قف». الهدف: أن يكتشفوا بأنفسهم أن التعليمات الوصفية لا يمكن تنفيذها، وأن الأرقام والتحديد تجعلها قابلة للتنفيذ. ثم انتقل للشريحة التالية.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المشرفين كتابة البديل قبل الكشف. القاعدة: الدليل وصفٌ لما يُرى ويُسمع ويُعدّ، والانطباع رأيك فيه. المعلم يجادل في رأيك… لكنه لا يجادل في رقم.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لعبة حماسية (٣ دقائق): كل مشرف يمسح الباركود ويلعب من جواله. لوحة الصدارة تتحدث مباشرة على الشاشة. اضغط على الباركود لنسخ الرابط إلى الدردشة. أعلن الفائز وصفّقوا له.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الربط: كل ما لا يُقاس يُغشّ فيه دون قصد. حين لا تكون هناك معايير واضحة، يؤدي الجميع «الحركة» أمام الناس، ولا يعرف أحد ماذا وصل فعلًا للطالب.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وضّح: كل ما ليس له مقياس متفق عليه، لا يمكن التحكم في إدارته، ولا ضبط جودته، ولا تحسينه، ولا التنبؤ بمخاطره. لكن انتبه: نقصد التحديد لا تحويل المعلم إلى أرقام جافة؛ الهدف لغة مشتركة.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انتقال إلى السؤال الذي يهم كل مشرف: المعلم يعرف ما المطلوب… فلماذا لا يفعله؟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مهّد بها لأسئلة: لا يعرف؟ لا يريد؟ لا يستطيع؟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مأخوذ من تحليل مشكلات الأداء لماغر وبايب (1970). أكثر خطأ يقع فيه المشرفون: إرسال كل معلم ضعيف إلى «دورة تدريبية»، بينما مشكلته ليست في المعرفة أصلًا. التدريب لا يعالج الإحباط، ولا يعالج نقص الأدوات.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توماس جيلبرت (1978) يرى أن أغلب مشكلات الأداء تأتي من الصف الأول (البيئة) لا الثاني (الفرد). اسأل المشرفين: «فكّر في آخر معلم وصفته بالضعف: في أي خانة كانت مشكلته فعلًا؟».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تدريب فردي سريع (٥ دقائق) دون غرف: أرسل الرابط في الدردشة العامة. اقرأ بعد انتهاء الوقت إجابتين مميزتين من التقارير دون ذكر أسماء أصحابها إلا بإذنهم.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الفاعلية: عمل الأشياء الصحيحة (الهدف). الكفاءة: عمل الأشياء بالطريقة الصحيحة (الجهد والموارد). وهما «القوي الأمين» في قوله تعالى: ﴿إِنَّ خَيْرَ مَنِ اسْتَأْجَرْتَ الْقَوِيُّ الْأَمِينُ﴾. دور المشرف: نقل كل معلم نحو المربع الذهبي.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ثماني حالات معلمين: لا يعرف؟ لا يريد؟ لا يستطيع؟ بعد اللعبة اسأل: «أي حالة اختلفتم فيها أكثر؟ ولماذا؟».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الدروس: (١) الفجوة تختلف من معلم لآخر. (٢) حكم الزيارة الأولى قد يكون خاطئًا؛ لذلك نقيّم تكوينيًا عبر زيارات. (٣) المديح الدائم بلا تحدٍّ يقتل الطموح. (٤) المنافسة الشريفة وتعلّم الأقران أقوى من النصيحة.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وزّع المشرفين على غرف من ٣–٤ (أو أفرادًا). اضغط على الباركود: يُنسخ الرابط تلقائيًا، فالصقه في دردشة كل غرفة. كل مشرف يرسل إجابته بنفسه من جواله أو حاسبه، وتظهر لك في «📊 التقارير» تحت اسمه. بعد العودة: اعرض نموذجين متميزين.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اعرضه بعد عودة المجموعات من الغرف، لا قبلها، حتى لا يقلّدوه.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كررها معهم.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بعدها مباشرة: استراحة ١٠ دقائق. اضبط مؤقتًا ظاهرًا على الشاشة.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القائمة الكاملة في حقيبة المشرف.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بعودتكم من الاستراحة. قل: «هذه المحطة عن الزيارة نفسها: قبلها وأثناءها وبعدها، والمحطة القادمة عن الكلمات التي نقولها فيها».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اقرأها بهدوء شديد. ثم اسأل: «كم سطرًا كتب المشرف؟ صفر. وكم بقي أثره؟ ثلاثين سنة». الزيارة لا تُقاس بطول التقرير، بل بما تحرّكه في المعلم.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قل: «لا تزر لأنك مشرف مطالب بعدد زيارات… زُر لأنك مربٍّ. فرُبّ همّة مشرفٍ أحيت أمة؛ قد يكون في الفصل الذي تزوره عالمٌ أو قائد لا تعرفه بعد».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«كم مرة دخلنا الفصل ولا نعرف ماذا سنلاحظ؟»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توقف عند الرابعة: ابتسموا لها لكنها جادة. أول حصة بلا فطور مع توتر الزيارة تعني سكرًا منخفضًا وأعصابًا مشدودة. بعد الحصة لا تبدأ الحديث فورًا: اعرض عليه كوب شاي، دعه يلتقط أنفاسه.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قصة للمدرب: طالب جامعي في التطبيق الميداني زاره مشرف جلس في آخر الفصل لا يبتسم أبدًا، ٤٥ دقيقة من الرعب. قل: «ابتسامتك وحدها تساوي نصف نجاح الحصة». ونبّه: بعض المشرفين يكتب في دفتره أشياء لا علاقة لها بالحصة، والمعلم يراه يكتب فيظنها ملاحظات عليه.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المعلم أثناء الحصة يعيش ثلاث «نفوس»: نفسٌ تشرح، ونفسٌ توجّهه («ارفع صوتك، انتبه للطالب الذي في الخلف»)، ونفسٌ تلومه («لو حضّرتُ أفضل البارحة!»). بعد الحصة تجتمع النفوس الثلاث. سؤال «ماذا تعلّمنا؟» يجعله ينتقد نفسه بنفسه، وهذا أقوى من مئة نصيحة.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الربط: المشرف الجيد هو «المشرف التأملي»: لا يصنع معلمًا جديدًا من الخارج، بل يرى أفضل ما في المعلم ويزيل ما يحجبه. لذلك نسأل «ماذا تعلّمنا؟» بدل أن نُملي النصائح.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«يُسترط» يُبتلع، و«يُعقى» يُلفظ من المرارة. اربطه بالشريحة التالية: مسار المداولة.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قل: «المشرف الجديد يظن أن الزيارة تبدأ من (١)… والحقيقة أنها تبدأ دائمًا من (٤): تقول للمدير: ما شاء الله الجو حلو اليوم، فيرد: طلابنا ما يغيبون يا أستاذ!». القواعد: لا تدخل في الموضوع مباشرة، ابدأ بنقاط الاتفاق ولو بعيدة، ولا تُهزم في الصباح؛ الزيارة جولة طويلة إلى الظهر، وكلمة «أنت ما تفهم» تنهي الزيارة كلها.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مشرف التصويت على تصرفه بصدق، ثم اكشف النتائج. القاعدة: ادخل بسقف عالٍ ولا تتنازل عن المعيار، لكن اجعل الطريق إليه تجربة مشتركة.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هو المقياس الحقيقي: هل يتمنى المعلم زيارتك؟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الجمل وأثنِ عليها.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القائمة الكاملة في حقيبة المشرف.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قل: «القرار نفسه، والملاحظة نفسها… قد تبني معلمًا أو تهدمه، بحسب الكلمات والنبرة والجلسة».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«ما الأخطاء في هذا المشهد؟». انتظر الإجابات: المكان (أمام المدير والزملاء)، والجلسة (الاستعلاء)، والنبرة (الأمر)، وضياع السرية. ثم انتقل: هذا ما يسميه الخبراء «الإطار»؛ وهو أول حرف في نموذج التغذية الراجعة.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التصويت على «ما سمعته أكثر». ستكون النتائج صادمة غالبًا. ثم اكشف وقل: «الثلاث الأولى تنفّذ القرار يوم الزيارة… والرابعة تنفّذه كل يوم».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اشرح المثل: سعدٌ ساق الإبل إلى الماء وهو ملتفّ بكسائه نائم الهمّة، فلم يُحسن سقيها؛ فقيل فيه المثل لكل من أدّى عملًا صحيحًا بطريقة خاطئة. ثم قل: «القرار قد يكون صحيحًا… لكن حين نوصله بنبرة التهديد، نكون قد أوردنا الإبل بالطريقة الخطأ؛ فلا تشرب، وإن شربت فخوفًا لا قناعة».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الخطاب لأكمل الناس وأصحّهم قرارًا ﷺ: حتى صاحب الحق إن غلظ انفضّ الناس عنه. قد يبقى المعلم في فصله ويوقّع على التقرير… لكن قلبه انفضّ عنك وعن الفكرة.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«لو كان هذا الخطأ من معلم في مدرستك… كيف كان سيتصرف أغلب المشرفين؟». ثم اقرأ الدروس واحدًا واحدًا. أهمها: الإصلاح أولًا، والتعليم ثانيًا، والكرامة محفوظة دائمًا.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الربط بالزيارة: لا تقاطع المعلم أمام طلابه، ولا تصحح بنظرة غاضبة، بل انتظر حتى تنتهي الحصة، واشرح بهدوء. والمقياس: ماذا سيقول المعلم عنك بعد سنوات؟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العبارة الخطأ، واطلب من المشرفين كتابة البديل في الدردشة قبل كشفه. القاعدة: اربط القرار بمصلحة الطالب، واجعل المعلم شريكًا في «كيف» حتى لو لم يكن شريكًا في «ماذا».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كان النبي ﷺ إذا بلغه عن أحد خطأ لم يسمّه أمام الناس، بل قال: «ما بال أقوام…». تطبيقها: في اجتماع المعلمين تحدّث عن الظاهرة لا عن الأشخاص، واحفظ الأسماء للجلسة الخاصة.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ملاحظاتك على المعلم ملكٌ له ولمن يحق له الاطلاع (المدير ومدير الإشراف). لا تُحكى في غرفة المعلمين، ولا في مجالس المشرفين، ولا في البيت.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ذكّرهم بالمشرف الذي يجلس ساعتين في التغذية الراجعة والمعلم يتصبّب عرقًا وعنده حصة بعدها.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 عليها بسرعة واطلب منهم تصويرها. الحروف الأربعة الأولى تخص مضمون الجلسة: أين نجلس؟ وما الدليل؟ وما أثره؟ وما العلاج؟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 عليها بسرعة واطلب منهم تصويرها. توقف عند الأخيرة: بعض المشرفين يجلس ساعتين في التغذية الراجعة والمعلم يتصبّب عرقًا وعنده حصة بعدها. الانتباه يهبط بعد نحو سبع دقائق من الكلام المتواصل.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مشرفين تمثيله على الهواء: أحدهما مشرف والآخر معلم. ثم اسأل «المعلم»: كيف شعرت؟ لاحظ أن الاقتراح إجرائي قابل للقياس وله موعد متابعة.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مشرف يكتب وحده (٧ دقائق). بعدها اعرض من التقارير ثلاث إجابات مميزة. هذه الإجابة تدخل في تقرير كل مشرف، وتكشف من يكتب أدلة ومن يكتب انطباعات.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المجموعات اقتراح البديل قبل الكشف.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مهّد بها لشريحة الأنماط الأربعة.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مستوحى من نموذج DISC (مارستون). تنبيهان: (١) لا نتعلمه لنضع الناس في قوالب، بل لنعرف أنفسنا ونتكيف؛ المشرف بنمط واحد «ربع مشرف». (٢) نمطك الأضعف هو الباب الذي سيُدخلك منه الآخرون. قصة للمدرب: رائد نشاط جاف التعامل، فكّر مديره في إبعاده، فقال له المشرف: «أتحداك تدخل المسابقة»… ففاز ثلاث سنوات متتالية.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الغرف الجانبية بثلاثة أشخاص: مشرف ومعلم وملاحظ. ٥ دقائق تمثيل، ثم دقيقتان للملاحظ، ثم بدّلوا الأدوار إن سمح الوقت.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جملة لطيفة دقيقة تقولها لمعلم بعد زيارة صدقة في ميزانك، وأثرها يصل إلى ثلاثين طالبًا في فصله.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الجمل وأثنِ عليها.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القائمة الكاملة في حقيبة المشرف.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قل: «الرسام الذي يملك لونًا واحدًا يرسم لوحة واحدة طوال عمره».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«هل نستخدم الاستمارة نفسها والنبرة نفسها مع الجميع؟»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كارل غليكمان: الهدف النهائي أن ننقل كل معلم من الأسلوب الموجِّه إلى غير الموجِّه، أي من الاعتماد على المشرف إلى الاستقلال. المشرف الذي يعامل الخبير بأسلوب المبتدئ يخسره، والذي يعامل المبتدئ بأسلوب الخبير يتركه تائهًا.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 عليها بسرعة. ثم أكّد: «التفتيش ليس سيئًا في ذاته؛ هو سيئ حين يصبح دائمًا. معلم يغيب أربع حصص… من واجبي تجاه الطلاب والوطن ألا أغطي عليه». والفرق بين التفتيشي والتصحيحي: الأول يرفع تقريرًا، والثاني يحلّ المشكلة.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القاعدة: لا تفتّش على ما لم تدرّب عليه.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اربطها بالموقف التالي: معلم يتأخر للمرة الرابعة.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وضّح: الحزم هنا رحمة بالطلاب. ومع ذلك نسأل عن السبب؛ ربما ظرف صحي أو أسري يحتاج دعمًا. «شعرة معاوية: إن شدّوا أرخيت، وإن أرخوا شددت».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سباق الألوان: ثمانية مواقف، وكل مشرف يختار الأسلوب المناسب بسرعة. ناقش موقفًا أو اثنين اختلفت فيهما الإجابات.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مثال من الميدان: حضور قائدة المدرسة حصة معلمة = فردي مباشر. إرسال خطة الدرس للمراجعة = فردي غير مباشر. اجتماع المعلمات = جماعي. متابعة الحضور في نظام نور = رقمي. زيارة مشرفة الإدارة = ميداني.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نبّه على الدرس النموذجي: هدفه أن يرى المعلم المتردد (خاصة صاحب النمط الدقيق) الفكرة مطبّقة أمامه، لا أن يتكلف المعلم المضيف ضيافة الزوار.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«ما اللون الذي لم تستخدمه أبدًا؟ جرّبه هذا الشهر».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القائمة الكاملة في حقيبة المشرف.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قل: «الآن نطبّق كل ما تعلمناه. كل مشرف يصوّت بجواله بما سيفعله فعلًا، لا بما يُتوقع منه. إجاباتك تدخل في تقريرك الشخصي ولا يراها غيرك وغير المدرب». بعد كل موقف اكشف الإجابة وناقش دقيقة واحدة فقط.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تذكير: «من وعظ أخاه سرًّا فقد نصحه وزانه».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المعلم الجديد يحتاج الأمان قبل المعلومة.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التقرير شهادة: ﴿وَلَا يَجْرِمَنَّكُمْ شَنَآنُ قَوْمٍ عَلَىٰ أَلَّا تَعْدِلُوا﴾.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السرية ليست مع المعلم فقط، بل في مجالس المشرفين أيضًا.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تذكّروا قصة خالد وبدر.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المشرف جسر: ينقل القرار إلى الميدان، وصوت الميدان إلى صاحب القرار.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قل: «مشرف واحد مسؤول عن عشرين مدرسة وثمانين معلمًا… لن يصل إليهم إلا إذا ضاعف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الأرقام توضيحية لا بحثية. الفكرة: الوقت لا يكفي لتطوير ٨٠ معلمًا بعمق وحدك. لكن إذا صنعت في كل مدرسة خبيرًا يدرّب زملاءه، تضاعف أثرك. وهذا بالضبط ما تفعله سنغافورة بمسار «معلم المعلمين».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«ماذا تعلّمنا؟» هو تعليم الصيد.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مهّد بها لخطة مهارة الأسبوع.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فكرة «مؤشر الأسبوع» مأخوذة من أسلوب بعض الجهات الحكومية التي تطلق كل أسبوع مؤشرًا واحدًا وتركّز عليه. أكّد الخطوة الخامسة: أعظم لحظة للمشرف حين يجلس بين الحضور ومعلمه هو المدرّب؛ عندها يعرف أنه صنع خبيرًا.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قصة حقيقية يرويها أحد خبراء الجودة عن نفسه. الربط: القوالب الجاهزة من الخارج تفشل، والتغيير المفروض يصنع لقبًا ساخرًا لا أثرًا. المعلمون الذين يصنعون المعيار بأيديهم هم من يطبّقونه.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قل: «حين تصنع معلمًا خبيرًا، فكل طالب يتعلم منه، وكل زميل يدرّبه… في ميزانك. هذا هو الاستثمار الذي لا يتوقف بتقاعدك».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«بعد عشرين سنة، حين يُذكر اسمك في غرفة المعلمين… ماذا تريد أن يقولوا؟». دعها معلّقة.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قد يخرج من الفصل الذي تزوره مجدّدٌ لهذه الأمة. لا تزر زيارة عابرة.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آخر عشر دقائق. حافظ على الوقت.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اقرأها بسرعة.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لعبة ختامية مرحة لمراجعة الأمثال: ثمانية أمثال، وكل مشرف يطابق المثل بموقفه الإشرافي. أعلن بطل الدورة!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الجميع إعادة التقييم الذاتي. ستظهر المقارنة بين القبلي والبعدي مباشرة، ونسبة النمو الجماعي.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اجمع الالتزامات. تابعهم فعلًا بعد أسبوعين برسالة قصيرة؛ هذا يرفع نسبة التطبيق كثيرًا.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مشرف يفتح الباركود ويرى تقريره: نقاط قوته في المواقف الإشرافية، والجوانب التي تحتاج تطويرًا، وخطوات مقترحة له. التقرير خاص به.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القائمة الكاملة بالروابط في حقيبة المشرف.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اشكرهم بأسمائهم إن أمكن، واختم بالدعاء.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jp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jp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jp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jp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jpeg"/><Relationship Id="rId2" Type="http://schemas.openxmlformats.org/officeDocument/2006/relationships/image" Target="../media/image-31-2.jp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jpe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jpe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jpe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jpe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jpe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jpe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jpe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jpe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jpe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jpeg"/><Relationship Id="rId2" Type="http://schemas.openxmlformats.org/officeDocument/2006/relationships/image" Target="../media/image-56-2.jpg"/><Relationship Id="rId3" Type="http://schemas.openxmlformats.org/officeDocument/2006/relationships/image" Target="../media/image-56-3.png"/><Relationship Id="rId4" Type="http://schemas.openxmlformats.org/officeDocument/2006/relationships/slideLayout" Target="../slideLayouts/slideLayout1.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jpe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jpe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jpe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jpe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jpeg"/><Relationship Id="rId2" Type="http://schemas.openxmlformats.org/officeDocument/2006/relationships/image" Target="../media/image-63-2.jpg"/><Relationship Id="rId3" Type="http://schemas.openxmlformats.org/officeDocument/2006/relationships/image" Target="../media/image-63-3.png"/><Relationship Id="rId4" Type="http://schemas.openxmlformats.org/officeDocument/2006/relationships/slideLayout" Target="../slideLayouts/slideLayout1.xm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jpe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jpe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jpe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jpe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jpe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Slide-72-image-1.jpeg"/><Relationship Id="rId2" Type="http://schemas.openxmlformats.org/officeDocument/2006/relationships/image" Target="../media/image-72-2.jpg"/><Relationship Id="rId3" Type="http://schemas.openxmlformats.org/officeDocument/2006/relationships/image" Target="../media/image-72-3.png"/><Relationship Id="rId4" Type="http://schemas.openxmlformats.org/officeDocument/2006/relationships/slideLayout" Target="../slideLayouts/slideLayout1.xm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Slide-74-image-1.jpe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Slide-75-image-1.jpe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Slide-76-image-1.jpe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Slide-77-image-1.jpe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Slide-78-image-1.jpe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Slide-79-image-1.jpeg"/><Relationship Id="rId2" Type="http://schemas.openxmlformats.org/officeDocument/2006/relationships/image" Target="../media/image-79-2.jpg"/><Relationship Id="rId3" Type="http://schemas.openxmlformats.org/officeDocument/2006/relationships/image" Target="../media/image-79-3.png"/><Relationship Id="rId4" Type="http://schemas.openxmlformats.org/officeDocument/2006/relationships/slideLayout" Target="../slideLayouts/slideLayout1.xml"/><Relationship Id="rId5"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Slide-80-image-1.jpe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jp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Slide-82-image-1.jpe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Slide-83-image-1.jpe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Slide-84-image-1.jpe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Slide-85-image-1.jpeg"/><Relationship Id="rId2" Type="http://schemas.openxmlformats.org/officeDocument/2006/relationships/image" Target="../media/image-85-2.jpg"/><Relationship Id="rId3" Type="http://schemas.openxmlformats.org/officeDocument/2006/relationships/image" Target="../media/image-85-3.png"/><Relationship Id="rId4" Type="http://schemas.openxmlformats.org/officeDocument/2006/relationships/slideLayout" Target="../slideLayouts/slideLayout1.xml"/><Relationship Id="rId5"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jp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Slide-87-image-1.jpe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jp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Slide-89-image-1.jpe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Slide-90-image-1.jpe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Slide-91-image-1.jpe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Slide-92-image-1.jpe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Slide-93-image-1.jpeg"/><Relationship Id="rId2" Type="http://schemas.openxmlformats.org/officeDocument/2006/relationships/image" Target="../media/image-93-2.jpg"/><Relationship Id="rId3" Type="http://schemas.openxmlformats.org/officeDocument/2006/relationships/image" Target="../media/image-93-3.png"/><Relationship Id="rId4" Type="http://schemas.openxmlformats.org/officeDocument/2006/relationships/slideLayout" Target="../slideLayouts/slideLayout1.xml"/><Relationship Id="rId5"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Slide-94-image-1.jpe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jp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Slide-96-image-1.jpe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Slide-97-image-1.jpe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Slide-98-image-1.jpe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Slide-99-image-1.jpe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Slide-100-image-1.jpe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Slide-101-image-1.jpe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jp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Slide-103-image-1.jpe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Slide-104-image-1.jpe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Slide-105-image-1.jpe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jp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Slide-107-image-1.jpe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jp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Slide-109-image-1.jpe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jp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Slide-111-image-1.jpe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Slide-112-image-1.jpe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Slide-113-image-1.jpe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Slide-114-image-1.jpe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jp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Slide-116-image-1.jpe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Slide-117-image-1.jpe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Slide-118-image-1.jpe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jp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Slide-120-image-1.jpe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jp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Slide-122-image-1.jpe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Slide-123-image-1.jpe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Slide-124-image-1.jpe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Slide-125-image-1.jpe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Slide-126-image-1.jpe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Slide-127-image-1.jpe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Slide-128-image-1.jpe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Slide-129-image-1.jpe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Slide-130-image-1.jpe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Slide-131-image-1.jpe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Slide-132-image-1.jpe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Slide-133-image-1.jpe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Slide-134-image-1.jpe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jp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jp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Slide-137-image-1.jpe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Slide-138-image-1.jpeg"/><Relationship Id="rId2" Type="http://schemas.openxmlformats.org/officeDocument/2006/relationships/image" Target="../media/image-138-2.jpg"/><Relationship Id="rId3" Type="http://schemas.openxmlformats.org/officeDocument/2006/relationships/image" Target="../media/image-138-3.png"/><Relationship Id="rId4" Type="http://schemas.openxmlformats.org/officeDocument/2006/relationships/slideLayout" Target="../slideLayouts/slideLayout1.xml"/><Relationship Id="rId5"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Slide-139-image-1.jpe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Slide-140-image-1.jpeg"/><Relationship Id="rId2" Type="http://schemas.openxmlformats.org/officeDocument/2006/relationships/slideLayout" Target="../slideLayouts/slideLayout1.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Slide-141-image-1.jpe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Slide-142-image-1.jpeg"/><Relationship Id="rId2" Type="http://schemas.openxmlformats.org/officeDocument/2006/relationships/slideLayout" Target="../slideLayouts/slideLayout1.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Slide-143-image-1.jpeg"/><Relationship Id="rId2" Type="http://schemas.openxmlformats.org/officeDocument/2006/relationships/slideLayout" Target="../slideLayouts/slideLayout1.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Slide-144-image-1.jpe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jp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image-146-1.jp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Slide-147-image-1.jpe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148-1.jp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Slide-149-image-1.jpe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Slide-150-image-1.jpe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731520"/>
            <a:ext cx="960120" cy="960120"/>
          </a:xfrm>
          <a:prstGeom prst="roundRect">
            <a:avLst>
              <a:gd name="adj" fmla="val 26667"/>
            </a:avLst>
          </a:prstGeom>
          <a:solidFill>
            <a:srgbClr val="D9AE4B"/>
          </a:solidFill>
          <a:ln/>
          <a:effectLst>
            <a:outerShdw sx="100000" sy="100000" kx="0" ky="0" algn="bl" rotWithShape="0" blurRad="254000" dist="50800" dir="16200000">
              <a:srgbClr val="D9AE4B">
                <a:alpha val="45000"/>
              </a:srgbClr>
            </a:outerShdw>
          </a:effectLst>
        </p:spPr>
      </p:sp>
      <p:sp>
        <p:nvSpPr>
          <p:cNvPr id="3" name="Text 1"/>
          <p:cNvSpPr/>
          <p:nvPr/>
        </p:nvSpPr>
        <p:spPr>
          <a:xfrm>
            <a:off x="5615788" y="73152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1920240"/>
            <a:ext cx="12191695" cy="457200"/>
          </a:xfrm>
          <a:prstGeom prst="rect">
            <a:avLst/>
          </a:prstGeom>
          <a:noFill/>
          <a:ln/>
        </p:spPr>
        <p:txBody>
          <a:bodyPr wrap="square" lIns="0" tIns="0" rIns="0" bIns="0" rtlCol="0" anchor="ctr">
            <a:normAutofit/>
          </a:bodyPr>
          <a:lstStyle/>
          <a:p>
            <a:pPr rtl="1" algn="ctr" indent="0" marL="0">
              <a:buNone/>
            </a:pPr>
            <a:r>
              <a:rPr lang="ar-SA" altLang="en-US" sz="2000" b="1" dirty="0">
                <a:solidFill>
                  <a:srgbClr val="F0CC7A"/>
                </a:solidFill>
                <a:latin typeface="Cairo" pitchFamily="34" charset="0"/>
                <a:ea typeface="Cairo" pitchFamily="34" charset="-122"/>
                <a:cs typeface="Cairo" pitchFamily="34" charset="-120"/>
              </a:rPr>
              <a:t>الإشراف التربوي الحديث</a:t>
            </a:r>
            <a:endParaRPr lang="ar-SA" sz="2000" dirty="0"/>
          </a:p>
        </p:txBody>
      </p:sp>
      <p:sp>
        <p:nvSpPr>
          <p:cNvPr id="5" name="Text 3"/>
          <p:cNvSpPr/>
          <p:nvPr/>
        </p:nvSpPr>
        <p:spPr>
          <a:xfrm>
            <a:off x="0" y="2331720"/>
            <a:ext cx="12191695" cy="1463040"/>
          </a:xfrm>
          <a:prstGeom prst="rect">
            <a:avLst/>
          </a:prstGeom>
          <a:noFill/>
          <a:ln/>
        </p:spPr>
        <p:txBody>
          <a:bodyPr wrap="square" lIns="0" tIns="0" rIns="0" bIns="0" rtlCol="0" anchor="ctr">
            <a:normAutofit/>
          </a:bodyPr>
          <a:lstStyle/>
          <a:p>
            <a:pPr rtl="1" algn="ctr" indent="0" marL="0">
              <a:buNone/>
            </a:pPr>
            <a:r>
              <a:rPr lang="ar-SA" altLang="en-US" sz="9600" dirty="0">
                <a:solidFill>
                  <a:srgbClr val="FFF3D6"/>
                </a:solidFill>
                <a:latin typeface="Cairo Black" pitchFamily="34" charset="0"/>
                <a:ea typeface="Cairo Black" pitchFamily="34" charset="-122"/>
                <a:cs typeface="Cairo Black" pitchFamily="34" charset="-120"/>
              </a:rPr>
              <a:t>المشرف المطوِّر</a:t>
            </a:r>
            <a:endParaRPr lang="ar-SA" sz="9600" dirty="0"/>
          </a:p>
        </p:txBody>
      </p:sp>
      <p:sp>
        <p:nvSpPr>
          <p:cNvPr id="6" name="Text 4"/>
          <p:cNvSpPr/>
          <p:nvPr/>
        </p:nvSpPr>
        <p:spPr>
          <a:xfrm>
            <a:off x="0" y="37947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سدّ الفجوة بين الواقع والمأمول</a:t>
            </a:r>
            <a:endParaRPr lang="ar-SA" sz="2800" dirty="0"/>
          </a:p>
        </p:txBody>
      </p:sp>
      <p:sp>
        <p:nvSpPr>
          <p:cNvPr id="7" name="Shape 5"/>
          <p:cNvSpPr/>
          <p:nvPr/>
        </p:nvSpPr>
        <p:spPr>
          <a:xfrm>
            <a:off x="5364328" y="4617720"/>
            <a:ext cx="1463040" cy="36576"/>
          </a:xfrm>
          <a:prstGeom prst="rect">
            <a:avLst/>
          </a:prstGeom>
          <a:solidFill>
            <a:srgbClr val="D9AE4B"/>
          </a:solidFill>
          <a:ln/>
        </p:spPr>
      </p:sp>
      <p:sp>
        <p:nvSpPr>
          <p:cNvPr id="8" name="Text 6"/>
          <p:cNvSpPr/>
          <p:nvPr/>
        </p:nvSpPr>
        <p:spPr>
          <a:xfrm>
            <a:off x="0" y="5029200"/>
            <a:ext cx="12191695" cy="457200"/>
          </a:xfrm>
          <a:prstGeom prst="rect">
            <a:avLst/>
          </a:prstGeom>
          <a:noFill/>
          <a:ln/>
        </p:spPr>
        <p:txBody>
          <a:bodyPr wrap="square" lIns="0" tIns="0" rIns="0" bIns="0" rtlCol="0" anchor="ctr">
            <a:normAutofit/>
          </a:bodyPr>
          <a:lstStyle/>
          <a:p>
            <a:pPr algn="ctr" indent="0" marL="0">
              <a:buNone/>
            </a:pPr>
            <a:r>
              <a:rPr lang="ar-SA" altLang="en-US" sz="2000" b="1" dirty="0">
                <a:solidFill>
                  <a:srgbClr val="C9CFE6"/>
                </a:solidFill>
                <a:latin typeface="Cairo" pitchFamily="34" charset="0"/>
                <a:ea typeface="Cairo" pitchFamily="34" charset="-122"/>
                <a:cs typeface="Cairo" pitchFamily="34" charset="-120"/>
              </a:rPr>
              <a:t>إعداد وتقديم: </a:t>
            </a:r>
            <a:pPr algn="ctr" indent="0" marL="0">
              <a:buNone/>
            </a:pPr>
            <a:r>
              <a:rPr lang="ar-SA" altLang="en-US" sz="2000" b="1" dirty="0">
                <a:solidFill>
                  <a:srgbClr val="D9AE4B"/>
                </a:solidFill>
                <a:latin typeface="Cairo" pitchFamily="34" charset="0"/>
                <a:ea typeface="Cairo" pitchFamily="34" charset="-122"/>
                <a:cs typeface="Cairo" pitchFamily="34" charset="-120"/>
              </a:rPr>
              <a:t>أ. محمد زيتون</a:t>
            </a:r>
            <a:endParaRPr lang="ar-SA"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مقدّم الدورة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 محمد زيتون</a:t>
            </a:r>
            <a:endParaRPr lang="ar-SA" sz="3800" dirty="0"/>
          </a:p>
        </p:txBody>
      </p:sp>
      <p:sp>
        <p:nvSpPr>
          <p:cNvPr id="5" name="Text 3"/>
          <p:cNvSpPr/>
          <p:nvPr/>
        </p:nvSpPr>
        <p:spPr>
          <a:xfrm>
            <a:off x="822960" y="1783080"/>
            <a:ext cx="1054577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22346F"/>
                </a:solidFill>
                <a:latin typeface="Cairo" pitchFamily="34" charset="0"/>
                <a:ea typeface="Cairo" pitchFamily="34" charset="-122"/>
                <a:cs typeface="Cairo" pitchFamily="34" charset="-120"/>
              </a:rPr>
              <a:t>مشرف تربوي — الابتكار والذكاء الاصطناعي وSTEAM · مدارس الأرقم</a:t>
            </a:r>
            <a:endParaRPr lang="ar-SA" sz="2000" dirty="0"/>
          </a:p>
        </p:txBody>
      </p:sp>
      <p:sp>
        <p:nvSpPr>
          <p:cNvPr id="6" name="anim-g1-1"/>
          <p:cNvSpPr/>
          <p:nvPr/>
        </p:nvSpPr>
        <p:spPr>
          <a:xfrm>
            <a:off x="8066837"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7" name="anim-g1-2"/>
          <p:cNvSpPr/>
          <p:nvPr/>
        </p:nvSpPr>
        <p:spPr>
          <a:xfrm>
            <a:off x="8066837" y="2743200"/>
            <a:ext cx="3301898" cy="1097280"/>
          </a:xfrm>
          <a:prstGeom prst="rect">
            <a:avLst/>
          </a:prstGeom>
          <a:noFill/>
          <a:ln/>
        </p:spPr>
        <p:txBody>
          <a:bodyPr wrap="square" lIns="0" tIns="0" rIns="0" bIns="0" rtlCol="0" anchor="ctr">
            <a:normAutofit/>
          </a:bodyPr>
          <a:lstStyle/>
          <a:p>
            <a:pPr rtl="1" algn="ctr" indent="0" marL="0">
              <a:buNone/>
            </a:pPr>
            <a:r>
              <a:rPr lang="ar-SA" altLang="en-US" sz="5600" dirty="0">
                <a:solidFill>
                  <a:srgbClr val="B08A2E"/>
                </a:solidFill>
                <a:latin typeface="Cairo Black" pitchFamily="34" charset="0"/>
                <a:ea typeface="Cairo Black" pitchFamily="34" charset="-122"/>
                <a:cs typeface="Cairo Black" pitchFamily="34" charset="-120"/>
              </a:rPr>
              <a:t>٣٣</a:t>
            </a:r>
            <a:endParaRPr lang="ar-SA" sz="5600" dirty="0"/>
          </a:p>
        </p:txBody>
      </p:sp>
      <p:sp>
        <p:nvSpPr>
          <p:cNvPr id="8" name="anim-g1-3"/>
          <p:cNvSpPr/>
          <p:nvPr/>
        </p:nvSpPr>
        <p:spPr>
          <a:xfrm>
            <a:off x="8249717"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عامًا في الميدان التعليمي</a:t>
            </a:r>
            <a:endParaRPr lang="ar-SA" sz="2000" dirty="0"/>
          </a:p>
        </p:txBody>
      </p:sp>
      <p:sp>
        <p:nvSpPr>
          <p:cNvPr id="9" name="anim-g2-4"/>
          <p:cNvSpPr/>
          <p:nvPr/>
        </p:nvSpPr>
        <p:spPr>
          <a:xfrm>
            <a:off x="4444898"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0" name="anim-g2-5"/>
          <p:cNvSpPr/>
          <p:nvPr/>
        </p:nvSpPr>
        <p:spPr>
          <a:xfrm>
            <a:off x="4444898" y="2743200"/>
            <a:ext cx="3301898" cy="1097280"/>
          </a:xfrm>
          <a:prstGeom prst="rect">
            <a:avLst/>
          </a:prstGeom>
          <a:noFill/>
          <a:ln/>
        </p:spPr>
        <p:txBody>
          <a:bodyPr wrap="square" lIns="0" tIns="0" rIns="0" bIns="0" rtlCol="0" anchor="ctr">
            <a:normAutofit/>
          </a:bodyPr>
          <a:lstStyle/>
          <a:p>
            <a:pPr rtl="1" algn="ctr" indent="0" marL="0">
              <a:buNone/>
            </a:pPr>
            <a:r>
              <a:rPr lang="ar-SA" altLang="en-US" sz="5600" dirty="0">
                <a:solidFill>
                  <a:srgbClr val="B08A2E"/>
                </a:solidFill>
                <a:latin typeface="Cairo Black" pitchFamily="34" charset="0"/>
                <a:ea typeface="Cairo Black" pitchFamily="34" charset="-122"/>
                <a:cs typeface="Cairo Black" pitchFamily="34" charset="-120"/>
              </a:rPr>
              <a:t>١٠+</a:t>
            </a:r>
            <a:endParaRPr lang="ar-SA" sz="5600" dirty="0"/>
          </a:p>
        </p:txBody>
      </p:sp>
      <p:sp>
        <p:nvSpPr>
          <p:cNvPr id="11" name="anim-g2-6"/>
          <p:cNvSpPr/>
          <p:nvPr/>
        </p:nvSpPr>
        <p:spPr>
          <a:xfrm>
            <a:off x="4627778"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كتب مؤلفة ومعتمدة</a:t>
            </a:r>
            <a:endParaRPr lang="ar-SA" sz="2000" dirty="0"/>
          </a:p>
        </p:txBody>
      </p:sp>
      <p:sp>
        <p:nvSpPr>
          <p:cNvPr id="12" name="anim-g3-7"/>
          <p:cNvSpPr/>
          <p:nvPr/>
        </p:nvSpPr>
        <p:spPr>
          <a:xfrm>
            <a:off x="822960"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3" name="anim-g3-8"/>
          <p:cNvSpPr/>
          <p:nvPr/>
        </p:nvSpPr>
        <p:spPr>
          <a:xfrm>
            <a:off x="822960" y="2743200"/>
            <a:ext cx="3301898" cy="1097280"/>
          </a:xfrm>
          <a:prstGeom prst="rect">
            <a:avLst/>
          </a:prstGeom>
          <a:noFill/>
          <a:ln/>
        </p:spPr>
        <p:txBody>
          <a:bodyPr wrap="square" lIns="0" tIns="0" rIns="0" bIns="0" rtlCol="0" anchor="ctr">
            <a:normAutofit/>
          </a:bodyPr>
          <a:lstStyle/>
          <a:p>
            <a:pPr rtl="1" algn="ctr" indent="0" marL="0">
              <a:buNone/>
            </a:pPr>
            <a:r>
              <a:rPr lang="ar-SA" altLang="en-US" sz="3600" dirty="0">
                <a:solidFill>
                  <a:srgbClr val="B08A2E"/>
                </a:solidFill>
                <a:latin typeface="Cairo Black" pitchFamily="34" charset="0"/>
                <a:ea typeface="Cairo Black" pitchFamily="34" charset="-122"/>
                <a:cs typeface="Cairo Black" pitchFamily="34" charset="-120"/>
              </a:rPr>
              <a:t>Microsoft</a:t>
            </a:r>
            <a:endParaRPr lang="ar-SA" sz="3600" dirty="0"/>
          </a:p>
        </p:txBody>
      </p:sp>
      <p:sp>
        <p:nvSpPr>
          <p:cNvPr id="14" name="anim-g3-9"/>
          <p:cNvSpPr/>
          <p:nvPr/>
        </p:nvSpPr>
        <p:spPr>
          <a:xfrm>
            <a:off x="1005840"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مدرب معتمد</a:t>
            </a:r>
            <a:endParaRPr lang="ar-SA" sz="2000" dirty="0"/>
          </a:p>
        </p:txBody>
      </p:sp>
      <p:sp>
        <p:nvSpPr>
          <p:cNvPr id="15" name="anim-g4-10"/>
          <p:cNvSpPr/>
          <p:nvPr/>
        </p:nvSpPr>
        <p:spPr>
          <a:xfrm>
            <a:off x="822960" y="5257800"/>
            <a:ext cx="1054577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5E6782"/>
                </a:solidFill>
                <a:latin typeface="Cairo" pitchFamily="34" charset="0"/>
                <a:ea typeface="Cairo" pitchFamily="34" charset="-122"/>
                <a:cs typeface="Cairo" pitchFamily="34" charset="-120"/>
              </a:rPr>
              <a:t>محاضر على منصات رواق وأعناب ونون · عضو مجمع اللغة العربية</a:t>
            </a:r>
            <a:endParaRPr lang="ar-SA" sz="1800" dirty="0"/>
          </a:p>
        </p:txBody>
      </p:sp>
      <p:sp>
        <p:nvSpPr>
          <p:cNvPr id="16" name="Text 1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17" name="Text 1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البداية  ·  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023464" y="1097280"/>
            <a:ext cx="61447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3023464" y="1097280"/>
            <a:ext cx="61447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قبل أن نبدأ… من أحوج الناس إلى العلم؟</a:t>
            </a:r>
            <a:endParaRPr lang="ar-SA" sz="1800" dirty="0"/>
          </a:p>
        </p:txBody>
      </p:sp>
      <p:sp>
        <p:nvSpPr>
          <p:cNvPr id="4" name="Shape 2"/>
          <p:cNvSpPr/>
          <p:nvPr/>
        </p:nvSpPr>
        <p:spPr>
          <a:xfrm>
            <a:off x="5181448" y="2103120"/>
            <a:ext cx="1828800" cy="32004"/>
          </a:xfrm>
          <a:prstGeom prst="rect">
            <a:avLst/>
          </a:prstGeom>
          <a:solidFill>
            <a:srgbClr val="D9AE4B"/>
          </a:solidFill>
          <a:ln/>
        </p:spPr>
      </p:sp>
      <p:sp>
        <p:nvSpPr>
          <p:cNvPr id="5" name="Text 3"/>
          <p:cNvSpPr/>
          <p:nvPr/>
        </p:nvSpPr>
        <p:spPr>
          <a:xfrm>
            <a:off x="1188720" y="2286000"/>
            <a:ext cx="9814255" cy="2377440"/>
          </a:xfrm>
          <a:prstGeom prst="rect">
            <a:avLst/>
          </a:prstGeom>
          <a:noFill/>
          <a:ln/>
        </p:spPr>
        <p:txBody>
          <a:bodyPr wrap="square" lIns="0" tIns="0" rIns="0" bIns="0" rtlCol="0" anchor="ctr">
            <a:normAutofit/>
          </a:bodyPr>
          <a:lstStyle/>
          <a:p>
            <a:pPr rtl="1" algn="ctr" indent="0" marL="0">
              <a:lnSpc>
                <a:spcPct val="125000"/>
              </a:lnSpc>
              <a:buNone/>
            </a:pPr>
            <a:r>
              <a:rPr lang="ar-SA" altLang="en-US" sz="4000" b="1" dirty="0">
                <a:solidFill>
                  <a:srgbClr val="FFFFFF"/>
                </a:solidFill>
                <a:latin typeface="Amiri" pitchFamily="34" charset="0"/>
                <a:ea typeface="Amiri" pitchFamily="34" charset="-122"/>
                <a:cs typeface="Amiri" pitchFamily="34" charset="-120"/>
              </a:rPr>
              <a:t>سُئل سفيان بن عيينة: من أحوجُ الناس إلى طلب العلم؟ قال: أعلمُهم؛ لأن الخطأ منه أقبح</a:t>
            </a:r>
            <a:endParaRPr lang="ar-SA" sz="4000" dirty="0"/>
          </a:p>
        </p:txBody>
      </p:sp>
      <p:sp>
        <p:nvSpPr>
          <p:cNvPr id="6" name="Shape 4"/>
          <p:cNvSpPr/>
          <p:nvPr/>
        </p:nvSpPr>
        <p:spPr>
          <a:xfrm>
            <a:off x="5181448" y="4800600"/>
            <a:ext cx="1828800" cy="32004"/>
          </a:xfrm>
          <a:prstGeom prst="rect">
            <a:avLst/>
          </a:prstGeom>
          <a:solidFill>
            <a:srgbClr val="D9AE4B"/>
          </a:solidFill>
          <a:ln/>
        </p:spPr>
      </p:sp>
      <p:sp>
        <p:nvSpPr>
          <p:cNvPr id="7" name="anim-g1-11"/>
          <p:cNvSpPr/>
          <p:nvPr/>
        </p:nvSpPr>
        <p:spPr>
          <a:xfrm>
            <a:off x="0" y="5029200"/>
            <a:ext cx="12191695"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9AE4B"/>
                </a:solidFill>
                <a:latin typeface="Cairo" pitchFamily="34" charset="0"/>
                <a:ea typeface="Cairo" pitchFamily="34" charset="-122"/>
                <a:cs typeface="Cairo" pitchFamily="34" charset="-120"/>
              </a:rPr>
              <a:t>ابن عبد البر، جامع بيان العلم وفضله</a:t>
            </a:r>
            <a:endParaRPr lang="ar-SA" sz="1600" dirty="0"/>
          </a:p>
        </p:txBody>
      </p:sp>
      <p:sp>
        <p:nvSpPr>
          <p:cNvPr id="8" name="Text 6"/>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9" name="Text 7"/>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البداية  ·  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71720" y="1188720"/>
            <a:ext cx="204825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5071720" y="1188720"/>
            <a:ext cx="20482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قال تعالى</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30000"/>
              </a:lnSpc>
              <a:buNone/>
            </a:pPr>
            <a:r>
              <a:rPr lang="ar-SA" altLang="en-US" sz="4400" b="1" dirty="0">
                <a:solidFill>
                  <a:srgbClr val="D9AE4B"/>
                </a:solidFill>
                <a:latin typeface="Amiri" pitchFamily="34" charset="0"/>
                <a:ea typeface="Amiri" pitchFamily="34" charset="-122"/>
                <a:cs typeface="Amiri" pitchFamily="34" charset="-120"/>
              </a:rPr>
              <a:t>﴿ </a:t>
            </a:r>
            <a:pPr algn="ctr" indent="0" marL="0">
              <a:lnSpc>
                <a:spcPct val="130000"/>
              </a:lnSpc>
              <a:buNone/>
            </a:pPr>
            <a:r>
              <a:rPr lang="ar-SA" altLang="en-US" sz="4400" b="1" dirty="0">
                <a:solidFill>
                  <a:srgbClr val="FFFFFF"/>
                </a:solidFill>
                <a:latin typeface="Amiri" pitchFamily="34" charset="0"/>
                <a:ea typeface="Amiri" pitchFamily="34" charset="-122"/>
                <a:cs typeface="Amiri" pitchFamily="34" charset="-120"/>
              </a:rPr>
              <a:t>قَالَ لَهُ مُوسَىٰ هَلْ أَتَّبِعُكَ عَلَىٰ أَن تُعَلِّمَنِ مِمَّا عُلِّمْتَ رُشْدًا</a:t>
            </a:r>
            <a:pPr algn="ctr" indent="0" marL="0">
              <a:lnSpc>
                <a:spcPct val="130000"/>
              </a:lnSpc>
              <a:buNone/>
            </a:pPr>
            <a:r>
              <a:rPr lang="ar-SA" altLang="en-US" sz="4400" b="1" dirty="0">
                <a:solidFill>
                  <a:srgbClr val="D9AE4B"/>
                </a:solidFill>
                <a:latin typeface="Amiri" pitchFamily="34" charset="0"/>
                <a:ea typeface="Amiri" pitchFamily="34" charset="-122"/>
                <a:cs typeface="Amiri" pitchFamily="34" charset="-120"/>
              </a:rPr>
              <a:t> ﴾</a:t>
            </a:r>
            <a:endParaRPr lang="ar-SA" sz="4400" dirty="0"/>
          </a:p>
        </p:txBody>
      </p:sp>
      <p:sp>
        <p:nvSpPr>
          <p:cNvPr id="5" name="Text 3"/>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9AE4B"/>
                </a:solidFill>
                <a:latin typeface="Cairo" pitchFamily="34" charset="0"/>
                <a:ea typeface="Cairo" pitchFamily="34" charset="-122"/>
                <a:cs typeface="Cairo" pitchFamily="34" charset="-120"/>
              </a:rPr>
              <a:t>الكهف: ٦٦</a:t>
            </a:r>
            <a:endParaRPr lang="ar-SA" sz="1600" dirty="0"/>
          </a:p>
        </p:txBody>
      </p:sp>
      <p:sp>
        <p:nvSpPr>
          <p:cNvPr id="6" name="Text 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7" name="Text 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البداية  ·  ٤</a:t>
            </a:r>
            <a:endParaRPr lang="ar-SA"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754984" y="1097280"/>
            <a:ext cx="468172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3754984" y="1097280"/>
            <a:ext cx="468172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المهارة لا تُولد… بل تُكتسب</a:t>
            </a:r>
            <a:endParaRPr lang="ar-SA" sz="1800" dirty="0"/>
          </a:p>
        </p:txBody>
      </p:sp>
      <p:sp>
        <p:nvSpPr>
          <p:cNvPr id="4" name="Shape 2"/>
          <p:cNvSpPr/>
          <p:nvPr/>
        </p:nvSpPr>
        <p:spPr>
          <a:xfrm>
            <a:off x="5181448" y="2103120"/>
            <a:ext cx="1828800" cy="32004"/>
          </a:xfrm>
          <a:prstGeom prst="rect">
            <a:avLst/>
          </a:prstGeom>
          <a:solidFill>
            <a:srgbClr val="D9AE4B"/>
          </a:solidFill>
          <a:ln/>
        </p:spPr>
      </p:sp>
      <p:sp>
        <p:nvSpPr>
          <p:cNvPr id="5" name="Text 3"/>
          <p:cNvSpPr/>
          <p:nvPr/>
        </p:nvSpPr>
        <p:spPr>
          <a:xfrm>
            <a:off x="1188720" y="2286000"/>
            <a:ext cx="9814255" cy="2377440"/>
          </a:xfrm>
          <a:prstGeom prst="rect">
            <a:avLst/>
          </a:prstGeom>
          <a:noFill/>
          <a:ln/>
        </p:spPr>
        <p:txBody>
          <a:bodyPr wrap="square" lIns="0" tIns="0" rIns="0" bIns="0" rtlCol="0" anchor="ctr">
            <a:normAutofit/>
          </a:bodyPr>
          <a:lstStyle/>
          <a:p>
            <a:pPr rtl="1" algn="ctr" indent="0" marL="0">
              <a:lnSpc>
                <a:spcPct val="125000"/>
              </a:lnSpc>
              <a:buNone/>
            </a:pPr>
            <a:r>
              <a:rPr lang="ar-SA" altLang="en-US" sz="4000" b="1" dirty="0">
                <a:solidFill>
                  <a:srgbClr val="FFFFFF"/>
                </a:solidFill>
                <a:latin typeface="Amiri" pitchFamily="34" charset="0"/>
                <a:ea typeface="Amiri" pitchFamily="34" charset="-122"/>
                <a:cs typeface="Amiri" pitchFamily="34" charset="-120"/>
              </a:rPr>
              <a:t>إنما العلمُ بالتعلّم، وإنما الحِلمُ بالتحلّم</a:t>
            </a:r>
            <a:endParaRPr lang="ar-SA" sz="4000" dirty="0"/>
          </a:p>
        </p:txBody>
      </p:sp>
      <p:sp>
        <p:nvSpPr>
          <p:cNvPr id="6" name="Shape 4"/>
          <p:cNvSpPr/>
          <p:nvPr/>
        </p:nvSpPr>
        <p:spPr>
          <a:xfrm>
            <a:off x="5181448" y="4800600"/>
            <a:ext cx="1828800" cy="32004"/>
          </a:xfrm>
          <a:prstGeom prst="rect">
            <a:avLst/>
          </a:prstGeom>
          <a:solidFill>
            <a:srgbClr val="D9AE4B"/>
          </a:solidFill>
          <a:ln/>
        </p:spPr>
      </p:sp>
      <p:sp>
        <p:nvSpPr>
          <p:cNvPr id="7" name="anim-g1-12"/>
          <p:cNvSpPr/>
          <p:nvPr/>
        </p:nvSpPr>
        <p:spPr>
          <a:xfrm>
            <a:off x="0" y="5029200"/>
            <a:ext cx="12191695"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9AE4B"/>
                </a:solidFill>
                <a:latin typeface="Cairo" pitchFamily="34" charset="0"/>
                <a:ea typeface="Cairo" pitchFamily="34" charset="-122"/>
                <a:cs typeface="Cairo" pitchFamily="34" charset="-120"/>
              </a:rPr>
              <a:t>رواه الطبراني والخطيب، وحسّنه الألباني (الصحيحة ٣٤٢)</a:t>
            </a:r>
            <a:endParaRPr lang="ar-SA" sz="1600" dirty="0"/>
          </a:p>
        </p:txBody>
      </p:sp>
      <p:sp>
        <p:nvSpPr>
          <p:cNvPr id="8" name="Text 6"/>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9" name="Text 7"/>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البداية  ·  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3" descr="/Users/mac/dev/younes-training/ishraf/assets/media/woodcutter.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v/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253935" y="365760"/>
            <a:ext cx="438912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253935" y="365760"/>
            <a:ext cx="438912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الحطّاب والفأس</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حطّابٌ قوي يعمل من الفجر إلى المغرب، ومع ذلك يقطع كل يوم أشجارًا أقل من اليوم الذي قبله.</a:t>
            </a:r>
            <a:endParaRPr lang="ar-SA" sz="2400" dirty="0"/>
          </a:p>
        </p:txBody>
      </p:sp>
      <p:sp>
        <p:nvSpPr>
          <p:cNvPr id="8" name="anim-g1-14"/>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15"/>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مرّ به شيخ فقال: يا بنيّ، لماذا لا تتوقف قليلًا لتسنّ فأسك؟</a:t>
            </a:r>
            <a:endParaRPr lang="ar-SA" sz="2400" dirty="0"/>
          </a:p>
        </p:txBody>
      </p:sp>
      <p:sp>
        <p:nvSpPr>
          <p:cNvPr id="10" name="anim-g2-16"/>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17"/>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فقال الحطّاب وهو يلهث: لا وقت عندي للسنّ… عندي أشجار كثيرة يجب أن أقطعها!</a:t>
            </a:r>
            <a:endParaRPr lang="ar-SA" sz="2600" dirty="0"/>
          </a:p>
        </p:txBody>
      </p:sp>
      <p:sp>
        <p:nvSpPr>
          <p:cNvPr id="12" name="Text 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13" name="Text 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البداية  ·  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Users/mac/dev/younes-training/ishraf/.pptx-cache/s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320479" y="457200"/>
            <a:ext cx="2048256" cy="457200"/>
          </a:xfrm>
          <a:prstGeom prst="roundRect">
            <a:avLst>
              <a:gd name="adj" fmla="val 50000"/>
            </a:avLst>
          </a:prstGeom>
          <a:solidFill>
            <a:srgbClr val="F6EBCF"/>
          </a:solidFill>
          <a:ln/>
        </p:spPr>
      </p:sp>
      <p:sp>
        <p:nvSpPr>
          <p:cNvPr id="3" name="Text 1"/>
          <p:cNvSpPr/>
          <p:nvPr/>
        </p:nvSpPr>
        <p:spPr>
          <a:xfrm>
            <a:off x="9320479" y="457200"/>
            <a:ext cx="20482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عن الدورة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ثلاث ساعات… وثلاثة وعود</a:t>
            </a:r>
            <a:endParaRPr lang="ar-SA" sz="3800" dirty="0"/>
          </a:p>
        </p:txBody>
      </p:sp>
      <p:sp>
        <p:nvSpPr>
          <p:cNvPr id="5" name="anim-g1-18"/>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9"/>
          <p:cNvSpPr/>
          <p:nvPr/>
        </p:nvSpPr>
        <p:spPr>
          <a:xfrm>
            <a:off x="10362895" y="2404872"/>
            <a:ext cx="731520" cy="731520"/>
          </a:xfrm>
          <a:prstGeom prst="roundRect">
            <a:avLst>
              <a:gd name="adj" fmla="val 25000"/>
            </a:avLst>
          </a:prstGeom>
          <a:solidFill>
            <a:srgbClr val="F7E6BC"/>
          </a:solidFill>
          <a:ln/>
        </p:spPr>
      </p:sp>
      <p:sp>
        <p:nvSpPr>
          <p:cNvPr id="7" name="anim-g1-20"/>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21"/>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نشخّص</a:t>
            </a:r>
            <a:endParaRPr lang="ar-SA" sz="2300" dirty="0"/>
          </a:p>
        </p:txBody>
      </p:sp>
      <p:sp>
        <p:nvSpPr>
          <p:cNvPr id="9" name="anim-g1-22"/>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كيف ترى فجوة أداء المعلم بالأدلة لا بالانطباع</a:t>
            </a:r>
            <a:endParaRPr lang="ar-SA" sz="2100" dirty="0"/>
          </a:p>
        </p:txBody>
      </p:sp>
      <p:sp>
        <p:nvSpPr>
          <p:cNvPr id="10" name="anim-g2-23"/>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4"/>
          <p:cNvSpPr/>
          <p:nvPr/>
        </p:nvSpPr>
        <p:spPr>
          <a:xfrm>
            <a:off x="6756197" y="2404872"/>
            <a:ext cx="731520" cy="731520"/>
          </a:xfrm>
          <a:prstGeom prst="roundRect">
            <a:avLst>
              <a:gd name="adj" fmla="val 25000"/>
            </a:avLst>
          </a:prstGeom>
          <a:solidFill>
            <a:srgbClr val="F7E6BC"/>
          </a:solidFill>
          <a:ln/>
        </p:spPr>
      </p:sp>
      <p:sp>
        <p:nvSpPr>
          <p:cNvPr id="12" name="anim-g2-25"/>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26"/>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نطوّر</a:t>
            </a:r>
            <a:endParaRPr lang="ar-SA" sz="2300" dirty="0"/>
          </a:p>
        </p:txBody>
      </p:sp>
      <p:sp>
        <p:nvSpPr>
          <p:cNvPr id="14" name="anim-g2-27"/>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كيف تزور فيخرج المعلم متحمسًا بخطوات واضحة</a:t>
            </a:r>
            <a:endParaRPr lang="ar-SA" sz="2100" dirty="0"/>
          </a:p>
        </p:txBody>
      </p:sp>
      <p:sp>
        <p:nvSpPr>
          <p:cNvPr id="15" name="anim-g3-28"/>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9"/>
          <p:cNvSpPr/>
          <p:nvPr/>
        </p:nvSpPr>
        <p:spPr>
          <a:xfrm>
            <a:off x="3149498" y="2404872"/>
            <a:ext cx="731520" cy="731520"/>
          </a:xfrm>
          <a:prstGeom prst="roundRect">
            <a:avLst>
              <a:gd name="adj" fmla="val 25000"/>
            </a:avLst>
          </a:prstGeom>
          <a:solidFill>
            <a:srgbClr val="F7E6BC"/>
          </a:solidFill>
          <a:ln/>
        </p:spPr>
      </p:sp>
      <p:sp>
        <p:nvSpPr>
          <p:cNvPr id="17" name="anim-g3-30"/>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31"/>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نقارن</a:t>
            </a:r>
            <a:endParaRPr lang="ar-SA" sz="2300" dirty="0"/>
          </a:p>
        </p:txBody>
      </p:sp>
      <p:sp>
        <p:nvSpPr>
          <p:cNvPr id="19" name="anim-g3-32"/>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ماذا يفعل المشرفون في فنلندا وسنغافورة واليابان</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البداية  ·  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Users/mac/dev/younes-training/ishraf/.pptx-cache/s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Users/mac/dev/younes-training/ishraf/.pptx-cache/s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Users/mac/dev/younes-training/ishraf/.pptx-cache/s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Users/mac/dev/younes-training/ishraf/.pptx-cache/s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632808" y="1188720"/>
            <a:ext cx="292608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632808" y="118872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الدرس من النقطة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ليس المهم لماذا وُجدت النقطة…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بل أن نستخدم عقولنا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البداية  ·  ١٣</a:t>
            </a:r>
            <a:endParaRPr lang="ar-SA"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خريطة الرحلة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محطات الدورة</a:t>
            </a:r>
            <a:endParaRPr lang="ar-SA" sz="3800" dirty="0"/>
          </a:p>
        </p:txBody>
      </p:sp>
      <p:sp>
        <p:nvSpPr>
          <p:cNvPr id="5" name="Shape 3"/>
          <p:cNvSpPr/>
          <p:nvPr/>
        </p:nvSpPr>
        <p:spPr>
          <a:xfrm>
            <a:off x="8005877" y="1965960"/>
            <a:ext cx="3362858" cy="1097280"/>
          </a:xfrm>
          <a:prstGeom prst="roundRect">
            <a:avLst>
              <a:gd name="adj" fmla="val 15000"/>
            </a:avLst>
          </a:prstGeom>
          <a:solidFill>
            <a:srgbClr val="FFFFFF"/>
          </a:solidFill>
          <a:ln w="12700">
            <a:solidFill>
              <a:srgbClr val="E4DCC8"/>
            </a:solidFill>
            <a:prstDash val="solid"/>
          </a:ln>
        </p:spPr>
      </p:sp>
      <p:sp>
        <p:nvSpPr>
          <p:cNvPr id="6" name="Shape 4"/>
          <p:cNvSpPr/>
          <p:nvPr/>
        </p:nvSpPr>
        <p:spPr>
          <a:xfrm>
            <a:off x="10426903" y="2125980"/>
            <a:ext cx="777240" cy="777240"/>
          </a:xfrm>
          <a:prstGeom prst="roundRect">
            <a:avLst>
              <a:gd name="adj" fmla="val 18824"/>
            </a:avLst>
          </a:prstGeom>
          <a:solidFill>
            <a:srgbClr val="101B45"/>
          </a:solidFill>
          <a:ln/>
        </p:spPr>
      </p:sp>
      <p:sp>
        <p:nvSpPr>
          <p:cNvPr id="7" name="Text 5"/>
          <p:cNvSpPr/>
          <p:nvPr/>
        </p:nvSpPr>
        <p:spPr>
          <a:xfrm>
            <a:off x="10426903" y="2125980"/>
            <a:ext cx="777240" cy="77724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8" name="Text 6"/>
          <p:cNvSpPr/>
          <p:nvPr/>
        </p:nvSpPr>
        <p:spPr>
          <a:xfrm>
            <a:off x="8143037" y="2057400"/>
            <a:ext cx="2174138"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المحطة ١</a:t>
            </a:r>
            <a:endParaRPr lang="ar-SA" sz="1400" dirty="0"/>
          </a:p>
        </p:txBody>
      </p:sp>
      <p:sp>
        <p:nvSpPr>
          <p:cNvPr id="9" name="Text 7"/>
          <p:cNvSpPr/>
          <p:nvPr/>
        </p:nvSpPr>
        <p:spPr>
          <a:xfrm>
            <a:off x="8143037" y="2331720"/>
            <a:ext cx="2174138" cy="658368"/>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لماذا وُجد الإشراف؟</a:t>
            </a:r>
            <a:endParaRPr lang="ar-SA" sz="2200" dirty="0"/>
          </a:p>
        </p:txBody>
      </p:sp>
      <p:sp>
        <p:nvSpPr>
          <p:cNvPr id="10" name="Shape 8"/>
          <p:cNvSpPr/>
          <p:nvPr/>
        </p:nvSpPr>
        <p:spPr>
          <a:xfrm>
            <a:off x="4414418" y="1965960"/>
            <a:ext cx="3362858" cy="1097280"/>
          </a:xfrm>
          <a:prstGeom prst="roundRect">
            <a:avLst>
              <a:gd name="adj" fmla="val 15000"/>
            </a:avLst>
          </a:prstGeom>
          <a:solidFill>
            <a:srgbClr val="FFFFFF"/>
          </a:solidFill>
          <a:ln w="12700">
            <a:solidFill>
              <a:srgbClr val="E4DCC8"/>
            </a:solidFill>
            <a:prstDash val="solid"/>
          </a:ln>
        </p:spPr>
      </p:sp>
      <p:sp>
        <p:nvSpPr>
          <p:cNvPr id="11" name="Shape 9"/>
          <p:cNvSpPr/>
          <p:nvPr/>
        </p:nvSpPr>
        <p:spPr>
          <a:xfrm>
            <a:off x="6835445" y="2125980"/>
            <a:ext cx="777240" cy="777240"/>
          </a:xfrm>
          <a:prstGeom prst="roundRect">
            <a:avLst>
              <a:gd name="adj" fmla="val 18824"/>
            </a:avLst>
          </a:prstGeom>
          <a:solidFill>
            <a:srgbClr val="101B45"/>
          </a:solidFill>
          <a:ln/>
        </p:spPr>
      </p:sp>
      <p:sp>
        <p:nvSpPr>
          <p:cNvPr id="12" name="Text 10"/>
          <p:cNvSpPr/>
          <p:nvPr/>
        </p:nvSpPr>
        <p:spPr>
          <a:xfrm>
            <a:off x="6835445" y="2125980"/>
            <a:ext cx="777240" cy="77724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13" name="Text 11"/>
          <p:cNvSpPr/>
          <p:nvPr/>
        </p:nvSpPr>
        <p:spPr>
          <a:xfrm>
            <a:off x="4551578" y="2057400"/>
            <a:ext cx="2174138"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المحطة ٢</a:t>
            </a:r>
            <a:endParaRPr lang="ar-SA" sz="1400" dirty="0"/>
          </a:p>
        </p:txBody>
      </p:sp>
      <p:sp>
        <p:nvSpPr>
          <p:cNvPr id="14" name="Text 12"/>
          <p:cNvSpPr/>
          <p:nvPr/>
        </p:nvSpPr>
        <p:spPr>
          <a:xfrm>
            <a:off x="4551578" y="2331720"/>
            <a:ext cx="2174138" cy="658368"/>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جولة حول العالم</a:t>
            </a:r>
            <a:endParaRPr lang="ar-SA" sz="2200" dirty="0"/>
          </a:p>
        </p:txBody>
      </p:sp>
      <p:sp>
        <p:nvSpPr>
          <p:cNvPr id="15" name="Shape 13"/>
          <p:cNvSpPr/>
          <p:nvPr/>
        </p:nvSpPr>
        <p:spPr>
          <a:xfrm>
            <a:off x="822960" y="1965960"/>
            <a:ext cx="3362858" cy="1097280"/>
          </a:xfrm>
          <a:prstGeom prst="roundRect">
            <a:avLst>
              <a:gd name="adj" fmla="val 15000"/>
            </a:avLst>
          </a:prstGeom>
          <a:solidFill>
            <a:srgbClr val="FFFFFF"/>
          </a:solidFill>
          <a:ln w="12700">
            <a:solidFill>
              <a:srgbClr val="E4DCC8"/>
            </a:solidFill>
            <a:prstDash val="solid"/>
          </a:ln>
        </p:spPr>
      </p:sp>
      <p:sp>
        <p:nvSpPr>
          <p:cNvPr id="16" name="Shape 14"/>
          <p:cNvSpPr/>
          <p:nvPr/>
        </p:nvSpPr>
        <p:spPr>
          <a:xfrm>
            <a:off x="3243986" y="2125980"/>
            <a:ext cx="777240" cy="777240"/>
          </a:xfrm>
          <a:prstGeom prst="roundRect">
            <a:avLst>
              <a:gd name="adj" fmla="val 18824"/>
            </a:avLst>
          </a:prstGeom>
          <a:solidFill>
            <a:srgbClr val="101B45"/>
          </a:solidFill>
          <a:ln/>
        </p:spPr>
      </p:sp>
      <p:sp>
        <p:nvSpPr>
          <p:cNvPr id="17" name="Text 15"/>
          <p:cNvSpPr/>
          <p:nvPr/>
        </p:nvSpPr>
        <p:spPr>
          <a:xfrm>
            <a:off x="3243986" y="2125980"/>
            <a:ext cx="777240" cy="77724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18" name="Text 16"/>
          <p:cNvSpPr/>
          <p:nvPr/>
        </p:nvSpPr>
        <p:spPr>
          <a:xfrm>
            <a:off x="960120" y="2057400"/>
            <a:ext cx="2174138"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المحطة ٣</a:t>
            </a:r>
            <a:endParaRPr lang="ar-SA" sz="1400" dirty="0"/>
          </a:p>
        </p:txBody>
      </p:sp>
      <p:sp>
        <p:nvSpPr>
          <p:cNvPr id="19" name="Text 17"/>
          <p:cNvSpPr/>
          <p:nvPr/>
        </p:nvSpPr>
        <p:spPr>
          <a:xfrm>
            <a:off x="960120" y="2331720"/>
            <a:ext cx="2174138" cy="658368"/>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تشخيص الفجوة</a:t>
            </a:r>
            <a:endParaRPr lang="ar-SA" sz="2200" dirty="0"/>
          </a:p>
        </p:txBody>
      </p:sp>
      <p:sp>
        <p:nvSpPr>
          <p:cNvPr id="20" name="Shape 18"/>
          <p:cNvSpPr/>
          <p:nvPr/>
        </p:nvSpPr>
        <p:spPr>
          <a:xfrm>
            <a:off x="8005877" y="3291840"/>
            <a:ext cx="3362858" cy="1097280"/>
          </a:xfrm>
          <a:prstGeom prst="roundRect">
            <a:avLst>
              <a:gd name="adj" fmla="val 15000"/>
            </a:avLst>
          </a:prstGeom>
          <a:solidFill>
            <a:srgbClr val="FFFFFF"/>
          </a:solidFill>
          <a:ln w="12700">
            <a:solidFill>
              <a:srgbClr val="E4DCC8"/>
            </a:solidFill>
            <a:prstDash val="solid"/>
          </a:ln>
        </p:spPr>
      </p:sp>
      <p:sp>
        <p:nvSpPr>
          <p:cNvPr id="21" name="Shape 19"/>
          <p:cNvSpPr/>
          <p:nvPr/>
        </p:nvSpPr>
        <p:spPr>
          <a:xfrm>
            <a:off x="10426903" y="3451860"/>
            <a:ext cx="777240" cy="777240"/>
          </a:xfrm>
          <a:prstGeom prst="roundRect">
            <a:avLst>
              <a:gd name="adj" fmla="val 18824"/>
            </a:avLst>
          </a:prstGeom>
          <a:solidFill>
            <a:srgbClr val="101B45"/>
          </a:solidFill>
          <a:ln/>
        </p:spPr>
      </p:sp>
      <p:sp>
        <p:nvSpPr>
          <p:cNvPr id="22" name="Text 20"/>
          <p:cNvSpPr/>
          <p:nvPr/>
        </p:nvSpPr>
        <p:spPr>
          <a:xfrm>
            <a:off x="10426903" y="3451860"/>
            <a:ext cx="777240" cy="77724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23" name="Text 21"/>
          <p:cNvSpPr/>
          <p:nvPr/>
        </p:nvSpPr>
        <p:spPr>
          <a:xfrm>
            <a:off x="8143037" y="3383280"/>
            <a:ext cx="2174138"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المحطة ٤</a:t>
            </a:r>
            <a:endParaRPr lang="ar-SA" sz="1400" dirty="0"/>
          </a:p>
        </p:txBody>
      </p:sp>
      <p:sp>
        <p:nvSpPr>
          <p:cNvPr id="24" name="Text 22"/>
          <p:cNvSpPr/>
          <p:nvPr/>
        </p:nvSpPr>
        <p:spPr>
          <a:xfrm>
            <a:off x="8143037" y="3657600"/>
            <a:ext cx="2174138" cy="658368"/>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الزيارة التي تطوّر</a:t>
            </a:r>
            <a:endParaRPr lang="ar-SA" sz="2200" dirty="0"/>
          </a:p>
        </p:txBody>
      </p:sp>
      <p:sp>
        <p:nvSpPr>
          <p:cNvPr id="25" name="Shape 23"/>
          <p:cNvSpPr/>
          <p:nvPr/>
        </p:nvSpPr>
        <p:spPr>
          <a:xfrm>
            <a:off x="4414418" y="3291840"/>
            <a:ext cx="3362858" cy="1097280"/>
          </a:xfrm>
          <a:prstGeom prst="roundRect">
            <a:avLst>
              <a:gd name="adj" fmla="val 15000"/>
            </a:avLst>
          </a:prstGeom>
          <a:solidFill>
            <a:srgbClr val="FFFFFF"/>
          </a:solidFill>
          <a:ln w="12700">
            <a:solidFill>
              <a:srgbClr val="E4DCC8"/>
            </a:solidFill>
            <a:prstDash val="solid"/>
          </a:ln>
        </p:spPr>
      </p:sp>
      <p:sp>
        <p:nvSpPr>
          <p:cNvPr id="26" name="Shape 24"/>
          <p:cNvSpPr/>
          <p:nvPr/>
        </p:nvSpPr>
        <p:spPr>
          <a:xfrm>
            <a:off x="6835445" y="3451860"/>
            <a:ext cx="777240" cy="777240"/>
          </a:xfrm>
          <a:prstGeom prst="roundRect">
            <a:avLst>
              <a:gd name="adj" fmla="val 18824"/>
            </a:avLst>
          </a:prstGeom>
          <a:solidFill>
            <a:srgbClr val="101B45"/>
          </a:solidFill>
          <a:ln/>
        </p:spPr>
      </p:sp>
      <p:sp>
        <p:nvSpPr>
          <p:cNvPr id="27" name="Text 25"/>
          <p:cNvSpPr/>
          <p:nvPr/>
        </p:nvSpPr>
        <p:spPr>
          <a:xfrm>
            <a:off x="6835445" y="3451860"/>
            <a:ext cx="777240" cy="77724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28" name="Text 26"/>
          <p:cNvSpPr/>
          <p:nvPr/>
        </p:nvSpPr>
        <p:spPr>
          <a:xfrm>
            <a:off x="4551578" y="3383280"/>
            <a:ext cx="2174138"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المحطة ٥</a:t>
            </a:r>
            <a:endParaRPr lang="ar-SA" sz="1400" dirty="0"/>
          </a:p>
        </p:txBody>
      </p:sp>
      <p:sp>
        <p:nvSpPr>
          <p:cNvPr id="29" name="Text 27"/>
          <p:cNvSpPr/>
          <p:nvPr/>
        </p:nvSpPr>
        <p:spPr>
          <a:xfrm>
            <a:off x="4551578" y="3657600"/>
            <a:ext cx="2174138" cy="658368"/>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لغة المشرف</a:t>
            </a:r>
            <a:endParaRPr lang="ar-SA" sz="2200" dirty="0"/>
          </a:p>
        </p:txBody>
      </p:sp>
      <p:sp>
        <p:nvSpPr>
          <p:cNvPr id="30" name="Shape 28"/>
          <p:cNvSpPr/>
          <p:nvPr/>
        </p:nvSpPr>
        <p:spPr>
          <a:xfrm>
            <a:off x="822960" y="3291840"/>
            <a:ext cx="3362858" cy="1097280"/>
          </a:xfrm>
          <a:prstGeom prst="roundRect">
            <a:avLst>
              <a:gd name="adj" fmla="val 15000"/>
            </a:avLst>
          </a:prstGeom>
          <a:solidFill>
            <a:srgbClr val="FFFFFF"/>
          </a:solidFill>
          <a:ln w="12700">
            <a:solidFill>
              <a:srgbClr val="E4DCC8"/>
            </a:solidFill>
            <a:prstDash val="solid"/>
          </a:ln>
        </p:spPr>
      </p:sp>
      <p:sp>
        <p:nvSpPr>
          <p:cNvPr id="31" name="Shape 29"/>
          <p:cNvSpPr/>
          <p:nvPr/>
        </p:nvSpPr>
        <p:spPr>
          <a:xfrm>
            <a:off x="3243986" y="3451860"/>
            <a:ext cx="777240" cy="777240"/>
          </a:xfrm>
          <a:prstGeom prst="roundRect">
            <a:avLst>
              <a:gd name="adj" fmla="val 18824"/>
            </a:avLst>
          </a:prstGeom>
          <a:solidFill>
            <a:srgbClr val="101B45"/>
          </a:solidFill>
          <a:ln/>
        </p:spPr>
      </p:sp>
      <p:sp>
        <p:nvSpPr>
          <p:cNvPr id="32" name="Text 30"/>
          <p:cNvSpPr/>
          <p:nvPr/>
        </p:nvSpPr>
        <p:spPr>
          <a:xfrm>
            <a:off x="3243986" y="3451860"/>
            <a:ext cx="777240" cy="77724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33" name="Text 31"/>
          <p:cNvSpPr/>
          <p:nvPr/>
        </p:nvSpPr>
        <p:spPr>
          <a:xfrm>
            <a:off x="960120" y="3383280"/>
            <a:ext cx="2174138"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المحطة ٦</a:t>
            </a:r>
            <a:endParaRPr lang="ar-SA" sz="1400" dirty="0"/>
          </a:p>
        </p:txBody>
      </p:sp>
      <p:sp>
        <p:nvSpPr>
          <p:cNvPr id="34" name="Text 32"/>
          <p:cNvSpPr/>
          <p:nvPr/>
        </p:nvSpPr>
        <p:spPr>
          <a:xfrm>
            <a:off x="960120" y="3657600"/>
            <a:ext cx="2174138" cy="658368"/>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علبة الألوان</a:t>
            </a:r>
            <a:endParaRPr lang="ar-SA" sz="2200" dirty="0"/>
          </a:p>
        </p:txBody>
      </p:sp>
      <p:sp>
        <p:nvSpPr>
          <p:cNvPr id="35" name="Shape 33"/>
          <p:cNvSpPr/>
          <p:nvPr/>
        </p:nvSpPr>
        <p:spPr>
          <a:xfrm>
            <a:off x="8005877" y="4617720"/>
            <a:ext cx="3362858" cy="1097280"/>
          </a:xfrm>
          <a:prstGeom prst="roundRect">
            <a:avLst>
              <a:gd name="adj" fmla="val 15000"/>
            </a:avLst>
          </a:prstGeom>
          <a:solidFill>
            <a:srgbClr val="FFFFFF"/>
          </a:solidFill>
          <a:ln w="12700">
            <a:solidFill>
              <a:srgbClr val="E4DCC8"/>
            </a:solidFill>
            <a:prstDash val="solid"/>
          </a:ln>
        </p:spPr>
      </p:sp>
      <p:sp>
        <p:nvSpPr>
          <p:cNvPr id="36" name="Shape 34"/>
          <p:cNvSpPr/>
          <p:nvPr/>
        </p:nvSpPr>
        <p:spPr>
          <a:xfrm>
            <a:off x="10426903" y="4777740"/>
            <a:ext cx="777240" cy="777240"/>
          </a:xfrm>
          <a:prstGeom prst="roundRect">
            <a:avLst>
              <a:gd name="adj" fmla="val 18824"/>
            </a:avLst>
          </a:prstGeom>
          <a:solidFill>
            <a:srgbClr val="101B45"/>
          </a:solidFill>
          <a:ln/>
        </p:spPr>
      </p:sp>
      <p:sp>
        <p:nvSpPr>
          <p:cNvPr id="37" name="Text 35"/>
          <p:cNvSpPr/>
          <p:nvPr/>
        </p:nvSpPr>
        <p:spPr>
          <a:xfrm>
            <a:off x="10426903" y="4777740"/>
            <a:ext cx="777240" cy="77724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38" name="Text 36"/>
          <p:cNvSpPr/>
          <p:nvPr/>
        </p:nvSpPr>
        <p:spPr>
          <a:xfrm>
            <a:off x="8143037" y="4709160"/>
            <a:ext cx="2174138"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المحطة ٧</a:t>
            </a:r>
            <a:endParaRPr lang="ar-SA" sz="1400" dirty="0"/>
          </a:p>
        </p:txBody>
      </p:sp>
      <p:sp>
        <p:nvSpPr>
          <p:cNvPr id="39" name="Text 37"/>
          <p:cNvSpPr/>
          <p:nvPr/>
        </p:nvSpPr>
        <p:spPr>
          <a:xfrm>
            <a:off x="8143037" y="4983480"/>
            <a:ext cx="2174138" cy="658368"/>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صانع الخبراء</a:t>
            </a:r>
            <a:endParaRPr lang="ar-SA" sz="2200" dirty="0"/>
          </a:p>
        </p:txBody>
      </p:sp>
      <p:sp>
        <p:nvSpPr>
          <p:cNvPr id="40" name="Text 3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41" name="Text 3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البداية  ·  ١٤</a:t>
            </a:r>
            <a:endParaRPr lang="ar-SA"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F6EBCF"/>
          </a:solidFill>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الجدول الزمني</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ثلاث ساعات أونلاين</a:t>
            </a:r>
            <a:endParaRPr lang="ar-SA" sz="3800" dirty="0"/>
          </a:p>
        </p:txBody>
      </p:sp>
      <p:sp>
        <p:nvSpPr>
          <p:cNvPr id="5" name="Shape 3"/>
          <p:cNvSpPr/>
          <p:nvPr/>
        </p:nvSpPr>
        <p:spPr>
          <a:xfrm>
            <a:off x="9303471" y="1874520"/>
            <a:ext cx="2065264" cy="548640"/>
          </a:xfrm>
          <a:prstGeom prst="roundRect">
            <a:avLst>
              <a:gd name="adj" fmla="val 20000"/>
            </a:avLst>
          </a:prstGeom>
          <a:solidFill>
            <a:srgbClr val="101B45"/>
          </a:solidFill>
          <a:ln/>
        </p:spPr>
      </p:sp>
      <p:sp>
        <p:nvSpPr>
          <p:cNvPr id="6" name="Text 4"/>
          <p:cNvSpPr/>
          <p:nvPr/>
        </p:nvSpPr>
        <p:spPr>
          <a:xfrm>
            <a:off x="9303471" y="1874520"/>
            <a:ext cx="2065264"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الوقت</a:t>
            </a:r>
            <a:endParaRPr lang="ar-SA" sz="1900" dirty="0"/>
          </a:p>
        </p:txBody>
      </p:sp>
      <p:sp>
        <p:nvSpPr>
          <p:cNvPr id="7" name="Shape 5"/>
          <p:cNvSpPr/>
          <p:nvPr/>
        </p:nvSpPr>
        <p:spPr>
          <a:xfrm>
            <a:off x="4473140" y="1874520"/>
            <a:ext cx="4720603" cy="548640"/>
          </a:xfrm>
          <a:prstGeom prst="roundRect">
            <a:avLst>
              <a:gd name="adj" fmla="val 20000"/>
            </a:avLst>
          </a:prstGeom>
          <a:solidFill>
            <a:srgbClr val="101B45"/>
          </a:solidFill>
          <a:ln/>
        </p:spPr>
      </p:sp>
      <p:sp>
        <p:nvSpPr>
          <p:cNvPr id="8" name="Text 6"/>
          <p:cNvSpPr/>
          <p:nvPr/>
        </p:nvSpPr>
        <p:spPr>
          <a:xfrm>
            <a:off x="4473140" y="1874520"/>
            <a:ext cx="4720603"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المحطة</a:t>
            </a:r>
            <a:endParaRPr lang="ar-SA" sz="1900" dirty="0"/>
          </a:p>
        </p:txBody>
      </p:sp>
      <p:sp>
        <p:nvSpPr>
          <p:cNvPr id="9" name="Shape 7"/>
          <p:cNvSpPr/>
          <p:nvPr/>
        </p:nvSpPr>
        <p:spPr>
          <a:xfrm>
            <a:off x="822960" y="1874520"/>
            <a:ext cx="3540452" cy="548640"/>
          </a:xfrm>
          <a:prstGeom prst="roundRect">
            <a:avLst>
              <a:gd name="adj" fmla="val 20000"/>
            </a:avLst>
          </a:prstGeom>
          <a:solidFill>
            <a:srgbClr val="101B45"/>
          </a:solidFill>
          <a:ln/>
        </p:spPr>
      </p:sp>
      <p:sp>
        <p:nvSpPr>
          <p:cNvPr id="10" name="Text 8"/>
          <p:cNvSpPr/>
          <p:nvPr/>
        </p:nvSpPr>
        <p:spPr>
          <a:xfrm>
            <a:off x="822960" y="1874520"/>
            <a:ext cx="354045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نوع النشاط</a:t>
            </a:r>
            <a:endParaRPr lang="ar-SA" sz="1900" dirty="0"/>
          </a:p>
        </p:txBody>
      </p:sp>
      <p:sp>
        <p:nvSpPr>
          <p:cNvPr id="11" name="anim-g1-33"/>
          <p:cNvSpPr/>
          <p:nvPr/>
        </p:nvSpPr>
        <p:spPr>
          <a:xfrm>
            <a:off x="9303471" y="2514600"/>
            <a:ext cx="2065264" cy="408867"/>
          </a:xfrm>
          <a:prstGeom prst="roundRect">
            <a:avLst>
              <a:gd name="adj" fmla="val 26837"/>
            </a:avLst>
          </a:prstGeom>
          <a:solidFill>
            <a:srgbClr val="FBF3DF"/>
          </a:solidFill>
          <a:ln w="12700">
            <a:solidFill>
              <a:srgbClr val="EFDDAF"/>
            </a:solidFill>
            <a:prstDash val="solid"/>
          </a:ln>
        </p:spPr>
      </p:sp>
      <p:sp>
        <p:nvSpPr>
          <p:cNvPr id="12" name="anim-g1-34"/>
          <p:cNvSpPr/>
          <p:nvPr/>
        </p:nvSpPr>
        <p:spPr>
          <a:xfrm>
            <a:off x="9440631" y="2514600"/>
            <a:ext cx="1790944"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٠:٠٠</a:t>
            </a:r>
            <a:endParaRPr lang="ar-SA" sz="2100" dirty="0"/>
          </a:p>
        </p:txBody>
      </p:sp>
      <p:sp>
        <p:nvSpPr>
          <p:cNvPr id="13" name="anim-g1-35"/>
          <p:cNvSpPr/>
          <p:nvPr/>
        </p:nvSpPr>
        <p:spPr>
          <a:xfrm>
            <a:off x="4473140" y="2514600"/>
            <a:ext cx="4720603" cy="408867"/>
          </a:xfrm>
          <a:prstGeom prst="roundRect">
            <a:avLst>
              <a:gd name="adj" fmla="val 26837"/>
            </a:avLst>
          </a:prstGeom>
          <a:solidFill>
            <a:srgbClr val="FFFFFF"/>
          </a:solidFill>
          <a:ln w="12700">
            <a:solidFill>
              <a:srgbClr val="E4DCC8"/>
            </a:solidFill>
            <a:prstDash val="solid"/>
          </a:ln>
        </p:spPr>
      </p:sp>
      <p:sp>
        <p:nvSpPr>
          <p:cNvPr id="14" name="anim-g1-36"/>
          <p:cNvSpPr/>
          <p:nvPr/>
        </p:nvSpPr>
        <p:spPr>
          <a:xfrm>
            <a:off x="4610300" y="2514600"/>
            <a:ext cx="4446283"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البداية + لماذا وُجد الإشراف؟</a:t>
            </a:r>
            <a:endParaRPr lang="ar-SA" sz="2100" dirty="0"/>
          </a:p>
        </p:txBody>
      </p:sp>
      <p:sp>
        <p:nvSpPr>
          <p:cNvPr id="15" name="anim-g1-37"/>
          <p:cNvSpPr/>
          <p:nvPr/>
        </p:nvSpPr>
        <p:spPr>
          <a:xfrm>
            <a:off x="822960" y="2514600"/>
            <a:ext cx="3540452" cy="408867"/>
          </a:xfrm>
          <a:prstGeom prst="roundRect">
            <a:avLst>
              <a:gd name="adj" fmla="val 26837"/>
            </a:avLst>
          </a:prstGeom>
          <a:solidFill>
            <a:srgbClr val="E6F4EC"/>
          </a:solidFill>
          <a:ln w="12700">
            <a:solidFill>
              <a:srgbClr val="CDE9D9"/>
            </a:solidFill>
            <a:prstDash val="solid"/>
          </a:ln>
        </p:spPr>
      </p:sp>
      <p:sp>
        <p:nvSpPr>
          <p:cNvPr id="16" name="anim-g1-38"/>
          <p:cNvSpPr/>
          <p:nvPr/>
        </p:nvSpPr>
        <p:spPr>
          <a:xfrm>
            <a:off x="960120" y="2514600"/>
            <a:ext cx="3266132"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تصويت حي</a:t>
            </a:r>
            <a:endParaRPr lang="ar-SA" sz="2100" dirty="0"/>
          </a:p>
        </p:txBody>
      </p:sp>
      <p:sp>
        <p:nvSpPr>
          <p:cNvPr id="17" name="anim-g2-39"/>
          <p:cNvSpPr/>
          <p:nvPr/>
        </p:nvSpPr>
        <p:spPr>
          <a:xfrm>
            <a:off x="9303471" y="3033195"/>
            <a:ext cx="2065264" cy="408867"/>
          </a:xfrm>
          <a:prstGeom prst="roundRect">
            <a:avLst>
              <a:gd name="adj" fmla="val 26837"/>
            </a:avLst>
          </a:prstGeom>
          <a:solidFill>
            <a:srgbClr val="FBF3DF"/>
          </a:solidFill>
          <a:ln w="12700">
            <a:solidFill>
              <a:srgbClr val="EFDDAF"/>
            </a:solidFill>
            <a:prstDash val="solid"/>
          </a:ln>
        </p:spPr>
      </p:sp>
      <p:sp>
        <p:nvSpPr>
          <p:cNvPr id="18" name="anim-g2-40"/>
          <p:cNvSpPr/>
          <p:nvPr/>
        </p:nvSpPr>
        <p:spPr>
          <a:xfrm>
            <a:off x="9440631" y="3033195"/>
            <a:ext cx="1790944"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٠:٤٠</a:t>
            </a:r>
            <a:endParaRPr lang="ar-SA" sz="2100" dirty="0"/>
          </a:p>
        </p:txBody>
      </p:sp>
      <p:sp>
        <p:nvSpPr>
          <p:cNvPr id="19" name="anim-g2-41"/>
          <p:cNvSpPr/>
          <p:nvPr/>
        </p:nvSpPr>
        <p:spPr>
          <a:xfrm>
            <a:off x="4473140" y="3033195"/>
            <a:ext cx="4720603" cy="408867"/>
          </a:xfrm>
          <a:prstGeom prst="roundRect">
            <a:avLst>
              <a:gd name="adj" fmla="val 26837"/>
            </a:avLst>
          </a:prstGeom>
          <a:solidFill>
            <a:srgbClr val="FFFFFF"/>
          </a:solidFill>
          <a:ln w="12700">
            <a:solidFill>
              <a:srgbClr val="E4DCC8"/>
            </a:solidFill>
            <a:prstDash val="solid"/>
          </a:ln>
        </p:spPr>
      </p:sp>
      <p:sp>
        <p:nvSpPr>
          <p:cNvPr id="20" name="anim-g2-42"/>
          <p:cNvSpPr/>
          <p:nvPr/>
        </p:nvSpPr>
        <p:spPr>
          <a:xfrm>
            <a:off x="4610300" y="3033195"/>
            <a:ext cx="4446283"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جولة حول العالم</a:t>
            </a:r>
            <a:endParaRPr lang="ar-SA" sz="2100" dirty="0"/>
          </a:p>
        </p:txBody>
      </p:sp>
      <p:sp>
        <p:nvSpPr>
          <p:cNvPr id="21" name="anim-g2-43"/>
          <p:cNvSpPr/>
          <p:nvPr/>
        </p:nvSpPr>
        <p:spPr>
          <a:xfrm>
            <a:off x="822960" y="3033195"/>
            <a:ext cx="3540452" cy="408867"/>
          </a:xfrm>
          <a:prstGeom prst="roundRect">
            <a:avLst>
              <a:gd name="adj" fmla="val 26837"/>
            </a:avLst>
          </a:prstGeom>
          <a:solidFill>
            <a:srgbClr val="E6F4EC"/>
          </a:solidFill>
          <a:ln w="12700">
            <a:solidFill>
              <a:srgbClr val="CDE9D9"/>
            </a:solidFill>
            <a:prstDash val="solid"/>
          </a:ln>
        </p:spPr>
      </p:sp>
      <p:sp>
        <p:nvSpPr>
          <p:cNvPr id="22" name="anim-g2-44"/>
          <p:cNvSpPr/>
          <p:nvPr/>
        </p:nvSpPr>
        <p:spPr>
          <a:xfrm>
            <a:off x="960120" y="3033195"/>
            <a:ext cx="3266132"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نقاش</a:t>
            </a:r>
            <a:endParaRPr lang="ar-SA" sz="2100" dirty="0"/>
          </a:p>
        </p:txBody>
      </p:sp>
      <p:sp>
        <p:nvSpPr>
          <p:cNvPr id="23" name="anim-g3-45"/>
          <p:cNvSpPr/>
          <p:nvPr/>
        </p:nvSpPr>
        <p:spPr>
          <a:xfrm>
            <a:off x="9303471" y="3551791"/>
            <a:ext cx="2065264" cy="408867"/>
          </a:xfrm>
          <a:prstGeom prst="roundRect">
            <a:avLst>
              <a:gd name="adj" fmla="val 26837"/>
            </a:avLst>
          </a:prstGeom>
          <a:solidFill>
            <a:srgbClr val="FBF3DF"/>
          </a:solidFill>
          <a:ln w="12700">
            <a:solidFill>
              <a:srgbClr val="EFDDAF"/>
            </a:solidFill>
            <a:prstDash val="solid"/>
          </a:ln>
        </p:spPr>
      </p:sp>
      <p:sp>
        <p:nvSpPr>
          <p:cNvPr id="24" name="anim-g3-46"/>
          <p:cNvSpPr/>
          <p:nvPr/>
        </p:nvSpPr>
        <p:spPr>
          <a:xfrm>
            <a:off x="9440631" y="3551791"/>
            <a:ext cx="1790944"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١:٠٥</a:t>
            </a:r>
            <a:endParaRPr lang="ar-SA" sz="2100" dirty="0"/>
          </a:p>
        </p:txBody>
      </p:sp>
      <p:sp>
        <p:nvSpPr>
          <p:cNvPr id="25" name="anim-g3-47"/>
          <p:cNvSpPr/>
          <p:nvPr/>
        </p:nvSpPr>
        <p:spPr>
          <a:xfrm>
            <a:off x="4473140" y="3551791"/>
            <a:ext cx="4720603" cy="408867"/>
          </a:xfrm>
          <a:prstGeom prst="roundRect">
            <a:avLst>
              <a:gd name="adj" fmla="val 26837"/>
            </a:avLst>
          </a:prstGeom>
          <a:solidFill>
            <a:srgbClr val="FFFFFF"/>
          </a:solidFill>
          <a:ln w="12700">
            <a:solidFill>
              <a:srgbClr val="E4DCC8"/>
            </a:solidFill>
            <a:prstDash val="solid"/>
          </a:ln>
        </p:spPr>
      </p:sp>
      <p:sp>
        <p:nvSpPr>
          <p:cNvPr id="26" name="anim-g3-48"/>
          <p:cNvSpPr/>
          <p:nvPr/>
        </p:nvSpPr>
        <p:spPr>
          <a:xfrm>
            <a:off x="4610300" y="3551791"/>
            <a:ext cx="4446283"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تشخيص الفجوة</a:t>
            </a:r>
            <a:endParaRPr lang="ar-SA" sz="2100" dirty="0"/>
          </a:p>
        </p:txBody>
      </p:sp>
      <p:sp>
        <p:nvSpPr>
          <p:cNvPr id="27" name="anim-g3-49"/>
          <p:cNvSpPr/>
          <p:nvPr/>
        </p:nvSpPr>
        <p:spPr>
          <a:xfrm>
            <a:off x="822960" y="3551791"/>
            <a:ext cx="3540452" cy="408867"/>
          </a:xfrm>
          <a:prstGeom prst="roundRect">
            <a:avLst>
              <a:gd name="adj" fmla="val 26837"/>
            </a:avLst>
          </a:prstGeom>
          <a:solidFill>
            <a:srgbClr val="E6F4EC"/>
          </a:solidFill>
          <a:ln w="12700">
            <a:solidFill>
              <a:srgbClr val="CDE9D9"/>
            </a:solidFill>
            <a:prstDash val="solid"/>
          </a:ln>
        </p:spPr>
      </p:sp>
      <p:sp>
        <p:nvSpPr>
          <p:cNvPr id="28" name="anim-g3-50"/>
          <p:cNvSpPr/>
          <p:nvPr/>
        </p:nvSpPr>
        <p:spPr>
          <a:xfrm>
            <a:off x="960120" y="3551791"/>
            <a:ext cx="3266132"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غرف جانبية</a:t>
            </a:r>
            <a:endParaRPr lang="ar-SA" sz="2100" dirty="0"/>
          </a:p>
        </p:txBody>
      </p:sp>
      <p:sp>
        <p:nvSpPr>
          <p:cNvPr id="29" name="anim-g4-51"/>
          <p:cNvSpPr/>
          <p:nvPr/>
        </p:nvSpPr>
        <p:spPr>
          <a:xfrm>
            <a:off x="9303471" y="4070386"/>
            <a:ext cx="2065264" cy="408867"/>
          </a:xfrm>
          <a:prstGeom prst="roundRect">
            <a:avLst>
              <a:gd name="adj" fmla="val 26837"/>
            </a:avLst>
          </a:prstGeom>
          <a:solidFill>
            <a:srgbClr val="FBF3DF"/>
          </a:solidFill>
          <a:ln w="12700">
            <a:solidFill>
              <a:srgbClr val="EFDDAF"/>
            </a:solidFill>
            <a:prstDash val="solid"/>
          </a:ln>
        </p:spPr>
      </p:sp>
      <p:sp>
        <p:nvSpPr>
          <p:cNvPr id="30" name="anim-g4-52"/>
          <p:cNvSpPr/>
          <p:nvPr/>
        </p:nvSpPr>
        <p:spPr>
          <a:xfrm>
            <a:off x="9440631" y="4070386"/>
            <a:ext cx="1790944"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١:٣٥</a:t>
            </a:r>
            <a:endParaRPr lang="ar-SA" sz="2100" dirty="0"/>
          </a:p>
        </p:txBody>
      </p:sp>
      <p:sp>
        <p:nvSpPr>
          <p:cNvPr id="31" name="anim-g4-53"/>
          <p:cNvSpPr/>
          <p:nvPr/>
        </p:nvSpPr>
        <p:spPr>
          <a:xfrm>
            <a:off x="4473140" y="4070386"/>
            <a:ext cx="4720603" cy="408867"/>
          </a:xfrm>
          <a:prstGeom prst="roundRect">
            <a:avLst>
              <a:gd name="adj" fmla="val 26837"/>
            </a:avLst>
          </a:prstGeom>
          <a:solidFill>
            <a:srgbClr val="FFFFFF"/>
          </a:solidFill>
          <a:ln w="12700">
            <a:solidFill>
              <a:srgbClr val="E4DCC8"/>
            </a:solidFill>
            <a:prstDash val="solid"/>
          </a:ln>
        </p:spPr>
      </p:sp>
      <p:sp>
        <p:nvSpPr>
          <p:cNvPr id="32" name="anim-g4-54"/>
          <p:cNvSpPr/>
          <p:nvPr/>
        </p:nvSpPr>
        <p:spPr>
          <a:xfrm>
            <a:off x="4610300" y="4070386"/>
            <a:ext cx="4446283"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 استراحة</a:t>
            </a:r>
            <a:endParaRPr lang="ar-SA" sz="2100" dirty="0"/>
          </a:p>
        </p:txBody>
      </p:sp>
      <p:sp>
        <p:nvSpPr>
          <p:cNvPr id="33" name="anim-g4-55"/>
          <p:cNvSpPr/>
          <p:nvPr/>
        </p:nvSpPr>
        <p:spPr>
          <a:xfrm>
            <a:off x="822960" y="4070386"/>
            <a:ext cx="3540452" cy="408867"/>
          </a:xfrm>
          <a:prstGeom prst="roundRect">
            <a:avLst>
              <a:gd name="adj" fmla="val 26837"/>
            </a:avLst>
          </a:prstGeom>
          <a:solidFill>
            <a:srgbClr val="E6F4EC"/>
          </a:solidFill>
          <a:ln w="12700">
            <a:solidFill>
              <a:srgbClr val="CDE9D9"/>
            </a:solidFill>
            <a:prstDash val="solid"/>
          </a:ln>
        </p:spPr>
      </p:sp>
      <p:sp>
        <p:nvSpPr>
          <p:cNvPr id="34" name="anim-g4-56"/>
          <p:cNvSpPr/>
          <p:nvPr/>
        </p:nvSpPr>
        <p:spPr>
          <a:xfrm>
            <a:off x="960120" y="4070386"/>
            <a:ext cx="3266132"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١٠ دقائق</a:t>
            </a:r>
            <a:endParaRPr lang="ar-SA" sz="2100" dirty="0"/>
          </a:p>
        </p:txBody>
      </p:sp>
      <p:sp>
        <p:nvSpPr>
          <p:cNvPr id="35" name="anim-g5-57"/>
          <p:cNvSpPr/>
          <p:nvPr/>
        </p:nvSpPr>
        <p:spPr>
          <a:xfrm>
            <a:off x="9303471" y="4588982"/>
            <a:ext cx="2065264" cy="408867"/>
          </a:xfrm>
          <a:prstGeom prst="roundRect">
            <a:avLst>
              <a:gd name="adj" fmla="val 26837"/>
            </a:avLst>
          </a:prstGeom>
          <a:solidFill>
            <a:srgbClr val="FBF3DF"/>
          </a:solidFill>
          <a:ln w="12700">
            <a:solidFill>
              <a:srgbClr val="EFDDAF"/>
            </a:solidFill>
            <a:prstDash val="solid"/>
          </a:ln>
        </p:spPr>
      </p:sp>
      <p:sp>
        <p:nvSpPr>
          <p:cNvPr id="36" name="anim-g5-58"/>
          <p:cNvSpPr/>
          <p:nvPr/>
        </p:nvSpPr>
        <p:spPr>
          <a:xfrm>
            <a:off x="9440631" y="4588982"/>
            <a:ext cx="1790944"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١:٤٥</a:t>
            </a:r>
            <a:endParaRPr lang="ar-SA" sz="2100" dirty="0"/>
          </a:p>
        </p:txBody>
      </p:sp>
      <p:sp>
        <p:nvSpPr>
          <p:cNvPr id="37" name="anim-g5-59"/>
          <p:cNvSpPr/>
          <p:nvPr/>
        </p:nvSpPr>
        <p:spPr>
          <a:xfrm>
            <a:off x="4473140" y="4588982"/>
            <a:ext cx="4720603" cy="408867"/>
          </a:xfrm>
          <a:prstGeom prst="roundRect">
            <a:avLst>
              <a:gd name="adj" fmla="val 26837"/>
            </a:avLst>
          </a:prstGeom>
          <a:solidFill>
            <a:srgbClr val="FFFFFF"/>
          </a:solidFill>
          <a:ln w="12700">
            <a:solidFill>
              <a:srgbClr val="E4DCC8"/>
            </a:solidFill>
            <a:prstDash val="solid"/>
          </a:ln>
        </p:spPr>
      </p:sp>
      <p:sp>
        <p:nvSpPr>
          <p:cNvPr id="38" name="anim-g5-60"/>
          <p:cNvSpPr/>
          <p:nvPr/>
        </p:nvSpPr>
        <p:spPr>
          <a:xfrm>
            <a:off x="4610300" y="4588982"/>
            <a:ext cx="4446283"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الزيارة التي تطوّر + لغة المشرف</a:t>
            </a:r>
            <a:endParaRPr lang="ar-SA" sz="2100" dirty="0"/>
          </a:p>
        </p:txBody>
      </p:sp>
      <p:sp>
        <p:nvSpPr>
          <p:cNvPr id="39" name="anim-g5-61"/>
          <p:cNvSpPr/>
          <p:nvPr/>
        </p:nvSpPr>
        <p:spPr>
          <a:xfrm>
            <a:off x="822960" y="4588982"/>
            <a:ext cx="3540452" cy="408867"/>
          </a:xfrm>
          <a:prstGeom prst="roundRect">
            <a:avLst>
              <a:gd name="adj" fmla="val 26837"/>
            </a:avLst>
          </a:prstGeom>
          <a:solidFill>
            <a:srgbClr val="E6F4EC"/>
          </a:solidFill>
          <a:ln w="12700">
            <a:solidFill>
              <a:srgbClr val="CDE9D9"/>
            </a:solidFill>
            <a:prstDash val="solid"/>
          </a:ln>
        </p:spPr>
      </p:sp>
      <p:sp>
        <p:nvSpPr>
          <p:cNvPr id="40" name="anim-g5-62"/>
          <p:cNvSpPr/>
          <p:nvPr/>
        </p:nvSpPr>
        <p:spPr>
          <a:xfrm>
            <a:off x="960120" y="4588982"/>
            <a:ext cx="3266132"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لعب أدوار</a:t>
            </a:r>
            <a:endParaRPr lang="ar-SA" sz="2100" dirty="0"/>
          </a:p>
        </p:txBody>
      </p:sp>
      <p:sp>
        <p:nvSpPr>
          <p:cNvPr id="41" name="anim-g6-63"/>
          <p:cNvSpPr/>
          <p:nvPr/>
        </p:nvSpPr>
        <p:spPr>
          <a:xfrm>
            <a:off x="9303471" y="5107577"/>
            <a:ext cx="2065264" cy="408867"/>
          </a:xfrm>
          <a:prstGeom prst="roundRect">
            <a:avLst>
              <a:gd name="adj" fmla="val 26837"/>
            </a:avLst>
          </a:prstGeom>
          <a:solidFill>
            <a:srgbClr val="FBF3DF"/>
          </a:solidFill>
          <a:ln w="12700">
            <a:solidFill>
              <a:srgbClr val="EFDDAF"/>
            </a:solidFill>
            <a:prstDash val="solid"/>
          </a:ln>
        </p:spPr>
      </p:sp>
      <p:sp>
        <p:nvSpPr>
          <p:cNvPr id="42" name="anim-g6-64"/>
          <p:cNvSpPr/>
          <p:nvPr/>
        </p:nvSpPr>
        <p:spPr>
          <a:xfrm>
            <a:off x="9440631" y="5107577"/>
            <a:ext cx="1790944"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٢:٢٥</a:t>
            </a:r>
            <a:endParaRPr lang="ar-SA" sz="2100" dirty="0"/>
          </a:p>
        </p:txBody>
      </p:sp>
      <p:sp>
        <p:nvSpPr>
          <p:cNvPr id="43" name="anim-g6-65"/>
          <p:cNvSpPr/>
          <p:nvPr/>
        </p:nvSpPr>
        <p:spPr>
          <a:xfrm>
            <a:off x="4473140" y="5107577"/>
            <a:ext cx="4720603" cy="408867"/>
          </a:xfrm>
          <a:prstGeom prst="roundRect">
            <a:avLst>
              <a:gd name="adj" fmla="val 26837"/>
            </a:avLst>
          </a:prstGeom>
          <a:solidFill>
            <a:srgbClr val="FFFFFF"/>
          </a:solidFill>
          <a:ln w="12700">
            <a:solidFill>
              <a:srgbClr val="E4DCC8"/>
            </a:solidFill>
            <a:prstDash val="solid"/>
          </a:ln>
        </p:spPr>
      </p:sp>
      <p:sp>
        <p:nvSpPr>
          <p:cNvPr id="44" name="anim-g6-66"/>
          <p:cNvSpPr/>
          <p:nvPr/>
        </p:nvSpPr>
        <p:spPr>
          <a:xfrm>
            <a:off x="4610300" y="5107577"/>
            <a:ext cx="4446283"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علبة الألوان + عيادة المواقف</a:t>
            </a:r>
            <a:endParaRPr lang="ar-SA" sz="2100" dirty="0"/>
          </a:p>
        </p:txBody>
      </p:sp>
      <p:sp>
        <p:nvSpPr>
          <p:cNvPr id="45" name="anim-g6-67"/>
          <p:cNvSpPr/>
          <p:nvPr/>
        </p:nvSpPr>
        <p:spPr>
          <a:xfrm>
            <a:off x="822960" y="5107577"/>
            <a:ext cx="3540452" cy="408867"/>
          </a:xfrm>
          <a:prstGeom prst="roundRect">
            <a:avLst>
              <a:gd name="adj" fmla="val 26837"/>
            </a:avLst>
          </a:prstGeom>
          <a:solidFill>
            <a:srgbClr val="E6F4EC"/>
          </a:solidFill>
          <a:ln w="12700">
            <a:solidFill>
              <a:srgbClr val="CDE9D9"/>
            </a:solidFill>
            <a:prstDash val="solid"/>
          </a:ln>
        </p:spPr>
      </p:sp>
      <p:sp>
        <p:nvSpPr>
          <p:cNvPr id="46" name="anim-g6-68"/>
          <p:cNvSpPr/>
          <p:nvPr/>
        </p:nvSpPr>
        <p:spPr>
          <a:xfrm>
            <a:off x="960120" y="5107577"/>
            <a:ext cx="3266132"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تصويت</a:t>
            </a:r>
            <a:endParaRPr lang="ar-SA" sz="2100" dirty="0"/>
          </a:p>
        </p:txBody>
      </p:sp>
      <p:sp>
        <p:nvSpPr>
          <p:cNvPr id="47" name="anim-g7-69"/>
          <p:cNvSpPr/>
          <p:nvPr/>
        </p:nvSpPr>
        <p:spPr>
          <a:xfrm>
            <a:off x="9303471" y="5626173"/>
            <a:ext cx="2065264" cy="408867"/>
          </a:xfrm>
          <a:prstGeom prst="roundRect">
            <a:avLst>
              <a:gd name="adj" fmla="val 26837"/>
            </a:avLst>
          </a:prstGeom>
          <a:solidFill>
            <a:srgbClr val="FBF3DF"/>
          </a:solidFill>
          <a:ln w="12700">
            <a:solidFill>
              <a:srgbClr val="EFDDAF"/>
            </a:solidFill>
            <a:prstDash val="solid"/>
          </a:ln>
        </p:spPr>
      </p:sp>
      <p:sp>
        <p:nvSpPr>
          <p:cNvPr id="48" name="anim-g7-70"/>
          <p:cNvSpPr/>
          <p:nvPr/>
        </p:nvSpPr>
        <p:spPr>
          <a:xfrm>
            <a:off x="9440631" y="5626173"/>
            <a:ext cx="1790944"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٢:٤٥</a:t>
            </a:r>
            <a:endParaRPr lang="ar-SA" sz="2100" dirty="0"/>
          </a:p>
        </p:txBody>
      </p:sp>
      <p:sp>
        <p:nvSpPr>
          <p:cNvPr id="49" name="anim-g7-71"/>
          <p:cNvSpPr/>
          <p:nvPr/>
        </p:nvSpPr>
        <p:spPr>
          <a:xfrm>
            <a:off x="4473140" y="5626173"/>
            <a:ext cx="4720603" cy="408867"/>
          </a:xfrm>
          <a:prstGeom prst="roundRect">
            <a:avLst>
              <a:gd name="adj" fmla="val 26837"/>
            </a:avLst>
          </a:prstGeom>
          <a:solidFill>
            <a:srgbClr val="FFFFFF"/>
          </a:solidFill>
          <a:ln w="12700">
            <a:solidFill>
              <a:srgbClr val="E4DCC8"/>
            </a:solidFill>
            <a:prstDash val="solid"/>
          </a:ln>
        </p:spPr>
      </p:sp>
      <p:sp>
        <p:nvSpPr>
          <p:cNvPr id="50" name="anim-g7-72"/>
          <p:cNvSpPr/>
          <p:nvPr/>
        </p:nvSpPr>
        <p:spPr>
          <a:xfrm>
            <a:off x="4610300" y="5626173"/>
            <a:ext cx="4446283"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صانع الخبراء + الختام</a:t>
            </a:r>
            <a:endParaRPr lang="ar-SA" sz="2100" dirty="0"/>
          </a:p>
        </p:txBody>
      </p:sp>
      <p:sp>
        <p:nvSpPr>
          <p:cNvPr id="51" name="anim-g7-73"/>
          <p:cNvSpPr/>
          <p:nvPr/>
        </p:nvSpPr>
        <p:spPr>
          <a:xfrm>
            <a:off x="822960" y="5626173"/>
            <a:ext cx="3540452" cy="408867"/>
          </a:xfrm>
          <a:prstGeom prst="roundRect">
            <a:avLst>
              <a:gd name="adj" fmla="val 26837"/>
            </a:avLst>
          </a:prstGeom>
          <a:solidFill>
            <a:srgbClr val="E6F4EC"/>
          </a:solidFill>
          <a:ln w="12700">
            <a:solidFill>
              <a:srgbClr val="CDE9D9"/>
            </a:solidFill>
            <a:prstDash val="solid"/>
          </a:ln>
        </p:spPr>
      </p:sp>
      <p:sp>
        <p:nvSpPr>
          <p:cNvPr id="52" name="anim-g7-74"/>
          <p:cNvSpPr/>
          <p:nvPr/>
        </p:nvSpPr>
        <p:spPr>
          <a:xfrm>
            <a:off x="960120" y="5626173"/>
            <a:ext cx="3266132"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تقييم وتقرير</a:t>
            </a:r>
            <a:endParaRPr lang="ar-SA" sz="2100" dirty="0"/>
          </a:p>
        </p:txBody>
      </p:sp>
      <p:sp>
        <p:nvSpPr>
          <p:cNvPr id="53" name="Text 5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54" name="Text 5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البداية  ·  ١٥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00"/>
                                        <p:tgtEl>
                                          <p:spTgt spid="3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00"/>
                                        <p:tgtEl>
                                          <p:spTgt spid="3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400"/>
                                        <p:tgtEl>
                                          <p:spTgt spid="3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6"/>
                                        </p:tgtEl>
                                        <p:attrNameLst>
                                          <p:attrName>style.visibility</p:attrName>
                                        </p:attrNameLst>
                                      </p:cBhvr>
                                      <p:to>
                                        <p:strVal val="visible"/>
                                      </p:to>
                                    </p:set>
                                    <p:animEffect transition="in" filter="fade">
                                      <p:cBhvr>
                                        <p:cTn id="90" dur="400"/>
                                        <p:tgtEl>
                                          <p:spTgt spid="3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animEffect transition="in" filter="fade">
                                      <p:cBhvr>
                                        <p:cTn id="93" dur="400"/>
                                        <p:tgtEl>
                                          <p:spTgt spid="3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8"/>
                                        </p:tgtEl>
                                        <p:attrNameLst>
                                          <p:attrName>style.visibility</p:attrName>
                                        </p:attrNameLst>
                                      </p:cBhvr>
                                      <p:to>
                                        <p:strVal val="visible"/>
                                      </p:to>
                                    </p:set>
                                    <p:animEffect transition="in" filter="fade">
                                      <p:cBhvr>
                                        <p:cTn id="96" dur="400"/>
                                        <p:tgtEl>
                                          <p:spTgt spid="3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fade">
                                      <p:cBhvr>
                                        <p:cTn id="99" dur="400"/>
                                        <p:tgtEl>
                                          <p:spTgt spid="39"/>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0"/>
                                        </p:tgtEl>
                                        <p:attrNameLst>
                                          <p:attrName>style.visibility</p:attrName>
                                        </p:attrNameLst>
                                      </p:cBhvr>
                                      <p:to>
                                        <p:strVal val="visible"/>
                                      </p:to>
                                    </p:set>
                                    <p:animEffect transition="in" filter="fade">
                                      <p:cBhvr>
                                        <p:cTn id="102" dur="400"/>
                                        <p:tgtEl>
                                          <p:spTgt spid="40"/>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7" dur="400"/>
                                        <p:tgtEl>
                                          <p:spTgt spid="4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2"/>
                                        </p:tgtEl>
                                        <p:attrNameLst>
                                          <p:attrName>style.visibility</p:attrName>
                                        </p:attrNameLst>
                                      </p:cBhvr>
                                      <p:to>
                                        <p:strVal val="visible"/>
                                      </p:to>
                                    </p:set>
                                    <p:animEffect transition="in" filter="fade">
                                      <p:cBhvr>
                                        <p:cTn id="110" dur="400"/>
                                        <p:tgtEl>
                                          <p:spTgt spid="4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3"/>
                                        </p:tgtEl>
                                        <p:attrNameLst>
                                          <p:attrName>style.visibility</p:attrName>
                                        </p:attrNameLst>
                                      </p:cBhvr>
                                      <p:to>
                                        <p:strVal val="visible"/>
                                      </p:to>
                                    </p:set>
                                    <p:animEffect transition="in" filter="fade">
                                      <p:cBhvr>
                                        <p:cTn id="113" dur="400"/>
                                        <p:tgtEl>
                                          <p:spTgt spid="4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4"/>
                                        </p:tgtEl>
                                        <p:attrNameLst>
                                          <p:attrName>style.visibility</p:attrName>
                                        </p:attrNameLst>
                                      </p:cBhvr>
                                      <p:to>
                                        <p:strVal val="visible"/>
                                      </p:to>
                                    </p:set>
                                    <p:animEffect transition="in" filter="fade">
                                      <p:cBhvr>
                                        <p:cTn id="116" dur="400"/>
                                        <p:tgtEl>
                                          <p:spTgt spid="44"/>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9" dur="400"/>
                                        <p:tgtEl>
                                          <p:spTgt spid="45"/>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6"/>
                                        </p:tgtEl>
                                        <p:attrNameLst>
                                          <p:attrName>style.visibility</p:attrName>
                                        </p:attrNameLst>
                                      </p:cBhvr>
                                      <p:to>
                                        <p:strVal val="visible"/>
                                      </p:to>
                                    </p:set>
                                    <p:animEffect transition="in" filter="fade">
                                      <p:cBhvr>
                                        <p:cTn id="122" dur="400"/>
                                        <p:tgtEl>
                                          <p:spTgt spid="46"/>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47"/>
                                        </p:tgtEl>
                                        <p:attrNameLst>
                                          <p:attrName>style.visibility</p:attrName>
                                        </p:attrNameLst>
                                      </p:cBhvr>
                                      <p:to>
                                        <p:strVal val="visible"/>
                                      </p:to>
                                    </p:set>
                                    <p:animEffect transition="in" filter="fade">
                                      <p:cBhvr>
                                        <p:cTn id="127" dur="400"/>
                                        <p:tgtEl>
                                          <p:spTgt spid="47"/>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8"/>
                                        </p:tgtEl>
                                        <p:attrNameLst>
                                          <p:attrName>style.visibility</p:attrName>
                                        </p:attrNameLst>
                                      </p:cBhvr>
                                      <p:to>
                                        <p:strVal val="visible"/>
                                      </p:to>
                                    </p:set>
                                    <p:animEffect transition="in" filter="fade">
                                      <p:cBhvr>
                                        <p:cTn id="130" dur="400"/>
                                        <p:tgtEl>
                                          <p:spTgt spid="48"/>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9"/>
                                        </p:tgtEl>
                                        <p:attrNameLst>
                                          <p:attrName>style.visibility</p:attrName>
                                        </p:attrNameLst>
                                      </p:cBhvr>
                                      <p:to>
                                        <p:strVal val="visible"/>
                                      </p:to>
                                    </p:set>
                                    <p:animEffect transition="in" filter="fade">
                                      <p:cBhvr>
                                        <p:cTn id="133" dur="400"/>
                                        <p:tgtEl>
                                          <p:spTgt spid="49"/>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50"/>
                                        </p:tgtEl>
                                        <p:attrNameLst>
                                          <p:attrName>style.visibility</p:attrName>
                                        </p:attrNameLst>
                                      </p:cBhvr>
                                      <p:to>
                                        <p:strVal val="visible"/>
                                      </p:to>
                                    </p:set>
                                    <p:animEffect transition="in" filter="fade">
                                      <p:cBhvr>
                                        <p:cTn id="136" dur="400"/>
                                        <p:tgtEl>
                                          <p:spTgt spid="50"/>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1"/>
                                        </p:tgtEl>
                                        <p:attrNameLst>
                                          <p:attrName>style.visibility</p:attrName>
                                        </p:attrNameLst>
                                      </p:cBhvr>
                                      <p:to>
                                        <p:strVal val="visible"/>
                                      </p:to>
                                    </p:set>
                                    <p:animEffect transition="in" filter="fade">
                                      <p:cBhvr>
                                        <p:cTn id="139" dur="400"/>
                                        <p:tgtEl>
                                          <p:spTgt spid="51"/>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2"/>
                                        </p:tgtEl>
                                        <p:attrNameLst>
                                          <p:attrName>style.visibility</p:attrName>
                                        </p:attrNameLst>
                                      </p:cBhvr>
                                      <p:to>
                                        <p:strVal val="visible"/>
                                      </p:to>
                                    </p:set>
                                    <p:animEffect transition="in" filter="fade">
                                      <p:cBhvr>
                                        <p:cTn id="142"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المحطة ١</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لماذا وُجد الإشراف؟</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قبل أن نسأل «كيف نزور»… نسأل «لماذا نزور»</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لماذا وُجد الإشراف؟  ·  ١٦</a:t>
            </a:r>
            <a:endParaRPr lang="ar-SA"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320479" y="457200"/>
            <a:ext cx="2048256" cy="457200"/>
          </a:xfrm>
          <a:prstGeom prst="roundRect">
            <a:avLst>
              <a:gd name="adj" fmla="val 50000"/>
            </a:avLst>
          </a:prstGeom>
          <a:solidFill>
            <a:srgbClr val="F6EBCF"/>
          </a:solidFill>
          <a:ln/>
        </p:spPr>
      </p:sp>
      <p:sp>
        <p:nvSpPr>
          <p:cNvPr id="3" name="Text 1"/>
          <p:cNvSpPr/>
          <p:nvPr/>
        </p:nvSpPr>
        <p:spPr>
          <a:xfrm>
            <a:off x="9320479" y="457200"/>
            <a:ext cx="20482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صوّت بصدق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أيّ هذه أقرب لما حدث في آخر زيارة قمت بها؟</a:t>
            </a:r>
            <a:endParaRPr lang="ar-SA" sz="32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رصدتُ الملاحظات والأخطاء وكتبتُ تقريري</a:t>
            </a:r>
            <a:endParaRPr lang="ar-SA" sz="2200" dirty="0"/>
          </a:p>
        </p:txBody>
      </p:sp>
      <p:sp>
        <p:nvSpPr>
          <p:cNvPr id="9" name="anim-g1-75"/>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76"/>
          <p:cNvSpPr/>
          <p:nvPr/>
        </p:nvSpPr>
        <p:spPr>
          <a:xfrm>
            <a:off x="10575493" y="2194560"/>
            <a:ext cx="610362" cy="610362"/>
          </a:xfrm>
          <a:prstGeom prst="roundRect">
            <a:avLst>
              <a:gd name="adj" fmla="val 17978"/>
            </a:avLst>
          </a:prstGeom>
          <a:solidFill>
            <a:srgbClr val="A3A9BA"/>
          </a:solidFill>
          <a:ln/>
        </p:spPr>
      </p:sp>
      <p:sp>
        <p:nvSpPr>
          <p:cNvPr id="11" name="anim-g1-77"/>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78"/>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رصدتُ الملاحظات والأخطاء وكتبتُ تقريري</a:t>
            </a:r>
            <a:endParaRPr lang="ar-SA" sz="2200" dirty="0"/>
          </a:p>
        </p:txBody>
      </p:sp>
      <p:sp>
        <p:nvSpPr>
          <p:cNvPr id="13" name="Shape 11"/>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4" name="Shape 12"/>
          <p:cNvSpPr/>
          <p:nvPr/>
        </p:nvSpPr>
        <p:spPr>
          <a:xfrm>
            <a:off x="10575493" y="3225546"/>
            <a:ext cx="610362" cy="610362"/>
          </a:xfrm>
          <a:prstGeom prst="roundRect">
            <a:avLst>
              <a:gd name="adj" fmla="val 17978"/>
            </a:avLst>
          </a:prstGeom>
          <a:solidFill>
            <a:srgbClr val="101B45"/>
          </a:solidFill>
          <a:ln/>
        </p:spPr>
      </p:sp>
      <p:sp>
        <p:nvSpPr>
          <p:cNvPr id="15" name="Text 13"/>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6" name="Text 14"/>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أخبرتُ المعلم بما يجب أن يفعله</a:t>
            </a:r>
            <a:endParaRPr lang="ar-SA" sz="2200" dirty="0"/>
          </a:p>
        </p:txBody>
      </p:sp>
      <p:sp>
        <p:nvSpPr>
          <p:cNvPr id="17" name="anim-g1-79"/>
          <p:cNvSpPr/>
          <p:nvPr/>
        </p:nvSpPr>
        <p:spPr>
          <a:xfrm>
            <a:off x="822960" y="3088386"/>
            <a:ext cx="10545775" cy="884682"/>
          </a:xfrm>
          <a:prstGeom prst="roundRect">
            <a:avLst>
              <a:gd name="adj" fmla="val 16537"/>
            </a:avLst>
          </a:prstGeom>
          <a:solidFill>
            <a:srgbClr val="F7F7F9"/>
          </a:solidFill>
          <a:ln w="19050">
            <a:solidFill>
              <a:srgbClr val="E4DCC8"/>
            </a:solidFill>
            <a:prstDash val="solid"/>
          </a:ln>
        </p:spPr>
      </p:sp>
      <p:sp>
        <p:nvSpPr>
          <p:cNvPr id="18" name="anim-g1-80"/>
          <p:cNvSpPr/>
          <p:nvPr/>
        </p:nvSpPr>
        <p:spPr>
          <a:xfrm>
            <a:off x="10575493" y="3225546"/>
            <a:ext cx="610362" cy="610362"/>
          </a:xfrm>
          <a:prstGeom prst="roundRect">
            <a:avLst>
              <a:gd name="adj" fmla="val 17978"/>
            </a:avLst>
          </a:prstGeom>
          <a:solidFill>
            <a:srgbClr val="A3A9BA"/>
          </a:solidFill>
          <a:ln/>
        </p:spPr>
      </p:sp>
      <p:sp>
        <p:nvSpPr>
          <p:cNvPr id="19" name="anim-g1-81"/>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20" name="anim-g1-82"/>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أخبرتُ المعلم بما يجب أن يفعله</a:t>
            </a:r>
            <a:endParaRPr lang="ar-SA" sz="2200" dirty="0"/>
          </a:p>
        </p:txBody>
      </p:sp>
      <p:sp>
        <p:nvSpPr>
          <p:cNvPr id="21" name="Shape 19"/>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2" name="Shape 20"/>
          <p:cNvSpPr/>
          <p:nvPr/>
        </p:nvSpPr>
        <p:spPr>
          <a:xfrm>
            <a:off x="10575493" y="4256532"/>
            <a:ext cx="610362" cy="610362"/>
          </a:xfrm>
          <a:prstGeom prst="roundRect">
            <a:avLst>
              <a:gd name="adj" fmla="val 17978"/>
            </a:avLst>
          </a:prstGeom>
          <a:solidFill>
            <a:srgbClr val="101B45"/>
          </a:solidFill>
          <a:ln/>
        </p:spPr>
      </p:sp>
      <p:sp>
        <p:nvSpPr>
          <p:cNvPr id="23" name="Text 21"/>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4" name="Text 22"/>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اتفقنا معًا على مهارة واحدة يطوّرها وموعد للمتابعة</a:t>
            </a:r>
            <a:endParaRPr lang="ar-SA" sz="2200" dirty="0"/>
          </a:p>
        </p:txBody>
      </p:sp>
      <p:sp>
        <p:nvSpPr>
          <p:cNvPr id="25" name="anim-g1-83"/>
          <p:cNvSpPr/>
          <p:nvPr/>
        </p:nvSpPr>
        <p:spPr>
          <a:xfrm>
            <a:off x="822960" y="4119372"/>
            <a:ext cx="10545775" cy="884682"/>
          </a:xfrm>
          <a:prstGeom prst="roundRect">
            <a:avLst>
              <a:gd name="adj" fmla="val 16537"/>
            </a:avLst>
          </a:prstGeom>
          <a:solidFill>
            <a:srgbClr val="F7F7F9"/>
          </a:solidFill>
          <a:ln w="19050">
            <a:solidFill>
              <a:srgbClr val="E4DCC8"/>
            </a:solidFill>
            <a:prstDash val="solid"/>
          </a:ln>
        </p:spPr>
      </p:sp>
      <p:sp>
        <p:nvSpPr>
          <p:cNvPr id="26" name="anim-g1-84"/>
          <p:cNvSpPr/>
          <p:nvPr/>
        </p:nvSpPr>
        <p:spPr>
          <a:xfrm>
            <a:off x="10575493" y="4256532"/>
            <a:ext cx="610362" cy="610362"/>
          </a:xfrm>
          <a:prstGeom prst="roundRect">
            <a:avLst>
              <a:gd name="adj" fmla="val 17978"/>
            </a:avLst>
          </a:prstGeom>
          <a:solidFill>
            <a:srgbClr val="A3A9BA"/>
          </a:solidFill>
          <a:ln/>
        </p:spPr>
      </p:sp>
      <p:sp>
        <p:nvSpPr>
          <p:cNvPr id="27" name="anim-g1-85"/>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8" name="anim-g1-86"/>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اتفقنا معًا على مهارة واحدة يطوّرها وموعد للمتابعة</a:t>
            </a:r>
            <a:endParaRPr lang="ar-SA" sz="2200" dirty="0"/>
          </a:p>
        </p:txBody>
      </p:sp>
      <p:sp>
        <p:nvSpPr>
          <p:cNvPr id="29" name="Shape 27"/>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0" name="Shape 28"/>
          <p:cNvSpPr/>
          <p:nvPr/>
        </p:nvSpPr>
        <p:spPr>
          <a:xfrm>
            <a:off x="10575493" y="5287518"/>
            <a:ext cx="610362" cy="610362"/>
          </a:xfrm>
          <a:prstGeom prst="roundRect">
            <a:avLst>
              <a:gd name="adj" fmla="val 17978"/>
            </a:avLst>
          </a:prstGeom>
          <a:solidFill>
            <a:srgbClr val="101B45"/>
          </a:solidFill>
          <a:ln/>
        </p:spPr>
      </p:sp>
      <p:sp>
        <p:nvSpPr>
          <p:cNvPr id="31" name="Text 29"/>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2" name="Text 30"/>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لم أزر أحدًا منذ مدة… انشغلتُ بالأعمال المكتبية</a:t>
            </a:r>
            <a:endParaRPr lang="ar-SA" sz="2200" dirty="0"/>
          </a:p>
        </p:txBody>
      </p:sp>
      <p:sp>
        <p:nvSpPr>
          <p:cNvPr id="33" name="anim-g1-87"/>
          <p:cNvSpPr/>
          <p:nvPr/>
        </p:nvSpPr>
        <p:spPr>
          <a:xfrm>
            <a:off x="822960" y="5150358"/>
            <a:ext cx="10545775" cy="884682"/>
          </a:xfrm>
          <a:prstGeom prst="roundRect">
            <a:avLst>
              <a:gd name="adj" fmla="val 16537"/>
            </a:avLst>
          </a:prstGeom>
          <a:solidFill>
            <a:srgbClr val="F7F7F9"/>
          </a:solidFill>
          <a:ln w="19050">
            <a:solidFill>
              <a:srgbClr val="E4DCC8"/>
            </a:solidFill>
            <a:prstDash val="solid"/>
          </a:ln>
        </p:spPr>
      </p:sp>
      <p:sp>
        <p:nvSpPr>
          <p:cNvPr id="34" name="anim-g1-88"/>
          <p:cNvSpPr/>
          <p:nvPr/>
        </p:nvSpPr>
        <p:spPr>
          <a:xfrm>
            <a:off x="10575493" y="5287518"/>
            <a:ext cx="610362" cy="610362"/>
          </a:xfrm>
          <a:prstGeom prst="roundRect">
            <a:avLst>
              <a:gd name="adj" fmla="val 17978"/>
            </a:avLst>
          </a:prstGeom>
          <a:solidFill>
            <a:srgbClr val="A3A9BA"/>
          </a:solidFill>
          <a:ln/>
        </p:spPr>
      </p:sp>
      <p:sp>
        <p:nvSpPr>
          <p:cNvPr id="35" name="anim-g1-89"/>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6" name="anim-g1-90"/>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لم أزر أحدًا منذ مدة… انشغلتُ بالأعمال المكتبية</a:t>
            </a:r>
            <a:endParaRPr lang="ar-SA" sz="2200" dirty="0"/>
          </a:p>
        </p:txBody>
      </p:sp>
      <p:sp>
        <p:nvSpPr>
          <p:cNvPr id="37" name="Text 3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38" name="Text 3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لماذا وُجد الإشراف؟  ·  ١٧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7" grpId="0" animBg="1"/>
      <p:bldP spid="18" grpId="0" animBg="1"/>
      <p:bldP spid="19" grpId="0" animBg="1"/>
      <p:bldP spid="20" grpId="0" animBg="1"/>
      <p:bldP spid="25" grpId="0" animBg="1"/>
      <p:bldP spid="26" grpId="0" animBg="1"/>
      <p:bldP spid="27" grpId="0" animBg="1"/>
      <p:bldP spid="28" grpId="0" animBg="1"/>
      <p:bldP spid="33" grpId="0" animBg="1"/>
      <p:bldP spid="34" grpId="0" animBg="1"/>
      <p:bldP spid="35" grpId="0" animBg="1"/>
      <p:bldP spid="3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Users/mac/dev/younes-training/ishraf/.pptx-cache/s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Users/mac/dev/younes-training/ishraf/.pptx-cache/s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91" descr="/Users/mac/dev/younes-training/ishraf/assets/media/canteen.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v/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5498287" y="365760"/>
            <a:ext cx="6144768"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5498287" y="365760"/>
            <a:ext cx="6144768"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المشرف الذي ذهب إلى المقصف</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كان مديرو المدارس يشتكون من مشرف واحد: «زيارته منفّرة». فقرر مدير الإشراف أن يرافقه في زيارة ليرى بنفسه.</a:t>
            </a:r>
            <a:endParaRPr lang="ar-SA" sz="2400" dirty="0"/>
          </a:p>
        </p:txBody>
      </p:sp>
      <p:sp>
        <p:nvSpPr>
          <p:cNvPr id="8" name="anim-g1-9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9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دخلا من باب المدرسة معًا. ذهب مدير الإشراف إلى مكتب المدير ليسلّم ويستأذن… وجلس عشر دقائق ينتظر زميله، فلم يأتِ.</a:t>
            </a:r>
            <a:endParaRPr lang="ar-SA" sz="2400" dirty="0"/>
          </a:p>
        </p:txBody>
      </p:sp>
      <p:sp>
        <p:nvSpPr>
          <p:cNvPr id="10" name="anim-g2-94"/>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95"/>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سأل المدير: أين ذهب؟ فابتسم المدير وقال: «أكيد في المقصف… يفتّش على رخص العمّال، وهل غيّروا زيت القلي».</a:t>
            </a:r>
            <a:endParaRPr lang="ar-SA" sz="2400" dirty="0"/>
          </a:p>
        </p:txBody>
      </p:sp>
      <p:sp>
        <p:nvSpPr>
          <p:cNvPr id="12" name="anim-g3-96"/>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97"/>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وبعد نصف ساعة وصل المشرف منتصرًا، في يده بطاقات العمّال، يقول: «اكتشفتُ أنهم لم يغيّروا الزيت حتى الآن!».</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لماذا وُجد الإشراف؟  ·  ٢٠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05960" y="1188720"/>
            <a:ext cx="277977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705960" y="118872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الدرس من القصة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التفتيش يكشف العيب…</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لكنه لا يعالجه</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لماذا وُجد الإشراف؟  ·  ٢١</a:t>
            </a:r>
            <a:endParaRPr lang="ar-SA"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98" descr="/Users/mac/dev/younes-training/ishraf/assets/media/desert.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v/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5351983" y="365760"/>
            <a:ext cx="6291072"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5351983" y="365760"/>
            <a:ext cx="6291072"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الحصة التي خرجت إلى الصحراء</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مدرسة نائية في قرية بعيدة، بلا سور ولا كهرباء. معلم تاريخ شاب يريد أن يدرّس غزوتي بدر وأُحد بطريقة مختلفة.</a:t>
            </a:r>
            <a:endParaRPr lang="ar-SA" sz="2400" dirty="0"/>
          </a:p>
        </p:txBody>
      </p:sp>
      <p:sp>
        <p:nvSpPr>
          <p:cNvPr id="8" name="anim-g1-99"/>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100"/>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اتفق مع طلابه أسبوعًا كاملًا: سنمثّل المعركة على الرمال. جبل الرماة كثيب رملي، والطلاب الكبار قادة، والصغار جنود.</a:t>
            </a:r>
            <a:endParaRPr lang="ar-SA" sz="2400" dirty="0"/>
          </a:p>
        </p:txBody>
      </p:sp>
      <p:sp>
        <p:nvSpPr>
          <p:cNvPr id="10" name="anim-g2-101"/>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102"/>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وفي يوم التمثيل… وصل المشرف. وجد المعلم ملثّمًا في الصحراء يصيح مع طلابه، فطلب منه أن يُرجع الطلاب إلى الصف فورًا.</a:t>
            </a:r>
            <a:endParaRPr lang="ar-SA" sz="2600" dirty="0"/>
          </a:p>
        </p:txBody>
      </p:sp>
      <p:sp>
        <p:nvSpPr>
          <p:cNvPr id="12" name="Text 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13" name="Text 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لماذا وُجد الإشراف؟  ·  ٢٢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03" descr="/Users/mac/dev/younes-training/ishraf/assets/media/desert.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v/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4766767" y="365760"/>
            <a:ext cx="6876288"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4766767" y="365760"/>
            <a:ext cx="6876288"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الحصة التي خرجت إلى الصحراء (٢)</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رفض المعلم بلطف وأكمل. ثم دخل المشرف الصف وناقش الطلاب، فأجابوا عن كل سؤال، وحلّوا الواجب كاملًا.</a:t>
            </a:r>
            <a:endParaRPr lang="ar-SA" sz="2400" dirty="0"/>
          </a:p>
        </p:txBody>
      </p:sp>
      <p:sp>
        <p:nvSpPr>
          <p:cNvPr id="8" name="anim-g1-104"/>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105"/>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ومع ذلك: حصل المعلم على ٩٤، وزميله الذي شرح على السبورة على ٩٩. والسبب المكتوب: «لم يستخدم السبورة، ولم يشرح».</a:t>
            </a:r>
            <a:endParaRPr lang="ar-SA" sz="2400" dirty="0"/>
          </a:p>
        </p:txBody>
      </p:sp>
      <p:sp>
        <p:nvSpPr>
          <p:cNvPr id="10" name="anim-g2-106"/>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107"/>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بعد سنوات أصبح المعلم نفسه مشرفًا، والتقى بذلك المشرف وسأله: لماذا خصمت درجاتي؟ فأجاب بصدق: «ما تعوّدت».</a:t>
            </a:r>
            <a:endParaRPr lang="ar-SA" sz="2600" dirty="0"/>
          </a:p>
        </p:txBody>
      </p:sp>
      <p:sp>
        <p:nvSpPr>
          <p:cNvPr id="12" name="Text 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13" name="Text 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لماذا وُجد الإشراف؟  ·  ٢٣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صوّت قبل أن نكشف</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 السبب الحقيقي لخصم الدرجات؟</a:t>
            </a:r>
            <a:endParaRPr lang="ar-SA" sz="38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لأنه لم يستخدم السبورة</a:t>
            </a:r>
            <a:endParaRPr lang="ar-SA" sz="2200" dirty="0"/>
          </a:p>
        </p:txBody>
      </p:sp>
      <p:sp>
        <p:nvSpPr>
          <p:cNvPr id="9" name="anim-g1-108"/>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109"/>
          <p:cNvSpPr/>
          <p:nvPr/>
        </p:nvSpPr>
        <p:spPr>
          <a:xfrm>
            <a:off x="10575493" y="2194560"/>
            <a:ext cx="610362" cy="610362"/>
          </a:xfrm>
          <a:prstGeom prst="roundRect">
            <a:avLst>
              <a:gd name="adj" fmla="val 17978"/>
            </a:avLst>
          </a:prstGeom>
          <a:solidFill>
            <a:srgbClr val="A3A9BA"/>
          </a:solidFill>
          <a:ln/>
        </p:spPr>
      </p:sp>
      <p:sp>
        <p:nvSpPr>
          <p:cNvPr id="11" name="anim-g1-110"/>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111"/>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لأنه لم يستخدم السبورة</a:t>
            </a:r>
            <a:endParaRPr lang="ar-SA" sz="2200" dirty="0"/>
          </a:p>
        </p:txBody>
      </p:sp>
      <p:sp>
        <p:nvSpPr>
          <p:cNvPr id="13" name="anim-g1-112"/>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السبورة وسيلة لا هدف</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لأنه لم يشرح الدرس</a:t>
            </a:r>
            <a:endParaRPr lang="ar-SA" sz="2200" dirty="0"/>
          </a:p>
        </p:txBody>
      </p:sp>
      <p:sp>
        <p:nvSpPr>
          <p:cNvPr id="18" name="anim-g1-113"/>
          <p:cNvSpPr/>
          <p:nvPr/>
        </p:nvSpPr>
        <p:spPr>
          <a:xfrm>
            <a:off x="822960" y="3088386"/>
            <a:ext cx="10545775" cy="884682"/>
          </a:xfrm>
          <a:prstGeom prst="roundRect">
            <a:avLst>
              <a:gd name="adj" fmla="val 16537"/>
            </a:avLst>
          </a:prstGeom>
          <a:solidFill>
            <a:srgbClr val="F7F7F9"/>
          </a:solidFill>
          <a:ln w="19050">
            <a:solidFill>
              <a:srgbClr val="E4DCC8"/>
            </a:solidFill>
            <a:prstDash val="solid"/>
          </a:ln>
        </p:spPr>
      </p:sp>
      <p:sp>
        <p:nvSpPr>
          <p:cNvPr id="19" name="anim-g1-114"/>
          <p:cNvSpPr/>
          <p:nvPr/>
        </p:nvSpPr>
        <p:spPr>
          <a:xfrm>
            <a:off x="10575493" y="3225546"/>
            <a:ext cx="610362" cy="610362"/>
          </a:xfrm>
          <a:prstGeom prst="roundRect">
            <a:avLst>
              <a:gd name="adj" fmla="val 17978"/>
            </a:avLst>
          </a:prstGeom>
          <a:solidFill>
            <a:srgbClr val="A3A9BA"/>
          </a:solidFill>
          <a:ln/>
        </p:spPr>
      </p:sp>
      <p:sp>
        <p:nvSpPr>
          <p:cNvPr id="20" name="anim-g1-115"/>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21" name="anim-g1-116"/>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لأنه لم يشرح الدرس</a:t>
            </a:r>
            <a:endParaRPr lang="ar-SA" sz="2200" dirty="0"/>
          </a:p>
        </p:txBody>
      </p:sp>
      <p:sp>
        <p:nvSpPr>
          <p:cNvPr id="22" name="anim-g1-117"/>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الطلاب فهموا دون شرح تقليدي</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لأن الطلاب لم يتعلموا</a:t>
            </a:r>
            <a:endParaRPr lang="ar-SA" sz="2200" dirty="0"/>
          </a:p>
        </p:txBody>
      </p:sp>
      <p:sp>
        <p:nvSpPr>
          <p:cNvPr id="27" name="anim-g1-118"/>
          <p:cNvSpPr/>
          <p:nvPr/>
        </p:nvSpPr>
        <p:spPr>
          <a:xfrm>
            <a:off x="822960" y="4119372"/>
            <a:ext cx="10545775" cy="884682"/>
          </a:xfrm>
          <a:prstGeom prst="roundRect">
            <a:avLst>
              <a:gd name="adj" fmla="val 16537"/>
            </a:avLst>
          </a:prstGeom>
          <a:solidFill>
            <a:srgbClr val="F7F7F9"/>
          </a:solidFill>
          <a:ln w="19050">
            <a:solidFill>
              <a:srgbClr val="E4DCC8"/>
            </a:solidFill>
            <a:prstDash val="solid"/>
          </a:ln>
        </p:spPr>
      </p:sp>
      <p:sp>
        <p:nvSpPr>
          <p:cNvPr id="28" name="anim-g1-119"/>
          <p:cNvSpPr/>
          <p:nvPr/>
        </p:nvSpPr>
        <p:spPr>
          <a:xfrm>
            <a:off x="10575493" y="4256532"/>
            <a:ext cx="610362" cy="610362"/>
          </a:xfrm>
          <a:prstGeom prst="roundRect">
            <a:avLst>
              <a:gd name="adj" fmla="val 17978"/>
            </a:avLst>
          </a:prstGeom>
          <a:solidFill>
            <a:srgbClr val="A3A9BA"/>
          </a:solidFill>
          <a:ln/>
        </p:spPr>
      </p:sp>
      <p:sp>
        <p:nvSpPr>
          <p:cNvPr id="29" name="anim-g1-120"/>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30" name="anim-g1-121"/>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لأن الطلاب لم يتعلموا</a:t>
            </a:r>
            <a:endParaRPr lang="ar-SA" sz="2200" dirty="0"/>
          </a:p>
        </p:txBody>
      </p:sp>
      <p:sp>
        <p:nvSpPr>
          <p:cNvPr id="31" name="anim-g1-122"/>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العكس: أجابوا عن كل سؤال</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لأن المشرف قيّمه بما تعوّد عليه هو</a:t>
            </a:r>
            <a:endParaRPr lang="ar-SA" sz="2200" dirty="0"/>
          </a:p>
        </p:txBody>
      </p:sp>
      <p:sp>
        <p:nvSpPr>
          <p:cNvPr id="36" name="anim-g1-123"/>
          <p:cNvSpPr/>
          <p:nvPr/>
        </p:nvSpPr>
        <p:spPr>
          <a:xfrm>
            <a:off x="822960" y="5150358"/>
            <a:ext cx="10545775" cy="884682"/>
          </a:xfrm>
          <a:prstGeom prst="roundRect">
            <a:avLst>
              <a:gd name="adj" fmla="val 16537"/>
            </a:avLst>
          </a:prstGeom>
          <a:solidFill>
            <a:srgbClr val="E6F4EC"/>
          </a:solidFill>
          <a:ln w="31750">
            <a:solidFill>
              <a:srgbClr val="2E9E6B"/>
            </a:solidFill>
            <a:prstDash val="solid"/>
          </a:ln>
        </p:spPr>
      </p:sp>
      <p:sp>
        <p:nvSpPr>
          <p:cNvPr id="37" name="anim-g1-124"/>
          <p:cNvSpPr/>
          <p:nvPr/>
        </p:nvSpPr>
        <p:spPr>
          <a:xfrm>
            <a:off x="10575493" y="5287518"/>
            <a:ext cx="610362" cy="610362"/>
          </a:xfrm>
          <a:prstGeom prst="roundRect">
            <a:avLst>
              <a:gd name="adj" fmla="val 17978"/>
            </a:avLst>
          </a:prstGeom>
          <a:solidFill>
            <a:srgbClr val="2E9E6B"/>
          </a:solidFill>
          <a:ln/>
        </p:spPr>
      </p:sp>
      <p:sp>
        <p:nvSpPr>
          <p:cNvPr id="38" name="anim-g1-125"/>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39" name="anim-g1-126"/>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لأن المشرف قيّمه بما تعوّد عليه هو</a:t>
            </a:r>
            <a:endParaRPr lang="ar-SA" sz="2200" dirty="0"/>
          </a:p>
        </p:txBody>
      </p:sp>
      <p:sp>
        <p:nvSpPr>
          <p:cNvPr id="40" name="anim-g1-127"/>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لم تكن هناك معايير متفق عليها… فحكم بعادته</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لماذا وُجد الإشراف؟  ·  ٢٤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05960" y="1188720"/>
            <a:ext cx="277977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705960" y="118872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الدرس من القصة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حين نقيّم بما تعوّدنا…</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نعاقب من يجدّد</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لماذا وُجد الإشراف؟  ·  ٢٥</a:t>
            </a:r>
            <a:endParaRPr lang="ar-SA"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564831" y="457200"/>
            <a:ext cx="3803904" cy="457200"/>
          </a:xfrm>
          <a:prstGeom prst="roundRect">
            <a:avLst>
              <a:gd name="adj" fmla="val 50000"/>
            </a:avLst>
          </a:prstGeom>
          <a:solidFill>
            <a:srgbClr val="F6EBCF"/>
          </a:solidFill>
          <a:ln/>
        </p:spPr>
      </p:sp>
      <p:sp>
        <p:nvSpPr>
          <p:cNvPr id="3" name="Text 1"/>
          <p:cNvSpPr/>
          <p:nvPr/>
        </p:nvSpPr>
        <p:spPr>
          <a:xfrm>
            <a:off x="7564831" y="457200"/>
            <a:ext cx="380390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ماذا تفترض عن المعلم؟</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ثلاث نظريات… ثلاثة أنواع من المشرفين</a:t>
            </a:r>
            <a:endParaRPr lang="ar-SA" sz="3200" dirty="0"/>
          </a:p>
        </p:txBody>
      </p:sp>
      <p:sp>
        <p:nvSpPr>
          <p:cNvPr id="5" name="anim-g1-128"/>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29"/>
          <p:cNvSpPr/>
          <p:nvPr/>
        </p:nvSpPr>
        <p:spPr>
          <a:xfrm>
            <a:off x="10362895" y="2404872"/>
            <a:ext cx="731520" cy="731520"/>
          </a:xfrm>
          <a:prstGeom prst="roundRect">
            <a:avLst>
              <a:gd name="adj" fmla="val 25000"/>
            </a:avLst>
          </a:prstGeom>
          <a:solidFill>
            <a:srgbClr val="F7E6BC"/>
          </a:solidFill>
          <a:ln/>
        </p:spPr>
      </p:sp>
      <p:sp>
        <p:nvSpPr>
          <p:cNvPr id="7" name="anim-g1-130"/>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131"/>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نظرية X</a:t>
            </a:r>
            <a:endParaRPr lang="ar-SA" sz="2300" dirty="0"/>
          </a:p>
        </p:txBody>
      </p:sp>
      <p:sp>
        <p:nvSpPr>
          <p:cNvPr id="9" name="anim-g1-132"/>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المعلم لا يعمل إلا تحت الرقابة ← مشرف يفتّش ويهدد</a:t>
            </a:r>
            <a:endParaRPr lang="ar-SA" sz="2100" dirty="0"/>
          </a:p>
        </p:txBody>
      </p:sp>
      <p:sp>
        <p:nvSpPr>
          <p:cNvPr id="10" name="anim-g2-133"/>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34"/>
          <p:cNvSpPr/>
          <p:nvPr/>
        </p:nvSpPr>
        <p:spPr>
          <a:xfrm>
            <a:off x="6756197" y="2404872"/>
            <a:ext cx="731520" cy="731520"/>
          </a:xfrm>
          <a:prstGeom prst="roundRect">
            <a:avLst>
              <a:gd name="adj" fmla="val 25000"/>
            </a:avLst>
          </a:prstGeom>
          <a:solidFill>
            <a:srgbClr val="F7E6BC"/>
          </a:solidFill>
          <a:ln/>
        </p:spPr>
      </p:sp>
      <p:sp>
        <p:nvSpPr>
          <p:cNvPr id="12" name="anim-g2-135"/>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136"/>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نظرية Y</a:t>
            </a:r>
            <a:endParaRPr lang="ar-SA" sz="2300" dirty="0"/>
          </a:p>
        </p:txBody>
      </p:sp>
      <p:sp>
        <p:nvSpPr>
          <p:cNvPr id="14" name="anim-g2-137"/>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المعلم يحب النجاح إن وجد الدعم ← مشرف يوجّه ويشجّع</a:t>
            </a:r>
            <a:endParaRPr lang="ar-SA" sz="2100" dirty="0"/>
          </a:p>
        </p:txBody>
      </p:sp>
      <p:sp>
        <p:nvSpPr>
          <p:cNvPr id="15" name="anim-g3-138"/>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39"/>
          <p:cNvSpPr/>
          <p:nvPr/>
        </p:nvSpPr>
        <p:spPr>
          <a:xfrm>
            <a:off x="3149498" y="2404872"/>
            <a:ext cx="731520" cy="731520"/>
          </a:xfrm>
          <a:prstGeom prst="roundRect">
            <a:avLst>
              <a:gd name="adj" fmla="val 25000"/>
            </a:avLst>
          </a:prstGeom>
          <a:solidFill>
            <a:srgbClr val="F7E6BC"/>
          </a:solidFill>
          <a:ln/>
        </p:spPr>
      </p:sp>
      <p:sp>
        <p:nvSpPr>
          <p:cNvPr id="17" name="anim-g3-140"/>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141"/>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نظرية Z</a:t>
            </a:r>
            <a:endParaRPr lang="ar-SA" sz="2300" dirty="0"/>
          </a:p>
        </p:txBody>
      </p:sp>
      <p:sp>
        <p:nvSpPr>
          <p:cNvPr id="19" name="anim-g3-142"/>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ثقة، وقرار مشترك، واهتمام بالإنسان كله، ونظرة بعيدة ← مشرف يبني فريقًا يتعلم</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لماذا وُجد الإشراف؟  ·  ٢٦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صح أم خطأ؟ · ١ من ٢</a:t>
            </a:r>
            <a:endParaRPr lang="ar-SA" sz="1800" dirty="0"/>
          </a:p>
        </p:txBody>
      </p:sp>
      <p:sp>
        <p:nvSpPr>
          <p:cNvPr id="4" name="Shape 2"/>
          <p:cNvSpPr/>
          <p:nvPr/>
        </p:nvSpPr>
        <p:spPr>
          <a:xfrm>
            <a:off x="822960" y="1371600"/>
            <a:ext cx="10545775" cy="2103120"/>
          </a:xfrm>
          <a:prstGeom prst="roundRect">
            <a:avLst>
              <a:gd name="adj" fmla="val 10870"/>
            </a:avLst>
          </a:prstGeom>
          <a:solidFill>
            <a:srgbClr val="FFFFFF"/>
          </a:solidFill>
          <a:ln w="25400">
            <a:solidFill>
              <a:srgbClr val="E4DCC8"/>
            </a:solidFill>
            <a:prstDash val="solid"/>
          </a:ln>
          <a:effectLst>
            <a:outerShdw sx="100000" sy="100000" kx="0" ky="0" algn="bl" rotWithShape="0" blurRad="152400" dist="38100" dir="5400000">
              <a:srgbClr val="101B45">
                <a:alpha val="8000"/>
              </a:srgbClr>
            </a:outerShdw>
          </a:effectLst>
        </p:spPr>
      </p:sp>
      <p:sp>
        <p:nvSpPr>
          <p:cNvPr id="5" name="Text 3"/>
          <p:cNvSpPr/>
          <p:nvPr/>
        </p:nvSpPr>
        <p:spPr>
          <a:xfrm>
            <a:off x="10454335" y="960120"/>
            <a:ext cx="731520" cy="731520"/>
          </a:xfrm>
          <a:prstGeom prst="rect">
            <a:avLst/>
          </a:prstGeom>
          <a:noFill/>
          <a:ln/>
        </p:spPr>
        <p:txBody>
          <a:bodyPr wrap="square" lIns="0" tIns="0" rIns="0" bIns="0" rtlCol="0" anchor="ctr">
            <a:normAutofit/>
          </a:bodyPr>
          <a:lstStyle/>
          <a:p>
            <a:pPr rtl="1" algn="ctr" indent="0" marL="0">
              <a:buNone/>
            </a:pPr>
            <a:r>
              <a:rPr lang="ar-SA" altLang="en-US" sz="5400" dirty="0">
                <a:solidFill>
                  <a:srgbClr val="D9AE4B"/>
                </a:solidFill>
                <a:latin typeface="Cairo" pitchFamily="34" charset="0"/>
                <a:ea typeface="Cairo" pitchFamily="34" charset="-122"/>
                <a:cs typeface="Cairo" pitchFamily="34" charset="-120"/>
              </a:rPr>
              <a:t>❝</a:t>
            </a:r>
            <a:endParaRPr lang="ar-SA" sz="5400" dirty="0"/>
          </a:p>
        </p:txBody>
      </p:sp>
      <p:sp>
        <p:nvSpPr>
          <p:cNvPr id="6" name="Text 4"/>
          <p:cNvSpPr/>
          <p:nvPr/>
        </p:nvSpPr>
        <p:spPr>
          <a:xfrm>
            <a:off x="1280160" y="1463040"/>
            <a:ext cx="9631375" cy="1920240"/>
          </a:xfrm>
          <a:prstGeom prst="rect">
            <a:avLst/>
          </a:prstGeom>
          <a:noFill/>
          <a:ln/>
        </p:spPr>
        <p:txBody>
          <a:bodyPr wrap="square" lIns="0" tIns="0" rIns="0" bIns="0" rtlCol="0" anchor="ctr">
            <a:normAutofit/>
          </a:bodyPr>
          <a:lstStyle/>
          <a:p>
            <a:pPr rtl="1" algn="r" indent="0" marL="0">
              <a:lnSpc>
                <a:spcPct val="120000"/>
              </a:lnSpc>
              <a:buNone/>
            </a:pPr>
            <a:r>
              <a:rPr lang="ar-SA" altLang="en-US" sz="3200" dirty="0">
                <a:solidFill>
                  <a:srgbClr val="101B45"/>
                </a:solidFill>
                <a:latin typeface="Cairo Black" pitchFamily="34" charset="0"/>
                <a:ea typeface="Cairo Black" pitchFamily="34" charset="-122"/>
                <a:cs typeface="Cairo Black" pitchFamily="34" charset="-120"/>
              </a:rPr>
              <a:t>المشرف الجيد هو الذي يكتشف أكبر عدد من الأخطاء</a:t>
            </a:r>
            <a:endParaRPr lang="ar-SA" sz="3200" dirty="0"/>
          </a:p>
        </p:txBody>
      </p:sp>
      <p:sp>
        <p:nvSpPr>
          <p:cNvPr id="7" name="anim-g1-143"/>
          <p:cNvSpPr/>
          <p:nvPr/>
        </p:nvSpPr>
        <p:spPr>
          <a:xfrm rot="-600000">
            <a:off x="1005840" y="914400"/>
            <a:ext cx="2651760" cy="914400"/>
          </a:xfrm>
          <a:prstGeom prst="roundRect">
            <a:avLst>
              <a:gd name="adj" fmla="val 15000"/>
            </a:avLst>
          </a:prstGeom>
          <a:solidFill>
            <a:srgbClr val="FFFFFF">
              <a:alpha val="90000"/>
            </a:srgbClr>
          </a:solidFill>
          <a:ln w="63500">
            <a:solidFill>
              <a:srgbClr val="D64545"/>
            </a:solidFill>
            <a:prstDash val="solid"/>
          </a:ln>
        </p:spPr>
      </p:sp>
      <p:sp>
        <p:nvSpPr>
          <p:cNvPr id="8" name="anim-g1-144"/>
          <p:cNvSpPr/>
          <p:nvPr/>
        </p:nvSpPr>
        <p:spPr>
          <a:xfrm rot="-600000">
            <a:off x="1005840" y="914400"/>
            <a:ext cx="2651760" cy="914400"/>
          </a:xfrm>
          <a:prstGeom prst="rect">
            <a:avLst/>
          </a:prstGeom>
          <a:noFill/>
          <a:ln/>
        </p:spPr>
        <p:txBody>
          <a:bodyPr wrap="square" lIns="0" tIns="0" rIns="0" bIns="0" rtlCol="0" anchor="ctr">
            <a:normAutofit/>
          </a:bodyPr>
          <a:lstStyle/>
          <a:p>
            <a:pPr rtl="1" algn="ctr" indent="0" marL="0">
              <a:buNone/>
            </a:pPr>
            <a:r>
              <a:rPr lang="ar-SA" altLang="en-US" sz="4000" dirty="0">
                <a:solidFill>
                  <a:srgbClr val="D64545"/>
                </a:solidFill>
                <a:latin typeface="Cairo Black" pitchFamily="34" charset="0"/>
                <a:ea typeface="Cairo Black" pitchFamily="34" charset="-122"/>
                <a:cs typeface="Cairo Black" pitchFamily="34" charset="-120"/>
              </a:rPr>
              <a:t>✗ خطأ</a:t>
            </a:r>
            <a:endParaRPr lang="ar-SA" sz="4000" dirty="0"/>
          </a:p>
        </p:txBody>
      </p:sp>
      <p:sp>
        <p:nvSpPr>
          <p:cNvPr id="9" name="anim-g2-145"/>
          <p:cNvSpPr/>
          <p:nvPr/>
        </p:nvSpPr>
        <p:spPr>
          <a:xfrm>
            <a:off x="822960" y="3886200"/>
            <a:ext cx="10545775" cy="1828800"/>
          </a:xfrm>
          <a:prstGeom prst="roundRect">
            <a:avLst>
              <a:gd name="adj" fmla="val 11000"/>
            </a:avLst>
          </a:prstGeom>
          <a:solidFill>
            <a:srgbClr val="E6F4EC"/>
          </a:solidFill>
          <a:ln/>
        </p:spPr>
      </p:sp>
      <p:sp>
        <p:nvSpPr>
          <p:cNvPr id="10" name="anim-g2-146"/>
          <p:cNvSpPr/>
          <p:nvPr/>
        </p:nvSpPr>
        <p:spPr>
          <a:xfrm>
            <a:off x="11259007" y="3886200"/>
            <a:ext cx="109728" cy="1828800"/>
          </a:xfrm>
          <a:prstGeom prst="rect">
            <a:avLst/>
          </a:prstGeom>
          <a:solidFill>
            <a:srgbClr val="2E9E6B"/>
          </a:solidFill>
          <a:ln/>
        </p:spPr>
      </p:sp>
      <p:sp>
        <p:nvSpPr>
          <p:cNvPr id="11" name="anim-g2-147"/>
          <p:cNvSpPr/>
          <p:nvPr/>
        </p:nvSpPr>
        <p:spPr>
          <a:xfrm>
            <a:off x="1188720" y="3931920"/>
            <a:ext cx="9722815" cy="1737360"/>
          </a:xfrm>
          <a:prstGeom prst="rect">
            <a:avLst/>
          </a:prstGeom>
          <a:noFill/>
          <a:ln/>
        </p:spPr>
        <p:txBody>
          <a:bodyPr wrap="square" lIns="0" tIns="0" rIns="0" bIns="0" rtlCol="0" anchor="ctr">
            <a:normAutofit/>
          </a:bodyPr>
          <a:lstStyle/>
          <a:p>
            <a:pPr algn="r" indent="0" marL="0">
              <a:lnSpc>
                <a:spcPct val="125000"/>
              </a:lnSpc>
              <a:buNone/>
            </a:pPr>
            <a:r>
              <a:rPr lang="ar-SA" altLang="en-US" sz="2300" b="1" dirty="0">
                <a:solidFill>
                  <a:srgbClr val="2E9E6B"/>
                </a:solidFill>
                <a:latin typeface="Cairo Black" pitchFamily="34" charset="0"/>
                <a:ea typeface="Cairo Black" pitchFamily="34" charset="-122"/>
                <a:cs typeface="Cairo Black" pitchFamily="34" charset="-120"/>
              </a:rPr>
              <a:t>الصحيح: </a:t>
            </a:r>
            <a:pPr algn="r" indent="0" marL="0">
              <a:lnSpc>
                <a:spcPct val="125000"/>
              </a:lnSpc>
              <a:buNone/>
            </a:pPr>
            <a:r>
              <a:rPr lang="ar-SA" altLang="en-US" sz="2300" b="1" dirty="0">
                <a:solidFill>
                  <a:srgbClr val="1D5E40"/>
                </a:solidFill>
                <a:latin typeface="Cairo" pitchFamily="34" charset="0"/>
                <a:ea typeface="Cairo" pitchFamily="34" charset="-122"/>
                <a:cs typeface="Cairo" pitchFamily="34" charset="-120"/>
              </a:rPr>
              <a:t>المشرف الجيد هو الذي يُحدث أكبر قدر من التحسن. اكتشاف الخطأ بداية العمل لا نهايته</a:t>
            </a:r>
            <a:endParaRPr lang="ar-SA" sz="2300" dirty="0"/>
          </a:p>
        </p:txBody>
      </p:sp>
      <p:sp>
        <p:nvSpPr>
          <p:cNvPr id="12"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13"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لماذا وُجد الإشراف؟  ·  ٢٧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صح أم خطأ؟ · ٢ من ٢</a:t>
            </a:r>
            <a:endParaRPr lang="ar-SA" sz="1800" dirty="0"/>
          </a:p>
        </p:txBody>
      </p:sp>
      <p:sp>
        <p:nvSpPr>
          <p:cNvPr id="4" name="Shape 2"/>
          <p:cNvSpPr/>
          <p:nvPr/>
        </p:nvSpPr>
        <p:spPr>
          <a:xfrm>
            <a:off x="822960" y="1371600"/>
            <a:ext cx="10545775" cy="2103120"/>
          </a:xfrm>
          <a:prstGeom prst="roundRect">
            <a:avLst>
              <a:gd name="adj" fmla="val 10870"/>
            </a:avLst>
          </a:prstGeom>
          <a:solidFill>
            <a:srgbClr val="FFFFFF"/>
          </a:solidFill>
          <a:ln w="25400">
            <a:solidFill>
              <a:srgbClr val="E4DCC8"/>
            </a:solidFill>
            <a:prstDash val="solid"/>
          </a:ln>
          <a:effectLst>
            <a:outerShdw sx="100000" sy="100000" kx="0" ky="0" algn="bl" rotWithShape="0" blurRad="152400" dist="38100" dir="5400000">
              <a:srgbClr val="101B45">
                <a:alpha val="8000"/>
              </a:srgbClr>
            </a:outerShdw>
          </a:effectLst>
        </p:spPr>
      </p:sp>
      <p:sp>
        <p:nvSpPr>
          <p:cNvPr id="5" name="Text 3"/>
          <p:cNvSpPr/>
          <p:nvPr/>
        </p:nvSpPr>
        <p:spPr>
          <a:xfrm>
            <a:off x="10454335" y="960120"/>
            <a:ext cx="731520" cy="731520"/>
          </a:xfrm>
          <a:prstGeom prst="rect">
            <a:avLst/>
          </a:prstGeom>
          <a:noFill/>
          <a:ln/>
        </p:spPr>
        <p:txBody>
          <a:bodyPr wrap="square" lIns="0" tIns="0" rIns="0" bIns="0" rtlCol="0" anchor="ctr">
            <a:normAutofit/>
          </a:bodyPr>
          <a:lstStyle/>
          <a:p>
            <a:pPr rtl="1" algn="ctr" indent="0" marL="0">
              <a:buNone/>
            </a:pPr>
            <a:r>
              <a:rPr lang="ar-SA" altLang="en-US" sz="5400" dirty="0">
                <a:solidFill>
                  <a:srgbClr val="D9AE4B"/>
                </a:solidFill>
                <a:latin typeface="Cairo" pitchFamily="34" charset="0"/>
                <a:ea typeface="Cairo" pitchFamily="34" charset="-122"/>
                <a:cs typeface="Cairo" pitchFamily="34" charset="-120"/>
              </a:rPr>
              <a:t>❝</a:t>
            </a:r>
            <a:endParaRPr lang="ar-SA" sz="5400" dirty="0"/>
          </a:p>
        </p:txBody>
      </p:sp>
      <p:sp>
        <p:nvSpPr>
          <p:cNvPr id="6" name="Text 4"/>
          <p:cNvSpPr/>
          <p:nvPr/>
        </p:nvSpPr>
        <p:spPr>
          <a:xfrm>
            <a:off x="1280160" y="1463040"/>
            <a:ext cx="9631375" cy="1920240"/>
          </a:xfrm>
          <a:prstGeom prst="rect">
            <a:avLst/>
          </a:prstGeom>
          <a:noFill/>
          <a:ln/>
        </p:spPr>
        <p:txBody>
          <a:bodyPr wrap="square" lIns="0" tIns="0" rIns="0" bIns="0" rtlCol="0" anchor="ctr">
            <a:normAutofit/>
          </a:bodyPr>
          <a:lstStyle/>
          <a:p>
            <a:pPr rtl="1" algn="r" indent="0" marL="0">
              <a:lnSpc>
                <a:spcPct val="120000"/>
              </a:lnSpc>
              <a:buNone/>
            </a:pPr>
            <a:r>
              <a:rPr lang="ar-SA" altLang="en-US" sz="3200" dirty="0">
                <a:solidFill>
                  <a:srgbClr val="101B45"/>
                </a:solidFill>
                <a:latin typeface="Cairo Black" pitchFamily="34" charset="0"/>
                <a:ea typeface="Cairo Black" pitchFamily="34" charset="-122"/>
                <a:cs typeface="Cairo Black" pitchFamily="34" charset="-120"/>
              </a:rPr>
              <a:t>التقييم هو المهمة الأساسية للمشرف</a:t>
            </a:r>
            <a:endParaRPr lang="ar-SA" sz="3200" dirty="0"/>
          </a:p>
        </p:txBody>
      </p:sp>
      <p:sp>
        <p:nvSpPr>
          <p:cNvPr id="7" name="anim-g1-148"/>
          <p:cNvSpPr/>
          <p:nvPr/>
        </p:nvSpPr>
        <p:spPr>
          <a:xfrm rot="-600000">
            <a:off x="1005840" y="914400"/>
            <a:ext cx="2651760" cy="914400"/>
          </a:xfrm>
          <a:prstGeom prst="roundRect">
            <a:avLst>
              <a:gd name="adj" fmla="val 15000"/>
            </a:avLst>
          </a:prstGeom>
          <a:solidFill>
            <a:srgbClr val="FFFFFF">
              <a:alpha val="90000"/>
            </a:srgbClr>
          </a:solidFill>
          <a:ln w="63500">
            <a:solidFill>
              <a:srgbClr val="D64545"/>
            </a:solidFill>
            <a:prstDash val="solid"/>
          </a:ln>
        </p:spPr>
      </p:sp>
      <p:sp>
        <p:nvSpPr>
          <p:cNvPr id="8" name="anim-g1-149"/>
          <p:cNvSpPr/>
          <p:nvPr/>
        </p:nvSpPr>
        <p:spPr>
          <a:xfrm rot="-600000">
            <a:off x="1005840" y="914400"/>
            <a:ext cx="2651760" cy="914400"/>
          </a:xfrm>
          <a:prstGeom prst="rect">
            <a:avLst/>
          </a:prstGeom>
          <a:noFill/>
          <a:ln/>
        </p:spPr>
        <p:txBody>
          <a:bodyPr wrap="square" lIns="0" tIns="0" rIns="0" bIns="0" rtlCol="0" anchor="ctr">
            <a:normAutofit/>
          </a:bodyPr>
          <a:lstStyle/>
          <a:p>
            <a:pPr rtl="1" algn="ctr" indent="0" marL="0">
              <a:buNone/>
            </a:pPr>
            <a:r>
              <a:rPr lang="ar-SA" altLang="en-US" sz="4000" dirty="0">
                <a:solidFill>
                  <a:srgbClr val="D64545"/>
                </a:solidFill>
                <a:latin typeface="Cairo Black" pitchFamily="34" charset="0"/>
                <a:ea typeface="Cairo Black" pitchFamily="34" charset="-122"/>
                <a:cs typeface="Cairo Black" pitchFamily="34" charset="-120"/>
              </a:rPr>
              <a:t>✗ خطأ</a:t>
            </a:r>
            <a:endParaRPr lang="ar-SA" sz="4000" dirty="0"/>
          </a:p>
        </p:txBody>
      </p:sp>
      <p:sp>
        <p:nvSpPr>
          <p:cNvPr id="9" name="anim-g2-150"/>
          <p:cNvSpPr/>
          <p:nvPr/>
        </p:nvSpPr>
        <p:spPr>
          <a:xfrm>
            <a:off x="822960" y="3886200"/>
            <a:ext cx="10545775" cy="1828800"/>
          </a:xfrm>
          <a:prstGeom prst="roundRect">
            <a:avLst>
              <a:gd name="adj" fmla="val 11000"/>
            </a:avLst>
          </a:prstGeom>
          <a:solidFill>
            <a:srgbClr val="E6F4EC"/>
          </a:solidFill>
          <a:ln/>
        </p:spPr>
      </p:sp>
      <p:sp>
        <p:nvSpPr>
          <p:cNvPr id="10" name="anim-g2-151"/>
          <p:cNvSpPr/>
          <p:nvPr/>
        </p:nvSpPr>
        <p:spPr>
          <a:xfrm>
            <a:off x="11259007" y="3886200"/>
            <a:ext cx="109728" cy="1828800"/>
          </a:xfrm>
          <a:prstGeom prst="rect">
            <a:avLst/>
          </a:prstGeom>
          <a:solidFill>
            <a:srgbClr val="2E9E6B"/>
          </a:solidFill>
          <a:ln/>
        </p:spPr>
      </p:sp>
      <p:sp>
        <p:nvSpPr>
          <p:cNvPr id="11" name="anim-g2-152"/>
          <p:cNvSpPr/>
          <p:nvPr/>
        </p:nvSpPr>
        <p:spPr>
          <a:xfrm>
            <a:off x="1188720" y="3931920"/>
            <a:ext cx="9722815" cy="1737360"/>
          </a:xfrm>
          <a:prstGeom prst="rect">
            <a:avLst/>
          </a:prstGeom>
          <a:noFill/>
          <a:ln/>
        </p:spPr>
        <p:txBody>
          <a:bodyPr wrap="square" lIns="0" tIns="0" rIns="0" bIns="0" rtlCol="0" anchor="ctr">
            <a:normAutofit/>
          </a:bodyPr>
          <a:lstStyle/>
          <a:p>
            <a:pPr algn="r" indent="0" marL="0">
              <a:lnSpc>
                <a:spcPct val="125000"/>
              </a:lnSpc>
              <a:buNone/>
            </a:pPr>
            <a:r>
              <a:rPr lang="ar-SA" altLang="en-US" sz="2300" b="1" dirty="0">
                <a:solidFill>
                  <a:srgbClr val="2E9E6B"/>
                </a:solidFill>
                <a:latin typeface="Cairo Black" pitchFamily="34" charset="0"/>
                <a:ea typeface="Cairo Black" pitchFamily="34" charset="-122"/>
                <a:cs typeface="Cairo Black" pitchFamily="34" charset="-120"/>
              </a:rPr>
              <a:t>الصحيح: </a:t>
            </a:r>
            <a:pPr algn="r" indent="0" marL="0">
              <a:lnSpc>
                <a:spcPct val="125000"/>
              </a:lnSpc>
              <a:buNone/>
            </a:pPr>
            <a:r>
              <a:rPr lang="ar-SA" altLang="en-US" sz="2300" b="1" dirty="0">
                <a:solidFill>
                  <a:srgbClr val="1D5E40"/>
                </a:solidFill>
                <a:latin typeface="Cairo" pitchFamily="34" charset="0"/>
                <a:ea typeface="Cairo" pitchFamily="34" charset="-122"/>
                <a:cs typeface="Cairo" pitchFamily="34" charset="-120"/>
              </a:rPr>
              <a:t>التقييم أداة من أدوات المشرف لمعرفة الفجوة؛ أما مهمته الأساسية فهي التطوير وتمكين المعلم</a:t>
            </a:r>
            <a:endParaRPr lang="ar-SA" sz="2300" dirty="0"/>
          </a:p>
        </p:txBody>
      </p:sp>
      <p:sp>
        <p:nvSpPr>
          <p:cNvPr id="12"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13"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لماذا وُجد الإشراف؟  ·  ٢٨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Users/mac/dev/younes-training/ishraf/.pptx-cache/s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Users/mac/dev/younes-training/ishraf/.pptx-cache/s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53" descr="/Users/mac/dev/younes-training/ishraf/assets/media/iceberg.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v/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839151" y="365760"/>
            <a:ext cx="3803904"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839151" y="365760"/>
            <a:ext cx="3803904"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جبل الجليد</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ما يظهر فوق الماء… قمة صغيرة فقط. والجبل الحقيقي مختبئ تحت السطح، لا يراه إلا من نزل إليه.</a:t>
            </a:r>
            <a:endParaRPr lang="ar-SA" sz="2600" dirty="0"/>
          </a:p>
        </p:txBody>
      </p:sp>
      <p:sp>
        <p:nvSpPr>
          <p:cNvPr id="8" name="Text 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9" name="Text 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لماذا وُجد الإشراف؟  ·  ٣١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564831" y="457200"/>
            <a:ext cx="3803904" cy="457200"/>
          </a:xfrm>
          <a:prstGeom prst="roundRect">
            <a:avLst>
              <a:gd name="adj" fmla="val 50000"/>
            </a:avLst>
          </a:prstGeom>
          <a:solidFill>
            <a:srgbClr val="F6EBCF"/>
          </a:solidFill>
          <a:ln/>
        </p:spPr>
      </p:sp>
      <p:sp>
        <p:nvSpPr>
          <p:cNvPr id="3" name="Text 1"/>
          <p:cNvSpPr/>
          <p:nvPr/>
        </p:nvSpPr>
        <p:spPr>
          <a:xfrm>
            <a:off x="7564831" y="457200"/>
            <a:ext cx="380390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من يعرف مشكلات العمل؟</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جبل الجليد: كم يرى كل مستوى من المشكلات؟</a:t>
            </a:r>
            <a:endParaRPr lang="ar-SA" sz="3200" dirty="0"/>
          </a:p>
        </p:txBody>
      </p:sp>
      <p:sp>
        <p:nvSpPr>
          <p:cNvPr id="5" name="Shape 3"/>
          <p:cNvSpPr/>
          <p:nvPr/>
        </p:nvSpPr>
        <p:spPr>
          <a:xfrm>
            <a:off x="1005840" y="4968850"/>
            <a:ext cx="2202104" cy="106070"/>
          </a:xfrm>
          <a:prstGeom prst="rect">
            <a:avLst/>
          </a:prstGeom>
          <a:solidFill>
            <a:srgbClr val="C94040"/>
          </a:solidFill>
          <a:ln/>
        </p:spPr>
      </p:sp>
      <p:sp>
        <p:nvSpPr>
          <p:cNvPr id="6" name="Text 4"/>
          <p:cNvSpPr/>
          <p:nvPr/>
        </p:nvSpPr>
        <p:spPr>
          <a:xfrm>
            <a:off x="1005840" y="4420210"/>
            <a:ext cx="2202104" cy="502920"/>
          </a:xfrm>
          <a:prstGeom prst="rect">
            <a:avLst/>
          </a:prstGeom>
          <a:noFill/>
          <a:ln/>
        </p:spPr>
        <p:txBody>
          <a:bodyPr wrap="square" lIns="0" tIns="0" rIns="0" bIns="0" rtlCol="0" anchor="ctr">
            <a:normAutofit/>
          </a:bodyPr>
          <a:lstStyle/>
          <a:p>
            <a:pPr rtl="1" algn="ctr" indent="0" marL="0">
              <a:buNone/>
            </a:pPr>
            <a:r>
              <a:rPr lang="ar-SA" altLang="en-US" sz="3000" dirty="0">
                <a:solidFill>
                  <a:srgbClr val="C94040"/>
                </a:solidFill>
                <a:latin typeface="Cairo Black" pitchFamily="34" charset="0"/>
                <a:ea typeface="Cairo Black" pitchFamily="34" charset="-122"/>
                <a:cs typeface="Cairo Black" pitchFamily="34" charset="-120"/>
              </a:rPr>
              <a:t>٤</a:t>
            </a:r>
            <a:endParaRPr lang="ar-SA" sz="3000" dirty="0"/>
          </a:p>
        </p:txBody>
      </p:sp>
      <p:sp>
        <p:nvSpPr>
          <p:cNvPr id="7" name="Text 5"/>
          <p:cNvSpPr/>
          <p:nvPr/>
        </p:nvSpPr>
        <p:spPr>
          <a:xfrm>
            <a:off x="914400" y="5166360"/>
            <a:ext cx="2384984" cy="685800"/>
          </a:xfrm>
          <a:prstGeom prst="rect">
            <a:avLst/>
          </a:prstGeom>
          <a:noFill/>
          <a:ln/>
        </p:spPr>
        <p:txBody>
          <a:bodyPr wrap="square" lIns="0" tIns="0" rIns="0" bIns="0" rtlCol="0" anchor="t">
            <a:normAutofit/>
          </a:bodyPr>
          <a:lstStyle/>
          <a:p>
            <a:pPr rtl="1" algn="ctr" indent="0" marL="0">
              <a:buNone/>
            </a:pPr>
            <a:r>
              <a:rPr lang="ar-SA" altLang="en-US" sz="1800" b="1" dirty="0">
                <a:solidFill>
                  <a:srgbClr val="101B45"/>
                </a:solidFill>
                <a:latin typeface="Cairo" pitchFamily="34" charset="0"/>
                <a:ea typeface="Cairo" pitchFamily="34" charset="-122"/>
                <a:cs typeface="Cairo" pitchFamily="34" charset="-120"/>
              </a:rPr>
              <a:t>الإدارة العليا</a:t>
            </a:r>
            <a:endParaRPr lang="ar-SA" sz="1800" dirty="0"/>
          </a:p>
        </p:txBody>
      </p:sp>
      <p:sp>
        <p:nvSpPr>
          <p:cNvPr id="8" name="Shape 6"/>
          <p:cNvSpPr/>
          <p:nvPr/>
        </p:nvSpPr>
        <p:spPr>
          <a:xfrm>
            <a:off x="3665144" y="4836262"/>
            <a:ext cx="2202104" cy="238658"/>
          </a:xfrm>
          <a:prstGeom prst="rect">
            <a:avLst/>
          </a:prstGeom>
          <a:solidFill>
            <a:srgbClr val="6E7BA6"/>
          </a:solidFill>
          <a:ln/>
        </p:spPr>
      </p:sp>
      <p:sp>
        <p:nvSpPr>
          <p:cNvPr id="9" name="Text 7"/>
          <p:cNvSpPr/>
          <p:nvPr/>
        </p:nvSpPr>
        <p:spPr>
          <a:xfrm>
            <a:off x="3665144" y="4287622"/>
            <a:ext cx="2202104" cy="502920"/>
          </a:xfrm>
          <a:prstGeom prst="rect">
            <a:avLst/>
          </a:prstGeom>
          <a:noFill/>
          <a:ln/>
        </p:spPr>
        <p:txBody>
          <a:bodyPr wrap="square" lIns="0" tIns="0" rIns="0" bIns="0" rtlCol="0" anchor="ctr">
            <a:normAutofit/>
          </a:bodyPr>
          <a:lstStyle/>
          <a:p>
            <a:pPr rtl="1" algn="ctr" indent="0" marL="0">
              <a:buNone/>
            </a:pPr>
            <a:r>
              <a:rPr lang="ar-SA" altLang="en-US" sz="3000" dirty="0">
                <a:solidFill>
                  <a:srgbClr val="6E7BA6"/>
                </a:solidFill>
                <a:latin typeface="Cairo Black" pitchFamily="34" charset="0"/>
                <a:ea typeface="Cairo Black" pitchFamily="34" charset="-122"/>
                <a:cs typeface="Cairo Black" pitchFamily="34" charset="-120"/>
              </a:rPr>
              <a:t>٩</a:t>
            </a:r>
            <a:endParaRPr lang="ar-SA" sz="3000" dirty="0"/>
          </a:p>
        </p:txBody>
      </p:sp>
      <p:sp>
        <p:nvSpPr>
          <p:cNvPr id="10" name="Text 8"/>
          <p:cNvSpPr/>
          <p:nvPr/>
        </p:nvSpPr>
        <p:spPr>
          <a:xfrm>
            <a:off x="3573704" y="5166360"/>
            <a:ext cx="2384984" cy="685800"/>
          </a:xfrm>
          <a:prstGeom prst="rect">
            <a:avLst/>
          </a:prstGeom>
          <a:noFill/>
          <a:ln/>
        </p:spPr>
        <p:txBody>
          <a:bodyPr wrap="square" lIns="0" tIns="0" rIns="0" bIns="0" rtlCol="0" anchor="t">
            <a:normAutofit/>
          </a:bodyPr>
          <a:lstStyle/>
          <a:p>
            <a:pPr rtl="1" algn="ctr" indent="0" marL="0">
              <a:buNone/>
            </a:pPr>
            <a:r>
              <a:rPr lang="ar-SA" altLang="en-US" sz="1800" b="1" dirty="0">
                <a:solidFill>
                  <a:srgbClr val="101B45"/>
                </a:solidFill>
                <a:latin typeface="Cairo" pitchFamily="34" charset="0"/>
                <a:ea typeface="Cairo" pitchFamily="34" charset="-122"/>
                <a:cs typeface="Cairo" pitchFamily="34" charset="-120"/>
              </a:rPr>
              <a:t>الإدارة الوسطى</a:t>
            </a:r>
            <a:endParaRPr lang="ar-SA" sz="1800" dirty="0"/>
          </a:p>
        </p:txBody>
      </p:sp>
      <p:sp>
        <p:nvSpPr>
          <p:cNvPr id="11" name="Shape 9"/>
          <p:cNvSpPr/>
          <p:nvPr/>
        </p:nvSpPr>
        <p:spPr>
          <a:xfrm>
            <a:off x="6324448" y="3112618"/>
            <a:ext cx="2202104" cy="1962302"/>
          </a:xfrm>
          <a:prstGeom prst="rect">
            <a:avLst/>
          </a:prstGeom>
          <a:solidFill>
            <a:srgbClr val="2E9E6B"/>
          </a:solidFill>
          <a:ln/>
        </p:spPr>
      </p:sp>
      <p:sp>
        <p:nvSpPr>
          <p:cNvPr id="12" name="Text 10"/>
          <p:cNvSpPr/>
          <p:nvPr/>
        </p:nvSpPr>
        <p:spPr>
          <a:xfrm>
            <a:off x="6324448" y="2563978"/>
            <a:ext cx="2202104" cy="502920"/>
          </a:xfrm>
          <a:prstGeom prst="rect">
            <a:avLst/>
          </a:prstGeom>
          <a:noFill/>
          <a:ln/>
        </p:spPr>
        <p:txBody>
          <a:bodyPr wrap="square" lIns="0" tIns="0" rIns="0" bIns="0" rtlCol="0" anchor="ctr">
            <a:normAutofit/>
          </a:bodyPr>
          <a:lstStyle/>
          <a:p>
            <a:pPr rtl="1" algn="ctr" indent="0" marL="0">
              <a:buNone/>
            </a:pPr>
            <a:r>
              <a:rPr lang="ar-SA" altLang="en-US" sz="3000" dirty="0">
                <a:solidFill>
                  <a:srgbClr val="2E9E6B"/>
                </a:solidFill>
                <a:latin typeface="Cairo Black" pitchFamily="34" charset="0"/>
                <a:ea typeface="Cairo Black" pitchFamily="34" charset="-122"/>
                <a:cs typeface="Cairo Black" pitchFamily="34" charset="-120"/>
              </a:rPr>
              <a:t>٧٤</a:t>
            </a:r>
            <a:endParaRPr lang="ar-SA" sz="3000" dirty="0"/>
          </a:p>
        </p:txBody>
      </p:sp>
      <p:sp>
        <p:nvSpPr>
          <p:cNvPr id="13" name="Text 11"/>
          <p:cNvSpPr/>
          <p:nvPr/>
        </p:nvSpPr>
        <p:spPr>
          <a:xfrm>
            <a:off x="6233008" y="5166360"/>
            <a:ext cx="2384984" cy="685800"/>
          </a:xfrm>
          <a:prstGeom prst="rect">
            <a:avLst/>
          </a:prstGeom>
          <a:noFill/>
          <a:ln/>
        </p:spPr>
        <p:txBody>
          <a:bodyPr wrap="square" lIns="0" tIns="0" rIns="0" bIns="0" rtlCol="0" anchor="t">
            <a:normAutofit/>
          </a:bodyPr>
          <a:lstStyle/>
          <a:p>
            <a:pPr rtl="1" algn="ctr" indent="0" marL="0">
              <a:buNone/>
            </a:pPr>
            <a:r>
              <a:rPr lang="ar-SA" altLang="en-US" sz="1800" b="1" dirty="0">
                <a:solidFill>
                  <a:srgbClr val="101B45"/>
                </a:solidFill>
                <a:latin typeface="Cairo" pitchFamily="34" charset="0"/>
                <a:ea typeface="Cairo" pitchFamily="34" charset="-122"/>
                <a:cs typeface="Cairo" pitchFamily="34" charset="-120"/>
              </a:rPr>
              <a:t>المشرفون</a:t>
            </a:r>
            <a:endParaRPr lang="ar-SA" sz="1800" dirty="0"/>
          </a:p>
        </p:txBody>
      </p:sp>
      <p:sp>
        <p:nvSpPr>
          <p:cNvPr id="14" name="Shape 12"/>
          <p:cNvSpPr/>
          <p:nvPr/>
        </p:nvSpPr>
        <p:spPr>
          <a:xfrm>
            <a:off x="8983751" y="2423160"/>
            <a:ext cx="2202104" cy="2651760"/>
          </a:xfrm>
          <a:prstGeom prst="rect">
            <a:avLst/>
          </a:prstGeom>
          <a:solidFill>
            <a:srgbClr val="D9AE4B"/>
          </a:solidFill>
          <a:ln/>
        </p:spPr>
      </p:sp>
      <p:sp>
        <p:nvSpPr>
          <p:cNvPr id="15" name="Text 13"/>
          <p:cNvSpPr/>
          <p:nvPr/>
        </p:nvSpPr>
        <p:spPr>
          <a:xfrm>
            <a:off x="8983751" y="1874520"/>
            <a:ext cx="2202104" cy="502920"/>
          </a:xfrm>
          <a:prstGeom prst="rect">
            <a:avLst/>
          </a:prstGeom>
          <a:noFill/>
          <a:ln/>
        </p:spPr>
        <p:txBody>
          <a:bodyPr wrap="square" lIns="0" tIns="0" rIns="0" bIns="0" rtlCol="0" anchor="ctr">
            <a:normAutofit/>
          </a:bodyPr>
          <a:lstStyle/>
          <a:p>
            <a:pPr rtl="1" algn="ctr" indent="0" marL="0">
              <a:buNone/>
            </a:pPr>
            <a:r>
              <a:rPr lang="ar-SA" altLang="en-US" sz="3000" dirty="0">
                <a:solidFill>
                  <a:srgbClr val="D9AE4B"/>
                </a:solidFill>
                <a:latin typeface="Cairo Black" pitchFamily="34" charset="0"/>
                <a:ea typeface="Cairo Black" pitchFamily="34" charset="-122"/>
                <a:cs typeface="Cairo Black" pitchFamily="34" charset="-120"/>
              </a:rPr>
              <a:t>١٠٠</a:t>
            </a:r>
            <a:endParaRPr lang="ar-SA" sz="3000" dirty="0"/>
          </a:p>
        </p:txBody>
      </p:sp>
      <p:sp>
        <p:nvSpPr>
          <p:cNvPr id="16" name="Text 14"/>
          <p:cNvSpPr/>
          <p:nvPr/>
        </p:nvSpPr>
        <p:spPr>
          <a:xfrm>
            <a:off x="8892311" y="5166360"/>
            <a:ext cx="2384984" cy="685800"/>
          </a:xfrm>
          <a:prstGeom prst="rect">
            <a:avLst/>
          </a:prstGeom>
          <a:noFill/>
          <a:ln/>
        </p:spPr>
        <p:txBody>
          <a:bodyPr wrap="square" lIns="0" tIns="0" rIns="0" bIns="0" rtlCol="0" anchor="t">
            <a:normAutofit/>
          </a:bodyPr>
          <a:lstStyle/>
          <a:p>
            <a:pPr rtl="1" algn="ctr" indent="0" marL="0">
              <a:buNone/>
            </a:pPr>
            <a:r>
              <a:rPr lang="ar-SA" altLang="en-US" sz="1800" b="1" dirty="0">
                <a:solidFill>
                  <a:srgbClr val="101B45"/>
                </a:solidFill>
                <a:latin typeface="Cairo" pitchFamily="34" charset="0"/>
                <a:ea typeface="Cairo" pitchFamily="34" charset="-122"/>
                <a:cs typeface="Cairo" pitchFamily="34" charset="-120"/>
              </a:rPr>
              <a:t>العاملون في الميدان</a:t>
            </a:r>
            <a:endParaRPr lang="ar-SA" sz="1800" dirty="0"/>
          </a:p>
        </p:txBody>
      </p:sp>
      <p:sp>
        <p:nvSpPr>
          <p:cNvPr id="17" name="Shape 15"/>
          <p:cNvSpPr/>
          <p:nvPr/>
        </p:nvSpPr>
        <p:spPr>
          <a:xfrm>
            <a:off x="822960" y="5074920"/>
            <a:ext cx="10545775" cy="0"/>
          </a:xfrm>
          <a:prstGeom prst="line">
            <a:avLst/>
          </a:prstGeom>
          <a:noFill/>
          <a:ln w="25400">
            <a:solidFill>
              <a:srgbClr val="101B45"/>
            </a:solidFill>
            <a:prstDash val="solid"/>
          </a:ln>
        </p:spPr>
      </p:sp>
      <p:sp>
        <p:nvSpPr>
          <p:cNvPr id="18" name="Text 16"/>
          <p:cNvSpPr/>
          <p:nvPr/>
        </p:nvSpPr>
        <p:spPr>
          <a:xfrm>
            <a:off x="822960" y="5897880"/>
            <a:ext cx="10545775" cy="320040"/>
          </a:xfrm>
          <a:prstGeom prst="rect">
            <a:avLst/>
          </a:prstGeom>
          <a:noFill/>
          <a:ln/>
        </p:spPr>
        <p:txBody>
          <a:bodyPr wrap="square" lIns="0" tIns="0" rIns="0" bIns="0" rtlCol="0" anchor="ctr">
            <a:normAutofit/>
          </a:bodyPr>
          <a:lstStyle/>
          <a:p>
            <a:pPr rtl="1" algn="r" indent="0" marL="0">
              <a:buNone/>
            </a:pPr>
            <a:r>
              <a:rPr lang="ar-SA" altLang="en-US" sz="1600" b="1" dirty="0">
                <a:solidFill>
                  <a:srgbClr val="5E6782"/>
                </a:solidFill>
                <a:latin typeface="Cairo" pitchFamily="34" charset="0"/>
                <a:ea typeface="Cairo" pitchFamily="34" charset="-122"/>
                <a:cs typeface="Cairo" pitchFamily="34" charset="-120"/>
              </a:rPr>
              <a:t>المحور الرأسي: نسبة المشكلات المعروفة لكل مستوى · المصدر: سيدني يوشيدا، «جبل جليد الجهل» (1989)</a:t>
            </a:r>
            <a:endParaRPr lang="ar-SA" sz="1600" dirty="0"/>
          </a:p>
        </p:txBody>
      </p:sp>
      <p:sp>
        <p:nvSpPr>
          <p:cNvPr id="19" name="Text 1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0" name="Text 1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لماذا وُجد الإشراف؟  ·  ٣٢</a:t>
            </a:r>
            <a:endParaRPr lang="ar-SA"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المحطة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المشرف ليس مقيّمًا…</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دوره سدّ الفجوة بين الواقع والمأمول</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لماذا وُجد الإشراف؟  ·  ٣٣</a:t>
            </a:r>
            <a:endParaRPr lang="ar-SA"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ماذا تعلّمنا؟</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دقيقتان قبل أن ننتقل</a:t>
            </a:r>
            <a:endParaRPr lang="ar-SA" sz="3800" dirty="0"/>
          </a:p>
        </p:txBody>
      </p:sp>
      <p:sp>
        <p:nvSpPr>
          <p:cNvPr id="5" name="anim-g1-154"/>
          <p:cNvSpPr/>
          <p:nvPr/>
        </p:nvSpPr>
        <p:spPr>
          <a:xfrm>
            <a:off x="10637215" y="2286000"/>
            <a:ext cx="731520" cy="731520"/>
          </a:xfrm>
          <a:prstGeom prst="ellipse">
            <a:avLst/>
          </a:prstGeom>
          <a:solidFill>
            <a:srgbClr val="D9AE4B"/>
          </a:solidFill>
          <a:ln/>
        </p:spPr>
      </p:sp>
      <p:sp>
        <p:nvSpPr>
          <p:cNvPr id="6" name="anim-g1-155"/>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156"/>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اكتب في الدردشة جملة واحدة: ما الذي تغيّر في نظرتك لدورك؟</a:t>
            </a:r>
            <a:endParaRPr lang="ar-SA" sz="2200" dirty="0"/>
          </a:p>
        </p:txBody>
      </p:sp>
      <p:sp>
        <p:nvSpPr>
          <p:cNvPr id="8" name="anim-g2-157"/>
          <p:cNvSpPr/>
          <p:nvPr/>
        </p:nvSpPr>
        <p:spPr>
          <a:xfrm>
            <a:off x="10637215" y="3383280"/>
            <a:ext cx="731520" cy="731520"/>
          </a:xfrm>
          <a:prstGeom prst="ellipse">
            <a:avLst/>
          </a:prstGeom>
          <a:solidFill>
            <a:srgbClr val="D9AE4B"/>
          </a:solidFill>
          <a:ln/>
        </p:spPr>
      </p:sp>
      <p:sp>
        <p:nvSpPr>
          <p:cNvPr id="9" name="anim-g2-158"/>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159"/>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لا تكتب ما قيل… اكتب ما استنتجته أنت</a:t>
            </a:r>
            <a:endParaRPr lang="ar-SA" sz="2200" dirty="0"/>
          </a:p>
        </p:txBody>
      </p:sp>
      <p:sp>
        <p:nvSpPr>
          <p:cNvPr id="11" name="anim-g3-160"/>
          <p:cNvSpPr/>
          <p:nvPr/>
        </p:nvSpPr>
        <p:spPr>
          <a:xfrm>
            <a:off x="10637215" y="4480560"/>
            <a:ext cx="731520" cy="731520"/>
          </a:xfrm>
          <a:prstGeom prst="ellipse">
            <a:avLst/>
          </a:prstGeom>
          <a:solidFill>
            <a:srgbClr val="D9AE4B"/>
          </a:solidFill>
          <a:ln/>
        </p:spPr>
      </p:sp>
      <p:sp>
        <p:nvSpPr>
          <p:cNvPr id="12" name="anim-g3-161"/>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162"/>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سأقرأ ثلاث إجابات بصوت عالٍ</a:t>
            </a:r>
            <a:endParaRPr lang="ar-SA" sz="2200" dirty="0"/>
          </a:p>
        </p:txBody>
      </p:sp>
      <p:sp>
        <p:nvSpPr>
          <p:cNvPr id="14" name="Shape 12"/>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5" name="Text 13"/>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2:00</a:t>
            </a:r>
            <a:endParaRPr lang="ar-SA" sz="6000" dirty="0"/>
          </a:p>
        </p:txBody>
      </p:sp>
      <p:sp>
        <p:nvSpPr>
          <p:cNvPr id="16" name="Text 14"/>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٢ دقائق</a:t>
            </a:r>
            <a:endParaRPr lang="ar-SA" sz="16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لماذا وُجد الإشراف؟  ·  ٣٤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مصادر المحطة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المراجع</a:t>
            </a:r>
            <a:endParaRPr lang="ar-SA" sz="3800" dirty="0"/>
          </a:p>
        </p:txBody>
      </p:sp>
      <p:sp>
        <p:nvSpPr>
          <p:cNvPr id="5" name="anim-g1-163"/>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164"/>
          <p:cNvSpPr/>
          <p:nvPr/>
        </p:nvSpPr>
        <p:spPr>
          <a:xfrm>
            <a:off x="10573207" y="2109978"/>
            <a:ext cx="566928" cy="566928"/>
          </a:xfrm>
          <a:prstGeom prst="ellipse">
            <a:avLst/>
          </a:prstGeom>
          <a:solidFill>
            <a:srgbClr val="D9AE4B"/>
          </a:solidFill>
          <a:ln/>
        </p:spPr>
      </p:sp>
      <p:sp>
        <p:nvSpPr>
          <p:cNvPr id="7" name="anim-g1-165"/>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66"/>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McGregor, D. (1960). The Human Side of Enterprise</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نظريتا X وY</a:t>
            </a:r>
            <a:endParaRPr lang="ar-SA" sz="2400" dirty="0"/>
          </a:p>
        </p:txBody>
      </p:sp>
      <p:sp>
        <p:nvSpPr>
          <p:cNvPr id="9" name="anim-g2-167"/>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168"/>
          <p:cNvSpPr/>
          <p:nvPr/>
        </p:nvSpPr>
        <p:spPr>
          <a:xfrm>
            <a:off x="10573207" y="3166110"/>
            <a:ext cx="566928" cy="566928"/>
          </a:xfrm>
          <a:prstGeom prst="ellipse">
            <a:avLst/>
          </a:prstGeom>
          <a:solidFill>
            <a:srgbClr val="D9AE4B"/>
          </a:solidFill>
          <a:ln/>
        </p:spPr>
      </p:sp>
      <p:sp>
        <p:nvSpPr>
          <p:cNvPr id="11" name="anim-g2-169"/>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70"/>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Ouchi, W. (1981). Theory Z: How American Business Can Meet the Japanese Challenge</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نظرية Z</a:t>
            </a:r>
            <a:endParaRPr lang="ar-SA" sz="2400" dirty="0"/>
          </a:p>
        </p:txBody>
      </p:sp>
      <p:sp>
        <p:nvSpPr>
          <p:cNvPr id="13" name="anim-g3-171"/>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172"/>
          <p:cNvSpPr/>
          <p:nvPr/>
        </p:nvSpPr>
        <p:spPr>
          <a:xfrm>
            <a:off x="10573207" y="4222242"/>
            <a:ext cx="566928" cy="566928"/>
          </a:xfrm>
          <a:prstGeom prst="ellipse">
            <a:avLst/>
          </a:prstGeom>
          <a:solidFill>
            <a:srgbClr val="D9AE4B"/>
          </a:solidFill>
          <a:ln/>
        </p:spPr>
      </p:sp>
      <p:sp>
        <p:nvSpPr>
          <p:cNvPr id="15" name="anim-g3-173"/>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74"/>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Yoshida, S. (1989). The Iceberg of Ignorance</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جبل الجليد (مع التحفظ على الدقة)</a:t>
            </a:r>
            <a:endParaRPr lang="ar-SA" sz="2400" dirty="0"/>
          </a:p>
        </p:txBody>
      </p:sp>
      <p:sp>
        <p:nvSpPr>
          <p:cNvPr id="17" name="anim-g4-175"/>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176"/>
          <p:cNvSpPr/>
          <p:nvPr/>
        </p:nvSpPr>
        <p:spPr>
          <a:xfrm>
            <a:off x="10573207" y="5278374"/>
            <a:ext cx="566928" cy="566928"/>
          </a:xfrm>
          <a:prstGeom prst="ellipse">
            <a:avLst/>
          </a:prstGeom>
          <a:solidFill>
            <a:srgbClr val="D9AE4B"/>
          </a:solidFill>
          <a:ln/>
        </p:spPr>
      </p:sp>
      <p:sp>
        <p:nvSpPr>
          <p:cNvPr id="19" name="anim-g4-177"/>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78"/>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Glickman, C. et al. SuperVision and Instructional Leadership</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تطور الإشراف · والشواهد من الصحيحين ومجمع الأمثال</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لماذا وُجد الإشراف؟  ·  ٣٥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٢</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المحطة ٢</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جولة حول العالم</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ماذا يفعل المشرفون في أنظمة التعليم المتقدمة؟</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جولة حول العالم  ·  ٣٦</a:t>
            </a:r>
            <a:endParaRPr lang="ar-SA"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998568" y="1097280"/>
            <a:ext cx="219456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998568" y="1097280"/>
            <a:ext cx="21945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قبل الرحلة</a:t>
            </a:r>
            <a:endParaRPr lang="ar-SA" sz="1800" dirty="0"/>
          </a:p>
        </p:txBody>
      </p:sp>
      <p:sp>
        <p:nvSpPr>
          <p:cNvPr id="4" name="Shape 2"/>
          <p:cNvSpPr/>
          <p:nvPr/>
        </p:nvSpPr>
        <p:spPr>
          <a:xfrm>
            <a:off x="5181448" y="2103120"/>
            <a:ext cx="1828800" cy="32004"/>
          </a:xfrm>
          <a:prstGeom prst="rect">
            <a:avLst/>
          </a:prstGeom>
          <a:solidFill>
            <a:srgbClr val="D9AE4B"/>
          </a:solidFill>
          <a:ln/>
        </p:spPr>
      </p:sp>
      <p:sp>
        <p:nvSpPr>
          <p:cNvPr id="5" name="Text 3"/>
          <p:cNvSpPr/>
          <p:nvPr/>
        </p:nvSpPr>
        <p:spPr>
          <a:xfrm>
            <a:off x="1188720" y="2286000"/>
            <a:ext cx="9814255" cy="2377440"/>
          </a:xfrm>
          <a:prstGeom prst="rect">
            <a:avLst/>
          </a:prstGeom>
          <a:noFill/>
          <a:ln/>
        </p:spPr>
        <p:txBody>
          <a:bodyPr wrap="square" lIns="0" tIns="0" rIns="0" bIns="0" rtlCol="0" anchor="ctr">
            <a:normAutofit/>
          </a:bodyPr>
          <a:lstStyle/>
          <a:p>
            <a:pPr rtl="1" algn="ctr" indent="0" marL="0">
              <a:lnSpc>
                <a:spcPct val="125000"/>
              </a:lnSpc>
              <a:buNone/>
            </a:pPr>
            <a:r>
              <a:rPr lang="ar-SA" altLang="en-US" sz="4000" b="1" dirty="0">
                <a:solidFill>
                  <a:srgbClr val="FFFFFF"/>
                </a:solidFill>
                <a:latin typeface="Amiri" pitchFamily="34" charset="0"/>
                <a:ea typeface="Amiri" pitchFamily="34" charset="-122"/>
                <a:cs typeface="Amiri" pitchFamily="34" charset="-120"/>
              </a:rPr>
              <a:t>الكلمةُ الحكمةُ ضالّةُ المؤمن، فحيثُ وجدها فهو أحقُّ بها</a:t>
            </a:r>
            <a:endParaRPr lang="ar-SA" sz="4000" dirty="0"/>
          </a:p>
        </p:txBody>
      </p:sp>
      <p:sp>
        <p:nvSpPr>
          <p:cNvPr id="6" name="Shape 4"/>
          <p:cNvSpPr/>
          <p:nvPr/>
        </p:nvSpPr>
        <p:spPr>
          <a:xfrm>
            <a:off x="5181448" y="4800600"/>
            <a:ext cx="1828800" cy="32004"/>
          </a:xfrm>
          <a:prstGeom prst="rect">
            <a:avLst/>
          </a:prstGeom>
          <a:solidFill>
            <a:srgbClr val="D9AE4B"/>
          </a:solidFill>
          <a:ln/>
        </p:spPr>
      </p:sp>
      <p:sp>
        <p:nvSpPr>
          <p:cNvPr id="7" name="anim-g1-179"/>
          <p:cNvSpPr/>
          <p:nvPr/>
        </p:nvSpPr>
        <p:spPr>
          <a:xfrm>
            <a:off x="0" y="5029200"/>
            <a:ext cx="12191695"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9AE4B"/>
                </a:solidFill>
                <a:latin typeface="Cairo" pitchFamily="34" charset="0"/>
                <a:ea typeface="Cairo" pitchFamily="34" charset="-122"/>
                <a:cs typeface="Cairo" pitchFamily="34" charset="-120"/>
              </a:rPr>
              <a:t>رواه الترمذي وابن ماجه (وفي إسناده ضعف، ومعناه صحيح يستشهد به العلماء)</a:t>
            </a:r>
            <a:endParaRPr lang="ar-SA" sz="1600" dirty="0"/>
          </a:p>
        </p:txBody>
      </p:sp>
      <p:sp>
        <p:nvSpPr>
          <p:cNvPr id="8" name="Text 6"/>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9" name="Text 7"/>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جولة حول العالم  ·  ٣٧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خمّن قبل أن نبدأ</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في أيّ هذه الدول لا يوجد نظام تفتيش على المدارس أصلًا؟</a:t>
            </a:r>
            <a:endParaRPr lang="ar-SA" sz="32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فنلندا</a:t>
            </a:r>
            <a:endParaRPr lang="ar-SA" sz="2200" dirty="0"/>
          </a:p>
        </p:txBody>
      </p:sp>
      <p:sp>
        <p:nvSpPr>
          <p:cNvPr id="9" name="anim-g1-180"/>
          <p:cNvSpPr/>
          <p:nvPr/>
        </p:nvSpPr>
        <p:spPr>
          <a:xfrm>
            <a:off x="822960" y="2057400"/>
            <a:ext cx="10545775" cy="884682"/>
          </a:xfrm>
          <a:prstGeom prst="roundRect">
            <a:avLst>
              <a:gd name="adj" fmla="val 16537"/>
            </a:avLst>
          </a:prstGeom>
          <a:solidFill>
            <a:srgbClr val="E6F4EC"/>
          </a:solidFill>
          <a:ln w="31750">
            <a:solidFill>
              <a:srgbClr val="2E9E6B"/>
            </a:solidFill>
            <a:prstDash val="solid"/>
          </a:ln>
        </p:spPr>
      </p:sp>
      <p:sp>
        <p:nvSpPr>
          <p:cNvPr id="10" name="anim-g1-181"/>
          <p:cNvSpPr/>
          <p:nvPr/>
        </p:nvSpPr>
        <p:spPr>
          <a:xfrm>
            <a:off x="10575493" y="2194560"/>
            <a:ext cx="610362" cy="610362"/>
          </a:xfrm>
          <a:prstGeom prst="roundRect">
            <a:avLst>
              <a:gd name="adj" fmla="val 17978"/>
            </a:avLst>
          </a:prstGeom>
          <a:solidFill>
            <a:srgbClr val="2E9E6B"/>
          </a:solidFill>
          <a:ln/>
        </p:spPr>
      </p:sp>
      <p:sp>
        <p:nvSpPr>
          <p:cNvPr id="11" name="anim-g1-182"/>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12" name="anim-g1-183"/>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فنلندا</a:t>
            </a:r>
            <a:endParaRPr lang="ar-SA" sz="2200" dirty="0"/>
          </a:p>
        </p:txBody>
      </p:sp>
      <p:sp>
        <p:nvSpPr>
          <p:cNvPr id="13" name="anim-g1-184"/>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لا تفتيش ولا ترتيب للمدارس… والتقويم قائم على الثقة</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سنغافورة</a:t>
            </a:r>
            <a:endParaRPr lang="ar-SA" sz="2200" dirty="0"/>
          </a:p>
        </p:txBody>
      </p:sp>
      <p:sp>
        <p:nvSpPr>
          <p:cNvPr id="18" name="anim-g1-185"/>
          <p:cNvSpPr/>
          <p:nvPr/>
        </p:nvSpPr>
        <p:spPr>
          <a:xfrm>
            <a:off x="822960" y="3088386"/>
            <a:ext cx="10545775" cy="884682"/>
          </a:xfrm>
          <a:prstGeom prst="roundRect">
            <a:avLst>
              <a:gd name="adj" fmla="val 16537"/>
            </a:avLst>
          </a:prstGeom>
          <a:solidFill>
            <a:srgbClr val="F7F7F9"/>
          </a:solidFill>
          <a:ln w="19050">
            <a:solidFill>
              <a:srgbClr val="E4DCC8"/>
            </a:solidFill>
            <a:prstDash val="solid"/>
          </a:ln>
        </p:spPr>
      </p:sp>
      <p:sp>
        <p:nvSpPr>
          <p:cNvPr id="19" name="anim-g1-186"/>
          <p:cNvSpPr/>
          <p:nvPr/>
        </p:nvSpPr>
        <p:spPr>
          <a:xfrm>
            <a:off x="10575493" y="3225546"/>
            <a:ext cx="610362" cy="610362"/>
          </a:xfrm>
          <a:prstGeom prst="roundRect">
            <a:avLst>
              <a:gd name="adj" fmla="val 17978"/>
            </a:avLst>
          </a:prstGeom>
          <a:solidFill>
            <a:srgbClr val="A3A9BA"/>
          </a:solidFill>
          <a:ln/>
        </p:spPr>
      </p:sp>
      <p:sp>
        <p:nvSpPr>
          <p:cNvPr id="20" name="anim-g1-187"/>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21" name="anim-g1-188"/>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سنغافورة</a:t>
            </a:r>
            <a:endParaRPr lang="ar-SA" sz="2200" dirty="0"/>
          </a:p>
        </p:txBody>
      </p:sp>
      <p:sp>
        <p:nvSpPr>
          <p:cNvPr id="22" name="anim-g1-189"/>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نظام أداء دقيق ومتدرّج</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اليابان</a:t>
            </a:r>
            <a:endParaRPr lang="ar-SA" sz="2200" dirty="0"/>
          </a:p>
        </p:txBody>
      </p:sp>
      <p:sp>
        <p:nvSpPr>
          <p:cNvPr id="27" name="anim-g1-190"/>
          <p:cNvSpPr/>
          <p:nvPr/>
        </p:nvSpPr>
        <p:spPr>
          <a:xfrm>
            <a:off x="822960" y="4119372"/>
            <a:ext cx="10545775" cy="884682"/>
          </a:xfrm>
          <a:prstGeom prst="roundRect">
            <a:avLst>
              <a:gd name="adj" fmla="val 16537"/>
            </a:avLst>
          </a:prstGeom>
          <a:solidFill>
            <a:srgbClr val="F7F7F9"/>
          </a:solidFill>
          <a:ln w="19050">
            <a:solidFill>
              <a:srgbClr val="E4DCC8"/>
            </a:solidFill>
            <a:prstDash val="solid"/>
          </a:ln>
        </p:spPr>
      </p:sp>
      <p:sp>
        <p:nvSpPr>
          <p:cNvPr id="28" name="anim-g1-191"/>
          <p:cNvSpPr/>
          <p:nvPr/>
        </p:nvSpPr>
        <p:spPr>
          <a:xfrm>
            <a:off x="10575493" y="4256532"/>
            <a:ext cx="610362" cy="610362"/>
          </a:xfrm>
          <a:prstGeom prst="roundRect">
            <a:avLst>
              <a:gd name="adj" fmla="val 17978"/>
            </a:avLst>
          </a:prstGeom>
          <a:solidFill>
            <a:srgbClr val="A3A9BA"/>
          </a:solidFill>
          <a:ln/>
        </p:spPr>
      </p:sp>
      <p:sp>
        <p:nvSpPr>
          <p:cNvPr id="29" name="anim-g1-192"/>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30" name="anim-g1-193"/>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اليابان</a:t>
            </a:r>
            <a:endParaRPr lang="ar-SA" sz="2200" dirty="0"/>
          </a:p>
        </p:txBody>
      </p:sp>
      <p:sp>
        <p:nvSpPr>
          <p:cNvPr id="31" name="anim-g1-194"/>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متابعة جماعية عبر «دراسة الدرس»</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بريطانيا</a:t>
            </a:r>
            <a:endParaRPr lang="ar-SA" sz="2200" dirty="0"/>
          </a:p>
        </p:txBody>
      </p:sp>
      <p:sp>
        <p:nvSpPr>
          <p:cNvPr id="36" name="anim-g1-195"/>
          <p:cNvSpPr/>
          <p:nvPr/>
        </p:nvSpPr>
        <p:spPr>
          <a:xfrm>
            <a:off x="822960" y="5150358"/>
            <a:ext cx="10545775" cy="884682"/>
          </a:xfrm>
          <a:prstGeom prst="roundRect">
            <a:avLst>
              <a:gd name="adj" fmla="val 16537"/>
            </a:avLst>
          </a:prstGeom>
          <a:solidFill>
            <a:srgbClr val="F7F7F9"/>
          </a:solidFill>
          <a:ln w="19050">
            <a:solidFill>
              <a:srgbClr val="E4DCC8"/>
            </a:solidFill>
            <a:prstDash val="solid"/>
          </a:ln>
        </p:spPr>
      </p:sp>
      <p:sp>
        <p:nvSpPr>
          <p:cNvPr id="37" name="anim-g1-196"/>
          <p:cNvSpPr/>
          <p:nvPr/>
        </p:nvSpPr>
        <p:spPr>
          <a:xfrm>
            <a:off x="10575493" y="5287518"/>
            <a:ext cx="610362" cy="610362"/>
          </a:xfrm>
          <a:prstGeom prst="roundRect">
            <a:avLst>
              <a:gd name="adj" fmla="val 17978"/>
            </a:avLst>
          </a:prstGeom>
          <a:solidFill>
            <a:srgbClr val="A3A9BA"/>
          </a:solidFill>
          <a:ln/>
        </p:spPr>
      </p:sp>
      <p:sp>
        <p:nvSpPr>
          <p:cNvPr id="38" name="anim-g1-197"/>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9" name="anim-g1-198"/>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بريطانيا</a:t>
            </a:r>
            <a:endParaRPr lang="ar-SA" sz="2200" dirty="0"/>
          </a:p>
        </p:txBody>
      </p:sp>
      <p:sp>
        <p:nvSpPr>
          <p:cNvPr id="40" name="anim-g1-199"/>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تفتيش موجود لكنه لا يقيّم حصة معلم بعينه</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جولة حول العالم  ·  ٣٨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Users/mac/dev/younes-training/ishraf/.pptx-cache/s3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Users/mac/dev/younes-training/ishraf/.pptx-cache/s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Users/mac/dev/younes-training/ishraf/.pptx-cache/s4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Users/mac/dev/younes-training/ishraf/.pptx-cache/s4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Users/mac/dev/younes-training/ishraf/.pptx-cache/s4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Users/mac/dev/younes-training/ishraf/.pptx-cache/s4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003743" y="457200"/>
            <a:ext cx="3364992" cy="457200"/>
          </a:xfrm>
          <a:prstGeom prst="roundRect">
            <a:avLst>
              <a:gd name="adj" fmla="val 50000"/>
            </a:avLst>
          </a:prstGeom>
          <a:solidFill>
            <a:srgbClr val="F6EBCF"/>
          </a:solidFill>
          <a:ln/>
        </p:spPr>
      </p:sp>
      <p:sp>
        <p:nvSpPr>
          <p:cNvPr id="3" name="Text 1"/>
          <p:cNvSpPr/>
          <p:nvPr/>
        </p:nvSpPr>
        <p:spPr>
          <a:xfrm>
            <a:off x="8003743" y="457200"/>
            <a:ext cx="336499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ماذا تقول الأبحاث؟</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هل التوجيه والمرافقة يحسّنان التعليم فعلًا؟</a:t>
            </a:r>
            <a:endParaRPr lang="ar-SA" sz="3200" dirty="0"/>
          </a:p>
        </p:txBody>
      </p:sp>
      <p:sp>
        <p:nvSpPr>
          <p:cNvPr id="5" name="anim-g1-200"/>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01"/>
          <p:cNvSpPr/>
          <p:nvPr/>
        </p:nvSpPr>
        <p:spPr>
          <a:xfrm>
            <a:off x="10362895" y="2404872"/>
            <a:ext cx="731520" cy="731520"/>
          </a:xfrm>
          <a:prstGeom prst="roundRect">
            <a:avLst>
              <a:gd name="adj" fmla="val 25000"/>
            </a:avLst>
          </a:prstGeom>
          <a:solidFill>
            <a:srgbClr val="F7E6BC"/>
          </a:solidFill>
          <a:ln/>
        </p:spPr>
      </p:sp>
      <p:sp>
        <p:nvSpPr>
          <p:cNvPr id="7" name="anim-g1-202"/>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203"/>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٦٠ دراسة</a:t>
            </a:r>
            <a:endParaRPr lang="ar-SA" sz="2300" dirty="0"/>
          </a:p>
        </p:txBody>
      </p:sp>
      <p:sp>
        <p:nvSpPr>
          <p:cNvPr id="9" name="anim-g1-204"/>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تحليل جمع ٦٠ دراسة سببية عن مرافقة المعلم وتوجيهه (Coaching)</a:t>
            </a:r>
            <a:endParaRPr lang="ar-SA" sz="2100" dirty="0"/>
          </a:p>
        </p:txBody>
      </p:sp>
      <p:sp>
        <p:nvSpPr>
          <p:cNvPr id="10" name="anim-g2-205"/>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06"/>
          <p:cNvSpPr/>
          <p:nvPr/>
        </p:nvSpPr>
        <p:spPr>
          <a:xfrm>
            <a:off x="6756197" y="2404872"/>
            <a:ext cx="731520" cy="731520"/>
          </a:xfrm>
          <a:prstGeom prst="roundRect">
            <a:avLst>
              <a:gd name="adj" fmla="val 25000"/>
            </a:avLst>
          </a:prstGeom>
          <a:solidFill>
            <a:srgbClr val="F7E6BC"/>
          </a:solidFill>
          <a:ln/>
        </p:spPr>
      </p:sp>
      <p:sp>
        <p:nvSpPr>
          <p:cNvPr id="12" name="anim-g2-207"/>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208"/>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أثر قوي على التدريس</a:t>
            </a:r>
            <a:endParaRPr lang="ar-SA" sz="2300" dirty="0"/>
          </a:p>
        </p:txBody>
      </p:sp>
      <p:sp>
        <p:nvSpPr>
          <p:cNvPr id="14" name="anim-g2-209"/>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تحسّن واضح في جودة ممارسة المعلم داخل الفصل</a:t>
            </a:r>
            <a:endParaRPr lang="ar-SA" sz="2100" dirty="0"/>
          </a:p>
        </p:txBody>
      </p:sp>
      <p:sp>
        <p:nvSpPr>
          <p:cNvPr id="15" name="anim-g3-210"/>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11"/>
          <p:cNvSpPr/>
          <p:nvPr/>
        </p:nvSpPr>
        <p:spPr>
          <a:xfrm>
            <a:off x="3149498" y="2404872"/>
            <a:ext cx="731520" cy="731520"/>
          </a:xfrm>
          <a:prstGeom prst="roundRect">
            <a:avLst>
              <a:gd name="adj" fmla="val 25000"/>
            </a:avLst>
          </a:prstGeom>
          <a:solidFill>
            <a:srgbClr val="F7E6BC"/>
          </a:solidFill>
          <a:ln/>
        </p:spPr>
      </p:sp>
      <p:sp>
        <p:nvSpPr>
          <p:cNvPr id="17" name="anim-g3-212"/>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213"/>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وأثر على الطلاب</a:t>
            </a:r>
            <a:endParaRPr lang="ar-SA" sz="2300" dirty="0"/>
          </a:p>
        </p:txBody>
      </p:sp>
      <p:sp>
        <p:nvSpPr>
          <p:cNvPr id="19" name="anim-g3-214"/>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تحسّن في التحصيل… أقوى حين يكون التوجيه في المادة نفسها</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جولة حول العالم  ·  ٤٥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Users/mac/dev/younes-training/ishraf/.pptx-cache/s4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ما الذي يجمعهم؟</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ثلاثة تحولات في كل أنظمة التعليم المتقدمة</a:t>
            </a:r>
            <a:endParaRPr lang="ar-SA" sz="3200" dirty="0"/>
          </a:p>
        </p:txBody>
      </p:sp>
      <p:sp>
        <p:nvSpPr>
          <p:cNvPr id="5" name="anim-g1-215"/>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16"/>
          <p:cNvSpPr/>
          <p:nvPr/>
        </p:nvSpPr>
        <p:spPr>
          <a:xfrm>
            <a:off x="10362895" y="2404872"/>
            <a:ext cx="731520" cy="731520"/>
          </a:xfrm>
          <a:prstGeom prst="roundRect">
            <a:avLst>
              <a:gd name="adj" fmla="val 25000"/>
            </a:avLst>
          </a:prstGeom>
          <a:solidFill>
            <a:srgbClr val="F7E6BC"/>
          </a:solidFill>
          <a:ln/>
        </p:spPr>
      </p:sp>
      <p:sp>
        <p:nvSpPr>
          <p:cNvPr id="7" name="anim-g1-217"/>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218"/>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من الحكم… إلى التطوير</a:t>
            </a:r>
            <a:endParaRPr lang="ar-SA" sz="2300" dirty="0"/>
          </a:p>
        </p:txBody>
      </p:sp>
      <p:sp>
        <p:nvSpPr>
          <p:cNvPr id="9" name="anim-g1-219"/>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الزيارة هدفها أن ينمو المعلم، لا أن يحصل على درجة</a:t>
            </a:r>
            <a:endParaRPr lang="ar-SA" sz="2100" dirty="0"/>
          </a:p>
        </p:txBody>
      </p:sp>
      <p:sp>
        <p:nvSpPr>
          <p:cNvPr id="10" name="anim-g2-220"/>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21"/>
          <p:cNvSpPr/>
          <p:nvPr/>
        </p:nvSpPr>
        <p:spPr>
          <a:xfrm>
            <a:off x="6756197" y="2404872"/>
            <a:ext cx="731520" cy="731520"/>
          </a:xfrm>
          <a:prstGeom prst="roundRect">
            <a:avLst>
              <a:gd name="adj" fmla="val 25000"/>
            </a:avLst>
          </a:prstGeom>
          <a:solidFill>
            <a:srgbClr val="F7E6BC"/>
          </a:solidFill>
          <a:ln/>
        </p:spPr>
      </p:sp>
      <p:sp>
        <p:nvSpPr>
          <p:cNvPr id="12" name="anim-g2-222"/>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223"/>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من الفرد… إلى الجماعة</a:t>
            </a:r>
            <a:endParaRPr lang="ar-SA" sz="2300" dirty="0"/>
          </a:p>
        </p:txBody>
      </p:sp>
      <p:sp>
        <p:nvSpPr>
          <p:cNvPr id="14" name="anim-g2-224"/>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المعلمون يتعلمون من بعضهم: درس بحثي، ومجموعات، ومرشدون</a:t>
            </a:r>
            <a:endParaRPr lang="ar-SA" sz="2100" dirty="0"/>
          </a:p>
        </p:txBody>
      </p:sp>
      <p:sp>
        <p:nvSpPr>
          <p:cNvPr id="15" name="anim-g3-225"/>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26"/>
          <p:cNvSpPr/>
          <p:nvPr/>
        </p:nvSpPr>
        <p:spPr>
          <a:xfrm>
            <a:off x="3149498" y="2404872"/>
            <a:ext cx="731520" cy="731520"/>
          </a:xfrm>
          <a:prstGeom prst="roundRect">
            <a:avLst>
              <a:gd name="adj" fmla="val 25000"/>
            </a:avLst>
          </a:prstGeom>
          <a:solidFill>
            <a:srgbClr val="F7E6BC"/>
          </a:solidFill>
          <a:ln/>
        </p:spPr>
      </p:sp>
      <p:sp>
        <p:nvSpPr>
          <p:cNvPr id="17" name="anim-g3-227"/>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228"/>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من الانطباع… إلى الدليل</a:t>
            </a:r>
            <a:endParaRPr lang="ar-SA" sz="2300" dirty="0"/>
          </a:p>
        </p:txBody>
      </p:sp>
      <p:sp>
        <p:nvSpPr>
          <p:cNvPr id="19" name="anim-g3-229"/>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ما رأيته وسمعته بالأرقام، ومعايير متفق عليها مسبقًا</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جولة حول العالم  ·  ٤٧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ونحن في المملكة؟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الاتجاه نفسه… بخصوصيتنا</a:t>
            </a:r>
            <a:endParaRPr lang="ar-SA" sz="3800" dirty="0"/>
          </a:p>
        </p:txBody>
      </p:sp>
      <p:sp>
        <p:nvSpPr>
          <p:cNvPr id="5" name="anim-g1-230"/>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31"/>
          <p:cNvSpPr/>
          <p:nvPr/>
        </p:nvSpPr>
        <p:spPr>
          <a:xfrm>
            <a:off x="10362895" y="2404872"/>
            <a:ext cx="731520" cy="731520"/>
          </a:xfrm>
          <a:prstGeom prst="roundRect">
            <a:avLst>
              <a:gd name="adj" fmla="val 25000"/>
            </a:avLst>
          </a:prstGeom>
          <a:solidFill>
            <a:srgbClr val="F7E6BC"/>
          </a:solidFill>
          <a:ln/>
        </p:spPr>
      </p:sp>
      <p:sp>
        <p:nvSpPr>
          <p:cNvPr id="7" name="anim-g1-232"/>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233"/>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الإشراف إلى داخل المدرسة</a:t>
            </a:r>
            <a:endParaRPr lang="ar-SA" sz="2300" dirty="0"/>
          </a:p>
        </p:txBody>
      </p:sp>
      <p:sp>
        <p:nvSpPr>
          <p:cNvPr id="9" name="anim-g1-234"/>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إعادة هيكلة مكاتب التعليم، وقائد المدرسة «مشرف مقيم»</a:t>
            </a:r>
            <a:endParaRPr lang="ar-SA" sz="2100" dirty="0"/>
          </a:p>
        </p:txBody>
      </p:sp>
      <p:sp>
        <p:nvSpPr>
          <p:cNvPr id="10" name="anim-g2-235"/>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36"/>
          <p:cNvSpPr/>
          <p:nvPr/>
        </p:nvSpPr>
        <p:spPr>
          <a:xfrm>
            <a:off x="6756197" y="2404872"/>
            <a:ext cx="731520" cy="731520"/>
          </a:xfrm>
          <a:prstGeom prst="roundRect">
            <a:avLst>
              <a:gd name="adj" fmla="val 25000"/>
            </a:avLst>
          </a:prstGeom>
          <a:solidFill>
            <a:srgbClr val="F7E6BC"/>
          </a:solidFill>
          <a:ln/>
        </p:spPr>
      </p:sp>
      <p:sp>
        <p:nvSpPr>
          <p:cNvPr id="12" name="anim-g2-237"/>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238"/>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الجدارات وسلّم التقدير</a:t>
            </a:r>
            <a:endParaRPr lang="ar-SA" sz="2300" dirty="0"/>
          </a:p>
        </p:txBody>
      </p:sp>
      <p:sp>
        <p:nvSpPr>
          <p:cNvPr id="14" name="anim-g2-239"/>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نظام إدارة الأداء: معايير معلنة يحتكم إليها المعلم والمشرف معًا</a:t>
            </a:r>
            <a:endParaRPr lang="ar-SA" sz="2100" dirty="0"/>
          </a:p>
        </p:txBody>
      </p:sp>
      <p:sp>
        <p:nvSpPr>
          <p:cNvPr id="15" name="anim-g3-240"/>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41"/>
          <p:cNvSpPr/>
          <p:nvPr/>
        </p:nvSpPr>
        <p:spPr>
          <a:xfrm>
            <a:off x="3149498" y="2404872"/>
            <a:ext cx="731520" cy="731520"/>
          </a:xfrm>
          <a:prstGeom prst="roundRect">
            <a:avLst>
              <a:gd name="adj" fmla="val 25000"/>
            </a:avLst>
          </a:prstGeom>
          <a:solidFill>
            <a:srgbClr val="F7E6BC"/>
          </a:solidFill>
          <a:ln/>
        </p:spPr>
      </p:sp>
      <p:sp>
        <p:nvSpPr>
          <p:cNvPr id="17" name="anim-g3-242"/>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243"/>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رخصة المعلم ومساراته</a:t>
            </a:r>
            <a:endParaRPr lang="ar-SA" sz="2300" dirty="0"/>
          </a:p>
        </p:txBody>
      </p:sp>
      <p:sp>
        <p:nvSpPr>
          <p:cNvPr id="19" name="anim-g3-244"/>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لائحة الوظائف التعليمية: رتب ومستويات وتطوير مهني مستمر</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جولة حول العالم  ·  ٤٨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51999" y="457200"/>
            <a:ext cx="1316736" cy="457200"/>
          </a:xfrm>
          <a:prstGeom prst="roundRect">
            <a:avLst>
              <a:gd name="adj" fmla="val 50000"/>
            </a:avLst>
          </a:prstGeom>
          <a:solidFill>
            <a:srgbClr val="F6EBCF"/>
          </a:solidFill>
          <a:ln/>
        </p:spPr>
      </p:sp>
      <p:sp>
        <p:nvSpPr>
          <p:cNvPr id="3" name="Text 1"/>
          <p:cNvSpPr/>
          <p:nvPr/>
        </p:nvSpPr>
        <p:spPr>
          <a:xfrm>
            <a:off x="10051999" y="457200"/>
            <a:ext cx="131673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صوّت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أيّ تجربة تتمنى أن تبدأ بها في مدارسك هذا الفصل؟</a:t>
            </a:r>
            <a:endParaRPr lang="ar-SA" sz="32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ثقة فنلندا: معايير معلنة ثم ثقة</a:t>
            </a:r>
            <a:endParaRPr lang="ar-SA" sz="2200" dirty="0"/>
          </a:p>
        </p:txBody>
      </p:sp>
      <p:sp>
        <p:nvSpPr>
          <p:cNvPr id="9" name="anim-g1-245"/>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246"/>
          <p:cNvSpPr/>
          <p:nvPr/>
        </p:nvSpPr>
        <p:spPr>
          <a:xfrm>
            <a:off x="10575493" y="2194560"/>
            <a:ext cx="610362" cy="610362"/>
          </a:xfrm>
          <a:prstGeom prst="roundRect">
            <a:avLst>
              <a:gd name="adj" fmla="val 17978"/>
            </a:avLst>
          </a:prstGeom>
          <a:solidFill>
            <a:srgbClr val="A3A9BA"/>
          </a:solidFill>
          <a:ln/>
        </p:spPr>
      </p:sp>
      <p:sp>
        <p:nvSpPr>
          <p:cNvPr id="11" name="anim-g1-247"/>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248"/>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ثقة فنلندا: معايير معلنة ثم ثقة</a:t>
            </a:r>
            <a:endParaRPr lang="ar-SA" sz="2200" dirty="0"/>
          </a:p>
        </p:txBody>
      </p:sp>
      <p:sp>
        <p:nvSpPr>
          <p:cNvPr id="13" name="Shape 11"/>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4" name="Shape 12"/>
          <p:cNvSpPr/>
          <p:nvPr/>
        </p:nvSpPr>
        <p:spPr>
          <a:xfrm>
            <a:off x="10575493" y="3225546"/>
            <a:ext cx="610362" cy="610362"/>
          </a:xfrm>
          <a:prstGeom prst="roundRect">
            <a:avLst>
              <a:gd name="adj" fmla="val 17978"/>
            </a:avLst>
          </a:prstGeom>
          <a:solidFill>
            <a:srgbClr val="101B45"/>
          </a:solidFill>
          <a:ln/>
        </p:spPr>
      </p:sp>
      <p:sp>
        <p:nvSpPr>
          <p:cNvPr id="15" name="Text 13"/>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6" name="Text 14"/>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سُلّم سنغافورة: المتميز يدرّب زملاءه</a:t>
            </a:r>
            <a:endParaRPr lang="ar-SA" sz="2200" dirty="0"/>
          </a:p>
        </p:txBody>
      </p:sp>
      <p:sp>
        <p:nvSpPr>
          <p:cNvPr id="17" name="anim-g1-249"/>
          <p:cNvSpPr/>
          <p:nvPr/>
        </p:nvSpPr>
        <p:spPr>
          <a:xfrm>
            <a:off x="822960" y="3088386"/>
            <a:ext cx="10545775" cy="884682"/>
          </a:xfrm>
          <a:prstGeom prst="roundRect">
            <a:avLst>
              <a:gd name="adj" fmla="val 16537"/>
            </a:avLst>
          </a:prstGeom>
          <a:solidFill>
            <a:srgbClr val="F7F7F9"/>
          </a:solidFill>
          <a:ln w="19050">
            <a:solidFill>
              <a:srgbClr val="E4DCC8"/>
            </a:solidFill>
            <a:prstDash val="solid"/>
          </a:ln>
        </p:spPr>
      </p:sp>
      <p:sp>
        <p:nvSpPr>
          <p:cNvPr id="18" name="anim-g1-250"/>
          <p:cNvSpPr/>
          <p:nvPr/>
        </p:nvSpPr>
        <p:spPr>
          <a:xfrm>
            <a:off x="10575493" y="3225546"/>
            <a:ext cx="610362" cy="610362"/>
          </a:xfrm>
          <a:prstGeom prst="roundRect">
            <a:avLst>
              <a:gd name="adj" fmla="val 17978"/>
            </a:avLst>
          </a:prstGeom>
          <a:solidFill>
            <a:srgbClr val="A3A9BA"/>
          </a:solidFill>
          <a:ln/>
        </p:spPr>
      </p:sp>
      <p:sp>
        <p:nvSpPr>
          <p:cNvPr id="19" name="anim-g1-251"/>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20" name="anim-g1-252"/>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سُلّم سنغافورة: المتميز يدرّب زملاءه</a:t>
            </a:r>
            <a:endParaRPr lang="ar-SA" sz="2200" dirty="0"/>
          </a:p>
        </p:txBody>
      </p:sp>
      <p:sp>
        <p:nvSpPr>
          <p:cNvPr id="21" name="Shape 19"/>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2" name="Shape 20"/>
          <p:cNvSpPr/>
          <p:nvPr/>
        </p:nvSpPr>
        <p:spPr>
          <a:xfrm>
            <a:off x="10575493" y="4256532"/>
            <a:ext cx="610362" cy="610362"/>
          </a:xfrm>
          <a:prstGeom prst="roundRect">
            <a:avLst>
              <a:gd name="adj" fmla="val 17978"/>
            </a:avLst>
          </a:prstGeom>
          <a:solidFill>
            <a:srgbClr val="101B45"/>
          </a:solidFill>
          <a:ln/>
        </p:spPr>
      </p:sp>
      <p:sp>
        <p:nvSpPr>
          <p:cNvPr id="23" name="Text 21"/>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4" name="Text 22"/>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دراسة الدرس اليابانية: حصة بحثية مشتركة</a:t>
            </a:r>
            <a:endParaRPr lang="ar-SA" sz="2200" dirty="0"/>
          </a:p>
        </p:txBody>
      </p:sp>
      <p:sp>
        <p:nvSpPr>
          <p:cNvPr id="25" name="anim-g1-253"/>
          <p:cNvSpPr/>
          <p:nvPr/>
        </p:nvSpPr>
        <p:spPr>
          <a:xfrm>
            <a:off x="822960" y="4119372"/>
            <a:ext cx="10545775" cy="884682"/>
          </a:xfrm>
          <a:prstGeom prst="roundRect">
            <a:avLst>
              <a:gd name="adj" fmla="val 16537"/>
            </a:avLst>
          </a:prstGeom>
          <a:solidFill>
            <a:srgbClr val="F7F7F9"/>
          </a:solidFill>
          <a:ln w="19050">
            <a:solidFill>
              <a:srgbClr val="E4DCC8"/>
            </a:solidFill>
            <a:prstDash val="solid"/>
          </a:ln>
        </p:spPr>
      </p:sp>
      <p:sp>
        <p:nvSpPr>
          <p:cNvPr id="26" name="anim-g1-254"/>
          <p:cNvSpPr/>
          <p:nvPr/>
        </p:nvSpPr>
        <p:spPr>
          <a:xfrm>
            <a:off x="10575493" y="4256532"/>
            <a:ext cx="610362" cy="610362"/>
          </a:xfrm>
          <a:prstGeom prst="roundRect">
            <a:avLst>
              <a:gd name="adj" fmla="val 17978"/>
            </a:avLst>
          </a:prstGeom>
          <a:solidFill>
            <a:srgbClr val="A3A9BA"/>
          </a:solidFill>
          <a:ln/>
        </p:spPr>
      </p:sp>
      <p:sp>
        <p:nvSpPr>
          <p:cNvPr id="27" name="anim-g1-255"/>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8" name="anim-g1-256"/>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دراسة الدرس اليابانية: حصة بحثية مشتركة</a:t>
            </a:r>
            <a:endParaRPr lang="ar-SA" sz="2200" dirty="0"/>
          </a:p>
        </p:txBody>
      </p:sp>
      <p:sp>
        <p:nvSpPr>
          <p:cNvPr id="29" name="Shape 27"/>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0" name="Shape 28"/>
          <p:cNvSpPr/>
          <p:nvPr/>
        </p:nvSpPr>
        <p:spPr>
          <a:xfrm>
            <a:off x="10575493" y="5287518"/>
            <a:ext cx="610362" cy="610362"/>
          </a:xfrm>
          <a:prstGeom prst="roundRect">
            <a:avLst>
              <a:gd name="adj" fmla="val 17978"/>
            </a:avLst>
          </a:prstGeom>
          <a:solidFill>
            <a:srgbClr val="101B45"/>
          </a:solidFill>
          <a:ln/>
        </p:spPr>
      </p:sp>
      <p:sp>
        <p:nvSpPr>
          <p:cNvPr id="31" name="Text 29"/>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2" name="Text 30"/>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جولات أمريكا: أدلة لا أحكام</a:t>
            </a:r>
            <a:endParaRPr lang="ar-SA" sz="2200" dirty="0"/>
          </a:p>
        </p:txBody>
      </p:sp>
      <p:sp>
        <p:nvSpPr>
          <p:cNvPr id="33" name="anim-g1-257"/>
          <p:cNvSpPr/>
          <p:nvPr/>
        </p:nvSpPr>
        <p:spPr>
          <a:xfrm>
            <a:off x="822960" y="5150358"/>
            <a:ext cx="10545775" cy="884682"/>
          </a:xfrm>
          <a:prstGeom prst="roundRect">
            <a:avLst>
              <a:gd name="adj" fmla="val 16537"/>
            </a:avLst>
          </a:prstGeom>
          <a:solidFill>
            <a:srgbClr val="F7F7F9"/>
          </a:solidFill>
          <a:ln w="19050">
            <a:solidFill>
              <a:srgbClr val="E4DCC8"/>
            </a:solidFill>
            <a:prstDash val="solid"/>
          </a:ln>
        </p:spPr>
      </p:sp>
      <p:sp>
        <p:nvSpPr>
          <p:cNvPr id="34" name="anim-g1-258"/>
          <p:cNvSpPr/>
          <p:nvPr/>
        </p:nvSpPr>
        <p:spPr>
          <a:xfrm>
            <a:off x="10575493" y="5287518"/>
            <a:ext cx="610362" cy="610362"/>
          </a:xfrm>
          <a:prstGeom prst="roundRect">
            <a:avLst>
              <a:gd name="adj" fmla="val 17978"/>
            </a:avLst>
          </a:prstGeom>
          <a:solidFill>
            <a:srgbClr val="A3A9BA"/>
          </a:solidFill>
          <a:ln/>
        </p:spPr>
      </p:sp>
      <p:sp>
        <p:nvSpPr>
          <p:cNvPr id="35" name="anim-g1-259"/>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6" name="anim-g1-260"/>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جولات أمريكا: أدلة لا أحكام</a:t>
            </a:r>
            <a:endParaRPr lang="ar-SA" sz="2200" dirty="0"/>
          </a:p>
        </p:txBody>
      </p:sp>
      <p:sp>
        <p:nvSpPr>
          <p:cNvPr id="37" name="Text 3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38" name="Text 3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جولة حول العالم  ·  ٤٩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7" grpId="0" animBg="1"/>
      <p:bldP spid="18" grpId="0" animBg="1"/>
      <p:bldP spid="19" grpId="0" animBg="1"/>
      <p:bldP spid="20" grpId="0" animBg="1"/>
      <p:bldP spid="25" grpId="0" animBg="1"/>
      <p:bldP spid="26" grpId="0" animBg="1"/>
      <p:bldP spid="27" grpId="0" animBg="1"/>
      <p:bldP spid="28" grpId="0" animBg="1"/>
      <p:bldP spid="33" grpId="0" animBg="1"/>
      <p:bldP spid="34" grpId="0" animBg="1"/>
      <p:bldP spid="35" grpId="0" animBg="1"/>
      <p:bldP spid="3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ماذا تعلّمنا؟</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دقيقتان قبل أن ننتقل</a:t>
            </a:r>
            <a:endParaRPr lang="ar-SA" sz="3800" dirty="0"/>
          </a:p>
        </p:txBody>
      </p:sp>
      <p:sp>
        <p:nvSpPr>
          <p:cNvPr id="5" name="anim-g1-261"/>
          <p:cNvSpPr/>
          <p:nvPr/>
        </p:nvSpPr>
        <p:spPr>
          <a:xfrm>
            <a:off x="10637215" y="2286000"/>
            <a:ext cx="731520" cy="731520"/>
          </a:xfrm>
          <a:prstGeom prst="ellipse">
            <a:avLst/>
          </a:prstGeom>
          <a:solidFill>
            <a:srgbClr val="D9AE4B"/>
          </a:solidFill>
          <a:ln/>
        </p:spPr>
      </p:sp>
      <p:sp>
        <p:nvSpPr>
          <p:cNvPr id="6" name="anim-g1-262"/>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263"/>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اكتب فكرة واحدة من الجولة ستجرّبها هذا الشهر</a:t>
            </a:r>
            <a:endParaRPr lang="ar-SA" sz="2200" dirty="0"/>
          </a:p>
        </p:txBody>
      </p:sp>
      <p:sp>
        <p:nvSpPr>
          <p:cNvPr id="8" name="anim-g2-264"/>
          <p:cNvSpPr/>
          <p:nvPr/>
        </p:nvSpPr>
        <p:spPr>
          <a:xfrm>
            <a:off x="10637215" y="3383280"/>
            <a:ext cx="731520" cy="731520"/>
          </a:xfrm>
          <a:prstGeom prst="ellipse">
            <a:avLst/>
          </a:prstGeom>
          <a:solidFill>
            <a:srgbClr val="D9AE4B"/>
          </a:solidFill>
          <a:ln/>
        </p:spPr>
      </p:sp>
      <p:sp>
        <p:nvSpPr>
          <p:cNvPr id="9" name="anim-g2-265"/>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266"/>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اكتب ما الذي تحتاجه لتنجح: وقت؟ إذن؟ تدريب؟</a:t>
            </a:r>
            <a:endParaRPr lang="ar-SA" sz="2200" dirty="0"/>
          </a:p>
        </p:txBody>
      </p:sp>
      <p:sp>
        <p:nvSpPr>
          <p:cNvPr id="11" name="anim-g3-267"/>
          <p:cNvSpPr/>
          <p:nvPr/>
        </p:nvSpPr>
        <p:spPr>
          <a:xfrm>
            <a:off x="10637215" y="4480560"/>
            <a:ext cx="731520" cy="731520"/>
          </a:xfrm>
          <a:prstGeom prst="ellipse">
            <a:avLst/>
          </a:prstGeom>
          <a:solidFill>
            <a:srgbClr val="D9AE4B"/>
          </a:solidFill>
          <a:ln/>
        </p:spPr>
      </p:sp>
      <p:sp>
        <p:nvSpPr>
          <p:cNvPr id="12" name="anim-g3-268"/>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269"/>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سنعود لهذه الأفكار في الختام</a:t>
            </a:r>
            <a:endParaRPr lang="ar-SA" sz="2200" dirty="0"/>
          </a:p>
        </p:txBody>
      </p:sp>
      <p:sp>
        <p:nvSpPr>
          <p:cNvPr id="14" name="Shape 12"/>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5" name="Text 13"/>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2:00</a:t>
            </a:r>
            <a:endParaRPr lang="ar-SA" sz="6000" dirty="0"/>
          </a:p>
        </p:txBody>
      </p:sp>
      <p:sp>
        <p:nvSpPr>
          <p:cNvPr id="16" name="Text 14"/>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٢ دقائق</a:t>
            </a:r>
            <a:endParaRPr lang="ar-SA" sz="16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جولة حول العالم  ·  ٥٠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مصادر المحطة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المراجع</a:t>
            </a:r>
            <a:endParaRPr lang="ar-SA" sz="3800" dirty="0"/>
          </a:p>
        </p:txBody>
      </p:sp>
      <p:sp>
        <p:nvSpPr>
          <p:cNvPr id="5" name="anim-g1-270"/>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271"/>
          <p:cNvSpPr/>
          <p:nvPr/>
        </p:nvSpPr>
        <p:spPr>
          <a:xfrm>
            <a:off x="10573207" y="2109978"/>
            <a:ext cx="566928" cy="566928"/>
          </a:xfrm>
          <a:prstGeom prst="ellipse">
            <a:avLst/>
          </a:prstGeom>
          <a:solidFill>
            <a:srgbClr val="D9AE4B"/>
          </a:solidFill>
          <a:ln/>
        </p:spPr>
      </p:sp>
      <p:sp>
        <p:nvSpPr>
          <p:cNvPr id="7" name="anim-g1-272"/>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273"/>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Finnish Ministry of Education and Culture (OKM)</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فنلندا</a:t>
            </a:r>
            <a:endParaRPr lang="ar-SA" sz="2400" dirty="0"/>
          </a:p>
        </p:txBody>
      </p:sp>
      <p:sp>
        <p:nvSpPr>
          <p:cNvPr id="9" name="anim-g2-274"/>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275"/>
          <p:cNvSpPr/>
          <p:nvPr/>
        </p:nvSpPr>
        <p:spPr>
          <a:xfrm>
            <a:off x="10573207" y="3166110"/>
            <a:ext cx="566928" cy="566928"/>
          </a:xfrm>
          <a:prstGeom prst="ellipse">
            <a:avLst/>
          </a:prstGeom>
          <a:solidFill>
            <a:srgbClr val="D9AE4B"/>
          </a:solidFill>
          <a:ln/>
        </p:spPr>
      </p:sp>
      <p:sp>
        <p:nvSpPr>
          <p:cNvPr id="11" name="anim-g2-276"/>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277"/>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Academy of Singapore Teachers. Teacher Growth Model · MOE: About Master Teachers</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سنغافورة</a:t>
            </a:r>
            <a:endParaRPr lang="ar-SA" sz="2400" dirty="0"/>
          </a:p>
        </p:txBody>
      </p:sp>
      <p:sp>
        <p:nvSpPr>
          <p:cNvPr id="13" name="anim-g3-278"/>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279"/>
          <p:cNvSpPr/>
          <p:nvPr/>
        </p:nvSpPr>
        <p:spPr>
          <a:xfrm>
            <a:off x="10573207" y="4222242"/>
            <a:ext cx="566928" cy="566928"/>
          </a:xfrm>
          <a:prstGeom prst="ellipse">
            <a:avLst/>
          </a:prstGeom>
          <a:solidFill>
            <a:srgbClr val="D9AE4B"/>
          </a:solidFill>
          <a:ln/>
        </p:spPr>
      </p:sp>
      <p:sp>
        <p:nvSpPr>
          <p:cNvPr id="15" name="anim-g3-280"/>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281"/>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Lewis, C. Lesson Study · NCEE: Teaching and Research Groups in Shanghai</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اليابان وشنغهاي</a:t>
            </a:r>
            <a:endParaRPr lang="ar-SA" sz="2400" dirty="0"/>
          </a:p>
        </p:txBody>
      </p:sp>
      <p:sp>
        <p:nvSpPr>
          <p:cNvPr id="17" name="anim-g4-282"/>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283"/>
          <p:cNvSpPr/>
          <p:nvPr/>
        </p:nvSpPr>
        <p:spPr>
          <a:xfrm>
            <a:off x="10573207" y="5278374"/>
            <a:ext cx="566928" cy="566928"/>
          </a:xfrm>
          <a:prstGeom prst="ellipse">
            <a:avLst/>
          </a:prstGeom>
          <a:solidFill>
            <a:srgbClr val="D9AE4B"/>
          </a:solidFill>
          <a:ln/>
        </p:spPr>
      </p:sp>
      <p:sp>
        <p:nvSpPr>
          <p:cNvPr id="19" name="anim-g4-284"/>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285"/>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City et al. (2009) Instructional Rounds · Kraft et al. (2018) Teacher Coaching</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أمريكا وأثر التوجيه (وبريطانيا: Ofsted 2014)</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جولة حول العالم  ·  ٥١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٣</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المحطة ٣</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تشخيص الفجوة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لماذا لا ينجز المعلم؟ وكيف أرى الفجوة بالأدلة؟</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تشخيص الفجوة  ·  ٥٢</a:t>
            </a:r>
            <a:endParaRPr lang="ar-SA"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pic>
        <p:nvPicPr>
          <p:cNvPr id="2" name="Image 0" descr="/Users/mac/dev/younes-training/ishraf/.pptx-cache/s5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pic>
        <p:nvPicPr>
          <p:cNvPr id="2" name="Image 0" descr="/Users/mac/dev/younes-training/ishraf/.pptx-cache/s5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74175" y="457200"/>
            <a:ext cx="2194560" cy="457200"/>
          </a:xfrm>
          <a:prstGeom prst="roundRect">
            <a:avLst>
              <a:gd name="adj" fmla="val 50000"/>
            </a:avLst>
          </a:prstGeom>
          <a:solidFill>
            <a:srgbClr val="F6EBCF"/>
          </a:solidFill>
          <a:ln/>
        </p:spPr>
      </p:sp>
      <p:sp>
        <p:nvSpPr>
          <p:cNvPr id="3" name="Text 1"/>
          <p:cNvSpPr/>
          <p:nvPr/>
        </p:nvSpPr>
        <p:spPr>
          <a:xfrm>
            <a:off x="9174175" y="457200"/>
            <a:ext cx="21945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تمرين سريع</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أيّ هذه «مهارة مستهدفة» محددة يمكن قياسها في زيارة واحدة؟</a:t>
            </a:r>
            <a:endParaRPr lang="ar-SA" sz="32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تفعيل استراتيجيات التعلم النشط</a:t>
            </a:r>
            <a:endParaRPr lang="ar-SA" sz="2200" dirty="0"/>
          </a:p>
        </p:txBody>
      </p:sp>
      <p:sp>
        <p:nvSpPr>
          <p:cNvPr id="9" name="anim-g1-286"/>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287"/>
          <p:cNvSpPr/>
          <p:nvPr/>
        </p:nvSpPr>
        <p:spPr>
          <a:xfrm>
            <a:off x="10575493" y="2194560"/>
            <a:ext cx="610362" cy="610362"/>
          </a:xfrm>
          <a:prstGeom prst="roundRect">
            <a:avLst>
              <a:gd name="adj" fmla="val 17978"/>
            </a:avLst>
          </a:prstGeom>
          <a:solidFill>
            <a:srgbClr val="A3A9BA"/>
          </a:solidFill>
          <a:ln/>
        </p:spPr>
      </p:sp>
      <p:sp>
        <p:nvSpPr>
          <p:cNvPr id="11" name="anim-g1-288"/>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289"/>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تفعيل استراتيجيات التعلم النشط</a:t>
            </a:r>
            <a:endParaRPr lang="ar-SA" sz="2200" dirty="0"/>
          </a:p>
        </p:txBody>
      </p:sp>
      <p:sp>
        <p:nvSpPr>
          <p:cNvPr id="13" name="anim-g1-290"/>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عنوان عام يحتمل مئة معنى</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تحسين الإدارة الصفية</a:t>
            </a:r>
            <a:endParaRPr lang="ar-SA" sz="2200" dirty="0"/>
          </a:p>
        </p:txBody>
      </p:sp>
      <p:sp>
        <p:nvSpPr>
          <p:cNvPr id="18" name="anim-g1-291"/>
          <p:cNvSpPr/>
          <p:nvPr/>
        </p:nvSpPr>
        <p:spPr>
          <a:xfrm>
            <a:off x="822960" y="3088386"/>
            <a:ext cx="10545775" cy="884682"/>
          </a:xfrm>
          <a:prstGeom prst="roundRect">
            <a:avLst>
              <a:gd name="adj" fmla="val 16537"/>
            </a:avLst>
          </a:prstGeom>
          <a:solidFill>
            <a:srgbClr val="F7F7F9"/>
          </a:solidFill>
          <a:ln w="19050">
            <a:solidFill>
              <a:srgbClr val="E4DCC8"/>
            </a:solidFill>
            <a:prstDash val="solid"/>
          </a:ln>
        </p:spPr>
      </p:sp>
      <p:sp>
        <p:nvSpPr>
          <p:cNvPr id="19" name="anim-g1-292"/>
          <p:cNvSpPr/>
          <p:nvPr/>
        </p:nvSpPr>
        <p:spPr>
          <a:xfrm>
            <a:off x="10575493" y="3225546"/>
            <a:ext cx="610362" cy="610362"/>
          </a:xfrm>
          <a:prstGeom prst="roundRect">
            <a:avLst>
              <a:gd name="adj" fmla="val 17978"/>
            </a:avLst>
          </a:prstGeom>
          <a:solidFill>
            <a:srgbClr val="A3A9BA"/>
          </a:solidFill>
          <a:ln/>
        </p:spPr>
      </p:sp>
      <p:sp>
        <p:nvSpPr>
          <p:cNvPr id="20" name="anim-g1-293"/>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21" name="anim-g1-294"/>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تحسين الإدارة الصفية</a:t>
            </a:r>
            <a:endParaRPr lang="ar-SA" sz="2200" dirty="0"/>
          </a:p>
        </p:txBody>
      </p:sp>
      <p:sp>
        <p:nvSpPr>
          <p:cNvPr id="22" name="anim-g1-295"/>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مجال كامل لا مهارة</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طرح ٣ أسئلة تفكير عليا على الأقل وانتظار ٥ ثوانٍ قبل قبول الإجابة</a:t>
            </a:r>
            <a:endParaRPr lang="ar-SA" sz="2200" dirty="0"/>
          </a:p>
        </p:txBody>
      </p:sp>
      <p:sp>
        <p:nvSpPr>
          <p:cNvPr id="27" name="anim-g1-296"/>
          <p:cNvSpPr/>
          <p:nvPr/>
        </p:nvSpPr>
        <p:spPr>
          <a:xfrm>
            <a:off x="822960" y="4119372"/>
            <a:ext cx="10545775" cy="884682"/>
          </a:xfrm>
          <a:prstGeom prst="roundRect">
            <a:avLst>
              <a:gd name="adj" fmla="val 16537"/>
            </a:avLst>
          </a:prstGeom>
          <a:solidFill>
            <a:srgbClr val="E6F4EC"/>
          </a:solidFill>
          <a:ln w="31750">
            <a:solidFill>
              <a:srgbClr val="2E9E6B"/>
            </a:solidFill>
            <a:prstDash val="solid"/>
          </a:ln>
        </p:spPr>
      </p:sp>
      <p:sp>
        <p:nvSpPr>
          <p:cNvPr id="28" name="anim-g1-297"/>
          <p:cNvSpPr/>
          <p:nvPr/>
        </p:nvSpPr>
        <p:spPr>
          <a:xfrm>
            <a:off x="10575493" y="4256532"/>
            <a:ext cx="610362" cy="610362"/>
          </a:xfrm>
          <a:prstGeom prst="roundRect">
            <a:avLst>
              <a:gd name="adj" fmla="val 17978"/>
            </a:avLst>
          </a:prstGeom>
          <a:solidFill>
            <a:srgbClr val="2E9E6B"/>
          </a:solidFill>
          <a:ln/>
        </p:spPr>
      </p:sp>
      <p:sp>
        <p:nvSpPr>
          <p:cNvPr id="29" name="anim-g1-298"/>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30" name="anim-g1-299"/>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طرح ٣ أسئلة تفكير عليا على الأقل وانتظار ٥ ثوانٍ قبل قبول الإجابة</a:t>
            </a:r>
            <a:endParaRPr lang="ar-SA" sz="2200" dirty="0"/>
          </a:p>
        </p:txBody>
      </p:sp>
      <p:sp>
        <p:nvSpPr>
          <p:cNvPr id="31" name="anim-g1-300"/>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محددة ومرئية ومعدودة</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الاهتمام بالفروق الفردية</a:t>
            </a:r>
            <a:endParaRPr lang="ar-SA" sz="2200" dirty="0"/>
          </a:p>
        </p:txBody>
      </p:sp>
      <p:sp>
        <p:nvSpPr>
          <p:cNvPr id="36" name="anim-g1-301"/>
          <p:cNvSpPr/>
          <p:nvPr/>
        </p:nvSpPr>
        <p:spPr>
          <a:xfrm>
            <a:off x="822960" y="5150358"/>
            <a:ext cx="10545775" cy="884682"/>
          </a:xfrm>
          <a:prstGeom prst="roundRect">
            <a:avLst>
              <a:gd name="adj" fmla="val 16537"/>
            </a:avLst>
          </a:prstGeom>
          <a:solidFill>
            <a:srgbClr val="F7F7F9"/>
          </a:solidFill>
          <a:ln w="19050">
            <a:solidFill>
              <a:srgbClr val="E4DCC8"/>
            </a:solidFill>
            <a:prstDash val="solid"/>
          </a:ln>
        </p:spPr>
      </p:sp>
      <p:sp>
        <p:nvSpPr>
          <p:cNvPr id="37" name="anim-g1-302"/>
          <p:cNvSpPr/>
          <p:nvPr/>
        </p:nvSpPr>
        <p:spPr>
          <a:xfrm>
            <a:off x="10575493" y="5287518"/>
            <a:ext cx="610362" cy="610362"/>
          </a:xfrm>
          <a:prstGeom prst="roundRect">
            <a:avLst>
              <a:gd name="adj" fmla="val 17978"/>
            </a:avLst>
          </a:prstGeom>
          <a:solidFill>
            <a:srgbClr val="A3A9BA"/>
          </a:solidFill>
          <a:ln/>
        </p:spPr>
      </p:sp>
      <p:sp>
        <p:nvSpPr>
          <p:cNvPr id="38" name="anim-g1-303"/>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9" name="anim-g1-304"/>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الاهتمام بالفروق الفردية</a:t>
            </a:r>
            <a:endParaRPr lang="ar-SA" sz="2200" dirty="0"/>
          </a:p>
        </p:txBody>
      </p:sp>
      <p:sp>
        <p:nvSpPr>
          <p:cNvPr id="40" name="anim-g1-305"/>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نبيل… لكنه غير قابل للملاحظة</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تشخيص الفجوة  ·  ٥٥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306" descr="/Users/mac/dev/younes-training/ishraf/assets/media/rooster.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v/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400239" y="365760"/>
            <a:ext cx="4242816"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400239" y="365760"/>
            <a:ext cx="4242816"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الأعمى والديك</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يُحكى أن رجلًا أعمى منذ ولادته تعثّر في الطريق وارتطم رأسه، فعاد إليه بصره لحظاتٍ قليلة.</a:t>
            </a:r>
            <a:endParaRPr lang="ar-SA" sz="2400" dirty="0"/>
          </a:p>
        </p:txBody>
      </p:sp>
      <p:sp>
        <p:nvSpPr>
          <p:cNvPr id="8" name="anim-g1-307"/>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308"/>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في تلك اللحظات لم يرَ إلا ديكًا يصيح بجانبه… ثم عاد العمى.</a:t>
            </a:r>
            <a:endParaRPr lang="ar-SA" sz="2400" dirty="0"/>
          </a:p>
        </p:txBody>
      </p:sp>
      <p:sp>
        <p:nvSpPr>
          <p:cNvPr id="10" name="anim-g2-309"/>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310"/>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بعد سنوات حدّثوه عن برج شاهق في المدينة، فسألهم بجدية: «هل هو أكبر من الديك أم أصغر؟».</a:t>
            </a:r>
            <a:endParaRPr lang="ar-SA" sz="2600" dirty="0"/>
          </a:p>
        </p:txBody>
      </p:sp>
      <p:sp>
        <p:nvSpPr>
          <p:cNvPr id="12" name="Text 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13" name="Text 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تشخيص الفجوة  ·  ٥٦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pic>
        <p:nvPicPr>
          <p:cNvPr id="2" name="Image 0" descr="/Users/mac/dev/younes-training/ishraf/.pptx-cache/s5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05960" y="1188720"/>
            <a:ext cx="277977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705960" y="118872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الدرس من القصة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إذا لم نتفق على «ديك» واحد…</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فلن نتفق على شيء</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تشخيص الفجوة  ·  ٥٨</a:t>
            </a:r>
            <a:endParaRPr lang="ar-SA"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272223" y="457200"/>
            <a:ext cx="4096512" cy="457200"/>
          </a:xfrm>
          <a:prstGeom prst="roundRect">
            <a:avLst>
              <a:gd name="adj" fmla="val 50000"/>
            </a:avLst>
          </a:prstGeom>
          <a:solidFill>
            <a:srgbClr val="F6EBCF"/>
          </a:solidFill>
          <a:ln/>
        </p:spPr>
      </p:sp>
      <p:sp>
        <p:nvSpPr>
          <p:cNvPr id="3" name="Text 1"/>
          <p:cNvSpPr/>
          <p:nvPr/>
        </p:nvSpPr>
        <p:spPr>
          <a:xfrm>
            <a:off x="7272223" y="457200"/>
            <a:ext cx="409651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قواعد المهارة المستهدفة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أختار ما أقيسه في الزيارة؟</a:t>
            </a:r>
            <a:endParaRPr lang="ar-SA" sz="3800" dirty="0"/>
          </a:p>
        </p:txBody>
      </p:sp>
      <p:sp>
        <p:nvSpPr>
          <p:cNvPr id="5" name="anim-g1-311"/>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312"/>
          <p:cNvSpPr/>
          <p:nvPr/>
        </p:nvSpPr>
        <p:spPr>
          <a:xfrm>
            <a:off x="10362895" y="2404872"/>
            <a:ext cx="731520" cy="731520"/>
          </a:xfrm>
          <a:prstGeom prst="roundRect">
            <a:avLst>
              <a:gd name="adj" fmla="val 25000"/>
            </a:avLst>
          </a:prstGeom>
          <a:solidFill>
            <a:srgbClr val="F7E6BC"/>
          </a:solidFill>
          <a:ln/>
        </p:spPr>
      </p:sp>
      <p:sp>
        <p:nvSpPr>
          <p:cNvPr id="7" name="anim-g1-313"/>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314"/>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قليلة</a:t>
            </a:r>
            <a:endParaRPr lang="ar-SA" sz="2300" dirty="0"/>
          </a:p>
        </p:txBody>
      </p:sp>
      <p:sp>
        <p:nvSpPr>
          <p:cNvPr id="9" name="anim-g1-315"/>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من ٥ إلى ٩ عناصر فقط (رقم ميلر السحري ٧±٢)؛ الأكثر يضيع</a:t>
            </a:r>
            <a:endParaRPr lang="ar-SA" sz="2100" dirty="0"/>
          </a:p>
        </p:txBody>
      </p:sp>
      <p:sp>
        <p:nvSpPr>
          <p:cNvPr id="10" name="anim-g2-316"/>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17"/>
          <p:cNvSpPr/>
          <p:nvPr/>
        </p:nvSpPr>
        <p:spPr>
          <a:xfrm>
            <a:off x="6756197" y="2404872"/>
            <a:ext cx="731520" cy="731520"/>
          </a:xfrm>
          <a:prstGeom prst="roundRect">
            <a:avLst>
              <a:gd name="adj" fmla="val 25000"/>
            </a:avLst>
          </a:prstGeom>
          <a:solidFill>
            <a:srgbClr val="F7E6BC"/>
          </a:solidFill>
          <a:ln/>
        </p:spPr>
      </p:sp>
      <p:sp>
        <p:nvSpPr>
          <p:cNvPr id="12" name="anim-g2-318"/>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319"/>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مشتقة</a:t>
            </a:r>
            <a:endParaRPr lang="ar-SA" sz="2300" dirty="0"/>
          </a:p>
        </p:txBody>
      </p:sp>
      <p:sp>
        <p:nvSpPr>
          <p:cNvPr id="14" name="anim-g2-320"/>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من خطة الإشراف، وبطاقة الوصف الوظيفي، ونتائج الزيارات السابقة</a:t>
            </a:r>
            <a:endParaRPr lang="ar-SA" sz="2100" dirty="0"/>
          </a:p>
        </p:txBody>
      </p:sp>
      <p:sp>
        <p:nvSpPr>
          <p:cNvPr id="15" name="anim-g3-321"/>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322"/>
          <p:cNvSpPr/>
          <p:nvPr/>
        </p:nvSpPr>
        <p:spPr>
          <a:xfrm>
            <a:off x="3149498" y="2404872"/>
            <a:ext cx="731520" cy="731520"/>
          </a:xfrm>
          <a:prstGeom prst="roundRect">
            <a:avLst>
              <a:gd name="adj" fmla="val 25000"/>
            </a:avLst>
          </a:prstGeom>
          <a:solidFill>
            <a:srgbClr val="F7E6BC"/>
          </a:solidFill>
          <a:ln/>
        </p:spPr>
      </p:sp>
      <p:sp>
        <p:nvSpPr>
          <p:cNvPr id="17" name="anim-g3-323"/>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324"/>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متفق عليها</a:t>
            </a:r>
            <a:endParaRPr lang="ar-SA" sz="2300" dirty="0"/>
          </a:p>
        </p:txBody>
      </p:sp>
      <p:sp>
        <p:nvSpPr>
          <p:cNvPr id="19" name="anim-g3-325"/>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استمارة يصنعها المعلمون معك ويوقّعون عليها قبل استخدامها</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تشخيص الفجوة  ·  ٥٩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687007" y="457200"/>
            <a:ext cx="468172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6687007" y="457200"/>
            <a:ext cx="468172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نشاط: الروبوت وقارورة الماء</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أنا روبوت… أوصلوني إلى القارورة</a:t>
            </a:r>
            <a:endParaRPr lang="ar-SA" sz="3800" dirty="0"/>
          </a:p>
        </p:txBody>
      </p:sp>
      <p:sp>
        <p:nvSpPr>
          <p:cNvPr id="5" name="anim-g1-326"/>
          <p:cNvSpPr/>
          <p:nvPr/>
        </p:nvSpPr>
        <p:spPr>
          <a:xfrm>
            <a:off x="10637215" y="2286000"/>
            <a:ext cx="731520" cy="731520"/>
          </a:xfrm>
          <a:prstGeom prst="ellipse">
            <a:avLst/>
          </a:prstGeom>
          <a:solidFill>
            <a:srgbClr val="D9AE4B"/>
          </a:solidFill>
          <a:ln/>
        </p:spPr>
      </p:sp>
      <p:sp>
        <p:nvSpPr>
          <p:cNvPr id="6" name="anim-g1-327"/>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328"/>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المدرب «روبوت» لا يفهم إلا التعليمات بالضبط</a:t>
            </a:r>
            <a:endParaRPr lang="ar-SA" sz="2200" dirty="0"/>
          </a:p>
        </p:txBody>
      </p:sp>
      <p:sp>
        <p:nvSpPr>
          <p:cNvPr id="8" name="anim-g2-329"/>
          <p:cNvSpPr/>
          <p:nvPr/>
        </p:nvSpPr>
        <p:spPr>
          <a:xfrm>
            <a:off x="10637215" y="3383280"/>
            <a:ext cx="731520" cy="731520"/>
          </a:xfrm>
          <a:prstGeom prst="ellipse">
            <a:avLst/>
          </a:prstGeom>
          <a:solidFill>
            <a:srgbClr val="D9AE4B"/>
          </a:solidFill>
          <a:ln/>
        </p:spPr>
      </p:sp>
      <p:sp>
        <p:nvSpPr>
          <p:cNvPr id="9" name="anim-g2-330"/>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331"/>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أعطوه تعليمات في الدردشة ليصل إلى قارورة الماء أمامه</a:t>
            </a:r>
            <a:endParaRPr lang="ar-SA" sz="2200" dirty="0"/>
          </a:p>
        </p:txBody>
      </p:sp>
      <p:sp>
        <p:nvSpPr>
          <p:cNvPr id="11" name="anim-g3-332"/>
          <p:cNvSpPr/>
          <p:nvPr/>
        </p:nvSpPr>
        <p:spPr>
          <a:xfrm>
            <a:off x="10637215" y="4480560"/>
            <a:ext cx="731520" cy="731520"/>
          </a:xfrm>
          <a:prstGeom prst="ellipse">
            <a:avLst/>
          </a:prstGeom>
          <a:solidFill>
            <a:srgbClr val="D9AE4B"/>
          </a:solidFill>
          <a:ln/>
        </p:spPr>
      </p:sp>
      <p:sp>
        <p:nvSpPr>
          <p:cNvPr id="12" name="anim-g3-333"/>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334"/>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سينفّذ حرفيًا… «مدّ يدك» تحتاج: كم سنتيمترًا؟</a:t>
            </a:r>
            <a:endParaRPr lang="ar-SA" sz="2200" dirty="0"/>
          </a:p>
        </p:txBody>
      </p:sp>
      <p:sp>
        <p:nvSpPr>
          <p:cNvPr id="14" name="Shape 12"/>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5" name="Text 13"/>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3:00</a:t>
            </a:r>
            <a:endParaRPr lang="ar-SA" sz="6000" dirty="0"/>
          </a:p>
        </p:txBody>
      </p:sp>
      <p:sp>
        <p:nvSpPr>
          <p:cNvPr id="16" name="Text 14"/>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٣ دقائق</a:t>
            </a:r>
            <a:endParaRPr lang="ar-SA" sz="16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تشخيص الفجوة  ·  ٦٠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من الانطباع… إلى الدليل</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335"/>
          <p:cNvSpPr/>
          <p:nvPr/>
        </p:nvSpPr>
        <p:spPr>
          <a:xfrm>
            <a:off x="6415888" y="2194560"/>
            <a:ext cx="4952848" cy="804672"/>
          </a:xfrm>
          <a:prstGeom prst="roundRect">
            <a:avLst>
              <a:gd name="adj" fmla="val 15909"/>
            </a:avLst>
          </a:prstGeom>
          <a:solidFill>
            <a:srgbClr val="FBECEC"/>
          </a:solidFill>
          <a:ln/>
        </p:spPr>
      </p:sp>
      <p:sp>
        <p:nvSpPr>
          <p:cNvPr id="6" name="anim-g1-336"/>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«أداؤك اليوم ما عجبني»</a:t>
            </a:r>
            <a:endParaRPr lang="ar-SA" sz="2200" dirty="0"/>
          </a:p>
        </p:txBody>
      </p:sp>
      <p:sp>
        <p:nvSpPr>
          <p:cNvPr id="7" name="anim-g1-337"/>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338"/>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339"/>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340"/>
          <p:cNvSpPr/>
          <p:nvPr/>
        </p:nvSpPr>
        <p:spPr>
          <a:xfrm>
            <a:off x="822960" y="2194560"/>
            <a:ext cx="4952848" cy="804672"/>
          </a:xfrm>
          <a:prstGeom prst="roundRect">
            <a:avLst>
              <a:gd name="adj" fmla="val 15909"/>
            </a:avLst>
          </a:prstGeom>
          <a:solidFill>
            <a:srgbClr val="E6F4EC"/>
          </a:solidFill>
          <a:ln/>
        </p:spPr>
      </p:sp>
      <p:sp>
        <p:nvSpPr>
          <p:cNvPr id="11" name="anim-g2-341"/>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«كررتَ كلمة (تمام) ٣٦ مرة… فتشتّت انتباه الطلاب»</a:t>
            </a:r>
            <a:endParaRPr lang="ar-SA" sz="2200" dirty="0"/>
          </a:p>
        </p:txBody>
      </p:sp>
      <p:sp>
        <p:nvSpPr>
          <p:cNvPr id="12" name="anim-g3-342"/>
          <p:cNvSpPr/>
          <p:nvPr/>
        </p:nvSpPr>
        <p:spPr>
          <a:xfrm>
            <a:off x="6415888" y="3154680"/>
            <a:ext cx="4952848" cy="804672"/>
          </a:xfrm>
          <a:prstGeom prst="roundRect">
            <a:avLst>
              <a:gd name="adj" fmla="val 15909"/>
            </a:avLst>
          </a:prstGeom>
          <a:solidFill>
            <a:srgbClr val="FBECEC"/>
          </a:solidFill>
          <a:ln/>
        </p:spPr>
      </p:sp>
      <p:sp>
        <p:nvSpPr>
          <p:cNvPr id="13" name="anim-g3-343"/>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«الفصل فوضوي»</a:t>
            </a:r>
            <a:endParaRPr lang="ar-SA" sz="2200" dirty="0"/>
          </a:p>
        </p:txBody>
      </p:sp>
      <p:sp>
        <p:nvSpPr>
          <p:cNvPr id="14" name="anim-g3-344"/>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345"/>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346"/>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347"/>
          <p:cNvSpPr/>
          <p:nvPr/>
        </p:nvSpPr>
        <p:spPr>
          <a:xfrm>
            <a:off x="822960" y="3154680"/>
            <a:ext cx="4952848" cy="804672"/>
          </a:xfrm>
          <a:prstGeom prst="roundRect">
            <a:avLst>
              <a:gd name="adj" fmla="val 15909"/>
            </a:avLst>
          </a:prstGeom>
          <a:solidFill>
            <a:srgbClr val="E6F4EC"/>
          </a:solidFill>
          <a:ln/>
        </p:spPr>
      </p:sp>
      <p:sp>
        <p:nvSpPr>
          <p:cNvPr id="18" name="anim-g4-348"/>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«في الدقيقة ١٢ تحدّث خمسة طلاب أثناء الشرح»</a:t>
            </a:r>
            <a:endParaRPr lang="ar-SA" sz="2200" dirty="0"/>
          </a:p>
        </p:txBody>
      </p:sp>
      <p:sp>
        <p:nvSpPr>
          <p:cNvPr id="19" name="anim-g5-349"/>
          <p:cNvSpPr/>
          <p:nvPr/>
        </p:nvSpPr>
        <p:spPr>
          <a:xfrm>
            <a:off x="6415888" y="4114800"/>
            <a:ext cx="4952848" cy="804672"/>
          </a:xfrm>
          <a:prstGeom prst="roundRect">
            <a:avLst>
              <a:gd name="adj" fmla="val 15909"/>
            </a:avLst>
          </a:prstGeom>
          <a:solidFill>
            <a:srgbClr val="FBECEC"/>
          </a:solidFill>
          <a:ln/>
        </p:spPr>
      </p:sp>
      <p:sp>
        <p:nvSpPr>
          <p:cNvPr id="20" name="anim-g5-350"/>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«ما تراعي الفروق الفردية»</a:t>
            </a:r>
            <a:endParaRPr lang="ar-SA" sz="2200" dirty="0"/>
          </a:p>
        </p:txBody>
      </p:sp>
      <p:sp>
        <p:nvSpPr>
          <p:cNvPr id="21" name="anim-g5-351"/>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352"/>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353"/>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354"/>
          <p:cNvSpPr/>
          <p:nvPr/>
        </p:nvSpPr>
        <p:spPr>
          <a:xfrm>
            <a:off x="822960" y="4114800"/>
            <a:ext cx="4952848" cy="804672"/>
          </a:xfrm>
          <a:prstGeom prst="roundRect">
            <a:avLst>
              <a:gd name="adj" fmla="val 15909"/>
            </a:avLst>
          </a:prstGeom>
          <a:solidFill>
            <a:srgbClr val="E6F4EC"/>
          </a:solidFill>
          <a:ln/>
        </p:spPr>
      </p:sp>
      <p:sp>
        <p:nvSpPr>
          <p:cNvPr id="25" name="anim-g6-355"/>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«الأسئلة العشرة كانت كلها من مستوى التذكّر»</a:t>
            </a:r>
            <a:endParaRPr lang="ar-SA" sz="2200" dirty="0"/>
          </a:p>
        </p:txBody>
      </p:sp>
      <p:sp>
        <p:nvSpPr>
          <p:cNvPr id="26" name="anim-g7-356"/>
          <p:cNvSpPr/>
          <p:nvPr/>
        </p:nvSpPr>
        <p:spPr>
          <a:xfrm>
            <a:off x="6415888" y="5074920"/>
            <a:ext cx="4952848" cy="804672"/>
          </a:xfrm>
          <a:prstGeom prst="roundRect">
            <a:avLst>
              <a:gd name="adj" fmla="val 15909"/>
            </a:avLst>
          </a:prstGeom>
          <a:solidFill>
            <a:srgbClr val="FBECEC"/>
          </a:solidFill>
          <a:ln/>
        </p:spPr>
      </p:sp>
      <p:sp>
        <p:nvSpPr>
          <p:cNvPr id="27" name="anim-g7-357"/>
          <p:cNvSpPr/>
          <p:nvPr/>
        </p:nvSpPr>
        <p:spPr>
          <a:xfrm>
            <a:off x="6644488"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«الحركة داخل الفصل ضعيفة»</a:t>
            </a:r>
            <a:endParaRPr lang="ar-SA" sz="2200" dirty="0"/>
          </a:p>
        </p:txBody>
      </p:sp>
      <p:sp>
        <p:nvSpPr>
          <p:cNvPr id="28" name="anim-g7-358"/>
          <p:cNvSpPr/>
          <p:nvPr/>
        </p:nvSpPr>
        <p:spPr>
          <a:xfrm>
            <a:off x="822960" y="5074920"/>
            <a:ext cx="4952848" cy="804672"/>
          </a:xfrm>
          <a:prstGeom prst="roundRect">
            <a:avLst>
              <a:gd name="adj" fmla="val 15909"/>
            </a:avLst>
          </a:prstGeom>
          <a:solidFill>
            <a:srgbClr val="FFFFFF"/>
          </a:solidFill>
          <a:ln w="19050">
            <a:solidFill>
              <a:srgbClr val="BFD9CB"/>
            </a:solidFill>
            <a:prstDash val="dash"/>
          </a:ln>
        </p:spPr>
      </p:sp>
      <p:sp>
        <p:nvSpPr>
          <p:cNvPr id="29" name="anim-g7-359"/>
          <p:cNvSpPr/>
          <p:nvPr/>
        </p:nvSpPr>
        <p:spPr>
          <a:xfrm>
            <a:off x="822960" y="507492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30" name="anim-g8-360"/>
          <p:cNvSpPr/>
          <p:nvPr/>
        </p:nvSpPr>
        <p:spPr>
          <a:xfrm>
            <a:off x="5775808" y="507492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31" name="anim-g8-361"/>
          <p:cNvSpPr/>
          <p:nvPr/>
        </p:nvSpPr>
        <p:spPr>
          <a:xfrm>
            <a:off x="822960" y="5074920"/>
            <a:ext cx="4952848" cy="804672"/>
          </a:xfrm>
          <a:prstGeom prst="roundRect">
            <a:avLst>
              <a:gd name="adj" fmla="val 15909"/>
            </a:avLst>
          </a:prstGeom>
          <a:solidFill>
            <a:srgbClr val="E6F4EC"/>
          </a:solidFill>
          <a:ln/>
        </p:spPr>
      </p:sp>
      <p:sp>
        <p:nvSpPr>
          <p:cNvPr id="32" name="anim-g8-362"/>
          <p:cNvSpPr/>
          <p:nvPr/>
        </p:nvSpPr>
        <p:spPr>
          <a:xfrm>
            <a:off x="1051560"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«بقيتَ عند السبورة ٣٨ دقيقة من ٤٥»</a:t>
            </a:r>
            <a:endParaRPr lang="ar-SA" sz="2200" dirty="0"/>
          </a:p>
        </p:txBody>
      </p:sp>
      <p:sp>
        <p:nvSpPr>
          <p:cNvPr id="33" name="Text 3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34" name="Text 3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تشخيص الفجوة  ·  ٦١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400"/>
                                        <p:tgtEl>
                                          <p:spTgt spid="2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400"/>
                                        <p:tgtEl>
                                          <p:spTgt spid="2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400"/>
                                        <p:tgtEl>
                                          <p:spTgt spid="2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400"/>
                                        <p:tgtEl>
                                          <p:spTgt spid="29"/>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400"/>
                                        <p:tgtEl>
                                          <p:spTgt spid="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400"/>
                                        <p:tgtEl>
                                          <p:spTgt spid="3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pic>
        <p:nvPicPr>
          <p:cNvPr id="2" name="Image 0" descr="/Users/mac/dev/younes-training/ishraf/.pptx-cache/s6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363" descr="/Users/mac/dev/younes-training/ishraf/assets/media/milk.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v/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692847" y="365760"/>
            <a:ext cx="3950208"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692847" y="365760"/>
            <a:ext cx="3950208"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بِركة اللبن</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أصاب قريةً جفافٌ شديد، فاتفق أهلها أن يضع كل واحد منهم كوبًا من اللبن في بركة كبيرة ليلًا، ليكفي أطفال القرية.</a:t>
            </a:r>
            <a:endParaRPr lang="ar-SA" sz="2400" dirty="0"/>
          </a:p>
        </p:txBody>
      </p:sp>
      <p:sp>
        <p:nvSpPr>
          <p:cNvPr id="8" name="anim-g1-364"/>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365"/>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مرّ الناس واحدًا واحدًا في الظلام، كلٌّ يصبّ كوبه… وبعضهم يمرّ مرات كثيرة ليراه الناس.</a:t>
            </a:r>
            <a:endParaRPr lang="ar-SA" sz="2400" dirty="0"/>
          </a:p>
        </p:txBody>
      </p:sp>
      <p:sp>
        <p:nvSpPr>
          <p:cNvPr id="10" name="anim-g2-366"/>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367"/>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وفي الصباح اجتمعوا حول البركة… فإذا هي ماءٌ صافٍ!</a:t>
            </a:r>
            <a:endParaRPr lang="ar-SA" sz="2400" dirty="0"/>
          </a:p>
        </p:txBody>
      </p:sp>
      <p:sp>
        <p:nvSpPr>
          <p:cNvPr id="12" name="anim-g3-368"/>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369"/>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كل واحد قال في نفسه: «كوبٌ من الماء بين كل هذا اللبن… لن يلاحظه أحد».</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تشخيص الفجوة  ·  ٦٣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169768" y="1188720"/>
            <a:ext cx="585216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3169768" y="1188720"/>
            <a:ext cx="58521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القاعدة الذهبية في الإدارة والإشراف</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ما لا يُقاس لا يُدار…</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وما لا يُدار لا يُطوَّر</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تشخيص الفجوة  ·  ٦٤</a:t>
            </a:r>
            <a:endParaRPr lang="ar-SA"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٣</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المحطة ٣</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لماذا لا ينجز المعلم؟</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أسباب عدم الإنجاز… قبل أن نحكم</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تشخيص الفجوة  ·  ٦٥</a:t>
            </a:r>
            <a:endParaRPr lang="ar-SA"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pic>
        <p:nvPicPr>
          <p:cNvPr id="2" name="Image 0" descr="/Users/mac/dev/younes-training/ishraf/.pptx-cache/s6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25919" y="457200"/>
            <a:ext cx="4242816" cy="457200"/>
          </a:xfrm>
          <a:prstGeom prst="roundRect">
            <a:avLst>
              <a:gd name="adj" fmla="val 50000"/>
            </a:avLst>
          </a:prstGeom>
          <a:solidFill>
            <a:srgbClr val="F6EBCF"/>
          </a:solidFill>
          <a:ln/>
        </p:spPr>
      </p:sp>
      <p:sp>
        <p:nvSpPr>
          <p:cNvPr id="3" name="Text 1"/>
          <p:cNvSpPr/>
          <p:nvPr/>
        </p:nvSpPr>
        <p:spPr>
          <a:xfrm>
            <a:off x="7125919" y="457200"/>
            <a:ext cx="424281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وراء كل أداء ضعيف سبب</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ثلاثة أسئلة قبل أي حكم على المعلم</a:t>
            </a:r>
            <a:endParaRPr lang="ar-SA" sz="3200" dirty="0"/>
          </a:p>
        </p:txBody>
      </p:sp>
      <p:sp>
        <p:nvSpPr>
          <p:cNvPr id="5" name="anim-g1-370"/>
          <p:cNvSpPr/>
          <p:nvPr/>
        </p:nvSpPr>
        <p:spPr>
          <a:xfrm>
            <a:off x="8005877" y="2011680"/>
            <a:ext cx="3362858" cy="2514600"/>
          </a:xfrm>
          <a:prstGeom prst="roundRect">
            <a:avLst>
              <a:gd name="adj" fmla="val 6545"/>
            </a:avLst>
          </a:prstGeom>
          <a:solidFill>
            <a:srgbClr val="FFFFFF"/>
          </a:solidFill>
          <a:ln w="12700">
            <a:solidFill>
              <a:srgbClr val="E4DCC8"/>
            </a:solidFill>
            <a:prstDash val="solid"/>
          </a:ln>
        </p:spPr>
      </p:sp>
      <p:sp>
        <p:nvSpPr>
          <p:cNvPr id="6" name="anim-g1-371"/>
          <p:cNvSpPr/>
          <p:nvPr/>
        </p:nvSpPr>
        <p:spPr>
          <a:xfrm>
            <a:off x="9367266" y="2194560"/>
            <a:ext cx="640080" cy="640080"/>
          </a:xfrm>
          <a:prstGeom prst="roundRect">
            <a:avLst>
              <a:gd name="adj" fmla="val 25714"/>
            </a:avLst>
          </a:prstGeom>
          <a:solidFill>
            <a:srgbClr val="F7E6BC"/>
          </a:solidFill>
          <a:ln/>
        </p:spPr>
      </p:sp>
      <p:sp>
        <p:nvSpPr>
          <p:cNvPr id="7" name="anim-g1-372"/>
          <p:cNvSpPr/>
          <p:nvPr/>
        </p:nvSpPr>
        <p:spPr>
          <a:xfrm>
            <a:off x="9367266"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8" name="anim-g1-373"/>
          <p:cNvSpPr/>
          <p:nvPr/>
        </p:nvSpPr>
        <p:spPr>
          <a:xfrm>
            <a:off x="8143037" y="2926080"/>
            <a:ext cx="3088538"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لا يعرف؟</a:t>
            </a:r>
            <a:endParaRPr lang="ar-SA" sz="2200" dirty="0"/>
          </a:p>
        </p:txBody>
      </p:sp>
      <p:sp>
        <p:nvSpPr>
          <p:cNvPr id="9" name="anim-g1-374"/>
          <p:cNvSpPr/>
          <p:nvPr/>
        </p:nvSpPr>
        <p:spPr>
          <a:xfrm>
            <a:off x="8143037" y="3429000"/>
            <a:ext cx="3088538"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لم يُشرح له المطلوب، أو لا يعرف كيف ← يحتاج تدريبًا ونموذجًا</a:t>
            </a:r>
            <a:endParaRPr lang="ar-SA" sz="1900" dirty="0"/>
          </a:p>
        </p:txBody>
      </p:sp>
      <p:sp>
        <p:nvSpPr>
          <p:cNvPr id="10" name="anim-g2-375"/>
          <p:cNvSpPr/>
          <p:nvPr/>
        </p:nvSpPr>
        <p:spPr>
          <a:xfrm>
            <a:off x="4414418" y="2011680"/>
            <a:ext cx="3362858" cy="2514600"/>
          </a:xfrm>
          <a:prstGeom prst="roundRect">
            <a:avLst>
              <a:gd name="adj" fmla="val 6545"/>
            </a:avLst>
          </a:prstGeom>
          <a:solidFill>
            <a:srgbClr val="FFFFFF"/>
          </a:solidFill>
          <a:ln w="12700">
            <a:solidFill>
              <a:srgbClr val="E4DCC8"/>
            </a:solidFill>
            <a:prstDash val="solid"/>
          </a:ln>
        </p:spPr>
      </p:sp>
      <p:sp>
        <p:nvSpPr>
          <p:cNvPr id="11" name="anim-g2-376"/>
          <p:cNvSpPr/>
          <p:nvPr/>
        </p:nvSpPr>
        <p:spPr>
          <a:xfrm>
            <a:off x="5775808" y="2194560"/>
            <a:ext cx="640080" cy="640080"/>
          </a:xfrm>
          <a:prstGeom prst="roundRect">
            <a:avLst>
              <a:gd name="adj" fmla="val 25714"/>
            </a:avLst>
          </a:prstGeom>
          <a:solidFill>
            <a:srgbClr val="F7E6BC"/>
          </a:solidFill>
          <a:ln/>
        </p:spPr>
      </p:sp>
      <p:sp>
        <p:nvSpPr>
          <p:cNvPr id="12" name="anim-g2-377"/>
          <p:cNvSpPr/>
          <p:nvPr/>
        </p:nvSpPr>
        <p:spPr>
          <a:xfrm>
            <a:off x="5775808"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3" name="anim-g2-378"/>
          <p:cNvSpPr/>
          <p:nvPr/>
        </p:nvSpPr>
        <p:spPr>
          <a:xfrm>
            <a:off x="4551578" y="2926080"/>
            <a:ext cx="3088538"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لا يريد؟</a:t>
            </a:r>
            <a:endParaRPr lang="ar-SA" sz="2200" dirty="0"/>
          </a:p>
        </p:txBody>
      </p:sp>
      <p:sp>
        <p:nvSpPr>
          <p:cNvPr id="14" name="anim-g2-379"/>
          <p:cNvSpPr/>
          <p:nvPr/>
        </p:nvSpPr>
        <p:spPr>
          <a:xfrm>
            <a:off x="4551578" y="3429000"/>
            <a:ext cx="3088538"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يعرف ويستطيع لكنه محبط أو غير مقتنع ← يحتاج تحفيزًا وحوارًا</a:t>
            </a:r>
            <a:endParaRPr lang="ar-SA" sz="1900" dirty="0"/>
          </a:p>
        </p:txBody>
      </p:sp>
      <p:sp>
        <p:nvSpPr>
          <p:cNvPr id="15" name="anim-g3-380"/>
          <p:cNvSpPr/>
          <p:nvPr/>
        </p:nvSpPr>
        <p:spPr>
          <a:xfrm>
            <a:off x="822960" y="2011680"/>
            <a:ext cx="3362858" cy="2514600"/>
          </a:xfrm>
          <a:prstGeom prst="roundRect">
            <a:avLst>
              <a:gd name="adj" fmla="val 6545"/>
            </a:avLst>
          </a:prstGeom>
          <a:solidFill>
            <a:srgbClr val="FFFFFF"/>
          </a:solidFill>
          <a:ln w="12700">
            <a:solidFill>
              <a:srgbClr val="E4DCC8"/>
            </a:solidFill>
            <a:prstDash val="solid"/>
          </a:ln>
        </p:spPr>
      </p:sp>
      <p:sp>
        <p:nvSpPr>
          <p:cNvPr id="16" name="anim-g3-381"/>
          <p:cNvSpPr/>
          <p:nvPr/>
        </p:nvSpPr>
        <p:spPr>
          <a:xfrm>
            <a:off x="2184349" y="2194560"/>
            <a:ext cx="640080" cy="640080"/>
          </a:xfrm>
          <a:prstGeom prst="roundRect">
            <a:avLst>
              <a:gd name="adj" fmla="val 25714"/>
            </a:avLst>
          </a:prstGeom>
          <a:solidFill>
            <a:srgbClr val="F7E6BC"/>
          </a:solidFill>
          <a:ln/>
        </p:spPr>
      </p:sp>
      <p:sp>
        <p:nvSpPr>
          <p:cNvPr id="17" name="anim-g3-382"/>
          <p:cNvSpPr/>
          <p:nvPr/>
        </p:nvSpPr>
        <p:spPr>
          <a:xfrm>
            <a:off x="2184349"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8" name="anim-g3-383"/>
          <p:cNvSpPr/>
          <p:nvPr/>
        </p:nvSpPr>
        <p:spPr>
          <a:xfrm>
            <a:off x="960120" y="2926080"/>
            <a:ext cx="3088538"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لا يستطيع؟</a:t>
            </a:r>
            <a:endParaRPr lang="ar-SA" sz="2200" dirty="0"/>
          </a:p>
        </p:txBody>
      </p:sp>
      <p:sp>
        <p:nvSpPr>
          <p:cNvPr id="19" name="anim-g3-384"/>
          <p:cNvSpPr/>
          <p:nvPr/>
        </p:nvSpPr>
        <p:spPr>
          <a:xfrm>
            <a:off x="960120" y="3429000"/>
            <a:ext cx="3088538"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البيئة تمنعه: وقت، أدوات، عدد طلاب، نصاب ← يحتاج حلّ عائق</a:t>
            </a:r>
            <a:endParaRPr lang="ar-SA" sz="1900" dirty="0"/>
          </a:p>
        </p:txBody>
      </p:sp>
      <p:sp>
        <p:nvSpPr>
          <p:cNvPr id="20" name="anim-g4-385"/>
          <p:cNvSpPr/>
          <p:nvPr/>
        </p:nvSpPr>
        <p:spPr>
          <a:xfrm>
            <a:off x="822960" y="4754880"/>
            <a:ext cx="10545775" cy="1051560"/>
          </a:xfrm>
          <a:prstGeom prst="roundRect">
            <a:avLst>
              <a:gd name="adj" fmla="val 17391"/>
            </a:avLst>
          </a:prstGeom>
          <a:solidFill>
            <a:srgbClr val="101B45"/>
          </a:solidFill>
          <a:ln/>
        </p:spPr>
      </p:sp>
      <p:sp>
        <p:nvSpPr>
          <p:cNvPr id="21" name="anim-g4-386"/>
          <p:cNvSpPr/>
          <p:nvPr/>
        </p:nvSpPr>
        <p:spPr>
          <a:xfrm>
            <a:off x="1097280" y="4754880"/>
            <a:ext cx="9997135" cy="1051560"/>
          </a:xfrm>
          <a:prstGeom prst="rect">
            <a:avLst/>
          </a:prstGeom>
          <a:noFill/>
          <a:ln/>
        </p:spPr>
        <p:txBody>
          <a:bodyPr wrap="square" lIns="0" tIns="0" rIns="0" bIns="0" rtlCol="0" anchor="ctr">
            <a:normAutofit/>
          </a:bodyPr>
          <a:lstStyle/>
          <a:p>
            <a:pPr algn="ctr" indent="0" marL="0">
              <a:buNone/>
            </a:pPr>
            <a:r>
              <a:rPr lang="ar-SA" altLang="en-US" sz="2200" b="1" dirty="0">
                <a:solidFill>
                  <a:srgbClr val="FFFFFF"/>
                </a:solidFill>
                <a:latin typeface="Cairo" pitchFamily="34" charset="0"/>
                <a:ea typeface="Cairo" pitchFamily="34" charset="-122"/>
                <a:cs typeface="Cairo" pitchFamily="34" charset="-120"/>
              </a:rPr>
              <a:t>💡 اسأل: لو عرضنا عليه مكافأة كبيرة…</a:t>
            </a:r>
            <a:endParaRPr lang="ar-SA" sz="2200" dirty="0"/>
          </a:p>
          <a:p>
            <a:pPr algn="ctr" indent="0" marL="0">
              <a:buNone/>
            </a:pPr>
            <a:r>
              <a:rPr lang="ar-SA" altLang="en-US" sz="2200" b="1" dirty="0">
                <a:solidFill>
                  <a:srgbClr val="F0CC7A"/>
                </a:solidFill>
                <a:latin typeface="Cairo" pitchFamily="34" charset="0"/>
                <a:ea typeface="Cairo" pitchFamily="34" charset="-122"/>
                <a:cs typeface="Cairo" pitchFamily="34" charset="-120"/>
              </a:rPr>
              <a:t> هل سيؤديها؟ إن «نعم»</a:t>
            </a:r>
            <a:endParaRPr lang="ar-SA" sz="2200" dirty="0"/>
          </a:p>
        </p:txBody>
      </p:sp>
      <p:sp>
        <p:nvSpPr>
          <p:cNvPr id="22" name="Text 2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3" name="Text 2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تشخيص الفجوة  ·  ٦٧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33311" y="457200"/>
            <a:ext cx="4535424" cy="457200"/>
          </a:xfrm>
          <a:prstGeom prst="roundRect">
            <a:avLst>
              <a:gd name="adj" fmla="val 50000"/>
            </a:avLst>
          </a:prstGeom>
          <a:solidFill>
            <a:srgbClr val="F6EBCF"/>
          </a:solidFill>
          <a:ln/>
        </p:spPr>
      </p:sp>
      <p:sp>
        <p:nvSpPr>
          <p:cNvPr id="3" name="Text 1"/>
          <p:cNvSpPr/>
          <p:nvPr/>
        </p:nvSpPr>
        <p:spPr>
          <a:xfrm>
            <a:off x="6833311" y="457200"/>
            <a:ext cx="453542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نموذج جيلبرت لهندسة الأداء</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ست خانات… أغلب العوائق في البيئة لا في المعلم</a:t>
            </a:r>
            <a:endParaRPr lang="ar-SA" sz="3200" dirty="0"/>
          </a:p>
        </p:txBody>
      </p:sp>
      <p:sp>
        <p:nvSpPr>
          <p:cNvPr id="5" name="Shape 3"/>
          <p:cNvSpPr/>
          <p:nvPr/>
        </p:nvSpPr>
        <p:spPr>
          <a:xfrm>
            <a:off x="9325417" y="1874520"/>
            <a:ext cx="2043318" cy="548640"/>
          </a:xfrm>
          <a:prstGeom prst="roundRect">
            <a:avLst>
              <a:gd name="adj" fmla="val 20000"/>
            </a:avLst>
          </a:prstGeom>
          <a:solidFill>
            <a:srgbClr val="101B45"/>
          </a:solidFill>
          <a:ln/>
        </p:spPr>
      </p:sp>
      <p:sp>
        <p:nvSpPr>
          <p:cNvPr id="6" name="Text 4"/>
          <p:cNvSpPr/>
          <p:nvPr/>
        </p:nvSpPr>
        <p:spPr>
          <a:xfrm>
            <a:off x="9325417" y="1874520"/>
            <a:ext cx="2043318" cy="548640"/>
          </a:xfrm>
          <a:prstGeom prst="rect">
            <a:avLst/>
          </a:prstGeom>
          <a:noFill/>
          <a:ln/>
        </p:spPr>
        <p:txBody>
          <a:bodyPr wrap="square" lIns="0" tIns="0" rIns="0" bIns="0" rtlCol="0" anchor="ctr">
            <a:normAutofit/>
          </a:bodyPr>
          <a:lstStyle/>
          <a:p>
            <a:pPr rtl="1" algn="ctr" indent="0" marL="0">
              <a:buNone/>
            </a:pPr>
            <a:endParaRPr lang="ar-SA" sz="1900" dirty="0"/>
          </a:p>
        </p:txBody>
      </p:sp>
      <p:sp>
        <p:nvSpPr>
          <p:cNvPr id="7" name="Shape 5"/>
          <p:cNvSpPr/>
          <p:nvPr/>
        </p:nvSpPr>
        <p:spPr>
          <a:xfrm>
            <a:off x="6491265" y="1874520"/>
            <a:ext cx="2724424" cy="548640"/>
          </a:xfrm>
          <a:prstGeom prst="roundRect">
            <a:avLst>
              <a:gd name="adj" fmla="val 20000"/>
            </a:avLst>
          </a:prstGeom>
          <a:solidFill>
            <a:srgbClr val="101B45"/>
          </a:solidFill>
          <a:ln/>
        </p:spPr>
      </p:sp>
      <p:sp>
        <p:nvSpPr>
          <p:cNvPr id="8" name="Text 6"/>
          <p:cNvSpPr/>
          <p:nvPr/>
        </p:nvSpPr>
        <p:spPr>
          <a:xfrm>
            <a:off x="6491265" y="1874520"/>
            <a:ext cx="2724424"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المعلومات</a:t>
            </a:r>
            <a:endParaRPr lang="ar-SA" sz="1900" dirty="0"/>
          </a:p>
        </p:txBody>
      </p:sp>
      <p:sp>
        <p:nvSpPr>
          <p:cNvPr id="9" name="Shape 7"/>
          <p:cNvSpPr/>
          <p:nvPr/>
        </p:nvSpPr>
        <p:spPr>
          <a:xfrm>
            <a:off x="3657112" y="1874520"/>
            <a:ext cx="2724424" cy="548640"/>
          </a:xfrm>
          <a:prstGeom prst="roundRect">
            <a:avLst>
              <a:gd name="adj" fmla="val 20000"/>
            </a:avLst>
          </a:prstGeom>
          <a:solidFill>
            <a:srgbClr val="101B45"/>
          </a:solidFill>
          <a:ln/>
        </p:spPr>
      </p:sp>
      <p:sp>
        <p:nvSpPr>
          <p:cNvPr id="10" name="Text 8"/>
          <p:cNvSpPr/>
          <p:nvPr/>
        </p:nvSpPr>
        <p:spPr>
          <a:xfrm>
            <a:off x="3657112" y="1874520"/>
            <a:ext cx="2724424"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الأدوات والموارد</a:t>
            </a:r>
            <a:endParaRPr lang="ar-SA" sz="1900" dirty="0"/>
          </a:p>
        </p:txBody>
      </p:sp>
      <p:sp>
        <p:nvSpPr>
          <p:cNvPr id="11" name="Shape 9"/>
          <p:cNvSpPr/>
          <p:nvPr/>
        </p:nvSpPr>
        <p:spPr>
          <a:xfrm>
            <a:off x="822960" y="1874520"/>
            <a:ext cx="2724424" cy="548640"/>
          </a:xfrm>
          <a:prstGeom prst="roundRect">
            <a:avLst>
              <a:gd name="adj" fmla="val 20000"/>
            </a:avLst>
          </a:prstGeom>
          <a:solidFill>
            <a:srgbClr val="101B45"/>
          </a:solidFill>
          <a:ln/>
        </p:spPr>
      </p:sp>
      <p:sp>
        <p:nvSpPr>
          <p:cNvPr id="12" name="Text 10"/>
          <p:cNvSpPr/>
          <p:nvPr/>
        </p:nvSpPr>
        <p:spPr>
          <a:xfrm>
            <a:off x="822960" y="1874520"/>
            <a:ext cx="2724424"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الحوافز</a:t>
            </a:r>
            <a:endParaRPr lang="ar-SA" sz="1900" dirty="0"/>
          </a:p>
        </p:txBody>
      </p:sp>
      <p:sp>
        <p:nvSpPr>
          <p:cNvPr id="13" name="anim-g1-387"/>
          <p:cNvSpPr/>
          <p:nvPr/>
        </p:nvSpPr>
        <p:spPr>
          <a:xfrm>
            <a:off x="9325417" y="2514600"/>
            <a:ext cx="2043318" cy="1234440"/>
          </a:xfrm>
          <a:prstGeom prst="roundRect">
            <a:avLst>
              <a:gd name="adj" fmla="val 8889"/>
            </a:avLst>
          </a:prstGeom>
          <a:solidFill>
            <a:srgbClr val="FBF3DF"/>
          </a:solidFill>
          <a:ln w="12700">
            <a:solidFill>
              <a:srgbClr val="EFDDAF"/>
            </a:solidFill>
            <a:prstDash val="solid"/>
          </a:ln>
        </p:spPr>
      </p:sp>
      <p:sp>
        <p:nvSpPr>
          <p:cNvPr id="14" name="anim-g1-388"/>
          <p:cNvSpPr/>
          <p:nvPr/>
        </p:nvSpPr>
        <p:spPr>
          <a:xfrm>
            <a:off x="9462577" y="2514600"/>
            <a:ext cx="1768998"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في البيئة</a:t>
            </a:r>
            <a:endParaRPr lang="ar-SA" sz="2100" dirty="0"/>
          </a:p>
        </p:txBody>
      </p:sp>
      <p:sp>
        <p:nvSpPr>
          <p:cNvPr id="15" name="anim-g1-389"/>
          <p:cNvSpPr/>
          <p:nvPr/>
        </p:nvSpPr>
        <p:spPr>
          <a:xfrm>
            <a:off x="6491265" y="2514600"/>
            <a:ext cx="2724424" cy="1234440"/>
          </a:xfrm>
          <a:prstGeom prst="roundRect">
            <a:avLst>
              <a:gd name="adj" fmla="val 8889"/>
            </a:avLst>
          </a:prstGeom>
          <a:solidFill>
            <a:srgbClr val="FFFFFF"/>
          </a:solidFill>
          <a:ln w="12700">
            <a:solidFill>
              <a:srgbClr val="E4DCC8"/>
            </a:solidFill>
            <a:prstDash val="solid"/>
          </a:ln>
        </p:spPr>
      </p:sp>
      <p:sp>
        <p:nvSpPr>
          <p:cNvPr id="16" name="anim-g1-390"/>
          <p:cNvSpPr/>
          <p:nvPr/>
        </p:nvSpPr>
        <p:spPr>
          <a:xfrm>
            <a:off x="6628425" y="2514600"/>
            <a:ext cx="2450104"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هل المطلوب واضح؟ وهل يصله تغذية راجعة؟</a:t>
            </a:r>
            <a:endParaRPr lang="ar-SA" sz="2100" dirty="0"/>
          </a:p>
        </p:txBody>
      </p:sp>
      <p:sp>
        <p:nvSpPr>
          <p:cNvPr id="17" name="anim-g1-391"/>
          <p:cNvSpPr/>
          <p:nvPr/>
        </p:nvSpPr>
        <p:spPr>
          <a:xfrm>
            <a:off x="3657112" y="2514600"/>
            <a:ext cx="2724424" cy="1234440"/>
          </a:xfrm>
          <a:prstGeom prst="roundRect">
            <a:avLst>
              <a:gd name="adj" fmla="val 8889"/>
            </a:avLst>
          </a:prstGeom>
          <a:solidFill>
            <a:srgbClr val="FFFFFF"/>
          </a:solidFill>
          <a:ln w="12700">
            <a:solidFill>
              <a:srgbClr val="E4DCC8"/>
            </a:solidFill>
            <a:prstDash val="solid"/>
          </a:ln>
        </p:spPr>
      </p:sp>
      <p:sp>
        <p:nvSpPr>
          <p:cNvPr id="18" name="anim-g1-392"/>
          <p:cNvSpPr/>
          <p:nvPr/>
        </p:nvSpPr>
        <p:spPr>
          <a:xfrm>
            <a:off x="3794272" y="2514600"/>
            <a:ext cx="2450104"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هل لديه الوقت والأجهزة والمواد؟</a:t>
            </a:r>
            <a:endParaRPr lang="ar-SA" sz="2100" dirty="0"/>
          </a:p>
        </p:txBody>
      </p:sp>
      <p:sp>
        <p:nvSpPr>
          <p:cNvPr id="19" name="anim-g1-393"/>
          <p:cNvSpPr/>
          <p:nvPr/>
        </p:nvSpPr>
        <p:spPr>
          <a:xfrm>
            <a:off x="822960" y="2514600"/>
            <a:ext cx="2724424" cy="1234440"/>
          </a:xfrm>
          <a:prstGeom prst="roundRect">
            <a:avLst>
              <a:gd name="adj" fmla="val 8889"/>
            </a:avLst>
          </a:prstGeom>
          <a:solidFill>
            <a:srgbClr val="E6F4EC"/>
          </a:solidFill>
          <a:ln w="12700">
            <a:solidFill>
              <a:srgbClr val="CDE9D9"/>
            </a:solidFill>
            <a:prstDash val="solid"/>
          </a:ln>
        </p:spPr>
      </p:sp>
      <p:sp>
        <p:nvSpPr>
          <p:cNvPr id="20" name="anim-g1-394"/>
          <p:cNvSpPr/>
          <p:nvPr/>
        </p:nvSpPr>
        <p:spPr>
          <a:xfrm>
            <a:off x="960120" y="2514600"/>
            <a:ext cx="2450104"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هل يُقدَّر من يتميز؟ وهل يُحاسَب من يقصّر؟</a:t>
            </a:r>
            <a:endParaRPr lang="ar-SA" sz="2100" dirty="0"/>
          </a:p>
        </p:txBody>
      </p:sp>
      <p:sp>
        <p:nvSpPr>
          <p:cNvPr id="21" name="anim-g2-395"/>
          <p:cNvSpPr/>
          <p:nvPr/>
        </p:nvSpPr>
        <p:spPr>
          <a:xfrm>
            <a:off x="9325417" y="3858768"/>
            <a:ext cx="2043318" cy="1234440"/>
          </a:xfrm>
          <a:prstGeom prst="roundRect">
            <a:avLst>
              <a:gd name="adj" fmla="val 8889"/>
            </a:avLst>
          </a:prstGeom>
          <a:solidFill>
            <a:srgbClr val="FBF3DF"/>
          </a:solidFill>
          <a:ln w="12700">
            <a:solidFill>
              <a:srgbClr val="EFDDAF"/>
            </a:solidFill>
            <a:prstDash val="solid"/>
          </a:ln>
        </p:spPr>
      </p:sp>
      <p:sp>
        <p:nvSpPr>
          <p:cNvPr id="22" name="anim-g2-396"/>
          <p:cNvSpPr/>
          <p:nvPr/>
        </p:nvSpPr>
        <p:spPr>
          <a:xfrm>
            <a:off x="9462577" y="3858768"/>
            <a:ext cx="1768998"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في المعلم</a:t>
            </a:r>
            <a:endParaRPr lang="ar-SA" sz="2100" dirty="0"/>
          </a:p>
        </p:txBody>
      </p:sp>
      <p:sp>
        <p:nvSpPr>
          <p:cNvPr id="23" name="anim-g2-397"/>
          <p:cNvSpPr/>
          <p:nvPr/>
        </p:nvSpPr>
        <p:spPr>
          <a:xfrm>
            <a:off x="6491265" y="3858768"/>
            <a:ext cx="2724424" cy="1234440"/>
          </a:xfrm>
          <a:prstGeom prst="roundRect">
            <a:avLst>
              <a:gd name="adj" fmla="val 8889"/>
            </a:avLst>
          </a:prstGeom>
          <a:solidFill>
            <a:srgbClr val="FFFFFF"/>
          </a:solidFill>
          <a:ln w="12700">
            <a:solidFill>
              <a:srgbClr val="E4DCC8"/>
            </a:solidFill>
            <a:prstDash val="solid"/>
          </a:ln>
        </p:spPr>
      </p:sp>
      <p:sp>
        <p:nvSpPr>
          <p:cNvPr id="24" name="anim-g2-398"/>
          <p:cNvSpPr/>
          <p:nvPr/>
        </p:nvSpPr>
        <p:spPr>
          <a:xfrm>
            <a:off x="6628425" y="3858768"/>
            <a:ext cx="2450104"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هل يملك المعرفة والمهارة؟</a:t>
            </a:r>
            <a:endParaRPr lang="ar-SA" sz="2100" dirty="0"/>
          </a:p>
        </p:txBody>
      </p:sp>
      <p:sp>
        <p:nvSpPr>
          <p:cNvPr id="25" name="anim-g2-399"/>
          <p:cNvSpPr/>
          <p:nvPr/>
        </p:nvSpPr>
        <p:spPr>
          <a:xfrm>
            <a:off x="3657112" y="3858768"/>
            <a:ext cx="2724424" cy="1234440"/>
          </a:xfrm>
          <a:prstGeom prst="roundRect">
            <a:avLst>
              <a:gd name="adj" fmla="val 8889"/>
            </a:avLst>
          </a:prstGeom>
          <a:solidFill>
            <a:srgbClr val="FFFFFF"/>
          </a:solidFill>
          <a:ln w="12700">
            <a:solidFill>
              <a:srgbClr val="E4DCC8"/>
            </a:solidFill>
            <a:prstDash val="solid"/>
          </a:ln>
        </p:spPr>
      </p:sp>
      <p:sp>
        <p:nvSpPr>
          <p:cNvPr id="26" name="anim-g2-400"/>
          <p:cNvSpPr/>
          <p:nvPr/>
        </p:nvSpPr>
        <p:spPr>
          <a:xfrm>
            <a:off x="3794272" y="3858768"/>
            <a:ext cx="2450104"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هل يناسب الدور قدراته؟</a:t>
            </a:r>
            <a:endParaRPr lang="ar-SA" sz="2100" dirty="0"/>
          </a:p>
        </p:txBody>
      </p:sp>
      <p:sp>
        <p:nvSpPr>
          <p:cNvPr id="27" name="anim-g2-401"/>
          <p:cNvSpPr/>
          <p:nvPr/>
        </p:nvSpPr>
        <p:spPr>
          <a:xfrm>
            <a:off x="822960" y="3858768"/>
            <a:ext cx="2724424" cy="1234440"/>
          </a:xfrm>
          <a:prstGeom prst="roundRect">
            <a:avLst>
              <a:gd name="adj" fmla="val 8889"/>
            </a:avLst>
          </a:prstGeom>
          <a:solidFill>
            <a:srgbClr val="E6F4EC"/>
          </a:solidFill>
          <a:ln w="12700">
            <a:solidFill>
              <a:srgbClr val="CDE9D9"/>
            </a:solidFill>
            <a:prstDash val="solid"/>
          </a:ln>
        </p:spPr>
      </p:sp>
      <p:sp>
        <p:nvSpPr>
          <p:cNvPr id="28" name="anim-g2-402"/>
          <p:cNvSpPr/>
          <p:nvPr/>
        </p:nvSpPr>
        <p:spPr>
          <a:xfrm>
            <a:off x="960120" y="3858768"/>
            <a:ext cx="2450104"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هل لديه دافع داخلي؟</a:t>
            </a:r>
            <a:endParaRPr lang="ar-SA" sz="21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تشخيص الفجوة  ·  ٦٨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0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40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pic>
        <p:nvPicPr>
          <p:cNvPr id="2" name="Image 0" descr="/Users/mac/dev/younes-training/ishraf/.pptx-cache/s6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25919" y="457200"/>
            <a:ext cx="4242816" cy="457200"/>
          </a:xfrm>
          <a:prstGeom prst="roundRect">
            <a:avLst>
              <a:gd name="adj" fmla="val 50000"/>
            </a:avLst>
          </a:prstGeom>
          <a:solidFill>
            <a:srgbClr val="F6EBCF"/>
          </a:solidFill>
          <a:ln/>
        </p:spPr>
      </p:sp>
      <p:sp>
        <p:nvSpPr>
          <p:cNvPr id="3" name="Text 1"/>
          <p:cNvSpPr/>
          <p:nvPr/>
        </p:nvSpPr>
        <p:spPr>
          <a:xfrm>
            <a:off x="7125919" y="457200"/>
            <a:ext cx="424281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مصفوفة الفاعلية والكفاءة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أربعة معلمين… أربع وصفات مختلفة</a:t>
            </a:r>
            <a:endParaRPr lang="ar-SA" sz="3800" dirty="0"/>
          </a:p>
        </p:txBody>
      </p:sp>
      <p:sp>
        <p:nvSpPr>
          <p:cNvPr id="5" name="Text 3"/>
          <p:cNvSpPr/>
          <p:nvPr/>
        </p:nvSpPr>
        <p:spPr>
          <a:xfrm rot="16200000">
            <a:off x="10865815" y="1874520"/>
            <a:ext cx="502920" cy="1655064"/>
          </a:xfrm>
          <a:prstGeom prst="rect">
            <a:avLst/>
          </a:prstGeom>
          <a:noFill/>
          <a:ln/>
        </p:spPr>
        <p:txBody>
          <a:bodyPr wrap="square" lIns="0" tIns="0" rIns="0" bIns="0" rtlCol="0" anchor="ctr">
            <a:normAutofit/>
          </a:bodyPr>
          <a:lstStyle/>
          <a:p>
            <a:pPr rtl="1" algn="ctr" indent="0" marL="0">
              <a:buNone/>
            </a:pPr>
            <a:r>
              <a:rPr lang="ar-SA" altLang="en-US" sz="1800" b="1" dirty="0">
                <a:solidFill>
                  <a:srgbClr val="5E6782"/>
                </a:solidFill>
                <a:latin typeface="Cairo" pitchFamily="34" charset="0"/>
                <a:ea typeface="Cairo" pitchFamily="34" charset="-122"/>
                <a:cs typeface="Cairo" pitchFamily="34" charset="-120"/>
              </a:rPr>
              <a:t>فعّال (يحقق الأهداف)</a:t>
            </a:r>
            <a:endParaRPr lang="ar-SA" sz="1800" dirty="0"/>
          </a:p>
        </p:txBody>
      </p:sp>
      <p:sp>
        <p:nvSpPr>
          <p:cNvPr id="6" name="Text 4"/>
          <p:cNvSpPr/>
          <p:nvPr/>
        </p:nvSpPr>
        <p:spPr>
          <a:xfrm rot="16200000">
            <a:off x="10865815" y="3694176"/>
            <a:ext cx="502920" cy="1655064"/>
          </a:xfrm>
          <a:prstGeom prst="rect">
            <a:avLst/>
          </a:prstGeom>
          <a:noFill/>
          <a:ln/>
        </p:spPr>
        <p:txBody>
          <a:bodyPr wrap="square" lIns="0" tIns="0" rIns="0" bIns="0" rtlCol="0" anchor="ctr">
            <a:normAutofit/>
          </a:bodyPr>
          <a:lstStyle/>
          <a:p>
            <a:pPr rtl="1" algn="ctr" indent="0" marL="0">
              <a:buNone/>
            </a:pPr>
            <a:r>
              <a:rPr lang="ar-SA" altLang="en-US" sz="1800" b="1" dirty="0">
                <a:solidFill>
                  <a:srgbClr val="5E6782"/>
                </a:solidFill>
                <a:latin typeface="Cairo" pitchFamily="34" charset="0"/>
                <a:ea typeface="Cairo" pitchFamily="34" charset="-122"/>
                <a:cs typeface="Cairo" pitchFamily="34" charset="-120"/>
              </a:rPr>
              <a:t>غير فعّال</a:t>
            </a:r>
            <a:endParaRPr lang="ar-SA" sz="1800" dirty="0"/>
          </a:p>
        </p:txBody>
      </p:sp>
      <p:sp>
        <p:nvSpPr>
          <p:cNvPr id="7" name="Text 5"/>
          <p:cNvSpPr/>
          <p:nvPr/>
        </p:nvSpPr>
        <p:spPr>
          <a:xfrm>
            <a:off x="5844388" y="5394960"/>
            <a:ext cx="4856836" cy="320040"/>
          </a:xfrm>
          <a:prstGeom prst="rect">
            <a:avLst/>
          </a:prstGeom>
          <a:noFill/>
          <a:ln/>
        </p:spPr>
        <p:txBody>
          <a:bodyPr wrap="square" lIns="0" tIns="0" rIns="0" bIns="0" rtlCol="0" anchor="ctr">
            <a:normAutofit/>
          </a:bodyPr>
          <a:lstStyle/>
          <a:p>
            <a:pPr rtl="1" algn="ctr" indent="0" marL="0">
              <a:buNone/>
            </a:pPr>
            <a:r>
              <a:rPr lang="ar-SA" altLang="en-US" sz="1800" b="1" dirty="0">
                <a:solidFill>
                  <a:srgbClr val="5E6782"/>
                </a:solidFill>
                <a:latin typeface="Cairo" pitchFamily="34" charset="0"/>
                <a:ea typeface="Cairo" pitchFamily="34" charset="-122"/>
                <a:cs typeface="Cairo" pitchFamily="34" charset="-120"/>
              </a:rPr>
              <a:t>غير كفء (يهدر الجهد)</a:t>
            </a:r>
            <a:endParaRPr lang="ar-SA" sz="1800" dirty="0"/>
          </a:p>
        </p:txBody>
      </p:sp>
      <p:sp>
        <p:nvSpPr>
          <p:cNvPr id="8" name="Text 6"/>
          <p:cNvSpPr/>
          <p:nvPr/>
        </p:nvSpPr>
        <p:spPr>
          <a:xfrm>
            <a:off x="822960" y="5394960"/>
            <a:ext cx="4856836" cy="320040"/>
          </a:xfrm>
          <a:prstGeom prst="rect">
            <a:avLst/>
          </a:prstGeom>
          <a:noFill/>
          <a:ln/>
        </p:spPr>
        <p:txBody>
          <a:bodyPr wrap="square" lIns="0" tIns="0" rIns="0" bIns="0" rtlCol="0" anchor="ctr">
            <a:normAutofit/>
          </a:bodyPr>
          <a:lstStyle/>
          <a:p>
            <a:pPr rtl="1" algn="ctr" indent="0" marL="0">
              <a:buNone/>
            </a:pPr>
            <a:r>
              <a:rPr lang="ar-SA" altLang="en-US" sz="1800" b="1" dirty="0">
                <a:solidFill>
                  <a:srgbClr val="5E6782"/>
                </a:solidFill>
                <a:latin typeface="Cairo" pitchFamily="34" charset="0"/>
                <a:ea typeface="Cairo" pitchFamily="34" charset="-122"/>
                <a:cs typeface="Cairo" pitchFamily="34" charset="-120"/>
              </a:rPr>
              <a:t>كفء (بأقل جهد)</a:t>
            </a:r>
            <a:endParaRPr lang="ar-SA" sz="1800" dirty="0"/>
          </a:p>
        </p:txBody>
      </p:sp>
      <p:sp>
        <p:nvSpPr>
          <p:cNvPr id="9" name="anim-g1-403"/>
          <p:cNvSpPr/>
          <p:nvPr/>
        </p:nvSpPr>
        <p:spPr>
          <a:xfrm>
            <a:off x="5844388" y="1874520"/>
            <a:ext cx="4856836" cy="1655064"/>
          </a:xfrm>
          <a:prstGeom prst="roundRect">
            <a:avLst>
              <a:gd name="adj" fmla="val 11050"/>
            </a:avLst>
          </a:prstGeom>
          <a:solidFill>
            <a:srgbClr val="FFFFFF"/>
          </a:solidFill>
          <a:ln w="19050">
            <a:solidFill>
              <a:srgbClr val="E4DCC8"/>
            </a:solidFill>
            <a:prstDash val="solid"/>
          </a:ln>
        </p:spPr>
      </p:sp>
      <p:sp>
        <p:nvSpPr>
          <p:cNvPr id="10" name="anim-g1-404"/>
          <p:cNvSpPr/>
          <p:nvPr/>
        </p:nvSpPr>
        <p:spPr>
          <a:xfrm>
            <a:off x="9878263" y="2011680"/>
            <a:ext cx="640080" cy="54864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1" name="anim-g1-405"/>
          <p:cNvSpPr/>
          <p:nvPr/>
        </p:nvSpPr>
        <p:spPr>
          <a:xfrm>
            <a:off x="6118708" y="2011680"/>
            <a:ext cx="3759556" cy="548640"/>
          </a:xfrm>
          <a:prstGeom prst="rect">
            <a:avLst/>
          </a:prstGeom>
          <a:noFill/>
          <a:ln/>
        </p:spPr>
        <p:txBody>
          <a:bodyPr wrap="square" lIns="0" tIns="0" rIns="0" bIns="0" rtlCol="0" anchor="ctr">
            <a:normAutofit/>
          </a:bodyPr>
          <a:lstStyle/>
          <a:p>
            <a:pPr rtl="1" algn="r" indent="0" marL="0">
              <a:buNone/>
            </a:pPr>
            <a:r>
              <a:rPr lang="ar-SA" altLang="en-US" sz="2400" dirty="0">
                <a:solidFill>
                  <a:srgbClr val="101B45"/>
                </a:solidFill>
                <a:latin typeface="Cairo Black" pitchFamily="34" charset="0"/>
                <a:ea typeface="Cairo Black" pitchFamily="34" charset="-122"/>
                <a:cs typeface="Cairo Black" pitchFamily="34" charset="-120"/>
              </a:rPr>
              <a:t>متحمس بلا توجيه</a:t>
            </a:r>
            <a:endParaRPr lang="ar-SA" sz="2400" dirty="0"/>
          </a:p>
        </p:txBody>
      </p:sp>
      <p:sp>
        <p:nvSpPr>
          <p:cNvPr id="12" name="anim-g1-406"/>
          <p:cNvSpPr/>
          <p:nvPr/>
        </p:nvSpPr>
        <p:spPr>
          <a:xfrm>
            <a:off x="6118708" y="2606040"/>
            <a:ext cx="4308196" cy="786384"/>
          </a:xfrm>
          <a:prstGeom prst="rect">
            <a:avLst/>
          </a:prstGeom>
          <a:noFill/>
          <a:ln/>
        </p:spPr>
        <p:txBody>
          <a:bodyPr wrap="square" lIns="0" tIns="0" rIns="0" bIns="0" rtlCol="0" anchor="t">
            <a:normAutofit/>
          </a:bodyPr>
          <a:lstStyle/>
          <a:p>
            <a:pPr rtl="1" algn="r" indent="0" marL="0">
              <a:buNone/>
            </a:pPr>
            <a:r>
              <a:rPr lang="ar-SA" altLang="en-US" sz="2000" b="1" dirty="0">
                <a:solidFill>
                  <a:srgbClr val="3B4460"/>
                </a:solidFill>
                <a:latin typeface="Cairo" pitchFamily="34" charset="0"/>
                <a:ea typeface="Cairo" pitchFamily="34" charset="-122"/>
                <a:cs typeface="Cairo" pitchFamily="34" charset="-120"/>
              </a:rPr>
              <a:t>يحقق الهدف بجهد مبعثر وأخطاء ← تدريب وتنظيم</a:t>
            </a:r>
            <a:endParaRPr lang="ar-SA" sz="2000" dirty="0"/>
          </a:p>
        </p:txBody>
      </p:sp>
      <p:sp>
        <p:nvSpPr>
          <p:cNvPr id="13" name="anim-g2-407"/>
          <p:cNvSpPr/>
          <p:nvPr/>
        </p:nvSpPr>
        <p:spPr>
          <a:xfrm>
            <a:off x="822960" y="1874520"/>
            <a:ext cx="4856836" cy="1655064"/>
          </a:xfrm>
          <a:prstGeom prst="roundRect">
            <a:avLst>
              <a:gd name="adj" fmla="val 11050"/>
            </a:avLst>
          </a:prstGeom>
          <a:solidFill>
            <a:srgbClr val="FBEBC0"/>
          </a:solidFill>
          <a:ln w="31750">
            <a:solidFill>
              <a:srgbClr val="D9AE4B"/>
            </a:solidFill>
            <a:prstDash val="solid"/>
          </a:ln>
        </p:spPr>
      </p:sp>
      <p:sp>
        <p:nvSpPr>
          <p:cNvPr id="14" name="anim-g2-408"/>
          <p:cNvSpPr/>
          <p:nvPr/>
        </p:nvSpPr>
        <p:spPr>
          <a:xfrm>
            <a:off x="4856836" y="2011680"/>
            <a:ext cx="640080" cy="54864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5" name="anim-g2-409"/>
          <p:cNvSpPr/>
          <p:nvPr/>
        </p:nvSpPr>
        <p:spPr>
          <a:xfrm>
            <a:off x="1097280" y="2011680"/>
            <a:ext cx="3759556" cy="548640"/>
          </a:xfrm>
          <a:prstGeom prst="rect">
            <a:avLst/>
          </a:prstGeom>
          <a:noFill/>
          <a:ln/>
        </p:spPr>
        <p:txBody>
          <a:bodyPr wrap="square" lIns="0" tIns="0" rIns="0" bIns="0" rtlCol="0" anchor="ctr">
            <a:normAutofit/>
          </a:bodyPr>
          <a:lstStyle/>
          <a:p>
            <a:pPr rtl="1" algn="r" indent="0" marL="0">
              <a:buNone/>
            </a:pPr>
            <a:r>
              <a:rPr lang="ar-SA" altLang="en-US" sz="2400" dirty="0">
                <a:solidFill>
                  <a:srgbClr val="101B45"/>
                </a:solidFill>
                <a:latin typeface="Cairo Black" pitchFamily="34" charset="0"/>
                <a:ea typeface="Cairo Black" pitchFamily="34" charset="-122"/>
                <a:cs typeface="Cairo Black" pitchFamily="34" charset="-120"/>
              </a:rPr>
              <a:t>النجم ⭐</a:t>
            </a:r>
            <a:endParaRPr lang="ar-SA" sz="2400" dirty="0"/>
          </a:p>
        </p:txBody>
      </p:sp>
      <p:sp>
        <p:nvSpPr>
          <p:cNvPr id="16" name="anim-g2-410"/>
          <p:cNvSpPr/>
          <p:nvPr/>
        </p:nvSpPr>
        <p:spPr>
          <a:xfrm>
            <a:off x="1097280" y="2606040"/>
            <a:ext cx="4308196" cy="786384"/>
          </a:xfrm>
          <a:prstGeom prst="rect">
            <a:avLst/>
          </a:prstGeom>
          <a:noFill/>
          <a:ln/>
        </p:spPr>
        <p:txBody>
          <a:bodyPr wrap="square" lIns="0" tIns="0" rIns="0" bIns="0" rtlCol="0" anchor="t">
            <a:normAutofit/>
          </a:bodyPr>
          <a:lstStyle/>
          <a:p>
            <a:pPr rtl="1" algn="r" indent="0" marL="0">
              <a:buNone/>
            </a:pPr>
            <a:r>
              <a:rPr lang="ar-SA" altLang="en-US" sz="2000" b="1" dirty="0">
                <a:solidFill>
                  <a:srgbClr val="3B4460"/>
                </a:solidFill>
                <a:latin typeface="Cairo" pitchFamily="34" charset="0"/>
                <a:ea typeface="Cairo" pitchFamily="34" charset="-122"/>
                <a:cs typeface="Cairo" pitchFamily="34" charset="-120"/>
              </a:rPr>
              <a:t>يحقق الهدف بإتقان ← «تمتين»: إبراز وتكريم وتكليفه بتدريب زملائه</a:t>
            </a:r>
            <a:endParaRPr lang="ar-SA" sz="2000" dirty="0"/>
          </a:p>
        </p:txBody>
      </p:sp>
      <p:sp>
        <p:nvSpPr>
          <p:cNvPr id="17" name="anim-g3-411"/>
          <p:cNvSpPr/>
          <p:nvPr/>
        </p:nvSpPr>
        <p:spPr>
          <a:xfrm>
            <a:off x="5844388" y="3694176"/>
            <a:ext cx="4856836" cy="1655064"/>
          </a:xfrm>
          <a:prstGeom prst="roundRect">
            <a:avLst>
              <a:gd name="adj" fmla="val 11050"/>
            </a:avLst>
          </a:prstGeom>
          <a:solidFill>
            <a:srgbClr val="FFFFFF"/>
          </a:solidFill>
          <a:ln w="19050">
            <a:solidFill>
              <a:srgbClr val="E4DCC8"/>
            </a:solidFill>
            <a:prstDash val="solid"/>
          </a:ln>
        </p:spPr>
      </p:sp>
      <p:sp>
        <p:nvSpPr>
          <p:cNvPr id="18" name="anim-g3-412"/>
          <p:cNvSpPr/>
          <p:nvPr/>
        </p:nvSpPr>
        <p:spPr>
          <a:xfrm>
            <a:off x="9878263" y="3831336"/>
            <a:ext cx="640080" cy="54864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9" name="anim-g3-413"/>
          <p:cNvSpPr/>
          <p:nvPr/>
        </p:nvSpPr>
        <p:spPr>
          <a:xfrm>
            <a:off x="6118708" y="3831336"/>
            <a:ext cx="3759556" cy="548640"/>
          </a:xfrm>
          <a:prstGeom prst="rect">
            <a:avLst/>
          </a:prstGeom>
          <a:noFill/>
          <a:ln/>
        </p:spPr>
        <p:txBody>
          <a:bodyPr wrap="square" lIns="0" tIns="0" rIns="0" bIns="0" rtlCol="0" anchor="ctr">
            <a:normAutofit/>
          </a:bodyPr>
          <a:lstStyle/>
          <a:p>
            <a:pPr rtl="1" algn="r" indent="0" marL="0">
              <a:buNone/>
            </a:pPr>
            <a:r>
              <a:rPr lang="ar-SA" altLang="en-US" sz="2400" dirty="0">
                <a:solidFill>
                  <a:srgbClr val="101B45"/>
                </a:solidFill>
                <a:latin typeface="Cairo Black" pitchFamily="34" charset="0"/>
                <a:ea typeface="Cairo Black" pitchFamily="34" charset="-122"/>
                <a:cs typeface="Cairo Black" pitchFamily="34" charset="-120"/>
              </a:rPr>
              <a:t>المتعثر</a:t>
            </a:r>
            <a:endParaRPr lang="ar-SA" sz="2400" dirty="0"/>
          </a:p>
        </p:txBody>
      </p:sp>
      <p:sp>
        <p:nvSpPr>
          <p:cNvPr id="20" name="anim-g3-414"/>
          <p:cNvSpPr/>
          <p:nvPr/>
        </p:nvSpPr>
        <p:spPr>
          <a:xfrm>
            <a:off x="6118708" y="4425696"/>
            <a:ext cx="4308196" cy="786384"/>
          </a:xfrm>
          <a:prstGeom prst="rect">
            <a:avLst/>
          </a:prstGeom>
          <a:noFill/>
          <a:ln/>
        </p:spPr>
        <p:txBody>
          <a:bodyPr wrap="square" lIns="0" tIns="0" rIns="0" bIns="0" rtlCol="0" anchor="t">
            <a:normAutofit/>
          </a:bodyPr>
          <a:lstStyle/>
          <a:p>
            <a:pPr rtl="1" algn="r" indent="0" marL="0">
              <a:buNone/>
            </a:pPr>
            <a:r>
              <a:rPr lang="ar-SA" altLang="en-US" sz="2000" b="1" dirty="0">
                <a:solidFill>
                  <a:srgbClr val="3B4460"/>
                </a:solidFill>
                <a:latin typeface="Cairo" pitchFamily="34" charset="0"/>
                <a:ea typeface="Cairo" pitchFamily="34" charset="-122"/>
                <a:cs typeface="Cairo" pitchFamily="34" charset="-120"/>
              </a:rPr>
              <a:t>لا هدف ولا إتقان ← حزمٌ ونموذج وخطوات يومية ومتابعة لصيقة</a:t>
            </a:r>
            <a:endParaRPr lang="ar-SA" sz="2000" dirty="0"/>
          </a:p>
        </p:txBody>
      </p:sp>
      <p:sp>
        <p:nvSpPr>
          <p:cNvPr id="21" name="anim-g4-415"/>
          <p:cNvSpPr/>
          <p:nvPr/>
        </p:nvSpPr>
        <p:spPr>
          <a:xfrm>
            <a:off x="822960" y="3694176"/>
            <a:ext cx="4856836" cy="1655064"/>
          </a:xfrm>
          <a:prstGeom prst="roundRect">
            <a:avLst>
              <a:gd name="adj" fmla="val 11050"/>
            </a:avLst>
          </a:prstGeom>
          <a:solidFill>
            <a:srgbClr val="FFFFFF"/>
          </a:solidFill>
          <a:ln w="19050">
            <a:solidFill>
              <a:srgbClr val="E4DCC8"/>
            </a:solidFill>
            <a:prstDash val="solid"/>
          </a:ln>
        </p:spPr>
      </p:sp>
      <p:sp>
        <p:nvSpPr>
          <p:cNvPr id="22" name="anim-g4-416"/>
          <p:cNvSpPr/>
          <p:nvPr/>
        </p:nvSpPr>
        <p:spPr>
          <a:xfrm>
            <a:off x="4856836" y="3831336"/>
            <a:ext cx="640080" cy="54864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23" name="anim-g4-417"/>
          <p:cNvSpPr/>
          <p:nvPr/>
        </p:nvSpPr>
        <p:spPr>
          <a:xfrm>
            <a:off x="1097280" y="3831336"/>
            <a:ext cx="3759556" cy="548640"/>
          </a:xfrm>
          <a:prstGeom prst="rect">
            <a:avLst/>
          </a:prstGeom>
          <a:noFill/>
          <a:ln/>
        </p:spPr>
        <p:txBody>
          <a:bodyPr wrap="square" lIns="0" tIns="0" rIns="0" bIns="0" rtlCol="0" anchor="ctr">
            <a:normAutofit/>
          </a:bodyPr>
          <a:lstStyle/>
          <a:p>
            <a:pPr rtl="1" algn="r" indent="0" marL="0">
              <a:buNone/>
            </a:pPr>
            <a:r>
              <a:rPr lang="ar-SA" altLang="en-US" sz="2400" dirty="0">
                <a:solidFill>
                  <a:srgbClr val="101B45"/>
                </a:solidFill>
                <a:latin typeface="Cairo Black" pitchFamily="34" charset="0"/>
                <a:ea typeface="Cairo Black" pitchFamily="34" charset="-122"/>
                <a:cs typeface="Cairo Black" pitchFamily="34" charset="-120"/>
              </a:rPr>
              <a:t>الماهر الفاتر</a:t>
            </a:r>
            <a:endParaRPr lang="ar-SA" sz="2400" dirty="0"/>
          </a:p>
        </p:txBody>
      </p:sp>
      <p:sp>
        <p:nvSpPr>
          <p:cNvPr id="24" name="anim-g4-418"/>
          <p:cNvSpPr/>
          <p:nvPr/>
        </p:nvSpPr>
        <p:spPr>
          <a:xfrm>
            <a:off x="1097280" y="4425696"/>
            <a:ext cx="4308196" cy="786384"/>
          </a:xfrm>
          <a:prstGeom prst="rect">
            <a:avLst/>
          </a:prstGeom>
          <a:noFill/>
          <a:ln/>
        </p:spPr>
        <p:txBody>
          <a:bodyPr wrap="square" lIns="0" tIns="0" rIns="0" bIns="0" rtlCol="0" anchor="t">
            <a:normAutofit/>
          </a:bodyPr>
          <a:lstStyle/>
          <a:p>
            <a:pPr rtl="1" algn="r" indent="0" marL="0">
              <a:buNone/>
            </a:pPr>
            <a:r>
              <a:rPr lang="ar-SA" altLang="en-US" sz="2000" b="1" dirty="0">
                <a:solidFill>
                  <a:srgbClr val="3B4460"/>
                </a:solidFill>
                <a:latin typeface="Cairo" pitchFamily="34" charset="0"/>
                <a:ea typeface="Cairo" pitchFamily="34" charset="-122"/>
                <a:cs typeface="Cairo" pitchFamily="34" charset="-120"/>
              </a:rPr>
              <a:t>يعرف كيف لكنه لا يحقق الهدف ← تحفيز وحوار عن المعنى</a:t>
            </a:r>
            <a:endParaRPr lang="ar-SA" sz="20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تشخيص الفجوة  ·  ٧٠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pic>
        <p:nvPicPr>
          <p:cNvPr id="2" name="Image 0" descr="/Users/mac/dev/younes-training/ishraf/.pptx-cache/s7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419" descr="/Users/mac/dev/younes-training/ishraf/assets/media/khaled.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v/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985455" y="365760"/>
            <a:ext cx="365760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985455" y="365760"/>
            <a:ext cx="365760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خالد وبدر</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زار مشرفٌ معلمَين في مهارة واحدة: طرح الأسئلة. وجد خالدًا متقدمًا، وبدرًا متأخرًا بفجوة كبيرة.</a:t>
            </a:r>
            <a:endParaRPr lang="ar-SA" sz="2400" dirty="0"/>
          </a:p>
        </p:txBody>
      </p:sp>
      <p:sp>
        <p:nvSpPr>
          <p:cNvPr id="8" name="anim-g1-420"/>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421"/>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تابعهما أربع زيارات: بدر يتحسن في كل زيارة… وخالد ثابت في مكانه لا يتحرك.</a:t>
            </a:r>
            <a:endParaRPr lang="ar-SA" sz="2400" dirty="0"/>
          </a:p>
        </p:txBody>
      </p:sp>
      <p:sp>
        <p:nvSpPr>
          <p:cNvPr id="10" name="anim-g2-42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42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فهم المشرف السر: خالد تعوّد سنوات على كلمة «ممتاز ممتاز»… ففقد الدافع ليقفز.</a:t>
            </a:r>
            <a:endParaRPr lang="ar-SA" sz="2400" dirty="0"/>
          </a:p>
        </p:txBody>
      </p:sp>
      <p:sp>
        <p:nvSpPr>
          <p:cNvPr id="12" name="anim-g3-424"/>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425"/>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فطلب من بدر أن يقدّم درسًا نموذجيًا، ودعا خالدًا ليحضر. وفي الزيارة التالية… قفز خالد فوق المستهدف.</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تشخيص الفجوة  ·  ٧٢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pic>
        <p:nvPicPr>
          <p:cNvPr id="2" name="Image 0" descr="/Users/mac/dev/younes-training/ishraf/.pptx-cache/s7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نموذج للاسترشاد</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مهارة: طرح أسئلة التفكير العليا</a:t>
            </a:r>
            <a:endParaRPr lang="ar-SA" sz="3800" dirty="0"/>
          </a:p>
        </p:txBody>
      </p:sp>
      <p:sp>
        <p:nvSpPr>
          <p:cNvPr id="5" name="Shape 3"/>
          <p:cNvSpPr/>
          <p:nvPr/>
        </p:nvSpPr>
        <p:spPr>
          <a:xfrm>
            <a:off x="8960417" y="1874520"/>
            <a:ext cx="2408319" cy="548640"/>
          </a:xfrm>
          <a:prstGeom prst="roundRect">
            <a:avLst>
              <a:gd name="adj" fmla="val 20000"/>
            </a:avLst>
          </a:prstGeom>
          <a:solidFill>
            <a:srgbClr val="101B45"/>
          </a:solidFill>
          <a:ln/>
        </p:spPr>
      </p:sp>
      <p:sp>
        <p:nvSpPr>
          <p:cNvPr id="6" name="Text 4"/>
          <p:cNvSpPr/>
          <p:nvPr/>
        </p:nvSpPr>
        <p:spPr>
          <a:xfrm>
            <a:off x="8960417" y="1874520"/>
            <a:ext cx="2408319"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المستوى</a:t>
            </a:r>
            <a:endParaRPr lang="ar-SA" sz="1900" dirty="0"/>
          </a:p>
        </p:txBody>
      </p:sp>
      <p:sp>
        <p:nvSpPr>
          <p:cNvPr id="7" name="Shape 5"/>
          <p:cNvSpPr/>
          <p:nvPr/>
        </p:nvSpPr>
        <p:spPr>
          <a:xfrm>
            <a:off x="822960" y="1874520"/>
            <a:ext cx="8027729" cy="548640"/>
          </a:xfrm>
          <a:prstGeom prst="roundRect">
            <a:avLst>
              <a:gd name="adj" fmla="val 20000"/>
            </a:avLst>
          </a:prstGeom>
          <a:solidFill>
            <a:srgbClr val="101B45"/>
          </a:solidFill>
          <a:ln/>
        </p:spPr>
      </p:sp>
      <p:sp>
        <p:nvSpPr>
          <p:cNvPr id="8" name="Text 6"/>
          <p:cNvSpPr/>
          <p:nvPr/>
        </p:nvSpPr>
        <p:spPr>
          <a:xfrm>
            <a:off x="822960" y="1874520"/>
            <a:ext cx="8027729"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ما يُرى في الحصة</a:t>
            </a:r>
            <a:endParaRPr lang="ar-SA" sz="1900" dirty="0"/>
          </a:p>
        </p:txBody>
      </p:sp>
      <p:sp>
        <p:nvSpPr>
          <p:cNvPr id="9" name="anim-g1-426"/>
          <p:cNvSpPr/>
          <p:nvPr/>
        </p:nvSpPr>
        <p:spPr>
          <a:xfrm>
            <a:off x="8960417" y="2514600"/>
            <a:ext cx="2408319" cy="797814"/>
          </a:xfrm>
          <a:prstGeom prst="roundRect">
            <a:avLst>
              <a:gd name="adj" fmla="val 13754"/>
            </a:avLst>
          </a:prstGeom>
          <a:solidFill>
            <a:srgbClr val="FBF3DF"/>
          </a:solidFill>
          <a:ln w="12700">
            <a:solidFill>
              <a:srgbClr val="EFDDAF"/>
            </a:solidFill>
            <a:prstDash val="solid"/>
          </a:ln>
        </p:spPr>
      </p:sp>
      <p:sp>
        <p:nvSpPr>
          <p:cNvPr id="10" name="anim-g1-427"/>
          <p:cNvSpPr/>
          <p:nvPr/>
        </p:nvSpPr>
        <p:spPr>
          <a:xfrm>
            <a:off x="9097577" y="2514600"/>
            <a:ext cx="213399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١ · بداية</a:t>
            </a:r>
            <a:endParaRPr lang="ar-SA" sz="2100" dirty="0"/>
          </a:p>
        </p:txBody>
      </p:sp>
      <p:sp>
        <p:nvSpPr>
          <p:cNvPr id="11" name="anim-g1-428"/>
          <p:cNvSpPr/>
          <p:nvPr/>
        </p:nvSpPr>
        <p:spPr>
          <a:xfrm>
            <a:off x="822960" y="2514600"/>
            <a:ext cx="8027729" cy="797814"/>
          </a:xfrm>
          <a:prstGeom prst="roundRect">
            <a:avLst>
              <a:gd name="adj" fmla="val 13754"/>
            </a:avLst>
          </a:prstGeom>
          <a:solidFill>
            <a:srgbClr val="E6F4EC"/>
          </a:solidFill>
          <a:ln w="12700">
            <a:solidFill>
              <a:srgbClr val="CDE9D9"/>
            </a:solidFill>
            <a:prstDash val="solid"/>
          </a:ln>
        </p:spPr>
      </p:sp>
      <p:sp>
        <p:nvSpPr>
          <p:cNvPr id="12" name="anim-g1-429"/>
          <p:cNvSpPr/>
          <p:nvPr/>
        </p:nvSpPr>
        <p:spPr>
          <a:xfrm>
            <a:off x="960120" y="2514600"/>
            <a:ext cx="775340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كل الأسئلة من نوع التذكّر، والمعلم يجيب بنفسه إذا تأخر الطلاب</a:t>
            </a:r>
            <a:endParaRPr lang="ar-SA" sz="2100" dirty="0"/>
          </a:p>
        </p:txBody>
      </p:sp>
      <p:sp>
        <p:nvSpPr>
          <p:cNvPr id="13" name="anim-g2-430"/>
          <p:cNvSpPr/>
          <p:nvPr/>
        </p:nvSpPr>
        <p:spPr>
          <a:xfrm>
            <a:off x="8960417" y="3422142"/>
            <a:ext cx="2408319" cy="797814"/>
          </a:xfrm>
          <a:prstGeom prst="roundRect">
            <a:avLst>
              <a:gd name="adj" fmla="val 13754"/>
            </a:avLst>
          </a:prstGeom>
          <a:solidFill>
            <a:srgbClr val="FBF3DF"/>
          </a:solidFill>
          <a:ln w="12700">
            <a:solidFill>
              <a:srgbClr val="EFDDAF"/>
            </a:solidFill>
            <a:prstDash val="solid"/>
          </a:ln>
        </p:spPr>
      </p:sp>
      <p:sp>
        <p:nvSpPr>
          <p:cNvPr id="14" name="anim-g2-431"/>
          <p:cNvSpPr/>
          <p:nvPr/>
        </p:nvSpPr>
        <p:spPr>
          <a:xfrm>
            <a:off x="9097577" y="3422142"/>
            <a:ext cx="213399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٢ · نامٍ</a:t>
            </a:r>
            <a:endParaRPr lang="ar-SA" sz="2100" dirty="0"/>
          </a:p>
        </p:txBody>
      </p:sp>
      <p:sp>
        <p:nvSpPr>
          <p:cNvPr id="15" name="anim-g2-432"/>
          <p:cNvSpPr/>
          <p:nvPr/>
        </p:nvSpPr>
        <p:spPr>
          <a:xfrm>
            <a:off x="822960" y="3422142"/>
            <a:ext cx="8027729" cy="797814"/>
          </a:xfrm>
          <a:prstGeom prst="roundRect">
            <a:avLst>
              <a:gd name="adj" fmla="val 13754"/>
            </a:avLst>
          </a:prstGeom>
          <a:solidFill>
            <a:srgbClr val="E6F4EC"/>
          </a:solidFill>
          <a:ln w="12700">
            <a:solidFill>
              <a:srgbClr val="CDE9D9"/>
            </a:solidFill>
            <a:prstDash val="solid"/>
          </a:ln>
        </p:spPr>
      </p:sp>
      <p:sp>
        <p:nvSpPr>
          <p:cNvPr id="16" name="anim-g2-433"/>
          <p:cNvSpPr/>
          <p:nvPr/>
        </p:nvSpPr>
        <p:spPr>
          <a:xfrm>
            <a:off x="960120" y="3422142"/>
            <a:ext cx="775340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سؤال أو سؤالان للتفكير، ويقبل أول إجابة فورًا</a:t>
            </a:r>
            <a:endParaRPr lang="ar-SA" sz="2100" dirty="0"/>
          </a:p>
        </p:txBody>
      </p:sp>
      <p:sp>
        <p:nvSpPr>
          <p:cNvPr id="17" name="anim-g3-434"/>
          <p:cNvSpPr/>
          <p:nvPr/>
        </p:nvSpPr>
        <p:spPr>
          <a:xfrm>
            <a:off x="8960417" y="4329684"/>
            <a:ext cx="2408319" cy="797814"/>
          </a:xfrm>
          <a:prstGeom prst="roundRect">
            <a:avLst>
              <a:gd name="adj" fmla="val 13754"/>
            </a:avLst>
          </a:prstGeom>
          <a:solidFill>
            <a:srgbClr val="FBF3DF"/>
          </a:solidFill>
          <a:ln w="12700">
            <a:solidFill>
              <a:srgbClr val="EFDDAF"/>
            </a:solidFill>
            <a:prstDash val="solid"/>
          </a:ln>
        </p:spPr>
      </p:sp>
      <p:sp>
        <p:nvSpPr>
          <p:cNvPr id="18" name="anim-g3-435"/>
          <p:cNvSpPr/>
          <p:nvPr/>
        </p:nvSpPr>
        <p:spPr>
          <a:xfrm>
            <a:off x="9097577" y="4329684"/>
            <a:ext cx="213399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٣ · متمكن</a:t>
            </a:r>
            <a:endParaRPr lang="ar-SA" sz="2100" dirty="0"/>
          </a:p>
        </p:txBody>
      </p:sp>
      <p:sp>
        <p:nvSpPr>
          <p:cNvPr id="19" name="anim-g3-436"/>
          <p:cNvSpPr/>
          <p:nvPr/>
        </p:nvSpPr>
        <p:spPr>
          <a:xfrm>
            <a:off x="822960" y="4329684"/>
            <a:ext cx="8027729" cy="797814"/>
          </a:xfrm>
          <a:prstGeom prst="roundRect">
            <a:avLst>
              <a:gd name="adj" fmla="val 13754"/>
            </a:avLst>
          </a:prstGeom>
          <a:solidFill>
            <a:srgbClr val="E6F4EC"/>
          </a:solidFill>
          <a:ln w="12700">
            <a:solidFill>
              <a:srgbClr val="CDE9D9"/>
            </a:solidFill>
            <a:prstDash val="solid"/>
          </a:ln>
        </p:spPr>
      </p:sp>
      <p:sp>
        <p:nvSpPr>
          <p:cNvPr id="20" name="anim-g3-437"/>
          <p:cNvSpPr/>
          <p:nvPr/>
        </p:nvSpPr>
        <p:spPr>
          <a:xfrm>
            <a:off x="960120" y="4329684"/>
            <a:ext cx="775340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٣ أسئلة تفكير على الأقل، وانتظار ٣–٥ ثوانٍ قبل قبول الإجابة</a:t>
            </a:r>
            <a:endParaRPr lang="ar-SA" sz="2100" dirty="0"/>
          </a:p>
        </p:txBody>
      </p:sp>
      <p:sp>
        <p:nvSpPr>
          <p:cNvPr id="21" name="anim-g4-438"/>
          <p:cNvSpPr/>
          <p:nvPr/>
        </p:nvSpPr>
        <p:spPr>
          <a:xfrm>
            <a:off x="8960417" y="5237226"/>
            <a:ext cx="2408319" cy="797814"/>
          </a:xfrm>
          <a:prstGeom prst="roundRect">
            <a:avLst>
              <a:gd name="adj" fmla="val 13754"/>
            </a:avLst>
          </a:prstGeom>
          <a:solidFill>
            <a:srgbClr val="FBF3DF"/>
          </a:solidFill>
          <a:ln w="12700">
            <a:solidFill>
              <a:srgbClr val="EFDDAF"/>
            </a:solidFill>
            <a:prstDash val="solid"/>
          </a:ln>
        </p:spPr>
      </p:sp>
      <p:sp>
        <p:nvSpPr>
          <p:cNvPr id="22" name="anim-g4-439"/>
          <p:cNvSpPr/>
          <p:nvPr/>
        </p:nvSpPr>
        <p:spPr>
          <a:xfrm>
            <a:off x="9097577" y="5237226"/>
            <a:ext cx="213399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٤ · خبير</a:t>
            </a:r>
            <a:endParaRPr lang="ar-SA" sz="2100" dirty="0"/>
          </a:p>
        </p:txBody>
      </p:sp>
      <p:sp>
        <p:nvSpPr>
          <p:cNvPr id="23" name="anim-g4-440"/>
          <p:cNvSpPr/>
          <p:nvPr/>
        </p:nvSpPr>
        <p:spPr>
          <a:xfrm>
            <a:off x="822960" y="5237226"/>
            <a:ext cx="8027729" cy="797814"/>
          </a:xfrm>
          <a:prstGeom prst="roundRect">
            <a:avLst>
              <a:gd name="adj" fmla="val 13754"/>
            </a:avLst>
          </a:prstGeom>
          <a:solidFill>
            <a:srgbClr val="E6F4EC"/>
          </a:solidFill>
          <a:ln w="12700">
            <a:solidFill>
              <a:srgbClr val="CDE9D9"/>
            </a:solidFill>
            <a:prstDash val="solid"/>
          </a:ln>
        </p:spPr>
      </p:sp>
      <p:sp>
        <p:nvSpPr>
          <p:cNvPr id="24" name="anim-g4-441"/>
          <p:cNvSpPr/>
          <p:nvPr/>
        </p:nvSpPr>
        <p:spPr>
          <a:xfrm>
            <a:off x="960120" y="5237226"/>
            <a:ext cx="775340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الطلاب أنفسهم يطرحون أسئلة تفكير ويناقشون إجابات بعضهم</a:t>
            </a:r>
            <a:endParaRPr lang="ar-SA" sz="21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تشخيص الفجوة  ·  ٧٤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name="Slide 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المحطة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شخّص قبل أن تنصح…</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وقِس قبل أن تحكم</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تشخيص الفجوة  ·  ٧٥</a:t>
            </a:r>
            <a:endParaRPr lang="ar-SA"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ماذا تعلّمنا؟</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دقيقتان قبل الاستراحة</a:t>
            </a:r>
            <a:endParaRPr lang="ar-SA" sz="3800" dirty="0"/>
          </a:p>
        </p:txBody>
      </p:sp>
      <p:sp>
        <p:nvSpPr>
          <p:cNvPr id="5" name="anim-g1-442"/>
          <p:cNvSpPr/>
          <p:nvPr/>
        </p:nvSpPr>
        <p:spPr>
          <a:xfrm>
            <a:off x="10637215" y="2286000"/>
            <a:ext cx="731520" cy="731520"/>
          </a:xfrm>
          <a:prstGeom prst="ellipse">
            <a:avLst/>
          </a:prstGeom>
          <a:solidFill>
            <a:srgbClr val="D9AE4B"/>
          </a:solidFill>
          <a:ln/>
        </p:spPr>
      </p:sp>
      <p:sp>
        <p:nvSpPr>
          <p:cNvPr id="6" name="anim-g1-443"/>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444"/>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تذكّر معلمًا حكمتَ عليه بالضعف</a:t>
            </a:r>
            <a:endParaRPr lang="ar-SA" sz="2200" dirty="0"/>
          </a:p>
        </p:txBody>
      </p:sp>
      <p:sp>
        <p:nvSpPr>
          <p:cNvPr id="8" name="anim-g2-445"/>
          <p:cNvSpPr/>
          <p:nvPr/>
        </p:nvSpPr>
        <p:spPr>
          <a:xfrm>
            <a:off x="10637215" y="3383280"/>
            <a:ext cx="731520" cy="731520"/>
          </a:xfrm>
          <a:prstGeom prst="ellipse">
            <a:avLst/>
          </a:prstGeom>
          <a:solidFill>
            <a:srgbClr val="D9AE4B"/>
          </a:solidFill>
          <a:ln/>
        </p:spPr>
      </p:sp>
      <p:sp>
        <p:nvSpPr>
          <p:cNvPr id="9" name="anim-g2-446"/>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447"/>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في أي سؤال كانت مشكلته: لا يعرف؟ لا يريد؟ لا يستطيع؟</a:t>
            </a:r>
            <a:endParaRPr lang="ar-SA" sz="2200" dirty="0"/>
          </a:p>
        </p:txBody>
      </p:sp>
      <p:sp>
        <p:nvSpPr>
          <p:cNvPr id="11" name="anim-g3-448"/>
          <p:cNvSpPr/>
          <p:nvPr/>
        </p:nvSpPr>
        <p:spPr>
          <a:xfrm>
            <a:off x="10637215" y="4480560"/>
            <a:ext cx="731520" cy="731520"/>
          </a:xfrm>
          <a:prstGeom prst="ellipse">
            <a:avLst/>
          </a:prstGeom>
          <a:solidFill>
            <a:srgbClr val="D9AE4B"/>
          </a:solidFill>
          <a:ln/>
        </p:spPr>
      </p:sp>
      <p:sp>
        <p:nvSpPr>
          <p:cNvPr id="12" name="anim-g3-449"/>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450"/>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اكتب في الدردشة: ماذا ستفعل معه بشكل مختلف؟</a:t>
            </a:r>
            <a:endParaRPr lang="ar-SA" sz="2200" dirty="0"/>
          </a:p>
        </p:txBody>
      </p:sp>
      <p:sp>
        <p:nvSpPr>
          <p:cNvPr id="14" name="Shape 12"/>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5" name="Text 13"/>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2:00</a:t>
            </a:r>
            <a:endParaRPr lang="ar-SA" sz="6000" dirty="0"/>
          </a:p>
        </p:txBody>
      </p:sp>
      <p:sp>
        <p:nvSpPr>
          <p:cNvPr id="16" name="Text 14"/>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٢ دقائق</a:t>
            </a:r>
            <a:endParaRPr lang="ar-SA" sz="16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تشخيص الفجوة  ·  ٧٦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name="Slide 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مصادر المحطة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المراجع</a:t>
            </a:r>
            <a:endParaRPr lang="ar-SA" sz="3800" dirty="0"/>
          </a:p>
        </p:txBody>
      </p:sp>
      <p:sp>
        <p:nvSpPr>
          <p:cNvPr id="5" name="anim-g1-451"/>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452"/>
          <p:cNvSpPr/>
          <p:nvPr/>
        </p:nvSpPr>
        <p:spPr>
          <a:xfrm>
            <a:off x="10573207" y="2109978"/>
            <a:ext cx="566928" cy="566928"/>
          </a:xfrm>
          <a:prstGeom prst="ellipse">
            <a:avLst/>
          </a:prstGeom>
          <a:solidFill>
            <a:srgbClr val="D9AE4B"/>
          </a:solidFill>
          <a:ln/>
        </p:spPr>
      </p:sp>
      <p:sp>
        <p:nvSpPr>
          <p:cNvPr id="7" name="anim-g1-453"/>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454"/>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Miller, G. (1956). The Magical Number Seven, Plus or Minus Two. Psychological Review</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عدد العناصر في الاستمارة</a:t>
            </a:r>
            <a:endParaRPr lang="ar-SA" sz="2400" dirty="0"/>
          </a:p>
        </p:txBody>
      </p:sp>
      <p:sp>
        <p:nvSpPr>
          <p:cNvPr id="9" name="anim-g2-455"/>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456"/>
          <p:cNvSpPr/>
          <p:nvPr/>
        </p:nvSpPr>
        <p:spPr>
          <a:xfrm>
            <a:off x="10573207" y="3166110"/>
            <a:ext cx="566928" cy="566928"/>
          </a:xfrm>
          <a:prstGeom prst="ellipse">
            <a:avLst/>
          </a:prstGeom>
          <a:solidFill>
            <a:srgbClr val="D9AE4B"/>
          </a:solidFill>
          <a:ln/>
        </p:spPr>
      </p:sp>
      <p:sp>
        <p:nvSpPr>
          <p:cNvPr id="11" name="anim-g2-457"/>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458"/>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Mager, R. &amp; Pipe, P. (1970). Analyzing Performance Problems</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لا يعرف أم لا يريد أم لا يستطيع</a:t>
            </a:r>
            <a:endParaRPr lang="ar-SA" sz="2400" dirty="0"/>
          </a:p>
        </p:txBody>
      </p:sp>
      <p:sp>
        <p:nvSpPr>
          <p:cNvPr id="13" name="anim-g3-459"/>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460"/>
          <p:cNvSpPr/>
          <p:nvPr/>
        </p:nvSpPr>
        <p:spPr>
          <a:xfrm>
            <a:off x="10573207" y="4222242"/>
            <a:ext cx="566928" cy="566928"/>
          </a:xfrm>
          <a:prstGeom prst="ellipse">
            <a:avLst/>
          </a:prstGeom>
          <a:solidFill>
            <a:srgbClr val="D9AE4B"/>
          </a:solidFill>
          <a:ln/>
        </p:spPr>
      </p:sp>
      <p:sp>
        <p:nvSpPr>
          <p:cNvPr id="15" name="anim-g3-461"/>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462"/>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Gilbert, T. (1978). Human Competence: Engineering Worthy Performance</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نموذج الخانات الست</a:t>
            </a:r>
            <a:endParaRPr lang="ar-SA" sz="2400" dirty="0"/>
          </a:p>
        </p:txBody>
      </p:sp>
      <p:sp>
        <p:nvSpPr>
          <p:cNvPr id="17" name="anim-g4-463"/>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464"/>
          <p:cNvSpPr/>
          <p:nvPr/>
        </p:nvSpPr>
        <p:spPr>
          <a:xfrm>
            <a:off x="10573207" y="5278374"/>
            <a:ext cx="566928" cy="566928"/>
          </a:xfrm>
          <a:prstGeom prst="ellipse">
            <a:avLst/>
          </a:prstGeom>
          <a:solidFill>
            <a:srgbClr val="D9AE4B"/>
          </a:solidFill>
          <a:ln/>
        </p:spPr>
      </p:sp>
      <p:sp>
        <p:nvSpPr>
          <p:cNvPr id="19" name="anim-g4-465"/>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466"/>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Drucker, P. (1967). The Effective Executive</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الفاعلية والكفاءة</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تشخيص الفجوة  ·  ٧٧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name="Slide 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٤</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المحطة ٤</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الزيارة التي تطوّر</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قبل الزيارة · أثناءها · وبعدها</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الزيارة التي تطوّر  ·  ٧٨</a:t>
            </a:r>
            <a:endParaRPr lang="ar-SA"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467" descr="/Users/mac/dev/younes-training/ishraf/assets/media/silent.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v/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107631" y="365760"/>
            <a:ext cx="4535424"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107631" y="365760"/>
            <a:ext cx="4535424"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الزيارة الصامتة</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رائد نشاط شاب في مدرسة نائية فازت بالمركز الأول على مستوى المملكة. جاء المشرف يحمل خطاب الشكر.</a:t>
            </a:r>
            <a:endParaRPr lang="ar-SA" sz="2400" dirty="0"/>
          </a:p>
        </p:txBody>
      </p:sp>
      <p:sp>
        <p:nvSpPr>
          <p:cNvPr id="8" name="anim-g1-468"/>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469"/>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جلس معه ساعة يتصفح أعماله دون أن يقول شيئًا، ثم حضر عنده حصة… ولم يكتب ملاحظة واحدة.</a:t>
            </a:r>
            <a:endParaRPr lang="ar-SA" sz="2400" dirty="0"/>
          </a:p>
        </p:txBody>
      </p:sp>
      <p:sp>
        <p:nvSpPr>
          <p:cNvPr id="10" name="anim-g2-470"/>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471"/>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وعند السيارة، قبل أن يودّعه، التفت إليه وسأله سؤالًا واحدًا: «يا أخي… ما هدفك في الحياة؟ فكّر في شيء أكبر من السبعين سنة التي ستعيشها». ثم مضى.</a:t>
            </a:r>
            <a:endParaRPr lang="ar-SA" sz="2400" dirty="0"/>
          </a:p>
        </p:txBody>
      </p:sp>
      <p:sp>
        <p:nvSpPr>
          <p:cNvPr id="12" name="anim-g3-47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47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قال المعلم بعد ثلاثين سنة: لم أنم تلك الليلة. اكتشفتُ أن أهدافي كلها كانت صغيرة… وتلك الزيارة غيّرت حياتي.</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الزيارة التي تطوّر  ·  ٧٩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name="Slide 8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925416" y="1097280"/>
            <a:ext cx="2340864"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925416" y="1097280"/>
            <a:ext cx="234086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لماذا نزور؟</a:t>
            </a:r>
            <a:endParaRPr lang="ar-SA" sz="1800" dirty="0"/>
          </a:p>
        </p:txBody>
      </p:sp>
      <p:sp>
        <p:nvSpPr>
          <p:cNvPr id="4" name="Shape 2"/>
          <p:cNvSpPr/>
          <p:nvPr/>
        </p:nvSpPr>
        <p:spPr>
          <a:xfrm>
            <a:off x="5181448" y="2103120"/>
            <a:ext cx="1828800" cy="32004"/>
          </a:xfrm>
          <a:prstGeom prst="rect">
            <a:avLst/>
          </a:prstGeom>
          <a:solidFill>
            <a:srgbClr val="D9AE4B"/>
          </a:solidFill>
          <a:ln/>
        </p:spPr>
      </p:sp>
      <p:sp>
        <p:nvSpPr>
          <p:cNvPr id="5" name="Text 3"/>
          <p:cNvSpPr/>
          <p:nvPr/>
        </p:nvSpPr>
        <p:spPr>
          <a:xfrm>
            <a:off x="1188720" y="2286000"/>
            <a:ext cx="9814255" cy="2377440"/>
          </a:xfrm>
          <a:prstGeom prst="rect">
            <a:avLst/>
          </a:prstGeom>
          <a:noFill/>
          <a:ln/>
        </p:spPr>
        <p:txBody>
          <a:bodyPr wrap="square" lIns="0" tIns="0" rIns="0" bIns="0" rtlCol="0" anchor="ctr">
            <a:normAutofit/>
          </a:bodyPr>
          <a:lstStyle/>
          <a:p>
            <a:pPr rtl="1" algn="ctr" indent="0" marL="0">
              <a:lnSpc>
                <a:spcPct val="125000"/>
              </a:lnSpc>
              <a:buNone/>
            </a:pPr>
            <a:r>
              <a:rPr lang="ar-SA" altLang="en-US" sz="4000" b="1" dirty="0">
                <a:solidFill>
                  <a:srgbClr val="FFFFFF"/>
                </a:solidFill>
                <a:latin typeface="Amiri" pitchFamily="34" charset="0"/>
                <a:ea typeface="Amiri" pitchFamily="34" charset="-122"/>
                <a:cs typeface="Amiri" pitchFamily="34" charset="-120"/>
              </a:rPr>
              <a:t>كلُّ ما كان لله اتّصل… وكلُّ ما كان لغير الله انفصل</a:t>
            </a:r>
            <a:endParaRPr lang="ar-SA" sz="4000" dirty="0"/>
          </a:p>
        </p:txBody>
      </p:sp>
      <p:sp>
        <p:nvSpPr>
          <p:cNvPr id="6" name="Shape 4"/>
          <p:cNvSpPr/>
          <p:nvPr/>
        </p:nvSpPr>
        <p:spPr>
          <a:xfrm>
            <a:off x="5181448" y="4800600"/>
            <a:ext cx="1828800" cy="32004"/>
          </a:xfrm>
          <a:prstGeom prst="rect">
            <a:avLst/>
          </a:prstGeom>
          <a:solidFill>
            <a:srgbClr val="D9AE4B"/>
          </a:solidFill>
          <a:ln/>
        </p:spPr>
      </p:sp>
      <p:sp>
        <p:nvSpPr>
          <p:cNvPr id="7" name="anim-g1-474"/>
          <p:cNvSpPr/>
          <p:nvPr/>
        </p:nvSpPr>
        <p:spPr>
          <a:xfrm>
            <a:off x="0" y="5029200"/>
            <a:ext cx="12191695"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9AE4B"/>
                </a:solidFill>
                <a:latin typeface="Cairo" pitchFamily="34" charset="0"/>
                <a:ea typeface="Cairo" pitchFamily="34" charset="-122"/>
                <a:cs typeface="Cairo" pitchFamily="34" charset="-120"/>
              </a:rPr>
              <a:t>من أقوال السلف المشهورة</a:t>
            </a:r>
            <a:endParaRPr lang="ar-SA" sz="1600" dirty="0"/>
          </a:p>
        </p:txBody>
      </p:sp>
      <p:sp>
        <p:nvSpPr>
          <p:cNvPr id="8" name="Text 6"/>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9" name="Text 7"/>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الزيارة التي تطوّر  ·  ٨٠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pic>
        <p:nvPicPr>
          <p:cNvPr id="2" name="Image 0" descr="/Users/mac/dev/younes-training/ishraf/.pptx-cache/s8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١ · قبل الزيارة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خمس خطوات قبل أن تطرق الباب</a:t>
            </a:r>
            <a:endParaRPr lang="ar-SA" sz="3800" dirty="0"/>
          </a:p>
        </p:txBody>
      </p:sp>
      <p:sp>
        <p:nvSpPr>
          <p:cNvPr id="5" name="anim-g1-475"/>
          <p:cNvSpPr/>
          <p:nvPr/>
        </p:nvSpPr>
        <p:spPr>
          <a:xfrm>
            <a:off x="822960" y="1920240"/>
            <a:ext cx="10545775" cy="735178"/>
          </a:xfrm>
          <a:prstGeom prst="roundRect">
            <a:avLst>
              <a:gd name="adj" fmla="val 19900"/>
            </a:avLst>
          </a:prstGeom>
          <a:solidFill>
            <a:srgbClr val="FFFFFF"/>
          </a:solidFill>
          <a:ln w="12700">
            <a:solidFill>
              <a:srgbClr val="E4DCC8"/>
            </a:solidFill>
            <a:prstDash val="solid"/>
          </a:ln>
        </p:spPr>
      </p:sp>
      <p:sp>
        <p:nvSpPr>
          <p:cNvPr id="6" name="anim-g1-476"/>
          <p:cNvSpPr/>
          <p:nvPr/>
        </p:nvSpPr>
        <p:spPr>
          <a:xfrm>
            <a:off x="10587838" y="2011680"/>
            <a:ext cx="552298" cy="552298"/>
          </a:xfrm>
          <a:prstGeom prst="ellipse">
            <a:avLst/>
          </a:prstGeom>
          <a:solidFill>
            <a:srgbClr val="D9AE4B"/>
          </a:solidFill>
          <a:ln/>
        </p:spPr>
      </p:sp>
      <p:sp>
        <p:nvSpPr>
          <p:cNvPr id="7" name="anim-g1-477"/>
          <p:cNvSpPr/>
          <p:nvPr/>
        </p:nvSpPr>
        <p:spPr>
          <a:xfrm>
            <a:off x="10587838" y="2011680"/>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478"/>
          <p:cNvSpPr/>
          <p:nvPr/>
        </p:nvSpPr>
        <p:spPr>
          <a:xfrm>
            <a:off x="1097280" y="1920240"/>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اتفق على المعايير مسبقًا</a:t>
            </a:r>
            <a:pPr algn="r" indent="0" marL="0">
              <a:buNone/>
            </a:pPr>
            <a:r>
              <a:rPr lang="ar-SA" altLang="en-US" sz="1800" b="1" dirty="0">
                <a:solidFill>
                  <a:srgbClr val="3B4460"/>
                </a:solidFill>
                <a:latin typeface="Cairo" pitchFamily="34" charset="0"/>
                <a:ea typeface="Cairo" pitchFamily="34" charset="-122"/>
                <a:cs typeface="Cairo" pitchFamily="34" charset="-120"/>
              </a:rPr>
              <a:t>   — المعلم يعرف ماذا ستلاحظ… «كنتُ معلمًا ونفسي أعرف المشرف ماذا يكتب!»</a:t>
            </a:r>
            <a:endParaRPr lang="ar-SA" sz="2200" dirty="0"/>
          </a:p>
        </p:txBody>
      </p:sp>
      <p:sp>
        <p:nvSpPr>
          <p:cNvPr id="9" name="anim-g2-479"/>
          <p:cNvSpPr/>
          <p:nvPr/>
        </p:nvSpPr>
        <p:spPr>
          <a:xfrm>
            <a:off x="822960" y="2765146"/>
            <a:ext cx="10545775" cy="735178"/>
          </a:xfrm>
          <a:prstGeom prst="roundRect">
            <a:avLst>
              <a:gd name="adj" fmla="val 19900"/>
            </a:avLst>
          </a:prstGeom>
          <a:solidFill>
            <a:srgbClr val="FFFFFF"/>
          </a:solidFill>
          <a:ln w="12700">
            <a:solidFill>
              <a:srgbClr val="E4DCC8"/>
            </a:solidFill>
            <a:prstDash val="solid"/>
          </a:ln>
        </p:spPr>
      </p:sp>
      <p:sp>
        <p:nvSpPr>
          <p:cNvPr id="10" name="anim-g2-480"/>
          <p:cNvSpPr/>
          <p:nvPr/>
        </p:nvSpPr>
        <p:spPr>
          <a:xfrm>
            <a:off x="10587838" y="2856586"/>
            <a:ext cx="552298" cy="552298"/>
          </a:xfrm>
          <a:prstGeom prst="ellipse">
            <a:avLst/>
          </a:prstGeom>
          <a:solidFill>
            <a:srgbClr val="D9AE4B"/>
          </a:solidFill>
          <a:ln/>
        </p:spPr>
      </p:sp>
      <p:sp>
        <p:nvSpPr>
          <p:cNvPr id="11" name="anim-g2-481"/>
          <p:cNvSpPr/>
          <p:nvPr/>
        </p:nvSpPr>
        <p:spPr>
          <a:xfrm>
            <a:off x="10587838" y="2856586"/>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482"/>
          <p:cNvSpPr/>
          <p:nvPr/>
        </p:nvSpPr>
        <p:spPr>
          <a:xfrm>
            <a:off x="1097280" y="2765146"/>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حدد مهارة أو مهارتين فقط</a:t>
            </a:r>
            <a:pPr algn="r" indent="0" marL="0">
              <a:buNone/>
            </a:pPr>
            <a:r>
              <a:rPr lang="ar-SA" altLang="en-US" sz="1800" b="1" dirty="0">
                <a:solidFill>
                  <a:srgbClr val="3B4460"/>
                </a:solidFill>
                <a:latin typeface="Cairo" pitchFamily="34" charset="0"/>
                <a:ea typeface="Cairo" pitchFamily="34" charset="-122"/>
                <a:cs typeface="Cairo" pitchFamily="34" charset="-120"/>
              </a:rPr>
              <a:t>   — من خطة الإشراف ونتائج الزيارة الماضية</a:t>
            </a:r>
            <a:endParaRPr lang="ar-SA" sz="2200" dirty="0"/>
          </a:p>
        </p:txBody>
      </p:sp>
      <p:sp>
        <p:nvSpPr>
          <p:cNvPr id="13" name="anim-g3-483"/>
          <p:cNvSpPr/>
          <p:nvPr/>
        </p:nvSpPr>
        <p:spPr>
          <a:xfrm>
            <a:off x="822960" y="3610051"/>
            <a:ext cx="10545775" cy="735178"/>
          </a:xfrm>
          <a:prstGeom prst="roundRect">
            <a:avLst>
              <a:gd name="adj" fmla="val 19900"/>
            </a:avLst>
          </a:prstGeom>
          <a:solidFill>
            <a:srgbClr val="FFFFFF"/>
          </a:solidFill>
          <a:ln w="12700">
            <a:solidFill>
              <a:srgbClr val="E4DCC8"/>
            </a:solidFill>
            <a:prstDash val="solid"/>
          </a:ln>
        </p:spPr>
      </p:sp>
      <p:sp>
        <p:nvSpPr>
          <p:cNvPr id="14" name="anim-g3-484"/>
          <p:cNvSpPr/>
          <p:nvPr/>
        </p:nvSpPr>
        <p:spPr>
          <a:xfrm>
            <a:off x="10587838" y="3701491"/>
            <a:ext cx="552298" cy="552298"/>
          </a:xfrm>
          <a:prstGeom prst="ellipse">
            <a:avLst/>
          </a:prstGeom>
          <a:solidFill>
            <a:srgbClr val="D9AE4B"/>
          </a:solidFill>
          <a:ln/>
        </p:spPr>
      </p:sp>
      <p:sp>
        <p:nvSpPr>
          <p:cNvPr id="15" name="anim-g3-485"/>
          <p:cNvSpPr/>
          <p:nvPr/>
        </p:nvSpPr>
        <p:spPr>
          <a:xfrm>
            <a:off x="10587838" y="3701491"/>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486"/>
          <p:cNvSpPr/>
          <p:nvPr/>
        </p:nvSpPr>
        <p:spPr>
          <a:xfrm>
            <a:off x="1097280" y="3610051"/>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اسأل عن السياق</a:t>
            </a:r>
            <a:pPr algn="r" indent="0" marL="0">
              <a:buNone/>
            </a:pPr>
            <a:r>
              <a:rPr lang="ar-SA" altLang="en-US" sz="1800" b="1" dirty="0">
                <a:solidFill>
                  <a:srgbClr val="3B4460"/>
                </a:solidFill>
                <a:latin typeface="Cairo" pitchFamily="34" charset="0"/>
                <a:ea typeface="Cairo" pitchFamily="34" charset="-122"/>
                <a:cs typeface="Cairo" pitchFamily="34" charset="-120"/>
              </a:rPr>
              <a:t>   — ما الدرس السابق؟ هل في الفصل طالب دمج أو حالة خاصة؟</a:t>
            </a:r>
            <a:endParaRPr lang="ar-SA" sz="2200" dirty="0"/>
          </a:p>
        </p:txBody>
      </p:sp>
      <p:sp>
        <p:nvSpPr>
          <p:cNvPr id="17" name="anim-g4-487"/>
          <p:cNvSpPr/>
          <p:nvPr/>
        </p:nvSpPr>
        <p:spPr>
          <a:xfrm>
            <a:off x="822960" y="4454957"/>
            <a:ext cx="10545775" cy="735178"/>
          </a:xfrm>
          <a:prstGeom prst="roundRect">
            <a:avLst>
              <a:gd name="adj" fmla="val 19900"/>
            </a:avLst>
          </a:prstGeom>
          <a:solidFill>
            <a:srgbClr val="FFFFFF"/>
          </a:solidFill>
          <a:ln w="12700">
            <a:solidFill>
              <a:srgbClr val="E4DCC8"/>
            </a:solidFill>
            <a:prstDash val="solid"/>
          </a:ln>
        </p:spPr>
      </p:sp>
      <p:sp>
        <p:nvSpPr>
          <p:cNvPr id="18" name="anim-g4-488"/>
          <p:cNvSpPr/>
          <p:nvPr/>
        </p:nvSpPr>
        <p:spPr>
          <a:xfrm>
            <a:off x="10587838" y="4546397"/>
            <a:ext cx="552298" cy="552298"/>
          </a:xfrm>
          <a:prstGeom prst="ellipse">
            <a:avLst/>
          </a:prstGeom>
          <a:solidFill>
            <a:srgbClr val="D9AE4B"/>
          </a:solidFill>
          <a:ln/>
        </p:spPr>
      </p:sp>
      <p:sp>
        <p:nvSpPr>
          <p:cNvPr id="19" name="anim-g4-489"/>
          <p:cNvSpPr/>
          <p:nvPr/>
        </p:nvSpPr>
        <p:spPr>
          <a:xfrm>
            <a:off x="10587838" y="4546397"/>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490"/>
          <p:cNvSpPr/>
          <p:nvPr/>
        </p:nvSpPr>
        <p:spPr>
          <a:xfrm>
            <a:off x="1097280" y="4454957"/>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لا تزر معلمًا لم يفطر</a:t>
            </a:r>
            <a:pPr algn="r" indent="0" marL="0">
              <a:buNone/>
            </a:pPr>
            <a:r>
              <a:rPr lang="ar-SA" altLang="en-US" sz="1800" b="1" dirty="0">
                <a:solidFill>
                  <a:srgbClr val="3B4460"/>
                </a:solidFill>
                <a:latin typeface="Cairo" pitchFamily="34" charset="0"/>
                <a:ea typeface="Cairo" pitchFamily="34" charset="-122"/>
                <a:cs typeface="Cairo" pitchFamily="34" charset="-120"/>
              </a:rPr>
              <a:t>   — الجوع والتوتر يجعلان أي ملاحظة تنفجر في وجهك</a:t>
            </a:r>
            <a:endParaRPr lang="ar-SA" sz="2200" dirty="0"/>
          </a:p>
        </p:txBody>
      </p:sp>
      <p:sp>
        <p:nvSpPr>
          <p:cNvPr id="21" name="anim-g5-491"/>
          <p:cNvSpPr/>
          <p:nvPr/>
        </p:nvSpPr>
        <p:spPr>
          <a:xfrm>
            <a:off x="822960" y="5299862"/>
            <a:ext cx="10545775" cy="735178"/>
          </a:xfrm>
          <a:prstGeom prst="roundRect">
            <a:avLst>
              <a:gd name="adj" fmla="val 19900"/>
            </a:avLst>
          </a:prstGeom>
          <a:solidFill>
            <a:srgbClr val="FFFFFF"/>
          </a:solidFill>
          <a:ln w="12700">
            <a:solidFill>
              <a:srgbClr val="E4DCC8"/>
            </a:solidFill>
            <a:prstDash val="solid"/>
          </a:ln>
        </p:spPr>
      </p:sp>
      <p:sp>
        <p:nvSpPr>
          <p:cNvPr id="22" name="anim-g5-492"/>
          <p:cNvSpPr/>
          <p:nvPr/>
        </p:nvSpPr>
        <p:spPr>
          <a:xfrm>
            <a:off x="10587838" y="5391302"/>
            <a:ext cx="552298" cy="552298"/>
          </a:xfrm>
          <a:prstGeom prst="ellipse">
            <a:avLst/>
          </a:prstGeom>
          <a:solidFill>
            <a:srgbClr val="D9AE4B"/>
          </a:solidFill>
          <a:ln/>
        </p:spPr>
      </p:sp>
      <p:sp>
        <p:nvSpPr>
          <p:cNvPr id="23" name="anim-g5-493"/>
          <p:cNvSpPr/>
          <p:nvPr/>
        </p:nvSpPr>
        <p:spPr>
          <a:xfrm>
            <a:off x="10587838" y="5391302"/>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494"/>
          <p:cNvSpPr/>
          <p:nvPr/>
        </p:nvSpPr>
        <p:spPr>
          <a:xfrm>
            <a:off x="1097280" y="5299862"/>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لا تبدّل جدوله لأنك مستعجل</a:t>
            </a:r>
            <a:pPr algn="r" indent="0" marL="0">
              <a:buNone/>
            </a:pPr>
            <a:r>
              <a:rPr lang="ar-SA" altLang="en-US" sz="1800" b="1" dirty="0">
                <a:solidFill>
                  <a:srgbClr val="3B4460"/>
                </a:solidFill>
                <a:latin typeface="Cairo" pitchFamily="34" charset="0"/>
                <a:ea typeface="Cairo" pitchFamily="34" charset="-122"/>
                <a:cs typeface="Cairo" pitchFamily="34" charset="-120"/>
              </a:rPr>
              <a:t>   — حصة نُقلت من مكانها ليست الحصة الحقيقية</a:t>
            </a:r>
            <a:endParaRPr lang="ar-SA" sz="22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الزيارة التي تطوّر  ·  ٨٢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name="Slide 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150047" y="457200"/>
            <a:ext cx="3218688" cy="457200"/>
          </a:xfrm>
          <a:prstGeom prst="roundRect">
            <a:avLst>
              <a:gd name="adj" fmla="val 50000"/>
            </a:avLst>
          </a:prstGeom>
          <a:solidFill>
            <a:srgbClr val="F6EBCF"/>
          </a:solidFill>
          <a:ln/>
        </p:spPr>
      </p:sp>
      <p:sp>
        <p:nvSpPr>
          <p:cNvPr id="3" name="Text 1"/>
          <p:cNvSpPr/>
          <p:nvPr/>
        </p:nvSpPr>
        <p:spPr>
          <a:xfrm>
            <a:off x="8150047" y="457200"/>
            <a:ext cx="321868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٢ · أثناء الزيارة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أنت «الحَكَم» في آخر الملعب… لا المتفرّج الغاضب</a:t>
            </a:r>
            <a:endParaRPr lang="ar-SA" sz="3200" dirty="0"/>
          </a:p>
        </p:txBody>
      </p:sp>
      <p:sp>
        <p:nvSpPr>
          <p:cNvPr id="5" name="anim-g1-495"/>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496"/>
          <p:cNvSpPr/>
          <p:nvPr/>
        </p:nvSpPr>
        <p:spPr>
          <a:xfrm>
            <a:off x="10362895" y="2404872"/>
            <a:ext cx="731520" cy="731520"/>
          </a:xfrm>
          <a:prstGeom prst="roundRect">
            <a:avLst>
              <a:gd name="adj" fmla="val 25000"/>
            </a:avLst>
          </a:prstGeom>
          <a:solidFill>
            <a:srgbClr val="F7E6BC"/>
          </a:solidFill>
          <a:ln/>
        </p:spPr>
      </p:sp>
      <p:sp>
        <p:nvSpPr>
          <p:cNvPr id="7" name="anim-g1-497"/>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498"/>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الأمان أولًا</a:t>
            </a:r>
            <a:endParaRPr lang="ar-SA" sz="2300" dirty="0"/>
          </a:p>
        </p:txBody>
      </p:sp>
      <p:sp>
        <p:nvSpPr>
          <p:cNvPr id="9" name="anim-g1-499"/>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ابتسم، ولا تعلّق أمام الطلاب، ولا تقاطع الحصة أبدًا</a:t>
            </a:r>
            <a:endParaRPr lang="ar-SA" sz="2100" dirty="0"/>
          </a:p>
        </p:txBody>
      </p:sp>
      <p:sp>
        <p:nvSpPr>
          <p:cNvPr id="10" name="anim-g2-500"/>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501"/>
          <p:cNvSpPr/>
          <p:nvPr/>
        </p:nvSpPr>
        <p:spPr>
          <a:xfrm>
            <a:off x="6756197" y="2404872"/>
            <a:ext cx="731520" cy="731520"/>
          </a:xfrm>
          <a:prstGeom prst="roundRect">
            <a:avLst>
              <a:gd name="adj" fmla="val 25000"/>
            </a:avLst>
          </a:prstGeom>
          <a:solidFill>
            <a:srgbClr val="F7E6BC"/>
          </a:solidFill>
          <a:ln/>
        </p:spPr>
      </p:sp>
      <p:sp>
        <p:nvSpPr>
          <p:cNvPr id="12" name="anim-g2-502"/>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503"/>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دليلٌ لا انطباع</a:t>
            </a:r>
            <a:endParaRPr lang="ar-SA" sz="2300" dirty="0"/>
          </a:p>
        </p:txBody>
      </p:sp>
      <p:sp>
        <p:nvSpPr>
          <p:cNvPr id="14" name="anim-g2-504"/>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اكتب ما تراه بالأرقام والأوقات… ولا تنشغل بالجوال</a:t>
            </a:r>
            <a:endParaRPr lang="ar-SA" sz="2100" dirty="0"/>
          </a:p>
        </p:txBody>
      </p:sp>
      <p:sp>
        <p:nvSpPr>
          <p:cNvPr id="15" name="anim-g3-505"/>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506"/>
          <p:cNvSpPr/>
          <p:nvPr/>
        </p:nvSpPr>
        <p:spPr>
          <a:xfrm>
            <a:off x="3149498" y="2404872"/>
            <a:ext cx="731520" cy="731520"/>
          </a:xfrm>
          <a:prstGeom prst="roundRect">
            <a:avLst>
              <a:gd name="adj" fmla="val 25000"/>
            </a:avLst>
          </a:prstGeom>
          <a:solidFill>
            <a:srgbClr val="F7E6BC"/>
          </a:solidFill>
          <a:ln/>
        </p:spPr>
      </p:sp>
      <p:sp>
        <p:nvSpPr>
          <p:cNvPr id="17" name="anim-g3-507"/>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508"/>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انظر للطلاب</a:t>
            </a:r>
            <a:endParaRPr lang="ar-SA" sz="2300" dirty="0"/>
          </a:p>
        </p:txBody>
      </p:sp>
      <p:sp>
        <p:nvSpPr>
          <p:cNvPr id="19" name="anim-g3-509"/>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السؤال الأهم: هل يتعلمون؟ لا: هل المعلم يؤدي؟</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الزيارة التي تطوّر  ·  ٨٣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name="Slide 8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828136" y="1097280"/>
            <a:ext cx="4535424"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3828136" y="1097280"/>
            <a:ext cx="453542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٣ · بعد الزيارة… سؤال واحد</a:t>
            </a:r>
            <a:endParaRPr lang="ar-SA" sz="1800" dirty="0"/>
          </a:p>
        </p:txBody>
      </p:sp>
      <p:sp>
        <p:nvSpPr>
          <p:cNvPr id="4" name="Shape 2"/>
          <p:cNvSpPr/>
          <p:nvPr/>
        </p:nvSpPr>
        <p:spPr>
          <a:xfrm>
            <a:off x="5181448" y="2103120"/>
            <a:ext cx="1828800" cy="32004"/>
          </a:xfrm>
          <a:prstGeom prst="rect">
            <a:avLst/>
          </a:prstGeom>
          <a:solidFill>
            <a:srgbClr val="D9AE4B"/>
          </a:solidFill>
          <a:ln/>
        </p:spPr>
      </p:sp>
      <p:sp>
        <p:nvSpPr>
          <p:cNvPr id="5" name="Text 3"/>
          <p:cNvSpPr/>
          <p:nvPr/>
        </p:nvSpPr>
        <p:spPr>
          <a:xfrm>
            <a:off x="1188720" y="2286000"/>
            <a:ext cx="9814255" cy="2377440"/>
          </a:xfrm>
          <a:prstGeom prst="rect">
            <a:avLst/>
          </a:prstGeom>
          <a:noFill/>
          <a:ln/>
        </p:spPr>
        <p:txBody>
          <a:bodyPr wrap="square" lIns="0" tIns="0" rIns="0" bIns="0" rtlCol="0" anchor="ctr">
            <a:normAutofit/>
          </a:bodyPr>
          <a:lstStyle/>
          <a:p>
            <a:pPr rtl="1" algn="ctr" indent="0" marL="0">
              <a:lnSpc>
                <a:spcPct val="125000"/>
              </a:lnSpc>
              <a:buNone/>
            </a:pPr>
            <a:r>
              <a:rPr lang="ar-SA" altLang="en-US" sz="4000" b="1" dirty="0">
                <a:solidFill>
                  <a:srgbClr val="FFFFFF"/>
                </a:solidFill>
                <a:latin typeface="Amiri" pitchFamily="34" charset="0"/>
                <a:ea typeface="Amiri" pitchFamily="34" charset="-122"/>
                <a:cs typeface="Amiri" pitchFamily="34" charset="-120"/>
              </a:rPr>
              <a:t>لو لم يُسمح لك بعد الزيارة إلا بسؤال واحد… فاسأل: ماذا تعلّمنا؟</a:t>
            </a:r>
            <a:endParaRPr lang="ar-SA" sz="4000" dirty="0"/>
          </a:p>
        </p:txBody>
      </p:sp>
      <p:sp>
        <p:nvSpPr>
          <p:cNvPr id="6" name="Shape 4"/>
          <p:cNvSpPr/>
          <p:nvPr/>
        </p:nvSpPr>
        <p:spPr>
          <a:xfrm>
            <a:off x="5181448" y="4800600"/>
            <a:ext cx="1828800" cy="32004"/>
          </a:xfrm>
          <a:prstGeom prst="rect">
            <a:avLst/>
          </a:prstGeom>
          <a:solidFill>
            <a:srgbClr val="D9AE4B"/>
          </a:solidFill>
          <a:ln/>
        </p:spPr>
      </p:sp>
      <p:sp>
        <p:nvSpPr>
          <p:cNvPr id="7" name="anim-g1-510"/>
          <p:cNvSpPr/>
          <p:nvPr/>
        </p:nvSpPr>
        <p:spPr>
          <a:xfrm>
            <a:off x="0" y="5029200"/>
            <a:ext cx="12191695"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9AE4B"/>
                </a:solidFill>
                <a:latin typeface="Cairo" pitchFamily="34" charset="0"/>
                <a:ea typeface="Cairo" pitchFamily="34" charset="-122"/>
                <a:cs typeface="Cairo" pitchFamily="34" charset="-120"/>
              </a:rPr>
              <a:t>قاعدة المشرف المطوِّر</a:t>
            </a:r>
            <a:endParaRPr lang="ar-SA" sz="1600" dirty="0"/>
          </a:p>
        </p:txBody>
      </p:sp>
      <p:sp>
        <p:nvSpPr>
          <p:cNvPr id="8" name="Text 6"/>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9" name="Text 7"/>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الزيارة التي تطوّر  ·  ٨٤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name="Slide 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511" descr="/Users/mac/dev/younes-training/ishraf/assets/media/sculptor.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v/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253935" y="365760"/>
            <a:ext cx="438912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253935" y="365760"/>
            <a:ext cx="438912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النحّات والحجر</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يُروى أن نحّاتًا شهيرًا سُئل: كيف صنعتَ هذا التمثال البديع من صخرة صمّاء؟</a:t>
            </a:r>
            <a:endParaRPr lang="ar-SA" sz="2400" dirty="0"/>
          </a:p>
        </p:txBody>
      </p:sp>
      <p:sp>
        <p:nvSpPr>
          <p:cNvPr id="8" name="anim-g1-51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51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فقال: التمثال كان في الحجر منذ البداية… كل ما فعلتُه أنني أزلتُ ما لا ينتمي إليه.</a:t>
            </a:r>
            <a:endParaRPr lang="ar-SA" sz="2600" dirty="0"/>
          </a:p>
        </p:txBody>
      </p:sp>
      <p:sp>
        <p:nvSpPr>
          <p:cNvPr id="10" name="Text 6"/>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11" name="Text 7"/>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الزيارة التي تطوّر  ·  ٨٥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pic>
        <p:nvPicPr>
          <p:cNvPr id="2" name="Image 0" descr="/Users/mac/dev/younes-training/ishraf/.pptx-cache/s8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272223" y="457200"/>
            <a:ext cx="4096512" cy="457200"/>
          </a:xfrm>
          <a:prstGeom prst="roundRect">
            <a:avLst>
              <a:gd name="adj" fmla="val 50000"/>
            </a:avLst>
          </a:prstGeom>
          <a:solidFill>
            <a:srgbClr val="F6EBCF"/>
          </a:solidFill>
          <a:ln/>
        </p:spPr>
      </p:sp>
      <p:sp>
        <p:nvSpPr>
          <p:cNvPr id="3" name="Text 1"/>
          <p:cNvSpPr/>
          <p:nvPr/>
        </p:nvSpPr>
        <p:spPr>
          <a:xfrm>
            <a:off x="7272223" y="457200"/>
            <a:ext cx="409651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مسار المداولة الإشرافية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كل زيارة تبدأ من «التنافر»… فلا تقفز إلى النهاية</a:t>
            </a:r>
            <a:endParaRPr lang="ar-SA" sz="3200" dirty="0"/>
          </a:p>
        </p:txBody>
      </p:sp>
      <p:sp>
        <p:nvSpPr>
          <p:cNvPr id="5" name="anim-g1-514"/>
          <p:cNvSpPr/>
          <p:nvPr/>
        </p:nvSpPr>
        <p:spPr>
          <a:xfrm>
            <a:off x="8938031"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515"/>
          <p:cNvSpPr/>
          <p:nvPr/>
        </p:nvSpPr>
        <p:spPr>
          <a:xfrm>
            <a:off x="10527487" y="2267712"/>
            <a:ext cx="566928" cy="566928"/>
          </a:xfrm>
          <a:prstGeom prst="roundRect">
            <a:avLst>
              <a:gd name="adj" fmla="val 32258"/>
            </a:avLst>
          </a:prstGeom>
          <a:solidFill>
            <a:srgbClr val="F7E6BC"/>
          </a:solidFill>
          <a:ln/>
        </p:spPr>
      </p:sp>
      <p:sp>
        <p:nvSpPr>
          <p:cNvPr id="7" name="anim-g1-516"/>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٤</a:t>
            </a:r>
            <a:endParaRPr lang="ar-SA" sz="2200" dirty="0"/>
          </a:p>
        </p:txBody>
      </p:sp>
      <p:sp>
        <p:nvSpPr>
          <p:cNvPr id="8" name="anim-g1-517"/>
          <p:cNvSpPr/>
          <p:nvPr/>
        </p:nvSpPr>
        <p:spPr>
          <a:xfrm>
            <a:off x="9212351"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التنافر</a:t>
            </a:r>
            <a:endParaRPr lang="ar-SA" sz="2200" dirty="0"/>
          </a:p>
        </p:txBody>
      </p:sp>
      <p:sp>
        <p:nvSpPr>
          <p:cNvPr id="9" name="anim-g1-518"/>
          <p:cNvSpPr/>
          <p:nvPr/>
        </p:nvSpPr>
        <p:spPr>
          <a:xfrm>
            <a:off x="9212351"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لحظة وصولك: «جاء المشرف!» دفاعٌ وتجمّل</a:t>
            </a:r>
            <a:endParaRPr lang="ar-SA" sz="1900" dirty="0"/>
          </a:p>
        </p:txBody>
      </p:sp>
      <p:sp>
        <p:nvSpPr>
          <p:cNvPr id="10" name="anim-g2-519"/>
          <p:cNvSpPr/>
          <p:nvPr/>
        </p:nvSpPr>
        <p:spPr>
          <a:xfrm>
            <a:off x="6233008"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520"/>
          <p:cNvSpPr/>
          <p:nvPr/>
        </p:nvSpPr>
        <p:spPr>
          <a:xfrm>
            <a:off x="7822463" y="2267712"/>
            <a:ext cx="566928" cy="566928"/>
          </a:xfrm>
          <a:prstGeom prst="roundRect">
            <a:avLst>
              <a:gd name="adj" fmla="val 32258"/>
            </a:avLst>
          </a:prstGeom>
          <a:solidFill>
            <a:srgbClr val="F7E6BC"/>
          </a:solidFill>
          <a:ln/>
        </p:spPr>
      </p:sp>
      <p:sp>
        <p:nvSpPr>
          <p:cNvPr id="12" name="anim-g2-521"/>
          <p:cNvSpPr/>
          <p:nvPr/>
        </p:nvSpPr>
        <p:spPr>
          <a:xfrm>
            <a:off x="7822463"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٣</a:t>
            </a:r>
            <a:endParaRPr lang="ar-SA" sz="2200" dirty="0"/>
          </a:p>
        </p:txBody>
      </p:sp>
      <p:sp>
        <p:nvSpPr>
          <p:cNvPr id="13" name="anim-g2-522"/>
          <p:cNvSpPr/>
          <p:nvPr/>
        </p:nvSpPr>
        <p:spPr>
          <a:xfrm>
            <a:off x="6507328"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التقبّل</a:t>
            </a:r>
            <a:endParaRPr lang="ar-SA" sz="2200" dirty="0"/>
          </a:p>
        </p:txBody>
      </p:sp>
      <p:sp>
        <p:nvSpPr>
          <p:cNvPr id="14" name="anim-g2-523"/>
          <p:cNvSpPr/>
          <p:nvPr/>
        </p:nvSpPr>
        <p:spPr>
          <a:xfrm>
            <a:off x="6507328"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ابدأ بنقاط الاتفاق: جامعته، لهجته، شيء أعجبك</a:t>
            </a:r>
            <a:endParaRPr lang="ar-SA" sz="1900" dirty="0"/>
          </a:p>
        </p:txBody>
      </p:sp>
      <p:sp>
        <p:nvSpPr>
          <p:cNvPr id="15" name="anim-g3-524"/>
          <p:cNvSpPr/>
          <p:nvPr/>
        </p:nvSpPr>
        <p:spPr>
          <a:xfrm>
            <a:off x="3527984"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525"/>
          <p:cNvSpPr/>
          <p:nvPr/>
        </p:nvSpPr>
        <p:spPr>
          <a:xfrm>
            <a:off x="5117440" y="2267712"/>
            <a:ext cx="566928" cy="566928"/>
          </a:xfrm>
          <a:prstGeom prst="roundRect">
            <a:avLst>
              <a:gd name="adj" fmla="val 32258"/>
            </a:avLst>
          </a:prstGeom>
          <a:solidFill>
            <a:srgbClr val="F7E6BC"/>
          </a:solidFill>
          <a:ln/>
        </p:spPr>
      </p:sp>
      <p:sp>
        <p:nvSpPr>
          <p:cNvPr id="17" name="anim-g3-526"/>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٢</a:t>
            </a:r>
            <a:endParaRPr lang="ar-SA" sz="2200" dirty="0"/>
          </a:p>
        </p:txBody>
      </p:sp>
      <p:sp>
        <p:nvSpPr>
          <p:cNvPr id="18" name="anim-g3-527"/>
          <p:cNvSpPr/>
          <p:nvPr/>
        </p:nvSpPr>
        <p:spPr>
          <a:xfrm>
            <a:off x="3802304"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التفاوض</a:t>
            </a:r>
            <a:endParaRPr lang="ar-SA" sz="2200" dirty="0"/>
          </a:p>
        </p:txBody>
      </p:sp>
      <p:sp>
        <p:nvSpPr>
          <p:cNvPr id="19" name="anim-g3-528"/>
          <p:cNvSpPr/>
          <p:nvPr/>
        </p:nvSpPr>
        <p:spPr>
          <a:xfrm>
            <a:off x="3802304"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رأيك ورأيه… نبحث عن نقطة التقاء</a:t>
            </a:r>
            <a:endParaRPr lang="ar-SA" sz="1900" dirty="0"/>
          </a:p>
        </p:txBody>
      </p:sp>
      <p:sp>
        <p:nvSpPr>
          <p:cNvPr id="20" name="anim-g4-529"/>
          <p:cNvSpPr/>
          <p:nvPr/>
        </p:nvSpPr>
        <p:spPr>
          <a:xfrm>
            <a:off x="822960"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530"/>
          <p:cNvSpPr/>
          <p:nvPr/>
        </p:nvSpPr>
        <p:spPr>
          <a:xfrm>
            <a:off x="2412416" y="2267712"/>
            <a:ext cx="566928" cy="566928"/>
          </a:xfrm>
          <a:prstGeom prst="roundRect">
            <a:avLst>
              <a:gd name="adj" fmla="val 32258"/>
            </a:avLst>
          </a:prstGeom>
          <a:solidFill>
            <a:srgbClr val="F7E6BC"/>
          </a:solidFill>
          <a:ln/>
        </p:spPr>
      </p:sp>
      <p:sp>
        <p:nvSpPr>
          <p:cNvPr id="22" name="anim-g4-531"/>
          <p:cNvSpPr/>
          <p:nvPr/>
        </p:nvSpPr>
        <p:spPr>
          <a:xfrm>
            <a:off x="2412416"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١</a:t>
            </a:r>
            <a:endParaRPr lang="ar-SA" sz="2200" dirty="0"/>
          </a:p>
        </p:txBody>
      </p:sp>
      <p:sp>
        <p:nvSpPr>
          <p:cNvPr id="23" name="anim-g4-532"/>
          <p:cNvSpPr/>
          <p:nvPr/>
        </p:nvSpPr>
        <p:spPr>
          <a:xfrm>
            <a:off x="1097280"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الاقتناع</a:t>
            </a:r>
            <a:endParaRPr lang="ar-SA" sz="2200" dirty="0"/>
          </a:p>
        </p:txBody>
      </p:sp>
      <p:sp>
        <p:nvSpPr>
          <p:cNvPr id="24" name="anim-g4-533"/>
          <p:cNvSpPr/>
          <p:nvPr/>
        </p:nvSpPr>
        <p:spPr>
          <a:xfrm>
            <a:off x="1097280"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يخرج وقد تبنّى الفكرة كأنها فكرته</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الزيارة التي تطوّر  ·  ٨٧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pic>
        <p:nvPicPr>
          <p:cNvPr id="2" name="Image 0" descr="/Users/mac/dev/younes-training/ishraf/.pptx-cache/s8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المحطة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الزيارة الناجحة…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يخرج منها المعلم وهو يريد أن تزوره مرة أخرى</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الزيارة التي تطوّر  ·  ٨٩</a:t>
            </a:r>
            <a:endParaRPr lang="ar-SA" sz="12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ماذا تعلّمنا؟</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دقيقتان</a:t>
            </a:r>
            <a:endParaRPr lang="ar-SA" sz="3800" dirty="0"/>
          </a:p>
        </p:txBody>
      </p:sp>
      <p:sp>
        <p:nvSpPr>
          <p:cNvPr id="5" name="anim-g1-534"/>
          <p:cNvSpPr/>
          <p:nvPr/>
        </p:nvSpPr>
        <p:spPr>
          <a:xfrm>
            <a:off x="10637215" y="2286000"/>
            <a:ext cx="731520" cy="731520"/>
          </a:xfrm>
          <a:prstGeom prst="ellipse">
            <a:avLst/>
          </a:prstGeom>
          <a:solidFill>
            <a:srgbClr val="D9AE4B"/>
          </a:solidFill>
          <a:ln/>
        </p:spPr>
      </p:sp>
      <p:sp>
        <p:nvSpPr>
          <p:cNvPr id="6" name="anim-g1-535"/>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536"/>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ما الخطوة التي ستضيفها قبل زيارتك القادمة؟</a:t>
            </a:r>
            <a:endParaRPr lang="ar-SA" sz="2200" dirty="0"/>
          </a:p>
        </p:txBody>
      </p:sp>
      <p:sp>
        <p:nvSpPr>
          <p:cNvPr id="8" name="anim-g2-537"/>
          <p:cNvSpPr/>
          <p:nvPr/>
        </p:nvSpPr>
        <p:spPr>
          <a:xfrm>
            <a:off x="10637215" y="3383280"/>
            <a:ext cx="731520" cy="731520"/>
          </a:xfrm>
          <a:prstGeom prst="ellipse">
            <a:avLst/>
          </a:prstGeom>
          <a:solidFill>
            <a:srgbClr val="D9AE4B"/>
          </a:solidFill>
          <a:ln/>
        </p:spPr>
      </p:sp>
      <p:sp>
        <p:nvSpPr>
          <p:cNvPr id="9" name="anim-g2-538"/>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539"/>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وما السؤال الذي ستسأله بعدها؟</a:t>
            </a:r>
            <a:endParaRPr lang="ar-SA" sz="2200" dirty="0"/>
          </a:p>
        </p:txBody>
      </p:sp>
      <p:sp>
        <p:nvSpPr>
          <p:cNvPr id="11" name="anim-g3-540"/>
          <p:cNvSpPr/>
          <p:nvPr/>
        </p:nvSpPr>
        <p:spPr>
          <a:xfrm>
            <a:off x="10637215" y="4480560"/>
            <a:ext cx="731520" cy="731520"/>
          </a:xfrm>
          <a:prstGeom prst="ellipse">
            <a:avLst/>
          </a:prstGeom>
          <a:solidFill>
            <a:srgbClr val="D9AE4B"/>
          </a:solidFill>
          <a:ln/>
        </p:spPr>
      </p:sp>
      <p:sp>
        <p:nvSpPr>
          <p:cNvPr id="12" name="anim-g3-541"/>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542"/>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اكتبهما في الدردشة</a:t>
            </a:r>
            <a:endParaRPr lang="ar-SA" sz="2200" dirty="0"/>
          </a:p>
        </p:txBody>
      </p:sp>
      <p:sp>
        <p:nvSpPr>
          <p:cNvPr id="14" name="Shape 12"/>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5" name="Text 13"/>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2:00</a:t>
            </a:r>
            <a:endParaRPr lang="ar-SA" sz="6000" dirty="0"/>
          </a:p>
        </p:txBody>
      </p:sp>
      <p:sp>
        <p:nvSpPr>
          <p:cNvPr id="16" name="Text 14"/>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٢ دقائق</a:t>
            </a:r>
            <a:endParaRPr lang="ar-SA" sz="16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الزيارة التي تطوّر  ·  ٩٠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name="Slide 9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مصادر المحطة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المراجع</a:t>
            </a:r>
            <a:endParaRPr lang="ar-SA" sz="3800" dirty="0"/>
          </a:p>
        </p:txBody>
      </p:sp>
      <p:sp>
        <p:nvSpPr>
          <p:cNvPr id="5" name="anim-g1-543"/>
          <p:cNvSpPr/>
          <p:nvPr/>
        </p:nvSpPr>
        <p:spPr>
          <a:xfrm>
            <a:off x="822960" y="1920240"/>
            <a:ext cx="10545775" cy="1298448"/>
          </a:xfrm>
          <a:prstGeom prst="roundRect">
            <a:avLst>
              <a:gd name="adj" fmla="val 11268"/>
            </a:avLst>
          </a:prstGeom>
          <a:solidFill>
            <a:srgbClr val="FFFFFF"/>
          </a:solidFill>
          <a:ln w="12700">
            <a:solidFill>
              <a:srgbClr val="E4DCC8"/>
            </a:solidFill>
            <a:prstDash val="solid"/>
          </a:ln>
        </p:spPr>
      </p:sp>
      <p:sp>
        <p:nvSpPr>
          <p:cNvPr id="6" name="anim-g1-544"/>
          <p:cNvSpPr/>
          <p:nvPr/>
        </p:nvSpPr>
        <p:spPr>
          <a:xfrm>
            <a:off x="10573207" y="2286000"/>
            <a:ext cx="566928" cy="566928"/>
          </a:xfrm>
          <a:prstGeom prst="ellipse">
            <a:avLst/>
          </a:prstGeom>
          <a:solidFill>
            <a:srgbClr val="D9AE4B"/>
          </a:solidFill>
          <a:ln/>
        </p:spPr>
      </p:sp>
      <p:sp>
        <p:nvSpPr>
          <p:cNvPr id="7" name="anim-g1-545"/>
          <p:cNvSpPr/>
          <p:nvPr/>
        </p:nvSpPr>
        <p:spPr>
          <a:xfrm>
            <a:off x="10573207" y="228600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546"/>
          <p:cNvSpPr/>
          <p:nvPr/>
        </p:nvSpPr>
        <p:spPr>
          <a:xfrm>
            <a:off x="1097280" y="1920240"/>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Goldhammer, R. (1969) &amp; Cogan, M. (1973). Clinical Supervision</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دورة الزيارة: قبل · أثناء · بعد</a:t>
            </a:r>
            <a:endParaRPr lang="ar-SA" sz="2400" dirty="0"/>
          </a:p>
        </p:txBody>
      </p:sp>
      <p:sp>
        <p:nvSpPr>
          <p:cNvPr id="9" name="anim-g2-547"/>
          <p:cNvSpPr/>
          <p:nvPr/>
        </p:nvSpPr>
        <p:spPr>
          <a:xfrm>
            <a:off x="822960" y="3328416"/>
            <a:ext cx="10545775" cy="1298448"/>
          </a:xfrm>
          <a:prstGeom prst="roundRect">
            <a:avLst>
              <a:gd name="adj" fmla="val 11268"/>
            </a:avLst>
          </a:prstGeom>
          <a:solidFill>
            <a:srgbClr val="FFFFFF"/>
          </a:solidFill>
          <a:ln w="12700">
            <a:solidFill>
              <a:srgbClr val="E4DCC8"/>
            </a:solidFill>
            <a:prstDash val="solid"/>
          </a:ln>
        </p:spPr>
      </p:sp>
      <p:sp>
        <p:nvSpPr>
          <p:cNvPr id="10" name="anim-g2-548"/>
          <p:cNvSpPr/>
          <p:nvPr/>
        </p:nvSpPr>
        <p:spPr>
          <a:xfrm>
            <a:off x="10573207" y="3694176"/>
            <a:ext cx="566928" cy="566928"/>
          </a:xfrm>
          <a:prstGeom prst="ellipse">
            <a:avLst/>
          </a:prstGeom>
          <a:solidFill>
            <a:srgbClr val="D9AE4B"/>
          </a:solidFill>
          <a:ln/>
        </p:spPr>
      </p:sp>
      <p:sp>
        <p:nvSpPr>
          <p:cNvPr id="11" name="anim-g2-549"/>
          <p:cNvSpPr/>
          <p:nvPr/>
        </p:nvSpPr>
        <p:spPr>
          <a:xfrm>
            <a:off x="10573207" y="3694176"/>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550"/>
          <p:cNvSpPr/>
          <p:nvPr/>
        </p:nvSpPr>
        <p:spPr>
          <a:xfrm>
            <a:off x="1097280" y="3328416"/>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Mills, H. Artful Persuasion</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مسار الإقناع والتفاوض</a:t>
            </a:r>
            <a:endParaRPr lang="ar-SA" sz="2400" dirty="0"/>
          </a:p>
        </p:txBody>
      </p:sp>
      <p:sp>
        <p:nvSpPr>
          <p:cNvPr id="13" name="anim-g3-551"/>
          <p:cNvSpPr/>
          <p:nvPr/>
        </p:nvSpPr>
        <p:spPr>
          <a:xfrm>
            <a:off x="822960" y="4736592"/>
            <a:ext cx="10545775" cy="1298448"/>
          </a:xfrm>
          <a:prstGeom prst="roundRect">
            <a:avLst>
              <a:gd name="adj" fmla="val 11268"/>
            </a:avLst>
          </a:prstGeom>
          <a:solidFill>
            <a:srgbClr val="FFFFFF"/>
          </a:solidFill>
          <a:ln w="12700">
            <a:solidFill>
              <a:srgbClr val="E4DCC8"/>
            </a:solidFill>
            <a:prstDash val="solid"/>
          </a:ln>
        </p:spPr>
      </p:sp>
      <p:sp>
        <p:nvSpPr>
          <p:cNvPr id="14" name="anim-g3-552"/>
          <p:cNvSpPr/>
          <p:nvPr/>
        </p:nvSpPr>
        <p:spPr>
          <a:xfrm>
            <a:off x="10573207" y="5102352"/>
            <a:ext cx="566928" cy="566928"/>
          </a:xfrm>
          <a:prstGeom prst="ellipse">
            <a:avLst/>
          </a:prstGeom>
          <a:solidFill>
            <a:srgbClr val="D9AE4B"/>
          </a:solidFill>
          <a:ln/>
        </p:spPr>
      </p:sp>
      <p:sp>
        <p:nvSpPr>
          <p:cNvPr id="15" name="anim-g3-553"/>
          <p:cNvSpPr/>
          <p:nvPr/>
        </p:nvSpPr>
        <p:spPr>
          <a:xfrm>
            <a:off x="10573207" y="510235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554"/>
          <p:cNvSpPr/>
          <p:nvPr/>
        </p:nvSpPr>
        <p:spPr>
          <a:xfrm>
            <a:off x="1097280" y="4736592"/>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الميداني، مجمع الأمثال</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الأمثال</a:t>
            </a:r>
            <a:endParaRPr lang="ar-SA" sz="24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الزيارة التي تطوّر  ·  ٩١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name="Slide 9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٥</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المحطة ٥</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لغة المشرف</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ما هكذا تُورَد الإبل… كلماتك تبني أو تهدم</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لغة المشرف  ·  ٩٢</a:t>
            </a:r>
            <a:endParaRPr lang="ar-SA" sz="12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555" descr="/Users/mac/dev/younes-training/ishraf/assets/media/leg.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v/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107631" y="365760"/>
            <a:ext cx="4535424"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107631" y="365760"/>
            <a:ext cx="4535424"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الساق فوق الساق</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دخل مشرفٌ غرفة المدير بعد الحصة، والمدير على مكتبه، واثنان من المعلمين جالسان.</a:t>
            </a:r>
            <a:endParaRPr lang="ar-SA" sz="2400" dirty="0"/>
          </a:p>
        </p:txBody>
      </p:sp>
      <p:sp>
        <p:nvSpPr>
          <p:cNvPr id="8" name="anim-g1-556"/>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557"/>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جلس المشرف ووضع ساقًا فوق ساق، ونادى المعلم بصوت يسمعه الجميع: «شوف يا أستاذ… سجّل عندك الأشياء التالية».</a:t>
            </a:r>
            <a:endParaRPr lang="ar-SA" sz="2400" dirty="0"/>
          </a:p>
        </p:txBody>
      </p:sp>
      <p:sp>
        <p:nvSpPr>
          <p:cNvPr id="10" name="anim-g2-558"/>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559"/>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احمرّ وجه المعلم. لم يسمع كلمة واحدة بعدها. كان يقول في نفسه: «أنا مربٍّ أبني جيلًا… ولستُ عبدًا عندك. أنت زميل، لك دور… ولستَ سيدي».</a:t>
            </a:r>
            <a:endParaRPr lang="ar-SA" sz="2600" dirty="0"/>
          </a:p>
        </p:txBody>
      </p:sp>
      <p:sp>
        <p:nvSpPr>
          <p:cNvPr id="12" name="Text 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13" name="Text 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لغة المشرف  ·  ٩٣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name="Slide 9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320479" y="457200"/>
            <a:ext cx="2048256" cy="457200"/>
          </a:xfrm>
          <a:prstGeom prst="roundRect">
            <a:avLst>
              <a:gd name="adj" fmla="val 50000"/>
            </a:avLst>
          </a:prstGeom>
          <a:solidFill>
            <a:srgbClr val="F6EBCF"/>
          </a:solidFill>
          <a:ln/>
        </p:spPr>
      </p:sp>
      <p:sp>
        <p:nvSpPr>
          <p:cNvPr id="3" name="Text 1"/>
          <p:cNvSpPr/>
          <p:nvPr/>
        </p:nvSpPr>
        <p:spPr>
          <a:xfrm>
            <a:off x="9320479" y="457200"/>
            <a:ext cx="20482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كن صادقًا</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أيّ هذه العبارات سمعتها من مشرف… أو قلتها أنت؟</a:t>
            </a:r>
            <a:endParaRPr lang="ar-SA" sz="32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«هذا قرار المدير… وما لي دخل»</a:t>
            </a:r>
            <a:endParaRPr lang="ar-SA" sz="2200" dirty="0"/>
          </a:p>
        </p:txBody>
      </p:sp>
      <p:sp>
        <p:nvSpPr>
          <p:cNvPr id="9" name="anim-g1-560"/>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561"/>
          <p:cNvSpPr/>
          <p:nvPr/>
        </p:nvSpPr>
        <p:spPr>
          <a:xfrm>
            <a:off x="10575493" y="2194560"/>
            <a:ext cx="610362" cy="610362"/>
          </a:xfrm>
          <a:prstGeom prst="roundRect">
            <a:avLst>
              <a:gd name="adj" fmla="val 17978"/>
            </a:avLst>
          </a:prstGeom>
          <a:solidFill>
            <a:srgbClr val="A3A9BA"/>
          </a:solidFill>
          <a:ln/>
        </p:spPr>
      </p:sp>
      <p:sp>
        <p:nvSpPr>
          <p:cNvPr id="11" name="anim-g1-562"/>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563"/>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«هذا قرار المدير… وما لي دخل»</a:t>
            </a:r>
            <a:endParaRPr lang="ar-SA" sz="2200" dirty="0"/>
          </a:p>
        </p:txBody>
      </p:sp>
      <p:sp>
        <p:nvSpPr>
          <p:cNvPr id="13" name="anim-g1-564"/>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يتبرأ من القرار فيُضعف هيبته وهيبة القرار معًا</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«لازم تطبّق كذا وإلا بكتبها في التقرير»</a:t>
            </a:r>
            <a:endParaRPr lang="ar-SA" sz="2200" dirty="0"/>
          </a:p>
        </p:txBody>
      </p:sp>
      <p:sp>
        <p:nvSpPr>
          <p:cNvPr id="18" name="anim-g1-565"/>
          <p:cNvSpPr/>
          <p:nvPr/>
        </p:nvSpPr>
        <p:spPr>
          <a:xfrm>
            <a:off x="822960" y="3088386"/>
            <a:ext cx="10545775" cy="884682"/>
          </a:xfrm>
          <a:prstGeom prst="roundRect">
            <a:avLst>
              <a:gd name="adj" fmla="val 16537"/>
            </a:avLst>
          </a:prstGeom>
          <a:solidFill>
            <a:srgbClr val="F7F7F9"/>
          </a:solidFill>
          <a:ln w="19050">
            <a:solidFill>
              <a:srgbClr val="E4DCC8"/>
            </a:solidFill>
            <a:prstDash val="solid"/>
          </a:ln>
        </p:spPr>
      </p:sp>
      <p:sp>
        <p:nvSpPr>
          <p:cNvPr id="19" name="anim-g1-566"/>
          <p:cNvSpPr/>
          <p:nvPr/>
        </p:nvSpPr>
        <p:spPr>
          <a:xfrm>
            <a:off x="10575493" y="3225546"/>
            <a:ext cx="610362" cy="610362"/>
          </a:xfrm>
          <a:prstGeom prst="roundRect">
            <a:avLst>
              <a:gd name="adj" fmla="val 17978"/>
            </a:avLst>
          </a:prstGeom>
          <a:solidFill>
            <a:srgbClr val="A3A9BA"/>
          </a:solidFill>
          <a:ln/>
        </p:spPr>
      </p:sp>
      <p:sp>
        <p:nvSpPr>
          <p:cNvPr id="20" name="anim-g1-567"/>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21" name="anim-g1-568"/>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«لازم تطبّق كذا وإلا بكتبها في التقرير»</a:t>
            </a:r>
            <a:endParaRPr lang="ar-SA" sz="2200" dirty="0"/>
          </a:p>
        </p:txBody>
      </p:sp>
      <p:sp>
        <p:nvSpPr>
          <p:cNvPr id="22" name="anim-g1-569"/>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يحوّل الإشراف إلى تهديد… فيطيع المعلم يوم الزيارة فقط</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«الوزارة تبيها كذا، نفّذ وخلاص»</a:t>
            </a:r>
            <a:endParaRPr lang="ar-SA" sz="2200" dirty="0"/>
          </a:p>
        </p:txBody>
      </p:sp>
      <p:sp>
        <p:nvSpPr>
          <p:cNvPr id="27" name="anim-g1-570"/>
          <p:cNvSpPr/>
          <p:nvPr/>
        </p:nvSpPr>
        <p:spPr>
          <a:xfrm>
            <a:off x="822960" y="4119372"/>
            <a:ext cx="10545775" cy="884682"/>
          </a:xfrm>
          <a:prstGeom prst="roundRect">
            <a:avLst>
              <a:gd name="adj" fmla="val 16537"/>
            </a:avLst>
          </a:prstGeom>
          <a:solidFill>
            <a:srgbClr val="F7F7F9"/>
          </a:solidFill>
          <a:ln w="19050">
            <a:solidFill>
              <a:srgbClr val="E4DCC8"/>
            </a:solidFill>
            <a:prstDash val="solid"/>
          </a:ln>
        </p:spPr>
      </p:sp>
      <p:sp>
        <p:nvSpPr>
          <p:cNvPr id="28" name="anim-g1-571"/>
          <p:cNvSpPr/>
          <p:nvPr/>
        </p:nvSpPr>
        <p:spPr>
          <a:xfrm>
            <a:off x="10575493" y="4256532"/>
            <a:ext cx="610362" cy="610362"/>
          </a:xfrm>
          <a:prstGeom prst="roundRect">
            <a:avLst>
              <a:gd name="adj" fmla="val 17978"/>
            </a:avLst>
          </a:prstGeom>
          <a:solidFill>
            <a:srgbClr val="A3A9BA"/>
          </a:solidFill>
          <a:ln/>
        </p:spPr>
      </p:sp>
      <p:sp>
        <p:nvSpPr>
          <p:cNvPr id="29" name="anim-g1-572"/>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30" name="anim-g1-573"/>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«الوزارة تبيها كذا، نفّذ وخلاص»</a:t>
            </a:r>
            <a:endParaRPr lang="ar-SA" sz="2200" dirty="0"/>
          </a:p>
        </p:txBody>
      </p:sp>
      <p:sp>
        <p:nvSpPr>
          <p:cNvPr id="31" name="anim-g1-574"/>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أمر بلا سبب… يقتل الاقتناع</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«تعال نفكر سوا: كيف نطبّقها في فصلك؟»</a:t>
            </a:r>
            <a:endParaRPr lang="ar-SA" sz="2200" dirty="0"/>
          </a:p>
        </p:txBody>
      </p:sp>
      <p:sp>
        <p:nvSpPr>
          <p:cNvPr id="36" name="anim-g1-575"/>
          <p:cNvSpPr/>
          <p:nvPr/>
        </p:nvSpPr>
        <p:spPr>
          <a:xfrm>
            <a:off x="822960" y="5150358"/>
            <a:ext cx="10545775" cy="884682"/>
          </a:xfrm>
          <a:prstGeom prst="roundRect">
            <a:avLst>
              <a:gd name="adj" fmla="val 16537"/>
            </a:avLst>
          </a:prstGeom>
          <a:solidFill>
            <a:srgbClr val="E6F4EC"/>
          </a:solidFill>
          <a:ln w="31750">
            <a:solidFill>
              <a:srgbClr val="2E9E6B"/>
            </a:solidFill>
            <a:prstDash val="solid"/>
          </a:ln>
        </p:spPr>
      </p:sp>
      <p:sp>
        <p:nvSpPr>
          <p:cNvPr id="37" name="anim-g1-576"/>
          <p:cNvSpPr/>
          <p:nvPr/>
        </p:nvSpPr>
        <p:spPr>
          <a:xfrm>
            <a:off x="10575493" y="5287518"/>
            <a:ext cx="610362" cy="610362"/>
          </a:xfrm>
          <a:prstGeom prst="roundRect">
            <a:avLst>
              <a:gd name="adj" fmla="val 17978"/>
            </a:avLst>
          </a:prstGeom>
          <a:solidFill>
            <a:srgbClr val="2E9E6B"/>
          </a:solidFill>
          <a:ln/>
        </p:spPr>
      </p:sp>
      <p:sp>
        <p:nvSpPr>
          <p:cNvPr id="38" name="anim-g1-577"/>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39" name="anim-g1-578"/>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«تعال نفكر سوا: كيف نطبّقها في فصلك؟»</a:t>
            </a:r>
            <a:endParaRPr lang="ar-SA" sz="2200" dirty="0"/>
          </a:p>
        </p:txBody>
      </p:sp>
      <p:sp>
        <p:nvSpPr>
          <p:cNvPr id="40" name="anim-g1-579"/>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يحوّل القرار إلى شراكة</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لغة المشرف  ·  ٩٤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pic>
        <p:nvPicPr>
          <p:cNvPr id="2" name="Image 0" descr="/Users/mac/dev/younes-training/ishraf/.pptx-cache/s9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71720" y="1188720"/>
            <a:ext cx="204825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5071720" y="1188720"/>
            <a:ext cx="20482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قال تعالى</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30000"/>
              </a:lnSpc>
              <a:buNone/>
            </a:pPr>
            <a:r>
              <a:rPr lang="ar-SA" altLang="en-US" sz="4400" b="1" dirty="0">
                <a:solidFill>
                  <a:srgbClr val="D9AE4B"/>
                </a:solidFill>
                <a:latin typeface="Amiri" pitchFamily="34" charset="0"/>
                <a:ea typeface="Amiri" pitchFamily="34" charset="-122"/>
                <a:cs typeface="Amiri" pitchFamily="34" charset="-120"/>
              </a:rPr>
              <a:t>﴿ </a:t>
            </a:r>
            <a:pPr algn="ctr" indent="0" marL="0">
              <a:lnSpc>
                <a:spcPct val="130000"/>
              </a:lnSpc>
              <a:buNone/>
            </a:pPr>
            <a:r>
              <a:rPr lang="ar-SA" altLang="en-US" sz="4400" b="1" dirty="0">
                <a:solidFill>
                  <a:srgbClr val="FFFFFF"/>
                </a:solidFill>
                <a:latin typeface="Amiri" pitchFamily="34" charset="0"/>
                <a:ea typeface="Amiri" pitchFamily="34" charset="-122"/>
                <a:cs typeface="Amiri" pitchFamily="34" charset="-120"/>
              </a:rPr>
              <a:t>فَبِمَا رَحْمَةٍ مِّنَ اللَّهِ لِنتَ لَهُمْ ۖ وَلَوْ كُنتَ فَظًّا غَلِيظَ الْقَلْبِ لَانفَضُّوا مِنْ حَوْلِكَ</a:t>
            </a:r>
            <a:pPr algn="ctr" indent="0" marL="0">
              <a:lnSpc>
                <a:spcPct val="130000"/>
              </a:lnSpc>
              <a:buNone/>
            </a:pPr>
            <a:r>
              <a:rPr lang="ar-SA" altLang="en-US" sz="4400" b="1" dirty="0">
                <a:solidFill>
                  <a:srgbClr val="D9AE4B"/>
                </a:solidFill>
                <a:latin typeface="Amiri" pitchFamily="34" charset="0"/>
                <a:ea typeface="Amiri" pitchFamily="34" charset="-122"/>
                <a:cs typeface="Amiri" pitchFamily="34" charset="-120"/>
              </a:rPr>
              <a:t> ﴾</a:t>
            </a:r>
            <a:endParaRPr lang="ar-SA" sz="4400" dirty="0"/>
          </a:p>
        </p:txBody>
      </p:sp>
      <p:sp>
        <p:nvSpPr>
          <p:cNvPr id="5" name="Text 3"/>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9AE4B"/>
                </a:solidFill>
                <a:latin typeface="Cairo" pitchFamily="34" charset="0"/>
                <a:ea typeface="Cairo" pitchFamily="34" charset="-122"/>
                <a:cs typeface="Cairo" pitchFamily="34" charset="-120"/>
              </a:rPr>
              <a:t>آل عمران: ١٥٩</a:t>
            </a:r>
            <a:endParaRPr lang="ar-SA" sz="1600" dirty="0"/>
          </a:p>
        </p:txBody>
      </p:sp>
      <p:sp>
        <p:nvSpPr>
          <p:cNvPr id="6" name="Text 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7" name="Text 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لغة المشرف  ·  ٩٦</a:t>
            </a:r>
            <a:endParaRPr lang="ar-SA" sz="12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687007" y="457200"/>
            <a:ext cx="468172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6687007" y="457200"/>
            <a:ext cx="468172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النبي ﷺ مشرفًا — موقف حقيقي</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FFFFF"/>
                </a:solidFill>
                <a:latin typeface="Cairo Black" pitchFamily="34" charset="0"/>
                <a:ea typeface="Cairo Black" pitchFamily="34" charset="-122"/>
                <a:cs typeface="Cairo Black" pitchFamily="34" charset="-120"/>
              </a:rPr>
              <a:t>أعرابي يبول في المسجد</a:t>
            </a:r>
            <a:endParaRPr lang="ar-SA" sz="3800" dirty="0"/>
          </a:p>
        </p:txBody>
      </p:sp>
      <p:sp>
        <p:nvSpPr>
          <p:cNvPr id="5" name="Text 3"/>
          <p:cNvSpPr/>
          <p:nvPr/>
        </p:nvSpPr>
        <p:spPr>
          <a:xfrm>
            <a:off x="5577840" y="2103120"/>
            <a:ext cx="5790895" cy="1463040"/>
          </a:xfrm>
          <a:prstGeom prst="rect">
            <a:avLst/>
          </a:prstGeom>
          <a:noFill/>
          <a:ln/>
        </p:spPr>
        <p:txBody>
          <a:bodyPr wrap="square" lIns="0" tIns="0" rIns="0" bIns="0" rtlCol="0" anchor="t">
            <a:normAutofit/>
          </a:bodyPr>
          <a:lstStyle/>
          <a:p>
            <a:pPr rtl="1" algn="r" indent="0" marL="0">
              <a:lnSpc>
                <a:spcPct val="125000"/>
              </a:lnSpc>
              <a:buNone/>
            </a:pPr>
            <a:r>
              <a:rPr lang="ar-SA" altLang="en-US" sz="2100" b="1" dirty="0">
                <a:solidFill>
                  <a:srgbClr val="D9DEF0"/>
                </a:solidFill>
                <a:latin typeface="Cairo" pitchFamily="34" charset="0"/>
                <a:ea typeface="Cairo" pitchFamily="34" charset="-122"/>
                <a:cs typeface="Cairo" pitchFamily="34" charset="-120"/>
              </a:rPr>
              <a:t>قام أعرابي فبال في طائفة المسجد، فقام إليه الناس ليقعوا به ويزجروه.</a:t>
            </a:r>
            <a:endParaRPr lang="ar-SA" sz="2100" dirty="0"/>
          </a:p>
        </p:txBody>
      </p:sp>
      <p:sp>
        <p:nvSpPr>
          <p:cNvPr id="6" name="anim-g1-580"/>
          <p:cNvSpPr/>
          <p:nvPr/>
        </p:nvSpPr>
        <p:spPr>
          <a:xfrm>
            <a:off x="11313871" y="3703320"/>
            <a:ext cx="54864" cy="1828800"/>
          </a:xfrm>
          <a:prstGeom prst="rect">
            <a:avLst/>
          </a:prstGeom>
          <a:solidFill>
            <a:srgbClr val="D9AE4B"/>
          </a:solidFill>
          <a:ln/>
        </p:spPr>
      </p:sp>
      <p:sp>
        <p:nvSpPr>
          <p:cNvPr id="7" name="anim-g1-581"/>
          <p:cNvSpPr/>
          <p:nvPr/>
        </p:nvSpPr>
        <p:spPr>
          <a:xfrm>
            <a:off x="5577840" y="3657600"/>
            <a:ext cx="5516575" cy="1463040"/>
          </a:xfrm>
          <a:prstGeom prst="rect">
            <a:avLst/>
          </a:prstGeom>
          <a:noFill/>
          <a:ln/>
        </p:spPr>
        <p:txBody>
          <a:bodyPr wrap="square" lIns="0" tIns="0" rIns="0" bIns="0" rtlCol="0" anchor="t">
            <a:normAutofit/>
          </a:bodyPr>
          <a:lstStyle/>
          <a:p>
            <a:pPr rtl="1" algn="r" indent="0" marL="0">
              <a:lnSpc>
                <a:spcPct val="120000"/>
              </a:lnSpc>
              <a:buNone/>
            </a:pPr>
            <a:r>
              <a:rPr lang="ar-SA" altLang="en-US" sz="2400" b="1" dirty="0">
                <a:solidFill>
                  <a:srgbClr val="F0CC7A"/>
                </a:solidFill>
                <a:latin typeface="Amiri" pitchFamily="34" charset="0"/>
                <a:ea typeface="Amiri" pitchFamily="34" charset="-122"/>
                <a:cs typeface="Amiri" pitchFamily="34" charset="-120"/>
              </a:rPr>
              <a:t>«دعوه، وأريقوا على بوله سَجْلًا من ماء؛ فإنما بُعثتم ميسّرين ولم تُبعثوا معسّرين»</a:t>
            </a:r>
            <a:endParaRPr lang="ar-SA" sz="2400" dirty="0"/>
          </a:p>
        </p:txBody>
      </p:sp>
      <p:sp>
        <p:nvSpPr>
          <p:cNvPr id="8" name="anim-g1-582"/>
          <p:cNvSpPr/>
          <p:nvPr/>
        </p:nvSpPr>
        <p:spPr>
          <a:xfrm>
            <a:off x="5577840" y="5166360"/>
            <a:ext cx="5516575" cy="365760"/>
          </a:xfrm>
          <a:prstGeom prst="rect">
            <a:avLst/>
          </a:prstGeom>
          <a:noFill/>
          <a:ln/>
        </p:spPr>
        <p:txBody>
          <a:bodyPr wrap="square" lIns="0" tIns="0" rIns="0" bIns="0" rtlCol="0" anchor="ctr">
            <a:normAutofit/>
          </a:bodyPr>
          <a:lstStyle/>
          <a:p>
            <a:pPr rtl="1" algn="r" indent="0" marL="0">
              <a:buNone/>
            </a:pPr>
            <a:r>
              <a:rPr lang="ar-SA" altLang="en-US" sz="1800" b="1" dirty="0">
                <a:solidFill>
                  <a:srgbClr val="D9AE4B"/>
                </a:solidFill>
                <a:latin typeface="Cairo" pitchFamily="34" charset="0"/>
                <a:ea typeface="Cairo" pitchFamily="34" charset="-122"/>
                <a:cs typeface="Cairo" pitchFamily="34" charset="-120"/>
              </a:rPr>
              <a:t>رواه البخاري</a:t>
            </a:r>
            <a:endParaRPr lang="ar-SA" sz="1800" dirty="0"/>
          </a:p>
        </p:txBody>
      </p:sp>
      <p:sp>
        <p:nvSpPr>
          <p:cNvPr id="9" name="anim-g2-583"/>
          <p:cNvSpPr/>
          <p:nvPr/>
        </p:nvSpPr>
        <p:spPr>
          <a:xfrm>
            <a:off x="822960" y="2103120"/>
            <a:ext cx="4389120" cy="3566160"/>
          </a:xfrm>
          <a:prstGeom prst="roundRect">
            <a:avLst>
              <a:gd name="adj" fmla="val 6410"/>
            </a:avLst>
          </a:prstGeom>
          <a:solidFill>
            <a:srgbClr val="FFFFFF">
              <a:alpha val="6000"/>
            </a:srgbClr>
          </a:solidFill>
          <a:ln w="19050">
            <a:solidFill>
              <a:srgbClr val="D9AE4B">
                <a:alpha val="50000"/>
              </a:srgbClr>
            </a:solidFill>
            <a:prstDash val="solid"/>
          </a:ln>
        </p:spPr>
      </p:sp>
      <p:sp>
        <p:nvSpPr>
          <p:cNvPr id="10" name="anim-g2-584"/>
          <p:cNvSpPr/>
          <p:nvPr/>
        </p:nvSpPr>
        <p:spPr>
          <a:xfrm>
            <a:off x="1097280" y="2286000"/>
            <a:ext cx="3840480" cy="502920"/>
          </a:xfrm>
          <a:prstGeom prst="rect">
            <a:avLst/>
          </a:prstGeom>
          <a:noFill/>
          <a:ln/>
        </p:spPr>
        <p:txBody>
          <a:bodyPr wrap="square" lIns="0" tIns="0" rIns="0" bIns="0" rtlCol="0" anchor="ctr">
            <a:normAutofit/>
          </a:bodyPr>
          <a:lstStyle/>
          <a:p>
            <a:pPr rtl="1" algn="r" indent="0" marL="0">
              <a:buNone/>
            </a:pPr>
            <a:r>
              <a:rPr lang="ar-SA" altLang="en-US" sz="2100" dirty="0">
                <a:solidFill>
                  <a:srgbClr val="D9AE4B"/>
                </a:solidFill>
                <a:latin typeface="Cairo Black" pitchFamily="34" charset="0"/>
                <a:ea typeface="Cairo Black" pitchFamily="34" charset="-122"/>
                <a:cs typeface="Cairo Black" pitchFamily="34" charset="-120"/>
              </a:rPr>
              <a:t>كيف تصرّف ﷺ؟</a:t>
            </a:r>
            <a:endParaRPr lang="ar-SA" sz="2100" dirty="0"/>
          </a:p>
        </p:txBody>
      </p:sp>
      <p:sp>
        <p:nvSpPr>
          <p:cNvPr id="11" name="anim-g2-585"/>
          <p:cNvSpPr/>
          <p:nvPr/>
        </p:nvSpPr>
        <p:spPr>
          <a:xfrm>
            <a:off x="4526280" y="2999232"/>
            <a:ext cx="384048" cy="384048"/>
          </a:xfrm>
          <a:prstGeom prst="ellipse">
            <a:avLst/>
          </a:prstGeom>
          <a:solidFill>
            <a:srgbClr val="D9AE4B"/>
          </a:solidFill>
          <a:ln/>
        </p:spPr>
      </p:sp>
      <p:sp>
        <p:nvSpPr>
          <p:cNvPr id="12" name="anim-g2-586"/>
          <p:cNvSpPr/>
          <p:nvPr/>
        </p:nvSpPr>
        <p:spPr>
          <a:xfrm>
            <a:off x="4526280" y="2999232"/>
            <a:ext cx="384048" cy="384048"/>
          </a:xfrm>
          <a:prstGeom prst="rect">
            <a:avLst/>
          </a:prstGeom>
          <a:noFill/>
          <a:ln/>
        </p:spPr>
        <p:txBody>
          <a:bodyPr wrap="square" lIns="0" tIns="0" rIns="0" bIns="0" rtlCol="0" anchor="ctr">
            <a:normAutofit/>
          </a:bodyPr>
          <a:lstStyle/>
          <a:p>
            <a:pPr rtl="1" algn="ctr" indent="0" marL="0">
              <a:buNone/>
            </a:pPr>
            <a:r>
              <a:rPr lang="ar-SA" altLang="en-US" sz="1400" dirty="0">
                <a:solidFill>
                  <a:srgbClr val="0A1230"/>
                </a:solidFill>
                <a:latin typeface="Cairo Black" pitchFamily="34" charset="0"/>
                <a:ea typeface="Cairo Black" pitchFamily="34" charset="-122"/>
                <a:cs typeface="Cairo Black" pitchFamily="34" charset="-120"/>
              </a:rPr>
              <a:t>١</a:t>
            </a:r>
            <a:endParaRPr lang="ar-SA" sz="1400" dirty="0"/>
          </a:p>
        </p:txBody>
      </p:sp>
      <p:sp>
        <p:nvSpPr>
          <p:cNvPr id="13" name="anim-g2-587"/>
          <p:cNvSpPr/>
          <p:nvPr/>
        </p:nvSpPr>
        <p:spPr>
          <a:xfrm>
            <a:off x="1051560" y="2926080"/>
            <a:ext cx="3383280" cy="777240"/>
          </a:xfrm>
          <a:prstGeom prst="rect">
            <a:avLst/>
          </a:prstGeom>
          <a:noFill/>
          <a:ln/>
        </p:spPr>
        <p:txBody>
          <a:bodyPr wrap="square" lIns="0" tIns="0" rIns="0" bIns="0" rtlCol="0" anchor="t">
            <a:normAutofit/>
          </a:bodyPr>
          <a:lstStyle/>
          <a:p>
            <a:pPr rtl="1" algn="r" indent="0" marL="0">
              <a:buNone/>
            </a:pPr>
            <a:r>
              <a:rPr lang="ar-SA" altLang="en-US" sz="2000" b="1" dirty="0">
                <a:solidFill>
                  <a:srgbClr val="FFFFFF"/>
                </a:solidFill>
                <a:latin typeface="Cairo" pitchFamily="34" charset="0"/>
                <a:ea typeface="Cairo" pitchFamily="34" charset="-122"/>
                <a:cs typeface="Cairo" pitchFamily="34" charset="-120"/>
              </a:rPr>
              <a:t>أوقف الغضب الجماعي قبل أن يعالج الخطأ</a:t>
            </a:r>
            <a:endParaRPr lang="ar-SA" sz="2000" dirty="0"/>
          </a:p>
        </p:txBody>
      </p:sp>
      <p:sp>
        <p:nvSpPr>
          <p:cNvPr id="14" name="anim-g2-588"/>
          <p:cNvSpPr/>
          <p:nvPr/>
        </p:nvSpPr>
        <p:spPr>
          <a:xfrm>
            <a:off x="4526280" y="3867912"/>
            <a:ext cx="384048" cy="384048"/>
          </a:xfrm>
          <a:prstGeom prst="ellipse">
            <a:avLst/>
          </a:prstGeom>
          <a:solidFill>
            <a:srgbClr val="D9AE4B"/>
          </a:solidFill>
          <a:ln/>
        </p:spPr>
      </p:sp>
      <p:sp>
        <p:nvSpPr>
          <p:cNvPr id="15" name="anim-g2-589"/>
          <p:cNvSpPr/>
          <p:nvPr/>
        </p:nvSpPr>
        <p:spPr>
          <a:xfrm>
            <a:off x="4526280" y="3867912"/>
            <a:ext cx="384048" cy="384048"/>
          </a:xfrm>
          <a:prstGeom prst="rect">
            <a:avLst/>
          </a:prstGeom>
          <a:noFill/>
          <a:ln/>
        </p:spPr>
        <p:txBody>
          <a:bodyPr wrap="square" lIns="0" tIns="0" rIns="0" bIns="0" rtlCol="0" anchor="ctr">
            <a:normAutofit/>
          </a:bodyPr>
          <a:lstStyle/>
          <a:p>
            <a:pPr rtl="1" algn="ctr" indent="0" marL="0">
              <a:buNone/>
            </a:pPr>
            <a:r>
              <a:rPr lang="ar-SA" altLang="en-US" sz="1400" dirty="0">
                <a:solidFill>
                  <a:srgbClr val="0A1230"/>
                </a:solidFill>
                <a:latin typeface="Cairo Black" pitchFamily="34" charset="0"/>
                <a:ea typeface="Cairo Black" pitchFamily="34" charset="-122"/>
                <a:cs typeface="Cairo Black" pitchFamily="34" charset="-120"/>
              </a:rPr>
              <a:t>٢</a:t>
            </a:r>
            <a:endParaRPr lang="ar-SA" sz="1400" dirty="0"/>
          </a:p>
        </p:txBody>
      </p:sp>
      <p:sp>
        <p:nvSpPr>
          <p:cNvPr id="16" name="anim-g2-590"/>
          <p:cNvSpPr/>
          <p:nvPr/>
        </p:nvSpPr>
        <p:spPr>
          <a:xfrm>
            <a:off x="1051560" y="3794760"/>
            <a:ext cx="3383280" cy="777240"/>
          </a:xfrm>
          <a:prstGeom prst="rect">
            <a:avLst/>
          </a:prstGeom>
          <a:noFill/>
          <a:ln/>
        </p:spPr>
        <p:txBody>
          <a:bodyPr wrap="square" lIns="0" tIns="0" rIns="0" bIns="0" rtlCol="0" anchor="t">
            <a:normAutofit/>
          </a:bodyPr>
          <a:lstStyle/>
          <a:p>
            <a:pPr rtl="1" algn="r" indent="0" marL="0">
              <a:buNone/>
            </a:pPr>
            <a:r>
              <a:rPr lang="ar-SA" altLang="en-US" sz="2000" b="1" dirty="0">
                <a:solidFill>
                  <a:srgbClr val="FFFFFF"/>
                </a:solidFill>
                <a:latin typeface="Cairo" pitchFamily="34" charset="0"/>
                <a:ea typeface="Cairo" pitchFamily="34" charset="-122"/>
                <a:cs typeface="Cairo" pitchFamily="34" charset="-120"/>
              </a:rPr>
              <a:t>أصلح الضرر عمليًا بهدوء (سجلٌ من ماء)</a:t>
            </a:r>
            <a:endParaRPr lang="ar-SA" sz="2000" dirty="0"/>
          </a:p>
        </p:txBody>
      </p:sp>
      <p:sp>
        <p:nvSpPr>
          <p:cNvPr id="17" name="anim-g2-591"/>
          <p:cNvSpPr/>
          <p:nvPr/>
        </p:nvSpPr>
        <p:spPr>
          <a:xfrm>
            <a:off x="4526280" y="4736592"/>
            <a:ext cx="384048" cy="384048"/>
          </a:xfrm>
          <a:prstGeom prst="ellipse">
            <a:avLst/>
          </a:prstGeom>
          <a:solidFill>
            <a:srgbClr val="D9AE4B"/>
          </a:solidFill>
          <a:ln/>
        </p:spPr>
      </p:sp>
      <p:sp>
        <p:nvSpPr>
          <p:cNvPr id="18" name="anim-g2-592"/>
          <p:cNvSpPr/>
          <p:nvPr/>
        </p:nvSpPr>
        <p:spPr>
          <a:xfrm>
            <a:off x="4526280" y="4736592"/>
            <a:ext cx="384048" cy="384048"/>
          </a:xfrm>
          <a:prstGeom prst="rect">
            <a:avLst/>
          </a:prstGeom>
          <a:noFill/>
          <a:ln/>
        </p:spPr>
        <p:txBody>
          <a:bodyPr wrap="square" lIns="0" tIns="0" rIns="0" bIns="0" rtlCol="0" anchor="ctr">
            <a:normAutofit/>
          </a:bodyPr>
          <a:lstStyle/>
          <a:p>
            <a:pPr rtl="1" algn="ctr" indent="0" marL="0">
              <a:buNone/>
            </a:pPr>
            <a:r>
              <a:rPr lang="ar-SA" altLang="en-US" sz="1400" dirty="0">
                <a:solidFill>
                  <a:srgbClr val="0A1230"/>
                </a:solidFill>
                <a:latin typeface="Cairo Black" pitchFamily="34" charset="0"/>
                <a:ea typeface="Cairo Black" pitchFamily="34" charset="-122"/>
                <a:cs typeface="Cairo Black" pitchFamily="34" charset="-120"/>
              </a:rPr>
              <a:t>٣</a:t>
            </a:r>
            <a:endParaRPr lang="ar-SA" sz="1400" dirty="0"/>
          </a:p>
        </p:txBody>
      </p:sp>
      <p:sp>
        <p:nvSpPr>
          <p:cNvPr id="19" name="anim-g2-593"/>
          <p:cNvSpPr/>
          <p:nvPr/>
        </p:nvSpPr>
        <p:spPr>
          <a:xfrm>
            <a:off x="1051560" y="4663440"/>
            <a:ext cx="3383280" cy="777240"/>
          </a:xfrm>
          <a:prstGeom prst="rect">
            <a:avLst/>
          </a:prstGeom>
          <a:noFill/>
          <a:ln/>
        </p:spPr>
        <p:txBody>
          <a:bodyPr wrap="square" lIns="0" tIns="0" rIns="0" bIns="0" rtlCol="0" anchor="t">
            <a:normAutofit/>
          </a:bodyPr>
          <a:lstStyle/>
          <a:p>
            <a:pPr rtl="1" algn="r" indent="0" marL="0">
              <a:buNone/>
            </a:pPr>
            <a:r>
              <a:rPr lang="ar-SA" altLang="en-US" sz="2000" b="1" dirty="0">
                <a:solidFill>
                  <a:srgbClr val="FFFFFF"/>
                </a:solidFill>
                <a:latin typeface="Cairo" pitchFamily="34" charset="0"/>
                <a:ea typeface="Cairo" pitchFamily="34" charset="-122"/>
                <a:cs typeface="Cairo" pitchFamily="34" charset="-120"/>
              </a:rPr>
              <a:t>ثم علّمه السبب على انفراد (رواه مسلم)</a:t>
            </a:r>
            <a:endParaRPr lang="ar-SA" sz="2000" dirty="0"/>
          </a:p>
        </p:txBody>
      </p:sp>
      <p:sp>
        <p:nvSpPr>
          <p:cNvPr id="20" name="anim-g2-594"/>
          <p:cNvSpPr/>
          <p:nvPr/>
        </p:nvSpPr>
        <p:spPr>
          <a:xfrm>
            <a:off x="4526280" y="5605272"/>
            <a:ext cx="384048" cy="384048"/>
          </a:xfrm>
          <a:prstGeom prst="ellipse">
            <a:avLst/>
          </a:prstGeom>
          <a:solidFill>
            <a:srgbClr val="D9AE4B"/>
          </a:solidFill>
          <a:ln/>
        </p:spPr>
      </p:sp>
      <p:sp>
        <p:nvSpPr>
          <p:cNvPr id="21" name="anim-g2-595"/>
          <p:cNvSpPr/>
          <p:nvPr/>
        </p:nvSpPr>
        <p:spPr>
          <a:xfrm>
            <a:off x="4526280" y="5605272"/>
            <a:ext cx="384048" cy="384048"/>
          </a:xfrm>
          <a:prstGeom prst="rect">
            <a:avLst/>
          </a:prstGeom>
          <a:noFill/>
          <a:ln/>
        </p:spPr>
        <p:txBody>
          <a:bodyPr wrap="square" lIns="0" tIns="0" rIns="0" bIns="0" rtlCol="0" anchor="ctr">
            <a:normAutofit/>
          </a:bodyPr>
          <a:lstStyle/>
          <a:p>
            <a:pPr rtl="1" algn="ctr" indent="0" marL="0">
              <a:buNone/>
            </a:pPr>
            <a:r>
              <a:rPr lang="ar-SA" altLang="en-US" sz="1400" dirty="0">
                <a:solidFill>
                  <a:srgbClr val="0A1230"/>
                </a:solidFill>
                <a:latin typeface="Cairo Black" pitchFamily="34" charset="0"/>
                <a:ea typeface="Cairo Black" pitchFamily="34" charset="-122"/>
                <a:cs typeface="Cairo Black" pitchFamily="34" charset="-120"/>
              </a:rPr>
              <a:t>٤</a:t>
            </a:r>
            <a:endParaRPr lang="ar-SA" sz="1400" dirty="0"/>
          </a:p>
        </p:txBody>
      </p:sp>
      <p:sp>
        <p:nvSpPr>
          <p:cNvPr id="22" name="anim-g2-596"/>
          <p:cNvSpPr/>
          <p:nvPr/>
        </p:nvSpPr>
        <p:spPr>
          <a:xfrm>
            <a:off x="1051560" y="5532120"/>
            <a:ext cx="3383280" cy="777240"/>
          </a:xfrm>
          <a:prstGeom prst="rect">
            <a:avLst/>
          </a:prstGeom>
          <a:noFill/>
          <a:ln/>
        </p:spPr>
        <p:txBody>
          <a:bodyPr wrap="square" lIns="0" tIns="0" rIns="0" bIns="0" rtlCol="0" anchor="t">
            <a:normAutofit/>
          </a:bodyPr>
          <a:lstStyle/>
          <a:p>
            <a:pPr rtl="1" algn="r" indent="0" marL="0">
              <a:buNone/>
            </a:pPr>
            <a:r>
              <a:rPr lang="ar-SA" altLang="en-US" sz="2000" b="1" dirty="0">
                <a:solidFill>
                  <a:srgbClr val="FFFFFF"/>
                </a:solidFill>
                <a:latin typeface="Cairo" pitchFamily="34" charset="0"/>
                <a:ea typeface="Cairo" pitchFamily="34" charset="-122"/>
                <a:cs typeface="Cairo" pitchFamily="34" charset="-120"/>
              </a:rPr>
              <a:t>فخرج الأعرابي محبًّا لا ناقمًا</a:t>
            </a:r>
            <a:endParaRPr lang="ar-SA" sz="2000" dirty="0"/>
          </a:p>
        </p:txBody>
      </p:sp>
      <p:sp>
        <p:nvSpPr>
          <p:cNvPr id="23" name="Text 2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24" name="Text 2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لغة المشرف  ·  ٩٧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name="Slide 9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687007" y="457200"/>
            <a:ext cx="468172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6687007" y="457200"/>
            <a:ext cx="468172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النبي ﷺ مشرفًا — موقف حقيقي</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FFFFF"/>
                </a:solidFill>
                <a:latin typeface="Cairo Black" pitchFamily="34" charset="0"/>
                <a:ea typeface="Cairo Black" pitchFamily="34" charset="-122"/>
                <a:cs typeface="Cairo Black" pitchFamily="34" charset="-120"/>
              </a:rPr>
              <a:t>صحابي يتكلم في الصلاة</a:t>
            </a:r>
            <a:endParaRPr lang="ar-SA" sz="3800" dirty="0"/>
          </a:p>
        </p:txBody>
      </p:sp>
      <p:sp>
        <p:nvSpPr>
          <p:cNvPr id="5" name="Text 3"/>
          <p:cNvSpPr/>
          <p:nvPr/>
        </p:nvSpPr>
        <p:spPr>
          <a:xfrm>
            <a:off x="5577840" y="2103120"/>
            <a:ext cx="5790895" cy="1463040"/>
          </a:xfrm>
          <a:prstGeom prst="rect">
            <a:avLst/>
          </a:prstGeom>
          <a:noFill/>
          <a:ln/>
        </p:spPr>
        <p:txBody>
          <a:bodyPr wrap="square" lIns="0" tIns="0" rIns="0" bIns="0" rtlCol="0" anchor="t">
            <a:normAutofit/>
          </a:bodyPr>
          <a:lstStyle/>
          <a:p>
            <a:pPr rtl="1" algn="r" indent="0" marL="0">
              <a:lnSpc>
                <a:spcPct val="125000"/>
              </a:lnSpc>
              <a:buNone/>
            </a:pPr>
            <a:r>
              <a:rPr lang="ar-SA" altLang="en-US" sz="2100" b="1" dirty="0">
                <a:solidFill>
                  <a:srgbClr val="D9DEF0"/>
                </a:solidFill>
                <a:latin typeface="Cairo" pitchFamily="34" charset="0"/>
                <a:ea typeface="Cairo" pitchFamily="34" charset="-122"/>
                <a:cs typeface="Cairo" pitchFamily="34" charset="-120"/>
              </a:rPr>
              <a:t>تكلّم معاوية بن الحكم في الصلاة جاهلًا بالحكم، فرمقه الناس بأبصارهم وضربوا على أفخاذهم يُسكتونه. فلما صلّى النبي ﷺ دعاه.</a:t>
            </a:r>
            <a:endParaRPr lang="ar-SA" sz="2100" dirty="0"/>
          </a:p>
        </p:txBody>
      </p:sp>
      <p:sp>
        <p:nvSpPr>
          <p:cNvPr id="6" name="anim-g1-597"/>
          <p:cNvSpPr/>
          <p:nvPr/>
        </p:nvSpPr>
        <p:spPr>
          <a:xfrm>
            <a:off x="11313871" y="3703320"/>
            <a:ext cx="54864" cy="1828800"/>
          </a:xfrm>
          <a:prstGeom prst="rect">
            <a:avLst/>
          </a:prstGeom>
          <a:solidFill>
            <a:srgbClr val="D9AE4B"/>
          </a:solidFill>
          <a:ln/>
        </p:spPr>
      </p:sp>
      <p:sp>
        <p:nvSpPr>
          <p:cNvPr id="7" name="anim-g1-598"/>
          <p:cNvSpPr/>
          <p:nvPr/>
        </p:nvSpPr>
        <p:spPr>
          <a:xfrm>
            <a:off x="5577840" y="3657600"/>
            <a:ext cx="5516575" cy="1463040"/>
          </a:xfrm>
          <a:prstGeom prst="rect">
            <a:avLst/>
          </a:prstGeom>
          <a:noFill/>
          <a:ln/>
        </p:spPr>
        <p:txBody>
          <a:bodyPr wrap="square" lIns="0" tIns="0" rIns="0" bIns="0" rtlCol="0" anchor="t">
            <a:normAutofit/>
          </a:bodyPr>
          <a:lstStyle/>
          <a:p>
            <a:pPr rtl="1" algn="r" indent="0" marL="0">
              <a:lnSpc>
                <a:spcPct val="120000"/>
              </a:lnSpc>
              <a:buNone/>
            </a:pPr>
            <a:r>
              <a:rPr lang="ar-SA" altLang="en-US" sz="2400" b="1" dirty="0">
                <a:solidFill>
                  <a:srgbClr val="F0CC7A"/>
                </a:solidFill>
                <a:latin typeface="Amiri" pitchFamily="34" charset="0"/>
                <a:ea typeface="Amiri" pitchFamily="34" charset="-122"/>
                <a:cs typeface="Amiri" pitchFamily="34" charset="-120"/>
              </a:rPr>
              <a:t>«فبأبي هو وأمي، ما رأيت معلّمًا قبله ولا بعده أحسن تعليمًا منه؛ فوالله ما كهرني ولا ضربني ولا شتمني»</a:t>
            </a:r>
            <a:endParaRPr lang="ar-SA" sz="2400" dirty="0"/>
          </a:p>
        </p:txBody>
      </p:sp>
      <p:sp>
        <p:nvSpPr>
          <p:cNvPr id="8" name="anim-g1-599"/>
          <p:cNvSpPr/>
          <p:nvPr/>
        </p:nvSpPr>
        <p:spPr>
          <a:xfrm>
            <a:off x="5577840" y="5166360"/>
            <a:ext cx="5516575" cy="365760"/>
          </a:xfrm>
          <a:prstGeom prst="rect">
            <a:avLst/>
          </a:prstGeom>
          <a:noFill/>
          <a:ln/>
        </p:spPr>
        <p:txBody>
          <a:bodyPr wrap="square" lIns="0" tIns="0" rIns="0" bIns="0" rtlCol="0" anchor="ctr">
            <a:normAutofit/>
          </a:bodyPr>
          <a:lstStyle/>
          <a:p>
            <a:pPr rtl="1" algn="r" indent="0" marL="0">
              <a:buNone/>
            </a:pPr>
            <a:r>
              <a:rPr lang="ar-SA" altLang="en-US" sz="1800" b="1" dirty="0">
                <a:solidFill>
                  <a:srgbClr val="D9AE4B"/>
                </a:solidFill>
                <a:latin typeface="Cairo" pitchFamily="34" charset="0"/>
                <a:ea typeface="Cairo" pitchFamily="34" charset="-122"/>
                <a:cs typeface="Cairo" pitchFamily="34" charset="-120"/>
              </a:rPr>
              <a:t>رواه مسلم</a:t>
            </a:r>
            <a:endParaRPr lang="ar-SA" sz="1800" dirty="0"/>
          </a:p>
        </p:txBody>
      </p:sp>
      <p:sp>
        <p:nvSpPr>
          <p:cNvPr id="9" name="anim-g2-600"/>
          <p:cNvSpPr/>
          <p:nvPr/>
        </p:nvSpPr>
        <p:spPr>
          <a:xfrm>
            <a:off x="822960" y="2103120"/>
            <a:ext cx="4389120" cy="3566160"/>
          </a:xfrm>
          <a:prstGeom prst="roundRect">
            <a:avLst>
              <a:gd name="adj" fmla="val 6410"/>
            </a:avLst>
          </a:prstGeom>
          <a:solidFill>
            <a:srgbClr val="FFFFFF">
              <a:alpha val="6000"/>
            </a:srgbClr>
          </a:solidFill>
          <a:ln w="19050">
            <a:solidFill>
              <a:srgbClr val="D9AE4B">
                <a:alpha val="50000"/>
              </a:srgbClr>
            </a:solidFill>
            <a:prstDash val="solid"/>
          </a:ln>
        </p:spPr>
      </p:sp>
      <p:sp>
        <p:nvSpPr>
          <p:cNvPr id="10" name="anim-g2-601"/>
          <p:cNvSpPr/>
          <p:nvPr/>
        </p:nvSpPr>
        <p:spPr>
          <a:xfrm>
            <a:off x="1097280" y="2286000"/>
            <a:ext cx="3840480" cy="502920"/>
          </a:xfrm>
          <a:prstGeom prst="rect">
            <a:avLst/>
          </a:prstGeom>
          <a:noFill/>
          <a:ln/>
        </p:spPr>
        <p:txBody>
          <a:bodyPr wrap="square" lIns="0" tIns="0" rIns="0" bIns="0" rtlCol="0" anchor="ctr">
            <a:normAutofit/>
          </a:bodyPr>
          <a:lstStyle/>
          <a:p>
            <a:pPr rtl="1" algn="r" indent="0" marL="0">
              <a:buNone/>
            </a:pPr>
            <a:r>
              <a:rPr lang="ar-SA" altLang="en-US" sz="2100" dirty="0">
                <a:solidFill>
                  <a:srgbClr val="D9AE4B"/>
                </a:solidFill>
                <a:latin typeface="Cairo Black" pitchFamily="34" charset="0"/>
                <a:ea typeface="Cairo Black" pitchFamily="34" charset="-122"/>
                <a:cs typeface="Cairo Black" pitchFamily="34" charset="-120"/>
              </a:rPr>
              <a:t>كيف تصرّف ﷺ؟</a:t>
            </a:r>
            <a:endParaRPr lang="ar-SA" sz="2100" dirty="0"/>
          </a:p>
        </p:txBody>
      </p:sp>
      <p:sp>
        <p:nvSpPr>
          <p:cNvPr id="11" name="anim-g2-602"/>
          <p:cNvSpPr/>
          <p:nvPr/>
        </p:nvSpPr>
        <p:spPr>
          <a:xfrm>
            <a:off x="4526280" y="2999232"/>
            <a:ext cx="384048" cy="384048"/>
          </a:xfrm>
          <a:prstGeom prst="ellipse">
            <a:avLst/>
          </a:prstGeom>
          <a:solidFill>
            <a:srgbClr val="D9AE4B"/>
          </a:solidFill>
          <a:ln/>
        </p:spPr>
      </p:sp>
      <p:sp>
        <p:nvSpPr>
          <p:cNvPr id="12" name="anim-g2-603"/>
          <p:cNvSpPr/>
          <p:nvPr/>
        </p:nvSpPr>
        <p:spPr>
          <a:xfrm>
            <a:off x="4526280" y="2999232"/>
            <a:ext cx="384048" cy="384048"/>
          </a:xfrm>
          <a:prstGeom prst="rect">
            <a:avLst/>
          </a:prstGeom>
          <a:noFill/>
          <a:ln/>
        </p:spPr>
        <p:txBody>
          <a:bodyPr wrap="square" lIns="0" tIns="0" rIns="0" bIns="0" rtlCol="0" anchor="ctr">
            <a:normAutofit/>
          </a:bodyPr>
          <a:lstStyle/>
          <a:p>
            <a:pPr rtl="1" algn="ctr" indent="0" marL="0">
              <a:buNone/>
            </a:pPr>
            <a:r>
              <a:rPr lang="ar-SA" altLang="en-US" sz="1400" dirty="0">
                <a:solidFill>
                  <a:srgbClr val="0A1230"/>
                </a:solidFill>
                <a:latin typeface="Cairo Black" pitchFamily="34" charset="0"/>
                <a:ea typeface="Cairo Black" pitchFamily="34" charset="-122"/>
                <a:cs typeface="Cairo Black" pitchFamily="34" charset="-120"/>
              </a:rPr>
              <a:t>١</a:t>
            </a:r>
            <a:endParaRPr lang="ar-SA" sz="1400" dirty="0"/>
          </a:p>
        </p:txBody>
      </p:sp>
      <p:sp>
        <p:nvSpPr>
          <p:cNvPr id="13" name="anim-g2-604"/>
          <p:cNvSpPr/>
          <p:nvPr/>
        </p:nvSpPr>
        <p:spPr>
          <a:xfrm>
            <a:off x="1051560" y="2926080"/>
            <a:ext cx="3383280" cy="777240"/>
          </a:xfrm>
          <a:prstGeom prst="rect">
            <a:avLst/>
          </a:prstGeom>
          <a:noFill/>
          <a:ln/>
        </p:spPr>
        <p:txBody>
          <a:bodyPr wrap="square" lIns="0" tIns="0" rIns="0" bIns="0" rtlCol="0" anchor="t">
            <a:normAutofit/>
          </a:bodyPr>
          <a:lstStyle/>
          <a:p>
            <a:pPr rtl="1" algn="r" indent="0" marL="0">
              <a:buNone/>
            </a:pPr>
            <a:r>
              <a:rPr lang="ar-SA" altLang="en-US" sz="2000" b="1" dirty="0">
                <a:solidFill>
                  <a:srgbClr val="FFFFFF"/>
                </a:solidFill>
                <a:latin typeface="Cairo" pitchFamily="34" charset="0"/>
                <a:ea typeface="Cairo" pitchFamily="34" charset="-122"/>
                <a:cs typeface="Cairo" pitchFamily="34" charset="-120"/>
              </a:rPr>
              <a:t>انتظر حتى انتهت الصلاة… ولم يقطع «الحصة» ليصحّح</a:t>
            </a:r>
            <a:endParaRPr lang="ar-SA" sz="2000" dirty="0"/>
          </a:p>
        </p:txBody>
      </p:sp>
      <p:sp>
        <p:nvSpPr>
          <p:cNvPr id="14" name="anim-g2-605"/>
          <p:cNvSpPr/>
          <p:nvPr/>
        </p:nvSpPr>
        <p:spPr>
          <a:xfrm>
            <a:off x="4526280" y="3867912"/>
            <a:ext cx="384048" cy="384048"/>
          </a:xfrm>
          <a:prstGeom prst="ellipse">
            <a:avLst/>
          </a:prstGeom>
          <a:solidFill>
            <a:srgbClr val="D9AE4B"/>
          </a:solidFill>
          <a:ln/>
        </p:spPr>
      </p:sp>
      <p:sp>
        <p:nvSpPr>
          <p:cNvPr id="15" name="anim-g2-606"/>
          <p:cNvSpPr/>
          <p:nvPr/>
        </p:nvSpPr>
        <p:spPr>
          <a:xfrm>
            <a:off x="4526280" y="3867912"/>
            <a:ext cx="384048" cy="384048"/>
          </a:xfrm>
          <a:prstGeom prst="rect">
            <a:avLst/>
          </a:prstGeom>
          <a:noFill/>
          <a:ln/>
        </p:spPr>
        <p:txBody>
          <a:bodyPr wrap="square" lIns="0" tIns="0" rIns="0" bIns="0" rtlCol="0" anchor="ctr">
            <a:normAutofit/>
          </a:bodyPr>
          <a:lstStyle/>
          <a:p>
            <a:pPr rtl="1" algn="ctr" indent="0" marL="0">
              <a:buNone/>
            </a:pPr>
            <a:r>
              <a:rPr lang="ar-SA" altLang="en-US" sz="1400" dirty="0">
                <a:solidFill>
                  <a:srgbClr val="0A1230"/>
                </a:solidFill>
                <a:latin typeface="Cairo Black" pitchFamily="34" charset="0"/>
                <a:ea typeface="Cairo Black" pitchFamily="34" charset="-122"/>
                <a:cs typeface="Cairo Black" pitchFamily="34" charset="-120"/>
              </a:rPr>
              <a:t>٢</a:t>
            </a:r>
            <a:endParaRPr lang="ar-SA" sz="1400" dirty="0"/>
          </a:p>
        </p:txBody>
      </p:sp>
      <p:sp>
        <p:nvSpPr>
          <p:cNvPr id="16" name="anim-g2-607"/>
          <p:cNvSpPr/>
          <p:nvPr/>
        </p:nvSpPr>
        <p:spPr>
          <a:xfrm>
            <a:off x="1051560" y="3794760"/>
            <a:ext cx="3383280" cy="777240"/>
          </a:xfrm>
          <a:prstGeom prst="rect">
            <a:avLst/>
          </a:prstGeom>
          <a:noFill/>
          <a:ln/>
        </p:spPr>
        <p:txBody>
          <a:bodyPr wrap="square" lIns="0" tIns="0" rIns="0" bIns="0" rtlCol="0" anchor="t">
            <a:normAutofit/>
          </a:bodyPr>
          <a:lstStyle/>
          <a:p>
            <a:pPr rtl="1" algn="r" indent="0" marL="0">
              <a:buNone/>
            </a:pPr>
            <a:r>
              <a:rPr lang="ar-SA" altLang="en-US" sz="2000" b="1" dirty="0">
                <a:solidFill>
                  <a:srgbClr val="FFFFFF"/>
                </a:solidFill>
                <a:latin typeface="Cairo" pitchFamily="34" charset="0"/>
                <a:ea typeface="Cairo" pitchFamily="34" charset="-122"/>
                <a:cs typeface="Cairo" pitchFamily="34" charset="-120"/>
              </a:rPr>
              <a:t>لم ينتهره ولم يعبس في وجهه («ما كهرني»)</a:t>
            </a:r>
            <a:endParaRPr lang="ar-SA" sz="2000" dirty="0"/>
          </a:p>
        </p:txBody>
      </p:sp>
      <p:sp>
        <p:nvSpPr>
          <p:cNvPr id="17" name="anim-g2-608"/>
          <p:cNvSpPr/>
          <p:nvPr/>
        </p:nvSpPr>
        <p:spPr>
          <a:xfrm>
            <a:off x="4526280" y="4736592"/>
            <a:ext cx="384048" cy="384048"/>
          </a:xfrm>
          <a:prstGeom prst="ellipse">
            <a:avLst/>
          </a:prstGeom>
          <a:solidFill>
            <a:srgbClr val="D9AE4B"/>
          </a:solidFill>
          <a:ln/>
        </p:spPr>
      </p:sp>
      <p:sp>
        <p:nvSpPr>
          <p:cNvPr id="18" name="anim-g2-609"/>
          <p:cNvSpPr/>
          <p:nvPr/>
        </p:nvSpPr>
        <p:spPr>
          <a:xfrm>
            <a:off x="4526280" y="4736592"/>
            <a:ext cx="384048" cy="384048"/>
          </a:xfrm>
          <a:prstGeom prst="rect">
            <a:avLst/>
          </a:prstGeom>
          <a:noFill/>
          <a:ln/>
        </p:spPr>
        <p:txBody>
          <a:bodyPr wrap="square" lIns="0" tIns="0" rIns="0" bIns="0" rtlCol="0" anchor="ctr">
            <a:normAutofit/>
          </a:bodyPr>
          <a:lstStyle/>
          <a:p>
            <a:pPr rtl="1" algn="ctr" indent="0" marL="0">
              <a:buNone/>
            </a:pPr>
            <a:r>
              <a:rPr lang="ar-SA" altLang="en-US" sz="1400" dirty="0">
                <a:solidFill>
                  <a:srgbClr val="0A1230"/>
                </a:solidFill>
                <a:latin typeface="Cairo Black" pitchFamily="34" charset="0"/>
                <a:ea typeface="Cairo Black" pitchFamily="34" charset="-122"/>
                <a:cs typeface="Cairo Black" pitchFamily="34" charset="-120"/>
              </a:rPr>
              <a:t>٣</a:t>
            </a:r>
            <a:endParaRPr lang="ar-SA" sz="1400" dirty="0"/>
          </a:p>
        </p:txBody>
      </p:sp>
      <p:sp>
        <p:nvSpPr>
          <p:cNvPr id="19" name="anim-g2-610"/>
          <p:cNvSpPr/>
          <p:nvPr/>
        </p:nvSpPr>
        <p:spPr>
          <a:xfrm>
            <a:off x="1051560" y="4663440"/>
            <a:ext cx="3383280" cy="777240"/>
          </a:xfrm>
          <a:prstGeom prst="rect">
            <a:avLst/>
          </a:prstGeom>
          <a:noFill/>
          <a:ln/>
        </p:spPr>
        <p:txBody>
          <a:bodyPr wrap="square" lIns="0" tIns="0" rIns="0" bIns="0" rtlCol="0" anchor="t">
            <a:normAutofit/>
          </a:bodyPr>
          <a:lstStyle/>
          <a:p>
            <a:pPr rtl="1" algn="r" indent="0" marL="0">
              <a:buNone/>
            </a:pPr>
            <a:r>
              <a:rPr lang="ar-SA" altLang="en-US" sz="2000" b="1" dirty="0">
                <a:solidFill>
                  <a:srgbClr val="FFFFFF"/>
                </a:solidFill>
                <a:latin typeface="Cairo" pitchFamily="34" charset="0"/>
                <a:ea typeface="Cairo" pitchFamily="34" charset="-122"/>
                <a:cs typeface="Cairo" pitchFamily="34" charset="-120"/>
              </a:rPr>
              <a:t>شرح القاعدة بجملة واحدة واضحة</a:t>
            </a:r>
            <a:endParaRPr lang="ar-SA" sz="2000" dirty="0"/>
          </a:p>
        </p:txBody>
      </p:sp>
      <p:sp>
        <p:nvSpPr>
          <p:cNvPr id="20" name="anim-g2-611"/>
          <p:cNvSpPr/>
          <p:nvPr/>
        </p:nvSpPr>
        <p:spPr>
          <a:xfrm>
            <a:off x="4526280" y="5605272"/>
            <a:ext cx="384048" cy="384048"/>
          </a:xfrm>
          <a:prstGeom prst="ellipse">
            <a:avLst/>
          </a:prstGeom>
          <a:solidFill>
            <a:srgbClr val="D9AE4B"/>
          </a:solidFill>
          <a:ln/>
        </p:spPr>
      </p:sp>
      <p:sp>
        <p:nvSpPr>
          <p:cNvPr id="21" name="anim-g2-612"/>
          <p:cNvSpPr/>
          <p:nvPr/>
        </p:nvSpPr>
        <p:spPr>
          <a:xfrm>
            <a:off x="4526280" y="5605272"/>
            <a:ext cx="384048" cy="384048"/>
          </a:xfrm>
          <a:prstGeom prst="rect">
            <a:avLst/>
          </a:prstGeom>
          <a:noFill/>
          <a:ln/>
        </p:spPr>
        <p:txBody>
          <a:bodyPr wrap="square" lIns="0" tIns="0" rIns="0" bIns="0" rtlCol="0" anchor="ctr">
            <a:normAutofit/>
          </a:bodyPr>
          <a:lstStyle/>
          <a:p>
            <a:pPr rtl="1" algn="ctr" indent="0" marL="0">
              <a:buNone/>
            </a:pPr>
            <a:r>
              <a:rPr lang="ar-SA" altLang="en-US" sz="1400" dirty="0">
                <a:solidFill>
                  <a:srgbClr val="0A1230"/>
                </a:solidFill>
                <a:latin typeface="Cairo Black" pitchFamily="34" charset="0"/>
                <a:ea typeface="Cairo Black" pitchFamily="34" charset="-122"/>
                <a:cs typeface="Cairo Black" pitchFamily="34" charset="-120"/>
              </a:rPr>
              <a:t>٤</a:t>
            </a:r>
            <a:endParaRPr lang="ar-SA" sz="1400" dirty="0"/>
          </a:p>
        </p:txBody>
      </p:sp>
      <p:sp>
        <p:nvSpPr>
          <p:cNvPr id="22" name="anim-g2-613"/>
          <p:cNvSpPr/>
          <p:nvPr/>
        </p:nvSpPr>
        <p:spPr>
          <a:xfrm>
            <a:off x="1051560" y="5532120"/>
            <a:ext cx="3383280" cy="777240"/>
          </a:xfrm>
          <a:prstGeom prst="rect">
            <a:avLst/>
          </a:prstGeom>
          <a:noFill/>
          <a:ln/>
        </p:spPr>
        <p:txBody>
          <a:bodyPr wrap="square" lIns="0" tIns="0" rIns="0" bIns="0" rtlCol="0" anchor="t">
            <a:normAutofit/>
          </a:bodyPr>
          <a:lstStyle/>
          <a:p>
            <a:pPr rtl="1" algn="r" indent="0" marL="0">
              <a:buNone/>
            </a:pPr>
            <a:r>
              <a:rPr lang="ar-SA" altLang="en-US" sz="2000" b="1" dirty="0">
                <a:solidFill>
                  <a:srgbClr val="FFFFFF"/>
                </a:solidFill>
                <a:latin typeface="Cairo" pitchFamily="34" charset="0"/>
                <a:ea typeface="Cairo" pitchFamily="34" charset="-122"/>
                <a:cs typeface="Cairo" pitchFamily="34" charset="-120"/>
              </a:rPr>
              <a:t>فصار يروي الموقف مدحًا طوال عمره</a:t>
            </a:r>
            <a:endParaRPr lang="ar-SA" sz="2000" dirty="0"/>
          </a:p>
        </p:txBody>
      </p:sp>
      <p:sp>
        <p:nvSpPr>
          <p:cNvPr id="23" name="Text 2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24" name="Text 2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لغة المشرف  ·  ٩٨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name="Slide 9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ما هكذا تُورَد الإبل… وهكذا تُورَد</a:t>
            </a:r>
            <a:endParaRPr lang="ar-SA" sz="32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614"/>
          <p:cNvSpPr/>
          <p:nvPr/>
        </p:nvSpPr>
        <p:spPr>
          <a:xfrm>
            <a:off x="6415888" y="2194560"/>
            <a:ext cx="4952848" cy="804672"/>
          </a:xfrm>
          <a:prstGeom prst="roundRect">
            <a:avLst>
              <a:gd name="adj" fmla="val 15909"/>
            </a:avLst>
          </a:prstGeom>
          <a:solidFill>
            <a:srgbClr val="FBECEC"/>
          </a:solidFill>
          <a:ln/>
        </p:spPr>
      </p:sp>
      <p:sp>
        <p:nvSpPr>
          <p:cNvPr id="6" name="anim-g1-615"/>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«هذا قرار المدير، نفّذ وخلاص»</a:t>
            </a:r>
            <a:endParaRPr lang="ar-SA" sz="2200" dirty="0"/>
          </a:p>
        </p:txBody>
      </p:sp>
      <p:sp>
        <p:nvSpPr>
          <p:cNvPr id="7" name="anim-g1-616"/>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617"/>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618"/>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619"/>
          <p:cNvSpPr/>
          <p:nvPr/>
        </p:nvSpPr>
        <p:spPr>
          <a:xfrm>
            <a:off x="822960" y="2194560"/>
            <a:ext cx="4952848" cy="804672"/>
          </a:xfrm>
          <a:prstGeom prst="roundRect">
            <a:avLst>
              <a:gd name="adj" fmla="val 15909"/>
            </a:avLst>
          </a:prstGeom>
          <a:solidFill>
            <a:srgbClr val="E6F4EC"/>
          </a:solidFill>
          <a:ln/>
        </p:spPr>
      </p:sp>
      <p:sp>
        <p:nvSpPr>
          <p:cNvPr id="11" name="anim-g2-620"/>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«القرار هدفه كذا… ساعدني: ما أصعب شيء سيواجهك في تطبيقه؟»</a:t>
            </a:r>
            <a:endParaRPr lang="ar-SA" sz="2200" dirty="0"/>
          </a:p>
        </p:txBody>
      </p:sp>
      <p:sp>
        <p:nvSpPr>
          <p:cNvPr id="12" name="anim-g3-621"/>
          <p:cNvSpPr/>
          <p:nvPr/>
        </p:nvSpPr>
        <p:spPr>
          <a:xfrm>
            <a:off x="6415888" y="3154680"/>
            <a:ext cx="4952848" cy="804672"/>
          </a:xfrm>
          <a:prstGeom prst="roundRect">
            <a:avLst>
              <a:gd name="adj" fmla="val 15909"/>
            </a:avLst>
          </a:prstGeom>
          <a:solidFill>
            <a:srgbClr val="FBECEC"/>
          </a:solidFill>
          <a:ln/>
        </p:spPr>
      </p:sp>
      <p:sp>
        <p:nvSpPr>
          <p:cNvPr id="13" name="anim-g3-622"/>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«لازم تسوي كذا وإلا بكتبها»</a:t>
            </a:r>
            <a:endParaRPr lang="ar-SA" sz="2200" dirty="0"/>
          </a:p>
        </p:txBody>
      </p:sp>
      <p:sp>
        <p:nvSpPr>
          <p:cNvPr id="14" name="anim-g3-623"/>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624"/>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625"/>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626"/>
          <p:cNvSpPr/>
          <p:nvPr/>
        </p:nvSpPr>
        <p:spPr>
          <a:xfrm>
            <a:off x="822960" y="3154680"/>
            <a:ext cx="4952848" cy="804672"/>
          </a:xfrm>
          <a:prstGeom prst="roundRect">
            <a:avLst>
              <a:gd name="adj" fmla="val 15909"/>
            </a:avLst>
          </a:prstGeom>
          <a:solidFill>
            <a:srgbClr val="E6F4EC"/>
          </a:solidFill>
          <a:ln/>
        </p:spPr>
      </p:sp>
      <p:sp>
        <p:nvSpPr>
          <p:cNvPr id="18" name="anim-g4-627"/>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«أتوقع منك كذا في زيارتي القادمة… وأنا معك في التحضير لها»</a:t>
            </a:r>
            <a:endParaRPr lang="ar-SA" sz="2200" dirty="0"/>
          </a:p>
        </p:txBody>
      </p:sp>
      <p:sp>
        <p:nvSpPr>
          <p:cNvPr id="19" name="anim-g5-628"/>
          <p:cNvSpPr/>
          <p:nvPr/>
        </p:nvSpPr>
        <p:spPr>
          <a:xfrm>
            <a:off x="6415888" y="4114800"/>
            <a:ext cx="4952848" cy="804672"/>
          </a:xfrm>
          <a:prstGeom prst="roundRect">
            <a:avLst>
              <a:gd name="adj" fmla="val 15909"/>
            </a:avLst>
          </a:prstGeom>
          <a:solidFill>
            <a:srgbClr val="FBECEC"/>
          </a:solidFill>
          <a:ln/>
        </p:spPr>
      </p:sp>
      <p:sp>
        <p:nvSpPr>
          <p:cNvPr id="20" name="anim-g5-629"/>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«الوزارة تبيها كذا»</a:t>
            </a:r>
            <a:endParaRPr lang="ar-SA" sz="2200" dirty="0"/>
          </a:p>
        </p:txBody>
      </p:sp>
      <p:sp>
        <p:nvSpPr>
          <p:cNvPr id="21" name="anim-g5-630"/>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631"/>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632"/>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633"/>
          <p:cNvSpPr/>
          <p:nvPr/>
        </p:nvSpPr>
        <p:spPr>
          <a:xfrm>
            <a:off x="822960" y="4114800"/>
            <a:ext cx="4952848" cy="804672"/>
          </a:xfrm>
          <a:prstGeom prst="roundRect">
            <a:avLst>
              <a:gd name="adj" fmla="val 15909"/>
            </a:avLst>
          </a:prstGeom>
          <a:solidFill>
            <a:srgbClr val="E6F4EC"/>
          </a:solidFill>
          <a:ln/>
        </p:spPr>
      </p:sp>
      <p:sp>
        <p:nvSpPr>
          <p:cNvPr id="25" name="anim-g6-634"/>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«الطالب يحتاجها لأن… وهذه الطريقة جرّبها زميلك ونجحت»</a:t>
            </a:r>
            <a:endParaRPr lang="ar-SA" sz="2200" dirty="0"/>
          </a:p>
        </p:txBody>
      </p:sp>
      <p:sp>
        <p:nvSpPr>
          <p:cNvPr id="26" name="anim-g7-635"/>
          <p:cNvSpPr/>
          <p:nvPr/>
        </p:nvSpPr>
        <p:spPr>
          <a:xfrm>
            <a:off x="6415888" y="5074920"/>
            <a:ext cx="4952848" cy="804672"/>
          </a:xfrm>
          <a:prstGeom prst="roundRect">
            <a:avLst>
              <a:gd name="adj" fmla="val 15909"/>
            </a:avLst>
          </a:prstGeom>
          <a:solidFill>
            <a:srgbClr val="FBECEC"/>
          </a:solidFill>
          <a:ln/>
        </p:spPr>
      </p:sp>
      <p:sp>
        <p:nvSpPr>
          <p:cNvPr id="27" name="anim-g7-636"/>
          <p:cNvSpPr/>
          <p:nvPr/>
        </p:nvSpPr>
        <p:spPr>
          <a:xfrm>
            <a:off x="6644488"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«أنت دايم مقصّر في…»</a:t>
            </a:r>
            <a:endParaRPr lang="ar-SA" sz="2200" dirty="0"/>
          </a:p>
        </p:txBody>
      </p:sp>
      <p:sp>
        <p:nvSpPr>
          <p:cNvPr id="28" name="anim-g7-637"/>
          <p:cNvSpPr/>
          <p:nvPr/>
        </p:nvSpPr>
        <p:spPr>
          <a:xfrm>
            <a:off x="822960" y="5074920"/>
            <a:ext cx="4952848" cy="804672"/>
          </a:xfrm>
          <a:prstGeom prst="roundRect">
            <a:avLst>
              <a:gd name="adj" fmla="val 15909"/>
            </a:avLst>
          </a:prstGeom>
          <a:solidFill>
            <a:srgbClr val="FFFFFF"/>
          </a:solidFill>
          <a:ln w="19050">
            <a:solidFill>
              <a:srgbClr val="BFD9CB"/>
            </a:solidFill>
            <a:prstDash val="dash"/>
          </a:ln>
        </p:spPr>
      </p:sp>
      <p:sp>
        <p:nvSpPr>
          <p:cNvPr id="29" name="anim-g7-638"/>
          <p:cNvSpPr/>
          <p:nvPr/>
        </p:nvSpPr>
        <p:spPr>
          <a:xfrm>
            <a:off x="822960" y="507492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30" name="anim-g8-639"/>
          <p:cNvSpPr/>
          <p:nvPr/>
        </p:nvSpPr>
        <p:spPr>
          <a:xfrm>
            <a:off x="5775808" y="507492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31" name="anim-g8-640"/>
          <p:cNvSpPr/>
          <p:nvPr/>
        </p:nvSpPr>
        <p:spPr>
          <a:xfrm>
            <a:off x="822960" y="5074920"/>
            <a:ext cx="4952848" cy="804672"/>
          </a:xfrm>
          <a:prstGeom prst="roundRect">
            <a:avLst>
              <a:gd name="adj" fmla="val 15909"/>
            </a:avLst>
          </a:prstGeom>
          <a:solidFill>
            <a:srgbClr val="E6F4EC"/>
          </a:solidFill>
          <a:ln/>
        </p:spPr>
      </p:sp>
      <p:sp>
        <p:nvSpPr>
          <p:cNvPr id="32" name="anim-g8-641"/>
          <p:cNvSpPr/>
          <p:nvPr/>
        </p:nvSpPr>
        <p:spPr>
          <a:xfrm>
            <a:off x="1051560"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«لاحظتُ في حصة اليوم أن… ما رأيك؟»</a:t>
            </a:r>
            <a:endParaRPr lang="ar-SA" sz="2200" dirty="0"/>
          </a:p>
        </p:txBody>
      </p:sp>
      <p:sp>
        <p:nvSpPr>
          <p:cNvPr id="33" name="Text 3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34" name="Text 3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لغة المشرف  ·  ٩٩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400"/>
                                        <p:tgtEl>
                                          <p:spTgt spid="2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400"/>
                                        <p:tgtEl>
                                          <p:spTgt spid="2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400"/>
                                        <p:tgtEl>
                                          <p:spTgt spid="2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400"/>
                                        <p:tgtEl>
                                          <p:spTgt spid="29"/>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400"/>
                                        <p:tgtEl>
                                          <p:spTgt spid="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400"/>
                                        <p:tgtEl>
                                          <p:spTgt spid="3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name="Slide 10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096616" y="1097280"/>
            <a:ext cx="5998464"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3096616" y="1097280"/>
            <a:ext cx="599846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وإن كان لا بد من التنبيه… فبلا تسمية</a:t>
            </a:r>
            <a:endParaRPr lang="ar-SA" sz="1800" dirty="0"/>
          </a:p>
        </p:txBody>
      </p:sp>
      <p:sp>
        <p:nvSpPr>
          <p:cNvPr id="4" name="Shape 2"/>
          <p:cNvSpPr/>
          <p:nvPr/>
        </p:nvSpPr>
        <p:spPr>
          <a:xfrm>
            <a:off x="5181448" y="2103120"/>
            <a:ext cx="1828800" cy="32004"/>
          </a:xfrm>
          <a:prstGeom prst="rect">
            <a:avLst/>
          </a:prstGeom>
          <a:solidFill>
            <a:srgbClr val="D9AE4B"/>
          </a:solidFill>
          <a:ln/>
        </p:spPr>
      </p:sp>
      <p:sp>
        <p:nvSpPr>
          <p:cNvPr id="5" name="Text 3"/>
          <p:cNvSpPr/>
          <p:nvPr/>
        </p:nvSpPr>
        <p:spPr>
          <a:xfrm>
            <a:off x="1188720" y="2286000"/>
            <a:ext cx="9814255" cy="2377440"/>
          </a:xfrm>
          <a:prstGeom prst="rect">
            <a:avLst/>
          </a:prstGeom>
          <a:noFill/>
          <a:ln/>
        </p:spPr>
        <p:txBody>
          <a:bodyPr wrap="square" lIns="0" tIns="0" rIns="0" bIns="0" rtlCol="0" anchor="ctr">
            <a:normAutofit/>
          </a:bodyPr>
          <a:lstStyle/>
          <a:p>
            <a:pPr rtl="1" algn="ctr" indent="0" marL="0">
              <a:lnSpc>
                <a:spcPct val="125000"/>
              </a:lnSpc>
              <a:buNone/>
            </a:pPr>
            <a:r>
              <a:rPr lang="ar-SA" altLang="en-US" sz="4000" b="1" dirty="0">
                <a:solidFill>
                  <a:srgbClr val="FFFFFF"/>
                </a:solidFill>
                <a:latin typeface="Amiri" pitchFamily="34" charset="0"/>
                <a:ea typeface="Amiri" pitchFamily="34" charset="-122"/>
                <a:cs typeface="Amiri" pitchFamily="34" charset="-120"/>
              </a:rPr>
              <a:t>ما بالُ أقوامٍ يفعلون كذا وكذا</a:t>
            </a:r>
            <a:endParaRPr lang="ar-SA" sz="4000" dirty="0"/>
          </a:p>
        </p:txBody>
      </p:sp>
      <p:sp>
        <p:nvSpPr>
          <p:cNvPr id="6" name="Shape 4"/>
          <p:cNvSpPr/>
          <p:nvPr/>
        </p:nvSpPr>
        <p:spPr>
          <a:xfrm>
            <a:off x="5181448" y="4800600"/>
            <a:ext cx="1828800" cy="32004"/>
          </a:xfrm>
          <a:prstGeom prst="rect">
            <a:avLst/>
          </a:prstGeom>
          <a:solidFill>
            <a:srgbClr val="D9AE4B"/>
          </a:solidFill>
          <a:ln/>
        </p:spPr>
      </p:sp>
      <p:sp>
        <p:nvSpPr>
          <p:cNvPr id="7" name="anim-g1-642"/>
          <p:cNvSpPr/>
          <p:nvPr/>
        </p:nvSpPr>
        <p:spPr>
          <a:xfrm>
            <a:off x="0" y="5029200"/>
            <a:ext cx="12191695"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9AE4B"/>
                </a:solidFill>
                <a:latin typeface="Cairo" pitchFamily="34" charset="0"/>
                <a:ea typeface="Cairo" pitchFamily="34" charset="-122"/>
                <a:cs typeface="Cairo" pitchFamily="34" charset="-120"/>
              </a:rPr>
              <a:t>من هدي النبي ﷺ في التوجيه العام (رواه البخاري ومسلم في مواضع)</a:t>
            </a:r>
            <a:endParaRPr lang="ar-SA" sz="1600" dirty="0"/>
          </a:p>
        </p:txBody>
      </p:sp>
      <p:sp>
        <p:nvSpPr>
          <p:cNvPr id="8" name="Text 6"/>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9" name="Text 7"/>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لغة المشرف  ·  ١٠٠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name="Slide 10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59656" y="1097280"/>
            <a:ext cx="3072384"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559656" y="109728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السرّية في النصح</a:t>
            </a:r>
            <a:endParaRPr lang="ar-SA" sz="1800" dirty="0"/>
          </a:p>
        </p:txBody>
      </p:sp>
      <p:sp>
        <p:nvSpPr>
          <p:cNvPr id="4" name="Shape 2"/>
          <p:cNvSpPr/>
          <p:nvPr/>
        </p:nvSpPr>
        <p:spPr>
          <a:xfrm>
            <a:off x="5181448" y="2103120"/>
            <a:ext cx="1828800" cy="32004"/>
          </a:xfrm>
          <a:prstGeom prst="rect">
            <a:avLst/>
          </a:prstGeom>
          <a:solidFill>
            <a:srgbClr val="D9AE4B"/>
          </a:solidFill>
          <a:ln/>
        </p:spPr>
      </p:sp>
      <p:sp>
        <p:nvSpPr>
          <p:cNvPr id="5" name="Text 3"/>
          <p:cNvSpPr/>
          <p:nvPr/>
        </p:nvSpPr>
        <p:spPr>
          <a:xfrm>
            <a:off x="1188720" y="2286000"/>
            <a:ext cx="9814255" cy="2377440"/>
          </a:xfrm>
          <a:prstGeom prst="rect">
            <a:avLst/>
          </a:prstGeom>
          <a:noFill/>
          <a:ln/>
        </p:spPr>
        <p:txBody>
          <a:bodyPr wrap="square" lIns="0" tIns="0" rIns="0" bIns="0" rtlCol="0" anchor="ctr">
            <a:normAutofit/>
          </a:bodyPr>
          <a:lstStyle/>
          <a:p>
            <a:pPr rtl="1" algn="ctr" indent="0" marL="0">
              <a:lnSpc>
                <a:spcPct val="125000"/>
              </a:lnSpc>
              <a:buNone/>
            </a:pPr>
            <a:r>
              <a:rPr lang="ar-SA" altLang="en-US" sz="4000" b="1" dirty="0">
                <a:solidFill>
                  <a:srgbClr val="FFFFFF"/>
                </a:solidFill>
                <a:latin typeface="Amiri" pitchFamily="34" charset="0"/>
                <a:ea typeface="Amiri" pitchFamily="34" charset="-122"/>
                <a:cs typeface="Amiri" pitchFamily="34" charset="-120"/>
              </a:rPr>
              <a:t>من وعظ أخاه سرًّا فقد نصحه وزانه، ومن وعظه علانية فقد فضحه وشانه</a:t>
            </a:r>
            <a:endParaRPr lang="ar-SA" sz="4000" dirty="0"/>
          </a:p>
        </p:txBody>
      </p:sp>
      <p:sp>
        <p:nvSpPr>
          <p:cNvPr id="6" name="Shape 4"/>
          <p:cNvSpPr/>
          <p:nvPr/>
        </p:nvSpPr>
        <p:spPr>
          <a:xfrm>
            <a:off x="5181448" y="4800600"/>
            <a:ext cx="1828800" cy="32004"/>
          </a:xfrm>
          <a:prstGeom prst="rect">
            <a:avLst/>
          </a:prstGeom>
          <a:solidFill>
            <a:srgbClr val="D9AE4B"/>
          </a:solidFill>
          <a:ln/>
        </p:spPr>
      </p:sp>
      <p:sp>
        <p:nvSpPr>
          <p:cNvPr id="7" name="anim-g1-643"/>
          <p:cNvSpPr/>
          <p:nvPr/>
        </p:nvSpPr>
        <p:spPr>
          <a:xfrm>
            <a:off x="0" y="5029200"/>
            <a:ext cx="12191695"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9AE4B"/>
                </a:solidFill>
                <a:latin typeface="Cairo" pitchFamily="34" charset="0"/>
                <a:ea typeface="Cairo" pitchFamily="34" charset="-122"/>
                <a:cs typeface="Cairo" pitchFamily="34" charset="-120"/>
              </a:rPr>
              <a:t>الإمام الشافعي</a:t>
            </a:r>
            <a:endParaRPr lang="ar-SA" sz="1600" dirty="0"/>
          </a:p>
        </p:txBody>
      </p:sp>
      <p:sp>
        <p:nvSpPr>
          <p:cNvPr id="8" name="Text 6"/>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9" name="Text 7"/>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لغة المشرف  ·  ١٠١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pic>
        <p:nvPicPr>
          <p:cNvPr id="2" name="Image 0" descr="/Users/mac/dev/younes-training/ishraf/.pptx-cache/s1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2879" y="457200"/>
            <a:ext cx="5705856" cy="457200"/>
          </a:xfrm>
          <a:prstGeom prst="roundRect">
            <a:avLst>
              <a:gd name="adj" fmla="val 50000"/>
            </a:avLst>
          </a:prstGeom>
          <a:solidFill>
            <a:srgbClr val="F6EBCF"/>
          </a:solidFill>
          <a:ln/>
        </p:spPr>
      </p:sp>
      <p:sp>
        <p:nvSpPr>
          <p:cNvPr id="3" name="Text 1"/>
          <p:cNvSpPr/>
          <p:nvPr/>
        </p:nvSpPr>
        <p:spPr>
          <a:xfrm>
            <a:off x="5662879" y="457200"/>
            <a:ext cx="57058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نموذج FEEDBACK للتغذية الراجعة (١)</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ثمانية حروف… ثمانية قواعد</a:t>
            </a:r>
            <a:endParaRPr lang="ar-SA" sz="3800" dirty="0"/>
          </a:p>
        </p:txBody>
      </p:sp>
      <p:sp>
        <p:nvSpPr>
          <p:cNvPr id="5" name="Shape 3"/>
          <p:cNvSpPr/>
          <p:nvPr/>
        </p:nvSpPr>
        <p:spPr>
          <a:xfrm>
            <a:off x="9768883" y="1874520"/>
            <a:ext cx="1599852" cy="548640"/>
          </a:xfrm>
          <a:prstGeom prst="roundRect">
            <a:avLst>
              <a:gd name="adj" fmla="val 20000"/>
            </a:avLst>
          </a:prstGeom>
          <a:solidFill>
            <a:srgbClr val="101B45"/>
          </a:solidFill>
          <a:ln/>
        </p:spPr>
      </p:sp>
      <p:sp>
        <p:nvSpPr>
          <p:cNvPr id="6" name="Text 4"/>
          <p:cNvSpPr/>
          <p:nvPr/>
        </p:nvSpPr>
        <p:spPr>
          <a:xfrm>
            <a:off x="9768883" y="1874520"/>
            <a:ext cx="159985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الحرف</a:t>
            </a:r>
            <a:endParaRPr lang="ar-SA" sz="1900" dirty="0"/>
          </a:p>
        </p:txBody>
      </p:sp>
      <p:sp>
        <p:nvSpPr>
          <p:cNvPr id="7" name="Shape 5"/>
          <p:cNvSpPr/>
          <p:nvPr/>
        </p:nvSpPr>
        <p:spPr>
          <a:xfrm>
            <a:off x="6750333" y="1874520"/>
            <a:ext cx="2908822" cy="548640"/>
          </a:xfrm>
          <a:prstGeom prst="roundRect">
            <a:avLst>
              <a:gd name="adj" fmla="val 20000"/>
            </a:avLst>
          </a:prstGeom>
          <a:solidFill>
            <a:srgbClr val="101B45"/>
          </a:solidFill>
          <a:ln/>
        </p:spPr>
      </p:sp>
      <p:sp>
        <p:nvSpPr>
          <p:cNvPr id="8" name="Text 6"/>
          <p:cNvSpPr/>
          <p:nvPr/>
        </p:nvSpPr>
        <p:spPr>
          <a:xfrm>
            <a:off x="6750333" y="1874520"/>
            <a:ext cx="290882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القاعدة</a:t>
            </a:r>
            <a:endParaRPr lang="ar-SA" sz="1900" dirty="0"/>
          </a:p>
        </p:txBody>
      </p:sp>
      <p:sp>
        <p:nvSpPr>
          <p:cNvPr id="9" name="Shape 7"/>
          <p:cNvSpPr/>
          <p:nvPr/>
        </p:nvSpPr>
        <p:spPr>
          <a:xfrm>
            <a:off x="822960" y="1874520"/>
            <a:ext cx="5817645" cy="548640"/>
          </a:xfrm>
          <a:prstGeom prst="roundRect">
            <a:avLst>
              <a:gd name="adj" fmla="val 20000"/>
            </a:avLst>
          </a:prstGeom>
          <a:solidFill>
            <a:srgbClr val="101B45"/>
          </a:solidFill>
          <a:ln/>
        </p:spPr>
      </p:sp>
      <p:sp>
        <p:nvSpPr>
          <p:cNvPr id="10" name="Text 8"/>
          <p:cNvSpPr/>
          <p:nvPr/>
        </p:nvSpPr>
        <p:spPr>
          <a:xfrm>
            <a:off x="822960" y="1874520"/>
            <a:ext cx="5817645"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بالمثال</a:t>
            </a:r>
            <a:endParaRPr lang="ar-SA" sz="1900" dirty="0"/>
          </a:p>
        </p:txBody>
      </p:sp>
      <p:sp>
        <p:nvSpPr>
          <p:cNvPr id="11" name="anim-g1-644"/>
          <p:cNvSpPr/>
          <p:nvPr/>
        </p:nvSpPr>
        <p:spPr>
          <a:xfrm>
            <a:off x="9768883" y="2514600"/>
            <a:ext cx="1599852" cy="797814"/>
          </a:xfrm>
          <a:prstGeom prst="roundRect">
            <a:avLst>
              <a:gd name="adj" fmla="val 13754"/>
            </a:avLst>
          </a:prstGeom>
          <a:solidFill>
            <a:srgbClr val="FBF3DF"/>
          </a:solidFill>
          <a:ln w="12700">
            <a:solidFill>
              <a:srgbClr val="EFDDAF"/>
            </a:solidFill>
            <a:prstDash val="solid"/>
          </a:ln>
        </p:spPr>
      </p:sp>
      <p:sp>
        <p:nvSpPr>
          <p:cNvPr id="12" name="anim-g1-645"/>
          <p:cNvSpPr/>
          <p:nvPr/>
        </p:nvSpPr>
        <p:spPr>
          <a:xfrm>
            <a:off x="9906043" y="2514600"/>
            <a:ext cx="132553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F</a:t>
            </a:r>
            <a:endParaRPr lang="ar-SA" sz="2100" dirty="0"/>
          </a:p>
        </p:txBody>
      </p:sp>
      <p:sp>
        <p:nvSpPr>
          <p:cNvPr id="13" name="anim-g1-646"/>
          <p:cNvSpPr/>
          <p:nvPr/>
        </p:nvSpPr>
        <p:spPr>
          <a:xfrm>
            <a:off x="6750333" y="2514600"/>
            <a:ext cx="2908822" cy="797814"/>
          </a:xfrm>
          <a:prstGeom prst="roundRect">
            <a:avLst>
              <a:gd name="adj" fmla="val 13754"/>
            </a:avLst>
          </a:prstGeom>
          <a:solidFill>
            <a:srgbClr val="FFFFFF"/>
          </a:solidFill>
          <a:ln w="12700">
            <a:solidFill>
              <a:srgbClr val="E4DCC8"/>
            </a:solidFill>
            <a:prstDash val="solid"/>
          </a:ln>
        </p:spPr>
      </p:sp>
      <p:sp>
        <p:nvSpPr>
          <p:cNvPr id="14" name="anim-g1-647"/>
          <p:cNvSpPr/>
          <p:nvPr/>
        </p:nvSpPr>
        <p:spPr>
          <a:xfrm>
            <a:off x="6887493" y="2514600"/>
            <a:ext cx="26345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الإطار: شراكة تحسين</a:t>
            </a:r>
            <a:endParaRPr lang="ar-SA" sz="2100" dirty="0"/>
          </a:p>
        </p:txBody>
      </p:sp>
      <p:sp>
        <p:nvSpPr>
          <p:cNvPr id="15" name="anim-g1-648"/>
          <p:cNvSpPr/>
          <p:nvPr/>
        </p:nvSpPr>
        <p:spPr>
          <a:xfrm>
            <a:off x="822960" y="2514600"/>
            <a:ext cx="5817645" cy="797814"/>
          </a:xfrm>
          <a:prstGeom prst="roundRect">
            <a:avLst>
              <a:gd name="adj" fmla="val 13754"/>
            </a:avLst>
          </a:prstGeom>
          <a:solidFill>
            <a:srgbClr val="E6F4EC"/>
          </a:solidFill>
          <a:ln w="12700">
            <a:solidFill>
              <a:srgbClr val="CDE9D9"/>
            </a:solidFill>
            <a:prstDash val="solid"/>
          </a:ln>
        </p:spPr>
      </p:sp>
      <p:sp>
        <p:nvSpPr>
          <p:cNvPr id="16" name="anim-g1-649"/>
          <p:cNvSpPr/>
          <p:nvPr/>
        </p:nvSpPr>
        <p:spPr>
          <a:xfrm>
            <a:off x="960120" y="2514600"/>
            <a:ext cx="5543325"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مكان خاص، جلسة متساوية، «جلستنا للتحسين لا للانتقاد»</a:t>
            </a:r>
            <a:endParaRPr lang="ar-SA" sz="2100" dirty="0"/>
          </a:p>
        </p:txBody>
      </p:sp>
      <p:sp>
        <p:nvSpPr>
          <p:cNvPr id="17" name="anim-g2-650"/>
          <p:cNvSpPr/>
          <p:nvPr/>
        </p:nvSpPr>
        <p:spPr>
          <a:xfrm>
            <a:off x="9768883" y="3422142"/>
            <a:ext cx="1599852" cy="797814"/>
          </a:xfrm>
          <a:prstGeom prst="roundRect">
            <a:avLst>
              <a:gd name="adj" fmla="val 13754"/>
            </a:avLst>
          </a:prstGeom>
          <a:solidFill>
            <a:srgbClr val="FBF3DF"/>
          </a:solidFill>
          <a:ln w="12700">
            <a:solidFill>
              <a:srgbClr val="EFDDAF"/>
            </a:solidFill>
            <a:prstDash val="solid"/>
          </a:ln>
        </p:spPr>
      </p:sp>
      <p:sp>
        <p:nvSpPr>
          <p:cNvPr id="18" name="anim-g2-651"/>
          <p:cNvSpPr/>
          <p:nvPr/>
        </p:nvSpPr>
        <p:spPr>
          <a:xfrm>
            <a:off x="9906043" y="3422142"/>
            <a:ext cx="132553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E</a:t>
            </a:r>
            <a:endParaRPr lang="ar-SA" sz="2100" dirty="0"/>
          </a:p>
        </p:txBody>
      </p:sp>
      <p:sp>
        <p:nvSpPr>
          <p:cNvPr id="19" name="anim-g2-652"/>
          <p:cNvSpPr/>
          <p:nvPr/>
        </p:nvSpPr>
        <p:spPr>
          <a:xfrm>
            <a:off x="6750333" y="3422142"/>
            <a:ext cx="2908822" cy="797814"/>
          </a:xfrm>
          <a:prstGeom prst="roundRect">
            <a:avLst>
              <a:gd name="adj" fmla="val 13754"/>
            </a:avLst>
          </a:prstGeom>
          <a:solidFill>
            <a:srgbClr val="FFFFFF"/>
          </a:solidFill>
          <a:ln w="12700">
            <a:solidFill>
              <a:srgbClr val="E4DCC8"/>
            </a:solidFill>
            <a:prstDash val="solid"/>
          </a:ln>
        </p:spPr>
      </p:sp>
      <p:sp>
        <p:nvSpPr>
          <p:cNvPr id="20" name="anim-g2-653"/>
          <p:cNvSpPr/>
          <p:nvPr/>
        </p:nvSpPr>
        <p:spPr>
          <a:xfrm>
            <a:off x="6887493" y="3422142"/>
            <a:ext cx="26345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الأدلة</a:t>
            </a:r>
            <a:endParaRPr lang="ar-SA" sz="2100" dirty="0"/>
          </a:p>
        </p:txBody>
      </p:sp>
      <p:sp>
        <p:nvSpPr>
          <p:cNvPr id="21" name="anim-g2-654"/>
          <p:cNvSpPr/>
          <p:nvPr/>
        </p:nvSpPr>
        <p:spPr>
          <a:xfrm>
            <a:off x="822960" y="3422142"/>
            <a:ext cx="5817645" cy="797814"/>
          </a:xfrm>
          <a:prstGeom prst="roundRect">
            <a:avLst>
              <a:gd name="adj" fmla="val 13754"/>
            </a:avLst>
          </a:prstGeom>
          <a:solidFill>
            <a:srgbClr val="E6F4EC"/>
          </a:solidFill>
          <a:ln w="12700">
            <a:solidFill>
              <a:srgbClr val="CDE9D9"/>
            </a:solidFill>
            <a:prstDash val="solid"/>
          </a:ln>
        </p:spPr>
      </p:sp>
      <p:sp>
        <p:nvSpPr>
          <p:cNvPr id="22" name="anim-g2-655"/>
          <p:cNvSpPr/>
          <p:nvPr/>
        </p:nvSpPr>
        <p:spPr>
          <a:xfrm>
            <a:off x="960120" y="3422142"/>
            <a:ext cx="5543325"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«قلتَ (تمام) ٣٦ مرة» لا «كلامك فيه لزمات»</a:t>
            </a:r>
            <a:endParaRPr lang="ar-SA" sz="2100" dirty="0"/>
          </a:p>
        </p:txBody>
      </p:sp>
      <p:sp>
        <p:nvSpPr>
          <p:cNvPr id="23" name="anim-g3-656"/>
          <p:cNvSpPr/>
          <p:nvPr/>
        </p:nvSpPr>
        <p:spPr>
          <a:xfrm>
            <a:off x="9768883" y="4329684"/>
            <a:ext cx="1599852" cy="797814"/>
          </a:xfrm>
          <a:prstGeom prst="roundRect">
            <a:avLst>
              <a:gd name="adj" fmla="val 13754"/>
            </a:avLst>
          </a:prstGeom>
          <a:solidFill>
            <a:srgbClr val="FBF3DF"/>
          </a:solidFill>
          <a:ln w="12700">
            <a:solidFill>
              <a:srgbClr val="EFDDAF"/>
            </a:solidFill>
            <a:prstDash val="solid"/>
          </a:ln>
        </p:spPr>
      </p:sp>
      <p:sp>
        <p:nvSpPr>
          <p:cNvPr id="24" name="anim-g3-657"/>
          <p:cNvSpPr/>
          <p:nvPr/>
        </p:nvSpPr>
        <p:spPr>
          <a:xfrm>
            <a:off x="9906043" y="4329684"/>
            <a:ext cx="132553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E</a:t>
            </a:r>
            <a:endParaRPr lang="ar-SA" sz="2100" dirty="0"/>
          </a:p>
        </p:txBody>
      </p:sp>
      <p:sp>
        <p:nvSpPr>
          <p:cNvPr id="25" name="anim-g3-658"/>
          <p:cNvSpPr/>
          <p:nvPr/>
        </p:nvSpPr>
        <p:spPr>
          <a:xfrm>
            <a:off x="6750333" y="4329684"/>
            <a:ext cx="2908822" cy="797814"/>
          </a:xfrm>
          <a:prstGeom prst="roundRect">
            <a:avLst>
              <a:gd name="adj" fmla="val 13754"/>
            </a:avLst>
          </a:prstGeom>
          <a:solidFill>
            <a:srgbClr val="FFFFFF"/>
          </a:solidFill>
          <a:ln w="12700">
            <a:solidFill>
              <a:srgbClr val="E4DCC8"/>
            </a:solidFill>
            <a:prstDash val="solid"/>
          </a:ln>
        </p:spPr>
      </p:sp>
      <p:sp>
        <p:nvSpPr>
          <p:cNvPr id="26" name="anim-g3-659"/>
          <p:cNvSpPr/>
          <p:nvPr/>
        </p:nvSpPr>
        <p:spPr>
          <a:xfrm>
            <a:off x="6887493" y="4329684"/>
            <a:ext cx="26345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الأثر</a:t>
            </a:r>
            <a:endParaRPr lang="ar-SA" sz="2100" dirty="0"/>
          </a:p>
        </p:txBody>
      </p:sp>
      <p:sp>
        <p:nvSpPr>
          <p:cNvPr id="27" name="anim-g3-660"/>
          <p:cNvSpPr/>
          <p:nvPr/>
        </p:nvSpPr>
        <p:spPr>
          <a:xfrm>
            <a:off x="822960" y="4329684"/>
            <a:ext cx="5817645" cy="797814"/>
          </a:xfrm>
          <a:prstGeom prst="roundRect">
            <a:avLst>
              <a:gd name="adj" fmla="val 13754"/>
            </a:avLst>
          </a:prstGeom>
          <a:solidFill>
            <a:srgbClr val="E6F4EC"/>
          </a:solidFill>
          <a:ln w="12700">
            <a:solidFill>
              <a:srgbClr val="CDE9D9"/>
            </a:solidFill>
            <a:prstDash val="solid"/>
          </a:ln>
        </p:spPr>
      </p:sp>
      <p:sp>
        <p:nvSpPr>
          <p:cNvPr id="28" name="anim-g3-661"/>
          <p:cNvSpPr/>
          <p:nvPr/>
        </p:nvSpPr>
        <p:spPr>
          <a:xfrm>
            <a:off x="960120" y="4329684"/>
            <a:ext cx="5543325"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«الطالب في الصف الثالث كان شاردًا طوال الشرح»</a:t>
            </a:r>
            <a:endParaRPr lang="ar-SA" sz="2100" dirty="0"/>
          </a:p>
        </p:txBody>
      </p:sp>
      <p:sp>
        <p:nvSpPr>
          <p:cNvPr id="29" name="anim-g4-662"/>
          <p:cNvSpPr/>
          <p:nvPr/>
        </p:nvSpPr>
        <p:spPr>
          <a:xfrm>
            <a:off x="9768883" y="5237226"/>
            <a:ext cx="1599852" cy="797814"/>
          </a:xfrm>
          <a:prstGeom prst="roundRect">
            <a:avLst>
              <a:gd name="adj" fmla="val 13754"/>
            </a:avLst>
          </a:prstGeom>
          <a:solidFill>
            <a:srgbClr val="FBF3DF"/>
          </a:solidFill>
          <a:ln w="12700">
            <a:solidFill>
              <a:srgbClr val="EFDDAF"/>
            </a:solidFill>
            <a:prstDash val="solid"/>
          </a:ln>
        </p:spPr>
      </p:sp>
      <p:sp>
        <p:nvSpPr>
          <p:cNvPr id="30" name="anim-g4-663"/>
          <p:cNvSpPr/>
          <p:nvPr/>
        </p:nvSpPr>
        <p:spPr>
          <a:xfrm>
            <a:off x="9906043" y="5237226"/>
            <a:ext cx="132553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D</a:t>
            </a:r>
            <a:endParaRPr lang="ar-SA" sz="2100" dirty="0"/>
          </a:p>
        </p:txBody>
      </p:sp>
      <p:sp>
        <p:nvSpPr>
          <p:cNvPr id="31" name="anim-g4-664"/>
          <p:cNvSpPr/>
          <p:nvPr/>
        </p:nvSpPr>
        <p:spPr>
          <a:xfrm>
            <a:off x="6750333" y="5237226"/>
            <a:ext cx="2908822" cy="797814"/>
          </a:xfrm>
          <a:prstGeom prst="roundRect">
            <a:avLst>
              <a:gd name="adj" fmla="val 13754"/>
            </a:avLst>
          </a:prstGeom>
          <a:solidFill>
            <a:srgbClr val="FFFFFF"/>
          </a:solidFill>
          <a:ln w="12700">
            <a:solidFill>
              <a:srgbClr val="E4DCC8"/>
            </a:solidFill>
            <a:prstDash val="solid"/>
          </a:ln>
        </p:spPr>
      </p:sp>
      <p:sp>
        <p:nvSpPr>
          <p:cNvPr id="32" name="anim-g4-665"/>
          <p:cNvSpPr/>
          <p:nvPr/>
        </p:nvSpPr>
        <p:spPr>
          <a:xfrm>
            <a:off x="6887493" y="5237226"/>
            <a:ext cx="26345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التشخيص والعلاج</a:t>
            </a:r>
            <a:endParaRPr lang="ar-SA" sz="2100" dirty="0"/>
          </a:p>
        </p:txBody>
      </p:sp>
      <p:sp>
        <p:nvSpPr>
          <p:cNvPr id="33" name="anim-g4-666"/>
          <p:cNvSpPr/>
          <p:nvPr/>
        </p:nvSpPr>
        <p:spPr>
          <a:xfrm>
            <a:off x="822960" y="5237226"/>
            <a:ext cx="5817645" cy="797814"/>
          </a:xfrm>
          <a:prstGeom prst="roundRect">
            <a:avLst>
              <a:gd name="adj" fmla="val 13754"/>
            </a:avLst>
          </a:prstGeom>
          <a:solidFill>
            <a:srgbClr val="E6F4EC"/>
          </a:solidFill>
          <a:ln w="12700">
            <a:solidFill>
              <a:srgbClr val="CDE9D9"/>
            </a:solidFill>
            <a:prstDash val="solid"/>
          </a:ln>
        </p:spPr>
      </p:sp>
      <p:sp>
        <p:nvSpPr>
          <p:cNvPr id="34" name="anim-g4-667"/>
          <p:cNvSpPr/>
          <p:nvPr/>
        </p:nvSpPr>
        <p:spPr>
          <a:xfrm>
            <a:off x="960120" y="5237226"/>
            <a:ext cx="5543325"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أين الفجوة؟ وما الخطوة العملية لسدّها؟</a:t>
            </a:r>
            <a:endParaRPr lang="ar-SA" sz="21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لغة المشرف  ·  ١٠٣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00"/>
                                        <p:tgtEl>
                                          <p:spTgt spid="3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name="Slide 10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2879" y="457200"/>
            <a:ext cx="5705856" cy="457200"/>
          </a:xfrm>
          <a:prstGeom prst="roundRect">
            <a:avLst>
              <a:gd name="adj" fmla="val 50000"/>
            </a:avLst>
          </a:prstGeom>
          <a:solidFill>
            <a:srgbClr val="F6EBCF"/>
          </a:solidFill>
          <a:ln/>
        </p:spPr>
      </p:sp>
      <p:sp>
        <p:nvSpPr>
          <p:cNvPr id="3" name="Text 1"/>
          <p:cNvSpPr/>
          <p:nvPr/>
        </p:nvSpPr>
        <p:spPr>
          <a:xfrm>
            <a:off x="5662879" y="457200"/>
            <a:ext cx="57058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نموذج FEEDBACK للتغذية الراجعة (٢)</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والحروف الأربعة الأخيرة: أخلاقيات الجلسة</a:t>
            </a:r>
            <a:endParaRPr lang="ar-SA" sz="3200" dirty="0"/>
          </a:p>
        </p:txBody>
      </p:sp>
      <p:sp>
        <p:nvSpPr>
          <p:cNvPr id="5" name="Shape 3"/>
          <p:cNvSpPr/>
          <p:nvPr/>
        </p:nvSpPr>
        <p:spPr>
          <a:xfrm>
            <a:off x="9768883" y="1874520"/>
            <a:ext cx="1599852" cy="548640"/>
          </a:xfrm>
          <a:prstGeom prst="roundRect">
            <a:avLst>
              <a:gd name="adj" fmla="val 20000"/>
            </a:avLst>
          </a:prstGeom>
          <a:solidFill>
            <a:srgbClr val="101B45"/>
          </a:solidFill>
          <a:ln/>
        </p:spPr>
      </p:sp>
      <p:sp>
        <p:nvSpPr>
          <p:cNvPr id="6" name="Text 4"/>
          <p:cNvSpPr/>
          <p:nvPr/>
        </p:nvSpPr>
        <p:spPr>
          <a:xfrm>
            <a:off x="9768883" y="1874520"/>
            <a:ext cx="159985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الحرف</a:t>
            </a:r>
            <a:endParaRPr lang="ar-SA" sz="1900" dirty="0"/>
          </a:p>
        </p:txBody>
      </p:sp>
      <p:sp>
        <p:nvSpPr>
          <p:cNvPr id="7" name="Shape 5"/>
          <p:cNvSpPr/>
          <p:nvPr/>
        </p:nvSpPr>
        <p:spPr>
          <a:xfrm>
            <a:off x="6750333" y="1874520"/>
            <a:ext cx="2908822" cy="548640"/>
          </a:xfrm>
          <a:prstGeom prst="roundRect">
            <a:avLst>
              <a:gd name="adj" fmla="val 20000"/>
            </a:avLst>
          </a:prstGeom>
          <a:solidFill>
            <a:srgbClr val="101B45"/>
          </a:solidFill>
          <a:ln/>
        </p:spPr>
      </p:sp>
      <p:sp>
        <p:nvSpPr>
          <p:cNvPr id="8" name="Text 6"/>
          <p:cNvSpPr/>
          <p:nvPr/>
        </p:nvSpPr>
        <p:spPr>
          <a:xfrm>
            <a:off x="6750333" y="1874520"/>
            <a:ext cx="290882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القاعدة</a:t>
            </a:r>
            <a:endParaRPr lang="ar-SA" sz="1900" dirty="0"/>
          </a:p>
        </p:txBody>
      </p:sp>
      <p:sp>
        <p:nvSpPr>
          <p:cNvPr id="9" name="Shape 7"/>
          <p:cNvSpPr/>
          <p:nvPr/>
        </p:nvSpPr>
        <p:spPr>
          <a:xfrm>
            <a:off x="822960" y="1874520"/>
            <a:ext cx="5817645" cy="548640"/>
          </a:xfrm>
          <a:prstGeom prst="roundRect">
            <a:avLst>
              <a:gd name="adj" fmla="val 20000"/>
            </a:avLst>
          </a:prstGeom>
          <a:solidFill>
            <a:srgbClr val="101B45"/>
          </a:solidFill>
          <a:ln/>
        </p:spPr>
      </p:sp>
      <p:sp>
        <p:nvSpPr>
          <p:cNvPr id="10" name="Text 8"/>
          <p:cNvSpPr/>
          <p:nvPr/>
        </p:nvSpPr>
        <p:spPr>
          <a:xfrm>
            <a:off x="822960" y="1874520"/>
            <a:ext cx="5817645"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بالمثال</a:t>
            </a:r>
            <a:endParaRPr lang="ar-SA" sz="1900" dirty="0"/>
          </a:p>
        </p:txBody>
      </p:sp>
      <p:sp>
        <p:nvSpPr>
          <p:cNvPr id="11" name="anim-g1-668"/>
          <p:cNvSpPr/>
          <p:nvPr/>
        </p:nvSpPr>
        <p:spPr>
          <a:xfrm>
            <a:off x="9768883" y="2514600"/>
            <a:ext cx="1599852" cy="797814"/>
          </a:xfrm>
          <a:prstGeom prst="roundRect">
            <a:avLst>
              <a:gd name="adj" fmla="val 13754"/>
            </a:avLst>
          </a:prstGeom>
          <a:solidFill>
            <a:srgbClr val="FBF3DF"/>
          </a:solidFill>
          <a:ln w="12700">
            <a:solidFill>
              <a:srgbClr val="EFDDAF"/>
            </a:solidFill>
            <a:prstDash val="solid"/>
          </a:ln>
        </p:spPr>
      </p:sp>
      <p:sp>
        <p:nvSpPr>
          <p:cNvPr id="12" name="anim-g1-669"/>
          <p:cNvSpPr/>
          <p:nvPr/>
        </p:nvSpPr>
        <p:spPr>
          <a:xfrm>
            <a:off x="9906043" y="2514600"/>
            <a:ext cx="132553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B</a:t>
            </a:r>
            <a:endParaRPr lang="ar-SA" sz="2100" dirty="0"/>
          </a:p>
        </p:txBody>
      </p:sp>
      <p:sp>
        <p:nvSpPr>
          <p:cNvPr id="13" name="anim-g1-670"/>
          <p:cNvSpPr/>
          <p:nvPr/>
        </p:nvSpPr>
        <p:spPr>
          <a:xfrm>
            <a:off x="6750333" y="2514600"/>
            <a:ext cx="2908822" cy="797814"/>
          </a:xfrm>
          <a:prstGeom prst="roundRect">
            <a:avLst>
              <a:gd name="adj" fmla="val 13754"/>
            </a:avLst>
          </a:prstGeom>
          <a:solidFill>
            <a:srgbClr val="FFFFFF"/>
          </a:solidFill>
          <a:ln w="12700">
            <a:solidFill>
              <a:srgbClr val="E4DCC8"/>
            </a:solidFill>
            <a:prstDash val="solid"/>
          </a:ln>
        </p:spPr>
      </p:sp>
      <p:sp>
        <p:nvSpPr>
          <p:cNvPr id="14" name="anim-g1-671"/>
          <p:cNvSpPr/>
          <p:nvPr/>
        </p:nvSpPr>
        <p:spPr>
          <a:xfrm>
            <a:off x="6887493" y="2514600"/>
            <a:ext cx="26345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الدقة البالغة</a:t>
            </a:r>
            <a:endParaRPr lang="ar-SA" sz="2100" dirty="0"/>
          </a:p>
        </p:txBody>
      </p:sp>
      <p:sp>
        <p:nvSpPr>
          <p:cNvPr id="15" name="anim-g1-672"/>
          <p:cNvSpPr/>
          <p:nvPr/>
        </p:nvSpPr>
        <p:spPr>
          <a:xfrm>
            <a:off x="822960" y="2514600"/>
            <a:ext cx="5817645" cy="797814"/>
          </a:xfrm>
          <a:prstGeom prst="roundRect">
            <a:avLst>
              <a:gd name="adj" fmla="val 13754"/>
            </a:avLst>
          </a:prstGeom>
          <a:solidFill>
            <a:srgbClr val="E6F4EC"/>
          </a:solidFill>
          <a:ln w="12700">
            <a:solidFill>
              <a:srgbClr val="CDE9D9"/>
            </a:solidFill>
            <a:prstDash val="solid"/>
          </a:ln>
        </p:spPr>
      </p:sp>
      <p:sp>
        <p:nvSpPr>
          <p:cNvPr id="16" name="anim-g1-673"/>
          <p:cNvSpPr/>
          <p:nvPr/>
        </p:nvSpPr>
        <p:spPr>
          <a:xfrm>
            <a:off x="960120" y="2514600"/>
            <a:ext cx="5543325"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الحصة ٤٥ دقيقة فقط… لا تاريخه الشخصي</a:t>
            </a:r>
            <a:endParaRPr lang="ar-SA" sz="2100" dirty="0"/>
          </a:p>
        </p:txBody>
      </p:sp>
      <p:sp>
        <p:nvSpPr>
          <p:cNvPr id="17" name="anim-g2-674"/>
          <p:cNvSpPr/>
          <p:nvPr/>
        </p:nvSpPr>
        <p:spPr>
          <a:xfrm>
            <a:off x="9768883" y="3422142"/>
            <a:ext cx="1599852" cy="797814"/>
          </a:xfrm>
          <a:prstGeom prst="roundRect">
            <a:avLst>
              <a:gd name="adj" fmla="val 13754"/>
            </a:avLst>
          </a:prstGeom>
          <a:solidFill>
            <a:srgbClr val="FBF3DF"/>
          </a:solidFill>
          <a:ln w="12700">
            <a:solidFill>
              <a:srgbClr val="EFDDAF"/>
            </a:solidFill>
            <a:prstDash val="solid"/>
          </a:ln>
        </p:spPr>
      </p:sp>
      <p:sp>
        <p:nvSpPr>
          <p:cNvPr id="18" name="anim-g2-675"/>
          <p:cNvSpPr/>
          <p:nvPr/>
        </p:nvSpPr>
        <p:spPr>
          <a:xfrm>
            <a:off x="9906043" y="3422142"/>
            <a:ext cx="132553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A</a:t>
            </a:r>
            <a:endParaRPr lang="ar-SA" sz="2100" dirty="0"/>
          </a:p>
        </p:txBody>
      </p:sp>
      <p:sp>
        <p:nvSpPr>
          <p:cNvPr id="19" name="anim-g2-676"/>
          <p:cNvSpPr/>
          <p:nvPr/>
        </p:nvSpPr>
        <p:spPr>
          <a:xfrm>
            <a:off x="6750333" y="3422142"/>
            <a:ext cx="2908822" cy="797814"/>
          </a:xfrm>
          <a:prstGeom prst="roundRect">
            <a:avLst>
              <a:gd name="adj" fmla="val 13754"/>
            </a:avLst>
          </a:prstGeom>
          <a:solidFill>
            <a:srgbClr val="FFFFFF"/>
          </a:solidFill>
          <a:ln w="12700">
            <a:solidFill>
              <a:srgbClr val="E4DCC8"/>
            </a:solidFill>
            <a:prstDash val="solid"/>
          </a:ln>
        </p:spPr>
      </p:sp>
      <p:sp>
        <p:nvSpPr>
          <p:cNvPr id="20" name="anim-g2-677"/>
          <p:cNvSpPr/>
          <p:nvPr/>
        </p:nvSpPr>
        <p:spPr>
          <a:xfrm>
            <a:off x="6887493" y="3422142"/>
            <a:ext cx="26345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الأداء لا الشخص</a:t>
            </a:r>
            <a:endParaRPr lang="ar-SA" sz="2100" dirty="0"/>
          </a:p>
        </p:txBody>
      </p:sp>
      <p:sp>
        <p:nvSpPr>
          <p:cNvPr id="21" name="anim-g2-678"/>
          <p:cNvSpPr/>
          <p:nvPr/>
        </p:nvSpPr>
        <p:spPr>
          <a:xfrm>
            <a:off x="822960" y="3422142"/>
            <a:ext cx="5817645" cy="797814"/>
          </a:xfrm>
          <a:prstGeom prst="roundRect">
            <a:avLst>
              <a:gd name="adj" fmla="val 13754"/>
            </a:avLst>
          </a:prstGeom>
          <a:solidFill>
            <a:srgbClr val="E6F4EC"/>
          </a:solidFill>
          <a:ln w="12700">
            <a:solidFill>
              <a:srgbClr val="CDE9D9"/>
            </a:solidFill>
            <a:prstDash val="solid"/>
          </a:ln>
        </p:spPr>
      </p:sp>
      <p:sp>
        <p:nvSpPr>
          <p:cNvPr id="22" name="anim-g2-679"/>
          <p:cNvSpPr/>
          <p:nvPr/>
        </p:nvSpPr>
        <p:spPr>
          <a:xfrm>
            <a:off x="960120" y="3422142"/>
            <a:ext cx="5543325"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لا تيار، ولا قبيلة، ولا جنسية… الحصة فقط</a:t>
            </a:r>
            <a:endParaRPr lang="ar-SA" sz="2100" dirty="0"/>
          </a:p>
        </p:txBody>
      </p:sp>
      <p:sp>
        <p:nvSpPr>
          <p:cNvPr id="23" name="anim-g3-680"/>
          <p:cNvSpPr/>
          <p:nvPr/>
        </p:nvSpPr>
        <p:spPr>
          <a:xfrm>
            <a:off x="9768883" y="4329684"/>
            <a:ext cx="1599852" cy="797814"/>
          </a:xfrm>
          <a:prstGeom prst="roundRect">
            <a:avLst>
              <a:gd name="adj" fmla="val 13754"/>
            </a:avLst>
          </a:prstGeom>
          <a:solidFill>
            <a:srgbClr val="FBF3DF"/>
          </a:solidFill>
          <a:ln w="12700">
            <a:solidFill>
              <a:srgbClr val="EFDDAF"/>
            </a:solidFill>
            <a:prstDash val="solid"/>
          </a:ln>
        </p:spPr>
      </p:sp>
      <p:sp>
        <p:nvSpPr>
          <p:cNvPr id="24" name="anim-g3-681"/>
          <p:cNvSpPr/>
          <p:nvPr/>
        </p:nvSpPr>
        <p:spPr>
          <a:xfrm>
            <a:off x="9906043" y="4329684"/>
            <a:ext cx="132553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C</a:t>
            </a:r>
            <a:endParaRPr lang="ar-SA" sz="2100" dirty="0"/>
          </a:p>
        </p:txBody>
      </p:sp>
      <p:sp>
        <p:nvSpPr>
          <p:cNvPr id="25" name="anim-g3-682"/>
          <p:cNvSpPr/>
          <p:nvPr/>
        </p:nvSpPr>
        <p:spPr>
          <a:xfrm>
            <a:off x="6750333" y="4329684"/>
            <a:ext cx="2908822" cy="797814"/>
          </a:xfrm>
          <a:prstGeom prst="roundRect">
            <a:avLst>
              <a:gd name="adj" fmla="val 13754"/>
            </a:avLst>
          </a:prstGeom>
          <a:solidFill>
            <a:srgbClr val="FFFFFF"/>
          </a:solidFill>
          <a:ln w="12700">
            <a:solidFill>
              <a:srgbClr val="E4DCC8"/>
            </a:solidFill>
            <a:prstDash val="solid"/>
          </a:ln>
        </p:spPr>
      </p:sp>
      <p:sp>
        <p:nvSpPr>
          <p:cNvPr id="26" name="anim-g3-683"/>
          <p:cNvSpPr/>
          <p:nvPr/>
        </p:nvSpPr>
        <p:spPr>
          <a:xfrm>
            <a:off x="6887493" y="4329684"/>
            <a:ext cx="26345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السرية</a:t>
            </a:r>
            <a:endParaRPr lang="ar-SA" sz="2100" dirty="0"/>
          </a:p>
        </p:txBody>
      </p:sp>
      <p:sp>
        <p:nvSpPr>
          <p:cNvPr id="27" name="anim-g3-684"/>
          <p:cNvSpPr/>
          <p:nvPr/>
        </p:nvSpPr>
        <p:spPr>
          <a:xfrm>
            <a:off x="822960" y="4329684"/>
            <a:ext cx="5817645" cy="797814"/>
          </a:xfrm>
          <a:prstGeom prst="roundRect">
            <a:avLst>
              <a:gd name="adj" fmla="val 13754"/>
            </a:avLst>
          </a:prstGeom>
          <a:solidFill>
            <a:srgbClr val="E6F4EC"/>
          </a:solidFill>
          <a:ln w="12700">
            <a:solidFill>
              <a:srgbClr val="CDE9D9"/>
            </a:solidFill>
            <a:prstDash val="solid"/>
          </a:ln>
        </p:spPr>
      </p:sp>
      <p:sp>
        <p:nvSpPr>
          <p:cNvPr id="28" name="anim-g3-685"/>
          <p:cNvSpPr/>
          <p:nvPr/>
        </p:nvSpPr>
        <p:spPr>
          <a:xfrm>
            <a:off x="960120" y="4329684"/>
            <a:ext cx="5543325"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للمعلم والمدير ومدير الإشراف فقط</a:t>
            </a:r>
            <a:endParaRPr lang="ar-SA" sz="2100" dirty="0"/>
          </a:p>
        </p:txBody>
      </p:sp>
      <p:sp>
        <p:nvSpPr>
          <p:cNvPr id="29" name="anim-g4-686"/>
          <p:cNvSpPr/>
          <p:nvPr/>
        </p:nvSpPr>
        <p:spPr>
          <a:xfrm>
            <a:off x="9768883" y="5237226"/>
            <a:ext cx="1599852" cy="797814"/>
          </a:xfrm>
          <a:prstGeom prst="roundRect">
            <a:avLst>
              <a:gd name="adj" fmla="val 13754"/>
            </a:avLst>
          </a:prstGeom>
          <a:solidFill>
            <a:srgbClr val="FBF3DF"/>
          </a:solidFill>
          <a:ln w="12700">
            <a:solidFill>
              <a:srgbClr val="EFDDAF"/>
            </a:solidFill>
            <a:prstDash val="solid"/>
          </a:ln>
        </p:spPr>
      </p:sp>
      <p:sp>
        <p:nvSpPr>
          <p:cNvPr id="30" name="anim-g4-687"/>
          <p:cNvSpPr/>
          <p:nvPr/>
        </p:nvSpPr>
        <p:spPr>
          <a:xfrm>
            <a:off x="9906043" y="5237226"/>
            <a:ext cx="132553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K</a:t>
            </a:r>
            <a:endParaRPr lang="ar-SA" sz="2100" dirty="0"/>
          </a:p>
        </p:txBody>
      </p:sp>
      <p:sp>
        <p:nvSpPr>
          <p:cNvPr id="31" name="anim-g4-688"/>
          <p:cNvSpPr/>
          <p:nvPr/>
        </p:nvSpPr>
        <p:spPr>
          <a:xfrm>
            <a:off x="6750333" y="5237226"/>
            <a:ext cx="2908822" cy="797814"/>
          </a:xfrm>
          <a:prstGeom prst="roundRect">
            <a:avLst>
              <a:gd name="adj" fmla="val 13754"/>
            </a:avLst>
          </a:prstGeom>
          <a:solidFill>
            <a:srgbClr val="FFFFFF"/>
          </a:solidFill>
          <a:ln w="12700">
            <a:solidFill>
              <a:srgbClr val="E4DCC8"/>
            </a:solidFill>
            <a:prstDash val="solid"/>
          </a:ln>
        </p:spPr>
      </p:sp>
      <p:sp>
        <p:nvSpPr>
          <p:cNvPr id="32" name="anim-g4-689"/>
          <p:cNvSpPr/>
          <p:nvPr/>
        </p:nvSpPr>
        <p:spPr>
          <a:xfrm>
            <a:off x="6887493" y="5237226"/>
            <a:ext cx="26345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الإيجاز</a:t>
            </a:r>
            <a:endParaRPr lang="ar-SA" sz="2100" dirty="0"/>
          </a:p>
        </p:txBody>
      </p:sp>
      <p:sp>
        <p:nvSpPr>
          <p:cNvPr id="33" name="anim-g4-690"/>
          <p:cNvSpPr/>
          <p:nvPr/>
        </p:nvSpPr>
        <p:spPr>
          <a:xfrm>
            <a:off x="822960" y="5237226"/>
            <a:ext cx="5817645" cy="797814"/>
          </a:xfrm>
          <a:prstGeom prst="roundRect">
            <a:avLst>
              <a:gd name="adj" fmla="val 13754"/>
            </a:avLst>
          </a:prstGeom>
          <a:solidFill>
            <a:srgbClr val="E6F4EC"/>
          </a:solidFill>
          <a:ln w="12700">
            <a:solidFill>
              <a:srgbClr val="CDE9D9"/>
            </a:solidFill>
            <a:prstDash val="solid"/>
          </a:ln>
        </p:spPr>
      </p:sp>
      <p:sp>
        <p:nvSpPr>
          <p:cNvPr id="34" name="anim-g4-691"/>
          <p:cNvSpPr/>
          <p:nvPr/>
        </p:nvSpPr>
        <p:spPr>
          <a:xfrm>
            <a:off x="960120" y="5237226"/>
            <a:ext cx="5543325"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كالتغريدة: الخلاصة أولًا، والتفاصيل إن سأل</a:t>
            </a:r>
            <a:endParaRPr lang="ar-SA" sz="21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لغة المشرف  ·  ١٠٤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00"/>
                                        <p:tgtEl>
                                          <p:spTgt spid="3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name="Slide 10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قالب جاهز تحفظه</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أعجبني ← لاحظتُ ← الأثر ← أقترح</a:t>
            </a:r>
            <a:endParaRPr lang="ar-SA" sz="3800" dirty="0"/>
          </a:p>
        </p:txBody>
      </p:sp>
      <p:sp>
        <p:nvSpPr>
          <p:cNvPr id="5" name="anim-g1-692"/>
          <p:cNvSpPr/>
          <p:nvPr/>
        </p:nvSpPr>
        <p:spPr>
          <a:xfrm>
            <a:off x="9768535" y="2130552"/>
            <a:ext cx="1600200" cy="541782"/>
          </a:xfrm>
          <a:prstGeom prst="roundRect">
            <a:avLst>
              <a:gd name="adj" fmla="val 25316"/>
            </a:avLst>
          </a:prstGeom>
          <a:solidFill>
            <a:srgbClr val="E9EDF9"/>
          </a:solidFill>
          <a:ln/>
        </p:spPr>
      </p:sp>
      <p:sp>
        <p:nvSpPr>
          <p:cNvPr id="6" name="anim-g1-693"/>
          <p:cNvSpPr/>
          <p:nvPr/>
        </p:nvSpPr>
        <p:spPr>
          <a:xfrm>
            <a:off x="9814255" y="2130552"/>
            <a:ext cx="1508760" cy="54178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١ · أعجبني</a:t>
            </a:r>
            <a:endParaRPr lang="ar-SA" sz="1800" dirty="0"/>
          </a:p>
        </p:txBody>
      </p:sp>
      <p:sp>
        <p:nvSpPr>
          <p:cNvPr id="7" name="anim-g1-694"/>
          <p:cNvSpPr/>
          <p:nvPr/>
        </p:nvSpPr>
        <p:spPr>
          <a:xfrm>
            <a:off x="822960" y="2057400"/>
            <a:ext cx="8716975" cy="688086"/>
          </a:xfrm>
          <a:prstGeom prst="roundRect">
            <a:avLst>
              <a:gd name="adj" fmla="val 29236"/>
            </a:avLst>
          </a:prstGeom>
          <a:solidFill>
            <a:srgbClr val="101B45"/>
          </a:solidFill>
          <a:ln/>
        </p:spPr>
      </p:sp>
      <p:sp>
        <p:nvSpPr>
          <p:cNvPr id="8" name="anim-g1-695"/>
          <p:cNvSpPr/>
          <p:nvPr/>
        </p:nvSpPr>
        <p:spPr>
          <a:xfrm>
            <a:off x="1097280" y="2057400"/>
            <a:ext cx="8168335" cy="68808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أعجبني اليوم تقسيمك للسبورة إلى ثلاثة أجزاء: أهداف، وشرح، ورسوم</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9" name="anim-g2-696"/>
          <p:cNvSpPr/>
          <p:nvPr/>
        </p:nvSpPr>
        <p:spPr>
          <a:xfrm>
            <a:off x="9768535" y="2964942"/>
            <a:ext cx="1600200" cy="541782"/>
          </a:xfrm>
          <a:prstGeom prst="roundRect">
            <a:avLst>
              <a:gd name="adj" fmla="val 25316"/>
            </a:avLst>
          </a:prstGeom>
          <a:solidFill>
            <a:srgbClr val="E9EDF9"/>
          </a:solidFill>
          <a:ln/>
        </p:spPr>
      </p:sp>
      <p:sp>
        <p:nvSpPr>
          <p:cNvPr id="10" name="anim-g2-697"/>
          <p:cNvSpPr/>
          <p:nvPr/>
        </p:nvSpPr>
        <p:spPr>
          <a:xfrm>
            <a:off x="9814255" y="2964942"/>
            <a:ext cx="1508760" cy="54178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٢ · لاحظتُ</a:t>
            </a:r>
            <a:endParaRPr lang="ar-SA" sz="1800" dirty="0"/>
          </a:p>
        </p:txBody>
      </p:sp>
      <p:sp>
        <p:nvSpPr>
          <p:cNvPr id="11" name="anim-g2-698"/>
          <p:cNvSpPr/>
          <p:nvPr/>
        </p:nvSpPr>
        <p:spPr>
          <a:xfrm>
            <a:off x="822960" y="2891790"/>
            <a:ext cx="8716975" cy="688086"/>
          </a:xfrm>
          <a:prstGeom prst="roundRect">
            <a:avLst>
              <a:gd name="adj" fmla="val 29236"/>
            </a:avLst>
          </a:prstGeom>
          <a:solidFill>
            <a:srgbClr val="101B45"/>
          </a:solidFill>
          <a:ln/>
        </p:spPr>
      </p:sp>
      <p:sp>
        <p:nvSpPr>
          <p:cNvPr id="12" name="anim-g2-699"/>
          <p:cNvSpPr/>
          <p:nvPr/>
        </p:nvSpPr>
        <p:spPr>
          <a:xfrm>
            <a:off x="1097280" y="2891790"/>
            <a:ext cx="8168335" cy="688086"/>
          </a:xfrm>
          <a:prstGeom prst="rect">
            <a:avLst/>
          </a:prstGeom>
          <a:noFill/>
          <a:ln/>
        </p:spPr>
        <p:txBody>
          <a:bodyPr wrap="square" lIns="0" tIns="0" rIns="0" bIns="0" rtlCol="0" anchor="ctr">
            <a:normAutofit/>
          </a:bodyPr>
          <a:lstStyle/>
          <a:p>
            <a:pPr algn="r" indent="0" marL="0">
              <a:buNone/>
            </a:pPr>
            <a:r>
              <a:rPr lang="ar-SA" altLang="en-US" sz="2400" b="1" dirty="0">
                <a:solidFill>
                  <a:srgbClr val="D9AE4B"/>
                </a:solidFill>
                <a:latin typeface="Cairo" pitchFamily="34" charset="0"/>
                <a:ea typeface="Cairo" pitchFamily="34" charset="-122"/>
                <a:cs typeface="Cairo" pitchFamily="34" charset="-120"/>
              </a:rPr>
              <a:t>« </a:t>
            </a:r>
            <a:pPr algn="r" indent="0" marL="0">
              <a:buNone/>
            </a:pPr>
            <a:r>
              <a:rPr lang="ar-SA" altLang="en-US" sz="2400" b="1" dirty="0">
                <a:solidFill>
                  <a:srgbClr val="FFFFFF"/>
                </a:solidFill>
                <a:latin typeface="Cairo" pitchFamily="34" charset="0"/>
                <a:ea typeface="Cairo" pitchFamily="34" charset="-122"/>
                <a:cs typeface="Cairo" pitchFamily="34" charset="-120"/>
              </a:rPr>
              <a:t>ولاحظتُ أنك وقفتَ عند السبورة ٣٨ دقيقة من ٤٥</a:t>
            </a:r>
            <a:pPr algn="r" indent="0" marL="0">
              <a:buNone/>
            </a:pPr>
            <a:r>
              <a:rPr lang="ar-SA" altLang="en-US" sz="2400" b="1" dirty="0">
                <a:solidFill>
                  <a:srgbClr val="D9AE4B"/>
                </a:solidFill>
                <a:latin typeface="Cairo" pitchFamily="34" charset="0"/>
                <a:ea typeface="Cairo" pitchFamily="34" charset="-122"/>
                <a:cs typeface="Cairo" pitchFamily="34" charset="-120"/>
              </a:rPr>
              <a:t> »</a:t>
            </a:r>
            <a:endParaRPr lang="ar-SA" sz="2400" dirty="0"/>
          </a:p>
        </p:txBody>
      </p:sp>
      <p:sp>
        <p:nvSpPr>
          <p:cNvPr id="13" name="anim-g3-700"/>
          <p:cNvSpPr/>
          <p:nvPr/>
        </p:nvSpPr>
        <p:spPr>
          <a:xfrm>
            <a:off x="9768535" y="3799332"/>
            <a:ext cx="1600200" cy="541782"/>
          </a:xfrm>
          <a:prstGeom prst="roundRect">
            <a:avLst>
              <a:gd name="adj" fmla="val 25316"/>
            </a:avLst>
          </a:prstGeom>
          <a:solidFill>
            <a:srgbClr val="E9EDF9"/>
          </a:solidFill>
          <a:ln/>
        </p:spPr>
      </p:sp>
      <p:sp>
        <p:nvSpPr>
          <p:cNvPr id="14" name="anim-g3-701"/>
          <p:cNvSpPr/>
          <p:nvPr/>
        </p:nvSpPr>
        <p:spPr>
          <a:xfrm>
            <a:off x="9814255" y="3799332"/>
            <a:ext cx="1508760" cy="54178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٣ · الأثر</a:t>
            </a:r>
            <a:endParaRPr lang="ar-SA" sz="1800" dirty="0"/>
          </a:p>
        </p:txBody>
      </p:sp>
      <p:sp>
        <p:nvSpPr>
          <p:cNvPr id="15" name="anim-g3-702"/>
          <p:cNvSpPr/>
          <p:nvPr/>
        </p:nvSpPr>
        <p:spPr>
          <a:xfrm>
            <a:off x="822960" y="3726180"/>
            <a:ext cx="8716975" cy="688086"/>
          </a:xfrm>
          <a:prstGeom prst="roundRect">
            <a:avLst>
              <a:gd name="adj" fmla="val 29236"/>
            </a:avLst>
          </a:prstGeom>
          <a:solidFill>
            <a:srgbClr val="101B45"/>
          </a:solidFill>
          <a:ln/>
        </p:spPr>
      </p:sp>
      <p:sp>
        <p:nvSpPr>
          <p:cNvPr id="16" name="anim-g3-703"/>
          <p:cNvSpPr/>
          <p:nvPr/>
        </p:nvSpPr>
        <p:spPr>
          <a:xfrm>
            <a:off x="1097280" y="3726180"/>
            <a:ext cx="8168335" cy="68808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فالمجموعة اليسرى كانت أقل مشاركة؛ ثلاثة منهم لم يتكلموا أبدًا</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17" name="anim-g4-704"/>
          <p:cNvSpPr/>
          <p:nvPr/>
        </p:nvSpPr>
        <p:spPr>
          <a:xfrm>
            <a:off x="9768535" y="4633722"/>
            <a:ext cx="1600200" cy="541782"/>
          </a:xfrm>
          <a:prstGeom prst="roundRect">
            <a:avLst>
              <a:gd name="adj" fmla="val 25316"/>
            </a:avLst>
          </a:prstGeom>
          <a:solidFill>
            <a:srgbClr val="E9EDF9"/>
          </a:solidFill>
          <a:ln/>
        </p:spPr>
      </p:sp>
      <p:sp>
        <p:nvSpPr>
          <p:cNvPr id="18" name="anim-g4-705"/>
          <p:cNvSpPr/>
          <p:nvPr/>
        </p:nvSpPr>
        <p:spPr>
          <a:xfrm>
            <a:off x="9814255" y="4633722"/>
            <a:ext cx="1508760" cy="54178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٤ · أقترح</a:t>
            </a:r>
            <a:endParaRPr lang="ar-SA" sz="1800" dirty="0"/>
          </a:p>
        </p:txBody>
      </p:sp>
      <p:sp>
        <p:nvSpPr>
          <p:cNvPr id="19" name="anim-g4-706"/>
          <p:cNvSpPr/>
          <p:nvPr/>
        </p:nvSpPr>
        <p:spPr>
          <a:xfrm>
            <a:off x="822960" y="4560570"/>
            <a:ext cx="8716975" cy="688086"/>
          </a:xfrm>
          <a:prstGeom prst="roundRect">
            <a:avLst>
              <a:gd name="adj" fmla="val 29236"/>
            </a:avLst>
          </a:prstGeom>
          <a:solidFill>
            <a:srgbClr val="101B45"/>
          </a:solidFill>
          <a:ln/>
        </p:spPr>
      </p:sp>
      <p:sp>
        <p:nvSpPr>
          <p:cNvPr id="20" name="anim-g4-707"/>
          <p:cNvSpPr/>
          <p:nvPr/>
        </p:nvSpPr>
        <p:spPr>
          <a:xfrm>
            <a:off x="1097280" y="4560570"/>
            <a:ext cx="8168335" cy="688086"/>
          </a:xfrm>
          <a:prstGeom prst="rect">
            <a:avLst/>
          </a:prstGeom>
          <a:noFill/>
          <a:ln/>
        </p:spPr>
        <p:txBody>
          <a:bodyPr wrap="square" lIns="0" tIns="0" rIns="0" bIns="0" rtlCol="0" anchor="ctr">
            <a:normAutofit/>
          </a:bodyPr>
          <a:lstStyle/>
          <a:p>
            <a:pPr algn="r" indent="0" marL="0">
              <a:buNone/>
            </a:pPr>
            <a:r>
              <a:rPr lang="ar-SA" altLang="en-US" sz="2000" b="1" dirty="0">
                <a:solidFill>
                  <a:srgbClr val="D9AE4B"/>
                </a:solidFill>
                <a:latin typeface="Cairo" pitchFamily="34" charset="0"/>
                <a:ea typeface="Cairo" pitchFamily="34" charset="-122"/>
                <a:cs typeface="Cairo" pitchFamily="34" charset="-120"/>
              </a:rPr>
              <a:t>« </a:t>
            </a:r>
            <a:pPr algn="r" indent="0" marL="0">
              <a:buNone/>
            </a:pPr>
            <a:r>
              <a:rPr lang="ar-SA" altLang="en-US" sz="2000" b="1" dirty="0">
                <a:solidFill>
                  <a:srgbClr val="FFFFFF"/>
                </a:solidFill>
                <a:latin typeface="Cairo" pitchFamily="34" charset="0"/>
                <a:ea typeface="Cairo" pitchFamily="34" charset="-122"/>
                <a:cs typeface="Cairo" pitchFamily="34" charset="-120"/>
              </a:rPr>
              <a:t>ما رأيك أن تنتقل إليهم مرتين في الحصة القادمة؟ وسأزورك بعد أسبوعين لنرى</a:t>
            </a:r>
            <a:pPr algn="r" indent="0" marL="0">
              <a:buNone/>
            </a:pPr>
            <a:r>
              <a:rPr lang="ar-SA" altLang="en-US" sz="2000" b="1" dirty="0">
                <a:solidFill>
                  <a:srgbClr val="D9AE4B"/>
                </a:solidFill>
                <a:latin typeface="Cairo" pitchFamily="34" charset="0"/>
                <a:ea typeface="Cairo" pitchFamily="34" charset="-122"/>
                <a:cs typeface="Cairo" pitchFamily="34" charset="-120"/>
              </a:rPr>
              <a:t> »</a:t>
            </a:r>
            <a:endParaRPr lang="ar-SA" sz="2000" dirty="0"/>
          </a:p>
        </p:txBody>
      </p:sp>
      <p:sp>
        <p:nvSpPr>
          <p:cNvPr id="21" name="anim-g5-708"/>
          <p:cNvSpPr/>
          <p:nvPr/>
        </p:nvSpPr>
        <p:spPr>
          <a:xfrm>
            <a:off x="822960" y="5532120"/>
            <a:ext cx="10545775" cy="548640"/>
          </a:xfrm>
          <a:prstGeom prst="roundRect">
            <a:avLst>
              <a:gd name="adj" fmla="val 20000"/>
            </a:avLst>
          </a:prstGeom>
          <a:solidFill>
            <a:srgbClr val="FBECEC"/>
          </a:solidFill>
          <a:ln/>
        </p:spPr>
      </p:sp>
      <p:sp>
        <p:nvSpPr>
          <p:cNvPr id="22" name="anim-g5-709"/>
          <p:cNvSpPr/>
          <p:nvPr/>
        </p:nvSpPr>
        <p:spPr>
          <a:xfrm>
            <a:off x="11295583" y="5532120"/>
            <a:ext cx="73152" cy="548640"/>
          </a:xfrm>
          <a:prstGeom prst="rect">
            <a:avLst/>
          </a:prstGeom>
          <a:solidFill>
            <a:srgbClr val="D64545"/>
          </a:solidFill>
          <a:ln/>
        </p:spPr>
      </p:sp>
      <p:sp>
        <p:nvSpPr>
          <p:cNvPr id="23" name="anim-g5-710"/>
          <p:cNvSpPr/>
          <p:nvPr/>
        </p:nvSpPr>
        <p:spPr>
          <a:xfrm>
            <a:off x="1005840" y="5532120"/>
            <a:ext cx="10088575" cy="548640"/>
          </a:xfrm>
          <a:prstGeom prst="rect">
            <a:avLst/>
          </a:prstGeom>
          <a:noFill/>
          <a:ln/>
        </p:spPr>
        <p:txBody>
          <a:bodyPr wrap="square" lIns="0" tIns="0" rIns="0" bIns="0" rtlCol="0" anchor="ctr">
            <a:normAutofit/>
          </a:bodyPr>
          <a:lstStyle/>
          <a:p>
            <a:pPr rtl="1" algn="r" indent="0" marL="0">
              <a:buNone/>
            </a:pPr>
            <a:r>
              <a:rPr lang="ar-SA" altLang="en-US" sz="1900" b="1" dirty="0">
                <a:solidFill>
                  <a:srgbClr val="8E2A2A"/>
                </a:solidFill>
                <a:latin typeface="Cairo" pitchFamily="34" charset="0"/>
                <a:ea typeface="Cairo" pitchFamily="34" charset="-122"/>
                <a:cs typeface="Cairo" pitchFamily="34" charset="-120"/>
              </a:rPr>
              <a:t>⚠️ لا تقل «لكن» بعد المديح… فهي تمسح كل ما قبلها</a:t>
            </a:r>
            <a:endParaRPr lang="ar-SA" sz="1900" dirty="0"/>
          </a:p>
        </p:txBody>
      </p:sp>
      <p:sp>
        <p:nvSpPr>
          <p:cNvPr id="24" name="Text 22"/>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5" name="Text 23"/>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لغة المشرف  ·  ١٠٥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pic>
        <p:nvPicPr>
          <p:cNvPr id="2" name="Image 0" descr="/Users/mac/dev/younes-training/ishraf/.pptx-cache/s1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أخطاء تقتل التغذية الراجعة… وبدائلها</a:t>
            </a:r>
            <a:endParaRPr lang="ar-SA" sz="32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711"/>
          <p:cNvSpPr/>
          <p:nvPr/>
        </p:nvSpPr>
        <p:spPr>
          <a:xfrm>
            <a:off x="6415888" y="2194560"/>
            <a:ext cx="4952848" cy="804672"/>
          </a:xfrm>
          <a:prstGeom prst="roundRect">
            <a:avLst>
              <a:gd name="adj" fmla="val 15909"/>
            </a:avLst>
          </a:prstGeom>
          <a:solidFill>
            <a:srgbClr val="FBECEC"/>
          </a:solidFill>
          <a:ln/>
        </p:spPr>
      </p:sp>
      <p:sp>
        <p:nvSpPr>
          <p:cNvPr id="6" name="anim-g1-712"/>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ملاحظة على ما لا يستطيع تغييره: «حركتك ثقيلة» (ومعه إصابة في رجله)</a:t>
            </a:r>
            <a:endParaRPr lang="ar-SA" sz="2200" dirty="0"/>
          </a:p>
        </p:txBody>
      </p:sp>
      <p:sp>
        <p:nvSpPr>
          <p:cNvPr id="7" name="anim-g1-713"/>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714"/>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715"/>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716"/>
          <p:cNvSpPr/>
          <p:nvPr/>
        </p:nvSpPr>
        <p:spPr>
          <a:xfrm>
            <a:off x="822960" y="2194560"/>
            <a:ext cx="4952848" cy="804672"/>
          </a:xfrm>
          <a:prstGeom prst="roundRect">
            <a:avLst>
              <a:gd name="adj" fmla="val 15909"/>
            </a:avLst>
          </a:prstGeom>
          <a:solidFill>
            <a:srgbClr val="E6F4EC"/>
          </a:solidFill>
          <a:ln/>
        </p:spPr>
      </p:sp>
      <p:sp>
        <p:nvSpPr>
          <p:cNvPr id="11" name="anim-g2-717"/>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اسأل عن السياق قبل الحكم، وركّز على ما يملك تغييره</a:t>
            </a:r>
            <a:endParaRPr lang="ar-SA" sz="2200" dirty="0"/>
          </a:p>
        </p:txBody>
      </p:sp>
      <p:sp>
        <p:nvSpPr>
          <p:cNvPr id="12" name="anim-g3-718"/>
          <p:cNvSpPr/>
          <p:nvPr/>
        </p:nvSpPr>
        <p:spPr>
          <a:xfrm>
            <a:off x="6415888" y="3154680"/>
            <a:ext cx="4952848" cy="804672"/>
          </a:xfrm>
          <a:prstGeom prst="roundRect">
            <a:avLst>
              <a:gd name="adj" fmla="val 15909"/>
            </a:avLst>
          </a:prstGeom>
          <a:solidFill>
            <a:srgbClr val="FBECEC"/>
          </a:solidFill>
          <a:ln/>
        </p:spPr>
      </p:sp>
      <p:sp>
        <p:nvSpPr>
          <p:cNvPr id="13" name="anim-g3-719"/>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خلط الأمور: «وبالمناسبة… ما حضرت الاجتماع الماضي!»</a:t>
            </a:r>
            <a:endParaRPr lang="ar-SA" sz="2200" dirty="0"/>
          </a:p>
        </p:txBody>
      </p:sp>
      <p:sp>
        <p:nvSpPr>
          <p:cNvPr id="14" name="anim-g3-720"/>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721"/>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722"/>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723"/>
          <p:cNvSpPr/>
          <p:nvPr/>
        </p:nvSpPr>
        <p:spPr>
          <a:xfrm>
            <a:off x="822960" y="3154680"/>
            <a:ext cx="4952848" cy="804672"/>
          </a:xfrm>
          <a:prstGeom prst="roundRect">
            <a:avLst>
              <a:gd name="adj" fmla="val 15909"/>
            </a:avLst>
          </a:prstGeom>
          <a:solidFill>
            <a:srgbClr val="E6F4EC"/>
          </a:solidFill>
          <a:ln/>
        </p:spPr>
      </p:sp>
      <p:sp>
        <p:nvSpPr>
          <p:cNvPr id="18" name="anim-g4-724"/>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جلسة التحسين للحصة فقط؛ الأمور الأخرى في وقت آخر</a:t>
            </a:r>
            <a:endParaRPr lang="ar-SA" sz="2200" dirty="0"/>
          </a:p>
        </p:txBody>
      </p:sp>
      <p:sp>
        <p:nvSpPr>
          <p:cNvPr id="19" name="anim-g5-725"/>
          <p:cNvSpPr/>
          <p:nvPr/>
        </p:nvSpPr>
        <p:spPr>
          <a:xfrm>
            <a:off x="6415888" y="4114800"/>
            <a:ext cx="4952848" cy="804672"/>
          </a:xfrm>
          <a:prstGeom prst="roundRect">
            <a:avLst>
              <a:gd name="adj" fmla="val 15909"/>
            </a:avLst>
          </a:prstGeom>
          <a:solidFill>
            <a:srgbClr val="FBECEC"/>
          </a:solidFill>
          <a:ln/>
        </p:spPr>
      </p:sp>
      <p:sp>
        <p:nvSpPr>
          <p:cNvPr id="20" name="anim-g5-726"/>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الهجوم المتواصل حتى يحمرّ وجهه</a:t>
            </a:r>
            <a:endParaRPr lang="ar-SA" sz="2200" dirty="0"/>
          </a:p>
        </p:txBody>
      </p:sp>
      <p:sp>
        <p:nvSpPr>
          <p:cNvPr id="21" name="anim-g5-727"/>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728"/>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729"/>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730"/>
          <p:cNvSpPr/>
          <p:nvPr/>
        </p:nvSpPr>
        <p:spPr>
          <a:xfrm>
            <a:off x="822960" y="4114800"/>
            <a:ext cx="4952848" cy="804672"/>
          </a:xfrm>
          <a:prstGeom prst="roundRect">
            <a:avLst>
              <a:gd name="adj" fmla="val 15909"/>
            </a:avLst>
          </a:prstGeom>
          <a:solidFill>
            <a:srgbClr val="E6F4EC"/>
          </a:solidFill>
          <a:ln/>
        </p:spPr>
      </p:sp>
      <p:sp>
        <p:nvSpPr>
          <p:cNvPr id="25" name="anim-g6-731"/>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إذا رأيته تأثّر: عُد لنقطة إيجابية، ثم أكمل بهدوء</a:t>
            </a:r>
            <a:endParaRPr lang="ar-SA" sz="2200" dirty="0"/>
          </a:p>
        </p:txBody>
      </p:sp>
      <p:sp>
        <p:nvSpPr>
          <p:cNvPr id="26" name="anim-g7-732"/>
          <p:cNvSpPr/>
          <p:nvPr/>
        </p:nvSpPr>
        <p:spPr>
          <a:xfrm>
            <a:off x="6415888" y="5074920"/>
            <a:ext cx="4952848" cy="804672"/>
          </a:xfrm>
          <a:prstGeom prst="roundRect">
            <a:avLst>
              <a:gd name="adj" fmla="val 15909"/>
            </a:avLst>
          </a:prstGeom>
          <a:solidFill>
            <a:srgbClr val="FBECEC"/>
          </a:solidFill>
          <a:ln/>
        </p:spPr>
      </p:sp>
      <p:sp>
        <p:nvSpPr>
          <p:cNvPr id="27" name="anim-g7-733"/>
          <p:cNvSpPr/>
          <p:nvPr/>
        </p:nvSpPr>
        <p:spPr>
          <a:xfrm>
            <a:off x="6644488"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المعلمة الجديدة الخجولة تُعامَل كالقديمة</a:t>
            </a:r>
            <a:endParaRPr lang="ar-SA" sz="2200" dirty="0"/>
          </a:p>
        </p:txBody>
      </p:sp>
      <p:sp>
        <p:nvSpPr>
          <p:cNvPr id="28" name="anim-g7-734"/>
          <p:cNvSpPr/>
          <p:nvPr/>
        </p:nvSpPr>
        <p:spPr>
          <a:xfrm>
            <a:off x="822960" y="5074920"/>
            <a:ext cx="4952848" cy="804672"/>
          </a:xfrm>
          <a:prstGeom prst="roundRect">
            <a:avLst>
              <a:gd name="adj" fmla="val 15909"/>
            </a:avLst>
          </a:prstGeom>
          <a:solidFill>
            <a:srgbClr val="FFFFFF"/>
          </a:solidFill>
          <a:ln w="19050">
            <a:solidFill>
              <a:srgbClr val="BFD9CB"/>
            </a:solidFill>
            <a:prstDash val="dash"/>
          </a:ln>
        </p:spPr>
      </p:sp>
      <p:sp>
        <p:nvSpPr>
          <p:cNvPr id="29" name="anim-g7-735"/>
          <p:cNvSpPr/>
          <p:nvPr/>
        </p:nvSpPr>
        <p:spPr>
          <a:xfrm>
            <a:off x="822960" y="507492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30" name="anim-g8-736"/>
          <p:cNvSpPr/>
          <p:nvPr/>
        </p:nvSpPr>
        <p:spPr>
          <a:xfrm>
            <a:off x="5775808" y="507492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31" name="anim-g8-737"/>
          <p:cNvSpPr/>
          <p:nvPr/>
        </p:nvSpPr>
        <p:spPr>
          <a:xfrm>
            <a:off x="822960" y="5074920"/>
            <a:ext cx="4952848" cy="804672"/>
          </a:xfrm>
          <a:prstGeom prst="roundRect">
            <a:avLst>
              <a:gd name="adj" fmla="val 15909"/>
            </a:avLst>
          </a:prstGeom>
          <a:solidFill>
            <a:srgbClr val="E6F4EC"/>
          </a:solidFill>
          <a:ln/>
        </p:spPr>
      </p:sp>
      <p:sp>
        <p:nvSpPr>
          <p:cNvPr id="32" name="anim-g8-738"/>
          <p:cNvSpPr/>
          <p:nvPr/>
        </p:nvSpPr>
        <p:spPr>
          <a:xfrm>
            <a:off x="1051560"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كوني لها أمًّا بحزم في البداية… والحزم يزيد مع الثقة</a:t>
            </a:r>
            <a:endParaRPr lang="ar-SA" sz="2200" dirty="0"/>
          </a:p>
        </p:txBody>
      </p:sp>
      <p:sp>
        <p:nvSpPr>
          <p:cNvPr id="33" name="Text 3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34" name="Text 3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لغة المشرف  ·  ١٠٧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400"/>
                                        <p:tgtEl>
                                          <p:spTgt spid="2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400"/>
                                        <p:tgtEl>
                                          <p:spTgt spid="2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400"/>
                                        <p:tgtEl>
                                          <p:spTgt spid="2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400"/>
                                        <p:tgtEl>
                                          <p:spTgt spid="29"/>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400"/>
                                        <p:tgtEl>
                                          <p:spTgt spid="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400"/>
                                        <p:tgtEl>
                                          <p:spTgt spid="3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pic>
        <p:nvPicPr>
          <p:cNvPr id="2" name="Image 0" descr="/Users/mac/dev/younes-training/ishraf/.pptx-cache/s1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979615" y="457200"/>
            <a:ext cx="4389120" cy="457200"/>
          </a:xfrm>
          <a:prstGeom prst="roundRect">
            <a:avLst>
              <a:gd name="adj" fmla="val 50000"/>
            </a:avLst>
          </a:prstGeom>
          <a:solidFill>
            <a:srgbClr val="F6EBCF"/>
          </a:solidFill>
          <a:ln/>
        </p:spPr>
      </p:sp>
      <p:sp>
        <p:nvSpPr>
          <p:cNvPr id="3" name="Text 1"/>
          <p:cNvSpPr/>
          <p:nvPr/>
        </p:nvSpPr>
        <p:spPr>
          <a:xfrm>
            <a:off x="6979615" y="457200"/>
            <a:ext cx="438912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المفتاح المناسب لكل شخصية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معلموك سلة فواكه… لكل واحد نكهته</a:t>
            </a:r>
            <a:endParaRPr lang="ar-SA" sz="3800" dirty="0"/>
          </a:p>
        </p:txBody>
      </p:sp>
      <p:sp>
        <p:nvSpPr>
          <p:cNvPr id="5" name="anim-g1-739"/>
          <p:cNvSpPr/>
          <p:nvPr/>
        </p:nvSpPr>
        <p:spPr>
          <a:xfrm>
            <a:off x="8938031"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740"/>
          <p:cNvSpPr/>
          <p:nvPr/>
        </p:nvSpPr>
        <p:spPr>
          <a:xfrm>
            <a:off x="10527487" y="2267712"/>
            <a:ext cx="566928" cy="566928"/>
          </a:xfrm>
          <a:prstGeom prst="roundRect">
            <a:avLst>
              <a:gd name="adj" fmla="val 32258"/>
            </a:avLst>
          </a:prstGeom>
          <a:solidFill>
            <a:srgbClr val="F7E6BC"/>
          </a:solidFill>
          <a:ln/>
        </p:spPr>
      </p:sp>
      <p:sp>
        <p:nvSpPr>
          <p:cNvPr id="7" name="anim-g1-741"/>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742"/>
          <p:cNvSpPr/>
          <p:nvPr/>
        </p:nvSpPr>
        <p:spPr>
          <a:xfrm>
            <a:off x="9212351"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الحازم</a:t>
            </a:r>
            <a:endParaRPr lang="ar-SA" sz="2200" dirty="0"/>
          </a:p>
        </p:txBody>
      </p:sp>
      <p:sp>
        <p:nvSpPr>
          <p:cNvPr id="9" name="anim-g1-743"/>
          <p:cNvSpPr/>
          <p:nvPr/>
        </p:nvSpPr>
        <p:spPr>
          <a:xfrm>
            <a:off x="9212351"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رسمي «ندٌّ بالند» ← تحدَّه: «أتحداك أن تدخل المسابقة»</a:t>
            </a:r>
            <a:endParaRPr lang="ar-SA" sz="1900" dirty="0"/>
          </a:p>
        </p:txBody>
      </p:sp>
      <p:sp>
        <p:nvSpPr>
          <p:cNvPr id="10" name="anim-g2-744"/>
          <p:cNvSpPr/>
          <p:nvPr/>
        </p:nvSpPr>
        <p:spPr>
          <a:xfrm>
            <a:off x="6233008"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745"/>
          <p:cNvSpPr/>
          <p:nvPr/>
        </p:nvSpPr>
        <p:spPr>
          <a:xfrm>
            <a:off x="7822463" y="2267712"/>
            <a:ext cx="566928" cy="566928"/>
          </a:xfrm>
          <a:prstGeom prst="roundRect">
            <a:avLst>
              <a:gd name="adj" fmla="val 32258"/>
            </a:avLst>
          </a:prstGeom>
          <a:solidFill>
            <a:srgbClr val="F7E6BC"/>
          </a:solidFill>
          <a:ln/>
        </p:spPr>
      </p:sp>
      <p:sp>
        <p:nvSpPr>
          <p:cNvPr id="12" name="anim-g2-746"/>
          <p:cNvSpPr/>
          <p:nvPr/>
        </p:nvSpPr>
        <p:spPr>
          <a:xfrm>
            <a:off x="7822463"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747"/>
          <p:cNvSpPr/>
          <p:nvPr/>
        </p:nvSpPr>
        <p:spPr>
          <a:xfrm>
            <a:off x="6507328"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المؤثر</a:t>
            </a:r>
            <a:endParaRPr lang="ar-SA" sz="2200" dirty="0"/>
          </a:p>
        </p:txBody>
      </p:sp>
      <p:sp>
        <p:nvSpPr>
          <p:cNvPr id="14" name="anim-g2-748"/>
          <p:cNvSpPr/>
          <p:nvPr/>
        </p:nvSpPr>
        <p:spPr>
          <a:xfrm>
            <a:off x="6507328"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متحمس وله جمهور، يتوه في الوقت ← حدد جدول الجلسة وتابعه</a:t>
            </a:r>
            <a:endParaRPr lang="ar-SA" sz="1900" dirty="0"/>
          </a:p>
        </p:txBody>
      </p:sp>
      <p:sp>
        <p:nvSpPr>
          <p:cNvPr id="15" name="anim-g3-749"/>
          <p:cNvSpPr/>
          <p:nvPr/>
        </p:nvSpPr>
        <p:spPr>
          <a:xfrm>
            <a:off x="3527984"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750"/>
          <p:cNvSpPr/>
          <p:nvPr/>
        </p:nvSpPr>
        <p:spPr>
          <a:xfrm>
            <a:off x="5117440" y="2267712"/>
            <a:ext cx="566928" cy="566928"/>
          </a:xfrm>
          <a:prstGeom prst="roundRect">
            <a:avLst>
              <a:gd name="adj" fmla="val 32258"/>
            </a:avLst>
          </a:prstGeom>
          <a:solidFill>
            <a:srgbClr val="F7E6BC"/>
          </a:solidFill>
          <a:ln/>
        </p:spPr>
      </p:sp>
      <p:sp>
        <p:nvSpPr>
          <p:cNvPr id="17" name="anim-g3-751"/>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752"/>
          <p:cNvSpPr/>
          <p:nvPr/>
        </p:nvSpPr>
        <p:spPr>
          <a:xfrm>
            <a:off x="3802304"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المستقر</a:t>
            </a:r>
            <a:endParaRPr lang="ar-SA" sz="2200" dirty="0"/>
          </a:p>
        </p:txBody>
      </p:sp>
      <p:sp>
        <p:nvSpPr>
          <p:cNvPr id="19" name="anim-g3-753"/>
          <p:cNvSpPr/>
          <p:nvPr/>
        </p:nvSpPr>
        <p:spPr>
          <a:xfrm>
            <a:off x="3802304"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يهمه الود ويتدرج ← علاقة ووقت، ويريد كلمة المدير</a:t>
            </a:r>
            <a:endParaRPr lang="ar-SA" sz="1900" dirty="0"/>
          </a:p>
        </p:txBody>
      </p:sp>
      <p:sp>
        <p:nvSpPr>
          <p:cNvPr id="20" name="anim-g4-754"/>
          <p:cNvSpPr/>
          <p:nvPr/>
        </p:nvSpPr>
        <p:spPr>
          <a:xfrm>
            <a:off x="822960"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755"/>
          <p:cNvSpPr/>
          <p:nvPr/>
        </p:nvSpPr>
        <p:spPr>
          <a:xfrm>
            <a:off x="2412416" y="2267712"/>
            <a:ext cx="566928" cy="566928"/>
          </a:xfrm>
          <a:prstGeom prst="roundRect">
            <a:avLst>
              <a:gd name="adj" fmla="val 32258"/>
            </a:avLst>
          </a:prstGeom>
          <a:solidFill>
            <a:srgbClr val="F7E6BC"/>
          </a:solidFill>
          <a:ln/>
        </p:spPr>
      </p:sp>
      <p:sp>
        <p:nvSpPr>
          <p:cNvPr id="22" name="anim-g4-756"/>
          <p:cNvSpPr/>
          <p:nvPr/>
        </p:nvSpPr>
        <p:spPr>
          <a:xfrm>
            <a:off x="2412416"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757"/>
          <p:cNvSpPr/>
          <p:nvPr/>
        </p:nvSpPr>
        <p:spPr>
          <a:xfrm>
            <a:off x="1097280"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الدقيق</a:t>
            </a:r>
            <a:endParaRPr lang="ar-SA" sz="2200" dirty="0"/>
          </a:p>
        </p:txBody>
      </p:sp>
      <p:sp>
        <p:nvSpPr>
          <p:cNvPr id="24" name="anim-g4-758"/>
          <p:cNvSpPr/>
          <p:nvPr/>
        </p:nvSpPr>
        <p:spPr>
          <a:xfrm>
            <a:off x="1097280"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منظم يخاف التغيير ← نموذج مكتوب ودرس نموذجي يشاهده</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لغة المشرف  ·  ١٠٩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pic>
        <p:nvPicPr>
          <p:cNvPr id="2" name="Image 0" descr="/Users/mac/dev/younes-training/ishraf/.pptx-cache/s1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09728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09728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المحطة</a:t>
            </a:r>
            <a:endParaRPr lang="ar-SA" sz="1800" dirty="0"/>
          </a:p>
        </p:txBody>
      </p:sp>
      <p:sp>
        <p:nvSpPr>
          <p:cNvPr id="4" name="Shape 2"/>
          <p:cNvSpPr/>
          <p:nvPr/>
        </p:nvSpPr>
        <p:spPr>
          <a:xfrm>
            <a:off x="5181448" y="2103120"/>
            <a:ext cx="1828800" cy="32004"/>
          </a:xfrm>
          <a:prstGeom prst="rect">
            <a:avLst/>
          </a:prstGeom>
          <a:solidFill>
            <a:srgbClr val="D9AE4B"/>
          </a:solidFill>
          <a:ln/>
        </p:spPr>
      </p:sp>
      <p:sp>
        <p:nvSpPr>
          <p:cNvPr id="5" name="Text 3"/>
          <p:cNvSpPr/>
          <p:nvPr/>
        </p:nvSpPr>
        <p:spPr>
          <a:xfrm>
            <a:off x="1188720" y="2286000"/>
            <a:ext cx="9814255" cy="2377440"/>
          </a:xfrm>
          <a:prstGeom prst="rect">
            <a:avLst/>
          </a:prstGeom>
          <a:noFill/>
          <a:ln/>
        </p:spPr>
        <p:txBody>
          <a:bodyPr wrap="square" lIns="0" tIns="0" rIns="0" bIns="0" rtlCol="0" anchor="ctr">
            <a:normAutofit/>
          </a:bodyPr>
          <a:lstStyle/>
          <a:p>
            <a:pPr rtl="1" algn="ctr" indent="0" marL="0">
              <a:lnSpc>
                <a:spcPct val="125000"/>
              </a:lnSpc>
              <a:buNone/>
            </a:pPr>
            <a:r>
              <a:rPr lang="ar-SA" altLang="en-US" sz="4000" b="1" dirty="0">
                <a:solidFill>
                  <a:srgbClr val="FFFFFF"/>
                </a:solidFill>
                <a:latin typeface="Amiri" pitchFamily="34" charset="0"/>
                <a:ea typeface="Amiri" pitchFamily="34" charset="-122"/>
                <a:cs typeface="Amiri" pitchFamily="34" charset="-120"/>
              </a:rPr>
              <a:t>والكلمةُ الطيبةُ صدقة</a:t>
            </a:r>
            <a:endParaRPr lang="ar-SA" sz="4000" dirty="0"/>
          </a:p>
        </p:txBody>
      </p:sp>
      <p:sp>
        <p:nvSpPr>
          <p:cNvPr id="6" name="Shape 4"/>
          <p:cNvSpPr/>
          <p:nvPr/>
        </p:nvSpPr>
        <p:spPr>
          <a:xfrm>
            <a:off x="5181448" y="4800600"/>
            <a:ext cx="1828800" cy="32004"/>
          </a:xfrm>
          <a:prstGeom prst="rect">
            <a:avLst/>
          </a:prstGeom>
          <a:solidFill>
            <a:srgbClr val="D9AE4B"/>
          </a:solidFill>
          <a:ln/>
        </p:spPr>
      </p:sp>
      <p:sp>
        <p:nvSpPr>
          <p:cNvPr id="7" name="anim-g1-759"/>
          <p:cNvSpPr/>
          <p:nvPr/>
        </p:nvSpPr>
        <p:spPr>
          <a:xfrm>
            <a:off x="0" y="5029200"/>
            <a:ext cx="12191695"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9AE4B"/>
                </a:solidFill>
                <a:latin typeface="Cairo" pitchFamily="34" charset="0"/>
                <a:ea typeface="Cairo" pitchFamily="34" charset="-122"/>
                <a:cs typeface="Cairo" pitchFamily="34" charset="-120"/>
              </a:rPr>
              <a:t>متفق عليه</a:t>
            </a:r>
            <a:endParaRPr lang="ar-SA" sz="1600" dirty="0"/>
          </a:p>
        </p:txBody>
      </p:sp>
      <p:sp>
        <p:nvSpPr>
          <p:cNvPr id="8" name="Text 6"/>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9" name="Text 7"/>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لغة المشرف  ·  ١١١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name="Slide 1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ماذا تعلّمنا؟</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دقيقتان</a:t>
            </a:r>
            <a:endParaRPr lang="ar-SA" sz="3800" dirty="0"/>
          </a:p>
        </p:txBody>
      </p:sp>
      <p:sp>
        <p:nvSpPr>
          <p:cNvPr id="5" name="anim-g1-760"/>
          <p:cNvSpPr/>
          <p:nvPr/>
        </p:nvSpPr>
        <p:spPr>
          <a:xfrm>
            <a:off x="10637215" y="2286000"/>
            <a:ext cx="731520" cy="731520"/>
          </a:xfrm>
          <a:prstGeom prst="ellipse">
            <a:avLst/>
          </a:prstGeom>
          <a:solidFill>
            <a:srgbClr val="D9AE4B"/>
          </a:solidFill>
          <a:ln/>
        </p:spPr>
      </p:sp>
      <p:sp>
        <p:nvSpPr>
          <p:cNvPr id="6" name="anim-g1-761"/>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762"/>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اكتب الجملة الأولى التي ستقولها في جلستك القادمة مع معلم</a:t>
            </a:r>
            <a:endParaRPr lang="ar-SA" sz="2200" dirty="0"/>
          </a:p>
        </p:txBody>
      </p:sp>
      <p:sp>
        <p:nvSpPr>
          <p:cNvPr id="8" name="anim-g2-763"/>
          <p:cNvSpPr/>
          <p:nvPr/>
        </p:nvSpPr>
        <p:spPr>
          <a:xfrm>
            <a:off x="10637215" y="3383280"/>
            <a:ext cx="731520" cy="731520"/>
          </a:xfrm>
          <a:prstGeom prst="ellipse">
            <a:avLst/>
          </a:prstGeom>
          <a:solidFill>
            <a:srgbClr val="D9AE4B"/>
          </a:solidFill>
          <a:ln/>
        </p:spPr>
      </p:sp>
      <p:sp>
        <p:nvSpPr>
          <p:cNvPr id="9" name="anim-g2-764"/>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765"/>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استخدم: «أعجبني…» ثم دليلًا واحدًا</a:t>
            </a:r>
            <a:endParaRPr lang="ar-SA" sz="2200" dirty="0"/>
          </a:p>
        </p:txBody>
      </p:sp>
      <p:sp>
        <p:nvSpPr>
          <p:cNvPr id="11" name="anim-g3-766"/>
          <p:cNvSpPr/>
          <p:nvPr/>
        </p:nvSpPr>
        <p:spPr>
          <a:xfrm>
            <a:off x="10637215" y="4480560"/>
            <a:ext cx="731520" cy="731520"/>
          </a:xfrm>
          <a:prstGeom prst="ellipse">
            <a:avLst/>
          </a:prstGeom>
          <a:solidFill>
            <a:srgbClr val="D9AE4B"/>
          </a:solidFill>
          <a:ln/>
        </p:spPr>
      </p:sp>
      <p:sp>
        <p:nvSpPr>
          <p:cNvPr id="12" name="anim-g3-767"/>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768"/>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سأقرأ أجمل ثلاث جمل</a:t>
            </a:r>
            <a:endParaRPr lang="ar-SA" sz="2200" dirty="0"/>
          </a:p>
        </p:txBody>
      </p:sp>
      <p:sp>
        <p:nvSpPr>
          <p:cNvPr id="14" name="Shape 12"/>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5" name="Text 13"/>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2:00</a:t>
            </a:r>
            <a:endParaRPr lang="ar-SA" sz="6000" dirty="0"/>
          </a:p>
        </p:txBody>
      </p:sp>
      <p:sp>
        <p:nvSpPr>
          <p:cNvPr id="16" name="Text 14"/>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٢ دقائق</a:t>
            </a:r>
            <a:endParaRPr lang="ar-SA" sz="16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لغة المشرف  ·  ١١٢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name="Slide 1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مصادر المحطة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المراجع</a:t>
            </a:r>
            <a:endParaRPr lang="ar-SA" sz="3800" dirty="0"/>
          </a:p>
        </p:txBody>
      </p:sp>
      <p:sp>
        <p:nvSpPr>
          <p:cNvPr id="5" name="anim-g1-769"/>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770"/>
          <p:cNvSpPr/>
          <p:nvPr/>
        </p:nvSpPr>
        <p:spPr>
          <a:xfrm>
            <a:off x="10573207" y="2109978"/>
            <a:ext cx="566928" cy="566928"/>
          </a:xfrm>
          <a:prstGeom prst="ellipse">
            <a:avLst/>
          </a:prstGeom>
          <a:solidFill>
            <a:srgbClr val="D9AE4B"/>
          </a:solidFill>
          <a:ln/>
        </p:spPr>
      </p:sp>
      <p:sp>
        <p:nvSpPr>
          <p:cNvPr id="7" name="anim-g1-771"/>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772"/>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Hattie, J. &amp; Timperley, H. (2007). The Power of Feedback</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التغذية الراجعة</a:t>
            </a:r>
            <a:endParaRPr lang="ar-SA" sz="2400" dirty="0"/>
          </a:p>
        </p:txBody>
      </p:sp>
      <p:sp>
        <p:nvSpPr>
          <p:cNvPr id="9" name="anim-g2-773"/>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774"/>
          <p:cNvSpPr/>
          <p:nvPr/>
        </p:nvSpPr>
        <p:spPr>
          <a:xfrm>
            <a:off x="10573207" y="3166110"/>
            <a:ext cx="566928" cy="566928"/>
          </a:xfrm>
          <a:prstGeom prst="ellipse">
            <a:avLst/>
          </a:prstGeom>
          <a:solidFill>
            <a:srgbClr val="D9AE4B"/>
          </a:solidFill>
          <a:ln/>
        </p:spPr>
      </p:sp>
      <p:sp>
        <p:nvSpPr>
          <p:cNvPr id="11" name="anim-g2-775"/>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776"/>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Marston, W. (1928). Emotions of Normal People</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أصل نموذج DISC</a:t>
            </a:r>
            <a:endParaRPr lang="ar-SA" sz="2400" dirty="0"/>
          </a:p>
        </p:txBody>
      </p:sp>
      <p:sp>
        <p:nvSpPr>
          <p:cNvPr id="13" name="anim-g3-777"/>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778"/>
          <p:cNvSpPr/>
          <p:nvPr/>
        </p:nvSpPr>
        <p:spPr>
          <a:xfrm>
            <a:off x="10573207" y="4222242"/>
            <a:ext cx="566928" cy="566928"/>
          </a:xfrm>
          <a:prstGeom prst="ellipse">
            <a:avLst/>
          </a:prstGeom>
          <a:solidFill>
            <a:srgbClr val="D9AE4B"/>
          </a:solidFill>
          <a:ln/>
        </p:spPr>
      </p:sp>
      <p:sp>
        <p:nvSpPr>
          <p:cNvPr id="15" name="anim-g3-779"/>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780"/>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صحيح البخاري وصحيح مسلم · الشافعي</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هدي النبي ﷺ في التعليم والنصح</a:t>
            </a:r>
            <a:endParaRPr lang="ar-SA" sz="2400" dirty="0"/>
          </a:p>
        </p:txBody>
      </p:sp>
      <p:sp>
        <p:nvSpPr>
          <p:cNvPr id="17" name="anim-g4-781"/>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782"/>
          <p:cNvSpPr/>
          <p:nvPr/>
        </p:nvSpPr>
        <p:spPr>
          <a:xfrm>
            <a:off x="10573207" y="5278374"/>
            <a:ext cx="566928" cy="566928"/>
          </a:xfrm>
          <a:prstGeom prst="ellipse">
            <a:avLst/>
          </a:prstGeom>
          <a:solidFill>
            <a:srgbClr val="D9AE4B"/>
          </a:solidFill>
          <a:ln/>
        </p:spPr>
      </p:sp>
      <p:sp>
        <p:nvSpPr>
          <p:cNvPr id="19" name="anim-g4-783"/>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784"/>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الميداني، مجمع الأمثال</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الأمثال</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لغة المشرف  ·  ١١٣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name="Slide 1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٦</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المحطة ٦</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علبة الألوان</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لا يوجد أسلوب إشرافي أفضل… يوجد الأسلوب المناسب للموقف</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علبة الألوان  ·  ١١٤</a:t>
            </a:r>
            <a:endParaRPr lang="ar-SA" sz="12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pic>
        <p:nvPicPr>
          <p:cNvPr id="2" name="Image 0" descr="/Users/mac/dev/younes-training/ishraf/.pptx-cache/s1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979615" y="457200"/>
            <a:ext cx="4389120" cy="457200"/>
          </a:xfrm>
          <a:prstGeom prst="roundRect">
            <a:avLst>
              <a:gd name="adj" fmla="val 50000"/>
            </a:avLst>
          </a:prstGeom>
          <a:solidFill>
            <a:srgbClr val="F6EBCF"/>
          </a:solidFill>
          <a:ln/>
        </p:spPr>
      </p:sp>
      <p:sp>
        <p:nvSpPr>
          <p:cNvPr id="3" name="Text 1"/>
          <p:cNvSpPr/>
          <p:nvPr/>
        </p:nvSpPr>
        <p:spPr>
          <a:xfrm>
            <a:off x="6979615" y="457200"/>
            <a:ext cx="438912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الإشراف التطوري (غليكمان)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اختر أسلوبك حسب مستوى المعلم</a:t>
            </a:r>
            <a:endParaRPr lang="ar-SA" sz="3800" dirty="0"/>
          </a:p>
        </p:txBody>
      </p:sp>
      <p:sp>
        <p:nvSpPr>
          <p:cNvPr id="5" name="Shape 3"/>
          <p:cNvSpPr/>
          <p:nvPr/>
        </p:nvSpPr>
        <p:spPr>
          <a:xfrm>
            <a:off x="8720961" y="1874520"/>
            <a:ext cx="2647774" cy="548640"/>
          </a:xfrm>
          <a:prstGeom prst="roundRect">
            <a:avLst>
              <a:gd name="adj" fmla="val 20000"/>
            </a:avLst>
          </a:prstGeom>
          <a:solidFill>
            <a:srgbClr val="101B45"/>
          </a:solidFill>
          <a:ln/>
        </p:spPr>
      </p:sp>
      <p:sp>
        <p:nvSpPr>
          <p:cNvPr id="6" name="Text 4"/>
          <p:cNvSpPr/>
          <p:nvPr/>
        </p:nvSpPr>
        <p:spPr>
          <a:xfrm>
            <a:off x="8720961" y="1874520"/>
            <a:ext cx="2647774"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مستوى المعلم</a:t>
            </a:r>
            <a:endParaRPr lang="ar-SA" sz="1900" dirty="0"/>
          </a:p>
        </p:txBody>
      </p:sp>
      <p:sp>
        <p:nvSpPr>
          <p:cNvPr id="7" name="Shape 5"/>
          <p:cNvSpPr/>
          <p:nvPr/>
        </p:nvSpPr>
        <p:spPr>
          <a:xfrm>
            <a:off x="6228236" y="1874520"/>
            <a:ext cx="2382997" cy="548640"/>
          </a:xfrm>
          <a:prstGeom prst="roundRect">
            <a:avLst>
              <a:gd name="adj" fmla="val 20000"/>
            </a:avLst>
          </a:prstGeom>
          <a:solidFill>
            <a:srgbClr val="101B45"/>
          </a:solidFill>
          <a:ln/>
        </p:spPr>
      </p:sp>
      <p:sp>
        <p:nvSpPr>
          <p:cNvPr id="8" name="Text 6"/>
          <p:cNvSpPr/>
          <p:nvPr/>
        </p:nvSpPr>
        <p:spPr>
          <a:xfrm>
            <a:off x="6228236" y="1874520"/>
            <a:ext cx="2382997"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الأسلوب</a:t>
            </a:r>
            <a:endParaRPr lang="ar-SA" sz="1900" dirty="0"/>
          </a:p>
        </p:txBody>
      </p:sp>
      <p:sp>
        <p:nvSpPr>
          <p:cNvPr id="9" name="Shape 7"/>
          <p:cNvSpPr/>
          <p:nvPr/>
        </p:nvSpPr>
        <p:spPr>
          <a:xfrm>
            <a:off x="822960" y="1874520"/>
            <a:ext cx="5295548" cy="548640"/>
          </a:xfrm>
          <a:prstGeom prst="roundRect">
            <a:avLst>
              <a:gd name="adj" fmla="val 20000"/>
            </a:avLst>
          </a:prstGeom>
          <a:solidFill>
            <a:srgbClr val="101B45"/>
          </a:solidFill>
          <a:ln/>
        </p:spPr>
      </p:sp>
      <p:sp>
        <p:nvSpPr>
          <p:cNvPr id="10" name="Text 8"/>
          <p:cNvSpPr/>
          <p:nvPr/>
        </p:nvSpPr>
        <p:spPr>
          <a:xfrm>
            <a:off x="822960" y="1874520"/>
            <a:ext cx="5295548"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ماذا تفعل؟</a:t>
            </a:r>
            <a:endParaRPr lang="ar-SA" sz="1900" dirty="0"/>
          </a:p>
        </p:txBody>
      </p:sp>
      <p:sp>
        <p:nvSpPr>
          <p:cNvPr id="11" name="anim-g1-785"/>
          <p:cNvSpPr/>
          <p:nvPr/>
        </p:nvSpPr>
        <p:spPr>
          <a:xfrm>
            <a:off x="8720961" y="2514600"/>
            <a:ext cx="2647774" cy="1100328"/>
          </a:xfrm>
          <a:prstGeom prst="roundRect">
            <a:avLst>
              <a:gd name="adj" fmla="val 9972"/>
            </a:avLst>
          </a:prstGeom>
          <a:solidFill>
            <a:srgbClr val="FBF3DF"/>
          </a:solidFill>
          <a:ln w="12700">
            <a:solidFill>
              <a:srgbClr val="EFDDAF"/>
            </a:solidFill>
            <a:prstDash val="solid"/>
          </a:ln>
        </p:spPr>
      </p:sp>
      <p:sp>
        <p:nvSpPr>
          <p:cNvPr id="12" name="anim-g1-786"/>
          <p:cNvSpPr/>
          <p:nvPr/>
        </p:nvSpPr>
        <p:spPr>
          <a:xfrm>
            <a:off x="8858121" y="2514600"/>
            <a:ext cx="2373454"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مبتدئ أو متعثر</a:t>
            </a:r>
            <a:endParaRPr lang="ar-SA" sz="2100" dirty="0"/>
          </a:p>
        </p:txBody>
      </p:sp>
      <p:sp>
        <p:nvSpPr>
          <p:cNvPr id="13" name="anim-g1-787"/>
          <p:cNvSpPr/>
          <p:nvPr/>
        </p:nvSpPr>
        <p:spPr>
          <a:xfrm>
            <a:off x="6228236" y="2514600"/>
            <a:ext cx="2382997" cy="1100328"/>
          </a:xfrm>
          <a:prstGeom prst="roundRect">
            <a:avLst>
              <a:gd name="adj" fmla="val 9972"/>
            </a:avLst>
          </a:prstGeom>
          <a:solidFill>
            <a:srgbClr val="FFFFFF"/>
          </a:solidFill>
          <a:ln w="12700">
            <a:solidFill>
              <a:srgbClr val="E4DCC8"/>
            </a:solidFill>
            <a:prstDash val="solid"/>
          </a:ln>
        </p:spPr>
      </p:sp>
      <p:sp>
        <p:nvSpPr>
          <p:cNvPr id="14" name="anim-g1-788"/>
          <p:cNvSpPr/>
          <p:nvPr/>
        </p:nvSpPr>
        <p:spPr>
          <a:xfrm>
            <a:off x="6365396" y="2514600"/>
            <a:ext cx="2108677"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 موجِّه</a:t>
            </a:r>
            <a:endParaRPr lang="ar-SA" sz="2100" dirty="0"/>
          </a:p>
        </p:txBody>
      </p:sp>
      <p:sp>
        <p:nvSpPr>
          <p:cNvPr id="15" name="anim-g1-789"/>
          <p:cNvSpPr/>
          <p:nvPr/>
        </p:nvSpPr>
        <p:spPr>
          <a:xfrm>
            <a:off x="822960" y="2514600"/>
            <a:ext cx="5295548" cy="1100328"/>
          </a:xfrm>
          <a:prstGeom prst="roundRect">
            <a:avLst>
              <a:gd name="adj" fmla="val 9972"/>
            </a:avLst>
          </a:prstGeom>
          <a:solidFill>
            <a:srgbClr val="E6F4EC"/>
          </a:solidFill>
          <a:ln w="12700">
            <a:solidFill>
              <a:srgbClr val="CDE9D9"/>
            </a:solidFill>
            <a:prstDash val="solid"/>
          </a:ln>
        </p:spPr>
      </p:sp>
      <p:sp>
        <p:nvSpPr>
          <p:cNvPr id="16" name="anim-g1-790"/>
          <p:cNvSpPr/>
          <p:nvPr/>
        </p:nvSpPr>
        <p:spPr>
          <a:xfrm>
            <a:off x="960120" y="2514600"/>
            <a:ext cx="5021228"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تحدد المعيار وتعرض النموذج وتتابع بخطوات واضحة</a:t>
            </a:r>
            <a:endParaRPr lang="ar-SA" sz="2100" dirty="0"/>
          </a:p>
        </p:txBody>
      </p:sp>
      <p:sp>
        <p:nvSpPr>
          <p:cNvPr id="17" name="anim-g2-791"/>
          <p:cNvSpPr/>
          <p:nvPr/>
        </p:nvSpPr>
        <p:spPr>
          <a:xfrm>
            <a:off x="8720961" y="3724656"/>
            <a:ext cx="2647774" cy="1100328"/>
          </a:xfrm>
          <a:prstGeom prst="roundRect">
            <a:avLst>
              <a:gd name="adj" fmla="val 9972"/>
            </a:avLst>
          </a:prstGeom>
          <a:solidFill>
            <a:srgbClr val="FBF3DF"/>
          </a:solidFill>
          <a:ln w="12700">
            <a:solidFill>
              <a:srgbClr val="EFDDAF"/>
            </a:solidFill>
            <a:prstDash val="solid"/>
          </a:ln>
        </p:spPr>
      </p:sp>
      <p:sp>
        <p:nvSpPr>
          <p:cNvPr id="18" name="anim-g2-792"/>
          <p:cNvSpPr/>
          <p:nvPr/>
        </p:nvSpPr>
        <p:spPr>
          <a:xfrm>
            <a:off x="8858121" y="3724656"/>
            <a:ext cx="2373454"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متوسط الخبرة</a:t>
            </a:r>
            <a:endParaRPr lang="ar-SA" sz="2100" dirty="0"/>
          </a:p>
        </p:txBody>
      </p:sp>
      <p:sp>
        <p:nvSpPr>
          <p:cNvPr id="19" name="anim-g2-793"/>
          <p:cNvSpPr/>
          <p:nvPr/>
        </p:nvSpPr>
        <p:spPr>
          <a:xfrm>
            <a:off x="6228236" y="3724656"/>
            <a:ext cx="2382997" cy="1100328"/>
          </a:xfrm>
          <a:prstGeom prst="roundRect">
            <a:avLst>
              <a:gd name="adj" fmla="val 9972"/>
            </a:avLst>
          </a:prstGeom>
          <a:solidFill>
            <a:srgbClr val="FFFFFF"/>
          </a:solidFill>
          <a:ln w="12700">
            <a:solidFill>
              <a:srgbClr val="E4DCC8"/>
            </a:solidFill>
            <a:prstDash val="solid"/>
          </a:ln>
        </p:spPr>
      </p:sp>
      <p:sp>
        <p:nvSpPr>
          <p:cNvPr id="20" name="anim-g2-794"/>
          <p:cNvSpPr/>
          <p:nvPr/>
        </p:nvSpPr>
        <p:spPr>
          <a:xfrm>
            <a:off x="6365396" y="3724656"/>
            <a:ext cx="2108677"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 تشاركي</a:t>
            </a:r>
            <a:endParaRPr lang="ar-SA" sz="2100" dirty="0"/>
          </a:p>
        </p:txBody>
      </p:sp>
      <p:sp>
        <p:nvSpPr>
          <p:cNvPr id="21" name="anim-g2-795"/>
          <p:cNvSpPr/>
          <p:nvPr/>
        </p:nvSpPr>
        <p:spPr>
          <a:xfrm>
            <a:off x="822960" y="3724656"/>
            <a:ext cx="5295548" cy="1100328"/>
          </a:xfrm>
          <a:prstGeom prst="roundRect">
            <a:avLst>
              <a:gd name="adj" fmla="val 9972"/>
            </a:avLst>
          </a:prstGeom>
          <a:solidFill>
            <a:srgbClr val="E6F4EC"/>
          </a:solidFill>
          <a:ln w="12700">
            <a:solidFill>
              <a:srgbClr val="CDE9D9"/>
            </a:solidFill>
            <a:prstDash val="solid"/>
          </a:ln>
        </p:spPr>
      </p:sp>
      <p:sp>
        <p:nvSpPr>
          <p:cNvPr id="22" name="anim-g2-796"/>
          <p:cNvSpPr/>
          <p:nvPr/>
        </p:nvSpPr>
        <p:spPr>
          <a:xfrm>
            <a:off x="960120" y="3724656"/>
            <a:ext cx="5021228"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تعرض وتسمع، وتتفاوضان على خطة مشتركة (الأنسب لأغلب المعلمين)</a:t>
            </a:r>
            <a:endParaRPr lang="ar-SA" sz="2100" dirty="0"/>
          </a:p>
        </p:txBody>
      </p:sp>
      <p:sp>
        <p:nvSpPr>
          <p:cNvPr id="23" name="anim-g3-797"/>
          <p:cNvSpPr/>
          <p:nvPr/>
        </p:nvSpPr>
        <p:spPr>
          <a:xfrm>
            <a:off x="8720961" y="4934712"/>
            <a:ext cx="2647774" cy="1100328"/>
          </a:xfrm>
          <a:prstGeom prst="roundRect">
            <a:avLst>
              <a:gd name="adj" fmla="val 9972"/>
            </a:avLst>
          </a:prstGeom>
          <a:solidFill>
            <a:srgbClr val="FBF3DF"/>
          </a:solidFill>
          <a:ln w="12700">
            <a:solidFill>
              <a:srgbClr val="EFDDAF"/>
            </a:solidFill>
            <a:prstDash val="solid"/>
          </a:ln>
        </p:spPr>
      </p:sp>
      <p:sp>
        <p:nvSpPr>
          <p:cNvPr id="24" name="anim-g3-798"/>
          <p:cNvSpPr/>
          <p:nvPr/>
        </p:nvSpPr>
        <p:spPr>
          <a:xfrm>
            <a:off x="8858121" y="4934712"/>
            <a:ext cx="2373454"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خبير متأمل</a:t>
            </a:r>
            <a:endParaRPr lang="ar-SA" sz="2100" dirty="0"/>
          </a:p>
        </p:txBody>
      </p:sp>
      <p:sp>
        <p:nvSpPr>
          <p:cNvPr id="25" name="anim-g3-799"/>
          <p:cNvSpPr/>
          <p:nvPr/>
        </p:nvSpPr>
        <p:spPr>
          <a:xfrm>
            <a:off x="6228236" y="4934712"/>
            <a:ext cx="2382997" cy="1100328"/>
          </a:xfrm>
          <a:prstGeom prst="roundRect">
            <a:avLst>
              <a:gd name="adj" fmla="val 9972"/>
            </a:avLst>
          </a:prstGeom>
          <a:solidFill>
            <a:srgbClr val="FFFFFF"/>
          </a:solidFill>
          <a:ln w="12700">
            <a:solidFill>
              <a:srgbClr val="E4DCC8"/>
            </a:solidFill>
            <a:prstDash val="solid"/>
          </a:ln>
        </p:spPr>
      </p:sp>
      <p:sp>
        <p:nvSpPr>
          <p:cNvPr id="26" name="anim-g3-800"/>
          <p:cNvSpPr/>
          <p:nvPr/>
        </p:nvSpPr>
        <p:spPr>
          <a:xfrm>
            <a:off x="6365396" y="4934712"/>
            <a:ext cx="2108677"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 غير موجِّه</a:t>
            </a:r>
            <a:endParaRPr lang="ar-SA" sz="2100" dirty="0"/>
          </a:p>
        </p:txBody>
      </p:sp>
      <p:sp>
        <p:nvSpPr>
          <p:cNvPr id="27" name="anim-g3-801"/>
          <p:cNvSpPr/>
          <p:nvPr/>
        </p:nvSpPr>
        <p:spPr>
          <a:xfrm>
            <a:off x="822960" y="4934712"/>
            <a:ext cx="5295548" cy="1100328"/>
          </a:xfrm>
          <a:prstGeom prst="roundRect">
            <a:avLst>
              <a:gd name="adj" fmla="val 9972"/>
            </a:avLst>
          </a:prstGeom>
          <a:solidFill>
            <a:srgbClr val="E6F4EC"/>
          </a:solidFill>
          <a:ln w="12700">
            <a:solidFill>
              <a:srgbClr val="CDE9D9"/>
            </a:solidFill>
            <a:prstDash val="solid"/>
          </a:ln>
        </p:spPr>
      </p:sp>
      <p:sp>
        <p:nvSpPr>
          <p:cNvPr id="28" name="anim-g3-802"/>
          <p:cNvSpPr/>
          <p:nvPr/>
        </p:nvSpPr>
        <p:spPr>
          <a:xfrm>
            <a:off x="960120" y="4934712"/>
            <a:ext cx="5021228"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تستمع وتوضّح وتشجّع… وهو يقرر</a:t>
            </a:r>
            <a:endParaRPr lang="ar-SA" sz="21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علبة الألوان  ·  ١١٦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name="Slide 1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F6EBCF"/>
          </a:solidFill>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أنماط الإشراف</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ثمانية ألوان في علبتك</a:t>
            </a:r>
            <a:endParaRPr lang="ar-SA" sz="3800" dirty="0"/>
          </a:p>
        </p:txBody>
      </p:sp>
      <p:sp>
        <p:nvSpPr>
          <p:cNvPr id="5" name="anim-g1-803"/>
          <p:cNvSpPr/>
          <p:nvPr/>
        </p:nvSpPr>
        <p:spPr>
          <a:xfrm>
            <a:off x="8938031" y="2011680"/>
            <a:ext cx="2430704"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804"/>
          <p:cNvSpPr/>
          <p:nvPr/>
        </p:nvSpPr>
        <p:spPr>
          <a:xfrm>
            <a:off x="10527487" y="2267712"/>
            <a:ext cx="566928" cy="566928"/>
          </a:xfrm>
          <a:prstGeom prst="roundRect">
            <a:avLst>
              <a:gd name="adj" fmla="val 32258"/>
            </a:avLst>
          </a:prstGeom>
          <a:solidFill>
            <a:srgbClr val="F7E6BC"/>
          </a:solidFill>
          <a:ln/>
        </p:spPr>
      </p:sp>
      <p:sp>
        <p:nvSpPr>
          <p:cNvPr id="7" name="anim-g1-805"/>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806"/>
          <p:cNvSpPr/>
          <p:nvPr/>
        </p:nvSpPr>
        <p:spPr>
          <a:xfrm>
            <a:off x="9212351"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التفتيشي</a:t>
            </a:r>
            <a:endParaRPr lang="ar-SA" sz="2200" dirty="0"/>
          </a:p>
        </p:txBody>
      </p:sp>
      <p:sp>
        <p:nvSpPr>
          <p:cNvPr id="9" name="anim-g1-807"/>
          <p:cNvSpPr/>
          <p:nvPr/>
        </p:nvSpPr>
        <p:spPr>
          <a:xfrm>
            <a:off x="9212351" y="3493008"/>
            <a:ext cx="1882064"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للغياب والخروج على النظام</a:t>
            </a:r>
            <a:endParaRPr lang="ar-SA" sz="1900" dirty="0"/>
          </a:p>
        </p:txBody>
      </p:sp>
      <p:sp>
        <p:nvSpPr>
          <p:cNvPr id="10" name="anim-g2-808"/>
          <p:cNvSpPr/>
          <p:nvPr/>
        </p:nvSpPr>
        <p:spPr>
          <a:xfrm>
            <a:off x="6233008" y="2011680"/>
            <a:ext cx="2430704"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809"/>
          <p:cNvSpPr/>
          <p:nvPr/>
        </p:nvSpPr>
        <p:spPr>
          <a:xfrm>
            <a:off x="7822463" y="2267712"/>
            <a:ext cx="566928" cy="566928"/>
          </a:xfrm>
          <a:prstGeom prst="roundRect">
            <a:avLst>
              <a:gd name="adj" fmla="val 32258"/>
            </a:avLst>
          </a:prstGeom>
          <a:solidFill>
            <a:srgbClr val="F7E6BC"/>
          </a:solidFill>
          <a:ln/>
        </p:spPr>
      </p:sp>
      <p:sp>
        <p:nvSpPr>
          <p:cNvPr id="12" name="anim-g2-810"/>
          <p:cNvSpPr/>
          <p:nvPr/>
        </p:nvSpPr>
        <p:spPr>
          <a:xfrm>
            <a:off x="7822463"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811"/>
          <p:cNvSpPr/>
          <p:nvPr/>
        </p:nvSpPr>
        <p:spPr>
          <a:xfrm>
            <a:off x="6507328"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الديمقراطي</a:t>
            </a:r>
            <a:endParaRPr lang="ar-SA" sz="2200" dirty="0"/>
          </a:p>
        </p:txBody>
      </p:sp>
      <p:sp>
        <p:nvSpPr>
          <p:cNvPr id="14" name="anim-g2-812"/>
          <p:cNvSpPr/>
          <p:nvPr/>
        </p:nvSpPr>
        <p:spPr>
          <a:xfrm>
            <a:off x="6507328" y="3493008"/>
            <a:ext cx="1882064"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مع المتمكنين وعند القرارات الجديدة</a:t>
            </a:r>
            <a:endParaRPr lang="ar-SA" sz="1900" dirty="0"/>
          </a:p>
        </p:txBody>
      </p:sp>
      <p:sp>
        <p:nvSpPr>
          <p:cNvPr id="15" name="anim-g3-813"/>
          <p:cNvSpPr/>
          <p:nvPr/>
        </p:nvSpPr>
        <p:spPr>
          <a:xfrm>
            <a:off x="3527984" y="2011680"/>
            <a:ext cx="2430704"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814"/>
          <p:cNvSpPr/>
          <p:nvPr/>
        </p:nvSpPr>
        <p:spPr>
          <a:xfrm>
            <a:off x="5117440" y="2267712"/>
            <a:ext cx="566928" cy="566928"/>
          </a:xfrm>
          <a:prstGeom prst="roundRect">
            <a:avLst>
              <a:gd name="adj" fmla="val 32258"/>
            </a:avLst>
          </a:prstGeom>
          <a:solidFill>
            <a:srgbClr val="F7E6BC"/>
          </a:solidFill>
          <a:ln/>
        </p:spPr>
      </p:sp>
      <p:sp>
        <p:nvSpPr>
          <p:cNvPr id="17" name="anim-g3-815"/>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816"/>
          <p:cNvSpPr/>
          <p:nvPr/>
        </p:nvSpPr>
        <p:spPr>
          <a:xfrm>
            <a:off x="3802304"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العلمي</a:t>
            </a:r>
            <a:endParaRPr lang="ar-SA" sz="2200" dirty="0"/>
          </a:p>
        </p:txBody>
      </p:sp>
      <p:sp>
        <p:nvSpPr>
          <p:cNvPr id="19" name="anim-g3-817"/>
          <p:cNvSpPr/>
          <p:nvPr/>
        </p:nvSpPr>
        <p:spPr>
          <a:xfrm>
            <a:off x="3802304" y="3493008"/>
            <a:ext cx="1882064"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بالبيانات حين يكون الموضوع مهنيًا دقيقًا</a:t>
            </a:r>
            <a:endParaRPr lang="ar-SA" sz="1900" dirty="0"/>
          </a:p>
        </p:txBody>
      </p:sp>
      <p:sp>
        <p:nvSpPr>
          <p:cNvPr id="20" name="anim-g4-818"/>
          <p:cNvSpPr/>
          <p:nvPr/>
        </p:nvSpPr>
        <p:spPr>
          <a:xfrm>
            <a:off x="822960" y="2011680"/>
            <a:ext cx="2430704"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819"/>
          <p:cNvSpPr/>
          <p:nvPr/>
        </p:nvSpPr>
        <p:spPr>
          <a:xfrm>
            <a:off x="2412416" y="2267712"/>
            <a:ext cx="566928" cy="566928"/>
          </a:xfrm>
          <a:prstGeom prst="roundRect">
            <a:avLst>
              <a:gd name="adj" fmla="val 32258"/>
            </a:avLst>
          </a:prstGeom>
          <a:solidFill>
            <a:srgbClr val="F7E6BC"/>
          </a:solidFill>
          <a:ln/>
        </p:spPr>
      </p:sp>
      <p:sp>
        <p:nvSpPr>
          <p:cNvPr id="22" name="anim-g4-820"/>
          <p:cNvSpPr/>
          <p:nvPr/>
        </p:nvSpPr>
        <p:spPr>
          <a:xfrm>
            <a:off x="2412416"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821"/>
          <p:cNvSpPr/>
          <p:nvPr/>
        </p:nvSpPr>
        <p:spPr>
          <a:xfrm>
            <a:off x="1097280"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الإبداعي</a:t>
            </a:r>
            <a:endParaRPr lang="ar-SA" sz="2200" dirty="0"/>
          </a:p>
        </p:txBody>
      </p:sp>
      <p:sp>
        <p:nvSpPr>
          <p:cNvPr id="24" name="anim-g4-822"/>
          <p:cNvSpPr/>
          <p:nvPr/>
        </p:nvSpPr>
        <p:spPr>
          <a:xfrm>
            <a:off x="1097280" y="3493008"/>
            <a:ext cx="1882064"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حين لا نص في النظام</a:t>
            </a:r>
            <a:endParaRPr lang="ar-SA" sz="1900" dirty="0"/>
          </a:p>
        </p:txBody>
      </p:sp>
      <p:sp>
        <p:nvSpPr>
          <p:cNvPr id="25" name="anim-g5-823"/>
          <p:cNvSpPr/>
          <p:nvPr/>
        </p:nvSpPr>
        <p:spPr>
          <a:xfrm>
            <a:off x="8938031" y="4137660"/>
            <a:ext cx="2430704"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6" name="anim-g5-824"/>
          <p:cNvSpPr/>
          <p:nvPr/>
        </p:nvSpPr>
        <p:spPr>
          <a:xfrm>
            <a:off x="10527487" y="4393692"/>
            <a:ext cx="566928" cy="566928"/>
          </a:xfrm>
          <a:prstGeom prst="roundRect">
            <a:avLst>
              <a:gd name="adj" fmla="val 32258"/>
            </a:avLst>
          </a:prstGeom>
          <a:solidFill>
            <a:srgbClr val="F7E6BC"/>
          </a:solidFill>
          <a:ln/>
        </p:spPr>
      </p:sp>
      <p:sp>
        <p:nvSpPr>
          <p:cNvPr id="27" name="anim-g5-825"/>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8" name="anim-g5-826"/>
          <p:cNvSpPr/>
          <p:nvPr/>
        </p:nvSpPr>
        <p:spPr>
          <a:xfrm>
            <a:off x="9212351" y="507034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التصحيحي</a:t>
            </a:r>
            <a:endParaRPr lang="ar-SA" sz="2200" dirty="0"/>
          </a:p>
        </p:txBody>
      </p:sp>
      <p:sp>
        <p:nvSpPr>
          <p:cNvPr id="29" name="anim-g5-827"/>
          <p:cNvSpPr/>
          <p:nvPr/>
        </p:nvSpPr>
        <p:spPr>
          <a:xfrm>
            <a:off x="9212351" y="5618988"/>
            <a:ext cx="1882064"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يحلّ المشكلة لا يكتفي برصدها</a:t>
            </a:r>
            <a:endParaRPr lang="ar-SA" sz="1900" dirty="0"/>
          </a:p>
        </p:txBody>
      </p:sp>
      <p:sp>
        <p:nvSpPr>
          <p:cNvPr id="30" name="anim-g6-828"/>
          <p:cNvSpPr/>
          <p:nvPr/>
        </p:nvSpPr>
        <p:spPr>
          <a:xfrm>
            <a:off x="6233008" y="4137660"/>
            <a:ext cx="2430704"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31" name="anim-g6-829"/>
          <p:cNvSpPr/>
          <p:nvPr/>
        </p:nvSpPr>
        <p:spPr>
          <a:xfrm>
            <a:off x="7822463" y="4393692"/>
            <a:ext cx="566928" cy="566928"/>
          </a:xfrm>
          <a:prstGeom prst="roundRect">
            <a:avLst>
              <a:gd name="adj" fmla="val 32258"/>
            </a:avLst>
          </a:prstGeom>
          <a:solidFill>
            <a:srgbClr val="F7E6BC"/>
          </a:solidFill>
          <a:ln/>
        </p:spPr>
      </p:sp>
      <p:sp>
        <p:nvSpPr>
          <p:cNvPr id="32" name="anim-g6-830"/>
          <p:cNvSpPr/>
          <p:nvPr/>
        </p:nvSpPr>
        <p:spPr>
          <a:xfrm>
            <a:off x="7822463"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33" name="anim-g6-831"/>
          <p:cNvSpPr/>
          <p:nvPr/>
        </p:nvSpPr>
        <p:spPr>
          <a:xfrm>
            <a:off x="6507328" y="507034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الوقائي</a:t>
            </a:r>
            <a:endParaRPr lang="ar-SA" sz="2200" dirty="0"/>
          </a:p>
        </p:txBody>
      </p:sp>
      <p:sp>
        <p:nvSpPr>
          <p:cNvPr id="34" name="anim-g6-832"/>
          <p:cNvSpPr/>
          <p:nvPr/>
        </p:nvSpPr>
        <p:spPr>
          <a:xfrm>
            <a:off x="6507328" y="5618988"/>
            <a:ext cx="1882064"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تبصير قبل نظام جديد</a:t>
            </a:r>
            <a:endParaRPr lang="ar-SA" sz="1900" dirty="0"/>
          </a:p>
        </p:txBody>
      </p:sp>
      <p:sp>
        <p:nvSpPr>
          <p:cNvPr id="35" name="anim-g7-833"/>
          <p:cNvSpPr/>
          <p:nvPr/>
        </p:nvSpPr>
        <p:spPr>
          <a:xfrm>
            <a:off x="3527984" y="4137660"/>
            <a:ext cx="2430704"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36" name="anim-g7-834"/>
          <p:cNvSpPr/>
          <p:nvPr/>
        </p:nvSpPr>
        <p:spPr>
          <a:xfrm>
            <a:off x="5117440" y="4393692"/>
            <a:ext cx="566928" cy="566928"/>
          </a:xfrm>
          <a:prstGeom prst="roundRect">
            <a:avLst>
              <a:gd name="adj" fmla="val 32258"/>
            </a:avLst>
          </a:prstGeom>
          <a:solidFill>
            <a:srgbClr val="F7E6BC"/>
          </a:solidFill>
          <a:ln/>
        </p:spPr>
      </p:sp>
      <p:sp>
        <p:nvSpPr>
          <p:cNvPr id="37" name="anim-g7-835"/>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38" name="anim-g7-836"/>
          <p:cNvSpPr/>
          <p:nvPr/>
        </p:nvSpPr>
        <p:spPr>
          <a:xfrm>
            <a:off x="3802304" y="507034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البنائي</a:t>
            </a:r>
            <a:endParaRPr lang="ar-SA" sz="2200" dirty="0"/>
          </a:p>
        </p:txBody>
      </p:sp>
      <p:sp>
        <p:nvSpPr>
          <p:cNvPr id="39" name="anim-g7-837"/>
          <p:cNvSpPr/>
          <p:nvPr/>
        </p:nvSpPr>
        <p:spPr>
          <a:xfrm>
            <a:off x="3802304" y="5618988"/>
            <a:ext cx="1882064"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المعلمون شركاء في بناء الخطة</a:t>
            </a:r>
            <a:endParaRPr lang="ar-SA" sz="1900" dirty="0"/>
          </a:p>
        </p:txBody>
      </p:sp>
      <p:sp>
        <p:nvSpPr>
          <p:cNvPr id="40" name="anim-g8-838"/>
          <p:cNvSpPr/>
          <p:nvPr/>
        </p:nvSpPr>
        <p:spPr>
          <a:xfrm>
            <a:off x="822960" y="4137660"/>
            <a:ext cx="2430704"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41" name="anim-g8-839"/>
          <p:cNvSpPr/>
          <p:nvPr/>
        </p:nvSpPr>
        <p:spPr>
          <a:xfrm>
            <a:off x="2412416" y="4393692"/>
            <a:ext cx="566928" cy="566928"/>
          </a:xfrm>
          <a:prstGeom prst="roundRect">
            <a:avLst>
              <a:gd name="adj" fmla="val 32258"/>
            </a:avLst>
          </a:prstGeom>
          <a:solidFill>
            <a:srgbClr val="F7E6BC"/>
          </a:solidFill>
          <a:ln/>
        </p:spPr>
      </p:sp>
      <p:sp>
        <p:nvSpPr>
          <p:cNvPr id="42" name="anim-g8-840"/>
          <p:cNvSpPr/>
          <p:nvPr/>
        </p:nvSpPr>
        <p:spPr>
          <a:xfrm>
            <a:off x="2412416"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43" name="anim-g8-841"/>
          <p:cNvSpPr/>
          <p:nvPr/>
        </p:nvSpPr>
        <p:spPr>
          <a:xfrm>
            <a:off x="1097280" y="507034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العيادي</a:t>
            </a:r>
            <a:endParaRPr lang="ar-SA" sz="2200" dirty="0"/>
          </a:p>
        </p:txBody>
      </p:sp>
      <p:sp>
        <p:nvSpPr>
          <p:cNvPr id="44" name="anim-g8-842"/>
          <p:cNvSpPr/>
          <p:nvPr/>
        </p:nvSpPr>
        <p:spPr>
          <a:xfrm>
            <a:off x="1097280" y="5618988"/>
            <a:ext cx="1882064"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جلسة فردية: تشخيص ومشورة</a:t>
            </a:r>
            <a:endParaRPr lang="ar-SA" sz="1900" dirty="0"/>
          </a:p>
        </p:txBody>
      </p:sp>
      <p:sp>
        <p:nvSpPr>
          <p:cNvPr id="45" name="Text 4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46" name="Text 4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علبة الألوان  ·  ١١٧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4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400"/>
                                        <p:tgtEl>
                                          <p:spTgt spid="34"/>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5"/>
                                        </p:tgtEl>
                                        <p:attrNameLst>
                                          <p:attrName>style.visibility</p:attrName>
                                        </p:attrNameLst>
                                      </p:cBhvr>
                                      <p:to>
                                        <p:strVal val="visible"/>
                                      </p:to>
                                    </p:set>
                                    <p:animEffect transition="in" filter="fade">
                                      <p:cBhvr>
                                        <p:cTn id="109" dur="400"/>
                                        <p:tgtEl>
                                          <p:spTgt spid="35"/>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6"/>
                                        </p:tgtEl>
                                        <p:attrNameLst>
                                          <p:attrName>style.visibility</p:attrName>
                                        </p:attrNameLst>
                                      </p:cBhvr>
                                      <p:to>
                                        <p:strVal val="visible"/>
                                      </p:to>
                                    </p:set>
                                    <p:animEffect transition="in" filter="fade">
                                      <p:cBhvr>
                                        <p:cTn id="112" dur="400"/>
                                        <p:tgtEl>
                                          <p:spTgt spid="36"/>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5" dur="400"/>
                                        <p:tgtEl>
                                          <p:spTgt spid="37"/>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8"/>
                                        </p:tgtEl>
                                        <p:attrNameLst>
                                          <p:attrName>style.visibility</p:attrName>
                                        </p:attrNameLst>
                                      </p:cBhvr>
                                      <p:to>
                                        <p:strVal val="visible"/>
                                      </p:to>
                                    </p:set>
                                    <p:animEffect transition="in" filter="fade">
                                      <p:cBhvr>
                                        <p:cTn id="118" dur="400"/>
                                        <p:tgtEl>
                                          <p:spTgt spid="38"/>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39"/>
                                        </p:tgtEl>
                                        <p:attrNameLst>
                                          <p:attrName>style.visibility</p:attrName>
                                        </p:attrNameLst>
                                      </p:cBhvr>
                                      <p:to>
                                        <p:strVal val="visible"/>
                                      </p:to>
                                    </p:set>
                                    <p:animEffect transition="in" filter="fade">
                                      <p:cBhvr>
                                        <p:cTn id="121" dur="400"/>
                                        <p:tgtEl>
                                          <p:spTgt spid="39"/>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grpId="0" nodeType="clickEffect">
                                  <p:stCondLst>
                                    <p:cond delay="0"/>
                                  </p:stCondLst>
                                  <p:childTnLst>
                                    <p:set>
                                      <p:cBhvr>
                                        <p:cTn id="125" dur="1" fill="hold">
                                          <p:stCondLst>
                                            <p:cond delay="0"/>
                                          </p:stCondLst>
                                        </p:cTn>
                                        <p:tgtEl>
                                          <p:spTgt spid="40"/>
                                        </p:tgtEl>
                                        <p:attrNameLst>
                                          <p:attrName>style.visibility</p:attrName>
                                        </p:attrNameLst>
                                      </p:cBhvr>
                                      <p:to>
                                        <p:strVal val="visible"/>
                                      </p:to>
                                    </p:set>
                                    <p:animEffect transition="in" filter="fade">
                                      <p:cBhvr>
                                        <p:cTn id="126" dur="400"/>
                                        <p:tgtEl>
                                          <p:spTgt spid="40"/>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1"/>
                                        </p:tgtEl>
                                        <p:attrNameLst>
                                          <p:attrName>style.visibility</p:attrName>
                                        </p:attrNameLst>
                                      </p:cBhvr>
                                      <p:to>
                                        <p:strVal val="visible"/>
                                      </p:to>
                                    </p:set>
                                    <p:animEffect transition="in" filter="fade">
                                      <p:cBhvr>
                                        <p:cTn id="129" dur="400"/>
                                        <p:tgtEl>
                                          <p:spTgt spid="41"/>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2"/>
                                        </p:tgtEl>
                                        <p:attrNameLst>
                                          <p:attrName>style.visibility</p:attrName>
                                        </p:attrNameLst>
                                      </p:cBhvr>
                                      <p:to>
                                        <p:strVal val="visible"/>
                                      </p:to>
                                    </p:set>
                                    <p:animEffect transition="in" filter="fade">
                                      <p:cBhvr>
                                        <p:cTn id="132" dur="400"/>
                                        <p:tgtEl>
                                          <p:spTgt spid="42"/>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3"/>
                                        </p:tgtEl>
                                        <p:attrNameLst>
                                          <p:attrName>style.visibility</p:attrName>
                                        </p:attrNameLst>
                                      </p:cBhvr>
                                      <p:to>
                                        <p:strVal val="visible"/>
                                      </p:to>
                                    </p:set>
                                    <p:animEffect transition="in" filter="fade">
                                      <p:cBhvr>
                                        <p:cTn id="135" dur="400"/>
                                        <p:tgtEl>
                                          <p:spTgt spid="43"/>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4"/>
                                        </p:tgtEl>
                                        <p:attrNameLst>
                                          <p:attrName>style.visibility</p:attrName>
                                        </p:attrNameLst>
                                      </p:cBhvr>
                                      <p:to>
                                        <p:strVal val="visible"/>
                                      </p:to>
                                    </p:set>
                                    <p:animEffect transition="in" filter="fade">
                                      <p:cBhvr>
                                        <p:cTn id="138"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name="Slide 1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003743" y="457200"/>
            <a:ext cx="3364992" cy="457200"/>
          </a:xfrm>
          <a:prstGeom prst="roundRect">
            <a:avLst>
              <a:gd name="adj" fmla="val 50000"/>
            </a:avLst>
          </a:prstGeom>
          <a:solidFill>
            <a:srgbClr val="F6EBCF"/>
          </a:solidFill>
          <a:ln/>
        </p:spPr>
      </p:sp>
      <p:sp>
        <p:nvSpPr>
          <p:cNvPr id="3" name="Text 1"/>
          <p:cNvSpPr/>
          <p:nvPr/>
        </p:nvSpPr>
        <p:spPr>
          <a:xfrm>
            <a:off x="8003743" y="457200"/>
            <a:ext cx="336499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اختر اللون المناسب</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نظام تقويم جديد الأسبوع القادم ولم يُدرَّب عليه المعلمون. أي أسلوب؟</a:t>
            </a:r>
            <a:endParaRPr lang="ar-SA" sz="32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التفتيشي: أزورهم بعد التطبيق وأرصد الأخطاء</a:t>
            </a:r>
            <a:endParaRPr lang="ar-SA" sz="2200" dirty="0"/>
          </a:p>
        </p:txBody>
      </p:sp>
      <p:sp>
        <p:nvSpPr>
          <p:cNvPr id="9" name="anim-g1-843"/>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844"/>
          <p:cNvSpPr/>
          <p:nvPr/>
        </p:nvSpPr>
        <p:spPr>
          <a:xfrm>
            <a:off x="10575493" y="2194560"/>
            <a:ext cx="610362" cy="610362"/>
          </a:xfrm>
          <a:prstGeom prst="roundRect">
            <a:avLst>
              <a:gd name="adj" fmla="val 17978"/>
            </a:avLst>
          </a:prstGeom>
          <a:solidFill>
            <a:srgbClr val="A3A9BA"/>
          </a:solidFill>
          <a:ln/>
        </p:spPr>
      </p:sp>
      <p:sp>
        <p:nvSpPr>
          <p:cNvPr id="11" name="anim-g1-84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846"/>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التفتيشي: أزورهم بعد التطبيق وأرصد الأخطاء</a:t>
            </a:r>
            <a:endParaRPr lang="ar-SA" sz="2200" dirty="0"/>
          </a:p>
        </p:txBody>
      </p:sp>
      <p:sp>
        <p:nvSpPr>
          <p:cNvPr id="13" name="anim-g1-847"/>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تعاقب على خطأ لم يتعلموا تجنّبه</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الوقائي: أزورهم قبل التطبيق لأبصّرهم بالصعوبات المتوقعة</a:t>
            </a:r>
            <a:endParaRPr lang="ar-SA" sz="2200" dirty="0"/>
          </a:p>
        </p:txBody>
      </p:sp>
      <p:sp>
        <p:nvSpPr>
          <p:cNvPr id="18" name="anim-g1-848"/>
          <p:cNvSpPr/>
          <p:nvPr/>
        </p:nvSpPr>
        <p:spPr>
          <a:xfrm>
            <a:off x="822960" y="3088386"/>
            <a:ext cx="10545775" cy="884682"/>
          </a:xfrm>
          <a:prstGeom prst="roundRect">
            <a:avLst>
              <a:gd name="adj" fmla="val 16537"/>
            </a:avLst>
          </a:prstGeom>
          <a:solidFill>
            <a:srgbClr val="E6F4EC"/>
          </a:solidFill>
          <a:ln w="31750">
            <a:solidFill>
              <a:srgbClr val="2E9E6B"/>
            </a:solidFill>
            <a:prstDash val="solid"/>
          </a:ln>
        </p:spPr>
      </p:sp>
      <p:sp>
        <p:nvSpPr>
          <p:cNvPr id="19" name="anim-g1-849"/>
          <p:cNvSpPr/>
          <p:nvPr/>
        </p:nvSpPr>
        <p:spPr>
          <a:xfrm>
            <a:off x="10575493" y="3225546"/>
            <a:ext cx="610362" cy="610362"/>
          </a:xfrm>
          <a:prstGeom prst="roundRect">
            <a:avLst>
              <a:gd name="adj" fmla="val 17978"/>
            </a:avLst>
          </a:prstGeom>
          <a:solidFill>
            <a:srgbClr val="2E9E6B"/>
          </a:solidFill>
          <a:ln/>
        </p:spPr>
      </p:sp>
      <p:sp>
        <p:nvSpPr>
          <p:cNvPr id="20" name="anim-g1-850"/>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21" name="anim-g1-851"/>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الوقائي: أزورهم قبل التطبيق لأبصّرهم بالصعوبات المتوقعة</a:t>
            </a:r>
            <a:endParaRPr lang="ar-SA" sz="2200" dirty="0"/>
          </a:p>
        </p:txBody>
      </p:sp>
      <p:sp>
        <p:nvSpPr>
          <p:cNvPr id="22" name="anim-g1-852"/>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الوقاية قبل الإصابة</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غير الموجِّه: أتركهم يكتشفون بأنفسهم</a:t>
            </a:r>
            <a:endParaRPr lang="ar-SA" sz="2200" dirty="0"/>
          </a:p>
        </p:txBody>
      </p:sp>
      <p:sp>
        <p:nvSpPr>
          <p:cNvPr id="27" name="anim-g1-853"/>
          <p:cNvSpPr/>
          <p:nvPr/>
        </p:nvSpPr>
        <p:spPr>
          <a:xfrm>
            <a:off x="822960" y="4119372"/>
            <a:ext cx="10545775" cy="884682"/>
          </a:xfrm>
          <a:prstGeom prst="roundRect">
            <a:avLst>
              <a:gd name="adj" fmla="val 16537"/>
            </a:avLst>
          </a:prstGeom>
          <a:solidFill>
            <a:srgbClr val="F7F7F9"/>
          </a:solidFill>
          <a:ln w="19050">
            <a:solidFill>
              <a:srgbClr val="E4DCC8"/>
            </a:solidFill>
            <a:prstDash val="solid"/>
          </a:ln>
        </p:spPr>
      </p:sp>
      <p:sp>
        <p:nvSpPr>
          <p:cNvPr id="28" name="anim-g1-854"/>
          <p:cNvSpPr/>
          <p:nvPr/>
        </p:nvSpPr>
        <p:spPr>
          <a:xfrm>
            <a:off x="10575493" y="4256532"/>
            <a:ext cx="610362" cy="610362"/>
          </a:xfrm>
          <a:prstGeom prst="roundRect">
            <a:avLst>
              <a:gd name="adj" fmla="val 17978"/>
            </a:avLst>
          </a:prstGeom>
          <a:solidFill>
            <a:srgbClr val="A3A9BA"/>
          </a:solidFill>
          <a:ln/>
        </p:spPr>
      </p:sp>
      <p:sp>
        <p:nvSpPr>
          <p:cNvPr id="29" name="anim-g1-855"/>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30" name="anim-g1-856"/>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غير الموجِّه: أتركهم يكتشفون بأنفسهم</a:t>
            </a:r>
            <a:endParaRPr lang="ar-SA" sz="2200" dirty="0"/>
          </a:p>
        </p:txBody>
      </p:sp>
      <p:sp>
        <p:nvSpPr>
          <p:cNvPr id="31" name="anim-g1-857"/>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ليسوا خبراء في نظام جديد</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التصحيحي: أنتظر الأخطاء ثم أصححها</a:t>
            </a:r>
            <a:endParaRPr lang="ar-SA" sz="2200" dirty="0"/>
          </a:p>
        </p:txBody>
      </p:sp>
      <p:sp>
        <p:nvSpPr>
          <p:cNvPr id="36" name="anim-g1-858"/>
          <p:cNvSpPr/>
          <p:nvPr/>
        </p:nvSpPr>
        <p:spPr>
          <a:xfrm>
            <a:off x="822960" y="5150358"/>
            <a:ext cx="10545775" cy="884682"/>
          </a:xfrm>
          <a:prstGeom prst="roundRect">
            <a:avLst>
              <a:gd name="adj" fmla="val 16537"/>
            </a:avLst>
          </a:prstGeom>
          <a:solidFill>
            <a:srgbClr val="F7F7F9"/>
          </a:solidFill>
          <a:ln w="19050">
            <a:solidFill>
              <a:srgbClr val="E4DCC8"/>
            </a:solidFill>
            <a:prstDash val="solid"/>
          </a:ln>
        </p:spPr>
      </p:sp>
      <p:sp>
        <p:nvSpPr>
          <p:cNvPr id="37" name="anim-g1-859"/>
          <p:cNvSpPr/>
          <p:nvPr/>
        </p:nvSpPr>
        <p:spPr>
          <a:xfrm>
            <a:off x="10575493" y="5287518"/>
            <a:ext cx="610362" cy="610362"/>
          </a:xfrm>
          <a:prstGeom prst="roundRect">
            <a:avLst>
              <a:gd name="adj" fmla="val 17978"/>
            </a:avLst>
          </a:prstGeom>
          <a:solidFill>
            <a:srgbClr val="A3A9BA"/>
          </a:solidFill>
          <a:ln/>
        </p:spPr>
      </p:sp>
      <p:sp>
        <p:nvSpPr>
          <p:cNvPr id="38" name="anim-g1-860"/>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9" name="anim-g1-861"/>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التصحيحي: أنتظر الأخطاء ثم أصححها</a:t>
            </a:r>
            <a:endParaRPr lang="ar-SA" sz="2200" dirty="0"/>
          </a:p>
        </p:txBody>
      </p:sp>
      <p:sp>
        <p:nvSpPr>
          <p:cNvPr id="40" name="anim-g1-862"/>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كان يمكن منع الخطأ أصلًا</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علبة الألوان  ·  ١١٨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pic>
        <p:nvPicPr>
          <p:cNvPr id="2" name="Image 0" descr="/Users/mac/dev/younes-training/ishraf/.pptx-cache/s1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003743" y="457200"/>
            <a:ext cx="3364992" cy="457200"/>
          </a:xfrm>
          <a:prstGeom prst="roundRect">
            <a:avLst>
              <a:gd name="adj" fmla="val 50000"/>
            </a:avLst>
          </a:prstGeom>
          <a:solidFill>
            <a:srgbClr val="F6EBCF"/>
          </a:solidFill>
          <a:ln/>
        </p:spPr>
      </p:sp>
      <p:sp>
        <p:nvSpPr>
          <p:cNvPr id="3" name="Text 1"/>
          <p:cNvSpPr/>
          <p:nvPr/>
        </p:nvSpPr>
        <p:spPr>
          <a:xfrm>
            <a:off x="8003743" y="457200"/>
            <a:ext cx="336499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اختر اللون المناسب</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معلم تأخر ٢٠ دقيقة للمرة الرابعة هذا الشهر. أي أسلوب؟</a:t>
            </a:r>
            <a:endParaRPr lang="ar-SA" sz="32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العيادي: جلسة مشورة ودية فقط</a:t>
            </a:r>
            <a:endParaRPr lang="ar-SA" sz="2200" dirty="0"/>
          </a:p>
        </p:txBody>
      </p:sp>
      <p:sp>
        <p:nvSpPr>
          <p:cNvPr id="9" name="anim-g1-863"/>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864"/>
          <p:cNvSpPr/>
          <p:nvPr/>
        </p:nvSpPr>
        <p:spPr>
          <a:xfrm>
            <a:off x="10575493" y="2194560"/>
            <a:ext cx="610362" cy="610362"/>
          </a:xfrm>
          <a:prstGeom prst="roundRect">
            <a:avLst>
              <a:gd name="adj" fmla="val 17978"/>
            </a:avLst>
          </a:prstGeom>
          <a:solidFill>
            <a:srgbClr val="A3A9BA"/>
          </a:solidFill>
          <a:ln/>
        </p:spPr>
      </p:sp>
      <p:sp>
        <p:nvSpPr>
          <p:cNvPr id="11" name="anim-g1-86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866"/>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العيادي: جلسة مشورة ودية فقط</a:t>
            </a:r>
            <a:endParaRPr lang="ar-SA" sz="2200" dirty="0"/>
          </a:p>
        </p:txBody>
      </p:sp>
      <p:sp>
        <p:nvSpPr>
          <p:cNvPr id="13" name="anim-g1-867"/>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لا يكفي وحده مع التكرار</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التفتيشي: رصد موثّق وإجراء نظامي</a:t>
            </a:r>
            <a:endParaRPr lang="ar-SA" sz="2200" dirty="0"/>
          </a:p>
        </p:txBody>
      </p:sp>
      <p:sp>
        <p:nvSpPr>
          <p:cNvPr id="18" name="anim-g1-868"/>
          <p:cNvSpPr/>
          <p:nvPr/>
        </p:nvSpPr>
        <p:spPr>
          <a:xfrm>
            <a:off x="822960" y="3088386"/>
            <a:ext cx="10545775" cy="884682"/>
          </a:xfrm>
          <a:prstGeom prst="roundRect">
            <a:avLst>
              <a:gd name="adj" fmla="val 16537"/>
            </a:avLst>
          </a:prstGeom>
          <a:solidFill>
            <a:srgbClr val="E6F4EC"/>
          </a:solidFill>
          <a:ln w="31750">
            <a:solidFill>
              <a:srgbClr val="2E9E6B"/>
            </a:solidFill>
            <a:prstDash val="solid"/>
          </a:ln>
        </p:spPr>
      </p:sp>
      <p:sp>
        <p:nvSpPr>
          <p:cNvPr id="19" name="anim-g1-869"/>
          <p:cNvSpPr/>
          <p:nvPr/>
        </p:nvSpPr>
        <p:spPr>
          <a:xfrm>
            <a:off x="10575493" y="3225546"/>
            <a:ext cx="610362" cy="610362"/>
          </a:xfrm>
          <a:prstGeom prst="roundRect">
            <a:avLst>
              <a:gd name="adj" fmla="val 17978"/>
            </a:avLst>
          </a:prstGeom>
          <a:solidFill>
            <a:srgbClr val="2E9E6B"/>
          </a:solidFill>
          <a:ln/>
        </p:spPr>
      </p:sp>
      <p:sp>
        <p:nvSpPr>
          <p:cNvPr id="20" name="anim-g1-870"/>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21" name="anim-g1-871"/>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التفتيشي: رصد موثّق وإجراء نظامي</a:t>
            </a:r>
            <a:endParaRPr lang="ar-SA" sz="2200" dirty="0"/>
          </a:p>
        </p:txBody>
      </p:sp>
      <p:sp>
        <p:nvSpPr>
          <p:cNvPr id="22" name="anim-g1-872"/>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حق الطلاب أولًا… مع السؤال عن السبب</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الديمقراطي: نناقش الأمر مع المعلمين</a:t>
            </a:r>
            <a:endParaRPr lang="ar-SA" sz="2200" dirty="0"/>
          </a:p>
        </p:txBody>
      </p:sp>
      <p:sp>
        <p:nvSpPr>
          <p:cNvPr id="27" name="anim-g1-873"/>
          <p:cNvSpPr/>
          <p:nvPr/>
        </p:nvSpPr>
        <p:spPr>
          <a:xfrm>
            <a:off x="822960" y="4119372"/>
            <a:ext cx="10545775" cy="884682"/>
          </a:xfrm>
          <a:prstGeom prst="roundRect">
            <a:avLst>
              <a:gd name="adj" fmla="val 16537"/>
            </a:avLst>
          </a:prstGeom>
          <a:solidFill>
            <a:srgbClr val="F7F7F9"/>
          </a:solidFill>
          <a:ln w="19050">
            <a:solidFill>
              <a:srgbClr val="E4DCC8"/>
            </a:solidFill>
            <a:prstDash val="solid"/>
          </a:ln>
        </p:spPr>
      </p:sp>
      <p:sp>
        <p:nvSpPr>
          <p:cNvPr id="28" name="anim-g1-874"/>
          <p:cNvSpPr/>
          <p:nvPr/>
        </p:nvSpPr>
        <p:spPr>
          <a:xfrm>
            <a:off x="10575493" y="4256532"/>
            <a:ext cx="610362" cy="610362"/>
          </a:xfrm>
          <a:prstGeom prst="roundRect">
            <a:avLst>
              <a:gd name="adj" fmla="val 17978"/>
            </a:avLst>
          </a:prstGeom>
          <a:solidFill>
            <a:srgbClr val="A3A9BA"/>
          </a:solidFill>
          <a:ln/>
        </p:spPr>
      </p:sp>
      <p:sp>
        <p:nvSpPr>
          <p:cNvPr id="29" name="anim-g1-875"/>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30" name="anim-g1-876"/>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الديمقراطي: نناقش الأمر مع المعلمين</a:t>
            </a:r>
            <a:endParaRPr lang="ar-SA" sz="2200" dirty="0"/>
          </a:p>
        </p:txBody>
      </p:sp>
      <p:sp>
        <p:nvSpPr>
          <p:cNvPr id="31" name="anim-g1-877"/>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فضحٌ لا علاج</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أتغاضى حفاظًا على العلاقة</a:t>
            </a:r>
            <a:endParaRPr lang="ar-SA" sz="2200" dirty="0"/>
          </a:p>
        </p:txBody>
      </p:sp>
      <p:sp>
        <p:nvSpPr>
          <p:cNvPr id="36" name="anim-g1-878"/>
          <p:cNvSpPr/>
          <p:nvPr/>
        </p:nvSpPr>
        <p:spPr>
          <a:xfrm>
            <a:off x="822960" y="5150358"/>
            <a:ext cx="10545775" cy="884682"/>
          </a:xfrm>
          <a:prstGeom prst="roundRect">
            <a:avLst>
              <a:gd name="adj" fmla="val 16537"/>
            </a:avLst>
          </a:prstGeom>
          <a:solidFill>
            <a:srgbClr val="F7F7F9"/>
          </a:solidFill>
          <a:ln w="19050">
            <a:solidFill>
              <a:srgbClr val="E4DCC8"/>
            </a:solidFill>
            <a:prstDash val="solid"/>
          </a:ln>
        </p:spPr>
      </p:sp>
      <p:sp>
        <p:nvSpPr>
          <p:cNvPr id="37" name="anim-g1-879"/>
          <p:cNvSpPr/>
          <p:nvPr/>
        </p:nvSpPr>
        <p:spPr>
          <a:xfrm>
            <a:off x="10575493" y="5287518"/>
            <a:ext cx="610362" cy="610362"/>
          </a:xfrm>
          <a:prstGeom prst="roundRect">
            <a:avLst>
              <a:gd name="adj" fmla="val 17978"/>
            </a:avLst>
          </a:prstGeom>
          <a:solidFill>
            <a:srgbClr val="A3A9BA"/>
          </a:solidFill>
          <a:ln/>
        </p:spPr>
      </p:sp>
      <p:sp>
        <p:nvSpPr>
          <p:cNvPr id="38" name="anim-g1-880"/>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9" name="anim-g1-881"/>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أتغاضى حفاظًا على العلاقة</a:t>
            </a:r>
            <a:endParaRPr lang="ar-SA" sz="2200" dirty="0"/>
          </a:p>
        </p:txBody>
      </p:sp>
      <p:sp>
        <p:nvSpPr>
          <p:cNvPr id="40" name="anim-g1-882"/>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تغطية تظلم الطلاب</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علبة الألوان  ·  ١٢٠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pic>
        <p:nvPicPr>
          <p:cNvPr id="2" name="Image 0" descr="/Users/mac/dev/younes-training/ishraf/.pptx-cache/s1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أساليب الإشراف</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أربع قنوات… اختر ما يناسب المهمة</a:t>
            </a:r>
            <a:endParaRPr lang="ar-SA" sz="3800" dirty="0"/>
          </a:p>
        </p:txBody>
      </p:sp>
      <p:sp>
        <p:nvSpPr>
          <p:cNvPr id="5" name="anim-g1-883"/>
          <p:cNvSpPr/>
          <p:nvPr/>
        </p:nvSpPr>
        <p:spPr>
          <a:xfrm>
            <a:off x="8938031"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884"/>
          <p:cNvSpPr/>
          <p:nvPr/>
        </p:nvSpPr>
        <p:spPr>
          <a:xfrm>
            <a:off x="10527487" y="2267712"/>
            <a:ext cx="566928" cy="566928"/>
          </a:xfrm>
          <a:prstGeom prst="roundRect">
            <a:avLst>
              <a:gd name="adj" fmla="val 32258"/>
            </a:avLst>
          </a:prstGeom>
          <a:solidFill>
            <a:srgbClr val="F7E6BC"/>
          </a:solidFill>
          <a:ln/>
        </p:spPr>
      </p:sp>
      <p:sp>
        <p:nvSpPr>
          <p:cNvPr id="7" name="anim-g1-885"/>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886"/>
          <p:cNvSpPr/>
          <p:nvPr/>
        </p:nvSpPr>
        <p:spPr>
          <a:xfrm>
            <a:off x="9212351"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فردية</a:t>
            </a:r>
            <a:endParaRPr lang="ar-SA" sz="2200" dirty="0"/>
          </a:p>
        </p:txBody>
      </p:sp>
      <p:sp>
        <p:nvSpPr>
          <p:cNvPr id="9" name="anim-g1-887"/>
          <p:cNvSpPr/>
          <p:nvPr/>
        </p:nvSpPr>
        <p:spPr>
          <a:xfrm>
            <a:off x="9212351"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زيارة صفية، مقابلة قصيرة، ملاحظات مكتوبة على خطة الدرس</a:t>
            </a:r>
            <a:endParaRPr lang="ar-SA" sz="1900" dirty="0"/>
          </a:p>
        </p:txBody>
      </p:sp>
      <p:sp>
        <p:nvSpPr>
          <p:cNvPr id="10" name="anim-g2-888"/>
          <p:cNvSpPr/>
          <p:nvPr/>
        </p:nvSpPr>
        <p:spPr>
          <a:xfrm>
            <a:off x="6233008"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889"/>
          <p:cNvSpPr/>
          <p:nvPr/>
        </p:nvSpPr>
        <p:spPr>
          <a:xfrm>
            <a:off x="7822463" y="2267712"/>
            <a:ext cx="566928" cy="566928"/>
          </a:xfrm>
          <a:prstGeom prst="roundRect">
            <a:avLst>
              <a:gd name="adj" fmla="val 32258"/>
            </a:avLst>
          </a:prstGeom>
          <a:solidFill>
            <a:srgbClr val="F7E6BC"/>
          </a:solidFill>
          <a:ln/>
        </p:spPr>
      </p:sp>
      <p:sp>
        <p:nvSpPr>
          <p:cNvPr id="12" name="anim-g2-890"/>
          <p:cNvSpPr/>
          <p:nvPr/>
        </p:nvSpPr>
        <p:spPr>
          <a:xfrm>
            <a:off x="7822463"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891"/>
          <p:cNvSpPr/>
          <p:nvPr/>
        </p:nvSpPr>
        <p:spPr>
          <a:xfrm>
            <a:off x="6507328"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جماعية</a:t>
            </a:r>
            <a:endParaRPr lang="ar-SA" sz="2200" dirty="0"/>
          </a:p>
        </p:txBody>
      </p:sp>
      <p:sp>
        <p:nvSpPr>
          <p:cNvPr id="14" name="anim-g2-892"/>
          <p:cNvSpPr/>
          <p:nvPr/>
        </p:nvSpPr>
        <p:spPr>
          <a:xfrm>
            <a:off x="6507328"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اجتماع أسبوعي، ورشة سريعة، درس نموذجي، مجتمع تعلم</a:t>
            </a:r>
            <a:endParaRPr lang="ar-SA" sz="1900" dirty="0"/>
          </a:p>
        </p:txBody>
      </p:sp>
      <p:sp>
        <p:nvSpPr>
          <p:cNvPr id="15" name="anim-g3-893"/>
          <p:cNvSpPr/>
          <p:nvPr/>
        </p:nvSpPr>
        <p:spPr>
          <a:xfrm>
            <a:off x="3527984"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894"/>
          <p:cNvSpPr/>
          <p:nvPr/>
        </p:nvSpPr>
        <p:spPr>
          <a:xfrm>
            <a:off x="5117440" y="2267712"/>
            <a:ext cx="566928" cy="566928"/>
          </a:xfrm>
          <a:prstGeom prst="roundRect">
            <a:avLst>
              <a:gd name="adj" fmla="val 32258"/>
            </a:avLst>
          </a:prstGeom>
          <a:solidFill>
            <a:srgbClr val="F7E6BC"/>
          </a:solidFill>
          <a:ln/>
        </p:spPr>
      </p:sp>
      <p:sp>
        <p:nvSpPr>
          <p:cNvPr id="17" name="anim-g3-895"/>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896"/>
          <p:cNvSpPr/>
          <p:nvPr/>
        </p:nvSpPr>
        <p:spPr>
          <a:xfrm>
            <a:off x="3802304"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رقمية</a:t>
            </a:r>
            <a:endParaRPr lang="ar-SA" sz="2200" dirty="0"/>
          </a:p>
        </p:txBody>
      </p:sp>
      <p:sp>
        <p:nvSpPr>
          <p:cNvPr id="19" name="anim-g3-897"/>
          <p:cNvSpPr/>
          <p:nvPr/>
        </p:nvSpPr>
        <p:spPr>
          <a:xfrm>
            <a:off x="3802304"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لقاء عن بُعد، لوحة متابعة، نظام نور، رسالة موجّهة</a:t>
            </a:r>
            <a:endParaRPr lang="ar-SA" sz="1900" dirty="0"/>
          </a:p>
        </p:txBody>
      </p:sp>
      <p:sp>
        <p:nvSpPr>
          <p:cNvPr id="20" name="anim-g4-898"/>
          <p:cNvSpPr/>
          <p:nvPr/>
        </p:nvSpPr>
        <p:spPr>
          <a:xfrm>
            <a:off x="822960"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899"/>
          <p:cNvSpPr/>
          <p:nvPr/>
        </p:nvSpPr>
        <p:spPr>
          <a:xfrm>
            <a:off x="2412416" y="2267712"/>
            <a:ext cx="566928" cy="566928"/>
          </a:xfrm>
          <a:prstGeom prst="roundRect">
            <a:avLst>
              <a:gd name="adj" fmla="val 32258"/>
            </a:avLst>
          </a:prstGeom>
          <a:solidFill>
            <a:srgbClr val="F7E6BC"/>
          </a:solidFill>
          <a:ln/>
        </p:spPr>
      </p:sp>
      <p:sp>
        <p:nvSpPr>
          <p:cNvPr id="22" name="anim-g4-900"/>
          <p:cNvSpPr/>
          <p:nvPr/>
        </p:nvSpPr>
        <p:spPr>
          <a:xfrm>
            <a:off x="2412416"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901"/>
          <p:cNvSpPr/>
          <p:nvPr/>
        </p:nvSpPr>
        <p:spPr>
          <a:xfrm>
            <a:off x="1097280"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ميدانية</a:t>
            </a:r>
            <a:endParaRPr lang="ar-SA" sz="2200" dirty="0"/>
          </a:p>
        </p:txBody>
      </p:sp>
      <p:sp>
        <p:nvSpPr>
          <p:cNvPr id="24" name="anim-g4-902"/>
          <p:cNvSpPr/>
          <p:nvPr/>
        </p:nvSpPr>
        <p:spPr>
          <a:xfrm>
            <a:off x="1097280"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جولة في المدرسة، ملاحظة مباشرة، تدريب لحظي</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علبة الألوان  ·  ١٢٢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name="Slide 1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من العالم إلى مدرستك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ثلاثة أساليب جماعية جرّبها هذا الفصل</a:t>
            </a:r>
            <a:endParaRPr lang="ar-SA" sz="3200" dirty="0"/>
          </a:p>
        </p:txBody>
      </p:sp>
      <p:sp>
        <p:nvSpPr>
          <p:cNvPr id="5" name="anim-g1-903"/>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904"/>
          <p:cNvSpPr/>
          <p:nvPr/>
        </p:nvSpPr>
        <p:spPr>
          <a:xfrm>
            <a:off x="10362895" y="2404872"/>
            <a:ext cx="731520" cy="731520"/>
          </a:xfrm>
          <a:prstGeom prst="roundRect">
            <a:avLst>
              <a:gd name="adj" fmla="val 25000"/>
            </a:avLst>
          </a:prstGeom>
          <a:solidFill>
            <a:srgbClr val="F7E6BC"/>
          </a:solidFill>
          <a:ln/>
        </p:spPr>
      </p:sp>
      <p:sp>
        <p:nvSpPr>
          <p:cNvPr id="7" name="anim-g1-905"/>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906"/>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الدرس النموذجي</a:t>
            </a:r>
            <a:endParaRPr lang="ar-SA" sz="2300" dirty="0"/>
          </a:p>
        </p:txBody>
      </p:sp>
      <p:sp>
        <p:nvSpPr>
          <p:cNvPr id="9" name="anim-g1-907"/>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معلم متميز يقدّم، والزملاء يلاحظون الطلاب… لا لـ«الفطور الجماعي»!</a:t>
            </a:r>
            <a:endParaRPr lang="ar-SA" sz="2100" dirty="0"/>
          </a:p>
        </p:txBody>
      </p:sp>
      <p:sp>
        <p:nvSpPr>
          <p:cNvPr id="10" name="anim-g2-908"/>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909"/>
          <p:cNvSpPr/>
          <p:nvPr/>
        </p:nvSpPr>
        <p:spPr>
          <a:xfrm>
            <a:off x="6756197" y="2404872"/>
            <a:ext cx="731520" cy="731520"/>
          </a:xfrm>
          <a:prstGeom prst="roundRect">
            <a:avLst>
              <a:gd name="adj" fmla="val 25000"/>
            </a:avLst>
          </a:prstGeom>
          <a:solidFill>
            <a:srgbClr val="F7E6BC"/>
          </a:solidFill>
          <a:ln/>
        </p:spPr>
      </p:sp>
      <p:sp>
        <p:nvSpPr>
          <p:cNvPr id="12" name="anim-g2-910"/>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911"/>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الدرس البحثي</a:t>
            </a:r>
            <a:endParaRPr lang="ar-SA" sz="2300" dirty="0"/>
          </a:p>
        </p:txBody>
      </p:sp>
      <p:sp>
        <p:nvSpPr>
          <p:cNvPr id="14" name="anim-g2-912"/>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ثلاثة معلمين يخططون حصة واحدة، يدرّسها أحدهم، ويعدّلونها معًا</a:t>
            </a:r>
            <a:endParaRPr lang="ar-SA" sz="2100" dirty="0"/>
          </a:p>
        </p:txBody>
      </p:sp>
      <p:sp>
        <p:nvSpPr>
          <p:cNvPr id="15" name="anim-g3-913"/>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14"/>
          <p:cNvSpPr/>
          <p:nvPr/>
        </p:nvSpPr>
        <p:spPr>
          <a:xfrm>
            <a:off x="3149498" y="2404872"/>
            <a:ext cx="731520" cy="731520"/>
          </a:xfrm>
          <a:prstGeom prst="roundRect">
            <a:avLst>
              <a:gd name="adj" fmla="val 25000"/>
            </a:avLst>
          </a:prstGeom>
          <a:solidFill>
            <a:srgbClr val="F7E6BC"/>
          </a:solidFill>
          <a:ln/>
        </p:spPr>
      </p:sp>
      <p:sp>
        <p:nvSpPr>
          <p:cNvPr id="17" name="anim-g3-915"/>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916"/>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الجولة التعليمية</a:t>
            </a:r>
            <a:endParaRPr lang="ar-SA" sz="2300" dirty="0"/>
          </a:p>
        </p:txBody>
      </p:sp>
      <p:sp>
        <p:nvSpPr>
          <p:cNvPr id="19" name="anim-g3-917"/>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فريق صغير يزور ٤ فصول ٢٠ دقيقة بحثًا عن نمط… لا عن مخطئ</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علبة الألوان  ·  ١٢٣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name="Slide 1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المحطة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المشرف بأسلوب واحد…</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ربعُ مشرف</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علبة الألوان  ·  ١٢٤</a:t>
            </a:r>
            <a:endParaRPr lang="ar-SA" sz="12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مصادر المحطة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المراجع</a:t>
            </a:r>
            <a:endParaRPr lang="ar-SA" sz="3800" dirty="0"/>
          </a:p>
        </p:txBody>
      </p:sp>
      <p:sp>
        <p:nvSpPr>
          <p:cNvPr id="5" name="anim-g1-918"/>
          <p:cNvSpPr/>
          <p:nvPr/>
        </p:nvSpPr>
        <p:spPr>
          <a:xfrm>
            <a:off x="822960" y="1920240"/>
            <a:ext cx="10545775" cy="1298448"/>
          </a:xfrm>
          <a:prstGeom prst="roundRect">
            <a:avLst>
              <a:gd name="adj" fmla="val 11268"/>
            </a:avLst>
          </a:prstGeom>
          <a:solidFill>
            <a:srgbClr val="FFFFFF"/>
          </a:solidFill>
          <a:ln w="12700">
            <a:solidFill>
              <a:srgbClr val="E4DCC8"/>
            </a:solidFill>
            <a:prstDash val="solid"/>
          </a:ln>
        </p:spPr>
      </p:sp>
      <p:sp>
        <p:nvSpPr>
          <p:cNvPr id="6" name="anim-g1-919"/>
          <p:cNvSpPr/>
          <p:nvPr/>
        </p:nvSpPr>
        <p:spPr>
          <a:xfrm>
            <a:off x="10573207" y="2286000"/>
            <a:ext cx="566928" cy="566928"/>
          </a:xfrm>
          <a:prstGeom prst="ellipse">
            <a:avLst/>
          </a:prstGeom>
          <a:solidFill>
            <a:srgbClr val="D9AE4B"/>
          </a:solidFill>
          <a:ln/>
        </p:spPr>
      </p:sp>
      <p:sp>
        <p:nvSpPr>
          <p:cNvPr id="7" name="anim-g1-920"/>
          <p:cNvSpPr/>
          <p:nvPr/>
        </p:nvSpPr>
        <p:spPr>
          <a:xfrm>
            <a:off x="10573207" y="228600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921"/>
          <p:cNvSpPr/>
          <p:nvPr/>
        </p:nvSpPr>
        <p:spPr>
          <a:xfrm>
            <a:off x="1097280" y="1920240"/>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Glickman, C., Gordon, S. &amp; Ross-Gordon, J. SuperVision and Instructional Leadership: A Developmental Approach</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الإشراف التطوري</a:t>
            </a:r>
            <a:endParaRPr lang="ar-SA" sz="2400" dirty="0"/>
          </a:p>
        </p:txBody>
      </p:sp>
      <p:sp>
        <p:nvSpPr>
          <p:cNvPr id="9" name="anim-g2-922"/>
          <p:cNvSpPr/>
          <p:nvPr/>
        </p:nvSpPr>
        <p:spPr>
          <a:xfrm>
            <a:off x="822960" y="3328416"/>
            <a:ext cx="10545775" cy="1298448"/>
          </a:xfrm>
          <a:prstGeom prst="roundRect">
            <a:avLst>
              <a:gd name="adj" fmla="val 11268"/>
            </a:avLst>
          </a:prstGeom>
          <a:solidFill>
            <a:srgbClr val="FFFFFF"/>
          </a:solidFill>
          <a:ln w="12700">
            <a:solidFill>
              <a:srgbClr val="E4DCC8"/>
            </a:solidFill>
            <a:prstDash val="solid"/>
          </a:ln>
        </p:spPr>
      </p:sp>
      <p:sp>
        <p:nvSpPr>
          <p:cNvPr id="10" name="anim-g2-923"/>
          <p:cNvSpPr/>
          <p:nvPr/>
        </p:nvSpPr>
        <p:spPr>
          <a:xfrm>
            <a:off x="10573207" y="3694176"/>
            <a:ext cx="566928" cy="566928"/>
          </a:xfrm>
          <a:prstGeom prst="ellipse">
            <a:avLst/>
          </a:prstGeom>
          <a:solidFill>
            <a:srgbClr val="D9AE4B"/>
          </a:solidFill>
          <a:ln/>
        </p:spPr>
      </p:sp>
      <p:sp>
        <p:nvSpPr>
          <p:cNvPr id="11" name="anim-g2-924"/>
          <p:cNvSpPr/>
          <p:nvPr/>
        </p:nvSpPr>
        <p:spPr>
          <a:xfrm>
            <a:off x="10573207" y="3694176"/>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925"/>
          <p:cNvSpPr/>
          <p:nvPr/>
        </p:nvSpPr>
        <p:spPr>
          <a:xfrm>
            <a:off x="1097280" y="3328416"/>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Glickman, C. (1980). The Developmental Approach to Supervision. Educational Leadership</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الأساليب الثلاثة</a:t>
            </a:r>
            <a:endParaRPr lang="ar-SA" sz="2400" dirty="0"/>
          </a:p>
        </p:txBody>
      </p:sp>
      <p:sp>
        <p:nvSpPr>
          <p:cNvPr id="13" name="anim-g3-926"/>
          <p:cNvSpPr/>
          <p:nvPr/>
        </p:nvSpPr>
        <p:spPr>
          <a:xfrm>
            <a:off x="822960" y="4736592"/>
            <a:ext cx="10545775" cy="1298448"/>
          </a:xfrm>
          <a:prstGeom prst="roundRect">
            <a:avLst>
              <a:gd name="adj" fmla="val 11268"/>
            </a:avLst>
          </a:prstGeom>
          <a:solidFill>
            <a:srgbClr val="FFFFFF"/>
          </a:solidFill>
          <a:ln w="12700">
            <a:solidFill>
              <a:srgbClr val="E4DCC8"/>
            </a:solidFill>
            <a:prstDash val="solid"/>
          </a:ln>
        </p:spPr>
      </p:sp>
      <p:sp>
        <p:nvSpPr>
          <p:cNvPr id="14" name="anim-g3-927"/>
          <p:cNvSpPr/>
          <p:nvPr/>
        </p:nvSpPr>
        <p:spPr>
          <a:xfrm>
            <a:off x="10573207" y="5102352"/>
            <a:ext cx="566928" cy="566928"/>
          </a:xfrm>
          <a:prstGeom prst="ellipse">
            <a:avLst/>
          </a:prstGeom>
          <a:solidFill>
            <a:srgbClr val="D9AE4B"/>
          </a:solidFill>
          <a:ln/>
        </p:spPr>
      </p:sp>
      <p:sp>
        <p:nvSpPr>
          <p:cNvPr id="15" name="anim-g3-928"/>
          <p:cNvSpPr/>
          <p:nvPr/>
        </p:nvSpPr>
        <p:spPr>
          <a:xfrm>
            <a:off x="10573207" y="510235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929"/>
          <p:cNvSpPr/>
          <p:nvPr/>
        </p:nvSpPr>
        <p:spPr>
          <a:xfrm>
            <a:off x="1097280" y="4736592"/>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Lewis, C. Lesson Study: A Handbook of Teacher-Led Instructional Change</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الدرس البحثي</a:t>
            </a:r>
            <a:endParaRPr lang="ar-SA" sz="24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علبة الألوان  ·  ١٢٥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name="Slide 1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المحطة 🩺</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عيادة المواقف الإشرافية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ستة مواقف حقيقية… ماذا ستفعل أنت؟</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عيادة المواقف الإشرافية  ·  ١٢٦</a:t>
            </a:r>
            <a:endParaRPr lang="ar-SA" sz="12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466783" y="457200"/>
            <a:ext cx="1901952" cy="457200"/>
          </a:xfrm>
          <a:prstGeom prst="roundRect">
            <a:avLst>
              <a:gd name="adj" fmla="val 50000"/>
            </a:avLst>
          </a:prstGeom>
          <a:solidFill>
            <a:srgbClr val="F6EBCF"/>
          </a:solidFill>
          <a:ln/>
        </p:spPr>
      </p:sp>
      <p:sp>
        <p:nvSpPr>
          <p:cNvPr id="3" name="Text 1"/>
          <p:cNvSpPr/>
          <p:nvPr/>
        </p:nvSpPr>
        <p:spPr>
          <a:xfrm>
            <a:off x="9466783" y="457200"/>
            <a:ext cx="190195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الموقف ١</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المدير: «أعطه ملاحظاتك هنا في غرفة المعلمين»</a:t>
            </a:r>
            <a:endParaRPr lang="ar-SA" sz="32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أقدّمها هناك باختصار</a:t>
            </a:r>
            <a:endParaRPr lang="ar-SA" sz="2200" dirty="0"/>
          </a:p>
        </p:txBody>
      </p:sp>
      <p:sp>
        <p:nvSpPr>
          <p:cNvPr id="9" name="anim-g1-930"/>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931"/>
          <p:cNvSpPr/>
          <p:nvPr/>
        </p:nvSpPr>
        <p:spPr>
          <a:xfrm>
            <a:off x="10575493" y="2194560"/>
            <a:ext cx="610362" cy="610362"/>
          </a:xfrm>
          <a:prstGeom prst="roundRect">
            <a:avLst>
              <a:gd name="adj" fmla="val 17978"/>
            </a:avLst>
          </a:prstGeom>
          <a:solidFill>
            <a:srgbClr val="A3A9BA"/>
          </a:solidFill>
          <a:ln/>
        </p:spPr>
      </p:sp>
      <p:sp>
        <p:nvSpPr>
          <p:cNvPr id="11" name="anim-g1-932"/>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933"/>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أقدّمها هناك باختصار</a:t>
            </a:r>
            <a:endParaRPr lang="ar-SA" sz="2200" dirty="0"/>
          </a:p>
        </p:txBody>
      </p:sp>
      <p:sp>
        <p:nvSpPr>
          <p:cNvPr id="13" name="anim-g1-934"/>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تحرجه أمام زملائه</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أطلب مكانًا خاصًا ولو عشر دقائق</a:t>
            </a:r>
            <a:endParaRPr lang="ar-SA" sz="2200" dirty="0"/>
          </a:p>
        </p:txBody>
      </p:sp>
      <p:sp>
        <p:nvSpPr>
          <p:cNvPr id="18" name="anim-g1-935"/>
          <p:cNvSpPr/>
          <p:nvPr/>
        </p:nvSpPr>
        <p:spPr>
          <a:xfrm>
            <a:off x="822960" y="3088386"/>
            <a:ext cx="10545775" cy="884682"/>
          </a:xfrm>
          <a:prstGeom prst="roundRect">
            <a:avLst>
              <a:gd name="adj" fmla="val 16537"/>
            </a:avLst>
          </a:prstGeom>
          <a:solidFill>
            <a:srgbClr val="E6F4EC"/>
          </a:solidFill>
          <a:ln w="31750">
            <a:solidFill>
              <a:srgbClr val="2E9E6B"/>
            </a:solidFill>
            <a:prstDash val="solid"/>
          </a:ln>
        </p:spPr>
      </p:sp>
      <p:sp>
        <p:nvSpPr>
          <p:cNvPr id="19" name="anim-g1-936"/>
          <p:cNvSpPr/>
          <p:nvPr/>
        </p:nvSpPr>
        <p:spPr>
          <a:xfrm>
            <a:off x="10575493" y="3225546"/>
            <a:ext cx="610362" cy="610362"/>
          </a:xfrm>
          <a:prstGeom prst="roundRect">
            <a:avLst>
              <a:gd name="adj" fmla="val 17978"/>
            </a:avLst>
          </a:prstGeom>
          <a:solidFill>
            <a:srgbClr val="2E9E6B"/>
          </a:solidFill>
          <a:ln/>
        </p:spPr>
      </p:sp>
      <p:sp>
        <p:nvSpPr>
          <p:cNvPr id="20" name="anim-g1-937"/>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21" name="anim-g1-938"/>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أطلب مكانًا خاصًا ولو عشر دقائق</a:t>
            </a:r>
            <a:endParaRPr lang="ar-SA" sz="2200" dirty="0"/>
          </a:p>
        </p:txBody>
      </p:sp>
      <p:sp>
        <p:nvSpPr>
          <p:cNvPr id="22" name="anim-g1-939"/>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السرية أولًا… ولو قصرت الجلسة</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أرسلها له مكتوبة لاحقًا بلا لقاء</a:t>
            </a:r>
            <a:endParaRPr lang="ar-SA" sz="2200" dirty="0"/>
          </a:p>
        </p:txBody>
      </p:sp>
      <p:sp>
        <p:nvSpPr>
          <p:cNvPr id="27" name="anim-g1-940"/>
          <p:cNvSpPr/>
          <p:nvPr/>
        </p:nvSpPr>
        <p:spPr>
          <a:xfrm>
            <a:off x="822960" y="4119372"/>
            <a:ext cx="10545775" cy="884682"/>
          </a:xfrm>
          <a:prstGeom prst="roundRect">
            <a:avLst>
              <a:gd name="adj" fmla="val 16537"/>
            </a:avLst>
          </a:prstGeom>
          <a:solidFill>
            <a:srgbClr val="F7F7F9"/>
          </a:solidFill>
          <a:ln w="19050">
            <a:solidFill>
              <a:srgbClr val="E4DCC8"/>
            </a:solidFill>
            <a:prstDash val="solid"/>
          </a:ln>
        </p:spPr>
      </p:sp>
      <p:sp>
        <p:nvSpPr>
          <p:cNvPr id="28" name="anim-g1-941"/>
          <p:cNvSpPr/>
          <p:nvPr/>
        </p:nvSpPr>
        <p:spPr>
          <a:xfrm>
            <a:off x="10575493" y="4256532"/>
            <a:ext cx="610362" cy="610362"/>
          </a:xfrm>
          <a:prstGeom prst="roundRect">
            <a:avLst>
              <a:gd name="adj" fmla="val 17978"/>
            </a:avLst>
          </a:prstGeom>
          <a:solidFill>
            <a:srgbClr val="A3A9BA"/>
          </a:solidFill>
          <a:ln/>
        </p:spPr>
      </p:sp>
      <p:sp>
        <p:nvSpPr>
          <p:cNvPr id="29" name="anim-g1-942"/>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30" name="anim-g1-943"/>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أرسلها له مكتوبة لاحقًا بلا لقاء</a:t>
            </a:r>
            <a:endParaRPr lang="ar-SA" sz="2200" dirty="0"/>
          </a:p>
        </p:txBody>
      </p:sp>
      <p:sp>
        <p:nvSpPr>
          <p:cNvPr id="31" name="anim-g1-944"/>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تضيع فرصة الحوار وسؤال «ماذا تعلّمنا؟»</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أثني عليه أمامهم وأحذف الملاحظات</a:t>
            </a:r>
            <a:endParaRPr lang="ar-SA" sz="2200" dirty="0"/>
          </a:p>
        </p:txBody>
      </p:sp>
      <p:sp>
        <p:nvSpPr>
          <p:cNvPr id="36" name="anim-g1-945"/>
          <p:cNvSpPr/>
          <p:nvPr/>
        </p:nvSpPr>
        <p:spPr>
          <a:xfrm>
            <a:off x="822960" y="5150358"/>
            <a:ext cx="10545775" cy="884682"/>
          </a:xfrm>
          <a:prstGeom prst="roundRect">
            <a:avLst>
              <a:gd name="adj" fmla="val 16537"/>
            </a:avLst>
          </a:prstGeom>
          <a:solidFill>
            <a:srgbClr val="F7F7F9"/>
          </a:solidFill>
          <a:ln w="19050">
            <a:solidFill>
              <a:srgbClr val="E4DCC8"/>
            </a:solidFill>
            <a:prstDash val="solid"/>
          </a:ln>
        </p:spPr>
      </p:sp>
      <p:sp>
        <p:nvSpPr>
          <p:cNvPr id="37" name="anim-g1-946"/>
          <p:cNvSpPr/>
          <p:nvPr/>
        </p:nvSpPr>
        <p:spPr>
          <a:xfrm>
            <a:off x="10575493" y="5287518"/>
            <a:ext cx="610362" cy="610362"/>
          </a:xfrm>
          <a:prstGeom prst="roundRect">
            <a:avLst>
              <a:gd name="adj" fmla="val 17978"/>
            </a:avLst>
          </a:prstGeom>
          <a:solidFill>
            <a:srgbClr val="A3A9BA"/>
          </a:solidFill>
          <a:ln/>
        </p:spPr>
      </p:sp>
      <p:sp>
        <p:nvSpPr>
          <p:cNvPr id="38" name="anim-g1-947"/>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9" name="anim-g1-948"/>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أثني عليه أمامهم وأحذف الملاحظات</a:t>
            </a:r>
            <a:endParaRPr lang="ar-SA" sz="2200" dirty="0"/>
          </a:p>
        </p:txBody>
      </p:sp>
      <p:sp>
        <p:nvSpPr>
          <p:cNvPr id="40" name="anim-g1-949"/>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تخدعه وتضيع التطوير</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عيادة المواقف الإشرافية  ·  ١٢٧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name="Slide 1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466783" y="457200"/>
            <a:ext cx="1901952" cy="457200"/>
          </a:xfrm>
          <a:prstGeom prst="roundRect">
            <a:avLst>
              <a:gd name="adj" fmla="val 50000"/>
            </a:avLst>
          </a:prstGeom>
          <a:solidFill>
            <a:srgbClr val="F6EBCF"/>
          </a:solidFill>
          <a:ln/>
        </p:spPr>
      </p:sp>
      <p:sp>
        <p:nvSpPr>
          <p:cNvPr id="3" name="Text 1"/>
          <p:cNvSpPr/>
          <p:nvPr/>
        </p:nvSpPr>
        <p:spPr>
          <a:xfrm>
            <a:off x="9466783" y="457200"/>
            <a:ext cx="190195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الموقف ٢</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معلمة جديدة بكت بعد زيارتك الأولى… ماذا تفعل؟</a:t>
            </a:r>
            <a:endParaRPr lang="ar-SA" sz="32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أؤجل الملاحظات كلها إلى أجل غير مسمى</a:t>
            </a:r>
            <a:endParaRPr lang="ar-SA" sz="2200" dirty="0"/>
          </a:p>
        </p:txBody>
      </p:sp>
      <p:sp>
        <p:nvSpPr>
          <p:cNvPr id="9" name="anim-g1-950"/>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951"/>
          <p:cNvSpPr/>
          <p:nvPr/>
        </p:nvSpPr>
        <p:spPr>
          <a:xfrm>
            <a:off x="10575493" y="2194560"/>
            <a:ext cx="610362" cy="610362"/>
          </a:xfrm>
          <a:prstGeom prst="roundRect">
            <a:avLst>
              <a:gd name="adj" fmla="val 17978"/>
            </a:avLst>
          </a:prstGeom>
          <a:solidFill>
            <a:srgbClr val="A3A9BA"/>
          </a:solidFill>
          <a:ln/>
        </p:spPr>
      </p:sp>
      <p:sp>
        <p:nvSpPr>
          <p:cNvPr id="11" name="anim-g1-952"/>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953"/>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أؤجل الملاحظات كلها إلى أجل غير مسمى</a:t>
            </a:r>
            <a:endParaRPr lang="ar-SA" sz="2200" dirty="0"/>
          </a:p>
        </p:txBody>
      </p:sp>
      <p:sp>
        <p:nvSpPr>
          <p:cNvPr id="13" name="anim-g1-954"/>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تحرمها من النمو</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أكمل الجلسة كما خططت</a:t>
            </a:r>
            <a:endParaRPr lang="ar-SA" sz="2200" dirty="0"/>
          </a:p>
        </p:txBody>
      </p:sp>
      <p:sp>
        <p:nvSpPr>
          <p:cNvPr id="18" name="anim-g1-955"/>
          <p:cNvSpPr/>
          <p:nvPr/>
        </p:nvSpPr>
        <p:spPr>
          <a:xfrm>
            <a:off x="822960" y="3088386"/>
            <a:ext cx="10545775" cy="884682"/>
          </a:xfrm>
          <a:prstGeom prst="roundRect">
            <a:avLst>
              <a:gd name="adj" fmla="val 16537"/>
            </a:avLst>
          </a:prstGeom>
          <a:solidFill>
            <a:srgbClr val="F7F7F9"/>
          </a:solidFill>
          <a:ln w="19050">
            <a:solidFill>
              <a:srgbClr val="E4DCC8"/>
            </a:solidFill>
            <a:prstDash val="solid"/>
          </a:ln>
        </p:spPr>
      </p:sp>
      <p:sp>
        <p:nvSpPr>
          <p:cNvPr id="19" name="anim-g1-956"/>
          <p:cNvSpPr/>
          <p:nvPr/>
        </p:nvSpPr>
        <p:spPr>
          <a:xfrm>
            <a:off x="10575493" y="3225546"/>
            <a:ext cx="610362" cy="610362"/>
          </a:xfrm>
          <a:prstGeom prst="roundRect">
            <a:avLst>
              <a:gd name="adj" fmla="val 17978"/>
            </a:avLst>
          </a:prstGeom>
          <a:solidFill>
            <a:srgbClr val="A3A9BA"/>
          </a:solidFill>
          <a:ln/>
        </p:spPr>
      </p:sp>
      <p:sp>
        <p:nvSpPr>
          <p:cNvPr id="20" name="anim-g1-957"/>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21" name="anim-g1-958"/>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أكمل الجلسة كما خططت</a:t>
            </a:r>
            <a:endParaRPr lang="ar-SA" sz="2200" dirty="0"/>
          </a:p>
        </p:txBody>
      </p:sp>
      <p:sp>
        <p:nvSpPr>
          <p:cNvPr id="22" name="anim-g1-959"/>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تزيد الخوف وتغلق الباب</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أطمئنها، وأبدأ بنقطة قوة، ثم ملاحظة واحدة وزيارة دعم قريبة</a:t>
            </a:r>
            <a:endParaRPr lang="ar-SA" sz="2200" dirty="0"/>
          </a:p>
        </p:txBody>
      </p:sp>
      <p:sp>
        <p:nvSpPr>
          <p:cNvPr id="27" name="anim-g1-960"/>
          <p:cNvSpPr/>
          <p:nvPr/>
        </p:nvSpPr>
        <p:spPr>
          <a:xfrm>
            <a:off x="822960" y="4119372"/>
            <a:ext cx="10545775" cy="884682"/>
          </a:xfrm>
          <a:prstGeom prst="roundRect">
            <a:avLst>
              <a:gd name="adj" fmla="val 16537"/>
            </a:avLst>
          </a:prstGeom>
          <a:solidFill>
            <a:srgbClr val="E6F4EC"/>
          </a:solidFill>
          <a:ln w="31750">
            <a:solidFill>
              <a:srgbClr val="2E9E6B"/>
            </a:solidFill>
            <a:prstDash val="solid"/>
          </a:ln>
        </p:spPr>
      </p:sp>
      <p:sp>
        <p:nvSpPr>
          <p:cNvPr id="28" name="anim-g1-961"/>
          <p:cNvSpPr/>
          <p:nvPr/>
        </p:nvSpPr>
        <p:spPr>
          <a:xfrm>
            <a:off x="10575493" y="4256532"/>
            <a:ext cx="610362" cy="610362"/>
          </a:xfrm>
          <a:prstGeom prst="roundRect">
            <a:avLst>
              <a:gd name="adj" fmla="val 17978"/>
            </a:avLst>
          </a:prstGeom>
          <a:solidFill>
            <a:srgbClr val="2E9E6B"/>
          </a:solidFill>
          <a:ln/>
        </p:spPr>
      </p:sp>
      <p:sp>
        <p:nvSpPr>
          <p:cNvPr id="29" name="anim-g1-962"/>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30" name="anim-g1-963"/>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أطمئنها، وأبدأ بنقطة قوة، ثم ملاحظة واحدة وزيارة دعم قريبة</a:t>
            </a:r>
            <a:endParaRPr lang="ar-SA" sz="2200" dirty="0"/>
          </a:p>
        </p:txBody>
      </p:sp>
      <p:sp>
        <p:nvSpPr>
          <p:cNvPr id="31" name="anim-g1-964"/>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أمٌّ بحزم: أمان أولًا ثم خطوة واحدة</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أخبر مديرتها أنها لا تتحمل الملاحظة</a:t>
            </a:r>
            <a:endParaRPr lang="ar-SA" sz="2200" dirty="0"/>
          </a:p>
        </p:txBody>
      </p:sp>
      <p:sp>
        <p:nvSpPr>
          <p:cNvPr id="36" name="anim-g1-965"/>
          <p:cNvSpPr/>
          <p:nvPr/>
        </p:nvSpPr>
        <p:spPr>
          <a:xfrm>
            <a:off x="822960" y="5150358"/>
            <a:ext cx="10545775" cy="884682"/>
          </a:xfrm>
          <a:prstGeom prst="roundRect">
            <a:avLst>
              <a:gd name="adj" fmla="val 16537"/>
            </a:avLst>
          </a:prstGeom>
          <a:solidFill>
            <a:srgbClr val="F7F7F9"/>
          </a:solidFill>
          <a:ln w="19050">
            <a:solidFill>
              <a:srgbClr val="E4DCC8"/>
            </a:solidFill>
            <a:prstDash val="solid"/>
          </a:ln>
        </p:spPr>
      </p:sp>
      <p:sp>
        <p:nvSpPr>
          <p:cNvPr id="37" name="anim-g1-966"/>
          <p:cNvSpPr/>
          <p:nvPr/>
        </p:nvSpPr>
        <p:spPr>
          <a:xfrm>
            <a:off x="10575493" y="5287518"/>
            <a:ext cx="610362" cy="610362"/>
          </a:xfrm>
          <a:prstGeom prst="roundRect">
            <a:avLst>
              <a:gd name="adj" fmla="val 17978"/>
            </a:avLst>
          </a:prstGeom>
          <a:solidFill>
            <a:srgbClr val="A3A9BA"/>
          </a:solidFill>
          <a:ln/>
        </p:spPr>
      </p:sp>
      <p:sp>
        <p:nvSpPr>
          <p:cNvPr id="38" name="anim-g1-967"/>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9" name="anim-g1-968"/>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أخبر مديرتها أنها لا تتحمل الملاحظة</a:t>
            </a:r>
            <a:endParaRPr lang="ar-SA" sz="2200" dirty="0"/>
          </a:p>
        </p:txBody>
      </p:sp>
      <p:sp>
        <p:nvSpPr>
          <p:cNvPr id="40" name="anim-g1-969"/>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تفشي حالتها وتؤذيها</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عيادة المواقف الإشرافية  ·  ١٢٨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name="Slide 1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466783" y="457200"/>
            <a:ext cx="1901952" cy="457200"/>
          </a:xfrm>
          <a:prstGeom prst="roundRect">
            <a:avLst>
              <a:gd name="adj" fmla="val 50000"/>
            </a:avLst>
          </a:prstGeom>
          <a:solidFill>
            <a:srgbClr val="F6EBCF"/>
          </a:solidFill>
          <a:ln/>
        </p:spPr>
      </p:sp>
      <p:sp>
        <p:nvSpPr>
          <p:cNvPr id="3" name="Text 1"/>
          <p:cNvSpPr/>
          <p:nvPr/>
        </p:nvSpPr>
        <p:spPr>
          <a:xfrm>
            <a:off x="9466783" y="457200"/>
            <a:ext cx="190195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الموقف ٣</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مدير يطلب تقريرًا سلبيًا غير مستحق عن معلم</a:t>
            </a:r>
            <a:endParaRPr lang="ar-SA" sz="32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أكتب ما يريده المدير حفاظًا على العلاقة</a:t>
            </a:r>
            <a:endParaRPr lang="ar-SA" sz="2200" dirty="0"/>
          </a:p>
        </p:txBody>
      </p:sp>
      <p:sp>
        <p:nvSpPr>
          <p:cNvPr id="9" name="anim-g1-970"/>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971"/>
          <p:cNvSpPr/>
          <p:nvPr/>
        </p:nvSpPr>
        <p:spPr>
          <a:xfrm>
            <a:off x="10575493" y="2194560"/>
            <a:ext cx="610362" cy="610362"/>
          </a:xfrm>
          <a:prstGeom prst="roundRect">
            <a:avLst>
              <a:gd name="adj" fmla="val 17978"/>
            </a:avLst>
          </a:prstGeom>
          <a:solidFill>
            <a:srgbClr val="A3A9BA"/>
          </a:solidFill>
          <a:ln/>
        </p:spPr>
      </p:sp>
      <p:sp>
        <p:nvSpPr>
          <p:cNvPr id="11" name="anim-g1-972"/>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973"/>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أكتب ما يريده المدير حفاظًا على العلاقة</a:t>
            </a:r>
            <a:endParaRPr lang="ar-SA" sz="2200" dirty="0"/>
          </a:p>
        </p:txBody>
      </p:sp>
      <p:sp>
        <p:nvSpPr>
          <p:cNvPr id="13" name="anim-g1-974"/>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خيانة لأمانة التقرير</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أرفض بحدة وأغادر</a:t>
            </a:r>
            <a:endParaRPr lang="ar-SA" sz="2200" dirty="0"/>
          </a:p>
        </p:txBody>
      </p:sp>
      <p:sp>
        <p:nvSpPr>
          <p:cNvPr id="18" name="anim-g1-975"/>
          <p:cNvSpPr/>
          <p:nvPr/>
        </p:nvSpPr>
        <p:spPr>
          <a:xfrm>
            <a:off x="822960" y="3088386"/>
            <a:ext cx="10545775" cy="884682"/>
          </a:xfrm>
          <a:prstGeom prst="roundRect">
            <a:avLst>
              <a:gd name="adj" fmla="val 16537"/>
            </a:avLst>
          </a:prstGeom>
          <a:solidFill>
            <a:srgbClr val="F7F7F9"/>
          </a:solidFill>
          <a:ln w="19050">
            <a:solidFill>
              <a:srgbClr val="E4DCC8"/>
            </a:solidFill>
            <a:prstDash val="solid"/>
          </a:ln>
        </p:spPr>
      </p:sp>
      <p:sp>
        <p:nvSpPr>
          <p:cNvPr id="19" name="anim-g1-976"/>
          <p:cNvSpPr/>
          <p:nvPr/>
        </p:nvSpPr>
        <p:spPr>
          <a:xfrm>
            <a:off x="10575493" y="3225546"/>
            <a:ext cx="610362" cy="610362"/>
          </a:xfrm>
          <a:prstGeom prst="roundRect">
            <a:avLst>
              <a:gd name="adj" fmla="val 17978"/>
            </a:avLst>
          </a:prstGeom>
          <a:solidFill>
            <a:srgbClr val="A3A9BA"/>
          </a:solidFill>
          <a:ln/>
        </p:spPr>
      </p:sp>
      <p:sp>
        <p:nvSpPr>
          <p:cNvPr id="20" name="anim-g1-977"/>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21" name="anim-g1-978"/>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أرفض بحدة وأغادر</a:t>
            </a:r>
            <a:endParaRPr lang="ar-SA" sz="2200" dirty="0"/>
          </a:p>
        </p:txBody>
      </p:sp>
      <p:sp>
        <p:nvSpPr>
          <p:cNvPr id="22" name="anim-g1-979"/>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صادق لكن يهدم العلاقة</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أكتب ما رأيته بالأدلة فقط، وأقترح زيارات بمعايير معلنة</a:t>
            </a:r>
            <a:endParaRPr lang="ar-SA" sz="2200" dirty="0"/>
          </a:p>
        </p:txBody>
      </p:sp>
      <p:sp>
        <p:nvSpPr>
          <p:cNvPr id="27" name="anim-g1-980"/>
          <p:cNvSpPr/>
          <p:nvPr/>
        </p:nvSpPr>
        <p:spPr>
          <a:xfrm>
            <a:off x="822960" y="4119372"/>
            <a:ext cx="10545775" cy="884682"/>
          </a:xfrm>
          <a:prstGeom prst="roundRect">
            <a:avLst>
              <a:gd name="adj" fmla="val 16537"/>
            </a:avLst>
          </a:prstGeom>
          <a:solidFill>
            <a:srgbClr val="E6F4EC"/>
          </a:solidFill>
          <a:ln w="31750">
            <a:solidFill>
              <a:srgbClr val="2E9E6B"/>
            </a:solidFill>
            <a:prstDash val="solid"/>
          </a:ln>
        </p:spPr>
      </p:sp>
      <p:sp>
        <p:nvSpPr>
          <p:cNvPr id="28" name="anim-g1-981"/>
          <p:cNvSpPr/>
          <p:nvPr/>
        </p:nvSpPr>
        <p:spPr>
          <a:xfrm>
            <a:off x="10575493" y="4256532"/>
            <a:ext cx="610362" cy="610362"/>
          </a:xfrm>
          <a:prstGeom prst="roundRect">
            <a:avLst>
              <a:gd name="adj" fmla="val 17978"/>
            </a:avLst>
          </a:prstGeom>
          <a:solidFill>
            <a:srgbClr val="2E9E6B"/>
          </a:solidFill>
          <a:ln/>
        </p:spPr>
      </p:sp>
      <p:sp>
        <p:nvSpPr>
          <p:cNvPr id="29" name="anim-g1-982"/>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30" name="anim-g1-983"/>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أكتب ما رأيته بالأدلة فقط، وأقترح زيارات بمعايير معلنة</a:t>
            </a:r>
            <a:endParaRPr lang="ar-SA" sz="2200" dirty="0"/>
          </a:p>
        </p:txBody>
      </p:sp>
      <p:sp>
        <p:nvSpPr>
          <p:cNvPr id="31" name="anim-g1-984"/>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الأمانة مع الاحترام</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أتجنب الموضوع ولا أكتب شيئًا</a:t>
            </a:r>
            <a:endParaRPr lang="ar-SA" sz="2200" dirty="0"/>
          </a:p>
        </p:txBody>
      </p:sp>
      <p:sp>
        <p:nvSpPr>
          <p:cNvPr id="36" name="anim-g1-985"/>
          <p:cNvSpPr/>
          <p:nvPr/>
        </p:nvSpPr>
        <p:spPr>
          <a:xfrm>
            <a:off x="822960" y="5150358"/>
            <a:ext cx="10545775" cy="884682"/>
          </a:xfrm>
          <a:prstGeom prst="roundRect">
            <a:avLst>
              <a:gd name="adj" fmla="val 16537"/>
            </a:avLst>
          </a:prstGeom>
          <a:solidFill>
            <a:srgbClr val="F7F7F9"/>
          </a:solidFill>
          <a:ln w="19050">
            <a:solidFill>
              <a:srgbClr val="E4DCC8"/>
            </a:solidFill>
            <a:prstDash val="solid"/>
          </a:ln>
        </p:spPr>
      </p:sp>
      <p:sp>
        <p:nvSpPr>
          <p:cNvPr id="37" name="anim-g1-986"/>
          <p:cNvSpPr/>
          <p:nvPr/>
        </p:nvSpPr>
        <p:spPr>
          <a:xfrm>
            <a:off x="10575493" y="5287518"/>
            <a:ext cx="610362" cy="610362"/>
          </a:xfrm>
          <a:prstGeom prst="roundRect">
            <a:avLst>
              <a:gd name="adj" fmla="val 17978"/>
            </a:avLst>
          </a:prstGeom>
          <a:solidFill>
            <a:srgbClr val="A3A9BA"/>
          </a:solidFill>
          <a:ln/>
        </p:spPr>
      </p:sp>
      <p:sp>
        <p:nvSpPr>
          <p:cNvPr id="38" name="anim-g1-987"/>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9" name="anim-g1-988"/>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أتجنب الموضوع ولا أكتب شيئًا</a:t>
            </a:r>
            <a:endParaRPr lang="ar-SA" sz="2200" dirty="0"/>
          </a:p>
        </p:txBody>
      </p:sp>
      <p:sp>
        <p:nvSpPr>
          <p:cNvPr id="40" name="anim-g1-989"/>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تهرّب يترك المشكلة معلّقة</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عيادة المواقف الإشرافية  ·  ١٢٩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name="Slide 1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466783" y="457200"/>
            <a:ext cx="1901952" cy="457200"/>
          </a:xfrm>
          <a:prstGeom prst="roundRect">
            <a:avLst>
              <a:gd name="adj" fmla="val 50000"/>
            </a:avLst>
          </a:prstGeom>
          <a:solidFill>
            <a:srgbClr val="F6EBCF"/>
          </a:solidFill>
          <a:ln/>
        </p:spPr>
      </p:sp>
      <p:sp>
        <p:nvSpPr>
          <p:cNvPr id="3" name="Text 1"/>
          <p:cNvSpPr/>
          <p:nvPr/>
        </p:nvSpPr>
        <p:spPr>
          <a:xfrm>
            <a:off x="9466783" y="457200"/>
            <a:ext cx="190195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الموقف ٤</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زميل مشرف يحكي أخطاء معلم بالاسم… والجميع يضحك</a:t>
            </a:r>
            <a:endParaRPr lang="ar-SA" sz="32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أشاركه بقصة مشابهة</a:t>
            </a:r>
            <a:endParaRPr lang="ar-SA" sz="2200" dirty="0"/>
          </a:p>
        </p:txBody>
      </p:sp>
      <p:sp>
        <p:nvSpPr>
          <p:cNvPr id="9" name="anim-g1-990"/>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991"/>
          <p:cNvSpPr/>
          <p:nvPr/>
        </p:nvSpPr>
        <p:spPr>
          <a:xfrm>
            <a:off x="10575493" y="2194560"/>
            <a:ext cx="610362" cy="610362"/>
          </a:xfrm>
          <a:prstGeom prst="roundRect">
            <a:avLst>
              <a:gd name="adj" fmla="val 17978"/>
            </a:avLst>
          </a:prstGeom>
          <a:solidFill>
            <a:srgbClr val="A3A9BA"/>
          </a:solidFill>
          <a:ln/>
        </p:spPr>
      </p:sp>
      <p:sp>
        <p:nvSpPr>
          <p:cNvPr id="11" name="anim-g1-992"/>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993"/>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أشاركه بقصة مشابهة</a:t>
            </a:r>
            <a:endParaRPr lang="ar-SA" sz="2200" dirty="0"/>
          </a:p>
        </p:txBody>
      </p:sp>
      <p:sp>
        <p:nvSpPr>
          <p:cNvPr id="13" name="anim-g1-994"/>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تشارك في الغيبة وإفشاء السر</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أصمت</a:t>
            </a:r>
            <a:endParaRPr lang="ar-SA" sz="2200" dirty="0"/>
          </a:p>
        </p:txBody>
      </p:sp>
      <p:sp>
        <p:nvSpPr>
          <p:cNvPr id="18" name="anim-g1-995"/>
          <p:cNvSpPr/>
          <p:nvPr/>
        </p:nvSpPr>
        <p:spPr>
          <a:xfrm>
            <a:off x="822960" y="3088386"/>
            <a:ext cx="10545775" cy="884682"/>
          </a:xfrm>
          <a:prstGeom prst="roundRect">
            <a:avLst>
              <a:gd name="adj" fmla="val 16537"/>
            </a:avLst>
          </a:prstGeom>
          <a:solidFill>
            <a:srgbClr val="F7F7F9"/>
          </a:solidFill>
          <a:ln w="19050">
            <a:solidFill>
              <a:srgbClr val="E4DCC8"/>
            </a:solidFill>
            <a:prstDash val="solid"/>
          </a:ln>
        </p:spPr>
      </p:sp>
      <p:sp>
        <p:nvSpPr>
          <p:cNvPr id="19" name="anim-g1-996"/>
          <p:cNvSpPr/>
          <p:nvPr/>
        </p:nvSpPr>
        <p:spPr>
          <a:xfrm>
            <a:off x="10575493" y="3225546"/>
            <a:ext cx="610362" cy="610362"/>
          </a:xfrm>
          <a:prstGeom prst="roundRect">
            <a:avLst>
              <a:gd name="adj" fmla="val 17978"/>
            </a:avLst>
          </a:prstGeom>
          <a:solidFill>
            <a:srgbClr val="A3A9BA"/>
          </a:solidFill>
          <a:ln/>
        </p:spPr>
      </p:sp>
      <p:sp>
        <p:nvSpPr>
          <p:cNvPr id="20" name="anim-g1-997"/>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21" name="anim-g1-998"/>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أصمت</a:t>
            </a:r>
            <a:endParaRPr lang="ar-SA" sz="2200" dirty="0"/>
          </a:p>
        </p:txBody>
      </p:sp>
      <p:sp>
        <p:nvSpPr>
          <p:cNvPr id="22" name="anim-g1-999"/>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الصمت إقرار</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أغيّر الموضوع بلطف وأذكّره أن الملاحظات أمانة</a:t>
            </a:r>
            <a:endParaRPr lang="ar-SA" sz="2200" dirty="0"/>
          </a:p>
        </p:txBody>
      </p:sp>
      <p:sp>
        <p:nvSpPr>
          <p:cNvPr id="27" name="anim-g1-1000"/>
          <p:cNvSpPr/>
          <p:nvPr/>
        </p:nvSpPr>
        <p:spPr>
          <a:xfrm>
            <a:off x="822960" y="4119372"/>
            <a:ext cx="10545775" cy="884682"/>
          </a:xfrm>
          <a:prstGeom prst="roundRect">
            <a:avLst>
              <a:gd name="adj" fmla="val 16537"/>
            </a:avLst>
          </a:prstGeom>
          <a:solidFill>
            <a:srgbClr val="E6F4EC"/>
          </a:solidFill>
          <a:ln w="31750">
            <a:solidFill>
              <a:srgbClr val="2E9E6B"/>
            </a:solidFill>
            <a:prstDash val="solid"/>
          </a:ln>
        </p:spPr>
      </p:sp>
      <p:sp>
        <p:nvSpPr>
          <p:cNvPr id="28" name="anim-g1-1001"/>
          <p:cNvSpPr/>
          <p:nvPr/>
        </p:nvSpPr>
        <p:spPr>
          <a:xfrm>
            <a:off x="10575493" y="4256532"/>
            <a:ext cx="610362" cy="610362"/>
          </a:xfrm>
          <a:prstGeom prst="roundRect">
            <a:avLst>
              <a:gd name="adj" fmla="val 17978"/>
            </a:avLst>
          </a:prstGeom>
          <a:solidFill>
            <a:srgbClr val="2E9E6B"/>
          </a:solidFill>
          <a:ln/>
        </p:spPr>
      </p:sp>
      <p:sp>
        <p:nvSpPr>
          <p:cNvPr id="29" name="anim-g1-1002"/>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30" name="anim-g1-1003"/>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أغيّر الموضوع بلطف وأذكّره أن الملاحظات أمانة</a:t>
            </a:r>
            <a:endParaRPr lang="ar-SA" sz="2200" dirty="0"/>
          </a:p>
        </p:txBody>
      </p:sp>
      <p:sp>
        <p:nvSpPr>
          <p:cNvPr id="31" name="anim-g1-1004"/>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تحفظ السر وكرامة زميلك</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أوبخه أمام الحضور</a:t>
            </a:r>
            <a:endParaRPr lang="ar-SA" sz="2200" dirty="0"/>
          </a:p>
        </p:txBody>
      </p:sp>
      <p:sp>
        <p:nvSpPr>
          <p:cNvPr id="36" name="anim-g1-1005"/>
          <p:cNvSpPr/>
          <p:nvPr/>
        </p:nvSpPr>
        <p:spPr>
          <a:xfrm>
            <a:off x="822960" y="5150358"/>
            <a:ext cx="10545775" cy="884682"/>
          </a:xfrm>
          <a:prstGeom prst="roundRect">
            <a:avLst>
              <a:gd name="adj" fmla="val 16537"/>
            </a:avLst>
          </a:prstGeom>
          <a:solidFill>
            <a:srgbClr val="F7F7F9"/>
          </a:solidFill>
          <a:ln w="19050">
            <a:solidFill>
              <a:srgbClr val="E4DCC8"/>
            </a:solidFill>
            <a:prstDash val="solid"/>
          </a:ln>
        </p:spPr>
      </p:sp>
      <p:sp>
        <p:nvSpPr>
          <p:cNvPr id="37" name="anim-g1-1006"/>
          <p:cNvSpPr/>
          <p:nvPr/>
        </p:nvSpPr>
        <p:spPr>
          <a:xfrm>
            <a:off x="10575493" y="5287518"/>
            <a:ext cx="610362" cy="610362"/>
          </a:xfrm>
          <a:prstGeom prst="roundRect">
            <a:avLst>
              <a:gd name="adj" fmla="val 17978"/>
            </a:avLst>
          </a:prstGeom>
          <a:solidFill>
            <a:srgbClr val="A3A9BA"/>
          </a:solidFill>
          <a:ln/>
        </p:spPr>
      </p:sp>
      <p:sp>
        <p:nvSpPr>
          <p:cNvPr id="38" name="anim-g1-1007"/>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9" name="anim-g1-1008"/>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أوبخه أمام الحضور</a:t>
            </a:r>
            <a:endParaRPr lang="ar-SA" sz="2200" dirty="0"/>
          </a:p>
        </p:txBody>
      </p:sp>
      <p:sp>
        <p:nvSpPr>
          <p:cNvPr id="40" name="anim-g1-1009"/>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تصحح خطأً بخطأ</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عيادة المواقف الإشرافية  ·  ١٣٠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name="Slide 1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466783" y="457200"/>
            <a:ext cx="1901952" cy="457200"/>
          </a:xfrm>
          <a:prstGeom prst="roundRect">
            <a:avLst>
              <a:gd name="adj" fmla="val 50000"/>
            </a:avLst>
          </a:prstGeom>
          <a:solidFill>
            <a:srgbClr val="F6EBCF"/>
          </a:solidFill>
          <a:ln/>
        </p:spPr>
      </p:sp>
      <p:sp>
        <p:nvSpPr>
          <p:cNvPr id="3" name="Text 1"/>
          <p:cNvSpPr/>
          <p:nvPr/>
        </p:nvSpPr>
        <p:spPr>
          <a:xfrm>
            <a:off x="9466783" y="457200"/>
            <a:ext cx="190195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الموقف ٥</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معلم متميز تزوره للمرة الخامسة… ولا تجد ملاحظة</a:t>
            </a:r>
            <a:endParaRPr lang="ar-SA" sz="32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«ممتاز، استمر» وأغادر</a:t>
            </a:r>
            <a:endParaRPr lang="ar-SA" sz="2200" dirty="0"/>
          </a:p>
        </p:txBody>
      </p:sp>
      <p:sp>
        <p:nvSpPr>
          <p:cNvPr id="9" name="anim-g1-1010"/>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1011"/>
          <p:cNvSpPr/>
          <p:nvPr/>
        </p:nvSpPr>
        <p:spPr>
          <a:xfrm>
            <a:off x="10575493" y="2194560"/>
            <a:ext cx="610362" cy="610362"/>
          </a:xfrm>
          <a:prstGeom prst="roundRect">
            <a:avLst>
              <a:gd name="adj" fmla="val 17978"/>
            </a:avLst>
          </a:prstGeom>
          <a:solidFill>
            <a:srgbClr val="A3A9BA"/>
          </a:solidFill>
          <a:ln/>
        </p:spPr>
      </p:sp>
      <p:sp>
        <p:nvSpPr>
          <p:cNvPr id="11" name="anim-g1-1012"/>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1013"/>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«ممتاز، استمر» وأغادر</a:t>
            </a:r>
            <a:endParaRPr lang="ar-SA" sz="2200" dirty="0"/>
          </a:p>
        </p:txBody>
      </p:sp>
      <p:sp>
        <p:nvSpPr>
          <p:cNvPr id="13" name="anim-g1-1014"/>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المديح الدائم يقتل الطموح</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أبحث عن أي خطأ لأكتبه</a:t>
            </a:r>
            <a:endParaRPr lang="ar-SA" sz="2200" dirty="0"/>
          </a:p>
        </p:txBody>
      </p:sp>
      <p:sp>
        <p:nvSpPr>
          <p:cNvPr id="18" name="anim-g1-1015"/>
          <p:cNvSpPr/>
          <p:nvPr/>
        </p:nvSpPr>
        <p:spPr>
          <a:xfrm>
            <a:off x="822960" y="3088386"/>
            <a:ext cx="10545775" cy="884682"/>
          </a:xfrm>
          <a:prstGeom prst="roundRect">
            <a:avLst>
              <a:gd name="adj" fmla="val 16537"/>
            </a:avLst>
          </a:prstGeom>
          <a:solidFill>
            <a:srgbClr val="F7F7F9"/>
          </a:solidFill>
          <a:ln w="19050">
            <a:solidFill>
              <a:srgbClr val="E4DCC8"/>
            </a:solidFill>
            <a:prstDash val="solid"/>
          </a:ln>
        </p:spPr>
      </p:sp>
      <p:sp>
        <p:nvSpPr>
          <p:cNvPr id="19" name="anim-g1-1016"/>
          <p:cNvSpPr/>
          <p:nvPr/>
        </p:nvSpPr>
        <p:spPr>
          <a:xfrm>
            <a:off x="10575493" y="3225546"/>
            <a:ext cx="610362" cy="610362"/>
          </a:xfrm>
          <a:prstGeom prst="roundRect">
            <a:avLst>
              <a:gd name="adj" fmla="val 17978"/>
            </a:avLst>
          </a:prstGeom>
          <a:solidFill>
            <a:srgbClr val="A3A9BA"/>
          </a:solidFill>
          <a:ln/>
        </p:spPr>
      </p:sp>
      <p:sp>
        <p:nvSpPr>
          <p:cNvPr id="20" name="anim-g1-1017"/>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21" name="anim-g1-1018"/>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أبحث عن أي خطأ لأكتبه</a:t>
            </a:r>
            <a:endParaRPr lang="ar-SA" sz="2200" dirty="0"/>
          </a:p>
        </p:txBody>
      </p:sp>
      <p:sp>
        <p:nvSpPr>
          <p:cNvPr id="22" name="anim-g1-1019"/>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تفتيش بلا هدف</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أرفع سقفه، وأطلب منه درسًا نموذجيًا لزملائه</a:t>
            </a:r>
            <a:endParaRPr lang="ar-SA" sz="2200" dirty="0"/>
          </a:p>
        </p:txBody>
      </p:sp>
      <p:sp>
        <p:nvSpPr>
          <p:cNvPr id="27" name="anim-g1-1020"/>
          <p:cNvSpPr/>
          <p:nvPr/>
        </p:nvSpPr>
        <p:spPr>
          <a:xfrm>
            <a:off x="822960" y="4119372"/>
            <a:ext cx="10545775" cy="884682"/>
          </a:xfrm>
          <a:prstGeom prst="roundRect">
            <a:avLst>
              <a:gd name="adj" fmla="val 16537"/>
            </a:avLst>
          </a:prstGeom>
          <a:solidFill>
            <a:srgbClr val="E6F4EC"/>
          </a:solidFill>
          <a:ln w="31750">
            <a:solidFill>
              <a:srgbClr val="2E9E6B"/>
            </a:solidFill>
            <a:prstDash val="solid"/>
          </a:ln>
        </p:spPr>
      </p:sp>
      <p:sp>
        <p:nvSpPr>
          <p:cNvPr id="28" name="anim-g1-1021"/>
          <p:cNvSpPr/>
          <p:nvPr/>
        </p:nvSpPr>
        <p:spPr>
          <a:xfrm>
            <a:off x="10575493" y="4256532"/>
            <a:ext cx="610362" cy="610362"/>
          </a:xfrm>
          <a:prstGeom prst="roundRect">
            <a:avLst>
              <a:gd name="adj" fmla="val 17978"/>
            </a:avLst>
          </a:prstGeom>
          <a:solidFill>
            <a:srgbClr val="2E9E6B"/>
          </a:solidFill>
          <a:ln/>
        </p:spPr>
      </p:sp>
      <p:sp>
        <p:nvSpPr>
          <p:cNvPr id="29" name="anim-g1-1022"/>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30" name="anim-g1-1023"/>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أرفع سقفه، وأطلب منه درسًا نموذجيًا لزملائه</a:t>
            </a:r>
            <a:endParaRPr lang="ar-SA" sz="2200" dirty="0"/>
          </a:p>
        </p:txBody>
      </p:sp>
      <p:sp>
        <p:nvSpPr>
          <p:cNvPr id="31" name="anim-g1-1024"/>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اصنع منه خبيرًا</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أتوقف عن زيارته</a:t>
            </a:r>
            <a:endParaRPr lang="ar-SA" sz="2200" dirty="0"/>
          </a:p>
        </p:txBody>
      </p:sp>
      <p:sp>
        <p:nvSpPr>
          <p:cNvPr id="36" name="anim-g1-1025"/>
          <p:cNvSpPr/>
          <p:nvPr/>
        </p:nvSpPr>
        <p:spPr>
          <a:xfrm>
            <a:off x="822960" y="5150358"/>
            <a:ext cx="10545775" cy="884682"/>
          </a:xfrm>
          <a:prstGeom prst="roundRect">
            <a:avLst>
              <a:gd name="adj" fmla="val 16537"/>
            </a:avLst>
          </a:prstGeom>
          <a:solidFill>
            <a:srgbClr val="F7F7F9"/>
          </a:solidFill>
          <a:ln w="19050">
            <a:solidFill>
              <a:srgbClr val="E4DCC8"/>
            </a:solidFill>
            <a:prstDash val="solid"/>
          </a:ln>
        </p:spPr>
      </p:sp>
      <p:sp>
        <p:nvSpPr>
          <p:cNvPr id="37" name="anim-g1-1026"/>
          <p:cNvSpPr/>
          <p:nvPr/>
        </p:nvSpPr>
        <p:spPr>
          <a:xfrm>
            <a:off x="10575493" y="5287518"/>
            <a:ext cx="610362" cy="610362"/>
          </a:xfrm>
          <a:prstGeom prst="roundRect">
            <a:avLst>
              <a:gd name="adj" fmla="val 17978"/>
            </a:avLst>
          </a:prstGeom>
          <a:solidFill>
            <a:srgbClr val="A3A9BA"/>
          </a:solidFill>
          <a:ln/>
        </p:spPr>
      </p:sp>
      <p:sp>
        <p:nvSpPr>
          <p:cNvPr id="38" name="anim-g1-1027"/>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9" name="anim-g1-1028"/>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أتوقف عن زيارته</a:t>
            </a:r>
            <a:endParaRPr lang="ar-SA" sz="2200" dirty="0"/>
          </a:p>
        </p:txBody>
      </p:sp>
      <p:sp>
        <p:nvSpPr>
          <p:cNvPr id="40" name="anim-g1-1029"/>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تخسر أثمن مورد في المدرسة</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عيادة المواقف الإشرافية  ·  ١٣١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name="Slide 1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466783" y="457200"/>
            <a:ext cx="1901952" cy="457200"/>
          </a:xfrm>
          <a:prstGeom prst="roundRect">
            <a:avLst>
              <a:gd name="adj" fmla="val 50000"/>
            </a:avLst>
          </a:prstGeom>
          <a:solidFill>
            <a:srgbClr val="F6EBCF"/>
          </a:solidFill>
          <a:ln/>
        </p:spPr>
      </p:sp>
      <p:sp>
        <p:nvSpPr>
          <p:cNvPr id="3" name="Text 1"/>
          <p:cNvSpPr/>
          <p:nvPr/>
        </p:nvSpPr>
        <p:spPr>
          <a:xfrm>
            <a:off x="9466783" y="457200"/>
            <a:ext cx="190195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الموقف ٦</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قرار جديد لست مقتنعًا به… والمعلمون يسألونك عنه</a:t>
            </a:r>
            <a:endParaRPr lang="ar-SA" sz="32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«هذا قرارهم مو قراري»</a:t>
            </a:r>
            <a:endParaRPr lang="ar-SA" sz="2200" dirty="0"/>
          </a:p>
        </p:txBody>
      </p:sp>
      <p:sp>
        <p:nvSpPr>
          <p:cNvPr id="9" name="anim-g1-1030"/>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1031"/>
          <p:cNvSpPr/>
          <p:nvPr/>
        </p:nvSpPr>
        <p:spPr>
          <a:xfrm>
            <a:off x="10575493" y="2194560"/>
            <a:ext cx="610362" cy="610362"/>
          </a:xfrm>
          <a:prstGeom prst="roundRect">
            <a:avLst>
              <a:gd name="adj" fmla="val 17978"/>
            </a:avLst>
          </a:prstGeom>
          <a:solidFill>
            <a:srgbClr val="A3A9BA"/>
          </a:solidFill>
          <a:ln/>
        </p:spPr>
      </p:sp>
      <p:sp>
        <p:nvSpPr>
          <p:cNvPr id="11" name="anim-g1-1032"/>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1033"/>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«هذا قرارهم مو قراري»</a:t>
            </a:r>
            <a:endParaRPr lang="ar-SA" sz="2200" dirty="0"/>
          </a:p>
        </p:txBody>
      </p:sp>
      <p:sp>
        <p:nvSpPr>
          <p:cNvPr id="13" name="anim-g1-1034"/>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تُضعف هيبتك وهيبة القرار</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«نفّذوا وإلا سأكتب»</a:t>
            </a:r>
            <a:endParaRPr lang="ar-SA" sz="2200" dirty="0"/>
          </a:p>
        </p:txBody>
      </p:sp>
      <p:sp>
        <p:nvSpPr>
          <p:cNvPr id="18" name="anim-g1-1035"/>
          <p:cNvSpPr/>
          <p:nvPr/>
        </p:nvSpPr>
        <p:spPr>
          <a:xfrm>
            <a:off x="822960" y="3088386"/>
            <a:ext cx="10545775" cy="884682"/>
          </a:xfrm>
          <a:prstGeom prst="roundRect">
            <a:avLst>
              <a:gd name="adj" fmla="val 16537"/>
            </a:avLst>
          </a:prstGeom>
          <a:solidFill>
            <a:srgbClr val="F7F7F9"/>
          </a:solidFill>
          <a:ln w="19050">
            <a:solidFill>
              <a:srgbClr val="E4DCC8"/>
            </a:solidFill>
            <a:prstDash val="solid"/>
          </a:ln>
        </p:spPr>
      </p:sp>
      <p:sp>
        <p:nvSpPr>
          <p:cNvPr id="19" name="anim-g1-1036"/>
          <p:cNvSpPr/>
          <p:nvPr/>
        </p:nvSpPr>
        <p:spPr>
          <a:xfrm>
            <a:off x="10575493" y="3225546"/>
            <a:ext cx="610362" cy="610362"/>
          </a:xfrm>
          <a:prstGeom prst="roundRect">
            <a:avLst>
              <a:gd name="adj" fmla="val 17978"/>
            </a:avLst>
          </a:prstGeom>
          <a:solidFill>
            <a:srgbClr val="A3A9BA"/>
          </a:solidFill>
          <a:ln/>
        </p:spPr>
      </p:sp>
      <p:sp>
        <p:nvSpPr>
          <p:cNvPr id="20" name="anim-g1-1037"/>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21" name="anim-g1-1038"/>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«نفّذوا وإلا سأكتب»</a:t>
            </a:r>
            <a:endParaRPr lang="ar-SA" sz="2200" dirty="0"/>
          </a:p>
        </p:txBody>
      </p:sp>
      <p:sp>
        <p:nvSpPr>
          <p:cNvPr id="22" name="anim-g1-1039"/>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ما هكذا تُورَد الإبل</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أشرح هدفه، وأسمع صعوباتهم، وأرفعها بأمانة، ونطبّقه معًا</a:t>
            </a:r>
            <a:endParaRPr lang="ar-SA" sz="2200" dirty="0"/>
          </a:p>
        </p:txBody>
      </p:sp>
      <p:sp>
        <p:nvSpPr>
          <p:cNvPr id="27" name="anim-g1-1040"/>
          <p:cNvSpPr/>
          <p:nvPr/>
        </p:nvSpPr>
        <p:spPr>
          <a:xfrm>
            <a:off x="822960" y="4119372"/>
            <a:ext cx="10545775" cy="884682"/>
          </a:xfrm>
          <a:prstGeom prst="roundRect">
            <a:avLst>
              <a:gd name="adj" fmla="val 16537"/>
            </a:avLst>
          </a:prstGeom>
          <a:solidFill>
            <a:srgbClr val="E6F4EC"/>
          </a:solidFill>
          <a:ln w="31750">
            <a:solidFill>
              <a:srgbClr val="2E9E6B"/>
            </a:solidFill>
            <a:prstDash val="solid"/>
          </a:ln>
        </p:spPr>
      </p:sp>
      <p:sp>
        <p:nvSpPr>
          <p:cNvPr id="28" name="anim-g1-1041"/>
          <p:cNvSpPr/>
          <p:nvPr/>
        </p:nvSpPr>
        <p:spPr>
          <a:xfrm>
            <a:off x="10575493" y="4256532"/>
            <a:ext cx="610362" cy="610362"/>
          </a:xfrm>
          <a:prstGeom prst="roundRect">
            <a:avLst>
              <a:gd name="adj" fmla="val 17978"/>
            </a:avLst>
          </a:prstGeom>
          <a:solidFill>
            <a:srgbClr val="2E9E6B"/>
          </a:solidFill>
          <a:ln/>
        </p:spPr>
      </p:sp>
      <p:sp>
        <p:nvSpPr>
          <p:cNvPr id="29" name="anim-g1-1042"/>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30" name="anim-g1-1043"/>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أشرح هدفه، وأسمع صعوباتهم، وأرفعها بأمانة، ونطبّقه معًا</a:t>
            </a:r>
            <a:endParaRPr lang="ar-SA" sz="2200" dirty="0"/>
          </a:p>
        </p:txBody>
      </p:sp>
      <p:sp>
        <p:nvSpPr>
          <p:cNvPr id="31" name="anim-g1-1044"/>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جسرٌ أمين في الاتجاهين</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أخبرهم أن يتجاهلوه</a:t>
            </a:r>
            <a:endParaRPr lang="ar-SA" sz="2200" dirty="0"/>
          </a:p>
        </p:txBody>
      </p:sp>
      <p:sp>
        <p:nvSpPr>
          <p:cNvPr id="36" name="anim-g1-1045"/>
          <p:cNvSpPr/>
          <p:nvPr/>
        </p:nvSpPr>
        <p:spPr>
          <a:xfrm>
            <a:off x="822960" y="5150358"/>
            <a:ext cx="10545775" cy="884682"/>
          </a:xfrm>
          <a:prstGeom prst="roundRect">
            <a:avLst>
              <a:gd name="adj" fmla="val 16537"/>
            </a:avLst>
          </a:prstGeom>
          <a:solidFill>
            <a:srgbClr val="F7F7F9"/>
          </a:solidFill>
          <a:ln w="19050">
            <a:solidFill>
              <a:srgbClr val="E4DCC8"/>
            </a:solidFill>
            <a:prstDash val="solid"/>
          </a:ln>
        </p:spPr>
      </p:sp>
      <p:sp>
        <p:nvSpPr>
          <p:cNvPr id="37" name="anim-g1-1046"/>
          <p:cNvSpPr/>
          <p:nvPr/>
        </p:nvSpPr>
        <p:spPr>
          <a:xfrm>
            <a:off x="10575493" y="5287518"/>
            <a:ext cx="610362" cy="610362"/>
          </a:xfrm>
          <a:prstGeom prst="roundRect">
            <a:avLst>
              <a:gd name="adj" fmla="val 17978"/>
            </a:avLst>
          </a:prstGeom>
          <a:solidFill>
            <a:srgbClr val="A3A9BA"/>
          </a:solidFill>
          <a:ln/>
        </p:spPr>
      </p:sp>
      <p:sp>
        <p:nvSpPr>
          <p:cNvPr id="38" name="anim-g1-1047"/>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9" name="anim-g1-1048"/>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أخبرهم أن يتجاهلوه</a:t>
            </a:r>
            <a:endParaRPr lang="ar-SA" sz="2200" dirty="0"/>
          </a:p>
        </p:txBody>
      </p:sp>
      <p:sp>
        <p:nvSpPr>
          <p:cNvPr id="40" name="anim-g1-1049"/>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تنازل عن الأمانة</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عيادة المواقف الإشرافية  ·  ١٣٢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name="Slide 1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٧</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المحطة ٧</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صانع الخبراء</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كيف تترك أثرًا يبقى بعد أن تغادر؟</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صانع الخبراء  ·  ١٣٣</a:t>
            </a:r>
            <a:endParaRPr lang="ar-SA" sz="12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320479" y="457200"/>
            <a:ext cx="2048256" cy="457200"/>
          </a:xfrm>
          <a:prstGeom prst="roundRect">
            <a:avLst>
              <a:gd name="adj" fmla="val 50000"/>
            </a:avLst>
          </a:prstGeom>
          <a:solidFill>
            <a:srgbClr val="F6EBCF"/>
          </a:solidFill>
          <a:ln/>
        </p:spPr>
      </p:sp>
      <p:sp>
        <p:nvSpPr>
          <p:cNvPr id="3" name="Text 1"/>
          <p:cNvSpPr/>
          <p:nvPr/>
        </p:nvSpPr>
        <p:spPr>
          <a:xfrm>
            <a:off x="9320479" y="457200"/>
            <a:ext cx="20482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حساب بسيط</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كم معلمًا تستطيع أن تطوّر بعمق في السنة؟</a:t>
            </a:r>
            <a:endParaRPr lang="ar-SA" sz="3200" dirty="0"/>
          </a:p>
        </p:txBody>
      </p:sp>
      <p:sp>
        <p:nvSpPr>
          <p:cNvPr id="5" name="Shape 3"/>
          <p:cNvSpPr/>
          <p:nvPr/>
        </p:nvSpPr>
        <p:spPr>
          <a:xfrm>
            <a:off x="1005840" y="4544568"/>
            <a:ext cx="3088538" cy="530352"/>
          </a:xfrm>
          <a:prstGeom prst="rect">
            <a:avLst/>
          </a:prstGeom>
          <a:solidFill>
            <a:srgbClr val="C94040"/>
          </a:solidFill>
          <a:ln/>
        </p:spPr>
      </p:sp>
      <p:sp>
        <p:nvSpPr>
          <p:cNvPr id="6" name="Text 4"/>
          <p:cNvSpPr/>
          <p:nvPr/>
        </p:nvSpPr>
        <p:spPr>
          <a:xfrm>
            <a:off x="1005840" y="3995928"/>
            <a:ext cx="3088538" cy="502920"/>
          </a:xfrm>
          <a:prstGeom prst="rect">
            <a:avLst/>
          </a:prstGeom>
          <a:noFill/>
          <a:ln/>
        </p:spPr>
        <p:txBody>
          <a:bodyPr wrap="square" lIns="0" tIns="0" rIns="0" bIns="0" rtlCol="0" anchor="ctr">
            <a:normAutofit/>
          </a:bodyPr>
          <a:lstStyle/>
          <a:p>
            <a:pPr rtl="1" algn="ctr" indent="0" marL="0">
              <a:buNone/>
            </a:pPr>
            <a:r>
              <a:rPr lang="ar-SA" altLang="en-US" sz="3000" dirty="0">
                <a:solidFill>
                  <a:srgbClr val="C94040"/>
                </a:solidFill>
                <a:latin typeface="Cairo Black" pitchFamily="34" charset="0"/>
                <a:ea typeface="Cairo Black" pitchFamily="34" charset="-122"/>
                <a:cs typeface="Cairo Black" pitchFamily="34" charset="-120"/>
              </a:rPr>
              <a:t>٢٠</a:t>
            </a:r>
            <a:endParaRPr lang="ar-SA" sz="3000" dirty="0"/>
          </a:p>
        </p:txBody>
      </p:sp>
      <p:sp>
        <p:nvSpPr>
          <p:cNvPr id="7" name="Text 5"/>
          <p:cNvSpPr/>
          <p:nvPr/>
        </p:nvSpPr>
        <p:spPr>
          <a:xfrm>
            <a:off x="914400" y="5166360"/>
            <a:ext cx="3271418" cy="685800"/>
          </a:xfrm>
          <a:prstGeom prst="rect">
            <a:avLst/>
          </a:prstGeom>
          <a:noFill/>
          <a:ln/>
        </p:spPr>
        <p:txBody>
          <a:bodyPr wrap="square" lIns="0" tIns="0" rIns="0" bIns="0" rtlCol="0" anchor="t">
            <a:normAutofit/>
          </a:bodyPr>
          <a:lstStyle/>
          <a:p>
            <a:pPr rtl="1" algn="ctr" indent="0" marL="0">
              <a:buNone/>
            </a:pPr>
            <a:r>
              <a:rPr lang="ar-SA" altLang="en-US" sz="1800" b="1" dirty="0">
                <a:solidFill>
                  <a:srgbClr val="101B45"/>
                </a:solidFill>
                <a:latin typeface="Cairo" pitchFamily="34" charset="0"/>
                <a:ea typeface="Cairo" pitchFamily="34" charset="-122"/>
                <a:cs typeface="Cairo" pitchFamily="34" charset="-120"/>
              </a:rPr>
              <a:t>وحدك (زيارات فردية)</a:t>
            </a:r>
            <a:endParaRPr lang="ar-SA" sz="1800" dirty="0"/>
          </a:p>
        </p:txBody>
      </p:sp>
      <p:sp>
        <p:nvSpPr>
          <p:cNvPr id="8" name="Shape 6"/>
          <p:cNvSpPr/>
          <p:nvPr/>
        </p:nvSpPr>
        <p:spPr>
          <a:xfrm>
            <a:off x="4551578" y="3483864"/>
            <a:ext cx="3088538" cy="1591056"/>
          </a:xfrm>
          <a:prstGeom prst="rect">
            <a:avLst/>
          </a:prstGeom>
          <a:solidFill>
            <a:srgbClr val="2E9E6B"/>
          </a:solidFill>
          <a:ln/>
        </p:spPr>
      </p:sp>
      <p:sp>
        <p:nvSpPr>
          <p:cNvPr id="9" name="Text 7"/>
          <p:cNvSpPr/>
          <p:nvPr/>
        </p:nvSpPr>
        <p:spPr>
          <a:xfrm>
            <a:off x="4551578" y="2935224"/>
            <a:ext cx="3088538" cy="502920"/>
          </a:xfrm>
          <a:prstGeom prst="rect">
            <a:avLst/>
          </a:prstGeom>
          <a:noFill/>
          <a:ln/>
        </p:spPr>
        <p:txBody>
          <a:bodyPr wrap="square" lIns="0" tIns="0" rIns="0" bIns="0" rtlCol="0" anchor="ctr">
            <a:normAutofit/>
          </a:bodyPr>
          <a:lstStyle/>
          <a:p>
            <a:pPr rtl="1" algn="ctr" indent="0" marL="0">
              <a:buNone/>
            </a:pPr>
            <a:r>
              <a:rPr lang="ar-SA" altLang="en-US" sz="3000" dirty="0">
                <a:solidFill>
                  <a:srgbClr val="2E9E6B"/>
                </a:solidFill>
                <a:latin typeface="Cairo Black" pitchFamily="34" charset="0"/>
                <a:ea typeface="Cairo Black" pitchFamily="34" charset="-122"/>
                <a:cs typeface="Cairo Black" pitchFamily="34" charset="-120"/>
              </a:rPr>
              <a:t>٦٠</a:t>
            </a:r>
            <a:endParaRPr lang="ar-SA" sz="3000" dirty="0"/>
          </a:p>
        </p:txBody>
      </p:sp>
      <p:sp>
        <p:nvSpPr>
          <p:cNvPr id="10" name="Text 8"/>
          <p:cNvSpPr/>
          <p:nvPr/>
        </p:nvSpPr>
        <p:spPr>
          <a:xfrm>
            <a:off x="4460138" y="5166360"/>
            <a:ext cx="3271418" cy="685800"/>
          </a:xfrm>
          <a:prstGeom prst="rect">
            <a:avLst/>
          </a:prstGeom>
          <a:noFill/>
          <a:ln/>
        </p:spPr>
        <p:txBody>
          <a:bodyPr wrap="square" lIns="0" tIns="0" rIns="0" bIns="0" rtlCol="0" anchor="t">
            <a:normAutofit/>
          </a:bodyPr>
          <a:lstStyle/>
          <a:p>
            <a:pPr rtl="1" algn="ctr" indent="0" marL="0">
              <a:buNone/>
            </a:pPr>
            <a:r>
              <a:rPr lang="ar-SA" altLang="en-US" sz="1800" b="1" dirty="0">
                <a:solidFill>
                  <a:srgbClr val="101B45"/>
                </a:solidFill>
                <a:latin typeface="Cairo" pitchFamily="34" charset="0"/>
                <a:ea typeface="Cairo" pitchFamily="34" charset="-122"/>
                <a:cs typeface="Cairo" pitchFamily="34" charset="-120"/>
              </a:rPr>
              <a:t>مع ٤ معلمين خبراء</a:t>
            </a:r>
            <a:endParaRPr lang="ar-SA" sz="1800" dirty="0"/>
          </a:p>
        </p:txBody>
      </p:sp>
      <p:sp>
        <p:nvSpPr>
          <p:cNvPr id="11" name="Shape 9"/>
          <p:cNvSpPr/>
          <p:nvPr/>
        </p:nvSpPr>
        <p:spPr>
          <a:xfrm>
            <a:off x="8097317" y="2423160"/>
            <a:ext cx="3088538" cy="2651760"/>
          </a:xfrm>
          <a:prstGeom prst="rect">
            <a:avLst/>
          </a:prstGeom>
          <a:solidFill>
            <a:srgbClr val="D9AE4B"/>
          </a:solidFill>
          <a:ln/>
        </p:spPr>
      </p:sp>
      <p:sp>
        <p:nvSpPr>
          <p:cNvPr id="12" name="Text 10"/>
          <p:cNvSpPr/>
          <p:nvPr/>
        </p:nvSpPr>
        <p:spPr>
          <a:xfrm>
            <a:off x="8097317" y="1874520"/>
            <a:ext cx="3088538" cy="502920"/>
          </a:xfrm>
          <a:prstGeom prst="rect">
            <a:avLst/>
          </a:prstGeom>
          <a:noFill/>
          <a:ln/>
        </p:spPr>
        <p:txBody>
          <a:bodyPr wrap="square" lIns="0" tIns="0" rIns="0" bIns="0" rtlCol="0" anchor="ctr">
            <a:normAutofit/>
          </a:bodyPr>
          <a:lstStyle/>
          <a:p>
            <a:pPr rtl="1" algn="ctr" indent="0" marL="0">
              <a:buNone/>
            </a:pPr>
            <a:r>
              <a:rPr lang="ar-SA" altLang="en-US" sz="3000" dirty="0">
                <a:solidFill>
                  <a:srgbClr val="D9AE4B"/>
                </a:solidFill>
                <a:latin typeface="Cairo Black" pitchFamily="34" charset="0"/>
                <a:ea typeface="Cairo Black" pitchFamily="34" charset="-122"/>
                <a:cs typeface="Cairo Black" pitchFamily="34" charset="-120"/>
              </a:rPr>
              <a:t>١٠٠</a:t>
            </a:r>
            <a:endParaRPr lang="ar-SA" sz="3000" dirty="0"/>
          </a:p>
        </p:txBody>
      </p:sp>
      <p:sp>
        <p:nvSpPr>
          <p:cNvPr id="13" name="Text 11"/>
          <p:cNvSpPr/>
          <p:nvPr/>
        </p:nvSpPr>
        <p:spPr>
          <a:xfrm>
            <a:off x="8005877" y="5166360"/>
            <a:ext cx="3271418" cy="685800"/>
          </a:xfrm>
          <a:prstGeom prst="rect">
            <a:avLst/>
          </a:prstGeom>
          <a:noFill/>
          <a:ln/>
        </p:spPr>
        <p:txBody>
          <a:bodyPr wrap="square" lIns="0" tIns="0" rIns="0" bIns="0" rtlCol="0" anchor="t">
            <a:normAutofit/>
          </a:bodyPr>
          <a:lstStyle/>
          <a:p>
            <a:pPr rtl="1" algn="ctr" indent="0" marL="0">
              <a:buNone/>
            </a:pPr>
            <a:r>
              <a:rPr lang="ar-SA" altLang="en-US" sz="1800" b="1" dirty="0">
                <a:solidFill>
                  <a:srgbClr val="101B45"/>
                </a:solidFill>
                <a:latin typeface="Cairo" pitchFamily="34" charset="0"/>
                <a:ea typeface="Cairo" pitchFamily="34" charset="-122"/>
                <a:cs typeface="Cairo" pitchFamily="34" charset="-120"/>
              </a:rPr>
              <a:t>مع ٨ معلمين خبراء</a:t>
            </a:r>
            <a:endParaRPr lang="ar-SA" sz="1800" dirty="0"/>
          </a:p>
        </p:txBody>
      </p:sp>
      <p:sp>
        <p:nvSpPr>
          <p:cNvPr id="14" name="Shape 12"/>
          <p:cNvSpPr/>
          <p:nvPr/>
        </p:nvSpPr>
        <p:spPr>
          <a:xfrm>
            <a:off x="822960" y="5074920"/>
            <a:ext cx="10545775" cy="0"/>
          </a:xfrm>
          <a:prstGeom prst="line">
            <a:avLst/>
          </a:prstGeom>
          <a:noFill/>
          <a:ln w="25400">
            <a:solidFill>
              <a:srgbClr val="101B45"/>
            </a:solidFill>
            <a:prstDash val="solid"/>
          </a:ln>
        </p:spPr>
      </p:sp>
      <p:sp>
        <p:nvSpPr>
          <p:cNvPr id="15" name="Text 13"/>
          <p:cNvSpPr/>
          <p:nvPr/>
        </p:nvSpPr>
        <p:spPr>
          <a:xfrm>
            <a:off x="822960" y="5897880"/>
            <a:ext cx="10545775" cy="320040"/>
          </a:xfrm>
          <a:prstGeom prst="rect">
            <a:avLst/>
          </a:prstGeom>
          <a:noFill/>
          <a:ln/>
        </p:spPr>
        <p:txBody>
          <a:bodyPr wrap="square" lIns="0" tIns="0" rIns="0" bIns="0" rtlCol="0" anchor="ctr">
            <a:normAutofit/>
          </a:bodyPr>
          <a:lstStyle/>
          <a:p>
            <a:pPr rtl="1" algn="r" indent="0" marL="0">
              <a:buNone/>
            </a:pPr>
            <a:r>
              <a:rPr lang="ar-SA" altLang="en-US" sz="1600" b="1" dirty="0">
                <a:solidFill>
                  <a:srgbClr val="5E6782"/>
                </a:solidFill>
                <a:latin typeface="Cairo" pitchFamily="34" charset="0"/>
                <a:ea typeface="Cairo" pitchFamily="34" charset="-122"/>
                <a:cs typeface="Cairo" pitchFamily="34" charset="-120"/>
              </a:rPr>
              <a:t>المحور الرأسي: نسبة المعلمين الذين يصلهم تطوير عميق (تقدير توضيحي) · المصدر: تقدير توضيحي لمشرف مسؤول عن ٨٠ معلمًا</a:t>
            </a:r>
            <a:endParaRPr lang="ar-SA" sz="1600" dirty="0"/>
          </a:p>
        </p:txBody>
      </p:sp>
      <p:sp>
        <p:nvSpPr>
          <p:cNvPr id="16" name="Text 1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17" name="Text 1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صانع الخبراء  ·  ١٣٤</a:t>
            </a:r>
            <a:endParaRPr lang="ar-SA" sz="12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pic>
        <p:nvPicPr>
          <p:cNvPr id="2" name="Image 0" descr="/Users/mac/dev/younes-training/ishraf/.pptx-cache/s1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pic>
        <p:nvPicPr>
          <p:cNvPr id="2" name="Image 0" descr="/Users/mac/dev/younes-training/ishraf/.pptx-cache/s1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خطة «مهارة الأسبوع»</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تصنع خبيرًا في ست خطوات؟</a:t>
            </a:r>
            <a:endParaRPr lang="ar-SA" sz="3800" dirty="0"/>
          </a:p>
        </p:txBody>
      </p:sp>
      <p:sp>
        <p:nvSpPr>
          <p:cNvPr id="5" name="anim-g1-1050"/>
          <p:cNvSpPr/>
          <p:nvPr/>
        </p:nvSpPr>
        <p:spPr>
          <a:xfrm>
            <a:off x="822960" y="1920240"/>
            <a:ext cx="10545775" cy="594360"/>
          </a:xfrm>
          <a:prstGeom prst="roundRect">
            <a:avLst>
              <a:gd name="adj" fmla="val 24615"/>
            </a:avLst>
          </a:prstGeom>
          <a:solidFill>
            <a:srgbClr val="FFFFFF"/>
          </a:solidFill>
          <a:ln w="12700">
            <a:solidFill>
              <a:srgbClr val="E4DCC8"/>
            </a:solidFill>
            <a:prstDash val="solid"/>
          </a:ln>
        </p:spPr>
      </p:sp>
      <p:sp>
        <p:nvSpPr>
          <p:cNvPr id="6" name="anim-g1-1051"/>
          <p:cNvSpPr/>
          <p:nvPr/>
        </p:nvSpPr>
        <p:spPr>
          <a:xfrm>
            <a:off x="10728655" y="2011680"/>
            <a:ext cx="411480" cy="411480"/>
          </a:xfrm>
          <a:prstGeom prst="ellipse">
            <a:avLst/>
          </a:prstGeom>
          <a:solidFill>
            <a:srgbClr val="D9AE4B"/>
          </a:solidFill>
          <a:ln/>
        </p:spPr>
      </p:sp>
      <p:sp>
        <p:nvSpPr>
          <p:cNvPr id="7" name="anim-g1-1052"/>
          <p:cNvSpPr/>
          <p:nvPr/>
        </p:nvSpPr>
        <p:spPr>
          <a:xfrm>
            <a:off x="10728655" y="2011680"/>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053"/>
          <p:cNvSpPr/>
          <p:nvPr/>
        </p:nvSpPr>
        <p:spPr>
          <a:xfrm>
            <a:off x="1097280" y="1920240"/>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مهارة واحدة كل أسبوع… بعمق</a:t>
            </a:r>
            <a:pPr algn="r" indent="0" marL="0">
              <a:buNone/>
            </a:pPr>
            <a:r>
              <a:rPr lang="ar-SA" altLang="en-US" sz="1800" b="1" dirty="0">
                <a:solidFill>
                  <a:srgbClr val="3B4460"/>
                </a:solidFill>
                <a:latin typeface="Cairo" pitchFamily="34" charset="0"/>
                <a:ea typeface="Cairo" pitchFamily="34" charset="-122"/>
                <a:cs typeface="Cairo" pitchFamily="34" charset="-120"/>
              </a:rPr>
              <a:t>   — «مهارة تتوطّن خير من ألف مهارة لا تُطبّق»</a:t>
            </a:r>
            <a:endParaRPr lang="ar-SA" sz="2200" dirty="0"/>
          </a:p>
        </p:txBody>
      </p:sp>
      <p:sp>
        <p:nvSpPr>
          <p:cNvPr id="9" name="anim-g2-1054"/>
          <p:cNvSpPr/>
          <p:nvPr/>
        </p:nvSpPr>
        <p:spPr>
          <a:xfrm>
            <a:off x="822960" y="2624328"/>
            <a:ext cx="10545775" cy="594360"/>
          </a:xfrm>
          <a:prstGeom prst="roundRect">
            <a:avLst>
              <a:gd name="adj" fmla="val 24615"/>
            </a:avLst>
          </a:prstGeom>
          <a:solidFill>
            <a:srgbClr val="FFFFFF"/>
          </a:solidFill>
          <a:ln w="12700">
            <a:solidFill>
              <a:srgbClr val="E4DCC8"/>
            </a:solidFill>
            <a:prstDash val="solid"/>
          </a:ln>
        </p:spPr>
      </p:sp>
      <p:sp>
        <p:nvSpPr>
          <p:cNvPr id="10" name="anim-g2-1055"/>
          <p:cNvSpPr/>
          <p:nvPr/>
        </p:nvSpPr>
        <p:spPr>
          <a:xfrm>
            <a:off x="10728655" y="2715768"/>
            <a:ext cx="411480" cy="411480"/>
          </a:xfrm>
          <a:prstGeom prst="ellipse">
            <a:avLst/>
          </a:prstGeom>
          <a:solidFill>
            <a:srgbClr val="D9AE4B"/>
          </a:solidFill>
          <a:ln/>
        </p:spPr>
      </p:sp>
      <p:sp>
        <p:nvSpPr>
          <p:cNvPr id="11" name="anim-g2-1056"/>
          <p:cNvSpPr/>
          <p:nvPr/>
        </p:nvSpPr>
        <p:spPr>
          <a:xfrm>
            <a:off x="10728655" y="2715768"/>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057"/>
          <p:cNvSpPr/>
          <p:nvPr/>
        </p:nvSpPr>
        <p:spPr>
          <a:xfrm>
            <a:off x="1097280" y="2624328"/>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شاشة في غرفة المعلمين</a:t>
            </a:r>
            <a:pPr algn="r" indent="0" marL="0">
              <a:buNone/>
            </a:pPr>
            <a:r>
              <a:rPr lang="ar-SA" altLang="en-US" sz="1800" b="1" dirty="0">
                <a:solidFill>
                  <a:srgbClr val="3B4460"/>
                </a:solidFill>
                <a:latin typeface="Cairo" pitchFamily="34" charset="0"/>
                <a:ea typeface="Cairo" pitchFamily="34" charset="-122"/>
                <a:cs typeface="Cairo" pitchFamily="34" charset="-120"/>
              </a:rPr>
              <a:t>   — المهارة، ومستوياتها، ومقطع قصير لتطبيقها</a:t>
            </a:r>
            <a:endParaRPr lang="ar-SA" sz="2200" dirty="0"/>
          </a:p>
        </p:txBody>
      </p:sp>
      <p:sp>
        <p:nvSpPr>
          <p:cNvPr id="13" name="anim-g3-1058"/>
          <p:cNvSpPr/>
          <p:nvPr/>
        </p:nvSpPr>
        <p:spPr>
          <a:xfrm>
            <a:off x="822960" y="3328416"/>
            <a:ext cx="10545775" cy="594360"/>
          </a:xfrm>
          <a:prstGeom prst="roundRect">
            <a:avLst>
              <a:gd name="adj" fmla="val 24615"/>
            </a:avLst>
          </a:prstGeom>
          <a:solidFill>
            <a:srgbClr val="FFFFFF"/>
          </a:solidFill>
          <a:ln w="12700">
            <a:solidFill>
              <a:srgbClr val="E4DCC8"/>
            </a:solidFill>
            <a:prstDash val="solid"/>
          </a:ln>
        </p:spPr>
      </p:sp>
      <p:sp>
        <p:nvSpPr>
          <p:cNvPr id="14" name="anim-g3-1059"/>
          <p:cNvSpPr/>
          <p:nvPr/>
        </p:nvSpPr>
        <p:spPr>
          <a:xfrm>
            <a:off x="10728655" y="3419856"/>
            <a:ext cx="411480" cy="411480"/>
          </a:xfrm>
          <a:prstGeom prst="ellipse">
            <a:avLst/>
          </a:prstGeom>
          <a:solidFill>
            <a:srgbClr val="D9AE4B"/>
          </a:solidFill>
          <a:ln/>
        </p:spPr>
      </p:sp>
      <p:sp>
        <p:nvSpPr>
          <p:cNvPr id="15" name="anim-g3-1060"/>
          <p:cNvSpPr/>
          <p:nvPr/>
        </p:nvSpPr>
        <p:spPr>
          <a:xfrm>
            <a:off x="10728655" y="3419856"/>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061"/>
          <p:cNvSpPr/>
          <p:nvPr/>
        </p:nvSpPr>
        <p:spPr>
          <a:xfrm>
            <a:off x="1097280" y="3328416"/>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درس نموذجي ٥ دقائق بداية الأسبوع</a:t>
            </a:r>
            <a:pPr algn="r" indent="0" marL="0">
              <a:buNone/>
            </a:pPr>
            <a:r>
              <a:rPr lang="ar-SA" altLang="en-US" sz="1800" b="1" dirty="0">
                <a:solidFill>
                  <a:srgbClr val="3B4460"/>
                </a:solidFill>
                <a:latin typeface="Cairo" pitchFamily="34" charset="0"/>
                <a:ea typeface="Cairo" pitchFamily="34" charset="-122"/>
                <a:cs typeface="Cairo" pitchFamily="34" charset="-120"/>
              </a:rPr>
              <a:t>   — يقدّمه معلم متمكن لا المشرف</a:t>
            </a:r>
            <a:endParaRPr lang="ar-SA" sz="2200" dirty="0"/>
          </a:p>
        </p:txBody>
      </p:sp>
      <p:sp>
        <p:nvSpPr>
          <p:cNvPr id="17" name="anim-g4-1062"/>
          <p:cNvSpPr/>
          <p:nvPr/>
        </p:nvSpPr>
        <p:spPr>
          <a:xfrm>
            <a:off x="822960" y="4032504"/>
            <a:ext cx="10545775" cy="594360"/>
          </a:xfrm>
          <a:prstGeom prst="roundRect">
            <a:avLst>
              <a:gd name="adj" fmla="val 24615"/>
            </a:avLst>
          </a:prstGeom>
          <a:solidFill>
            <a:srgbClr val="FFFFFF"/>
          </a:solidFill>
          <a:ln w="12700">
            <a:solidFill>
              <a:srgbClr val="E4DCC8"/>
            </a:solidFill>
            <a:prstDash val="solid"/>
          </a:ln>
        </p:spPr>
      </p:sp>
      <p:sp>
        <p:nvSpPr>
          <p:cNvPr id="18" name="anim-g4-1063"/>
          <p:cNvSpPr/>
          <p:nvPr/>
        </p:nvSpPr>
        <p:spPr>
          <a:xfrm>
            <a:off x="10728655" y="4123944"/>
            <a:ext cx="411480" cy="411480"/>
          </a:xfrm>
          <a:prstGeom prst="ellipse">
            <a:avLst/>
          </a:prstGeom>
          <a:solidFill>
            <a:srgbClr val="D9AE4B"/>
          </a:solidFill>
          <a:ln/>
        </p:spPr>
      </p:sp>
      <p:sp>
        <p:nvSpPr>
          <p:cNvPr id="19" name="anim-g4-1064"/>
          <p:cNvSpPr/>
          <p:nvPr/>
        </p:nvSpPr>
        <p:spPr>
          <a:xfrm>
            <a:off x="10728655" y="4123944"/>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065"/>
          <p:cNvSpPr/>
          <p:nvPr/>
        </p:nvSpPr>
        <p:spPr>
          <a:xfrm>
            <a:off x="1097280" y="4032504"/>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زيارات قصيرة تركّز على هذه المهارة فقط</a:t>
            </a:r>
            <a:pPr algn="r" indent="0" marL="0">
              <a:buNone/>
            </a:pPr>
            <a:r>
              <a:rPr lang="ar-SA" altLang="en-US" sz="1800" b="1" dirty="0">
                <a:solidFill>
                  <a:srgbClr val="3B4460"/>
                </a:solidFill>
                <a:latin typeface="Cairo" pitchFamily="34" charset="0"/>
                <a:ea typeface="Cairo" pitchFamily="34" charset="-122"/>
                <a:cs typeface="Cairo" pitchFamily="34" charset="-120"/>
              </a:rPr>
              <a:t>   — وتغذية راجعة بالقالب</a:t>
            </a:r>
            <a:endParaRPr lang="ar-SA" sz="2200" dirty="0"/>
          </a:p>
        </p:txBody>
      </p:sp>
      <p:sp>
        <p:nvSpPr>
          <p:cNvPr id="21" name="anim-g5-1066"/>
          <p:cNvSpPr/>
          <p:nvPr/>
        </p:nvSpPr>
        <p:spPr>
          <a:xfrm>
            <a:off x="822960" y="4736592"/>
            <a:ext cx="10545775" cy="594360"/>
          </a:xfrm>
          <a:prstGeom prst="roundRect">
            <a:avLst>
              <a:gd name="adj" fmla="val 24615"/>
            </a:avLst>
          </a:prstGeom>
          <a:solidFill>
            <a:srgbClr val="FFFFFF"/>
          </a:solidFill>
          <a:ln w="12700">
            <a:solidFill>
              <a:srgbClr val="E4DCC8"/>
            </a:solidFill>
            <a:prstDash val="solid"/>
          </a:ln>
        </p:spPr>
      </p:sp>
      <p:sp>
        <p:nvSpPr>
          <p:cNvPr id="22" name="anim-g5-1067"/>
          <p:cNvSpPr/>
          <p:nvPr/>
        </p:nvSpPr>
        <p:spPr>
          <a:xfrm>
            <a:off x="10728655" y="4828032"/>
            <a:ext cx="411480" cy="411480"/>
          </a:xfrm>
          <a:prstGeom prst="ellipse">
            <a:avLst/>
          </a:prstGeom>
          <a:solidFill>
            <a:srgbClr val="D9AE4B"/>
          </a:solidFill>
          <a:ln/>
        </p:spPr>
      </p:sp>
      <p:sp>
        <p:nvSpPr>
          <p:cNvPr id="23" name="anim-g5-1068"/>
          <p:cNvSpPr/>
          <p:nvPr/>
        </p:nvSpPr>
        <p:spPr>
          <a:xfrm>
            <a:off x="10728655" y="4828032"/>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1069"/>
          <p:cNvSpPr/>
          <p:nvPr/>
        </p:nvSpPr>
        <p:spPr>
          <a:xfrm>
            <a:off x="1097280" y="4736592"/>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المتميز يقدّم ورشة لزملائه</a:t>
            </a:r>
            <a:pPr algn="r" indent="0" marL="0">
              <a:buNone/>
            </a:pPr>
            <a:r>
              <a:rPr lang="ar-SA" altLang="en-US" sz="1800" b="1" dirty="0">
                <a:solidFill>
                  <a:srgbClr val="3B4460"/>
                </a:solidFill>
                <a:latin typeface="Cairo" pitchFamily="34" charset="0"/>
                <a:ea typeface="Cairo" pitchFamily="34" charset="-122"/>
                <a:cs typeface="Cairo" pitchFamily="34" charset="-120"/>
              </a:rPr>
              <a:t>   — وأنت تجلس بين الحضور… سعيدًا بصمت</a:t>
            </a:r>
            <a:endParaRPr lang="ar-SA" sz="2200" dirty="0"/>
          </a:p>
        </p:txBody>
      </p:sp>
      <p:sp>
        <p:nvSpPr>
          <p:cNvPr id="25" name="anim-g6-1070"/>
          <p:cNvSpPr/>
          <p:nvPr/>
        </p:nvSpPr>
        <p:spPr>
          <a:xfrm>
            <a:off x="822960" y="5440680"/>
            <a:ext cx="10545775" cy="594360"/>
          </a:xfrm>
          <a:prstGeom prst="roundRect">
            <a:avLst>
              <a:gd name="adj" fmla="val 24615"/>
            </a:avLst>
          </a:prstGeom>
          <a:solidFill>
            <a:srgbClr val="FFFFFF"/>
          </a:solidFill>
          <a:ln w="12700">
            <a:solidFill>
              <a:srgbClr val="E4DCC8"/>
            </a:solidFill>
            <a:prstDash val="solid"/>
          </a:ln>
        </p:spPr>
      </p:sp>
      <p:sp>
        <p:nvSpPr>
          <p:cNvPr id="26" name="anim-g6-1071"/>
          <p:cNvSpPr/>
          <p:nvPr/>
        </p:nvSpPr>
        <p:spPr>
          <a:xfrm>
            <a:off x="10728655" y="5532120"/>
            <a:ext cx="411480" cy="411480"/>
          </a:xfrm>
          <a:prstGeom prst="ellipse">
            <a:avLst/>
          </a:prstGeom>
          <a:solidFill>
            <a:srgbClr val="D9AE4B"/>
          </a:solidFill>
          <a:ln/>
        </p:spPr>
      </p:sp>
      <p:sp>
        <p:nvSpPr>
          <p:cNvPr id="27" name="anim-g6-1072"/>
          <p:cNvSpPr/>
          <p:nvPr/>
        </p:nvSpPr>
        <p:spPr>
          <a:xfrm>
            <a:off x="10728655" y="5532120"/>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٦</a:t>
            </a:r>
            <a:endParaRPr lang="ar-SA" sz="2000" dirty="0"/>
          </a:p>
        </p:txBody>
      </p:sp>
      <p:sp>
        <p:nvSpPr>
          <p:cNvPr id="28" name="anim-g6-1073"/>
          <p:cNvSpPr/>
          <p:nvPr/>
        </p:nvSpPr>
        <p:spPr>
          <a:xfrm>
            <a:off x="1097280" y="5440680"/>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وثّق «نموذج مدرستنا» للمهارة</a:t>
            </a:r>
            <a:pPr algn="r" indent="0" marL="0">
              <a:buNone/>
            </a:pPr>
            <a:r>
              <a:rPr lang="ar-SA" altLang="en-US" sz="1800" b="1" dirty="0">
                <a:solidFill>
                  <a:srgbClr val="3B4460"/>
                </a:solidFill>
                <a:latin typeface="Cairo" pitchFamily="34" charset="0"/>
                <a:ea typeface="Cairo" pitchFamily="34" charset="-122"/>
                <a:cs typeface="Cairo" pitchFamily="34" charset="-120"/>
              </a:rPr>
              <a:t>   — ثم انتقل للمهارة التالية وابنِ عليها</a:t>
            </a:r>
            <a:endParaRPr lang="ar-SA" sz="22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صانع الخبراء  ·  ١٣٧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40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4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name="Slide 1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074" descr="/Users/mac/dev/younes-training/ishraf/assets/media/abujawda.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v/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839151" y="365760"/>
            <a:ext cx="3803904"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839151" y="365760"/>
            <a:ext cx="3803904"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«أبو جودة»</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شاب متحمس انتُدب مستشارًا للجودة في جهة حكومية. بعد أسبوع واحد قدّم تقريرًا أمام الجميع: «الكفاءة منخفضة، والموظفون لا ينفعون، والنماذج كلها يجب أن تتغير».</a:t>
            </a:r>
            <a:endParaRPr lang="ar-SA" sz="2400" dirty="0"/>
          </a:p>
        </p:txBody>
      </p:sp>
      <p:sp>
        <p:nvSpPr>
          <p:cNvPr id="8" name="anim-g1-1075"/>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1076"/>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في اليوم نفسه أُعيد إلى عمله الأصلي. ثم استُدعي بعد أسبوعين، وعُيّن مديرًا للجودة سنة كاملة.</a:t>
            </a:r>
            <a:endParaRPr lang="ar-SA" sz="2400" dirty="0"/>
          </a:p>
        </p:txBody>
      </p:sp>
      <p:sp>
        <p:nvSpPr>
          <p:cNvPr id="10" name="anim-g2-1077"/>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1078"/>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وبعد سنة… لم يتغير شيء في تلك الجهة، إلا أمر واحد: أصبح الموظفون ينادونه «أبو جودة».</a:t>
            </a:r>
            <a:endParaRPr lang="ar-SA" sz="2400" dirty="0"/>
          </a:p>
        </p:txBody>
      </p:sp>
      <p:sp>
        <p:nvSpPr>
          <p:cNvPr id="12" name="anim-g3-1079"/>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1080"/>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وتعلّم الدرس الذي غيّر طريقته إلى الأبد: إذا أردت أن تغيّر الناس فتقبّلهم واحترمهم… واجعل التغيير يخرج من عندهم.</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صانع الخبراء  ·  ١٣٨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name="Slide 1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998568" y="1097280"/>
            <a:ext cx="219456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998568" y="1097280"/>
            <a:ext cx="21945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وفي الحديث</a:t>
            </a:r>
            <a:endParaRPr lang="ar-SA" sz="1800" dirty="0"/>
          </a:p>
        </p:txBody>
      </p:sp>
      <p:sp>
        <p:nvSpPr>
          <p:cNvPr id="4" name="Shape 2"/>
          <p:cNvSpPr/>
          <p:nvPr/>
        </p:nvSpPr>
        <p:spPr>
          <a:xfrm>
            <a:off x="5181448" y="2103120"/>
            <a:ext cx="1828800" cy="32004"/>
          </a:xfrm>
          <a:prstGeom prst="rect">
            <a:avLst/>
          </a:prstGeom>
          <a:solidFill>
            <a:srgbClr val="D9AE4B"/>
          </a:solidFill>
          <a:ln/>
        </p:spPr>
      </p:sp>
      <p:sp>
        <p:nvSpPr>
          <p:cNvPr id="5" name="Text 3"/>
          <p:cNvSpPr/>
          <p:nvPr/>
        </p:nvSpPr>
        <p:spPr>
          <a:xfrm>
            <a:off x="1188720" y="2286000"/>
            <a:ext cx="9814255" cy="2377440"/>
          </a:xfrm>
          <a:prstGeom prst="rect">
            <a:avLst/>
          </a:prstGeom>
          <a:noFill/>
          <a:ln/>
        </p:spPr>
        <p:txBody>
          <a:bodyPr wrap="square" lIns="0" tIns="0" rIns="0" bIns="0" rtlCol="0" anchor="ctr">
            <a:normAutofit/>
          </a:bodyPr>
          <a:lstStyle/>
          <a:p>
            <a:pPr rtl="1" algn="ctr" indent="0" marL="0">
              <a:lnSpc>
                <a:spcPct val="125000"/>
              </a:lnSpc>
              <a:buNone/>
            </a:pPr>
            <a:r>
              <a:rPr lang="ar-SA" altLang="en-US" sz="4000" b="1" dirty="0">
                <a:solidFill>
                  <a:srgbClr val="FFFFFF"/>
                </a:solidFill>
                <a:latin typeface="Amiri" pitchFamily="34" charset="0"/>
                <a:ea typeface="Amiri" pitchFamily="34" charset="-122"/>
                <a:cs typeface="Amiri" pitchFamily="34" charset="-120"/>
              </a:rPr>
              <a:t>من دعا إلى هدى، كان له من الأجر مثلُ أجور من تبعه، لا ينقص ذلك من أجورهم شيئًا</a:t>
            </a:r>
            <a:endParaRPr lang="ar-SA" sz="4000" dirty="0"/>
          </a:p>
        </p:txBody>
      </p:sp>
      <p:sp>
        <p:nvSpPr>
          <p:cNvPr id="6" name="Shape 4"/>
          <p:cNvSpPr/>
          <p:nvPr/>
        </p:nvSpPr>
        <p:spPr>
          <a:xfrm>
            <a:off x="5181448" y="4800600"/>
            <a:ext cx="1828800" cy="32004"/>
          </a:xfrm>
          <a:prstGeom prst="rect">
            <a:avLst/>
          </a:prstGeom>
          <a:solidFill>
            <a:srgbClr val="D9AE4B"/>
          </a:solidFill>
          <a:ln/>
        </p:spPr>
      </p:sp>
      <p:sp>
        <p:nvSpPr>
          <p:cNvPr id="7" name="anim-g1-1081"/>
          <p:cNvSpPr/>
          <p:nvPr/>
        </p:nvSpPr>
        <p:spPr>
          <a:xfrm>
            <a:off x="0" y="5029200"/>
            <a:ext cx="12191695"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9AE4B"/>
                </a:solidFill>
                <a:latin typeface="Cairo" pitchFamily="34" charset="0"/>
                <a:ea typeface="Cairo" pitchFamily="34" charset="-122"/>
                <a:cs typeface="Cairo" pitchFamily="34" charset="-120"/>
              </a:rPr>
              <a:t>رواه مسلم</a:t>
            </a:r>
            <a:endParaRPr lang="ar-SA" sz="1600" dirty="0"/>
          </a:p>
        </p:txBody>
      </p:sp>
      <p:sp>
        <p:nvSpPr>
          <p:cNvPr id="8" name="Text 6"/>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9" name="Text 7"/>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صانع الخبراء  ·  ١٣٩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name="Slide 1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رسالة الدورة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المعلم يتذكره طلابه…</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أما المشرف فلا يتذكره أحد، إلا إذا صنع قصة نجاح</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صانع الخبراء  ·  ١٤٠</a:t>
            </a:r>
            <a:endParaRPr lang="ar-SA" sz="12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71720" y="1188720"/>
            <a:ext cx="204825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5071720" y="1188720"/>
            <a:ext cx="20482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رُبّ همّة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رُبَّ همّةِ مشرفٍ…</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أحيت أمّة</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صانع الخبراء  ·  ١٤١</a:t>
            </a:r>
            <a:endParaRPr lang="ar-SA" sz="12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مصادر المحطة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المراجع</a:t>
            </a:r>
            <a:endParaRPr lang="ar-SA" sz="3800" dirty="0"/>
          </a:p>
        </p:txBody>
      </p:sp>
      <p:sp>
        <p:nvSpPr>
          <p:cNvPr id="5" name="anim-g1-1082"/>
          <p:cNvSpPr/>
          <p:nvPr/>
        </p:nvSpPr>
        <p:spPr>
          <a:xfrm>
            <a:off x="822960" y="1920240"/>
            <a:ext cx="10545775" cy="1298448"/>
          </a:xfrm>
          <a:prstGeom prst="roundRect">
            <a:avLst>
              <a:gd name="adj" fmla="val 11268"/>
            </a:avLst>
          </a:prstGeom>
          <a:solidFill>
            <a:srgbClr val="FFFFFF"/>
          </a:solidFill>
          <a:ln w="12700">
            <a:solidFill>
              <a:srgbClr val="E4DCC8"/>
            </a:solidFill>
            <a:prstDash val="solid"/>
          </a:ln>
        </p:spPr>
      </p:sp>
      <p:sp>
        <p:nvSpPr>
          <p:cNvPr id="6" name="anim-g1-1083"/>
          <p:cNvSpPr/>
          <p:nvPr/>
        </p:nvSpPr>
        <p:spPr>
          <a:xfrm>
            <a:off x="10573207" y="2286000"/>
            <a:ext cx="566928" cy="566928"/>
          </a:xfrm>
          <a:prstGeom prst="ellipse">
            <a:avLst/>
          </a:prstGeom>
          <a:solidFill>
            <a:srgbClr val="D9AE4B"/>
          </a:solidFill>
          <a:ln/>
        </p:spPr>
      </p:sp>
      <p:sp>
        <p:nvSpPr>
          <p:cNvPr id="7" name="anim-g1-1084"/>
          <p:cNvSpPr/>
          <p:nvPr/>
        </p:nvSpPr>
        <p:spPr>
          <a:xfrm>
            <a:off x="10573207" y="228600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085"/>
          <p:cNvSpPr/>
          <p:nvPr/>
        </p:nvSpPr>
        <p:spPr>
          <a:xfrm>
            <a:off x="1097280" y="1920240"/>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Academy of Singapore Teachers. Teacher Leaders Programme</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المعلمون القادة</a:t>
            </a:r>
            <a:endParaRPr lang="ar-SA" sz="2400" dirty="0"/>
          </a:p>
        </p:txBody>
      </p:sp>
      <p:sp>
        <p:nvSpPr>
          <p:cNvPr id="9" name="anim-g2-1086"/>
          <p:cNvSpPr/>
          <p:nvPr/>
        </p:nvSpPr>
        <p:spPr>
          <a:xfrm>
            <a:off x="822960" y="3328416"/>
            <a:ext cx="10545775" cy="1298448"/>
          </a:xfrm>
          <a:prstGeom prst="roundRect">
            <a:avLst>
              <a:gd name="adj" fmla="val 11268"/>
            </a:avLst>
          </a:prstGeom>
          <a:solidFill>
            <a:srgbClr val="FFFFFF"/>
          </a:solidFill>
          <a:ln w="12700">
            <a:solidFill>
              <a:srgbClr val="E4DCC8"/>
            </a:solidFill>
            <a:prstDash val="solid"/>
          </a:ln>
        </p:spPr>
      </p:sp>
      <p:sp>
        <p:nvSpPr>
          <p:cNvPr id="10" name="anim-g2-1087"/>
          <p:cNvSpPr/>
          <p:nvPr/>
        </p:nvSpPr>
        <p:spPr>
          <a:xfrm>
            <a:off x="10573207" y="3694176"/>
            <a:ext cx="566928" cy="566928"/>
          </a:xfrm>
          <a:prstGeom prst="ellipse">
            <a:avLst/>
          </a:prstGeom>
          <a:solidFill>
            <a:srgbClr val="D9AE4B"/>
          </a:solidFill>
          <a:ln/>
        </p:spPr>
      </p:sp>
      <p:sp>
        <p:nvSpPr>
          <p:cNvPr id="11" name="anim-g2-1088"/>
          <p:cNvSpPr/>
          <p:nvPr/>
        </p:nvSpPr>
        <p:spPr>
          <a:xfrm>
            <a:off x="10573207" y="3694176"/>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089"/>
          <p:cNvSpPr/>
          <p:nvPr/>
        </p:nvSpPr>
        <p:spPr>
          <a:xfrm>
            <a:off x="1097280" y="3328416"/>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DuFour, R. Learning by Doing: A Handbook for Professional Learning Communities</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مجتمعات التعلم المهنية</a:t>
            </a:r>
            <a:endParaRPr lang="ar-SA" sz="2400" dirty="0"/>
          </a:p>
        </p:txBody>
      </p:sp>
      <p:sp>
        <p:nvSpPr>
          <p:cNvPr id="13" name="anim-g3-1090"/>
          <p:cNvSpPr/>
          <p:nvPr/>
        </p:nvSpPr>
        <p:spPr>
          <a:xfrm>
            <a:off x="822960" y="4736592"/>
            <a:ext cx="10545775" cy="1298448"/>
          </a:xfrm>
          <a:prstGeom prst="roundRect">
            <a:avLst>
              <a:gd name="adj" fmla="val 11268"/>
            </a:avLst>
          </a:prstGeom>
          <a:solidFill>
            <a:srgbClr val="FFFFFF"/>
          </a:solidFill>
          <a:ln w="12700">
            <a:solidFill>
              <a:srgbClr val="E4DCC8"/>
            </a:solidFill>
            <a:prstDash val="solid"/>
          </a:ln>
        </p:spPr>
      </p:sp>
      <p:sp>
        <p:nvSpPr>
          <p:cNvPr id="14" name="anim-g3-1091"/>
          <p:cNvSpPr/>
          <p:nvPr/>
        </p:nvSpPr>
        <p:spPr>
          <a:xfrm>
            <a:off x="10573207" y="5102352"/>
            <a:ext cx="566928" cy="566928"/>
          </a:xfrm>
          <a:prstGeom prst="ellipse">
            <a:avLst/>
          </a:prstGeom>
          <a:solidFill>
            <a:srgbClr val="D9AE4B"/>
          </a:solidFill>
          <a:ln/>
        </p:spPr>
      </p:sp>
      <p:sp>
        <p:nvSpPr>
          <p:cNvPr id="15" name="anim-g3-1092"/>
          <p:cNvSpPr/>
          <p:nvPr/>
        </p:nvSpPr>
        <p:spPr>
          <a:xfrm>
            <a:off x="10573207" y="510235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093"/>
          <p:cNvSpPr/>
          <p:nvPr/>
        </p:nvSpPr>
        <p:spPr>
          <a:xfrm>
            <a:off x="1097280" y="4736592"/>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صحيح مسلم</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حديث «من دعا إلى هدى»</a:t>
            </a:r>
            <a:endParaRPr lang="ar-SA" sz="24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صانع الخبراء  ·  ١٤٢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name="Slide 1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المحطة ✓</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الختام</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ماذا تعلّمنا؟ وماذا سنفعل غدًا؟</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الختام  ·  ١٤٣</a:t>
            </a:r>
            <a:endParaRPr lang="ar-SA" sz="12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الدورة في ست جمل</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 يبقى بعد أن ننسى التفاصيل</a:t>
            </a:r>
            <a:endParaRPr lang="ar-SA" sz="3800" dirty="0"/>
          </a:p>
        </p:txBody>
      </p:sp>
      <p:sp>
        <p:nvSpPr>
          <p:cNvPr id="5" name="anim-g1-1094"/>
          <p:cNvSpPr/>
          <p:nvPr/>
        </p:nvSpPr>
        <p:spPr>
          <a:xfrm>
            <a:off x="8036357"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095"/>
          <p:cNvSpPr/>
          <p:nvPr/>
        </p:nvSpPr>
        <p:spPr>
          <a:xfrm>
            <a:off x="10527487" y="2267712"/>
            <a:ext cx="566928" cy="566928"/>
          </a:xfrm>
          <a:prstGeom prst="roundRect">
            <a:avLst>
              <a:gd name="adj" fmla="val 32258"/>
            </a:avLst>
          </a:prstGeom>
          <a:solidFill>
            <a:srgbClr val="F7E6BC"/>
          </a:solidFill>
          <a:ln/>
        </p:spPr>
      </p:sp>
      <p:sp>
        <p:nvSpPr>
          <p:cNvPr id="7" name="anim-g1-1096"/>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097"/>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سدّ الفجوة</a:t>
            </a:r>
            <a:endParaRPr lang="ar-SA" sz="2200" dirty="0"/>
          </a:p>
        </p:txBody>
      </p:sp>
      <p:sp>
        <p:nvSpPr>
          <p:cNvPr id="9" name="anim-g1-1098"/>
          <p:cNvSpPr/>
          <p:nvPr/>
        </p:nvSpPr>
        <p:spPr>
          <a:xfrm>
            <a:off x="8310677"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المشرف ليس مقيّمًا… دوره نقل المعلم من الواقع إلى المأمول</a:t>
            </a:r>
            <a:endParaRPr lang="ar-SA" sz="1900" dirty="0"/>
          </a:p>
        </p:txBody>
      </p:sp>
      <p:sp>
        <p:nvSpPr>
          <p:cNvPr id="10" name="anim-g2-1099"/>
          <p:cNvSpPr/>
          <p:nvPr/>
        </p:nvSpPr>
        <p:spPr>
          <a:xfrm>
            <a:off x="4429658"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100"/>
          <p:cNvSpPr/>
          <p:nvPr/>
        </p:nvSpPr>
        <p:spPr>
          <a:xfrm>
            <a:off x="6920789" y="2267712"/>
            <a:ext cx="566928" cy="566928"/>
          </a:xfrm>
          <a:prstGeom prst="roundRect">
            <a:avLst>
              <a:gd name="adj" fmla="val 32258"/>
            </a:avLst>
          </a:prstGeom>
          <a:solidFill>
            <a:srgbClr val="F7E6BC"/>
          </a:solidFill>
          <a:ln/>
        </p:spPr>
      </p:sp>
      <p:sp>
        <p:nvSpPr>
          <p:cNvPr id="12" name="anim-g2-1101"/>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102"/>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كيف تُورَد الإبل</a:t>
            </a:r>
            <a:endParaRPr lang="ar-SA" sz="2200" dirty="0"/>
          </a:p>
        </p:txBody>
      </p:sp>
      <p:sp>
        <p:nvSpPr>
          <p:cNvPr id="14" name="anim-g2-1103"/>
          <p:cNvSpPr/>
          <p:nvPr/>
        </p:nvSpPr>
        <p:spPr>
          <a:xfrm>
            <a:off x="4703978"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القرار الصحيح بنبرة التهديد… لا يصل</a:t>
            </a:r>
            <a:endParaRPr lang="ar-SA" sz="1900" dirty="0"/>
          </a:p>
        </p:txBody>
      </p:sp>
      <p:sp>
        <p:nvSpPr>
          <p:cNvPr id="15" name="anim-g3-1104"/>
          <p:cNvSpPr/>
          <p:nvPr/>
        </p:nvSpPr>
        <p:spPr>
          <a:xfrm>
            <a:off x="822960"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105"/>
          <p:cNvSpPr/>
          <p:nvPr/>
        </p:nvSpPr>
        <p:spPr>
          <a:xfrm>
            <a:off x="3314090" y="2267712"/>
            <a:ext cx="566928" cy="566928"/>
          </a:xfrm>
          <a:prstGeom prst="roundRect">
            <a:avLst>
              <a:gd name="adj" fmla="val 32258"/>
            </a:avLst>
          </a:prstGeom>
          <a:solidFill>
            <a:srgbClr val="F7E6BC"/>
          </a:solidFill>
          <a:ln/>
        </p:spPr>
      </p:sp>
      <p:sp>
        <p:nvSpPr>
          <p:cNvPr id="17" name="anim-g3-1106"/>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107"/>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شخّص قبل أن تنصح</a:t>
            </a:r>
            <a:endParaRPr lang="ar-SA" sz="2200" dirty="0"/>
          </a:p>
        </p:txBody>
      </p:sp>
      <p:sp>
        <p:nvSpPr>
          <p:cNvPr id="19" name="anim-g3-1108"/>
          <p:cNvSpPr/>
          <p:nvPr/>
        </p:nvSpPr>
        <p:spPr>
          <a:xfrm>
            <a:off x="1097280"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يعرف؟ لا يريد؟ لا يستطيع؟</a:t>
            </a:r>
            <a:endParaRPr lang="ar-SA" sz="1900" dirty="0"/>
          </a:p>
        </p:txBody>
      </p:sp>
      <p:sp>
        <p:nvSpPr>
          <p:cNvPr id="20" name="anim-g4-1109"/>
          <p:cNvSpPr/>
          <p:nvPr/>
        </p:nvSpPr>
        <p:spPr>
          <a:xfrm>
            <a:off x="8036357"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1110"/>
          <p:cNvSpPr/>
          <p:nvPr/>
        </p:nvSpPr>
        <p:spPr>
          <a:xfrm>
            <a:off x="10527487" y="4393692"/>
            <a:ext cx="566928" cy="566928"/>
          </a:xfrm>
          <a:prstGeom prst="roundRect">
            <a:avLst>
              <a:gd name="adj" fmla="val 32258"/>
            </a:avLst>
          </a:prstGeom>
          <a:solidFill>
            <a:srgbClr val="F7E6BC"/>
          </a:solidFill>
          <a:ln/>
        </p:spPr>
      </p:sp>
      <p:sp>
        <p:nvSpPr>
          <p:cNvPr id="22" name="anim-g4-1111"/>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1112"/>
          <p:cNvSpPr/>
          <p:nvPr/>
        </p:nvSpPr>
        <p:spPr>
          <a:xfrm>
            <a:off x="8310677"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ديكٌ واحد</a:t>
            </a:r>
            <a:endParaRPr lang="ar-SA" sz="2200" dirty="0"/>
          </a:p>
        </p:txBody>
      </p:sp>
      <p:sp>
        <p:nvSpPr>
          <p:cNvPr id="24" name="anim-g4-1113"/>
          <p:cNvSpPr/>
          <p:nvPr/>
        </p:nvSpPr>
        <p:spPr>
          <a:xfrm>
            <a:off x="8310677"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معايير متفق عليها… وأدلة لا انطباعات</a:t>
            </a:r>
            <a:endParaRPr lang="ar-SA" sz="1900" dirty="0"/>
          </a:p>
        </p:txBody>
      </p:sp>
      <p:sp>
        <p:nvSpPr>
          <p:cNvPr id="25" name="anim-g5-1114"/>
          <p:cNvSpPr/>
          <p:nvPr/>
        </p:nvSpPr>
        <p:spPr>
          <a:xfrm>
            <a:off x="4429658"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6" name="anim-g5-1115"/>
          <p:cNvSpPr/>
          <p:nvPr/>
        </p:nvSpPr>
        <p:spPr>
          <a:xfrm>
            <a:off x="6920789" y="4393692"/>
            <a:ext cx="566928" cy="566928"/>
          </a:xfrm>
          <a:prstGeom prst="roundRect">
            <a:avLst>
              <a:gd name="adj" fmla="val 32258"/>
            </a:avLst>
          </a:prstGeom>
          <a:solidFill>
            <a:srgbClr val="F7E6BC"/>
          </a:solidFill>
          <a:ln/>
        </p:spPr>
      </p:sp>
      <p:sp>
        <p:nvSpPr>
          <p:cNvPr id="27" name="anim-g5-1116"/>
          <p:cNvSpPr/>
          <p:nvPr/>
        </p:nvSpPr>
        <p:spPr>
          <a:xfrm>
            <a:off x="6920789"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8" name="anim-g5-1117"/>
          <p:cNvSpPr/>
          <p:nvPr/>
        </p:nvSpPr>
        <p:spPr>
          <a:xfrm>
            <a:off x="4703978"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ماذا تعلّمنا؟</a:t>
            </a:r>
            <a:endParaRPr lang="ar-SA" sz="2200" dirty="0"/>
          </a:p>
        </p:txBody>
      </p:sp>
      <p:sp>
        <p:nvSpPr>
          <p:cNvPr id="29" name="anim-g5-1118"/>
          <p:cNvSpPr/>
          <p:nvPr/>
        </p:nvSpPr>
        <p:spPr>
          <a:xfrm>
            <a:off x="4703978"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السؤال الذي يجعل المعلم يفكر بنفسه</a:t>
            </a:r>
            <a:endParaRPr lang="ar-SA" sz="1900" dirty="0"/>
          </a:p>
        </p:txBody>
      </p:sp>
      <p:sp>
        <p:nvSpPr>
          <p:cNvPr id="30" name="anim-g6-1119"/>
          <p:cNvSpPr/>
          <p:nvPr/>
        </p:nvSpPr>
        <p:spPr>
          <a:xfrm>
            <a:off x="822960"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31" name="anim-g6-1120"/>
          <p:cNvSpPr/>
          <p:nvPr/>
        </p:nvSpPr>
        <p:spPr>
          <a:xfrm>
            <a:off x="3314090" y="4393692"/>
            <a:ext cx="566928" cy="566928"/>
          </a:xfrm>
          <a:prstGeom prst="roundRect">
            <a:avLst>
              <a:gd name="adj" fmla="val 32258"/>
            </a:avLst>
          </a:prstGeom>
          <a:solidFill>
            <a:srgbClr val="F7E6BC"/>
          </a:solidFill>
          <a:ln/>
        </p:spPr>
      </p:sp>
      <p:sp>
        <p:nvSpPr>
          <p:cNvPr id="32" name="anim-g6-1121"/>
          <p:cNvSpPr/>
          <p:nvPr/>
        </p:nvSpPr>
        <p:spPr>
          <a:xfrm>
            <a:off x="331409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33" name="anim-g6-1122"/>
          <p:cNvSpPr/>
          <p:nvPr/>
        </p:nvSpPr>
        <p:spPr>
          <a:xfrm>
            <a:off x="1097280"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اصنع خبيرًا</a:t>
            </a:r>
            <a:endParaRPr lang="ar-SA" sz="2200" dirty="0"/>
          </a:p>
        </p:txBody>
      </p:sp>
      <p:sp>
        <p:nvSpPr>
          <p:cNvPr id="34" name="anim-g6-1123"/>
          <p:cNvSpPr/>
          <p:nvPr/>
        </p:nvSpPr>
        <p:spPr>
          <a:xfrm>
            <a:off x="1097280"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أثرك الحقيقي فيمن يدرّبون بعدك</a:t>
            </a:r>
            <a:endParaRPr lang="ar-SA" sz="19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الختام  ·  ١٤٤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4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pic>
        <p:nvPicPr>
          <p:cNvPr id="2" name="Image 0" descr="/Users/mac/dev/younes-training/ishraf/.pptx-cache/s14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pic>
        <p:nvPicPr>
          <p:cNvPr id="2" name="Image 0" descr="/Users/mac/dev/younes-training/ishraf/.pptx-cache/s14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613087" y="457200"/>
            <a:ext cx="175564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9613087" y="457200"/>
            <a:ext cx="175564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التزامي</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فكرة واحدة… أطبّقها غدًا</a:t>
            </a:r>
            <a:endParaRPr lang="ar-SA" sz="3800" dirty="0"/>
          </a:p>
        </p:txBody>
      </p:sp>
      <p:sp>
        <p:nvSpPr>
          <p:cNvPr id="5" name="anim-g1-1124"/>
          <p:cNvSpPr/>
          <p:nvPr/>
        </p:nvSpPr>
        <p:spPr>
          <a:xfrm>
            <a:off x="10637215" y="2286000"/>
            <a:ext cx="731520" cy="731520"/>
          </a:xfrm>
          <a:prstGeom prst="ellipse">
            <a:avLst/>
          </a:prstGeom>
          <a:solidFill>
            <a:srgbClr val="D9AE4B"/>
          </a:solidFill>
          <a:ln/>
        </p:spPr>
      </p:sp>
      <p:sp>
        <p:nvSpPr>
          <p:cNvPr id="6" name="anim-g1-1125"/>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1126"/>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اكتب في الدردشة: «في زيارتي القادمة سأ…»</a:t>
            </a:r>
            <a:endParaRPr lang="ar-SA" sz="2200" dirty="0"/>
          </a:p>
        </p:txBody>
      </p:sp>
      <p:sp>
        <p:nvSpPr>
          <p:cNvPr id="8" name="anim-g2-1127"/>
          <p:cNvSpPr/>
          <p:nvPr/>
        </p:nvSpPr>
        <p:spPr>
          <a:xfrm>
            <a:off x="10637215" y="3383280"/>
            <a:ext cx="731520" cy="731520"/>
          </a:xfrm>
          <a:prstGeom prst="ellipse">
            <a:avLst/>
          </a:prstGeom>
          <a:solidFill>
            <a:srgbClr val="D9AE4B"/>
          </a:solidFill>
          <a:ln/>
        </p:spPr>
      </p:sp>
      <p:sp>
        <p:nvSpPr>
          <p:cNvPr id="9" name="anim-g2-1128"/>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1129"/>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حدد المعلم والموعد</a:t>
            </a:r>
            <a:endParaRPr lang="ar-SA" sz="2200" dirty="0"/>
          </a:p>
        </p:txBody>
      </p:sp>
      <p:sp>
        <p:nvSpPr>
          <p:cNvPr id="11" name="anim-g3-1130"/>
          <p:cNvSpPr/>
          <p:nvPr/>
        </p:nvSpPr>
        <p:spPr>
          <a:xfrm>
            <a:off x="10637215" y="4480560"/>
            <a:ext cx="731520" cy="731520"/>
          </a:xfrm>
          <a:prstGeom prst="ellipse">
            <a:avLst/>
          </a:prstGeom>
          <a:solidFill>
            <a:srgbClr val="D9AE4B"/>
          </a:solidFill>
          <a:ln/>
        </p:spPr>
      </p:sp>
      <p:sp>
        <p:nvSpPr>
          <p:cNvPr id="12" name="anim-g3-1131"/>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1132"/>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سأتواصل معك بعد أسبوعين لأسألك: ماذا حدث؟</a:t>
            </a:r>
            <a:endParaRPr lang="ar-SA" sz="2200" dirty="0"/>
          </a:p>
        </p:txBody>
      </p:sp>
      <p:sp>
        <p:nvSpPr>
          <p:cNvPr id="14" name="Shape 12"/>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5" name="Text 13"/>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2:00</a:t>
            </a:r>
            <a:endParaRPr lang="ar-SA" sz="6000" dirty="0"/>
          </a:p>
        </p:txBody>
      </p:sp>
      <p:sp>
        <p:nvSpPr>
          <p:cNvPr id="16" name="Text 14"/>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٢ دقائق</a:t>
            </a:r>
            <a:endParaRPr lang="ar-SA" sz="16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المشرف المطوِّر</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الختام  ·  ١٤٧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pic>
        <p:nvPicPr>
          <p:cNvPr id="2" name="Image 0" descr="/Users/mac/dev/younes-training/ishraf/.pptx-cache/s14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979615" y="457200"/>
            <a:ext cx="4389120" cy="457200"/>
          </a:xfrm>
          <a:prstGeom prst="roundRect">
            <a:avLst>
              <a:gd name="adj" fmla="val 50000"/>
            </a:avLst>
          </a:prstGeom>
          <a:solidFill>
            <a:srgbClr val="F6EBCF"/>
          </a:solidFill>
          <a:ln/>
        </p:spPr>
      </p:sp>
      <p:sp>
        <p:nvSpPr>
          <p:cNvPr id="3" name="Text 1"/>
          <p:cNvSpPr/>
          <p:nvPr/>
        </p:nvSpPr>
        <p:spPr>
          <a:xfrm>
            <a:off x="6979615" y="457200"/>
            <a:ext cx="438912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المراجع الرئيسة للدورة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للاستزادة</a:t>
            </a:r>
            <a:endParaRPr lang="ar-SA" sz="3800" dirty="0"/>
          </a:p>
        </p:txBody>
      </p:sp>
      <p:sp>
        <p:nvSpPr>
          <p:cNvPr id="5" name="anim-g1-1133"/>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1134"/>
          <p:cNvSpPr/>
          <p:nvPr/>
        </p:nvSpPr>
        <p:spPr>
          <a:xfrm>
            <a:off x="10573207" y="2109978"/>
            <a:ext cx="566928" cy="566928"/>
          </a:xfrm>
          <a:prstGeom prst="ellipse">
            <a:avLst/>
          </a:prstGeom>
          <a:solidFill>
            <a:srgbClr val="D9AE4B"/>
          </a:solidFill>
          <a:ln/>
        </p:spPr>
      </p:sp>
      <p:sp>
        <p:nvSpPr>
          <p:cNvPr id="7" name="anim-g1-1135"/>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136"/>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Glickman, C. et al. SuperVision and Instructional Leadership: A Developmental Approach</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المرجع الأهم في الإشراف التربوي الحديث</a:t>
            </a:r>
            <a:endParaRPr lang="ar-SA" sz="2400" dirty="0"/>
          </a:p>
        </p:txBody>
      </p:sp>
      <p:sp>
        <p:nvSpPr>
          <p:cNvPr id="9" name="anim-g2-1137"/>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1138"/>
          <p:cNvSpPr/>
          <p:nvPr/>
        </p:nvSpPr>
        <p:spPr>
          <a:xfrm>
            <a:off x="10573207" y="3166110"/>
            <a:ext cx="566928" cy="566928"/>
          </a:xfrm>
          <a:prstGeom prst="ellipse">
            <a:avLst/>
          </a:prstGeom>
          <a:solidFill>
            <a:srgbClr val="D9AE4B"/>
          </a:solidFill>
          <a:ln/>
        </p:spPr>
      </p:sp>
      <p:sp>
        <p:nvSpPr>
          <p:cNvPr id="11" name="anim-g2-1139"/>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140"/>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City, Elmore, Fiarman &amp; Teitel (2009). Instructional Rounds in Education</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الجولات التعليمية</a:t>
            </a:r>
            <a:endParaRPr lang="ar-SA" sz="2400" dirty="0"/>
          </a:p>
        </p:txBody>
      </p:sp>
      <p:sp>
        <p:nvSpPr>
          <p:cNvPr id="13" name="anim-g3-1141"/>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1142"/>
          <p:cNvSpPr/>
          <p:nvPr/>
        </p:nvSpPr>
        <p:spPr>
          <a:xfrm>
            <a:off x="10573207" y="4222242"/>
            <a:ext cx="566928" cy="566928"/>
          </a:xfrm>
          <a:prstGeom prst="ellipse">
            <a:avLst/>
          </a:prstGeom>
          <a:solidFill>
            <a:srgbClr val="D9AE4B"/>
          </a:solidFill>
          <a:ln/>
        </p:spPr>
      </p:sp>
      <p:sp>
        <p:nvSpPr>
          <p:cNvPr id="15" name="anim-g3-1143"/>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144"/>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Kraft, Blazar &amp; Hogan (2018). The Effect of Teacher Coaching</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أثر التوجيه والمرافقة</a:t>
            </a:r>
            <a:endParaRPr lang="ar-SA" sz="2400" dirty="0"/>
          </a:p>
        </p:txBody>
      </p:sp>
      <p:sp>
        <p:nvSpPr>
          <p:cNvPr id="17" name="anim-g4-1145"/>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1146"/>
          <p:cNvSpPr/>
          <p:nvPr/>
        </p:nvSpPr>
        <p:spPr>
          <a:xfrm>
            <a:off x="10573207" y="5278374"/>
            <a:ext cx="566928" cy="566928"/>
          </a:xfrm>
          <a:prstGeom prst="ellipse">
            <a:avLst/>
          </a:prstGeom>
          <a:solidFill>
            <a:srgbClr val="D9AE4B"/>
          </a:solidFill>
          <a:ln/>
        </p:spPr>
      </p:sp>
      <p:sp>
        <p:nvSpPr>
          <p:cNvPr id="19" name="anim-g4-1147"/>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148"/>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Hattie &amp; Timperley (2007) The Power of Feedback · Ouchi (1981) Theory Z</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التغذية الراجعة والثقة</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المشرف المطوِّر</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الختام  ·  ١٤٩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name="Slide 1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rtl="1" algn="ctr" indent="0" marL="0">
              <a:buNone/>
            </a:pPr>
            <a:r>
              <a:rPr lang="ar-SA" altLang="en-US" sz="8000" dirty="0">
                <a:solidFill>
                  <a:srgbClr val="FFF3D6"/>
                </a:solidFill>
                <a:latin typeface="Cairo Black" pitchFamily="34" charset="0"/>
                <a:ea typeface="Cairo Black" pitchFamily="34" charset="-122"/>
                <a:cs typeface="Cairo Black" pitchFamily="34" charset="-120"/>
              </a:rPr>
              <a:t>شكرًا لكم</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سؤالٌ أخير لكل واحد منا: ماذا تعلّمنا؟</a:t>
            </a:r>
            <a:endParaRPr lang="ar-SA" sz="2800" dirty="0"/>
          </a:p>
        </p:txBody>
      </p:sp>
      <p:sp>
        <p:nvSpPr>
          <p:cNvPr id="6" name="Shape 4"/>
          <p:cNvSpPr/>
          <p:nvPr/>
        </p:nvSpPr>
        <p:spPr>
          <a:xfrm>
            <a:off x="5364328" y="4434840"/>
            <a:ext cx="1463040" cy="36576"/>
          </a:xfrm>
          <a:prstGeom prst="rect">
            <a:avLst/>
          </a:prstGeom>
          <a:solidFill>
            <a:srgbClr val="D9AE4B"/>
          </a:solidFill>
          <a:ln/>
        </p:spPr>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C9CFE6"/>
                </a:solidFill>
                <a:latin typeface="Cairo" pitchFamily="34" charset="0"/>
                <a:ea typeface="Cairo" pitchFamily="34" charset="-122"/>
                <a:cs typeface="Cairo" pitchFamily="34" charset="-120"/>
              </a:rPr>
              <a:t>المشرف المطوِّر · إعداد وتقديم: أ. محمد زيتون</a:t>
            </a:r>
            <a:endParaRPr lang="ar-SA"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150</Slides>
  <Notes>150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150</vt:i4>
      </vt:variant>
    </vt:vector>
  </HeadingPairs>
  <TitlesOfParts>
    <vt:vector size="1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المشرف المطوِّر</dc:title>
  <dc:subject>PptxGenJS Presentation</dc:subject>
  <dc:creator>أ. محمد زيتون</dc:creator>
  <cp:lastModifiedBy>أ. محمد زيتون</cp:lastModifiedBy>
  <cp:revision>1</cp:revision>
  <dcterms:created xsi:type="dcterms:W3CDTF">2026-10-24T14:59:55Z</dcterms:created>
  <dcterms:modified xsi:type="dcterms:W3CDTF">2026-10-24T14:59:55Z</dcterms:modified>
</cp:coreProperties>
</file>