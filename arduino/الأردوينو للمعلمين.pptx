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slideMasters/slideMaster127.xml" ContentType="application/vnd.openxmlformats-officedocument.presentationml.slideMaster+xml"/>
  <Override PartName="/ppt/slides/slide127.xml" ContentType="application/vnd.openxmlformats-officedocument.presentationml.slide+xml"/>
  <Override PartName="/ppt/slideMasters/slideMaster128.xml" ContentType="application/vnd.openxmlformats-officedocument.presentationml.slideMaster+xml"/>
  <Override PartName="/ppt/slides/slide128.xml" ContentType="application/vnd.openxmlformats-officedocument.presentationml.slide+xml"/>
  <Override PartName="/ppt/slideMasters/slideMaster129.xml" ContentType="application/vnd.openxmlformats-officedocument.presentationml.slideMaster+xml"/>
  <Override PartName="/ppt/slides/slide129.xml" ContentType="application/vnd.openxmlformats-officedocument.presentationml.slide+xml"/>
  <Override PartName="/ppt/slideMasters/slideMaster130.xml" ContentType="application/vnd.openxmlformats-officedocument.presentationml.slideMaster+xml"/>
  <Override PartName="/ppt/slides/slide130.xml" ContentType="application/vnd.openxmlformats-officedocument.presentationml.slide+xml"/>
  <Override PartName="/ppt/slideMasters/slideMaster131.xml" ContentType="application/vnd.openxmlformats-officedocument.presentationml.slideMaster+xml"/>
  <Override PartName="/ppt/slides/slide131.xml" ContentType="application/vnd.openxmlformats-officedocument.presentationml.slide+xml"/>
  <Override PartName="/ppt/slideMasters/slideMaster132.xml" ContentType="application/vnd.openxmlformats-officedocument.presentationml.slideMaster+xml"/>
  <Override PartName="/ppt/slides/slide132.xml" ContentType="application/vnd.openxmlformats-officedocument.presentationml.slide+xml"/>
  <Override PartName="/ppt/slideMasters/slideMaster133.xml" ContentType="application/vnd.openxmlformats-officedocument.presentationml.slideMaster+xml"/>
  <Override PartName="/ppt/slides/slide133.xml" ContentType="application/vnd.openxmlformats-officedocument.presentationml.slide+xml"/>
  <Override PartName="/ppt/slideMasters/slideMaster134.xml" ContentType="application/vnd.openxmlformats-officedocument.presentationml.slideMaster+xml"/>
  <Override PartName="/ppt/slides/slide134.xml" ContentType="application/vnd.openxmlformats-officedocument.presentationml.slide+xml"/>
  <Override PartName="/ppt/slideMasters/slideMaster135.xml" ContentType="application/vnd.openxmlformats-officedocument.presentationml.slideMaster+xml"/>
  <Override PartName="/ppt/slides/slide135.xml" ContentType="application/vnd.openxmlformats-officedocument.presentationml.slide+xml"/>
  <Override PartName="/ppt/slideMasters/slideMaster136.xml" ContentType="application/vnd.openxmlformats-officedocument.presentationml.slideMaster+xml"/>
  <Override PartName="/ppt/slides/slide136.xml" ContentType="application/vnd.openxmlformats-officedocument.presentationml.slide+xml"/>
  <Override PartName="/ppt/slideMasters/slideMaster137.xml" ContentType="application/vnd.openxmlformats-officedocument.presentationml.slideMaster+xml"/>
  <Override PartName="/ppt/slides/slide137.xml" ContentType="application/vnd.openxmlformats-officedocument.presentationml.slide+xml"/>
  <Override PartName="/ppt/slideMasters/slideMaster138.xml" ContentType="application/vnd.openxmlformats-officedocument.presentationml.slideMaster+xml"/>
  <Override PartName="/ppt/slides/slide138.xml" ContentType="application/vnd.openxmlformats-officedocument.presentationml.slide+xml"/>
  <Override PartName="/ppt/slideMasters/slideMaster139.xml" ContentType="application/vnd.openxmlformats-officedocument.presentationml.slideMaster+xml"/>
  <Override PartName="/ppt/slides/slide139.xml" ContentType="application/vnd.openxmlformats-officedocument.presentationml.slide+xml"/>
  <Override PartName="/ppt/slideMasters/slideMaster140.xml" ContentType="application/vnd.openxmlformats-officedocument.presentationml.slideMaster+xml"/>
  <Override PartName="/ppt/slides/slide140.xml" ContentType="application/vnd.openxmlformats-officedocument.presentationml.slide+xml"/>
  <Override PartName="/ppt/slideMasters/slideMaster141.xml" ContentType="application/vnd.openxmlformats-officedocument.presentationml.slideMaster+xml"/>
  <Override PartName="/ppt/slides/slide141.xml" ContentType="application/vnd.openxmlformats-officedocument.presentationml.slide+xml"/>
  <Override PartName="/ppt/slideMasters/slideMaster142.xml" ContentType="application/vnd.openxmlformats-officedocument.presentationml.slideMaster+xml"/>
  <Override PartName="/ppt/slides/slide142.xml" ContentType="application/vnd.openxmlformats-officedocument.presentationml.slide+xml"/>
  <Override PartName="/ppt/slideMasters/slideMaster143.xml" ContentType="application/vnd.openxmlformats-officedocument.presentationml.slideMaster+xml"/>
  <Override PartName="/ppt/slides/slide143.xml" ContentType="application/vnd.openxmlformats-officedocument.presentationml.slide+xml"/>
  <Override PartName="/ppt/slideMasters/slideMaster144.xml" ContentType="application/vnd.openxmlformats-officedocument.presentationml.slideMaster+xml"/>
  <Override PartName="/ppt/slides/slide144.xml" ContentType="application/vnd.openxmlformats-officedocument.presentationml.slide+xml"/>
  <Override PartName="/ppt/slideMasters/slideMaster145.xml" ContentType="application/vnd.openxmlformats-officedocument.presentationml.slideMaster+xml"/>
  <Override PartName="/ppt/slides/slide145.xml" ContentType="application/vnd.openxmlformats-officedocument.presentationml.slide+xml"/>
  <Override PartName="/ppt/slideMasters/slideMaster146.xml" ContentType="application/vnd.openxmlformats-officedocument.presentationml.slideMaster+xml"/>
  <Override PartName="/ppt/slides/slide146.xml" ContentType="application/vnd.openxmlformats-officedocument.presentationml.slide+xml"/>
  <Override PartName="/ppt/slideMasters/slideMaster147.xml" ContentType="application/vnd.openxmlformats-officedocument.presentationml.slideMaster+xml"/>
  <Override PartName="/ppt/slides/slide147.xml" ContentType="application/vnd.openxmlformats-officedocument.presentationml.slide+xml"/>
  <Override PartName="/ppt/slideMasters/slideMaster148.xml" ContentType="application/vnd.openxmlformats-officedocument.presentationml.slideMaster+xml"/>
  <Override PartName="/ppt/slides/slide148.xml" ContentType="application/vnd.openxmlformats-officedocument.presentationml.slide+xml"/>
  <Override PartName="/ppt/slideMasters/slideMaster149.xml" ContentType="application/vnd.openxmlformats-officedocument.presentationml.slideMaster+xml"/>
  <Override PartName="/ppt/slides/slide149.xml" ContentType="application/vnd.openxmlformats-officedocument.presentationml.slide+xml"/>
  <Override PartName="/ppt/slideMasters/slideMaster150.xml" ContentType="application/vnd.openxmlformats-officedocument.presentationml.slideMaster+xml"/>
  <Override PartName="/ppt/slides/slide150.xml" ContentType="application/vnd.openxmlformats-officedocument.presentationml.slide+xml"/>
  <Override PartName="/ppt/slideMasters/slideMaster151.xml" ContentType="application/vnd.openxmlformats-officedocument.presentationml.slideMaster+xml"/>
  <Override PartName="/ppt/slides/slide151.xml" ContentType="application/vnd.openxmlformats-officedocument.presentationml.slide+xml"/>
  <Override PartName="/ppt/slideMasters/slideMaster152.xml" ContentType="application/vnd.openxmlformats-officedocument.presentationml.slideMaster+xml"/>
  <Override PartName="/ppt/slides/slide152.xml" ContentType="application/vnd.openxmlformats-officedocument.presentationml.slide+xml"/>
  <Override PartName="/ppt/slideMasters/slideMaster153.xml" ContentType="application/vnd.openxmlformats-officedocument.presentationml.slideMaster+xml"/>
  <Override PartName="/ppt/slides/slide153.xml" ContentType="application/vnd.openxmlformats-officedocument.presentationml.slide+xml"/>
  <Override PartName="/ppt/slideMasters/slideMaster154.xml" ContentType="application/vnd.openxmlformats-officedocument.presentationml.slideMaster+xml"/>
  <Override PartName="/ppt/slides/slide154.xml" ContentType="application/vnd.openxmlformats-officedocument.presentationml.slide+xml"/>
  <Override PartName="/ppt/slideMasters/slideMaster155.xml" ContentType="application/vnd.openxmlformats-officedocument.presentationml.slideMaster+xml"/>
  <Override PartName="/ppt/slides/slide155.xml" ContentType="application/vnd.openxmlformats-officedocument.presentationml.slide+xml"/>
  <Override PartName="/ppt/slideMasters/slideMaster156.xml" ContentType="application/vnd.openxmlformats-officedocument.presentationml.slideMaster+xml"/>
  <Override PartName="/ppt/slides/slide156.xml" ContentType="application/vnd.openxmlformats-officedocument.presentationml.slide+xml"/>
  <Override PartName="/ppt/slideMasters/slideMaster157.xml" ContentType="application/vnd.openxmlformats-officedocument.presentationml.slideMaster+xml"/>
  <Override PartName="/ppt/slides/slide15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Lst>
  <p:notesMasterIdLst>
    <p:notesMasterId r:id="rId15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notesMaster" Target="notesMasters/notesMaster1.xml"/><Relationship Id="rId160" Type="http://schemas.openxmlformats.org/officeDocument/2006/relationships/presProps" Target="presProps.xml"/><Relationship Id="rId161" Type="http://schemas.openxmlformats.org/officeDocument/2006/relationships/viewProps" Target="viewProps.xml"/><Relationship Id="rId162" Type="http://schemas.openxmlformats.org/officeDocument/2006/relationships/theme" Target="theme/theme1.xml"/><Relationship Id="rId16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_rels/notesSlide1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8.xml"/>
		</Relationships>
</file>

<file path=ppt/notesSlides/_rels/notesSlide1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9.xml"/>
		</Relationships>
</file>

<file path=ppt/notesSlides/_rels/notesSlide1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0.xml"/>
		</Relationships>
</file>

<file path=ppt/notesSlides/_rels/notesSlide1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1.xml"/>
		</Relationships>
</file>

<file path=ppt/notesSlides/_rels/notesSlide1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2.xml"/>
		</Relationships>
</file>

<file path=ppt/notesSlides/_rels/notesSlide1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3.xml"/>
		</Relationships>
</file>

<file path=ppt/notesSlides/_rels/notesSlide1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4.xml"/>
		</Relationships>
</file>

<file path=ppt/notesSlides/_rels/notesSlide1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5.xml"/>
		</Relationships>
</file>

<file path=ppt/notesSlides/_rels/notesSlide1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6.xml"/>
		</Relationships>
</file>

<file path=ppt/notesSlides/_rels/notesSlide1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7.xml"/>
		</Relationships>
</file>

<file path=ppt/notesSlides/_rels/notesSlide1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8.xml"/>
		</Relationships>
</file>

<file path=ppt/notesSlides/_rels/notesSlide1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9.xml"/>
		</Relationships>
</file>

<file path=ppt/notesSlides/_rels/notesSlide1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0.xml"/>
		</Relationships>
</file>

<file path=ppt/notesSlides/_rels/notesSlide1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1.xml"/>
		</Relationships>
</file>

<file path=ppt/notesSlides/_rels/notesSlide1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2.xml"/>
		</Relationships>
</file>

<file path=ppt/notesSlides/_rels/notesSlide1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3.xml"/>
		</Relationships>
</file>

<file path=ppt/notesSlides/_rels/notesSlide1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4.xml"/>
		</Relationships>
</file>

<file path=ppt/notesSlides/_rels/notesSlide1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5.xml"/>
		</Relationships>
</file>

<file path=ppt/notesSlides/_rels/notesSlide1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6.xml"/>
		</Relationships>
</file>

<file path=ppt/notesSlides/_rels/notesSlide1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7.xml"/>
		</Relationships>
</file>

<file path=ppt/notesSlides/_rels/notesSlide1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8.xml"/>
		</Relationships>
</file>

<file path=ppt/notesSlides/_rels/notesSlide1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9.xml"/>
		</Relationships>
</file>

<file path=ppt/notesSlides/_rels/notesSlide1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0.xml"/>
		</Relationships>
</file>

<file path=ppt/notesSlides/_rels/notesSlide1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1.xml"/>
		</Relationships>
</file>

<file path=ppt/notesSlides/_rels/notesSlide1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2.xml"/>
		</Relationships>
</file>

<file path=ppt/notesSlides/_rels/notesSlide1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3.xml"/>
		</Relationships>
</file>

<file path=ppt/notesSlides/_rels/notesSlide1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4.xml"/>
		</Relationships>
</file>

<file path=ppt/notesSlides/_rels/notesSlide1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5.xml"/>
		</Relationships>
</file>

<file path=ppt/notesSlides/_rels/notesSlide1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6.xml"/>
		</Relationships>
</file>

<file path=ppt/notesSlides/_rels/notesSlide1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رحّب بالمعلمين. قل: «بعد هذه الدورة سيخرج كل واحد منكم وقد صنع بيده مشروعًا حقيقيًا يعمل، وقادرًا على تعليمه لطلابه».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عرّف بنفسك في أقل من دقيقة، وركّز على تجربتك في تعليم الأردوينو للطلاب.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اترك الصورة ثوانيَ واسأل: «متى آخر مرة رأيتم طالبًا متحمسًا لدرس لدرجة أنه لا يريد أن تنتهي الحصة؟» ستجد أن معظم الإجابات عن نشاط عملي صنعوه بأيديهم.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اربط كل سبب بمادة يدرّسها المعلمون: العلوم (الدوائر)، الرياضيات (المتغيرات والحلقات)، الفنون (الإضاءة الملونة).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اسأل: «من منكم يتذكر أول تجربة علمية نجحت معه؟» — هذه هي اللحظة التي نصنعها لطلابنا.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اضغط «تشغيل» ودع المعلمين يشاهدون الليد يومض والسطر الذي يعمل يتلوّن. ثم حرّك مؤشر الانتظار ليروا أن تغيير رقم واحد يغيّر السرعة. قل: «بنهاية المحور السابع ستكتبون هذا الكود وتفهمون كل سطر فيه».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تأكد أن كل معلم أنشأ حسابه في Tinkercad قبل المحور الرابع.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مرّ على المحاور بسرعة، ووضّح أن كل محور ينتهي بشريحة «كيف تدرّسها لطلابك؟».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هذا النظام يجعل المعلم يخرج من كل محور وهو قادر على تدريسه، لا متعلمًا فقط.</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ابدأ بسؤال: «من سمع كلمة أردوينو قبل اليوم؟ وماذا يعرف عنها؟»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اقرأ الأهداف بسرعة، وارجع إليها في نهاية المحور لتتأكد أنها تحققت.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أمسك لوحة حقيقية إن وجدت، وارفعها أمامهم. قل: «هذه اللوحة الصغيرة تستطيع أن تشغّل إشارة مرور، أو تسقي حديقة، أو تحرّك روبوتًا».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أكّد: كثير من الطلاب يظنون الأردوينو «روبوتًا جاهزًا»، والحقيقة أنه عقل صغير ينتظر تعليماتنا.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اطلب من المعلمين إعادة صياغة التعريف بكلماتهم كأنهم يشرحونه لطالب في الصف الخامس.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المقهى سُمّي باسم «أردوين»، ملك إيطاليا في القرن الحادي عشر، وكان أصله من مدينة إيفريا نفسها. قصة الاسم تشد الطلاب دائمًا.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اسأل: «أي ميزة تهمّ مدرستكم أكثر؟» غالبًا ستكون التكلفة والسهولة.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Uno وNano يعملان بالمتحكم نفسه (ATmega328P)، فأي كود يعمل على أحدهما يعمل على الآخر. Mega يعمل بالمتحكم ATmega2560. ملاحظة للمدرب: في النسخة القديمة كُتب عدد منافذ Mega التناظرية «14»، والصحيح 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اضغط على خيار مباشرة لكشف الإجابة، أو دع المعلمين يصوّتون أولًا.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شجّع المعلمين على استخدام المصطلح العربي مع الإنجليزي أمام الطلاب، فالطالب سيحتاج الإنجليزي عند البحث على الإنترنت.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هذا النشاط يبني الفكرة قبل المصطلحات: الطالب يكتشف بنفسه أن كل جهاز ذكي فيه «مدخل» و«عقل» و«مخرج».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انتقل إلى المحور الثاني: «والآن نفتح اللوحة ونتعرف على كل جزء فيها».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وزّع اللوحات الحقيقية إن وجدت، واطلب من المعلمين الإمساك بها أثناء الشرح.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اضغط «التالي» لتنتقل بين الأجزاء واحدًا واحدًا في جولة منظمة، أو اضغط أي جزء مباشرة إذا سأل أحد المعلمين عنه. اقترح عليهم بعد الدورة استخدام هذه الشريحة نفسها مع طلابهم.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تصحيح مهم من النسخة القديمة: المنافذ التناظرية «مدخلات» تقرأ قيمًا متدرجة. أما إخراج قيمة متدرجة (مثل خفت الإضاءة) فيتم عبر منافذ PWM الرقمية، وسنتعلمها في المحور التاسع.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أحضر مفتاحًا ومقبض صوت (أو صورتيهما)، فالتشبيه الحسي يرسخ الفكرة عند الطلاب.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توقف عند الخيار الثالث: هذا أخطر خطأ يقع فيه الطلاب. اجعلهم يتذكرونه جيدًا.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الجولة الثانية أهم: الطالب الذي يعرف الوظيفة فهم فعلًا، أما من يعرف الاسم فقط فقد حفظ.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في المحور القادم: كيف نغذي اللوحة بالطاقة، وكيف نثبّت برنامج البرمجة.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هذا المحور يجهّز المعلم لأول تجربة حقيقية: تشغيل اللوحة بأمان، وتثبيت البرنامج، وفهم هيكل الكود.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أكّد القاعدة الذهبية: كل ما يزيد على ٥ فولت يدخل من مدخل الطاقة أو Vin فقط، ليمر عبر منظّم الجهد. لا يوصل أبدًا على منفذ 5V.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اطلب من المعلمين كتابة هذه القاعدة على بطاقة تُعلّق في معمل المدرسة.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ملاحظة: الإصدار الحالي هو Arduino IDE 2، وواجهته أحدث من صور المحاضرة القديمة. إن لم يستطع المعلم التثبيت (أجهزة المدرسة مقفلة)، يوجد محرر Arduino على الإنترنت، أو نعمل على Tinkercad مباشرة.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اضغط الزر ليفتح الموقع في نافذة جديدة. أعطِ المعلمين خمس دقائق للتحميل.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اضغط «التالي» لجولة على الأزرار والقوائم، أو اضغط الجزء الذي يسأل عنه المعلمون. أهم ثلاثة: التحقق، والرفع، واختيار اللوحة والمنفذ.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التشبيه الذي يحبه الطلاب: setup مثل تجهيز الحقيبة صباحًا مرة واحدة، و loop مثل دقات القلب التي لا تتوقف.
🖱️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اسأل: «لو وضعنا أمر إشعال الليد في setup فقط، ماذا سيحدث؟» الجواب: يضيء ويبقى مضاءً، ولن يومض.</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بعد النشاط اسأل: «ماذا لو وضعنا التصفيق في setup؟» — هكذا يفهمون الفرق دون أي شرح نظري.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المحور القادم: Tinkercad، حيث نبني الدوائر ونجربها دون أي قطع حقيقية.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قل: «Tinkercad يحل مشكلة المدارس الكبرى: لا حاجة لشراء قطع لكل طالب، ولا خوف من إتلافها».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Tinkercad من شركة Autodesk، ويعمل بالمتصفح دون تثبيت.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نفّذ الخطوات أمامهم مباشرة على Tinkercad، ودعهم يتابعون على أجهزتهم.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أعطهم خمس دقائق، وتجوّل للتأكد أن الجميع وصل إلى مساحة العمل الفارغة.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مرّر الماوس على الثقوب ودعهم يلاحظون النمط، ثم اضغط «التالي» للجولة. الخطوتان الأخيرتان (الليد الصحيح والخاطئ) هما أهم ما في المحور، لأن هذا الخطأ هو الأكثر شيوعًا عند الطلاب.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في الأعمدة اليسرى تظهر الإجابة بعد النقاش. اطرح السؤال أولًا ودع المعلمين يجيبون.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أكّد عادة الألوان: الأحمر للموجب والأسود للسالب. هذه العادة تمنع أخطاء كثيرة وتسهّل اكتشافها.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النشاط الورقي قبل التطبيق يثبّت الصورة الذهنية للاتصالات الداخلية، وهي أصعب فكرة على الطلاب في البداية.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المحور القادم: الدوائر الكهربائية، وأول دائرة LED نبنيها ونشغلها في Tinkercad.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اسأل: «ما الذي يجعل المصباح يضيء عند الضغط على المفتاح؟» الجواب: اكتمل المسار. هذا هو قلب المحور.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الرموز لغة عالمية: الطالب الذي يقرؤها يستطيع فهم أي مخطط في أي كتاب أو موقع في العالم.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ارسم الدائرة على السبورة بالرموز التي تعلموها للتو، واطلب من متطوع أن يتتبع مسار التيار بإصبعه.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اضغط «التالي» ليظهر كل مكوّن في دوره، واطلب من المعلمين توقّع المكوّن التالي قبل ظهوره. عند الخطوة السابعة يسري التيار (النقاط الذهبية المتحركة) ويضيء الليد. التيار الاصطلاحي يتحرك من الموجب إلى السالب.
🖱️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هذه القاعدة وحدها تفسّر نصف أعطال الطلاب: سلك في الصف الخطأ يعني مسارًا مفتوحًا.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ابنِ الدائرة مع المعلمين، وقبل الخطوة الأخيرة اسأل: «ماذا تتوقعون لو تعطّل الليد الثاني؟» ثم اكشف: ينطفئ الجميع لأن المسار الوحيد انقطع.
🖱️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لاحظ أن لكل فرع مقاومته. في الخطوة الأخيرة يتعطّل ليد الفرع الثاني فقط، ويستمر الفرعان الآخران في الإضاءة. اربطها بإنارة البيت: لو احترق مصباح الغرفة لا تنطفئ إنارة البيت كله.
🖱️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اضغط ليدًا في دائرة التوالي: تنطفئ كل الليدات. ثم اضغط ليدًا في التوازي: يبقى الباقي مضاءً. اسأل: «أي طريقة تُستخدم في إنارة بيوتنا؟ ولماذا؟»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لماذا ٤٧٠ أوم؟ سنحسبها معًا في المحور القادم بقانون أوم. في النسخة القديمة لم تُحدد قيمة المقاومة في هذه التجربة.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أعد النشاط بشكل توازي: فرعان من الطلاب، وافصل فرعًا واحدًا ليروا أن الآخر يستمر.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المحور القادم: لماذا نحتاج المقاومة؟ وكيف نحسب قيمتها بقانون أوم؟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ابدأ بقصة: «في أول حصة لي، احترق عندي خمسة ليدات في دقيقة واحدة!» — ثم اسأل: لماذا؟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اعرض المدخل، واطلب من المعلمين اقتراح مخرج يناسبه في مشروع حقيقي، ثم اكشف المثال. الفكرة: الأردوينو يقرأ المدخلات، ويقرر، ثم يشغّل المخرجات.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التيار يتدفق من الموجب إلى السالب عبر الليد. لو عكسنا الساقين لا يمر تيار ولا يضيء، لكنه لا يحترق غالبًا بجهد الأردوينو.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اضغط الألوان لتكوين أي قيمة، أو اختر من القيم الجاهزة. الحلقة الأولى والثانية رقمان، والثالثة عدد الأصفار، والرابعة نسبة الخطأ. مثال: أحمر أحمر بني = 22 وصفر واحد = 220 أوم.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أحضر خرطوم ماء أو صورة صنبور: كلما فتحت الصنبور (زاد الجهد) زاد التدفق، وكلما ضاق الأنبوب (زادت المقاومة) قلّ التدفق.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حيلة المثلث: ضع V في الأعلى، و I و R في الأسفل. غطِّ المجهول بإصبعك فتظهر الصيغة. كلما زاد الجهد زاد التيار، وكلما زادت المقاومة قلّ التيار.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ابدأ بخمسة فولت و٢٢٠ أوم (آمن). ثم خفّض المقاومة تدريجيًا ودع المعلمين يشاهدون المؤشر يدخل المنطقة البرتقالية ثم الحمراء حتى يحترق الليد. هذه اللحظة تُحفر في الذاكرة. المعادلة هنا تطرح جهد الليد (حوالي ٢ فولت) من جهد المصدر.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تمرين للمعلمين: احسبوا المقاومة مع بطارية ٩ فولت. الجواب: (٩−٢)÷٠٫٠١٥ ≈ ٤٦٧، فنختار ٤٧٠ أوم، وهي قيمة المحور السابق.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ملاحظة للمدرب: في النسخة القديمة (المحاضرة الخامسة) كُتب «٢٢٠ درجة مئوية»، والصحيح ٢٢٠ أوم. نبّه المعلمين: الخلط بين الوحدات من أكثر أخطاء الطلاب.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المحور القادم: نكتب أول برنامج حقيقي، ونجعل الليد يومض من الأردوينو.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هذا أهم محور في الدورة: أول كود حقيقي. اجعل الجو احتفاليًا عند أول ليد يومض.</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اطلب من المعلمين الحكم على كل سطر قبل كشفه (اضغط السطر أو «التالي»). لغة C تفرّق بين الحروف الكبيرة والصغيرة، وهذا أكثر ما يُربك المبتدئ.
🖱️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المفاجأة: الثلاثة صحيحة! لكن علّم الطلاب HIGH و LOW لأنها الأوضح في القراءة.
🖱️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عوّد الطلاب على كتابة التعليقات بالعربية منذ اليوم الأول؛ هذا يعكس فهمهم لكل سطر.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اضغط «التالي» لتظهر كل قطعة في دورها، واطلب من المعلمين تنفيذ الخطوة نفسها في Tinkercad قبل الانتقال للتالية. في الخطوة الأخيرة يسري التيار ويومض الليد.
🖱️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مع كل نقرة يُكتب سطر جديد ويظهر شرحه. اطلب من المعلمين كتابة السطر نفسه على أجهزتهم قبل النقرة التالية، فهكذا يتعلمون الكتابة لا القراءة فقط.
🖱️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دع المعلمين يجربون: ما أقل مدة انتظار يستطيعون تمييز الوميض فيها؟ (حوالي ٥٠ ملّي ثانية). هذا مدخل ممتع لفكرة استمرار الرؤية.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اترك المعلمين يبحثون دقيقة قبل كشف الإجابة بنقرة.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تصحيح من النسخة القديمة: كُتب هناك «٢٢٠ درجة مئوية»، والصحيح «٢٢٠ أوم وليس ٢٢٠ كيلو أوم».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هذا النشاط يدرّب على delay وتسلسل الأوامر بطريقة لعب، ويربط البرمجة بتاريخ الاتصالات.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المحور القادم: ثلاثة ليدات معًا في مشروع إشارة المرور، ومعها المتغيرات والحلقات.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اسأل: «كم مرة وقفتم اليوم عند إشارة مرور؟ هل فكرتم أن داخلها عقلًا صغيرًا مثل الأردوينو؟»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كل ليد يحتاج مقاومته الخاصة. نبّه: الخطأ الشائع هو مقاومة واحدة مشتركة لليدات كلها.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هذا الجدول هو «خطة» الكود قبل كتابته. علّم الطلاب أن يرسموا الجدول أولًا، ثم يحوّلوه إلى أوامر.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نفّذ كل خطوة في Tinkercad مع المعلمين قبل الانتقال للتالية. في الخطوة الأخيرة تعمل الإشارة: أخضر ثم أصفر ثم أحمر.
🖱️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بعد اكتمال الكود انتقل إلى المحاكي في الشريحة التالية لتروا الكود نفسه يعمل.
🖱️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اضغط «تشغيل» ودع المعلمين يتابعون تلوّن السطر مع كل لون. فعّل «التسريع» إن أردت. اسأل: «كيف نجعل الأخضر يبقى أطول؟»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هذه هي البرمجة: ليست أوامر كثيرة، بل ترتيب ذكي لأوامر قليلة.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أحضر علبة واكتب عليها «red» وضع بداخلها ورقة مكتوبًا عليها 11. هذا هو int red = 11; تمامًا.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و #define ليس متغيرًا بل «اسم ثابت» يستبدله الحاسوب قبل الترجمة: #define LED 13 (بلا = وبلا فاصلة منقوطة). تصحيح من النسخة القديمة: كُتب «byet» والصحيح byte.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التشبيه: الدوران حول الملعب ٥ مرات. البداية عند الخط، والشرط «هل أكملت ٥؟»، والزيادة عدّ لفة بعد كل دورة.
🖱️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اضغط «تشغيل» وتابع: السطر المنفّذ، وقيمة i، وما يُطبع على الشاشة. لاحظ أن الحلقة تتوقف حين تصبح i = 6. Serial.print يطبع ويبقى على السطر نفسه، و Serial.println يطبع ثم ينزل سطرًا جديدًا.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ربط المشروع بمكان يعرفه الطلاب يرفع حماسهم كثيرًا. اطلب منهم تبرير التوقيت: لماذا اخترتم هذه المدة؟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المحور القادم: كيف نجعل الليد يخفت ويتوهج تدريجيًا؟ ونمزج الألوان بليد RGB.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اسأل: «المنفذ الرقمي يعرف حالتين فقط: ٥ فولت أو صفر. فكيف نحصل على إضاءة نصفية؟» اترك السؤال معلقًا.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التشبيه: مروحة تشغلها وتطفئها بسرعة كبيرة، فتدور بنصف سرعتها. العين لا تلحظ الوميض لأنه أسرع من قدرتها (حوالي ٥٠٠ مرة في الثانية).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حرّك المؤشر ببطء من 0 إلى 255. لاحظ: كلما زادت القيمة، طال زمن التشغيل في كل نبضة، وزاد متوسط الجهد، فزادت الإضاءة. 128 تعني نصف الوقت تقريبًا (٥٠٪).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تنبيه: analogWrite تعمل على منافذ ~ الرقمية، ولا علاقة لها بالمنافذ التناظرية A0–A5 رغم تشابه الاسم.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اطلب تغيير 5 إلى 20 ولاحظوا الفرق. هذا أول مشروع يجمع المتغيرات وحلقة for و analogWrite.
🖱️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هذه التجربة من المحاضرة الثامنة الأصلية، ونقلناها هنا لأنها تشرح PWM بالأرقام.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تصحيح من النسخة القديمة: كُتب «Common Anood» والصحيح Common Anode، وكُتب «R G P» والصحيح RGB. ولكل لون مقاومة ٢٢٠ أوم.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جرّب الألوان الجاهزة أولًا (هي جدول الألوان في المحاضرة الأصلية)، ثم دع المعلمين يصنعون لون علم المملكة الأخضر: تقريبًا (0، 106، 78). ثم بدّل إلى «مصعد مشترك» وشاهد القيم تنعكس في الكود.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يربط هذا النشاط البرمجة بالفن وعلم النفس، ويحبه الطلاب كثيرًا.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المحور القادم: حتى الآن الأردوينو يتكلم فقط. الآن سنجعله يسمع… بالأزرار.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قل: «كل ما صنعناه كان مخرجات. اليوم يصبح الأردوينو قادرًا على اتخاذ قرار بناءً على ما يحدث حوله».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التشبيه: باب غير مقفول يتحرك مع الريح (عائم)، والمقاومة مثل نابض يثبّت الباب في مكانه حتى تفتحه أنت. تصحيح: في المحاضرة الأصلية استُخدمت ١ كيلو أوم، والشائع والأنسب ١٠ كيلو أوم.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اضغط الزر بالماوس واستمر: يضيء الليد وتظهر 1 على الشاشة. ثم ألغِ خيار «مقاومة السحب للأسفل» واترك الزر: ستتقافز الأرقام بين 0 و1 ويرتعش الليد. هذه هي مشكلة «المدخل العائم» التي تحيّر الطلاب في المشاريع الحقيقية.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انتبه للخطوة الخامسة: مقاومة السحب هي حل مشكلة المدخل العائم التي رأيناها في المحاكي. في الخطوة الأخيرة يُضغط الزر تلقائيًا كل لحظة فيضيء الليد.
🖱️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الخطأ الثاني (= بدل ==) من أشهر أخطاء المبرمجين حول العالم، حتى المحترفين.
🖱️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لعبة سرعة الاستجابة تعلّم digitalRead و if و Serial في جو تنافسي ممتع.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المحور الأخير: نجمع كل ما تعلمناه في مشروع تخرج واحد.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هذا المحور يحوّل المعلم من متدرب إلى صانع مشروع، ثم إلى مخطط لتعليم طلابه.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اسأل: «تخيلوا طلابكم في معرض نهاية العام. ماذا تريدون أن يعرضوا؟»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المشروع يجمع: المتغيرات، و pinMode، و digitalWrite، و delay، و digitalRead، و if، و Serial. أعطِ المعلمين ٢٥ دقيقة لبنائه في Tinkercad قبل كشف الحل.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تحدٍّ إضافي للمعلمين: أضيفوا جرسًا (Buzzer) يصفّر أثناء العبور لمساعدة ضعاف البصر.
🖱️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التقييم يركز على الفهم والتواصل، لا على نجاح الدائرة فقط. الطالب الذي يشرح سبب الخطأ فهم أكثر من الذي نجح بالصدفة.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هذه الخارطة تناسب حصتين أسبوعيًا تقريبًا. يمكن مدّها لفصل دراسي كامل مع مشاريع إضافية.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اطلب من المعلمين كتابة إجاباتهم، ومشاركة واحد أو اثنين منها أمام الجميع.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اشكر المعلمين، وذكّرهم بأن الشرائح التفاعلية متاحة لهم على منصة جذور ليستخدموها مع طلابهم.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شريحة الختام.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image" Target="../media/image-3-2.jp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jpeg"/><Relationship Id="rId2" Type="http://schemas.openxmlformats.org/officeDocument/2006/relationships/image" Target="../media/image-12-2.jp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jpe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jpe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jpe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jpe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jpe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jpe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jpe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jpe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jpe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jpe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Slide-27-image-1.jpe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Slide-28-image-1.jpe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Slide-31-image-1.jpe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Slide-32-image-1.jpe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Slide-33-image-1.jpe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Slide-34-image-1.jpe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Slide-35-image-1.jpe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Slide-36-image-1.jpe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g"/><Relationship Id="rId2" Type="http://schemas.openxmlformats.org/officeDocument/2006/relationships/image" Target="../media/image-39-2.jpg"/><Relationship Id="rId3" Type="http://schemas.openxmlformats.org/officeDocument/2006/relationships/image" Target="../media/image-39-3.jpg"/><Relationship Id="rId4" Type="http://schemas.openxmlformats.org/officeDocument/2006/relationships/image" Target="../media/image-39-4.jpg"/><Relationship Id="rId5" Type="http://schemas.openxmlformats.org/officeDocument/2006/relationships/slideLayout" Target="../slideLayouts/slideLayout1.xml"/><Relationship Id="rId6"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Slide-40-image-1.jpe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Slide-41-image-1.jpe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jp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jp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Slide-44-image-1.jpe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Slide-45-image-1.jpe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Slide-46-image-1.jpe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Slide-47-image-1.jpe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Slide-48-image-1.jpe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jp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jp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Slide-51-image-1.jpe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Slide-52-image-1.jpe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Slide-53-image-1.jpe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jp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jp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Slide-56-image-1.jpe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Slide-57-image-1.jpeg"/><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Slide-58-image-1.jpe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jp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Slide-60-image-1.jpeg"/><Relationship Id="rId2" Type="http://schemas.openxmlformats.org/officeDocument/2006/relationships/slideLayout" Target="../slideLayouts/slideLayout1.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jpg"/><Relationship Id="rId2" Type="http://schemas.openxmlformats.org/officeDocument/2006/relationships/image" Target="../media/image-61-2.jpg"/><Relationship Id="rId3" Type="http://schemas.openxmlformats.org/officeDocument/2006/relationships/image" Target="../media/image-61-3.jpg"/><Relationship Id="rId4" Type="http://schemas.openxmlformats.org/officeDocument/2006/relationships/image" Target="../media/image-61-4.jpg"/><Relationship Id="rId5" Type="http://schemas.openxmlformats.org/officeDocument/2006/relationships/image" Target="../media/image-61-5.jpg"/><Relationship Id="rId6" Type="http://schemas.openxmlformats.org/officeDocument/2006/relationships/image" Target="../media/image-61-6.jpg"/><Relationship Id="rId7" Type="http://schemas.openxmlformats.org/officeDocument/2006/relationships/image" Target="../media/image-61-7.jpg"/><Relationship Id="rId8" Type="http://schemas.openxmlformats.org/officeDocument/2006/relationships/image" Target="../media/image-61-8.jpg"/><Relationship Id="rId9" Type="http://schemas.openxmlformats.org/officeDocument/2006/relationships/slideLayout" Target="../slideLayouts/slideLayout1.xml"/><Relationship Id="rId10"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Slide-62-image-1.jpe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jpg"/><Relationship Id="rId2" Type="http://schemas.openxmlformats.org/officeDocument/2006/relationships/image" Target="../media/image-63-2.jpg"/><Relationship Id="rId3" Type="http://schemas.openxmlformats.org/officeDocument/2006/relationships/image" Target="../media/image-63-3.jpg"/><Relationship Id="rId4" Type="http://schemas.openxmlformats.org/officeDocument/2006/relationships/image" Target="../media/image-63-4.jpg"/><Relationship Id="rId5" Type="http://schemas.openxmlformats.org/officeDocument/2006/relationships/image" Target="../media/image-63-5.jpg"/><Relationship Id="rId6" Type="http://schemas.openxmlformats.org/officeDocument/2006/relationships/image" Target="../media/image-63-6.jpg"/><Relationship Id="rId7" Type="http://schemas.openxmlformats.org/officeDocument/2006/relationships/image" Target="../media/image-63-7.jpg"/><Relationship Id="rId8" Type="http://schemas.openxmlformats.org/officeDocument/2006/relationships/image" Target="../media/image-63-8.jpg"/><Relationship Id="rId9" Type="http://schemas.openxmlformats.org/officeDocument/2006/relationships/image" Target="../media/image-63-9.jpg"/><Relationship Id="rId10" Type="http://schemas.openxmlformats.org/officeDocument/2006/relationships/slideLayout" Target="../slideLayouts/slideLayout1.xml"/><Relationship Id="rId11"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jpg"/><Relationship Id="rId2" Type="http://schemas.openxmlformats.org/officeDocument/2006/relationships/image" Target="../media/image-64-2.jpg"/><Relationship Id="rId3" Type="http://schemas.openxmlformats.org/officeDocument/2006/relationships/image" Target="../media/image-64-3.jpg"/><Relationship Id="rId4" Type="http://schemas.openxmlformats.org/officeDocument/2006/relationships/image" Target="../media/image-64-4.jpg"/><Relationship Id="rId5" Type="http://schemas.openxmlformats.org/officeDocument/2006/relationships/image" Target="../media/image-64-5.jpg"/><Relationship Id="rId6" Type="http://schemas.openxmlformats.org/officeDocument/2006/relationships/image" Target="../media/image-64-6.jpg"/><Relationship Id="rId7" Type="http://schemas.openxmlformats.org/officeDocument/2006/relationships/image" Target="../media/image-64-7.jpg"/><Relationship Id="rId8" Type="http://schemas.openxmlformats.org/officeDocument/2006/relationships/image" Target="../media/image-64-8.jpg"/><Relationship Id="rId9" Type="http://schemas.openxmlformats.org/officeDocument/2006/relationships/image" Target="../media/image-64-9.jpg"/><Relationship Id="rId10" Type="http://schemas.openxmlformats.org/officeDocument/2006/relationships/slideLayout" Target="../slideLayouts/slideLayout1.xml"/><Relationship Id="rId11"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jpg"/><Relationship Id="rId2" Type="http://schemas.openxmlformats.org/officeDocument/2006/relationships/slideLayout" Target="../slideLayouts/slideLayout1.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Slide-66-image-1.jpeg"/><Relationship Id="rId2" Type="http://schemas.openxmlformats.org/officeDocument/2006/relationships/slideLayout" Target="../slideLayouts/slideLayout1.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Slide-67-image-1.jpeg"/><Relationship Id="rId2" Type="http://schemas.openxmlformats.org/officeDocument/2006/relationships/slideLayout" Target="../slideLayouts/slideLayout1.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Slide-68-image-1.jpeg"/><Relationship Id="rId2" Type="http://schemas.openxmlformats.org/officeDocument/2006/relationships/slideLayout" Target="../slideLayouts/slideLayout1.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jpg"/><Relationship Id="rId2" Type="http://schemas.openxmlformats.org/officeDocument/2006/relationships/slideLayout" Target="../slideLayouts/slideLayout1.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jpg"/><Relationship Id="rId2" Type="http://schemas.openxmlformats.org/officeDocument/2006/relationships/slideLayout" Target="../slideLayouts/slideLayout1.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Slide-71-image-1.jpeg"/><Relationship Id="rId2" Type="http://schemas.openxmlformats.org/officeDocument/2006/relationships/slideLayout" Target="../slideLayouts/slideLayout1.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Slide-72-image-1.jpeg"/><Relationship Id="rId2" Type="http://schemas.openxmlformats.org/officeDocument/2006/relationships/slideLayout" Target="../slideLayouts/slideLayout1.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Slide-73-image-1.jpeg"/><Relationship Id="rId2" Type="http://schemas.openxmlformats.org/officeDocument/2006/relationships/slideLayout" Target="../slideLayouts/slideLayout1.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Slide-74-image-1.jpeg"/><Relationship Id="rId2" Type="http://schemas.openxmlformats.org/officeDocument/2006/relationships/slideLayout" Target="../slideLayouts/slideLayout1.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jpg"/><Relationship Id="rId2" Type="http://schemas.openxmlformats.org/officeDocument/2006/relationships/slideLayout" Target="../slideLayouts/slideLayout1.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Slide-76-image-1.jpeg"/><Relationship Id="rId2" Type="http://schemas.openxmlformats.org/officeDocument/2006/relationships/slideLayout" Target="../slideLayouts/slideLayout1.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image" Target="../media/image-77-1.jpg"/><Relationship Id="rId2" Type="http://schemas.openxmlformats.org/officeDocument/2006/relationships/slideLayout" Target="../slideLayouts/slideLayout1.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Slide-78-image-1.jpeg"/><Relationship Id="rId2" Type="http://schemas.openxmlformats.org/officeDocument/2006/relationships/slideLayout" Target="../slideLayouts/slideLayout1.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Slide-79-image-1.jpeg"/><Relationship Id="rId2" Type="http://schemas.openxmlformats.org/officeDocument/2006/relationships/slideLayout" Target="../slideLayouts/slideLayout1.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image-80-1.jpg"/><Relationship Id="rId2" Type="http://schemas.openxmlformats.org/officeDocument/2006/relationships/slideLayout" Target="../slideLayouts/slideLayout1.xml"/><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image" Target="../media/Slide-81-image-1.jpeg"/><Relationship Id="rId2" Type="http://schemas.openxmlformats.org/officeDocument/2006/relationships/slideLayout" Target="../slideLayouts/slideLayout1.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image" Target="../media/Slide-82-image-1.jpeg"/><Relationship Id="rId2" Type="http://schemas.openxmlformats.org/officeDocument/2006/relationships/slideLayout" Target="../slideLayouts/slideLayout1.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image" Target="../media/image-83-1.jpg"/><Relationship Id="rId2" Type="http://schemas.openxmlformats.org/officeDocument/2006/relationships/slideLayout" Target="../slideLayouts/slideLayout1.xml"/><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image" Target="../media/image-84-1.jpg"/><Relationship Id="rId2" Type="http://schemas.openxmlformats.org/officeDocument/2006/relationships/slideLayout" Target="../slideLayouts/slideLayout1.xml"/><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image" Target="../media/Slide-85-image-1.jpeg"/><Relationship Id="rId2" Type="http://schemas.openxmlformats.org/officeDocument/2006/relationships/slideLayout" Target="../slideLayouts/slideLayout1.xml"/><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image" Target="../media/Slide-86-image-1.jpeg"/><Relationship Id="rId2" Type="http://schemas.openxmlformats.org/officeDocument/2006/relationships/slideLayout" Target="../slideLayouts/slideLayout1.xml"/><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image" Target="../media/Slide-87-image-1.jpeg"/><Relationship Id="rId2" Type="http://schemas.openxmlformats.org/officeDocument/2006/relationships/slideLayout" Target="../slideLayouts/slideLayout1.xml"/><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image" Target="../media/image-88-1.jpg"/><Relationship Id="rId2" Type="http://schemas.openxmlformats.org/officeDocument/2006/relationships/image" Target="../media/image-88-2.jpg"/><Relationship Id="rId3" Type="http://schemas.openxmlformats.org/officeDocument/2006/relationships/image" Target="../media/image-88-3.jpg"/><Relationship Id="rId4" Type="http://schemas.openxmlformats.org/officeDocument/2006/relationships/image" Target="../media/image-88-4.jpg"/><Relationship Id="rId5" Type="http://schemas.openxmlformats.org/officeDocument/2006/relationships/slideLayout" Target="../slideLayouts/slideLayout1.xml"/><Relationship Id="rId6"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image" Target="../media/image-89-1.jpg"/><Relationship Id="rId2" Type="http://schemas.openxmlformats.org/officeDocument/2006/relationships/image" Target="../media/image-89-2.jpg"/><Relationship Id="rId3" Type="http://schemas.openxmlformats.org/officeDocument/2006/relationships/image" Target="../media/image-89-3.jpg"/><Relationship Id="rId4" Type="http://schemas.openxmlformats.org/officeDocument/2006/relationships/image" Target="../media/image-89-4.jpg"/><Relationship Id="rId5" Type="http://schemas.openxmlformats.org/officeDocument/2006/relationships/slideLayout" Target="../slideLayouts/slideLayout1.xml"/><Relationship Id="rId6"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image" Target="../media/image-90-1.jpg"/><Relationship Id="rId2" Type="http://schemas.openxmlformats.org/officeDocument/2006/relationships/image" Target="../media/image-90-2.jpg"/><Relationship Id="rId3" Type="http://schemas.openxmlformats.org/officeDocument/2006/relationships/image" Target="../media/image-90-3.jpg"/><Relationship Id="rId4" Type="http://schemas.openxmlformats.org/officeDocument/2006/relationships/image" Target="../media/image-90-4.jpg"/><Relationship Id="rId5" Type="http://schemas.openxmlformats.org/officeDocument/2006/relationships/image" Target="../media/image-90-5.jpg"/><Relationship Id="rId6" Type="http://schemas.openxmlformats.org/officeDocument/2006/relationships/image" Target="../media/image-90-6.jpg"/><Relationship Id="rId7" Type="http://schemas.openxmlformats.org/officeDocument/2006/relationships/image" Target="../media/image-90-7.jpg"/><Relationship Id="rId8" Type="http://schemas.openxmlformats.org/officeDocument/2006/relationships/slideLayout" Target="../slideLayouts/slideLayout1.xml"/><Relationship Id="rId9"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image" Target="../media/image-91-1.jpg"/><Relationship Id="rId2" Type="http://schemas.openxmlformats.org/officeDocument/2006/relationships/image" Target="../media/image-91-2.jpg"/><Relationship Id="rId3" Type="http://schemas.openxmlformats.org/officeDocument/2006/relationships/image" Target="../media/image-91-3.jpg"/><Relationship Id="rId4" Type="http://schemas.openxmlformats.org/officeDocument/2006/relationships/image" Target="../media/image-91-4.jpg"/><Relationship Id="rId5" Type="http://schemas.openxmlformats.org/officeDocument/2006/relationships/image" Target="../media/image-91-5.jpg"/><Relationship Id="rId6" Type="http://schemas.openxmlformats.org/officeDocument/2006/relationships/slideLayout" Target="../slideLayouts/slideLayout1.xml"/><Relationship Id="rId7"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image" Target="../media/Slide-92-image-1.jpeg"/><Relationship Id="rId2" Type="http://schemas.openxmlformats.org/officeDocument/2006/relationships/slideLayout" Target="../slideLayouts/slideLayout1.xml"/><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image" Target="../media/image-93-1.jpg"/><Relationship Id="rId2" Type="http://schemas.openxmlformats.org/officeDocument/2006/relationships/image" Target="../media/image-93-2.jpg"/><Relationship Id="rId3" Type="http://schemas.openxmlformats.org/officeDocument/2006/relationships/image" Target="../media/image-93-3.jpg"/><Relationship Id="rId4" Type="http://schemas.openxmlformats.org/officeDocument/2006/relationships/image" Target="../media/image-93-4.jpg"/><Relationship Id="rId5" Type="http://schemas.openxmlformats.org/officeDocument/2006/relationships/image" Target="../media/image-93-5.jpg"/><Relationship Id="rId6" Type="http://schemas.openxmlformats.org/officeDocument/2006/relationships/image" Target="../media/image-93-6.jpg"/><Relationship Id="rId7" Type="http://schemas.openxmlformats.org/officeDocument/2006/relationships/image" Target="../media/image-93-7.jpg"/><Relationship Id="rId8" Type="http://schemas.openxmlformats.org/officeDocument/2006/relationships/slideLayout" Target="../slideLayouts/slideLayout1.xml"/><Relationship Id="rId9"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image" Target="../media/image-94-1.jpg"/><Relationship Id="rId2" Type="http://schemas.openxmlformats.org/officeDocument/2006/relationships/image" Target="../media/image-94-2.jpg"/><Relationship Id="rId3" Type="http://schemas.openxmlformats.org/officeDocument/2006/relationships/image" Target="../media/image-94-3.jpg"/><Relationship Id="rId4" Type="http://schemas.openxmlformats.org/officeDocument/2006/relationships/image" Target="../media/image-94-4.jpg"/><Relationship Id="rId5" Type="http://schemas.openxmlformats.org/officeDocument/2006/relationships/image" Target="../media/image-94-5.jpg"/><Relationship Id="rId6" Type="http://schemas.openxmlformats.org/officeDocument/2006/relationships/image" Target="../media/image-94-6.jpg"/><Relationship Id="rId7" Type="http://schemas.openxmlformats.org/officeDocument/2006/relationships/image" Target="../media/image-94-7.jpg"/><Relationship Id="rId8" Type="http://schemas.openxmlformats.org/officeDocument/2006/relationships/image" Target="../media/image-94-8.jpg"/><Relationship Id="rId9" Type="http://schemas.openxmlformats.org/officeDocument/2006/relationships/image" Target="../media/image-94-9.jpg"/><Relationship Id="rId10" Type="http://schemas.openxmlformats.org/officeDocument/2006/relationships/image" Target="../media/image-94-10.jpg"/><Relationship Id="rId11" Type="http://schemas.openxmlformats.org/officeDocument/2006/relationships/image" Target="../media/image-94-11.jpg"/><Relationship Id="rId12" Type="http://schemas.openxmlformats.org/officeDocument/2006/relationships/slideLayout" Target="../slideLayouts/slideLayout1.xml"/><Relationship Id="rId13"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image" Target="../media/Slide-95-image-1.jpeg"/><Relationship Id="rId2" Type="http://schemas.openxmlformats.org/officeDocument/2006/relationships/slideLayout" Target="../slideLayouts/slideLayout1.xml"/><Relationship Id="rId3"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image" Target="../media/image-96-1.jpg"/><Relationship Id="rId2" Type="http://schemas.openxmlformats.org/officeDocument/2006/relationships/slideLayout" Target="../slideLayouts/slideLayout1.xml"/><Relationship Id="rId3"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image" Target="../media/image-97-1.jpg"/><Relationship Id="rId2" Type="http://schemas.openxmlformats.org/officeDocument/2006/relationships/slideLayout" Target="../slideLayouts/slideLayout1.xml"/><Relationship Id="rId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image" Target="../media/image-98-1.jpg"/><Relationship Id="rId2" Type="http://schemas.openxmlformats.org/officeDocument/2006/relationships/slideLayout" Target="../slideLayouts/slideLayout1.xml"/><Relationship Id="rId3"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image" Target="../media/Slide-99-image-1.jpeg"/><Relationship Id="rId2" Type="http://schemas.openxmlformats.org/officeDocument/2006/relationships/slideLayout" Target="../slideLayouts/slideLayout1.xml"/><Relationship Id="rId3"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image" Target="../media/image-100-1.jpg"/><Relationship Id="rId2" Type="http://schemas.openxmlformats.org/officeDocument/2006/relationships/image" Target="../media/image-100-2.jpg"/><Relationship Id="rId3" Type="http://schemas.openxmlformats.org/officeDocument/2006/relationships/image" Target="../media/image-100-3.jpg"/><Relationship Id="rId4" Type="http://schemas.openxmlformats.org/officeDocument/2006/relationships/image" Target="../media/image-100-4.jpg"/><Relationship Id="rId5" Type="http://schemas.openxmlformats.org/officeDocument/2006/relationships/image" Target="../media/image-100-5.jpg"/><Relationship Id="rId6" Type="http://schemas.openxmlformats.org/officeDocument/2006/relationships/image" Target="../media/image-100-6.jpg"/><Relationship Id="rId7" Type="http://schemas.openxmlformats.org/officeDocument/2006/relationships/image" Target="../media/image-100-7.jpg"/><Relationship Id="rId8" Type="http://schemas.openxmlformats.org/officeDocument/2006/relationships/image" Target="../media/image-100-8.jpg"/><Relationship Id="rId9" Type="http://schemas.openxmlformats.org/officeDocument/2006/relationships/slideLayout" Target="../slideLayouts/slideLayout1.xml"/><Relationship Id="rId10"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image" Target="../media/image-101-1.jpg"/><Relationship Id="rId2" Type="http://schemas.openxmlformats.org/officeDocument/2006/relationships/slideLayout" Target="../slideLayouts/slideLayout1.xml"/><Relationship Id="rId3"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image" Target="../media/image-102-1.jpg"/><Relationship Id="rId2" Type="http://schemas.openxmlformats.org/officeDocument/2006/relationships/slideLayout" Target="../slideLayouts/slideLayout1.xml"/><Relationship Id="rId3"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image" Target="../media/Slide-103-image-1.jpeg"/><Relationship Id="rId2" Type="http://schemas.openxmlformats.org/officeDocument/2006/relationships/slideLayout" Target="../slideLayouts/slideLayout1.xml"/><Relationship Id="rId3"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image" Target="../media/Slide-104-image-1.jpeg"/><Relationship Id="rId2" Type="http://schemas.openxmlformats.org/officeDocument/2006/relationships/slideLayout" Target="../slideLayouts/slideLayout1.xml"/><Relationship Id="rId3"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image" Target="../media/Slide-105-image-1.jpeg"/><Relationship Id="rId2" Type="http://schemas.openxmlformats.org/officeDocument/2006/relationships/slideLayout" Target="../slideLayouts/slideLayout1.xml"/><Relationship Id="rId3"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image" Target="../media/Slide-106-image-1.jpeg"/><Relationship Id="rId2" Type="http://schemas.openxmlformats.org/officeDocument/2006/relationships/slideLayout" Target="../slideLayouts/slideLayout1.xml"/><Relationship Id="rId3"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image" Target="../media/Slide-107-image-1.jpeg"/><Relationship Id="rId2" Type="http://schemas.openxmlformats.org/officeDocument/2006/relationships/slideLayout" Target="../slideLayouts/slideLayout1.xml"/><Relationship Id="rId3"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image" Target="../media/image-108-1.jpg"/><Relationship Id="rId2" Type="http://schemas.openxmlformats.org/officeDocument/2006/relationships/image" Target="../media/image-108-2.jpg"/><Relationship Id="rId3" Type="http://schemas.openxmlformats.org/officeDocument/2006/relationships/image" Target="../media/image-108-3.jpg"/><Relationship Id="rId4" Type="http://schemas.openxmlformats.org/officeDocument/2006/relationships/image" Target="../media/image-108-4.jpg"/><Relationship Id="rId5" Type="http://schemas.openxmlformats.org/officeDocument/2006/relationships/image" Target="../media/image-108-5.jpg"/><Relationship Id="rId6" Type="http://schemas.openxmlformats.org/officeDocument/2006/relationships/image" Target="../media/image-108-6.jpg"/><Relationship Id="rId7" Type="http://schemas.openxmlformats.org/officeDocument/2006/relationships/image" Target="../media/image-108-7.jpg"/><Relationship Id="rId8" Type="http://schemas.openxmlformats.org/officeDocument/2006/relationships/image" Target="../media/image-108-8.jpg"/><Relationship Id="rId9" Type="http://schemas.openxmlformats.org/officeDocument/2006/relationships/image" Target="../media/image-108-9.jpg"/><Relationship Id="rId10" Type="http://schemas.openxmlformats.org/officeDocument/2006/relationships/image" Target="../media/image-108-10.jpg"/><Relationship Id="rId11" Type="http://schemas.openxmlformats.org/officeDocument/2006/relationships/slideLayout" Target="../slideLayouts/slideLayout1.xml"/><Relationship Id="rId1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image" Target="../media/image-109-1.jpg"/><Relationship Id="rId2" Type="http://schemas.openxmlformats.org/officeDocument/2006/relationships/image" Target="../media/image-109-2.jpg"/><Relationship Id="rId3" Type="http://schemas.openxmlformats.org/officeDocument/2006/relationships/image" Target="../media/image-109-3.jpg"/><Relationship Id="rId4" Type="http://schemas.openxmlformats.org/officeDocument/2006/relationships/image" Target="../media/image-109-4.jpg"/><Relationship Id="rId5" Type="http://schemas.openxmlformats.org/officeDocument/2006/relationships/image" Target="../media/image-109-5.jpg"/><Relationship Id="rId6" Type="http://schemas.openxmlformats.org/officeDocument/2006/relationships/image" Target="../media/image-109-6.jpg"/><Relationship Id="rId7" Type="http://schemas.openxmlformats.org/officeDocument/2006/relationships/image" Target="../media/image-109-7.jpg"/><Relationship Id="rId8" Type="http://schemas.openxmlformats.org/officeDocument/2006/relationships/image" Target="../media/image-109-8.jpg"/><Relationship Id="rId9" Type="http://schemas.openxmlformats.org/officeDocument/2006/relationships/image" Target="../media/image-109-9.jpg"/><Relationship Id="rId10" Type="http://schemas.openxmlformats.org/officeDocument/2006/relationships/image" Target="../media/image-109-10.jpg"/><Relationship Id="rId11" Type="http://schemas.openxmlformats.org/officeDocument/2006/relationships/image" Target="../media/image-109-11.jpg"/><Relationship Id="rId12" Type="http://schemas.openxmlformats.org/officeDocument/2006/relationships/image" Target="../media/image-109-12.jpg"/><Relationship Id="rId13" Type="http://schemas.openxmlformats.org/officeDocument/2006/relationships/image" Target="../media/image-109-13.jpg"/><Relationship Id="rId14" Type="http://schemas.openxmlformats.org/officeDocument/2006/relationships/image" Target="../media/image-109-14.jpg"/><Relationship Id="rId15" Type="http://schemas.openxmlformats.org/officeDocument/2006/relationships/slideLayout" Target="../slideLayouts/slideLayout1.xml"/><Relationship Id="rId16"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image" Target="../media/image-110-1.jpg"/><Relationship Id="rId2" Type="http://schemas.openxmlformats.org/officeDocument/2006/relationships/slideLayout" Target="../slideLayouts/slideLayout1.xml"/><Relationship Id="rId3"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image" Target="../media/Slide-111-image-1.jpeg"/><Relationship Id="rId2" Type="http://schemas.openxmlformats.org/officeDocument/2006/relationships/slideLayout" Target="../slideLayouts/slideLayout1.xml"/><Relationship Id="rId3"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image" Target="../media/Slide-112-image-1.jpeg"/><Relationship Id="rId2" Type="http://schemas.openxmlformats.org/officeDocument/2006/relationships/slideLayout" Target="../slideLayouts/slideLayout1.xml"/><Relationship Id="rId3"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image" Target="../media/image-113-1.jpg"/><Relationship Id="rId2" Type="http://schemas.openxmlformats.org/officeDocument/2006/relationships/image" Target="../media/image-113-2.jpg"/><Relationship Id="rId3" Type="http://schemas.openxmlformats.org/officeDocument/2006/relationships/image" Target="../media/image-113-3.jpg"/><Relationship Id="rId4" Type="http://schemas.openxmlformats.org/officeDocument/2006/relationships/image" Target="../media/image-113-4.jpg"/><Relationship Id="rId5" Type="http://schemas.openxmlformats.org/officeDocument/2006/relationships/slideLayout" Target="../slideLayouts/slideLayout1.xml"/><Relationship Id="rId6"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image" Target="../media/Slide-114-image-1.jpeg"/><Relationship Id="rId2" Type="http://schemas.openxmlformats.org/officeDocument/2006/relationships/slideLayout" Target="../slideLayouts/slideLayout1.xml"/><Relationship Id="rId3"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image" Target="../media/image-115-1.jpg"/><Relationship Id="rId2" Type="http://schemas.openxmlformats.org/officeDocument/2006/relationships/image" Target="../media/image-115-2.jpg"/><Relationship Id="rId3" Type="http://schemas.openxmlformats.org/officeDocument/2006/relationships/image" Target="../media/image-115-3.jpg"/><Relationship Id="rId4" Type="http://schemas.openxmlformats.org/officeDocument/2006/relationships/image" Target="../media/image-115-4.jpg"/><Relationship Id="rId5" Type="http://schemas.openxmlformats.org/officeDocument/2006/relationships/image" Target="../media/image-115-5.jpg"/><Relationship Id="rId6" Type="http://schemas.openxmlformats.org/officeDocument/2006/relationships/image" Target="../media/image-115-6.jpg"/><Relationship Id="rId7" Type="http://schemas.openxmlformats.org/officeDocument/2006/relationships/image" Target="../media/image-115-7.jpg"/><Relationship Id="rId8" Type="http://schemas.openxmlformats.org/officeDocument/2006/relationships/slideLayout" Target="../slideLayouts/slideLayout1.xml"/><Relationship Id="rId9"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image" Target="../media/image-116-1.jpg"/><Relationship Id="rId2" Type="http://schemas.openxmlformats.org/officeDocument/2006/relationships/image" Target="../media/image-116-2.jpg"/><Relationship Id="rId3" Type="http://schemas.openxmlformats.org/officeDocument/2006/relationships/image" Target="../media/image-116-3.jpg"/><Relationship Id="rId4" Type="http://schemas.openxmlformats.org/officeDocument/2006/relationships/image" Target="../media/image-116-4.jpg"/><Relationship Id="rId5" Type="http://schemas.openxmlformats.org/officeDocument/2006/relationships/image" Target="../media/image-116-5.jpg"/><Relationship Id="rId6" Type="http://schemas.openxmlformats.org/officeDocument/2006/relationships/slideLayout" Target="../slideLayouts/slideLayout1.xml"/><Relationship Id="rId7"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image" Target="../media/image-117-1.jpg"/><Relationship Id="rId2" Type="http://schemas.openxmlformats.org/officeDocument/2006/relationships/slideLayout" Target="../slideLayouts/slideLayout1.xml"/><Relationship Id="rId3"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image" Target="../media/image-118-1.jpg"/><Relationship Id="rId2" Type="http://schemas.openxmlformats.org/officeDocument/2006/relationships/image" Target="../media/image-118-2.jpg"/><Relationship Id="rId3" Type="http://schemas.openxmlformats.org/officeDocument/2006/relationships/image" Target="../media/image-118-3.jpg"/><Relationship Id="rId4" Type="http://schemas.openxmlformats.org/officeDocument/2006/relationships/image" Target="../media/image-118-4.jpg"/><Relationship Id="rId5" Type="http://schemas.openxmlformats.org/officeDocument/2006/relationships/image" Target="../media/image-118-5.jpg"/><Relationship Id="rId6" Type="http://schemas.openxmlformats.org/officeDocument/2006/relationships/image" Target="../media/image-118-6.jpg"/><Relationship Id="rId7" Type="http://schemas.openxmlformats.org/officeDocument/2006/relationships/image" Target="../media/image-118-7.jpg"/><Relationship Id="rId8" Type="http://schemas.openxmlformats.org/officeDocument/2006/relationships/image" Target="../media/image-118-8.jpg"/><Relationship Id="rId9" Type="http://schemas.openxmlformats.org/officeDocument/2006/relationships/image" Target="../media/image-118-9.jpg"/><Relationship Id="rId10" Type="http://schemas.openxmlformats.org/officeDocument/2006/relationships/image" Target="../media/image-118-10.jpg"/><Relationship Id="rId11" Type="http://schemas.openxmlformats.org/officeDocument/2006/relationships/image" Target="../media/image-118-11.jpg"/><Relationship Id="rId12" Type="http://schemas.openxmlformats.org/officeDocument/2006/relationships/slideLayout" Target="../slideLayouts/slideLayout1.xml"/><Relationship Id="rId13"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image" Target="../media/Slide-119-image-1.jpeg"/><Relationship Id="rId2" Type="http://schemas.openxmlformats.org/officeDocument/2006/relationships/slideLayout" Target="../slideLayouts/slideLayout1.xml"/><Relationship Id="rId3"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image" Target="../media/image-120-1.jpg"/><Relationship Id="rId2" Type="http://schemas.openxmlformats.org/officeDocument/2006/relationships/slideLayout" Target="../slideLayouts/slideLayout1.xml"/><Relationship Id="rId3"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image" Target="../media/image-121-1.jpg"/><Relationship Id="rId2" Type="http://schemas.openxmlformats.org/officeDocument/2006/relationships/slideLayout" Target="../slideLayouts/slideLayout1.xml"/><Relationship Id="rId3"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image" Target="../media/Slide-122-image-1.jpeg"/><Relationship Id="rId2" Type="http://schemas.openxmlformats.org/officeDocument/2006/relationships/slideLayout" Target="../slideLayouts/slideLayout1.xml"/><Relationship Id="rId3"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image" Target="../media/Slide-123-image-1.jpeg"/><Relationship Id="rId2" Type="http://schemas.openxmlformats.org/officeDocument/2006/relationships/slideLayout" Target="../slideLayouts/slideLayout1.xml"/><Relationship Id="rId3"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image" Target="../media/Slide-124-image-1.jpeg"/><Relationship Id="rId2" Type="http://schemas.openxmlformats.org/officeDocument/2006/relationships/slideLayout" Target="../slideLayouts/slideLayout1.xml"/><Relationship Id="rId3"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image" Target="../media/Slide-125-image-1.jpeg"/><Relationship Id="rId2" Type="http://schemas.openxmlformats.org/officeDocument/2006/relationships/slideLayout" Target="../slideLayouts/slideLayout1.xml"/><Relationship Id="rId3"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image" Target="../media/image-126-1.jpg"/><Relationship Id="rId2" Type="http://schemas.openxmlformats.org/officeDocument/2006/relationships/slideLayout" Target="../slideLayouts/slideLayout1.xml"/><Relationship Id="rId3"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image" Target="../media/Slide-127-image-1.jpeg"/><Relationship Id="rId2" Type="http://schemas.openxmlformats.org/officeDocument/2006/relationships/slideLayout" Target="../slideLayouts/slideLayout1.xml"/><Relationship Id="rId3"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image" Target="../media/image-128-1.jpg"/><Relationship Id="rId2" Type="http://schemas.openxmlformats.org/officeDocument/2006/relationships/image" Target="../media/image-128-2.jpg"/><Relationship Id="rId3" Type="http://schemas.openxmlformats.org/officeDocument/2006/relationships/image" Target="../media/image-128-3.jpg"/><Relationship Id="rId4" Type="http://schemas.openxmlformats.org/officeDocument/2006/relationships/image" Target="../media/image-128-4.jpg"/><Relationship Id="rId5" Type="http://schemas.openxmlformats.org/officeDocument/2006/relationships/image" Target="../media/image-128-5.jpg"/><Relationship Id="rId6" Type="http://schemas.openxmlformats.org/officeDocument/2006/relationships/image" Target="../media/image-128-6.jpg"/><Relationship Id="rId7" Type="http://schemas.openxmlformats.org/officeDocument/2006/relationships/image" Target="../media/image-128-7.jpg"/><Relationship Id="rId8" Type="http://schemas.openxmlformats.org/officeDocument/2006/relationships/image" Target="../media/image-128-8.jpg"/><Relationship Id="rId9" Type="http://schemas.openxmlformats.org/officeDocument/2006/relationships/image" Target="../media/image-128-9.jpg"/><Relationship Id="rId10" Type="http://schemas.openxmlformats.org/officeDocument/2006/relationships/image" Target="../media/image-128-10.jpg"/><Relationship Id="rId11" Type="http://schemas.openxmlformats.org/officeDocument/2006/relationships/slideLayout" Target="../slideLayouts/slideLayout1.xml"/><Relationship Id="rId1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image" Target="../media/Slide-129-image-1.jpeg"/><Relationship Id="rId2" Type="http://schemas.openxmlformats.org/officeDocument/2006/relationships/slideLayout" Target="../slideLayouts/slideLayout1.xml"/><Relationship Id="rId3"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image" Target="../media/Slide-130-image-1.jpeg"/><Relationship Id="rId2" Type="http://schemas.openxmlformats.org/officeDocument/2006/relationships/slideLayout" Target="../slideLayouts/slideLayout1.xml"/><Relationship Id="rId3"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image" Target="../media/image-131-1.jpg"/><Relationship Id="rId2" Type="http://schemas.openxmlformats.org/officeDocument/2006/relationships/slideLayout" Target="../slideLayouts/slideLayout1.xml"/><Relationship Id="rId3"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image" Target="../media/Slide-132-image-1.jpeg"/><Relationship Id="rId2" Type="http://schemas.openxmlformats.org/officeDocument/2006/relationships/slideLayout" Target="../slideLayouts/slideLayout1.xml"/><Relationship Id="rId3"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image" Target="../media/image-133-1.jpg"/><Relationship Id="rId2" Type="http://schemas.openxmlformats.org/officeDocument/2006/relationships/slideLayout" Target="../slideLayouts/slideLayout1.xml"/><Relationship Id="rId3"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image" Target="../media/image-134-1.jpg"/><Relationship Id="rId2" Type="http://schemas.openxmlformats.org/officeDocument/2006/relationships/slideLayout" Target="../slideLayouts/slideLayout1.xml"/><Relationship Id="rId3"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image" Target="../media/Slide-135-image-1.jpeg"/><Relationship Id="rId2" Type="http://schemas.openxmlformats.org/officeDocument/2006/relationships/slideLayout" Target="../slideLayouts/slideLayout1.xml"/><Relationship Id="rId3"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image" Target="../media/Slide-136-image-1.jpeg"/><Relationship Id="rId2" Type="http://schemas.openxmlformats.org/officeDocument/2006/relationships/slideLayout" Target="../slideLayouts/slideLayout1.xml"/><Relationship Id="rId3"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image" Target="../media/Slide-137-image-1.jpeg"/><Relationship Id="rId2" Type="http://schemas.openxmlformats.org/officeDocument/2006/relationships/slideLayout" Target="../slideLayouts/slideLayout1.xml"/><Relationship Id="rId3"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image" Target="../media/image-138-1.jpg"/><Relationship Id="rId2" Type="http://schemas.openxmlformats.org/officeDocument/2006/relationships/image" Target="../media/image-138-2.jpg"/><Relationship Id="rId3" Type="http://schemas.openxmlformats.org/officeDocument/2006/relationships/image" Target="../media/image-138-3.jpg"/><Relationship Id="rId4" Type="http://schemas.openxmlformats.org/officeDocument/2006/relationships/slideLayout" Target="../slideLayouts/slideLayout1.xml"/><Relationship Id="rId5"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image" Target="../media/Slide-139-image-1.jpeg"/><Relationship Id="rId2" Type="http://schemas.openxmlformats.org/officeDocument/2006/relationships/slideLayout" Target="../slideLayouts/slideLayout1.xml"/><Relationship Id="rId3"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image" Target="../media/image-140-1.jpg"/><Relationship Id="rId2" Type="http://schemas.openxmlformats.org/officeDocument/2006/relationships/slideLayout" Target="../slideLayouts/slideLayout1.xml"/><Relationship Id="rId3"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image" Target="../media/image-141-1.jpg"/><Relationship Id="rId2" Type="http://schemas.openxmlformats.org/officeDocument/2006/relationships/image" Target="../media/image-141-2.jpg"/><Relationship Id="rId3" Type="http://schemas.openxmlformats.org/officeDocument/2006/relationships/image" Target="../media/image-141-3.jpg"/><Relationship Id="rId4" Type="http://schemas.openxmlformats.org/officeDocument/2006/relationships/image" Target="../media/image-141-4.jpg"/><Relationship Id="rId5" Type="http://schemas.openxmlformats.org/officeDocument/2006/relationships/image" Target="../media/image-141-5.jpg"/><Relationship Id="rId6" Type="http://schemas.openxmlformats.org/officeDocument/2006/relationships/image" Target="../media/image-141-6.jpg"/><Relationship Id="rId7" Type="http://schemas.openxmlformats.org/officeDocument/2006/relationships/image" Target="../media/image-141-7.jpg"/><Relationship Id="rId8" Type="http://schemas.openxmlformats.org/officeDocument/2006/relationships/image" Target="../media/image-141-8.jpg"/><Relationship Id="rId9" Type="http://schemas.openxmlformats.org/officeDocument/2006/relationships/image" Target="../media/image-141-9.jpg"/><Relationship Id="rId10" Type="http://schemas.openxmlformats.org/officeDocument/2006/relationships/image" Target="../media/image-141-10.jpg"/><Relationship Id="rId11" Type="http://schemas.openxmlformats.org/officeDocument/2006/relationships/slideLayout" Target="../slideLayouts/slideLayout1.xml"/><Relationship Id="rId1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image" Target="../media/image-142-1.jpg"/><Relationship Id="rId2" Type="http://schemas.openxmlformats.org/officeDocument/2006/relationships/image" Target="../media/image-142-2.jpg"/><Relationship Id="rId3" Type="http://schemas.openxmlformats.org/officeDocument/2006/relationships/image" Target="../media/image-142-3.jpg"/><Relationship Id="rId4" Type="http://schemas.openxmlformats.org/officeDocument/2006/relationships/image" Target="../media/image-142-4.jpg"/><Relationship Id="rId5" Type="http://schemas.openxmlformats.org/officeDocument/2006/relationships/image" Target="../media/image-142-5.jpg"/><Relationship Id="rId6" Type="http://schemas.openxmlformats.org/officeDocument/2006/relationships/image" Target="../media/image-142-6.jpg"/><Relationship Id="rId7" Type="http://schemas.openxmlformats.org/officeDocument/2006/relationships/image" Target="../media/image-142-7.jpg"/><Relationship Id="rId8" Type="http://schemas.openxmlformats.org/officeDocument/2006/relationships/image" Target="../media/image-142-8.jpg"/><Relationship Id="rId9" Type="http://schemas.openxmlformats.org/officeDocument/2006/relationships/image" Target="../media/image-142-9.jpg"/><Relationship Id="rId10" Type="http://schemas.openxmlformats.org/officeDocument/2006/relationships/image" Target="../media/image-142-10.jpg"/><Relationship Id="rId11" Type="http://schemas.openxmlformats.org/officeDocument/2006/relationships/image" Target="../media/image-142-11.jpg"/><Relationship Id="rId12" Type="http://schemas.openxmlformats.org/officeDocument/2006/relationships/slideLayout" Target="../slideLayouts/slideLayout1.xml"/><Relationship Id="rId13"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image" Target="../media/image-143-1.jpg"/><Relationship Id="rId2" Type="http://schemas.openxmlformats.org/officeDocument/2006/relationships/image" Target="../media/image-143-2.jpg"/><Relationship Id="rId3" Type="http://schemas.openxmlformats.org/officeDocument/2006/relationships/image" Target="../media/image-143-3.jpg"/><Relationship Id="rId4" Type="http://schemas.openxmlformats.org/officeDocument/2006/relationships/image" Target="../media/image-143-4.jpg"/><Relationship Id="rId5" Type="http://schemas.openxmlformats.org/officeDocument/2006/relationships/image" Target="../media/image-143-5.jpg"/><Relationship Id="rId6" Type="http://schemas.openxmlformats.org/officeDocument/2006/relationships/slideLayout" Target="../slideLayouts/slideLayout1.xml"/><Relationship Id="rId7"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image" Target="../media/Slide-144-image-1.jpeg"/><Relationship Id="rId2" Type="http://schemas.openxmlformats.org/officeDocument/2006/relationships/slideLayout" Target="../slideLayouts/slideLayout1.xml"/><Relationship Id="rId3"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image" Target="../media/image-145-1.jpg"/><Relationship Id="rId2" Type="http://schemas.openxmlformats.org/officeDocument/2006/relationships/slideLayout" Target="../slideLayouts/slideLayout1.xml"/><Relationship Id="rId3"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image" Target="../media/image-146-1.jpg"/><Relationship Id="rId2" Type="http://schemas.openxmlformats.org/officeDocument/2006/relationships/slideLayout" Target="../slideLayouts/slideLayout1.xml"/><Relationship Id="rId3"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image" Target="../media/Slide-147-image-1.jpeg"/><Relationship Id="rId2" Type="http://schemas.openxmlformats.org/officeDocument/2006/relationships/slideLayout" Target="../slideLayouts/slideLayout1.xml"/><Relationship Id="rId3"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image" Target="../media/Slide-148-image-1.jpeg"/><Relationship Id="rId2" Type="http://schemas.openxmlformats.org/officeDocument/2006/relationships/slideLayout" Target="../slideLayouts/slideLayout1.xml"/><Relationship Id="rId3"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image" Target="../media/Slide-149-image-1.jpeg"/><Relationship Id="rId2" Type="http://schemas.openxmlformats.org/officeDocument/2006/relationships/image" Target="../media/image-149-2.jpg"/><Relationship Id="rId3" Type="http://schemas.openxmlformats.org/officeDocument/2006/relationships/image" Target="../media/image-149-3.png"/><Relationship Id="rId4" Type="http://schemas.openxmlformats.org/officeDocument/2006/relationships/slideLayout" Target="../slideLayouts/slideLayout1.xml"/><Relationship Id="rId5"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image" Target="../media/Slide-150-image-1.jpeg"/><Relationship Id="rId2" Type="http://schemas.openxmlformats.org/officeDocument/2006/relationships/slideLayout" Target="../slideLayouts/slideLayout1.xml"/><Relationship Id="rId3"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image" Target="../media/image-151-1.jpg"/><Relationship Id="rId2" Type="http://schemas.openxmlformats.org/officeDocument/2006/relationships/image" Target="../media/image-151-2.jpg"/><Relationship Id="rId3" Type="http://schemas.openxmlformats.org/officeDocument/2006/relationships/image" Target="../media/image-151-3.jpg"/><Relationship Id="rId4" Type="http://schemas.openxmlformats.org/officeDocument/2006/relationships/image" Target="../media/image-151-4.jpg"/><Relationship Id="rId5" Type="http://schemas.openxmlformats.org/officeDocument/2006/relationships/image" Target="../media/image-151-5.jpg"/><Relationship Id="rId6" Type="http://schemas.openxmlformats.org/officeDocument/2006/relationships/image" Target="../media/image-151-6.jpg"/><Relationship Id="rId7" Type="http://schemas.openxmlformats.org/officeDocument/2006/relationships/image" Target="../media/image-151-7.jpg"/><Relationship Id="rId8" Type="http://schemas.openxmlformats.org/officeDocument/2006/relationships/image" Target="../media/image-151-8.jpg"/><Relationship Id="rId9" Type="http://schemas.openxmlformats.org/officeDocument/2006/relationships/image" Target="../media/image-151-9.jpg"/><Relationship Id="rId10" Type="http://schemas.openxmlformats.org/officeDocument/2006/relationships/image" Target="../media/image-151-10.jpg"/><Relationship Id="rId11" Type="http://schemas.openxmlformats.org/officeDocument/2006/relationships/image" Target="../media/image-151-11.jpg"/><Relationship Id="rId12" Type="http://schemas.openxmlformats.org/officeDocument/2006/relationships/image" Target="../media/image-151-12.jpg"/><Relationship Id="rId13" Type="http://schemas.openxmlformats.org/officeDocument/2006/relationships/image" Target="../media/image-151-13.jpg"/><Relationship Id="rId14" Type="http://schemas.openxmlformats.org/officeDocument/2006/relationships/slideLayout" Target="../slideLayouts/slideLayout1.xml"/><Relationship Id="rId15"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image" Target="../media/Slide-152-image-1.jpeg"/><Relationship Id="rId2" Type="http://schemas.openxmlformats.org/officeDocument/2006/relationships/slideLayout" Target="../slideLayouts/slideLayout1.xml"/><Relationship Id="rId3"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image" Target="../media/Slide-153-image-1.jpeg"/><Relationship Id="rId2" Type="http://schemas.openxmlformats.org/officeDocument/2006/relationships/slideLayout" Target="../slideLayouts/slideLayout1.xml"/><Relationship Id="rId3"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image" Target="../media/Slide-154-image-1.jpeg"/><Relationship Id="rId2" Type="http://schemas.openxmlformats.org/officeDocument/2006/relationships/slideLayout" Target="../slideLayouts/slideLayout1.xml"/><Relationship Id="rId3"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image" Target="../media/Slide-155-image-1.jpeg"/><Relationship Id="rId2" Type="http://schemas.openxmlformats.org/officeDocument/2006/relationships/slideLayout" Target="../slideLayouts/slideLayout1.xml"/><Relationship Id="rId3"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image" Target="../media/Slide-156-image-1.jpeg"/><Relationship Id="rId2" Type="http://schemas.openxmlformats.org/officeDocument/2006/relationships/slideLayout" Target="../slideLayouts/slideLayout1.xml"/><Relationship Id="rId3"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image" Target="../media/Slide-157-image-1.jpeg"/><Relationship Id="rId2" Type="http://schemas.openxmlformats.org/officeDocument/2006/relationships/slideLayout" Target="../slideLayouts/slideLayout1.xml"/><Relationship Id="rId3" Type="http://schemas.openxmlformats.org/officeDocument/2006/relationships/notesSlide" Target="../notesSlides/notesSlide15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615788" y="731520"/>
            <a:ext cx="960120" cy="960120"/>
          </a:xfrm>
          <a:prstGeom prst="roundRect">
            <a:avLst>
              <a:gd name="adj" fmla="val 26667"/>
            </a:avLst>
          </a:prstGeom>
          <a:solidFill>
            <a:srgbClr val="D9AE4B"/>
          </a:solidFill>
          <a:ln/>
          <a:effectLst>
            <a:outerShdw sx="100000" sy="100000" kx="0" ky="0" algn="bl" rotWithShape="0" blurRad="254000" dist="50800" dir="16200000">
              <a:srgbClr val="D9AE4B">
                <a:alpha val="45000"/>
              </a:srgbClr>
            </a:outerShdw>
          </a:effectLst>
        </p:spPr>
      </p:sp>
      <p:sp>
        <p:nvSpPr>
          <p:cNvPr id="3" name="Text 1"/>
          <p:cNvSpPr/>
          <p:nvPr/>
        </p:nvSpPr>
        <p:spPr>
          <a:xfrm>
            <a:off x="5615788" y="731520"/>
            <a:ext cx="960120" cy="960120"/>
          </a:xfrm>
          <a:prstGeom prst="rect">
            <a:avLst/>
          </a:prstGeom>
          <a:noFill/>
          <a:ln/>
        </p:spPr>
        <p:txBody>
          <a:bodyPr wrap="square" lIns="0" tIns="0" rIns="0" bIns="0" rtlCol="0" anchor="ctr">
            <a:normAutofit/>
          </a:bodyPr>
          <a:lstStyle/>
          <a:p>
            <a:pPr rtl="1" algn="ctr" indent="0" marL="0">
              <a:buNone/>
            </a:pPr>
            <a:r>
              <a:rPr lang="ar-SA" altLang="en-US" sz="4400" dirty="0">
                <a:solidFill>
                  <a:srgbClr val="131B34"/>
                </a:solidFill>
                <a:latin typeface="Cairo" pitchFamily="34" charset="0"/>
                <a:ea typeface="Cairo" pitchFamily="34" charset="-122"/>
                <a:cs typeface="Cairo" pitchFamily="34" charset="-120"/>
              </a:rPr>
              <a:t>🌳</a:t>
            </a:r>
            <a:endParaRPr lang="ar-SA" sz="4400" dirty="0"/>
          </a:p>
        </p:txBody>
      </p:sp>
      <p:sp>
        <p:nvSpPr>
          <p:cNvPr id="4" name="Text 2"/>
          <p:cNvSpPr/>
          <p:nvPr/>
        </p:nvSpPr>
        <p:spPr>
          <a:xfrm>
            <a:off x="0" y="1920240"/>
            <a:ext cx="12191695" cy="457200"/>
          </a:xfrm>
          <a:prstGeom prst="rect">
            <a:avLst/>
          </a:prstGeom>
          <a:noFill/>
          <a:ln/>
        </p:spPr>
        <p:txBody>
          <a:bodyPr wrap="square" lIns="0" tIns="0" rIns="0" bIns="0" rtlCol="0" anchor="ctr">
            <a:normAutofit/>
          </a:bodyPr>
          <a:lstStyle/>
          <a:p>
            <a:pPr rtl="1" algn="ctr" indent="0" marL="0">
              <a:buNone/>
            </a:pPr>
            <a:r>
              <a:rPr lang="ar-SA" altLang="en-US" sz="2000" b="1" dirty="0">
                <a:solidFill>
                  <a:srgbClr val="F0CC7A"/>
                </a:solidFill>
                <a:latin typeface="Cairo" pitchFamily="34" charset="0"/>
                <a:ea typeface="Cairo" pitchFamily="34" charset="-122"/>
                <a:cs typeface="Cairo" pitchFamily="34" charset="-120"/>
              </a:rPr>
              <a:t>مغامرات الأردوينو</a:t>
            </a:r>
            <a:endParaRPr lang="ar-SA" sz="2000" dirty="0"/>
          </a:p>
        </p:txBody>
      </p:sp>
      <p:sp>
        <p:nvSpPr>
          <p:cNvPr id="5" name="Text 3"/>
          <p:cNvSpPr/>
          <p:nvPr/>
        </p:nvSpPr>
        <p:spPr>
          <a:xfrm>
            <a:off x="0" y="2331720"/>
            <a:ext cx="12191695" cy="1463040"/>
          </a:xfrm>
          <a:prstGeom prst="rect">
            <a:avLst/>
          </a:prstGeom>
          <a:noFill/>
          <a:ln/>
        </p:spPr>
        <p:txBody>
          <a:bodyPr wrap="square" lIns="0" tIns="0" rIns="0" bIns="0" rtlCol="0" anchor="ctr">
            <a:normAutofit/>
          </a:bodyPr>
          <a:lstStyle/>
          <a:p>
            <a:pPr rtl="1" algn="ctr" indent="0" marL="0">
              <a:buNone/>
            </a:pPr>
            <a:r>
              <a:rPr lang="ar-SA" altLang="en-US" sz="9600" dirty="0">
                <a:solidFill>
                  <a:srgbClr val="FFF3D6"/>
                </a:solidFill>
                <a:latin typeface="Cairo Black" pitchFamily="34" charset="0"/>
                <a:ea typeface="Cairo Black" pitchFamily="34" charset="-122"/>
                <a:cs typeface="Cairo Black" pitchFamily="34" charset="-120"/>
              </a:rPr>
              <a:t>الأردوينو للمعلمين</a:t>
            </a:r>
            <a:endParaRPr lang="ar-SA" sz="9600" dirty="0"/>
          </a:p>
        </p:txBody>
      </p:sp>
      <p:sp>
        <p:nvSpPr>
          <p:cNvPr id="6" name="Text 4"/>
          <p:cNvSpPr/>
          <p:nvPr/>
        </p:nvSpPr>
        <p:spPr>
          <a:xfrm>
            <a:off x="0" y="3794760"/>
            <a:ext cx="12191695" cy="640080"/>
          </a:xfrm>
          <a:prstGeom prst="rect">
            <a:avLst/>
          </a:prstGeom>
          <a:noFill/>
          <a:ln/>
        </p:spPr>
        <p:txBody>
          <a:bodyPr wrap="square" lIns="0" tIns="0" rIns="0" bIns="0" rtlCol="0" anchor="ctr">
            <a:normAutofit/>
          </a:bodyPr>
          <a:lstStyle/>
          <a:p>
            <a:pPr rtl="1" algn="ctr" indent="0" marL="0">
              <a:buNone/>
            </a:pPr>
            <a:r>
              <a:rPr lang="ar-SA" altLang="en-US" sz="2800" b="1" dirty="0">
                <a:solidFill>
                  <a:srgbClr val="FFFFFF"/>
                </a:solidFill>
                <a:latin typeface="Cairo" pitchFamily="34" charset="0"/>
                <a:ea typeface="Cairo" pitchFamily="34" charset="-122"/>
                <a:cs typeface="Cairo" pitchFamily="34" charset="-120"/>
              </a:rPr>
              <a:t>من أول دائرة… إلى أول مشروع يصنعه طلابك</a:t>
            </a:r>
            <a:endParaRPr lang="ar-SA" sz="2800" dirty="0"/>
          </a:p>
        </p:txBody>
      </p:sp>
      <p:sp>
        <p:nvSpPr>
          <p:cNvPr id="7" name="Shape 5"/>
          <p:cNvSpPr/>
          <p:nvPr/>
        </p:nvSpPr>
        <p:spPr>
          <a:xfrm>
            <a:off x="5364328" y="4617720"/>
            <a:ext cx="1463040" cy="36576"/>
          </a:xfrm>
          <a:prstGeom prst="rect">
            <a:avLst/>
          </a:prstGeom>
          <a:solidFill>
            <a:srgbClr val="D9AE4B"/>
          </a:solidFill>
          <a:ln/>
        </p:spPr>
      </p:sp>
      <p:sp>
        <p:nvSpPr>
          <p:cNvPr id="8" name="Text 6"/>
          <p:cNvSpPr/>
          <p:nvPr/>
        </p:nvSpPr>
        <p:spPr>
          <a:xfrm>
            <a:off x="0" y="5029200"/>
            <a:ext cx="12191695" cy="457200"/>
          </a:xfrm>
          <a:prstGeom prst="rect">
            <a:avLst/>
          </a:prstGeom>
          <a:noFill/>
          <a:ln/>
        </p:spPr>
        <p:txBody>
          <a:bodyPr wrap="square" lIns="0" tIns="0" rIns="0" bIns="0" rtlCol="0" anchor="ctr">
            <a:normAutofit/>
          </a:bodyPr>
          <a:lstStyle/>
          <a:p>
            <a:pPr algn="ctr" indent="0" marL="0">
              <a:buNone/>
            </a:pPr>
            <a:r>
              <a:rPr lang="ar-SA" altLang="en-US" sz="2000" b="1" dirty="0">
                <a:solidFill>
                  <a:srgbClr val="C9CFE6"/>
                </a:solidFill>
                <a:latin typeface="Cairo" pitchFamily="34" charset="0"/>
                <a:ea typeface="Cairo" pitchFamily="34" charset="-122"/>
                <a:cs typeface="Cairo" pitchFamily="34" charset="-120"/>
              </a:rPr>
              <a:t>إعداد وتقديم: </a:t>
            </a:r>
            <a:pPr algn="ctr" indent="0" marL="0">
              <a:buNone/>
            </a:pPr>
            <a:r>
              <a:rPr lang="ar-SA" altLang="en-US" sz="2000" b="1" dirty="0">
                <a:solidFill>
                  <a:srgbClr val="D9AE4B"/>
                </a:solidFill>
                <a:latin typeface="Cairo" pitchFamily="34" charset="0"/>
                <a:ea typeface="Cairo" pitchFamily="34" charset="-122"/>
                <a:cs typeface="Cairo" pitchFamily="34" charset="-120"/>
              </a:rPr>
              <a:t>أ. محمد زيتون</a:t>
            </a:r>
            <a:endParaRPr lang="ar-SA"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81567" y="457200"/>
            <a:ext cx="2487168" cy="457200"/>
          </a:xfrm>
          <a:prstGeom prst="roundRect">
            <a:avLst>
              <a:gd name="adj" fmla="val 50000"/>
            </a:avLst>
          </a:prstGeom>
          <a:solidFill>
            <a:srgbClr val="F6EBCF"/>
          </a:solidFill>
          <a:ln/>
        </p:spPr>
      </p:sp>
      <p:sp>
        <p:nvSpPr>
          <p:cNvPr id="3" name="Text 1"/>
          <p:cNvSpPr/>
          <p:nvPr/>
        </p:nvSpPr>
        <p:spPr>
          <a:xfrm>
            <a:off x="8881567" y="45720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مقدّم الدورة</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 محمد زيتون</a:t>
            </a:r>
            <a:endParaRPr lang="ar-SA" sz="3800" dirty="0"/>
          </a:p>
        </p:txBody>
      </p:sp>
      <p:sp>
        <p:nvSpPr>
          <p:cNvPr id="5" name="Text 3"/>
          <p:cNvSpPr/>
          <p:nvPr/>
        </p:nvSpPr>
        <p:spPr>
          <a:xfrm>
            <a:off x="822960" y="1783080"/>
            <a:ext cx="10545775" cy="457200"/>
          </a:xfrm>
          <a:prstGeom prst="rect">
            <a:avLst/>
          </a:prstGeom>
          <a:noFill/>
          <a:ln/>
        </p:spPr>
        <p:txBody>
          <a:bodyPr wrap="square" lIns="0" tIns="0" rIns="0" bIns="0" rtlCol="0" anchor="ctr">
            <a:normAutofit/>
          </a:bodyPr>
          <a:lstStyle/>
          <a:p>
            <a:pPr rtl="1" algn="r" indent="0" marL="0">
              <a:buNone/>
            </a:pPr>
            <a:r>
              <a:rPr lang="ar-SA" altLang="en-US" sz="2000" b="1" dirty="0">
                <a:solidFill>
                  <a:srgbClr val="22346F"/>
                </a:solidFill>
                <a:latin typeface="Cairo" pitchFamily="34" charset="0"/>
                <a:ea typeface="Cairo" pitchFamily="34" charset="-122"/>
                <a:cs typeface="Cairo" pitchFamily="34" charset="-120"/>
              </a:rPr>
              <a:t>مشرف تربوي — الابتكار والذكاء الاصطناعي وSTEAM · مدارس الأرقم</a:t>
            </a:r>
            <a:endParaRPr lang="ar-SA" sz="2000" dirty="0"/>
          </a:p>
        </p:txBody>
      </p:sp>
      <p:sp>
        <p:nvSpPr>
          <p:cNvPr id="6" name="anim-g1-1"/>
          <p:cNvSpPr/>
          <p:nvPr/>
        </p:nvSpPr>
        <p:spPr>
          <a:xfrm>
            <a:off x="8066837" y="2560320"/>
            <a:ext cx="3301898" cy="2286000"/>
          </a:xfrm>
          <a:prstGeom prst="roundRect">
            <a:avLst>
              <a:gd name="adj" fmla="val 7200"/>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7" name="anim-g1-2"/>
          <p:cNvSpPr/>
          <p:nvPr/>
        </p:nvSpPr>
        <p:spPr>
          <a:xfrm>
            <a:off x="8066837" y="2743200"/>
            <a:ext cx="3301898" cy="1097280"/>
          </a:xfrm>
          <a:prstGeom prst="rect">
            <a:avLst/>
          </a:prstGeom>
          <a:noFill/>
          <a:ln/>
        </p:spPr>
        <p:txBody>
          <a:bodyPr wrap="square" lIns="0" tIns="0" rIns="0" bIns="0" rtlCol="0" anchor="ctr">
            <a:normAutofit/>
          </a:bodyPr>
          <a:lstStyle/>
          <a:p>
            <a:pPr rtl="1" algn="ctr" indent="0" marL="0">
              <a:buNone/>
            </a:pPr>
            <a:r>
              <a:rPr lang="ar-SA" altLang="en-US" sz="5600" dirty="0">
                <a:solidFill>
                  <a:srgbClr val="B08A2E"/>
                </a:solidFill>
                <a:latin typeface="Cairo Black" pitchFamily="34" charset="0"/>
                <a:ea typeface="Cairo Black" pitchFamily="34" charset="-122"/>
                <a:cs typeface="Cairo Black" pitchFamily="34" charset="-120"/>
              </a:rPr>
              <a:t>٣٣</a:t>
            </a:r>
            <a:endParaRPr lang="ar-SA" sz="5600" dirty="0"/>
          </a:p>
        </p:txBody>
      </p:sp>
      <p:sp>
        <p:nvSpPr>
          <p:cNvPr id="8" name="anim-g1-3"/>
          <p:cNvSpPr/>
          <p:nvPr/>
        </p:nvSpPr>
        <p:spPr>
          <a:xfrm>
            <a:off x="8249717" y="3886200"/>
            <a:ext cx="2936138" cy="731520"/>
          </a:xfrm>
          <a:prstGeom prst="rect">
            <a:avLst/>
          </a:prstGeom>
          <a:noFill/>
          <a:ln/>
        </p:spPr>
        <p:txBody>
          <a:bodyPr wrap="square" lIns="0" tIns="0" rIns="0" bIns="0" rtlCol="0" anchor="ctr">
            <a:normAutofit/>
          </a:bodyPr>
          <a:lstStyle/>
          <a:p>
            <a:pPr rtl="1" algn="ctr" indent="0" marL="0">
              <a:buNone/>
            </a:pPr>
            <a:r>
              <a:rPr lang="ar-SA" altLang="en-US" sz="2000" b="1" dirty="0">
                <a:solidFill>
                  <a:srgbClr val="101B45"/>
                </a:solidFill>
                <a:latin typeface="Cairo" pitchFamily="34" charset="0"/>
                <a:ea typeface="Cairo" pitchFamily="34" charset="-122"/>
                <a:cs typeface="Cairo" pitchFamily="34" charset="-120"/>
              </a:rPr>
              <a:t>عامًا في الميدان التعليمي</a:t>
            </a:r>
            <a:endParaRPr lang="ar-SA" sz="2000" dirty="0"/>
          </a:p>
        </p:txBody>
      </p:sp>
      <p:sp>
        <p:nvSpPr>
          <p:cNvPr id="9" name="anim-g2-4"/>
          <p:cNvSpPr/>
          <p:nvPr/>
        </p:nvSpPr>
        <p:spPr>
          <a:xfrm>
            <a:off x="4444898" y="2560320"/>
            <a:ext cx="3301898" cy="2286000"/>
          </a:xfrm>
          <a:prstGeom prst="roundRect">
            <a:avLst>
              <a:gd name="adj" fmla="val 7200"/>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0" name="anim-g2-5"/>
          <p:cNvSpPr/>
          <p:nvPr/>
        </p:nvSpPr>
        <p:spPr>
          <a:xfrm>
            <a:off x="4444898" y="2743200"/>
            <a:ext cx="3301898" cy="1097280"/>
          </a:xfrm>
          <a:prstGeom prst="rect">
            <a:avLst/>
          </a:prstGeom>
          <a:noFill/>
          <a:ln/>
        </p:spPr>
        <p:txBody>
          <a:bodyPr wrap="square" lIns="0" tIns="0" rIns="0" bIns="0" rtlCol="0" anchor="ctr">
            <a:normAutofit/>
          </a:bodyPr>
          <a:lstStyle/>
          <a:p>
            <a:pPr rtl="1" algn="ctr" indent="0" marL="0">
              <a:buNone/>
            </a:pPr>
            <a:r>
              <a:rPr lang="ar-SA" altLang="en-US" sz="5600" dirty="0">
                <a:solidFill>
                  <a:srgbClr val="B08A2E"/>
                </a:solidFill>
                <a:latin typeface="Cairo Black" pitchFamily="34" charset="0"/>
                <a:ea typeface="Cairo Black" pitchFamily="34" charset="-122"/>
                <a:cs typeface="Cairo Black" pitchFamily="34" charset="-120"/>
              </a:rPr>
              <a:t>٣</a:t>
            </a:r>
            <a:endParaRPr lang="ar-SA" sz="5600" dirty="0"/>
          </a:p>
        </p:txBody>
      </p:sp>
      <p:sp>
        <p:nvSpPr>
          <p:cNvPr id="11" name="anim-g2-6"/>
          <p:cNvSpPr/>
          <p:nvPr/>
        </p:nvSpPr>
        <p:spPr>
          <a:xfrm>
            <a:off x="4627778" y="3886200"/>
            <a:ext cx="2936138" cy="731520"/>
          </a:xfrm>
          <a:prstGeom prst="rect">
            <a:avLst/>
          </a:prstGeom>
          <a:noFill/>
          <a:ln/>
        </p:spPr>
        <p:txBody>
          <a:bodyPr wrap="square" lIns="0" tIns="0" rIns="0" bIns="0" rtlCol="0" anchor="ctr">
            <a:normAutofit/>
          </a:bodyPr>
          <a:lstStyle/>
          <a:p>
            <a:pPr rtl="1" algn="ctr" indent="0" marL="0">
              <a:buNone/>
            </a:pPr>
            <a:r>
              <a:rPr lang="ar-SA" altLang="en-US" sz="2000" b="1" dirty="0">
                <a:solidFill>
                  <a:srgbClr val="101B45"/>
                </a:solidFill>
                <a:latin typeface="Cairo" pitchFamily="34" charset="0"/>
                <a:ea typeface="Cairo" pitchFamily="34" charset="-122"/>
                <a:cs typeface="Cairo" pitchFamily="34" charset="-120"/>
              </a:rPr>
              <a:t>كتب في تعليم الأردوينو</a:t>
            </a:r>
            <a:endParaRPr lang="ar-SA" sz="2000" dirty="0"/>
          </a:p>
        </p:txBody>
      </p:sp>
      <p:sp>
        <p:nvSpPr>
          <p:cNvPr id="12" name="anim-g3-7"/>
          <p:cNvSpPr/>
          <p:nvPr/>
        </p:nvSpPr>
        <p:spPr>
          <a:xfrm>
            <a:off x="822960" y="2560320"/>
            <a:ext cx="3301898" cy="2286000"/>
          </a:xfrm>
          <a:prstGeom prst="roundRect">
            <a:avLst>
              <a:gd name="adj" fmla="val 7200"/>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3" name="anim-g3-8"/>
          <p:cNvSpPr/>
          <p:nvPr/>
        </p:nvSpPr>
        <p:spPr>
          <a:xfrm>
            <a:off x="822960" y="2743200"/>
            <a:ext cx="3301898" cy="1097280"/>
          </a:xfrm>
          <a:prstGeom prst="rect">
            <a:avLst/>
          </a:prstGeom>
          <a:noFill/>
          <a:ln/>
        </p:spPr>
        <p:txBody>
          <a:bodyPr wrap="square" lIns="0" tIns="0" rIns="0" bIns="0" rtlCol="0" anchor="ctr">
            <a:normAutofit/>
          </a:bodyPr>
          <a:lstStyle/>
          <a:p>
            <a:pPr rtl="1" algn="ctr" indent="0" marL="0">
              <a:buNone/>
            </a:pPr>
            <a:r>
              <a:rPr lang="ar-SA" altLang="en-US" sz="3600" dirty="0">
                <a:solidFill>
                  <a:srgbClr val="B08A2E"/>
                </a:solidFill>
                <a:latin typeface="Cairo Black" pitchFamily="34" charset="0"/>
                <a:ea typeface="Cairo Black" pitchFamily="34" charset="-122"/>
                <a:cs typeface="Cairo Black" pitchFamily="34" charset="-120"/>
              </a:rPr>
              <a:t>Microsoft</a:t>
            </a:r>
            <a:endParaRPr lang="ar-SA" sz="3600" dirty="0"/>
          </a:p>
        </p:txBody>
      </p:sp>
      <p:sp>
        <p:nvSpPr>
          <p:cNvPr id="14" name="anim-g3-9"/>
          <p:cNvSpPr/>
          <p:nvPr/>
        </p:nvSpPr>
        <p:spPr>
          <a:xfrm>
            <a:off x="1005840" y="3886200"/>
            <a:ext cx="2936138" cy="731520"/>
          </a:xfrm>
          <a:prstGeom prst="rect">
            <a:avLst/>
          </a:prstGeom>
          <a:noFill/>
          <a:ln/>
        </p:spPr>
        <p:txBody>
          <a:bodyPr wrap="square" lIns="0" tIns="0" rIns="0" bIns="0" rtlCol="0" anchor="ctr">
            <a:normAutofit/>
          </a:bodyPr>
          <a:lstStyle/>
          <a:p>
            <a:pPr rtl="1" algn="ctr" indent="0" marL="0">
              <a:buNone/>
            </a:pPr>
            <a:r>
              <a:rPr lang="ar-SA" altLang="en-US" sz="2000" b="1" dirty="0">
                <a:solidFill>
                  <a:srgbClr val="101B45"/>
                </a:solidFill>
                <a:latin typeface="Cairo" pitchFamily="34" charset="0"/>
                <a:ea typeface="Cairo" pitchFamily="34" charset="-122"/>
                <a:cs typeface="Cairo" pitchFamily="34" charset="-120"/>
              </a:rPr>
              <a:t>مدرب معتمد</a:t>
            </a:r>
            <a:endParaRPr lang="ar-SA" sz="2000" dirty="0"/>
          </a:p>
        </p:txBody>
      </p:sp>
      <p:sp>
        <p:nvSpPr>
          <p:cNvPr id="15" name="anim-g4-10"/>
          <p:cNvSpPr/>
          <p:nvPr/>
        </p:nvSpPr>
        <p:spPr>
          <a:xfrm>
            <a:off x="822960" y="5257800"/>
            <a:ext cx="10545775"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5E6782"/>
                </a:solidFill>
                <a:latin typeface="Cairo" pitchFamily="34" charset="0"/>
                <a:ea typeface="Cairo" pitchFamily="34" charset="-122"/>
                <a:cs typeface="Cairo" pitchFamily="34" charset="-120"/>
              </a:rPr>
              <a:t>مؤلف «رحلة عبر الأردوينو» و«أردوينو بلا قيود» و«دليل المعلم في تعلم الأردوينو»</a:t>
            </a:r>
            <a:endParaRPr lang="ar-SA" sz="1800" dirty="0"/>
          </a:p>
        </p:txBody>
      </p:sp>
      <p:sp>
        <p:nvSpPr>
          <p:cNvPr id="16" name="Text 14"/>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الأردوينو للمعلمين</a:t>
            </a:r>
            <a:endParaRPr lang="ar-SA" sz="1200" dirty="0"/>
          </a:p>
        </p:txBody>
      </p:sp>
      <p:sp>
        <p:nvSpPr>
          <p:cNvPr id="17" name="Text 15"/>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الافتتاح  ·  ٢</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4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4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400"/>
                                        <p:tgtEl>
                                          <p:spTgt spid="9"/>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400"/>
                                        <p:tgtEl>
                                          <p:spTgt spid="1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400"/>
                                        <p:tgtEl>
                                          <p:spTgt spid="11"/>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4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400"/>
                                        <p:tgtEl>
                                          <p:spTgt spid="13"/>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400"/>
                                        <p:tgtEl>
                                          <p:spTgt spid="14"/>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kb-11" descr="/Users/mac/Desktop/أردوينو/المشاريع والكتب/younes-training/arduino/assets/workshop.jpg">    </p:cNvPr>
          <p:cNvPicPr>
            <a:picLocks noChangeAspect="1"/>
          </p:cNvPicPr>
          <p:nvPr/>
        </p:nvPicPr>
        <p:blipFill>
          <a:blip r:embed="rId2"/>
          <a:stretch>
            <a:fillRect/>
          </a:stretch>
        </p:blipFill>
        <p:spPr>
          <a:xfrm>
            <a:off x="0" y="0"/>
            <a:ext cx="12191695" cy="6858000"/>
          </a:xfrm>
          <a:prstGeom prst="rect">
            <a:avLst/>
          </a:prstGeom>
        </p:spPr>
      </p:pic>
      <p:pic>
        <p:nvPicPr>
          <p:cNvPr id="3" name="Image 1" descr="/Users/mac/Desktop/أردوينو/المشاريع والكتب/younes-training/shared/assets/mcover-overlay.png">    </p:cNvPr>
          <p:cNvPicPr>
            <a:picLocks noChangeAspect="1"/>
          </p:cNvPicPr>
          <p:nvPr/>
        </p:nvPicPr>
        <p:blipFill>
          <a:blip r:embed="rId3"/>
          <a:stretch>
            <a:fillRect/>
          </a:stretch>
        </p:blipFill>
        <p:spPr>
          <a:xfrm>
            <a:off x="0" y="0"/>
            <a:ext cx="12191695" cy="6858000"/>
          </a:xfrm>
          <a:prstGeom prst="rect">
            <a:avLst/>
          </a:prstGeom>
        </p:spPr>
      </p:pic>
      <p:sp>
        <p:nvSpPr>
          <p:cNvPr id="4" name="Text 0"/>
          <p:cNvSpPr/>
          <p:nvPr/>
        </p:nvSpPr>
        <p:spPr>
          <a:xfrm>
            <a:off x="5120640" y="1645920"/>
            <a:ext cx="6248095" cy="502920"/>
          </a:xfrm>
          <a:prstGeom prst="rect">
            <a:avLst/>
          </a:prstGeom>
          <a:noFill/>
          <a:ln/>
        </p:spPr>
        <p:txBody>
          <a:bodyPr wrap="square" lIns="0" tIns="0" rIns="0" bIns="0" rtlCol="0" anchor="ctr">
            <a:normAutofit/>
          </a:bodyPr>
          <a:lstStyle/>
          <a:p>
            <a:pPr rtl="1" algn="r" indent="0" marL="0">
              <a:buNone/>
            </a:pPr>
            <a:r>
              <a:rPr lang="ar-SA" altLang="en-US" sz="2200" b="1" dirty="0">
                <a:solidFill>
                  <a:srgbClr val="D9AE4B"/>
                </a:solidFill>
                <a:latin typeface="Cairo" pitchFamily="34" charset="0"/>
                <a:ea typeface="Cairo" pitchFamily="34" charset="-122"/>
                <a:cs typeface="Cairo" pitchFamily="34" charset="-120"/>
              </a:rPr>
              <a:t>قبل أن نبدأ</a:t>
            </a:r>
            <a:endParaRPr lang="ar-SA" sz="2200" dirty="0"/>
          </a:p>
        </p:txBody>
      </p:sp>
      <p:sp>
        <p:nvSpPr>
          <p:cNvPr id="5" name="Text 1"/>
          <p:cNvSpPr/>
          <p:nvPr/>
        </p:nvSpPr>
        <p:spPr>
          <a:xfrm>
            <a:off x="4572000" y="2194560"/>
            <a:ext cx="6796735" cy="1737360"/>
          </a:xfrm>
          <a:prstGeom prst="rect">
            <a:avLst/>
          </a:prstGeom>
          <a:noFill/>
          <a:ln/>
        </p:spPr>
        <p:txBody>
          <a:bodyPr wrap="square" lIns="0" tIns="0" rIns="0" bIns="0" rtlCol="0" anchor="ctr">
            <a:normAutofit/>
          </a:bodyPr>
          <a:lstStyle/>
          <a:p>
            <a:pPr rtl="1" algn="r" indent="0" marL="0">
              <a:lnSpc>
                <a:spcPct val="110000"/>
              </a:lnSpc>
              <a:buNone/>
            </a:pPr>
            <a:r>
              <a:rPr lang="ar-SA" altLang="en-US" sz="4800" dirty="0">
                <a:solidFill>
                  <a:srgbClr val="FFFFFF"/>
                </a:solidFill>
                <a:latin typeface="Cairo Black" pitchFamily="34" charset="0"/>
                <a:ea typeface="Cairo Black" pitchFamily="34" charset="-122"/>
                <a:cs typeface="Cairo Black" pitchFamily="34" charset="-120"/>
              </a:rPr>
              <a:t>لماذا نعلّم أبناءنا الأردوينو؟</a:t>
            </a:r>
            <a:endParaRPr lang="ar-SA" sz="4800" dirty="0"/>
          </a:p>
        </p:txBody>
      </p:sp>
      <p:sp>
        <p:nvSpPr>
          <p:cNvPr id="6" name="Text 2"/>
          <p:cNvSpPr/>
          <p:nvPr/>
        </p:nvSpPr>
        <p:spPr>
          <a:xfrm>
            <a:off x="4572000" y="4023360"/>
            <a:ext cx="6796735" cy="1097280"/>
          </a:xfrm>
          <a:prstGeom prst="rect">
            <a:avLst/>
          </a:prstGeom>
          <a:noFill/>
          <a:ln/>
        </p:spPr>
        <p:txBody>
          <a:bodyPr wrap="square" lIns="0" tIns="0" rIns="0" bIns="0" rtlCol="0" anchor="ctr">
            <a:normAutofit/>
          </a:bodyPr>
          <a:lstStyle/>
          <a:p>
            <a:pPr rtl="1" algn="r" indent="0" marL="0">
              <a:buNone/>
            </a:pPr>
            <a:r>
              <a:rPr lang="ar-SA" altLang="en-US" sz="2200" b="1" dirty="0">
                <a:solidFill>
                  <a:srgbClr val="C9CFE6"/>
                </a:solidFill>
                <a:latin typeface="Cairo" pitchFamily="34" charset="0"/>
                <a:ea typeface="Cairo" pitchFamily="34" charset="-122"/>
                <a:cs typeface="Cairo" pitchFamily="34" charset="-120"/>
              </a:rPr>
              <a:t>لأن الطالب الذي يصنع… يختلف عن الطالب الذي يستهلك</a:t>
            </a:r>
            <a:endParaRPr lang="ar-SA" sz="2200" dirty="0"/>
          </a:p>
        </p:txBody>
      </p:sp>
      <p:sp>
        <p:nvSpPr>
          <p:cNvPr id="7"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الأردوينو للمعلمين</a:t>
            </a:r>
            <a:endParaRPr lang="ar-SA" sz="1200" dirty="0"/>
          </a:p>
        </p:txBody>
      </p:sp>
      <p:sp>
        <p:nvSpPr>
          <p:cNvPr id="8"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الافتتاح  ·  ٣</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fill="hold" nodeType="afterEffect">
                                  <p:stCondLst>
                                    <p:cond delay="0"/>
                                  </p:stCondLst>
                                  <p:childTnLst>
                                    <p:animScale>
                                      <p:cBhvr>
                                        <p:cTn id="6" dur="16000" fill="hold"/>
                                        <p:tgtEl>
                                          <p:spTgt spid="2"/>
                                        </p:tgtEl>
                                      </p:cBhvr>
                                      <p:by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9027871" y="457200"/>
            <a:ext cx="2340864" cy="457200"/>
          </a:xfrm>
          <a:prstGeom prst="roundRect">
            <a:avLst>
              <a:gd name="adj" fmla="val 50000"/>
            </a:avLst>
          </a:prstGeom>
          <a:solidFill>
            <a:srgbClr val="F6EBCF"/>
          </a:solidFill>
          <a:ln/>
        </p:spPr>
      </p:sp>
      <p:sp>
        <p:nvSpPr>
          <p:cNvPr id="3" name="Text 1"/>
          <p:cNvSpPr/>
          <p:nvPr/>
        </p:nvSpPr>
        <p:spPr>
          <a:xfrm>
            <a:off x="9027871" y="457200"/>
            <a:ext cx="2340864"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أربعة أسباب</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ماذا يكسب الطالب من الأردوينو؟</a:t>
            </a:r>
            <a:endParaRPr lang="ar-SA" sz="3800" dirty="0"/>
          </a:p>
        </p:txBody>
      </p:sp>
      <p:sp>
        <p:nvSpPr>
          <p:cNvPr id="5" name="anim-g1-12"/>
          <p:cNvSpPr/>
          <p:nvPr/>
        </p:nvSpPr>
        <p:spPr>
          <a:xfrm>
            <a:off x="8938031" y="2148840"/>
            <a:ext cx="2430704" cy="3566160"/>
          </a:xfrm>
          <a:prstGeom prst="roundRect">
            <a:avLst>
              <a:gd name="adj" fmla="val 677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13"/>
          <p:cNvSpPr/>
          <p:nvPr/>
        </p:nvSpPr>
        <p:spPr>
          <a:xfrm>
            <a:off x="10362895" y="2404872"/>
            <a:ext cx="731520" cy="731520"/>
          </a:xfrm>
          <a:prstGeom prst="roundRect">
            <a:avLst>
              <a:gd name="adj" fmla="val 25000"/>
            </a:avLst>
          </a:prstGeom>
          <a:solidFill>
            <a:srgbClr val="F7E6BC"/>
          </a:solidFill>
          <a:ln/>
        </p:spPr>
      </p:sp>
      <p:sp>
        <p:nvSpPr>
          <p:cNvPr id="7" name="anim-g1-14"/>
          <p:cNvSpPr/>
          <p:nvPr/>
        </p:nvSpPr>
        <p:spPr>
          <a:xfrm>
            <a:off x="10362895"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8" name="anim-g1-15"/>
          <p:cNvSpPr/>
          <p:nvPr/>
        </p:nvSpPr>
        <p:spPr>
          <a:xfrm>
            <a:off x="9212351" y="3246120"/>
            <a:ext cx="1882064"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التفكير الحاسوبي</a:t>
            </a:r>
            <a:endParaRPr lang="ar-SA" sz="2300" dirty="0"/>
          </a:p>
        </p:txBody>
      </p:sp>
      <p:sp>
        <p:nvSpPr>
          <p:cNvPr id="9" name="anim-g1-16"/>
          <p:cNvSpPr/>
          <p:nvPr/>
        </p:nvSpPr>
        <p:spPr>
          <a:xfrm>
            <a:off x="9212351" y="3794760"/>
            <a:ext cx="1882064"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يقسّم المشكلة الكبيرة، ويبني الحل خطوة خطوة</a:t>
            </a:r>
            <a:endParaRPr lang="ar-SA" sz="2100" dirty="0"/>
          </a:p>
        </p:txBody>
      </p:sp>
      <p:sp>
        <p:nvSpPr>
          <p:cNvPr id="10" name="anim-g2-17"/>
          <p:cNvSpPr/>
          <p:nvPr/>
        </p:nvSpPr>
        <p:spPr>
          <a:xfrm>
            <a:off x="6233008" y="2148840"/>
            <a:ext cx="2430704" cy="3566160"/>
          </a:xfrm>
          <a:prstGeom prst="roundRect">
            <a:avLst>
              <a:gd name="adj" fmla="val 677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18"/>
          <p:cNvSpPr/>
          <p:nvPr/>
        </p:nvSpPr>
        <p:spPr>
          <a:xfrm>
            <a:off x="7657871" y="2404872"/>
            <a:ext cx="731520" cy="731520"/>
          </a:xfrm>
          <a:prstGeom prst="roundRect">
            <a:avLst>
              <a:gd name="adj" fmla="val 25000"/>
            </a:avLst>
          </a:prstGeom>
          <a:solidFill>
            <a:srgbClr val="F7E6BC"/>
          </a:solidFill>
          <a:ln/>
        </p:spPr>
      </p:sp>
      <p:sp>
        <p:nvSpPr>
          <p:cNvPr id="12" name="anim-g2-19"/>
          <p:cNvSpPr/>
          <p:nvPr/>
        </p:nvSpPr>
        <p:spPr>
          <a:xfrm>
            <a:off x="7657871"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13" name="anim-g2-20"/>
          <p:cNvSpPr/>
          <p:nvPr/>
        </p:nvSpPr>
        <p:spPr>
          <a:xfrm>
            <a:off x="6507328" y="3246120"/>
            <a:ext cx="1882064"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التعلّم باليد</a:t>
            </a:r>
            <a:endParaRPr lang="ar-SA" sz="2300" dirty="0"/>
          </a:p>
        </p:txBody>
      </p:sp>
      <p:sp>
        <p:nvSpPr>
          <p:cNvPr id="14" name="anim-g2-21"/>
          <p:cNvSpPr/>
          <p:nvPr/>
        </p:nvSpPr>
        <p:spPr>
          <a:xfrm>
            <a:off x="6507328" y="3794760"/>
            <a:ext cx="1882064"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الفكرة تتحول أمامه إلى شيء يعمل فعلًا</a:t>
            </a:r>
            <a:endParaRPr lang="ar-SA" sz="2100" dirty="0"/>
          </a:p>
        </p:txBody>
      </p:sp>
      <p:sp>
        <p:nvSpPr>
          <p:cNvPr id="15" name="anim-g3-22"/>
          <p:cNvSpPr/>
          <p:nvPr/>
        </p:nvSpPr>
        <p:spPr>
          <a:xfrm>
            <a:off x="3527984" y="2148840"/>
            <a:ext cx="2430704" cy="3566160"/>
          </a:xfrm>
          <a:prstGeom prst="roundRect">
            <a:avLst>
              <a:gd name="adj" fmla="val 677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23"/>
          <p:cNvSpPr/>
          <p:nvPr/>
        </p:nvSpPr>
        <p:spPr>
          <a:xfrm>
            <a:off x="4952848" y="2404872"/>
            <a:ext cx="731520" cy="731520"/>
          </a:xfrm>
          <a:prstGeom prst="roundRect">
            <a:avLst>
              <a:gd name="adj" fmla="val 25000"/>
            </a:avLst>
          </a:prstGeom>
          <a:solidFill>
            <a:srgbClr val="F7E6BC"/>
          </a:solidFill>
          <a:ln/>
        </p:spPr>
      </p:sp>
      <p:sp>
        <p:nvSpPr>
          <p:cNvPr id="17" name="anim-g3-24"/>
          <p:cNvSpPr/>
          <p:nvPr/>
        </p:nvSpPr>
        <p:spPr>
          <a:xfrm>
            <a:off x="4952848"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18" name="anim-g3-25"/>
          <p:cNvSpPr/>
          <p:nvPr/>
        </p:nvSpPr>
        <p:spPr>
          <a:xfrm>
            <a:off x="3802304" y="3246120"/>
            <a:ext cx="1882064"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مهارات المستقبل</a:t>
            </a:r>
            <a:endParaRPr lang="ar-SA" sz="2300" dirty="0"/>
          </a:p>
        </p:txBody>
      </p:sp>
      <p:sp>
        <p:nvSpPr>
          <p:cNvPr id="19" name="anim-g3-26"/>
          <p:cNvSpPr/>
          <p:nvPr/>
        </p:nvSpPr>
        <p:spPr>
          <a:xfrm>
            <a:off x="3802304" y="3794760"/>
            <a:ext cx="1882064"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البرمجة والإلكترونيات لغة وظائف الغد</a:t>
            </a:r>
            <a:endParaRPr lang="ar-SA" sz="2100" dirty="0"/>
          </a:p>
        </p:txBody>
      </p:sp>
      <p:sp>
        <p:nvSpPr>
          <p:cNvPr id="20" name="anim-g4-27"/>
          <p:cNvSpPr/>
          <p:nvPr/>
        </p:nvSpPr>
        <p:spPr>
          <a:xfrm>
            <a:off x="822960" y="2148840"/>
            <a:ext cx="2430704" cy="3566160"/>
          </a:xfrm>
          <a:prstGeom prst="roundRect">
            <a:avLst>
              <a:gd name="adj" fmla="val 677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21" name="anim-g4-28"/>
          <p:cNvSpPr/>
          <p:nvPr/>
        </p:nvSpPr>
        <p:spPr>
          <a:xfrm>
            <a:off x="2247824" y="2404872"/>
            <a:ext cx="731520" cy="731520"/>
          </a:xfrm>
          <a:prstGeom prst="roundRect">
            <a:avLst>
              <a:gd name="adj" fmla="val 25000"/>
            </a:avLst>
          </a:prstGeom>
          <a:solidFill>
            <a:srgbClr val="F7E6BC"/>
          </a:solidFill>
          <a:ln/>
        </p:spPr>
      </p:sp>
      <p:sp>
        <p:nvSpPr>
          <p:cNvPr id="22" name="anim-g4-29"/>
          <p:cNvSpPr/>
          <p:nvPr/>
        </p:nvSpPr>
        <p:spPr>
          <a:xfrm>
            <a:off x="2247824"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23" name="anim-g4-30"/>
          <p:cNvSpPr/>
          <p:nvPr/>
        </p:nvSpPr>
        <p:spPr>
          <a:xfrm>
            <a:off x="1097280" y="3246120"/>
            <a:ext cx="1882064"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الابتكار</a:t>
            </a:r>
            <a:endParaRPr lang="ar-SA" sz="2300" dirty="0"/>
          </a:p>
        </p:txBody>
      </p:sp>
      <p:sp>
        <p:nvSpPr>
          <p:cNvPr id="24" name="anim-g4-31"/>
          <p:cNvSpPr/>
          <p:nvPr/>
        </p:nvSpPr>
        <p:spPr>
          <a:xfrm>
            <a:off x="1097280" y="3794760"/>
            <a:ext cx="1882064"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ينتقل من مستهلك للتقنية إلى صانع لها</a:t>
            </a:r>
            <a:endParaRPr lang="ar-SA" sz="2100" dirty="0"/>
          </a:p>
        </p:txBody>
      </p:sp>
      <p:sp>
        <p:nvSpPr>
          <p:cNvPr id="25" name="Text 2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الأردوينو للمعلمين</a:t>
            </a:r>
            <a:endParaRPr lang="ar-SA" sz="1200" dirty="0"/>
          </a:p>
        </p:txBody>
      </p:sp>
      <p:sp>
        <p:nvSpPr>
          <p:cNvPr id="26" name="Text 2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الافتتاح  ·  ٤</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400"/>
                                        <p:tgtEl>
                                          <p:spTgt spid="2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400"/>
                                        <p:tgtEl>
                                          <p:spTgt spid="2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400"/>
                                        <p:tgtEl>
                                          <p:spTgt spid="2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779112" y="1188720"/>
            <a:ext cx="2633472"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779112" y="1188720"/>
            <a:ext cx="2633472"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لحظة لا تُنسى</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الطالب الذي يُضيء أول ليد بيده…</a:t>
            </a:r>
            <a:endParaRPr lang="ar-SA" sz="4400" dirty="0"/>
          </a:p>
          <a:p>
            <a:pPr algn="ctr" indent="0" marL="0">
              <a:lnSpc>
                <a:spcPct val="115000"/>
              </a:lnSpc>
              <a:buNone/>
            </a:pPr>
            <a:r>
              <a:rPr lang="ar-SA" altLang="en-US" sz="4400" dirty="0">
                <a:solidFill>
                  <a:srgbClr val="F0CC7A"/>
                </a:solidFill>
                <a:latin typeface="Cairo Black" pitchFamily="34" charset="0"/>
                <a:ea typeface="Cairo Black" pitchFamily="34" charset="-122"/>
                <a:cs typeface="Cairo Black" pitchFamily="34" charset="-120"/>
              </a:rPr>
              <a:t> لا ينسى ذلك اليوم أبدًا</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الأردوينو للمعلمين</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الافتتاح  ·  ٥</a:t>
            </a:r>
            <a:endParaRPr lang="ar-SA"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Users/mac/Desktop/أردوينو/المشاريع والكتب/younes-training/arduino/.pptx-cache/s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81567" y="457200"/>
            <a:ext cx="2487168" cy="457200"/>
          </a:xfrm>
          <a:prstGeom prst="roundRect">
            <a:avLst>
              <a:gd name="adj" fmla="val 50000"/>
            </a:avLst>
          </a:prstGeom>
          <a:solidFill>
            <a:srgbClr val="F6EBCF"/>
          </a:solidFill>
          <a:ln/>
        </p:spPr>
      </p:sp>
      <p:sp>
        <p:nvSpPr>
          <p:cNvPr id="3" name="Text 1"/>
          <p:cNvSpPr/>
          <p:nvPr/>
        </p:nvSpPr>
        <p:spPr>
          <a:xfrm>
            <a:off x="8881567" y="45720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قبل الانطلاق</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ماذا تحتاج لهذه الدورة؟</a:t>
            </a:r>
            <a:endParaRPr lang="ar-SA" sz="3800" dirty="0"/>
          </a:p>
        </p:txBody>
      </p:sp>
      <p:sp>
        <p:nvSpPr>
          <p:cNvPr id="5" name="anim-g1-32"/>
          <p:cNvSpPr/>
          <p:nvPr/>
        </p:nvSpPr>
        <p:spPr>
          <a:xfrm>
            <a:off x="8938031" y="2148840"/>
            <a:ext cx="2430704" cy="3566160"/>
          </a:xfrm>
          <a:prstGeom prst="roundRect">
            <a:avLst>
              <a:gd name="adj" fmla="val 677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33"/>
          <p:cNvSpPr/>
          <p:nvPr/>
        </p:nvSpPr>
        <p:spPr>
          <a:xfrm>
            <a:off x="10362895" y="2404872"/>
            <a:ext cx="731520" cy="731520"/>
          </a:xfrm>
          <a:prstGeom prst="roundRect">
            <a:avLst>
              <a:gd name="adj" fmla="val 25000"/>
            </a:avLst>
          </a:prstGeom>
          <a:solidFill>
            <a:srgbClr val="F7E6BC"/>
          </a:solidFill>
          <a:ln/>
        </p:spPr>
      </p:sp>
      <p:sp>
        <p:nvSpPr>
          <p:cNvPr id="7" name="anim-g1-34"/>
          <p:cNvSpPr/>
          <p:nvPr/>
        </p:nvSpPr>
        <p:spPr>
          <a:xfrm>
            <a:off x="10362895"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8" name="anim-g1-35"/>
          <p:cNvSpPr/>
          <p:nvPr/>
        </p:nvSpPr>
        <p:spPr>
          <a:xfrm>
            <a:off x="9212351" y="3246120"/>
            <a:ext cx="1882064"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حاسوب ومتصفح</a:t>
            </a:r>
            <a:endParaRPr lang="ar-SA" sz="2300" dirty="0"/>
          </a:p>
        </p:txBody>
      </p:sp>
      <p:sp>
        <p:nvSpPr>
          <p:cNvPr id="9" name="anim-g1-36"/>
          <p:cNvSpPr/>
          <p:nvPr/>
        </p:nvSpPr>
        <p:spPr>
          <a:xfrm>
            <a:off x="9212351" y="3794760"/>
            <a:ext cx="1882064"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أي جهاز حديث يكفي، ويُفضّل متصفح كروم</a:t>
            </a:r>
            <a:endParaRPr lang="ar-SA" sz="2100" dirty="0"/>
          </a:p>
        </p:txBody>
      </p:sp>
      <p:sp>
        <p:nvSpPr>
          <p:cNvPr id="10" name="anim-g2-37"/>
          <p:cNvSpPr/>
          <p:nvPr/>
        </p:nvSpPr>
        <p:spPr>
          <a:xfrm>
            <a:off x="6233008" y="2148840"/>
            <a:ext cx="2430704" cy="3566160"/>
          </a:xfrm>
          <a:prstGeom prst="roundRect">
            <a:avLst>
              <a:gd name="adj" fmla="val 677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38"/>
          <p:cNvSpPr/>
          <p:nvPr/>
        </p:nvSpPr>
        <p:spPr>
          <a:xfrm>
            <a:off x="7657871" y="2404872"/>
            <a:ext cx="731520" cy="731520"/>
          </a:xfrm>
          <a:prstGeom prst="roundRect">
            <a:avLst>
              <a:gd name="adj" fmla="val 25000"/>
            </a:avLst>
          </a:prstGeom>
          <a:solidFill>
            <a:srgbClr val="F7E6BC"/>
          </a:solidFill>
          <a:ln/>
        </p:spPr>
      </p:sp>
      <p:sp>
        <p:nvSpPr>
          <p:cNvPr id="12" name="anim-g2-39"/>
          <p:cNvSpPr/>
          <p:nvPr/>
        </p:nvSpPr>
        <p:spPr>
          <a:xfrm>
            <a:off x="7657871"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13" name="anim-g2-40"/>
          <p:cNvSpPr/>
          <p:nvPr/>
        </p:nvSpPr>
        <p:spPr>
          <a:xfrm>
            <a:off x="6507328" y="3246120"/>
            <a:ext cx="1882064"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حساب في Tinkercad</a:t>
            </a:r>
            <a:endParaRPr lang="ar-SA" sz="2300" dirty="0"/>
          </a:p>
        </p:txBody>
      </p:sp>
      <p:sp>
        <p:nvSpPr>
          <p:cNvPr id="14" name="anim-g2-41"/>
          <p:cNvSpPr/>
          <p:nvPr/>
        </p:nvSpPr>
        <p:spPr>
          <a:xfrm>
            <a:off x="6507328" y="3794760"/>
            <a:ext cx="1882064"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مجاني، لتصميم الدوائر ومحاكاتها دون أي قطع</a:t>
            </a:r>
            <a:endParaRPr lang="ar-SA" sz="2100" dirty="0"/>
          </a:p>
        </p:txBody>
      </p:sp>
      <p:sp>
        <p:nvSpPr>
          <p:cNvPr id="15" name="anim-g3-42"/>
          <p:cNvSpPr/>
          <p:nvPr/>
        </p:nvSpPr>
        <p:spPr>
          <a:xfrm>
            <a:off x="3527984" y="2148840"/>
            <a:ext cx="2430704" cy="3566160"/>
          </a:xfrm>
          <a:prstGeom prst="roundRect">
            <a:avLst>
              <a:gd name="adj" fmla="val 677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43"/>
          <p:cNvSpPr/>
          <p:nvPr/>
        </p:nvSpPr>
        <p:spPr>
          <a:xfrm>
            <a:off x="4952848" y="2404872"/>
            <a:ext cx="731520" cy="731520"/>
          </a:xfrm>
          <a:prstGeom prst="roundRect">
            <a:avLst>
              <a:gd name="adj" fmla="val 25000"/>
            </a:avLst>
          </a:prstGeom>
          <a:solidFill>
            <a:srgbClr val="F7E6BC"/>
          </a:solidFill>
          <a:ln/>
        </p:spPr>
      </p:sp>
      <p:sp>
        <p:nvSpPr>
          <p:cNvPr id="17" name="anim-g3-44"/>
          <p:cNvSpPr/>
          <p:nvPr/>
        </p:nvSpPr>
        <p:spPr>
          <a:xfrm>
            <a:off x="4952848"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18" name="anim-g3-45"/>
          <p:cNvSpPr/>
          <p:nvPr/>
        </p:nvSpPr>
        <p:spPr>
          <a:xfrm>
            <a:off x="3802304" y="3246120"/>
            <a:ext cx="1882064"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لوحة Uno (اختياري)</a:t>
            </a:r>
            <a:endParaRPr lang="ar-SA" sz="2300" dirty="0"/>
          </a:p>
        </p:txBody>
      </p:sp>
      <p:sp>
        <p:nvSpPr>
          <p:cNvPr id="19" name="anim-g3-46"/>
          <p:cNvSpPr/>
          <p:nvPr/>
        </p:nvSpPr>
        <p:spPr>
          <a:xfrm>
            <a:off x="3802304" y="3794760"/>
            <a:ext cx="1882064"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مع طقم مبتدئ لمن يريد التطبيق على قطع حقيقية</a:t>
            </a:r>
            <a:endParaRPr lang="ar-SA" sz="2100" dirty="0"/>
          </a:p>
        </p:txBody>
      </p:sp>
      <p:sp>
        <p:nvSpPr>
          <p:cNvPr id="20" name="anim-g4-47"/>
          <p:cNvSpPr/>
          <p:nvPr/>
        </p:nvSpPr>
        <p:spPr>
          <a:xfrm>
            <a:off x="822960" y="2148840"/>
            <a:ext cx="2430704" cy="3566160"/>
          </a:xfrm>
          <a:prstGeom prst="roundRect">
            <a:avLst>
              <a:gd name="adj" fmla="val 677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21" name="anim-g4-48"/>
          <p:cNvSpPr/>
          <p:nvPr/>
        </p:nvSpPr>
        <p:spPr>
          <a:xfrm>
            <a:off x="2247824" y="2404872"/>
            <a:ext cx="731520" cy="731520"/>
          </a:xfrm>
          <a:prstGeom prst="roundRect">
            <a:avLst>
              <a:gd name="adj" fmla="val 25000"/>
            </a:avLst>
          </a:prstGeom>
          <a:solidFill>
            <a:srgbClr val="F7E6BC"/>
          </a:solidFill>
          <a:ln/>
        </p:spPr>
      </p:sp>
      <p:sp>
        <p:nvSpPr>
          <p:cNvPr id="22" name="anim-g4-49"/>
          <p:cNvSpPr/>
          <p:nvPr/>
        </p:nvSpPr>
        <p:spPr>
          <a:xfrm>
            <a:off x="2247824"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23" name="anim-g4-50"/>
          <p:cNvSpPr/>
          <p:nvPr/>
        </p:nvSpPr>
        <p:spPr>
          <a:xfrm>
            <a:off x="1097280" y="3246120"/>
            <a:ext cx="1882064"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فضول وصبر</a:t>
            </a:r>
            <a:endParaRPr lang="ar-SA" sz="2300" dirty="0"/>
          </a:p>
        </p:txBody>
      </p:sp>
      <p:sp>
        <p:nvSpPr>
          <p:cNvPr id="24" name="anim-g4-51"/>
          <p:cNvSpPr/>
          <p:nvPr/>
        </p:nvSpPr>
        <p:spPr>
          <a:xfrm>
            <a:off x="1097280" y="3794760"/>
            <a:ext cx="1882064"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كل خطأ في الدائرة درس جديد، لا فشل</a:t>
            </a:r>
            <a:endParaRPr lang="ar-SA" sz="2100" dirty="0"/>
          </a:p>
        </p:txBody>
      </p:sp>
      <p:sp>
        <p:nvSpPr>
          <p:cNvPr id="25" name="Text 2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الأردوينو للمعلمين</a:t>
            </a:r>
            <a:endParaRPr lang="ar-SA" sz="1200" dirty="0"/>
          </a:p>
        </p:txBody>
      </p:sp>
      <p:sp>
        <p:nvSpPr>
          <p:cNvPr id="26" name="Text 2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الافتتاح  ·  ٧</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400"/>
                                        <p:tgtEl>
                                          <p:spTgt spid="2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400"/>
                                        <p:tgtEl>
                                          <p:spTgt spid="2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400"/>
                                        <p:tgtEl>
                                          <p:spTgt spid="2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81567" y="457200"/>
            <a:ext cx="2487168" cy="457200"/>
          </a:xfrm>
          <a:prstGeom prst="roundRect">
            <a:avLst>
              <a:gd name="adj" fmla="val 50000"/>
            </a:avLst>
          </a:prstGeom>
          <a:solidFill>
            <a:srgbClr val="F6EBCF"/>
          </a:solidFill>
          <a:ln/>
        </p:spPr>
      </p:sp>
      <p:sp>
        <p:nvSpPr>
          <p:cNvPr id="3" name="Text 1"/>
          <p:cNvSpPr/>
          <p:nvPr/>
        </p:nvSpPr>
        <p:spPr>
          <a:xfrm>
            <a:off x="8881567" y="45720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خريطة الرحلة</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اثنا عشر محورًا… من الفكرة إلى المشروع</a:t>
            </a:r>
            <a:endParaRPr lang="ar-SA" sz="3200" dirty="0"/>
          </a:p>
        </p:txBody>
      </p:sp>
      <p:sp>
        <p:nvSpPr>
          <p:cNvPr id="5" name="Shape 3"/>
          <p:cNvSpPr/>
          <p:nvPr/>
        </p:nvSpPr>
        <p:spPr>
          <a:xfrm>
            <a:off x="8903741" y="1965960"/>
            <a:ext cx="2464994" cy="960120"/>
          </a:xfrm>
          <a:prstGeom prst="roundRect">
            <a:avLst>
              <a:gd name="adj" fmla="val 17143"/>
            </a:avLst>
          </a:prstGeom>
          <a:solidFill>
            <a:srgbClr val="FFFFFF"/>
          </a:solidFill>
          <a:ln w="12700">
            <a:solidFill>
              <a:srgbClr val="E4DCC8"/>
            </a:solidFill>
            <a:prstDash val="solid"/>
          </a:ln>
        </p:spPr>
      </p:sp>
      <p:sp>
        <p:nvSpPr>
          <p:cNvPr id="6" name="Shape 4"/>
          <p:cNvSpPr/>
          <p:nvPr/>
        </p:nvSpPr>
        <p:spPr>
          <a:xfrm>
            <a:off x="10564063" y="2125980"/>
            <a:ext cx="640080" cy="640080"/>
          </a:xfrm>
          <a:prstGeom prst="roundRect">
            <a:avLst>
              <a:gd name="adj" fmla="val 22857"/>
            </a:avLst>
          </a:prstGeom>
          <a:solidFill>
            <a:srgbClr val="101B45"/>
          </a:solidFill>
          <a:ln/>
        </p:spPr>
      </p:sp>
      <p:sp>
        <p:nvSpPr>
          <p:cNvPr id="7" name="Text 5"/>
          <p:cNvSpPr/>
          <p:nvPr/>
        </p:nvSpPr>
        <p:spPr>
          <a:xfrm>
            <a:off x="10564063" y="2125980"/>
            <a:ext cx="640080" cy="640080"/>
          </a:xfrm>
          <a:prstGeom prst="rect">
            <a:avLst/>
          </a:prstGeom>
          <a:noFill/>
          <a:ln/>
        </p:spPr>
        <p:txBody>
          <a:bodyPr wrap="square" lIns="0" tIns="0" rIns="0" bIns="0" rtlCol="0" anchor="ctr">
            <a:normAutofit/>
          </a:bodyPr>
          <a:lstStyle/>
          <a:p>
            <a:pPr rtl="1" algn="ctr" indent="0" marL="0">
              <a:buNone/>
            </a:pPr>
            <a:r>
              <a:rPr lang="ar-SA" altLang="en-US" sz="2400" dirty="0">
                <a:solidFill>
                  <a:srgbClr val="131B34"/>
                </a:solidFill>
                <a:latin typeface="Cairo" pitchFamily="34" charset="0"/>
                <a:ea typeface="Cairo" pitchFamily="34" charset="-122"/>
                <a:cs typeface="Cairo" pitchFamily="34" charset="-120"/>
              </a:rPr>
              <a:t>🚀</a:t>
            </a:r>
            <a:endParaRPr lang="ar-SA" sz="2400" dirty="0"/>
          </a:p>
        </p:txBody>
      </p:sp>
      <p:sp>
        <p:nvSpPr>
          <p:cNvPr id="8" name="Text 6"/>
          <p:cNvSpPr/>
          <p:nvPr/>
        </p:nvSpPr>
        <p:spPr>
          <a:xfrm>
            <a:off x="9040901" y="2057400"/>
            <a:ext cx="1413434" cy="292608"/>
          </a:xfrm>
          <a:prstGeom prst="rect">
            <a:avLst/>
          </a:prstGeom>
          <a:noFill/>
          <a:ln/>
        </p:spPr>
        <p:txBody>
          <a:bodyPr wrap="square" lIns="0" tIns="0" rIns="0" bIns="0" rtlCol="0" anchor="ctr">
            <a:normAutofit/>
          </a:bodyPr>
          <a:lstStyle/>
          <a:p>
            <a:pPr rtl="1" algn="r" indent="0" marL="0">
              <a:buNone/>
            </a:pPr>
            <a:r>
              <a:rPr lang="ar-SA" altLang="en-US" sz="1400" b="1" dirty="0">
                <a:solidFill>
                  <a:srgbClr val="B08A2E"/>
                </a:solidFill>
                <a:latin typeface="Cairo" pitchFamily="34" charset="0"/>
                <a:ea typeface="Cairo" pitchFamily="34" charset="-122"/>
                <a:cs typeface="Cairo" pitchFamily="34" charset="-120"/>
              </a:rPr>
              <a:t>المحور ٠</a:t>
            </a:r>
            <a:endParaRPr lang="ar-SA" sz="1400" dirty="0"/>
          </a:p>
        </p:txBody>
      </p:sp>
      <p:sp>
        <p:nvSpPr>
          <p:cNvPr id="9" name="Text 7"/>
          <p:cNvSpPr/>
          <p:nvPr/>
        </p:nvSpPr>
        <p:spPr>
          <a:xfrm>
            <a:off x="9040901" y="2331720"/>
            <a:ext cx="1413434" cy="521208"/>
          </a:xfrm>
          <a:prstGeom prst="rect">
            <a:avLst/>
          </a:prstGeom>
          <a:noFill/>
          <a:ln/>
        </p:spPr>
        <p:txBody>
          <a:bodyPr wrap="square" lIns="0" tIns="0" rIns="0" bIns="0" rtlCol="0" anchor="ctr">
            <a:normAutofit/>
          </a:bodyPr>
          <a:lstStyle/>
          <a:p>
            <a:pPr rtl="1" algn="r" indent="0" marL="0">
              <a:buNone/>
            </a:pPr>
            <a:r>
              <a:rPr lang="ar-SA" altLang="en-US" sz="1800" dirty="0">
                <a:solidFill>
                  <a:srgbClr val="101B45"/>
                </a:solidFill>
                <a:latin typeface="Cairo Black" pitchFamily="34" charset="0"/>
                <a:ea typeface="Cairo Black" pitchFamily="34" charset="-122"/>
                <a:cs typeface="Cairo Black" pitchFamily="34" charset="-120"/>
              </a:rPr>
              <a:t>الافتتاح</a:t>
            </a:r>
            <a:endParaRPr lang="ar-SA" sz="1800" dirty="0"/>
          </a:p>
        </p:txBody>
      </p:sp>
      <p:sp>
        <p:nvSpPr>
          <p:cNvPr id="10" name="Shape 8"/>
          <p:cNvSpPr/>
          <p:nvPr/>
        </p:nvSpPr>
        <p:spPr>
          <a:xfrm>
            <a:off x="6210148" y="1965960"/>
            <a:ext cx="2464994" cy="960120"/>
          </a:xfrm>
          <a:prstGeom prst="roundRect">
            <a:avLst>
              <a:gd name="adj" fmla="val 17143"/>
            </a:avLst>
          </a:prstGeom>
          <a:solidFill>
            <a:srgbClr val="FFFFFF"/>
          </a:solidFill>
          <a:ln w="12700">
            <a:solidFill>
              <a:srgbClr val="E4DCC8"/>
            </a:solidFill>
            <a:prstDash val="solid"/>
          </a:ln>
        </p:spPr>
      </p:sp>
      <p:sp>
        <p:nvSpPr>
          <p:cNvPr id="11" name="Shape 9"/>
          <p:cNvSpPr/>
          <p:nvPr/>
        </p:nvSpPr>
        <p:spPr>
          <a:xfrm>
            <a:off x="7870469" y="2125980"/>
            <a:ext cx="640080" cy="640080"/>
          </a:xfrm>
          <a:prstGeom prst="roundRect">
            <a:avLst>
              <a:gd name="adj" fmla="val 22857"/>
            </a:avLst>
          </a:prstGeom>
          <a:solidFill>
            <a:srgbClr val="101B45"/>
          </a:solidFill>
          <a:ln/>
        </p:spPr>
      </p:sp>
      <p:sp>
        <p:nvSpPr>
          <p:cNvPr id="12" name="Text 10"/>
          <p:cNvSpPr/>
          <p:nvPr/>
        </p:nvSpPr>
        <p:spPr>
          <a:xfrm>
            <a:off x="7870469" y="2125980"/>
            <a:ext cx="640080" cy="640080"/>
          </a:xfrm>
          <a:prstGeom prst="rect">
            <a:avLst/>
          </a:prstGeom>
          <a:noFill/>
          <a:ln/>
        </p:spPr>
        <p:txBody>
          <a:bodyPr wrap="square" lIns="0" tIns="0" rIns="0" bIns="0" rtlCol="0" anchor="ctr">
            <a:normAutofit/>
          </a:bodyPr>
          <a:lstStyle/>
          <a:p>
            <a:pPr rtl="1" algn="ctr" indent="0" marL="0">
              <a:buNone/>
            </a:pPr>
            <a:r>
              <a:rPr lang="ar-SA" altLang="en-US" sz="2400" dirty="0">
                <a:solidFill>
                  <a:srgbClr val="131B34"/>
                </a:solidFill>
                <a:latin typeface="Cairo" pitchFamily="34" charset="0"/>
                <a:ea typeface="Cairo" pitchFamily="34" charset="-122"/>
                <a:cs typeface="Cairo" pitchFamily="34" charset="-120"/>
              </a:rPr>
              <a:t>❓</a:t>
            </a:r>
            <a:endParaRPr lang="ar-SA" sz="2400" dirty="0"/>
          </a:p>
        </p:txBody>
      </p:sp>
      <p:sp>
        <p:nvSpPr>
          <p:cNvPr id="13" name="Text 11"/>
          <p:cNvSpPr/>
          <p:nvPr/>
        </p:nvSpPr>
        <p:spPr>
          <a:xfrm>
            <a:off x="6347308" y="2057400"/>
            <a:ext cx="1413434" cy="292608"/>
          </a:xfrm>
          <a:prstGeom prst="rect">
            <a:avLst/>
          </a:prstGeom>
          <a:noFill/>
          <a:ln/>
        </p:spPr>
        <p:txBody>
          <a:bodyPr wrap="square" lIns="0" tIns="0" rIns="0" bIns="0" rtlCol="0" anchor="ctr">
            <a:normAutofit/>
          </a:bodyPr>
          <a:lstStyle/>
          <a:p>
            <a:pPr rtl="1" algn="r" indent="0" marL="0">
              <a:buNone/>
            </a:pPr>
            <a:r>
              <a:rPr lang="ar-SA" altLang="en-US" sz="1400" b="1" dirty="0">
                <a:solidFill>
                  <a:srgbClr val="B08A2E"/>
                </a:solidFill>
                <a:latin typeface="Cairo" pitchFamily="34" charset="0"/>
                <a:ea typeface="Cairo" pitchFamily="34" charset="-122"/>
                <a:cs typeface="Cairo" pitchFamily="34" charset="-120"/>
              </a:rPr>
              <a:t>المحور ١</a:t>
            </a:r>
            <a:endParaRPr lang="ar-SA" sz="1400" dirty="0"/>
          </a:p>
        </p:txBody>
      </p:sp>
      <p:sp>
        <p:nvSpPr>
          <p:cNvPr id="14" name="Text 12"/>
          <p:cNvSpPr/>
          <p:nvPr/>
        </p:nvSpPr>
        <p:spPr>
          <a:xfrm>
            <a:off x="6347308" y="2331720"/>
            <a:ext cx="1413434" cy="521208"/>
          </a:xfrm>
          <a:prstGeom prst="rect">
            <a:avLst/>
          </a:prstGeom>
          <a:noFill/>
          <a:ln/>
        </p:spPr>
        <p:txBody>
          <a:bodyPr wrap="square" lIns="0" tIns="0" rIns="0" bIns="0" rtlCol="0" anchor="ctr">
            <a:normAutofit/>
          </a:bodyPr>
          <a:lstStyle/>
          <a:p>
            <a:pPr rtl="1" algn="r" indent="0" marL="0">
              <a:buNone/>
            </a:pPr>
            <a:r>
              <a:rPr lang="ar-SA" altLang="en-US" sz="1800" dirty="0">
                <a:solidFill>
                  <a:srgbClr val="101B45"/>
                </a:solidFill>
                <a:latin typeface="Cairo Black" pitchFamily="34" charset="0"/>
                <a:ea typeface="Cairo Black" pitchFamily="34" charset="-122"/>
                <a:cs typeface="Cairo Black" pitchFamily="34" charset="-120"/>
              </a:rPr>
              <a:t>ما الأردوينو؟</a:t>
            </a:r>
            <a:endParaRPr lang="ar-SA" sz="1800" dirty="0"/>
          </a:p>
        </p:txBody>
      </p:sp>
      <p:sp>
        <p:nvSpPr>
          <p:cNvPr id="15" name="Shape 13"/>
          <p:cNvSpPr/>
          <p:nvPr/>
        </p:nvSpPr>
        <p:spPr>
          <a:xfrm>
            <a:off x="3516554" y="1965960"/>
            <a:ext cx="2464994" cy="960120"/>
          </a:xfrm>
          <a:prstGeom prst="roundRect">
            <a:avLst>
              <a:gd name="adj" fmla="val 17143"/>
            </a:avLst>
          </a:prstGeom>
          <a:solidFill>
            <a:srgbClr val="FFFFFF"/>
          </a:solidFill>
          <a:ln w="12700">
            <a:solidFill>
              <a:srgbClr val="E4DCC8"/>
            </a:solidFill>
            <a:prstDash val="solid"/>
          </a:ln>
        </p:spPr>
      </p:sp>
      <p:sp>
        <p:nvSpPr>
          <p:cNvPr id="16" name="Shape 14"/>
          <p:cNvSpPr/>
          <p:nvPr/>
        </p:nvSpPr>
        <p:spPr>
          <a:xfrm>
            <a:off x="5176876" y="2125980"/>
            <a:ext cx="640080" cy="640080"/>
          </a:xfrm>
          <a:prstGeom prst="roundRect">
            <a:avLst>
              <a:gd name="adj" fmla="val 22857"/>
            </a:avLst>
          </a:prstGeom>
          <a:solidFill>
            <a:srgbClr val="101B45"/>
          </a:solidFill>
          <a:ln/>
        </p:spPr>
      </p:sp>
      <p:sp>
        <p:nvSpPr>
          <p:cNvPr id="17" name="Text 15"/>
          <p:cNvSpPr/>
          <p:nvPr/>
        </p:nvSpPr>
        <p:spPr>
          <a:xfrm>
            <a:off x="5176876" y="2125980"/>
            <a:ext cx="640080" cy="640080"/>
          </a:xfrm>
          <a:prstGeom prst="rect">
            <a:avLst/>
          </a:prstGeom>
          <a:noFill/>
          <a:ln/>
        </p:spPr>
        <p:txBody>
          <a:bodyPr wrap="square" lIns="0" tIns="0" rIns="0" bIns="0" rtlCol="0" anchor="ctr">
            <a:normAutofit/>
          </a:bodyPr>
          <a:lstStyle/>
          <a:p>
            <a:pPr rtl="1" algn="ctr" indent="0" marL="0">
              <a:buNone/>
            </a:pPr>
            <a:r>
              <a:rPr lang="ar-SA" altLang="en-US" sz="2400" dirty="0">
                <a:solidFill>
                  <a:srgbClr val="131B34"/>
                </a:solidFill>
                <a:latin typeface="Cairo" pitchFamily="34" charset="0"/>
                <a:ea typeface="Cairo" pitchFamily="34" charset="-122"/>
                <a:cs typeface="Cairo" pitchFamily="34" charset="-120"/>
              </a:rPr>
              <a:t>🔍</a:t>
            </a:r>
            <a:endParaRPr lang="ar-SA" sz="2400" dirty="0"/>
          </a:p>
        </p:txBody>
      </p:sp>
      <p:sp>
        <p:nvSpPr>
          <p:cNvPr id="18" name="Text 16"/>
          <p:cNvSpPr/>
          <p:nvPr/>
        </p:nvSpPr>
        <p:spPr>
          <a:xfrm>
            <a:off x="3653714" y="2057400"/>
            <a:ext cx="1413434" cy="292608"/>
          </a:xfrm>
          <a:prstGeom prst="rect">
            <a:avLst/>
          </a:prstGeom>
          <a:noFill/>
          <a:ln/>
        </p:spPr>
        <p:txBody>
          <a:bodyPr wrap="square" lIns="0" tIns="0" rIns="0" bIns="0" rtlCol="0" anchor="ctr">
            <a:normAutofit/>
          </a:bodyPr>
          <a:lstStyle/>
          <a:p>
            <a:pPr rtl="1" algn="r" indent="0" marL="0">
              <a:buNone/>
            </a:pPr>
            <a:r>
              <a:rPr lang="ar-SA" altLang="en-US" sz="1400" b="1" dirty="0">
                <a:solidFill>
                  <a:srgbClr val="B08A2E"/>
                </a:solidFill>
                <a:latin typeface="Cairo" pitchFamily="34" charset="0"/>
                <a:ea typeface="Cairo" pitchFamily="34" charset="-122"/>
                <a:cs typeface="Cairo" pitchFamily="34" charset="-120"/>
              </a:rPr>
              <a:t>المحور ٢</a:t>
            </a:r>
            <a:endParaRPr lang="ar-SA" sz="1400" dirty="0"/>
          </a:p>
        </p:txBody>
      </p:sp>
      <p:sp>
        <p:nvSpPr>
          <p:cNvPr id="19" name="Text 17"/>
          <p:cNvSpPr/>
          <p:nvPr/>
        </p:nvSpPr>
        <p:spPr>
          <a:xfrm>
            <a:off x="3653714" y="2331720"/>
            <a:ext cx="1413434" cy="521208"/>
          </a:xfrm>
          <a:prstGeom prst="rect">
            <a:avLst/>
          </a:prstGeom>
          <a:noFill/>
          <a:ln/>
        </p:spPr>
        <p:txBody>
          <a:bodyPr wrap="square" lIns="0" tIns="0" rIns="0" bIns="0" rtlCol="0" anchor="ctr">
            <a:normAutofit/>
          </a:bodyPr>
          <a:lstStyle/>
          <a:p>
            <a:pPr rtl="1" algn="r" indent="0" marL="0">
              <a:buNone/>
            </a:pPr>
            <a:r>
              <a:rPr lang="ar-SA" altLang="en-US" sz="1800" dirty="0">
                <a:solidFill>
                  <a:srgbClr val="101B45"/>
                </a:solidFill>
                <a:latin typeface="Cairo Black" pitchFamily="34" charset="0"/>
                <a:ea typeface="Cairo Black" pitchFamily="34" charset="-122"/>
                <a:cs typeface="Cairo Black" pitchFamily="34" charset="-120"/>
              </a:rPr>
              <a:t>تشريح لوحة Uno</a:t>
            </a:r>
            <a:endParaRPr lang="ar-SA" sz="1800" dirty="0"/>
          </a:p>
        </p:txBody>
      </p:sp>
      <p:sp>
        <p:nvSpPr>
          <p:cNvPr id="20" name="Shape 18"/>
          <p:cNvSpPr/>
          <p:nvPr/>
        </p:nvSpPr>
        <p:spPr>
          <a:xfrm>
            <a:off x="822960" y="1965960"/>
            <a:ext cx="2464994" cy="960120"/>
          </a:xfrm>
          <a:prstGeom prst="roundRect">
            <a:avLst>
              <a:gd name="adj" fmla="val 17143"/>
            </a:avLst>
          </a:prstGeom>
          <a:solidFill>
            <a:srgbClr val="FFFFFF"/>
          </a:solidFill>
          <a:ln w="12700">
            <a:solidFill>
              <a:srgbClr val="E4DCC8"/>
            </a:solidFill>
            <a:prstDash val="solid"/>
          </a:ln>
        </p:spPr>
      </p:sp>
      <p:sp>
        <p:nvSpPr>
          <p:cNvPr id="21" name="Shape 19"/>
          <p:cNvSpPr/>
          <p:nvPr/>
        </p:nvSpPr>
        <p:spPr>
          <a:xfrm>
            <a:off x="2483282" y="2125980"/>
            <a:ext cx="640080" cy="640080"/>
          </a:xfrm>
          <a:prstGeom prst="roundRect">
            <a:avLst>
              <a:gd name="adj" fmla="val 22857"/>
            </a:avLst>
          </a:prstGeom>
          <a:solidFill>
            <a:srgbClr val="101B45"/>
          </a:solidFill>
          <a:ln/>
        </p:spPr>
      </p:sp>
      <p:sp>
        <p:nvSpPr>
          <p:cNvPr id="22" name="Text 20"/>
          <p:cNvSpPr/>
          <p:nvPr/>
        </p:nvSpPr>
        <p:spPr>
          <a:xfrm>
            <a:off x="2483282" y="2125980"/>
            <a:ext cx="640080" cy="640080"/>
          </a:xfrm>
          <a:prstGeom prst="rect">
            <a:avLst/>
          </a:prstGeom>
          <a:noFill/>
          <a:ln/>
        </p:spPr>
        <p:txBody>
          <a:bodyPr wrap="square" lIns="0" tIns="0" rIns="0" bIns="0" rtlCol="0" anchor="ctr">
            <a:normAutofit/>
          </a:bodyPr>
          <a:lstStyle/>
          <a:p>
            <a:pPr rtl="1" algn="ctr" indent="0" marL="0">
              <a:buNone/>
            </a:pPr>
            <a:r>
              <a:rPr lang="ar-SA" altLang="en-US" sz="2400" dirty="0">
                <a:solidFill>
                  <a:srgbClr val="131B34"/>
                </a:solidFill>
                <a:latin typeface="Cairo" pitchFamily="34" charset="0"/>
                <a:ea typeface="Cairo" pitchFamily="34" charset="-122"/>
                <a:cs typeface="Cairo" pitchFamily="34" charset="-120"/>
              </a:rPr>
              <a:t>⚡</a:t>
            </a:r>
            <a:endParaRPr lang="ar-SA" sz="2400" dirty="0"/>
          </a:p>
        </p:txBody>
      </p:sp>
      <p:sp>
        <p:nvSpPr>
          <p:cNvPr id="23" name="Text 21"/>
          <p:cNvSpPr/>
          <p:nvPr/>
        </p:nvSpPr>
        <p:spPr>
          <a:xfrm>
            <a:off x="960120" y="2057400"/>
            <a:ext cx="1413434" cy="292608"/>
          </a:xfrm>
          <a:prstGeom prst="rect">
            <a:avLst/>
          </a:prstGeom>
          <a:noFill/>
          <a:ln/>
        </p:spPr>
        <p:txBody>
          <a:bodyPr wrap="square" lIns="0" tIns="0" rIns="0" bIns="0" rtlCol="0" anchor="ctr">
            <a:normAutofit/>
          </a:bodyPr>
          <a:lstStyle/>
          <a:p>
            <a:pPr rtl="1" algn="r" indent="0" marL="0">
              <a:buNone/>
            </a:pPr>
            <a:r>
              <a:rPr lang="ar-SA" altLang="en-US" sz="1400" b="1" dirty="0">
                <a:solidFill>
                  <a:srgbClr val="B08A2E"/>
                </a:solidFill>
                <a:latin typeface="Cairo" pitchFamily="34" charset="0"/>
                <a:ea typeface="Cairo" pitchFamily="34" charset="-122"/>
                <a:cs typeface="Cairo" pitchFamily="34" charset="-120"/>
              </a:rPr>
              <a:t>المحور ٣</a:t>
            </a:r>
            <a:endParaRPr lang="ar-SA" sz="1400" dirty="0"/>
          </a:p>
        </p:txBody>
      </p:sp>
      <p:sp>
        <p:nvSpPr>
          <p:cNvPr id="24" name="Text 22"/>
          <p:cNvSpPr/>
          <p:nvPr/>
        </p:nvSpPr>
        <p:spPr>
          <a:xfrm>
            <a:off x="960120" y="2331720"/>
            <a:ext cx="1413434" cy="521208"/>
          </a:xfrm>
          <a:prstGeom prst="rect">
            <a:avLst/>
          </a:prstGeom>
          <a:noFill/>
          <a:ln/>
        </p:spPr>
        <p:txBody>
          <a:bodyPr wrap="square" lIns="0" tIns="0" rIns="0" bIns="0" rtlCol="0" anchor="ctr">
            <a:normAutofit/>
          </a:bodyPr>
          <a:lstStyle/>
          <a:p>
            <a:pPr rtl="1" algn="r" indent="0" marL="0">
              <a:buNone/>
            </a:pPr>
            <a:r>
              <a:rPr lang="ar-SA" altLang="en-US" sz="1800" dirty="0">
                <a:solidFill>
                  <a:srgbClr val="101B45"/>
                </a:solidFill>
                <a:latin typeface="Cairo Black" pitchFamily="34" charset="0"/>
                <a:ea typeface="Cairo Black" pitchFamily="34" charset="-122"/>
                <a:cs typeface="Cairo Black" pitchFamily="34" charset="-120"/>
              </a:rPr>
              <a:t>الطاقة وبيئة البرمجة</a:t>
            </a:r>
            <a:endParaRPr lang="ar-SA" sz="1800" dirty="0"/>
          </a:p>
        </p:txBody>
      </p:sp>
      <p:sp>
        <p:nvSpPr>
          <p:cNvPr id="25" name="Shape 23"/>
          <p:cNvSpPr/>
          <p:nvPr/>
        </p:nvSpPr>
        <p:spPr>
          <a:xfrm>
            <a:off x="8903741" y="3090672"/>
            <a:ext cx="2464994" cy="960120"/>
          </a:xfrm>
          <a:prstGeom prst="roundRect">
            <a:avLst>
              <a:gd name="adj" fmla="val 17143"/>
            </a:avLst>
          </a:prstGeom>
          <a:solidFill>
            <a:srgbClr val="FFFFFF"/>
          </a:solidFill>
          <a:ln w="12700">
            <a:solidFill>
              <a:srgbClr val="E4DCC8"/>
            </a:solidFill>
            <a:prstDash val="solid"/>
          </a:ln>
        </p:spPr>
      </p:sp>
      <p:sp>
        <p:nvSpPr>
          <p:cNvPr id="26" name="Shape 24"/>
          <p:cNvSpPr/>
          <p:nvPr/>
        </p:nvSpPr>
        <p:spPr>
          <a:xfrm>
            <a:off x="10564063" y="3250692"/>
            <a:ext cx="640080" cy="640080"/>
          </a:xfrm>
          <a:prstGeom prst="roundRect">
            <a:avLst>
              <a:gd name="adj" fmla="val 22857"/>
            </a:avLst>
          </a:prstGeom>
          <a:solidFill>
            <a:srgbClr val="101B45"/>
          </a:solidFill>
          <a:ln/>
        </p:spPr>
      </p:sp>
      <p:sp>
        <p:nvSpPr>
          <p:cNvPr id="27" name="Text 25"/>
          <p:cNvSpPr/>
          <p:nvPr/>
        </p:nvSpPr>
        <p:spPr>
          <a:xfrm>
            <a:off x="10564063" y="3250692"/>
            <a:ext cx="640080" cy="640080"/>
          </a:xfrm>
          <a:prstGeom prst="rect">
            <a:avLst/>
          </a:prstGeom>
          <a:noFill/>
          <a:ln/>
        </p:spPr>
        <p:txBody>
          <a:bodyPr wrap="square" lIns="0" tIns="0" rIns="0" bIns="0" rtlCol="0" anchor="ctr">
            <a:normAutofit/>
          </a:bodyPr>
          <a:lstStyle/>
          <a:p>
            <a:pPr rtl="1" algn="ctr" indent="0" marL="0">
              <a:buNone/>
            </a:pPr>
            <a:r>
              <a:rPr lang="ar-SA" altLang="en-US" sz="2400" dirty="0">
                <a:solidFill>
                  <a:srgbClr val="131B34"/>
                </a:solidFill>
                <a:latin typeface="Cairo" pitchFamily="34" charset="0"/>
                <a:ea typeface="Cairo" pitchFamily="34" charset="-122"/>
                <a:cs typeface="Cairo" pitchFamily="34" charset="-120"/>
              </a:rPr>
              <a:t>🧱</a:t>
            </a:r>
            <a:endParaRPr lang="ar-SA" sz="2400" dirty="0"/>
          </a:p>
        </p:txBody>
      </p:sp>
      <p:sp>
        <p:nvSpPr>
          <p:cNvPr id="28" name="Text 26"/>
          <p:cNvSpPr/>
          <p:nvPr/>
        </p:nvSpPr>
        <p:spPr>
          <a:xfrm>
            <a:off x="9040901" y="3182112"/>
            <a:ext cx="1413434" cy="292608"/>
          </a:xfrm>
          <a:prstGeom prst="rect">
            <a:avLst/>
          </a:prstGeom>
          <a:noFill/>
          <a:ln/>
        </p:spPr>
        <p:txBody>
          <a:bodyPr wrap="square" lIns="0" tIns="0" rIns="0" bIns="0" rtlCol="0" anchor="ctr">
            <a:normAutofit/>
          </a:bodyPr>
          <a:lstStyle/>
          <a:p>
            <a:pPr rtl="1" algn="r" indent="0" marL="0">
              <a:buNone/>
            </a:pPr>
            <a:r>
              <a:rPr lang="ar-SA" altLang="en-US" sz="1400" b="1" dirty="0">
                <a:solidFill>
                  <a:srgbClr val="B08A2E"/>
                </a:solidFill>
                <a:latin typeface="Cairo" pitchFamily="34" charset="0"/>
                <a:ea typeface="Cairo" pitchFamily="34" charset="-122"/>
                <a:cs typeface="Cairo" pitchFamily="34" charset="-120"/>
              </a:rPr>
              <a:t>المحور ٤</a:t>
            </a:r>
            <a:endParaRPr lang="ar-SA" sz="1400" dirty="0"/>
          </a:p>
        </p:txBody>
      </p:sp>
      <p:sp>
        <p:nvSpPr>
          <p:cNvPr id="29" name="Text 27"/>
          <p:cNvSpPr/>
          <p:nvPr/>
        </p:nvSpPr>
        <p:spPr>
          <a:xfrm>
            <a:off x="9040901" y="3456432"/>
            <a:ext cx="1413434" cy="521208"/>
          </a:xfrm>
          <a:prstGeom prst="rect">
            <a:avLst/>
          </a:prstGeom>
          <a:noFill/>
          <a:ln/>
        </p:spPr>
        <p:txBody>
          <a:bodyPr wrap="square" lIns="0" tIns="0" rIns="0" bIns="0" rtlCol="0" anchor="ctr">
            <a:normAutofit/>
          </a:bodyPr>
          <a:lstStyle/>
          <a:p>
            <a:pPr rtl="1" algn="r" indent="0" marL="0">
              <a:buNone/>
            </a:pPr>
            <a:r>
              <a:rPr lang="ar-SA" altLang="en-US" sz="1800" dirty="0">
                <a:solidFill>
                  <a:srgbClr val="101B45"/>
                </a:solidFill>
                <a:latin typeface="Cairo Black" pitchFamily="34" charset="0"/>
                <a:ea typeface="Cairo Black" pitchFamily="34" charset="-122"/>
                <a:cs typeface="Cairo Black" pitchFamily="34" charset="-120"/>
              </a:rPr>
              <a:t>Tinkercad ولوح التوصيل</a:t>
            </a:r>
            <a:endParaRPr lang="ar-SA" sz="1800" dirty="0"/>
          </a:p>
        </p:txBody>
      </p:sp>
      <p:sp>
        <p:nvSpPr>
          <p:cNvPr id="30" name="Shape 28"/>
          <p:cNvSpPr/>
          <p:nvPr/>
        </p:nvSpPr>
        <p:spPr>
          <a:xfrm>
            <a:off x="6210148" y="3090672"/>
            <a:ext cx="2464994" cy="960120"/>
          </a:xfrm>
          <a:prstGeom prst="roundRect">
            <a:avLst>
              <a:gd name="adj" fmla="val 17143"/>
            </a:avLst>
          </a:prstGeom>
          <a:solidFill>
            <a:srgbClr val="FFFFFF"/>
          </a:solidFill>
          <a:ln w="12700">
            <a:solidFill>
              <a:srgbClr val="E4DCC8"/>
            </a:solidFill>
            <a:prstDash val="solid"/>
          </a:ln>
        </p:spPr>
      </p:sp>
      <p:sp>
        <p:nvSpPr>
          <p:cNvPr id="31" name="Shape 29"/>
          <p:cNvSpPr/>
          <p:nvPr/>
        </p:nvSpPr>
        <p:spPr>
          <a:xfrm>
            <a:off x="7870469" y="3250692"/>
            <a:ext cx="640080" cy="640080"/>
          </a:xfrm>
          <a:prstGeom prst="roundRect">
            <a:avLst>
              <a:gd name="adj" fmla="val 22857"/>
            </a:avLst>
          </a:prstGeom>
          <a:solidFill>
            <a:srgbClr val="101B45"/>
          </a:solidFill>
          <a:ln/>
        </p:spPr>
      </p:sp>
      <p:sp>
        <p:nvSpPr>
          <p:cNvPr id="32" name="Text 30"/>
          <p:cNvSpPr/>
          <p:nvPr/>
        </p:nvSpPr>
        <p:spPr>
          <a:xfrm>
            <a:off x="7870469" y="3250692"/>
            <a:ext cx="640080" cy="640080"/>
          </a:xfrm>
          <a:prstGeom prst="rect">
            <a:avLst/>
          </a:prstGeom>
          <a:noFill/>
          <a:ln/>
        </p:spPr>
        <p:txBody>
          <a:bodyPr wrap="square" lIns="0" tIns="0" rIns="0" bIns="0" rtlCol="0" anchor="ctr">
            <a:normAutofit/>
          </a:bodyPr>
          <a:lstStyle/>
          <a:p>
            <a:pPr rtl="1" algn="ctr" indent="0" marL="0">
              <a:buNone/>
            </a:pPr>
            <a:r>
              <a:rPr lang="ar-SA" altLang="en-US" sz="2400" dirty="0">
                <a:solidFill>
                  <a:srgbClr val="131B34"/>
                </a:solidFill>
                <a:latin typeface="Cairo" pitchFamily="34" charset="0"/>
                <a:ea typeface="Cairo" pitchFamily="34" charset="-122"/>
                <a:cs typeface="Cairo" pitchFamily="34" charset="-120"/>
              </a:rPr>
              <a:t>🔋</a:t>
            </a:r>
            <a:endParaRPr lang="ar-SA" sz="2400" dirty="0"/>
          </a:p>
        </p:txBody>
      </p:sp>
      <p:sp>
        <p:nvSpPr>
          <p:cNvPr id="33" name="Text 31"/>
          <p:cNvSpPr/>
          <p:nvPr/>
        </p:nvSpPr>
        <p:spPr>
          <a:xfrm>
            <a:off x="6347308" y="3182112"/>
            <a:ext cx="1413434" cy="292608"/>
          </a:xfrm>
          <a:prstGeom prst="rect">
            <a:avLst/>
          </a:prstGeom>
          <a:noFill/>
          <a:ln/>
        </p:spPr>
        <p:txBody>
          <a:bodyPr wrap="square" lIns="0" tIns="0" rIns="0" bIns="0" rtlCol="0" anchor="ctr">
            <a:normAutofit/>
          </a:bodyPr>
          <a:lstStyle/>
          <a:p>
            <a:pPr rtl="1" algn="r" indent="0" marL="0">
              <a:buNone/>
            </a:pPr>
            <a:r>
              <a:rPr lang="ar-SA" altLang="en-US" sz="1400" b="1" dirty="0">
                <a:solidFill>
                  <a:srgbClr val="B08A2E"/>
                </a:solidFill>
                <a:latin typeface="Cairo" pitchFamily="34" charset="0"/>
                <a:ea typeface="Cairo" pitchFamily="34" charset="-122"/>
                <a:cs typeface="Cairo" pitchFamily="34" charset="-120"/>
              </a:rPr>
              <a:t>المحور ٥</a:t>
            </a:r>
            <a:endParaRPr lang="ar-SA" sz="1400" dirty="0"/>
          </a:p>
        </p:txBody>
      </p:sp>
      <p:sp>
        <p:nvSpPr>
          <p:cNvPr id="34" name="Text 32"/>
          <p:cNvSpPr/>
          <p:nvPr/>
        </p:nvSpPr>
        <p:spPr>
          <a:xfrm>
            <a:off x="6347308" y="3456432"/>
            <a:ext cx="1413434" cy="521208"/>
          </a:xfrm>
          <a:prstGeom prst="rect">
            <a:avLst/>
          </a:prstGeom>
          <a:noFill/>
          <a:ln/>
        </p:spPr>
        <p:txBody>
          <a:bodyPr wrap="square" lIns="0" tIns="0" rIns="0" bIns="0" rtlCol="0" anchor="ctr">
            <a:normAutofit/>
          </a:bodyPr>
          <a:lstStyle/>
          <a:p>
            <a:pPr rtl="1" algn="r" indent="0" marL="0">
              <a:buNone/>
            </a:pPr>
            <a:r>
              <a:rPr lang="ar-SA" altLang="en-US" sz="1800" dirty="0">
                <a:solidFill>
                  <a:srgbClr val="101B45"/>
                </a:solidFill>
                <a:latin typeface="Cairo Black" pitchFamily="34" charset="0"/>
                <a:ea typeface="Cairo Black" pitchFamily="34" charset="-122"/>
                <a:cs typeface="Cairo Black" pitchFamily="34" charset="-120"/>
              </a:rPr>
              <a:t>الدوائر وأول دائرة</a:t>
            </a:r>
            <a:endParaRPr lang="ar-SA" sz="1800" dirty="0"/>
          </a:p>
        </p:txBody>
      </p:sp>
      <p:sp>
        <p:nvSpPr>
          <p:cNvPr id="35" name="Shape 33"/>
          <p:cNvSpPr/>
          <p:nvPr/>
        </p:nvSpPr>
        <p:spPr>
          <a:xfrm>
            <a:off x="3516554" y="3090672"/>
            <a:ext cx="2464994" cy="960120"/>
          </a:xfrm>
          <a:prstGeom prst="roundRect">
            <a:avLst>
              <a:gd name="adj" fmla="val 17143"/>
            </a:avLst>
          </a:prstGeom>
          <a:solidFill>
            <a:srgbClr val="FFFFFF"/>
          </a:solidFill>
          <a:ln w="12700">
            <a:solidFill>
              <a:srgbClr val="E4DCC8"/>
            </a:solidFill>
            <a:prstDash val="solid"/>
          </a:ln>
        </p:spPr>
      </p:sp>
      <p:sp>
        <p:nvSpPr>
          <p:cNvPr id="36" name="Shape 34"/>
          <p:cNvSpPr/>
          <p:nvPr/>
        </p:nvSpPr>
        <p:spPr>
          <a:xfrm>
            <a:off x="5176876" y="3250692"/>
            <a:ext cx="640080" cy="640080"/>
          </a:xfrm>
          <a:prstGeom prst="roundRect">
            <a:avLst>
              <a:gd name="adj" fmla="val 22857"/>
            </a:avLst>
          </a:prstGeom>
          <a:solidFill>
            <a:srgbClr val="101B45"/>
          </a:solidFill>
          <a:ln/>
        </p:spPr>
      </p:sp>
      <p:sp>
        <p:nvSpPr>
          <p:cNvPr id="37" name="Text 35"/>
          <p:cNvSpPr/>
          <p:nvPr/>
        </p:nvSpPr>
        <p:spPr>
          <a:xfrm>
            <a:off x="5176876" y="3250692"/>
            <a:ext cx="640080" cy="640080"/>
          </a:xfrm>
          <a:prstGeom prst="rect">
            <a:avLst/>
          </a:prstGeom>
          <a:noFill/>
          <a:ln/>
        </p:spPr>
        <p:txBody>
          <a:bodyPr wrap="square" lIns="0" tIns="0" rIns="0" bIns="0" rtlCol="0" anchor="ctr">
            <a:normAutofit/>
          </a:bodyPr>
          <a:lstStyle/>
          <a:p>
            <a:pPr rtl="1" algn="ctr" indent="0" marL="0">
              <a:buNone/>
            </a:pPr>
            <a:r>
              <a:rPr lang="ar-SA" altLang="en-US" sz="2400" dirty="0">
                <a:solidFill>
                  <a:srgbClr val="131B34"/>
                </a:solidFill>
                <a:latin typeface="Cairo" pitchFamily="34" charset="0"/>
                <a:ea typeface="Cairo" pitchFamily="34" charset="-122"/>
                <a:cs typeface="Cairo" pitchFamily="34" charset="-120"/>
              </a:rPr>
              <a:t>🎨</a:t>
            </a:r>
            <a:endParaRPr lang="ar-SA" sz="2400" dirty="0"/>
          </a:p>
        </p:txBody>
      </p:sp>
      <p:sp>
        <p:nvSpPr>
          <p:cNvPr id="38" name="Text 36"/>
          <p:cNvSpPr/>
          <p:nvPr/>
        </p:nvSpPr>
        <p:spPr>
          <a:xfrm>
            <a:off x="3653714" y="3182112"/>
            <a:ext cx="1413434" cy="292608"/>
          </a:xfrm>
          <a:prstGeom prst="rect">
            <a:avLst/>
          </a:prstGeom>
          <a:noFill/>
          <a:ln/>
        </p:spPr>
        <p:txBody>
          <a:bodyPr wrap="square" lIns="0" tIns="0" rIns="0" bIns="0" rtlCol="0" anchor="ctr">
            <a:normAutofit/>
          </a:bodyPr>
          <a:lstStyle/>
          <a:p>
            <a:pPr rtl="1" algn="r" indent="0" marL="0">
              <a:buNone/>
            </a:pPr>
            <a:r>
              <a:rPr lang="ar-SA" altLang="en-US" sz="1400" b="1" dirty="0">
                <a:solidFill>
                  <a:srgbClr val="B08A2E"/>
                </a:solidFill>
                <a:latin typeface="Cairo" pitchFamily="34" charset="0"/>
                <a:ea typeface="Cairo" pitchFamily="34" charset="-122"/>
                <a:cs typeface="Cairo" pitchFamily="34" charset="-120"/>
              </a:rPr>
              <a:t>المحور ٦</a:t>
            </a:r>
            <a:endParaRPr lang="ar-SA" sz="1400" dirty="0"/>
          </a:p>
        </p:txBody>
      </p:sp>
      <p:sp>
        <p:nvSpPr>
          <p:cNvPr id="39" name="Text 37"/>
          <p:cNvSpPr/>
          <p:nvPr/>
        </p:nvSpPr>
        <p:spPr>
          <a:xfrm>
            <a:off x="3653714" y="3456432"/>
            <a:ext cx="1413434" cy="521208"/>
          </a:xfrm>
          <a:prstGeom prst="rect">
            <a:avLst/>
          </a:prstGeom>
          <a:noFill/>
          <a:ln/>
        </p:spPr>
        <p:txBody>
          <a:bodyPr wrap="square" lIns="0" tIns="0" rIns="0" bIns="0" rtlCol="0" anchor="ctr">
            <a:normAutofit/>
          </a:bodyPr>
          <a:lstStyle/>
          <a:p>
            <a:pPr rtl="1" algn="r" indent="0" marL="0">
              <a:buNone/>
            </a:pPr>
            <a:r>
              <a:rPr lang="ar-SA" altLang="en-US" sz="1800" dirty="0">
                <a:solidFill>
                  <a:srgbClr val="101B45"/>
                </a:solidFill>
                <a:latin typeface="Cairo Black" pitchFamily="34" charset="0"/>
                <a:ea typeface="Cairo Black" pitchFamily="34" charset="-122"/>
                <a:cs typeface="Cairo Black" pitchFamily="34" charset="-120"/>
              </a:rPr>
              <a:t>المقاومة وقانون أوم</a:t>
            </a:r>
            <a:endParaRPr lang="ar-SA" sz="1800" dirty="0"/>
          </a:p>
        </p:txBody>
      </p:sp>
      <p:sp>
        <p:nvSpPr>
          <p:cNvPr id="40" name="Shape 38"/>
          <p:cNvSpPr/>
          <p:nvPr/>
        </p:nvSpPr>
        <p:spPr>
          <a:xfrm>
            <a:off x="822960" y="3090672"/>
            <a:ext cx="2464994" cy="960120"/>
          </a:xfrm>
          <a:prstGeom prst="roundRect">
            <a:avLst>
              <a:gd name="adj" fmla="val 17143"/>
            </a:avLst>
          </a:prstGeom>
          <a:solidFill>
            <a:srgbClr val="FFFFFF"/>
          </a:solidFill>
          <a:ln w="12700">
            <a:solidFill>
              <a:srgbClr val="E4DCC8"/>
            </a:solidFill>
            <a:prstDash val="solid"/>
          </a:ln>
        </p:spPr>
      </p:sp>
      <p:sp>
        <p:nvSpPr>
          <p:cNvPr id="41" name="Shape 39"/>
          <p:cNvSpPr/>
          <p:nvPr/>
        </p:nvSpPr>
        <p:spPr>
          <a:xfrm>
            <a:off x="2483282" y="3250692"/>
            <a:ext cx="640080" cy="640080"/>
          </a:xfrm>
          <a:prstGeom prst="roundRect">
            <a:avLst>
              <a:gd name="adj" fmla="val 22857"/>
            </a:avLst>
          </a:prstGeom>
          <a:solidFill>
            <a:srgbClr val="101B45"/>
          </a:solidFill>
          <a:ln/>
        </p:spPr>
      </p:sp>
      <p:sp>
        <p:nvSpPr>
          <p:cNvPr id="42" name="Text 40"/>
          <p:cNvSpPr/>
          <p:nvPr/>
        </p:nvSpPr>
        <p:spPr>
          <a:xfrm>
            <a:off x="2483282" y="3250692"/>
            <a:ext cx="640080" cy="640080"/>
          </a:xfrm>
          <a:prstGeom prst="rect">
            <a:avLst/>
          </a:prstGeom>
          <a:noFill/>
          <a:ln/>
        </p:spPr>
        <p:txBody>
          <a:bodyPr wrap="square" lIns="0" tIns="0" rIns="0" bIns="0" rtlCol="0" anchor="ctr">
            <a:normAutofit/>
          </a:bodyPr>
          <a:lstStyle/>
          <a:p>
            <a:pPr rtl="1" algn="ctr" indent="0" marL="0">
              <a:buNone/>
            </a:pPr>
            <a:r>
              <a:rPr lang="ar-SA" altLang="en-US" sz="2400" dirty="0">
                <a:solidFill>
                  <a:srgbClr val="131B34"/>
                </a:solidFill>
                <a:latin typeface="Cairo" pitchFamily="34" charset="0"/>
                <a:ea typeface="Cairo" pitchFamily="34" charset="-122"/>
                <a:cs typeface="Cairo" pitchFamily="34" charset="-120"/>
              </a:rPr>
              <a:t>💡</a:t>
            </a:r>
            <a:endParaRPr lang="ar-SA" sz="2400" dirty="0"/>
          </a:p>
        </p:txBody>
      </p:sp>
      <p:sp>
        <p:nvSpPr>
          <p:cNvPr id="43" name="Text 41"/>
          <p:cNvSpPr/>
          <p:nvPr/>
        </p:nvSpPr>
        <p:spPr>
          <a:xfrm>
            <a:off x="960120" y="3182112"/>
            <a:ext cx="1413434" cy="292608"/>
          </a:xfrm>
          <a:prstGeom prst="rect">
            <a:avLst/>
          </a:prstGeom>
          <a:noFill/>
          <a:ln/>
        </p:spPr>
        <p:txBody>
          <a:bodyPr wrap="square" lIns="0" tIns="0" rIns="0" bIns="0" rtlCol="0" anchor="ctr">
            <a:normAutofit/>
          </a:bodyPr>
          <a:lstStyle/>
          <a:p>
            <a:pPr rtl="1" algn="r" indent="0" marL="0">
              <a:buNone/>
            </a:pPr>
            <a:r>
              <a:rPr lang="ar-SA" altLang="en-US" sz="1400" b="1" dirty="0">
                <a:solidFill>
                  <a:srgbClr val="B08A2E"/>
                </a:solidFill>
                <a:latin typeface="Cairo" pitchFamily="34" charset="0"/>
                <a:ea typeface="Cairo" pitchFamily="34" charset="-122"/>
                <a:cs typeface="Cairo" pitchFamily="34" charset="-120"/>
              </a:rPr>
              <a:t>المحور ٧</a:t>
            </a:r>
            <a:endParaRPr lang="ar-SA" sz="1400" dirty="0"/>
          </a:p>
        </p:txBody>
      </p:sp>
      <p:sp>
        <p:nvSpPr>
          <p:cNvPr id="44" name="Text 42"/>
          <p:cNvSpPr/>
          <p:nvPr/>
        </p:nvSpPr>
        <p:spPr>
          <a:xfrm>
            <a:off x="960120" y="3456432"/>
            <a:ext cx="1413434" cy="521208"/>
          </a:xfrm>
          <a:prstGeom prst="rect">
            <a:avLst/>
          </a:prstGeom>
          <a:noFill/>
          <a:ln/>
        </p:spPr>
        <p:txBody>
          <a:bodyPr wrap="square" lIns="0" tIns="0" rIns="0" bIns="0" rtlCol="0" anchor="ctr">
            <a:normAutofit/>
          </a:bodyPr>
          <a:lstStyle/>
          <a:p>
            <a:pPr rtl="1" algn="r" indent="0" marL="0">
              <a:buNone/>
            </a:pPr>
            <a:r>
              <a:rPr lang="ar-SA" altLang="en-US" sz="1800" dirty="0">
                <a:solidFill>
                  <a:srgbClr val="101B45"/>
                </a:solidFill>
                <a:latin typeface="Cairo Black" pitchFamily="34" charset="0"/>
                <a:ea typeface="Cairo Black" pitchFamily="34" charset="-122"/>
                <a:cs typeface="Cairo Black" pitchFamily="34" charset="-120"/>
              </a:rPr>
              <a:t>أول برنامج: الوميض</a:t>
            </a:r>
            <a:endParaRPr lang="ar-SA" sz="1800" dirty="0"/>
          </a:p>
        </p:txBody>
      </p:sp>
      <p:sp>
        <p:nvSpPr>
          <p:cNvPr id="45" name="Shape 43"/>
          <p:cNvSpPr/>
          <p:nvPr/>
        </p:nvSpPr>
        <p:spPr>
          <a:xfrm>
            <a:off x="8903741" y="4215384"/>
            <a:ext cx="2464994" cy="960120"/>
          </a:xfrm>
          <a:prstGeom prst="roundRect">
            <a:avLst>
              <a:gd name="adj" fmla="val 17143"/>
            </a:avLst>
          </a:prstGeom>
          <a:solidFill>
            <a:srgbClr val="FFFFFF"/>
          </a:solidFill>
          <a:ln w="12700">
            <a:solidFill>
              <a:srgbClr val="E4DCC8"/>
            </a:solidFill>
            <a:prstDash val="solid"/>
          </a:ln>
        </p:spPr>
      </p:sp>
      <p:sp>
        <p:nvSpPr>
          <p:cNvPr id="46" name="Shape 44"/>
          <p:cNvSpPr/>
          <p:nvPr/>
        </p:nvSpPr>
        <p:spPr>
          <a:xfrm>
            <a:off x="10564063" y="4375404"/>
            <a:ext cx="640080" cy="640080"/>
          </a:xfrm>
          <a:prstGeom prst="roundRect">
            <a:avLst>
              <a:gd name="adj" fmla="val 22857"/>
            </a:avLst>
          </a:prstGeom>
          <a:solidFill>
            <a:srgbClr val="101B45"/>
          </a:solidFill>
          <a:ln/>
        </p:spPr>
      </p:sp>
      <p:sp>
        <p:nvSpPr>
          <p:cNvPr id="47" name="Text 45"/>
          <p:cNvSpPr/>
          <p:nvPr/>
        </p:nvSpPr>
        <p:spPr>
          <a:xfrm>
            <a:off x="10564063" y="4375404"/>
            <a:ext cx="640080" cy="640080"/>
          </a:xfrm>
          <a:prstGeom prst="rect">
            <a:avLst/>
          </a:prstGeom>
          <a:noFill/>
          <a:ln/>
        </p:spPr>
        <p:txBody>
          <a:bodyPr wrap="square" lIns="0" tIns="0" rIns="0" bIns="0" rtlCol="0" anchor="ctr">
            <a:normAutofit/>
          </a:bodyPr>
          <a:lstStyle/>
          <a:p>
            <a:pPr rtl="1" algn="ctr" indent="0" marL="0">
              <a:buNone/>
            </a:pPr>
            <a:r>
              <a:rPr lang="ar-SA" altLang="en-US" sz="2400" dirty="0">
                <a:solidFill>
                  <a:srgbClr val="131B34"/>
                </a:solidFill>
                <a:latin typeface="Cairo" pitchFamily="34" charset="0"/>
                <a:ea typeface="Cairo" pitchFamily="34" charset="-122"/>
                <a:cs typeface="Cairo" pitchFamily="34" charset="-120"/>
              </a:rPr>
              <a:t>🚦</a:t>
            </a:r>
            <a:endParaRPr lang="ar-SA" sz="2400" dirty="0"/>
          </a:p>
        </p:txBody>
      </p:sp>
      <p:sp>
        <p:nvSpPr>
          <p:cNvPr id="48" name="Text 46"/>
          <p:cNvSpPr/>
          <p:nvPr/>
        </p:nvSpPr>
        <p:spPr>
          <a:xfrm>
            <a:off x="9040901" y="4306824"/>
            <a:ext cx="1413434" cy="292608"/>
          </a:xfrm>
          <a:prstGeom prst="rect">
            <a:avLst/>
          </a:prstGeom>
          <a:noFill/>
          <a:ln/>
        </p:spPr>
        <p:txBody>
          <a:bodyPr wrap="square" lIns="0" tIns="0" rIns="0" bIns="0" rtlCol="0" anchor="ctr">
            <a:normAutofit/>
          </a:bodyPr>
          <a:lstStyle/>
          <a:p>
            <a:pPr rtl="1" algn="r" indent="0" marL="0">
              <a:buNone/>
            </a:pPr>
            <a:r>
              <a:rPr lang="ar-SA" altLang="en-US" sz="1400" b="1" dirty="0">
                <a:solidFill>
                  <a:srgbClr val="B08A2E"/>
                </a:solidFill>
                <a:latin typeface="Cairo" pitchFamily="34" charset="0"/>
                <a:ea typeface="Cairo" pitchFamily="34" charset="-122"/>
                <a:cs typeface="Cairo" pitchFamily="34" charset="-120"/>
              </a:rPr>
              <a:t>المحور ٨</a:t>
            </a:r>
            <a:endParaRPr lang="ar-SA" sz="1400" dirty="0"/>
          </a:p>
        </p:txBody>
      </p:sp>
      <p:sp>
        <p:nvSpPr>
          <p:cNvPr id="49" name="Text 47"/>
          <p:cNvSpPr/>
          <p:nvPr/>
        </p:nvSpPr>
        <p:spPr>
          <a:xfrm>
            <a:off x="9040901" y="4581144"/>
            <a:ext cx="1413434" cy="521208"/>
          </a:xfrm>
          <a:prstGeom prst="rect">
            <a:avLst/>
          </a:prstGeom>
          <a:noFill/>
          <a:ln/>
        </p:spPr>
        <p:txBody>
          <a:bodyPr wrap="square" lIns="0" tIns="0" rIns="0" bIns="0" rtlCol="0" anchor="ctr">
            <a:normAutofit/>
          </a:bodyPr>
          <a:lstStyle/>
          <a:p>
            <a:pPr rtl="1" algn="r" indent="0" marL="0">
              <a:buNone/>
            </a:pPr>
            <a:r>
              <a:rPr lang="ar-SA" altLang="en-US" sz="1800" dirty="0">
                <a:solidFill>
                  <a:srgbClr val="101B45"/>
                </a:solidFill>
                <a:latin typeface="Cairo Black" pitchFamily="34" charset="0"/>
                <a:ea typeface="Cairo Black" pitchFamily="34" charset="-122"/>
                <a:cs typeface="Cairo Black" pitchFamily="34" charset="-120"/>
              </a:rPr>
              <a:t>إشارة المرور والمتغيرات</a:t>
            </a:r>
            <a:endParaRPr lang="ar-SA" sz="1800" dirty="0"/>
          </a:p>
        </p:txBody>
      </p:sp>
      <p:sp>
        <p:nvSpPr>
          <p:cNvPr id="50" name="Shape 48"/>
          <p:cNvSpPr/>
          <p:nvPr/>
        </p:nvSpPr>
        <p:spPr>
          <a:xfrm>
            <a:off x="6210148" y="4215384"/>
            <a:ext cx="2464994" cy="960120"/>
          </a:xfrm>
          <a:prstGeom prst="roundRect">
            <a:avLst>
              <a:gd name="adj" fmla="val 17143"/>
            </a:avLst>
          </a:prstGeom>
          <a:solidFill>
            <a:srgbClr val="FFFFFF"/>
          </a:solidFill>
          <a:ln w="12700">
            <a:solidFill>
              <a:srgbClr val="E4DCC8"/>
            </a:solidFill>
            <a:prstDash val="solid"/>
          </a:ln>
        </p:spPr>
      </p:sp>
      <p:sp>
        <p:nvSpPr>
          <p:cNvPr id="51" name="Shape 49"/>
          <p:cNvSpPr/>
          <p:nvPr/>
        </p:nvSpPr>
        <p:spPr>
          <a:xfrm>
            <a:off x="7870469" y="4375404"/>
            <a:ext cx="640080" cy="640080"/>
          </a:xfrm>
          <a:prstGeom prst="roundRect">
            <a:avLst>
              <a:gd name="adj" fmla="val 22857"/>
            </a:avLst>
          </a:prstGeom>
          <a:solidFill>
            <a:srgbClr val="101B45"/>
          </a:solidFill>
          <a:ln/>
        </p:spPr>
      </p:sp>
      <p:sp>
        <p:nvSpPr>
          <p:cNvPr id="52" name="Text 50"/>
          <p:cNvSpPr/>
          <p:nvPr/>
        </p:nvSpPr>
        <p:spPr>
          <a:xfrm>
            <a:off x="7870469" y="4375404"/>
            <a:ext cx="640080" cy="640080"/>
          </a:xfrm>
          <a:prstGeom prst="rect">
            <a:avLst/>
          </a:prstGeom>
          <a:noFill/>
          <a:ln/>
        </p:spPr>
        <p:txBody>
          <a:bodyPr wrap="square" lIns="0" tIns="0" rIns="0" bIns="0" rtlCol="0" anchor="ctr">
            <a:normAutofit/>
          </a:bodyPr>
          <a:lstStyle/>
          <a:p>
            <a:pPr rtl="1" algn="ctr" indent="0" marL="0">
              <a:buNone/>
            </a:pPr>
            <a:r>
              <a:rPr lang="ar-SA" altLang="en-US" sz="2400" dirty="0">
                <a:solidFill>
                  <a:srgbClr val="131B34"/>
                </a:solidFill>
                <a:latin typeface="Cairo" pitchFamily="34" charset="0"/>
                <a:ea typeface="Cairo" pitchFamily="34" charset="-122"/>
                <a:cs typeface="Cairo" pitchFamily="34" charset="-120"/>
              </a:rPr>
              <a:t>🌈</a:t>
            </a:r>
            <a:endParaRPr lang="ar-SA" sz="2400" dirty="0"/>
          </a:p>
        </p:txBody>
      </p:sp>
      <p:sp>
        <p:nvSpPr>
          <p:cNvPr id="53" name="Text 51"/>
          <p:cNvSpPr/>
          <p:nvPr/>
        </p:nvSpPr>
        <p:spPr>
          <a:xfrm>
            <a:off x="6347308" y="4306824"/>
            <a:ext cx="1413434" cy="292608"/>
          </a:xfrm>
          <a:prstGeom prst="rect">
            <a:avLst/>
          </a:prstGeom>
          <a:noFill/>
          <a:ln/>
        </p:spPr>
        <p:txBody>
          <a:bodyPr wrap="square" lIns="0" tIns="0" rIns="0" bIns="0" rtlCol="0" anchor="ctr">
            <a:normAutofit/>
          </a:bodyPr>
          <a:lstStyle/>
          <a:p>
            <a:pPr rtl="1" algn="r" indent="0" marL="0">
              <a:buNone/>
            </a:pPr>
            <a:r>
              <a:rPr lang="ar-SA" altLang="en-US" sz="1400" b="1" dirty="0">
                <a:solidFill>
                  <a:srgbClr val="B08A2E"/>
                </a:solidFill>
                <a:latin typeface="Cairo" pitchFamily="34" charset="0"/>
                <a:ea typeface="Cairo" pitchFamily="34" charset="-122"/>
                <a:cs typeface="Cairo" pitchFamily="34" charset="-120"/>
              </a:rPr>
              <a:t>المحور ٩</a:t>
            </a:r>
            <a:endParaRPr lang="ar-SA" sz="1400" dirty="0"/>
          </a:p>
        </p:txBody>
      </p:sp>
      <p:sp>
        <p:nvSpPr>
          <p:cNvPr id="54" name="Text 52"/>
          <p:cNvSpPr/>
          <p:nvPr/>
        </p:nvSpPr>
        <p:spPr>
          <a:xfrm>
            <a:off x="6347308" y="4581144"/>
            <a:ext cx="1413434" cy="521208"/>
          </a:xfrm>
          <a:prstGeom prst="rect">
            <a:avLst/>
          </a:prstGeom>
          <a:noFill/>
          <a:ln/>
        </p:spPr>
        <p:txBody>
          <a:bodyPr wrap="square" lIns="0" tIns="0" rIns="0" bIns="0" rtlCol="0" anchor="ctr">
            <a:normAutofit/>
          </a:bodyPr>
          <a:lstStyle/>
          <a:p>
            <a:pPr rtl="1" algn="r" indent="0" marL="0">
              <a:buNone/>
            </a:pPr>
            <a:r>
              <a:rPr lang="ar-SA" altLang="en-US" sz="1800" dirty="0">
                <a:solidFill>
                  <a:srgbClr val="101B45"/>
                </a:solidFill>
                <a:latin typeface="Cairo Black" pitchFamily="34" charset="0"/>
                <a:ea typeface="Cairo Black" pitchFamily="34" charset="-122"/>
                <a:cs typeface="Cairo Black" pitchFamily="34" charset="-120"/>
              </a:rPr>
              <a:t>PWM والألوان</a:t>
            </a:r>
            <a:endParaRPr lang="ar-SA" sz="1800" dirty="0"/>
          </a:p>
        </p:txBody>
      </p:sp>
      <p:sp>
        <p:nvSpPr>
          <p:cNvPr id="55" name="Shape 53"/>
          <p:cNvSpPr/>
          <p:nvPr/>
        </p:nvSpPr>
        <p:spPr>
          <a:xfrm>
            <a:off x="3516554" y="4215384"/>
            <a:ext cx="2464994" cy="960120"/>
          </a:xfrm>
          <a:prstGeom prst="roundRect">
            <a:avLst>
              <a:gd name="adj" fmla="val 17143"/>
            </a:avLst>
          </a:prstGeom>
          <a:solidFill>
            <a:srgbClr val="FFFFFF"/>
          </a:solidFill>
          <a:ln w="12700">
            <a:solidFill>
              <a:srgbClr val="E4DCC8"/>
            </a:solidFill>
            <a:prstDash val="solid"/>
          </a:ln>
        </p:spPr>
      </p:sp>
      <p:sp>
        <p:nvSpPr>
          <p:cNvPr id="56" name="Shape 54"/>
          <p:cNvSpPr/>
          <p:nvPr/>
        </p:nvSpPr>
        <p:spPr>
          <a:xfrm>
            <a:off x="5176876" y="4375404"/>
            <a:ext cx="640080" cy="640080"/>
          </a:xfrm>
          <a:prstGeom prst="roundRect">
            <a:avLst>
              <a:gd name="adj" fmla="val 22857"/>
            </a:avLst>
          </a:prstGeom>
          <a:solidFill>
            <a:srgbClr val="101B45"/>
          </a:solidFill>
          <a:ln/>
        </p:spPr>
      </p:sp>
      <p:sp>
        <p:nvSpPr>
          <p:cNvPr id="57" name="Text 55"/>
          <p:cNvSpPr/>
          <p:nvPr/>
        </p:nvSpPr>
        <p:spPr>
          <a:xfrm>
            <a:off x="5176876" y="4375404"/>
            <a:ext cx="640080" cy="640080"/>
          </a:xfrm>
          <a:prstGeom prst="rect">
            <a:avLst/>
          </a:prstGeom>
          <a:noFill/>
          <a:ln/>
        </p:spPr>
        <p:txBody>
          <a:bodyPr wrap="square" lIns="0" tIns="0" rIns="0" bIns="0" rtlCol="0" anchor="ctr">
            <a:normAutofit/>
          </a:bodyPr>
          <a:lstStyle/>
          <a:p>
            <a:pPr rtl="1" algn="ctr" indent="0" marL="0">
              <a:buNone/>
            </a:pPr>
            <a:r>
              <a:rPr lang="ar-SA" altLang="en-US" sz="2400" dirty="0">
                <a:solidFill>
                  <a:srgbClr val="131B34"/>
                </a:solidFill>
                <a:latin typeface="Cairo" pitchFamily="34" charset="0"/>
                <a:ea typeface="Cairo" pitchFamily="34" charset="-122"/>
                <a:cs typeface="Cairo" pitchFamily="34" charset="-120"/>
              </a:rPr>
              <a:t>🔘</a:t>
            </a:r>
            <a:endParaRPr lang="ar-SA" sz="2400" dirty="0"/>
          </a:p>
        </p:txBody>
      </p:sp>
      <p:sp>
        <p:nvSpPr>
          <p:cNvPr id="58" name="Text 56"/>
          <p:cNvSpPr/>
          <p:nvPr/>
        </p:nvSpPr>
        <p:spPr>
          <a:xfrm>
            <a:off x="3653714" y="4306824"/>
            <a:ext cx="1413434" cy="292608"/>
          </a:xfrm>
          <a:prstGeom prst="rect">
            <a:avLst/>
          </a:prstGeom>
          <a:noFill/>
          <a:ln/>
        </p:spPr>
        <p:txBody>
          <a:bodyPr wrap="square" lIns="0" tIns="0" rIns="0" bIns="0" rtlCol="0" anchor="ctr">
            <a:normAutofit/>
          </a:bodyPr>
          <a:lstStyle/>
          <a:p>
            <a:pPr rtl="1" algn="r" indent="0" marL="0">
              <a:buNone/>
            </a:pPr>
            <a:r>
              <a:rPr lang="ar-SA" altLang="en-US" sz="1400" b="1" dirty="0">
                <a:solidFill>
                  <a:srgbClr val="B08A2E"/>
                </a:solidFill>
                <a:latin typeface="Cairo" pitchFamily="34" charset="0"/>
                <a:ea typeface="Cairo" pitchFamily="34" charset="-122"/>
                <a:cs typeface="Cairo" pitchFamily="34" charset="-120"/>
              </a:rPr>
              <a:t>المحور ١٠</a:t>
            </a:r>
            <a:endParaRPr lang="ar-SA" sz="1400" dirty="0"/>
          </a:p>
        </p:txBody>
      </p:sp>
      <p:sp>
        <p:nvSpPr>
          <p:cNvPr id="59" name="Text 57"/>
          <p:cNvSpPr/>
          <p:nvPr/>
        </p:nvSpPr>
        <p:spPr>
          <a:xfrm>
            <a:off x="3653714" y="4581144"/>
            <a:ext cx="1413434" cy="521208"/>
          </a:xfrm>
          <a:prstGeom prst="rect">
            <a:avLst/>
          </a:prstGeom>
          <a:noFill/>
          <a:ln/>
        </p:spPr>
        <p:txBody>
          <a:bodyPr wrap="square" lIns="0" tIns="0" rIns="0" bIns="0" rtlCol="0" anchor="ctr">
            <a:normAutofit/>
          </a:bodyPr>
          <a:lstStyle/>
          <a:p>
            <a:pPr rtl="1" algn="r" indent="0" marL="0">
              <a:buNone/>
            </a:pPr>
            <a:r>
              <a:rPr lang="ar-SA" altLang="en-US" sz="1800" dirty="0">
                <a:solidFill>
                  <a:srgbClr val="101B45"/>
                </a:solidFill>
                <a:latin typeface="Cairo Black" pitchFamily="34" charset="0"/>
                <a:ea typeface="Cairo Black" pitchFamily="34" charset="-122"/>
                <a:cs typeface="Cairo Black" pitchFamily="34" charset="-120"/>
              </a:rPr>
              <a:t>الأزرار والمدخلات</a:t>
            </a:r>
            <a:endParaRPr lang="ar-SA" sz="1800" dirty="0"/>
          </a:p>
        </p:txBody>
      </p:sp>
      <p:sp>
        <p:nvSpPr>
          <p:cNvPr id="60" name="Shape 58"/>
          <p:cNvSpPr/>
          <p:nvPr/>
        </p:nvSpPr>
        <p:spPr>
          <a:xfrm>
            <a:off x="822960" y="4215384"/>
            <a:ext cx="2464994" cy="960120"/>
          </a:xfrm>
          <a:prstGeom prst="roundRect">
            <a:avLst>
              <a:gd name="adj" fmla="val 17143"/>
            </a:avLst>
          </a:prstGeom>
          <a:solidFill>
            <a:srgbClr val="FFFFFF"/>
          </a:solidFill>
          <a:ln w="12700">
            <a:solidFill>
              <a:srgbClr val="E4DCC8"/>
            </a:solidFill>
            <a:prstDash val="solid"/>
          </a:ln>
        </p:spPr>
      </p:sp>
      <p:sp>
        <p:nvSpPr>
          <p:cNvPr id="61" name="Shape 59"/>
          <p:cNvSpPr/>
          <p:nvPr/>
        </p:nvSpPr>
        <p:spPr>
          <a:xfrm>
            <a:off x="2483282" y="4375404"/>
            <a:ext cx="640080" cy="640080"/>
          </a:xfrm>
          <a:prstGeom prst="roundRect">
            <a:avLst>
              <a:gd name="adj" fmla="val 22857"/>
            </a:avLst>
          </a:prstGeom>
          <a:solidFill>
            <a:srgbClr val="101B45"/>
          </a:solidFill>
          <a:ln/>
        </p:spPr>
      </p:sp>
      <p:sp>
        <p:nvSpPr>
          <p:cNvPr id="62" name="Text 60"/>
          <p:cNvSpPr/>
          <p:nvPr/>
        </p:nvSpPr>
        <p:spPr>
          <a:xfrm>
            <a:off x="2483282" y="4375404"/>
            <a:ext cx="640080" cy="640080"/>
          </a:xfrm>
          <a:prstGeom prst="rect">
            <a:avLst/>
          </a:prstGeom>
          <a:noFill/>
          <a:ln/>
        </p:spPr>
        <p:txBody>
          <a:bodyPr wrap="square" lIns="0" tIns="0" rIns="0" bIns="0" rtlCol="0" anchor="ctr">
            <a:normAutofit/>
          </a:bodyPr>
          <a:lstStyle/>
          <a:p>
            <a:pPr rtl="1" algn="ctr" indent="0" marL="0">
              <a:buNone/>
            </a:pPr>
            <a:r>
              <a:rPr lang="ar-SA" altLang="en-US" sz="2400" dirty="0">
                <a:solidFill>
                  <a:srgbClr val="131B34"/>
                </a:solidFill>
                <a:latin typeface="Cairo" pitchFamily="34" charset="0"/>
                <a:ea typeface="Cairo" pitchFamily="34" charset="-122"/>
                <a:cs typeface="Cairo" pitchFamily="34" charset="-120"/>
              </a:rPr>
              <a:t>🎓</a:t>
            </a:r>
            <a:endParaRPr lang="ar-SA" sz="2400" dirty="0"/>
          </a:p>
        </p:txBody>
      </p:sp>
      <p:sp>
        <p:nvSpPr>
          <p:cNvPr id="63" name="Text 61"/>
          <p:cNvSpPr/>
          <p:nvPr/>
        </p:nvSpPr>
        <p:spPr>
          <a:xfrm>
            <a:off x="960120" y="4306824"/>
            <a:ext cx="1413434" cy="292608"/>
          </a:xfrm>
          <a:prstGeom prst="rect">
            <a:avLst/>
          </a:prstGeom>
          <a:noFill/>
          <a:ln/>
        </p:spPr>
        <p:txBody>
          <a:bodyPr wrap="square" lIns="0" tIns="0" rIns="0" bIns="0" rtlCol="0" anchor="ctr">
            <a:normAutofit/>
          </a:bodyPr>
          <a:lstStyle/>
          <a:p>
            <a:pPr rtl="1" algn="r" indent="0" marL="0">
              <a:buNone/>
            </a:pPr>
            <a:r>
              <a:rPr lang="ar-SA" altLang="en-US" sz="1400" b="1" dirty="0">
                <a:solidFill>
                  <a:srgbClr val="B08A2E"/>
                </a:solidFill>
                <a:latin typeface="Cairo" pitchFamily="34" charset="0"/>
                <a:ea typeface="Cairo" pitchFamily="34" charset="-122"/>
                <a:cs typeface="Cairo" pitchFamily="34" charset="-120"/>
              </a:rPr>
              <a:t>المحور ١١</a:t>
            </a:r>
            <a:endParaRPr lang="ar-SA" sz="1400" dirty="0"/>
          </a:p>
        </p:txBody>
      </p:sp>
      <p:sp>
        <p:nvSpPr>
          <p:cNvPr id="64" name="Text 62"/>
          <p:cNvSpPr/>
          <p:nvPr/>
        </p:nvSpPr>
        <p:spPr>
          <a:xfrm>
            <a:off x="960120" y="4581144"/>
            <a:ext cx="1413434" cy="521208"/>
          </a:xfrm>
          <a:prstGeom prst="rect">
            <a:avLst/>
          </a:prstGeom>
          <a:noFill/>
          <a:ln/>
        </p:spPr>
        <p:txBody>
          <a:bodyPr wrap="square" lIns="0" tIns="0" rIns="0" bIns="0" rtlCol="0" anchor="ctr">
            <a:normAutofit/>
          </a:bodyPr>
          <a:lstStyle/>
          <a:p>
            <a:pPr rtl="1" algn="r" indent="0" marL="0">
              <a:buNone/>
            </a:pPr>
            <a:r>
              <a:rPr lang="ar-SA" altLang="en-US" sz="1800" dirty="0">
                <a:solidFill>
                  <a:srgbClr val="101B45"/>
                </a:solidFill>
                <a:latin typeface="Cairo Black" pitchFamily="34" charset="0"/>
                <a:ea typeface="Cairo Black" pitchFamily="34" charset="-122"/>
                <a:cs typeface="Cairo Black" pitchFamily="34" charset="-120"/>
              </a:rPr>
              <a:t>مشروع التخرج</a:t>
            </a:r>
            <a:endParaRPr lang="ar-SA" sz="1800" dirty="0"/>
          </a:p>
        </p:txBody>
      </p:sp>
      <p:sp>
        <p:nvSpPr>
          <p:cNvPr id="65" name="Text 6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الأردوينو للمعلمين</a:t>
            </a:r>
            <a:endParaRPr lang="ar-SA" sz="1200" dirty="0"/>
          </a:p>
        </p:txBody>
      </p:sp>
      <p:sp>
        <p:nvSpPr>
          <p:cNvPr id="66" name="Text 6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الافتتاح  ·  ٨</a:t>
            </a:r>
            <a:endParaRPr lang="ar-SA"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81567" y="457200"/>
            <a:ext cx="2487168" cy="457200"/>
          </a:xfrm>
          <a:prstGeom prst="roundRect">
            <a:avLst>
              <a:gd name="adj" fmla="val 50000"/>
            </a:avLst>
          </a:prstGeom>
          <a:solidFill>
            <a:srgbClr val="F6EBCF"/>
          </a:solidFill>
          <a:ln/>
        </p:spPr>
      </p:sp>
      <p:sp>
        <p:nvSpPr>
          <p:cNvPr id="3" name="Text 1"/>
          <p:cNvSpPr/>
          <p:nvPr/>
        </p:nvSpPr>
        <p:spPr>
          <a:xfrm>
            <a:off x="8881567" y="45720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نظام كل محور</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كل محور يسير بخمس خطوات</a:t>
            </a:r>
            <a:endParaRPr lang="ar-SA" sz="3800" dirty="0"/>
          </a:p>
        </p:txBody>
      </p:sp>
      <p:sp>
        <p:nvSpPr>
          <p:cNvPr id="5" name="anim-g1-52"/>
          <p:cNvSpPr/>
          <p:nvPr/>
        </p:nvSpPr>
        <p:spPr>
          <a:xfrm>
            <a:off x="822960" y="1920240"/>
            <a:ext cx="10545775" cy="735178"/>
          </a:xfrm>
          <a:prstGeom prst="roundRect">
            <a:avLst>
              <a:gd name="adj" fmla="val 19900"/>
            </a:avLst>
          </a:prstGeom>
          <a:solidFill>
            <a:srgbClr val="FFFFFF"/>
          </a:solidFill>
          <a:ln w="12700">
            <a:solidFill>
              <a:srgbClr val="E4DCC8"/>
            </a:solidFill>
            <a:prstDash val="solid"/>
          </a:ln>
        </p:spPr>
      </p:sp>
      <p:sp>
        <p:nvSpPr>
          <p:cNvPr id="6" name="anim-g1-53"/>
          <p:cNvSpPr/>
          <p:nvPr/>
        </p:nvSpPr>
        <p:spPr>
          <a:xfrm>
            <a:off x="10587838" y="2011680"/>
            <a:ext cx="552298" cy="552298"/>
          </a:xfrm>
          <a:prstGeom prst="ellipse">
            <a:avLst/>
          </a:prstGeom>
          <a:solidFill>
            <a:srgbClr val="D9AE4B"/>
          </a:solidFill>
          <a:ln/>
        </p:spPr>
      </p:sp>
      <p:sp>
        <p:nvSpPr>
          <p:cNvPr id="7" name="anim-g1-54"/>
          <p:cNvSpPr/>
          <p:nvPr/>
        </p:nvSpPr>
        <p:spPr>
          <a:xfrm>
            <a:off x="10587838" y="2011680"/>
            <a:ext cx="552298" cy="55229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١</a:t>
            </a:r>
            <a:endParaRPr lang="ar-SA" sz="2000" dirty="0"/>
          </a:p>
        </p:txBody>
      </p:sp>
      <p:sp>
        <p:nvSpPr>
          <p:cNvPr id="8" name="anim-g1-55"/>
          <p:cNvSpPr/>
          <p:nvPr/>
        </p:nvSpPr>
        <p:spPr>
          <a:xfrm>
            <a:off x="1097280" y="1920240"/>
            <a:ext cx="9261958" cy="735178"/>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 الأهداف</a:t>
            </a:r>
            <a:pPr algn="r" indent="0" marL="0">
              <a:buNone/>
            </a:pPr>
            <a:r>
              <a:rPr lang="ar-SA" altLang="en-US" sz="1800" b="1" dirty="0">
                <a:solidFill>
                  <a:srgbClr val="3B4460"/>
                </a:solidFill>
                <a:latin typeface="Cairo" pitchFamily="34" charset="0"/>
                <a:ea typeface="Cairo" pitchFamily="34" charset="-122"/>
                <a:cs typeface="Cairo" pitchFamily="34" charset="-120"/>
              </a:rPr>
              <a:t>   — ماذا ستستطيع أن تفعل بنهاية المحور</a:t>
            </a:r>
            <a:endParaRPr lang="ar-SA" sz="2200" dirty="0"/>
          </a:p>
        </p:txBody>
      </p:sp>
      <p:sp>
        <p:nvSpPr>
          <p:cNvPr id="9" name="anim-g2-56"/>
          <p:cNvSpPr/>
          <p:nvPr/>
        </p:nvSpPr>
        <p:spPr>
          <a:xfrm>
            <a:off x="822960" y="2765146"/>
            <a:ext cx="10545775" cy="735178"/>
          </a:xfrm>
          <a:prstGeom prst="roundRect">
            <a:avLst>
              <a:gd name="adj" fmla="val 19900"/>
            </a:avLst>
          </a:prstGeom>
          <a:solidFill>
            <a:srgbClr val="FFFFFF"/>
          </a:solidFill>
          <a:ln w="12700">
            <a:solidFill>
              <a:srgbClr val="E4DCC8"/>
            </a:solidFill>
            <a:prstDash val="solid"/>
          </a:ln>
        </p:spPr>
      </p:sp>
      <p:sp>
        <p:nvSpPr>
          <p:cNvPr id="10" name="anim-g2-57"/>
          <p:cNvSpPr/>
          <p:nvPr/>
        </p:nvSpPr>
        <p:spPr>
          <a:xfrm>
            <a:off x="10587838" y="2856586"/>
            <a:ext cx="552298" cy="552298"/>
          </a:xfrm>
          <a:prstGeom prst="ellipse">
            <a:avLst/>
          </a:prstGeom>
          <a:solidFill>
            <a:srgbClr val="D9AE4B"/>
          </a:solidFill>
          <a:ln/>
        </p:spPr>
      </p:sp>
      <p:sp>
        <p:nvSpPr>
          <p:cNvPr id="11" name="anim-g2-58"/>
          <p:cNvSpPr/>
          <p:nvPr/>
        </p:nvSpPr>
        <p:spPr>
          <a:xfrm>
            <a:off x="10587838" y="2856586"/>
            <a:ext cx="552298" cy="55229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٢</a:t>
            </a:r>
            <a:endParaRPr lang="ar-SA" sz="2000" dirty="0"/>
          </a:p>
        </p:txBody>
      </p:sp>
      <p:sp>
        <p:nvSpPr>
          <p:cNvPr id="12" name="anim-g2-59"/>
          <p:cNvSpPr/>
          <p:nvPr/>
        </p:nvSpPr>
        <p:spPr>
          <a:xfrm>
            <a:off x="1097280" y="2765146"/>
            <a:ext cx="9261958" cy="735178"/>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 الفهم</a:t>
            </a:r>
            <a:pPr algn="r" indent="0" marL="0">
              <a:buNone/>
            </a:pPr>
            <a:r>
              <a:rPr lang="ar-SA" altLang="en-US" sz="1800" b="1" dirty="0">
                <a:solidFill>
                  <a:srgbClr val="3B4460"/>
                </a:solidFill>
                <a:latin typeface="Cairo" pitchFamily="34" charset="0"/>
                <a:ea typeface="Cairo" pitchFamily="34" charset="-122"/>
                <a:cs typeface="Cairo" pitchFamily="34" charset="-120"/>
              </a:rPr>
              <a:t>   — شرح بالصور والأمثلة والأدوات التفاعلية</a:t>
            </a:r>
            <a:endParaRPr lang="ar-SA" sz="2200" dirty="0"/>
          </a:p>
        </p:txBody>
      </p:sp>
      <p:sp>
        <p:nvSpPr>
          <p:cNvPr id="13" name="anim-g3-60"/>
          <p:cNvSpPr/>
          <p:nvPr/>
        </p:nvSpPr>
        <p:spPr>
          <a:xfrm>
            <a:off x="822960" y="3610051"/>
            <a:ext cx="10545775" cy="735178"/>
          </a:xfrm>
          <a:prstGeom prst="roundRect">
            <a:avLst>
              <a:gd name="adj" fmla="val 19900"/>
            </a:avLst>
          </a:prstGeom>
          <a:solidFill>
            <a:srgbClr val="FFFFFF"/>
          </a:solidFill>
          <a:ln w="12700">
            <a:solidFill>
              <a:srgbClr val="E4DCC8"/>
            </a:solidFill>
            <a:prstDash val="solid"/>
          </a:ln>
        </p:spPr>
      </p:sp>
      <p:sp>
        <p:nvSpPr>
          <p:cNvPr id="14" name="anim-g3-61"/>
          <p:cNvSpPr/>
          <p:nvPr/>
        </p:nvSpPr>
        <p:spPr>
          <a:xfrm>
            <a:off x="10587838" y="3701491"/>
            <a:ext cx="552298" cy="552298"/>
          </a:xfrm>
          <a:prstGeom prst="ellipse">
            <a:avLst/>
          </a:prstGeom>
          <a:solidFill>
            <a:srgbClr val="D9AE4B"/>
          </a:solidFill>
          <a:ln/>
        </p:spPr>
      </p:sp>
      <p:sp>
        <p:nvSpPr>
          <p:cNvPr id="15" name="anim-g3-62"/>
          <p:cNvSpPr/>
          <p:nvPr/>
        </p:nvSpPr>
        <p:spPr>
          <a:xfrm>
            <a:off x="10587838" y="3701491"/>
            <a:ext cx="552298" cy="55229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٣</a:t>
            </a:r>
            <a:endParaRPr lang="ar-SA" sz="2000" dirty="0"/>
          </a:p>
        </p:txBody>
      </p:sp>
      <p:sp>
        <p:nvSpPr>
          <p:cNvPr id="16" name="anim-g3-63"/>
          <p:cNvSpPr/>
          <p:nvPr/>
        </p:nvSpPr>
        <p:spPr>
          <a:xfrm>
            <a:off x="1097280" y="3610051"/>
            <a:ext cx="9261958" cy="735178"/>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 جرّب بنفسك</a:t>
            </a:r>
            <a:pPr algn="r" indent="0" marL="0">
              <a:buNone/>
            </a:pPr>
            <a:r>
              <a:rPr lang="ar-SA" altLang="en-US" sz="1800" b="1" dirty="0">
                <a:solidFill>
                  <a:srgbClr val="3B4460"/>
                </a:solidFill>
                <a:latin typeface="Cairo" pitchFamily="34" charset="0"/>
                <a:ea typeface="Cairo" pitchFamily="34" charset="-122"/>
                <a:cs typeface="Cairo" pitchFamily="34" charset="-120"/>
              </a:rPr>
              <a:t>   — تطبيق عملي على Tinkercad أو على اللوحة</a:t>
            </a:r>
            <a:endParaRPr lang="ar-SA" sz="2200" dirty="0"/>
          </a:p>
        </p:txBody>
      </p:sp>
      <p:sp>
        <p:nvSpPr>
          <p:cNvPr id="17" name="anim-g4-64"/>
          <p:cNvSpPr/>
          <p:nvPr/>
        </p:nvSpPr>
        <p:spPr>
          <a:xfrm>
            <a:off x="822960" y="4454957"/>
            <a:ext cx="10545775" cy="735178"/>
          </a:xfrm>
          <a:prstGeom prst="roundRect">
            <a:avLst>
              <a:gd name="adj" fmla="val 19900"/>
            </a:avLst>
          </a:prstGeom>
          <a:solidFill>
            <a:srgbClr val="FFFFFF"/>
          </a:solidFill>
          <a:ln w="12700">
            <a:solidFill>
              <a:srgbClr val="E4DCC8"/>
            </a:solidFill>
            <a:prstDash val="solid"/>
          </a:ln>
        </p:spPr>
      </p:sp>
      <p:sp>
        <p:nvSpPr>
          <p:cNvPr id="18" name="anim-g4-65"/>
          <p:cNvSpPr/>
          <p:nvPr/>
        </p:nvSpPr>
        <p:spPr>
          <a:xfrm>
            <a:off x="10587838" y="4546397"/>
            <a:ext cx="552298" cy="552298"/>
          </a:xfrm>
          <a:prstGeom prst="ellipse">
            <a:avLst/>
          </a:prstGeom>
          <a:solidFill>
            <a:srgbClr val="D9AE4B"/>
          </a:solidFill>
          <a:ln/>
        </p:spPr>
      </p:sp>
      <p:sp>
        <p:nvSpPr>
          <p:cNvPr id="19" name="anim-g4-66"/>
          <p:cNvSpPr/>
          <p:nvPr/>
        </p:nvSpPr>
        <p:spPr>
          <a:xfrm>
            <a:off x="10587838" y="4546397"/>
            <a:ext cx="552298" cy="55229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٤</a:t>
            </a:r>
            <a:endParaRPr lang="ar-SA" sz="2000" dirty="0"/>
          </a:p>
        </p:txBody>
      </p:sp>
      <p:sp>
        <p:nvSpPr>
          <p:cNvPr id="20" name="anim-g4-67"/>
          <p:cNvSpPr/>
          <p:nvPr/>
        </p:nvSpPr>
        <p:spPr>
          <a:xfrm>
            <a:off x="1097280" y="4454957"/>
            <a:ext cx="9261958" cy="735178"/>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 اختبر نفسك</a:t>
            </a:r>
            <a:pPr algn="r" indent="0" marL="0">
              <a:buNone/>
            </a:pPr>
            <a:r>
              <a:rPr lang="ar-SA" altLang="en-US" sz="1800" b="1" dirty="0">
                <a:solidFill>
                  <a:srgbClr val="3B4460"/>
                </a:solidFill>
                <a:latin typeface="Cairo" pitchFamily="34" charset="0"/>
                <a:ea typeface="Cairo" pitchFamily="34" charset="-122"/>
                <a:cs typeface="Cairo" pitchFamily="34" charset="-120"/>
              </a:rPr>
              <a:t>   — أسئلة قصيرة تكشف الفهم فورًا</a:t>
            </a:r>
            <a:endParaRPr lang="ar-SA" sz="2200" dirty="0"/>
          </a:p>
        </p:txBody>
      </p:sp>
      <p:sp>
        <p:nvSpPr>
          <p:cNvPr id="21" name="anim-g5-68"/>
          <p:cNvSpPr/>
          <p:nvPr/>
        </p:nvSpPr>
        <p:spPr>
          <a:xfrm>
            <a:off x="822960" y="5299862"/>
            <a:ext cx="10545775" cy="735178"/>
          </a:xfrm>
          <a:prstGeom prst="roundRect">
            <a:avLst>
              <a:gd name="adj" fmla="val 19900"/>
            </a:avLst>
          </a:prstGeom>
          <a:solidFill>
            <a:srgbClr val="FFFFFF"/>
          </a:solidFill>
          <a:ln w="12700">
            <a:solidFill>
              <a:srgbClr val="E4DCC8"/>
            </a:solidFill>
            <a:prstDash val="solid"/>
          </a:ln>
        </p:spPr>
      </p:sp>
      <p:sp>
        <p:nvSpPr>
          <p:cNvPr id="22" name="anim-g5-69"/>
          <p:cNvSpPr/>
          <p:nvPr/>
        </p:nvSpPr>
        <p:spPr>
          <a:xfrm>
            <a:off x="10587838" y="5391302"/>
            <a:ext cx="552298" cy="552298"/>
          </a:xfrm>
          <a:prstGeom prst="ellipse">
            <a:avLst/>
          </a:prstGeom>
          <a:solidFill>
            <a:srgbClr val="D9AE4B"/>
          </a:solidFill>
          <a:ln/>
        </p:spPr>
      </p:sp>
      <p:sp>
        <p:nvSpPr>
          <p:cNvPr id="23" name="anim-g5-70"/>
          <p:cNvSpPr/>
          <p:nvPr/>
        </p:nvSpPr>
        <p:spPr>
          <a:xfrm>
            <a:off x="10587838" y="5391302"/>
            <a:ext cx="552298" cy="55229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٥</a:t>
            </a:r>
            <a:endParaRPr lang="ar-SA" sz="2000" dirty="0"/>
          </a:p>
        </p:txBody>
      </p:sp>
      <p:sp>
        <p:nvSpPr>
          <p:cNvPr id="24" name="anim-g5-71"/>
          <p:cNvSpPr/>
          <p:nvPr/>
        </p:nvSpPr>
        <p:spPr>
          <a:xfrm>
            <a:off x="1097280" y="5299862"/>
            <a:ext cx="9261958" cy="735178"/>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 كيف تدرّسها؟</a:t>
            </a:r>
            <a:pPr algn="r" indent="0" marL="0">
              <a:buNone/>
            </a:pPr>
            <a:r>
              <a:rPr lang="ar-SA" altLang="en-US" sz="1800" b="1" dirty="0">
                <a:solidFill>
                  <a:srgbClr val="3B4460"/>
                </a:solidFill>
                <a:latin typeface="Cairo" pitchFamily="34" charset="0"/>
                <a:ea typeface="Cairo" pitchFamily="34" charset="-122"/>
                <a:cs typeface="Cairo" pitchFamily="34" charset="-120"/>
              </a:rPr>
              <a:t>   — أخطاء الطلاب الشائعة ونشاط صفي جاهز</a:t>
            </a:r>
            <a:endParaRPr lang="ar-SA" sz="2200" dirty="0"/>
          </a:p>
        </p:txBody>
      </p:sp>
      <p:sp>
        <p:nvSpPr>
          <p:cNvPr id="25" name="Text 2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الأردوينو للمعلمين</a:t>
            </a:r>
            <a:endParaRPr lang="ar-SA" sz="1200" dirty="0"/>
          </a:p>
        </p:txBody>
      </p:sp>
      <p:sp>
        <p:nvSpPr>
          <p:cNvPr id="26" name="Text 2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الافتتاح  ·  ٩</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400"/>
                                        <p:tgtEl>
                                          <p:spTgt spid="21"/>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400"/>
                                        <p:tgtEl>
                                          <p:spTgt spid="22"/>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3"/>
                                        </p:tgtEl>
                                        <p:attrNameLst>
                                          <p:attrName>style.visibility</p:attrName>
                                        </p:attrNameLst>
                                      </p:cBhvr>
                                      <p:to>
                                        <p:strVal val="visible"/>
                                      </p:to>
                                    </p:set>
                                    <p:animEffect transition="in" filter="fade">
                                      <p:cBhvr>
                                        <p:cTn id="69" dur="400"/>
                                        <p:tgtEl>
                                          <p:spTgt spid="23"/>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4"/>
                                        </p:tgtEl>
                                        <p:attrNameLst>
                                          <p:attrName>style.visibility</p:attrName>
                                        </p:attrNameLst>
                                      </p:cBhvr>
                                      <p:to>
                                        <p:strVal val="visible"/>
                                      </p:to>
                                    </p:set>
                                    <p:animEffect transition="in" filter="fade">
                                      <p:cBhvr>
                                        <p:cTn id="72"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97280" y="2103120"/>
            <a:ext cx="2651760" cy="2651760"/>
          </a:xfrm>
          <a:prstGeom prst="ellipse">
            <a:avLst/>
          </a:prstGeom>
          <a:solidFill>
            <a:srgbClr val="D9AE4B">
              <a:alpha val="12000"/>
            </a:srgbClr>
          </a:solidFill>
          <a:ln w="63500">
            <a:solidFill>
              <a:srgbClr val="D9AE4B">
                <a:alpha val="60000"/>
              </a:srgbClr>
            </a:solidFill>
            <a:prstDash val="solid"/>
          </a:ln>
        </p:spPr>
      </p:sp>
      <p:sp>
        <p:nvSpPr>
          <p:cNvPr id="3" name="Text 1"/>
          <p:cNvSpPr/>
          <p:nvPr/>
        </p:nvSpPr>
        <p:spPr>
          <a:xfrm>
            <a:off x="1097280" y="2103120"/>
            <a:ext cx="2651760" cy="2651760"/>
          </a:xfrm>
          <a:prstGeom prst="rect">
            <a:avLst/>
          </a:prstGeom>
          <a:noFill/>
          <a:ln/>
        </p:spPr>
        <p:txBody>
          <a:bodyPr wrap="square" lIns="0" tIns="0" rIns="0" bIns="0" rtlCol="0" anchor="ctr">
            <a:normAutofit/>
          </a:bodyPr>
          <a:lstStyle/>
          <a:p>
            <a:pPr rtl="1" algn="ctr" indent="0" marL="0">
              <a:buNone/>
            </a:pPr>
            <a:r>
              <a:rPr lang="ar-SA" altLang="en-US" sz="12000" dirty="0">
                <a:solidFill>
                  <a:srgbClr val="F0CC7A"/>
                </a:solidFill>
                <a:latin typeface="Cairo Black" pitchFamily="34" charset="0"/>
                <a:ea typeface="Cairo Black" pitchFamily="34" charset="-122"/>
                <a:cs typeface="Cairo Black" pitchFamily="34" charset="-120"/>
              </a:rPr>
              <a:t>١</a:t>
            </a:r>
            <a:endParaRPr lang="ar-SA" sz="12000" dirty="0"/>
          </a:p>
        </p:txBody>
      </p:sp>
      <p:sp>
        <p:nvSpPr>
          <p:cNvPr id="4" name="Text 2"/>
          <p:cNvSpPr/>
          <p:nvPr/>
        </p:nvSpPr>
        <p:spPr>
          <a:xfrm>
            <a:off x="4206240" y="1828800"/>
            <a:ext cx="7162495" cy="457200"/>
          </a:xfrm>
          <a:prstGeom prst="rect">
            <a:avLst/>
          </a:prstGeom>
          <a:noFill/>
          <a:ln/>
        </p:spPr>
        <p:txBody>
          <a:bodyPr wrap="square" lIns="0" tIns="0" rIns="0" bIns="0" rtlCol="0" anchor="ctr">
            <a:normAutofit/>
          </a:bodyPr>
          <a:lstStyle/>
          <a:p>
            <a:pPr rtl="1" algn="r" indent="0" marL="0">
              <a:buNone/>
            </a:pPr>
            <a:r>
              <a:rPr lang="ar-SA" altLang="en-US" sz="2000" b="1" dirty="0">
                <a:solidFill>
                  <a:srgbClr val="D9AE4B"/>
                </a:solidFill>
                <a:latin typeface="Cairo" pitchFamily="34" charset="0"/>
                <a:ea typeface="Cairo" pitchFamily="34" charset="-122"/>
                <a:cs typeface="Cairo" pitchFamily="34" charset="-120"/>
              </a:rPr>
              <a:t>المحور ١</a:t>
            </a:r>
            <a:endParaRPr lang="ar-SA" sz="2000" dirty="0"/>
          </a:p>
        </p:txBody>
      </p:sp>
      <p:sp>
        <p:nvSpPr>
          <p:cNvPr id="5" name="Text 3"/>
          <p:cNvSpPr/>
          <p:nvPr/>
        </p:nvSpPr>
        <p:spPr>
          <a:xfrm>
            <a:off x="4206240" y="2286000"/>
            <a:ext cx="7162495" cy="1371600"/>
          </a:xfrm>
          <a:prstGeom prst="rect">
            <a:avLst/>
          </a:prstGeom>
          <a:noFill/>
          <a:ln/>
        </p:spPr>
        <p:txBody>
          <a:bodyPr wrap="square" lIns="0" tIns="0" rIns="0" bIns="0" rtlCol="0" anchor="ctr">
            <a:normAutofit/>
          </a:bodyPr>
          <a:lstStyle/>
          <a:p>
            <a:pPr rtl="1" algn="r" indent="0" marL="0">
              <a:buNone/>
            </a:pPr>
            <a:r>
              <a:rPr lang="ar-SA" altLang="en-US" sz="5600" dirty="0">
                <a:solidFill>
                  <a:srgbClr val="FFFFFF"/>
                </a:solidFill>
                <a:latin typeface="Cairo Black" pitchFamily="34" charset="0"/>
                <a:ea typeface="Cairo Black" pitchFamily="34" charset="-122"/>
                <a:cs typeface="Cairo Black" pitchFamily="34" charset="-120"/>
              </a:rPr>
              <a:t>ما الأردوينو؟</a:t>
            </a:r>
            <a:endParaRPr lang="ar-SA" sz="5600" dirty="0"/>
          </a:p>
        </p:txBody>
      </p:sp>
      <p:sp>
        <p:nvSpPr>
          <p:cNvPr id="6" name="Text 4"/>
          <p:cNvSpPr/>
          <p:nvPr/>
        </p:nvSpPr>
        <p:spPr>
          <a:xfrm>
            <a:off x="4206240" y="3749040"/>
            <a:ext cx="7162495" cy="822960"/>
          </a:xfrm>
          <a:prstGeom prst="rect">
            <a:avLst/>
          </a:prstGeom>
          <a:noFill/>
          <a:ln/>
        </p:spPr>
        <p:txBody>
          <a:bodyPr wrap="square" lIns="0" tIns="0" rIns="0" bIns="0" rtlCol="0" anchor="ctr">
            <a:normAutofit/>
          </a:bodyPr>
          <a:lstStyle/>
          <a:p>
            <a:pPr rtl="1" algn="r" indent="0" marL="0">
              <a:buNone/>
            </a:pPr>
            <a:r>
              <a:rPr lang="ar-SA" altLang="en-US" sz="2200" b="1" dirty="0">
                <a:solidFill>
                  <a:srgbClr val="C9CFE6"/>
                </a:solidFill>
                <a:latin typeface="Cairo" pitchFamily="34" charset="0"/>
                <a:ea typeface="Cairo" pitchFamily="34" charset="-122"/>
                <a:cs typeface="Cairo" pitchFamily="34" charset="-120"/>
              </a:rPr>
              <a:t>الحكاية، والفكرة، ولماذا صار الأشهر في العالم</a:t>
            </a:r>
            <a:endParaRPr lang="ar-SA" sz="2200" dirty="0"/>
          </a:p>
        </p:txBody>
      </p:sp>
      <p:sp>
        <p:nvSpPr>
          <p:cNvPr id="7" name="Text 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الأردوينو للمعلمين</a:t>
            </a:r>
            <a:endParaRPr lang="ar-SA" sz="1200" dirty="0"/>
          </a:p>
        </p:txBody>
      </p:sp>
      <p:sp>
        <p:nvSpPr>
          <p:cNvPr id="8" name="Text 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ما الأردوينو؟  ·  ١٠</a:t>
            </a:r>
            <a:endParaRPr lang="ar-SA"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248095" y="457200"/>
            <a:ext cx="5120640" cy="457200"/>
          </a:xfrm>
          <a:prstGeom prst="roundRect">
            <a:avLst>
              <a:gd name="adj" fmla="val 50000"/>
            </a:avLst>
          </a:prstGeom>
          <a:solidFill>
            <a:srgbClr val="F6EBCF"/>
          </a:solidFill>
          <a:ln/>
        </p:spPr>
      </p:sp>
      <p:sp>
        <p:nvSpPr>
          <p:cNvPr id="3" name="Text 1"/>
          <p:cNvSpPr/>
          <p:nvPr/>
        </p:nvSpPr>
        <p:spPr>
          <a:xfrm>
            <a:off x="6248095" y="457200"/>
            <a:ext cx="512064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بنهاية هذا المحور تستطيع أن</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أهداف المحور</a:t>
            </a:r>
            <a:endParaRPr lang="ar-SA" sz="3800" dirty="0"/>
          </a:p>
        </p:txBody>
      </p:sp>
      <p:sp>
        <p:nvSpPr>
          <p:cNvPr id="5" name="anim-g1-72"/>
          <p:cNvSpPr/>
          <p:nvPr/>
        </p:nvSpPr>
        <p:spPr>
          <a:xfrm>
            <a:off x="822960" y="1920240"/>
            <a:ext cx="10545775" cy="946404"/>
          </a:xfrm>
          <a:prstGeom prst="roundRect">
            <a:avLst>
              <a:gd name="adj" fmla="val 15459"/>
            </a:avLst>
          </a:prstGeom>
          <a:solidFill>
            <a:srgbClr val="FFFFFF"/>
          </a:solidFill>
          <a:ln w="12700">
            <a:solidFill>
              <a:srgbClr val="E4DCC8"/>
            </a:solidFill>
            <a:prstDash val="solid"/>
          </a:ln>
        </p:spPr>
      </p:sp>
      <p:sp>
        <p:nvSpPr>
          <p:cNvPr id="6" name="anim-g1-73"/>
          <p:cNvSpPr/>
          <p:nvPr/>
        </p:nvSpPr>
        <p:spPr>
          <a:xfrm>
            <a:off x="10573207" y="2109978"/>
            <a:ext cx="566928" cy="566928"/>
          </a:xfrm>
          <a:prstGeom prst="ellipse">
            <a:avLst/>
          </a:prstGeom>
          <a:solidFill>
            <a:srgbClr val="D9AE4B"/>
          </a:solidFill>
          <a:ln/>
        </p:spPr>
      </p:sp>
      <p:sp>
        <p:nvSpPr>
          <p:cNvPr id="7" name="anim-g1-74"/>
          <p:cNvSpPr/>
          <p:nvPr/>
        </p:nvSpPr>
        <p:spPr>
          <a:xfrm>
            <a:off x="10573207" y="2109978"/>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١</a:t>
            </a:r>
            <a:endParaRPr lang="ar-SA" sz="2000" dirty="0"/>
          </a:p>
        </p:txBody>
      </p:sp>
      <p:sp>
        <p:nvSpPr>
          <p:cNvPr id="8" name="anim-g1-75"/>
          <p:cNvSpPr/>
          <p:nvPr/>
        </p:nvSpPr>
        <p:spPr>
          <a:xfrm>
            <a:off x="1097280" y="1920240"/>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تشرح لطلابك ما الأردوينو في جملتين</a:t>
            </a:r>
            <a:endParaRPr lang="ar-SA" sz="2400" dirty="0"/>
          </a:p>
        </p:txBody>
      </p:sp>
      <p:sp>
        <p:nvSpPr>
          <p:cNvPr id="9" name="anim-g2-76"/>
          <p:cNvSpPr/>
          <p:nvPr/>
        </p:nvSpPr>
        <p:spPr>
          <a:xfrm>
            <a:off x="822960" y="2976372"/>
            <a:ext cx="10545775" cy="946404"/>
          </a:xfrm>
          <a:prstGeom prst="roundRect">
            <a:avLst>
              <a:gd name="adj" fmla="val 15459"/>
            </a:avLst>
          </a:prstGeom>
          <a:solidFill>
            <a:srgbClr val="FFFFFF"/>
          </a:solidFill>
          <a:ln w="12700">
            <a:solidFill>
              <a:srgbClr val="E4DCC8"/>
            </a:solidFill>
            <a:prstDash val="solid"/>
          </a:ln>
        </p:spPr>
      </p:sp>
      <p:sp>
        <p:nvSpPr>
          <p:cNvPr id="10" name="anim-g2-77"/>
          <p:cNvSpPr/>
          <p:nvPr/>
        </p:nvSpPr>
        <p:spPr>
          <a:xfrm>
            <a:off x="10573207" y="3166110"/>
            <a:ext cx="566928" cy="566928"/>
          </a:xfrm>
          <a:prstGeom prst="ellipse">
            <a:avLst/>
          </a:prstGeom>
          <a:solidFill>
            <a:srgbClr val="D9AE4B"/>
          </a:solidFill>
          <a:ln/>
        </p:spPr>
      </p:sp>
      <p:sp>
        <p:nvSpPr>
          <p:cNvPr id="11" name="anim-g2-78"/>
          <p:cNvSpPr/>
          <p:nvPr/>
        </p:nvSpPr>
        <p:spPr>
          <a:xfrm>
            <a:off x="10573207" y="3166110"/>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٢</a:t>
            </a:r>
            <a:endParaRPr lang="ar-SA" sz="2000" dirty="0"/>
          </a:p>
        </p:txBody>
      </p:sp>
      <p:sp>
        <p:nvSpPr>
          <p:cNvPr id="12" name="anim-g2-79"/>
          <p:cNvSpPr/>
          <p:nvPr/>
        </p:nvSpPr>
        <p:spPr>
          <a:xfrm>
            <a:off x="1097280" y="2976372"/>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تروي قصة نشأته باختصار مشوّق</a:t>
            </a:r>
            <a:endParaRPr lang="ar-SA" sz="2400" dirty="0"/>
          </a:p>
        </p:txBody>
      </p:sp>
      <p:sp>
        <p:nvSpPr>
          <p:cNvPr id="13" name="anim-g3-80"/>
          <p:cNvSpPr/>
          <p:nvPr/>
        </p:nvSpPr>
        <p:spPr>
          <a:xfrm>
            <a:off x="822960" y="4032504"/>
            <a:ext cx="10545775" cy="946404"/>
          </a:xfrm>
          <a:prstGeom prst="roundRect">
            <a:avLst>
              <a:gd name="adj" fmla="val 15459"/>
            </a:avLst>
          </a:prstGeom>
          <a:solidFill>
            <a:srgbClr val="FFFFFF"/>
          </a:solidFill>
          <a:ln w="12700">
            <a:solidFill>
              <a:srgbClr val="E4DCC8"/>
            </a:solidFill>
            <a:prstDash val="solid"/>
          </a:ln>
        </p:spPr>
      </p:sp>
      <p:sp>
        <p:nvSpPr>
          <p:cNvPr id="14" name="anim-g3-81"/>
          <p:cNvSpPr/>
          <p:nvPr/>
        </p:nvSpPr>
        <p:spPr>
          <a:xfrm>
            <a:off x="10573207" y="4222242"/>
            <a:ext cx="566928" cy="566928"/>
          </a:xfrm>
          <a:prstGeom prst="ellipse">
            <a:avLst/>
          </a:prstGeom>
          <a:solidFill>
            <a:srgbClr val="D9AE4B"/>
          </a:solidFill>
          <a:ln/>
        </p:spPr>
      </p:sp>
      <p:sp>
        <p:nvSpPr>
          <p:cNvPr id="15" name="anim-g3-82"/>
          <p:cNvSpPr/>
          <p:nvPr/>
        </p:nvSpPr>
        <p:spPr>
          <a:xfrm>
            <a:off x="10573207" y="4222242"/>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٣</a:t>
            </a:r>
            <a:endParaRPr lang="ar-SA" sz="2000" dirty="0"/>
          </a:p>
        </p:txBody>
      </p:sp>
      <p:sp>
        <p:nvSpPr>
          <p:cNvPr id="16" name="anim-g3-83"/>
          <p:cNvSpPr/>
          <p:nvPr/>
        </p:nvSpPr>
        <p:spPr>
          <a:xfrm>
            <a:off x="1097280" y="4032504"/>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تميّز بين أشهر أنواع لوحاته</a:t>
            </a:r>
            <a:endParaRPr lang="ar-SA" sz="2400" dirty="0"/>
          </a:p>
        </p:txBody>
      </p:sp>
      <p:sp>
        <p:nvSpPr>
          <p:cNvPr id="17" name="anim-g4-84"/>
          <p:cNvSpPr/>
          <p:nvPr/>
        </p:nvSpPr>
        <p:spPr>
          <a:xfrm>
            <a:off x="822960" y="5088636"/>
            <a:ext cx="10545775" cy="946404"/>
          </a:xfrm>
          <a:prstGeom prst="roundRect">
            <a:avLst>
              <a:gd name="adj" fmla="val 15459"/>
            </a:avLst>
          </a:prstGeom>
          <a:solidFill>
            <a:srgbClr val="FFFFFF"/>
          </a:solidFill>
          <a:ln w="12700">
            <a:solidFill>
              <a:srgbClr val="E4DCC8"/>
            </a:solidFill>
            <a:prstDash val="solid"/>
          </a:ln>
        </p:spPr>
      </p:sp>
      <p:sp>
        <p:nvSpPr>
          <p:cNvPr id="18" name="anim-g4-85"/>
          <p:cNvSpPr/>
          <p:nvPr/>
        </p:nvSpPr>
        <p:spPr>
          <a:xfrm>
            <a:off x="10573207" y="5278374"/>
            <a:ext cx="566928" cy="566928"/>
          </a:xfrm>
          <a:prstGeom prst="ellipse">
            <a:avLst/>
          </a:prstGeom>
          <a:solidFill>
            <a:srgbClr val="D9AE4B"/>
          </a:solidFill>
          <a:ln/>
        </p:spPr>
      </p:sp>
      <p:sp>
        <p:nvSpPr>
          <p:cNvPr id="19" name="anim-g4-86"/>
          <p:cNvSpPr/>
          <p:nvPr/>
        </p:nvSpPr>
        <p:spPr>
          <a:xfrm>
            <a:off x="10573207" y="5278374"/>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٤</a:t>
            </a:r>
            <a:endParaRPr lang="ar-SA" sz="2000" dirty="0"/>
          </a:p>
        </p:txBody>
      </p:sp>
      <p:sp>
        <p:nvSpPr>
          <p:cNvPr id="20" name="anim-g4-87"/>
          <p:cNvSpPr/>
          <p:nvPr/>
        </p:nvSpPr>
        <p:spPr>
          <a:xfrm>
            <a:off x="1097280" y="5088636"/>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تختار اللوحة المناسبة لمدرستك</a:t>
            </a:r>
            <a:endParaRPr lang="ar-SA" sz="2400" dirty="0"/>
          </a:p>
        </p:txBody>
      </p:sp>
      <p:sp>
        <p:nvSpPr>
          <p:cNvPr id="21" name="Text 19"/>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الأردوينو للمعلمين</a:t>
            </a:r>
            <a:endParaRPr lang="ar-SA" sz="1200" dirty="0"/>
          </a:p>
        </p:txBody>
      </p:sp>
      <p:sp>
        <p:nvSpPr>
          <p:cNvPr id="22" name="Text 20"/>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ما الأردوينو؟  ·  ١١</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kb-88" descr="/Users/mac/Desktop/أردوينو/المشاريع والكتب/younes-training/arduino/assets/desk.jpg">    </p:cNvPr>
          <p:cNvPicPr>
            <a:picLocks noChangeAspect="1"/>
          </p:cNvPicPr>
          <p:nvPr/>
        </p:nvPicPr>
        <p:blipFill>
          <a:blip r:embed="rId2"/>
          <a:stretch>
            <a:fillRect/>
          </a:stretch>
        </p:blipFill>
        <p:spPr>
          <a:xfrm>
            <a:off x="0" y="0"/>
            <a:ext cx="12191695" cy="6858000"/>
          </a:xfrm>
          <a:prstGeom prst="rect">
            <a:avLst/>
          </a:prstGeom>
        </p:spPr>
      </p:pic>
      <p:pic>
        <p:nvPicPr>
          <p:cNvPr id="3" name="Image 1" descr="/Users/mac/Desktop/أردوينو/المشاريع والكتب/younes-training/shared/assets/mcover-overlay.png">    </p:cNvPr>
          <p:cNvPicPr>
            <a:picLocks noChangeAspect="1"/>
          </p:cNvPicPr>
          <p:nvPr/>
        </p:nvPicPr>
        <p:blipFill>
          <a:blip r:embed="rId3"/>
          <a:stretch>
            <a:fillRect/>
          </a:stretch>
        </p:blipFill>
        <p:spPr>
          <a:xfrm>
            <a:off x="0" y="0"/>
            <a:ext cx="12191695" cy="6858000"/>
          </a:xfrm>
          <a:prstGeom prst="rect">
            <a:avLst/>
          </a:prstGeom>
        </p:spPr>
      </p:pic>
      <p:sp>
        <p:nvSpPr>
          <p:cNvPr id="4" name="Text 0"/>
          <p:cNvSpPr/>
          <p:nvPr/>
        </p:nvSpPr>
        <p:spPr>
          <a:xfrm>
            <a:off x="5120640" y="1645920"/>
            <a:ext cx="6248095" cy="502920"/>
          </a:xfrm>
          <a:prstGeom prst="rect">
            <a:avLst/>
          </a:prstGeom>
          <a:noFill/>
          <a:ln/>
        </p:spPr>
        <p:txBody>
          <a:bodyPr wrap="square" lIns="0" tIns="0" rIns="0" bIns="0" rtlCol="0" anchor="ctr">
            <a:normAutofit/>
          </a:bodyPr>
          <a:lstStyle/>
          <a:p>
            <a:pPr rtl="1" algn="r" indent="0" marL="0">
              <a:buNone/>
            </a:pPr>
            <a:r>
              <a:rPr lang="ar-SA" altLang="en-US" sz="2200" b="1" dirty="0">
                <a:solidFill>
                  <a:srgbClr val="D9AE4B"/>
                </a:solidFill>
                <a:latin typeface="Cairo" pitchFamily="34" charset="0"/>
                <a:ea typeface="Cairo" pitchFamily="34" charset="-122"/>
                <a:cs typeface="Cairo" pitchFamily="34" charset="-120"/>
              </a:rPr>
              <a:t>التعريف</a:t>
            </a:r>
            <a:endParaRPr lang="ar-SA" sz="2200" dirty="0"/>
          </a:p>
        </p:txBody>
      </p:sp>
      <p:sp>
        <p:nvSpPr>
          <p:cNvPr id="5" name="Text 1"/>
          <p:cNvSpPr/>
          <p:nvPr/>
        </p:nvSpPr>
        <p:spPr>
          <a:xfrm>
            <a:off x="4572000" y="2194560"/>
            <a:ext cx="6796735" cy="1737360"/>
          </a:xfrm>
          <a:prstGeom prst="rect">
            <a:avLst/>
          </a:prstGeom>
          <a:noFill/>
          <a:ln/>
        </p:spPr>
        <p:txBody>
          <a:bodyPr wrap="square" lIns="0" tIns="0" rIns="0" bIns="0" rtlCol="0" anchor="ctr">
            <a:normAutofit/>
          </a:bodyPr>
          <a:lstStyle/>
          <a:p>
            <a:pPr rtl="1" algn="r" indent="0" marL="0">
              <a:lnSpc>
                <a:spcPct val="110000"/>
              </a:lnSpc>
              <a:buNone/>
            </a:pPr>
            <a:r>
              <a:rPr lang="ar-SA" altLang="en-US" sz="6000" dirty="0">
                <a:solidFill>
                  <a:srgbClr val="FFFFFF"/>
                </a:solidFill>
                <a:latin typeface="Cairo Black" pitchFamily="34" charset="0"/>
                <a:ea typeface="Cairo Black" pitchFamily="34" charset="-122"/>
                <a:cs typeface="Cairo Black" pitchFamily="34" charset="-120"/>
              </a:rPr>
              <a:t>ما الأردوينو؟</a:t>
            </a:r>
            <a:endParaRPr lang="ar-SA" sz="6000" dirty="0"/>
          </a:p>
        </p:txBody>
      </p:sp>
      <p:sp>
        <p:nvSpPr>
          <p:cNvPr id="6" name="Text 2"/>
          <p:cNvSpPr/>
          <p:nvPr/>
        </p:nvSpPr>
        <p:spPr>
          <a:xfrm>
            <a:off x="4572000" y="4023360"/>
            <a:ext cx="6796735" cy="1097280"/>
          </a:xfrm>
          <a:prstGeom prst="rect">
            <a:avLst/>
          </a:prstGeom>
          <a:noFill/>
          <a:ln/>
        </p:spPr>
        <p:txBody>
          <a:bodyPr wrap="square" lIns="0" tIns="0" rIns="0" bIns="0" rtlCol="0" anchor="ctr">
            <a:normAutofit/>
          </a:bodyPr>
          <a:lstStyle/>
          <a:p>
            <a:pPr rtl="1" algn="r" indent="0" marL="0">
              <a:buNone/>
            </a:pPr>
            <a:r>
              <a:rPr lang="ar-SA" altLang="en-US" sz="2200" b="1" dirty="0">
                <a:solidFill>
                  <a:srgbClr val="C9CFE6"/>
                </a:solidFill>
                <a:latin typeface="Cairo" pitchFamily="34" charset="0"/>
                <a:ea typeface="Cairo" pitchFamily="34" charset="-122"/>
                <a:cs typeface="Cairo" pitchFamily="34" charset="-120"/>
              </a:rPr>
              <a:t>منصة إلكترونية مفتوحة المصدر: لوحة صغيرة تبرمجها… فتتحكم بها في الضوء والحركة والصوت</a:t>
            </a:r>
            <a:endParaRPr lang="ar-SA" sz="2200" dirty="0"/>
          </a:p>
        </p:txBody>
      </p:sp>
      <p:sp>
        <p:nvSpPr>
          <p:cNvPr id="7"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الأردوينو للمعلمين</a:t>
            </a:r>
            <a:endParaRPr lang="ar-SA" sz="1200" dirty="0"/>
          </a:p>
        </p:txBody>
      </p:sp>
      <p:sp>
        <p:nvSpPr>
          <p:cNvPr id="8"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ما الأردوينو؟  ·  ١٢</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fill="hold" nodeType="afterEffect">
                                  <p:stCondLst>
                                    <p:cond delay="0"/>
                                  </p:stCondLst>
                                  <p:childTnLst>
                                    <p:animScale>
                                      <p:cBhvr>
                                        <p:cTn id="6" dur="16000" fill="hold"/>
                                        <p:tgtEl>
                                          <p:spTgt spid="2"/>
                                        </p:tgtEl>
                                      </p:cBhvr>
                                      <p:by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9027871" y="457200"/>
            <a:ext cx="2340864" cy="457200"/>
          </a:xfrm>
          <a:prstGeom prst="roundRect">
            <a:avLst>
              <a:gd name="adj" fmla="val 50000"/>
            </a:avLst>
          </a:prstGeom>
          <a:solidFill>
            <a:srgbClr val="F6EBCF"/>
          </a:solidFill>
          <a:ln/>
        </p:spPr>
      </p:sp>
      <p:sp>
        <p:nvSpPr>
          <p:cNvPr id="3" name="Text 1"/>
          <p:cNvSpPr/>
          <p:nvPr/>
        </p:nvSpPr>
        <p:spPr>
          <a:xfrm>
            <a:off x="9027871" y="457200"/>
            <a:ext cx="2340864"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ثلاثة أجزاء</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الأردوينو ليس لوحة فقط</a:t>
            </a:r>
            <a:endParaRPr lang="ar-SA" sz="3800" dirty="0"/>
          </a:p>
        </p:txBody>
      </p:sp>
      <p:sp>
        <p:nvSpPr>
          <p:cNvPr id="5" name="anim-g1-89"/>
          <p:cNvSpPr/>
          <p:nvPr/>
        </p:nvSpPr>
        <p:spPr>
          <a:xfrm>
            <a:off x="8036357" y="2148840"/>
            <a:ext cx="3332378" cy="35661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90"/>
          <p:cNvSpPr/>
          <p:nvPr/>
        </p:nvSpPr>
        <p:spPr>
          <a:xfrm>
            <a:off x="10362895" y="2404872"/>
            <a:ext cx="731520" cy="731520"/>
          </a:xfrm>
          <a:prstGeom prst="roundRect">
            <a:avLst>
              <a:gd name="adj" fmla="val 25000"/>
            </a:avLst>
          </a:prstGeom>
          <a:solidFill>
            <a:srgbClr val="F7E6BC"/>
          </a:solidFill>
          <a:ln/>
        </p:spPr>
      </p:sp>
      <p:sp>
        <p:nvSpPr>
          <p:cNvPr id="7" name="anim-g1-91"/>
          <p:cNvSpPr/>
          <p:nvPr/>
        </p:nvSpPr>
        <p:spPr>
          <a:xfrm>
            <a:off x="10362895"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8" name="anim-g1-92"/>
          <p:cNvSpPr/>
          <p:nvPr/>
        </p:nvSpPr>
        <p:spPr>
          <a:xfrm>
            <a:off x="8310677" y="3246120"/>
            <a:ext cx="2783738"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اللوحة (العتاد)</a:t>
            </a:r>
            <a:endParaRPr lang="ar-SA" sz="2300" dirty="0"/>
          </a:p>
        </p:txBody>
      </p:sp>
      <p:sp>
        <p:nvSpPr>
          <p:cNvPr id="9" name="anim-g1-93"/>
          <p:cNvSpPr/>
          <p:nvPr/>
        </p:nvSpPr>
        <p:spPr>
          <a:xfrm>
            <a:off x="8310677" y="3794760"/>
            <a:ext cx="2783738"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قطعة إلكترونية فيها متحكم دقيق ومنافذ نوصل بها الحساسات والمحركات</a:t>
            </a:r>
            <a:endParaRPr lang="ar-SA" sz="2100" dirty="0"/>
          </a:p>
        </p:txBody>
      </p:sp>
      <p:sp>
        <p:nvSpPr>
          <p:cNvPr id="10" name="anim-g2-94"/>
          <p:cNvSpPr/>
          <p:nvPr/>
        </p:nvSpPr>
        <p:spPr>
          <a:xfrm>
            <a:off x="4429658" y="2148840"/>
            <a:ext cx="3332378" cy="35661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95"/>
          <p:cNvSpPr/>
          <p:nvPr/>
        </p:nvSpPr>
        <p:spPr>
          <a:xfrm>
            <a:off x="6756197" y="2404872"/>
            <a:ext cx="731520" cy="731520"/>
          </a:xfrm>
          <a:prstGeom prst="roundRect">
            <a:avLst>
              <a:gd name="adj" fmla="val 25000"/>
            </a:avLst>
          </a:prstGeom>
          <a:solidFill>
            <a:srgbClr val="F7E6BC"/>
          </a:solidFill>
          <a:ln/>
        </p:spPr>
      </p:sp>
      <p:sp>
        <p:nvSpPr>
          <p:cNvPr id="12" name="anim-g2-96"/>
          <p:cNvSpPr/>
          <p:nvPr/>
        </p:nvSpPr>
        <p:spPr>
          <a:xfrm>
            <a:off x="6756197"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13" name="anim-g2-97"/>
          <p:cNvSpPr/>
          <p:nvPr/>
        </p:nvSpPr>
        <p:spPr>
          <a:xfrm>
            <a:off x="4703978" y="3246120"/>
            <a:ext cx="2783738"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البرنامج (IDE)</a:t>
            </a:r>
            <a:endParaRPr lang="ar-SA" sz="2300" dirty="0"/>
          </a:p>
        </p:txBody>
      </p:sp>
      <p:sp>
        <p:nvSpPr>
          <p:cNvPr id="14" name="anim-g2-98"/>
          <p:cNvSpPr/>
          <p:nvPr/>
        </p:nvSpPr>
        <p:spPr>
          <a:xfrm>
            <a:off x="4703978" y="3794760"/>
            <a:ext cx="2783738"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بيئة نكتب فيها الأوامر على الحاسوب ثم نرفعها إلى اللوحة</a:t>
            </a:r>
            <a:endParaRPr lang="ar-SA" sz="2100" dirty="0"/>
          </a:p>
        </p:txBody>
      </p:sp>
      <p:sp>
        <p:nvSpPr>
          <p:cNvPr id="15" name="anim-g3-99"/>
          <p:cNvSpPr/>
          <p:nvPr/>
        </p:nvSpPr>
        <p:spPr>
          <a:xfrm>
            <a:off x="822960" y="2148840"/>
            <a:ext cx="3332378" cy="35661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100"/>
          <p:cNvSpPr/>
          <p:nvPr/>
        </p:nvSpPr>
        <p:spPr>
          <a:xfrm>
            <a:off x="3149498" y="2404872"/>
            <a:ext cx="731520" cy="731520"/>
          </a:xfrm>
          <a:prstGeom prst="roundRect">
            <a:avLst>
              <a:gd name="adj" fmla="val 25000"/>
            </a:avLst>
          </a:prstGeom>
          <a:solidFill>
            <a:srgbClr val="F7E6BC"/>
          </a:solidFill>
          <a:ln/>
        </p:spPr>
      </p:sp>
      <p:sp>
        <p:nvSpPr>
          <p:cNvPr id="17" name="anim-g3-101"/>
          <p:cNvSpPr/>
          <p:nvPr/>
        </p:nvSpPr>
        <p:spPr>
          <a:xfrm>
            <a:off x="3149498"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18" name="anim-g3-102"/>
          <p:cNvSpPr/>
          <p:nvPr/>
        </p:nvSpPr>
        <p:spPr>
          <a:xfrm>
            <a:off x="1097280" y="3246120"/>
            <a:ext cx="2783738"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المجتمع</a:t>
            </a:r>
            <a:endParaRPr lang="ar-SA" sz="2300" dirty="0"/>
          </a:p>
        </p:txBody>
      </p:sp>
      <p:sp>
        <p:nvSpPr>
          <p:cNvPr id="19" name="anim-g3-103"/>
          <p:cNvSpPr/>
          <p:nvPr/>
        </p:nvSpPr>
        <p:spPr>
          <a:xfrm>
            <a:off x="1097280" y="3794760"/>
            <a:ext cx="2783738"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ملايين المشاريع والأمثلة المجانية على الإنترنت لأي فكرة</a:t>
            </a:r>
            <a:endParaRPr lang="ar-SA" sz="21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الأردوينو للمعلمين</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ما الأردوينو؟  ·  ١٣</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779112" y="1188720"/>
            <a:ext cx="2633472"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779112" y="1188720"/>
            <a:ext cx="2633472"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في جملة واحدة</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الأردوينو عقل صغير…</a:t>
            </a:r>
            <a:endParaRPr lang="ar-SA" sz="4400" dirty="0"/>
          </a:p>
          <a:p>
            <a:pPr algn="ctr" indent="0" marL="0">
              <a:lnSpc>
                <a:spcPct val="115000"/>
              </a:lnSpc>
              <a:buNone/>
            </a:pPr>
            <a:r>
              <a:rPr lang="ar-SA" altLang="en-US" sz="4400" dirty="0">
                <a:solidFill>
                  <a:srgbClr val="F0CC7A"/>
                </a:solidFill>
                <a:latin typeface="Cairo Black" pitchFamily="34" charset="0"/>
                <a:ea typeface="Cairo Black" pitchFamily="34" charset="-122"/>
                <a:cs typeface="Cairo Black" pitchFamily="34" charset="-120"/>
              </a:rPr>
              <a:t> تكتب له التعليمات، فينفّذها في العالم الحقيقي</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الأردوينو للمعلمين</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ما الأردوينو؟  ·  ١٤</a:t>
            </a:r>
            <a:endParaRPr lang="ar-SA"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Users/mac/Desktop/أردوينو/المشاريع والكتب/younes-training/arduino/.pptx-cache/s1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81567" y="457200"/>
            <a:ext cx="2487168" cy="457200"/>
          </a:xfrm>
          <a:prstGeom prst="roundRect">
            <a:avLst>
              <a:gd name="adj" fmla="val 50000"/>
            </a:avLst>
          </a:prstGeom>
          <a:solidFill>
            <a:srgbClr val="F6EBCF"/>
          </a:solidFill>
          <a:ln/>
        </p:spPr>
      </p:sp>
      <p:sp>
        <p:nvSpPr>
          <p:cNvPr id="3" name="Text 1"/>
          <p:cNvSpPr/>
          <p:nvPr/>
        </p:nvSpPr>
        <p:spPr>
          <a:xfrm>
            <a:off x="8881567" y="45720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لماذا انتشر؟</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ست مميزات صنعت شهرة الأردوينو</a:t>
            </a:r>
            <a:endParaRPr lang="ar-SA" sz="3800" dirty="0"/>
          </a:p>
        </p:txBody>
      </p:sp>
      <p:sp>
        <p:nvSpPr>
          <p:cNvPr id="5" name="anim-g1-104"/>
          <p:cNvSpPr/>
          <p:nvPr/>
        </p:nvSpPr>
        <p:spPr>
          <a:xfrm>
            <a:off x="8036357" y="2011680"/>
            <a:ext cx="333237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105"/>
          <p:cNvSpPr/>
          <p:nvPr/>
        </p:nvSpPr>
        <p:spPr>
          <a:xfrm>
            <a:off x="10527487" y="2267712"/>
            <a:ext cx="566928" cy="566928"/>
          </a:xfrm>
          <a:prstGeom prst="roundRect">
            <a:avLst>
              <a:gd name="adj" fmla="val 32258"/>
            </a:avLst>
          </a:prstGeom>
          <a:solidFill>
            <a:srgbClr val="F7E6BC"/>
          </a:solidFill>
          <a:ln/>
        </p:spPr>
      </p:sp>
      <p:sp>
        <p:nvSpPr>
          <p:cNvPr id="7" name="anim-g1-106"/>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107"/>
          <p:cNvSpPr/>
          <p:nvPr/>
        </p:nvSpPr>
        <p:spPr>
          <a:xfrm>
            <a:off x="8310677"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تكلفة منخفضة</a:t>
            </a:r>
            <a:endParaRPr lang="ar-SA" sz="2200" dirty="0"/>
          </a:p>
        </p:txBody>
      </p:sp>
      <p:sp>
        <p:nvSpPr>
          <p:cNvPr id="9" name="anim-g1-108"/>
          <p:cNvSpPr/>
          <p:nvPr/>
        </p:nvSpPr>
        <p:spPr>
          <a:xfrm>
            <a:off x="8310677" y="3493008"/>
            <a:ext cx="278373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سعر بسيط مقارنة بأي بديل</a:t>
            </a:r>
            <a:endParaRPr lang="ar-SA" sz="1900" dirty="0"/>
          </a:p>
        </p:txBody>
      </p:sp>
      <p:sp>
        <p:nvSpPr>
          <p:cNvPr id="10" name="anim-g2-109"/>
          <p:cNvSpPr/>
          <p:nvPr/>
        </p:nvSpPr>
        <p:spPr>
          <a:xfrm>
            <a:off x="4429658" y="2011680"/>
            <a:ext cx="333237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110"/>
          <p:cNvSpPr/>
          <p:nvPr/>
        </p:nvSpPr>
        <p:spPr>
          <a:xfrm>
            <a:off x="6920789" y="2267712"/>
            <a:ext cx="566928" cy="566928"/>
          </a:xfrm>
          <a:prstGeom prst="roundRect">
            <a:avLst>
              <a:gd name="adj" fmla="val 32258"/>
            </a:avLst>
          </a:prstGeom>
          <a:solidFill>
            <a:srgbClr val="F7E6BC"/>
          </a:solidFill>
          <a:ln/>
        </p:spPr>
      </p:sp>
      <p:sp>
        <p:nvSpPr>
          <p:cNvPr id="12" name="anim-g2-111"/>
          <p:cNvSpPr/>
          <p:nvPr/>
        </p:nvSpPr>
        <p:spPr>
          <a:xfrm>
            <a:off x="6920789"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112"/>
          <p:cNvSpPr/>
          <p:nvPr/>
        </p:nvSpPr>
        <p:spPr>
          <a:xfrm>
            <a:off x="4703978"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برمجة سهلة</a:t>
            </a:r>
            <a:endParaRPr lang="ar-SA" sz="2200" dirty="0"/>
          </a:p>
        </p:txBody>
      </p:sp>
      <p:sp>
        <p:nvSpPr>
          <p:cNvPr id="14" name="anim-g2-113"/>
          <p:cNvSpPr/>
          <p:nvPr/>
        </p:nvSpPr>
        <p:spPr>
          <a:xfrm>
            <a:off x="4703978" y="3493008"/>
            <a:ext cx="278373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حتى لمن لم يبرمج من قبل</a:t>
            </a:r>
            <a:endParaRPr lang="ar-SA" sz="1900" dirty="0"/>
          </a:p>
        </p:txBody>
      </p:sp>
      <p:sp>
        <p:nvSpPr>
          <p:cNvPr id="15" name="anim-g3-114"/>
          <p:cNvSpPr/>
          <p:nvPr/>
        </p:nvSpPr>
        <p:spPr>
          <a:xfrm>
            <a:off x="822960" y="2011680"/>
            <a:ext cx="333237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115"/>
          <p:cNvSpPr/>
          <p:nvPr/>
        </p:nvSpPr>
        <p:spPr>
          <a:xfrm>
            <a:off x="3314090" y="2267712"/>
            <a:ext cx="566928" cy="566928"/>
          </a:xfrm>
          <a:prstGeom prst="roundRect">
            <a:avLst>
              <a:gd name="adj" fmla="val 32258"/>
            </a:avLst>
          </a:prstGeom>
          <a:solidFill>
            <a:srgbClr val="F7E6BC"/>
          </a:solidFill>
          <a:ln/>
        </p:spPr>
      </p:sp>
      <p:sp>
        <p:nvSpPr>
          <p:cNvPr id="17" name="anim-g3-116"/>
          <p:cNvSpPr/>
          <p:nvPr/>
        </p:nvSpPr>
        <p:spPr>
          <a:xfrm>
            <a:off x="331409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117"/>
          <p:cNvSpPr/>
          <p:nvPr/>
        </p:nvSpPr>
        <p:spPr>
          <a:xfrm>
            <a:off x="1097280"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مفتوح المصدر</a:t>
            </a:r>
            <a:endParaRPr lang="ar-SA" sz="2200" dirty="0"/>
          </a:p>
        </p:txBody>
      </p:sp>
      <p:sp>
        <p:nvSpPr>
          <p:cNvPr id="19" name="anim-g3-118"/>
          <p:cNvSpPr/>
          <p:nvPr/>
        </p:nvSpPr>
        <p:spPr>
          <a:xfrm>
            <a:off x="1097280" y="3493008"/>
            <a:ext cx="278373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حرية التعديل والتعلّم</a:t>
            </a:r>
            <a:endParaRPr lang="ar-SA" sz="1900" dirty="0"/>
          </a:p>
        </p:txBody>
      </p:sp>
      <p:sp>
        <p:nvSpPr>
          <p:cNvPr id="20" name="anim-g4-119"/>
          <p:cNvSpPr/>
          <p:nvPr/>
        </p:nvSpPr>
        <p:spPr>
          <a:xfrm>
            <a:off x="8036357" y="4137660"/>
            <a:ext cx="333237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21" name="anim-g4-120"/>
          <p:cNvSpPr/>
          <p:nvPr/>
        </p:nvSpPr>
        <p:spPr>
          <a:xfrm>
            <a:off x="10527487" y="4393692"/>
            <a:ext cx="566928" cy="566928"/>
          </a:xfrm>
          <a:prstGeom prst="roundRect">
            <a:avLst>
              <a:gd name="adj" fmla="val 32258"/>
            </a:avLst>
          </a:prstGeom>
          <a:solidFill>
            <a:srgbClr val="F7E6BC"/>
          </a:solidFill>
          <a:ln/>
        </p:spPr>
      </p:sp>
      <p:sp>
        <p:nvSpPr>
          <p:cNvPr id="22" name="anim-g4-121"/>
          <p:cNvSpPr/>
          <p:nvPr/>
        </p:nvSpPr>
        <p:spPr>
          <a:xfrm>
            <a:off x="10527487" y="439369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23" name="anim-g4-122"/>
          <p:cNvSpPr/>
          <p:nvPr/>
        </p:nvSpPr>
        <p:spPr>
          <a:xfrm>
            <a:off x="8310677" y="507034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مكتبات جاهزة</a:t>
            </a:r>
            <a:endParaRPr lang="ar-SA" sz="2200" dirty="0"/>
          </a:p>
        </p:txBody>
      </p:sp>
      <p:sp>
        <p:nvSpPr>
          <p:cNvPr id="24" name="anim-g4-123"/>
          <p:cNvSpPr/>
          <p:nvPr/>
        </p:nvSpPr>
        <p:spPr>
          <a:xfrm>
            <a:off x="8310677" y="5618988"/>
            <a:ext cx="278373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لأي حساس أو محرك تقريبًا</a:t>
            </a:r>
            <a:endParaRPr lang="ar-SA" sz="1900" dirty="0"/>
          </a:p>
        </p:txBody>
      </p:sp>
      <p:sp>
        <p:nvSpPr>
          <p:cNvPr id="25" name="anim-g5-124"/>
          <p:cNvSpPr/>
          <p:nvPr/>
        </p:nvSpPr>
        <p:spPr>
          <a:xfrm>
            <a:off x="4429658" y="4137660"/>
            <a:ext cx="333237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26" name="anim-g5-125"/>
          <p:cNvSpPr/>
          <p:nvPr/>
        </p:nvSpPr>
        <p:spPr>
          <a:xfrm>
            <a:off x="6920789" y="4393692"/>
            <a:ext cx="566928" cy="566928"/>
          </a:xfrm>
          <a:prstGeom prst="roundRect">
            <a:avLst>
              <a:gd name="adj" fmla="val 32258"/>
            </a:avLst>
          </a:prstGeom>
          <a:solidFill>
            <a:srgbClr val="F7E6BC"/>
          </a:solidFill>
          <a:ln/>
        </p:spPr>
      </p:sp>
      <p:sp>
        <p:nvSpPr>
          <p:cNvPr id="27" name="anim-g5-126"/>
          <p:cNvSpPr/>
          <p:nvPr/>
        </p:nvSpPr>
        <p:spPr>
          <a:xfrm>
            <a:off x="6920789" y="439369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28" name="anim-g5-127"/>
          <p:cNvSpPr/>
          <p:nvPr/>
        </p:nvSpPr>
        <p:spPr>
          <a:xfrm>
            <a:off x="4703978" y="507034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مجتمع عالمي</a:t>
            </a:r>
            <a:endParaRPr lang="ar-SA" sz="2200" dirty="0"/>
          </a:p>
        </p:txBody>
      </p:sp>
      <p:sp>
        <p:nvSpPr>
          <p:cNvPr id="29" name="anim-g5-128"/>
          <p:cNvSpPr/>
          <p:nvPr/>
        </p:nvSpPr>
        <p:spPr>
          <a:xfrm>
            <a:off x="4703978" y="5618988"/>
            <a:ext cx="278373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حلول لأي مشكلة تواجهك</a:t>
            </a:r>
            <a:endParaRPr lang="ar-SA" sz="1900" dirty="0"/>
          </a:p>
        </p:txBody>
      </p:sp>
      <p:sp>
        <p:nvSpPr>
          <p:cNvPr id="30" name="anim-g6-129"/>
          <p:cNvSpPr/>
          <p:nvPr/>
        </p:nvSpPr>
        <p:spPr>
          <a:xfrm>
            <a:off x="822960" y="4137660"/>
            <a:ext cx="333237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31" name="anim-g6-130"/>
          <p:cNvSpPr/>
          <p:nvPr/>
        </p:nvSpPr>
        <p:spPr>
          <a:xfrm>
            <a:off x="3314090" y="4393692"/>
            <a:ext cx="566928" cy="566928"/>
          </a:xfrm>
          <a:prstGeom prst="roundRect">
            <a:avLst>
              <a:gd name="adj" fmla="val 32258"/>
            </a:avLst>
          </a:prstGeom>
          <a:solidFill>
            <a:srgbClr val="F7E6BC"/>
          </a:solidFill>
          <a:ln/>
        </p:spPr>
      </p:sp>
      <p:sp>
        <p:nvSpPr>
          <p:cNvPr id="32" name="anim-g6-131"/>
          <p:cNvSpPr/>
          <p:nvPr/>
        </p:nvSpPr>
        <p:spPr>
          <a:xfrm>
            <a:off x="3314090" y="439369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33" name="anim-g6-132"/>
          <p:cNvSpPr/>
          <p:nvPr/>
        </p:nvSpPr>
        <p:spPr>
          <a:xfrm>
            <a:off x="1097280" y="507034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كل الأنظمة</a:t>
            </a:r>
            <a:endParaRPr lang="ar-SA" sz="2200" dirty="0"/>
          </a:p>
        </p:txBody>
      </p:sp>
      <p:sp>
        <p:nvSpPr>
          <p:cNvPr id="34" name="anim-g6-133"/>
          <p:cNvSpPr/>
          <p:nvPr/>
        </p:nvSpPr>
        <p:spPr>
          <a:xfrm>
            <a:off x="1097280" y="5618988"/>
            <a:ext cx="278373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يعمل على ويندوز وماك ولينكس</a:t>
            </a:r>
            <a:endParaRPr lang="ar-SA" sz="1900" dirty="0"/>
          </a:p>
        </p:txBody>
      </p:sp>
      <p:sp>
        <p:nvSpPr>
          <p:cNvPr id="35" name="Text 3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الأردوينو للمعلمين</a:t>
            </a:r>
            <a:endParaRPr lang="ar-SA" sz="1200" dirty="0"/>
          </a:p>
        </p:txBody>
      </p:sp>
      <p:sp>
        <p:nvSpPr>
          <p:cNvPr id="36" name="Text 3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ما الأردوينو؟  ·  ١٦</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400"/>
                                        <p:tgtEl>
                                          <p:spTgt spid="2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400"/>
                                        <p:tgtEl>
                                          <p:spTgt spid="2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400"/>
                                        <p:tgtEl>
                                          <p:spTgt spid="2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400"/>
                                        <p:tgtEl>
                                          <p:spTgt spid="24"/>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25"/>
                                        </p:tgtEl>
                                        <p:attrNameLst>
                                          <p:attrName>style.visibility</p:attrName>
                                        </p:attrNameLst>
                                      </p:cBhvr>
                                      <p:to>
                                        <p:strVal val="visible"/>
                                      </p:to>
                                    </p:set>
                                    <p:animEffect transition="in" filter="fade">
                                      <p:cBhvr>
                                        <p:cTn id="75" dur="400"/>
                                        <p:tgtEl>
                                          <p:spTgt spid="25"/>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6"/>
                                        </p:tgtEl>
                                        <p:attrNameLst>
                                          <p:attrName>style.visibility</p:attrName>
                                        </p:attrNameLst>
                                      </p:cBhvr>
                                      <p:to>
                                        <p:strVal val="visible"/>
                                      </p:to>
                                    </p:set>
                                    <p:animEffect transition="in" filter="fade">
                                      <p:cBhvr>
                                        <p:cTn id="78" dur="400"/>
                                        <p:tgtEl>
                                          <p:spTgt spid="26"/>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7"/>
                                        </p:tgtEl>
                                        <p:attrNameLst>
                                          <p:attrName>style.visibility</p:attrName>
                                        </p:attrNameLst>
                                      </p:cBhvr>
                                      <p:to>
                                        <p:strVal val="visible"/>
                                      </p:to>
                                    </p:set>
                                    <p:animEffect transition="in" filter="fade">
                                      <p:cBhvr>
                                        <p:cTn id="81" dur="400"/>
                                        <p:tgtEl>
                                          <p:spTgt spid="27"/>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8"/>
                                        </p:tgtEl>
                                        <p:attrNameLst>
                                          <p:attrName>style.visibility</p:attrName>
                                        </p:attrNameLst>
                                      </p:cBhvr>
                                      <p:to>
                                        <p:strVal val="visible"/>
                                      </p:to>
                                    </p:set>
                                    <p:animEffect transition="in" filter="fade">
                                      <p:cBhvr>
                                        <p:cTn id="84" dur="400"/>
                                        <p:tgtEl>
                                          <p:spTgt spid="28"/>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29"/>
                                        </p:tgtEl>
                                        <p:attrNameLst>
                                          <p:attrName>style.visibility</p:attrName>
                                        </p:attrNameLst>
                                      </p:cBhvr>
                                      <p:to>
                                        <p:strVal val="visible"/>
                                      </p:to>
                                    </p:set>
                                    <p:animEffect transition="in" filter="fade">
                                      <p:cBhvr>
                                        <p:cTn id="87" dur="400"/>
                                        <p:tgtEl>
                                          <p:spTgt spid="29"/>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30"/>
                                        </p:tgtEl>
                                        <p:attrNameLst>
                                          <p:attrName>style.visibility</p:attrName>
                                        </p:attrNameLst>
                                      </p:cBhvr>
                                      <p:to>
                                        <p:strVal val="visible"/>
                                      </p:to>
                                    </p:set>
                                    <p:animEffect transition="in" filter="fade">
                                      <p:cBhvr>
                                        <p:cTn id="92" dur="400"/>
                                        <p:tgtEl>
                                          <p:spTgt spid="30"/>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31"/>
                                        </p:tgtEl>
                                        <p:attrNameLst>
                                          <p:attrName>style.visibility</p:attrName>
                                        </p:attrNameLst>
                                      </p:cBhvr>
                                      <p:to>
                                        <p:strVal val="visible"/>
                                      </p:to>
                                    </p:set>
                                    <p:animEffect transition="in" filter="fade">
                                      <p:cBhvr>
                                        <p:cTn id="95" dur="400"/>
                                        <p:tgtEl>
                                          <p:spTgt spid="31"/>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32"/>
                                        </p:tgtEl>
                                        <p:attrNameLst>
                                          <p:attrName>style.visibility</p:attrName>
                                        </p:attrNameLst>
                                      </p:cBhvr>
                                      <p:to>
                                        <p:strVal val="visible"/>
                                      </p:to>
                                    </p:set>
                                    <p:animEffect transition="in" filter="fade">
                                      <p:cBhvr>
                                        <p:cTn id="98" dur="400"/>
                                        <p:tgtEl>
                                          <p:spTgt spid="32"/>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33"/>
                                        </p:tgtEl>
                                        <p:attrNameLst>
                                          <p:attrName>style.visibility</p:attrName>
                                        </p:attrNameLst>
                                      </p:cBhvr>
                                      <p:to>
                                        <p:strVal val="visible"/>
                                      </p:to>
                                    </p:set>
                                    <p:animEffect transition="in" filter="fade">
                                      <p:cBhvr>
                                        <p:cTn id="101" dur="400"/>
                                        <p:tgtEl>
                                          <p:spTgt spid="33"/>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34"/>
                                        </p:tgtEl>
                                        <p:attrNameLst>
                                          <p:attrName>style.visibility</p:attrName>
                                        </p:attrNameLst>
                                      </p:cBhvr>
                                      <p:to>
                                        <p:strVal val="visible"/>
                                      </p:to>
                                    </p:set>
                                    <p:animEffect transition="in" filter="fade">
                                      <p:cBhvr>
                                        <p:cTn id="104"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81567" y="457200"/>
            <a:ext cx="2487168" cy="457200"/>
          </a:xfrm>
          <a:prstGeom prst="roundRect">
            <a:avLst>
              <a:gd name="adj" fmla="val 50000"/>
            </a:avLst>
          </a:prstGeom>
          <a:solidFill>
            <a:srgbClr val="F6EBCF"/>
          </a:solidFill>
          <a:ln/>
        </p:spPr>
      </p:sp>
      <p:sp>
        <p:nvSpPr>
          <p:cNvPr id="3" name="Text 1"/>
          <p:cNvSpPr/>
          <p:nvPr/>
        </p:nvSpPr>
        <p:spPr>
          <a:xfrm>
            <a:off x="8881567" y="45720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أشهر الأنواع</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أي لوحة تناسب مدرستك؟</a:t>
            </a:r>
            <a:endParaRPr lang="ar-SA" sz="3800" dirty="0"/>
          </a:p>
        </p:txBody>
      </p:sp>
      <p:sp>
        <p:nvSpPr>
          <p:cNvPr id="5" name="Shape 3"/>
          <p:cNvSpPr/>
          <p:nvPr/>
        </p:nvSpPr>
        <p:spPr>
          <a:xfrm>
            <a:off x="9422718" y="1874520"/>
            <a:ext cx="1946017" cy="548640"/>
          </a:xfrm>
          <a:prstGeom prst="roundRect">
            <a:avLst>
              <a:gd name="adj" fmla="val 20000"/>
            </a:avLst>
          </a:prstGeom>
          <a:solidFill>
            <a:srgbClr val="101B45"/>
          </a:solidFill>
          <a:ln/>
        </p:spPr>
      </p:sp>
      <p:sp>
        <p:nvSpPr>
          <p:cNvPr id="6" name="Text 4"/>
          <p:cNvSpPr/>
          <p:nvPr/>
        </p:nvSpPr>
        <p:spPr>
          <a:xfrm>
            <a:off x="9422718" y="1874520"/>
            <a:ext cx="1946017"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اللوحة</a:t>
            </a:r>
            <a:endParaRPr lang="ar-SA" sz="1900" dirty="0"/>
          </a:p>
        </p:txBody>
      </p:sp>
      <p:sp>
        <p:nvSpPr>
          <p:cNvPr id="7" name="Shape 5"/>
          <p:cNvSpPr/>
          <p:nvPr/>
        </p:nvSpPr>
        <p:spPr>
          <a:xfrm>
            <a:off x="6880468" y="1874520"/>
            <a:ext cx="2432522" cy="548640"/>
          </a:xfrm>
          <a:prstGeom prst="roundRect">
            <a:avLst>
              <a:gd name="adj" fmla="val 20000"/>
            </a:avLst>
          </a:prstGeom>
          <a:solidFill>
            <a:srgbClr val="101B45"/>
          </a:solidFill>
          <a:ln/>
        </p:spPr>
      </p:sp>
      <p:sp>
        <p:nvSpPr>
          <p:cNvPr id="8" name="Text 6"/>
          <p:cNvSpPr/>
          <p:nvPr/>
        </p:nvSpPr>
        <p:spPr>
          <a:xfrm>
            <a:off x="6880468" y="1874520"/>
            <a:ext cx="2432522"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المنافذ الرقمية</a:t>
            </a:r>
            <a:endParaRPr lang="ar-SA" sz="1900" dirty="0"/>
          </a:p>
        </p:txBody>
      </p:sp>
      <p:sp>
        <p:nvSpPr>
          <p:cNvPr id="9" name="Shape 7"/>
          <p:cNvSpPr/>
          <p:nvPr/>
        </p:nvSpPr>
        <p:spPr>
          <a:xfrm>
            <a:off x="5067975" y="1874520"/>
            <a:ext cx="1702765" cy="548640"/>
          </a:xfrm>
          <a:prstGeom prst="roundRect">
            <a:avLst>
              <a:gd name="adj" fmla="val 20000"/>
            </a:avLst>
          </a:prstGeom>
          <a:solidFill>
            <a:srgbClr val="101B45"/>
          </a:solidFill>
          <a:ln/>
        </p:spPr>
      </p:sp>
      <p:sp>
        <p:nvSpPr>
          <p:cNvPr id="10" name="Text 8"/>
          <p:cNvSpPr/>
          <p:nvPr/>
        </p:nvSpPr>
        <p:spPr>
          <a:xfrm>
            <a:off x="5067975" y="1874520"/>
            <a:ext cx="1702765"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التناظرية</a:t>
            </a:r>
            <a:endParaRPr lang="ar-SA" sz="1900" dirty="0"/>
          </a:p>
        </p:txBody>
      </p:sp>
      <p:sp>
        <p:nvSpPr>
          <p:cNvPr id="11" name="Shape 9"/>
          <p:cNvSpPr/>
          <p:nvPr/>
        </p:nvSpPr>
        <p:spPr>
          <a:xfrm>
            <a:off x="822960" y="1874520"/>
            <a:ext cx="4135287" cy="548640"/>
          </a:xfrm>
          <a:prstGeom prst="roundRect">
            <a:avLst>
              <a:gd name="adj" fmla="val 20000"/>
            </a:avLst>
          </a:prstGeom>
          <a:solidFill>
            <a:srgbClr val="101B45"/>
          </a:solidFill>
          <a:ln/>
        </p:spPr>
      </p:sp>
      <p:sp>
        <p:nvSpPr>
          <p:cNvPr id="12" name="Text 10"/>
          <p:cNvSpPr/>
          <p:nvPr/>
        </p:nvSpPr>
        <p:spPr>
          <a:xfrm>
            <a:off x="822960" y="1874520"/>
            <a:ext cx="4135287"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متى تختارها؟</a:t>
            </a:r>
            <a:endParaRPr lang="ar-SA" sz="1900" dirty="0"/>
          </a:p>
        </p:txBody>
      </p:sp>
      <p:sp>
        <p:nvSpPr>
          <p:cNvPr id="13" name="anim-g1-134"/>
          <p:cNvSpPr/>
          <p:nvPr/>
        </p:nvSpPr>
        <p:spPr>
          <a:xfrm>
            <a:off x="9422718" y="2514600"/>
            <a:ext cx="1946017" cy="1100328"/>
          </a:xfrm>
          <a:prstGeom prst="roundRect">
            <a:avLst>
              <a:gd name="adj" fmla="val 9972"/>
            </a:avLst>
          </a:prstGeom>
          <a:solidFill>
            <a:srgbClr val="FBF3DF"/>
          </a:solidFill>
          <a:ln w="12700">
            <a:solidFill>
              <a:srgbClr val="EFDDAF"/>
            </a:solidFill>
            <a:prstDash val="solid"/>
          </a:ln>
        </p:spPr>
      </p:sp>
      <p:sp>
        <p:nvSpPr>
          <p:cNvPr id="14" name="anim-g1-135"/>
          <p:cNvSpPr/>
          <p:nvPr/>
        </p:nvSpPr>
        <p:spPr>
          <a:xfrm>
            <a:off x="9559878" y="2514600"/>
            <a:ext cx="1671697"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Uno</a:t>
            </a:r>
            <a:endParaRPr lang="ar-SA" sz="2100" dirty="0"/>
          </a:p>
        </p:txBody>
      </p:sp>
      <p:sp>
        <p:nvSpPr>
          <p:cNvPr id="15" name="anim-g1-136"/>
          <p:cNvSpPr/>
          <p:nvPr/>
        </p:nvSpPr>
        <p:spPr>
          <a:xfrm>
            <a:off x="6880468" y="2514600"/>
            <a:ext cx="2432522" cy="1100328"/>
          </a:xfrm>
          <a:prstGeom prst="roundRect">
            <a:avLst>
              <a:gd name="adj" fmla="val 9972"/>
            </a:avLst>
          </a:prstGeom>
          <a:solidFill>
            <a:srgbClr val="FFFFFF"/>
          </a:solidFill>
          <a:ln w="12700">
            <a:solidFill>
              <a:srgbClr val="E4DCC8"/>
            </a:solidFill>
            <a:prstDash val="solid"/>
          </a:ln>
        </p:spPr>
      </p:sp>
      <p:sp>
        <p:nvSpPr>
          <p:cNvPr id="16" name="anim-g1-137"/>
          <p:cNvSpPr/>
          <p:nvPr/>
        </p:nvSpPr>
        <p:spPr>
          <a:xfrm>
            <a:off x="7017628" y="2514600"/>
            <a:ext cx="2158202"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14 (منها 6 PWM)</a:t>
            </a:r>
            <a:endParaRPr lang="ar-SA" sz="2100" dirty="0"/>
          </a:p>
        </p:txBody>
      </p:sp>
      <p:sp>
        <p:nvSpPr>
          <p:cNvPr id="17" name="anim-g1-138"/>
          <p:cNvSpPr/>
          <p:nvPr/>
        </p:nvSpPr>
        <p:spPr>
          <a:xfrm>
            <a:off x="5067975" y="2514600"/>
            <a:ext cx="1702765" cy="1100328"/>
          </a:xfrm>
          <a:prstGeom prst="roundRect">
            <a:avLst>
              <a:gd name="adj" fmla="val 9972"/>
            </a:avLst>
          </a:prstGeom>
          <a:solidFill>
            <a:srgbClr val="FFFFFF"/>
          </a:solidFill>
          <a:ln w="12700">
            <a:solidFill>
              <a:srgbClr val="E4DCC8"/>
            </a:solidFill>
            <a:prstDash val="solid"/>
          </a:ln>
        </p:spPr>
      </p:sp>
      <p:sp>
        <p:nvSpPr>
          <p:cNvPr id="18" name="anim-g1-139"/>
          <p:cNvSpPr/>
          <p:nvPr/>
        </p:nvSpPr>
        <p:spPr>
          <a:xfrm>
            <a:off x="5205135" y="2514600"/>
            <a:ext cx="1428445"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6</a:t>
            </a:r>
            <a:endParaRPr lang="ar-SA" sz="2100" dirty="0"/>
          </a:p>
        </p:txBody>
      </p:sp>
      <p:sp>
        <p:nvSpPr>
          <p:cNvPr id="19" name="anim-g1-140"/>
          <p:cNvSpPr/>
          <p:nvPr/>
        </p:nvSpPr>
        <p:spPr>
          <a:xfrm>
            <a:off x="822960" y="2514600"/>
            <a:ext cx="4135287" cy="1100328"/>
          </a:xfrm>
          <a:prstGeom prst="roundRect">
            <a:avLst>
              <a:gd name="adj" fmla="val 9972"/>
            </a:avLst>
          </a:prstGeom>
          <a:solidFill>
            <a:srgbClr val="E6F4EC"/>
          </a:solidFill>
          <a:ln w="12700">
            <a:solidFill>
              <a:srgbClr val="CDE9D9"/>
            </a:solidFill>
            <a:prstDash val="solid"/>
          </a:ln>
        </p:spPr>
      </p:sp>
      <p:sp>
        <p:nvSpPr>
          <p:cNvPr id="20" name="anim-g1-141"/>
          <p:cNvSpPr/>
          <p:nvPr/>
        </p:nvSpPr>
        <p:spPr>
          <a:xfrm>
            <a:off x="960120" y="2514600"/>
            <a:ext cx="3860967"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البداية والتعليم، وهي لوحتنا في الدورة</a:t>
            </a:r>
            <a:endParaRPr lang="ar-SA" sz="2100" dirty="0"/>
          </a:p>
        </p:txBody>
      </p:sp>
      <p:sp>
        <p:nvSpPr>
          <p:cNvPr id="21" name="anim-g2-142"/>
          <p:cNvSpPr/>
          <p:nvPr/>
        </p:nvSpPr>
        <p:spPr>
          <a:xfrm>
            <a:off x="9422718" y="3724656"/>
            <a:ext cx="1946017" cy="1100328"/>
          </a:xfrm>
          <a:prstGeom prst="roundRect">
            <a:avLst>
              <a:gd name="adj" fmla="val 9972"/>
            </a:avLst>
          </a:prstGeom>
          <a:solidFill>
            <a:srgbClr val="FBF3DF"/>
          </a:solidFill>
          <a:ln w="12700">
            <a:solidFill>
              <a:srgbClr val="EFDDAF"/>
            </a:solidFill>
            <a:prstDash val="solid"/>
          </a:ln>
        </p:spPr>
      </p:sp>
      <p:sp>
        <p:nvSpPr>
          <p:cNvPr id="22" name="anim-g2-143"/>
          <p:cNvSpPr/>
          <p:nvPr/>
        </p:nvSpPr>
        <p:spPr>
          <a:xfrm>
            <a:off x="9559878" y="3724656"/>
            <a:ext cx="1671697"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Nano</a:t>
            </a:r>
            <a:endParaRPr lang="ar-SA" sz="2100" dirty="0"/>
          </a:p>
        </p:txBody>
      </p:sp>
      <p:sp>
        <p:nvSpPr>
          <p:cNvPr id="23" name="anim-g2-144"/>
          <p:cNvSpPr/>
          <p:nvPr/>
        </p:nvSpPr>
        <p:spPr>
          <a:xfrm>
            <a:off x="6880468" y="3724656"/>
            <a:ext cx="2432522" cy="1100328"/>
          </a:xfrm>
          <a:prstGeom prst="roundRect">
            <a:avLst>
              <a:gd name="adj" fmla="val 9972"/>
            </a:avLst>
          </a:prstGeom>
          <a:solidFill>
            <a:srgbClr val="FFFFFF"/>
          </a:solidFill>
          <a:ln w="12700">
            <a:solidFill>
              <a:srgbClr val="E4DCC8"/>
            </a:solidFill>
            <a:prstDash val="solid"/>
          </a:ln>
        </p:spPr>
      </p:sp>
      <p:sp>
        <p:nvSpPr>
          <p:cNvPr id="24" name="anim-g2-145"/>
          <p:cNvSpPr/>
          <p:nvPr/>
        </p:nvSpPr>
        <p:spPr>
          <a:xfrm>
            <a:off x="7017628" y="3724656"/>
            <a:ext cx="2158202"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14 (منها 6 PWM)</a:t>
            </a:r>
            <a:endParaRPr lang="ar-SA" sz="2100" dirty="0"/>
          </a:p>
        </p:txBody>
      </p:sp>
      <p:sp>
        <p:nvSpPr>
          <p:cNvPr id="25" name="anim-g2-146"/>
          <p:cNvSpPr/>
          <p:nvPr/>
        </p:nvSpPr>
        <p:spPr>
          <a:xfrm>
            <a:off x="5067975" y="3724656"/>
            <a:ext cx="1702765" cy="1100328"/>
          </a:xfrm>
          <a:prstGeom prst="roundRect">
            <a:avLst>
              <a:gd name="adj" fmla="val 9972"/>
            </a:avLst>
          </a:prstGeom>
          <a:solidFill>
            <a:srgbClr val="FFFFFF"/>
          </a:solidFill>
          <a:ln w="12700">
            <a:solidFill>
              <a:srgbClr val="E4DCC8"/>
            </a:solidFill>
            <a:prstDash val="solid"/>
          </a:ln>
        </p:spPr>
      </p:sp>
      <p:sp>
        <p:nvSpPr>
          <p:cNvPr id="26" name="anim-g2-147"/>
          <p:cNvSpPr/>
          <p:nvPr/>
        </p:nvSpPr>
        <p:spPr>
          <a:xfrm>
            <a:off x="5205135" y="3724656"/>
            <a:ext cx="1428445"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8</a:t>
            </a:r>
            <a:endParaRPr lang="ar-SA" sz="2100" dirty="0"/>
          </a:p>
        </p:txBody>
      </p:sp>
      <p:sp>
        <p:nvSpPr>
          <p:cNvPr id="27" name="anim-g2-148"/>
          <p:cNvSpPr/>
          <p:nvPr/>
        </p:nvSpPr>
        <p:spPr>
          <a:xfrm>
            <a:off x="822960" y="3724656"/>
            <a:ext cx="4135287" cy="1100328"/>
          </a:xfrm>
          <a:prstGeom prst="roundRect">
            <a:avLst>
              <a:gd name="adj" fmla="val 9972"/>
            </a:avLst>
          </a:prstGeom>
          <a:solidFill>
            <a:srgbClr val="E6F4EC"/>
          </a:solidFill>
          <a:ln w="12700">
            <a:solidFill>
              <a:srgbClr val="CDE9D9"/>
            </a:solidFill>
            <a:prstDash val="solid"/>
          </a:ln>
        </p:spPr>
      </p:sp>
      <p:sp>
        <p:nvSpPr>
          <p:cNvPr id="28" name="anim-g2-149"/>
          <p:cNvSpPr/>
          <p:nvPr/>
        </p:nvSpPr>
        <p:spPr>
          <a:xfrm>
            <a:off x="960120" y="3724656"/>
            <a:ext cx="3860967"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المشاريع الصغيرة والروبوتات الخفيفة</a:t>
            </a:r>
            <a:endParaRPr lang="ar-SA" sz="2100" dirty="0"/>
          </a:p>
        </p:txBody>
      </p:sp>
      <p:sp>
        <p:nvSpPr>
          <p:cNvPr id="29" name="anim-g3-150"/>
          <p:cNvSpPr/>
          <p:nvPr/>
        </p:nvSpPr>
        <p:spPr>
          <a:xfrm>
            <a:off x="9422718" y="4934712"/>
            <a:ext cx="1946017" cy="1100328"/>
          </a:xfrm>
          <a:prstGeom prst="roundRect">
            <a:avLst>
              <a:gd name="adj" fmla="val 9972"/>
            </a:avLst>
          </a:prstGeom>
          <a:solidFill>
            <a:srgbClr val="FBF3DF"/>
          </a:solidFill>
          <a:ln w="12700">
            <a:solidFill>
              <a:srgbClr val="EFDDAF"/>
            </a:solidFill>
            <a:prstDash val="solid"/>
          </a:ln>
        </p:spPr>
      </p:sp>
      <p:sp>
        <p:nvSpPr>
          <p:cNvPr id="30" name="anim-g3-151"/>
          <p:cNvSpPr/>
          <p:nvPr/>
        </p:nvSpPr>
        <p:spPr>
          <a:xfrm>
            <a:off x="9559878" y="4934712"/>
            <a:ext cx="1671697"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Mega</a:t>
            </a:r>
            <a:endParaRPr lang="ar-SA" sz="2100" dirty="0"/>
          </a:p>
        </p:txBody>
      </p:sp>
      <p:sp>
        <p:nvSpPr>
          <p:cNvPr id="31" name="anim-g3-152"/>
          <p:cNvSpPr/>
          <p:nvPr/>
        </p:nvSpPr>
        <p:spPr>
          <a:xfrm>
            <a:off x="6880468" y="4934712"/>
            <a:ext cx="2432522" cy="1100328"/>
          </a:xfrm>
          <a:prstGeom prst="roundRect">
            <a:avLst>
              <a:gd name="adj" fmla="val 9972"/>
            </a:avLst>
          </a:prstGeom>
          <a:solidFill>
            <a:srgbClr val="FFFFFF"/>
          </a:solidFill>
          <a:ln w="12700">
            <a:solidFill>
              <a:srgbClr val="E4DCC8"/>
            </a:solidFill>
            <a:prstDash val="solid"/>
          </a:ln>
        </p:spPr>
      </p:sp>
      <p:sp>
        <p:nvSpPr>
          <p:cNvPr id="32" name="anim-g3-153"/>
          <p:cNvSpPr/>
          <p:nvPr/>
        </p:nvSpPr>
        <p:spPr>
          <a:xfrm>
            <a:off x="7017628" y="4934712"/>
            <a:ext cx="2158202"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54 (منها 15 PWM)</a:t>
            </a:r>
            <a:endParaRPr lang="ar-SA" sz="2100" dirty="0"/>
          </a:p>
        </p:txBody>
      </p:sp>
      <p:sp>
        <p:nvSpPr>
          <p:cNvPr id="33" name="anim-g3-154"/>
          <p:cNvSpPr/>
          <p:nvPr/>
        </p:nvSpPr>
        <p:spPr>
          <a:xfrm>
            <a:off x="5067975" y="4934712"/>
            <a:ext cx="1702765" cy="1100328"/>
          </a:xfrm>
          <a:prstGeom prst="roundRect">
            <a:avLst>
              <a:gd name="adj" fmla="val 9972"/>
            </a:avLst>
          </a:prstGeom>
          <a:solidFill>
            <a:srgbClr val="FFFFFF"/>
          </a:solidFill>
          <a:ln w="12700">
            <a:solidFill>
              <a:srgbClr val="E4DCC8"/>
            </a:solidFill>
            <a:prstDash val="solid"/>
          </a:ln>
        </p:spPr>
      </p:sp>
      <p:sp>
        <p:nvSpPr>
          <p:cNvPr id="34" name="anim-g3-155"/>
          <p:cNvSpPr/>
          <p:nvPr/>
        </p:nvSpPr>
        <p:spPr>
          <a:xfrm>
            <a:off x="5205135" y="4934712"/>
            <a:ext cx="1428445"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16</a:t>
            </a:r>
            <a:endParaRPr lang="ar-SA" sz="2100" dirty="0"/>
          </a:p>
        </p:txBody>
      </p:sp>
      <p:sp>
        <p:nvSpPr>
          <p:cNvPr id="35" name="anim-g3-156"/>
          <p:cNvSpPr/>
          <p:nvPr/>
        </p:nvSpPr>
        <p:spPr>
          <a:xfrm>
            <a:off x="822960" y="4934712"/>
            <a:ext cx="4135287" cy="1100328"/>
          </a:xfrm>
          <a:prstGeom prst="roundRect">
            <a:avLst>
              <a:gd name="adj" fmla="val 9972"/>
            </a:avLst>
          </a:prstGeom>
          <a:solidFill>
            <a:srgbClr val="E6F4EC"/>
          </a:solidFill>
          <a:ln w="12700">
            <a:solidFill>
              <a:srgbClr val="CDE9D9"/>
            </a:solidFill>
            <a:prstDash val="solid"/>
          </a:ln>
        </p:spPr>
      </p:sp>
      <p:sp>
        <p:nvSpPr>
          <p:cNvPr id="36" name="anim-g3-157"/>
          <p:cNvSpPr/>
          <p:nvPr/>
        </p:nvSpPr>
        <p:spPr>
          <a:xfrm>
            <a:off x="960120" y="4934712"/>
            <a:ext cx="3860967"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المشاريع الكبيرة كثيرة المكونات</a:t>
            </a:r>
            <a:endParaRPr lang="ar-SA" sz="2100" dirty="0"/>
          </a:p>
        </p:txBody>
      </p:sp>
      <p:sp>
        <p:nvSpPr>
          <p:cNvPr id="37" name="Text 3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الأردوينو للمعلمين</a:t>
            </a:r>
            <a:endParaRPr lang="ar-SA" sz="1200" dirty="0"/>
          </a:p>
        </p:txBody>
      </p:sp>
      <p:sp>
        <p:nvSpPr>
          <p:cNvPr id="38" name="Text 3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ما الأردوينو؟  ·  ١٧</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0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400"/>
                                        <p:tgtEl>
                                          <p:spTgt spid="1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40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400"/>
                                        <p:tgtEl>
                                          <p:spTgt spid="1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400"/>
                                        <p:tgtEl>
                                          <p:spTgt spid="1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fade">
                                      <p:cBhvr>
                                        <p:cTn id="33" dur="400"/>
                                        <p:tgtEl>
                                          <p:spTgt spid="2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2"/>
                                        </p:tgtEl>
                                        <p:attrNameLst>
                                          <p:attrName>style.visibility</p:attrName>
                                        </p:attrNameLst>
                                      </p:cBhvr>
                                      <p:to>
                                        <p:strVal val="visible"/>
                                      </p:to>
                                    </p:set>
                                    <p:animEffect transition="in" filter="fade">
                                      <p:cBhvr>
                                        <p:cTn id="36" dur="400"/>
                                        <p:tgtEl>
                                          <p:spTgt spid="22"/>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3"/>
                                        </p:tgtEl>
                                        <p:attrNameLst>
                                          <p:attrName>style.visibility</p:attrName>
                                        </p:attrNameLst>
                                      </p:cBhvr>
                                      <p:to>
                                        <p:strVal val="visible"/>
                                      </p:to>
                                    </p:set>
                                    <p:animEffect transition="in" filter="fade">
                                      <p:cBhvr>
                                        <p:cTn id="39" dur="400"/>
                                        <p:tgtEl>
                                          <p:spTgt spid="23"/>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4"/>
                                        </p:tgtEl>
                                        <p:attrNameLst>
                                          <p:attrName>style.visibility</p:attrName>
                                        </p:attrNameLst>
                                      </p:cBhvr>
                                      <p:to>
                                        <p:strVal val="visible"/>
                                      </p:to>
                                    </p:set>
                                    <p:animEffect transition="in" filter="fade">
                                      <p:cBhvr>
                                        <p:cTn id="42" dur="400"/>
                                        <p:tgtEl>
                                          <p:spTgt spid="24"/>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5"/>
                                        </p:tgtEl>
                                        <p:attrNameLst>
                                          <p:attrName>style.visibility</p:attrName>
                                        </p:attrNameLst>
                                      </p:cBhvr>
                                      <p:to>
                                        <p:strVal val="visible"/>
                                      </p:to>
                                    </p:set>
                                    <p:animEffect transition="in" filter="fade">
                                      <p:cBhvr>
                                        <p:cTn id="45" dur="400"/>
                                        <p:tgtEl>
                                          <p:spTgt spid="25"/>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6"/>
                                        </p:tgtEl>
                                        <p:attrNameLst>
                                          <p:attrName>style.visibility</p:attrName>
                                        </p:attrNameLst>
                                      </p:cBhvr>
                                      <p:to>
                                        <p:strVal val="visible"/>
                                      </p:to>
                                    </p:set>
                                    <p:animEffect transition="in" filter="fade">
                                      <p:cBhvr>
                                        <p:cTn id="48" dur="400"/>
                                        <p:tgtEl>
                                          <p:spTgt spid="26"/>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7"/>
                                        </p:tgtEl>
                                        <p:attrNameLst>
                                          <p:attrName>style.visibility</p:attrName>
                                        </p:attrNameLst>
                                      </p:cBhvr>
                                      <p:to>
                                        <p:strVal val="visible"/>
                                      </p:to>
                                    </p:set>
                                    <p:animEffect transition="in" filter="fade">
                                      <p:cBhvr>
                                        <p:cTn id="51" dur="400"/>
                                        <p:tgtEl>
                                          <p:spTgt spid="27"/>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8"/>
                                        </p:tgtEl>
                                        <p:attrNameLst>
                                          <p:attrName>style.visibility</p:attrName>
                                        </p:attrNameLst>
                                      </p:cBhvr>
                                      <p:to>
                                        <p:strVal val="visible"/>
                                      </p:to>
                                    </p:set>
                                    <p:animEffect transition="in" filter="fade">
                                      <p:cBhvr>
                                        <p:cTn id="54" dur="400"/>
                                        <p:tgtEl>
                                          <p:spTgt spid="28"/>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29"/>
                                        </p:tgtEl>
                                        <p:attrNameLst>
                                          <p:attrName>style.visibility</p:attrName>
                                        </p:attrNameLst>
                                      </p:cBhvr>
                                      <p:to>
                                        <p:strVal val="visible"/>
                                      </p:to>
                                    </p:set>
                                    <p:animEffect transition="in" filter="fade">
                                      <p:cBhvr>
                                        <p:cTn id="59" dur="400"/>
                                        <p:tgtEl>
                                          <p:spTgt spid="29"/>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30"/>
                                        </p:tgtEl>
                                        <p:attrNameLst>
                                          <p:attrName>style.visibility</p:attrName>
                                        </p:attrNameLst>
                                      </p:cBhvr>
                                      <p:to>
                                        <p:strVal val="visible"/>
                                      </p:to>
                                    </p:set>
                                    <p:animEffect transition="in" filter="fade">
                                      <p:cBhvr>
                                        <p:cTn id="62" dur="400"/>
                                        <p:tgtEl>
                                          <p:spTgt spid="30"/>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31"/>
                                        </p:tgtEl>
                                        <p:attrNameLst>
                                          <p:attrName>style.visibility</p:attrName>
                                        </p:attrNameLst>
                                      </p:cBhvr>
                                      <p:to>
                                        <p:strVal val="visible"/>
                                      </p:to>
                                    </p:set>
                                    <p:animEffect transition="in" filter="fade">
                                      <p:cBhvr>
                                        <p:cTn id="65" dur="400"/>
                                        <p:tgtEl>
                                          <p:spTgt spid="31"/>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32"/>
                                        </p:tgtEl>
                                        <p:attrNameLst>
                                          <p:attrName>style.visibility</p:attrName>
                                        </p:attrNameLst>
                                      </p:cBhvr>
                                      <p:to>
                                        <p:strVal val="visible"/>
                                      </p:to>
                                    </p:set>
                                    <p:animEffect transition="in" filter="fade">
                                      <p:cBhvr>
                                        <p:cTn id="68" dur="400"/>
                                        <p:tgtEl>
                                          <p:spTgt spid="32"/>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33"/>
                                        </p:tgtEl>
                                        <p:attrNameLst>
                                          <p:attrName>style.visibility</p:attrName>
                                        </p:attrNameLst>
                                      </p:cBhvr>
                                      <p:to>
                                        <p:strVal val="visible"/>
                                      </p:to>
                                    </p:set>
                                    <p:animEffect transition="in" filter="fade">
                                      <p:cBhvr>
                                        <p:cTn id="71" dur="400"/>
                                        <p:tgtEl>
                                          <p:spTgt spid="33"/>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34"/>
                                        </p:tgtEl>
                                        <p:attrNameLst>
                                          <p:attrName>style.visibility</p:attrName>
                                        </p:attrNameLst>
                                      </p:cBhvr>
                                      <p:to>
                                        <p:strVal val="visible"/>
                                      </p:to>
                                    </p:set>
                                    <p:animEffect transition="in" filter="fade">
                                      <p:cBhvr>
                                        <p:cTn id="74" dur="400"/>
                                        <p:tgtEl>
                                          <p:spTgt spid="34"/>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35"/>
                                        </p:tgtEl>
                                        <p:attrNameLst>
                                          <p:attrName>style.visibility</p:attrName>
                                        </p:attrNameLst>
                                      </p:cBhvr>
                                      <p:to>
                                        <p:strVal val="visible"/>
                                      </p:to>
                                    </p:set>
                                    <p:animEffect transition="in" filter="fade">
                                      <p:cBhvr>
                                        <p:cTn id="77" dur="400"/>
                                        <p:tgtEl>
                                          <p:spTgt spid="35"/>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36"/>
                                        </p:tgtEl>
                                        <p:attrNameLst>
                                          <p:attrName>style.visibility</p:attrName>
                                        </p:attrNameLst>
                                      </p:cBhvr>
                                      <p:to>
                                        <p:strVal val="visible"/>
                                      </p:to>
                                    </p:set>
                                    <p:animEffect transition="in" filter="fade">
                                      <p:cBhvr>
                                        <p:cTn id="80" dur="4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81567" y="457200"/>
            <a:ext cx="2487168" cy="457200"/>
          </a:xfrm>
          <a:prstGeom prst="roundRect">
            <a:avLst>
              <a:gd name="adj" fmla="val 50000"/>
            </a:avLst>
          </a:prstGeom>
          <a:solidFill>
            <a:srgbClr val="F6EBCF"/>
          </a:solidFill>
          <a:ln/>
        </p:spPr>
      </p:sp>
      <p:sp>
        <p:nvSpPr>
          <p:cNvPr id="3" name="Text 1"/>
          <p:cNvSpPr/>
          <p:nvPr/>
        </p:nvSpPr>
        <p:spPr>
          <a:xfrm>
            <a:off x="8881567" y="45720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اختبر نفسك</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مدرسة تبدأ تعليم الأردوينو لأول مرة… بماذا تنصحها؟</a:t>
            </a:r>
            <a:endParaRPr lang="ar-SA" sz="3200" dirty="0"/>
          </a:p>
        </p:txBody>
      </p:sp>
      <p:sp>
        <p:nvSpPr>
          <p:cNvPr id="5" name="Shape 3"/>
          <p:cNvSpPr/>
          <p:nvPr/>
        </p:nvSpPr>
        <p:spPr>
          <a:xfrm>
            <a:off x="822960" y="2057400"/>
            <a:ext cx="10545775" cy="1228344"/>
          </a:xfrm>
          <a:prstGeom prst="roundRect">
            <a:avLst>
              <a:gd name="adj" fmla="val 11911"/>
            </a:avLst>
          </a:prstGeom>
          <a:solidFill>
            <a:srgbClr val="FFFFFF"/>
          </a:solidFill>
          <a:ln w="19050">
            <a:solidFill>
              <a:srgbClr val="E4DCC8"/>
            </a:solidFill>
            <a:prstDash val="solid"/>
          </a:ln>
        </p:spPr>
      </p:sp>
      <p:sp>
        <p:nvSpPr>
          <p:cNvPr id="6" name="Shape 4"/>
          <p:cNvSpPr/>
          <p:nvPr/>
        </p:nvSpPr>
        <p:spPr>
          <a:xfrm>
            <a:off x="10231831" y="2194560"/>
            <a:ext cx="954024" cy="954024"/>
          </a:xfrm>
          <a:prstGeom prst="roundRect">
            <a:avLst>
              <a:gd name="adj" fmla="val 11502"/>
            </a:avLst>
          </a:prstGeom>
          <a:solidFill>
            <a:srgbClr val="101B45"/>
          </a:solidFill>
          <a:ln/>
        </p:spPr>
      </p:sp>
      <p:sp>
        <p:nvSpPr>
          <p:cNvPr id="7" name="Text 5"/>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8" name="Text 6"/>
          <p:cNvSpPr/>
          <p:nvPr/>
        </p:nvSpPr>
        <p:spPr>
          <a:xfrm>
            <a:off x="1097280" y="2057400"/>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لوحة Uno</a:t>
            </a:r>
            <a:endParaRPr lang="ar-SA" sz="2500" dirty="0"/>
          </a:p>
        </p:txBody>
      </p:sp>
      <p:sp>
        <p:nvSpPr>
          <p:cNvPr id="9" name="anim-g1-158"/>
          <p:cNvSpPr/>
          <p:nvPr/>
        </p:nvSpPr>
        <p:spPr>
          <a:xfrm>
            <a:off x="822960" y="2057400"/>
            <a:ext cx="10545775" cy="1228344"/>
          </a:xfrm>
          <a:prstGeom prst="roundRect">
            <a:avLst>
              <a:gd name="adj" fmla="val 11911"/>
            </a:avLst>
          </a:prstGeom>
          <a:solidFill>
            <a:srgbClr val="E6F4EC"/>
          </a:solidFill>
          <a:ln w="31750">
            <a:solidFill>
              <a:srgbClr val="2E9E6B"/>
            </a:solidFill>
            <a:prstDash val="solid"/>
          </a:ln>
        </p:spPr>
      </p:sp>
      <p:sp>
        <p:nvSpPr>
          <p:cNvPr id="10" name="anim-g1-159"/>
          <p:cNvSpPr/>
          <p:nvPr/>
        </p:nvSpPr>
        <p:spPr>
          <a:xfrm>
            <a:off x="10231831" y="2194560"/>
            <a:ext cx="954024" cy="954024"/>
          </a:xfrm>
          <a:prstGeom prst="roundRect">
            <a:avLst>
              <a:gd name="adj" fmla="val 11502"/>
            </a:avLst>
          </a:prstGeom>
          <a:solidFill>
            <a:srgbClr val="2E9E6B"/>
          </a:solidFill>
          <a:ln/>
        </p:spPr>
      </p:sp>
      <p:sp>
        <p:nvSpPr>
          <p:cNvPr id="11" name="anim-g1-160"/>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a:t>
            </a:r>
            <a:endParaRPr lang="ar-SA" sz="2400" dirty="0"/>
          </a:p>
        </p:txBody>
      </p:sp>
      <p:sp>
        <p:nvSpPr>
          <p:cNvPr id="12" name="anim-g1-161"/>
          <p:cNvSpPr/>
          <p:nvPr/>
        </p:nvSpPr>
        <p:spPr>
          <a:xfrm>
            <a:off x="1097280" y="2093976"/>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131B34"/>
                </a:solidFill>
                <a:latin typeface="Cairo" pitchFamily="34" charset="0"/>
                <a:ea typeface="Cairo" pitchFamily="34" charset="-122"/>
                <a:cs typeface="Cairo" pitchFamily="34" charset="-120"/>
              </a:rPr>
              <a:t>لوحة Uno</a:t>
            </a:r>
            <a:endParaRPr lang="ar-SA" sz="2400" dirty="0"/>
          </a:p>
        </p:txBody>
      </p:sp>
      <p:sp>
        <p:nvSpPr>
          <p:cNvPr id="13" name="anim-g1-162"/>
          <p:cNvSpPr/>
          <p:nvPr/>
        </p:nvSpPr>
        <p:spPr>
          <a:xfrm>
            <a:off x="1097280" y="2720706"/>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1D5E40"/>
                </a:solidFill>
                <a:latin typeface="Cairo" pitchFamily="34" charset="0"/>
                <a:ea typeface="Cairo" pitchFamily="34" charset="-122"/>
                <a:cs typeface="Cairo" pitchFamily="34" charset="-120"/>
              </a:rPr>
              <a:t>الأسهل للمبتدئ، وأكثر لوحة لها دروس وأمثلة</a:t>
            </a:r>
            <a:endParaRPr lang="ar-SA" sz="1800" dirty="0"/>
          </a:p>
        </p:txBody>
      </p:sp>
      <p:sp>
        <p:nvSpPr>
          <p:cNvPr id="14" name="Shape 12"/>
          <p:cNvSpPr/>
          <p:nvPr/>
        </p:nvSpPr>
        <p:spPr>
          <a:xfrm>
            <a:off x="822960" y="3432048"/>
            <a:ext cx="10545775" cy="1228344"/>
          </a:xfrm>
          <a:prstGeom prst="roundRect">
            <a:avLst>
              <a:gd name="adj" fmla="val 11911"/>
            </a:avLst>
          </a:prstGeom>
          <a:solidFill>
            <a:srgbClr val="FFFFFF"/>
          </a:solidFill>
          <a:ln w="19050">
            <a:solidFill>
              <a:srgbClr val="E4DCC8"/>
            </a:solidFill>
            <a:prstDash val="solid"/>
          </a:ln>
        </p:spPr>
      </p:sp>
      <p:sp>
        <p:nvSpPr>
          <p:cNvPr id="15" name="Shape 13"/>
          <p:cNvSpPr/>
          <p:nvPr/>
        </p:nvSpPr>
        <p:spPr>
          <a:xfrm>
            <a:off x="10231831" y="3569208"/>
            <a:ext cx="954024" cy="954024"/>
          </a:xfrm>
          <a:prstGeom prst="roundRect">
            <a:avLst>
              <a:gd name="adj" fmla="val 11502"/>
            </a:avLst>
          </a:prstGeom>
          <a:solidFill>
            <a:srgbClr val="101B45"/>
          </a:solidFill>
          <a:ln/>
        </p:spPr>
      </p:sp>
      <p:sp>
        <p:nvSpPr>
          <p:cNvPr id="16" name="Text 14"/>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17" name="Text 15"/>
          <p:cNvSpPr/>
          <p:nvPr/>
        </p:nvSpPr>
        <p:spPr>
          <a:xfrm>
            <a:off x="1097280" y="3432048"/>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لوحة Mega</a:t>
            </a:r>
            <a:endParaRPr lang="ar-SA" sz="2500" dirty="0"/>
          </a:p>
        </p:txBody>
      </p:sp>
      <p:sp>
        <p:nvSpPr>
          <p:cNvPr id="18" name="anim-g1-163"/>
          <p:cNvSpPr/>
          <p:nvPr/>
        </p:nvSpPr>
        <p:spPr>
          <a:xfrm>
            <a:off x="822960" y="3432048"/>
            <a:ext cx="10545775" cy="1228344"/>
          </a:xfrm>
          <a:prstGeom prst="roundRect">
            <a:avLst>
              <a:gd name="adj" fmla="val 11911"/>
            </a:avLst>
          </a:prstGeom>
          <a:solidFill>
            <a:srgbClr val="F7F7F9"/>
          </a:solidFill>
          <a:ln w="19050">
            <a:solidFill>
              <a:srgbClr val="E4DCC8"/>
            </a:solidFill>
            <a:prstDash val="solid"/>
          </a:ln>
        </p:spPr>
      </p:sp>
      <p:sp>
        <p:nvSpPr>
          <p:cNvPr id="19" name="anim-g1-164"/>
          <p:cNvSpPr/>
          <p:nvPr/>
        </p:nvSpPr>
        <p:spPr>
          <a:xfrm>
            <a:off x="10231831" y="3569208"/>
            <a:ext cx="954024" cy="954024"/>
          </a:xfrm>
          <a:prstGeom prst="roundRect">
            <a:avLst>
              <a:gd name="adj" fmla="val 11502"/>
            </a:avLst>
          </a:prstGeom>
          <a:solidFill>
            <a:srgbClr val="A3A9BA"/>
          </a:solidFill>
          <a:ln/>
        </p:spPr>
      </p:sp>
      <p:sp>
        <p:nvSpPr>
          <p:cNvPr id="20" name="anim-g1-165"/>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21" name="anim-g1-166"/>
          <p:cNvSpPr/>
          <p:nvPr/>
        </p:nvSpPr>
        <p:spPr>
          <a:xfrm>
            <a:off x="1097280" y="3468624"/>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لوحة Mega</a:t>
            </a:r>
            <a:endParaRPr lang="ar-SA" sz="2400" dirty="0"/>
          </a:p>
        </p:txBody>
      </p:sp>
      <p:sp>
        <p:nvSpPr>
          <p:cNvPr id="22" name="anim-g1-167"/>
          <p:cNvSpPr/>
          <p:nvPr/>
        </p:nvSpPr>
        <p:spPr>
          <a:xfrm>
            <a:off x="1097280" y="4095354"/>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قوية، لكن منافذها الكثيرة تربك المبتدئ</a:t>
            </a:r>
            <a:endParaRPr lang="ar-SA" sz="1800" dirty="0"/>
          </a:p>
        </p:txBody>
      </p:sp>
      <p:sp>
        <p:nvSpPr>
          <p:cNvPr id="23" name="Shape 21"/>
          <p:cNvSpPr/>
          <p:nvPr/>
        </p:nvSpPr>
        <p:spPr>
          <a:xfrm>
            <a:off x="822960" y="4806696"/>
            <a:ext cx="10545775" cy="1228344"/>
          </a:xfrm>
          <a:prstGeom prst="roundRect">
            <a:avLst>
              <a:gd name="adj" fmla="val 11911"/>
            </a:avLst>
          </a:prstGeom>
          <a:solidFill>
            <a:srgbClr val="FFFFFF"/>
          </a:solidFill>
          <a:ln w="19050">
            <a:solidFill>
              <a:srgbClr val="E4DCC8"/>
            </a:solidFill>
            <a:prstDash val="solid"/>
          </a:ln>
        </p:spPr>
      </p:sp>
      <p:sp>
        <p:nvSpPr>
          <p:cNvPr id="24" name="Shape 22"/>
          <p:cNvSpPr/>
          <p:nvPr/>
        </p:nvSpPr>
        <p:spPr>
          <a:xfrm>
            <a:off x="10231831" y="4943856"/>
            <a:ext cx="954024" cy="954024"/>
          </a:xfrm>
          <a:prstGeom prst="roundRect">
            <a:avLst>
              <a:gd name="adj" fmla="val 11502"/>
            </a:avLst>
          </a:prstGeom>
          <a:solidFill>
            <a:srgbClr val="101B45"/>
          </a:solidFill>
          <a:ln/>
        </p:spPr>
      </p:sp>
      <p:sp>
        <p:nvSpPr>
          <p:cNvPr id="25" name="Text 23"/>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26" name="Text 24"/>
          <p:cNvSpPr/>
          <p:nvPr/>
        </p:nvSpPr>
        <p:spPr>
          <a:xfrm>
            <a:off x="1097280" y="4806696"/>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لوحة Nano</a:t>
            </a:r>
            <a:endParaRPr lang="ar-SA" sz="2500" dirty="0"/>
          </a:p>
        </p:txBody>
      </p:sp>
      <p:sp>
        <p:nvSpPr>
          <p:cNvPr id="27" name="anim-g1-168"/>
          <p:cNvSpPr/>
          <p:nvPr/>
        </p:nvSpPr>
        <p:spPr>
          <a:xfrm>
            <a:off x="822960" y="4806696"/>
            <a:ext cx="10545775" cy="1228344"/>
          </a:xfrm>
          <a:prstGeom prst="roundRect">
            <a:avLst>
              <a:gd name="adj" fmla="val 11911"/>
            </a:avLst>
          </a:prstGeom>
          <a:solidFill>
            <a:srgbClr val="F7F7F9"/>
          </a:solidFill>
          <a:ln w="19050">
            <a:solidFill>
              <a:srgbClr val="E4DCC8"/>
            </a:solidFill>
            <a:prstDash val="solid"/>
          </a:ln>
        </p:spPr>
      </p:sp>
      <p:sp>
        <p:nvSpPr>
          <p:cNvPr id="28" name="anim-g1-169"/>
          <p:cNvSpPr/>
          <p:nvPr/>
        </p:nvSpPr>
        <p:spPr>
          <a:xfrm>
            <a:off x="10231831" y="4943856"/>
            <a:ext cx="954024" cy="954024"/>
          </a:xfrm>
          <a:prstGeom prst="roundRect">
            <a:avLst>
              <a:gd name="adj" fmla="val 11502"/>
            </a:avLst>
          </a:prstGeom>
          <a:solidFill>
            <a:srgbClr val="A3A9BA"/>
          </a:solidFill>
          <a:ln/>
        </p:spPr>
      </p:sp>
      <p:sp>
        <p:nvSpPr>
          <p:cNvPr id="29" name="anim-g1-170"/>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30" name="anim-g1-171"/>
          <p:cNvSpPr/>
          <p:nvPr/>
        </p:nvSpPr>
        <p:spPr>
          <a:xfrm>
            <a:off x="1097280" y="4843272"/>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لوحة Nano</a:t>
            </a:r>
            <a:endParaRPr lang="ar-SA" sz="2400" dirty="0"/>
          </a:p>
        </p:txBody>
      </p:sp>
      <p:sp>
        <p:nvSpPr>
          <p:cNvPr id="31" name="anim-g1-172"/>
          <p:cNvSpPr/>
          <p:nvPr/>
        </p:nvSpPr>
        <p:spPr>
          <a:xfrm>
            <a:off x="1097280" y="5470002"/>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ممتازة للمشاريع الصغيرة، لكن تركيبها على لوح التوصيل أصعب قليلًا للبداية</a:t>
            </a:r>
            <a:endParaRPr lang="ar-SA" sz="1800" dirty="0"/>
          </a:p>
        </p:txBody>
      </p:sp>
      <p:sp>
        <p:nvSpPr>
          <p:cNvPr id="32" name="Text 30"/>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الأردوينو للمعلمين</a:t>
            </a:r>
            <a:endParaRPr lang="ar-SA" sz="1200" dirty="0"/>
          </a:p>
        </p:txBody>
      </p:sp>
      <p:sp>
        <p:nvSpPr>
          <p:cNvPr id="33" name="Text 31"/>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ما الأردوينو؟  ·  ١٨</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00"/>
                                        <p:tgtEl>
                                          <p:spTgt spid="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00"/>
                                        <p:tgtEl>
                                          <p:spTgt spid="2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400"/>
                                        <p:tgtEl>
                                          <p:spTgt spid="2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400"/>
                                        <p:tgtEl>
                                          <p:spTgt spid="3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fade">
                                      <p:cBhvr>
                                        <p:cTn id="4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8" grpId="0" animBg="1"/>
      <p:bldP spid="19" grpId="0" animBg="1"/>
      <p:bldP spid="20" grpId="0" animBg="1"/>
      <p:bldP spid="21" grpId="0" animBg="1"/>
      <p:bldP spid="22" grpId="0" animBg="1"/>
      <p:bldP spid="27" grpId="0" animBg="1"/>
      <p:bldP spid="28" grpId="0" animBg="1"/>
      <p:bldP spid="29" grpId="0" animBg="1"/>
      <p:bldP spid="30" grpId="0" animBg="1"/>
      <p:bldP spid="31"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Users/mac/Desktop/أردوينو/المشاريع والكتب/younes-training/arduino/.pptx-cache/s1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Users/mac/Desktop/أردوينو/المشاريع والكتب/younes-training/arduino/.pptx-cache/s2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852264" y="1188720"/>
            <a:ext cx="2487168"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852264" y="118872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خلاصة المحور</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فكرة بسيطة في مقهى صغير…</a:t>
            </a:r>
            <a:endParaRPr lang="ar-SA" sz="4400" dirty="0"/>
          </a:p>
          <a:p>
            <a:pPr algn="ctr" indent="0" marL="0">
              <a:lnSpc>
                <a:spcPct val="115000"/>
              </a:lnSpc>
              <a:buNone/>
            </a:pPr>
            <a:r>
              <a:rPr lang="ar-SA" altLang="en-US" sz="4400" dirty="0">
                <a:solidFill>
                  <a:srgbClr val="F0CC7A"/>
                </a:solidFill>
                <a:latin typeface="Cairo Black" pitchFamily="34" charset="0"/>
                <a:ea typeface="Cairo Black" pitchFamily="34" charset="-122"/>
                <a:cs typeface="Cairo Black" pitchFamily="34" charset="-120"/>
              </a:rPr>
              <a:t> صارت أشهر منصة لتعليم الإلكترونيات في العالم</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الأردوينو للمعلمين</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ما الأردوينو؟  ·  ٢١</a:t>
            </a:r>
            <a:endParaRPr lang="ar-SA"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97280" y="2103120"/>
            <a:ext cx="2651760" cy="2651760"/>
          </a:xfrm>
          <a:prstGeom prst="ellipse">
            <a:avLst/>
          </a:prstGeom>
          <a:solidFill>
            <a:srgbClr val="D9AE4B">
              <a:alpha val="12000"/>
            </a:srgbClr>
          </a:solidFill>
          <a:ln w="63500">
            <a:solidFill>
              <a:srgbClr val="D9AE4B">
                <a:alpha val="60000"/>
              </a:srgbClr>
            </a:solidFill>
            <a:prstDash val="solid"/>
          </a:ln>
        </p:spPr>
      </p:sp>
      <p:sp>
        <p:nvSpPr>
          <p:cNvPr id="3" name="Text 1"/>
          <p:cNvSpPr/>
          <p:nvPr/>
        </p:nvSpPr>
        <p:spPr>
          <a:xfrm>
            <a:off x="1097280" y="2103120"/>
            <a:ext cx="2651760" cy="2651760"/>
          </a:xfrm>
          <a:prstGeom prst="rect">
            <a:avLst/>
          </a:prstGeom>
          <a:noFill/>
          <a:ln/>
        </p:spPr>
        <p:txBody>
          <a:bodyPr wrap="square" lIns="0" tIns="0" rIns="0" bIns="0" rtlCol="0" anchor="ctr">
            <a:normAutofit/>
          </a:bodyPr>
          <a:lstStyle/>
          <a:p>
            <a:pPr rtl="1" algn="ctr" indent="0" marL="0">
              <a:buNone/>
            </a:pPr>
            <a:r>
              <a:rPr lang="ar-SA" altLang="en-US" sz="12000" dirty="0">
                <a:solidFill>
                  <a:srgbClr val="F0CC7A"/>
                </a:solidFill>
                <a:latin typeface="Cairo Black" pitchFamily="34" charset="0"/>
                <a:ea typeface="Cairo Black" pitchFamily="34" charset="-122"/>
                <a:cs typeface="Cairo Black" pitchFamily="34" charset="-120"/>
              </a:rPr>
              <a:t>٢</a:t>
            </a:r>
            <a:endParaRPr lang="ar-SA" sz="12000" dirty="0"/>
          </a:p>
        </p:txBody>
      </p:sp>
      <p:sp>
        <p:nvSpPr>
          <p:cNvPr id="4" name="Text 2"/>
          <p:cNvSpPr/>
          <p:nvPr/>
        </p:nvSpPr>
        <p:spPr>
          <a:xfrm>
            <a:off x="4206240" y="1828800"/>
            <a:ext cx="7162495" cy="457200"/>
          </a:xfrm>
          <a:prstGeom prst="rect">
            <a:avLst/>
          </a:prstGeom>
          <a:noFill/>
          <a:ln/>
        </p:spPr>
        <p:txBody>
          <a:bodyPr wrap="square" lIns="0" tIns="0" rIns="0" bIns="0" rtlCol="0" anchor="ctr">
            <a:normAutofit/>
          </a:bodyPr>
          <a:lstStyle/>
          <a:p>
            <a:pPr rtl="1" algn="r" indent="0" marL="0">
              <a:buNone/>
            </a:pPr>
            <a:r>
              <a:rPr lang="ar-SA" altLang="en-US" sz="2000" b="1" dirty="0">
                <a:solidFill>
                  <a:srgbClr val="D9AE4B"/>
                </a:solidFill>
                <a:latin typeface="Cairo" pitchFamily="34" charset="0"/>
                <a:ea typeface="Cairo" pitchFamily="34" charset="-122"/>
                <a:cs typeface="Cairo" pitchFamily="34" charset="-120"/>
              </a:rPr>
              <a:t>المحور ٢</a:t>
            </a:r>
            <a:endParaRPr lang="ar-SA" sz="2000" dirty="0"/>
          </a:p>
        </p:txBody>
      </p:sp>
      <p:sp>
        <p:nvSpPr>
          <p:cNvPr id="5" name="Text 3"/>
          <p:cNvSpPr/>
          <p:nvPr/>
        </p:nvSpPr>
        <p:spPr>
          <a:xfrm>
            <a:off x="4206240" y="2286000"/>
            <a:ext cx="7162495" cy="1371600"/>
          </a:xfrm>
          <a:prstGeom prst="rect">
            <a:avLst/>
          </a:prstGeom>
          <a:noFill/>
          <a:ln/>
        </p:spPr>
        <p:txBody>
          <a:bodyPr wrap="square" lIns="0" tIns="0" rIns="0" bIns="0" rtlCol="0" anchor="ctr">
            <a:normAutofit/>
          </a:bodyPr>
          <a:lstStyle/>
          <a:p>
            <a:pPr rtl="1" algn="r" indent="0" marL="0">
              <a:buNone/>
            </a:pPr>
            <a:r>
              <a:rPr lang="ar-SA" altLang="en-US" sz="5600" dirty="0">
                <a:solidFill>
                  <a:srgbClr val="FFFFFF"/>
                </a:solidFill>
                <a:latin typeface="Cairo Black" pitchFamily="34" charset="0"/>
                <a:ea typeface="Cairo Black" pitchFamily="34" charset="-122"/>
                <a:cs typeface="Cairo Black" pitchFamily="34" charset="-120"/>
              </a:rPr>
              <a:t>تشريح لوحة Uno</a:t>
            </a:r>
            <a:endParaRPr lang="ar-SA" sz="5600" dirty="0"/>
          </a:p>
        </p:txBody>
      </p:sp>
      <p:sp>
        <p:nvSpPr>
          <p:cNvPr id="6" name="Text 4"/>
          <p:cNvSpPr/>
          <p:nvPr/>
        </p:nvSpPr>
        <p:spPr>
          <a:xfrm>
            <a:off x="4206240" y="3749040"/>
            <a:ext cx="7162495" cy="822960"/>
          </a:xfrm>
          <a:prstGeom prst="rect">
            <a:avLst/>
          </a:prstGeom>
          <a:noFill/>
          <a:ln/>
        </p:spPr>
        <p:txBody>
          <a:bodyPr wrap="square" lIns="0" tIns="0" rIns="0" bIns="0" rtlCol="0" anchor="ctr">
            <a:normAutofit/>
          </a:bodyPr>
          <a:lstStyle/>
          <a:p>
            <a:pPr rtl="1" algn="r" indent="0" marL="0">
              <a:buNone/>
            </a:pPr>
            <a:r>
              <a:rPr lang="ar-SA" altLang="en-US" sz="2200" b="1" dirty="0">
                <a:solidFill>
                  <a:srgbClr val="C9CFE6"/>
                </a:solidFill>
                <a:latin typeface="Cairo" pitchFamily="34" charset="0"/>
                <a:ea typeface="Cairo" pitchFamily="34" charset="-122"/>
                <a:cs typeface="Cairo" pitchFamily="34" charset="-120"/>
              </a:rPr>
              <a:t>تعرّف على كل جزء… قبل أن تكتب أول سطر</a:t>
            </a:r>
            <a:endParaRPr lang="ar-SA" sz="2200" dirty="0"/>
          </a:p>
        </p:txBody>
      </p:sp>
      <p:sp>
        <p:nvSpPr>
          <p:cNvPr id="7" name="Text 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الأردوينو للمعلمين</a:t>
            </a:r>
            <a:endParaRPr lang="ar-SA" sz="1200" dirty="0"/>
          </a:p>
        </p:txBody>
      </p:sp>
      <p:sp>
        <p:nvSpPr>
          <p:cNvPr id="8" name="Text 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تشريح لوحة Uno  ·  ٢٢</a:t>
            </a:r>
            <a:endParaRPr lang="ar-SA"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248095" y="457200"/>
            <a:ext cx="5120640" cy="457200"/>
          </a:xfrm>
          <a:prstGeom prst="roundRect">
            <a:avLst>
              <a:gd name="adj" fmla="val 50000"/>
            </a:avLst>
          </a:prstGeom>
          <a:solidFill>
            <a:srgbClr val="F6EBCF"/>
          </a:solidFill>
          <a:ln/>
        </p:spPr>
      </p:sp>
      <p:sp>
        <p:nvSpPr>
          <p:cNvPr id="3" name="Text 1"/>
          <p:cNvSpPr/>
          <p:nvPr/>
        </p:nvSpPr>
        <p:spPr>
          <a:xfrm>
            <a:off x="6248095" y="457200"/>
            <a:ext cx="512064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بنهاية هذا المحور تستطيع أن</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أهداف المحور</a:t>
            </a:r>
            <a:endParaRPr lang="ar-SA" sz="3800" dirty="0"/>
          </a:p>
        </p:txBody>
      </p:sp>
      <p:sp>
        <p:nvSpPr>
          <p:cNvPr id="5" name="anim-g1-173"/>
          <p:cNvSpPr/>
          <p:nvPr/>
        </p:nvSpPr>
        <p:spPr>
          <a:xfrm>
            <a:off x="822960" y="1920240"/>
            <a:ext cx="10545775" cy="946404"/>
          </a:xfrm>
          <a:prstGeom prst="roundRect">
            <a:avLst>
              <a:gd name="adj" fmla="val 15459"/>
            </a:avLst>
          </a:prstGeom>
          <a:solidFill>
            <a:srgbClr val="FFFFFF"/>
          </a:solidFill>
          <a:ln w="12700">
            <a:solidFill>
              <a:srgbClr val="E4DCC8"/>
            </a:solidFill>
            <a:prstDash val="solid"/>
          </a:ln>
        </p:spPr>
      </p:sp>
      <p:sp>
        <p:nvSpPr>
          <p:cNvPr id="6" name="anim-g1-174"/>
          <p:cNvSpPr/>
          <p:nvPr/>
        </p:nvSpPr>
        <p:spPr>
          <a:xfrm>
            <a:off x="10573207" y="2109978"/>
            <a:ext cx="566928" cy="566928"/>
          </a:xfrm>
          <a:prstGeom prst="ellipse">
            <a:avLst/>
          </a:prstGeom>
          <a:solidFill>
            <a:srgbClr val="D9AE4B"/>
          </a:solidFill>
          <a:ln/>
        </p:spPr>
      </p:sp>
      <p:sp>
        <p:nvSpPr>
          <p:cNvPr id="7" name="anim-g1-175"/>
          <p:cNvSpPr/>
          <p:nvPr/>
        </p:nvSpPr>
        <p:spPr>
          <a:xfrm>
            <a:off x="10573207" y="2109978"/>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١</a:t>
            </a:r>
            <a:endParaRPr lang="ar-SA" sz="2000" dirty="0"/>
          </a:p>
        </p:txBody>
      </p:sp>
      <p:sp>
        <p:nvSpPr>
          <p:cNvPr id="8" name="anim-g1-176"/>
          <p:cNvSpPr/>
          <p:nvPr/>
        </p:nvSpPr>
        <p:spPr>
          <a:xfrm>
            <a:off x="1097280" y="1920240"/>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تسمّي الأجزاء الرئيسية للوحة Uno</a:t>
            </a:r>
            <a:endParaRPr lang="ar-SA" sz="2400" dirty="0"/>
          </a:p>
        </p:txBody>
      </p:sp>
      <p:sp>
        <p:nvSpPr>
          <p:cNvPr id="9" name="anim-g2-177"/>
          <p:cNvSpPr/>
          <p:nvPr/>
        </p:nvSpPr>
        <p:spPr>
          <a:xfrm>
            <a:off x="822960" y="2976372"/>
            <a:ext cx="10545775" cy="946404"/>
          </a:xfrm>
          <a:prstGeom prst="roundRect">
            <a:avLst>
              <a:gd name="adj" fmla="val 15459"/>
            </a:avLst>
          </a:prstGeom>
          <a:solidFill>
            <a:srgbClr val="FFFFFF"/>
          </a:solidFill>
          <a:ln w="12700">
            <a:solidFill>
              <a:srgbClr val="E4DCC8"/>
            </a:solidFill>
            <a:prstDash val="solid"/>
          </a:ln>
        </p:spPr>
      </p:sp>
      <p:sp>
        <p:nvSpPr>
          <p:cNvPr id="10" name="anim-g2-178"/>
          <p:cNvSpPr/>
          <p:nvPr/>
        </p:nvSpPr>
        <p:spPr>
          <a:xfrm>
            <a:off x="10573207" y="3166110"/>
            <a:ext cx="566928" cy="566928"/>
          </a:xfrm>
          <a:prstGeom prst="ellipse">
            <a:avLst/>
          </a:prstGeom>
          <a:solidFill>
            <a:srgbClr val="D9AE4B"/>
          </a:solidFill>
          <a:ln/>
        </p:spPr>
      </p:sp>
      <p:sp>
        <p:nvSpPr>
          <p:cNvPr id="11" name="anim-g2-179"/>
          <p:cNvSpPr/>
          <p:nvPr/>
        </p:nvSpPr>
        <p:spPr>
          <a:xfrm>
            <a:off x="10573207" y="3166110"/>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٢</a:t>
            </a:r>
            <a:endParaRPr lang="ar-SA" sz="2000" dirty="0"/>
          </a:p>
        </p:txBody>
      </p:sp>
      <p:sp>
        <p:nvSpPr>
          <p:cNvPr id="12" name="anim-g2-180"/>
          <p:cNvSpPr/>
          <p:nvPr/>
        </p:nvSpPr>
        <p:spPr>
          <a:xfrm>
            <a:off x="1097280" y="2976372"/>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تشرح وظيفة كل جزء بلغة يفهمها طالبك</a:t>
            </a:r>
            <a:endParaRPr lang="ar-SA" sz="2400" dirty="0"/>
          </a:p>
        </p:txBody>
      </p:sp>
      <p:sp>
        <p:nvSpPr>
          <p:cNvPr id="13" name="anim-g3-181"/>
          <p:cNvSpPr/>
          <p:nvPr/>
        </p:nvSpPr>
        <p:spPr>
          <a:xfrm>
            <a:off x="822960" y="4032504"/>
            <a:ext cx="10545775" cy="946404"/>
          </a:xfrm>
          <a:prstGeom prst="roundRect">
            <a:avLst>
              <a:gd name="adj" fmla="val 15459"/>
            </a:avLst>
          </a:prstGeom>
          <a:solidFill>
            <a:srgbClr val="FFFFFF"/>
          </a:solidFill>
          <a:ln w="12700">
            <a:solidFill>
              <a:srgbClr val="E4DCC8"/>
            </a:solidFill>
            <a:prstDash val="solid"/>
          </a:ln>
        </p:spPr>
      </p:sp>
      <p:sp>
        <p:nvSpPr>
          <p:cNvPr id="14" name="anim-g3-182"/>
          <p:cNvSpPr/>
          <p:nvPr/>
        </p:nvSpPr>
        <p:spPr>
          <a:xfrm>
            <a:off x="10573207" y="4222242"/>
            <a:ext cx="566928" cy="566928"/>
          </a:xfrm>
          <a:prstGeom prst="ellipse">
            <a:avLst/>
          </a:prstGeom>
          <a:solidFill>
            <a:srgbClr val="D9AE4B"/>
          </a:solidFill>
          <a:ln/>
        </p:spPr>
      </p:sp>
      <p:sp>
        <p:nvSpPr>
          <p:cNvPr id="15" name="anim-g3-183"/>
          <p:cNvSpPr/>
          <p:nvPr/>
        </p:nvSpPr>
        <p:spPr>
          <a:xfrm>
            <a:off x="10573207" y="4222242"/>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٣</a:t>
            </a:r>
            <a:endParaRPr lang="ar-SA" sz="2000" dirty="0"/>
          </a:p>
        </p:txBody>
      </p:sp>
      <p:sp>
        <p:nvSpPr>
          <p:cNvPr id="16" name="anim-g3-184"/>
          <p:cNvSpPr/>
          <p:nvPr/>
        </p:nvSpPr>
        <p:spPr>
          <a:xfrm>
            <a:off x="1097280" y="4032504"/>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تفرّق بين المنافذ الرقمية والتناظرية ومنافذ الطاقة</a:t>
            </a:r>
            <a:endParaRPr lang="ar-SA" sz="2400" dirty="0"/>
          </a:p>
        </p:txBody>
      </p:sp>
      <p:sp>
        <p:nvSpPr>
          <p:cNvPr id="17" name="anim-g4-185"/>
          <p:cNvSpPr/>
          <p:nvPr/>
        </p:nvSpPr>
        <p:spPr>
          <a:xfrm>
            <a:off x="822960" y="5088636"/>
            <a:ext cx="10545775" cy="946404"/>
          </a:xfrm>
          <a:prstGeom prst="roundRect">
            <a:avLst>
              <a:gd name="adj" fmla="val 15459"/>
            </a:avLst>
          </a:prstGeom>
          <a:solidFill>
            <a:srgbClr val="FFFFFF"/>
          </a:solidFill>
          <a:ln w="12700">
            <a:solidFill>
              <a:srgbClr val="E4DCC8"/>
            </a:solidFill>
            <a:prstDash val="solid"/>
          </a:ln>
        </p:spPr>
      </p:sp>
      <p:sp>
        <p:nvSpPr>
          <p:cNvPr id="18" name="anim-g4-186"/>
          <p:cNvSpPr/>
          <p:nvPr/>
        </p:nvSpPr>
        <p:spPr>
          <a:xfrm>
            <a:off x="10573207" y="5278374"/>
            <a:ext cx="566928" cy="566928"/>
          </a:xfrm>
          <a:prstGeom prst="ellipse">
            <a:avLst/>
          </a:prstGeom>
          <a:solidFill>
            <a:srgbClr val="D9AE4B"/>
          </a:solidFill>
          <a:ln/>
        </p:spPr>
      </p:sp>
      <p:sp>
        <p:nvSpPr>
          <p:cNvPr id="19" name="anim-g4-187"/>
          <p:cNvSpPr/>
          <p:nvPr/>
        </p:nvSpPr>
        <p:spPr>
          <a:xfrm>
            <a:off x="10573207" y="5278374"/>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٤</a:t>
            </a:r>
            <a:endParaRPr lang="ar-SA" sz="2000" dirty="0"/>
          </a:p>
        </p:txBody>
      </p:sp>
      <p:sp>
        <p:nvSpPr>
          <p:cNvPr id="20" name="anim-g4-188"/>
          <p:cNvSpPr/>
          <p:nvPr/>
        </p:nvSpPr>
        <p:spPr>
          <a:xfrm>
            <a:off x="1097280" y="5088636"/>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تغذّي اللوحة بالطاقة بأمان</a:t>
            </a:r>
            <a:endParaRPr lang="ar-SA" sz="2400" dirty="0"/>
          </a:p>
        </p:txBody>
      </p:sp>
      <p:sp>
        <p:nvSpPr>
          <p:cNvPr id="21" name="Text 19"/>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الأردوينو للمعلمين</a:t>
            </a:r>
            <a:endParaRPr lang="ar-SA" sz="1200" dirty="0"/>
          </a:p>
        </p:txBody>
      </p:sp>
      <p:sp>
        <p:nvSpPr>
          <p:cNvPr id="22" name="Text 20"/>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تشريح لوحة Uno  ·  ٢٣</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Users/mac/Desktop/أردوينو/المشاريع والكتب/younes-training/arduino/.pptx-cache/s2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9027871" y="457200"/>
            <a:ext cx="2340864" cy="457200"/>
          </a:xfrm>
          <a:prstGeom prst="roundRect">
            <a:avLst>
              <a:gd name="adj" fmla="val 50000"/>
            </a:avLst>
          </a:prstGeom>
          <a:solidFill>
            <a:srgbClr val="F6EBCF"/>
          </a:solidFill>
          <a:ln/>
        </p:spPr>
      </p:sp>
      <p:sp>
        <p:nvSpPr>
          <p:cNvPr id="3" name="Text 1"/>
          <p:cNvSpPr/>
          <p:nvPr/>
        </p:nvSpPr>
        <p:spPr>
          <a:xfrm>
            <a:off x="9027871" y="457200"/>
            <a:ext cx="2340864"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ثلاث عائلات</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المنافذ: أين نوصل المكونات؟</a:t>
            </a:r>
            <a:endParaRPr lang="ar-SA" sz="3800" dirty="0"/>
          </a:p>
        </p:txBody>
      </p:sp>
      <p:sp>
        <p:nvSpPr>
          <p:cNvPr id="5" name="anim-g1-189"/>
          <p:cNvSpPr/>
          <p:nvPr/>
        </p:nvSpPr>
        <p:spPr>
          <a:xfrm>
            <a:off x="8036357" y="2148840"/>
            <a:ext cx="3332378" cy="35661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190"/>
          <p:cNvSpPr/>
          <p:nvPr/>
        </p:nvSpPr>
        <p:spPr>
          <a:xfrm>
            <a:off x="10362895" y="2404872"/>
            <a:ext cx="731520" cy="731520"/>
          </a:xfrm>
          <a:prstGeom prst="roundRect">
            <a:avLst>
              <a:gd name="adj" fmla="val 25000"/>
            </a:avLst>
          </a:prstGeom>
          <a:solidFill>
            <a:srgbClr val="F7E6BC"/>
          </a:solidFill>
          <a:ln/>
        </p:spPr>
      </p:sp>
      <p:sp>
        <p:nvSpPr>
          <p:cNvPr id="7" name="anim-g1-191"/>
          <p:cNvSpPr/>
          <p:nvPr/>
        </p:nvSpPr>
        <p:spPr>
          <a:xfrm>
            <a:off x="10362895"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8" name="anim-g1-192"/>
          <p:cNvSpPr/>
          <p:nvPr/>
        </p:nvSpPr>
        <p:spPr>
          <a:xfrm>
            <a:off x="8310677" y="3246120"/>
            <a:ext cx="2783738"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الرقمية 0–13</a:t>
            </a:r>
            <a:endParaRPr lang="ar-SA" sz="2300" dirty="0"/>
          </a:p>
        </p:txBody>
      </p:sp>
      <p:sp>
        <p:nvSpPr>
          <p:cNvPr id="9" name="anim-g1-193"/>
          <p:cNvSpPr/>
          <p:nvPr/>
        </p:nvSpPr>
        <p:spPr>
          <a:xfrm>
            <a:off x="8310677" y="3794760"/>
            <a:ext cx="2783738"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حالتان فقط: HIGH (٥ فولت) أو LOW (صفر). و~ تعني أنها تدعم PWM</a:t>
            </a:r>
            <a:endParaRPr lang="ar-SA" sz="2100" dirty="0"/>
          </a:p>
        </p:txBody>
      </p:sp>
      <p:sp>
        <p:nvSpPr>
          <p:cNvPr id="10" name="anim-g2-194"/>
          <p:cNvSpPr/>
          <p:nvPr/>
        </p:nvSpPr>
        <p:spPr>
          <a:xfrm>
            <a:off x="4429658" y="2148840"/>
            <a:ext cx="3332378" cy="35661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195"/>
          <p:cNvSpPr/>
          <p:nvPr/>
        </p:nvSpPr>
        <p:spPr>
          <a:xfrm>
            <a:off x="6756197" y="2404872"/>
            <a:ext cx="731520" cy="731520"/>
          </a:xfrm>
          <a:prstGeom prst="roundRect">
            <a:avLst>
              <a:gd name="adj" fmla="val 25000"/>
            </a:avLst>
          </a:prstGeom>
          <a:solidFill>
            <a:srgbClr val="F7E6BC"/>
          </a:solidFill>
          <a:ln/>
        </p:spPr>
      </p:sp>
      <p:sp>
        <p:nvSpPr>
          <p:cNvPr id="12" name="anim-g2-196"/>
          <p:cNvSpPr/>
          <p:nvPr/>
        </p:nvSpPr>
        <p:spPr>
          <a:xfrm>
            <a:off x="6756197"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13" name="anim-g2-197"/>
          <p:cNvSpPr/>
          <p:nvPr/>
        </p:nvSpPr>
        <p:spPr>
          <a:xfrm>
            <a:off x="4703978" y="3246120"/>
            <a:ext cx="2783738"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التناظرية A0–A5</a:t>
            </a:r>
            <a:endParaRPr lang="ar-SA" sz="2300" dirty="0"/>
          </a:p>
        </p:txBody>
      </p:sp>
      <p:sp>
        <p:nvSpPr>
          <p:cNvPr id="14" name="anim-g2-198"/>
          <p:cNvSpPr/>
          <p:nvPr/>
        </p:nvSpPr>
        <p:spPr>
          <a:xfrm>
            <a:off x="4703978" y="3794760"/>
            <a:ext cx="2783738"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تقرأ جهدًا متدرجًا وتحوّله إلى رقم من 0 إلى 1023</a:t>
            </a:r>
            <a:endParaRPr lang="ar-SA" sz="2100" dirty="0"/>
          </a:p>
        </p:txBody>
      </p:sp>
      <p:sp>
        <p:nvSpPr>
          <p:cNvPr id="15" name="anim-g3-199"/>
          <p:cNvSpPr/>
          <p:nvPr/>
        </p:nvSpPr>
        <p:spPr>
          <a:xfrm>
            <a:off x="822960" y="2148840"/>
            <a:ext cx="3332378" cy="35661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200"/>
          <p:cNvSpPr/>
          <p:nvPr/>
        </p:nvSpPr>
        <p:spPr>
          <a:xfrm>
            <a:off x="3149498" y="2404872"/>
            <a:ext cx="731520" cy="731520"/>
          </a:xfrm>
          <a:prstGeom prst="roundRect">
            <a:avLst>
              <a:gd name="adj" fmla="val 25000"/>
            </a:avLst>
          </a:prstGeom>
          <a:solidFill>
            <a:srgbClr val="F7E6BC"/>
          </a:solidFill>
          <a:ln/>
        </p:spPr>
      </p:sp>
      <p:sp>
        <p:nvSpPr>
          <p:cNvPr id="17" name="anim-g3-201"/>
          <p:cNvSpPr/>
          <p:nvPr/>
        </p:nvSpPr>
        <p:spPr>
          <a:xfrm>
            <a:off x="3149498"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18" name="anim-g3-202"/>
          <p:cNvSpPr/>
          <p:nvPr/>
        </p:nvSpPr>
        <p:spPr>
          <a:xfrm>
            <a:off x="1097280" y="3246120"/>
            <a:ext cx="2783738"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الطاقة</a:t>
            </a:r>
            <a:endParaRPr lang="ar-SA" sz="2300" dirty="0"/>
          </a:p>
        </p:txBody>
      </p:sp>
      <p:sp>
        <p:nvSpPr>
          <p:cNvPr id="19" name="anim-g3-203"/>
          <p:cNvSpPr/>
          <p:nvPr/>
        </p:nvSpPr>
        <p:spPr>
          <a:xfrm>
            <a:off x="1097280" y="3794760"/>
            <a:ext cx="2783738"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GND السالب، و5V و3.3V للتغذية، وVin لجهد خارجي</a:t>
            </a:r>
            <a:endParaRPr lang="ar-SA" sz="21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الأردوينو للمعلمين</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تشريح لوحة Uno  ·  ٢٥</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340200" y="1188720"/>
            <a:ext cx="3511296"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340200" y="1188720"/>
            <a:ext cx="351129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تشبيه يفهمه كل طالب</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الرقمي مثل مفتاح النور: يُشعل أو يُطفئ…</a:t>
            </a:r>
            <a:endParaRPr lang="ar-SA" sz="4400" dirty="0"/>
          </a:p>
          <a:p>
            <a:pPr algn="ctr" indent="0" marL="0">
              <a:lnSpc>
                <a:spcPct val="115000"/>
              </a:lnSpc>
              <a:buNone/>
            </a:pPr>
            <a:r>
              <a:rPr lang="ar-SA" altLang="en-US" sz="4400" dirty="0">
                <a:solidFill>
                  <a:srgbClr val="F0CC7A"/>
                </a:solidFill>
                <a:latin typeface="Cairo Black" pitchFamily="34" charset="0"/>
                <a:ea typeface="Cairo Black" pitchFamily="34" charset="-122"/>
                <a:cs typeface="Cairo Black" pitchFamily="34" charset="-120"/>
              </a:rPr>
              <a:t> والتناظري مثل مقبض الصوت: يتدرّج</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الأردوينو للمعلمين</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تشريح لوحة Uno  ·  ٢٦</a:t>
            </a:r>
            <a:endParaRPr lang="ar-SA"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81567" y="457200"/>
            <a:ext cx="2487168" cy="457200"/>
          </a:xfrm>
          <a:prstGeom prst="roundRect">
            <a:avLst>
              <a:gd name="adj" fmla="val 50000"/>
            </a:avLst>
          </a:prstGeom>
          <a:solidFill>
            <a:srgbClr val="F6EBCF"/>
          </a:solidFill>
          <a:ln/>
        </p:spPr>
      </p:sp>
      <p:sp>
        <p:nvSpPr>
          <p:cNvPr id="3" name="Text 1"/>
          <p:cNvSpPr/>
          <p:nvPr/>
        </p:nvSpPr>
        <p:spPr>
          <a:xfrm>
            <a:off x="8881567" y="45720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اختبر نفسك</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أين الليد الذي تبرمجه دون أي توصيل؟</a:t>
            </a:r>
            <a:endParaRPr lang="ar-SA" sz="3200" dirty="0"/>
          </a:p>
        </p:txBody>
      </p:sp>
      <p:sp>
        <p:nvSpPr>
          <p:cNvPr id="5" name="Shape 3"/>
          <p:cNvSpPr/>
          <p:nvPr/>
        </p:nvSpPr>
        <p:spPr>
          <a:xfrm>
            <a:off x="822960" y="2057400"/>
            <a:ext cx="10545775" cy="1228344"/>
          </a:xfrm>
          <a:prstGeom prst="roundRect">
            <a:avLst>
              <a:gd name="adj" fmla="val 11911"/>
            </a:avLst>
          </a:prstGeom>
          <a:solidFill>
            <a:srgbClr val="FFFFFF"/>
          </a:solidFill>
          <a:ln w="19050">
            <a:solidFill>
              <a:srgbClr val="E4DCC8"/>
            </a:solidFill>
            <a:prstDash val="solid"/>
          </a:ln>
        </p:spPr>
      </p:sp>
      <p:sp>
        <p:nvSpPr>
          <p:cNvPr id="6" name="Shape 4"/>
          <p:cNvSpPr/>
          <p:nvPr/>
        </p:nvSpPr>
        <p:spPr>
          <a:xfrm>
            <a:off x="10231831" y="2194560"/>
            <a:ext cx="954024" cy="954024"/>
          </a:xfrm>
          <a:prstGeom prst="roundRect">
            <a:avLst>
              <a:gd name="adj" fmla="val 11502"/>
            </a:avLst>
          </a:prstGeom>
          <a:solidFill>
            <a:srgbClr val="101B45"/>
          </a:solidFill>
          <a:ln/>
        </p:spPr>
      </p:sp>
      <p:sp>
        <p:nvSpPr>
          <p:cNvPr id="7" name="Text 5"/>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8" name="Text 6"/>
          <p:cNvSpPr/>
          <p:nvPr/>
        </p:nvSpPr>
        <p:spPr>
          <a:xfrm>
            <a:off x="1097280" y="2057400"/>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متصل بالمنفذ 13</a:t>
            </a:r>
            <a:endParaRPr lang="ar-SA" sz="2500" dirty="0"/>
          </a:p>
        </p:txBody>
      </p:sp>
      <p:sp>
        <p:nvSpPr>
          <p:cNvPr id="9" name="anim-g1-204"/>
          <p:cNvSpPr/>
          <p:nvPr/>
        </p:nvSpPr>
        <p:spPr>
          <a:xfrm>
            <a:off x="822960" y="2057400"/>
            <a:ext cx="10545775" cy="1228344"/>
          </a:xfrm>
          <a:prstGeom prst="roundRect">
            <a:avLst>
              <a:gd name="adj" fmla="val 11911"/>
            </a:avLst>
          </a:prstGeom>
          <a:solidFill>
            <a:srgbClr val="E6F4EC"/>
          </a:solidFill>
          <a:ln w="31750">
            <a:solidFill>
              <a:srgbClr val="2E9E6B"/>
            </a:solidFill>
            <a:prstDash val="solid"/>
          </a:ln>
        </p:spPr>
      </p:sp>
      <p:sp>
        <p:nvSpPr>
          <p:cNvPr id="10" name="anim-g1-205"/>
          <p:cNvSpPr/>
          <p:nvPr/>
        </p:nvSpPr>
        <p:spPr>
          <a:xfrm>
            <a:off x="10231831" y="2194560"/>
            <a:ext cx="954024" cy="954024"/>
          </a:xfrm>
          <a:prstGeom prst="roundRect">
            <a:avLst>
              <a:gd name="adj" fmla="val 11502"/>
            </a:avLst>
          </a:prstGeom>
          <a:solidFill>
            <a:srgbClr val="2E9E6B"/>
          </a:solidFill>
          <a:ln/>
        </p:spPr>
      </p:sp>
      <p:sp>
        <p:nvSpPr>
          <p:cNvPr id="11" name="anim-g1-206"/>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a:t>
            </a:r>
            <a:endParaRPr lang="ar-SA" sz="2400" dirty="0"/>
          </a:p>
        </p:txBody>
      </p:sp>
      <p:sp>
        <p:nvSpPr>
          <p:cNvPr id="12" name="anim-g1-207"/>
          <p:cNvSpPr/>
          <p:nvPr/>
        </p:nvSpPr>
        <p:spPr>
          <a:xfrm>
            <a:off x="1097280" y="2093976"/>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131B34"/>
                </a:solidFill>
                <a:latin typeface="Cairo" pitchFamily="34" charset="0"/>
                <a:ea typeface="Cairo" pitchFamily="34" charset="-122"/>
                <a:cs typeface="Cairo" pitchFamily="34" charset="-120"/>
              </a:rPr>
              <a:t>متصل بالمنفذ 13</a:t>
            </a:r>
            <a:endParaRPr lang="ar-SA" sz="2400" dirty="0"/>
          </a:p>
        </p:txBody>
      </p:sp>
      <p:sp>
        <p:nvSpPr>
          <p:cNvPr id="13" name="anim-g1-208"/>
          <p:cNvSpPr/>
          <p:nvPr/>
        </p:nvSpPr>
        <p:spPr>
          <a:xfrm>
            <a:off x="1097280" y="2720706"/>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1D5E40"/>
                </a:solidFill>
                <a:latin typeface="Cairo" pitchFamily="34" charset="0"/>
                <a:ea typeface="Cairo" pitchFamily="34" charset="-122"/>
                <a:cs typeface="Cairo" pitchFamily="34" charset="-120"/>
              </a:rPr>
              <a:t>الليد المدمج L متصل بالمنفذ 13 داخل اللوحة</a:t>
            </a:r>
            <a:endParaRPr lang="ar-SA" sz="1800" dirty="0"/>
          </a:p>
        </p:txBody>
      </p:sp>
      <p:sp>
        <p:nvSpPr>
          <p:cNvPr id="14" name="Shape 12"/>
          <p:cNvSpPr/>
          <p:nvPr/>
        </p:nvSpPr>
        <p:spPr>
          <a:xfrm>
            <a:off x="822960" y="3432048"/>
            <a:ext cx="10545775" cy="1228344"/>
          </a:xfrm>
          <a:prstGeom prst="roundRect">
            <a:avLst>
              <a:gd name="adj" fmla="val 11911"/>
            </a:avLst>
          </a:prstGeom>
          <a:solidFill>
            <a:srgbClr val="FFFFFF"/>
          </a:solidFill>
          <a:ln w="19050">
            <a:solidFill>
              <a:srgbClr val="E4DCC8"/>
            </a:solidFill>
            <a:prstDash val="solid"/>
          </a:ln>
        </p:spPr>
      </p:sp>
      <p:sp>
        <p:nvSpPr>
          <p:cNvPr id="15" name="Shape 13"/>
          <p:cNvSpPr/>
          <p:nvPr/>
        </p:nvSpPr>
        <p:spPr>
          <a:xfrm>
            <a:off x="10231831" y="3569208"/>
            <a:ext cx="954024" cy="954024"/>
          </a:xfrm>
          <a:prstGeom prst="roundRect">
            <a:avLst>
              <a:gd name="adj" fmla="val 11502"/>
            </a:avLst>
          </a:prstGeom>
          <a:solidFill>
            <a:srgbClr val="101B45"/>
          </a:solidFill>
          <a:ln/>
        </p:spPr>
      </p:sp>
      <p:sp>
        <p:nvSpPr>
          <p:cNvPr id="16" name="Text 14"/>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17" name="Text 15"/>
          <p:cNvSpPr/>
          <p:nvPr/>
        </p:nvSpPr>
        <p:spPr>
          <a:xfrm>
            <a:off x="1097280" y="3432048"/>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متصل بالمنفذ A0</a:t>
            </a:r>
            <a:endParaRPr lang="ar-SA" sz="2500" dirty="0"/>
          </a:p>
        </p:txBody>
      </p:sp>
      <p:sp>
        <p:nvSpPr>
          <p:cNvPr id="18" name="anim-g1-209"/>
          <p:cNvSpPr/>
          <p:nvPr/>
        </p:nvSpPr>
        <p:spPr>
          <a:xfrm>
            <a:off x="822960" y="3432048"/>
            <a:ext cx="10545775" cy="1228344"/>
          </a:xfrm>
          <a:prstGeom prst="roundRect">
            <a:avLst>
              <a:gd name="adj" fmla="val 11911"/>
            </a:avLst>
          </a:prstGeom>
          <a:solidFill>
            <a:srgbClr val="F7F7F9"/>
          </a:solidFill>
          <a:ln w="19050">
            <a:solidFill>
              <a:srgbClr val="E4DCC8"/>
            </a:solidFill>
            <a:prstDash val="solid"/>
          </a:ln>
        </p:spPr>
      </p:sp>
      <p:sp>
        <p:nvSpPr>
          <p:cNvPr id="19" name="anim-g1-210"/>
          <p:cNvSpPr/>
          <p:nvPr/>
        </p:nvSpPr>
        <p:spPr>
          <a:xfrm>
            <a:off x="10231831" y="3569208"/>
            <a:ext cx="954024" cy="954024"/>
          </a:xfrm>
          <a:prstGeom prst="roundRect">
            <a:avLst>
              <a:gd name="adj" fmla="val 11502"/>
            </a:avLst>
          </a:prstGeom>
          <a:solidFill>
            <a:srgbClr val="A3A9BA"/>
          </a:solidFill>
          <a:ln/>
        </p:spPr>
      </p:sp>
      <p:sp>
        <p:nvSpPr>
          <p:cNvPr id="20" name="anim-g1-211"/>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21" name="anim-g1-212"/>
          <p:cNvSpPr/>
          <p:nvPr/>
        </p:nvSpPr>
        <p:spPr>
          <a:xfrm>
            <a:off x="1097280" y="3468624"/>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متصل بالمنفذ A0</a:t>
            </a:r>
            <a:endParaRPr lang="ar-SA" sz="2400" dirty="0"/>
          </a:p>
        </p:txBody>
      </p:sp>
      <p:sp>
        <p:nvSpPr>
          <p:cNvPr id="22" name="anim-g1-213"/>
          <p:cNvSpPr/>
          <p:nvPr/>
        </p:nvSpPr>
        <p:spPr>
          <a:xfrm>
            <a:off x="1097280" y="4095354"/>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A0 منفذ تناظري للقراءة، لا يوجد عليه ليد</a:t>
            </a:r>
            <a:endParaRPr lang="ar-SA" sz="1800" dirty="0"/>
          </a:p>
        </p:txBody>
      </p:sp>
      <p:sp>
        <p:nvSpPr>
          <p:cNvPr id="23" name="Shape 21"/>
          <p:cNvSpPr/>
          <p:nvPr/>
        </p:nvSpPr>
        <p:spPr>
          <a:xfrm>
            <a:off x="822960" y="4806696"/>
            <a:ext cx="10545775" cy="1228344"/>
          </a:xfrm>
          <a:prstGeom prst="roundRect">
            <a:avLst>
              <a:gd name="adj" fmla="val 11911"/>
            </a:avLst>
          </a:prstGeom>
          <a:solidFill>
            <a:srgbClr val="FFFFFF"/>
          </a:solidFill>
          <a:ln w="19050">
            <a:solidFill>
              <a:srgbClr val="E4DCC8"/>
            </a:solidFill>
            <a:prstDash val="solid"/>
          </a:ln>
        </p:spPr>
      </p:sp>
      <p:sp>
        <p:nvSpPr>
          <p:cNvPr id="24" name="Shape 22"/>
          <p:cNvSpPr/>
          <p:nvPr/>
        </p:nvSpPr>
        <p:spPr>
          <a:xfrm>
            <a:off x="10231831" y="4943856"/>
            <a:ext cx="954024" cy="954024"/>
          </a:xfrm>
          <a:prstGeom prst="roundRect">
            <a:avLst>
              <a:gd name="adj" fmla="val 11502"/>
            </a:avLst>
          </a:prstGeom>
          <a:solidFill>
            <a:srgbClr val="101B45"/>
          </a:solidFill>
          <a:ln/>
        </p:spPr>
      </p:sp>
      <p:sp>
        <p:nvSpPr>
          <p:cNvPr id="25" name="Text 23"/>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26" name="Text 24"/>
          <p:cNvSpPr/>
          <p:nvPr/>
        </p:nvSpPr>
        <p:spPr>
          <a:xfrm>
            <a:off x="1097280" y="4806696"/>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متصل بمنفذ Vin</a:t>
            </a:r>
            <a:endParaRPr lang="ar-SA" sz="2500" dirty="0"/>
          </a:p>
        </p:txBody>
      </p:sp>
      <p:sp>
        <p:nvSpPr>
          <p:cNvPr id="27" name="anim-g1-214"/>
          <p:cNvSpPr/>
          <p:nvPr/>
        </p:nvSpPr>
        <p:spPr>
          <a:xfrm>
            <a:off x="822960" y="4806696"/>
            <a:ext cx="10545775" cy="1228344"/>
          </a:xfrm>
          <a:prstGeom prst="roundRect">
            <a:avLst>
              <a:gd name="adj" fmla="val 11911"/>
            </a:avLst>
          </a:prstGeom>
          <a:solidFill>
            <a:srgbClr val="F7F7F9"/>
          </a:solidFill>
          <a:ln w="19050">
            <a:solidFill>
              <a:srgbClr val="E4DCC8"/>
            </a:solidFill>
            <a:prstDash val="solid"/>
          </a:ln>
        </p:spPr>
      </p:sp>
      <p:sp>
        <p:nvSpPr>
          <p:cNvPr id="28" name="anim-g1-215"/>
          <p:cNvSpPr/>
          <p:nvPr/>
        </p:nvSpPr>
        <p:spPr>
          <a:xfrm>
            <a:off x="10231831" y="4943856"/>
            <a:ext cx="954024" cy="954024"/>
          </a:xfrm>
          <a:prstGeom prst="roundRect">
            <a:avLst>
              <a:gd name="adj" fmla="val 11502"/>
            </a:avLst>
          </a:prstGeom>
          <a:solidFill>
            <a:srgbClr val="A3A9BA"/>
          </a:solidFill>
          <a:ln/>
        </p:spPr>
      </p:sp>
      <p:sp>
        <p:nvSpPr>
          <p:cNvPr id="29" name="anim-g1-216"/>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30" name="anim-g1-217"/>
          <p:cNvSpPr/>
          <p:nvPr/>
        </p:nvSpPr>
        <p:spPr>
          <a:xfrm>
            <a:off x="1097280" y="4843272"/>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متصل بمنفذ Vin</a:t>
            </a:r>
            <a:endParaRPr lang="ar-SA" sz="2400" dirty="0"/>
          </a:p>
        </p:txBody>
      </p:sp>
      <p:sp>
        <p:nvSpPr>
          <p:cNvPr id="31" name="anim-g1-218"/>
          <p:cNvSpPr/>
          <p:nvPr/>
        </p:nvSpPr>
        <p:spPr>
          <a:xfrm>
            <a:off x="1097280" y="5470002"/>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Vin منفذ طاقة لإدخال الجهد، لا للبرمجة</a:t>
            </a:r>
            <a:endParaRPr lang="ar-SA" sz="1800" dirty="0"/>
          </a:p>
        </p:txBody>
      </p:sp>
      <p:sp>
        <p:nvSpPr>
          <p:cNvPr id="32" name="Text 30"/>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الأردوينو للمعلمين</a:t>
            </a:r>
            <a:endParaRPr lang="ar-SA" sz="1200" dirty="0"/>
          </a:p>
        </p:txBody>
      </p:sp>
      <p:sp>
        <p:nvSpPr>
          <p:cNvPr id="33" name="Text 31"/>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تشريح لوحة Uno  ·  ٢٧</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00"/>
                                        <p:tgtEl>
                                          <p:spTgt spid="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00"/>
                                        <p:tgtEl>
                                          <p:spTgt spid="2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400"/>
                                        <p:tgtEl>
                                          <p:spTgt spid="2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400"/>
                                        <p:tgtEl>
                                          <p:spTgt spid="3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fade">
                                      <p:cBhvr>
                                        <p:cTn id="4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8" grpId="0" animBg="1"/>
      <p:bldP spid="19" grpId="0" animBg="1"/>
      <p:bldP spid="20" grpId="0" animBg="1"/>
      <p:bldP spid="21" grpId="0" animBg="1"/>
      <p:bldP spid="22" grpId="0" animBg="1"/>
      <p:bldP spid="27" grpId="0" animBg="1"/>
      <p:bldP spid="28" grpId="0" animBg="1"/>
      <p:bldP spid="29" grpId="0" animBg="1"/>
      <p:bldP spid="30" grpId="0" animBg="1"/>
      <p:bldP spid="31"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81567" y="457200"/>
            <a:ext cx="2487168" cy="457200"/>
          </a:xfrm>
          <a:prstGeom prst="roundRect">
            <a:avLst>
              <a:gd name="adj" fmla="val 50000"/>
            </a:avLst>
          </a:prstGeom>
          <a:solidFill>
            <a:srgbClr val="F6EBCF"/>
          </a:solidFill>
          <a:ln/>
        </p:spPr>
      </p:sp>
      <p:sp>
        <p:nvSpPr>
          <p:cNvPr id="3" name="Text 1"/>
          <p:cNvSpPr/>
          <p:nvPr/>
        </p:nvSpPr>
        <p:spPr>
          <a:xfrm>
            <a:off x="8881567" y="45720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اختبر نفسك</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تريد تشغيل اللوحة ببطارية ٩ فولت… أين توصلها؟</a:t>
            </a:r>
            <a:endParaRPr lang="ar-SA" sz="3200" dirty="0"/>
          </a:p>
        </p:txBody>
      </p:sp>
      <p:sp>
        <p:nvSpPr>
          <p:cNvPr id="5" name="Shape 3"/>
          <p:cNvSpPr/>
          <p:nvPr/>
        </p:nvSpPr>
        <p:spPr>
          <a:xfrm>
            <a:off x="822960" y="2057400"/>
            <a:ext cx="10545775" cy="1228344"/>
          </a:xfrm>
          <a:prstGeom prst="roundRect">
            <a:avLst>
              <a:gd name="adj" fmla="val 11911"/>
            </a:avLst>
          </a:prstGeom>
          <a:solidFill>
            <a:srgbClr val="FFFFFF"/>
          </a:solidFill>
          <a:ln w="19050">
            <a:solidFill>
              <a:srgbClr val="E4DCC8"/>
            </a:solidFill>
            <a:prstDash val="solid"/>
          </a:ln>
        </p:spPr>
      </p:sp>
      <p:sp>
        <p:nvSpPr>
          <p:cNvPr id="6" name="Shape 4"/>
          <p:cNvSpPr/>
          <p:nvPr/>
        </p:nvSpPr>
        <p:spPr>
          <a:xfrm>
            <a:off x="10231831" y="2194560"/>
            <a:ext cx="954024" cy="954024"/>
          </a:xfrm>
          <a:prstGeom prst="roundRect">
            <a:avLst>
              <a:gd name="adj" fmla="val 11502"/>
            </a:avLst>
          </a:prstGeom>
          <a:solidFill>
            <a:srgbClr val="101B45"/>
          </a:solidFill>
          <a:ln/>
        </p:spPr>
      </p:sp>
      <p:sp>
        <p:nvSpPr>
          <p:cNvPr id="7" name="Text 5"/>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8" name="Text 6"/>
          <p:cNvSpPr/>
          <p:nvPr/>
        </p:nvSpPr>
        <p:spPr>
          <a:xfrm>
            <a:off x="1097280" y="2057400"/>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مدخل USB</a:t>
            </a:r>
            <a:endParaRPr lang="ar-SA" sz="2500" dirty="0"/>
          </a:p>
        </p:txBody>
      </p:sp>
      <p:sp>
        <p:nvSpPr>
          <p:cNvPr id="9" name="anim-g1-219"/>
          <p:cNvSpPr/>
          <p:nvPr/>
        </p:nvSpPr>
        <p:spPr>
          <a:xfrm>
            <a:off x="822960" y="2057400"/>
            <a:ext cx="10545775" cy="1228344"/>
          </a:xfrm>
          <a:prstGeom prst="roundRect">
            <a:avLst>
              <a:gd name="adj" fmla="val 11911"/>
            </a:avLst>
          </a:prstGeom>
          <a:solidFill>
            <a:srgbClr val="F7F7F9"/>
          </a:solidFill>
          <a:ln w="19050">
            <a:solidFill>
              <a:srgbClr val="E4DCC8"/>
            </a:solidFill>
            <a:prstDash val="solid"/>
          </a:ln>
        </p:spPr>
      </p:sp>
      <p:sp>
        <p:nvSpPr>
          <p:cNvPr id="10" name="anim-g1-220"/>
          <p:cNvSpPr/>
          <p:nvPr/>
        </p:nvSpPr>
        <p:spPr>
          <a:xfrm>
            <a:off x="10231831" y="2194560"/>
            <a:ext cx="954024" cy="954024"/>
          </a:xfrm>
          <a:prstGeom prst="roundRect">
            <a:avLst>
              <a:gd name="adj" fmla="val 11502"/>
            </a:avLst>
          </a:prstGeom>
          <a:solidFill>
            <a:srgbClr val="A3A9BA"/>
          </a:solidFill>
          <a:ln/>
        </p:spPr>
      </p:sp>
      <p:sp>
        <p:nvSpPr>
          <p:cNvPr id="11" name="anim-g1-221"/>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12" name="anim-g1-222"/>
          <p:cNvSpPr/>
          <p:nvPr/>
        </p:nvSpPr>
        <p:spPr>
          <a:xfrm>
            <a:off x="1097280" y="2093976"/>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مدخل USB</a:t>
            </a:r>
            <a:endParaRPr lang="ar-SA" sz="2400" dirty="0"/>
          </a:p>
        </p:txBody>
      </p:sp>
      <p:sp>
        <p:nvSpPr>
          <p:cNvPr id="13" name="anim-g1-223"/>
          <p:cNvSpPr/>
          <p:nvPr/>
        </p:nvSpPr>
        <p:spPr>
          <a:xfrm>
            <a:off x="1097280" y="2720706"/>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مدخل USB يعمل بخمسة فولت من الحاسوب فقط</a:t>
            </a:r>
            <a:endParaRPr lang="ar-SA" sz="1800" dirty="0"/>
          </a:p>
        </p:txBody>
      </p:sp>
      <p:sp>
        <p:nvSpPr>
          <p:cNvPr id="14" name="Shape 12"/>
          <p:cNvSpPr/>
          <p:nvPr/>
        </p:nvSpPr>
        <p:spPr>
          <a:xfrm>
            <a:off x="822960" y="3432048"/>
            <a:ext cx="10545775" cy="1228344"/>
          </a:xfrm>
          <a:prstGeom prst="roundRect">
            <a:avLst>
              <a:gd name="adj" fmla="val 11911"/>
            </a:avLst>
          </a:prstGeom>
          <a:solidFill>
            <a:srgbClr val="FFFFFF"/>
          </a:solidFill>
          <a:ln w="19050">
            <a:solidFill>
              <a:srgbClr val="E4DCC8"/>
            </a:solidFill>
            <a:prstDash val="solid"/>
          </a:ln>
        </p:spPr>
      </p:sp>
      <p:sp>
        <p:nvSpPr>
          <p:cNvPr id="15" name="Shape 13"/>
          <p:cNvSpPr/>
          <p:nvPr/>
        </p:nvSpPr>
        <p:spPr>
          <a:xfrm>
            <a:off x="10231831" y="3569208"/>
            <a:ext cx="954024" cy="954024"/>
          </a:xfrm>
          <a:prstGeom prst="roundRect">
            <a:avLst>
              <a:gd name="adj" fmla="val 11502"/>
            </a:avLst>
          </a:prstGeom>
          <a:solidFill>
            <a:srgbClr val="101B45"/>
          </a:solidFill>
          <a:ln/>
        </p:spPr>
      </p:sp>
      <p:sp>
        <p:nvSpPr>
          <p:cNvPr id="16" name="Text 14"/>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17" name="Text 15"/>
          <p:cNvSpPr/>
          <p:nvPr/>
        </p:nvSpPr>
        <p:spPr>
          <a:xfrm>
            <a:off x="1097280" y="3432048"/>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مدخل الطاقة (Power Jack)</a:t>
            </a:r>
            <a:endParaRPr lang="ar-SA" sz="2500" dirty="0"/>
          </a:p>
        </p:txBody>
      </p:sp>
      <p:sp>
        <p:nvSpPr>
          <p:cNvPr id="18" name="anim-g1-224"/>
          <p:cNvSpPr/>
          <p:nvPr/>
        </p:nvSpPr>
        <p:spPr>
          <a:xfrm>
            <a:off x="822960" y="3432048"/>
            <a:ext cx="10545775" cy="1228344"/>
          </a:xfrm>
          <a:prstGeom prst="roundRect">
            <a:avLst>
              <a:gd name="adj" fmla="val 11911"/>
            </a:avLst>
          </a:prstGeom>
          <a:solidFill>
            <a:srgbClr val="E6F4EC"/>
          </a:solidFill>
          <a:ln w="31750">
            <a:solidFill>
              <a:srgbClr val="2E9E6B"/>
            </a:solidFill>
            <a:prstDash val="solid"/>
          </a:ln>
        </p:spPr>
      </p:sp>
      <p:sp>
        <p:nvSpPr>
          <p:cNvPr id="19" name="anim-g1-225"/>
          <p:cNvSpPr/>
          <p:nvPr/>
        </p:nvSpPr>
        <p:spPr>
          <a:xfrm>
            <a:off x="10231831" y="3569208"/>
            <a:ext cx="954024" cy="954024"/>
          </a:xfrm>
          <a:prstGeom prst="roundRect">
            <a:avLst>
              <a:gd name="adj" fmla="val 11502"/>
            </a:avLst>
          </a:prstGeom>
          <a:solidFill>
            <a:srgbClr val="2E9E6B"/>
          </a:solidFill>
          <a:ln/>
        </p:spPr>
      </p:sp>
      <p:sp>
        <p:nvSpPr>
          <p:cNvPr id="20" name="anim-g1-226"/>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a:t>
            </a:r>
            <a:endParaRPr lang="ar-SA" sz="2400" dirty="0"/>
          </a:p>
        </p:txBody>
      </p:sp>
      <p:sp>
        <p:nvSpPr>
          <p:cNvPr id="21" name="anim-g1-227"/>
          <p:cNvSpPr/>
          <p:nvPr/>
        </p:nvSpPr>
        <p:spPr>
          <a:xfrm>
            <a:off x="1097280" y="3468624"/>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131B34"/>
                </a:solidFill>
                <a:latin typeface="Cairo" pitchFamily="34" charset="0"/>
                <a:ea typeface="Cairo" pitchFamily="34" charset="-122"/>
                <a:cs typeface="Cairo" pitchFamily="34" charset="-120"/>
              </a:rPr>
              <a:t>مدخل الطاقة (Power Jack)</a:t>
            </a:r>
            <a:endParaRPr lang="ar-SA" sz="2400" dirty="0"/>
          </a:p>
        </p:txBody>
      </p:sp>
      <p:sp>
        <p:nvSpPr>
          <p:cNvPr id="22" name="anim-g1-228"/>
          <p:cNvSpPr/>
          <p:nvPr/>
        </p:nvSpPr>
        <p:spPr>
          <a:xfrm>
            <a:off x="1097280" y="4095354"/>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1D5E40"/>
                </a:solidFill>
                <a:latin typeface="Cairo" pitchFamily="34" charset="0"/>
                <a:ea typeface="Cairo" pitchFamily="34" charset="-122"/>
                <a:cs typeface="Cairo" pitchFamily="34" charset="-120"/>
              </a:rPr>
              <a:t>يقبل من ٧ إلى ١٢ فولت، ومنظّم الجهد يحوّلها إلى ٥ فولت</a:t>
            </a:r>
            <a:endParaRPr lang="ar-SA" sz="1800" dirty="0"/>
          </a:p>
        </p:txBody>
      </p:sp>
      <p:sp>
        <p:nvSpPr>
          <p:cNvPr id="23" name="Shape 21"/>
          <p:cNvSpPr/>
          <p:nvPr/>
        </p:nvSpPr>
        <p:spPr>
          <a:xfrm>
            <a:off x="822960" y="4806696"/>
            <a:ext cx="10545775" cy="1228344"/>
          </a:xfrm>
          <a:prstGeom prst="roundRect">
            <a:avLst>
              <a:gd name="adj" fmla="val 11911"/>
            </a:avLst>
          </a:prstGeom>
          <a:solidFill>
            <a:srgbClr val="FFFFFF"/>
          </a:solidFill>
          <a:ln w="19050">
            <a:solidFill>
              <a:srgbClr val="E4DCC8"/>
            </a:solidFill>
            <a:prstDash val="solid"/>
          </a:ln>
        </p:spPr>
      </p:sp>
      <p:sp>
        <p:nvSpPr>
          <p:cNvPr id="24" name="Shape 22"/>
          <p:cNvSpPr/>
          <p:nvPr/>
        </p:nvSpPr>
        <p:spPr>
          <a:xfrm>
            <a:off x="10231831" y="4943856"/>
            <a:ext cx="954024" cy="954024"/>
          </a:xfrm>
          <a:prstGeom prst="roundRect">
            <a:avLst>
              <a:gd name="adj" fmla="val 11502"/>
            </a:avLst>
          </a:prstGeom>
          <a:solidFill>
            <a:srgbClr val="101B45"/>
          </a:solidFill>
          <a:ln/>
        </p:spPr>
      </p:sp>
      <p:sp>
        <p:nvSpPr>
          <p:cNvPr id="25" name="Text 23"/>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26" name="Text 24"/>
          <p:cNvSpPr/>
          <p:nvPr/>
        </p:nvSpPr>
        <p:spPr>
          <a:xfrm>
            <a:off x="1097280" y="4806696"/>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منفذ 5V مباشرة</a:t>
            </a:r>
            <a:endParaRPr lang="ar-SA" sz="2500" dirty="0"/>
          </a:p>
        </p:txBody>
      </p:sp>
      <p:sp>
        <p:nvSpPr>
          <p:cNvPr id="27" name="anim-g1-229"/>
          <p:cNvSpPr/>
          <p:nvPr/>
        </p:nvSpPr>
        <p:spPr>
          <a:xfrm>
            <a:off x="822960" y="4806696"/>
            <a:ext cx="10545775" cy="1228344"/>
          </a:xfrm>
          <a:prstGeom prst="roundRect">
            <a:avLst>
              <a:gd name="adj" fmla="val 11911"/>
            </a:avLst>
          </a:prstGeom>
          <a:solidFill>
            <a:srgbClr val="F7F7F9"/>
          </a:solidFill>
          <a:ln w="19050">
            <a:solidFill>
              <a:srgbClr val="E4DCC8"/>
            </a:solidFill>
            <a:prstDash val="solid"/>
          </a:ln>
        </p:spPr>
      </p:sp>
      <p:sp>
        <p:nvSpPr>
          <p:cNvPr id="28" name="anim-g1-230"/>
          <p:cNvSpPr/>
          <p:nvPr/>
        </p:nvSpPr>
        <p:spPr>
          <a:xfrm>
            <a:off x="10231831" y="4943856"/>
            <a:ext cx="954024" cy="954024"/>
          </a:xfrm>
          <a:prstGeom prst="roundRect">
            <a:avLst>
              <a:gd name="adj" fmla="val 11502"/>
            </a:avLst>
          </a:prstGeom>
          <a:solidFill>
            <a:srgbClr val="A3A9BA"/>
          </a:solidFill>
          <a:ln/>
        </p:spPr>
      </p:sp>
      <p:sp>
        <p:nvSpPr>
          <p:cNvPr id="29" name="anim-g1-231"/>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30" name="anim-g1-232"/>
          <p:cNvSpPr/>
          <p:nvPr/>
        </p:nvSpPr>
        <p:spPr>
          <a:xfrm>
            <a:off x="1097280" y="4843272"/>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منفذ 5V مباشرة</a:t>
            </a:r>
            <a:endParaRPr lang="ar-SA" sz="2400" dirty="0"/>
          </a:p>
        </p:txBody>
      </p:sp>
      <p:sp>
        <p:nvSpPr>
          <p:cNvPr id="31" name="anim-g1-233"/>
          <p:cNvSpPr/>
          <p:nvPr/>
        </p:nvSpPr>
        <p:spPr>
          <a:xfrm>
            <a:off x="1097280" y="5470002"/>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خطر! توصيل ٩ فولت على منفذ 5V يتجاوز المنظّم وقد يتلف اللوحة</a:t>
            </a:r>
            <a:endParaRPr lang="ar-SA" sz="1800" dirty="0"/>
          </a:p>
        </p:txBody>
      </p:sp>
      <p:sp>
        <p:nvSpPr>
          <p:cNvPr id="32" name="Text 30"/>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الأردوينو للمعلمين</a:t>
            </a:r>
            <a:endParaRPr lang="ar-SA" sz="1200" dirty="0"/>
          </a:p>
        </p:txBody>
      </p:sp>
      <p:sp>
        <p:nvSpPr>
          <p:cNvPr id="33" name="Text 31"/>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تشريح لوحة Uno  ·  ٢٨</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00"/>
                                        <p:tgtEl>
                                          <p:spTgt spid="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00"/>
                                        <p:tgtEl>
                                          <p:spTgt spid="2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400"/>
                                        <p:tgtEl>
                                          <p:spTgt spid="2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400"/>
                                        <p:tgtEl>
                                          <p:spTgt spid="3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fade">
                                      <p:cBhvr>
                                        <p:cTn id="4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8" grpId="0" animBg="1"/>
      <p:bldP spid="19" grpId="0" animBg="1"/>
      <p:bldP spid="20" grpId="0" animBg="1"/>
      <p:bldP spid="21" grpId="0" animBg="1"/>
      <p:bldP spid="22" grpId="0" animBg="1"/>
      <p:bldP spid="27" grpId="0" animBg="1"/>
      <p:bldP spid="28" grpId="0" animBg="1"/>
      <p:bldP spid="29" grpId="0" animBg="1"/>
      <p:bldP spid="30" grpId="0" animBg="1"/>
      <p:bldP spid="31"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Image 0" descr="/Users/mac/Desktop/أردوينو/المشاريع والكتب/younes-training/arduino/.pptx-cache/s2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Image 0" descr="/Users/mac/Desktop/أردوينو/المشاريع والكتب/younes-training/arduino/.pptx-cache/s3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852264" y="1188720"/>
            <a:ext cx="2487168"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852264" y="118872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خلاصة المحور</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حين يعرف الطالب لوحته جيدًا…</a:t>
            </a:r>
            <a:endParaRPr lang="ar-SA" sz="4400" dirty="0"/>
          </a:p>
          <a:p>
            <a:pPr algn="ctr" indent="0" marL="0">
              <a:lnSpc>
                <a:spcPct val="115000"/>
              </a:lnSpc>
              <a:buNone/>
            </a:pPr>
            <a:r>
              <a:rPr lang="ar-SA" altLang="en-US" sz="4400" dirty="0">
                <a:solidFill>
                  <a:srgbClr val="F0CC7A"/>
                </a:solidFill>
                <a:latin typeface="Cairo Black" pitchFamily="34" charset="0"/>
                <a:ea typeface="Cairo Black" pitchFamily="34" charset="-122"/>
                <a:cs typeface="Cairo Black" pitchFamily="34" charset="-120"/>
              </a:rPr>
              <a:t> يتوقف عن الخوف منها، ويبدأ الإبداع</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الأردوينو للمعلمين</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تشريح لوحة Uno  ·  ٣١</a:t>
            </a:r>
            <a:endParaRPr lang="ar-SA"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97280" y="2103120"/>
            <a:ext cx="2651760" cy="2651760"/>
          </a:xfrm>
          <a:prstGeom prst="ellipse">
            <a:avLst/>
          </a:prstGeom>
          <a:solidFill>
            <a:srgbClr val="D9AE4B">
              <a:alpha val="12000"/>
            </a:srgbClr>
          </a:solidFill>
          <a:ln w="63500">
            <a:solidFill>
              <a:srgbClr val="D9AE4B">
                <a:alpha val="60000"/>
              </a:srgbClr>
            </a:solidFill>
            <a:prstDash val="solid"/>
          </a:ln>
        </p:spPr>
      </p:sp>
      <p:sp>
        <p:nvSpPr>
          <p:cNvPr id="3" name="Text 1"/>
          <p:cNvSpPr/>
          <p:nvPr/>
        </p:nvSpPr>
        <p:spPr>
          <a:xfrm>
            <a:off x="1097280" y="2103120"/>
            <a:ext cx="2651760" cy="2651760"/>
          </a:xfrm>
          <a:prstGeom prst="rect">
            <a:avLst/>
          </a:prstGeom>
          <a:noFill/>
          <a:ln/>
        </p:spPr>
        <p:txBody>
          <a:bodyPr wrap="square" lIns="0" tIns="0" rIns="0" bIns="0" rtlCol="0" anchor="ctr">
            <a:normAutofit/>
          </a:bodyPr>
          <a:lstStyle/>
          <a:p>
            <a:pPr rtl="1" algn="ctr" indent="0" marL="0">
              <a:buNone/>
            </a:pPr>
            <a:r>
              <a:rPr lang="ar-SA" altLang="en-US" sz="12000" dirty="0">
                <a:solidFill>
                  <a:srgbClr val="F0CC7A"/>
                </a:solidFill>
                <a:latin typeface="Cairo Black" pitchFamily="34" charset="0"/>
                <a:ea typeface="Cairo Black" pitchFamily="34" charset="-122"/>
                <a:cs typeface="Cairo Black" pitchFamily="34" charset="-120"/>
              </a:rPr>
              <a:t>٣</a:t>
            </a:r>
            <a:endParaRPr lang="ar-SA" sz="12000" dirty="0"/>
          </a:p>
        </p:txBody>
      </p:sp>
      <p:sp>
        <p:nvSpPr>
          <p:cNvPr id="4" name="Text 2"/>
          <p:cNvSpPr/>
          <p:nvPr/>
        </p:nvSpPr>
        <p:spPr>
          <a:xfrm>
            <a:off x="4206240" y="1828800"/>
            <a:ext cx="7162495" cy="457200"/>
          </a:xfrm>
          <a:prstGeom prst="rect">
            <a:avLst/>
          </a:prstGeom>
          <a:noFill/>
          <a:ln/>
        </p:spPr>
        <p:txBody>
          <a:bodyPr wrap="square" lIns="0" tIns="0" rIns="0" bIns="0" rtlCol="0" anchor="ctr">
            <a:normAutofit/>
          </a:bodyPr>
          <a:lstStyle/>
          <a:p>
            <a:pPr rtl="1" algn="r" indent="0" marL="0">
              <a:buNone/>
            </a:pPr>
            <a:r>
              <a:rPr lang="ar-SA" altLang="en-US" sz="2000" b="1" dirty="0">
                <a:solidFill>
                  <a:srgbClr val="D9AE4B"/>
                </a:solidFill>
                <a:latin typeface="Cairo" pitchFamily="34" charset="0"/>
                <a:ea typeface="Cairo" pitchFamily="34" charset="-122"/>
                <a:cs typeface="Cairo" pitchFamily="34" charset="-120"/>
              </a:rPr>
              <a:t>المحور ٣</a:t>
            </a:r>
            <a:endParaRPr lang="ar-SA" sz="2000" dirty="0"/>
          </a:p>
        </p:txBody>
      </p:sp>
      <p:sp>
        <p:nvSpPr>
          <p:cNvPr id="5" name="Text 3"/>
          <p:cNvSpPr/>
          <p:nvPr/>
        </p:nvSpPr>
        <p:spPr>
          <a:xfrm>
            <a:off x="4206240" y="2286000"/>
            <a:ext cx="7162495" cy="1371600"/>
          </a:xfrm>
          <a:prstGeom prst="rect">
            <a:avLst/>
          </a:prstGeom>
          <a:noFill/>
          <a:ln/>
        </p:spPr>
        <p:txBody>
          <a:bodyPr wrap="square" lIns="0" tIns="0" rIns="0" bIns="0" rtlCol="0" anchor="ctr">
            <a:normAutofit/>
          </a:bodyPr>
          <a:lstStyle/>
          <a:p>
            <a:pPr rtl="1" algn="r" indent="0" marL="0">
              <a:buNone/>
            </a:pPr>
            <a:r>
              <a:rPr lang="ar-SA" altLang="en-US" sz="5600" dirty="0">
                <a:solidFill>
                  <a:srgbClr val="FFFFFF"/>
                </a:solidFill>
                <a:latin typeface="Cairo Black" pitchFamily="34" charset="0"/>
                <a:ea typeface="Cairo Black" pitchFamily="34" charset="-122"/>
                <a:cs typeface="Cairo Black" pitchFamily="34" charset="-120"/>
              </a:rPr>
              <a:t>الطاقة وبيئة البرمجة</a:t>
            </a:r>
            <a:endParaRPr lang="ar-SA" sz="5600" dirty="0"/>
          </a:p>
        </p:txBody>
      </p:sp>
      <p:sp>
        <p:nvSpPr>
          <p:cNvPr id="6" name="Text 4"/>
          <p:cNvSpPr/>
          <p:nvPr/>
        </p:nvSpPr>
        <p:spPr>
          <a:xfrm>
            <a:off x="4206240" y="3749040"/>
            <a:ext cx="7162495" cy="822960"/>
          </a:xfrm>
          <a:prstGeom prst="rect">
            <a:avLst/>
          </a:prstGeom>
          <a:noFill/>
          <a:ln/>
        </p:spPr>
        <p:txBody>
          <a:bodyPr wrap="square" lIns="0" tIns="0" rIns="0" bIns="0" rtlCol="0" anchor="ctr">
            <a:normAutofit/>
          </a:bodyPr>
          <a:lstStyle/>
          <a:p>
            <a:pPr rtl="1" algn="r" indent="0" marL="0">
              <a:buNone/>
            </a:pPr>
            <a:r>
              <a:rPr lang="ar-SA" altLang="en-US" sz="2200" b="1" dirty="0">
                <a:solidFill>
                  <a:srgbClr val="C9CFE6"/>
                </a:solidFill>
                <a:latin typeface="Cairo" pitchFamily="34" charset="0"/>
                <a:ea typeface="Cairo" pitchFamily="34" charset="-122"/>
                <a:cs typeface="Cairo" pitchFamily="34" charset="-120"/>
              </a:rPr>
              <a:t>كيف نشغّل اللوحة؟ وأين نكتب أوامرها؟</a:t>
            </a:r>
            <a:endParaRPr lang="ar-SA" sz="2200" dirty="0"/>
          </a:p>
        </p:txBody>
      </p:sp>
      <p:sp>
        <p:nvSpPr>
          <p:cNvPr id="7" name="Text 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الأردوينو للمعلمين</a:t>
            </a:r>
            <a:endParaRPr lang="ar-SA" sz="1200" dirty="0"/>
          </a:p>
        </p:txBody>
      </p:sp>
      <p:sp>
        <p:nvSpPr>
          <p:cNvPr id="8" name="Text 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الطاقة وبيئة البرمجة  ·  ٣٢</a:t>
            </a:r>
            <a:endParaRPr lang="ar-SA"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248095" y="457200"/>
            <a:ext cx="5120640" cy="457200"/>
          </a:xfrm>
          <a:prstGeom prst="roundRect">
            <a:avLst>
              <a:gd name="adj" fmla="val 50000"/>
            </a:avLst>
          </a:prstGeom>
          <a:solidFill>
            <a:srgbClr val="F6EBCF"/>
          </a:solidFill>
          <a:ln/>
        </p:spPr>
      </p:sp>
      <p:sp>
        <p:nvSpPr>
          <p:cNvPr id="3" name="Text 1"/>
          <p:cNvSpPr/>
          <p:nvPr/>
        </p:nvSpPr>
        <p:spPr>
          <a:xfrm>
            <a:off x="6248095" y="457200"/>
            <a:ext cx="512064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بنهاية هذا المحور تستطيع أن</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أهداف المحور</a:t>
            </a:r>
            <a:endParaRPr lang="ar-SA" sz="3800" dirty="0"/>
          </a:p>
        </p:txBody>
      </p:sp>
      <p:sp>
        <p:nvSpPr>
          <p:cNvPr id="5" name="anim-g1-234"/>
          <p:cNvSpPr/>
          <p:nvPr/>
        </p:nvSpPr>
        <p:spPr>
          <a:xfrm>
            <a:off x="822960" y="1920240"/>
            <a:ext cx="10545775" cy="946404"/>
          </a:xfrm>
          <a:prstGeom prst="roundRect">
            <a:avLst>
              <a:gd name="adj" fmla="val 15459"/>
            </a:avLst>
          </a:prstGeom>
          <a:solidFill>
            <a:srgbClr val="FFFFFF"/>
          </a:solidFill>
          <a:ln w="12700">
            <a:solidFill>
              <a:srgbClr val="E4DCC8"/>
            </a:solidFill>
            <a:prstDash val="solid"/>
          </a:ln>
        </p:spPr>
      </p:sp>
      <p:sp>
        <p:nvSpPr>
          <p:cNvPr id="6" name="anim-g1-235"/>
          <p:cNvSpPr/>
          <p:nvPr/>
        </p:nvSpPr>
        <p:spPr>
          <a:xfrm>
            <a:off x="10573207" y="2109978"/>
            <a:ext cx="566928" cy="566928"/>
          </a:xfrm>
          <a:prstGeom prst="ellipse">
            <a:avLst/>
          </a:prstGeom>
          <a:solidFill>
            <a:srgbClr val="D9AE4B"/>
          </a:solidFill>
          <a:ln/>
        </p:spPr>
      </p:sp>
      <p:sp>
        <p:nvSpPr>
          <p:cNvPr id="7" name="anim-g1-236"/>
          <p:cNvSpPr/>
          <p:nvPr/>
        </p:nvSpPr>
        <p:spPr>
          <a:xfrm>
            <a:off x="10573207" y="2109978"/>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١</a:t>
            </a:r>
            <a:endParaRPr lang="ar-SA" sz="2000" dirty="0"/>
          </a:p>
        </p:txBody>
      </p:sp>
      <p:sp>
        <p:nvSpPr>
          <p:cNvPr id="8" name="anim-g1-237"/>
          <p:cNvSpPr/>
          <p:nvPr/>
        </p:nvSpPr>
        <p:spPr>
          <a:xfrm>
            <a:off x="1097280" y="1920240"/>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تختار طريقة التغذية المناسبة للوحة بأمان</a:t>
            </a:r>
            <a:endParaRPr lang="ar-SA" sz="2400" dirty="0"/>
          </a:p>
        </p:txBody>
      </p:sp>
      <p:sp>
        <p:nvSpPr>
          <p:cNvPr id="9" name="anim-g2-238"/>
          <p:cNvSpPr/>
          <p:nvPr/>
        </p:nvSpPr>
        <p:spPr>
          <a:xfrm>
            <a:off x="822960" y="2976372"/>
            <a:ext cx="10545775" cy="946404"/>
          </a:xfrm>
          <a:prstGeom prst="roundRect">
            <a:avLst>
              <a:gd name="adj" fmla="val 15459"/>
            </a:avLst>
          </a:prstGeom>
          <a:solidFill>
            <a:srgbClr val="FFFFFF"/>
          </a:solidFill>
          <a:ln w="12700">
            <a:solidFill>
              <a:srgbClr val="E4DCC8"/>
            </a:solidFill>
            <a:prstDash val="solid"/>
          </a:ln>
        </p:spPr>
      </p:sp>
      <p:sp>
        <p:nvSpPr>
          <p:cNvPr id="10" name="anim-g2-239"/>
          <p:cNvSpPr/>
          <p:nvPr/>
        </p:nvSpPr>
        <p:spPr>
          <a:xfrm>
            <a:off x="10573207" y="3166110"/>
            <a:ext cx="566928" cy="566928"/>
          </a:xfrm>
          <a:prstGeom prst="ellipse">
            <a:avLst/>
          </a:prstGeom>
          <a:solidFill>
            <a:srgbClr val="D9AE4B"/>
          </a:solidFill>
          <a:ln/>
        </p:spPr>
      </p:sp>
      <p:sp>
        <p:nvSpPr>
          <p:cNvPr id="11" name="anim-g2-240"/>
          <p:cNvSpPr/>
          <p:nvPr/>
        </p:nvSpPr>
        <p:spPr>
          <a:xfrm>
            <a:off x="10573207" y="3166110"/>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٢</a:t>
            </a:r>
            <a:endParaRPr lang="ar-SA" sz="2000" dirty="0"/>
          </a:p>
        </p:txBody>
      </p:sp>
      <p:sp>
        <p:nvSpPr>
          <p:cNvPr id="12" name="anim-g2-241"/>
          <p:cNvSpPr/>
          <p:nvPr/>
        </p:nvSpPr>
        <p:spPr>
          <a:xfrm>
            <a:off x="1097280" y="2976372"/>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تثبّت برنامج Arduino IDE على جهازك</a:t>
            </a:r>
            <a:endParaRPr lang="ar-SA" sz="2400" dirty="0"/>
          </a:p>
        </p:txBody>
      </p:sp>
      <p:sp>
        <p:nvSpPr>
          <p:cNvPr id="13" name="anim-g3-242"/>
          <p:cNvSpPr/>
          <p:nvPr/>
        </p:nvSpPr>
        <p:spPr>
          <a:xfrm>
            <a:off x="822960" y="4032504"/>
            <a:ext cx="10545775" cy="946404"/>
          </a:xfrm>
          <a:prstGeom prst="roundRect">
            <a:avLst>
              <a:gd name="adj" fmla="val 15459"/>
            </a:avLst>
          </a:prstGeom>
          <a:solidFill>
            <a:srgbClr val="FFFFFF"/>
          </a:solidFill>
          <a:ln w="12700">
            <a:solidFill>
              <a:srgbClr val="E4DCC8"/>
            </a:solidFill>
            <a:prstDash val="solid"/>
          </a:ln>
        </p:spPr>
      </p:sp>
      <p:sp>
        <p:nvSpPr>
          <p:cNvPr id="14" name="anim-g3-243"/>
          <p:cNvSpPr/>
          <p:nvPr/>
        </p:nvSpPr>
        <p:spPr>
          <a:xfrm>
            <a:off x="10573207" y="4222242"/>
            <a:ext cx="566928" cy="566928"/>
          </a:xfrm>
          <a:prstGeom prst="ellipse">
            <a:avLst/>
          </a:prstGeom>
          <a:solidFill>
            <a:srgbClr val="D9AE4B"/>
          </a:solidFill>
          <a:ln/>
        </p:spPr>
      </p:sp>
      <p:sp>
        <p:nvSpPr>
          <p:cNvPr id="15" name="anim-g3-244"/>
          <p:cNvSpPr/>
          <p:nvPr/>
        </p:nvSpPr>
        <p:spPr>
          <a:xfrm>
            <a:off x="10573207" y="4222242"/>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٣</a:t>
            </a:r>
            <a:endParaRPr lang="ar-SA" sz="2000" dirty="0"/>
          </a:p>
        </p:txBody>
      </p:sp>
      <p:sp>
        <p:nvSpPr>
          <p:cNvPr id="16" name="anim-g3-245"/>
          <p:cNvSpPr/>
          <p:nvPr/>
        </p:nvSpPr>
        <p:spPr>
          <a:xfrm>
            <a:off x="1097280" y="4032504"/>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تتعرف على أزرار البرنامج وقوائمه</a:t>
            </a:r>
            <a:endParaRPr lang="ar-SA" sz="2400" dirty="0"/>
          </a:p>
        </p:txBody>
      </p:sp>
      <p:sp>
        <p:nvSpPr>
          <p:cNvPr id="17" name="anim-g4-246"/>
          <p:cNvSpPr/>
          <p:nvPr/>
        </p:nvSpPr>
        <p:spPr>
          <a:xfrm>
            <a:off x="822960" y="5088636"/>
            <a:ext cx="10545775" cy="946404"/>
          </a:xfrm>
          <a:prstGeom prst="roundRect">
            <a:avLst>
              <a:gd name="adj" fmla="val 15459"/>
            </a:avLst>
          </a:prstGeom>
          <a:solidFill>
            <a:srgbClr val="FFFFFF"/>
          </a:solidFill>
          <a:ln w="12700">
            <a:solidFill>
              <a:srgbClr val="E4DCC8"/>
            </a:solidFill>
            <a:prstDash val="solid"/>
          </a:ln>
        </p:spPr>
      </p:sp>
      <p:sp>
        <p:nvSpPr>
          <p:cNvPr id="18" name="anim-g4-247"/>
          <p:cNvSpPr/>
          <p:nvPr/>
        </p:nvSpPr>
        <p:spPr>
          <a:xfrm>
            <a:off x="10573207" y="5278374"/>
            <a:ext cx="566928" cy="566928"/>
          </a:xfrm>
          <a:prstGeom prst="ellipse">
            <a:avLst/>
          </a:prstGeom>
          <a:solidFill>
            <a:srgbClr val="D9AE4B"/>
          </a:solidFill>
          <a:ln/>
        </p:spPr>
      </p:sp>
      <p:sp>
        <p:nvSpPr>
          <p:cNvPr id="19" name="anim-g4-248"/>
          <p:cNvSpPr/>
          <p:nvPr/>
        </p:nvSpPr>
        <p:spPr>
          <a:xfrm>
            <a:off x="10573207" y="5278374"/>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٤</a:t>
            </a:r>
            <a:endParaRPr lang="ar-SA" sz="2000" dirty="0"/>
          </a:p>
        </p:txBody>
      </p:sp>
      <p:sp>
        <p:nvSpPr>
          <p:cNvPr id="20" name="anim-g4-249"/>
          <p:cNvSpPr/>
          <p:nvPr/>
        </p:nvSpPr>
        <p:spPr>
          <a:xfrm>
            <a:off x="1097280" y="5088636"/>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تشرح دور الدالتين setup و loop</a:t>
            </a:r>
            <a:endParaRPr lang="ar-SA" sz="2400" dirty="0"/>
          </a:p>
        </p:txBody>
      </p:sp>
      <p:sp>
        <p:nvSpPr>
          <p:cNvPr id="21" name="Text 19"/>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الأردوينو للمعلمين</a:t>
            </a:r>
            <a:endParaRPr lang="ar-SA" sz="1200" dirty="0"/>
          </a:p>
        </p:txBody>
      </p:sp>
      <p:sp>
        <p:nvSpPr>
          <p:cNvPr id="22" name="Text 20"/>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الطاقة وبيئة البرمجة  ·  ٣٣</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name="Slide 3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9466783" y="457200"/>
            <a:ext cx="1901952" cy="457200"/>
          </a:xfrm>
          <a:prstGeom prst="roundRect">
            <a:avLst>
              <a:gd name="adj" fmla="val 50000"/>
            </a:avLst>
          </a:prstGeom>
          <a:solidFill>
            <a:srgbClr val="F6EBCF"/>
          </a:solidFill>
          <a:ln/>
        </p:spPr>
      </p:sp>
      <p:sp>
        <p:nvSpPr>
          <p:cNvPr id="3" name="Text 1"/>
          <p:cNvSpPr/>
          <p:nvPr/>
        </p:nvSpPr>
        <p:spPr>
          <a:xfrm>
            <a:off x="9466783" y="457200"/>
            <a:ext cx="1901952"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أربع طرق</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كيف نغذّي اللوحة بالطاقة؟</a:t>
            </a:r>
            <a:endParaRPr lang="ar-SA" sz="3800" dirty="0"/>
          </a:p>
        </p:txBody>
      </p:sp>
      <p:sp>
        <p:nvSpPr>
          <p:cNvPr id="5" name="anim-g1-250"/>
          <p:cNvSpPr/>
          <p:nvPr/>
        </p:nvSpPr>
        <p:spPr>
          <a:xfrm>
            <a:off x="8938031" y="2148840"/>
            <a:ext cx="2430704" cy="3566160"/>
          </a:xfrm>
          <a:prstGeom prst="roundRect">
            <a:avLst>
              <a:gd name="adj" fmla="val 677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251"/>
          <p:cNvSpPr/>
          <p:nvPr/>
        </p:nvSpPr>
        <p:spPr>
          <a:xfrm>
            <a:off x="10362895" y="2404872"/>
            <a:ext cx="731520" cy="731520"/>
          </a:xfrm>
          <a:prstGeom prst="roundRect">
            <a:avLst>
              <a:gd name="adj" fmla="val 25000"/>
            </a:avLst>
          </a:prstGeom>
          <a:solidFill>
            <a:srgbClr val="F7E6BC"/>
          </a:solidFill>
          <a:ln/>
        </p:spPr>
      </p:sp>
      <p:sp>
        <p:nvSpPr>
          <p:cNvPr id="7" name="anim-g1-252"/>
          <p:cNvSpPr/>
          <p:nvPr/>
        </p:nvSpPr>
        <p:spPr>
          <a:xfrm>
            <a:off x="10362895"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8" name="anim-g1-253"/>
          <p:cNvSpPr/>
          <p:nvPr/>
        </p:nvSpPr>
        <p:spPr>
          <a:xfrm>
            <a:off x="9212351" y="3246120"/>
            <a:ext cx="1882064"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كابل USB</a:t>
            </a:r>
            <a:endParaRPr lang="ar-SA" sz="2300" dirty="0"/>
          </a:p>
        </p:txBody>
      </p:sp>
      <p:sp>
        <p:nvSpPr>
          <p:cNvPr id="9" name="anim-g1-254"/>
          <p:cNvSpPr/>
          <p:nvPr/>
        </p:nvSpPr>
        <p:spPr>
          <a:xfrm>
            <a:off x="9212351" y="3794760"/>
            <a:ext cx="1882064"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من الحاسوب مباشرة: ٥ فولت، والأنسب أثناء البرمجة</a:t>
            </a:r>
            <a:endParaRPr lang="ar-SA" sz="2100" dirty="0"/>
          </a:p>
        </p:txBody>
      </p:sp>
      <p:sp>
        <p:nvSpPr>
          <p:cNvPr id="10" name="anim-g2-255"/>
          <p:cNvSpPr/>
          <p:nvPr/>
        </p:nvSpPr>
        <p:spPr>
          <a:xfrm>
            <a:off x="6233008" y="2148840"/>
            <a:ext cx="2430704" cy="3566160"/>
          </a:xfrm>
          <a:prstGeom prst="roundRect">
            <a:avLst>
              <a:gd name="adj" fmla="val 677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256"/>
          <p:cNvSpPr/>
          <p:nvPr/>
        </p:nvSpPr>
        <p:spPr>
          <a:xfrm>
            <a:off x="7657871" y="2404872"/>
            <a:ext cx="731520" cy="731520"/>
          </a:xfrm>
          <a:prstGeom prst="roundRect">
            <a:avLst>
              <a:gd name="adj" fmla="val 25000"/>
            </a:avLst>
          </a:prstGeom>
          <a:solidFill>
            <a:srgbClr val="F7E6BC"/>
          </a:solidFill>
          <a:ln/>
        </p:spPr>
      </p:sp>
      <p:sp>
        <p:nvSpPr>
          <p:cNvPr id="12" name="anim-g2-257"/>
          <p:cNvSpPr/>
          <p:nvPr/>
        </p:nvSpPr>
        <p:spPr>
          <a:xfrm>
            <a:off x="7657871"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13" name="anim-g2-258"/>
          <p:cNvSpPr/>
          <p:nvPr/>
        </p:nvSpPr>
        <p:spPr>
          <a:xfrm>
            <a:off x="6507328" y="3246120"/>
            <a:ext cx="1882064"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محوّل كهرباء</a:t>
            </a:r>
            <a:endParaRPr lang="ar-SA" sz="2300" dirty="0"/>
          </a:p>
        </p:txBody>
      </p:sp>
      <p:sp>
        <p:nvSpPr>
          <p:cNvPr id="14" name="anim-g2-259"/>
          <p:cNvSpPr/>
          <p:nvPr/>
        </p:nvSpPr>
        <p:spPr>
          <a:xfrm>
            <a:off x="6507328" y="3794760"/>
            <a:ext cx="1882064"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جهد مستمر من ٧ إلى ١٢ فولت في مدخل الطاقة</a:t>
            </a:r>
            <a:endParaRPr lang="ar-SA" sz="2100" dirty="0"/>
          </a:p>
        </p:txBody>
      </p:sp>
      <p:sp>
        <p:nvSpPr>
          <p:cNvPr id="15" name="anim-g3-260"/>
          <p:cNvSpPr/>
          <p:nvPr/>
        </p:nvSpPr>
        <p:spPr>
          <a:xfrm>
            <a:off x="3527984" y="2148840"/>
            <a:ext cx="2430704" cy="3566160"/>
          </a:xfrm>
          <a:prstGeom prst="roundRect">
            <a:avLst>
              <a:gd name="adj" fmla="val 677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261"/>
          <p:cNvSpPr/>
          <p:nvPr/>
        </p:nvSpPr>
        <p:spPr>
          <a:xfrm>
            <a:off x="4952848" y="2404872"/>
            <a:ext cx="731520" cy="731520"/>
          </a:xfrm>
          <a:prstGeom prst="roundRect">
            <a:avLst>
              <a:gd name="adj" fmla="val 25000"/>
            </a:avLst>
          </a:prstGeom>
          <a:solidFill>
            <a:srgbClr val="F7E6BC"/>
          </a:solidFill>
          <a:ln/>
        </p:spPr>
      </p:sp>
      <p:sp>
        <p:nvSpPr>
          <p:cNvPr id="17" name="anim-g3-262"/>
          <p:cNvSpPr/>
          <p:nvPr/>
        </p:nvSpPr>
        <p:spPr>
          <a:xfrm>
            <a:off x="4952848"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18" name="anim-g3-263"/>
          <p:cNvSpPr/>
          <p:nvPr/>
        </p:nvSpPr>
        <p:spPr>
          <a:xfrm>
            <a:off x="3802304" y="3246120"/>
            <a:ext cx="1882064"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بطارية</a:t>
            </a:r>
            <a:endParaRPr lang="ar-SA" sz="2300" dirty="0"/>
          </a:p>
        </p:txBody>
      </p:sp>
      <p:sp>
        <p:nvSpPr>
          <p:cNvPr id="19" name="anim-g3-264"/>
          <p:cNvSpPr/>
          <p:nvPr/>
        </p:nvSpPr>
        <p:spPr>
          <a:xfrm>
            <a:off x="3802304" y="3794760"/>
            <a:ext cx="1882064"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من ٧ إلى ١٢ فولت (مثل ٩ فولت) في مدخل الطاقة</a:t>
            </a:r>
            <a:endParaRPr lang="ar-SA" sz="2100" dirty="0"/>
          </a:p>
        </p:txBody>
      </p:sp>
      <p:sp>
        <p:nvSpPr>
          <p:cNvPr id="20" name="anim-g4-265"/>
          <p:cNvSpPr/>
          <p:nvPr/>
        </p:nvSpPr>
        <p:spPr>
          <a:xfrm>
            <a:off x="822960" y="2148840"/>
            <a:ext cx="2430704" cy="3566160"/>
          </a:xfrm>
          <a:prstGeom prst="roundRect">
            <a:avLst>
              <a:gd name="adj" fmla="val 677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21" name="anim-g4-266"/>
          <p:cNvSpPr/>
          <p:nvPr/>
        </p:nvSpPr>
        <p:spPr>
          <a:xfrm>
            <a:off x="2247824" y="2404872"/>
            <a:ext cx="731520" cy="731520"/>
          </a:xfrm>
          <a:prstGeom prst="roundRect">
            <a:avLst>
              <a:gd name="adj" fmla="val 25000"/>
            </a:avLst>
          </a:prstGeom>
          <a:solidFill>
            <a:srgbClr val="F7E6BC"/>
          </a:solidFill>
          <a:ln/>
        </p:spPr>
      </p:sp>
      <p:sp>
        <p:nvSpPr>
          <p:cNvPr id="22" name="anim-g4-267"/>
          <p:cNvSpPr/>
          <p:nvPr/>
        </p:nvSpPr>
        <p:spPr>
          <a:xfrm>
            <a:off x="2247824"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23" name="anim-g4-268"/>
          <p:cNvSpPr/>
          <p:nvPr/>
        </p:nvSpPr>
        <p:spPr>
          <a:xfrm>
            <a:off x="1097280" y="3246120"/>
            <a:ext cx="1882064"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منفذ Vin</a:t>
            </a:r>
            <a:endParaRPr lang="ar-SA" sz="2300" dirty="0"/>
          </a:p>
        </p:txBody>
      </p:sp>
      <p:sp>
        <p:nvSpPr>
          <p:cNvPr id="24" name="anim-g4-269"/>
          <p:cNvSpPr/>
          <p:nvPr/>
        </p:nvSpPr>
        <p:spPr>
          <a:xfrm>
            <a:off x="1097280" y="3794760"/>
            <a:ext cx="1882064"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جهد من ٧ إلى ١٢ فولت يُوصل مباشرة بالمنفذ</a:t>
            </a:r>
            <a:endParaRPr lang="ar-SA" sz="2100" dirty="0"/>
          </a:p>
        </p:txBody>
      </p:sp>
      <p:sp>
        <p:nvSpPr>
          <p:cNvPr id="25" name="Text 2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الأردوينو للمعلمين</a:t>
            </a:r>
            <a:endParaRPr lang="ar-SA" sz="1200" dirty="0"/>
          </a:p>
        </p:txBody>
      </p:sp>
      <p:sp>
        <p:nvSpPr>
          <p:cNvPr id="26" name="Text 2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الطاقة وبيئة البرمجة  ·  ٣٤</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400"/>
                                        <p:tgtEl>
                                          <p:spTgt spid="2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400"/>
                                        <p:tgtEl>
                                          <p:spTgt spid="2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400"/>
                                        <p:tgtEl>
                                          <p:spTgt spid="2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name="Slide 3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267048" y="1188720"/>
            <a:ext cx="3657600"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267048" y="1188720"/>
            <a:ext cx="365760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قاعدة الأمان الذهبية</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الجهد العالي يدخل من الباب الصحيح…</a:t>
            </a:r>
            <a:endParaRPr lang="ar-SA" sz="4400" dirty="0"/>
          </a:p>
          <a:p>
            <a:pPr algn="ctr" indent="0" marL="0">
              <a:lnSpc>
                <a:spcPct val="115000"/>
              </a:lnSpc>
              <a:buNone/>
            </a:pPr>
            <a:r>
              <a:rPr lang="ar-SA" altLang="en-US" sz="4400" dirty="0">
                <a:solidFill>
                  <a:srgbClr val="F0CC7A"/>
                </a:solidFill>
                <a:latin typeface="Cairo Black" pitchFamily="34" charset="0"/>
                <a:ea typeface="Cairo Black" pitchFamily="34" charset="-122"/>
                <a:cs typeface="Cairo Black" pitchFamily="34" charset="-120"/>
              </a:rPr>
              <a:t> مدخل الطاقة أو Vin، لا منفذ 5V أبدًا</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الأردوينو للمعلمين</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الطاقة وبيئة البرمجة  ·  ٣٥</a:t>
            </a:r>
            <a:endParaRPr lang="ar-SA"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9613087" y="457200"/>
            <a:ext cx="1755648" cy="457200"/>
          </a:xfrm>
          <a:prstGeom prst="roundRect">
            <a:avLst>
              <a:gd name="adj" fmla="val 50000"/>
            </a:avLst>
          </a:prstGeom>
          <a:solidFill>
            <a:srgbClr val="F6EBCF"/>
          </a:solidFill>
          <a:ln/>
        </p:spPr>
      </p:sp>
      <p:sp>
        <p:nvSpPr>
          <p:cNvPr id="3" name="Text 1"/>
          <p:cNvSpPr/>
          <p:nvPr/>
        </p:nvSpPr>
        <p:spPr>
          <a:xfrm>
            <a:off x="9613087" y="457200"/>
            <a:ext cx="175564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التثبيت</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تثبيت Arduino IDE في خمس خطوات</a:t>
            </a:r>
            <a:endParaRPr lang="ar-SA" sz="3800" dirty="0"/>
          </a:p>
        </p:txBody>
      </p:sp>
      <p:sp>
        <p:nvSpPr>
          <p:cNvPr id="5" name="anim-g1-270"/>
          <p:cNvSpPr/>
          <p:nvPr/>
        </p:nvSpPr>
        <p:spPr>
          <a:xfrm>
            <a:off x="822960" y="1920240"/>
            <a:ext cx="10545775" cy="735178"/>
          </a:xfrm>
          <a:prstGeom prst="roundRect">
            <a:avLst>
              <a:gd name="adj" fmla="val 19900"/>
            </a:avLst>
          </a:prstGeom>
          <a:solidFill>
            <a:srgbClr val="FFFFFF"/>
          </a:solidFill>
          <a:ln w="12700">
            <a:solidFill>
              <a:srgbClr val="E4DCC8"/>
            </a:solidFill>
            <a:prstDash val="solid"/>
          </a:ln>
        </p:spPr>
      </p:sp>
      <p:sp>
        <p:nvSpPr>
          <p:cNvPr id="6" name="anim-g1-271"/>
          <p:cNvSpPr/>
          <p:nvPr/>
        </p:nvSpPr>
        <p:spPr>
          <a:xfrm>
            <a:off x="10587838" y="2011680"/>
            <a:ext cx="552298" cy="552298"/>
          </a:xfrm>
          <a:prstGeom prst="ellipse">
            <a:avLst/>
          </a:prstGeom>
          <a:solidFill>
            <a:srgbClr val="D9AE4B"/>
          </a:solidFill>
          <a:ln/>
        </p:spPr>
      </p:sp>
      <p:sp>
        <p:nvSpPr>
          <p:cNvPr id="7" name="anim-g1-272"/>
          <p:cNvSpPr/>
          <p:nvPr/>
        </p:nvSpPr>
        <p:spPr>
          <a:xfrm>
            <a:off x="10587838" y="2011680"/>
            <a:ext cx="552298" cy="55229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١</a:t>
            </a:r>
            <a:endParaRPr lang="ar-SA" sz="2000" dirty="0"/>
          </a:p>
        </p:txBody>
      </p:sp>
      <p:sp>
        <p:nvSpPr>
          <p:cNvPr id="8" name="anim-g1-273"/>
          <p:cNvSpPr/>
          <p:nvPr/>
        </p:nvSpPr>
        <p:spPr>
          <a:xfrm>
            <a:off x="1097280" y="1920240"/>
            <a:ext cx="9261958" cy="735178"/>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افتح الموقع الرسمي</a:t>
            </a:r>
            <a:pPr algn="r" indent="0" marL="0">
              <a:buNone/>
            </a:pPr>
            <a:r>
              <a:rPr lang="ar-SA" altLang="en-US" sz="1800" b="1" dirty="0">
                <a:solidFill>
                  <a:srgbClr val="3B4460"/>
                </a:solidFill>
                <a:latin typeface="Cairo" pitchFamily="34" charset="0"/>
                <a:ea typeface="Cairo" pitchFamily="34" charset="-122"/>
                <a:cs typeface="Cairo" pitchFamily="34" charset="-120"/>
              </a:rPr>
              <a:t>   — arduino.cc/en/software ، واحذر المواقع غير الرسمية</a:t>
            </a:r>
            <a:endParaRPr lang="ar-SA" sz="2200" dirty="0"/>
          </a:p>
        </p:txBody>
      </p:sp>
      <p:sp>
        <p:nvSpPr>
          <p:cNvPr id="9" name="anim-g2-274"/>
          <p:cNvSpPr/>
          <p:nvPr/>
        </p:nvSpPr>
        <p:spPr>
          <a:xfrm>
            <a:off x="822960" y="2765146"/>
            <a:ext cx="10545775" cy="735178"/>
          </a:xfrm>
          <a:prstGeom prst="roundRect">
            <a:avLst>
              <a:gd name="adj" fmla="val 19900"/>
            </a:avLst>
          </a:prstGeom>
          <a:solidFill>
            <a:srgbClr val="FFFFFF"/>
          </a:solidFill>
          <a:ln w="12700">
            <a:solidFill>
              <a:srgbClr val="E4DCC8"/>
            </a:solidFill>
            <a:prstDash val="solid"/>
          </a:ln>
        </p:spPr>
      </p:sp>
      <p:sp>
        <p:nvSpPr>
          <p:cNvPr id="10" name="anim-g2-275"/>
          <p:cNvSpPr/>
          <p:nvPr/>
        </p:nvSpPr>
        <p:spPr>
          <a:xfrm>
            <a:off x="10587838" y="2856586"/>
            <a:ext cx="552298" cy="552298"/>
          </a:xfrm>
          <a:prstGeom prst="ellipse">
            <a:avLst/>
          </a:prstGeom>
          <a:solidFill>
            <a:srgbClr val="D9AE4B"/>
          </a:solidFill>
          <a:ln/>
        </p:spPr>
      </p:sp>
      <p:sp>
        <p:nvSpPr>
          <p:cNvPr id="11" name="anim-g2-276"/>
          <p:cNvSpPr/>
          <p:nvPr/>
        </p:nvSpPr>
        <p:spPr>
          <a:xfrm>
            <a:off x="10587838" y="2856586"/>
            <a:ext cx="552298" cy="55229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٢</a:t>
            </a:r>
            <a:endParaRPr lang="ar-SA" sz="2000" dirty="0"/>
          </a:p>
        </p:txBody>
      </p:sp>
      <p:sp>
        <p:nvSpPr>
          <p:cNvPr id="12" name="anim-g2-277"/>
          <p:cNvSpPr/>
          <p:nvPr/>
        </p:nvSpPr>
        <p:spPr>
          <a:xfrm>
            <a:off x="1097280" y="2765146"/>
            <a:ext cx="9261958" cy="735178"/>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اختر نظام تشغيلك</a:t>
            </a:r>
            <a:pPr algn="r" indent="0" marL="0">
              <a:buNone/>
            </a:pPr>
            <a:r>
              <a:rPr lang="ar-SA" altLang="en-US" sz="1800" b="1" dirty="0">
                <a:solidFill>
                  <a:srgbClr val="3B4460"/>
                </a:solidFill>
                <a:latin typeface="Cairo" pitchFamily="34" charset="0"/>
                <a:ea typeface="Cairo" pitchFamily="34" charset="-122"/>
                <a:cs typeface="Cairo" pitchFamily="34" charset="-120"/>
              </a:rPr>
              <a:t>   — ويندوز، أو ماك، أو لينكس</a:t>
            </a:r>
            <a:endParaRPr lang="ar-SA" sz="2200" dirty="0"/>
          </a:p>
        </p:txBody>
      </p:sp>
      <p:sp>
        <p:nvSpPr>
          <p:cNvPr id="13" name="anim-g3-278"/>
          <p:cNvSpPr/>
          <p:nvPr/>
        </p:nvSpPr>
        <p:spPr>
          <a:xfrm>
            <a:off x="822960" y="3610051"/>
            <a:ext cx="10545775" cy="735178"/>
          </a:xfrm>
          <a:prstGeom prst="roundRect">
            <a:avLst>
              <a:gd name="adj" fmla="val 19900"/>
            </a:avLst>
          </a:prstGeom>
          <a:solidFill>
            <a:srgbClr val="FFFFFF"/>
          </a:solidFill>
          <a:ln w="12700">
            <a:solidFill>
              <a:srgbClr val="E4DCC8"/>
            </a:solidFill>
            <a:prstDash val="solid"/>
          </a:ln>
        </p:spPr>
      </p:sp>
      <p:sp>
        <p:nvSpPr>
          <p:cNvPr id="14" name="anim-g3-279"/>
          <p:cNvSpPr/>
          <p:nvPr/>
        </p:nvSpPr>
        <p:spPr>
          <a:xfrm>
            <a:off x="10587838" y="3701491"/>
            <a:ext cx="552298" cy="552298"/>
          </a:xfrm>
          <a:prstGeom prst="ellipse">
            <a:avLst/>
          </a:prstGeom>
          <a:solidFill>
            <a:srgbClr val="D9AE4B"/>
          </a:solidFill>
          <a:ln/>
        </p:spPr>
      </p:sp>
      <p:sp>
        <p:nvSpPr>
          <p:cNvPr id="15" name="anim-g3-280"/>
          <p:cNvSpPr/>
          <p:nvPr/>
        </p:nvSpPr>
        <p:spPr>
          <a:xfrm>
            <a:off x="10587838" y="3701491"/>
            <a:ext cx="552298" cy="55229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٣</a:t>
            </a:r>
            <a:endParaRPr lang="ar-SA" sz="2000" dirty="0"/>
          </a:p>
        </p:txBody>
      </p:sp>
      <p:sp>
        <p:nvSpPr>
          <p:cNvPr id="16" name="anim-g3-281"/>
          <p:cNvSpPr/>
          <p:nvPr/>
        </p:nvSpPr>
        <p:spPr>
          <a:xfrm>
            <a:off x="1097280" y="3610051"/>
            <a:ext cx="9261958" cy="735178"/>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اضغط Just Download</a:t>
            </a:r>
            <a:pPr algn="r" indent="0" marL="0">
              <a:buNone/>
            </a:pPr>
            <a:r>
              <a:rPr lang="ar-SA" altLang="en-US" sz="1800" b="1" dirty="0">
                <a:solidFill>
                  <a:srgbClr val="3B4460"/>
                </a:solidFill>
                <a:latin typeface="Cairo" pitchFamily="34" charset="0"/>
                <a:ea typeface="Cairo" pitchFamily="34" charset="-122"/>
                <a:cs typeface="Cairo" pitchFamily="34" charset="-120"/>
              </a:rPr>
              <a:t>   — التبرع اختياري، والتحميل مجاني تمامًا</a:t>
            </a:r>
            <a:endParaRPr lang="ar-SA" sz="2200" dirty="0"/>
          </a:p>
        </p:txBody>
      </p:sp>
      <p:sp>
        <p:nvSpPr>
          <p:cNvPr id="17" name="anim-g4-282"/>
          <p:cNvSpPr/>
          <p:nvPr/>
        </p:nvSpPr>
        <p:spPr>
          <a:xfrm>
            <a:off x="822960" y="4454957"/>
            <a:ext cx="10545775" cy="735178"/>
          </a:xfrm>
          <a:prstGeom prst="roundRect">
            <a:avLst>
              <a:gd name="adj" fmla="val 19900"/>
            </a:avLst>
          </a:prstGeom>
          <a:solidFill>
            <a:srgbClr val="FFFFFF"/>
          </a:solidFill>
          <a:ln w="12700">
            <a:solidFill>
              <a:srgbClr val="E4DCC8"/>
            </a:solidFill>
            <a:prstDash val="solid"/>
          </a:ln>
        </p:spPr>
      </p:sp>
      <p:sp>
        <p:nvSpPr>
          <p:cNvPr id="18" name="anim-g4-283"/>
          <p:cNvSpPr/>
          <p:nvPr/>
        </p:nvSpPr>
        <p:spPr>
          <a:xfrm>
            <a:off x="10587838" y="4546397"/>
            <a:ext cx="552298" cy="552298"/>
          </a:xfrm>
          <a:prstGeom prst="ellipse">
            <a:avLst/>
          </a:prstGeom>
          <a:solidFill>
            <a:srgbClr val="D9AE4B"/>
          </a:solidFill>
          <a:ln/>
        </p:spPr>
      </p:sp>
      <p:sp>
        <p:nvSpPr>
          <p:cNvPr id="19" name="anim-g4-284"/>
          <p:cNvSpPr/>
          <p:nvPr/>
        </p:nvSpPr>
        <p:spPr>
          <a:xfrm>
            <a:off x="10587838" y="4546397"/>
            <a:ext cx="552298" cy="55229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٤</a:t>
            </a:r>
            <a:endParaRPr lang="ar-SA" sz="2000" dirty="0"/>
          </a:p>
        </p:txBody>
      </p:sp>
      <p:sp>
        <p:nvSpPr>
          <p:cNvPr id="20" name="anim-g4-285"/>
          <p:cNvSpPr/>
          <p:nvPr/>
        </p:nvSpPr>
        <p:spPr>
          <a:xfrm>
            <a:off x="1097280" y="4454957"/>
            <a:ext cx="9261958" cy="735178"/>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ثبّت البرنامج</a:t>
            </a:r>
            <a:pPr algn="r" indent="0" marL="0">
              <a:buNone/>
            </a:pPr>
            <a:r>
              <a:rPr lang="ar-SA" altLang="en-US" sz="1800" b="1" dirty="0">
                <a:solidFill>
                  <a:srgbClr val="3B4460"/>
                </a:solidFill>
                <a:latin typeface="Cairo" pitchFamily="34" charset="0"/>
                <a:ea typeface="Cairo" pitchFamily="34" charset="-122"/>
                <a:cs typeface="Cairo" pitchFamily="34" charset="-120"/>
              </a:rPr>
              <a:t>   — وافق على تثبيت التعريفات (Drivers) عند السؤال</a:t>
            </a:r>
            <a:endParaRPr lang="ar-SA" sz="2200" dirty="0"/>
          </a:p>
        </p:txBody>
      </p:sp>
      <p:sp>
        <p:nvSpPr>
          <p:cNvPr id="21" name="anim-g5-286"/>
          <p:cNvSpPr/>
          <p:nvPr/>
        </p:nvSpPr>
        <p:spPr>
          <a:xfrm>
            <a:off x="822960" y="5299862"/>
            <a:ext cx="10545775" cy="735178"/>
          </a:xfrm>
          <a:prstGeom prst="roundRect">
            <a:avLst>
              <a:gd name="adj" fmla="val 19900"/>
            </a:avLst>
          </a:prstGeom>
          <a:solidFill>
            <a:srgbClr val="FFFFFF"/>
          </a:solidFill>
          <a:ln w="12700">
            <a:solidFill>
              <a:srgbClr val="E4DCC8"/>
            </a:solidFill>
            <a:prstDash val="solid"/>
          </a:ln>
        </p:spPr>
      </p:sp>
      <p:sp>
        <p:nvSpPr>
          <p:cNvPr id="22" name="anim-g5-287"/>
          <p:cNvSpPr/>
          <p:nvPr/>
        </p:nvSpPr>
        <p:spPr>
          <a:xfrm>
            <a:off x="10587838" y="5391302"/>
            <a:ext cx="552298" cy="552298"/>
          </a:xfrm>
          <a:prstGeom prst="ellipse">
            <a:avLst/>
          </a:prstGeom>
          <a:solidFill>
            <a:srgbClr val="D9AE4B"/>
          </a:solidFill>
          <a:ln/>
        </p:spPr>
      </p:sp>
      <p:sp>
        <p:nvSpPr>
          <p:cNvPr id="23" name="anim-g5-288"/>
          <p:cNvSpPr/>
          <p:nvPr/>
        </p:nvSpPr>
        <p:spPr>
          <a:xfrm>
            <a:off x="10587838" y="5391302"/>
            <a:ext cx="552298" cy="55229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٥</a:t>
            </a:r>
            <a:endParaRPr lang="ar-SA" sz="2000" dirty="0"/>
          </a:p>
        </p:txBody>
      </p:sp>
      <p:sp>
        <p:nvSpPr>
          <p:cNvPr id="24" name="anim-g5-289"/>
          <p:cNvSpPr/>
          <p:nvPr/>
        </p:nvSpPr>
        <p:spPr>
          <a:xfrm>
            <a:off x="1097280" y="5299862"/>
            <a:ext cx="9261958" cy="735178"/>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وصّل اللوحة واختر المنفذ</a:t>
            </a:r>
            <a:pPr algn="r" indent="0" marL="0">
              <a:buNone/>
            </a:pPr>
            <a:r>
              <a:rPr lang="ar-SA" altLang="en-US" sz="1800" b="1" dirty="0">
                <a:solidFill>
                  <a:srgbClr val="3B4460"/>
                </a:solidFill>
                <a:latin typeface="Cairo" pitchFamily="34" charset="0"/>
                <a:ea typeface="Cairo" pitchFamily="34" charset="-122"/>
                <a:cs typeface="Cairo" pitchFamily="34" charset="-120"/>
              </a:rPr>
              <a:t>   — من قائمة Tools: اختر Arduino Uno والمنفذ</a:t>
            </a:r>
            <a:endParaRPr lang="ar-SA" sz="2200" dirty="0"/>
          </a:p>
        </p:txBody>
      </p:sp>
      <p:sp>
        <p:nvSpPr>
          <p:cNvPr id="25" name="Text 2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الأردوينو للمعلمين</a:t>
            </a:r>
            <a:endParaRPr lang="ar-SA" sz="1200" dirty="0"/>
          </a:p>
        </p:txBody>
      </p:sp>
      <p:sp>
        <p:nvSpPr>
          <p:cNvPr id="26" name="Text 2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الطاقة وبيئة البرمجة  ·  ٣٦</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400"/>
                                        <p:tgtEl>
                                          <p:spTgt spid="21"/>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400"/>
                                        <p:tgtEl>
                                          <p:spTgt spid="22"/>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3"/>
                                        </p:tgtEl>
                                        <p:attrNameLst>
                                          <p:attrName>style.visibility</p:attrName>
                                        </p:attrNameLst>
                                      </p:cBhvr>
                                      <p:to>
                                        <p:strVal val="visible"/>
                                      </p:to>
                                    </p:set>
                                    <p:animEffect transition="in" filter="fade">
                                      <p:cBhvr>
                                        <p:cTn id="69" dur="400"/>
                                        <p:tgtEl>
                                          <p:spTgt spid="23"/>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4"/>
                                        </p:tgtEl>
                                        <p:attrNameLst>
                                          <p:attrName>style.visibility</p:attrName>
                                        </p:attrNameLst>
                                      </p:cBhvr>
                                      <p:to>
                                        <p:strVal val="visible"/>
                                      </p:to>
                                    </p:set>
                                    <p:animEffect transition="in" filter="fade">
                                      <p:cBhvr>
                                        <p:cTn id="72"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pic>
        <p:nvPicPr>
          <p:cNvPr id="2" name="Image 0" descr="/Users/mac/Desktop/أردوينو/المشاريع والكتب/younes-training/arduino/.pptx-cache/s3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pic>
        <p:nvPicPr>
          <p:cNvPr id="2" name="Image 0" descr="/Users/mac/Desktop/أردوينو/المشاريع والكتب/younes-training/arduino/.pptx-cache/s3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pic>
        <p:nvPicPr>
          <p:cNvPr id="2" name="Image 0" descr="/Users/mac/Desktop/أردوينو/المشاريع والكتب/younes-training/arduino/.pptx-cache/s39-0.jpg">    </p:cNvPr>
          <p:cNvPicPr>
            <a:picLocks noChangeAspect="1"/>
          </p:cNvPicPr>
          <p:nvPr/>
        </p:nvPicPr>
        <p:blipFill>
          <a:blip r:embed="rId1"/>
          <a:stretch>
            <a:fillRect/>
          </a:stretch>
        </p:blipFill>
        <p:spPr>
          <a:xfrm>
            <a:off x="0" y="0"/>
            <a:ext cx="12191695" cy="6858000"/>
          </a:xfrm>
          <a:prstGeom prst="rect">
            <a:avLst/>
          </a:prstGeom>
        </p:spPr>
      </p:pic>
      <p:pic>
        <p:nvPicPr>
          <p:cNvPr id="3" name="anim-g1-290" descr="/Users/mac/Desktop/أردوينو/المشاريع والكتب/younes-training/arduino/.pptx-cache/s39-1.jpg">    </p:cNvPr>
          <p:cNvPicPr>
            <a:picLocks noChangeAspect="1"/>
          </p:cNvPicPr>
          <p:nvPr/>
        </p:nvPicPr>
        <p:blipFill>
          <a:blip r:embed="rId2"/>
          <a:stretch>
            <a:fillRect/>
          </a:stretch>
        </p:blipFill>
        <p:spPr>
          <a:xfrm>
            <a:off x="0" y="0"/>
            <a:ext cx="12191695" cy="6858000"/>
          </a:xfrm>
          <a:prstGeom prst="rect">
            <a:avLst/>
          </a:prstGeom>
        </p:spPr>
      </p:pic>
      <p:pic>
        <p:nvPicPr>
          <p:cNvPr id="4" name="anim-g2-291" descr="/Users/mac/Desktop/أردوينو/المشاريع والكتب/younes-training/arduino/.pptx-cache/s39-2.jpg">    </p:cNvPr>
          <p:cNvPicPr>
            <a:picLocks noChangeAspect="1"/>
          </p:cNvPicPr>
          <p:nvPr/>
        </p:nvPicPr>
        <p:blipFill>
          <a:blip r:embed="rId3"/>
          <a:stretch>
            <a:fillRect/>
          </a:stretch>
        </p:blipFill>
        <p:spPr>
          <a:xfrm>
            <a:off x="0" y="0"/>
            <a:ext cx="12191695" cy="6858000"/>
          </a:xfrm>
          <a:prstGeom prst="rect">
            <a:avLst/>
          </a:prstGeom>
        </p:spPr>
      </p:pic>
      <p:pic>
        <p:nvPicPr>
          <p:cNvPr id="5" name="anim-g3-292" descr="/Users/mac/Desktop/أردوينو/المشاريع والكتب/younes-training/arduino/.pptx-cache/s39-3.jpg">    </p:cNvPr>
          <p:cNvPicPr>
            <a:picLocks noChangeAspect="1"/>
          </p:cNvPicPr>
          <p:nvPr/>
        </p:nvPicPr>
        <p:blipFill>
          <a:blip r:embed="rId4"/>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name="Slide 4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218024" y="1188720"/>
            <a:ext cx="1755648"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5218024" y="1188720"/>
            <a:ext cx="175564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في جملة</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setup تُجهّز مرة واحدة…</a:t>
            </a:r>
            <a:endParaRPr lang="ar-SA" sz="4400" dirty="0"/>
          </a:p>
          <a:p>
            <a:pPr algn="ctr" indent="0" marL="0">
              <a:lnSpc>
                <a:spcPct val="115000"/>
              </a:lnSpc>
              <a:buNone/>
            </a:pPr>
            <a:r>
              <a:rPr lang="ar-SA" altLang="en-US" sz="4400" dirty="0">
                <a:solidFill>
                  <a:srgbClr val="F0CC7A"/>
                </a:solidFill>
                <a:latin typeface="Cairo Black" pitchFamily="34" charset="0"/>
                <a:ea typeface="Cairo Black" pitchFamily="34" charset="-122"/>
                <a:cs typeface="Cairo Black" pitchFamily="34" charset="-120"/>
              </a:rPr>
              <a:t> و loop تعمل إلى الأبد</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الأردوينو للمعلمين</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الطاقة وبيئة البرمجة  ·  ٤٠</a:t>
            </a:r>
            <a:endParaRPr lang="ar-SA" sz="1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81567" y="457200"/>
            <a:ext cx="2487168" cy="457200"/>
          </a:xfrm>
          <a:prstGeom prst="roundRect">
            <a:avLst>
              <a:gd name="adj" fmla="val 50000"/>
            </a:avLst>
          </a:prstGeom>
          <a:solidFill>
            <a:srgbClr val="F6EBCF"/>
          </a:solidFill>
          <a:ln/>
        </p:spPr>
      </p:sp>
      <p:sp>
        <p:nvSpPr>
          <p:cNvPr id="3" name="Text 1"/>
          <p:cNvSpPr/>
          <p:nvPr/>
        </p:nvSpPr>
        <p:spPr>
          <a:xfrm>
            <a:off x="8881567" y="45720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اختبر نفسك</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كتبت الكود… أي زر يرسله إلى اللوحة؟</a:t>
            </a:r>
            <a:endParaRPr lang="ar-SA" sz="3200" dirty="0"/>
          </a:p>
        </p:txBody>
      </p:sp>
      <p:sp>
        <p:nvSpPr>
          <p:cNvPr id="5" name="Shape 3"/>
          <p:cNvSpPr/>
          <p:nvPr/>
        </p:nvSpPr>
        <p:spPr>
          <a:xfrm>
            <a:off x="822960" y="2057400"/>
            <a:ext cx="10545775" cy="1228344"/>
          </a:xfrm>
          <a:prstGeom prst="roundRect">
            <a:avLst>
              <a:gd name="adj" fmla="val 11911"/>
            </a:avLst>
          </a:prstGeom>
          <a:solidFill>
            <a:srgbClr val="FFFFFF"/>
          </a:solidFill>
          <a:ln w="19050">
            <a:solidFill>
              <a:srgbClr val="E4DCC8"/>
            </a:solidFill>
            <a:prstDash val="solid"/>
          </a:ln>
        </p:spPr>
      </p:sp>
      <p:sp>
        <p:nvSpPr>
          <p:cNvPr id="6" name="Shape 4"/>
          <p:cNvSpPr/>
          <p:nvPr/>
        </p:nvSpPr>
        <p:spPr>
          <a:xfrm>
            <a:off x="10231831" y="2194560"/>
            <a:ext cx="954024" cy="954024"/>
          </a:xfrm>
          <a:prstGeom prst="roundRect">
            <a:avLst>
              <a:gd name="adj" fmla="val 11502"/>
            </a:avLst>
          </a:prstGeom>
          <a:solidFill>
            <a:srgbClr val="101B45"/>
          </a:solidFill>
          <a:ln/>
        </p:spPr>
      </p:sp>
      <p:sp>
        <p:nvSpPr>
          <p:cNvPr id="7" name="Text 5"/>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8" name="Text 6"/>
          <p:cNvSpPr/>
          <p:nvPr/>
        </p:nvSpPr>
        <p:spPr>
          <a:xfrm>
            <a:off x="1097280" y="2057400"/>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زر التحقق ✓</a:t>
            </a:r>
            <a:endParaRPr lang="ar-SA" sz="2500" dirty="0"/>
          </a:p>
        </p:txBody>
      </p:sp>
      <p:sp>
        <p:nvSpPr>
          <p:cNvPr id="9" name="anim-g1-293"/>
          <p:cNvSpPr/>
          <p:nvPr/>
        </p:nvSpPr>
        <p:spPr>
          <a:xfrm>
            <a:off x="822960" y="2057400"/>
            <a:ext cx="10545775" cy="1228344"/>
          </a:xfrm>
          <a:prstGeom prst="roundRect">
            <a:avLst>
              <a:gd name="adj" fmla="val 11911"/>
            </a:avLst>
          </a:prstGeom>
          <a:solidFill>
            <a:srgbClr val="F7F7F9"/>
          </a:solidFill>
          <a:ln w="19050">
            <a:solidFill>
              <a:srgbClr val="E4DCC8"/>
            </a:solidFill>
            <a:prstDash val="solid"/>
          </a:ln>
        </p:spPr>
      </p:sp>
      <p:sp>
        <p:nvSpPr>
          <p:cNvPr id="10" name="anim-g1-294"/>
          <p:cNvSpPr/>
          <p:nvPr/>
        </p:nvSpPr>
        <p:spPr>
          <a:xfrm>
            <a:off x="10231831" y="2194560"/>
            <a:ext cx="954024" cy="954024"/>
          </a:xfrm>
          <a:prstGeom prst="roundRect">
            <a:avLst>
              <a:gd name="adj" fmla="val 11502"/>
            </a:avLst>
          </a:prstGeom>
          <a:solidFill>
            <a:srgbClr val="A3A9BA"/>
          </a:solidFill>
          <a:ln/>
        </p:spPr>
      </p:sp>
      <p:sp>
        <p:nvSpPr>
          <p:cNvPr id="11" name="anim-g1-295"/>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12" name="anim-g1-296"/>
          <p:cNvSpPr/>
          <p:nvPr/>
        </p:nvSpPr>
        <p:spPr>
          <a:xfrm>
            <a:off x="1097280" y="2093976"/>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زر التحقق ✓</a:t>
            </a:r>
            <a:endParaRPr lang="ar-SA" sz="2400" dirty="0"/>
          </a:p>
        </p:txBody>
      </p:sp>
      <p:sp>
        <p:nvSpPr>
          <p:cNvPr id="13" name="anim-g1-297"/>
          <p:cNvSpPr/>
          <p:nvPr/>
        </p:nvSpPr>
        <p:spPr>
          <a:xfrm>
            <a:off x="1097280" y="2720706"/>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يفحص الكود ويكشف الأخطاء فقط، ولا يرسله</a:t>
            </a:r>
            <a:endParaRPr lang="ar-SA" sz="1800" dirty="0"/>
          </a:p>
        </p:txBody>
      </p:sp>
      <p:sp>
        <p:nvSpPr>
          <p:cNvPr id="14" name="Shape 12"/>
          <p:cNvSpPr/>
          <p:nvPr/>
        </p:nvSpPr>
        <p:spPr>
          <a:xfrm>
            <a:off x="822960" y="3432048"/>
            <a:ext cx="10545775" cy="1228344"/>
          </a:xfrm>
          <a:prstGeom prst="roundRect">
            <a:avLst>
              <a:gd name="adj" fmla="val 11911"/>
            </a:avLst>
          </a:prstGeom>
          <a:solidFill>
            <a:srgbClr val="FFFFFF"/>
          </a:solidFill>
          <a:ln w="19050">
            <a:solidFill>
              <a:srgbClr val="E4DCC8"/>
            </a:solidFill>
            <a:prstDash val="solid"/>
          </a:ln>
        </p:spPr>
      </p:sp>
      <p:sp>
        <p:nvSpPr>
          <p:cNvPr id="15" name="Shape 13"/>
          <p:cNvSpPr/>
          <p:nvPr/>
        </p:nvSpPr>
        <p:spPr>
          <a:xfrm>
            <a:off x="10231831" y="3569208"/>
            <a:ext cx="954024" cy="954024"/>
          </a:xfrm>
          <a:prstGeom prst="roundRect">
            <a:avLst>
              <a:gd name="adj" fmla="val 11502"/>
            </a:avLst>
          </a:prstGeom>
          <a:solidFill>
            <a:srgbClr val="101B45"/>
          </a:solidFill>
          <a:ln/>
        </p:spPr>
      </p:sp>
      <p:sp>
        <p:nvSpPr>
          <p:cNvPr id="16" name="Text 14"/>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17" name="Text 15"/>
          <p:cNvSpPr/>
          <p:nvPr/>
        </p:nvSpPr>
        <p:spPr>
          <a:xfrm>
            <a:off x="1097280" y="3432048"/>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زر الرفع ➜</a:t>
            </a:r>
            <a:endParaRPr lang="ar-SA" sz="2500" dirty="0"/>
          </a:p>
        </p:txBody>
      </p:sp>
      <p:sp>
        <p:nvSpPr>
          <p:cNvPr id="18" name="anim-g1-298"/>
          <p:cNvSpPr/>
          <p:nvPr/>
        </p:nvSpPr>
        <p:spPr>
          <a:xfrm>
            <a:off x="822960" y="3432048"/>
            <a:ext cx="10545775" cy="1228344"/>
          </a:xfrm>
          <a:prstGeom prst="roundRect">
            <a:avLst>
              <a:gd name="adj" fmla="val 11911"/>
            </a:avLst>
          </a:prstGeom>
          <a:solidFill>
            <a:srgbClr val="E6F4EC"/>
          </a:solidFill>
          <a:ln w="31750">
            <a:solidFill>
              <a:srgbClr val="2E9E6B"/>
            </a:solidFill>
            <a:prstDash val="solid"/>
          </a:ln>
        </p:spPr>
      </p:sp>
      <p:sp>
        <p:nvSpPr>
          <p:cNvPr id="19" name="anim-g1-299"/>
          <p:cNvSpPr/>
          <p:nvPr/>
        </p:nvSpPr>
        <p:spPr>
          <a:xfrm>
            <a:off x="10231831" y="3569208"/>
            <a:ext cx="954024" cy="954024"/>
          </a:xfrm>
          <a:prstGeom prst="roundRect">
            <a:avLst>
              <a:gd name="adj" fmla="val 11502"/>
            </a:avLst>
          </a:prstGeom>
          <a:solidFill>
            <a:srgbClr val="2E9E6B"/>
          </a:solidFill>
          <a:ln/>
        </p:spPr>
      </p:sp>
      <p:sp>
        <p:nvSpPr>
          <p:cNvPr id="20" name="anim-g1-300"/>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a:t>
            </a:r>
            <a:endParaRPr lang="ar-SA" sz="2400" dirty="0"/>
          </a:p>
        </p:txBody>
      </p:sp>
      <p:sp>
        <p:nvSpPr>
          <p:cNvPr id="21" name="anim-g1-301"/>
          <p:cNvSpPr/>
          <p:nvPr/>
        </p:nvSpPr>
        <p:spPr>
          <a:xfrm>
            <a:off x="1097280" y="3468624"/>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131B34"/>
                </a:solidFill>
                <a:latin typeface="Cairo" pitchFamily="34" charset="0"/>
                <a:ea typeface="Cairo" pitchFamily="34" charset="-122"/>
                <a:cs typeface="Cairo" pitchFamily="34" charset="-120"/>
              </a:rPr>
              <a:t>زر الرفع ➜</a:t>
            </a:r>
            <a:endParaRPr lang="ar-SA" sz="2400" dirty="0"/>
          </a:p>
        </p:txBody>
      </p:sp>
      <p:sp>
        <p:nvSpPr>
          <p:cNvPr id="22" name="anim-g1-302"/>
          <p:cNvSpPr/>
          <p:nvPr/>
        </p:nvSpPr>
        <p:spPr>
          <a:xfrm>
            <a:off x="1097280" y="4095354"/>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1D5E40"/>
                </a:solidFill>
                <a:latin typeface="Cairo" pitchFamily="34" charset="0"/>
                <a:ea typeface="Cairo" pitchFamily="34" charset="-122"/>
                <a:cs typeface="Cairo" pitchFamily="34" charset="-120"/>
              </a:rPr>
              <a:t>يترجم الكود ويرسله إلى اللوحة عبر USB</a:t>
            </a:r>
            <a:endParaRPr lang="ar-SA" sz="1800" dirty="0"/>
          </a:p>
        </p:txBody>
      </p:sp>
      <p:sp>
        <p:nvSpPr>
          <p:cNvPr id="23" name="Shape 21"/>
          <p:cNvSpPr/>
          <p:nvPr/>
        </p:nvSpPr>
        <p:spPr>
          <a:xfrm>
            <a:off x="822960" y="4806696"/>
            <a:ext cx="10545775" cy="1228344"/>
          </a:xfrm>
          <a:prstGeom prst="roundRect">
            <a:avLst>
              <a:gd name="adj" fmla="val 11911"/>
            </a:avLst>
          </a:prstGeom>
          <a:solidFill>
            <a:srgbClr val="FFFFFF"/>
          </a:solidFill>
          <a:ln w="19050">
            <a:solidFill>
              <a:srgbClr val="E4DCC8"/>
            </a:solidFill>
            <a:prstDash val="solid"/>
          </a:ln>
        </p:spPr>
      </p:sp>
      <p:sp>
        <p:nvSpPr>
          <p:cNvPr id="24" name="Shape 22"/>
          <p:cNvSpPr/>
          <p:nvPr/>
        </p:nvSpPr>
        <p:spPr>
          <a:xfrm>
            <a:off x="10231831" y="4943856"/>
            <a:ext cx="954024" cy="954024"/>
          </a:xfrm>
          <a:prstGeom prst="roundRect">
            <a:avLst>
              <a:gd name="adj" fmla="val 11502"/>
            </a:avLst>
          </a:prstGeom>
          <a:solidFill>
            <a:srgbClr val="101B45"/>
          </a:solidFill>
          <a:ln/>
        </p:spPr>
      </p:sp>
      <p:sp>
        <p:nvSpPr>
          <p:cNvPr id="25" name="Text 23"/>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26" name="Text 24"/>
          <p:cNvSpPr/>
          <p:nvPr/>
        </p:nvSpPr>
        <p:spPr>
          <a:xfrm>
            <a:off x="1097280" y="4806696"/>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زر الشاشة التسلسلية 🔍</a:t>
            </a:r>
            <a:endParaRPr lang="ar-SA" sz="2500" dirty="0"/>
          </a:p>
        </p:txBody>
      </p:sp>
      <p:sp>
        <p:nvSpPr>
          <p:cNvPr id="27" name="anim-g1-303"/>
          <p:cNvSpPr/>
          <p:nvPr/>
        </p:nvSpPr>
        <p:spPr>
          <a:xfrm>
            <a:off x="822960" y="4806696"/>
            <a:ext cx="10545775" cy="1228344"/>
          </a:xfrm>
          <a:prstGeom prst="roundRect">
            <a:avLst>
              <a:gd name="adj" fmla="val 11911"/>
            </a:avLst>
          </a:prstGeom>
          <a:solidFill>
            <a:srgbClr val="F7F7F9"/>
          </a:solidFill>
          <a:ln w="19050">
            <a:solidFill>
              <a:srgbClr val="E4DCC8"/>
            </a:solidFill>
            <a:prstDash val="solid"/>
          </a:ln>
        </p:spPr>
      </p:sp>
      <p:sp>
        <p:nvSpPr>
          <p:cNvPr id="28" name="anim-g1-304"/>
          <p:cNvSpPr/>
          <p:nvPr/>
        </p:nvSpPr>
        <p:spPr>
          <a:xfrm>
            <a:off x="10231831" y="4943856"/>
            <a:ext cx="954024" cy="954024"/>
          </a:xfrm>
          <a:prstGeom prst="roundRect">
            <a:avLst>
              <a:gd name="adj" fmla="val 11502"/>
            </a:avLst>
          </a:prstGeom>
          <a:solidFill>
            <a:srgbClr val="A3A9BA"/>
          </a:solidFill>
          <a:ln/>
        </p:spPr>
      </p:sp>
      <p:sp>
        <p:nvSpPr>
          <p:cNvPr id="29" name="anim-g1-305"/>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30" name="anim-g1-306"/>
          <p:cNvSpPr/>
          <p:nvPr/>
        </p:nvSpPr>
        <p:spPr>
          <a:xfrm>
            <a:off x="1097280" y="4843272"/>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زر الشاشة التسلسلية 🔍</a:t>
            </a:r>
            <a:endParaRPr lang="ar-SA" sz="2400" dirty="0"/>
          </a:p>
        </p:txBody>
      </p:sp>
      <p:sp>
        <p:nvSpPr>
          <p:cNvPr id="31" name="anim-g1-307"/>
          <p:cNvSpPr/>
          <p:nvPr/>
        </p:nvSpPr>
        <p:spPr>
          <a:xfrm>
            <a:off x="1097280" y="5470002"/>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يعرض الرسائل القادمة من اللوحة، ولا يرسل الكود</a:t>
            </a:r>
            <a:endParaRPr lang="ar-SA" sz="1800" dirty="0"/>
          </a:p>
        </p:txBody>
      </p:sp>
      <p:sp>
        <p:nvSpPr>
          <p:cNvPr id="32" name="Text 30"/>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الأردوينو للمعلمين</a:t>
            </a:r>
            <a:endParaRPr lang="ar-SA" sz="1200" dirty="0"/>
          </a:p>
        </p:txBody>
      </p:sp>
      <p:sp>
        <p:nvSpPr>
          <p:cNvPr id="33" name="Text 31"/>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الطاقة وبيئة البرمجة  ·  ٤١</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00"/>
                                        <p:tgtEl>
                                          <p:spTgt spid="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00"/>
                                        <p:tgtEl>
                                          <p:spTgt spid="2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400"/>
                                        <p:tgtEl>
                                          <p:spTgt spid="2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400"/>
                                        <p:tgtEl>
                                          <p:spTgt spid="3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fade">
                                      <p:cBhvr>
                                        <p:cTn id="4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8" grpId="0" animBg="1"/>
      <p:bldP spid="19" grpId="0" animBg="1"/>
      <p:bldP spid="20" grpId="0" animBg="1"/>
      <p:bldP spid="21" grpId="0" animBg="1"/>
      <p:bldP spid="22" grpId="0" animBg="1"/>
      <p:bldP spid="27" grpId="0" animBg="1"/>
      <p:bldP spid="28" grpId="0" animBg="1"/>
      <p:bldP spid="29" grpId="0" animBg="1"/>
      <p:bldP spid="30" grpId="0" animBg="1"/>
      <p:bldP spid="31"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pic>
        <p:nvPicPr>
          <p:cNvPr id="2" name="Image 0" descr="/Users/mac/Desktop/أردوينو/المشاريع والكتب/younes-training/arduino/.pptx-cache/s4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pic>
        <p:nvPicPr>
          <p:cNvPr id="2" name="Image 0" descr="/Users/mac/Desktop/أردوينو/المشاريع والكتب/younes-training/arduino/.pptx-cache/s4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852264" y="1188720"/>
            <a:ext cx="2487168"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852264" y="118872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خلاصة المحور</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اللوحة تحتاج طاقة آمنة…</a:t>
            </a:r>
            <a:endParaRPr lang="ar-SA" sz="4400" dirty="0"/>
          </a:p>
          <a:p>
            <a:pPr algn="ctr" indent="0" marL="0">
              <a:lnSpc>
                <a:spcPct val="115000"/>
              </a:lnSpc>
              <a:buNone/>
            </a:pPr>
            <a:r>
              <a:rPr lang="ar-SA" altLang="en-US" sz="4400" dirty="0">
                <a:solidFill>
                  <a:srgbClr val="F0CC7A"/>
                </a:solidFill>
                <a:latin typeface="Cairo Black" pitchFamily="34" charset="0"/>
                <a:ea typeface="Cairo Black" pitchFamily="34" charset="-122"/>
                <a:cs typeface="Cairo Black" pitchFamily="34" charset="-120"/>
              </a:rPr>
              <a:t> وبرنامجًا واضحًا. والآن ننتقل إلى المختبر الافتراضي</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الأردوينو للمعلمين</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الطاقة وبيئة البرمجة  ·  ٤٤</a:t>
            </a:r>
            <a:endParaRPr lang="ar-SA" sz="1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97280" y="2103120"/>
            <a:ext cx="2651760" cy="2651760"/>
          </a:xfrm>
          <a:prstGeom prst="ellipse">
            <a:avLst/>
          </a:prstGeom>
          <a:solidFill>
            <a:srgbClr val="D9AE4B">
              <a:alpha val="12000"/>
            </a:srgbClr>
          </a:solidFill>
          <a:ln w="63500">
            <a:solidFill>
              <a:srgbClr val="D9AE4B">
                <a:alpha val="60000"/>
              </a:srgbClr>
            </a:solidFill>
            <a:prstDash val="solid"/>
          </a:ln>
        </p:spPr>
      </p:sp>
      <p:sp>
        <p:nvSpPr>
          <p:cNvPr id="3" name="Text 1"/>
          <p:cNvSpPr/>
          <p:nvPr/>
        </p:nvSpPr>
        <p:spPr>
          <a:xfrm>
            <a:off x="1097280" y="2103120"/>
            <a:ext cx="2651760" cy="2651760"/>
          </a:xfrm>
          <a:prstGeom prst="rect">
            <a:avLst/>
          </a:prstGeom>
          <a:noFill/>
          <a:ln/>
        </p:spPr>
        <p:txBody>
          <a:bodyPr wrap="square" lIns="0" tIns="0" rIns="0" bIns="0" rtlCol="0" anchor="ctr">
            <a:normAutofit/>
          </a:bodyPr>
          <a:lstStyle/>
          <a:p>
            <a:pPr rtl="1" algn="ctr" indent="0" marL="0">
              <a:buNone/>
            </a:pPr>
            <a:r>
              <a:rPr lang="ar-SA" altLang="en-US" sz="12000" dirty="0">
                <a:solidFill>
                  <a:srgbClr val="F0CC7A"/>
                </a:solidFill>
                <a:latin typeface="Cairo Black" pitchFamily="34" charset="0"/>
                <a:ea typeface="Cairo Black" pitchFamily="34" charset="-122"/>
                <a:cs typeface="Cairo Black" pitchFamily="34" charset="-120"/>
              </a:rPr>
              <a:t>٤</a:t>
            </a:r>
            <a:endParaRPr lang="ar-SA" sz="12000" dirty="0"/>
          </a:p>
        </p:txBody>
      </p:sp>
      <p:sp>
        <p:nvSpPr>
          <p:cNvPr id="4" name="Text 2"/>
          <p:cNvSpPr/>
          <p:nvPr/>
        </p:nvSpPr>
        <p:spPr>
          <a:xfrm>
            <a:off x="4206240" y="1828800"/>
            <a:ext cx="7162495" cy="457200"/>
          </a:xfrm>
          <a:prstGeom prst="rect">
            <a:avLst/>
          </a:prstGeom>
          <a:noFill/>
          <a:ln/>
        </p:spPr>
        <p:txBody>
          <a:bodyPr wrap="square" lIns="0" tIns="0" rIns="0" bIns="0" rtlCol="0" anchor="ctr">
            <a:normAutofit/>
          </a:bodyPr>
          <a:lstStyle/>
          <a:p>
            <a:pPr rtl="1" algn="r" indent="0" marL="0">
              <a:buNone/>
            </a:pPr>
            <a:r>
              <a:rPr lang="ar-SA" altLang="en-US" sz="2000" b="1" dirty="0">
                <a:solidFill>
                  <a:srgbClr val="D9AE4B"/>
                </a:solidFill>
                <a:latin typeface="Cairo" pitchFamily="34" charset="0"/>
                <a:ea typeface="Cairo" pitchFamily="34" charset="-122"/>
                <a:cs typeface="Cairo" pitchFamily="34" charset="-120"/>
              </a:rPr>
              <a:t>المحور ٤</a:t>
            </a:r>
            <a:endParaRPr lang="ar-SA" sz="2000" dirty="0"/>
          </a:p>
        </p:txBody>
      </p:sp>
      <p:sp>
        <p:nvSpPr>
          <p:cNvPr id="5" name="Text 3"/>
          <p:cNvSpPr/>
          <p:nvPr/>
        </p:nvSpPr>
        <p:spPr>
          <a:xfrm>
            <a:off x="4206240" y="2286000"/>
            <a:ext cx="7162495" cy="1371600"/>
          </a:xfrm>
          <a:prstGeom prst="rect">
            <a:avLst/>
          </a:prstGeom>
          <a:noFill/>
          <a:ln/>
        </p:spPr>
        <p:txBody>
          <a:bodyPr wrap="square" lIns="0" tIns="0" rIns="0" bIns="0" rtlCol="0" anchor="ctr">
            <a:normAutofit/>
          </a:bodyPr>
          <a:lstStyle/>
          <a:p>
            <a:pPr rtl="1" algn="r" indent="0" marL="0">
              <a:buNone/>
            </a:pPr>
            <a:r>
              <a:rPr lang="ar-SA" altLang="en-US" sz="5600" dirty="0">
                <a:solidFill>
                  <a:srgbClr val="FFFFFF"/>
                </a:solidFill>
                <a:latin typeface="Cairo Black" pitchFamily="34" charset="0"/>
                <a:ea typeface="Cairo Black" pitchFamily="34" charset="-122"/>
                <a:cs typeface="Cairo Black" pitchFamily="34" charset="-120"/>
              </a:rPr>
              <a:t>Tinkercad ولوح التوصيل</a:t>
            </a:r>
            <a:endParaRPr lang="ar-SA" sz="5600" dirty="0"/>
          </a:p>
        </p:txBody>
      </p:sp>
      <p:sp>
        <p:nvSpPr>
          <p:cNvPr id="6" name="Text 4"/>
          <p:cNvSpPr/>
          <p:nvPr/>
        </p:nvSpPr>
        <p:spPr>
          <a:xfrm>
            <a:off x="4206240" y="3749040"/>
            <a:ext cx="7162495" cy="822960"/>
          </a:xfrm>
          <a:prstGeom prst="rect">
            <a:avLst/>
          </a:prstGeom>
          <a:noFill/>
          <a:ln/>
        </p:spPr>
        <p:txBody>
          <a:bodyPr wrap="square" lIns="0" tIns="0" rIns="0" bIns="0" rtlCol="0" anchor="ctr">
            <a:normAutofit/>
          </a:bodyPr>
          <a:lstStyle/>
          <a:p>
            <a:pPr rtl="1" algn="r" indent="0" marL="0">
              <a:buNone/>
            </a:pPr>
            <a:r>
              <a:rPr lang="ar-SA" altLang="en-US" sz="2200" b="1" dirty="0">
                <a:solidFill>
                  <a:srgbClr val="C9CFE6"/>
                </a:solidFill>
                <a:latin typeface="Cairo" pitchFamily="34" charset="0"/>
                <a:ea typeface="Cairo" pitchFamily="34" charset="-122"/>
                <a:cs typeface="Cairo" pitchFamily="34" charset="-120"/>
              </a:rPr>
              <a:t>مختبر إلكترونيات كامل… داخل المتصفح</a:t>
            </a:r>
            <a:endParaRPr lang="ar-SA" sz="2200" dirty="0"/>
          </a:p>
        </p:txBody>
      </p:sp>
      <p:sp>
        <p:nvSpPr>
          <p:cNvPr id="7" name="Text 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الأردوينو للمعلمين</a:t>
            </a:r>
            <a:endParaRPr lang="ar-SA" sz="1200" dirty="0"/>
          </a:p>
        </p:txBody>
      </p:sp>
      <p:sp>
        <p:nvSpPr>
          <p:cNvPr id="8" name="Text 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Tinkercad ولوح التوصيل  ·  ٤٥</a:t>
            </a:r>
            <a:endParaRPr lang="ar-SA" sz="1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248095" y="457200"/>
            <a:ext cx="5120640" cy="457200"/>
          </a:xfrm>
          <a:prstGeom prst="roundRect">
            <a:avLst>
              <a:gd name="adj" fmla="val 50000"/>
            </a:avLst>
          </a:prstGeom>
          <a:solidFill>
            <a:srgbClr val="F6EBCF"/>
          </a:solidFill>
          <a:ln/>
        </p:spPr>
      </p:sp>
      <p:sp>
        <p:nvSpPr>
          <p:cNvPr id="3" name="Text 1"/>
          <p:cNvSpPr/>
          <p:nvPr/>
        </p:nvSpPr>
        <p:spPr>
          <a:xfrm>
            <a:off x="6248095" y="457200"/>
            <a:ext cx="512064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بنهاية هذا المحور تستطيع أن</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أهداف المحور</a:t>
            </a:r>
            <a:endParaRPr lang="ar-SA" sz="3800" dirty="0"/>
          </a:p>
        </p:txBody>
      </p:sp>
      <p:sp>
        <p:nvSpPr>
          <p:cNvPr id="5" name="anim-g1-308"/>
          <p:cNvSpPr/>
          <p:nvPr/>
        </p:nvSpPr>
        <p:spPr>
          <a:xfrm>
            <a:off x="822960" y="1920240"/>
            <a:ext cx="10545775" cy="946404"/>
          </a:xfrm>
          <a:prstGeom prst="roundRect">
            <a:avLst>
              <a:gd name="adj" fmla="val 15459"/>
            </a:avLst>
          </a:prstGeom>
          <a:solidFill>
            <a:srgbClr val="FFFFFF"/>
          </a:solidFill>
          <a:ln w="12700">
            <a:solidFill>
              <a:srgbClr val="E4DCC8"/>
            </a:solidFill>
            <a:prstDash val="solid"/>
          </a:ln>
        </p:spPr>
      </p:sp>
      <p:sp>
        <p:nvSpPr>
          <p:cNvPr id="6" name="anim-g1-309"/>
          <p:cNvSpPr/>
          <p:nvPr/>
        </p:nvSpPr>
        <p:spPr>
          <a:xfrm>
            <a:off x="10573207" y="2109978"/>
            <a:ext cx="566928" cy="566928"/>
          </a:xfrm>
          <a:prstGeom prst="ellipse">
            <a:avLst/>
          </a:prstGeom>
          <a:solidFill>
            <a:srgbClr val="D9AE4B"/>
          </a:solidFill>
          <a:ln/>
        </p:spPr>
      </p:sp>
      <p:sp>
        <p:nvSpPr>
          <p:cNvPr id="7" name="anim-g1-310"/>
          <p:cNvSpPr/>
          <p:nvPr/>
        </p:nvSpPr>
        <p:spPr>
          <a:xfrm>
            <a:off x="10573207" y="2109978"/>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١</a:t>
            </a:r>
            <a:endParaRPr lang="ar-SA" sz="2000" dirty="0"/>
          </a:p>
        </p:txBody>
      </p:sp>
      <p:sp>
        <p:nvSpPr>
          <p:cNvPr id="8" name="anim-g1-311"/>
          <p:cNvSpPr/>
          <p:nvPr/>
        </p:nvSpPr>
        <p:spPr>
          <a:xfrm>
            <a:off x="1097280" y="1920240"/>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تنشئ حسابًا ودائرة جديدة في Tinkercad</a:t>
            </a:r>
            <a:endParaRPr lang="ar-SA" sz="2400" dirty="0"/>
          </a:p>
        </p:txBody>
      </p:sp>
      <p:sp>
        <p:nvSpPr>
          <p:cNvPr id="9" name="anim-g2-312"/>
          <p:cNvSpPr/>
          <p:nvPr/>
        </p:nvSpPr>
        <p:spPr>
          <a:xfrm>
            <a:off x="822960" y="2976372"/>
            <a:ext cx="10545775" cy="946404"/>
          </a:xfrm>
          <a:prstGeom prst="roundRect">
            <a:avLst>
              <a:gd name="adj" fmla="val 15459"/>
            </a:avLst>
          </a:prstGeom>
          <a:solidFill>
            <a:srgbClr val="FFFFFF"/>
          </a:solidFill>
          <a:ln w="12700">
            <a:solidFill>
              <a:srgbClr val="E4DCC8"/>
            </a:solidFill>
            <a:prstDash val="solid"/>
          </a:ln>
        </p:spPr>
      </p:sp>
      <p:sp>
        <p:nvSpPr>
          <p:cNvPr id="10" name="anim-g2-313"/>
          <p:cNvSpPr/>
          <p:nvPr/>
        </p:nvSpPr>
        <p:spPr>
          <a:xfrm>
            <a:off x="10573207" y="3166110"/>
            <a:ext cx="566928" cy="566928"/>
          </a:xfrm>
          <a:prstGeom prst="ellipse">
            <a:avLst/>
          </a:prstGeom>
          <a:solidFill>
            <a:srgbClr val="D9AE4B"/>
          </a:solidFill>
          <a:ln/>
        </p:spPr>
      </p:sp>
      <p:sp>
        <p:nvSpPr>
          <p:cNvPr id="11" name="anim-g2-314"/>
          <p:cNvSpPr/>
          <p:nvPr/>
        </p:nvSpPr>
        <p:spPr>
          <a:xfrm>
            <a:off x="10573207" y="3166110"/>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٢</a:t>
            </a:r>
            <a:endParaRPr lang="ar-SA" sz="2000" dirty="0"/>
          </a:p>
        </p:txBody>
      </p:sp>
      <p:sp>
        <p:nvSpPr>
          <p:cNvPr id="12" name="anim-g2-315"/>
          <p:cNvSpPr/>
          <p:nvPr/>
        </p:nvSpPr>
        <p:spPr>
          <a:xfrm>
            <a:off x="1097280" y="2976372"/>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تشرح كيف تتصل ثقوب لوح التوصيل من الداخل</a:t>
            </a:r>
            <a:endParaRPr lang="ar-SA" sz="2400" dirty="0"/>
          </a:p>
        </p:txBody>
      </p:sp>
      <p:sp>
        <p:nvSpPr>
          <p:cNvPr id="13" name="anim-g3-316"/>
          <p:cNvSpPr/>
          <p:nvPr/>
        </p:nvSpPr>
        <p:spPr>
          <a:xfrm>
            <a:off x="822960" y="4032504"/>
            <a:ext cx="10545775" cy="946404"/>
          </a:xfrm>
          <a:prstGeom prst="roundRect">
            <a:avLst>
              <a:gd name="adj" fmla="val 15459"/>
            </a:avLst>
          </a:prstGeom>
          <a:solidFill>
            <a:srgbClr val="FFFFFF"/>
          </a:solidFill>
          <a:ln w="12700">
            <a:solidFill>
              <a:srgbClr val="E4DCC8"/>
            </a:solidFill>
            <a:prstDash val="solid"/>
          </a:ln>
        </p:spPr>
      </p:sp>
      <p:sp>
        <p:nvSpPr>
          <p:cNvPr id="14" name="anim-g3-317"/>
          <p:cNvSpPr/>
          <p:nvPr/>
        </p:nvSpPr>
        <p:spPr>
          <a:xfrm>
            <a:off x="10573207" y="4222242"/>
            <a:ext cx="566928" cy="566928"/>
          </a:xfrm>
          <a:prstGeom prst="ellipse">
            <a:avLst/>
          </a:prstGeom>
          <a:solidFill>
            <a:srgbClr val="D9AE4B"/>
          </a:solidFill>
          <a:ln/>
        </p:spPr>
      </p:sp>
      <p:sp>
        <p:nvSpPr>
          <p:cNvPr id="15" name="anim-g3-318"/>
          <p:cNvSpPr/>
          <p:nvPr/>
        </p:nvSpPr>
        <p:spPr>
          <a:xfrm>
            <a:off x="10573207" y="4222242"/>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٣</a:t>
            </a:r>
            <a:endParaRPr lang="ar-SA" sz="2000" dirty="0"/>
          </a:p>
        </p:txBody>
      </p:sp>
      <p:sp>
        <p:nvSpPr>
          <p:cNvPr id="16" name="anim-g3-319"/>
          <p:cNvSpPr/>
          <p:nvPr/>
        </p:nvSpPr>
        <p:spPr>
          <a:xfrm>
            <a:off x="1097280" y="4032504"/>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توصل الطاقة إلى لوح التوصيل بطريقة احترافية</a:t>
            </a:r>
            <a:endParaRPr lang="ar-SA" sz="2400" dirty="0"/>
          </a:p>
        </p:txBody>
      </p:sp>
      <p:sp>
        <p:nvSpPr>
          <p:cNvPr id="17" name="anim-g4-320"/>
          <p:cNvSpPr/>
          <p:nvPr/>
        </p:nvSpPr>
        <p:spPr>
          <a:xfrm>
            <a:off x="822960" y="5088636"/>
            <a:ext cx="10545775" cy="946404"/>
          </a:xfrm>
          <a:prstGeom prst="roundRect">
            <a:avLst>
              <a:gd name="adj" fmla="val 15459"/>
            </a:avLst>
          </a:prstGeom>
          <a:solidFill>
            <a:srgbClr val="FFFFFF"/>
          </a:solidFill>
          <a:ln w="12700">
            <a:solidFill>
              <a:srgbClr val="E4DCC8"/>
            </a:solidFill>
            <a:prstDash val="solid"/>
          </a:ln>
        </p:spPr>
      </p:sp>
      <p:sp>
        <p:nvSpPr>
          <p:cNvPr id="18" name="anim-g4-321"/>
          <p:cNvSpPr/>
          <p:nvPr/>
        </p:nvSpPr>
        <p:spPr>
          <a:xfrm>
            <a:off x="10573207" y="5278374"/>
            <a:ext cx="566928" cy="566928"/>
          </a:xfrm>
          <a:prstGeom prst="ellipse">
            <a:avLst/>
          </a:prstGeom>
          <a:solidFill>
            <a:srgbClr val="D9AE4B"/>
          </a:solidFill>
          <a:ln/>
        </p:spPr>
      </p:sp>
      <p:sp>
        <p:nvSpPr>
          <p:cNvPr id="19" name="anim-g4-322"/>
          <p:cNvSpPr/>
          <p:nvPr/>
        </p:nvSpPr>
        <p:spPr>
          <a:xfrm>
            <a:off x="10573207" y="5278374"/>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٤</a:t>
            </a:r>
            <a:endParaRPr lang="ar-SA" sz="2000" dirty="0"/>
          </a:p>
        </p:txBody>
      </p:sp>
      <p:sp>
        <p:nvSpPr>
          <p:cNvPr id="20" name="anim-g4-323"/>
          <p:cNvSpPr/>
          <p:nvPr/>
        </p:nvSpPr>
        <p:spPr>
          <a:xfrm>
            <a:off x="1097280" y="5088636"/>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تستخدم ألوان الأسلاك بطريقة صحيحة</a:t>
            </a:r>
            <a:endParaRPr lang="ar-SA" sz="2400" dirty="0"/>
          </a:p>
        </p:txBody>
      </p:sp>
      <p:sp>
        <p:nvSpPr>
          <p:cNvPr id="21" name="Text 19"/>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الأردوينو للمعلمين</a:t>
            </a:r>
            <a:endParaRPr lang="ar-SA" sz="1200" dirty="0"/>
          </a:p>
        </p:txBody>
      </p:sp>
      <p:sp>
        <p:nvSpPr>
          <p:cNvPr id="22" name="Text 20"/>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Tinkercad ولوح التوصيل  ·  ٤٦</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name="Slide 4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296351" y="457200"/>
            <a:ext cx="3072384" cy="457200"/>
          </a:xfrm>
          <a:prstGeom prst="roundRect">
            <a:avLst>
              <a:gd name="adj" fmla="val 50000"/>
            </a:avLst>
          </a:prstGeom>
          <a:solidFill>
            <a:srgbClr val="F6EBCF"/>
          </a:solidFill>
          <a:ln/>
        </p:spPr>
      </p:sp>
      <p:sp>
        <p:nvSpPr>
          <p:cNvPr id="3" name="Text 1"/>
          <p:cNvSpPr/>
          <p:nvPr/>
        </p:nvSpPr>
        <p:spPr>
          <a:xfrm>
            <a:off x="8296351" y="457200"/>
            <a:ext cx="3072384"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لماذا Tinkercad؟</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مختبر افتراضي يحل مشكلات المدارس</a:t>
            </a:r>
            <a:endParaRPr lang="ar-SA" sz="3800" dirty="0"/>
          </a:p>
        </p:txBody>
      </p:sp>
      <p:sp>
        <p:nvSpPr>
          <p:cNvPr id="5" name="anim-g1-324"/>
          <p:cNvSpPr/>
          <p:nvPr/>
        </p:nvSpPr>
        <p:spPr>
          <a:xfrm>
            <a:off x="8938031" y="2148840"/>
            <a:ext cx="2430704" cy="3566160"/>
          </a:xfrm>
          <a:prstGeom prst="roundRect">
            <a:avLst>
              <a:gd name="adj" fmla="val 677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325"/>
          <p:cNvSpPr/>
          <p:nvPr/>
        </p:nvSpPr>
        <p:spPr>
          <a:xfrm>
            <a:off x="10362895" y="2404872"/>
            <a:ext cx="731520" cy="731520"/>
          </a:xfrm>
          <a:prstGeom prst="roundRect">
            <a:avLst>
              <a:gd name="adj" fmla="val 25000"/>
            </a:avLst>
          </a:prstGeom>
          <a:solidFill>
            <a:srgbClr val="F7E6BC"/>
          </a:solidFill>
          <a:ln/>
        </p:spPr>
      </p:sp>
      <p:sp>
        <p:nvSpPr>
          <p:cNvPr id="7" name="anim-g1-326"/>
          <p:cNvSpPr/>
          <p:nvPr/>
        </p:nvSpPr>
        <p:spPr>
          <a:xfrm>
            <a:off x="10362895"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8" name="anim-g1-327"/>
          <p:cNvSpPr/>
          <p:nvPr/>
        </p:nvSpPr>
        <p:spPr>
          <a:xfrm>
            <a:off x="9212351" y="3246120"/>
            <a:ext cx="1882064"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مجاني</a:t>
            </a:r>
            <a:endParaRPr lang="ar-SA" sz="2300" dirty="0"/>
          </a:p>
        </p:txBody>
      </p:sp>
      <p:sp>
        <p:nvSpPr>
          <p:cNvPr id="9" name="anim-g1-328"/>
          <p:cNvSpPr/>
          <p:nvPr/>
        </p:nvSpPr>
        <p:spPr>
          <a:xfrm>
            <a:off x="9212351" y="3794760"/>
            <a:ext cx="1882064"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لا يحتاج شراء قطع لكل طالب</a:t>
            </a:r>
            <a:endParaRPr lang="ar-SA" sz="2100" dirty="0"/>
          </a:p>
        </p:txBody>
      </p:sp>
      <p:sp>
        <p:nvSpPr>
          <p:cNvPr id="10" name="anim-g2-329"/>
          <p:cNvSpPr/>
          <p:nvPr/>
        </p:nvSpPr>
        <p:spPr>
          <a:xfrm>
            <a:off x="6233008" y="2148840"/>
            <a:ext cx="2430704" cy="3566160"/>
          </a:xfrm>
          <a:prstGeom prst="roundRect">
            <a:avLst>
              <a:gd name="adj" fmla="val 677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330"/>
          <p:cNvSpPr/>
          <p:nvPr/>
        </p:nvSpPr>
        <p:spPr>
          <a:xfrm>
            <a:off x="7657871" y="2404872"/>
            <a:ext cx="731520" cy="731520"/>
          </a:xfrm>
          <a:prstGeom prst="roundRect">
            <a:avLst>
              <a:gd name="adj" fmla="val 25000"/>
            </a:avLst>
          </a:prstGeom>
          <a:solidFill>
            <a:srgbClr val="F7E6BC"/>
          </a:solidFill>
          <a:ln/>
        </p:spPr>
      </p:sp>
      <p:sp>
        <p:nvSpPr>
          <p:cNvPr id="12" name="anim-g2-331"/>
          <p:cNvSpPr/>
          <p:nvPr/>
        </p:nvSpPr>
        <p:spPr>
          <a:xfrm>
            <a:off x="7657871"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13" name="anim-g2-332"/>
          <p:cNvSpPr/>
          <p:nvPr/>
        </p:nvSpPr>
        <p:spPr>
          <a:xfrm>
            <a:off x="6507328" y="3246120"/>
            <a:ext cx="1882064"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آمن</a:t>
            </a:r>
            <a:endParaRPr lang="ar-SA" sz="2300" dirty="0"/>
          </a:p>
        </p:txBody>
      </p:sp>
      <p:sp>
        <p:nvSpPr>
          <p:cNvPr id="14" name="anim-g2-333"/>
          <p:cNvSpPr/>
          <p:nvPr/>
        </p:nvSpPr>
        <p:spPr>
          <a:xfrm>
            <a:off x="6507328" y="3794760"/>
            <a:ext cx="1882064"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لا قطع تحترق ولا لوحات تتلف</a:t>
            </a:r>
            <a:endParaRPr lang="ar-SA" sz="2100" dirty="0"/>
          </a:p>
        </p:txBody>
      </p:sp>
      <p:sp>
        <p:nvSpPr>
          <p:cNvPr id="15" name="anim-g3-334"/>
          <p:cNvSpPr/>
          <p:nvPr/>
        </p:nvSpPr>
        <p:spPr>
          <a:xfrm>
            <a:off x="3527984" y="2148840"/>
            <a:ext cx="2430704" cy="3566160"/>
          </a:xfrm>
          <a:prstGeom prst="roundRect">
            <a:avLst>
              <a:gd name="adj" fmla="val 677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335"/>
          <p:cNvSpPr/>
          <p:nvPr/>
        </p:nvSpPr>
        <p:spPr>
          <a:xfrm>
            <a:off x="4952848" y="2404872"/>
            <a:ext cx="731520" cy="731520"/>
          </a:xfrm>
          <a:prstGeom prst="roundRect">
            <a:avLst>
              <a:gd name="adj" fmla="val 25000"/>
            </a:avLst>
          </a:prstGeom>
          <a:solidFill>
            <a:srgbClr val="F7E6BC"/>
          </a:solidFill>
          <a:ln/>
        </p:spPr>
      </p:sp>
      <p:sp>
        <p:nvSpPr>
          <p:cNvPr id="17" name="anim-g3-336"/>
          <p:cNvSpPr/>
          <p:nvPr/>
        </p:nvSpPr>
        <p:spPr>
          <a:xfrm>
            <a:off x="4952848"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18" name="anim-g3-337"/>
          <p:cNvSpPr/>
          <p:nvPr/>
        </p:nvSpPr>
        <p:spPr>
          <a:xfrm>
            <a:off x="3802304" y="3246120"/>
            <a:ext cx="1882064"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محاكاة حقيقية</a:t>
            </a:r>
            <a:endParaRPr lang="ar-SA" sz="2300" dirty="0"/>
          </a:p>
        </p:txBody>
      </p:sp>
      <p:sp>
        <p:nvSpPr>
          <p:cNvPr id="19" name="anim-g3-338"/>
          <p:cNvSpPr/>
          <p:nvPr/>
        </p:nvSpPr>
        <p:spPr>
          <a:xfrm>
            <a:off x="3802304" y="3794760"/>
            <a:ext cx="1882064"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تكتب الكود وتشاهد الدائرة تعمل</a:t>
            </a:r>
            <a:endParaRPr lang="ar-SA" sz="2100" dirty="0"/>
          </a:p>
        </p:txBody>
      </p:sp>
      <p:sp>
        <p:nvSpPr>
          <p:cNvPr id="20" name="anim-g4-339"/>
          <p:cNvSpPr/>
          <p:nvPr/>
        </p:nvSpPr>
        <p:spPr>
          <a:xfrm>
            <a:off x="822960" y="2148840"/>
            <a:ext cx="2430704" cy="3566160"/>
          </a:xfrm>
          <a:prstGeom prst="roundRect">
            <a:avLst>
              <a:gd name="adj" fmla="val 677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21" name="anim-g4-340"/>
          <p:cNvSpPr/>
          <p:nvPr/>
        </p:nvSpPr>
        <p:spPr>
          <a:xfrm>
            <a:off x="2247824" y="2404872"/>
            <a:ext cx="731520" cy="731520"/>
          </a:xfrm>
          <a:prstGeom prst="roundRect">
            <a:avLst>
              <a:gd name="adj" fmla="val 25000"/>
            </a:avLst>
          </a:prstGeom>
          <a:solidFill>
            <a:srgbClr val="F7E6BC"/>
          </a:solidFill>
          <a:ln/>
        </p:spPr>
      </p:sp>
      <p:sp>
        <p:nvSpPr>
          <p:cNvPr id="22" name="anim-g4-341"/>
          <p:cNvSpPr/>
          <p:nvPr/>
        </p:nvSpPr>
        <p:spPr>
          <a:xfrm>
            <a:off x="2247824"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23" name="anim-g4-342"/>
          <p:cNvSpPr/>
          <p:nvPr/>
        </p:nvSpPr>
        <p:spPr>
          <a:xfrm>
            <a:off x="1097280" y="3246120"/>
            <a:ext cx="1882064"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في كل مكان</a:t>
            </a:r>
            <a:endParaRPr lang="ar-SA" sz="2300" dirty="0"/>
          </a:p>
        </p:txBody>
      </p:sp>
      <p:sp>
        <p:nvSpPr>
          <p:cNvPr id="24" name="anim-g4-343"/>
          <p:cNvSpPr/>
          <p:nvPr/>
        </p:nvSpPr>
        <p:spPr>
          <a:xfrm>
            <a:off x="1097280" y="3794760"/>
            <a:ext cx="1882064"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يكمل الطالب مشروعه من البيت</a:t>
            </a:r>
            <a:endParaRPr lang="ar-SA" sz="2100" dirty="0"/>
          </a:p>
        </p:txBody>
      </p:sp>
      <p:sp>
        <p:nvSpPr>
          <p:cNvPr id="25" name="Text 2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الأردوينو للمعلمين</a:t>
            </a:r>
            <a:endParaRPr lang="ar-SA" sz="1200" dirty="0"/>
          </a:p>
        </p:txBody>
      </p:sp>
      <p:sp>
        <p:nvSpPr>
          <p:cNvPr id="26" name="Text 2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Tinkercad ولوح التوصيل  ·  ٤٧</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400"/>
                                        <p:tgtEl>
                                          <p:spTgt spid="2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400"/>
                                        <p:tgtEl>
                                          <p:spTgt spid="2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400"/>
                                        <p:tgtEl>
                                          <p:spTgt spid="2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name="Slide 4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9613087" y="457200"/>
            <a:ext cx="1755648" cy="457200"/>
          </a:xfrm>
          <a:prstGeom prst="roundRect">
            <a:avLst>
              <a:gd name="adj" fmla="val 50000"/>
            </a:avLst>
          </a:prstGeom>
          <a:solidFill>
            <a:srgbClr val="F6EBCF"/>
          </a:solidFill>
          <a:ln/>
        </p:spPr>
      </p:sp>
      <p:sp>
        <p:nvSpPr>
          <p:cNvPr id="3" name="Text 1"/>
          <p:cNvSpPr/>
          <p:nvPr/>
        </p:nvSpPr>
        <p:spPr>
          <a:xfrm>
            <a:off x="9613087" y="457200"/>
            <a:ext cx="175564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البداية</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أول دائرة في Tinkercad خطوة بخطوة</a:t>
            </a:r>
            <a:endParaRPr lang="ar-SA" sz="3200" dirty="0"/>
          </a:p>
        </p:txBody>
      </p:sp>
      <p:sp>
        <p:nvSpPr>
          <p:cNvPr id="5" name="anim-g1-344"/>
          <p:cNvSpPr/>
          <p:nvPr/>
        </p:nvSpPr>
        <p:spPr>
          <a:xfrm>
            <a:off x="822960" y="1920240"/>
            <a:ext cx="10545775" cy="735178"/>
          </a:xfrm>
          <a:prstGeom prst="roundRect">
            <a:avLst>
              <a:gd name="adj" fmla="val 19900"/>
            </a:avLst>
          </a:prstGeom>
          <a:solidFill>
            <a:srgbClr val="FFFFFF"/>
          </a:solidFill>
          <a:ln w="12700">
            <a:solidFill>
              <a:srgbClr val="E4DCC8"/>
            </a:solidFill>
            <a:prstDash val="solid"/>
          </a:ln>
        </p:spPr>
      </p:sp>
      <p:sp>
        <p:nvSpPr>
          <p:cNvPr id="6" name="anim-g1-345"/>
          <p:cNvSpPr/>
          <p:nvPr/>
        </p:nvSpPr>
        <p:spPr>
          <a:xfrm>
            <a:off x="10587838" y="2011680"/>
            <a:ext cx="552298" cy="552298"/>
          </a:xfrm>
          <a:prstGeom prst="ellipse">
            <a:avLst/>
          </a:prstGeom>
          <a:solidFill>
            <a:srgbClr val="D9AE4B"/>
          </a:solidFill>
          <a:ln/>
        </p:spPr>
      </p:sp>
      <p:sp>
        <p:nvSpPr>
          <p:cNvPr id="7" name="anim-g1-346"/>
          <p:cNvSpPr/>
          <p:nvPr/>
        </p:nvSpPr>
        <p:spPr>
          <a:xfrm>
            <a:off x="10587838" y="2011680"/>
            <a:ext cx="552298" cy="55229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١</a:t>
            </a:r>
            <a:endParaRPr lang="ar-SA" sz="2000" dirty="0"/>
          </a:p>
        </p:txBody>
      </p:sp>
      <p:sp>
        <p:nvSpPr>
          <p:cNvPr id="8" name="anim-g1-347"/>
          <p:cNvSpPr/>
          <p:nvPr/>
        </p:nvSpPr>
        <p:spPr>
          <a:xfrm>
            <a:off x="1097280" y="1920240"/>
            <a:ext cx="9261958" cy="735178"/>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ادخل tinkercad.com وأنشئ حسابًا</a:t>
            </a:r>
            <a:pPr algn="r" indent="0" marL="0">
              <a:buNone/>
            </a:pPr>
            <a:r>
              <a:rPr lang="ar-SA" altLang="en-US" sz="1800" b="1" dirty="0">
                <a:solidFill>
                  <a:srgbClr val="3B4460"/>
                </a:solidFill>
                <a:latin typeface="Cairo" pitchFamily="34" charset="0"/>
                <a:ea typeface="Cairo" pitchFamily="34" charset="-122"/>
                <a:cs typeface="Cairo" pitchFamily="34" charset="-120"/>
              </a:rPr>
              <a:t>   — يمكن التسجيل بحساب Google</a:t>
            </a:r>
            <a:endParaRPr lang="ar-SA" sz="2200" dirty="0"/>
          </a:p>
        </p:txBody>
      </p:sp>
      <p:sp>
        <p:nvSpPr>
          <p:cNvPr id="9" name="anim-g2-348"/>
          <p:cNvSpPr/>
          <p:nvPr/>
        </p:nvSpPr>
        <p:spPr>
          <a:xfrm>
            <a:off x="822960" y="2765146"/>
            <a:ext cx="10545775" cy="735178"/>
          </a:xfrm>
          <a:prstGeom prst="roundRect">
            <a:avLst>
              <a:gd name="adj" fmla="val 19900"/>
            </a:avLst>
          </a:prstGeom>
          <a:solidFill>
            <a:srgbClr val="FFFFFF"/>
          </a:solidFill>
          <a:ln w="12700">
            <a:solidFill>
              <a:srgbClr val="E4DCC8"/>
            </a:solidFill>
            <a:prstDash val="solid"/>
          </a:ln>
        </p:spPr>
      </p:sp>
      <p:sp>
        <p:nvSpPr>
          <p:cNvPr id="10" name="anim-g2-349"/>
          <p:cNvSpPr/>
          <p:nvPr/>
        </p:nvSpPr>
        <p:spPr>
          <a:xfrm>
            <a:off x="10587838" y="2856586"/>
            <a:ext cx="552298" cy="552298"/>
          </a:xfrm>
          <a:prstGeom prst="ellipse">
            <a:avLst/>
          </a:prstGeom>
          <a:solidFill>
            <a:srgbClr val="D9AE4B"/>
          </a:solidFill>
          <a:ln/>
        </p:spPr>
      </p:sp>
      <p:sp>
        <p:nvSpPr>
          <p:cNvPr id="11" name="anim-g2-350"/>
          <p:cNvSpPr/>
          <p:nvPr/>
        </p:nvSpPr>
        <p:spPr>
          <a:xfrm>
            <a:off x="10587838" y="2856586"/>
            <a:ext cx="552298" cy="55229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٢</a:t>
            </a:r>
            <a:endParaRPr lang="ar-SA" sz="2000" dirty="0"/>
          </a:p>
        </p:txBody>
      </p:sp>
      <p:sp>
        <p:nvSpPr>
          <p:cNvPr id="12" name="anim-g2-351"/>
          <p:cNvSpPr/>
          <p:nvPr/>
        </p:nvSpPr>
        <p:spPr>
          <a:xfrm>
            <a:off x="1097280" y="2765146"/>
            <a:ext cx="9261958" cy="735178"/>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اختر «الدوائر» (Circuits)</a:t>
            </a:r>
            <a:pPr algn="r" indent="0" marL="0">
              <a:buNone/>
            </a:pPr>
            <a:r>
              <a:rPr lang="ar-SA" altLang="en-US" sz="1800" b="1" dirty="0">
                <a:solidFill>
                  <a:srgbClr val="3B4460"/>
                </a:solidFill>
                <a:latin typeface="Cairo" pitchFamily="34" charset="0"/>
                <a:ea typeface="Cairo" pitchFamily="34" charset="-122"/>
                <a:cs typeface="Cairo" pitchFamily="34" charset="-120"/>
              </a:rPr>
              <a:t>   — من القائمة الجانبية</a:t>
            </a:r>
            <a:endParaRPr lang="ar-SA" sz="2200" dirty="0"/>
          </a:p>
        </p:txBody>
      </p:sp>
      <p:sp>
        <p:nvSpPr>
          <p:cNvPr id="13" name="anim-g3-352"/>
          <p:cNvSpPr/>
          <p:nvPr/>
        </p:nvSpPr>
        <p:spPr>
          <a:xfrm>
            <a:off x="822960" y="3610051"/>
            <a:ext cx="10545775" cy="735178"/>
          </a:xfrm>
          <a:prstGeom prst="roundRect">
            <a:avLst>
              <a:gd name="adj" fmla="val 19900"/>
            </a:avLst>
          </a:prstGeom>
          <a:solidFill>
            <a:srgbClr val="FFFFFF"/>
          </a:solidFill>
          <a:ln w="12700">
            <a:solidFill>
              <a:srgbClr val="E4DCC8"/>
            </a:solidFill>
            <a:prstDash val="solid"/>
          </a:ln>
        </p:spPr>
      </p:sp>
      <p:sp>
        <p:nvSpPr>
          <p:cNvPr id="14" name="anim-g3-353"/>
          <p:cNvSpPr/>
          <p:nvPr/>
        </p:nvSpPr>
        <p:spPr>
          <a:xfrm>
            <a:off x="10587838" y="3701491"/>
            <a:ext cx="552298" cy="552298"/>
          </a:xfrm>
          <a:prstGeom prst="ellipse">
            <a:avLst/>
          </a:prstGeom>
          <a:solidFill>
            <a:srgbClr val="D9AE4B"/>
          </a:solidFill>
          <a:ln/>
        </p:spPr>
      </p:sp>
      <p:sp>
        <p:nvSpPr>
          <p:cNvPr id="15" name="anim-g3-354"/>
          <p:cNvSpPr/>
          <p:nvPr/>
        </p:nvSpPr>
        <p:spPr>
          <a:xfrm>
            <a:off x="10587838" y="3701491"/>
            <a:ext cx="552298" cy="55229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٣</a:t>
            </a:r>
            <a:endParaRPr lang="ar-SA" sz="2000" dirty="0"/>
          </a:p>
        </p:txBody>
      </p:sp>
      <p:sp>
        <p:nvSpPr>
          <p:cNvPr id="16" name="anim-g3-355"/>
          <p:cNvSpPr/>
          <p:nvPr/>
        </p:nvSpPr>
        <p:spPr>
          <a:xfrm>
            <a:off x="1097280" y="3610051"/>
            <a:ext cx="9261958" cy="735178"/>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اضغط «إنشاء دائرة جديدة»</a:t>
            </a:r>
            <a:pPr algn="r" indent="0" marL="0">
              <a:buNone/>
            </a:pPr>
            <a:r>
              <a:rPr lang="ar-SA" altLang="en-US" sz="1800" b="1" dirty="0">
                <a:solidFill>
                  <a:srgbClr val="3B4460"/>
                </a:solidFill>
                <a:latin typeface="Cairo" pitchFamily="34" charset="0"/>
                <a:ea typeface="Cairo" pitchFamily="34" charset="-122"/>
                <a:cs typeface="Cairo" pitchFamily="34" charset="-120"/>
              </a:rPr>
              <a:t>   — وسمّها باسم واضح</a:t>
            </a:r>
            <a:endParaRPr lang="ar-SA" sz="2200" dirty="0"/>
          </a:p>
        </p:txBody>
      </p:sp>
      <p:sp>
        <p:nvSpPr>
          <p:cNvPr id="17" name="anim-g4-356"/>
          <p:cNvSpPr/>
          <p:nvPr/>
        </p:nvSpPr>
        <p:spPr>
          <a:xfrm>
            <a:off x="822960" y="4454957"/>
            <a:ext cx="10545775" cy="735178"/>
          </a:xfrm>
          <a:prstGeom prst="roundRect">
            <a:avLst>
              <a:gd name="adj" fmla="val 19900"/>
            </a:avLst>
          </a:prstGeom>
          <a:solidFill>
            <a:srgbClr val="FFFFFF"/>
          </a:solidFill>
          <a:ln w="12700">
            <a:solidFill>
              <a:srgbClr val="E4DCC8"/>
            </a:solidFill>
            <a:prstDash val="solid"/>
          </a:ln>
        </p:spPr>
      </p:sp>
      <p:sp>
        <p:nvSpPr>
          <p:cNvPr id="18" name="anim-g4-357"/>
          <p:cNvSpPr/>
          <p:nvPr/>
        </p:nvSpPr>
        <p:spPr>
          <a:xfrm>
            <a:off x="10587838" y="4546397"/>
            <a:ext cx="552298" cy="552298"/>
          </a:xfrm>
          <a:prstGeom prst="ellipse">
            <a:avLst/>
          </a:prstGeom>
          <a:solidFill>
            <a:srgbClr val="D9AE4B"/>
          </a:solidFill>
          <a:ln/>
        </p:spPr>
      </p:sp>
      <p:sp>
        <p:nvSpPr>
          <p:cNvPr id="19" name="anim-g4-358"/>
          <p:cNvSpPr/>
          <p:nvPr/>
        </p:nvSpPr>
        <p:spPr>
          <a:xfrm>
            <a:off x="10587838" y="4546397"/>
            <a:ext cx="552298" cy="55229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٤</a:t>
            </a:r>
            <a:endParaRPr lang="ar-SA" sz="2000" dirty="0"/>
          </a:p>
        </p:txBody>
      </p:sp>
      <p:sp>
        <p:nvSpPr>
          <p:cNvPr id="20" name="anim-g4-359"/>
          <p:cNvSpPr/>
          <p:nvPr/>
        </p:nvSpPr>
        <p:spPr>
          <a:xfrm>
            <a:off x="1097280" y="4454957"/>
            <a:ext cx="9261958" cy="735178"/>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اسحب Arduino ولوح التوصيل</a:t>
            </a:r>
            <a:pPr algn="r" indent="0" marL="0">
              <a:buNone/>
            </a:pPr>
            <a:r>
              <a:rPr lang="ar-SA" altLang="en-US" sz="1800" b="1" dirty="0">
                <a:solidFill>
                  <a:srgbClr val="3B4460"/>
                </a:solidFill>
                <a:latin typeface="Cairo" pitchFamily="34" charset="0"/>
                <a:ea typeface="Cairo" pitchFamily="34" charset="-122"/>
                <a:cs typeface="Cairo" pitchFamily="34" charset="-120"/>
              </a:rPr>
              <a:t>   — من قائمة المكونات إلى مساحة العمل</a:t>
            </a:r>
            <a:endParaRPr lang="ar-SA" sz="2200" dirty="0"/>
          </a:p>
        </p:txBody>
      </p:sp>
      <p:sp>
        <p:nvSpPr>
          <p:cNvPr id="21" name="anim-g5-360"/>
          <p:cNvSpPr/>
          <p:nvPr/>
        </p:nvSpPr>
        <p:spPr>
          <a:xfrm>
            <a:off x="822960" y="5299862"/>
            <a:ext cx="10545775" cy="735178"/>
          </a:xfrm>
          <a:prstGeom prst="roundRect">
            <a:avLst>
              <a:gd name="adj" fmla="val 19900"/>
            </a:avLst>
          </a:prstGeom>
          <a:solidFill>
            <a:srgbClr val="FFFFFF"/>
          </a:solidFill>
          <a:ln w="12700">
            <a:solidFill>
              <a:srgbClr val="E4DCC8"/>
            </a:solidFill>
            <a:prstDash val="solid"/>
          </a:ln>
        </p:spPr>
      </p:sp>
      <p:sp>
        <p:nvSpPr>
          <p:cNvPr id="22" name="anim-g5-361"/>
          <p:cNvSpPr/>
          <p:nvPr/>
        </p:nvSpPr>
        <p:spPr>
          <a:xfrm>
            <a:off x="10587838" y="5391302"/>
            <a:ext cx="552298" cy="552298"/>
          </a:xfrm>
          <a:prstGeom prst="ellipse">
            <a:avLst/>
          </a:prstGeom>
          <a:solidFill>
            <a:srgbClr val="D9AE4B"/>
          </a:solidFill>
          <a:ln/>
        </p:spPr>
      </p:sp>
      <p:sp>
        <p:nvSpPr>
          <p:cNvPr id="23" name="anim-g5-362"/>
          <p:cNvSpPr/>
          <p:nvPr/>
        </p:nvSpPr>
        <p:spPr>
          <a:xfrm>
            <a:off x="10587838" y="5391302"/>
            <a:ext cx="552298" cy="55229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٥</a:t>
            </a:r>
            <a:endParaRPr lang="ar-SA" sz="2000" dirty="0"/>
          </a:p>
        </p:txBody>
      </p:sp>
      <p:sp>
        <p:nvSpPr>
          <p:cNvPr id="24" name="anim-g5-363"/>
          <p:cNvSpPr/>
          <p:nvPr/>
        </p:nvSpPr>
        <p:spPr>
          <a:xfrm>
            <a:off x="1097280" y="5299862"/>
            <a:ext cx="9261958" cy="735178"/>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دوّرهما ليتناسقا</a:t>
            </a:r>
            <a:pPr algn="r" indent="0" marL="0">
              <a:buNone/>
            </a:pPr>
            <a:r>
              <a:rPr lang="ar-SA" altLang="en-US" sz="1800" b="1" dirty="0">
                <a:solidFill>
                  <a:srgbClr val="3B4460"/>
                </a:solidFill>
                <a:latin typeface="Cairo" pitchFamily="34" charset="0"/>
                <a:ea typeface="Cairo" pitchFamily="34" charset="-122"/>
                <a:cs typeface="Cairo" pitchFamily="34" charset="-120"/>
              </a:rPr>
              <a:t>   — اللوحة ولوح التوصيل في اتجاه واحد</a:t>
            </a:r>
            <a:endParaRPr lang="ar-SA" sz="2200" dirty="0"/>
          </a:p>
        </p:txBody>
      </p:sp>
      <p:sp>
        <p:nvSpPr>
          <p:cNvPr id="25" name="Text 2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الأردوينو للمعلمين</a:t>
            </a:r>
            <a:endParaRPr lang="ar-SA" sz="1200" dirty="0"/>
          </a:p>
        </p:txBody>
      </p:sp>
      <p:sp>
        <p:nvSpPr>
          <p:cNvPr id="26" name="Text 2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Tinkercad ولوح التوصيل  ·  ٤٨</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400"/>
                                        <p:tgtEl>
                                          <p:spTgt spid="21"/>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400"/>
                                        <p:tgtEl>
                                          <p:spTgt spid="22"/>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3"/>
                                        </p:tgtEl>
                                        <p:attrNameLst>
                                          <p:attrName>style.visibility</p:attrName>
                                        </p:attrNameLst>
                                      </p:cBhvr>
                                      <p:to>
                                        <p:strVal val="visible"/>
                                      </p:to>
                                    </p:set>
                                    <p:animEffect transition="in" filter="fade">
                                      <p:cBhvr>
                                        <p:cTn id="69" dur="400"/>
                                        <p:tgtEl>
                                          <p:spTgt spid="23"/>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4"/>
                                        </p:tgtEl>
                                        <p:attrNameLst>
                                          <p:attrName>style.visibility</p:attrName>
                                        </p:attrNameLst>
                                      </p:cBhvr>
                                      <p:to>
                                        <p:strVal val="visible"/>
                                      </p:to>
                                    </p:set>
                                    <p:animEffect transition="in" filter="fade">
                                      <p:cBhvr>
                                        <p:cTn id="72"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pic>
        <p:nvPicPr>
          <p:cNvPr id="2" name="Image 0" descr="/Users/mac/Desktop/أردوينو/المشاريع والكتب/younes-training/arduino/.pptx-cache/s4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pic>
        <p:nvPicPr>
          <p:cNvPr id="2" name="Image 0" descr="/Users/mac/Desktop/أردوينو/المشاريع والكتب/younes-training/arduino/.pptx-cache/s5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2960" y="5486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لوح التوصيل: مميزاته وعيوبه</a:t>
            </a:r>
            <a:endParaRPr lang="ar-SA" sz="3800" dirty="0"/>
          </a:p>
        </p:txBody>
      </p:sp>
      <p:sp>
        <p:nvSpPr>
          <p:cNvPr id="3" name="Text 1"/>
          <p:cNvSpPr/>
          <p:nvPr/>
        </p:nvSpPr>
        <p:spPr>
          <a:xfrm>
            <a:off x="6415888" y="1600200"/>
            <a:ext cx="4952848" cy="457200"/>
          </a:xfrm>
          <a:prstGeom prst="rect">
            <a:avLst/>
          </a:prstGeom>
          <a:noFill/>
          <a:ln/>
        </p:spPr>
        <p:txBody>
          <a:bodyPr wrap="square" lIns="0" tIns="0" rIns="0" bIns="0" rtlCol="0" anchor="ctr">
            <a:normAutofit/>
          </a:bodyPr>
          <a:lstStyle/>
          <a:p>
            <a:pPr rtl="1" algn="ctr" indent="0" marL="0">
              <a:buNone/>
            </a:pPr>
            <a:r>
              <a:rPr lang="ar-SA" altLang="en-US" sz="2100" dirty="0">
                <a:solidFill>
                  <a:srgbClr val="D64545"/>
                </a:solidFill>
                <a:latin typeface="Cairo Black" pitchFamily="34" charset="0"/>
                <a:ea typeface="Cairo Black" pitchFamily="34" charset="-122"/>
                <a:cs typeface="Cairo Black" pitchFamily="34" charset="-120"/>
              </a:rPr>
              <a:t>❌ الخطأ الشائع</a:t>
            </a:r>
            <a:endParaRPr lang="ar-SA" sz="2100" dirty="0"/>
          </a:p>
        </p:txBody>
      </p:sp>
      <p:sp>
        <p:nvSpPr>
          <p:cNvPr id="4" name="Text 2"/>
          <p:cNvSpPr/>
          <p:nvPr/>
        </p:nvSpPr>
        <p:spPr>
          <a:xfrm>
            <a:off x="822960" y="1600200"/>
            <a:ext cx="4952848" cy="457200"/>
          </a:xfrm>
          <a:prstGeom prst="rect">
            <a:avLst/>
          </a:prstGeom>
          <a:noFill/>
          <a:ln/>
        </p:spPr>
        <p:txBody>
          <a:bodyPr wrap="square" lIns="0" tIns="0" rIns="0" bIns="0" rtlCol="0" anchor="ctr">
            <a:normAutofit/>
          </a:bodyPr>
          <a:lstStyle/>
          <a:p>
            <a:pPr rtl="1" algn="ctr" indent="0" marL="0">
              <a:buNone/>
            </a:pPr>
            <a:r>
              <a:rPr lang="ar-SA" altLang="en-US" sz="2100" dirty="0">
                <a:solidFill>
                  <a:srgbClr val="2E9E6B"/>
                </a:solidFill>
                <a:latin typeface="Cairo Black" pitchFamily="34" charset="0"/>
                <a:ea typeface="Cairo Black" pitchFamily="34" charset="-122"/>
                <a:cs typeface="Cairo Black" pitchFamily="34" charset="-120"/>
              </a:rPr>
              <a:t>✅ البديل</a:t>
            </a:r>
            <a:endParaRPr lang="ar-SA" sz="2100" dirty="0"/>
          </a:p>
        </p:txBody>
      </p:sp>
      <p:sp>
        <p:nvSpPr>
          <p:cNvPr id="5" name="anim-g1-364"/>
          <p:cNvSpPr/>
          <p:nvPr/>
        </p:nvSpPr>
        <p:spPr>
          <a:xfrm>
            <a:off x="6415888" y="2194560"/>
            <a:ext cx="4952848" cy="804672"/>
          </a:xfrm>
          <a:prstGeom prst="roundRect">
            <a:avLst>
              <a:gd name="adj" fmla="val 15909"/>
            </a:avLst>
          </a:prstGeom>
          <a:solidFill>
            <a:srgbClr val="FBECEC"/>
          </a:solidFill>
          <a:ln/>
        </p:spPr>
      </p:sp>
      <p:sp>
        <p:nvSpPr>
          <p:cNvPr id="6" name="anim-g1-365"/>
          <p:cNvSpPr/>
          <p:nvPr/>
        </p:nvSpPr>
        <p:spPr>
          <a:xfrm>
            <a:off x="6644488" y="219456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8E2A2A"/>
                </a:solidFill>
                <a:latin typeface="Cairo" pitchFamily="34" charset="0"/>
                <a:ea typeface="Cairo" pitchFamily="34" charset="-122"/>
                <a:cs typeface="Cairo" pitchFamily="34" charset="-120"/>
              </a:rPr>
              <a:t>يحتاج لحامًا؟</a:t>
            </a:r>
            <a:endParaRPr lang="ar-SA" sz="2200" dirty="0"/>
          </a:p>
        </p:txBody>
      </p:sp>
      <p:sp>
        <p:nvSpPr>
          <p:cNvPr id="7" name="anim-g1-366"/>
          <p:cNvSpPr/>
          <p:nvPr/>
        </p:nvSpPr>
        <p:spPr>
          <a:xfrm>
            <a:off x="822960" y="2194560"/>
            <a:ext cx="4952848" cy="804672"/>
          </a:xfrm>
          <a:prstGeom prst="roundRect">
            <a:avLst>
              <a:gd name="adj" fmla="val 15909"/>
            </a:avLst>
          </a:prstGeom>
          <a:solidFill>
            <a:srgbClr val="FFFFFF"/>
          </a:solidFill>
          <a:ln w="19050">
            <a:solidFill>
              <a:srgbClr val="BFD9CB"/>
            </a:solidFill>
            <a:prstDash val="dash"/>
          </a:ln>
        </p:spPr>
      </p:sp>
      <p:sp>
        <p:nvSpPr>
          <p:cNvPr id="8" name="anim-g1-367"/>
          <p:cNvSpPr/>
          <p:nvPr/>
        </p:nvSpPr>
        <p:spPr>
          <a:xfrm>
            <a:off x="822960" y="2194560"/>
            <a:ext cx="4952848" cy="804672"/>
          </a:xfrm>
          <a:prstGeom prst="rect">
            <a:avLst/>
          </a:prstGeom>
          <a:noFill/>
          <a:ln/>
        </p:spPr>
        <p:txBody>
          <a:bodyPr wrap="square" lIns="0" tIns="0" rIns="0" bIns="0" rtlCol="0" anchor="ctr">
            <a:normAutofit/>
          </a:bodyPr>
          <a:lstStyle/>
          <a:p>
            <a:pPr rtl="1" algn="ctr" indent="0" marL="0">
              <a:buNone/>
            </a:pPr>
            <a:r>
              <a:rPr lang="ar-SA" altLang="en-US" sz="1900" b="1" dirty="0">
                <a:solidFill>
                  <a:srgbClr val="8FB5A2"/>
                </a:solidFill>
                <a:latin typeface="Cairo" pitchFamily="34" charset="0"/>
                <a:ea typeface="Cairo" pitchFamily="34" charset="-122"/>
                <a:cs typeface="Cairo" pitchFamily="34" charset="-120"/>
              </a:rPr>
              <a:t>💬 ناقشوا… ما البديل؟</a:t>
            </a:r>
            <a:endParaRPr lang="ar-SA" sz="1900" dirty="0"/>
          </a:p>
        </p:txBody>
      </p:sp>
      <p:sp>
        <p:nvSpPr>
          <p:cNvPr id="9" name="anim-g2-368"/>
          <p:cNvSpPr/>
          <p:nvPr/>
        </p:nvSpPr>
        <p:spPr>
          <a:xfrm>
            <a:off x="5775808" y="2194560"/>
            <a:ext cx="640080" cy="804672"/>
          </a:xfrm>
          <a:prstGeom prst="rect">
            <a:avLst/>
          </a:prstGeom>
          <a:noFill/>
          <a:ln/>
        </p:spPr>
        <p:txBody>
          <a:bodyPr wrap="square" lIns="0" tIns="0" rIns="0" bIns="0" rtlCol="0" anchor="ctr">
            <a:normAutofit/>
          </a:bodyPr>
          <a:lstStyle/>
          <a:p>
            <a:pPr rtl="1" algn="ctr" indent="0" marL="0">
              <a:buNone/>
            </a:pPr>
            <a:r>
              <a:rPr lang="ar-SA" altLang="en-US" sz="2600" b="1" dirty="0">
                <a:solidFill>
                  <a:srgbClr val="B08A2E"/>
                </a:solidFill>
                <a:latin typeface="Cairo" pitchFamily="34" charset="0"/>
                <a:ea typeface="Cairo" pitchFamily="34" charset="-122"/>
                <a:cs typeface="Cairo" pitchFamily="34" charset="-120"/>
              </a:rPr>
              <a:t>←</a:t>
            </a:r>
            <a:endParaRPr lang="ar-SA" sz="2600" dirty="0"/>
          </a:p>
        </p:txBody>
      </p:sp>
      <p:sp>
        <p:nvSpPr>
          <p:cNvPr id="10" name="anim-g2-369"/>
          <p:cNvSpPr/>
          <p:nvPr/>
        </p:nvSpPr>
        <p:spPr>
          <a:xfrm>
            <a:off x="822960" y="2194560"/>
            <a:ext cx="4952848" cy="804672"/>
          </a:xfrm>
          <a:prstGeom prst="roundRect">
            <a:avLst>
              <a:gd name="adj" fmla="val 15909"/>
            </a:avLst>
          </a:prstGeom>
          <a:solidFill>
            <a:srgbClr val="E6F4EC"/>
          </a:solidFill>
          <a:ln/>
        </p:spPr>
      </p:sp>
      <p:sp>
        <p:nvSpPr>
          <p:cNvPr id="11" name="anim-g2-370"/>
          <p:cNvSpPr/>
          <p:nvPr/>
        </p:nvSpPr>
        <p:spPr>
          <a:xfrm>
            <a:off x="1051560" y="219456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1D5E40"/>
                </a:solidFill>
                <a:latin typeface="Cairo" pitchFamily="34" charset="0"/>
                <a:ea typeface="Cairo" pitchFamily="34" charset="-122"/>
                <a:cs typeface="Cairo" pitchFamily="34" charset="-120"/>
              </a:rPr>
              <a:t>لا، التركيب بالضغط فقط</a:t>
            </a:r>
            <a:endParaRPr lang="ar-SA" sz="2200" dirty="0"/>
          </a:p>
        </p:txBody>
      </p:sp>
      <p:sp>
        <p:nvSpPr>
          <p:cNvPr id="12" name="anim-g3-371"/>
          <p:cNvSpPr/>
          <p:nvPr/>
        </p:nvSpPr>
        <p:spPr>
          <a:xfrm>
            <a:off x="6415888" y="3154680"/>
            <a:ext cx="4952848" cy="804672"/>
          </a:xfrm>
          <a:prstGeom prst="roundRect">
            <a:avLst>
              <a:gd name="adj" fmla="val 15909"/>
            </a:avLst>
          </a:prstGeom>
          <a:solidFill>
            <a:srgbClr val="FBECEC"/>
          </a:solidFill>
          <a:ln/>
        </p:spPr>
      </p:sp>
      <p:sp>
        <p:nvSpPr>
          <p:cNvPr id="13" name="anim-g3-372"/>
          <p:cNvSpPr/>
          <p:nvPr/>
        </p:nvSpPr>
        <p:spPr>
          <a:xfrm>
            <a:off x="6644488" y="315468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8E2A2A"/>
                </a:solidFill>
                <a:latin typeface="Cairo" pitchFamily="34" charset="0"/>
                <a:ea typeface="Cairo" pitchFamily="34" charset="-122"/>
                <a:cs typeface="Cairo" pitchFamily="34" charset="-120"/>
              </a:rPr>
              <a:t>هل يصلح للتعديل السريع؟</a:t>
            </a:r>
            <a:endParaRPr lang="ar-SA" sz="2200" dirty="0"/>
          </a:p>
        </p:txBody>
      </p:sp>
      <p:sp>
        <p:nvSpPr>
          <p:cNvPr id="14" name="anim-g3-373"/>
          <p:cNvSpPr/>
          <p:nvPr/>
        </p:nvSpPr>
        <p:spPr>
          <a:xfrm>
            <a:off x="822960" y="3154680"/>
            <a:ext cx="4952848" cy="804672"/>
          </a:xfrm>
          <a:prstGeom prst="roundRect">
            <a:avLst>
              <a:gd name="adj" fmla="val 15909"/>
            </a:avLst>
          </a:prstGeom>
          <a:solidFill>
            <a:srgbClr val="FFFFFF"/>
          </a:solidFill>
          <a:ln w="19050">
            <a:solidFill>
              <a:srgbClr val="BFD9CB"/>
            </a:solidFill>
            <a:prstDash val="dash"/>
          </a:ln>
        </p:spPr>
      </p:sp>
      <p:sp>
        <p:nvSpPr>
          <p:cNvPr id="15" name="anim-g3-374"/>
          <p:cNvSpPr/>
          <p:nvPr/>
        </p:nvSpPr>
        <p:spPr>
          <a:xfrm>
            <a:off x="822960" y="3154680"/>
            <a:ext cx="4952848" cy="804672"/>
          </a:xfrm>
          <a:prstGeom prst="rect">
            <a:avLst/>
          </a:prstGeom>
          <a:noFill/>
          <a:ln/>
        </p:spPr>
        <p:txBody>
          <a:bodyPr wrap="square" lIns="0" tIns="0" rIns="0" bIns="0" rtlCol="0" anchor="ctr">
            <a:normAutofit/>
          </a:bodyPr>
          <a:lstStyle/>
          <a:p>
            <a:pPr rtl="1" algn="ctr" indent="0" marL="0">
              <a:buNone/>
            </a:pPr>
            <a:r>
              <a:rPr lang="ar-SA" altLang="en-US" sz="1900" b="1" dirty="0">
                <a:solidFill>
                  <a:srgbClr val="8FB5A2"/>
                </a:solidFill>
                <a:latin typeface="Cairo" pitchFamily="34" charset="0"/>
                <a:ea typeface="Cairo" pitchFamily="34" charset="-122"/>
                <a:cs typeface="Cairo" pitchFamily="34" charset="-120"/>
              </a:rPr>
              <a:t>💬 ناقشوا… ما البديل؟</a:t>
            </a:r>
            <a:endParaRPr lang="ar-SA" sz="1900" dirty="0"/>
          </a:p>
        </p:txBody>
      </p:sp>
      <p:sp>
        <p:nvSpPr>
          <p:cNvPr id="16" name="anim-g4-375"/>
          <p:cNvSpPr/>
          <p:nvPr/>
        </p:nvSpPr>
        <p:spPr>
          <a:xfrm>
            <a:off x="5775808" y="3154680"/>
            <a:ext cx="640080" cy="804672"/>
          </a:xfrm>
          <a:prstGeom prst="rect">
            <a:avLst/>
          </a:prstGeom>
          <a:noFill/>
          <a:ln/>
        </p:spPr>
        <p:txBody>
          <a:bodyPr wrap="square" lIns="0" tIns="0" rIns="0" bIns="0" rtlCol="0" anchor="ctr">
            <a:normAutofit/>
          </a:bodyPr>
          <a:lstStyle/>
          <a:p>
            <a:pPr rtl="1" algn="ctr" indent="0" marL="0">
              <a:buNone/>
            </a:pPr>
            <a:r>
              <a:rPr lang="ar-SA" altLang="en-US" sz="2600" b="1" dirty="0">
                <a:solidFill>
                  <a:srgbClr val="B08A2E"/>
                </a:solidFill>
                <a:latin typeface="Cairo" pitchFamily="34" charset="0"/>
                <a:ea typeface="Cairo" pitchFamily="34" charset="-122"/>
                <a:cs typeface="Cairo" pitchFamily="34" charset="-120"/>
              </a:rPr>
              <a:t>←</a:t>
            </a:r>
            <a:endParaRPr lang="ar-SA" sz="2600" dirty="0"/>
          </a:p>
        </p:txBody>
      </p:sp>
      <p:sp>
        <p:nvSpPr>
          <p:cNvPr id="17" name="anim-g4-376"/>
          <p:cNvSpPr/>
          <p:nvPr/>
        </p:nvSpPr>
        <p:spPr>
          <a:xfrm>
            <a:off x="822960" y="3154680"/>
            <a:ext cx="4952848" cy="804672"/>
          </a:xfrm>
          <a:prstGeom prst="roundRect">
            <a:avLst>
              <a:gd name="adj" fmla="val 15909"/>
            </a:avLst>
          </a:prstGeom>
          <a:solidFill>
            <a:srgbClr val="E6F4EC"/>
          </a:solidFill>
          <a:ln/>
        </p:spPr>
      </p:sp>
      <p:sp>
        <p:nvSpPr>
          <p:cNvPr id="18" name="anim-g4-377"/>
          <p:cNvSpPr/>
          <p:nvPr/>
        </p:nvSpPr>
        <p:spPr>
          <a:xfrm>
            <a:off x="1051560" y="315468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1D5E40"/>
                </a:solidFill>
                <a:latin typeface="Cairo" pitchFamily="34" charset="0"/>
                <a:ea typeface="Cairo" pitchFamily="34" charset="-122"/>
                <a:cs typeface="Cairo" pitchFamily="34" charset="-120"/>
              </a:rPr>
              <a:t>نعم، تنقل أي قطعة في ثوانٍ</a:t>
            </a:r>
            <a:endParaRPr lang="ar-SA" sz="2200" dirty="0"/>
          </a:p>
        </p:txBody>
      </p:sp>
      <p:sp>
        <p:nvSpPr>
          <p:cNvPr id="19" name="anim-g5-378"/>
          <p:cNvSpPr/>
          <p:nvPr/>
        </p:nvSpPr>
        <p:spPr>
          <a:xfrm>
            <a:off x="6415888" y="4114800"/>
            <a:ext cx="4952848" cy="804672"/>
          </a:xfrm>
          <a:prstGeom prst="roundRect">
            <a:avLst>
              <a:gd name="adj" fmla="val 15909"/>
            </a:avLst>
          </a:prstGeom>
          <a:solidFill>
            <a:srgbClr val="FBECEC"/>
          </a:solidFill>
          <a:ln/>
        </p:spPr>
      </p:sp>
      <p:sp>
        <p:nvSpPr>
          <p:cNvPr id="20" name="anim-g5-379"/>
          <p:cNvSpPr/>
          <p:nvPr/>
        </p:nvSpPr>
        <p:spPr>
          <a:xfrm>
            <a:off x="6644488" y="411480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8E2A2A"/>
                </a:solidFill>
                <a:latin typeface="Cairo" pitchFamily="34" charset="0"/>
                <a:ea typeface="Cairo" pitchFamily="34" charset="-122"/>
                <a:cs typeface="Cairo" pitchFamily="34" charset="-120"/>
              </a:rPr>
              <a:t>نقطة ضعفه</a:t>
            </a:r>
            <a:endParaRPr lang="ar-SA" sz="2200" dirty="0"/>
          </a:p>
        </p:txBody>
      </p:sp>
      <p:sp>
        <p:nvSpPr>
          <p:cNvPr id="21" name="anim-g5-380"/>
          <p:cNvSpPr/>
          <p:nvPr/>
        </p:nvSpPr>
        <p:spPr>
          <a:xfrm>
            <a:off x="822960" y="4114800"/>
            <a:ext cx="4952848" cy="804672"/>
          </a:xfrm>
          <a:prstGeom prst="roundRect">
            <a:avLst>
              <a:gd name="adj" fmla="val 15909"/>
            </a:avLst>
          </a:prstGeom>
          <a:solidFill>
            <a:srgbClr val="FFFFFF"/>
          </a:solidFill>
          <a:ln w="19050">
            <a:solidFill>
              <a:srgbClr val="BFD9CB"/>
            </a:solidFill>
            <a:prstDash val="dash"/>
          </a:ln>
        </p:spPr>
      </p:sp>
      <p:sp>
        <p:nvSpPr>
          <p:cNvPr id="22" name="anim-g5-381"/>
          <p:cNvSpPr/>
          <p:nvPr/>
        </p:nvSpPr>
        <p:spPr>
          <a:xfrm>
            <a:off x="822960" y="4114800"/>
            <a:ext cx="4952848" cy="804672"/>
          </a:xfrm>
          <a:prstGeom prst="rect">
            <a:avLst/>
          </a:prstGeom>
          <a:noFill/>
          <a:ln/>
        </p:spPr>
        <p:txBody>
          <a:bodyPr wrap="square" lIns="0" tIns="0" rIns="0" bIns="0" rtlCol="0" anchor="ctr">
            <a:normAutofit/>
          </a:bodyPr>
          <a:lstStyle/>
          <a:p>
            <a:pPr rtl="1" algn="ctr" indent="0" marL="0">
              <a:buNone/>
            </a:pPr>
            <a:r>
              <a:rPr lang="ar-SA" altLang="en-US" sz="1900" b="1" dirty="0">
                <a:solidFill>
                  <a:srgbClr val="8FB5A2"/>
                </a:solidFill>
                <a:latin typeface="Cairo" pitchFamily="34" charset="0"/>
                <a:ea typeface="Cairo" pitchFamily="34" charset="-122"/>
                <a:cs typeface="Cairo" pitchFamily="34" charset="-120"/>
              </a:rPr>
              <a:t>💬 ناقشوا… ما البديل؟</a:t>
            </a:r>
            <a:endParaRPr lang="ar-SA" sz="1900" dirty="0"/>
          </a:p>
        </p:txBody>
      </p:sp>
      <p:sp>
        <p:nvSpPr>
          <p:cNvPr id="23" name="anim-g6-382"/>
          <p:cNvSpPr/>
          <p:nvPr/>
        </p:nvSpPr>
        <p:spPr>
          <a:xfrm>
            <a:off x="5775808" y="4114800"/>
            <a:ext cx="640080" cy="804672"/>
          </a:xfrm>
          <a:prstGeom prst="rect">
            <a:avLst/>
          </a:prstGeom>
          <a:noFill/>
          <a:ln/>
        </p:spPr>
        <p:txBody>
          <a:bodyPr wrap="square" lIns="0" tIns="0" rIns="0" bIns="0" rtlCol="0" anchor="ctr">
            <a:normAutofit/>
          </a:bodyPr>
          <a:lstStyle/>
          <a:p>
            <a:pPr rtl="1" algn="ctr" indent="0" marL="0">
              <a:buNone/>
            </a:pPr>
            <a:r>
              <a:rPr lang="ar-SA" altLang="en-US" sz="2600" b="1" dirty="0">
                <a:solidFill>
                  <a:srgbClr val="B08A2E"/>
                </a:solidFill>
                <a:latin typeface="Cairo" pitchFamily="34" charset="0"/>
                <a:ea typeface="Cairo" pitchFamily="34" charset="-122"/>
                <a:cs typeface="Cairo" pitchFamily="34" charset="-120"/>
              </a:rPr>
              <a:t>←</a:t>
            </a:r>
            <a:endParaRPr lang="ar-SA" sz="2600" dirty="0"/>
          </a:p>
        </p:txBody>
      </p:sp>
      <p:sp>
        <p:nvSpPr>
          <p:cNvPr id="24" name="anim-g6-383"/>
          <p:cNvSpPr/>
          <p:nvPr/>
        </p:nvSpPr>
        <p:spPr>
          <a:xfrm>
            <a:off x="822960" y="4114800"/>
            <a:ext cx="4952848" cy="804672"/>
          </a:xfrm>
          <a:prstGeom prst="roundRect">
            <a:avLst>
              <a:gd name="adj" fmla="val 15909"/>
            </a:avLst>
          </a:prstGeom>
          <a:solidFill>
            <a:srgbClr val="E6F4EC"/>
          </a:solidFill>
          <a:ln/>
        </p:spPr>
      </p:sp>
      <p:sp>
        <p:nvSpPr>
          <p:cNvPr id="25" name="anim-g6-384"/>
          <p:cNvSpPr/>
          <p:nvPr/>
        </p:nvSpPr>
        <p:spPr>
          <a:xfrm>
            <a:off x="1051560" y="411480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1D5E40"/>
                </a:solidFill>
                <a:latin typeface="Cairo" pitchFamily="34" charset="0"/>
                <a:ea typeface="Cairo" pitchFamily="34" charset="-122"/>
                <a:cs typeface="Cairo" pitchFamily="34" charset="-120"/>
              </a:rPr>
              <a:t>التوصيلات قد ترتخي مع كثرة الاستخدام</a:t>
            </a:r>
            <a:endParaRPr lang="ar-SA" sz="2200" dirty="0"/>
          </a:p>
        </p:txBody>
      </p:sp>
      <p:sp>
        <p:nvSpPr>
          <p:cNvPr id="26" name="anim-g7-385"/>
          <p:cNvSpPr/>
          <p:nvPr/>
        </p:nvSpPr>
        <p:spPr>
          <a:xfrm>
            <a:off x="6415888" y="5074920"/>
            <a:ext cx="4952848" cy="804672"/>
          </a:xfrm>
          <a:prstGeom prst="roundRect">
            <a:avLst>
              <a:gd name="adj" fmla="val 15909"/>
            </a:avLst>
          </a:prstGeom>
          <a:solidFill>
            <a:srgbClr val="FBECEC"/>
          </a:solidFill>
          <a:ln/>
        </p:spPr>
      </p:sp>
      <p:sp>
        <p:nvSpPr>
          <p:cNvPr id="27" name="anim-g7-386"/>
          <p:cNvSpPr/>
          <p:nvPr/>
        </p:nvSpPr>
        <p:spPr>
          <a:xfrm>
            <a:off x="6644488" y="507492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8E2A2A"/>
                </a:solidFill>
                <a:latin typeface="Cairo" pitchFamily="34" charset="0"/>
                <a:ea typeface="Cairo" pitchFamily="34" charset="-122"/>
                <a:cs typeface="Cairo" pitchFamily="34" charset="-120"/>
              </a:rPr>
              <a:t>متى لا يناسب؟</a:t>
            </a:r>
            <a:endParaRPr lang="ar-SA" sz="2200" dirty="0"/>
          </a:p>
        </p:txBody>
      </p:sp>
      <p:sp>
        <p:nvSpPr>
          <p:cNvPr id="28" name="anim-g7-387"/>
          <p:cNvSpPr/>
          <p:nvPr/>
        </p:nvSpPr>
        <p:spPr>
          <a:xfrm>
            <a:off x="822960" y="5074920"/>
            <a:ext cx="4952848" cy="804672"/>
          </a:xfrm>
          <a:prstGeom prst="roundRect">
            <a:avLst>
              <a:gd name="adj" fmla="val 15909"/>
            </a:avLst>
          </a:prstGeom>
          <a:solidFill>
            <a:srgbClr val="FFFFFF"/>
          </a:solidFill>
          <a:ln w="19050">
            <a:solidFill>
              <a:srgbClr val="BFD9CB"/>
            </a:solidFill>
            <a:prstDash val="dash"/>
          </a:ln>
        </p:spPr>
      </p:sp>
      <p:sp>
        <p:nvSpPr>
          <p:cNvPr id="29" name="anim-g7-388"/>
          <p:cNvSpPr/>
          <p:nvPr/>
        </p:nvSpPr>
        <p:spPr>
          <a:xfrm>
            <a:off x="822960" y="5074920"/>
            <a:ext cx="4952848" cy="804672"/>
          </a:xfrm>
          <a:prstGeom prst="rect">
            <a:avLst/>
          </a:prstGeom>
          <a:noFill/>
          <a:ln/>
        </p:spPr>
        <p:txBody>
          <a:bodyPr wrap="square" lIns="0" tIns="0" rIns="0" bIns="0" rtlCol="0" anchor="ctr">
            <a:normAutofit/>
          </a:bodyPr>
          <a:lstStyle/>
          <a:p>
            <a:pPr rtl="1" algn="ctr" indent="0" marL="0">
              <a:buNone/>
            </a:pPr>
            <a:r>
              <a:rPr lang="ar-SA" altLang="en-US" sz="1900" b="1" dirty="0">
                <a:solidFill>
                  <a:srgbClr val="8FB5A2"/>
                </a:solidFill>
                <a:latin typeface="Cairo" pitchFamily="34" charset="0"/>
                <a:ea typeface="Cairo" pitchFamily="34" charset="-122"/>
                <a:cs typeface="Cairo" pitchFamily="34" charset="-120"/>
              </a:rPr>
              <a:t>💬 ناقشوا… ما البديل؟</a:t>
            </a:r>
            <a:endParaRPr lang="ar-SA" sz="1900" dirty="0"/>
          </a:p>
        </p:txBody>
      </p:sp>
      <p:sp>
        <p:nvSpPr>
          <p:cNvPr id="30" name="anim-g8-389"/>
          <p:cNvSpPr/>
          <p:nvPr/>
        </p:nvSpPr>
        <p:spPr>
          <a:xfrm>
            <a:off x="5775808" y="5074920"/>
            <a:ext cx="640080" cy="804672"/>
          </a:xfrm>
          <a:prstGeom prst="rect">
            <a:avLst/>
          </a:prstGeom>
          <a:noFill/>
          <a:ln/>
        </p:spPr>
        <p:txBody>
          <a:bodyPr wrap="square" lIns="0" tIns="0" rIns="0" bIns="0" rtlCol="0" anchor="ctr">
            <a:normAutofit/>
          </a:bodyPr>
          <a:lstStyle/>
          <a:p>
            <a:pPr rtl="1" algn="ctr" indent="0" marL="0">
              <a:buNone/>
            </a:pPr>
            <a:r>
              <a:rPr lang="ar-SA" altLang="en-US" sz="2600" b="1" dirty="0">
                <a:solidFill>
                  <a:srgbClr val="B08A2E"/>
                </a:solidFill>
                <a:latin typeface="Cairo" pitchFamily="34" charset="0"/>
                <a:ea typeface="Cairo" pitchFamily="34" charset="-122"/>
                <a:cs typeface="Cairo" pitchFamily="34" charset="-120"/>
              </a:rPr>
              <a:t>←</a:t>
            </a:r>
            <a:endParaRPr lang="ar-SA" sz="2600" dirty="0"/>
          </a:p>
        </p:txBody>
      </p:sp>
      <p:sp>
        <p:nvSpPr>
          <p:cNvPr id="31" name="anim-g8-390"/>
          <p:cNvSpPr/>
          <p:nvPr/>
        </p:nvSpPr>
        <p:spPr>
          <a:xfrm>
            <a:off x="822960" y="5074920"/>
            <a:ext cx="4952848" cy="804672"/>
          </a:xfrm>
          <a:prstGeom prst="roundRect">
            <a:avLst>
              <a:gd name="adj" fmla="val 15909"/>
            </a:avLst>
          </a:prstGeom>
          <a:solidFill>
            <a:srgbClr val="E6F4EC"/>
          </a:solidFill>
          <a:ln/>
        </p:spPr>
      </p:sp>
      <p:sp>
        <p:nvSpPr>
          <p:cNvPr id="32" name="anim-g8-391"/>
          <p:cNvSpPr/>
          <p:nvPr/>
        </p:nvSpPr>
        <p:spPr>
          <a:xfrm>
            <a:off x="1051560" y="507492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1D5E40"/>
                </a:solidFill>
                <a:latin typeface="Cairo" pitchFamily="34" charset="0"/>
                <a:ea typeface="Cairo" pitchFamily="34" charset="-122"/>
                <a:cs typeface="Cairo" pitchFamily="34" charset="-120"/>
              </a:rPr>
              <a:t>التيارات العالية والمشاريع النهائية الدائمة</a:t>
            </a:r>
            <a:endParaRPr lang="ar-SA" sz="2200" dirty="0"/>
          </a:p>
        </p:txBody>
      </p:sp>
      <p:sp>
        <p:nvSpPr>
          <p:cNvPr id="33" name="Text 31"/>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الأردوينو للمعلمين</a:t>
            </a:r>
            <a:endParaRPr lang="ar-SA" sz="1200" dirty="0"/>
          </a:p>
        </p:txBody>
      </p:sp>
      <p:sp>
        <p:nvSpPr>
          <p:cNvPr id="34" name="Text 32"/>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Tinkercad ولوح التوصيل  ·  ٥١</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400"/>
                                        <p:tgtEl>
                                          <p:spTgt spid="1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400"/>
                                        <p:tgtEl>
                                          <p:spTgt spid="16"/>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fade">
                                      <p:cBhvr>
                                        <p:cTn id="57" dur="400"/>
                                        <p:tgtEl>
                                          <p:spTgt spid="19"/>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0"/>
                                        </p:tgtEl>
                                        <p:attrNameLst>
                                          <p:attrName>style.visibility</p:attrName>
                                        </p:attrNameLst>
                                      </p:cBhvr>
                                      <p:to>
                                        <p:strVal val="visible"/>
                                      </p:to>
                                    </p:set>
                                    <p:animEffect transition="in" filter="fade">
                                      <p:cBhvr>
                                        <p:cTn id="60" dur="400"/>
                                        <p:tgtEl>
                                          <p:spTgt spid="20"/>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400"/>
                                        <p:tgtEl>
                                          <p:spTgt spid="21"/>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400"/>
                                        <p:tgtEl>
                                          <p:spTgt spid="22"/>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23"/>
                                        </p:tgtEl>
                                        <p:attrNameLst>
                                          <p:attrName>style.visibility</p:attrName>
                                        </p:attrNameLst>
                                      </p:cBhvr>
                                      <p:to>
                                        <p:strVal val="visible"/>
                                      </p:to>
                                    </p:set>
                                    <p:animEffect transition="in" filter="fade">
                                      <p:cBhvr>
                                        <p:cTn id="71" dur="400"/>
                                        <p:tgtEl>
                                          <p:spTgt spid="23"/>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4"/>
                                        </p:tgtEl>
                                        <p:attrNameLst>
                                          <p:attrName>style.visibility</p:attrName>
                                        </p:attrNameLst>
                                      </p:cBhvr>
                                      <p:to>
                                        <p:strVal val="visible"/>
                                      </p:to>
                                    </p:set>
                                    <p:animEffect transition="in" filter="fade">
                                      <p:cBhvr>
                                        <p:cTn id="74" dur="400"/>
                                        <p:tgtEl>
                                          <p:spTgt spid="24"/>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5"/>
                                        </p:tgtEl>
                                        <p:attrNameLst>
                                          <p:attrName>style.visibility</p:attrName>
                                        </p:attrNameLst>
                                      </p:cBhvr>
                                      <p:to>
                                        <p:strVal val="visible"/>
                                      </p:to>
                                    </p:set>
                                    <p:animEffect transition="in" filter="fade">
                                      <p:cBhvr>
                                        <p:cTn id="77" dur="400"/>
                                        <p:tgtEl>
                                          <p:spTgt spid="25"/>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26"/>
                                        </p:tgtEl>
                                        <p:attrNameLst>
                                          <p:attrName>style.visibility</p:attrName>
                                        </p:attrNameLst>
                                      </p:cBhvr>
                                      <p:to>
                                        <p:strVal val="visible"/>
                                      </p:to>
                                    </p:set>
                                    <p:animEffect transition="in" filter="fade">
                                      <p:cBhvr>
                                        <p:cTn id="82" dur="400"/>
                                        <p:tgtEl>
                                          <p:spTgt spid="26"/>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27"/>
                                        </p:tgtEl>
                                        <p:attrNameLst>
                                          <p:attrName>style.visibility</p:attrName>
                                        </p:attrNameLst>
                                      </p:cBhvr>
                                      <p:to>
                                        <p:strVal val="visible"/>
                                      </p:to>
                                    </p:set>
                                    <p:animEffect transition="in" filter="fade">
                                      <p:cBhvr>
                                        <p:cTn id="85" dur="400"/>
                                        <p:tgtEl>
                                          <p:spTgt spid="27"/>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28"/>
                                        </p:tgtEl>
                                        <p:attrNameLst>
                                          <p:attrName>style.visibility</p:attrName>
                                        </p:attrNameLst>
                                      </p:cBhvr>
                                      <p:to>
                                        <p:strVal val="visible"/>
                                      </p:to>
                                    </p:set>
                                    <p:animEffect transition="in" filter="fade">
                                      <p:cBhvr>
                                        <p:cTn id="88" dur="400"/>
                                        <p:tgtEl>
                                          <p:spTgt spid="28"/>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29"/>
                                        </p:tgtEl>
                                        <p:attrNameLst>
                                          <p:attrName>style.visibility</p:attrName>
                                        </p:attrNameLst>
                                      </p:cBhvr>
                                      <p:to>
                                        <p:strVal val="visible"/>
                                      </p:to>
                                    </p:set>
                                    <p:animEffect transition="in" filter="fade">
                                      <p:cBhvr>
                                        <p:cTn id="91" dur="400"/>
                                        <p:tgtEl>
                                          <p:spTgt spid="29"/>
                                        </p:tgtEl>
                                      </p:cBhvr>
                                    </p:animEffect>
                                  </p:childTnLst>
                                </p:cTn>
                              </p:par>
                            </p:childTnLst>
                          </p:cTn>
                        </p:par>
                      </p:childTnLst>
                    </p:cTn>
                  </p:par>
                  <p:par>
                    <p:cTn id="92" fill="hold">
                      <p:stCondLst>
                        <p:cond delay="indefinite"/>
                      </p:stCondLst>
                      <p:childTnLst>
                        <p:par>
                          <p:cTn id="93" fill="hold">
                            <p:stCondLst>
                              <p:cond delay="0"/>
                            </p:stCondLst>
                            <p:childTnLst>
                              <p:par>
                                <p:cTn id="94" presetID="10" presetClass="entr" presetSubtype="0" fill="hold" grpId="0" nodeType="clickEffect">
                                  <p:stCondLst>
                                    <p:cond delay="0"/>
                                  </p:stCondLst>
                                  <p:childTnLst>
                                    <p:set>
                                      <p:cBhvr>
                                        <p:cTn id="95" dur="1" fill="hold">
                                          <p:stCondLst>
                                            <p:cond delay="0"/>
                                          </p:stCondLst>
                                        </p:cTn>
                                        <p:tgtEl>
                                          <p:spTgt spid="30"/>
                                        </p:tgtEl>
                                        <p:attrNameLst>
                                          <p:attrName>style.visibility</p:attrName>
                                        </p:attrNameLst>
                                      </p:cBhvr>
                                      <p:to>
                                        <p:strVal val="visible"/>
                                      </p:to>
                                    </p:set>
                                    <p:animEffect transition="in" filter="fade">
                                      <p:cBhvr>
                                        <p:cTn id="96" dur="400"/>
                                        <p:tgtEl>
                                          <p:spTgt spid="30"/>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31"/>
                                        </p:tgtEl>
                                        <p:attrNameLst>
                                          <p:attrName>style.visibility</p:attrName>
                                        </p:attrNameLst>
                                      </p:cBhvr>
                                      <p:to>
                                        <p:strVal val="visible"/>
                                      </p:to>
                                    </p:set>
                                    <p:animEffect transition="in" filter="fade">
                                      <p:cBhvr>
                                        <p:cTn id="99" dur="400"/>
                                        <p:tgtEl>
                                          <p:spTgt spid="31"/>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32"/>
                                        </p:tgtEl>
                                        <p:attrNameLst>
                                          <p:attrName>style.visibility</p:attrName>
                                        </p:attrNameLst>
                                      </p:cBhvr>
                                      <p:to>
                                        <p:strVal val="visible"/>
                                      </p:to>
                                    </p:set>
                                    <p:animEffect transition="in" filter="fade">
                                      <p:cBhvr>
                                        <p:cTn id="102"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name="Slide 5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735263" y="457200"/>
            <a:ext cx="2633472" cy="457200"/>
          </a:xfrm>
          <a:prstGeom prst="roundRect">
            <a:avLst>
              <a:gd name="adj" fmla="val 50000"/>
            </a:avLst>
          </a:prstGeom>
          <a:solidFill>
            <a:srgbClr val="F6EBCF"/>
          </a:solidFill>
          <a:ln/>
        </p:spPr>
      </p:sp>
      <p:sp>
        <p:nvSpPr>
          <p:cNvPr id="3" name="Text 1"/>
          <p:cNvSpPr/>
          <p:nvPr/>
        </p:nvSpPr>
        <p:spPr>
          <a:xfrm>
            <a:off x="8735263" y="457200"/>
            <a:ext cx="2633472"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توصيل احترافي</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أوصل الطاقة إلى لوح التوصيل هكذا</a:t>
            </a:r>
            <a:endParaRPr lang="ar-SA" sz="3800" dirty="0"/>
          </a:p>
        </p:txBody>
      </p:sp>
      <p:sp>
        <p:nvSpPr>
          <p:cNvPr id="5" name="anim-g1-392"/>
          <p:cNvSpPr/>
          <p:nvPr/>
        </p:nvSpPr>
        <p:spPr>
          <a:xfrm>
            <a:off x="822960" y="1920240"/>
            <a:ext cx="10545775" cy="946404"/>
          </a:xfrm>
          <a:prstGeom prst="roundRect">
            <a:avLst>
              <a:gd name="adj" fmla="val 15459"/>
            </a:avLst>
          </a:prstGeom>
          <a:solidFill>
            <a:srgbClr val="FFFFFF"/>
          </a:solidFill>
          <a:ln w="12700">
            <a:solidFill>
              <a:srgbClr val="E4DCC8"/>
            </a:solidFill>
            <a:prstDash val="solid"/>
          </a:ln>
        </p:spPr>
      </p:sp>
      <p:sp>
        <p:nvSpPr>
          <p:cNvPr id="6" name="anim-g1-393"/>
          <p:cNvSpPr/>
          <p:nvPr/>
        </p:nvSpPr>
        <p:spPr>
          <a:xfrm>
            <a:off x="10573207" y="2109978"/>
            <a:ext cx="566928" cy="566928"/>
          </a:xfrm>
          <a:prstGeom prst="ellipse">
            <a:avLst/>
          </a:prstGeom>
          <a:solidFill>
            <a:srgbClr val="D9AE4B"/>
          </a:solidFill>
          <a:ln/>
        </p:spPr>
      </p:sp>
      <p:sp>
        <p:nvSpPr>
          <p:cNvPr id="7" name="anim-g1-394"/>
          <p:cNvSpPr/>
          <p:nvPr/>
        </p:nvSpPr>
        <p:spPr>
          <a:xfrm>
            <a:off x="10573207" y="2109978"/>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١</a:t>
            </a:r>
            <a:endParaRPr lang="ar-SA" sz="2000" dirty="0"/>
          </a:p>
        </p:txBody>
      </p:sp>
      <p:sp>
        <p:nvSpPr>
          <p:cNvPr id="8" name="anim-g1-395"/>
          <p:cNvSpPr/>
          <p:nvPr/>
        </p:nvSpPr>
        <p:spPr>
          <a:xfrm>
            <a:off x="1097280" y="1920240"/>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5V ← القضيب الموجب (+)</a:t>
            </a:r>
            <a:endParaRPr lang="ar-SA" sz="2400" dirty="0"/>
          </a:p>
          <a:p>
            <a:pPr algn="r" indent="0" marL="0">
              <a:buNone/>
            </a:pPr>
            <a:r>
              <a:rPr lang="ar-SA" altLang="en-US" sz="2000" b="1" dirty="0">
                <a:solidFill>
                  <a:srgbClr val="3B4460"/>
                </a:solidFill>
                <a:latin typeface="Cairo" pitchFamily="34" charset="0"/>
                <a:ea typeface="Cairo" pitchFamily="34" charset="-122"/>
                <a:cs typeface="Cairo" pitchFamily="34" charset="-120"/>
              </a:rPr>
              <a:t>بسلك أحمر دائمًا</a:t>
            </a:r>
            <a:endParaRPr lang="ar-SA" sz="2400" dirty="0"/>
          </a:p>
        </p:txBody>
      </p:sp>
      <p:sp>
        <p:nvSpPr>
          <p:cNvPr id="9" name="anim-g2-396"/>
          <p:cNvSpPr/>
          <p:nvPr/>
        </p:nvSpPr>
        <p:spPr>
          <a:xfrm>
            <a:off x="822960" y="2976372"/>
            <a:ext cx="10545775" cy="946404"/>
          </a:xfrm>
          <a:prstGeom prst="roundRect">
            <a:avLst>
              <a:gd name="adj" fmla="val 15459"/>
            </a:avLst>
          </a:prstGeom>
          <a:solidFill>
            <a:srgbClr val="FFFFFF"/>
          </a:solidFill>
          <a:ln w="12700">
            <a:solidFill>
              <a:srgbClr val="E4DCC8"/>
            </a:solidFill>
            <a:prstDash val="solid"/>
          </a:ln>
        </p:spPr>
      </p:sp>
      <p:sp>
        <p:nvSpPr>
          <p:cNvPr id="10" name="anim-g2-397"/>
          <p:cNvSpPr/>
          <p:nvPr/>
        </p:nvSpPr>
        <p:spPr>
          <a:xfrm>
            <a:off x="10573207" y="3166110"/>
            <a:ext cx="566928" cy="566928"/>
          </a:xfrm>
          <a:prstGeom prst="ellipse">
            <a:avLst/>
          </a:prstGeom>
          <a:solidFill>
            <a:srgbClr val="D9AE4B"/>
          </a:solidFill>
          <a:ln/>
        </p:spPr>
      </p:sp>
      <p:sp>
        <p:nvSpPr>
          <p:cNvPr id="11" name="anim-g2-398"/>
          <p:cNvSpPr/>
          <p:nvPr/>
        </p:nvSpPr>
        <p:spPr>
          <a:xfrm>
            <a:off x="10573207" y="3166110"/>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٢</a:t>
            </a:r>
            <a:endParaRPr lang="ar-SA" sz="2000" dirty="0"/>
          </a:p>
        </p:txBody>
      </p:sp>
      <p:sp>
        <p:nvSpPr>
          <p:cNvPr id="12" name="anim-g2-399"/>
          <p:cNvSpPr/>
          <p:nvPr/>
        </p:nvSpPr>
        <p:spPr>
          <a:xfrm>
            <a:off x="1097280" y="2976372"/>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GND ← القضيب السالب (−)</a:t>
            </a:r>
            <a:endParaRPr lang="ar-SA" sz="2400" dirty="0"/>
          </a:p>
          <a:p>
            <a:pPr algn="r" indent="0" marL="0">
              <a:buNone/>
            </a:pPr>
            <a:r>
              <a:rPr lang="ar-SA" altLang="en-US" sz="2000" b="1" dirty="0">
                <a:solidFill>
                  <a:srgbClr val="3B4460"/>
                </a:solidFill>
                <a:latin typeface="Cairo" pitchFamily="34" charset="0"/>
                <a:ea typeface="Cairo" pitchFamily="34" charset="-122"/>
                <a:cs typeface="Cairo" pitchFamily="34" charset="-120"/>
              </a:rPr>
              <a:t>بسلك أسود دائمًا</a:t>
            </a:r>
            <a:endParaRPr lang="ar-SA" sz="2400" dirty="0"/>
          </a:p>
        </p:txBody>
      </p:sp>
      <p:sp>
        <p:nvSpPr>
          <p:cNvPr id="13" name="anim-g3-400"/>
          <p:cNvSpPr/>
          <p:nvPr/>
        </p:nvSpPr>
        <p:spPr>
          <a:xfrm>
            <a:off x="822960" y="4032504"/>
            <a:ext cx="10545775" cy="946404"/>
          </a:xfrm>
          <a:prstGeom prst="roundRect">
            <a:avLst>
              <a:gd name="adj" fmla="val 15459"/>
            </a:avLst>
          </a:prstGeom>
          <a:solidFill>
            <a:srgbClr val="FFFFFF"/>
          </a:solidFill>
          <a:ln w="12700">
            <a:solidFill>
              <a:srgbClr val="E4DCC8"/>
            </a:solidFill>
            <a:prstDash val="solid"/>
          </a:ln>
        </p:spPr>
      </p:sp>
      <p:sp>
        <p:nvSpPr>
          <p:cNvPr id="14" name="anim-g3-401"/>
          <p:cNvSpPr/>
          <p:nvPr/>
        </p:nvSpPr>
        <p:spPr>
          <a:xfrm>
            <a:off x="10573207" y="4222242"/>
            <a:ext cx="566928" cy="566928"/>
          </a:xfrm>
          <a:prstGeom prst="ellipse">
            <a:avLst/>
          </a:prstGeom>
          <a:solidFill>
            <a:srgbClr val="D9AE4B"/>
          </a:solidFill>
          <a:ln/>
        </p:spPr>
      </p:sp>
      <p:sp>
        <p:nvSpPr>
          <p:cNvPr id="15" name="anim-g3-402"/>
          <p:cNvSpPr/>
          <p:nvPr/>
        </p:nvSpPr>
        <p:spPr>
          <a:xfrm>
            <a:off x="10573207" y="4222242"/>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٣</a:t>
            </a:r>
            <a:endParaRPr lang="ar-SA" sz="2000" dirty="0"/>
          </a:p>
        </p:txBody>
      </p:sp>
      <p:sp>
        <p:nvSpPr>
          <p:cNvPr id="16" name="anim-g3-403"/>
          <p:cNvSpPr/>
          <p:nvPr/>
        </p:nvSpPr>
        <p:spPr>
          <a:xfrm>
            <a:off x="1097280" y="4032504"/>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اربط القضبان المتقابلة</a:t>
            </a:r>
            <a:endParaRPr lang="ar-SA" sz="2400" dirty="0"/>
          </a:p>
          <a:p>
            <a:pPr algn="r" indent="0" marL="0">
              <a:buNone/>
            </a:pPr>
            <a:r>
              <a:rPr lang="ar-SA" altLang="en-US" sz="2000" b="1" dirty="0">
                <a:solidFill>
                  <a:srgbClr val="3B4460"/>
                </a:solidFill>
                <a:latin typeface="Cairo" pitchFamily="34" charset="0"/>
                <a:ea typeface="Cairo" pitchFamily="34" charset="-122"/>
                <a:cs typeface="Cairo" pitchFamily="34" charset="-120"/>
              </a:rPr>
              <a:t>فتصبح الطاقة متاحة على جانبي اللوح</a:t>
            </a:r>
            <a:endParaRPr lang="ar-SA" sz="2400" dirty="0"/>
          </a:p>
        </p:txBody>
      </p:sp>
      <p:sp>
        <p:nvSpPr>
          <p:cNvPr id="17" name="anim-g4-404"/>
          <p:cNvSpPr/>
          <p:nvPr/>
        </p:nvSpPr>
        <p:spPr>
          <a:xfrm>
            <a:off x="822960" y="5088636"/>
            <a:ext cx="10545775" cy="946404"/>
          </a:xfrm>
          <a:prstGeom prst="roundRect">
            <a:avLst>
              <a:gd name="adj" fmla="val 15459"/>
            </a:avLst>
          </a:prstGeom>
          <a:solidFill>
            <a:srgbClr val="FFFFFF"/>
          </a:solidFill>
          <a:ln w="12700">
            <a:solidFill>
              <a:srgbClr val="E4DCC8"/>
            </a:solidFill>
            <a:prstDash val="solid"/>
          </a:ln>
        </p:spPr>
      </p:sp>
      <p:sp>
        <p:nvSpPr>
          <p:cNvPr id="18" name="anim-g4-405"/>
          <p:cNvSpPr/>
          <p:nvPr/>
        </p:nvSpPr>
        <p:spPr>
          <a:xfrm>
            <a:off x="10573207" y="5278374"/>
            <a:ext cx="566928" cy="566928"/>
          </a:xfrm>
          <a:prstGeom prst="ellipse">
            <a:avLst/>
          </a:prstGeom>
          <a:solidFill>
            <a:srgbClr val="D9AE4B"/>
          </a:solidFill>
          <a:ln/>
        </p:spPr>
      </p:sp>
      <p:sp>
        <p:nvSpPr>
          <p:cNvPr id="19" name="anim-g4-406"/>
          <p:cNvSpPr/>
          <p:nvPr/>
        </p:nvSpPr>
        <p:spPr>
          <a:xfrm>
            <a:off x="10573207" y="5278374"/>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٤</a:t>
            </a:r>
            <a:endParaRPr lang="ar-SA" sz="2000" dirty="0"/>
          </a:p>
        </p:txBody>
      </p:sp>
      <p:sp>
        <p:nvSpPr>
          <p:cNvPr id="20" name="anim-g4-407"/>
          <p:cNvSpPr/>
          <p:nvPr/>
        </p:nvSpPr>
        <p:spPr>
          <a:xfrm>
            <a:off x="1097280" y="5088636"/>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نظّم الأسلاك</a:t>
            </a:r>
            <a:endParaRPr lang="ar-SA" sz="2400" dirty="0"/>
          </a:p>
          <a:p>
            <a:pPr algn="r" indent="0" marL="0">
              <a:buNone/>
            </a:pPr>
            <a:r>
              <a:rPr lang="ar-SA" altLang="en-US" sz="2000" b="1" dirty="0">
                <a:solidFill>
                  <a:srgbClr val="3B4460"/>
                </a:solidFill>
                <a:latin typeface="Cairo" pitchFamily="34" charset="0"/>
                <a:ea typeface="Cairo" pitchFamily="34" charset="-122"/>
                <a:cs typeface="Cairo" pitchFamily="34" charset="-120"/>
              </a:rPr>
              <a:t>اضغط لتصنع نقاط انحناء، وتجنّب التشابك</a:t>
            </a:r>
            <a:endParaRPr lang="ar-SA" sz="2400" dirty="0"/>
          </a:p>
        </p:txBody>
      </p:sp>
      <p:sp>
        <p:nvSpPr>
          <p:cNvPr id="21" name="Text 19"/>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الأردوينو للمعلمين</a:t>
            </a:r>
            <a:endParaRPr lang="ar-SA" sz="1200" dirty="0"/>
          </a:p>
        </p:txBody>
      </p:sp>
      <p:sp>
        <p:nvSpPr>
          <p:cNvPr id="22" name="Text 20"/>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Tinkercad ولوح التوصيل  ·  ٥٢</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name="Slide 5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81567" y="457200"/>
            <a:ext cx="2487168" cy="457200"/>
          </a:xfrm>
          <a:prstGeom prst="roundRect">
            <a:avLst>
              <a:gd name="adj" fmla="val 50000"/>
            </a:avLst>
          </a:prstGeom>
          <a:solidFill>
            <a:srgbClr val="F6EBCF"/>
          </a:solidFill>
          <a:ln/>
        </p:spPr>
      </p:sp>
      <p:sp>
        <p:nvSpPr>
          <p:cNvPr id="3" name="Text 1"/>
          <p:cNvSpPr/>
          <p:nvPr/>
        </p:nvSpPr>
        <p:spPr>
          <a:xfrm>
            <a:off x="8881567" y="45720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اختبر نفسك</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ركّبت ليدًا وساقاه في العمود نفسه… ماذا سيحدث؟</a:t>
            </a:r>
            <a:endParaRPr lang="ar-SA" sz="3200" dirty="0"/>
          </a:p>
        </p:txBody>
      </p:sp>
      <p:sp>
        <p:nvSpPr>
          <p:cNvPr id="5" name="Shape 3"/>
          <p:cNvSpPr/>
          <p:nvPr/>
        </p:nvSpPr>
        <p:spPr>
          <a:xfrm>
            <a:off x="822960" y="2057400"/>
            <a:ext cx="10545775" cy="1228344"/>
          </a:xfrm>
          <a:prstGeom prst="roundRect">
            <a:avLst>
              <a:gd name="adj" fmla="val 11911"/>
            </a:avLst>
          </a:prstGeom>
          <a:solidFill>
            <a:srgbClr val="FFFFFF"/>
          </a:solidFill>
          <a:ln w="19050">
            <a:solidFill>
              <a:srgbClr val="E4DCC8"/>
            </a:solidFill>
            <a:prstDash val="solid"/>
          </a:ln>
        </p:spPr>
      </p:sp>
      <p:sp>
        <p:nvSpPr>
          <p:cNvPr id="6" name="Shape 4"/>
          <p:cNvSpPr/>
          <p:nvPr/>
        </p:nvSpPr>
        <p:spPr>
          <a:xfrm>
            <a:off x="10231831" y="2194560"/>
            <a:ext cx="954024" cy="954024"/>
          </a:xfrm>
          <a:prstGeom prst="roundRect">
            <a:avLst>
              <a:gd name="adj" fmla="val 11502"/>
            </a:avLst>
          </a:prstGeom>
          <a:solidFill>
            <a:srgbClr val="101B45"/>
          </a:solidFill>
          <a:ln/>
        </p:spPr>
      </p:sp>
      <p:sp>
        <p:nvSpPr>
          <p:cNvPr id="7" name="Text 5"/>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8" name="Text 6"/>
          <p:cNvSpPr/>
          <p:nvPr/>
        </p:nvSpPr>
        <p:spPr>
          <a:xfrm>
            <a:off x="1097280" y="2057400"/>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يضيء بقوة أكبر</a:t>
            </a:r>
            <a:endParaRPr lang="ar-SA" sz="2500" dirty="0"/>
          </a:p>
        </p:txBody>
      </p:sp>
      <p:sp>
        <p:nvSpPr>
          <p:cNvPr id="9" name="anim-g1-408"/>
          <p:cNvSpPr/>
          <p:nvPr/>
        </p:nvSpPr>
        <p:spPr>
          <a:xfrm>
            <a:off x="822960" y="2057400"/>
            <a:ext cx="10545775" cy="1228344"/>
          </a:xfrm>
          <a:prstGeom prst="roundRect">
            <a:avLst>
              <a:gd name="adj" fmla="val 11911"/>
            </a:avLst>
          </a:prstGeom>
          <a:solidFill>
            <a:srgbClr val="F7F7F9"/>
          </a:solidFill>
          <a:ln w="19050">
            <a:solidFill>
              <a:srgbClr val="E4DCC8"/>
            </a:solidFill>
            <a:prstDash val="solid"/>
          </a:ln>
        </p:spPr>
      </p:sp>
      <p:sp>
        <p:nvSpPr>
          <p:cNvPr id="10" name="anim-g1-409"/>
          <p:cNvSpPr/>
          <p:nvPr/>
        </p:nvSpPr>
        <p:spPr>
          <a:xfrm>
            <a:off x="10231831" y="2194560"/>
            <a:ext cx="954024" cy="954024"/>
          </a:xfrm>
          <a:prstGeom prst="roundRect">
            <a:avLst>
              <a:gd name="adj" fmla="val 11502"/>
            </a:avLst>
          </a:prstGeom>
          <a:solidFill>
            <a:srgbClr val="A3A9BA"/>
          </a:solidFill>
          <a:ln/>
        </p:spPr>
      </p:sp>
      <p:sp>
        <p:nvSpPr>
          <p:cNvPr id="11" name="anim-g1-410"/>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12" name="anim-g1-411"/>
          <p:cNvSpPr/>
          <p:nvPr/>
        </p:nvSpPr>
        <p:spPr>
          <a:xfrm>
            <a:off x="1097280" y="2093976"/>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يضيء بقوة أكبر</a:t>
            </a:r>
            <a:endParaRPr lang="ar-SA" sz="2400" dirty="0"/>
          </a:p>
        </p:txBody>
      </p:sp>
      <p:sp>
        <p:nvSpPr>
          <p:cNvPr id="13" name="anim-g1-412"/>
          <p:cNvSpPr/>
          <p:nvPr/>
        </p:nvSpPr>
        <p:spPr>
          <a:xfrm>
            <a:off x="1097280" y="2720706"/>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لن يمر التيار عبر الليد أصلًا</a:t>
            </a:r>
            <a:endParaRPr lang="ar-SA" sz="1800" dirty="0"/>
          </a:p>
        </p:txBody>
      </p:sp>
      <p:sp>
        <p:nvSpPr>
          <p:cNvPr id="14" name="Shape 12"/>
          <p:cNvSpPr/>
          <p:nvPr/>
        </p:nvSpPr>
        <p:spPr>
          <a:xfrm>
            <a:off x="822960" y="3432048"/>
            <a:ext cx="10545775" cy="1228344"/>
          </a:xfrm>
          <a:prstGeom prst="roundRect">
            <a:avLst>
              <a:gd name="adj" fmla="val 11911"/>
            </a:avLst>
          </a:prstGeom>
          <a:solidFill>
            <a:srgbClr val="FFFFFF"/>
          </a:solidFill>
          <a:ln w="19050">
            <a:solidFill>
              <a:srgbClr val="E4DCC8"/>
            </a:solidFill>
            <a:prstDash val="solid"/>
          </a:ln>
        </p:spPr>
      </p:sp>
      <p:sp>
        <p:nvSpPr>
          <p:cNvPr id="15" name="Shape 13"/>
          <p:cNvSpPr/>
          <p:nvPr/>
        </p:nvSpPr>
        <p:spPr>
          <a:xfrm>
            <a:off x="10231831" y="3569208"/>
            <a:ext cx="954024" cy="954024"/>
          </a:xfrm>
          <a:prstGeom prst="roundRect">
            <a:avLst>
              <a:gd name="adj" fmla="val 11502"/>
            </a:avLst>
          </a:prstGeom>
          <a:solidFill>
            <a:srgbClr val="101B45"/>
          </a:solidFill>
          <a:ln/>
        </p:spPr>
      </p:sp>
      <p:sp>
        <p:nvSpPr>
          <p:cNvPr id="16" name="Text 14"/>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17" name="Text 15"/>
          <p:cNvSpPr/>
          <p:nvPr/>
        </p:nvSpPr>
        <p:spPr>
          <a:xfrm>
            <a:off x="1097280" y="3432048"/>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لن يضيء، لأن العمود متصل من الداخل</a:t>
            </a:r>
            <a:endParaRPr lang="ar-SA" sz="2500" dirty="0"/>
          </a:p>
        </p:txBody>
      </p:sp>
      <p:sp>
        <p:nvSpPr>
          <p:cNvPr id="18" name="anim-g1-413"/>
          <p:cNvSpPr/>
          <p:nvPr/>
        </p:nvSpPr>
        <p:spPr>
          <a:xfrm>
            <a:off x="822960" y="3432048"/>
            <a:ext cx="10545775" cy="1228344"/>
          </a:xfrm>
          <a:prstGeom prst="roundRect">
            <a:avLst>
              <a:gd name="adj" fmla="val 11911"/>
            </a:avLst>
          </a:prstGeom>
          <a:solidFill>
            <a:srgbClr val="E6F4EC"/>
          </a:solidFill>
          <a:ln w="31750">
            <a:solidFill>
              <a:srgbClr val="2E9E6B"/>
            </a:solidFill>
            <a:prstDash val="solid"/>
          </a:ln>
        </p:spPr>
      </p:sp>
      <p:sp>
        <p:nvSpPr>
          <p:cNvPr id="19" name="anim-g1-414"/>
          <p:cNvSpPr/>
          <p:nvPr/>
        </p:nvSpPr>
        <p:spPr>
          <a:xfrm>
            <a:off x="10231831" y="3569208"/>
            <a:ext cx="954024" cy="954024"/>
          </a:xfrm>
          <a:prstGeom prst="roundRect">
            <a:avLst>
              <a:gd name="adj" fmla="val 11502"/>
            </a:avLst>
          </a:prstGeom>
          <a:solidFill>
            <a:srgbClr val="2E9E6B"/>
          </a:solidFill>
          <a:ln/>
        </p:spPr>
      </p:sp>
      <p:sp>
        <p:nvSpPr>
          <p:cNvPr id="20" name="anim-g1-415"/>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a:t>
            </a:r>
            <a:endParaRPr lang="ar-SA" sz="2400" dirty="0"/>
          </a:p>
        </p:txBody>
      </p:sp>
      <p:sp>
        <p:nvSpPr>
          <p:cNvPr id="21" name="anim-g1-416"/>
          <p:cNvSpPr/>
          <p:nvPr/>
        </p:nvSpPr>
        <p:spPr>
          <a:xfrm>
            <a:off x="1097280" y="3468624"/>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131B34"/>
                </a:solidFill>
                <a:latin typeface="Cairo" pitchFamily="34" charset="0"/>
                <a:ea typeface="Cairo" pitchFamily="34" charset="-122"/>
                <a:cs typeface="Cairo" pitchFamily="34" charset="-120"/>
              </a:rPr>
              <a:t>لن يضيء، لأن العمود متصل من الداخل</a:t>
            </a:r>
            <a:endParaRPr lang="ar-SA" sz="2400" dirty="0"/>
          </a:p>
        </p:txBody>
      </p:sp>
      <p:sp>
        <p:nvSpPr>
          <p:cNvPr id="22" name="anim-g1-417"/>
          <p:cNvSpPr/>
          <p:nvPr/>
        </p:nvSpPr>
        <p:spPr>
          <a:xfrm>
            <a:off x="1097280" y="4095354"/>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1D5E40"/>
                </a:solidFill>
                <a:latin typeface="Cairo" pitchFamily="34" charset="0"/>
                <a:ea typeface="Cairo" pitchFamily="34" charset="-122"/>
                <a:cs typeface="Cairo" pitchFamily="34" charset="-120"/>
              </a:rPr>
              <a:t>التيار يلتف حول الليد عبر العمود، وهذا يسمى قِصَرًا</a:t>
            </a:r>
            <a:endParaRPr lang="ar-SA" sz="1800" dirty="0"/>
          </a:p>
        </p:txBody>
      </p:sp>
      <p:sp>
        <p:nvSpPr>
          <p:cNvPr id="23" name="Shape 21"/>
          <p:cNvSpPr/>
          <p:nvPr/>
        </p:nvSpPr>
        <p:spPr>
          <a:xfrm>
            <a:off x="822960" y="4806696"/>
            <a:ext cx="10545775" cy="1228344"/>
          </a:xfrm>
          <a:prstGeom prst="roundRect">
            <a:avLst>
              <a:gd name="adj" fmla="val 11911"/>
            </a:avLst>
          </a:prstGeom>
          <a:solidFill>
            <a:srgbClr val="FFFFFF"/>
          </a:solidFill>
          <a:ln w="19050">
            <a:solidFill>
              <a:srgbClr val="E4DCC8"/>
            </a:solidFill>
            <a:prstDash val="solid"/>
          </a:ln>
        </p:spPr>
      </p:sp>
      <p:sp>
        <p:nvSpPr>
          <p:cNvPr id="24" name="Shape 22"/>
          <p:cNvSpPr/>
          <p:nvPr/>
        </p:nvSpPr>
        <p:spPr>
          <a:xfrm>
            <a:off x="10231831" y="4943856"/>
            <a:ext cx="954024" cy="954024"/>
          </a:xfrm>
          <a:prstGeom prst="roundRect">
            <a:avLst>
              <a:gd name="adj" fmla="val 11502"/>
            </a:avLst>
          </a:prstGeom>
          <a:solidFill>
            <a:srgbClr val="101B45"/>
          </a:solidFill>
          <a:ln/>
        </p:spPr>
      </p:sp>
      <p:sp>
        <p:nvSpPr>
          <p:cNvPr id="25" name="Text 23"/>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26" name="Text 24"/>
          <p:cNvSpPr/>
          <p:nvPr/>
        </p:nvSpPr>
        <p:spPr>
          <a:xfrm>
            <a:off x="1097280" y="4806696"/>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يضيء لكن بشكل خافت</a:t>
            </a:r>
            <a:endParaRPr lang="ar-SA" sz="2500" dirty="0"/>
          </a:p>
        </p:txBody>
      </p:sp>
      <p:sp>
        <p:nvSpPr>
          <p:cNvPr id="27" name="anim-g1-418"/>
          <p:cNvSpPr/>
          <p:nvPr/>
        </p:nvSpPr>
        <p:spPr>
          <a:xfrm>
            <a:off x="822960" y="4806696"/>
            <a:ext cx="10545775" cy="1228344"/>
          </a:xfrm>
          <a:prstGeom prst="roundRect">
            <a:avLst>
              <a:gd name="adj" fmla="val 11911"/>
            </a:avLst>
          </a:prstGeom>
          <a:solidFill>
            <a:srgbClr val="F7F7F9"/>
          </a:solidFill>
          <a:ln w="19050">
            <a:solidFill>
              <a:srgbClr val="E4DCC8"/>
            </a:solidFill>
            <a:prstDash val="solid"/>
          </a:ln>
        </p:spPr>
      </p:sp>
      <p:sp>
        <p:nvSpPr>
          <p:cNvPr id="28" name="anim-g1-419"/>
          <p:cNvSpPr/>
          <p:nvPr/>
        </p:nvSpPr>
        <p:spPr>
          <a:xfrm>
            <a:off x="10231831" y="4943856"/>
            <a:ext cx="954024" cy="954024"/>
          </a:xfrm>
          <a:prstGeom prst="roundRect">
            <a:avLst>
              <a:gd name="adj" fmla="val 11502"/>
            </a:avLst>
          </a:prstGeom>
          <a:solidFill>
            <a:srgbClr val="A3A9BA"/>
          </a:solidFill>
          <a:ln/>
        </p:spPr>
      </p:sp>
      <p:sp>
        <p:nvSpPr>
          <p:cNvPr id="29" name="anim-g1-420"/>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30" name="anim-g1-421"/>
          <p:cNvSpPr/>
          <p:nvPr/>
        </p:nvSpPr>
        <p:spPr>
          <a:xfrm>
            <a:off x="1097280" y="4843272"/>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يضيء لكن بشكل خافت</a:t>
            </a:r>
            <a:endParaRPr lang="ar-SA" sz="2400" dirty="0"/>
          </a:p>
        </p:txBody>
      </p:sp>
      <p:sp>
        <p:nvSpPr>
          <p:cNvPr id="31" name="anim-g1-422"/>
          <p:cNvSpPr/>
          <p:nvPr/>
        </p:nvSpPr>
        <p:spPr>
          <a:xfrm>
            <a:off x="1097280" y="5470002"/>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لن يصل إليه أي تيار ليضيء</a:t>
            </a:r>
            <a:endParaRPr lang="ar-SA" sz="1800" dirty="0"/>
          </a:p>
        </p:txBody>
      </p:sp>
      <p:sp>
        <p:nvSpPr>
          <p:cNvPr id="32" name="Text 30"/>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الأردوينو للمعلمين</a:t>
            </a:r>
            <a:endParaRPr lang="ar-SA" sz="1200" dirty="0"/>
          </a:p>
        </p:txBody>
      </p:sp>
      <p:sp>
        <p:nvSpPr>
          <p:cNvPr id="33" name="Text 31"/>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Tinkercad ولوح التوصيل  ·  ٥٣</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00"/>
                                        <p:tgtEl>
                                          <p:spTgt spid="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00"/>
                                        <p:tgtEl>
                                          <p:spTgt spid="2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400"/>
                                        <p:tgtEl>
                                          <p:spTgt spid="2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400"/>
                                        <p:tgtEl>
                                          <p:spTgt spid="3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fade">
                                      <p:cBhvr>
                                        <p:cTn id="4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8" grpId="0" animBg="1"/>
      <p:bldP spid="19" grpId="0" animBg="1"/>
      <p:bldP spid="20" grpId="0" animBg="1"/>
      <p:bldP spid="21" grpId="0" animBg="1"/>
      <p:bldP spid="22" grpId="0" animBg="1"/>
      <p:bldP spid="27" grpId="0" animBg="1"/>
      <p:bldP spid="28" grpId="0" animBg="1"/>
      <p:bldP spid="29" grpId="0" animBg="1"/>
      <p:bldP spid="30" grpId="0" animBg="1"/>
      <p:bldP spid="31"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pic>
        <p:nvPicPr>
          <p:cNvPr id="2" name="Image 0" descr="/Users/mac/Desktop/أردوينو/المشاريع والكتب/younes-training/arduino/.pptx-cache/s5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pic>
        <p:nvPicPr>
          <p:cNvPr id="2" name="Image 0" descr="/Users/mac/Desktop/أردوينو/المشاريع والكتب/younes-training/arduino/.pptx-cache/s5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852264" y="1188720"/>
            <a:ext cx="2487168"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852264" y="118872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خلاصة المحور</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من يفهم لوح التوصيل…</a:t>
            </a:r>
            <a:endParaRPr lang="ar-SA" sz="4400" dirty="0"/>
          </a:p>
          <a:p>
            <a:pPr algn="ctr" indent="0" marL="0">
              <a:lnSpc>
                <a:spcPct val="115000"/>
              </a:lnSpc>
              <a:buNone/>
            </a:pPr>
            <a:r>
              <a:rPr lang="ar-SA" altLang="en-US" sz="4400" dirty="0">
                <a:solidFill>
                  <a:srgbClr val="F0CC7A"/>
                </a:solidFill>
                <a:latin typeface="Cairo Black" pitchFamily="34" charset="0"/>
                <a:ea typeface="Cairo Black" pitchFamily="34" charset="-122"/>
                <a:cs typeface="Cairo Black" pitchFamily="34" charset="-120"/>
              </a:rPr>
              <a:t> يستطيع بناء أي دائرة</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الأردوينو للمعلمين</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Tinkercad ولوح التوصيل  ·  ٥٦</a:t>
            </a:r>
            <a:endParaRPr lang="ar-SA" sz="12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97280" y="2103120"/>
            <a:ext cx="2651760" cy="2651760"/>
          </a:xfrm>
          <a:prstGeom prst="ellipse">
            <a:avLst/>
          </a:prstGeom>
          <a:solidFill>
            <a:srgbClr val="D9AE4B">
              <a:alpha val="12000"/>
            </a:srgbClr>
          </a:solidFill>
          <a:ln w="63500">
            <a:solidFill>
              <a:srgbClr val="D9AE4B">
                <a:alpha val="60000"/>
              </a:srgbClr>
            </a:solidFill>
            <a:prstDash val="solid"/>
          </a:ln>
        </p:spPr>
      </p:sp>
      <p:sp>
        <p:nvSpPr>
          <p:cNvPr id="3" name="Text 1"/>
          <p:cNvSpPr/>
          <p:nvPr/>
        </p:nvSpPr>
        <p:spPr>
          <a:xfrm>
            <a:off x="1097280" y="2103120"/>
            <a:ext cx="2651760" cy="2651760"/>
          </a:xfrm>
          <a:prstGeom prst="rect">
            <a:avLst/>
          </a:prstGeom>
          <a:noFill/>
          <a:ln/>
        </p:spPr>
        <p:txBody>
          <a:bodyPr wrap="square" lIns="0" tIns="0" rIns="0" bIns="0" rtlCol="0" anchor="ctr">
            <a:normAutofit/>
          </a:bodyPr>
          <a:lstStyle/>
          <a:p>
            <a:pPr rtl="1" algn="ctr" indent="0" marL="0">
              <a:buNone/>
            </a:pPr>
            <a:r>
              <a:rPr lang="ar-SA" altLang="en-US" sz="12000" dirty="0">
                <a:solidFill>
                  <a:srgbClr val="F0CC7A"/>
                </a:solidFill>
                <a:latin typeface="Cairo Black" pitchFamily="34" charset="0"/>
                <a:ea typeface="Cairo Black" pitchFamily="34" charset="-122"/>
                <a:cs typeface="Cairo Black" pitchFamily="34" charset="-120"/>
              </a:rPr>
              <a:t>٥</a:t>
            </a:r>
            <a:endParaRPr lang="ar-SA" sz="12000" dirty="0"/>
          </a:p>
        </p:txBody>
      </p:sp>
      <p:sp>
        <p:nvSpPr>
          <p:cNvPr id="4" name="Text 2"/>
          <p:cNvSpPr/>
          <p:nvPr/>
        </p:nvSpPr>
        <p:spPr>
          <a:xfrm>
            <a:off x="4206240" y="1828800"/>
            <a:ext cx="7162495" cy="457200"/>
          </a:xfrm>
          <a:prstGeom prst="rect">
            <a:avLst/>
          </a:prstGeom>
          <a:noFill/>
          <a:ln/>
        </p:spPr>
        <p:txBody>
          <a:bodyPr wrap="square" lIns="0" tIns="0" rIns="0" bIns="0" rtlCol="0" anchor="ctr">
            <a:normAutofit/>
          </a:bodyPr>
          <a:lstStyle/>
          <a:p>
            <a:pPr rtl="1" algn="r" indent="0" marL="0">
              <a:buNone/>
            </a:pPr>
            <a:r>
              <a:rPr lang="ar-SA" altLang="en-US" sz="2000" b="1" dirty="0">
                <a:solidFill>
                  <a:srgbClr val="D9AE4B"/>
                </a:solidFill>
                <a:latin typeface="Cairo" pitchFamily="34" charset="0"/>
                <a:ea typeface="Cairo" pitchFamily="34" charset="-122"/>
                <a:cs typeface="Cairo" pitchFamily="34" charset="-120"/>
              </a:rPr>
              <a:t>المحور ٥</a:t>
            </a:r>
            <a:endParaRPr lang="ar-SA" sz="2000" dirty="0"/>
          </a:p>
        </p:txBody>
      </p:sp>
      <p:sp>
        <p:nvSpPr>
          <p:cNvPr id="5" name="Text 3"/>
          <p:cNvSpPr/>
          <p:nvPr/>
        </p:nvSpPr>
        <p:spPr>
          <a:xfrm>
            <a:off x="4206240" y="2286000"/>
            <a:ext cx="7162495" cy="1371600"/>
          </a:xfrm>
          <a:prstGeom prst="rect">
            <a:avLst/>
          </a:prstGeom>
          <a:noFill/>
          <a:ln/>
        </p:spPr>
        <p:txBody>
          <a:bodyPr wrap="square" lIns="0" tIns="0" rIns="0" bIns="0" rtlCol="0" anchor="ctr">
            <a:normAutofit/>
          </a:bodyPr>
          <a:lstStyle/>
          <a:p>
            <a:pPr rtl="1" algn="r" indent="0" marL="0">
              <a:buNone/>
            </a:pPr>
            <a:r>
              <a:rPr lang="ar-SA" altLang="en-US" sz="5600" dirty="0">
                <a:solidFill>
                  <a:srgbClr val="FFFFFF"/>
                </a:solidFill>
                <a:latin typeface="Cairo Black" pitchFamily="34" charset="0"/>
                <a:ea typeface="Cairo Black" pitchFamily="34" charset="-122"/>
                <a:cs typeface="Cairo Black" pitchFamily="34" charset="-120"/>
              </a:rPr>
              <a:t>الدوائر الكهربائية</a:t>
            </a:r>
            <a:endParaRPr lang="ar-SA" sz="5600" dirty="0"/>
          </a:p>
        </p:txBody>
      </p:sp>
      <p:sp>
        <p:nvSpPr>
          <p:cNvPr id="6" name="Text 4"/>
          <p:cNvSpPr/>
          <p:nvPr/>
        </p:nvSpPr>
        <p:spPr>
          <a:xfrm>
            <a:off x="4206240" y="3749040"/>
            <a:ext cx="7162495" cy="822960"/>
          </a:xfrm>
          <a:prstGeom prst="rect">
            <a:avLst/>
          </a:prstGeom>
          <a:noFill/>
          <a:ln/>
        </p:spPr>
        <p:txBody>
          <a:bodyPr wrap="square" lIns="0" tIns="0" rIns="0" bIns="0" rtlCol="0" anchor="ctr">
            <a:normAutofit/>
          </a:bodyPr>
          <a:lstStyle/>
          <a:p>
            <a:pPr rtl="1" algn="r" indent="0" marL="0">
              <a:buNone/>
            </a:pPr>
            <a:r>
              <a:rPr lang="ar-SA" altLang="en-US" sz="2200" b="1" dirty="0">
                <a:solidFill>
                  <a:srgbClr val="C9CFE6"/>
                </a:solidFill>
                <a:latin typeface="Cairo" pitchFamily="34" charset="0"/>
                <a:ea typeface="Cairo" pitchFamily="34" charset="-122"/>
                <a:cs typeface="Cairo" pitchFamily="34" charset="-120"/>
              </a:rPr>
              <a:t>من البطارية إلى الليد… أول دائرة تضيء بين يديك</a:t>
            </a:r>
            <a:endParaRPr lang="ar-SA" sz="2200" dirty="0"/>
          </a:p>
        </p:txBody>
      </p:sp>
      <p:sp>
        <p:nvSpPr>
          <p:cNvPr id="7" name="Text 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الأردوينو للمعلمين</a:t>
            </a:r>
            <a:endParaRPr lang="ar-SA" sz="1200" dirty="0"/>
          </a:p>
        </p:txBody>
      </p:sp>
      <p:sp>
        <p:nvSpPr>
          <p:cNvPr id="8" name="Text 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الدوائر وأول دائرة  ·  ٥٧</a:t>
            </a:r>
            <a:endParaRPr lang="ar-SA" sz="12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248095" y="457200"/>
            <a:ext cx="5120640" cy="457200"/>
          </a:xfrm>
          <a:prstGeom prst="roundRect">
            <a:avLst>
              <a:gd name="adj" fmla="val 50000"/>
            </a:avLst>
          </a:prstGeom>
          <a:solidFill>
            <a:srgbClr val="F6EBCF"/>
          </a:solidFill>
          <a:ln/>
        </p:spPr>
      </p:sp>
      <p:sp>
        <p:nvSpPr>
          <p:cNvPr id="3" name="Text 1"/>
          <p:cNvSpPr/>
          <p:nvPr/>
        </p:nvSpPr>
        <p:spPr>
          <a:xfrm>
            <a:off x="6248095" y="457200"/>
            <a:ext cx="512064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بنهاية هذا المحور تستطيع أن</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أهداف المحور</a:t>
            </a:r>
            <a:endParaRPr lang="ar-SA" sz="3800" dirty="0"/>
          </a:p>
        </p:txBody>
      </p:sp>
      <p:sp>
        <p:nvSpPr>
          <p:cNvPr id="5" name="anim-g1-423"/>
          <p:cNvSpPr/>
          <p:nvPr/>
        </p:nvSpPr>
        <p:spPr>
          <a:xfrm>
            <a:off x="822960" y="1920240"/>
            <a:ext cx="10545775" cy="946404"/>
          </a:xfrm>
          <a:prstGeom prst="roundRect">
            <a:avLst>
              <a:gd name="adj" fmla="val 15459"/>
            </a:avLst>
          </a:prstGeom>
          <a:solidFill>
            <a:srgbClr val="FFFFFF"/>
          </a:solidFill>
          <a:ln w="12700">
            <a:solidFill>
              <a:srgbClr val="E4DCC8"/>
            </a:solidFill>
            <a:prstDash val="solid"/>
          </a:ln>
        </p:spPr>
      </p:sp>
      <p:sp>
        <p:nvSpPr>
          <p:cNvPr id="6" name="anim-g1-424"/>
          <p:cNvSpPr/>
          <p:nvPr/>
        </p:nvSpPr>
        <p:spPr>
          <a:xfrm>
            <a:off x="10573207" y="2109978"/>
            <a:ext cx="566928" cy="566928"/>
          </a:xfrm>
          <a:prstGeom prst="ellipse">
            <a:avLst/>
          </a:prstGeom>
          <a:solidFill>
            <a:srgbClr val="D9AE4B"/>
          </a:solidFill>
          <a:ln/>
        </p:spPr>
      </p:sp>
      <p:sp>
        <p:nvSpPr>
          <p:cNvPr id="7" name="anim-g1-425"/>
          <p:cNvSpPr/>
          <p:nvPr/>
        </p:nvSpPr>
        <p:spPr>
          <a:xfrm>
            <a:off x="10573207" y="2109978"/>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١</a:t>
            </a:r>
            <a:endParaRPr lang="ar-SA" sz="2000" dirty="0"/>
          </a:p>
        </p:txBody>
      </p:sp>
      <p:sp>
        <p:nvSpPr>
          <p:cNvPr id="8" name="anim-g1-426"/>
          <p:cNvSpPr/>
          <p:nvPr/>
        </p:nvSpPr>
        <p:spPr>
          <a:xfrm>
            <a:off x="1097280" y="1920240"/>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تقرأ رموز الدوائر الكهربائية الأساسية</a:t>
            </a:r>
            <a:endParaRPr lang="ar-SA" sz="2400" dirty="0"/>
          </a:p>
        </p:txBody>
      </p:sp>
      <p:sp>
        <p:nvSpPr>
          <p:cNvPr id="9" name="anim-g2-427"/>
          <p:cNvSpPr/>
          <p:nvPr/>
        </p:nvSpPr>
        <p:spPr>
          <a:xfrm>
            <a:off x="822960" y="2976372"/>
            <a:ext cx="10545775" cy="946404"/>
          </a:xfrm>
          <a:prstGeom prst="roundRect">
            <a:avLst>
              <a:gd name="adj" fmla="val 15459"/>
            </a:avLst>
          </a:prstGeom>
          <a:solidFill>
            <a:srgbClr val="FFFFFF"/>
          </a:solidFill>
          <a:ln w="12700">
            <a:solidFill>
              <a:srgbClr val="E4DCC8"/>
            </a:solidFill>
            <a:prstDash val="solid"/>
          </a:ln>
        </p:spPr>
      </p:sp>
      <p:sp>
        <p:nvSpPr>
          <p:cNvPr id="10" name="anim-g2-428"/>
          <p:cNvSpPr/>
          <p:nvPr/>
        </p:nvSpPr>
        <p:spPr>
          <a:xfrm>
            <a:off x="10573207" y="3166110"/>
            <a:ext cx="566928" cy="566928"/>
          </a:xfrm>
          <a:prstGeom prst="ellipse">
            <a:avLst/>
          </a:prstGeom>
          <a:solidFill>
            <a:srgbClr val="D9AE4B"/>
          </a:solidFill>
          <a:ln/>
        </p:spPr>
      </p:sp>
      <p:sp>
        <p:nvSpPr>
          <p:cNvPr id="11" name="anim-g2-429"/>
          <p:cNvSpPr/>
          <p:nvPr/>
        </p:nvSpPr>
        <p:spPr>
          <a:xfrm>
            <a:off x="10573207" y="3166110"/>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٢</a:t>
            </a:r>
            <a:endParaRPr lang="ar-SA" sz="2000" dirty="0"/>
          </a:p>
        </p:txBody>
      </p:sp>
      <p:sp>
        <p:nvSpPr>
          <p:cNvPr id="12" name="anim-g2-430"/>
          <p:cNvSpPr/>
          <p:nvPr/>
        </p:nvSpPr>
        <p:spPr>
          <a:xfrm>
            <a:off x="1097280" y="2976372"/>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تشرح مكونات الدائرة البسيطة</a:t>
            </a:r>
            <a:endParaRPr lang="ar-SA" sz="2400" dirty="0"/>
          </a:p>
        </p:txBody>
      </p:sp>
      <p:sp>
        <p:nvSpPr>
          <p:cNvPr id="13" name="anim-g3-431"/>
          <p:cNvSpPr/>
          <p:nvPr/>
        </p:nvSpPr>
        <p:spPr>
          <a:xfrm>
            <a:off x="822960" y="4032504"/>
            <a:ext cx="10545775" cy="946404"/>
          </a:xfrm>
          <a:prstGeom prst="roundRect">
            <a:avLst>
              <a:gd name="adj" fmla="val 15459"/>
            </a:avLst>
          </a:prstGeom>
          <a:solidFill>
            <a:srgbClr val="FFFFFF"/>
          </a:solidFill>
          <a:ln w="12700">
            <a:solidFill>
              <a:srgbClr val="E4DCC8"/>
            </a:solidFill>
            <a:prstDash val="solid"/>
          </a:ln>
        </p:spPr>
      </p:sp>
      <p:sp>
        <p:nvSpPr>
          <p:cNvPr id="14" name="anim-g3-432"/>
          <p:cNvSpPr/>
          <p:nvPr/>
        </p:nvSpPr>
        <p:spPr>
          <a:xfrm>
            <a:off x="10573207" y="4222242"/>
            <a:ext cx="566928" cy="566928"/>
          </a:xfrm>
          <a:prstGeom prst="ellipse">
            <a:avLst/>
          </a:prstGeom>
          <a:solidFill>
            <a:srgbClr val="D9AE4B"/>
          </a:solidFill>
          <a:ln/>
        </p:spPr>
      </p:sp>
      <p:sp>
        <p:nvSpPr>
          <p:cNvPr id="15" name="anim-g3-433"/>
          <p:cNvSpPr/>
          <p:nvPr/>
        </p:nvSpPr>
        <p:spPr>
          <a:xfrm>
            <a:off x="10573207" y="4222242"/>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٣</a:t>
            </a:r>
            <a:endParaRPr lang="ar-SA" sz="2000" dirty="0"/>
          </a:p>
        </p:txBody>
      </p:sp>
      <p:sp>
        <p:nvSpPr>
          <p:cNvPr id="16" name="anim-g3-434"/>
          <p:cNvSpPr/>
          <p:nvPr/>
        </p:nvSpPr>
        <p:spPr>
          <a:xfrm>
            <a:off x="1097280" y="4032504"/>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تميّز بين التوصيل على التوالي والتوازي</a:t>
            </a:r>
            <a:endParaRPr lang="ar-SA" sz="2400" dirty="0"/>
          </a:p>
        </p:txBody>
      </p:sp>
      <p:sp>
        <p:nvSpPr>
          <p:cNvPr id="17" name="anim-g4-435"/>
          <p:cNvSpPr/>
          <p:nvPr/>
        </p:nvSpPr>
        <p:spPr>
          <a:xfrm>
            <a:off x="822960" y="5088636"/>
            <a:ext cx="10545775" cy="946404"/>
          </a:xfrm>
          <a:prstGeom prst="roundRect">
            <a:avLst>
              <a:gd name="adj" fmla="val 15459"/>
            </a:avLst>
          </a:prstGeom>
          <a:solidFill>
            <a:srgbClr val="FFFFFF"/>
          </a:solidFill>
          <a:ln w="12700">
            <a:solidFill>
              <a:srgbClr val="E4DCC8"/>
            </a:solidFill>
            <a:prstDash val="solid"/>
          </a:ln>
        </p:spPr>
      </p:sp>
      <p:sp>
        <p:nvSpPr>
          <p:cNvPr id="18" name="anim-g4-436"/>
          <p:cNvSpPr/>
          <p:nvPr/>
        </p:nvSpPr>
        <p:spPr>
          <a:xfrm>
            <a:off x="10573207" y="5278374"/>
            <a:ext cx="566928" cy="566928"/>
          </a:xfrm>
          <a:prstGeom prst="ellipse">
            <a:avLst/>
          </a:prstGeom>
          <a:solidFill>
            <a:srgbClr val="D9AE4B"/>
          </a:solidFill>
          <a:ln/>
        </p:spPr>
      </p:sp>
      <p:sp>
        <p:nvSpPr>
          <p:cNvPr id="19" name="anim-g4-437"/>
          <p:cNvSpPr/>
          <p:nvPr/>
        </p:nvSpPr>
        <p:spPr>
          <a:xfrm>
            <a:off x="10573207" y="5278374"/>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٤</a:t>
            </a:r>
            <a:endParaRPr lang="ar-SA" sz="2000" dirty="0"/>
          </a:p>
        </p:txBody>
      </p:sp>
      <p:sp>
        <p:nvSpPr>
          <p:cNvPr id="20" name="anim-g4-438"/>
          <p:cNvSpPr/>
          <p:nvPr/>
        </p:nvSpPr>
        <p:spPr>
          <a:xfrm>
            <a:off x="1097280" y="5088636"/>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تبني أول دائرة LED وتشغّلها في Tinkercad</a:t>
            </a:r>
            <a:endParaRPr lang="ar-SA" sz="2400" dirty="0"/>
          </a:p>
        </p:txBody>
      </p:sp>
      <p:sp>
        <p:nvSpPr>
          <p:cNvPr id="21" name="Text 19"/>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الأردوينو للمعلمين</a:t>
            </a:r>
            <a:endParaRPr lang="ar-SA" sz="1200" dirty="0"/>
          </a:p>
        </p:txBody>
      </p:sp>
      <p:sp>
        <p:nvSpPr>
          <p:cNvPr id="22" name="Text 20"/>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الدوائر وأول دائرة  ·  ٥٨</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pic>
        <p:nvPicPr>
          <p:cNvPr id="2" name="Image 0" descr="/Users/mac/Desktop/أردوينو/المشاريع والكتب/younes-training/arduino/.pptx-cache/s5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442655" y="457200"/>
            <a:ext cx="2926080" cy="457200"/>
          </a:xfrm>
          <a:prstGeom prst="roundRect">
            <a:avLst>
              <a:gd name="adj" fmla="val 50000"/>
            </a:avLst>
          </a:prstGeom>
          <a:solidFill>
            <a:srgbClr val="F6EBCF"/>
          </a:solidFill>
          <a:ln/>
        </p:spPr>
      </p:sp>
      <p:sp>
        <p:nvSpPr>
          <p:cNvPr id="3" name="Text 1"/>
          <p:cNvSpPr/>
          <p:nvPr/>
        </p:nvSpPr>
        <p:spPr>
          <a:xfrm>
            <a:off x="8442655" y="457200"/>
            <a:ext cx="292608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الدائرة البسيطة</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أربعة مكونات… ومسار مغلق</a:t>
            </a:r>
            <a:endParaRPr lang="ar-SA" sz="3800" dirty="0"/>
          </a:p>
        </p:txBody>
      </p:sp>
      <p:sp>
        <p:nvSpPr>
          <p:cNvPr id="5" name="anim-g1-439"/>
          <p:cNvSpPr/>
          <p:nvPr/>
        </p:nvSpPr>
        <p:spPr>
          <a:xfrm>
            <a:off x="8938031" y="2148840"/>
            <a:ext cx="2430704" cy="3566160"/>
          </a:xfrm>
          <a:prstGeom prst="roundRect">
            <a:avLst>
              <a:gd name="adj" fmla="val 677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440"/>
          <p:cNvSpPr/>
          <p:nvPr/>
        </p:nvSpPr>
        <p:spPr>
          <a:xfrm>
            <a:off x="10362895" y="2404872"/>
            <a:ext cx="731520" cy="731520"/>
          </a:xfrm>
          <a:prstGeom prst="roundRect">
            <a:avLst>
              <a:gd name="adj" fmla="val 25000"/>
            </a:avLst>
          </a:prstGeom>
          <a:solidFill>
            <a:srgbClr val="F7E6BC"/>
          </a:solidFill>
          <a:ln/>
        </p:spPr>
      </p:sp>
      <p:sp>
        <p:nvSpPr>
          <p:cNvPr id="7" name="anim-g1-441"/>
          <p:cNvSpPr/>
          <p:nvPr/>
        </p:nvSpPr>
        <p:spPr>
          <a:xfrm>
            <a:off x="10362895"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8" name="anim-g1-442"/>
          <p:cNvSpPr/>
          <p:nvPr/>
        </p:nvSpPr>
        <p:spPr>
          <a:xfrm>
            <a:off x="9212351" y="3246120"/>
            <a:ext cx="1882064"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مصدر طاقة</a:t>
            </a:r>
            <a:endParaRPr lang="ar-SA" sz="2300" dirty="0"/>
          </a:p>
        </p:txBody>
      </p:sp>
      <p:sp>
        <p:nvSpPr>
          <p:cNvPr id="9" name="anim-g1-443"/>
          <p:cNvSpPr/>
          <p:nvPr/>
        </p:nvSpPr>
        <p:spPr>
          <a:xfrm>
            <a:off x="9212351" y="3794760"/>
            <a:ext cx="1882064"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بطارية أو منفذ في الأردوينو</a:t>
            </a:r>
            <a:endParaRPr lang="ar-SA" sz="2100" dirty="0"/>
          </a:p>
        </p:txBody>
      </p:sp>
      <p:sp>
        <p:nvSpPr>
          <p:cNvPr id="10" name="anim-g2-444"/>
          <p:cNvSpPr/>
          <p:nvPr/>
        </p:nvSpPr>
        <p:spPr>
          <a:xfrm>
            <a:off x="6233008" y="2148840"/>
            <a:ext cx="2430704" cy="3566160"/>
          </a:xfrm>
          <a:prstGeom prst="roundRect">
            <a:avLst>
              <a:gd name="adj" fmla="val 677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445"/>
          <p:cNvSpPr/>
          <p:nvPr/>
        </p:nvSpPr>
        <p:spPr>
          <a:xfrm>
            <a:off x="7657871" y="2404872"/>
            <a:ext cx="731520" cy="731520"/>
          </a:xfrm>
          <a:prstGeom prst="roundRect">
            <a:avLst>
              <a:gd name="adj" fmla="val 25000"/>
            </a:avLst>
          </a:prstGeom>
          <a:solidFill>
            <a:srgbClr val="F7E6BC"/>
          </a:solidFill>
          <a:ln/>
        </p:spPr>
      </p:sp>
      <p:sp>
        <p:nvSpPr>
          <p:cNvPr id="12" name="anim-g2-446"/>
          <p:cNvSpPr/>
          <p:nvPr/>
        </p:nvSpPr>
        <p:spPr>
          <a:xfrm>
            <a:off x="7657871"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13" name="anim-g2-447"/>
          <p:cNvSpPr/>
          <p:nvPr/>
        </p:nvSpPr>
        <p:spPr>
          <a:xfrm>
            <a:off x="6507328" y="3246120"/>
            <a:ext cx="1882064"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الحِمل</a:t>
            </a:r>
            <a:endParaRPr lang="ar-SA" sz="2300" dirty="0"/>
          </a:p>
        </p:txBody>
      </p:sp>
      <p:sp>
        <p:nvSpPr>
          <p:cNvPr id="14" name="anim-g2-448"/>
          <p:cNvSpPr/>
          <p:nvPr/>
        </p:nvSpPr>
        <p:spPr>
          <a:xfrm>
            <a:off x="6507328" y="3794760"/>
            <a:ext cx="1882064"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ما نريد تشغيله، مثل الليد</a:t>
            </a:r>
            <a:endParaRPr lang="ar-SA" sz="2100" dirty="0"/>
          </a:p>
        </p:txBody>
      </p:sp>
      <p:sp>
        <p:nvSpPr>
          <p:cNvPr id="15" name="anim-g3-449"/>
          <p:cNvSpPr/>
          <p:nvPr/>
        </p:nvSpPr>
        <p:spPr>
          <a:xfrm>
            <a:off x="3527984" y="2148840"/>
            <a:ext cx="2430704" cy="3566160"/>
          </a:xfrm>
          <a:prstGeom prst="roundRect">
            <a:avLst>
              <a:gd name="adj" fmla="val 677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450"/>
          <p:cNvSpPr/>
          <p:nvPr/>
        </p:nvSpPr>
        <p:spPr>
          <a:xfrm>
            <a:off x="4952848" y="2404872"/>
            <a:ext cx="731520" cy="731520"/>
          </a:xfrm>
          <a:prstGeom prst="roundRect">
            <a:avLst>
              <a:gd name="adj" fmla="val 25000"/>
            </a:avLst>
          </a:prstGeom>
          <a:solidFill>
            <a:srgbClr val="F7E6BC"/>
          </a:solidFill>
          <a:ln/>
        </p:spPr>
      </p:sp>
      <p:sp>
        <p:nvSpPr>
          <p:cNvPr id="17" name="anim-g3-451"/>
          <p:cNvSpPr/>
          <p:nvPr/>
        </p:nvSpPr>
        <p:spPr>
          <a:xfrm>
            <a:off x="4952848"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18" name="anim-g3-452"/>
          <p:cNvSpPr/>
          <p:nvPr/>
        </p:nvSpPr>
        <p:spPr>
          <a:xfrm>
            <a:off x="3802304" y="3246120"/>
            <a:ext cx="1882064"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مقاومة</a:t>
            </a:r>
            <a:endParaRPr lang="ar-SA" sz="2300" dirty="0"/>
          </a:p>
        </p:txBody>
      </p:sp>
      <p:sp>
        <p:nvSpPr>
          <p:cNvPr id="19" name="anim-g3-453"/>
          <p:cNvSpPr/>
          <p:nvPr/>
        </p:nvSpPr>
        <p:spPr>
          <a:xfrm>
            <a:off x="3802304" y="3794760"/>
            <a:ext cx="1882064"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تحمي الليد من التيار الزائد</a:t>
            </a:r>
            <a:endParaRPr lang="ar-SA" sz="2100" dirty="0"/>
          </a:p>
        </p:txBody>
      </p:sp>
      <p:sp>
        <p:nvSpPr>
          <p:cNvPr id="20" name="anim-g4-454"/>
          <p:cNvSpPr/>
          <p:nvPr/>
        </p:nvSpPr>
        <p:spPr>
          <a:xfrm>
            <a:off x="822960" y="2148840"/>
            <a:ext cx="2430704" cy="3566160"/>
          </a:xfrm>
          <a:prstGeom prst="roundRect">
            <a:avLst>
              <a:gd name="adj" fmla="val 677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21" name="anim-g4-455"/>
          <p:cNvSpPr/>
          <p:nvPr/>
        </p:nvSpPr>
        <p:spPr>
          <a:xfrm>
            <a:off x="2247824" y="2404872"/>
            <a:ext cx="731520" cy="731520"/>
          </a:xfrm>
          <a:prstGeom prst="roundRect">
            <a:avLst>
              <a:gd name="adj" fmla="val 25000"/>
            </a:avLst>
          </a:prstGeom>
          <a:solidFill>
            <a:srgbClr val="F7E6BC"/>
          </a:solidFill>
          <a:ln/>
        </p:spPr>
      </p:sp>
      <p:sp>
        <p:nvSpPr>
          <p:cNvPr id="22" name="anim-g4-456"/>
          <p:cNvSpPr/>
          <p:nvPr/>
        </p:nvSpPr>
        <p:spPr>
          <a:xfrm>
            <a:off x="2247824"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23" name="anim-g4-457"/>
          <p:cNvSpPr/>
          <p:nvPr/>
        </p:nvSpPr>
        <p:spPr>
          <a:xfrm>
            <a:off x="1097280" y="3246120"/>
            <a:ext cx="1882064"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أسلاك</a:t>
            </a:r>
            <a:endParaRPr lang="ar-SA" sz="2300" dirty="0"/>
          </a:p>
        </p:txBody>
      </p:sp>
      <p:sp>
        <p:nvSpPr>
          <p:cNvPr id="24" name="anim-g4-458"/>
          <p:cNvSpPr/>
          <p:nvPr/>
        </p:nvSpPr>
        <p:spPr>
          <a:xfrm>
            <a:off x="1097280" y="3794760"/>
            <a:ext cx="1882064"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تكمل المسار من الموجب إلى السالب</a:t>
            </a:r>
            <a:endParaRPr lang="ar-SA" sz="2100" dirty="0"/>
          </a:p>
        </p:txBody>
      </p:sp>
      <p:sp>
        <p:nvSpPr>
          <p:cNvPr id="25" name="Text 2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الأردوينو للمعلمين</a:t>
            </a:r>
            <a:endParaRPr lang="ar-SA" sz="1200" dirty="0"/>
          </a:p>
        </p:txBody>
      </p:sp>
      <p:sp>
        <p:nvSpPr>
          <p:cNvPr id="26" name="Text 2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الدوائر وأول دائرة  ·  ٦٠</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400"/>
                                        <p:tgtEl>
                                          <p:spTgt spid="2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400"/>
                                        <p:tgtEl>
                                          <p:spTgt spid="2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400"/>
                                        <p:tgtEl>
                                          <p:spTgt spid="2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pic>
        <p:nvPicPr>
          <p:cNvPr id="2" name="Image 0" descr="/Users/mac/Desktop/أردوينو/المشاريع والكتب/younes-training/arduino/.pptx-cache/s61-0.jpg">    </p:cNvPr>
          <p:cNvPicPr>
            <a:picLocks noChangeAspect="1"/>
          </p:cNvPicPr>
          <p:nvPr/>
        </p:nvPicPr>
        <p:blipFill>
          <a:blip r:embed="rId1"/>
          <a:stretch>
            <a:fillRect/>
          </a:stretch>
        </p:blipFill>
        <p:spPr>
          <a:xfrm>
            <a:off x="0" y="0"/>
            <a:ext cx="12191695" cy="6858000"/>
          </a:xfrm>
          <a:prstGeom prst="rect">
            <a:avLst/>
          </a:prstGeom>
        </p:spPr>
      </p:pic>
      <p:pic>
        <p:nvPicPr>
          <p:cNvPr id="3" name="anim-g1-459" descr="/Users/mac/Desktop/أردوينو/المشاريع والكتب/younes-training/arduino/.pptx-cache/s61-1.jpg">    </p:cNvPr>
          <p:cNvPicPr>
            <a:picLocks noChangeAspect="1"/>
          </p:cNvPicPr>
          <p:nvPr/>
        </p:nvPicPr>
        <p:blipFill>
          <a:blip r:embed="rId2"/>
          <a:stretch>
            <a:fillRect/>
          </a:stretch>
        </p:blipFill>
        <p:spPr>
          <a:xfrm>
            <a:off x="0" y="0"/>
            <a:ext cx="12191695" cy="6858000"/>
          </a:xfrm>
          <a:prstGeom prst="rect">
            <a:avLst/>
          </a:prstGeom>
        </p:spPr>
      </p:pic>
      <p:pic>
        <p:nvPicPr>
          <p:cNvPr id="4" name="anim-g2-460" descr="/Users/mac/Desktop/أردوينو/المشاريع والكتب/younes-training/arduino/.pptx-cache/s61-2.jpg">    </p:cNvPr>
          <p:cNvPicPr>
            <a:picLocks noChangeAspect="1"/>
          </p:cNvPicPr>
          <p:nvPr/>
        </p:nvPicPr>
        <p:blipFill>
          <a:blip r:embed="rId3"/>
          <a:stretch>
            <a:fillRect/>
          </a:stretch>
        </p:blipFill>
        <p:spPr>
          <a:xfrm>
            <a:off x="0" y="0"/>
            <a:ext cx="12191695" cy="6858000"/>
          </a:xfrm>
          <a:prstGeom prst="rect">
            <a:avLst/>
          </a:prstGeom>
        </p:spPr>
      </p:pic>
      <p:pic>
        <p:nvPicPr>
          <p:cNvPr id="5" name="anim-g3-461" descr="/Users/mac/Desktop/أردوينو/المشاريع والكتب/younes-training/arduino/.pptx-cache/s61-3.jpg">    </p:cNvPr>
          <p:cNvPicPr>
            <a:picLocks noChangeAspect="1"/>
          </p:cNvPicPr>
          <p:nvPr/>
        </p:nvPicPr>
        <p:blipFill>
          <a:blip r:embed="rId4"/>
          <a:stretch>
            <a:fillRect/>
          </a:stretch>
        </p:blipFill>
        <p:spPr>
          <a:xfrm>
            <a:off x="0" y="0"/>
            <a:ext cx="12191695" cy="6858000"/>
          </a:xfrm>
          <a:prstGeom prst="rect">
            <a:avLst/>
          </a:prstGeom>
        </p:spPr>
      </p:pic>
      <p:pic>
        <p:nvPicPr>
          <p:cNvPr id="6" name="anim-g4-462" descr="/Users/mac/Desktop/أردوينو/المشاريع والكتب/younes-training/arduino/.pptx-cache/s61-4.jpg">    </p:cNvPr>
          <p:cNvPicPr>
            <a:picLocks noChangeAspect="1"/>
          </p:cNvPicPr>
          <p:nvPr/>
        </p:nvPicPr>
        <p:blipFill>
          <a:blip r:embed="rId5"/>
          <a:stretch>
            <a:fillRect/>
          </a:stretch>
        </p:blipFill>
        <p:spPr>
          <a:xfrm>
            <a:off x="0" y="0"/>
            <a:ext cx="12191695" cy="6858000"/>
          </a:xfrm>
          <a:prstGeom prst="rect">
            <a:avLst/>
          </a:prstGeom>
        </p:spPr>
      </p:pic>
      <p:pic>
        <p:nvPicPr>
          <p:cNvPr id="7" name="anim-g5-463" descr="/Users/mac/Desktop/أردوينو/المشاريع والكتب/younes-training/arduino/.pptx-cache/s61-5.jpg">    </p:cNvPr>
          <p:cNvPicPr>
            <a:picLocks noChangeAspect="1"/>
          </p:cNvPicPr>
          <p:nvPr/>
        </p:nvPicPr>
        <p:blipFill>
          <a:blip r:embed="rId6"/>
          <a:stretch>
            <a:fillRect/>
          </a:stretch>
        </p:blipFill>
        <p:spPr>
          <a:xfrm>
            <a:off x="0" y="0"/>
            <a:ext cx="12191695" cy="6858000"/>
          </a:xfrm>
          <a:prstGeom prst="rect">
            <a:avLst/>
          </a:prstGeom>
        </p:spPr>
      </p:pic>
      <p:pic>
        <p:nvPicPr>
          <p:cNvPr id="8" name="anim-g6-464" descr="/Users/mac/Desktop/أردوينو/المشاريع والكتب/younes-training/arduino/.pptx-cache/s61-6.jpg">    </p:cNvPr>
          <p:cNvPicPr>
            <a:picLocks noChangeAspect="1"/>
          </p:cNvPicPr>
          <p:nvPr/>
        </p:nvPicPr>
        <p:blipFill>
          <a:blip r:embed="rId7"/>
          <a:stretch>
            <a:fillRect/>
          </a:stretch>
        </p:blipFill>
        <p:spPr>
          <a:xfrm>
            <a:off x="0" y="0"/>
            <a:ext cx="12191695" cy="6858000"/>
          </a:xfrm>
          <a:prstGeom prst="rect">
            <a:avLst/>
          </a:prstGeom>
        </p:spPr>
      </p:pic>
      <p:pic>
        <p:nvPicPr>
          <p:cNvPr id="9" name="anim-g7-465" descr="/Users/mac/Desktop/أردوينو/المشاريع والكتب/younes-training/arduino/.pptx-cache/s61-7.jpg">    </p:cNvPr>
          <p:cNvPicPr>
            <a:picLocks noChangeAspect="1"/>
          </p:cNvPicPr>
          <p:nvPr/>
        </p:nvPicPr>
        <p:blipFill>
          <a:blip r:embed="rId8"/>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4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name="Slide 6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705960" y="1188720"/>
            <a:ext cx="2779776"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705960" y="1188720"/>
            <a:ext cx="277977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القاعدة الأولى</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الدائرة مسار مغلق…</a:t>
            </a:r>
            <a:endParaRPr lang="ar-SA" sz="4400" dirty="0"/>
          </a:p>
          <a:p>
            <a:pPr algn="ctr" indent="0" marL="0">
              <a:lnSpc>
                <a:spcPct val="115000"/>
              </a:lnSpc>
              <a:buNone/>
            </a:pPr>
            <a:r>
              <a:rPr lang="ar-SA" altLang="en-US" sz="4400" dirty="0">
                <a:solidFill>
                  <a:srgbClr val="F0CC7A"/>
                </a:solidFill>
                <a:latin typeface="Cairo Black" pitchFamily="34" charset="0"/>
                <a:ea typeface="Cairo Black" pitchFamily="34" charset="-122"/>
                <a:cs typeface="Cairo Black" pitchFamily="34" charset="-120"/>
              </a:rPr>
              <a:t> إذا انقطع في أي نقطة، توقف كل شيء</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الأردوينو للمعلمين</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الدوائر وأول دائرة  ·  ٦٢</a:t>
            </a:r>
            <a:endParaRPr lang="ar-SA" sz="12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pic>
        <p:nvPicPr>
          <p:cNvPr id="2" name="Image 0" descr="/Users/mac/Desktop/أردوينو/المشاريع والكتب/younes-training/arduino/.pptx-cache/s63-0.jpg">    </p:cNvPr>
          <p:cNvPicPr>
            <a:picLocks noChangeAspect="1"/>
          </p:cNvPicPr>
          <p:nvPr/>
        </p:nvPicPr>
        <p:blipFill>
          <a:blip r:embed="rId1"/>
          <a:stretch>
            <a:fillRect/>
          </a:stretch>
        </p:blipFill>
        <p:spPr>
          <a:xfrm>
            <a:off x="0" y="0"/>
            <a:ext cx="12191695" cy="6858000"/>
          </a:xfrm>
          <a:prstGeom prst="rect">
            <a:avLst/>
          </a:prstGeom>
        </p:spPr>
      </p:pic>
      <p:pic>
        <p:nvPicPr>
          <p:cNvPr id="3" name="anim-g1-466" descr="/Users/mac/Desktop/أردوينو/المشاريع والكتب/younes-training/arduino/.pptx-cache/s63-1.jpg">    </p:cNvPr>
          <p:cNvPicPr>
            <a:picLocks noChangeAspect="1"/>
          </p:cNvPicPr>
          <p:nvPr/>
        </p:nvPicPr>
        <p:blipFill>
          <a:blip r:embed="rId2"/>
          <a:stretch>
            <a:fillRect/>
          </a:stretch>
        </p:blipFill>
        <p:spPr>
          <a:xfrm>
            <a:off x="0" y="0"/>
            <a:ext cx="12191695" cy="6858000"/>
          </a:xfrm>
          <a:prstGeom prst="rect">
            <a:avLst/>
          </a:prstGeom>
        </p:spPr>
      </p:pic>
      <p:pic>
        <p:nvPicPr>
          <p:cNvPr id="4" name="anim-g2-467" descr="/Users/mac/Desktop/أردوينو/المشاريع والكتب/younes-training/arduino/.pptx-cache/s63-2.jpg">    </p:cNvPr>
          <p:cNvPicPr>
            <a:picLocks noChangeAspect="1"/>
          </p:cNvPicPr>
          <p:nvPr/>
        </p:nvPicPr>
        <p:blipFill>
          <a:blip r:embed="rId3"/>
          <a:stretch>
            <a:fillRect/>
          </a:stretch>
        </p:blipFill>
        <p:spPr>
          <a:xfrm>
            <a:off x="0" y="0"/>
            <a:ext cx="12191695" cy="6858000"/>
          </a:xfrm>
          <a:prstGeom prst="rect">
            <a:avLst/>
          </a:prstGeom>
        </p:spPr>
      </p:pic>
      <p:pic>
        <p:nvPicPr>
          <p:cNvPr id="5" name="anim-g3-468" descr="/Users/mac/Desktop/أردوينو/المشاريع والكتب/younes-training/arduino/.pptx-cache/s63-3.jpg">    </p:cNvPr>
          <p:cNvPicPr>
            <a:picLocks noChangeAspect="1"/>
          </p:cNvPicPr>
          <p:nvPr/>
        </p:nvPicPr>
        <p:blipFill>
          <a:blip r:embed="rId4"/>
          <a:stretch>
            <a:fillRect/>
          </a:stretch>
        </p:blipFill>
        <p:spPr>
          <a:xfrm>
            <a:off x="0" y="0"/>
            <a:ext cx="12191695" cy="6858000"/>
          </a:xfrm>
          <a:prstGeom prst="rect">
            <a:avLst/>
          </a:prstGeom>
        </p:spPr>
      </p:pic>
      <p:pic>
        <p:nvPicPr>
          <p:cNvPr id="6" name="anim-g4-469" descr="/Users/mac/Desktop/أردوينو/المشاريع والكتب/younes-training/arduino/.pptx-cache/s63-4.jpg">    </p:cNvPr>
          <p:cNvPicPr>
            <a:picLocks noChangeAspect="1"/>
          </p:cNvPicPr>
          <p:nvPr/>
        </p:nvPicPr>
        <p:blipFill>
          <a:blip r:embed="rId5"/>
          <a:stretch>
            <a:fillRect/>
          </a:stretch>
        </p:blipFill>
        <p:spPr>
          <a:xfrm>
            <a:off x="0" y="0"/>
            <a:ext cx="12191695" cy="6858000"/>
          </a:xfrm>
          <a:prstGeom prst="rect">
            <a:avLst/>
          </a:prstGeom>
        </p:spPr>
      </p:pic>
      <p:pic>
        <p:nvPicPr>
          <p:cNvPr id="7" name="anim-g5-470" descr="/Users/mac/Desktop/أردوينو/المشاريع والكتب/younes-training/arduino/.pptx-cache/s63-5.jpg">    </p:cNvPr>
          <p:cNvPicPr>
            <a:picLocks noChangeAspect="1"/>
          </p:cNvPicPr>
          <p:nvPr/>
        </p:nvPicPr>
        <p:blipFill>
          <a:blip r:embed="rId6"/>
          <a:stretch>
            <a:fillRect/>
          </a:stretch>
        </p:blipFill>
        <p:spPr>
          <a:xfrm>
            <a:off x="0" y="0"/>
            <a:ext cx="12191695" cy="6858000"/>
          </a:xfrm>
          <a:prstGeom prst="rect">
            <a:avLst/>
          </a:prstGeom>
        </p:spPr>
      </p:pic>
      <p:pic>
        <p:nvPicPr>
          <p:cNvPr id="8" name="anim-g6-471" descr="/Users/mac/Desktop/أردوينو/المشاريع والكتب/younes-training/arduino/.pptx-cache/s63-6.jpg">    </p:cNvPr>
          <p:cNvPicPr>
            <a:picLocks noChangeAspect="1"/>
          </p:cNvPicPr>
          <p:nvPr/>
        </p:nvPicPr>
        <p:blipFill>
          <a:blip r:embed="rId7"/>
          <a:stretch>
            <a:fillRect/>
          </a:stretch>
        </p:blipFill>
        <p:spPr>
          <a:xfrm>
            <a:off x="0" y="0"/>
            <a:ext cx="12191695" cy="6858000"/>
          </a:xfrm>
          <a:prstGeom prst="rect">
            <a:avLst/>
          </a:prstGeom>
        </p:spPr>
      </p:pic>
      <p:pic>
        <p:nvPicPr>
          <p:cNvPr id="9" name="anim-g7-472" descr="/Users/mac/Desktop/أردوينو/المشاريع والكتب/younes-training/arduino/.pptx-cache/s63-7.jpg">    </p:cNvPr>
          <p:cNvPicPr>
            <a:picLocks noChangeAspect="1"/>
          </p:cNvPicPr>
          <p:nvPr/>
        </p:nvPicPr>
        <p:blipFill>
          <a:blip r:embed="rId8"/>
          <a:stretch>
            <a:fillRect/>
          </a:stretch>
        </p:blipFill>
        <p:spPr>
          <a:xfrm>
            <a:off x="0" y="0"/>
            <a:ext cx="12191695" cy="6858000"/>
          </a:xfrm>
          <a:prstGeom prst="rect">
            <a:avLst/>
          </a:prstGeom>
        </p:spPr>
      </p:pic>
      <p:pic>
        <p:nvPicPr>
          <p:cNvPr id="10" name="anim-g8-473" descr="/Users/mac/Desktop/أردوينو/المشاريع والكتب/younes-training/arduino/.pptx-cache/s63-8.jpg">    </p:cNvPr>
          <p:cNvPicPr>
            <a:picLocks noChangeAspect="1"/>
          </p:cNvPicPr>
          <p:nvPr/>
        </p:nvPicPr>
        <p:blipFill>
          <a:blip r:embed="rId9"/>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4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4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pic>
        <p:nvPicPr>
          <p:cNvPr id="2" name="Image 0" descr="/Users/mac/Desktop/أردوينو/المشاريع والكتب/younes-training/arduino/.pptx-cache/s64-0.jpg">    </p:cNvPr>
          <p:cNvPicPr>
            <a:picLocks noChangeAspect="1"/>
          </p:cNvPicPr>
          <p:nvPr/>
        </p:nvPicPr>
        <p:blipFill>
          <a:blip r:embed="rId1"/>
          <a:stretch>
            <a:fillRect/>
          </a:stretch>
        </p:blipFill>
        <p:spPr>
          <a:xfrm>
            <a:off x="0" y="0"/>
            <a:ext cx="12191695" cy="6858000"/>
          </a:xfrm>
          <a:prstGeom prst="rect">
            <a:avLst/>
          </a:prstGeom>
        </p:spPr>
      </p:pic>
      <p:pic>
        <p:nvPicPr>
          <p:cNvPr id="3" name="anim-g1-474" descr="/Users/mac/Desktop/أردوينو/المشاريع والكتب/younes-training/arduino/.pptx-cache/s64-1.jpg">    </p:cNvPr>
          <p:cNvPicPr>
            <a:picLocks noChangeAspect="1"/>
          </p:cNvPicPr>
          <p:nvPr/>
        </p:nvPicPr>
        <p:blipFill>
          <a:blip r:embed="rId2"/>
          <a:stretch>
            <a:fillRect/>
          </a:stretch>
        </p:blipFill>
        <p:spPr>
          <a:xfrm>
            <a:off x="0" y="0"/>
            <a:ext cx="12191695" cy="6858000"/>
          </a:xfrm>
          <a:prstGeom prst="rect">
            <a:avLst/>
          </a:prstGeom>
        </p:spPr>
      </p:pic>
      <p:pic>
        <p:nvPicPr>
          <p:cNvPr id="4" name="anim-g2-475" descr="/Users/mac/Desktop/أردوينو/المشاريع والكتب/younes-training/arduino/.pptx-cache/s64-2.jpg">    </p:cNvPr>
          <p:cNvPicPr>
            <a:picLocks noChangeAspect="1"/>
          </p:cNvPicPr>
          <p:nvPr/>
        </p:nvPicPr>
        <p:blipFill>
          <a:blip r:embed="rId3"/>
          <a:stretch>
            <a:fillRect/>
          </a:stretch>
        </p:blipFill>
        <p:spPr>
          <a:xfrm>
            <a:off x="0" y="0"/>
            <a:ext cx="12191695" cy="6858000"/>
          </a:xfrm>
          <a:prstGeom prst="rect">
            <a:avLst/>
          </a:prstGeom>
        </p:spPr>
      </p:pic>
      <p:pic>
        <p:nvPicPr>
          <p:cNvPr id="5" name="anim-g3-476" descr="/Users/mac/Desktop/أردوينو/المشاريع والكتب/younes-training/arduino/.pptx-cache/s64-3.jpg">    </p:cNvPr>
          <p:cNvPicPr>
            <a:picLocks noChangeAspect="1"/>
          </p:cNvPicPr>
          <p:nvPr/>
        </p:nvPicPr>
        <p:blipFill>
          <a:blip r:embed="rId4"/>
          <a:stretch>
            <a:fillRect/>
          </a:stretch>
        </p:blipFill>
        <p:spPr>
          <a:xfrm>
            <a:off x="0" y="0"/>
            <a:ext cx="12191695" cy="6858000"/>
          </a:xfrm>
          <a:prstGeom prst="rect">
            <a:avLst/>
          </a:prstGeom>
        </p:spPr>
      </p:pic>
      <p:pic>
        <p:nvPicPr>
          <p:cNvPr id="6" name="anim-g4-477" descr="/Users/mac/Desktop/أردوينو/المشاريع والكتب/younes-training/arduino/.pptx-cache/s64-4.jpg">    </p:cNvPr>
          <p:cNvPicPr>
            <a:picLocks noChangeAspect="1"/>
          </p:cNvPicPr>
          <p:nvPr/>
        </p:nvPicPr>
        <p:blipFill>
          <a:blip r:embed="rId5"/>
          <a:stretch>
            <a:fillRect/>
          </a:stretch>
        </p:blipFill>
        <p:spPr>
          <a:xfrm>
            <a:off x="0" y="0"/>
            <a:ext cx="12191695" cy="6858000"/>
          </a:xfrm>
          <a:prstGeom prst="rect">
            <a:avLst/>
          </a:prstGeom>
        </p:spPr>
      </p:pic>
      <p:pic>
        <p:nvPicPr>
          <p:cNvPr id="7" name="anim-g5-478" descr="/Users/mac/Desktop/أردوينو/المشاريع والكتب/younes-training/arduino/.pptx-cache/s64-5.jpg">    </p:cNvPr>
          <p:cNvPicPr>
            <a:picLocks noChangeAspect="1"/>
          </p:cNvPicPr>
          <p:nvPr/>
        </p:nvPicPr>
        <p:blipFill>
          <a:blip r:embed="rId6"/>
          <a:stretch>
            <a:fillRect/>
          </a:stretch>
        </p:blipFill>
        <p:spPr>
          <a:xfrm>
            <a:off x="0" y="0"/>
            <a:ext cx="12191695" cy="6858000"/>
          </a:xfrm>
          <a:prstGeom prst="rect">
            <a:avLst/>
          </a:prstGeom>
        </p:spPr>
      </p:pic>
      <p:pic>
        <p:nvPicPr>
          <p:cNvPr id="8" name="anim-g6-479" descr="/Users/mac/Desktop/أردوينو/المشاريع والكتب/younes-training/arduino/.pptx-cache/s64-6.jpg">    </p:cNvPr>
          <p:cNvPicPr>
            <a:picLocks noChangeAspect="1"/>
          </p:cNvPicPr>
          <p:nvPr/>
        </p:nvPicPr>
        <p:blipFill>
          <a:blip r:embed="rId7"/>
          <a:stretch>
            <a:fillRect/>
          </a:stretch>
        </p:blipFill>
        <p:spPr>
          <a:xfrm>
            <a:off x="0" y="0"/>
            <a:ext cx="12191695" cy="6858000"/>
          </a:xfrm>
          <a:prstGeom prst="rect">
            <a:avLst/>
          </a:prstGeom>
        </p:spPr>
      </p:pic>
      <p:pic>
        <p:nvPicPr>
          <p:cNvPr id="9" name="anim-g7-480" descr="/Users/mac/Desktop/أردوينو/المشاريع والكتب/younes-training/arduino/.pptx-cache/s64-7.jpg">    </p:cNvPr>
          <p:cNvPicPr>
            <a:picLocks noChangeAspect="1"/>
          </p:cNvPicPr>
          <p:nvPr/>
        </p:nvPicPr>
        <p:blipFill>
          <a:blip r:embed="rId8"/>
          <a:stretch>
            <a:fillRect/>
          </a:stretch>
        </p:blipFill>
        <p:spPr>
          <a:xfrm>
            <a:off x="0" y="0"/>
            <a:ext cx="12191695" cy="6858000"/>
          </a:xfrm>
          <a:prstGeom prst="rect">
            <a:avLst/>
          </a:prstGeom>
        </p:spPr>
      </p:pic>
      <p:pic>
        <p:nvPicPr>
          <p:cNvPr id="10" name="anim-g8-481" descr="/Users/mac/Desktop/أردوينو/المشاريع والكتب/younes-training/arduino/.pptx-cache/s64-8.jpg">    </p:cNvPr>
          <p:cNvPicPr>
            <a:picLocks noChangeAspect="1"/>
          </p:cNvPicPr>
          <p:nvPr/>
        </p:nvPicPr>
        <p:blipFill>
          <a:blip r:embed="rId9"/>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4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4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pic>
        <p:nvPicPr>
          <p:cNvPr id="2" name="Image 0" descr="/Users/mac/Desktop/أردوينو/المشاريع والكتب/younes-training/arduino/.pptx-cache/s6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9466783" y="457200"/>
            <a:ext cx="1901952" cy="457200"/>
          </a:xfrm>
          <a:prstGeom prst="roundRect">
            <a:avLst>
              <a:gd name="adj" fmla="val 50000"/>
            </a:avLst>
          </a:prstGeom>
          <a:solidFill>
            <a:srgbClr val="F6EBCF"/>
          </a:solidFill>
          <a:ln/>
        </p:spPr>
      </p:sp>
      <p:sp>
        <p:nvSpPr>
          <p:cNvPr id="3" name="Text 1"/>
          <p:cNvSpPr/>
          <p:nvPr/>
        </p:nvSpPr>
        <p:spPr>
          <a:xfrm>
            <a:off x="9466783" y="457200"/>
            <a:ext cx="1901952"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المقارنة</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التوالي والتوازي في جدول واحد</a:t>
            </a:r>
            <a:endParaRPr lang="ar-SA" sz="3800" dirty="0"/>
          </a:p>
        </p:txBody>
      </p:sp>
      <p:sp>
        <p:nvSpPr>
          <p:cNvPr id="5" name="Shape 3"/>
          <p:cNvSpPr/>
          <p:nvPr/>
        </p:nvSpPr>
        <p:spPr>
          <a:xfrm>
            <a:off x="8552466" y="1874520"/>
            <a:ext cx="2816269" cy="548640"/>
          </a:xfrm>
          <a:prstGeom prst="roundRect">
            <a:avLst>
              <a:gd name="adj" fmla="val 20000"/>
            </a:avLst>
          </a:prstGeom>
          <a:solidFill>
            <a:srgbClr val="101B45"/>
          </a:solidFill>
          <a:ln/>
        </p:spPr>
      </p:sp>
      <p:sp>
        <p:nvSpPr>
          <p:cNvPr id="6" name="Text 4"/>
          <p:cNvSpPr/>
          <p:nvPr/>
        </p:nvSpPr>
        <p:spPr>
          <a:xfrm>
            <a:off x="8552466" y="1874520"/>
            <a:ext cx="2816269"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الخاصية</a:t>
            </a:r>
            <a:endParaRPr lang="ar-SA" sz="1900" dirty="0"/>
          </a:p>
        </p:txBody>
      </p:sp>
      <p:sp>
        <p:nvSpPr>
          <p:cNvPr id="7" name="Shape 5"/>
          <p:cNvSpPr/>
          <p:nvPr/>
        </p:nvSpPr>
        <p:spPr>
          <a:xfrm>
            <a:off x="4687713" y="1874520"/>
            <a:ext cx="3755025" cy="548640"/>
          </a:xfrm>
          <a:prstGeom prst="roundRect">
            <a:avLst>
              <a:gd name="adj" fmla="val 20000"/>
            </a:avLst>
          </a:prstGeom>
          <a:solidFill>
            <a:srgbClr val="101B45"/>
          </a:solidFill>
          <a:ln/>
        </p:spPr>
      </p:sp>
      <p:sp>
        <p:nvSpPr>
          <p:cNvPr id="8" name="Text 6"/>
          <p:cNvSpPr/>
          <p:nvPr/>
        </p:nvSpPr>
        <p:spPr>
          <a:xfrm>
            <a:off x="4687713" y="1874520"/>
            <a:ext cx="3755025"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التوالي</a:t>
            </a:r>
            <a:endParaRPr lang="ar-SA" sz="1900" dirty="0"/>
          </a:p>
        </p:txBody>
      </p:sp>
      <p:sp>
        <p:nvSpPr>
          <p:cNvPr id="9" name="Shape 7"/>
          <p:cNvSpPr/>
          <p:nvPr/>
        </p:nvSpPr>
        <p:spPr>
          <a:xfrm>
            <a:off x="822960" y="1874520"/>
            <a:ext cx="3755025" cy="548640"/>
          </a:xfrm>
          <a:prstGeom prst="roundRect">
            <a:avLst>
              <a:gd name="adj" fmla="val 20000"/>
            </a:avLst>
          </a:prstGeom>
          <a:solidFill>
            <a:srgbClr val="101B45"/>
          </a:solidFill>
          <a:ln/>
        </p:spPr>
      </p:sp>
      <p:sp>
        <p:nvSpPr>
          <p:cNvPr id="10" name="Text 8"/>
          <p:cNvSpPr/>
          <p:nvPr/>
        </p:nvSpPr>
        <p:spPr>
          <a:xfrm>
            <a:off x="822960" y="1874520"/>
            <a:ext cx="3755025"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التوازي</a:t>
            </a:r>
            <a:endParaRPr lang="ar-SA" sz="1900" dirty="0"/>
          </a:p>
        </p:txBody>
      </p:sp>
      <p:sp>
        <p:nvSpPr>
          <p:cNvPr id="11" name="anim-g1-482"/>
          <p:cNvSpPr/>
          <p:nvPr/>
        </p:nvSpPr>
        <p:spPr>
          <a:xfrm>
            <a:off x="8552466" y="2514600"/>
            <a:ext cx="2816269" cy="1100328"/>
          </a:xfrm>
          <a:prstGeom prst="roundRect">
            <a:avLst>
              <a:gd name="adj" fmla="val 9972"/>
            </a:avLst>
          </a:prstGeom>
          <a:solidFill>
            <a:srgbClr val="FBF3DF"/>
          </a:solidFill>
          <a:ln w="12700">
            <a:solidFill>
              <a:srgbClr val="EFDDAF"/>
            </a:solidFill>
            <a:prstDash val="solid"/>
          </a:ln>
        </p:spPr>
      </p:sp>
      <p:sp>
        <p:nvSpPr>
          <p:cNvPr id="12" name="anim-g1-483"/>
          <p:cNvSpPr/>
          <p:nvPr/>
        </p:nvSpPr>
        <p:spPr>
          <a:xfrm>
            <a:off x="8689626" y="2514600"/>
            <a:ext cx="2541949"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المسار</a:t>
            </a:r>
            <a:endParaRPr lang="ar-SA" sz="2100" dirty="0"/>
          </a:p>
        </p:txBody>
      </p:sp>
      <p:sp>
        <p:nvSpPr>
          <p:cNvPr id="13" name="anim-g1-484"/>
          <p:cNvSpPr/>
          <p:nvPr/>
        </p:nvSpPr>
        <p:spPr>
          <a:xfrm>
            <a:off x="4687713" y="2514600"/>
            <a:ext cx="3755025" cy="1100328"/>
          </a:xfrm>
          <a:prstGeom prst="roundRect">
            <a:avLst>
              <a:gd name="adj" fmla="val 9972"/>
            </a:avLst>
          </a:prstGeom>
          <a:solidFill>
            <a:srgbClr val="FFFFFF"/>
          </a:solidFill>
          <a:ln w="12700">
            <a:solidFill>
              <a:srgbClr val="E4DCC8"/>
            </a:solidFill>
            <a:prstDash val="solid"/>
          </a:ln>
        </p:spPr>
      </p:sp>
      <p:sp>
        <p:nvSpPr>
          <p:cNvPr id="14" name="anim-g1-485"/>
          <p:cNvSpPr/>
          <p:nvPr/>
        </p:nvSpPr>
        <p:spPr>
          <a:xfrm>
            <a:off x="4824873" y="2514600"/>
            <a:ext cx="3480705"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مسار واحد لكل المكونات</a:t>
            </a:r>
            <a:endParaRPr lang="ar-SA" sz="2100" dirty="0"/>
          </a:p>
        </p:txBody>
      </p:sp>
      <p:sp>
        <p:nvSpPr>
          <p:cNvPr id="15" name="anim-g1-486"/>
          <p:cNvSpPr/>
          <p:nvPr/>
        </p:nvSpPr>
        <p:spPr>
          <a:xfrm>
            <a:off x="822960" y="2514600"/>
            <a:ext cx="3755025" cy="1100328"/>
          </a:xfrm>
          <a:prstGeom prst="roundRect">
            <a:avLst>
              <a:gd name="adj" fmla="val 9972"/>
            </a:avLst>
          </a:prstGeom>
          <a:solidFill>
            <a:srgbClr val="E6F4EC"/>
          </a:solidFill>
          <a:ln w="12700">
            <a:solidFill>
              <a:srgbClr val="CDE9D9"/>
            </a:solidFill>
            <a:prstDash val="solid"/>
          </a:ln>
        </p:spPr>
      </p:sp>
      <p:sp>
        <p:nvSpPr>
          <p:cNvPr id="16" name="anim-g1-487"/>
          <p:cNvSpPr/>
          <p:nvPr/>
        </p:nvSpPr>
        <p:spPr>
          <a:xfrm>
            <a:off x="960120" y="2514600"/>
            <a:ext cx="3480705"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مسار مستقل لكل مكوّن</a:t>
            </a:r>
            <a:endParaRPr lang="ar-SA" sz="2100" dirty="0"/>
          </a:p>
        </p:txBody>
      </p:sp>
      <p:sp>
        <p:nvSpPr>
          <p:cNvPr id="17" name="anim-g2-488"/>
          <p:cNvSpPr/>
          <p:nvPr/>
        </p:nvSpPr>
        <p:spPr>
          <a:xfrm>
            <a:off x="8552466" y="3724656"/>
            <a:ext cx="2816269" cy="1100328"/>
          </a:xfrm>
          <a:prstGeom prst="roundRect">
            <a:avLst>
              <a:gd name="adj" fmla="val 9972"/>
            </a:avLst>
          </a:prstGeom>
          <a:solidFill>
            <a:srgbClr val="FBF3DF"/>
          </a:solidFill>
          <a:ln w="12700">
            <a:solidFill>
              <a:srgbClr val="EFDDAF"/>
            </a:solidFill>
            <a:prstDash val="solid"/>
          </a:ln>
        </p:spPr>
      </p:sp>
      <p:sp>
        <p:nvSpPr>
          <p:cNvPr id="18" name="anim-g2-489"/>
          <p:cNvSpPr/>
          <p:nvPr/>
        </p:nvSpPr>
        <p:spPr>
          <a:xfrm>
            <a:off x="8689626" y="3724656"/>
            <a:ext cx="2541949"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إذا تعطّل مكوّن</a:t>
            </a:r>
            <a:endParaRPr lang="ar-SA" sz="2100" dirty="0"/>
          </a:p>
        </p:txBody>
      </p:sp>
      <p:sp>
        <p:nvSpPr>
          <p:cNvPr id="19" name="anim-g2-490"/>
          <p:cNvSpPr/>
          <p:nvPr/>
        </p:nvSpPr>
        <p:spPr>
          <a:xfrm>
            <a:off x="4687713" y="3724656"/>
            <a:ext cx="3755025" cy="1100328"/>
          </a:xfrm>
          <a:prstGeom prst="roundRect">
            <a:avLst>
              <a:gd name="adj" fmla="val 9972"/>
            </a:avLst>
          </a:prstGeom>
          <a:solidFill>
            <a:srgbClr val="FFFFFF"/>
          </a:solidFill>
          <a:ln w="12700">
            <a:solidFill>
              <a:srgbClr val="E4DCC8"/>
            </a:solidFill>
            <a:prstDash val="solid"/>
          </a:ln>
        </p:spPr>
      </p:sp>
      <p:sp>
        <p:nvSpPr>
          <p:cNvPr id="20" name="anim-g2-491"/>
          <p:cNvSpPr/>
          <p:nvPr/>
        </p:nvSpPr>
        <p:spPr>
          <a:xfrm>
            <a:off x="4824873" y="3724656"/>
            <a:ext cx="3480705"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تتوقف الدائرة كلها</a:t>
            </a:r>
            <a:endParaRPr lang="ar-SA" sz="2100" dirty="0"/>
          </a:p>
        </p:txBody>
      </p:sp>
      <p:sp>
        <p:nvSpPr>
          <p:cNvPr id="21" name="anim-g2-492"/>
          <p:cNvSpPr/>
          <p:nvPr/>
        </p:nvSpPr>
        <p:spPr>
          <a:xfrm>
            <a:off x="822960" y="3724656"/>
            <a:ext cx="3755025" cy="1100328"/>
          </a:xfrm>
          <a:prstGeom prst="roundRect">
            <a:avLst>
              <a:gd name="adj" fmla="val 9972"/>
            </a:avLst>
          </a:prstGeom>
          <a:solidFill>
            <a:srgbClr val="E6F4EC"/>
          </a:solidFill>
          <a:ln w="12700">
            <a:solidFill>
              <a:srgbClr val="CDE9D9"/>
            </a:solidFill>
            <a:prstDash val="solid"/>
          </a:ln>
        </p:spPr>
      </p:sp>
      <p:sp>
        <p:nvSpPr>
          <p:cNvPr id="22" name="anim-g2-493"/>
          <p:cNvSpPr/>
          <p:nvPr/>
        </p:nvSpPr>
        <p:spPr>
          <a:xfrm>
            <a:off x="960120" y="3724656"/>
            <a:ext cx="3480705"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يستمر الباقي في العمل</a:t>
            </a:r>
            <a:endParaRPr lang="ar-SA" sz="2100" dirty="0"/>
          </a:p>
        </p:txBody>
      </p:sp>
      <p:sp>
        <p:nvSpPr>
          <p:cNvPr id="23" name="anim-g3-494"/>
          <p:cNvSpPr/>
          <p:nvPr/>
        </p:nvSpPr>
        <p:spPr>
          <a:xfrm>
            <a:off x="8552466" y="4934712"/>
            <a:ext cx="2816269" cy="1100328"/>
          </a:xfrm>
          <a:prstGeom prst="roundRect">
            <a:avLst>
              <a:gd name="adj" fmla="val 9972"/>
            </a:avLst>
          </a:prstGeom>
          <a:solidFill>
            <a:srgbClr val="FBF3DF"/>
          </a:solidFill>
          <a:ln w="12700">
            <a:solidFill>
              <a:srgbClr val="EFDDAF"/>
            </a:solidFill>
            <a:prstDash val="solid"/>
          </a:ln>
        </p:spPr>
      </p:sp>
      <p:sp>
        <p:nvSpPr>
          <p:cNvPr id="24" name="anim-g3-495"/>
          <p:cNvSpPr/>
          <p:nvPr/>
        </p:nvSpPr>
        <p:spPr>
          <a:xfrm>
            <a:off x="8689626" y="4934712"/>
            <a:ext cx="2541949"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مثال من الحياة</a:t>
            </a:r>
            <a:endParaRPr lang="ar-SA" sz="2100" dirty="0"/>
          </a:p>
        </p:txBody>
      </p:sp>
      <p:sp>
        <p:nvSpPr>
          <p:cNvPr id="25" name="anim-g3-496"/>
          <p:cNvSpPr/>
          <p:nvPr/>
        </p:nvSpPr>
        <p:spPr>
          <a:xfrm>
            <a:off x="4687713" y="4934712"/>
            <a:ext cx="3755025" cy="1100328"/>
          </a:xfrm>
          <a:prstGeom prst="roundRect">
            <a:avLst>
              <a:gd name="adj" fmla="val 9972"/>
            </a:avLst>
          </a:prstGeom>
          <a:solidFill>
            <a:srgbClr val="FFFFFF"/>
          </a:solidFill>
          <a:ln w="12700">
            <a:solidFill>
              <a:srgbClr val="E4DCC8"/>
            </a:solidFill>
            <a:prstDash val="solid"/>
          </a:ln>
        </p:spPr>
      </p:sp>
      <p:sp>
        <p:nvSpPr>
          <p:cNvPr id="26" name="anim-g3-497"/>
          <p:cNvSpPr/>
          <p:nvPr/>
        </p:nvSpPr>
        <p:spPr>
          <a:xfrm>
            <a:off x="4824873" y="4934712"/>
            <a:ext cx="3480705"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بعض زينة الإضاءة القديمة</a:t>
            </a:r>
            <a:endParaRPr lang="ar-SA" sz="2100" dirty="0"/>
          </a:p>
        </p:txBody>
      </p:sp>
      <p:sp>
        <p:nvSpPr>
          <p:cNvPr id="27" name="anim-g3-498"/>
          <p:cNvSpPr/>
          <p:nvPr/>
        </p:nvSpPr>
        <p:spPr>
          <a:xfrm>
            <a:off x="822960" y="4934712"/>
            <a:ext cx="3755025" cy="1100328"/>
          </a:xfrm>
          <a:prstGeom prst="roundRect">
            <a:avLst>
              <a:gd name="adj" fmla="val 9972"/>
            </a:avLst>
          </a:prstGeom>
          <a:solidFill>
            <a:srgbClr val="E6F4EC"/>
          </a:solidFill>
          <a:ln w="12700">
            <a:solidFill>
              <a:srgbClr val="CDE9D9"/>
            </a:solidFill>
            <a:prstDash val="solid"/>
          </a:ln>
        </p:spPr>
      </p:sp>
      <p:sp>
        <p:nvSpPr>
          <p:cNvPr id="28" name="anim-g3-499"/>
          <p:cNvSpPr/>
          <p:nvPr/>
        </p:nvSpPr>
        <p:spPr>
          <a:xfrm>
            <a:off x="960120" y="4934712"/>
            <a:ext cx="3480705"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إنارة البيوت والمدارس</a:t>
            </a:r>
            <a:endParaRPr lang="ar-SA" sz="2100" dirty="0"/>
          </a:p>
        </p:txBody>
      </p:sp>
      <p:sp>
        <p:nvSpPr>
          <p:cNvPr id="29" name="Text 27"/>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الأردوينو للمعلمين</a:t>
            </a:r>
            <a:endParaRPr lang="ar-SA" sz="1200" dirty="0"/>
          </a:p>
        </p:txBody>
      </p:sp>
      <p:sp>
        <p:nvSpPr>
          <p:cNvPr id="30" name="Text 28"/>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الدوائر وأول دائرة  ·  ٦٦</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00"/>
                                        <p:tgtEl>
                                          <p:spTgt spid="1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400"/>
                                        <p:tgtEl>
                                          <p:spTgt spid="1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400"/>
                                        <p:tgtEl>
                                          <p:spTgt spid="1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4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00"/>
                                        <p:tgtEl>
                                          <p:spTgt spid="17"/>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400"/>
                                        <p:tgtEl>
                                          <p:spTgt spid="18"/>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400"/>
                                        <p:tgtEl>
                                          <p:spTgt spid="19"/>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6" dur="400"/>
                                        <p:tgtEl>
                                          <p:spTgt spid="20"/>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fade">
                                      <p:cBhvr>
                                        <p:cTn id="39" dur="400"/>
                                        <p:tgtEl>
                                          <p:spTgt spid="21"/>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400"/>
                                        <p:tgtEl>
                                          <p:spTgt spid="2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400"/>
                                        <p:tgtEl>
                                          <p:spTgt spid="23"/>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4"/>
                                        </p:tgtEl>
                                        <p:attrNameLst>
                                          <p:attrName>style.visibility</p:attrName>
                                        </p:attrNameLst>
                                      </p:cBhvr>
                                      <p:to>
                                        <p:strVal val="visible"/>
                                      </p:to>
                                    </p:set>
                                    <p:animEffect transition="in" filter="fade">
                                      <p:cBhvr>
                                        <p:cTn id="50" dur="400"/>
                                        <p:tgtEl>
                                          <p:spTgt spid="24"/>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5"/>
                                        </p:tgtEl>
                                        <p:attrNameLst>
                                          <p:attrName>style.visibility</p:attrName>
                                        </p:attrNameLst>
                                      </p:cBhvr>
                                      <p:to>
                                        <p:strVal val="visible"/>
                                      </p:to>
                                    </p:set>
                                    <p:animEffect transition="in" filter="fade">
                                      <p:cBhvr>
                                        <p:cTn id="53" dur="400"/>
                                        <p:tgtEl>
                                          <p:spTgt spid="25"/>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6"/>
                                        </p:tgtEl>
                                        <p:attrNameLst>
                                          <p:attrName>style.visibility</p:attrName>
                                        </p:attrNameLst>
                                      </p:cBhvr>
                                      <p:to>
                                        <p:strVal val="visible"/>
                                      </p:to>
                                    </p:set>
                                    <p:animEffect transition="in" filter="fade">
                                      <p:cBhvr>
                                        <p:cTn id="56" dur="400"/>
                                        <p:tgtEl>
                                          <p:spTgt spid="26"/>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7"/>
                                        </p:tgtEl>
                                        <p:attrNameLst>
                                          <p:attrName>style.visibility</p:attrName>
                                        </p:attrNameLst>
                                      </p:cBhvr>
                                      <p:to>
                                        <p:strVal val="visible"/>
                                      </p:to>
                                    </p:set>
                                    <p:animEffect transition="in" filter="fade">
                                      <p:cBhvr>
                                        <p:cTn id="59" dur="400"/>
                                        <p:tgtEl>
                                          <p:spTgt spid="27"/>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8"/>
                                        </p:tgtEl>
                                        <p:attrNameLst>
                                          <p:attrName>style.visibility</p:attrName>
                                        </p:attrNameLst>
                                      </p:cBhvr>
                                      <p:to>
                                        <p:strVal val="visible"/>
                                      </p:to>
                                    </p:set>
                                    <p:animEffect transition="in" filter="fade">
                                      <p:cBhvr>
                                        <p:cTn id="62"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name="Slide 6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687007" y="457200"/>
            <a:ext cx="4681728" cy="457200"/>
          </a:xfrm>
          <a:prstGeom prst="roundRect">
            <a:avLst>
              <a:gd name="adj" fmla="val 50000"/>
            </a:avLst>
          </a:prstGeom>
          <a:solidFill>
            <a:srgbClr val="F6EBCF"/>
          </a:solidFill>
          <a:ln/>
        </p:spPr>
      </p:sp>
      <p:sp>
        <p:nvSpPr>
          <p:cNvPr id="3" name="Text 1"/>
          <p:cNvSpPr/>
          <p:nvPr/>
        </p:nvSpPr>
        <p:spPr>
          <a:xfrm>
            <a:off x="6687007" y="457200"/>
            <a:ext cx="468172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جرّب بنفسك في Tinkercad</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ابنِ أول دائرة LED</a:t>
            </a:r>
            <a:endParaRPr lang="ar-SA" sz="3800" dirty="0"/>
          </a:p>
        </p:txBody>
      </p:sp>
      <p:sp>
        <p:nvSpPr>
          <p:cNvPr id="5" name="anim-g1-500"/>
          <p:cNvSpPr/>
          <p:nvPr/>
        </p:nvSpPr>
        <p:spPr>
          <a:xfrm>
            <a:off x="822960" y="1920240"/>
            <a:ext cx="10545775" cy="735178"/>
          </a:xfrm>
          <a:prstGeom prst="roundRect">
            <a:avLst>
              <a:gd name="adj" fmla="val 19900"/>
            </a:avLst>
          </a:prstGeom>
          <a:solidFill>
            <a:srgbClr val="FFFFFF"/>
          </a:solidFill>
          <a:ln w="12700">
            <a:solidFill>
              <a:srgbClr val="E4DCC8"/>
            </a:solidFill>
            <a:prstDash val="solid"/>
          </a:ln>
        </p:spPr>
      </p:sp>
      <p:sp>
        <p:nvSpPr>
          <p:cNvPr id="6" name="anim-g1-501"/>
          <p:cNvSpPr/>
          <p:nvPr/>
        </p:nvSpPr>
        <p:spPr>
          <a:xfrm>
            <a:off x="10587838" y="2011680"/>
            <a:ext cx="552298" cy="552298"/>
          </a:xfrm>
          <a:prstGeom prst="ellipse">
            <a:avLst/>
          </a:prstGeom>
          <a:solidFill>
            <a:srgbClr val="D9AE4B"/>
          </a:solidFill>
          <a:ln/>
        </p:spPr>
      </p:sp>
      <p:sp>
        <p:nvSpPr>
          <p:cNvPr id="7" name="anim-g1-502"/>
          <p:cNvSpPr/>
          <p:nvPr/>
        </p:nvSpPr>
        <p:spPr>
          <a:xfrm>
            <a:off x="10587838" y="2011680"/>
            <a:ext cx="552298" cy="55229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١</a:t>
            </a:r>
            <a:endParaRPr lang="ar-SA" sz="2000" dirty="0"/>
          </a:p>
        </p:txBody>
      </p:sp>
      <p:sp>
        <p:nvSpPr>
          <p:cNvPr id="8" name="anim-g1-503"/>
          <p:cNvSpPr/>
          <p:nvPr/>
        </p:nvSpPr>
        <p:spPr>
          <a:xfrm>
            <a:off x="1097280" y="1920240"/>
            <a:ext cx="9261958" cy="735178"/>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أضف بطارية ٩ فولت، ومقاومة، وليد</a:t>
            </a:r>
            <a:pPr algn="r" indent="0" marL="0">
              <a:buNone/>
            </a:pPr>
            <a:r>
              <a:rPr lang="ar-SA" altLang="en-US" sz="1800" b="1" dirty="0">
                <a:solidFill>
                  <a:srgbClr val="3B4460"/>
                </a:solidFill>
                <a:latin typeface="Cairo" pitchFamily="34" charset="0"/>
                <a:ea typeface="Cairo" pitchFamily="34" charset="-122"/>
                <a:cs typeface="Cairo" pitchFamily="34" charset="-120"/>
              </a:rPr>
              <a:t>   — اسحبها من قائمة المكونات</a:t>
            </a:r>
            <a:endParaRPr lang="ar-SA" sz="2200" dirty="0"/>
          </a:p>
        </p:txBody>
      </p:sp>
      <p:sp>
        <p:nvSpPr>
          <p:cNvPr id="9" name="anim-g2-504"/>
          <p:cNvSpPr/>
          <p:nvPr/>
        </p:nvSpPr>
        <p:spPr>
          <a:xfrm>
            <a:off x="822960" y="2765146"/>
            <a:ext cx="10545775" cy="735178"/>
          </a:xfrm>
          <a:prstGeom prst="roundRect">
            <a:avLst>
              <a:gd name="adj" fmla="val 19900"/>
            </a:avLst>
          </a:prstGeom>
          <a:solidFill>
            <a:srgbClr val="FFFFFF"/>
          </a:solidFill>
          <a:ln w="12700">
            <a:solidFill>
              <a:srgbClr val="E4DCC8"/>
            </a:solidFill>
            <a:prstDash val="solid"/>
          </a:ln>
        </p:spPr>
      </p:sp>
      <p:sp>
        <p:nvSpPr>
          <p:cNvPr id="10" name="anim-g2-505"/>
          <p:cNvSpPr/>
          <p:nvPr/>
        </p:nvSpPr>
        <p:spPr>
          <a:xfrm>
            <a:off x="10587838" y="2856586"/>
            <a:ext cx="552298" cy="552298"/>
          </a:xfrm>
          <a:prstGeom prst="ellipse">
            <a:avLst/>
          </a:prstGeom>
          <a:solidFill>
            <a:srgbClr val="D9AE4B"/>
          </a:solidFill>
          <a:ln/>
        </p:spPr>
      </p:sp>
      <p:sp>
        <p:nvSpPr>
          <p:cNvPr id="11" name="anim-g2-506"/>
          <p:cNvSpPr/>
          <p:nvPr/>
        </p:nvSpPr>
        <p:spPr>
          <a:xfrm>
            <a:off x="10587838" y="2856586"/>
            <a:ext cx="552298" cy="55229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٢</a:t>
            </a:r>
            <a:endParaRPr lang="ar-SA" sz="2000" dirty="0"/>
          </a:p>
        </p:txBody>
      </p:sp>
      <p:sp>
        <p:nvSpPr>
          <p:cNvPr id="12" name="anim-g2-507"/>
          <p:cNvSpPr/>
          <p:nvPr/>
        </p:nvSpPr>
        <p:spPr>
          <a:xfrm>
            <a:off x="1097280" y="2765146"/>
            <a:ext cx="9261958" cy="735178"/>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اضبط المقاومة على 470Ω</a:t>
            </a:r>
            <a:pPr algn="r" indent="0" marL="0">
              <a:buNone/>
            </a:pPr>
            <a:r>
              <a:rPr lang="ar-SA" altLang="en-US" sz="1800" b="1" dirty="0">
                <a:solidFill>
                  <a:srgbClr val="3B4460"/>
                </a:solidFill>
                <a:latin typeface="Cairo" pitchFamily="34" charset="0"/>
                <a:ea typeface="Cairo" pitchFamily="34" charset="-122"/>
                <a:cs typeface="Cairo" pitchFamily="34" charset="-120"/>
              </a:rPr>
              <a:t>   — اضغطها وغيّر قيمتها من النافذة المنبثقة</a:t>
            </a:r>
            <a:endParaRPr lang="ar-SA" sz="2200" dirty="0"/>
          </a:p>
        </p:txBody>
      </p:sp>
      <p:sp>
        <p:nvSpPr>
          <p:cNvPr id="13" name="anim-g3-508"/>
          <p:cNvSpPr/>
          <p:nvPr/>
        </p:nvSpPr>
        <p:spPr>
          <a:xfrm>
            <a:off x="822960" y="3610051"/>
            <a:ext cx="10545775" cy="735178"/>
          </a:xfrm>
          <a:prstGeom prst="roundRect">
            <a:avLst>
              <a:gd name="adj" fmla="val 19900"/>
            </a:avLst>
          </a:prstGeom>
          <a:solidFill>
            <a:srgbClr val="FFFFFF"/>
          </a:solidFill>
          <a:ln w="12700">
            <a:solidFill>
              <a:srgbClr val="E4DCC8"/>
            </a:solidFill>
            <a:prstDash val="solid"/>
          </a:ln>
        </p:spPr>
      </p:sp>
      <p:sp>
        <p:nvSpPr>
          <p:cNvPr id="14" name="anim-g3-509"/>
          <p:cNvSpPr/>
          <p:nvPr/>
        </p:nvSpPr>
        <p:spPr>
          <a:xfrm>
            <a:off x="10587838" y="3701491"/>
            <a:ext cx="552298" cy="552298"/>
          </a:xfrm>
          <a:prstGeom prst="ellipse">
            <a:avLst/>
          </a:prstGeom>
          <a:solidFill>
            <a:srgbClr val="D9AE4B"/>
          </a:solidFill>
          <a:ln/>
        </p:spPr>
      </p:sp>
      <p:sp>
        <p:nvSpPr>
          <p:cNvPr id="15" name="anim-g3-510"/>
          <p:cNvSpPr/>
          <p:nvPr/>
        </p:nvSpPr>
        <p:spPr>
          <a:xfrm>
            <a:off x="10587838" y="3701491"/>
            <a:ext cx="552298" cy="55229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٣</a:t>
            </a:r>
            <a:endParaRPr lang="ar-SA" sz="2000" dirty="0"/>
          </a:p>
        </p:txBody>
      </p:sp>
      <p:sp>
        <p:nvSpPr>
          <p:cNvPr id="16" name="anim-g3-511"/>
          <p:cNvSpPr/>
          <p:nvPr/>
        </p:nvSpPr>
        <p:spPr>
          <a:xfrm>
            <a:off x="1097280" y="3610051"/>
            <a:ext cx="9261958" cy="735178"/>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وصّل: الموجب ← المقاومة ← الساق الطويلة</a:t>
            </a:r>
            <a:pPr algn="r" indent="0" marL="0">
              <a:buNone/>
            </a:pPr>
            <a:r>
              <a:rPr lang="ar-SA" altLang="en-US" sz="1800" b="1" dirty="0">
                <a:solidFill>
                  <a:srgbClr val="3B4460"/>
                </a:solidFill>
                <a:latin typeface="Cairo" pitchFamily="34" charset="0"/>
                <a:ea typeface="Cairo" pitchFamily="34" charset="-122"/>
                <a:cs typeface="Cairo" pitchFamily="34" charset="-120"/>
              </a:rPr>
              <a:t>   — ثم الساق القصيرة ← سالب البطارية</a:t>
            </a:r>
            <a:endParaRPr lang="ar-SA" sz="2200" dirty="0"/>
          </a:p>
        </p:txBody>
      </p:sp>
      <p:sp>
        <p:nvSpPr>
          <p:cNvPr id="17" name="anim-g4-512"/>
          <p:cNvSpPr/>
          <p:nvPr/>
        </p:nvSpPr>
        <p:spPr>
          <a:xfrm>
            <a:off x="822960" y="4454957"/>
            <a:ext cx="10545775" cy="735178"/>
          </a:xfrm>
          <a:prstGeom prst="roundRect">
            <a:avLst>
              <a:gd name="adj" fmla="val 19900"/>
            </a:avLst>
          </a:prstGeom>
          <a:solidFill>
            <a:srgbClr val="FFFFFF"/>
          </a:solidFill>
          <a:ln w="12700">
            <a:solidFill>
              <a:srgbClr val="E4DCC8"/>
            </a:solidFill>
            <a:prstDash val="solid"/>
          </a:ln>
        </p:spPr>
      </p:sp>
      <p:sp>
        <p:nvSpPr>
          <p:cNvPr id="18" name="anim-g4-513"/>
          <p:cNvSpPr/>
          <p:nvPr/>
        </p:nvSpPr>
        <p:spPr>
          <a:xfrm>
            <a:off x="10587838" y="4546397"/>
            <a:ext cx="552298" cy="552298"/>
          </a:xfrm>
          <a:prstGeom prst="ellipse">
            <a:avLst/>
          </a:prstGeom>
          <a:solidFill>
            <a:srgbClr val="D9AE4B"/>
          </a:solidFill>
          <a:ln/>
        </p:spPr>
      </p:sp>
      <p:sp>
        <p:nvSpPr>
          <p:cNvPr id="19" name="anim-g4-514"/>
          <p:cNvSpPr/>
          <p:nvPr/>
        </p:nvSpPr>
        <p:spPr>
          <a:xfrm>
            <a:off x="10587838" y="4546397"/>
            <a:ext cx="552298" cy="55229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٤</a:t>
            </a:r>
            <a:endParaRPr lang="ar-SA" sz="2000" dirty="0"/>
          </a:p>
        </p:txBody>
      </p:sp>
      <p:sp>
        <p:nvSpPr>
          <p:cNvPr id="20" name="anim-g4-515"/>
          <p:cNvSpPr/>
          <p:nvPr/>
        </p:nvSpPr>
        <p:spPr>
          <a:xfrm>
            <a:off x="1097280" y="4454957"/>
            <a:ext cx="9261958" cy="735178"/>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لوّن الأسلاك</a:t>
            </a:r>
            <a:pPr algn="r" indent="0" marL="0">
              <a:buNone/>
            </a:pPr>
            <a:r>
              <a:rPr lang="ar-SA" altLang="en-US" sz="1800" b="1" dirty="0">
                <a:solidFill>
                  <a:srgbClr val="3B4460"/>
                </a:solidFill>
                <a:latin typeface="Cairo" pitchFamily="34" charset="0"/>
                <a:ea typeface="Cairo" pitchFamily="34" charset="-122"/>
                <a:cs typeface="Cairo" pitchFamily="34" charset="-120"/>
              </a:rPr>
              <a:t>   — الأحمر للموجب، والأسود للسالب</a:t>
            </a:r>
            <a:endParaRPr lang="ar-SA" sz="2200" dirty="0"/>
          </a:p>
        </p:txBody>
      </p:sp>
      <p:sp>
        <p:nvSpPr>
          <p:cNvPr id="21" name="anim-g5-516"/>
          <p:cNvSpPr/>
          <p:nvPr/>
        </p:nvSpPr>
        <p:spPr>
          <a:xfrm>
            <a:off x="822960" y="5299862"/>
            <a:ext cx="10545775" cy="735178"/>
          </a:xfrm>
          <a:prstGeom prst="roundRect">
            <a:avLst>
              <a:gd name="adj" fmla="val 19900"/>
            </a:avLst>
          </a:prstGeom>
          <a:solidFill>
            <a:srgbClr val="FFFFFF"/>
          </a:solidFill>
          <a:ln w="12700">
            <a:solidFill>
              <a:srgbClr val="E4DCC8"/>
            </a:solidFill>
            <a:prstDash val="solid"/>
          </a:ln>
        </p:spPr>
      </p:sp>
      <p:sp>
        <p:nvSpPr>
          <p:cNvPr id="22" name="anim-g5-517"/>
          <p:cNvSpPr/>
          <p:nvPr/>
        </p:nvSpPr>
        <p:spPr>
          <a:xfrm>
            <a:off x="10587838" y="5391302"/>
            <a:ext cx="552298" cy="552298"/>
          </a:xfrm>
          <a:prstGeom prst="ellipse">
            <a:avLst/>
          </a:prstGeom>
          <a:solidFill>
            <a:srgbClr val="D9AE4B"/>
          </a:solidFill>
          <a:ln/>
        </p:spPr>
      </p:sp>
      <p:sp>
        <p:nvSpPr>
          <p:cNvPr id="23" name="anim-g5-518"/>
          <p:cNvSpPr/>
          <p:nvPr/>
        </p:nvSpPr>
        <p:spPr>
          <a:xfrm>
            <a:off x="10587838" y="5391302"/>
            <a:ext cx="552298" cy="55229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٥</a:t>
            </a:r>
            <a:endParaRPr lang="ar-SA" sz="2000" dirty="0"/>
          </a:p>
        </p:txBody>
      </p:sp>
      <p:sp>
        <p:nvSpPr>
          <p:cNvPr id="24" name="anim-g5-519"/>
          <p:cNvSpPr/>
          <p:nvPr/>
        </p:nvSpPr>
        <p:spPr>
          <a:xfrm>
            <a:off x="1097280" y="5299862"/>
            <a:ext cx="9261958" cy="735178"/>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اضغط «بدء المحاكاة»</a:t>
            </a:r>
            <a:pPr algn="r" indent="0" marL="0">
              <a:buNone/>
            </a:pPr>
            <a:r>
              <a:rPr lang="ar-SA" altLang="en-US" sz="1800" b="1" dirty="0">
                <a:solidFill>
                  <a:srgbClr val="3B4460"/>
                </a:solidFill>
                <a:latin typeface="Cairo" pitchFamily="34" charset="0"/>
                <a:ea typeface="Cairo" pitchFamily="34" charset="-122"/>
                <a:cs typeface="Cairo" pitchFamily="34" charset="-120"/>
              </a:rPr>
              <a:t>   — وشاهد الليد يضيء</a:t>
            </a:r>
            <a:endParaRPr lang="ar-SA" sz="2200" dirty="0"/>
          </a:p>
        </p:txBody>
      </p:sp>
      <p:sp>
        <p:nvSpPr>
          <p:cNvPr id="25" name="Text 2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الأردوينو للمعلمين</a:t>
            </a:r>
            <a:endParaRPr lang="ar-SA" sz="1200" dirty="0"/>
          </a:p>
        </p:txBody>
      </p:sp>
      <p:sp>
        <p:nvSpPr>
          <p:cNvPr id="26" name="Text 2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الدوائر وأول دائرة  ·  ٦٧</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400"/>
                                        <p:tgtEl>
                                          <p:spTgt spid="21"/>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400"/>
                                        <p:tgtEl>
                                          <p:spTgt spid="22"/>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3"/>
                                        </p:tgtEl>
                                        <p:attrNameLst>
                                          <p:attrName>style.visibility</p:attrName>
                                        </p:attrNameLst>
                                      </p:cBhvr>
                                      <p:to>
                                        <p:strVal val="visible"/>
                                      </p:to>
                                    </p:set>
                                    <p:animEffect transition="in" filter="fade">
                                      <p:cBhvr>
                                        <p:cTn id="69" dur="400"/>
                                        <p:tgtEl>
                                          <p:spTgt spid="23"/>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4"/>
                                        </p:tgtEl>
                                        <p:attrNameLst>
                                          <p:attrName>style.visibility</p:attrName>
                                        </p:attrNameLst>
                                      </p:cBhvr>
                                      <p:to>
                                        <p:strVal val="visible"/>
                                      </p:to>
                                    </p:set>
                                    <p:animEffect transition="in" filter="fade">
                                      <p:cBhvr>
                                        <p:cTn id="72"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name="Slide 6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81567" y="457200"/>
            <a:ext cx="2487168" cy="457200"/>
          </a:xfrm>
          <a:prstGeom prst="roundRect">
            <a:avLst>
              <a:gd name="adj" fmla="val 50000"/>
            </a:avLst>
          </a:prstGeom>
          <a:solidFill>
            <a:srgbClr val="F6EBCF"/>
          </a:solidFill>
          <a:ln/>
        </p:spPr>
      </p:sp>
      <p:sp>
        <p:nvSpPr>
          <p:cNvPr id="3" name="Text 1"/>
          <p:cNvSpPr/>
          <p:nvPr/>
        </p:nvSpPr>
        <p:spPr>
          <a:xfrm>
            <a:off x="8881567" y="45720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اختبر نفسك</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بنيت الدائرة ولم يضئ الليد… ما السبب الأرجح؟</a:t>
            </a:r>
            <a:endParaRPr lang="ar-SA" sz="3200" dirty="0"/>
          </a:p>
        </p:txBody>
      </p:sp>
      <p:sp>
        <p:nvSpPr>
          <p:cNvPr id="5" name="Shape 3"/>
          <p:cNvSpPr/>
          <p:nvPr/>
        </p:nvSpPr>
        <p:spPr>
          <a:xfrm>
            <a:off x="822960" y="2057400"/>
            <a:ext cx="10545775" cy="1228344"/>
          </a:xfrm>
          <a:prstGeom prst="roundRect">
            <a:avLst>
              <a:gd name="adj" fmla="val 11911"/>
            </a:avLst>
          </a:prstGeom>
          <a:solidFill>
            <a:srgbClr val="FFFFFF"/>
          </a:solidFill>
          <a:ln w="19050">
            <a:solidFill>
              <a:srgbClr val="E4DCC8"/>
            </a:solidFill>
            <a:prstDash val="solid"/>
          </a:ln>
        </p:spPr>
      </p:sp>
      <p:sp>
        <p:nvSpPr>
          <p:cNvPr id="6" name="Shape 4"/>
          <p:cNvSpPr/>
          <p:nvPr/>
        </p:nvSpPr>
        <p:spPr>
          <a:xfrm>
            <a:off x="10231831" y="2194560"/>
            <a:ext cx="954024" cy="954024"/>
          </a:xfrm>
          <a:prstGeom prst="roundRect">
            <a:avLst>
              <a:gd name="adj" fmla="val 11502"/>
            </a:avLst>
          </a:prstGeom>
          <a:solidFill>
            <a:srgbClr val="101B45"/>
          </a:solidFill>
          <a:ln/>
        </p:spPr>
      </p:sp>
      <p:sp>
        <p:nvSpPr>
          <p:cNvPr id="7" name="Text 5"/>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8" name="Text 6"/>
          <p:cNvSpPr/>
          <p:nvPr/>
        </p:nvSpPr>
        <p:spPr>
          <a:xfrm>
            <a:off x="1097280" y="2057400"/>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الساق الطويلة موصولة بالسالب</a:t>
            </a:r>
            <a:endParaRPr lang="ar-SA" sz="2500" dirty="0"/>
          </a:p>
        </p:txBody>
      </p:sp>
      <p:sp>
        <p:nvSpPr>
          <p:cNvPr id="9" name="anim-g1-520"/>
          <p:cNvSpPr/>
          <p:nvPr/>
        </p:nvSpPr>
        <p:spPr>
          <a:xfrm>
            <a:off x="822960" y="2057400"/>
            <a:ext cx="10545775" cy="1228344"/>
          </a:xfrm>
          <a:prstGeom prst="roundRect">
            <a:avLst>
              <a:gd name="adj" fmla="val 11911"/>
            </a:avLst>
          </a:prstGeom>
          <a:solidFill>
            <a:srgbClr val="E6F4EC"/>
          </a:solidFill>
          <a:ln w="31750">
            <a:solidFill>
              <a:srgbClr val="2E9E6B"/>
            </a:solidFill>
            <a:prstDash val="solid"/>
          </a:ln>
        </p:spPr>
      </p:sp>
      <p:sp>
        <p:nvSpPr>
          <p:cNvPr id="10" name="anim-g1-521"/>
          <p:cNvSpPr/>
          <p:nvPr/>
        </p:nvSpPr>
        <p:spPr>
          <a:xfrm>
            <a:off x="10231831" y="2194560"/>
            <a:ext cx="954024" cy="954024"/>
          </a:xfrm>
          <a:prstGeom prst="roundRect">
            <a:avLst>
              <a:gd name="adj" fmla="val 11502"/>
            </a:avLst>
          </a:prstGeom>
          <a:solidFill>
            <a:srgbClr val="2E9E6B"/>
          </a:solidFill>
          <a:ln/>
        </p:spPr>
      </p:sp>
      <p:sp>
        <p:nvSpPr>
          <p:cNvPr id="11" name="anim-g1-522"/>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a:t>
            </a:r>
            <a:endParaRPr lang="ar-SA" sz="2400" dirty="0"/>
          </a:p>
        </p:txBody>
      </p:sp>
      <p:sp>
        <p:nvSpPr>
          <p:cNvPr id="12" name="anim-g1-523"/>
          <p:cNvSpPr/>
          <p:nvPr/>
        </p:nvSpPr>
        <p:spPr>
          <a:xfrm>
            <a:off x="1097280" y="2093976"/>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131B34"/>
                </a:solidFill>
                <a:latin typeface="Cairo" pitchFamily="34" charset="0"/>
                <a:ea typeface="Cairo" pitchFamily="34" charset="-122"/>
                <a:cs typeface="Cairo" pitchFamily="34" charset="-120"/>
              </a:rPr>
              <a:t>الساق الطويلة موصولة بالسالب</a:t>
            </a:r>
            <a:endParaRPr lang="ar-SA" sz="2400" dirty="0"/>
          </a:p>
        </p:txBody>
      </p:sp>
      <p:sp>
        <p:nvSpPr>
          <p:cNvPr id="13" name="anim-g1-524"/>
          <p:cNvSpPr/>
          <p:nvPr/>
        </p:nvSpPr>
        <p:spPr>
          <a:xfrm>
            <a:off x="1097280" y="2720706"/>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1D5E40"/>
                </a:solidFill>
                <a:latin typeface="Cairo" pitchFamily="34" charset="0"/>
                <a:ea typeface="Cairo" pitchFamily="34" charset="-122"/>
                <a:cs typeface="Cairo" pitchFamily="34" charset="-120"/>
              </a:rPr>
              <a:t>الليد يمرر التيار في اتجاه واحد فقط: الساق الطويلة إلى الموجب</a:t>
            </a:r>
            <a:endParaRPr lang="ar-SA" sz="1800" dirty="0"/>
          </a:p>
        </p:txBody>
      </p:sp>
      <p:sp>
        <p:nvSpPr>
          <p:cNvPr id="14" name="Shape 12"/>
          <p:cNvSpPr/>
          <p:nvPr/>
        </p:nvSpPr>
        <p:spPr>
          <a:xfrm>
            <a:off x="822960" y="3432048"/>
            <a:ext cx="10545775" cy="1228344"/>
          </a:xfrm>
          <a:prstGeom prst="roundRect">
            <a:avLst>
              <a:gd name="adj" fmla="val 11911"/>
            </a:avLst>
          </a:prstGeom>
          <a:solidFill>
            <a:srgbClr val="FFFFFF"/>
          </a:solidFill>
          <a:ln w="19050">
            <a:solidFill>
              <a:srgbClr val="E4DCC8"/>
            </a:solidFill>
            <a:prstDash val="solid"/>
          </a:ln>
        </p:spPr>
      </p:sp>
      <p:sp>
        <p:nvSpPr>
          <p:cNvPr id="15" name="Shape 13"/>
          <p:cNvSpPr/>
          <p:nvPr/>
        </p:nvSpPr>
        <p:spPr>
          <a:xfrm>
            <a:off x="10231831" y="3569208"/>
            <a:ext cx="954024" cy="954024"/>
          </a:xfrm>
          <a:prstGeom prst="roundRect">
            <a:avLst>
              <a:gd name="adj" fmla="val 11502"/>
            </a:avLst>
          </a:prstGeom>
          <a:solidFill>
            <a:srgbClr val="101B45"/>
          </a:solidFill>
          <a:ln/>
        </p:spPr>
      </p:sp>
      <p:sp>
        <p:nvSpPr>
          <p:cNvPr id="16" name="Text 14"/>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17" name="Text 15"/>
          <p:cNvSpPr/>
          <p:nvPr/>
        </p:nvSpPr>
        <p:spPr>
          <a:xfrm>
            <a:off x="1097280" y="3432048"/>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البطارية قوية جدًا</a:t>
            </a:r>
            <a:endParaRPr lang="ar-SA" sz="2500" dirty="0"/>
          </a:p>
        </p:txBody>
      </p:sp>
      <p:sp>
        <p:nvSpPr>
          <p:cNvPr id="18" name="anim-g1-525"/>
          <p:cNvSpPr/>
          <p:nvPr/>
        </p:nvSpPr>
        <p:spPr>
          <a:xfrm>
            <a:off x="822960" y="3432048"/>
            <a:ext cx="10545775" cy="1228344"/>
          </a:xfrm>
          <a:prstGeom prst="roundRect">
            <a:avLst>
              <a:gd name="adj" fmla="val 11911"/>
            </a:avLst>
          </a:prstGeom>
          <a:solidFill>
            <a:srgbClr val="F7F7F9"/>
          </a:solidFill>
          <a:ln w="19050">
            <a:solidFill>
              <a:srgbClr val="E4DCC8"/>
            </a:solidFill>
            <a:prstDash val="solid"/>
          </a:ln>
        </p:spPr>
      </p:sp>
      <p:sp>
        <p:nvSpPr>
          <p:cNvPr id="19" name="anim-g1-526"/>
          <p:cNvSpPr/>
          <p:nvPr/>
        </p:nvSpPr>
        <p:spPr>
          <a:xfrm>
            <a:off x="10231831" y="3569208"/>
            <a:ext cx="954024" cy="954024"/>
          </a:xfrm>
          <a:prstGeom prst="roundRect">
            <a:avLst>
              <a:gd name="adj" fmla="val 11502"/>
            </a:avLst>
          </a:prstGeom>
          <a:solidFill>
            <a:srgbClr val="A3A9BA"/>
          </a:solidFill>
          <a:ln/>
        </p:spPr>
      </p:sp>
      <p:sp>
        <p:nvSpPr>
          <p:cNvPr id="20" name="anim-g1-527"/>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21" name="anim-g1-528"/>
          <p:cNvSpPr/>
          <p:nvPr/>
        </p:nvSpPr>
        <p:spPr>
          <a:xfrm>
            <a:off x="1097280" y="3468624"/>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البطارية قوية جدًا</a:t>
            </a:r>
            <a:endParaRPr lang="ar-SA" sz="2400" dirty="0"/>
          </a:p>
        </p:txBody>
      </p:sp>
      <p:sp>
        <p:nvSpPr>
          <p:cNvPr id="22" name="anim-g1-529"/>
          <p:cNvSpPr/>
          <p:nvPr/>
        </p:nvSpPr>
        <p:spPr>
          <a:xfrm>
            <a:off x="1097280" y="4095354"/>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مع المقاومة المناسبة، ٩ فولت لا تمنعه من الإضاءة</a:t>
            </a:r>
            <a:endParaRPr lang="ar-SA" sz="1800" dirty="0"/>
          </a:p>
        </p:txBody>
      </p:sp>
      <p:sp>
        <p:nvSpPr>
          <p:cNvPr id="23" name="Shape 21"/>
          <p:cNvSpPr/>
          <p:nvPr/>
        </p:nvSpPr>
        <p:spPr>
          <a:xfrm>
            <a:off x="822960" y="4806696"/>
            <a:ext cx="10545775" cy="1228344"/>
          </a:xfrm>
          <a:prstGeom prst="roundRect">
            <a:avLst>
              <a:gd name="adj" fmla="val 11911"/>
            </a:avLst>
          </a:prstGeom>
          <a:solidFill>
            <a:srgbClr val="FFFFFF"/>
          </a:solidFill>
          <a:ln w="19050">
            <a:solidFill>
              <a:srgbClr val="E4DCC8"/>
            </a:solidFill>
            <a:prstDash val="solid"/>
          </a:ln>
        </p:spPr>
      </p:sp>
      <p:sp>
        <p:nvSpPr>
          <p:cNvPr id="24" name="Shape 22"/>
          <p:cNvSpPr/>
          <p:nvPr/>
        </p:nvSpPr>
        <p:spPr>
          <a:xfrm>
            <a:off x="10231831" y="4943856"/>
            <a:ext cx="954024" cy="954024"/>
          </a:xfrm>
          <a:prstGeom prst="roundRect">
            <a:avLst>
              <a:gd name="adj" fmla="val 11502"/>
            </a:avLst>
          </a:prstGeom>
          <a:solidFill>
            <a:srgbClr val="101B45"/>
          </a:solidFill>
          <a:ln/>
        </p:spPr>
      </p:sp>
      <p:sp>
        <p:nvSpPr>
          <p:cNvPr id="25" name="Text 23"/>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26" name="Text 24"/>
          <p:cNvSpPr/>
          <p:nvPr/>
        </p:nvSpPr>
        <p:spPr>
          <a:xfrm>
            <a:off x="1097280" y="4806696"/>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الأسلاك بلون واحد</a:t>
            </a:r>
            <a:endParaRPr lang="ar-SA" sz="2500" dirty="0"/>
          </a:p>
        </p:txBody>
      </p:sp>
      <p:sp>
        <p:nvSpPr>
          <p:cNvPr id="27" name="anim-g1-530"/>
          <p:cNvSpPr/>
          <p:nvPr/>
        </p:nvSpPr>
        <p:spPr>
          <a:xfrm>
            <a:off x="822960" y="4806696"/>
            <a:ext cx="10545775" cy="1228344"/>
          </a:xfrm>
          <a:prstGeom prst="roundRect">
            <a:avLst>
              <a:gd name="adj" fmla="val 11911"/>
            </a:avLst>
          </a:prstGeom>
          <a:solidFill>
            <a:srgbClr val="F7F7F9"/>
          </a:solidFill>
          <a:ln w="19050">
            <a:solidFill>
              <a:srgbClr val="E4DCC8"/>
            </a:solidFill>
            <a:prstDash val="solid"/>
          </a:ln>
        </p:spPr>
      </p:sp>
      <p:sp>
        <p:nvSpPr>
          <p:cNvPr id="28" name="anim-g1-531"/>
          <p:cNvSpPr/>
          <p:nvPr/>
        </p:nvSpPr>
        <p:spPr>
          <a:xfrm>
            <a:off x="10231831" y="4943856"/>
            <a:ext cx="954024" cy="954024"/>
          </a:xfrm>
          <a:prstGeom prst="roundRect">
            <a:avLst>
              <a:gd name="adj" fmla="val 11502"/>
            </a:avLst>
          </a:prstGeom>
          <a:solidFill>
            <a:srgbClr val="A3A9BA"/>
          </a:solidFill>
          <a:ln/>
        </p:spPr>
      </p:sp>
      <p:sp>
        <p:nvSpPr>
          <p:cNvPr id="29" name="anim-g1-532"/>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30" name="anim-g1-533"/>
          <p:cNvSpPr/>
          <p:nvPr/>
        </p:nvSpPr>
        <p:spPr>
          <a:xfrm>
            <a:off x="1097280" y="4843272"/>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الأسلاك بلون واحد</a:t>
            </a:r>
            <a:endParaRPr lang="ar-SA" sz="2400" dirty="0"/>
          </a:p>
        </p:txBody>
      </p:sp>
      <p:sp>
        <p:nvSpPr>
          <p:cNvPr id="31" name="anim-g1-534"/>
          <p:cNvSpPr/>
          <p:nvPr/>
        </p:nvSpPr>
        <p:spPr>
          <a:xfrm>
            <a:off x="1097280" y="5470002"/>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اللون للتنظيم فقط ولا يؤثر في عمل الدائرة</a:t>
            </a:r>
            <a:endParaRPr lang="ar-SA" sz="1800" dirty="0"/>
          </a:p>
        </p:txBody>
      </p:sp>
      <p:sp>
        <p:nvSpPr>
          <p:cNvPr id="32" name="Text 30"/>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الأردوينو للمعلمين</a:t>
            </a:r>
            <a:endParaRPr lang="ar-SA" sz="1200" dirty="0"/>
          </a:p>
        </p:txBody>
      </p:sp>
      <p:sp>
        <p:nvSpPr>
          <p:cNvPr id="33" name="Text 31"/>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الدوائر وأول دائرة  ·  ٦٨</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00"/>
                                        <p:tgtEl>
                                          <p:spTgt spid="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00"/>
                                        <p:tgtEl>
                                          <p:spTgt spid="2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400"/>
                                        <p:tgtEl>
                                          <p:spTgt spid="2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400"/>
                                        <p:tgtEl>
                                          <p:spTgt spid="3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fade">
                                      <p:cBhvr>
                                        <p:cTn id="4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8" grpId="0" animBg="1"/>
      <p:bldP spid="19" grpId="0" animBg="1"/>
      <p:bldP spid="20" grpId="0" animBg="1"/>
      <p:bldP spid="21" grpId="0" animBg="1"/>
      <p:bldP spid="22" grpId="0" animBg="1"/>
      <p:bldP spid="27" grpId="0" animBg="1"/>
      <p:bldP spid="28" grpId="0" animBg="1"/>
      <p:bldP spid="29" grpId="0" animBg="1"/>
      <p:bldP spid="30" grpId="0" animBg="1"/>
      <p:bldP spid="31"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pic>
        <p:nvPicPr>
          <p:cNvPr id="2" name="Image 0" descr="/Users/mac/Desktop/أردوينو/المشاريع والكتب/younes-training/arduino/.pptx-cache/s6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pic>
        <p:nvPicPr>
          <p:cNvPr id="2" name="Image 0" descr="/Users/mac/Desktop/أردوينو/المشاريع والكتب/younes-training/arduino/.pptx-cache/s7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852264" y="1188720"/>
            <a:ext cx="2487168"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852264" y="118872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خلاصة المحور</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الطالب الذي يتتبع مسار التيار بإصبعه…</a:t>
            </a:r>
            <a:endParaRPr lang="ar-SA" sz="4400" dirty="0"/>
          </a:p>
          <a:p>
            <a:pPr algn="ctr" indent="0" marL="0">
              <a:lnSpc>
                <a:spcPct val="115000"/>
              </a:lnSpc>
              <a:buNone/>
            </a:pPr>
            <a:r>
              <a:rPr lang="ar-SA" altLang="en-US" sz="4400" dirty="0">
                <a:solidFill>
                  <a:srgbClr val="F0CC7A"/>
                </a:solidFill>
                <a:latin typeface="Cairo Black" pitchFamily="34" charset="0"/>
                <a:ea typeface="Cairo Black" pitchFamily="34" charset="-122"/>
                <a:cs typeface="Cairo Black" pitchFamily="34" charset="-120"/>
              </a:rPr>
              <a:t> يكتشف أعطاله بنفسه</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الأردوينو للمعلمين</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الدوائر وأول دائرة  ·  ٧١</a:t>
            </a:r>
            <a:endParaRPr lang="ar-SA" sz="12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97280" y="2103120"/>
            <a:ext cx="2651760" cy="2651760"/>
          </a:xfrm>
          <a:prstGeom prst="ellipse">
            <a:avLst/>
          </a:prstGeom>
          <a:solidFill>
            <a:srgbClr val="D9AE4B">
              <a:alpha val="12000"/>
            </a:srgbClr>
          </a:solidFill>
          <a:ln w="63500">
            <a:solidFill>
              <a:srgbClr val="D9AE4B">
                <a:alpha val="60000"/>
              </a:srgbClr>
            </a:solidFill>
            <a:prstDash val="solid"/>
          </a:ln>
        </p:spPr>
      </p:sp>
      <p:sp>
        <p:nvSpPr>
          <p:cNvPr id="3" name="Text 1"/>
          <p:cNvSpPr/>
          <p:nvPr/>
        </p:nvSpPr>
        <p:spPr>
          <a:xfrm>
            <a:off x="1097280" y="2103120"/>
            <a:ext cx="2651760" cy="2651760"/>
          </a:xfrm>
          <a:prstGeom prst="rect">
            <a:avLst/>
          </a:prstGeom>
          <a:noFill/>
          <a:ln/>
        </p:spPr>
        <p:txBody>
          <a:bodyPr wrap="square" lIns="0" tIns="0" rIns="0" bIns="0" rtlCol="0" anchor="ctr">
            <a:normAutofit/>
          </a:bodyPr>
          <a:lstStyle/>
          <a:p>
            <a:pPr rtl="1" algn="ctr" indent="0" marL="0">
              <a:buNone/>
            </a:pPr>
            <a:r>
              <a:rPr lang="ar-SA" altLang="en-US" sz="12000" dirty="0">
                <a:solidFill>
                  <a:srgbClr val="F0CC7A"/>
                </a:solidFill>
                <a:latin typeface="Cairo Black" pitchFamily="34" charset="0"/>
                <a:ea typeface="Cairo Black" pitchFamily="34" charset="-122"/>
                <a:cs typeface="Cairo Black" pitchFamily="34" charset="-120"/>
              </a:rPr>
              <a:t>٦</a:t>
            </a:r>
            <a:endParaRPr lang="ar-SA" sz="12000" dirty="0"/>
          </a:p>
        </p:txBody>
      </p:sp>
      <p:sp>
        <p:nvSpPr>
          <p:cNvPr id="4" name="Text 2"/>
          <p:cNvSpPr/>
          <p:nvPr/>
        </p:nvSpPr>
        <p:spPr>
          <a:xfrm>
            <a:off x="4206240" y="1828800"/>
            <a:ext cx="7162495" cy="457200"/>
          </a:xfrm>
          <a:prstGeom prst="rect">
            <a:avLst/>
          </a:prstGeom>
          <a:noFill/>
          <a:ln/>
        </p:spPr>
        <p:txBody>
          <a:bodyPr wrap="square" lIns="0" tIns="0" rIns="0" bIns="0" rtlCol="0" anchor="ctr">
            <a:normAutofit/>
          </a:bodyPr>
          <a:lstStyle/>
          <a:p>
            <a:pPr rtl="1" algn="r" indent="0" marL="0">
              <a:buNone/>
            </a:pPr>
            <a:r>
              <a:rPr lang="ar-SA" altLang="en-US" sz="2000" b="1" dirty="0">
                <a:solidFill>
                  <a:srgbClr val="D9AE4B"/>
                </a:solidFill>
                <a:latin typeface="Cairo" pitchFamily="34" charset="0"/>
                <a:ea typeface="Cairo" pitchFamily="34" charset="-122"/>
                <a:cs typeface="Cairo" pitchFamily="34" charset="-120"/>
              </a:rPr>
              <a:t>المحور ٦</a:t>
            </a:r>
            <a:endParaRPr lang="ar-SA" sz="2000" dirty="0"/>
          </a:p>
        </p:txBody>
      </p:sp>
      <p:sp>
        <p:nvSpPr>
          <p:cNvPr id="5" name="Text 3"/>
          <p:cNvSpPr/>
          <p:nvPr/>
        </p:nvSpPr>
        <p:spPr>
          <a:xfrm>
            <a:off x="4206240" y="2286000"/>
            <a:ext cx="7162495" cy="1371600"/>
          </a:xfrm>
          <a:prstGeom prst="rect">
            <a:avLst/>
          </a:prstGeom>
          <a:noFill/>
          <a:ln/>
        </p:spPr>
        <p:txBody>
          <a:bodyPr wrap="square" lIns="0" tIns="0" rIns="0" bIns="0" rtlCol="0" anchor="ctr">
            <a:normAutofit/>
          </a:bodyPr>
          <a:lstStyle/>
          <a:p>
            <a:pPr rtl="1" algn="r" indent="0" marL="0">
              <a:buNone/>
            </a:pPr>
            <a:r>
              <a:rPr lang="ar-SA" altLang="en-US" sz="5600" dirty="0">
                <a:solidFill>
                  <a:srgbClr val="FFFFFF"/>
                </a:solidFill>
                <a:latin typeface="Cairo Black" pitchFamily="34" charset="0"/>
                <a:ea typeface="Cairo Black" pitchFamily="34" charset="-122"/>
                <a:cs typeface="Cairo Black" pitchFamily="34" charset="-120"/>
              </a:rPr>
              <a:t>المكونات وقانون أوم</a:t>
            </a:r>
            <a:endParaRPr lang="ar-SA" sz="5600" dirty="0"/>
          </a:p>
        </p:txBody>
      </p:sp>
      <p:sp>
        <p:nvSpPr>
          <p:cNvPr id="6" name="Text 4"/>
          <p:cNvSpPr/>
          <p:nvPr/>
        </p:nvSpPr>
        <p:spPr>
          <a:xfrm>
            <a:off x="4206240" y="3749040"/>
            <a:ext cx="7162495" cy="822960"/>
          </a:xfrm>
          <a:prstGeom prst="rect">
            <a:avLst/>
          </a:prstGeom>
          <a:noFill/>
          <a:ln/>
        </p:spPr>
        <p:txBody>
          <a:bodyPr wrap="square" lIns="0" tIns="0" rIns="0" bIns="0" rtlCol="0" anchor="ctr">
            <a:normAutofit/>
          </a:bodyPr>
          <a:lstStyle/>
          <a:p>
            <a:pPr rtl="1" algn="r" indent="0" marL="0">
              <a:buNone/>
            </a:pPr>
            <a:r>
              <a:rPr lang="ar-SA" altLang="en-US" sz="2200" b="1" dirty="0">
                <a:solidFill>
                  <a:srgbClr val="C9CFE6"/>
                </a:solidFill>
                <a:latin typeface="Cairo" pitchFamily="34" charset="0"/>
                <a:ea typeface="Cairo" pitchFamily="34" charset="-122"/>
                <a:cs typeface="Cairo" pitchFamily="34" charset="-120"/>
              </a:rPr>
              <a:t>لماذا يحترق الليد؟ وكيف نحميه بالحساب؟</a:t>
            </a:r>
            <a:endParaRPr lang="ar-SA" sz="2200" dirty="0"/>
          </a:p>
        </p:txBody>
      </p:sp>
      <p:sp>
        <p:nvSpPr>
          <p:cNvPr id="7" name="Text 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الأردوينو للمعلمين</a:t>
            </a:r>
            <a:endParaRPr lang="ar-SA" sz="1200" dirty="0"/>
          </a:p>
        </p:txBody>
      </p:sp>
      <p:sp>
        <p:nvSpPr>
          <p:cNvPr id="8" name="Text 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المقاومة وقانون أوم  ·  ٧٢</a:t>
            </a:r>
            <a:endParaRPr lang="ar-SA" sz="12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248095" y="457200"/>
            <a:ext cx="5120640" cy="457200"/>
          </a:xfrm>
          <a:prstGeom prst="roundRect">
            <a:avLst>
              <a:gd name="adj" fmla="val 50000"/>
            </a:avLst>
          </a:prstGeom>
          <a:solidFill>
            <a:srgbClr val="F6EBCF"/>
          </a:solidFill>
          <a:ln/>
        </p:spPr>
      </p:sp>
      <p:sp>
        <p:nvSpPr>
          <p:cNvPr id="3" name="Text 1"/>
          <p:cNvSpPr/>
          <p:nvPr/>
        </p:nvSpPr>
        <p:spPr>
          <a:xfrm>
            <a:off x="6248095" y="457200"/>
            <a:ext cx="512064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بنهاية هذا المحور تستطيع أن</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أهداف المحور</a:t>
            </a:r>
            <a:endParaRPr lang="ar-SA" sz="3800" dirty="0"/>
          </a:p>
        </p:txBody>
      </p:sp>
      <p:sp>
        <p:nvSpPr>
          <p:cNvPr id="5" name="anim-g1-535"/>
          <p:cNvSpPr/>
          <p:nvPr/>
        </p:nvSpPr>
        <p:spPr>
          <a:xfrm>
            <a:off x="822960" y="1920240"/>
            <a:ext cx="10545775" cy="946404"/>
          </a:xfrm>
          <a:prstGeom prst="roundRect">
            <a:avLst>
              <a:gd name="adj" fmla="val 15459"/>
            </a:avLst>
          </a:prstGeom>
          <a:solidFill>
            <a:srgbClr val="FFFFFF"/>
          </a:solidFill>
          <a:ln w="12700">
            <a:solidFill>
              <a:srgbClr val="E4DCC8"/>
            </a:solidFill>
            <a:prstDash val="solid"/>
          </a:ln>
        </p:spPr>
      </p:sp>
      <p:sp>
        <p:nvSpPr>
          <p:cNvPr id="6" name="anim-g1-536"/>
          <p:cNvSpPr/>
          <p:nvPr/>
        </p:nvSpPr>
        <p:spPr>
          <a:xfrm>
            <a:off x="10573207" y="2109978"/>
            <a:ext cx="566928" cy="566928"/>
          </a:xfrm>
          <a:prstGeom prst="ellipse">
            <a:avLst/>
          </a:prstGeom>
          <a:solidFill>
            <a:srgbClr val="D9AE4B"/>
          </a:solidFill>
          <a:ln/>
        </p:spPr>
      </p:sp>
      <p:sp>
        <p:nvSpPr>
          <p:cNvPr id="7" name="anim-g1-537"/>
          <p:cNvSpPr/>
          <p:nvPr/>
        </p:nvSpPr>
        <p:spPr>
          <a:xfrm>
            <a:off x="10573207" y="2109978"/>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١</a:t>
            </a:r>
            <a:endParaRPr lang="ar-SA" sz="2000" dirty="0"/>
          </a:p>
        </p:txBody>
      </p:sp>
      <p:sp>
        <p:nvSpPr>
          <p:cNvPr id="8" name="anim-g1-538"/>
          <p:cNvSpPr/>
          <p:nvPr/>
        </p:nvSpPr>
        <p:spPr>
          <a:xfrm>
            <a:off x="1097280" y="1920240"/>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تميّز بين المدخلات والمخرجات</a:t>
            </a:r>
            <a:endParaRPr lang="ar-SA" sz="2400" dirty="0"/>
          </a:p>
        </p:txBody>
      </p:sp>
      <p:sp>
        <p:nvSpPr>
          <p:cNvPr id="9" name="anim-g2-539"/>
          <p:cNvSpPr/>
          <p:nvPr/>
        </p:nvSpPr>
        <p:spPr>
          <a:xfrm>
            <a:off x="822960" y="2976372"/>
            <a:ext cx="10545775" cy="946404"/>
          </a:xfrm>
          <a:prstGeom prst="roundRect">
            <a:avLst>
              <a:gd name="adj" fmla="val 15459"/>
            </a:avLst>
          </a:prstGeom>
          <a:solidFill>
            <a:srgbClr val="FFFFFF"/>
          </a:solidFill>
          <a:ln w="12700">
            <a:solidFill>
              <a:srgbClr val="E4DCC8"/>
            </a:solidFill>
            <a:prstDash val="solid"/>
          </a:ln>
        </p:spPr>
      </p:sp>
      <p:sp>
        <p:nvSpPr>
          <p:cNvPr id="10" name="anim-g2-540"/>
          <p:cNvSpPr/>
          <p:nvPr/>
        </p:nvSpPr>
        <p:spPr>
          <a:xfrm>
            <a:off x="10573207" y="3166110"/>
            <a:ext cx="566928" cy="566928"/>
          </a:xfrm>
          <a:prstGeom prst="ellipse">
            <a:avLst/>
          </a:prstGeom>
          <a:solidFill>
            <a:srgbClr val="D9AE4B"/>
          </a:solidFill>
          <a:ln/>
        </p:spPr>
      </p:sp>
      <p:sp>
        <p:nvSpPr>
          <p:cNvPr id="11" name="anim-g2-541"/>
          <p:cNvSpPr/>
          <p:nvPr/>
        </p:nvSpPr>
        <p:spPr>
          <a:xfrm>
            <a:off x="10573207" y="3166110"/>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٢</a:t>
            </a:r>
            <a:endParaRPr lang="ar-SA" sz="2000" dirty="0"/>
          </a:p>
        </p:txBody>
      </p:sp>
      <p:sp>
        <p:nvSpPr>
          <p:cNvPr id="12" name="anim-g2-542"/>
          <p:cNvSpPr/>
          <p:nvPr/>
        </p:nvSpPr>
        <p:spPr>
          <a:xfrm>
            <a:off x="1097280" y="2976372"/>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تحدد قطبية الليد وحدوده الآمنة</a:t>
            </a:r>
            <a:endParaRPr lang="ar-SA" sz="2400" dirty="0"/>
          </a:p>
        </p:txBody>
      </p:sp>
      <p:sp>
        <p:nvSpPr>
          <p:cNvPr id="13" name="anim-g3-543"/>
          <p:cNvSpPr/>
          <p:nvPr/>
        </p:nvSpPr>
        <p:spPr>
          <a:xfrm>
            <a:off x="822960" y="4032504"/>
            <a:ext cx="10545775" cy="946404"/>
          </a:xfrm>
          <a:prstGeom prst="roundRect">
            <a:avLst>
              <a:gd name="adj" fmla="val 15459"/>
            </a:avLst>
          </a:prstGeom>
          <a:solidFill>
            <a:srgbClr val="FFFFFF"/>
          </a:solidFill>
          <a:ln w="12700">
            <a:solidFill>
              <a:srgbClr val="E4DCC8"/>
            </a:solidFill>
            <a:prstDash val="solid"/>
          </a:ln>
        </p:spPr>
      </p:sp>
      <p:sp>
        <p:nvSpPr>
          <p:cNvPr id="14" name="anim-g3-544"/>
          <p:cNvSpPr/>
          <p:nvPr/>
        </p:nvSpPr>
        <p:spPr>
          <a:xfrm>
            <a:off x="10573207" y="4222242"/>
            <a:ext cx="566928" cy="566928"/>
          </a:xfrm>
          <a:prstGeom prst="ellipse">
            <a:avLst/>
          </a:prstGeom>
          <a:solidFill>
            <a:srgbClr val="D9AE4B"/>
          </a:solidFill>
          <a:ln/>
        </p:spPr>
      </p:sp>
      <p:sp>
        <p:nvSpPr>
          <p:cNvPr id="15" name="anim-g3-545"/>
          <p:cNvSpPr/>
          <p:nvPr/>
        </p:nvSpPr>
        <p:spPr>
          <a:xfrm>
            <a:off x="10573207" y="4222242"/>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٣</a:t>
            </a:r>
            <a:endParaRPr lang="ar-SA" sz="2000" dirty="0"/>
          </a:p>
        </p:txBody>
      </p:sp>
      <p:sp>
        <p:nvSpPr>
          <p:cNvPr id="16" name="anim-g3-546"/>
          <p:cNvSpPr/>
          <p:nvPr/>
        </p:nvSpPr>
        <p:spPr>
          <a:xfrm>
            <a:off x="1097280" y="4032504"/>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تقرأ قيمة المقاومة من ألوانها</a:t>
            </a:r>
            <a:endParaRPr lang="ar-SA" sz="2400" dirty="0"/>
          </a:p>
        </p:txBody>
      </p:sp>
      <p:sp>
        <p:nvSpPr>
          <p:cNvPr id="17" name="anim-g4-547"/>
          <p:cNvSpPr/>
          <p:nvPr/>
        </p:nvSpPr>
        <p:spPr>
          <a:xfrm>
            <a:off x="822960" y="5088636"/>
            <a:ext cx="10545775" cy="946404"/>
          </a:xfrm>
          <a:prstGeom prst="roundRect">
            <a:avLst>
              <a:gd name="adj" fmla="val 15459"/>
            </a:avLst>
          </a:prstGeom>
          <a:solidFill>
            <a:srgbClr val="FFFFFF"/>
          </a:solidFill>
          <a:ln w="12700">
            <a:solidFill>
              <a:srgbClr val="E4DCC8"/>
            </a:solidFill>
            <a:prstDash val="solid"/>
          </a:ln>
        </p:spPr>
      </p:sp>
      <p:sp>
        <p:nvSpPr>
          <p:cNvPr id="18" name="anim-g4-548"/>
          <p:cNvSpPr/>
          <p:nvPr/>
        </p:nvSpPr>
        <p:spPr>
          <a:xfrm>
            <a:off x="10573207" y="5278374"/>
            <a:ext cx="566928" cy="566928"/>
          </a:xfrm>
          <a:prstGeom prst="ellipse">
            <a:avLst/>
          </a:prstGeom>
          <a:solidFill>
            <a:srgbClr val="D9AE4B"/>
          </a:solidFill>
          <a:ln/>
        </p:spPr>
      </p:sp>
      <p:sp>
        <p:nvSpPr>
          <p:cNvPr id="19" name="anim-g4-549"/>
          <p:cNvSpPr/>
          <p:nvPr/>
        </p:nvSpPr>
        <p:spPr>
          <a:xfrm>
            <a:off x="10573207" y="5278374"/>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٤</a:t>
            </a:r>
            <a:endParaRPr lang="ar-SA" sz="2000" dirty="0"/>
          </a:p>
        </p:txBody>
      </p:sp>
      <p:sp>
        <p:nvSpPr>
          <p:cNvPr id="20" name="anim-g4-550"/>
          <p:cNvSpPr/>
          <p:nvPr/>
        </p:nvSpPr>
        <p:spPr>
          <a:xfrm>
            <a:off x="1097280" y="5088636"/>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تحسب المقاومة المناسبة بقانون أوم</a:t>
            </a:r>
            <a:endParaRPr lang="ar-SA" sz="2400" dirty="0"/>
          </a:p>
        </p:txBody>
      </p:sp>
      <p:sp>
        <p:nvSpPr>
          <p:cNvPr id="21" name="Text 19"/>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الأردوينو للمعلمين</a:t>
            </a:r>
            <a:endParaRPr lang="ar-SA" sz="1200" dirty="0"/>
          </a:p>
        </p:txBody>
      </p:sp>
      <p:sp>
        <p:nvSpPr>
          <p:cNvPr id="22" name="Text 20"/>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المقاومة وقانون أوم  ·  ٧٣</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name="Slide 7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2960" y="5486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المدخلات والمخرجات</a:t>
            </a:r>
            <a:endParaRPr lang="ar-SA" sz="3800" dirty="0"/>
          </a:p>
        </p:txBody>
      </p:sp>
      <p:sp>
        <p:nvSpPr>
          <p:cNvPr id="3" name="Text 1"/>
          <p:cNvSpPr/>
          <p:nvPr/>
        </p:nvSpPr>
        <p:spPr>
          <a:xfrm>
            <a:off x="6415888" y="1600200"/>
            <a:ext cx="4952848" cy="457200"/>
          </a:xfrm>
          <a:prstGeom prst="rect">
            <a:avLst/>
          </a:prstGeom>
          <a:noFill/>
          <a:ln/>
        </p:spPr>
        <p:txBody>
          <a:bodyPr wrap="square" lIns="0" tIns="0" rIns="0" bIns="0" rtlCol="0" anchor="ctr">
            <a:normAutofit/>
          </a:bodyPr>
          <a:lstStyle/>
          <a:p>
            <a:pPr rtl="1" algn="ctr" indent="0" marL="0">
              <a:buNone/>
            </a:pPr>
            <a:r>
              <a:rPr lang="ar-SA" altLang="en-US" sz="2100" dirty="0">
                <a:solidFill>
                  <a:srgbClr val="D64545"/>
                </a:solidFill>
                <a:latin typeface="Cairo Black" pitchFamily="34" charset="0"/>
                <a:ea typeface="Cairo Black" pitchFamily="34" charset="-122"/>
                <a:cs typeface="Cairo Black" pitchFamily="34" charset="-120"/>
              </a:rPr>
              <a:t>❌ الخطأ الشائع</a:t>
            </a:r>
            <a:endParaRPr lang="ar-SA" sz="2100" dirty="0"/>
          </a:p>
        </p:txBody>
      </p:sp>
      <p:sp>
        <p:nvSpPr>
          <p:cNvPr id="4" name="Text 2"/>
          <p:cNvSpPr/>
          <p:nvPr/>
        </p:nvSpPr>
        <p:spPr>
          <a:xfrm>
            <a:off x="822960" y="1600200"/>
            <a:ext cx="4952848" cy="457200"/>
          </a:xfrm>
          <a:prstGeom prst="rect">
            <a:avLst/>
          </a:prstGeom>
          <a:noFill/>
          <a:ln/>
        </p:spPr>
        <p:txBody>
          <a:bodyPr wrap="square" lIns="0" tIns="0" rIns="0" bIns="0" rtlCol="0" anchor="ctr">
            <a:normAutofit/>
          </a:bodyPr>
          <a:lstStyle/>
          <a:p>
            <a:pPr rtl="1" algn="ctr" indent="0" marL="0">
              <a:buNone/>
            </a:pPr>
            <a:r>
              <a:rPr lang="ar-SA" altLang="en-US" sz="2100" dirty="0">
                <a:solidFill>
                  <a:srgbClr val="2E9E6B"/>
                </a:solidFill>
                <a:latin typeface="Cairo Black" pitchFamily="34" charset="0"/>
                <a:ea typeface="Cairo Black" pitchFamily="34" charset="-122"/>
                <a:cs typeface="Cairo Black" pitchFamily="34" charset="-120"/>
              </a:rPr>
              <a:t>✅ البديل</a:t>
            </a:r>
            <a:endParaRPr lang="ar-SA" sz="2100" dirty="0"/>
          </a:p>
        </p:txBody>
      </p:sp>
      <p:sp>
        <p:nvSpPr>
          <p:cNvPr id="5" name="anim-g1-551"/>
          <p:cNvSpPr/>
          <p:nvPr/>
        </p:nvSpPr>
        <p:spPr>
          <a:xfrm>
            <a:off x="6415888" y="2194560"/>
            <a:ext cx="4952848" cy="804672"/>
          </a:xfrm>
          <a:prstGeom prst="roundRect">
            <a:avLst>
              <a:gd name="adj" fmla="val 15909"/>
            </a:avLst>
          </a:prstGeom>
          <a:solidFill>
            <a:srgbClr val="FBECEC"/>
          </a:solidFill>
          <a:ln/>
        </p:spPr>
      </p:sp>
      <p:sp>
        <p:nvSpPr>
          <p:cNvPr id="6" name="anim-g1-552"/>
          <p:cNvSpPr/>
          <p:nvPr/>
        </p:nvSpPr>
        <p:spPr>
          <a:xfrm>
            <a:off x="6644488" y="219456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8E2A2A"/>
                </a:solidFill>
                <a:latin typeface="Cairo" pitchFamily="34" charset="0"/>
                <a:ea typeface="Cairo" pitchFamily="34" charset="-122"/>
                <a:cs typeface="Cairo" pitchFamily="34" charset="-120"/>
              </a:rPr>
              <a:t>زر ضاغط</a:t>
            </a:r>
            <a:endParaRPr lang="ar-SA" sz="2200" dirty="0"/>
          </a:p>
        </p:txBody>
      </p:sp>
      <p:sp>
        <p:nvSpPr>
          <p:cNvPr id="7" name="anim-g1-553"/>
          <p:cNvSpPr/>
          <p:nvPr/>
        </p:nvSpPr>
        <p:spPr>
          <a:xfrm>
            <a:off x="822960" y="2194560"/>
            <a:ext cx="4952848" cy="804672"/>
          </a:xfrm>
          <a:prstGeom prst="roundRect">
            <a:avLst>
              <a:gd name="adj" fmla="val 15909"/>
            </a:avLst>
          </a:prstGeom>
          <a:solidFill>
            <a:srgbClr val="FFFFFF"/>
          </a:solidFill>
          <a:ln w="19050">
            <a:solidFill>
              <a:srgbClr val="BFD9CB"/>
            </a:solidFill>
            <a:prstDash val="dash"/>
          </a:ln>
        </p:spPr>
      </p:sp>
      <p:sp>
        <p:nvSpPr>
          <p:cNvPr id="8" name="anim-g1-554"/>
          <p:cNvSpPr/>
          <p:nvPr/>
        </p:nvSpPr>
        <p:spPr>
          <a:xfrm>
            <a:off x="822960" y="2194560"/>
            <a:ext cx="4952848" cy="804672"/>
          </a:xfrm>
          <a:prstGeom prst="rect">
            <a:avLst/>
          </a:prstGeom>
          <a:noFill/>
          <a:ln/>
        </p:spPr>
        <p:txBody>
          <a:bodyPr wrap="square" lIns="0" tIns="0" rIns="0" bIns="0" rtlCol="0" anchor="ctr">
            <a:normAutofit/>
          </a:bodyPr>
          <a:lstStyle/>
          <a:p>
            <a:pPr rtl="1" algn="ctr" indent="0" marL="0">
              <a:buNone/>
            </a:pPr>
            <a:r>
              <a:rPr lang="ar-SA" altLang="en-US" sz="1900" b="1" dirty="0">
                <a:solidFill>
                  <a:srgbClr val="8FB5A2"/>
                </a:solidFill>
                <a:latin typeface="Cairo" pitchFamily="34" charset="0"/>
                <a:ea typeface="Cairo" pitchFamily="34" charset="-122"/>
                <a:cs typeface="Cairo" pitchFamily="34" charset="-120"/>
              </a:rPr>
              <a:t>💬 ناقشوا… ما البديل؟</a:t>
            </a:r>
            <a:endParaRPr lang="ar-SA" sz="1900" dirty="0"/>
          </a:p>
        </p:txBody>
      </p:sp>
      <p:sp>
        <p:nvSpPr>
          <p:cNvPr id="9" name="anim-g2-555"/>
          <p:cNvSpPr/>
          <p:nvPr/>
        </p:nvSpPr>
        <p:spPr>
          <a:xfrm>
            <a:off x="5775808" y="2194560"/>
            <a:ext cx="640080" cy="804672"/>
          </a:xfrm>
          <a:prstGeom prst="rect">
            <a:avLst/>
          </a:prstGeom>
          <a:noFill/>
          <a:ln/>
        </p:spPr>
        <p:txBody>
          <a:bodyPr wrap="square" lIns="0" tIns="0" rIns="0" bIns="0" rtlCol="0" anchor="ctr">
            <a:normAutofit/>
          </a:bodyPr>
          <a:lstStyle/>
          <a:p>
            <a:pPr rtl="1" algn="ctr" indent="0" marL="0">
              <a:buNone/>
            </a:pPr>
            <a:r>
              <a:rPr lang="ar-SA" altLang="en-US" sz="2600" b="1" dirty="0">
                <a:solidFill>
                  <a:srgbClr val="B08A2E"/>
                </a:solidFill>
                <a:latin typeface="Cairo" pitchFamily="34" charset="0"/>
                <a:ea typeface="Cairo" pitchFamily="34" charset="-122"/>
                <a:cs typeface="Cairo" pitchFamily="34" charset="-120"/>
              </a:rPr>
              <a:t>←</a:t>
            </a:r>
            <a:endParaRPr lang="ar-SA" sz="2600" dirty="0"/>
          </a:p>
        </p:txBody>
      </p:sp>
      <p:sp>
        <p:nvSpPr>
          <p:cNvPr id="10" name="anim-g2-556"/>
          <p:cNvSpPr/>
          <p:nvPr/>
        </p:nvSpPr>
        <p:spPr>
          <a:xfrm>
            <a:off x="822960" y="2194560"/>
            <a:ext cx="4952848" cy="804672"/>
          </a:xfrm>
          <a:prstGeom prst="roundRect">
            <a:avLst>
              <a:gd name="adj" fmla="val 15909"/>
            </a:avLst>
          </a:prstGeom>
          <a:solidFill>
            <a:srgbClr val="E6F4EC"/>
          </a:solidFill>
          <a:ln/>
        </p:spPr>
      </p:sp>
      <p:sp>
        <p:nvSpPr>
          <p:cNvPr id="11" name="anim-g2-557"/>
          <p:cNvSpPr/>
          <p:nvPr/>
        </p:nvSpPr>
        <p:spPr>
          <a:xfrm>
            <a:off x="1051560" y="219456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1D5E40"/>
                </a:solidFill>
                <a:latin typeface="Cairo" pitchFamily="34" charset="0"/>
                <a:ea typeface="Cairo" pitchFamily="34" charset="-122"/>
                <a:cs typeface="Cairo" pitchFamily="34" charset="-120"/>
              </a:rPr>
              <a:t>ليد (ضوء)</a:t>
            </a:r>
            <a:endParaRPr lang="ar-SA" sz="2200" dirty="0"/>
          </a:p>
        </p:txBody>
      </p:sp>
      <p:sp>
        <p:nvSpPr>
          <p:cNvPr id="12" name="anim-g3-558"/>
          <p:cNvSpPr/>
          <p:nvPr/>
        </p:nvSpPr>
        <p:spPr>
          <a:xfrm>
            <a:off x="6415888" y="3154680"/>
            <a:ext cx="4952848" cy="804672"/>
          </a:xfrm>
          <a:prstGeom prst="roundRect">
            <a:avLst>
              <a:gd name="adj" fmla="val 15909"/>
            </a:avLst>
          </a:prstGeom>
          <a:solidFill>
            <a:srgbClr val="FBECEC"/>
          </a:solidFill>
          <a:ln/>
        </p:spPr>
      </p:sp>
      <p:sp>
        <p:nvSpPr>
          <p:cNvPr id="13" name="anim-g3-559"/>
          <p:cNvSpPr/>
          <p:nvPr/>
        </p:nvSpPr>
        <p:spPr>
          <a:xfrm>
            <a:off x="6644488" y="315468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8E2A2A"/>
                </a:solidFill>
                <a:latin typeface="Cairo" pitchFamily="34" charset="0"/>
                <a:ea typeface="Cairo" pitchFamily="34" charset="-122"/>
                <a:cs typeface="Cairo" pitchFamily="34" charset="-120"/>
              </a:rPr>
              <a:t>حساس ضوء</a:t>
            </a:r>
            <a:endParaRPr lang="ar-SA" sz="2200" dirty="0"/>
          </a:p>
        </p:txBody>
      </p:sp>
      <p:sp>
        <p:nvSpPr>
          <p:cNvPr id="14" name="anim-g3-560"/>
          <p:cNvSpPr/>
          <p:nvPr/>
        </p:nvSpPr>
        <p:spPr>
          <a:xfrm>
            <a:off x="822960" y="3154680"/>
            <a:ext cx="4952848" cy="804672"/>
          </a:xfrm>
          <a:prstGeom prst="roundRect">
            <a:avLst>
              <a:gd name="adj" fmla="val 15909"/>
            </a:avLst>
          </a:prstGeom>
          <a:solidFill>
            <a:srgbClr val="FFFFFF"/>
          </a:solidFill>
          <a:ln w="19050">
            <a:solidFill>
              <a:srgbClr val="BFD9CB"/>
            </a:solidFill>
            <a:prstDash val="dash"/>
          </a:ln>
        </p:spPr>
      </p:sp>
      <p:sp>
        <p:nvSpPr>
          <p:cNvPr id="15" name="anim-g3-561"/>
          <p:cNvSpPr/>
          <p:nvPr/>
        </p:nvSpPr>
        <p:spPr>
          <a:xfrm>
            <a:off x="822960" y="3154680"/>
            <a:ext cx="4952848" cy="804672"/>
          </a:xfrm>
          <a:prstGeom prst="rect">
            <a:avLst/>
          </a:prstGeom>
          <a:noFill/>
          <a:ln/>
        </p:spPr>
        <p:txBody>
          <a:bodyPr wrap="square" lIns="0" tIns="0" rIns="0" bIns="0" rtlCol="0" anchor="ctr">
            <a:normAutofit/>
          </a:bodyPr>
          <a:lstStyle/>
          <a:p>
            <a:pPr rtl="1" algn="ctr" indent="0" marL="0">
              <a:buNone/>
            </a:pPr>
            <a:r>
              <a:rPr lang="ar-SA" altLang="en-US" sz="1900" b="1" dirty="0">
                <a:solidFill>
                  <a:srgbClr val="8FB5A2"/>
                </a:solidFill>
                <a:latin typeface="Cairo" pitchFamily="34" charset="0"/>
                <a:ea typeface="Cairo" pitchFamily="34" charset="-122"/>
                <a:cs typeface="Cairo" pitchFamily="34" charset="-120"/>
              </a:rPr>
              <a:t>💬 ناقشوا… ما البديل؟</a:t>
            </a:r>
            <a:endParaRPr lang="ar-SA" sz="1900" dirty="0"/>
          </a:p>
        </p:txBody>
      </p:sp>
      <p:sp>
        <p:nvSpPr>
          <p:cNvPr id="16" name="anim-g4-562"/>
          <p:cNvSpPr/>
          <p:nvPr/>
        </p:nvSpPr>
        <p:spPr>
          <a:xfrm>
            <a:off x="5775808" y="3154680"/>
            <a:ext cx="640080" cy="804672"/>
          </a:xfrm>
          <a:prstGeom prst="rect">
            <a:avLst/>
          </a:prstGeom>
          <a:noFill/>
          <a:ln/>
        </p:spPr>
        <p:txBody>
          <a:bodyPr wrap="square" lIns="0" tIns="0" rIns="0" bIns="0" rtlCol="0" anchor="ctr">
            <a:normAutofit/>
          </a:bodyPr>
          <a:lstStyle/>
          <a:p>
            <a:pPr rtl="1" algn="ctr" indent="0" marL="0">
              <a:buNone/>
            </a:pPr>
            <a:r>
              <a:rPr lang="ar-SA" altLang="en-US" sz="2600" b="1" dirty="0">
                <a:solidFill>
                  <a:srgbClr val="B08A2E"/>
                </a:solidFill>
                <a:latin typeface="Cairo" pitchFamily="34" charset="0"/>
                <a:ea typeface="Cairo" pitchFamily="34" charset="-122"/>
                <a:cs typeface="Cairo" pitchFamily="34" charset="-120"/>
              </a:rPr>
              <a:t>←</a:t>
            </a:r>
            <a:endParaRPr lang="ar-SA" sz="2600" dirty="0"/>
          </a:p>
        </p:txBody>
      </p:sp>
      <p:sp>
        <p:nvSpPr>
          <p:cNvPr id="17" name="anim-g4-563"/>
          <p:cNvSpPr/>
          <p:nvPr/>
        </p:nvSpPr>
        <p:spPr>
          <a:xfrm>
            <a:off x="822960" y="3154680"/>
            <a:ext cx="4952848" cy="804672"/>
          </a:xfrm>
          <a:prstGeom prst="roundRect">
            <a:avLst>
              <a:gd name="adj" fmla="val 15909"/>
            </a:avLst>
          </a:prstGeom>
          <a:solidFill>
            <a:srgbClr val="E6F4EC"/>
          </a:solidFill>
          <a:ln/>
        </p:spPr>
      </p:sp>
      <p:sp>
        <p:nvSpPr>
          <p:cNvPr id="18" name="anim-g4-564"/>
          <p:cNvSpPr/>
          <p:nvPr/>
        </p:nvSpPr>
        <p:spPr>
          <a:xfrm>
            <a:off x="1051560" y="315468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1D5E40"/>
                </a:solidFill>
                <a:latin typeface="Cairo" pitchFamily="34" charset="0"/>
                <a:ea typeface="Cairo" pitchFamily="34" charset="-122"/>
                <a:cs typeface="Cairo" pitchFamily="34" charset="-120"/>
              </a:rPr>
              <a:t>جرس (صوت)</a:t>
            </a:r>
            <a:endParaRPr lang="ar-SA" sz="2200" dirty="0"/>
          </a:p>
        </p:txBody>
      </p:sp>
      <p:sp>
        <p:nvSpPr>
          <p:cNvPr id="19" name="anim-g5-565"/>
          <p:cNvSpPr/>
          <p:nvPr/>
        </p:nvSpPr>
        <p:spPr>
          <a:xfrm>
            <a:off x="6415888" y="4114800"/>
            <a:ext cx="4952848" cy="804672"/>
          </a:xfrm>
          <a:prstGeom prst="roundRect">
            <a:avLst>
              <a:gd name="adj" fmla="val 15909"/>
            </a:avLst>
          </a:prstGeom>
          <a:solidFill>
            <a:srgbClr val="FBECEC"/>
          </a:solidFill>
          <a:ln/>
        </p:spPr>
      </p:sp>
      <p:sp>
        <p:nvSpPr>
          <p:cNvPr id="20" name="anim-g5-566"/>
          <p:cNvSpPr/>
          <p:nvPr/>
        </p:nvSpPr>
        <p:spPr>
          <a:xfrm>
            <a:off x="6644488" y="411480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8E2A2A"/>
                </a:solidFill>
                <a:latin typeface="Cairo" pitchFamily="34" charset="0"/>
                <a:ea typeface="Cairo" pitchFamily="34" charset="-122"/>
                <a:cs typeface="Cairo" pitchFamily="34" charset="-120"/>
              </a:rPr>
              <a:t>حساس حرارة</a:t>
            </a:r>
            <a:endParaRPr lang="ar-SA" sz="2200" dirty="0"/>
          </a:p>
        </p:txBody>
      </p:sp>
      <p:sp>
        <p:nvSpPr>
          <p:cNvPr id="21" name="anim-g5-567"/>
          <p:cNvSpPr/>
          <p:nvPr/>
        </p:nvSpPr>
        <p:spPr>
          <a:xfrm>
            <a:off x="822960" y="4114800"/>
            <a:ext cx="4952848" cy="804672"/>
          </a:xfrm>
          <a:prstGeom prst="roundRect">
            <a:avLst>
              <a:gd name="adj" fmla="val 15909"/>
            </a:avLst>
          </a:prstGeom>
          <a:solidFill>
            <a:srgbClr val="FFFFFF"/>
          </a:solidFill>
          <a:ln w="19050">
            <a:solidFill>
              <a:srgbClr val="BFD9CB"/>
            </a:solidFill>
            <a:prstDash val="dash"/>
          </a:ln>
        </p:spPr>
      </p:sp>
      <p:sp>
        <p:nvSpPr>
          <p:cNvPr id="22" name="anim-g5-568"/>
          <p:cNvSpPr/>
          <p:nvPr/>
        </p:nvSpPr>
        <p:spPr>
          <a:xfrm>
            <a:off x="822960" y="4114800"/>
            <a:ext cx="4952848" cy="804672"/>
          </a:xfrm>
          <a:prstGeom prst="rect">
            <a:avLst/>
          </a:prstGeom>
          <a:noFill/>
          <a:ln/>
        </p:spPr>
        <p:txBody>
          <a:bodyPr wrap="square" lIns="0" tIns="0" rIns="0" bIns="0" rtlCol="0" anchor="ctr">
            <a:normAutofit/>
          </a:bodyPr>
          <a:lstStyle/>
          <a:p>
            <a:pPr rtl="1" algn="ctr" indent="0" marL="0">
              <a:buNone/>
            </a:pPr>
            <a:r>
              <a:rPr lang="ar-SA" altLang="en-US" sz="1900" b="1" dirty="0">
                <a:solidFill>
                  <a:srgbClr val="8FB5A2"/>
                </a:solidFill>
                <a:latin typeface="Cairo" pitchFamily="34" charset="0"/>
                <a:ea typeface="Cairo" pitchFamily="34" charset="-122"/>
                <a:cs typeface="Cairo" pitchFamily="34" charset="-120"/>
              </a:rPr>
              <a:t>💬 ناقشوا… ما البديل؟</a:t>
            </a:r>
            <a:endParaRPr lang="ar-SA" sz="1900" dirty="0"/>
          </a:p>
        </p:txBody>
      </p:sp>
      <p:sp>
        <p:nvSpPr>
          <p:cNvPr id="23" name="anim-g6-569"/>
          <p:cNvSpPr/>
          <p:nvPr/>
        </p:nvSpPr>
        <p:spPr>
          <a:xfrm>
            <a:off x="5775808" y="4114800"/>
            <a:ext cx="640080" cy="804672"/>
          </a:xfrm>
          <a:prstGeom prst="rect">
            <a:avLst/>
          </a:prstGeom>
          <a:noFill/>
          <a:ln/>
        </p:spPr>
        <p:txBody>
          <a:bodyPr wrap="square" lIns="0" tIns="0" rIns="0" bIns="0" rtlCol="0" anchor="ctr">
            <a:normAutofit/>
          </a:bodyPr>
          <a:lstStyle/>
          <a:p>
            <a:pPr rtl="1" algn="ctr" indent="0" marL="0">
              <a:buNone/>
            </a:pPr>
            <a:r>
              <a:rPr lang="ar-SA" altLang="en-US" sz="2600" b="1" dirty="0">
                <a:solidFill>
                  <a:srgbClr val="B08A2E"/>
                </a:solidFill>
                <a:latin typeface="Cairo" pitchFamily="34" charset="0"/>
                <a:ea typeface="Cairo" pitchFamily="34" charset="-122"/>
                <a:cs typeface="Cairo" pitchFamily="34" charset="-120"/>
              </a:rPr>
              <a:t>←</a:t>
            </a:r>
            <a:endParaRPr lang="ar-SA" sz="2600" dirty="0"/>
          </a:p>
        </p:txBody>
      </p:sp>
      <p:sp>
        <p:nvSpPr>
          <p:cNvPr id="24" name="anim-g6-570"/>
          <p:cNvSpPr/>
          <p:nvPr/>
        </p:nvSpPr>
        <p:spPr>
          <a:xfrm>
            <a:off x="822960" y="4114800"/>
            <a:ext cx="4952848" cy="804672"/>
          </a:xfrm>
          <a:prstGeom prst="roundRect">
            <a:avLst>
              <a:gd name="adj" fmla="val 15909"/>
            </a:avLst>
          </a:prstGeom>
          <a:solidFill>
            <a:srgbClr val="E6F4EC"/>
          </a:solidFill>
          <a:ln/>
        </p:spPr>
      </p:sp>
      <p:sp>
        <p:nvSpPr>
          <p:cNvPr id="25" name="anim-g6-571"/>
          <p:cNvSpPr/>
          <p:nvPr/>
        </p:nvSpPr>
        <p:spPr>
          <a:xfrm>
            <a:off x="1051560" y="411480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1D5E40"/>
                </a:solidFill>
                <a:latin typeface="Cairo" pitchFamily="34" charset="0"/>
                <a:ea typeface="Cairo" pitchFamily="34" charset="-122"/>
                <a:cs typeface="Cairo" pitchFamily="34" charset="-120"/>
              </a:rPr>
              <a:t>محرك (حركة)</a:t>
            </a:r>
            <a:endParaRPr lang="ar-SA" sz="2200" dirty="0"/>
          </a:p>
        </p:txBody>
      </p:sp>
      <p:sp>
        <p:nvSpPr>
          <p:cNvPr id="26" name="anim-g7-572"/>
          <p:cNvSpPr/>
          <p:nvPr/>
        </p:nvSpPr>
        <p:spPr>
          <a:xfrm>
            <a:off x="6415888" y="5074920"/>
            <a:ext cx="4952848" cy="804672"/>
          </a:xfrm>
          <a:prstGeom prst="roundRect">
            <a:avLst>
              <a:gd name="adj" fmla="val 15909"/>
            </a:avLst>
          </a:prstGeom>
          <a:solidFill>
            <a:srgbClr val="FBECEC"/>
          </a:solidFill>
          <a:ln/>
        </p:spPr>
      </p:sp>
      <p:sp>
        <p:nvSpPr>
          <p:cNvPr id="27" name="anim-g7-573"/>
          <p:cNvSpPr/>
          <p:nvPr/>
        </p:nvSpPr>
        <p:spPr>
          <a:xfrm>
            <a:off x="6644488" y="507492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8E2A2A"/>
                </a:solidFill>
                <a:latin typeface="Cairo" pitchFamily="34" charset="0"/>
                <a:ea typeface="Cairo" pitchFamily="34" charset="-122"/>
                <a:cs typeface="Cairo" pitchFamily="34" charset="-120"/>
              </a:rPr>
              <a:t>حساس مسافة</a:t>
            </a:r>
            <a:endParaRPr lang="ar-SA" sz="2200" dirty="0"/>
          </a:p>
        </p:txBody>
      </p:sp>
      <p:sp>
        <p:nvSpPr>
          <p:cNvPr id="28" name="anim-g7-574"/>
          <p:cNvSpPr/>
          <p:nvPr/>
        </p:nvSpPr>
        <p:spPr>
          <a:xfrm>
            <a:off x="822960" y="5074920"/>
            <a:ext cx="4952848" cy="804672"/>
          </a:xfrm>
          <a:prstGeom prst="roundRect">
            <a:avLst>
              <a:gd name="adj" fmla="val 15909"/>
            </a:avLst>
          </a:prstGeom>
          <a:solidFill>
            <a:srgbClr val="FFFFFF"/>
          </a:solidFill>
          <a:ln w="19050">
            <a:solidFill>
              <a:srgbClr val="BFD9CB"/>
            </a:solidFill>
            <a:prstDash val="dash"/>
          </a:ln>
        </p:spPr>
      </p:sp>
      <p:sp>
        <p:nvSpPr>
          <p:cNvPr id="29" name="anim-g7-575"/>
          <p:cNvSpPr/>
          <p:nvPr/>
        </p:nvSpPr>
        <p:spPr>
          <a:xfrm>
            <a:off x="822960" y="5074920"/>
            <a:ext cx="4952848" cy="804672"/>
          </a:xfrm>
          <a:prstGeom prst="rect">
            <a:avLst/>
          </a:prstGeom>
          <a:noFill/>
          <a:ln/>
        </p:spPr>
        <p:txBody>
          <a:bodyPr wrap="square" lIns="0" tIns="0" rIns="0" bIns="0" rtlCol="0" anchor="ctr">
            <a:normAutofit/>
          </a:bodyPr>
          <a:lstStyle/>
          <a:p>
            <a:pPr rtl="1" algn="ctr" indent="0" marL="0">
              <a:buNone/>
            </a:pPr>
            <a:r>
              <a:rPr lang="ar-SA" altLang="en-US" sz="1900" b="1" dirty="0">
                <a:solidFill>
                  <a:srgbClr val="8FB5A2"/>
                </a:solidFill>
                <a:latin typeface="Cairo" pitchFamily="34" charset="0"/>
                <a:ea typeface="Cairo" pitchFamily="34" charset="-122"/>
                <a:cs typeface="Cairo" pitchFamily="34" charset="-120"/>
              </a:rPr>
              <a:t>💬 ناقشوا… ما البديل؟</a:t>
            </a:r>
            <a:endParaRPr lang="ar-SA" sz="1900" dirty="0"/>
          </a:p>
        </p:txBody>
      </p:sp>
      <p:sp>
        <p:nvSpPr>
          <p:cNvPr id="30" name="anim-g8-576"/>
          <p:cNvSpPr/>
          <p:nvPr/>
        </p:nvSpPr>
        <p:spPr>
          <a:xfrm>
            <a:off x="5775808" y="5074920"/>
            <a:ext cx="640080" cy="804672"/>
          </a:xfrm>
          <a:prstGeom prst="rect">
            <a:avLst/>
          </a:prstGeom>
          <a:noFill/>
          <a:ln/>
        </p:spPr>
        <p:txBody>
          <a:bodyPr wrap="square" lIns="0" tIns="0" rIns="0" bIns="0" rtlCol="0" anchor="ctr">
            <a:normAutofit/>
          </a:bodyPr>
          <a:lstStyle/>
          <a:p>
            <a:pPr rtl="1" algn="ctr" indent="0" marL="0">
              <a:buNone/>
            </a:pPr>
            <a:r>
              <a:rPr lang="ar-SA" altLang="en-US" sz="2600" b="1" dirty="0">
                <a:solidFill>
                  <a:srgbClr val="B08A2E"/>
                </a:solidFill>
                <a:latin typeface="Cairo" pitchFamily="34" charset="0"/>
                <a:ea typeface="Cairo" pitchFamily="34" charset="-122"/>
                <a:cs typeface="Cairo" pitchFamily="34" charset="-120"/>
              </a:rPr>
              <a:t>←</a:t>
            </a:r>
            <a:endParaRPr lang="ar-SA" sz="2600" dirty="0"/>
          </a:p>
        </p:txBody>
      </p:sp>
      <p:sp>
        <p:nvSpPr>
          <p:cNvPr id="31" name="anim-g8-577"/>
          <p:cNvSpPr/>
          <p:nvPr/>
        </p:nvSpPr>
        <p:spPr>
          <a:xfrm>
            <a:off x="822960" y="5074920"/>
            <a:ext cx="4952848" cy="804672"/>
          </a:xfrm>
          <a:prstGeom prst="roundRect">
            <a:avLst>
              <a:gd name="adj" fmla="val 15909"/>
            </a:avLst>
          </a:prstGeom>
          <a:solidFill>
            <a:srgbClr val="E6F4EC"/>
          </a:solidFill>
          <a:ln/>
        </p:spPr>
      </p:sp>
      <p:sp>
        <p:nvSpPr>
          <p:cNvPr id="32" name="anim-g8-578"/>
          <p:cNvSpPr/>
          <p:nvPr/>
        </p:nvSpPr>
        <p:spPr>
          <a:xfrm>
            <a:off x="1051560" y="5074920"/>
            <a:ext cx="4495648" cy="804672"/>
          </a:xfrm>
          <a:prstGeom prst="rect">
            <a:avLst/>
          </a:prstGeom>
          <a:noFill/>
          <a:ln/>
        </p:spPr>
        <p:txBody>
          <a:bodyPr wrap="square" lIns="0" tIns="0" rIns="0" bIns="0" rtlCol="0" anchor="ctr">
            <a:normAutofit/>
          </a:bodyPr>
          <a:lstStyle/>
          <a:p>
            <a:pPr rtl="1" algn="r" indent="0" marL="0">
              <a:buNone/>
            </a:pPr>
            <a:r>
              <a:rPr lang="ar-SA" altLang="en-US" sz="2200" b="1" dirty="0">
                <a:solidFill>
                  <a:srgbClr val="1D5E40"/>
                </a:solidFill>
                <a:latin typeface="Cairo" pitchFamily="34" charset="0"/>
                <a:ea typeface="Cairo" pitchFamily="34" charset="-122"/>
                <a:cs typeface="Cairo" pitchFamily="34" charset="-120"/>
              </a:rPr>
              <a:t>شاشة (عرض)</a:t>
            </a:r>
            <a:endParaRPr lang="ar-SA" sz="2200" dirty="0"/>
          </a:p>
        </p:txBody>
      </p:sp>
      <p:sp>
        <p:nvSpPr>
          <p:cNvPr id="33" name="Text 31"/>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الأردوينو للمعلمين</a:t>
            </a:r>
            <a:endParaRPr lang="ar-SA" sz="1200" dirty="0"/>
          </a:p>
        </p:txBody>
      </p:sp>
      <p:sp>
        <p:nvSpPr>
          <p:cNvPr id="34" name="Text 32"/>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المقاومة وقانون أوم  ·  ٧٤</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400"/>
                                        <p:tgtEl>
                                          <p:spTgt spid="1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400"/>
                                        <p:tgtEl>
                                          <p:spTgt spid="16"/>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fade">
                                      <p:cBhvr>
                                        <p:cTn id="57" dur="400"/>
                                        <p:tgtEl>
                                          <p:spTgt spid="19"/>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0"/>
                                        </p:tgtEl>
                                        <p:attrNameLst>
                                          <p:attrName>style.visibility</p:attrName>
                                        </p:attrNameLst>
                                      </p:cBhvr>
                                      <p:to>
                                        <p:strVal val="visible"/>
                                      </p:to>
                                    </p:set>
                                    <p:animEffect transition="in" filter="fade">
                                      <p:cBhvr>
                                        <p:cTn id="60" dur="400"/>
                                        <p:tgtEl>
                                          <p:spTgt spid="20"/>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400"/>
                                        <p:tgtEl>
                                          <p:spTgt spid="21"/>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400"/>
                                        <p:tgtEl>
                                          <p:spTgt spid="22"/>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23"/>
                                        </p:tgtEl>
                                        <p:attrNameLst>
                                          <p:attrName>style.visibility</p:attrName>
                                        </p:attrNameLst>
                                      </p:cBhvr>
                                      <p:to>
                                        <p:strVal val="visible"/>
                                      </p:to>
                                    </p:set>
                                    <p:animEffect transition="in" filter="fade">
                                      <p:cBhvr>
                                        <p:cTn id="71" dur="400"/>
                                        <p:tgtEl>
                                          <p:spTgt spid="23"/>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4"/>
                                        </p:tgtEl>
                                        <p:attrNameLst>
                                          <p:attrName>style.visibility</p:attrName>
                                        </p:attrNameLst>
                                      </p:cBhvr>
                                      <p:to>
                                        <p:strVal val="visible"/>
                                      </p:to>
                                    </p:set>
                                    <p:animEffect transition="in" filter="fade">
                                      <p:cBhvr>
                                        <p:cTn id="74" dur="400"/>
                                        <p:tgtEl>
                                          <p:spTgt spid="24"/>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5"/>
                                        </p:tgtEl>
                                        <p:attrNameLst>
                                          <p:attrName>style.visibility</p:attrName>
                                        </p:attrNameLst>
                                      </p:cBhvr>
                                      <p:to>
                                        <p:strVal val="visible"/>
                                      </p:to>
                                    </p:set>
                                    <p:animEffect transition="in" filter="fade">
                                      <p:cBhvr>
                                        <p:cTn id="77" dur="400"/>
                                        <p:tgtEl>
                                          <p:spTgt spid="25"/>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26"/>
                                        </p:tgtEl>
                                        <p:attrNameLst>
                                          <p:attrName>style.visibility</p:attrName>
                                        </p:attrNameLst>
                                      </p:cBhvr>
                                      <p:to>
                                        <p:strVal val="visible"/>
                                      </p:to>
                                    </p:set>
                                    <p:animEffect transition="in" filter="fade">
                                      <p:cBhvr>
                                        <p:cTn id="82" dur="400"/>
                                        <p:tgtEl>
                                          <p:spTgt spid="26"/>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27"/>
                                        </p:tgtEl>
                                        <p:attrNameLst>
                                          <p:attrName>style.visibility</p:attrName>
                                        </p:attrNameLst>
                                      </p:cBhvr>
                                      <p:to>
                                        <p:strVal val="visible"/>
                                      </p:to>
                                    </p:set>
                                    <p:animEffect transition="in" filter="fade">
                                      <p:cBhvr>
                                        <p:cTn id="85" dur="400"/>
                                        <p:tgtEl>
                                          <p:spTgt spid="27"/>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28"/>
                                        </p:tgtEl>
                                        <p:attrNameLst>
                                          <p:attrName>style.visibility</p:attrName>
                                        </p:attrNameLst>
                                      </p:cBhvr>
                                      <p:to>
                                        <p:strVal val="visible"/>
                                      </p:to>
                                    </p:set>
                                    <p:animEffect transition="in" filter="fade">
                                      <p:cBhvr>
                                        <p:cTn id="88" dur="400"/>
                                        <p:tgtEl>
                                          <p:spTgt spid="28"/>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29"/>
                                        </p:tgtEl>
                                        <p:attrNameLst>
                                          <p:attrName>style.visibility</p:attrName>
                                        </p:attrNameLst>
                                      </p:cBhvr>
                                      <p:to>
                                        <p:strVal val="visible"/>
                                      </p:to>
                                    </p:set>
                                    <p:animEffect transition="in" filter="fade">
                                      <p:cBhvr>
                                        <p:cTn id="91" dur="400"/>
                                        <p:tgtEl>
                                          <p:spTgt spid="29"/>
                                        </p:tgtEl>
                                      </p:cBhvr>
                                    </p:animEffect>
                                  </p:childTnLst>
                                </p:cTn>
                              </p:par>
                            </p:childTnLst>
                          </p:cTn>
                        </p:par>
                      </p:childTnLst>
                    </p:cTn>
                  </p:par>
                  <p:par>
                    <p:cTn id="92" fill="hold">
                      <p:stCondLst>
                        <p:cond delay="indefinite"/>
                      </p:stCondLst>
                      <p:childTnLst>
                        <p:par>
                          <p:cTn id="93" fill="hold">
                            <p:stCondLst>
                              <p:cond delay="0"/>
                            </p:stCondLst>
                            <p:childTnLst>
                              <p:par>
                                <p:cTn id="94" presetID="10" presetClass="entr" presetSubtype="0" fill="hold" grpId="0" nodeType="clickEffect">
                                  <p:stCondLst>
                                    <p:cond delay="0"/>
                                  </p:stCondLst>
                                  <p:childTnLst>
                                    <p:set>
                                      <p:cBhvr>
                                        <p:cTn id="95" dur="1" fill="hold">
                                          <p:stCondLst>
                                            <p:cond delay="0"/>
                                          </p:stCondLst>
                                        </p:cTn>
                                        <p:tgtEl>
                                          <p:spTgt spid="30"/>
                                        </p:tgtEl>
                                        <p:attrNameLst>
                                          <p:attrName>style.visibility</p:attrName>
                                        </p:attrNameLst>
                                      </p:cBhvr>
                                      <p:to>
                                        <p:strVal val="visible"/>
                                      </p:to>
                                    </p:set>
                                    <p:animEffect transition="in" filter="fade">
                                      <p:cBhvr>
                                        <p:cTn id="96" dur="400"/>
                                        <p:tgtEl>
                                          <p:spTgt spid="30"/>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31"/>
                                        </p:tgtEl>
                                        <p:attrNameLst>
                                          <p:attrName>style.visibility</p:attrName>
                                        </p:attrNameLst>
                                      </p:cBhvr>
                                      <p:to>
                                        <p:strVal val="visible"/>
                                      </p:to>
                                    </p:set>
                                    <p:animEffect transition="in" filter="fade">
                                      <p:cBhvr>
                                        <p:cTn id="99" dur="400"/>
                                        <p:tgtEl>
                                          <p:spTgt spid="31"/>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32"/>
                                        </p:tgtEl>
                                        <p:attrNameLst>
                                          <p:attrName>style.visibility</p:attrName>
                                        </p:attrNameLst>
                                      </p:cBhvr>
                                      <p:to>
                                        <p:strVal val="visible"/>
                                      </p:to>
                                    </p:set>
                                    <p:animEffect transition="in" filter="fade">
                                      <p:cBhvr>
                                        <p:cTn id="102"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pic>
        <p:nvPicPr>
          <p:cNvPr id="2" name="Image 0" descr="/Users/mac/Desktop/أردوينو/المشاريع والكتب/younes-training/arduino/.pptx-cache/s7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9613087" y="457200"/>
            <a:ext cx="1755648" cy="457200"/>
          </a:xfrm>
          <a:prstGeom prst="roundRect">
            <a:avLst>
              <a:gd name="adj" fmla="val 50000"/>
            </a:avLst>
          </a:prstGeom>
          <a:solidFill>
            <a:srgbClr val="F6EBCF"/>
          </a:solidFill>
          <a:ln/>
        </p:spPr>
      </p:sp>
      <p:sp>
        <p:nvSpPr>
          <p:cNvPr id="3" name="Text 1"/>
          <p:cNvSpPr/>
          <p:nvPr/>
        </p:nvSpPr>
        <p:spPr>
          <a:xfrm>
            <a:off x="9613087" y="457200"/>
            <a:ext cx="175564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الأسلاك</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ثلاثة أنواع لأسلاك التوصيل</a:t>
            </a:r>
            <a:endParaRPr lang="ar-SA" sz="3800" dirty="0"/>
          </a:p>
        </p:txBody>
      </p:sp>
      <p:sp>
        <p:nvSpPr>
          <p:cNvPr id="5" name="anim-g1-579"/>
          <p:cNvSpPr/>
          <p:nvPr/>
        </p:nvSpPr>
        <p:spPr>
          <a:xfrm>
            <a:off x="8036357" y="2148840"/>
            <a:ext cx="3332378" cy="35661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580"/>
          <p:cNvSpPr/>
          <p:nvPr/>
        </p:nvSpPr>
        <p:spPr>
          <a:xfrm>
            <a:off x="10362895" y="2404872"/>
            <a:ext cx="731520" cy="731520"/>
          </a:xfrm>
          <a:prstGeom prst="roundRect">
            <a:avLst>
              <a:gd name="adj" fmla="val 25000"/>
            </a:avLst>
          </a:prstGeom>
          <a:solidFill>
            <a:srgbClr val="F7E6BC"/>
          </a:solidFill>
          <a:ln/>
        </p:spPr>
      </p:sp>
      <p:sp>
        <p:nvSpPr>
          <p:cNvPr id="7" name="anim-g1-581"/>
          <p:cNvSpPr/>
          <p:nvPr/>
        </p:nvSpPr>
        <p:spPr>
          <a:xfrm>
            <a:off x="10362895"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8" name="anim-g1-582"/>
          <p:cNvSpPr/>
          <p:nvPr/>
        </p:nvSpPr>
        <p:spPr>
          <a:xfrm>
            <a:off x="8310677" y="3246120"/>
            <a:ext cx="2783738"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ذكر – ذكر</a:t>
            </a:r>
            <a:endParaRPr lang="ar-SA" sz="2300" dirty="0"/>
          </a:p>
        </p:txBody>
      </p:sp>
      <p:sp>
        <p:nvSpPr>
          <p:cNvPr id="9" name="anim-g1-583"/>
          <p:cNvSpPr/>
          <p:nvPr/>
        </p:nvSpPr>
        <p:spPr>
          <a:xfrm>
            <a:off x="8310677" y="3794760"/>
            <a:ext cx="2783738"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بين لوح التوصيل ومنافذ الأردوينو، وهي الأكثر استخدامًا</a:t>
            </a:r>
            <a:endParaRPr lang="ar-SA" sz="2100" dirty="0"/>
          </a:p>
        </p:txBody>
      </p:sp>
      <p:sp>
        <p:nvSpPr>
          <p:cNvPr id="10" name="anim-g2-584"/>
          <p:cNvSpPr/>
          <p:nvPr/>
        </p:nvSpPr>
        <p:spPr>
          <a:xfrm>
            <a:off x="4429658" y="2148840"/>
            <a:ext cx="3332378" cy="35661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585"/>
          <p:cNvSpPr/>
          <p:nvPr/>
        </p:nvSpPr>
        <p:spPr>
          <a:xfrm>
            <a:off x="6756197" y="2404872"/>
            <a:ext cx="731520" cy="731520"/>
          </a:xfrm>
          <a:prstGeom prst="roundRect">
            <a:avLst>
              <a:gd name="adj" fmla="val 25000"/>
            </a:avLst>
          </a:prstGeom>
          <a:solidFill>
            <a:srgbClr val="F7E6BC"/>
          </a:solidFill>
          <a:ln/>
        </p:spPr>
      </p:sp>
      <p:sp>
        <p:nvSpPr>
          <p:cNvPr id="12" name="anim-g2-586"/>
          <p:cNvSpPr/>
          <p:nvPr/>
        </p:nvSpPr>
        <p:spPr>
          <a:xfrm>
            <a:off x="6756197"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13" name="anim-g2-587"/>
          <p:cNvSpPr/>
          <p:nvPr/>
        </p:nvSpPr>
        <p:spPr>
          <a:xfrm>
            <a:off x="4703978" y="3246120"/>
            <a:ext cx="2783738"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ذكر – أنثى</a:t>
            </a:r>
            <a:endParaRPr lang="ar-SA" sz="2300" dirty="0"/>
          </a:p>
        </p:txBody>
      </p:sp>
      <p:sp>
        <p:nvSpPr>
          <p:cNvPr id="14" name="anim-g2-588"/>
          <p:cNvSpPr/>
          <p:nvPr/>
        </p:nvSpPr>
        <p:spPr>
          <a:xfrm>
            <a:off x="4703978" y="3794760"/>
            <a:ext cx="2783738"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لتوصيل الحساسات ذات الأطراف الإبرية</a:t>
            </a:r>
            <a:endParaRPr lang="ar-SA" sz="2100" dirty="0"/>
          </a:p>
        </p:txBody>
      </p:sp>
      <p:sp>
        <p:nvSpPr>
          <p:cNvPr id="15" name="anim-g3-589"/>
          <p:cNvSpPr/>
          <p:nvPr/>
        </p:nvSpPr>
        <p:spPr>
          <a:xfrm>
            <a:off x="822960" y="2148840"/>
            <a:ext cx="3332378" cy="35661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590"/>
          <p:cNvSpPr/>
          <p:nvPr/>
        </p:nvSpPr>
        <p:spPr>
          <a:xfrm>
            <a:off x="3149498" y="2404872"/>
            <a:ext cx="731520" cy="731520"/>
          </a:xfrm>
          <a:prstGeom prst="roundRect">
            <a:avLst>
              <a:gd name="adj" fmla="val 25000"/>
            </a:avLst>
          </a:prstGeom>
          <a:solidFill>
            <a:srgbClr val="F7E6BC"/>
          </a:solidFill>
          <a:ln/>
        </p:spPr>
      </p:sp>
      <p:sp>
        <p:nvSpPr>
          <p:cNvPr id="17" name="anim-g3-591"/>
          <p:cNvSpPr/>
          <p:nvPr/>
        </p:nvSpPr>
        <p:spPr>
          <a:xfrm>
            <a:off x="3149498"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18" name="anim-g3-592"/>
          <p:cNvSpPr/>
          <p:nvPr/>
        </p:nvSpPr>
        <p:spPr>
          <a:xfrm>
            <a:off x="1097280" y="3246120"/>
            <a:ext cx="2783738"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أنثى – أنثى</a:t>
            </a:r>
            <a:endParaRPr lang="ar-SA" sz="2300" dirty="0"/>
          </a:p>
        </p:txBody>
      </p:sp>
      <p:sp>
        <p:nvSpPr>
          <p:cNvPr id="19" name="anim-g3-593"/>
          <p:cNvSpPr/>
          <p:nvPr/>
        </p:nvSpPr>
        <p:spPr>
          <a:xfrm>
            <a:off x="1097280" y="3794760"/>
            <a:ext cx="2783738"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بين مكوّنين لهما أطراف إبرية</a:t>
            </a:r>
            <a:endParaRPr lang="ar-SA" sz="21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الأردوينو للمعلمين</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المقاومة وقانون أوم  ·  ٧٦</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pic>
        <p:nvPicPr>
          <p:cNvPr id="2" name="Image 0" descr="/Users/mac/Desktop/أردوينو/المشاريع والكتب/younes-training/arduino/.pptx-cache/s7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925416" y="1188720"/>
            <a:ext cx="2340864"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925416" y="1188720"/>
            <a:ext cx="2340864"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تشبيه الماء</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الجهد ضغط الماء، والتيار كمية الماء المتدفقة…</a:t>
            </a:r>
            <a:endParaRPr lang="ar-SA" sz="4400" dirty="0"/>
          </a:p>
          <a:p>
            <a:pPr algn="ctr" indent="0" marL="0">
              <a:lnSpc>
                <a:spcPct val="115000"/>
              </a:lnSpc>
              <a:buNone/>
            </a:pPr>
            <a:r>
              <a:rPr lang="ar-SA" altLang="en-US" sz="4400" dirty="0">
                <a:solidFill>
                  <a:srgbClr val="F0CC7A"/>
                </a:solidFill>
                <a:latin typeface="Cairo Black" pitchFamily="34" charset="0"/>
                <a:ea typeface="Cairo Black" pitchFamily="34" charset="-122"/>
                <a:cs typeface="Cairo Black" pitchFamily="34" charset="-120"/>
              </a:rPr>
              <a:t> والمقاومة ضيق الأنبوب</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الأردوينو للمعلمين</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المقاومة وقانون أوم  ·  ٧٨</a:t>
            </a:r>
            <a:endParaRPr lang="ar-SA" sz="12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9320479" y="457200"/>
            <a:ext cx="2048256" cy="457200"/>
          </a:xfrm>
          <a:prstGeom prst="roundRect">
            <a:avLst>
              <a:gd name="adj" fmla="val 50000"/>
            </a:avLst>
          </a:prstGeom>
          <a:solidFill>
            <a:srgbClr val="F6EBCF"/>
          </a:solidFill>
          <a:ln/>
        </p:spPr>
      </p:sp>
      <p:sp>
        <p:nvSpPr>
          <p:cNvPr id="3" name="Text 1"/>
          <p:cNvSpPr/>
          <p:nvPr/>
        </p:nvSpPr>
        <p:spPr>
          <a:xfrm>
            <a:off x="9320479" y="457200"/>
            <a:ext cx="204825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قانون أوم</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ثلاث صيغ لقانون واحد</a:t>
            </a:r>
            <a:endParaRPr lang="ar-SA" sz="3800" dirty="0"/>
          </a:p>
        </p:txBody>
      </p:sp>
      <p:sp>
        <p:nvSpPr>
          <p:cNvPr id="5" name="anim-g1-594"/>
          <p:cNvSpPr/>
          <p:nvPr/>
        </p:nvSpPr>
        <p:spPr>
          <a:xfrm>
            <a:off x="8036357" y="2148840"/>
            <a:ext cx="3332378" cy="35661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595"/>
          <p:cNvSpPr/>
          <p:nvPr/>
        </p:nvSpPr>
        <p:spPr>
          <a:xfrm>
            <a:off x="10362895" y="2404872"/>
            <a:ext cx="731520" cy="731520"/>
          </a:xfrm>
          <a:prstGeom prst="roundRect">
            <a:avLst>
              <a:gd name="adj" fmla="val 25000"/>
            </a:avLst>
          </a:prstGeom>
          <a:solidFill>
            <a:srgbClr val="F7E6BC"/>
          </a:solidFill>
          <a:ln/>
        </p:spPr>
      </p:sp>
      <p:sp>
        <p:nvSpPr>
          <p:cNvPr id="7" name="anim-g1-596"/>
          <p:cNvSpPr/>
          <p:nvPr/>
        </p:nvSpPr>
        <p:spPr>
          <a:xfrm>
            <a:off x="10362895"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8" name="anim-g1-597"/>
          <p:cNvSpPr/>
          <p:nvPr/>
        </p:nvSpPr>
        <p:spPr>
          <a:xfrm>
            <a:off x="8310677" y="3246120"/>
            <a:ext cx="2783738"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V = I × R</a:t>
            </a:r>
            <a:endParaRPr lang="ar-SA" sz="2300" dirty="0"/>
          </a:p>
        </p:txBody>
      </p:sp>
      <p:sp>
        <p:nvSpPr>
          <p:cNvPr id="9" name="anim-g1-598"/>
          <p:cNvSpPr/>
          <p:nvPr/>
        </p:nvSpPr>
        <p:spPr>
          <a:xfrm>
            <a:off x="8310677" y="3794760"/>
            <a:ext cx="2783738"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الجهد = التيار × المقاومة</a:t>
            </a:r>
            <a:endParaRPr lang="ar-SA" sz="2100" dirty="0"/>
          </a:p>
        </p:txBody>
      </p:sp>
      <p:sp>
        <p:nvSpPr>
          <p:cNvPr id="10" name="anim-g2-599"/>
          <p:cNvSpPr/>
          <p:nvPr/>
        </p:nvSpPr>
        <p:spPr>
          <a:xfrm>
            <a:off x="4429658" y="2148840"/>
            <a:ext cx="3332378" cy="35661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600"/>
          <p:cNvSpPr/>
          <p:nvPr/>
        </p:nvSpPr>
        <p:spPr>
          <a:xfrm>
            <a:off x="6756197" y="2404872"/>
            <a:ext cx="731520" cy="731520"/>
          </a:xfrm>
          <a:prstGeom prst="roundRect">
            <a:avLst>
              <a:gd name="adj" fmla="val 25000"/>
            </a:avLst>
          </a:prstGeom>
          <a:solidFill>
            <a:srgbClr val="F7E6BC"/>
          </a:solidFill>
          <a:ln/>
        </p:spPr>
      </p:sp>
      <p:sp>
        <p:nvSpPr>
          <p:cNvPr id="12" name="anim-g2-601"/>
          <p:cNvSpPr/>
          <p:nvPr/>
        </p:nvSpPr>
        <p:spPr>
          <a:xfrm>
            <a:off x="6756197"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13" name="anim-g2-602"/>
          <p:cNvSpPr/>
          <p:nvPr/>
        </p:nvSpPr>
        <p:spPr>
          <a:xfrm>
            <a:off x="4703978" y="3246120"/>
            <a:ext cx="2783738"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I = V ÷ R</a:t>
            </a:r>
            <a:endParaRPr lang="ar-SA" sz="2300" dirty="0"/>
          </a:p>
        </p:txBody>
      </p:sp>
      <p:sp>
        <p:nvSpPr>
          <p:cNvPr id="14" name="anim-g2-603"/>
          <p:cNvSpPr/>
          <p:nvPr/>
        </p:nvSpPr>
        <p:spPr>
          <a:xfrm>
            <a:off x="4703978" y="3794760"/>
            <a:ext cx="2783738"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التيار = الجهد ÷ المقاومة</a:t>
            </a:r>
            <a:endParaRPr lang="ar-SA" sz="2100" dirty="0"/>
          </a:p>
        </p:txBody>
      </p:sp>
      <p:sp>
        <p:nvSpPr>
          <p:cNvPr id="15" name="anim-g3-604"/>
          <p:cNvSpPr/>
          <p:nvPr/>
        </p:nvSpPr>
        <p:spPr>
          <a:xfrm>
            <a:off x="822960" y="2148840"/>
            <a:ext cx="3332378" cy="35661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605"/>
          <p:cNvSpPr/>
          <p:nvPr/>
        </p:nvSpPr>
        <p:spPr>
          <a:xfrm>
            <a:off x="3149498" y="2404872"/>
            <a:ext cx="731520" cy="731520"/>
          </a:xfrm>
          <a:prstGeom prst="roundRect">
            <a:avLst>
              <a:gd name="adj" fmla="val 25000"/>
            </a:avLst>
          </a:prstGeom>
          <a:solidFill>
            <a:srgbClr val="F7E6BC"/>
          </a:solidFill>
          <a:ln/>
        </p:spPr>
      </p:sp>
      <p:sp>
        <p:nvSpPr>
          <p:cNvPr id="17" name="anim-g3-606"/>
          <p:cNvSpPr/>
          <p:nvPr/>
        </p:nvSpPr>
        <p:spPr>
          <a:xfrm>
            <a:off x="3149498"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18" name="anim-g3-607"/>
          <p:cNvSpPr/>
          <p:nvPr/>
        </p:nvSpPr>
        <p:spPr>
          <a:xfrm>
            <a:off x="1097280" y="3246120"/>
            <a:ext cx="2783738"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R = V ÷ I</a:t>
            </a:r>
            <a:endParaRPr lang="ar-SA" sz="2300" dirty="0"/>
          </a:p>
        </p:txBody>
      </p:sp>
      <p:sp>
        <p:nvSpPr>
          <p:cNvPr id="19" name="anim-g3-608"/>
          <p:cNvSpPr/>
          <p:nvPr/>
        </p:nvSpPr>
        <p:spPr>
          <a:xfrm>
            <a:off x="1097280" y="3794760"/>
            <a:ext cx="2783738"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المقاومة = الجهد ÷ التيار</a:t>
            </a:r>
            <a:endParaRPr lang="ar-SA" sz="21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الأردوينو للمعلمين</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المقاومة وقانون أوم  ·  ٧٩</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pic>
        <p:nvPicPr>
          <p:cNvPr id="2" name="Image 0" descr="/Users/mac/Desktop/أردوينو/المشاريع والكتب/younes-training/arduino/.pptx-cache/s8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9174175" y="457200"/>
            <a:ext cx="2194560" cy="457200"/>
          </a:xfrm>
          <a:prstGeom prst="roundRect">
            <a:avLst>
              <a:gd name="adj" fmla="val 50000"/>
            </a:avLst>
          </a:prstGeom>
          <a:solidFill>
            <a:srgbClr val="F6EBCF"/>
          </a:solidFill>
          <a:ln/>
        </p:spPr>
      </p:sp>
      <p:sp>
        <p:nvSpPr>
          <p:cNvPr id="3" name="Text 1"/>
          <p:cNvSpPr/>
          <p:nvPr/>
        </p:nvSpPr>
        <p:spPr>
          <a:xfrm>
            <a:off x="9174175" y="457200"/>
            <a:ext cx="219456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مثال محلول</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كم مقاومة يحتاج ليد أحمر مع ٥ فولت؟</a:t>
            </a:r>
            <a:endParaRPr lang="ar-SA" sz="3200" dirty="0"/>
          </a:p>
        </p:txBody>
      </p:sp>
      <p:sp>
        <p:nvSpPr>
          <p:cNvPr id="5" name="anim-g1-609"/>
          <p:cNvSpPr/>
          <p:nvPr/>
        </p:nvSpPr>
        <p:spPr>
          <a:xfrm>
            <a:off x="822960" y="1920240"/>
            <a:ext cx="10545775" cy="946404"/>
          </a:xfrm>
          <a:prstGeom prst="roundRect">
            <a:avLst>
              <a:gd name="adj" fmla="val 15459"/>
            </a:avLst>
          </a:prstGeom>
          <a:solidFill>
            <a:srgbClr val="FFFFFF"/>
          </a:solidFill>
          <a:ln w="12700">
            <a:solidFill>
              <a:srgbClr val="E4DCC8"/>
            </a:solidFill>
            <a:prstDash val="solid"/>
          </a:ln>
        </p:spPr>
      </p:sp>
      <p:sp>
        <p:nvSpPr>
          <p:cNvPr id="6" name="anim-g1-610"/>
          <p:cNvSpPr/>
          <p:nvPr/>
        </p:nvSpPr>
        <p:spPr>
          <a:xfrm>
            <a:off x="10573207" y="2109978"/>
            <a:ext cx="566928" cy="566928"/>
          </a:xfrm>
          <a:prstGeom prst="ellipse">
            <a:avLst/>
          </a:prstGeom>
          <a:solidFill>
            <a:srgbClr val="D9AE4B"/>
          </a:solidFill>
          <a:ln/>
        </p:spPr>
      </p:sp>
      <p:sp>
        <p:nvSpPr>
          <p:cNvPr id="7" name="anim-g1-611"/>
          <p:cNvSpPr/>
          <p:nvPr/>
        </p:nvSpPr>
        <p:spPr>
          <a:xfrm>
            <a:off x="10573207" y="2109978"/>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١</a:t>
            </a:r>
            <a:endParaRPr lang="ar-SA" sz="2000" dirty="0"/>
          </a:p>
        </p:txBody>
      </p:sp>
      <p:sp>
        <p:nvSpPr>
          <p:cNvPr id="8" name="anim-g1-612"/>
          <p:cNvSpPr/>
          <p:nvPr/>
        </p:nvSpPr>
        <p:spPr>
          <a:xfrm>
            <a:off x="1097280" y="1920240"/>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الجهد على المقاومة = ٥ − ٢ = ٣ فولت</a:t>
            </a:r>
            <a:endParaRPr lang="ar-SA" sz="2400" dirty="0"/>
          </a:p>
          <a:p>
            <a:pPr algn="r" indent="0" marL="0">
              <a:buNone/>
            </a:pPr>
            <a:r>
              <a:rPr lang="ar-SA" altLang="en-US" sz="2000" b="1" dirty="0">
                <a:solidFill>
                  <a:srgbClr val="3B4460"/>
                </a:solidFill>
                <a:latin typeface="Cairo" pitchFamily="34" charset="0"/>
                <a:ea typeface="Cairo" pitchFamily="34" charset="-122"/>
                <a:cs typeface="Cairo" pitchFamily="34" charset="-120"/>
              </a:rPr>
              <a:t>نطرح جهد الليد من جهد المصدر</a:t>
            </a:r>
            <a:endParaRPr lang="ar-SA" sz="2400" dirty="0"/>
          </a:p>
        </p:txBody>
      </p:sp>
      <p:sp>
        <p:nvSpPr>
          <p:cNvPr id="9" name="anim-g2-613"/>
          <p:cNvSpPr/>
          <p:nvPr/>
        </p:nvSpPr>
        <p:spPr>
          <a:xfrm>
            <a:off x="822960" y="2976372"/>
            <a:ext cx="10545775" cy="946404"/>
          </a:xfrm>
          <a:prstGeom prst="roundRect">
            <a:avLst>
              <a:gd name="adj" fmla="val 15459"/>
            </a:avLst>
          </a:prstGeom>
          <a:solidFill>
            <a:srgbClr val="FFFFFF"/>
          </a:solidFill>
          <a:ln w="12700">
            <a:solidFill>
              <a:srgbClr val="E4DCC8"/>
            </a:solidFill>
            <a:prstDash val="solid"/>
          </a:ln>
        </p:spPr>
      </p:sp>
      <p:sp>
        <p:nvSpPr>
          <p:cNvPr id="10" name="anim-g2-614"/>
          <p:cNvSpPr/>
          <p:nvPr/>
        </p:nvSpPr>
        <p:spPr>
          <a:xfrm>
            <a:off x="10573207" y="3166110"/>
            <a:ext cx="566928" cy="566928"/>
          </a:xfrm>
          <a:prstGeom prst="ellipse">
            <a:avLst/>
          </a:prstGeom>
          <a:solidFill>
            <a:srgbClr val="D9AE4B"/>
          </a:solidFill>
          <a:ln/>
        </p:spPr>
      </p:sp>
      <p:sp>
        <p:nvSpPr>
          <p:cNvPr id="11" name="anim-g2-615"/>
          <p:cNvSpPr/>
          <p:nvPr/>
        </p:nvSpPr>
        <p:spPr>
          <a:xfrm>
            <a:off x="10573207" y="3166110"/>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٢</a:t>
            </a:r>
            <a:endParaRPr lang="ar-SA" sz="2000" dirty="0"/>
          </a:p>
        </p:txBody>
      </p:sp>
      <p:sp>
        <p:nvSpPr>
          <p:cNvPr id="12" name="anim-g2-616"/>
          <p:cNvSpPr/>
          <p:nvPr/>
        </p:nvSpPr>
        <p:spPr>
          <a:xfrm>
            <a:off x="1097280" y="2976372"/>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التيار المطلوب = ٠٫٠١٥ أمبير (١٥ مللي أمبير)</a:t>
            </a:r>
            <a:endParaRPr lang="ar-SA" sz="2400" dirty="0"/>
          </a:p>
          <a:p>
            <a:pPr algn="r" indent="0" marL="0">
              <a:buNone/>
            </a:pPr>
            <a:r>
              <a:rPr lang="ar-SA" altLang="en-US" sz="2000" b="1" dirty="0">
                <a:solidFill>
                  <a:srgbClr val="3B4460"/>
                </a:solidFill>
                <a:latin typeface="Cairo" pitchFamily="34" charset="0"/>
                <a:ea typeface="Cairo" pitchFamily="34" charset="-122"/>
                <a:cs typeface="Cairo" pitchFamily="34" charset="-120"/>
              </a:rPr>
              <a:t>أقل من الحد الأقصى ٢٠ بهامش أمان</a:t>
            </a:r>
            <a:endParaRPr lang="ar-SA" sz="2400" dirty="0"/>
          </a:p>
        </p:txBody>
      </p:sp>
      <p:sp>
        <p:nvSpPr>
          <p:cNvPr id="13" name="anim-g3-617"/>
          <p:cNvSpPr/>
          <p:nvPr/>
        </p:nvSpPr>
        <p:spPr>
          <a:xfrm>
            <a:off x="822960" y="4032504"/>
            <a:ext cx="10545775" cy="946404"/>
          </a:xfrm>
          <a:prstGeom prst="roundRect">
            <a:avLst>
              <a:gd name="adj" fmla="val 15459"/>
            </a:avLst>
          </a:prstGeom>
          <a:solidFill>
            <a:srgbClr val="FFFFFF"/>
          </a:solidFill>
          <a:ln w="12700">
            <a:solidFill>
              <a:srgbClr val="E4DCC8"/>
            </a:solidFill>
            <a:prstDash val="solid"/>
          </a:ln>
        </p:spPr>
      </p:sp>
      <p:sp>
        <p:nvSpPr>
          <p:cNvPr id="14" name="anim-g3-618"/>
          <p:cNvSpPr/>
          <p:nvPr/>
        </p:nvSpPr>
        <p:spPr>
          <a:xfrm>
            <a:off x="10573207" y="4222242"/>
            <a:ext cx="566928" cy="566928"/>
          </a:xfrm>
          <a:prstGeom prst="ellipse">
            <a:avLst/>
          </a:prstGeom>
          <a:solidFill>
            <a:srgbClr val="D9AE4B"/>
          </a:solidFill>
          <a:ln/>
        </p:spPr>
      </p:sp>
      <p:sp>
        <p:nvSpPr>
          <p:cNvPr id="15" name="anim-g3-619"/>
          <p:cNvSpPr/>
          <p:nvPr/>
        </p:nvSpPr>
        <p:spPr>
          <a:xfrm>
            <a:off x="10573207" y="4222242"/>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٣</a:t>
            </a:r>
            <a:endParaRPr lang="ar-SA" sz="2000" dirty="0"/>
          </a:p>
        </p:txBody>
      </p:sp>
      <p:sp>
        <p:nvSpPr>
          <p:cNvPr id="16" name="anim-g3-620"/>
          <p:cNvSpPr/>
          <p:nvPr/>
        </p:nvSpPr>
        <p:spPr>
          <a:xfrm>
            <a:off x="1097280" y="4032504"/>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R = ٣ ÷ ٠٫٠١٥ = ٢٠٠ أوم</a:t>
            </a:r>
            <a:endParaRPr lang="ar-SA" sz="2400" dirty="0"/>
          </a:p>
          <a:p>
            <a:pPr algn="r" indent="0" marL="0">
              <a:buNone/>
            </a:pPr>
            <a:r>
              <a:rPr lang="ar-SA" altLang="en-US" sz="2000" b="1" dirty="0">
                <a:solidFill>
                  <a:srgbClr val="3B4460"/>
                </a:solidFill>
                <a:latin typeface="Cairo" pitchFamily="34" charset="0"/>
                <a:ea typeface="Cairo" pitchFamily="34" charset="-122"/>
                <a:cs typeface="Cairo" pitchFamily="34" charset="-120"/>
              </a:rPr>
              <a:t>بقانون أوم</a:t>
            </a:r>
            <a:endParaRPr lang="ar-SA" sz="2400" dirty="0"/>
          </a:p>
        </p:txBody>
      </p:sp>
      <p:sp>
        <p:nvSpPr>
          <p:cNvPr id="17" name="anim-g4-621"/>
          <p:cNvSpPr/>
          <p:nvPr/>
        </p:nvSpPr>
        <p:spPr>
          <a:xfrm>
            <a:off x="822960" y="5088636"/>
            <a:ext cx="10545775" cy="946404"/>
          </a:xfrm>
          <a:prstGeom prst="roundRect">
            <a:avLst>
              <a:gd name="adj" fmla="val 15459"/>
            </a:avLst>
          </a:prstGeom>
          <a:solidFill>
            <a:srgbClr val="FFFFFF"/>
          </a:solidFill>
          <a:ln w="12700">
            <a:solidFill>
              <a:srgbClr val="E4DCC8"/>
            </a:solidFill>
            <a:prstDash val="solid"/>
          </a:ln>
        </p:spPr>
      </p:sp>
      <p:sp>
        <p:nvSpPr>
          <p:cNvPr id="18" name="anim-g4-622"/>
          <p:cNvSpPr/>
          <p:nvPr/>
        </p:nvSpPr>
        <p:spPr>
          <a:xfrm>
            <a:off x="10573207" y="5278374"/>
            <a:ext cx="566928" cy="566928"/>
          </a:xfrm>
          <a:prstGeom prst="ellipse">
            <a:avLst/>
          </a:prstGeom>
          <a:solidFill>
            <a:srgbClr val="D9AE4B"/>
          </a:solidFill>
          <a:ln/>
        </p:spPr>
      </p:sp>
      <p:sp>
        <p:nvSpPr>
          <p:cNvPr id="19" name="anim-g4-623"/>
          <p:cNvSpPr/>
          <p:nvPr/>
        </p:nvSpPr>
        <p:spPr>
          <a:xfrm>
            <a:off x="10573207" y="5278374"/>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٤</a:t>
            </a:r>
            <a:endParaRPr lang="ar-SA" sz="2000" dirty="0"/>
          </a:p>
        </p:txBody>
      </p:sp>
      <p:sp>
        <p:nvSpPr>
          <p:cNvPr id="20" name="anim-g4-624"/>
          <p:cNvSpPr/>
          <p:nvPr/>
        </p:nvSpPr>
        <p:spPr>
          <a:xfrm>
            <a:off x="1097280" y="5088636"/>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نختار أقرب قيمة متوفرة أكبر: ٢٢٠ أوم</a:t>
            </a:r>
            <a:endParaRPr lang="ar-SA" sz="2400" dirty="0"/>
          </a:p>
          <a:p>
            <a:pPr algn="r" indent="0" marL="0">
              <a:buNone/>
            </a:pPr>
            <a:r>
              <a:rPr lang="ar-SA" altLang="en-US" sz="2000" b="1" dirty="0">
                <a:solidFill>
                  <a:srgbClr val="3B4460"/>
                </a:solidFill>
                <a:latin typeface="Cairo" pitchFamily="34" charset="0"/>
                <a:ea typeface="Cairo" pitchFamily="34" charset="-122"/>
                <a:cs typeface="Cairo" pitchFamily="34" charset="-120"/>
              </a:rPr>
              <a:t>ولهذا نستخدم ٢٢٠ أوم في كل تجاربنا</a:t>
            </a:r>
            <a:endParaRPr lang="ar-SA" sz="2400" dirty="0"/>
          </a:p>
        </p:txBody>
      </p:sp>
      <p:sp>
        <p:nvSpPr>
          <p:cNvPr id="21" name="Text 19"/>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الأردوينو للمعلمين</a:t>
            </a:r>
            <a:endParaRPr lang="ar-SA" sz="1200" dirty="0"/>
          </a:p>
        </p:txBody>
      </p:sp>
      <p:sp>
        <p:nvSpPr>
          <p:cNvPr id="22" name="Text 20"/>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المقاومة وقانون أوم  ·  ٨١</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name="Slide 8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81567" y="457200"/>
            <a:ext cx="2487168" cy="457200"/>
          </a:xfrm>
          <a:prstGeom prst="roundRect">
            <a:avLst>
              <a:gd name="adj" fmla="val 50000"/>
            </a:avLst>
          </a:prstGeom>
          <a:solidFill>
            <a:srgbClr val="F6EBCF"/>
          </a:solidFill>
          <a:ln/>
        </p:spPr>
      </p:sp>
      <p:sp>
        <p:nvSpPr>
          <p:cNvPr id="3" name="Text 1"/>
          <p:cNvSpPr/>
          <p:nvPr/>
        </p:nvSpPr>
        <p:spPr>
          <a:xfrm>
            <a:off x="8881567" y="45720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اختبر نفسك</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أي مقاومة تختار لليد مع منفذ ٥ فولت؟</a:t>
            </a:r>
            <a:endParaRPr lang="ar-SA" sz="3200" dirty="0"/>
          </a:p>
        </p:txBody>
      </p:sp>
      <p:sp>
        <p:nvSpPr>
          <p:cNvPr id="5" name="Shape 3"/>
          <p:cNvSpPr/>
          <p:nvPr/>
        </p:nvSpPr>
        <p:spPr>
          <a:xfrm>
            <a:off x="822960" y="2057400"/>
            <a:ext cx="10545775" cy="1228344"/>
          </a:xfrm>
          <a:prstGeom prst="roundRect">
            <a:avLst>
              <a:gd name="adj" fmla="val 11911"/>
            </a:avLst>
          </a:prstGeom>
          <a:solidFill>
            <a:srgbClr val="FFFFFF"/>
          </a:solidFill>
          <a:ln w="19050">
            <a:solidFill>
              <a:srgbClr val="E4DCC8"/>
            </a:solidFill>
            <a:prstDash val="solid"/>
          </a:ln>
        </p:spPr>
      </p:sp>
      <p:sp>
        <p:nvSpPr>
          <p:cNvPr id="6" name="Shape 4"/>
          <p:cNvSpPr/>
          <p:nvPr/>
        </p:nvSpPr>
        <p:spPr>
          <a:xfrm>
            <a:off x="10231831" y="2194560"/>
            <a:ext cx="954024" cy="954024"/>
          </a:xfrm>
          <a:prstGeom prst="roundRect">
            <a:avLst>
              <a:gd name="adj" fmla="val 11502"/>
            </a:avLst>
          </a:prstGeom>
          <a:solidFill>
            <a:srgbClr val="101B45"/>
          </a:solidFill>
          <a:ln/>
        </p:spPr>
      </p:sp>
      <p:sp>
        <p:nvSpPr>
          <p:cNvPr id="7" name="Text 5"/>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8" name="Text 6"/>
          <p:cNvSpPr/>
          <p:nvPr/>
        </p:nvSpPr>
        <p:spPr>
          <a:xfrm>
            <a:off x="1097280" y="2057400"/>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١٠ أوم</a:t>
            </a:r>
            <a:endParaRPr lang="ar-SA" sz="2500" dirty="0"/>
          </a:p>
        </p:txBody>
      </p:sp>
      <p:sp>
        <p:nvSpPr>
          <p:cNvPr id="9" name="anim-g1-625"/>
          <p:cNvSpPr/>
          <p:nvPr/>
        </p:nvSpPr>
        <p:spPr>
          <a:xfrm>
            <a:off x="822960" y="2057400"/>
            <a:ext cx="10545775" cy="1228344"/>
          </a:xfrm>
          <a:prstGeom prst="roundRect">
            <a:avLst>
              <a:gd name="adj" fmla="val 11911"/>
            </a:avLst>
          </a:prstGeom>
          <a:solidFill>
            <a:srgbClr val="F7F7F9"/>
          </a:solidFill>
          <a:ln w="19050">
            <a:solidFill>
              <a:srgbClr val="E4DCC8"/>
            </a:solidFill>
            <a:prstDash val="solid"/>
          </a:ln>
        </p:spPr>
      </p:sp>
      <p:sp>
        <p:nvSpPr>
          <p:cNvPr id="10" name="anim-g1-626"/>
          <p:cNvSpPr/>
          <p:nvPr/>
        </p:nvSpPr>
        <p:spPr>
          <a:xfrm>
            <a:off x="10231831" y="2194560"/>
            <a:ext cx="954024" cy="954024"/>
          </a:xfrm>
          <a:prstGeom prst="roundRect">
            <a:avLst>
              <a:gd name="adj" fmla="val 11502"/>
            </a:avLst>
          </a:prstGeom>
          <a:solidFill>
            <a:srgbClr val="A3A9BA"/>
          </a:solidFill>
          <a:ln/>
        </p:spPr>
      </p:sp>
      <p:sp>
        <p:nvSpPr>
          <p:cNvPr id="11" name="anim-g1-627"/>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12" name="anim-g1-628"/>
          <p:cNvSpPr/>
          <p:nvPr/>
        </p:nvSpPr>
        <p:spPr>
          <a:xfrm>
            <a:off x="1097280" y="2093976"/>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١٠ أوم</a:t>
            </a:r>
            <a:endParaRPr lang="ar-SA" sz="2400" dirty="0"/>
          </a:p>
        </p:txBody>
      </p:sp>
      <p:sp>
        <p:nvSpPr>
          <p:cNvPr id="13" name="anim-g1-629"/>
          <p:cNvSpPr/>
          <p:nvPr/>
        </p:nvSpPr>
        <p:spPr>
          <a:xfrm>
            <a:off x="1097280" y="2720706"/>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التيار سيصل إلى ٣٠٠ مللي أمبير… فيحترق الليد فورًا</a:t>
            </a:r>
            <a:endParaRPr lang="ar-SA" sz="1800" dirty="0"/>
          </a:p>
        </p:txBody>
      </p:sp>
      <p:sp>
        <p:nvSpPr>
          <p:cNvPr id="14" name="Shape 12"/>
          <p:cNvSpPr/>
          <p:nvPr/>
        </p:nvSpPr>
        <p:spPr>
          <a:xfrm>
            <a:off x="822960" y="3432048"/>
            <a:ext cx="10545775" cy="1228344"/>
          </a:xfrm>
          <a:prstGeom prst="roundRect">
            <a:avLst>
              <a:gd name="adj" fmla="val 11911"/>
            </a:avLst>
          </a:prstGeom>
          <a:solidFill>
            <a:srgbClr val="FFFFFF"/>
          </a:solidFill>
          <a:ln w="19050">
            <a:solidFill>
              <a:srgbClr val="E4DCC8"/>
            </a:solidFill>
            <a:prstDash val="solid"/>
          </a:ln>
        </p:spPr>
      </p:sp>
      <p:sp>
        <p:nvSpPr>
          <p:cNvPr id="15" name="Shape 13"/>
          <p:cNvSpPr/>
          <p:nvPr/>
        </p:nvSpPr>
        <p:spPr>
          <a:xfrm>
            <a:off x="10231831" y="3569208"/>
            <a:ext cx="954024" cy="954024"/>
          </a:xfrm>
          <a:prstGeom prst="roundRect">
            <a:avLst>
              <a:gd name="adj" fmla="val 11502"/>
            </a:avLst>
          </a:prstGeom>
          <a:solidFill>
            <a:srgbClr val="101B45"/>
          </a:solidFill>
          <a:ln/>
        </p:spPr>
      </p:sp>
      <p:sp>
        <p:nvSpPr>
          <p:cNvPr id="16" name="Text 14"/>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17" name="Text 15"/>
          <p:cNvSpPr/>
          <p:nvPr/>
        </p:nvSpPr>
        <p:spPr>
          <a:xfrm>
            <a:off x="1097280" y="3432048"/>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٢٢٠ أوم</a:t>
            </a:r>
            <a:endParaRPr lang="ar-SA" sz="2500" dirty="0"/>
          </a:p>
        </p:txBody>
      </p:sp>
      <p:sp>
        <p:nvSpPr>
          <p:cNvPr id="18" name="anim-g1-630"/>
          <p:cNvSpPr/>
          <p:nvPr/>
        </p:nvSpPr>
        <p:spPr>
          <a:xfrm>
            <a:off x="822960" y="3432048"/>
            <a:ext cx="10545775" cy="1228344"/>
          </a:xfrm>
          <a:prstGeom prst="roundRect">
            <a:avLst>
              <a:gd name="adj" fmla="val 11911"/>
            </a:avLst>
          </a:prstGeom>
          <a:solidFill>
            <a:srgbClr val="E6F4EC"/>
          </a:solidFill>
          <a:ln w="31750">
            <a:solidFill>
              <a:srgbClr val="2E9E6B"/>
            </a:solidFill>
            <a:prstDash val="solid"/>
          </a:ln>
        </p:spPr>
      </p:sp>
      <p:sp>
        <p:nvSpPr>
          <p:cNvPr id="19" name="anim-g1-631"/>
          <p:cNvSpPr/>
          <p:nvPr/>
        </p:nvSpPr>
        <p:spPr>
          <a:xfrm>
            <a:off x="10231831" y="3569208"/>
            <a:ext cx="954024" cy="954024"/>
          </a:xfrm>
          <a:prstGeom prst="roundRect">
            <a:avLst>
              <a:gd name="adj" fmla="val 11502"/>
            </a:avLst>
          </a:prstGeom>
          <a:solidFill>
            <a:srgbClr val="2E9E6B"/>
          </a:solidFill>
          <a:ln/>
        </p:spPr>
      </p:sp>
      <p:sp>
        <p:nvSpPr>
          <p:cNvPr id="20" name="anim-g1-632"/>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a:t>
            </a:r>
            <a:endParaRPr lang="ar-SA" sz="2400" dirty="0"/>
          </a:p>
        </p:txBody>
      </p:sp>
      <p:sp>
        <p:nvSpPr>
          <p:cNvPr id="21" name="anim-g1-633"/>
          <p:cNvSpPr/>
          <p:nvPr/>
        </p:nvSpPr>
        <p:spPr>
          <a:xfrm>
            <a:off x="1097280" y="3468624"/>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131B34"/>
                </a:solidFill>
                <a:latin typeface="Cairo" pitchFamily="34" charset="0"/>
                <a:ea typeface="Cairo" pitchFamily="34" charset="-122"/>
                <a:cs typeface="Cairo" pitchFamily="34" charset="-120"/>
              </a:rPr>
              <a:t>٢٢٠ أوم</a:t>
            </a:r>
            <a:endParaRPr lang="ar-SA" sz="2400" dirty="0"/>
          </a:p>
        </p:txBody>
      </p:sp>
      <p:sp>
        <p:nvSpPr>
          <p:cNvPr id="22" name="anim-g1-634"/>
          <p:cNvSpPr/>
          <p:nvPr/>
        </p:nvSpPr>
        <p:spPr>
          <a:xfrm>
            <a:off x="1097280" y="4095354"/>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1D5E40"/>
                </a:solidFill>
                <a:latin typeface="Cairo" pitchFamily="34" charset="0"/>
                <a:ea typeface="Cairo" pitchFamily="34" charset="-122"/>
                <a:cs typeface="Cairo" pitchFamily="34" charset="-120"/>
              </a:rPr>
              <a:t>التيار حوالي ١٤ مللي أمبير: إضاءة جيدة وآمنة</a:t>
            </a:r>
            <a:endParaRPr lang="ar-SA" sz="1800" dirty="0"/>
          </a:p>
        </p:txBody>
      </p:sp>
      <p:sp>
        <p:nvSpPr>
          <p:cNvPr id="23" name="Shape 21"/>
          <p:cNvSpPr/>
          <p:nvPr/>
        </p:nvSpPr>
        <p:spPr>
          <a:xfrm>
            <a:off x="822960" y="4806696"/>
            <a:ext cx="10545775" cy="1228344"/>
          </a:xfrm>
          <a:prstGeom prst="roundRect">
            <a:avLst>
              <a:gd name="adj" fmla="val 11911"/>
            </a:avLst>
          </a:prstGeom>
          <a:solidFill>
            <a:srgbClr val="FFFFFF"/>
          </a:solidFill>
          <a:ln w="19050">
            <a:solidFill>
              <a:srgbClr val="E4DCC8"/>
            </a:solidFill>
            <a:prstDash val="solid"/>
          </a:ln>
        </p:spPr>
      </p:sp>
      <p:sp>
        <p:nvSpPr>
          <p:cNvPr id="24" name="Shape 22"/>
          <p:cNvSpPr/>
          <p:nvPr/>
        </p:nvSpPr>
        <p:spPr>
          <a:xfrm>
            <a:off x="10231831" y="4943856"/>
            <a:ext cx="954024" cy="954024"/>
          </a:xfrm>
          <a:prstGeom prst="roundRect">
            <a:avLst>
              <a:gd name="adj" fmla="val 11502"/>
            </a:avLst>
          </a:prstGeom>
          <a:solidFill>
            <a:srgbClr val="101B45"/>
          </a:solidFill>
          <a:ln/>
        </p:spPr>
      </p:sp>
      <p:sp>
        <p:nvSpPr>
          <p:cNvPr id="25" name="Text 23"/>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26" name="Text 24"/>
          <p:cNvSpPr/>
          <p:nvPr/>
        </p:nvSpPr>
        <p:spPr>
          <a:xfrm>
            <a:off x="1097280" y="4806696"/>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مليون أوم</a:t>
            </a:r>
            <a:endParaRPr lang="ar-SA" sz="2500" dirty="0"/>
          </a:p>
        </p:txBody>
      </p:sp>
      <p:sp>
        <p:nvSpPr>
          <p:cNvPr id="27" name="anim-g1-635"/>
          <p:cNvSpPr/>
          <p:nvPr/>
        </p:nvSpPr>
        <p:spPr>
          <a:xfrm>
            <a:off x="822960" y="4806696"/>
            <a:ext cx="10545775" cy="1228344"/>
          </a:xfrm>
          <a:prstGeom prst="roundRect">
            <a:avLst>
              <a:gd name="adj" fmla="val 11911"/>
            </a:avLst>
          </a:prstGeom>
          <a:solidFill>
            <a:srgbClr val="F7F7F9"/>
          </a:solidFill>
          <a:ln w="19050">
            <a:solidFill>
              <a:srgbClr val="E4DCC8"/>
            </a:solidFill>
            <a:prstDash val="solid"/>
          </a:ln>
        </p:spPr>
      </p:sp>
      <p:sp>
        <p:nvSpPr>
          <p:cNvPr id="28" name="anim-g1-636"/>
          <p:cNvSpPr/>
          <p:nvPr/>
        </p:nvSpPr>
        <p:spPr>
          <a:xfrm>
            <a:off x="10231831" y="4943856"/>
            <a:ext cx="954024" cy="954024"/>
          </a:xfrm>
          <a:prstGeom prst="roundRect">
            <a:avLst>
              <a:gd name="adj" fmla="val 11502"/>
            </a:avLst>
          </a:prstGeom>
          <a:solidFill>
            <a:srgbClr val="A3A9BA"/>
          </a:solidFill>
          <a:ln/>
        </p:spPr>
      </p:sp>
      <p:sp>
        <p:nvSpPr>
          <p:cNvPr id="29" name="anim-g1-637"/>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30" name="anim-g1-638"/>
          <p:cNvSpPr/>
          <p:nvPr/>
        </p:nvSpPr>
        <p:spPr>
          <a:xfrm>
            <a:off x="1097280" y="4843272"/>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مليون أوم</a:t>
            </a:r>
            <a:endParaRPr lang="ar-SA" sz="2400" dirty="0"/>
          </a:p>
        </p:txBody>
      </p:sp>
      <p:sp>
        <p:nvSpPr>
          <p:cNvPr id="31" name="anim-g1-639"/>
          <p:cNvSpPr/>
          <p:nvPr/>
        </p:nvSpPr>
        <p:spPr>
          <a:xfrm>
            <a:off x="1097280" y="5470002"/>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التيار ضعيف جدًا، فلن يضيء الليد تقريبًا</a:t>
            </a:r>
            <a:endParaRPr lang="ar-SA" sz="1800" dirty="0"/>
          </a:p>
        </p:txBody>
      </p:sp>
      <p:sp>
        <p:nvSpPr>
          <p:cNvPr id="32" name="Text 30"/>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الأردوينو للمعلمين</a:t>
            </a:r>
            <a:endParaRPr lang="ar-SA" sz="1200" dirty="0"/>
          </a:p>
        </p:txBody>
      </p:sp>
      <p:sp>
        <p:nvSpPr>
          <p:cNvPr id="33" name="Text 31"/>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المقاومة وقانون أوم  ·  ٨٢</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00"/>
                                        <p:tgtEl>
                                          <p:spTgt spid="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00"/>
                                        <p:tgtEl>
                                          <p:spTgt spid="2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400"/>
                                        <p:tgtEl>
                                          <p:spTgt spid="2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400"/>
                                        <p:tgtEl>
                                          <p:spTgt spid="3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fade">
                                      <p:cBhvr>
                                        <p:cTn id="4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8" grpId="0" animBg="1"/>
      <p:bldP spid="19" grpId="0" animBg="1"/>
      <p:bldP spid="20" grpId="0" animBg="1"/>
      <p:bldP spid="21" grpId="0" animBg="1"/>
      <p:bldP spid="22" grpId="0" animBg="1"/>
      <p:bldP spid="27" grpId="0" animBg="1"/>
      <p:bldP spid="28" grpId="0" animBg="1"/>
      <p:bldP spid="29" grpId="0" animBg="1"/>
      <p:bldP spid="30" grpId="0" animBg="1"/>
      <p:bldP spid="31"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pic>
        <p:nvPicPr>
          <p:cNvPr id="2" name="Image 0" descr="/Users/mac/Desktop/أردوينو/المشاريع والكتب/younes-training/arduino/.pptx-cache/s8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pic>
        <p:nvPicPr>
          <p:cNvPr id="2" name="Image 0" descr="/Users/mac/Desktop/أردوينو/المشاريع والكتب/younes-training/arduino/.pptx-cache/s8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852264" y="1188720"/>
            <a:ext cx="2487168"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852264" y="118872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خلاصة المحور</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رقم واحد في الحساب…</a:t>
            </a:r>
            <a:endParaRPr lang="ar-SA" sz="4400" dirty="0"/>
          </a:p>
          <a:p>
            <a:pPr algn="ctr" indent="0" marL="0">
              <a:lnSpc>
                <a:spcPct val="115000"/>
              </a:lnSpc>
              <a:buNone/>
            </a:pPr>
            <a:r>
              <a:rPr lang="ar-SA" altLang="en-US" sz="4400" dirty="0">
                <a:solidFill>
                  <a:srgbClr val="F0CC7A"/>
                </a:solidFill>
                <a:latin typeface="Cairo Black" pitchFamily="34" charset="0"/>
                <a:ea typeface="Cairo Black" pitchFamily="34" charset="-122"/>
                <a:cs typeface="Cairo Black" pitchFamily="34" charset="-120"/>
              </a:rPr>
              <a:t> يفرق بين ليد يضيء وليد يحترق</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الأردوينو للمعلمين</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المقاومة وقانون أوم  ·  ٨٥</a:t>
            </a:r>
            <a:endParaRPr lang="ar-SA" sz="12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97280" y="2103120"/>
            <a:ext cx="2651760" cy="2651760"/>
          </a:xfrm>
          <a:prstGeom prst="ellipse">
            <a:avLst/>
          </a:prstGeom>
          <a:solidFill>
            <a:srgbClr val="D9AE4B">
              <a:alpha val="12000"/>
            </a:srgbClr>
          </a:solidFill>
          <a:ln w="63500">
            <a:solidFill>
              <a:srgbClr val="D9AE4B">
                <a:alpha val="60000"/>
              </a:srgbClr>
            </a:solidFill>
            <a:prstDash val="solid"/>
          </a:ln>
        </p:spPr>
      </p:sp>
      <p:sp>
        <p:nvSpPr>
          <p:cNvPr id="3" name="Text 1"/>
          <p:cNvSpPr/>
          <p:nvPr/>
        </p:nvSpPr>
        <p:spPr>
          <a:xfrm>
            <a:off x="1097280" y="2103120"/>
            <a:ext cx="2651760" cy="2651760"/>
          </a:xfrm>
          <a:prstGeom prst="rect">
            <a:avLst/>
          </a:prstGeom>
          <a:noFill/>
          <a:ln/>
        </p:spPr>
        <p:txBody>
          <a:bodyPr wrap="square" lIns="0" tIns="0" rIns="0" bIns="0" rtlCol="0" anchor="ctr">
            <a:normAutofit/>
          </a:bodyPr>
          <a:lstStyle/>
          <a:p>
            <a:pPr rtl="1" algn="ctr" indent="0" marL="0">
              <a:buNone/>
            </a:pPr>
            <a:r>
              <a:rPr lang="ar-SA" altLang="en-US" sz="12000" dirty="0">
                <a:solidFill>
                  <a:srgbClr val="F0CC7A"/>
                </a:solidFill>
                <a:latin typeface="Cairo Black" pitchFamily="34" charset="0"/>
                <a:ea typeface="Cairo Black" pitchFamily="34" charset="-122"/>
                <a:cs typeface="Cairo Black" pitchFamily="34" charset="-120"/>
              </a:rPr>
              <a:t>٧</a:t>
            </a:r>
            <a:endParaRPr lang="ar-SA" sz="12000" dirty="0"/>
          </a:p>
        </p:txBody>
      </p:sp>
      <p:sp>
        <p:nvSpPr>
          <p:cNvPr id="4" name="Text 2"/>
          <p:cNvSpPr/>
          <p:nvPr/>
        </p:nvSpPr>
        <p:spPr>
          <a:xfrm>
            <a:off x="4206240" y="1828800"/>
            <a:ext cx="7162495" cy="457200"/>
          </a:xfrm>
          <a:prstGeom prst="rect">
            <a:avLst/>
          </a:prstGeom>
          <a:noFill/>
          <a:ln/>
        </p:spPr>
        <p:txBody>
          <a:bodyPr wrap="square" lIns="0" tIns="0" rIns="0" bIns="0" rtlCol="0" anchor="ctr">
            <a:normAutofit/>
          </a:bodyPr>
          <a:lstStyle/>
          <a:p>
            <a:pPr rtl="1" algn="r" indent="0" marL="0">
              <a:buNone/>
            </a:pPr>
            <a:r>
              <a:rPr lang="ar-SA" altLang="en-US" sz="2000" b="1" dirty="0">
                <a:solidFill>
                  <a:srgbClr val="D9AE4B"/>
                </a:solidFill>
                <a:latin typeface="Cairo" pitchFamily="34" charset="0"/>
                <a:ea typeface="Cairo" pitchFamily="34" charset="-122"/>
                <a:cs typeface="Cairo" pitchFamily="34" charset="-120"/>
              </a:rPr>
              <a:t>المحور ٧</a:t>
            </a:r>
            <a:endParaRPr lang="ar-SA" sz="2000" dirty="0"/>
          </a:p>
        </p:txBody>
      </p:sp>
      <p:sp>
        <p:nvSpPr>
          <p:cNvPr id="5" name="Text 3"/>
          <p:cNvSpPr/>
          <p:nvPr/>
        </p:nvSpPr>
        <p:spPr>
          <a:xfrm>
            <a:off x="4206240" y="2286000"/>
            <a:ext cx="7162495" cy="1371600"/>
          </a:xfrm>
          <a:prstGeom prst="rect">
            <a:avLst/>
          </a:prstGeom>
          <a:noFill/>
          <a:ln/>
        </p:spPr>
        <p:txBody>
          <a:bodyPr wrap="square" lIns="0" tIns="0" rIns="0" bIns="0" rtlCol="0" anchor="ctr">
            <a:normAutofit/>
          </a:bodyPr>
          <a:lstStyle/>
          <a:p>
            <a:pPr rtl="1" algn="r" indent="0" marL="0">
              <a:buNone/>
            </a:pPr>
            <a:r>
              <a:rPr lang="ar-SA" altLang="en-US" sz="5600" dirty="0">
                <a:solidFill>
                  <a:srgbClr val="FFFFFF"/>
                </a:solidFill>
                <a:latin typeface="Cairo Black" pitchFamily="34" charset="0"/>
                <a:ea typeface="Cairo Black" pitchFamily="34" charset="-122"/>
                <a:cs typeface="Cairo Black" pitchFamily="34" charset="-120"/>
              </a:rPr>
              <a:t>أول برنامج: الوميض</a:t>
            </a:r>
            <a:endParaRPr lang="ar-SA" sz="5600" dirty="0"/>
          </a:p>
        </p:txBody>
      </p:sp>
      <p:sp>
        <p:nvSpPr>
          <p:cNvPr id="6" name="Text 4"/>
          <p:cNvSpPr/>
          <p:nvPr/>
        </p:nvSpPr>
        <p:spPr>
          <a:xfrm>
            <a:off x="4206240" y="3749040"/>
            <a:ext cx="7162495" cy="822960"/>
          </a:xfrm>
          <a:prstGeom prst="rect">
            <a:avLst/>
          </a:prstGeom>
          <a:noFill/>
          <a:ln/>
        </p:spPr>
        <p:txBody>
          <a:bodyPr wrap="square" lIns="0" tIns="0" rIns="0" bIns="0" rtlCol="0" anchor="ctr">
            <a:normAutofit/>
          </a:bodyPr>
          <a:lstStyle/>
          <a:p>
            <a:pPr rtl="1" algn="r" indent="0" marL="0">
              <a:buNone/>
            </a:pPr>
            <a:r>
              <a:rPr lang="ar-SA" altLang="en-US" sz="2200" b="1" dirty="0">
                <a:solidFill>
                  <a:srgbClr val="C9CFE6"/>
                </a:solidFill>
                <a:latin typeface="Cairo" pitchFamily="34" charset="0"/>
                <a:ea typeface="Cairo" pitchFamily="34" charset="-122"/>
                <a:cs typeface="Cairo" pitchFamily="34" charset="-120"/>
              </a:rPr>
              <a:t>ثلاثة أوامر فقط… تكفي لتجعل الأردوينو يتكلم بالضوء</a:t>
            </a:r>
            <a:endParaRPr lang="ar-SA" sz="2200" dirty="0"/>
          </a:p>
        </p:txBody>
      </p:sp>
      <p:sp>
        <p:nvSpPr>
          <p:cNvPr id="7" name="Text 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الأردوينو للمعلمين</a:t>
            </a:r>
            <a:endParaRPr lang="ar-SA" sz="1200" dirty="0"/>
          </a:p>
        </p:txBody>
      </p:sp>
      <p:sp>
        <p:nvSpPr>
          <p:cNvPr id="8" name="Text 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أول برنامج: الوميض  ·  ٨٦</a:t>
            </a:r>
            <a:endParaRPr lang="ar-SA" sz="12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248095" y="457200"/>
            <a:ext cx="5120640" cy="457200"/>
          </a:xfrm>
          <a:prstGeom prst="roundRect">
            <a:avLst>
              <a:gd name="adj" fmla="val 50000"/>
            </a:avLst>
          </a:prstGeom>
          <a:solidFill>
            <a:srgbClr val="F6EBCF"/>
          </a:solidFill>
          <a:ln/>
        </p:spPr>
      </p:sp>
      <p:sp>
        <p:nvSpPr>
          <p:cNvPr id="3" name="Text 1"/>
          <p:cNvSpPr/>
          <p:nvPr/>
        </p:nvSpPr>
        <p:spPr>
          <a:xfrm>
            <a:off x="6248095" y="457200"/>
            <a:ext cx="512064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بنهاية هذا المحور تستطيع أن</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أهداف المحور</a:t>
            </a:r>
            <a:endParaRPr lang="ar-SA" sz="3800" dirty="0"/>
          </a:p>
        </p:txBody>
      </p:sp>
      <p:sp>
        <p:nvSpPr>
          <p:cNvPr id="5" name="anim-g1-640"/>
          <p:cNvSpPr/>
          <p:nvPr/>
        </p:nvSpPr>
        <p:spPr>
          <a:xfrm>
            <a:off x="822960" y="1920240"/>
            <a:ext cx="10545775" cy="946404"/>
          </a:xfrm>
          <a:prstGeom prst="roundRect">
            <a:avLst>
              <a:gd name="adj" fmla="val 15459"/>
            </a:avLst>
          </a:prstGeom>
          <a:solidFill>
            <a:srgbClr val="FFFFFF"/>
          </a:solidFill>
          <a:ln w="12700">
            <a:solidFill>
              <a:srgbClr val="E4DCC8"/>
            </a:solidFill>
            <a:prstDash val="solid"/>
          </a:ln>
        </p:spPr>
      </p:sp>
      <p:sp>
        <p:nvSpPr>
          <p:cNvPr id="6" name="anim-g1-641"/>
          <p:cNvSpPr/>
          <p:nvPr/>
        </p:nvSpPr>
        <p:spPr>
          <a:xfrm>
            <a:off x="10573207" y="2109978"/>
            <a:ext cx="566928" cy="566928"/>
          </a:xfrm>
          <a:prstGeom prst="ellipse">
            <a:avLst/>
          </a:prstGeom>
          <a:solidFill>
            <a:srgbClr val="D9AE4B"/>
          </a:solidFill>
          <a:ln/>
        </p:spPr>
      </p:sp>
      <p:sp>
        <p:nvSpPr>
          <p:cNvPr id="7" name="anim-g1-642"/>
          <p:cNvSpPr/>
          <p:nvPr/>
        </p:nvSpPr>
        <p:spPr>
          <a:xfrm>
            <a:off x="10573207" y="2109978"/>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١</a:t>
            </a:r>
            <a:endParaRPr lang="ar-SA" sz="2000" dirty="0"/>
          </a:p>
        </p:txBody>
      </p:sp>
      <p:sp>
        <p:nvSpPr>
          <p:cNvPr id="8" name="anim-g1-643"/>
          <p:cNvSpPr/>
          <p:nvPr/>
        </p:nvSpPr>
        <p:spPr>
          <a:xfrm>
            <a:off x="1097280" y="1920240"/>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تكتب الأوامر الأساسية بصيغتها الصحيحة</a:t>
            </a:r>
            <a:endParaRPr lang="ar-SA" sz="2400" dirty="0"/>
          </a:p>
        </p:txBody>
      </p:sp>
      <p:sp>
        <p:nvSpPr>
          <p:cNvPr id="9" name="anim-g2-644"/>
          <p:cNvSpPr/>
          <p:nvPr/>
        </p:nvSpPr>
        <p:spPr>
          <a:xfrm>
            <a:off x="822960" y="2976372"/>
            <a:ext cx="10545775" cy="946404"/>
          </a:xfrm>
          <a:prstGeom prst="roundRect">
            <a:avLst>
              <a:gd name="adj" fmla="val 15459"/>
            </a:avLst>
          </a:prstGeom>
          <a:solidFill>
            <a:srgbClr val="FFFFFF"/>
          </a:solidFill>
          <a:ln w="12700">
            <a:solidFill>
              <a:srgbClr val="E4DCC8"/>
            </a:solidFill>
            <a:prstDash val="solid"/>
          </a:ln>
        </p:spPr>
      </p:sp>
      <p:sp>
        <p:nvSpPr>
          <p:cNvPr id="10" name="anim-g2-645"/>
          <p:cNvSpPr/>
          <p:nvPr/>
        </p:nvSpPr>
        <p:spPr>
          <a:xfrm>
            <a:off x="10573207" y="3166110"/>
            <a:ext cx="566928" cy="566928"/>
          </a:xfrm>
          <a:prstGeom prst="ellipse">
            <a:avLst/>
          </a:prstGeom>
          <a:solidFill>
            <a:srgbClr val="D9AE4B"/>
          </a:solidFill>
          <a:ln/>
        </p:spPr>
      </p:sp>
      <p:sp>
        <p:nvSpPr>
          <p:cNvPr id="11" name="anim-g2-646"/>
          <p:cNvSpPr/>
          <p:nvPr/>
        </p:nvSpPr>
        <p:spPr>
          <a:xfrm>
            <a:off x="10573207" y="3166110"/>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٢</a:t>
            </a:r>
            <a:endParaRPr lang="ar-SA" sz="2000" dirty="0"/>
          </a:p>
        </p:txBody>
      </p:sp>
      <p:sp>
        <p:nvSpPr>
          <p:cNvPr id="12" name="anim-g2-647"/>
          <p:cNvSpPr/>
          <p:nvPr/>
        </p:nvSpPr>
        <p:spPr>
          <a:xfrm>
            <a:off x="1097280" y="2976372"/>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تكتشف الأخطاء الشائعة في كتابة الكود</a:t>
            </a:r>
            <a:endParaRPr lang="ar-SA" sz="2400" dirty="0"/>
          </a:p>
        </p:txBody>
      </p:sp>
      <p:sp>
        <p:nvSpPr>
          <p:cNvPr id="13" name="anim-g3-648"/>
          <p:cNvSpPr/>
          <p:nvPr/>
        </p:nvSpPr>
        <p:spPr>
          <a:xfrm>
            <a:off x="822960" y="4032504"/>
            <a:ext cx="10545775" cy="946404"/>
          </a:xfrm>
          <a:prstGeom prst="roundRect">
            <a:avLst>
              <a:gd name="adj" fmla="val 15459"/>
            </a:avLst>
          </a:prstGeom>
          <a:solidFill>
            <a:srgbClr val="FFFFFF"/>
          </a:solidFill>
          <a:ln w="12700">
            <a:solidFill>
              <a:srgbClr val="E4DCC8"/>
            </a:solidFill>
            <a:prstDash val="solid"/>
          </a:ln>
        </p:spPr>
      </p:sp>
      <p:sp>
        <p:nvSpPr>
          <p:cNvPr id="14" name="anim-g3-649"/>
          <p:cNvSpPr/>
          <p:nvPr/>
        </p:nvSpPr>
        <p:spPr>
          <a:xfrm>
            <a:off x="10573207" y="4222242"/>
            <a:ext cx="566928" cy="566928"/>
          </a:xfrm>
          <a:prstGeom prst="ellipse">
            <a:avLst/>
          </a:prstGeom>
          <a:solidFill>
            <a:srgbClr val="D9AE4B"/>
          </a:solidFill>
          <a:ln/>
        </p:spPr>
      </p:sp>
      <p:sp>
        <p:nvSpPr>
          <p:cNvPr id="15" name="anim-g3-650"/>
          <p:cNvSpPr/>
          <p:nvPr/>
        </p:nvSpPr>
        <p:spPr>
          <a:xfrm>
            <a:off x="10573207" y="4222242"/>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٣</a:t>
            </a:r>
            <a:endParaRPr lang="ar-SA" sz="2000" dirty="0"/>
          </a:p>
        </p:txBody>
      </p:sp>
      <p:sp>
        <p:nvSpPr>
          <p:cNvPr id="16" name="anim-g3-651"/>
          <p:cNvSpPr/>
          <p:nvPr/>
        </p:nvSpPr>
        <p:spPr>
          <a:xfrm>
            <a:off x="1097280" y="4032504"/>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تبني مشروع الوميض وتشغّله في Tinkercad</a:t>
            </a:r>
            <a:endParaRPr lang="ar-SA" sz="2400" dirty="0"/>
          </a:p>
        </p:txBody>
      </p:sp>
      <p:sp>
        <p:nvSpPr>
          <p:cNvPr id="17" name="anim-g4-652"/>
          <p:cNvSpPr/>
          <p:nvPr/>
        </p:nvSpPr>
        <p:spPr>
          <a:xfrm>
            <a:off x="822960" y="5088636"/>
            <a:ext cx="10545775" cy="946404"/>
          </a:xfrm>
          <a:prstGeom prst="roundRect">
            <a:avLst>
              <a:gd name="adj" fmla="val 15459"/>
            </a:avLst>
          </a:prstGeom>
          <a:solidFill>
            <a:srgbClr val="FFFFFF"/>
          </a:solidFill>
          <a:ln w="12700">
            <a:solidFill>
              <a:srgbClr val="E4DCC8"/>
            </a:solidFill>
            <a:prstDash val="solid"/>
          </a:ln>
        </p:spPr>
      </p:sp>
      <p:sp>
        <p:nvSpPr>
          <p:cNvPr id="18" name="anim-g4-653"/>
          <p:cNvSpPr/>
          <p:nvPr/>
        </p:nvSpPr>
        <p:spPr>
          <a:xfrm>
            <a:off x="10573207" y="5278374"/>
            <a:ext cx="566928" cy="566928"/>
          </a:xfrm>
          <a:prstGeom prst="ellipse">
            <a:avLst/>
          </a:prstGeom>
          <a:solidFill>
            <a:srgbClr val="D9AE4B"/>
          </a:solidFill>
          <a:ln/>
        </p:spPr>
      </p:sp>
      <p:sp>
        <p:nvSpPr>
          <p:cNvPr id="19" name="anim-g4-654"/>
          <p:cNvSpPr/>
          <p:nvPr/>
        </p:nvSpPr>
        <p:spPr>
          <a:xfrm>
            <a:off x="10573207" y="5278374"/>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٤</a:t>
            </a:r>
            <a:endParaRPr lang="ar-SA" sz="2000" dirty="0"/>
          </a:p>
        </p:txBody>
      </p:sp>
      <p:sp>
        <p:nvSpPr>
          <p:cNvPr id="20" name="anim-g4-655"/>
          <p:cNvSpPr/>
          <p:nvPr/>
        </p:nvSpPr>
        <p:spPr>
          <a:xfrm>
            <a:off x="1097280" y="5088636"/>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تشخّص أعطال الدائرة بنفسك</a:t>
            </a:r>
            <a:endParaRPr lang="ar-SA" sz="2400" dirty="0"/>
          </a:p>
        </p:txBody>
      </p:sp>
      <p:sp>
        <p:nvSpPr>
          <p:cNvPr id="21" name="Text 19"/>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الأردوينو للمعلمين</a:t>
            </a:r>
            <a:endParaRPr lang="ar-SA" sz="1200" dirty="0"/>
          </a:p>
        </p:txBody>
      </p:sp>
      <p:sp>
        <p:nvSpPr>
          <p:cNvPr id="22" name="Text 20"/>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أول برنامج: الوميض  ·  ٨٧</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pic>
        <p:nvPicPr>
          <p:cNvPr id="2" name="Image 0" descr="/Users/mac/Desktop/أردوينو/المشاريع والكتب/younes-training/arduino/.pptx-cache/s88-0.jpg">    </p:cNvPr>
          <p:cNvPicPr>
            <a:picLocks noChangeAspect="1"/>
          </p:cNvPicPr>
          <p:nvPr/>
        </p:nvPicPr>
        <p:blipFill>
          <a:blip r:embed="rId1"/>
          <a:stretch>
            <a:fillRect/>
          </a:stretch>
        </p:blipFill>
        <p:spPr>
          <a:xfrm>
            <a:off x="0" y="0"/>
            <a:ext cx="12191695" cy="6858000"/>
          </a:xfrm>
          <a:prstGeom prst="rect">
            <a:avLst/>
          </a:prstGeom>
        </p:spPr>
      </p:pic>
      <p:pic>
        <p:nvPicPr>
          <p:cNvPr id="3" name="anim-g1-656" descr="/Users/mac/Desktop/أردوينو/المشاريع والكتب/younes-training/arduino/.pptx-cache/s88-1.jpg">    </p:cNvPr>
          <p:cNvPicPr>
            <a:picLocks noChangeAspect="1"/>
          </p:cNvPicPr>
          <p:nvPr/>
        </p:nvPicPr>
        <p:blipFill>
          <a:blip r:embed="rId2"/>
          <a:stretch>
            <a:fillRect/>
          </a:stretch>
        </p:blipFill>
        <p:spPr>
          <a:xfrm>
            <a:off x="0" y="0"/>
            <a:ext cx="12191695" cy="6858000"/>
          </a:xfrm>
          <a:prstGeom prst="rect">
            <a:avLst/>
          </a:prstGeom>
        </p:spPr>
      </p:pic>
      <p:pic>
        <p:nvPicPr>
          <p:cNvPr id="4" name="anim-g2-657" descr="/Users/mac/Desktop/أردوينو/المشاريع والكتب/younes-training/arduino/.pptx-cache/s88-2.jpg">    </p:cNvPr>
          <p:cNvPicPr>
            <a:picLocks noChangeAspect="1"/>
          </p:cNvPicPr>
          <p:nvPr/>
        </p:nvPicPr>
        <p:blipFill>
          <a:blip r:embed="rId3"/>
          <a:stretch>
            <a:fillRect/>
          </a:stretch>
        </p:blipFill>
        <p:spPr>
          <a:xfrm>
            <a:off x="0" y="0"/>
            <a:ext cx="12191695" cy="6858000"/>
          </a:xfrm>
          <a:prstGeom prst="rect">
            <a:avLst/>
          </a:prstGeom>
        </p:spPr>
      </p:pic>
      <p:pic>
        <p:nvPicPr>
          <p:cNvPr id="5" name="anim-g3-658" descr="/Users/mac/Desktop/أردوينو/المشاريع والكتب/younes-training/arduino/.pptx-cache/s88-3.jpg">    </p:cNvPr>
          <p:cNvPicPr>
            <a:picLocks noChangeAspect="1"/>
          </p:cNvPicPr>
          <p:nvPr/>
        </p:nvPicPr>
        <p:blipFill>
          <a:blip r:embed="rId4"/>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pic>
        <p:nvPicPr>
          <p:cNvPr id="2" name="Image 0" descr="/Users/mac/Desktop/أردوينو/المشاريع والكتب/younes-training/arduino/.pptx-cache/s89-0.jpg">    </p:cNvPr>
          <p:cNvPicPr>
            <a:picLocks noChangeAspect="1"/>
          </p:cNvPicPr>
          <p:nvPr/>
        </p:nvPicPr>
        <p:blipFill>
          <a:blip r:embed="rId1"/>
          <a:stretch>
            <a:fillRect/>
          </a:stretch>
        </p:blipFill>
        <p:spPr>
          <a:xfrm>
            <a:off x="0" y="0"/>
            <a:ext cx="12191695" cy="6858000"/>
          </a:xfrm>
          <a:prstGeom prst="rect">
            <a:avLst/>
          </a:prstGeom>
        </p:spPr>
      </p:pic>
      <p:pic>
        <p:nvPicPr>
          <p:cNvPr id="3" name="anim-g1-659" descr="/Users/mac/Desktop/أردوينو/المشاريع والكتب/younes-training/arduino/.pptx-cache/s89-1.jpg">    </p:cNvPr>
          <p:cNvPicPr>
            <a:picLocks noChangeAspect="1"/>
          </p:cNvPicPr>
          <p:nvPr/>
        </p:nvPicPr>
        <p:blipFill>
          <a:blip r:embed="rId2"/>
          <a:stretch>
            <a:fillRect/>
          </a:stretch>
        </p:blipFill>
        <p:spPr>
          <a:xfrm>
            <a:off x="0" y="0"/>
            <a:ext cx="12191695" cy="6858000"/>
          </a:xfrm>
          <a:prstGeom prst="rect">
            <a:avLst/>
          </a:prstGeom>
        </p:spPr>
      </p:pic>
      <p:pic>
        <p:nvPicPr>
          <p:cNvPr id="4" name="anim-g2-660" descr="/Users/mac/Desktop/أردوينو/المشاريع والكتب/younes-training/arduino/.pptx-cache/s89-2.jpg">    </p:cNvPr>
          <p:cNvPicPr>
            <a:picLocks noChangeAspect="1"/>
          </p:cNvPicPr>
          <p:nvPr/>
        </p:nvPicPr>
        <p:blipFill>
          <a:blip r:embed="rId3"/>
          <a:stretch>
            <a:fillRect/>
          </a:stretch>
        </p:blipFill>
        <p:spPr>
          <a:xfrm>
            <a:off x="0" y="0"/>
            <a:ext cx="12191695" cy="6858000"/>
          </a:xfrm>
          <a:prstGeom prst="rect">
            <a:avLst/>
          </a:prstGeom>
        </p:spPr>
      </p:pic>
      <p:pic>
        <p:nvPicPr>
          <p:cNvPr id="5" name="anim-g3-661" descr="/Users/mac/Desktop/أردوينو/المشاريع والكتب/younes-training/arduino/.pptx-cache/s89-3.jpg">    </p:cNvPr>
          <p:cNvPicPr>
            <a:picLocks noChangeAspect="1"/>
          </p:cNvPicPr>
          <p:nvPr/>
        </p:nvPicPr>
        <p:blipFill>
          <a:blip r:embed="rId4"/>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pic>
        <p:nvPicPr>
          <p:cNvPr id="2" name="Image 0" descr="/Users/mac/Desktop/أردوينو/المشاريع والكتب/younes-training/arduino/.pptx-cache/s90-0.jpg">    </p:cNvPr>
          <p:cNvPicPr>
            <a:picLocks noChangeAspect="1"/>
          </p:cNvPicPr>
          <p:nvPr/>
        </p:nvPicPr>
        <p:blipFill>
          <a:blip r:embed="rId1"/>
          <a:stretch>
            <a:fillRect/>
          </a:stretch>
        </p:blipFill>
        <p:spPr>
          <a:xfrm>
            <a:off x="0" y="0"/>
            <a:ext cx="12191695" cy="6858000"/>
          </a:xfrm>
          <a:prstGeom prst="rect">
            <a:avLst/>
          </a:prstGeom>
        </p:spPr>
      </p:pic>
      <p:pic>
        <p:nvPicPr>
          <p:cNvPr id="3" name="anim-g1-662" descr="/Users/mac/Desktop/أردوينو/المشاريع والكتب/younes-training/arduino/.pptx-cache/s90-1.jpg">    </p:cNvPr>
          <p:cNvPicPr>
            <a:picLocks noChangeAspect="1"/>
          </p:cNvPicPr>
          <p:nvPr/>
        </p:nvPicPr>
        <p:blipFill>
          <a:blip r:embed="rId2"/>
          <a:stretch>
            <a:fillRect/>
          </a:stretch>
        </p:blipFill>
        <p:spPr>
          <a:xfrm>
            <a:off x="0" y="0"/>
            <a:ext cx="12191695" cy="6858000"/>
          </a:xfrm>
          <a:prstGeom prst="rect">
            <a:avLst/>
          </a:prstGeom>
        </p:spPr>
      </p:pic>
      <p:pic>
        <p:nvPicPr>
          <p:cNvPr id="4" name="anim-g2-663" descr="/Users/mac/Desktop/أردوينو/المشاريع والكتب/younes-training/arduino/.pptx-cache/s90-2.jpg">    </p:cNvPr>
          <p:cNvPicPr>
            <a:picLocks noChangeAspect="1"/>
          </p:cNvPicPr>
          <p:nvPr/>
        </p:nvPicPr>
        <p:blipFill>
          <a:blip r:embed="rId3"/>
          <a:stretch>
            <a:fillRect/>
          </a:stretch>
        </p:blipFill>
        <p:spPr>
          <a:xfrm>
            <a:off x="0" y="0"/>
            <a:ext cx="12191695" cy="6858000"/>
          </a:xfrm>
          <a:prstGeom prst="rect">
            <a:avLst/>
          </a:prstGeom>
        </p:spPr>
      </p:pic>
      <p:pic>
        <p:nvPicPr>
          <p:cNvPr id="5" name="anim-g3-664" descr="/Users/mac/Desktop/أردوينو/المشاريع والكتب/younes-training/arduino/.pptx-cache/s90-3.jpg">    </p:cNvPr>
          <p:cNvPicPr>
            <a:picLocks noChangeAspect="1"/>
          </p:cNvPicPr>
          <p:nvPr/>
        </p:nvPicPr>
        <p:blipFill>
          <a:blip r:embed="rId4"/>
          <a:stretch>
            <a:fillRect/>
          </a:stretch>
        </p:blipFill>
        <p:spPr>
          <a:xfrm>
            <a:off x="0" y="0"/>
            <a:ext cx="12191695" cy="6858000"/>
          </a:xfrm>
          <a:prstGeom prst="rect">
            <a:avLst/>
          </a:prstGeom>
        </p:spPr>
      </p:pic>
      <p:pic>
        <p:nvPicPr>
          <p:cNvPr id="6" name="anim-g4-665" descr="/Users/mac/Desktop/أردوينو/المشاريع والكتب/younes-training/arduino/.pptx-cache/s90-4.jpg">    </p:cNvPr>
          <p:cNvPicPr>
            <a:picLocks noChangeAspect="1"/>
          </p:cNvPicPr>
          <p:nvPr/>
        </p:nvPicPr>
        <p:blipFill>
          <a:blip r:embed="rId5"/>
          <a:stretch>
            <a:fillRect/>
          </a:stretch>
        </p:blipFill>
        <p:spPr>
          <a:xfrm>
            <a:off x="0" y="0"/>
            <a:ext cx="12191695" cy="6858000"/>
          </a:xfrm>
          <a:prstGeom prst="rect">
            <a:avLst/>
          </a:prstGeom>
        </p:spPr>
      </p:pic>
      <p:pic>
        <p:nvPicPr>
          <p:cNvPr id="7" name="anim-g5-666" descr="/Users/mac/Desktop/أردوينو/المشاريع والكتب/younes-training/arduino/.pptx-cache/s90-5.jpg">    </p:cNvPr>
          <p:cNvPicPr>
            <a:picLocks noChangeAspect="1"/>
          </p:cNvPicPr>
          <p:nvPr/>
        </p:nvPicPr>
        <p:blipFill>
          <a:blip r:embed="rId6"/>
          <a:stretch>
            <a:fillRect/>
          </a:stretch>
        </p:blipFill>
        <p:spPr>
          <a:xfrm>
            <a:off x="0" y="0"/>
            <a:ext cx="12191695" cy="6858000"/>
          </a:xfrm>
          <a:prstGeom prst="rect">
            <a:avLst/>
          </a:prstGeom>
        </p:spPr>
      </p:pic>
      <p:pic>
        <p:nvPicPr>
          <p:cNvPr id="8" name="anim-g6-667" descr="/Users/mac/Desktop/أردوينو/المشاريع والكتب/younes-training/arduino/.pptx-cache/s90-6.jpg">    </p:cNvPr>
          <p:cNvPicPr>
            <a:picLocks noChangeAspect="1"/>
          </p:cNvPicPr>
          <p:nvPr/>
        </p:nvPicPr>
        <p:blipFill>
          <a:blip r:embed="rId7"/>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pic>
        <p:nvPicPr>
          <p:cNvPr id="2" name="Image 0" descr="/Users/mac/Desktop/أردوينو/المشاريع والكتب/younes-training/arduino/.pptx-cache/s91-0.jpg">    </p:cNvPr>
          <p:cNvPicPr>
            <a:picLocks noChangeAspect="1"/>
          </p:cNvPicPr>
          <p:nvPr/>
        </p:nvPicPr>
        <p:blipFill>
          <a:blip r:embed="rId1"/>
          <a:stretch>
            <a:fillRect/>
          </a:stretch>
        </p:blipFill>
        <p:spPr>
          <a:xfrm>
            <a:off x="0" y="0"/>
            <a:ext cx="12191695" cy="6858000"/>
          </a:xfrm>
          <a:prstGeom prst="rect">
            <a:avLst/>
          </a:prstGeom>
        </p:spPr>
      </p:pic>
      <p:pic>
        <p:nvPicPr>
          <p:cNvPr id="3" name="anim-g1-668" descr="/Users/mac/Desktop/أردوينو/المشاريع والكتب/younes-training/arduino/.pptx-cache/s91-1.jpg">    </p:cNvPr>
          <p:cNvPicPr>
            <a:picLocks noChangeAspect="1"/>
          </p:cNvPicPr>
          <p:nvPr/>
        </p:nvPicPr>
        <p:blipFill>
          <a:blip r:embed="rId2"/>
          <a:stretch>
            <a:fillRect/>
          </a:stretch>
        </p:blipFill>
        <p:spPr>
          <a:xfrm>
            <a:off x="0" y="0"/>
            <a:ext cx="12191695" cy="6858000"/>
          </a:xfrm>
          <a:prstGeom prst="rect">
            <a:avLst/>
          </a:prstGeom>
        </p:spPr>
      </p:pic>
      <p:pic>
        <p:nvPicPr>
          <p:cNvPr id="4" name="anim-g2-669" descr="/Users/mac/Desktop/أردوينو/المشاريع والكتب/younes-training/arduino/.pptx-cache/s91-2.jpg">    </p:cNvPr>
          <p:cNvPicPr>
            <a:picLocks noChangeAspect="1"/>
          </p:cNvPicPr>
          <p:nvPr/>
        </p:nvPicPr>
        <p:blipFill>
          <a:blip r:embed="rId3"/>
          <a:stretch>
            <a:fillRect/>
          </a:stretch>
        </p:blipFill>
        <p:spPr>
          <a:xfrm>
            <a:off x="0" y="0"/>
            <a:ext cx="12191695" cy="6858000"/>
          </a:xfrm>
          <a:prstGeom prst="rect">
            <a:avLst/>
          </a:prstGeom>
        </p:spPr>
      </p:pic>
      <p:pic>
        <p:nvPicPr>
          <p:cNvPr id="5" name="anim-g3-670" descr="/Users/mac/Desktop/أردوينو/المشاريع والكتب/younes-training/arduino/.pptx-cache/s91-3.jpg">    </p:cNvPr>
          <p:cNvPicPr>
            <a:picLocks noChangeAspect="1"/>
          </p:cNvPicPr>
          <p:nvPr/>
        </p:nvPicPr>
        <p:blipFill>
          <a:blip r:embed="rId4"/>
          <a:stretch>
            <a:fillRect/>
          </a:stretch>
        </p:blipFill>
        <p:spPr>
          <a:xfrm>
            <a:off x="0" y="0"/>
            <a:ext cx="12191695" cy="6858000"/>
          </a:xfrm>
          <a:prstGeom prst="rect">
            <a:avLst/>
          </a:prstGeom>
        </p:spPr>
      </p:pic>
      <p:pic>
        <p:nvPicPr>
          <p:cNvPr id="6" name="anim-g4-671" descr="/Users/mac/Desktop/أردوينو/المشاريع والكتب/younes-training/arduino/.pptx-cache/s91-4.jpg">    </p:cNvPr>
          <p:cNvPicPr>
            <a:picLocks noChangeAspect="1"/>
          </p:cNvPicPr>
          <p:nvPr/>
        </p:nvPicPr>
        <p:blipFill>
          <a:blip r:embed="rId5"/>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name="Slide 9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9320479" y="457200"/>
            <a:ext cx="2048256" cy="457200"/>
          </a:xfrm>
          <a:prstGeom prst="roundRect">
            <a:avLst>
              <a:gd name="adj" fmla="val 50000"/>
            </a:avLst>
          </a:prstGeom>
          <a:solidFill>
            <a:srgbClr val="F6EBCF"/>
          </a:solidFill>
          <a:ln/>
        </p:spPr>
      </p:sp>
      <p:sp>
        <p:nvSpPr>
          <p:cNvPr id="3" name="Text 1"/>
          <p:cNvSpPr/>
          <p:nvPr/>
        </p:nvSpPr>
        <p:spPr>
          <a:xfrm>
            <a:off x="9320479" y="457200"/>
            <a:ext cx="204825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التعليقات</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اكتب ملاحظاتك داخل الكود</a:t>
            </a:r>
            <a:endParaRPr lang="ar-SA" sz="3800" dirty="0"/>
          </a:p>
        </p:txBody>
      </p:sp>
      <p:sp>
        <p:nvSpPr>
          <p:cNvPr id="5" name="anim-g1-672"/>
          <p:cNvSpPr/>
          <p:nvPr/>
        </p:nvSpPr>
        <p:spPr>
          <a:xfrm>
            <a:off x="8036357" y="2148840"/>
            <a:ext cx="3332378" cy="35661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673"/>
          <p:cNvSpPr/>
          <p:nvPr/>
        </p:nvSpPr>
        <p:spPr>
          <a:xfrm>
            <a:off x="10362895" y="2404872"/>
            <a:ext cx="731520" cy="731520"/>
          </a:xfrm>
          <a:prstGeom prst="roundRect">
            <a:avLst>
              <a:gd name="adj" fmla="val 25000"/>
            </a:avLst>
          </a:prstGeom>
          <a:solidFill>
            <a:srgbClr val="F7E6BC"/>
          </a:solidFill>
          <a:ln/>
        </p:spPr>
      </p:sp>
      <p:sp>
        <p:nvSpPr>
          <p:cNvPr id="7" name="anim-g1-674"/>
          <p:cNvSpPr/>
          <p:nvPr/>
        </p:nvSpPr>
        <p:spPr>
          <a:xfrm>
            <a:off x="10362895"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8" name="anim-g1-675"/>
          <p:cNvSpPr/>
          <p:nvPr/>
        </p:nvSpPr>
        <p:spPr>
          <a:xfrm>
            <a:off x="8310677" y="3246120"/>
            <a:ext cx="2783738"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 سطر واحد</a:t>
            </a:r>
            <a:endParaRPr lang="ar-SA" sz="2300" dirty="0"/>
          </a:p>
        </p:txBody>
      </p:sp>
      <p:sp>
        <p:nvSpPr>
          <p:cNvPr id="9" name="anim-g1-676"/>
          <p:cNvSpPr/>
          <p:nvPr/>
        </p:nvSpPr>
        <p:spPr>
          <a:xfrm>
            <a:off x="8310677" y="3794760"/>
            <a:ext cx="2783738"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كل ما بعد // يتجاهله الحاسوب حتى نهاية السطر</a:t>
            </a:r>
            <a:endParaRPr lang="ar-SA" sz="2100" dirty="0"/>
          </a:p>
        </p:txBody>
      </p:sp>
      <p:sp>
        <p:nvSpPr>
          <p:cNvPr id="10" name="anim-g2-677"/>
          <p:cNvSpPr/>
          <p:nvPr/>
        </p:nvSpPr>
        <p:spPr>
          <a:xfrm>
            <a:off x="4429658" y="2148840"/>
            <a:ext cx="3332378" cy="35661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678"/>
          <p:cNvSpPr/>
          <p:nvPr/>
        </p:nvSpPr>
        <p:spPr>
          <a:xfrm>
            <a:off x="6756197" y="2404872"/>
            <a:ext cx="731520" cy="731520"/>
          </a:xfrm>
          <a:prstGeom prst="roundRect">
            <a:avLst>
              <a:gd name="adj" fmla="val 25000"/>
            </a:avLst>
          </a:prstGeom>
          <a:solidFill>
            <a:srgbClr val="F7E6BC"/>
          </a:solidFill>
          <a:ln/>
        </p:spPr>
      </p:sp>
      <p:sp>
        <p:nvSpPr>
          <p:cNvPr id="12" name="anim-g2-679"/>
          <p:cNvSpPr/>
          <p:nvPr/>
        </p:nvSpPr>
        <p:spPr>
          <a:xfrm>
            <a:off x="6756197"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13" name="anim-g2-680"/>
          <p:cNvSpPr/>
          <p:nvPr/>
        </p:nvSpPr>
        <p:spPr>
          <a:xfrm>
            <a:off x="4703978" y="3246120"/>
            <a:ext cx="2783738"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 عدة أسطر */</a:t>
            </a:r>
            <a:endParaRPr lang="ar-SA" sz="2300" dirty="0"/>
          </a:p>
        </p:txBody>
      </p:sp>
      <p:sp>
        <p:nvSpPr>
          <p:cNvPr id="14" name="anim-g2-681"/>
          <p:cNvSpPr/>
          <p:nvPr/>
        </p:nvSpPr>
        <p:spPr>
          <a:xfrm>
            <a:off x="4703978" y="3794760"/>
            <a:ext cx="2783738"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كل ما بين العلامتين يتجاهله الحاسوب</a:t>
            </a:r>
            <a:endParaRPr lang="ar-SA" sz="2100" dirty="0"/>
          </a:p>
        </p:txBody>
      </p:sp>
      <p:sp>
        <p:nvSpPr>
          <p:cNvPr id="15" name="anim-g3-682"/>
          <p:cNvSpPr/>
          <p:nvPr/>
        </p:nvSpPr>
        <p:spPr>
          <a:xfrm>
            <a:off x="822960" y="2148840"/>
            <a:ext cx="3332378" cy="35661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683"/>
          <p:cNvSpPr/>
          <p:nvPr/>
        </p:nvSpPr>
        <p:spPr>
          <a:xfrm>
            <a:off x="3149498" y="2404872"/>
            <a:ext cx="731520" cy="731520"/>
          </a:xfrm>
          <a:prstGeom prst="roundRect">
            <a:avLst>
              <a:gd name="adj" fmla="val 25000"/>
            </a:avLst>
          </a:prstGeom>
          <a:solidFill>
            <a:srgbClr val="F7E6BC"/>
          </a:solidFill>
          <a:ln/>
        </p:spPr>
      </p:sp>
      <p:sp>
        <p:nvSpPr>
          <p:cNvPr id="17" name="anim-g3-684"/>
          <p:cNvSpPr/>
          <p:nvPr/>
        </p:nvSpPr>
        <p:spPr>
          <a:xfrm>
            <a:off x="3149498"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18" name="anim-g3-685"/>
          <p:cNvSpPr/>
          <p:nvPr/>
        </p:nvSpPr>
        <p:spPr>
          <a:xfrm>
            <a:off x="1097280" y="3246120"/>
            <a:ext cx="2783738"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لماذا نكتبها؟</a:t>
            </a:r>
            <a:endParaRPr lang="ar-SA" sz="2300" dirty="0"/>
          </a:p>
        </p:txBody>
      </p:sp>
      <p:sp>
        <p:nvSpPr>
          <p:cNvPr id="19" name="anim-g3-686"/>
          <p:cNvSpPr/>
          <p:nvPr/>
        </p:nvSpPr>
        <p:spPr>
          <a:xfrm>
            <a:off x="1097280" y="3794760"/>
            <a:ext cx="2783738"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لنفهم الكود بعد أسابيع، وليفهمه زملاؤنا</a:t>
            </a:r>
            <a:endParaRPr lang="ar-SA" sz="21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الأردوينو للمعلمين</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أول برنامج: الوميض  ·  ٩٢</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93.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pic>
        <p:nvPicPr>
          <p:cNvPr id="2" name="Image 0" descr="/Users/mac/Desktop/أردوينو/المشاريع والكتب/younes-training/arduino/.pptx-cache/s93-0.jpg">    </p:cNvPr>
          <p:cNvPicPr>
            <a:picLocks noChangeAspect="1"/>
          </p:cNvPicPr>
          <p:nvPr/>
        </p:nvPicPr>
        <p:blipFill>
          <a:blip r:embed="rId1"/>
          <a:stretch>
            <a:fillRect/>
          </a:stretch>
        </p:blipFill>
        <p:spPr>
          <a:xfrm>
            <a:off x="0" y="0"/>
            <a:ext cx="12191695" cy="6858000"/>
          </a:xfrm>
          <a:prstGeom prst="rect">
            <a:avLst/>
          </a:prstGeom>
        </p:spPr>
      </p:pic>
      <p:pic>
        <p:nvPicPr>
          <p:cNvPr id="3" name="anim-g1-687" descr="/Users/mac/Desktop/أردوينو/المشاريع والكتب/younes-training/arduino/.pptx-cache/s93-1.jpg">    </p:cNvPr>
          <p:cNvPicPr>
            <a:picLocks noChangeAspect="1"/>
          </p:cNvPicPr>
          <p:nvPr/>
        </p:nvPicPr>
        <p:blipFill>
          <a:blip r:embed="rId2"/>
          <a:stretch>
            <a:fillRect/>
          </a:stretch>
        </p:blipFill>
        <p:spPr>
          <a:xfrm>
            <a:off x="0" y="0"/>
            <a:ext cx="12191695" cy="6858000"/>
          </a:xfrm>
          <a:prstGeom prst="rect">
            <a:avLst/>
          </a:prstGeom>
        </p:spPr>
      </p:pic>
      <p:pic>
        <p:nvPicPr>
          <p:cNvPr id="4" name="anim-g2-688" descr="/Users/mac/Desktop/أردوينو/المشاريع والكتب/younes-training/arduino/.pptx-cache/s93-2.jpg">    </p:cNvPr>
          <p:cNvPicPr>
            <a:picLocks noChangeAspect="1"/>
          </p:cNvPicPr>
          <p:nvPr/>
        </p:nvPicPr>
        <p:blipFill>
          <a:blip r:embed="rId3"/>
          <a:stretch>
            <a:fillRect/>
          </a:stretch>
        </p:blipFill>
        <p:spPr>
          <a:xfrm>
            <a:off x="0" y="0"/>
            <a:ext cx="12191695" cy="6858000"/>
          </a:xfrm>
          <a:prstGeom prst="rect">
            <a:avLst/>
          </a:prstGeom>
        </p:spPr>
      </p:pic>
      <p:pic>
        <p:nvPicPr>
          <p:cNvPr id="5" name="anim-g3-689" descr="/Users/mac/Desktop/أردوينو/المشاريع والكتب/younes-training/arduino/.pptx-cache/s93-3.jpg">    </p:cNvPr>
          <p:cNvPicPr>
            <a:picLocks noChangeAspect="1"/>
          </p:cNvPicPr>
          <p:nvPr/>
        </p:nvPicPr>
        <p:blipFill>
          <a:blip r:embed="rId4"/>
          <a:stretch>
            <a:fillRect/>
          </a:stretch>
        </p:blipFill>
        <p:spPr>
          <a:xfrm>
            <a:off x="0" y="0"/>
            <a:ext cx="12191695" cy="6858000"/>
          </a:xfrm>
          <a:prstGeom prst="rect">
            <a:avLst/>
          </a:prstGeom>
        </p:spPr>
      </p:pic>
      <p:pic>
        <p:nvPicPr>
          <p:cNvPr id="6" name="anim-g4-690" descr="/Users/mac/Desktop/أردوينو/المشاريع والكتب/younes-training/arduino/.pptx-cache/s93-4.jpg">    </p:cNvPr>
          <p:cNvPicPr>
            <a:picLocks noChangeAspect="1"/>
          </p:cNvPicPr>
          <p:nvPr/>
        </p:nvPicPr>
        <p:blipFill>
          <a:blip r:embed="rId5"/>
          <a:stretch>
            <a:fillRect/>
          </a:stretch>
        </p:blipFill>
        <p:spPr>
          <a:xfrm>
            <a:off x="0" y="0"/>
            <a:ext cx="12191695" cy="6858000"/>
          </a:xfrm>
          <a:prstGeom prst="rect">
            <a:avLst/>
          </a:prstGeom>
        </p:spPr>
      </p:pic>
      <p:pic>
        <p:nvPicPr>
          <p:cNvPr id="7" name="anim-g5-691" descr="/Users/mac/Desktop/أردوينو/المشاريع والكتب/younes-training/arduino/.pptx-cache/s93-5.jpg">    </p:cNvPr>
          <p:cNvPicPr>
            <a:picLocks noChangeAspect="1"/>
          </p:cNvPicPr>
          <p:nvPr/>
        </p:nvPicPr>
        <p:blipFill>
          <a:blip r:embed="rId6"/>
          <a:stretch>
            <a:fillRect/>
          </a:stretch>
        </p:blipFill>
        <p:spPr>
          <a:xfrm>
            <a:off x="0" y="0"/>
            <a:ext cx="12191695" cy="6858000"/>
          </a:xfrm>
          <a:prstGeom prst="rect">
            <a:avLst/>
          </a:prstGeom>
        </p:spPr>
      </p:pic>
      <p:pic>
        <p:nvPicPr>
          <p:cNvPr id="8" name="anim-g6-692" descr="/Users/mac/Desktop/أردوينو/المشاريع والكتب/younes-training/arduino/.pptx-cache/s93-6.jpg">    </p:cNvPr>
          <p:cNvPicPr>
            <a:picLocks noChangeAspect="1"/>
          </p:cNvPicPr>
          <p:nvPr/>
        </p:nvPicPr>
        <p:blipFill>
          <a:blip r:embed="rId7"/>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name="Slide 94">
    <p:spTree>
      <p:nvGrpSpPr>
        <p:cNvPr id="1" name=""/>
        <p:cNvGrpSpPr/>
        <p:nvPr/>
      </p:nvGrpSpPr>
      <p:grpSpPr>
        <a:xfrm>
          <a:off x="0" y="0"/>
          <a:ext cx="0" cy="0"/>
          <a:chOff x="0" y="0"/>
          <a:chExt cx="0" cy="0"/>
        </a:xfrm>
      </p:grpSpPr>
      <p:pic>
        <p:nvPicPr>
          <p:cNvPr id="2" name="Image 0" descr="/Users/mac/Desktop/أردوينو/المشاريع والكتب/younes-training/arduino/.pptx-cache/s94-0.jpg">    </p:cNvPr>
          <p:cNvPicPr>
            <a:picLocks noChangeAspect="1"/>
          </p:cNvPicPr>
          <p:nvPr/>
        </p:nvPicPr>
        <p:blipFill>
          <a:blip r:embed="rId1"/>
          <a:stretch>
            <a:fillRect/>
          </a:stretch>
        </p:blipFill>
        <p:spPr>
          <a:xfrm>
            <a:off x="0" y="0"/>
            <a:ext cx="12191695" cy="6858000"/>
          </a:xfrm>
          <a:prstGeom prst="rect">
            <a:avLst/>
          </a:prstGeom>
        </p:spPr>
      </p:pic>
      <p:pic>
        <p:nvPicPr>
          <p:cNvPr id="3" name="anim-g1-693" descr="/Users/mac/Desktop/أردوينو/المشاريع والكتب/younes-training/arduino/.pptx-cache/s94-1.jpg">    </p:cNvPr>
          <p:cNvPicPr>
            <a:picLocks noChangeAspect="1"/>
          </p:cNvPicPr>
          <p:nvPr/>
        </p:nvPicPr>
        <p:blipFill>
          <a:blip r:embed="rId2"/>
          <a:stretch>
            <a:fillRect/>
          </a:stretch>
        </p:blipFill>
        <p:spPr>
          <a:xfrm>
            <a:off x="0" y="0"/>
            <a:ext cx="12191695" cy="6858000"/>
          </a:xfrm>
          <a:prstGeom prst="rect">
            <a:avLst/>
          </a:prstGeom>
        </p:spPr>
      </p:pic>
      <p:pic>
        <p:nvPicPr>
          <p:cNvPr id="4" name="anim-g2-694" descr="/Users/mac/Desktop/أردوينو/المشاريع والكتب/younes-training/arduino/.pptx-cache/s94-2.jpg">    </p:cNvPr>
          <p:cNvPicPr>
            <a:picLocks noChangeAspect="1"/>
          </p:cNvPicPr>
          <p:nvPr/>
        </p:nvPicPr>
        <p:blipFill>
          <a:blip r:embed="rId3"/>
          <a:stretch>
            <a:fillRect/>
          </a:stretch>
        </p:blipFill>
        <p:spPr>
          <a:xfrm>
            <a:off x="0" y="0"/>
            <a:ext cx="12191695" cy="6858000"/>
          </a:xfrm>
          <a:prstGeom prst="rect">
            <a:avLst/>
          </a:prstGeom>
        </p:spPr>
      </p:pic>
      <p:pic>
        <p:nvPicPr>
          <p:cNvPr id="5" name="anim-g3-695" descr="/Users/mac/Desktop/أردوينو/المشاريع والكتب/younes-training/arduino/.pptx-cache/s94-3.jpg">    </p:cNvPr>
          <p:cNvPicPr>
            <a:picLocks noChangeAspect="1"/>
          </p:cNvPicPr>
          <p:nvPr/>
        </p:nvPicPr>
        <p:blipFill>
          <a:blip r:embed="rId4"/>
          <a:stretch>
            <a:fillRect/>
          </a:stretch>
        </p:blipFill>
        <p:spPr>
          <a:xfrm>
            <a:off x="0" y="0"/>
            <a:ext cx="12191695" cy="6858000"/>
          </a:xfrm>
          <a:prstGeom prst="rect">
            <a:avLst/>
          </a:prstGeom>
        </p:spPr>
      </p:pic>
      <p:pic>
        <p:nvPicPr>
          <p:cNvPr id="6" name="anim-g4-696" descr="/Users/mac/Desktop/أردوينو/المشاريع والكتب/younes-training/arduino/.pptx-cache/s94-4.jpg">    </p:cNvPr>
          <p:cNvPicPr>
            <a:picLocks noChangeAspect="1"/>
          </p:cNvPicPr>
          <p:nvPr/>
        </p:nvPicPr>
        <p:blipFill>
          <a:blip r:embed="rId5"/>
          <a:stretch>
            <a:fillRect/>
          </a:stretch>
        </p:blipFill>
        <p:spPr>
          <a:xfrm>
            <a:off x="0" y="0"/>
            <a:ext cx="12191695" cy="6858000"/>
          </a:xfrm>
          <a:prstGeom prst="rect">
            <a:avLst/>
          </a:prstGeom>
        </p:spPr>
      </p:pic>
      <p:pic>
        <p:nvPicPr>
          <p:cNvPr id="7" name="anim-g5-697" descr="/Users/mac/Desktop/أردوينو/المشاريع والكتب/younes-training/arduino/.pptx-cache/s94-5.jpg">    </p:cNvPr>
          <p:cNvPicPr>
            <a:picLocks noChangeAspect="1"/>
          </p:cNvPicPr>
          <p:nvPr/>
        </p:nvPicPr>
        <p:blipFill>
          <a:blip r:embed="rId6"/>
          <a:stretch>
            <a:fillRect/>
          </a:stretch>
        </p:blipFill>
        <p:spPr>
          <a:xfrm>
            <a:off x="0" y="0"/>
            <a:ext cx="12191695" cy="6858000"/>
          </a:xfrm>
          <a:prstGeom prst="rect">
            <a:avLst/>
          </a:prstGeom>
        </p:spPr>
      </p:pic>
      <p:pic>
        <p:nvPicPr>
          <p:cNvPr id="8" name="anim-g6-698" descr="/Users/mac/Desktop/أردوينو/المشاريع والكتب/younes-training/arduino/.pptx-cache/s94-6.jpg">    </p:cNvPr>
          <p:cNvPicPr>
            <a:picLocks noChangeAspect="1"/>
          </p:cNvPicPr>
          <p:nvPr/>
        </p:nvPicPr>
        <p:blipFill>
          <a:blip r:embed="rId7"/>
          <a:stretch>
            <a:fillRect/>
          </a:stretch>
        </p:blipFill>
        <p:spPr>
          <a:xfrm>
            <a:off x="0" y="0"/>
            <a:ext cx="12191695" cy="6858000"/>
          </a:xfrm>
          <a:prstGeom prst="rect">
            <a:avLst/>
          </a:prstGeom>
        </p:spPr>
      </p:pic>
      <p:pic>
        <p:nvPicPr>
          <p:cNvPr id="9" name="anim-g7-699" descr="/Users/mac/Desktop/أردوينو/المشاريع والكتب/younes-training/arduino/.pptx-cache/s94-7.jpg">    </p:cNvPr>
          <p:cNvPicPr>
            <a:picLocks noChangeAspect="1"/>
          </p:cNvPicPr>
          <p:nvPr/>
        </p:nvPicPr>
        <p:blipFill>
          <a:blip r:embed="rId8"/>
          <a:stretch>
            <a:fillRect/>
          </a:stretch>
        </p:blipFill>
        <p:spPr>
          <a:xfrm>
            <a:off x="0" y="0"/>
            <a:ext cx="12191695" cy="6858000"/>
          </a:xfrm>
          <a:prstGeom prst="rect">
            <a:avLst/>
          </a:prstGeom>
        </p:spPr>
      </p:pic>
      <p:pic>
        <p:nvPicPr>
          <p:cNvPr id="10" name="anim-g8-700" descr="/Users/mac/Desktop/أردوينو/المشاريع والكتب/younes-training/arduino/.pptx-cache/s94-8.jpg">    </p:cNvPr>
          <p:cNvPicPr>
            <a:picLocks noChangeAspect="1"/>
          </p:cNvPicPr>
          <p:nvPr/>
        </p:nvPicPr>
        <p:blipFill>
          <a:blip r:embed="rId9"/>
          <a:stretch>
            <a:fillRect/>
          </a:stretch>
        </p:blipFill>
        <p:spPr>
          <a:xfrm>
            <a:off x="0" y="0"/>
            <a:ext cx="12191695" cy="6858000"/>
          </a:xfrm>
          <a:prstGeom prst="rect">
            <a:avLst/>
          </a:prstGeom>
        </p:spPr>
      </p:pic>
      <p:pic>
        <p:nvPicPr>
          <p:cNvPr id="11" name="anim-g9-701" descr="/Users/mac/Desktop/أردوينو/المشاريع والكتب/younes-training/arduino/.pptx-cache/s94-9.jpg">    </p:cNvPr>
          <p:cNvPicPr>
            <a:picLocks noChangeAspect="1"/>
          </p:cNvPicPr>
          <p:nvPr/>
        </p:nvPicPr>
        <p:blipFill>
          <a:blip r:embed="rId10"/>
          <a:stretch>
            <a:fillRect/>
          </a:stretch>
        </p:blipFill>
        <p:spPr>
          <a:xfrm>
            <a:off x="0" y="0"/>
            <a:ext cx="12191695" cy="6858000"/>
          </a:xfrm>
          <a:prstGeom prst="rect">
            <a:avLst/>
          </a:prstGeom>
        </p:spPr>
      </p:pic>
      <p:pic>
        <p:nvPicPr>
          <p:cNvPr id="12" name="anim-g10-702" descr="/Users/mac/Desktop/أردوينو/المشاريع والكتب/younes-training/arduino/.pptx-cache/s94-10.jpg">    </p:cNvPr>
          <p:cNvPicPr>
            <a:picLocks noChangeAspect="1"/>
          </p:cNvPicPr>
          <p:nvPr/>
        </p:nvPicPr>
        <p:blipFill>
          <a:blip r:embed="rId11"/>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4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4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400"/>
                                        <p:tgtEl>
                                          <p:spTgt spid="10"/>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fade">
                                      <p:cBhvr>
                                        <p:cTn id="47" dur="400"/>
                                        <p:tgtEl>
                                          <p:spTgt spid="11"/>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2"/>
                                        </p:tgtEl>
                                        <p:attrNameLst>
                                          <p:attrName>style.visibility</p:attrName>
                                        </p:attrNameLst>
                                      </p:cBhvr>
                                      <p:to>
                                        <p:strVal val="visible"/>
                                      </p:to>
                                    </p:set>
                                    <p:animEffect transition="in" filter="fade">
                                      <p:cBhvr>
                                        <p:cTn id="52"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name="Slide 9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687007" y="457200"/>
            <a:ext cx="4681728" cy="457200"/>
          </a:xfrm>
          <a:prstGeom prst="roundRect">
            <a:avLst>
              <a:gd name="adj" fmla="val 50000"/>
            </a:avLst>
          </a:prstGeom>
          <a:solidFill>
            <a:srgbClr val="F6EBCF"/>
          </a:solidFill>
          <a:ln/>
        </p:spPr>
      </p:sp>
      <p:sp>
        <p:nvSpPr>
          <p:cNvPr id="3" name="Text 1"/>
          <p:cNvSpPr/>
          <p:nvPr/>
        </p:nvSpPr>
        <p:spPr>
          <a:xfrm>
            <a:off x="6687007" y="457200"/>
            <a:ext cx="468172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جرّب بنفسك في Tinkercad</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ابنِ مشروع الوميض خطوة بخطوة</a:t>
            </a:r>
            <a:endParaRPr lang="ar-SA" sz="3800" dirty="0"/>
          </a:p>
        </p:txBody>
      </p:sp>
      <p:sp>
        <p:nvSpPr>
          <p:cNvPr id="5" name="anim-g1-703"/>
          <p:cNvSpPr/>
          <p:nvPr/>
        </p:nvSpPr>
        <p:spPr>
          <a:xfrm>
            <a:off x="822960" y="1920240"/>
            <a:ext cx="10545775" cy="735178"/>
          </a:xfrm>
          <a:prstGeom prst="roundRect">
            <a:avLst>
              <a:gd name="adj" fmla="val 19900"/>
            </a:avLst>
          </a:prstGeom>
          <a:solidFill>
            <a:srgbClr val="FFFFFF"/>
          </a:solidFill>
          <a:ln w="12700">
            <a:solidFill>
              <a:srgbClr val="E4DCC8"/>
            </a:solidFill>
            <a:prstDash val="solid"/>
          </a:ln>
        </p:spPr>
      </p:sp>
      <p:sp>
        <p:nvSpPr>
          <p:cNvPr id="6" name="anim-g1-704"/>
          <p:cNvSpPr/>
          <p:nvPr/>
        </p:nvSpPr>
        <p:spPr>
          <a:xfrm>
            <a:off x="10587838" y="2011680"/>
            <a:ext cx="552298" cy="552298"/>
          </a:xfrm>
          <a:prstGeom prst="ellipse">
            <a:avLst/>
          </a:prstGeom>
          <a:solidFill>
            <a:srgbClr val="D9AE4B"/>
          </a:solidFill>
          <a:ln/>
        </p:spPr>
      </p:sp>
      <p:sp>
        <p:nvSpPr>
          <p:cNvPr id="7" name="anim-g1-705"/>
          <p:cNvSpPr/>
          <p:nvPr/>
        </p:nvSpPr>
        <p:spPr>
          <a:xfrm>
            <a:off x="10587838" y="2011680"/>
            <a:ext cx="552298" cy="55229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١</a:t>
            </a:r>
            <a:endParaRPr lang="ar-SA" sz="2000" dirty="0"/>
          </a:p>
        </p:txBody>
      </p:sp>
      <p:sp>
        <p:nvSpPr>
          <p:cNvPr id="8" name="anim-g1-706"/>
          <p:cNvSpPr/>
          <p:nvPr/>
        </p:nvSpPr>
        <p:spPr>
          <a:xfrm>
            <a:off x="1097280" y="1920240"/>
            <a:ext cx="9261958" cy="735178"/>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ضع ليدًا على لوح التوصيل</a:t>
            </a:r>
            <a:pPr algn="r" indent="0" marL="0">
              <a:buNone/>
            </a:pPr>
            <a:r>
              <a:rPr lang="ar-SA" altLang="en-US" sz="1800" b="1" dirty="0">
                <a:solidFill>
                  <a:srgbClr val="3B4460"/>
                </a:solidFill>
                <a:latin typeface="Cairo" pitchFamily="34" charset="0"/>
                <a:ea typeface="Cairo" pitchFamily="34" charset="-122"/>
                <a:cs typeface="Cairo" pitchFamily="34" charset="-120"/>
              </a:rPr>
              <a:t>   — ساقاه في عمودين مختلفين</a:t>
            </a:r>
            <a:endParaRPr lang="ar-SA" sz="2200" dirty="0"/>
          </a:p>
        </p:txBody>
      </p:sp>
      <p:sp>
        <p:nvSpPr>
          <p:cNvPr id="9" name="anim-g2-707"/>
          <p:cNvSpPr/>
          <p:nvPr/>
        </p:nvSpPr>
        <p:spPr>
          <a:xfrm>
            <a:off x="822960" y="2765146"/>
            <a:ext cx="10545775" cy="735178"/>
          </a:xfrm>
          <a:prstGeom prst="roundRect">
            <a:avLst>
              <a:gd name="adj" fmla="val 19900"/>
            </a:avLst>
          </a:prstGeom>
          <a:solidFill>
            <a:srgbClr val="FFFFFF"/>
          </a:solidFill>
          <a:ln w="12700">
            <a:solidFill>
              <a:srgbClr val="E4DCC8"/>
            </a:solidFill>
            <a:prstDash val="solid"/>
          </a:ln>
        </p:spPr>
      </p:sp>
      <p:sp>
        <p:nvSpPr>
          <p:cNvPr id="10" name="anim-g2-708"/>
          <p:cNvSpPr/>
          <p:nvPr/>
        </p:nvSpPr>
        <p:spPr>
          <a:xfrm>
            <a:off x="10587838" y="2856586"/>
            <a:ext cx="552298" cy="552298"/>
          </a:xfrm>
          <a:prstGeom prst="ellipse">
            <a:avLst/>
          </a:prstGeom>
          <a:solidFill>
            <a:srgbClr val="D9AE4B"/>
          </a:solidFill>
          <a:ln/>
        </p:spPr>
      </p:sp>
      <p:sp>
        <p:nvSpPr>
          <p:cNvPr id="11" name="anim-g2-709"/>
          <p:cNvSpPr/>
          <p:nvPr/>
        </p:nvSpPr>
        <p:spPr>
          <a:xfrm>
            <a:off x="10587838" y="2856586"/>
            <a:ext cx="552298" cy="55229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٢</a:t>
            </a:r>
            <a:endParaRPr lang="ar-SA" sz="2000" dirty="0"/>
          </a:p>
        </p:txBody>
      </p:sp>
      <p:sp>
        <p:nvSpPr>
          <p:cNvPr id="12" name="anim-g2-710"/>
          <p:cNvSpPr/>
          <p:nvPr/>
        </p:nvSpPr>
        <p:spPr>
          <a:xfrm>
            <a:off x="1097280" y="2765146"/>
            <a:ext cx="9261958" cy="735178"/>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مقاومة ٢٢٠ أوم من الساق القصيرة إلى السالب</a:t>
            </a:r>
            <a:pPr algn="r" indent="0" marL="0">
              <a:buNone/>
            </a:pPr>
            <a:r>
              <a:rPr lang="ar-SA" altLang="en-US" sz="1800" b="1" dirty="0">
                <a:solidFill>
                  <a:srgbClr val="3B4460"/>
                </a:solidFill>
                <a:latin typeface="Cairo" pitchFamily="34" charset="0"/>
                <a:ea typeface="Cairo" pitchFamily="34" charset="-122"/>
                <a:cs typeface="Cairo" pitchFamily="34" charset="-120"/>
              </a:rPr>
              <a:t>   — في العمود نفسه مع الساق القصيرة</a:t>
            </a:r>
            <a:endParaRPr lang="ar-SA" sz="2200" dirty="0"/>
          </a:p>
        </p:txBody>
      </p:sp>
      <p:sp>
        <p:nvSpPr>
          <p:cNvPr id="13" name="anim-g3-711"/>
          <p:cNvSpPr/>
          <p:nvPr/>
        </p:nvSpPr>
        <p:spPr>
          <a:xfrm>
            <a:off x="822960" y="3610051"/>
            <a:ext cx="10545775" cy="735178"/>
          </a:xfrm>
          <a:prstGeom prst="roundRect">
            <a:avLst>
              <a:gd name="adj" fmla="val 19900"/>
            </a:avLst>
          </a:prstGeom>
          <a:solidFill>
            <a:srgbClr val="FFFFFF"/>
          </a:solidFill>
          <a:ln w="12700">
            <a:solidFill>
              <a:srgbClr val="E4DCC8"/>
            </a:solidFill>
            <a:prstDash val="solid"/>
          </a:ln>
        </p:spPr>
      </p:sp>
      <p:sp>
        <p:nvSpPr>
          <p:cNvPr id="14" name="anim-g3-712"/>
          <p:cNvSpPr/>
          <p:nvPr/>
        </p:nvSpPr>
        <p:spPr>
          <a:xfrm>
            <a:off x="10587838" y="3701491"/>
            <a:ext cx="552298" cy="552298"/>
          </a:xfrm>
          <a:prstGeom prst="ellipse">
            <a:avLst/>
          </a:prstGeom>
          <a:solidFill>
            <a:srgbClr val="D9AE4B"/>
          </a:solidFill>
          <a:ln/>
        </p:spPr>
      </p:sp>
      <p:sp>
        <p:nvSpPr>
          <p:cNvPr id="15" name="anim-g3-713"/>
          <p:cNvSpPr/>
          <p:nvPr/>
        </p:nvSpPr>
        <p:spPr>
          <a:xfrm>
            <a:off x="10587838" y="3701491"/>
            <a:ext cx="552298" cy="55229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٣</a:t>
            </a:r>
            <a:endParaRPr lang="ar-SA" sz="2000" dirty="0"/>
          </a:p>
        </p:txBody>
      </p:sp>
      <p:sp>
        <p:nvSpPr>
          <p:cNvPr id="16" name="anim-g3-714"/>
          <p:cNvSpPr/>
          <p:nvPr/>
        </p:nvSpPr>
        <p:spPr>
          <a:xfrm>
            <a:off x="1097280" y="3610051"/>
            <a:ext cx="9261958" cy="735178"/>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سلك من المنفذ 13 إلى الساق الطويلة</a:t>
            </a:r>
            <a:pPr algn="r" indent="0" marL="0">
              <a:buNone/>
            </a:pPr>
            <a:r>
              <a:rPr lang="ar-SA" altLang="en-US" sz="1800" b="1" dirty="0">
                <a:solidFill>
                  <a:srgbClr val="3B4460"/>
                </a:solidFill>
                <a:latin typeface="Cairo" pitchFamily="34" charset="0"/>
                <a:ea typeface="Cairo" pitchFamily="34" charset="-122"/>
                <a:cs typeface="Cairo" pitchFamily="34" charset="-120"/>
              </a:rPr>
              <a:t>   — بلون أحمر أو أي لون مميز</a:t>
            </a:r>
            <a:endParaRPr lang="ar-SA" sz="2200" dirty="0"/>
          </a:p>
        </p:txBody>
      </p:sp>
      <p:sp>
        <p:nvSpPr>
          <p:cNvPr id="17" name="anim-g4-715"/>
          <p:cNvSpPr/>
          <p:nvPr/>
        </p:nvSpPr>
        <p:spPr>
          <a:xfrm>
            <a:off x="822960" y="4454957"/>
            <a:ext cx="10545775" cy="735178"/>
          </a:xfrm>
          <a:prstGeom prst="roundRect">
            <a:avLst>
              <a:gd name="adj" fmla="val 19900"/>
            </a:avLst>
          </a:prstGeom>
          <a:solidFill>
            <a:srgbClr val="FFFFFF"/>
          </a:solidFill>
          <a:ln w="12700">
            <a:solidFill>
              <a:srgbClr val="E4DCC8"/>
            </a:solidFill>
            <a:prstDash val="solid"/>
          </a:ln>
        </p:spPr>
      </p:sp>
      <p:sp>
        <p:nvSpPr>
          <p:cNvPr id="18" name="anim-g4-716"/>
          <p:cNvSpPr/>
          <p:nvPr/>
        </p:nvSpPr>
        <p:spPr>
          <a:xfrm>
            <a:off x="10587838" y="4546397"/>
            <a:ext cx="552298" cy="552298"/>
          </a:xfrm>
          <a:prstGeom prst="ellipse">
            <a:avLst/>
          </a:prstGeom>
          <a:solidFill>
            <a:srgbClr val="D9AE4B"/>
          </a:solidFill>
          <a:ln/>
        </p:spPr>
      </p:sp>
      <p:sp>
        <p:nvSpPr>
          <p:cNvPr id="19" name="anim-g4-717"/>
          <p:cNvSpPr/>
          <p:nvPr/>
        </p:nvSpPr>
        <p:spPr>
          <a:xfrm>
            <a:off x="10587838" y="4546397"/>
            <a:ext cx="552298" cy="55229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٤</a:t>
            </a:r>
            <a:endParaRPr lang="ar-SA" sz="2000" dirty="0"/>
          </a:p>
        </p:txBody>
      </p:sp>
      <p:sp>
        <p:nvSpPr>
          <p:cNvPr id="20" name="anim-g4-718"/>
          <p:cNvSpPr/>
          <p:nvPr/>
        </p:nvSpPr>
        <p:spPr>
          <a:xfrm>
            <a:off x="1097280" y="4454957"/>
            <a:ext cx="9261958" cy="735178"/>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اضغط «رمز» ثم اختر «نص»</a:t>
            </a:r>
            <a:pPr algn="r" indent="0" marL="0">
              <a:buNone/>
            </a:pPr>
            <a:r>
              <a:rPr lang="ar-SA" altLang="en-US" sz="1800" b="1" dirty="0">
                <a:solidFill>
                  <a:srgbClr val="3B4460"/>
                </a:solidFill>
                <a:latin typeface="Cairo" pitchFamily="34" charset="0"/>
                <a:ea typeface="Cairo" pitchFamily="34" charset="-122"/>
                <a:cs typeface="Cairo" pitchFamily="34" charset="-120"/>
              </a:rPr>
              <a:t>   — ووافق على المتابعة، ثم الصق الكود</a:t>
            </a:r>
            <a:endParaRPr lang="ar-SA" sz="2200" dirty="0"/>
          </a:p>
        </p:txBody>
      </p:sp>
      <p:sp>
        <p:nvSpPr>
          <p:cNvPr id="21" name="anim-g5-719"/>
          <p:cNvSpPr/>
          <p:nvPr/>
        </p:nvSpPr>
        <p:spPr>
          <a:xfrm>
            <a:off x="822960" y="5299862"/>
            <a:ext cx="10545775" cy="735178"/>
          </a:xfrm>
          <a:prstGeom prst="roundRect">
            <a:avLst>
              <a:gd name="adj" fmla="val 19900"/>
            </a:avLst>
          </a:prstGeom>
          <a:solidFill>
            <a:srgbClr val="FFFFFF"/>
          </a:solidFill>
          <a:ln w="12700">
            <a:solidFill>
              <a:srgbClr val="E4DCC8"/>
            </a:solidFill>
            <a:prstDash val="solid"/>
          </a:ln>
        </p:spPr>
      </p:sp>
      <p:sp>
        <p:nvSpPr>
          <p:cNvPr id="22" name="anim-g5-720"/>
          <p:cNvSpPr/>
          <p:nvPr/>
        </p:nvSpPr>
        <p:spPr>
          <a:xfrm>
            <a:off x="10587838" y="5391302"/>
            <a:ext cx="552298" cy="552298"/>
          </a:xfrm>
          <a:prstGeom prst="ellipse">
            <a:avLst/>
          </a:prstGeom>
          <a:solidFill>
            <a:srgbClr val="D9AE4B"/>
          </a:solidFill>
          <a:ln/>
        </p:spPr>
      </p:sp>
      <p:sp>
        <p:nvSpPr>
          <p:cNvPr id="23" name="anim-g5-721"/>
          <p:cNvSpPr/>
          <p:nvPr/>
        </p:nvSpPr>
        <p:spPr>
          <a:xfrm>
            <a:off x="10587838" y="5391302"/>
            <a:ext cx="552298" cy="55229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٥</a:t>
            </a:r>
            <a:endParaRPr lang="ar-SA" sz="2000" dirty="0"/>
          </a:p>
        </p:txBody>
      </p:sp>
      <p:sp>
        <p:nvSpPr>
          <p:cNvPr id="24" name="anim-g5-722"/>
          <p:cNvSpPr/>
          <p:nvPr/>
        </p:nvSpPr>
        <p:spPr>
          <a:xfrm>
            <a:off x="1097280" y="5299862"/>
            <a:ext cx="9261958" cy="735178"/>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اضغط «بدء المحاكاة»</a:t>
            </a:r>
            <a:pPr algn="r" indent="0" marL="0">
              <a:buNone/>
            </a:pPr>
            <a:r>
              <a:rPr lang="ar-SA" altLang="en-US" sz="1800" b="1" dirty="0">
                <a:solidFill>
                  <a:srgbClr val="3B4460"/>
                </a:solidFill>
                <a:latin typeface="Cairo" pitchFamily="34" charset="0"/>
                <a:ea typeface="Cairo" pitchFamily="34" charset="-122"/>
                <a:cs typeface="Cairo" pitchFamily="34" charset="-120"/>
              </a:rPr>
              <a:t>   — يجب أن يومض الليد… وإن لم يفعل فأين الخطأ؟</a:t>
            </a:r>
            <a:endParaRPr lang="ar-SA" sz="2200" dirty="0"/>
          </a:p>
        </p:txBody>
      </p:sp>
      <p:sp>
        <p:nvSpPr>
          <p:cNvPr id="25" name="Text 2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الأردوينو للمعلمين</a:t>
            </a:r>
            <a:endParaRPr lang="ar-SA" sz="1200" dirty="0"/>
          </a:p>
        </p:txBody>
      </p:sp>
      <p:sp>
        <p:nvSpPr>
          <p:cNvPr id="26" name="Text 2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أول برنامج: الوميض  ·  ٩٥</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400"/>
                                        <p:tgtEl>
                                          <p:spTgt spid="21"/>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400"/>
                                        <p:tgtEl>
                                          <p:spTgt spid="22"/>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3"/>
                                        </p:tgtEl>
                                        <p:attrNameLst>
                                          <p:attrName>style.visibility</p:attrName>
                                        </p:attrNameLst>
                                      </p:cBhvr>
                                      <p:to>
                                        <p:strVal val="visible"/>
                                      </p:to>
                                    </p:set>
                                    <p:animEffect transition="in" filter="fade">
                                      <p:cBhvr>
                                        <p:cTn id="69" dur="400"/>
                                        <p:tgtEl>
                                          <p:spTgt spid="23"/>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4"/>
                                        </p:tgtEl>
                                        <p:attrNameLst>
                                          <p:attrName>style.visibility</p:attrName>
                                        </p:attrNameLst>
                                      </p:cBhvr>
                                      <p:to>
                                        <p:strVal val="visible"/>
                                      </p:to>
                                    </p:set>
                                    <p:animEffect transition="in" filter="fade">
                                      <p:cBhvr>
                                        <p:cTn id="72"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96.xml><?xml version="1.0" encoding="utf-8"?>
<p:sld xmlns:a="http://schemas.openxmlformats.org/drawingml/2006/main" xmlns:r="http://schemas.openxmlformats.org/officeDocument/2006/relationships" xmlns:p="http://schemas.openxmlformats.org/presentationml/2006/main">
  <p:cSld name="Slide 96">
    <p:spTree>
      <p:nvGrpSpPr>
        <p:cNvPr id="1" name=""/>
        <p:cNvGrpSpPr/>
        <p:nvPr/>
      </p:nvGrpSpPr>
      <p:grpSpPr>
        <a:xfrm>
          <a:off x="0" y="0"/>
          <a:ext cx="0" cy="0"/>
          <a:chOff x="0" y="0"/>
          <a:chExt cx="0" cy="0"/>
        </a:xfrm>
      </p:grpSpPr>
      <p:pic>
        <p:nvPicPr>
          <p:cNvPr id="2" name="Image 0" descr="/Users/mac/Desktop/أردوينو/المشاريع والكتب/younes-training/arduino/.pptx-cache/s9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spTree>
      <p:nvGrpSpPr>
        <p:cNvPr id="1" name=""/>
        <p:cNvGrpSpPr/>
        <p:nvPr/>
      </p:nvGrpSpPr>
      <p:grpSpPr>
        <a:xfrm>
          <a:off x="0" y="0"/>
          <a:ext cx="0" cy="0"/>
          <a:chOff x="0" y="0"/>
          <a:chExt cx="0" cy="0"/>
        </a:xfrm>
      </p:grpSpPr>
      <p:pic>
        <p:nvPicPr>
          <p:cNvPr id="2" name="Image 0" descr="/Users/mac/Desktop/أردوينو/المشاريع والكتب/younes-training/arduino/.pptx-cache/s9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spTree>
      <p:nvGrpSpPr>
        <p:cNvPr id="1" name=""/>
        <p:cNvGrpSpPr/>
        <p:nvPr/>
      </p:nvGrpSpPr>
      <p:grpSpPr>
        <a:xfrm>
          <a:off x="0" y="0"/>
          <a:ext cx="0" cy="0"/>
          <a:chOff x="0" y="0"/>
          <a:chExt cx="0" cy="0"/>
        </a:xfrm>
      </p:grpSpPr>
      <p:pic>
        <p:nvPicPr>
          <p:cNvPr id="2" name="Image 0" descr="/Users/mac/Desktop/أردوينو/المشاريع والكتب/younes-training/arduino/.pptx-cache/s9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81567" y="457200"/>
            <a:ext cx="2487168" cy="457200"/>
          </a:xfrm>
          <a:prstGeom prst="roundRect">
            <a:avLst>
              <a:gd name="adj" fmla="val 50000"/>
            </a:avLst>
          </a:prstGeom>
          <a:solidFill>
            <a:srgbClr val="F6EBCF"/>
          </a:solidFill>
          <a:ln/>
        </p:spPr>
      </p:sp>
      <p:sp>
        <p:nvSpPr>
          <p:cNvPr id="3" name="Text 1"/>
          <p:cNvSpPr/>
          <p:nvPr/>
        </p:nvSpPr>
        <p:spPr>
          <a:xfrm>
            <a:off x="8881567" y="45720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اختبر نفسك</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الليد يضيء لكن خافت جدًا… ما السبب؟</a:t>
            </a:r>
            <a:endParaRPr lang="ar-SA" sz="3200" dirty="0"/>
          </a:p>
        </p:txBody>
      </p:sp>
      <p:sp>
        <p:nvSpPr>
          <p:cNvPr id="5" name="Shape 3"/>
          <p:cNvSpPr/>
          <p:nvPr/>
        </p:nvSpPr>
        <p:spPr>
          <a:xfrm>
            <a:off x="822960" y="2057400"/>
            <a:ext cx="10545775" cy="1228344"/>
          </a:xfrm>
          <a:prstGeom prst="roundRect">
            <a:avLst>
              <a:gd name="adj" fmla="val 11911"/>
            </a:avLst>
          </a:prstGeom>
          <a:solidFill>
            <a:srgbClr val="FFFFFF"/>
          </a:solidFill>
          <a:ln w="19050">
            <a:solidFill>
              <a:srgbClr val="E4DCC8"/>
            </a:solidFill>
            <a:prstDash val="solid"/>
          </a:ln>
        </p:spPr>
      </p:sp>
      <p:sp>
        <p:nvSpPr>
          <p:cNvPr id="6" name="Shape 4"/>
          <p:cNvSpPr/>
          <p:nvPr/>
        </p:nvSpPr>
        <p:spPr>
          <a:xfrm>
            <a:off x="10231831" y="2194560"/>
            <a:ext cx="954024" cy="954024"/>
          </a:xfrm>
          <a:prstGeom prst="roundRect">
            <a:avLst>
              <a:gd name="adj" fmla="val 11502"/>
            </a:avLst>
          </a:prstGeom>
          <a:solidFill>
            <a:srgbClr val="101B45"/>
          </a:solidFill>
          <a:ln/>
        </p:spPr>
      </p:sp>
      <p:sp>
        <p:nvSpPr>
          <p:cNvPr id="7" name="Text 5"/>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8" name="Text 6"/>
          <p:cNvSpPr/>
          <p:nvPr/>
        </p:nvSpPr>
        <p:spPr>
          <a:xfrm>
            <a:off x="1097280" y="2057400"/>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قيمة delay صغيرة</a:t>
            </a:r>
            <a:endParaRPr lang="ar-SA" sz="2500" dirty="0"/>
          </a:p>
        </p:txBody>
      </p:sp>
      <p:sp>
        <p:nvSpPr>
          <p:cNvPr id="9" name="anim-g1-723"/>
          <p:cNvSpPr/>
          <p:nvPr/>
        </p:nvSpPr>
        <p:spPr>
          <a:xfrm>
            <a:off x="822960" y="2057400"/>
            <a:ext cx="10545775" cy="1228344"/>
          </a:xfrm>
          <a:prstGeom prst="roundRect">
            <a:avLst>
              <a:gd name="adj" fmla="val 11911"/>
            </a:avLst>
          </a:prstGeom>
          <a:solidFill>
            <a:srgbClr val="F7F7F9"/>
          </a:solidFill>
          <a:ln w="19050">
            <a:solidFill>
              <a:srgbClr val="E4DCC8"/>
            </a:solidFill>
            <a:prstDash val="solid"/>
          </a:ln>
        </p:spPr>
      </p:sp>
      <p:sp>
        <p:nvSpPr>
          <p:cNvPr id="10" name="anim-g1-724"/>
          <p:cNvSpPr/>
          <p:nvPr/>
        </p:nvSpPr>
        <p:spPr>
          <a:xfrm>
            <a:off x="10231831" y="2194560"/>
            <a:ext cx="954024" cy="954024"/>
          </a:xfrm>
          <a:prstGeom prst="roundRect">
            <a:avLst>
              <a:gd name="adj" fmla="val 11502"/>
            </a:avLst>
          </a:prstGeom>
          <a:solidFill>
            <a:srgbClr val="A3A9BA"/>
          </a:solidFill>
          <a:ln/>
        </p:spPr>
      </p:sp>
      <p:sp>
        <p:nvSpPr>
          <p:cNvPr id="11" name="anim-g1-725"/>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12" name="anim-g1-726"/>
          <p:cNvSpPr/>
          <p:nvPr/>
        </p:nvSpPr>
        <p:spPr>
          <a:xfrm>
            <a:off x="1097280" y="2093976"/>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قيمة delay صغيرة</a:t>
            </a:r>
            <a:endParaRPr lang="ar-SA" sz="2400" dirty="0"/>
          </a:p>
        </p:txBody>
      </p:sp>
      <p:sp>
        <p:nvSpPr>
          <p:cNvPr id="13" name="anim-g1-727"/>
          <p:cNvSpPr/>
          <p:nvPr/>
        </p:nvSpPr>
        <p:spPr>
          <a:xfrm>
            <a:off x="1097280" y="2720706"/>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قيمة الانتظار تغيّر سرعة الوميض، لا شدة الإضاءة</a:t>
            </a:r>
            <a:endParaRPr lang="ar-SA" sz="1800" dirty="0"/>
          </a:p>
        </p:txBody>
      </p:sp>
      <p:sp>
        <p:nvSpPr>
          <p:cNvPr id="14" name="Shape 12"/>
          <p:cNvSpPr/>
          <p:nvPr/>
        </p:nvSpPr>
        <p:spPr>
          <a:xfrm>
            <a:off x="822960" y="3432048"/>
            <a:ext cx="10545775" cy="1228344"/>
          </a:xfrm>
          <a:prstGeom prst="roundRect">
            <a:avLst>
              <a:gd name="adj" fmla="val 11911"/>
            </a:avLst>
          </a:prstGeom>
          <a:solidFill>
            <a:srgbClr val="FFFFFF"/>
          </a:solidFill>
          <a:ln w="19050">
            <a:solidFill>
              <a:srgbClr val="E4DCC8"/>
            </a:solidFill>
            <a:prstDash val="solid"/>
          </a:ln>
        </p:spPr>
      </p:sp>
      <p:sp>
        <p:nvSpPr>
          <p:cNvPr id="15" name="Shape 13"/>
          <p:cNvSpPr/>
          <p:nvPr/>
        </p:nvSpPr>
        <p:spPr>
          <a:xfrm>
            <a:off x="10231831" y="3569208"/>
            <a:ext cx="954024" cy="954024"/>
          </a:xfrm>
          <a:prstGeom prst="roundRect">
            <a:avLst>
              <a:gd name="adj" fmla="val 11502"/>
            </a:avLst>
          </a:prstGeom>
          <a:solidFill>
            <a:srgbClr val="101B45"/>
          </a:solidFill>
          <a:ln/>
        </p:spPr>
      </p:sp>
      <p:sp>
        <p:nvSpPr>
          <p:cNvPr id="16" name="Text 14"/>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17" name="Text 15"/>
          <p:cNvSpPr/>
          <p:nvPr/>
        </p:nvSpPr>
        <p:spPr>
          <a:xfrm>
            <a:off x="1097280" y="3432048"/>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المقاومة ٢٢٠ كيلو أوم بدل ٢٢٠ أوم</a:t>
            </a:r>
            <a:endParaRPr lang="ar-SA" sz="2500" dirty="0"/>
          </a:p>
        </p:txBody>
      </p:sp>
      <p:sp>
        <p:nvSpPr>
          <p:cNvPr id="18" name="anim-g1-728"/>
          <p:cNvSpPr/>
          <p:nvPr/>
        </p:nvSpPr>
        <p:spPr>
          <a:xfrm>
            <a:off x="822960" y="3432048"/>
            <a:ext cx="10545775" cy="1228344"/>
          </a:xfrm>
          <a:prstGeom prst="roundRect">
            <a:avLst>
              <a:gd name="adj" fmla="val 11911"/>
            </a:avLst>
          </a:prstGeom>
          <a:solidFill>
            <a:srgbClr val="E6F4EC"/>
          </a:solidFill>
          <a:ln w="31750">
            <a:solidFill>
              <a:srgbClr val="2E9E6B"/>
            </a:solidFill>
            <a:prstDash val="solid"/>
          </a:ln>
        </p:spPr>
      </p:sp>
      <p:sp>
        <p:nvSpPr>
          <p:cNvPr id="19" name="anim-g1-729"/>
          <p:cNvSpPr/>
          <p:nvPr/>
        </p:nvSpPr>
        <p:spPr>
          <a:xfrm>
            <a:off x="10231831" y="3569208"/>
            <a:ext cx="954024" cy="954024"/>
          </a:xfrm>
          <a:prstGeom prst="roundRect">
            <a:avLst>
              <a:gd name="adj" fmla="val 11502"/>
            </a:avLst>
          </a:prstGeom>
          <a:solidFill>
            <a:srgbClr val="2E9E6B"/>
          </a:solidFill>
          <a:ln/>
        </p:spPr>
      </p:sp>
      <p:sp>
        <p:nvSpPr>
          <p:cNvPr id="20" name="anim-g1-730"/>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a:t>
            </a:r>
            <a:endParaRPr lang="ar-SA" sz="2400" dirty="0"/>
          </a:p>
        </p:txBody>
      </p:sp>
      <p:sp>
        <p:nvSpPr>
          <p:cNvPr id="21" name="anim-g1-731"/>
          <p:cNvSpPr/>
          <p:nvPr/>
        </p:nvSpPr>
        <p:spPr>
          <a:xfrm>
            <a:off x="1097280" y="3468624"/>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131B34"/>
                </a:solidFill>
                <a:latin typeface="Cairo" pitchFamily="34" charset="0"/>
                <a:ea typeface="Cairo" pitchFamily="34" charset="-122"/>
                <a:cs typeface="Cairo" pitchFamily="34" charset="-120"/>
              </a:rPr>
              <a:t>المقاومة ٢٢٠ كيلو أوم بدل ٢٢٠ أوم</a:t>
            </a:r>
            <a:endParaRPr lang="ar-SA" sz="2400" dirty="0"/>
          </a:p>
        </p:txBody>
      </p:sp>
      <p:sp>
        <p:nvSpPr>
          <p:cNvPr id="22" name="anim-g1-732"/>
          <p:cNvSpPr/>
          <p:nvPr/>
        </p:nvSpPr>
        <p:spPr>
          <a:xfrm>
            <a:off x="1097280" y="4095354"/>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1D5E40"/>
                </a:solidFill>
                <a:latin typeface="Cairo" pitchFamily="34" charset="0"/>
                <a:ea typeface="Cairo" pitchFamily="34" charset="-122"/>
                <a:cs typeface="Cairo" pitchFamily="34" charset="-120"/>
              </a:rPr>
              <a:t>مقاومة أكبر ألف مرة تجعل التيار ضعيفًا جدًا</a:t>
            </a:r>
            <a:endParaRPr lang="ar-SA" sz="1800" dirty="0"/>
          </a:p>
        </p:txBody>
      </p:sp>
      <p:sp>
        <p:nvSpPr>
          <p:cNvPr id="23" name="Shape 21"/>
          <p:cNvSpPr/>
          <p:nvPr/>
        </p:nvSpPr>
        <p:spPr>
          <a:xfrm>
            <a:off x="822960" y="4806696"/>
            <a:ext cx="10545775" cy="1228344"/>
          </a:xfrm>
          <a:prstGeom prst="roundRect">
            <a:avLst>
              <a:gd name="adj" fmla="val 11911"/>
            </a:avLst>
          </a:prstGeom>
          <a:solidFill>
            <a:srgbClr val="FFFFFF"/>
          </a:solidFill>
          <a:ln w="19050">
            <a:solidFill>
              <a:srgbClr val="E4DCC8"/>
            </a:solidFill>
            <a:prstDash val="solid"/>
          </a:ln>
        </p:spPr>
      </p:sp>
      <p:sp>
        <p:nvSpPr>
          <p:cNvPr id="24" name="Shape 22"/>
          <p:cNvSpPr/>
          <p:nvPr/>
        </p:nvSpPr>
        <p:spPr>
          <a:xfrm>
            <a:off x="10231831" y="4943856"/>
            <a:ext cx="954024" cy="954024"/>
          </a:xfrm>
          <a:prstGeom prst="roundRect">
            <a:avLst>
              <a:gd name="adj" fmla="val 11502"/>
            </a:avLst>
          </a:prstGeom>
          <a:solidFill>
            <a:srgbClr val="101B45"/>
          </a:solidFill>
          <a:ln/>
        </p:spPr>
      </p:sp>
      <p:sp>
        <p:nvSpPr>
          <p:cNvPr id="25" name="Text 23"/>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26" name="Text 24"/>
          <p:cNvSpPr/>
          <p:nvPr/>
        </p:nvSpPr>
        <p:spPr>
          <a:xfrm>
            <a:off x="1097280" y="4806696"/>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المنفذ 13 لا يصلح</a:t>
            </a:r>
            <a:endParaRPr lang="ar-SA" sz="2500" dirty="0"/>
          </a:p>
        </p:txBody>
      </p:sp>
      <p:sp>
        <p:nvSpPr>
          <p:cNvPr id="27" name="anim-g1-733"/>
          <p:cNvSpPr/>
          <p:nvPr/>
        </p:nvSpPr>
        <p:spPr>
          <a:xfrm>
            <a:off x="822960" y="4806696"/>
            <a:ext cx="10545775" cy="1228344"/>
          </a:xfrm>
          <a:prstGeom prst="roundRect">
            <a:avLst>
              <a:gd name="adj" fmla="val 11911"/>
            </a:avLst>
          </a:prstGeom>
          <a:solidFill>
            <a:srgbClr val="F7F7F9"/>
          </a:solidFill>
          <a:ln w="19050">
            <a:solidFill>
              <a:srgbClr val="E4DCC8"/>
            </a:solidFill>
            <a:prstDash val="solid"/>
          </a:ln>
        </p:spPr>
      </p:sp>
      <p:sp>
        <p:nvSpPr>
          <p:cNvPr id="28" name="anim-g1-734"/>
          <p:cNvSpPr/>
          <p:nvPr/>
        </p:nvSpPr>
        <p:spPr>
          <a:xfrm>
            <a:off x="10231831" y="4943856"/>
            <a:ext cx="954024" cy="954024"/>
          </a:xfrm>
          <a:prstGeom prst="roundRect">
            <a:avLst>
              <a:gd name="adj" fmla="val 11502"/>
            </a:avLst>
          </a:prstGeom>
          <a:solidFill>
            <a:srgbClr val="A3A9BA"/>
          </a:solidFill>
          <a:ln/>
        </p:spPr>
      </p:sp>
      <p:sp>
        <p:nvSpPr>
          <p:cNvPr id="29" name="anim-g1-735"/>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30" name="anim-g1-736"/>
          <p:cNvSpPr/>
          <p:nvPr/>
        </p:nvSpPr>
        <p:spPr>
          <a:xfrm>
            <a:off x="1097280" y="4843272"/>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المنفذ 13 لا يصلح</a:t>
            </a:r>
            <a:endParaRPr lang="ar-SA" sz="2400" dirty="0"/>
          </a:p>
        </p:txBody>
      </p:sp>
      <p:sp>
        <p:nvSpPr>
          <p:cNvPr id="31" name="anim-g1-737"/>
          <p:cNvSpPr/>
          <p:nvPr/>
        </p:nvSpPr>
        <p:spPr>
          <a:xfrm>
            <a:off x="1097280" y="5470002"/>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المنفذ 13 يعمل كأي منفذ رقمي</a:t>
            </a:r>
            <a:endParaRPr lang="ar-SA" sz="1800" dirty="0"/>
          </a:p>
        </p:txBody>
      </p:sp>
      <p:sp>
        <p:nvSpPr>
          <p:cNvPr id="32" name="Text 30"/>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الأردوينو للمعلمين</a:t>
            </a:r>
            <a:endParaRPr lang="ar-SA" sz="1200" dirty="0"/>
          </a:p>
        </p:txBody>
      </p:sp>
      <p:sp>
        <p:nvSpPr>
          <p:cNvPr id="33" name="Text 31"/>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أول برنامج: الوميض  ·  ٩٩</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00"/>
                                        <p:tgtEl>
                                          <p:spTgt spid="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00"/>
                                        <p:tgtEl>
                                          <p:spTgt spid="2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400"/>
                                        <p:tgtEl>
                                          <p:spTgt spid="2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400"/>
                                        <p:tgtEl>
                                          <p:spTgt spid="3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fade">
                                      <p:cBhvr>
                                        <p:cTn id="4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8" grpId="0" animBg="1"/>
      <p:bldP spid="19" grpId="0" animBg="1"/>
      <p:bldP spid="20" grpId="0" animBg="1"/>
      <p:bldP spid="21" grpId="0" animBg="1"/>
      <p:bldP spid="22" grpId="0" animBg="1"/>
      <p:bldP spid="27" grpId="0" animBg="1"/>
      <p:bldP spid="28" grpId="0" animBg="1"/>
      <p:bldP spid="29" grpId="0" animBg="1"/>
      <p:bldP spid="30" grpId="0" animBg="1"/>
      <p:bldP spid="31" grpId="0" animBg="1"/>
    </p:bldLst>
  </p:timing>
</p:sld>
</file>

<file path=ppt/slides/slide100.xml><?xml version="1.0" encoding="utf-8"?>
<p:sld xmlns:a="http://schemas.openxmlformats.org/drawingml/2006/main" xmlns:r="http://schemas.openxmlformats.org/officeDocument/2006/relationships" xmlns:p="http://schemas.openxmlformats.org/presentationml/2006/main">
  <p:cSld name="Slide 100">
    <p:spTree>
      <p:nvGrpSpPr>
        <p:cNvPr id="1" name=""/>
        <p:cNvGrpSpPr/>
        <p:nvPr/>
      </p:nvGrpSpPr>
      <p:grpSpPr>
        <a:xfrm>
          <a:off x="0" y="0"/>
          <a:ext cx="0" cy="0"/>
          <a:chOff x="0" y="0"/>
          <a:chExt cx="0" cy="0"/>
        </a:xfrm>
      </p:grpSpPr>
      <p:pic>
        <p:nvPicPr>
          <p:cNvPr id="2" name="Image 0" descr="/Users/mac/Desktop/أردوينو/المشاريع والكتب/younes-training/arduino/.pptx-cache/s100-0.jpg">    </p:cNvPr>
          <p:cNvPicPr>
            <a:picLocks noChangeAspect="1"/>
          </p:cNvPicPr>
          <p:nvPr/>
        </p:nvPicPr>
        <p:blipFill>
          <a:blip r:embed="rId1"/>
          <a:stretch>
            <a:fillRect/>
          </a:stretch>
        </p:blipFill>
        <p:spPr>
          <a:xfrm>
            <a:off x="0" y="0"/>
            <a:ext cx="12191695" cy="6858000"/>
          </a:xfrm>
          <a:prstGeom prst="rect">
            <a:avLst/>
          </a:prstGeom>
        </p:spPr>
      </p:pic>
      <p:pic>
        <p:nvPicPr>
          <p:cNvPr id="3" name="anim-g1-738" descr="/Users/mac/Desktop/أردوينو/المشاريع والكتب/younes-training/arduino/.pptx-cache/s100-1.jpg">    </p:cNvPr>
          <p:cNvPicPr>
            <a:picLocks noChangeAspect="1"/>
          </p:cNvPicPr>
          <p:nvPr/>
        </p:nvPicPr>
        <p:blipFill>
          <a:blip r:embed="rId2"/>
          <a:stretch>
            <a:fillRect/>
          </a:stretch>
        </p:blipFill>
        <p:spPr>
          <a:xfrm>
            <a:off x="0" y="0"/>
            <a:ext cx="12191695" cy="6858000"/>
          </a:xfrm>
          <a:prstGeom prst="rect">
            <a:avLst/>
          </a:prstGeom>
        </p:spPr>
      </p:pic>
      <p:pic>
        <p:nvPicPr>
          <p:cNvPr id="4" name="anim-g2-739" descr="/Users/mac/Desktop/أردوينو/المشاريع والكتب/younes-training/arduino/.pptx-cache/s100-2.jpg">    </p:cNvPr>
          <p:cNvPicPr>
            <a:picLocks noChangeAspect="1"/>
          </p:cNvPicPr>
          <p:nvPr/>
        </p:nvPicPr>
        <p:blipFill>
          <a:blip r:embed="rId3"/>
          <a:stretch>
            <a:fillRect/>
          </a:stretch>
        </p:blipFill>
        <p:spPr>
          <a:xfrm>
            <a:off x="0" y="0"/>
            <a:ext cx="12191695" cy="6858000"/>
          </a:xfrm>
          <a:prstGeom prst="rect">
            <a:avLst/>
          </a:prstGeom>
        </p:spPr>
      </p:pic>
      <p:pic>
        <p:nvPicPr>
          <p:cNvPr id="5" name="anim-g3-740" descr="/Users/mac/Desktop/أردوينو/المشاريع والكتب/younes-training/arduino/.pptx-cache/s100-3.jpg">    </p:cNvPr>
          <p:cNvPicPr>
            <a:picLocks noChangeAspect="1"/>
          </p:cNvPicPr>
          <p:nvPr/>
        </p:nvPicPr>
        <p:blipFill>
          <a:blip r:embed="rId4"/>
          <a:stretch>
            <a:fillRect/>
          </a:stretch>
        </p:blipFill>
        <p:spPr>
          <a:xfrm>
            <a:off x="0" y="0"/>
            <a:ext cx="12191695" cy="6858000"/>
          </a:xfrm>
          <a:prstGeom prst="rect">
            <a:avLst/>
          </a:prstGeom>
        </p:spPr>
      </p:pic>
      <p:pic>
        <p:nvPicPr>
          <p:cNvPr id="6" name="anim-g4-741" descr="/Users/mac/Desktop/أردوينو/المشاريع والكتب/younes-training/arduino/.pptx-cache/s100-4.jpg">    </p:cNvPr>
          <p:cNvPicPr>
            <a:picLocks noChangeAspect="1"/>
          </p:cNvPicPr>
          <p:nvPr/>
        </p:nvPicPr>
        <p:blipFill>
          <a:blip r:embed="rId5"/>
          <a:stretch>
            <a:fillRect/>
          </a:stretch>
        </p:blipFill>
        <p:spPr>
          <a:xfrm>
            <a:off x="0" y="0"/>
            <a:ext cx="12191695" cy="6858000"/>
          </a:xfrm>
          <a:prstGeom prst="rect">
            <a:avLst/>
          </a:prstGeom>
        </p:spPr>
      </p:pic>
      <p:pic>
        <p:nvPicPr>
          <p:cNvPr id="7" name="anim-g5-742" descr="/Users/mac/Desktop/أردوينو/المشاريع والكتب/younes-training/arduino/.pptx-cache/s100-5.jpg">    </p:cNvPr>
          <p:cNvPicPr>
            <a:picLocks noChangeAspect="1"/>
          </p:cNvPicPr>
          <p:nvPr/>
        </p:nvPicPr>
        <p:blipFill>
          <a:blip r:embed="rId6"/>
          <a:stretch>
            <a:fillRect/>
          </a:stretch>
        </p:blipFill>
        <p:spPr>
          <a:xfrm>
            <a:off x="0" y="0"/>
            <a:ext cx="12191695" cy="6858000"/>
          </a:xfrm>
          <a:prstGeom prst="rect">
            <a:avLst/>
          </a:prstGeom>
        </p:spPr>
      </p:pic>
      <p:pic>
        <p:nvPicPr>
          <p:cNvPr id="8" name="anim-g6-743" descr="/Users/mac/Desktop/أردوينو/المشاريع والكتب/younes-training/arduino/.pptx-cache/s100-6.jpg">    </p:cNvPr>
          <p:cNvPicPr>
            <a:picLocks noChangeAspect="1"/>
          </p:cNvPicPr>
          <p:nvPr/>
        </p:nvPicPr>
        <p:blipFill>
          <a:blip r:embed="rId7"/>
          <a:stretch>
            <a:fillRect/>
          </a:stretch>
        </p:blipFill>
        <p:spPr>
          <a:xfrm>
            <a:off x="0" y="0"/>
            <a:ext cx="12191695" cy="6858000"/>
          </a:xfrm>
          <a:prstGeom prst="rect">
            <a:avLst/>
          </a:prstGeom>
        </p:spPr>
      </p:pic>
      <p:pic>
        <p:nvPicPr>
          <p:cNvPr id="9" name="anim-g7-744" descr="/Users/mac/Desktop/أردوينو/المشاريع والكتب/younes-training/arduino/.pptx-cache/s100-7.jpg">    </p:cNvPr>
          <p:cNvPicPr>
            <a:picLocks noChangeAspect="1"/>
          </p:cNvPicPr>
          <p:nvPr/>
        </p:nvPicPr>
        <p:blipFill>
          <a:blip r:embed="rId8"/>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4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name="Slide 101">
    <p:spTree>
      <p:nvGrpSpPr>
        <p:cNvPr id="1" name=""/>
        <p:cNvGrpSpPr/>
        <p:nvPr/>
      </p:nvGrpSpPr>
      <p:grpSpPr>
        <a:xfrm>
          <a:off x="0" y="0"/>
          <a:ext cx="0" cy="0"/>
          <a:chOff x="0" y="0"/>
          <a:chExt cx="0" cy="0"/>
        </a:xfrm>
      </p:grpSpPr>
      <p:pic>
        <p:nvPicPr>
          <p:cNvPr id="2" name="Image 0" descr="/Users/mac/Desktop/أردوينو/المشاريع والكتب/younes-training/arduino/.pptx-cache/s10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spTree>
      <p:nvGrpSpPr>
        <p:cNvPr id="1" name=""/>
        <p:cNvGrpSpPr/>
        <p:nvPr/>
      </p:nvGrpSpPr>
      <p:grpSpPr>
        <a:xfrm>
          <a:off x="0" y="0"/>
          <a:ext cx="0" cy="0"/>
          <a:chOff x="0" y="0"/>
          <a:chExt cx="0" cy="0"/>
        </a:xfrm>
      </p:grpSpPr>
      <p:pic>
        <p:nvPicPr>
          <p:cNvPr id="2" name="Image 0" descr="/Users/mac/Desktop/أردوينو/المشاريع والكتب/younes-training/arduino/.pptx-cache/s10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852264" y="1188720"/>
            <a:ext cx="2487168"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852264" y="118872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خلاصة المحور</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ثلاثة أوامر، وليد واحد…</a:t>
            </a:r>
            <a:endParaRPr lang="ar-SA" sz="4400" dirty="0"/>
          </a:p>
          <a:p>
            <a:pPr algn="ctr" indent="0" marL="0">
              <a:lnSpc>
                <a:spcPct val="115000"/>
              </a:lnSpc>
              <a:buNone/>
            </a:pPr>
            <a:r>
              <a:rPr lang="ar-SA" altLang="en-US" sz="4400" dirty="0">
                <a:solidFill>
                  <a:srgbClr val="F0CC7A"/>
                </a:solidFill>
                <a:latin typeface="Cairo Black" pitchFamily="34" charset="0"/>
                <a:ea typeface="Cairo Black" pitchFamily="34" charset="-122"/>
                <a:cs typeface="Cairo Black" pitchFamily="34" charset="-120"/>
              </a:rPr>
              <a:t> وبداية رحلة لا تنتهي</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الأردوينو للمعلمين</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أول برنامج: الوميض  ·  ١٠٣</a:t>
            </a:r>
            <a:endParaRPr lang="ar-SA" sz="120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97280" y="2103120"/>
            <a:ext cx="2651760" cy="2651760"/>
          </a:xfrm>
          <a:prstGeom prst="ellipse">
            <a:avLst/>
          </a:prstGeom>
          <a:solidFill>
            <a:srgbClr val="D9AE4B">
              <a:alpha val="12000"/>
            </a:srgbClr>
          </a:solidFill>
          <a:ln w="63500">
            <a:solidFill>
              <a:srgbClr val="D9AE4B">
                <a:alpha val="60000"/>
              </a:srgbClr>
            </a:solidFill>
            <a:prstDash val="solid"/>
          </a:ln>
        </p:spPr>
      </p:sp>
      <p:sp>
        <p:nvSpPr>
          <p:cNvPr id="3" name="Text 1"/>
          <p:cNvSpPr/>
          <p:nvPr/>
        </p:nvSpPr>
        <p:spPr>
          <a:xfrm>
            <a:off x="1097280" y="2103120"/>
            <a:ext cx="2651760" cy="2651760"/>
          </a:xfrm>
          <a:prstGeom prst="rect">
            <a:avLst/>
          </a:prstGeom>
          <a:noFill/>
          <a:ln/>
        </p:spPr>
        <p:txBody>
          <a:bodyPr wrap="square" lIns="0" tIns="0" rIns="0" bIns="0" rtlCol="0" anchor="ctr">
            <a:normAutofit/>
          </a:bodyPr>
          <a:lstStyle/>
          <a:p>
            <a:pPr rtl="1" algn="ctr" indent="0" marL="0">
              <a:buNone/>
            </a:pPr>
            <a:r>
              <a:rPr lang="ar-SA" altLang="en-US" sz="12000" dirty="0">
                <a:solidFill>
                  <a:srgbClr val="F0CC7A"/>
                </a:solidFill>
                <a:latin typeface="Cairo Black" pitchFamily="34" charset="0"/>
                <a:ea typeface="Cairo Black" pitchFamily="34" charset="-122"/>
                <a:cs typeface="Cairo Black" pitchFamily="34" charset="-120"/>
              </a:rPr>
              <a:t>٨</a:t>
            </a:r>
            <a:endParaRPr lang="ar-SA" sz="12000" dirty="0"/>
          </a:p>
        </p:txBody>
      </p:sp>
      <p:sp>
        <p:nvSpPr>
          <p:cNvPr id="4" name="Text 2"/>
          <p:cNvSpPr/>
          <p:nvPr/>
        </p:nvSpPr>
        <p:spPr>
          <a:xfrm>
            <a:off x="4206240" y="1828800"/>
            <a:ext cx="7162495" cy="457200"/>
          </a:xfrm>
          <a:prstGeom prst="rect">
            <a:avLst/>
          </a:prstGeom>
          <a:noFill/>
          <a:ln/>
        </p:spPr>
        <p:txBody>
          <a:bodyPr wrap="square" lIns="0" tIns="0" rIns="0" bIns="0" rtlCol="0" anchor="ctr">
            <a:normAutofit/>
          </a:bodyPr>
          <a:lstStyle/>
          <a:p>
            <a:pPr rtl="1" algn="r" indent="0" marL="0">
              <a:buNone/>
            </a:pPr>
            <a:r>
              <a:rPr lang="ar-SA" altLang="en-US" sz="2000" b="1" dirty="0">
                <a:solidFill>
                  <a:srgbClr val="D9AE4B"/>
                </a:solidFill>
                <a:latin typeface="Cairo" pitchFamily="34" charset="0"/>
                <a:ea typeface="Cairo" pitchFamily="34" charset="-122"/>
                <a:cs typeface="Cairo" pitchFamily="34" charset="-120"/>
              </a:rPr>
              <a:t>المحور ٨</a:t>
            </a:r>
            <a:endParaRPr lang="ar-SA" sz="2000" dirty="0"/>
          </a:p>
        </p:txBody>
      </p:sp>
      <p:sp>
        <p:nvSpPr>
          <p:cNvPr id="5" name="Text 3"/>
          <p:cNvSpPr/>
          <p:nvPr/>
        </p:nvSpPr>
        <p:spPr>
          <a:xfrm>
            <a:off x="4206240" y="2286000"/>
            <a:ext cx="7162495" cy="1371600"/>
          </a:xfrm>
          <a:prstGeom prst="rect">
            <a:avLst/>
          </a:prstGeom>
          <a:noFill/>
          <a:ln/>
        </p:spPr>
        <p:txBody>
          <a:bodyPr wrap="square" lIns="0" tIns="0" rIns="0" bIns="0" rtlCol="0" anchor="ctr">
            <a:normAutofit/>
          </a:bodyPr>
          <a:lstStyle/>
          <a:p>
            <a:pPr rtl="1" algn="r" indent="0" marL="0">
              <a:buNone/>
            </a:pPr>
            <a:r>
              <a:rPr lang="ar-SA" altLang="en-US" sz="5600" dirty="0">
                <a:solidFill>
                  <a:srgbClr val="FFFFFF"/>
                </a:solidFill>
                <a:latin typeface="Cairo Black" pitchFamily="34" charset="0"/>
                <a:ea typeface="Cairo Black" pitchFamily="34" charset="-122"/>
                <a:cs typeface="Cairo Black" pitchFamily="34" charset="-120"/>
              </a:rPr>
              <a:t>إشارة المرور والمتغيرات</a:t>
            </a:r>
            <a:endParaRPr lang="ar-SA" sz="5600" dirty="0"/>
          </a:p>
        </p:txBody>
      </p:sp>
      <p:sp>
        <p:nvSpPr>
          <p:cNvPr id="6" name="Text 4"/>
          <p:cNvSpPr/>
          <p:nvPr/>
        </p:nvSpPr>
        <p:spPr>
          <a:xfrm>
            <a:off x="4206240" y="3749040"/>
            <a:ext cx="7162495" cy="822960"/>
          </a:xfrm>
          <a:prstGeom prst="rect">
            <a:avLst/>
          </a:prstGeom>
          <a:noFill/>
          <a:ln/>
        </p:spPr>
        <p:txBody>
          <a:bodyPr wrap="square" lIns="0" tIns="0" rIns="0" bIns="0" rtlCol="0" anchor="ctr">
            <a:normAutofit/>
          </a:bodyPr>
          <a:lstStyle/>
          <a:p>
            <a:pPr rtl="1" algn="r" indent="0" marL="0">
              <a:buNone/>
            </a:pPr>
            <a:r>
              <a:rPr lang="ar-SA" altLang="en-US" sz="2200" b="1" dirty="0">
                <a:solidFill>
                  <a:srgbClr val="C9CFE6"/>
                </a:solidFill>
                <a:latin typeface="Cairo" pitchFamily="34" charset="0"/>
                <a:ea typeface="Cairo" pitchFamily="34" charset="-122"/>
                <a:cs typeface="Cairo" pitchFamily="34" charset="-120"/>
              </a:rPr>
              <a:t>ثلاثة ليدات، ومتغيرات، وحلقة… نظام حقيقي من حياتنا</a:t>
            </a:r>
            <a:endParaRPr lang="ar-SA" sz="2200" dirty="0"/>
          </a:p>
        </p:txBody>
      </p:sp>
      <p:sp>
        <p:nvSpPr>
          <p:cNvPr id="7" name="Text 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الأردوينو للمعلمين</a:t>
            </a:r>
            <a:endParaRPr lang="ar-SA" sz="1200" dirty="0"/>
          </a:p>
        </p:txBody>
      </p:sp>
      <p:sp>
        <p:nvSpPr>
          <p:cNvPr id="8" name="Text 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إشارة المرور والمتغيرات  ·  ١٠٤</a:t>
            </a:r>
            <a:endParaRPr lang="ar-SA" sz="120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248095" y="457200"/>
            <a:ext cx="5120640" cy="457200"/>
          </a:xfrm>
          <a:prstGeom prst="roundRect">
            <a:avLst>
              <a:gd name="adj" fmla="val 50000"/>
            </a:avLst>
          </a:prstGeom>
          <a:solidFill>
            <a:srgbClr val="F6EBCF"/>
          </a:solidFill>
          <a:ln/>
        </p:spPr>
      </p:sp>
      <p:sp>
        <p:nvSpPr>
          <p:cNvPr id="3" name="Text 1"/>
          <p:cNvSpPr/>
          <p:nvPr/>
        </p:nvSpPr>
        <p:spPr>
          <a:xfrm>
            <a:off x="6248095" y="457200"/>
            <a:ext cx="512064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بنهاية هذا المحور تستطيع أن</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أهداف المحور</a:t>
            </a:r>
            <a:endParaRPr lang="ar-SA" sz="3800" dirty="0"/>
          </a:p>
        </p:txBody>
      </p:sp>
      <p:sp>
        <p:nvSpPr>
          <p:cNvPr id="5" name="anim-g1-745"/>
          <p:cNvSpPr/>
          <p:nvPr/>
        </p:nvSpPr>
        <p:spPr>
          <a:xfrm>
            <a:off x="822960" y="1920240"/>
            <a:ext cx="10545775" cy="946404"/>
          </a:xfrm>
          <a:prstGeom prst="roundRect">
            <a:avLst>
              <a:gd name="adj" fmla="val 15459"/>
            </a:avLst>
          </a:prstGeom>
          <a:solidFill>
            <a:srgbClr val="FFFFFF"/>
          </a:solidFill>
          <a:ln w="12700">
            <a:solidFill>
              <a:srgbClr val="E4DCC8"/>
            </a:solidFill>
            <a:prstDash val="solid"/>
          </a:ln>
        </p:spPr>
      </p:sp>
      <p:sp>
        <p:nvSpPr>
          <p:cNvPr id="6" name="anim-g1-746"/>
          <p:cNvSpPr/>
          <p:nvPr/>
        </p:nvSpPr>
        <p:spPr>
          <a:xfrm>
            <a:off x="10573207" y="2109978"/>
            <a:ext cx="566928" cy="566928"/>
          </a:xfrm>
          <a:prstGeom prst="ellipse">
            <a:avLst/>
          </a:prstGeom>
          <a:solidFill>
            <a:srgbClr val="D9AE4B"/>
          </a:solidFill>
          <a:ln/>
        </p:spPr>
      </p:sp>
      <p:sp>
        <p:nvSpPr>
          <p:cNvPr id="7" name="anim-g1-747"/>
          <p:cNvSpPr/>
          <p:nvPr/>
        </p:nvSpPr>
        <p:spPr>
          <a:xfrm>
            <a:off x="10573207" y="2109978"/>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١</a:t>
            </a:r>
            <a:endParaRPr lang="ar-SA" sz="2000" dirty="0"/>
          </a:p>
        </p:txBody>
      </p:sp>
      <p:sp>
        <p:nvSpPr>
          <p:cNvPr id="8" name="anim-g1-748"/>
          <p:cNvSpPr/>
          <p:nvPr/>
        </p:nvSpPr>
        <p:spPr>
          <a:xfrm>
            <a:off x="1097280" y="1920240"/>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تبرمج إشارة مرور بثلاثة ليدات</a:t>
            </a:r>
            <a:endParaRPr lang="ar-SA" sz="2400" dirty="0"/>
          </a:p>
        </p:txBody>
      </p:sp>
      <p:sp>
        <p:nvSpPr>
          <p:cNvPr id="9" name="anim-g2-749"/>
          <p:cNvSpPr/>
          <p:nvPr/>
        </p:nvSpPr>
        <p:spPr>
          <a:xfrm>
            <a:off x="822960" y="2976372"/>
            <a:ext cx="10545775" cy="946404"/>
          </a:xfrm>
          <a:prstGeom prst="roundRect">
            <a:avLst>
              <a:gd name="adj" fmla="val 15459"/>
            </a:avLst>
          </a:prstGeom>
          <a:solidFill>
            <a:srgbClr val="FFFFFF"/>
          </a:solidFill>
          <a:ln w="12700">
            <a:solidFill>
              <a:srgbClr val="E4DCC8"/>
            </a:solidFill>
            <a:prstDash val="solid"/>
          </a:ln>
        </p:spPr>
      </p:sp>
      <p:sp>
        <p:nvSpPr>
          <p:cNvPr id="10" name="anim-g2-750"/>
          <p:cNvSpPr/>
          <p:nvPr/>
        </p:nvSpPr>
        <p:spPr>
          <a:xfrm>
            <a:off x="10573207" y="3166110"/>
            <a:ext cx="566928" cy="566928"/>
          </a:xfrm>
          <a:prstGeom prst="ellipse">
            <a:avLst/>
          </a:prstGeom>
          <a:solidFill>
            <a:srgbClr val="D9AE4B"/>
          </a:solidFill>
          <a:ln/>
        </p:spPr>
      </p:sp>
      <p:sp>
        <p:nvSpPr>
          <p:cNvPr id="11" name="anim-g2-751"/>
          <p:cNvSpPr/>
          <p:nvPr/>
        </p:nvSpPr>
        <p:spPr>
          <a:xfrm>
            <a:off x="10573207" y="3166110"/>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٢</a:t>
            </a:r>
            <a:endParaRPr lang="ar-SA" sz="2000" dirty="0"/>
          </a:p>
        </p:txBody>
      </p:sp>
      <p:sp>
        <p:nvSpPr>
          <p:cNvPr id="12" name="anim-g2-752"/>
          <p:cNvSpPr/>
          <p:nvPr/>
        </p:nvSpPr>
        <p:spPr>
          <a:xfrm>
            <a:off x="1097280" y="2976372"/>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تستخدم المتغيرات لتسمية المنافذ والقيم</a:t>
            </a:r>
            <a:endParaRPr lang="ar-SA" sz="2400" dirty="0"/>
          </a:p>
        </p:txBody>
      </p:sp>
      <p:sp>
        <p:nvSpPr>
          <p:cNvPr id="13" name="anim-g3-753"/>
          <p:cNvSpPr/>
          <p:nvPr/>
        </p:nvSpPr>
        <p:spPr>
          <a:xfrm>
            <a:off x="822960" y="4032504"/>
            <a:ext cx="10545775" cy="946404"/>
          </a:xfrm>
          <a:prstGeom prst="roundRect">
            <a:avLst>
              <a:gd name="adj" fmla="val 15459"/>
            </a:avLst>
          </a:prstGeom>
          <a:solidFill>
            <a:srgbClr val="FFFFFF"/>
          </a:solidFill>
          <a:ln w="12700">
            <a:solidFill>
              <a:srgbClr val="E4DCC8"/>
            </a:solidFill>
            <a:prstDash val="solid"/>
          </a:ln>
        </p:spPr>
      </p:sp>
      <p:sp>
        <p:nvSpPr>
          <p:cNvPr id="14" name="anim-g3-754"/>
          <p:cNvSpPr/>
          <p:nvPr/>
        </p:nvSpPr>
        <p:spPr>
          <a:xfrm>
            <a:off x="10573207" y="4222242"/>
            <a:ext cx="566928" cy="566928"/>
          </a:xfrm>
          <a:prstGeom prst="ellipse">
            <a:avLst/>
          </a:prstGeom>
          <a:solidFill>
            <a:srgbClr val="D9AE4B"/>
          </a:solidFill>
          <a:ln/>
        </p:spPr>
      </p:sp>
      <p:sp>
        <p:nvSpPr>
          <p:cNvPr id="15" name="anim-g3-755"/>
          <p:cNvSpPr/>
          <p:nvPr/>
        </p:nvSpPr>
        <p:spPr>
          <a:xfrm>
            <a:off x="10573207" y="4222242"/>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٣</a:t>
            </a:r>
            <a:endParaRPr lang="ar-SA" sz="2000" dirty="0"/>
          </a:p>
        </p:txBody>
      </p:sp>
      <p:sp>
        <p:nvSpPr>
          <p:cNvPr id="16" name="anim-g3-756"/>
          <p:cNvSpPr/>
          <p:nvPr/>
        </p:nvSpPr>
        <p:spPr>
          <a:xfrm>
            <a:off x="1097280" y="4032504"/>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تكرر الأوامر بحلقة for</a:t>
            </a:r>
            <a:endParaRPr lang="ar-SA" sz="2400" dirty="0"/>
          </a:p>
        </p:txBody>
      </p:sp>
      <p:sp>
        <p:nvSpPr>
          <p:cNvPr id="17" name="anim-g4-757"/>
          <p:cNvSpPr/>
          <p:nvPr/>
        </p:nvSpPr>
        <p:spPr>
          <a:xfrm>
            <a:off x="822960" y="5088636"/>
            <a:ext cx="10545775" cy="946404"/>
          </a:xfrm>
          <a:prstGeom prst="roundRect">
            <a:avLst>
              <a:gd name="adj" fmla="val 15459"/>
            </a:avLst>
          </a:prstGeom>
          <a:solidFill>
            <a:srgbClr val="FFFFFF"/>
          </a:solidFill>
          <a:ln w="12700">
            <a:solidFill>
              <a:srgbClr val="E4DCC8"/>
            </a:solidFill>
            <a:prstDash val="solid"/>
          </a:ln>
        </p:spPr>
      </p:sp>
      <p:sp>
        <p:nvSpPr>
          <p:cNvPr id="18" name="anim-g4-758"/>
          <p:cNvSpPr/>
          <p:nvPr/>
        </p:nvSpPr>
        <p:spPr>
          <a:xfrm>
            <a:off x="10573207" y="5278374"/>
            <a:ext cx="566928" cy="566928"/>
          </a:xfrm>
          <a:prstGeom prst="ellipse">
            <a:avLst/>
          </a:prstGeom>
          <a:solidFill>
            <a:srgbClr val="D9AE4B"/>
          </a:solidFill>
          <a:ln/>
        </p:spPr>
      </p:sp>
      <p:sp>
        <p:nvSpPr>
          <p:cNvPr id="19" name="anim-g4-759"/>
          <p:cNvSpPr/>
          <p:nvPr/>
        </p:nvSpPr>
        <p:spPr>
          <a:xfrm>
            <a:off x="10573207" y="5278374"/>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٤</a:t>
            </a:r>
            <a:endParaRPr lang="ar-SA" sz="2000" dirty="0"/>
          </a:p>
        </p:txBody>
      </p:sp>
      <p:sp>
        <p:nvSpPr>
          <p:cNvPr id="20" name="anim-g4-760"/>
          <p:cNvSpPr/>
          <p:nvPr/>
        </p:nvSpPr>
        <p:spPr>
          <a:xfrm>
            <a:off x="1097280" y="5088636"/>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تعرض الرسائل على الشاشة التسلسلية</a:t>
            </a:r>
            <a:endParaRPr lang="ar-SA" sz="2400" dirty="0"/>
          </a:p>
        </p:txBody>
      </p:sp>
      <p:sp>
        <p:nvSpPr>
          <p:cNvPr id="21" name="Text 19"/>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الأردوينو للمعلمين</a:t>
            </a:r>
            <a:endParaRPr lang="ar-SA" sz="1200" dirty="0"/>
          </a:p>
        </p:txBody>
      </p:sp>
      <p:sp>
        <p:nvSpPr>
          <p:cNvPr id="22" name="Text 20"/>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إشارة المرور والمتغيرات  ·  ١٠٥</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106.xml><?xml version="1.0" encoding="utf-8"?>
<p:sld xmlns:a="http://schemas.openxmlformats.org/drawingml/2006/main" xmlns:r="http://schemas.openxmlformats.org/officeDocument/2006/relationships" xmlns:p="http://schemas.openxmlformats.org/presentationml/2006/main">
  <p:cSld name="Slide 10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9174175" y="457200"/>
            <a:ext cx="2194560" cy="457200"/>
          </a:xfrm>
          <a:prstGeom prst="roundRect">
            <a:avLst>
              <a:gd name="adj" fmla="val 50000"/>
            </a:avLst>
          </a:prstGeom>
          <a:solidFill>
            <a:srgbClr val="F6EBCF"/>
          </a:solidFill>
          <a:ln/>
        </p:spPr>
      </p:sp>
      <p:sp>
        <p:nvSpPr>
          <p:cNvPr id="3" name="Text 1"/>
          <p:cNvSpPr/>
          <p:nvPr/>
        </p:nvSpPr>
        <p:spPr>
          <a:xfrm>
            <a:off x="9174175" y="457200"/>
            <a:ext cx="219456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الاحتياجات</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ماذا نحتاج لإشارة المرور؟</a:t>
            </a:r>
            <a:endParaRPr lang="ar-SA" sz="3800" dirty="0"/>
          </a:p>
        </p:txBody>
      </p:sp>
      <p:sp>
        <p:nvSpPr>
          <p:cNvPr id="5" name="anim-g1-761"/>
          <p:cNvSpPr/>
          <p:nvPr/>
        </p:nvSpPr>
        <p:spPr>
          <a:xfrm>
            <a:off x="8938031" y="2148840"/>
            <a:ext cx="2430704" cy="3566160"/>
          </a:xfrm>
          <a:prstGeom prst="roundRect">
            <a:avLst>
              <a:gd name="adj" fmla="val 677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762"/>
          <p:cNvSpPr/>
          <p:nvPr/>
        </p:nvSpPr>
        <p:spPr>
          <a:xfrm>
            <a:off x="10362895" y="2404872"/>
            <a:ext cx="731520" cy="731520"/>
          </a:xfrm>
          <a:prstGeom prst="roundRect">
            <a:avLst>
              <a:gd name="adj" fmla="val 25000"/>
            </a:avLst>
          </a:prstGeom>
          <a:solidFill>
            <a:srgbClr val="F7E6BC"/>
          </a:solidFill>
          <a:ln/>
        </p:spPr>
      </p:sp>
      <p:sp>
        <p:nvSpPr>
          <p:cNvPr id="7" name="anim-g1-763"/>
          <p:cNvSpPr/>
          <p:nvPr/>
        </p:nvSpPr>
        <p:spPr>
          <a:xfrm>
            <a:off x="10362895"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8" name="anim-g1-764"/>
          <p:cNvSpPr/>
          <p:nvPr/>
        </p:nvSpPr>
        <p:spPr>
          <a:xfrm>
            <a:off x="9212351" y="3246120"/>
            <a:ext cx="1882064"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لوحة Uno</a:t>
            </a:r>
            <a:endParaRPr lang="ar-SA" sz="2300" dirty="0"/>
          </a:p>
        </p:txBody>
      </p:sp>
      <p:sp>
        <p:nvSpPr>
          <p:cNvPr id="9" name="anim-g1-765"/>
          <p:cNvSpPr/>
          <p:nvPr/>
        </p:nvSpPr>
        <p:spPr>
          <a:xfrm>
            <a:off x="9212351" y="3794760"/>
            <a:ext cx="1882064"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ولوح توصيل وأسلاك</a:t>
            </a:r>
            <a:endParaRPr lang="ar-SA" sz="2100" dirty="0"/>
          </a:p>
        </p:txBody>
      </p:sp>
      <p:sp>
        <p:nvSpPr>
          <p:cNvPr id="10" name="anim-g2-766"/>
          <p:cNvSpPr/>
          <p:nvPr/>
        </p:nvSpPr>
        <p:spPr>
          <a:xfrm>
            <a:off x="6233008" y="2148840"/>
            <a:ext cx="2430704" cy="3566160"/>
          </a:xfrm>
          <a:prstGeom prst="roundRect">
            <a:avLst>
              <a:gd name="adj" fmla="val 677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767"/>
          <p:cNvSpPr/>
          <p:nvPr/>
        </p:nvSpPr>
        <p:spPr>
          <a:xfrm>
            <a:off x="7657871" y="2404872"/>
            <a:ext cx="731520" cy="731520"/>
          </a:xfrm>
          <a:prstGeom prst="roundRect">
            <a:avLst>
              <a:gd name="adj" fmla="val 25000"/>
            </a:avLst>
          </a:prstGeom>
          <a:solidFill>
            <a:srgbClr val="F7E6BC"/>
          </a:solidFill>
          <a:ln/>
        </p:spPr>
      </p:sp>
      <p:sp>
        <p:nvSpPr>
          <p:cNvPr id="12" name="anim-g2-768"/>
          <p:cNvSpPr/>
          <p:nvPr/>
        </p:nvSpPr>
        <p:spPr>
          <a:xfrm>
            <a:off x="7657871"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13" name="anim-g2-769"/>
          <p:cNvSpPr/>
          <p:nvPr/>
        </p:nvSpPr>
        <p:spPr>
          <a:xfrm>
            <a:off x="6507328" y="3246120"/>
            <a:ext cx="1882064"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ثلاثة ليدات</a:t>
            </a:r>
            <a:endParaRPr lang="ar-SA" sz="2300" dirty="0"/>
          </a:p>
        </p:txBody>
      </p:sp>
      <p:sp>
        <p:nvSpPr>
          <p:cNvPr id="14" name="anim-g2-770"/>
          <p:cNvSpPr/>
          <p:nvPr/>
        </p:nvSpPr>
        <p:spPr>
          <a:xfrm>
            <a:off x="6507328" y="3794760"/>
            <a:ext cx="1882064"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أحمر وأصفر وأخضر</a:t>
            </a:r>
            <a:endParaRPr lang="ar-SA" sz="2100" dirty="0"/>
          </a:p>
        </p:txBody>
      </p:sp>
      <p:sp>
        <p:nvSpPr>
          <p:cNvPr id="15" name="anim-g3-771"/>
          <p:cNvSpPr/>
          <p:nvPr/>
        </p:nvSpPr>
        <p:spPr>
          <a:xfrm>
            <a:off x="3527984" y="2148840"/>
            <a:ext cx="2430704" cy="3566160"/>
          </a:xfrm>
          <a:prstGeom prst="roundRect">
            <a:avLst>
              <a:gd name="adj" fmla="val 677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772"/>
          <p:cNvSpPr/>
          <p:nvPr/>
        </p:nvSpPr>
        <p:spPr>
          <a:xfrm>
            <a:off x="4952848" y="2404872"/>
            <a:ext cx="731520" cy="731520"/>
          </a:xfrm>
          <a:prstGeom prst="roundRect">
            <a:avLst>
              <a:gd name="adj" fmla="val 25000"/>
            </a:avLst>
          </a:prstGeom>
          <a:solidFill>
            <a:srgbClr val="F7E6BC"/>
          </a:solidFill>
          <a:ln/>
        </p:spPr>
      </p:sp>
      <p:sp>
        <p:nvSpPr>
          <p:cNvPr id="17" name="anim-g3-773"/>
          <p:cNvSpPr/>
          <p:nvPr/>
        </p:nvSpPr>
        <p:spPr>
          <a:xfrm>
            <a:off x="4952848"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18" name="anim-g3-774"/>
          <p:cNvSpPr/>
          <p:nvPr/>
        </p:nvSpPr>
        <p:spPr>
          <a:xfrm>
            <a:off x="3802304" y="3246120"/>
            <a:ext cx="1882064"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ثلاث مقاومات</a:t>
            </a:r>
            <a:endParaRPr lang="ar-SA" sz="2300" dirty="0"/>
          </a:p>
        </p:txBody>
      </p:sp>
      <p:sp>
        <p:nvSpPr>
          <p:cNvPr id="19" name="anim-g3-775"/>
          <p:cNvSpPr/>
          <p:nvPr/>
        </p:nvSpPr>
        <p:spPr>
          <a:xfrm>
            <a:off x="3802304" y="3794760"/>
            <a:ext cx="1882064"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٢٢٠ أوم لكل ليد</a:t>
            </a:r>
            <a:endParaRPr lang="ar-SA" sz="2100" dirty="0"/>
          </a:p>
        </p:txBody>
      </p:sp>
      <p:sp>
        <p:nvSpPr>
          <p:cNvPr id="20" name="anim-g4-776"/>
          <p:cNvSpPr/>
          <p:nvPr/>
        </p:nvSpPr>
        <p:spPr>
          <a:xfrm>
            <a:off x="822960" y="2148840"/>
            <a:ext cx="2430704" cy="3566160"/>
          </a:xfrm>
          <a:prstGeom prst="roundRect">
            <a:avLst>
              <a:gd name="adj" fmla="val 677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21" name="anim-g4-777"/>
          <p:cNvSpPr/>
          <p:nvPr/>
        </p:nvSpPr>
        <p:spPr>
          <a:xfrm>
            <a:off x="2247824" y="2404872"/>
            <a:ext cx="731520" cy="731520"/>
          </a:xfrm>
          <a:prstGeom prst="roundRect">
            <a:avLst>
              <a:gd name="adj" fmla="val 25000"/>
            </a:avLst>
          </a:prstGeom>
          <a:solidFill>
            <a:srgbClr val="F7E6BC"/>
          </a:solidFill>
          <a:ln/>
        </p:spPr>
      </p:sp>
      <p:sp>
        <p:nvSpPr>
          <p:cNvPr id="22" name="anim-g4-778"/>
          <p:cNvSpPr/>
          <p:nvPr/>
        </p:nvSpPr>
        <p:spPr>
          <a:xfrm>
            <a:off x="2247824"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23" name="anim-g4-779"/>
          <p:cNvSpPr/>
          <p:nvPr/>
        </p:nvSpPr>
        <p:spPr>
          <a:xfrm>
            <a:off x="1097280" y="3246120"/>
            <a:ext cx="1882064"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ثلاثة منافذ</a:t>
            </a:r>
            <a:endParaRPr lang="ar-SA" sz="2300" dirty="0"/>
          </a:p>
        </p:txBody>
      </p:sp>
      <p:sp>
        <p:nvSpPr>
          <p:cNvPr id="24" name="anim-g4-780"/>
          <p:cNvSpPr/>
          <p:nvPr/>
        </p:nvSpPr>
        <p:spPr>
          <a:xfrm>
            <a:off x="1097280" y="3794760"/>
            <a:ext cx="1882064"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المنافذ 11 و12 و13</a:t>
            </a:r>
            <a:endParaRPr lang="ar-SA" sz="2100" dirty="0"/>
          </a:p>
        </p:txBody>
      </p:sp>
      <p:sp>
        <p:nvSpPr>
          <p:cNvPr id="25" name="Text 2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الأردوينو للمعلمين</a:t>
            </a:r>
            <a:endParaRPr lang="ar-SA" sz="1200" dirty="0"/>
          </a:p>
        </p:txBody>
      </p:sp>
      <p:sp>
        <p:nvSpPr>
          <p:cNvPr id="26" name="Text 2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إشارة المرور والمتغيرات  ·  ١٠٦</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400"/>
                                        <p:tgtEl>
                                          <p:spTgt spid="2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400"/>
                                        <p:tgtEl>
                                          <p:spTgt spid="2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400"/>
                                        <p:tgtEl>
                                          <p:spTgt spid="2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107.xml><?xml version="1.0" encoding="utf-8"?>
<p:sld xmlns:a="http://schemas.openxmlformats.org/drawingml/2006/main" xmlns:r="http://schemas.openxmlformats.org/officeDocument/2006/relationships" xmlns:p="http://schemas.openxmlformats.org/presentationml/2006/main">
  <p:cSld name="Slide 10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9027871" y="457200"/>
            <a:ext cx="2340864" cy="457200"/>
          </a:xfrm>
          <a:prstGeom prst="roundRect">
            <a:avLst>
              <a:gd name="adj" fmla="val 50000"/>
            </a:avLst>
          </a:prstGeom>
          <a:solidFill>
            <a:srgbClr val="F6EBCF"/>
          </a:solidFill>
          <a:ln/>
        </p:spPr>
      </p:sp>
      <p:sp>
        <p:nvSpPr>
          <p:cNvPr id="3" name="Text 1"/>
          <p:cNvSpPr/>
          <p:nvPr/>
        </p:nvSpPr>
        <p:spPr>
          <a:xfrm>
            <a:off x="9027871" y="457200"/>
            <a:ext cx="2340864"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نمط الإشارة</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ماذا يكون كل ليد في كل مرحلة؟</a:t>
            </a:r>
            <a:endParaRPr lang="ar-SA" sz="3800" dirty="0"/>
          </a:p>
        </p:txBody>
      </p:sp>
      <p:sp>
        <p:nvSpPr>
          <p:cNvPr id="5" name="Shape 3"/>
          <p:cNvSpPr/>
          <p:nvPr/>
        </p:nvSpPr>
        <p:spPr>
          <a:xfrm>
            <a:off x="8627699" y="1874520"/>
            <a:ext cx="2741037" cy="548640"/>
          </a:xfrm>
          <a:prstGeom prst="roundRect">
            <a:avLst>
              <a:gd name="adj" fmla="val 20000"/>
            </a:avLst>
          </a:prstGeom>
          <a:solidFill>
            <a:srgbClr val="101B45"/>
          </a:solidFill>
          <a:ln/>
        </p:spPr>
      </p:sp>
      <p:sp>
        <p:nvSpPr>
          <p:cNvPr id="6" name="Text 4"/>
          <p:cNvSpPr/>
          <p:nvPr/>
        </p:nvSpPr>
        <p:spPr>
          <a:xfrm>
            <a:off x="8627699" y="1874520"/>
            <a:ext cx="2741037"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المرحلة</a:t>
            </a:r>
            <a:endParaRPr lang="ar-SA" sz="1900" dirty="0"/>
          </a:p>
        </p:txBody>
      </p:sp>
      <p:sp>
        <p:nvSpPr>
          <p:cNvPr id="7" name="Shape 5"/>
          <p:cNvSpPr/>
          <p:nvPr/>
        </p:nvSpPr>
        <p:spPr>
          <a:xfrm>
            <a:off x="6026119" y="1874520"/>
            <a:ext cx="2491852" cy="548640"/>
          </a:xfrm>
          <a:prstGeom prst="roundRect">
            <a:avLst>
              <a:gd name="adj" fmla="val 20000"/>
            </a:avLst>
          </a:prstGeom>
          <a:solidFill>
            <a:srgbClr val="101B45"/>
          </a:solidFill>
          <a:ln/>
        </p:spPr>
      </p:sp>
      <p:sp>
        <p:nvSpPr>
          <p:cNvPr id="8" name="Text 6"/>
          <p:cNvSpPr/>
          <p:nvPr/>
        </p:nvSpPr>
        <p:spPr>
          <a:xfrm>
            <a:off x="6026119" y="1874520"/>
            <a:ext cx="2491852"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الأحمر (11)</a:t>
            </a:r>
            <a:endParaRPr lang="ar-SA" sz="1900" dirty="0"/>
          </a:p>
        </p:txBody>
      </p:sp>
      <p:sp>
        <p:nvSpPr>
          <p:cNvPr id="9" name="Shape 7"/>
          <p:cNvSpPr/>
          <p:nvPr/>
        </p:nvSpPr>
        <p:spPr>
          <a:xfrm>
            <a:off x="3424540" y="1874520"/>
            <a:ext cx="2491852" cy="548640"/>
          </a:xfrm>
          <a:prstGeom prst="roundRect">
            <a:avLst>
              <a:gd name="adj" fmla="val 20000"/>
            </a:avLst>
          </a:prstGeom>
          <a:solidFill>
            <a:srgbClr val="101B45"/>
          </a:solidFill>
          <a:ln/>
        </p:spPr>
      </p:sp>
      <p:sp>
        <p:nvSpPr>
          <p:cNvPr id="10" name="Text 8"/>
          <p:cNvSpPr/>
          <p:nvPr/>
        </p:nvSpPr>
        <p:spPr>
          <a:xfrm>
            <a:off x="3424540" y="1874520"/>
            <a:ext cx="2491852"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الأصفر (12)</a:t>
            </a:r>
            <a:endParaRPr lang="ar-SA" sz="1900" dirty="0"/>
          </a:p>
        </p:txBody>
      </p:sp>
      <p:sp>
        <p:nvSpPr>
          <p:cNvPr id="11" name="Shape 9"/>
          <p:cNvSpPr/>
          <p:nvPr/>
        </p:nvSpPr>
        <p:spPr>
          <a:xfrm>
            <a:off x="822960" y="1874520"/>
            <a:ext cx="2491852" cy="548640"/>
          </a:xfrm>
          <a:prstGeom prst="roundRect">
            <a:avLst>
              <a:gd name="adj" fmla="val 20000"/>
            </a:avLst>
          </a:prstGeom>
          <a:solidFill>
            <a:srgbClr val="101B45"/>
          </a:solidFill>
          <a:ln/>
        </p:spPr>
      </p:sp>
      <p:sp>
        <p:nvSpPr>
          <p:cNvPr id="12" name="Text 10"/>
          <p:cNvSpPr/>
          <p:nvPr/>
        </p:nvSpPr>
        <p:spPr>
          <a:xfrm>
            <a:off x="822960" y="1874520"/>
            <a:ext cx="2491852"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الأخضر (13)</a:t>
            </a:r>
            <a:endParaRPr lang="ar-SA" sz="1900" dirty="0"/>
          </a:p>
        </p:txBody>
      </p:sp>
      <p:sp>
        <p:nvSpPr>
          <p:cNvPr id="13" name="anim-g1-781"/>
          <p:cNvSpPr/>
          <p:nvPr/>
        </p:nvSpPr>
        <p:spPr>
          <a:xfrm>
            <a:off x="8627699" y="2514600"/>
            <a:ext cx="2741037" cy="1100328"/>
          </a:xfrm>
          <a:prstGeom prst="roundRect">
            <a:avLst>
              <a:gd name="adj" fmla="val 9972"/>
            </a:avLst>
          </a:prstGeom>
          <a:solidFill>
            <a:srgbClr val="FBF3DF"/>
          </a:solidFill>
          <a:ln w="12700">
            <a:solidFill>
              <a:srgbClr val="EFDDAF"/>
            </a:solidFill>
            <a:prstDash val="solid"/>
          </a:ln>
        </p:spPr>
      </p:sp>
      <p:sp>
        <p:nvSpPr>
          <p:cNvPr id="14" name="anim-g1-782"/>
          <p:cNvSpPr/>
          <p:nvPr/>
        </p:nvSpPr>
        <p:spPr>
          <a:xfrm>
            <a:off x="8764859" y="2514600"/>
            <a:ext cx="2466717"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 مرور (٣ ثوانٍ)</a:t>
            </a:r>
            <a:endParaRPr lang="ar-SA" sz="2100" dirty="0"/>
          </a:p>
        </p:txBody>
      </p:sp>
      <p:sp>
        <p:nvSpPr>
          <p:cNvPr id="15" name="anim-g1-783"/>
          <p:cNvSpPr/>
          <p:nvPr/>
        </p:nvSpPr>
        <p:spPr>
          <a:xfrm>
            <a:off x="6026119" y="2514600"/>
            <a:ext cx="2491852" cy="1100328"/>
          </a:xfrm>
          <a:prstGeom prst="roundRect">
            <a:avLst>
              <a:gd name="adj" fmla="val 9972"/>
            </a:avLst>
          </a:prstGeom>
          <a:solidFill>
            <a:srgbClr val="FFFFFF"/>
          </a:solidFill>
          <a:ln w="12700">
            <a:solidFill>
              <a:srgbClr val="E4DCC8"/>
            </a:solidFill>
            <a:prstDash val="solid"/>
          </a:ln>
        </p:spPr>
      </p:sp>
      <p:sp>
        <p:nvSpPr>
          <p:cNvPr id="16" name="anim-g1-784"/>
          <p:cNvSpPr/>
          <p:nvPr/>
        </p:nvSpPr>
        <p:spPr>
          <a:xfrm>
            <a:off x="6163279" y="2514600"/>
            <a:ext cx="2217532"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LOW</a:t>
            </a:r>
            <a:endParaRPr lang="ar-SA" sz="2100" dirty="0"/>
          </a:p>
        </p:txBody>
      </p:sp>
      <p:sp>
        <p:nvSpPr>
          <p:cNvPr id="17" name="anim-g1-785"/>
          <p:cNvSpPr/>
          <p:nvPr/>
        </p:nvSpPr>
        <p:spPr>
          <a:xfrm>
            <a:off x="3424540" y="2514600"/>
            <a:ext cx="2491852" cy="1100328"/>
          </a:xfrm>
          <a:prstGeom prst="roundRect">
            <a:avLst>
              <a:gd name="adj" fmla="val 9972"/>
            </a:avLst>
          </a:prstGeom>
          <a:solidFill>
            <a:srgbClr val="FFFFFF"/>
          </a:solidFill>
          <a:ln w="12700">
            <a:solidFill>
              <a:srgbClr val="E4DCC8"/>
            </a:solidFill>
            <a:prstDash val="solid"/>
          </a:ln>
        </p:spPr>
      </p:sp>
      <p:sp>
        <p:nvSpPr>
          <p:cNvPr id="18" name="anim-g1-786"/>
          <p:cNvSpPr/>
          <p:nvPr/>
        </p:nvSpPr>
        <p:spPr>
          <a:xfrm>
            <a:off x="3561700" y="2514600"/>
            <a:ext cx="2217532"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LOW</a:t>
            </a:r>
            <a:endParaRPr lang="ar-SA" sz="2100" dirty="0"/>
          </a:p>
        </p:txBody>
      </p:sp>
      <p:sp>
        <p:nvSpPr>
          <p:cNvPr id="19" name="anim-g1-787"/>
          <p:cNvSpPr/>
          <p:nvPr/>
        </p:nvSpPr>
        <p:spPr>
          <a:xfrm>
            <a:off x="822960" y="2514600"/>
            <a:ext cx="2491852" cy="1100328"/>
          </a:xfrm>
          <a:prstGeom prst="roundRect">
            <a:avLst>
              <a:gd name="adj" fmla="val 9972"/>
            </a:avLst>
          </a:prstGeom>
          <a:solidFill>
            <a:srgbClr val="E6F4EC"/>
          </a:solidFill>
          <a:ln w="12700">
            <a:solidFill>
              <a:srgbClr val="CDE9D9"/>
            </a:solidFill>
            <a:prstDash val="solid"/>
          </a:ln>
        </p:spPr>
      </p:sp>
      <p:sp>
        <p:nvSpPr>
          <p:cNvPr id="20" name="anim-g1-788"/>
          <p:cNvSpPr/>
          <p:nvPr/>
        </p:nvSpPr>
        <p:spPr>
          <a:xfrm>
            <a:off x="960120" y="2514600"/>
            <a:ext cx="2217532"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HIGH</a:t>
            </a:r>
            <a:endParaRPr lang="ar-SA" sz="2100" dirty="0"/>
          </a:p>
        </p:txBody>
      </p:sp>
      <p:sp>
        <p:nvSpPr>
          <p:cNvPr id="21" name="anim-g2-789"/>
          <p:cNvSpPr/>
          <p:nvPr/>
        </p:nvSpPr>
        <p:spPr>
          <a:xfrm>
            <a:off x="8627699" y="3724656"/>
            <a:ext cx="2741037" cy="1100328"/>
          </a:xfrm>
          <a:prstGeom prst="roundRect">
            <a:avLst>
              <a:gd name="adj" fmla="val 9972"/>
            </a:avLst>
          </a:prstGeom>
          <a:solidFill>
            <a:srgbClr val="FBF3DF"/>
          </a:solidFill>
          <a:ln w="12700">
            <a:solidFill>
              <a:srgbClr val="EFDDAF"/>
            </a:solidFill>
            <a:prstDash val="solid"/>
          </a:ln>
        </p:spPr>
      </p:sp>
      <p:sp>
        <p:nvSpPr>
          <p:cNvPr id="22" name="anim-g2-790"/>
          <p:cNvSpPr/>
          <p:nvPr/>
        </p:nvSpPr>
        <p:spPr>
          <a:xfrm>
            <a:off x="8764859" y="3724656"/>
            <a:ext cx="2466717"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 استعداد (ثانية)</a:t>
            </a:r>
            <a:endParaRPr lang="ar-SA" sz="2100" dirty="0"/>
          </a:p>
        </p:txBody>
      </p:sp>
      <p:sp>
        <p:nvSpPr>
          <p:cNvPr id="23" name="anim-g2-791"/>
          <p:cNvSpPr/>
          <p:nvPr/>
        </p:nvSpPr>
        <p:spPr>
          <a:xfrm>
            <a:off x="6026119" y="3724656"/>
            <a:ext cx="2491852" cy="1100328"/>
          </a:xfrm>
          <a:prstGeom prst="roundRect">
            <a:avLst>
              <a:gd name="adj" fmla="val 9972"/>
            </a:avLst>
          </a:prstGeom>
          <a:solidFill>
            <a:srgbClr val="FFFFFF"/>
          </a:solidFill>
          <a:ln w="12700">
            <a:solidFill>
              <a:srgbClr val="E4DCC8"/>
            </a:solidFill>
            <a:prstDash val="solid"/>
          </a:ln>
        </p:spPr>
      </p:sp>
      <p:sp>
        <p:nvSpPr>
          <p:cNvPr id="24" name="anim-g2-792"/>
          <p:cNvSpPr/>
          <p:nvPr/>
        </p:nvSpPr>
        <p:spPr>
          <a:xfrm>
            <a:off x="6163279" y="3724656"/>
            <a:ext cx="2217532"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LOW</a:t>
            </a:r>
            <a:endParaRPr lang="ar-SA" sz="2100" dirty="0"/>
          </a:p>
        </p:txBody>
      </p:sp>
      <p:sp>
        <p:nvSpPr>
          <p:cNvPr id="25" name="anim-g2-793"/>
          <p:cNvSpPr/>
          <p:nvPr/>
        </p:nvSpPr>
        <p:spPr>
          <a:xfrm>
            <a:off x="3424540" y="3724656"/>
            <a:ext cx="2491852" cy="1100328"/>
          </a:xfrm>
          <a:prstGeom prst="roundRect">
            <a:avLst>
              <a:gd name="adj" fmla="val 9972"/>
            </a:avLst>
          </a:prstGeom>
          <a:solidFill>
            <a:srgbClr val="FFFFFF"/>
          </a:solidFill>
          <a:ln w="12700">
            <a:solidFill>
              <a:srgbClr val="E4DCC8"/>
            </a:solidFill>
            <a:prstDash val="solid"/>
          </a:ln>
        </p:spPr>
      </p:sp>
      <p:sp>
        <p:nvSpPr>
          <p:cNvPr id="26" name="anim-g2-794"/>
          <p:cNvSpPr/>
          <p:nvPr/>
        </p:nvSpPr>
        <p:spPr>
          <a:xfrm>
            <a:off x="3561700" y="3724656"/>
            <a:ext cx="2217532"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HIGH</a:t>
            </a:r>
            <a:endParaRPr lang="ar-SA" sz="2100" dirty="0"/>
          </a:p>
        </p:txBody>
      </p:sp>
      <p:sp>
        <p:nvSpPr>
          <p:cNvPr id="27" name="anim-g2-795"/>
          <p:cNvSpPr/>
          <p:nvPr/>
        </p:nvSpPr>
        <p:spPr>
          <a:xfrm>
            <a:off x="822960" y="3724656"/>
            <a:ext cx="2491852" cy="1100328"/>
          </a:xfrm>
          <a:prstGeom prst="roundRect">
            <a:avLst>
              <a:gd name="adj" fmla="val 9972"/>
            </a:avLst>
          </a:prstGeom>
          <a:solidFill>
            <a:srgbClr val="E6F4EC"/>
          </a:solidFill>
          <a:ln w="12700">
            <a:solidFill>
              <a:srgbClr val="CDE9D9"/>
            </a:solidFill>
            <a:prstDash val="solid"/>
          </a:ln>
        </p:spPr>
      </p:sp>
      <p:sp>
        <p:nvSpPr>
          <p:cNvPr id="28" name="anim-g2-796"/>
          <p:cNvSpPr/>
          <p:nvPr/>
        </p:nvSpPr>
        <p:spPr>
          <a:xfrm>
            <a:off x="960120" y="3724656"/>
            <a:ext cx="2217532"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LOW</a:t>
            </a:r>
            <a:endParaRPr lang="ar-SA" sz="2100" dirty="0"/>
          </a:p>
        </p:txBody>
      </p:sp>
      <p:sp>
        <p:nvSpPr>
          <p:cNvPr id="29" name="anim-g3-797"/>
          <p:cNvSpPr/>
          <p:nvPr/>
        </p:nvSpPr>
        <p:spPr>
          <a:xfrm>
            <a:off x="8627699" y="4934712"/>
            <a:ext cx="2741037" cy="1100328"/>
          </a:xfrm>
          <a:prstGeom prst="roundRect">
            <a:avLst>
              <a:gd name="adj" fmla="val 9972"/>
            </a:avLst>
          </a:prstGeom>
          <a:solidFill>
            <a:srgbClr val="FBF3DF"/>
          </a:solidFill>
          <a:ln w="12700">
            <a:solidFill>
              <a:srgbClr val="EFDDAF"/>
            </a:solidFill>
            <a:prstDash val="solid"/>
          </a:ln>
        </p:spPr>
      </p:sp>
      <p:sp>
        <p:nvSpPr>
          <p:cNvPr id="30" name="anim-g3-798"/>
          <p:cNvSpPr/>
          <p:nvPr/>
        </p:nvSpPr>
        <p:spPr>
          <a:xfrm>
            <a:off x="8764859" y="4934712"/>
            <a:ext cx="2466717"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 توقف (٣ ثوانٍ)</a:t>
            </a:r>
            <a:endParaRPr lang="ar-SA" sz="2100" dirty="0"/>
          </a:p>
        </p:txBody>
      </p:sp>
      <p:sp>
        <p:nvSpPr>
          <p:cNvPr id="31" name="anim-g3-799"/>
          <p:cNvSpPr/>
          <p:nvPr/>
        </p:nvSpPr>
        <p:spPr>
          <a:xfrm>
            <a:off x="6026119" y="4934712"/>
            <a:ext cx="2491852" cy="1100328"/>
          </a:xfrm>
          <a:prstGeom prst="roundRect">
            <a:avLst>
              <a:gd name="adj" fmla="val 9972"/>
            </a:avLst>
          </a:prstGeom>
          <a:solidFill>
            <a:srgbClr val="FFFFFF"/>
          </a:solidFill>
          <a:ln w="12700">
            <a:solidFill>
              <a:srgbClr val="E4DCC8"/>
            </a:solidFill>
            <a:prstDash val="solid"/>
          </a:ln>
        </p:spPr>
      </p:sp>
      <p:sp>
        <p:nvSpPr>
          <p:cNvPr id="32" name="anim-g3-800"/>
          <p:cNvSpPr/>
          <p:nvPr/>
        </p:nvSpPr>
        <p:spPr>
          <a:xfrm>
            <a:off x="6163279" y="4934712"/>
            <a:ext cx="2217532"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HIGH</a:t>
            </a:r>
            <a:endParaRPr lang="ar-SA" sz="2100" dirty="0"/>
          </a:p>
        </p:txBody>
      </p:sp>
      <p:sp>
        <p:nvSpPr>
          <p:cNvPr id="33" name="anim-g3-801"/>
          <p:cNvSpPr/>
          <p:nvPr/>
        </p:nvSpPr>
        <p:spPr>
          <a:xfrm>
            <a:off x="3424540" y="4934712"/>
            <a:ext cx="2491852" cy="1100328"/>
          </a:xfrm>
          <a:prstGeom prst="roundRect">
            <a:avLst>
              <a:gd name="adj" fmla="val 9972"/>
            </a:avLst>
          </a:prstGeom>
          <a:solidFill>
            <a:srgbClr val="FFFFFF"/>
          </a:solidFill>
          <a:ln w="12700">
            <a:solidFill>
              <a:srgbClr val="E4DCC8"/>
            </a:solidFill>
            <a:prstDash val="solid"/>
          </a:ln>
        </p:spPr>
      </p:sp>
      <p:sp>
        <p:nvSpPr>
          <p:cNvPr id="34" name="anim-g3-802"/>
          <p:cNvSpPr/>
          <p:nvPr/>
        </p:nvSpPr>
        <p:spPr>
          <a:xfrm>
            <a:off x="3561700" y="4934712"/>
            <a:ext cx="2217532"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LOW</a:t>
            </a:r>
            <a:endParaRPr lang="ar-SA" sz="2100" dirty="0"/>
          </a:p>
        </p:txBody>
      </p:sp>
      <p:sp>
        <p:nvSpPr>
          <p:cNvPr id="35" name="anim-g3-803"/>
          <p:cNvSpPr/>
          <p:nvPr/>
        </p:nvSpPr>
        <p:spPr>
          <a:xfrm>
            <a:off x="822960" y="4934712"/>
            <a:ext cx="2491852" cy="1100328"/>
          </a:xfrm>
          <a:prstGeom prst="roundRect">
            <a:avLst>
              <a:gd name="adj" fmla="val 9972"/>
            </a:avLst>
          </a:prstGeom>
          <a:solidFill>
            <a:srgbClr val="E6F4EC"/>
          </a:solidFill>
          <a:ln w="12700">
            <a:solidFill>
              <a:srgbClr val="CDE9D9"/>
            </a:solidFill>
            <a:prstDash val="solid"/>
          </a:ln>
        </p:spPr>
      </p:sp>
      <p:sp>
        <p:nvSpPr>
          <p:cNvPr id="36" name="anim-g3-804"/>
          <p:cNvSpPr/>
          <p:nvPr/>
        </p:nvSpPr>
        <p:spPr>
          <a:xfrm>
            <a:off x="960120" y="4934712"/>
            <a:ext cx="2217532"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LOW</a:t>
            </a:r>
            <a:endParaRPr lang="ar-SA" sz="2100" dirty="0"/>
          </a:p>
        </p:txBody>
      </p:sp>
      <p:sp>
        <p:nvSpPr>
          <p:cNvPr id="37" name="Text 3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الأردوينو للمعلمين</a:t>
            </a:r>
            <a:endParaRPr lang="ar-SA" sz="1200" dirty="0"/>
          </a:p>
        </p:txBody>
      </p:sp>
      <p:sp>
        <p:nvSpPr>
          <p:cNvPr id="38" name="Text 3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إشارة المرور والمتغيرات  ·  ١٠٧</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0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400"/>
                                        <p:tgtEl>
                                          <p:spTgt spid="1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40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400"/>
                                        <p:tgtEl>
                                          <p:spTgt spid="1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400"/>
                                        <p:tgtEl>
                                          <p:spTgt spid="1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fade">
                                      <p:cBhvr>
                                        <p:cTn id="33" dur="400"/>
                                        <p:tgtEl>
                                          <p:spTgt spid="2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2"/>
                                        </p:tgtEl>
                                        <p:attrNameLst>
                                          <p:attrName>style.visibility</p:attrName>
                                        </p:attrNameLst>
                                      </p:cBhvr>
                                      <p:to>
                                        <p:strVal val="visible"/>
                                      </p:to>
                                    </p:set>
                                    <p:animEffect transition="in" filter="fade">
                                      <p:cBhvr>
                                        <p:cTn id="36" dur="400"/>
                                        <p:tgtEl>
                                          <p:spTgt spid="22"/>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3"/>
                                        </p:tgtEl>
                                        <p:attrNameLst>
                                          <p:attrName>style.visibility</p:attrName>
                                        </p:attrNameLst>
                                      </p:cBhvr>
                                      <p:to>
                                        <p:strVal val="visible"/>
                                      </p:to>
                                    </p:set>
                                    <p:animEffect transition="in" filter="fade">
                                      <p:cBhvr>
                                        <p:cTn id="39" dur="400"/>
                                        <p:tgtEl>
                                          <p:spTgt spid="23"/>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4"/>
                                        </p:tgtEl>
                                        <p:attrNameLst>
                                          <p:attrName>style.visibility</p:attrName>
                                        </p:attrNameLst>
                                      </p:cBhvr>
                                      <p:to>
                                        <p:strVal val="visible"/>
                                      </p:to>
                                    </p:set>
                                    <p:animEffect transition="in" filter="fade">
                                      <p:cBhvr>
                                        <p:cTn id="42" dur="400"/>
                                        <p:tgtEl>
                                          <p:spTgt spid="24"/>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5"/>
                                        </p:tgtEl>
                                        <p:attrNameLst>
                                          <p:attrName>style.visibility</p:attrName>
                                        </p:attrNameLst>
                                      </p:cBhvr>
                                      <p:to>
                                        <p:strVal val="visible"/>
                                      </p:to>
                                    </p:set>
                                    <p:animEffect transition="in" filter="fade">
                                      <p:cBhvr>
                                        <p:cTn id="45" dur="400"/>
                                        <p:tgtEl>
                                          <p:spTgt spid="25"/>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6"/>
                                        </p:tgtEl>
                                        <p:attrNameLst>
                                          <p:attrName>style.visibility</p:attrName>
                                        </p:attrNameLst>
                                      </p:cBhvr>
                                      <p:to>
                                        <p:strVal val="visible"/>
                                      </p:to>
                                    </p:set>
                                    <p:animEffect transition="in" filter="fade">
                                      <p:cBhvr>
                                        <p:cTn id="48" dur="400"/>
                                        <p:tgtEl>
                                          <p:spTgt spid="26"/>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7"/>
                                        </p:tgtEl>
                                        <p:attrNameLst>
                                          <p:attrName>style.visibility</p:attrName>
                                        </p:attrNameLst>
                                      </p:cBhvr>
                                      <p:to>
                                        <p:strVal val="visible"/>
                                      </p:to>
                                    </p:set>
                                    <p:animEffect transition="in" filter="fade">
                                      <p:cBhvr>
                                        <p:cTn id="51" dur="400"/>
                                        <p:tgtEl>
                                          <p:spTgt spid="27"/>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8"/>
                                        </p:tgtEl>
                                        <p:attrNameLst>
                                          <p:attrName>style.visibility</p:attrName>
                                        </p:attrNameLst>
                                      </p:cBhvr>
                                      <p:to>
                                        <p:strVal val="visible"/>
                                      </p:to>
                                    </p:set>
                                    <p:animEffect transition="in" filter="fade">
                                      <p:cBhvr>
                                        <p:cTn id="54" dur="400"/>
                                        <p:tgtEl>
                                          <p:spTgt spid="28"/>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29"/>
                                        </p:tgtEl>
                                        <p:attrNameLst>
                                          <p:attrName>style.visibility</p:attrName>
                                        </p:attrNameLst>
                                      </p:cBhvr>
                                      <p:to>
                                        <p:strVal val="visible"/>
                                      </p:to>
                                    </p:set>
                                    <p:animEffect transition="in" filter="fade">
                                      <p:cBhvr>
                                        <p:cTn id="59" dur="400"/>
                                        <p:tgtEl>
                                          <p:spTgt spid="29"/>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30"/>
                                        </p:tgtEl>
                                        <p:attrNameLst>
                                          <p:attrName>style.visibility</p:attrName>
                                        </p:attrNameLst>
                                      </p:cBhvr>
                                      <p:to>
                                        <p:strVal val="visible"/>
                                      </p:to>
                                    </p:set>
                                    <p:animEffect transition="in" filter="fade">
                                      <p:cBhvr>
                                        <p:cTn id="62" dur="400"/>
                                        <p:tgtEl>
                                          <p:spTgt spid="30"/>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31"/>
                                        </p:tgtEl>
                                        <p:attrNameLst>
                                          <p:attrName>style.visibility</p:attrName>
                                        </p:attrNameLst>
                                      </p:cBhvr>
                                      <p:to>
                                        <p:strVal val="visible"/>
                                      </p:to>
                                    </p:set>
                                    <p:animEffect transition="in" filter="fade">
                                      <p:cBhvr>
                                        <p:cTn id="65" dur="400"/>
                                        <p:tgtEl>
                                          <p:spTgt spid="31"/>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32"/>
                                        </p:tgtEl>
                                        <p:attrNameLst>
                                          <p:attrName>style.visibility</p:attrName>
                                        </p:attrNameLst>
                                      </p:cBhvr>
                                      <p:to>
                                        <p:strVal val="visible"/>
                                      </p:to>
                                    </p:set>
                                    <p:animEffect transition="in" filter="fade">
                                      <p:cBhvr>
                                        <p:cTn id="68" dur="400"/>
                                        <p:tgtEl>
                                          <p:spTgt spid="32"/>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33"/>
                                        </p:tgtEl>
                                        <p:attrNameLst>
                                          <p:attrName>style.visibility</p:attrName>
                                        </p:attrNameLst>
                                      </p:cBhvr>
                                      <p:to>
                                        <p:strVal val="visible"/>
                                      </p:to>
                                    </p:set>
                                    <p:animEffect transition="in" filter="fade">
                                      <p:cBhvr>
                                        <p:cTn id="71" dur="400"/>
                                        <p:tgtEl>
                                          <p:spTgt spid="33"/>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34"/>
                                        </p:tgtEl>
                                        <p:attrNameLst>
                                          <p:attrName>style.visibility</p:attrName>
                                        </p:attrNameLst>
                                      </p:cBhvr>
                                      <p:to>
                                        <p:strVal val="visible"/>
                                      </p:to>
                                    </p:set>
                                    <p:animEffect transition="in" filter="fade">
                                      <p:cBhvr>
                                        <p:cTn id="74" dur="400"/>
                                        <p:tgtEl>
                                          <p:spTgt spid="34"/>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35"/>
                                        </p:tgtEl>
                                        <p:attrNameLst>
                                          <p:attrName>style.visibility</p:attrName>
                                        </p:attrNameLst>
                                      </p:cBhvr>
                                      <p:to>
                                        <p:strVal val="visible"/>
                                      </p:to>
                                    </p:set>
                                    <p:animEffect transition="in" filter="fade">
                                      <p:cBhvr>
                                        <p:cTn id="77" dur="400"/>
                                        <p:tgtEl>
                                          <p:spTgt spid="35"/>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36"/>
                                        </p:tgtEl>
                                        <p:attrNameLst>
                                          <p:attrName>style.visibility</p:attrName>
                                        </p:attrNameLst>
                                      </p:cBhvr>
                                      <p:to>
                                        <p:strVal val="visible"/>
                                      </p:to>
                                    </p:set>
                                    <p:animEffect transition="in" filter="fade">
                                      <p:cBhvr>
                                        <p:cTn id="80" dur="4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Lst>
  </p:timing>
</p:sld>
</file>

<file path=ppt/slides/slide108.xml><?xml version="1.0" encoding="utf-8"?>
<p:sld xmlns:a="http://schemas.openxmlformats.org/drawingml/2006/main" xmlns:r="http://schemas.openxmlformats.org/officeDocument/2006/relationships" xmlns:p="http://schemas.openxmlformats.org/presentationml/2006/main">
  <p:cSld name="Slide 108">
    <p:spTree>
      <p:nvGrpSpPr>
        <p:cNvPr id="1" name=""/>
        <p:cNvGrpSpPr/>
        <p:nvPr/>
      </p:nvGrpSpPr>
      <p:grpSpPr>
        <a:xfrm>
          <a:off x="0" y="0"/>
          <a:ext cx="0" cy="0"/>
          <a:chOff x="0" y="0"/>
          <a:chExt cx="0" cy="0"/>
        </a:xfrm>
      </p:grpSpPr>
      <p:pic>
        <p:nvPicPr>
          <p:cNvPr id="2" name="Image 0" descr="/Users/mac/Desktop/أردوينو/المشاريع والكتب/younes-training/arduino/.pptx-cache/s108-0.jpg">    </p:cNvPr>
          <p:cNvPicPr>
            <a:picLocks noChangeAspect="1"/>
          </p:cNvPicPr>
          <p:nvPr/>
        </p:nvPicPr>
        <p:blipFill>
          <a:blip r:embed="rId1"/>
          <a:stretch>
            <a:fillRect/>
          </a:stretch>
        </p:blipFill>
        <p:spPr>
          <a:xfrm>
            <a:off x="0" y="0"/>
            <a:ext cx="12191695" cy="6858000"/>
          </a:xfrm>
          <a:prstGeom prst="rect">
            <a:avLst/>
          </a:prstGeom>
        </p:spPr>
      </p:pic>
      <p:pic>
        <p:nvPicPr>
          <p:cNvPr id="3" name="anim-g1-805" descr="/Users/mac/Desktop/أردوينو/المشاريع والكتب/younes-training/arduino/.pptx-cache/s108-1.jpg">    </p:cNvPr>
          <p:cNvPicPr>
            <a:picLocks noChangeAspect="1"/>
          </p:cNvPicPr>
          <p:nvPr/>
        </p:nvPicPr>
        <p:blipFill>
          <a:blip r:embed="rId2"/>
          <a:stretch>
            <a:fillRect/>
          </a:stretch>
        </p:blipFill>
        <p:spPr>
          <a:xfrm>
            <a:off x="0" y="0"/>
            <a:ext cx="12191695" cy="6858000"/>
          </a:xfrm>
          <a:prstGeom prst="rect">
            <a:avLst/>
          </a:prstGeom>
        </p:spPr>
      </p:pic>
      <p:pic>
        <p:nvPicPr>
          <p:cNvPr id="4" name="anim-g2-806" descr="/Users/mac/Desktop/أردوينو/المشاريع والكتب/younes-training/arduino/.pptx-cache/s108-2.jpg">    </p:cNvPr>
          <p:cNvPicPr>
            <a:picLocks noChangeAspect="1"/>
          </p:cNvPicPr>
          <p:nvPr/>
        </p:nvPicPr>
        <p:blipFill>
          <a:blip r:embed="rId3"/>
          <a:stretch>
            <a:fillRect/>
          </a:stretch>
        </p:blipFill>
        <p:spPr>
          <a:xfrm>
            <a:off x="0" y="0"/>
            <a:ext cx="12191695" cy="6858000"/>
          </a:xfrm>
          <a:prstGeom prst="rect">
            <a:avLst/>
          </a:prstGeom>
        </p:spPr>
      </p:pic>
      <p:pic>
        <p:nvPicPr>
          <p:cNvPr id="5" name="anim-g3-807" descr="/Users/mac/Desktop/أردوينو/المشاريع والكتب/younes-training/arduino/.pptx-cache/s108-3.jpg">    </p:cNvPr>
          <p:cNvPicPr>
            <a:picLocks noChangeAspect="1"/>
          </p:cNvPicPr>
          <p:nvPr/>
        </p:nvPicPr>
        <p:blipFill>
          <a:blip r:embed="rId4"/>
          <a:stretch>
            <a:fillRect/>
          </a:stretch>
        </p:blipFill>
        <p:spPr>
          <a:xfrm>
            <a:off x="0" y="0"/>
            <a:ext cx="12191695" cy="6858000"/>
          </a:xfrm>
          <a:prstGeom prst="rect">
            <a:avLst/>
          </a:prstGeom>
        </p:spPr>
      </p:pic>
      <p:pic>
        <p:nvPicPr>
          <p:cNvPr id="6" name="anim-g4-808" descr="/Users/mac/Desktop/أردوينو/المشاريع والكتب/younes-training/arduino/.pptx-cache/s108-4.jpg">    </p:cNvPr>
          <p:cNvPicPr>
            <a:picLocks noChangeAspect="1"/>
          </p:cNvPicPr>
          <p:nvPr/>
        </p:nvPicPr>
        <p:blipFill>
          <a:blip r:embed="rId5"/>
          <a:stretch>
            <a:fillRect/>
          </a:stretch>
        </p:blipFill>
        <p:spPr>
          <a:xfrm>
            <a:off x="0" y="0"/>
            <a:ext cx="12191695" cy="6858000"/>
          </a:xfrm>
          <a:prstGeom prst="rect">
            <a:avLst/>
          </a:prstGeom>
        </p:spPr>
      </p:pic>
      <p:pic>
        <p:nvPicPr>
          <p:cNvPr id="7" name="anim-g5-809" descr="/Users/mac/Desktop/أردوينو/المشاريع والكتب/younes-training/arduino/.pptx-cache/s108-5.jpg">    </p:cNvPr>
          <p:cNvPicPr>
            <a:picLocks noChangeAspect="1"/>
          </p:cNvPicPr>
          <p:nvPr/>
        </p:nvPicPr>
        <p:blipFill>
          <a:blip r:embed="rId6"/>
          <a:stretch>
            <a:fillRect/>
          </a:stretch>
        </p:blipFill>
        <p:spPr>
          <a:xfrm>
            <a:off x="0" y="0"/>
            <a:ext cx="12191695" cy="6858000"/>
          </a:xfrm>
          <a:prstGeom prst="rect">
            <a:avLst/>
          </a:prstGeom>
        </p:spPr>
      </p:pic>
      <p:pic>
        <p:nvPicPr>
          <p:cNvPr id="8" name="anim-g6-810" descr="/Users/mac/Desktop/أردوينو/المشاريع والكتب/younes-training/arduino/.pptx-cache/s108-6.jpg">    </p:cNvPr>
          <p:cNvPicPr>
            <a:picLocks noChangeAspect="1"/>
          </p:cNvPicPr>
          <p:nvPr/>
        </p:nvPicPr>
        <p:blipFill>
          <a:blip r:embed="rId7"/>
          <a:stretch>
            <a:fillRect/>
          </a:stretch>
        </p:blipFill>
        <p:spPr>
          <a:xfrm>
            <a:off x="0" y="0"/>
            <a:ext cx="12191695" cy="6858000"/>
          </a:xfrm>
          <a:prstGeom prst="rect">
            <a:avLst/>
          </a:prstGeom>
        </p:spPr>
      </p:pic>
      <p:pic>
        <p:nvPicPr>
          <p:cNvPr id="9" name="anim-g7-811" descr="/Users/mac/Desktop/أردوينو/المشاريع والكتب/younes-training/arduino/.pptx-cache/s108-7.jpg">    </p:cNvPr>
          <p:cNvPicPr>
            <a:picLocks noChangeAspect="1"/>
          </p:cNvPicPr>
          <p:nvPr/>
        </p:nvPicPr>
        <p:blipFill>
          <a:blip r:embed="rId8"/>
          <a:stretch>
            <a:fillRect/>
          </a:stretch>
        </p:blipFill>
        <p:spPr>
          <a:xfrm>
            <a:off x="0" y="0"/>
            <a:ext cx="12191695" cy="6858000"/>
          </a:xfrm>
          <a:prstGeom prst="rect">
            <a:avLst/>
          </a:prstGeom>
        </p:spPr>
      </p:pic>
      <p:pic>
        <p:nvPicPr>
          <p:cNvPr id="10" name="anim-g8-812" descr="/Users/mac/Desktop/أردوينو/المشاريع والكتب/younes-training/arduino/.pptx-cache/s108-8.jpg">    </p:cNvPr>
          <p:cNvPicPr>
            <a:picLocks noChangeAspect="1"/>
          </p:cNvPicPr>
          <p:nvPr/>
        </p:nvPicPr>
        <p:blipFill>
          <a:blip r:embed="rId9"/>
          <a:stretch>
            <a:fillRect/>
          </a:stretch>
        </p:blipFill>
        <p:spPr>
          <a:xfrm>
            <a:off x="0" y="0"/>
            <a:ext cx="12191695" cy="6858000"/>
          </a:xfrm>
          <a:prstGeom prst="rect">
            <a:avLst/>
          </a:prstGeom>
        </p:spPr>
      </p:pic>
      <p:pic>
        <p:nvPicPr>
          <p:cNvPr id="11" name="anim-g9-813" descr="/Users/mac/Desktop/أردوينو/المشاريع والكتب/younes-training/arduino/.pptx-cache/s108-9.jpg">    </p:cNvPr>
          <p:cNvPicPr>
            <a:picLocks noChangeAspect="1"/>
          </p:cNvPicPr>
          <p:nvPr/>
        </p:nvPicPr>
        <p:blipFill>
          <a:blip r:embed="rId10"/>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4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4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400"/>
                                        <p:tgtEl>
                                          <p:spTgt spid="10"/>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fade">
                                      <p:cBhvr>
                                        <p:cTn id="47"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p:cSld name="Slide 109">
    <p:spTree>
      <p:nvGrpSpPr>
        <p:cNvPr id="1" name=""/>
        <p:cNvGrpSpPr/>
        <p:nvPr/>
      </p:nvGrpSpPr>
      <p:grpSpPr>
        <a:xfrm>
          <a:off x="0" y="0"/>
          <a:ext cx="0" cy="0"/>
          <a:chOff x="0" y="0"/>
          <a:chExt cx="0" cy="0"/>
        </a:xfrm>
      </p:grpSpPr>
      <p:pic>
        <p:nvPicPr>
          <p:cNvPr id="2" name="Image 0" descr="/Users/mac/Desktop/أردوينو/المشاريع والكتب/younes-training/arduino/.pptx-cache/s109-0.jpg">    </p:cNvPr>
          <p:cNvPicPr>
            <a:picLocks noChangeAspect="1"/>
          </p:cNvPicPr>
          <p:nvPr/>
        </p:nvPicPr>
        <p:blipFill>
          <a:blip r:embed="rId1"/>
          <a:stretch>
            <a:fillRect/>
          </a:stretch>
        </p:blipFill>
        <p:spPr>
          <a:xfrm>
            <a:off x="0" y="0"/>
            <a:ext cx="12191695" cy="6858000"/>
          </a:xfrm>
          <a:prstGeom prst="rect">
            <a:avLst/>
          </a:prstGeom>
        </p:spPr>
      </p:pic>
      <p:pic>
        <p:nvPicPr>
          <p:cNvPr id="3" name="anim-g1-814" descr="/Users/mac/Desktop/أردوينو/المشاريع والكتب/younes-training/arduino/.pptx-cache/s109-1.jpg">    </p:cNvPr>
          <p:cNvPicPr>
            <a:picLocks noChangeAspect="1"/>
          </p:cNvPicPr>
          <p:nvPr/>
        </p:nvPicPr>
        <p:blipFill>
          <a:blip r:embed="rId2"/>
          <a:stretch>
            <a:fillRect/>
          </a:stretch>
        </p:blipFill>
        <p:spPr>
          <a:xfrm>
            <a:off x="0" y="0"/>
            <a:ext cx="12191695" cy="6858000"/>
          </a:xfrm>
          <a:prstGeom prst="rect">
            <a:avLst/>
          </a:prstGeom>
        </p:spPr>
      </p:pic>
      <p:pic>
        <p:nvPicPr>
          <p:cNvPr id="4" name="anim-g2-815" descr="/Users/mac/Desktop/أردوينو/المشاريع والكتب/younes-training/arduino/.pptx-cache/s109-2.jpg">    </p:cNvPr>
          <p:cNvPicPr>
            <a:picLocks noChangeAspect="1"/>
          </p:cNvPicPr>
          <p:nvPr/>
        </p:nvPicPr>
        <p:blipFill>
          <a:blip r:embed="rId3"/>
          <a:stretch>
            <a:fillRect/>
          </a:stretch>
        </p:blipFill>
        <p:spPr>
          <a:xfrm>
            <a:off x="0" y="0"/>
            <a:ext cx="12191695" cy="6858000"/>
          </a:xfrm>
          <a:prstGeom prst="rect">
            <a:avLst/>
          </a:prstGeom>
        </p:spPr>
      </p:pic>
      <p:pic>
        <p:nvPicPr>
          <p:cNvPr id="5" name="anim-g3-816" descr="/Users/mac/Desktop/أردوينو/المشاريع والكتب/younes-training/arduino/.pptx-cache/s109-3.jpg">    </p:cNvPr>
          <p:cNvPicPr>
            <a:picLocks noChangeAspect="1"/>
          </p:cNvPicPr>
          <p:nvPr/>
        </p:nvPicPr>
        <p:blipFill>
          <a:blip r:embed="rId4"/>
          <a:stretch>
            <a:fillRect/>
          </a:stretch>
        </p:blipFill>
        <p:spPr>
          <a:xfrm>
            <a:off x="0" y="0"/>
            <a:ext cx="12191695" cy="6858000"/>
          </a:xfrm>
          <a:prstGeom prst="rect">
            <a:avLst/>
          </a:prstGeom>
        </p:spPr>
      </p:pic>
      <p:pic>
        <p:nvPicPr>
          <p:cNvPr id="6" name="anim-g4-817" descr="/Users/mac/Desktop/أردوينو/المشاريع والكتب/younes-training/arduino/.pptx-cache/s109-4.jpg">    </p:cNvPr>
          <p:cNvPicPr>
            <a:picLocks noChangeAspect="1"/>
          </p:cNvPicPr>
          <p:nvPr/>
        </p:nvPicPr>
        <p:blipFill>
          <a:blip r:embed="rId5"/>
          <a:stretch>
            <a:fillRect/>
          </a:stretch>
        </p:blipFill>
        <p:spPr>
          <a:xfrm>
            <a:off x="0" y="0"/>
            <a:ext cx="12191695" cy="6858000"/>
          </a:xfrm>
          <a:prstGeom prst="rect">
            <a:avLst/>
          </a:prstGeom>
        </p:spPr>
      </p:pic>
      <p:pic>
        <p:nvPicPr>
          <p:cNvPr id="7" name="anim-g5-818" descr="/Users/mac/Desktop/أردوينو/المشاريع والكتب/younes-training/arduino/.pptx-cache/s109-5.jpg">    </p:cNvPr>
          <p:cNvPicPr>
            <a:picLocks noChangeAspect="1"/>
          </p:cNvPicPr>
          <p:nvPr/>
        </p:nvPicPr>
        <p:blipFill>
          <a:blip r:embed="rId6"/>
          <a:stretch>
            <a:fillRect/>
          </a:stretch>
        </p:blipFill>
        <p:spPr>
          <a:xfrm>
            <a:off x="0" y="0"/>
            <a:ext cx="12191695" cy="6858000"/>
          </a:xfrm>
          <a:prstGeom prst="rect">
            <a:avLst/>
          </a:prstGeom>
        </p:spPr>
      </p:pic>
      <p:pic>
        <p:nvPicPr>
          <p:cNvPr id="8" name="anim-g6-819" descr="/Users/mac/Desktop/أردوينو/المشاريع والكتب/younes-training/arduino/.pptx-cache/s109-6.jpg">    </p:cNvPr>
          <p:cNvPicPr>
            <a:picLocks noChangeAspect="1"/>
          </p:cNvPicPr>
          <p:nvPr/>
        </p:nvPicPr>
        <p:blipFill>
          <a:blip r:embed="rId7"/>
          <a:stretch>
            <a:fillRect/>
          </a:stretch>
        </p:blipFill>
        <p:spPr>
          <a:xfrm>
            <a:off x="0" y="0"/>
            <a:ext cx="12191695" cy="6858000"/>
          </a:xfrm>
          <a:prstGeom prst="rect">
            <a:avLst/>
          </a:prstGeom>
        </p:spPr>
      </p:pic>
      <p:pic>
        <p:nvPicPr>
          <p:cNvPr id="9" name="anim-g7-820" descr="/Users/mac/Desktop/أردوينو/المشاريع والكتب/younes-training/arduino/.pptx-cache/s109-7.jpg">    </p:cNvPr>
          <p:cNvPicPr>
            <a:picLocks noChangeAspect="1"/>
          </p:cNvPicPr>
          <p:nvPr/>
        </p:nvPicPr>
        <p:blipFill>
          <a:blip r:embed="rId8"/>
          <a:stretch>
            <a:fillRect/>
          </a:stretch>
        </p:blipFill>
        <p:spPr>
          <a:xfrm>
            <a:off x="0" y="0"/>
            <a:ext cx="12191695" cy="6858000"/>
          </a:xfrm>
          <a:prstGeom prst="rect">
            <a:avLst/>
          </a:prstGeom>
        </p:spPr>
      </p:pic>
      <p:pic>
        <p:nvPicPr>
          <p:cNvPr id="10" name="anim-g8-821" descr="/Users/mac/Desktop/أردوينو/المشاريع والكتب/younes-training/arduino/.pptx-cache/s109-8.jpg">    </p:cNvPr>
          <p:cNvPicPr>
            <a:picLocks noChangeAspect="1"/>
          </p:cNvPicPr>
          <p:nvPr/>
        </p:nvPicPr>
        <p:blipFill>
          <a:blip r:embed="rId9"/>
          <a:stretch>
            <a:fillRect/>
          </a:stretch>
        </p:blipFill>
        <p:spPr>
          <a:xfrm>
            <a:off x="0" y="0"/>
            <a:ext cx="12191695" cy="6858000"/>
          </a:xfrm>
          <a:prstGeom prst="rect">
            <a:avLst/>
          </a:prstGeom>
        </p:spPr>
      </p:pic>
      <p:pic>
        <p:nvPicPr>
          <p:cNvPr id="11" name="anim-g9-822" descr="/Users/mac/Desktop/أردوينو/المشاريع والكتب/younes-training/arduino/.pptx-cache/s109-9.jpg">    </p:cNvPr>
          <p:cNvPicPr>
            <a:picLocks noChangeAspect="1"/>
          </p:cNvPicPr>
          <p:nvPr/>
        </p:nvPicPr>
        <p:blipFill>
          <a:blip r:embed="rId10"/>
          <a:stretch>
            <a:fillRect/>
          </a:stretch>
        </p:blipFill>
        <p:spPr>
          <a:xfrm>
            <a:off x="0" y="0"/>
            <a:ext cx="12191695" cy="6858000"/>
          </a:xfrm>
          <a:prstGeom prst="rect">
            <a:avLst/>
          </a:prstGeom>
        </p:spPr>
      </p:pic>
      <p:pic>
        <p:nvPicPr>
          <p:cNvPr id="12" name="anim-g10-823" descr="/Users/mac/Desktop/أردوينو/المشاريع والكتب/younes-training/arduino/.pptx-cache/s109-10.jpg">    </p:cNvPr>
          <p:cNvPicPr>
            <a:picLocks noChangeAspect="1"/>
          </p:cNvPicPr>
          <p:nvPr/>
        </p:nvPicPr>
        <p:blipFill>
          <a:blip r:embed="rId11"/>
          <a:stretch>
            <a:fillRect/>
          </a:stretch>
        </p:blipFill>
        <p:spPr>
          <a:xfrm>
            <a:off x="0" y="0"/>
            <a:ext cx="12191695" cy="6858000"/>
          </a:xfrm>
          <a:prstGeom prst="rect">
            <a:avLst/>
          </a:prstGeom>
        </p:spPr>
      </p:pic>
      <p:pic>
        <p:nvPicPr>
          <p:cNvPr id="13" name="anim-g11-824" descr="/Users/mac/Desktop/أردوينو/المشاريع والكتب/younes-training/arduino/.pptx-cache/s109-11.jpg">    </p:cNvPr>
          <p:cNvPicPr>
            <a:picLocks noChangeAspect="1"/>
          </p:cNvPicPr>
          <p:nvPr/>
        </p:nvPicPr>
        <p:blipFill>
          <a:blip r:embed="rId12"/>
          <a:stretch>
            <a:fillRect/>
          </a:stretch>
        </p:blipFill>
        <p:spPr>
          <a:xfrm>
            <a:off x="0" y="0"/>
            <a:ext cx="12191695" cy="6858000"/>
          </a:xfrm>
          <a:prstGeom prst="rect">
            <a:avLst/>
          </a:prstGeom>
        </p:spPr>
      </p:pic>
      <p:pic>
        <p:nvPicPr>
          <p:cNvPr id="14" name="anim-g12-825" descr="/Users/mac/Desktop/أردوينو/المشاريع والكتب/younes-training/arduino/.pptx-cache/s109-12.jpg">    </p:cNvPr>
          <p:cNvPicPr>
            <a:picLocks noChangeAspect="1"/>
          </p:cNvPicPr>
          <p:nvPr/>
        </p:nvPicPr>
        <p:blipFill>
          <a:blip r:embed="rId13"/>
          <a:stretch>
            <a:fillRect/>
          </a:stretch>
        </p:blipFill>
        <p:spPr>
          <a:xfrm>
            <a:off x="0" y="0"/>
            <a:ext cx="12191695" cy="6858000"/>
          </a:xfrm>
          <a:prstGeom prst="rect">
            <a:avLst/>
          </a:prstGeom>
        </p:spPr>
      </p:pic>
      <p:pic>
        <p:nvPicPr>
          <p:cNvPr id="15" name="anim-g13-826" descr="/Users/mac/Desktop/أردوينو/المشاريع والكتب/younes-training/arduino/.pptx-cache/s109-13.jpg">    </p:cNvPr>
          <p:cNvPicPr>
            <a:picLocks noChangeAspect="1"/>
          </p:cNvPicPr>
          <p:nvPr/>
        </p:nvPicPr>
        <p:blipFill>
          <a:blip r:embed="rId14"/>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4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4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400"/>
                                        <p:tgtEl>
                                          <p:spTgt spid="10"/>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fade">
                                      <p:cBhvr>
                                        <p:cTn id="47" dur="400"/>
                                        <p:tgtEl>
                                          <p:spTgt spid="11"/>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2"/>
                                        </p:tgtEl>
                                        <p:attrNameLst>
                                          <p:attrName>style.visibility</p:attrName>
                                        </p:attrNameLst>
                                      </p:cBhvr>
                                      <p:to>
                                        <p:strVal val="visible"/>
                                      </p:to>
                                    </p:set>
                                    <p:animEffect transition="in" filter="fade">
                                      <p:cBhvr>
                                        <p:cTn id="52" dur="400"/>
                                        <p:tgtEl>
                                          <p:spTgt spid="12"/>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13"/>
                                        </p:tgtEl>
                                        <p:attrNameLst>
                                          <p:attrName>style.visibility</p:attrName>
                                        </p:attrNameLst>
                                      </p:cBhvr>
                                      <p:to>
                                        <p:strVal val="visible"/>
                                      </p:to>
                                    </p:set>
                                    <p:animEffect transition="in" filter="fade">
                                      <p:cBhvr>
                                        <p:cTn id="57" dur="400"/>
                                        <p:tgtEl>
                                          <p:spTgt spid="13"/>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14"/>
                                        </p:tgtEl>
                                        <p:attrNameLst>
                                          <p:attrName>style.visibility</p:attrName>
                                        </p:attrNameLst>
                                      </p:cBhvr>
                                      <p:to>
                                        <p:strVal val="visible"/>
                                      </p:to>
                                    </p:set>
                                    <p:animEffect transition="in" filter="fade">
                                      <p:cBhvr>
                                        <p:cTn id="62" dur="400"/>
                                        <p:tgtEl>
                                          <p:spTgt spid="14"/>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15"/>
                                        </p:tgtEl>
                                        <p:attrNameLst>
                                          <p:attrName>style.visibility</p:attrName>
                                        </p:attrNameLst>
                                      </p:cBhvr>
                                      <p:to>
                                        <p:strVal val="visible"/>
                                      </p:to>
                                    </p:set>
                                    <p:animEffect transition="in" filter="fade">
                                      <p:cBhvr>
                                        <p:cTn id="67"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r="http://schemas.openxmlformats.org/officeDocument/2006/relationships" xmlns:p="http://schemas.openxmlformats.org/presentationml/2006/main">
  <p:cSld name="Slide 110">
    <p:spTree>
      <p:nvGrpSpPr>
        <p:cNvPr id="1" name=""/>
        <p:cNvGrpSpPr/>
        <p:nvPr/>
      </p:nvGrpSpPr>
      <p:grpSpPr>
        <a:xfrm>
          <a:off x="0" y="0"/>
          <a:ext cx="0" cy="0"/>
          <a:chOff x="0" y="0"/>
          <a:chExt cx="0" cy="0"/>
        </a:xfrm>
      </p:grpSpPr>
      <p:pic>
        <p:nvPicPr>
          <p:cNvPr id="2" name="Image 0" descr="/Users/mac/Desktop/أردوينو/المشاريع والكتب/younes-training/arduino/.pptx-cache/s11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705960" y="1188720"/>
            <a:ext cx="2779776"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705960" y="1188720"/>
            <a:ext cx="277977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الفكرة الكبيرة</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الأوامر الثلاثة نفسها…</a:t>
            </a:r>
            <a:endParaRPr lang="ar-SA" sz="4400" dirty="0"/>
          </a:p>
          <a:p>
            <a:pPr algn="ctr" indent="0" marL="0">
              <a:lnSpc>
                <a:spcPct val="115000"/>
              </a:lnSpc>
              <a:buNone/>
            </a:pPr>
            <a:r>
              <a:rPr lang="ar-SA" altLang="en-US" sz="4400" dirty="0">
                <a:solidFill>
                  <a:srgbClr val="F0CC7A"/>
                </a:solidFill>
                <a:latin typeface="Cairo Black" pitchFamily="34" charset="0"/>
                <a:ea typeface="Cairo Black" pitchFamily="34" charset="-122"/>
                <a:cs typeface="Cairo Black" pitchFamily="34" charset="-120"/>
              </a:rPr>
              <a:t> لكن بترتيب ذكي صنعنا نظامًا من حياتنا</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الأردوينو للمعلمين</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إشارة المرور والمتغيرات  ·  ١١١</a:t>
            </a:r>
            <a:endParaRPr lang="ar-SA" sz="120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071720" y="1188720"/>
            <a:ext cx="2048256"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5071720" y="1188720"/>
            <a:ext cx="204825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المتغيرات</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المتغير صندوق له اسم…</a:t>
            </a:r>
            <a:endParaRPr lang="ar-SA" sz="4400" dirty="0"/>
          </a:p>
          <a:p>
            <a:pPr algn="ctr" indent="0" marL="0">
              <a:lnSpc>
                <a:spcPct val="115000"/>
              </a:lnSpc>
              <a:buNone/>
            </a:pPr>
            <a:r>
              <a:rPr lang="ar-SA" altLang="en-US" sz="4400" dirty="0">
                <a:solidFill>
                  <a:srgbClr val="F0CC7A"/>
                </a:solidFill>
                <a:latin typeface="Cairo Black" pitchFamily="34" charset="0"/>
                <a:ea typeface="Cairo Black" pitchFamily="34" charset="-122"/>
                <a:cs typeface="Cairo Black" pitchFamily="34" charset="-120"/>
              </a:rPr>
              <a:t> نضع فيه قيمة، ونستخدمها متى شئنا</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الأردوينو للمعلمين</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إشارة المرور والمتغيرات  ·  ١١٢</a:t>
            </a:r>
            <a:endParaRPr lang="ar-SA" sz="120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spTree>
      <p:nvGrpSpPr>
        <p:cNvPr id="1" name=""/>
        <p:cNvGrpSpPr/>
        <p:nvPr/>
      </p:nvGrpSpPr>
      <p:grpSpPr>
        <a:xfrm>
          <a:off x="0" y="0"/>
          <a:ext cx="0" cy="0"/>
          <a:chOff x="0" y="0"/>
          <a:chExt cx="0" cy="0"/>
        </a:xfrm>
      </p:grpSpPr>
      <p:pic>
        <p:nvPicPr>
          <p:cNvPr id="2" name="Image 0" descr="/Users/mac/Desktop/أردوينو/المشاريع والكتب/younes-training/arduino/.pptx-cache/s113-0.jpg">    </p:cNvPr>
          <p:cNvPicPr>
            <a:picLocks noChangeAspect="1"/>
          </p:cNvPicPr>
          <p:nvPr/>
        </p:nvPicPr>
        <p:blipFill>
          <a:blip r:embed="rId1"/>
          <a:stretch>
            <a:fillRect/>
          </a:stretch>
        </p:blipFill>
        <p:spPr>
          <a:xfrm>
            <a:off x="0" y="0"/>
            <a:ext cx="12191695" cy="6858000"/>
          </a:xfrm>
          <a:prstGeom prst="rect">
            <a:avLst/>
          </a:prstGeom>
        </p:spPr>
      </p:pic>
      <p:pic>
        <p:nvPicPr>
          <p:cNvPr id="3" name="anim-g1-827" descr="/Users/mac/Desktop/أردوينو/المشاريع والكتب/younes-training/arduino/.pptx-cache/s113-1.jpg">    </p:cNvPr>
          <p:cNvPicPr>
            <a:picLocks noChangeAspect="1"/>
          </p:cNvPicPr>
          <p:nvPr/>
        </p:nvPicPr>
        <p:blipFill>
          <a:blip r:embed="rId2"/>
          <a:stretch>
            <a:fillRect/>
          </a:stretch>
        </p:blipFill>
        <p:spPr>
          <a:xfrm>
            <a:off x="0" y="0"/>
            <a:ext cx="12191695" cy="6858000"/>
          </a:xfrm>
          <a:prstGeom prst="rect">
            <a:avLst/>
          </a:prstGeom>
        </p:spPr>
      </p:pic>
      <p:pic>
        <p:nvPicPr>
          <p:cNvPr id="4" name="anim-g2-828" descr="/Users/mac/Desktop/أردوينو/المشاريع والكتب/younes-training/arduino/.pptx-cache/s113-2.jpg">    </p:cNvPr>
          <p:cNvPicPr>
            <a:picLocks noChangeAspect="1"/>
          </p:cNvPicPr>
          <p:nvPr/>
        </p:nvPicPr>
        <p:blipFill>
          <a:blip r:embed="rId3"/>
          <a:stretch>
            <a:fillRect/>
          </a:stretch>
        </p:blipFill>
        <p:spPr>
          <a:xfrm>
            <a:off x="0" y="0"/>
            <a:ext cx="12191695" cy="6858000"/>
          </a:xfrm>
          <a:prstGeom prst="rect">
            <a:avLst/>
          </a:prstGeom>
        </p:spPr>
      </p:pic>
      <p:pic>
        <p:nvPicPr>
          <p:cNvPr id="5" name="anim-g3-829" descr="/Users/mac/Desktop/أردوينو/المشاريع والكتب/younes-training/arduino/.pptx-cache/s113-3.jpg">    </p:cNvPr>
          <p:cNvPicPr>
            <a:picLocks noChangeAspect="1"/>
          </p:cNvPicPr>
          <p:nvPr/>
        </p:nvPicPr>
        <p:blipFill>
          <a:blip r:embed="rId4"/>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4.xml><?xml version="1.0" encoding="utf-8"?>
<p:sld xmlns:a="http://schemas.openxmlformats.org/drawingml/2006/main" xmlns:r="http://schemas.openxmlformats.org/officeDocument/2006/relationships" xmlns:p="http://schemas.openxmlformats.org/presentationml/2006/main">
  <p:cSld name="Slide 1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588959" y="457200"/>
            <a:ext cx="2779776" cy="457200"/>
          </a:xfrm>
          <a:prstGeom prst="roundRect">
            <a:avLst>
              <a:gd name="adj" fmla="val 50000"/>
            </a:avLst>
          </a:prstGeom>
          <a:solidFill>
            <a:srgbClr val="F6EBCF"/>
          </a:solidFill>
          <a:ln/>
        </p:spPr>
      </p:sp>
      <p:sp>
        <p:nvSpPr>
          <p:cNvPr id="3" name="Text 1"/>
          <p:cNvSpPr/>
          <p:nvPr/>
        </p:nvSpPr>
        <p:spPr>
          <a:xfrm>
            <a:off x="8588959" y="457200"/>
            <a:ext cx="277977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أنواع الصناديق</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أشهر أنواع المتغيرات</a:t>
            </a:r>
            <a:endParaRPr lang="ar-SA" sz="3800" dirty="0"/>
          </a:p>
        </p:txBody>
      </p:sp>
      <p:sp>
        <p:nvSpPr>
          <p:cNvPr id="5" name="Shape 3"/>
          <p:cNvSpPr/>
          <p:nvPr/>
        </p:nvSpPr>
        <p:spPr>
          <a:xfrm>
            <a:off x="9303471" y="1874520"/>
            <a:ext cx="2065264" cy="548640"/>
          </a:xfrm>
          <a:prstGeom prst="roundRect">
            <a:avLst>
              <a:gd name="adj" fmla="val 20000"/>
            </a:avLst>
          </a:prstGeom>
          <a:solidFill>
            <a:srgbClr val="101B45"/>
          </a:solidFill>
          <a:ln/>
        </p:spPr>
      </p:sp>
      <p:sp>
        <p:nvSpPr>
          <p:cNvPr id="6" name="Text 4"/>
          <p:cNvSpPr/>
          <p:nvPr/>
        </p:nvSpPr>
        <p:spPr>
          <a:xfrm>
            <a:off x="9303471" y="1874520"/>
            <a:ext cx="2065264"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النوع</a:t>
            </a:r>
            <a:endParaRPr lang="ar-SA" sz="1900" dirty="0"/>
          </a:p>
        </p:txBody>
      </p:sp>
      <p:sp>
        <p:nvSpPr>
          <p:cNvPr id="7" name="Shape 5"/>
          <p:cNvSpPr/>
          <p:nvPr/>
        </p:nvSpPr>
        <p:spPr>
          <a:xfrm>
            <a:off x="4473140" y="1874520"/>
            <a:ext cx="4720603" cy="548640"/>
          </a:xfrm>
          <a:prstGeom prst="roundRect">
            <a:avLst>
              <a:gd name="adj" fmla="val 20000"/>
            </a:avLst>
          </a:prstGeom>
          <a:solidFill>
            <a:srgbClr val="101B45"/>
          </a:solidFill>
          <a:ln/>
        </p:spPr>
      </p:sp>
      <p:sp>
        <p:nvSpPr>
          <p:cNvPr id="8" name="Text 6"/>
          <p:cNvSpPr/>
          <p:nvPr/>
        </p:nvSpPr>
        <p:spPr>
          <a:xfrm>
            <a:off x="4473140" y="1874520"/>
            <a:ext cx="4720603"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ماذا يحفظ؟</a:t>
            </a:r>
            <a:endParaRPr lang="ar-SA" sz="1900" dirty="0"/>
          </a:p>
        </p:txBody>
      </p:sp>
      <p:sp>
        <p:nvSpPr>
          <p:cNvPr id="9" name="Shape 7"/>
          <p:cNvSpPr/>
          <p:nvPr/>
        </p:nvSpPr>
        <p:spPr>
          <a:xfrm>
            <a:off x="822960" y="1874520"/>
            <a:ext cx="3540452" cy="548640"/>
          </a:xfrm>
          <a:prstGeom prst="roundRect">
            <a:avLst>
              <a:gd name="adj" fmla="val 20000"/>
            </a:avLst>
          </a:prstGeom>
          <a:solidFill>
            <a:srgbClr val="101B45"/>
          </a:solidFill>
          <a:ln/>
        </p:spPr>
      </p:sp>
      <p:sp>
        <p:nvSpPr>
          <p:cNvPr id="10" name="Text 8"/>
          <p:cNvSpPr/>
          <p:nvPr/>
        </p:nvSpPr>
        <p:spPr>
          <a:xfrm>
            <a:off x="822960" y="1874520"/>
            <a:ext cx="3540452"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مثال</a:t>
            </a:r>
            <a:endParaRPr lang="ar-SA" sz="1900" dirty="0"/>
          </a:p>
        </p:txBody>
      </p:sp>
      <p:sp>
        <p:nvSpPr>
          <p:cNvPr id="11" name="anim-g1-830"/>
          <p:cNvSpPr/>
          <p:nvPr/>
        </p:nvSpPr>
        <p:spPr>
          <a:xfrm>
            <a:off x="9303471" y="2514600"/>
            <a:ext cx="2065264" cy="1100328"/>
          </a:xfrm>
          <a:prstGeom prst="roundRect">
            <a:avLst>
              <a:gd name="adj" fmla="val 9972"/>
            </a:avLst>
          </a:prstGeom>
          <a:solidFill>
            <a:srgbClr val="FBF3DF"/>
          </a:solidFill>
          <a:ln w="12700">
            <a:solidFill>
              <a:srgbClr val="EFDDAF"/>
            </a:solidFill>
            <a:prstDash val="solid"/>
          </a:ln>
        </p:spPr>
      </p:sp>
      <p:sp>
        <p:nvSpPr>
          <p:cNvPr id="12" name="anim-g1-831"/>
          <p:cNvSpPr/>
          <p:nvPr/>
        </p:nvSpPr>
        <p:spPr>
          <a:xfrm>
            <a:off x="9440631" y="2514600"/>
            <a:ext cx="1790944"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int</a:t>
            </a:r>
            <a:endParaRPr lang="ar-SA" sz="2100" dirty="0"/>
          </a:p>
        </p:txBody>
      </p:sp>
      <p:sp>
        <p:nvSpPr>
          <p:cNvPr id="13" name="anim-g1-832"/>
          <p:cNvSpPr/>
          <p:nvPr/>
        </p:nvSpPr>
        <p:spPr>
          <a:xfrm>
            <a:off x="4473140" y="2514600"/>
            <a:ext cx="4720603" cy="1100328"/>
          </a:xfrm>
          <a:prstGeom prst="roundRect">
            <a:avLst>
              <a:gd name="adj" fmla="val 9972"/>
            </a:avLst>
          </a:prstGeom>
          <a:solidFill>
            <a:srgbClr val="FFFFFF"/>
          </a:solidFill>
          <a:ln w="12700">
            <a:solidFill>
              <a:srgbClr val="E4DCC8"/>
            </a:solidFill>
            <a:prstDash val="solid"/>
          </a:ln>
        </p:spPr>
      </p:sp>
      <p:sp>
        <p:nvSpPr>
          <p:cNvPr id="14" name="anim-g1-833"/>
          <p:cNvSpPr/>
          <p:nvPr/>
        </p:nvSpPr>
        <p:spPr>
          <a:xfrm>
            <a:off x="4610300" y="2514600"/>
            <a:ext cx="4446283"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عدد صحيح من −32768 إلى 32767</a:t>
            </a:r>
            <a:endParaRPr lang="ar-SA" sz="2100" dirty="0"/>
          </a:p>
        </p:txBody>
      </p:sp>
      <p:sp>
        <p:nvSpPr>
          <p:cNvPr id="15" name="anim-g1-834"/>
          <p:cNvSpPr/>
          <p:nvPr/>
        </p:nvSpPr>
        <p:spPr>
          <a:xfrm>
            <a:off x="822960" y="2514600"/>
            <a:ext cx="3540452" cy="1100328"/>
          </a:xfrm>
          <a:prstGeom prst="roundRect">
            <a:avLst>
              <a:gd name="adj" fmla="val 9972"/>
            </a:avLst>
          </a:prstGeom>
          <a:solidFill>
            <a:srgbClr val="E6F4EC"/>
          </a:solidFill>
          <a:ln w="12700">
            <a:solidFill>
              <a:srgbClr val="CDE9D9"/>
            </a:solidFill>
            <a:prstDash val="solid"/>
          </a:ln>
        </p:spPr>
      </p:sp>
      <p:sp>
        <p:nvSpPr>
          <p:cNvPr id="16" name="anim-g1-835"/>
          <p:cNvSpPr/>
          <p:nvPr/>
        </p:nvSpPr>
        <p:spPr>
          <a:xfrm>
            <a:off x="960120" y="2514600"/>
            <a:ext cx="3266132"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int red = 11;</a:t>
            </a:r>
            <a:endParaRPr lang="ar-SA" sz="2100" dirty="0"/>
          </a:p>
        </p:txBody>
      </p:sp>
      <p:sp>
        <p:nvSpPr>
          <p:cNvPr id="17" name="anim-g2-836"/>
          <p:cNvSpPr/>
          <p:nvPr/>
        </p:nvSpPr>
        <p:spPr>
          <a:xfrm>
            <a:off x="9303471" y="3724656"/>
            <a:ext cx="2065264" cy="1100328"/>
          </a:xfrm>
          <a:prstGeom prst="roundRect">
            <a:avLst>
              <a:gd name="adj" fmla="val 9972"/>
            </a:avLst>
          </a:prstGeom>
          <a:solidFill>
            <a:srgbClr val="FBF3DF"/>
          </a:solidFill>
          <a:ln w="12700">
            <a:solidFill>
              <a:srgbClr val="EFDDAF"/>
            </a:solidFill>
            <a:prstDash val="solid"/>
          </a:ln>
        </p:spPr>
      </p:sp>
      <p:sp>
        <p:nvSpPr>
          <p:cNvPr id="18" name="anim-g2-837"/>
          <p:cNvSpPr/>
          <p:nvPr/>
        </p:nvSpPr>
        <p:spPr>
          <a:xfrm>
            <a:off x="9440631" y="3724656"/>
            <a:ext cx="1790944"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byte</a:t>
            </a:r>
            <a:endParaRPr lang="ar-SA" sz="2100" dirty="0"/>
          </a:p>
        </p:txBody>
      </p:sp>
      <p:sp>
        <p:nvSpPr>
          <p:cNvPr id="19" name="anim-g2-838"/>
          <p:cNvSpPr/>
          <p:nvPr/>
        </p:nvSpPr>
        <p:spPr>
          <a:xfrm>
            <a:off x="4473140" y="3724656"/>
            <a:ext cx="4720603" cy="1100328"/>
          </a:xfrm>
          <a:prstGeom prst="roundRect">
            <a:avLst>
              <a:gd name="adj" fmla="val 9972"/>
            </a:avLst>
          </a:prstGeom>
          <a:solidFill>
            <a:srgbClr val="FFFFFF"/>
          </a:solidFill>
          <a:ln w="12700">
            <a:solidFill>
              <a:srgbClr val="E4DCC8"/>
            </a:solidFill>
            <a:prstDash val="solid"/>
          </a:ln>
        </p:spPr>
      </p:sp>
      <p:sp>
        <p:nvSpPr>
          <p:cNvPr id="20" name="anim-g2-839"/>
          <p:cNvSpPr/>
          <p:nvPr/>
        </p:nvSpPr>
        <p:spPr>
          <a:xfrm>
            <a:off x="4610300" y="3724656"/>
            <a:ext cx="4446283"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عدد صغير من 0 إلى 255 فقط</a:t>
            </a:r>
            <a:endParaRPr lang="ar-SA" sz="2100" dirty="0"/>
          </a:p>
        </p:txBody>
      </p:sp>
      <p:sp>
        <p:nvSpPr>
          <p:cNvPr id="21" name="anim-g2-840"/>
          <p:cNvSpPr/>
          <p:nvPr/>
        </p:nvSpPr>
        <p:spPr>
          <a:xfrm>
            <a:off x="822960" y="3724656"/>
            <a:ext cx="3540452" cy="1100328"/>
          </a:xfrm>
          <a:prstGeom prst="roundRect">
            <a:avLst>
              <a:gd name="adj" fmla="val 9972"/>
            </a:avLst>
          </a:prstGeom>
          <a:solidFill>
            <a:srgbClr val="E6F4EC"/>
          </a:solidFill>
          <a:ln w="12700">
            <a:solidFill>
              <a:srgbClr val="CDE9D9"/>
            </a:solidFill>
            <a:prstDash val="solid"/>
          </a:ln>
        </p:spPr>
      </p:sp>
      <p:sp>
        <p:nvSpPr>
          <p:cNvPr id="22" name="anim-g2-841"/>
          <p:cNvSpPr/>
          <p:nvPr/>
        </p:nvSpPr>
        <p:spPr>
          <a:xfrm>
            <a:off x="960120" y="3724656"/>
            <a:ext cx="3266132"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byte level = 200;</a:t>
            </a:r>
            <a:endParaRPr lang="ar-SA" sz="2100" dirty="0"/>
          </a:p>
        </p:txBody>
      </p:sp>
      <p:sp>
        <p:nvSpPr>
          <p:cNvPr id="23" name="anim-g3-842"/>
          <p:cNvSpPr/>
          <p:nvPr/>
        </p:nvSpPr>
        <p:spPr>
          <a:xfrm>
            <a:off x="9303471" y="4934712"/>
            <a:ext cx="2065264" cy="1100328"/>
          </a:xfrm>
          <a:prstGeom prst="roundRect">
            <a:avLst>
              <a:gd name="adj" fmla="val 9972"/>
            </a:avLst>
          </a:prstGeom>
          <a:solidFill>
            <a:srgbClr val="FBF3DF"/>
          </a:solidFill>
          <a:ln w="12700">
            <a:solidFill>
              <a:srgbClr val="EFDDAF"/>
            </a:solidFill>
            <a:prstDash val="solid"/>
          </a:ln>
        </p:spPr>
      </p:sp>
      <p:sp>
        <p:nvSpPr>
          <p:cNvPr id="24" name="anim-g3-843"/>
          <p:cNvSpPr/>
          <p:nvPr/>
        </p:nvSpPr>
        <p:spPr>
          <a:xfrm>
            <a:off x="9440631" y="4934712"/>
            <a:ext cx="1790944"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long</a:t>
            </a:r>
            <a:endParaRPr lang="ar-SA" sz="2100" dirty="0"/>
          </a:p>
        </p:txBody>
      </p:sp>
      <p:sp>
        <p:nvSpPr>
          <p:cNvPr id="25" name="anim-g3-844"/>
          <p:cNvSpPr/>
          <p:nvPr/>
        </p:nvSpPr>
        <p:spPr>
          <a:xfrm>
            <a:off x="4473140" y="4934712"/>
            <a:ext cx="4720603" cy="1100328"/>
          </a:xfrm>
          <a:prstGeom prst="roundRect">
            <a:avLst>
              <a:gd name="adj" fmla="val 9972"/>
            </a:avLst>
          </a:prstGeom>
          <a:solidFill>
            <a:srgbClr val="FFFFFF"/>
          </a:solidFill>
          <a:ln w="12700">
            <a:solidFill>
              <a:srgbClr val="E4DCC8"/>
            </a:solidFill>
            <a:prstDash val="solid"/>
          </a:ln>
        </p:spPr>
      </p:sp>
      <p:sp>
        <p:nvSpPr>
          <p:cNvPr id="26" name="anim-g3-845"/>
          <p:cNvSpPr/>
          <p:nvPr/>
        </p:nvSpPr>
        <p:spPr>
          <a:xfrm>
            <a:off x="4610300" y="4934712"/>
            <a:ext cx="4446283"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عدد كبير جدًا (حتى ملياري تقريبًا)</a:t>
            </a:r>
            <a:endParaRPr lang="ar-SA" sz="2100" dirty="0"/>
          </a:p>
        </p:txBody>
      </p:sp>
      <p:sp>
        <p:nvSpPr>
          <p:cNvPr id="27" name="anim-g3-846"/>
          <p:cNvSpPr/>
          <p:nvPr/>
        </p:nvSpPr>
        <p:spPr>
          <a:xfrm>
            <a:off x="822960" y="4934712"/>
            <a:ext cx="3540452" cy="1100328"/>
          </a:xfrm>
          <a:prstGeom prst="roundRect">
            <a:avLst>
              <a:gd name="adj" fmla="val 9972"/>
            </a:avLst>
          </a:prstGeom>
          <a:solidFill>
            <a:srgbClr val="E6F4EC"/>
          </a:solidFill>
          <a:ln w="12700">
            <a:solidFill>
              <a:srgbClr val="CDE9D9"/>
            </a:solidFill>
            <a:prstDash val="solid"/>
          </a:ln>
        </p:spPr>
      </p:sp>
      <p:sp>
        <p:nvSpPr>
          <p:cNvPr id="28" name="anim-g3-847"/>
          <p:cNvSpPr/>
          <p:nvPr/>
        </p:nvSpPr>
        <p:spPr>
          <a:xfrm>
            <a:off x="960120" y="4934712"/>
            <a:ext cx="3266132"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long ms = 60000;</a:t>
            </a:r>
            <a:endParaRPr lang="ar-SA" sz="2100" dirty="0"/>
          </a:p>
        </p:txBody>
      </p:sp>
      <p:sp>
        <p:nvSpPr>
          <p:cNvPr id="29" name="Text 27"/>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الأردوينو للمعلمين</a:t>
            </a:r>
            <a:endParaRPr lang="ar-SA" sz="1200" dirty="0"/>
          </a:p>
        </p:txBody>
      </p:sp>
      <p:sp>
        <p:nvSpPr>
          <p:cNvPr id="30" name="Text 28"/>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إشارة المرور والمتغيرات  ·  ١١٤</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00"/>
                                        <p:tgtEl>
                                          <p:spTgt spid="1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400"/>
                                        <p:tgtEl>
                                          <p:spTgt spid="1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400"/>
                                        <p:tgtEl>
                                          <p:spTgt spid="1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4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00"/>
                                        <p:tgtEl>
                                          <p:spTgt spid="17"/>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400"/>
                                        <p:tgtEl>
                                          <p:spTgt spid="18"/>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400"/>
                                        <p:tgtEl>
                                          <p:spTgt spid="19"/>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6" dur="400"/>
                                        <p:tgtEl>
                                          <p:spTgt spid="20"/>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fade">
                                      <p:cBhvr>
                                        <p:cTn id="39" dur="400"/>
                                        <p:tgtEl>
                                          <p:spTgt spid="21"/>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400"/>
                                        <p:tgtEl>
                                          <p:spTgt spid="2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400"/>
                                        <p:tgtEl>
                                          <p:spTgt spid="23"/>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4"/>
                                        </p:tgtEl>
                                        <p:attrNameLst>
                                          <p:attrName>style.visibility</p:attrName>
                                        </p:attrNameLst>
                                      </p:cBhvr>
                                      <p:to>
                                        <p:strVal val="visible"/>
                                      </p:to>
                                    </p:set>
                                    <p:animEffect transition="in" filter="fade">
                                      <p:cBhvr>
                                        <p:cTn id="50" dur="400"/>
                                        <p:tgtEl>
                                          <p:spTgt spid="24"/>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5"/>
                                        </p:tgtEl>
                                        <p:attrNameLst>
                                          <p:attrName>style.visibility</p:attrName>
                                        </p:attrNameLst>
                                      </p:cBhvr>
                                      <p:to>
                                        <p:strVal val="visible"/>
                                      </p:to>
                                    </p:set>
                                    <p:animEffect transition="in" filter="fade">
                                      <p:cBhvr>
                                        <p:cTn id="53" dur="400"/>
                                        <p:tgtEl>
                                          <p:spTgt spid="25"/>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6"/>
                                        </p:tgtEl>
                                        <p:attrNameLst>
                                          <p:attrName>style.visibility</p:attrName>
                                        </p:attrNameLst>
                                      </p:cBhvr>
                                      <p:to>
                                        <p:strVal val="visible"/>
                                      </p:to>
                                    </p:set>
                                    <p:animEffect transition="in" filter="fade">
                                      <p:cBhvr>
                                        <p:cTn id="56" dur="400"/>
                                        <p:tgtEl>
                                          <p:spTgt spid="26"/>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7"/>
                                        </p:tgtEl>
                                        <p:attrNameLst>
                                          <p:attrName>style.visibility</p:attrName>
                                        </p:attrNameLst>
                                      </p:cBhvr>
                                      <p:to>
                                        <p:strVal val="visible"/>
                                      </p:to>
                                    </p:set>
                                    <p:animEffect transition="in" filter="fade">
                                      <p:cBhvr>
                                        <p:cTn id="59" dur="400"/>
                                        <p:tgtEl>
                                          <p:spTgt spid="27"/>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8"/>
                                        </p:tgtEl>
                                        <p:attrNameLst>
                                          <p:attrName>style.visibility</p:attrName>
                                        </p:attrNameLst>
                                      </p:cBhvr>
                                      <p:to>
                                        <p:strVal val="visible"/>
                                      </p:to>
                                    </p:set>
                                    <p:animEffect transition="in" filter="fade">
                                      <p:cBhvr>
                                        <p:cTn id="62"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Lst>
  </p:timing>
</p:sld>
</file>

<file path=ppt/slides/slide115.xml><?xml version="1.0" encoding="utf-8"?>
<p:sld xmlns:a="http://schemas.openxmlformats.org/drawingml/2006/main" xmlns:r="http://schemas.openxmlformats.org/officeDocument/2006/relationships" xmlns:p="http://schemas.openxmlformats.org/presentationml/2006/main">
  <p:cSld name="Slide 115">
    <p:spTree>
      <p:nvGrpSpPr>
        <p:cNvPr id="1" name=""/>
        <p:cNvGrpSpPr/>
        <p:nvPr/>
      </p:nvGrpSpPr>
      <p:grpSpPr>
        <a:xfrm>
          <a:off x="0" y="0"/>
          <a:ext cx="0" cy="0"/>
          <a:chOff x="0" y="0"/>
          <a:chExt cx="0" cy="0"/>
        </a:xfrm>
      </p:grpSpPr>
      <p:pic>
        <p:nvPicPr>
          <p:cNvPr id="2" name="Image 0" descr="/Users/mac/Desktop/أردوينو/المشاريع والكتب/younes-training/arduino/.pptx-cache/s115-0.jpg">    </p:cNvPr>
          <p:cNvPicPr>
            <a:picLocks noChangeAspect="1"/>
          </p:cNvPicPr>
          <p:nvPr/>
        </p:nvPicPr>
        <p:blipFill>
          <a:blip r:embed="rId1"/>
          <a:stretch>
            <a:fillRect/>
          </a:stretch>
        </p:blipFill>
        <p:spPr>
          <a:xfrm>
            <a:off x="0" y="0"/>
            <a:ext cx="12191695" cy="6858000"/>
          </a:xfrm>
          <a:prstGeom prst="rect">
            <a:avLst/>
          </a:prstGeom>
        </p:spPr>
      </p:pic>
      <p:pic>
        <p:nvPicPr>
          <p:cNvPr id="3" name="anim-g1-848" descr="/Users/mac/Desktop/أردوينو/المشاريع والكتب/younes-training/arduino/.pptx-cache/s115-1.jpg">    </p:cNvPr>
          <p:cNvPicPr>
            <a:picLocks noChangeAspect="1"/>
          </p:cNvPicPr>
          <p:nvPr/>
        </p:nvPicPr>
        <p:blipFill>
          <a:blip r:embed="rId2"/>
          <a:stretch>
            <a:fillRect/>
          </a:stretch>
        </p:blipFill>
        <p:spPr>
          <a:xfrm>
            <a:off x="0" y="0"/>
            <a:ext cx="12191695" cy="6858000"/>
          </a:xfrm>
          <a:prstGeom prst="rect">
            <a:avLst/>
          </a:prstGeom>
        </p:spPr>
      </p:pic>
      <p:pic>
        <p:nvPicPr>
          <p:cNvPr id="4" name="anim-g2-849" descr="/Users/mac/Desktop/أردوينو/المشاريع والكتب/younes-training/arduino/.pptx-cache/s115-2.jpg">    </p:cNvPr>
          <p:cNvPicPr>
            <a:picLocks noChangeAspect="1"/>
          </p:cNvPicPr>
          <p:nvPr/>
        </p:nvPicPr>
        <p:blipFill>
          <a:blip r:embed="rId3"/>
          <a:stretch>
            <a:fillRect/>
          </a:stretch>
        </p:blipFill>
        <p:spPr>
          <a:xfrm>
            <a:off x="0" y="0"/>
            <a:ext cx="12191695" cy="6858000"/>
          </a:xfrm>
          <a:prstGeom prst="rect">
            <a:avLst/>
          </a:prstGeom>
        </p:spPr>
      </p:pic>
      <p:pic>
        <p:nvPicPr>
          <p:cNvPr id="5" name="anim-g3-850" descr="/Users/mac/Desktop/أردوينو/المشاريع والكتب/younes-training/arduino/.pptx-cache/s115-3.jpg">    </p:cNvPr>
          <p:cNvPicPr>
            <a:picLocks noChangeAspect="1"/>
          </p:cNvPicPr>
          <p:nvPr/>
        </p:nvPicPr>
        <p:blipFill>
          <a:blip r:embed="rId4"/>
          <a:stretch>
            <a:fillRect/>
          </a:stretch>
        </p:blipFill>
        <p:spPr>
          <a:xfrm>
            <a:off x="0" y="0"/>
            <a:ext cx="12191695" cy="6858000"/>
          </a:xfrm>
          <a:prstGeom prst="rect">
            <a:avLst/>
          </a:prstGeom>
        </p:spPr>
      </p:pic>
      <p:pic>
        <p:nvPicPr>
          <p:cNvPr id="6" name="anim-g4-851" descr="/Users/mac/Desktop/أردوينو/المشاريع والكتب/younes-training/arduino/.pptx-cache/s115-4.jpg">    </p:cNvPr>
          <p:cNvPicPr>
            <a:picLocks noChangeAspect="1"/>
          </p:cNvPicPr>
          <p:nvPr/>
        </p:nvPicPr>
        <p:blipFill>
          <a:blip r:embed="rId5"/>
          <a:stretch>
            <a:fillRect/>
          </a:stretch>
        </p:blipFill>
        <p:spPr>
          <a:xfrm>
            <a:off x="0" y="0"/>
            <a:ext cx="12191695" cy="6858000"/>
          </a:xfrm>
          <a:prstGeom prst="rect">
            <a:avLst/>
          </a:prstGeom>
        </p:spPr>
      </p:pic>
      <p:pic>
        <p:nvPicPr>
          <p:cNvPr id="7" name="anim-g5-852" descr="/Users/mac/Desktop/أردوينو/المشاريع والكتب/younes-training/arduino/.pptx-cache/s115-5.jpg">    </p:cNvPr>
          <p:cNvPicPr>
            <a:picLocks noChangeAspect="1"/>
          </p:cNvPicPr>
          <p:nvPr/>
        </p:nvPicPr>
        <p:blipFill>
          <a:blip r:embed="rId6"/>
          <a:stretch>
            <a:fillRect/>
          </a:stretch>
        </p:blipFill>
        <p:spPr>
          <a:xfrm>
            <a:off x="0" y="0"/>
            <a:ext cx="12191695" cy="6858000"/>
          </a:xfrm>
          <a:prstGeom prst="rect">
            <a:avLst/>
          </a:prstGeom>
        </p:spPr>
      </p:pic>
      <p:pic>
        <p:nvPicPr>
          <p:cNvPr id="8" name="anim-g6-853" descr="/Users/mac/Desktop/أردوينو/المشاريع والكتب/younes-training/arduino/.pptx-cache/s115-6.jpg">    </p:cNvPr>
          <p:cNvPicPr>
            <a:picLocks noChangeAspect="1"/>
          </p:cNvPicPr>
          <p:nvPr/>
        </p:nvPicPr>
        <p:blipFill>
          <a:blip r:embed="rId7"/>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6.xml><?xml version="1.0" encoding="utf-8"?>
<p:sld xmlns:a="http://schemas.openxmlformats.org/drawingml/2006/main" xmlns:r="http://schemas.openxmlformats.org/officeDocument/2006/relationships" xmlns:p="http://schemas.openxmlformats.org/presentationml/2006/main">
  <p:cSld name="Slide 116">
    <p:spTree>
      <p:nvGrpSpPr>
        <p:cNvPr id="1" name=""/>
        <p:cNvGrpSpPr/>
        <p:nvPr/>
      </p:nvGrpSpPr>
      <p:grpSpPr>
        <a:xfrm>
          <a:off x="0" y="0"/>
          <a:ext cx="0" cy="0"/>
          <a:chOff x="0" y="0"/>
          <a:chExt cx="0" cy="0"/>
        </a:xfrm>
      </p:grpSpPr>
      <p:pic>
        <p:nvPicPr>
          <p:cNvPr id="2" name="Image 0" descr="/Users/mac/Desktop/أردوينو/المشاريع والكتب/younes-training/arduino/.pptx-cache/s116-0.jpg">    </p:cNvPr>
          <p:cNvPicPr>
            <a:picLocks noChangeAspect="1"/>
          </p:cNvPicPr>
          <p:nvPr/>
        </p:nvPicPr>
        <p:blipFill>
          <a:blip r:embed="rId1"/>
          <a:stretch>
            <a:fillRect/>
          </a:stretch>
        </p:blipFill>
        <p:spPr>
          <a:xfrm>
            <a:off x="0" y="0"/>
            <a:ext cx="12191695" cy="6858000"/>
          </a:xfrm>
          <a:prstGeom prst="rect">
            <a:avLst/>
          </a:prstGeom>
        </p:spPr>
      </p:pic>
      <p:pic>
        <p:nvPicPr>
          <p:cNvPr id="3" name="anim-g1-854" descr="/Users/mac/Desktop/أردوينو/المشاريع والكتب/younes-training/arduino/.pptx-cache/s116-1.jpg">    </p:cNvPr>
          <p:cNvPicPr>
            <a:picLocks noChangeAspect="1"/>
          </p:cNvPicPr>
          <p:nvPr/>
        </p:nvPicPr>
        <p:blipFill>
          <a:blip r:embed="rId2"/>
          <a:stretch>
            <a:fillRect/>
          </a:stretch>
        </p:blipFill>
        <p:spPr>
          <a:xfrm>
            <a:off x="0" y="0"/>
            <a:ext cx="12191695" cy="6858000"/>
          </a:xfrm>
          <a:prstGeom prst="rect">
            <a:avLst/>
          </a:prstGeom>
        </p:spPr>
      </p:pic>
      <p:pic>
        <p:nvPicPr>
          <p:cNvPr id="4" name="anim-g2-855" descr="/Users/mac/Desktop/أردوينو/المشاريع والكتب/younes-training/arduino/.pptx-cache/s116-2.jpg">    </p:cNvPr>
          <p:cNvPicPr>
            <a:picLocks noChangeAspect="1"/>
          </p:cNvPicPr>
          <p:nvPr/>
        </p:nvPicPr>
        <p:blipFill>
          <a:blip r:embed="rId3"/>
          <a:stretch>
            <a:fillRect/>
          </a:stretch>
        </p:blipFill>
        <p:spPr>
          <a:xfrm>
            <a:off x="0" y="0"/>
            <a:ext cx="12191695" cy="6858000"/>
          </a:xfrm>
          <a:prstGeom prst="rect">
            <a:avLst/>
          </a:prstGeom>
        </p:spPr>
      </p:pic>
      <p:pic>
        <p:nvPicPr>
          <p:cNvPr id="5" name="anim-g3-856" descr="/Users/mac/Desktop/أردوينو/المشاريع والكتب/younes-training/arduino/.pptx-cache/s116-3.jpg">    </p:cNvPr>
          <p:cNvPicPr>
            <a:picLocks noChangeAspect="1"/>
          </p:cNvPicPr>
          <p:nvPr/>
        </p:nvPicPr>
        <p:blipFill>
          <a:blip r:embed="rId4"/>
          <a:stretch>
            <a:fillRect/>
          </a:stretch>
        </p:blipFill>
        <p:spPr>
          <a:xfrm>
            <a:off x="0" y="0"/>
            <a:ext cx="12191695" cy="6858000"/>
          </a:xfrm>
          <a:prstGeom prst="rect">
            <a:avLst/>
          </a:prstGeom>
        </p:spPr>
      </p:pic>
      <p:pic>
        <p:nvPicPr>
          <p:cNvPr id="6" name="anim-g4-857" descr="/Users/mac/Desktop/أردوينو/المشاريع والكتب/younes-training/arduino/.pptx-cache/s116-4.jpg">    </p:cNvPr>
          <p:cNvPicPr>
            <a:picLocks noChangeAspect="1"/>
          </p:cNvPicPr>
          <p:nvPr/>
        </p:nvPicPr>
        <p:blipFill>
          <a:blip r:embed="rId5"/>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7.xml><?xml version="1.0" encoding="utf-8"?>
<p:sld xmlns:a="http://schemas.openxmlformats.org/drawingml/2006/main" xmlns:r="http://schemas.openxmlformats.org/officeDocument/2006/relationships" xmlns:p="http://schemas.openxmlformats.org/presentationml/2006/main">
  <p:cSld name="Slide 117">
    <p:spTree>
      <p:nvGrpSpPr>
        <p:cNvPr id="1" name=""/>
        <p:cNvGrpSpPr/>
        <p:nvPr/>
      </p:nvGrpSpPr>
      <p:grpSpPr>
        <a:xfrm>
          <a:off x="0" y="0"/>
          <a:ext cx="0" cy="0"/>
          <a:chOff x="0" y="0"/>
          <a:chExt cx="0" cy="0"/>
        </a:xfrm>
      </p:grpSpPr>
      <p:pic>
        <p:nvPicPr>
          <p:cNvPr id="2" name="Image 0" descr="/Users/mac/Desktop/أردوينو/المشاريع والكتب/younes-training/arduino/.pptx-cache/s11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spTree>
      <p:nvGrpSpPr>
        <p:cNvPr id="1" name=""/>
        <p:cNvGrpSpPr/>
        <p:nvPr/>
      </p:nvGrpSpPr>
      <p:grpSpPr>
        <a:xfrm>
          <a:off x="0" y="0"/>
          <a:ext cx="0" cy="0"/>
          <a:chOff x="0" y="0"/>
          <a:chExt cx="0" cy="0"/>
        </a:xfrm>
      </p:grpSpPr>
      <p:pic>
        <p:nvPicPr>
          <p:cNvPr id="2" name="Image 0" descr="/Users/mac/Desktop/أردوينو/المشاريع والكتب/younes-training/arduino/.pptx-cache/s118-0.jpg">    </p:cNvPr>
          <p:cNvPicPr>
            <a:picLocks noChangeAspect="1"/>
          </p:cNvPicPr>
          <p:nvPr/>
        </p:nvPicPr>
        <p:blipFill>
          <a:blip r:embed="rId1"/>
          <a:stretch>
            <a:fillRect/>
          </a:stretch>
        </p:blipFill>
        <p:spPr>
          <a:xfrm>
            <a:off x="0" y="0"/>
            <a:ext cx="12191695" cy="6858000"/>
          </a:xfrm>
          <a:prstGeom prst="rect">
            <a:avLst/>
          </a:prstGeom>
        </p:spPr>
      </p:pic>
      <p:pic>
        <p:nvPicPr>
          <p:cNvPr id="3" name="anim-g1-858" descr="/Users/mac/Desktop/أردوينو/المشاريع والكتب/younes-training/arduino/.pptx-cache/s118-1.jpg">    </p:cNvPr>
          <p:cNvPicPr>
            <a:picLocks noChangeAspect="1"/>
          </p:cNvPicPr>
          <p:nvPr/>
        </p:nvPicPr>
        <p:blipFill>
          <a:blip r:embed="rId2"/>
          <a:stretch>
            <a:fillRect/>
          </a:stretch>
        </p:blipFill>
        <p:spPr>
          <a:xfrm>
            <a:off x="0" y="0"/>
            <a:ext cx="12191695" cy="6858000"/>
          </a:xfrm>
          <a:prstGeom prst="rect">
            <a:avLst/>
          </a:prstGeom>
        </p:spPr>
      </p:pic>
      <p:pic>
        <p:nvPicPr>
          <p:cNvPr id="4" name="anim-g2-859" descr="/Users/mac/Desktop/أردوينو/المشاريع والكتب/younes-training/arduino/.pptx-cache/s118-2.jpg">    </p:cNvPr>
          <p:cNvPicPr>
            <a:picLocks noChangeAspect="1"/>
          </p:cNvPicPr>
          <p:nvPr/>
        </p:nvPicPr>
        <p:blipFill>
          <a:blip r:embed="rId3"/>
          <a:stretch>
            <a:fillRect/>
          </a:stretch>
        </p:blipFill>
        <p:spPr>
          <a:xfrm>
            <a:off x="0" y="0"/>
            <a:ext cx="12191695" cy="6858000"/>
          </a:xfrm>
          <a:prstGeom prst="rect">
            <a:avLst/>
          </a:prstGeom>
        </p:spPr>
      </p:pic>
      <p:pic>
        <p:nvPicPr>
          <p:cNvPr id="5" name="anim-g3-860" descr="/Users/mac/Desktop/أردوينو/المشاريع والكتب/younes-training/arduino/.pptx-cache/s118-3.jpg">    </p:cNvPr>
          <p:cNvPicPr>
            <a:picLocks noChangeAspect="1"/>
          </p:cNvPicPr>
          <p:nvPr/>
        </p:nvPicPr>
        <p:blipFill>
          <a:blip r:embed="rId4"/>
          <a:stretch>
            <a:fillRect/>
          </a:stretch>
        </p:blipFill>
        <p:spPr>
          <a:xfrm>
            <a:off x="0" y="0"/>
            <a:ext cx="12191695" cy="6858000"/>
          </a:xfrm>
          <a:prstGeom prst="rect">
            <a:avLst/>
          </a:prstGeom>
        </p:spPr>
      </p:pic>
      <p:pic>
        <p:nvPicPr>
          <p:cNvPr id="6" name="anim-g4-861" descr="/Users/mac/Desktop/أردوينو/المشاريع والكتب/younes-training/arduino/.pptx-cache/s118-4.jpg">    </p:cNvPr>
          <p:cNvPicPr>
            <a:picLocks noChangeAspect="1"/>
          </p:cNvPicPr>
          <p:nvPr/>
        </p:nvPicPr>
        <p:blipFill>
          <a:blip r:embed="rId5"/>
          <a:stretch>
            <a:fillRect/>
          </a:stretch>
        </p:blipFill>
        <p:spPr>
          <a:xfrm>
            <a:off x="0" y="0"/>
            <a:ext cx="12191695" cy="6858000"/>
          </a:xfrm>
          <a:prstGeom prst="rect">
            <a:avLst/>
          </a:prstGeom>
        </p:spPr>
      </p:pic>
      <p:pic>
        <p:nvPicPr>
          <p:cNvPr id="7" name="anim-g5-862" descr="/Users/mac/Desktop/أردوينو/المشاريع والكتب/younes-training/arduino/.pptx-cache/s118-5.jpg">    </p:cNvPr>
          <p:cNvPicPr>
            <a:picLocks noChangeAspect="1"/>
          </p:cNvPicPr>
          <p:nvPr/>
        </p:nvPicPr>
        <p:blipFill>
          <a:blip r:embed="rId6"/>
          <a:stretch>
            <a:fillRect/>
          </a:stretch>
        </p:blipFill>
        <p:spPr>
          <a:xfrm>
            <a:off x="0" y="0"/>
            <a:ext cx="12191695" cy="6858000"/>
          </a:xfrm>
          <a:prstGeom prst="rect">
            <a:avLst/>
          </a:prstGeom>
        </p:spPr>
      </p:pic>
      <p:pic>
        <p:nvPicPr>
          <p:cNvPr id="8" name="anim-g6-863" descr="/Users/mac/Desktop/أردوينو/المشاريع والكتب/younes-training/arduino/.pptx-cache/s118-6.jpg">    </p:cNvPr>
          <p:cNvPicPr>
            <a:picLocks noChangeAspect="1"/>
          </p:cNvPicPr>
          <p:nvPr/>
        </p:nvPicPr>
        <p:blipFill>
          <a:blip r:embed="rId7"/>
          <a:stretch>
            <a:fillRect/>
          </a:stretch>
        </p:blipFill>
        <p:spPr>
          <a:xfrm>
            <a:off x="0" y="0"/>
            <a:ext cx="12191695" cy="6858000"/>
          </a:xfrm>
          <a:prstGeom prst="rect">
            <a:avLst/>
          </a:prstGeom>
        </p:spPr>
      </p:pic>
      <p:pic>
        <p:nvPicPr>
          <p:cNvPr id="9" name="anim-g7-864" descr="/Users/mac/Desktop/أردوينو/المشاريع والكتب/younes-training/arduino/.pptx-cache/s118-7.jpg">    </p:cNvPr>
          <p:cNvPicPr>
            <a:picLocks noChangeAspect="1"/>
          </p:cNvPicPr>
          <p:nvPr/>
        </p:nvPicPr>
        <p:blipFill>
          <a:blip r:embed="rId8"/>
          <a:stretch>
            <a:fillRect/>
          </a:stretch>
        </p:blipFill>
        <p:spPr>
          <a:xfrm>
            <a:off x="0" y="0"/>
            <a:ext cx="12191695" cy="6858000"/>
          </a:xfrm>
          <a:prstGeom prst="rect">
            <a:avLst/>
          </a:prstGeom>
        </p:spPr>
      </p:pic>
      <p:pic>
        <p:nvPicPr>
          <p:cNvPr id="10" name="anim-g8-865" descr="/Users/mac/Desktop/أردوينو/المشاريع والكتب/younes-training/arduino/.pptx-cache/s118-8.jpg">    </p:cNvPr>
          <p:cNvPicPr>
            <a:picLocks noChangeAspect="1"/>
          </p:cNvPicPr>
          <p:nvPr/>
        </p:nvPicPr>
        <p:blipFill>
          <a:blip r:embed="rId9"/>
          <a:stretch>
            <a:fillRect/>
          </a:stretch>
        </p:blipFill>
        <p:spPr>
          <a:xfrm>
            <a:off x="0" y="0"/>
            <a:ext cx="12191695" cy="6858000"/>
          </a:xfrm>
          <a:prstGeom prst="rect">
            <a:avLst/>
          </a:prstGeom>
        </p:spPr>
      </p:pic>
      <p:pic>
        <p:nvPicPr>
          <p:cNvPr id="11" name="anim-g9-866" descr="/Users/mac/Desktop/أردوينو/المشاريع والكتب/younes-training/arduino/.pptx-cache/s118-9.jpg">    </p:cNvPr>
          <p:cNvPicPr>
            <a:picLocks noChangeAspect="1"/>
          </p:cNvPicPr>
          <p:nvPr/>
        </p:nvPicPr>
        <p:blipFill>
          <a:blip r:embed="rId10"/>
          <a:stretch>
            <a:fillRect/>
          </a:stretch>
        </p:blipFill>
        <p:spPr>
          <a:xfrm>
            <a:off x="0" y="0"/>
            <a:ext cx="12191695" cy="6858000"/>
          </a:xfrm>
          <a:prstGeom prst="rect">
            <a:avLst/>
          </a:prstGeom>
        </p:spPr>
      </p:pic>
      <p:pic>
        <p:nvPicPr>
          <p:cNvPr id="12" name="anim-g10-867" descr="/Users/mac/Desktop/أردوينو/المشاريع والكتب/younes-training/arduino/.pptx-cache/s118-10.jpg">    </p:cNvPr>
          <p:cNvPicPr>
            <a:picLocks noChangeAspect="1"/>
          </p:cNvPicPr>
          <p:nvPr/>
        </p:nvPicPr>
        <p:blipFill>
          <a:blip r:embed="rId11"/>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4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4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400"/>
                                        <p:tgtEl>
                                          <p:spTgt spid="10"/>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fade">
                                      <p:cBhvr>
                                        <p:cTn id="47" dur="400"/>
                                        <p:tgtEl>
                                          <p:spTgt spid="11"/>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2"/>
                                        </p:tgtEl>
                                        <p:attrNameLst>
                                          <p:attrName>style.visibility</p:attrName>
                                        </p:attrNameLst>
                                      </p:cBhvr>
                                      <p:to>
                                        <p:strVal val="visible"/>
                                      </p:to>
                                    </p:set>
                                    <p:animEffect transition="in" filter="fade">
                                      <p:cBhvr>
                                        <p:cTn id="52"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r="http://schemas.openxmlformats.org/officeDocument/2006/relationships" xmlns:p="http://schemas.openxmlformats.org/presentationml/2006/main">
  <p:cSld name="Slide 1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81567" y="457200"/>
            <a:ext cx="2487168" cy="457200"/>
          </a:xfrm>
          <a:prstGeom prst="roundRect">
            <a:avLst>
              <a:gd name="adj" fmla="val 50000"/>
            </a:avLst>
          </a:prstGeom>
          <a:solidFill>
            <a:srgbClr val="F6EBCF"/>
          </a:solidFill>
          <a:ln/>
        </p:spPr>
      </p:sp>
      <p:sp>
        <p:nvSpPr>
          <p:cNvPr id="3" name="Text 1"/>
          <p:cNvSpPr/>
          <p:nvPr/>
        </p:nvSpPr>
        <p:spPr>
          <a:xfrm>
            <a:off x="8881567" y="45720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اختبر نفسك</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كم مرة تتكرر هذه الحلقة؟ for (int i = 0; i &lt; 5; i++)</a:t>
            </a:r>
            <a:endParaRPr lang="ar-SA" sz="3200" dirty="0"/>
          </a:p>
        </p:txBody>
      </p:sp>
      <p:sp>
        <p:nvSpPr>
          <p:cNvPr id="5" name="Shape 3"/>
          <p:cNvSpPr/>
          <p:nvPr/>
        </p:nvSpPr>
        <p:spPr>
          <a:xfrm>
            <a:off x="822960" y="2057400"/>
            <a:ext cx="10545775" cy="1228344"/>
          </a:xfrm>
          <a:prstGeom prst="roundRect">
            <a:avLst>
              <a:gd name="adj" fmla="val 11911"/>
            </a:avLst>
          </a:prstGeom>
          <a:solidFill>
            <a:srgbClr val="FFFFFF"/>
          </a:solidFill>
          <a:ln w="19050">
            <a:solidFill>
              <a:srgbClr val="E4DCC8"/>
            </a:solidFill>
            <a:prstDash val="solid"/>
          </a:ln>
        </p:spPr>
      </p:sp>
      <p:sp>
        <p:nvSpPr>
          <p:cNvPr id="6" name="Shape 4"/>
          <p:cNvSpPr/>
          <p:nvPr/>
        </p:nvSpPr>
        <p:spPr>
          <a:xfrm>
            <a:off x="10231831" y="2194560"/>
            <a:ext cx="954024" cy="954024"/>
          </a:xfrm>
          <a:prstGeom prst="roundRect">
            <a:avLst>
              <a:gd name="adj" fmla="val 11502"/>
            </a:avLst>
          </a:prstGeom>
          <a:solidFill>
            <a:srgbClr val="101B45"/>
          </a:solidFill>
          <a:ln/>
        </p:spPr>
      </p:sp>
      <p:sp>
        <p:nvSpPr>
          <p:cNvPr id="7" name="Text 5"/>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8" name="Text 6"/>
          <p:cNvSpPr/>
          <p:nvPr/>
        </p:nvSpPr>
        <p:spPr>
          <a:xfrm>
            <a:off x="1097280" y="2057400"/>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4 مرات</a:t>
            </a:r>
            <a:endParaRPr lang="ar-SA" sz="2500" dirty="0"/>
          </a:p>
        </p:txBody>
      </p:sp>
      <p:sp>
        <p:nvSpPr>
          <p:cNvPr id="9" name="anim-g1-868"/>
          <p:cNvSpPr/>
          <p:nvPr/>
        </p:nvSpPr>
        <p:spPr>
          <a:xfrm>
            <a:off x="822960" y="2057400"/>
            <a:ext cx="10545775" cy="1228344"/>
          </a:xfrm>
          <a:prstGeom prst="roundRect">
            <a:avLst>
              <a:gd name="adj" fmla="val 11911"/>
            </a:avLst>
          </a:prstGeom>
          <a:solidFill>
            <a:srgbClr val="F7F7F9"/>
          </a:solidFill>
          <a:ln w="19050">
            <a:solidFill>
              <a:srgbClr val="E4DCC8"/>
            </a:solidFill>
            <a:prstDash val="solid"/>
          </a:ln>
        </p:spPr>
      </p:sp>
      <p:sp>
        <p:nvSpPr>
          <p:cNvPr id="10" name="anim-g1-869"/>
          <p:cNvSpPr/>
          <p:nvPr/>
        </p:nvSpPr>
        <p:spPr>
          <a:xfrm>
            <a:off x="10231831" y="2194560"/>
            <a:ext cx="954024" cy="954024"/>
          </a:xfrm>
          <a:prstGeom prst="roundRect">
            <a:avLst>
              <a:gd name="adj" fmla="val 11502"/>
            </a:avLst>
          </a:prstGeom>
          <a:solidFill>
            <a:srgbClr val="A3A9BA"/>
          </a:solidFill>
          <a:ln/>
        </p:spPr>
      </p:sp>
      <p:sp>
        <p:nvSpPr>
          <p:cNvPr id="11" name="anim-g1-870"/>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12" name="anim-g1-871"/>
          <p:cNvSpPr/>
          <p:nvPr/>
        </p:nvSpPr>
        <p:spPr>
          <a:xfrm>
            <a:off x="1097280" y="2093976"/>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4 مرات</a:t>
            </a:r>
            <a:endParaRPr lang="ar-SA" sz="2400" dirty="0"/>
          </a:p>
        </p:txBody>
      </p:sp>
      <p:sp>
        <p:nvSpPr>
          <p:cNvPr id="13" name="anim-g1-872"/>
          <p:cNvSpPr/>
          <p:nvPr/>
        </p:nvSpPr>
        <p:spPr>
          <a:xfrm>
            <a:off x="1097280" y="2720706"/>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العدّاد يمر على 0 و1 و2 و3 و4</a:t>
            </a:r>
            <a:endParaRPr lang="ar-SA" sz="1800" dirty="0"/>
          </a:p>
        </p:txBody>
      </p:sp>
      <p:sp>
        <p:nvSpPr>
          <p:cNvPr id="14" name="Shape 12"/>
          <p:cNvSpPr/>
          <p:nvPr/>
        </p:nvSpPr>
        <p:spPr>
          <a:xfrm>
            <a:off x="822960" y="3432048"/>
            <a:ext cx="10545775" cy="1228344"/>
          </a:xfrm>
          <a:prstGeom prst="roundRect">
            <a:avLst>
              <a:gd name="adj" fmla="val 11911"/>
            </a:avLst>
          </a:prstGeom>
          <a:solidFill>
            <a:srgbClr val="FFFFFF"/>
          </a:solidFill>
          <a:ln w="19050">
            <a:solidFill>
              <a:srgbClr val="E4DCC8"/>
            </a:solidFill>
            <a:prstDash val="solid"/>
          </a:ln>
        </p:spPr>
      </p:sp>
      <p:sp>
        <p:nvSpPr>
          <p:cNvPr id="15" name="Shape 13"/>
          <p:cNvSpPr/>
          <p:nvPr/>
        </p:nvSpPr>
        <p:spPr>
          <a:xfrm>
            <a:off x="10231831" y="3569208"/>
            <a:ext cx="954024" cy="954024"/>
          </a:xfrm>
          <a:prstGeom prst="roundRect">
            <a:avLst>
              <a:gd name="adj" fmla="val 11502"/>
            </a:avLst>
          </a:prstGeom>
          <a:solidFill>
            <a:srgbClr val="101B45"/>
          </a:solidFill>
          <a:ln/>
        </p:spPr>
      </p:sp>
      <p:sp>
        <p:nvSpPr>
          <p:cNvPr id="16" name="Text 14"/>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17" name="Text 15"/>
          <p:cNvSpPr/>
          <p:nvPr/>
        </p:nvSpPr>
        <p:spPr>
          <a:xfrm>
            <a:off x="1097280" y="3432048"/>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5 مرات</a:t>
            </a:r>
            <a:endParaRPr lang="ar-SA" sz="2500" dirty="0"/>
          </a:p>
        </p:txBody>
      </p:sp>
      <p:sp>
        <p:nvSpPr>
          <p:cNvPr id="18" name="anim-g1-873"/>
          <p:cNvSpPr/>
          <p:nvPr/>
        </p:nvSpPr>
        <p:spPr>
          <a:xfrm>
            <a:off x="822960" y="3432048"/>
            <a:ext cx="10545775" cy="1228344"/>
          </a:xfrm>
          <a:prstGeom prst="roundRect">
            <a:avLst>
              <a:gd name="adj" fmla="val 11911"/>
            </a:avLst>
          </a:prstGeom>
          <a:solidFill>
            <a:srgbClr val="E6F4EC"/>
          </a:solidFill>
          <a:ln w="31750">
            <a:solidFill>
              <a:srgbClr val="2E9E6B"/>
            </a:solidFill>
            <a:prstDash val="solid"/>
          </a:ln>
        </p:spPr>
      </p:sp>
      <p:sp>
        <p:nvSpPr>
          <p:cNvPr id="19" name="anim-g1-874"/>
          <p:cNvSpPr/>
          <p:nvPr/>
        </p:nvSpPr>
        <p:spPr>
          <a:xfrm>
            <a:off x="10231831" y="3569208"/>
            <a:ext cx="954024" cy="954024"/>
          </a:xfrm>
          <a:prstGeom prst="roundRect">
            <a:avLst>
              <a:gd name="adj" fmla="val 11502"/>
            </a:avLst>
          </a:prstGeom>
          <a:solidFill>
            <a:srgbClr val="2E9E6B"/>
          </a:solidFill>
          <a:ln/>
        </p:spPr>
      </p:sp>
      <p:sp>
        <p:nvSpPr>
          <p:cNvPr id="20" name="anim-g1-875"/>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a:t>
            </a:r>
            <a:endParaRPr lang="ar-SA" sz="2400" dirty="0"/>
          </a:p>
        </p:txBody>
      </p:sp>
      <p:sp>
        <p:nvSpPr>
          <p:cNvPr id="21" name="anim-g1-876"/>
          <p:cNvSpPr/>
          <p:nvPr/>
        </p:nvSpPr>
        <p:spPr>
          <a:xfrm>
            <a:off x="1097280" y="3468624"/>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131B34"/>
                </a:solidFill>
                <a:latin typeface="Cairo" pitchFamily="34" charset="0"/>
                <a:ea typeface="Cairo" pitchFamily="34" charset="-122"/>
                <a:cs typeface="Cairo" pitchFamily="34" charset="-120"/>
              </a:rPr>
              <a:t>5 مرات</a:t>
            </a:r>
            <a:endParaRPr lang="ar-SA" sz="2400" dirty="0"/>
          </a:p>
        </p:txBody>
      </p:sp>
      <p:sp>
        <p:nvSpPr>
          <p:cNvPr id="22" name="anim-g1-877"/>
          <p:cNvSpPr/>
          <p:nvPr/>
        </p:nvSpPr>
        <p:spPr>
          <a:xfrm>
            <a:off x="1097280" y="4095354"/>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1D5E40"/>
                </a:solidFill>
                <a:latin typeface="Cairo" pitchFamily="34" charset="0"/>
                <a:ea typeface="Cairo" pitchFamily="34" charset="-122"/>
                <a:cs typeface="Cairo" pitchFamily="34" charset="-120"/>
              </a:rPr>
              <a:t>من 0 إلى 4: خمس قيم، فخمس دورات</a:t>
            </a:r>
            <a:endParaRPr lang="ar-SA" sz="1800" dirty="0"/>
          </a:p>
        </p:txBody>
      </p:sp>
      <p:sp>
        <p:nvSpPr>
          <p:cNvPr id="23" name="Shape 21"/>
          <p:cNvSpPr/>
          <p:nvPr/>
        </p:nvSpPr>
        <p:spPr>
          <a:xfrm>
            <a:off x="822960" y="4806696"/>
            <a:ext cx="10545775" cy="1228344"/>
          </a:xfrm>
          <a:prstGeom prst="roundRect">
            <a:avLst>
              <a:gd name="adj" fmla="val 11911"/>
            </a:avLst>
          </a:prstGeom>
          <a:solidFill>
            <a:srgbClr val="FFFFFF"/>
          </a:solidFill>
          <a:ln w="19050">
            <a:solidFill>
              <a:srgbClr val="E4DCC8"/>
            </a:solidFill>
            <a:prstDash val="solid"/>
          </a:ln>
        </p:spPr>
      </p:sp>
      <p:sp>
        <p:nvSpPr>
          <p:cNvPr id="24" name="Shape 22"/>
          <p:cNvSpPr/>
          <p:nvPr/>
        </p:nvSpPr>
        <p:spPr>
          <a:xfrm>
            <a:off x="10231831" y="4943856"/>
            <a:ext cx="954024" cy="954024"/>
          </a:xfrm>
          <a:prstGeom prst="roundRect">
            <a:avLst>
              <a:gd name="adj" fmla="val 11502"/>
            </a:avLst>
          </a:prstGeom>
          <a:solidFill>
            <a:srgbClr val="101B45"/>
          </a:solidFill>
          <a:ln/>
        </p:spPr>
      </p:sp>
      <p:sp>
        <p:nvSpPr>
          <p:cNvPr id="25" name="Text 23"/>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26" name="Text 24"/>
          <p:cNvSpPr/>
          <p:nvPr/>
        </p:nvSpPr>
        <p:spPr>
          <a:xfrm>
            <a:off x="1097280" y="4806696"/>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6 مرات</a:t>
            </a:r>
            <a:endParaRPr lang="ar-SA" sz="2500" dirty="0"/>
          </a:p>
        </p:txBody>
      </p:sp>
      <p:sp>
        <p:nvSpPr>
          <p:cNvPr id="27" name="anim-g1-878"/>
          <p:cNvSpPr/>
          <p:nvPr/>
        </p:nvSpPr>
        <p:spPr>
          <a:xfrm>
            <a:off x="822960" y="4806696"/>
            <a:ext cx="10545775" cy="1228344"/>
          </a:xfrm>
          <a:prstGeom prst="roundRect">
            <a:avLst>
              <a:gd name="adj" fmla="val 11911"/>
            </a:avLst>
          </a:prstGeom>
          <a:solidFill>
            <a:srgbClr val="F7F7F9"/>
          </a:solidFill>
          <a:ln w="19050">
            <a:solidFill>
              <a:srgbClr val="E4DCC8"/>
            </a:solidFill>
            <a:prstDash val="solid"/>
          </a:ln>
        </p:spPr>
      </p:sp>
      <p:sp>
        <p:nvSpPr>
          <p:cNvPr id="28" name="anim-g1-879"/>
          <p:cNvSpPr/>
          <p:nvPr/>
        </p:nvSpPr>
        <p:spPr>
          <a:xfrm>
            <a:off x="10231831" y="4943856"/>
            <a:ext cx="954024" cy="954024"/>
          </a:xfrm>
          <a:prstGeom prst="roundRect">
            <a:avLst>
              <a:gd name="adj" fmla="val 11502"/>
            </a:avLst>
          </a:prstGeom>
          <a:solidFill>
            <a:srgbClr val="A3A9BA"/>
          </a:solidFill>
          <a:ln/>
        </p:spPr>
      </p:sp>
      <p:sp>
        <p:nvSpPr>
          <p:cNvPr id="29" name="anim-g1-880"/>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30" name="anim-g1-881"/>
          <p:cNvSpPr/>
          <p:nvPr/>
        </p:nvSpPr>
        <p:spPr>
          <a:xfrm>
            <a:off x="1097280" y="4843272"/>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6 مرات</a:t>
            </a:r>
            <a:endParaRPr lang="ar-SA" sz="2400" dirty="0"/>
          </a:p>
        </p:txBody>
      </p:sp>
      <p:sp>
        <p:nvSpPr>
          <p:cNvPr id="31" name="anim-g1-882"/>
          <p:cNvSpPr/>
          <p:nvPr/>
        </p:nvSpPr>
        <p:spPr>
          <a:xfrm>
            <a:off x="1097280" y="5470002"/>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لو كان الشرط i &lt;= 5 لتكررت 6 مرات</a:t>
            </a:r>
            <a:endParaRPr lang="ar-SA" sz="1800" dirty="0"/>
          </a:p>
        </p:txBody>
      </p:sp>
      <p:sp>
        <p:nvSpPr>
          <p:cNvPr id="32" name="Text 30"/>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الأردوينو للمعلمين</a:t>
            </a:r>
            <a:endParaRPr lang="ar-SA" sz="1200" dirty="0"/>
          </a:p>
        </p:txBody>
      </p:sp>
      <p:sp>
        <p:nvSpPr>
          <p:cNvPr id="33" name="Text 31"/>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إشارة المرور والمتغيرات  ·  ١١٩</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00"/>
                                        <p:tgtEl>
                                          <p:spTgt spid="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00"/>
                                        <p:tgtEl>
                                          <p:spTgt spid="2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400"/>
                                        <p:tgtEl>
                                          <p:spTgt spid="2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400"/>
                                        <p:tgtEl>
                                          <p:spTgt spid="3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fade">
                                      <p:cBhvr>
                                        <p:cTn id="4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8" grpId="0" animBg="1"/>
      <p:bldP spid="19" grpId="0" animBg="1"/>
      <p:bldP spid="20" grpId="0" animBg="1"/>
      <p:bldP spid="21" grpId="0" animBg="1"/>
      <p:bldP spid="22" grpId="0" animBg="1"/>
      <p:bldP spid="27" grpId="0" animBg="1"/>
      <p:bldP spid="28" grpId="0" animBg="1"/>
      <p:bldP spid="29" grpId="0" animBg="1"/>
      <p:bldP spid="30" grpId="0" animBg="1"/>
      <p:bldP spid="31" grpId="0" animBg="1"/>
    </p:bldLst>
  </p:timing>
</p:sld>
</file>

<file path=ppt/slides/slide120.xml><?xml version="1.0" encoding="utf-8"?>
<p:sld xmlns:a="http://schemas.openxmlformats.org/drawingml/2006/main" xmlns:r="http://schemas.openxmlformats.org/officeDocument/2006/relationships" xmlns:p="http://schemas.openxmlformats.org/presentationml/2006/main">
  <p:cSld name="Slide 120">
    <p:spTree>
      <p:nvGrpSpPr>
        <p:cNvPr id="1" name=""/>
        <p:cNvGrpSpPr/>
        <p:nvPr/>
      </p:nvGrpSpPr>
      <p:grpSpPr>
        <a:xfrm>
          <a:off x="0" y="0"/>
          <a:ext cx="0" cy="0"/>
          <a:chOff x="0" y="0"/>
          <a:chExt cx="0" cy="0"/>
        </a:xfrm>
      </p:grpSpPr>
      <p:pic>
        <p:nvPicPr>
          <p:cNvPr id="2" name="Image 0" descr="/Users/mac/Desktop/أردوينو/المشاريع والكتب/younes-training/arduino/.pptx-cache/s12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spTree>
      <p:nvGrpSpPr>
        <p:cNvPr id="1" name=""/>
        <p:cNvGrpSpPr/>
        <p:nvPr/>
      </p:nvGrpSpPr>
      <p:grpSpPr>
        <a:xfrm>
          <a:off x="0" y="0"/>
          <a:ext cx="0" cy="0"/>
          <a:chOff x="0" y="0"/>
          <a:chExt cx="0" cy="0"/>
        </a:xfrm>
      </p:grpSpPr>
      <p:pic>
        <p:nvPicPr>
          <p:cNvPr id="2" name="Image 0" descr="/Users/mac/Desktop/أردوينو/المشاريع والكتب/younes-training/arduino/.pptx-cache/s12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852264" y="1188720"/>
            <a:ext cx="2487168"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852264" y="118872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خلاصة المحور</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المتغيرات تجعل الكود مفهومًا…</a:t>
            </a:r>
            <a:endParaRPr lang="ar-SA" sz="4400" dirty="0"/>
          </a:p>
          <a:p>
            <a:pPr algn="ctr" indent="0" marL="0">
              <a:lnSpc>
                <a:spcPct val="115000"/>
              </a:lnSpc>
              <a:buNone/>
            </a:pPr>
            <a:r>
              <a:rPr lang="ar-SA" altLang="en-US" sz="4400" dirty="0">
                <a:solidFill>
                  <a:srgbClr val="F0CC7A"/>
                </a:solidFill>
                <a:latin typeface="Cairo Black" pitchFamily="34" charset="0"/>
                <a:ea typeface="Cairo Black" pitchFamily="34" charset="-122"/>
                <a:cs typeface="Cairo Black" pitchFamily="34" charset="-120"/>
              </a:rPr>
              <a:t> والحلقات تجعله قصيرًا</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الأردوينو للمعلمين</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إشارة المرور والمتغيرات  ·  ١٢٢</a:t>
            </a:r>
            <a:endParaRPr lang="ar-SA" sz="1200"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97280" y="2103120"/>
            <a:ext cx="2651760" cy="2651760"/>
          </a:xfrm>
          <a:prstGeom prst="ellipse">
            <a:avLst/>
          </a:prstGeom>
          <a:solidFill>
            <a:srgbClr val="D9AE4B">
              <a:alpha val="12000"/>
            </a:srgbClr>
          </a:solidFill>
          <a:ln w="63500">
            <a:solidFill>
              <a:srgbClr val="D9AE4B">
                <a:alpha val="60000"/>
              </a:srgbClr>
            </a:solidFill>
            <a:prstDash val="solid"/>
          </a:ln>
        </p:spPr>
      </p:sp>
      <p:sp>
        <p:nvSpPr>
          <p:cNvPr id="3" name="Text 1"/>
          <p:cNvSpPr/>
          <p:nvPr/>
        </p:nvSpPr>
        <p:spPr>
          <a:xfrm>
            <a:off x="1097280" y="2103120"/>
            <a:ext cx="2651760" cy="2651760"/>
          </a:xfrm>
          <a:prstGeom prst="rect">
            <a:avLst/>
          </a:prstGeom>
          <a:noFill/>
          <a:ln/>
        </p:spPr>
        <p:txBody>
          <a:bodyPr wrap="square" lIns="0" tIns="0" rIns="0" bIns="0" rtlCol="0" anchor="ctr">
            <a:normAutofit/>
          </a:bodyPr>
          <a:lstStyle/>
          <a:p>
            <a:pPr rtl="1" algn="ctr" indent="0" marL="0">
              <a:buNone/>
            </a:pPr>
            <a:r>
              <a:rPr lang="ar-SA" altLang="en-US" sz="12000" dirty="0">
                <a:solidFill>
                  <a:srgbClr val="F0CC7A"/>
                </a:solidFill>
                <a:latin typeface="Cairo Black" pitchFamily="34" charset="0"/>
                <a:ea typeface="Cairo Black" pitchFamily="34" charset="-122"/>
                <a:cs typeface="Cairo Black" pitchFamily="34" charset="-120"/>
              </a:rPr>
              <a:t>٩</a:t>
            </a:r>
            <a:endParaRPr lang="ar-SA" sz="12000" dirty="0"/>
          </a:p>
        </p:txBody>
      </p:sp>
      <p:sp>
        <p:nvSpPr>
          <p:cNvPr id="4" name="Text 2"/>
          <p:cNvSpPr/>
          <p:nvPr/>
        </p:nvSpPr>
        <p:spPr>
          <a:xfrm>
            <a:off x="4206240" y="1828800"/>
            <a:ext cx="7162495" cy="457200"/>
          </a:xfrm>
          <a:prstGeom prst="rect">
            <a:avLst/>
          </a:prstGeom>
          <a:noFill/>
          <a:ln/>
        </p:spPr>
        <p:txBody>
          <a:bodyPr wrap="square" lIns="0" tIns="0" rIns="0" bIns="0" rtlCol="0" anchor="ctr">
            <a:normAutofit/>
          </a:bodyPr>
          <a:lstStyle/>
          <a:p>
            <a:pPr rtl="1" algn="r" indent="0" marL="0">
              <a:buNone/>
            </a:pPr>
            <a:r>
              <a:rPr lang="ar-SA" altLang="en-US" sz="2000" b="1" dirty="0">
                <a:solidFill>
                  <a:srgbClr val="D9AE4B"/>
                </a:solidFill>
                <a:latin typeface="Cairo" pitchFamily="34" charset="0"/>
                <a:ea typeface="Cairo" pitchFamily="34" charset="-122"/>
                <a:cs typeface="Cairo" pitchFamily="34" charset="-120"/>
              </a:rPr>
              <a:t>المحور ٩</a:t>
            </a:r>
            <a:endParaRPr lang="ar-SA" sz="2000" dirty="0"/>
          </a:p>
        </p:txBody>
      </p:sp>
      <p:sp>
        <p:nvSpPr>
          <p:cNvPr id="5" name="Text 3"/>
          <p:cNvSpPr/>
          <p:nvPr/>
        </p:nvSpPr>
        <p:spPr>
          <a:xfrm>
            <a:off x="4206240" y="2286000"/>
            <a:ext cx="7162495" cy="1371600"/>
          </a:xfrm>
          <a:prstGeom prst="rect">
            <a:avLst/>
          </a:prstGeom>
          <a:noFill/>
          <a:ln/>
        </p:spPr>
        <p:txBody>
          <a:bodyPr wrap="square" lIns="0" tIns="0" rIns="0" bIns="0" rtlCol="0" anchor="ctr">
            <a:normAutofit/>
          </a:bodyPr>
          <a:lstStyle/>
          <a:p>
            <a:pPr rtl="1" algn="r" indent="0" marL="0">
              <a:buNone/>
            </a:pPr>
            <a:r>
              <a:rPr lang="ar-SA" altLang="en-US" sz="5600" dirty="0">
                <a:solidFill>
                  <a:srgbClr val="FFFFFF"/>
                </a:solidFill>
                <a:latin typeface="Cairo Black" pitchFamily="34" charset="0"/>
                <a:ea typeface="Cairo Black" pitchFamily="34" charset="-122"/>
                <a:cs typeface="Cairo Black" pitchFamily="34" charset="-120"/>
              </a:rPr>
              <a:t>PWM والإضاءة الملونة</a:t>
            </a:r>
            <a:endParaRPr lang="ar-SA" sz="5600" dirty="0"/>
          </a:p>
        </p:txBody>
      </p:sp>
      <p:sp>
        <p:nvSpPr>
          <p:cNvPr id="6" name="Text 4"/>
          <p:cNvSpPr/>
          <p:nvPr/>
        </p:nvSpPr>
        <p:spPr>
          <a:xfrm>
            <a:off x="4206240" y="3749040"/>
            <a:ext cx="7162495" cy="822960"/>
          </a:xfrm>
          <a:prstGeom prst="rect">
            <a:avLst/>
          </a:prstGeom>
          <a:noFill/>
          <a:ln/>
        </p:spPr>
        <p:txBody>
          <a:bodyPr wrap="square" lIns="0" tIns="0" rIns="0" bIns="0" rtlCol="0" anchor="ctr">
            <a:normAutofit/>
          </a:bodyPr>
          <a:lstStyle/>
          <a:p>
            <a:pPr rtl="1" algn="r" indent="0" marL="0">
              <a:buNone/>
            </a:pPr>
            <a:r>
              <a:rPr lang="ar-SA" altLang="en-US" sz="2200" b="1" dirty="0">
                <a:solidFill>
                  <a:srgbClr val="C9CFE6"/>
                </a:solidFill>
                <a:latin typeface="Cairo" pitchFamily="34" charset="0"/>
                <a:ea typeface="Cairo" pitchFamily="34" charset="-122"/>
                <a:cs typeface="Cairo" pitchFamily="34" charset="-120"/>
              </a:rPr>
              <a:t>كيف يخفت الضوء ويتوهج؟ وكيف نصنع ملايين الألوان من ثلاثة؟</a:t>
            </a:r>
            <a:endParaRPr lang="ar-SA" sz="2200" dirty="0"/>
          </a:p>
        </p:txBody>
      </p:sp>
      <p:sp>
        <p:nvSpPr>
          <p:cNvPr id="7" name="Text 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الأردوينو للمعلمين</a:t>
            </a:r>
            <a:endParaRPr lang="ar-SA" sz="1200" dirty="0"/>
          </a:p>
        </p:txBody>
      </p:sp>
      <p:sp>
        <p:nvSpPr>
          <p:cNvPr id="8" name="Text 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PWM والألوان  ·  ١٢٣</a:t>
            </a:r>
            <a:endParaRPr lang="ar-SA" sz="1200"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248095" y="457200"/>
            <a:ext cx="5120640" cy="457200"/>
          </a:xfrm>
          <a:prstGeom prst="roundRect">
            <a:avLst>
              <a:gd name="adj" fmla="val 50000"/>
            </a:avLst>
          </a:prstGeom>
          <a:solidFill>
            <a:srgbClr val="F6EBCF"/>
          </a:solidFill>
          <a:ln/>
        </p:spPr>
      </p:sp>
      <p:sp>
        <p:nvSpPr>
          <p:cNvPr id="3" name="Text 1"/>
          <p:cNvSpPr/>
          <p:nvPr/>
        </p:nvSpPr>
        <p:spPr>
          <a:xfrm>
            <a:off x="6248095" y="457200"/>
            <a:ext cx="512064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بنهاية هذا المحور تستطيع أن</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أهداف المحور</a:t>
            </a:r>
            <a:endParaRPr lang="ar-SA" sz="3800" dirty="0"/>
          </a:p>
        </p:txBody>
      </p:sp>
      <p:sp>
        <p:nvSpPr>
          <p:cNvPr id="5" name="anim-g1-883"/>
          <p:cNvSpPr/>
          <p:nvPr/>
        </p:nvSpPr>
        <p:spPr>
          <a:xfrm>
            <a:off x="822960" y="1920240"/>
            <a:ext cx="10545775" cy="946404"/>
          </a:xfrm>
          <a:prstGeom prst="roundRect">
            <a:avLst>
              <a:gd name="adj" fmla="val 15459"/>
            </a:avLst>
          </a:prstGeom>
          <a:solidFill>
            <a:srgbClr val="FFFFFF"/>
          </a:solidFill>
          <a:ln w="12700">
            <a:solidFill>
              <a:srgbClr val="E4DCC8"/>
            </a:solidFill>
            <a:prstDash val="solid"/>
          </a:ln>
        </p:spPr>
      </p:sp>
      <p:sp>
        <p:nvSpPr>
          <p:cNvPr id="6" name="anim-g1-884"/>
          <p:cNvSpPr/>
          <p:nvPr/>
        </p:nvSpPr>
        <p:spPr>
          <a:xfrm>
            <a:off x="10573207" y="2109978"/>
            <a:ext cx="566928" cy="566928"/>
          </a:xfrm>
          <a:prstGeom prst="ellipse">
            <a:avLst/>
          </a:prstGeom>
          <a:solidFill>
            <a:srgbClr val="D9AE4B"/>
          </a:solidFill>
          <a:ln/>
        </p:spPr>
      </p:sp>
      <p:sp>
        <p:nvSpPr>
          <p:cNvPr id="7" name="anim-g1-885"/>
          <p:cNvSpPr/>
          <p:nvPr/>
        </p:nvSpPr>
        <p:spPr>
          <a:xfrm>
            <a:off x="10573207" y="2109978"/>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١</a:t>
            </a:r>
            <a:endParaRPr lang="ar-SA" sz="2000" dirty="0"/>
          </a:p>
        </p:txBody>
      </p:sp>
      <p:sp>
        <p:nvSpPr>
          <p:cNvPr id="8" name="anim-g1-886"/>
          <p:cNvSpPr/>
          <p:nvPr/>
        </p:nvSpPr>
        <p:spPr>
          <a:xfrm>
            <a:off x="1097280" y="1920240"/>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تشرح فكرة PWM بمثال من الحياة</a:t>
            </a:r>
            <a:endParaRPr lang="ar-SA" sz="2400" dirty="0"/>
          </a:p>
        </p:txBody>
      </p:sp>
      <p:sp>
        <p:nvSpPr>
          <p:cNvPr id="9" name="anim-g2-887"/>
          <p:cNvSpPr/>
          <p:nvPr/>
        </p:nvSpPr>
        <p:spPr>
          <a:xfrm>
            <a:off x="822960" y="2976372"/>
            <a:ext cx="10545775" cy="946404"/>
          </a:xfrm>
          <a:prstGeom prst="roundRect">
            <a:avLst>
              <a:gd name="adj" fmla="val 15459"/>
            </a:avLst>
          </a:prstGeom>
          <a:solidFill>
            <a:srgbClr val="FFFFFF"/>
          </a:solidFill>
          <a:ln w="12700">
            <a:solidFill>
              <a:srgbClr val="E4DCC8"/>
            </a:solidFill>
            <a:prstDash val="solid"/>
          </a:ln>
        </p:spPr>
      </p:sp>
      <p:sp>
        <p:nvSpPr>
          <p:cNvPr id="10" name="anim-g2-888"/>
          <p:cNvSpPr/>
          <p:nvPr/>
        </p:nvSpPr>
        <p:spPr>
          <a:xfrm>
            <a:off x="10573207" y="3166110"/>
            <a:ext cx="566928" cy="566928"/>
          </a:xfrm>
          <a:prstGeom prst="ellipse">
            <a:avLst/>
          </a:prstGeom>
          <a:solidFill>
            <a:srgbClr val="D9AE4B"/>
          </a:solidFill>
          <a:ln/>
        </p:spPr>
      </p:sp>
      <p:sp>
        <p:nvSpPr>
          <p:cNvPr id="11" name="anim-g2-889"/>
          <p:cNvSpPr/>
          <p:nvPr/>
        </p:nvSpPr>
        <p:spPr>
          <a:xfrm>
            <a:off x="10573207" y="3166110"/>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٢</a:t>
            </a:r>
            <a:endParaRPr lang="ar-SA" sz="2000" dirty="0"/>
          </a:p>
        </p:txBody>
      </p:sp>
      <p:sp>
        <p:nvSpPr>
          <p:cNvPr id="12" name="anim-g2-890"/>
          <p:cNvSpPr/>
          <p:nvPr/>
        </p:nvSpPr>
        <p:spPr>
          <a:xfrm>
            <a:off x="1097280" y="2976372"/>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تتحكم في شدة الإضاءة بالأمر analogWrite</a:t>
            </a:r>
            <a:endParaRPr lang="ar-SA" sz="2400" dirty="0"/>
          </a:p>
        </p:txBody>
      </p:sp>
      <p:sp>
        <p:nvSpPr>
          <p:cNvPr id="13" name="anim-g3-891"/>
          <p:cNvSpPr/>
          <p:nvPr/>
        </p:nvSpPr>
        <p:spPr>
          <a:xfrm>
            <a:off x="822960" y="4032504"/>
            <a:ext cx="10545775" cy="946404"/>
          </a:xfrm>
          <a:prstGeom prst="roundRect">
            <a:avLst>
              <a:gd name="adj" fmla="val 15459"/>
            </a:avLst>
          </a:prstGeom>
          <a:solidFill>
            <a:srgbClr val="FFFFFF"/>
          </a:solidFill>
          <a:ln w="12700">
            <a:solidFill>
              <a:srgbClr val="E4DCC8"/>
            </a:solidFill>
            <a:prstDash val="solid"/>
          </a:ln>
        </p:spPr>
      </p:sp>
      <p:sp>
        <p:nvSpPr>
          <p:cNvPr id="14" name="anim-g3-892"/>
          <p:cNvSpPr/>
          <p:nvPr/>
        </p:nvSpPr>
        <p:spPr>
          <a:xfrm>
            <a:off x="10573207" y="4222242"/>
            <a:ext cx="566928" cy="566928"/>
          </a:xfrm>
          <a:prstGeom prst="ellipse">
            <a:avLst/>
          </a:prstGeom>
          <a:solidFill>
            <a:srgbClr val="D9AE4B"/>
          </a:solidFill>
          <a:ln/>
        </p:spPr>
      </p:sp>
      <p:sp>
        <p:nvSpPr>
          <p:cNvPr id="15" name="anim-g3-893"/>
          <p:cNvSpPr/>
          <p:nvPr/>
        </p:nvSpPr>
        <p:spPr>
          <a:xfrm>
            <a:off x="10573207" y="4222242"/>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٣</a:t>
            </a:r>
            <a:endParaRPr lang="ar-SA" sz="2000" dirty="0"/>
          </a:p>
        </p:txBody>
      </p:sp>
      <p:sp>
        <p:nvSpPr>
          <p:cNvPr id="16" name="anim-g3-894"/>
          <p:cNvSpPr/>
          <p:nvPr/>
        </p:nvSpPr>
        <p:spPr>
          <a:xfrm>
            <a:off x="1097280" y="4032504"/>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تبرمج إضاءة تتلاشى وتتوهج تدريجيًا</a:t>
            </a:r>
            <a:endParaRPr lang="ar-SA" sz="2400" dirty="0"/>
          </a:p>
        </p:txBody>
      </p:sp>
      <p:sp>
        <p:nvSpPr>
          <p:cNvPr id="17" name="anim-g4-895"/>
          <p:cNvSpPr/>
          <p:nvPr/>
        </p:nvSpPr>
        <p:spPr>
          <a:xfrm>
            <a:off x="822960" y="5088636"/>
            <a:ext cx="10545775" cy="946404"/>
          </a:xfrm>
          <a:prstGeom prst="roundRect">
            <a:avLst>
              <a:gd name="adj" fmla="val 15459"/>
            </a:avLst>
          </a:prstGeom>
          <a:solidFill>
            <a:srgbClr val="FFFFFF"/>
          </a:solidFill>
          <a:ln w="12700">
            <a:solidFill>
              <a:srgbClr val="E4DCC8"/>
            </a:solidFill>
            <a:prstDash val="solid"/>
          </a:ln>
        </p:spPr>
      </p:sp>
      <p:sp>
        <p:nvSpPr>
          <p:cNvPr id="18" name="anim-g4-896"/>
          <p:cNvSpPr/>
          <p:nvPr/>
        </p:nvSpPr>
        <p:spPr>
          <a:xfrm>
            <a:off x="10573207" y="5278374"/>
            <a:ext cx="566928" cy="566928"/>
          </a:xfrm>
          <a:prstGeom prst="ellipse">
            <a:avLst/>
          </a:prstGeom>
          <a:solidFill>
            <a:srgbClr val="D9AE4B"/>
          </a:solidFill>
          <a:ln/>
        </p:spPr>
      </p:sp>
      <p:sp>
        <p:nvSpPr>
          <p:cNvPr id="19" name="anim-g4-897"/>
          <p:cNvSpPr/>
          <p:nvPr/>
        </p:nvSpPr>
        <p:spPr>
          <a:xfrm>
            <a:off x="10573207" y="5278374"/>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٤</a:t>
            </a:r>
            <a:endParaRPr lang="ar-SA" sz="2000" dirty="0"/>
          </a:p>
        </p:txBody>
      </p:sp>
      <p:sp>
        <p:nvSpPr>
          <p:cNvPr id="20" name="anim-g4-898"/>
          <p:cNvSpPr/>
          <p:nvPr/>
        </p:nvSpPr>
        <p:spPr>
          <a:xfrm>
            <a:off x="1097280" y="5088636"/>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تمزج الألوان بليد RGB بنوعيه</a:t>
            </a:r>
            <a:endParaRPr lang="ar-SA" sz="2400" dirty="0"/>
          </a:p>
        </p:txBody>
      </p:sp>
      <p:sp>
        <p:nvSpPr>
          <p:cNvPr id="21" name="Text 19"/>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الأردوينو للمعلمين</a:t>
            </a:r>
            <a:endParaRPr lang="ar-SA" sz="1200" dirty="0"/>
          </a:p>
        </p:txBody>
      </p:sp>
      <p:sp>
        <p:nvSpPr>
          <p:cNvPr id="22" name="Text 20"/>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PWM والألوان  ·  ١٢٤</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125.xml><?xml version="1.0" encoding="utf-8"?>
<p:sld xmlns:a="http://schemas.openxmlformats.org/drawingml/2006/main" xmlns:r="http://schemas.openxmlformats.org/officeDocument/2006/relationships" xmlns:p="http://schemas.openxmlformats.org/presentationml/2006/main">
  <p:cSld name="Slide 1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437480" y="1188720"/>
            <a:ext cx="1316736"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5437480" y="1188720"/>
            <a:ext cx="131673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السر</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الأردوينو لا يُخفّض الجهد…</a:t>
            </a:r>
            <a:endParaRPr lang="ar-SA" sz="4400" dirty="0"/>
          </a:p>
          <a:p>
            <a:pPr algn="ctr" indent="0" marL="0">
              <a:lnSpc>
                <a:spcPct val="115000"/>
              </a:lnSpc>
              <a:buNone/>
            </a:pPr>
            <a:r>
              <a:rPr lang="ar-SA" altLang="en-US" sz="4400" dirty="0">
                <a:solidFill>
                  <a:srgbClr val="F0CC7A"/>
                </a:solidFill>
                <a:latin typeface="Cairo Black" pitchFamily="34" charset="0"/>
                <a:ea typeface="Cairo Black" pitchFamily="34" charset="-122"/>
                <a:cs typeface="Cairo Black" pitchFamily="34" charset="-120"/>
              </a:rPr>
              <a:t> بل يُشعل ويُطفئ بسرعة هائلة، فترى عينك ضوءًا متوسطًا</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الأردوينو للمعلمين</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PWM والألوان  ·  ١٢٥</a:t>
            </a:r>
            <a:endParaRPr lang="ar-SA" sz="1200"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spTree>
      <p:nvGrpSpPr>
        <p:cNvPr id="1" name=""/>
        <p:cNvGrpSpPr/>
        <p:nvPr/>
      </p:nvGrpSpPr>
      <p:grpSpPr>
        <a:xfrm>
          <a:off x="0" y="0"/>
          <a:ext cx="0" cy="0"/>
          <a:chOff x="0" y="0"/>
          <a:chExt cx="0" cy="0"/>
        </a:xfrm>
      </p:grpSpPr>
      <p:pic>
        <p:nvPicPr>
          <p:cNvPr id="2" name="Image 0" descr="/Users/mac/Desktop/أردوينو/المشاريع والكتب/younes-training/arduino/.pptx-cache/s12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9320479" y="457200"/>
            <a:ext cx="2048256" cy="457200"/>
          </a:xfrm>
          <a:prstGeom prst="roundRect">
            <a:avLst>
              <a:gd name="adj" fmla="val 50000"/>
            </a:avLst>
          </a:prstGeom>
          <a:solidFill>
            <a:srgbClr val="F6EBCF"/>
          </a:solidFill>
          <a:ln/>
        </p:spPr>
      </p:sp>
      <p:sp>
        <p:nvSpPr>
          <p:cNvPr id="3" name="Text 1"/>
          <p:cNvSpPr/>
          <p:nvPr/>
        </p:nvSpPr>
        <p:spPr>
          <a:xfrm>
            <a:off x="9320479" y="457200"/>
            <a:ext cx="204825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قواعد PWM</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ثلاث حقائق عن PWM</a:t>
            </a:r>
            <a:endParaRPr lang="ar-SA" sz="3800" dirty="0"/>
          </a:p>
        </p:txBody>
      </p:sp>
      <p:sp>
        <p:nvSpPr>
          <p:cNvPr id="5" name="anim-g1-899"/>
          <p:cNvSpPr/>
          <p:nvPr/>
        </p:nvSpPr>
        <p:spPr>
          <a:xfrm>
            <a:off x="8036357" y="2148840"/>
            <a:ext cx="3332378" cy="35661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900"/>
          <p:cNvSpPr/>
          <p:nvPr/>
        </p:nvSpPr>
        <p:spPr>
          <a:xfrm>
            <a:off x="10362895" y="2404872"/>
            <a:ext cx="731520" cy="731520"/>
          </a:xfrm>
          <a:prstGeom prst="roundRect">
            <a:avLst>
              <a:gd name="adj" fmla="val 25000"/>
            </a:avLst>
          </a:prstGeom>
          <a:solidFill>
            <a:srgbClr val="F7E6BC"/>
          </a:solidFill>
          <a:ln/>
        </p:spPr>
      </p:sp>
      <p:sp>
        <p:nvSpPr>
          <p:cNvPr id="7" name="anim-g1-901"/>
          <p:cNvSpPr/>
          <p:nvPr/>
        </p:nvSpPr>
        <p:spPr>
          <a:xfrm>
            <a:off x="10362895"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8" name="anim-g1-902"/>
          <p:cNvSpPr/>
          <p:nvPr/>
        </p:nvSpPr>
        <p:spPr>
          <a:xfrm>
            <a:off x="8310677" y="3246120"/>
            <a:ext cx="2783738"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منافذ ~ فقط</a:t>
            </a:r>
            <a:endParaRPr lang="ar-SA" sz="2300" dirty="0"/>
          </a:p>
        </p:txBody>
      </p:sp>
      <p:sp>
        <p:nvSpPr>
          <p:cNvPr id="9" name="anim-g1-903"/>
          <p:cNvSpPr/>
          <p:nvPr/>
        </p:nvSpPr>
        <p:spPr>
          <a:xfrm>
            <a:off x="8310677" y="3794760"/>
            <a:ext cx="2783738"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على Uno: المنافذ 3 و5 و6 و9 و10 و11</a:t>
            </a:r>
            <a:endParaRPr lang="ar-SA" sz="2100" dirty="0"/>
          </a:p>
        </p:txBody>
      </p:sp>
      <p:sp>
        <p:nvSpPr>
          <p:cNvPr id="10" name="anim-g2-904"/>
          <p:cNvSpPr/>
          <p:nvPr/>
        </p:nvSpPr>
        <p:spPr>
          <a:xfrm>
            <a:off x="4429658" y="2148840"/>
            <a:ext cx="3332378" cy="35661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905"/>
          <p:cNvSpPr/>
          <p:nvPr/>
        </p:nvSpPr>
        <p:spPr>
          <a:xfrm>
            <a:off x="6756197" y="2404872"/>
            <a:ext cx="731520" cy="731520"/>
          </a:xfrm>
          <a:prstGeom prst="roundRect">
            <a:avLst>
              <a:gd name="adj" fmla="val 25000"/>
            </a:avLst>
          </a:prstGeom>
          <a:solidFill>
            <a:srgbClr val="F7E6BC"/>
          </a:solidFill>
          <a:ln/>
        </p:spPr>
      </p:sp>
      <p:sp>
        <p:nvSpPr>
          <p:cNvPr id="12" name="anim-g2-906"/>
          <p:cNvSpPr/>
          <p:nvPr/>
        </p:nvSpPr>
        <p:spPr>
          <a:xfrm>
            <a:off x="6756197"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13" name="anim-g2-907"/>
          <p:cNvSpPr/>
          <p:nvPr/>
        </p:nvSpPr>
        <p:spPr>
          <a:xfrm>
            <a:off x="4703978" y="3246120"/>
            <a:ext cx="2783738"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من 0 إلى 255</a:t>
            </a:r>
            <a:endParaRPr lang="ar-SA" sz="2300" dirty="0"/>
          </a:p>
        </p:txBody>
      </p:sp>
      <p:sp>
        <p:nvSpPr>
          <p:cNvPr id="14" name="anim-g2-908"/>
          <p:cNvSpPr/>
          <p:nvPr/>
        </p:nvSpPr>
        <p:spPr>
          <a:xfrm>
            <a:off x="4703978" y="3794760"/>
            <a:ext cx="2783738"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صفر = مطفأ، و255 = أقصى إضاءة</a:t>
            </a:r>
            <a:endParaRPr lang="ar-SA" sz="2100" dirty="0"/>
          </a:p>
        </p:txBody>
      </p:sp>
      <p:sp>
        <p:nvSpPr>
          <p:cNvPr id="15" name="anim-g3-909"/>
          <p:cNvSpPr/>
          <p:nvPr/>
        </p:nvSpPr>
        <p:spPr>
          <a:xfrm>
            <a:off x="822960" y="2148840"/>
            <a:ext cx="3332378" cy="35661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910"/>
          <p:cNvSpPr/>
          <p:nvPr/>
        </p:nvSpPr>
        <p:spPr>
          <a:xfrm>
            <a:off x="3149498" y="2404872"/>
            <a:ext cx="731520" cy="731520"/>
          </a:xfrm>
          <a:prstGeom prst="roundRect">
            <a:avLst>
              <a:gd name="adj" fmla="val 25000"/>
            </a:avLst>
          </a:prstGeom>
          <a:solidFill>
            <a:srgbClr val="F7E6BC"/>
          </a:solidFill>
          <a:ln/>
        </p:spPr>
      </p:sp>
      <p:sp>
        <p:nvSpPr>
          <p:cNvPr id="17" name="anim-g3-911"/>
          <p:cNvSpPr/>
          <p:nvPr/>
        </p:nvSpPr>
        <p:spPr>
          <a:xfrm>
            <a:off x="3149498"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18" name="anim-g3-912"/>
          <p:cNvSpPr/>
          <p:nvPr/>
        </p:nvSpPr>
        <p:spPr>
          <a:xfrm>
            <a:off x="1097280" y="3246120"/>
            <a:ext cx="2783738"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analogWrite</a:t>
            </a:r>
            <a:endParaRPr lang="ar-SA" sz="2300" dirty="0"/>
          </a:p>
        </p:txBody>
      </p:sp>
      <p:sp>
        <p:nvSpPr>
          <p:cNvPr id="19" name="anim-g3-913"/>
          <p:cNvSpPr/>
          <p:nvPr/>
        </p:nvSpPr>
        <p:spPr>
          <a:xfrm>
            <a:off x="1097280" y="3794760"/>
            <a:ext cx="2783738"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الأمر الذي يكتب قيمة PWM على المنفذ</a:t>
            </a:r>
            <a:endParaRPr lang="ar-SA" sz="21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الأردوينو للمعلمين</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PWM والألوان  ·  ١٢٧</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128.xml><?xml version="1.0" encoding="utf-8"?>
<p:sld xmlns:a="http://schemas.openxmlformats.org/drawingml/2006/main" xmlns:r="http://schemas.openxmlformats.org/officeDocument/2006/relationships" xmlns:p="http://schemas.openxmlformats.org/presentationml/2006/main">
  <p:cSld name="Slide 128">
    <p:spTree>
      <p:nvGrpSpPr>
        <p:cNvPr id="1" name=""/>
        <p:cNvGrpSpPr/>
        <p:nvPr/>
      </p:nvGrpSpPr>
      <p:grpSpPr>
        <a:xfrm>
          <a:off x="0" y="0"/>
          <a:ext cx="0" cy="0"/>
          <a:chOff x="0" y="0"/>
          <a:chExt cx="0" cy="0"/>
        </a:xfrm>
      </p:grpSpPr>
      <p:pic>
        <p:nvPicPr>
          <p:cNvPr id="2" name="Image 0" descr="/Users/mac/Desktop/أردوينو/المشاريع والكتب/younes-training/arduino/.pptx-cache/s128-0.jpg">    </p:cNvPr>
          <p:cNvPicPr>
            <a:picLocks noChangeAspect="1"/>
          </p:cNvPicPr>
          <p:nvPr/>
        </p:nvPicPr>
        <p:blipFill>
          <a:blip r:embed="rId1"/>
          <a:stretch>
            <a:fillRect/>
          </a:stretch>
        </p:blipFill>
        <p:spPr>
          <a:xfrm>
            <a:off x="0" y="0"/>
            <a:ext cx="12191695" cy="6858000"/>
          </a:xfrm>
          <a:prstGeom prst="rect">
            <a:avLst/>
          </a:prstGeom>
        </p:spPr>
      </p:pic>
      <p:pic>
        <p:nvPicPr>
          <p:cNvPr id="3" name="anim-g1-914" descr="/Users/mac/Desktop/أردوينو/المشاريع والكتب/younes-training/arduino/.pptx-cache/s128-1.jpg">    </p:cNvPr>
          <p:cNvPicPr>
            <a:picLocks noChangeAspect="1"/>
          </p:cNvPicPr>
          <p:nvPr/>
        </p:nvPicPr>
        <p:blipFill>
          <a:blip r:embed="rId2"/>
          <a:stretch>
            <a:fillRect/>
          </a:stretch>
        </p:blipFill>
        <p:spPr>
          <a:xfrm>
            <a:off x="0" y="0"/>
            <a:ext cx="12191695" cy="6858000"/>
          </a:xfrm>
          <a:prstGeom prst="rect">
            <a:avLst/>
          </a:prstGeom>
        </p:spPr>
      </p:pic>
      <p:pic>
        <p:nvPicPr>
          <p:cNvPr id="4" name="anim-g2-915" descr="/Users/mac/Desktop/أردوينو/المشاريع والكتب/younes-training/arduino/.pptx-cache/s128-2.jpg">    </p:cNvPr>
          <p:cNvPicPr>
            <a:picLocks noChangeAspect="1"/>
          </p:cNvPicPr>
          <p:nvPr/>
        </p:nvPicPr>
        <p:blipFill>
          <a:blip r:embed="rId3"/>
          <a:stretch>
            <a:fillRect/>
          </a:stretch>
        </p:blipFill>
        <p:spPr>
          <a:xfrm>
            <a:off x="0" y="0"/>
            <a:ext cx="12191695" cy="6858000"/>
          </a:xfrm>
          <a:prstGeom prst="rect">
            <a:avLst/>
          </a:prstGeom>
        </p:spPr>
      </p:pic>
      <p:pic>
        <p:nvPicPr>
          <p:cNvPr id="5" name="anim-g3-916" descr="/Users/mac/Desktop/أردوينو/المشاريع والكتب/younes-training/arduino/.pptx-cache/s128-3.jpg">    </p:cNvPr>
          <p:cNvPicPr>
            <a:picLocks noChangeAspect="1"/>
          </p:cNvPicPr>
          <p:nvPr/>
        </p:nvPicPr>
        <p:blipFill>
          <a:blip r:embed="rId4"/>
          <a:stretch>
            <a:fillRect/>
          </a:stretch>
        </p:blipFill>
        <p:spPr>
          <a:xfrm>
            <a:off x="0" y="0"/>
            <a:ext cx="12191695" cy="6858000"/>
          </a:xfrm>
          <a:prstGeom prst="rect">
            <a:avLst/>
          </a:prstGeom>
        </p:spPr>
      </p:pic>
      <p:pic>
        <p:nvPicPr>
          <p:cNvPr id="6" name="anim-g4-917" descr="/Users/mac/Desktop/أردوينو/المشاريع والكتب/younes-training/arduino/.pptx-cache/s128-4.jpg">    </p:cNvPr>
          <p:cNvPicPr>
            <a:picLocks noChangeAspect="1"/>
          </p:cNvPicPr>
          <p:nvPr/>
        </p:nvPicPr>
        <p:blipFill>
          <a:blip r:embed="rId5"/>
          <a:stretch>
            <a:fillRect/>
          </a:stretch>
        </p:blipFill>
        <p:spPr>
          <a:xfrm>
            <a:off x="0" y="0"/>
            <a:ext cx="12191695" cy="6858000"/>
          </a:xfrm>
          <a:prstGeom prst="rect">
            <a:avLst/>
          </a:prstGeom>
        </p:spPr>
      </p:pic>
      <p:pic>
        <p:nvPicPr>
          <p:cNvPr id="7" name="anim-g5-918" descr="/Users/mac/Desktop/أردوينو/المشاريع والكتب/younes-training/arduino/.pptx-cache/s128-5.jpg">    </p:cNvPr>
          <p:cNvPicPr>
            <a:picLocks noChangeAspect="1"/>
          </p:cNvPicPr>
          <p:nvPr/>
        </p:nvPicPr>
        <p:blipFill>
          <a:blip r:embed="rId6"/>
          <a:stretch>
            <a:fillRect/>
          </a:stretch>
        </p:blipFill>
        <p:spPr>
          <a:xfrm>
            <a:off x="0" y="0"/>
            <a:ext cx="12191695" cy="6858000"/>
          </a:xfrm>
          <a:prstGeom prst="rect">
            <a:avLst/>
          </a:prstGeom>
        </p:spPr>
      </p:pic>
      <p:pic>
        <p:nvPicPr>
          <p:cNvPr id="8" name="anim-g6-919" descr="/Users/mac/Desktop/أردوينو/المشاريع والكتب/younes-training/arduino/.pptx-cache/s128-6.jpg">    </p:cNvPr>
          <p:cNvPicPr>
            <a:picLocks noChangeAspect="1"/>
          </p:cNvPicPr>
          <p:nvPr/>
        </p:nvPicPr>
        <p:blipFill>
          <a:blip r:embed="rId7"/>
          <a:stretch>
            <a:fillRect/>
          </a:stretch>
        </p:blipFill>
        <p:spPr>
          <a:xfrm>
            <a:off x="0" y="0"/>
            <a:ext cx="12191695" cy="6858000"/>
          </a:xfrm>
          <a:prstGeom prst="rect">
            <a:avLst/>
          </a:prstGeom>
        </p:spPr>
      </p:pic>
      <p:pic>
        <p:nvPicPr>
          <p:cNvPr id="9" name="anim-g7-920" descr="/Users/mac/Desktop/أردوينو/المشاريع والكتب/younes-training/arduino/.pptx-cache/s128-7.jpg">    </p:cNvPr>
          <p:cNvPicPr>
            <a:picLocks noChangeAspect="1"/>
          </p:cNvPicPr>
          <p:nvPr/>
        </p:nvPicPr>
        <p:blipFill>
          <a:blip r:embed="rId8"/>
          <a:stretch>
            <a:fillRect/>
          </a:stretch>
        </p:blipFill>
        <p:spPr>
          <a:xfrm>
            <a:off x="0" y="0"/>
            <a:ext cx="12191695" cy="6858000"/>
          </a:xfrm>
          <a:prstGeom prst="rect">
            <a:avLst/>
          </a:prstGeom>
        </p:spPr>
      </p:pic>
      <p:pic>
        <p:nvPicPr>
          <p:cNvPr id="10" name="anim-g8-921" descr="/Users/mac/Desktop/أردوينو/المشاريع والكتب/younes-training/arduino/.pptx-cache/s128-8.jpg">    </p:cNvPr>
          <p:cNvPicPr>
            <a:picLocks noChangeAspect="1"/>
          </p:cNvPicPr>
          <p:nvPr/>
        </p:nvPicPr>
        <p:blipFill>
          <a:blip r:embed="rId9"/>
          <a:stretch>
            <a:fillRect/>
          </a:stretch>
        </p:blipFill>
        <p:spPr>
          <a:xfrm>
            <a:off x="0" y="0"/>
            <a:ext cx="12191695" cy="6858000"/>
          </a:xfrm>
          <a:prstGeom prst="rect">
            <a:avLst/>
          </a:prstGeom>
        </p:spPr>
      </p:pic>
      <p:pic>
        <p:nvPicPr>
          <p:cNvPr id="11" name="anim-g9-922" descr="/Users/mac/Desktop/أردوينو/المشاريع والكتب/younes-training/arduino/.pptx-cache/s128-9.jpg">    </p:cNvPr>
          <p:cNvPicPr>
            <a:picLocks noChangeAspect="1"/>
          </p:cNvPicPr>
          <p:nvPr/>
        </p:nvPicPr>
        <p:blipFill>
          <a:blip r:embed="rId10"/>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4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4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400"/>
                                        <p:tgtEl>
                                          <p:spTgt spid="10"/>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fade">
                                      <p:cBhvr>
                                        <p:cTn id="47"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9.xml><?xml version="1.0" encoding="utf-8"?>
<p:sld xmlns:a="http://schemas.openxmlformats.org/drawingml/2006/main" xmlns:r="http://schemas.openxmlformats.org/officeDocument/2006/relationships" xmlns:p="http://schemas.openxmlformats.org/presentationml/2006/main">
  <p:cSld name="Slide 1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296351" y="457200"/>
            <a:ext cx="3072384" cy="457200"/>
          </a:xfrm>
          <a:prstGeom prst="roundRect">
            <a:avLst>
              <a:gd name="adj" fmla="val 50000"/>
            </a:avLst>
          </a:prstGeom>
          <a:solidFill>
            <a:srgbClr val="F6EBCF"/>
          </a:solidFill>
          <a:ln/>
        </p:spPr>
      </p:sp>
      <p:sp>
        <p:nvSpPr>
          <p:cNvPr id="3" name="Text 1"/>
          <p:cNvSpPr/>
          <p:nvPr/>
        </p:nvSpPr>
        <p:spPr>
          <a:xfrm>
            <a:off x="8296351" y="457200"/>
            <a:ext cx="3072384"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في Tinkercad</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قِس PWM بالفولتميتر</a:t>
            </a:r>
            <a:endParaRPr lang="ar-SA" sz="3800" dirty="0"/>
          </a:p>
        </p:txBody>
      </p:sp>
      <p:sp>
        <p:nvSpPr>
          <p:cNvPr id="5" name="anim-g1-923"/>
          <p:cNvSpPr/>
          <p:nvPr/>
        </p:nvSpPr>
        <p:spPr>
          <a:xfrm>
            <a:off x="822960" y="1920240"/>
            <a:ext cx="10545775" cy="946404"/>
          </a:xfrm>
          <a:prstGeom prst="roundRect">
            <a:avLst>
              <a:gd name="adj" fmla="val 15459"/>
            </a:avLst>
          </a:prstGeom>
          <a:solidFill>
            <a:srgbClr val="FFFFFF"/>
          </a:solidFill>
          <a:ln w="12700">
            <a:solidFill>
              <a:srgbClr val="E4DCC8"/>
            </a:solidFill>
            <a:prstDash val="solid"/>
          </a:ln>
        </p:spPr>
      </p:sp>
      <p:sp>
        <p:nvSpPr>
          <p:cNvPr id="6" name="anim-g1-924"/>
          <p:cNvSpPr/>
          <p:nvPr/>
        </p:nvSpPr>
        <p:spPr>
          <a:xfrm>
            <a:off x="10573207" y="2109978"/>
            <a:ext cx="566928" cy="566928"/>
          </a:xfrm>
          <a:prstGeom prst="ellipse">
            <a:avLst/>
          </a:prstGeom>
          <a:solidFill>
            <a:srgbClr val="D9AE4B"/>
          </a:solidFill>
          <a:ln/>
        </p:spPr>
      </p:sp>
      <p:sp>
        <p:nvSpPr>
          <p:cNvPr id="7" name="anim-g1-925"/>
          <p:cNvSpPr/>
          <p:nvPr/>
        </p:nvSpPr>
        <p:spPr>
          <a:xfrm>
            <a:off x="10573207" y="2109978"/>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١</a:t>
            </a:r>
            <a:endParaRPr lang="ar-SA" sz="2000" dirty="0"/>
          </a:p>
        </p:txBody>
      </p:sp>
      <p:sp>
        <p:nvSpPr>
          <p:cNvPr id="8" name="anim-g1-926"/>
          <p:cNvSpPr/>
          <p:nvPr/>
        </p:nvSpPr>
        <p:spPr>
          <a:xfrm>
            <a:off x="1097280" y="1920240"/>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أضف فولتميتر (Multimeter) إلى الدائرة</a:t>
            </a:r>
            <a:endParaRPr lang="ar-SA" sz="2400" dirty="0"/>
          </a:p>
          <a:p>
            <a:pPr algn="r" indent="0" marL="0">
              <a:buNone/>
            </a:pPr>
            <a:r>
              <a:rPr lang="ar-SA" altLang="en-US" sz="2000" b="1" dirty="0">
                <a:solidFill>
                  <a:srgbClr val="3B4460"/>
                </a:solidFill>
                <a:latin typeface="Cairo" pitchFamily="34" charset="0"/>
                <a:ea typeface="Cairo" pitchFamily="34" charset="-122"/>
                <a:cs typeface="Cairo" pitchFamily="34" charset="-120"/>
              </a:rPr>
              <a:t>واضبطه على قياس الجهد</a:t>
            </a:r>
            <a:endParaRPr lang="ar-SA" sz="2400" dirty="0"/>
          </a:p>
        </p:txBody>
      </p:sp>
      <p:sp>
        <p:nvSpPr>
          <p:cNvPr id="9" name="anim-g2-927"/>
          <p:cNvSpPr/>
          <p:nvPr/>
        </p:nvSpPr>
        <p:spPr>
          <a:xfrm>
            <a:off x="822960" y="2976372"/>
            <a:ext cx="10545775" cy="946404"/>
          </a:xfrm>
          <a:prstGeom prst="roundRect">
            <a:avLst>
              <a:gd name="adj" fmla="val 15459"/>
            </a:avLst>
          </a:prstGeom>
          <a:solidFill>
            <a:srgbClr val="FFFFFF"/>
          </a:solidFill>
          <a:ln w="12700">
            <a:solidFill>
              <a:srgbClr val="E4DCC8"/>
            </a:solidFill>
            <a:prstDash val="solid"/>
          </a:ln>
        </p:spPr>
      </p:sp>
      <p:sp>
        <p:nvSpPr>
          <p:cNvPr id="10" name="anim-g2-928"/>
          <p:cNvSpPr/>
          <p:nvPr/>
        </p:nvSpPr>
        <p:spPr>
          <a:xfrm>
            <a:off x="10573207" y="3166110"/>
            <a:ext cx="566928" cy="566928"/>
          </a:xfrm>
          <a:prstGeom prst="ellipse">
            <a:avLst/>
          </a:prstGeom>
          <a:solidFill>
            <a:srgbClr val="D9AE4B"/>
          </a:solidFill>
          <a:ln/>
        </p:spPr>
      </p:sp>
      <p:sp>
        <p:nvSpPr>
          <p:cNvPr id="11" name="anim-g2-929"/>
          <p:cNvSpPr/>
          <p:nvPr/>
        </p:nvSpPr>
        <p:spPr>
          <a:xfrm>
            <a:off x="10573207" y="3166110"/>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٢</a:t>
            </a:r>
            <a:endParaRPr lang="ar-SA" sz="2000" dirty="0"/>
          </a:p>
        </p:txBody>
      </p:sp>
      <p:sp>
        <p:nvSpPr>
          <p:cNvPr id="12" name="anim-g2-930"/>
          <p:cNvSpPr/>
          <p:nvPr/>
        </p:nvSpPr>
        <p:spPr>
          <a:xfrm>
            <a:off x="1097280" y="2976372"/>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الطرف الموجب على المنفذ 9، والسالب على GND</a:t>
            </a:r>
            <a:endParaRPr lang="ar-SA" sz="2400" dirty="0"/>
          </a:p>
          <a:p>
            <a:pPr algn="r" indent="0" marL="0">
              <a:buNone/>
            </a:pPr>
            <a:r>
              <a:rPr lang="ar-SA" altLang="en-US" sz="2000" b="1" dirty="0">
                <a:solidFill>
                  <a:srgbClr val="3B4460"/>
                </a:solidFill>
                <a:latin typeface="Cairo" pitchFamily="34" charset="0"/>
                <a:ea typeface="Cairo" pitchFamily="34" charset="-122"/>
                <a:cs typeface="Cairo" pitchFamily="34" charset="-120"/>
              </a:rPr>
              <a:t>بلا ليد في البداية</a:t>
            </a:r>
            <a:endParaRPr lang="ar-SA" sz="2400" dirty="0"/>
          </a:p>
        </p:txBody>
      </p:sp>
      <p:sp>
        <p:nvSpPr>
          <p:cNvPr id="13" name="anim-g3-931"/>
          <p:cNvSpPr/>
          <p:nvPr/>
        </p:nvSpPr>
        <p:spPr>
          <a:xfrm>
            <a:off x="822960" y="4032504"/>
            <a:ext cx="10545775" cy="946404"/>
          </a:xfrm>
          <a:prstGeom prst="roundRect">
            <a:avLst>
              <a:gd name="adj" fmla="val 15459"/>
            </a:avLst>
          </a:prstGeom>
          <a:solidFill>
            <a:srgbClr val="FFFFFF"/>
          </a:solidFill>
          <a:ln w="12700">
            <a:solidFill>
              <a:srgbClr val="E4DCC8"/>
            </a:solidFill>
            <a:prstDash val="solid"/>
          </a:ln>
        </p:spPr>
      </p:sp>
      <p:sp>
        <p:nvSpPr>
          <p:cNvPr id="14" name="anim-g3-932"/>
          <p:cNvSpPr/>
          <p:nvPr/>
        </p:nvSpPr>
        <p:spPr>
          <a:xfrm>
            <a:off x="10573207" y="4222242"/>
            <a:ext cx="566928" cy="566928"/>
          </a:xfrm>
          <a:prstGeom prst="ellipse">
            <a:avLst/>
          </a:prstGeom>
          <a:solidFill>
            <a:srgbClr val="D9AE4B"/>
          </a:solidFill>
          <a:ln/>
        </p:spPr>
      </p:sp>
      <p:sp>
        <p:nvSpPr>
          <p:cNvPr id="15" name="anim-g3-933"/>
          <p:cNvSpPr/>
          <p:nvPr/>
        </p:nvSpPr>
        <p:spPr>
          <a:xfrm>
            <a:off x="10573207" y="4222242"/>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٣</a:t>
            </a:r>
            <a:endParaRPr lang="ar-SA" sz="2000" dirty="0"/>
          </a:p>
        </p:txBody>
      </p:sp>
      <p:sp>
        <p:nvSpPr>
          <p:cNvPr id="16" name="anim-g3-934"/>
          <p:cNvSpPr/>
          <p:nvPr/>
        </p:nvSpPr>
        <p:spPr>
          <a:xfrm>
            <a:off x="1097280" y="4032504"/>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جرّب analogWrite(9, 255) ثم 128 ثم 64</a:t>
            </a:r>
            <a:endParaRPr lang="ar-SA" sz="2400" dirty="0"/>
          </a:p>
          <a:p>
            <a:pPr algn="r" indent="0" marL="0">
              <a:buNone/>
            </a:pPr>
            <a:r>
              <a:rPr lang="ar-SA" altLang="en-US" sz="2000" b="1" dirty="0">
                <a:solidFill>
                  <a:srgbClr val="3B4460"/>
                </a:solidFill>
                <a:latin typeface="Cairo" pitchFamily="34" charset="0"/>
                <a:ea typeface="Cairo" pitchFamily="34" charset="-122"/>
                <a:cs typeface="Cairo" pitchFamily="34" charset="-120"/>
              </a:rPr>
              <a:t>وسجّل القراءة في كل مرة</a:t>
            </a:r>
            <a:endParaRPr lang="ar-SA" sz="2400" dirty="0"/>
          </a:p>
        </p:txBody>
      </p:sp>
      <p:sp>
        <p:nvSpPr>
          <p:cNvPr id="17" name="anim-g4-935"/>
          <p:cNvSpPr/>
          <p:nvPr/>
        </p:nvSpPr>
        <p:spPr>
          <a:xfrm>
            <a:off x="822960" y="5088636"/>
            <a:ext cx="10545775" cy="946404"/>
          </a:xfrm>
          <a:prstGeom prst="roundRect">
            <a:avLst>
              <a:gd name="adj" fmla="val 15459"/>
            </a:avLst>
          </a:prstGeom>
          <a:solidFill>
            <a:srgbClr val="FFFFFF"/>
          </a:solidFill>
          <a:ln w="12700">
            <a:solidFill>
              <a:srgbClr val="E4DCC8"/>
            </a:solidFill>
            <a:prstDash val="solid"/>
          </a:ln>
        </p:spPr>
      </p:sp>
      <p:sp>
        <p:nvSpPr>
          <p:cNvPr id="18" name="anim-g4-936"/>
          <p:cNvSpPr/>
          <p:nvPr/>
        </p:nvSpPr>
        <p:spPr>
          <a:xfrm>
            <a:off x="10573207" y="5278374"/>
            <a:ext cx="566928" cy="566928"/>
          </a:xfrm>
          <a:prstGeom prst="ellipse">
            <a:avLst/>
          </a:prstGeom>
          <a:solidFill>
            <a:srgbClr val="D9AE4B"/>
          </a:solidFill>
          <a:ln/>
        </p:spPr>
      </p:sp>
      <p:sp>
        <p:nvSpPr>
          <p:cNvPr id="19" name="anim-g4-937"/>
          <p:cNvSpPr/>
          <p:nvPr/>
        </p:nvSpPr>
        <p:spPr>
          <a:xfrm>
            <a:off x="10573207" y="5278374"/>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٤</a:t>
            </a:r>
            <a:endParaRPr lang="ar-SA" sz="2000" dirty="0"/>
          </a:p>
        </p:txBody>
      </p:sp>
      <p:sp>
        <p:nvSpPr>
          <p:cNvPr id="20" name="anim-g4-938"/>
          <p:cNvSpPr/>
          <p:nvPr/>
        </p:nvSpPr>
        <p:spPr>
          <a:xfrm>
            <a:off x="1097280" y="5088636"/>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لاحظ: ٥ فولت، ثم حوالي ٢٫٥، ثم حوالي ١٫٢٥</a:t>
            </a:r>
            <a:endParaRPr lang="ar-SA" sz="2400" dirty="0"/>
          </a:p>
          <a:p>
            <a:pPr algn="r" indent="0" marL="0">
              <a:buNone/>
            </a:pPr>
            <a:r>
              <a:rPr lang="ar-SA" altLang="en-US" sz="2000" b="1" dirty="0">
                <a:solidFill>
                  <a:srgbClr val="3B4460"/>
                </a:solidFill>
                <a:latin typeface="Cairo" pitchFamily="34" charset="0"/>
                <a:ea typeface="Cairo" pitchFamily="34" charset="-122"/>
                <a:cs typeface="Cairo" pitchFamily="34" charset="-120"/>
              </a:rPr>
              <a:t>متوسط الجهد يتبع النسبة</a:t>
            </a:r>
            <a:endParaRPr lang="ar-SA" sz="2400" dirty="0"/>
          </a:p>
        </p:txBody>
      </p:sp>
      <p:sp>
        <p:nvSpPr>
          <p:cNvPr id="21" name="Text 19"/>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الأردوينو للمعلمين</a:t>
            </a:r>
            <a:endParaRPr lang="ar-SA" sz="1200" dirty="0"/>
          </a:p>
        </p:txBody>
      </p:sp>
      <p:sp>
        <p:nvSpPr>
          <p:cNvPr id="22" name="Text 20"/>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PWM والألوان  ·  ١٢٩</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130.xml><?xml version="1.0" encoding="utf-8"?>
<p:sld xmlns:a="http://schemas.openxmlformats.org/drawingml/2006/main" xmlns:r="http://schemas.openxmlformats.org/officeDocument/2006/relationships" xmlns:p="http://schemas.openxmlformats.org/presentationml/2006/main">
  <p:cSld name="Slide 13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9613087" y="457200"/>
            <a:ext cx="1755648" cy="457200"/>
          </a:xfrm>
          <a:prstGeom prst="roundRect">
            <a:avLst>
              <a:gd name="adj" fmla="val 50000"/>
            </a:avLst>
          </a:prstGeom>
          <a:solidFill>
            <a:srgbClr val="F6EBCF"/>
          </a:solidFill>
          <a:ln/>
        </p:spPr>
      </p:sp>
      <p:sp>
        <p:nvSpPr>
          <p:cNvPr id="3" name="Text 1"/>
          <p:cNvSpPr/>
          <p:nvPr/>
        </p:nvSpPr>
        <p:spPr>
          <a:xfrm>
            <a:off x="9613087" y="457200"/>
            <a:ext cx="175564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ليد RGB</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ثلاثة ليدات في غلاف واحد… بنوعين</a:t>
            </a:r>
            <a:endParaRPr lang="ar-SA" sz="3800" dirty="0"/>
          </a:p>
        </p:txBody>
      </p:sp>
      <p:sp>
        <p:nvSpPr>
          <p:cNvPr id="5" name="anim-g1-939"/>
          <p:cNvSpPr/>
          <p:nvPr/>
        </p:nvSpPr>
        <p:spPr>
          <a:xfrm>
            <a:off x="8036357" y="2148840"/>
            <a:ext cx="3332378" cy="35661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940"/>
          <p:cNvSpPr/>
          <p:nvPr/>
        </p:nvSpPr>
        <p:spPr>
          <a:xfrm>
            <a:off x="10362895" y="2404872"/>
            <a:ext cx="731520" cy="731520"/>
          </a:xfrm>
          <a:prstGeom prst="roundRect">
            <a:avLst>
              <a:gd name="adj" fmla="val 25000"/>
            </a:avLst>
          </a:prstGeom>
          <a:solidFill>
            <a:srgbClr val="F7E6BC"/>
          </a:solidFill>
          <a:ln/>
        </p:spPr>
      </p:sp>
      <p:sp>
        <p:nvSpPr>
          <p:cNvPr id="7" name="anim-g1-941"/>
          <p:cNvSpPr/>
          <p:nvPr/>
        </p:nvSpPr>
        <p:spPr>
          <a:xfrm>
            <a:off x="10362895"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8" name="anim-g1-942"/>
          <p:cNvSpPr/>
          <p:nvPr/>
        </p:nvSpPr>
        <p:spPr>
          <a:xfrm>
            <a:off x="8310677" y="3246120"/>
            <a:ext cx="2783738"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أربعة أطراف</a:t>
            </a:r>
            <a:endParaRPr lang="ar-SA" sz="2300" dirty="0"/>
          </a:p>
        </p:txBody>
      </p:sp>
      <p:sp>
        <p:nvSpPr>
          <p:cNvPr id="9" name="anim-g1-943"/>
          <p:cNvSpPr/>
          <p:nvPr/>
        </p:nvSpPr>
        <p:spPr>
          <a:xfrm>
            <a:off x="8310677" y="3794760"/>
            <a:ext cx="2783738"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أحمر وأخضر وأزرق، وطرف مشترك هو الأطول</a:t>
            </a:r>
            <a:endParaRPr lang="ar-SA" sz="2100" dirty="0"/>
          </a:p>
        </p:txBody>
      </p:sp>
      <p:sp>
        <p:nvSpPr>
          <p:cNvPr id="10" name="anim-g2-944"/>
          <p:cNvSpPr/>
          <p:nvPr/>
        </p:nvSpPr>
        <p:spPr>
          <a:xfrm>
            <a:off x="4429658" y="2148840"/>
            <a:ext cx="3332378" cy="35661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945"/>
          <p:cNvSpPr/>
          <p:nvPr/>
        </p:nvSpPr>
        <p:spPr>
          <a:xfrm>
            <a:off x="6756197" y="2404872"/>
            <a:ext cx="731520" cy="731520"/>
          </a:xfrm>
          <a:prstGeom prst="roundRect">
            <a:avLst>
              <a:gd name="adj" fmla="val 25000"/>
            </a:avLst>
          </a:prstGeom>
          <a:solidFill>
            <a:srgbClr val="F7E6BC"/>
          </a:solidFill>
          <a:ln/>
        </p:spPr>
      </p:sp>
      <p:sp>
        <p:nvSpPr>
          <p:cNvPr id="12" name="anim-g2-946"/>
          <p:cNvSpPr/>
          <p:nvPr/>
        </p:nvSpPr>
        <p:spPr>
          <a:xfrm>
            <a:off x="6756197"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13" name="anim-g2-947"/>
          <p:cNvSpPr/>
          <p:nvPr/>
        </p:nvSpPr>
        <p:spPr>
          <a:xfrm>
            <a:off x="4703978" y="3246120"/>
            <a:ext cx="2783738"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مهبط مشترك (−)</a:t>
            </a:r>
            <a:endParaRPr lang="ar-SA" sz="2300" dirty="0"/>
          </a:p>
        </p:txBody>
      </p:sp>
      <p:sp>
        <p:nvSpPr>
          <p:cNvPr id="14" name="anim-g2-948"/>
          <p:cNvSpPr/>
          <p:nvPr/>
        </p:nvSpPr>
        <p:spPr>
          <a:xfrm>
            <a:off x="4703978" y="3794760"/>
            <a:ext cx="2783738"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الطرف المشترك إلى GND، و255 تعني أقصى لون</a:t>
            </a:r>
            <a:endParaRPr lang="ar-SA" sz="2100" dirty="0"/>
          </a:p>
        </p:txBody>
      </p:sp>
      <p:sp>
        <p:nvSpPr>
          <p:cNvPr id="15" name="anim-g3-949"/>
          <p:cNvSpPr/>
          <p:nvPr/>
        </p:nvSpPr>
        <p:spPr>
          <a:xfrm>
            <a:off x="822960" y="2148840"/>
            <a:ext cx="3332378" cy="35661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950"/>
          <p:cNvSpPr/>
          <p:nvPr/>
        </p:nvSpPr>
        <p:spPr>
          <a:xfrm>
            <a:off x="3149498" y="2404872"/>
            <a:ext cx="731520" cy="731520"/>
          </a:xfrm>
          <a:prstGeom prst="roundRect">
            <a:avLst>
              <a:gd name="adj" fmla="val 25000"/>
            </a:avLst>
          </a:prstGeom>
          <a:solidFill>
            <a:srgbClr val="F7E6BC"/>
          </a:solidFill>
          <a:ln/>
        </p:spPr>
      </p:sp>
      <p:sp>
        <p:nvSpPr>
          <p:cNvPr id="17" name="anim-g3-951"/>
          <p:cNvSpPr/>
          <p:nvPr/>
        </p:nvSpPr>
        <p:spPr>
          <a:xfrm>
            <a:off x="3149498"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18" name="anim-g3-952"/>
          <p:cNvSpPr/>
          <p:nvPr/>
        </p:nvSpPr>
        <p:spPr>
          <a:xfrm>
            <a:off x="1097280" y="3246120"/>
            <a:ext cx="2783738"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مصعد مشترك (+)</a:t>
            </a:r>
            <a:endParaRPr lang="ar-SA" sz="2300" dirty="0"/>
          </a:p>
        </p:txBody>
      </p:sp>
      <p:sp>
        <p:nvSpPr>
          <p:cNvPr id="19" name="anim-g3-953"/>
          <p:cNvSpPr/>
          <p:nvPr/>
        </p:nvSpPr>
        <p:spPr>
          <a:xfrm>
            <a:off x="1097280" y="3794760"/>
            <a:ext cx="2783738"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الطرف المشترك إلى 5V، والقيم معكوسة: 0 تعني أقصى لون</a:t>
            </a:r>
            <a:endParaRPr lang="ar-SA" sz="21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الأردوينو للمعلمين</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PWM والألوان  ·  ١٣٠</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131.xml><?xml version="1.0" encoding="utf-8"?>
<p:sld xmlns:a="http://schemas.openxmlformats.org/drawingml/2006/main" xmlns:r="http://schemas.openxmlformats.org/officeDocument/2006/relationships" xmlns:p="http://schemas.openxmlformats.org/presentationml/2006/main">
  <p:cSld name="Slide 131">
    <p:spTree>
      <p:nvGrpSpPr>
        <p:cNvPr id="1" name=""/>
        <p:cNvGrpSpPr/>
        <p:nvPr/>
      </p:nvGrpSpPr>
      <p:grpSpPr>
        <a:xfrm>
          <a:off x="0" y="0"/>
          <a:ext cx="0" cy="0"/>
          <a:chOff x="0" y="0"/>
          <a:chExt cx="0" cy="0"/>
        </a:xfrm>
      </p:grpSpPr>
      <p:pic>
        <p:nvPicPr>
          <p:cNvPr id="2" name="Image 0" descr="/Users/mac/Desktop/أردوينو/المشاريع والكتب/younes-training/arduino/.pptx-cache/s13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3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81567" y="457200"/>
            <a:ext cx="2487168" cy="457200"/>
          </a:xfrm>
          <a:prstGeom prst="roundRect">
            <a:avLst>
              <a:gd name="adj" fmla="val 50000"/>
            </a:avLst>
          </a:prstGeom>
          <a:solidFill>
            <a:srgbClr val="F6EBCF"/>
          </a:solidFill>
          <a:ln/>
        </p:spPr>
      </p:sp>
      <p:sp>
        <p:nvSpPr>
          <p:cNvPr id="3" name="Text 1"/>
          <p:cNvSpPr/>
          <p:nvPr/>
        </p:nvSpPr>
        <p:spPr>
          <a:xfrm>
            <a:off x="8881567" y="45720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اختبر نفسك</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ليد RGB بمصعد مشترك… ماذا يعطي analogWrite(9, 0)؟</a:t>
            </a:r>
            <a:endParaRPr lang="ar-SA" sz="3200" dirty="0"/>
          </a:p>
        </p:txBody>
      </p:sp>
      <p:sp>
        <p:nvSpPr>
          <p:cNvPr id="5" name="Shape 3"/>
          <p:cNvSpPr/>
          <p:nvPr/>
        </p:nvSpPr>
        <p:spPr>
          <a:xfrm>
            <a:off x="822960" y="2057400"/>
            <a:ext cx="10545775" cy="1228344"/>
          </a:xfrm>
          <a:prstGeom prst="roundRect">
            <a:avLst>
              <a:gd name="adj" fmla="val 11911"/>
            </a:avLst>
          </a:prstGeom>
          <a:solidFill>
            <a:srgbClr val="FFFFFF"/>
          </a:solidFill>
          <a:ln w="19050">
            <a:solidFill>
              <a:srgbClr val="E4DCC8"/>
            </a:solidFill>
            <a:prstDash val="solid"/>
          </a:ln>
        </p:spPr>
      </p:sp>
      <p:sp>
        <p:nvSpPr>
          <p:cNvPr id="6" name="Shape 4"/>
          <p:cNvSpPr/>
          <p:nvPr/>
        </p:nvSpPr>
        <p:spPr>
          <a:xfrm>
            <a:off x="10231831" y="2194560"/>
            <a:ext cx="954024" cy="954024"/>
          </a:xfrm>
          <a:prstGeom prst="roundRect">
            <a:avLst>
              <a:gd name="adj" fmla="val 11502"/>
            </a:avLst>
          </a:prstGeom>
          <a:solidFill>
            <a:srgbClr val="101B45"/>
          </a:solidFill>
          <a:ln/>
        </p:spPr>
      </p:sp>
      <p:sp>
        <p:nvSpPr>
          <p:cNvPr id="7" name="Text 5"/>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8" name="Text 6"/>
          <p:cNvSpPr/>
          <p:nvPr/>
        </p:nvSpPr>
        <p:spPr>
          <a:xfrm>
            <a:off x="1097280" y="2057400"/>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أقصى إضاءة للون الأحمر</a:t>
            </a:r>
            <a:endParaRPr lang="ar-SA" sz="2500" dirty="0"/>
          </a:p>
        </p:txBody>
      </p:sp>
      <p:sp>
        <p:nvSpPr>
          <p:cNvPr id="9" name="anim-g1-954"/>
          <p:cNvSpPr/>
          <p:nvPr/>
        </p:nvSpPr>
        <p:spPr>
          <a:xfrm>
            <a:off x="822960" y="2057400"/>
            <a:ext cx="10545775" cy="1228344"/>
          </a:xfrm>
          <a:prstGeom prst="roundRect">
            <a:avLst>
              <a:gd name="adj" fmla="val 11911"/>
            </a:avLst>
          </a:prstGeom>
          <a:solidFill>
            <a:srgbClr val="E6F4EC"/>
          </a:solidFill>
          <a:ln w="31750">
            <a:solidFill>
              <a:srgbClr val="2E9E6B"/>
            </a:solidFill>
            <a:prstDash val="solid"/>
          </a:ln>
        </p:spPr>
      </p:sp>
      <p:sp>
        <p:nvSpPr>
          <p:cNvPr id="10" name="anim-g1-955"/>
          <p:cNvSpPr/>
          <p:nvPr/>
        </p:nvSpPr>
        <p:spPr>
          <a:xfrm>
            <a:off x="10231831" y="2194560"/>
            <a:ext cx="954024" cy="954024"/>
          </a:xfrm>
          <a:prstGeom prst="roundRect">
            <a:avLst>
              <a:gd name="adj" fmla="val 11502"/>
            </a:avLst>
          </a:prstGeom>
          <a:solidFill>
            <a:srgbClr val="2E9E6B"/>
          </a:solidFill>
          <a:ln/>
        </p:spPr>
      </p:sp>
      <p:sp>
        <p:nvSpPr>
          <p:cNvPr id="11" name="anim-g1-956"/>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a:t>
            </a:r>
            <a:endParaRPr lang="ar-SA" sz="2400" dirty="0"/>
          </a:p>
        </p:txBody>
      </p:sp>
      <p:sp>
        <p:nvSpPr>
          <p:cNvPr id="12" name="anim-g1-957"/>
          <p:cNvSpPr/>
          <p:nvPr/>
        </p:nvSpPr>
        <p:spPr>
          <a:xfrm>
            <a:off x="1097280" y="2093976"/>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131B34"/>
                </a:solidFill>
                <a:latin typeface="Cairo" pitchFamily="34" charset="0"/>
                <a:ea typeface="Cairo" pitchFamily="34" charset="-122"/>
                <a:cs typeface="Cairo" pitchFamily="34" charset="-120"/>
              </a:rPr>
              <a:t>أقصى إضاءة للون الأحمر</a:t>
            </a:r>
            <a:endParaRPr lang="ar-SA" sz="2400" dirty="0"/>
          </a:p>
        </p:txBody>
      </p:sp>
      <p:sp>
        <p:nvSpPr>
          <p:cNvPr id="13" name="anim-g1-958"/>
          <p:cNvSpPr/>
          <p:nvPr/>
        </p:nvSpPr>
        <p:spPr>
          <a:xfrm>
            <a:off x="1097280" y="2720706"/>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1D5E40"/>
                </a:solidFill>
                <a:latin typeface="Cairo" pitchFamily="34" charset="0"/>
                <a:ea typeface="Cairo" pitchFamily="34" charset="-122"/>
                <a:cs typeface="Cairo" pitchFamily="34" charset="-120"/>
              </a:rPr>
              <a:t>في المصعد المشترك: الصفر يعني فرقًا كاملًا في الجهد، فأقصى إضاءة</a:t>
            </a:r>
            <a:endParaRPr lang="ar-SA" sz="1800" dirty="0"/>
          </a:p>
        </p:txBody>
      </p:sp>
      <p:sp>
        <p:nvSpPr>
          <p:cNvPr id="14" name="Shape 12"/>
          <p:cNvSpPr/>
          <p:nvPr/>
        </p:nvSpPr>
        <p:spPr>
          <a:xfrm>
            <a:off x="822960" y="3432048"/>
            <a:ext cx="10545775" cy="1228344"/>
          </a:xfrm>
          <a:prstGeom prst="roundRect">
            <a:avLst>
              <a:gd name="adj" fmla="val 11911"/>
            </a:avLst>
          </a:prstGeom>
          <a:solidFill>
            <a:srgbClr val="FFFFFF"/>
          </a:solidFill>
          <a:ln w="19050">
            <a:solidFill>
              <a:srgbClr val="E4DCC8"/>
            </a:solidFill>
            <a:prstDash val="solid"/>
          </a:ln>
        </p:spPr>
      </p:sp>
      <p:sp>
        <p:nvSpPr>
          <p:cNvPr id="15" name="Shape 13"/>
          <p:cNvSpPr/>
          <p:nvPr/>
        </p:nvSpPr>
        <p:spPr>
          <a:xfrm>
            <a:off x="10231831" y="3569208"/>
            <a:ext cx="954024" cy="954024"/>
          </a:xfrm>
          <a:prstGeom prst="roundRect">
            <a:avLst>
              <a:gd name="adj" fmla="val 11502"/>
            </a:avLst>
          </a:prstGeom>
          <a:solidFill>
            <a:srgbClr val="101B45"/>
          </a:solidFill>
          <a:ln/>
        </p:spPr>
      </p:sp>
      <p:sp>
        <p:nvSpPr>
          <p:cNvPr id="16" name="Text 14"/>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17" name="Text 15"/>
          <p:cNvSpPr/>
          <p:nvPr/>
        </p:nvSpPr>
        <p:spPr>
          <a:xfrm>
            <a:off x="1097280" y="3432048"/>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الأحمر مطفأ تمامًا</a:t>
            </a:r>
            <a:endParaRPr lang="ar-SA" sz="2500" dirty="0"/>
          </a:p>
        </p:txBody>
      </p:sp>
      <p:sp>
        <p:nvSpPr>
          <p:cNvPr id="18" name="anim-g1-959"/>
          <p:cNvSpPr/>
          <p:nvPr/>
        </p:nvSpPr>
        <p:spPr>
          <a:xfrm>
            <a:off x="822960" y="3432048"/>
            <a:ext cx="10545775" cy="1228344"/>
          </a:xfrm>
          <a:prstGeom prst="roundRect">
            <a:avLst>
              <a:gd name="adj" fmla="val 11911"/>
            </a:avLst>
          </a:prstGeom>
          <a:solidFill>
            <a:srgbClr val="F7F7F9"/>
          </a:solidFill>
          <a:ln w="19050">
            <a:solidFill>
              <a:srgbClr val="E4DCC8"/>
            </a:solidFill>
            <a:prstDash val="solid"/>
          </a:ln>
        </p:spPr>
      </p:sp>
      <p:sp>
        <p:nvSpPr>
          <p:cNvPr id="19" name="anim-g1-960"/>
          <p:cNvSpPr/>
          <p:nvPr/>
        </p:nvSpPr>
        <p:spPr>
          <a:xfrm>
            <a:off x="10231831" y="3569208"/>
            <a:ext cx="954024" cy="954024"/>
          </a:xfrm>
          <a:prstGeom prst="roundRect">
            <a:avLst>
              <a:gd name="adj" fmla="val 11502"/>
            </a:avLst>
          </a:prstGeom>
          <a:solidFill>
            <a:srgbClr val="A3A9BA"/>
          </a:solidFill>
          <a:ln/>
        </p:spPr>
      </p:sp>
      <p:sp>
        <p:nvSpPr>
          <p:cNvPr id="20" name="anim-g1-961"/>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21" name="anim-g1-962"/>
          <p:cNvSpPr/>
          <p:nvPr/>
        </p:nvSpPr>
        <p:spPr>
          <a:xfrm>
            <a:off x="1097280" y="3468624"/>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الأحمر مطفأ تمامًا</a:t>
            </a:r>
            <a:endParaRPr lang="ar-SA" sz="2400" dirty="0"/>
          </a:p>
        </p:txBody>
      </p:sp>
      <p:sp>
        <p:nvSpPr>
          <p:cNvPr id="22" name="anim-g1-963"/>
          <p:cNvSpPr/>
          <p:nvPr/>
        </p:nvSpPr>
        <p:spPr>
          <a:xfrm>
            <a:off x="1097280" y="4095354"/>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هذا يحدث مع القيمة 255 في المصعد المشترك</a:t>
            </a:r>
            <a:endParaRPr lang="ar-SA" sz="1800" dirty="0"/>
          </a:p>
        </p:txBody>
      </p:sp>
      <p:sp>
        <p:nvSpPr>
          <p:cNvPr id="23" name="Shape 21"/>
          <p:cNvSpPr/>
          <p:nvPr/>
        </p:nvSpPr>
        <p:spPr>
          <a:xfrm>
            <a:off x="822960" y="4806696"/>
            <a:ext cx="10545775" cy="1228344"/>
          </a:xfrm>
          <a:prstGeom prst="roundRect">
            <a:avLst>
              <a:gd name="adj" fmla="val 11911"/>
            </a:avLst>
          </a:prstGeom>
          <a:solidFill>
            <a:srgbClr val="FFFFFF"/>
          </a:solidFill>
          <a:ln w="19050">
            <a:solidFill>
              <a:srgbClr val="E4DCC8"/>
            </a:solidFill>
            <a:prstDash val="solid"/>
          </a:ln>
        </p:spPr>
      </p:sp>
      <p:sp>
        <p:nvSpPr>
          <p:cNvPr id="24" name="Shape 22"/>
          <p:cNvSpPr/>
          <p:nvPr/>
        </p:nvSpPr>
        <p:spPr>
          <a:xfrm>
            <a:off x="10231831" y="4943856"/>
            <a:ext cx="954024" cy="954024"/>
          </a:xfrm>
          <a:prstGeom prst="roundRect">
            <a:avLst>
              <a:gd name="adj" fmla="val 11502"/>
            </a:avLst>
          </a:prstGeom>
          <a:solidFill>
            <a:srgbClr val="101B45"/>
          </a:solidFill>
          <a:ln/>
        </p:spPr>
      </p:sp>
      <p:sp>
        <p:nvSpPr>
          <p:cNvPr id="25" name="Text 23"/>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26" name="Text 24"/>
          <p:cNvSpPr/>
          <p:nvPr/>
        </p:nvSpPr>
        <p:spPr>
          <a:xfrm>
            <a:off x="1097280" y="4806696"/>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نصف إضاءة</a:t>
            </a:r>
            <a:endParaRPr lang="ar-SA" sz="2500" dirty="0"/>
          </a:p>
        </p:txBody>
      </p:sp>
      <p:sp>
        <p:nvSpPr>
          <p:cNvPr id="27" name="anim-g1-964"/>
          <p:cNvSpPr/>
          <p:nvPr/>
        </p:nvSpPr>
        <p:spPr>
          <a:xfrm>
            <a:off x="822960" y="4806696"/>
            <a:ext cx="10545775" cy="1228344"/>
          </a:xfrm>
          <a:prstGeom prst="roundRect">
            <a:avLst>
              <a:gd name="adj" fmla="val 11911"/>
            </a:avLst>
          </a:prstGeom>
          <a:solidFill>
            <a:srgbClr val="F7F7F9"/>
          </a:solidFill>
          <a:ln w="19050">
            <a:solidFill>
              <a:srgbClr val="E4DCC8"/>
            </a:solidFill>
            <a:prstDash val="solid"/>
          </a:ln>
        </p:spPr>
      </p:sp>
      <p:sp>
        <p:nvSpPr>
          <p:cNvPr id="28" name="anim-g1-965"/>
          <p:cNvSpPr/>
          <p:nvPr/>
        </p:nvSpPr>
        <p:spPr>
          <a:xfrm>
            <a:off x="10231831" y="4943856"/>
            <a:ext cx="954024" cy="954024"/>
          </a:xfrm>
          <a:prstGeom prst="roundRect">
            <a:avLst>
              <a:gd name="adj" fmla="val 11502"/>
            </a:avLst>
          </a:prstGeom>
          <a:solidFill>
            <a:srgbClr val="A3A9BA"/>
          </a:solidFill>
          <a:ln/>
        </p:spPr>
      </p:sp>
      <p:sp>
        <p:nvSpPr>
          <p:cNvPr id="29" name="anim-g1-966"/>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30" name="anim-g1-967"/>
          <p:cNvSpPr/>
          <p:nvPr/>
        </p:nvSpPr>
        <p:spPr>
          <a:xfrm>
            <a:off x="1097280" y="4843272"/>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نصف إضاءة</a:t>
            </a:r>
            <a:endParaRPr lang="ar-SA" sz="2400" dirty="0"/>
          </a:p>
        </p:txBody>
      </p:sp>
      <p:sp>
        <p:nvSpPr>
          <p:cNvPr id="31" name="anim-g1-968"/>
          <p:cNvSpPr/>
          <p:nvPr/>
        </p:nvSpPr>
        <p:spPr>
          <a:xfrm>
            <a:off x="1097280" y="5470002"/>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نصف الإضاءة حوالي 128 في النوعين</a:t>
            </a:r>
            <a:endParaRPr lang="ar-SA" sz="1800" dirty="0"/>
          </a:p>
        </p:txBody>
      </p:sp>
      <p:sp>
        <p:nvSpPr>
          <p:cNvPr id="32" name="Text 30"/>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الأردوينو للمعلمين</a:t>
            </a:r>
            <a:endParaRPr lang="ar-SA" sz="1200" dirty="0"/>
          </a:p>
        </p:txBody>
      </p:sp>
      <p:sp>
        <p:nvSpPr>
          <p:cNvPr id="33" name="Text 31"/>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PWM والألوان  ·  ١٣٢</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00"/>
                                        <p:tgtEl>
                                          <p:spTgt spid="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00"/>
                                        <p:tgtEl>
                                          <p:spTgt spid="2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400"/>
                                        <p:tgtEl>
                                          <p:spTgt spid="2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400"/>
                                        <p:tgtEl>
                                          <p:spTgt spid="3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fade">
                                      <p:cBhvr>
                                        <p:cTn id="4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8" grpId="0" animBg="1"/>
      <p:bldP spid="19" grpId="0" animBg="1"/>
      <p:bldP spid="20" grpId="0" animBg="1"/>
      <p:bldP spid="21" grpId="0" animBg="1"/>
      <p:bldP spid="22" grpId="0" animBg="1"/>
      <p:bldP spid="27" grpId="0" animBg="1"/>
      <p:bldP spid="28" grpId="0" animBg="1"/>
      <p:bldP spid="29" grpId="0" animBg="1"/>
      <p:bldP spid="30" grpId="0" animBg="1"/>
      <p:bldP spid="31" grpId="0" animBg="1"/>
    </p:bldLst>
  </p:timing>
</p:sld>
</file>

<file path=ppt/slides/slide133.xml><?xml version="1.0" encoding="utf-8"?>
<p:sld xmlns:a="http://schemas.openxmlformats.org/drawingml/2006/main" xmlns:r="http://schemas.openxmlformats.org/officeDocument/2006/relationships" xmlns:p="http://schemas.openxmlformats.org/presentationml/2006/main">
  <p:cSld name="Slide 133">
    <p:spTree>
      <p:nvGrpSpPr>
        <p:cNvPr id="1" name=""/>
        <p:cNvGrpSpPr/>
        <p:nvPr/>
      </p:nvGrpSpPr>
      <p:grpSpPr>
        <a:xfrm>
          <a:off x="0" y="0"/>
          <a:ext cx="0" cy="0"/>
          <a:chOff x="0" y="0"/>
          <a:chExt cx="0" cy="0"/>
        </a:xfrm>
      </p:grpSpPr>
      <p:pic>
        <p:nvPicPr>
          <p:cNvPr id="2" name="Image 0" descr="/Users/mac/Desktop/أردوينو/المشاريع والكتب/younes-training/arduino/.pptx-cache/s13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34">
    <p:spTree>
      <p:nvGrpSpPr>
        <p:cNvPr id="1" name=""/>
        <p:cNvGrpSpPr/>
        <p:nvPr/>
      </p:nvGrpSpPr>
      <p:grpSpPr>
        <a:xfrm>
          <a:off x="0" y="0"/>
          <a:ext cx="0" cy="0"/>
          <a:chOff x="0" y="0"/>
          <a:chExt cx="0" cy="0"/>
        </a:xfrm>
      </p:grpSpPr>
      <p:pic>
        <p:nvPicPr>
          <p:cNvPr id="2" name="Image 0" descr="/Users/mac/Desktop/أردوينو/المشاريع والكتب/younes-training/arduino/.pptx-cache/s13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3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852264" y="1188720"/>
            <a:ext cx="2487168"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852264" y="118872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خلاصة المحور</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مفتاح يُشعل ويُطفئ بسرعة…</a:t>
            </a:r>
            <a:endParaRPr lang="ar-SA" sz="4400" dirty="0"/>
          </a:p>
          <a:p>
            <a:pPr algn="ctr" indent="0" marL="0">
              <a:lnSpc>
                <a:spcPct val="115000"/>
              </a:lnSpc>
              <a:buNone/>
            </a:pPr>
            <a:r>
              <a:rPr lang="ar-SA" altLang="en-US" sz="4400" dirty="0">
                <a:solidFill>
                  <a:srgbClr val="F0CC7A"/>
                </a:solidFill>
                <a:latin typeface="Cairo Black" pitchFamily="34" charset="0"/>
                <a:ea typeface="Cairo Black" pitchFamily="34" charset="-122"/>
                <a:cs typeface="Cairo Black" pitchFamily="34" charset="-120"/>
              </a:rPr>
              <a:t> صنع لنا الضوء المتدرج وملايين الألوان</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الأردوينو للمعلمين</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PWM والألوان  ·  ١٣٥</a:t>
            </a:r>
            <a:endParaRPr lang="ar-SA" sz="1200" dirty="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3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97280" y="2103120"/>
            <a:ext cx="2651760" cy="2651760"/>
          </a:xfrm>
          <a:prstGeom prst="ellipse">
            <a:avLst/>
          </a:prstGeom>
          <a:solidFill>
            <a:srgbClr val="D9AE4B">
              <a:alpha val="12000"/>
            </a:srgbClr>
          </a:solidFill>
          <a:ln w="63500">
            <a:solidFill>
              <a:srgbClr val="D9AE4B">
                <a:alpha val="60000"/>
              </a:srgbClr>
            </a:solidFill>
            <a:prstDash val="solid"/>
          </a:ln>
        </p:spPr>
      </p:sp>
      <p:sp>
        <p:nvSpPr>
          <p:cNvPr id="3" name="Text 1"/>
          <p:cNvSpPr/>
          <p:nvPr/>
        </p:nvSpPr>
        <p:spPr>
          <a:xfrm>
            <a:off x="1097280" y="2103120"/>
            <a:ext cx="2651760" cy="2651760"/>
          </a:xfrm>
          <a:prstGeom prst="rect">
            <a:avLst/>
          </a:prstGeom>
          <a:noFill/>
          <a:ln/>
        </p:spPr>
        <p:txBody>
          <a:bodyPr wrap="square" lIns="0" tIns="0" rIns="0" bIns="0" rtlCol="0" anchor="ctr">
            <a:normAutofit/>
          </a:bodyPr>
          <a:lstStyle/>
          <a:p>
            <a:pPr rtl="1" algn="ctr" indent="0" marL="0">
              <a:buNone/>
            </a:pPr>
            <a:r>
              <a:rPr lang="ar-SA" altLang="en-US" sz="12000" dirty="0">
                <a:solidFill>
                  <a:srgbClr val="F0CC7A"/>
                </a:solidFill>
                <a:latin typeface="Cairo Black" pitchFamily="34" charset="0"/>
                <a:ea typeface="Cairo Black" pitchFamily="34" charset="-122"/>
                <a:cs typeface="Cairo Black" pitchFamily="34" charset="-120"/>
              </a:rPr>
              <a:t>١٠</a:t>
            </a:r>
            <a:endParaRPr lang="ar-SA" sz="12000" dirty="0"/>
          </a:p>
        </p:txBody>
      </p:sp>
      <p:sp>
        <p:nvSpPr>
          <p:cNvPr id="4" name="Text 2"/>
          <p:cNvSpPr/>
          <p:nvPr/>
        </p:nvSpPr>
        <p:spPr>
          <a:xfrm>
            <a:off x="4206240" y="1828800"/>
            <a:ext cx="7162495" cy="457200"/>
          </a:xfrm>
          <a:prstGeom prst="rect">
            <a:avLst/>
          </a:prstGeom>
          <a:noFill/>
          <a:ln/>
        </p:spPr>
        <p:txBody>
          <a:bodyPr wrap="square" lIns="0" tIns="0" rIns="0" bIns="0" rtlCol="0" anchor="ctr">
            <a:normAutofit/>
          </a:bodyPr>
          <a:lstStyle/>
          <a:p>
            <a:pPr rtl="1" algn="r" indent="0" marL="0">
              <a:buNone/>
            </a:pPr>
            <a:r>
              <a:rPr lang="ar-SA" altLang="en-US" sz="2000" b="1" dirty="0">
                <a:solidFill>
                  <a:srgbClr val="D9AE4B"/>
                </a:solidFill>
                <a:latin typeface="Cairo" pitchFamily="34" charset="0"/>
                <a:ea typeface="Cairo" pitchFamily="34" charset="-122"/>
                <a:cs typeface="Cairo" pitchFamily="34" charset="-120"/>
              </a:rPr>
              <a:t>المحور ١٠</a:t>
            </a:r>
            <a:endParaRPr lang="ar-SA" sz="2000" dirty="0"/>
          </a:p>
        </p:txBody>
      </p:sp>
      <p:sp>
        <p:nvSpPr>
          <p:cNvPr id="5" name="Text 3"/>
          <p:cNvSpPr/>
          <p:nvPr/>
        </p:nvSpPr>
        <p:spPr>
          <a:xfrm>
            <a:off x="4206240" y="2286000"/>
            <a:ext cx="7162495" cy="1371600"/>
          </a:xfrm>
          <a:prstGeom prst="rect">
            <a:avLst/>
          </a:prstGeom>
          <a:noFill/>
          <a:ln/>
        </p:spPr>
        <p:txBody>
          <a:bodyPr wrap="square" lIns="0" tIns="0" rIns="0" bIns="0" rtlCol="0" anchor="ctr">
            <a:normAutofit/>
          </a:bodyPr>
          <a:lstStyle/>
          <a:p>
            <a:pPr rtl="1" algn="r" indent="0" marL="0">
              <a:buNone/>
            </a:pPr>
            <a:r>
              <a:rPr lang="ar-SA" altLang="en-US" sz="5600" dirty="0">
                <a:solidFill>
                  <a:srgbClr val="FFFFFF"/>
                </a:solidFill>
                <a:latin typeface="Cairo Black" pitchFamily="34" charset="0"/>
                <a:ea typeface="Cairo Black" pitchFamily="34" charset="-122"/>
                <a:cs typeface="Cairo Black" pitchFamily="34" charset="-120"/>
              </a:rPr>
              <a:t>الأزرار وقراءة المدخلات</a:t>
            </a:r>
            <a:endParaRPr lang="ar-SA" sz="5600" dirty="0"/>
          </a:p>
        </p:txBody>
      </p:sp>
      <p:sp>
        <p:nvSpPr>
          <p:cNvPr id="6" name="Text 4"/>
          <p:cNvSpPr/>
          <p:nvPr/>
        </p:nvSpPr>
        <p:spPr>
          <a:xfrm>
            <a:off x="4206240" y="3749040"/>
            <a:ext cx="7162495" cy="822960"/>
          </a:xfrm>
          <a:prstGeom prst="rect">
            <a:avLst/>
          </a:prstGeom>
          <a:noFill/>
          <a:ln/>
        </p:spPr>
        <p:txBody>
          <a:bodyPr wrap="square" lIns="0" tIns="0" rIns="0" bIns="0" rtlCol="0" anchor="ctr">
            <a:normAutofit/>
          </a:bodyPr>
          <a:lstStyle/>
          <a:p>
            <a:pPr rtl="1" algn="r" indent="0" marL="0">
              <a:buNone/>
            </a:pPr>
            <a:r>
              <a:rPr lang="ar-SA" altLang="en-US" sz="2200" b="1" dirty="0">
                <a:solidFill>
                  <a:srgbClr val="C9CFE6"/>
                </a:solidFill>
                <a:latin typeface="Cairo" pitchFamily="34" charset="0"/>
                <a:ea typeface="Cairo" pitchFamily="34" charset="-122"/>
                <a:cs typeface="Cairo" pitchFamily="34" charset="-120"/>
              </a:rPr>
              <a:t>حتى الآن الأردوينو يتكلم… والآن سيسمع</a:t>
            </a:r>
            <a:endParaRPr lang="ar-SA" sz="2200" dirty="0"/>
          </a:p>
        </p:txBody>
      </p:sp>
      <p:sp>
        <p:nvSpPr>
          <p:cNvPr id="7" name="Text 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الأردوينو للمعلمين</a:t>
            </a:r>
            <a:endParaRPr lang="ar-SA" sz="1200" dirty="0"/>
          </a:p>
        </p:txBody>
      </p:sp>
      <p:sp>
        <p:nvSpPr>
          <p:cNvPr id="8" name="Text 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الأزرار والمدخلات  ·  ١٣٦</a:t>
            </a:r>
            <a:endParaRPr lang="ar-SA" sz="1200" dirty="0"/>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3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248095" y="457200"/>
            <a:ext cx="5120640" cy="457200"/>
          </a:xfrm>
          <a:prstGeom prst="roundRect">
            <a:avLst>
              <a:gd name="adj" fmla="val 50000"/>
            </a:avLst>
          </a:prstGeom>
          <a:solidFill>
            <a:srgbClr val="F6EBCF"/>
          </a:solidFill>
          <a:ln/>
        </p:spPr>
      </p:sp>
      <p:sp>
        <p:nvSpPr>
          <p:cNvPr id="3" name="Text 1"/>
          <p:cNvSpPr/>
          <p:nvPr/>
        </p:nvSpPr>
        <p:spPr>
          <a:xfrm>
            <a:off x="6248095" y="457200"/>
            <a:ext cx="512064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بنهاية هذا المحور تستطيع أن</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أهداف المحور</a:t>
            </a:r>
            <a:endParaRPr lang="ar-SA" sz="3800" dirty="0"/>
          </a:p>
        </p:txBody>
      </p:sp>
      <p:sp>
        <p:nvSpPr>
          <p:cNvPr id="5" name="anim-g1-969"/>
          <p:cNvSpPr/>
          <p:nvPr/>
        </p:nvSpPr>
        <p:spPr>
          <a:xfrm>
            <a:off x="822960" y="1920240"/>
            <a:ext cx="10545775" cy="946404"/>
          </a:xfrm>
          <a:prstGeom prst="roundRect">
            <a:avLst>
              <a:gd name="adj" fmla="val 15459"/>
            </a:avLst>
          </a:prstGeom>
          <a:solidFill>
            <a:srgbClr val="FFFFFF"/>
          </a:solidFill>
          <a:ln w="12700">
            <a:solidFill>
              <a:srgbClr val="E4DCC8"/>
            </a:solidFill>
            <a:prstDash val="solid"/>
          </a:ln>
        </p:spPr>
      </p:sp>
      <p:sp>
        <p:nvSpPr>
          <p:cNvPr id="6" name="anim-g1-970"/>
          <p:cNvSpPr/>
          <p:nvPr/>
        </p:nvSpPr>
        <p:spPr>
          <a:xfrm>
            <a:off x="10573207" y="2109978"/>
            <a:ext cx="566928" cy="566928"/>
          </a:xfrm>
          <a:prstGeom prst="ellipse">
            <a:avLst/>
          </a:prstGeom>
          <a:solidFill>
            <a:srgbClr val="D9AE4B"/>
          </a:solidFill>
          <a:ln/>
        </p:spPr>
      </p:sp>
      <p:sp>
        <p:nvSpPr>
          <p:cNvPr id="7" name="anim-g1-971"/>
          <p:cNvSpPr/>
          <p:nvPr/>
        </p:nvSpPr>
        <p:spPr>
          <a:xfrm>
            <a:off x="10573207" y="2109978"/>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١</a:t>
            </a:r>
            <a:endParaRPr lang="ar-SA" sz="2000" dirty="0"/>
          </a:p>
        </p:txBody>
      </p:sp>
      <p:sp>
        <p:nvSpPr>
          <p:cNvPr id="8" name="anim-g1-972"/>
          <p:cNvSpPr/>
          <p:nvPr/>
        </p:nvSpPr>
        <p:spPr>
          <a:xfrm>
            <a:off x="1097280" y="1920240"/>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تقرأ حالة زر بالأمر digitalRead</a:t>
            </a:r>
            <a:endParaRPr lang="ar-SA" sz="2400" dirty="0"/>
          </a:p>
        </p:txBody>
      </p:sp>
      <p:sp>
        <p:nvSpPr>
          <p:cNvPr id="9" name="anim-g2-973"/>
          <p:cNvSpPr/>
          <p:nvPr/>
        </p:nvSpPr>
        <p:spPr>
          <a:xfrm>
            <a:off x="822960" y="2976372"/>
            <a:ext cx="10545775" cy="946404"/>
          </a:xfrm>
          <a:prstGeom prst="roundRect">
            <a:avLst>
              <a:gd name="adj" fmla="val 15459"/>
            </a:avLst>
          </a:prstGeom>
          <a:solidFill>
            <a:srgbClr val="FFFFFF"/>
          </a:solidFill>
          <a:ln w="12700">
            <a:solidFill>
              <a:srgbClr val="E4DCC8"/>
            </a:solidFill>
            <a:prstDash val="solid"/>
          </a:ln>
        </p:spPr>
      </p:sp>
      <p:sp>
        <p:nvSpPr>
          <p:cNvPr id="10" name="anim-g2-974"/>
          <p:cNvSpPr/>
          <p:nvPr/>
        </p:nvSpPr>
        <p:spPr>
          <a:xfrm>
            <a:off x="10573207" y="3166110"/>
            <a:ext cx="566928" cy="566928"/>
          </a:xfrm>
          <a:prstGeom prst="ellipse">
            <a:avLst/>
          </a:prstGeom>
          <a:solidFill>
            <a:srgbClr val="D9AE4B"/>
          </a:solidFill>
          <a:ln/>
        </p:spPr>
      </p:sp>
      <p:sp>
        <p:nvSpPr>
          <p:cNvPr id="11" name="anim-g2-975"/>
          <p:cNvSpPr/>
          <p:nvPr/>
        </p:nvSpPr>
        <p:spPr>
          <a:xfrm>
            <a:off x="10573207" y="3166110"/>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٢</a:t>
            </a:r>
            <a:endParaRPr lang="ar-SA" sz="2000" dirty="0"/>
          </a:p>
        </p:txBody>
      </p:sp>
      <p:sp>
        <p:nvSpPr>
          <p:cNvPr id="12" name="anim-g2-976"/>
          <p:cNvSpPr/>
          <p:nvPr/>
        </p:nvSpPr>
        <p:spPr>
          <a:xfrm>
            <a:off x="1097280" y="2976372"/>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تشرح مشكلة «المدخل العائم» وسببها</a:t>
            </a:r>
            <a:endParaRPr lang="ar-SA" sz="2400" dirty="0"/>
          </a:p>
        </p:txBody>
      </p:sp>
      <p:sp>
        <p:nvSpPr>
          <p:cNvPr id="13" name="anim-g3-977"/>
          <p:cNvSpPr/>
          <p:nvPr/>
        </p:nvSpPr>
        <p:spPr>
          <a:xfrm>
            <a:off x="822960" y="4032504"/>
            <a:ext cx="10545775" cy="946404"/>
          </a:xfrm>
          <a:prstGeom prst="roundRect">
            <a:avLst>
              <a:gd name="adj" fmla="val 15459"/>
            </a:avLst>
          </a:prstGeom>
          <a:solidFill>
            <a:srgbClr val="FFFFFF"/>
          </a:solidFill>
          <a:ln w="12700">
            <a:solidFill>
              <a:srgbClr val="E4DCC8"/>
            </a:solidFill>
            <a:prstDash val="solid"/>
          </a:ln>
        </p:spPr>
      </p:sp>
      <p:sp>
        <p:nvSpPr>
          <p:cNvPr id="14" name="anim-g3-978"/>
          <p:cNvSpPr/>
          <p:nvPr/>
        </p:nvSpPr>
        <p:spPr>
          <a:xfrm>
            <a:off x="10573207" y="4222242"/>
            <a:ext cx="566928" cy="566928"/>
          </a:xfrm>
          <a:prstGeom prst="ellipse">
            <a:avLst/>
          </a:prstGeom>
          <a:solidFill>
            <a:srgbClr val="D9AE4B"/>
          </a:solidFill>
          <a:ln/>
        </p:spPr>
      </p:sp>
      <p:sp>
        <p:nvSpPr>
          <p:cNvPr id="15" name="anim-g3-979"/>
          <p:cNvSpPr/>
          <p:nvPr/>
        </p:nvSpPr>
        <p:spPr>
          <a:xfrm>
            <a:off x="10573207" y="4222242"/>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٣</a:t>
            </a:r>
            <a:endParaRPr lang="ar-SA" sz="2000" dirty="0"/>
          </a:p>
        </p:txBody>
      </p:sp>
      <p:sp>
        <p:nvSpPr>
          <p:cNvPr id="16" name="anim-g3-980"/>
          <p:cNvSpPr/>
          <p:nvPr/>
        </p:nvSpPr>
        <p:spPr>
          <a:xfrm>
            <a:off x="1097280" y="4032504"/>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تحلّها بمقاومة السحب للأسفل أو للأعلى</a:t>
            </a:r>
            <a:endParaRPr lang="ar-SA" sz="2400" dirty="0"/>
          </a:p>
        </p:txBody>
      </p:sp>
      <p:sp>
        <p:nvSpPr>
          <p:cNvPr id="17" name="anim-g4-981"/>
          <p:cNvSpPr/>
          <p:nvPr/>
        </p:nvSpPr>
        <p:spPr>
          <a:xfrm>
            <a:off x="822960" y="5088636"/>
            <a:ext cx="10545775" cy="946404"/>
          </a:xfrm>
          <a:prstGeom prst="roundRect">
            <a:avLst>
              <a:gd name="adj" fmla="val 15459"/>
            </a:avLst>
          </a:prstGeom>
          <a:solidFill>
            <a:srgbClr val="FFFFFF"/>
          </a:solidFill>
          <a:ln w="12700">
            <a:solidFill>
              <a:srgbClr val="E4DCC8"/>
            </a:solidFill>
            <a:prstDash val="solid"/>
          </a:ln>
        </p:spPr>
      </p:sp>
      <p:sp>
        <p:nvSpPr>
          <p:cNvPr id="18" name="anim-g4-982"/>
          <p:cNvSpPr/>
          <p:nvPr/>
        </p:nvSpPr>
        <p:spPr>
          <a:xfrm>
            <a:off x="10573207" y="5278374"/>
            <a:ext cx="566928" cy="566928"/>
          </a:xfrm>
          <a:prstGeom prst="ellipse">
            <a:avLst/>
          </a:prstGeom>
          <a:solidFill>
            <a:srgbClr val="D9AE4B"/>
          </a:solidFill>
          <a:ln/>
        </p:spPr>
      </p:sp>
      <p:sp>
        <p:nvSpPr>
          <p:cNvPr id="19" name="anim-g4-983"/>
          <p:cNvSpPr/>
          <p:nvPr/>
        </p:nvSpPr>
        <p:spPr>
          <a:xfrm>
            <a:off x="10573207" y="5278374"/>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٤</a:t>
            </a:r>
            <a:endParaRPr lang="ar-SA" sz="2000" dirty="0"/>
          </a:p>
        </p:txBody>
      </p:sp>
      <p:sp>
        <p:nvSpPr>
          <p:cNvPr id="20" name="anim-g4-984"/>
          <p:cNvSpPr/>
          <p:nvPr/>
        </p:nvSpPr>
        <p:spPr>
          <a:xfrm>
            <a:off x="1097280" y="5088636"/>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تتخذ قرارًا في الكود بالجملة if</a:t>
            </a:r>
            <a:endParaRPr lang="ar-SA" sz="2400" dirty="0"/>
          </a:p>
        </p:txBody>
      </p:sp>
      <p:sp>
        <p:nvSpPr>
          <p:cNvPr id="21" name="Text 19"/>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الأردوينو للمعلمين</a:t>
            </a:r>
            <a:endParaRPr lang="ar-SA" sz="1200" dirty="0"/>
          </a:p>
        </p:txBody>
      </p:sp>
      <p:sp>
        <p:nvSpPr>
          <p:cNvPr id="22" name="Text 20"/>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الأزرار والمدخلات  ·  ١٣٧</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138.xml><?xml version="1.0" encoding="utf-8"?>
<p:sld xmlns:a="http://schemas.openxmlformats.org/drawingml/2006/main" xmlns:r="http://schemas.openxmlformats.org/officeDocument/2006/relationships" xmlns:p="http://schemas.openxmlformats.org/presentationml/2006/main">
  <p:cSld name="Slide 138">
    <p:spTree>
      <p:nvGrpSpPr>
        <p:cNvPr id="1" name=""/>
        <p:cNvGrpSpPr/>
        <p:nvPr/>
      </p:nvGrpSpPr>
      <p:grpSpPr>
        <a:xfrm>
          <a:off x="0" y="0"/>
          <a:ext cx="0" cy="0"/>
          <a:chOff x="0" y="0"/>
          <a:chExt cx="0" cy="0"/>
        </a:xfrm>
      </p:grpSpPr>
      <p:pic>
        <p:nvPicPr>
          <p:cNvPr id="2" name="Image 0" descr="/Users/mac/Desktop/أردوينو/المشاريع والكتب/younes-training/arduino/.pptx-cache/s138-0.jpg">    </p:cNvPr>
          <p:cNvPicPr>
            <a:picLocks noChangeAspect="1"/>
          </p:cNvPicPr>
          <p:nvPr/>
        </p:nvPicPr>
        <p:blipFill>
          <a:blip r:embed="rId1"/>
          <a:stretch>
            <a:fillRect/>
          </a:stretch>
        </p:blipFill>
        <p:spPr>
          <a:xfrm>
            <a:off x="0" y="0"/>
            <a:ext cx="12191695" cy="6858000"/>
          </a:xfrm>
          <a:prstGeom prst="rect">
            <a:avLst/>
          </a:prstGeom>
        </p:spPr>
      </p:pic>
      <p:pic>
        <p:nvPicPr>
          <p:cNvPr id="3" name="anim-g1-985" descr="/Users/mac/Desktop/أردوينو/المشاريع والكتب/younes-training/arduino/.pptx-cache/s138-1.jpg">    </p:cNvPr>
          <p:cNvPicPr>
            <a:picLocks noChangeAspect="1"/>
          </p:cNvPicPr>
          <p:nvPr/>
        </p:nvPicPr>
        <p:blipFill>
          <a:blip r:embed="rId2"/>
          <a:stretch>
            <a:fillRect/>
          </a:stretch>
        </p:blipFill>
        <p:spPr>
          <a:xfrm>
            <a:off x="0" y="0"/>
            <a:ext cx="12191695" cy="6858000"/>
          </a:xfrm>
          <a:prstGeom prst="rect">
            <a:avLst/>
          </a:prstGeom>
        </p:spPr>
      </p:pic>
      <p:pic>
        <p:nvPicPr>
          <p:cNvPr id="4" name="anim-g2-986" descr="/Users/mac/Desktop/أردوينو/المشاريع والكتب/younes-training/arduino/.pptx-cache/s138-2.jpg">    </p:cNvPr>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9.xml><?xml version="1.0" encoding="utf-8"?>
<p:sld xmlns:a="http://schemas.openxmlformats.org/drawingml/2006/main" xmlns:r="http://schemas.openxmlformats.org/officeDocument/2006/relationships" xmlns:p="http://schemas.openxmlformats.org/presentationml/2006/main">
  <p:cSld name="Slide 13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9174175" y="457200"/>
            <a:ext cx="2194560" cy="457200"/>
          </a:xfrm>
          <a:prstGeom prst="roundRect">
            <a:avLst>
              <a:gd name="adj" fmla="val 50000"/>
            </a:avLst>
          </a:prstGeom>
          <a:solidFill>
            <a:srgbClr val="F6EBCF"/>
          </a:solidFill>
          <a:ln/>
        </p:spPr>
      </p:sp>
      <p:sp>
        <p:nvSpPr>
          <p:cNvPr id="3" name="Text 1"/>
          <p:cNvSpPr/>
          <p:nvPr/>
        </p:nvSpPr>
        <p:spPr>
          <a:xfrm>
            <a:off x="9174175" y="457200"/>
            <a:ext cx="219456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مشكلة خفية</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المدخل العائم وحلّاه</a:t>
            </a:r>
            <a:endParaRPr lang="ar-SA" sz="3800" dirty="0"/>
          </a:p>
        </p:txBody>
      </p:sp>
      <p:sp>
        <p:nvSpPr>
          <p:cNvPr id="5" name="anim-g1-987"/>
          <p:cNvSpPr/>
          <p:nvPr/>
        </p:nvSpPr>
        <p:spPr>
          <a:xfrm>
            <a:off x="8036357" y="2148840"/>
            <a:ext cx="3332378" cy="35661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988"/>
          <p:cNvSpPr/>
          <p:nvPr/>
        </p:nvSpPr>
        <p:spPr>
          <a:xfrm>
            <a:off x="10362895" y="2404872"/>
            <a:ext cx="731520" cy="731520"/>
          </a:xfrm>
          <a:prstGeom prst="roundRect">
            <a:avLst>
              <a:gd name="adj" fmla="val 25000"/>
            </a:avLst>
          </a:prstGeom>
          <a:solidFill>
            <a:srgbClr val="F7E6BC"/>
          </a:solidFill>
          <a:ln/>
        </p:spPr>
      </p:sp>
      <p:sp>
        <p:nvSpPr>
          <p:cNvPr id="7" name="anim-g1-989"/>
          <p:cNvSpPr/>
          <p:nvPr/>
        </p:nvSpPr>
        <p:spPr>
          <a:xfrm>
            <a:off x="10362895"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8" name="anim-g1-990"/>
          <p:cNvSpPr/>
          <p:nvPr/>
        </p:nvSpPr>
        <p:spPr>
          <a:xfrm>
            <a:off x="8310677" y="3246120"/>
            <a:ext cx="2783738"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عائم (Floating)</a:t>
            </a:r>
            <a:endParaRPr lang="ar-SA" sz="2300" dirty="0"/>
          </a:p>
        </p:txBody>
      </p:sp>
      <p:sp>
        <p:nvSpPr>
          <p:cNvPr id="9" name="anim-g1-991"/>
          <p:cNvSpPr/>
          <p:nvPr/>
        </p:nvSpPr>
        <p:spPr>
          <a:xfrm>
            <a:off x="8310677" y="3794760"/>
            <a:ext cx="2783738"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زر موصول مباشرة: حين لا يُضغط، يلتقط المنفذ تشويشًا فيقرأ 0 و1 عشوائيًا</a:t>
            </a:r>
            <a:endParaRPr lang="ar-SA" sz="2100" dirty="0"/>
          </a:p>
        </p:txBody>
      </p:sp>
      <p:sp>
        <p:nvSpPr>
          <p:cNvPr id="10" name="anim-g2-992"/>
          <p:cNvSpPr/>
          <p:nvPr/>
        </p:nvSpPr>
        <p:spPr>
          <a:xfrm>
            <a:off x="4429658" y="2148840"/>
            <a:ext cx="3332378" cy="35661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993"/>
          <p:cNvSpPr/>
          <p:nvPr/>
        </p:nvSpPr>
        <p:spPr>
          <a:xfrm>
            <a:off x="6756197" y="2404872"/>
            <a:ext cx="731520" cy="731520"/>
          </a:xfrm>
          <a:prstGeom prst="roundRect">
            <a:avLst>
              <a:gd name="adj" fmla="val 25000"/>
            </a:avLst>
          </a:prstGeom>
          <a:solidFill>
            <a:srgbClr val="F7E6BC"/>
          </a:solidFill>
          <a:ln/>
        </p:spPr>
      </p:sp>
      <p:sp>
        <p:nvSpPr>
          <p:cNvPr id="12" name="anim-g2-994"/>
          <p:cNvSpPr/>
          <p:nvPr/>
        </p:nvSpPr>
        <p:spPr>
          <a:xfrm>
            <a:off x="6756197"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13" name="anim-g2-995"/>
          <p:cNvSpPr/>
          <p:nvPr/>
        </p:nvSpPr>
        <p:spPr>
          <a:xfrm>
            <a:off x="4703978" y="3246120"/>
            <a:ext cx="2783738"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سحب للأسفل (Pull-down)</a:t>
            </a:r>
            <a:endParaRPr lang="ar-SA" sz="2300" dirty="0"/>
          </a:p>
        </p:txBody>
      </p:sp>
      <p:sp>
        <p:nvSpPr>
          <p:cNvPr id="14" name="anim-g2-996"/>
          <p:cNvSpPr/>
          <p:nvPr/>
        </p:nvSpPr>
        <p:spPr>
          <a:xfrm>
            <a:off x="4703978" y="3794760"/>
            <a:ext cx="2783738"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مقاومة 10kΩ من المنفذ إلى GND: يقرأ 0 دائمًا حتى تضغط</a:t>
            </a:r>
            <a:endParaRPr lang="ar-SA" sz="2100" dirty="0"/>
          </a:p>
        </p:txBody>
      </p:sp>
      <p:sp>
        <p:nvSpPr>
          <p:cNvPr id="15" name="anim-g3-997"/>
          <p:cNvSpPr/>
          <p:nvPr/>
        </p:nvSpPr>
        <p:spPr>
          <a:xfrm>
            <a:off x="822960" y="2148840"/>
            <a:ext cx="3332378" cy="35661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998"/>
          <p:cNvSpPr/>
          <p:nvPr/>
        </p:nvSpPr>
        <p:spPr>
          <a:xfrm>
            <a:off x="3149498" y="2404872"/>
            <a:ext cx="731520" cy="731520"/>
          </a:xfrm>
          <a:prstGeom prst="roundRect">
            <a:avLst>
              <a:gd name="adj" fmla="val 25000"/>
            </a:avLst>
          </a:prstGeom>
          <a:solidFill>
            <a:srgbClr val="F7E6BC"/>
          </a:solidFill>
          <a:ln/>
        </p:spPr>
      </p:sp>
      <p:sp>
        <p:nvSpPr>
          <p:cNvPr id="17" name="anim-g3-999"/>
          <p:cNvSpPr/>
          <p:nvPr/>
        </p:nvSpPr>
        <p:spPr>
          <a:xfrm>
            <a:off x="3149498"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18" name="anim-g3-1000"/>
          <p:cNvSpPr/>
          <p:nvPr/>
        </p:nvSpPr>
        <p:spPr>
          <a:xfrm>
            <a:off x="1097280" y="3246120"/>
            <a:ext cx="2783738"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سحب للأعلى (Pull-up)</a:t>
            </a:r>
            <a:endParaRPr lang="ar-SA" sz="2300" dirty="0"/>
          </a:p>
        </p:txBody>
      </p:sp>
      <p:sp>
        <p:nvSpPr>
          <p:cNvPr id="19" name="anim-g3-1001"/>
          <p:cNvSpPr/>
          <p:nvPr/>
        </p:nvSpPr>
        <p:spPr>
          <a:xfrm>
            <a:off x="1097280" y="3794760"/>
            <a:ext cx="2783738"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مقاومة إلى 5V، أو INPUT_PULLUP الداخلية: يقرأ 1 حتى تضغط</a:t>
            </a:r>
            <a:endParaRPr lang="ar-SA" sz="21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الأردوينو للمعلمين</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الأزرار والمدخلات  ·  ١٣٩</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140.xml><?xml version="1.0" encoding="utf-8"?>
<p:sld xmlns:a="http://schemas.openxmlformats.org/drawingml/2006/main" xmlns:r="http://schemas.openxmlformats.org/officeDocument/2006/relationships" xmlns:p="http://schemas.openxmlformats.org/presentationml/2006/main">
  <p:cSld name="Slide 140">
    <p:spTree>
      <p:nvGrpSpPr>
        <p:cNvPr id="1" name=""/>
        <p:cNvGrpSpPr/>
        <p:nvPr/>
      </p:nvGrpSpPr>
      <p:grpSpPr>
        <a:xfrm>
          <a:off x="0" y="0"/>
          <a:ext cx="0" cy="0"/>
          <a:chOff x="0" y="0"/>
          <a:chExt cx="0" cy="0"/>
        </a:xfrm>
      </p:grpSpPr>
      <p:pic>
        <p:nvPicPr>
          <p:cNvPr id="2" name="Image 0" descr="/Users/mac/Desktop/أردوينو/المشاريع والكتب/younes-training/arduino/.pptx-cache/s14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name="Slide 141">
    <p:spTree>
      <p:nvGrpSpPr>
        <p:cNvPr id="1" name=""/>
        <p:cNvGrpSpPr/>
        <p:nvPr/>
      </p:nvGrpSpPr>
      <p:grpSpPr>
        <a:xfrm>
          <a:off x="0" y="0"/>
          <a:ext cx="0" cy="0"/>
          <a:chOff x="0" y="0"/>
          <a:chExt cx="0" cy="0"/>
        </a:xfrm>
      </p:grpSpPr>
      <p:pic>
        <p:nvPicPr>
          <p:cNvPr id="2" name="Image 0" descr="/Users/mac/Desktop/أردوينو/المشاريع والكتب/younes-training/arduino/.pptx-cache/s141-0.jpg">    </p:cNvPr>
          <p:cNvPicPr>
            <a:picLocks noChangeAspect="1"/>
          </p:cNvPicPr>
          <p:nvPr/>
        </p:nvPicPr>
        <p:blipFill>
          <a:blip r:embed="rId1"/>
          <a:stretch>
            <a:fillRect/>
          </a:stretch>
        </p:blipFill>
        <p:spPr>
          <a:xfrm>
            <a:off x="0" y="0"/>
            <a:ext cx="12191695" cy="6858000"/>
          </a:xfrm>
          <a:prstGeom prst="rect">
            <a:avLst/>
          </a:prstGeom>
        </p:spPr>
      </p:pic>
      <p:pic>
        <p:nvPicPr>
          <p:cNvPr id="3" name="anim-g1-1002" descr="/Users/mac/Desktop/أردوينو/المشاريع والكتب/younes-training/arduino/.pptx-cache/s141-1.jpg">    </p:cNvPr>
          <p:cNvPicPr>
            <a:picLocks noChangeAspect="1"/>
          </p:cNvPicPr>
          <p:nvPr/>
        </p:nvPicPr>
        <p:blipFill>
          <a:blip r:embed="rId2"/>
          <a:stretch>
            <a:fillRect/>
          </a:stretch>
        </p:blipFill>
        <p:spPr>
          <a:xfrm>
            <a:off x="0" y="0"/>
            <a:ext cx="12191695" cy="6858000"/>
          </a:xfrm>
          <a:prstGeom prst="rect">
            <a:avLst/>
          </a:prstGeom>
        </p:spPr>
      </p:pic>
      <p:pic>
        <p:nvPicPr>
          <p:cNvPr id="4" name="anim-g2-1003" descr="/Users/mac/Desktop/أردوينو/المشاريع والكتب/younes-training/arduino/.pptx-cache/s141-2.jpg">    </p:cNvPr>
          <p:cNvPicPr>
            <a:picLocks noChangeAspect="1"/>
          </p:cNvPicPr>
          <p:nvPr/>
        </p:nvPicPr>
        <p:blipFill>
          <a:blip r:embed="rId3"/>
          <a:stretch>
            <a:fillRect/>
          </a:stretch>
        </p:blipFill>
        <p:spPr>
          <a:xfrm>
            <a:off x="0" y="0"/>
            <a:ext cx="12191695" cy="6858000"/>
          </a:xfrm>
          <a:prstGeom prst="rect">
            <a:avLst/>
          </a:prstGeom>
        </p:spPr>
      </p:pic>
      <p:pic>
        <p:nvPicPr>
          <p:cNvPr id="5" name="anim-g3-1004" descr="/Users/mac/Desktop/أردوينو/المشاريع والكتب/younes-training/arduino/.pptx-cache/s141-3.jpg">    </p:cNvPr>
          <p:cNvPicPr>
            <a:picLocks noChangeAspect="1"/>
          </p:cNvPicPr>
          <p:nvPr/>
        </p:nvPicPr>
        <p:blipFill>
          <a:blip r:embed="rId4"/>
          <a:stretch>
            <a:fillRect/>
          </a:stretch>
        </p:blipFill>
        <p:spPr>
          <a:xfrm>
            <a:off x="0" y="0"/>
            <a:ext cx="12191695" cy="6858000"/>
          </a:xfrm>
          <a:prstGeom prst="rect">
            <a:avLst/>
          </a:prstGeom>
        </p:spPr>
      </p:pic>
      <p:pic>
        <p:nvPicPr>
          <p:cNvPr id="6" name="anim-g4-1005" descr="/Users/mac/Desktop/أردوينو/المشاريع والكتب/younes-training/arduino/.pptx-cache/s141-4.jpg">    </p:cNvPr>
          <p:cNvPicPr>
            <a:picLocks noChangeAspect="1"/>
          </p:cNvPicPr>
          <p:nvPr/>
        </p:nvPicPr>
        <p:blipFill>
          <a:blip r:embed="rId5"/>
          <a:stretch>
            <a:fillRect/>
          </a:stretch>
        </p:blipFill>
        <p:spPr>
          <a:xfrm>
            <a:off x="0" y="0"/>
            <a:ext cx="12191695" cy="6858000"/>
          </a:xfrm>
          <a:prstGeom prst="rect">
            <a:avLst/>
          </a:prstGeom>
        </p:spPr>
      </p:pic>
      <p:pic>
        <p:nvPicPr>
          <p:cNvPr id="7" name="anim-g5-1006" descr="/Users/mac/Desktop/أردوينو/المشاريع والكتب/younes-training/arduino/.pptx-cache/s141-5.jpg">    </p:cNvPr>
          <p:cNvPicPr>
            <a:picLocks noChangeAspect="1"/>
          </p:cNvPicPr>
          <p:nvPr/>
        </p:nvPicPr>
        <p:blipFill>
          <a:blip r:embed="rId6"/>
          <a:stretch>
            <a:fillRect/>
          </a:stretch>
        </p:blipFill>
        <p:spPr>
          <a:xfrm>
            <a:off x="0" y="0"/>
            <a:ext cx="12191695" cy="6858000"/>
          </a:xfrm>
          <a:prstGeom prst="rect">
            <a:avLst/>
          </a:prstGeom>
        </p:spPr>
      </p:pic>
      <p:pic>
        <p:nvPicPr>
          <p:cNvPr id="8" name="anim-g6-1007" descr="/Users/mac/Desktop/أردوينو/المشاريع والكتب/younes-training/arduino/.pptx-cache/s141-6.jpg">    </p:cNvPr>
          <p:cNvPicPr>
            <a:picLocks noChangeAspect="1"/>
          </p:cNvPicPr>
          <p:nvPr/>
        </p:nvPicPr>
        <p:blipFill>
          <a:blip r:embed="rId7"/>
          <a:stretch>
            <a:fillRect/>
          </a:stretch>
        </p:blipFill>
        <p:spPr>
          <a:xfrm>
            <a:off x="0" y="0"/>
            <a:ext cx="12191695" cy="6858000"/>
          </a:xfrm>
          <a:prstGeom prst="rect">
            <a:avLst/>
          </a:prstGeom>
        </p:spPr>
      </p:pic>
      <p:pic>
        <p:nvPicPr>
          <p:cNvPr id="9" name="anim-g7-1008" descr="/Users/mac/Desktop/أردوينو/المشاريع والكتب/younes-training/arduino/.pptx-cache/s141-7.jpg">    </p:cNvPr>
          <p:cNvPicPr>
            <a:picLocks noChangeAspect="1"/>
          </p:cNvPicPr>
          <p:nvPr/>
        </p:nvPicPr>
        <p:blipFill>
          <a:blip r:embed="rId8"/>
          <a:stretch>
            <a:fillRect/>
          </a:stretch>
        </p:blipFill>
        <p:spPr>
          <a:xfrm>
            <a:off x="0" y="0"/>
            <a:ext cx="12191695" cy="6858000"/>
          </a:xfrm>
          <a:prstGeom prst="rect">
            <a:avLst/>
          </a:prstGeom>
        </p:spPr>
      </p:pic>
      <p:pic>
        <p:nvPicPr>
          <p:cNvPr id="10" name="anim-g8-1009" descr="/Users/mac/Desktop/أردوينو/المشاريع والكتب/younes-training/arduino/.pptx-cache/s141-8.jpg">    </p:cNvPr>
          <p:cNvPicPr>
            <a:picLocks noChangeAspect="1"/>
          </p:cNvPicPr>
          <p:nvPr/>
        </p:nvPicPr>
        <p:blipFill>
          <a:blip r:embed="rId9"/>
          <a:stretch>
            <a:fillRect/>
          </a:stretch>
        </p:blipFill>
        <p:spPr>
          <a:xfrm>
            <a:off x="0" y="0"/>
            <a:ext cx="12191695" cy="6858000"/>
          </a:xfrm>
          <a:prstGeom prst="rect">
            <a:avLst/>
          </a:prstGeom>
        </p:spPr>
      </p:pic>
      <p:pic>
        <p:nvPicPr>
          <p:cNvPr id="11" name="anim-g9-1010" descr="/Users/mac/Desktop/أردوينو/المشاريع والكتب/younes-training/arduino/.pptx-cache/s141-9.jpg">    </p:cNvPr>
          <p:cNvPicPr>
            <a:picLocks noChangeAspect="1"/>
          </p:cNvPicPr>
          <p:nvPr/>
        </p:nvPicPr>
        <p:blipFill>
          <a:blip r:embed="rId10"/>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4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4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400"/>
                                        <p:tgtEl>
                                          <p:spTgt spid="10"/>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fade">
                                      <p:cBhvr>
                                        <p:cTn id="47"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2.xml><?xml version="1.0" encoding="utf-8"?>
<p:sld xmlns:a="http://schemas.openxmlformats.org/drawingml/2006/main" xmlns:r="http://schemas.openxmlformats.org/officeDocument/2006/relationships" xmlns:p="http://schemas.openxmlformats.org/presentationml/2006/main">
  <p:cSld name="Slide 142">
    <p:spTree>
      <p:nvGrpSpPr>
        <p:cNvPr id="1" name=""/>
        <p:cNvGrpSpPr/>
        <p:nvPr/>
      </p:nvGrpSpPr>
      <p:grpSpPr>
        <a:xfrm>
          <a:off x="0" y="0"/>
          <a:ext cx="0" cy="0"/>
          <a:chOff x="0" y="0"/>
          <a:chExt cx="0" cy="0"/>
        </a:xfrm>
      </p:grpSpPr>
      <p:pic>
        <p:nvPicPr>
          <p:cNvPr id="2" name="Image 0" descr="/Users/mac/Desktop/أردوينو/المشاريع والكتب/younes-training/arduino/.pptx-cache/s142-0.jpg">    </p:cNvPr>
          <p:cNvPicPr>
            <a:picLocks noChangeAspect="1"/>
          </p:cNvPicPr>
          <p:nvPr/>
        </p:nvPicPr>
        <p:blipFill>
          <a:blip r:embed="rId1"/>
          <a:stretch>
            <a:fillRect/>
          </a:stretch>
        </p:blipFill>
        <p:spPr>
          <a:xfrm>
            <a:off x="0" y="0"/>
            <a:ext cx="12191695" cy="6858000"/>
          </a:xfrm>
          <a:prstGeom prst="rect">
            <a:avLst/>
          </a:prstGeom>
        </p:spPr>
      </p:pic>
      <p:pic>
        <p:nvPicPr>
          <p:cNvPr id="3" name="anim-g1-1011" descr="/Users/mac/Desktop/أردوينو/المشاريع والكتب/younes-training/arduino/.pptx-cache/s142-1.jpg">    </p:cNvPr>
          <p:cNvPicPr>
            <a:picLocks noChangeAspect="1"/>
          </p:cNvPicPr>
          <p:nvPr/>
        </p:nvPicPr>
        <p:blipFill>
          <a:blip r:embed="rId2"/>
          <a:stretch>
            <a:fillRect/>
          </a:stretch>
        </p:blipFill>
        <p:spPr>
          <a:xfrm>
            <a:off x="0" y="0"/>
            <a:ext cx="12191695" cy="6858000"/>
          </a:xfrm>
          <a:prstGeom prst="rect">
            <a:avLst/>
          </a:prstGeom>
        </p:spPr>
      </p:pic>
      <p:pic>
        <p:nvPicPr>
          <p:cNvPr id="4" name="anim-g2-1012" descr="/Users/mac/Desktop/أردوينو/المشاريع والكتب/younes-training/arduino/.pptx-cache/s142-2.jpg">    </p:cNvPr>
          <p:cNvPicPr>
            <a:picLocks noChangeAspect="1"/>
          </p:cNvPicPr>
          <p:nvPr/>
        </p:nvPicPr>
        <p:blipFill>
          <a:blip r:embed="rId3"/>
          <a:stretch>
            <a:fillRect/>
          </a:stretch>
        </p:blipFill>
        <p:spPr>
          <a:xfrm>
            <a:off x="0" y="0"/>
            <a:ext cx="12191695" cy="6858000"/>
          </a:xfrm>
          <a:prstGeom prst="rect">
            <a:avLst/>
          </a:prstGeom>
        </p:spPr>
      </p:pic>
      <p:pic>
        <p:nvPicPr>
          <p:cNvPr id="5" name="anim-g3-1013" descr="/Users/mac/Desktop/أردوينو/المشاريع والكتب/younes-training/arduino/.pptx-cache/s142-3.jpg">    </p:cNvPr>
          <p:cNvPicPr>
            <a:picLocks noChangeAspect="1"/>
          </p:cNvPicPr>
          <p:nvPr/>
        </p:nvPicPr>
        <p:blipFill>
          <a:blip r:embed="rId4"/>
          <a:stretch>
            <a:fillRect/>
          </a:stretch>
        </p:blipFill>
        <p:spPr>
          <a:xfrm>
            <a:off x="0" y="0"/>
            <a:ext cx="12191695" cy="6858000"/>
          </a:xfrm>
          <a:prstGeom prst="rect">
            <a:avLst/>
          </a:prstGeom>
        </p:spPr>
      </p:pic>
      <p:pic>
        <p:nvPicPr>
          <p:cNvPr id="6" name="anim-g4-1014" descr="/Users/mac/Desktop/أردوينو/المشاريع والكتب/younes-training/arduino/.pptx-cache/s142-4.jpg">    </p:cNvPr>
          <p:cNvPicPr>
            <a:picLocks noChangeAspect="1"/>
          </p:cNvPicPr>
          <p:nvPr/>
        </p:nvPicPr>
        <p:blipFill>
          <a:blip r:embed="rId5"/>
          <a:stretch>
            <a:fillRect/>
          </a:stretch>
        </p:blipFill>
        <p:spPr>
          <a:xfrm>
            <a:off x="0" y="0"/>
            <a:ext cx="12191695" cy="6858000"/>
          </a:xfrm>
          <a:prstGeom prst="rect">
            <a:avLst/>
          </a:prstGeom>
        </p:spPr>
      </p:pic>
      <p:pic>
        <p:nvPicPr>
          <p:cNvPr id="7" name="anim-g5-1015" descr="/Users/mac/Desktop/أردوينو/المشاريع والكتب/younes-training/arduino/.pptx-cache/s142-5.jpg">    </p:cNvPr>
          <p:cNvPicPr>
            <a:picLocks noChangeAspect="1"/>
          </p:cNvPicPr>
          <p:nvPr/>
        </p:nvPicPr>
        <p:blipFill>
          <a:blip r:embed="rId6"/>
          <a:stretch>
            <a:fillRect/>
          </a:stretch>
        </p:blipFill>
        <p:spPr>
          <a:xfrm>
            <a:off x="0" y="0"/>
            <a:ext cx="12191695" cy="6858000"/>
          </a:xfrm>
          <a:prstGeom prst="rect">
            <a:avLst/>
          </a:prstGeom>
        </p:spPr>
      </p:pic>
      <p:pic>
        <p:nvPicPr>
          <p:cNvPr id="8" name="anim-g6-1016" descr="/Users/mac/Desktop/أردوينو/المشاريع والكتب/younes-training/arduino/.pptx-cache/s142-6.jpg">    </p:cNvPr>
          <p:cNvPicPr>
            <a:picLocks noChangeAspect="1"/>
          </p:cNvPicPr>
          <p:nvPr/>
        </p:nvPicPr>
        <p:blipFill>
          <a:blip r:embed="rId7"/>
          <a:stretch>
            <a:fillRect/>
          </a:stretch>
        </p:blipFill>
        <p:spPr>
          <a:xfrm>
            <a:off x="0" y="0"/>
            <a:ext cx="12191695" cy="6858000"/>
          </a:xfrm>
          <a:prstGeom prst="rect">
            <a:avLst/>
          </a:prstGeom>
        </p:spPr>
      </p:pic>
      <p:pic>
        <p:nvPicPr>
          <p:cNvPr id="9" name="anim-g7-1017" descr="/Users/mac/Desktop/أردوينو/المشاريع والكتب/younes-training/arduino/.pptx-cache/s142-7.jpg">    </p:cNvPr>
          <p:cNvPicPr>
            <a:picLocks noChangeAspect="1"/>
          </p:cNvPicPr>
          <p:nvPr/>
        </p:nvPicPr>
        <p:blipFill>
          <a:blip r:embed="rId8"/>
          <a:stretch>
            <a:fillRect/>
          </a:stretch>
        </p:blipFill>
        <p:spPr>
          <a:xfrm>
            <a:off x="0" y="0"/>
            <a:ext cx="12191695" cy="6858000"/>
          </a:xfrm>
          <a:prstGeom prst="rect">
            <a:avLst/>
          </a:prstGeom>
        </p:spPr>
      </p:pic>
      <p:pic>
        <p:nvPicPr>
          <p:cNvPr id="10" name="anim-g8-1018" descr="/Users/mac/Desktop/أردوينو/المشاريع والكتب/younes-training/arduino/.pptx-cache/s142-8.jpg">    </p:cNvPr>
          <p:cNvPicPr>
            <a:picLocks noChangeAspect="1"/>
          </p:cNvPicPr>
          <p:nvPr/>
        </p:nvPicPr>
        <p:blipFill>
          <a:blip r:embed="rId9"/>
          <a:stretch>
            <a:fillRect/>
          </a:stretch>
        </p:blipFill>
        <p:spPr>
          <a:xfrm>
            <a:off x="0" y="0"/>
            <a:ext cx="12191695" cy="6858000"/>
          </a:xfrm>
          <a:prstGeom prst="rect">
            <a:avLst/>
          </a:prstGeom>
        </p:spPr>
      </p:pic>
      <p:pic>
        <p:nvPicPr>
          <p:cNvPr id="11" name="anim-g9-1019" descr="/Users/mac/Desktop/أردوينو/المشاريع والكتب/younes-training/arduino/.pptx-cache/s142-9.jpg">    </p:cNvPr>
          <p:cNvPicPr>
            <a:picLocks noChangeAspect="1"/>
          </p:cNvPicPr>
          <p:nvPr/>
        </p:nvPicPr>
        <p:blipFill>
          <a:blip r:embed="rId10"/>
          <a:stretch>
            <a:fillRect/>
          </a:stretch>
        </p:blipFill>
        <p:spPr>
          <a:xfrm>
            <a:off x="0" y="0"/>
            <a:ext cx="12191695" cy="6858000"/>
          </a:xfrm>
          <a:prstGeom prst="rect">
            <a:avLst/>
          </a:prstGeom>
        </p:spPr>
      </p:pic>
      <p:pic>
        <p:nvPicPr>
          <p:cNvPr id="12" name="anim-g10-1020" descr="/Users/mac/Desktop/أردوينو/المشاريع والكتب/younes-training/arduino/.pptx-cache/s142-10.jpg">    </p:cNvPr>
          <p:cNvPicPr>
            <a:picLocks noChangeAspect="1"/>
          </p:cNvPicPr>
          <p:nvPr/>
        </p:nvPicPr>
        <p:blipFill>
          <a:blip r:embed="rId11"/>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4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4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400"/>
                                        <p:tgtEl>
                                          <p:spTgt spid="10"/>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fade">
                                      <p:cBhvr>
                                        <p:cTn id="47" dur="400"/>
                                        <p:tgtEl>
                                          <p:spTgt spid="11"/>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2"/>
                                        </p:tgtEl>
                                        <p:attrNameLst>
                                          <p:attrName>style.visibility</p:attrName>
                                        </p:attrNameLst>
                                      </p:cBhvr>
                                      <p:to>
                                        <p:strVal val="visible"/>
                                      </p:to>
                                    </p:set>
                                    <p:animEffect transition="in" filter="fade">
                                      <p:cBhvr>
                                        <p:cTn id="52"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3.xml><?xml version="1.0" encoding="utf-8"?>
<p:sld xmlns:a="http://schemas.openxmlformats.org/drawingml/2006/main" xmlns:r="http://schemas.openxmlformats.org/officeDocument/2006/relationships" xmlns:p="http://schemas.openxmlformats.org/presentationml/2006/main">
  <p:cSld name="Slide 143">
    <p:spTree>
      <p:nvGrpSpPr>
        <p:cNvPr id="1" name=""/>
        <p:cNvGrpSpPr/>
        <p:nvPr/>
      </p:nvGrpSpPr>
      <p:grpSpPr>
        <a:xfrm>
          <a:off x="0" y="0"/>
          <a:ext cx="0" cy="0"/>
          <a:chOff x="0" y="0"/>
          <a:chExt cx="0" cy="0"/>
        </a:xfrm>
      </p:grpSpPr>
      <p:pic>
        <p:nvPicPr>
          <p:cNvPr id="2" name="Image 0" descr="/Users/mac/Desktop/أردوينو/المشاريع والكتب/younes-training/arduino/.pptx-cache/s143-0.jpg">    </p:cNvPr>
          <p:cNvPicPr>
            <a:picLocks noChangeAspect="1"/>
          </p:cNvPicPr>
          <p:nvPr/>
        </p:nvPicPr>
        <p:blipFill>
          <a:blip r:embed="rId1"/>
          <a:stretch>
            <a:fillRect/>
          </a:stretch>
        </p:blipFill>
        <p:spPr>
          <a:xfrm>
            <a:off x="0" y="0"/>
            <a:ext cx="12191695" cy="6858000"/>
          </a:xfrm>
          <a:prstGeom prst="rect">
            <a:avLst/>
          </a:prstGeom>
        </p:spPr>
      </p:pic>
      <p:pic>
        <p:nvPicPr>
          <p:cNvPr id="3" name="anim-g1-1021" descr="/Users/mac/Desktop/أردوينو/المشاريع والكتب/younes-training/arduino/.pptx-cache/s143-1.jpg">    </p:cNvPr>
          <p:cNvPicPr>
            <a:picLocks noChangeAspect="1"/>
          </p:cNvPicPr>
          <p:nvPr/>
        </p:nvPicPr>
        <p:blipFill>
          <a:blip r:embed="rId2"/>
          <a:stretch>
            <a:fillRect/>
          </a:stretch>
        </p:blipFill>
        <p:spPr>
          <a:xfrm>
            <a:off x="0" y="0"/>
            <a:ext cx="12191695" cy="6858000"/>
          </a:xfrm>
          <a:prstGeom prst="rect">
            <a:avLst/>
          </a:prstGeom>
        </p:spPr>
      </p:pic>
      <p:pic>
        <p:nvPicPr>
          <p:cNvPr id="4" name="anim-g2-1022" descr="/Users/mac/Desktop/أردوينو/المشاريع والكتب/younes-training/arduino/.pptx-cache/s143-2.jpg">    </p:cNvPr>
          <p:cNvPicPr>
            <a:picLocks noChangeAspect="1"/>
          </p:cNvPicPr>
          <p:nvPr/>
        </p:nvPicPr>
        <p:blipFill>
          <a:blip r:embed="rId3"/>
          <a:stretch>
            <a:fillRect/>
          </a:stretch>
        </p:blipFill>
        <p:spPr>
          <a:xfrm>
            <a:off x="0" y="0"/>
            <a:ext cx="12191695" cy="6858000"/>
          </a:xfrm>
          <a:prstGeom prst="rect">
            <a:avLst/>
          </a:prstGeom>
        </p:spPr>
      </p:pic>
      <p:pic>
        <p:nvPicPr>
          <p:cNvPr id="5" name="anim-g3-1023" descr="/Users/mac/Desktop/أردوينو/المشاريع والكتب/younes-training/arduino/.pptx-cache/s143-3.jpg">    </p:cNvPr>
          <p:cNvPicPr>
            <a:picLocks noChangeAspect="1"/>
          </p:cNvPicPr>
          <p:nvPr/>
        </p:nvPicPr>
        <p:blipFill>
          <a:blip r:embed="rId4"/>
          <a:stretch>
            <a:fillRect/>
          </a:stretch>
        </p:blipFill>
        <p:spPr>
          <a:xfrm>
            <a:off x="0" y="0"/>
            <a:ext cx="12191695" cy="6858000"/>
          </a:xfrm>
          <a:prstGeom prst="rect">
            <a:avLst/>
          </a:prstGeom>
        </p:spPr>
      </p:pic>
      <p:pic>
        <p:nvPicPr>
          <p:cNvPr id="6" name="anim-g4-1024" descr="/Users/mac/Desktop/أردوينو/المشاريع والكتب/younes-training/arduino/.pptx-cache/s143-4.jpg">    </p:cNvPr>
          <p:cNvPicPr>
            <a:picLocks noChangeAspect="1"/>
          </p:cNvPicPr>
          <p:nvPr/>
        </p:nvPicPr>
        <p:blipFill>
          <a:blip r:embed="rId5"/>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4.xml><?xml version="1.0" encoding="utf-8"?>
<p:sld xmlns:a="http://schemas.openxmlformats.org/drawingml/2006/main" xmlns:r="http://schemas.openxmlformats.org/officeDocument/2006/relationships" xmlns:p="http://schemas.openxmlformats.org/presentationml/2006/main">
  <p:cSld name="Slide 14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81567" y="457200"/>
            <a:ext cx="2487168" cy="457200"/>
          </a:xfrm>
          <a:prstGeom prst="roundRect">
            <a:avLst>
              <a:gd name="adj" fmla="val 50000"/>
            </a:avLst>
          </a:prstGeom>
          <a:solidFill>
            <a:srgbClr val="F6EBCF"/>
          </a:solidFill>
          <a:ln/>
        </p:spPr>
      </p:sp>
      <p:sp>
        <p:nvSpPr>
          <p:cNvPr id="3" name="Text 1"/>
          <p:cNvSpPr/>
          <p:nvPr/>
        </p:nvSpPr>
        <p:spPr>
          <a:xfrm>
            <a:off x="8881567" y="45720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اختبر نفسك</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الشاشة تعرض 0 و1 عشوائيًا والزر غير مضغوط… لماذا؟</a:t>
            </a:r>
            <a:endParaRPr lang="ar-SA" sz="3200" dirty="0"/>
          </a:p>
        </p:txBody>
      </p:sp>
      <p:sp>
        <p:nvSpPr>
          <p:cNvPr id="5" name="Shape 3"/>
          <p:cNvSpPr/>
          <p:nvPr/>
        </p:nvSpPr>
        <p:spPr>
          <a:xfrm>
            <a:off x="822960" y="2057400"/>
            <a:ext cx="10545775" cy="1228344"/>
          </a:xfrm>
          <a:prstGeom prst="roundRect">
            <a:avLst>
              <a:gd name="adj" fmla="val 11911"/>
            </a:avLst>
          </a:prstGeom>
          <a:solidFill>
            <a:srgbClr val="FFFFFF"/>
          </a:solidFill>
          <a:ln w="19050">
            <a:solidFill>
              <a:srgbClr val="E4DCC8"/>
            </a:solidFill>
            <a:prstDash val="solid"/>
          </a:ln>
        </p:spPr>
      </p:sp>
      <p:sp>
        <p:nvSpPr>
          <p:cNvPr id="6" name="Shape 4"/>
          <p:cNvSpPr/>
          <p:nvPr/>
        </p:nvSpPr>
        <p:spPr>
          <a:xfrm>
            <a:off x="10231831" y="2194560"/>
            <a:ext cx="954024" cy="954024"/>
          </a:xfrm>
          <a:prstGeom prst="roundRect">
            <a:avLst>
              <a:gd name="adj" fmla="val 11502"/>
            </a:avLst>
          </a:prstGeom>
          <a:solidFill>
            <a:srgbClr val="101B45"/>
          </a:solidFill>
          <a:ln/>
        </p:spPr>
      </p:sp>
      <p:sp>
        <p:nvSpPr>
          <p:cNvPr id="7" name="Text 5"/>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8" name="Text 6"/>
          <p:cNvSpPr/>
          <p:nvPr/>
        </p:nvSpPr>
        <p:spPr>
          <a:xfrm>
            <a:off x="1097280" y="2057400"/>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الزر تالف</a:t>
            </a:r>
            <a:endParaRPr lang="ar-SA" sz="2500" dirty="0"/>
          </a:p>
        </p:txBody>
      </p:sp>
      <p:sp>
        <p:nvSpPr>
          <p:cNvPr id="9" name="anim-g1-1025"/>
          <p:cNvSpPr/>
          <p:nvPr/>
        </p:nvSpPr>
        <p:spPr>
          <a:xfrm>
            <a:off x="822960" y="2057400"/>
            <a:ext cx="10545775" cy="1228344"/>
          </a:xfrm>
          <a:prstGeom prst="roundRect">
            <a:avLst>
              <a:gd name="adj" fmla="val 11911"/>
            </a:avLst>
          </a:prstGeom>
          <a:solidFill>
            <a:srgbClr val="F7F7F9"/>
          </a:solidFill>
          <a:ln w="19050">
            <a:solidFill>
              <a:srgbClr val="E4DCC8"/>
            </a:solidFill>
            <a:prstDash val="solid"/>
          </a:ln>
        </p:spPr>
      </p:sp>
      <p:sp>
        <p:nvSpPr>
          <p:cNvPr id="10" name="anim-g1-1026"/>
          <p:cNvSpPr/>
          <p:nvPr/>
        </p:nvSpPr>
        <p:spPr>
          <a:xfrm>
            <a:off x="10231831" y="2194560"/>
            <a:ext cx="954024" cy="954024"/>
          </a:xfrm>
          <a:prstGeom prst="roundRect">
            <a:avLst>
              <a:gd name="adj" fmla="val 11502"/>
            </a:avLst>
          </a:prstGeom>
          <a:solidFill>
            <a:srgbClr val="A3A9BA"/>
          </a:solidFill>
          <a:ln/>
        </p:spPr>
      </p:sp>
      <p:sp>
        <p:nvSpPr>
          <p:cNvPr id="11" name="anim-g1-1027"/>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12" name="anim-g1-1028"/>
          <p:cNvSpPr/>
          <p:nvPr/>
        </p:nvSpPr>
        <p:spPr>
          <a:xfrm>
            <a:off x="1097280" y="2093976"/>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الزر تالف</a:t>
            </a:r>
            <a:endParaRPr lang="ar-SA" sz="2400" dirty="0"/>
          </a:p>
        </p:txBody>
      </p:sp>
      <p:sp>
        <p:nvSpPr>
          <p:cNvPr id="13" name="anim-g1-1029"/>
          <p:cNvSpPr/>
          <p:nvPr/>
        </p:nvSpPr>
        <p:spPr>
          <a:xfrm>
            <a:off x="1097280" y="2720706"/>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الزر السليم يسبب المشكلة نفسها إن غابت المقاومة</a:t>
            </a:r>
            <a:endParaRPr lang="ar-SA" sz="1800" dirty="0"/>
          </a:p>
        </p:txBody>
      </p:sp>
      <p:sp>
        <p:nvSpPr>
          <p:cNvPr id="14" name="Shape 12"/>
          <p:cNvSpPr/>
          <p:nvPr/>
        </p:nvSpPr>
        <p:spPr>
          <a:xfrm>
            <a:off x="822960" y="3432048"/>
            <a:ext cx="10545775" cy="1228344"/>
          </a:xfrm>
          <a:prstGeom prst="roundRect">
            <a:avLst>
              <a:gd name="adj" fmla="val 11911"/>
            </a:avLst>
          </a:prstGeom>
          <a:solidFill>
            <a:srgbClr val="FFFFFF"/>
          </a:solidFill>
          <a:ln w="19050">
            <a:solidFill>
              <a:srgbClr val="E4DCC8"/>
            </a:solidFill>
            <a:prstDash val="solid"/>
          </a:ln>
        </p:spPr>
      </p:sp>
      <p:sp>
        <p:nvSpPr>
          <p:cNvPr id="15" name="Shape 13"/>
          <p:cNvSpPr/>
          <p:nvPr/>
        </p:nvSpPr>
        <p:spPr>
          <a:xfrm>
            <a:off x="10231831" y="3569208"/>
            <a:ext cx="954024" cy="954024"/>
          </a:xfrm>
          <a:prstGeom prst="roundRect">
            <a:avLst>
              <a:gd name="adj" fmla="val 11502"/>
            </a:avLst>
          </a:prstGeom>
          <a:solidFill>
            <a:srgbClr val="101B45"/>
          </a:solidFill>
          <a:ln/>
        </p:spPr>
      </p:sp>
      <p:sp>
        <p:nvSpPr>
          <p:cNvPr id="16" name="Text 14"/>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17" name="Text 15"/>
          <p:cNvSpPr/>
          <p:nvPr/>
        </p:nvSpPr>
        <p:spPr>
          <a:xfrm>
            <a:off x="1097280" y="3432048"/>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المدخل عائم: لا توجد مقاومة سحب</a:t>
            </a:r>
            <a:endParaRPr lang="ar-SA" sz="2500" dirty="0"/>
          </a:p>
        </p:txBody>
      </p:sp>
      <p:sp>
        <p:nvSpPr>
          <p:cNvPr id="18" name="anim-g1-1030"/>
          <p:cNvSpPr/>
          <p:nvPr/>
        </p:nvSpPr>
        <p:spPr>
          <a:xfrm>
            <a:off x="822960" y="3432048"/>
            <a:ext cx="10545775" cy="1228344"/>
          </a:xfrm>
          <a:prstGeom prst="roundRect">
            <a:avLst>
              <a:gd name="adj" fmla="val 11911"/>
            </a:avLst>
          </a:prstGeom>
          <a:solidFill>
            <a:srgbClr val="E6F4EC"/>
          </a:solidFill>
          <a:ln w="31750">
            <a:solidFill>
              <a:srgbClr val="2E9E6B"/>
            </a:solidFill>
            <a:prstDash val="solid"/>
          </a:ln>
        </p:spPr>
      </p:sp>
      <p:sp>
        <p:nvSpPr>
          <p:cNvPr id="19" name="anim-g1-1031"/>
          <p:cNvSpPr/>
          <p:nvPr/>
        </p:nvSpPr>
        <p:spPr>
          <a:xfrm>
            <a:off x="10231831" y="3569208"/>
            <a:ext cx="954024" cy="954024"/>
          </a:xfrm>
          <a:prstGeom prst="roundRect">
            <a:avLst>
              <a:gd name="adj" fmla="val 11502"/>
            </a:avLst>
          </a:prstGeom>
          <a:solidFill>
            <a:srgbClr val="2E9E6B"/>
          </a:solidFill>
          <a:ln/>
        </p:spPr>
      </p:sp>
      <p:sp>
        <p:nvSpPr>
          <p:cNvPr id="20" name="anim-g1-1032"/>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a:t>
            </a:r>
            <a:endParaRPr lang="ar-SA" sz="2400" dirty="0"/>
          </a:p>
        </p:txBody>
      </p:sp>
      <p:sp>
        <p:nvSpPr>
          <p:cNvPr id="21" name="anim-g1-1033"/>
          <p:cNvSpPr/>
          <p:nvPr/>
        </p:nvSpPr>
        <p:spPr>
          <a:xfrm>
            <a:off x="1097280" y="3468624"/>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131B34"/>
                </a:solidFill>
                <a:latin typeface="Cairo" pitchFamily="34" charset="0"/>
                <a:ea typeface="Cairo" pitchFamily="34" charset="-122"/>
                <a:cs typeface="Cairo" pitchFamily="34" charset="-120"/>
              </a:rPr>
              <a:t>المدخل عائم: لا توجد مقاومة سحب</a:t>
            </a:r>
            <a:endParaRPr lang="ar-SA" sz="2400" dirty="0"/>
          </a:p>
        </p:txBody>
      </p:sp>
      <p:sp>
        <p:nvSpPr>
          <p:cNvPr id="22" name="anim-g1-1034"/>
          <p:cNvSpPr/>
          <p:nvPr/>
        </p:nvSpPr>
        <p:spPr>
          <a:xfrm>
            <a:off x="1097280" y="4095354"/>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1D5E40"/>
                </a:solidFill>
                <a:latin typeface="Cairo" pitchFamily="34" charset="0"/>
                <a:ea typeface="Cairo" pitchFamily="34" charset="-122"/>
                <a:cs typeface="Cairo" pitchFamily="34" charset="-120"/>
              </a:rPr>
              <a:t>بلا مقاومة سحب يلتقط المنفذ التشويش من حوله</a:t>
            </a:r>
            <a:endParaRPr lang="ar-SA" sz="1800" dirty="0"/>
          </a:p>
        </p:txBody>
      </p:sp>
      <p:sp>
        <p:nvSpPr>
          <p:cNvPr id="23" name="Shape 21"/>
          <p:cNvSpPr/>
          <p:nvPr/>
        </p:nvSpPr>
        <p:spPr>
          <a:xfrm>
            <a:off x="822960" y="4806696"/>
            <a:ext cx="10545775" cy="1228344"/>
          </a:xfrm>
          <a:prstGeom prst="roundRect">
            <a:avLst>
              <a:gd name="adj" fmla="val 11911"/>
            </a:avLst>
          </a:prstGeom>
          <a:solidFill>
            <a:srgbClr val="FFFFFF"/>
          </a:solidFill>
          <a:ln w="19050">
            <a:solidFill>
              <a:srgbClr val="E4DCC8"/>
            </a:solidFill>
            <a:prstDash val="solid"/>
          </a:ln>
        </p:spPr>
      </p:sp>
      <p:sp>
        <p:nvSpPr>
          <p:cNvPr id="24" name="Shape 22"/>
          <p:cNvSpPr/>
          <p:nvPr/>
        </p:nvSpPr>
        <p:spPr>
          <a:xfrm>
            <a:off x="10231831" y="4943856"/>
            <a:ext cx="954024" cy="954024"/>
          </a:xfrm>
          <a:prstGeom prst="roundRect">
            <a:avLst>
              <a:gd name="adj" fmla="val 11502"/>
            </a:avLst>
          </a:prstGeom>
          <a:solidFill>
            <a:srgbClr val="101B45"/>
          </a:solidFill>
          <a:ln/>
        </p:spPr>
      </p:sp>
      <p:sp>
        <p:nvSpPr>
          <p:cNvPr id="25" name="Text 23"/>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26" name="Text 24"/>
          <p:cNvSpPr/>
          <p:nvPr/>
        </p:nvSpPr>
        <p:spPr>
          <a:xfrm>
            <a:off x="1097280" y="4806696"/>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سرعة Serial خاطئة</a:t>
            </a:r>
            <a:endParaRPr lang="ar-SA" sz="2500" dirty="0"/>
          </a:p>
        </p:txBody>
      </p:sp>
      <p:sp>
        <p:nvSpPr>
          <p:cNvPr id="27" name="anim-g1-1035"/>
          <p:cNvSpPr/>
          <p:nvPr/>
        </p:nvSpPr>
        <p:spPr>
          <a:xfrm>
            <a:off x="822960" y="4806696"/>
            <a:ext cx="10545775" cy="1228344"/>
          </a:xfrm>
          <a:prstGeom prst="roundRect">
            <a:avLst>
              <a:gd name="adj" fmla="val 11911"/>
            </a:avLst>
          </a:prstGeom>
          <a:solidFill>
            <a:srgbClr val="F7F7F9"/>
          </a:solidFill>
          <a:ln w="19050">
            <a:solidFill>
              <a:srgbClr val="E4DCC8"/>
            </a:solidFill>
            <a:prstDash val="solid"/>
          </a:ln>
        </p:spPr>
      </p:sp>
      <p:sp>
        <p:nvSpPr>
          <p:cNvPr id="28" name="anim-g1-1036"/>
          <p:cNvSpPr/>
          <p:nvPr/>
        </p:nvSpPr>
        <p:spPr>
          <a:xfrm>
            <a:off x="10231831" y="4943856"/>
            <a:ext cx="954024" cy="954024"/>
          </a:xfrm>
          <a:prstGeom prst="roundRect">
            <a:avLst>
              <a:gd name="adj" fmla="val 11502"/>
            </a:avLst>
          </a:prstGeom>
          <a:solidFill>
            <a:srgbClr val="A3A9BA"/>
          </a:solidFill>
          <a:ln/>
        </p:spPr>
      </p:sp>
      <p:sp>
        <p:nvSpPr>
          <p:cNvPr id="29" name="anim-g1-1037"/>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30" name="anim-g1-1038"/>
          <p:cNvSpPr/>
          <p:nvPr/>
        </p:nvSpPr>
        <p:spPr>
          <a:xfrm>
            <a:off x="1097280" y="4843272"/>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سرعة Serial خاطئة</a:t>
            </a:r>
            <a:endParaRPr lang="ar-SA" sz="2400" dirty="0"/>
          </a:p>
        </p:txBody>
      </p:sp>
      <p:sp>
        <p:nvSpPr>
          <p:cNvPr id="31" name="anim-g1-1039"/>
          <p:cNvSpPr/>
          <p:nvPr/>
        </p:nvSpPr>
        <p:spPr>
          <a:xfrm>
            <a:off x="1097280" y="5470002"/>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السرعة الخاطئة تُظهر رموزًا غريبة، لا 0 و1 منتظمة</a:t>
            </a:r>
            <a:endParaRPr lang="ar-SA" sz="1800" dirty="0"/>
          </a:p>
        </p:txBody>
      </p:sp>
      <p:sp>
        <p:nvSpPr>
          <p:cNvPr id="32" name="Text 30"/>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الأردوينو للمعلمين</a:t>
            </a:r>
            <a:endParaRPr lang="ar-SA" sz="1200" dirty="0"/>
          </a:p>
        </p:txBody>
      </p:sp>
      <p:sp>
        <p:nvSpPr>
          <p:cNvPr id="33" name="Text 31"/>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الأزرار والمدخلات  ·  ١٤٤</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00"/>
                                        <p:tgtEl>
                                          <p:spTgt spid="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00"/>
                                        <p:tgtEl>
                                          <p:spTgt spid="2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400"/>
                                        <p:tgtEl>
                                          <p:spTgt spid="2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400"/>
                                        <p:tgtEl>
                                          <p:spTgt spid="3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fade">
                                      <p:cBhvr>
                                        <p:cTn id="4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8" grpId="0" animBg="1"/>
      <p:bldP spid="19" grpId="0" animBg="1"/>
      <p:bldP spid="20" grpId="0" animBg="1"/>
      <p:bldP spid="21" grpId="0" animBg="1"/>
      <p:bldP spid="22" grpId="0" animBg="1"/>
      <p:bldP spid="27" grpId="0" animBg="1"/>
      <p:bldP spid="28" grpId="0" animBg="1"/>
      <p:bldP spid="29" grpId="0" animBg="1"/>
      <p:bldP spid="30" grpId="0" animBg="1"/>
      <p:bldP spid="31" grpId="0" animBg="1"/>
    </p:bldLst>
  </p:timing>
</p:sld>
</file>

<file path=ppt/slides/slide145.xml><?xml version="1.0" encoding="utf-8"?>
<p:sld xmlns:a="http://schemas.openxmlformats.org/drawingml/2006/main" xmlns:r="http://schemas.openxmlformats.org/officeDocument/2006/relationships" xmlns:p="http://schemas.openxmlformats.org/presentationml/2006/main">
  <p:cSld name="Slide 145">
    <p:spTree>
      <p:nvGrpSpPr>
        <p:cNvPr id="1" name=""/>
        <p:cNvGrpSpPr/>
        <p:nvPr/>
      </p:nvGrpSpPr>
      <p:grpSpPr>
        <a:xfrm>
          <a:off x="0" y="0"/>
          <a:ext cx="0" cy="0"/>
          <a:chOff x="0" y="0"/>
          <a:chExt cx="0" cy="0"/>
        </a:xfrm>
      </p:grpSpPr>
      <p:pic>
        <p:nvPicPr>
          <p:cNvPr id="2" name="Image 0" descr="/Users/mac/Desktop/أردوينو/المشاريع والكتب/younes-training/arduino/.pptx-cache/s14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name="Slide 146">
    <p:spTree>
      <p:nvGrpSpPr>
        <p:cNvPr id="1" name=""/>
        <p:cNvGrpSpPr/>
        <p:nvPr/>
      </p:nvGrpSpPr>
      <p:grpSpPr>
        <a:xfrm>
          <a:off x="0" y="0"/>
          <a:ext cx="0" cy="0"/>
          <a:chOff x="0" y="0"/>
          <a:chExt cx="0" cy="0"/>
        </a:xfrm>
      </p:grpSpPr>
      <p:pic>
        <p:nvPicPr>
          <p:cNvPr id="2" name="Image 0" descr="/Users/mac/Desktop/أردوينو/المشاريع والكتب/younes-training/arduino/.pptx-cache/s14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name="Slide 14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852264" y="1188720"/>
            <a:ext cx="2487168"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852264" y="118872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خلاصة المحور</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حين يقرأ الأردوينو ويقرر…</a:t>
            </a:r>
            <a:endParaRPr lang="ar-SA" sz="4400" dirty="0"/>
          </a:p>
          <a:p>
            <a:pPr algn="ctr" indent="0" marL="0">
              <a:lnSpc>
                <a:spcPct val="115000"/>
              </a:lnSpc>
              <a:buNone/>
            </a:pPr>
            <a:r>
              <a:rPr lang="ar-SA" altLang="en-US" sz="4400" dirty="0">
                <a:solidFill>
                  <a:srgbClr val="F0CC7A"/>
                </a:solidFill>
                <a:latin typeface="Cairo Black" pitchFamily="34" charset="0"/>
                <a:ea typeface="Cairo Black" pitchFamily="34" charset="-122"/>
                <a:cs typeface="Cairo Black" pitchFamily="34" charset="-120"/>
              </a:rPr>
              <a:t> يتحول من لعبة ضوء إلى جهاز ذكي</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الأردوينو للمعلمين</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الأزرار والمدخلات  ·  ١٤٧</a:t>
            </a:r>
            <a:endParaRPr lang="ar-SA" sz="1200" dirty="0"/>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name="Slide 14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97280" y="2103120"/>
            <a:ext cx="2651760" cy="2651760"/>
          </a:xfrm>
          <a:prstGeom prst="ellipse">
            <a:avLst/>
          </a:prstGeom>
          <a:solidFill>
            <a:srgbClr val="D9AE4B">
              <a:alpha val="12000"/>
            </a:srgbClr>
          </a:solidFill>
          <a:ln w="63500">
            <a:solidFill>
              <a:srgbClr val="D9AE4B">
                <a:alpha val="60000"/>
              </a:srgbClr>
            </a:solidFill>
            <a:prstDash val="solid"/>
          </a:ln>
        </p:spPr>
      </p:sp>
      <p:sp>
        <p:nvSpPr>
          <p:cNvPr id="3" name="Text 1"/>
          <p:cNvSpPr/>
          <p:nvPr/>
        </p:nvSpPr>
        <p:spPr>
          <a:xfrm>
            <a:off x="1097280" y="2103120"/>
            <a:ext cx="2651760" cy="2651760"/>
          </a:xfrm>
          <a:prstGeom prst="rect">
            <a:avLst/>
          </a:prstGeom>
          <a:noFill/>
          <a:ln/>
        </p:spPr>
        <p:txBody>
          <a:bodyPr wrap="square" lIns="0" tIns="0" rIns="0" bIns="0" rtlCol="0" anchor="ctr">
            <a:normAutofit/>
          </a:bodyPr>
          <a:lstStyle/>
          <a:p>
            <a:pPr rtl="1" algn="ctr" indent="0" marL="0">
              <a:buNone/>
            </a:pPr>
            <a:r>
              <a:rPr lang="ar-SA" altLang="en-US" sz="12000" dirty="0">
                <a:solidFill>
                  <a:srgbClr val="F0CC7A"/>
                </a:solidFill>
                <a:latin typeface="Cairo Black" pitchFamily="34" charset="0"/>
                <a:ea typeface="Cairo Black" pitchFamily="34" charset="-122"/>
                <a:cs typeface="Cairo Black" pitchFamily="34" charset="-120"/>
              </a:rPr>
              <a:t>١١</a:t>
            </a:r>
            <a:endParaRPr lang="ar-SA" sz="12000" dirty="0"/>
          </a:p>
        </p:txBody>
      </p:sp>
      <p:sp>
        <p:nvSpPr>
          <p:cNvPr id="4" name="Text 2"/>
          <p:cNvSpPr/>
          <p:nvPr/>
        </p:nvSpPr>
        <p:spPr>
          <a:xfrm>
            <a:off x="4206240" y="1828800"/>
            <a:ext cx="7162495" cy="457200"/>
          </a:xfrm>
          <a:prstGeom prst="rect">
            <a:avLst/>
          </a:prstGeom>
          <a:noFill/>
          <a:ln/>
        </p:spPr>
        <p:txBody>
          <a:bodyPr wrap="square" lIns="0" tIns="0" rIns="0" bIns="0" rtlCol="0" anchor="ctr">
            <a:normAutofit/>
          </a:bodyPr>
          <a:lstStyle/>
          <a:p>
            <a:pPr rtl="1" algn="r" indent="0" marL="0">
              <a:buNone/>
            </a:pPr>
            <a:r>
              <a:rPr lang="ar-SA" altLang="en-US" sz="2000" b="1" dirty="0">
                <a:solidFill>
                  <a:srgbClr val="D9AE4B"/>
                </a:solidFill>
                <a:latin typeface="Cairo" pitchFamily="34" charset="0"/>
                <a:ea typeface="Cairo" pitchFamily="34" charset="-122"/>
                <a:cs typeface="Cairo" pitchFamily="34" charset="-120"/>
              </a:rPr>
              <a:t>المحور ١١</a:t>
            </a:r>
            <a:endParaRPr lang="ar-SA" sz="2000" dirty="0"/>
          </a:p>
        </p:txBody>
      </p:sp>
      <p:sp>
        <p:nvSpPr>
          <p:cNvPr id="5" name="Text 3"/>
          <p:cNvSpPr/>
          <p:nvPr/>
        </p:nvSpPr>
        <p:spPr>
          <a:xfrm>
            <a:off x="4206240" y="2286000"/>
            <a:ext cx="7162495" cy="1371600"/>
          </a:xfrm>
          <a:prstGeom prst="rect">
            <a:avLst/>
          </a:prstGeom>
          <a:noFill/>
          <a:ln/>
        </p:spPr>
        <p:txBody>
          <a:bodyPr wrap="square" lIns="0" tIns="0" rIns="0" bIns="0" rtlCol="0" anchor="ctr">
            <a:normAutofit/>
          </a:bodyPr>
          <a:lstStyle/>
          <a:p>
            <a:pPr rtl="1" algn="r" indent="0" marL="0">
              <a:buNone/>
            </a:pPr>
            <a:r>
              <a:rPr lang="ar-SA" altLang="en-US" sz="5600" dirty="0">
                <a:solidFill>
                  <a:srgbClr val="FFFFFF"/>
                </a:solidFill>
                <a:latin typeface="Cairo Black" pitchFamily="34" charset="0"/>
                <a:ea typeface="Cairo Black" pitchFamily="34" charset="-122"/>
                <a:cs typeface="Cairo Black" pitchFamily="34" charset="-120"/>
              </a:rPr>
              <a:t>مشروع التخرج</a:t>
            </a:r>
            <a:endParaRPr lang="ar-SA" sz="5600" dirty="0"/>
          </a:p>
        </p:txBody>
      </p:sp>
      <p:sp>
        <p:nvSpPr>
          <p:cNvPr id="6" name="Text 4"/>
          <p:cNvSpPr/>
          <p:nvPr/>
        </p:nvSpPr>
        <p:spPr>
          <a:xfrm>
            <a:off x="4206240" y="3749040"/>
            <a:ext cx="7162495" cy="822960"/>
          </a:xfrm>
          <a:prstGeom prst="rect">
            <a:avLst/>
          </a:prstGeom>
          <a:noFill/>
          <a:ln/>
        </p:spPr>
        <p:txBody>
          <a:bodyPr wrap="square" lIns="0" tIns="0" rIns="0" bIns="0" rtlCol="0" anchor="ctr">
            <a:normAutofit/>
          </a:bodyPr>
          <a:lstStyle/>
          <a:p>
            <a:pPr rtl="1" algn="r" indent="0" marL="0">
              <a:buNone/>
            </a:pPr>
            <a:r>
              <a:rPr lang="ar-SA" altLang="en-US" sz="2200" b="1" dirty="0">
                <a:solidFill>
                  <a:srgbClr val="C9CFE6"/>
                </a:solidFill>
                <a:latin typeface="Cairo" pitchFamily="34" charset="0"/>
                <a:ea typeface="Cairo" pitchFamily="34" charset="-122"/>
                <a:cs typeface="Cairo" pitchFamily="34" charset="-120"/>
              </a:rPr>
              <a:t>نجمع كل ما تعلمناه… ثم نخطط كيف ننقله لطلابنا</a:t>
            </a:r>
            <a:endParaRPr lang="ar-SA" sz="2200" dirty="0"/>
          </a:p>
        </p:txBody>
      </p:sp>
      <p:sp>
        <p:nvSpPr>
          <p:cNvPr id="7" name="Text 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الأردوينو للمعلمين</a:t>
            </a:r>
            <a:endParaRPr lang="ar-SA" sz="1200" dirty="0"/>
          </a:p>
        </p:txBody>
      </p:sp>
      <p:sp>
        <p:nvSpPr>
          <p:cNvPr id="8" name="Text 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مشروع التخرج  ·  ١٤٨</a:t>
            </a:r>
            <a:endParaRPr lang="ar-SA" sz="1200" dirty="0"/>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name="Slide 14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kb-1040" descr="/Users/mac/Desktop/أردوينو/المشاريع والكتب/younes-training/arduino/assets/expo.jpg">    </p:cNvPr>
          <p:cNvPicPr>
            <a:picLocks noChangeAspect="1"/>
          </p:cNvPicPr>
          <p:nvPr/>
        </p:nvPicPr>
        <p:blipFill>
          <a:blip r:embed="rId2"/>
          <a:stretch>
            <a:fillRect/>
          </a:stretch>
        </p:blipFill>
        <p:spPr>
          <a:xfrm>
            <a:off x="0" y="0"/>
            <a:ext cx="12191695" cy="6858000"/>
          </a:xfrm>
          <a:prstGeom prst="rect">
            <a:avLst/>
          </a:prstGeom>
        </p:spPr>
      </p:pic>
      <p:pic>
        <p:nvPicPr>
          <p:cNvPr id="3" name="Image 1" descr="/Users/mac/Desktop/أردوينو/المشاريع والكتب/younes-training/shared/assets/mcover-overlay.png">    </p:cNvPr>
          <p:cNvPicPr>
            <a:picLocks noChangeAspect="1"/>
          </p:cNvPicPr>
          <p:nvPr/>
        </p:nvPicPr>
        <p:blipFill>
          <a:blip r:embed="rId3"/>
          <a:stretch>
            <a:fillRect/>
          </a:stretch>
        </p:blipFill>
        <p:spPr>
          <a:xfrm>
            <a:off x="0" y="0"/>
            <a:ext cx="12191695" cy="6858000"/>
          </a:xfrm>
          <a:prstGeom prst="rect">
            <a:avLst/>
          </a:prstGeom>
        </p:spPr>
      </p:pic>
      <p:sp>
        <p:nvSpPr>
          <p:cNvPr id="4" name="Text 0"/>
          <p:cNvSpPr/>
          <p:nvPr/>
        </p:nvSpPr>
        <p:spPr>
          <a:xfrm>
            <a:off x="5120640" y="1645920"/>
            <a:ext cx="6248095" cy="502920"/>
          </a:xfrm>
          <a:prstGeom prst="rect">
            <a:avLst/>
          </a:prstGeom>
          <a:noFill/>
          <a:ln/>
        </p:spPr>
        <p:txBody>
          <a:bodyPr wrap="square" lIns="0" tIns="0" rIns="0" bIns="0" rtlCol="0" anchor="ctr">
            <a:normAutofit/>
          </a:bodyPr>
          <a:lstStyle/>
          <a:p>
            <a:pPr rtl="1" algn="r" indent="0" marL="0">
              <a:buNone/>
            </a:pPr>
            <a:r>
              <a:rPr lang="ar-SA" altLang="en-US" sz="2200" b="1" dirty="0">
                <a:solidFill>
                  <a:srgbClr val="D9AE4B"/>
                </a:solidFill>
                <a:latin typeface="Cairo" pitchFamily="34" charset="0"/>
                <a:ea typeface="Cairo" pitchFamily="34" charset="-122"/>
                <a:cs typeface="Cairo" pitchFamily="34" charset="-120"/>
              </a:rPr>
              <a:t>الهدف النهائي</a:t>
            </a:r>
            <a:endParaRPr lang="ar-SA" sz="2200" dirty="0"/>
          </a:p>
        </p:txBody>
      </p:sp>
      <p:sp>
        <p:nvSpPr>
          <p:cNvPr id="5" name="Text 1"/>
          <p:cNvSpPr/>
          <p:nvPr/>
        </p:nvSpPr>
        <p:spPr>
          <a:xfrm>
            <a:off x="4572000" y="2194560"/>
            <a:ext cx="6796735" cy="1737360"/>
          </a:xfrm>
          <a:prstGeom prst="rect">
            <a:avLst/>
          </a:prstGeom>
          <a:noFill/>
          <a:ln/>
        </p:spPr>
        <p:txBody>
          <a:bodyPr wrap="square" lIns="0" tIns="0" rIns="0" bIns="0" rtlCol="0" anchor="ctr">
            <a:normAutofit/>
          </a:bodyPr>
          <a:lstStyle/>
          <a:p>
            <a:pPr rtl="1" algn="r" indent="0" marL="0">
              <a:lnSpc>
                <a:spcPct val="110000"/>
              </a:lnSpc>
              <a:buNone/>
            </a:pPr>
            <a:r>
              <a:rPr lang="ar-SA" altLang="en-US" sz="4800" dirty="0">
                <a:solidFill>
                  <a:srgbClr val="FFFFFF"/>
                </a:solidFill>
                <a:latin typeface="Cairo Black" pitchFamily="34" charset="0"/>
                <a:ea typeface="Cairo Black" pitchFamily="34" charset="-122"/>
                <a:cs typeface="Cairo Black" pitchFamily="34" charset="-120"/>
              </a:rPr>
              <a:t>من فكرة… إلى معرض المدرسة</a:t>
            </a:r>
            <a:endParaRPr lang="ar-SA" sz="4800" dirty="0"/>
          </a:p>
        </p:txBody>
      </p:sp>
      <p:sp>
        <p:nvSpPr>
          <p:cNvPr id="6" name="Text 2"/>
          <p:cNvSpPr/>
          <p:nvPr/>
        </p:nvSpPr>
        <p:spPr>
          <a:xfrm>
            <a:off x="4572000" y="4023360"/>
            <a:ext cx="6796735" cy="1097280"/>
          </a:xfrm>
          <a:prstGeom prst="rect">
            <a:avLst/>
          </a:prstGeom>
          <a:noFill/>
          <a:ln/>
        </p:spPr>
        <p:txBody>
          <a:bodyPr wrap="square" lIns="0" tIns="0" rIns="0" bIns="0" rtlCol="0" anchor="ctr">
            <a:normAutofit/>
          </a:bodyPr>
          <a:lstStyle/>
          <a:p>
            <a:pPr rtl="1" algn="r" indent="0" marL="0">
              <a:buNone/>
            </a:pPr>
            <a:r>
              <a:rPr lang="ar-SA" altLang="en-US" sz="2200" b="1" dirty="0">
                <a:solidFill>
                  <a:srgbClr val="C9CFE6"/>
                </a:solidFill>
                <a:latin typeface="Cairo" pitchFamily="34" charset="0"/>
                <a:ea typeface="Cairo" pitchFamily="34" charset="-122"/>
                <a:cs typeface="Cairo" pitchFamily="34" charset="-120"/>
              </a:rPr>
              <a:t>حين يعرض الطالب مشروعه بفخر… نعرف أن التعلم حدث فعلًا</a:t>
            </a:r>
            <a:endParaRPr lang="ar-SA" sz="2200" dirty="0"/>
          </a:p>
        </p:txBody>
      </p:sp>
      <p:sp>
        <p:nvSpPr>
          <p:cNvPr id="7"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الأردوينو للمعلمين</a:t>
            </a:r>
            <a:endParaRPr lang="ar-SA" sz="1200" dirty="0"/>
          </a:p>
        </p:txBody>
      </p:sp>
      <p:sp>
        <p:nvSpPr>
          <p:cNvPr id="8"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مشروع التخرج  ·  ١٤٩</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fill="hold" nodeType="afterEffect">
                                  <p:stCondLst>
                                    <p:cond delay="0"/>
                                  </p:stCondLst>
                                  <p:childTnLst>
                                    <p:animScale>
                                      <p:cBhvr>
                                        <p:cTn id="6" dur="16000" fill="hold"/>
                                        <p:tgtEl>
                                          <p:spTgt spid="2"/>
                                        </p:tgtEl>
                                      </p:cBhvr>
                                      <p:by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0.xml><?xml version="1.0" encoding="utf-8"?>
<p:sld xmlns:a="http://schemas.openxmlformats.org/drawingml/2006/main" xmlns:r="http://schemas.openxmlformats.org/officeDocument/2006/relationships" xmlns:p="http://schemas.openxmlformats.org/presentationml/2006/main">
  <p:cSld name="Slide 15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81567" y="457200"/>
            <a:ext cx="2487168" cy="457200"/>
          </a:xfrm>
          <a:prstGeom prst="roundRect">
            <a:avLst>
              <a:gd name="adj" fmla="val 50000"/>
            </a:avLst>
          </a:prstGeom>
          <a:solidFill>
            <a:srgbClr val="F6EBCF"/>
          </a:solidFill>
          <a:ln/>
        </p:spPr>
      </p:sp>
      <p:sp>
        <p:nvSpPr>
          <p:cNvPr id="3" name="Text 1"/>
          <p:cNvSpPr/>
          <p:nvPr/>
        </p:nvSpPr>
        <p:spPr>
          <a:xfrm>
            <a:off x="8881567" y="45720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مشروع التخرج</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إشارة مرور للمشاة… بزر عبور</a:t>
            </a:r>
            <a:endParaRPr lang="ar-SA" sz="3800" dirty="0"/>
          </a:p>
        </p:txBody>
      </p:sp>
      <p:sp>
        <p:nvSpPr>
          <p:cNvPr id="5" name="anim-g1-1041"/>
          <p:cNvSpPr/>
          <p:nvPr/>
        </p:nvSpPr>
        <p:spPr>
          <a:xfrm>
            <a:off x="8938031" y="2148840"/>
            <a:ext cx="2430704" cy="3566160"/>
          </a:xfrm>
          <a:prstGeom prst="roundRect">
            <a:avLst>
              <a:gd name="adj" fmla="val 677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1042"/>
          <p:cNvSpPr/>
          <p:nvPr/>
        </p:nvSpPr>
        <p:spPr>
          <a:xfrm>
            <a:off x="10362895" y="2404872"/>
            <a:ext cx="731520" cy="731520"/>
          </a:xfrm>
          <a:prstGeom prst="roundRect">
            <a:avLst>
              <a:gd name="adj" fmla="val 25000"/>
            </a:avLst>
          </a:prstGeom>
          <a:solidFill>
            <a:srgbClr val="F7E6BC"/>
          </a:solidFill>
          <a:ln/>
        </p:spPr>
      </p:sp>
      <p:sp>
        <p:nvSpPr>
          <p:cNvPr id="7" name="anim-g1-1043"/>
          <p:cNvSpPr/>
          <p:nvPr/>
        </p:nvSpPr>
        <p:spPr>
          <a:xfrm>
            <a:off x="10362895"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8" name="anim-g1-1044"/>
          <p:cNvSpPr/>
          <p:nvPr/>
        </p:nvSpPr>
        <p:spPr>
          <a:xfrm>
            <a:off x="9212351" y="3246120"/>
            <a:ext cx="1882064"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الإشارة</a:t>
            </a:r>
            <a:endParaRPr lang="ar-SA" sz="2300" dirty="0"/>
          </a:p>
        </p:txBody>
      </p:sp>
      <p:sp>
        <p:nvSpPr>
          <p:cNvPr id="9" name="anim-g1-1045"/>
          <p:cNvSpPr/>
          <p:nvPr/>
        </p:nvSpPr>
        <p:spPr>
          <a:xfrm>
            <a:off x="9212351" y="3794760"/>
            <a:ext cx="1882064"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أخضر للسيارات بشكل دائم</a:t>
            </a:r>
            <a:endParaRPr lang="ar-SA" sz="2100" dirty="0"/>
          </a:p>
        </p:txBody>
      </p:sp>
      <p:sp>
        <p:nvSpPr>
          <p:cNvPr id="10" name="anim-g2-1046"/>
          <p:cNvSpPr/>
          <p:nvPr/>
        </p:nvSpPr>
        <p:spPr>
          <a:xfrm>
            <a:off x="6233008" y="2148840"/>
            <a:ext cx="2430704" cy="3566160"/>
          </a:xfrm>
          <a:prstGeom prst="roundRect">
            <a:avLst>
              <a:gd name="adj" fmla="val 677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1047"/>
          <p:cNvSpPr/>
          <p:nvPr/>
        </p:nvSpPr>
        <p:spPr>
          <a:xfrm>
            <a:off x="7657871" y="2404872"/>
            <a:ext cx="731520" cy="731520"/>
          </a:xfrm>
          <a:prstGeom prst="roundRect">
            <a:avLst>
              <a:gd name="adj" fmla="val 25000"/>
            </a:avLst>
          </a:prstGeom>
          <a:solidFill>
            <a:srgbClr val="F7E6BC"/>
          </a:solidFill>
          <a:ln/>
        </p:spPr>
      </p:sp>
      <p:sp>
        <p:nvSpPr>
          <p:cNvPr id="12" name="anim-g2-1048"/>
          <p:cNvSpPr/>
          <p:nvPr/>
        </p:nvSpPr>
        <p:spPr>
          <a:xfrm>
            <a:off x="7657871"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13" name="anim-g2-1049"/>
          <p:cNvSpPr/>
          <p:nvPr/>
        </p:nvSpPr>
        <p:spPr>
          <a:xfrm>
            <a:off x="6507328" y="3246120"/>
            <a:ext cx="1882064"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زر العبور</a:t>
            </a:r>
            <a:endParaRPr lang="ar-SA" sz="2300" dirty="0"/>
          </a:p>
        </p:txBody>
      </p:sp>
      <p:sp>
        <p:nvSpPr>
          <p:cNvPr id="14" name="anim-g2-1050"/>
          <p:cNvSpPr/>
          <p:nvPr/>
        </p:nvSpPr>
        <p:spPr>
          <a:xfrm>
            <a:off x="6507328" y="3794760"/>
            <a:ext cx="1882064"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يضغطه الطالب فيبدأ التحول</a:t>
            </a:r>
            <a:endParaRPr lang="ar-SA" sz="2100" dirty="0"/>
          </a:p>
        </p:txBody>
      </p:sp>
      <p:sp>
        <p:nvSpPr>
          <p:cNvPr id="15" name="anim-g3-1051"/>
          <p:cNvSpPr/>
          <p:nvPr/>
        </p:nvSpPr>
        <p:spPr>
          <a:xfrm>
            <a:off x="3527984" y="2148840"/>
            <a:ext cx="2430704" cy="3566160"/>
          </a:xfrm>
          <a:prstGeom prst="roundRect">
            <a:avLst>
              <a:gd name="adj" fmla="val 677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1052"/>
          <p:cNvSpPr/>
          <p:nvPr/>
        </p:nvSpPr>
        <p:spPr>
          <a:xfrm>
            <a:off x="4952848" y="2404872"/>
            <a:ext cx="731520" cy="731520"/>
          </a:xfrm>
          <a:prstGeom prst="roundRect">
            <a:avLst>
              <a:gd name="adj" fmla="val 25000"/>
            </a:avLst>
          </a:prstGeom>
          <a:solidFill>
            <a:srgbClr val="F7E6BC"/>
          </a:solidFill>
          <a:ln/>
        </p:spPr>
      </p:sp>
      <p:sp>
        <p:nvSpPr>
          <p:cNvPr id="17" name="anim-g3-1053"/>
          <p:cNvSpPr/>
          <p:nvPr/>
        </p:nvSpPr>
        <p:spPr>
          <a:xfrm>
            <a:off x="4952848"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18" name="anim-g3-1054"/>
          <p:cNvSpPr/>
          <p:nvPr/>
        </p:nvSpPr>
        <p:spPr>
          <a:xfrm>
            <a:off x="3802304" y="3246120"/>
            <a:ext cx="1882064"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التوقيت</a:t>
            </a:r>
            <a:endParaRPr lang="ar-SA" sz="2300" dirty="0"/>
          </a:p>
        </p:txBody>
      </p:sp>
      <p:sp>
        <p:nvSpPr>
          <p:cNvPr id="19" name="anim-g3-1055"/>
          <p:cNvSpPr/>
          <p:nvPr/>
        </p:nvSpPr>
        <p:spPr>
          <a:xfrm>
            <a:off x="3802304" y="3794760"/>
            <a:ext cx="1882064"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أصفر ثانية، ثم أحمر خمس ثوانٍ للعبور</a:t>
            </a:r>
            <a:endParaRPr lang="ar-SA" sz="2100" dirty="0"/>
          </a:p>
        </p:txBody>
      </p:sp>
      <p:sp>
        <p:nvSpPr>
          <p:cNvPr id="20" name="anim-g4-1056"/>
          <p:cNvSpPr/>
          <p:nvPr/>
        </p:nvSpPr>
        <p:spPr>
          <a:xfrm>
            <a:off x="822960" y="2148840"/>
            <a:ext cx="2430704" cy="3566160"/>
          </a:xfrm>
          <a:prstGeom prst="roundRect">
            <a:avLst>
              <a:gd name="adj" fmla="val 677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21" name="anim-g4-1057"/>
          <p:cNvSpPr/>
          <p:nvPr/>
        </p:nvSpPr>
        <p:spPr>
          <a:xfrm>
            <a:off x="2247824" y="2404872"/>
            <a:ext cx="731520" cy="731520"/>
          </a:xfrm>
          <a:prstGeom prst="roundRect">
            <a:avLst>
              <a:gd name="adj" fmla="val 25000"/>
            </a:avLst>
          </a:prstGeom>
          <a:solidFill>
            <a:srgbClr val="F7E6BC"/>
          </a:solidFill>
          <a:ln/>
        </p:spPr>
      </p:sp>
      <p:sp>
        <p:nvSpPr>
          <p:cNvPr id="22" name="anim-g4-1058"/>
          <p:cNvSpPr/>
          <p:nvPr/>
        </p:nvSpPr>
        <p:spPr>
          <a:xfrm>
            <a:off x="2247824" y="2404872"/>
            <a:ext cx="731520" cy="731520"/>
          </a:xfrm>
          <a:prstGeom prst="rect">
            <a:avLst/>
          </a:prstGeom>
          <a:noFill/>
          <a:ln/>
        </p:spPr>
        <p:txBody>
          <a:bodyPr wrap="square" lIns="0" tIns="0" rIns="0" bIns="0" rtlCol="0" anchor="ctr">
            <a:normAutofit/>
          </a:bodyPr>
          <a:lstStyle/>
          <a:p>
            <a:pPr rtl="1" algn="ctr" indent="0" marL="0">
              <a:buNone/>
            </a:pPr>
            <a:r>
              <a:rPr lang="ar-SA" altLang="en-US" sz="2900" dirty="0">
                <a:solidFill>
                  <a:srgbClr val="131B34"/>
                </a:solidFill>
                <a:latin typeface="Cairo" pitchFamily="34" charset="0"/>
                <a:ea typeface="Cairo" pitchFamily="34" charset="-122"/>
                <a:cs typeface="Cairo" pitchFamily="34" charset="-120"/>
              </a:rPr>
              <a:t>🖥️</a:t>
            </a:r>
            <a:endParaRPr lang="ar-SA" sz="2900" dirty="0"/>
          </a:p>
        </p:txBody>
      </p:sp>
      <p:sp>
        <p:nvSpPr>
          <p:cNvPr id="23" name="anim-g4-1059"/>
          <p:cNvSpPr/>
          <p:nvPr/>
        </p:nvSpPr>
        <p:spPr>
          <a:xfrm>
            <a:off x="1097280" y="3246120"/>
            <a:ext cx="1882064" cy="548640"/>
          </a:xfrm>
          <a:prstGeom prst="rect">
            <a:avLst/>
          </a:prstGeom>
          <a:noFill/>
          <a:ln/>
        </p:spPr>
        <p:txBody>
          <a:bodyPr wrap="square" lIns="0" tIns="0" rIns="0" bIns="0" rtlCol="0" anchor="ctr">
            <a:normAutofit/>
          </a:bodyPr>
          <a:lstStyle/>
          <a:p>
            <a:pPr rtl="1" algn="r" indent="0" marL="0">
              <a:buNone/>
            </a:pPr>
            <a:r>
              <a:rPr lang="ar-SA" altLang="en-US" sz="2300" dirty="0">
                <a:solidFill>
                  <a:srgbClr val="101B45"/>
                </a:solidFill>
                <a:latin typeface="Cairo Black" pitchFamily="34" charset="0"/>
                <a:ea typeface="Cairo Black" pitchFamily="34" charset="-122"/>
                <a:cs typeface="Cairo Black" pitchFamily="34" charset="-120"/>
              </a:rPr>
              <a:t>الرسائل</a:t>
            </a:r>
            <a:endParaRPr lang="ar-SA" sz="2300" dirty="0"/>
          </a:p>
        </p:txBody>
      </p:sp>
      <p:sp>
        <p:nvSpPr>
          <p:cNvPr id="24" name="anim-g4-1060"/>
          <p:cNvSpPr/>
          <p:nvPr/>
        </p:nvSpPr>
        <p:spPr>
          <a:xfrm>
            <a:off x="1097280" y="3794760"/>
            <a:ext cx="1882064" cy="1783080"/>
          </a:xfrm>
          <a:prstGeom prst="rect">
            <a:avLst/>
          </a:prstGeom>
          <a:noFill/>
          <a:ln/>
        </p:spPr>
        <p:txBody>
          <a:bodyPr wrap="square" lIns="0" tIns="0" rIns="0" bIns="0" rtlCol="0" anchor="t">
            <a:normAutofit/>
          </a:bodyPr>
          <a:lstStyle/>
          <a:p>
            <a:pPr rtl="1" algn="r" indent="0" marL="0">
              <a:lnSpc>
                <a:spcPct val="115000"/>
              </a:lnSpc>
              <a:buNone/>
            </a:pPr>
            <a:r>
              <a:rPr lang="ar-SA" altLang="en-US" sz="2100" b="1" dirty="0">
                <a:solidFill>
                  <a:srgbClr val="3B4460"/>
                </a:solidFill>
                <a:latin typeface="Cairo" pitchFamily="34" charset="0"/>
                <a:ea typeface="Cairo" pitchFamily="34" charset="-122"/>
                <a:cs typeface="Cairo" pitchFamily="34" charset="-120"/>
              </a:rPr>
              <a:t>تُطبع «طلب عبور» على الشاشة التسلسلية</a:t>
            </a:r>
            <a:endParaRPr lang="ar-SA" sz="2100" dirty="0"/>
          </a:p>
        </p:txBody>
      </p:sp>
      <p:sp>
        <p:nvSpPr>
          <p:cNvPr id="25" name="Text 2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الأردوينو للمعلمين</a:t>
            </a:r>
            <a:endParaRPr lang="ar-SA" sz="1200" dirty="0"/>
          </a:p>
        </p:txBody>
      </p:sp>
      <p:sp>
        <p:nvSpPr>
          <p:cNvPr id="26" name="Text 2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مشروع التخرج  ·  ١٥٠</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400"/>
                                        <p:tgtEl>
                                          <p:spTgt spid="2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400"/>
                                        <p:tgtEl>
                                          <p:spTgt spid="2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400"/>
                                        <p:tgtEl>
                                          <p:spTgt spid="2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151.xml><?xml version="1.0" encoding="utf-8"?>
<p:sld xmlns:a="http://schemas.openxmlformats.org/drawingml/2006/main" xmlns:r="http://schemas.openxmlformats.org/officeDocument/2006/relationships" xmlns:p="http://schemas.openxmlformats.org/presentationml/2006/main">
  <p:cSld name="Slide 151">
    <p:spTree>
      <p:nvGrpSpPr>
        <p:cNvPr id="1" name=""/>
        <p:cNvGrpSpPr/>
        <p:nvPr/>
      </p:nvGrpSpPr>
      <p:grpSpPr>
        <a:xfrm>
          <a:off x="0" y="0"/>
          <a:ext cx="0" cy="0"/>
          <a:chOff x="0" y="0"/>
          <a:chExt cx="0" cy="0"/>
        </a:xfrm>
      </p:grpSpPr>
      <p:pic>
        <p:nvPicPr>
          <p:cNvPr id="2" name="Image 0" descr="/Users/mac/Desktop/أردوينو/المشاريع والكتب/younes-training/arduino/.pptx-cache/s151-0.jpg">    </p:cNvPr>
          <p:cNvPicPr>
            <a:picLocks noChangeAspect="1"/>
          </p:cNvPicPr>
          <p:nvPr/>
        </p:nvPicPr>
        <p:blipFill>
          <a:blip r:embed="rId1"/>
          <a:stretch>
            <a:fillRect/>
          </a:stretch>
        </p:blipFill>
        <p:spPr>
          <a:xfrm>
            <a:off x="0" y="0"/>
            <a:ext cx="12191695" cy="6858000"/>
          </a:xfrm>
          <a:prstGeom prst="rect">
            <a:avLst/>
          </a:prstGeom>
        </p:spPr>
      </p:pic>
      <p:pic>
        <p:nvPicPr>
          <p:cNvPr id="3" name="anim-g1-1061" descr="/Users/mac/Desktop/أردوينو/المشاريع والكتب/younes-training/arduino/.pptx-cache/s151-1.jpg">    </p:cNvPr>
          <p:cNvPicPr>
            <a:picLocks noChangeAspect="1"/>
          </p:cNvPicPr>
          <p:nvPr/>
        </p:nvPicPr>
        <p:blipFill>
          <a:blip r:embed="rId2"/>
          <a:stretch>
            <a:fillRect/>
          </a:stretch>
        </p:blipFill>
        <p:spPr>
          <a:xfrm>
            <a:off x="0" y="0"/>
            <a:ext cx="12191695" cy="6858000"/>
          </a:xfrm>
          <a:prstGeom prst="rect">
            <a:avLst/>
          </a:prstGeom>
        </p:spPr>
      </p:pic>
      <p:pic>
        <p:nvPicPr>
          <p:cNvPr id="4" name="anim-g2-1062" descr="/Users/mac/Desktop/أردوينو/المشاريع والكتب/younes-training/arduino/.pptx-cache/s151-2.jpg">    </p:cNvPr>
          <p:cNvPicPr>
            <a:picLocks noChangeAspect="1"/>
          </p:cNvPicPr>
          <p:nvPr/>
        </p:nvPicPr>
        <p:blipFill>
          <a:blip r:embed="rId3"/>
          <a:stretch>
            <a:fillRect/>
          </a:stretch>
        </p:blipFill>
        <p:spPr>
          <a:xfrm>
            <a:off x="0" y="0"/>
            <a:ext cx="12191695" cy="6858000"/>
          </a:xfrm>
          <a:prstGeom prst="rect">
            <a:avLst/>
          </a:prstGeom>
        </p:spPr>
      </p:pic>
      <p:pic>
        <p:nvPicPr>
          <p:cNvPr id="5" name="anim-g3-1063" descr="/Users/mac/Desktop/أردوينو/المشاريع والكتب/younes-training/arduino/.pptx-cache/s151-3.jpg">    </p:cNvPr>
          <p:cNvPicPr>
            <a:picLocks noChangeAspect="1"/>
          </p:cNvPicPr>
          <p:nvPr/>
        </p:nvPicPr>
        <p:blipFill>
          <a:blip r:embed="rId4"/>
          <a:stretch>
            <a:fillRect/>
          </a:stretch>
        </p:blipFill>
        <p:spPr>
          <a:xfrm>
            <a:off x="0" y="0"/>
            <a:ext cx="12191695" cy="6858000"/>
          </a:xfrm>
          <a:prstGeom prst="rect">
            <a:avLst/>
          </a:prstGeom>
        </p:spPr>
      </p:pic>
      <p:pic>
        <p:nvPicPr>
          <p:cNvPr id="6" name="anim-g4-1064" descr="/Users/mac/Desktop/أردوينو/المشاريع والكتب/younes-training/arduino/.pptx-cache/s151-4.jpg">    </p:cNvPr>
          <p:cNvPicPr>
            <a:picLocks noChangeAspect="1"/>
          </p:cNvPicPr>
          <p:nvPr/>
        </p:nvPicPr>
        <p:blipFill>
          <a:blip r:embed="rId5"/>
          <a:stretch>
            <a:fillRect/>
          </a:stretch>
        </p:blipFill>
        <p:spPr>
          <a:xfrm>
            <a:off x="0" y="0"/>
            <a:ext cx="12191695" cy="6858000"/>
          </a:xfrm>
          <a:prstGeom prst="rect">
            <a:avLst/>
          </a:prstGeom>
        </p:spPr>
      </p:pic>
      <p:pic>
        <p:nvPicPr>
          <p:cNvPr id="7" name="anim-g5-1065" descr="/Users/mac/Desktop/أردوينو/المشاريع والكتب/younes-training/arduino/.pptx-cache/s151-5.jpg">    </p:cNvPr>
          <p:cNvPicPr>
            <a:picLocks noChangeAspect="1"/>
          </p:cNvPicPr>
          <p:nvPr/>
        </p:nvPicPr>
        <p:blipFill>
          <a:blip r:embed="rId6"/>
          <a:stretch>
            <a:fillRect/>
          </a:stretch>
        </p:blipFill>
        <p:spPr>
          <a:xfrm>
            <a:off x="0" y="0"/>
            <a:ext cx="12191695" cy="6858000"/>
          </a:xfrm>
          <a:prstGeom prst="rect">
            <a:avLst/>
          </a:prstGeom>
        </p:spPr>
      </p:pic>
      <p:pic>
        <p:nvPicPr>
          <p:cNvPr id="8" name="anim-g6-1066" descr="/Users/mac/Desktop/أردوينو/المشاريع والكتب/younes-training/arduino/.pptx-cache/s151-6.jpg">    </p:cNvPr>
          <p:cNvPicPr>
            <a:picLocks noChangeAspect="1"/>
          </p:cNvPicPr>
          <p:nvPr/>
        </p:nvPicPr>
        <p:blipFill>
          <a:blip r:embed="rId7"/>
          <a:stretch>
            <a:fillRect/>
          </a:stretch>
        </p:blipFill>
        <p:spPr>
          <a:xfrm>
            <a:off x="0" y="0"/>
            <a:ext cx="12191695" cy="6858000"/>
          </a:xfrm>
          <a:prstGeom prst="rect">
            <a:avLst/>
          </a:prstGeom>
        </p:spPr>
      </p:pic>
      <p:pic>
        <p:nvPicPr>
          <p:cNvPr id="9" name="anim-g7-1067" descr="/Users/mac/Desktop/أردوينو/المشاريع والكتب/younes-training/arduino/.pptx-cache/s151-7.jpg">    </p:cNvPr>
          <p:cNvPicPr>
            <a:picLocks noChangeAspect="1"/>
          </p:cNvPicPr>
          <p:nvPr/>
        </p:nvPicPr>
        <p:blipFill>
          <a:blip r:embed="rId8"/>
          <a:stretch>
            <a:fillRect/>
          </a:stretch>
        </p:blipFill>
        <p:spPr>
          <a:xfrm>
            <a:off x="0" y="0"/>
            <a:ext cx="12191695" cy="6858000"/>
          </a:xfrm>
          <a:prstGeom prst="rect">
            <a:avLst/>
          </a:prstGeom>
        </p:spPr>
      </p:pic>
      <p:pic>
        <p:nvPicPr>
          <p:cNvPr id="10" name="anim-g8-1068" descr="/Users/mac/Desktop/أردوينو/المشاريع والكتب/younes-training/arduino/.pptx-cache/s151-8.jpg">    </p:cNvPr>
          <p:cNvPicPr>
            <a:picLocks noChangeAspect="1"/>
          </p:cNvPicPr>
          <p:nvPr/>
        </p:nvPicPr>
        <p:blipFill>
          <a:blip r:embed="rId9"/>
          <a:stretch>
            <a:fillRect/>
          </a:stretch>
        </p:blipFill>
        <p:spPr>
          <a:xfrm>
            <a:off x="0" y="0"/>
            <a:ext cx="12191695" cy="6858000"/>
          </a:xfrm>
          <a:prstGeom prst="rect">
            <a:avLst/>
          </a:prstGeom>
        </p:spPr>
      </p:pic>
      <p:pic>
        <p:nvPicPr>
          <p:cNvPr id="11" name="anim-g9-1069" descr="/Users/mac/Desktop/أردوينو/المشاريع والكتب/younes-training/arduino/.pptx-cache/s151-9.jpg">    </p:cNvPr>
          <p:cNvPicPr>
            <a:picLocks noChangeAspect="1"/>
          </p:cNvPicPr>
          <p:nvPr/>
        </p:nvPicPr>
        <p:blipFill>
          <a:blip r:embed="rId10"/>
          <a:stretch>
            <a:fillRect/>
          </a:stretch>
        </p:blipFill>
        <p:spPr>
          <a:xfrm>
            <a:off x="0" y="0"/>
            <a:ext cx="12191695" cy="6858000"/>
          </a:xfrm>
          <a:prstGeom prst="rect">
            <a:avLst/>
          </a:prstGeom>
        </p:spPr>
      </p:pic>
      <p:pic>
        <p:nvPicPr>
          <p:cNvPr id="12" name="anim-g10-1070" descr="/Users/mac/Desktop/أردوينو/المشاريع والكتب/younes-training/arduino/.pptx-cache/s151-10.jpg">    </p:cNvPr>
          <p:cNvPicPr>
            <a:picLocks noChangeAspect="1"/>
          </p:cNvPicPr>
          <p:nvPr/>
        </p:nvPicPr>
        <p:blipFill>
          <a:blip r:embed="rId11"/>
          <a:stretch>
            <a:fillRect/>
          </a:stretch>
        </p:blipFill>
        <p:spPr>
          <a:xfrm>
            <a:off x="0" y="0"/>
            <a:ext cx="12191695" cy="6858000"/>
          </a:xfrm>
          <a:prstGeom prst="rect">
            <a:avLst/>
          </a:prstGeom>
        </p:spPr>
      </p:pic>
      <p:pic>
        <p:nvPicPr>
          <p:cNvPr id="13" name="anim-g11-1071" descr="/Users/mac/Desktop/أردوينو/المشاريع والكتب/younes-training/arduino/.pptx-cache/s151-11.jpg">    </p:cNvPr>
          <p:cNvPicPr>
            <a:picLocks noChangeAspect="1"/>
          </p:cNvPicPr>
          <p:nvPr/>
        </p:nvPicPr>
        <p:blipFill>
          <a:blip r:embed="rId12"/>
          <a:stretch>
            <a:fillRect/>
          </a:stretch>
        </p:blipFill>
        <p:spPr>
          <a:xfrm>
            <a:off x="0" y="0"/>
            <a:ext cx="12191695" cy="6858000"/>
          </a:xfrm>
          <a:prstGeom prst="rect">
            <a:avLst/>
          </a:prstGeom>
        </p:spPr>
      </p:pic>
      <p:pic>
        <p:nvPicPr>
          <p:cNvPr id="14" name="anim-g12-1072" descr="/Users/mac/Desktop/أردوينو/المشاريع والكتب/younes-training/arduino/.pptx-cache/s151-12.jpg">    </p:cNvPr>
          <p:cNvPicPr>
            <a:picLocks noChangeAspect="1"/>
          </p:cNvPicPr>
          <p:nvPr/>
        </p:nvPicPr>
        <p:blipFill>
          <a:blip r:embed="rId13"/>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4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4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400"/>
                                        <p:tgtEl>
                                          <p:spTgt spid="10"/>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fade">
                                      <p:cBhvr>
                                        <p:cTn id="47" dur="400"/>
                                        <p:tgtEl>
                                          <p:spTgt spid="11"/>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2"/>
                                        </p:tgtEl>
                                        <p:attrNameLst>
                                          <p:attrName>style.visibility</p:attrName>
                                        </p:attrNameLst>
                                      </p:cBhvr>
                                      <p:to>
                                        <p:strVal val="visible"/>
                                      </p:to>
                                    </p:set>
                                    <p:animEffect transition="in" filter="fade">
                                      <p:cBhvr>
                                        <p:cTn id="52" dur="400"/>
                                        <p:tgtEl>
                                          <p:spTgt spid="12"/>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13"/>
                                        </p:tgtEl>
                                        <p:attrNameLst>
                                          <p:attrName>style.visibility</p:attrName>
                                        </p:attrNameLst>
                                      </p:cBhvr>
                                      <p:to>
                                        <p:strVal val="visible"/>
                                      </p:to>
                                    </p:set>
                                    <p:animEffect transition="in" filter="fade">
                                      <p:cBhvr>
                                        <p:cTn id="57" dur="400"/>
                                        <p:tgtEl>
                                          <p:spTgt spid="13"/>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14"/>
                                        </p:tgtEl>
                                        <p:attrNameLst>
                                          <p:attrName>style.visibility</p:attrName>
                                        </p:attrNameLst>
                                      </p:cBhvr>
                                      <p:to>
                                        <p:strVal val="visible"/>
                                      </p:to>
                                    </p:set>
                                    <p:animEffect transition="in" filter="fade">
                                      <p:cBhvr>
                                        <p:cTn id="62"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2.xml><?xml version="1.0" encoding="utf-8"?>
<p:sld xmlns:a="http://schemas.openxmlformats.org/drawingml/2006/main" xmlns:r="http://schemas.openxmlformats.org/officeDocument/2006/relationships" xmlns:p="http://schemas.openxmlformats.org/presentationml/2006/main">
  <p:cSld name="Slide 15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9759391" y="457200"/>
            <a:ext cx="1609344" cy="457200"/>
          </a:xfrm>
          <a:prstGeom prst="roundRect">
            <a:avLst>
              <a:gd name="adj" fmla="val 50000"/>
            </a:avLst>
          </a:prstGeom>
          <a:solidFill>
            <a:srgbClr val="F6EBCF"/>
          </a:solidFill>
          <a:ln/>
        </p:spPr>
      </p:sp>
      <p:sp>
        <p:nvSpPr>
          <p:cNvPr id="3" name="Text 1"/>
          <p:cNvSpPr/>
          <p:nvPr/>
        </p:nvSpPr>
        <p:spPr>
          <a:xfrm>
            <a:off x="9759391" y="457200"/>
            <a:ext cx="1609344"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للمعلم</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كيف تقيّم مشروع طالبك؟</a:t>
            </a:r>
            <a:endParaRPr lang="ar-SA" sz="3800" dirty="0"/>
          </a:p>
        </p:txBody>
      </p:sp>
      <p:sp>
        <p:nvSpPr>
          <p:cNvPr id="5" name="Shape 3"/>
          <p:cNvSpPr/>
          <p:nvPr/>
        </p:nvSpPr>
        <p:spPr>
          <a:xfrm>
            <a:off x="8939013" y="1874520"/>
            <a:ext cx="2429722" cy="548640"/>
          </a:xfrm>
          <a:prstGeom prst="roundRect">
            <a:avLst>
              <a:gd name="adj" fmla="val 20000"/>
            </a:avLst>
          </a:prstGeom>
          <a:solidFill>
            <a:srgbClr val="101B45"/>
          </a:solidFill>
          <a:ln/>
        </p:spPr>
      </p:sp>
      <p:sp>
        <p:nvSpPr>
          <p:cNvPr id="6" name="Text 4"/>
          <p:cNvSpPr/>
          <p:nvPr/>
        </p:nvSpPr>
        <p:spPr>
          <a:xfrm>
            <a:off x="8939013" y="1874520"/>
            <a:ext cx="2429722"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المعيار</a:t>
            </a:r>
            <a:endParaRPr lang="ar-SA" sz="1900" dirty="0"/>
          </a:p>
        </p:txBody>
      </p:sp>
      <p:sp>
        <p:nvSpPr>
          <p:cNvPr id="7" name="Shape 5"/>
          <p:cNvSpPr/>
          <p:nvPr/>
        </p:nvSpPr>
        <p:spPr>
          <a:xfrm>
            <a:off x="5184702" y="1874520"/>
            <a:ext cx="3644583" cy="548640"/>
          </a:xfrm>
          <a:prstGeom prst="roundRect">
            <a:avLst>
              <a:gd name="adj" fmla="val 20000"/>
            </a:avLst>
          </a:prstGeom>
          <a:solidFill>
            <a:srgbClr val="101B45"/>
          </a:solidFill>
          <a:ln/>
        </p:spPr>
      </p:sp>
      <p:sp>
        <p:nvSpPr>
          <p:cNvPr id="8" name="Text 6"/>
          <p:cNvSpPr/>
          <p:nvPr/>
        </p:nvSpPr>
        <p:spPr>
          <a:xfrm>
            <a:off x="5184702" y="1874520"/>
            <a:ext cx="3644583"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يحتاج دعمًا</a:t>
            </a:r>
            <a:endParaRPr lang="ar-SA" sz="1900" dirty="0"/>
          </a:p>
        </p:txBody>
      </p:sp>
      <p:sp>
        <p:nvSpPr>
          <p:cNvPr id="9" name="Shape 7"/>
          <p:cNvSpPr/>
          <p:nvPr/>
        </p:nvSpPr>
        <p:spPr>
          <a:xfrm>
            <a:off x="822960" y="1874520"/>
            <a:ext cx="4252014" cy="548640"/>
          </a:xfrm>
          <a:prstGeom prst="roundRect">
            <a:avLst>
              <a:gd name="adj" fmla="val 20000"/>
            </a:avLst>
          </a:prstGeom>
          <a:solidFill>
            <a:srgbClr val="101B45"/>
          </a:solidFill>
          <a:ln/>
        </p:spPr>
      </p:sp>
      <p:sp>
        <p:nvSpPr>
          <p:cNvPr id="10" name="Text 8"/>
          <p:cNvSpPr/>
          <p:nvPr/>
        </p:nvSpPr>
        <p:spPr>
          <a:xfrm>
            <a:off x="822960" y="1874520"/>
            <a:ext cx="4252014"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متميز</a:t>
            </a:r>
            <a:endParaRPr lang="ar-SA" sz="1900" dirty="0"/>
          </a:p>
        </p:txBody>
      </p:sp>
      <p:sp>
        <p:nvSpPr>
          <p:cNvPr id="11" name="anim-g1-1073"/>
          <p:cNvSpPr/>
          <p:nvPr/>
        </p:nvSpPr>
        <p:spPr>
          <a:xfrm>
            <a:off x="8939013" y="2514600"/>
            <a:ext cx="2429722" cy="1100328"/>
          </a:xfrm>
          <a:prstGeom prst="roundRect">
            <a:avLst>
              <a:gd name="adj" fmla="val 9972"/>
            </a:avLst>
          </a:prstGeom>
          <a:solidFill>
            <a:srgbClr val="FBF3DF"/>
          </a:solidFill>
          <a:ln w="12700">
            <a:solidFill>
              <a:srgbClr val="EFDDAF"/>
            </a:solidFill>
            <a:prstDash val="solid"/>
          </a:ln>
        </p:spPr>
      </p:sp>
      <p:sp>
        <p:nvSpPr>
          <p:cNvPr id="12" name="anim-g1-1074"/>
          <p:cNvSpPr/>
          <p:nvPr/>
        </p:nvSpPr>
        <p:spPr>
          <a:xfrm>
            <a:off x="9076173" y="2514600"/>
            <a:ext cx="2155402"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 الدائرة</a:t>
            </a:r>
            <a:endParaRPr lang="ar-SA" sz="2100" dirty="0"/>
          </a:p>
        </p:txBody>
      </p:sp>
      <p:sp>
        <p:nvSpPr>
          <p:cNvPr id="13" name="anim-g1-1075"/>
          <p:cNvSpPr/>
          <p:nvPr/>
        </p:nvSpPr>
        <p:spPr>
          <a:xfrm>
            <a:off x="5184702" y="2514600"/>
            <a:ext cx="3644583" cy="1100328"/>
          </a:xfrm>
          <a:prstGeom prst="roundRect">
            <a:avLst>
              <a:gd name="adj" fmla="val 9972"/>
            </a:avLst>
          </a:prstGeom>
          <a:solidFill>
            <a:srgbClr val="FFFFFF"/>
          </a:solidFill>
          <a:ln w="12700">
            <a:solidFill>
              <a:srgbClr val="E4DCC8"/>
            </a:solidFill>
            <a:prstDash val="solid"/>
          </a:ln>
        </p:spPr>
      </p:sp>
      <p:sp>
        <p:nvSpPr>
          <p:cNvPr id="14" name="anim-g1-1076"/>
          <p:cNvSpPr/>
          <p:nvPr/>
        </p:nvSpPr>
        <p:spPr>
          <a:xfrm>
            <a:off x="5321862" y="2514600"/>
            <a:ext cx="3370263"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تعمل بمساعدة المعلم</a:t>
            </a:r>
            <a:endParaRPr lang="ar-SA" sz="2100" dirty="0"/>
          </a:p>
        </p:txBody>
      </p:sp>
      <p:sp>
        <p:nvSpPr>
          <p:cNvPr id="15" name="anim-g1-1077"/>
          <p:cNvSpPr/>
          <p:nvPr/>
        </p:nvSpPr>
        <p:spPr>
          <a:xfrm>
            <a:off x="822960" y="2514600"/>
            <a:ext cx="4252014" cy="1100328"/>
          </a:xfrm>
          <a:prstGeom prst="roundRect">
            <a:avLst>
              <a:gd name="adj" fmla="val 9972"/>
            </a:avLst>
          </a:prstGeom>
          <a:solidFill>
            <a:srgbClr val="E6F4EC"/>
          </a:solidFill>
          <a:ln w="12700">
            <a:solidFill>
              <a:srgbClr val="CDE9D9"/>
            </a:solidFill>
            <a:prstDash val="solid"/>
          </a:ln>
        </p:spPr>
      </p:sp>
      <p:sp>
        <p:nvSpPr>
          <p:cNvPr id="16" name="anim-g1-1078"/>
          <p:cNvSpPr/>
          <p:nvPr/>
        </p:nvSpPr>
        <p:spPr>
          <a:xfrm>
            <a:off x="960120" y="2514600"/>
            <a:ext cx="3977694"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مرتبة، وألوان أسلاكها صحيحة، ويشرح مسار التيار</a:t>
            </a:r>
            <a:endParaRPr lang="ar-SA" sz="2100" dirty="0"/>
          </a:p>
        </p:txBody>
      </p:sp>
      <p:sp>
        <p:nvSpPr>
          <p:cNvPr id="17" name="anim-g2-1079"/>
          <p:cNvSpPr/>
          <p:nvPr/>
        </p:nvSpPr>
        <p:spPr>
          <a:xfrm>
            <a:off x="8939013" y="3724656"/>
            <a:ext cx="2429722" cy="1100328"/>
          </a:xfrm>
          <a:prstGeom prst="roundRect">
            <a:avLst>
              <a:gd name="adj" fmla="val 9972"/>
            </a:avLst>
          </a:prstGeom>
          <a:solidFill>
            <a:srgbClr val="FBF3DF"/>
          </a:solidFill>
          <a:ln w="12700">
            <a:solidFill>
              <a:srgbClr val="EFDDAF"/>
            </a:solidFill>
            <a:prstDash val="solid"/>
          </a:ln>
        </p:spPr>
      </p:sp>
      <p:sp>
        <p:nvSpPr>
          <p:cNvPr id="18" name="anim-g2-1080"/>
          <p:cNvSpPr/>
          <p:nvPr/>
        </p:nvSpPr>
        <p:spPr>
          <a:xfrm>
            <a:off x="9076173" y="3724656"/>
            <a:ext cx="2155402"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 الكود</a:t>
            </a:r>
            <a:endParaRPr lang="ar-SA" sz="2100" dirty="0"/>
          </a:p>
        </p:txBody>
      </p:sp>
      <p:sp>
        <p:nvSpPr>
          <p:cNvPr id="19" name="anim-g2-1081"/>
          <p:cNvSpPr/>
          <p:nvPr/>
        </p:nvSpPr>
        <p:spPr>
          <a:xfrm>
            <a:off x="5184702" y="3724656"/>
            <a:ext cx="3644583" cy="1100328"/>
          </a:xfrm>
          <a:prstGeom prst="roundRect">
            <a:avLst>
              <a:gd name="adj" fmla="val 9972"/>
            </a:avLst>
          </a:prstGeom>
          <a:solidFill>
            <a:srgbClr val="FFFFFF"/>
          </a:solidFill>
          <a:ln w="12700">
            <a:solidFill>
              <a:srgbClr val="E4DCC8"/>
            </a:solidFill>
            <a:prstDash val="solid"/>
          </a:ln>
        </p:spPr>
      </p:sp>
      <p:sp>
        <p:nvSpPr>
          <p:cNvPr id="20" name="anim-g2-1082"/>
          <p:cNvSpPr/>
          <p:nvPr/>
        </p:nvSpPr>
        <p:spPr>
          <a:xfrm>
            <a:off x="5321862" y="3724656"/>
            <a:ext cx="3370263"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يعمل بعد تصحيحات كثيرة</a:t>
            </a:r>
            <a:endParaRPr lang="ar-SA" sz="2100" dirty="0"/>
          </a:p>
        </p:txBody>
      </p:sp>
      <p:sp>
        <p:nvSpPr>
          <p:cNvPr id="21" name="anim-g2-1083"/>
          <p:cNvSpPr/>
          <p:nvPr/>
        </p:nvSpPr>
        <p:spPr>
          <a:xfrm>
            <a:off x="822960" y="3724656"/>
            <a:ext cx="4252014" cy="1100328"/>
          </a:xfrm>
          <a:prstGeom prst="roundRect">
            <a:avLst>
              <a:gd name="adj" fmla="val 9972"/>
            </a:avLst>
          </a:prstGeom>
          <a:solidFill>
            <a:srgbClr val="E6F4EC"/>
          </a:solidFill>
          <a:ln w="12700">
            <a:solidFill>
              <a:srgbClr val="CDE9D9"/>
            </a:solidFill>
            <a:prstDash val="solid"/>
          </a:ln>
        </p:spPr>
      </p:sp>
      <p:sp>
        <p:nvSpPr>
          <p:cNvPr id="22" name="anim-g2-1084"/>
          <p:cNvSpPr/>
          <p:nvPr/>
        </p:nvSpPr>
        <p:spPr>
          <a:xfrm>
            <a:off x="960120" y="3724656"/>
            <a:ext cx="3977694"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متغيرات واضحة، وتعليقات بالعربية على كل جزء</a:t>
            </a:r>
            <a:endParaRPr lang="ar-SA" sz="2100" dirty="0"/>
          </a:p>
        </p:txBody>
      </p:sp>
      <p:sp>
        <p:nvSpPr>
          <p:cNvPr id="23" name="anim-g3-1085"/>
          <p:cNvSpPr/>
          <p:nvPr/>
        </p:nvSpPr>
        <p:spPr>
          <a:xfrm>
            <a:off x="8939013" y="4934712"/>
            <a:ext cx="2429722" cy="1100328"/>
          </a:xfrm>
          <a:prstGeom prst="roundRect">
            <a:avLst>
              <a:gd name="adj" fmla="val 9972"/>
            </a:avLst>
          </a:prstGeom>
          <a:solidFill>
            <a:srgbClr val="FBF3DF"/>
          </a:solidFill>
          <a:ln w="12700">
            <a:solidFill>
              <a:srgbClr val="EFDDAF"/>
            </a:solidFill>
            <a:prstDash val="solid"/>
          </a:ln>
        </p:spPr>
      </p:sp>
      <p:sp>
        <p:nvSpPr>
          <p:cNvPr id="24" name="anim-g3-1086"/>
          <p:cNvSpPr/>
          <p:nvPr/>
        </p:nvSpPr>
        <p:spPr>
          <a:xfrm>
            <a:off x="9076173" y="4934712"/>
            <a:ext cx="2155402"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 العرض</a:t>
            </a:r>
            <a:endParaRPr lang="ar-SA" sz="2100" dirty="0"/>
          </a:p>
        </p:txBody>
      </p:sp>
      <p:sp>
        <p:nvSpPr>
          <p:cNvPr id="25" name="anim-g3-1087"/>
          <p:cNvSpPr/>
          <p:nvPr/>
        </p:nvSpPr>
        <p:spPr>
          <a:xfrm>
            <a:off x="5184702" y="4934712"/>
            <a:ext cx="3644583" cy="1100328"/>
          </a:xfrm>
          <a:prstGeom prst="roundRect">
            <a:avLst>
              <a:gd name="adj" fmla="val 9972"/>
            </a:avLst>
          </a:prstGeom>
          <a:solidFill>
            <a:srgbClr val="FFFFFF"/>
          </a:solidFill>
          <a:ln w="12700">
            <a:solidFill>
              <a:srgbClr val="E4DCC8"/>
            </a:solidFill>
            <a:prstDash val="solid"/>
          </a:ln>
        </p:spPr>
      </p:sp>
      <p:sp>
        <p:nvSpPr>
          <p:cNvPr id="26" name="anim-g3-1088"/>
          <p:cNvSpPr/>
          <p:nvPr/>
        </p:nvSpPr>
        <p:spPr>
          <a:xfrm>
            <a:off x="5321862" y="4934712"/>
            <a:ext cx="3370263"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يقرأ من الورقة</a:t>
            </a:r>
            <a:endParaRPr lang="ar-SA" sz="2100" dirty="0"/>
          </a:p>
        </p:txBody>
      </p:sp>
      <p:sp>
        <p:nvSpPr>
          <p:cNvPr id="27" name="anim-g3-1089"/>
          <p:cNvSpPr/>
          <p:nvPr/>
        </p:nvSpPr>
        <p:spPr>
          <a:xfrm>
            <a:off x="822960" y="4934712"/>
            <a:ext cx="4252014" cy="1100328"/>
          </a:xfrm>
          <a:prstGeom prst="roundRect">
            <a:avLst>
              <a:gd name="adj" fmla="val 9972"/>
            </a:avLst>
          </a:prstGeom>
          <a:solidFill>
            <a:srgbClr val="E6F4EC"/>
          </a:solidFill>
          <a:ln w="12700">
            <a:solidFill>
              <a:srgbClr val="CDE9D9"/>
            </a:solidFill>
            <a:prstDash val="solid"/>
          </a:ln>
        </p:spPr>
      </p:sp>
      <p:sp>
        <p:nvSpPr>
          <p:cNvPr id="28" name="anim-g3-1090"/>
          <p:cNvSpPr/>
          <p:nvPr/>
        </p:nvSpPr>
        <p:spPr>
          <a:xfrm>
            <a:off x="960120" y="4934712"/>
            <a:ext cx="3977694"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يشرح الفكرة، ويجيب عن الأسئلة، ويقترح تطويرًا</a:t>
            </a:r>
            <a:endParaRPr lang="ar-SA" sz="2100" dirty="0"/>
          </a:p>
        </p:txBody>
      </p:sp>
      <p:sp>
        <p:nvSpPr>
          <p:cNvPr id="29" name="Text 27"/>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الأردوينو للمعلمين</a:t>
            </a:r>
            <a:endParaRPr lang="ar-SA" sz="1200" dirty="0"/>
          </a:p>
        </p:txBody>
      </p:sp>
      <p:sp>
        <p:nvSpPr>
          <p:cNvPr id="30" name="Text 28"/>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مشروع التخرج  ·  ١٥٢</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00"/>
                                        <p:tgtEl>
                                          <p:spTgt spid="1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400"/>
                                        <p:tgtEl>
                                          <p:spTgt spid="1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400"/>
                                        <p:tgtEl>
                                          <p:spTgt spid="1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4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00"/>
                                        <p:tgtEl>
                                          <p:spTgt spid="17"/>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400"/>
                                        <p:tgtEl>
                                          <p:spTgt spid="18"/>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400"/>
                                        <p:tgtEl>
                                          <p:spTgt spid="19"/>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6" dur="400"/>
                                        <p:tgtEl>
                                          <p:spTgt spid="20"/>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fade">
                                      <p:cBhvr>
                                        <p:cTn id="39" dur="400"/>
                                        <p:tgtEl>
                                          <p:spTgt spid="21"/>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400"/>
                                        <p:tgtEl>
                                          <p:spTgt spid="2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400"/>
                                        <p:tgtEl>
                                          <p:spTgt spid="23"/>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4"/>
                                        </p:tgtEl>
                                        <p:attrNameLst>
                                          <p:attrName>style.visibility</p:attrName>
                                        </p:attrNameLst>
                                      </p:cBhvr>
                                      <p:to>
                                        <p:strVal val="visible"/>
                                      </p:to>
                                    </p:set>
                                    <p:animEffect transition="in" filter="fade">
                                      <p:cBhvr>
                                        <p:cTn id="50" dur="400"/>
                                        <p:tgtEl>
                                          <p:spTgt spid="24"/>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5"/>
                                        </p:tgtEl>
                                        <p:attrNameLst>
                                          <p:attrName>style.visibility</p:attrName>
                                        </p:attrNameLst>
                                      </p:cBhvr>
                                      <p:to>
                                        <p:strVal val="visible"/>
                                      </p:to>
                                    </p:set>
                                    <p:animEffect transition="in" filter="fade">
                                      <p:cBhvr>
                                        <p:cTn id="53" dur="400"/>
                                        <p:tgtEl>
                                          <p:spTgt spid="25"/>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6"/>
                                        </p:tgtEl>
                                        <p:attrNameLst>
                                          <p:attrName>style.visibility</p:attrName>
                                        </p:attrNameLst>
                                      </p:cBhvr>
                                      <p:to>
                                        <p:strVal val="visible"/>
                                      </p:to>
                                    </p:set>
                                    <p:animEffect transition="in" filter="fade">
                                      <p:cBhvr>
                                        <p:cTn id="56" dur="400"/>
                                        <p:tgtEl>
                                          <p:spTgt spid="26"/>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7"/>
                                        </p:tgtEl>
                                        <p:attrNameLst>
                                          <p:attrName>style.visibility</p:attrName>
                                        </p:attrNameLst>
                                      </p:cBhvr>
                                      <p:to>
                                        <p:strVal val="visible"/>
                                      </p:to>
                                    </p:set>
                                    <p:animEffect transition="in" filter="fade">
                                      <p:cBhvr>
                                        <p:cTn id="59" dur="400"/>
                                        <p:tgtEl>
                                          <p:spTgt spid="27"/>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8"/>
                                        </p:tgtEl>
                                        <p:attrNameLst>
                                          <p:attrName>style.visibility</p:attrName>
                                        </p:attrNameLst>
                                      </p:cBhvr>
                                      <p:to>
                                        <p:strVal val="visible"/>
                                      </p:to>
                                    </p:set>
                                    <p:animEffect transition="in" filter="fade">
                                      <p:cBhvr>
                                        <p:cTn id="62"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Lst>
  </p:timing>
</p:sld>
</file>

<file path=ppt/slides/slide153.xml><?xml version="1.0" encoding="utf-8"?>
<p:sld xmlns:a="http://schemas.openxmlformats.org/drawingml/2006/main" xmlns:r="http://schemas.openxmlformats.org/officeDocument/2006/relationships" xmlns:p="http://schemas.openxmlformats.org/presentationml/2006/main">
  <p:cSld name="Slide 15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81567" y="457200"/>
            <a:ext cx="2487168" cy="457200"/>
          </a:xfrm>
          <a:prstGeom prst="roundRect">
            <a:avLst>
              <a:gd name="adj" fmla="val 50000"/>
            </a:avLst>
          </a:prstGeom>
          <a:solidFill>
            <a:srgbClr val="F6EBCF"/>
          </a:solidFill>
          <a:ln/>
        </p:spPr>
      </p:sp>
      <p:sp>
        <p:nvSpPr>
          <p:cNvPr id="3" name="Text 1"/>
          <p:cNvSpPr/>
          <p:nvPr/>
        </p:nvSpPr>
        <p:spPr>
          <a:xfrm>
            <a:off x="8881567" y="45720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خارطة الطريق</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علّم الأردوينو لطلابك في ستة أسابيع</a:t>
            </a:r>
            <a:endParaRPr lang="ar-SA" sz="3200" dirty="0"/>
          </a:p>
        </p:txBody>
      </p:sp>
      <p:sp>
        <p:nvSpPr>
          <p:cNvPr id="5" name="anim-g1-1091"/>
          <p:cNvSpPr/>
          <p:nvPr/>
        </p:nvSpPr>
        <p:spPr>
          <a:xfrm>
            <a:off x="822960" y="1920240"/>
            <a:ext cx="10545775" cy="594360"/>
          </a:xfrm>
          <a:prstGeom prst="roundRect">
            <a:avLst>
              <a:gd name="adj" fmla="val 24615"/>
            </a:avLst>
          </a:prstGeom>
          <a:solidFill>
            <a:srgbClr val="FFFFFF"/>
          </a:solidFill>
          <a:ln w="12700">
            <a:solidFill>
              <a:srgbClr val="E4DCC8"/>
            </a:solidFill>
            <a:prstDash val="solid"/>
          </a:ln>
        </p:spPr>
      </p:sp>
      <p:sp>
        <p:nvSpPr>
          <p:cNvPr id="6" name="anim-g1-1092"/>
          <p:cNvSpPr/>
          <p:nvPr/>
        </p:nvSpPr>
        <p:spPr>
          <a:xfrm>
            <a:off x="10728655" y="2011680"/>
            <a:ext cx="411480" cy="411480"/>
          </a:xfrm>
          <a:prstGeom prst="ellipse">
            <a:avLst/>
          </a:prstGeom>
          <a:solidFill>
            <a:srgbClr val="D9AE4B"/>
          </a:solidFill>
          <a:ln/>
        </p:spPr>
      </p:sp>
      <p:sp>
        <p:nvSpPr>
          <p:cNvPr id="7" name="anim-g1-1093"/>
          <p:cNvSpPr/>
          <p:nvPr/>
        </p:nvSpPr>
        <p:spPr>
          <a:xfrm>
            <a:off x="10728655" y="2011680"/>
            <a:ext cx="411480" cy="411480"/>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١</a:t>
            </a:r>
            <a:endParaRPr lang="ar-SA" sz="2000" dirty="0"/>
          </a:p>
        </p:txBody>
      </p:sp>
      <p:sp>
        <p:nvSpPr>
          <p:cNvPr id="8" name="anim-g1-1094"/>
          <p:cNvSpPr/>
          <p:nvPr/>
        </p:nvSpPr>
        <p:spPr>
          <a:xfrm>
            <a:off x="1097280" y="1920240"/>
            <a:ext cx="9402775" cy="594360"/>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الأسبوع ١: اللوحة والدوائر</a:t>
            </a:r>
            <a:pPr algn="r" indent="0" marL="0">
              <a:buNone/>
            </a:pPr>
            <a:r>
              <a:rPr lang="ar-SA" altLang="en-US" sz="1800" b="1" dirty="0">
                <a:solidFill>
                  <a:srgbClr val="3B4460"/>
                </a:solidFill>
                <a:latin typeface="Cairo" pitchFamily="34" charset="0"/>
                <a:ea typeface="Cairo" pitchFamily="34" charset="-122"/>
                <a:cs typeface="Cairo" pitchFamily="34" charset="-120"/>
              </a:rPr>
              <a:t>   — Tinkercad، ولوح التوصيل، وأول دائرة LED</a:t>
            </a:r>
            <a:endParaRPr lang="ar-SA" sz="2200" dirty="0"/>
          </a:p>
        </p:txBody>
      </p:sp>
      <p:sp>
        <p:nvSpPr>
          <p:cNvPr id="9" name="anim-g2-1095"/>
          <p:cNvSpPr/>
          <p:nvPr/>
        </p:nvSpPr>
        <p:spPr>
          <a:xfrm>
            <a:off x="822960" y="2624328"/>
            <a:ext cx="10545775" cy="594360"/>
          </a:xfrm>
          <a:prstGeom prst="roundRect">
            <a:avLst>
              <a:gd name="adj" fmla="val 24615"/>
            </a:avLst>
          </a:prstGeom>
          <a:solidFill>
            <a:srgbClr val="FFFFFF"/>
          </a:solidFill>
          <a:ln w="12700">
            <a:solidFill>
              <a:srgbClr val="E4DCC8"/>
            </a:solidFill>
            <a:prstDash val="solid"/>
          </a:ln>
        </p:spPr>
      </p:sp>
      <p:sp>
        <p:nvSpPr>
          <p:cNvPr id="10" name="anim-g2-1096"/>
          <p:cNvSpPr/>
          <p:nvPr/>
        </p:nvSpPr>
        <p:spPr>
          <a:xfrm>
            <a:off x="10728655" y="2715768"/>
            <a:ext cx="411480" cy="411480"/>
          </a:xfrm>
          <a:prstGeom prst="ellipse">
            <a:avLst/>
          </a:prstGeom>
          <a:solidFill>
            <a:srgbClr val="D9AE4B"/>
          </a:solidFill>
          <a:ln/>
        </p:spPr>
      </p:sp>
      <p:sp>
        <p:nvSpPr>
          <p:cNvPr id="11" name="anim-g2-1097"/>
          <p:cNvSpPr/>
          <p:nvPr/>
        </p:nvSpPr>
        <p:spPr>
          <a:xfrm>
            <a:off x="10728655" y="2715768"/>
            <a:ext cx="411480" cy="411480"/>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٢</a:t>
            </a:r>
            <a:endParaRPr lang="ar-SA" sz="2000" dirty="0"/>
          </a:p>
        </p:txBody>
      </p:sp>
      <p:sp>
        <p:nvSpPr>
          <p:cNvPr id="12" name="anim-g2-1098"/>
          <p:cNvSpPr/>
          <p:nvPr/>
        </p:nvSpPr>
        <p:spPr>
          <a:xfrm>
            <a:off x="1097280" y="2624328"/>
            <a:ext cx="9402775" cy="594360"/>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الأسبوع ٢: أول برنامج</a:t>
            </a:r>
            <a:pPr algn="r" indent="0" marL="0">
              <a:buNone/>
            </a:pPr>
            <a:r>
              <a:rPr lang="ar-SA" altLang="en-US" sz="1800" b="1" dirty="0">
                <a:solidFill>
                  <a:srgbClr val="3B4460"/>
                </a:solidFill>
                <a:latin typeface="Cairo" pitchFamily="34" charset="0"/>
                <a:ea typeface="Cairo" pitchFamily="34" charset="-122"/>
                <a:cs typeface="Cairo" pitchFamily="34" charset="-120"/>
              </a:rPr>
              <a:t>   — الأوامر الثلاثة، ومشروع الوميض</a:t>
            </a:r>
            <a:endParaRPr lang="ar-SA" sz="2200" dirty="0"/>
          </a:p>
        </p:txBody>
      </p:sp>
      <p:sp>
        <p:nvSpPr>
          <p:cNvPr id="13" name="anim-g3-1099"/>
          <p:cNvSpPr/>
          <p:nvPr/>
        </p:nvSpPr>
        <p:spPr>
          <a:xfrm>
            <a:off x="822960" y="3328416"/>
            <a:ext cx="10545775" cy="594360"/>
          </a:xfrm>
          <a:prstGeom prst="roundRect">
            <a:avLst>
              <a:gd name="adj" fmla="val 24615"/>
            </a:avLst>
          </a:prstGeom>
          <a:solidFill>
            <a:srgbClr val="FFFFFF"/>
          </a:solidFill>
          <a:ln w="12700">
            <a:solidFill>
              <a:srgbClr val="E4DCC8"/>
            </a:solidFill>
            <a:prstDash val="solid"/>
          </a:ln>
        </p:spPr>
      </p:sp>
      <p:sp>
        <p:nvSpPr>
          <p:cNvPr id="14" name="anim-g3-1100"/>
          <p:cNvSpPr/>
          <p:nvPr/>
        </p:nvSpPr>
        <p:spPr>
          <a:xfrm>
            <a:off x="10728655" y="3419856"/>
            <a:ext cx="411480" cy="411480"/>
          </a:xfrm>
          <a:prstGeom prst="ellipse">
            <a:avLst/>
          </a:prstGeom>
          <a:solidFill>
            <a:srgbClr val="D9AE4B"/>
          </a:solidFill>
          <a:ln/>
        </p:spPr>
      </p:sp>
      <p:sp>
        <p:nvSpPr>
          <p:cNvPr id="15" name="anim-g3-1101"/>
          <p:cNvSpPr/>
          <p:nvPr/>
        </p:nvSpPr>
        <p:spPr>
          <a:xfrm>
            <a:off x="10728655" y="3419856"/>
            <a:ext cx="411480" cy="411480"/>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٣</a:t>
            </a:r>
            <a:endParaRPr lang="ar-SA" sz="2000" dirty="0"/>
          </a:p>
        </p:txBody>
      </p:sp>
      <p:sp>
        <p:nvSpPr>
          <p:cNvPr id="16" name="anim-g3-1102"/>
          <p:cNvSpPr/>
          <p:nvPr/>
        </p:nvSpPr>
        <p:spPr>
          <a:xfrm>
            <a:off x="1097280" y="3328416"/>
            <a:ext cx="9402775" cy="594360"/>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الأسبوع ٣: إشارة المرور</a:t>
            </a:r>
            <a:pPr algn="r" indent="0" marL="0">
              <a:buNone/>
            </a:pPr>
            <a:r>
              <a:rPr lang="ar-SA" altLang="en-US" sz="1800" b="1" dirty="0">
                <a:solidFill>
                  <a:srgbClr val="3B4460"/>
                </a:solidFill>
                <a:latin typeface="Cairo" pitchFamily="34" charset="0"/>
                <a:ea typeface="Cairo" pitchFamily="34" charset="-122"/>
                <a:cs typeface="Cairo" pitchFamily="34" charset="-120"/>
              </a:rPr>
              <a:t>   — المتغيرات وحلقة for والشاشة التسلسلية</a:t>
            </a:r>
            <a:endParaRPr lang="ar-SA" sz="2200" dirty="0"/>
          </a:p>
        </p:txBody>
      </p:sp>
      <p:sp>
        <p:nvSpPr>
          <p:cNvPr id="17" name="anim-g4-1103"/>
          <p:cNvSpPr/>
          <p:nvPr/>
        </p:nvSpPr>
        <p:spPr>
          <a:xfrm>
            <a:off x="822960" y="4032504"/>
            <a:ext cx="10545775" cy="594360"/>
          </a:xfrm>
          <a:prstGeom prst="roundRect">
            <a:avLst>
              <a:gd name="adj" fmla="val 24615"/>
            </a:avLst>
          </a:prstGeom>
          <a:solidFill>
            <a:srgbClr val="FFFFFF"/>
          </a:solidFill>
          <a:ln w="12700">
            <a:solidFill>
              <a:srgbClr val="E4DCC8"/>
            </a:solidFill>
            <a:prstDash val="solid"/>
          </a:ln>
        </p:spPr>
      </p:sp>
      <p:sp>
        <p:nvSpPr>
          <p:cNvPr id="18" name="anim-g4-1104"/>
          <p:cNvSpPr/>
          <p:nvPr/>
        </p:nvSpPr>
        <p:spPr>
          <a:xfrm>
            <a:off x="10728655" y="4123944"/>
            <a:ext cx="411480" cy="411480"/>
          </a:xfrm>
          <a:prstGeom prst="ellipse">
            <a:avLst/>
          </a:prstGeom>
          <a:solidFill>
            <a:srgbClr val="D9AE4B"/>
          </a:solidFill>
          <a:ln/>
        </p:spPr>
      </p:sp>
      <p:sp>
        <p:nvSpPr>
          <p:cNvPr id="19" name="anim-g4-1105"/>
          <p:cNvSpPr/>
          <p:nvPr/>
        </p:nvSpPr>
        <p:spPr>
          <a:xfrm>
            <a:off x="10728655" y="4123944"/>
            <a:ext cx="411480" cy="411480"/>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٤</a:t>
            </a:r>
            <a:endParaRPr lang="ar-SA" sz="2000" dirty="0"/>
          </a:p>
        </p:txBody>
      </p:sp>
      <p:sp>
        <p:nvSpPr>
          <p:cNvPr id="20" name="anim-g4-1106"/>
          <p:cNvSpPr/>
          <p:nvPr/>
        </p:nvSpPr>
        <p:spPr>
          <a:xfrm>
            <a:off x="1097280" y="4032504"/>
            <a:ext cx="9402775" cy="594360"/>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الأسبوع ٤: الضوء والألوان</a:t>
            </a:r>
            <a:pPr algn="r" indent="0" marL="0">
              <a:buNone/>
            </a:pPr>
            <a:r>
              <a:rPr lang="ar-SA" altLang="en-US" sz="1800" b="1" dirty="0">
                <a:solidFill>
                  <a:srgbClr val="3B4460"/>
                </a:solidFill>
                <a:latin typeface="Cairo" pitchFamily="34" charset="0"/>
                <a:ea typeface="Cairo" pitchFamily="34" charset="-122"/>
                <a:cs typeface="Cairo" pitchFamily="34" charset="-120"/>
              </a:rPr>
              <a:t>   — PWM والإضاءة الملونة</a:t>
            </a:r>
            <a:endParaRPr lang="ar-SA" sz="2200" dirty="0"/>
          </a:p>
        </p:txBody>
      </p:sp>
      <p:sp>
        <p:nvSpPr>
          <p:cNvPr id="21" name="anim-g5-1107"/>
          <p:cNvSpPr/>
          <p:nvPr/>
        </p:nvSpPr>
        <p:spPr>
          <a:xfrm>
            <a:off x="822960" y="4736592"/>
            <a:ext cx="10545775" cy="594360"/>
          </a:xfrm>
          <a:prstGeom prst="roundRect">
            <a:avLst>
              <a:gd name="adj" fmla="val 24615"/>
            </a:avLst>
          </a:prstGeom>
          <a:solidFill>
            <a:srgbClr val="FFFFFF"/>
          </a:solidFill>
          <a:ln w="12700">
            <a:solidFill>
              <a:srgbClr val="E4DCC8"/>
            </a:solidFill>
            <a:prstDash val="solid"/>
          </a:ln>
        </p:spPr>
      </p:sp>
      <p:sp>
        <p:nvSpPr>
          <p:cNvPr id="22" name="anim-g5-1108"/>
          <p:cNvSpPr/>
          <p:nvPr/>
        </p:nvSpPr>
        <p:spPr>
          <a:xfrm>
            <a:off x="10728655" y="4828032"/>
            <a:ext cx="411480" cy="411480"/>
          </a:xfrm>
          <a:prstGeom prst="ellipse">
            <a:avLst/>
          </a:prstGeom>
          <a:solidFill>
            <a:srgbClr val="D9AE4B"/>
          </a:solidFill>
          <a:ln/>
        </p:spPr>
      </p:sp>
      <p:sp>
        <p:nvSpPr>
          <p:cNvPr id="23" name="anim-g5-1109"/>
          <p:cNvSpPr/>
          <p:nvPr/>
        </p:nvSpPr>
        <p:spPr>
          <a:xfrm>
            <a:off x="10728655" y="4828032"/>
            <a:ext cx="411480" cy="411480"/>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٥</a:t>
            </a:r>
            <a:endParaRPr lang="ar-SA" sz="2000" dirty="0"/>
          </a:p>
        </p:txBody>
      </p:sp>
      <p:sp>
        <p:nvSpPr>
          <p:cNvPr id="24" name="anim-g5-1110"/>
          <p:cNvSpPr/>
          <p:nvPr/>
        </p:nvSpPr>
        <p:spPr>
          <a:xfrm>
            <a:off x="1097280" y="4736592"/>
            <a:ext cx="9402775" cy="594360"/>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الأسبوع ٥: الأزرار والقرار</a:t>
            </a:r>
            <a:pPr algn="r" indent="0" marL="0">
              <a:buNone/>
            </a:pPr>
            <a:r>
              <a:rPr lang="ar-SA" altLang="en-US" sz="1800" b="1" dirty="0">
                <a:solidFill>
                  <a:srgbClr val="3B4460"/>
                </a:solidFill>
                <a:latin typeface="Cairo" pitchFamily="34" charset="0"/>
                <a:ea typeface="Cairo" pitchFamily="34" charset="-122"/>
                <a:cs typeface="Cairo" pitchFamily="34" charset="-120"/>
              </a:rPr>
              <a:t>   — digitalRead وجملة if</a:t>
            </a:r>
            <a:endParaRPr lang="ar-SA" sz="2200" dirty="0"/>
          </a:p>
        </p:txBody>
      </p:sp>
      <p:sp>
        <p:nvSpPr>
          <p:cNvPr id="25" name="anim-g6-1111"/>
          <p:cNvSpPr/>
          <p:nvPr/>
        </p:nvSpPr>
        <p:spPr>
          <a:xfrm>
            <a:off x="822960" y="5440680"/>
            <a:ext cx="10545775" cy="594360"/>
          </a:xfrm>
          <a:prstGeom prst="roundRect">
            <a:avLst>
              <a:gd name="adj" fmla="val 24615"/>
            </a:avLst>
          </a:prstGeom>
          <a:solidFill>
            <a:srgbClr val="FFFFFF"/>
          </a:solidFill>
          <a:ln w="12700">
            <a:solidFill>
              <a:srgbClr val="E4DCC8"/>
            </a:solidFill>
            <a:prstDash val="solid"/>
          </a:ln>
        </p:spPr>
      </p:sp>
      <p:sp>
        <p:nvSpPr>
          <p:cNvPr id="26" name="anim-g6-1112"/>
          <p:cNvSpPr/>
          <p:nvPr/>
        </p:nvSpPr>
        <p:spPr>
          <a:xfrm>
            <a:off x="10728655" y="5532120"/>
            <a:ext cx="411480" cy="411480"/>
          </a:xfrm>
          <a:prstGeom prst="ellipse">
            <a:avLst/>
          </a:prstGeom>
          <a:solidFill>
            <a:srgbClr val="D9AE4B"/>
          </a:solidFill>
          <a:ln/>
        </p:spPr>
      </p:sp>
      <p:sp>
        <p:nvSpPr>
          <p:cNvPr id="27" name="anim-g6-1113"/>
          <p:cNvSpPr/>
          <p:nvPr/>
        </p:nvSpPr>
        <p:spPr>
          <a:xfrm>
            <a:off x="10728655" y="5532120"/>
            <a:ext cx="411480" cy="411480"/>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٦</a:t>
            </a:r>
            <a:endParaRPr lang="ar-SA" sz="2000" dirty="0"/>
          </a:p>
        </p:txBody>
      </p:sp>
      <p:sp>
        <p:nvSpPr>
          <p:cNvPr id="28" name="anim-g6-1114"/>
          <p:cNvSpPr/>
          <p:nvPr/>
        </p:nvSpPr>
        <p:spPr>
          <a:xfrm>
            <a:off x="1097280" y="5440680"/>
            <a:ext cx="9402775" cy="594360"/>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الأسبوع ٦: مشروع حر ومعرض</a:t>
            </a:r>
            <a:pPr algn="r" indent="0" marL="0">
              <a:buNone/>
            </a:pPr>
            <a:r>
              <a:rPr lang="ar-SA" altLang="en-US" sz="1800" b="1" dirty="0">
                <a:solidFill>
                  <a:srgbClr val="3B4460"/>
                </a:solidFill>
                <a:latin typeface="Cairo" pitchFamily="34" charset="0"/>
                <a:ea typeface="Cairo" pitchFamily="34" charset="-122"/>
                <a:cs typeface="Cairo" pitchFamily="34" charset="-120"/>
              </a:rPr>
              <a:t>   — كل مجموعة تصمم مشروعًا وتعرضه</a:t>
            </a:r>
            <a:endParaRPr lang="ar-SA" sz="2200" dirty="0"/>
          </a:p>
        </p:txBody>
      </p:sp>
      <p:sp>
        <p:nvSpPr>
          <p:cNvPr id="29" name="Text 27"/>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الأردوينو للمعلمين</a:t>
            </a:r>
            <a:endParaRPr lang="ar-SA" sz="1200" dirty="0"/>
          </a:p>
        </p:txBody>
      </p:sp>
      <p:sp>
        <p:nvSpPr>
          <p:cNvPr id="30" name="Text 28"/>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مشروع التخرج  ·  ١٥٣</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400"/>
                                        <p:tgtEl>
                                          <p:spTgt spid="21"/>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400"/>
                                        <p:tgtEl>
                                          <p:spTgt spid="22"/>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3"/>
                                        </p:tgtEl>
                                        <p:attrNameLst>
                                          <p:attrName>style.visibility</p:attrName>
                                        </p:attrNameLst>
                                      </p:cBhvr>
                                      <p:to>
                                        <p:strVal val="visible"/>
                                      </p:to>
                                    </p:set>
                                    <p:animEffect transition="in" filter="fade">
                                      <p:cBhvr>
                                        <p:cTn id="69" dur="400"/>
                                        <p:tgtEl>
                                          <p:spTgt spid="23"/>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4"/>
                                        </p:tgtEl>
                                        <p:attrNameLst>
                                          <p:attrName>style.visibility</p:attrName>
                                        </p:attrNameLst>
                                      </p:cBhvr>
                                      <p:to>
                                        <p:strVal val="visible"/>
                                      </p:to>
                                    </p:set>
                                    <p:animEffect transition="in" filter="fade">
                                      <p:cBhvr>
                                        <p:cTn id="72" dur="400"/>
                                        <p:tgtEl>
                                          <p:spTgt spid="24"/>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25"/>
                                        </p:tgtEl>
                                        <p:attrNameLst>
                                          <p:attrName>style.visibility</p:attrName>
                                        </p:attrNameLst>
                                      </p:cBhvr>
                                      <p:to>
                                        <p:strVal val="visible"/>
                                      </p:to>
                                    </p:set>
                                    <p:animEffect transition="in" filter="fade">
                                      <p:cBhvr>
                                        <p:cTn id="77" dur="400"/>
                                        <p:tgtEl>
                                          <p:spTgt spid="25"/>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6"/>
                                        </p:tgtEl>
                                        <p:attrNameLst>
                                          <p:attrName>style.visibility</p:attrName>
                                        </p:attrNameLst>
                                      </p:cBhvr>
                                      <p:to>
                                        <p:strVal val="visible"/>
                                      </p:to>
                                    </p:set>
                                    <p:animEffect transition="in" filter="fade">
                                      <p:cBhvr>
                                        <p:cTn id="80" dur="400"/>
                                        <p:tgtEl>
                                          <p:spTgt spid="26"/>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27"/>
                                        </p:tgtEl>
                                        <p:attrNameLst>
                                          <p:attrName>style.visibility</p:attrName>
                                        </p:attrNameLst>
                                      </p:cBhvr>
                                      <p:to>
                                        <p:strVal val="visible"/>
                                      </p:to>
                                    </p:set>
                                    <p:animEffect transition="in" filter="fade">
                                      <p:cBhvr>
                                        <p:cTn id="83" dur="400"/>
                                        <p:tgtEl>
                                          <p:spTgt spid="27"/>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28"/>
                                        </p:tgtEl>
                                        <p:attrNameLst>
                                          <p:attrName>style.visibility</p:attrName>
                                        </p:attrNameLst>
                                      </p:cBhvr>
                                      <p:to>
                                        <p:strVal val="visible"/>
                                      </p:to>
                                    </p:set>
                                    <p:animEffect transition="in" filter="fade">
                                      <p:cBhvr>
                                        <p:cTn id="86"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Lst>
  </p:timing>
</p:sld>
</file>

<file path=ppt/slides/slide154.xml><?xml version="1.0" encoding="utf-8"?>
<p:sld xmlns:a="http://schemas.openxmlformats.org/drawingml/2006/main" xmlns:r="http://schemas.openxmlformats.org/officeDocument/2006/relationships" xmlns:p="http://schemas.openxmlformats.org/presentationml/2006/main">
  <p:cSld name="Slide 15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81567" y="457200"/>
            <a:ext cx="2487168" cy="457200"/>
          </a:xfrm>
          <a:prstGeom prst="roundRect">
            <a:avLst>
              <a:gd name="adj" fmla="val 50000"/>
            </a:avLst>
          </a:prstGeom>
          <a:solidFill>
            <a:srgbClr val="F6EBCF"/>
          </a:solidFill>
          <a:ln/>
        </p:spPr>
      </p:sp>
      <p:sp>
        <p:nvSpPr>
          <p:cNvPr id="3" name="Text 1"/>
          <p:cNvSpPr/>
          <p:nvPr/>
        </p:nvSpPr>
        <p:spPr>
          <a:xfrm>
            <a:off x="8881567" y="45720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مصادر مجانية</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رافقك بعد الدورة</a:t>
            </a:r>
            <a:endParaRPr lang="ar-SA" sz="3800" dirty="0"/>
          </a:p>
        </p:txBody>
      </p:sp>
      <p:sp>
        <p:nvSpPr>
          <p:cNvPr id="5" name="anim-g1-1115"/>
          <p:cNvSpPr/>
          <p:nvPr/>
        </p:nvSpPr>
        <p:spPr>
          <a:xfrm>
            <a:off x="6233008" y="2011680"/>
            <a:ext cx="513572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1116"/>
          <p:cNvSpPr/>
          <p:nvPr/>
        </p:nvSpPr>
        <p:spPr>
          <a:xfrm>
            <a:off x="10527487" y="2267712"/>
            <a:ext cx="566928" cy="566928"/>
          </a:xfrm>
          <a:prstGeom prst="roundRect">
            <a:avLst>
              <a:gd name="adj" fmla="val 32258"/>
            </a:avLst>
          </a:prstGeom>
          <a:solidFill>
            <a:srgbClr val="F7E6BC"/>
          </a:solidFill>
          <a:ln/>
        </p:spPr>
      </p:sp>
      <p:sp>
        <p:nvSpPr>
          <p:cNvPr id="7" name="anim-g1-1117"/>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1118"/>
          <p:cNvSpPr/>
          <p:nvPr/>
        </p:nvSpPr>
        <p:spPr>
          <a:xfrm>
            <a:off x="6507328" y="2944368"/>
            <a:ext cx="458708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Tinkercad Circuits</a:t>
            </a:r>
            <a:endParaRPr lang="ar-SA" sz="2200" dirty="0"/>
          </a:p>
        </p:txBody>
      </p:sp>
      <p:sp>
        <p:nvSpPr>
          <p:cNvPr id="9" name="anim-g1-1119"/>
          <p:cNvSpPr/>
          <p:nvPr/>
        </p:nvSpPr>
        <p:spPr>
          <a:xfrm>
            <a:off x="6507328" y="3493008"/>
            <a:ext cx="458708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tinkercad.com — المختبر الافتراضي</a:t>
            </a:r>
            <a:endParaRPr lang="ar-SA" sz="1900" dirty="0"/>
          </a:p>
        </p:txBody>
      </p:sp>
      <p:sp>
        <p:nvSpPr>
          <p:cNvPr id="10" name="anim-g2-1120"/>
          <p:cNvSpPr/>
          <p:nvPr/>
        </p:nvSpPr>
        <p:spPr>
          <a:xfrm>
            <a:off x="822960" y="2011680"/>
            <a:ext cx="513572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1121"/>
          <p:cNvSpPr/>
          <p:nvPr/>
        </p:nvSpPr>
        <p:spPr>
          <a:xfrm>
            <a:off x="5117440" y="2267712"/>
            <a:ext cx="566928" cy="566928"/>
          </a:xfrm>
          <a:prstGeom prst="roundRect">
            <a:avLst>
              <a:gd name="adj" fmla="val 32258"/>
            </a:avLst>
          </a:prstGeom>
          <a:solidFill>
            <a:srgbClr val="F7E6BC"/>
          </a:solidFill>
          <a:ln/>
        </p:spPr>
      </p:sp>
      <p:sp>
        <p:nvSpPr>
          <p:cNvPr id="12" name="anim-g2-1122"/>
          <p:cNvSpPr/>
          <p:nvPr/>
        </p:nvSpPr>
        <p:spPr>
          <a:xfrm>
            <a:off x="511744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1123"/>
          <p:cNvSpPr/>
          <p:nvPr/>
        </p:nvSpPr>
        <p:spPr>
          <a:xfrm>
            <a:off x="1097280" y="2944368"/>
            <a:ext cx="458708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توثيق الأردوينو الرسمي</a:t>
            </a:r>
            <a:endParaRPr lang="ar-SA" sz="2200" dirty="0"/>
          </a:p>
        </p:txBody>
      </p:sp>
      <p:sp>
        <p:nvSpPr>
          <p:cNvPr id="14" name="anim-g2-1124"/>
          <p:cNvSpPr/>
          <p:nvPr/>
        </p:nvSpPr>
        <p:spPr>
          <a:xfrm>
            <a:off x="1097280" y="3493008"/>
            <a:ext cx="458708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docs.arduino.cc — كل أمر بأمثلته</a:t>
            </a:r>
            <a:endParaRPr lang="ar-SA" sz="1900" dirty="0"/>
          </a:p>
        </p:txBody>
      </p:sp>
      <p:sp>
        <p:nvSpPr>
          <p:cNvPr id="15" name="anim-g3-1125"/>
          <p:cNvSpPr/>
          <p:nvPr/>
        </p:nvSpPr>
        <p:spPr>
          <a:xfrm>
            <a:off x="6233008" y="4137660"/>
            <a:ext cx="513572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1126"/>
          <p:cNvSpPr/>
          <p:nvPr/>
        </p:nvSpPr>
        <p:spPr>
          <a:xfrm>
            <a:off x="10527487" y="4393692"/>
            <a:ext cx="566928" cy="566928"/>
          </a:xfrm>
          <a:prstGeom prst="roundRect">
            <a:avLst>
              <a:gd name="adj" fmla="val 32258"/>
            </a:avLst>
          </a:prstGeom>
          <a:solidFill>
            <a:srgbClr val="F7E6BC"/>
          </a:solidFill>
          <a:ln/>
        </p:spPr>
      </p:sp>
      <p:sp>
        <p:nvSpPr>
          <p:cNvPr id="17" name="anim-g3-1127"/>
          <p:cNvSpPr/>
          <p:nvPr/>
        </p:nvSpPr>
        <p:spPr>
          <a:xfrm>
            <a:off x="10527487" y="439369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1128"/>
          <p:cNvSpPr/>
          <p:nvPr/>
        </p:nvSpPr>
        <p:spPr>
          <a:xfrm>
            <a:off x="6507328" y="5070348"/>
            <a:ext cx="458708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مركز المشاريع</a:t>
            </a:r>
            <a:endParaRPr lang="ar-SA" sz="2200" dirty="0"/>
          </a:p>
        </p:txBody>
      </p:sp>
      <p:sp>
        <p:nvSpPr>
          <p:cNvPr id="19" name="anim-g3-1129"/>
          <p:cNvSpPr/>
          <p:nvPr/>
        </p:nvSpPr>
        <p:spPr>
          <a:xfrm>
            <a:off x="6507328" y="5618988"/>
            <a:ext cx="458708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projecthub.arduino.cc — آلاف الأفكار</a:t>
            </a:r>
            <a:endParaRPr lang="ar-SA" sz="1900" dirty="0"/>
          </a:p>
        </p:txBody>
      </p:sp>
      <p:sp>
        <p:nvSpPr>
          <p:cNvPr id="20" name="anim-g4-1130"/>
          <p:cNvSpPr/>
          <p:nvPr/>
        </p:nvSpPr>
        <p:spPr>
          <a:xfrm>
            <a:off x="822960" y="4137660"/>
            <a:ext cx="513572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21" name="anim-g4-1131"/>
          <p:cNvSpPr/>
          <p:nvPr/>
        </p:nvSpPr>
        <p:spPr>
          <a:xfrm>
            <a:off x="5117440" y="4393692"/>
            <a:ext cx="566928" cy="566928"/>
          </a:xfrm>
          <a:prstGeom prst="roundRect">
            <a:avLst>
              <a:gd name="adj" fmla="val 32258"/>
            </a:avLst>
          </a:prstGeom>
          <a:solidFill>
            <a:srgbClr val="F7E6BC"/>
          </a:solidFill>
          <a:ln/>
        </p:spPr>
      </p:sp>
      <p:sp>
        <p:nvSpPr>
          <p:cNvPr id="22" name="anim-g4-1132"/>
          <p:cNvSpPr/>
          <p:nvPr/>
        </p:nvSpPr>
        <p:spPr>
          <a:xfrm>
            <a:off x="5117440" y="439369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23" name="anim-g4-1133"/>
          <p:cNvSpPr/>
          <p:nvPr/>
        </p:nvSpPr>
        <p:spPr>
          <a:xfrm>
            <a:off x="1097280" y="5070348"/>
            <a:ext cx="458708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كتب أ. محمد زيتون</a:t>
            </a:r>
            <a:endParaRPr lang="ar-SA" sz="2200" dirty="0"/>
          </a:p>
        </p:txBody>
      </p:sp>
      <p:sp>
        <p:nvSpPr>
          <p:cNvPr id="24" name="anim-g4-1134"/>
          <p:cNvSpPr/>
          <p:nvPr/>
        </p:nvSpPr>
        <p:spPr>
          <a:xfrm>
            <a:off x="1097280" y="5618988"/>
            <a:ext cx="458708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«رحلة عبر الأردوينو» و«أردوينو بلا قيود» و«دليل المعلم»</a:t>
            </a:r>
            <a:endParaRPr lang="ar-SA" sz="1900" dirty="0"/>
          </a:p>
        </p:txBody>
      </p:sp>
      <p:sp>
        <p:nvSpPr>
          <p:cNvPr id="25" name="Text 2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الأردوينو للمعلمين</a:t>
            </a:r>
            <a:endParaRPr lang="ar-SA" sz="1200" dirty="0"/>
          </a:p>
        </p:txBody>
      </p:sp>
      <p:sp>
        <p:nvSpPr>
          <p:cNvPr id="26" name="Text 2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مشروع التخرج  ·  ١٥٤</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400"/>
                                        <p:tgtEl>
                                          <p:spTgt spid="2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400"/>
                                        <p:tgtEl>
                                          <p:spTgt spid="2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400"/>
                                        <p:tgtEl>
                                          <p:spTgt spid="2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155.xml><?xml version="1.0" encoding="utf-8"?>
<p:sld xmlns:a="http://schemas.openxmlformats.org/drawingml/2006/main" xmlns:r="http://schemas.openxmlformats.org/officeDocument/2006/relationships" xmlns:p="http://schemas.openxmlformats.org/presentationml/2006/main">
  <p:cSld name="Slide 15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272223" y="457200"/>
            <a:ext cx="4096512"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7272223" y="457200"/>
            <a:ext cx="4096512"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نشاط ختامي — ثلاث دقائق</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F0CC7A"/>
                </a:solidFill>
                <a:latin typeface="Cairo Black" pitchFamily="34" charset="0"/>
                <a:ea typeface="Cairo Black" pitchFamily="34" charset="-122"/>
                <a:cs typeface="Cairo Black" pitchFamily="34" charset="-120"/>
              </a:rPr>
              <a:t>خطتي مع طلابي</a:t>
            </a:r>
            <a:endParaRPr lang="ar-SA" sz="3800" dirty="0"/>
          </a:p>
        </p:txBody>
      </p:sp>
      <p:sp>
        <p:nvSpPr>
          <p:cNvPr id="5" name="anim-g1-1135"/>
          <p:cNvSpPr/>
          <p:nvPr/>
        </p:nvSpPr>
        <p:spPr>
          <a:xfrm>
            <a:off x="10637215" y="2286000"/>
            <a:ext cx="731520" cy="731520"/>
          </a:xfrm>
          <a:prstGeom prst="ellipse">
            <a:avLst/>
          </a:prstGeom>
          <a:solidFill>
            <a:srgbClr val="D9AE4B"/>
          </a:solidFill>
          <a:ln/>
        </p:spPr>
      </p:sp>
      <p:sp>
        <p:nvSpPr>
          <p:cNvPr id="6" name="anim-g1-1136"/>
          <p:cNvSpPr/>
          <p:nvPr/>
        </p:nvSpPr>
        <p:spPr>
          <a:xfrm>
            <a:off x="10637215" y="2286000"/>
            <a:ext cx="731520" cy="731520"/>
          </a:xfrm>
          <a:prstGeom prst="rect">
            <a:avLst/>
          </a:prstGeom>
          <a:noFill/>
          <a:ln/>
        </p:spPr>
        <p:txBody>
          <a:bodyPr wrap="square" lIns="0" tIns="0" rIns="0" bIns="0" rtlCol="0" anchor="ctr">
            <a:normAutofit/>
          </a:bodyPr>
          <a:lstStyle/>
          <a:p>
            <a:pPr rtl="1" algn="ctr" indent="0" marL="0">
              <a:buNone/>
            </a:pPr>
            <a:r>
              <a:rPr lang="ar-SA" altLang="en-US" sz="2400" dirty="0">
                <a:solidFill>
                  <a:srgbClr val="0A1230"/>
                </a:solidFill>
                <a:latin typeface="Cairo Black" pitchFamily="34" charset="0"/>
                <a:ea typeface="Cairo Black" pitchFamily="34" charset="-122"/>
                <a:cs typeface="Cairo Black" pitchFamily="34" charset="-120"/>
              </a:rPr>
              <a:t>١</a:t>
            </a:r>
            <a:endParaRPr lang="ar-SA" sz="2400" dirty="0"/>
          </a:p>
        </p:txBody>
      </p:sp>
      <p:sp>
        <p:nvSpPr>
          <p:cNvPr id="7" name="anim-g1-1137"/>
          <p:cNvSpPr/>
          <p:nvPr/>
        </p:nvSpPr>
        <p:spPr>
          <a:xfrm>
            <a:off x="4023360" y="2194560"/>
            <a:ext cx="6339535" cy="914400"/>
          </a:xfrm>
          <a:prstGeom prst="rect">
            <a:avLst/>
          </a:prstGeom>
          <a:noFill/>
          <a:ln/>
        </p:spPr>
        <p:txBody>
          <a:bodyPr wrap="square" lIns="0" tIns="0" rIns="0" bIns="0" rtlCol="0" anchor="ctr">
            <a:normAutofit/>
          </a:bodyPr>
          <a:lstStyle/>
          <a:p>
            <a:pPr rtl="1" algn="r" indent="0" marL="0">
              <a:buNone/>
            </a:pPr>
            <a:r>
              <a:rPr lang="ar-SA" altLang="en-US" sz="2200" b="1" dirty="0">
                <a:solidFill>
                  <a:srgbClr val="FFFFFF"/>
                </a:solidFill>
                <a:latin typeface="Cairo" pitchFamily="34" charset="0"/>
                <a:ea typeface="Cairo" pitchFamily="34" charset="-122"/>
                <a:cs typeface="Cairo" pitchFamily="34" charset="-120"/>
              </a:rPr>
              <a:t>متى ستبدأ أول حصة أردوينو مع طلابك؟</a:t>
            </a:r>
            <a:endParaRPr lang="ar-SA" sz="2200" dirty="0"/>
          </a:p>
        </p:txBody>
      </p:sp>
      <p:sp>
        <p:nvSpPr>
          <p:cNvPr id="8" name="anim-g2-1138"/>
          <p:cNvSpPr/>
          <p:nvPr/>
        </p:nvSpPr>
        <p:spPr>
          <a:xfrm>
            <a:off x="10637215" y="3383280"/>
            <a:ext cx="731520" cy="731520"/>
          </a:xfrm>
          <a:prstGeom prst="ellipse">
            <a:avLst/>
          </a:prstGeom>
          <a:solidFill>
            <a:srgbClr val="D9AE4B"/>
          </a:solidFill>
          <a:ln/>
        </p:spPr>
      </p:sp>
      <p:sp>
        <p:nvSpPr>
          <p:cNvPr id="9" name="anim-g2-1139"/>
          <p:cNvSpPr/>
          <p:nvPr/>
        </p:nvSpPr>
        <p:spPr>
          <a:xfrm>
            <a:off x="10637215" y="3383280"/>
            <a:ext cx="731520" cy="731520"/>
          </a:xfrm>
          <a:prstGeom prst="rect">
            <a:avLst/>
          </a:prstGeom>
          <a:noFill/>
          <a:ln/>
        </p:spPr>
        <p:txBody>
          <a:bodyPr wrap="square" lIns="0" tIns="0" rIns="0" bIns="0" rtlCol="0" anchor="ctr">
            <a:normAutofit/>
          </a:bodyPr>
          <a:lstStyle/>
          <a:p>
            <a:pPr rtl="1" algn="ctr" indent="0" marL="0">
              <a:buNone/>
            </a:pPr>
            <a:r>
              <a:rPr lang="ar-SA" altLang="en-US" sz="2400" dirty="0">
                <a:solidFill>
                  <a:srgbClr val="0A1230"/>
                </a:solidFill>
                <a:latin typeface="Cairo Black" pitchFamily="34" charset="0"/>
                <a:ea typeface="Cairo Black" pitchFamily="34" charset="-122"/>
                <a:cs typeface="Cairo Black" pitchFamily="34" charset="-120"/>
              </a:rPr>
              <a:t>٢</a:t>
            </a:r>
            <a:endParaRPr lang="ar-SA" sz="2400" dirty="0"/>
          </a:p>
        </p:txBody>
      </p:sp>
      <p:sp>
        <p:nvSpPr>
          <p:cNvPr id="10" name="anim-g2-1140"/>
          <p:cNvSpPr/>
          <p:nvPr/>
        </p:nvSpPr>
        <p:spPr>
          <a:xfrm>
            <a:off x="4023360" y="3291840"/>
            <a:ext cx="6339535" cy="914400"/>
          </a:xfrm>
          <a:prstGeom prst="rect">
            <a:avLst/>
          </a:prstGeom>
          <a:noFill/>
          <a:ln/>
        </p:spPr>
        <p:txBody>
          <a:bodyPr wrap="square" lIns="0" tIns="0" rIns="0" bIns="0" rtlCol="0" anchor="ctr">
            <a:normAutofit/>
          </a:bodyPr>
          <a:lstStyle/>
          <a:p>
            <a:pPr rtl="1" algn="r" indent="0" marL="0">
              <a:buNone/>
            </a:pPr>
            <a:r>
              <a:rPr lang="ar-SA" altLang="en-US" sz="2200" b="1" dirty="0">
                <a:solidFill>
                  <a:srgbClr val="FFFFFF"/>
                </a:solidFill>
                <a:latin typeface="Cairo" pitchFamily="34" charset="0"/>
                <a:ea typeface="Cairo" pitchFamily="34" charset="-122"/>
                <a:cs typeface="Cairo" pitchFamily="34" charset="-120"/>
              </a:rPr>
              <a:t>أي مشروع من الدورة ستبدأ به؟ ولماذا؟</a:t>
            </a:r>
            <a:endParaRPr lang="ar-SA" sz="2200" dirty="0"/>
          </a:p>
        </p:txBody>
      </p:sp>
      <p:sp>
        <p:nvSpPr>
          <p:cNvPr id="11" name="anim-g3-1141"/>
          <p:cNvSpPr/>
          <p:nvPr/>
        </p:nvSpPr>
        <p:spPr>
          <a:xfrm>
            <a:off x="10637215" y="4480560"/>
            <a:ext cx="731520" cy="731520"/>
          </a:xfrm>
          <a:prstGeom prst="ellipse">
            <a:avLst/>
          </a:prstGeom>
          <a:solidFill>
            <a:srgbClr val="D9AE4B"/>
          </a:solidFill>
          <a:ln/>
        </p:spPr>
      </p:sp>
      <p:sp>
        <p:nvSpPr>
          <p:cNvPr id="12" name="anim-g3-1142"/>
          <p:cNvSpPr/>
          <p:nvPr/>
        </p:nvSpPr>
        <p:spPr>
          <a:xfrm>
            <a:off x="10637215" y="4480560"/>
            <a:ext cx="731520" cy="731520"/>
          </a:xfrm>
          <a:prstGeom prst="rect">
            <a:avLst/>
          </a:prstGeom>
          <a:noFill/>
          <a:ln/>
        </p:spPr>
        <p:txBody>
          <a:bodyPr wrap="square" lIns="0" tIns="0" rIns="0" bIns="0" rtlCol="0" anchor="ctr">
            <a:normAutofit/>
          </a:bodyPr>
          <a:lstStyle/>
          <a:p>
            <a:pPr rtl="1" algn="ctr" indent="0" marL="0">
              <a:buNone/>
            </a:pPr>
            <a:r>
              <a:rPr lang="ar-SA" altLang="en-US" sz="2400" dirty="0">
                <a:solidFill>
                  <a:srgbClr val="0A1230"/>
                </a:solidFill>
                <a:latin typeface="Cairo Black" pitchFamily="34" charset="0"/>
                <a:ea typeface="Cairo Black" pitchFamily="34" charset="-122"/>
                <a:cs typeface="Cairo Black" pitchFamily="34" charset="-120"/>
              </a:rPr>
              <a:t>٣</a:t>
            </a:r>
            <a:endParaRPr lang="ar-SA" sz="2400" dirty="0"/>
          </a:p>
        </p:txBody>
      </p:sp>
      <p:sp>
        <p:nvSpPr>
          <p:cNvPr id="13" name="anim-g3-1143"/>
          <p:cNvSpPr/>
          <p:nvPr/>
        </p:nvSpPr>
        <p:spPr>
          <a:xfrm>
            <a:off x="4023360" y="4389120"/>
            <a:ext cx="6339535" cy="914400"/>
          </a:xfrm>
          <a:prstGeom prst="rect">
            <a:avLst/>
          </a:prstGeom>
          <a:noFill/>
          <a:ln/>
        </p:spPr>
        <p:txBody>
          <a:bodyPr wrap="square" lIns="0" tIns="0" rIns="0" bIns="0" rtlCol="0" anchor="ctr">
            <a:normAutofit/>
          </a:bodyPr>
          <a:lstStyle/>
          <a:p>
            <a:pPr rtl="1" algn="r" indent="0" marL="0">
              <a:buNone/>
            </a:pPr>
            <a:r>
              <a:rPr lang="ar-SA" altLang="en-US" sz="2200" b="1" dirty="0">
                <a:solidFill>
                  <a:srgbClr val="FFFFFF"/>
                </a:solidFill>
                <a:latin typeface="Cairo" pitchFamily="34" charset="0"/>
                <a:ea typeface="Cairo" pitchFamily="34" charset="-122"/>
                <a:cs typeface="Cairo" pitchFamily="34" charset="-120"/>
              </a:rPr>
              <a:t>ما النشاط الصفي الذي أعجبك وستطبقه أولًا؟</a:t>
            </a:r>
            <a:endParaRPr lang="ar-SA" sz="2200" dirty="0"/>
          </a:p>
        </p:txBody>
      </p:sp>
      <p:sp>
        <p:nvSpPr>
          <p:cNvPr id="14" name="Shape 12"/>
          <p:cNvSpPr/>
          <p:nvPr/>
        </p:nvSpPr>
        <p:spPr>
          <a:xfrm>
            <a:off x="822960" y="2194560"/>
            <a:ext cx="2834640" cy="2834640"/>
          </a:xfrm>
          <a:prstGeom prst="ellipse">
            <a:avLst/>
          </a:prstGeom>
          <a:solidFill>
            <a:srgbClr val="FFFFFF">
              <a:alpha val="5000"/>
            </a:srgbClr>
          </a:solidFill>
          <a:ln w="88900">
            <a:solidFill>
              <a:srgbClr val="D9AE4B">
                <a:alpha val="50000"/>
              </a:srgbClr>
            </a:solidFill>
            <a:prstDash val="solid"/>
          </a:ln>
        </p:spPr>
      </p:sp>
      <p:sp>
        <p:nvSpPr>
          <p:cNvPr id="15" name="Text 13"/>
          <p:cNvSpPr/>
          <p:nvPr/>
        </p:nvSpPr>
        <p:spPr>
          <a:xfrm>
            <a:off x="822960" y="2834640"/>
            <a:ext cx="2834640" cy="1097280"/>
          </a:xfrm>
          <a:prstGeom prst="rect">
            <a:avLst/>
          </a:prstGeom>
          <a:noFill/>
          <a:ln/>
        </p:spPr>
        <p:txBody>
          <a:bodyPr wrap="square" lIns="0" tIns="0" rIns="0" bIns="0" rtlCol="0" anchor="ctr">
            <a:normAutofit/>
          </a:bodyPr>
          <a:lstStyle/>
          <a:p>
            <a:pPr algn="ctr" indent="0" marL="0">
              <a:buNone/>
            </a:pPr>
            <a:r>
              <a:rPr lang="ar-SA" altLang="en-US" sz="6000" dirty="0">
                <a:solidFill>
                  <a:srgbClr val="F0CC7A"/>
                </a:solidFill>
                <a:latin typeface="Cairo Black" pitchFamily="34" charset="0"/>
                <a:ea typeface="Cairo Black" pitchFamily="34" charset="-122"/>
                <a:cs typeface="Cairo Black" pitchFamily="34" charset="-120"/>
              </a:rPr>
              <a:t>3:00</a:t>
            </a:r>
            <a:endParaRPr lang="ar-SA" sz="6000" dirty="0"/>
          </a:p>
        </p:txBody>
      </p:sp>
      <p:sp>
        <p:nvSpPr>
          <p:cNvPr id="16" name="Text 14"/>
          <p:cNvSpPr/>
          <p:nvPr/>
        </p:nvSpPr>
        <p:spPr>
          <a:xfrm>
            <a:off x="822960" y="3840480"/>
            <a:ext cx="2834640" cy="457200"/>
          </a:xfrm>
          <a:prstGeom prst="rect">
            <a:avLst/>
          </a:prstGeom>
          <a:noFill/>
          <a:ln/>
        </p:spPr>
        <p:txBody>
          <a:bodyPr wrap="square" lIns="0" tIns="0" rIns="0" bIns="0" rtlCol="0" anchor="ctr">
            <a:normAutofit/>
          </a:bodyPr>
          <a:lstStyle/>
          <a:p>
            <a:pPr rtl="1" algn="ctr" indent="0" marL="0">
              <a:buNone/>
            </a:pPr>
            <a:r>
              <a:rPr lang="ar-SA" altLang="en-US" sz="1600" b="1" dirty="0">
                <a:solidFill>
                  <a:srgbClr val="C9CFE6"/>
                </a:solidFill>
                <a:latin typeface="Cairo" pitchFamily="34" charset="0"/>
                <a:ea typeface="Cairo" pitchFamily="34" charset="-122"/>
                <a:cs typeface="Cairo" pitchFamily="34" charset="-120"/>
              </a:rPr>
              <a:t>٣ دقائق</a:t>
            </a:r>
            <a:endParaRPr lang="ar-SA" sz="1600" dirty="0"/>
          </a:p>
        </p:txBody>
      </p:sp>
      <p:sp>
        <p:nvSpPr>
          <p:cNvPr id="17" name="Text 1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الأردوينو للمعلمين</a:t>
            </a:r>
            <a:endParaRPr lang="ar-SA" sz="1200" dirty="0"/>
          </a:p>
        </p:txBody>
      </p:sp>
      <p:sp>
        <p:nvSpPr>
          <p:cNvPr id="18" name="Text 1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مشروع التخرج  ·  ١٥٥</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4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400"/>
                                        <p:tgtEl>
                                          <p:spTgt spid="1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400"/>
                                        <p:tgtEl>
                                          <p:spTgt spid="1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Lst>
  </p:timing>
</p:sld>
</file>

<file path=ppt/slides/slide156.xml><?xml version="1.0" encoding="utf-8"?>
<p:sld xmlns:a="http://schemas.openxmlformats.org/drawingml/2006/main" xmlns:r="http://schemas.openxmlformats.org/officeDocument/2006/relationships" xmlns:p="http://schemas.openxmlformats.org/presentationml/2006/main">
  <p:cSld name="Slide 15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852264" y="1188720"/>
            <a:ext cx="2487168"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852264" y="118872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رسالة الدورة</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المعلم الذي يُضيء ليدًا اليوم…</a:t>
            </a:r>
            <a:endParaRPr lang="ar-SA" sz="4400" dirty="0"/>
          </a:p>
          <a:p>
            <a:pPr algn="ctr" indent="0" marL="0">
              <a:lnSpc>
                <a:spcPct val="115000"/>
              </a:lnSpc>
              <a:buNone/>
            </a:pPr>
            <a:r>
              <a:rPr lang="ar-SA" altLang="en-US" sz="4400" dirty="0">
                <a:solidFill>
                  <a:srgbClr val="F0CC7A"/>
                </a:solidFill>
                <a:latin typeface="Cairo Black" pitchFamily="34" charset="0"/>
                <a:ea typeface="Cairo Black" pitchFamily="34" charset="-122"/>
                <a:cs typeface="Cairo Black" pitchFamily="34" charset="-120"/>
              </a:rPr>
              <a:t> قد يُضيء مستقبل مخترع غدًا</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الأردوينو للمعلمين</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مشروع التخرج  ·  ١٥٦</a:t>
            </a:r>
            <a:endParaRPr lang="ar-SA" sz="1200" dirty="0"/>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name="Slide 15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615788" y="914400"/>
            <a:ext cx="960120" cy="960120"/>
          </a:xfrm>
          <a:prstGeom prst="roundRect">
            <a:avLst>
              <a:gd name="adj" fmla="val 26667"/>
            </a:avLst>
          </a:prstGeom>
          <a:solidFill>
            <a:srgbClr val="D9AE4B"/>
          </a:solidFill>
          <a:ln/>
        </p:spPr>
      </p:sp>
      <p:sp>
        <p:nvSpPr>
          <p:cNvPr id="3" name="Text 1"/>
          <p:cNvSpPr/>
          <p:nvPr/>
        </p:nvSpPr>
        <p:spPr>
          <a:xfrm>
            <a:off x="5615788" y="914400"/>
            <a:ext cx="960120" cy="960120"/>
          </a:xfrm>
          <a:prstGeom prst="rect">
            <a:avLst/>
          </a:prstGeom>
          <a:noFill/>
          <a:ln/>
        </p:spPr>
        <p:txBody>
          <a:bodyPr wrap="square" lIns="0" tIns="0" rIns="0" bIns="0" rtlCol="0" anchor="ctr">
            <a:normAutofit/>
          </a:bodyPr>
          <a:lstStyle/>
          <a:p>
            <a:pPr rtl="1" algn="ctr" indent="0" marL="0">
              <a:buNone/>
            </a:pPr>
            <a:r>
              <a:rPr lang="ar-SA" altLang="en-US" sz="4400" dirty="0">
                <a:solidFill>
                  <a:srgbClr val="131B34"/>
                </a:solidFill>
                <a:latin typeface="Cairo" pitchFamily="34" charset="0"/>
                <a:ea typeface="Cairo" pitchFamily="34" charset="-122"/>
                <a:cs typeface="Cairo" pitchFamily="34" charset="-120"/>
              </a:rPr>
              <a:t>🌳</a:t>
            </a:r>
            <a:endParaRPr lang="ar-SA" sz="4400" dirty="0"/>
          </a:p>
        </p:txBody>
      </p:sp>
      <p:sp>
        <p:nvSpPr>
          <p:cNvPr id="4" name="Text 2"/>
          <p:cNvSpPr/>
          <p:nvPr/>
        </p:nvSpPr>
        <p:spPr>
          <a:xfrm>
            <a:off x="0" y="2194560"/>
            <a:ext cx="12191695" cy="1280160"/>
          </a:xfrm>
          <a:prstGeom prst="rect">
            <a:avLst/>
          </a:prstGeom>
          <a:noFill/>
          <a:ln/>
        </p:spPr>
        <p:txBody>
          <a:bodyPr wrap="square" lIns="0" tIns="0" rIns="0" bIns="0" rtlCol="0" anchor="ctr">
            <a:normAutofit/>
          </a:bodyPr>
          <a:lstStyle/>
          <a:p>
            <a:pPr rtl="1" algn="ctr" indent="0" marL="0">
              <a:buNone/>
            </a:pPr>
            <a:r>
              <a:rPr lang="ar-SA" altLang="en-US" sz="8000" dirty="0">
                <a:solidFill>
                  <a:srgbClr val="FFF3D6"/>
                </a:solidFill>
                <a:latin typeface="Cairo Black" pitchFamily="34" charset="0"/>
                <a:ea typeface="Cairo Black" pitchFamily="34" charset="-122"/>
                <a:cs typeface="Cairo Black" pitchFamily="34" charset="-120"/>
              </a:rPr>
              <a:t>شكرًا لكم</a:t>
            </a:r>
            <a:endParaRPr lang="ar-SA" sz="8000" dirty="0"/>
          </a:p>
        </p:txBody>
      </p:sp>
      <p:sp>
        <p:nvSpPr>
          <p:cNvPr id="5" name="Text 3"/>
          <p:cNvSpPr/>
          <p:nvPr/>
        </p:nvSpPr>
        <p:spPr>
          <a:xfrm>
            <a:off x="0" y="3566160"/>
            <a:ext cx="12191695" cy="640080"/>
          </a:xfrm>
          <a:prstGeom prst="rect">
            <a:avLst/>
          </a:prstGeom>
          <a:noFill/>
          <a:ln/>
        </p:spPr>
        <p:txBody>
          <a:bodyPr wrap="square" lIns="0" tIns="0" rIns="0" bIns="0" rtlCol="0" anchor="ctr">
            <a:normAutofit/>
          </a:bodyPr>
          <a:lstStyle/>
          <a:p>
            <a:pPr rtl="1" algn="ctr" indent="0" marL="0">
              <a:buNone/>
            </a:pPr>
            <a:r>
              <a:rPr lang="ar-SA" altLang="en-US" sz="2800" b="1" dirty="0">
                <a:solidFill>
                  <a:srgbClr val="FFFFFF"/>
                </a:solidFill>
                <a:latin typeface="Cairo" pitchFamily="34" charset="0"/>
                <a:ea typeface="Cairo" pitchFamily="34" charset="-122"/>
                <a:cs typeface="Cairo" pitchFamily="34" charset="-120"/>
              </a:rPr>
              <a:t>انطلقوا… وأشعلوا شغف طلابكم بالصناعة</a:t>
            </a:r>
            <a:endParaRPr lang="ar-SA" sz="2800" dirty="0"/>
          </a:p>
        </p:txBody>
      </p:sp>
      <p:sp>
        <p:nvSpPr>
          <p:cNvPr id="6" name="Shape 4"/>
          <p:cNvSpPr/>
          <p:nvPr/>
        </p:nvSpPr>
        <p:spPr>
          <a:xfrm>
            <a:off x="5364328" y="4434840"/>
            <a:ext cx="1463040" cy="36576"/>
          </a:xfrm>
          <a:prstGeom prst="rect">
            <a:avLst/>
          </a:prstGeom>
          <a:solidFill>
            <a:srgbClr val="D9AE4B"/>
          </a:solidFill>
          <a:ln/>
        </p:spPr>
      </p:sp>
      <p:sp>
        <p:nvSpPr>
          <p:cNvPr id="7" name="Text 5"/>
          <p:cNvSpPr/>
          <p:nvPr/>
        </p:nvSpPr>
        <p:spPr>
          <a:xfrm>
            <a:off x="0" y="4846320"/>
            <a:ext cx="12191695"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C9CFE6"/>
                </a:solidFill>
                <a:latin typeface="Cairo" pitchFamily="34" charset="0"/>
                <a:ea typeface="Cairo" pitchFamily="34" charset="-122"/>
                <a:cs typeface="Cairo" pitchFamily="34" charset="-120"/>
              </a:rPr>
              <a:t>الأردوينو للمعلمين · إعداد وتقديم: أ. محمد زيتون</a:t>
            </a:r>
            <a:endParaRPr lang="ar-SA"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157</Slides>
  <Notes>157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157</vt:i4>
      </vt:variant>
    </vt:vector>
  </HeadingPairs>
  <TitlesOfParts>
    <vt:vector size="16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lpstr>Slide 137</vt:lpstr>
      <vt:lpstr>Slide 138</vt:lpstr>
      <vt:lpstr>Slide 139</vt:lpstr>
      <vt:lpstr>Slide 140</vt:lpstr>
      <vt:lpstr>Slide 141</vt:lpstr>
      <vt:lpstr>Slide 142</vt:lpstr>
      <vt:lpstr>Slide 143</vt:lpstr>
      <vt:lpstr>Slide 144</vt:lpstr>
      <vt:lpstr>Slide 145</vt:lpstr>
      <vt:lpstr>Slide 146</vt:lpstr>
      <vt:lpstr>Slide 147</vt:lpstr>
      <vt:lpstr>Slide 148</vt:lpstr>
      <vt:lpstr>Slide 149</vt:lpstr>
      <vt:lpstr>Slide 150</vt:lpstr>
      <vt:lpstr>Slide 151</vt:lpstr>
      <vt:lpstr>Slide 152</vt:lpstr>
      <vt:lpstr>Slide 153</vt:lpstr>
      <vt:lpstr>Slide 154</vt:lpstr>
      <vt:lpstr>Slide 155</vt:lpstr>
      <vt:lpstr>Slide 156</vt:lpstr>
      <vt:lpstr>Slide 157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الأردوينو للمعلمين</dc:title>
  <dc:subject>PptxGenJS Presentation</dc:subject>
  <dc:creator>أ. محمد زيتون</dc:creator>
  <cp:lastModifiedBy>أ. محمد زيتون</cp:lastModifiedBy>
  <cp:revision>1</cp:revision>
  <dcterms:created xsi:type="dcterms:W3CDTF">2026-09-27T18:08:08Z</dcterms:created>
  <dcterms:modified xsi:type="dcterms:W3CDTF">2026-09-27T18:08:08Z</dcterms:modified>
</cp:coreProperties>
</file>