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</p:sldIdLst>
  <p:notesMasterIdLst>
    <p:notesMasterId r:id="rId19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notesMaster" Target="notesMasters/notesMaster1.xml"/><Relationship Id="rId193" Type="http://schemas.openxmlformats.org/officeDocument/2006/relationships/presProps" Target="presProps.xml"/><Relationship Id="rId194" Type="http://schemas.openxmlformats.org/officeDocument/2006/relationships/viewProps" Target="viewProps.xml"/><Relationship Id="rId195" Type="http://schemas.openxmlformats.org/officeDocument/2006/relationships/theme" Target="theme/theme1.xml"/><Relationship Id="rId19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رحّب بالمعلمين. قل: «في الجزأين الأول والثاني تعلّمنا ESP32 قطعة قطعة. اليوم نبني بها سبعة روبوتات… كل روبوت يقف على كتف الذي قبله، وآخرها روبوت كرة قدم بثلاثة محركات يتحرك في كل الاتجاهات.»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اترك المشهد يعمل: السيارة تصعد السلّم درجة درجة، وكل درجة تكتب تحتها القطعة الجديدة. في الأعلى يظهر روبوت الكرة الثلاثي يدور حول نفسه. قل: «لن نرمي أي قطعة: كل ما نركّبه اليوم يبقى في روبوت الغد.»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طريقة الدورة كلها، وهي طلب المدرّب: «مكوّن مكوّن نشرح… ونجمع كل مكون مع الآخر». لا يواجه الطالب قطعتين جديدتين في وقت واحد أبدًا.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لاحظ الروبوت الرابع: لا قطعة جديدة على الإطلاق، فقط «فكرة» جديدة. وهذا درس مهم: الذكاء في الكود وليس في عدد القطع.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ما طلبه المدرّب تحديدًا. التصميم اسمه «كيوي» (Kiwi drive) وتستعمله فرق RoboCup Junior Soccer حول العالم.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المحاور ١–٩ تبني السيارة ذات العجلتين حتى تكتمل. المحاور ١٠–١٣ تبني روبوت الكرة: نعيد استعمال كل ما تعلمناه (الدرايفر، والواي فاي، والعصا، والأمان) مع محرك ثالث.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وزّعها مطبوعة (موجودة في الكراسة). حين تبقى الأطراف ثابتة لا يعيد الطالب التوصيل بين روبوت وآخر: يضيف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تملك القطع كلها؟ كل مختبر في هذه الشرائح يعمل بلا أي قطعة، وWokwi يحاكي ESP32 مع L298N والحساسات.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المحطة الخامسة «الدمج» هي الجديدة في هذا الجزء.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تركيب في هذا المحور. نمسك كل قطعة بأيدينا ونفهمها.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انقر القطع بالترتيب: الدماغ (ESP32)، ثم العضلات (الدرايفر والمحركان)، ثم الأقدام (العجلات)، ثم الطاقة، ثم الحواس (الألتراسونك والخط)، وأخيرًا روبوت الكرة في الزاوية. اسأل المعلمين: «أي قطعة يمكن أن نستغني عنها؟» الجواب: لا شيء في الأساس، والحواس تُضاف حسب الروبوت.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سريع: اطلب من الطلاب رسم إنسان وكتابة اسم قطعة الروبوت المقابلة لكل عضو.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حرّك المنزلق إلى ١:١ ثم ١:١٢٠ ثم ١:٤٨. اسأل: «لماذا لا نختار ١:١٢٠ للقوة القصوى؟» لأن السيارة تصبح بطيئة جدًا.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روبوت الكرة لا نحتاجها: العجلات الثلاث نفسها هي نقاط الارتكاز الثلاث.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السلامة أولًا: علّم الطلاب أن بطاريات الليثيوم قوية جدًا وتحتاج احترامًا. لا قص لأسلاكها ولا تماس بين طرفيها.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من الجزء الأول. أعده بسرعة: هذا أهم «وسيط» في الدورة كلها.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السومو يعيد استعمال حساسي الخط الطرفيين ليريا حافة الحلبة البيضاء. نفس القطعة… وظيفة جديدة.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بطاقات الهوية تُعلّق على جدار الفصل طوال الدورة.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نشبكها كلها معًا بأمان.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المحور يصنع «الأساس» الذي لن نفكه حتى آخر الدورة.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ابدأ بالضغط على المفتاح في الصورة: يضيء الأحمر في ESP32. ثم «انطلق بأقصى سرعة»: لاحظ أن المحرك يأخذ أقل من البطارية بـ ٢ فولت. ثم اختر «ضعيفة» وانطلق: ESP32 يعيد التشغيل مرارًا. هذا أشهر عطل في سيارات الطلاب: «السيارة تتحرك ثانية ثم تتوقف وتعود». الجواب: البطارية!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«انطلق» ثم فعّل «بطارية ضعيفة»: الخط الأزرق يهبط تحت الأحمر فتعيد اللوحة التشغيل. ثم فعّل «تسارع تدريجي»: ينجو. هذا سبب التسارع التدريجي في كود المحرك من الجزء الثاني.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القاعدة الخامسة توفر كثيرًا من «سقوط السيارة من الطاولة». ضعها على علبة أو كوب في الاختبار الأول.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خطوة تضيء في الصورة. انتبه للخطوة ٦: الطرفان 16 و17 مكتوبان RX2 وTX2 على كثير من لوحات DevKit.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أكثر سؤال يتكرر: «لماذا لا تتغير السرعة؟» لأن جسر ENA ما زال مكانه.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تنتقل إلى المحور التالي حتى تمر كل سيارة في الفصل بهذا الاختبار. «أمام» يجب أن يعني أمامًا لكل العجلات.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تبادل التفتيش يعلّم الدقة ويقلل الأعطال بنسبة كبيرة.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السيارة جاهزة جسديًا. المحور التالي: نعلّمها 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أول روبوت على السلّم. لا حساسات بعد: حركة مبرمجة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جرّب الأزرار الخمسة. ثم حرّك المنزلقين بيدك: l = 200 وr = 120 منعطف واسع. ثم «نفّذ المربع». ثم فعّل «الأيمن أضعف ٨٪» وأعد المربع: لا يُغلق! حرّك trimL إلى نحو −١٦: يُغلق من جديد. هذا ما يحدث في كل سيارة حقيقية.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الطلاب تمثيل الحركات بأجسادهم: طالبان متشابكا الأذرع، كل واحد «عجلة».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حرّك trimL حتى يصبح الانحراف تحت ٣ سم. هذه أول «هندسة حقيقية» في الدورة: الواقع ليس كالحاسوب.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على الأرض وبسرعة ٢٠٠ من ٢٥٥ تكون نحو ٤٥ سم/ث. نشاط: قِس المسافة الحقيقية في ثانيتين وقارنها بالحساب.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تثبيت قلم في السيارة يحوّل الحركة إلى رسم يراه الجميع، ويكشف أخطاء المعايرة فورًا.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التالي: نقود السيارة نفسها من الجوال بعصا تحكم.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الجزء الثاني قدنا السيارة بأربعة أزرار. اليوم: عصا تحكم مثل ألعاب الفيديو. وهذه العصا نفسها ستقود روبوت الكرة.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إن لم يدرس المعلمون الجزء الثاني: الشرائح الثلاث القادمة تكفي، والكود كامل في الحقيبة.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اسحب العصا للأعلى: l = r. اسحبها قطريًا: تختلف السرعتان فتنعطف. اسحبها جانبًا تمامًا: l = −r فتدور في مكانها. ثم أمسكها للأمام واضغط «اقطع الاتصال»: تقف السيارة بعد ٠٫٤ ثانية. عطّل الأمان وأعد: السيارة تهرب!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أهم فكرة هندسية في المحور: الروبوت يجب أن يكون آمنًا حين يفشل شيء، لا حين يعمل كل شيء.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السطر الثاني: (80+40)×255÷100 = 306 لكنها تصبح 255 بـ constrain. اطلب من المعلمين حساب «أعلى يسار».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جولة الانقطاع تجعل Failsafe لا يُنسى.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انتهى الروبوت الأول. التالي: نعطيه عينًا.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القطعة الجديدة: HC-SR04. نشرحها وحدها أولًا ثم نركّبها على السيارة.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من الجزء الثاني. الجديد: الحساس الآن على سيارة متحركة، والمهلة مهمة جدًا لأن السيارة «عمياء» أثناء الانتظار.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نفس المقسم من الجزء الثاني بالأطراف نفسها: Trig 26 وEcho 27.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نفك شيئًا من السيارة. ثبّت الحساس أفقيًا تمامًا: إن مال للأسفل رأى الأرض «عائقًا».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شغّل، ثم اسحب صندوقًا أمامها: الشعاع أزرق ثم أصفر (تتباطأ) ثم أحمر (تتراجع وتستدير). فعّل «تنظر قبل أن تستدير»: تنظر يمينًا ثم يسارًا وتختار الأوسع. ثم ارفع SPEED إلى ٢٥٥ وعطّل منطقة الحذر: تصطدم أحيانًا! لهذا وُجدت منطقة الحذر.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كرر هذه الشريحة بصيغتها في كل محور: الطالب يرى أن الروبوت ينمو ولا يُهدم.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الجدول يحوّل اللعب إلى تجربة علمية: متغير واحد في كل مرة.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التالي: عيون تنظر إلى الأرض.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القطعة الجديدة: حساس الخط. نشرحه وحده، ونفحصه وحده بكود صغير، ثم نعطيه القيادة.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جرّب الأبيض والأسود ثم ارفع الحساس إلى ٣٠ مم: يقرأ ١ حتى على الأبيض. هذا أشهر عطل: الحساسات مرتفعة.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المقاومة الزرقاء أهم شيء: أدرها ببطء والحساس فوق الأبيض حتى يضيء الليد، ثم فوق الأسود حتى ينطفئ.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من الجزء الأول. 39 مكتوب عليه VN على أغلب اللوحات.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ركّبها على ارتفاع ١٠ مم تقريبًا. التغذية من 3V3 مقصودة: يخرج الحساس ٣٫٣ فولت فلا نحتاج مقسم جهد.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المعلمين رسم الحالات بثلاث أوراق أمام أعينهم: كل ورقة حساس.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انطلق على البيضاوي ثم «ثمانية» ثم «متعرج». على المتعرج يضيع غالبًا: خفّض FAST أو اجعل SLOW سالبًا (−٤٠): العجلة الداخلية تدور للخلف فيضيق المنعطف. راقب الدوائر الثلاث والسطر الذي يضيء.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قصة حقيقية من إعداد هذه الدورة: الإشارة المعكوسة تجعل الروبوت يهرب من الخط. «تتبّع الإشارات بالأرقام» عادة تنقذك من ساعات تصحيح.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لاحظ: الألتراسونك ما زال على السيارة لكنه غير مستعمل في هذا الكود. في المحور التالي نعيده.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الشريط الكهربائي المطفي أفضل من اللامع. وكرتون أبيض كبير يكفي.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التالي: الروبوت يتبع الخط… ويحترم العوائق أيضًا.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القطع مركّبة أصلًا: الألتراسونك من المحور الخامس، والحساسات من السادس. اليوم يعملان معًا لأول مرة.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فعّل الحافة والعائق معًا: ينفَّذ الأول فقط. هذه الفكرة نفسها ستحمي روبوت السومو في المحور التالي.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نسخنا loop المحور السادس كما هي إلى دالة اسمها followLine. لم نغيّر حرفًا. هكذا تُبنى البرامج الكبيرة.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انطلق: السيارة تتبع الخط حتى تصل الصندوق، فتنفّذ الخطوات الست وتعود للخط من الجهة الأخرى. اسحب الصندوق إلى منعطف: أصعب! راقب لوحة «الخطوة» والسطر المضيء.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الخطوة ٤ فيها حلقة while: الروبوت لا يعرف كم يحتاج، فينتظر الحساس. ومعها حد أقصى ٤ ثوانٍ: إن لم يجد الخط لا يلف إلى الأبد.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الروبوت الرابع بلا قطعة جديدة واحدة. الذكاء في الكود.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نجاح ٣ مرات متتالية = معيار هندسي حقيقي. مرة واحدة قد تكون حظًا.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التالي: الأولويات نفسها… في حلبة قتال.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أكثر محور حماسًا. القطع نفسها تقريبًا، بوظائف جديدة: حساسا الخط يصبحان «حراس الحافة»، والألتراسونك يصبح «عين الصياد».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السومو ذاتي تمامًا: لا جوال ولا تدخل بعد ضغط البدء. لذلك لا نستعمل الواي فاي هنا.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من الجزء الأول. الجديد: استعماله زرًا للبدء بعد الإقلاع.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الحساس الأوسط (35) لا نحتاجه هنا. يمكن تركه مكانه.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BOOT: عد تنازلي ثم يبدأ النزال. جرّب الخصوم الثلاثة. ثم افصل حساسي الحافة: روبوتنا يسقط وحده وهو يبحث! ثم خفّض سرعة الهجوم ضد «المهاجم الذكي»: نخسر. الدرس: الحافة أولًا، والقوة ثانيًا.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المسابقات الحقيقية: ٧٠٪ ميكانيكا و٣٠٪ كود.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دقائق الصيانة بين الجولات هي أفضل وقت تعلّم في الدورة كلها.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التالي: كل الأدمغة السابقة في سيارة واحدة، تختارها من الجوال.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قمة السلّم للسيارة ذات العجلتين. لا قطع جديدة: كل ما بنيناه يجتمع في كود واحد.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السومو لم نضعه هنا لأن قوانينه تمنع التحكم عن بعد. تحدٍّ للمتقدمين: أضفه بزر BOOT.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(millis) من الجزء الثاني. الجديد: wait() التي تبني فوقه.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«خط»: تتبع الخط. اضغط «خط+عوائق»: تلتف حول الصندوق الأعلى. اضغط «عوائق»: تتجول بين الصناديق. ثم «يدوي» وقُدها نحو صندوق: تتوقف وحدها قبله. ثم غيّر الوضع في منتصف مناورة: تتوقف المناورة فورًا بفضل wait().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اطبع الكود ولوّن كل جزء بلون محوره: لوحة جدارية رائعة للفصل.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مشروع التخرج للسيارة ذات العجلتين. صوّره للمعرض.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انتهت السيارة. الآن: روبوت جديد كليًا بثلاثة محركات… ملعب كرة القدم.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روبوت جديد كليًا، لكنه يعيد استعمال كل ما تعلمناه: ESP32، وL298N، والبطاريات، والواي فاي، والعصا، وFailsafe. الجديد: المحرك الثالث والعجلات الخاصة.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السطر الأخير هو السر: روبوت الكرة يجب أن يبقى وجهه نحو المرمى وهو يتحرك جانبيًا ليلحق الكرة. هذا مستحيل على السيارة العادية.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بدّل بين «أومني» و«عادية» ثم «ادفع جانبيًا». إن توفرت عجلة أومني حقيقية: مرّرها على الطاولة بالاتجاهين.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تصميم المدرّب: «اثنان أماميان وواحد بالخلف». العجلتان الأماميتان تتركان بينهما فراغًا يستقبل الكرة.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تشرح المعادلات بعد! اترك المعلمين يكتشفون: للأمام ← العجلة الخلفية لا تعمل! جانبًا ← الخلفية تعمل بقوة. دوران ← الثلاث متساوية. اكتبوا الملاحظات على السبورة، وسنفسرها في المحور التالي.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بديل أصغر: درايفر TB6612FNG أو DRV8833 يتحمل محركين بحجم صغير وخسارة أقل. لكن L298N متوفر في كل حقيبة.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التمرين المهم: الطالب يكتشف أن الدرايفر الثاني «نسخة» من الأول. لا جديد غير الأرقام 25 و33 و19.
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أشهر خطأ: عجلة أقرب للمركز من أختيها، فيدور الروبوت حين نطلب «أمام».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التالي: كيف يعرف ESP32 سرعة كل محرك؟ ثلاث معادلات بسيطة.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تخف من الرياضيات: ثلاث معادلات فيها ضرب وجمع فقط. والمختبر يحسبها أمام عينيك.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رقم من −١ إلى ١. «جانبًا لليسار بنصف السرعة» = (0, 0.5, 0). «أمام مع دوران» = (0.8, 0, 0.4).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«أمام»: الأسهم الصفراء في M1 وM2 مائلة، والأزرق (المجموع) للأمام تمامًا، وM3 بلا سهم.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٠٫٨٦٦ = جيب ٦٠° و٠٫٥ = جيب تمام ٦٠°: «كم من دفعة العجلة يذهب للأمام وكم يذهب للجانب». للمرحلة المتوسطة يكفي: «العجلة المائلة تعطي ٨٧٪ من قوتها للأمام و٥٠٪ للجانب». وw تُضاف للجميع لأن الدوران يحتاج كل العجلات بالاتجاه الدائري نفسه.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الآن اقرأ التعليق أسفل اللوحة: يكتب قيمة كل معادلة. جرّب «أمام + دوران»: أحد المحركات يتجاوز ١ فيظهر big. هذا يقودنا لشريحة التطبيع.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حرّك vy إلى ١٠٠ وw إلى ٦٠: M3 يطلب ١٫٦ (أحمر). الأخضر بعد القسمة: كلها أصغر بالنسبة نفسها.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الترتيب مهم: الدوران أولًا لأنه يكشف الأسلاك المعكوسة (الثلاث يجب أن تتساوى)، ثم الأمام يكشف المحركات المبدّلة.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الطوق يجعل المعادلات محسوسة بالجسد. وهو ممتع جدًا.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التالي: نضع هذه الرياضيات تحت إصبع اللاعب على الجوال.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نجمع: AP والعصا وFailsafe (المحور ٤) + drive الثلاثية (المحور ١١).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ارسم هذه الرحلة على السبورة كخط زمني. كل مرحلة درسناها في محور سابق.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اسأل المعلمين: «لماذا لا يركض لاعب الكرة الحقيقي بأقصى سرعته دائمًا؟» نفس الجواب.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المشهد من الجزء الثاني.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🖱️ اضغط للانتقال بين الخطوات.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المقارنة المباشرة مع السيارة ذات العجلتين تجعل قيمة القاعدة الثلاثية واضحة فورًا.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التالي: صافرة البداية!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الأكثر متعة. الجميع يلعب في المختبر قبل الملعب الحقيقي.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دع متطوعًا يلعب على السبورة الذكية. العصا أو W A S D، والدوران ⟲ ⟳ أو Q E، والتيربو 🚀 أو Shift. راقبوا أشرطة M1 M2 M3: هي ما يكتبه ESP32 الحقيقي. جرّب «🧭 الملعب»: أسهل للاعب، لكنه في الواقع يحتاج حساس بوصلة (تحدٍّ للمتقدمين).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الحواف تمنع الكرة من الخروج: لا رميات تماس ولا توقف. الملعب يُصنع من لوح خشب مطلي بالأخضر أو سجادة عشب صناعي قصير.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الحاسوب في المختبر يستعمل الخطة الأولى بالضبط: يحسب نقطة خلف الكرة على الخط الواصل بمرماك، يذهب إليها، ثم يدفع.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روبوتنا يُقاد من الجوال (فئة تعليمية). الطريق إلى RoboCup: نضيف عيونًا تبحث عن الكرة ويصبح ذاتيًا. وهذا ما فعلناه بالسيارة في المحاور ٥–٩!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موجودة مطبوعة في الكراسة. اللعب النظيف والفكرة الهندسية جوائز إضافية: كل فريق يجب أن يخرج بجائزة ما.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ادعُ أولياء الأمور للنهائي. لا شيء يحفّز الطلاب مثل جمهور.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الأخير: الحقيبة، وكيف تدرّس الدورة كلها.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لحظة الحصاد: انظروا إلى السلّم كاملًا.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اسأل كل معلم: «أي درجة كانت الأصعب؟ وأيها ستبدأ بها مع طلابك؟»
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💡 هذه الأداة تفاعلية بالكامل في منصة جذور، فاعرضها من المنصة إن أمكن.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حصتان أسبوعيًا تكفيان. إن كان الوقت أقل: اجمع الأسبوعين ٤ و٥، وتجاوز السومو إن لم تتوفر حلبة.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نصف الدرايفر الثاني فارغ عمدًا: مكان رامي الكرة.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الدروس تصلح لأي مشروع هندسي، لا للروبوتات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وزّع الكراسة والحقيبة. والتقط صورة جماعية مع الروبوتات السبعة!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image" Target="../media/image-28-3.jpg"/><Relationship Id="rId4" Type="http://schemas.openxmlformats.org/officeDocument/2006/relationships/image" Target="../media/image-28-4.jpg"/><Relationship Id="rId5" Type="http://schemas.openxmlformats.org/officeDocument/2006/relationships/image" Target="../media/image-28-5.jpg"/><Relationship Id="rId6" Type="http://schemas.openxmlformats.org/officeDocument/2006/relationships/image" Target="../media/image-28-6.jpg"/><Relationship Id="rId7" Type="http://schemas.openxmlformats.org/officeDocument/2006/relationships/image" Target="../media/image-28-7.jpg"/><Relationship Id="rId8" Type="http://schemas.openxmlformats.org/officeDocument/2006/relationships/image" Target="../media/image-28-8.jpg"/><Relationship Id="rId9" Type="http://schemas.openxmlformats.org/officeDocument/2006/relationships/image" Target="../media/image-28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image" Target="../media/image-30-4.jpg"/><Relationship Id="rId5" Type="http://schemas.openxmlformats.org/officeDocument/2006/relationships/image" Target="../media/image-30-5.jpg"/><Relationship Id="rId6" Type="http://schemas.openxmlformats.org/officeDocument/2006/relationships/image" Target="../media/image-30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image" Target="../media/image-32-3.jpg"/><Relationship Id="rId4" Type="http://schemas.openxmlformats.org/officeDocument/2006/relationships/image" Target="../media/image-32-4.jpg"/><Relationship Id="rId5" Type="http://schemas.openxmlformats.org/officeDocument/2006/relationships/image" Target="../media/image-3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jpg"/><Relationship Id="rId3" Type="http://schemas.openxmlformats.org/officeDocument/2006/relationships/image" Target="../media/image-41-3.jpg"/><Relationship Id="rId4" Type="http://schemas.openxmlformats.org/officeDocument/2006/relationships/image" Target="../media/image-41-4.jpg"/><Relationship Id="rId5" Type="http://schemas.openxmlformats.org/officeDocument/2006/relationships/image" Target="../media/image-41-5.jpg"/><Relationship Id="rId6" Type="http://schemas.openxmlformats.org/officeDocument/2006/relationships/image" Target="../media/image-41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jpg"/><Relationship Id="rId3" Type="http://schemas.openxmlformats.org/officeDocument/2006/relationships/image" Target="../media/image-42-3.jpg"/><Relationship Id="rId4" Type="http://schemas.openxmlformats.org/officeDocument/2006/relationships/image" Target="../media/image-42-4.jpg"/><Relationship Id="rId5" Type="http://schemas.openxmlformats.org/officeDocument/2006/relationships/image" Target="../media/image-42-5.jpg"/><Relationship Id="rId6" Type="http://schemas.openxmlformats.org/officeDocument/2006/relationships/image" Target="../media/image-42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jpg"/><Relationship Id="rId3" Type="http://schemas.openxmlformats.org/officeDocument/2006/relationships/image" Target="../media/image-45-3.jpg"/><Relationship Id="rId4" Type="http://schemas.openxmlformats.org/officeDocument/2006/relationships/image" Target="../media/image-45-4.jpg"/><Relationship Id="rId5" Type="http://schemas.openxmlformats.org/officeDocument/2006/relationships/image" Target="../media/image-4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image" Target="../media/image-55-2.jpg"/><Relationship Id="rId3" Type="http://schemas.openxmlformats.org/officeDocument/2006/relationships/image" Target="../media/image-55-3.jpg"/><Relationship Id="rId4" Type="http://schemas.openxmlformats.org/officeDocument/2006/relationships/image" Target="../media/image-55-4.jpg"/><Relationship Id="rId5" Type="http://schemas.openxmlformats.org/officeDocument/2006/relationships/image" Target="../media/image-55-5.jpg"/><Relationship Id="rId6" Type="http://schemas.openxmlformats.org/officeDocument/2006/relationships/image" Target="../media/image-55-6.jpg"/><Relationship Id="rId7" Type="http://schemas.openxmlformats.org/officeDocument/2006/relationships/image" Target="../media/image-55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image" Target="../media/image-56-2.jpg"/><Relationship Id="rId3" Type="http://schemas.openxmlformats.org/officeDocument/2006/relationships/image" Target="../media/image-56-3.jpg"/><Relationship Id="rId4" Type="http://schemas.openxmlformats.org/officeDocument/2006/relationships/image" Target="../media/image-56-4.jpg"/><Relationship Id="rId5" Type="http://schemas.openxmlformats.org/officeDocument/2006/relationships/image" Target="../media/image-56-5.jpg"/><Relationship Id="rId6" Type="http://schemas.openxmlformats.org/officeDocument/2006/relationships/image" Target="../media/image-56-6.jpg"/><Relationship Id="rId7" Type="http://schemas.openxmlformats.org/officeDocument/2006/relationships/image" Target="../media/image-56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image" Target="../media/image-58-2.jpg"/><Relationship Id="rId3" Type="http://schemas.openxmlformats.org/officeDocument/2006/relationships/image" Target="../media/image-58-3.jpg"/><Relationship Id="rId4" Type="http://schemas.openxmlformats.org/officeDocument/2006/relationships/image" Target="../media/image-58-4.jpg"/><Relationship Id="rId5" Type="http://schemas.openxmlformats.org/officeDocument/2006/relationships/image" Target="../media/image-58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image" Target="../media/image-67-2.jpg"/><Relationship Id="rId3" Type="http://schemas.openxmlformats.org/officeDocument/2006/relationships/image" Target="../media/image-67-3.jpg"/><Relationship Id="rId4" Type="http://schemas.openxmlformats.org/officeDocument/2006/relationships/image" Target="../media/image-67-4.jpg"/><Relationship Id="rId5" Type="http://schemas.openxmlformats.org/officeDocument/2006/relationships/image" Target="../media/image-67-5.jpg"/><Relationship Id="rId6" Type="http://schemas.openxmlformats.org/officeDocument/2006/relationships/image" Target="../media/image-67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image" Target="../media/image-69-2.jpg"/><Relationship Id="rId3" Type="http://schemas.openxmlformats.org/officeDocument/2006/relationships/image" Target="../media/image-69-3.jpg"/><Relationship Id="rId4" Type="http://schemas.openxmlformats.org/officeDocument/2006/relationships/image" Target="../media/image-6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image" Target="../media/image-70-2.jpg"/><Relationship Id="rId3" Type="http://schemas.openxmlformats.org/officeDocument/2006/relationships/image" Target="../media/image-70-3.jpg"/><Relationship Id="rId4" Type="http://schemas.openxmlformats.org/officeDocument/2006/relationships/image" Target="../media/image-70-4.jpg"/><Relationship Id="rId5" Type="http://schemas.openxmlformats.org/officeDocument/2006/relationships/image" Target="../media/image-70-5.jpg"/><Relationship Id="rId6" Type="http://schemas.openxmlformats.org/officeDocument/2006/relationships/image" Target="../media/image-70-6.jpg"/><Relationship Id="rId7" Type="http://schemas.openxmlformats.org/officeDocument/2006/relationships/image" Target="../media/image-70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image" Target="../media/image-72-2.jpg"/><Relationship Id="rId3" Type="http://schemas.openxmlformats.org/officeDocument/2006/relationships/image" Target="../media/image-72-3.jpg"/><Relationship Id="rId4" Type="http://schemas.openxmlformats.org/officeDocument/2006/relationships/image" Target="../media/image-72-4.jpg"/><Relationship Id="rId5" Type="http://schemas.openxmlformats.org/officeDocument/2006/relationships/image" Target="../media/image-7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jpg"/><Relationship Id="rId2" Type="http://schemas.openxmlformats.org/officeDocument/2006/relationships/image" Target="../media/image-82-2.jpg"/><Relationship Id="rId3" Type="http://schemas.openxmlformats.org/officeDocument/2006/relationships/image" Target="../media/image-82-3.jpg"/><Relationship Id="rId4" Type="http://schemas.openxmlformats.org/officeDocument/2006/relationships/image" Target="../media/image-82-4.jpg"/><Relationship Id="rId5" Type="http://schemas.openxmlformats.org/officeDocument/2006/relationships/image" Target="../media/image-82-5.jpg"/><Relationship Id="rId6" Type="http://schemas.openxmlformats.org/officeDocument/2006/relationships/image" Target="../media/image-82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jpg"/><Relationship Id="rId2" Type="http://schemas.openxmlformats.org/officeDocument/2006/relationships/image" Target="../media/image-83-2.jpg"/><Relationship Id="rId3" Type="http://schemas.openxmlformats.org/officeDocument/2006/relationships/image" Target="../media/image-83-3.jpg"/><Relationship Id="rId4" Type="http://schemas.openxmlformats.org/officeDocument/2006/relationships/image" Target="../media/image-83-4.jpg"/><Relationship Id="rId5" Type="http://schemas.openxmlformats.org/officeDocument/2006/relationships/image" Target="../media/image-83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jpg"/><Relationship Id="rId2" Type="http://schemas.openxmlformats.org/officeDocument/2006/relationships/image" Target="../media/image-86-2.jpg"/><Relationship Id="rId3" Type="http://schemas.openxmlformats.org/officeDocument/2006/relationships/image" Target="../media/image-86-3.jpg"/><Relationship Id="rId4" Type="http://schemas.openxmlformats.org/officeDocument/2006/relationships/image" Target="../media/image-86-4.jpg"/><Relationship Id="rId5" Type="http://schemas.openxmlformats.org/officeDocument/2006/relationships/image" Target="../media/image-86-5.jpg"/><Relationship Id="rId6" Type="http://schemas.openxmlformats.org/officeDocument/2006/relationships/image" Target="../media/image-86-6.jpg"/><Relationship Id="rId7" Type="http://schemas.openxmlformats.org/officeDocument/2006/relationships/image" Target="../media/image-86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jpg"/><Relationship Id="rId2" Type="http://schemas.openxmlformats.org/officeDocument/2006/relationships/image" Target="../media/image-89-2.jpg"/><Relationship Id="rId3" Type="http://schemas.openxmlformats.org/officeDocument/2006/relationships/image" Target="../media/image-89-3.jpg"/><Relationship Id="rId4" Type="http://schemas.openxmlformats.org/officeDocument/2006/relationships/image" Target="../media/image-89-4.jpg"/><Relationship Id="rId5" Type="http://schemas.openxmlformats.org/officeDocument/2006/relationships/image" Target="../media/image-89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jpg"/><Relationship Id="rId2" Type="http://schemas.openxmlformats.org/officeDocument/2006/relationships/image" Target="../media/image-100-2.jpg"/><Relationship Id="rId3" Type="http://schemas.openxmlformats.org/officeDocument/2006/relationships/image" Target="../media/image-100-3.jpg"/><Relationship Id="rId4" Type="http://schemas.openxmlformats.org/officeDocument/2006/relationships/image" Target="../media/image-100-4.jpg"/><Relationship Id="rId5" Type="http://schemas.openxmlformats.org/officeDocument/2006/relationships/image" Target="../media/image-100-5.jpg"/><Relationship Id="rId6" Type="http://schemas.openxmlformats.org/officeDocument/2006/relationships/image" Target="../media/image-100-6.jpg"/><Relationship Id="rId7" Type="http://schemas.openxmlformats.org/officeDocument/2006/relationships/image" Target="../media/image-100-7.jpg"/><Relationship Id="rId8" Type="http://schemas.openxmlformats.org/officeDocument/2006/relationships/image" Target="../media/image-100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jpg"/><Relationship Id="rId2" Type="http://schemas.openxmlformats.org/officeDocument/2006/relationships/image" Target="../media/image-102-2.jpg"/><Relationship Id="rId3" Type="http://schemas.openxmlformats.org/officeDocument/2006/relationships/image" Target="../media/image-102-3.jpg"/><Relationship Id="rId4" Type="http://schemas.openxmlformats.org/officeDocument/2006/relationships/image" Target="../media/image-102-4.jpg"/><Relationship Id="rId5" Type="http://schemas.openxmlformats.org/officeDocument/2006/relationships/image" Target="../media/image-10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jpg"/><Relationship Id="rId2" Type="http://schemas.openxmlformats.org/officeDocument/2006/relationships/image" Target="../media/image-113-2.jpg"/><Relationship Id="rId3" Type="http://schemas.openxmlformats.org/officeDocument/2006/relationships/image" Target="../media/image-113-3.jpg"/><Relationship Id="rId4" Type="http://schemas.openxmlformats.org/officeDocument/2006/relationships/image" Target="../media/image-113-4.jpg"/><Relationship Id="rId5" Type="http://schemas.openxmlformats.org/officeDocument/2006/relationships/image" Target="../media/image-113-5.jpg"/><Relationship Id="rId6" Type="http://schemas.openxmlformats.org/officeDocument/2006/relationships/image" Target="../media/image-11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jpg"/><Relationship Id="rId2" Type="http://schemas.openxmlformats.org/officeDocument/2006/relationships/image" Target="../media/image-114-2.jpg"/><Relationship Id="rId3" Type="http://schemas.openxmlformats.org/officeDocument/2006/relationships/image" Target="../media/image-114-3.jpg"/><Relationship Id="rId4" Type="http://schemas.openxmlformats.org/officeDocument/2006/relationships/image" Target="../media/image-114-4.jpg"/><Relationship Id="rId5" Type="http://schemas.openxmlformats.org/officeDocument/2006/relationships/image" Target="../media/image-114-5.jpg"/><Relationship Id="rId6" Type="http://schemas.openxmlformats.org/officeDocument/2006/relationships/image" Target="../media/image-11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jpg"/><Relationship Id="rId2" Type="http://schemas.openxmlformats.org/officeDocument/2006/relationships/image" Target="../media/image-116-2.jpg"/><Relationship Id="rId3" Type="http://schemas.openxmlformats.org/officeDocument/2006/relationships/image" Target="../media/image-116-3.jpg"/><Relationship Id="rId4" Type="http://schemas.openxmlformats.org/officeDocument/2006/relationships/image" Target="../media/image-116-4.jpg"/><Relationship Id="rId5" Type="http://schemas.openxmlformats.org/officeDocument/2006/relationships/image" Target="../media/image-11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jpg"/><Relationship Id="rId2" Type="http://schemas.openxmlformats.org/officeDocument/2006/relationships/image" Target="../media/image-126-2.jpg"/><Relationship Id="rId3" Type="http://schemas.openxmlformats.org/officeDocument/2006/relationships/image" Target="../media/image-126-3.jpg"/><Relationship Id="rId4" Type="http://schemas.openxmlformats.org/officeDocument/2006/relationships/image" Target="../media/image-126-4.jpg"/><Relationship Id="rId5" Type="http://schemas.openxmlformats.org/officeDocument/2006/relationships/image" Target="../media/image-126-5.jpg"/><Relationship Id="rId6" Type="http://schemas.openxmlformats.org/officeDocument/2006/relationships/image" Target="../media/image-126-6.jpg"/><Relationship Id="rId7" Type="http://schemas.openxmlformats.org/officeDocument/2006/relationships/image" Target="../media/image-126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jpg"/><Relationship Id="rId2" Type="http://schemas.openxmlformats.org/officeDocument/2006/relationships/image" Target="../media/image-127-2.jpg"/><Relationship Id="rId3" Type="http://schemas.openxmlformats.org/officeDocument/2006/relationships/image" Target="../media/image-127-3.jpg"/><Relationship Id="rId4" Type="http://schemas.openxmlformats.org/officeDocument/2006/relationships/image" Target="../media/image-127-4.jpg"/><Relationship Id="rId5" Type="http://schemas.openxmlformats.org/officeDocument/2006/relationships/image" Target="../media/image-127-5.jpg"/><Relationship Id="rId6" Type="http://schemas.openxmlformats.org/officeDocument/2006/relationships/image" Target="../media/image-127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jpg"/><Relationship Id="rId2" Type="http://schemas.openxmlformats.org/officeDocument/2006/relationships/image" Target="../media/image-129-2.jpg"/><Relationship Id="rId3" Type="http://schemas.openxmlformats.org/officeDocument/2006/relationships/image" Target="../media/image-129-3.jpg"/><Relationship Id="rId4" Type="http://schemas.openxmlformats.org/officeDocument/2006/relationships/image" Target="../media/image-129-4.jpg"/><Relationship Id="rId5" Type="http://schemas.openxmlformats.org/officeDocument/2006/relationships/image" Target="../media/image-129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jpg"/><Relationship Id="rId2" Type="http://schemas.openxmlformats.org/officeDocument/2006/relationships/image" Target="../media/image-141-2.jpg"/><Relationship Id="rId3" Type="http://schemas.openxmlformats.org/officeDocument/2006/relationships/image" Target="../media/image-141-3.jpg"/><Relationship Id="rId4" Type="http://schemas.openxmlformats.org/officeDocument/2006/relationships/image" Target="../media/image-141-4.jpg"/><Relationship Id="rId5" Type="http://schemas.openxmlformats.org/officeDocument/2006/relationships/image" Target="../media/image-141-5.jpg"/><Relationship Id="rId6" Type="http://schemas.openxmlformats.org/officeDocument/2006/relationships/image" Target="../media/image-141-6.jpg"/><Relationship Id="rId7" Type="http://schemas.openxmlformats.org/officeDocument/2006/relationships/image" Target="../media/image-141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3-1.jpg"/><Relationship Id="rId2" Type="http://schemas.openxmlformats.org/officeDocument/2006/relationships/image" Target="../media/image-153-2.jpg"/><Relationship Id="rId3" Type="http://schemas.openxmlformats.org/officeDocument/2006/relationships/image" Target="../media/image-153-3.jpg"/><Relationship Id="rId4" Type="http://schemas.openxmlformats.org/officeDocument/2006/relationships/image" Target="../media/image-153-4.jpg"/><Relationship Id="rId5" Type="http://schemas.openxmlformats.org/officeDocument/2006/relationships/image" Target="../media/image-153-5.jpg"/><Relationship Id="rId6" Type="http://schemas.openxmlformats.org/officeDocument/2006/relationships/image" Target="../media/image-15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4-1.jpg"/><Relationship Id="rId2" Type="http://schemas.openxmlformats.org/officeDocument/2006/relationships/image" Target="../media/image-154-2.jpg"/><Relationship Id="rId3" Type="http://schemas.openxmlformats.org/officeDocument/2006/relationships/image" Target="../media/image-154-3.jpg"/><Relationship Id="rId4" Type="http://schemas.openxmlformats.org/officeDocument/2006/relationships/image" Target="../media/image-15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6-1.jpg"/><Relationship Id="rId2" Type="http://schemas.openxmlformats.org/officeDocument/2006/relationships/image" Target="../media/image-156-2.jpg"/><Relationship Id="rId3" Type="http://schemas.openxmlformats.org/officeDocument/2006/relationships/image" Target="../media/image-156-3.jpg"/><Relationship Id="rId4" Type="http://schemas.openxmlformats.org/officeDocument/2006/relationships/image" Target="../media/image-156-4.jpg"/><Relationship Id="rId5" Type="http://schemas.openxmlformats.org/officeDocument/2006/relationships/image" Target="../media/image-15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4-1.jpg"/><Relationship Id="rId2" Type="http://schemas.openxmlformats.org/officeDocument/2006/relationships/image" Target="../media/image-164-2.jpg"/><Relationship Id="rId3" Type="http://schemas.openxmlformats.org/officeDocument/2006/relationships/image" Target="../media/image-164-3.jpg"/><Relationship Id="rId4" Type="http://schemas.openxmlformats.org/officeDocument/2006/relationships/image" Target="../media/image-164-4.jpg"/><Relationship Id="rId5" Type="http://schemas.openxmlformats.org/officeDocument/2006/relationships/image" Target="../media/image-164-5.jpg"/><Relationship Id="rId6" Type="http://schemas.openxmlformats.org/officeDocument/2006/relationships/image" Target="../media/image-16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5-1.jpg"/><Relationship Id="rId2" Type="http://schemas.openxmlformats.org/officeDocument/2006/relationships/image" Target="../media/image-165-2.jpg"/><Relationship Id="rId3" Type="http://schemas.openxmlformats.org/officeDocument/2006/relationships/image" Target="../media/image-165-3.jpg"/><Relationship Id="rId4" Type="http://schemas.openxmlformats.org/officeDocument/2006/relationships/image" Target="../media/image-165-4.jpg"/><Relationship Id="rId5" Type="http://schemas.openxmlformats.org/officeDocument/2006/relationships/image" Target="../media/image-165-5.jpg"/><Relationship Id="rId6" Type="http://schemas.openxmlformats.org/officeDocument/2006/relationships/image" Target="../media/image-165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8-1.jpg"/><Relationship Id="rId2" Type="http://schemas.openxmlformats.org/officeDocument/2006/relationships/image" Target="../media/image-168-2.jpg"/><Relationship Id="rId3" Type="http://schemas.openxmlformats.org/officeDocument/2006/relationships/image" Target="../media/image-168-3.jpg"/><Relationship Id="rId4" Type="http://schemas.openxmlformats.org/officeDocument/2006/relationships/image" Target="../media/image-168-4.jpg"/><Relationship Id="rId5" Type="http://schemas.openxmlformats.org/officeDocument/2006/relationships/image" Target="../media/image-168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15788" y="731520"/>
            <a:ext cx="960120" cy="960120"/>
          </a:xfrm>
          <a:prstGeom prst="roundRect">
            <a:avLst>
              <a:gd name="adj" fmla="val 26667"/>
            </a:avLst>
          </a:prstGeom>
          <a:solidFill>
            <a:srgbClr val="D9AE4B"/>
          </a:solidFill>
          <a:ln/>
          <a:effectLst>
            <a:outerShdw sx="100000" sy="100000" kx="0" ky="0" algn="bl" rotWithShape="0" blurRad="254000" dist="50800" dir="16200000">
              <a:srgbClr val="D9AE4B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15788" y="7315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</a:t>
            </a:r>
            <a:endParaRPr lang="ar-SA" sz="4400" dirty="0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سلّم الروبوتات السبعة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0" y="2331720"/>
            <a:ext cx="12191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FFF3D6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 للمعلمين ٣</a:t>
            </a:r>
            <a:endParaRPr lang="ar-SA" sz="9600" dirty="0"/>
          </a:p>
        </p:txBody>
      </p:sp>
      <p:sp>
        <p:nvSpPr>
          <p:cNvPr id="6" name="Text 4"/>
          <p:cNvSpPr/>
          <p:nvPr/>
        </p:nvSpPr>
        <p:spPr>
          <a:xfrm>
            <a:off x="0" y="37947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أكاديمية الروبوت: من السيارة الأولى… إلى ملعب كرة القدم</a:t>
            </a:r>
            <a:endParaRPr lang="ar-SA" sz="2800" dirty="0"/>
          </a:p>
        </p:txBody>
      </p:sp>
      <p:sp>
        <p:nvSpPr>
          <p:cNvPr id="7" name="Shape 5"/>
          <p:cNvSpPr/>
          <p:nvPr/>
        </p:nvSpPr>
        <p:spPr>
          <a:xfrm>
            <a:off x="5364328" y="4617720"/>
            <a:ext cx="1463040" cy="36576"/>
          </a:xfrm>
          <a:prstGeom prst="rect">
            <a:avLst/>
          </a:prstGeom>
          <a:solidFill>
            <a:srgbClr val="D9AE4B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ar-SA" altLang="en-US" sz="20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إعداد وتقديم: </a:t>
            </a:r>
            <a:pPr algn="ct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أ. محمد زيتون</a:t>
            </a:r>
            <a:endParaRPr lang="ar-SA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05960" y="1188720"/>
            <a:ext cx="2779776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05960" y="118872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الفكرة الذهبية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روبوت اليوم = روبوت الأمس + قطعة واحدة جديدة…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نشرحها وحدها أولًا، ثم نركّبها، ثم نبرمجها، ثم ندمجها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٣</a:t>
            </a:r>
            <a:endParaRPr lang="ar-SA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42655" y="4572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442655" y="457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السلّم بالتفصيل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ماذا يضيف كل روبوت؟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123321" y="1874520"/>
            <a:ext cx="3245415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123321" y="1874520"/>
            <a:ext cx="3245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الروبوت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4768178" y="1874520"/>
            <a:ext cx="3245415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4768178" y="1874520"/>
            <a:ext cx="3245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القطعة الجديدة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383549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38354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المهارة الجديدة</a:t>
            </a:r>
            <a:endParaRPr lang="ar-SA" sz="1900" dirty="0"/>
          </a:p>
        </p:txBody>
      </p:sp>
      <p:sp>
        <p:nvSpPr>
          <p:cNvPr id="11" name="anim-g1-1"/>
          <p:cNvSpPr/>
          <p:nvPr/>
        </p:nvSpPr>
        <p:spPr>
          <a:xfrm>
            <a:off x="8123321" y="2514600"/>
            <a:ext cx="3245415" cy="408867"/>
          </a:xfrm>
          <a:prstGeom prst="roundRect">
            <a:avLst>
              <a:gd name="adj" fmla="val 26837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2"/>
          <p:cNvSpPr/>
          <p:nvPr/>
        </p:nvSpPr>
        <p:spPr>
          <a:xfrm>
            <a:off x="8260481" y="2514600"/>
            <a:ext cx="2971095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🤖١ السيارة العادية</a:t>
            </a:r>
            <a:endParaRPr lang="ar-SA" sz="2100" dirty="0"/>
          </a:p>
        </p:txBody>
      </p:sp>
      <p:sp>
        <p:nvSpPr>
          <p:cNvPr id="13" name="anim-g1-3"/>
          <p:cNvSpPr/>
          <p:nvPr/>
        </p:nvSpPr>
        <p:spPr>
          <a:xfrm>
            <a:off x="4768178" y="2514600"/>
            <a:ext cx="3245415" cy="408867"/>
          </a:xfrm>
          <a:prstGeom prst="roundRect">
            <a:avLst>
              <a:gd name="adj" fmla="val 26837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4"/>
          <p:cNvSpPr/>
          <p:nvPr/>
        </p:nvSpPr>
        <p:spPr>
          <a:xfrm>
            <a:off x="4905338" y="2514600"/>
            <a:ext cx="2971095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محركان + L298N + بطاريات</a:t>
            </a:r>
            <a:endParaRPr lang="ar-SA" sz="2100" dirty="0"/>
          </a:p>
        </p:txBody>
      </p:sp>
      <p:sp>
        <p:nvSpPr>
          <p:cNvPr id="15" name="anim-g1-5"/>
          <p:cNvSpPr/>
          <p:nvPr/>
        </p:nvSpPr>
        <p:spPr>
          <a:xfrm>
            <a:off x="822960" y="2514600"/>
            <a:ext cx="3835490" cy="408867"/>
          </a:xfrm>
          <a:prstGeom prst="roundRect">
            <a:avLst>
              <a:gd name="adj" fmla="val 26837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6"/>
          <p:cNvSpPr/>
          <p:nvPr/>
        </p:nvSpPr>
        <p:spPr>
          <a:xfrm>
            <a:off x="960120" y="2514600"/>
            <a:ext cx="3561170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الدفع التفاضلي · عصا الجوال</a:t>
            </a:r>
            <a:endParaRPr lang="ar-SA" sz="2100" dirty="0"/>
          </a:p>
        </p:txBody>
      </p:sp>
      <p:sp>
        <p:nvSpPr>
          <p:cNvPr id="17" name="anim-g2-7"/>
          <p:cNvSpPr/>
          <p:nvPr/>
        </p:nvSpPr>
        <p:spPr>
          <a:xfrm>
            <a:off x="8123321" y="3033195"/>
            <a:ext cx="3245415" cy="408867"/>
          </a:xfrm>
          <a:prstGeom prst="roundRect">
            <a:avLst>
              <a:gd name="adj" fmla="val 26837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8"/>
          <p:cNvSpPr/>
          <p:nvPr/>
        </p:nvSpPr>
        <p:spPr>
          <a:xfrm>
            <a:off x="8260481" y="3033195"/>
            <a:ext cx="2971095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🤖٢ السيارة التي ترى</a:t>
            </a:r>
            <a:endParaRPr lang="ar-SA" sz="2100" dirty="0"/>
          </a:p>
        </p:txBody>
      </p:sp>
      <p:sp>
        <p:nvSpPr>
          <p:cNvPr id="19" name="anim-g2-9"/>
          <p:cNvSpPr/>
          <p:nvPr/>
        </p:nvSpPr>
        <p:spPr>
          <a:xfrm>
            <a:off x="4768178" y="3033195"/>
            <a:ext cx="3245415" cy="408867"/>
          </a:xfrm>
          <a:prstGeom prst="roundRect">
            <a:avLst>
              <a:gd name="adj" fmla="val 26837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10"/>
          <p:cNvSpPr/>
          <p:nvPr/>
        </p:nvSpPr>
        <p:spPr>
          <a:xfrm>
            <a:off x="4905338" y="3033195"/>
            <a:ext cx="2971095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+ HC-SR04</a:t>
            </a:r>
            <a:endParaRPr lang="ar-SA" sz="2100" dirty="0"/>
          </a:p>
        </p:txBody>
      </p:sp>
      <p:sp>
        <p:nvSpPr>
          <p:cNvPr id="21" name="anim-g2-11"/>
          <p:cNvSpPr/>
          <p:nvPr/>
        </p:nvSpPr>
        <p:spPr>
          <a:xfrm>
            <a:off x="822960" y="3033195"/>
            <a:ext cx="3835490" cy="408867"/>
          </a:xfrm>
          <a:prstGeom prst="roundRect">
            <a:avLst>
              <a:gd name="adj" fmla="val 26837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12"/>
          <p:cNvSpPr/>
          <p:nvPr/>
        </p:nvSpPr>
        <p:spPr>
          <a:xfrm>
            <a:off x="960120" y="3033195"/>
            <a:ext cx="3561170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تتباطأ وتختار الطريق الأوسع</a:t>
            </a:r>
            <a:endParaRPr lang="ar-SA" sz="2100" dirty="0"/>
          </a:p>
        </p:txBody>
      </p:sp>
      <p:sp>
        <p:nvSpPr>
          <p:cNvPr id="23" name="anim-g3-13"/>
          <p:cNvSpPr/>
          <p:nvPr/>
        </p:nvSpPr>
        <p:spPr>
          <a:xfrm>
            <a:off x="8123321" y="3551791"/>
            <a:ext cx="3245415" cy="408867"/>
          </a:xfrm>
          <a:prstGeom prst="roundRect">
            <a:avLst>
              <a:gd name="adj" fmla="val 26837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14"/>
          <p:cNvSpPr/>
          <p:nvPr/>
        </p:nvSpPr>
        <p:spPr>
          <a:xfrm>
            <a:off x="8260481" y="3551791"/>
            <a:ext cx="2971095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🤖٣ متتبع الخط</a:t>
            </a:r>
            <a:endParaRPr lang="ar-SA" sz="2100" dirty="0"/>
          </a:p>
        </p:txBody>
      </p:sp>
      <p:sp>
        <p:nvSpPr>
          <p:cNvPr id="25" name="anim-g3-15"/>
          <p:cNvSpPr/>
          <p:nvPr/>
        </p:nvSpPr>
        <p:spPr>
          <a:xfrm>
            <a:off x="4768178" y="3551791"/>
            <a:ext cx="3245415" cy="408867"/>
          </a:xfrm>
          <a:prstGeom prst="roundRect">
            <a:avLst>
              <a:gd name="adj" fmla="val 26837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16"/>
          <p:cNvSpPr/>
          <p:nvPr/>
        </p:nvSpPr>
        <p:spPr>
          <a:xfrm>
            <a:off x="4905338" y="3551791"/>
            <a:ext cx="2971095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+ ٣ حساسات TCRT5000</a:t>
            </a:r>
            <a:endParaRPr lang="ar-SA" sz="2100" dirty="0"/>
          </a:p>
        </p:txBody>
      </p:sp>
      <p:sp>
        <p:nvSpPr>
          <p:cNvPr id="27" name="anim-g3-17"/>
          <p:cNvSpPr/>
          <p:nvPr/>
        </p:nvSpPr>
        <p:spPr>
          <a:xfrm>
            <a:off x="822960" y="3551791"/>
            <a:ext cx="3835490" cy="408867"/>
          </a:xfrm>
          <a:prstGeom prst="roundRect">
            <a:avLst>
              <a:gd name="adj" fmla="val 26837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18"/>
          <p:cNvSpPr/>
          <p:nvPr/>
        </p:nvSpPr>
        <p:spPr>
          <a:xfrm>
            <a:off x="960120" y="3551791"/>
            <a:ext cx="3561170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ثماني حالات وذاكرة «آخر جهة»</a:t>
            </a:r>
            <a:endParaRPr lang="ar-SA" sz="2100" dirty="0"/>
          </a:p>
        </p:txBody>
      </p:sp>
      <p:sp>
        <p:nvSpPr>
          <p:cNvPr id="29" name="anim-g4-19"/>
          <p:cNvSpPr/>
          <p:nvPr/>
        </p:nvSpPr>
        <p:spPr>
          <a:xfrm>
            <a:off x="8123321" y="4070386"/>
            <a:ext cx="3245415" cy="408867"/>
          </a:xfrm>
          <a:prstGeom prst="roundRect">
            <a:avLst>
              <a:gd name="adj" fmla="val 26837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20"/>
          <p:cNvSpPr/>
          <p:nvPr/>
        </p:nvSpPr>
        <p:spPr>
          <a:xfrm>
            <a:off x="8260481" y="4070386"/>
            <a:ext cx="2971095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🤖٤ الروبوت المدمج</a:t>
            </a:r>
            <a:endParaRPr lang="ar-SA" sz="2100" dirty="0"/>
          </a:p>
        </p:txBody>
      </p:sp>
      <p:sp>
        <p:nvSpPr>
          <p:cNvPr id="31" name="anim-g4-21"/>
          <p:cNvSpPr/>
          <p:nvPr/>
        </p:nvSpPr>
        <p:spPr>
          <a:xfrm>
            <a:off x="4768178" y="4070386"/>
            <a:ext cx="3245415" cy="408867"/>
          </a:xfrm>
          <a:prstGeom prst="roundRect">
            <a:avLst>
              <a:gd name="adj" fmla="val 26837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22"/>
          <p:cNvSpPr/>
          <p:nvPr/>
        </p:nvSpPr>
        <p:spPr>
          <a:xfrm>
            <a:off x="4905338" y="4070386"/>
            <a:ext cx="2971095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(لا قطع جديدة!)</a:t>
            </a:r>
            <a:endParaRPr lang="ar-SA" sz="2100" dirty="0"/>
          </a:p>
        </p:txBody>
      </p:sp>
      <p:sp>
        <p:nvSpPr>
          <p:cNvPr id="33" name="anim-g4-23"/>
          <p:cNvSpPr/>
          <p:nvPr/>
        </p:nvSpPr>
        <p:spPr>
          <a:xfrm>
            <a:off x="822960" y="4070386"/>
            <a:ext cx="3835490" cy="408867"/>
          </a:xfrm>
          <a:prstGeom prst="roundRect">
            <a:avLst>
              <a:gd name="adj" fmla="val 26837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24"/>
          <p:cNvSpPr/>
          <p:nvPr/>
        </p:nvSpPr>
        <p:spPr>
          <a:xfrm>
            <a:off x="960120" y="4070386"/>
            <a:ext cx="3561170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الأولويات: العائق قبل الخط</a:t>
            </a:r>
            <a:endParaRPr lang="ar-SA" sz="2100" dirty="0"/>
          </a:p>
        </p:txBody>
      </p:sp>
      <p:sp>
        <p:nvSpPr>
          <p:cNvPr id="35" name="anim-g5-25"/>
          <p:cNvSpPr/>
          <p:nvPr/>
        </p:nvSpPr>
        <p:spPr>
          <a:xfrm>
            <a:off x="8123321" y="4588982"/>
            <a:ext cx="3245415" cy="408867"/>
          </a:xfrm>
          <a:prstGeom prst="roundRect">
            <a:avLst>
              <a:gd name="adj" fmla="val 26837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6" name="anim-g5-26"/>
          <p:cNvSpPr/>
          <p:nvPr/>
        </p:nvSpPr>
        <p:spPr>
          <a:xfrm>
            <a:off x="8260481" y="4588982"/>
            <a:ext cx="2971095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🤖٥ السومو</a:t>
            </a:r>
            <a:endParaRPr lang="ar-SA" sz="2100" dirty="0"/>
          </a:p>
        </p:txBody>
      </p:sp>
      <p:sp>
        <p:nvSpPr>
          <p:cNvPr id="37" name="anim-g5-27"/>
          <p:cNvSpPr/>
          <p:nvPr/>
        </p:nvSpPr>
        <p:spPr>
          <a:xfrm>
            <a:off x="4768178" y="4588982"/>
            <a:ext cx="3245415" cy="408867"/>
          </a:xfrm>
          <a:prstGeom prst="roundRect">
            <a:avLst>
              <a:gd name="adj" fmla="val 26837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8" name="anim-g5-28"/>
          <p:cNvSpPr/>
          <p:nvPr/>
        </p:nvSpPr>
        <p:spPr>
          <a:xfrm>
            <a:off x="4905338" y="4588982"/>
            <a:ext cx="2971095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زر BOOT + حساسا الحافة</a:t>
            </a:r>
            <a:endParaRPr lang="ar-SA" sz="2100" dirty="0"/>
          </a:p>
        </p:txBody>
      </p:sp>
      <p:sp>
        <p:nvSpPr>
          <p:cNvPr id="39" name="anim-g5-29"/>
          <p:cNvSpPr/>
          <p:nvPr/>
        </p:nvSpPr>
        <p:spPr>
          <a:xfrm>
            <a:off x="822960" y="4588982"/>
            <a:ext cx="3835490" cy="408867"/>
          </a:xfrm>
          <a:prstGeom prst="roundRect">
            <a:avLst>
              <a:gd name="adj" fmla="val 26837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0" name="anim-g5-30"/>
          <p:cNvSpPr/>
          <p:nvPr/>
        </p:nvSpPr>
        <p:spPr>
          <a:xfrm>
            <a:off x="960120" y="4588982"/>
            <a:ext cx="3561170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قانون الثواني الخمس · الهجوم</a:t>
            </a:r>
            <a:endParaRPr lang="ar-SA" sz="2100" dirty="0"/>
          </a:p>
        </p:txBody>
      </p:sp>
      <p:sp>
        <p:nvSpPr>
          <p:cNvPr id="41" name="anim-g6-31"/>
          <p:cNvSpPr/>
          <p:nvPr/>
        </p:nvSpPr>
        <p:spPr>
          <a:xfrm>
            <a:off x="8123321" y="5107577"/>
            <a:ext cx="3245415" cy="408867"/>
          </a:xfrm>
          <a:prstGeom prst="roundRect">
            <a:avLst>
              <a:gd name="adj" fmla="val 26837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42" name="anim-g6-32"/>
          <p:cNvSpPr/>
          <p:nvPr/>
        </p:nvSpPr>
        <p:spPr>
          <a:xfrm>
            <a:off x="8260481" y="5107577"/>
            <a:ext cx="2971095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🤖٦ السيارة المتكاملة</a:t>
            </a:r>
            <a:endParaRPr lang="ar-SA" sz="2100" dirty="0"/>
          </a:p>
        </p:txBody>
      </p:sp>
      <p:sp>
        <p:nvSpPr>
          <p:cNvPr id="43" name="anim-g6-33"/>
          <p:cNvSpPr/>
          <p:nvPr/>
        </p:nvSpPr>
        <p:spPr>
          <a:xfrm>
            <a:off x="4768178" y="5107577"/>
            <a:ext cx="3245415" cy="408867"/>
          </a:xfrm>
          <a:prstGeom prst="roundRect">
            <a:avLst>
              <a:gd name="adj" fmla="val 26837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4" name="anim-g6-34"/>
          <p:cNvSpPr/>
          <p:nvPr/>
        </p:nvSpPr>
        <p:spPr>
          <a:xfrm>
            <a:off x="4905338" y="5107577"/>
            <a:ext cx="2971095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ما سبق + الجوال</a:t>
            </a:r>
            <a:endParaRPr lang="ar-SA" sz="2100" dirty="0"/>
          </a:p>
        </p:txBody>
      </p:sp>
      <p:sp>
        <p:nvSpPr>
          <p:cNvPr id="45" name="anim-g6-35"/>
          <p:cNvSpPr/>
          <p:nvPr/>
        </p:nvSpPr>
        <p:spPr>
          <a:xfrm>
            <a:off x="822960" y="5107577"/>
            <a:ext cx="3835490" cy="408867"/>
          </a:xfrm>
          <a:prstGeom prst="roundRect">
            <a:avLst>
              <a:gd name="adj" fmla="val 26837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6" name="anim-g6-36"/>
          <p:cNvSpPr/>
          <p:nvPr/>
        </p:nvSpPr>
        <p:spPr>
          <a:xfrm>
            <a:off x="960120" y="5107577"/>
            <a:ext cx="3561170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اختيار «العقل» بحرف واحد</a:t>
            </a:r>
            <a:endParaRPr lang="ar-SA" sz="2100" dirty="0"/>
          </a:p>
        </p:txBody>
      </p:sp>
      <p:sp>
        <p:nvSpPr>
          <p:cNvPr id="47" name="anim-g7-37"/>
          <p:cNvSpPr/>
          <p:nvPr/>
        </p:nvSpPr>
        <p:spPr>
          <a:xfrm>
            <a:off x="8123321" y="5626173"/>
            <a:ext cx="3245415" cy="408867"/>
          </a:xfrm>
          <a:prstGeom prst="roundRect">
            <a:avLst>
              <a:gd name="adj" fmla="val 26837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48" name="anim-g7-38"/>
          <p:cNvSpPr/>
          <p:nvPr/>
        </p:nvSpPr>
        <p:spPr>
          <a:xfrm>
            <a:off x="8260481" y="5626173"/>
            <a:ext cx="2971095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⚽٧ روبوت الكرة</a:t>
            </a:r>
            <a:endParaRPr lang="ar-SA" sz="2100" dirty="0"/>
          </a:p>
        </p:txBody>
      </p:sp>
      <p:sp>
        <p:nvSpPr>
          <p:cNvPr id="49" name="anim-g7-39"/>
          <p:cNvSpPr/>
          <p:nvPr/>
        </p:nvSpPr>
        <p:spPr>
          <a:xfrm>
            <a:off x="4768178" y="5626173"/>
            <a:ext cx="3245415" cy="408867"/>
          </a:xfrm>
          <a:prstGeom prst="roundRect">
            <a:avLst>
              <a:gd name="adj" fmla="val 26837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0" name="anim-g7-40"/>
          <p:cNvSpPr/>
          <p:nvPr/>
        </p:nvSpPr>
        <p:spPr>
          <a:xfrm>
            <a:off x="4905338" y="5626173"/>
            <a:ext cx="2971095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 محركات أومني + درايفر ثانٍ</a:t>
            </a:r>
            <a:endParaRPr lang="ar-SA" sz="2100" dirty="0"/>
          </a:p>
        </p:txBody>
      </p:sp>
      <p:sp>
        <p:nvSpPr>
          <p:cNvPr id="51" name="anim-g7-41"/>
          <p:cNvSpPr/>
          <p:nvPr/>
        </p:nvSpPr>
        <p:spPr>
          <a:xfrm>
            <a:off x="822960" y="5626173"/>
            <a:ext cx="3835490" cy="408867"/>
          </a:xfrm>
          <a:prstGeom prst="roundRect">
            <a:avLst>
              <a:gd name="adj" fmla="val 26837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52" name="anim-g7-42"/>
          <p:cNvSpPr/>
          <p:nvPr/>
        </p:nvSpPr>
        <p:spPr>
          <a:xfrm>
            <a:off x="960120" y="5626173"/>
            <a:ext cx="3561170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الحركة في كل اتجاه</a:t>
            </a:r>
            <a:endParaRPr lang="ar-SA" sz="2100" dirty="0"/>
          </a:p>
        </p:txBody>
      </p:sp>
      <p:sp>
        <p:nvSpPr>
          <p:cNvPr id="53" name="Text 51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54" name="Text 52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الجديد كليًا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روبوت كرة القدم: ثلاثة محركات… اثنان أمام وواحد خلف</a:t>
            </a:r>
            <a:endParaRPr lang="ar-SA" sz="3200" dirty="0"/>
          </a:p>
        </p:txBody>
      </p:sp>
      <p:sp>
        <p:nvSpPr>
          <p:cNvPr id="5" name="anim-g1-43"/>
          <p:cNvSpPr/>
          <p:nvPr/>
        </p:nvSpPr>
        <p:spPr>
          <a:xfrm>
            <a:off x="8036357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44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45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🔺</a:t>
            </a:r>
            <a:endParaRPr lang="ar-SA" sz="2200" dirty="0"/>
          </a:p>
        </p:txBody>
      </p:sp>
      <p:sp>
        <p:nvSpPr>
          <p:cNvPr id="8" name="anim-g1-46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قاعدة ثلاثية</a:t>
            </a:r>
            <a:endParaRPr lang="ar-SA" sz="2200" dirty="0"/>
          </a:p>
        </p:txBody>
      </p:sp>
      <p:sp>
        <p:nvSpPr>
          <p:cNvPr id="9" name="anim-g1-47"/>
          <p:cNvSpPr/>
          <p:nvPr/>
        </p:nvSpPr>
        <p:spPr>
          <a:xfrm>
            <a:off x="8310677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المحركات على ١٢٠° من بعضها: ٦٠° و−٦٠° و١٨٠°</a:t>
            </a:r>
            <a:endParaRPr lang="ar-SA" sz="1900" dirty="0"/>
          </a:p>
        </p:txBody>
      </p:sp>
      <p:sp>
        <p:nvSpPr>
          <p:cNvPr id="10" name="anim-g2-48"/>
          <p:cNvSpPr/>
          <p:nvPr/>
        </p:nvSpPr>
        <p:spPr>
          <a:xfrm>
            <a:off x="4429658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49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50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</a:t>
            </a:r>
            <a:endParaRPr lang="ar-SA" sz="2200" dirty="0"/>
          </a:p>
        </p:txBody>
      </p:sp>
      <p:sp>
        <p:nvSpPr>
          <p:cNvPr id="13" name="anim-g2-51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عجلات أومني</a:t>
            </a:r>
            <a:endParaRPr lang="ar-SA" sz="2200" dirty="0"/>
          </a:p>
        </p:txBody>
      </p:sp>
      <p:sp>
        <p:nvSpPr>
          <p:cNvPr id="14" name="anim-g2-52"/>
          <p:cNvSpPr/>
          <p:nvPr/>
        </p:nvSpPr>
        <p:spPr>
          <a:xfrm>
            <a:off x="4703978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بكرات صغيرة على محيطها: تدفع… وتنزلق جانبيًا</a:t>
            </a:r>
            <a:endParaRPr lang="ar-SA" sz="1900" dirty="0"/>
          </a:p>
        </p:txBody>
      </p:sp>
      <p:sp>
        <p:nvSpPr>
          <p:cNvPr id="15" name="anim-g3-53"/>
          <p:cNvSpPr/>
          <p:nvPr/>
        </p:nvSpPr>
        <p:spPr>
          <a:xfrm>
            <a:off x="822960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54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55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🧭</a:t>
            </a:r>
            <a:endParaRPr lang="ar-SA" sz="2200" dirty="0"/>
          </a:p>
        </p:txBody>
      </p:sp>
      <p:sp>
        <p:nvSpPr>
          <p:cNvPr id="18" name="anim-g3-56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كل الاتجاهات</a:t>
            </a:r>
            <a:endParaRPr lang="ar-SA" sz="2200" dirty="0"/>
          </a:p>
        </p:txBody>
      </p:sp>
      <p:sp>
        <p:nvSpPr>
          <p:cNvPr id="19" name="anim-g3-57"/>
          <p:cNvSpPr/>
          <p:nvPr/>
        </p:nvSpPr>
        <p:spPr>
          <a:xfrm>
            <a:off x="1097280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أمام، جانب، قطري، ودوران في المكان… بلا مقود</a:t>
            </a:r>
            <a:endParaRPr lang="ar-SA" sz="1900" dirty="0"/>
          </a:p>
        </p:txBody>
      </p:sp>
      <p:sp>
        <p:nvSpPr>
          <p:cNvPr id="20" name="anim-g4-58"/>
          <p:cNvSpPr/>
          <p:nvPr/>
        </p:nvSpPr>
        <p:spPr>
          <a:xfrm>
            <a:off x="8036357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59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60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🧮</a:t>
            </a:r>
            <a:endParaRPr lang="ar-SA" sz="2200" dirty="0"/>
          </a:p>
        </p:txBody>
      </p:sp>
      <p:sp>
        <p:nvSpPr>
          <p:cNvPr id="23" name="anim-g4-61"/>
          <p:cNvSpPr/>
          <p:nvPr/>
        </p:nvSpPr>
        <p:spPr>
          <a:xfrm>
            <a:off x="8310677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ثلاث معادلات</a:t>
            </a:r>
            <a:endParaRPr lang="ar-SA" sz="2200" dirty="0"/>
          </a:p>
        </p:txBody>
      </p:sp>
      <p:sp>
        <p:nvSpPr>
          <p:cNvPr id="24" name="anim-g4-62"/>
          <p:cNvSpPr/>
          <p:nvPr/>
        </p:nvSpPr>
        <p:spPr>
          <a:xfrm>
            <a:off x="8310677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اتجاه العصا إلى سرعة كل محرك</a:t>
            </a:r>
            <a:endParaRPr lang="ar-SA" sz="1900" dirty="0"/>
          </a:p>
        </p:txBody>
      </p:sp>
      <p:sp>
        <p:nvSpPr>
          <p:cNvPr id="25" name="anim-g5-63"/>
          <p:cNvSpPr/>
          <p:nvPr/>
        </p:nvSpPr>
        <p:spPr>
          <a:xfrm>
            <a:off x="4429658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6" name="anim-g5-64"/>
          <p:cNvSpPr/>
          <p:nvPr/>
        </p:nvSpPr>
        <p:spPr>
          <a:xfrm>
            <a:off x="6920789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7" name="anim-g5-65"/>
          <p:cNvSpPr/>
          <p:nvPr/>
        </p:nvSpPr>
        <p:spPr>
          <a:xfrm>
            <a:off x="6920789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📱</a:t>
            </a:r>
            <a:endParaRPr lang="ar-SA" sz="2200" dirty="0"/>
          </a:p>
        </p:txBody>
      </p:sp>
      <p:sp>
        <p:nvSpPr>
          <p:cNvPr id="28" name="anim-g5-66"/>
          <p:cNvSpPr/>
          <p:nvPr/>
        </p:nvSpPr>
        <p:spPr>
          <a:xfrm>
            <a:off x="4703978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جوال لكل فريق</a:t>
            </a:r>
            <a:endParaRPr lang="ar-SA" sz="2200" dirty="0"/>
          </a:p>
        </p:txBody>
      </p:sp>
      <p:sp>
        <p:nvSpPr>
          <p:cNvPr id="29" name="anim-g5-67"/>
          <p:cNvSpPr/>
          <p:nvPr/>
        </p:nvSpPr>
        <p:spPr>
          <a:xfrm>
            <a:off x="4703978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شبكة Soccer-Blue وSoccer-Red</a:t>
            </a:r>
            <a:endParaRPr lang="ar-SA" sz="1900" dirty="0"/>
          </a:p>
        </p:txBody>
      </p:sp>
      <p:sp>
        <p:nvSpPr>
          <p:cNvPr id="30" name="anim-g6-68"/>
          <p:cNvSpPr/>
          <p:nvPr/>
        </p:nvSpPr>
        <p:spPr>
          <a:xfrm>
            <a:off x="822960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31" name="anim-g6-69"/>
          <p:cNvSpPr/>
          <p:nvPr/>
        </p:nvSpPr>
        <p:spPr>
          <a:xfrm>
            <a:off x="331409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32" name="anim-g6-70"/>
          <p:cNvSpPr/>
          <p:nvPr/>
        </p:nvSpPr>
        <p:spPr>
          <a:xfrm>
            <a:off x="331409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🏆</a:t>
            </a:r>
            <a:endParaRPr lang="ar-SA" sz="2200" dirty="0"/>
          </a:p>
        </p:txBody>
      </p:sp>
      <p:sp>
        <p:nvSpPr>
          <p:cNvPr id="33" name="anim-g6-71"/>
          <p:cNvSpPr/>
          <p:nvPr/>
        </p:nvSpPr>
        <p:spPr>
          <a:xfrm>
            <a:off x="1097280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مباراة حقيقية</a:t>
            </a:r>
            <a:endParaRPr lang="ar-SA" sz="2200" dirty="0"/>
          </a:p>
        </p:txBody>
      </p:sp>
      <p:sp>
        <p:nvSpPr>
          <p:cNvPr id="34" name="anim-g6-72"/>
          <p:cNvSpPr/>
          <p:nvPr/>
        </p:nvSpPr>
        <p:spPr>
          <a:xfrm>
            <a:off x="1097280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فريقان وكرة ومرميان… وكأس جذور</a:t>
            </a:r>
            <a:endParaRPr lang="ar-SA" sz="1900" dirty="0"/>
          </a:p>
        </p:txBody>
      </p:sp>
      <p:sp>
        <p:nvSpPr>
          <p:cNvPr id="35" name="Text 3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خريطة الرحلة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خمسة عشر محورًا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903741" y="1965960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4063" y="212598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64063" y="2125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🚀</a:t>
            </a:r>
            <a:endParaRPr lang="ar-SA" sz="2400" dirty="0"/>
          </a:p>
        </p:txBody>
      </p:sp>
      <p:sp>
        <p:nvSpPr>
          <p:cNvPr id="8" name="Text 6"/>
          <p:cNvSpPr/>
          <p:nvPr/>
        </p:nvSpPr>
        <p:spPr>
          <a:xfrm>
            <a:off x="9040901" y="2057400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٠</a:t>
            </a:r>
            <a:endParaRPr lang="ar-SA" sz="1400" dirty="0"/>
          </a:p>
        </p:txBody>
      </p:sp>
      <p:sp>
        <p:nvSpPr>
          <p:cNvPr id="9" name="Text 7"/>
          <p:cNvSpPr/>
          <p:nvPr/>
        </p:nvSpPr>
        <p:spPr>
          <a:xfrm>
            <a:off x="9040901" y="2331720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الافتتاح</a:t>
            </a:r>
            <a:endParaRPr lang="ar-SA" sz="1800" dirty="0"/>
          </a:p>
        </p:txBody>
      </p:sp>
      <p:sp>
        <p:nvSpPr>
          <p:cNvPr id="10" name="Shape 8"/>
          <p:cNvSpPr/>
          <p:nvPr/>
        </p:nvSpPr>
        <p:spPr>
          <a:xfrm>
            <a:off x="6210148" y="1965960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70469" y="212598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12" name="Text 10"/>
          <p:cNvSpPr/>
          <p:nvPr/>
        </p:nvSpPr>
        <p:spPr>
          <a:xfrm>
            <a:off x="7870469" y="2125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🧩</a:t>
            </a:r>
            <a:endParaRPr lang="ar-SA" sz="2400" dirty="0"/>
          </a:p>
        </p:txBody>
      </p:sp>
      <p:sp>
        <p:nvSpPr>
          <p:cNvPr id="13" name="Text 11"/>
          <p:cNvSpPr/>
          <p:nvPr/>
        </p:nvSpPr>
        <p:spPr>
          <a:xfrm>
            <a:off x="6347308" y="2057400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</a:t>
            </a:r>
            <a:endParaRPr lang="ar-SA" sz="1400" dirty="0"/>
          </a:p>
        </p:txBody>
      </p:sp>
      <p:sp>
        <p:nvSpPr>
          <p:cNvPr id="14" name="Text 12"/>
          <p:cNvSpPr/>
          <p:nvPr/>
        </p:nvSpPr>
        <p:spPr>
          <a:xfrm>
            <a:off x="6347308" y="2331720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المكونات واحدًا واحدًا</a:t>
            </a:r>
            <a:endParaRPr lang="ar-SA" sz="1800" dirty="0"/>
          </a:p>
        </p:txBody>
      </p:sp>
      <p:sp>
        <p:nvSpPr>
          <p:cNvPr id="15" name="Shape 13"/>
          <p:cNvSpPr/>
          <p:nvPr/>
        </p:nvSpPr>
        <p:spPr>
          <a:xfrm>
            <a:off x="3516554" y="1965960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76876" y="212598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17" name="Text 15"/>
          <p:cNvSpPr/>
          <p:nvPr/>
        </p:nvSpPr>
        <p:spPr>
          <a:xfrm>
            <a:off x="5176876" y="2125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🔋</a:t>
            </a:r>
            <a:endParaRPr lang="ar-SA" sz="2400" dirty="0"/>
          </a:p>
        </p:txBody>
      </p:sp>
      <p:sp>
        <p:nvSpPr>
          <p:cNvPr id="18" name="Text 16"/>
          <p:cNvSpPr/>
          <p:nvPr/>
        </p:nvSpPr>
        <p:spPr>
          <a:xfrm>
            <a:off x="3653714" y="2057400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٢</a:t>
            </a:r>
            <a:endParaRPr lang="ar-SA" sz="1400" dirty="0"/>
          </a:p>
        </p:txBody>
      </p:sp>
      <p:sp>
        <p:nvSpPr>
          <p:cNvPr id="19" name="Text 17"/>
          <p:cNvSpPr/>
          <p:nvPr/>
        </p:nvSpPr>
        <p:spPr>
          <a:xfrm>
            <a:off x="3653714" y="2331720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الطاقة والتركيب</a:t>
            </a:r>
            <a:endParaRPr lang="ar-SA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1965960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3282" y="212598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22" name="Text 20"/>
          <p:cNvSpPr/>
          <p:nvPr/>
        </p:nvSpPr>
        <p:spPr>
          <a:xfrm>
            <a:off x="2483282" y="2125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🚗</a:t>
            </a:r>
            <a:endParaRPr lang="ar-SA" sz="2400" dirty="0"/>
          </a:p>
        </p:txBody>
      </p:sp>
      <p:sp>
        <p:nvSpPr>
          <p:cNvPr id="23" name="Text 21"/>
          <p:cNvSpPr/>
          <p:nvPr/>
        </p:nvSpPr>
        <p:spPr>
          <a:xfrm>
            <a:off x="960120" y="2057400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٣</a:t>
            </a:r>
            <a:endParaRPr lang="ar-SA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2331720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 الحركة بالكود</a:t>
            </a:r>
            <a:endParaRPr lang="ar-SA" sz="1800" dirty="0"/>
          </a:p>
        </p:txBody>
      </p:sp>
      <p:sp>
        <p:nvSpPr>
          <p:cNvPr id="25" name="Shape 23"/>
          <p:cNvSpPr/>
          <p:nvPr/>
        </p:nvSpPr>
        <p:spPr>
          <a:xfrm>
            <a:off x="8903741" y="3090672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64063" y="325069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27" name="Text 25"/>
          <p:cNvSpPr/>
          <p:nvPr/>
        </p:nvSpPr>
        <p:spPr>
          <a:xfrm>
            <a:off x="10564063" y="32506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🎮</a:t>
            </a:r>
            <a:endParaRPr lang="ar-SA" sz="2400" dirty="0"/>
          </a:p>
        </p:txBody>
      </p:sp>
      <p:sp>
        <p:nvSpPr>
          <p:cNvPr id="28" name="Text 26"/>
          <p:cNvSpPr/>
          <p:nvPr/>
        </p:nvSpPr>
        <p:spPr>
          <a:xfrm>
            <a:off x="9040901" y="3182112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٤</a:t>
            </a:r>
            <a:endParaRPr lang="ar-SA" sz="1400" dirty="0"/>
          </a:p>
        </p:txBody>
      </p:sp>
      <p:sp>
        <p:nvSpPr>
          <p:cNvPr id="29" name="Text 27"/>
          <p:cNvSpPr/>
          <p:nvPr/>
        </p:nvSpPr>
        <p:spPr>
          <a:xfrm>
            <a:off x="9040901" y="3456432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 عصا الجوال</a:t>
            </a:r>
            <a:endParaRPr lang="ar-SA" sz="1800" dirty="0"/>
          </a:p>
        </p:txBody>
      </p:sp>
      <p:sp>
        <p:nvSpPr>
          <p:cNvPr id="30" name="Shape 28"/>
          <p:cNvSpPr/>
          <p:nvPr/>
        </p:nvSpPr>
        <p:spPr>
          <a:xfrm>
            <a:off x="6210148" y="3090672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70469" y="325069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32" name="Text 30"/>
          <p:cNvSpPr/>
          <p:nvPr/>
        </p:nvSpPr>
        <p:spPr>
          <a:xfrm>
            <a:off x="7870469" y="32506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🦇</a:t>
            </a:r>
            <a:endParaRPr lang="ar-SA" sz="2400" dirty="0"/>
          </a:p>
        </p:txBody>
      </p:sp>
      <p:sp>
        <p:nvSpPr>
          <p:cNvPr id="33" name="Text 31"/>
          <p:cNvSpPr/>
          <p:nvPr/>
        </p:nvSpPr>
        <p:spPr>
          <a:xfrm>
            <a:off x="6347308" y="3182112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٥</a:t>
            </a:r>
            <a:endParaRPr lang="ar-SA" sz="1400" dirty="0"/>
          </a:p>
        </p:txBody>
      </p:sp>
      <p:sp>
        <p:nvSpPr>
          <p:cNvPr id="34" name="Text 32"/>
          <p:cNvSpPr/>
          <p:nvPr/>
        </p:nvSpPr>
        <p:spPr>
          <a:xfrm>
            <a:off x="6347308" y="3456432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 السيارة التي ترى</a:t>
            </a:r>
            <a:endParaRPr lang="ar-SA" sz="1800" dirty="0"/>
          </a:p>
        </p:txBody>
      </p:sp>
      <p:sp>
        <p:nvSpPr>
          <p:cNvPr id="35" name="Shape 33"/>
          <p:cNvSpPr/>
          <p:nvPr/>
        </p:nvSpPr>
        <p:spPr>
          <a:xfrm>
            <a:off x="3516554" y="3090672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76876" y="325069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37" name="Text 35"/>
          <p:cNvSpPr/>
          <p:nvPr/>
        </p:nvSpPr>
        <p:spPr>
          <a:xfrm>
            <a:off x="5176876" y="32506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〰️</a:t>
            </a:r>
            <a:endParaRPr lang="ar-SA" sz="2400" dirty="0"/>
          </a:p>
        </p:txBody>
      </p:sp>
      <p:sp>
        <p:nvSpPr>
          <p:cNvPr id="38" name="Text 36"/>
          <p:cNvSpPr/>
          <p:nvPr/>
        </p:nvSpPr>
        <p:spPr>
          <a:xfrm>
            <a:off x="3653714" y="3182112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٦</a:t>
            </a:r>
            <a:endParaRPr lang="ar-SA" sz="1400" dirty="0"/>
          </a:p>
        </p:txBody>
      </p:sp>
      <p:sp>
        <p:nvSpPr>
          <p:cNvPr id="39" name="Text 37"/>
          <p:cNvSpPr/>
          <p:nvPr/>
        </p:nvSpPr>
        <p:spPr>
          <a:xfrm>
            <a:off x="3653714" y="3456432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 متتبع الخط</a:t>
            </a:r>
            <a:endParaRPr lang="ar-SA" sz="1800" dirty="0"/>
          </a:p>
        </p:txBody>
      </p:sp>
      <p:sp>
        <p:nvSpPr>
          <p:cNvPr id="40" name="Shape 38"/>
          <p:cNvSpPr/>
          <p:nvPr/>
        </p:nvSpPr>
        <p:spPr>
          <a:xfrm>
            <a:off x="822960" y="3090672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83282" y="325069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42" name="Text 40"/>
          <p:cNvSpPr/>
          <p:nvPr/>
        </p:nvSpPr>
        <p:spPr>
          <a:xfrm>
            <a:off x="2483282" y="32506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🔀</a:t>
            </a:r>
            <a:endParaRPr lang="ar-SA" sz="2400" dirty="0"/>
          </a:p>
        </p:txBody>
      </p:sp>
      <p:sp>
        <p:nvSpPr>
          <p:cNvPr id="43" name="Text 41"/>
          <p:cNvSpPr/>
          <p:nvPr/>
        </p:nvSpPr>
        <p:spPr>
          <a:xfrm>
            <a:off x="960120" y="3182112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٧</a:t>
            </a:r>
            <a:endParaRPr lang="ar-SA" sz="1400" dirty="0"/>
          </a:p>
        </p:txBody>
      </p:sp>
      <p:sp>
        <p:nvSpPr>
          <p:cNvPr id="44" name="Text 42"/>
          <p:cNvSpPr/>
          <p:nvPr/>
        </p:nvSpPr>
        <p:spPr>
          <a:xfrm>
            <a:off x="960120" y="3456432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 الدمج</a:t>
            </a:r>
            <a:endParaRPr lang="ar-SA" sz="1800" dirty="0"/>
          </a:p>
        </p:txBody>
      </p:sp>
      <p:sp>
        <p:nvSpPr>
          <p:cNvPr id="45" name="Shape 43"/>
          <p:cNvSpPr/>
          <p:nvPr/>
        </p:nvSpPr>
        <p:spPr>
          <a:xfrm>
            <a:off x="8903741" y="4215384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64063" y="437540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47" name="Text 45"/>
          <p:cNvSpPr/>
          <p:nvPr/>
        </p:nvSpPr>
        <p:spPr>
          <a:xfrm>
            <a:off x="10564063" y="43754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🥋</a:t>
            </a:r>
            <a:endParaRPr lang="ar-SA" sz="2400" dirty="0"/>
          </a:p>
        </p:txBody>
      </p:sp>
      <p:sp>
        <p:nvSpPr>
          <p:cNvPr id="48" name="Text 46"/>
          <p:cNvSpPr/>
          <p:nvPr/>
        </p:nvSpPr>
        <p:spPr>
          <a:xfrm>
            <a:off x="9040901" y="4306824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٨</a:t>
            </a:r>
            <a:endParaRPr lang="ar-SA" sz="1400" dirty="0"/>
          </a:p>
        </p:txBody>
      </p:sp>
      <p:sp>
        <p:nvSpPr>
          <p:cNvPr id="49" name="Text 47"/>
          <p:cNvSpPr/>
          <p:nvPr/>
        </p:nvSpPr>
        <p:spPr>
          <a:xfrm>
            <a:off x="9040901" y="4581144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٥ السومو</a:t>
            </a:r>
            <a:endParaRPr lang="ar-SA" sz="1800" dirty="0"/>
          </a:p>
        </p:txBody>
      </p:sp>
      <p:sp>
        <p:nvSpPr>
          <p:cNvPr id="50" name="Shape 48"/>
          <p:cNvSpPr/>
          <p:nvPr/>
        </p:nvSpPr>
        <p:spPr>
          <a:xfrm>
            <a:off x="6210148" y="4215384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70469" y="437540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52" name="Text 50"/>
          <p:cNvSpPr/>
          <p:nvPr/>
        </p:nvSpPr>
        <p:spPr>
          <a:xfrm>
            <a:off x="7870469" y="43754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🧠</a:t>
            </a:r>
            <a:endParaRPr lang="ar-SA" sz="2400" dirty="0"/>
          </a:p>
        </p:txBody>
      </p:sp>
      <p:sp>
        <p:nvSpPr>
          <p:cNvPr id="53" name="Text 51"/>
          <p:cNvSpPr/>
          <p:nvPr/>
        </p:nvSpPr>
        <p:spPr>
          <a:xfrm>
            <a:off x="6347308" y="4306824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٩</a:t>
            </a:r>
            <a:endParaRPr lang="ar-SA" sz="1400" dirty="0"/>
          </a:p>
        </p:txBody>
      </p:sp>
      <p:sp>
        <p:nvSpPr>
          <p:cNvPr id="54" name="Text 52"/>
          <p:cNvSpPr/>
          <p:nvPr/>
        </p:nvSpPr>
        <p:spPr>
          <a:xfrm>
            <a:off x="6347308" y="4581144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٦ المتكاملة</a:t>
            </a:r>
            <a:endParaRPr lang="ar-SA" sz="1800" dirty="0"/>
          </a:p>
        </p:txBody>
      </p:sp>
      <p:sp>
        <p:nvSpPr>
          <p:cNvPr id="55" name="Shape 53"/>
          <p:cNvSpPr/>
          <p:nvPr/>
        </p:nvSpPr>
        <p:spPr>
          <a:xfrm>
            <a:off x="3516554" y="4215384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76876" y="437540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57" name="Text 55"/>
          <p:cNvSpPr/>
          <p:nvPr/>
        </p:nvSpPr>
        <p:spPr>
          <a:xfrm>
            <a:off x="5176876" y="43754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⚙️</a:t>
            </a:r>
            <a:endParaRPr lang="ar-SA" sz="2400" dirty="0"/>
          </a:p>
        </p:txBody>
      </p:sp>
      <p:sp>
        <p:nvSpPr>
          <p:cNvPr id="58" name="Text 56"/>
          <p:cNvSpPr/>
          <p:nvPr/>
        </p:nvSpPr>
        <p:spPr>
          <a:xfrm>
            <a:off x="3653714" y="4306824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١٠</a:t>
            </a:r>
            <a:endParaRPr lang="ar-SA" sz="1400" dirty="0"/>
          </a:p>
        </p:txBody>
      </p:sp>
      <p:sp>
        <p:nvSpPr>
          <p:cNvPr id="59" name="Text 57"/>
          <p:cNvSpPr/>
          <p:nvPr/>
        </p:nvSpPr>
        <p:spPr>
          <a:xfrm>
            <a:off x="3653714" y="4581144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⚽ القطع الجديدة</a:t>
            </a:r>
            <a:endParaRPr lang="ar-SA" sz="1800" dirty="0"/>
          </a:p>
        </p:txBody>
      </p:sp>
      <p:sp>
        <p:nvSpPr>
          <p:cNvPr id="60" name="Shape 58"/>
          <p:cNvSpPr/>
          <p:nvPr/>
        </p:nvSpPr>
        <p:spPr>
          <a:xfrm>
            <a:off x="822960" y="4215384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83282" y="4375404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62" name="Text 60"/>
          <p:cNvSpPr/>
          <p:nvPr/>
        </p:nvSpPr>
        <p:spPr>
          <a:xfrm>
            <a:off x="2483282" y="43754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🧮</a:t>
            </a:r>
            <a:endParaRPr lang="ar-SA" sz="2400" dirty="0"/>
          </a:p>
        </p:txBody>
      </p:sp>
      <p:sp>
        <p:nvSpPr>
          <p:cNvPr id="63" name="Text 61"/>
          <p:cNvSpPr/>
          <p:nvPr/>
        </p:nvSpPr>
        <p:spPr>
          <a:xfrm>
            <a:off x="960120" y="4306824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١١</a:t>
            </a:r>
            <a:endParaRPr lang="ar-SA" sz="1400" dirty="0"/>
          </a:p>
        </p:txBody>
      </p:sp>
      <p:sp>
        <p:nvSpPr>
          <p:cNvPr id="64" name="Text 62"/>
          <p:cNvSpPr/>
          <p:nvPr/>
        </p:nvSpPr>
        <p:spPr>
          <a:xfrm>
            <a:off x="960120" y="4581144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⚽ رياضيات الحركة</a:t>
            </a:r>
            <a:endParaRPr lang="ar-SA" sz="1800" dirty="0"/>
          </a:p>
        </p:txBody>
      </p:sp>
      <p:sp>
        <p:nvSpPr>
          <p:cNvPr id="65" name="Shape 63"/>
          <p:cNvSpPr/>
          <p:nvPr/>
        </p:nvSpPr>
        <p:spPr>
          <a:xfrm>
            <a:off x="8903741" y="5340096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564063" y="5500116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67" name="Text 65"/>
          <p:cNvSpPr/>
          <p:nvPr/>
        </p:nvSpPr>
        <p:spPr>
          <a:xfrm>
            <a:off x="10564063" y="55001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🔧</a:t>
            </a:r>
            <a:endParaRPr lang="ar-SA" sz="2400" dirty="0"/>
          </a:p>
        </p:txBody>
      </p:sp>
      <p:sp>
        <p:nvSpPr>
          <p:cNvPr id="68" name="Text 66"/>
          <p:cNvSpPr/>
          <p:nvPr/>
        </p:nvSpPr>
        <p:spPr>
          <a:xfrm>
            <a:off x="9040901" y="5431536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١٢</a:t>
            </a:r>
            <a:endParaRPr lang="ar-SA" sz="1400" dirty="0"/>
          </a:p>
        </p:txBody>
      </p:sp>
      <p:sp>
        <p:nvSpPr>
          <p:cNvPr id="69" name="Text 67"/>
          <p:cNvSpPr/>
          <p:nvPr/>
        </p:nvSpPr>
        <p:spPr>
          <a:xfrm>
            <a:off x="9040901" y="5705856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⚽ البناء والجوال</a:t>
            </a:r>
            <a:endParaRPr lang="ar-SA" sz="1800" dirty="0"/>
          </a:p>
        </p:txBody>
      </p:sp>
      <p:sp>
        <p:nvSpPr>
          <p:cNvPr id="70" name="Shape 68"/>
          <p:cNvSpPr/>
          <p:nvPr/>
        </p:nvSpPr>
        <p:spPr>
          <a:xfrm>
            <a:off x="6210148" y="5340096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870469" y="5500116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72" name="Text 70"/>
          <p:cNvSpPr/>
          <p:nvPr/>
        </p:nvSpPr>
        <p:spPr>
          <a:xfrm>
            <a:off x="7870469" y="55001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🏟️</a:t>
            </a:r>
            <a:endParaRPr lang="ar-SA" sz="2400" dirty="0"/>
          </a:p>
        </p:txBody>
      </p:sp>
      <p:sp>
        <p:nvSpPr>
          <p:cNvPr id="73" name="Text 71"/>
          <p:cNvSpPr/>
          <p:nvPr/>
        </p:nvSpPr>
        <p:spPr>
          <a:xfrm>
            <a:off x="6347308" y="5431536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١٣</a:t>
            </a:r>
            <a:endParaRPr lang="ar-SA" sz="1400" dirty="0"/>
          </a:p>
        </p:txBody>
      </p:sp>
      <p:sp>
        <p:nvSpPr>
          <p:cNvPr id="74" name="Text 72"/>
          <p:cNvSpPr/>
          <p:nvPr/>
        </p:nvSpPr>
        <p:spPr>
          <a:xfrm>
            <a:off x="6347308" y="5705856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⚽ المباراة</a:t>
            </a:r>
            <a:endParaRPr lang="ar-SA" sz="1800" dirty="0"/>
          </a:p>
        </p:txBody>
      </p:sp>
      <p:sp>
        <p:nvSpPr>
          <p:cNvPr id="75" name="Shape 73"/>
          <p:cNvSpPr/>
          <p:nvPr/>
        </p:nvSpPr>
        <p:spPr>
          <a:xfrm>
            <a:off x="3516554" y="5340096"/>
            <a:ext cx="2464994" cy="9601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76876" y="5500116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01B45"/>
          </a:solidFill>
          <a:ln/>
        </p:spPr>
      </p:sp>
      <p:sp>
        <p:nvSpPr>
          <p:cNvPr id="77" name="Text 75"/>
          <p:cNvSpPr/>
          <p:nvPr/>
        </p:nvSpPr>
        <p:spPr>
          <a:xfrm>
            <a:off x="5176876" y="55001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🏆</a:t>
            </a:r>
            <a:endParaRPr lang="ar-SA" sz="2400" dirty="0"/>
          </a:p>
        </p:txBody>
      </p:sp>
      <p:sp>
        <p:nvSpPr>
          <p:cNvPr id="78" name="Text 76"/>
          <p:cNvSpPr/>
          <p:nvPr/>
        </p:nvSpPr>
        <p:spPr>
          <a:xfrm>
            <a:off x="3653714" y="5431536"/>
            <a:ext cx="1413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١٤</a:t>
            </a:r>
            <a:endParaRPr lang="ar-SA" sz="1400" dirty="0"/>
          </a:p>
        </p:txBody>
      </p:sp>
      <p:sp>
        <p:nvSpPr>
          <p:cNvPr id="79" name="Text 77"/>
          <p:cNvSpPr/>
          <p:nvPr/>
        </p:nvSpPr>
        <p:spPr>
          <a:xfrm>
            <a:off x="3653714" y="5705856"/>
            <a:ext cx="141343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الختام</a:t>
            </a:r>
            <a:endParaRPr lang="ar-SA" sz="1800" dirty="0"/>
          </a:p>
        </p:txBody>
      </p:sp>
      <p:sp>
        <p:nvSpPr>
          <p:cNvPr id="80" name="Text 7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81" name="Text 7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٦</a:t>
            </a:r>
            <a:endParaRPr lang="ar-SA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4831" y="457200"/>
            <a:ext cx="380390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7564831" y="457200"/>
            <a:ext cx="3803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خريطة الأطراف الموحدة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أطراف لا تتغير من أول روبوت إلى آخره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13471" y="1874520"/>
            <a:ext cx="3155264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213471" y="1874520"/>
            <a:ext cx="315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القطعة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5235321" y="1874520"/>
            <a:ext cx="2868422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5235321" y="1874520"/>
            <a:ext cx="2868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الأطراف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4302633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43026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لماذا؟</a:t>
            </a:r>
            <a:endParaRPr lang="ar-SA" sz="1900" dirty="0"/>
          </a:p>
        </p:txBody>
      </p:sp>
      <p:sp>
        <p:nvSpPr>
          <p:cNvPr id="11" name="anim-g1-73"/>
          <p:cNvSpPr/>
          <p:nvPr/>
        </p:nvSpPr>
        <p:spPr>
          <a:xfrm>
            <a:off x="8213471" y="2514600"/>
            <a:ext cx="3155264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74"/>
          <p:cNvSpPr/>
          <p:nvPr/>
        </p:nvSpPr>
        <p:spPr>
          <a:xfrm>
            <a:off x="8350631" y="2514600"/>
            <a:ext cx="28809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⚙️ المحرك الأيسر / M1</a:t>
            </a:r>
            <a:endParaRPr lang="ar-SA" sz="2100" dirty="0"/>
          </a:p>
        </p:txBody>
      </p:sp>
      <p:sp>
        <p:nvSpPr>
          <p:cNvPr id="13" name="anim-g1-75"/>
          <p:cNvSpPr/>
          <p:nvPr/>
        </p:nvSpPr>
        <p:spPr>
          <a:xfrm>
            <a:off x="5235321" y="2514600"/>
            <a:ext cx="2868422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76"/>
          <p:cNvSpPr/>
          <p:nvPr/>
        </p:nvSpPr>
        <p:spPr>
          <a:xfrm>
            <a:off x="5372481" y="2514600"/>
            <a:ext cx="259410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ENA 14 · IN1 16 · IN2 17</a:t>
            </a:r>
            <a:endParaRPr lang="ar-SA" sz="2100" dirty="0"/>
          </a:p>
        </p:txBody>
      </p:sp>
      <p:sp>
        <p:nvSpPr>
          <p:cNvPr id="15" name="anim-g1-77"/>
          <p:cNvSpPr/>
          <p:nvPr/>
        </p:nvSpPr>
        <p:spPr>
          <a:xfrm>
            <a:off x="822960" y="2514600"/>
            <a:ext cx="4302633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78"/>
          <p:cNvSpPr/>
          <p:nvPr/>
        </p:nvSpPr>
        <p:spPr>
          <a:xfrm>
            <a:off x="960120" y="2514600"/>
            <a:ext cx="402831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كما في الجزء الثاني تمامًا</a:t>
            </a:r>
            <a:endParaRPr lang="ar-SA" sz="2100" dirty="0"/>
          </a:p>
        </p:txBody>
      </p:sp>
      <p:sp>
        <p:nvSpPr>
          <p:cNvPr id="17" name="anim-g2-79"/>
          <p:cNvSpPr/>
          <p:nvPr/>
        </p:nvSpPr>
        <p:spPr>
          <a:xfrm>
            <a:off x="8213471" y="3119628"/>
            <a:ext cx="3155264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80"/>
          <p:cNvSpPr/>
          <p:nvPr/>
        </p:nvSpPr>
        <p:spPr>
          <a:xfrm>
            <a:off x="8350631" y="3119628"/>
            <a:ext cx="28809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⚙️ المحرك الأيمن / M2</a:t>
            </a:r>
            <a:endParaRPr lang="ar-SA" sz="2100" dirty="0"/>
          </a:p>
        </p:txBody>
      </p:sp>
      <p:sp>
        <p:nvSpPr>
          <p:cNvPr id="19" name="anim-g2-81"/>
          <p:cNvSpPr/>
          <p:nvPr/>
        </p:nvSpPr>
        <p:spPr>
          <a:xfrm>
            <a:off x="5235321" y="3119628"/>
            <a:ext cx="2868422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82"/>
          <p:cNvSpPr/>
          <p:nvPr/>
        </p:nvSpPr>
        <p:spPr>
          <a:xfrm>
            <a:off x="5372481" y="3119628"/>
            <a:ext cx="259410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ENB 32 · IN3 21 · IN4 22</a:t>
            </a:r>
            <a:endParaRPr lang="ar-SA" sz="2100" dirty="0"/>
          </a:p>
        </p:txBody>
      </p:sp>
      <p:sp>
        <p:nvSpPr>
          <p:cNvPr id="21" name="anim-g2-83"/>
          <p:cNvSpPr/>
          <p:nvPr/>
        </p:nvSpPr>
        <p:spPr>
          <a:xfrm>
            <a:off x="822960" y="3119628"/>
            <a:ext cx="4302633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84"/>
          <p:cNvSpPr/>
          <p:nvPr/>
        </p:nvSpPr>
        <p:spPr>
          <a:xfrm>
            <a:off x="960120" y="3119628"/>
            <a:ext cx="402831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كما في الجزء الثاني تمامًا</a:t>
            </a:r>
            <a:endParaRPr lang="ar-SA" sz="2100" dirty="0"/>
          </a:p>
        </p:txBody>
      </p:sp>
      <p:sp>
        <p:nvSpPr>
          <p:cNvPr id="23" name="anim-g3-85"/>
          <p:cNvSpPr/>
          <p:nvPr/>
        </p:nvSpPr>
        <p:spPr>
          <a:xfrm>
            <a:off x="8213471" y="3724656"/>
            <a:ext cx="3155264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86"/>
          <p:cNvSpPr/>
          <p:nvPr/>
        </p:nvSpPr>
        <p:spPr>
          <a:xfrm>
            <a:off x="8350631" y="3724656"/>
            <a:ext cx="28809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⚙️ M3 الخلفي (درايفر ثانٍ)</a:t>
            </a:r>
            <a:endParaRPr lang="ar-SA" sz="2100" dirty="0"/>
          </a:p>
        </p:txBody>
      </p:sp>
      <p:sp>
        <p:nvSpPr>
          <p:cNvPr id="25" name="anim-g3-87"/>
          <p:cNvSpPr/>
          <p:nvPr/>
        </p:nvSpPr>
        <p:spPr>
          <a:xfrm>
            <a:off x="5235321" y="3724656"/>
            <a:ext cx="2868422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88"/>
          <p:cNvSpPr/>
          <p:nvPr/>
        </p:nvSpPr>
        <p:spPr>
          <a:xfrm>
            <a:off x="5372481" y="3724656"/>
            <a:ext cx="259410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EN 25 · IN 33 · IN 19</a:t>
            </a:r>
            <a:endParaRPr lang="ar-SA" sz="2100" dirty="0"/>
          </a:p>
        </p:txBody>
      </p:sp>
      <p:sp>
        <p:nvSpPr>
          <p:cNvPr id="27" name="anim-g3-89"/>
          <p:cNvSpPr/>
          <p:nvPr/>
        </p:nvSpPr>
        <p:spPr>
          <a:xfrm>
            <a:off x="822960" y="3724656"/>
            <a:ext cx="4302633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90"/>
          <p:cNvSpPr/>
          <p:nvPr/>
        </p:nvSpPr>
        <p:spPr>
          <a:xfrm>
            <a:off x="960120" y="3724656"/>
            <a:ext cx="402831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مخارج آمنة بقيت حرة</a:t>
            </a:r>
            <a:endParaRPr lang="ar-SA" sz="2100" dirty="0"/>
          </a:p>
        </p:txBody>
      </p:sp>
      <p:sp>
        <p:nvSpPr>
          <p:cNvPr id="29" name="anim-g4-91"/>
          <p:cNvSpPr/>
          <p:nvPr/>
        </p:nvSpPr>
        <p:spPr>
          <a:xfrm>
            <a:off x="8213471" y="4329684"/>
            <a:ext cx="3155264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92"/>
          <p:cNvSpPr/>
          <p:nvPr/>
        </p:nvSpPr>
        <p:spPr>
          <a:xfrm>
            <a:off x="8350631" y="4329684"/>
            <a:ext cx="28809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🦇 HC-SR04</a:t>
            </a:r>
            <a:endParaRPr lang="ar-SA" sz="2100" dirty="0"/>
          </a:p>
        </p:txBody>
      </p:sp>
      <p:sp>
        <p:nvSpPr>
          <p:cNvPr id="31" name="anim-g4-93"/>
          <p:cNvSpPr/>
          <p:nvPr/>
        </p:nvSpPr>
        <p:spPr>
          <a:xfrm>
            <a:off x="5235321" y="4329684"/>
            <a:ext cx="2868422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94"/>
          <p:cNvSpPr/>
          <p:nvPr/>
        </p:nvSpPr>
        <p:spPr>
          <a:xfrm>
            <a:off x="5372481" y="4329684"/>
            <a:ext cx="259410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Trig 26 · Echo 27</a:t>
            </a:r>
            <a:endParaRPr lang="ar-SA" sz="2100" dirty="0"/>
          </a:p>
        </p:txBody>
      </p:sp>
      <p:sp>
        <p:nvSpPr>
          <p:cNvPr id="33" name="anim-g4-95"/>
          <p:cNvSpPr/>
          <p:nvPr/>
        </p:nvSpPr>
        <p:spPr>
          <a:xfrm>
            <a:off x="822960" y="4329684"/>
            <a:ext cx="4302633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96"/>
          <p:cNvSpPr/>
          <p:nvPr/>
        </p:nvSpPr>
        <p:spPr>
          <a:xfrm>
            <a:off x="960120" y="4329684"/>
            <a:ext cx="402831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Echo عبر مقسم 1k/2k</a:t>
            </a:r>
            <a:endParaRPr lang="ar-SA" sz="2100" dirty="0"/>
          </a:p>
        </p:txBody>
      </p:sp>
      <p:sp>
        <p:nvSpPr>
          <p:cNvPr id="35" name="anim-g5-97"/>
          <p:cNvSpPr/>
          <p:nvPr/>
        </p:nvSpPr>
        <p:spPr>
          <a:xfrm>
            <a:off x="8213471" y="4934712"/>
            <a:ext cx="3155264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6" name="anim-g5-98"/>
          <p:cNvSpPr/>
          <p:nvPr/>
        </p:nvSpPr>
        <p:spPr>
          <a:xfrm>
            <a:off x="8350631" y="4934712"/>
            <a:ext cx="28809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〰️ الخط / الحافة</a:t>
            </a:r>
            <a:endParaRPr lang="ar-SA" sz="2100" dirty="0"/>
          </a:p>
        </p:txBody>
      </p:sp>
      <p:sp>
        <p:nvSpPr>
          <p:cNvPr id="37" name="anim-g5-99"/>
          <p:cNvSpPr/>
          <p:nvPr/>
        </p:nvSpPr>
        <p:spPr>
          <a:xfrm>
            <a:off x="5235321" y="4934712"/>
            <a:ext cx="2868422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8" name="anim-g5-100"/>
          <p:cNvSpPr/>
          <p:nvPr/>
        </p:nvSpPr>
        <p:spPr>
          <a:xfrm>
            <a:off x="5372481" y="4934712"/>
            <a:ext cx="259410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34 · 35 · 39</a:t>
            </a:r>
            <a:endParaRPr lang="ar-SA" sz="2100" dirty="0"/>
          </a:p>
        </p:txBody>
      </p:sp>
      <p:sp>
        <p:nvSpPr>
          <p:cNvPr id="39" name="anim-g5-101"/>
          <p:cNvSpPr/>
          <p:nvPr/>
        </p:nvSpPr>
        <p:spPr>
          <a:xfrm>
            <a:off x="822960" y="4934712"/>
            <a:ext cx="4302633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0" name="anim-g5-102"/>
          <p:cNvSpPr/>
          <p:nvPr/>
        </p:nvSpPr>
        <p:spPr>
          <a:xfrm>
            <a:off x="960120" y="4934712"/>
            <a:ext cx="402831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«مدخل فقط»: مثالية للحساسات</a:t>
            </a:r>
            <a:endParaRPr lang="ar-SA" sz="2100" dirty="0"/>
          </a:p>
        </p:txBody>
      </p:sp>
      <p:sp>
        <p:nvSpPr>
          <p:cNvPr id="41" name="anim-g6-103"/>
          <p:cNvSpPr/>
          <p:nvPr/>
        </p:nvSpPr>
        <p:spPr>
          <a:xfrm>
            <a:off x="8213471" y="5539740"/>
            <a:ext cx="3155264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42" name="anim-g6-104"/>
          <p:cNvSpPr/>
          <p:nvPr/>
        </p:nvSpPr>
        <p:spPr>
          <a:xfrm>
            <a:off x="8350631" y="5539740"/>
            <a:ext cx="28809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🔘 BOOT · 💡 LED</a:t>
            </a:r>
            <a:endParaRPr lang="ar-SA" sz="2100" dirty="0"/>
          </a:p>
        </p:txBody>
      </p:sp>
      <p:sp>
        <p:nvSpPr>
          <p:cNvPr id="43" name="anim-g6-105"/>
          <p:cNvSpPr/>
          <p:nvPr/>
        </p:nvSpPr>
        <p:spPr>
          <a:xfrm>
            <a:off x="5235321" y="5539740"/>
            <a:ext cx="2868422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4" name="anim-g6-106"/>
          <p:cNvSpPr/>
          <p:nvPr/>
        </p:nvSpPr>
        <p:spPr>
          <a:xfrm>
            <a:off x="5372481" y="5539740"/>
            <a:ext cx="259410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 · 2</a:t>
            </a:r>
            <a:endParaRPr lang="ar-SA" sz="2100" dirty="0"/>
          </a:p>
        </p:txBody>
      </p:sp>
      <p:sp>
        <p:nvSpPr>
          <p:cNvPr id="45" name="anim-g6-107"/>
          <p:cNvSpPr/>
          <p:nvPr/>
        </p:nvSpPr>
        <p:spPr>
          <a:xfrm>
            <a:off x="822960" y="5539740"/>
            <a:ext cx="4302633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6" name="anim-g6-108"/>
          <p:cNvSpPr/>
          <p:nvPr/>
        </p:nvSpPr>
        <p:spPr>
          <a:xfrm>
            <a:off x="960120" y="5539740"/>
            <a:ext cx="402831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موجودان على اللوحة أصلًا</a:t>
            </a:r>
            <a:endParaRPr lang="ar-SA" sz="2100" dirty="0"/>
          </a:p>
        </p:txBody>
      </p:sp>
      <p:sp>
        <p:nvSpPr>
          <p:cNvPr id="47" name="Text 4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8" name="Text 4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حقيبة القطع</a:t>
            </a:r>
            <a:endParaRPr lang="ar-SA" sz="3800" dirty="0"/>
          </a:p>
        </p:txBody>
      </p:sp>
      <p:sp>
        <p:nvSpPr>
          <p:cNvPr id="3" name="anim-g1-109"/>
          <p:cNvSpPr/>
          <p:nvPr/>
        </p:nvSpPr>
        <p:spPr>
          <a:xfrm>
            <a:off x="8036357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4" name="anim-g1-110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5" name="anim-g1-111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📡</a:t>
            </a:r>
            <a:endParaRPr lang="ar-SA" sz="2200" dirty="0"/>
          </a:p>
        </p:txBody>
      </p:sp>
      <p:sp>
        <p:nvSpPr>
          <p:cNvPr id="6" name="anim-g1-112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 DevKit</a:t>
            </a:r>
            <a:endParaRPr lang="ar-SA" sz="2200" dirty="0"/>
          </a:p>
        </p:txBody>
      </p:sp>
      <p:sp>
        <p:nvSpPr>
          <p:cNvPr id="7" name="anim-g1-113"/>
          <p:cNvSpPr/>
          <p:nvPr/>
        </p:nvSpPr>
        <p:spPr>
          <a:xfrm>
            <a:off x="8310677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الجزأين السابقين + كابل بيانات</a:t>
            </a:r>
            <a:endParaRPr lang="ar-SA" sz="1900" dirty="0"/>
          </a:p>
        </p:txBody>
      </p:sp>
      <p:sp>
        <p:nvSpPr>
          <p:cNvPr id="8" name="anim-g2-114"/>
          <p:cNvSpPr/>
          <p:nvPr/>
        </p:nvSpPr>
        <p:spPr>
          <a:xfrm>
            <a:off x="4429658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9" name="anim-g2-115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0" name="anim-g2-116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🚗</a:t>
            </a:r>
            <a:endParaRPr lang="ar-SA" sz="2200" dirty="0"/>
          </a:p>
        </p:txBody>
      </p:sp>
      <p:sp>
        <p:nvSpPr>
          <p:cNvPr id="11" name="anim-g2-117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هيكل سيارة 2WD</a:t>
            </a:r>
            <a:endParaRPr lang="ar-SA" sz="2200" dirty="0"/>
          </a:p>
        </p:txBody>
      </p:sp>
      <p:sp>
        <p:nvSpPr>
          <p:cNvPr id="12" name="anim-g2-118"/>
          <p:cNvSpPr/>
          <p:nvPr/>
        </p:nvSpPr>
        <p:spPr>
          <a:xfrm>
            <a:off x="4703978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محركا TT + عجلتان + عجلة حرة</a:t>
            </a:r>
            <a:endParaRPr lang="ar-SA" sz="1900" dirty="0"/>
          </a:p>
        </p:txBody>
      </p:sp>
      <p:sp>
        <p:nvSpPr>
          <p:cNvPr id="13" name="anim-g3-119"/>
          <p:cNvSpPr/>
          <p:nvPr/>
        </p:nvSpPr>
        <p:spPr>
          <a:xfrm>
            <a:off x="822960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4" name="anim-g3-120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5" name="anim-g3-121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🟥</a:t>
            </a:r>
            <a:endParaRPr lang="ar-SA" sz="2200" dirty="0"/>
          </a:p>
        </p:txBody>
      </p:sp>
      <p:sp>
        <p:nvSpPr>
          <p:cNvPr id="16" name="anim-g3-122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L298N × ٢</a:t>
            </a:r>
            <a:endParaRPr lang="ar-SA" sz="2200" dirty="0"/>
          </a:p>
        </p:txBody>
      </p:sp>
      <p:sp>
        <p:nvSpPr>
          <p:cNvPr id="17" name="anim-g3-123"/>
          <p:cNvSpPr/>
          <p:nvPr/>
        </p:nvSpPr>
        <p:spPr>
          <a:xfrm>
            <a:off x="1097280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الثاني لروبوت الكرة فقط</a:t>
            </a:r>
            <a:endParaRPr lang="ar-SA" sz="1900" dirty="0"/>
          </a:p>
        </p:txBody>
      </p:sp>
      <p:sp>
        <p:nvSpPr>
          <p:cNvPr id="18" name="anim-g4-124"/>
          <p:cNvSpPr/>
          <p:nvPr/>
        </p:nvSpPr>
        <p:spPr>
          <a:xfrm>
            <a:off x="8036357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9" name="anim-g4-125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0" name="anim-g4-126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🔋</a:t>
            </a:r>
            <a:endParaRPr lang="ar-SA" sz="2200" dirty="0"/>
          </a:p>
        </p:txBody>
      </p:sp>
      <p:sp>
        <p:nvSpPr>
          <p:cNvPr id="21" name="anim-g4-127"/>
          <p:cNvSpPr/>
          <p:nvPr/>
        </p:nvSpPr>
        <p:spPr>
          <a:xfrm>
            <a:off x="8310677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بطاريتا 18650 + حامل + مفتاح</a:t>
            </a:r>
            <a:endParaRPr lang="ar-SA" sz="2200" dirty="0"/>
          </a:p>
        </p:txBody>
      </p:sp>
      <p:sp>
        <p:nvSpPr>
          <p:cNvPr id="22" name="anim-g4-128"/>
          <p:cNvSpPr/>
          <p:nvPr/>
        </p:nvSpPr>
        <p:spPr>
          <a:xfrm>
            <a:off x="8310677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 شاحن مناسب</a:t>
            </a:r>
            <a:endParaRPr lang="ar-SA" sz="1900" dirty="0"/>
          </a:p>
        </p:txBody>
      </p:sp>
      <p:sp>
        <p:nvSpPr>
          <p:cNvPr id="23" name="anim-g5-129"/>
          <p:cNvSpPr/>
          <p:nvPr/>
        </p:nvSpPr>
        <p:spPr>
          <a:xfrm>
            <a:off x="4429658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4" name="anim-g5-130"/>
          <p:cNvSpPr/>
          <p:nvPr/>
        </p:nvSpPr>
        <p:spPr>
          <a:xfrm>
            <a:off x="6920789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5" name="anim-g5-131"/>
          <p:cNvSpPr/>
          <p:nvPr/>
        </p:nvSpPr>
        <p:spPr>
          <a:xfrm>
            <a:off x="6920789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🦇〰️</a:t>
            </a:r>
            <a:endParaRPr lang="ar-SA" sz="2200" dirty="0"/>
          </a:p>
        </p:txBody>
      </p:sp>
      <p:sp>
        <p:nvSpPr>
          <p:cNvPr id="26" name="anim-g5-132"/>
          <p:cNvSpPr/>
          <p:nvPr/>
        </p:nvSpPr>
        <p:spPr>
          <a:xfrm>
            <a:off x="4703978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HC-SR04 + ٣ × TCRT5000</a:t>
            </a:r>
            <a:endParaRPr lang="ar-SA" sz="2200" dirty="0"/>
          </a:p>
        </p:txBody>
      </p:sp>
      <p:sp>
        <p:nvSpPr>
          <p:cNvPr id="27" name="anim-g5-133"/>
          <p:cNvSpPr/>
          <p:nvPr/>
        </p:nvSpPr>
        <p:spPr>
          <a:xfrm>
            <a:off x="4703978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ومقاومتان 1k و2k</a:t>
            </a:r>
            <a:endParaRPr lang="ar-SA" sz="1900" dirty="0"/>
          </a:p>
        </p:txBody>
      </p:sp>
      <p:sp>
        <p:nvSpPr>
          <p:cNvPr id="28" name="anim-g6-134"/>
          <p:cNvSpPr/>
          <p:nvPr/>
        </p:nvSpPr>
        <p:spPr>
          <a:xfrm>
            <a:off x="822960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9" name="anim-g6-135"/>
          <p:cNvSpPr/>
          <p:nvPr/>
        </p:nvSpPr>
        <p:spPr>
          <a:xfrm>
            <a:off x="331409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30" name="anim-g6-136"/>
          <p:cNvSpPr/>
          <p:nvPr/>
        </p:nvSpPr>
        <p:spPr>
          <a:xfrm>
            <a:off x="331409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</a:t>
            </a:r>
            <a:endParaRPr lang="ar-SA" sz="2200" dirty="0"/>
          </a:p>
        </p:txBody>
      </p:sp>
      <p:sp>
        <p:nvSpPr>
          <p:cNvPr id="31" name="anim-g6-137"/>
          <p:cNvSpPr/>
          <p:nvPr/>
        </p:nvSpPr>
        <p:spPr>
          <a:xfrm>
            <a:off x="1097280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لروبوت الكرة</a:t>
            </a:r>
            <a:endParaRPr lang="ar-SA" sz="2200" dirty="0"/>
          </a:p>
        </p:txBody>
      </p:sp>
      <p:sp>
        <p:nvSpPr>
          <p:cNvPr id="32" name="anim-g6-138"/>
          <p:cNvSpPr/>
          <p:nvPr/>
        </p:nvSpPr>
        <p:spPr>
          <a:xfrm>
            <a:off x="1097280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 محركات DC + ٣ عجلات أومني + قاعدة دائرية</a:t>
            </a:r>
            <a:endParaRPr lang="ar-SA" sz="1900" dirty="0"/>
          </a:p>
        </p:txBody>
      </p:sp>
      <p:sp>
        <p:nvSpPr>
          <p:cNvPr id="33" name="Text 31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منهج كل 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سبع محطات في كل روبوت</a:t>
            </a:r>
            <a:endParaRPr lang="ar-SA" sz="3800" dirty="0"/>
          </a:p>
        </p:txBody>
      </p:sp>
      <p:sp>
        <p:nvSpPr>
          <p:cNvPr id="5" name="anim-g1-139"/>
          <p:cNvSpPr/>
          <p:nvPr/>
        </p:nvSpPr>
        <p:spPr>
          <a:xfrm>
            <a:off x="822960" y="1920240"/>
            <a:ext cx="10545775" cy="493776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140"/>
          <p:cNvSpPr/>
          <p:nvPr/>
        </p:nvSpPr>
        <p:spPr>
          <a:xfrm>
            <a:off x="10829239" y="2011680"/>
            <a:ext cx="310896" cy="310896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141"/>
          <p:cNvSpPr/>
          <p:nvPr/>
        </p:nvSpPr>
        <p:spPr>
          <a:xfrm>
            <a:off x="10829239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142"/>
          <p:cNvSpPr/>
          <p:nvPr/>
        </p:nvSpPr>
        <p:spPr>
          <a:xfrm>
            <a:off x="1097280" y="1920240"/>
            <a:ext cx="95033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🔎 الشرح الوافي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كل قطعة ومصطلح: ما هو؟ لماذا؟ متى نستخدمه؟ متى نتجنبه؟ + تجربة حيّة</a:t>
            </a:r>
            <a:endParaRPr lang="ar-SA" sz="2200" dirty="0"/>
          </a:p>
        </p:txBody>
      </p:sp>
      <p:sp>
        <p:nvSpPr>
          <p:cNvPr id="9" name="anim-g2-143"/>
          <p:cNvSpPr/>
          <p:nvPr/>
        </p:nvSpPr>
        <p:spPr>
          <a:xfrm>
            <a:off x="822960" y="2523744"/>
            <a:ext cx="10545775" cy="493776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144"/>
          <p:cNvSpPr/>
          <p:nvPr/>
        </p:nvSpPr>
        <p:spPr>
          <a:xfrm>
            <a:off x="10829239" y="2615184"/>
            <a:ext cx="310896" cy="310896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145"/>
          <p:cNvSpPr/>
          <p:nvPr/>
        </p:nvSpPr>
        <p:spPr>
          <a:xfrm>
            <a:off x="10829239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146"/>
          <p:cNvSpPr/>
          <p:nvPr/>
        </p:nvSpPr>
        <p:spPr>
          <a:xfrm>
            <a:off x="1097280" y="2523744"/>
            <a:ext cx="95033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🧪 المختبر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محاكاة بفيزياء حقيقية، والسطر المنفَّذ من الكود يضيء</a:t>
            </a:r>
            <a:endParaRPr lang="ar-SA" sz="2200" dirty="0"/>
          </a:p>
        </p:txBody>
      </p:sp>
      <p:sp>
        <p:nvSpPr>
          <p:cNvPr id="13" name="anim-g3-147"/>
          <p:cNvSpPr/>
          <p:nvPr/>
        </p:nvSpPr>
        <p:spPr>
          <a:xfrm>
            <a:off x="822960" y="3127248"/>
            <a:ext cx="10545775" cy="493776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148"/>
          <p:cNvSpPr/>
          <p:nvPr/>
        </p:nvSpPr>
        <p:spPr>
          <a:xfrm>
            <a:off x="10829239" y="3218688"/>
            <a:ext cx="310896" cy="310896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149"/>
          <p:cNvSpPr/>
          <p:nvPr/>
        </p:nvSpPr>
        <p:spPr>
          <a:xfrm>
            <a:off x="10829239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150"/>
          <p:cNvSpPr/>
          <p:nvPr/>
        </p:nvSpPr>
        <p:spPr>
          <a:xfrm>
            <a:off x="1097280" y="3127248"/>
            <a:ext cx="95033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🔧 التركيب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خطوة بخطوة… فوق ما ركّبناه سابقًا</a:t>
            </a:r>
            <a:endParaRPr lang="ar-SA" sz="2200" dirty="0"/>
          </a:p>
        </p:txBody>
      </p:sp>
      <p:sp>
        <p:nvSpPr>
          <p:cNvPr id="17" name="anim-g4-151"/>
          <p:cNvSpPr/>
          <p:nvPr/>
        </p:nvSpPr>
        <p:spPr>
          <a:xfrm>
            <a:off x="822960" y="3730752"/>
            <a:ext cx="10545775" cy="493776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152"/>
          <p:cNvSpPr/>
          <p:nvPr/>
        </p:nvSpPr>
        <p:spPr>
          <a:xfrm>
            <a:off x="10829239" y="3822192"/>
            <a:ext cx="310896" cy="310896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153"/>
          <p:cNvSpPr/>
          <p:nvPr/>
        </p:nvSpPr>
        <p:spPr>
          <a:xfrm>
            <a:off x="10829239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154"/>
          <p:cNvSpPr/>
          <p:nvPr/>
        </p:nvSpPr>
        <p:spPr>
          <a:xfrm>
            <a:off x="1097280" y="3730752"/>
            <a:ext cx="95033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✍️ الكود سطرًا سطرًا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مترجم فعلًا على ESP32 وموجود في الحقيبة</a:t>
            </a:r>
            <a:endParaRPr lang="ar-SA" sz="2200" dirty="0"/>
          </a:p>
        </p:txBody>
      </p:sp>
      <p:sp>
        <p:nvSpPr>
          <p:cNvPr id="21" name="anim-g5-155"/>
          <p:cNvSpPr/>
          <p:nvPr/>
        </p:nvSpPr>
        <p:spPr>
          <a:xfrm>
            <a:off x="822960" y="4334256"/>
            <a:ext cx="10545775" cy="493776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2" name="anim-g5-156"/>
          <p:cNvSpPr/>
          <p:nvPr/>
        </p:nvSpPr>
        <p:spPr>
          <a:xfrm>
            <a:off x="10829239" y="4425696"/>
            <a:ext cx="310896" cy="310896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23" name="anim-g5-157"/>
          <p:cNvSpPr/>
          <p:nvPr/>
        </p:nvSpPr>
        <p:spPr>
          <a:xfrm>
            <a:off x="10829239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٥</a:t>
            </a:r>
            <a:endParaRPr lang="ar-SA" sz="2000" dirty="0"/>
          </a:p>
        </p:txBody>
      </p:sp>
      <p:sp>
        <p:nvSpPr>
          <p:cNvPr id="24" name="anim-g5-158"/>
          <p:cNvSpPr/>
          <p:nvPr/>
        </p:nvSpPr>
        <p:spPr>
          <a:xfrm>
            <a:off x="1097280" y="4334256"/>
            <a:ext cx="95033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🔗 الدمج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كيف تنضم الدالة الجديدة إلى دوال الروبوت السابق</a:t>
            </a:r>
            <a:endParaRPr lang="ar-SA" sz="2200" dirty="0"/>
          </a:p>
        </p:txBody>
      </p:sp>
      <p:sp>
        <p:nvSpPr>
          <p:cNvPr id="25" name="anim-g6-159"/>
          <p:cNvSpPr/>
          <p:nvPr/>
        </p:nvSpPr>
        <p:spPr>
          <a:xfrm>
            <a:off x="822960" y="4937760"/>
            <a:ext cx="10545775" cy="493776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6-160"/>
          <p:cNvSpPr/>
          <p:nvPr/>
        </p:nvSpPr>
        <p:spPr>
          <a:xfrm>
            <a:off x="10829239" y="5029200"/>
            <a:ext cx="310896" cy="310896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27" name="anim-g6-161"/>
          <p:cNvSpPr/>
          <p:nvPr/>
        </p:nvSpPr>
        <p:spPr>
          <a:xfrm>
            <a:off x="10829239" y="5029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٦</a:t>
            </a:r>
            <a:endParaRPr lang="ar-SA" sz="2000" dirty="0"/>
          </a:p>
        </p:txBody>
      </p:sp>
      <p:sp>
        <p:nvSpPr>
          <p:cNvPr id="28" name="anim-g6-162"/>
          <p:cNvSpPr/>
          <p:nvPr/>
        </p:nvSpPr>
        <p:spPr>
          <a:xfrm>
            <a:off x="1097280" y="4937760"/>
            <a:ext cx="95033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✅ اختبر نفسك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صح أم خطأ، وسؤال يكشف الفهم</a:t>
            </a:r>
            <a:endParaRPr lang="ar-SA" sz="2200" dirty="0"/>
          </a:p>
        </p:txBody>
      </p:sp>
      <p:sp>
        <p:nvSpPr>
          <p:cNvPr id="29" name="anim-g7-163"/>
          <p:cNvSpPr/>
          <p:nvPr/>
        </p:nvSpPr>
        <p:spPr>
          <a:xfrm>
            <a:off x="822960" y="5541264"/>
            <a:ext cx="10545775" cy="493776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0" name="anim-g7-164"/>
          <p:cNvSpPr/>
          <p:nvPr/>
        </p:nvSpPr>
        <p:spPr>
          <a:xfrm>
            <a:off x="10829239" y="5632704"/>
            <a:ext cx="310896" cy="310896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31" name="anim-g7-165"/>
          <p:cNvSpPr/>
          <p:nvPr/>
        </p:nvSpPr>
        <p:spPr>
          <a:xfrm>
            <a:off x="10829239" y="5632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٧</a:t>
            </a:r>
            <a:endParaRPr lang="ar-SA" sz="2000" dirty="0"/>
          </a:p>
        </p:txBody>
      </p:sp>
      <p:sp>
        <p:nvSpPr>
          <p:cNvPr id="32" name="anim-g7-166"/>
          <p:cNvSpPr/>
          <p:nvPr/>
        </p:nvSpPr>
        <p:spPr>
          <a:xfrm>
            <a:off x="1097280" y="5541264"/>
            <a:ext cx="950335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👩‍🏫 كيف تدرّسها؟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أخطاء الطلاب الشائعة ونشاط صفي جاهز</a:t>
            </a:r>
            <a:endParaRPr lang="ar-SA" sz="2200" dirty="0"/>
          </a:p>
        </p:txBody>
      </p:sp>
      <p:sp>
        <p:nvSpPr>
          <p:cNvPr id="33" name="Text 31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الافتتاح  ·  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المكونات واحدًا واحدًا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قبل أن نركّب… نعرف كل قطعة: ماذا تفعل؟ ولماذا هي هنا؟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المكونات واحدًا واحدًا  ·  ١٠</a:t>
            </a:r>
            <a:endParaRPr lang="ar-SA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167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168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169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170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تسمّي كل قطعة في السيارة وتشرح وظيفتها</a:t>
            </a:r>
            <a:endParaRPr lang="ar-SA" sz="2400" dirty="0"/>
          </a:p>
        </p:txBody>
      </p:sp>
      <p:sp>
        <p:nvSpPr>
          <p:cNvPr id="9" name="anim-g2-171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172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173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174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تفسّر لماذا نستعمل محركًا بتروس وعجلة حرة</a:t>
            </a:r>
            <a:endParaRPr lang="ar-SA" sz="2400" dirty="0"/>
          </a:p>
        </p:txBody>
      </p:sp>
      <p:sp>
        <p:nvSpPr>
          <p:cNvPr id="13" name="anim-g3-175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176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177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178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تختار البطاريات الصحيحة وتعرف الفرق بين التوالي والتوازي</a:t>
            </a:r>
            <a:endParaRPr lang="ar-SA" sz="2400" dirty="0"/>
          </a:p>
        </p:txBody>
      </p:sp>
      <p:sp>
        <p:nvSpPr>
          <p:cNvPr id="17" name="anim-g4-179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180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181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182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تعرف أي القطع تُضاف في كل روبوت من السلّم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المكونات واحدًا واحدًا  ·  ١١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42655" y="4572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442655" y="457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كالإنسان تمامًا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أربعة أجهزة في كل روبوت</a:t>
            </a:r>
            <a:endParaRPr lang="ar-SA" sz="3800" dirty="0"/>
          </a:p>
        </p:txBody>
      </p:sp>
      <p:sp>
        <p:nvSpPr>
          <p:cNvPr id="5" name="anim-g1-183"/>
          <p:cNvSpPr/>
          <p:nvPr/>
        </p:nvSpPr>
        <p:spPr>
          <a:xfrm>
            <a:off x="8938031" y="2011680"/>
            <a:ext cx="2430704" cy="402336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84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85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🧠</a:t>
            </a:r>
            <a:endParaRPr lang="ar-SA" sz="2200" dirty="0"/>
          </a:p>
        </p:txBody>
      </p:sp>
      <p:sp>
        <p:nvSpPr>
          <p:cNvPr id="8" name="anim-g1-186"/>
          <p:cNvSpPr/>
          <p:nvPr/>
        </p:nvSpPr>
        <p:spPr>
          <a:xfrm>
            <a:off x="9212351" y="2944368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الدماغ</a:t>
            </a:r>
            <a:endParaRPr lang="ar-SA" sz="2200" dirty="0"/>
          </a:p>
        </p:txBody>
      </p:sp>
      <p:sp>
        <p:nvSpPr>
          <p:cNvPr id="9" name="anim-g1-187"/>
          <p:cNvSpPr/>
          <p:nvPr/>
        </p:nvSpPr>
        <p:spPr>
          <a:xfrm>
            <a:off x="9212351" y="3493008"/>
            <a:ext cx="18820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ESP32: يقرر</a:t>
            </a:r>
            <a:endParaRPr lang="ar-SA" sz="1900" dirty="0"/>
          </a:p>
        </p:txBody>
      </p:sp>
      <p:sp>
        <p:nvSpPr>
          <p:cNvPr id="10" name="anim-g2-188"/>
          <p:cNvSpPr/>
          <p:nvPr/>
        </p:nvSpPr>
        <p:spPr>
          <a:xfrm>
            <a:off x="6233008" y="2011680"/>
            <a:ext cx="2430704" cy="402336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89"/>
          <p:cNvSpPr/>
          <p:nvPr/>
        </p:nvSpPr>
        <p:spPr>
          <a:xfrm>
            <a:off x="7822463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90"/>
          <p:cNvSpPr/>
          <p:nvPr/>
        </p:nvSpPr>
        <p:spPr>
          <a:xfrm>
            <a:off x="7822463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💪</a:t>
            </a:r>
            <a:endParaRPr lang="ar-SA" sz="2200" dirty="0"/>
          </a:p>
        </p:txBody>
      </p:sp>
      <p:sp>
        <p:nvSpPr>
          <p:cNvPr id="13" name="anim-g2-191"/>
          <p:cNvSpPr/>
          <p:nvPr/>
        </p:nvSpPr>
        <p:spPr>
          <a:xfrm>
            <a:off x="6507328" y="2944368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العضلات</a:t>
            </a:r>
            <a:endParaRPr lang="ar-SA" sz="2200" dirty="0"/>
          </a:p>
        </p:txBody>
      </p:sp>
      <p:sp>
        <p:nvSpPr>
          <p:cNvPr id="14" name="anim-g2-192"/>
          <p:cNvSpPr/>
          <p:nvPr/>
        </p:nvSpPr>
        <p:spPr>
          <a:xfrm>
            <a:off x="6507328" y="3493008"/>
            <a:ext cx="18820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L298N + المحركات: تنفّذ</a:t>
            </a:r>
            <a:endParaRPr lang="ar-SA" sz="1900" dirty="0"/>
          </a:p>
        </p:txBody>
      </p:sp>
      <p:sp>
        <p:nvSpPr>
          <p:cNvPr id="15" name="anim-g3-193"/>
          <p:cNvSpPr/>
          <p:nvPr/>
        </p:nvSpPr>
        <p:spPr>
          <a:xfrm>
            <a:off x="3527984" y="2011680"/>
            <a:ext cx="2430704" cy="402336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194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195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👁️</a:t>
            </a:r>
            <a:endParaRPr lang="ar-SA" sz="2200" dirty="0"/>
          </a:p>
        </p:txBody>
      </p:sp>
      <p:sp>
        <p:nvSpPr>
          <p:cNvPr id="18" name="anim-g3-196"/>
          <p:cNvSpPr/>
          <p:nvPr/>
        </p:nvSpPr>
        <p:spPr>
          <a:xfrm>
            <a:off x="3802304" y="2944368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الحواس</a:t>
            </a:r>
            <a:endParaRPr lang="ar-SA" sz="2200" dirty="0"/>
          </a:p>
        </p:txBody>
      </p:sp>
      <p:sp>
        <p:nvSpPr>
          <p:cNvPr id="19" name="anim-g3-197"/>
          <p:cNvSpPr/>
          <p:nvPr/>
        </p:nvSpPr>
        <p:spPr>
          <a:xfrm>
            <a:off x="3802304" y="3493008"/>
            <a:ext cx="18820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الألتراسونك والخط: ترى</a:t>
            </a:r>
            <a:endParaRPr lang="ar-SA" sz="1900" dirty="0"/>
          </a:p>
        </p:txBody>
      </p:sp>
      <p:sp>
        <p:nvSpPr>
          <p:cNvPr id="20" name="anim-g4-198"/>
          <p:cNvSpPr/>
          <p:nvPr/>
        </p:nvSpPr>
        <p:spPr>
          <a:xfrm>
            <a:off x="822960" y="2011680"/>
            <a:ext cx="2430704" cy="402336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199"/>
          <p:cNvSpPr/>
          <p:nvPr/>
        </p:nvSpPr>
        <p:spPr>
          <a:xfrm>
            <a:off x="2412416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200"/>
          <p:cNvSpPr/>
          <p:nvPr/>
        </p:nvSpPr>
        <p:spPr>
          <a:xfrm>
            <a:off x="2412416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❤️</a:t>
            </a:r>
            <a:endParaRPr lang="ar-SA" sz="2200" dirty="0"/>
          </a:p>
        </p:txBody>
      </p:sp>
      <p:sp>
        <p:nvSpPr>
          <p:cNvPr id="23" name="anim-g4-201"/>
          <p:cNvSpPr/>
          <p:nvPr/>
        </p:nvSpPr>
        <p:spPr>
          <a:xfrm>
            <a:off x="1097280" y="2944368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القلب</a:t>
            </a:r>
            <a:endParaRPr lang="ar-SA" sz="2200" dirty="0"/>
          </a:p>
        </p:txBody>
      </p:sp>
      <p:sp>
        <p:nvSpPr>
          <p:cNvPr id="24" name="anim-g4-202"/>
          <p:cNvSpPr/>
          <p:nvPr/>
        </p:nvSpPr>
        <p:spPr>
          <a:xfrm>
            <a:off x="1097280" y="3493008"/>
            <a:ext cx="18820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البطارية: تعطي الطاقة</a:t>
            </a:r>
            <a:endParaRPr lang="ar-SA" sz="19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المكونات واحدًا واحدًا  ·  ١٣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0047" y="457200"/>
            <a:ext cx="321868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150047" y="45720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قطعة في مكانها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أين تظهر كل قطعة على السلّم؟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301228" y="1874520"/>
            <a:ext cx="3067507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301228" y="1874520"/>
            <a:ext cx="30675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القطعة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7232904" y="1874520"/>
            <a:ext cx="958596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7232904" y="1874520"/>
            <a:ext cx="95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🤖١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6164580" y="1874520"/>
            <a:ext cx="958596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6164580" y="1874520"/>
            <a:ext cx="95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🤖٢</a:t>
            </a:r>
            <a:endParaRPr lang="ar-SA" sz="1900" dirty="0"/>
          </a:p>
        </p:txBody>
      </p:sp>
      <p:sp>
        <p:nvSpPr>
          <p:cNvPr id="11" name="Shape 9"/>
          <p:cNvSpPr/>
          <p:nvPr/>
        </p:nvSpPr>
        <p:spPr>
          <a:xfrm>
            <a:off x="5096256" y="1874520"/>
            <a:ext cx="958596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2" name="Text 10"/>
          <p:cNvSpPr/>
          <p:nvPr/>
        </p:nvSpPr>
        <p:spPr>
          <a:xfrm>
            <a:off x="5096256" y="1874520"/>
            <a:ext cx="95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🤖٣</a:t>
            </a:r>
            <a:endParaRPr lang="ar-SA" sz="1900" dirty="0"/>
          </a:p>
        </p:txBody>
      </p:sp>
      <p:sp>
        <p:nvSpPr>
          <p:cNvPr id="13" name="Shape 11"/>
          <p:cNvSpPr/>
          <p:nvPr/>
        </p:nvSpPr>
        <p:spPr>
          <a:xfrm>
            <a:off x="4027932" y="1874520"/>
            <a:ext cx="958596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4" name="Text 12"/>
          <p:cNvSpPr/>
          <p:nvPr/>
        </p:nvSpPr>
        <p:spPr>
          <a:xfrm>
            <a:off x="4027932" y="1874520"/>
            <a:ext cx="95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🤖٤</a:t>
            </a:r>
            <a:endParaRPr lang="ar-SA" sz="1900" dirty="0"/>
          </a:p>
        </p:txBody>
      </p:sp>
      <p:sp>
        <p:nvSpPr>
          <p:cNvPr id="15" name="Shape 13"/>
          <p:cNvSpPr/>
          <p:nvPr/>
        </p:nvSpPr>
        <p:spPr>
          <a:xfrm>
            <a:off x="2959608" y="1874520"/>
            <a:ext cx="958596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2959608" y="1874520"/>
            <a:ext cx="95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🤖٥</a:t>
            </a:r>
            <a:endParaRPr lang="ar-SA" sz="1900" dirty="0"/>
          </a:p>
        </p:txBody>
      </p:sp>
      <p:sp>
        <p:nvSpPr>
          <p:cNvPr id="17" name="Shape 15"/>
          <p:cNvSpPr/>
          <p:nvPr/>
        </p:nvSpPr>
        <p:spPr>
          <a:xfrm>
            <a:off x="1891284" y="1874520"/>
            <a:ext cx="958596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8" name="Text 16"/>
          <p:cNvSpPr/>
          <p:nvPr/>
        </p:nvSpPr>
        <p:spPr>
          <a:xfrm>
            <a:off x="1891284" y="1874520"/>
            <a:ext cx="95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🤖٦</a:t>
            </a:r>
            <a:endParaRPr lang="ar-SA" sz="1900" dirty="0"/>
          </a:p>
        </p:txBody>
      </p:sp>
      <p:sp>
        <p:nvSpPr>
          <p:cNvPr id="19" name="Shape 17"/>
          <p:cNvSpPr/>
          <p:nvPr/>
        </p:nvSpPr>
        <p:spPr>
          <a:xfrm>
            <a:off x="822960" y="1874520"/>
            <a:ext cx="958596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1874520"/>
            <a:ext cx="95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⚽٧</a:t>
            </a:r>
            <a:endParaRPr lang="ar-SA" sz="1900" dirty="0"/>
          </a:p>
        </p:txBody>
      </p:sp>
      <p:sp>
        <p:nvSpPr>
          <p:cNvPr id="21" name="anim-g1-203"/>
          <p:cNvSpPr/>
          <p:nvPr/>
        </p:nvSpPr>
        <p:spPr>
          <a:xfrm>
            <a:off x="8301228" y="2514600"/>
            <a:ext cx="3067507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2" name="anim-g1-204"/>
          <p:cNvSpPr/>
          <p:nvPr/>
        </p:nvSpPr>
        <p:spPr>
          <a:xfrm>
            <a:off x="8438388" y="2514600"/>
            <a:ext cx="27931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 + L298N + محركان</a:t>
            </a:r>
            <a:endParaRPr lang="ar-SA" sz="2100" dirty="0"/>
          </a:p>
        </p:txBody>
      </p:sp>
      <p:sp>
        <p:nvSpPr>
          <p:cNvPr id="23" name="anim-g1-205"/>
          <p:cNvSpPr/>
          <p:nvPr/>
        </p:nvSpPr>
        <p:spPr>
          <a:xfrm>
            <a:off x="7232904" y="2514600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4" name="anim-g1-206"/>
          <p:cNvSpPr/>
          <p:nvPr/>
        </p:nvSpPr>
        <p:spPr>
          <a:xfrm>
            <a:off x="7370064" y="2514600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25" name="anim-g1-207"/>
          <p:cNvSpPr/>
          <p:nvPr/>
        </p:nvSpPr>
        <p:spPr>
          <a:xfrm>
            <a:off x="6164580" y="2514600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1-208"/>
          <p:cNvSpPr/>
          <p:nvPr/>
        </p:nvSpPr>
        <p:spPr>
          <a:xfrm>
            <a:off x="6301740" y="2514600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27" name="anim-g1-209"/>
          <p:cNvSpPr/>
          <p:nvPr/>
        </p:nvSpPr>
        <p:spPr>
          <a:xfrm>
            <a:off x="5096256" y="2514600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8" name="anim-g1-210"/>
          <p:cNvSpPr/>
          <p:nvPr/>
        </p:nvSpPr>
        <p:spPr>
          <a:xfrm>
            <a:off x="5233416" y="2514600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29" name="anim-g1-211"/>
          <p:cNvSpPr/>
          <p:nvPr/>
        </p:nvSpPr>
        <p:spPr>
          <a:xfrm>
            <a:off x="4027932" y="2514600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0" name="anim-g1-212"/>
          <p:cNvSpPr/>
          <p:nvPr/>
        </p:nvSpPr>
        <p:spPr>
          <a:xfrm>
            <a:off x="4165092" y="2514600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31" name="anim-g1-213"/>
          <p:cNvSpPr/>
          <p:nvPr/>
        </p:nvSpPr>
        <p:spPr>
          <a:xfrm>
            <a:off x="2959608" y="2514600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1-214"/>
          <p:cNvSpPr/>
          <p:nvPr/>
        </p:nvSpPr>
        <p:spPr>
          <a:xfrm>
            <a:off x="3096768" y="2514600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33" name="anim-g1-215"/>
          <p:cNvSpPr/>
          <p:nvPr/>
        </p:nvSpPr>
        <p:spPr>
          <a:xfrm>
            <a:off x="1891284" y="2514600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4" name="anim-g1-216"/>
          <p:cNvSpPr/>
          <p:nvPr/>
        </p:nvSpPr>
        <p:spPr>
          <a:xfrm>
            <a:off x="2028444" y="2514600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35" name="anim-g1-217"/>
          <p:cNvSpPr/>
          <p:nvPr/>
        </p:nvSpPr>
        <p:spPr>
          <a:xfrm>
            <a:off x="822960" y="2514600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6" name="anim-g1-218"/>
          <p:cNvSpPr/>
          <p:nvPr/>
        </p:nvSpPr>
        <p:spPr>
          <a:xfrm>
            <a:off x="960120" y="2514600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37" name="anim-g2-219"/>
          <p:cNvSpPr/>
          <p:nvPr/>
        </p:nvSpPr>
        <p:spPr>
          <a:xfrm>
            <a:off x="8301228" y="3119628"/>
            <a:ext cx="3067507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8" name="anim-g2-220"/>
          <p:cNvSpPr/>
          <p:nvPr/>
        </p:nvSpPr>
        <p:spPr>
          <a:xfrm>
            <a:off x="8438388" y="3119628"/>
            <a:ext cx="27931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HC-SR04</a:t>
            </a:r>
            <a:endParaRPr lang="ar-SA" sz="2100" dirty="0"/>
          </a:p>
        </p:txBody>
      </p:sp>
      <p:sp>
        <p:nvSpPr>
          <p:cNvPr id="39" name="anim-g2-221"/>
          <p:cNvSpPr/>
          <p:nvPr/>
        </p:nvSpPr>
        <p:spPr>
          <a:xfrm>
            <a:off x="7232904" y="3119628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0" name="anim-g2-222"/>
          <p:cNvSpPr/>
          <p:nvPr/>
        </p:nvSpPr>
        <p:spPr>
          <a:xfrm>
            <a:off x="7370064" y="3119628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41" name="anim-g2-223"/>
          <p:cNvSpPr/>
          <p:nvPr/>
        </p:nvSpPr>
        <p:spPr>
          <a:xfrm>
            <a:off x="6164580" y="3119628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2" name="anim-g2-224"/>
          <p:cNvSpPr/>
          <p:nvPr/>
        </p:nvSpPr>
        <p:spPr>
          <a:xfrm>
            <a:off x="6301740" y="3119628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43" name="anim-g2-225"/>
          <p:cNvSpPr/>
          <p:nvPr/>
        </p:nvSpPr>
        <p:spPr>
          <a:xfrm>
            <a:off x="5096256" y="3119628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4" name="anim-g2-226"/>
          <p:cNvSpPr/>
          <p:nvPr/>
        </p:nvSpPr>
        <p:spPr>
          <a:xfrm>
            <a:off x="5233416" y="3119628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45" name="anim-g2-227"/>
          <p:cNvSpPr/>
          <p:nvPr/>
        </p:nvSpPr>
        <p:spPr>
          <a:xfrm>
            <a:off x="4027932" y="3119628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6" name="anim-g2-228"/>
          <p:cNvSpPr/>
          <p:nvPr/>
        </p:nvSpPr>
        <p:spPr>
          <a:xfrm>
            <a:off x="4165092" y="3119628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47" name="anim-g2-229"/>
          <p:cNvSpPr/>
          <p:nvPr/>
        </p:nvSpPr>
        <p:spPr>
          <a:xfrm>
            <a:off x="2959608" y="3119628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8" name="anim-g2-230"/>
          <p:cNvSpPr/>
          <p:nvPr/>
        </p:nvSpPr>
        <p:spPr>
          <a:xfrm>
            <a:off x="3096768" y="3119628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49" name="anim-g2-231"/>
          <p:cNvSpPr/>
          <p:nvPr/>
        </p:nvSpPr>
        <p:spPr>
          <a:xfrm>
            <a:off x="1891284" y="3119628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0" name="anim-g2-232"/>
          <p:cNvSpPr/>
          <p:nvPr/>
        </p:nvSpPr>
        <p:spPr>
          <a:xfrm>
            <a:off x="2028444" y="3119628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51" name="anim-g2-233"/>
          <p:cNvSpPr/>
          <p:nvPr/>
        </p:nvSpPr>
        <p:spPr>
          <a:xfrm>
            <a:off x="822960" y="3119628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52" name="anim-g2-234"/>
          <p:cNvSpPr/>
          <p:nvPr/>
        </p:nvSpPr>
        <p:spPr>
          <a:xfrm>
            <a:off x="960120" y="3119628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53" name="anim-g3-235"/>
          <p:cNvSpPr/>
          <p:nvPr/>
        </p:nvSpPr>
        <p:spPr>
          <a:xfrm>
            <a:off x="8301228" y="3724656"/>
            <a:ext cx="3067507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54" name="anim-g3-236"/>
          <p:cNvSpPr/>
          <p:nvPr/>
        </p:nvSpPr>
        <p:spPr>
          <a:xfrm>
            <a:off x="8438388" y="3724656"/>
            <a:ext cx="27931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 × TCRT5000</a:t>
            </a:r>
            <a:endParaRPr lang="ar-SA" sz="2100" dirty="0"/>
          </a:p>
        </p:txBody>
      </p:sp>
      <p:sp>
        <p:nvSpPr>
          <p:cNvPr id="55" name="anim-g3-237"/>
          <p:cNvSpPr/>
          <p:nvPr/>
        </p:nvSpPr>
        <p:spPr>
          <a:xfrm>
            <a:off x="7232904" y="3724656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6" name="anim-g3-238"/>
          <p:cNvSpPr/>
          <p:nvPr/>
        </p:nvSpPr>
        <p:spPr>
          <a:xfrm>
            <a:off x="7370064" y="3724656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57" name="anim-g3-239"/>
          <p:cNvSpPr/>
          <p:nvPr/>
        </p:nvSpPr>
        <p:spPr>
          <a:xfrm>
            <a:off x="6164580" y="3724656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8" name="anim-g3-240"/>
          <p:cNvSpPr/>
          <p:nvPr/>
        </p:nvSpPr>
        <p:spPr>
          <a:xfrm>
            <a:off x="6301740" y="3724656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59" name="anim-g3-241"/>
          <p:cNvSpPr/>
          <p:nvPr/>
        </p:nvSpPr>
        <p:spPr>
          <a:xfrm>
            <a:off x="5096256" y="3724656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0" name="anim-g3-242"/>
          <p:cNvSpPr/>
          <p:nvPr/>
        </p:nvSpPr>
        <p:spPr>
          <a:xfrm>
            <a:off x="5233416" y="3724656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61" name="anim-g3-243"/>
          <p:cNvSpPr/>
          <p:nvPr/>
        </p:nvSpPr>
        <p:spPr>
          <a:xfrm>
            <a:off x="4027932" y="3724656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2" name="anim-g3-244"/>
          <p:cNvSpPr/>
          <p:nvPr/>
        </p:nvSpPr>
        <p:spPr>
          <a:xfrm>
            <a:off x="4165092" y="3724656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63" name="anim-g3-245"/>
          <p:cNvSpPr/>
          <p:nvPr/>
        </p:nvSpPr>
        <p:spPr>
          <a:xfrm>
            <a:off x="2959608" y="3724656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4" name="anim-g3-246"/>
          <p:cNvSpPr/>
          <p:nvPr/>
        </p:nvSpPr>
        <p:spPr>
          <a:xfrm>
            <a:off x="3096768" y="3724656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 للحافة</a:t>
            </a:r>
            <a:endParaRPr lang="ar-SA" sz="2100" dirty="0"/>
          </a:p>
        </p:txBody>
      </p:sp>
      <p:sp>
        <p:nvSpPr>
          <p:cNvPr id="65" name="anim-g3-247"/>
          <p:cNvSpPr/>
          <p:nvPr/>
        </p:nvSpPr>
        <p:spPr>
          <a:xfrm>
            <a:off x="1891284" y="3724656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6" name="anim-g3-248"/>
          <p:cNvSpPr/>
          <p:nvPr/>
        </p:nvSpPr>
        <p:spPr>
          <a:xfrm>
            <a:off x="2028444" y="3724656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67" name="anim-g3-249"/>
          <p:cNvSpPr/>
          <p:nvPr/>
        </p:nvSpPr>
        <p:spPr>
          <a:xfrm>
            <a:off x="822960" y="3724656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68" name="anim-g3-250"/>
          <p:cNvSpPr/>
          <p:nvPr/>
        </p:nvSpPr>
        <p:spPr>
          <a:xfrm>
            <a:off x="960120" y="3724656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69" name="anim-g4-251"/>
          <p:cNvSpPr/>
          <p:nvPr/>
        </p:nvSpPr>
        <p:spPr>
          <a:xfrm>
            <a:off x="8301228" y="4329684"/>
            <a:ext cx="3067507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70" name="anim-g4-252"/>
          <p:cNvSpPr/>
          <p:nvPr/>
        </p:nvSpPr>
        <p:spPr>
          <a:xfrm>
            <a:off x="8438388" y="4329684"/>
            <a:ext cx="27931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زر BOOT + الليد</a:t>
            </a:r>
            <a:endParaRPr lang="ar-SA" sz="2100" dirty="0"/>
          </a:p>
        </p:txBody>
      </p:sp>
      <p:sp>
        <p:nvSpPr>
          <p:cNvPr id="71" name="anim-g4-253"/>
          <p:cNvSpPr/>
          <p:nvPr/>
        </p:nvSpPr>
        <p:spPr>
          <a:xfrm>
            <a:off x="7232904" y="4329684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72" name="anim-g4-254"/>
          <p:cNvSpPr/>
          <p:nvPr/>
        </p:nvSpPr>
        <p:spPr>
          <a:xfrm>
            <a:off x="7370064" y="4329684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73" name="anim-g4-255"/>
          <p:cNvSpPr/>
          <p:nvPr/>
        </p:nvSpPr>
        <p:spPr>
          <a:xfrm>
            <a:off x="6164580" y="4329684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74" name="anim-g4-256"/>
          <p:cNvSpPr/>
          <p:nvPr/>
        </p:nvSpPr>
        <p:spPr>
          <a:xfrm>
            <a:off x="6301740" y="4329684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75" name="anim-g4-257"/>
          <p:cNvSpPr/>
          <p:nvPr/>
        </p:nvSpPr>
        <p:spPr>
          <a:xfrm>
            <a:off x="5096256" y="4329684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76" name="anim-g4-258"/>
          <p:cNvSpPr/>
          <p:nvPr/>
        </p:nvSpPr>
        <p:spPr>
          <a:xfrm>
            <a:off x="5233416" y="4329684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77" name="anim-g4-259"/>
          <p:cNvSpPr/>
          <p:nvPr/>
        </p:nvSpPr>
        <p:spPr>
          <a:xfrm>
            <a:off x="4027932" y="4329684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78" name="anim-g4-260"/>
          <p:cNvSpPr/>
          <p:nvPr/>
        </p:nvSpPr>
        <p:spPr>
          <a:xfrm>
            <a:off x="4165092" y="4329684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79" name="anim-g4-261"/>
          <p:cNvSpPr/>
          <p:nvPr/>
        </p:nvSpPr>
        <p:spPr>
          <a:xfrm>
            <a:off x="2959608" y="4329684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80" name="anim-g4-262"/>
          <p:cNvSpPr/>
          <p:nvPr/>
        </p:nvSpPr>
        <p:spPr>
          <a:xfrm>
            <a:off x="3096768" y="4329684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81" name="anim-g4-263"/>
          <p:cNvSpPr/>
          <p:nvPr/>
        </p:nvSpPr>
        <p:spPr>
          <a:xfrm>
            <a:off x="1891284" y="4329684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82" name="anim-g4-264"/>
          <p:cNvSpPr/>
          <p:nvPr/>
        </p:nvSpPr>
        <p:spPr>
          <a:xfrm>
            <a:off x="2028444" y="4329684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83" name="anim-g4-265"/>
          <p:cNvSpPr/>
          <p:nvPr/>
        </p:nvSpPr>
        <p:spPr>
          <a:xfrm>
            <a:off x="822960" y="4329684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84" name="anim-g4-266"/>
          <p:cNvSpPr/>
          <p:nvPr/>
        </p:nvSpPr>
        <p:spPr>
          <a:xfrm>
            <a:off x="960120" y="4329684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85" name="anim-g5-267"/>
          <p:cNvSpPr/>
          <p:nvPr/>
        </p:nvSpPr>
        <p:spPr>
          <a:xfrm>
            <a:off x="8301228" y="4934712"/>
            <a:ext cx="3067507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86" name="anim-g5-268"/>
          <p:cNvSpPr/>
          <p:nvPr/>
        </p:nvSpPr>
        <p:spPr>
          <a:xfrm>
            <a:off x="8438388" y="4934712"/>
            <a:ext cx="27931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الواي فاي والجوال</a:t>
            </a:r>
            <a:endParaRPr lang="ar-SA" sz="2100" dirty="0"/>
          </a:p>
        </p:txBody>
      </p:sp>
      <p:sp>
        <p:nvSpPr>
          <p:cNvPr id="87" name="anim-g5-269"/>
          <p:cNvSpPr/>
          <p:nvPr/>
        </p:nvSpPr>
        <p:spPr>
          <a:xfrm>
            <a:off x="7232904" y="4934712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88" name="anim-g5-270"/>
          <p:cNvSpPr/>
          <p:nvPr/>
        </p:nvSpPr>
        <p:spPr>
          <a:xfrm>
            <a:off x="7370064" y="4934712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89" name="anim-g5-271"/>
          <p:cNvSpPr/>
          <p:nvPr/>
        </p:nvSpPr>
        <p:spPr>
          <a:xfrm>
            <a:off x="6164580" y="4934712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90" name="anim-g5-272"/>
          <p:cNvSpPr/>
          <p:nvPr/>
        </p:nvSpPr>
        <p:spPr>
          <a:xfrm>
            <a:off x="6301740" y="4934712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91" name="anim-g5-273"/>
          <p:cNvSpPr/>
          <p:nvPr/>
        </p:nvSpPr>
        <p:spPr>
          <a:xfrm>
            <a:off x="5096256" y="4934712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92" name="anim-g5-274"/>
          <p:cNvSpPr/>
          <p:nvPr/>
        </p:nvSpPr>
        <p:spPr>
          <a:xfrm>
            <a:off x="5233416" y="4934712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93" name="anim-g5-275"/>
          <p:cNvSpPr/>
          <p:nvPr/>
        </p:nvSpPr>
        <p:spPr>
          <a:xfrm>
            <a:off x="4027932" y="4934712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94" name="anim-g5-276"/>
          <p:cNvSpPr/>
          <p:nvPr/>
        </p:nvSpPr>
        <p:spPr>
          <a:xfrm>
            <a:off x="4165092" y="4934712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95" name="anim-g5-277"/>
          <p:cNvSpPr/>
          <p:nvPr/>
        </p:nvSpPr>
        <p:spPr>
          <a:xfrm>
            <a:off x="2959608" y="4934712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96" name="anim-g5-278"/>
          <p:cNvSpPr/>
          <p:nvPr/>
        </p:nvSpPr>
        <p:spPr>
          <a:xfrm>
            <a:off x="3096768" y="4934712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97" name="anim-g5-279"/>
          <p:cNvSpPr/>
          <p:nvPr/>
        </p:nvSpPr>
        <p:spPr>
          <a:xfrm>
            <a:off x="1891284" y="4934712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98" name="anim-g5-280"/>
          <p:cNvSpPr/>
          <p:nvPr/>
        </p:nvSpPr>
        <p:spPr>
          <a:xfrm>
            <a:off x="2028444" y="4934712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99" name="anim-g5-281"/>
          <p:cNvSpPr/>
          <p:nvPr/>
        </p:nvSpPr>
        <p:spPr>
          <a:xfrm>
            <a:off x="822960" y="4934712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00" name="anim-g5-282"/>
          <p:cNvSpPr/>
          <p:nvPr/>
        </p:nvSpPr>
        <p:spPr>
          <a:xfrm>
            <a:off x="960120" y="4934712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101" name="anim-g6-283"/>
          <p:cNvSpPr/>
          <p:nvPr/>
        </p:nvSpPr>
        <p:spPr>
          <a:xfrm>
            <a:off x="8301228" y="5539740"/>
            <a:ext cx="3067507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02" name="anim-g6-284"/>
          <p:cNvSpPr/>
          <p:nvPr/>
        </p:nvSpPr>
        <p:spPr>
          <a:xfrm>
            <a:off x="8438388" y="5539740"/>
            <a:ext cx="27931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محرك ثالث + أومني</a:t>
            </a:r>
            <a:endParaRPr lang="ar-SA" sz="2100" dirty="0"/>
          </a:p>
        </p:txBody>
      </p:sp>
      <p:sp>
        <p:nvSpPr>
          <p:cNvPr id="103" name="anim-g6-285"/>
          <p:cNvSpPr/>
          <p:nvPr/>
        </p:nvSpPr>
        <p:spPr>
          <a:xfrm>
            <a:off x="7232904" y="5539740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4" name="anim-g6-286"/>
          <p:cNvSpPr/>
          <p:nvPr/>
        </p:nvSpPr>
        <p:spPr>
          <a:xfrm>
            <a:off x="7370064" y="5539740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105" name="anim-g6-287"/>
          <p:cNvSpPr/>
          <p:nvPr/>
        </p:nvSpPr>
        <p:spPr>
          <a:xfrm>
            <a:off x="6164580" y="5539740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6" name="anim-g6-288"/>
          <p:cNvSpPr/>
          <p:nvPr/>
        </p:nvSpPr>
        <p:spPr>
          <a:xfrm>
            <a:off x="6301740" y="5539740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107" name="anim-g6-289"/>
          <p:cNvSpPr/>
          <p:nvPr/>
        </p:nvSpPr>
        <p:spPr>
          <a:xfrm>
            <a:off x="5096256" y="5539740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8" name="anim-g6-290"/>
          <p:cNvSpPr/>
          <p:nvPr/>
        </p:nvSpPr>
        <p:spPr>
          <a:xfrm>
            <a:off x="5233416" y="5539740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109" name="anim-g6-291"/>
          <p:cNvSpPr/>
          <p:nvPr/>
        </p:nvSpPr>
        <p:spPr>
          <a:xfrm>
            <a:off x="4027932" y="5539740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10" name="anim-g6-292"/>
          <p:cNvSpPr/>
          <p:nvPr/>
        </p:nvSpPr>
        <p:spPr>
          <a:xfrm>
            <a:off x="4165092" y="5539740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111" name="anim-g6-293"/>
          <p:cNvSpPr/>
          <p:nvPr/>
        </p:nvSpPr>
        <p:spPr>
          <a:xfrm>
            <a:off x="2959608" y="5539740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12" name="anim-g6-294"/>
          <p:cNvSpPr/>
          <p:nvPr/>
        </p:nvSpPr>
        <p:spPr>
          <a:xfrm>
            <a:off x="3096768" y="5539740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113" name="anim-g6-295"/>
          <p:cNvSpPr/>
          <p:nvPr/>
        </p:nvSpPr>
        <p:spPr>
          <a:xfrm>
            <a:off x="1891284" y="5539740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14" name="anim-g6-296"/>
          <p:cNvSpPr/>
          <p:nvPr/>
        </p:nvSpPr>
        <p:spPr>
          <a:xfrm>
            <a:off x="2028444" y="5539740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endParaRPr lang="ar-SA" sz="2100" dirty="0"/>
          </a:p>
        </p:txBody>
      </p:sp>
      <p:sp>
        <p:nvSpPr>
          <p:cNvPr id="115" name="anim-g6-297"/>
          <p:cNvSpPr/>
          <p:nvPr/>
        </p:nvSpPr>
        <p:spPr>
          <a:xfrm>
            <a:off x="822960" y="5539740"/>
            <a:ext cx="958596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16" name="anim-g6-298"/>
          <p:cNvSpPr/>
          <p:nvPr/>
        </p:nvSpPr>
        <p:spPr>
          <a:xfrm>
            <a:off x="960120" y="5539740"/>
            <a:ext cx="684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117" name="Text 11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118" name="Text 11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المكونات واحدًا واحدًا  ·  ١٨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طالب وضع عجلة سيارة على محرك بلا تروس… ماذا يحدث غالبًا؟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تنطلق السيارة بسرعة هائلة</a:t>
            </a:r>
            <a:endParaRPr lang="ar-SA" sz="2200" dirty="0"/>
          </a:p>
        </p:txBody>
      </p:sp>
      <p:sp>
        <p:nvSpPr>
          <p:cNvPr id="9" name="anim-g1-299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300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301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302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تنطلق السيارة بسرعة هائلة</a:t>
            </a:r>
            <a:endParaRPr lang="ar-SA" sz="2200" dirty="0"/>
          </a:p>
        </p:txBody>
      </p:sp>
      <p:sp>
        <p:nvSpPr>
          <p:cNvPr id="13" name="anim-g1-303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السرعة عالية بلا حمل فقط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يطنّ المحرك ولا تتحرك السيارة</a:t>
            </a:r>
            <a:endParaRPr lang="ar-SA" sz="2200" dirty="0"/>
          </a:p>
        </p:txBody>
      </p:sp>
      <p:sp>
        <p:nvSpPr>
          <p:cNvPr id="18" name="anim-g1-304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305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0" name="anim-g1-306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21" name="anim-g1-307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يطنّ المحرك ولا تتحرك السيارة</a:t>
            </a:r>
            <a:endParaRPr lang="ar-SA" sz="2200" dirty="0"/>
          </a:p>
        </p:txBody>
      </p:sp>
      <p:sp>
        <p:nvSpPr>
          <p:cNvPr id="22" name="anim-g1-308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المحرك العاري ضعيف لا يحمل وزن السيارة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يحترق ESP32</a:t>
            </a:r>
            <a:endParaRPr lang="ar-SA" sz="2200" dirty="0"/>
          </a:p>
        </p:txBody>
      </p:sp>
      <p:sp>
        <p:nvSpPr>
          <p:cNvPr id="27" name="anim-g1-309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310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9" name="anim-g1-311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30" name="anim-g1-312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يحترق ESP32</a:t>
            </a:r>
            <a:endParaRPr lang="ar-SA" sz="2200" dirty="0"/>
          </a:p>
        </p:txBody>
      </p:sp>
      <p:sp>
        <p:nvSpPr>
          <p:cNvPr id="31" name="anim-g1-313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الدرايفر يحمي اللوحة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تدور السيارة حول نفسها</a:t>
            </a:r>
            <a:endParaRPr lang="ar-SA" sz="2200" dirty="0"/>
          </a:p>
        </p:txBody>
      </p:sp>
      <p:sp>
        <p:nvSpPr>
          <p:cNvPr id="36" name="anim-g1-314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315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316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317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تدور السيارة حول نفسها</a:t>
            </a:r>
            <a:endParaRPr lang="ar-SA" sz="2200" dirty="0"/>
          </a:p>
        </p:txBody>
      </p:sp>
      <p:sp>
        <p:nvSpPr>
          <p:cNvPr id="40" name="anim-g1-318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علاقة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المكونات واحدًا واحدًا  ·  ١٩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دماغ يقرر…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عضلات تنفّذ… حواس ترى… وقلب يعطي الطاقة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المكونات واحدًا واحدًا  ·  ٢٢</a:t>
            </a:r>
            <a:endParaRPr lang="ar-SA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٢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الطاقة والتركيب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مسار واحد للكهرباء… وسبع خطوات تركيب… وفحص قبل أي كود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الطاقة والتركيب  ·  ٢٣</a:t>
            </a:r>
            <a:endParaRPr lang="ar-SA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319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320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321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322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ترسم مسار الطاقة من البطارية إلى المحركات وESP32</a:t>
            </a:r>
            <a:endParaRPr lang="ar-SA" sz="2400" dirty="0"/>
          </a:p>
        </p:txBody>
      </p:sp>
      <p:sp>
        <p:nvSpPr>
          <p:cNvPr id="9" name="anim-g2-323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324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325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326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تحسب الجهد الذي يصل للمحرك بعد خسارة الدرايفر</a:t>
            </a:r>
            <a:endParaRPr lang="ar-SA" sz="2400" dirty="0"/>
          </a:p>
        </p:txBody>
      </p:sp>
      <p:sp>
        <p:nvSpPr>
          <p:cNvPr id="13" name="anim-g3-327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328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329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330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تركّب السيارة كهربائيًا خطوة بخطوة</a:t>
            </a:r>
            <a:endParaRPr lang="ar-SA" sz="2400" dirty="0"/>
          </a:p>
        </p:txBody>
      </p:sp>
      <p:sp>
        <p:nvSpPr>
          <p:cNvPr id="17" name="anim-g4-331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332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333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334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تفحص المحركين وتصحح اتجاه أي عجلة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الطاقة والتركيب  ·  ٢٤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27871" y="457200"/>
            <a:ext cx="234086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027871" y="45720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قبل التركيب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قواعد السلامة الخمس</a:t>
            </a:r>
            <a:endParaRPr lang="ar-SA" sz="3800" dirty="0"/>
          </a:p>
        </p:txBody>
      </p:sp>
      <p:sp>
        <p:nvSpPr>
          <p:cNvPr id="5" name="anim-g1-335"/>
          <p:cNvSpPr/>
          <p:nvPr/>
        </p:nvSpPr>
        <p:spPr>
          <a:xfrm>
            <a:off x="9479036" y="2011680"/>
            <a:ext cx="1889699" cy="4023360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336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337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🔌</a:t>
            </a:r>
            <a:endParaRPr lang="ar-SA" sz="2200" dirty="0"/>
          </a:p>
        </p:txBody>
      </p:sp>
      <p:sp>
        <p:nvSpPr>
          <p:cNvPr id="8" name="anim-g1-338"/>
          <p:cNvSpPr/>
          <p:nvPr/>
        </p:nvSpPr>
        <p:spPr>
          <a:xfrm>
            <a:off x="9753356" y="2944368"/>
            <a:ext cx="13410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المفتاح مطفأ</a:t>
            </a:r>
            <a:endParaRPr lang="ar-SA" sz="2200" dirty="0"/>
          </a:p>
        </p:txBody>
      </p:sp>
      <p:sp>
        <p:nvSpPr>
          <p:cNvPr id="9" name="anim-g1-339"/>
          <p:cNvSpPr/>
          <p:nvPr/>
        </p:nvSpPr>
        <p:spPr>
          <a:xfrm>
            <a:off x="9753356" y="3493008"/>
            <a:ext cx="1341059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طوال التركيب</a:t>
            </a:r>
            <a:endParaRPr lang="ar-SA" sz="1900" dirty="0"/>
          </a:p>
        </p:txBody>
      </p:sp>
      <p:sp>
        <p:nvSpPr>
          <p:cNvPr id="10" name="anim-g2-340"/>
          <p:cNvSpPr/>
          <p:nvPr/>
        </p:nvSpPr>
        <p:spPr>
          <a:xfrm>
            <a:off x="7315017" y="2011680"/>
            <a:ext cx="1889699" cy="4023360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341"/>
          <p:cNvSpPr/>
          <p:nvPr/>
        </p:nvSpPr>
        <p:spPr>
          <a:xfrm>
            <a:off x="8363468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342"/>
          <p:cNvSpPr/>
          <p:nvPr/>
        </p:nvSpPr>
        <p:spPr>
          <a:xfrm>
            <a:off x="8363468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🔴</a:t>
            </a:r>
            <a:endParaRPr lang="ar-SA" sz="2200" dirty="0"/>
          </a:p>
        </p:txBody>
      </p:sp>
      <p:sp>
        <p:nvSpPr>
          <p:cNvPr id="13" name="anim-g2-343"/>
          <p:cNvSpPr/>
          <p:nvPr/>
        </p:nvSpPr>
        <p:spPr>
          <a:xfrm>
            <a:off x="7589337" y="2944368"/>
            <a:ext cx="13410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الأحمر للموجب</a:t>
            </a:r>
            <a:endParaRPr lang="ar-SA" sz="2200" dirty="0"/>
          </a:p>
        </p:txBody>
      </p:sp>
      <p:sp>
        <p:nvSpPr>
          <p:cNvPr id="14" name="anim-g2-344"/>
          <p:cNvSpPr/>
          <p:nvPr/>
        </p:nvSpPr>
        <p:spPr>
          <a:xfrm>
            <a:off x="7589337" y="3493008"/>
            <a:ext cx="1341059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دائمًا وبلا استثناء</a:t>
            </a:r>
            <a:endParaRPr lang="ar-SA" sz="1900" dirty="0"/>
          </a:p>
        </p:txBody>
      </p:sp>
      <p:sp>
        <p:nvSpPr>
          <p:cNvPr id="15" name="anim-g3-345"/>
          <p:cNvSpPr/>
          <p:nvPr/>
        </p:nvSpPr>
        <p:spPr>
          <a:xfrm>
            <a:off x="5150998" y="2011680"/>
            <a:ext cx="1889699" cy="4023360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346"/>
          <p:cNvSpPr/>
          <p:nvPr/>
        </p:nvSpPr>
        <p:spPr>
          <a:xfrm>
            <a:off x="619944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347"/>
          <p:cNvSpPr/>
          <p:nvPr/>
        </p:nvSpPr>
        <p:spPr>
          <a:xfrm>
            <a:off x="619944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⏚</a:t>
            </a:r>
            <a:endParaRPr lang="ar-SA" sz="2200" dirty="0"/>
          </a:p>
        </p:txBody>
      </p:sp>
      <p:sp>
        <p:nvSpPr>
          <p:cNvPr id="18" name="anim-g3-348"/>
          <p:cNvSpPr/>
          <p:nvPr/>
        </p:nvSpPr>
        <p:spPr>
          <a:xfrm>
            <a:off x="5425318" y="2944368"/>
            <a:ext cx="13410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GND مشترك</a:t>
            </a:r>
            <a:endParaRPr lang="ar-SA" sz="2200" dirty="0"/>
          </a:p>
        </p:txBody>
      </p:sp>
      <p:sp>
        <p:nvSpPr>
          <p:cNvPr id="19" name="anim-g3-349"/>
          <p:cNvSpPr/>
          <p:nvPr/>
        </p:nvSpPr>
        <p:spPr>
          <a:xfrm>
            <a:off x="5425318" y="3493008"/>
            <a:ext cx="1341059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البطارية والدرايفر واللوحة</a:t>
            </a:r>
            <a:endParaRPr lang="ar-SA" sz="1900" dirty="0"/>
          </a:p>
        </p:txBody>
      </p:sp>
      <p:sp>
        <p:nvSpPr>
          <p:cNvPr id="20" name="anim-g4-350"/>
          <p:cNvSpPr/>
          <p:nvPr/>
        </p:nvSpPr>
        <p:spPr>
          <a:xfrm>
            <a:off x="2986979" y="2011680"/>
            <a:ext cx="1889699" cy="4023360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351"/>
          <p:cNvSpPr/>
          <p:nvPr/>
        </p:nvSpPr>
        <p:spPr>
          <a:xfrm>
            <a:off x="403543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352"/>
          <p:cNvSpPr/>
          <p:nvPr/>
        </p:nvSpPr>
        <p:spPr>
          <a:xfrm>
            <a:off x="403543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👀</a:t>
            </a:r>
            <a:endParaRPr lang="ar-SA" sz="2200" dirty="0"/>
          </a:p>
        </p:txBody>
      </p:sp>
      <p:sp>
        <p:nvSpPr>
          <p:cNvPr id="23" name="anim-g4-353"/>
          <p:cNvSpPr/>
          <p:nvPr/>
        </p:nvSpPr>
        <p:spPr>
          <a:xfrm>
            <a:off x="3261299" y="2944368"/>
            <a:ext cx="13410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افحص مرتين</a:t>
            </a:r>
            <a:endParaRPr lang="ar-SA" sz="2200" dirty="0"/>
          </a:p>
        </p:txBody>
      </p:sp>
      <p:sp>
        <p:nvSpPr>
          <p:cNvPr id="24" name="anim-g4-354"/>
          <p:cNvSpPr/>
          <p:nvPr/>
        </p:nvSpPr>
        <p:spPr>
          <a:xfrm>
            <a:off x="3261299" y="3493008"/>
            <a:ext cx="1341059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قبل أول تشغيل</a:t>
            </a:r>
            <a:endParaRPr lang="ar-SA" sz="1900" dirty="0"/>
          </a:p>
        </p:txBody>
      </p:sp>
      <p:sp>
        <p:nvSpPr>
          <p:cNvPr id="25" name="anim-g5-355"/>
          <p:cNvSpPr/>
          <p:nvPr/>
        </p:nvSpPr>
        <p:spPr>
          <a:xfrm>
            <a:off x="822960" y="2011680"/>
            <a:ext cx="1889699" cy="4023360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6" name="anim-g5-356"/>
          <p:cNvSpPr/>
          <p:nvPr/>
        </p:nvSpPr>
        <p:spPr>
          <a:xfrm>
            <a:off x="1871411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7" name="anim-g5-357"/>
          <p:cNvSpPr/>
          <p:nvPr/>
        </p:nvSpPr>
        <p:spPr>
          <a:xfrm>
            <a:off x="1871411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🛞</a:t>
            </a:r>
            <a:endParaRPr lang="ar-SA" sz="2200" dirty="0"/>
          </a:p>
        </p:txBody>
      </p:sp>
      <p:sp>
        <p:nvSpPr>
          <p:cNvPr id="28" name="anim-g5-358"/>
          <p:cNvSpPr/>
          <p:nvPr/>
        </p:nvSpPr>
        <p:spPr>
          <a:xfrm>
            <a:off x="1097280" y="2944368"/>
            <a:ext cx="13410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العجلات مرفوعة</a:t>
            </a:r>
            <a:endParaRPr lang="ar-SA" sz="2200" dirty="0"/>
          </a:p>
        </p:txBody>
      </p:sp>
      <p:sp>
        <p:nvSpPr>
          <p:cNvPr id="29" name="anim-g5-359"/>
          <p:cNvSpPr/>
          <p:nvPr/>
        </p:nvSpPr>
        <p:spPr>
          <a:xfrm>
            <a:off x="1097280" y="3493008"/>
            <a:ext cx="1341059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أول اختبار</a:t>
            </a:r>
            <a:endParaRPr lang="ar-SA" sz="1900" dirty="0"/>
          </a:p>
        </p:txBody>
      </p:sp>
      <p:sp>
        <p:nvSpPr>
          <p:cNvPr id="30" name="Text 2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الطاقة والتركيب  ·  ٢٧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28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360" descr="C:\Users\user\projects\younes-training\esp32-3\.pptx-cache\s28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361" descr="C:\Users\user\projects\younes-training\esp32-3\.pptx-cache\s28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362" descr="C:\Users\user\projects\younes-training\esp32-3\.pptx-cache\s28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363" descr="C:\Users\user\projects\younes-training\esp32-3\.pptx-cache\s28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364" descr="C:\Users\user\projects\younes-training\esp32-3\.pptx-cache\s28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365" descr="C:\Users\user\projects\younes-training\esp32-3\.pptx-cache\s28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anim-g7-366" descr="C:\Users\user\projects\younes-training\esp32-3\.pptx-cache\s28-7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0" name="anim-g8-367" descr="C:\Users\user\projects\younes-training\esp32-3\.pptx-cache\s28-8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96351" y="457200"/>
            <a:ext cx="307238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296351" y="45720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الجسران الصغيران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ثلاثة جسور على L298N… ماذا نفعل بكل واحد؟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9008434" y="1874520"/>
            <a:ext cx="2360302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9008434" y="1874520"/>
            <a:ext cx="23603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الجسر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4178103" y="1874520"/>
            <a:ext cx="4720603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4178103" y="1874520"/>
            <a:ext cx="47206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ماذا يفعل؟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3245415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3245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قرارنا</a:t>
            </a:r>
            <a:endParaRPr lang="ar-SA" sz="1900" dirty="0"/>
          </a:p>
        </p:txBody>
      </p:sp>
      <p:sp>
        <p:nvSpPr>
          <p:cNvPr id="11" name="anim-g1-368"/>
          <p:cNvSpPr/>
          <p:nvPr/>
        </p:nvSpPr>
        <p:spPr>
          <a:xfrm>
            <a:off x="9008434" y="2514600"/>
            <a:ext cx="2360302" cy="1100328"/>
          </a:xfrm>
          <a:prstGeom prst="roundRect">
            <a:avLst>
              <a:gd name="adj" fmla="val 9972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369"/>
          <p:cNvSpPr/>
          <p:nvPr/>
        </p:nvSpPr>
        <p:spPr>
          <a:xfrm>
            <a:off x="9145594" y="2514600"/>
            <a:ext cx="2085982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ENA</a:t>
            </a:r>
            <a:endParaRPr lang="ar-SA" sz="2100" dirty="0"/>
          </a:p>
        </p:txBody>
      </p:sp>
      <p:sp>
        <p:nvSpPr>
          <p:cNvPr id="13" name="anim-g1-370"/>
          <p:cNvSpPr/>
          <p:nvPr/>
        </p:nvSpPr>
        <p:spPr>
          <a:xfrm>
            <a:off x="4178103" y="2514600"/>
            <a:ext cx="4720603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371"/>
          <p:cNvSpPr/>
          <p:nvPr/>
        </p:nvSpPr>
        <p:spPr>
          <a:xfrm>
            <a:off x="4315263" y="2514600"/>
            <a:ext cx="4446283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يوصل ENA بـ ٥ فولت = سرعة قصوى دائمًا</a:t>
            </a:r>
            <a:endParaRPr lang="ar-SA" sz="2100" dirty="0"/>
          </a:p>
        </p:txBody>
      </p:sp>
      <p:sp>
        <p:nvSpPr>
          <p:cNvPr id="15" name="anim-g1-372"/>
          <p:cNvSpPr/>
          <p:nvPr/>
        </p:nvSpPr>
        <p:spPr>
          <a:xfrm>
            <a:off x="822960" y="2514600"/>
            <a:ext cx="3245415" cy="1100328"/>
          </a:xfrm>
          <a:prstGeom prst="roundRect">
            <a:avLst>
              <a:gd name="adj" fmla="val 9972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373"/>
          <p:cNvSpPr/>
          <p:nvPr/>
        </p:nvSpPr>
        <p:spPr>
          <a:xfrm>
            <a:off x="960120" y="2514600"/>
            <a:ext cx="2971095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🗑️ انزعه ← ENA إلى 14</a:t>
            </a:r>
            <a:endParaRPr lang="ar-SA" sz="2100" dirty="0"/>
          </a:p>
        </p:txBody>
      </p:sp>
      <p:sp>
        <p:nvSpPr>
          <p:cNvPr id="17" name="anim-g2-374"/>
          <p:cNvSpPr/>
          <p:nvPr/>
        </p:nvSpPr>
        <p:spPr>
          <a:xfrm>
            <a:off x="9008434" y="3724656"/>
            <a:ext cx="2360302" cy="1100328"/>
          </a:xfrm>
          <a:prstGeom prst="roundRect">
            <a:avLst>
              <a:gd name="adj" fmla="val 9972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375"/>
          <p:cNvSpPr/>
          <p:nvPr/>
        </p:nvSpPr>
        <p:spPr>
          <a:xfrm>
            <a:off x="9145594" y="3724656"/>
            <a:ext cx="2085982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ENB</a:t>
            </a:r>
            <a:endParaRPr lang="ar-SA" sz="2100" dirty="0"/>
          </a:p>
        </p:txBody>
      </p:sp>
      <p:sp>
        <p:nvSpPr>
          <p:cNvPr id="19" name="anim-g2-376"/>
          <p:cNvSpPr/>
          <p:nvPr/>
        </p:nvSpPr>
        <p:spPr>
          <a:xfrm>
            <a:off x="4178103" y="3724656"/>
            <a:ext cx="4720603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377"/>
          <p:cNvSpPr/>
          <p:nvPr/>
        </p:nvSpPr>
        <p:spPr>
          <a:xfrm>
            <a:off x="4315263" y="3724656"/>
            <a:ext cx="4446283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مثله للمحرك الثاني</a:t>
            </a:r>
            <a:endParaRPr lang="ar-SA" sz="2100" dirty="0"/>
          </a:p>
        </p:txBody>
      </p:sp>
      <p:sp>
        <p:nvSpPr>
          <p:cNvPr id="21" name="anim-g2-378"/>
          <p:cNvSpPr/>
          <p:nvPr/>
        </p:nvSpPr>
        <p:spPr>
          <a:xfrm>
            <a:off x="822960" y="3724656"/>
            <a:ext cx="3245415" cy="1100328"/>
          </a:xfrm>
          <a:prstGeom prst="roundRect">
            <a:avLst>
              <a:gd name="adj" fmla="val 9972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379"/>
          <p:cNvSpPr/>
          <p:nvPr/>
        </p:nvSpPr>
        <p:spPr>
          <a:xfrm>
            <a:off x="960120" y="3724656"/>
            <a:ext cx="2971095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🗑️ انزعه ← ENB إلى 32</a:t>
            </a:r>
            <a:endParaRPr lang="ar-SA" sz="2100" dirty="0"/>
          </a:p>
        </p:txBody>
      </p:sp>
      <p:sp>
        <p:nvSpPr>
          <p:cNvPr id="23" name="anim-g3-380"/>
          <p:cNvSpPr/>
          <p:nvPr/>
        </p:nvSpPr>
        <p:spPr>
          <a:xfrm>
            <a:off x="9008434" y="4934712"/>
            <a:ext cx="2360302" cy="1100328"/>
          </a:xfrm>
          <a:prstGeom prst="roundRect">
            <a:avLst>
              <a:gd name="adj" fmla="val 9972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381"/>
          <p:cNvSpPr/>
          <p:nvPr/>
        </p:nvSpPr>
        <p:spPr>
          <a:xfrm>
            <a:off x="9145594" y="4934712"/>
            <a:ext cx="2085982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5V-EN</a:t>
            </a:r>
            <a:endParaRPr lang="ar-SA" sz="2100" dirty="0"/>
          </a:p>
        </p:txBody>
      </p:sp>
      <p:sp>
        <p:nvSpPr>
          <p:cNvPr id="25" name="anim-g3-382"/>
          <p:cNvSpPr/>
          <p:nvPr/>
        </p:nvSpPr>
        <p:spPr>
          <a:xfrm>
            <a:off x="4178103" y="4934712"/>
            <a:ext cx="4720603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383"/>
          <p:cNvSpPr/>
          <p:nvPr/>
        </p:nvSpPr>
        <p:spPr>
          <a:xfrm>
            <a:off x="4315263" y="4934712"/>
            <a:ext cx="4446283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يشغّل منظّم ٥ فولت الداخلي</a:t>
            </a:r>
            <a:endParaRPr lang="ar-SA" sz="2100" dirty="0"/>
          </a:p>
        </p:txBody>
      </p:sp>
      <p:sp>
        <p:nvSpPr>
          <p:cNvPr id="27" name="anim-g3-384"/>
          <p:cNvSpPr/>
          <p:nvPr/>
        </p:nvSpPr>
        <p:spPr>
          <a:xfrm>
            <a:off x="822960" y="4934712"/>
            <a:ext cx="3245415" cy="1100328"/>
          </a:xfrm>
          <a:prstGeom prst="roundRect">
            <a:avLst>
              <a:gd name="adj" fmla="val 9972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385"/>
          <p:cNvSpPr/>
          <p:nvPr/>
        </p:nvSpPr>
        <p:spPr>
          <a:xfrm>
            <a:off x="960120" y="4934712"/>
            <a:ext cx="2971095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اتركه (البطارية ≤ ١٢ فولت)</a:t>
            </a:r>
            <a:endParaRPr lang="ar-SA" sz="2100" dirty="0"/>
          </a:p>
        </p:txBody>
      </p:sp>
      <p:sp>
        <p:nvSpPr>
          <p:cNvPr id="29" name="Text 27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الطاقة والتركيب  ·  ٢٩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30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386" descr="C:\Users\user\projects\younes-training\esp32-3\.pptx-cache\s30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387" descr="C:\Users\user\projects\younes-training\esp32-3\.pptx-cache\s30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388" descr="C:\Users\user\projects\younes-training\esp32-3\.pptx-cache\s30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389" descr="C:\Users\user\projects\younes-training\esp32-3\.pptx-cache\s30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390" descr="C:\Users\user\projects\younes-training\esp32-3\.pptx-cache\s30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جدول التشخيص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العجلة لا تفعل ما هو مكتوب؟</a:t>
            </a:r>
            <a:endParaRPr lang="ar-SA" sz="3800" dirty="0"/>
          </a:p>
        </p:txBody>
      </p:sp>
      <p:sp>
        <p:nvSpPr>
          <p:cNvPr id="5" name="anim-g1-391"/>
          <p:cNvSpPr/>
          <p:nvPr/>
        </p:nvSpPr>
        <p:spPr>
          <a:xfrm>
            <a:off x="6233008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392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393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🔁</a:t>
            </a:r>
            <a:endParaRPr lang="ar-SA" sz="2200" dirty="0"/>
          </a:p>
        </p:txBody>
      </p:sp>
      <p:sp>
        <p:nvSpPr>
          <p:cNvPr id="8" name="anim-g1-394"/>
          <p:cNvSpPr/>
          <p:nvPr/>
        </p:nvSpPr>
        <p:spPr>
          <a:xfrm>
            <a:off x="6507328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تدور عكس المكتوب</a:t>
            </a:r>
            <a:endParaRPr lang="ar-SA" sz="2200" dirty="0"/>
          </a:p>
        </p:txBody>
      </p:sp>
      <p:sp>
        <p:nvSpPr>
          <p:cNvPr id="9" name="anim-g1-395"/>
          <p:cNvSpPr/>
          <p:nvPr/>
        </p:nvSpPr>
        <p:spPr>
          <a:xfrm>
            <a:off x="6507328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بدّل سلكي ذلك المحرك على OUT. (أو بدّل IN1 وIN2 في الكود)</a:t>
            </a:r>
            <a:endParaRPr lang="ar-SA" sz="1900" dirty="0"/>
          </a:p>
        </p:txBody>
      </p:sp>
      <p:sp>
        <p:nvSpPr>
          <p:cNvPr id="10" name="anim-g2-396"/>
          <p:cNvSpPr/>
          <p:nvPr/>
        </p:nvSpPr>
        <p:spPr>
          <a:xfrm>
            <a:off x="822960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397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398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😴</a:t>
            </a:r>
            <a:endParaRPr lang="ar-SA" sz="2200" dirty="0"/>
          </a:p>
        </p:txBody>
      </p:sp>
      <p:sp>
        <p:nvSpPr>
          <p:cNvPr id="13" name="anim-g2-399"/>
          <p:cNvSpPr/>
          <p:nvPr/>
        </p:nvSpPr>
        <p:spPr>
          <a:xfrm>
            <a:off x="1097280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لا تدور إطلاقًا</a:t>
            </a:r>
            <a:endParaRPr lang="ar-SA" sz="2200" dirty="0"/>
          </a:p>
        </p:txBody>
      </p:sp>
      <p:sp>
        <p:nvSpPr>
          <p:cNvPr id="14" name="anim-g2-400"/>
          <p:cNvSpPr/>
          <p:nvPr/>
        </p:nvSpPr>
        <p:spPr>
          <a:xfrm>
            <a:off x="1097280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جسر ENA؟ GND المشترك؟ البطارية مشحونة؟ المفتاح؟</a:t>
            </a:r>
            <a:endParaRPr lang="ar-SA" sz="1900" dirty="0"/>
          </a:p>
        </p:txBody>
      </p:sp>
      <p:sp>
        <p:nvSpPr>
          <p:cNvPr id="15" name="anim-g3-401"/>
          <p:cNvSpPr/>
          <p:nvPr/>
        </p:nvSpPr>
        <p:spPr>
          <a:xfrm>
            <a:off x="6233008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402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403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↔️</a:t>
            </a:r>
            <a:endParaRPr lang="ar-SA" sz="2200" dirty="0"/>
          </a:p>
        </p:txBody>
      </p:sp>
      <p:sp>
        <p:nvSpPr>
          <p:cNvPr id="18" name="anim-g3-404"/>
          <p:cNvSpPr/>
          <p:nvPr/>
        </p:nvSpPr>
        <p:spPr>
          <a:xfrm>
            <a:off x="6507328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العجلة الخطأ تدور</a:t>
            </a:r>
            <a:endParaRPr lang="ar-SA" sz="2200" dirty="0"/>
          </a:p>
        </p:txBody>
      </p:sp>
      <p:sp>
        <p:nvSpPr>
          <p:cNvPr id="19" name="anim-g3-405"/>
          <p:cNvSpPr/>
          <p:nvPr/>
        </p:nvSpPr>
        <p:spPr>
          <a:xfrm>
            <a:off x="6507328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المحركان مبدّلان: انقل الأسلاك بين OUT1·2 وOUT3·4</a:t>
            </a:r>
            <a:endParaRPr lang="ar-SA" sz="1900" dirty="0"/>
          </a:p>
        </p:txBody>
      </p:sp>
      <p:sp>
        <p:nvSpPr>
          <p:cNvPr id="20" name="anim-g4-406"/>
          <p:cNvSpPr/>
          <p:nvPr/>
        </p:nvSpPr>
        <p:spPr>
          <a:xfrm>
            <a:off x="822960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407"/>
          <p:cNvSpPr/>
          <p:nvPr/>
        </p:nvSpPr>
        <p:spPr>
          <a:xfrm>
            <a:off x="511744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408"/>
          <p:cNvSpPr/>
          <p:nvPr/>
        </p:nvSpPr>
        <p:spPr>
          <a:xfrm>
            <a:off x="511744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🔄</a:t>
            </a:r>
            <a:endParaRPr lang="ar-SA" sz="2200" dirty="0"/>
          </a:p>
        </p:txBody>
      </p:sp>
      <p:sp>
        <p:nvSpPr>
          <p:cNvPr id="23" name="anim-g4-409"/>
          <p:cNvSpPr/>
          <p:nvPr/>
        </p:nvSpPr>
        <p:spPr>
          <a:xfrm>
            <a:off x="1097280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اللوحة تعيد التشغيل</a:t>
            </a:r>
            <a:endParaRPr lang="ar-SA" sz="2200" dirty="0"/>
          </a:p>
        </p:txBody>
      </p:sp>
      <p:sp>
        <p:nvSpPr>
          <p:cNvPr id="24" name="anim-g4-410"/>
          <p:cNvSpPr/>
          <p:nvPr/>
        </p:nvSpPr>
        <p:spPr>
          <a:xfrm>
            <a:off x="1097280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Brownout: اشحن البطارية أو اختبر بسرعة أقل</a:t>
            </a:r>
            <a:endParaRPr lang="ar-SA" sz="19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الطاقة والتركيب  ·  ٣١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32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411" descr="C:\Users\user\projects\younes-training\esp32-3\.pptx-cache\s32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412" descr="C:\Users\user\projects\younes-training\esp32-3\.pptx-cache\s32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413" descr="C:\Users\user\projects\younes-training\esp32-3\.pptx-cache\s32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414" descr="C:\Users\user\projects\younes-training\esp32-3\.pptx-cache\s32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بطارية ٧٫٤ فولت عبر L298N… كم يصل للمحرك تقريبًا؟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٧٫٤ فولت</a:t>
            </a:r>
            <a:endParaRPr lang="ar-SA" sz="2200" dirty="0"/>
          </a:p>
        </p:txBody>
      </p:sp>
      <p:sp>
        <p:nvSpPr>
          <p:cNvPr id="9" name="anim-g1-415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416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417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418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٧٫٤ فولت</a:t>
            </a:r>
            <a:endParaRPr lang="ar-SA" sz="2200" dirty="0"/>
          </a:p>
        </p:txBody>
      </p:sp>
      <p:sp>
        <p:nvSpPr>
          <p:cNvPr id="13" name="anim-g1-419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الدرايفر ليس سلكًا: يخسر جزءًا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١٢ فولت</a:t>
            </a:r>
            <a:endParaRPr lang="ar-SA" sz="2200" dirty="0"/>
          </a:p>
        </p:txBody>
      </p:sp>
      <p:sp>
        <p:nvSpPr>
          <p:cNvPr id="18" name="anim-g1-420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421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0" name="anim-g1-422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21" name="anim-g1-423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١٢ فولت</a:t>
            </a:r>
            <a:endParaRPr lang="ar-SA" sz="2200" dirty="0"/>
          </a:p>
        </p:txBody>
      </p:sp>
      <p:sp>
        <p:nvSpPr>
          <p:cNvPr id="22" name="anim-g1-424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يرفع الجهد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نحو ٥٫٤ فولت</a:t>
            </a:r>
            <a:endParaRPr lang="ar-SA" sz="2200" dirty="0"/>
          </a:p>
        </p:txBody>
      </p:sp>
      <p:sp>
        <p:nvSpPr>
          <p:cNvPr id="27" name="anim-g1-425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28" name="anim-g1-426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9" name="anim-g1-427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30" name="anim-g1-428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نحو ٥٫٤ فولت</a:t>
            </a:r>
            <a:endParaRPr lang="ar-SA" sz="2200" dirty="0"/>
          </a:p>
        </p:txBody>
      </p:sp>
      <p:sp>
        <p:nvSpPr>
          <p:cNvPr id="31" name="anim-g1-429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نحو ٢ فولت تضيع حرارة في L298N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٣٫٣ فولت</a:t>
            </a:r>
            <a:endParaRPr lang="ar-SA" sz="2200" dirty="0"/>
          </a:p>
        </p:txBody>
      </p:sp>
      <p:sp>
        <p:nvSpPr>
          <p:cNvPr id="36" name="anim-g1-4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4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4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433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٣٫٣ فولت</a:t>
            </a:r>
            <a:endParaRPr lang="ar-SA" sz="2200" dirty="0"/>
          </a:p>
        </p:txBody>
      </p:sp>
      <p:sp>
        <p:nvSpPr>
          <p:cNvPr id="40" name="anim-g1-434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جهد ESP32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الطاقة والتركيب  ·  ٣٣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بطارية ← مفتاح ← درايفر ← محركات + منظّم ← ESP32…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وفحص قبل أي حركة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الطاقة والتركيب  ·  ٣٦</a:t>
            </a:r>
            <a:endParaRPr lang="ar-SA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٣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🤖١ السيارة العادية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عجلتان بلا مقود… كيف تستدير؟ وكيف ترسم مربعًا؟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🤖١ الحركة بالكود  ·  ٣٧</a:t>
            </a:r>
            <a:endParaRPr lang="ar-SA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435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436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437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438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تشرح الدفع التفاضلي: الاستدارة بفرق السرعة</a:t>
            </a:r>
            <a:endParaRPr lang="ar-SA" sz="2400" dirty="0"/>
          </a:p>
        </p:txBody>
      </p:sp>
      <p:sp>
        <p:nvSpPr>
          <p:cNvPr id="9" name="anim-g2-439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440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441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442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تكتب دالة motors(l, r) واحدة لكل الحركات</a:t>
            </a:r>
            <a:endParaRPr lang="ar-SA" sz="2400" dirty="0"/>
          </a:p>
        </p:txBody>
      </p:sp>
      <p:sp>
        <p:nvSpPr>
          <p:cNvPr id="13" name="anim-g3-443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444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445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446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تبرمج مسارًا: مربعًا بأربعة أضلاع</a:t>
            </a:r>
            <a:endParaRPr lang="ar-SA" sz="2400" dirty="0"/>
          </a:p>
        </p:txBody>
      </p:sp>
      <p:sp>
        <p:nvSpPr>
          <p:cNvPr id="17" name="anim-g4-447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448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449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450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تعاير سيارتك: زمن الاستدارة وانحراف المحركين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🤖١ الحركة بالكود  ·  ٣٨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جدول الحركات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motors(l, r): رقمان فقط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530793" y="1874520"/>
            <a:ext cx="2837942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530793" y="1874520"/>
            <a:ext cx="28379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الحركة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7002094" y="1874520"/>
            <a:ext cx="1418971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7002094" y="1874520"/>
            <a:ext cx="14189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l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5473395" y="1874520"/>
            <a:ext cx="1418971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5473395" y="1874520"/>
            <a:ext cx="14189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r</a:t>
            </a:r>
            <a:endParaRPr lang="ar-SA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1874520"/>
            <a:ext cx="4540707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74520"/>
            <a:ext cx="45407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ماذا يحدث؟</a:t>
            </a:r>
            <a:endParaRPr lang="ar-SA" sz="1900" dirty="0"/>
          </a:p>
        </p:txBody>
      </p:sp>
      <p:sp>
        <p:nvSpPr>
          <p:cNvPr id="13" name="anim-g1-451"/>
          <p:cNvSpPr/>
          <p:nvPr/>
        </p:nvSpPr>
        <p:spPr>
          <a:xfrm>
            <a:off x="8530793" y="2514600"/>
            <a:ext cx="2837942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4" name="anim-g1-452"/>
          <p:cNvSpPr/>
          <p:nvPr/>
        </p:nvSpPr>
        <p:spPr>
          <a:xfrm>
            <a:off x="8667953" y="2514600"/>
            <a:ext cx="25636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⬆️ للأمام</a:t>
            </a:r>
            <a:endParaRPr lang="ar-SA" sz="2100" dirty="0"/>
          </a:p>
        </p:txBody>
      </p:sp>
      <p:sp>
        <p:nvSpPr>
          <p:cNvPr id="15" name="anim-g1-453"/>
          <p:cNvSpPr/>
          <p:nvPr/>
        </p:nvSpPr>
        <p:spPr>
          <a:xfrm>
            <a:off x="7002094" y="2514600"/>
            <a:ext cx="1418971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6" name="anim-g1-454"/>
          <p:cNvSpPr/>
          <p:nvPr/>
        </p:nvSpPr>
        <p:spPr>
          <a:xfrm>
            <a:off x="7139254" y="2514600"/>
            <a:ext cx="11446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200</a:t>
            </a:r>
            <a:endParaRPr lang="ar-SA" sz="2100" dirty="0"/>
          </a:p>
        </p:txBody>
      </p:sp>
      <p:sp>
        <p:nvSpPr>
          <p:cNvPr id="17" name="anim-g1-455"/>
          <p:cNvSpPr/>
          <p:nvPr/>
        </p:nvSpPr>
        <p:spPr>
          <a:xfrm>
            <a:off x="5473395" y="2514600"/>
            <a:ext cx="1418971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1-456"/>
          <p:cNvSpPr/>
          <p:nvPr/>
        </p:nvSpPr>
        <p:spPr>
          <a:xfrm>
            <a:off x="5610555" y="2514600"/>
            <a:ext cx="11446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200</a:t>
            </a:r>
            <a:endParaRPr lang="ar-SA" sz="2100" dirty="0"/>
          </a:p>
        </p:txBody>
      </p:sp>
      <p:sp>
        <p:nvSpPr>
          <p:cNvPr id="19" name="anim-g1-457"/>
          <p:cNvSpPr/>
          <p:nvPr/>
        </p:nvSpPr>
        <p:spPr>
          <a:xfrm>
            <a:off x="822960" y="2514600"/>
            <a:ext cx="4540707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0" name="anim-g1-458"/>
          <p:cNvSpPr/>
          <p:nvPr/>
        </p:nvSpPr>
        <p:spPr>
          <a:xfrm>
            <a:off x="960120" y="2514600"/>
            <a:ext cx="42663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العجلتان معًا</a:t>
            </a:r>
            <a:endParaRPr lang="ar-SA" sz="2100" dirty="0"/>
          </a:p>
        </p:txBody>
      </p:sp>
      <p:sp>
        <p:nvSpPr>
          <p:cNvPr id="21" name="anim-g2-459"/>
          <p:cNvSpPr/>
          <p:nvPr/>
        </p:nvSpPr>
        <p:spPr>
          <a:xfrm>
            <a:off x="8530793" y="3119628"/>
            <a:ext cx="2837942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2" name="anim-g2-460"/>
          <p:cNvSpPr/>
          <p:nvPr/>
        </p:nvSpPr>
        <p:spPr>
          <a:xfrm>
            <a:off x="8667953" y="3119628"/>
            <a:ext cx="25636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⬇️ للخلف</a:t>
            </a:r>
            <a:endParaRPr lang="ar-SA" sz="2100" dirty="0"/>
          </a:p>
        </p:txBody>
      </p:sp>
      <p:sp>
        <p:nvSpPr>
          <p:cNvPr id="23" name="anim-g2-461"/>
          <p:cNvSpPr/>
          <p:nvPr/>
        </p:nvSpPr>
        <p:spPr>
          <a:xfrm>
            <a:off x="7002094" y="3119628"/>
            <a:ext cx="1418971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4" name="anim-g2-462"/>
          <p:cNvSpPr/>
          <p:nvPr/>
        </p:nvSpPr>
        <p:spPr>
          <a:xfrm>
            <a:off x="7139254" y="3119628"/>
            <a:ext cx="11446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−200</a:t>
            </a:r>
            <a:endParaRPr lang="ar-SA" sz="2100" dirty="0"/>
          </a:p>
        </p:txBody>
      </p:sp>
      <p:sp>
        <p:nvSpPr>
          <p:cNvPr id="25" name="anim-g2-463"/>
          <p:cNvSpPr/>
          <p:nvPr/>
        </p:nvSpPr>
        <p:spPr>
          <a:xfrm>
            <a:off x="5473395" y="3119628"/>
            <a:ext cx="1418971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2-464"/>
          <p:cNvSpPr/>
          <p:nvPr/>
        </p:nvSpPr>
        <p:spPr>
          <a:xfrm>
            <a:off x="5610555" y="3119628"/>
            <a:ext cx="11446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−200</a:t>
            </a:r>
            <a:endParaRPr lang="ar-SA" sz="2100" dirty="0"/>
          </a:p>
        </p:txBody>
      </p:sp>
      <p:sp>
        <p:nvSpPr>
          <p:cNvPr id="27" name="anim-g2-465"/>
          <p:cNvSpPr/>
          <p:nvPr/>
        </p:nvSpPr>
        <p:spPr>
          <a:xfrm>
            <a:off x="822960" y="3119628"/>
            <a:ext cx="4540707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2-466"/>
          <p:cNvSpPr/>
          <p:nvPr/>
        </p:nvSpPr>
        <p:spPr>
          <a:xfrm>
            <a:off x="960120" y="3119628"/>
            <a:ext cx="42663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إشارة سالبة = عكس الاتجاه</a:t>
            </a:r>
            <a:endParaRPr lang="ar-SA" sz="2100" dirty="0"/>
          </a:p>
        </p:txBody>
      </p:sp>
      <p:sp>
        <p:nvSpPr>
          <p:cNvPr id="29" name="anim-g3-467"/>
          <p:cNvSpPr/>
          <p:nvPr/>
        </p:nvSpPr>
        <p:spPr>
          <a:xfrm>
            <a:off x="8530793" y="3724656"/>
            <a:ext cx="2837942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3-468"/>
          <p:cNvSpPr/>
          <p:nvPr/>
        </p:nvSpPr>
        <p:spPr>
          <a:xfrm>
            <a:off x="8667953" y="3724656"/>
            <a:ext cx="25636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↻ في المكان يمينًا</a:t>
            </a:r>
            <a:endParaRPr lang="ar-SA" sz="2100" dirty="0"/>
          </a:p>
        </p:txBody>
      </p:sp>
      <p:sp>
        <p:nvSpPr>
          <p:cNvPr id="31" name="anim-g3-469"/>
          <p:cNvSpPr/>
          <p:nvPr/>
        </p:nvSpPr>
        <p:spPr>
          <a:xfrm>
            <a:off x="7002094" y="3724656"/>
            <a:ext cx="1418971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3-470"/>
          <p:cNvSpPr/>
          <p:nvPr/>
        </p:nvSpPr>
        <p:spPr>
          <a:xfrm>
            <a:off x="7139254" y="3724656"/>
            <a:ext cx="11446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200</a:t>
            </a:r>
            <a:endParaRPr lang="ar-SA" sz="2100" dirty="0"/>
          </a:p>
        </p:txBody>
      </p:sp>
      <p:sp>
        <p:nvSpPr>
          <p:cNvPr id="33" name="anim-g3-471"/>
          <p:cNvSpPr/>
          <p:nvPr/>
        </p:nvSpPr>
        <p:spPr>
          <a:xfrm>
            <a:off x="5473395" y="3724656"/>
            <a:ext cx="1418971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4" name="anim-g3-472"/>
          <p:cNvSpPr/>
          <p:nvPr/>
        </p:nvSpPr>
        <p:spPr>
          <a:xfrm>
            <a:off x="5610555" y="3724656"/>
            <a:ext cx="11446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−200</a:t>
            </a:r>
            <a:endParaRPr lang="ar-SA" sz="2100" dirty="0"/>
          </a:p>
        </p:txBody>
      </p:sp>
      <p:sp>
        <p:nvSpPr>
          <p:cNvPr id="35" name="anim-g3-473"/>
          <p:cNvSpPr/>
          <p:nvPr/>
        </p:nvSpPr>
        <p:spPr>
          <a:xfrm>
            <a:off x="822960" y="3724656"/>
            <a:ext cx="4540707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6" name="anim-g3-474"/>
          <p:cNvSpPr/>
          <p:nvPr/>
        </p:nvSpPr>
        <p:spPr>
          <a:xfrm>
            <a:off x="960120" y="3724656"/>
            <a:ext cx="42663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عجلة للأمام وأخرى للخلف</a:t>
            </a:r>
            <a:endParaRPr lang="ar-SA" sz="2100" dirty="0"/>
          </a:p>
        </p:txBody>
      </p:sp>
      <p:sp>
        <p:nvSpPr>
          <p:cNvPr id="37" name="anim-g4-475"/>
          <p:cNvSpPr/>
          <p:nvPr/>
        </p:nvSpPr>
        <p:spPr>
          <a:xfrm>
            <a:off x="8530793" y="4329684"/>
            <a:ext cx="2837942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8" name="anim-g4-476"/>
          <p:cNvSpPr/>
          <p:nvPr/>
        </p:nvSpPr>
        <p:spPr>
          <a:xfrm>
            <a:off x="8667953" y="4329684"/>
            <a:ext cx="25636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↪ منعطف واسع</a:t>
            </a:r>
            <a:endParaRPr lang="ar-SA" sz="2100" dirty="0"/>
          </a:p>
        </p:txBody>
      </p:sp>
      <p:sp>
        <p:nvSpPr>
          <p:cNvPr id="39" name="anim-g4-477"/>
          <p:cNvSpPr/>
          <p:nvPr/>
        </p:nvSpPr>
        <p:spPr>
          <a:xfrm>
            <a:off x="7002094" y="4329684"/>
            <a:ext cx="1418971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0" name="anim-g4-478"/>
          <p:cNvSpPr/>
          <p:nvPr/>
        </p:nvSpPr>
        <p:spPr>
          <a:xfrm>
            <a:off x="7139254" y="4329684"/>
            <a:ext cx="11446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200</a:t>
            </a:r>
            <a:endParaRPr lang="ar-SA" sz="2100" dirty="0"/>
          </a:p>
        </p:txBody>
      </p:sp>
      <p:sp>
        <p:nvSpPr>
          <p:cNvPr id="41" name="anim-g4-479"/>
          <p:cNvSpPr/>
          <p:nvPr/>
        </p:nvSpPr>
        <p:spPr>
          <a:xfrm>
            <a:off x="5473395" y="4329684"/>
            <a:ext cx="1418971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2" name="anim-g4-480"/>
          <p:cNvSpPr/>
          <p:nvPr/>
        </p:nvSpPr>
        <p:spPr>
          <a:xfrm>
            <a:off x="5610555" y="4329684"/>
            <a:ext cx="11446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110</a:t>
            </a:r>
            <a:endParaRPr lang="ar-SA" sz="2100" dirty="0"/>
          </a:p>
        </p:txBody>
      </p:sp>
      <p:sp>
        <p:nvSpPr>
          <p:cNvPr id="43" name="anim-g4-481"/>
          <p:cNvSpPr/>
          <p:nvPr/>
        </p:nvSpPr>
        <p:spPr>
          <a:xfrm>
            <a:off x="822960" y="4329684"/>
            <a:ext cx="4540707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4" name="anim-g4-482"/>
          <p:cNvSpPr/>
          <p:nvPr/>
        </p:nvSpPr>
        <p:spPr>
          <a:xfrm>
            <a:off x="960120" y="4329684"/>
            <a:ext cx="42663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الأبطأ هي الداخلية</a:t>
            </a:r>
            <a:endParaRPr lang="ar-SA" sz="2100" dirty="0"/>
          </a:p>
        </p:txBody>
      </p:sp>
      <p:sp>
        <p:nvSpPr>
          <p:cNvPr id="45" name="anim-g5-483"/>
          <p:cNvSpPr/>
          <p:nvPr/>
        </p:nvSpPr>
        <p:spPr>
          <a:xfrm>
            <a:off x="8530793" y="4934712"/>
            <a:ext cx="2837942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46" name="anim-g5-484"/>
          <p:cNvSpPr/>
          <p:nvPr/>
        </p:nvSpPr>
        <p:spPr>
          <a:xfrm>
            <a:off x="8667953" y="4934712"/>
            <a:ext cx="25636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↩ محور على عجلة</a:t>
            </a:r>
            <a:endParaRPr lang="ar-SA" sz="2100" dirty="0"/>
          </a:p>
        </p:txBody>
      </p:sp>
      <p:sp>
        <p:nvSpPr>
          <p:cNvPr id="47" name="anim-g5-485"/>
          <p:cNvSpPr/>
          <p:nvPr/>
        </p:nvSpPr>
        <p:spPr>
          <a:xfrm>
            <a:off x="7002094" y="4934712"/>
            <a:ext cx="1418971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8" name="anim-g5-486"/>
          <p:cNvSpPr/>
          <p:nvPr/>
        </p:nvSpPr>
        <p:spPr>
          <a:xfrm>
            <a:off x="7139254" y="4934712"/>
            <a:ext cx="11446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</a:t>
            </a:r>
            <a:endParaRPr lang="ar-SA" sz="2100" dirty="0"/>
          </a:p>
        </p:txBody>
      </p:sp>
      <p:sp>
        <p:nvSpPr>
          <p:cNvPr id="49" name="anim-g5-487"/>
          <p:cNvSpPr/>
          <p:nvPr/>
        </p:nvSpPr>
        <p:spPr>
          <a:xfrm>
            <a:off x="5473395" y="4934712"/>
            <a:ext cx="1418971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0" name="anim-g5-488"/>
          <p:cNvSpPr/>
          <p:nvPr/>
        </p:nvSpPr>
        <p:spPr>
          <a:xfrm>
            <a:off x="5610555" y="4934712"/>
            <a:ext cx="11446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200</a:t>
            </a:r>
            <a:endParaRPr lang="ar-SA" sz="2100" dirty="0"/>
          </a:p>
        </p:txBody>
      </p:sp>
      <p:sp>
        <p:nvSpPr>
          <p:cNvPr id="51" name="anim-g5-489"/>
          <p:cNvSpPr/>
          <p:nvPr/>
        </p:nvSpPr>
        <p:spPr>
          <a:xfrm>
            <a:off x="822960" y="4934712"/>
            <a:ext cx="4540707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52" name="anim-g5-490"/>
          <p:cNvSpPr/>
          <p:nvPr/>
        </p:nvSpPr>
        <p:spPr>
          <a:xfrm>
            <a:off x="960120" y="4934712"/>
            <a:ext cx="42663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تدور حول العجلة الواقفة</a:t>
            </a:r>
            <a:endParaRPr lang="ar-SA" sz="2100" dirty="0"/>
          </a:p>
        </p:txBody>
      </p:sp>
      <p:sp>
        <p:nvSpPr>
          <p:cNvPr id="53" name="anim-g6-491"/>
          <p:cNvSpPr/>
          <p:nvPr/>
        </p:nvSpPr>
        <p:spPr>
          <a:xfrm>
            <a:off x="8530793" y="5539740"/>
            <a:ext cx="2837942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54" name="anim-g6-492"/>
          <p:cNvSpPr/>
          <p:nvPr/>
        </p:nvSpPr>
        <p:spPr>
          <a:xfrm>
            <a:off x="8667953" y="5539740"/>
            <a:ext cx="25636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⏹️ قف</a:t>
            </a:r>
            <a:endParaRPr lang="ar-SA" sz="2100" dirty="0"/>
          </a:p>
        </p:txBody>
      </p:sp>
      <p:sp>
        <p:nvSpPr>
          <p:cNvPr id="55" name="anim-g6-493"/>
          <p:cNvSpPr/>
          <p:nvPr/>
        </p:nvSpPr>
        <p:spPr>
          <a:xfrm>
            <a:off x="7002094" y="5539740"/>
            <a:ext cx="1418971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6" name="anim-g6-494"/>
          <p:cNvSpPr/>
          <p:nvPr/>
        </p:nvSpPr>
        <p:spPr>
          <a:xfrm>
            <a:off x="7139254" y="5539740"/>
            <a:ext cx="11446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</a:t>
            </a:r>
            <a:endParaRPr lang="ar-SA" sz="2100" dirty="0"/>
          </a:p>
        </p:txBody>
      </p:sp>
      <p:sp>
        <p:nvSpPr>
          <p:cNvPr id="57" name="anim-g6-495"/>
          <p:cNvSpPr/>
          <p:nvPr/>
        </p:nvSpPr>
        <p:spPr>
          <a:xfrm>
            <a:off x="5473395" y="5539740"/>
            <a:ext cx="1418971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8" name="anim-g6-496"/>
          <p:cNvSpPr/>
          <p:nvPr/>
        </p:nvSpPr>
        <p:spPr>
          <a:xfrm>
            <a:off x="5610555" y="5539740"/>
            <a:ext cx="11446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</a:t>
            </a:r>
            <a:endParaRPr lang="ar-SA" sz="2100" dirty="0"/>
          </a:p>
        </p:txBody>
      </p:sp>
      <p:sp>
        <p:nvSpPr>
          <p:cNvPr id="59" name="anim-g6-497"/>
          <p:cNvSpPr/>
          <p:nvPr/>
        </p:nvSpPr>
        <p:spPr>
          <a:xfrm>
            <a:off x="822960" y="5539740"/>
            <a:ext cx="4540707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60" name="anim-g6-498"/>
          <p:cNvSpPr/>
          <p:nvPr/>
        </p:nvSpPr>
        <p:spPr>
          <a:xfrm>
            <a:off x="960120" y="5539740"/>
            <a:ext cx="42663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—</a:t>
            </a:r>
            <a:endParaRPr lang="ar-SA" sz="2100" dirty="0"/>
          </a:p>
        </p:txBody>
      </p:sp>
      <p:sp>
        <p:nvSpPr>
          <p:cNvPr id="61" name="Text 5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2" name="Text 6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🤖١ الحركة بالكود  ·  ٤٠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41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499" descr="C:\Users\user\projects\younes-training\esp32-3\.pptx-cache\s41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500" descr="C:\Users\user\projects\younes-training\esp32-3\.pptx-cache\s41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501" descr="C:\Users\user\projects\younes-training\esp32-3\.pptx-cache\s41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502" descr="C:\Users\user\projects\younes-training\esp32-3\.pptx-cache\s41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503" descr="C:\Users\user\projects\younes-training\esp32-3\.pptx-cache\s41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42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504" descr="C:\Users\user\projects\younes-training\esp32-3\.pptx-cache\s42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505" descr="C:\Users\user\projects\younes-training\esp32-3\.pptx-cache\s42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506" descr="C:\Users\user\projects\younes-training\esp32-3\.pptx-cache\s42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507" descr="C:\Users\user\projects\younes-training\esp32-3\.pptx-cache\s42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508" descr="C:\Users\user\projects\younes-training\esp32-3\.pptx-cache\s42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3743" y="457200"/>
            <a:ext cx="3364992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003743" y="457200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الرياضيات الحقيقية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كم تقطع السيارة في ثانية؟</a:t>
            </a:r>
            <a:endParaRPr lang="ar-SA" sz="3800" dirty="0"/>
          </a:p>
        </p:txBody>
      </p:sp>
      <p:sp>
        <p:nvSpPr>
          <p:cNvPr id="5" name="anim-g1-509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510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511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⭕</a:t>
            </a:r>
            <a:endParaRPr lang="ar-SA" sz="2200" dirty="0"/>
          </a:p>
        </p:txBody>
      </p:sp>
      <p:sp>
        <p:nvSpPr>
          <p:cNvPr id="8" name="anim-g1-512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محيط العجلة</a:t>
            </a:r>
            <a:endParaRPr lang="ar-SA" sz="2200" dirty="0"/>
          </a:p>
        </p:txBody>
      </p:sp>
      <p:sp>
        <p:nvSpPr>
          <p:cNvPr id="9" name="anim-g1-513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π × ٦٫٥ سم ≈ ٢٠٫٤ سم لكل دورة</a:t>
            </a:r>
            <a:endParaRPr lang="ar-SA" sz="1900" dirty="0"/>
          </a:p>
        </p:txBody>
      </p:sp>
      <p:sp>
        <p:nvSpPr>
          <p:cNvPr id="10" name="anim-g2-514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515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516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🔁</a:t>
            </a:r>
            <a:endParaRPr lang="ar-SA" sz="2200" dirty="0"/>
          </a:p>
        </p:txBody>
      </p:sp>
      <p:sp>
        <p:nvSpPr>
          <p:cNvPr id="13" name="anim-g2-517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الدورات</a:t>
            </a:r>
            <a:endParaRPr lang="ar-SA" sz="2200" dirty="0"/>
          </a:p>
        </p:txBody>
      </p:sp>
      <p:sp>
        <p:nvSpPr>
          <p:cNvPr id="14" name="anim-g2-518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٢٠٠ دورة/دقيقة ≈ ٣٫٣ دورة/ثانية</a:t>
            </a:r>
            <a:endParaRPr lang="ar-SA" sz="1900" dirty="0"/>
          </a:p>
        </p:txBody>
      </p:sp>
      <p:sp>
        <p:nvSpPr>
          <p:cNvPr id="15" name="anim-g3-519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520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521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📏</a:t>
            </a:r>
            <a:endParaRPr lang="ar-SA" sz="2200" dirty="0"/>
          </a:p>
        </p:txBody>
      </p:sp>
      <p:sp>
        <p:nvSpPr>
          <p:cNvPr id="18" name="anim-g3-522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المسافة</a:t>
            </a:r>
            <a:endParaRPr lang="ar-SA" sz="2200" dirty="0"/>
          </a:p>
        </p:txBody>
      </p:sp>
      <p:sp>
        <p:nvSpPr>
          <p:cNvPr id="19" name="anim-g3-523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٢٠٫٤ × ٣٫٣ ≈ ٦٨ سم/ثانية (بلا حمل)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🤖١ الحركة بالكود  ·  ٤٤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45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524" descr="C:\Users\user\projects\younes-training\esp32-3\.pptx-cache\s45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525" descr="C:\Users\user\projects\younes-training\esp32-3\.pptx-cache\s45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526" descr="C:\Users\user\projects\younes-training\esp32-3\.pptx-cache\s45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527" descr="C:\Users\user\projects\younes-training\esp32-3\.pptx-cache\s45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السيارة ترسم «معينًا» بدل المربع… ما الحل؟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زِد SPEED</a:t>
            </a:r>
            <a:endParaRPr lang="ar-SA" sz="2200" dirty="0"/>
          </a:p>
        </p:txBody>
      </p:sp>
      <p:sp>
        <p:nvSpPr>
          <p:cNvPr id="9" name="anim-g1-528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529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530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531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زِد SPEED</a:t>
            </a:r>
            <a:endParaRPr lang="ar-SA" sz="2200" dirty="0"/>
          </a:p>
        </p:txBody>
      </p:sp>
      <p:sp>
        <p:nvSpPr>
          <p:cNvPr id="13" name="anim-g1-532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السرعة تغيّر طول الضلع لا الزاوية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عدّل TURN90 حتى تصبح الاستدارة ٩٠° تمامًا</a:t>
            </a:r>
            <a:endParaRPr lang="ar-SA" sz="2200" dirty="0"/>
          </a:p>
        </p:txBody>
      </p:sp>
      <p:sp>
        <p:nvSpPr>
          <p:cNvPr id="18" name="anim-g1-533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534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0" name="anim-g1-535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21" name="anim-g1-536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عدّل TURN90 حتى تصبح الاستدارة ٩٠° تمامًا</a:t>
            </a:r>
            <a:endParaRPr lang="ar-SA" sz="2200" dirty="0"/>
          </a:p>
        </p:txBody>
      </p:sp>
      <p:sp>
        <p:nvSpPr>
          <p:cNvPr id="22" name="anim-g1-537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الزاوية أكبر أو أصغر من ٩٠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غيّر 4 إلى 5 في for</a:t>
            </a:r>
            <a:endParaRPr lang="ar-SA" sz="2200" dirty="0"/>
          </a:p>
        </p:txBody>
      </p:sp>
      <p:sp>
        <p:nvSpPr>
          <p:cNvPr id="27" name="anim-g1-538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539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9" name="anim-g1-540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30" name="anim-g1-541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غيّر 4 إلى 5 في for</a:t>
            </a:r>
            <a:endParaRPr lang="ar-SA" sz="2200" dirty="0"/>
          </a:p>
        </p:txBody>
      </p:sp>
      <p:sp>
        <p:nvSpPr>
          <p:cNvPr id="31" name="anim-g1-542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سيرسم شكلًا آخر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اعكس سلكي المحرك</a:t>
            </a:r>
            <a:endParaRPr lang="ar-SA" sz="2200" dirty="0"/>
          </a:p>
        </p:txBody>
      </p:sp>
      <p:sp>
        <p:nvSpPr>
          <p:cNvPr id="36" name="anim-g1-543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544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545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546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اعكس سلكي المحرك</a:t>
            </a:r>
            <a:endParaRPr lang="ar-SA" sz="2200" dirty="0"/>
          </a:p>
        </p:txBody>
      </p:sp>
      <p:sp>
        <p:nvSpPr>
          <p:cNvPr id="40" name="anim-g1-547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الاتجاه صحيح أصلًا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🤖١ الحركة بالكود  ·  ٤٦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4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لا مقود…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بل سرعتان. والسيارة الحقيقية تحتاج معايرة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🤖١ الحركة بالكود  ·  ٤٩</a:t>
            </a:r>
            <a:endParaRPr lang="ar-SA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٤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🤖١ … تُقاد من جوالك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عصا تحكم حقيقية بدل الأزرار: سرعة ناعمة واتجاه بإصبع واحد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🤖١ عصا الجوال  ·  ٥٠</a:t>
            </a:r>
            <a:endParaRPr lang="ar-SA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548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549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550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551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تبني صفحة ويب فيها عصا تحكم تُرسل x وy</a:t>
            </a:r>
            <a:endParaRPr lang="ar-SA" sz="2400" dirty="0"/>
          </a:p>
        </p:txBody>
      </p:sp>
      <p:sp>
        <p:nvSpPr>
          <p:cNvPr id="9" name="anim-g2-552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553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554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555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تحوّل x وy إلى سرعتي العجلتين بـ «المزج»</a:t>
            </a:r>
            <a:endParaRPr lang="ar-SA" sz="2400" dirty="0"/>
          </a:p>
        </p:txBody>
      </p:sp>
      <p:sp>
        <p:nvSpPr>
          <p:cNvPr id="13" name="anim-g3-556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557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558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559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تضيف الأمان: تقف السيارة إن انقطع الجوال</a:t>
            </a:r>
            <a:endParaRPr lang="ar-SA" sz="2400" dirty="0"/>
          </a:p>
        </p:txBody>
      </p:sp>
      <p:sp>
        <p:nvSpPr>
          <p:cNvPr id="17" name="anim-g4-560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561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562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563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تجعل لكل سيارة شبكة باسمها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🤖١ عصا الجوال  ·  ٥١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4831" y="457200"/>
            <a:ext cx="380390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7564831" y="457200"/>
            <a:ext cx="3803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تذكير من الجزء الثاني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ثلاث أفكار نعيد استعمالها</a:t>
            </a:r>
            <a:endParaRPr lang="ar-SA" sz="3800" dirty="0"/>
          </a:p>
        </p:txBody>
      </p:sp>
      <p:sp>
        <p:nvSpPr>
          <p:cNvPr id="5" name="anim-g1-564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565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566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📶</a:t>
            </a:r>
            <a:endParaRPr lang="ar-SA" sz="2200" dirty="0"/>
          </a:p>
        </p:txBody>
      </p:sp>
      <p:sp>
        <p:nvSpPr>
          <p:cNvPr id="8" name="anim-g1-567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AP: السيارة تصنع شبكتها</a:t>
            </a:r>
            <a:endParaRPr lang="ar-SA" sz="2200" dirty="0"/>
          </a:p>
        </p:txBody>
      </p:sp>
      <p:sp>
        <p:nvSpPr>
          <p:cNvPr id="9" name="anim-g1-568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WiFi.softAP("ESP32-Car-1", "12345678") والعنوان 192.168.4.1</a:t>
            </a:r>
            <a:endParaRPr lang="ar-SA" sz="1900" dirty="0"/>
          </a:p>
        </p:txBody>
      </p:sp>
      <p:sp>
        <p:nvSpPr>
          <p:cNvPr id="10" name="anim-g2-569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570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571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🌐</a:t>
            </a:r>
            <a:endParaRPr lang="ar-SA" sz="2200" dirty="0"/>
          </a:p>
        </p:txBody>
      </p:sp>
      <p:sp>
        <p:nvSpPr>
          <p:cNvPr id="13" name="anim-g2-572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خادم الويب</a:t>
            </a:r>
            <a:endParaRPr lang="ar-SA" sz="2200" dirty="0"/>
          </a:p>
        </p:txBody>
      </p:sp>
      <p:sp>
        <p:nvSpPr>
          <p:cNvPr id="14" name="anim-g2-573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server.on("/j", …) يستقبل الأوامر</a:t>
            </a:r>
            <a:endParaRPr lang="ar-SA" sz="1900" dirty="0"/>
          </a:p>
        </p:txBody>
      </p:sp>
      <p:sp>
        <p:nvSpPr>
          <p:cNvPr id="15" name="anim-g3-574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575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576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⏱️</a:t>
            </a:r>
            <a:endParaRPr lang="ar-SA" sz="2200" dirty="0"/>
          </a:p>
        </p:txBody>
      </p:sp>
      <p:sp>
        <p:nvSpPr>
          <p:cNvPr id="18" name="anim-g3-577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millis</a:t>
            </a:r>
            <a:endParaRPr lang="ar-SA" sz="2200" dirty="0"/>
          </a:p>
        </p:txBody>
      </p:sp>
      <p:sp>
        <p:nvSpPr>
          <p:cNvPr id="19" name="anim-g3-578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ساعة لا تنام: نعرف متى وصل آخر أمر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🤖١ عصا الجوال  ·  ٥٢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5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55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579" descr="C:\Users\user\projects\younes-training\esp32-3\.pptx-cache\s55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580" descr="C:\Users\user\projects\younes-training\esp32-3\.pptx-cache\s55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581" descr="C:\Users\user\projects\younes-training\esp32-3\.pptx-cache\s55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582" descr="C:\Users\user\projects\younes-training\esp32-3\.pptx-cache\s55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583" descr="C:\Users\user\projects\younes-training\esp32-3\.pptx-cache\s55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584" descr="C:\Users\user\projects\younes-training\esp32-3\.pptx-cache\s55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56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585" descr="C:\Users\user\projects\younes-training\esp32-3\.pptx-cache\s56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586" descr="C:\Users\user\projects\younes-training\esp32-3\.pptx-cache\s56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587" descr="C:\Users\user\projects\younes-training\esp32-3\.pptx-cache\s56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588" descr="C:\Users\user\projects\younes-training\esp32-3\.pptx-cache\s56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589" descr="C:\Users\user\projects\younes-training\esp32-3\.pptx-cache\s56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590" descr="C:\Users\user\projects\younes-training\esp32-3\.pptx-cache\s56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88959" y="457200"/>
            <a:ext cx="2779776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588959" y="45720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المزج بالأرقام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أين الإصبع؟ وماذا تفعل العجلتان؟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7817675" y="1874520"/>
            <a:ext cx="355106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7817675" y="1874520"/>
            <a:ext cx="3551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العصا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6068996" y="1874520"/>
            <a:ext cx="1638951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6068996" y="1874520"/>
            <a:ext cx="16389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jx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4320318" y="1874520"/>
            <a:ext cx="1638951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4320318" y="1874520"/>
            <a:ext cx="16389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jy</a:t>
            </a:r>
            <a:endParaRPr lang="ar-SA" sz="1900" dirty="0"/>
          </a:p>
        </p:txBody>
      </p:sp>
      <p:sp>
        <p:nvSpPr>
          <p:cNvPr id="11" name="Shape 9"/>
          <p:cNvSpPr/>
          <p:nvPr/>
        </p:nvSpPr>
        <p:spPr>
          <a:xfrm>
            <a:off x="2571639" y="1874520"/>
            <a:ext cx="1638951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2" name="Text 10"/>
          <p:cNvSpPr/>
          <p:nvPr/>
        </p:nvSpPr>
        <p:spPr>
          <a:xfrm>
            <a:off x="2571639" y="1874520"/>
            <a:ext cx="16389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l</a:t>
            </a:r>
            <a:endParaRPr lang="ar-SA" sz="1900" dirty="0"/>
          </a:p>
        </p:txBody>
      </p:sp>
      <p:sp>
        <p:nvSpPr>
          <p:cNvPr id="13" name="Shape 11"/>
          <p:cNvSpPr/>
          <p:nvPr/>
        </p:nvSpPr>
        <p:spPr>
          <a:xfrm>
            <a:off x="822960" y="1874520"/>
            <a:ext cx="1638951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874520"/>
            <a:ext cx="16389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r</a:t>
            </a:r>
            <a:endParaRPr lang="ar-SA" sz="1900" dirty="0"/>
          </a:p>
        </p:txBody>
      </p:sp>
      <p:sp>
        <p:nvSpPr>
          <p:cNvPr id="15" name="anim-g1-591"/>
          <p:cNvSpPr/>
          <p:nvPr/>
        </p:nvSpPr>
        <p:spPr>
          <a:xfrm>
            <a:off x="7817675" y="2514600"/>
            <a:ext cx="3551060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6" name="anim-g1-592"/>
          <p:cNvSpPr/>
          <p:nvPr/>
        </p:nvSpPr>
        <p:spPr>
          <a:xfrm>
            <a:off x="7954835" y="2514600"/>
            <a:ext cx="327674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⬆️ أعلى</a:t>
            </a:r>
            <a:endParaRPr lang="ar-SA" sz="2100" dirty="0"/>
          </a:p>
        </p:txBody>
      </p:sp>
      <p:sp>
        <p:nvSpPr>
          <p:cNvPr id="17" name="anim-g1-593"/>
          <p:cNvSpPr/>
          <p:nvPr/>
        </p:nvSpPr>
        <p:spPr>
          <a:xfrm>
            <a:off x="6068996" y="2514600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1-594"/>
          <p:cNvSpPr/>
          <p:nvPr/>
        </p:nvSpPr>
        <p:spPr>
          <a:xfrm>
            <a:off x="6206156" y="2514600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</a:t>
            </a:r>
            <a:endParaRPr lang="ar-SA" sz="2100" dirty="0"/>
          </a:p>
        </p:txBody>
      </p:sp>
      <p:sp>
        <p:nvSpPr>
          <p:cNvPr id="19" name="anim-g1-595"/>
          <p:cNvSpPr/>
          <p:nvPr/>
        </p:nvSpPr>
        <p:spPr>
          <a:xfrm>
            <a:off x="4320318" y="2514600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1-596"/>
          <p:cNvSpPr/>
          <p:nvPr/>
        </p:nvSpPr>
        <p:spPr>
          <a:xfrm>
            <a:off x="4457478" y="2514600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100</a:t>
            </a:r>
            <a:endParaRPr lang="ar-SA" sz="2100" dirty="0"/>
          </a:p>
        </p:txBody>
      </p:sp>
      <p:sp>
        <p:nvSpPr>
          <p:cNvPr id="21" name="anim-g1-597"/>
          <p:cNvSpPr/>
          <p:nvPr/>
        </p:nvSpPr>
        <p:spPr>
          <a:xfrm>
            <a:off x="2571639" y="2514600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2" name="anim-g1-598"/>
          <p:cNvSpPr/>
          <p:nvPr/>
        </p:nvSpPr>
        <p:spPr>
          <a:xfrm>
            <a:off x="2708799" y="2514600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255</a:t>
            </a:r>
            <a:endParaRPr lang="ar-SA" sz="2100" dirty="0"/>
          </a:p>
        </p:txBody>
      </p:sp>
      <p:sp>
        <p:nvSpPr>
          <p:cNvPr id="23" name="anim-g1-599"/>
          <p:cNvSpPr/>
          <p:nvPr/>
        </p:nvSpPr>
        <p:spPr>
          <a:xfrm>
            <a:off x="822960" y="2514600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4" name="anim-g1-600"/>
          <p:cNvSpPr/>
          <p:nvPr/>
        </p:nvSpPr>
        <p:spPr>
          <a:xfrm>
            <a:off x="960120" y="2514600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255</a:t>
            </a:r>
            <a:endParaRPr lang="ar-SA" sz="2100" dirty="0"/>
          </a:p>
        </p:txBody>
      </p:sp>
      <p:sp>
        <p:nvSpPr>
          <p:cNvPr id="25" name="anim-g2-601"/>
          <p:cNvSpPr/>
          <p:nvPr/>
        </p:nvSpPr>
        <p:spPr>
          <a:xfrm>
            <a:off x="7817675" y="3240634"/>
            <a:ext cx="3551060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6" name="anim-g2-602"/>
          <p:cNvSpPr/>
          <p:nvPr/>
        </p:nvSpPr>
        <p:spPr>
          <a:xfrm>
            <a:off x="7954835" y="3240634"/>
            <a:ext cx="327674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↗️ أعلى يمين</a:t>
            </a:r>
            <a:endParaRPr lang="ar-SA" sz="2100" dirty="0"/>
          </a:p>
        </p:txBody>
      </p:sp>
      <p:sp>
        <p:nvSpPr>
          <p:cNvPr id="27" name="anim-g2-603"/>
          <p:cNvSpPr/>
          <p:nvPr/>
        </p:nvSpPr>
        <p:spPr>
          <a:xfrm>
            <a:off x="6068996" y="3240634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8" name="anim-g2-604"/>
          <p:cNvSpPr/>
          <p:nvPr/>
        </p:nvSpPr>
        <p:spPr>
          <a:xfrm>
            <a:off x="6206156" y="3240634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40</a:t>
            </a:r>
            <a:endParaRPr lang="ar-SA" sz="2100" dirty="0"/>
          </a:p>
        </p:txBody>
      </p:sp>
      <p:sp>
        <p:nvSpPr>
          <p:cNvPr id="29" name="anim-g2-605"/>
          <p:cNvSpPr/>
          <p:nvPr/>
        </p:nvSpPr>
        <p:spPr>
          <a:xfrm>
            <a:off x="4320318" y="3240634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0" name="anim-g2-606"/>
          <p:cNvSpPr/>
          <p:nvPr/>
        </p:nvSpPr>
        <p:spPr>
          <a:xfrm>
            <a:off x="4457478" y="3240634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80</a:t>
            </a:r>
            <a:endParaRPr lang="ar-SA" sz="2100" dirty="0"/>
          </a:p>
        </p:txBody>
      </p:sp>
      <p:sp>
        <p:nvSpPr>
          <p:cNvPr id="31" name="anim-g2-607"/>
          <p:cNvSpPr/>
          <p:nvPr/>
        </p:nvSpPr>
        <p:spPr>
          <a:xfrm>
            <a:off x="2571639" y="3240634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2-608"/>
          <p:cNvSpPr/>
          <p:nvPr/>
        </p:nvSpPr>
        <p:spPr>
          <a:xfrm>
            <a:off x="2708799" y="3240634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255</a:t>
            </a:r>
            <a:endParaRPr lang="ar-SA" sz="2100" dirty="0"/>
          </a:p>
        </p:txBody>
      </p:sp>
      <p:sp>
        <p:nvSpPr>
          <p:cNvPr id="33" name="anim-g2-609"/>
          <p:cNvSpPr/>
          <p:nvPr/>
        </p:nvSpPr>
        <p:spPr>
          <a:xfrm>
            <a:off x="822960" y="3240634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2-610"/>
          <p:cNvSpPr/>
          <p:nvPr/>
        </p:nvSpPr>
        <p:spPr>
          <a:xfrm>
            <a:off x="960120" y="3240634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102</a:t>
            </a:r>
            <a:endParaRPr lang="ar-SA" sz="2100" dirty="0"/>
          </a:p>
        </p:txBody>
      </p:sp>
      <p:sp>
        <p:nvSpPr>
          <p:cNvPr id="35" name="anim-g3-611"/>
          <p:cNvSpPr/>
          <p:nvPr/>
        </p:nvSpPr>
        <p:spPr>
          <a:xfrm>
            <a:off x="7817675" y="3966667"/>
            <a:ext cx="3551060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6" name="anim-g3-612"/>
          <p:cNvSpPr/>
          <p:nvPr/>
        </p:nvSpPr>
        <p:spPr>
          <a:xfrm>
            <a:off x="7954835" y="3966667"/>
            <a:ext cx="327674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➡️ يمين تمامًا</a:t>
            </a:r>
            <a:endParaRPr lang="ar-SA" sz="2100" dirty="0"/>
          </a:p>
        </p:txBody>
      </p:sp>
      <p:sp>
        <p:nvSpPr>
          <p:cNvPr id="37" name="anim-g3-613"/>
          <p:cNvSpPr/>
          <p:nvPr/>
        </p:nvSpPr>
        <p:spPr>
          <a:xfrm>
            <a:off x="6068996" y="3966667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8" name="anim-g3-614"/>
          <p:cNvSpPr/>
          <p:nvPr/>
        </p:nvSpPr>
        <p:spPr>
          <a:xfrm>
            <a:off x="6206156" y="3966667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100</a:t>
            </a:r>
            <a:endParaRPr lang="ar-SA" sz="2100" dirty="0"/>
          </a:p>
        </p:txBody>
      </p:sp>
      <p:sp>
        <p:nvSpPr>
          <p:cNvPr id="39" name="anim-g3-615"/>
          <p:cNvSpPr/>
          <p:nvPr/>
        </p:nvSpPr>
        <p:spPr>
          <a:xfrm>
            <a:off x="4320318" y="3966667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0" name="anim-g3-616"/>
          <p:cNvSpPr/>
          <p:nvPr/>
        </p:nvSpPr>
        <p:spPr>
          <a:xfrm>
            <a:off x="4457478" y="3966667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</a:t>
            </a:r>
            <a:endParaRPr lang="ar-SA" sz="2100" dirty="0"/>
          </a:p>
        </p:txBody>
      </p:sp>
      <p:sp>
        <p:nvSpPr>
          <p:cNvPr id="41" name="anim-g3-617"/>
          <p:cNvSpPr/>
          <p:nvPr/>
        </p:nvSpPr>
        <p:spPr>
          <a:xfrm>
            <a:off x="2571639" y="3966667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2" name="anim-g3-618"/>
          <p:cNvSpPr/>
          <p:nvPr/>
        </p:nvSpPr>
        <p:spPr>
          <a:xfrm>
            <a:off x="2708799" y="3966667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255</a:t>
            </a:r>
            <a:endParaRPr lang="ar-SA" sz="2100" dirty="0"/>
          </a:p>
        </p:txBody>
      </p:sp>
      <p:sp>
        <p:nvSpPr>
          <p:cNvPr id="43" name="anim-g3-619"/>
          <p:cNvSpPr/>
          <p:nvPr/>
        </p:nvSpPr>
        <p:spPr>
          <a:xfrm>
            <a:off x="822960" y="3966667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4" name="anim-g3-620"/>
          <p:cNvSpPr/>
          <p:nvPr/>
        </p:nvSpPr>
        <p:spPr>
          <a:xfrm>
            <a:off x="960120" y="3966667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−255</a:t>
            </a:r>
            <a:endParaRPr lang="ar-SA" sz="2100" dirty="0"/>
          </a:p>
        </p:txBody>
      </p:sp>
      <p:sp>
        <p:nvSpPr>
          <p:cNvPr id="45" name="anim-g4-621"/>
          <p:cNvSpPr/>
          <p:nvPr/>
        </p:nvSpPr>
        <p:spPr>
          <a:xfrm>
            <a:off x="7817675" y="4692701"/>
            <a:ext cx="3551060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46" name="anim-g4-622"/>
          <p:cNvSpPr/>
          <p:nvPr/>
        </p:nvSpPr>
        <p:spPr>
          <a:xfrm>
            <a:off x="7954835" y="4692701"/>
            <a:ext cx="327674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⬇️ أسفل</a:t>
            </a:r>
            <a:endParaRPr lang="ar-SA" sz="2100" dirty="0"/>
          </a:p>
        </p:txBody>
      </p:sp>
      <p:sp>
        <p:nvSpPr>
          <p:cNvPr id="47" name="anim-g4-623"/>
          <p:cNvSpPr/>
          <p:nvPr/>
        </p:nvSpPr>
        <p:spPr>
          <a:xfrm>
            <a:off x="6068996" y="4692701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8" name="anim-g4-624"/>
          <p:cNvSpPr/>
          <p:nvPr/>
        </p:nvSpPr>
        <p:spPr>
          <a:xfrm>
            <a:off x="6206156" y="4692701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</a:t>
            </a:r>
            <a:endParaRPr lang="ar-SA" sz="2100" dirty="0"/>
          </a:p>
        </p:txBody>
      </p:sp>
      <p:sp>
        <p:nvSpPr>
          <p:cNvPr id="49" name="anim-g4-625"/>
          <p:cNvSpPr/>
          <p:nvPr/>
        </p:nvSpPr>
        <p:spPr>
          <a:xfrm>
            <a:off x="4320318" y="4692701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0" name="anim-g4-626"/>
          <p:cNvSpPr/>
          <p:nvPr/>
        </p:nvSpPr>
        <p:spPr>
          <a:xfrm>
            <a:off x="4457478" y="4692701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−100</a:t>
            </a:r>
            <a:endParaRPr lang="ar-SA" sz="2100" dirty="0"/>
          </a:p>
        </p:txBody>
      </p:sp>
      <p:sp>
        <p:nvSpPr>
          <p:cNvPr id="51" name="anim-g4-627"/>
          <p:cNvSpPr/>
          <p:nvPr/>
        </p:nvSpPr>
        <p:spPr>
          <a:xfrm>
            <a:off x="2571639" y="4692701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2" name="anim-g4-628"/>
          <p:cNvSpPr/>
          <p:nvPr/>
        </p:nvSpPr>
        <p:spPr>
          <a:xfrm>
            <a:off x="2708799" y="4692701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−255</a:t>
            </a:r>
            <a:endParaRPr lang="ar-SA" sz="2100" dirty="0"/>
          </a:p>
        </p:txBody>
      </p:sp>
      <p:sp>
        <p:nvSpPr>
          <p:cNvPr id="53" name="anim-g4-629"/>
          <p:cNvSpPr/>
          <p:nvPr/>
        </p:nvSpPr>
        <p:spPr>
          <a:xfrm>
            <a:off x="822960" y="4692701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54" name="anim-g4-630"/>
          <p:cNvSpPr/>
          <p:nvPr/>
        </p:nvSpPr>
        <p:spPr>
          <a:xfrm>
            <a:off x="960120" y="4692701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−255</a:t>
            </a:r>
            <a:endParaRPr lang="ar-SA" sz="2100" dirty="0"/>
          </a:p>
        </p:txBody>
      </p:sp>
      <p:sp>
        <p:nvSpPr>
          <p:cNvPr id="55" name="anim-g5-631"/>
          <p:cNvSpPr/>
          <p:nvPr/>
        </p:nvSpPr>
        <p:spPr>
          <a:xfrm>
            <a:off x="7817675" y="5418734"/>
            <a:ext cx="3551060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56" name="anim-g5-632"/>
          <p:cNvSpPr/>
          <p:nvPr/>
        </p:nvSpPr>
        <p:spPr>
          <a:xfrm>
            <a:off x="7954835" y="5418734"/>
            <a:ext cx="327674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⏺️ المنتصف</a:t>
            </a:r>
            <a:endParaRPr lang="ar-SA" sz="2100" dirty="0"/>
          </a:p>
        </p:txBody>
      </p:sp>
      <p:sp>
        <p:nvSpPr>
          <p:cNvPr id="57" name="anim-g5-633"/>
          <p:cNvSpPr/>
          <p:nvPr/>
        </p:nvSpPr>
        <p:spPr>
          <a:xfrm>
            <a:off x="6068996" y="5418734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8" name="anim-g5-634"/>
          <p:cNvSpPr/>
          <p:nvPr/>
        </p:nvSpPr>
        <p:spPr>
          <a:xfrm>
            <a:off x="6206156" y="5418734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</a:t>
            </a:r>
            <a:endParaRPr lang="ar-SA" sz="2100" dirty="0"/>
          </a:p>
        </p:txBody>
      </p:sp>
      <p:sp>
        <p:nvSpPr>
          <p:cNvPr id="59" name="anim-g5-635"/>
          <p:cNvSpPr/>
          <p:nvPr/>
        </p:nvSpPr>
        <p:spPr>
          <a:xfrm>
            <a:off x="4320318" y="5418734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0" name="anim-g5-636"/>
          <p:cNvSpPr/>
          <p:nvPr/>
        </p:nvSpPr>
        <p:spPr>
          <a:xfrm>
            <a:off x="4457478" y="5418734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</a:t>
            </a:r>
            <a:endParaRPr lang="ar-SA" sz="2100" dirty="0"/>
          </a:p>
        </p:txBody>
      </p:sp>
      <p:sp>
        <p:nvSpPr>
          <p:cNvPr id="61" name="anim-g5-637"/>
          <p:cNvSpPr/>
          <p:nvPr/>
        </p:nvSpPr>
        <p:spPr>
          <a:xfrm>
            <a:off x="2571639" y="5418734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2" name="anim-g5-638"/>
          <p:cNvSpPr/>
          <p:nvPr/>
        </p:nvSpPr>
        <p:spPr>
          <a:xfrm>
            <a:off x="2708799" y="5418734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</a:t>
            </a:r>
            <a:endParaRPr lang="ar-SA" sz="2100" dirty="0"/>
          </a:p>
        </p:txBody>
      </p:sp>
      <p:sp>
        <p:nvSpPr>
          <p:cNvPr id="63" name="anim-g5-639"/>
          <p:cNvSpPr/>
          <p:nvPr/>
        </p:nvSpPr>
        <p:spPr>
          <a:xfrm>
            <a:off x="822960" y="5418734"/>
            <a:ext cx="1638951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64" name="anim-g5-640"/>
          <p:cNvSpPr/>
          <p:nvPr/>
        </p:nvSpPr>
        <p:spPr>
          <a:xfrm>
            <a:off x="960120" y="5418734"/>
            <a:ext cx="136463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</a:t>
            </a:r>
            <a:endParaRPr lang="ar-SA" sz="2100" dirty="0"/>
          </a:p>
        </p:txBody>
      </p:sp>
      <p:sp>
        <p:nvSpPr>
          <p:cNvPr id="65" name="Text 6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6" name="Text 6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🤖١ عصا الجوال  ·  ٥٧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58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641" descr="C:\Users\user\projects\younes-training\esp32-3\.pptx-cache\s58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642" descr="C:\Users\user\projects\younes-training\esp32-3\.pptx-cache\s58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643" descr="C:\Users\user\projects\younes-training\esp32-3\.pptx-cache\s58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644" descr="C:\Users\user\projects\younes-training\esp32-3\.pptx-cache\s58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سحبت العصا يمينًا والسيارة استدارت يسارًا… ما السبب الأرجح؟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المحركان مبدّلان (الأيسر على OUT3·4)</a:t>
            </a:r>
            <a:endParaRPr lang="ar-SA" sz="2200" dirty="0"/>
          </a:p>
        </p:txBody>
      </p:sp>
      <p:sp>
        <p:nvSpPr>
          <p:cNvPr id="9" name="anim-g1-645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0" name="anim-g1-646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11" name="anim-g1-647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12" name="anim-g1-648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المحركان مبدّلان (الأيسر على OUT3·4)</a:t>
            </a:r>
            <a:endParaRPr lang="ar-SA" sz="2200" dirty="0"/>
          </a:p>
        </p:txBody>
      </p:sp>
      <p:sp>
        <p:nvSpPr>
          <p:cNvPr id="13" name="anim-g1-649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افحص بـ MotorTest من المحور الثاني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الواي فاي ضعيف</a:t>
            </a:r>
            <a:endParaRPr lang="ar-SA" sz="2200" dirty="0"/>
          </a:p>
        </p:txBody>
      </p:sp>
      <p:sp>
        <p:nvSpPr>
          <p:cNvPr id="18" name="anim-g1-650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651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0" name="anim-g1-652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21" name="anim-g1-653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الواي فاي ضعيف</a:t>
            </a:r>
            <a:endParaRPr lang="ar-SA" sz="2200" dirty="0"/>
          </a:p>
        </p:txBody>
      </p:sp>
      <p:sp>
        <p:nvSpPr>
          <p:cNvPr id="22" name="anim-g1-654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الضعف يؤخر لا يعكس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Failsafe قصير</a:t>
            </a:r>
            <a:endParaRPr lang="ar-SA" sz="2200" dirty="0"/>
          </a:p>
        </p:txBody>
      </p:sp>
      <p:sp>
        <p:nvSpPr>
          <p:cNvPr id="27" name="anim-g1-655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656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9" name="anim-g1-657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30" name="anim-g1-658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Failsafe قصير</a:t>
            </a:r>
            <a:endParaRPr lang="ar-SA" sz="2200" dirty="0"/>
          </a:p>
        </p:txBody>
      </p:sp>
      <p:sp>
        <p:nvSpPr>
          <p:cNvPr id="31" name="anim-g1-659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يوقف لا يعكس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البطارية ضعيفة</a:t>
            </a:r>
            <a:endParaRPr lang="ar-SA" sz="2200" dirty="0"/>
          </a:p>
        </p:txBody>
      </p:sp>
      <p:sp>
        <p:nvSpPr>
          <p:cNvPr id="36" name="anim-g1-66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66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66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663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البطارية ضعيفة</a:t>
            </a:r>
            <a:endParaRPr lang="ar-SA" sz="2200" dirty="0"/>
          </a:p>
        </p:txBody>
      </p:sp>
      <p:sp>
        <p:nvSpPr>
          <p:cNvPr id="40" name="anim-g1-664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تبطئ لا تعكس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🤖١ عصا الجوال  ·  ٥٩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6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إصبع واحد…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رقمان… مزج… وأمان إن صمت الجوال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🤖١ عصا الجوال  ·  ٦٢</a:t>
            </a:r>
            <a:endParaRPr lang="ar-SA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٥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٥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🤖٢ السيارة التي ترى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السيارة نفسها + عين واحدة = تتباطأ… وتتوقف… وتختار طريقها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🤖٢ السيارة التي ترى  ·  ٦٣</a:t>
            </a:r>
            <a:endParaRPr lang="ar-SA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665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666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667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668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تشرح كيف يقيس HC-SR04 المسافة بالصدى</a:t>
            </a:r>
            <a:endParaRPr lang="ar-SA" sz="2400" dirty="0"/>
          </a:p>
        </p:txBody>
      </p:sp>
      <p:sp>
        <p:nvSpPr>
          <p:cNvPr id="9" name="anim-g2-669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670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671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672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تحمي ESP32 بمقسم جهد على Echo</a:t>
            </a:r>
            <a:endParaRPr lang="ar-SA" sz="2400" dirty="0"/>
          </a:p>
        </p:txBody>
      </p:sp>
      <p:sp>
        <p:nvSpPr>
          <p:cNvPr id="13" name="anim-g3-673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674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675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676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تجعل السرعة تتناسب مع المسافة بـ map</a:t>
            </a:r>
            <a:endParaRPr lang="ar-SA" sz="2400" dirty="0"/>
          </a:p>
        </p:txBody>
      </p:sp>
      <p:sp>
        <p:nvSpPr>
          <p:cNvPr id="17" name="anim-g4-677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678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679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680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تبرمج «انظر يمينًا ويسارًا ثم اختر الأوسع»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🤖٢ السيارة التي ترى  ·  ٦٤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6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67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681" descr="C:\Users\user\projects\younes-training\esp32-3\.pptx-cache\s67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682" descr="C:\Users\user\projects\younes-training\esp32-3\.pptx-cache\s67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683" descr="C:\Users\user\projects\younes-training\esp32-3\.pptx-cache\s67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684" descr="C:\Users\user\projects\younes-training\esp32-3\.pptx-cache\s67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685" descr="C:\Users\user\projects\younes-training\esp32-3\.pptx-cache\s67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6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69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686" descr="C:\Users\user\projects\younes-training\esp32-3\.pptx-cache\s69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687" descr="C:\Users\user\projects\younes-training\esp32-3\.pptx-cache\s69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688" descr="C:\Users\user\projects\younes-training\esp32-3\.pptx-cache\s69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70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689" descr="C:\Users\user\projects\younes-training\esp32-3\.pptx-cache\s70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690" descr="C:\Users\user\projects\younes-training\esp32-3\.pptx-cache\s70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691" descr="C:\Users\user\projects\younes-training\esp32-3\.pptx-cache\s70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692" descr="C:\Users\user\projects\younes-training\esp32-3\.pptx-cache\s70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693" descr="C:\Users\user\projects\younes-training\esp32-3\.pptx-cache\s70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694" descr="C:\Users\user\projects\younes-training\esp32-3\.pptx-cache\s70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6783" y="457200"/>
            <a:ext cx="1901952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466783" y="4572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🔗 الدمج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ماذا أضفنا إلى الروبوت الأول؟</a:t>
            </a:r>
            <a:endParaRPr lang="ar-SA" sz="3800" dirty="0"/>
          </a:p>
        </p:txBody>
      </p:sp>
      <p:sp>
        <p:nvSpPr>
          <p:cNvPr id="5" name="anim-g1-695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696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697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♻️</a:t>
            </a:r>
            <a:endParaRPr lang="ar-SA" sz="2200" dirty="0"/>
          </a:p>
        </p:txBody>
      </p:sp>
      <p:sp>
        <p:nvSpPr>
          <p:cNvPr id="8" name="anim-g1-698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كما هو</a:t>
            </a:r>
            <a:endParaRPr lang="ar-SA" sz="2200" dirty="0"/>
          </a:p>
        </p:txBody>
      </p:sp>
      <p:sp>
        <p:nvSpPr>
          <p:cNvPr id="9" name="anim-g1-699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motors() والأطراف والطاقة: لم نلمسها</a:t>
            </a:r>
            <a:endParaRPr lang="ar-SA" sz="1900" dirty="0"/>
          </a:p>
        </p:txBody>
      </p:sp>
      <p:sp>
        <p:nvSpPr>
          <p:cNvPr id="10" name="anim-g2-700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701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702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➕</a:t>
            </a:r>
            <a:endParaRPr lang="ar-SA" sz="2200" dirty="0"/>
          </a:p>
        </p:txBody>
      </p:sp>
      <p:sp>
        <p:nvSpPr>
          <p:cNvPr id="13" name="anim-g2-703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جديد</a:t>
            </a:r>
            <a:endParaRPr lang="ar-SA" sz="2200" dirty="0"/>
          </a:p>
        </p:txBody>
      </p:sp>
      <p:sp>
        <p:nvSpPr>
          <p:cNvPr id="14" name="anim-g2-704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readCm() + ثلاثة أسطر توصيل + مقسم</a:t>
            </a:r>
            <a:endParaRPr lang="ar-SA" sz="1900" dirty="0"/>
          </a:p>
        </p:txBody>
      </p:sp>
      <p:sp>
        <p:nvSpPr>
          <p:cNvPr id="15" name="anim-g3-705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706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707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🧠</a:t>
            </a:r>
            <a:endParaRPr lang="ar-SA" sz="2200" dirty="0"/>
          </a:p>
        </p:txBody>
      </p:sp>
      <p:sp>
        <p:nvSpPr>
          <p:cNvPr id="18" name="anim-g3-708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الفكرة</a:t>
            </a:r>
            <a:endParaRPr lang="ar-SA" sz="2200" dirty="0"/>
          </a:p>
        </p:txBody>
      </p:sp>
      <p:sp>
        <p:nvSpPr>
          <p:cNvPr id="19" name="anim-g3-709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if/else if/else: ثلاث مناطق بثلاثة قرارات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🤖٢ السيارة التي ترى  ·  ٧١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72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710" descr="C:\Users\user\projects\younes-training\esp32-3\.pptx-cache\s72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711" descr="C:\Users\user\projects\younes-training\esp32-3\.pptx-cache\s72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712" descr="C:\Users\user\projects\younes-training\esp32-3\.pptx-cache\s72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713" descr="C:\Users\user\projects\younes-training\esp32-3\.pptx-cache\s72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السيارة تتوقف أمام «لا شيء» كل فترة… ما السبب الأرجح؟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البطارية مشحونة زيادة</a:t>
            </a:r>
            <a:endParaRPr lang="ar-SA" sz="2200" dirty="0"/>
          </a:p>
        </p:txBody>
      </p:sp>
      <p:sp>
        <p:nvSpPr>
          <p:cNvPr id="9" name="anim-g1-714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715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716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717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البطارية مشحونة زيادة</a:t>
            </a:r>
            <a:endParaRPr lang="ar-SA" sz="2200" dirty="0"/>
          </a:p>
        </p:txBody>
      </p:sp>
      <p:sp>
        <p:nvSpPr>
          <p:cNvPr id="13" name="anim-g1-718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علاقة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Trig على الطرف الخطأ</a:t>
            </a:r>
            <a:endParaRPr lang="ar-SA" sz="2200" dirty="0"/>
          </a:p>
        </p:txBody>
      </p:sp>
      <p:sp>
        <p:nvSpPr>
          <p:cNvPr id="18" name="anim-g1-719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720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0" name="anim-g1-721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21" name="anim-g1-722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Trig على الطرف الخطأ</a:t>
            </a:r>
            <a:endParaRPr lang="ar-SA" sz="2200" dirty="0"/>
          </a:p>
        </p:txBody>
      </p:sp>
      <p:sp>
        <p:nvSpPr>
          <p:cNvPr id="22" name="anim-g1-723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لن يقيس شيئًا أبدًا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الحساس مائل للأسفل فيرى الأرض</a:t>
            </a:r>
            <a:endParaRPr lang="ar-SA" sz="2200" dirty="0"/>
          </a:p>
        </p:txBody>
      </p:sp>
      <p:sp>
        <p:nvSpPr>
          <p:cNvPr id="27" name="anim-g1-724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28" name="anim-g1-725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9" name="anim-g1-726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30" name="anim-g1-727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الحساس مائل للأسفل فيرى الأرض</a:t>
            </a:r>
            <a:endParaRPr lang="ar-SA" sz="2200" dirty="0"/>
          </a:p>
        </p:txBody>
      </p:sp>
      <p:sp>
        <p:nvSpPr>
          <p:cNvPr id="31" name="anim-g1-728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ثبّته أفقيًا تمامًا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SPEED كبير</a:t>
            </a:r>
            <a:endParaRPr lang="ar-SA" sz="2200" dirty="0"/>
          </a:p>
        </p:txBody>
      </p:sp>
      <p:sp>
        <p:nvSpPr>
          <p:cNvPr id="36" name="anim-g1-729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730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731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732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SPEED كبير</a:t>
            </a:r>
            <a:endParaRPr lang="ar-SA" sz="2200" dirty="0"/>
          </a:p>
        </p:txBody>
      </p:sp>
      <p:sp>
        <p:nvSpPr>
          <p:cNvPr id="40" name="anim-g1-733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السرعة لا تخلق عوائق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🤖٢ السيارة التي ترى  ·  ٧٣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7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عين واحدة + ثلاث مناطق = سيارة لا تصطدم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🤖٢ السيارة التي ترى  ·  ٧٦</a:t>
            </a:r>
            <a:endParaRPr lang="ar-SA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٦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٦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🤖٣ متتبع الخط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ثلاث عيون تنظر إلى الأرض… وثماني حالات… وقرار لكل حالة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🤖٣ متتبع الخط  ·  ٧٧</a:t>
            </a:r>
            <a:endParaRPr lang="ar-SA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734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735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736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737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تشرح كيف يميّز TCRT5000 الأسود من الأبيض</a:t>
            </a:r>
            <a:endParaRPr lang="ar-SA" sz="2400" dirty="0"/>
          </a:p>
        </p:txBody>
      </p:sp>
      <p:sp>
        <p:nvSpPr>
          <p:cNvPr id="9" name="anim-g2-738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739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740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741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تضبط حساسية الحساس بالمقاومة الزرقاء</a:t>
            </a:r>
            <a:endParaRPr lang="ar-SA" sz="2400" dirty="0"/>
          </a:p>
        </p:txBody>
      </p:sp>
      <p:sp>
        <p:nvSpPr>
          <p:cNvPr id="13" name="anim-g3-742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743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744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745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تكتب قرارًا لكل حالة من حالات الحساسات الثلاثة</a:t>
            </a:r>
            <a:endParaRPr lang="ar-SA" sz="2400" dirty="0"/>
          </a:p>
        </p:txBody>
      </p:sp>
      <p:sp>
        <p:nvSpPr>
          <p:cNvPr id="17" name="anim-g4-746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747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748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749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تجعل الروبوت «يتذكر» آخر مكان رأى فيه الخط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🤖٣ متتبع الخط  ·  ٧٨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7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88959" y="457200"/>
            <a:ext cx="2779776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588959" y="45720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الوحدة الجاهزة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أربعة أشياء على لوحة الحساس</a:t>
            </a:r>
            <a:endParaRPr lang="ar-SA" sz="3800" dirty="0"/>
          </a:p>
        </p:txBody>
      </p:sp>
      <p:sp>
        <p:nvSpPr>
          <p:cNvPr id="5" name="anim-g1-750"/>
          <p:cNvSpPr/>
          <p:nvPr/>
        </p:nvSpPr>
        <p:spPr>
          <a:xfrm>
            <a:off x="8938031" y="2011680"/>
            <a:ext cx="2430704" cy="402336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751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752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🔵</a:t>
            </a:r>
            <a:endParaRPr lang="ar-SA" sz="2200" dirty="0"/>
          </a:p>
        </p:txBody>
      </p:sp>
      <p:sp>
        <p:nvSpPr>
          <p:cNvPr id="8" name="anim-g1-753"/>
          <p:cNvSpPr/>
          <p:nvPr/>
        </p:nvSpPr>
        <p:spPr>
          <a:xfrm>
            <a:off x="9212351" y="2944368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المقاومة الزرقاء</a:t>
            </a:r>
            <a:endParaRPr lang="ar-SA" sz="2200" dirty="0"/>
          </a:p>
        </p:txBody>
      </p:sp>
      <p:sp>
        <p:nvSpPr>
          <p:cNvPr id="9" name="anim-g1-754"/>
          <p:cNvSpPr/>
          <p:nvPr/>
        </p:nvSpPr>
        <p:spPr>
          <a:xfrm>
            <a:off x="9212351" y="3493008"/>
            <a:ext cx="18820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تضبط الحد بين «أبيض» و«أسود»</a:t>
            </a:r>
            <a:endParaRPr lang="ar-SA" sz="1900" dirty="0"/>
          </a:p>
        </p:txBody>
      </p:sp>
      <p:sp>
        <p:nvSpPr>
          <p:cNvPr id="10" name="anim-g2-755"/>
          <p:cNvSpPr/>
          <p:nvPr/>
        </p:nvSpPr>
        <p:spPr>
          <a:xfrm>
            <a:off x="6233008" y="2011680"/>
            <a:ext cx="2430704" cy="402336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756"/>
          <p:cNvSpPr/>
          <p:nvPr/>
        </p:nvSpPr>
        <p:spPr>
          <a:xfrm>
            <a:off x="7822463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757"/>
          <p:cNvSpPr/>
          <p:nvPr/>
        </p:nvSpPr>
        <p:spPr>
          <a:xfrm>
            <a:off x="7822463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💡</a:t>
            </a:r>
            <a:endParaRPr lang="ar-SA" sz="2200" dirty="0"/>
          </a:p>
        </p:txBody>
      </p:sp>
      <p:sp>
        <p:nvSpPr>
          <p:cNvPr id="13" name="anim-g2-758"/>
          <p:cNvSpPr/>
          <p:nvPr/>
        </p:nvSpPr>
        <p:spPr>
          <a:xfrm>
            <a:off x="6507328" y="2944368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ليد صغير</a:t>
            </a:r>
            <a:endParaRPr lang="ar-SA" sz="2200" dirty="0"/>
          </a:p>
        </p:txBody>
      </p:sp>
      <p:sp>
        <p:nvSpPr>
          <p:cNvPr id="14" name="anim-g2-759"/>
          <p:cNvSpPr/>
          <p:nvPr/>
        </p:nvSpPr>
        <p:spPr>
          <a:xfrm>
            <a:off x="6507328" y="3493008"/>
            <a:ext cx="18820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يضيء على الأبيض: فحص بلا كود!</a:t>
            </a:r>
            <a:endParaRPr lang="ar-SA" sz="1900" dirty="0"/>
          </a:p>
        </p:txBody>
      </p:sp>
      <p:sp>
        <p:nvSpPr>
          <p:cNvPr id="15" name="anim-g3-760"/>
          <p:cNvSpPr/>
          <p:nvPr/>
        </p:nvSpPr>
        <p:spPr>
          <a:xfrm>
            <a:off x="3527984" y="2011680"/>
            <a:ext cx="2430704" cy="402336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761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762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0️⃣</a:t>
            </a:r>
            <a:endParaRPr lang="ar-SA" sz="2200" dirty="0"/>
          </a:p>
        </p:txBody>
      </p:sp>
      <p:sp>
        <p:nvSpPr>
          <p:cNvPr id="18" name="anim-g3-763"/>
          <p:cNvSpPr/>
          <p:nvPr/>
        </p:nvSpPr>
        <p:spPr>
          <a:xfrm>
            <a:off x="3802304" y="2944368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D0</a:t>
            </a:r>
            <a:endParaRPr lang="ar-SA" sz="2200" dirty="0"/>
          </a:p>
        </p:txBody>
      </p:sp>
      <p:sp>
        <p:nvSpPr>
          <p:cNvPr id="19" name="anim-g3-764"/>
          <p:cNvSpPr/>
          <p:nvPr/>
        </p:nvSpPr>
        <p:spPr>
          <a:xfrm>
            <a:off x="3802304" y="3493008"/>
            <a:ext cx="18820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رقمي: 0 أو 1 (نستعمله)</a:t>
            </a:r>
            <a:endParaRPr lang="ar-SA" sz="1900" dirty="0"/>
          </a:p>
        </p:txBody>
      </p:sp>
      <p:sp>
        <p:nvSpPr>
          <p:cNvPr id="20" name="anim-g4-765"/>
          <p:cNvSpPr/>
          <p:nvPr/>
        </p:nvSpPr>
        <p:spPr>
          <a:xfrm>
            <a:off x="822960" y="2011680"/>
            <a:ext cx="2430704" cy="4023360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766"/>
          <p:cNvSpPr/>
          <p:nvPr/>
        </p:nvSpPr>
        <p:spPr>
          <a:xfrm>
            <a:off x="2412416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767"/>
          <p:cNvSpPr/>
          <p:nvPr/>
        </p:nvSpPr>
        <p:spPr>
          <a:xfrm>
            <a:off x="2412416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〰️</a:t>
            </a:r>
            <a:endParaRPr lang="ar-SA" sz="2200" dirty="0"/>
          </a:p>
        </p:txBody>
      </p:sp>
      <p:sp>
        <p:nvSpPr>
          <p:cNvPr id="23" name="anim-g4-768"/>
          <p:cNvSpPr/>
          <p:nvPr/>
        </p:nvSpPr>
        <p:spPr>
          <a:xfrm>
            <a:off x="1097280" y="2944368"/>
            <a:ext cx="188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A0</a:t>
            </a:r>
            <a:endParaRPr lang="ar-SA" sz="2200" dirty="0"/>
          </a:p>
        </p:txBody>
      </p:sp>
      <p:sp>
        <p:nvSpPr>
          <p:cNvPr id="24" name="anim-g4-769"/>
          <p:cNvSpPr/>
          <p:nvPr/>
        </p:nvSpPr>
        <p:spPr>
          <a:xfrm>
            <a:off x="1097280" y="3493008"/>
            <a:ext cx="188206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تماثلي: درجة الانعكاس (لـ PID لاحقًا)</a:t>
            </a:r>
            <a:endParaRPr lang="ar-SA" sz="19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🤖٣ متتبع الخط  ·  ٨٠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82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770" descr="C:\Users\user\projects\younes-training\esp32-3\.pptx-cache\s82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771" descr="C:\Users\user\projects\younes-training\esp32-3\.pptx-cache\s82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772" descr="C:\Users\user\projects\younes-training\esp32-3\.pptx-cache\s82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773" descr="C:\Users\user\projects\younes-training\esp32-3\.pptx-cache\s82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774" descr="C:\Users\user\projects\younes-training\esp32-3\.pptx-cache\s82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83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775" descr="C:\Users\user\projects\younes-training\esp32-3\.pptx-cache\s83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776" descr="C:\Users\user\projects\younes-training\esp32-3\.pptx-cache\s83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777" descr="C:\Users\user\projects\younes-training\esp32-3\.pptx-cache\s83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778" descr="C:\Users\user\projects\younes-training\esp32-3\.pptx-cache\s83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جدول الحالات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ثلاث عيون = ثماني حالات… وقرار لكل حالة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9303471" y="1874520"/>
            <a:ext cx="2065264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9303471" y="1874520"/>
            <a:ext cx="206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l c r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5063216" y="1874520"/>
            <a:ext cx="4130528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5063216" y="1874520"/>
            <a:ext cx="4130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المعنى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4130528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4130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القرار</a:t>
            </a:r>
            <a:endParaRPr lang="ar-SA" sz="1900" dirty="0"/>
          </a:p>
        </p:txBody>
      </p:sp>
      <p:sp>
        <p:nvSpPr>
          <p:cNvPr id="11" name="anim-g1-779"/>
          <p:cNvSpPr/>
          <p:nvPr/>
        </p:nvSpPr>
        <p:spPr>
          <a:xfrm>
            <a:off x="9303471" y="2514600"/>
            <a:ext cx="2065264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780"/>
          <p:cNvSpPr/>
          <p:nvPr/>
        </p:nvSpPr>
        <p:spPr>
          <a:xfrm>
            <a:off x="9440631" y="2514600"/>
            <a:ext cx="17909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0 1 0</a:t>
            </a:r>
            <a:endParaRPr lang="ar-SA" sz="2100" dirty="0"/>
          </a:p>
        </p:txBody>
      </p:sp>
      <p:sp>
        <p:nvSpPr>
          <p:cNvPr id="13" name="anim-g1-781"/>
          <p:cNvSpPr/>
          <p:nvPr/>
        </p:nvSpPr>
        <p:spPr>
          <a:xfrm>
            <a:off x="5063216" y="2514600"/>
            <a:ext cx="4130528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782"/>
          <p:cNvSpPr/>
          <p:nvPr/>
        </p:nvSpPr>
        <p:spPr>
          <a:xfrm>
            <a:off x="5200376" y="2514600"/>
            <a:ext cx="38562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الخط في المنتصف تمامًا</a:t>
            </a:r>
            <a:endParaRPr lang="ar-SA" sz="2100" dirty="0"/>
          </a:p>
        </p:txBody>
      </p:sp>
      <p:sp>
        <p:nvSpPr>
          <p:cNvPr id="15" name="anim-g1-783"/>
          <p:cNvSpPr/>
          <p:nvPr/>
        </p:nvSpPr>
        <p:spPr>
          <a:xfrm>
            <a:off x="822960" y="2514600"/>
            <a:ext cx="4130528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784"/>
          <p:cNvSpPr/>
          <p:nvPr/>
        </p:nvSpPr>
        <p:spPr>
          <a:xfrm>
            <a:off x="960120" y="2514600"/>
            <a:ext cx="38562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⬆️ انطلق FAST, FAST</a:t>
            </a:r>
            <a:endParaRPr lang="ar-SA" sz="2100" dirty="0"/>
          </a:p>
        </p:txBody>
      </p:sp>
      <p:sp>
        <p:nvSpPr>
          <p:cNvPr id="17" name="anim-g2-785"/>
          <p:cNvSpPr/>
          <p:nvPr/>
        </p:nvSpPr>
        <p:spPr>
          <a:xfrm>
            <a:off x="9303471" y="3119628"/>
            <a:ext cx="2065264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786"/>
          <p:cNvSpPr/>
          <p:nvPr/>
        </p:nvSpPr>
        <p:spPr>
          <a:xfrm>
            <a:off x="9440631" y="3119628"/>
            <a:ext cx="17909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1 0 0 · 1 1 0</a:t>
            </a:r>
            <a:endParaRPr lang="ar-SA" sz="2100" dirty="0"/>
          </a:p>
        </p:txBody>
      </p:sp>
      <p:sp>
        <p:nvSpPr>
          <p:cNvPr id="19" name="anim-g2-787"/>
          <p:cNvSpPr/>
          <p:nvPr/>
        </p:nvSpPr>
        <p:spPr>
          <a:xfrm>
            <a:off x="5063216" y="3119628"/>
            <a:ext cx="4130528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788"/>
          <p:cNvSpPr/>
          <p:nvPr/>
        </p:nvSpPr>
        <p:spPr>
          <a:xfrm>
            <a:off x="5200376" y="3119628"/>
            <a:ext cx="38562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الخط مال يسارًا</a:t>
            </a:r>
            <a:endParaRPr lang="ar-SA" sz="2100" dirty="0"/>
          </a:p>
        </p:txBody>
      </p:sp>
      <p:sp>
        <p:nvSpPr>
          <p:cNvPr id="21" name="anim-g2-789"/>
          <p:cNvSpPr/>
          <p:nvPr/>
        </p:nvSpPr>
        <p:spPr>
          <a:xfrm>
            <a:off x="822960" y="3119628"/>
            <a:ext cx="4130528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790"/>
          <p:cNvSpPr/>
          <p:nvPr/>
        </p:nvSpPr>
        <p:spPr>
          <a:xfrm>
            <a:off x="960120" y="3119628"/>
            <a:ext cx="38562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↰ SLOW, FAST</a:t>
            </a:r>
            <a:endParaRPr lang="ar-SA" sz="2100" dirty="0"/>
          </a:p>
        </p:txBody>
      </p:sp>
      <p:sp>
        <p:nvSpPr>
          <p:cNvPr id="23" name="anim-g3-791"/>
          <p:cNvSpPr/>
          <p:nvPr/>
        </p:nvSpPr>
        <p:spPr>
          <a:xfrm>
            <a:off x="9303471" y="3724656"/>
            <a:ext cx="2065264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792"/>
          <p:cNvSpPr/>
          <p:nvPr/>
        </p:nvSpPr>
        <p:spPr>
          <a:xfrm>
            <a:off x="9440631" y="3724656"/>
            <a:ext cx="17909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0 0 1 · 0 1 1</a:t>
            </a:r>
            <a:endParaRPr lang="ar-SA" sz="2100" dirty="0"/>
          </a:p>
        </p:txBody>
      </p:sp>
      <p:sp>
        <p:nvSpPr>
          <p:cNvPr id="25" name="anim-g3-793"/>
          <p:cNvSpPr/>
          <p:nvPr/>
        </p:nvSpPr>
        <p:spPr>
          <a:xfrm>
            <a:off x="5063216" y="3724656"/>
            <a:ext cx="4130528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794"/>
          <p:cNvSpPr/>
          <p:nvPr/>
        </p:nvSpPr>
        <p:spPr>
          <a:xfrm>
            <a:off x="5200376" y="3724656"/>
            <a:ext cx="38562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الخط مال يمينًا</a:t>
            </a:r>
            <a:endParaRPr lang="ar-SA" sz="2100" dirty="0"/>
          </a:p>
        </p:txBody>
      </p:sp>
      <p:sp>
        <p:nvSpPr>
          <p:cNvPr id="27" name="anim-g3-795"/>
          <p:cNvSpPr/>
          <p:nvPr/>
        </p:nvSpPr>
        <p:spPr>
          <a:xfrm>
            <a:off x="822960" y="3724656"/>
            <a:ext cx="4130528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796"/>
          <p:cNvSpPr/>
          <p:nvPr/>
        </p:nvSpPr>
        <p:spPr>
          <a:xfrm>
            <a:off x="960120" y="3724656"/>
            <a:ext cx="38562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↱ FAST, SLOW</a:t>
            </a:r>
            <a:endParaRPr lang="ar-SA" sz="2100" dirty="0"/>
          </a:p>
        </p:txBody>
      </p:sp>
      <p:sp>
        <p:nvSpPr>
          <p:cNvPr id="29" name="anim-g4-797"/>
          <p:cNvSpPr/>
          <p:nvPr/>
        </p:nvSpPr>
        <p:spPr>
          <a:xfrm>
            <a:off x="9303471" y="4329684"/>
            <a:ext cx="2065264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798"/>
          <p:cNvSpPr/>
          <p:nvPr/>
        </p:nvSpPr>
        <p:spPr>
          <a:xfrm>
            <a:off x="9440631" y="4329684"/>
            <a:ext cx="17909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1 1 1</a:t>
            </a:r>
            <a:endParaRPr lang="ar-SA" sz="2100" dirty="0"/>
          </a:p>
        </p:txBody>
      </p:sp>
      <p:sp>
        <p:nvSpPr>
          <p:cNvPr id="31" name="anim-g4-799"/>
          <p:cNvSpPr/>
          <p:nvPr/>
        </p:nvSpPr>
        <p:spPr>
          <a:xfrm>
            <a:off x="5063216" y="4329684"/>
            <a:ext cx="4130528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800"/>
          <p:cNvSpPr/>
          <p:nvPr/>
        </p:nvSpPr>
        <p:spPr>
          <a:xfrm>
            <a:off x="5200376" y="4329684"/>
            <a:ext cx="38562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تقاطع أو خط عريض</a:t>
            </a:r>
            <a:endParaRPr lang="ar-SA" sz="2100" dirty="0"/>
          </a:p>
        </p:txBody>
      </p:sp>
      <p:sp>
        <p:nvSpPr>
          <p:cNvPr id="33" name="anim-g4-801"/>
          <p:cNvSpPr/>
          <p:nvPr/>
        </p:nvSpPr>
        <p:spPr>
          <a:xfrm>
            <a:off x="822960" y="4329684"/>
            <a:ext cx="4130528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802"/>
          <p:cNvSpPr/>
          <p:nvPr/>
        </p:nvSpPr>
        <p:spPr>
          <a:xfrm>
            <a:off x="960120" y="4329684"/>
            <a:ext cx="38562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⬆️ اعبر مستقيمًا</a:t>
            </a:r>
            <a:endParaRPr lang="ar-SA" sz="2100" dirty="0"/>
          </a:p>
        </p:txBody>
      </p:sp>
      <p:sp>
        <p:nvSpPr>
          <p:cNvPr id="35" name="anim-g5-803"/>
          <p:cNvSpPr/>
          <p:nvPr/>
        </p:nvSpPr>
        <p:spPr>
          <a:xfrm>
            <a:off x="9303471" y="4934712"/>
            <a:ext cx="2065264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6" name="anim-g5-804"/>
          <p:cNvSpPr/>
          <p:nvPr/>
        </p:nvSpPr>
        <p:spPr>
          <a:xfrm>
            <a:off x="9440631" y="4934712"/>
            <a:ext cx="17909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0 0 0</a:t>
            </a:r>
            <a:endParaRPr lang="ar-SA" sz="2100" dirty="0"/>
          </a:p>
        </p:txBody>
      </p:sp>
      <p:sp>
        <p:nvSpPr>
          <p:cNvPr id="37" name="anim-g5-805"/>
          <p:cNvSpPr/>
          <p:nvPr/>
        </p:nvSpPr>
        <p:spPr>
          <a:xfrm>
            <a:off x="5063216" y="4934712"/>
            <a:ext cx="4130528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8" name="anim-g5-806"/>
          <p:cNvSpPr/>
          <p:nvPr/>
        </p:nvSpPr>
        <p:spPr>
          <a:xfrm>
            <a:off x="5200376" y="4934712"/>
            <a:ext cx="38562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ضاع الخط!</a:t>
            </a:r>
            <a:endParaRPr lang="ar-SA" sz="2100" dirty="0"/>
          </a:p>
        </p:txBody>
      </p:sp>
      <p:sp>
        <p:nvSpPr>
          <p:cNvPr id="39" name="anim-g5-807"/>
          <p:cNvSpPr/>
          <p:nvPr/>
        </p:nvSpPr>
        <p:spPr>
          <a:xfrm>
            <a:off x="822960" y="4934712"/>
            <a:ext cx="4130528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0" name="anim-g5-808"/>
          <p:cNvSpPr/>
          <p:nvPr/>
        </p:nvSpPr>
        <p:spPr>
          <a:xfrm>
            <a:off x="960120" y="4934712"/>
            <a:ext cx="38562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🔄 دُر نحو آخر جهة رأيته</a:t>
            </a:r>
            <a:endParaRPr lang="ar-SA" sz="2100" dirty="0"/>
          </a:p>
        </p:txBody>
      </p:sp>
      <p:sp>
        <p:nvSpPr>
          <p:cNvPr id="41" name="anim-g6-809"/>
          <p:cNvSpPr/>
          <p:nvPr/>
        </p:nvSpPr>
        <p:spPr>
          <a:xfrm>
            <a:off x="9303471" y="5539740"/>
            <a:ext cx="2065264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42" name="anim-g6-810"/>
          <p:cNvSpPr/>
          <p:nvPr/>
        </p:nvSpPr>
        <p:spPr>
          <a:xfrm>
            <a:off x="9440631" y="5539740"/>
            <a:ext cx="17909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1 0 1</a:t>
            </a:r>
            <a:endParaRPr lang="ar-SA" sz="2100" dirty="0"/>
          </a:p>
        </p:txBody>
      </p:sp>
      <p:sp>
        <p:nvSpPr>
          <p:cNvPr id="43" name="anim-g6-811"/>
          <p:cNvSpPr/>
          <p:nvPr/>
        </p:nvSpPr>
        <p:spPr>
          <a:xfrm>
            <a:off x="5063216" y="5539740"/>
            <a:ext cx="4130528" cy="495300"/>
          </a:xfrm>
          <a:prstGeom prst="roundRect">
            <a:avLst>
              <a:gd name="adj" fmla="val 221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4" name="anim-g6-812"/>
          <p:cNvSpPr/>
          <p:nvPr/>
        </p:nvSpPr>
        <p:spPr>
          <a:xfrm>
            <a:off x="5200376" y="5539740"/>
            <a:ext cx="38562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نادرة (تفرّع)</a:t>
            </a:r>
            <a:endParaRPr lang="ar-SA" sz="2100" dirty="0"/>
          </a:p>
        </p:txBody>
      </p:sp>
      <p:sp>
        <p:nvSpPr>
          <p:cNvPr id="45" name="anim-g6-813"/>
          <p:cNvSpPr/>
          <p:nvPr/>
        </p:nvSpPr>
        <p:spPr>
          <a:xfrm>
            <a:off x="822960" y="5539740"/>
            <a:ext cx="4130528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6" name="anim-g6-814"/>
          <p:cNvSpPr/>
          <p:nvPr/>
        </p:nvSpPr>
        <p:spPr>
          <a:xfrm>
            <a:off x="960120" y="5539740"/>
            <a:ext cx="38562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يعاملها الكود كضياع</a:t>
            </a:r>
            <a:endParaRPr lang="ar-SA" sz="2100" dirty="0"/>
          </a:p>
        </p:txBody>
      </p:sp>
      <p:sp>
        <p:nvSpPr>
          <p:cNvPr id="47" name="Text 4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8" name="Text 4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🤖٣ متتبع الخط  ·  ٨٤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8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86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815" descr="C:\Users\user\projects\younes-training\esp32-3\.pptx-cache\s86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816" descr="C:\Users\user\projects\younes-training\esp32-3\.pptx-cache\s86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817" descr="C:\Users\user\projects\younes-training\esp32-3\.pptx-cache\s86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818" descr="C:\Users\user\projects\younes-training\esp32-3\.pptx-cache\s86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819" descr="C:\Users\user\projects\younes-training\esp32-3\.pptx-cache\s86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820" descr="C:\Users\user\projects\younes-training\esp32-3\.pptx-cache\s86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5263" y="457200"/>
            <a:ext cx="2633472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735263" y="4572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🔍 تحقق بنفسك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سطر الضياع: هل يدور نحو الجهة الصحيحة؟</a:t>
            </a:r>
            <a:endParaRPr lang="ar-SA" sz="3200" dirty="0"/>
          </a:p>
        </p:txBody>
      </p:sp>
      <p:sp>
        <p:nvSpPr>
          <p:cNvPr id="5" name="anim-g1-821"/>
          <p:cNvSpPr/>
          <p:nvPr/>
        </p:nvSpPr>
        <p:spPr>
          <a:xfrm>
            <a:off x="6233008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822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823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⬅️</a:t>
            </a:r>
            <a:endParaRPr lang="ar-SA" sz="2200" dirty="0"/>
          </a:p>
        </p:txBody>
      </p:sp>
      <p:sp>
        <p:nvSpPr>
          <p:cNvPr id="8" name="anim-g1-824"/>
          <p:cNvSpPr/>
          <p:nvPr/>
        </p:nvSpPr>
        <p:spPr>
          <a:xfrm>
            <a:off x="6507328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lastSide = −1 (آخر مرة رأيناه يسارًا)</a:t>
            </a:r>
            <a:endParaRPr lang="ar-SA" sz="2200" dirty="0"/>
          </a:p>
        </p:txBody>
      </p:sp>
      <p:sp>
        <p:nvSpPr>
          <p:cNvPr id="9" name="anim-g1-825"/>
          <p:cNvSpPr/>
          <p:nvPr/>
        </p:nvSpPr>
        <p:spPr>
          <a:xfrm>
            <a:off x="6507328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motors(150 × −1, −150 × −1) = motors(−150, 150) ← اليسرى للخلف واليمنى للأمام ← يسارًا ✓</a:t>
            </a:r>
            <a:endParaRPr lang="ar-SA" sz="1900" dirty="0"/>
          </a:p>
        </p:txBody>
      </p:sp>
      <p:sp>
        <p:nvSpPr>
          <p:cNvPr id="10" name="anim-g2-826"/>
          <p:cNvSpPr/>
          <p:nvPr/>
        </p:nvSpPr>
        <p:spPr>
          <a:xfrm>
            <a:off x="822960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827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828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➡️</a:t>
            </a:r>
            <a:endParaRPr lang="ar-SA" sz="2200" dirty="0"/>
          </a:p>
        </p:txBody>
      </p:sp>
      <p:sp>
        <p:nvSpPr>
          <p:cNvPr id="13" name="anim-g2-829"/>
          <p:cNvSpPr/>
          <p:nvPr/>
        </p:nvSpPr>
        <p:spPr>
          <a:xfrm>
            <a:off x="1097280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lastSide = 1</a:t>
            </a:r>
            <a:endParaRPr lang="ar-SA" sz="2200" dirty="0"/>
          </a:p>
        </p:txBody>
      </p:sp>
      <p:sp>
        <p:nvSpPr>
          <p:cNvPr id="14" name="anim-g2-830"/>
          <p:cNvSpPr/>
          <p:nvPr/>
        </p:nvSpPr>
        <p:spPr>
          <a:xfrm>
            <a:off x="1097280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motors(150, −150) ← يمينًا ✓</a:t>
            </a:r>
            <a:endParaRPr lang="ar-SA" sz="1900" dirty="0"/>
          </a:p>
        </p:txBody>
      </p:sp>
      <p:sp>
        <p:nvSpPr>
          <p:cNvPr id="15" name="anim-g3-831"/>
          <p:cNvSpPr/>
          <p:nvPr/>
        </p:nvSpPr>
        <p:spPr>
          <a:xfrm>
            <a:off x="6233008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832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833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⏸️</a:t>
            </a:r>
            <a:endParaRPr lang="ar-SA" sz="2200" dirty="0"/>
          </a:p>
        </p:txBody>
      </p:sp>
      <p:sp>
        <p:nvSpPr>
          <p:cNvPr id="18" name="anim-g3-834"/>
          <p:cNvSpPr/>
          <p:nvPr/>
        </p:nvSpPr>
        <p:spPr>
          <a:xfrm>
            <a:off x="6507328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lastSide = 0 (لم نرَ الخط أبدًا)</a:t>
            </a:r>
            <a:endParaRPr lang="ar-SA" sz="2200" dirty="0"/>
          </a:p>
        </p:txBody>
      </p:sp>
      <p:sp>
        <p:nvSpPr>
          <p:cNvPr id="19" name="anim-g3-835"/>
          <p:cNvSpPr/>
          <p:nvPr/>
        </p:nvSpPr>
        <p:spPr>
          <a:xfrm>
            <a:off x="6507328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motors(0, 0): يقف ولا يتجول. ضع الروبوت على الخط قبل التشغيل</a:t>
            </a:r>
            <a:endParaRPr lang="ar-SA" sz="1900" dirty="0"/>
          </a:p>
        </p:txBody>
      </p:sp>
      <p:sp>
        <p:nvSpPr>
          <p:cNvPr id="20" name="anim-g4-836"/>
          <p:cNvSpPr/>
          <p:nvPr/>
        </p:nvSpPr>
        <p:spPr>
          <a:xfrm>
            <a:off x="822960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837"/>
          <p:cNvSpPr/>
          <p:nvPr/>
        </p:nvSpPr>
        <p:spPr>
          <a:xfrm>
            <a:off x="511744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838"/>
          <p:cNvSpPr/>
          <p:nvPr/>
        </p:nvSpPr>
        <p:spPr>
          <a:xfrm>
            <a:off x="511744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🐞</a:t>
            </a:r>
            <a:endParaRPr lang="ar-SA" sz="2200" dirty="0"/>
          </a:p>
        </p:txBody>
      </p:sp>
      <p:sp>
        <p:nvSpPr>
          <p:cNvPr id="23" name="anim-g4-839"/>
          <p:cNvSpPr/>
          <p:nvPr/>
        </p:nvSpPr>
        <p:spPr>
          <a:xfrm>
            <a:off x="1097280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خطأ شائع جرّبناه نحن!</a:t>
            </a:r>
            <a:endParaRPr lang="ar-SA" sz="2200" dirty="0"/>
          </a:p>
        </p:txBody>
      </p:sp>
      <p:sp>
        <p:nvSpPr>
          <p:cNvPr id="24" name="anim-g4-840"/>
          <p:cNvSpPr/>
          <p:nvPr/>
        </p:nvSpPr>
        <p:spPr>
          <a:xfrm>
            <a:off x="1097280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كتبنا الإشارتين بالعكس أول مرة فدار الروبوت بعيدًا عن الخط. المختبر كشفه فورًا: اختبر كل سطر</a:t>
            </a:r>
            <a:endParaRPr lang="ar-SA" sz="19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🤖٣ متتبع الخط  ·  ٨٧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6783" y="457200"/>
            <a:ext cx="1901952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466783" y="4572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🔗 الدمج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ماذا أضفنا إلى الروبوت الأول؟</a:t>
            </a:r>
            <a:endParaRPr lang="ar-SA" sz="3800" dirty="0"/>
          </a:p>
        </p:txBody>
      </p:sp>
      <p:sp>
        <p:nvSpPr>
          <p:cNvPr id="5" name="anim-g1-841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842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843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♻️</a:t>
            </a:r>
            <a:endParaRPr lang="ar-SA" sz="2200" dirty="0"/>
          </a:p>
        </p:txBody>
      </p:sp>
      <p:sp>
        <p:nvSpPr>
          <p:cNvPr id="8" name="anim-g1-844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كما هو</a:t>
            </a:r>
            <a:endParaRPr lang="ar-SA" sz="2200" dirty="0"/>
          </a:p>
        </p:txBody>
      </p:sp>
      <p:sp>
        <p:nvSpPr>
          <p:cNvPr id="9" name="anim-g1-845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motors() والطاقة والأطراف</a:t>
            </a:r>
            <a:endParaRPr lang="ar-SA" sz="1900" dirty="0"/>
          </a:p>
        </p:txBody>
      </p:sp>
      <p:sp>
        <p:nvSpPr>
          <p:cNvPr id="10" name="anim-g2-846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847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848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➕</a:t>
            </a:r>
            <a:endParaRPr lang="ar-SA" sz="2200" dirty="0"/>
          </a:p>
        </p:txBody>
      </p:sp>
      <p:sp>
        <p:nvSpPr>
          <p:cNvPr id="13" name="anim-g2-849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جديد</a:t>
            </a:r>
            <a:endParaRPr lang="ar-SA" sz="2200" dirty="0"/>
          </a:p>
        </p:txBody>
      </p:sp>
      <p:sp>
        <p:nvSpPr>
          <p:cNvPr id="14" name="anim-g2-850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 حساسات على 34/35/39 + متغير ذاكرة</a:t>
            </a:r>
            <a:endParaRPr lang="ar-SA" sz="1900" dirty="0"/>
          </a:p>
        </p:txBody>
      </p:sp>
      <p:sp>
        <p:nvSpPr>
          <p:cNvPr id="15" name="anim-g3-851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852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853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🧠</a:t>
            </a:r>
            <a:endParaRPr lang="ar-SA" sz="2200" dirty="0"/>
          </a:p>
        </p:txBody>
      </p:sp>
      <p:sp>
        <p:nvSpPr>
          <p:cNvPr id="18" name="anim-g3-854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الفكرة</a:t>
            </a:r>
            <a:endParaRPr lang="ar-SA" sz="2200" dirty="0"/>
          </a:p>
        </p:txBody>
      </p:sp>
      <p:sp>
        <p:nvSpPr>
          <p:cNvPr id="19" name="anim-g3-855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حالة ← قرار: جدول من خمسة أسطر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🤖٣ متتبع الخط  ·  ٨٨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89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856" descr="C:\Users\user\projects\younes-training\esp32-3\.pptx-cache\s89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857" descr="C:\Users\user\projects\younes-training\esp32-3\.pptx-cache\s89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858" descr="C:\Users\user\projects\younes-training\esp32-3\.pptx-cache\s89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859" descr="C:\Users\user\projects\younes-training\esp32-3\.pptx-cache\s89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الروبوت يتبع الخط جيدًا… ثم يخرج في كل منعطف حاد. ما أول ما تجربه؟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ارفع FAST</a:t>
            </a:r>
            <a:endParaRPr lang="ar-SA" sz="2200" dirty="0"/>
          </a:p>
        </p:txBody>
      </p:sp>
      <p:sp>
        <p:nvSpPr>
          <p:cNvPr id="9" name="anim-g1-860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861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862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863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ارفع FAST</a:t>
            </a:r>
            <a:endParaRPr lang="ar-SA" sz="2200" dirty="0"/>
          </a:p>
        </p:txBody>
      </p:sp>
      <p:sp>
        <p:nvSpPr>
          <p:cNvPr id="13" name="anim-g1-864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أسرع = أسوأ في المنعطفات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اخفض FAST أو اجعل SLOW أصغر</a:t>
            </a:r>
            <a:endParaRPr lang="ar-SA" sz="2200" dirty="0"/>
          </a:p>
        </p:txBody>
      </p:sp>
      <p:sp>
        <p:nvSpPr>
          <p:cNvPr id="18" name="anim-g1-865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866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0" name="anim-g1-867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21" name="anim-g1-868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اخفض FAST أو اجعل SLOW أصغر</a:t>
            </a:r>
            <a:endParaRPr lang="ar-SA" sz="2200" dirty="0"/>
          </a:p>
        </p:txBody>
      </p:sp>
      <p:sp>
        <p:nvSpPr>
          <p:cNvPr id="22" name="anim-g1-869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وقت أطول للتصحيح ومنعطف أضيق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غيّر الطرف 35</a:t>
            </a:r>
            <a:endParaRPr lang="ar-SA" sz="2200" dirty="0"/>
          </a:p>
        </p:txBody>
      </p:sp>
      <p:sp>
        <p:nvSpPr>
          <p:cNvPr id="27" name="anim-g1-870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871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9" name="anim-g1-872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30" name="anim-g1-873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غيّر الطرف 35</a:t>
            </a:r>
            <a:endParaRPr lang="ar-SA" sz="2200" dirty="0"/>
          </a:p>
        </p:txBody>
      </p:sp>
      <p:sp>
        <p:nvSpPr>
          <p:cNvPr id="31" name="anim-g1-874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الأطراف تعمل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أطفئ الواي فاي</a:t>
            </a:r>
            <a:endParaRPr lang="ar-SA" sz="2200" dirty="0"/>
          </a:p>
        </p:txBody>
      </p:sp>
      <p:sp>
        <p:nvSpPr>
          <p:cNvPr id="36" name="anim-g1-875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876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877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878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أطفئ الواي فاي</a:t>
            </a:r>
            <a:endParaRPr lang="ar-SA" sz="2200" dirty="0"/>
          </a:p>
        </p:txBody>
      </p:sp>
      <p:sp>
        <p:nvSpPr>
          <p:cNvPr id="40" name="anim-g1-879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علاقة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🤖٣ متتبع الخط  ·  ٩٠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9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9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ثلاث عيون + جدول قرارات + ذاكرة صغيرة = روبوت يتبع طريقه وحده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🤖٣ متتبع الخط  ·  ٩٣</a:t>
            </a:r>
            <a:endParaRPr lang="ar-SA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٧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٧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🤖٤ الروبوت المدمج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قطعة جديدة… بل فكرة جديدة: من له الأولوية؟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🤖٤ الدمج  ·  ٩٤</a:t>
            </a:r>
            <a:endParaRPr lang="ar-SA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880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881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882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883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ترتّب الأولويات في loop: الخطر ثم العائق ثم المهمة</a:t>
            </a:r>
            <a:endParaRPr lang="ar-SA" sz="2400" dirty="0"/>
          </a:p>
        </p:txBody>
      </p:sp>
      <p:sp>
        <p:nvSpPr>
          <p:cNvPr id="9" name="anim-g2-884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885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886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887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تحوّل كود كل روبوت سابق إلى دالة جاهزة</a:t>
            </a:r>
            <a:endParaRPr lang="ar-SA" sz="2400" dirty="0"/>
          </a:p>
        </p:txBody>
      </p:sp>
      <p:sp>
        <p:nvSpPr>
          <p:cNvPr id="13" name="anim-g3-888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889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890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891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تخطط مناورة التفاف من خمس خطوات</a:t>
            </a:r>
            <a:endParaRPr lang="ar-SA" sz="2400" dirty="0"/>
          </a:p>
        </p:txBody>
      </p:sp>
      <p:sp>
        <p:nvSpPr>
          <p:cNvPr id="17" name="anim-g4-892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893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894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895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تعيد الروبوت إلى الخط بعد العائق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🤖٤ الدمج  ·  ٩٥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9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572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174175" y="457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قوة الدوال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الروبوتات السابقة أصبحت «قطع ليغو»</a:t>
            </a:r>
            <a:endParaRPr lang="ar-SA" sz="3200" dirty="0"/>
          </a:p>
        </p:txBody>
      </p:sp>
      <p:sp>
        <p:nvSpPr>
          <p:cNvPr id="5" name="anim-g1-896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897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898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🦇</a:t>
            </a:r>
            <a:endParaRPr lang="ar-SA" sz="2200" dirty="0"/>
          </a:p>
        </p:txBody>
      </p:sp>
      <p:sp>
        <p:nvSpPr>
          <p:cNvPr id="8" name="anim-g1-899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readCm()</a:t>
            </a:r>
            <a:endParaRPr lang="ar-SA" sz="2200" dirty="0"/>
          </a:p>
        </p:txBody>
      </p:sp>
      <p:sp>
        <p:nvSpPr>
          <p:cNvPr id="9" name="anim-g1-900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🤖٢ كما هي</a:t>
            </a:r>
            <a:endParaRPr lang="ar-SA" sz="1900" dirty="0"/>
          </a:p>
        </p:txBody>
      </p:sp>
      <p:sp>
        <p:nvSpPr>
          <p:cNvPr id="10" name="anim-g2-901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902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903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〰️</a:t>
            </a:r>
            <a:endParaRPr lang="ar-SA" sz="2200" dirty="0"/>
          </a:p>
        </p:txBody>
      </p:sp>
      <p:sp>
        <p:nvSpPr>
          <p:cNvPr id="13" name="anim-g2-904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followLine()</a:t>
            </a:r>
            <a:endParaRPr lang="ar-SA" sz="2200" dirty="0"/>
          </a:p>
        </p:txBody>
      </p:sp>
      <p:sp>
        <p:nvSpPr>
          <p:cNvPr id="14" name="anim-g2-905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loop متتبع الخط كلها… في دالة</a:t>
            </a:r>
            <a:endParaRPr lang="ar-SA" sz="1900" dirty="0"/>
          </a:p>
        </p:txBody>
      </p:sp>
      <p:sp>
        <p:nvSpPr>
          <p:cNvPr id="15" name="anim-g3-906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907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908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↪️</a:t>
            </a:r>
            <a:endParaRPr lang="ar-SA" sz="2200" dirty="0"/>
          </a:p>
        </p:txBody>
      </p:sp>
      <p:sp>
        <p:nvSpPr>
          <p:cNvPr id="18" name="anim-g3-909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avoid()</a:t>
            </a:r>
            <a:endParaRPr lang="ar-SA" sz="2200" dirty="0"/>
          </a:p>
        </p:txBody>
      </p:sp>
      <p:sp>
        <p:nvSpPr>
          <p:cNvPr id="19" name="anim-g3-910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الجديدة: الالتفاف والعودة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🤖٤ الدمج  ·  ٩٧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9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خطة الالتفاف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ست خطوات حول الصندوق</a:t>
            </a:r>
            <a:endParaRPr lang="ar-SA" sz="3800" dirty="0"/>
          </a:p>
        </p:txBody>
      </p:sp>
      <p:sp>
        <p:nvSpPr>
          <p:cNvPr id="5" name="anim-g1-911"/>
          <p:cNvSpPr/>
          <p:nvPr/>
        </p:nvSpPr>
        <p:spPr>
          <a:xfrm>
            <a:off x="822960" y="1920240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912"/>
          <p:cNvSpPr/>
          <p:nvPr/>
        </p:nvSpPr>
        <p:spPr>
          <a:xfrm>
            <a:off x="10728655" y="2011680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913"/>
          <p:cNvSpPr/>
          <p:nvPr/>
        </p:nvSpPr>
        <p:spPr>
          <a:xfrm>
            <a:off x="10728655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914"/>
          <p:cNvSpPr/>
          <p:nvPr/>
        </p:nvSpPr>
        <p:spPr>
          <a:xfrm>
            <a:off x="1097280" y="1920240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 قف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ثانية خُمس: لا تصطدم بالزخم</a:t>
            </a:r>
            <a:endParaRPr lang="ar-SA" sz="2200" dirty="0"/>
          </a:p>
        </p:txBody>
      </p:sp>
      <p:sp>
        <p:nvSpPr>
          <p:cNvPr id="9" name="anim-g2-915"/>
          <p:cNvSpPr/>
          <p:nvPr/>
        </p:nvSpPr>
        <p:spPr>
          <a:xfrm>
            <a:off x="822960" y="2624328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916"/>
          <p:cNvSpPr/>
          <p:nvPr/>
        </p:nvSpPr>
        <p:spPr>
          <a:xfrm>
            <a:off x="10728655" y="2715768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917"/>
          <p:cNvSpPr/>
          <p:nvPr/>
        </p:nvSpPr>
        <p:spPr>
          <a:xfrm>
            <a:off x="10728655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918"/>
          <p:cNvSpPr/>
          <p:nvPr/>
        </p:nvSpPr>
        <p:spPr>
          <a:xfrm>
            <a:off x="1097280" y="2624328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 انحرف يمينًا ٤٥°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TURN45 من المحور الخامس</a:t>
            </a:r>
            <a:endParaRPr lang="ar-SA" sz="2200" dirty="0"/>
          </a:p>
        </p:txBody>
      </p:sp>
      <p:sp>
        <p:nvSpPr>
          <p:cNvPr id="13" name="anim-g3-919"/>
          <p:cNvSpPr/>
          <p:nvPr/>
        </p:nvSpPr>
        <p:spPr>
          <a:xfrm>
            <a:off x="822960" y="3328416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920"/>
          <p:cNvSpPr/>
          <p:nvPr/>
        </p:nvSpPr>
        <p:spPr>
          <a:xfrm>
            <a:off x="10728655" y="3419856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921"/>
          <p:cNvSpPr/>
          <p:nvPr/>
        </p:nvSpPr>
        <p:spPr>
          <a:xfrm>
            <a:off x="10728655" y="3419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922"/>
          <p:cNvSpPr/>
          <p:nvPr/>
        </p:nvSpPr>
        <p:spPr>
          <a:xfrm>
            <a:off x="1097280" y="3328416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 ابتعد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نصف ثانية للأمام: تجاوز عرض الصندوق</a:t>
            </a:r>
            <a:endParaRPr lang="ar-SA" sz="2200" dirty="0"/>
          </a:p>
        </p:txBody>
      </p:sp>
      <p:sp>
        <p:nvSpPr>
          <p:cNvPr id="17" name="anim-g4-923"/>
          <p:cNvSpPr/>
          <p:nvPr/>
        </p:nvSpPr>
        <p:spPr>
          <a:xfrm>
            <a:off x="822960" y="4032504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924"/>
          <p:cNvSpPr/>
          <p:nvPr/>
        </p:nvSpPr>
        <p:spPr>
          <a:xfrm>
            <a:off x="10728655" y="4123944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925"/>
          <p:cNvSpPr/>
          <p:nvPr/>
        </p:nvSpPr>
        <p:spPr>
          <a:xfrm>
            <a:off x="10728655" y="4123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926"/>
          <p:cNvSpPr/>
          <p:nvPr/>
        </p:nvSpPr>
        <p:spPr>
          <a:xfrm>
            <a:off x="1097280" y="4032504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 قوس نحو اليسار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اليمنى أسرع (110, 210)… حتى يرى أي حساس الخط</a:t>
            </a:r>
            <a:endParaRPr lang="ar-SA" sz="2200" dirty="0"/>
          </a:p>
        </p:txBody>
      </p:sp>
      <p:sp>
        <p:nvSpPr>
          <p:cNvPr id="21" name="anim-g5-927"/>
          <p:cNvSpPr/>
          <p:nvPr/>
        </p:nvSpPr>
        <p:spPr>
          <a:xfrm>
            <a:off x="822960" y="4736592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2" name="anim-g5-928"/>
          <p:cNvSpPr/>
          <p:nvPr/>
        </p:nvSpPr>
        <p:spPr>
          <a:xfrm>
            <a:off x="10728655" y="4828032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23" name="anim-g5-929"/>
          <p:cNvSpPr/>
          <p:nvPr/>
        </p:nvSpPr>
        <p:spPr>
          <a:xfrm>
            <a:off x="10728655" y="4828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٥</a:t>
            </a:r>
            <a:endParaRPr lang="ar-SA" sz="2000" dirty="0"/>
          </a:p>
        </p:txBody>
      </p:sp>
      <p:sp>
        <p:nvSpPr>
          <p:cNvPr id="24" name="anim-g5-930"/>
          <p:cNvSpPr/>
          <p:nvPr/>
        </p:nvSpPr>
        <p:spPr>
          <a:xfrm>
            <a:off x="1097280" y="4736592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٥ اعبر قليلًا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١٢٠ مللي ثانية حتى تصل الحساسات فوق الخط</a:t>
            </a:r>
            <a:endParaRPr lang="ar-SA" sz="2200" dirty="0"/>
          </a:p>
        </p:txBody>
      </p:sp>
      <p:sp>
        <p:nvSpPr>
          <p:cNvPr id="25" name="anim-g6-931"/>
          <p:cNvSpPr/>
          <p:nvPr/>
        </p:nvSpPr>
        <p:spPr>
          <a:xfrm>
            <a:off x="822960" y="5440680"/>
            <a:ext cx="10545775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6-932"/>
          <p:cNvSpPr/>
          <p:nvPr/>
        </p:nvSpPr>
        <p:spPr>
          <a:xfrm>
            <a:off x="10728655" y="5532120"/>
            <a:ext cx="411480" cy="411480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27" name="anim-g6-933"/>
          <p:cNvSpPr/>
          <p:nvPr/>
        </p:nvSpPr>
        <p:spPr>
          <a:xfrm>
            <a:off x="10728655" y="5532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٦</a:t>
            </a:r>
            <a:endParaRPr lang="ar-SA" sz="2000" dirty="0"/>
          </a:p>
        </p:txBody>
      </p:sp>
      <p:sp>
        <p:nvSpPr>
          <p:cNvPr id="28" name="anim-g6-934"/>
          <p:cNvSpPr/>
          <p:nvPr/>
        </p:nvSpPr>
        <p:spPr>
          <a:xfrm>
            <a:off x="1097280" y="5440680"/>
            <a:ext cx="9402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٦ استقم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دُر يسارًا حتى يرى الحساس الأوسط الخط</a:t>
            </a:r>
            <a:endParaRPr lang="ar-SA" sz="2200" dirty="0"/>
          </a:p>
        </p:txBody>
      </p:sp>
      <p:sp>
        <p:nvSpPr>
          <p:cNvPr id="29" name="Text 27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🤖٤ الدمج  ·  ٩٩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00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935" descr="C:\Users\user\projects\younes-training\esp32-3\.pptx-cache\s100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936" descr="C:\Users\user\projects\younes-training\esp32-3\.pptx-cache\s100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937" descr="C:\Users\user\projects\younes-training\esp32-3\.pptx-cache\s100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938" descr="C:\Users\user\projects\younes-training\esp32-3\.pptx-cache\s100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939" descr="C:\Users\user\projects\younes-training\esp32-3\.pptx-cache\s100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940" descr="C:\Users\user\projects\younes-training\esp32-3\.pptx-cache\s100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anim-g7-941" descr="C:\Users\user\projects\younes-training\esp32-3\.pptx-cache\s100-7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6783" y="457200"/>
            <a:ext cx="1901952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466783" y="4572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🔗 الدمج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ماذا أضفنا؟</a:t>
            </a:r>
            <a:endParaRPr lang="ar-SA" sz="3800" dirty="0"/>
          </a:p>
        </p:txBody>
      </p:sp>
      <p:sp>
        <p:nvSpPr>
          <p:cNvPr id="5" name="anim-g1-942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943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944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♻️</a:t>
            </a:r>
            <a:endParaRPr lang="ar-SA" sz="2200" dirty="0"/>
          </a:p>
        </p:txBody>
      </p:sp>
      <p:sp>
        <p:nvSpPr>
          <p:cNvPr id="8" name="anim-g1-945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كما هو</a:t>
            </a:r>
            <a:endParaRPr lang="ar-SA" sz="2200" dirty="0"/>
          </a:p>
        </p:txBody>
      </p:sp>
      <p:sp>
        <p:nvSpPr>
          <p:cNvPr id="9" name="anim-g1-946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القطع وكل الأسلاك و followLine و readCm</a:t>
            </a:r>
            <a:endParaRPr lang="ar-SA" sz="1900" dirty="0"/>
          </a:p>
        </p:txBody>
      </p:sp>
      <p:sp>
        <p:nvSpPr>
          <p:cNvPr id="10" name="anim-g2-947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948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949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➕</a:t>
            </a:r>
            <a:endParaRPr lang="ar-SA" sz="2200" dirty="0"/>
          </a:p>
        </p:txBody>
      </p:sp>
      <p:sp>
        <p:nvSpPr>
          <p:cNvPr id="13" name="anim-g2-950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جديد</a:t>
            </a:r>
            <a:endParaRPr lang="ar-SA" sz="2200" dirty="0"/>
          </a:p>
        </p:txBody>
      </p:sp>
      <p:sp>
        <p:nvSpPr>
          <p:cNvPr id="14" name="anim-g2-951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avoid() + lineSeen() + سطر أولوية</a:t>
            </a:r>
            <a:endParaRPr lang="ar-SA" sz="1900" dirty="0"/>
          </a:p>
        </p:txBody>
      </p:sp>
      <p:sp>
        <p:nvSpPr>
          <p:cNvPr id="15" name="anim-g3-952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953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954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🧠</a:t>
            </a:r>
            <a:endParaRPr lang="ar-SA" sz="2200" dirty="0"/>
          </a:p>
        </p:txBody>
      </p:sp>
      <p:sp>
        <p:nvSpPr>
          <p:cNvPr id="18" name="anim-g3-955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الفكرة</a:t>
            </a:r>
            <a:endParaRPr lang="ar-SA" sz="2200" dirty="0"/>
          </a:p>
        </p:txBody>
      </p:sp>
      <p:sp>
        <p:nvSpPr>
          <p:cNvPr id="19" name="anim-g3-956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الأولويات + الانتظار حتى يتحقق شرط (while)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🤖٤ الدمج  ·  ١٠١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02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957" descr="C:\Users\user\projects\younes-training\esp32-3\.pptx-cache\s102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958" descr="C:\Users\user\projects\younes-training\esp32-3\.pptx-cache\s102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959" descr="C:\Users\user\projects\younes-training\esp32-3\.pptx-cache\s102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960" descr="C:\Users\user\projects\younes-training\esp32-3\.pptx-cache\s102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الروبوت يلتف حول الصندوق… ثم يعود للخط بالاتجاه المعاكس! لماذا؟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الحساس الأوسط معطل</a:t>
            </a:r>
            <a:endParaRPr lang="ar-SA" sz="2200" dirty="0"/>
          </a:p>
        </p:txBody>
      </p:sp>
      <p:sp>
        <p:nvSpPr>
          <p:cNvPr id="9" name="anim-g1-961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962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963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964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الحساس الأوسط معطل</a:t>
            </a:r>
            <a:endParaRPr lang="ar-SA" sz="2200" dirty="0"/>
          </a:p>
        </p:txBody>
      </p:sp>
      <p:sp>
        <p:nvSpPr>
          <p:cNvPr id="13" name="anim-g1-965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لما وجد الخط أصلًا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TURN45 كبير</a:t>
            </a:r>
            <a:endParaRPr lang="ar-SA" sz="2200" dirty="0"/>
          </a:p>
        </p:txBody>
      </p:sp>
      <p:sp>
        <p:nvSpPr>
          <p:cNvPr id="18" name="anim-g1-966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967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0" name="anim-g1-968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21" name="anim-g1-969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TURN45 كبير</a:t>
            </a:r>
            <a:endParaRPr lang="ar-SA" sz="2200" dirty="0"/>
          </a:p>
        </p:txBody>
      </p:sp>
      <p:sp>
        <p:nvSpPr>
          <p:cNvPr id="22" name="anim-g1-970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يغيّر زاوية البداية فقط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الخطوة ٦ دارت أكثر من اللازم فعكست الاتجاه</a:t>
            </a:r>
            <a:endParaRPr lang="ar-SA" sz="2200" dirty="0"/>
          </a:p>
        </p:txBody>
      </p:sp>
      <p:sp>
        <p:nvSpPr>
          <p:cNvPr id="27" name="anim-g1-97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28" name="anim-g1-97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9" name="anim-g1-97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30" name="anim-g1-974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الخطوة ٦ دارت أكثر من اللازم فعكست الاتجاه</a:t>
            </a:r>
            <a:endParaRPr lang="ar-SA" sz="2200" dirty="0"/>
          </a:p>
        </p:txBody>
      </p:sp>
      <p:sp>
        <p:nvSpPr>
          <p:cNvPr id="31" name="anim-g1-975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إن عبر الخط بزاوية حادة يحتاج الدوران الأقصر. جرّب الخطوة ٥ أطول قليلًا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البطارية</a:t>
            </a:r>
            <a:endParaRPr lang="ar-SA" sz="2200" dirty="0"/>
          </a:p>
        </p:txBody>
      </p:sp>
      <p:sp>
        <p:nvSpPr>
          <p:cNvPr id="36" name="anim-g1-976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977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978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979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البطارية</a:t>
            </a:r>
            <a:endParaRPr lang="ar-SA" sz="2200" dirty="0"/>
          </a:p>
        </p:txBody>
      </p:sp>
      <p:sp>
        <p:nvSpPr>
          <p:cNvPr id="40" name="anim-g1-980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علاقة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🤖٤ الدمج  ·  ١٠٣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الروبوت الذكي ليس بعدد قطعه…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بل بترتيب قراراته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🤖٤ الدمج  ·  ١٠٦</a:t>
            </a:r>
            <a:endParaRPr lang="ar-SA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٨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٨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🤖٥ روبوت السومو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حلبة دائرية… خصم واحد… من يُخرج الآخر أولًا؟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🤖٥ السومو  ·  ١٠٧</a:t>
            </a:r>
            <a:endParaRPr lang="ar-SA" sz="1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981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982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983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984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تعرف قوانين السومو الأساسية</a:t>
            </a:r>
            <a:endParaRPr lang="ar-SA" sz="2400" dirty="0"/>
          </a:p>
        </p:txBody>
      </p:sp>
      <p:sp>
        <p:nvSpPr>
          <p:cNvPr id="9" name="anim-g2-985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986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987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988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تستعمل زر BOOT الموجود على اللوحة لبدء النزال</a:t>
            </a:r>
            <a:endParaRPr lang="ar-SA" sz="2400" dirty="0"/>
          </a:p>
        </p:txBody>
      </p:sp>
      <p:sp>
        <p:nvSpPr>
          <p:cNvPr id="13" name="anim-g3-989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990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991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992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تكتب استراتيجية بثلاث أولويات: الحافة، الهجوم، البحث</a:t>
            </a:r>
            <a:endParaRPr lang="ar-SA" sz="2400" dirty="0"/>
          </a:p>
        </p:txBody>
      </p:sp>
      <p:sp>
        <p:nvSpPr>
          <p:cNvPr id="17" name="anim-g4-993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994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995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996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تحسّن روبوتك ميكانيكيًا: الوزن والنصل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🤖٥ السومو  ·  ١٠٨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6783" y="457200"/>
            <a:ext cx="1901952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466783" y="4572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القوانين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سومو الروبوتات المصغّر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129962" y="1874520"/>
            <a:ext cx="3238773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129962" y="1874520"/>
            <a:ext cx="32387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البند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7197274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71972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القاعدة</a:t>
            </a:r>
            <a:endParaRPr lang="ar-SA" sz="1900" dirty="0"/>
          </a:p>
        </p:txBody>
      </p:sp>
      <p:sp>
        <p:nvSpPr>
          <p:cNvPr id="9" name="anim-g1-997"/>
          <p:cNvSpPr/>
          <p:nvPr/>
        </p:nvSpPr>
        <p:spPr>
          <a:xfrm>
            <a:off x="8129962" y="2514600"/>
            <a:ext cx="3238773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0" name="anim-g1-998"/>
          <p:cNvSpPr/>
          <p:nvPr/>
        </p:nvSpPr>
        <p:spPr>
          <a:xfrm>
            <a:off x="8267122" y="2514600"/>
            <a:ext cx="2964453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⭕ الحلبة</a:t>
            </a:r>
            <a:endParaRPr lang="ar-SA" sz="2100" dirty="0"/>
          </a:p>
        </p:txBody>
      </p:sp>
      <p:sp>
        <p:nvSpPr>
          <p:cNvPr id="11" name="anim-g1-999"/>
          <p:cNvSpPr/>
          <p:nvPr/>
        </p:nvSpPr>
        <p:spPr>
          <a:xfrm>
            <a:off x="822960" y="2514600"/>
            <a:ext cx="7197274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2" name="anim-g1-1000"/>
          <p:cNvSpPr/>
          <p:nvPr/>
        </p:nvSpPr>
        <p:spPr>
          <a:xfrm>
            <a:off x="960120" y="2514600"/>
            <a:ext cx="6922954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دائرة سوداء قطرها ٧٧ سم وحافتها بيضاء ٢٫٥ سم</a:t>
            </a:r>
            <a:endParaRPr lang="ar-SA" sz="2100" dirty="0"/>
          </a:p>
        </p:txBody>
      </p:sp>
      <p:sp>
        <p:nvSpPr>
          <p:cNvPr id="13" name="anim-g2-1001"/>
          <p:cNvSpPr/>
          <p:nvPr/>
        </p:nvSpPr>
        <p:spPr>
          <a:xfrm>
            <a:off x="8129962" y="3240634"/>
            <a:ext cx="3238773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4" name="anim-g2-1002"/>
          <p:cNvSpPr/>
          <p:nvPr/>
        </p:nvSpPr>
        <p:spPr>
          <a:xfrm>
            <a:off x="8267122" y="3240634"/>
            <a:ext cx="2964453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📦 الروبوت</a:t>
            </a:r>
            <a:endParaRPr lang="ar-SA" sz="2100" dirty="0"/>
          </a:p>
        </p:txBody>
      </p:sp>
      <p:sp>
        <p:nvSpPr>
          <p:cNvPr id="15" name="anim-g2-1003"/>
          <p:cNvSpPr/>
          <p:nvPr/>
        </p:nvSpPr>
        <p:spPr>
          <a:xfrm>
            <a:off x="822960" y="3240634"/>
            <a:ext cx="7197274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2-1004"/>
          <p:cNvSpPr/>
          <p:nvPr/>
        </p:nvSpPr>
        <p:spPr>
          <a:xfrm>
            <a:off x="960120" y="3240634"/>
            <a:ext cx="6922954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١٠ × ١٠ سم وحتى ٥٠٠ غرام (المصغّر). سياراتنا تتنافس في فئة مفتوحة</a:t>
            </a:r>
            <a:endParaRPr lang="ar-SA" sz="2100" dirty="0"/>
          </a:p>
        </p:txBody>
      </p:sp>
      <p:sp>
        <p:nvSpPr>
          <p:cNvPr id="17" name="anim-g3-1005"/>
          <p:cNvSpPr/>
          <p:nvPr/>
        </p:nvSpPr>
        <p:spPr>
          <a:xfrm>
            <a:off x="8129962" y="3966667"/>
            <a:ext cx="3238773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3-1006"/>
          <p:cNvSpPr/>
          <p:nvPr/>
        </p:nvSpPr>
        <p:spPr>
          <a:xfrm>
            <a:off x="8267122" y="3966667"/>
            <a:ext cx="2964453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⏱️ البداية</a:t>
            </a:r>
            <a:endParaRPr lang="ar-SA" sz="2100" dirty="0"/>
          </a:p>
        </p:txBody>
      </p:sp>
      <p:sp>
        <p:nvSpPr>
          <p:cNvPr id="19" name="anim-g3-1007"/>
          <p:cNvSpPr/>
          <p:nvPr/>
        </p:nvSpPr>
        <p:spPr>
          <a:xfrm>
            <a:off x="822960" y="3966667"/>
            <a:ext cx="7197274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0" name="anim-g3-1008"/>
          <p:cNvSpPr/>
          <p:nvPr/>
        </p:nvSpPr>
        <p:spPr>
          <a:xfrm>
            <a:off x="960120" y="3966667"/>
            <a:ext cx="6922954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يضغط الحَكَم البدء ثم ٥ ثوانٍ بلا حركة</a:t>
            </a:r>
            <a:endParaRPr lang="ar-SA" sz="2100" dirty="0"/>
          </a:p>
        </p:txBody>
      </p:sp>
      <p:sp>
        <p:nvSpPr>
          <p:cNvPr id="21" name="anim-g4-1009"/>
          <p:cNvSpPr/>
          <p:nvPr/>
        </p:nvSpPr>
        <p:spPr>
          <a:xfrm>
            <a:off x="8129962" y="4692701"/>
            <a:ext cx="3238773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2" name="anim-g4-1010"/>
          <p:cNvSpPr/>
          <p:nvPr/>
        </p:nvSpPr>
        <p:spPr>
          <a:xfrm>
            <a:off x="8267122" y="4692701"/>
            <a:ext cx="2964453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🏆 النقطة</a:t>
            </a:r>
            <a:endParaRPr lang="ar-SA" sz="2100" dirty="0"/>
          </a:p>
        </p:txBody>
      </p:sp>
      <p:sp>
        <p:nvSpPr>
          <p:cNvPr id="23" name="anim-g4-1011"/>
          <p:cNvSpPr/>
          <p:nvPr/>
        </p:nvSpPr>
        <p:spPr>
          <a:xfrm>
            <a:off x="822960" y="4692701"/>
            <a:ext cx="7197274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4" name="anim-g4-1012"/>
          <p:cNvSpPr/>
          <p:nvPr/>
        </p:nvSpPr>
        <p:spPr>
          <a:xfrm>
            <a:off x="960120" y="4692701"/>
            <a:ext cx="6922954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يُخرج خصمه من الحلبة. الفائز من يسجل نقطتين</a:t>
            </a:r>
            <a:endParaRPr lang="ar-SA" sz="2100" dirty="0"/>
          </a:p>
        </p:txBody>
      </p:sp>
      <p:sp>
        <p:nvSpPr>
          <p:cNvPr id="25" name="anim-g5-1013"/>
          <p:cNvSpPr/>
          <p:nvPr/>
        </p:nvSpPr>
        <p:spPr>
          <a:xfrm>
            <a:off x="8129962" y="5418734"/>
            <a:ext cx="3238773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6" name="anim-g5-1014"/>
          <p:cNvSpPr/>
          <p:nvPr/>
        </p:nvSpPr>
        <p:spPr>
          <a:xfrm>
            <a:off x="8267122" y="5418734"/>
            <a:ext cx="2964453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🚫 ممنوع</a:t>
            </a:r>
            <a:endParaRPr lang="ar-SA" sz="2100" dirty="0"/>
          </a:p>
        </p:txBody>
      </p:sp>
      <p:sp>
        <p:nvSpPr>
          <p:cNvPr id="27" name="anim-g5-1015"/>
          <p:cNvSpPr/>
          <p:nvPr/>
        </p:nvSpPr>
        <p:spPr>
          <a:xfrm>
            <a:off x="822960" y="5418734"/>
            <a:ext cx="7197274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5-1016"/>
          <p:cNvSpPr/>
          <p:nvPr/>
        </p:nvSpPr>
        <p:spPr>
          <a:xfrm>
            <a:off x="960120" y="5418734"/>
            <a:ext cx="6922954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التحكم عن بعد، وأي شيء يتلف الحلبة أو الخصم</a:t>
            </a:r>
            <a:endParaRPr lang="ar-SA" sz="2100" dirty="0"/>
          </a:p>
        </p:txBody>
      </p:sp>
      <p:sp>
        <p:nvSpPr>
          <p:cNvPr id="29" name="Text 27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🤖٥ السومو  ·  ١٠٩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18527" y="457200"/>
            <a:ext cx="395020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7418527" y="45720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نفس القطع… وظائف جديدة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 الذي تغيّر في السيارة؟</a:t>
            </a:r>
            <a:endParaRPr lang="ar-SA" sz="3800" dirty="0"/>
          </a:p>
        </p:txBody>
      </p:sp>
      <p:sp>
        <p:nvSpPr>
          <p:cNvPr id="5" name="anim-g1-1017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018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019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〰️➡️⚠️</a:t>
            </a:r>
            <a:endParaRPr lang="ar-SA" sz="2200" dirty="0"/>
          </a:p>
        </p:txBody>
      </p:sp>
      <p:sp>
        <p:nvSpPr>
          <p:cNvPr id="8" name="anim-g1-1020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حساسا الخط الطرفيان</a:t>
            </a:r>
            <a:endParaRPr lang="ar-SA" sz="2200" dirty="0"/>
          </a:p>
        </p:txBody>
      </p:sp>
      <p:sp>
        <p:nvSpPr>
          <p:cNvPr id="9" name="anim-g1-1021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ينقلان إلى زاويتي المقدمة: يريان الحافة البيضاء (34 و39)</a:t>
            </a:r>
            <a:endParaRPr lang="ar-SA" sz="1900" dirty="0"/>
          </a:p>
        </p:txBody>
      </p:sp>
      <p:sp>
        <p:nvSpPr>
          <p:cNvPr id="10" name="anim-g2-1022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023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024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🦇➡️🎯</a:t>
            </a:r>
            <a:endParaRPr lang="ar-SA" sz="2200" dirty="0"/>
          </a:p>
        </p:txBody>
      </p:sp>
      <p:sp>
        <p:nvSpPr>
          <p:cNvPr id="13" name="anim-g2-1025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الألتراسونك</a:t>
            </a:r>
            <a:endParaRPr lang="ar-SA" sz="2200" dirty="0"/>
          </a:p>
        </p:txBody>
      </p:sp>
      <p:sp>
        <p:nvSpPr>
          <p:cNvPr id="14" name="anim-g2-1026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يبحث عن الخصم بدل العوائق: أقل من ٤٠ سم = هجوم</a:t>
            </a:r>
            <a:endParaRPr lang="ar-SA" sz="1900" dirty="0"/>
          </a:p>
        </p:txBody>
      </p:sp>
      <p:sp>
        <p:nvSpPr>
          <p:cNvPr id="15" name="anim-g3-1027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1028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1029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🔘💡</a:t>
            </a:r>
            <a:endParaRPr lang="ar-SA" sz="2200" dirty="0"/>
          </a:p>
        </p:txBody>
      </p:sp>
      <p:sp>
        <p:nvSpPr>
          <p:cNvPr id="18" name="anim-g3-1030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BOOT والليد</a:t>
            </a:r>
            <a:endParaRPr lang="ar-SA" sz="2200" dirty="0"/>
          </a:p>
        </p:txBody>
      </p:sp>
      <p:sp>
        <p:nvSpPr>
          <p:cNvPr id="19" name="anim-g3-1031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زر البدء (0) والعد التنازلي (2)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🤖٥ السومو  ·  ١١١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13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032" descr="C:\Users\user\projects\younes-training\esp32-3\.pptx-cache\s113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033" descr="C:\Users\user\projects\younes-training\esp32-3\.pptx-cache\s113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034" descr="C:\Users\user\projects\younes-training\esp32-3\.pptx-cache\s113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035" descr="C:\Users\user\projects\younes-training\esp32-3\.pptx-cache\s113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1036" descr="C:\Users\user\projects\younes-training\esp32-3\.pptx-cache\s113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14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037" descr="C:\Users\user\projects\younes-training\esp32-3\.pptx-cache\s114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038" descr="C:\Users\user\projects\younes-training\esp32-3\.pptx-cache\s114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039" descr="C:\Users\user\projects\younes-training\esp32-3\.pptx-cache\s114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040" descr="C:\Users\user\projects\younes-training\esp32-3\.pptx-cache\s114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1041" descr="C:\Users\user\projects\younes-training\esp32-3\.pptx-cache\s114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5263" y="457200"/>
            <a:ext cx="2633472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735263" y="4572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أسرار الأبطال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حسّن روبوتك: الميكانيكا تفوز غالبًا</a:t>
            </a:r>
            <a:endParaRPr lang="ar-SA" sz="3200" dirty="0"/>
          </a:p>
        </p:txBody>
      </p:sp>
      <p:sp>
        <p:nvSpPr>
          <p:cNvPr id="5" name="anim-g1-1042"/>
          <p:cNvSpPr/>
          <p:nvPr/>
        </p:nvSpPr>
        <p:spPr>
          <a:xfrm>
            <a:off x="8036357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043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044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⚖️</a:t>
            </a:r>
            <a:endParaRPr lang="ar-SA" sz="2200" dirty="0"/>
          </a:p>
        </p:txBody>
      </p:sp>
      <p:sp>
        <p:nvSpPr>
          <p:cNvPr id="8" name="anim-g1-1045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الوزن منخفض وأمامي</a:t>
            </a:r>
            <a:endParaRPr lang="ar-SA" sz="2200" dirty="0"/>
          </a:p>
        </p:txBody>
      </p:sp>
      <p:sp>
        <p:nvSpPr>
          <p:cNvPr id="9" name="anim-g1-1046"/>
          <p:cNvSpPr/>
          <p:nvPr/>
        </p:nvSpPr>
        <p:spPr>
          <a:xfrm>
            <a:off x="8310677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البطاريات في الأسفل والمقدمة: يصعب رفعك</a:t>
            </a:r>
            <a:endParaRPr lang="ar-SA" sz="1900" dirty="0"/>
          </a:p>
        </p:txBody>
      </p:sp>
      <p:sp>
        <p:nvSpPr>
          <p:cNvPr id="10" name="anim-g2-1047"/>
          <p:cNvSpPr/>
          <p:nvPr/>
        </p:nvSpPr>
        <p:spPr>
          <a:xfrm>
            <a:off x="4429658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048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049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🗡️</a:t>
            </a:r>
            <a:endParaRPr lang="ar-SA" sz="2200" dirty="0"/>
          </a:p>
        </p:txBody>
      </p:sp>
      <p:sp>
        <p:nvSpPr>
          <p:cNvPr id="13" name="anim-g2-1050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نصل مائل</a:t>
            </a:r>
            <a:endParaRPr lang="ar-SA" sz="2200" dirty="0"/>
          </a:p>
        </p:txBody>
      </p:sp>
      <p:sp>
        <p:nvSpPr>
          <p:cNvPr id="14" name="anim-g2-1051"/>
          <p:cNvSpPr/>
          <p:nvPr/>
        </p:nvSpPr>
        <p:spPr>
          <a:xfrm>
            <a:off x="4703978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صفيحة معدنية تلامس الأرض: تنزلق تحت الخصم وترفعه</a:t>
            </a:r>
            <a:endParaRPr lang="ar-SA" sz="1900" dirty="0"/>
          </a:p>
        </p:txBody>
      </p:sp>
      <p:sp>
        <p:nvSpPr>
          <p:cNvPr id="15" name="anim-g3-1052"/>
          <p:cNvSpPr/>
          <p:nvPr/>
        </p:nvSpPr>
        <p:spPr>
          <a:xfrm>
            <a:off x="822960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1053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1054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🛞</a:t>
            </a:r>
            <a:endParaRPr lang="ar-SA" sz="2200" dirty="0"/>
          </a:p>
        </p:txBody>
      </p:sp>
      <p:sp>
        <p:nvSpPr>
          <p:cNvPr id="18" name="anim-g3-1055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عجلات مطاطية نظيفة</a:t>
            </a:r>
            <a:endParaRPr lang="ar-SA" sz="2200" dirty="0"/>
          </a:p>
        </p:txBody>
      </p:sp>
      <p:sp>
        <p:nvSpPr>
          <p:cNvPr id="19" name="anim-g3-1056"/>
          <p:cNvSpPr/>
          <p:nvPr/>
        </p:nvSpPr>
        <p:spPr>
          <a:xfrm>
            <a:off x="1097280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الاحتكاك = قوة الدفع. امسحها قبل كل جولة</a:t>
            </a:r>
            <a:endParaRPr lang="ar-SA" sz="1900" dirty="0"/>
          </a:p>
        </p:txBody>
      </p:sp>
      <p:sp>
        <p:nvSpPr>
          <p:cNvPr id="20" name="anim-g4-1057"/>
          <p:cNvSpPr/>
          <p:nvPr/>
        </p:nvSpPr>
        <p:spPr>
          <a:xfrm>
            <a:off x="8036357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1058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1059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↩️</a:t>
            </a:r>
            <a:endParaRPr lang="ar-SA" sz="2200" dirty="0"/>
          </a:p>
        </p:txBody>
      </p:sp>
      <p:sp>
        <p:nvSpPr>
          <p:cNvPr id="23" name="anim-g4-1060"/>
          <p:cNvSpPr/>
          <p:nvPr/>
        </p:nvSpPr>
        <p:spPr>
          <a:xfrm>
            <a:off x="8310677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لا تهاجم مباشرة</a:t>
            </a:r>
            <a:endParaRPr lang="ar-SA" sz="2200" dirty="0"/>
          </a:p>
        </p:txBody>
      </p:sp>
      <p:sp>
        <p:nvSpPr>
          <p:cNvPr id="24" name="anim-g4-1061"/>
          <p:cNvSpPr/>
          <p:nvPr/>
        </p:nvSpPr>
        <p:spPr>
          <a:xfrm>
            <a:off x="8310677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التفاف جانبي في البداية يتجنب الصدام المباشر</a:t>
            </a:r>
            <a:endParaRPr lang="ar-SA" sz="1900" dirty="0"/>
          </a:p>
        </p:txBody>
      </p:sp>
      <p:sp>
        <p:nvSpPr>
          <p:cNvPr id="25" name="anim-g5-1062"/>
          <p:cNvSpPr/>
          <p:nvPr/>
        </p:nvSpPr>
        <p:spPr>
          <a:xfrm>
            <a:off x="4429658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6" name="anim-g5-1063"/>
          <p:cNvSpPr/>
          <p:nvPr/>
        </p:nvSpPr>
        <p:spPr>
          <a:xfrm>
            <a:off x="6920789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7" name="anim-g5-1064"/>
          <p:cNvSpPr/>
          <p:nvPr/>
        </p:nvSpPr>
        <p:spPr>
          <a:xfrm>
            <a:off x="6920789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🎲</a:t>
            </a:r>
            <a:endParaRPr lang="ar-SA" sz="2200" dirty="0"/>
          </a:p>
        </p:txBody>
      </p:sp>
      <p:sp>
        <p:nvSpPr>
          <p:cNvPr id="28" name="anim-g5-1065"/>
          <p:cNvSpPr/>
          <p:nvPr/>
        </p:nvSpPr>
        <p:spPr>
          <a:xfrm>
            <a:off x="4703978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غيّر جهة البحث</a:t>
            </a:r>
            <a:endParaRPr lang="ar-SA" sz="2200" dirty="0"/>
          </a:p>
        </p:txBody>
      </p:sp>
      <p:sp>
        <p:nvSpPr>
          <p:cNvPr id="29" name="anim-g5-1066"/>
          <p:cNvSpPr/>
          <p:nvPr/>
        </p:nvSpPr>
        <p:spPr>
          <a:xfrm>
            <a:off x="4703978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الخصم الذكي يتوقع دورانك</a:t>
            </a:r>
            <a:endParaRPr lang="ar-SA" sz="1900" dirty="0"/>
          </a:p>
        </p:txBody>
      </p:sp>
      <p:sp>
        <p:nvSpPr>
          <p:cNvPr id="30" name="anim-g6-1067"/>
          <p:cNvSpPr/>
          <p:nvPr/>
        </p:nvSpPr>
        <p:spPr>
          <a:xfrm>
            <a:off x="822960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31" name="anim-g6-1068"/>
          <p:cNvSpPr/>
          <p:nvPr/>
        </p:nvSpPr>
        <p:spPr>
          <a:xfrm>
            <a:off x="331409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32" name="anim-g6-1069"/>
          <p:cNvSpPr/>
          <p:nvPr/>
        </p:nvSpPr>
        <p:spPr>
          <a:xfrm>
            <a:off x="331409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🔋</a:t>
            </a:r>
            <a:endParaRPr lang="ar-SA" sz="2200" dirty="0"/>
          </a:p>
        </p:txBody>
      </p:sp>
      <p:sp>
        <p:nvSpPr>
          <p:cNvPr id="33" name="anim-g6-1070"/>
          <p:cNvSpPr/>
          <p:nvPr/>
        </p:nvSpPr>
        <p:spPr>
          <a:xfrm>
            <a:off x="1097280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بطارية مشحونة</a:t>
            </a:r>
            <a:endParaRPr lang="ar-SA" sz="2200" dirty="0"/>
          </a:p>
        </p:txBody>
      </p:sp>
      <p:sp>
        <p:nvSpPr>
          <p:cNvPr id="34" name="anim-g6-1071"/>
          <p:cNvSpPr/>
          <p:nvPr/>
        </p:nvSpPr>
        <p:spPr>
          <a:xfrm>
            <a:off x="1097280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ضعف الجهد = ضعف الدفع (وBrownout!)</a:t>
            </a:r>
            <a:endParaRPr lang="ar-SA" sz="1900" dirty="0"/>
          </a:p>
        </p:txBody>
      </p:sp>
      <p:sp>
        <p:nvSpPr>
          <p:cNvPr id="35" name="Text 3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🤖٥ السومو  ·  ١١٥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16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072" descr="C:\Users\user\projects\younes-training\esp32-3\.pptx-cache\s116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073" descr="C:\Users\user\projects\younes-training\esp32-3\.pptx-cache\s116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074" descr="C:\Users\user\projects\younes-training\esp32-3\.pptx-cache\s116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075" descr="C:\Users\user\projects\younes-training\esp32-3\.pptx-cache\s116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الروبوت يسقط من الحلبة وحده وهو يبحث… أين الخلل غالبًا؟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حساسا الحافة: الارتفاع أو المقاومة الزرقاء</a:t>
            </a:r>
            <a:endParaRPr lang="ar-SA" sz="2200" dirty="0"/>
          </a:p>
        </p:txBody>
      </p:sp>
      <p:sp>
        <p:nvSpPr>
          <p:cNvPr id="9" name="anim-g1-1076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0" name="anim-g1-1077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11" name="anim-g1-1078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12" name="anim-g1-1079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حساسا الحافة: الارتفاع أو المقاومة الزرقاء</a:t>
            </a:r>
            <a:endParaRPr lang="ar-SA" sz="2200" dirty="0"/>
          </a:p>
        </p:txBody>
      </p:sp>
      <p:sp>
        <p:nvSpPr>
          <p:cNvPr id="13" name="anim-g1-1080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افحصهما بـ IRTest على الحافة البيضاء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سرعة الهجوم</a:t>
            </a:r>
            <a:endParaRPr lang="ar-SA" sz="2200" dirty="0"/>
          </a:p>
        </p:txBody>
      </p:sp>
      <p:sp>
        <p:nvSpPr>
          <p:cNvPr id="18" name="anim-g1-1081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1082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0" name="anim-g1-1083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21" name="anim-g1-1084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سرعة الهجوم</a:t>
            </a:r>
            <a:endParaRPr lang="ar-SA" sz="2200" dirty="0"/>
          </a:p>
        </p:txBody>
      </p:sp>
      <p:sp>
        <p:nvSpPr>
          <p:cNvPr id="22" name="anim-g1-1085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يهاجم أحدًا أصلًا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زر BOOT</a:t>
            </a:r>
            <a:endParaRPr lang="ar-SA" sz="2200" dirty="0"/>
          </a:p>
        </p:txBody>
      </p:sp>
      <p:sp>
        <p:nvSpPr>
          <p:cNvPr id="27" name="anim-g1-1086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1087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9" name="anim-g1-1088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30" name="anim-g1-1089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زر BOOT</a:t>
            </a:r>
            <a:endParaRPr lang="ar-SA" sz="2200" dirty="0"/>
          </a:p>
        </p:txBody>
      </p:sp>
      <p:sp>
        <p:nvSpPr>
          <p:cNvPr id="31" name="anim-g1-1090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يعمل مرة في البداية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الواي فاي</a:t>
            </a:r>
            <a:endParaRPr lang="ar-SA" sz="2200" dirty="0"/>
          </a:p>
        </p:txBody>
      </p:sp>
      <p:sp>
        <p:nvSpPr>
          <p:cNvPr id="36" name="anim-g1-1091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1092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1093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1094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الواي فاي</a:t>
            </a:r>
            <a:endParaRPr lang="ar-SA" sz="2200" dirty="0"/>
          </a:p>
        </p:txBody>
      </p:sp>
      <p:sp>
        <p:nvSpPr>
          <p:cNvPr id="40" name="anim-g1-1095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غير مستعمل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🤖٥ السومو  ·  ١١٧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الحافة أولًا…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ثم الهجوم… ثم البحث. والقطع نفسها بوظائف جديدة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🤖٥ السومو  ·  ١٢٠</a:t>
            </a:r>
            <a:endParaRPr lang="ar-SA" sz="1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٩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٩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🤖٦ السيارة المتكاملة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سيارة واحدة… أربعة عقول… تختار بينها بلمسة على جوالك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🤖٦ السيارة المتكاملة  ·  ١٢١</a:t>
            </a:r>
            <a:endParaRPr lang="ar-SA" sz="12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1096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1097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1098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1099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تجمع دوال المحاور ٤–٧ في برنامج واحد</a:t>
            </a:r>
            <a:endParaRPr lang="ar-SA" sz="2400" dirty="0"/>
          </a:p>
        </p:txBody>
      </p:sp>
      <p:sp>
        <p:nvSpPr>
          <p:cNvPr id="9" name="anim-g2-1100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1101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1102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1103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تختار السلوك بمتغير mode وswitch</a:t>
            </a:r>
            <a:endParaRPr lang="ar-SA" sz="2400" dirty="0"/>
          </a:p>
        </p:txBody>
      </p:sp>
      <p:sp>
        <p:nvSpPr>
          <p:cNvPr id="13" name="anim-g3-1104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1105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1106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1107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تستبدل delay بـ wait() التي «تسمع» الجوال</a:t>
            </a:r>
            <a:endParaRPr lang="ar-SA" sz="2400" dirty="0"/>
          </a:p>
        </p:txBody>
      </p:sp>
      <p:sp>
        <p:nvSpPr>
          <p:cNvPr id="17" name="anim-g4-1108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1109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1110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1111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تعرض حالة السيارة حيّة على الجوال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🤖٦ السيارة المتكاملة  ·  ١٢٢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0047" y="457200"/>
            <a:ext cx="321868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150047" y="45720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السيارة المتكاملة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أربعة عقول من أربعة محاور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225169" y="1874520"/>
            <a:ext cx="3143567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225169" y="1874520"/>
            <a:ext cx="31435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الزر على الجوال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6543657" y="1874520"/>
            <a:ext cx="1571783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6543657" y="1874520"/>
            <a:ext cx="1571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mode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3028399" y="1874520"/>
            <a:ext cx="340553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3028399" y="1874520"/>
            <a:ext cx="34055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الدالة</a:t>
            </a:r>
            <a:endParaRPr lang="ar-SA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1874520"/>
            <a:ext cx="2095711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74520"/>
            <a:ext cx="20957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من محور</a:t>
            </a:r>
            <a:endParaRPr lang="ar-SA" sz="1900" dirty="0"/>
          </a:p>
        </p:txBody>
      </p:sp>
      <p:sp>
        <p:nvSpPr>
          <p:cNvPr id="13" name="anim-g1-1112"/>
          <p:cNvSpPr/>
          <p:nvPr/>
        </p:nvSpPr>
        <p:spPr>
          <a:xfrm>
            <a:off x="8225169" y="2514600"/>
            <a:ext cx="3143567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4" name="anim-g1-1113"/>
          <p:cNvSpPr/>
          <p:nvPr/>
        </p:nvSpPr>
        <p:spPr>
          <a:xfrm>
            <a:off x="8362329" y="2514600"/>
            <a:ext cx="286924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🎮 يدوي</a:t>
            </a:r>
            <a:endParaRPr lang="ar-SA" sz="2100" dirty="0"/>
          </a:p>
        </p:txBody>
      </p:sp>
      <p:sp>
        <p:nvSpPr>
          <p:cNvPr id="15" name="anim-g1-1114"/>
          <p:cNvSpPr/>
          <p:nvPr/>
        </p:nvSpPr>
        <p:spPr>
          <a:xfrm>
            <a:off x="6543657" y="2514600"/>
            <a:ext cx="1571783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6" name="anim-g1-1115"/>
          <p:cNvSpPr/>
          <p:nvPr/>
        </p:nvSpPr>
        <p:spPr>
          <a:xfrm>
            <a:off x="6680817" y="2514600"/>
            <a:ext cx="1297463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'm'</a:t>
            </a:r>
            <a:endParaRPr lang="ar-SA" sz="2100" dirty="0"/>
          </a:p>
        </p:txBody>
      </p:sp>
      <p:sp>
        <p:nvSpPr>
          <p:cNvPr id="17" name="anim-g1-1116"/>
          <p:cNvSpPr/>
          <p:nvPr/>
        </p:nvSpPr>
        <p:spPr>
          <a:xfrm>
            <a:off x="3028399" y="2514600"/>
            <a:ext cx="3405530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1-1117"/>
          <p:cNvSpPr/>
          <p:nvPr/>
        </p:nvSpPr>
        <p:spPr>
          <a:xfrm>
            <a:off x="3165559" y="2514600"/>
            <a:ext cx="313121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المزج + حماية ٢٠ سم</a:t>
            </a:r>
            <a:endParaRPr lang="ar-SA" sz="2100" dirty="0"/>
          </a:p>
        </p:txBody>
      </p:sp>
      <p:sp>
        <p:nvSpPr>
          <p:cNvPr id="19" name="anim-g1-1118"/>
          <p:cNvSpPr/>
          <p:nvPr/>
        </p:nvSpPr>
        <p:spPr>
          <a:xfrm>
            <a:off x="822960" y="2514600"/>
            <a:ext cx="2095711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0" name="anim-g1-1119"/>
          <p:cNvSpPr/>
          <p:nvPr/>
        </p:nvSpPr>
        <p:spPr>
          <a:xfrm>
            <a:off x="960120" y="2514600"/>
            <a:ext cx="182139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٤ + ٥</a:t>
            </a:r>
            <a:endParaRPr lang="ar-SA" sz="2100" dirty="0"/>
          </a:p>
        </p:txBody>
      </p:sp>
      <p:sp>
        <p:nvSpPr>
          <p:cNvPr id="21" name="anim-g2-1120"/>
          <p:cNvSpPr/>
          <p:nvPr/>
        </p:nvSpPr>
        <p:spPr>
          <a:xfrm>
            <a:off x="8225169" y="3240634"/>
            <a:ext cx="3143567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2" name="anim-g2-1121"/>
          <p:cNvSpPr/>
          <p:nvPr/>
        </p:nvSpPr>
        <p:spPr>
          <a:xfrm>
            <a:off x="8362329" y="3240634"/>
            <a:ext cx="286924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🧱 عوائق</a:t>
            </a:r>
            <a:endParaRPr lang="ar-SA" sz="2100" dirty="0"/>
          </a:p>
        </p:txBody>
      </p:sp>
      <p:sp>
        <p:nvSpPr>
          <p:cNvPr id="23" name="anim-g2-1122"/>
          <p:cNvSpPr/>
          <p:nvPr/>
        </p:nvSpPr>
        <p:spPr>
          <a:xfrm>
            <a:off x="6543657" y="3240634"/>
            <a:ext cx="1571783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4" name="anim-g2-1123"/>
          <p:cNvSpPr/>
          <p:nvPr/>
        </p:nvSpPr>
        <p:spPr>
          <a:xfrm>
            <a:off x="6680817" y="3240634"/>
            <a:ext cx="1297463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'a'</a:t>
            </a:r>
            <a:endParaRPr lang="ar-SA" sz="2100" dirty="0"/>
          </a:p>
        </p:txBody>
      </p:sp>
      <p:sp>
        <p:nvSpPr>
          <p:cNvPr id="25" name="anim-g2-1124"/>
          <p:cNvSpPr/>
          <p:nvPr/>
        </p:nvSpPr>
        <p:spPr>
          <a:xfrm>
            <a:off x="3028399" y="3240634"/>
            <a:ext cx="3405530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2-1125"/>
          <p:cNvSpPr/>
          <p:nvPr/>
        </p:nvSpPr>
        <p:spPr>
          <a:xfrm>
            <a:off x="3165559" y="3240634"/>
            <a:ext cx="313121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avoidObstacle()</a:t>
            </a:r>
            <a:endParaRPr lang="ar-SA" sz="2100" dirty="0"/>
          </a:p>
        </p:txBody>
      </p:sp>
      <p:sp>
        <p:nvSpPr>
          <p:cNvPr id="27" name="anim-g2-1126"/>
          <p:cNvSpPr/>
          <p:nvPr/>
        </p:nvSpPr>
        <p:spPr>
          <a:xfrm>
            <a:off x="822960" y="3240634"/>
            <a:ext cx="2095711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2-1127"/>
          <p:cNvSpPr/>
          <p:nvPr/>
        </p:nvSpPr>
        <p:spPr>
          <a:xfrm>
            <a:off x="960120" y="3240634"/>
            <a:ext cx="182139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٥</a:t>
            </a:r>
            <a:endParaRPr lang="ar-SA" sz="2100" dirty="0"/>
          </a:p>
        </p:txBody>
      </p:sp>
      <p:sp>
        <p:nvSpPr>
          <p:cNvPr id="29" name="anim-g3-1128"/>
          <p:cNvSpPr/>
          <p:nvPr/>
        </p:nvSpPr>
        <p:spPr>
          <a:xfrm>
            <a:off x="8225169" y="3966667"/>
            <a:ext cx="3143567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3-1129"/>
          <p:cNvSpPr/>
          <p:nvPr/>
        </p:nvSpPr>
        <p:spPr>
          <a:xfrm>
            <a:off x="8362329" y="3966667"/>
            <a:ext cx="286924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〰️ خط</a:t>
            </a:r>
            <a:endParaRPr lang="ar-SA" sz="2100" dirty="0"/>
          </a:p>
        </p:txBody>
      </p:sp>
      <p:sp>
        <p:nvSpPr>
          <p:cNvPr id="31" name="anim-g3-1130"/>
          <p:cNvSpPr/>
          <p:nvPr/>
        </p:nvSpPr>
        <p:spPr>
          <a:xfrm>
            <a:off x="6543657" y="3966667"/>
            <a:ext cx="1571783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3-1131"/>
          <p:cNvSpPr/>
          <p:nvPr/>
        </p:nvSpPr>
        <p:spPr>
          <a:xfrm>
            <a:off x="6680817" y="3966667"/>
            <a:ext cx="1297463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'l'</a:t>
            </a:r>
            <a:endParaRPr lang="ar-SA" sz="2100" dirty="0"/>
          </a:p>
        </p:txBody>
      </p:sp>
      <p:sp>
        <p:nvSpPr>
          <p:cNvPr id="33" name="anim-g3-1132"/>
          <p:cNvSpPr/>
          <p:nvPr/>
        </p:nvSpPr>
        <p:spPr>
          <a:xfrm>
            <a:off x="3028399" y="3966667"/>
            <a:ext cx="3405530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4" name="anim-g3-1133"/>
          <p:cNvSpPr/>
          <p:nvPr/>
        </p:nvSpPr>
        <p:spPr>
          <a:xfrm>
            <a:off x="3165559" y="3966667"/>
            <a:ext cx="313121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followLine()</a:t>
            </a:r>
            <a:endParaRPr lang="ar-SA" sz="2100" dirty="0"/>
          </a:p>
        </p:txBody>
      </p:sp>
      <p:sp>
        <p:nvSpPr>
          <p:cNvPr id="35" name="anim-g3-1134"/>
          <p:cNvSpPr/>
          <p:nvPr/>
        </p:nvSpPr>
        <p:spPr>
          <a:xfrm>
            <a:off x="822960" y="3966667"/>
            <a:ext cx="2095711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6" name="anim-g3-1135"/>
          <p:cNvSpPr/>
          <p:nvPr/>
        </p:nvSpPr>
        <p:spPr>
          <a:xfrm>
            <a:off x="960120" y="3966667"/>
            <a:ext cx="182139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٦</a:t>
            </a:r>
            <a:endParaRPr lang="ar-SA" sz="2100" dirty="0"/>
          </a:p>
        </p:txBody>
      </p:sp>
      <p:sp>
        <p:nvSpPr>
          <p:cNvPr id="37" name="anim-g4-1136"/>
          <p:cNvSpPr/>
          <p:nvPr/>
        </p:nvSpPr>
        <p:spPr>
          <a:xfrm>
            <a:off x="8225169" y="4692701"/>
            <a:ext cx="3143567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8" name="anim-g4-1137"/>
          <p:cNvSpPr/>
          <p:nvPr/>
        </p:nvSpPr>
        <p:spPr>
          <a:xfrm>
            <a:off x="8362329" y="4692701"/>
            <a:ext cx="286924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🔀 خط + عوائق</a:t>
            </a:r>
            <a:endParaRPr lang="ar-SA" sz="2100" dirty="0"/>
          </a:p>
        </p:txBody>
      </p:sp>
      <p:sp>
        <p:nvSpPr>
          <p:cNvPr id="39" name="anim-g4-1138"/>
          <p:cNvSpPr/>
          <p:nvPr/>
        </p:nvSpPr>
        <p:spPr>
          <a:xfrm>
            <a:off x="6543657" y="4692701"/>
            <a:ext cx="1571783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0" name="anim-g4-1139"/>
          <p:cNvSpPr/>
          <p:nvPr/>
        </p:nvSpPr>
        <p:spPr>
          <a:xfrm>
            <a:off x="6680817" y="4692701"/>
            <a:ext cx="1297463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'c'</a:t>
            </a:r>
            <a:endParaRPr lang="ar-SA" sz="2100" dirty="0"/>
          </a:p>
        </p:txBody>
      </p:sp>
      <p:sp>
        <p:nvSpPr>
          <p:cNvPr id="41" name="anim-g4-1140"/>
          <p:cNvSpPr/>
          <p:nvPr/>
        </p:nvSpPr>
        <p:spPr>
          <a:xfrm>
            <a:off x="3028399" y="4692701"/>
            <a:ext cx="3405530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2" name="anim-g4-1141"/>
          <p:cNvSpPr/>
          <p:nvPr/>
        </p:nvSpPr>
        <p:spPr>
          <a:xfrm>
            <a:off x="3165559" y="4692701"/>
            <a:ext cx="313121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goAround() + followLine()</a:t>
            </a:r>
            <a:endParaRPr lang="ar-SA" sz="2100" dirty="0"/>
          </a:p>
        </p:txBody>
      </p:sp>
      <p:sp>
        <p:nvSpPr>
          <p:cNvPr id="43" name="anim-g4-1142"/>
          <p:cNvSpPr/>
          <p:nvPr/>
        </p:nvSpPr>
        <p:spPr>
          <a:xfrm>
            <a:off x="822960" y="4692701"/>
            <a:ext cx="2095711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4" name="anim-g4-1143"/>
          <p:cNvSpPr/>
          <p:nvPr/>
        </p:nvSpPr>
        <p:spPr>
          <a:xfrm>
            <a:off x="960120" y="4692701"/>
            <a:ext cx="182139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٧</a:t>
            </a:r>
            <a:endParaRPr lang="ar-SA" sz="2100" dirty="0"/>
          </a:p>
        </p:txBody>
      </p:sp>
      <p:sp>
        <p:nvSpPr>
          <p:cNvPr id="45" name="anim-g5-1144"/>
          <p:cNvSpPr/>
          <p:nvPr/>
        </p:nvSpPr>
        <p:spPr>
          <a:xfrm>
            <a:off x="8225169" y="5418734"/>
            <a:ext cx="3143567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46" name="anim-g5-1145"/>
          <p:cNvSpPr/>
          <p:nvPr/>
        </p:nvSpPr>
        <p:spPr>
          <a:xfrm>
            <a:off x="8362329" y="5418734"/>
            <a:ext cx="286924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⏹️ قف</a:t>
            </a:r>
            <a:endParaRPr lang="ar-SA" sz="2100" dirty="0"/>
          </a:p>
        </p:txBody>
      </p:sp>
      <p:sp>
        <p:nvSpPr>
          <p:cNvPr id="47" name="anim-g5-1146"/>
          <p:cNvSpPr/>
          <p:nvPr/>
        </p:nvSpPr>
        <p:spPr>
          <a:xfrm>
            <a:off x="6543657" y="5418734"/>
            <a:ext cx="1571783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8" name="anim-g5-1147"/>
          <p:cNvSpPr/>
          <p:nvPr/>
        </p:nvSpPr>
        <p:spPr>
          <a:xfrm>
            <a:off x="6680817" y="5418734"/>
            <a:ext cx="1297463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'x'</a:t>
            </a:r>
            <a:endParaRPr lang="ar-SA" sz="2100" dirty="0"/>
          </a:p>
        </p:txBody>
      </p:sp>
      <p:sp>
        <p:nvSpPr>
          <p:cNvPr id="49" name="anim-g5-1148"/>
          <p:cNvSpPr/>
          <p:nvPr/>
        </p:nvSpPr>
        <p:spPr>
          <a:xfrm>
            <a:off x="3028399" y="5418734"/>
            <a:ext cx="3405530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0" name="anim-g5-1149"/>
          <p:cNvSpPr/>
          <p:nvPr/>
        </p:nvSpPr>
        <p:spPr>
          <a:xfrm>
            <a:off x="3165559" y="5418734"/>
            <a:ext cx="3131210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motors(0, 0)</a:t>
            </a:r>
            <a:endParaRPr lang="ar-SA" sz="2100" dirty="0"/>
          </a:p>
        </p:txBody>
      </p:sp>
      <p:sp>
        <p:nvSpPr>
          <p:cNvPr id="51" name="anim-g5-1150"/>
          <p:cNvSpPr/>
          <p:nvPr/>
        </p:nvSpPr>
        <p:spPr>
          <a:xfrm>
            <a:off x="822960" y="5418734"/>
            <a:ext cx="2095711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52" name="anim-g5-1151"/>
          <p:cNvSpPr/>
          <p:nvPr/>
        </p:nvSpPr>
        <p:spPr>
          <a:xfrm>
            <a:off x="960120" y="5418734"/>
            <a:ext cx="1821391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</a:t>
            </a:r>
            <a:endParaRPr lang="ar-SA" sz="2100" dirty="0"/>
          </a:p>
        </p:txBody>
      </p:sp>
      <p:sp>
        <p:nvSpPr>
          <p:cNvPr id="53" name="Text 51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54" name="Text 52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🤖٦ السيارة المتكاملة  ·  ١٢٣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26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152" descr="C:\Users\user\projects\younes-training\esp32-3\.pptx-cache\s126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153" descr="C:\Users\user\projects\younes-training\esp32-3\.pptx-cache\s126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154" descr="C:\Users\user\projects\younes-training\esp32-3\.pptx-cache\s126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155" descr="C:\Users\user\projects\younes-training\esp32-3\.pptx-cache\s126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1156" descr="C:\Users\user\projects\younes-training\esp32-3\.pptx-cache\s126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1157" descr="C:\Users\user\projects\younes-training\esp32-3\.pptx-cache\s126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27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158" descr="C:\Users\user\projects\younes-training\esp32-3\.pptx-cache\s127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159" descr="C:\Users\user\projects\younes-training\esp32-3\.pptx-cache\s127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160" descr="C:\Users\user\projects\younes-training\esp32-3\.pptx-cache\s127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161" descr="C:\Users\user\projects\younes-training\esp32-3\.pptx-cache\s127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1162" descr="C:\Users\user\projects\younes-training\esp32-3\.pptx-cache\s127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42655" y="4572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442655" y="457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🔗 الدمج الكبير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من أين جاء كل سطر؟</a:t>
            </a:r>
            <a:endParaRPr lang="ar-SA" sz="3800" dirty="0"/>
          </a:p>
        </p:txBody>
      </p:sp>
      <p:sp>
        <p:nvSpPr>
          <p:cNvPr id="5" name="anim-g1-1163"/>
          <p:cNvSpPr/>
          <p:nvPr/>
        </p:nvSpPr>
        <p:spPr>
          <a:xfrm>
            <a:off x="8036357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164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165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🔋</a:t>
            </a:r>
            <a:endParaRPr lang="ar-SA" sz="2200" dirty="0"/>
          </a:p>
        </p:txBody>
      </p:sp>
      <p:sp>
        <p:nvSpPr>
          <p:cNvPr id="8" name="anim-g1-1166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المحور ٢</a:t>
            </a:r>
            <a:endParaRPr lang="ar-SA" sz="2200" dirty="0"/>
          </a:p>
        </p:txBody>
      </p:sp>
      <p:sp>
        <p:nvSpPr>
          <p:cNvPr id="9" name="anim-g1-1167"/>
          <p:cNvSpPr/>
          <p:nvPr/>
        </p:nvSpPr>
        <p:spPr>
          <a:xfrm>
            <a:off x="8310677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الطاقة والأسلاك والأطراف</a:t>
            </a:r>
            <a:endParaRPr lang="ar-SA" sz="1900" dirty="0"/>
          </a:p>
        </p:txBody>
      </p:sp>
      <p:sp>
        <p:nvSpPr>
          <p:cNvPr id="10" name="anim-g2-1168"/>
          <p:cNvSpPr/>
          <p:nvPr/>
        </p:nvSpPr>
        <p:spPr>
          <a:xfrm>
            <a:off x="4429658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169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170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🚗</a:t>
            </a:r>
            <a:endParaRPr lang="ar-SA" sz="2200" dirty="0"/>
          </a:p>
        </p:txBody>
      </p:sp>
      <p:sp>
        <p:nvSpPr>
          <p:cNvPr id="13" name="anim-g2-1171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المحور ٣</a:t>
            </a:r>
            <a:endParaRPr lang="ar-SA" sz="2200" dirty="0"/>
          </a:p>
        </p:txBody>
      </p:sp>
      <p:sp>
        <p:nvSpPr>
          <p:cNvPr id="14" name="anim-g2-1172"/>
          <p:cNvSpPr/>
          <p:nvPr/>
        </p:nvSpPr>
        <p:spPr>
          <a:xfrm>
            <a:off x="4703978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motors()</a:t>
            </a:r>
            <a:endParaRPr lang="ar-SA" sz="1900" dirty="0"/>
          </a:p>
        </p:txBody>
      </p:sp>
      <p:sp>
        <p:nvSpPr>
          <p:cNvPr id="15" name="anim-g3-1173"/>
          <p:cNvSpPr/>
          <p:nvPr/>
        </p:nvSpPr>
        <p:spPr>
          <a:xfrm>
            <a:off x="822960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1174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1175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🎮</a:t>
            </a:r>
            <a:endParaRPr lang="ar-SA" sz="2200" dirty="0"/>
          </a:p>
        </p:txBody>
      </p:sp>
      <p:sp>
        <p:nvSpPr>
          <p:cNvPr id="18" name="anim-g3-1176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المحور ٤</a:t>
            </a:r>
            <a:endParaRPr lang="ar-SA" sz="2200" dirty="0"/>
          </a:p>
        </p:txBody>
      </p:sp>
      <p:sp>
        <p:nvSpPr>
          <p:cNvPr id="19" name="anim-g3-1177"/>
          <p:cNvSpPr/>
          <p:nvPr/>
        </p:nvSpPr>
        <p:spPr>
          <a:xfrm>
            <a:off x="1097280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AP + العصا + المزج + Failsafe</a:t>
            </a:r>
            <a:endParaRPr lang="ar-SA" sz="1900" dirty="0"/>
          </a:p>
        </p:txBody>
      </p:sp>
      <p:sp>
        <p:nvSpPr>
          <p:cNvPr id="20" name="anim-g4-1178"/>
          <p:cNvSpPr/>
          <p:nvPr/>
        </p:nvSpPr>
        <p:spPr>
          <a:xfrm>
            <a:off x="8036357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1179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1180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🦇</a:t>
            </a:r>
            <a:endParaRPr lang="ar-SA" sz="2200" dirty="0"/>
          </a:p>
        </p:txBody>
      </p:sp>
      <p:sp>
        <p:nvSpPr>
          <p:cNvPr id="23" name="anim-g4-1181"/>
          <p:cNvSpPr/>
          <p:nvPr/>
        </p:nvSpPr>
        <p:spPr>
          <a:xfrm>
            <a:off x="8310677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المحور ٥</a:t>
            </a:r>
            <a:endParaRPr lang="ar-SA" sz="2200" dirty="0"/>
          </a:p>
        </p:txBody>
      </p:sp>
      <p:sp>
        <p:nvSpPr>
          <p:cNvPr id="24" name="anim-g4-1182"/>
          <p:cNvSpPr/>
          <p:nvPr/>
        </p:nvSpPr>
        <p:spPr>
          <a:xfrm>
            <a:off x="8310677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readCm() + avoidObstacle()</a:t>
            </a:r>
            <a:endParaRPr lang="ar-SA" sz="1900" dirty="0"/>
          </a:p>
        </p:txBody>
      </p:sp>
      <p:sp>
        <p:nvSpPr>
          <p:cNvPr id="25" name="anim-g5-1183"/>
          <p:cNvSpPr/>
          <p:nvPr/>
        </p:nvSpPr>
        <p:spPr>
          <a:xfrm>
            <a:off x="4429658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6" name="anim-g5-1184"/>
          <p:cNvSpPr/>
          <p:nvPr/>
        </p:nvSpPr>
        <p:spPr>
          <a:xfrm>
            <a:off x="6920789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7" name="anim-g5-1185"/>
          <p:cNvSpPr/>
          <p:nvPr/>
        </p:nvSpPr>
        <p:spPr>
          <a:xfrm>
            <a:off x="6920789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〰️</a:t>
            </a:r>
            <a:endParaRPr lang="ar-SA" sz="2200" dirty="0"/>
          </a:p>
        </p:txBody>
      </p:sp>
      <p:sp>
        <p:nvSpPr>
          <p:cNvPr id="28" name="anim-g5-1186"/>
          <p:cNvSpPr/>
          <p:nvPr/>
        </p:nvSpPr>
        <p:spPr>
          <a:xfrm>
            <a:off x="4703978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المحور ٦</a:t>
            </a:r>
            <a:endParaRPr lang="ar-SA" sz="2200" dirty="0"/>
          </a:p>
        </p:txBody>
      </p:sp>
      <p:sp>
        <p:nvSpPr>
          <p:cNvPr id="29" name="anim-g5-1187"/>
          <p:cNvSpPr/>
          <p:nvPr/>
        </p:nvSpPr>
        <p:spPr>
          <a:xfrm>
            <a:off x="4703978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followLine()</a:t>
            </a:r>
            <a:endParaRPr lang="ar-SA" sz="1900" dirty="0"/>
          </a:p>
        </p:txBody>
      </p:sp>
      <p:sp>
        <p:nvSpPr>
          <p:cNvPr id="30" name="anim-g6-1188"/>
          <p:cNvSpPr/>
          <p:nvPr/>
        </p:nvSpPr>
        <p:spPr>
          <a:xfrm>
            <a:off x="822960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31" name="anim-g6-1189"/>
          <p:cNvSpPr/>
          <p:nvPr/>
        </p:nvSpPr>
        <p:spPr>
          <a:xfrm>
            <a:off x="331409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32" name="anim-g6-1190"/>
          <p:cNvSpPr/>
          <p:nvPr/>
        </p:nvSpPr>
        <p:spPr>
          <a:xfrm>
            <a:off x="331409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🔀</a:t>
            </a:r>
            <a:endParaRPr lang="ar-SA" sz="2200" dirty="0"/>
          </a:p>
        </p:txBody>
      </p:sp>
      <p:sp>
        <p:nvSpPr>
          <p:cNvPr id="33" name="anim-g6-1191"/>
          <p:cNvSpPr/>
          <p:nvPr/>
        </p:nvSpPr>
        <p:spPr>
          <a:xfrm>
            <a:off x="1097280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المحور ٧</a:t>
            </a:r>
            <a:endParaRPr lang="ar-SA" sz="2200" dirty="0"/>
          </a:p>
        </p:txBody>
      </p:sp>
      <p:sp>
        <p:nvSpPr>
          <p:cNvPr id="34" name="anim-g6-1192"/>
          <p:cNvSpPr/>
          <p:nvPr/>
        </p:nvSpPr>
        <p:spPr>
          <a:xfrm>
            <a:off x="1097280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goAround() + الأولوية</a:t>
            </a:r>
            <a:endParaRPr lang="ar-SA" sz="1900" dirty="0"/>
          </a:p>
        </p:txBody>
      </p:sp>
      <p:sp>
        <p:nvSpPr>
          <p:cNvPr id="35" name="Text 3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🤖٦ السيارة المتكاملة  ·  ١٢٨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29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193" descr="C:\Users\user\projects\younes-training\esp32-3\.pptx-cache\s129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194" descr="C:\Users\user\projects\younes-training\esp32-3\.pptx-cache\s129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195" descr="C:\Users\user\projects\younes-training\esp32-3\.pptx-cache\s129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196" descr="C:\Users\user\projects\younes-training\esp32-3\.pptx-cache\s129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ضغطت «قف» على الجوال أثناء الالتفاف حول عائق… ماذا يحدث؟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تكمل المناورة ثم تقف</a:t>
            </a:r>
            <a:endParaRPr lang="ar-SA" sz="2200" dirty="0"/>
          </a:p>
        </p:txBody>
      </p:sp>
      <p:sp>
        <p:nvSpPr>
          <p:cNvPr id="9" name="anim-g1-1197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1198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1199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1200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تكمل المناورة ثم تقف</a:t>
            </a:r>
            <a:endParaRPr lang="ar-SA" sz="2200" dirty="0"/>
          </a:p>
        </p:txBody>
      </p:sp>
      <p:sp>
        <p:nvSpPr>
          <p:cNvPr id="13" name="anim-g1-1201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ما يحدث مع delay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تقف فورًا تقريبًا</a:t>
            </a:r>
            <a:endParaRPr lang="ar-SA" sz="2200" dirty="0"/>
          </a:p>
        </p:txBody>
      </p:sp>
      <p:sp>
        <p:nvSpPr>
          <p:cNvPr id="18" name="anim-g1-120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120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0" name="anim-g1-120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21" name="anim-g1-1205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تقف فورًا تقريبًا</a:t>
            </a:r>
            <a:endParaRPr lang="ar-SA" sz="2200" dirty="0"/>
          </a:p>
        </p:txBody>
      </p:sp>
      <p:sp>
        <p:nvSpPr>
          <p:cNvPr id="22" name="anim-g1-1206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wait() ترى أن mode تغيّر فتخرج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شيء</a:t>
            </a:r>
            <a:endParaRPr lang="ar-SA" sz="2200" dirty="0"/>
          </a:p>
        </p:txBody>
      </p:sp>
      <p:sp>
        <p:nvSpPr>
          <p:cNvPr id="27" name="anim-g1-1207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1208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9" name="anim-g1-1209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30" name="anim-g1-1210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شيء</a:t>
            </a:r>
            <a:endParaRPr lang="ar-SA" sz="2200" dirty="0"/>
          </a:p>
        </p:txBody>
      </p:sp>
      <p:sp>
        <p:nvSpPr>
          <p:cNvPr id="31" name="anim-g1-1211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الخادم يعمل دائمًا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تعيد التشغيل</a:t>
            </a:r>
            <a:endParaRPr lang="ar-SA" sz="2200" dirty="0"/>
          </a:p>
        </p:txBody>
      </p:sp>
      <p:sp>
        <p:nvSpPr>
          <p:cNvPr id="36" name="anim-g1-1212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1213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1214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1215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تعيد التشغيل</a:t>
            </a:r>
            <a:endParaRPr lang="ar-SA" sz="2200" dirty="0"/>
          </a:p>
        </p:txBody>
      </p:sp>
      <p:sp>
        <p:nvSpPr>
          <p:cNvPr id="40" name="anim-g1-1216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علاقة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🤖٦ السيارة المتكاملة  ·  ١٣٠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ستة روبوتات في سيارة واحدة…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وحرف واحد يختار العقل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🤖٦ السيارة المتكاملة  ·  ١٣٣</a:t>
            </a:r>
            <a:endParaRPr lang="ar-SA" sz="12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١٠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١٠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⚽ روبوت كرة القدم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ثلاثة محركات DC: اثنان في الأمام… وواحد في الخلف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القطع الجديدة  ·  ١٣٤</a:t>
            </a:r>
            <a:endParaRPr lang="ar-SA" sz="12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1217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1218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1219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1220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تشرح لماذا لا تصلح السيارة ذات العجلتين لكرة القدم</a:t>
            </a:r>
            <a:endParaRPr lang="ar-SA" sz="2400" dirty="0"/>
          </a:p>
        </p:txBody>
      </p:sp>
      <p:sp>
        <p:nvSpPr>
          <p:cNvPr id="9" name="anim-g2-1221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1222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1223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1224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تصف عجلة الأومني وكيف تنزلق جانبيًا</a:t>
            </a:r>
            <a:endParaRPr lang="ar-SA" sz="2400" dirty="0"/>
          </a:p>
        </p:txBody>
      </p:sp>
      <p:sp>
        <p:nvSpPr>
          <p:cNvPr id="13" name="anim-g3-1225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1226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1227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1228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ترسم القاعدة الثلاثية: ٦٠° و−٦٠° و١٨٠°</a:t>
            </a:r>
            <a:endParaRPr lang="ar-SA" sz="2400" dirty="0"/>
          </a:p>
        </p:txBody>
      </p:sp>
      <p:sp>
        <p:nvSpPr>
          <p:cNvPr id="17" name="anim-g4-1229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1230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1231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1232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تختار الدرايفر والبطارية لثلاثة محركات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القطع الجديدة  ·  ١٣٥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0047" y="457200"/>
            <a:ext cx="321868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150047" y="45720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لماذا روبوت جديد؟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السيارة أم القاعدة الثلاثية… في الملعب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141760" y="1874520"/>
            <a:ext cx="3226975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141760" y="1874520"/>
            <a:ext cx="3226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المهارة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4482360" y="1874520"/>
            <a:ext cx="3549672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4482360" y="1874520"/>
            <a:ext cx="3549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🚗 سيارة بعجلتين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3549672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3549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⚽ قاعدة ثلاثية</a:t>
            </a:r>
            <a:endParaRPr lang="ar-SA" sz="1900" dirty="0"/>
          </a:p>
        </p:txBody>
      </p:sp>
      <p:sp>
        <p:nvSpPr>
          <p:cNvPr id="11" name="anim-g1-1233"/>
          <p:cNvSpPr/>
          <p:nvPr/>
        </p:nvSpPr>
        <p:spPr>
          <a:xfrm>
            <a:off x="8141760" y="2514600"/>
            <a:ext cx="3226975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1234"/>
          <p:cNvSpPr/>
          <p:nvPr/>
        </p:nvSpPr>
        <p:spPr>
          <a:xfrm>
            <a:off x="8278920" y="2514600"/>
            <a:ext cx="295265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⬆️ للأمام</a:t>
            </a:r>
            <a:endParaRPr lang="ar-SA" sz="2100" dirty="0"/>
          </a:p>
        </p:txBody>
      </p:sp>
      <p:sp>
        <p:nvSpPr>
          <p:cNvPr id="13" name="anim-g1-1235"/>
          <p:cNvSpPr/>
          <p:nvPr/>
        </p:nvSpPr>
        <p:spPr>
          <a:xfrm>
            <a:off x="4482360" y="2514600"/>
            <a:ext cx="3549672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1236"/>
          <p:cNvSpPr/>
          <p:nvPr/>
        </p:nvSpPr>
        <p:spPr>
          <a:xfrm>
            <a:off x="4619520" y="2514600"/>
            <a:ext cx="327535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15" name="anim-g1-1237"/>
          <p:cNvSpPr/>
          <p:nvPr/>
        </p:nvSpPr>
        <p:spPr>
          <a:xfrm>
            <a:off x="822960" y="2514600"/>
            <a:ext cx="3549672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1238"/>
          <p:cNvSpPr/>
          <p:nvPr/>
        </p:nvSpPr>
        <p:spPr>
          <a:xfrm>
            <a:off x="960120" y="2514600"/>
            <a:ext cx="327535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17" name="anim-g2-1239"/>
          <p:cNvSpPr/>
          <p:nvPr/>
        </p:nvSpPr>
        <p:spPr>
          <a:xfrm>
            <a:off x="8141760" y="3240634"/>
            <a:ext cx="3226975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1240"/>
          <p:cNvSpPr/>
          <p:nvPr/>
        </p:nvSpPr>
        <p:spPr>
          <a:xfrm>
            <a:off x="8278920" y="3240634"/>
            <a:ext cx="295265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⬅️ جانبًا</a:t>
            </a:r>
            <a:endParaRPr lang="ar-SA" sz="2100" dirty="0"/>
          </a:p>
        </p:txBody>
      </p:sp>
      <p:sp>
        <p:nvSpPr>
          <p:cNvPr id="19" name="anim-g2-1241"/>
          <p:cNvSpPr/>
          <p:nvPr/>
        </p:nvSpPr>
        <p:spPr>
          <a:xfrm>
            <a:off x="4482360" y="3240634"/>
            <a:ext cx="3549672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1242"/>
          <p:cNvSpPr/>
          <p:nvPr/>
        </p:nvSpPr>
        <p:spPr>
          <a:xfrm>
            <a:off x="4619520" y="3240634"/>
            <a:ext cx="327535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 تستدير أولًا ثم تتقدم</a:t>
            </a:r>
            <a:endParaRPr lang="ar-SA" sz="2100" dirty="0"/>
          </a:p>
        </p:txBody>
      </p:sp>
      <p:sp>
        <p:nvSpPr>
          <p:cNvPr id="21" name="anim-g2-1243"/>
          <p:cNvSpPr/>
          <p:nvPr/>
        </p:nvSpPr>
        <p:spPr>
          <a:xfrm>
            <a:off x="822960" y="3240634"/>
            <a:ext cx="3549672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1244"/>
          <p:cNvSpPr/>
          <p:nvPr/>
        </p:nvSpPr>
        <p:spPr>
          <a:xfrm>
            <a:off x="960120" y="3240634"/>
            <a:ext cx="327535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مباشرة</a:t>
            </a:r>
            <a:endParaRPr lang="ar-SA" sz="2100" dirty="0"/>
          </a:p>
        </p:txBody>
      </p:sp>
      <p:sp>
        <p:nvSpPr>
          <p:cNvPr id="23" name="anim-g3-1245"/>
          <p:cNvSpPr/>
          <p:nvPr/>
        </p:nvSpPr>
        <p:spPr>
          <a:xfrm>
            <a:off x="8141760" y="3966667"/>
            <a:ext cx="3226975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1246"/>
          <p:cNvSpPr/>
          <p:nvPr/>
        </p:nvSpPr>
        <p:spPr>
          <a:xfrm>
            <a:off x="8278920" y="3966667"/>
            <a:ext cx="295265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↖️ قطريًا</a:t>
            </a:r>
            <a:endParaRPr lang="ar-SA" sz="2100" dirty="0"/>
          </a:p>
        </p:txBody>
      </p:sp>
      <p:sp>
        <p:nvSpPr>
          <p:cNvPr id="25" name="anim-g3-1247"/>
          <p:cNvSpPr/>
          <p:nvPr/>
        </p:nvSpPr>
        <p:spPr>
          <a:xfrm>
            <a:off x="4482360" y="3966667"/>
            <a:ext cx="3549672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1248"/>
          <p:cNvSpPr/>
          <p:nvPr/>
        </p:nvSpPr>
        <p:spPr>
          <a:xfrm>
            <a:off x="4619520" y="3966667"/>
            <a:ext cx="327535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❌</a:t>
            </a:r>
            <a:endParaRPr lang="ar-SA" sz="2100" dirty="0"/>
          </a:p>
        </p:txBody>
      </p:sp>
      <p:sp>
        <p:nvSpPr>
          <p:cNvPr id="27" name="anim-g3-1249"/>
          <p:cNvSpPr/>
          <p:nvPr/>
        </p:nvSpPr>
        <p:spPr>
          <a:xfrm>
            <a:off x="822960" y="3966667"/>
            <a:ext cx="3549672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1250"/>
          <p:cNvSpPr/>
          <p:nvPr/>
        </p:nvSpPr>
        <p:spPr>
          <a:xfrm>
            <a:off x="960120" y="3966667"/>
            <a:ext cx="327535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29" name="anim-g4-1251"/>
          <p:cNvSpPr/>
          <p:nvPr/>
        </p:nvSpPr>
        <p:spPr>
          <a:xfrm>
            <a:off x="8141760" y="4692701"/>
            <a:ext cx="3226975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1252"/>
          <p:cNvSpPr/>
          <p:nvPr/>
        </p:nvSpPr>
        <p:spPr>
          <a:xfrm>
            <a:off x="8278920" y="4692701"/>
            <a:ext cx="295265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🔄 الدوران في المكان</a:t>
            </a:r>
            <a:endParaRPr lang="ar-SA" sz="2100" dirty="0"/>
          </a:p>
        </p:txBody>
      </p:sp>
      <p:sp>
        <p:nvSpPr>
          <p:cNvPr id="31" name="anim-g4-1253"/>
          <p:cNvSpPr/>
          <p:nvPr/>
        </p:nvSpPr>
        <p:spPr>
          <a:xfrm>
            <a:off x="4482360" y="4692701"/>
            <a:ext cx="3549672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1254"/>
          <p:cNvSpPr/>
          <p:nvPr/>
        </p:nvSpPr>
        <p:spPr>
          <a:xfrm>
            <a:off x="4619520" y="4692701"/>
            <a:ext cx="327535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</a:t>
            </a:r>
            <a:endParaRPr lang="ar-SA" sz="2100" dirty="0"/>
          </a:p>
        </p:txBody>
      </p:sp>
      <p:sp>
        <p:nvSpPr>
          <p:cNvPr id="33" name="anim-g4-1255"/>
          <p:cNvSpPr/>
          <p:nvPr/>
        </p:nvSpPr>
        <p:spPr>
          <a:xfrm>
            <a:off x="822960" y="4692701"/>
            <a:ext cx="3549672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1256"/>
          <p:cNvSpPr/>
          <p:nvPr/>
        </p:nvSpPr>
        <p:spPr>
          <a:xfrm>
            <a:off x="960120" y="4692701"/>
            <a:ext cx="327535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حول مركزها تمامًا</a:t>
            </a:r>
            <a:endParaRPr lang="ar-SA" sz="2100" dirty="0"/>
          </a:p>
        </p:txBody>
      </p:sp>
      <p:sp>
        <p:nvSpPr>
          <p:cNvPr id="35" name="anim-g5-1257"/>
          <p:cNvSpPr/>
          <p:nvPr/>
        </p:nvSpPr>
        <p:spPr>
          <a:xfrm>
            <a:off x="8141760" y="5418734"/>
            <a:ext cx="3226975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6" name="anim-g5-1258"/>
          <p:cNvSpPr/>
          <p:nvPr/>
        </p:nvSpPr>
        <p:spPr>
          <a:xfrm>
            <a:off x="8278920" y="5418734"/>
            <a:ext cx="295265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⚽ تتبع الكرة ووجهها للمرمى</a:t>
            </a:r>
            <a:endParaRPr lang="ar-SA" sz="2100" dirty="0"/>
          </a:p>
        </p:txBody>
      </p:sp>
      <p:sp>
        <p:nvSpPr>
          <p:cNvPr id="37" name="anim-g5-1259"/>
          <p:cNvSpPr/>
          <p:nvPr/>
        </p:nvSpPr>
        <p:spPr>
          <a:xfrm>
            <a:off x="4482360" y="5418734"/>
            <a:ext cx="3549672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8" name="anim-g5-1260"/>
          <p:cNvSpPr/>
          <p:nvPr/>
        </p:nvSpPr>
        <p:spPr>
          <a:xfrm>
            <a:off x="4619520" y="5418734"/>
            <a:ext cx="327535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بطيء</a:t>
            </a:r>
            <a:endParaRPr lang="ar-SA" sz="2100" dirty="0"/>
          </a:p>
        </p:txBody>
      </p:sp>
      <p:sp>
        <p:nvSpPr>
          <p:cNvPr id="39" name="anim-g5-1261"/>
          <p:cNvSpPr/>
          <p:nvPr/>
        </p:nvSpPr>
        <p:spPr>
          <a:xfrm>
            <a:off x="822960" y="5418734"/>
            <a:ext cx="3549672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0" name="anim-g5-1262"/>
          <p:cNvSpPr/>
          <p:nvPr/>
        </p:nvSpPr>
        <p:spPr>
          <a:xfrm>
            <a:off x="960120" y="5418734"/>
            <a:ext cx="327535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تتحرك وتدور معًا!</a:t>
            </a:r>
            <a:endParaRPr lang="ar-SA" sz="21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القطع الجديدة  ·  ١٣٦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18527" y="457200"/>
            <a:ext cx="395020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7418527" y="45720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القطعة الجديدة الثانية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القاعدة الثلاثية «كيوي»: المحركات على ١٢٠°</a:t>
            </a:r>
            <a:endParaRPr lang="ar-SA" sz="3200" dirty="0"/>
          </a:p>
        </p:txBody>
      </p:sp>
      <p:sp>
        <p:nvSpPr>
          <p:cNvPr id="5" name="anim-g1-1263"/>
          <p:cNvSpPr/>
          <p:nvPr/>
        </p:nvSpPr>
        <p:spPr>
          <a:xfrm>
            <a:off x="8036357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264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265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↖️</a:t>
            </a:r>
            <a:endParaRPr lang="ar-SA" sz="2200" dirty="0"/>
          </a:p>
        </p:txBody>
      </p:sp>
      <p:sp>
        <p:nvSpPr>
          <p:cNvPr id="8" name="anim-g1-1266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M1 أمامي أيسر</a:t>
            </a:r>
            <a:endParaRPr lang="ar-SA" sz="2200" dirty="0"/>
          </a:p>
        </p:txBody>
      </p:sp>
      <p:sp>
        <p:nvSpPr>
          <p:cNvPr id="9" name="anim-g1-1267"/>
          <p:cNvSpPr/>
          <p:nvPr/>
        </p:nvSpPr>
        <p:spPr>
          <a:xfrm>
            <a:off x="8310677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عند ٦٠° من الأمام</a:t>
            </a:r>
            <a:endParaRPr lang="ar-SA" sz="1900" dirty="0"/>
          </a:p>
        </p:txBody>
      </p:sp>
      <p:sp>
        <p:nvSpPr>
          <p:cNvPr id="10" name="anim-g2-1268"/>
          <p:cNvSpPr/>
          <p:nvPr/>
        </p:nvSpPr>
        <p:spPr>
          <a:xfrm>
            <a:off x="4429658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269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270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↗️</a:t>
            </a:r>
            <a:endParaRPr lang="ar-SA" sz="2200" dirty="0"/>
          </a:p>
        </p:txBody>
      </p:sp>
      <p:sp>
        <p:nvSpPr>
          <p:cNvPr id="13" name="anim-g2-1271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M2 أمامي أيمن</a:t>
            </a:r>
            <a:endParaRPr lang="ar-SA" sz="2200" dirty="0"/>
          </a:p>
        </p:txBody>
      </p:sp>
      <p:sp>
        <p:nvSpPr>
          <p:cNvPr id="14" name="anim-g2-1272"/>
          <p:cNvSpPr/>
          <p:nvPr/>
        </p:nvSpPr>
        <p:spPr>
          <a:xfrm>
            <a:off x="4703978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عند −٦٠° من الأمام</a:t>
            </a:r>
            <a:endParaRPr lang="ar-SA" sz="1900" dirty="0"/>
          </a:p>
        </p:txBody>
      </p:sp>
      <p:sp>
        <p:nvSpPr>
          <p:cNvPr id="15" name="anim-g3-1273"/>
          <p:cNvSpPr/>
          <p:nvPr/>
        </p:nvSpPr>
        <p:spPr>
          <a:xfrm>
            <a:off x="822960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1274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1275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⬇️</a:t>
            </a:r>
            <a:endParaRPr lang="ar-SA" sz="2200" dirty="0"/>
          </a:p>
        </p:txBody>
      </p:sp>
      <p:sp>
        <p:nvSpPr>
          <p:cNvPr id="18" name="anim-g3-1276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M3 خلفي</a:t>
            </a:r>
            <a:endParaRPr lang="ar-SA" sz="2200" dirty="0"/>
          </a:p>
        </p:txBody>
      </p:sp>
      <p:sp>
        <p:nvSpPr>
          <p:cNvPr id="19" name="anim-g3-1277"/>
          <p:cNvSpPr/>
          <p:nvPr/>
        </p:nvSpPr>
        <p:spPr>
          <a:xfrm>
            <a:off x="1097280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عند ١٨٠°: في المؤخرة تمامًا</a:t>
            </a:r>
            <a:endParaRPr lang="ar-SA" sz="1900" dirty="0"/>
          </a:p>
        </p:txBody>
      </p:sp>
      <p:sp>
        <p:nvSpPr>
          <p:cNvPr id="20" name="anim-g4-1278"/>
          <p:cNvSpPr/>
          <p:nvPr/>
        </p:nvSpPr>
        <p:spPr>
          <a:xfrm>
            <a:off x="8036357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1279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1280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🔺</a:t>
            </a:r>
            <a:endParaRPr lang="ar-SA" sz="2200" dirty="0"/>
          </a:p>
        </p:txBody>
      </p:sp>
      <p:sp>
        <p:nvSpPr>
          <p:cNvPr id="23" name="anim-g4-1281"/>
          <p:cNvSpPr/>
          <p:nvPr/>
        </p:nvSpPr>
        <p:spPr>
          <a:xfrm>
            <a:off x="8310677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مثلث متساوي الأضلاع</a:t>
            </a:r>
            <a:endParaRPr lang="ar-SA" sz="2200" dirty="0"/>
          </a:p>
        </p:txBody>
      </p:sp>
      <p:sp>
        <p:nvSpPr>
          <p:cNvPr id="24" name="anim-g4-1282"/>
          <p:cNvSpPr/>
          <p:nvPr/>
        </p:nvSpPr>
        <p:spPr>
          <a:xfrm>
            <a:off x="8310677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١٢٠° بين كل محركين</a:t>
            </a:r>
            <a:endParaRPr lang="ar-SA" sz="1900" dirty="0"/>
          </a:p>
        </p:txBody>
      </p:sp>
      <p:sp>
        <p:nvSpPr>
          <p:cNvPr id="25" name="anim-g5-1283"/>
          <p:cNvSpPr/>
          <p:nvPr/>
        </p:nvSpPr>
        <p:spPr>
          <a:xfrm>
            <a:off x="4429658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6" name="anim-g5-1284"/>
          <p:cNvSpPr/>
          <p:nvPr/>
        </p:nvSpPr>
        <p:spPr>
          <a:xfrm>
            <a:off x="6920789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7" name="anim-g5-1285"/>
          <p:cNvSpPr/>
          <p:nvPr/>
        </p:nvSpPr>
        <p:spPr>
          <a:xfrm>
            <a:off x="6920789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⭕</a:t>
            </a:r>
            <a:endParaRPr lang="ar-SA" sz="2200" dirty="0"/>
          </a:p>
        </p:txBody>
      </p:sp>
      <p:sp>
        <p:nvSpPr>
          <p:cNvPr id="28" name="anim-g5-1286"/>
          <p:cNvSpPr/>
          <p:nvPr/>
        </p:nvSpPr>
        <p:spPr>
          <a:xfrm>
            <a:off x="4703978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قاعدة دائرية</a:t>
            </a:r>
            <a:endParaRPr lang="ar-SA" sz="2200" dirty="0"/>
          </a:p>
        </p:txBody>
      </p:sp>
      <p:sp>
        <p:nvSpPr>
          <p:cNvPr id="29" name="anim-g5-1287"/>
          <p:cNvSpPr/>
          <p:nvPr/>
        </p:nvSpPr>
        <p:spPr>
          <a:xfrm>
            <a:off x="4703978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قطر ١٥–٢٠ سم: لا زوايا تعلق</a:t>
            </a:r>
            <a:endParaRPr lang="ar-SA" sz="1900" dirty="0"/>
          </a:p>
        </p:txBody>
      </p:sp>
      <p:sp>
        <p:nvSpPr>
          <p:cNvPr id="30" name="anim-g6-1288"/>
          <p:cNvSpPr/>
          <p:nvPr/>
        </p:nvSpPr>
        <p:spPr>
          <a:xfrm>
            <a:off x="822960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31" name="anim-g6-1289"/>
          <p:cNvSpPr/>
          <p:nvPr/>
        </p:nvSpPr>
        <p:spPr>
          <a:xfrm>
            <a:off x="331409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32" name="anim-g6-1290"/>
          <p:cNvSpPr/>
          <p:nvPr/>
        </p:nvSpPr>
        <p:spPr>
          <a:xfrm>
            <a:off x="331409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🥝</a:t>
            </a:r>
            <a:endParaRPr lang="ar-SA" sz="2200" dirty="0"/>
          </a:p>
        </p:txBody>
      </p:sp>
      <p:sp>
        <p:nvSpPr>
          <p:cNvPr id="33" name="anim-g6-1291"/>
          <p:cNvSpPr/>
          <p:nvPr/>
        </p:nvSpPr>
        <p:spPr>
          <a:xfrm>
            <a:off x="1097280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لماذا «كيوي»؟</a:t>
            </a:r>
            <a:endParaRPr lang="ar-SA" sz="2200" dirty="0"/>
          </a:p>
        </p:txBody>
      </p:sp>
      <p:sp>
        <p:nvSpPr>
          <p:cNvPr id="34" name="anim-g6-1292"/>
          <p:cNvSpPr/>
          <p:nvPr/>
        </p:nvSpPr>
        <p:spPr>
          <a:xfrm>
            <a:off x="1097280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اسم تجاري قديم انتشر: Kiwi drive</a:t>
            </a:r>
            <a:endParaRPr lang="ar-SA" sz="1900" dirty="0"/>
          </a:p>
        </p:txBody>
      </p:sp>
      <p:sp>
        <p:nvSpPr>
          <p:cNvPr id="35" name="Text 3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القطع الجديدة  ·  ١٣٨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11135" y="45720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7711135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الطاقة لثلاثة محركات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درايفر ثانٍ… وبطارية تتحمل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856928" y="1874520"/>
            <a:ext cx="2511807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856928" y="1874520"/>
            <a:ext cx="25118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القطعة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5398123" y="1874520"/>
            <a:ext cx="3349076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5398123" y="1874520"/>
            <a:ext cx="33490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الاختيار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4465435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44654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السبب</a:t>
            </a:r>
            <a:endParaRPr lang="ar-SA" sz="1900" dirty="0"/>
          </a:p>
        </p:txBody>
      </p:sp>
      <p:sp>
        <p:nvSpPr>
          <p:cNvPr id="11" name="anim-g1-1293"/>
          <p:cNvSpPr/>
          <p:nvPr/>
        </p:nvSpPr>
        <p:spPr>
          <a:xfrm>
            <a:off x="8856928" y="2514600"/>
            <a:ext cx="2511807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1294"/>
          <p:cNvSpPr/>
          <p:nvPr/>
        </p:nvSpPr>
        <p:spPr>
          <a:xfrm>
            <a:off x="8994088" y="2514600"/>
            <a:ext cx="223748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🟥 الدرايفر الأول</a:t>
            </a:r>
            <a:endParaRPr lang="ar-SA" sz="2100" dirty="0"/>
          </a:p>
        </p:txBody>
      </p:sp>
      <p:sp>
        <p:nvSpPr>
          <p:cNvPr id="13" name="anim-g1-1295"/>
          <p:cNvSpPr/>
          <p:nvPr/>
        </p:nvSpPr>
        <p:spPr>
          <a:xfrm>
            <a:off x="5398123" y="2514600"/>
            <a:ext cx="3349076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1296"/>
          <p:cNvSpPr/>
          <p:nvPr/>
        </p:nvSpPr>
        <p:spPr>
          <a:xfrm>
            <a:off x="5535283" y="2514600"/>
            <a:ext cx="3074756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L298N: M1 وM2</a:t>
            </a:r>
            <a:endParaRPr lang="ar-SA" sz="2100" dirty="0"/>
          </a:p>
        </p:txBody>
      </p:sp>
      <p:sp>
        <p:nvSpPr>
          <p:cNvPr id="15" name="anim-g1-1297"/>
          <p:cNvSpPr/>
          <p:nvPr/>
        </p:nvSpPr>
        <p:spPr>
          <a:xfrm>
            <a:off x="822960" y="2514600"/>
            <a:ext cx="4465435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1298"/>
          <p:cNvSpPr/>
          <p:nvPr/>
        </p:nvSpPr>
        <p:spPr>
          <a:xfrm>
            <a:off x="960120" y="2514600"/>
            <a:ext cx="419111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كما في السيارة تمامًا</a:t>
            </a:r>
            <a:endParaRPr lang="ar-SA" sz="2100" dirty="0"/>
          </a:p>
        </p:txBody>
      </p:sp>
      <p:sp>
        <p:nvSpPr>
          <p:cNvPr id="17" name="anim-g2-1299"/>
          <p:cNvSpPr/>
          <p:nvPr/>
        </p:nvSpPr>
        <p:spPr>
          <a:xfrm>
            <a:off x="8856928" y="3240634"/>
            <a:ext cx="2511807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1300"/>
          <p:cNvSpPr/>
          <p:nvPr/>
        </p:nvSpPr>
        <p:spPr>
          <a:xfrm>
            <a:off x="8994088" y="3240634"/>
            <a:ext cx="223748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🟥 الدرايفر الثاني</a:t>
            </a:r>
            <a:endParaRPr lang="ar-SA" sz="2100" dirty="0"/>
          </a:p>
        </p:txBody>
      </p:sp>
      <p:sp>
        <p:nvSpPr>
          <p:cNvPr id="19" name="anim-g2-1301"/>
          <p:cNvSpPr/>
          <p:nvPr/>
        </p:nvSpPr>
        <p:spPr>
          <a:xfrm>
            <a:off x="5398123" y="3240634"/>
            <a:ext cx="3349076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1302"/>
          <p:cNvSpPr/>
          <p:nvPr/>
        </p:nvSpPr>
        <p:spPr>
          <a:xfrm>
            <a:off x="5535283" y="3240634"/>
            <a:ext cx="3074756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L298N: M3 (ونصفه احتياط)</a:t>
            </a:r>
            <a:endParaRPr lang="ar-SA" sz="2100" dirty="0"/>
          </a:p>
        </p:txBody>
      </p:sp>
      <p:sp>
        <p:nvSpPr>
          <p:cNvPr id="21" name="anim-g2-1303"/>
          <p:cNvSpPr/>
          <p:nvPr/>
        </p:nvSpPr>
        <p:spPr>
          <a:xfrm>
            <a:off x="822960" y="3240634"/>
            <a:ext cx="4465435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1304"/>
          <p:cNvSpPr/>
          <p:nvPr/>
        </p:nvSpPr>
        <p:spPr>
          <a:xfrm>
            <a:off x="960120" y="3240634"/>
            <a:ext cx="419111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L298N يحمل محركين فقط</a:t>
            </a:r>
            <a:endParaRPr lang="ar-SA" sz="2100" dirty="0"/>
          </a:p>
        </p:txBody>
      </p:sp>
      <p:sp>
        <p:nvSpPr>
          <p:cNvPr id="23" name="anim-g3-1305"/>
          <p:cNvSpPr/>
          <p:nvPr/>
        </p:nvSpPr>
        <p:spPr>
          <a:xfrm>
            <a:off x="8856928" y="3966667"/>
            <a:ext cx="2511807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1306"/>
          <p:cNvSpPr/>
          <p:nvPr/>
        </p:nvSpPr>
        <p:spPr>
          <a:xfrm>
            <a:off x="8994088" y="3966667"/>
            <a:ext cx="223748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🔋 البطارية</a:t>
            </a:r>
            <a:endParaRPr lang="ar-SA" sz="2100" dirty="0"/>
          </a:p>
        </p:txBody>
      </p:sp>
      <p:sp>
        <p:nvSpPr>
          <p:cNvPr id="25" name="anim-g3-1307"/>
          <p:cNvSpPr/>
          <p:nvPr/>
        </p:nvSpPr>
        <p:spPr>
          <a:xfrm>
            <a:off x="5398123" y="3966667"/>
            <a:ext cx="3349076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1308"/>
          <p:cNvSpPr/>
          <p:nvPr/>
        </p:nvSpPr>
        <p:spPr>
          <a:xfrm>
            <a:off x="5535283" y="3966667"/>
            <a:ext cx="3074756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 × 18650 (أو 3 = ١١٫١ فولت)</a:t>
            </a:r>
            <a:endParaRPr lang="ar-SA" sz="2100" dirty="0"/>
          </a:p>
        </p:txBody>
      </p:sp>
      <p:sp>
        <p:nvSpPr>
          <p:cNvPr id="27" name="anim-g3-1309"/>
          <p:cNvSpPr/>
          <p:nvPr/>
        </p:nvSpPr>
        <p:spPr>
          <a:xfrm>
            <a:off x="822960" y="3966667"/>
            <a:ext cx="4465435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1310"/>
          <p:cNvSpPr/>
          <p:nvPr/>
        </p:nvSpPr>
        <p:spPr>
          <a:xfrm>
            <a:off x="960120" y="3966667"/>
            <a:ext cx="419111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ثلاثة محركات = تيار أكبر</a:t>
            </a:r>
            <a:endParaRPr lang="ar-SA" sz="2100" dirty="0"/>
          </a:p>
        </p:txBody>
      </p:sp>
      <p:sp>
        <p:nvSpPr>
          <p:cNvPr id="29" name="anim-g4-1311"/>
          <p:cNvSpPr/>
          <p:nvPr/>
        </p:nvSpPr>
        <p:spPr>
          <a:xfrm>
            <a:off x="8856928" y="4692701"/>
            <a:ext cx="2511807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1312"/>
          <p:cNvSpPr/>
          <p:nvPr/>
        </p:nvSpPr>
        <p:spPr>
          <a:xfrm>
            <a:off x="8994088" y="4692701"/>
            <a:ext cx="223748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⚡ المنظّم</a:t>
            </a:r>
            <a:endParaRPr lang="ar-SA" sz="2100" dirty="0"/>
          </a:p>
        </p:txBody>
      </p:sp>
      <p:sp>
        <p:nvSpPr>
          <p:cNvPr id="31" name="anim-g4-1313"/>
          <p:cNvSpPr/>
          <p:nvPr/>
        </p:nvSpPr>
        <p:spPr>
          <a:xfrm>
            <a:off x="5398123" y="4692701"/>
            <a:ext cx="3349076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1314"/>
          <p:cNvSpPr/>
          <p:nvPr/>
        </p:nvSpPr>
        <p:spPr>
          <a:xfrm>
            <a:off x="5535283" y="4692701"/>
            <a:ext cx="3074756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الدرايفر الأول فقط</a:t>
            </a:r>
            <a:endParaRPr lang="ar-SA" sz="2100" dirty="0"/>
          </a:p>
        </p:txBody>
      </p:sp>
      <p:sp>
        <p:nvSpPr>
          <p:cNvPr id="33" name="anim-g4-1315"/>
          <p:cNvSpPr/>
          <p:nvPr/>
        </p:nvSpPr>
        <p:spPr>
          <a:xfrm>
            <a:off x="822960" y="4692701"/>
            <a:ext cx="4465435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1316"/>
          <p:cNvSpPr/>
          <p:nvPr/>
        </p:nvSpPr>
        <p:spPr>
          <a:xfrm>
            <a:off x="960120" y="4692701"/>
            <a:ext cx="419111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منظّمان معًا على VIN قد يتعاركان</a:t>
            </a:r>
            <a:endParaRPr lang="ar-SA" sz="2100" dirty="0"/>
          </a:p>
        </p:txBody>
      </p:sp>
      <p:sp>
        <p:nvSpPr>
          <p:cNvPr id="35" name="anim-g5-1317"/>
          <p:cNvSpPr/>
          <p:nvPr/>
        </p:nvSpPr>
        <p:spPr>
          <a:xfrm>
            <a:off x="8856928" y="5418734"/>
            <a:ext cx="2511807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6" name="anim-g5-1318"/>
          <p:cNvSpPr/>
          <p:nvPr/>
        </p:nvSpPr>
        <p:spPr>
          <a:xfrm>
            <a:off x="8994088" y="5418734"/>
            <a:ext cx="2237487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📍 أطراف M3</a:t>
            </a:r>
            <a:endParaRPr lang="ar-SA" sz="2100" dirty="0"/>
          </a:p>
        </p:txBody>
      </p:sp>
      <p:sp>
        <p:nvSpPr>
          <p:cNvPr id="37" name="anim-g5-1319"/>
          <p:cNvSpPr/>
          <p:nvPr/>
        </p:nvSpPr>
        <p:spPr>
          <a:xfrm>
            <a:off x="5398123" y="5418734"/>
            <a:ext cx="3349076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8" name="anim-g5-1320"/>
          <p:cNvSpPr/>
          <p:nvPr/>
        </p:nvSpPr>
        <p:spPr>
          <a:xfrm>
            <a:off x="5535283" y="5418734"/>
            <a:ext cx="3074756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EN 25 · IN 33 · IN 19</a:t>
            </a:r>
            <a:endParaRPr lang="ar-SA" sz="2100" dirty="0"/>
          </a:p>
        </p:txBody>
      </p:sp>
      <p:sp>
        <p:nvSpPr>
          <p:cNvPr id="39" name="anim-g5-1321"/>
          <p:cNvSpPr/>
          <p:nvPr/>
        </p:nvSpPr>
        <p:spPr>
          <a:xfrm>
            <a:off x="822960" y="5418734"/>
            <a:ext cx="4465435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0" name="anim-g5-1322"/>
          <p:cNvSpPr/>
          <p:nvPr/>
        </p:nvSpPr>
        <p:spPr>
          <a:xfrm>
            <a:off x="960120" y="5418734"/>
            <a:ext cx="419111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ثلاثة مخارج آمنة حرة</a:t>
            </a:r>
            <a:endParaRPr lang="ar-SA" sz="21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القطع الجديدة  ·  ١٤٠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41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323" descr="C:\Users\user\projects\younes-training\esp32-3\.pptx-cache\s141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324" descr="C:\Users\user\projects\younes-training\esp32-3\.pptx-cache\s141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325" descr="C:\Users\user\projects\younes-training\esp32-3\.pptx-cache\s141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326" descr="C:\Users\user\projects\younes-training\esp32-3\.pptx-cache\s141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1327" descr="C:\Users\user\projects\younes-training\esp32-3\.pptx-cache\s141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anim-g6-1328" descr="C:\Users\user\projects\younes-training\esp32-3\.pptx-cache\s141-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42655" y="4572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442655" y="457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نصائح ميكانيكية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قبل أن تشد البراغي</a:t>
            </a:r>
            <a:endParaRPr lang="ar-SA" sz="3800" dirty="0"/>
          </a:p>
        </p:txBody>
      </p:sp>
      <p:sp>
        <p:nvSpPr>
          <p:cNvPr id="5" name="anim-g1-1329"/>
          <p:cNvSpPr/>
          <p:nvPr/>
        </p:nvSpPr>
        <p:spPr>
          <a:xfrm>
            <a:off x="6233008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330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331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📐</a:t>
            </a:r>
            <a:endParaRPr lang="ar-SA" sz="2200" dirty="0"/>
          </a:p>
        </p:txBody>
      </p:sp>
      <p:sp>
        <p:nvSpPr>
          <p:cNvPr id="8" name="anim-g1-1332"/>
          <p:cNvSpPr/>
          <p:nvPr/>
        </p:nvSpPr>
        <p:spPr>
          <a:xfrm>
            <a:off x="6507328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الزوايا بدقة</a:t>
            </a:r>
            <a:endParaRPr lang="ar-SA" sz="2200" dirty="0"/>
          </a:p>
        </p:txBody>
      </p:sp>
      <p:sp>
        <p:nvSpPr>
          <p:cNvPr id="9" name="anim-g1-1333"/>
          <p:cNvSpPr/>
          <p:nvPr/>
        </p:nvSpPr>
        <p:spPr>
          <a:xfrm>
            <a:off x="6507328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اطبع قالب الدائرة بزوايا ١٢٠° والصقه على القاعدة قبل الثقب</a:t>
            </a:r>
            <a:endParaRPr lang="ar-SA" sz="1900" dirty="0"/>
          </a:p>
        </p:txBody>
      </p:sp>
      <p:sp>
        <p:nvSpPr>
          <p:cNvPr id="10" name="anim-g2-1334"/>
          <p:cNvSpPr/>
          <p:nvPr/>
        </p:nvSpPr>
        <p:spPr>
          <a:xfrm>
            <a:off x="822960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335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336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</a:t>
            </a:r>
            <a:endParaRPr lang="ar-SA" sz="2200" dirty="0"/>
          </a:p>
        </p:txBody>
      </p:sp>
      <p:sp>
        <p:nvSpPr>
          <p:cNvPr id="13" name="anim-g2-1337"/>
          <p:cNvSpPr/>
          <p:nvPr/>
        </p:nvSpPr>
        <p:spPr>
          <a:xfrm>
            <a:off x="1097280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المسافة نفسها</a:t>
            </a:r>
            <a:endParaRPr lang="ar-SA" sz="2200" dirty="0"/>
          </a:p>
        </p:txBody>
      </p:sp>
      <p:sp>
        <p:nvSpPr>
          <p:cNvPr id="14" name="anim-g2-1338"/>
          <p:cNvSpPr/>
          <p:nvPr/>
        </p:nvSpPr>
        <p:spPr>
          <a:xfrm>
            <a:off x="1097280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العجلات على البعد نفسه عن المركز، وإلا انحرف عند الدوران</a:t>
            </a:r>
            <a:endParaRPr lang="ar-SA" sz="1900" dirty="0"/>
          </a:p>
        </p:txBody>
      </p:sp>
      <p:sp>
        <p:nvSpPr>
          <p:cNvPr id="15" name="anim-g3-1339"/>
          <p:cNvSpPr/>
          <p:nvPr/>
        </p:nvSpPr>
        <p:spPr>
          <a:xfrm>
            <a:off x="6233008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1340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1341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⚖️</a:t>
            </a:r>
            <a:endParaRPr lang="ar-SA" sz="2200" dirty="0"/>
          </a:p>
        </p:txBody>
      </p:sp>
      <p:sp>
        <p:nvSpPr>
          <p:cNvPr id="18" name="anim-g3-1342"/>
          <p:cNvSpPr/>
          <p:nvPr/>
        </p:nvSpPr>
        <p:spPr>
          <a:xfrm>
            <a:off x="6507328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الوزن في المنتصف</a:t>
            </a:r>
            <a:endParaRPr lang="ar-SA" sz="2200" dirty="0"/>
          </a:p>
        </p:txBody>
      </p:sp>
      <p:sp>
        <p:nvSpPr>
          <p:cNvPr id="19" name="anim-g3-1343"/>
          <p:cNvSpPr/>
          <p:nvPr/>
        </p:nvSpPr>
        <p:spPr>
          <a:xfrm>
            <a:off x="6507328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البطارية في المركز تمامًا: تحمل العجلات الثلاث بالتساوي</a:t>
            </a:r>
            <a:endParaRPr lang="ar-SA" sz="1900" dirty="0"/>
          </a:p>
        </p:txBody>
      </p:sp>
      <p:sp>
        <p:nvSpPr>
          <p:cNvPr id="20" name="anim-g4-1344"/>
          <p:cNvSpPr/>
          <p:nvPr/>
        </p:nvSpPr>
        <p:spPr>
          <a:xfrm>
            <a:off x="822960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1345"/>
          <p:cNvSpPr/>
          <p:nvPr/>
        </p:nvSpPr>
        <p:spPr>
          <a:xfrm>
            <a:off x="511744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1346"/>
          <p:cNvSpPr/>
          <p:nvPr/>
        </p:nvSpPr>
        <p:spPr>
          <a:xfrm>
            <a:off x="511744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🥅</a:t>
            </a:r>
            <a:endParaRPr lang="ar-SA" sz="2200" dirty="0"/>
          </a:p>
        </p:txBody>
      </p:sp>
      <p:sp>
        <p:nvSpPr>
          <p:cNvPr id="23" name="anim-g4-1347"/>
          <p:cNvSpPr/>
          <p:nvPr/>
        </p:nvSpPr>
        <p:spPr>
          <a:xfrm>
            <a:off x="1097280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فراغ الكرة</a:t>
            </a:r>
            <a:endParaRPr lang="ar-SA" sz="2200" dirty="0"/>
          </a:p>
        </p:txBody>
      </p:sp>
      <p:sp>
        <p:nvSpPr>
          <p:cNvPr id="24" name="anim-g4-1348"/>
          <p:cNvSpPr/>
          <p:nvPr/>
        </p:nvSpPr>
        <p:spPr>
          <a:xfrm>
            <a:off x="1097280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بين العجلتين الأماميتين: تجويف صغير «يمسك» الكرة</a:t>
            </a:r>
            <a:endParaRPr lang="ar-SA" sz="19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القطع الجديدة  ·  ١٤٢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ركّبنا عجلات عادية بدل الأومني على القاعدة الثلاثية… ماذا يحدث؟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يعمل بشكل أسرع</a:t>
            </a:r>
            <a:endParaRPr lang="ar-SA" sz="2200" dirty="0"/>
          </a:p>
        </p:txBody>
      </p:sp>
      <p:sp>
        <p:nvSpPr>
          <p:cNvPr id="9" name="anim-g1-1349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1350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1351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1352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يعمل بشكل أسرع</a:t>
            </a:r>
            <a:endParaRPr lang="ar-SA" sz="2200" dirty="0"/>
          </a:p>
        </p:txBody>
      </p:sp>
      <p:sp>
        <p:nvSpPr>
          <p:cNvPr id="13" name="anim-g1-1353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العكس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يتحرك جانبيًا فقط</a:t>
            </a:r>
            <a:endParaRPr lang="ar-SA" sz="2200" dirty="0"/>
          </a:p>
        </p:txBody>
      </p:sp>
      <p:sp>
        <p:nvSpPr>
          <p:cNvPr id="18" name="anim-g1-1354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1355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0" name="anim-g1-1356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21" name="anim-g1-1357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يتحرك جانبيًا فقط</a:t>
            </a:r>
            <a:endParaRPr lang="ar-SA" sz="2200" dirty="0"/>
          </a:p>
        </p:txBody>
      </p:sp>
      <p:sp>
        <p:nvSpPr>
          <p:cNvPr id="22" name="anim-g1-1358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يكاد لا يتحرك: العجلات تتصارع</a:t>
            </a:r>
            <a:endParaRPr lang="ar-SA" sz="2200" dirty="0"/>
          </a:p>
        </p:txBody>
      </p:sp>
      <p:sp>
        <p:nvSpPr>
          <p:cNvPr id="27" name="anim-g1-1359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28" name="anim-g1-1360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9" name="anim-g1-1361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30" name="anim-g1-1362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يكاد لا يتحرك: العجلات تتصارع</a:t>
            </a:r>
            <a:endParaRPr lang="ar-SA" sz="2200" dirty="0"/>
          </a:p>
        </p:txBody>
      </p:sp>
      <p:sp>
        <p:nvSpPr>
          <p:cNvPr id="31" name="anim-g1-1363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كل عجلة تمنع الحركة الجانبية للأخريات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فرق</a:t>
            </a:r>
            <a:endParaRPr lang="ar-SA" sz="2200" dirty="0"/>
          </a:p>
        </p:txBody>
      </p:sp>
      <p:sp>
        <p:nvSpPr>
          <p:cNvPr id="36" name="anim-g1-1364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1365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1366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1367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فرق</a:t>
            </a:r>
            <a:endParaRPr lang="ar-SA" sz="2200" dirty="0"/>
          </a:p>
        </p:txBody>
      </p:sp>
      <p:sp>
        <p:nvSpPr>
          <p:cNvPr id="40" name="anim-g1-1368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الفرق كبير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القطع الجديدة  ·  ١٤٣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عجلات تنزلق جانبيًا + ثلاثة محركات على ١٢٠° = روبوت يتحرك في كل اتجاه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القطع الجديدة  ·  ١٤٥</a:t>
            </a:r>
            <a:endParaRPr lang="ar-SA" sz="12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١١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١١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⚽ رياضيات الحركة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اتجاه إصبعك… إلى سرعة كل محرك من الثلاثة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رياضيات الحركة  ·  ١٤٦</a:t>
            </a:r>
            <a:endParaRPr lang="ar-SA" sz="12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1369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1370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1371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1372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تصف الحركة بثلاثة أرقام: vx وvy وw</a:t>
            </a:r>
            <a:endParaRPr lang="ar-SA" sz="2400" dirty="0"/>
          </a:p>
        </p:txBody>
      </p:sp>
      <p:sp>
        <p:nvSpPr>
          <p:cNvPr id="9" name="anim-g2-1373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1374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1375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1376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تفسّر الأرقام ٠٫٨٦٦ و٠٫٥ و١ في المعادلات</a:t>
            </a:r>
            <a:endParaRPr lang="ar-SA" sz="2400" dirty="0"/>
          </a:p>
        </p:txBody>
      </p:sp>
      <p:sp>
        <p:nvSpPr>
          <p:cNvPr id="13" name="anim-g3-1377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1378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1379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1380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تقسم على big حتى لا يتجاوز أي محرك ٢٥٥</a:t>
            </a:r>
            <a:endParaRPr lang="ar-SA" sz="2400" dirty="0"/>
          </a:p>
        </p:txBody>
      </p:sp>
      <p:sp>
        <p:nvSpPr>
          <p:cNvPr id="17" name="anim-g4-1381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1382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1383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1384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تختبر القاعدة بـ KiwiTest وتصحح أي محرك معكوس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رياضيات الحركة  ·  ١٤٧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572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174175" y="457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لغة الحركة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ثلاثة أرقام تصف أي حركة</a:t>
            </a:r>
            <a:endParaRPr lang="ar-SA" sz="3800" dirty="0"/>
          </a:p>
        </p:txBody>
      </p:sp>
      <p:sp>
        <p:nvSpPr>
          <p:cNvPr id="5" name="anim-g1-1385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386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387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⬆️</a:t>
            </a:r>
            <a:endParaRPr lang="ar-SA" sz="2200" dirty="0"/>
          </a:p>
        </p:txBody>
      </p:sp>
      <p:sp>
        <p:nvSpPr>
          <p:cNvPr id="8" name="anim-g1-1388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vx</a:t>
            </a:r>
            <a:endParaRPr lang="ar-SA" sz="2200" dirty="0"/>
          </a:p>
        </p:txBody>
      </p:sp>
      <p:sp>
        <p:nvSpPr>
          <p:cNvPr id="9" name="anim-g1-1389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للأمام (+) أو للخلف (−)</a:t>
            </a:r>
            <a:endParaRPr lang="ar-SA" sz="1900" dirty="0"/>
          </a:p>
        </p:txBody>
      </p:sp>
      <p:sp>
        <p:nvSpPr>
          <p:cNvPr id="10" name="anim-g2-1390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391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392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⬅️</a:t>
            </a:r>
            <a:endParaRPr lang="ar-SA" sz="2200" dirty="0"/>
          </a:p>
        </p:txBody>
      </p:sp>
      <p:sp>
        <p:nvSpPr>
          <p:cNvPr id="13" name="anim-g2-1393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vy</a:t>
            </a:r>
            <a:endParaRPr lang="ar-SA" sz="2200" dirty="0"/>
          </a:p>
        </p:txBody>
      </p:sp>
      <p:sp>
        <p:nvSpPr>
          <p:cNvPr id="14" name="anim-g2-1394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لليسار (+) أو لليمين (−)</a:t>
            </a:r>
            <a:endParaRPr lang="ar-SA" sz="1900" dirty="0"/>
          </a:p>
        </p:txBody>
      </p:sp>
      <p:sp>
        <p:nvSpPr>
          <p:cNvPr id="15" name="anim-g3-1395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1396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1397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⟲</a:t>
            </a:r>
            <a:endParaRPr lang="ar-SA" sz="2200" dirty="0"/>
          </a:p>
        </p:txBody>
      </p:sp>
      <p:sp>
        <p:nvSpPr>
          <p:cNvPr id="18" name="anim-g3-1398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w</a:t>
            </a:r>
            <a:endParaRPr lang="ar-SA" sz="2200" dirty="0"/>
          </a:p>
        </p:txBody>
      </p:sp>
      <p:sp>
        <p:nvSpPr>
          <p:cNvPr id="19" name="anim-g3-1399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دوران عكس الساعة (+) أو معها (−)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رياضيات الحركة  ·  ١٤٨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11135" y="45720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7711135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أين جاءت الأرقام؟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ثلاث معادلات… واحدة لكل محرك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9008434" y="1874520"/>
            <a:ext cx="2360302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9008434" y="1874520"/>
            <a:ext cx="23603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المحرك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6833442" y="1874520"/>
            <a:ext cx="2065264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6833442" y="1874520"/>
            <a:ext cx="206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موقعه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5900754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59007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المعادلة</a:t>
            </a:r>
            <a:endParaRPr lang="ar-SA" sz="1900" dirty="0"/>
          </a:p>
        </p:txBody>
      </p:sp>
      <p:sp>
        <p:nvSpPr>
          <p:cNvPr id="11" name="anim-g1-1400"/>
          <p:cNvSpPr/>
          <p:nvPr/>
        </p:nvSpPr>
        <p:spPr>
          <a:xfrm>
            <a:off x="9008434" y="2514600"/>
            <a:ext cx="2360302" cy="1100328"/>
          </a:xfrm>
          <a:prstGeom prst="roundRect">
            <a:avLst>
              <a:gd name="adj" fmla="val 9972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1401"/>
          <p:cNvSpPr/>
          <p:nvPr/>
        </p:nvSpPr>
        <p:spPr>
          <a:xfrm>
            <a:off x="9145594" y="2514600"/>
            <a:ext cx="2085982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M1 أمامي أيسر</a:t>
            </a:r>
            <a:endParaRPr lang="ar-SA" sz="2100" dirty="0"/>
          </a:p>
        </p:txBody>
      </p:sp>
      <p:sp>
        <p:nvSpPr>
          <p:cNvPr id="13" name="anim-g1-1402"/>
          <p:cNvSpPr/>
          <p:nvPr/>
        </p:nvSpPr>
        <p:spPr>
          <a:xfrm>
            <a:off x="6833442" y="2514600"/>
            <a:ext cx="2065264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1403"/>
          <p:cNvSpPr/>
          <p:nvPr/>
        </p:nvSpPr>
        <p:spPr>
          <a:xfrm>
            <a:off x="6970602" y="2514600"/>
            <a:ext cx="1790944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٦٠°</a:t>
            </a:r>
            <a:endParaRPr lang="ar-SA" sz="2100" dirty="0"/>
          </a:p>
        </p:txBody>
      </p:sp>
      <p:sp>
        <p:nvSpPr>
          <p:cNvPr id="15" name="anim-g1-1404"/>
          <p:cNvSpPr/>
          <p:nvPr/>
        </p:nvSpPr>
        <p:spPr>
          <a:xfrm>
            <a:off x="822960" y="2514600"/>
            <a:ext cx="5900754" cy="1100328"/>
          </a:xfrm>
          <a:prstGeom prst="roundRect">
            <a:avLst>
              <a:gd name="adj" fmla="val 9972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1405"/>
          <p:cNvSpPr/>
          <p:nvPr/>
        </p:nvSpPr>
        <p:spPr>
          <a:xfrm>
            <a:off x="960120" y="2514600"/>
            <a:ext cx="5626434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M1 = −0.866·vx + 0.5·vy + w</a:t>
            </a:r>
            <a:endParaRPr lang="ar-SA" sz="2100" dirty="0"/>
          </a:p>
        </p:txBody>
      </p:sp>
      <p:sp>
        <p:nvSpPr>
          <p:cNvPr id="17" name="anim-g2-1406"/>
          <p:cNvSpPr/>
          <p:nvPr/>
        </p:nvSpPr>
        <p:spPr>
          <a:xfrm>
            <a:off x="9008434" y="3724656"/>
            <a:ext cx="2360302" cy="1100328"/>
          </a:xfrm>
          <a:prstGeom prst="roundRect">
            <a:avLst>
              <a:gd name="adj" fmla="val 9972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1407"/>
          <p:cNvSpPr/>
          <p:nvPr/>
        </p:nvSpPr>
        <p:spPr>
          <a:xfrm>
            <a:off x="9145594" y="3724656"/>
            <a:ext cx="2085982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M2 أمامي أيمن</a:t>
            </a:r>
            <a:endParaRPr lang="ar-SA" sz="2100" dirty="0"/>
          </a:p>
        </p:txBody>
      </p:sp>
      <p:sp>
        <p:nvSpPr>
          <p:cNvPr id="19" name="anim-g2-1408"/>
          <p:cNvSpPr/>
          <p:nvPr/>
        </p:nvSpPr>
        <p:spPr>
          <a:xfrm>
            <a:off x="6833442" y="3724656"/>
            <a:ext cx="2065264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1409"/>
          <p:cNvSpPr/>
          <p:nvPr/>
        </p:nvSpPr>
        <p:spPr>
          <a:xfrm>
            <a:off x="6970602" y="3724656"/>
            <a:ext cx="1790944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−٦٠°</a:t>
            </a:r>
            <a:endParaRPr lang="ar-SA" sz="2100" dirty="0"/>
          </a:p>
        </p:txBody>
      </p:sp>
      <p:sp>
        <p:nvSpPr>
          <p:cNvPr id="21" name="anim-g2-1410"/>
          <p:cNvSpPr/>
          <p:nvPr/>
        </p:nvSpPr>
        <p:spPr>
          <a:xfrm>
            <a:off x="822960" y="3724656"/>
            <a:ext cx="5900754" cy="1100328"/>
          </a:xfrm>
          <a:prstGeom prst="roundRect">
            <a:avLst>
              <a:gd name="adj" fmla="val 9972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1411"/>
          <p:cNvSpPr/>
          <p:nvPr/>
        </p:nvSpPr>
        <p:spPr>
          <a:xfrm>
            <a:off x="960120" y="3724656"/>
            <a:ext cx="5626434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M2 = +0.866·vx + 0.5·vy + w</a:t>
            </a:r>
            <a:endParaRPr lang="ar-SA" sz="2100" dirty="0"/>
          </a:p>
        </p:txBody>
      </p:sp>
      <p:sp>
        <p:nvSpPr>
          <p:cNvPr id="23" name="anim-g3-1412"/>
          <p:cNvSpPr/>
          <p:nvPr/>
        </p:nvSpPr>
        <p:spPr>
          <a:xfrm>
            <a:off x="9008434" y="4934712"/>
            <a:ext cx="2360302" cy="1100328"/>
          </a:xfrm>
          <a:prstGeom prst="roundRect">
            <a:avLst>
              <a:gd name="adj" fmla="val 9972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1413"/>
          <p:cNvSpPr/>
          <p:nvPr/>
        </p:nvSpPr>
        <p:spPr>
          <a:xfrm>
            <a:off x="9145594" y="4934712"/>
            <a:ext cx="2085982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M3 خلفي</a:t>
            </a:r>
            <a:endParaRPr lang="ar-SA" sz="2100" dirty="0"/>
          </a:p>
        </p:txBody>
      </p:sp>
      <p:sp>
        <p:nvSpPr>
          <p:cNvPr id="25" name="anim-g3-1414"/>
          <p:cNvSpPr/>
          <p:nvPr/>
        </p:nvSpPr>
        <p:spPr>
          <a:xfrm>
            <a:off x="6833442" y="4934712"/>
            <a:ext cx="2065264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1415"/>
          <p:cNvSpPr/>
          <p:nvPr/>
        </p:nvSpPr>
        <p:spPr>
          <a:xfrm>
            <a:off x="6970602" y="4934712"/>
            <a:ext cx="1790944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١٨٠°</a:t>
            </a:r>
            <a:endParaRPr lang="ar-SA" sz="2100" dirty="0"/>
          </a:p>
        </p:txBody>
      </p:sp>
      <p:sp>
        <p:nvSpPr>
          <p:cNvPr id="27" name="anim-g3-1416"/>
          <p:cNvSpPr/>
          <p:nvPr/>
        </p:nvSpPr>
        <p:spPr>
          <a:xfrm>
            <a:off x="822960" y="4934712"/>
            <a:ext cx="5900754" cy="1100328"/>
          </a:xfrm>
          <a:prstGeom prst="roundRect">
            <a:avLst>
              <a:gd name="adj" fmla="val 9972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1417"/>
          <p:cNvSpPr/>
          <p:nvPr/>
        </p:nvSpPr>
        <p:spPr>
          <a:xfrm>
            <a:off x="960120" y="4934712"/>
            <a:ext cx="5626434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M3 = −1·vy + w</a:t>
            </a:r>
            <a:endParaRPr lang="ar-SA" sz="2100" dirty="0"/>
          </a:p>
        </p:txBody>
      </p:sp>
      <p:sp>
        <p:nvSpPr>
          <p:cNvPr id="29" name="Text 27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رياضيات الحركة  ·  ١٥٠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53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418" descr="C:\Users\user\projects\younes-training\esp32-3\.pptx-cache\s153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419" descr="C:\Users\user\projects\younes-training\esp32-3\.pptx-cache\s153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420" descr="C:\Users\user\projects\younes-training\esp32-3\.pptx-cache\s153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421" descr="C:\Users\user\projects\younes-training\esp32-3\.pptx-cache\s153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1422" descr="C:\Users\user\projects\younes-training\esp32-3\.pptx-cache\s153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54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423" descr="C:\Users\user\projects\younes-training\esp32-3\.pptx-cache\s154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424" descr="C:\Users\user\projects\younes-training\esp32-3\.pptx-cache\s154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425" descr="C:\Users\user\projects\younes-training\esp32-3\.pptx-cache\s154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572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174175" y="457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تشخيص سريع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الحركة غلط؟ اختبار الدوران يكشف كل شيء</a:t>
            </a:r>
            <a:endParaRPr lang="ar-SA" sz="3200" dirty="0"/>
          </a:p>
        </p:txBody>
      </p:sp>
      <p:sp>
        <p:nvSpPr>
          <p:cNvPr id="5" name="anim-g1-1426"/>
          <p:cNvSpPr/>
          <p:nvPr/>
        </p:nvSpPr>
        <p:spPr>
          <a:xfrm>
            <a:off x="6233008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427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428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⟲</a:t>
            </a:r>
            <a:endParaRPr lang="ar-SA" sz="2200" dirty="0"/>
          </a:p>
        </p:txBody>
      </p:sp>
      <p:sp>
        <p:nvSpPr>
          <p:cNvPr id="8" name="anim-g1-1429"/>
          <p:cNvSpPr/>
          <p:nvPr/>
        </p:nvSpPr>
        <p:spPr>
          <a:xfrm>
            <a:off x="6507328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ابدأ بـ drive(0, 0, 0.6)</a:t>
            </a:r>
            <a:endParaRPr lang="ar-SA" sz="2200" dirty="0"/>
          </a:p>
        </p:txBody>
      </p:sp>
      <p:sp>
        <p:nvSpPr>
          <p:cNvPr id="9" name="anim-g1-1430"/>
          <p:cNvSpPr/>
          <p:nvPr/>
        </p:nvSpPr>
        <p:spPr>
          <a:xfrm>
            <a:off x="6507328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العجلات يجب أن تدفع الروبوت عكس الساعة</a:t>
            </a:r>
            <a:endParaRPr lang="ar-SA" sz="1900" dirty="0"/>
          </a:p>
        </p:txBody>
      </p:sp>
      <p:sp>
        <p:nvSpPr>
          <p:cNvPr id="10" name="anim-g2-1431"/>
          <p:cNvSpPr/>
          <p:nvPr/>
        </p:nvSpPr>
        <p:spPr>
          <a:xfrm>
            <a:off x="822960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432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433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🔁</a:t>
            </a:r>
            <a:endParaRPr lang="ar-SA" sz="2200" dirty="0"/>
          </a:p>
        </p:txBody>
      </p:sp>
      <p:sp>
        <p:nvSpPr>
          <p:cNvPr id="13" name="anim-g2-1434"/>
          <p:cNvSpPr/>
          <p:nvPr/>
        </p:nvSpPr>
        <p:spPr>
          <a:xfrm>
            <a:off x="1097280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عجلة تعاكس أختيها</a:t>
            </a:r>
            <a:endParaRPr lang="ar-SA" sz="2200" dirty="0"/>
          </a:p>
        </p:txBody>
      </p:sp>
      <p:sp>
        <p:nvSpPr>
          <p:cNvPr id="14" name="anim-g2-1435"/>
          <p:cNvSpPr/>
          <p:nvPr/>
        </p:nvSpPr>
        <p:spPr>
          <a:xfrm>
            <a:off x="1097280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اعكس سلكي ذلك المحرك على الدرايفر. ثم أعد الاختبار</a:t>
            </a:r>
            <a:endParaRPr lang="ar-SA" sz="1900" dirty="0"/>
          </a:p>
        </p:txBody>
      </p:sp>
      <p:sp>
        <p:nvSpPr>
          <p:cNvPr id="15" name="anim-g3-1436"/>
          <p:cNvSpPr/>
          <p:nvPr/>
        </p:nvSpPr>
        <p:spPr>
          <a:xfrm>
            <a:off x="6233008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1437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1438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⬆️</a:t>
            </a:r>
            <a:endParaRPr lang="ar-SA" sz="2200" dirty="0"/>
          </a:p>
        </p:txBody>
      </p:sp>
      <p:sp>
        <p:nvSpPr>
          <p:cNvPr id="18" name="anim-g3-1439"/>
          <p:cNvSpPr/>
          <p:nvPr/>
        </p:nvSpPr>
        <p:spPr>
          <a:xfrm>
            <a:off x="6507328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ثم drive(0.8, 0, 0)</a:t>
            </a:r>
            <a:endParaRPr lang="ar-SA" sz="2200" dirty="0"/>
          </a:p>
        </p:txBody>
      </p:sp>
      <p:sp>
        <p:nvSpPr>
          <p:cNvPr id="19" name="anim-g3-1440"/>
          <p:cNvSpPr/>
          <p:nvPr/>
        </p:nvSpPr>
        <p:spPr>
          <a:xfrm>
            <a:off x="6507328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يجب أن يتقدم والخلفية واقفة</a:t>
            </a:r>
            <a:endParaRPr lang="ar-SA" sz="1900" dirty="0"/>
          </a:p>
        </p:txBody>
      </p:sp>
      <p:sp>
        <p:nvSpPr>
          <p:cNvPr id="20" name="anim-g4-1441"/>
          <p:cNvSpPr/>
          <p:nvPr/>
        </p:nvSpPr>
        <p:spPr>
          <a:xfrm>
            <a:off x="822960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1442"/>
          <p:cNvSpPr/>
          <p:nvPr/>
        </p:nvSpPr>
        <p:spPr>
          <a:xfrm>
            <a:off x="511744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1443"/>
          <p:cNvSpPr/>
          <p:nvPr/>
        </p:nvSpPr>
        <p:spPr>
          <a:xfrm>
            <a:off x="511744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🔀</a:t>
            </a:r>
            <a:endParaRPr lang="ar-SA" sz="2200" dirty="0"/>
          </a:p>
        </p:txBody>
      </p:sp>
      <p:sp>
        <p:nvSpPr>
          <p:cNvPr id="23" name="anim-g4-1444"/>
          <p:cNvSpPr/>
          <p:nvPr/>
        </p:nvSpPr>
        <p:spPr>
          <a:xfrm>
            <a:off x="1097280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يتقدم بزاوية؟</a:t>
            </a:r>
            <a:endParaRPr lang="ar-SA" sz="2200" dirty="0"/>
          </a:p>
        </p:txBody>
      </p:sp>
      <p:sp>
        <p:nvSpPr>
          <p:cNvPr id="24" name="anim-g4-1445"/>
          <p:cNvSpPr/>
          <p:nvPr/>
        </p:nvSpPr>
        <p:spPr>
          <a:xfrm>
            <a:off x="1097280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M1 وM2 مبدّلان: انقل أسلاكهما بين OUT1·2 وOUT3·4</a:t>
            </a:r>
            <a:endParaRPr lang="ar-SA" sz="19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رياضيات الحركة  ·  ١٥٥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56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446" descr="C:\Users\user\projects\younes-training\esp32-3\.pptx-cache\s156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447" descr="C:\Users\user\projects\younes-training\esp32-3\.pptx-cache\s156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448" descr="C:\Users\user\projects\younes-training\esp32-3\.pptx-cache\s156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449" descr="C:\Users\user\projects\younes-training\esp32-3\.pptx-cache\s156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drive(0, 1, 0) — جانبيًا لليسار. أي محرك يعمل بأقصى قوة؟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M1</a:t>
            </a:r>
            <a:endParaRPr lang="ar-SA" sz="2200" dirty="0"/>
          </a:p>
        </p:txBody>
      </p:sp>
      <p:sp>
        <p:nvSpPr>
          <p:cNvPr id="9" name="anim-g1-1450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1451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1452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1453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M1</a:t>
            </a:r>
            <a:endParaRPr lang="ar-SA" sz="2200" dirty="0"/>
          </a:p>
        </p:txBody>
      </p:sp>
      <p:sp>
        <p:nvSpPr>
          <p:cNvPr id="13" name="anim-g1-1454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M1 = 0.5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M2</a:t>
            </a:r>
            <a:endParaRPr lang="ar-SA" sz="2200" dirty="0"/>
          </a:p>
        </p:txBody>
      </p:sp>
      <p:sp>
        <p:nvSpPr>
          <p:cNvPr id="18" name="anim-g1-1455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1456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0" name="anim-g1-1457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21" name="anim-g1-1458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M2</a:t>
            </a:r>
            <a:endParaRPr lang="ar-SA" sz="2200" dirty="0"/>
          </a:p>
        </p:txBody>
      </p:sp>
      <p:sp>
        <p:nvSpPr>
          <p:cNvPr id="22" name="anim-g1-1459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M2 = 0.5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M3 الخلفي</a:t>
            </a:r>
            <a:endParaRPr lang="ar-SA" sz="2200" dirty="0"/>
          </a:p>
        </p:txBody>
      </p:sp>
      <p:sp>
        <p:nvSpPr>
          <p:cNvPr id="27" name="anim-g1-1460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28" name="anim-g1-1461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9" name="anim-g1-1462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30" name="anim-g1-1463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M3 الخلفي</a:t>
            </a:r>
            <a:endParaRPr lang="ar-SA" sz="2200" dirty="0"/>
          </a:p>
        </p:txBody>
      </p:sp>
      <p:sp>
        <p:nvSpPr>
          <p:cNvPr id="31" name="anim-g1-1464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M3 = −1 (أقصى قوة)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كلها متساوية</a:t>
            </a:r>
            <a:endParaRPr lang="ar-SA" sz="2200" dirty="0"/>
          </a:p>
        </p:txBody>
      </p:sp>
      <p:sp>
        <p:nvSpPr>
          <p:cNvPr id="36" name="anim-g1-1465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1466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1467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1468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كلها متساوية</a:t>
            </a:r>
            <a:endParaRPr lang="ar-SA" sz="2200" dirty="0"/>
          </a:p>
        </p:txBody>
      </p:sp>
      <p:sp>
        <p:nvSpPr>
          <p:cNvPr id="40" name="anim-g1-1469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في الدوران فقط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رياضيات الحركة  ·  ١٥٧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5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ثلاث دفعات مائلة تُجمع…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فتصبح حركة في أي اتجاه نريد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رياضيات الحركة  ·  ١٦٠</a:t>
            </a:r>
            <a:endParaRPr lang="ar-SA" sz="12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١٢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١٢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⚽ روبوت الكرة على جوالك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عصا للاتجاه… زرّان للدوران… وتيربو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الجوال والكود  ·  ١٦١</a:t>
            </a:r>
            <a:endParaRPr lang="ar-SA" sz="12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1470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1471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1472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1473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تحوّل عصا الجوال إلى vx وvy</a:t>
            </a:r>
            <a:endParaRPr lang="ar-SA" sz="2400" dirty="0"/>
          </a:p>
        </p:txBody>
      </p:sp>
      <p:sp>
        <p:nvSpPr>
          <p:cNvPr id="9" name="anim-g2-1474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1475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1476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1477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تضيف أزرار الدوران والتيربو</a:t>
            </a:r>
            <a:endParaRPr lang="ar-SA" sz="2400" dirty="0"/>
          </a:p>
        </p:txBody>
      </p:sp>
      <p:sp>
        <p:nvSpPr>
          <p:cNvPr id="13" name="anim-g3-1478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1479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1480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1481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تجعل لكل فريق شبكة باسمه</a:t>
            </a:r>
            <a:endParaRPr lang="ar-SA" sz="2400" dirty="0"/>
          </a:p>
        </p:txBody>
      </p:sp>
      <p:sp>
        <p:nvSpPr>
          <p:cNvPr id="17" name="anim-g4-1482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1483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1484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1485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تضبط Failsafe المناسب للملعب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الجوال والكود  ·  ١٦٢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4831" y="457200"/>
            <a:ext cx="380390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7564831" y="457200"/>
            <a:ext cx="3803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الجوال إلى العجلات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رحلة الأمر في ٨٠ مللي ثانية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9546444" y="1874520"/>
            <a:ext cx="1822292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9546444" y="1874520"/>
            <a:ext cx="18222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المرحلة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7006993" y="1874520"/>
            <a:ext cx="2429722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7006993" y="1874520"/>
            <a:ext cx="24297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أين؟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6074305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60743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ماذا يحدث؟</a:t>
            </a:r>
            <a:endParaRPr lang="ar-SA" sz="1900" dirty="0"/>
          </a:p>
        </p:txBody>
      </p:sp>
      <p:sp>
        <p:nvSpPr>
          <p:cNvPr id="11" name="anim-g1-1486"/>
          <p:cNvSpPr/>
          <p:nvPr/>
        </p:nvSpPr>
        <p:spPr>
          <a:xfrm>
            <a:off x="9546444" y="2514600"/>
            <a:ext cx="1822292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1487"/>
          <p:cNvSpPr/>
          <p:nvPr/>
        </p:nvSpPr>
        <p:spPr>
          <a:xfrm>
            <a:off x="9683604" y="2514600"/>
            <a:ext cx="154797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100" dirty="0"/>
          </a:p>
        </p:txBody>
      </p:sp>
      <p:sp>
        <p:nvSpPr>
          <p:cNvPr id="13" name="anim-g1-1488"/>
          <p:cNvSpPr/>
          <p:nvPr/>
        </p:nvSpPr>
        <p:spPr>
          <a:xfrm>
            <a:off x="7006993" y="2514600"/>
            <a:ext cx="2429722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1489"/>
          <p:cNvSpPr/>
          <p:nvPr/>
        </p:nvSpPr>
        <p:spPr>
          <a:xfrm>
            <a:off x="7144153" y="2514600"/>
            <a:ext cx="215540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📱 الصفحة</a:t>
            </a:r>
            <a:endParaRPr lang="ar-SA" sz="2100" dirty="0"/>
          </a:p>
        </p:txBody>
      </p:sp>
      <p:sp>
        <p:nvSpPr>
          <p:cNvPr id="15" name="anim-g1-1490"/>
          <p:cNvSpPr/>
          <p:nvPr/>
        </p:nvSpPr>
        <p:spPr>
          <a:xfrm>
            <a:off x="822960" y="2514600"/>
            <a:ext cx="6074305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1491"/>
          <p:cNvSpPr/>
          <p:nvPr/>
        </p:nvSpPr>
        <p:spPr>
          <a:xfrm>
            <a:off x="960120" y="2514600"/>
            <a:ext cx="579998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الإصبع على العصا ← x للأمام وy لليسار (−١٠٠…١٠٠)</a:t>
            </a:r>
            <a:endParaRPr lang="ar-SA" sz="2100" dirty="0"/>
          </a:p>
        </p:txBody>
      </p:sp>
      <p:sp>
        <p:nvSpPr>
          <p:cNvPr id="17" name="anim-g2-1492"/>
          <p:cNvSpPr/>
          <p:nvPr/>
        </p:nvSpPr>
        <p:spPr>
          <a:xfrm>
            <a:off x="9546444" y="3240634"/>
            <a:ext cx="1822292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1493"/>
          <p:cNvSpPr/>
          <p:nvPr/>
        </p:nvSpPr>
        <p:spPr>
          <a:xfrm>
            <a:off x="9683604" y="3240634"/>
            <a:ext cx="154797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100" dirty="0"/>
          </a:p>
        </p:txBody>
      </p:sp>
      <p:sp>
        <p:nvSpPr>
          <p:cNvPr id="19" name="anim-g2-1494"/>
          <p:cNvSpPr/>
          <p:nvPr/>
        </p:nvSpPr>
        <p:spPr>
          <a:xfrm>
            <a:off x="7006993" y="3240634"/>
            <a:ext cx="2429722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1495"/>
          <p:cNvSpPr/>
          <p:nvPr/>
        </p:nvSpPr>
        <p:spPr>
          <a:xfrm>
            <a:off x="7144153" y="3240634"/>
            <a:ext cx="215540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📶 الواي فاي</a:t>
            </a:r>
            <a:endParaRPr lang="ar-SA" sz="2100" dirty="0"/>
          </a:p>
        </p:txBody>
      </p:sp>
      <p:sp>
        <p:nvSpPr>
          <p:cNvPr id="21" name="anim-g2-1496"/>
          <p:cNvSpPr/>
          <p:nvPr/>
        </p:nvSpPr>
        <p:spPr>
          <a:xfrm>
            <a:off x="822960" y="3240634"/>
            <a:ext cx="6074305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1497"/>
          <p:cNvSpPr/>
          <p:nvPr/>
        </p:nvSpPr>
        <p:spPr>
          <a:xfrm>
            <a:off x="960120" y="3240634"/>
            <a:ext cx="579998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/j?x=80&amp;y=−20&amp;r=0&amp;t=0 كل ٨٠ مللي ثانية</a:t>
            </a:r>
            <a:endParaRPr lang="ar-SA" sz="2100" dirty="0"/>
          </a:p>
        </p:txBody>
      </p:sp>
      <p:sp>
        <p:nvSpPr>
          <p:cNvPr id="23" name="anim-g3-1498"/>
          <p:cNvSpPr/>
          <p:nvPr/>
        </p:nvSpPr>
        <p:spPr>
          <a:xfrm>
            <a:off x="9546444" y="3966667"/>
            <a:ext cx="1822292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1499"/>
          <p:cNvSpPr/>
          <p:nvPr/>
        </p:nvSpPr>
        <p:spPr>
          <a:xfrm>
            <a:off x="9683604" y="3966667"/>
            <a:ext cx="154797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100" dirty="0"/>
          </a:p>
        </p:txBody>
      </p:sp>
      <p:sp>
        <p:nvSpPr>
          <p:cNvPr id="25" name="anim-g3-1500"/>
          <p:cNvSpPr/>
          <p:nvPr/>
        </p:nvSpPr>
        <p:spPr>
          <a:xfrm>
            <a:off x="7006993" y="3966667"/>
            <a:ext cx="2429722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1501"/>
          <p:cNvSpPr/>
          <p:nvPr/>
        </p:nvSpPr>
        <p:spPr>
          <a:xfrm>
            <a:off x="7144153" y="3966667"/>
            <a:ext cx="215540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🧠 ESP32</a:t>
            </a:r>
            <a:endParaRPr lang="ar-SA" sz="2100" dirty="0"/>
          </a:p>
        </p:txBody>
      </p:sp>
      <p:sp>
        <p:nvSpPr>
          <p:cNvPr id="27" name="anim-g3-1502"/>
          <p:cNvSpPr/>
          <p:nvPr/>
        </p:nvSpPr>
        <p:spPr>
          <a:xfrm>
            <a:off x="822960" y="3966667"/>
            <a:ext cx="6074305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1503"/>
          <p:cNvSpPr/>
          <p:nvPr/>
        </p:nvSpPr>
        <p:spPr>
          <a:xfrm>
            <a:off x="960120" y="3966667"/>
            <a:ext cx="579998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vx = 0.8 · vy = −0.2 · w = 0 · turbo = false</a:t>
            </a:r>
            <a:endParaRPr lang="ar-SA" sz="2100" dirty="0"/>
          </a:p>
        </p:txBody>
      </p:sp>
      <p:sp>
        <p:nvSpPr>
          <p:cNvPr id="29" name="anim-g4-1504"/>
          <p:cNvSpPr/>
          <p:nvPr/>
        </p:nvSpPr>
        <p:spPr>
          <a:xfrm>
            <a:off x="9546444" y="4692701"/>
            <a:ext cx="1822292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1505"/>
          <p:cNvSpPr/>
          <p:nvPr/>
        </p:nvSpPr>
        <p:spPr>
          <a:xfrm>
            <a:off x="9683604" y="4692701"/>
            <a:ext cx="154797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100" dirty="0"/>
          </a:p>
        </p:txBody>
      </p:sp>
      <p:sp>
        <p:nvSpPr>
          <p:cNvPr id="31" name="anim-g4-1506"/>
          <p:cNvSpPr/>
          <p:nvPr/>
        </p:nvSpPr>
        <p:spPr>
          <a:xfrm>
            <a:off x="7006993" y="4692701"/>
            <a:ext cx="2429722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1507"/>
          <p:cNvSpPr/>
          <p:nvPr/>
        </p:nvSpPr>
        <p:spPr>
          <a:xfrm>
            <a:off x="7144153" y="4692701"/>
            <a:ext cx="215540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🧮 drive</a:t>
            </a:r>
            <a:endParaRPr lang="ar-SA" sz="2100" dirty="0"/>
          </a:p>
        </p:txBody>
      </p:sp>
      <p:sp>
        <p:nvSpPr>
          <p:cNvPr id="33" name="anim-g4-1508"/>
          <p:cNvSpPr/>
          <p:nvPr/>
        </p:nvSpPr>
        <p:spPr>
          <a:xfrm>
            <a:off x="822960" y="4692701"/>
            <a:ext cx="6074305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1509"/>
          <p:cNvSpPr/>
          <p:nvPr/>
        </p:nvSpPr>
        <p:spPr>
          <a:xfrm>
            <a:off x="960120" y="4692701"/>
            <a:ext cx="579998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المعادلات الثلاث ← القسمة على big</a:t>
            </a:r>
            <a:endParaRPr lang="ar-SA" sz="2100" dirty="0"/>
          </a:p>
        </p:txBody>
      </p:sp>
      <p:sp>
        <p:nvSpPr>
          <p:cNvPr id="35" name="anim-g5-1510"/>
          <p:cNvSpPr/>
          <p:nvPr/>
        </p:nvSpPr>
        <p:spPr>
          <a:xfrm>
            <a:off x="9546444" y="5418734"/>
            <a:ext cx="1822292" cy="616306"/>
          </a:xfrm>
          <a:prstGeom prst="roundRect">
            <a:avLst>
              <a:gd name="adj" fmla="val 1780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6" name="anim-g5-1511"/>
          <p:cNvSpPr/>
          <p:nvPr/>
        </p:nvSpPr>
        <p:spPr>
          <a:xfrm>
            <a:off x="9683604" y="5418734"/>
            <a:ext cx="154797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٥</a:t>
            </a:r>
            <a:endParaRPr lang="ar-SA" sz="2100" dirty="0"/>
          </a:p>
        </p:txBody>
      </p:sp>
      <p:sp>
        <p:nvSpPr>
          <p:cNvPr id="37" name="anim-g5-1512"/>
          <p:cNvSpPr/>
          <p:nvPr/>
        </p:nvSpPr>
        <p:spPr>
          <a:xfrm>
            <a:off x="7006993" y="5418734"/>
            <a:ext cx="2429722" cy="616306"/>
          </a:xfrm>
          <a:prstGeom prst="roundRect">
            <a:avLst>
              <a:gd name="adj" fmla="val 1780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8" name="anim-g5-1513"/>
          <p:cNvSpPr/>
          <p:nvPr/>
        </p:nvSpPr>
        <p:spPr>
          <a:xfrm>
            <a:off x="7144153" y="5418734"/>
            <a:ext cx="2155402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⚙️ المحركات</a:t>
            </a:r>
            <a:endParaRPr lang="ar-SA" sz="2100" dirty="0"/>
          </a:p>
        </p:txBody>
      </p:sp>
      <p:sp>
        <p:nvSpPr>
          <p:cNvPr id="39" name="anim-g5-1514"/>
          <p:cNvSpPr/>
          <p:nvPr/>
        </p:nvSpPr>
        <p:spPr>
          <a:xfrm>
            <a:off x="822960" y="5418734"/>
            <a:ext cx="6074305" cy="616306"/>
          </a:xfrm>
          <a:prstGeom prst="roundRect">
            <a:avLst>
              <a:gd name="adj" fmla="val 1780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0" name="anim-g5-1515"/>
          <p:cNvSpPr/>
          <p:nvPr/>
        </p:nvSpPr>
        <p:spPr>
          <a:xfrm>
            <a:off x="960120" y="5418734"/>
            <a:ext cx="5799985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× ١٨٠ (أو ٢٥٥ بالتيربو) ← ledcWrite</a:t>
            </a:r>
            <a:endParaRPr lang="ar-SA" sz="21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الجوال والكود  ·  ١٦٣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64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516" descr="C:\Users\user\projects\younes-training\esp32-3\.pptx-cache\s164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517" descr="C:\Users\user\projects\younes-training\esp32-3\.pptx-cache\s164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518" descr="C:\Users\user\projects\younes-training\esp32-3\.pptx-cache\s164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519" descr="C:\Users\user\projects\younes-training\esp32-3\.pptx-cache\s164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1520" descr="C:\Users\user\projects\younes-training\esp32-3\.pptx-cache\s164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65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521" descr="C:\Users\user\projects\younes-training\esp32-3\.pptx-cache\s165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522" descr="C:\Users\user\projects\younes-training\esp32-3\.pptx-cache\s165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523" descr="C:\Users\user\projects\younes-training\esp32-3\.pptx-cache\s165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524" descr="C:\Users\user\projects\younes-training\esp32-3\.pptx-cache\s165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anim-g5-1525" descr="C:\Users\user\projects\younes-training\esp32-3\.pptx-cache\s165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0047" y="457200"/>
            <a:ext cx="321868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150047" y="45720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لماذا ١٨٠ لا ٢٥٥؟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التحكم أهم من السرعة</a:t>
            </a:r>
            <a:endParaRPr lang="ar-SA" sz="3800" dirty="0"/>
          </a:p>
        </p:txBody>
      </p:sp>
      <p:sp>
        <p:nvSpPr>
          <p:cNvPr id="5" name="anim-g1-1526"/>
          <p:cNvSpPr/>
          <p:nvPr/>
        </p:nvSpPr>
        <p:spPr>
          <a:xfrm>
            <a:off x="8036357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527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528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</a:t>
            </a:r>
            <a:endParaRPr lang="ar-SA" sz="2200" dirty="0"/>
          </a:p>
        </p:txBody>
      </p:sp>
      <p:sp>
        <p:nvSpPr>
          <p:cNvPr id="8" name="anim-g1-1529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الدقة</a:t>
            </a:r>
            <a:endParaRPr lang="ar-SA" sz="2200" dirty="0"/>
          </a:p>
        </p:txBody>
      </p:sp>
      <p:sp>
        <p:nvSpPr>
          <p:cNvPr id="9" name="anim-g1-1530"/>
          <p:cNvSpPr/>
          <p:nvPr/>
        </p:nvSpPr>
        <p:spPr>
          <a:xfrm>
            <a:off x="8310677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السرعة القصوى تنفلت الكرة من بين العجلتين</a:t>
            </a:r>
            <a:endParaRPr lang="ar-SA" sz="1900" dirty="0"/>
          </a:p>
        </p:txBody>
      </p:sp>
      <p:sp>
        <p:nvSpPr>
          <p:cNvPr id="10" name="anim-g2-1531"/>
          <p:cNvSpPr/>
          <p:nvPr/>
        </p:nvSpPr>
        <p:spPr>
          <a:xfrm>
            <a:off x="4429658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532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533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🔋</a:t>
            </a:r>
            <a:endParaRPr lang="ar-SA" sz="2200" dirty="0"/>
          </a:p>
        </p:txBody>
      </p:sp>
      <p:sp>
        <p:nvSpPr>
          <p:cNvPr id="13" name="anim-g2-1534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البطارية</a:t>
            </a:r>
            <a:endParaRPr lang="ar-SA" sz="2200" dirty="0"/>
          </a:p>
        </p:txBody>
      </p:sp>
      <p:sp>
        <p:nvSpPr>
          <p:cNvPr id="14" name="anim-g2-1535"/>
          <p:cNvSpPr/>
          <p:nvPr/>
        </p:nvSpPr>
        <p:spPr>
          <a:xfrm>
            <a:off x="4703978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ثلاثة محركات بأقصى سرعة = Brownout أسرع</a:t>
            </a:r>
            <a:endParaRPr lang="ar-SA" sz="1900" dirty="0"/>
          </a:p>
        </p:txBody>
      </p:sp>
      <p:sp>
        <p:nvSpPr>
          <p:cNvPr id="15" name="anim-g3-1536"/>
          <p:cNvSpPr/>
          <p:nvPr/>
        </p:nvSpPr>
        <p:spPr>
          <a:xfrm>
            <a:off x="822960" y="2011680"/>
            <a:ext cx="3332378" cy="402336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1537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1538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🚀</a:t>
            </a:r>
            <a:endParaRPr lang="ar-SA" sz="2200" dirty="0"/>
          </a:p>
        </p:txBody>
      </p:sp>
      <p:sp>
        <p:nvSpPr>
          <p:cNvPr id="18" name="anim-g3-1539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التيربو وقت الحاجة</a:t>
            </a:r>
            <a:endParaRPr lang="ar-SA" sz="2200" dirty="0"/>
          </a:p>
        </p:txBody>
      </p:sp>
      <p:sp>
        <p:nvSpPr>
          <p:cNvPr id="19" name="anim-g3-1540"/>
          <p:cNvSpPr/>
          <p:nvPr/>
        </p:nvSpPr>
        <p:spPr>
          <a:xfrm>
            <a:off x="1097280" y="349300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هجمة مرتدة أو سباق نحو الكرة</a:t>
            </a:r>
            <a:endParaRPr lang="ar-SA" sz="1900" dirty="0"/>
          </a:p>
        </p:txBody>
      </p:sp>
      <p:sp>
        <p:nvSpPr>
          <p:cNvPr id="20" name="Text 18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الجوال والكود  ·  ١٦٦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68-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-g1-1541" descr="C:\Users\user\projects\younes-training\esp32-3\.pptx-cache\s168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anim-g2-1542" descr="C:\Users\user\projects\younes-training\esp32-3\.pptx-cache\s168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anim-g3-1543" descr="C:\Users\user\projects\younes-training\esp32-3\.pptx-cache\s168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anim-g4-1544" descr="C:\Users\user\projects\younes-training\esp32-3\.pptx-cache\s168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الروبوت لا يتحرك أبدًا رغم أن العصا ترسل الأرقام… أول ما تفحص؟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القسمة على 100 بدل 100.0</a:t>
            </a:r>
            <a:endParaRPr lang="ar-SA" sz="2200" dirty="0"/>
          </a:p>
        </p:txBody>
      </p:sp>
      <p:sp>
        <p:nvSpPr>
          <p:cNvPr id="9" name="anim-g1-1545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0" name="anim-g1-1546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11" name="anim-g1-1547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12" name="anim-g1-1548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القسمة على 100 بدل 100.0</a:t>
            </a:r>
            <a:endParaRPr lang="ar-SA" sz="2200" dirty="0"/>
          </a:p>
        </p:txBody>
      </p:sp>
      <p:sp>
        <p:nvSpPr>
          <p:cNvPr id="13" name="anim-g1-1549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كل الأرقام تصبح صفرًا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لون الروبوت</a:t>
            </a:r>
            <a:endParaRPr lang="ar-SA" sz="2200" dirty="0"/>
          </a:p>
        </p:txBody>
      </p:sp>
      <p:sp>
        <p:nvSpPr>
          <p:cNvPr id="18" name="anim-g1-1550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9" name="anim-g1-1551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0" name="anim-g1-1552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21" name="anim-g1-1553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لون الروبوت</a:t>
            </a:r>
            <a:endParaRPr lang="ar-SA" sz="2200" dirty="0"/>
          </a:p>
        </p:txBody>
      </p:sp>
      <p:sp>
        <p:nvSpPr>
          <p:cNvPr id="22" name="anim-g1-1554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—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زر التيربو</a:t>
            </a:r>
            <a:endParaRPr lang="ar-SA" sz="2200" dirty="0"/>
          </a:p>
        </p:txBody>
      </p:sp>
      <p:sp>
        <p:nvSpPr>
          <p:cNvPr id="27" name="anim-g1-1555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1556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9" name="anim-g1-1557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30" name="anim-g1-1558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زر التيربو</a:t>
            </a:r>
            <a:endParaRPr lang="ar-SA" sz="2200" dirty="0"/>
          </a:p>
        </p:txBody>
      </p:sp>
      <p:sp>
        <p:nvSpPr>
          <p:cNvPr id="31" name="anim-g1-1559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يغيّر السرعة فقط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المرمى</a:t>
            </a:r>
            <a:endParaRPr lang="ar-SA" sz="2200" dirty="0"/>
          </a:p>
        </p:txBody>
      </p:sp>
      <p:sp>
        <p:nvSpPr>
          <p:cNvPr id="36" name="anim-g1-156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156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156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1563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المرمى</a:t>
            </a:r>
            <a:endParaRPr lang="ar-SA" sz="2200" dirty="0"/>
          </a:p>
        </p:txBody>
      </p:sp>
      <p:sp>
        <p:nvSpPr>
          <p:cNvPr id="40" name="anim-g1-1564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—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الجوال والكود  ·  ١٦٩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7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عصا ← ثلاثة أرقام ← ثلاث معادلات ← ثلاثة محركات…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في أقل من عُشر ثانية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الجوال والكود  ·  ١٧٢</a:t>
            </a:r>
            <a:endParaRPr lang="ar-SA" sz="12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١٣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١٣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⚽ المباراة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ملعب… كرة… فريقان… وصافرة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المباراة  ·  ١٧٣</a:t>
            </a:r>
            <a:endParaRPr lang="ar-SA" sz="12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45720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6248095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بنهاية هذا المحور تستطيع أن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أهداف المحور</a:t>
            </a:r>
            <a:endParaRPr lang="ar-SA" sz="3800" dirty="0"/>
          </a:p>
        </p:txBody>
      </p:sp>
      <p:sp>
        <p:nvSpPr>
          <p:cNvPr id="5" name="anim-g1-1565"/>
          <p:cNvSpPr/>
          <p:nvPr/>
        </p:nvSpPr>
        <p:spPr>
          <a:xfrm>
            <a:off x="822960" y="1920240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1566"/>
          <p:cNvSpPr/>
          <p:nvPr/>
        </p:nvSpPr>
        <p:spPr>
          <a:xfrm>
            <a:off x="10573207" y="2109978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1567"/>
          <p:cNvSpPr/>
          <p:nvPr/>
        </p:nvSpPr>
        <p:spPr>
          <a:xfrm>
            <a:off x="10573207" y="21099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1568"/>
          <p:cNvSpPr/>
          <p:nvPr/>
        </p:nvSpPr>
        <p:spPr>
          <a:xfrm>
            <a:off x="1097280" y="1920240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تجهّز ملعبًا ومرميين بأدوات بسيطة</a:t>
            </a:r>
            <a:endParaRPr lang="ar-SA" sz="2400" dirty="0"/>
          </a:p>
        </p:txBody>
      </p:sp>
      <p:sp>
        <p:nvSpPr>
          <p:cNvPr id="9" name="anim-g2-1569"/>
          <p:cNvSpPr/>
          <p:nvPr/>
        </p:nvSpPr>
        <p:spPr>
          <a:xfrm>
            <a:off x="822960" y="2976372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1570"/>
          <p:cNvSpPr/>
          <p:nvPr/>
        </p:nvSpPr>
        <p:spPr>
          <a:xfrm>
            <a:off x="10573207" y="3166110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1571"/>
          <p:cNvSpPr/>
          <p:nvPr/>
        </p:nvSpPr>
        <p:spPr>
          <a:xfrm>
            <a:off x="10573207" y="316611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1572"/>
          <p:cNvSpPr/>
          <p:nvPr/>
        </p:nvSpPr>
        <p:spPr>
          <a:xfrm>
            <a:off x="1097280" y="2976372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تدير مباراة بقوانين واضحة وعادلة</a:t>
            </a:r>
            <a:endParaRPr lang="ar-SA" sz="2400" dirty="0"/>
          </a:p>
        </p:txBody>
      </p:sp>
      <p:sp>
        <p:nvSpPr>
          <p:cNvPr id="13" name="anim-g3-1573"/>
          <p:cNvSpPr/>
          <p:nvPr/>
        </p:nvSpPr>
        <p:spPr>
          <a:xfrm>
            <a:off x="822960" y="4032504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1574"/>
          <p:cNvSpPr/>
          <p:nvPr/>
        </p:nvSpPr>
        <p:spPr>
          <a:xfrm>
            <a:off x="10573207" y="4222242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1575"/>
          <p:cNvSpPr/>
          <p:nvPr/>
        </p:nvSpPr>
        <p:spPr>
          <a:xfrm>
            <a:off x="10573207" y="422224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1576"/>
          <p:cNvSpPr/>
          <p:nvPr/>
        </p:nvSpPr>
        <p:spPr>
          <a:xfrm>
            <a:off x="1097280" y="4032504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تعلّم الفرق خطط الهجوم والدفاع</a:t>
            </a:r>
            <a:endParaRPr lang="ar-SA" sz="2400" dirty="0"/>
          </a:p>
        </p:txBody>
      </p:sp>
      <p:sp>
        <p:nvSpPr>
          <p:cNvPr id="17" name="anim-g4-1577"/>
          <p:cNvSpPr/>
          <p:nvPr/>
        </p:nvSpPr>
        <p:spPr>
          <a:xfrm>
            <a:off x="822960" y="5088636"/>
            <a:ext cx="10545775" cy="946404"/>
          </a:xfrm>
          <a:prstGeom prst="roundRect">
            <a:avLst>
              <a:gd name="adj" fmla="val 15459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1578"/>
          <p:cNvSpPr/>
          <p:nvPr/>
        </p:nvSpPr>
        <p:spPr>
          <a:xfrm>
            <a:off x="10573207" y="5278374"/>
            <a:ext cx="566928" cy="56692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1579"/>
          <p:cNvSpPr/>
          <p:nvPr/>
        </p:nvSpPr>
        <p:spPr>
          <a:xfrm>
            <a:off x="10573207" y="527837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1580"/>
          <p:cNvSpPr/>
          <p:nvPr/>
        </p:nvSpPr>
        <p:spPr>
          <a:xfrm>
            <a:off x="1097280" y="5088636"/>
            <a:ext cx="9247327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تعرف مسابقة RoboCup Junior Soccer</a:t>
            </a:r>
            <a:endParaRPr lang="ar-SA" sz="2400" dirty="0"/>
          </a:p>
        </p:txBody>
      </p:sp>
      <p:sp>
        <p:nvSpPr>
          <p:cNvPr id="21" name="Text 1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المباراة  ·  ١٧٤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96351" y="457200"/>
            <a:ext cx="3072384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296351" y="45720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قوانين ملعب جذور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مباراة الروبوتات: بسيطة وعادلة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8387007" y="1874520"/>
            <a:ext cx="2981728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8387007" y="1874520"/>
            <a:ext cx="2981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البند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7454319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7454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القاعدة</a:t>
            </a:r>
            <a:endParaRPr lang="ar-SA" sz="1900" dirty="0"/>
          </a:p>
        </p:txBody>
      </p:sp>
      <p:sp>
        <p:nvSpPr>
          <p:cNvPr id="9" name="anim-g1-1581"/>
          <p:cNvSpPr/>
          <p:nvPr/>
        </p:nvSpPr>
        <p:spPr>
          <a:xfrm>
            <a:off x="8387007" y="2514600"/>
            <a:ext cx="2981728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0" name="anim-g1-1582"/>
          <p:cNvSpPr/>
          <p:nvPr/>
        </p:nvSpPr>
        <p:spPr>
          <a:xfrm>
            <a:off x="8524167" y="2514600"/>
            <a:ext cx="27074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🏟️ الملعب</a:t>
            </a:r>
            <a:endParaRPr lang="ar-SA" sz="2100" dirty="0"/>
          </a:p>
        </p:txBody>
      </p:sp>
      <p:sp>
        <p:nvSpPr>
          <p:cNvPr id="11" name="anim-g1-1583"/>
          <p:cNvSpPr/>
          <p:nvPr/>
        </p:nvSpPr>
        <p:spPr>
          <a:xfrm>
            <a:off x="822960" y="2514600"/>
            <a:ext cx="7454319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2" name="anim-g1-1584"/>
          <p:cNvSpPr/>
          <p:nvPr/>
        </p:nvSpPr>
        <p:spPr>
          <a:xfrm>
            <a:off x="960120" y="2514600"/>
            <a:ext cx="717999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١٨٠ × ١٢٠ سم بحواف ١٠ سم، والمرمى ٤٠ سم</a:t>
            </a:r>
            <a:endParaRPr lang="ar-SA" sz="2100" dirty="0"/>
          </a:p>
        </p:txBody>
      </p:sp>
      <p:sp>
        <p:nvSpPr>
          <p:cNvPr id="13" name="anim-g2-1585"/>
          <p:cNvSpPr/>
          <p:nvPr/>
        </p:nvSpPr>
        <p:spPr>
          <a:xfrm>
            <a:off x="8387007" y="3119628"/>
            <a:ext cx="2981728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4" name="anim-g2-1586"/>
          <p:cNvSpPr/>
          <p:nvPr/>
        </p:nvSpPr>
        <p:spPr>
          <a:xfrm>
            <a:off x="8524167" y="3119628"/>
            <a:ext cx="27074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⚽ الكرة</a:t>
            </a:r>
            <a:endParaRPr lang="ar-SA" sz="2100" dirty="0"/>
          </a:p>
        </p:txBody>
      </p:sp>
      <p:sp>
        <p:nvSpPr>
          <p:cNvPr id="15" name="anim-g2-1587"/>
          <p:cNvSpPr/>
          <p:nvPr/>
        </p:nvSpPr>
        <p:spPr>
          <a:xfrm>
            <a:off x="822960" y="3119628"/>
            <a:ext cx="7454319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2-1588"/>
          <p:cNvSpPr/>
          <p:nvPr/>
        </p:nvSpPr>
        <p:spPr>
          <a:xfrm>
            <a:off x="960120" y="3119628"/>
            <a:ext cx="717999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كرة تنس أو كرة بلاستيك خفيفة بحجمها</a:t>
            </a:r>
            <a:endParaRPr lang="ar-SA" sz="2100" dirty="0"/>
          </a:p>
        </p:txBody>
      </p:sp>
      <p:sp>
        <p:nvSpPr>
          <p:cNvPr id="17" name="anim-g3-1589"/>
          <p:cNvSpPr/>
          <p:nvPr/>
        </p:nvSpPr>
        <p:spPr>
          <a:xfrm>
            <a:off x="8387007" y="3724656"/>
            <a:ext cx="2981728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3-1590"/>
          <p:cNvSpPr/>
          <p:nvPr/>
        </p:nvSpPr>
        <p:spPr>
          <a:xfrm>
            <a:off x="8524167" y="3724656"/>
            <a:ext cx="27074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⏱️ الزمن</a:t>
            </a:r>
            <a:endParaRPr lang="ar-SA" sz="2100" dirty="0"/>
          </a:p>
        </p:txBody>
      </p:sp>
      <p:sp>
        <p:nvSpPr>
          <p:cNvPr id="19" name="anim-g3-1591"/>
          <p:cNvSpPr/>
          <p:nvPr/>
        </p:nvSpPr>
        <p:spPr>
          <a:xfrm>
            <a:off x="822960" y="3724656"/>
            <a:ext cx="7454319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0" name="anim-g3-1592"/>
          <p:cNvSpPr/>
          <p:nvPr/>
        </p:nvSpPr>
        <p:spPr>
          <a:xfrm>
            <a:off x="960120" y="3724656"/>
            <a:ext cx="717999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شوطان × ٣ دقائق، وتبديل الجهات بين الشوطين</a:t>
            </a:r>
            <a:endParaRPr lang="ar-SA" sz="2100" dirty="0"/>
          </a:p>
        </p:txBody>
      </p:sp>
      <p:sp>
        <p:nvSpPr>
          <p:cNvPr id="21" name="anim-g4-1593"/>
          <p:cNvSpPr/>
          <p:nvPr/>
        </p:nvSpPr>
        <p:spPr>
          <a:xfrm>
            <a:off x="8387007" y="4329684"/>
            <a:ext cx="2981728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2" name="anim-g4-1594"/>
          <p:cNvSpPr/>
          <p:nvPr/>
        </p:nvSpPr>
        <p:spPr>
          <a:xfrm>
            <a:off x="8524167" y="4329684"/>
            <a:ext cx="27074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🤖 الفريق</a:t>
            </a:r>
            <a:endParaRPr lang="ar-SA" sz="2100" dirty="0"/>
          </a:p>
        </p:txBody>
      </p:sp>
      <p:sp>
        <p:nvSpPr>
          <p:cNvPr id="23" name="anim-g4-1595"/>
          <p:cNvSpPr/>
          <p:nvPr/>
        </p:nvSpPr>
        <p:spPr>
          <a:xfrm>
            <a:off x="822960" y="4329684"/>
            <a:ext cx="7454319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4" name="anim-g4-1596"/>
          <p:cNvSpPr/>
          <p:nvPr/>
        </p:nvSpPr>
        <p:spPr>
          <a:xfrm>
            <a:off x="960120" y="4329684"/>
            <a:ext cx="717999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روبوت واحد ولاعب يقود + مساعد صيانة</a:t>
            </a:r>
            <a:endParaRPr lang="ar-SA" sz="2100" dirty="0"/>
          </a:p>
        </p:txBody>
      </p:sp>
      <p:sp>
        <p:nvSpPr>
          <p:cNvPr id="25" name="anim-g5-1597"/>
          <p:cNvSpPr/>
          <p:nvPr/>
        </p:nvSpPr>
        <p:spPr>
          <a:xfrm>
            <a:off x="8387007" y="4934712"/>
            <a:ext cx="2981728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6" name="anim-g5-1598"/>
          <p:cNvSpPr/>
          <p:nvPr/>
        </p:nvSpPr>
        <p:spPr>
          <a:xfrm>
            <a:off x="8524167" y="4934712"/>
            <a:ext cx="27074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🚫 ممنوع</a:t>
            </a:r>
            <a:endParaRPr lang="ar-SA" sz="2100" dirty="0"/>
          </a:p>
        </p:txBody>
      </p:sp>
      <p:sp>
        <p:nvSpPr>
          <p:cNvPr id="27" name="anim-g5-1599"/>
          <p:cNvSpPr/>
          <p:nvPr/>
        </p:nvSpPr>
        <p:spPr>
          <a:xfrm>
            <a:off x="822960" y="4934712"/>
            <a:ext cx="7454319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5-1600"/>
          <p:cNvSpPr/>
          <p:nvPr/>
        </p:nvSpPr>
        <p:spPr>
          <a:xfrm>
            <a:off x="960120" y="4934712"/>
            <a:ext cx="717999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رفع الكرة أو حبسها أكثر من ٣ ثوانٍ، ودفع الخصم عمدًا</a:t>
            </a:r>
            <a:endParaRPr lang="ar-SA" sz="2100" dirty="0"/>
          </a:p>
        </p:txBody>
      </p:sp>
      <p:sp>
        <p:nvSpPr>
          <p:cNvPr id="29" name="anim-g6-1601"/>
          <p:cNvSpPr/>
          <p:nvPr/>
        </p:nvSpPr>
        <p:spPr>
          <a:xfrm>
            <a:off x="8387007" y="5539740"/>
            <a:ext cx="2981728" cy="495300"/>
          </a:xfrm>
          <a:prstGeom prst="roundRect">
            <a:avLst>
              <a:gd name="adj" fmla="val 221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6-1602"/>
          <p:cNvSpPr/>
          <p:nvPr/>
        </p:nvSpPr>
        <p:spPr>
          <a:xfrm>
            <a:off x="8524167" y="5539740"/>
            <a:ext cx="27074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🔄 بعد الهدف</a:t>
            </a:r>
            <a:endParaRPr lang="ar-SA" sz="2100" dirty="0"/>
          </a:p>
        </p:txBody>
      </p:sp>
      <p:sp>
        <p:nvSpPr>
          <p:cNvPr id="31" name="anim-g6-1603"/>
          <p:cNvSpPr/>
          <p:nvPr/>
        </p:nvSpPr>
        <p:spPr>
          <a:xfrm>
            <a:off x="822960" y="5539740"/>
            <a:ext cx="7454319" cy="495300"/>
          </a:xfrm>
          <a:prstGeom prst="roundRect">
            <a:avLst>
              <a:gd name="adj" fmla="val 221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2" name="anim-g6-1604"/>
          <p:cNvSpPr/>
          <p:nvPr/>
        </p:nvSpPr>
        <p:spPr>
          <a:xfrm>
            <a:off x="960120" y="5539740"/>
            <a:ext cx="717999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الكرة للمنتصف والروبوتان في نصفيهما</a:t>
            </a:r>
            <a:endParaRPr lang="ar-SA" sz="2100" dirty="0"/>
          </a:p>
        </p:txBody>
      </p:sp>
      <p:sp>
        <p:nvSpPr>
          <p:cNvPr id="33" name="Text 31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المباراة  ·  ١٧٦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4572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905695" y="457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الخطط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أربع حركات يتعلمها كل لاعب</a:t>
            </a:r>
            <a:endParaRPr lang="ar-SA" sz="3800" dirty="0"/>
          </a:p>
        </p:txBody>
      </p:sp>
      <p:sp>
        <p:nvSpPr>
          <p:cNvPr id="5" name="anim-g1-1605"/>
          <p:cNvSpPr/>
          <p:nvPr/>
        </p:nvSpPr>
        <p:spPr>
          <a:xfrm>
            <a:off x="6233008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606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607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🔄</a:t>
            </a:r>
            <a:endParaRPr lang="ar-SA" sz="2200" dirty="0"/>
          </a:p>
        </p:txBody>
      </p:sp>
      <p:sp>
        <p:nvSpPr>
          <p:cNvPr id="8" name="anim-g1-1608"/>
          <p:cNvSpPr/>
          <p:nvPr/>
        </p:nvSpPr>
        <p:spPr>
          <a:xfrm>
            <a:off x="6507328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الالتفاف خلف الكرة</a:t>
            </a:r>
            <a:endParaRPr lang="ar-SA" sz="2200" dirty="0"/>
          </a:p>
        </p:txBody>
      </p:sp>
      <p:sp>
        <p:nvSpPr>
          <p:cNvPr id="9" name="anim-g1-1609"/>
          <p:cNvSpPr/>
          <p:nvPr/>
        </p:nvSpPr>
        <p:spPr>
          <a:xfrm>
            <a:off x="6507328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تدفعها من الجانب: تحرك جانبيًا حتى تصبح الكرة بينك وبين مرمى الخصم، ثم تقدّم</a:t>
            </a:r>
            <a:endParaRPr lang="ar-SA" sz="1900" dirty="0"/>
          </a:p>
        </p:txBody>
      </p:sp>
      <p:sp>
        <p:nvSpPr>
          <p:cNvPr id="10" name="anim-g2-1610"/>
          <p:cNvSpPr/>
          <p:nvPr/>
        </p:nvSpPr>
        <p:spPr>
          <a:xfrm>
            <a:off x="822960" y="201168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611"/>
          <p:cNvSpPr/>
          <p:nvPr/>
        </p:nvSpPr>
        <p:spPr>
          <a:xfrm>
            <a:off x="511744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612"/>
          <p:cNvSpPr/>
          <p:nvPr/>
        </p:nvSpPr>
        <p:spPr>
          <a:xfrm>
            <a:off x="5117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🥅</a:t>
            </a:r>
            <a:endParaRPr lang="ar-SA" sz="2200" dirty="0"/>
          </a:p>
        </p:txBody>
      </p:sp>
      <p:sp>
        <p:nvSpPr>
          <p:cNvPr id="13" name="anim-g2-1613"/>
          <p:cNvSpPr/>
          <p:nvPr/>
        </p:nvSpPr>
        <p:spPr>
          <a:xfrm>
            <a:off x="1097280" y="294436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المدافع</a:t>
            </a:r>
            <a:endParaRPr lang="ar-SA" sz="2200" dirty="0"/>
          </a:p>
        </p:txBody>
      </p:sp>
      <p:sp>
        <p:nvSpPr>
          <p:cNvPr id="14" name="anim-g2-1614"/>
          <p:cNvSpPr/>
          <p:nvPr/>
        </p:nvSpPr>
        <p:spPr>
          <a:xfrm>
            <a:off x="1097280" y="349300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تحرك جانبيًا أمام مرماك ووجهك للكرة: هنا تتفوق القاعدة الثلاثية</a:t>
            </a:r>
            <a:endParaRPr lang="ar-SA" sz="1900" dirty="0"/>
          </a:p>
        </p:txBody>
      </p:sp>
      <p:sp>
        <p:nvSpPr>
          <p:cNvPr id="15" name="anim-g3-1615"/>
          <p:cNvSpPr/>
          <p:nvPr/>
        </p:nvSpPr>
        <p:spPr>
          <a:xfrm>
            <a:off x="6233008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1616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1617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🌀</a:t>
            </a:r>
            <a:endParaRPr lang="ar-SA" sz="2200" dirty="0"/>
          </a:p>
        </p:txBody>
      </p:sp>
      <p:sp>
        <p:nvSpPr>
          <p:cNvPr id="18" name="anim-g3-1618"/>
          <p:cNvSpPr/>
          <p:nvPr/>
        </p:nvSpPr>
        <p:spPr>
          <a:xfrm>
            <a:off x="6507328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المراوغة</a:t>
            </a:r>
            <a:endParaRPr lang="ar-SA" sz="2200" dirty="0"/>
          </a:p>
        </p:txBody>
      </p:sp>
      <p:sp>
        <p:nvSpPr>
          <p:cNvPr id="19" name="anim-g3-1619"/>
          <p:cNvSpPr/>
          <p:nvPr/>
        </p:nvSpPr>
        <p:spPr>
          <a:xfrm>
            <a:off x="6507328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تقدّم مع دوران بطيء: الكرة تبقى في التجويف الأمامي</a:t>
            </a:r>
            <a:endParaRPr lang="ar-SA" sz="1900" dirty="0"/>
          </a:p>
        </p:txBody>
      </p:sp>
      <p:sp>
        <p:nvSpPr>
          <p:cNvPr id="20" name="anim-g4-1620"/>
          <p:cNvSpPr/>
          <p:nvPr/>
        </p:nvSpPr>
        <p:spPr>
          <a:xfrm>
            <a:off x="822960" y="4137660"/>
            <a:ext cx="513572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1621"/>
          <p:cNvSpPr/>
          <p:nvPr/>
        </p:nvSpPr>
        <p:spPr>
          <a:xfrm>
            <a:off x="511744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1622"/>
          <p:cNvSpPr/>
          <p:nvPr/>
        </p:nvSpPr>
        <p:spPr>
          <a:xfrm>
            <a:off x="511744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🚀</a:t>
            </a:r>
            <a:endParaRPr lang="ar-SA" sz="2200" dirty="0"/>
          </a:p>
        </p:txBody>
      </p:sp>
      <p:sp>
        <p:nvSpPr>
          <p:cNvPr id="23" name="anim-g4-1623"/>
          <p:cNvSpPr/>
          <p:nvPr/>
        </p:nvSpPr>
        <p:spPr>
          <a:xfrm>
            <a:off x="1097280" y="5070348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الهجمة</a:t>
            </a:r>
            <a:endParaRPr lang="ar-SA" sz="2200" dirty="0"/>
          </a:p>
        </p:txBody>
      </p:sp>
      <p:sp>
        <p:nvSpPr>
          <p:cNvPr id="24" name="anim-g4-1624"/>
          <p:cNvSpPr/>
          <p:nvPr/>
        </p:nvSpPr>
        <p:spPr>
          <a:xfrm>
            <a:off x="1097280" y="5618988"/>
            <a:ext cx="458708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التيربو في آخر مترين فقط: قبلها تنفلت الكرة</a:t>
            </a:r>
            <a:endParaRPr lang="ar-SA" sz="19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المباراة  ·  ١٧٧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13087" y="457200"/>
            <a:ext cx="175564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613087" y="4572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عالميًا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RoboCup Junior Soccer</a:t>
            </a:r>
            <a:endParaRPr lang="ar-SA" sz="3800" dirty="0"/>
          </a:p>
        </p:txBody>
      </p:sp>
      <p:sp>
        <p:nvSpPr>
          <p:cNvPr id="5" name="anim-g1-1625"/>
          <p:cNvSpPr/>
          <p:nvPr/>
        </p:nvSpPr>
        <p:spPr>
          <a:xfrm>
            <a:off x="8036357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626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627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🌍</a:t>
            </a:r>
            <a:endParaRPr lang="ar-SA" sz="2200" dirty="0"/>
          </a:p>
        </p:txBody>
      </p:sp>
      <p:sp>
        <p:nvSpPr>
          <p:cNvPr id="8" name="anim-g1-1628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المسابقة</a:t>
            </a:r>
            <a:endParaRPr lang="ar-SA" sz="2200" dirty="0"/>
          </a:p>
        </p:txBody>
      </p:sp>
      <p:sp>
        <p:nvSpPr>
          <p:cNvPr id="9" name="anim-g1-1629"/>
          <p:cNvSpPr/>
          <p:nvPr/>
        </p:nvSpPr>
        <p:spPr>
          <a:xfrm>
            <a:off x="8310677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دوري عالمي للطلاب حتى ١٩ سنة منذ ١٩٩٨</a:t>
            </a:r>
            <a:endParaRPr lang="ar-SA" sz="1900" dirty="0"/>
          </a:p>
        </p:txBody>
      </p:sp>
      <p:sp>
        <p:nvSpPr>
          <p:cNvPr id="10" name="anim-g2-1630"/>
          <p:cNvSpPr/>
          <p:nvPr/>
        </p:nvSpPr>
        <p:spPr>
          <a:xfrm>
            <a:off x="4429658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631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632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</a:t>
            </a:r>
            <a:endParaRPr lang="ar-SA" sz="2200" dirty="0"/>
          </a:p>
        </p:txBody>
      </p:sp>
      <p:sp>
        <p:nvSpPr>
          <p:cNvPr id="13" name="anim-g2-1633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الفرق</a:t>
            </a:r>
            <a:endParaRPr lang="ar-SA" sz="2200" dirty="0"/>
          </a:p>
        </p:txBody>
      </p:sp>
      <p:sp>
        <p:nvSpPr>
          <p:cNvPr id="14" name="anim-g2-1634"/>
          <p:cNvSpPr/>
          <p:nvPr/>
        </p:nvSpPr>
        <p:spPr>
          <a:xfrm>
            <a:off x="4703978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روبوتان ذاتيان تمامًا لكل فريق</a:t>
            </a:r>
            <a:endParaRPr lang="ar-SA" sz="1900" dirty="0"/>
          </a:p>
        </p:txBody>
      </p:sp>
      <p:sp>
        <p:nvSpPr>
          <p:cNvPr id="15" name="anim-g3-1635"/>
          <p:cNvSpPr/>
          <p:nvPr/>
        </p:nvSpPr>
        <p:spPr>
          <a:xfrm>
            <a:off x="822960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1636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1637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🔴</a:t>
            </a:r>
            <a:endParaRPr lang="ar-SA" sz="2200" dirty="0"/>
          </a:p>
        </p:txBody>
      </p:sp>
      <p:sp>
        <p:nvSpPr>
          <p:cNvPr id="18" name="anim-g3-1638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الكرة</a:t>
            </a:r>
            <a:endParaRPr lang="ar-SA" sz="2200" dirty="0"/>
          </a:p>
        </p:txBody>
      </p:sp>
      <p:sp>
        <p:nvSpPr>
          <p:cNvPr id="19" name="anim-g3-1639"/>
          <p:cNvSpPr/>
          <p:nvPr/>
        </p:nvSpPr>
        <p:spPr>
          <a:xfrm>
            <a:off x="1097280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تصدر أشعة تحت حمراء يتبعها الروبوت</a:t>
            </a:r>
            <a:endParaRPr lang="ar-SA" sz="1900" dirty="0"/>
          </a:p>
        </p:txBody>
      </p:sp>
      <p:sp>
        <p:nvSpPr>
          <p:cNvPr id="20" name="anim-g4-1640"/>
          <p:cNvSpPr/>
          <p:nvPr/>
        </p:nvSpPr>
        <p:spPr>
          <a:xfrm>
            <a:off x="8036357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1641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1642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🧭</a:t>
            </a:r>
            <a:endParaRPr lang="ar-SA" sz="2200" dirty="0"/>
          </a:p>
        </p:txBody>
      </p:sp>
      <p:sp>
        <p:nvSpPr>
          <p:cNvPr id="23" name="anim-g4-1643"/>
          <p:cNvSpPr/>
          <p:nvPr/>
        </p:nvSpPr>
        <p:spPr>
          <a:xfrm>
            <a:off x="8310677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البوصلة</a:t>
            </a:r>
            <a:endParaRPr lang="ar-SA" sz="2200" dirty="0"/>
          </a:p>
        </p:txBody>
      </p:sp>
      <p:sp>
        <p:nvSpPr>
          <p:cNvPr id="24" name="anim-g4-1644"/>
          <p:cNvSpPr/>
          <p:nvPr/>
        </p:nvSpPr>
        <p:spPr>
          <a:xfrm>
            <a:off x="8310677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ليعرف الروبوت أين مرمى الخصم</a:t>
            </a:r>
            <a:endParaRPr lang="ar-SA" sz="1900" dirty="0"/>
          </a:p>
        </p:txBody>
      </p:sp>
      <p:sp>
        <p:nvSpPr>
          <p:cNvPr id="25" name="anim-g5-1645"/>
          <p:cNvSpPr/>
          <p:nvPr/>
        </p:nvSpPr>
        <p:spPr>
          <a:xfrm>
            <a:off x="4429658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6" name="anim-g5-1646"/>
          <p:cNvSpPr/>
          <p:nvPr/>
        </p:nvSpPr>
        <p:spPr>
          <a:xfrm>
            <a:off x="6920789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7" name="anim-g5-1647"/>
          <p:cNvSpPr/>
          <p:nvPr/>
        </p:nvSpPr>
        <p:spPr>
          <a:xfrm>
            <a:off x="6920789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⚙️</a:t>
            </a:r>
            <a:endParaRPr lang="ar-SA" sz="2200" dirty="0"/>
          </a:p>
        </p:txBody>
      </p:sp>
      <p:sp>
        <p:nvSpPr>
          <p:cNvPr id="28" name="anim-g5-1648"/>
          <p:cNvSpPr/>
          <p:nvPr/>
        </p:nvSpPr>
        <p:spPr>
          <a:xfrm>
            <a:off x="4703978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القاعدة</a:t>
            </a:r>
            <a:endParaRPr lang="ar-SA" sz="2200" dirty="0"/>
          </a:p>
        </p:txBody>
      </p:sp>
      <p:sp>
        <p:nvSpPr>
          <p:cNvPr id="29" name="anim-g5-1649"/>
          <p:cNvSpPr/>
          <p:nvPr/>
        </p:nvSpPr>
        <p:spPr>
          <a:xfrm>
            <a:off x="4703978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غالبًا ٣ أو ٤ عجلات أومني… مثل روبوتنا!</a:t>
            </a:r>
            <a:endParaRPr lang="ar-SA" sz="1900" dirty="0"/>
          </a:p>
        </p:txBody>
      </p:sp>
      <p:sp>
        <p:nvSpPr>
          <p:cNvPr id="30" name="anim-g6-1650"/>
          <p:cNvSpPr/>
          <p:nvPr/>
        </p:nvSpPr>
        <p:spPr>
          <a:xfrm>
            <a:off x="822960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31" name="anim-g6-1651"/>
          <p:cNvSpPr/>
          <p:nvPr/>
        </p:nvSpPr>
        <p:spPr>
          <a:xfrm>
            <a:off x="331409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32" name="anim-g6-1652"/>
          <p:cNvSpPr/>
          <p:nvPr/>
        </p:nvSpPr>
        <p:spPr>
          <a:xfrm>
            <a:off x="331409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</a:t>
            </a:r>
            <a:endParaRPr lang="ar-SA" sz="2200" dirty="0"/>
          </a:p>
        </p:txBody>
      </p:sp>
      <p:sp>
        <p:nvSpPr>
          <p:cNvPr id="33" name="anim-g6-1653"/>
          <p:cNvSpPr/>
          <p:nvPr/>
        </p:nvSpPr>
        <p:spPr>
          <a:xfrm>
            <a:off x="1097280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الخطوة التالية</a:t>
            </a:r>
            <a:endParaRPr lang="ar-SA" sz="2200" dirty="0"/>
          </a:p>
        </p:txBody>
      </p:sp>
      <p:sp>
        <p:nvSpPr>
          <p:cNvPr id="34" name="anim-g6-1654"/>
          <p:cNvSpPr/>
          <p:nvPr/>
        </p:nvSpPr>
        <p:spPr>
          <a:xfrm>
            <a:off x="1097280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حساسات IR حول الروبوت + بوصلة = لاعب ذاتي</a:t>
            </a:r>
            <a:endParaRPr lang="ar-SA" sz="1900" dirty="0"/>
          </a:p>
        </p:txBody>
      </p:sp>
      <p:sp>
        <p:nvSpPr>
          <p:cNvPr id="35" name="Text 3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المباراة  ·  ١٧٨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دفتر الحَكَم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بطاقة المباراة</a:t>
            </a:r>
            <a:endParaRPr lang="ar-SA" sz="3800" dirty="0"/>
          </a:p>
        </p:txBody>
      </p:sp>
      <p:sp>
        <p:nvSpPr>
          <p:cNvPr id="5" name="Shape 3"/>
          <p:cNvSpPr/>
          <p:nvPr/>
        </p:nvSpPr>
        <p:spPr>
          <a:xfrm>
            <a:off x="7496366" y="1874520"/>
            <a:ext cx="3872370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7496366" y="1874520"/>
            <a:ext cx="38723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4159663" y="1874520"/>
            <a:ext cx="3226975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4159663" y="1874520"/>
            <a:ext cx="3226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🔵 الأزرق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3226975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3226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🔴 الأحمر</a:t>
            </a:r>
            <a:endParaRPr lang="ar-SA" sz="1900" dirty="0"/>
          </a:p>
        </p:txBody>
      </p:sp>
      <p:sp>
        <p:nvSpPr>
          <p:cNvPr id="11" name="anim-g1-1655"/>
          <p:cNvSpPr/>
          <p:nvPr/>
        </p:nvSpPr>
        <p:spPr>
          <a:xfrm>
            <a:off x="7496366" y="2514600"/>
            <a:ext cx="3872370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2" name="anim-g1-1656"/>
          <p:cNvSpPr/>
          <p:nvPr/>
        </p:nvSpPr>
        <p:spPr>
          <a:xfrm>
            <a:off x="7633526" y="2514600"/>
            <a:ext cx="359805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⚽ الأهداف</a:t>
            </a:r>
            <a:endParaRPr lang="ar-SA" sz="2100" dirty="0"/>
          </a:p>
        </p:txBody>
      </p:sp>
      <p:sp>
        <p:nvSpPr>
          <p:cNvPr id="13" name="anim-g1-1657"/>
          <p:cNvSpPr/>
          <p:nvPr/>
        </p:nvSpPr>
        <p:spPr>
          <a:xfrm>
            <a:off x="4159663" y="2514600"/>
            <a:ext cx="3226975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1-1658"/>
          <p:cNvSpPr/>
          <p:nvPr/>
        </p:nvSpPr>
        <p:spPr>
          <a:xfrm>
            <a:off x="4296823" y="2514600"/>
            <a:ext cx="295265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…</a:t>
            </a:r>
            <a:endParaRPr lang="ar-SA" sz="2100" dirty="0"/>
          </a:p>
        </p:txBody>
      </p:sp>
      <p:sp>
        <p:nvSpPr>
          <p:cNvPr id="15" name="anim-g1-1659"/>
          <p:cNvSpPr/>
          <p:nvPr/>
        </p:nvSpPr>
        <p:spPr>
          <a:xfrm>
            <a:off x="822960" y="2514600"/>
            <a:ext cx="3226975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16" name="anim-g1-1660"/>
          <p:cNvSpPr/>
          <p:nvPr/>
        </p:nvSpPr>
        <p:spPr>
          <a:xfrm>
            <a:off x="960120" y="2514600"/>
            <a:ext cx="295265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…</a:t>
            </a:r>
            <a:endParaRPr lang="ar-SA" sz="2100" dirty="0"/>
          </a:p>
        </p:txBody>
      </p:sp>
      <p:sp>
        <p:nvSpPr>
          <p:cNvPr id="17" name="anim-g2-1661"/>
          <p:cNvSpPr/>
          <p:nvPr/>
        </p:nvSpPr>
        <p:spPr>
          <a:xfrm>
            <a:off x="7496366" y="3422142"/>
            <a:ext cx="3872370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8" name="anim-g2-1662"/>
          <p:cNvSpPr/>
          <p:nvPr/>
        </p:nvSpPr>
        <p:spPr>
          <a:xfrm>
            <a:off x="7633526" y="3422142"/>
            <a:ext cx="359805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🛠️ دقائق الصيانة</a:t>
            </a:r>
            <a:endParaRPr lang="ar-SA" sz="2100" dirty="0"/>
          </a:p>
        </p:txBody>
      </p:sp>
      <p:sp>
        <p:nvSpPr>
          <p:cNvPr id="19" name="anim-g2-1663"/>
          <p:cNvSpPr/>
          <p:nvPr/>
        </p:nvSpPr>
        <p:spPr>
          <a:xfrm>
            <a:off x="4159663" y="3422142"/>
            <a:ext cx="3226975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0" name="anim-g2-1664"/>
          <p:cNvSpPr/>
          <p:nvPr/>
        </p:nvSpPr>
        <p:spPr>
          <a:xfrm>
            <a:off x="4296823" y="3422142"/>
            <a:ext cx="295265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…</a:t>
            </a:r>
            <a:endParaRPr lang="ar-SA" sz="2100" dirty="0"/>
          </a:p>
        </p:txBody>
      </p:sp>
      <p:sp>
        <p:nvSpPr>
          <p:cNvPr id="21" name="anim-g2-1665"/>
          <p:cNvSpPr/>
          <p:nvPr/>
        </p:nvSpPr>
        <p:spPr>
          <a:xfrm>
            <a:off x="822960" y="3422142"/>
            <a:ext cx="3226975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2" name="anim-g2-1666"/>
          <p:cNvSpPr/>
          <p:nvPr/>
        </p:nvSpPr>
        <p:spPr>
          <a:xfrm>
            <a:off x="960120" y="3422142"/>
            <a:ext cx="295265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…</a:t>
            </a:r>
            <a:endParaRPr lang="ar-SA" sz="2100" dirty="0"/>
          </a:p>
        </p:txBody>
      </p:sp>
      <p:sp>
        <p:nvSpPr>
          <p:cNvPr id="23" name="anim-g3-1667"/>
          <p:cNvSpPr/>
          <p:nvPr/>
        </p:nvSpPr>
        <p:spPr>
          <a:xfrm>
            <a:off x="7496366" y="4329684"/>
            <a:ext cx="3872370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4" name="anim-g3-1668"/>
          <p:cNvSpPr/>
          <p:nvPr/>
        </p:nvSpPr>
        <p:spPr>
          <a:xfrm>
            <a:off x="7633526" y="4329684"/>
            <a:ext cx="359805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🤝 اللعب النظيف</a:t>
            </a:r>
            <a:endParaRPr lang="ar-SA" sz="2100" dirty="0"/>
          </a:p>
        </p:txBody>
      </p:sp>
      <p:sp>
        <p:nvSpPr>
          <p:cNvPr id="25" name="anim-g3-1669"/>
          <p:cNvSpPr/>
          <p:nvPr/>
        </p:nvSpPr>
        <p:spPr>
          <a:xfrm>
            <a:off x="4159663" y="4329684"/>
            <a:ext cx="3226975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3-1670"/>
          <p:cNvSpPr/>
          <p:nvPr/>
        </p:nvSpPr>
        <p:spPr>
          <a:xfrm>
            <a:off x="4296823" y="4329684"/>
            <a:ext cx="295265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…/٥</a:t>
            </a:r>
            <a:endParaRPr lang="ar-SA" sz="2100" dirty="0"/>
          </a:p>
        </p:txBody>
      </p:sp>
      <p:sp>
        <p:nvSpPr>
          <p:cNvPr id="27" name="anim-g3-1671"/>
          <p:cNvSpPr/>
          <p:nvPr/>
        </p:nvSpPr>
        <p:spPr>
          <a:xfrm>
            <a:off x="822960" y="4329684"/>
            <a:ext cx="3226975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3-1672"/>
          <p:cNvSpPr/>
          <p:nvPr/>
        </p:nvSpPr>
        <p:spPr>
          <a:xfrm>
            <a:off x="960120" y="4329684"/>
            <a:ext cx="295265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…/٥</a:t>
            </a:r>
            <a:endParaRPr lang="ar-SA" sz="2100" dirty="0"/>
          </a:p>
        </p:txBody>
      </p:sp>
      <p:sp>
        <p:nvSpPr>
          <p:cNvPr id="29" name="anim-g4-1673"/>
          <p:cNvSpPr/>
          <p:nvPr/>
        </p:nvSpPr>
        <p:spPr>
          <a:xfrm>
            <a:off x="7496366" y="5237226"/>
            <a:ext cx="3872370" cy="797814"/>
          </a:xfrm>
          <a:prstGeom prst="roundRect">
            <a:avLst>
              <a:gd name="adj" fmla="val 13754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4-1674"/>
          <p:cNvSpPr/>
          <p:nvPr/>
        </p:nvSpPr>
        <p:spPr>
          <a:xfrm>
            <a:off x="7633526" y="5237226"/>
            <a:ext cx="359805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💡 أفضل فكرة هندسية</a:t>
            </a:r>
            <a:endParaRPr lang="ar-SA" sz="2100" dirty="0"/>
          </a:p>
        </p:txBody>
      </p:sp>
      <p:sp>
        <p:nvSpPr>
          <p:cNvPr id="31" name="anim-g4-1675"/>
          <p:cNvSpPr/>
          <p:nvPr/>
        </p:nvSpPr>
        <p:spPr>
          <a:xfrm>
            <a:off x="4159663" y="5237226"/>
            <a:ext cx="3226975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4-1676"/>
          <p:cNvSpPr/>
          <p:nvPr/>
        </p:nvSpPr>
        <p:spPr>
          <a:xfrm>
            <a:off x="4296823" y="5237226"/>
            <a:ext cx="295265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…</a:t>
            </a:r>
            <a:endParaRPr lang="ar-SA" sz="2100" dirty="0"/>
          </a:p>
        </p:txBody>
      </p:sp>
      <p:sp>
        <p:nvSpPr>
          <p:cNvPr id="33" name="anim-g4-1677"/>
          <p:cNvSpPr/>
          <p:nvPr/>
        </p:nvSpPr>
        <p:spPr>
          <a:xfrm>
            <a:off x="822960" y="5237226"/>
            <a:ext cx="3226975" cy="797814"/>
          </a:xfrm>
          <a:prstGeom prst="roundRect">
            <a:avLst>
              <a:gd name="adj" fmla="val 13754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4" name="anim-g4-1678"/>
          <p:cNvSpPr/>
          <p:nvPr/>
        </p:nvSpPr>
        <p:spPr>
          <a:xfrm>
            <a:off x="960120" y="5237226"/>
            <a:ext cx="2952655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…</a:t>
            </a:r>
            <a:endParaRPr lang="ar-SA" sz="2100" dirty="0"/>
          </a:p>
        </p:txBody>
      </p:sp>
      <p:sp>
        <p:nvSpPr>
          <p:cNvPr id="35" name="Text 3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المباراة  ·  ١٧٩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1567" y="4572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881567" y="457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✅ اختبر نفسك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الكرة بين روبوتك ومرماك أنت… ما الحركة الصحيحة؟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7" name="Text 5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تقدّم مباشرة نحو الكرة</a:t>
            </a:r>
            <a:endParaRPr lang="ar-SA" sz="2200" dirty="0"/>
          </a:p>
        </p:txBody>
      </p:sp>
      <p:sp>
        <p:nvSpPr>
          <p:cNvPr id="9" name="anim-g1-1679"/>
          <p:cNvSpPr/>
          <p:nvPr/>
        </p:nvSpPr>
        <p:spPr>
          <a:xfrm>
            <a:off x="822960" y="2057400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0" name="anim-g1-1680"/>
          <p:cNvSpPr/>
          <p:nvPr/>
        </p:nvSpPr>
        <p:spPr>
          <a:xfrm>
            <a:off x="10575493" y="2194560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11" name="anim-g1-1681"/>
          <p:cNvSpPr/>
          <p:nvPr/>
        </p:nvSpPr>
        <p:spPr>
          <a:xfrm>
            <a:off x="10575493" y="2194560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أ</a:t>
            </a:r>
            <a:endParaRPr lang="ar-SA" sz="2000" dirty="0"/>
          </a:p>
        </p:txBody>
      </p:sp>
      <p:sp>
        <p:nvSpPr>
          <p:cNvPr id="12" name="anim-g1-1682"/>
          <p:cNvSpPr/>
          <p:nvPr/>
        </p:nvSpPr>
        <p:spPr>
          <a:xfrm>
            <a:off x="1097280" y="2093976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تقدّم مباشرة نحو الكرة</a:t>
            </a:r>
            <a:endParaRPr lang="ar-SA" sz="2200" dirty="0"/>
          </a:p>
        </p:txBody>
      </p:sp>
      <p:sp>
        <p:nvSpPr>
          <p:cNvPr id="13" name="anim-g1-1683"/>
          <p:cNvSpPr/>
          <p:nvPr/>
        </p:nvSpPr>
        <p:spPr>
          <a:xfrm>
            <a:off x="1097280" y="2535128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ستدفعها نحو مرماك!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ب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088386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تحرك جانبيًا والتف حتى تصبح خلف الكرة</a:t>
            </a:r>
            <a:endParaRPr lang="ar-SA" sz="2200" dirty="0"/>
          </a:p>
        </p:txBody>
      </p:sp>
      <p:sp>
        <p:nvSpPr>
          <p:cNvPr id="18" name="anim-g1-1684"/>
          <p:cNvSpPr/>
          <p:nvPr/>
        </p:nvSpPr>
        <p:spPr>
          <a:xfrm>
            <a:off x="822960" y="3088386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E6F4EC"/>
          </a:solidFill>
          <a:ln w="31750">
            <a:solidFill>
              <a:srgbClr val="2E9E6B"/>
            </a:solidFill>
            <a:prstDash val="solid"/>
          </a:ln>
        </p:spPr>
      </p:sp>
      <p:sp>
        <p:nvSpPr>
          <p:cNvPr id="19" name="anim-g1-1685"/>
          <p:cNvSpPr/>
          <p:nvPr/>
        </p:nvSpPr>
        <p:spPr>
          <a:xfrm>
            <a:off x="10575493" y="3225546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2E9E6B"/>
          </a:solidFill>
          <a:ln/>
        </p:spPr>
      </p:sp>
      <p:sp>
        <p:nvSpPr>
          <p:cNvPr id="20" name="anim-g1-1686"/>
          <p:cNvSpPr/>
          <p:nvPr/>
        </p:nvSpPr>
        <p:spPr>
          <a:xfrm>
            <a:off x="10575493" y="3225546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✓</a:t>
            </a:r>
            <a:endParaRPr lang="ar-SA" sz="2000" dirty="0"/>
          </a:p>
        </p:txBody>
      </p:sp>
      <p:sp>
        <p:nvSpPr>
          <p:cNvPr id="21" name="anim-g1-1687"/>
          <p:cNvSpPr/>
          <p:nvPr/>
        </p:nvSpPr>
        <p:spPr>
          <a:xfrm>
            <a:off x="1097280" y="3124962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تحرك جانبيًا والتف حتى تصبح خلف الكرة</a:t>
            </a:r>
            <a:endParaRPr lang="ar-SA" sz="2200" dirty="0"/>
          </a:p>
        </p:txBody>
      </p:sp>
      <p:sp>
        <p:nvSpPr>
          <p:cNvPr id="22" name="anim-g1-1688"/>
          <p:cNvSpPr/>
          <p:nvPr/>
        </p:nvSpPr>
        <p:spPr>
          <a:xfrm>
            <a:off x="1097280" y="3566114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صحيح: قاعدة كل لاعب كرة: كن بين الكرة ومرماك</a:t>
            </a:r>
            <a:endParaRPr lang="ar-SA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19372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دُر في المكان</a:t>
            </a:r>
            <a:endParaRPr lang="ar-SA" sz="2200" dirty="0"/>
          </a:p>
        </p:txBody>
      </p:sp>
      <p:sp>
        <p:nvSpPr>
          <p:cNvPr id="27" name="anim-g1-1689"/>
          <p:cNvSpPr/>
          <p:nvPr/>
        </p:nvSpPr>
        <p:spPr>
          <a:xfrm>
            <a:off x="822960" y="4119372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28" name="anim-g1-1690"/>
          <p:cNvSpPr/>
          <p:nvPr/>
        </p:nvSpPr>
        <p:spPr>
          <a:xfrm>
            <a:off x="10575493" y="4256532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29" name="anim-g1-1691"/>
          <p:cNvSpPr/>
          <p:nvPr/>
        </p:nvSpPr>
        <p:spPr>
          <a:xfrm>
            <a:off x="10575493" y="4256532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ج</a:t>
            </a:r>
            <a:endParaRPr lang="ar-SA" sz="2000" dirty="0"/>
          </a:p>
        </p:txBody>
      </p:sp>
      <p:sp>
        <p:nvSpPr>
          <p:cNvPr id="30" name="anim-g1-1692"/>
          <p:cNvSpPr/>
          <p:nvPr/>
        </p:nvSpPr>
        <p:spPr>
          <a:xfrm>
            <a:off x="1097280" y="4155948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دُر في المكان</a:t>
            </a:r>
            <a:endParaRPr lang="ar-SA" sz="2200" dirty="0"/>
          </a:p>
        </p:txBody>
      </p:sp>
      <p:sp>
        <p:nvSpPr>
          <p:cNvPr id="31" name="anim-g1-1693"/>
          <p:cNvSpPr/>
          <p:nvPr/>
        </p:nvSpPr>
        <p:spPr>
          <a:xfrm>
            <a:off x="1097280" y="4597100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يغيّر شيئًا</a:t>
            </a:r>
            <a:endParaRPr lang="ar-SA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FFFFF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101B45"/>
          </a:solidFill>
          <a:ln/>
        </p:spPr>
      </p:sp>
      <p:sp>
        <p:nvSpPr>
          <p:cNvPr id="34" name="Text 32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1097280" y="5150358"/>
            <a:ext cx="929533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تيربو!</a:t>
            </a:r>
            <a:endParaRPr lang="ar-SA" sz="2200" dirty="0"/>
          </a:p>
        </p:txBody>
      </p:sp>
      <p:sp>
        <p:nvSpPr>
          <p:cNvPr id="36" name="anim-g1-1694"/>
          <p:cNvSpPr/>
          <p:nvPr/>
        </p:nvSpPr>
        <p:spPr>
          <a:xfrm>
            <a:off x="822960" y="5150358"/>
            <a:ext cx="10545775" cy="884682"/>
          </a:xfrm>
          <a:prstGeom prst="roundRect">
            <a:avLst>
              <a:gd name="adj" fmla="val 16537"/>
            </a:avLst>
          </a:prstGeom>
          <a:solidFill>
            <a:srgbClr val="F7F7F9"/>
          </a:solidFill>
          <a:ln w="19050">
            <a:solidFill>
              <a:srgbClr val="E4DCC8"/>
            </a:solidFill>
            <a:prstDash val="solid"/>
          </a:ln>
        </p:spPr>
      </p:sp>
      <p:sp>
        <p:nvSpPr>
          <p:cNvPr id="37" name="anim-g1-1695"/>
          <p:cNvSpPr/>
          <p:nvPr/>
        </p:nvSpPr>
        <p:spPr>
          <a:xfrm>
            <a:off x="10575493" y="5287518"/>
            <a:ext cx="610362" cy="610362"/>
          </a:xfrm>
          <a:prstGeom prst="roundRect">
            <a:avLst>
              <a:gd name="adj" fmla="val 17978"/>
            </a:avLst>
          </a:prstGeom>
          <a:solidFill>
            <a:srgbClr val="A3A9BA"/>
          </a:solidFill>
          <a:ln/>
        </p:spPr>
      </p:sp>
      <p:sp>
        <p:nvSpPr>
          <p:cNvPr id="38" name="anim-g1-1696"/>
          <p:cNvSpPr/>
          <p:nvPr/>
        </p:nvSpPr>
        <p:spPr>
          <a:xfrm>
            <a:off x="10575493" y="5287518"/>
            <a:ext cx="610362" cy="610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د</a:t>
            </a:r>
            <a:endParaRPr lang="ar-SA" sz="2000" dirty="0"/>
          </a:p>
        </p:txBody>
      </p:sp>
      <p:sp>
        <p:nvSpPr>
          <p:cNvPr id="39" name="anim-g1-1697"/>
          <p:cNvSpPr/>
          <p:nvPr/>
        </p:nvSpPr>
        <p:spPr>
          <a:xfrm>
            <a:off x="1097280" y="5186934"/>
            <a:ext cx="929533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8A90A3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تيربو!</a:t>
            </a:r>
            <a:endParaRPr lang="ar-SA" sz="2200" dirty="0"/>
          </a:p>
        </p:txBody>
      </p:sp>
      <p:sp>
        <p:nvSpPr>
          <p:cNvPr id="40" name="anim-g1-1698"/>
          <p:cNvSpPr/>
          <p:nvPr/>
        </p:nvSpPr>
        <p:spPr>
          <a:xfrm>
            <a:off x="1097280" y="5628086"/>
            <a:ext cx="9295333" cy="37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9A4A4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هدف في مرماك أسرع</a:t>
            </a:r>
            <a:endParaRPr lang="ar-SA" sz="1800" dirty="0"/>
          </a:p>
        </p:txBody>
      </p:sp>
      <p:sp>
        <p:nvSpPr>
          <p:cNvPr id="41" name="Text 39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المباراة  ·  ١٨٠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264" y="118872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52264" y="11887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المحور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الروبوت يتحرك في كل اتجاه…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واللاعب يفكر في كل اتجاه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المباراة  ·  ١٨٢</a:t>
            </a:r>
            <a:endParaRPr lang="ar-SA" sz="12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03120"/>
            <a:ext cx="2651760" cy="2651760"/>
          </a:xfrm>
          <a:prstGeom prst="ellipse">
            <a:avLst/>
          </a:prstGeom>
          <a:solidFill>
            <a:srgbClr val="D9AE4B">
              <a:alpha val="12000"/>
            </a:srgbClr>
          </a:solidFill>
          <a:ln w="635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1031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١٤</a:t>
            </a:r>
            <a:endParaRPr lang="ar-SA" sz="12000" dirty="0"/>
          </a:p>
        </p:txBody>
      </p:sp>
      <p:sp>
        <p:nvSpPr>
          <p:cNvPr id="4" name="Text 2"/>
          <p:cNvSpPr/>
          <p:nvPr/>
        </p:nvSpPr>
        <p:spPr>
          <a:xfrm>
            <a:off x="4206240" y="1828800"/>
            <a:ext cx="7162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المحور ١٤</a:t>
            </a:r>
            <a:endParaRPr lang="ar-SA" sz="20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7162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الختام</a:t>
            </a:r>
            <a:endParaRPr lang="ar-SA" sz="5600" dirty="0"/>
          </a:p>
        </p:txBody>
      </p:sp>
      <p:sp>
        <p:nvSpPr>
          <p:cNvPr id="6" name="Text 4"/>
          <p:cNvSpPr/>
          <p:nvPr/>
        </p:nvSpPr>
        <p:spPr>
          <a:xfrm>
            <a:off x="4206240" y="3749040"/>
            <a:ext cx="7162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سبعة روبوتات… أحد عشر كودًا… وخطة لفصلك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الختام  ·  ١٨٣</a:t>
            </a:r>
            <a:endParaRPr lang="ar-SA" sz="12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8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esp32-3\.pptx-cache\s18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0479" y="457200"/>
            <a:ext cx="2048256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9320479" y="45720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خطة الفصل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عشرة أسابيع… روبوت كل أسبوع تقريبًا</a:t>
            </a:r>
            <a:endParaRPr lang="ar-SA" sz="3200" dirty="0"/>
          </a:p>
        </p:txBody>
      </p:sp>
      <p:sp>
        <p:nvSpPr>
          <p:cNvPr id="5" name="Shape 3"/>
          <p:cNvSpPr/>
          <p:nvPr/>
        </p:nvSpPr>
        <p:spPr>
          <a:xfrm>
            <a:off x="9836247" y="1874520"/>
            <a:ext cx="1532489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6" name="Text 4"/>
          <p:cNvSpPr/>
          <p:nvPr/>
        </p:nvSpPr>
        <p:spPr>
          <a:xfrm>
            <a:off x="9836247" y="1874520"/>
            <a:ext cx="15324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الأسبوع</a:t>
            </a:r>
            <a:endParaRPr lang="ar-SA" sz="1900" dirty="0"/>
          </a:p>
        </p:txBody>
      </p:sp>
      <p:sp>
        <p:nvSpPr>
          <p:cNvPr id="7" name="Shape 5"/>
          <p:cNvSpPr/>
          <p:nvPr/>
        </p:nvSpPr>
        <p:spPr>
          <a:xfrm>
            <a:off x="6661541" y="1874520"/>
            <a:ext cx="3064977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8" name="Text 6"/>
          <p:cNvSpPr/>
          <p:nvPr/>
        </p:nvSpPr>
        <p:spPr>
          <a:xfrm>
            <a:off x="6661541" y="1874520"/>
            <a:ext cx="30649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الروبوت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4763910" y="1874520"/>
            <a:ext cx="1787903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0" name="Text 8"/>
          <p:cNvSpPr/>
          <p:nvPr/>
        </p:nvSpPr>
        <p:spPr>
          <a:xfrm>
            <a:off x="4763910" y="1874520"/>
            <a:ext cx="17879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المحاور</a:t>
            </a:r>
            <a:endParaRPr lang="ar-SA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1874520"/>
            <a:ext cx="3831222" cy="548640"/>
          </a:xfrm>
          <a:prstGeom prst="roundRect">
            <a:avLst>
              <a:gd name="adj" fmla="val 20000"/>
            </a:avLst>
          </a:prstGeom>
          <a:solidFill>
            <a:srgbClr val="101B4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74520"/>
            <a:ext cx="38312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9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المنتج</a:t>
            </a:r>
            <a:endParaRPr lang="ar-SA" sz="1900" dirty="0"/>
          </a:p>
        </p:txBody>
      </p:sp>
      <p:sp>
        <p:nvSpPr>
          <p:cNvPr id="13" name="anim-g1-1699"/>
          <p:cNvSpPr/>
          <p:nvPr/>
        </p:nvSpPr>
        <p:spPr>
          <a:xfrm>
            <a:off x="9836247" y="2514600"/>
            <a:ext cx="1532489" cy="293624"/>
          </a:xfrm>
          <a:prstGeom prst="roundRect">
            <a:avLst>
              <a:gd name="adj" fmla="val 37370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14" name="anim-g1-1700"/>
          <p:cNvSpPr/>
          <p:nvPr/>
        </p:nvSpPr>
        <p:spPr>
          <a:xfrm>
            <a:off x="9973407" y="2514600"/>
            <a:ext cx="1258169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100" dirty="0"/>
          </a:p>
        </p:txBody>
      </p:sp>
      <p:sp>
        <p:nvSpPr>
          <p:cNvPr id="15" name="anim-g1-1701"/>
          <p:cNvSpPr/>
          <p:nvPr/>
        </p:nvSpPr>
        <p:spPr>
          <a:xfrm>
            <a:off x="6661541" y="2514600"/>
            <a:ext cx="3064977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6" name="anim-g1-1702"/>
          <p:cNvSpPr/>
          <p:nvPr/>
        </p:nvSpPr>
        <p:spPr>
          <a:xfrm>
            <a:off x="6798701" y="2514600"/>
            <a:ext cx="279065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المكونات والتركيب</a:t>
            </a:r>
            <a:endParaRPr lang="ar-SA" sz="2100" dirty="0"/>
          </a:p>
        </p:txBody>
      </p:sp>
      <p:sp>
        <p:nvSpPr>
          <p:cNvPr id="17" name="anim-g1-1703"/>
          <p:cNvSpPr/>
          <p:nvPr/>
        </p:nvSpPr>
        <p:spPr>
          <a:xfrm>
            <a:off x="4763910" y="2514600"/>
            <a:ext cx="1787903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1-1704"/>
          <p:cNvSpPr/>
          <p:nvPr/>
        </p:nvSpPr>
        <p:spPr>
          <a:xfrm>
            <a:off x="4901070" y="2514600"/>
            <a:ext cx="1513583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١–٢</a:t>
            </a:r>
            <a:endParaRPr lang="ar-SA" sz="2100" dirty="0"/>
          </a:p>
        </p:txBody>
      </p:sp>
      <p:sp>
        <p:nvSpPr>
          <p:cNvPr id="19" name="anim-g1-1705"/>
          <p:cNvSpPr/>
          <p:nvPr/>
        </p:nvSpPr>
        <p:spPr>
          <a:xfrm>
            <a:off x="822960" y="2514600"/>
            <a:ext cx="3831222" cy="293624"/>
          </a:xfrm>
          <a:prstGeom prst="roundRect">
            <a:avLst>
              <a:gd name="adj" fmla="val 37370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0" name="anim-g1-1706"/>
          <p:cNvSpPr/>
          <p:nvPr/>
        </p:nvSpPr>
        <p:spPr>
          <a:xfrm>
            <a:off x="960120" y="2514600"/>
            <a:ext cx="3556902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سيارة مجمّعة اجتازت MotorTest</a:t>
            </a:r>
            <a:endParaRPr lang="ar-SA" sz="2100" dirty="0"/>
          </a:p>
        </p:txBody>
      </p:sp>
      <p:sp>
        <p:nvSpPr>
          <p:cNvPr id="21" name="anim-g2-1707"/>
          <p:cNvSpPr/>
          <p:nvPr/>
        </p:nvSpPr>
        <p:spPr>
          <a:xfrm>
            <a:off x="9836247" y="2917952"/>
            <a:ext cx="1532489" cy="293624"/>
          </a:xfrm>
          <a:prstGeom prst="roundRect">
            <a:avLst>
              <a:gd name="adj" fmla="val 37370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22" name="anim-g2-1708"/>
          <p:cNvSpPr/>
          <p:nvPr/>
        </p:nvSpPr>
        <p:spPr>
          <a:xfrm>
            <a:off x="9973407" y="2917952"/>
            <a:ext cx="1258169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100" dirty="0"/>
          </a:p>
        </p:txBody>
      </p:sp>
      <p:sp>
        <p:nvSpPr>
          <p:cNvPr id="23" name="anim-g2-1709"/>
          <p:cNvSpPr/>
          <p:nvPr/>
        </p:nvSpPr>
        <p:spPr>
          <a:xfrm>
            <a:off x="6661541" y="2917952"/>
            <a:ext cx="3064977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4" name="anim-g2-1710"/>
          <p:cNvSpPr/>
          <p:nvPr/>
        </p:nvSpPr>
        <p:spPr>
          <a:xfrm>
            <a:off x="6798701" y="2917952"/>
            <a:ext cx="279065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🤖١ الحركة والجوال</a:t>
            </a:r>
            <a:endParaRPr lang="ar-SA" sz="2100" dirty="0"/>
          </a:p>
        </p:txBody>
      </p:sp>
      <p:sp>
        <p:nvSpPr>
          <p:cNvPr id="25" name="anim-g2-1711"/>
          <p:cNvSpPr/>
          <p:nvPr/>
        </p:nvSpPr>
        <p:spPr>
          <a:xfrm>
            <a:off x="4763910" y="2917952"/>
            <a:ext cx="1787903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6" name="anim-g2-1712"/>
          <p:cNvSpPr/>
          <p:nvPr/>
        </p:nvSpPr>
        <p:spPr>
          <a:xfrm>
            <a:off x="4901070" y="2917952"/>
            <a:ext cx="1513583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٣–٤</a:t>
            </a:r>
            <a:endParaRPr lang="ar-SA" sz="2100" dirty="0"/>
          </a:p>
        </p:txBody>
      </p:sp>
      <p:sp>
        <p:nvSpPr>
          <p:cNvPr id="27" name="anim-g2-1713"/>
          <p:cNvSpPr/>
          <p:nvPr/>
        </p:nvSpPr>
        <p:spPr>
          <a:xfrm>
            <a:off x="822960" y="2917952"/>
            <a:ext cx="3831222" cy="293624"/>
          </a:xfrm>
          <a:prstGeom prst="roundRect">
            <a:avLst>
              <a:gd name="adj" fmla="val 37370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28" name="anim-g2-1714"/>
          <p:cNvSpPr/>
          <p:nvPr/>
        </p:nvSpPr>
        <p:spPr>
          <a:xfrm>
            <a:off x="960120" y="2917952"/>
            <a:ext cx="3556902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مربع مرسوم + سباق المخاريط</a:t>
            </a:r>
            <a:endParaRPr lang="ar-SA" sz="2100" dirty="0"/>
          </a:p>
        </p:txBody>
      </p:sp>
      <p:sp>
        <p:nvSpPr>
          <p:cNvPr id="29" name="anim-g3-1715"/>
          <p:cNvSpPr/>
          <p:nvPr/>
        </p:nvSpPr>
        <p:spPr>
          <a:xfrm>
            <a:off x="9836247" y="3321304"/>
            <a:ext cx="1532489" cy="293624"/>
          </a:xfrm>
          <a:prstGeom prst="roundRect">
            <a:avLst>
              <a:gd name="adj" fmla="val 37370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0" name="anim-g3-1716"/>
          <p:cNvSpPr/>
          <p:nvPr/>
        </p:nvSpPr>
        <p:spPr>
          <a:xfrm>
            <a:off x="9973407" y="3321304"/>
            <a:ext cx="1258169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100" dirty="0"/>
          </a:p>
        </p:txBody>
      </p:sp>
      <p:sp>
        <p:nvSpPr>
          <p:cNvPr id="31" name="anim-g3-1717"/>
          <p:cNvSpPr/>
          <p:nvPr/>
        </p:nvSpPr>
        <p:spPr>
          <a:xfrm>
            <a:off x="6661541" y="3321304"/>
            <a:ext cx="3064977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2" name="anim-g3-1718"/>
          <p:cNvSpPr/>
          <p:nvPr/>
        </p:nvSpPr>
        <p:spPr>
          <a:xfrm>
            <a:off x="6798701" y="3321304"/>
            <a:ext cx="279065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🤖٢ السيارة التي ترى</a:t>
            </a:r>
            <a:endParaRPr lang="ar-SA" sz="2100" dirty="0"/>
          </a:p>
        </p:txBody>
      </p:sp>
      <p:sp>
        <p:nvSpPr>
          <p:cNvPr id="33" name="anim-g3-1719"/>
          <p:cNvSpPr/>
          <p:nvPr/>
        </p:nvSpPr>
        <p:spPr>
          <a:xfrm>
            <a:off x="4763910" y="3321304"/>
            <a:ext cx="1787903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4" name="anim-g3-1720"/>
          <p:cNvSpPr/>
          <p:nvPr/>
        </p:nvSpPr>
        <p:spPr>
          <a:xfrm>
            <a:off x="4901070" y="3321304"/>
            <a:ext cx="1513583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٥</a:t>
            </a:r>
            <a:endParaRPr lang="ar-SA" sz="2100" dirty="0"/>
          </a:p>
        </p:txBody>
      </p:sp>
      <p:sp>
        <p:nvSpPr>
          <p:cNvPr id="35" name="anim-g3-1721"/>
          <p:cNvSpPr/>
          <p:nvPr/>
        </p:nvSpPr>
        <p:spPr>
          <a:xfrm>
            <a:off x="822960" y="3321304"/>
            <a:ext cx="3831222" cy="293624"/>
          </a:xfrm>
          <a:prstGeom prst="roundRect">
            <a:avLst>
              <a:gd name="adj" fmla="val 37370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36" name="anim-g3-1722"/>
          <p:cNvSpPr/>
          <p:nvPr/>
        </p:nvSpPr>
        <p:spPr>
          <a:xfrm>
            <a:off x="960120" y="3321304"/>
            <a:ext cx="3556902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المتاهة الكرتونية</a:t>
            </a:r>
            <a:endParaRPr lang="ar-SA" sz="2100" dirty="0"/>
          </a:p>
        </p:txBody>
      </p:sp>
      <p:sp>
        <p:nvSpPr>
          <p:cNvPr id="37" name="anim-g4-1723"/>
          <p:cNvSpPr/>
          <p:nvPr/>
        </p:nvSpPr>
        <p:spPr>
          <a:xfrm>
            <a:off x="9836247" y="3724656"/>
            <a:ext cx="1532489" cy="293624"/>
          </a:xfrm>
          <a:prstGeom prst="roundRect">
            <a:avLst>
              <a:gd name="adj" fmla="val 37370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38" name="anim-g4-1724"/>
          <p:cNvSpPr/>
          <p:nvPr/>
        </p:nvSpPr>
        <p:spPr>
          <a:xfrm>
            <a:off x="9973407" y="3724656"/>
            <a:ext cx="1258169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100" dirty="0"/>
          </a:p>
        </p:txBody>
      </p:sp>
      <p:sp>
        <p:nvSpPr>
          <p:cNvPr id="39" name="anim-g4-1725"/>
          <p:cNvSpPr/>
          <p:nvPr/>
        </p:nvSpPr>
        <p:spPr>
          <a:xfrm>
            <a:off x="6661541" y="3724656"/>
            <a:ext cx="3064977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0" name="anim-g4-1726"/>
          <p:cNvSpPr/>
          <p:nvPr/>
        </p:nvSpPr>
        <p:spPr>
          <a:xfrm>
            <a:off x="6798701" y="3724656"/>
            <a:ext cx="279065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🤖٣ متتبع الخط</a:t>
            </a:r>
            <a:endParaRPr lang="ar-SA" sz="2100" dirty="0"/>
          </a:p>
        </p:txBody>
      </p:sp>
      <p:sp>
        <p:nvSpPr>
          <p:cNvPr id="41" name="anim-g4-1727"/>
          <p:cNvSpPr/>
          <p:nvPr/>
        </p:nvSpPr>
        <p:spPr>
          <a:xfrm>
            <a:off x="4763910" y="3724656"/>
            <a:ext cx="1787903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2" name="anim-g4-1728"/>
          <p:cNvSpPr/>
          <p:nvPr/>
        </p:nvSpPr>
        <p:spPr>
          <a:xfrm>
            <a:off x="4901070" y="3724656"/>
            <a:ext cx="1513583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٦</a:t>
            </a:r>
            <a:endParaRPr lang="ar-SA" sz="2100" dirty="0"/>
          </a:p>
        </p:txBody>
      </p:sp>
      <p:sp>
        <p:nvSpPr>
          <p:cNvPr id="43" name="anim-g4-1729"/>
          <p:cNvSpPr/>
          <p:nvPr/>
        </p:nvSpPr>
        <p:spPr>
          <a:xfrm>
            <a:off x="822960" y="3724656"/>
            <a:ext cx="3831222" cy="293624"/>
          </a:xfrm>
          <a:prstGeom prst="roundRect">
            <a:avLst>
              <a:gd name="adj" fmla="val 37370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44" name="anim-g4-1730"/>
          <p:cNvSpPr/>
          <p:nvPr/>
        </p:nvSpPr>
        <p:spPr>
          <a:xfrm>
            <a:off x="960120" y="3724656"/>
            <a:ext cx="3556902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حلبة من تصميم الفريق</a:t>
            </a:r>
            <a:endParaRPr lang="ar-SA" sz="2100" dirty="0"/>
          </a:p>
        </p:txBody>
      </p:sp>
      <p:sp>
        <p:nvSpPr>
          <p:cNvPr id="45" name="anim-g5-1731"/>
          <p:cNvSpPr/>
          <p:nvPr/>
        </p:nvSpPr>
        <p:spPr>
          <a:xfrm>
            <a:off x="9836247" y="4128008"/>
            <a:ext cx="1532489" cy="293624"/>
          </a:xfrm>
          <a:prstGeom prst="roundRect">
            <a:avLst>
              <a:gd name="adj" fmla="val 37370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46" name="anim-g5-1732"/>
          <p:cNvSpPr/>
          <p:nvPr/>
        </p:nvSpPr>
        <p:spPr>
          <a:xfrm>
            <a:off x="9973407" y="4128008"/>
            <a:ext cx="1258169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٥</a:t>
            </a:r>
            <a:endParaRPr lang="ar-SA" sz="2100" dirty="0"/>
          </a:p>
        </p:txBody>
      </p:sp>
      <p:sp>
        <p:nvSpPr>
          <p:cNvPr id="47" name="anim-g5-1733"/>
          <p:cNvSpPr/>
          <p:nvPr/>
        </p:nvSpPr>
        <p:spPr>
          <a:xfrm>
            <a:off x="6661541" y="4128008"/>
            <a:ext cx="3064977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48" name="anim-g5-1734"/>
          <p:cNvSpPr/>
          <p:nvPr/>
        </p:nvSpPr>
        <p:spPr>
          <a:xfrm>
            <a:off x="6798701" y="4128008"/>
            <a:ext cx="279065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🤖٤ الدمج</a:t>
            </a:r>
            <a:endParaRPr lang="ar-SA" sz="2100" dirty="0"/>
          </a:p>
        </p:txBody>
      </p:sp>
      <p:sp>
        <p:nvSpPr>
          <p:cNvPr id="49" name="anim-g5-1735"/>
          <p:cNvSpPr/>
          <p:nvPr/>
        </p:nvSpPr>
        <p:spPr>
          <a:xfrm>
            <a:off x="4763910" y="4128008"/>
            <a:ext cx="1787903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0" name="anim-g5-1736"/>
          <p:cNvSpPr/>
          <p:nvPr/>
        </p:nvSpPr>
        <p:spPr>
          <a:xfrm>
            <a:off x="4901070" y="4128008"/>
            <a:ext cx="1513583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٧</a:t>
            </a:r>
            <a:endParaRPr lang="ar-SA" sz="2100" dirty="0"/>
          </a:p>
        </p:txBody>
      </p:sp>
      <p:sp>
        <p:nvSpPr>
          <p:cNvPr id="51" name="anim-g5-1737"/>
          <p:cNvSpPr/>
          <p:nvPr/>
        </p:nvSpPr>
        <p:spPr>
          <a:xfrm>
            <a:off x="822960" y="4128008"/>
            <a:ext cx="3831222" cy="293624"/>
          </a:xfrm>
          <a:prstGeom prst="roundRect">
            <a:avLst>
              <a:gd name="adj" fmla="val 37370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52" name="anim-g5-1738"/>
          <p:cNvSpPr/>
          <p:nvPr/>
        </p:nvSpPr>
        <p:spPr>
          <a:xfrm>
            <a:off x="960120" y="4128008"/>
            <a:ext cx="3556902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الطريق المغلق ٣ مرات</a:t>
            </a:r>
            <a:endParaRPr lang="ar-SA" sz="2100" dirty="0"/>
          </a:p>
        </p:txBody>
      </p:sp>
      <p:sp>
        <p:nvSpPr>
          <p:cNvPr id="53" name="anim-g6-1739"/>
          <p:cNvSpPr/>
          <p:nvPr/>
        </p:nvSpPr>
        <p:spPr>
          <a:xfrm>
            <a:off x="9836247" y="4531360"/>
            <a:ext cx="1532489" cy="293624"/>
          </a:xfrm>
          <a:prstGeom prst="roundRect">
            <a:avLst>
              <a:gd name="adj" fmla="val 37370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54" name="anim-g6-1740"/>
          <p:cNvSpPr/>
          <p:nvPr/>
        </p:nvSpPr>
        <p:spPr>
          <a:xfrm>
            <a:off x="9973407" y="4531360"/>
            <a:ext cx="1258169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٦</a:t>
            </a:r>
            <a:endParaRPr lang="ar-SA" sz="2100" dirty="0"/>
          </a:p>
        </p:txBody>
      </p:sp>
      <p:sp>
        <p:nvSpPr>
          <p:cNvPr id="55" name="anim-g6-1741"/>
          <p:cNvSpPr/>
          <p:nvPr/>
        </p:nvSpPr>
        <p:spPr>
          <a:xfrm>
            <a:off x="6661541" y="4531360"/>
            <a:ext cx="3064977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6" name="anim-g6-1742"/>
          <p:cNvSpPr/>
          <p:nvPr/>
        </p:nvSpPr>
        <p:spPr>
          <a:xfrm>
            <a:off x="6798701" y="4531360"/>
            <a:ext cx="279065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🤖٥ السومو</a:t>
            </a:r>
            <a:endParaRPr lang="ar-SA" sz="2100" dirty="0"/>
          </a:p>
        </p:txBody>
      </p:sp>
      <p:sp>
        <p:nvSpPr>
          <p:cNvPr id="57" name="anim-g6-1743"/>
          <p:cNvSpPr/>
          <p:nvPr/>
        </p:nvSpPr>
        <p:spPr>
          <a:xfrm>
            <a:off x="4763910" y="4531360"/>
            <a:ext cx="1787903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58" name="anim-g6-1744"/>
          <p:cNvSpPr/>
          <p:nvPr/>
        </p:nvSpPr>
        <p:spPr>
          <a:xfrm>
            <a:off x="4901070" y="4531360"/>
            <a:ext cx="1513583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٨</a:t>
            </a:r>
            <a:endParaRPr lang="ar-SA" sz="2100" dirty="0"/>
          </a:p>
        </p:txBody>
      </p:sp>
      <p:sp>
        <p:nvSpPr>
          <p:cNvPr id="59" name="anim-g6-1745"/>
          <p:cNvSpPr/>
          <p:nvPr/>
        </p:nvSpPr>
        <p:spPr>
          <a:xfrm>
            <a:off x="822960" y="4531360"/>
            <a:ext cx="3831222" cy="293624"/>
          </a:xfrm>
          <a:prstGeom prst="roundRect">
            <a:avLst>
              <a:gd name="adj" fmla="val 37370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60" name="anim-g6-1746"/>
          <p:cNvSpPr/>
          <p:nvPr/>
        </p:nvSpPr>
        <p:spPr>
          <a:xfrm>
            <a:off x="960120" y="4531360"/>
            <a:ext cx="3556902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بطولة الفصل</a:t>
            </a:r>
            <a:endParaRPr lang="ar-SA" sz="2100" dirty="0"/>
          </a:p>
        </p:txBody>
      </p:sp>
      <p:sp>
        <p:nvSpPr>
          <p:cNvPr id="61" name="anim-g7-1747"/>
          <p:cNvSpPr/>
          <p:nvPr/>
        </p:nvSpPr>
        <p:spPr>
          <a:xfrm>
            <a:off x="9836247" y="4934712"/>
            <a:ext cx="1532489" cy="293624"/>
          </a:xfrm>
          <a:prstGeom prst="roundRect">
            <a:avLst>
              <a:gd name="adj" fmla="val 37370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62" name="anim-g7-1748"/>
          <p:cNvSpPr/>
          <p:nvPr/>
        </p:nvSpPr>
        <p:spPr>
          <a:xfrm>
            <a:off x="9973407" y="4934712"/>
            <a:ext cx="1258169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٧</a:t>
            </a:r>
            <a:endParaRPr lang="ar-SA" sz="2100" dirty="0"/>
          </a:p>
        </p:txBody>
      </p:sp>
      <p:sp>
        <p:nvSpPr>
          <p:cNvPr id="63" name="anim-g7-1749"/>
          <p:cNvSpPr/>
          <p:nvPr/>
        </p:nvSpPr>
        <p:spPr>
          <a:xfrm>
            <a:off x="6661541" y="4934712"/>
            <a:ext cx="3064977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4" name="anim-g7-1750"/>
          <p:cNvSpPr/>
          <p:nvPr/>
        </p:nvSpPr>
        <p:spPr>
          <a:xfrm>
            <a:off x="6798701" y="4934712"/>
            <a:ext cx="279065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🤖٦ المتكاملة</a:t>
            </a:r>
            <a:endParaRPr lang="ar-SA" sz="2100" dirty="0"/>
          </a:p>
        </p:txBody>
      </p:sp>
      <p:sp>
        <p:nvSpPr>
          <p:cNvPr id="65" name="anim-g7-1751"/>
          <p:cNvSpPr/>
          <p:nvPr/>
        </p:nvSpPr>
        <p:spPr>
          <a:xfrm>
            <a:off x="4763910" y="4934712"/>
            <a:ext cx="1787903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6" name="anim-g7-1752"/>
          <p:cNvSpPr/>
          <p:nvPr/>
        </p:nvSpPr>
        <p:spPr>
          <a:xfrm>
            <a:off x="4901070" y="4934712"/>
            <a:ext cx="1513583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٩</a:t>
            </a:r>
            <a:endParaRPr lang="ar-SA" sz="2100" dirty="0"/>
          </a:p>
        </p:txBody>
      </p:sp>
      <p:sp>
        <p:nvSpPr>
          <p:cNvPr id="67" name="anim-g7-1753"/>
          <p:cNvSpPr/>
          <p:nvPr/>
        </p:nvSpPr>
        <p:spPr>
          <a:xfrm>
            <a:off x="822960" y="4934712"/>
            <a:ext cx="3831222" cy="293624"/>
          </a:xfrm>
          <a:prstGeom prst="roundRect">
            <a:avLst>
              <a:gd name="adj" fmla="val 37370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68" name="anim-g7-1754"/>
          <p:cNvSpPr/>
          <p:nvPr/>
        </p:nvSpPr>
        <p:spPr>
          <a:xfrm>
            <a:off x="960120" y="4934712"/>
            <a:ext cx="3556902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الحلبة الشاملة</a:t>
            </a:r>
            <a:endParaRPr lang="ar-SA" sz="2100" dirty="0"/>
          </a:p>
        </p:txBody>
      </p:sp>
      <p:sp>
        <p:nvSpPr>
          <p:cNvPr id="69" name="anim-g8-1755"/>
          <p:cNvSpPr/>
          <p:nvPr/>
        </p:nvSpPr>
        <p:spPr>
          <a:xfrm>
            <a:off x="9836247" y="5338064"/>
            <a:ext cx="1532489" cy="293624"/>
          </a:xfrm>
          <a:prstGeom prst="roundRect">
            <a:avLst>
              <a:gd name="adj" fmla="val 37370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70" name="anim-g8-1756"/>
          <p:cNvSpPr/>
          <p:nvPr/>
        </p:nvSpPr>
        <p:spPr>
          <a:xfrm>
            <a:off x="9973407" y="5338064"/>
            <a:ext cx="1258169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٨–٩</a:t>
            </a:r>
            <a:endParaRPr lang="ar-SA" sz="2100" dirty="0"/>
          </a:p>
        </p:txBody>
      </p:sp>
      <p:sp>
        <p:nvSpPr>
          <p:cNvPr id="71" name="anim-g8-1757"/>
          <p:cNvSpPr/>
          <p:nvPr/>
        </p:nvSpPr>
        <p:spPr>
          <a:xfrm>
            <a:off x="6661541" y="5338064"/>
            <a:ext cx="3064977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72" name="anim-g8-1758"/>
          <p:cNvSpPr/>
          <p:nvPr/>
        </p:nvSpPr>
        <p:spPr>
          <a:xfrm>
            <a:off x="6798701" y="5338064"/>
            <a:ext cx="279065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روبوت الكرة</a:t>
            </a:r>
            <a:endParaRPr lang="ar-SA" sz="2100" dirty="0"/>
          </a:p>
        </p:txBody>
      </p:sp>
      <p:sp>
        <p:nvSpPr>
          <p:cNvPr id="73" name="anim-g8-1759"/>
          <p:cNvSpPr/>
          <p:nvPr/>
        </p:nvSpPr>
        <p:spPr>
          <a:xfrm>
            <a:off x="4763910" y="5338064"/>
            <a:ext cx="1787903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74" name="anim-g8-1760"/>
          <p:cNvSpPr/>
          <p:nvPr/>
        </p:nvSpPr>
        <p:spPr>
          <a:xfrm>
            <a:off x="4901070" y="5338064"/>
            <a:ext cx="1513583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١٠–١٢</a:t>
            </a:r>
            <a:endParaRPr lang="ar-SA" sz="2100" dirty="0"/>
          </a:p>
        </p:txBody>
      </p:sp>
      <p:sp>
        <p:nvSpPr>
          <p:cNvPr id="75" name="anim-g8-1761"/>
          <p:cNvSpPr/>
          <p:nvPr/>
        </p:nvSpPr>
        <p:spPr>
          <a:xfrm>
            <a:off x="822960" y="5338064"/>
            <a:ext cx="3831222" cy="293624"/>
          </a:xfrm>
          <a:prstGeom prst="roundRect">
            <a:avLst>
              <a:gd name="adj" fmla="val 37370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76" name="anim-g8-1762"/>
          <p:cNvSpPr/>
          <p:nvPr/>
        </p:nvSpPr>
        <p:spPr>
          <a:xfrm>
            <a:off x="960120" y="5338064"/>
            <a:ext cx="3556902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قاعدة ثلاثية تُقاد من الجوال</a:t>
            </a:r>
            <a:endParaRPr lang="ar-SA" sz="2100" dirty="0"/>
          </a:p>
        </p:txBody>
      </p:sp>
      <p:sp>
        <p:nvSpPr>
          <p:cNvPr id="77" name="anim-g9-1763"/>
          <p:cNvSpPr/>
          <p:nvPr/>
        </p:nvSpPr>
        <p:spPr>
          <a:xfrm>
            <a:off x="9836247" y="5741416"/>
            <a:ext cx="1532489" cy="293624"/>
          </a:xfrm>
          <a:prstGeom prst="roundRect">
            <a:avLst>
              <a:gd name="adj" fmla="val 37370"/>
            </a:avLst>
          </a:prstGeom>
          <a:solidFill>
            <a:srgbClr val="FBF3DF"/>
          </a:solidFill>
          <a:ln w="12700">
            <a:solidFill>
              <a:srgbClr val="EFDDAF"/>
            </a:solidFill>
            <a:prstDash val="solid"/>
          </a:ln>
        </p:spPr>
      </p:sp>
      <p:sp>
        <p:nvSpPr>
          <p:cNvPr id="78" name="anim-g9-1764"/>
          <p:cNvSpPr/>
          <p:nvPr/>
        </p:nvSpPr>
        <p:spPr>
          <a:xfrm>
            <a:off x="9973407" y="5741416"/>
            <a:ext cx="1258169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١٠</a:t>
            </a:r>
            <a:endParaRPr lang="ar-SA" sz="2100" dirty="0"/>
          </a:p>
        </p:txBody>
      </p:sp>
      <p:sp>
        <p:nvSpPr>
          <p:cNvPr id="79" name="anim-g9-1765"/>
          <p:cNvSpPr/>
          <p:nvPr/>
        </p:nvSpPr>
        <p:spPr>
          <a:xfrm>
            <a:off x="6661541" y="5741416"/>
            <a:ext cx="3064977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80" name="anim-g9-1766"/>
          <p:cNvSpPr/>
          <p:nvPr/>
        </p:nvSpPr>
        <p:spPr>
          <a:xfrm>
            <a:off x="6798701" y="5741416"/>
            <a:ext cx="2790657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⚽ كأس جذور</a:t>
            </a:r>
            <a:endParaRPr lang="ar-SA" sz="2100" dirty="0"/>
          </a:p>
        </p:txBody>
      </p:sp>
      <p:sp>
        <p:nvSpPr>
          <p:cNvPr id="81" name="anim-g9-1767"/>
          <p:cNvSpPr/>
          <p:nvPr/>
        </p:nvSpPr>
        <p:spPr>
          <a:xfrm>
            <a:off x="4763910" y="5741416"/>
            <a:ext cx="1787903" cy="293624"/>
          </a:xfrm>
          <a:prstGeom prst="roundRect">
            <a:avLst>
              <a:gd name="adj" fmla="val 3737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82" name="anim-g9-1768"/>
          <p:cNvSpPr/>
          <p:nvPr/>
        </p:nvSpPr>
        <p:spPr>
          <a:xfrm>
            <a:off x="4901070" y="5741416"/>
            <a:ext cx="1513583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١٣</a:t>
            </a:r>
            <a:endParaRPr lang="ar-SA" sz="2100" dirty="0"/>
          </a:p>
        </p:txBody>
      </p:sp>
      <p:sp>
        <p:nvSpPr>
          <p:cNvPr id="83" name="anim-g9-1769"/>
          <p:cNvSpPr/>
          <p:nvPr/>
        </p:nvSpPr>
        <p:spPr>
          <a:xfrm>
            <a:off x="822960" y="5741416"/>
            <a:ext cx="3831222" cy="293624"/>
          </a:xfrm>
          <a:prstGeom prst="roundRect">
            <a:avLst>
              <a:gd name="adj" fmla="val 37370"/>
            </a:avLst>
          </a:prstGeom>
          <a:solidFill>
            <a:srgbClr val="E6F4EC"/>
          </a:solidFill>
          <a:ln w="12700">
            <a:solidFill>
              <a:srgbClr val="CDE9D9"/>
            </a:solidFill>
            <a:prstDash val="solid"/>
          </a:ln>
        </p:spPr>
      </p:sp>
      <p:sp>
        <p:nvSpPr>
          <p:cNvPr id="84" name="anim-g9-1770"/>
          <p:cNvSpPr/>
          <p:nvPr/>
        </p:nvSpPr>
        <p:spPr>
          <a:xfrm>
            <a:off x="960120" y="5741416"/>
            <a:ext cx="3556902" cy="2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rgbClr val="1D5E4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البطولة + المعرض</a:t>
            </a:r>
            <a:endParaRPr lang="ar-SA" sz="2100" dirty="0"/>
          </a:p>
        </p:txBody>
      </p:sp>
      <p:sp>
        <p:nvSpPr>
          <p:cNvPr id="85" name="Text 8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86" name="Text 8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الختام  ·  ١٨٦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88959" y="457200"/>
            <a:ext cx="2779776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588959" y="45720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بعد هذه الدورة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إلى أين بعد ذلك؟</a:t>
            </a:r>
            <a:endParaRPr lang="ar-SA" sz="3800" dirty="0"/>
          </a:p>
        </p:txBody>
      </p:sp>
      <p:sp>
        <p:nvSpPr>
          <p:cNvPr id="5" name="anim-g1-1771"/>
          <p:cNvSpPr/>
          <p:nvPr/>
        </p:nvSpPr>
        <p:spPr>
          <a:xfrm>
            <a:off x="8036357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6" name="anim-g1-1772"/>
          <p:cNvSpPr/>
          <p:nvPr/>
        </p:nvSpPr>
        <p:spPr>
          <a:xfrm>
            <a:off x="10527487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7" name="anim-g1-1773"/>
          <p:cNvSpPr/>
          <p:nvPr/>
        </p:nvSpPr>
        <p:spPr>
          <a:xfrm>
            <a:off x="10527487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🎛️</a:t>
            </a:r>
            <a:endParaRPr lang="ar-SA" sz="2200" dirty="0"/>
          </a:p>
        </p:txBody>
      </p:sp>
      <p:sp>
        <p:nvSpPr>
          <p:cNvPr id="8" name="anim-g1-1774"/>
          <p:cNvSpPr/>
          <p:nvPr/>
        </p:nvSpPr>
        <p:spPr>
          <a:xfrm>
            <a:off x="8310677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PID</a:t>
            </a:r>
            <a:endParaRPr lang="ar-SA" sz="2200" dirty="0"/>
          </a:p>
        </p:txBody>
      </p:sp>
      <p:sp>
        <p:nvSpPr>
          <p:cNvPr id="9" name="anim-g1-1775"/>
          <p:cNvSpPr/>
          <p:nvPr/>
        </p:nvSpPr>
        <p:spPr>
          <a:xfrm>
            <a:off x="8310677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متتبع خط ناعم كالحرير بالقراءات التماثلية A0</a:t>
            </a:r>
            <a:endParaRPr lang="ar-SA" sz="1900" dirty="0"/>
          </a:p>
        </p:txBody>
      </p:sp>
      <p:sp>
        <p:nvSpPr>
          <p:cNvPr id="10" name="anim-g2-1776"/>
          <p:cNvSpPr/>
          <p:nvPr/>
        </p:nvSpPr>
        <p:spPr>
          <a:xfrm>
            <a:off x="4429658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1" name="anim-g2-1777"/>
          <p:cNvSpPr/>
          <p:nvPr/>
        </p:nvSpPr>
        <p:spPr>
          <a:xfrm>
            <a:off x="6920789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2" name="anim-g2-1778"/>
          <p:cNvSpPr/>
          <p:nvPr/>
        </p:nvSpPr>
        <p:spPr>
          <a:xfrm>
            <a:off x="6920789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🧭</a:t>
            </a:r>
            <a:endParaRPr lang="ar-SA" sz="2200" dirty="0"/>
          </a:p>
        </p:txBody>
      </p:sp>
      <p:sp>
        <p:nvSpPr>
          <p:cNvPr id="13" name="anim-g2-1779"/>
          <p:cNvSpPr/>
          <p:nvPr/>
        </p:nvSpPr>
        <p:spPr>
          <a:xfrm>
            <a:off x="4703978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البوصلة MPU/QMC</a:t>
            </a:r>
            <a:endParaRPr lang="ar-SA" sz="2200" dirty="0"/>
          </a:p>
        </p:txBody>
      </p:sp>
      <p:sp>
        <p:nvSpPr>
          <p:cNvPr id="14" name="anim-g2-1780"/>
          <p:cNvSpPr/>
          <p:nvPr/>
        </p:nvSpPr>
        <p:spPr>
          <a:xfrm>
            <a:off x="4703978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إطار الملعب لروبوت الكرة</a:t>
            </a:r>
            <a:endParaRPr lang="ar-SA" sz="1900" dirty="0"/>
          </a:p>
        </p:txBody>
      </p:sp>
      <p:sp>
        <p:nvSpPr>
          <p:cNvPr id="15" name="anim-g3-1781"/>
          <p:cNvSpPr/>
          <p:nvPr/>
        </p:nvSpPr>
        <p:spPr>
          <a:xfrm>
            <a:off x="822960" y="201168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16" name="anim-g3-1782"/>
          <p:cNvSpPr/>
          <p:nvPr/>
        </p:nvSpPr>
        <p:spPr>
          <a:xfrm>
            <a:off x="3314090" y="226771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17" name="anim-g3-1783"/>
          <p:cNvSpPr/>
          <p:nvPr/>
        </p:nvSpPr>
        <p:spPr>
          <a:xfrm>
            <a:off x="331409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🔴</a:t>
            </a:r>
            <a:endParaRPr lang="ar-SA" sz="2200" dirty="0"/>
          </a:p>
        </p:txBody>
      </p:sp>
      <p:sp>
        <p:nvSpPr>
          <p:cNvPr id="18" name="anim-g3-1784"/>
          <p:cNvSpPr/>
          <p:nvPr/>
        </p:nvSpPr>
        <p:spPr>
          <a:xfrm>
            <a:off x="1097280" y="294436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كرة IR</a:t>
            </a:r>
            <a:endParaRPr lang="ar-SA" sz="2200" dirty="0"/>
          </a:p>
        </p:txBody>
      </p:sp>
      <p:sp>
        <p:nvSpPr>
          <p:cNvPr id="19" name="anim-g3-1785"/>
          <p:cNvSpPr/>
          <p:nvPr/>
        </p:nvSpPr>
        <p:spPr>
          <a:xfrm>
            <a:off x="1097280" y="349300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روبوت كرة ذاتي كـ RoboCup</a:t>
            </a:r>
            <a:endParaRPr lang="ar-SA" sz="1900" dirty="0"/>
          </a:p>
        </p:txBody>
      </p:sp>
      <p:sp>
        <p:nvSpPr>
          <p:cNvPr id="20" name="anim-g4-1786"/>
          <p:cNvSpPr/>
          <p:nvPr/>
        </p:nvSpPr>
        <p:spPr>
          <a:xfrm>
            <a:off x="8036357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1" name="anim-g4-1787"/>
          <p:cNvSpPr/>
          <p:nvPr/>
        </p:nvSpPr>
        <p:spPr>
          <a:xfrm>
            <a:off x="10527487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2" name="anim-g4-1788"/>
          <p:cNvSpPr/>
          <p:nvPr/>
        </p:nvSpPr>
        <p:spPr>
          <a:xfrm>
            <a:off x="10527487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📷</a:t>
            </a:r>
            <a:endParaRPr lang="ar-SA" sz="2200" dirty="0"/>
          </a:p>
        </p:txBody>
      </p:sp>
      <p:sp>
        <p:nvSpPr>
          <p:cNvPr id="23" name="anim-g4-1789"/>
          <p:cNvSpPr/>
          <p:nvPr/>
        </p:nvSpPr>
        <p:spPr>
          <a:xfrm>
            <a:off x="8310677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ESP32-CAM</a:t>
            </a:r>
            <a:endParaRPr lang="ar-SA" sz="2200" dirty="0"/>
          </a:p>
        </p:txBody>
      </p:sp>
      <p:sp>
        <p:nvSpPr>
          <p:cNvPr id="24" name="anim-g4-1790"/>
          <p:cNvSpPr/>
          <p:nvPr/>
        </p:nvSpPr>
        <p:spPr>
          <a:xfrm>
            <a:off x="8310677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عين حقيقية تبث للجوال</a:t>
            </a:r>
            <a:endParaRPr lang="ar-SA" sz="1900" dirty="0"/>
          </a:p>
        </p:txBody>
      </p:sp>
      <p:sp>
        <p:nvSpPr>
          <p:cNvPr id="25" name="anim-g5-1791"/>
          <p:cNvSpPr/>
          <p:nvPr/>
        </p:nvSpPr>
        <p:spPr>
          <a:xfrm>
            <a:off x="4429658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26" name="anim-g5-1792"/>
          <p:cNvSpPr/>
          <p:nvPr/>
        </p:nvSpPr>
        <p:spPr>
          <a:xfrm>
            <a:off x="6920789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27" name="anim-g5-1793"/>
          <p:cNvSpPr/>
          <p:nvPr/>
        </p:nvSpPr>
        <p:spPr>
          <a:xfrm>
            <a:off x="6920789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🔵</a:t>
            </a:r>
            <a:endParaRPr lang="ar-SA" sz="2200" dirty="0"/>
          </a:p>
        </p:txBody>
      </p:sp>
      <p:sp>
        <p:nvSpPr>
          <p:cNvPr id="28" name="anim-g5-1794"/>
          <p:cNvSpPr/>
          <p:nvPr/>
        </p:nvSpPr>
        <p:spPr>
          <a:xfrm>
            <a:off x="4703978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BLE</a:t>
            </a:r>
            <a:endParaRPr lang="ar-SA" sz="2200" dirty="0"/>
          </a:p>
        </p:txBody>
      </p:sp>
      <p:sp>
        <p:nvSpPr>
          <p:cNvPr id="29" name="anim-g5-1795"/>
          <p:cNvSpPr/>
          <p:nvPr/>
        </p:nvSpPr>
        <p:spPr>
          <a:xfrm>
            <a:off x="4703978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تحكم بالبلوتوث منخفض الطاقة</a:t>
            </a:r>
            <a:endParaRPr lang="ar-SA" sz="1900" dirty="0"/>
          </a:p>
        </p:txBody>
      </p:sp>
      <p:sp>
        <p:nvSpPr>
          <p:cNvPr id="30" name="anim-g6-1796"/>
          <p:cNvSpPr/>
          <p:nvPr/>
        </p:nvSpPr>
        <p:spPr>
          <a:xfrm>
            <a:off x="822960" y="4137660"/>
            <a:ext cx="3332378" cy="1897380"/>
          </a:xfrm>
          <a:prstGeom prst="roundRect">
            <a:avLst>
              <a:gd name="adj" fmla="val 8675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45">
                <a:alpha val="8000"/>
              </a:srgbClr>
            </a:outerShdw>
          </a:effectLst>
        </p:spPr>
      </p:sp>
      <p:sp>
        <p:nvSpPr>
          <p:cNvPr id="31" name="anim-g6-1797"/>
          <p:cNvSpPr/>
          <p:nvPr/>
        </p:nvSpPr>
        <p:spPr>
          <a:xfrm>
            <a:off x="3314090" y="4393692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F7E6BC"/>
          </a:solidFill>
          <a:ln/>
        </p:spPr>
      </p:sp>
      <p:sp>
        <p:nvSpPr>
          <p:cNvPr id="32" name="anim-g6-1798"/>
          <p:cNvSpPr/>
          <p:nvPr/>
        </p:nvSpPr>
        <p:spPr>
          <a:xfrm>
            <a:off x="3314090" y="43936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🦾</a:t>
            </a:r>
            <a:endParaRPr lang="ar-SA" sz="2200" dirty="0"/>
          </a:p>
        </p:txBody>
      </p:sp>
      <p:sp>
        <p:nvSpPr>
          <p:cNvPr id="33" name="anim-g6-1799"/>
          <p:cNvSpPr/>
          <p:nvPr/>
        </p:nvSpPr>
        <p:spPr>
          <a:xfrm>
            <a:off x="1097280" y="507034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رامي الكرة</a:t>
            </a:r>
            <a:endParaRPr lang="ar-SA" sz="2200" dirty="0"/>
          </a:p>
        </p:txBody>
      </p:sp>
      <p:sp>
        <p:nvSpPr>
          <p:cNvPr id="34" name="anim-g6-1800"/>
          <p:cNvSpPr/>
          <p:nvPr/>
        </p:nvSpPr>
        <p:spPr>
          <a:xfrm>
            <a:off x="1097280" y="5618988"/>
            <a:ext cx="27837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19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سيرفو أو ملف كهربائي على نصف الدرايفر الثاني</a:t>
            </a:r>
            <a:endParaRPr lang="ar-SA" sz="1900" dirty="0"/>
          </a:p>
        </p:txBody>
      </p:sp>
      <p:sp>
        <p:nvSpPr>
          <p:cNvPr id="35" name="Text 3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الختام  ·  ١٨٧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88959" y="457200"/>
            <a:ext cx="2779776" cy="457200"/>
          </a:xfrm>
          <a:prstGeom prst="roundRect">
            <a:avLst>
              <a:gd name="adj" fmla="val 50000"/>
            </a:avLst>
          </a:prstGeom>
          <a:solidFill>
            <a:srgbClr val="F6EBCF"/>
          </a:solidFill>
          <a:ln/>
        </p:spPr>
      </p:sp>
      <p:sp>
        <p:nvSpPr>
          <p:cNvPr id="3" name="Text 1"/>
          <p:cNvSpPr/>
          <p:nvPr/>
        </p:nvSpPr>
        <p:spPr>
          <a:xfrm>
            <a:off x="8588959" y="45720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B08A2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خلاصة الخلاصات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800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خمسة دروس تبقى بعد نسيان الأرقام</a:t>
            </a:r>
            <a:endParaRPr lang="ar-SA" sz="3800" dirty="0"/>
          </a:p>
        </p:txBody>
      </p:sp>
      <p:sp>
        <p:nvSpPr>
          <p:cNvPr id="5" name="anim-g1-1801"/>
          <p:cNvSpPr/>
          <p:nvPr/>
        </p:nvSpPr>
        <p:spPr>
          <a:xfrm>
            <a:off x="822960" y="1920240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6" name="anim-g1-1802"/>
          <p:cNvSpPr/>
          <p:nvPr/>
        </p:nvSpPr>
        <p:spPr>
          <a:xfrm>
            <a:off x="10587838" y="2011680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7" name="anim-g1-1803"/>
          <p:cNvSpPr/>
          <p:nvPr/>
        </p:nvSpPr>
        <p:spPr>
          <a:xfrm>
            <a:off x="10587838" y="2011680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١</a:t>
            </a:r>
            <a:endParaRPr lang="ar-SA" sz="2000" dirty="0"/>
          </a:p>
        </p:txBody>
      </p:sp>
      <p:sp>
        <p:nvSpPr>
          <p:cNvPr id="8" name="anim-g1-1804"/>
          <p:cNvSpPr/>
          <p:nvPr/>
        </p:nvSpPr>
        <p:spPr>
          <a:xfrm>
            <a:off x="1097280" y="1920240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ابنِ فوق ما بنيت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لا تهدم: أضف قطعة واحدة كل مرة</a:t>
            </a:r>
            <a:endParaRPr lang="ar-SA" sz="2200" dirty="0"/>
          </a:p>
        </p:txBody>
      </p:sp>
      <p:sp>
        <p:nvSpPr>
          <p:cNvPr id="9" name="anim-g2-1805"/>
          <p:cNvSpPr/>
          <p:nvPr/>
        </p:nvSpPr>
        <p:spPr>
          <a:xfrm>
            <a:off x="822960" y="2765146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0" name="anim-g2-1806"/>
          <p:cNvSpPr/>
          <p:nvPr/>
        </p:nvSpPr>
        <p:spPr>
          <a:xfrm>
            <a:off x="10587838" y="2856586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1" name="anim-g2-1807"/>
          <p:cNvSpPr/>
          <p:nvPr/>
        </p:nvSpPr>
        <p:spPr>
          <a:xfrm>
            <a:off x="10587838" y="2856586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٢</a:t>
            </a:r>
            <a:endParaRPr lang="ar-SA" sz="2000" dirty="0"/>
          </a:p>
        </p:txBody>
      </p:sp>
      <p:sp>
        <p:nvSpPr>
          <p:cNvPr id="12" name="anim-g2-1808"/>
          <p:cNvSpPr/>
          <p:nvPr/>
        </p:nvSpPr>
        <p:spPr>
          <a:xfrm>
            <a:off x="1097280" y="2765146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افحص كل قطعة وحدها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MotorTest وIRTest قبل أي ذكاء</a:t>
            </a:r>
            <a:endParaRPr lang="ar-SA" sz="2200" dirty="0"/>
          </a:p>
        </p:txBody>
      </p:sp>
      <p:sp>
        <p:nvSpPr>
          <p:cNvPr id="13" name="anim-g3-1809"/>
          <p:cNvSpPr/>
          <p:nvPr/>
        </p:nvSpPr>
        <p:spPr>
          <a:xfrm>
            <a:off x="822960" y="3610051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4" name="anim-g3-1810"/>
          <p:cNvSpPr/>
          <p:nvPr/>
        </p:nvSpPr>
        <p:spPr>
          <a:xfrm>
            <a:off x="10587838" y="3701491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5" name="anim-g3-1811"/>
          <p:cNvSpPr/>
          <p:nvPr/>
        </p:nvSpPr>
        <p:spPr>
          <a:xfrm>
            <a:off x="10587838" y="3701491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٣</a:t>
            </a:r>
            <a:endParaRPr lang="ar-SA" sz="2000" dirty="0"/>
          </a:p>
        </p:txBody>
      </p:sp>
      <p:sp>
        <p:nvSpPr>
          <p:cNvPr id="16" name="anim-g3-1812"/>
          <p:cNvSpPr/>
          <p:nvPr/>
        </p:nvSpPr>
        <p:spPr>
          <a:xfrm>
            <a:off x="1097280" y="3610051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السلامة أولًا في الكود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Failsafe، والحافة أولًا، والحساس له الكلمة الأخيرة</a:t>
            </a:r>
            <a:endParaRPr lang="ar-SA" sz="2200" dirty="0"/>
          </a:p>
        </p:txBody>
      </p:sp>
      <p:sp>
        <p:nvSpPr>
          <p:cNvPr id="17" name="anim-g4-1813"/>
          <p:cNvSpPr/>
          <p:nvPr/>
        </p:nvSpPr>
        <p:spPr>
          <a:xfrm>
            <a:off x="822960" y="4454957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8" name="anim-g4-1814"/>
          <p:cNvSpPr/>
          <p:nvPr/>
        </p:nvSpPr>
        <p:spPr>
          <a:xfrm>
            <a:off x="10587838" y="4546397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19" name="anim-g4-1815"/>
          <p:cNvSpPr/>
          <p:nvPr/>
        </p:nvSpPr>
        <p:spPr>
          <a:xfrm>
            <a:off x="10587838" y="4546397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٤</a:t>
            </a:r>
            <a:endParaRPr lang="ar-SA" sz="2000" dirty="0"/>
          </a:p>
        </p:txBody>
      </p:sp>
      <p:sp>
        <p:nvSpPr>
          <p:cNvPr id="20" name="anim-g4-1816"/>
          <p:cNvSpPr/>
          <p:nvPr/>
        </p:nvSpPr>
        <p:spPr>
          <a:xfrm>
            <a:off x="1097280" y="4454957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الدوال قطع ليغو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followLine من المحور ٦ عاشت حتى المحور ٩</a:t>
            </a:r>
            <a:endParaRPr lang="ar-SA" sz="2200" dirty="0"/>
          </a:p>
        </p:txBody>
      </p:sp>
      <p:sp>
        <p:nvSpPr>
          <p:cNvPr id="21" name="anim-g5-1817"/>
          <p:cNvSpPr/>
          <p:nvPr/>
        </p:nvSpPr>
        <p:spPr>
          <a:xfrm>
            <a:off x="822960" y="5299862"/>
            <a:ext cx="10545775" cy="735178"/>
          </a:xfrm>
          <a:prstGeom prst="roundRect">
            <a:avLst>
              <a:gd name="adj" fmla="val 19900"/>
            </a:avLst>
          </a:prstGeom>
          <a:solidFill>
            <a:srgbClr val="FFFFF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2" name="anim-g5-1818"/>
          <p:cNvSpPr/>
          <p:nvPr/>
        </p:nvSpPr>
        <p:spPr>
          <a:xfrm>
            <a:off x="10587838" y="5391302"/>
            <a:ext cx="552298" cy="552298"/>
          </a:xfrm>
          <a:prstGeom prst="ellipse">
            <a:avLst/>
          </a:prstGeom>
          <a:solidFill>
            <a:srgbClr val="D9AE4B"/>
          </a:solidFill>
          <a:ln/>
        </p:spPr>
      </p:sp>
      <p:sp>
        <p:nvSpPr>
          <p:cNvPr id="23" name="anim-g5-1819"/>
          <p:cNvSpPr/>
          <p:nvPr/>
        </p:nvSpPr>
        <p:spPr>
          <a:xfrm>
            <a:off x="10587838" y="5391302"/>
            <a:ext cx="552298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0A1230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٥</a:t>
            </a:r>
            <a:endParaRPr lang="ar-SA" sz="2000" dirty="0"/>
          </a:p>
        </p:txBody>
      </p:sp>
      <p:sp>
        <p:nvSpPr>
          <p:cNvPr id="24" name="anim-g5-1820"/>
          <p:cNvSpPr/>
          <p:nvPr/>
        </p:nvSpPr>
        <p:spPr>
          <a:xfrm>
            <a:off x="1097280" y="5299862"/>
            <a:ext cx="9261958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101B45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الواقع ليس كالحاسوب</a:t>
            </a:r>
            <a:pPr algn="r" indent="0" marL="0">
              <a:buNone/>
            </a:pPr>
            <a:r>
              <a:rPr lang="ar-SA" altLang="en-US" sz="1800" b="1" dirty="0">
                <a:solidFill>
                  <a:srgbClr val="3B446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  — معايرة، وبطاريات، واحتكاك… واختبار ٣ مرات</a:t>
            </a:r>
            <a:endParaRPr lang="ar-SA" sz="2200" dirty="0"/>
          </a:p>
        </p:txBody>
      </p:sp>
      <p:sp>
        <p:nvSpPr>
          <p:cNvPr id="25" name="Text 2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5E678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الختام  ·  ١٨٨</a:t>
            </a:r>
            <a:endParaRPr lang="ar-SA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4328" y="11887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3A3A45">
              <a:alpha val="60000"/>
            </a:srgbClr>
          </a:solidFill>
          <a:ln w="12700">
            <a:solidFill>
              <a:srgbClr val="D9AE4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64328" y="1188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0CC7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شكرًا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كل روبوت يقف على كتف الذي قبله…</a:t>
            </a:r>
            <a:endParaRPr lang="ar-SA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4400" dirty="0">
                <a:solidFill>
                  <a:srgbClr val="F0CC7A"/>
                </a:solidFill>
                <a:latin typeface="Cairo Black" pitchFamily="34" charset="0"/>
                <a:ea typeface="Cairo Black" pitchFamily="34" charset="-122"/>
                <a:cs typeface="Cairo Black" pitchFamily="34" charset="-120"/>
              </a:rPr>
              <a:t> وكذلك كل طالب يقف على كتف معلمه</a:t>
            </a:r>
            <a:endParaRPr lang="ar-SA" sz="4400" dirty="0"/>
          </a:p>
        </p:txBody>
      </p:sp>
      <p:sp>
        <p:nvSpPr>
          <p:cNvPr id="5" name="Text 3"/>
          <p:cNvSpPr/>
          <p:nvPr/>
        </p:nvSpPr>
        <p:spPr>
          <a:xfrm>
            <a:off x="77111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 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D9AE4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جذور</a:t>
            </a:r>
            <a:pPr algn="r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· ESP32 للمعلمين ٣</a:t>
            </a:r>
            <a:endParaRPr lang="ar-SA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الختام  ·  ١٨٩</a:t>
            </a:r>
            <a:endParaRPr lang="ar-SA" sz="12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15788" y="914400"/>
            <a:ext cx="960120" cy="960120"/>
          </a:xfrm>
          <a:prstGeom prst="roundRect">
            <a:avLst>
              <a:gd name="adj" fmla="val 26667"/>
            </a:avLst>
          </a:prstGeom>
          <a:solidFill>
            <a:srgbClr val="D9AE4B"/>
          </a:solidFill>
          <a:ln/>
        </p:spPr>
      </p:sp>
      <p:sp>
        <p:nvSpPr>
          <p:cNvPr id="3" name="Text 1"/>
          <p:cNvSpPr/>
          <p:nvPr/>
        </p:nvSpPr>
        <p:spPr>
          <a:xfrm>
            <a:off x="5615788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31B3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🌳</a:t>
            </a:r>
            <a:endParaRPr lang="ar-SA" sz="4400" dirty="0"/>
          </a:p>
        </p:txBody>
      </p:sp>
      <p:sp>
        <p:nvSpPr>
          <p:cNvPr id="4" name="Text 2"/>
          <p:cNvSpPr/>
          <p:nvPr/>
        </p:nvSpPr>
        <p:spPr>
          <a:xfrm>
            <a:off x="0" y="219456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ar-SA" sz="80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ar-SA" sz="2800" dirty="0"/>
          </a:p>
        </p:txBody>
      </p:sp>
      <p:sp>
        <p:nvSpPr>
          <p:cNvPr id="6" name="Shape 4"/>
          <p:cNvSpPr/>
          <p:nvPr/>
        </p:nvSpPr>
        <p:spPr>
          <a:xfrm>
            <a:off x="5364328" y="4434840"/>
            <a:ext cx="1463040" cy="36576"/>
          </a:xfrm>
          <a:prstGeom prst="rect">
            <a:avLst/>
          </a:prstGeom>
          <a:solidFill>
            <a:srgbClr val="D9AE4B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C9CFE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ESP32 للمعلمين ٣ · إعداد وتقديم: أ. محمد زيتون</a:t>
            </a:r>
            <a:endParaRPr lang="ar-SA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190</Slides>
  <Notes>190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190</vt:i4>
      </vt:variant>
    </vt:vector>
  </HeadingPairs>
  <TitlesOfParts>
    <vt:vector size="19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 للمعلمين ٣</dc:title>
  <dc:subject>PptxGenJS Presentation</dc:subject>
  <dc:creator>أ. محمد زيتون</dc:creator>
  <cp:lastModifiedBy>أ. محمد زيتون</cp:lastModifiedBy>
  <cp:revision>1</cp:revision>
  <dcterms:created xsi:type="dcterms:W3CDTF">2026-10-03T23:01:06Z</dcterms:created>
  <dcterms:modified xsi:type="dcterms:W3CDTF">2026-10-03T23:01:06Z</dcterms:modified>
</cp:coreProperties>
</file>