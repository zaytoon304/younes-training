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Lst>
  <p:notesMasterIdLst>
    <p:notesMasterId r:id="rId1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notesMaster" Target="notesMasters/notesMaster1.xml"/><Relationship Id="rId163" Type="http://schemas.openxmlformats.org/officeDocument/2006/relationships/presProps" Target="presProps.xml"/><Relationship Id="rId164" Type="http://schemas.openxmlformats.org/officeDocument/2006/relationships/viewProps" Target="viewProps.xml"/><Relationship Id="rId165" Type="http://schemas.openxmlformats.org/officeDocument/2006/relationships/theme" Target="theme/theme1.xml"/><Relationship Id="rId1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رحّب بالمعلمين. قل: «في الدورات السابقة بنينا آلات تتحرك. اليوم نبني أنظمة تعيش معنا: مزرعة تسقي نفسها، وبيتًا يحمي أهله».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عرّف بنفسك في أقل من دقيقة، ثم دع الشريحة التالية تتكلم.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اترك المشهد يعمل دقيقة كاملة في صمت: الساعة تدور، والشمس تشرق، والرشاشات تسقي فجرًا، والمروحة تعمل ظهرًا، والمطر يملأ الخزان، والبيت يضيء مع الغروب، ويُقفل الباب ليلًا. ثم اسأل: «كم قرارًا اتخذه الأردوينو في هذا اليوم؟» وعدّوها معًا. كل قرار منها محور في دورتنا.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اربط الدورة برؤية الوطن في الأمن المائي والغذائي والاستدامة. الطالب الذي يبني مزرعة ذكية صغيرة اليوم قد يدير مشروعًا زراعيًا كبيرًا غدًا.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نفس حلقة «يحسّ ← يقرر ← يتحرك» من الجزء الثاني، لكن المشغّل هنا قد يكون جهازًا كبيرًا يعمل بجهد أعلى. لهذا نبدأ بالريليه.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المشروعان (المزرعة والمنزل) يكبران معًا: كل محور يضيف نظامًا، وفي المحورين السادس والحادي عشر ندمج الأنظمة في مشروع كامل.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الأول: الريليه، المفتاح الصغير الذي يحرّك الأجهزة الكبيرة.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أمسك وحدة ريليه وقرّبها من الميكروفون أو من آذان المتدربين، ثم شغّلها: «تِك!». هذه النقرة هي صوت مفتاح حقيقي يُغلق داخلها. الأردوينو لا يستطيع تشغيل مضخة بنفسه، لكنه يستطيع أن يأمر الريليه.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الفكرة العبقرية: الجانبان معزولان تمامًا. الأردوينو لا يلمس كهرباء المضخة أبدًا، بل «يطلب» من المغناطيس أن يغلق المفتاح.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«اكتب HIGH»: يمر التيار في الملف (خطوط زرقاء)، وتنجذب الذراع إلى NO، فتعمل المضخة وينطفئ ليد NC. اضغطه ثانية فيعود كل شيء. ثم اضغط زر «الوحدة تعمل على» لتصبح LOW: كثير من الوحدات في السوق تعمل بالعكس! الآن HIGH يطفئ وLOW يشغّل. هذا أكثر سبب لحيرة الطلاب: «كتبت HIGH ولم يعمل!». الحل: جرّب الوحدة أولًا.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لاحظ أن الأسلاك الحمراء والسوداء في جانب البطارية لا تلمس الأردوينو أبدًا. استخدموا مضخة صغيرة ٥ فولت (تغمر في كوب) وبطارية أو محوّل منفصل. ولا توصلوا شيئًا بكهرباء البيت ٢٢٠ فولت في الفصل.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إن أردت أن تريهم مصباحًا منزليًا يعمل بالأردوينو، استخدم وحدة جاهزة معزولة ومغلقة (Smart Plug للتجارب) وتولَّ أنت التوصيل. الطلاب يكتفون بالتحكم.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التحدي الأخير يُظهر ذكاء NC وNO: ريليه واحد يبدّل بين جهازين.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شاشة LCD، لنرى ما يفكر فيه الأردوينو دون حاسوب.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الشاشة التسلسلية تحتاج حاسوبًا موصولًا. لكن المزرعة في الحقل، والبيت على الجدار. شاشة LCD تجعل المشروع مستقلًا ويفهمه أي أحد.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مكتبة LiquidCrystal_I2C تُثبَّت من مدير المكتبات في Arduino IDE. وفي Tinkercad توجد شاشة LCD 16x2 بلوحة I2C جاهزة.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أكثر مشكلة في الفصل: الشاشة تضيء ولا كتابة، أو مربعات بيضاء. الحل في ٩٠٪ من الحالات: أدِر مقبض التباين الأزرق خلف الشاشة بمفك صغير.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بـ «مرحبًا»: لاحظ المؤشر ينتقل مع setCursor، والسطر المضاء في الكود. ثم «قراءات حية» وحرّك المقابض: هكذا ستبدو شاشة المزرعة. شغّل المضخة ثم أطفئها وانتبه للمسافة بعد ON. ثم «عربي؟»: الشاشة تعرض رموزًا غريبة لأنها لا تعرف العربية. ثم «رمز خاص»: قطرة ماء رسمناها نحن نقطة نقطة.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تحويل الرسم إلى أرقام ثنائية درس رياضيات خفي ورائع.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أول أنظمة المزرعة: الري الآلي.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بسؤال: «متى نسقي النبتة؟» إجابات الطلاب: كل يوم، أو حين تذبل. الأولى تُغرقها أحيانًا، والثانية متأخرة. الحل: نقيس رطوبة التربة نفسها.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نوصي دائمًا بالسعوي (Capacitive Soil Moisture Sensor v1.2). وإن اضطررتم للمقاوم، شغّلوه لحظة القراءة فقط عبر منفذ رقمي، فيعيش أطول.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حساس له رقماه، فالمعايرة خطوة لا تُترك. اطبعوا القراءة على الشاشة التسلسلية أو LCD وسجّلوا الرقمين.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بـ «حد واحد» عند ٤٠٪، والشمس متوسطة: راقب الرطوبة تنخفض ببطء، وحين تقترب من ٤٠ تبدأ المضخة تعمل وتتوقف كل لحظة، ويرتفع عدّاد «مرات التشغيل» بسرعة وتظهر رسالة «الريليه يرتجف!». السبب: القراءة تتذبذب قليلًا حول الحد. ثم اضغط «تخلّف»: المضخة تعمل تحت ٤٠ ولا تتوقف حتى ٦٥: دفعة واحدة طويلة ثم راحة طويلة. هذا ما تفعله الثلاجة والمكيف في بيتك! جرّب أيضًا أن تترك الشمس قوية والحد الأدنى ١٥: ستذبل النبتة.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اغرسوا الحساس حتى الخط المرسوم عليه فقط، فالدائرة الإلكترونية في أعلاه لا تحب الماء. والمضخة الصغيرة تعمل مغمورة دائمًا؛ لا تشغّلوها جافة.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تجربة علمية حقيقية بمجموعة ضابطة، تربط البرمجة بالعلوم والرياضيات والاستدامة.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البيت المحمي، حيث نتحكم في المناخ كله.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البيت المحمي يحبس حرارة الشمس، وهذا نافع في الشتاء وخطر في الصيف: قد تتجاوز الحرارة داخله ٤٠ درجة وتحترق النباتات. مهمة الأردوينو: إبقاء الحرارة في المنطقة المثالية.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البنفسجي؟ النبات يمتص الأحمر والأزرق أكثر من الأخضر في البناء الضوئي، لذلك تبدو إضاءة النمو بنفسجية.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أخوه الأصغر DHT11 أرخص لكنه أقل دقة (٠ إلى ٥٠ درجة بدقة درجتين). وكلاهما يحتاج مكتبة DHT من Adafruit.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راقب الخط الأزرق (حرارة الخارج) والأحمر (حرارة الداخل): في الظهيرة يرتفع الأحمر فوق الأزرق بسبب حبس الشمس. حين يتجاوز ٢٨ تعمل المروحة، والنافذة تنفتح تدريجيًا، ويبقى الأحمر قريبًا من المنطقة المثالية (بين الخطين الذهبيين)، وشريط النمو يتقدم. وفي الفجر والمساء تضيء إضاءة النمو البنفسجية. الآن أطفئ «التحكم الآلي»: يقفز الأحمر فوق ٤٠، ويتحول شريط النمو إلى الأحمر وتذبل النباتات. لا تنسَ أن تعيد تشغيله!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المروحة ١٢ فولت عبر الريليه من مصدر منفصل، والسيرفو من 5V. إن كان السيرفو يرتجف فأضيفوا مكثفًا كبيرًا (٤٧٠ ميكروفاراد) بين طرفي طاقته.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المصباح القوي يرفع حرارة الصندوق بسرعة فيرى الطلاب أثر المروحة خلال دقائق.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الماء نفسه، الخزان والمطر.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المزرعة الذكية لا تسقي فقط، بل تدير الماء: تعرف كم بقي في الخزان، وتملؤه من البئر قبل أن يفرغ، وتلغي الري إن أمطرت.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لا نضع الحساس في الماء؟ لأنه إلكتروني ويتلف، ولأن القياس بلا تلامس أنظف وأطول عمرًا. الحساس نفسه من محور ركن السيارة في الجزء الثاني!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راقب الموجة الخضراء تنزل من الحساس إلى سطح الماء وتعود، ورقم d يتغير. اضغط «ري المزرعة»: ينخفض المستوى، وحين يصل ٢٠٪ يبدأ البئر يملأ حتى ٩٠٪ (تخلّف مرة أخرى!). ثم اضغط «أمطري!»: حساس المطر يتبلل، فيُلغى الري تلقائيًا ويمتلئ الخزان من المطر. وأخيرًا «تسريب»: المستوى ينخفض بلا ري؛ اسأل المتدربين: كيف يكتشف الكود ذلك؟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استنتاج المعادلة من الجدول درس رياضيات حقيقي في العلاقات الخطية.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نجمع كل ما بنينا في مزرعة حية كاملة، ونراقبها يومًا كاملًا.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لحظة الدمج الأولى في الدورة: كل نظام بنيناه وحده يصبح جزءًا من مزرعة واحدة، بأردوينو واحد، وشاشة واحدة.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الأردوينو وحده لا يعرف الساعة؛ millis يبدأ من الصفر كلما أُعيد تشغيله. وحدة RTC هي ساعته الحقيقية.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الأرقام في المحاكي تقريبية لتوضيح الفكرة. اضغط «ابدأ اليوم» وراقب المشهد: الشمس تشرق والقمر يغيب، والرشاشات تعمل فجرًا والمضخة تدور والماء يجري في الأنبوب والخزان ينخفض، والمروحة تدور ظهرًا، وإضاءة النمو البنفسجية تضيء مساءً. شاشة LCD تحت المشهد تعرض الساعة والرطوبة والحرارة والخزان. في منتصف اليوم يأتي مطر فجأة فيُلغى الري. في النهاية سجّل «ماء مستهلك» و«ضاع بالتبخر». الآن بدّل الري إلى «في أي وقت» وأعد اليوم: يسقي ظهرًا أيضًا، فيستهلك نحو ضعف الماء ويضيع جزء كبير منه بالتبخر، والمحصول بالصحة نفسها! هذا هو الدليل بالأرقام على قيمة البرمجة الذكية.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تصميم الشاشة مهارة: معلومات قليلة مهمة، وأولوية للحالات الطارئة.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مشروع ممتد يشارك فيه الفصل كله، وينتج محصولًا حقيقيًا يأكله الطلاب: أقوى دافع للتعلم.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انتهى الجزء الزراعي. المحور التالي: ننتقل إلى البيت، ونبدأ بالإضاءة الذكية.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ننتقل من المزرعة إلى البيت. أول نظام: إضاءة تضيء وحدها حين تدخل الغرفة في الظلام، وتنطفئ بعد أن تخرج بمدة. وهنا نتعلم أهم أداة احترافية: millis.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التشبيه: delay كأنك تقف أمام الفرن ٣٠ دقيقة لا تفعل شيئًا. millis كأنك تنظر إلى الساعة كل قليل وأنت تكمل أعمالك. البيت الذكي فيه عشرات المهام، فلا يحتمل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انقر غرفة فيمشي الشخص إليها: حساس الحركة يومض أحمر، والضوء يضيء، وشريط ذهبي أسفل الغرفة يعدّ تنازليًا. اخرج من الغرفة: يبقى الضوء حتى ينتهي الشريط ثم ينطفئ. لاحظ أن الغرف تعمل معًا في الوقت نفسه: هذا مستحيل بـ delay. ارفع «ضوء النهار» فوق ٣٠٪: لا يضيء شيء لأن النهار كافٍ. وراقب عدّادي الطاقة: البيت الذكي يستهلك جزءًا صغيرًا مما يستهلكه بيت تُترك أضواؤه مضاءة.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الخطأ الثالث مضحك ومفيد: المصباح يضيء فيرى الحساس ضوءًا فيطفئه، ثم يظلم فيضيء… تذبذب! والحل: إبعاد الحساس أو استخدام التخلّف.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الباب الذكي.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بسؤال: «كم مفتاحًا تحمل في جيبك؟» الباب الذكي يستبدلها برقم سري أو بطاقة، ويسجل من دخل ومتى.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تنبيه مهم: وحدة RC522 تتلف إن وُصلت بـ 5V؛ صلوها بـ 3.3V في الأردوينو. وأطرافها على SPI في Uno: SDA على 10، وSCK على 13، وMOSI على 11، وMISO على 12، وRST على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اكتب 2026 ثم #: تظهر نجوم بدل الأرقام على الشاشة، ثم «Welcome home!» وينسحب المزلاج وينفتح الباب ثم يُقفل وحده بعد ٤ ثوانٍ. جرّب رقمًا خاطئًا ثلاث مرات: يُقفل النظام ١٠ ثوانٍ ويُطلق إنذارًا، فلا يستطيع أحد تخمين الرقم. ثم مرّر «بطاقة الأب»: يدخل بلا رقم. ثم «البطاقة المجهولة»: مرفوضة ويظهر رقمها. اسأل: «لماذا نعرض نجومًا بدل الأرقام؟»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الطلاب يعشقون هذا النشاط، ويفهمون منه معنى «الأمن السيبراني» بطريقة ملموسة.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الأمان من الغاز والحريق.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أهم محور في البيت الذكي: الأمان. تسرب الغاز لا يُرى، وقد لا يُشم أثناء النوم. الحساس لا ينام.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معايرة MQ-2: اقرأه في هواء نظيف بعد التسخين، واجعل حد التحذير أعلى من تلك القراءة بوضوح. وللتجربة الآمنة في الفصل: ولاعة غاز مطفأة يُضغط زرها قرب الحساس ثانية واحدة، بإشراف المعلم وبعيدًا عن أي لهب.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انتظر انتهاء «التسخين». ثم ارفع «تسرب الغاز» إلى ٣: يرتفع الخط فوق حد التحذير (٤٠٠) فتظهر «تحذير». ارفعه إلى ٧: يتجاوز ٦٠٠، فيُغلق الصمام، ويعمل الشفاط، وتنفتح النافذة، فيعود الخط للنزول وحده! الآن أطفئ «النظام» وأعد التسرب: يتراكم الغاز ويخضرّ المطبخ بلا استجابة. وأخيرًا «حريق!»: حساس اللهب يطلق الإنذار فورًا. شغّل الصوت لتكتمل التجربة.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المبدأ الثاني أذكاها: إن انقطعت الكهرباء أو احترق السلك، يجب أن يصير النظام في الوضع الآمن تلقائيًا. لهذا نختار صمامًا من نوع «مغلق عادةً».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يجمع البرمجة بالتربية الوقائية، ويمكن ربطه بالدفاع المدني بزيارة أو محاضرة.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الطاقة الشمسية.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المزرعة في مكان بعيد عن الكهرباء، والبيت يريد أن يوفّر. الحل: لوح شمسي وبطارية. لكن البطارية محدودة، فمن يأخذ الطاقة أولًا؟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ما تفعله الأنظمة الكبيرة في المستشفيات والمطارات: «فصل الأحمال» (Load Shedding). الأهم يبقى، والأقل أهمية يُفصل أولًا.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شغّل اليوم بالإدارة الذكية: نهارًا تشحن الشمس البطارية والمكيف يعمل ما دامت قوية، ومساءً يتوقف المكيف وتعمل الإضاءة، والثلاجة تعمل طوال الوقت، والبطارية لا تنفد. الآن اضغط «بلا إدارة»: كل جهاز يعمل متى أراد، والمكيف يستمر مساءً، فتنهار البطارية ليلًا وتنطفئ الثلاجة نفسها! راقب الخط الأخضر على الرسم في الحالتين. الأرقام تقريبية لتوضيح الفكرة.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يجمع التفكير الأخلاقي (ما الأهم؟) بالبرمجة. نتائجه مفاجئة دائمًا.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المنزل الكامل.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لحظة الدمج الثانية: الإضاءة والباب والأمان والطاقة في نظام واحد له «أوضاع». هذه هي الطريقة الاحترافية في كل بيت ذكي حقيقي.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الفكرة العبقرية: الحدث نفسه (حركة في الصالة) معناه مختلف: في وضع «في البيت» يعني «أضئ الضوء»، وفي «خارج البيت» يعني «لص! أرسل إنذارًا». هذا ما تصنعه آلة الحالات.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بوضع «في البيت» واضغط «حركة في الصالة»: يصل إشعار هادئ «أُضيء الضوء». الآن «خارج البيت»: لاحظ تغير كل الأجهزة دفعة واحدة، واضغط «حركة» مرة أخرى: إنذار أحمر على الجوال! جرّب «جرس الباب» في الوضعين. و«تسرب غاز» يعمل في كل الأوضاع لأن الأمان فوق كل شيء. لاحظ السطر المضاء في switch مع كل وضع.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الوضع المبتكر يكشف إبداع الطلاب: «وضع المذاكرة» يغلق التلفاز ويضيء المكتب، و«وضع الصلاة» يخفض الأصوات.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مشروع كبير جديد، الجراج الذكي.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مشروع ضخم يجمع كل ما تعلمناه: حساسات، وسيرفو، وليدات، وشاشة، وعدّاد، ومنطق. وهو من أكثر المشاريع إبهارًا في معارض المدارس.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لاحظوا أن العدّاد وحساسات المواقف طريقتان مختلفتان لمعرفة الأماكن الخالية: العدّاد يعدّ السيارات عند البوابتين، والحساسات ترى كل موقف. الجراجات الكبيرة تستخدم الاثنين معًا للتأكد.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«سيارة تصل»: الشاشة ترحّب، وتنفتح البوابة، وتتجه السيارة إلى أول موقف خالٍ فيتحول ليده من الأخضر إلى الأحمر، وينقص العدّاد. «سيارة تغادر»: تتجه إلى بوابة الخروج، فتنفتح، ويعود الموقف أخضر، ويزيد العدّاد. الآن «املأ الجراج» ثم أرسل سيارة: الشاشة تقول Sorry, FULL والبوابة لا تُفتح والسيارة تنتظر! أرسل سيارة لتغادر: تدخل المنتظرة فورًا. وأخيرًا «حركة تلقائية» ودعها تعمل أثناء شرحك.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المشروع الذي يعمل أمام الزوار بلا أعطال يحتاج فحصًا دقيقًا. اجعل مراقب الجودة في الفريق مسؤولًا عن هذه القائمة.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الميزة المبتكرة تفرّق بين المشاريع: «حساب الأجرة» يستخدم millis لكل سيارة، و«ذوو الهمم» يحتاج زرًا خاصًا. مشروع تخرج ممتاز.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نربط المزرعة والبيت والجراج بالجوال عبر الإنترنت.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ما بنيناه يعمل وحده. لكن ماذا لو أردت أن تعرف حال مزرعتك وأنت في المدرسة؟ أو تقفل الباب وأنت في السوق؟ هنا يأتي إنترنت الأشياء.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يُبرمج من Arduino IDE نفسه بعد إضافة لوحة ESP32 من مدير اللوحات، وبالأوامر نفسها تقريبًا: pinMode وdigitalWrite وanalogRead. أغلب كود الدورة ينتقل إليه بتعديلات بسيطة في أرقام المنافذ.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بالضبط طريقة عمل الإنترنت كله: كل صفحة تفتحها في المتصفح هي «طلب» و«رد». طلابك سيفهمون الإنترنت من الداخل.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«شغّل المضخة»: يطير طلب GET /pump/on من الجوال إلى الراوتر ثم إلى ESP32، ويومض ليد ESP32، وتعمل المضخة، ثم يعود الرد 200 OK. راقب السجل والسطر المضاء في الكود. «تحديث» يطلب /status فيعود JSON بالرطوبة والأماكن الخالية في الجراج، ويتحدث الجوال. اسأل: «ماذا لو كان الجوال خارج البيت؟» يحتاج خدمة سحابية، وهذا تحدٍّ متقدم.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درس الأمن السيبراني هنا عملي جدًا: لو استطاع أي أحد على الشبكة أن يطلب /door/unlock لفتح باب بيتك! لهذا نضيف كلمة سر للأوامر الحساسة.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السؤال الأخير يفتح نقاشًا رائعًا عن «التزامن» و«الأولوية» في الأنظمة الموزعة.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الأخير: الختام و«القرية الذكية».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لحظة الحصاد. اعرض صور أو مقاطع ما بناه المتدربون خلال الدورة إن كانت لديك.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عند كل محطة: «ما المفهوم الاحترافي الذي تعلمناه هنا؟» التخلّف، وmillis، وآلة الحالات، والمصفوفات، والطلب والرد.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المفاهيم ليست خاصة بالأردوينو: يستخدمها مهندسو البرمجيات في كل مكان. الطالب الذي يفهمها هنا يحملها معه إلى أي لغة برمجة.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قرية على طاولة كبيرة، كل فريق مسؤول عن جزء، ويلتقون في النهاية على شبكة واحدة. مشروع يشارك فيه الفصل كله ويبهر المدرسة.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المعيار الأخير مهم: «الأثر بالأرقام» مثل الماء الموفّر أو الطاقة الموفّرة، كما رأينا في المحاكيات.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حصتان أسبوعيًا تكفيان. وإن قلّ الوقت: اختصر الطاقة الشمسية، ولا تختصر التخلّف وmillis؛ هما قلب الدورة.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السؤال الثالث عملي جدًا: قائمة قطع صغيرة يبدأ بها المعلم الأسبوع القادم.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اشكر المعلمين، وذكّرهم بأن كل المحاكيات متاحة على منصة جذور ليستخدموها مع طلابهم.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الختام.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image" Target="../media/image-13-8.jpg"/><Relationship Id="rId9" Type="http://schemas.openxmlformats.org/officeDocument/2006/relationships/image" Target="../media/image-13-9.jp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image" Target="../media/image-14-5.jp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jpg"/><Relationship Id="rId5" Type="http://schemas.openxmlformats.org/officeDocument/2006/relationships/image" Target="../media/image-16-5.jp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jpg"/><Relationship Id="rId3" Type="http://schemas.openxmlformats.org/officeDocument/2006/relationships/image" Target="../media/image-24-3.jpg"/><Relationship Id="rId4" Type="http://schemas.openxmlformats.org/officeDocument/2006/relationships/image" Target="../media/image-24-4.jpg"/><Relationship Id="rId5" Type="http://schemas.openxmlformats.org/officeDocument/2006/relationships/image" Target="../media/image-24-5.jp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image" Target="../media/image-26-2.jpg"/><Relationship Id="rId3" Type="http://schemas.openxmlformats.org/officeDocument/2006/relationships/image" Target="../media/image-26-3.jpg"/><Relationship Id="rId4" Type="http://schemas.openxmlformats.org/officeDocument/2006/relationships/image" Target="../media/image-26-4.jpg"/><Relationship Id="rId5" Type="http://schemas.openxmlformats.org/officeDocument/2006/relationships/image" Target="../media/image-26-5.jpg"/><Relationship Id="rId6" Type="http://schemas.openxmlformats.org/officeDocument/2006/relationships/image" Target="../media/image-26-6.jpg"/><Relationship Id="rId7" Type="http://schemas.openxmlformats.org/officeDocument/2006/relationships/image" Target="../media/image-26-7.jp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jpg"/><Relationship Id="rId3" Type="http://schemas.openxmlformats.org/officeDocument/2006/relationships/image" Target="../media/image-27-3.jpg"/><Relationship Id="rId4" Type="http://schemas.openxmlformats.org/officeDocument/2006/relationships/image" Target="../media/image-27-4.jpg"/><Relationship Id="rId5" Type="http://schemas.openxmlformats.org/officeDocument/2006/relationships/image" Target="../media/image-27-5.jp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image" Target="../media/image-37-2.jpg"/><Relationship Id="rId3" Type="http://schemas.openxmlformats.org/officeDocument/2006/relationships/image" Target="../media/image-37-3.jpg"/><Relationship Id="rId4" Type="http://schemas.openxmlformats.org/officeDocument/2006/relationships/image" Target="../media/image-37-4.jpg"/><Relationship Id="rId5" Type="http://schemas.openxmlformats.org/officeDocument/2006/relationships/image" Target="../media/image-37-5.jpg"/><Relationship Id="rId6" Type="http://schemas.openxmlformats.org/officeDocument/2006/relationships/image" Target="../media/image-37-6.jpg"/><Relationship Id="rId7" Type="http://schemas.openxmlformats.org/officeDocument/2006/relationships/image" Target="../media/image-37-7.jpg"/><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image" Target="../media/image-38-2.jpg"/><Relationship Id="rId3" Type="http://schemas.openxmlformats.org/officeDocument/2006/relationships/image" Target="../media/image-38-3.jpg"/><Relationship Id="rId4" Type="http://schemas.openxmlformats.org/officeDocument/2006/relationships/image" Target="../media/image-38-4.jpg"/><Relationship Id="rId5" Type="http://schemas.openxmlformats.org/officeDocument/2006/relationships/image" Target="../media/image-38-5.jpg"/><Relationship Id="rId6" Type="http://schemas.openxmlformats.org/officeDocument/2006/relationships/image" Target="../media/image-38-6.jpg"/><Relationship Id="rId7" Type="http://schemas.openxmlformats.org/officeDocument/2006/relationships/image" Target="../media/image-38-7.jpg"/><Relationship Id="rId8" Type="http://schemas.openxmlformats.org/officeDocument/2006/relationships/image" Target="../media/image-38-8.jpg"/><Relationship Id="rId9" Type="http://schemas.openxmlformats.org/officeDocument/2006/relationships/slideLayout" Target="../slideLayouts/slideLayout1.xml"/><Relationship Id="rId10"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image" Target="../media/image-39-2.jpg"/><Relationship Id="rId3" Type="http://schemas.openxmlformats.org/officeDocument/2006/relationships/image" Target="../media/image-39-3.jpg"/><Relationship Id="rId4" Type="http://schemas.openxmlformats.org/officeDocument/2006/relationships/image" Target="../media/image-39-4.jpg"/><Relationship Id="rId5" Type="http://schemas.openxmlformats.org/officeDocument/2006/relationships/image" Target="../media/image-39-5.jpg"/><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image" Target="../media/image-49-2.jpg"/><Relationship Id="rId3" Type="http://schemas.openxmlformats.org/officeDocument/2006/relationships/image" Target="../media/image-49-3.jpg"/><Relationship Id="rId4" Type="http://schemas.openxmlformats.org/officeDocument/2006/relationships/image" Target="../media/image-49-4.jpg"/><Relationship Id="rId5" Type="http://schemas.openxmlformats.org/officeDocument/2006/relationships/image" Target="../media/image-49-5.jpg"/><Relationship Id="rId6" Type="http://schemas.openxmlformats.org/officeDocument/2006/relationships/image" Target="../media/image-49-6.jpg"/><Relationship Id="rId7" Type="http://schemas.openxmlformats.org/officeDocument/2006/relationships/image" Target="../media/image-49-7.jpg"/><Relationship Id="rId8" Type="http://schemas.openxmlformats.org/officeDocument/2006/relationships/slideLayout" Target="../slideLayouts/slideLayout1.xml"/><Relationship Id="rId9"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image" Target="../media/image-50-2.jpg"/><Relationship Id="rId3" Type="http://schemas.openxmlformats.org/officeDocument/2006/relationships/image" Target="../media/image-50-3.jpg"/><Relationship Id="rId4" Type="http://schemas.openxmlformats.org/officeDocument/2006/relationships/image" Target="../media/image-50-4.jpg"/><Relationship Id="rId5" Type="http://schemas.openxmlformats.org/officeDocument/2006/relationships/image" Target="../media/image-50-5.jpg"/><Relationship Id="rId6" Type="http://schemas.openxmlformats.org/officeDocument/2006/relationships/image" Target="../media/image-50-6.jpg"/><Relationship Id="rId7" Type="http://schemas.openxmlformats.org/officeDocument/2006/relationships/image" Target="../media/image-50-7.jpg"/><Relationship Id="rId8" Type="http://schemas.openxmlformats.org/officeDocument/2006/relationships/image" Target="../media/image-50-8.jpg"/><Relationship Id="rId9" Type="http://schemas.openxmlformats.org/officeDocument/2006/relationships/image" Target="../media/image-50-9.jpg"/><Relationship Id="rId10" Type="http://schemas.openxmlformats.org/officeDocument/2006/relationships/slideLayout" Target="../slideLayouts/slideLayout1.xml"/><Relationship Id="rId11"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image" Target="../media/image-51-2.jpg"/><Relationship Id="rId3" Type="http://schemas.openxmlformats.org/officeDocument/2006/relationships/image" Target="../media/image-51-3.jpg"/><Relationship Id="rId4" Type="http://schemas.openxmlformats.org/officeDocument/2006/relationships/image" Target="../media/image-51-4.jpg"/><Relationship Id="rId5" Type="http://schemas.openxmlformats.org/officeDocument/2006/relationships/image" Target="../media/image-51-5.jpg"/><Relationship Id="rId6" Type="http://schemas.openxmlformats.org/officeDocument/2006/relationships/slideLayout" Target="../slideLayouts/slideLayout1.xml"/><Relationship Id="rId7"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jpe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jpe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jpe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image" Target="../media/image-60-2.jpg"/><Relationship Id="rId3" Type="http://schemas.openxmlformats.org/officeDocument/2006/relationships/image" Target="../media/image-60-3.jpg"/><Relationship Id="rId4" Type="http://schemas.openxmlformats.org/officeDocument/2006/relationships/image" Target="../media/image-60-4.jpg"/><Relationship Id="rId5" Type="http://schemas.openxmlformats.org/officeDocument/2006/relationships/image" Target="../media/image-60-5.jpg"/><Relationship Id="rId6" Type="http://schemas.openxmlformats.org/officeDocument/2006/relationships/image" Target="../media/image-60-6.jpg"/><Relationship Id="rId7" Type="http://schemas.openxmlformats.org/officeDocument/2006/relationships/image" Target="../media/image-60-7.jpg"/><Relationship Id="rId8" Type="http://schemas.openxmlformats.org/officeDocument/2006/relationships/slideLayout" Target="../slideLayouts/slideLayout1.xml"/><Relationship Id="rId9"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image" Target="../media/image-61-2.jpg"/><Relationship Id="rId3" Type="http://schemas.openxmlformats.org/officeDocument/2006/relationships/image" Target="../media/image-61-3.jpg"/><Relationship Id="rId4" Type="http://schemas.openxmlformats.org/officeDocument/2006/relationships/image" Target="../media/image-61-4.jpg"/><Relationship Id="rId5" Type="http://schemas.openxmlformats.org/officeDocument/2006/relationships/image" Target="../media/image-61-5.jpg"/><Relationship Id="rId6" Type="http://schemas.openxmlformats.org/officeDocument/2006/relationships/slideLayout" Target="../slideLayouts/slideLayout1.xml"/><Relationship Id="rId7"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jpe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jpe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jpe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jpe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jpe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image" Target="../media/image-70-2.jpg"/><Relationship Id="rId3" Type="http://schemas.openxmlformats.org/officeDocument/2006/relationships/image" Target="../media/image-70-3.jpg"/><Relationship Id="rId4" Type="http://schemas.openxmlformats.org/officeDocument/2006/relationships/image" Target="../media/image-70-4.jpg"/><Relationship Id="rId5" Type="http://schemas.openxmlformats.org/officeDocument/2006/relationships/image" Target="../media/image-70-5.jpg"/><Relationship Id="rId6" Type="http://schemas.openxmlformats.org/officeDocument/2006/relationships/image" Target="../media/image-70-6.jpg"/><Relationship Id="rId7" Type="http://schemas.openxmlformats.org/officeDocument/2006/relationships/image" Target="../media/image-70-7.jpg"/><Relationship Id="rId8" Type="http://schemas.openxmlformats.org/officeDocument/2006/relationships/image" Target="../media/image-70-8.jpg"/><Relationship Id="rId9" Type="http://schemas.openxmlformats.org/officeDocument/2006/relationships/image" Target="../media/image-70-9.jpg"/><Relationship Id="rId10" Type="http://schemas.openxmlformats.org/officeDocument/2006/relationships/slideLayout" Target="../slideLayouts/slideLayout1.xml"/><Relationship Id="rId11"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jpe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image" Target="../media/image-72-2.jpg"/><Relationship Id="rId3" Type="http://schemas.openxmlformats.org/officeDocument/2006/relationships/image" Target="../media/image-72-3.jpg"/><Relationship Id="rId4" Type="http://schemas.openxmlformats.org/officeDocument/2006/relationships/image" Target="../media/image-72-4.jpg"/><Relationship Id="rId5" Type="http://schemas.openxmlformats.org/officeDocument/2006/relationships/image" Target="../media/image-72-5.jpg"/><Relationship Id="rId6" Type="http://schemas.openxmlformats.org/officeDocument/2006/relationships/slideLayout" Target="../slideLayouts/slideLayout1.xml"/><Relationship Id="rId7"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jpe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jpe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jpe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jpe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jpe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g"/><Relationship Id="rId2" Type="http://schemas.openxmlformats.org/officeDocument/2006/relationships/image" Target="../media/image-81-2.jpg"/><Relationship Id="rId3" Type="http://schemas.openxmlformats.org/officeDocument/2006/relationships/image" Target="../media/image-81-3.jpg"/><Relationship Id="rId4" Type="http://schemas.openxmlformats.org/officeDocument/2006/relationships/image" Target="../media/image-81-4.jpg"/><Relationship Id="rId5" Type="http://schemas.openxmlformats.org/officeDocument/2006/relationships/image" Target="../media/image-81-5.jpg"/><Relationship Id="rId6" Type="http://schemas.openxmlformats.org/officeDocument/2006/relationships/image" Target="../media/image-81-6.jpg"/><Relationship Id="rId7" Type="http://schemas.openxmlformats.org/officeDocument/2006/relationships/image" Target="../media/image-81-7.jpg"/><Relationship Id="rId8" Type="http://schemas.openxmlformats.org/officeDocument/2006/relationships/image" Target="../media/image-81-8.jpg"/><Relationship Id="rId9" Type="http://schemas.openxmlformats.org/officeDocument/2006/relationships/slideLayout" Target="../slideLayouts/slideLayout1.xml"/><Relationship Id="rId10"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image" Target="../media/image-82-2.jpg"/><Relationship Id="rId3" Type="http://schemas.openxmlformats.org/officeDocument/2006/relationships/image" Target="../media/image-82-3.jpg"/><Relationship Id="rId4" Type="http://schemas.openxmlformats.org/officeDocument/2006/relationships/image" Target="../media/image-82-4.jpg"/><Relationship Id="rId5" Type="http://schemas.openxmlformats.org/officeDocument/2006/relationships/image" Target="../media/image-82-5.jpg"/><Relationship Id="rId6" Type="http://schemas.openxmlformats.org/officeDocument/2006/relationships/slideLayout" Target="../slideLayouts/slideLayout1.xml"/><Relationship Id="rId7"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jpe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jp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jpe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jpe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Slide-88-image-1.jpe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Slide-89-image-1.jpe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image" Target="../media/image-91-2.jpg"/><Relationship Id="rId3" Type="http://schemas.openxmlformats.org/officeDocument/2006/relationships/image" Target="../media/image-91-3.jpg"/><Relationship Id="rId4" Type="http://schemas.openxmlformats.org/officeDocument/2006/relationships/image" Target="../media/image-91-4.jpg"/><Relationship Id="rId5" Type="http://schemas.openxmlformats.org/officeDocument/2006/relationships/image" Target="../media/image-91-5.jpg"/><Relationship Id="rId6" Type="http://schemas.openxmlformats.org/officeDocument/2006/relationships/image" Target="../media/image-91-6.jpg"/><Relationship Id="rId7" Type="http://schemas.openxmlformats.org/officeDocument/2006/relationships/image" Target="../media/image-91-7.jpg"/><Relationship Id="rId8" Type="http://schemas.openxmlformats.org/officeDocument/2006/relationships/image" Target="../media/image-91-8.jpg"/><Relationship Id="rId9" Type="http://schemas.openxmlformats.org/officeDocument/2006/relationships/slideLayout" Target="../slideLayouts/slideLayout1.xml"/><Relationship Id="rId10"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image" Target="../media/image-92-2.jpg"/><Relationship Id="rId3" Type="http://schemas.openxmlformats.org/officeDocument/2006/relationships/image" Target="../media/image-92-3.jpg"/><Relationship Id="rId4" Type="http://schemas.openxmlformats.org/officeDocument/2006/relationships/image" Target="../media/image-92-4.jpg"/><Relationship Id="rId5" Type="http://schemas.openxmlformats.org/officeDocument/2006/relationships/image" Target="../media/image-92-5.jpg"/><Relationship Id="rId6" Type="http://schemas.openxmlformats.org/officeDocument/2006/relationships/slideLayout" Target="../slideLayouts/slideLayout1.xml"/><Relationship Id="rId7"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jpe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jp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jp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jpe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Slide-97-image-1.jpe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jpe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jpe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jp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jpg"/><Relationship Id="rId2" Type="http://schemas.openxmlformats.org/officeDocument/2006/relationships/image" Target="../media/image-101-2.jpg"/><Relationship Id="rId3" Type="http://schemas.openxmlformats.org/officeDocument/2006/relationships/image" Target="../media/image-101-3.jpg"/><Relationship Id="rId4" Type="http://schemas.openxmlformats.org/officeDocument/2006/relationships/image" Target="../media/image-101-4.jpg"/><Relationship Id="rId5" Type="http://schemas.openxmlformats.org/officeDocument/2006/relationships/image" Target="../media/image-101-5.jpg"/><Relationship Id="rId6" Type="http://schemas.openxmlformats.org/officeDocument/2006/relationships/image" Target="../media/image-101-6.jpg"/><Relationship Id="rId7" Type="http://schemas.openxmlformats.org/officeDocument/2006/relationships/image" Target="../media/image-101-7.jpg"/><Relationship Id="rId8" Type="http://schemas.openxmlformats.org/officeDocument/2006/relationships/slideLayout" Target="../slideLayouts/slideLayout1.xml"/><Relationship Id="rId9"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Slide-102-image-1.jpe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jpg"/><Relationship Id="rId2" Type="http://schemas.openxmlformats.org/officeDocument/2006/relationships/image" Target="../media/image-103-2.jpg"/><Relationship Id="rId3" Type="http://schemas.openxmlformats.org/officeDocument/2006/relationships/image" Target="../media/image-103-3.jpg"/><Relationship Id="rId4" Type="http://schemas.openxmlformats.org/officeDocument/2006/relationships/image" Target="../media/image-103-4.jpg"/><Relationship Id="rId5" Type="http://schemas.openxmlformats.org/officeDocument/2006/relationships/image" Target="../media/image-103-5.jpg"/><Relationship Id="rId6" Type="http://schemas.openxmlformats.org/officeDocument/2006/relationships/slideLayout" Target="../slideLayouts/slideLayout1.xml"/><Relationship Id="rId7"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Slide-104-image-1.jpe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jp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jp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Slide-107-image-1.jpe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Slide-108-image-1.jpe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Slide-109-image-1.jpe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Slide-110-image-1.jpe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jp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jpg"/><Relationship Id="rId2" Type="http://schemas.openxmlformats.org/officeDocument/2006/relationships/image" Target="../media/image-112-2.jpg"/><Relationship Id="rId3" Type="http://schemas.openxmlformats.org/officeDocument/2006/relationships/image" Target="../media/image-112-3.jpg"/><Relationship Id="rId4" Type="http://schemas.openxmlformats.org/officeDocument/2006/relationships/image" Target="../media/image-112-4.jpg"/><Relationship Id="rId5" Type="http://schemas.openxmlformats.org/officeDocument/2006/relationships/image" Target="../media/image-112-5.jpg"/><Relationship Id="rId6" Type="http://schemas.openxmlformats.org/officeDocument/2006/relationships/image" Target="../media/image-112-6.jpg"/><Relationship Id="rId7" Type="http://schemas.openxmlformats.org/officeDocument/2006/relationships/image" Target="../media/image-112-7.jpg"/><Relationship Id="rId8" Type="http://schemas.openxmlformats.org/officeDocument/2006/relationships/slideLayout" Target="../slideLayouts/slideLayout1.xml"/><Relationship Id="rId9"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jpg"/><Relationship Id="rId2" Type="http://schemas.openxmlformats.org/officeDocument/2006/relationships/image" Target="../media/image-113-2.jpg"/><Relationship Id="rId3" Type="http://schemas.openxmlformats.org/officeDocument/2006/relationships/image" Target="../media/image-113-3.jpg"/><Relationship Id="rId4" Type="http://schemas.openxmlformats.org/officeDocument/2006/relationships/image" Target="../media/image-113-4.jpg"/><Relationship Id="rId5" Type="http://schemas.openxmlformats.org/officeDocument/2006/relationships/image" Target="../media/image-113-5.jpg"/><Relationship Id="rId6" Type="http://schemas.openxmlformats.org/officeDocument/2006/relationships/slideLayout" Target="../slideLayouts/slideLayout1.xml"/><Relationship Id="rId7"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Slide-114-image-1.jpe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jp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jp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Slide-117-image-1.jpe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Slide-118-image-1.jpe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Slide-119-image-1.jpe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Slide-120-image-1.jpe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jp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jpg"/><Relationship Id="rId2" Type="http://schemas.openxmlformats.org/officeDocument/2006/relationships/image" Target="../media/image-122-2.jpg"/><Relationship Id="rId3" Type="http://schemas.openxmlformats.org/officeDocument/2006/relationships/image" Target="../media/image-122-3.jpg"/><Relationship Id="rId4" Type="http://schemas.openxmlformats.org/officeDocument/2006/relationships/image" Target="../media/image-122-4.jpg"/><Relationship Id="rId5" Type="http://schemas.openxmlformats.org/officeDocument/2006/relationships/image" Target="../media/image-122-5.jpg"/><Relationship Id="rId6" Type="http://schemas.openxmlformats.org/officeDocument/2006/relationships/image" Target="../media/image-122-6.jpg"/><Relationship Id="rId7" Type="http://schemas.openxmlformats.org/officeDocument/2006/relationships/image" Target="../media/image-122-7.jpg"/><Relationship Id="rId8" Type="http://schemas.openxmlformats.org/officeDocument/2006/relationships/image" Target="../media/image-122-8.jpg"/><Relationship Id="rId9" Type="http://schemas.openxmlformats.org/officeDocument/2006/relationships/slideLayout" Target="../slideLayouts/slideLayout1.xml"/><Relationship Id="rId10"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jpg"/><Relationship Id="rId2" Type="http://schemas.openxmlformats.org/officeDocument/2006/relationships/image" Target="../media/image-123-2.jpg"/><Relationship Id="rId3" Type="http://schemas.openxmlformats.org/officeDocument/2006/relationships/image" Target="../media/image-123-3.jpg"/><Relationship Id="rId4" Type="http://schemas.openxmlformats.org/officeDocument/2006/relationships/image" Target="../media/image-123-4.jpg"/><Relationship Id="rId5" Type="http://schemas.openxmlformats.org/officeDocument/2006/relationships/image" Target="../media/image-123-5.jpg"/><Relationship Id="rId6" Type="http://schemas.openxmlformats.org/officeDocument/2006/relationships/slideLayout" Target="../slideLayouts/slideLayout1.xml"/><Relationship Id="rId7"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Slide-124-image-1.jpe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jp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jp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Slide-127-image-1.jpe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Slide-128-image-1.jpe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Slide-129-image-1.jpe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Slide-130-image-1.jpe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jp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jpg"/><Relationship Id="rId2" Type="http://schemas.openxmlformats.org/officeDocument/2006/relationships/image" Target="../media/image-132-2.jpg"/><Relationship Id="rId3" Type="http://schemas.openxmlformats.org/officeDocument/2006/relationships/image" Target="../media/image-132-3.jpg"/><Relationship Id="rId4" Type="http://schemas.openxmlformats.org/officeDocument/2006/relationships/image" Target="../media/image-132-4.jpg"/><Relationship Id="rId5" Type="http://schemas.openxmlformats.org/officeDocument/2006/relationships/image" Target="../media/image-132-5.jpg"/><Relationship Id="rId6" Type="http://schemas.openxmlformats.org/officeDocument/2006/relationships/image" Target="../media/image-132-6.jpg"/><Relationship Id="rId7" Type="http://schemas.openxmlformats.org/officeDocument/2006/relationships/image" Target="../media/image-132-7.jpg"/><Relationship Id="rId8" Type="http://schemas.openxmlformats.org/officeDocument/2006/relationships/image" Target="../media/image-132-8.jpg"/><Relationship Id="rId9" Type="http://schemas.openxmlformats.org/officeDocument/2006/relationships/image" Target="../media/image-132-9.jpg"/><Relationship Id="rId10" Type="http://schemas.openxmlformats.org/officeDocument/2006/relationships/image" Target="../media/image-132-10.jpg"/><Relationship Id="rId11" Type="http://schemas.openxmlformats.org/officeDocument/2006/relationships/slideLayout" Target="../slideLayouts/slideLayout1.xml"/><Relationship Id="rId1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jp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jpg"/><Relationship Id="rId2" Type="http://schemas.openxmlformats.org/officeDocument/2006/relationships/image" Target="../media/image-134-2.jpg"/><Relationship Id="rId3" Type="http://schemas.openxmlformats.org/officeDocument/2006/relationships/image" Target="../media/image-134-3.jpg"/><Relationship Id="rId4" Type="http://schemas.openxmlformats.org/officeDocument/2006/relationships/image" Target="../media/image-134-4.jpg"/><Relationship Id="rId5" Type="http://schemas.openxmlformats.org/officeDocument/2006/relationships/image" Target="../media/image-134-5.jpg"/><Relationship Id="rId6" Type="http://schemas.openxmlformats.org/officeDocument/2006/relationships/slideLayout" Target="../slideLayouts/slideLayout1.xml"/><Relationship Id="rId7"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Slide-135-image-1.jpe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jp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jp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Slide-138-image-1.jpe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Slide-139-image-1.jpe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Slide-140-image-1.jpe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Slide-141-image-1.jpe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Slide-142-image-1.jpe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jp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jpg"/><Relationship Id="rId2" Type="http://schemas.openxmlformats.org/officeDocument/2006/relationships/image" Target="../media/image-144-2.jpg"/><Relationship Id="rId3" Type="http://schemas.openxmlformats.org/officeDocument/2006/relationships/image" Target="../media/image-144-3.jpg"/><Relationship Id="rId4" Type="http://schemas.openxmlformats.org/officeDocument/2006/relationships/image" Target="../media/image-144-4.jpg"/><Relationship Id="rId5" Type="http://schemas.openxmlformats.org/officeDocument/2006/relationships/image" Target="../media/image-144-5.jpg"/><Relationship Id="rId6" Type="http://schemas.openxmlformats.org/officeDocument/2006/relationships/image" Target="../media/image-144-6.jpg"/><Relationship Id="rId7" Type="http://schemas.openxmlformats.org/officeDocument/2006/relationships/image" Target="../media/image-144-7.jpg"/><Relationship Id="rId8" Type="http://schemas.openxmlformats.org/officeDocument/2006/relationships/image" Target="../media/image-144-8.jpg"/><Relationship Id="rId9" Type="http://schemas.openxmlformats.org/officeDocument/2006/relationships/slideLayout" Target="../slideLayouts/slideLayout1.xml"/><Relationship Id="rId10"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Slide-145-image-1.jpe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jpg"/><Relationship Id="rId2" Type="http://schemas.openxmlformats.org/officeDocument/2006/relationships/image" Target="../media/image-146-2.jpg"/><Relationship Id="rId3" Type="http://schemas.openxmlformats.org/officeDocument/2006/relationships/image" Target="../media/image-146-3.jpg"/><Relationship Id="rId4" Type="http://schemas.openxmlformats.org/officeDocument/2006/relationships/image" Target="../media/image-146-4.jpg"/><Relationship Id="rId5" Type="http://schemas.openxmlformats.org/officeDocument/2006/relationships/image" Target="../media/image-146-5.jpg"/><Relationship Id="rId6" Type="http://schemas.openxmlformats.org/officeDocument/2006/relationships/slideLayout" Target="../slideLayouts/slideLayout1.xml"/><Relationship Id="rId7"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Slide-147-image-1.jpe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jp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jp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Slide-150-image-1.jpe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Slide-151-image-1.jpe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152-1.jp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Slide-153-image-1.jpe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Slide-154-image-1.jpe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Slide-155-image-1.jpe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Slide-156-image-1.jpe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Slide-157-image-1.jpe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Slide-158-image-1.jpe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Slide-159-image-1.jpeg"/><Relationship Id="rId2" Type="http://schemas.openxmlformats.org/officeDocument/2006/relationships/slideLayout" Target="../slideLayouts/slideLayout1.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Slide-160-image-1.jpeg"/><Relationship Id="rId2" Type="http://schemas.openxmlformats.org/officeDocument/2006/relationships/slideLayout" Target="../slideLayouts/slideLayout1.xml"/><Relationship Id="rId3" Type="http://schemas.openxmlformats.org/officeDocument/2006/relationships/notesSlide" Target="../notesSlides/notesSlide1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731520"/>
            <a:ext cx="960120" cy="960120"/>
          </a:xfrm>
          <a:prstGeom prst="roundRect">
            <a:avLst>
              <a:gd name="adj" fmla="val 26667"/>
            </a:avLst>
          </a:prstGeom>
          <a:solidFill>
            <a:srgbClr val="D9AE4B"/>
          </a:solidFill>
          <a:ln/>
          <a:effectLst>
            <a:outerShdw sx="100000" sy="100000" kx="0" ky="0" algn="bl" rotWithShape="0" blurRad="254000" dist="50800" dir="16200000">
              <a:srgbClr val="D9AE4B">
                <a:alpha val="45000"/>
              </a:srgbClr>
            </a:outerShdw>
          </a:effectLst>
        </p:spPr>
      </p:sp>
      <p:sp>
        <p:nvSpPr>
          <p:cNvPr id="3" name="Text 1"/>
          <p:cNvSpPr/>
          <p:nvPr/>
        </p:nvSpPr>
        <p:spPr>
          <a:xfrm>
            <a:off x="5615788" y="73152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1920240"/>
            <a:ext cx="12191695" cy="457200"/>
          </a:xfrm>
          <a:prstGeom prst="rect">
            <a:avLst/>
          </a:prstGeom>
          <a:noFill/>
          <a:ln/>
        </p:spPr>
        <p:txBody>
          <a:bodyPr wrap="square" lIns="0" tIns="0" rIns="0" bIns="0" rtlCol="0" anchor="ctr">
            <a:normAutofit/>
          </a:bodyPr>
          <a:lstStyle/>
          <a:p>
            <a:pPr rtl="1" algn="ctr" indent="0" marL="0">
              <a:buNone/>
            </a:pPr>
            <a:r>
              <a:rPr lang="ar-SA" altLang="en-US" sz="2000" b="1" dirty="0">
                <a:solidFill>
                  <a:srgbClr val="F0CC7A"/>
                </a:solidFill>
                <a:latin typeface="Cairo" pitchFamily="34" charset="0"/>
                <a:ea typeface="Cairo" pitchFamily="34" charset="-122"/>
                <a:cs typeface="Cairo" pitchFamily="34" charset="-120"/>
              </a:rPr>
              <a:t>الأردوينو للمعلمين · الدورة الرابعة</a:t>
            </a:r>
            <a:endParaRPr lang="ar-SA" sz="2000" dirty="0"/>
          </a:p>
        </p:txBody>
      </p:sp>
      <p:sp>
        <p:nvSpPr>
          <p:cNvPr id="5" name="Text 3"/>
          <p:cNvSpPr/>
          <p:nvPr/>
        </p:nvSpPr>
        <p:spPr>
          <a:xfrm>
            <a:off x="0" y="2331720"/>
            <a:ext cx="12191695" cy="1463040"/>
          </a:xfrm>
          <a:prstGeom prst="rect">
            <a:avLst/>
          </a:prstGeom>
          <a:noFill/>
          <a:ln/>
        </p:spPr>
        <p:txBody>
          <a:bodyPr wrap="square" lIns="0" tIns="0" rIns="0" bIns="0" rtlCol="0" anchor="ctr">
            <a:normAutofit/>
          </a:bodyPr>
          <a:lstStyle/>
          <a:p>
            <a:pPr rtl="1" algn="ctr" indent="0" marL="0">
              <a:buNone/>
            </a:pPr>
            <a:r>
              <a:rPr lang="ar-SA" altLang="en-US" sz="9600" dirty="0">
                <a:solidFill>
                  <a:srgbClr val="FFF3D6"/>
                </a:solidFill>
                <a:latin typeface="Cairo Black" pitchFamily="34" charset="0"/>
                <a:ea typeface="Cairo Black" pitchFamily="34" charset="-122"/>
                <a:cs typeface="Cairo Black" pitchFamily="34" charset="-120"/>
              </a:rPr>
              <a:t>المزرعة الذكية والمنزل الذكي</a:t>
            </a:r>
            <a:endParaRPr lang="ar-SA" sz="9600" dirty="0"/>
          </a:p>
        </p:txBody>
      </p:sp>
      <p:sp>
        <p:nvSpPr>
          <p:cNvPr id="6" name="Text 4"/>
          <p:cNvSpPr/>
          <p:nvPr/>
        </p:nvSpPr>
        <p:spPr>
          <a:xfrm>
            <a:off x="0" y="37947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مشروعان كاملان: من الحساس… إلى الجوال</a:t>
            </a:r>
            <a:endParaRPr lang="ar-SA" sz="2800" dirty="0"/>
          </a:p>
        </p:txBody>
      </p:sp>
      <p:sp>
        <p:nvSpPr>
          <p:cNvPr id="7" name="Shape 5"/>
          <p:cNvSpPr/>
          <p:nvPr/>
        </p:nvSpPr>
        <p:spPr>
          <a:xfrm>
            <a:off x="5364328" y="4617720"/>
            <a:ext cx="1463040" cy="36576"/>
          </a:xfrm>
          <a:prstGeom prst="rect">
            <a:avLst/>
          </a:prstGeom>
          <a:solidFill>
            <a:srgbClr val="D9AE4B"/>
          </a:solidFill>
          <a:ln/>
        </p:spPr>
      </p:sp>
      <p:sp>
        <p:nvSpPr>
          <p:cNvPr id="8" name="Text 6"/>
          <p:cNvSpPr/>
          <p:nvPr/>
        </p:nvSpPr>
        <p:spPr>
          <a:xfrm>
            <a:off x="0" y="5029200"/>
            <a:ext cx="12191695" cy="457200"/>
          </a:xfrm>
          <a:prstGeom prst="rect">
            <a:avLst/>
          </a:prstGeom>
          <a:noFill/>
          <a:ln/>
        </p:spPr>
        <p:txBody>
          <a:bodyPr wrap="square" lIns="0" tIns="0" rIns="0" bIns="0" rtlCol="0" anchor="ctr">
            <a:normAutofit/>
          </a:bodyPr>
          <a:lstStyle/>
          <a:p>
            <a:pPr algn="ctr" indent="0" marL="0">
              <a:buNone/>
            </a:pPr>
            <a:r>
              <a:rPr lang="ar-SA" altLang="en-US" sz="2000" b="1" dirty="0">
                <a:solidFill>
                  <a:srgbClr val="C9CFE6"/>
                </a:solidFill>
                <a:latin typeface="Cairo" pitchFamily="34" charset="0"/>
                <a:ea typeface="Cairo" pitchFamily="34" charset="-122"/>
                <a:cs typeface="Cairo" pitchFamily="34" charset="-120"/>
              </a:rPr>
              <a:t>إعداد وتقديم: </a:t>
            </a:r>
            <a:pPr algn="ctr" indent="0" marL="0">
              <a:buNone/>
            </a:pPr>
            <a:r>
              <a:rPr lang="ar-SA" altLang="en-US" sz="2000" b="1" dirty="0">
                <a:solidFill>
                  <a:srgbClr val="D9AE4B"/>
                </a:solidFill>
                <a:latin typeface="Cairo" pitchFamily="34" charset="0"/>
                <a:ea typeface="Cairo" pitchFamily="34" charset="-122"/>
                <a:cs typeface="Cairo" pitchFamily="34" charset="-120"/>
              </a:rPr>
              <a:t>أ. محمد زيتون</a:t>
            </a:r>
            <a:endParaRPr lang="ar-SA"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مقدّم الدورة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 محمد زيتون</a:t>
            </a:r>
            <a:endParaRPr lang="ar-SA" sz="3800" dirty="0"/>
          </a:p>
        </p:txBody>
      </p:sp>
      <p:sp>
        <p:nvSpPr>
          <p:cNvPr id="5" name="Text 3"/>
          <p:cNvSpPr/>
          <p:nvPr/>
        </p:nvSpPr>
        <p:spPr>
          <a:xfrm>
            <a:off x="822960" y="1783080"/>
            <a:ext cx="1054577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22346F"/>
                </a:solidFill>
                <a:latin typeface="Cairo" pitchFamily="34" charset="0"/>
                <a:ea typeface="Cairo" pitchFamily="34" charset="-122"/>
                <a:cs typeface="Cairo" pitchFamily="34" charset="-120"/>
              </a:rPr>
              <a:t>مشرف تربوي — الابتكار والذكاء الاصطناعي وSTEAM · مدارس الأرقم</a:t>
            </a:r>
            <a:endParaRPr lang="ar-SA" sz="2000" dirty="0"/>
          </a:p>
        </p:txBody>
      </p:sp>
      <p:sp>
        <p:nvSpPr>
          <p:cNvPr id="6" name="anim-g1-1"/>
          <p:cNvSpPr/>
          <p:nvPr/>
        </p:nvSpPr>
        <p:spPr>
          <a:xfrm>
            <a:off x="8066837"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7" name="anim-g1-2"/>
          <p:cNvSpPr/>
          <p:nvPr/>
        </p:nvSpPr>
        <p:spPr>
          <a:xfrm>
            <a:off x="8066837"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٣٣</a:t>
            </a:r>
            <a:endParaRPr lang="ar-SA" sz="5600" dirty="0"/>
          </a:p>
        </p:txBody>
      </p:sp>
      <p:sp>
        <p:nvSpPr>
          <p:cNvPr id="8" name="anim-g1-3"/>
          <p:cNvSpPr/>
          <p:nvPr/>
        </p:nvSpPr>
        <p:spPr>
          <a:xfrm>
            <a:off x="8249717"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عامًا في الميدان التعليمي</a:t>
            </a:r>
            <a:endParaRPr lang="ar-SA" sz="2000" dirty="0"/>
          </a:p>
        </p:txBody>
      </p:sp>
      <p:sp>
        <p:nvSpPr>
          <p:cNvPr id="9" name="anim-g2-4"/>
          <p:cNvSpPr/>
          <p:nvPr/>
        </p:nvSpPr>
        <p:spPr>
          <a:xfrm>
            <a:off x="4444898"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0" name="anim-g2-5"/>
          <p:cNvSpPr/>
          <p:nvPr/>
        </p:nvSpPr>
        <p:spPr>
          <a:xfrm>
            <a:off x="4444898"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٣</a:t>
            </a:r>
            <a:endParaRPr lang="ar-SA" sz="5600" dirty="0"/>
          </a:p>
        </p:txBody>
      </p:sp>
      <p:sp>
        <p:nvSpPr>
          <p:cNvPr id="11" name="anim-g2-6"/>
          <p:cNvSpPr/>
          <p:nvPr/>
        </p:nvSpPr>
        <p:spPr>
          <a:xfrm>
            <a:off x="4627778"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كتب في تعليم الأردوينو</a:t>
            </a:r>
            <a:endParaRPr lang="ar-SA" sz="2000" dirty="0"/>
          </a:p>
        </p:txBody>
      </p:sp>
      <p:sp>
        <p:nvSpPr>
          <p:cNvPr id="12" name="anim-g3-7"/>
          <p:cNvSpPr/>
          <p:nvPr/>
        </p:nvSpPr>
        <p:spPr>
          <a:xfrm>
            <a:off x="822960"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3" name="anim-g3-8"/>
          <p:cNvSpPr/>
          <p:nvPr/>
        </p:nvSpPr>
        <p:spPr>
          <a:xfrm>
            <a:off x="822960" y="2743200"/>
            <a:ext cx="3301898" cy="1097280"/>
          </a:xfrm>
          <a:prstGeom prst="rect">
            <a:avLst/>
          </a:prstGeom>
          <a:noFill/>
          <a:ln/>
        </p:spPr>
        <p:txBody>
          <a:bodyPr wrap="square" lIns="0" tIns="0" rIns="0" bIns="0" rtlCol="0" anchor="ctr">
            <a:normAutofit/>
          </a:bodyPr>
          <a:lstStyle/>
          <a:p>
            <a:pPr rtl="1" algn="ctr" indent="0" marL="0">
              <a:buNone/>
            </a:pPr>
            <a:r>
              <a:rPr lang="ar-SA" altLang="en-US" sz="3600" dirty="0">
                <a:solidFill>
                  <a:srgbClr val="B08A2E"/>
                </a:solidFill>
                <a:latin typeface="Cairo Black" pitchFamily="34" charset="0"/>
                <a:ea typeface="Cairo Black" pitchFamily="34" charset="-122"/>
                <a:cs typeface="Cairo Black" pitchFamily="34" charset="-120"/>
              </a:rPr>
              <a:t>Microsoft</a:t>
            </a:r>
            <a:endParaRPr lang="ar-SA" sz="3600" dirty="0"/>
          </a:p>
        </p:txBody>
      </p:sp>
      <p:sp>
        <p:nvSpPr>
          <p:cNvPr id="14" name="anim-g3-9"/>
          <p:cNvSpPr/>
          <p:nvPr/>
        </p:nvSpPr>
        <p:spPr>
          <a:xfrm>
            <a:off x="1005840"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مدرب معتمد</a:t>
            </a:r>
            <a:endParaRPr lang="ar-SA" sz="2000" dirty="0"/>
          </a:p>
        </p:txBody>
      </p:sp>
      <p:sp>
        <p:nvSpPr>
          <p:cNvPr id="15" name="anim-g4-10"/>
          <p:cNvSpPr/>
          <p:nvPr/>
        </p:nvSpPr>
        <p:spPr>
          <a:xfrm>
            <a:off x="822960" y="5257800"/>
            <a:ext cx="1054577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مؤلف «رحلة عبر الأردوينو» و«أردوينو بلا قيود» و«دليل المعلم في تعلم الأردوينو»</a:t>
            </a:r>
            <a:endParaRPr lang="ar-SA" sz="1800" dirty="0"/>
          </a:p>
        </p:txBody>
      </p:sp>
      <p:sp>
        <p:nvSpPr>
          <p:cNvPr id="16" name="Text 1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17" name="Text 1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user\projects\younes-training\arduino4\.pptx-cache\s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لماذا الآن؟</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مشكلات حقيقية… وحلول بأيدي طلابنا</a:t>
            </a:r>
            <a:endParaRPr lang="ar-SA" sz="3200" dirty="0"/>
          </a:p>
        </p:txBody>
      </p:sp>
      <p:sp>
        <p:nvSpPr>
          <p:cNvPr id="5" name="anim-g1-11"/>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2"/>
          <p:cNvSpPr/>
          <p:nvPr/>
        </p:nvSpPr>
        <p:spPr>
          <a:xfrm>
            <a:off x="10362895" y="2404872"/>
            <a:ext cx="731520" cy="731520"/>
          </a:xfrm>
          <a:prstGeom prst="roundRect">
            <a:avLst>
              <a:gd name="adj" fmla="val 25000"/>
            </a:avLst>
          </a:prstGeom>
          <a:solidFill>
            <a:srgbClr val="F7E6BC"/>
          </a:solidFill>
          <a:ln/>
        </p:spPr>
      </p:sp>
      <p:sp>
        <p:nvSpPr>
          <p:cNvPr id="7" name="anim-g1-13"/>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14"/>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الماء ثمين</a:t>
            </a:r>
            <a:endParaRPr lang="ar-SA" sz="2300" dirty="0"/>
          </a:p>
        </p:txBody>
      </p:sp>
      <p:sp>
        <p:nvSpPr>
          <p:cNvPr id="9" name="anim-g1-15"/>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الري بالحساسات يوفّر كثيرًا من ماء الري بالتوقيت الثابت</a:t>
            </a:r>
            <a:endParaRPr lang="ar-SA" sz="2100" dirty="0"/>
          </a:p>
        </p:txBody>
      </p:sp>
      <p:sp>
        <p:nvSpPr>
          <p:cNvPr id="10" name="anim-g2-16"/>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7"/>
          <p:cNvSpPr/>
          <p:nvPr/>
        </p:nvSpPr>
        <p:spPr>
          <a:xfrm>
            <a:off x="7657871" y="2404872"/>
            <a:ext cx="731520" cy="731520"/>
          </a:xfrm>
          <a:prstGeom prst="roundRect">
            <a:avLst>
              <a:gd name="adj" fmla="val 25000"/>
            </a:avLst>
          </a:prstGeom>
          <a:solidFill>
            <a:srgbClr val="F7E6BC"/>
          </a:solidFill>
          <a:ln/>
        </p:spPr>
      </p:sp>
      <p:sp>
        <p:nvSpPr>
          <p:cNvPr id="12" name="anim-g2-18"/>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19"/>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المناخ يشتد</a:t>
            </a:r>
            <a:endParaRPr lang="ar-SA" sz="2300" dirty="0"/>
          </a:p>
        </p:txBody>
      </p:sp>
      <p:sp>
        <p:nvSpPr>
          <p:cNvPr id="14" name="anim-g2-20"/>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البيوت المحمية تحمي المحصول من الحر والبرد</a:t>
            </a:r>
            <a:endParaRPr lang="ar-SA" sz="2100" dirty="0"/>
          </a:p>
        </p:txBody>
      </p:sp>
      <p:sp>
        <p:nvSpPr>
          <p:cNvPr id="15" name="anim-g3-21"/>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2"/>
          <p:cNvSpPr/>
          <p:nvPr/>
        </p:nvSpPr>
        <p:spPr>
          <a:xfrm>
            <a:off x="4952848" y="2404872"/>
            <a:ext cx="731520" cy="731520"/>
          </a:xfrm>
          <a:prstGeom prst="roundRect">
            <a:avLst>
              <a:gd name="adj" fmla="val 25000"/>
            </a:avLst>
          </a:prstGeom>
          <a:solidFill>
            <a:srgbClr val="F7E6BC"/>
          </a:solidFill>
          <a:ln/>
        </p:spPr>
      </p:sp>
      <p:sp>
        <p:nvSpPr>
          <p:cNvPr id="17" name="anim-g3-23"/>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24"/>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الطاقة مكلفة</a:t>
            </a:r>
            <a:endParaRPr lang="ar-SA" sz="2300" dirty="0"/>
          </a:p>
        </p:txBody>
      </p:sp>
      <p:sp>
        <p:nvSpPr>
          <p:cNvPr id="19" name="anim-g3-25"/>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البيت الذكي يطفئ ما لا يُستخدم</a:t>
            </a:r>
            <a:endParaRPr lang="ar-SA" sz="2100" dirty="0"/>
          </a:p>
        </p:txBody>
      </p:sp>
      <p:sp>
        <p:nvSpPr>
          <p:cNvPr id="20" name="anim-g4-26"/>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27"/>
          <p:cNvSpPr/>
          <p:nvPr/>
        </p:nvSpPr>
        <p:spPr>
          <a:xfrm>
            <a:off x="2247824" y="2404872"/>
            <a:ext cx="731520" cy="731520"/>
          </a:xfrm>
          <a:prstGeom prst="roundRect">
            <a:avLst>
              <a:gd name="adj" fmla="val 25000"/>
            </a:avLst>
          </a:prstGeom>
          <a:solidFill>
            <a:srgbClr val="F7E6BC"/>
          </a:solidFill>
          <a:ln/>
        </p:spPr>
      </p:sp>
      <p:sp>
        <p:nvSpPr>
          <p:cNvPr id="22" name="anim-g4-28"/>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29"/>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السلامة</a:t>
            </a:r>
            <a:endParaRPr lang="ar-SA" sz="2300" dirty="0"/>
          </a:p>
        </p:txBody>
      </p:sp>
      <p:sp>
        <p:nvSpPr>
          <p:cNvPr id="24" name="anim-g4-30"/>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إنذار الغاز والحريق ينقذ الأرواح</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F6EBCF"/>
          </a:solidFill>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كل نظام ذكي… ثلاث حلقات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حساس ← قرار ← مشغّل</a:t>
            </a:r>
            <a:endParaRPr lang="ar-SA" sz="3800" dirty="0"/>
          </a:p>
        </p:txBody>
      </p:sp>
      <p:sp>
        <p:nvSpPr>
          <p:cNvPr id="5" name="anim-g1-31"/>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2"/>
          <p:cNvSpPr/>
          <p:nvPr/>
        </p:nvSpPr>
        <p:spPr>
          <a:xfrm>
            <a:off x="10527487" y="2267712"/>
            <a:ext cx="566928" cy="566928"/>
          </a:xfrm>
          <a:prstGeom prst="roundRect">
            <a:avLst>
              <a:gd name="adj" fmla="val 32258"/>
            </a:avLst>
          </a:prstGeom>
          <a:solidFill>
            <a:srgbClr val="F7E6BC"/>
          </a:solidFill>
          <a:ln/>
        </p:spPr>
      </p:sp>
      <p:sp>
        <p:nvSpPr>
          <p:cNvPr id="7" name="anim-g1-3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34"/>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حساس</a:t>
            </a:r>
            <a:endParaRPr lang="ar-SA" sz="2200" dirty="0"/>
          </a:p>
        </p:txBody>
      </p:sp>
      <p:sp>
        <p:nvSpPr>
          <p:cNvPr id="9" name="anim-g1-35"/>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رطوبة التربة، والحرارة، والضوء، والحركة، والغاز…</a:t>
            </a:r>
            <a:endParaRPr lang="ar-SA" sz="1900" dirty="0"/>
          </a:p>
        </p:txBody>
      </p:sp>
      <p:sp>
        <p:nvSpPr>
          <p:cNvPr id="10" name="anim-g2-36"/>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7"/>
          <p:cNvSpPr/>
          <p:nvPr/>
        </p:nvSpPr>
        <p:spPr>
          <a:xfrm>
            <a:off x="6920789" y="2267712"/>
            <a:ext cx="566928" cy="566928"/>
          </a:xfrm>
          <a:prstGeom prst="roundRect">
            <a:avLst>
              <a:gd name="adj" fmla="val 32258"/>
            </a:avLst>
          </a:prstGeom>
          <a:solidFill>
            <a:srgbClr val="F7E6BC"/>
          </a:solidFill>
          <a:ln/>
        </p:spPr>
      </p:sp>
      <p:sp>
        <p:nvSpPr>
          <p:cNvPr id="12" name="anim-g2-38"/>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9"/>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قرار</a:t>
            </a:r>
            <a:endParaRPr lang="ar-SA" sz="2200" dirty="0"/>
          </a:p>
        </p:txBody>
      </p:sp>
      <p:sp>
        <p:nvSpPr>
          <p:cNvPr id="14" name="anim-g2-40"/>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الأردوينو يقارن القراءة بحد ويقرر</a:t>
            </a:r>
            <a:endParaRPr lang="ar-SA" sz="1900" dirty="0"/>
          </a:p>
        </p:txBody>
      </p:sp>
      <p:sp>
        <p:nvSpPr>
          <p:cNvPr id="15" name="anim-g3-41"/>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42"/>
          <p:cNvSpPr/>
          <p:nvPr/>
        </p:nvSpPr>
        <p:spPr>
          <a:xfrm>
            <a:off x="3314090" y="2267712"/>
            <a:ext cx="566928" cy="566928"/>
          </a:xfrm>
          <a:prstGeom prst="roundRect">
            <a:avLst>
              <a:gd name="adj" fmla="val 32258"/>
            </a:avLst>
          </a:prstGeom>
          <a:solidFill>
            <a:srgbClr val="F7E6BC"/>
          </a:solidFill>
          <a:ln/>
        </p:spPr>
      </p:sp>
      <p:sp>
        <p:nvSpPr>
          <p:cNvPr id="17" name="anim-g3-43"/>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44"/>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مشغّل</a:t>
            </a:r>
            <a:endParaRPr lang="ar-SA" sz="2200" dirty="0"/>
          </a:p>
        </p:txBody>
      </p:sp>
      <p:sp>
        <p:nvSpPr>
          <p:cNvPr id="19" name="anim-g3-45"/>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مضخة، ومروحة، ونافذة، وقفل، وإنذار، وضوء</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user\projects\younes-training\arduino4\.pptx-cache\s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33311" y="457200"/>
            <a:ext cx="4535424" cy="457200"/>
          </a:xfrm>
          <a:prstGeom prst="roundRect">
            <a:avLst>
              <a:gd name="adj" fmla="val 50000"/>
            </a:avLst>
          </a:prstGeom>
          <a:solidFill>
            <a:srgbClr val="F6EBCF"/>
          </a:solidFill>
          <a:ln/>
        </p:spPr>
      </p:sp>
      <p:sp>
        <p:nvSpPr>
          <p:cNvPr id="3" name="Text 1"/>
          <p:cNvSpPr/>
          <p:nvPr/>
        </p:nvSpPr>
        <p:spPr>
          <a:xfrm>
            <a:off x="6833311" y="457200"/>
            <a:ext cx="453542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الدورة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الدورة</a:t>
            </a:r>
            <a:endParaRPr lang="ar-SA" sz="3800" dirty="0"/>
          </a:p>
        </p:txBody>
      </p:sp>
      <p:sp>
        <p:nvSpPr>
          <p:cNvPr id="5" name="anim-g1-46"/>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47"/>
          <p:cNvSpPr/>
          <p:nvPr/>
        </p:nvSpPr>
        <p:spPr>
          <a:xfrm>
            <a:off x="10587838" y="2011680"/>
            <a:ext cx="552298" cy="552298"/>
          </a:xfrm>
          <a:prstGeom prst="ellipse">
            <a:avLst/>
          </a:prstGeom>
          <a:solidFill>
            <a:srgbClr val="D9AE4B"/>
          </a:solidFill>
          <a:ln/>
        </p:spPr>
      </p:sp>
      <p:sp>
        <p:nvSpPr>
          <p:cNvPr id="7" name="anim-g1-48"/>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49"/>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تتحكم بأجهزة أكبر بأمان عبر الريليه</a:t>
            </a:r>
            <a:endParaRPr lang="ar-SA" sz="2200" dirty="0"/>
          </a:p>
        </p:txBody>
      </p:sp>
      <p:sp>
        <p:nvSpPr>
          <p:cNvPr id="9" name="anim-g2-50"/>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51"/>
          <p:cNvSpPr/>
          <p:nvPr/>
        </p:nvSpPr>
        <p:spPr>
          <a:xfrm>
            <a:off x="10587838" y="2856586"/>
            <a:ext cx="552298" cy="552298"/>
          </a:xfrm>
          <a:prstGeom prst="ellipse">
            <a:avLst/>
          </a:prstGeom>
          <a:solidFill>
            <a:srgbClr val="D9AE4B"/>
          </a:solidFill>
          <a:ln/>
        </p:spPr>
      </p:sp>
      <p:sp>
        <p:nvSpPr>
          <p:cNvPr id="11" name="anim-g2-52"/>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53"/>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تبني مزرعة ذكية: ري آلي، وبيت محمي، وخزان</a:t>
            </a:r>
            <a:endParaRPr lang="ar-SA" sz="2200" dirty="0"/>
          </a:p>
        </p:txBody>
      </p:sp>
      <p:sp>
        <p:nvSpPr>
          <p:cNvPr id="13" name="anim-g3-54"/>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55"/>
          <p:cNvSpPr/>
          <p:nvPr/>
        </p:nvSpPr>
        <p:spPr>
          <a:xfrm>
            <a:off x="10587838" y="3701491"/>
            <a:ext cx="552298" cy="552298"/>
          </a:xfrm>
          <a:prstGeom prst="ellipse">
            <a:avLst/>
          </a:prstGeom>
          <a:solidFill>
            <a:srgbClr val="D9AE4B"/>
          </a:solidFill>
          <a:ln/>
        </p:spPr>
      </p:sp>
      <p:sp>
        <p:nvSpPr>
          <p:cNvPr id="15" name="anim-g3-56"/>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57"/>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تبني منزلًا ذكيًا: إضاءة، وباب، وأمان، وطاقة</a:t>
            </a:r>
            <a:endParaRPr lang="ar-SA" sz="2200" dirty="0"/>
          </a:p>
        </p:txBody>
      </p:sp>
      <p:sp>
        <p:nvSpPr>
          <p:cNvPr id="17" name="anim-g4-58"/>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59"/>
          <p:cNvSpPr/>
          <p:nvPr/>
        </p:nvSpPr>
        <p:spPr>
          <a:xfrm>
            <a:off x="10587838" y="4546397"/>
            <a:ext cx="552298" cy="552298"/>
          </a:xfrm>
          <a:prstGeom prst="ellipse">
            <a:avLst/>
          </a:prstGeom>
          <a:solidFill>
            <a:srgbClr val="D9AE4B"/>
          </a:solidFill>
          <a:ln/>
        </p:spPr>
      </p:sp>
      <p:sp>
        <p:nvSpPr>
          <p:cNvPr id="19" name="anim-g4-60"/>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61"/>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تكتب كودًا احترافيًا: التخلّف، وmillis، وآلة الحالات</a:t>
            </a:r>
            <a:endParaRPr lang="ar-SA" sz="2200" dirty="0"/>
          </a:p>
        </p:txBody>
      </p:sp>
      <p:sp>
        <p:nvSpPr>
          <p:cNvPr id="21" name="anim-g5-62"/>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63"/>
          <p:cNvSpPr/>
          <p:nvPr/>
        </p:nvSpPr>
        <p:spPr>
          <a:xfrm>
            <a:off x="10587838" y="5391302"/>
            <a:ext cx="552298" cy="552298"/>
          </a:xfrm>
          <a:prstGeom prst="ellipse">
            <a:avLst/>
          </a:prstGeom>
          <a:solidFill>
            <a:srgbClr val="D9AE4B"/>
          </a:solidFill>
          <a:ln/>
        </p:spPr>
      </p:sp>
      <p:sp>
        <p:nvSpPr>
          <p:cNvPr id="23" name="anim-g5-64"/>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65"/>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تتحكم بالمشروعين من الجوال عبر الإنترنت</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998568" y="1188720"/>
            <a:ext cx="219456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998568" y="118872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وعد الدورة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حين يرى طالبك نبتته تُسقى وحدها لأنه كتب سطرين…</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يدرك أن البرمجة تزرع وتحمي وتبني</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الافتتاح  ·  ٨</a:t>
            </a:r>
            <a:endParaRPr lang="ar-SA"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الريليه</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إشارة ٥ فولت… تشغّل مضخة أو مروحة أو مصباحًا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الريليه  ·  ٩</a:t>
            </a:r>
            <a:endParaRPr lang="ar-SA"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66"/>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67"/>
          <p:cNvSpPr/>
          <p:nvPr/>
        </p:nvSpPr>
        <p:spPr>
          <a:xfrm>
            <a:off x="10573207" y="2109978"/>
            <a:ext cx="566928" cy="566928"/>
          </a:xfrm>
          <a:prstGeom prst="ellipse">
            <a:avLst/>
          </a:prstGeom>
          <a:solidFill>
            <a:srgbClr val="D9AE4B"/>
          </a:solidFill>
          <a:ln/>
        </p:spPr>
      </p:sp>
      <p:sp>
        <p:nvSpPr>
          <p:cNvPr id="7" name="anim-g1-68"/>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69"/>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كيف يعمل الريليه: ملف ومغناطيس وذراع</a:t>
            </a:r>
            <a:endParaRPr lang="ar-SA" sz="2400" dirty="0"/>
          </a:p>
        </p:txBody>
      </p:sp>
      <p:sp>
        <p:nvSpPr>
          <p:cNvPr id="9" name="anim-g2-70"/>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71"/>
          <p:cNvSpPr/>
          <p:nvPr/>
        </p:nvSpPr>
        <p:spPr>
          <a:xfrm>
            <a:off x="10573207" y="3166110"/>
            <a:ext cx="566928" cy="566928"/>
          </a:xfrm>
          <a:prstGeom prst="ellipse">
            <a:avLst/>
          </a:prstGeom>
          <a:solidFill>
            <a:srgbClr val="D9AE4B"/>
          </a:solidFill>
          <a:ln/>
        </p:spPr>
      </p:sp>
      <p:sp>
        <p:nvSpPr>
          <p:cNvPr id="11" name="anim-g2-72"/>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73"/>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تفرّق بين COM وNO وNC</a:t>
            </a:r>
            <a:endParaRPr lang="ar-SA" sz="2400" dirty="0"/>
          </a:p>
        </p:txBody>
      </p:sp>
      <p:sp>
        <p:nvSpPr>
          <p:cNvPr id="13" name="anim-g3-74"/>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75"/>
          <p:cNvSpPr/>
          <p:nvPr/>
        </p:nvSpPr>
        <p:spPr>
          <a:xfrm>
            <a:off x="10573207" y="4222242"/>
            <a:ext cx="566928" cy="566928"/>
          </a:xfrm>
          <a:prstGeom prst="ellipse">
            <a:avLst/>
          </a:prstGeom>
          <a:solidFill>
            <a:srgbClr val="D9AE4B"/>
          </a:solidFill>
          <a:ln/>
        </p:spPr>
      </p:sp>
      <p:sp>
        <p:nvSpPr>
          <p:cNvPr id="15" name="anim-g3-76"/>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77"/>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تتعامل مع وحدات «تعمل على LOW»</a:t>
            </a:r>
            <a:endParaRPr lang="ar-SA" sz="2400" dirty="0"/>
          </a:p>
        </p:txBody>
      </p:sp>
      <p:sp>
        <p:nvSpPr>
          <p:cNvPr id="17" name="anim-g4-78"/>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79"/>
          <p:cNvSpPr/>
          <p:nvPr/>
        </p:nvSpPr>
        <p:spPr>
          <a:xfrm>
            <a:off x="10573207" y="5278374"/>
            <a:ext cx="566928" cy="566928"/>
          </a:xfrm>
          <a:prstGeom prst="ellipse">
            <a:avLst/>
          </a:prstGeom>
          <a:solidFill>
            <a:srgbClr val="D9AE4B"/>
          </a:solidFill>
          <a:ln/>
        </p:spPr>
      </p:sp>
      <p:sp>
        <p:nvSpPr>
          <p:cNvPr id="19" name="anim-g4-80"/>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81"/>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تلتزم بقواعد السلامة مع الجهد العالي</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الريليه  ·  ١٠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داخل الصندوق الأزرق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مغناطيس يصنعه التيار</a:t>
            </a:r>
            <a:endParaRPr lang="ar-SA" sz="3800" dirty="0"/>
          </a:p>
        </p:txBody>
      </p:sp>
      <p:sp>
        <p:nvSpPr>
          <p:cNvPr id="5" name="anim-g1-82"/>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3"/>
          <p:cNvSpPr/>
          <p:nvPr/>
        </p:nvSpPr>
        <p:spPr>
          <a:xfrm>
            <a:off x="10527487" y="2267712"/>
            <a:ext cx="566928" cy="566928"/>
          </a:xfrm>
          <a:prstGeom prst="roundRect">
            <a:avLst>
              <a:gd name="adj" fmla="val 32258"/>
            </a:avLst>
          </a:prstGeom>
          <a:solidFill>
            <a:srgbClr val="F7E6BC"/>
          </a:solidFill>
          <a:ln/>
        </p:spPr>
      </p:sp>
      <p:sp>
        <p:nvSpPr>
          <p:cNvPr id="7" name="anim-g1-8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5"/>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الملف</a:t>
            </a:r>
            <a:endParaRPr lang="ar-SA" sz="2200" dirty="0"/>
          </a:p>
        </p:txBody>
      </p:sp>
      <p:sp>
        <p:nvSpPr>
          <p:cNvPr id="9" name="anim-g1-86"/>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سلك ملفوف. حين يمر فيه التيار يصبح مغناطيسًا</a:t>
            </a:r>
            <a:endParaRPr lang="ar-SA" sz="1900" dirty="0"/>
          </a:p>
        </p:txBody>
      </p:sp>
      <p:sp>
        <p:nvSpPr>
          <p:cNvPr id="10" name="anim-g2-87"/>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8"/>
          <p:cNvSpPr/>
          <p:nvPr/>
        </p:nvSpPr>
        <p:spPr>
          <a:xfrm>
            <a:off x="6920789" y="2267712"/>
            <a:ext cx="566928" cy="566928"/>
          </a:xfrm>
          <a:prstGeom prst="roundRect">
            <a:avLst>
              <a:gd name="adj" fmla="val 32258"/>
            </a:avLst>
          </a:prstGeom>
          <a:solidFill>
            <a:srgbClr val="F7E6BC"/>
          </a:solidFill>
          <a:ln/>
        </p:spPr>
      </p:sp>
      <p:sp>
        <p:nvSpPr>
          <p:cNvPr id="12" name="anim-g2-89"/>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90"/>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الذراع</a:t>
            </a:r>
            <a:endParaRPr lang="ar-SA" sz="2200" dirty="0"/>
          </a:p>
        </p:txBody>
      </p:sp>
      <p:sp>
        <p:nvSpPr>
          <p:cNvPr id="14" name="anim-g2-91"/>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قطعة حديد يجذبها المغناطيس فتنتقل من NC إلى NO</a:t>
            </a:r>
            <a:endParaRPr lang="ar-SA" sz="1900" dirty="0"/>
          </a:p>
        </p:txBody>
      </p:sp>
      <p:sp>
        <p:nvSpPr>
          <p:cNvPr id="15" name="anim-g3-92"/>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3"/>
          <p:cNvSpPr/>
          <p:nvPr/>
        </p:nvSpPr>
        <p:spPr>
          <a:xfrm>
            <a:off x="3314090" y="2267712"/>
            <a:ext cx="566928" cy="566928"/>
          </a:xfrm>
          <a:prstGeom prst="roundRect">
            <a:avLst>
              <a:gd name="adj" fmla="val 32258"/>
            </a:avLst>
          </a:prstGeom>
          <a:solidFill>
            <a:srgbClr val="F7E6BC"/>
          </a:solidFill>
          <a:ln/>
        </p:spPr>
      </p:sp>
      <p:sp>
        <p:nvSpPr>
          <p:cNvPr id="17" name="anim-g3-94"/>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95"/>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المشابك الثلاثة</a:t>
            </a:r>
            <a:endParaRPr lang="ar-SA" sz="2200" dirty="0"/>
          </a:p>
        </p:txBody>
      </p:sp>
      <p:sp>
        <p:nvSpPr>
          <p:cNvPr id="19" name="anim-g3-96"/>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COM المشترك، وNO «مفتوح عادةً»، وNC «مغلق عادةً»</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الريليه  ·  ١١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Users\user\projects\younes-training\arduino4\.pptx-cache\s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Users\user\projects\younes-training\arduino4\.pptx-cache\s13-0.jpg">    </p:cNvPr>
          <p:cNvPicPr>
            <a:picLocks noChangeAspect="1"/>
          </p:cNvPicPr>
          <p:nvPr/>
        </p:nvPicPr>
        <p:blipFill>
          <a:blip r:embed="rId1"/>
          <a:stretch>
            <a:fillRect/>
          </a:stretch>
        </p:blipFill>
        <p:spPr>
          <a:xfrm>
            <a:off x="0" y="0"/>
            <a:ext cx="12191695" cy="6858000"/>
          </a:xfrm>
          <a:prstGeom prst="rect">
            <a:avLst/>
          </a:prstGeom>
        </p:spPr>
      </p:pic>
      <p:pic>
        <p:nvPicPr>
          <p:cNvPr id="3" name="anim-g1-97" descr="C:\Users\user\projects\younes-training\arduino4\.pptx-cache\s13-1.jpg">    </p:cNvPr>
          <p:cNvPicPr>
            <a:picLocks noChangeAspect="1"/>
          </p:cNvPicPr>
          <p:nvPr/>
        </p:nvPicPr>
        <p:blipFill>
          <a:blip r:embed="rId2"/>
          <a:stretch>
            <a:fillRect/>
          </a:stretch>
        </p:blipFill>
        <p:spPr>
          <a:xfrm>
            <a:off x="0" y="0"/>
            <a:ext cx="12191695" cy="6858000"/>
          </a:xfrm>
          <a:prstGeom prst="rect">
            <a:avLst/>
          </a:prstGeom>
        </p:spPr>
      </p:pic>
      <p:pic>
        <p:nvPicPr>
          <p:cNvPr id="4" name="anim-g2-98" descr="C:\Users\user\projects\younes-training\arduino4\.pptx-cache\s13-2.jpg">    </p:cNvPr>
          <p:cNvPicPr>
            <a:picLocks noChangeAspect="1"/>
          </p:cNvPicPr>
          <p:nvPr/>
        </p:nvPicPr>
        <p:blipFill>
          <a:blip r:embed="rId3"/>
          <a:stretch>
            <a:fillRect/>
          </a:stretch>
        </p:blipFill>
        <p:spPr>
          <a:xfrm>
            <a:off x="0" y="0"/>
            <a:ext cx="12191695" cy="6858000"/>
          </a:xfrm>
          <a:prstGeom prst="rect">
            <a:avLst/>
          </a:prstGeom>
        </p:spPr>
      </p:pic>
      <p:pic>
        <p:nvPicPr>
          <p:cNvPr id="5" name="anim-g3-99" descr="C:\Users\user\projects\younes-training\arduino4\.pptx-cache\s13-3.jpg">    </p:cNvPr>
          <p:cNvPicPr>
            <a:picLocks noChangeAspect="1"/>
          </p:cNvPicPr>
          <p:nvPr/>
        </p:nvPicPr>
        <p:blipFill>
          <a:blip r:embed="rId4"/>
          <a:stretch>
            <a:fillRect/>
          </a:stretch>
        </p:blipFill>
        <p:spPr>
          <a:xfrm>
            <a:off x="0" y="0"/>
            <a:ext cx="12191695" cy="6858000"/>
          </a:xfrm>
          <a:prstGeom prst="rect">
            <a:avLst/>
          </a:prstGeom>
        </p:spPr>
      </p:pic>
      <p:pic>
        <p:nvPicPr>
          <p:cNvPr id="6" name="anim-g4-100" descr="C:\Users\user\projects\younes-training\arduino4\.pptx-cache\s13-4.jpg">    </p:cNvPr>
          <p:cNvPicPr>
            <a:picLocks noChangeAspect="1"/>
          </p:cNvPicPr>
          <p:nvPr/>
        </p:nvPicPr>
        <p:blipFill>
          <a:blip r:embed="rId5"/>
          <a:stretch>
            <a:fillRect/>
          </a:stretch>
        </p:blipFill>
        <p:spPr>
          <a:xfrm>
            <a:off x="0" y="0"/>
            <a:ext cx="12191695" cy="6858000"/>
          </a:xfrm>
          <a:prstGeom prst="rect">
            <a:avLst/>
          </a:prstGeom>
        </p:spPr>
      </p:pic>
      <p:pic>
        <p:nvPicPr>
          <p:cNvPr id="7" name="anim-g5-101" descr="C:\Users\user\projects\younes-training\arduino4\.pptx-cache\s13-5.jpg">    </p:cNvPr>
          <p:cNvPicPr>
            <a:picLocks noChangeAspect="1"/>
          </p:cNvPicPr>
          <p:nvPr/>
        </p:nvPicPr>
        <p:blipFill>
          <a:blip r:embed="rId6"/>
          <a:stretch>
            <a:fillRect/>
          </a:stretch>
        </p:blipFill>
        <p:spPr>
          <a:xfrm>
            <a:off x="0" y="0"/>
            <a:ext cx="12191695" cy="6858000"/>
          </a:xfrm>
          <a:prstGeom prst="rect">
            <a:avLst/>
          </a:prstGeom>
        </p:spPr>
      </p:pic>
      <p:pic>
        <p:nvPicPr>
          <p:cNvPr id="8" name="anim-g6-102" descr="C:\Users\user\projects\younes-training\arduino4\.pptx-cache\s13-6.jpg">    </p:cNvPr>
          <p:cNvPicPr>
            <a:picLocks noChangeAspect="1"/>
          </p:cNvPicPr>
          <p:nvPr/>
        </p:nvPicPr>
        <p:blipFill>
          <a:blip r:embed="rId7"/>
          <a:stretch>
            <a:fillRect/>
          </a:stretch>
        </p:blipFill>
        <p:spPr>
          <a:xfrm>
            <a:off x="0" y="0"/>
            <a:ext cx="12191695" cy="6858000"/>
          </a:xfrm>
          <a:prstGeom prst="rect">
            <a:avLst/>
          </a:prstGeom>
        </p:spPr>
      </p:pic>
      <p:pic>
        <p:nvPicPr>
          <p:cNvPr id="9" name="anim-g7-103" descr="C:\Users\user\projects\younes-training\arduino4\.pptx-cache\s13-7.jpg">    </p:cNvPr>
          <p:cNvPicPr>
            <a:picLocks noChangeAspect="1"/>
          </p:cNvPicPr>
          <p:nvPr/>
        </p:nvPicPr>
        <p:blipFill>
          <a:blip r:embed="rId8"/>
          <a:stretch>
            <a:fillRect/>
          </a:stretch>
        </p:blipFill>
        <p:spPr>
          <a:xfrm>
            <a:off x="0" y="0"/>
            <a:ext cx="12191695" cy="6858000"/>
          </a:xfrm>
          <a:prstGeom prst="rect">
            <a:avLst/>
          </a:prstGeom>
        </p:spPr>
      </p:pic>
      <p:pic>
        <p:nvPicPr>
          <p:cNvPr id="10" name="anim-g8-104" descr="C:\Users\user\projects\younes-training\arduino4\.pptx-cache\s13-8.jpg">    </p:cNvPr>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user\projects\younes-training\arduino4\.pptx-cache\s14-0.jpg">    </p:cNvPr>
          <p:cNvPicPr>
            <a:picLocks noChangeAspect="1"/>
          </p:cNvPicPr>
          <p:nvPr/>
        </p:nvPicPr>
        <p:blipFill>
          <a:blip r:embed="rId1"/>
          <a:stretch>
            <a:fillRect/>
          </a:stretch>
        </p:blipFill>
        <p:spPr>
          <a:xfrm>
            <a:off x="0" y="0"/>
            <a:ext cx="12191695" cy="6858000"/>
          </a:xfrm>
          <a:prstGeom prst="rect">
            <a:avLst/>
          </a:prstGeom>
        </p:spPr>
      </p:pic>
      <p:pic>
        <p:nvPicPr>
          <p:cNvPr id="3" name="anim-g1-105" descr="C:\Users\user\projects\younes-training\arduino4\.pptx-cache\s14-1.jpg">    </p:cNvPr>
          <p:cNvPicPr>
            <a:picLocks noChangeAspect="1"/>
          </p:cNvPicPr>
          <p:nvPr/>
        </p:nvPicPr>
        <p:blipFill>
          <a:blip r:embed="rId2"/>
          <a:stretch>
            <a:fillRect/>
          </a:stretch>
        </p:blipFill>
        <p:spPr>
          <a:xfrm>
            <a:off x="0" y="0"/>
            <a:ext cx="12191695" cy="6858000"/>
          </a:xfrm>
          <a:prstGeom prst="rect">
            <a:avLst/>
          </a:prstGeom>
        </p:spPr>
      </p:pic>
      <p:pic>
        <p:nvPicPr>
          <p:cNvPr id="4" name="anim-g2-106" descr="C:\Users\user\projects\younes-training\arduino4\.pptx-cache\s14-2.jpg">    </p:cNvPr>
          <p:cNvPicPr>
            <a:picLocks noChangeAspect="1"/>
          </p:cNvPicPr>
          <p:nvPr/>
        </p:nvPicPr>
        <p:blipFill>
          <a:blip r:embed="rId3"/>
          <a:stretch>
            <a:fillRect/>
          </a:stretch>
        </p:blipFill>
        <p:spPr>
          <a:xfrm>
            <a:off x="0" y="0"/>
            <a:ext cx="12191695" cy="6858000"/>
          </a:xfrm>
          <a:prstGeom prst="rect">
            <a:avLst/>
          </a:prstGeom>
        </p:spPr>
      </p:pic>
      <p:pic>
        <p:nvPicPr>
          <p:cNvPr id="5" name="anim-g3-107" descr="C:\Users\user\projects\younes-training\arduino4\.pptx-cache\s14-3.jpg">    </p:cNvPr>
          <p:cNvPicPr>
            <a:picLocks noChangeAspect="1"/>
          </p:cNvPicPr>
          <p:nvPr/>
        </p:nvPicPr>
        <p:blipFill>
          <a:blip r:embed="rId4"/>
          <a:stretch>
            <a:fillRect/>
          </a:stretch>
        </p:blipFill>
        <p:spPr>
          <a:xfrm>
            <a:off x="0" y="0"/>
            <a:ext cx="12191695" cy="6858000"/>
          </a:xfrm>
          <a:prstGeom prst="rect">
            <a:avLst/>
          </a:prstGeom>
        </p:spPr>
      </p:pic>
      <p:pic>
        <p:nvPicPr>
          <p:cNvPr id="6" name="anim-g4-108" descr="C:\Users\user\projects\younes-training\arduino4\.pptx-cache\s14-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السلامة أولًا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قواعد لا تُكسر مع الريليه</a:t>
            </a:r>
            <a:endParaRPr lang="ar-SA" sz="3800" dirty="0"/>
          </a:p>
        </p:txBody>
      </p:sp>
      <p:sp>
        <p:nvSpPr>
          <p:cNvPr id="5" name="anim-g1-109"/>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10"/>
          <p:cNvSpPr/>
          <p:nvPr/>
        </p:nvSpPr>
        <p:spPr>
          <a:xfrm>
            <a:off x="10527487" y="2267712"/>
            <a:ext cx="566928" cy="566928"/>
          </a:xfrm>
          <a:prstGeom prst="roundRect">
            <a:avLst>
              <a:gd name="adj" fmla="val 32258"/>
            </a:avLst>
          </a:prstGeom>
          <a:solidFill>
            <a:srgbClr val="F7E6BC"/>
          </a:solidFill>
          <a:ln/>
        </p:spPr>
      </p:sp>
      <p:sp>
        <p:nvSpPr>
          <p:cNvPr id="7" name="anim-g1-111"/>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12"/>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لا ٢٢٠ فولت للطلاب</a:t>
            </a:r>
            <a:endParaRPr lang="ar-SA" sz="2200" dirty="0"/>
          </a:p>
        </p:txBody>
      </p:sp>
      <p:sp>
        <p:nvSpPr>
          <p:cNvPr id="9" name="anim-g1-113"/>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الطلاب يعملون على ٥ و١٢ فولت فقط. كهرباء البيت للمختصين</a:t>
            </a:r>
            <a:endParaRPr lang="ar-SA" sz="1900" dirty="0"/>
          </a:p>
        </p:txBody>
      </p:sp>
      <p:sp>
        <p:nvSpPr>
          <p:cNvPr id="10" name="anim-g2-114"/>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15"/>
          <p:cNvSpPr/>
          <p:nvPr/>
        </p:nvSpPr>
        <p:spPr>
          <a:xfrm>
            <a:off x="6920789" y="2267712"/>
            <a:ext cx="566928" cy="566928"/>
          </a:xfrm>
          <a:prstGeom prst="roundRect">
            <a:avLst>
              <a:gd name="adj" fmla="val 32258"/>
            </a:avLst>
          </a:prstGeom>
          <a:solidFill>
            <a:srgbClr val="F7E6BC"/>
          </a:solidFill>
          <a:ln/>
        </p:spPr>
      </p:sp>
      <p:sp>
        <p:nvSpPr>
          <p:cNvPr id="12" name="anim-g2-116"/>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17"/>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افصل قبل أن تلمس</a:t>
            </a:r>
            <a:endParaRPr lang="ar-SA" sz="2200" dirty="0"/>
          </a:p>
        </p:txBody>
      </p:sp>
      <p:sp>
        <p:nvSpPr>
          <p:cNvPr id="14" name="anim-g2-118"/>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تعديل في أسلاك الحِمل وهي موصولة بالمصدر</a:t>
            </a:r>
            <a:endParaRPr lang="ar-SA" sz="1900" dirty="0"/>
          </a:p>
        </p:txBody>
      </p:sp>
      <p:sp>
        <p:nvSpPr>
          <p:cNvPr id="15" name="anim-g3-119"/>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20"/>
          <p:cNvSpPr/>
          <p:nvPr/>
        </p:nvSpPr>
        <p:spPr>
          <a:xfrm>
            <a:off x="3314090" y="2267712"/>
            <a:ext cx="566928" cy="566928"/>
          </a:xfrm>
          <a:prstGeom prst="roundRect">
            <a:avLst>
              <a:gd name="adj" fmla="val 32258"/>
            </a:avLst>
          </a:prstGeom>
          <a:solidFill>
            <a:srgbClr val="F7E6BC"/>
          </a:solidFill>
          <a:ln/>
        </p:spPr>
      </p:sp>
      <p:sp>
        <p:nvSpPr>
          <p:cNvPr id="17" name="anim-g3-121"/>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22"/>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احترم الحد</a:t>
            </a:r>
            <a:endParaRPr lang="ar-SA" sz="2200" dirty="0"/>
          </a:p>
        </p:txBody>
      </p:sp>
      <p:sp>
        <p:nvSpPr>
          <p:cNvPr id="19" name="anim-g3-123"/>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الريليه مكتوب عليه أقصى تيار وجهد. لا تتجاوزهما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الريليه  ·  ١٥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Users\user\projects\younes-training\arduino4\.pptx-cache\s16-0.jpg">    </p:cNvPr>
          <p:cNvPicPr>
            <a:picLocks noChangeAspect="1"/>
          </p:cNvPicPr>
          <p:nvPr/>
        </p:nvPicPr>
        <p:blipFill>
          <a:blip r:embed="rId1"/>
          <a:stretch>
            <a:fillRect/>
          </a:stretch>
        </p:blipFill>
        <p:spPr>
          <a:xfrm>
            <a:off x="0" y="0"/>
            <a:ext cx="12191695" cy="6858000"/>
          </a:xfrm>
          <a:prstGeom prst="rect">
            <a:avLst/>
          </a:prstGeom>
        </p:spPr>
      </p:pic>
      <p:pic>
        <p:nvPicPr>
          <p:cNvPr id="3" name="anim-g1-124" descr="C:\Users\user\projects\younes-training\arduino4\.pptx-cache\s16-1.jpg">    </p:cNvPr>
          <p:cNvPicPr>
            <a:picLocks noChangeAspect="1"/>
          </p:cNvPicPr>
          <p:nvPr/>
        </p:nvPicPr>
        <p:blipFill>
          <a:blip r:embed="rId2"/>
          <a:stretch>
            <a:fillRect/>
          </a:stretch>
        </p:blipFill>
        <p:spPr>
          <a:xfrm>
            <a:off x="0" y="0"/>
            <a:ext cx="12191695" cy="6858000"/>
          </a:xfrm>
          <a:prstGeom prst="rect">
            <a:avLst/>
          </a:prstGeom>
        </p:spPr>
      </p:pic>
      <p:pic>
        <p:nvPicPr>
          <p:cNvPr id="4" name="anim-g2-125" descr="C:\Users\user\projects\younes-training\arduino4\.pptx-cache\s16-2.jpg">    </p:cNvPr>
          <p:cNvPicPr>
            <a:picLocks noChangeAspect="1"/>
          </p:cNvPicPr>
          <p:nvPr/>
        </p:nvPicPr>
        <p:blipFill>
          <a:blip r:embed="rId3"/>
          <a:stretch>
            <a:fillRect/>
          </a:stretch>
        </p:blipFill>
        <p:spPr>
          <a:xfrm>
            <a:off x="0" y="0"/>
            <a:ext cx="12191695" cy="6858000"/>
          </a:xfrm>
          <a:prstGeom prst="rect">
            <a:avLst/>
          </a:prstGeom>
        </p:spPr>
      </p:pic>
      <p:pic>
        <p:nvPicPr>
          <p:cNvPr id="5" name="anim-g3-126" descr="C:\Users\user\projects\younes-training\arduino4\.pptx-cache\s16-3.jpg">    </p:cNvPr>
          <p:cNvPicPr>
            <a:picLocks noChangeAspect="1"/>
          </p:cNvPicPr>
          <p:nvPr/>
        </p:nvPicPr>
        <p:blipFill>
          <a:blip r:embed="rId4"/>
          <a:stretch>
            <a:fillRect/>
          </a:stretch>
        </p:blipFill>
        <p:spPr>
          <a:xfrm>
            <a:off x="0" y="0"/>
            <a:ext cx="12191695" cy="6858000"/>
          </a:xfrm>
          <a:prstGeom prst="rect">
            <a:avLst/>
          </a:prstGeom>
        </p:spPr>
      </p:pic>
      <p:pic>
        <p:nvPicPr>
          <p:cNvPr id="6" name="anim-g4-127" descr="C:\Users\user\projects\younes-training\arduino4\.pptx-cache\s16-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وصّلنا المضخة على NO، والأردوينو مطفأ تمامًا… هل تعمل المضخة؟</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نعم، دائمًا</a:t>
            </a:r>
            <a:endParaRPr lang="ar-SA" sz="2500" dirty="0"/>
          </a:p>
        </p:txBody>
      </p:sp>
      <p:sp>
        <p:nvSpPr>
          <p:cNvPr id="9" name="anim-g1-128"/>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29"/>
          <p:cNvSpPr/>
          <p:nvPr/>
        </p:nvSpPr>
        <p:spPr>
          <a:xfrm>
            <a:off x="10231831" y="2194560"/>
            <a:ext cx="954024" cy="954024"/>
          </a:xfrm>
          <a:prstGeom prst="roundRect">
            <a:avLst>
              <a:gd name="adj" fmla="val 11502"/>
            </a:avLst>
          </a:prstGeom>
          <a:solidFill>
            <a:srgbClr val="A3A9BA"/>
          </a:solidFill>
          <a:ln/>
        </p:spPr>
      </p:sp>
      <p:sp>
        <p:nvSpPr>
          <p:cNvPr id="11" name="anim-g1-130"/>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31"/>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نعم، دائمًا</a:t>
            </a:r>
            <a:endParaRPr lang="ar-SA" sz="2400" dirty="0"/>
          </a:p>
        </p:txBody>
      </p:sp>
      <p:sp>
        <p:nvSpPr>
          <p:cNvPr id="13" name="anim-g1-132"/>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لو كانت على NC</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لا: NO مفتوح ما دام الملف لا يعمل</a:t>
            </a:r>
            <a:endParaRPr lang="ar-SA" sz="2500" dirty="0"/>
          </a:p>
        </p:txBody>
      </p:sp>
      <p:sp>
        <p:nvSpPr>
          <p:cNvPr id="18" name="anim-g1-133"/>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134"/>
          <p:cNvSpPr/>
          <p:nvPr/>
        </p:nvSpPr>
        <p:spPr>
          <a:xfrm>
            <a:off x="10231831" y="3569208"/>
            <a:ext cx="954024" cy="954024"/>
          </a:xfrm>
          <a:prstGeom prst="roundRect">
            <a:avLst>
              <a:gd name="adj" fmla="val 11502"/>
            </a:avLst>
          </a:prstGeom>
          <a:solidFill>
            <a:srgbClr val="2E9E6B"/>
          </a:solidFill>
          <a:ln/>
        </p:spPr>
      </p:sp>
      <p:sp>
        <p:nvSpPr>
          <p:cNvPr id="20" name="anim-g1-135"/>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136"/>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لا: NO مفتوح ما دام الملف لا يعمل</a:t>
            </a:r>
            <a:endParaRPr lang="ar-SA" sz="2400" dirty="0"/>
          </a:p>
        </p:txBody>
      </p:sp>
      <p:sp>
        <p:nvSpPr>
          <p:cNvPr id="22" name="anim-g1-137"/>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NO «مفتوح عادةً»: لا يمر التيار إلا حين يجذب الملف الذراع</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تعمل بنصف سرعة</a:t>
            </a:r>
            <a:endParaRPr lang="ar-SA" sz="2500" dirty="0"/>
          </a:p>
        </p:txBody>
      </p:sp>
      <p:sp>
        <p:nvSpPr>
          <p:cNvPr id="27" name="anim-g1-138"/>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139"/>
          <p:cNvSpPr/>
          <p:nvPr/>
        </p:nvSpPr>
        <p:spPr>
          <a:xfrm>
            <a:off x="10231831" y="4943856"/>
            <a:ext cx="954024" cy="954024"/>
          </a:xfrm>
          <a:prstGeom prst="roundRect">
            <a:avLst>
              <a:gd name="adj" fmla="val 11502"/>
            </a:avLst>
          </a:prstGeom>
          <a:solidFill>
            <a:srgbClr val="A3A9BA"/>
          </a:solidFill>
          <a:ln/>
        </p:spPr>
      </p:sp>
      <p:sp>
        <p:nvSpPr>
          <p:cNvPr id="29" name="anim-g1-140"/>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141"/>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تعمل بنصف سرعة</a:t>
            </a:r>
            <a:endParaRPr lang="ar-SA" sz="2400" dirty="0"/>
          </a:p>
        </p:txBody>
      </p:sp>
      <p:sp>
        <p:nvSpPr>
          <p:cNvPr id="31" name="anim-g1-142"/>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الريليه لا يتحكم في السرعة</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الريليه  ·  ١٧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Users\user\projects\younes-training\arduino4\.pptx-cache\s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Users\user\projects\younes-training\arduino4\.pptx-cache\s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مغناطيس صغير يصنعه التيار…</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يغلق مفتاحًا كبيرًا معزولًا: هكذا يتحكم الأردوينو بالمضخات والمراوح بأمان</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الريليه  ·  ٢٠</a:t>
            </a:r>
            <a:endParaRPr lang="ar-SA"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٢</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٢</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شاشة LCD</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المزرعة لا تحمل حاسوبًا… فلتكن لها شاشتها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شاشة LCD  ·  ٢١</a:t>
            </a:r>
            <a:endParaRPr lang="ar-SA"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143"/>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144"/>
          <p:cNvSpPr/>
          <p:nvPr/>
        </p:nvSpPr>
        <p:spPr>
          <a:xfrm>
            <a:off x="10573207" y="2109978"/>
            <a:ext cx="566928" cy="566928"/>
          </a:xfrm>
          <a:prstGeom prst="ellipse">
            <a:avLst/>
          </a:prstGeom>
          <a:solidFill>
            <a:srgbClr val="D9AE4B"/>
          </a:solidFill>
          <a:ln/>
        </p:spPr>
      </p:sp>
      <p:sp>
        <p:nvSpPr>
          <p:cNvPr id="7" name="anim-g1-145"/>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46"/>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توصّل شاشة LCD بأربعة أسلاك عبر I2C</a:t>
            </a:r>
            <a:endParaRPr lang="ar-SA" sz="2400" dirty="0"/>
          </a:p>
        </p:txBody>
      </p:sp>
      <p:sp>
        <p:nvSpPr>
          <p:cNvPr id="9" name="anim-g2-147"/>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148"/>
          <p:cNvSpPr/>
          <p:nvPr/>
        </p:nvSpPr>
        <p:spPr>
          <a:xfrm>
            <a:off x="10573207" y="3166110"/>
            <a:ext cx="566928" cy="566928"/>
          </a:xfrm>
          <a:prstGeom prst="ellipse">
            <a:avLst/>
          </a:prstGeom>
          <a:solidFill>
            <a:srgbClr val="D9AE4B"/>
          </a:solidFill>
          <a:ln/>
        </p:spPr>
      </p:sp>
      <p:sp>
        <p:nvSpPr>
          <p:cNvPr id="11" name="anim-g2-149"/>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50"/>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تكتب في أي مكان بـ setCursor</a:t>
            </a:r>
            <a:endParaRPr lang="ar-SA" sz="2400" dirty="0"/>
          </a:p>
        </p:txBody>
      </p:sp>
      <p:sp>
        <p:nvSpPr>
          <p:cNvPr id="13" name="anim-g3-151"/>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152"/>
          <p:cNvSpPr/>
          <p:nvPr/>
        </p:nvSpPr>
        <p:spPr>
          <a:xfrm>
            <a:off x="10573207" y="4222242"/>
            <a:ext cx="566928" cy="566928"/>
          </a:xfrm>
          <a:prstGeom prst="ellipse">
            <a:avLst/>
          </a:prstGeom>
          <a:solidFill>
            <a:srgbClr val="D9AE4B"/>
          </a:solidFill>
          <a:ln/>
        </p:spPr>
      </p:sp>
      <p:sp>
        <p:nvSpPr>
          <p:cNvPr id="15" name="anim-g3-153"/>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54"/>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تعرض قراءات تتغير دون أن تتداخل الحروف</a:t>
            </a:r>
            <a:endParaRPr lang="ar-SA" sz="2400" dirty="0"/>
          </a:p>
        </p:txBody>
      </p:sp>
      <p:sp>
        <p:nvSpPr>
          <p:cNvPr id="17" name="anim-g4-155"/>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156"/>
          <p:cNvSpPr/>
          <p:nvPr/>
        </p:nvSpPr>
        <p:spPr>
          <a:xfrm>
            <a:off x="10573207" y="5278374"/>
            <a:ext cx="566928" cy="566928"/>
          </a:xfrm>
          <a:prstGeom prst="ellipse">
            <a:avLst/>
          </a:prstGeom>
          <a:solidFill>
            <a:srgbClr val="D9AE4B"/>
          </a:solidFill>
          <a:ln/>
        </p:spPr>
      </p:sp>
      <p:sp>
        <p:nvSpPr>
          <p:cNvPr id="19" name="anim-g4-157"/>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58"/>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ترسم رموزًا خاصة بنفسك</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شاشة LCD  ·  ٢٢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تعرّف على الشاشة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١٦ عمودًا × سطران = ٣٢ خانة</a:t>
            </a:r>
            <a:endParaRPr lang="ar-SA" sz="3800" dirty="0"/>
          </a:p>
        </p:txBody>
      </p:sp>
      <p:sp>
        <p:nvSpPr>
          <p:cNvPr id="5" name="anim-g1-159"/>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60"/>
          <p:cNvSpPr/>
          <p:nvPr/>
        </p:nvSpPr>
        <p:spPr>
          <a:xfrm>
            <a:off x="10527487" y="2267712"/>
            <a:ext cx="566928" cy="566928"/>
          </a:xfrm>
          <a:prstGeom prst="roundRect">
            <a:avLst>
              <a:gd name="adj" fmla="val 32258"/>
            </a:avLst>
          </a:prstGeom>
          <a:solidFill>
            <a:srgbClr val="F7E6BC"/>
          </a:solidFill>
          <a:ln/>
        </p:spPr>
      </p:sp>
      <p:sp>
        <p:nvSpPr>
          <p:cNvPr id="7" name="anim-g1-161"/>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62"/>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الإحداثيات</a:t>
            </a:r>
            <a:endParaRPr lang="ar-SA" sz="2200" dirty="0"/>
          </a:p>
        </p:txBody>
      </p:sp>
      <p:sp>
        <p:nvSpPr>
          <p:cNvPr id="9" name="anim-g1-163"/>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العمود من ٠ إلى ١٥، والسطر ٠ أو ١. setCursor(العمود، السطر)</a:t>
            </a:r>
            <a:endParaRPr lang="ar-SA" sz="1900" dirty="0"/>
          </a:p>
        </p:txBody>
      </p:sp>
      <p:sp>
        <p:nvSpPr>
          <p:cNvPr id="10" name="anim-g2-164"/>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65"/>
          <p:cNvSpPr/>
          <p:nvPr/>
        </p:nvSpPr>
        <p:spPr>
          <a:xfrm>
            <a:off x="6920789" y="2267712"/>
            <a:ext cx="566928" cy="566928"/>
          </a:xfrm>
          <a:prstGeom prst="roundRect">
            <a:avLst>
              <a:gd name="adj" fmla="val 32258"/>
            </a:avLst>
          </a:prstGeom>
          <a:solidFill>
            <a:srgbClr val="F7E6BC"/>
          </a:solidFill>
          <a:ln/>
        </p:spPr>
      </p:sp>
      <p:sp>
        <p:nvSpPr>
          <p:cNvPr id="12" name="anim-g2-166"/>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67"/>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I2C</a:t>
            </a:r>
            <a:endParaRPr lang="ar-SA" sz="2200" dirty="0"/>
          </a:p>
        </p:txBody>
      </p:sp>
      <p:sp>
        <p:nvSpPr>
          <p:cNvPr id="14" name="anim-g2-168"/>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لوحة صغيرة خلف الشاشة تختصر ١٦ سلكًا إلى أربعة: VCC وGND وSDA وSCL</a:t>
            </a:r>
            <a:endParaRPr lang="ar-SA" sz="1900" dirty="0"/>
          </a:p>
        </p:txBody>
      </p:sp>
      <p:sp>
        <p:nvSpPr>
          <p:cNvPr id="15" name="anim-g3-169"/>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70"/>
          <p:cNvSpPr/>
          <p:nvPr/>
        </p:nvSpPr>
        <p:spPr>
          <a:xfrm>
            <a:off x="3314090" y="2267712"/>
            <a:ext cx="566928" cy="566928"/>
          </a:xfrm>
          <a:prstGeom prst="roundRect">
            <a:avLst>
              <a:gd name="adj" fmla="val 32258"/>
            </a:avLst>
          </a:prstGeom>
          <a:solidFill>
            <a:srgbClr val="F7E6BC"/>
          </a:solidFill>
          <a:ln/>
        </p:spPr>
      </p:sp>
      <p:sp>
        <p:nvSpPr>
          <p:cNvPr id="17" name="anim-g3-171"/>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72"/>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العنوان</a:t>
            </a:r>
            <a:endParaRPr lang="ar-SA" sz="2200" dirty="0"/>
          </a:p>
        </p:txBody>
      </p:sp>
      <p:sp>
        <p:nvSpPr>
          <p:cNvPr id="19" name="anim-g3-173"/>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غالبًا 0x27 أو 0x3F. إن لم تظهر الكتابة جرّب العنوان الآخر</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شاشة LCD  ·  ٢٣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C:\Users\user\projects\younes-training\arduino4\.pptx-cache\s24-0.jpg">    </p:cNvPr>
          <p:cNvPicPr>
            <a:picLocks noChangeAspect="1"/>
          </p:cNvPicPr>
          <p:nvPr/>
        </p:nvPicPr>
        <p:blipFill>
          <a:blip r:embed="rId1"/>
          <a:stretch>
            <a:fillRect/>
          </a:stretch>
        </p:blipFill>
        <p:spPr>
          <a:xfrm>
            <a:off x="0" y="0"/>
            <a:ext cx="12191695" cy="6858000"/>
          </a:xfrm>
          <a:prstGeom prst="rect">
            <a:avLst/>
          </a:prstGeom>
        </p:spPr>
      </p:pic>
      <p:pic>
        <p:nvPicPr>
          <p:cNvPr id="3" name="anim-g1-174" descr="C:\Users\user\projects\younes-training\arduino4\.pptx-cache\s24-1.jpg">    </p:cNvPr>
          <p:cNvPicPr>
            <a:picLocks noChangeAspect="1"/>
          </p:cNvPicPr>
          <p:nvPr/>
        </p:nvPicPr>
        <p:blipFill>
          <a:blip r:embed="rId2"/>
          <a:stretch>
            <a:fillRect/>
          </a:stretch>
        </p:blipFill>
        <p:spPr>
          <a:xfrm>
            <a:off x="0" y="0"/>
            <a:ext cx="12191695" cy="6858000"/>
          </a:xfrm>
          <a:prstGeom prst="rect">
            <a:avLst/>
          </a:prstGeom>
        </p:spPr>
      </p:pic>
      <p:pic>
        <p:nvPicPr>
          <p:cNvPr id="4" name="anim-g2-175" descr="C:\Users\user\projects\younes-training\arduino4\.pptx-cache\s24-2.jpg">    </p:cNvPr>
          <p:cNvPicPr>
            <a:picLocks noChangeAspect="1"/>
          </p:cNvPicPr>
          <p:nvPr/>
        </p:nvPicPr>
        <p:blipFill>
          <a:blip r:embed="rId3"/>
          <a:stretch>
            <a:fillRect/>
          </a:stretch>
        </p:blipFill>
        <p:spPr>
          <a:xfrm>
            <a:off x="0" y="0"/>
            <a:ext cx="12191695" cy="6858000"/>
          </a:xfrm>
          <a:prstGeom prst="rect">
            <a:avLst/>
          </a:prstGeom>
        </p:spPr>
      </p:pic>
      <p:pic>
        <p:nvPicPr>
          <p:cNvPr id="5" name="anim-g3-176" descr="C:\Users\user\projects\younes-training\arduino4\.pptx-cache\s24-3.jpg">    </p:cNvPr>
          <p:cNvPicPr>
            <a:picLocks noChangeAspect="1"/>
          </p:cNvPicPr>
          <p:nvPr/>
        </p:nvPicPr>
        <p:blipFill>
          <a:blip r:embed="rId4"/>
          <a:stretch>
            <a:fillRect/>
          </a:stretch>
        </p:blipFill>
        <p:spPr>
          <a:xfrm>
            <a:off x="0" y="0"/>
            <a:ext cx="12191695" cy="6858000"/>
          </a:xfrm>
          <a:prstGeom prst="rect">
            <a:avLst/>
          </a:prstGeom>
        </p:spPr>
      </p:pic>
      <p:pic>
        <p:nvPicPr>
          <p:cNvPr id="6" name="anim-g4-177" descr="C:\Users\user\projects\younes-training\arduino4\.pptx-cache\s24-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C:\Users\user\projects\younes-training\arduino4\.pptx-cache\s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C:\Users\user\projects\younes-training\arduino4\.pptx-cache\s26-0.jpg">    </p:cNvPr>
          <p:cNvPicPr>
            <a:picLocks noChangeAspect="1"/>
          </p:cNvPicPr>
          <p:nvPr/>
        </p:nvPicPr>
        <p:blipFill>
          <a:blip r:embed="rId1"/>
          <a:stretch>
            <a:fillRect/>
          </a:stretch>
        </p:blipFill>
        <p:spPr>
          <a:xfrm>
            <a:off x="0" y="0"/>
            <a:ext cx="12191695" cy="6858000"/>
          </a:xfrm>
          <a:prstGeom prst="rect">
            <a:avLst/>
          </a:prstGeom>
        </p:spPr>
      </p:pic>
      <p:pic>
        <p:nvPicPr>
          <p:cNvPr id="3" name="anim-g1-178" descr="C:\Users\user\projects\younes-training\arduino4\.pptx-cache\s26-1.jpg">    </p:cNvPr>
          <p:cNvPicPr>
            <a:picLocks noChangeAspect="1"/>
          </p:cNvPicPr>
          <p:nvPr/>
        </p:nvPicPr>
        <p:blipFill>
          <a:blip r:embed="rId2"/>
          <a:stretch>
            <a:fillRect/>
          </a:stretch>
        </p:blipFill>
        <p:spPr>
          <a:xfrm>
            <a:off x="0" y="0"/>
            <a:ext cx="12191695" cy="6858000"/>
          </a:xfrm>
          <a:prstGeom prst="rect">
            <a:avLst/>
          </a:prstGeom>
        </p:spPr>
      </p:pic>
      <p:pic>
        <p:nvPicPr>
          <p:cNvPr id="4" name="anim-g2-179" descr="C:\Users\user\projects\younes-training\arduino4\.pptx-cache\s26-2.jpg">    </p:cNvPr>
          <p:cNvPicPr>
            <a:picLocks noChangeAspect="1"/>
          </p:cNvPicPr>
          <p:nvPr/>
        </p:nvPicPr>
        <p:blipFill>
          <a:blip r:embed="rId3"/>
          <a:stretch>
            <a:fillRect/>
          </a:stretch>
        </p:blipFill>
        <p:spPr>
          <a:xfrm>
            <a:off x="0" y="0"/>
            <a:ext cx="12191695" cy="6858000"/>
          </a:xfrm>
          <a:prstGeom prst="rect">
            <a:avLst/>
          </a:prstGeom>
        </p:spPr>
      </p:pic>
      <p:pic>
        <p:nvPicPr>
          <p:cNvPr id="5" name="anim-g3-180" descr="C:\Users\user\projects\younes-training\arduino4\.pptx-cache\s26-3.jpg">    </p:cNvPr>
          <p:cNvPicPr>
            <a:picLocks noChangeAspect="1"/>
          </p:cNvPicPr>
          <p:nvPr/>
        </p:nvPicPr>
        <p:blipFill>
          <a:blip r:embed="rId4"/>
          <a:stretch>
            <a:fillRect/>
          </a:stretch>
        </p:blipFill>
        <p:spPr>
          <a:xfrm>
            <a:off x="0" y="0"/>
            <a:ext cx="12191695" cy="6858000"/>
          </a:xfrm>
          <a:prstGeom prst="rect">
            <a:avLst/>
          </a:prstGeom>
        </p:spPr>
      </p:pic>
      <p:pic>
        <p:nvPicPr>
          <p:cNvPr id="6" name="anim-g4-181" descr="C:\Users\user\projects\younes-training\arduino4\.pptx-cache\s26-4.jpg">    </p:cNvPr>
          <p:cNvPicPr>
            <a:picLocks noChangeAspect="1"/>
          </p:cNvPicPr>
          <p:nvPr/>
        </p:nvPicPr>
        <p:blipFill>
          <a:blip r:embed="rId5"/>
          <a:stretch>
            <a:fillRect/>
          </a:stretch>
        </p:blipFill>
        <p:spPr>
          <a:xfrm>
            <a:off x="0" y="0"/>
            <a:ext cx="12191695" cy="6858000"/>
          </a:xfrm>
          <a:prstGeom prst="rect">
            <a:avLst/>
          </a:prstGeom>
        </p:spPr>
      </p:pic>
      <p:pic>
        <p:nvPicPr>
          <p:cNvPr id="7" name="anim-g5-182" descr="C:\Users\user\projects\younes-training\arduino4\.pptx-cache\s26-5.jpg">    </p:cNvPr>
          <p:cNvPicPr>
            <a:picLocks noChangeAspect="1"/>
          </p:cNvPicPr>
          <p:nvPr/>
        </p:nvPicPr>
        <p:blipFill>
          <a:blip r:embed="rId6"/>
          <a:stretch>
            <a:fillRect/>
          </a:stretch>
        </p:blipFill>
        <p:spPr>
          <a:xfrm>
            <a:off x="0" y="0"/>
            <a:ext cx="12191695" cy="6858000"/>
          </a:xfrm>
          <a:prstGeom prst="rect">
            <a:avLst/>
          </a:prstGeom>
        </p:spPr>
      </p:pic>
      <p:pic>
        <p:nvPicPr>
          <p:cNvPr id="8" name="anim-g6-183" descr="C:\Users\user\projects\younes-training\arduino4\.pptx-cache\s26-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C:\Users\user\projects\younes-training\arduino4\.pptx-cache\s27-0.jpg">    </p:cNvPr>
          <p:cNvPicPr>
            <a:picLocks noChangeAspect="1"/>
          </p:cNvPicPr>
          <p:nvPr/>
        </p:nvPicPr>
        <p:blipFill>
          <a:blip r:embed="rId1"/>
          <a:stretch>
            <a:fillRect/>
          </a:stretch>
        </p:blipFill>
        <p:spPr>
          <a:xfrm>
            <a:off x="0" y="0"/>
            <a:ext cx="12191695" cy="6858000"/>
          </a:xfrm>
          <a:prstGeom prst="rect">
            <a:avLst/>
          </a:prstGeom>
        </p:spPr>
      </p:pic>
      <p:pic>
        <p:nvPicPr>
          <p:cNvPr id="3" name="anim-g1-184" descr="C:\Users\user\projects\younes-training\arduino4\.pptx-cache\s27-1.jpg">    </p:cNvPr>
          <p:cNvPicPr>
            <a:picLocks noChangeAspect="1"/>
          </p:cNvPicPr>
          <p:nvPr/>
        </p:nvPicPr>
        <p:blipFill>
          <a:blip r:embed="rId2"/>
          <a:stretch>
            <a:fillRect/>
          </a:stretch>
        </p:blipFill>
        <p:spPr>
          <a:xfrm>
            <a:off x="0" y="0"/>
            <a:ext cx="12191695" cy="6858000"/>
          </a:xfrm>
          <a:prstGeom prst="rect">
            <a:avLst/>
          </a:prstGeom>
        </p:spPr>
      </p:pic>
      <p:pic>
        <p:nvPicPr>
          <p:cNvPr id="4" name="anim-g2-185" descr="C:\Users\user\projects\younes-training\arduino4\.pptx-cache\s27-2.jpg">    </p:cNvPr>
          <p:cNvPicPr>
            <a:picLocks noChangeAspect="1"/>
          </p:cNvPicPr>
          <p:nvPr/>
        </p:nvPicPr>
        <p:blipFill>
          <a:blip r:embed="rId3"/>
          <a:stretch>
            <a:fillRect/>
          </a:stretch>
        </p:blipFill>
        <p:spPr>
          <a:xfrm>
            <a:off x="0" y="0"/>
            <a:ext cx="12191695" cy="6858000"/>
          </a:xfrm>
          <a:prstGeom prst="rect">
            <a:avLst/>
          </a:prstGeom>
        </p:spPr>
      </p:pic>
      <p:pic>
        <p:nvPicPr>
          <p:cNvPr id="5" name="anim-g3-186" descr="C:\Users\user\projects\younes-training\arduino4\.pptx-cache\s27-3.jpg">    </p:cNvPr>
          <p:cNvPicPr>
            <a:picLocks noChangeAspect="1"/>
          </p:cNvPicPr>
          <p:nvPr/>
        </p:nvPicPr>
        <p:blipFill>
          <a:blip r:embed="rId4"/>
          <a:stretch>
            <a:fillRect/>
          </a:stretch>
        </p:blipFill>
        <p:spPr>
          <a:xfrm>
            <a:off x="0" y="0"/>
            <a:ext cx="12191695" cy="6858000"/>
          </a:xfrm>
          <a:prstGeom prst="rect">
            <a:avLst/>
          </a:prstGeom>
        </p:spPr>
      </p:pic>
      <p:pic>
        <p:nvPicPr>
          <p:cNvPr id="6" name="anim-g4-187" descr="C:\Users\user\projects\younes-training\arduino4\.pptx-cache\s27-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أضاءت الشاشة لكن لا تظهر أي كتابة… ما أول ما تجرّبه؟</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أدِر مقبض التباين خلف الشاشة</a:t>
            </a:r>
            <a:endParaRPr lang="ar-SA" sz="2500" dirty="0"/>
          </a:p>
        </p:txBody>
      </p:sp>
      <p:sp>
        <p:nvSpPr>
          <p:cNvPr id="9" name="anim-g1-188"/>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189"/>
          <p:cNvSpPr/>
          <p:nvPr/>
        </p:nvSpPr>
        <p:spPr>
          <a:xfrm>
            <a:off x="10231831" y="2194560"/>
            <a:ext cx="954024" cy="954024"/>
          </a:xfrm>
          <a:prstGeom prst="roundRect">
            <a:avLst>
              <a:gd name="adj" fmla="val 11502"/>
            </a:avLst>
          </a:prstGeom>
          <a:solidFill>
            <a:srgbClr val="2E9E6B"/>
          </a:solidFill>
          <a:ln/>
        </p:spPr>
      </p:sp>
      <p:sp>
        <p:nvSpPr>
          <p:cNvPr id="11" name="anim-g1-190"/>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191"/>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أدِر مقبض التباين خلف الشاشة</a:t>
            </a:r>
            <a:endParaRPr lang="ar-SA" sz="2400" dirty="0"/>
          </a:p>
        </p:txBody>
      </p:sp>
      <p:sp>
        <p:nvSpPr>
          <p:cNvPr id="13" name="anim-g1-192"/>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التباين أكثر سبب شائع، ثم عنوان I2C (0x27 أو 0x3F)</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اشترِ شاشة جديدة</a:t>
            </a:r>
            <a:endParaRPr lang="ar-SA" sz="2500" dirty="0"/>
          </a:p>
        </p:txBody>
      </p:sp>
      <p:sp>
        <p:nvSpPr>
          <p:cNvPr id="18" name="anim-g1-193"/>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194"/>
          <p:cNvSpPr/>
          <p:nvPr/>
        </p:nvSpPr>
        <p:spPr>
          <a:xfrm>
            <a:off x="10231831" y="3569208"/>
            <a:ext cx="954024" cy="954024"/>
          </a:xfrm>
          <a:prstGeom prst="roundRect">
            <a:avLst>
              <a:gd name="adj" fmla="val 11502"/>
            </a:avLst>
          </a:prstGeom>
          <a:solidFill>
            <a:srgbClr val="A3A9BA"/>
          </a:solidFill>
          <a:ln/>
        </p:spPr>
      </p:sp>
      <p:sp>
        <p:nvSpPr>
          <p:cNvPr id="20" name="anim-g1-195"/>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196"/>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اشترِ شاشة جديدة</a:t>
            </a:r>
            <a:endParaRPr lang="ar-SA" sz="2400" dirty="0"/>
          </a:p>
        </p:txBody>
      </p:sp>
      <p:sp>
        <p:nvSpPr>
          <p:cNvPr id="22" name="anim-g1-197"/>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الشاشة غالبًا سليمة</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احذف lcd.init()</a:t>
            </a:r>
            <a:endParaRPr lang="ar-SA" sz="2500" dirty="0"/>
          </a:p>
        </p:txBody>
      </p:sp>
      <p:sp>
        <p:nvSpPr>
          <p:cNvPr id="27" name="anim-g1-198"/>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199"/>
          <p:cNvSpPr/>
          <p:nvPr/>
        </p:nvSpPr>
        <p:spPr>
          <a:xfrm>
            <a:off x="10231831" y="4943856"/>
            <a:ext cx="954024" cy="954024"/>
          </a:xfrm>
          <a:prstGeom prst="roundRect">
            <a:avLst>
              <a:gd name="adj" fmla="val 11502"/>
            </a:avLst>
          </a:prstGeom>
          <a:solidFill>
            <a:srgbClr val="A3A9BA"/>
          </a:solidFill>
          <a:ln/>
        </p:spPr>
      </p:sp>
      <p:sp>
        <p:nvSpPr>
          <p:cNvPr id="29" name="anim-g1-200"/>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201"/>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احذف lcd.init()</a:t>
            </a:r>
            <a:endParaRPr lang="ar-SA" sz="2400" dirty="0"/>
          </a:p>
        </p:txBody>
      </p:sp>
      <p:sp>
        <p:nvSpPr>
          <p:cNvPr id="31" name="anim-g1-202"/>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بدونها لن تعمل الشاشة أصلًا</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شاشة LCD  ·  ٢٨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C:\Users\user\projects\younes-training\arduino4\.pptx-cache\s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C:\Users\user\projects\younes-training\arduino4\.pptx-cache\s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أربعة أسلاك، وإحداثيات بسيطة، وحيلة المسافات…</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والأردوينو يخبرك بما يحسّ دون حاسوب</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شاشة LCD  ·  ٣١</a:t>
            </a:r>
            <a:endParaRPr lang="ar-SA"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٣</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٣</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الري الآلي</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النبتة لا تتكلم… لكن التربة تخبرنا متى تعطش</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الري الآلي  ·  ٣٢</a:t>
            </a:r>
            <a:endParaRPr lang="ar-SA"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203"/>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204"/>
          <p:cNvSpPr/>
          <p:nvPr/>
        </p:nvSpPr>
        <p:spPr>
          <a:xfrm>
            <a:off x="10573207" y="2109978"/>
            <a:ext cx="566928" cy="566928"/>
          </a:xfrm>
          <a:prstGeom prst="ellipse">
            <a:avLst/>
          </a:prstGeom>
          <a:solidFill>
            <a:srgbClr val="D9AE4B"/>
          </a:solidFill>
          <a:ln/>
        </p:spPr>
      </p:sp>
      <p:sp>
        <p:nvSpPr>
          <p:cNvPr id="7" name="anim-g1-205"/>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206"/>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تفرّق بين حساس التربة السعوي والمقاوم</a:t>
            </a:r>
            <a:endParaRPr lang="ar-SA" sz="2400" dirty="0"/>
          </a:p>
        </p:txBody>
      </p:sp>
      <p:sp>
        <p:nvSpPr>
          <p:cNvPr id="9" name="anim-g2-207"/>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208"/>
          <p:cNvSpPr/>
          <p:nvPr/>
        </p:nvSpPr>
        <p:spPr>
          <a:xfrm>
            <a:off x="10573207" y="3166110"/>
            <a:ext cx="566928" cy="566928"/>
          </a:xfrm>
          <a:prstGeom prst="ellipse">
            <a:avLst/>
          </a:prstGeom>
          <a:solidFill>
            <a:srgbClr val="D9AE4B"/>
          </a:solidFill>
          <a:ln/>
        </p:spPr>
      </p:sp>
      <p:sp>
        <p:nvSpPr>
          <p:cNvPr id="11" name="anim-g2-209"/>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210"/>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تعاير الحساس وتحوّل قراءته إلى نسبة مئوية</a:t>
            </a:r>
            <a:endParaRPr lang="ar-SA" sz="2400" dirty="0"/>
          </a:p>
        </p:txBody>
      </p:sp>
      <p:sp>
        <p:nvSpPr>
          <p:cNvPr id="13" name="anim-g3-211"/>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212"/>
          <p:cNvSpPr/>
          <p:nvPr/>
        </p:nvSpPr>
        <p:spPr>
          <a:xfrm>
            <a:off x="10573207" y="4222242"/>
            <a:ext cx="566928" cy="566928"/>
          </a:xfrm>
          <a:prstGeom prst="ellipse">
            <a:avLst/>
          </a:prstGeom>
          <a:solidFill>
            <a:srgbClr val="D9AE4B"/>
          </a:solidFill>
          <a:ln/>
        </p:spPr>
      </p:sp>
      <p:sp>
        <p:nvSpPr>
          <p:cNvPr id="15" name="anim-g3-213"/>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214"/>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التخلّف (Hysteresis) ولماذا يحمي المضخة</a:t>
            </a:r>
            <a:endParaRPr lang="ar-SA" sz="2400" dirty="0"/>
          </a:p>
        </p:txBody>
      </p:sp>
      <p:sp>
        <p:nvSpPr>
          <p:cNvPr id="17" name="anim-g4-215"/>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216"/>
          <p:cNvSpPr/>
          <p:nvPr/>
        </p:nvSpPr>
        <p:spPr>
          <a:xfrm>
            <a:off x="10573207" y="5278374"/>
            <a:ext cx="566928" cy="566928"/>
          </a:xfrm>
          <a:prstGeom prst="ellipse">
            <a:avLst/>
          </a:prstGeom>
          <a:solidFill>
            <a:srgbClr val="D9AE4B"/>
          </a:solidFill>
          <a:ln/>
        </p:spPr>
      </p:sp>
      <p:sp>
        <p:nvSpPr>
          <p:cNvPr id="19" name="anim-g4-217"/>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218"/>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تبني نظام ري آلي كاملًا لأصيص</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الري الآلي  ·  ٣٣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150047" y="457200"/>
            <a:ext cx="3218688" cy="457200"/>
          </a:xfrm>
          <a:prstGeom prst="roundRect">
            <a:avLst>
              <a:gd name="adj" fmla="val 50000"/>
            </a:avLst>
          </a:prstGeom>
          <a:solidFill>
            <a:srgbClr val="F6EBCF"/>
          </a:solidFill>
          <a:ln/>
        </p:spPr>
      </p:sp>
      <p:sp>
        <p:nvSpPr>
          <p:cNvPr id="3" name="Text 1"/>
          <p:cNvSpPr/>
          <p:nvPr/>
        </p:nvSpPr>
        <p:spPr>
          <a:xfrm>
            <a:off x="8150047" y="457200"/>
            <a:ext cx="321868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نوعان من الحساسات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أيهما تشتري؟</a:t>
            </a:r>
            <a:endParaRPr lang="ar-SA" sz="3800" dirty="0"/>
          </a:p>
        </p:txBody>
      </p:sp>
      <p:sp>
        <p:nvSpPr>
          <p:cNvPr id="5" name="anim-g1-219"/>
          <p:cNvSpPr/>
          <p:nvPr/>
        </p:nvSpPr>
        <p:spPr>
          <a:xfrm>
            <a:off x="6233008"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20"/>
          <p:cNvSpPr/>
          <p:nvPr/>
        </p:nvSpPr>
        <p:spPr>
          <a:xfrm>
            <a:off x="10527487" y="2267712"/>
            <a:ext cx="566928" cy="566928"/>
          </a:xfrm>
          <a:prstGeom prst="roundRect">
            <a:avLst>
              <a:gd name="adj" fmla="val 32258"/>
            </a:avLst>
          </a:prstGeom>
          <a:solidFill>
            <a:srgbClr val="F7E6BC"/>
          </a:solidFill>
          <a:ln/>
        </p:spPr>
      </p:sp>
      <p:sp>
        <p:nvSpPr>
          <p:cNvPr id="7" name="anim-g1-221"/>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222"/>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المقاوم (شوكتان معدنيتان)</a:t>
            </a:r>
            <a:endParaRPr lang="ar-SA" sz="2200" dirty="0"/>
          </a:p>
        </p:txBody>
      </p:sp>
      <p:sp>
        <p:nvSpPr>
          <p:cNvPr id="9" name="anim-g1-223"/>
          <p:cNvSpPr/>
          <p:nvPr/>
        </p:nvSpPr>
        <p:spPr>
          <a:xfrm>
            <a:off x="6507328"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رخيص، لكن التيار يمر في التربة فيصدأ المعدن خلال أسابيع وتفسد القراءة</a:t>
            </a:r>
            <a:endParaRPr lang="ar-SA" sz="1900" dirty="0"/>
          </a:p>
        </p:txBody>
      </p:sp>
      <p:sp>
        <p:nvSpPr>
          <p:cNvPr id="10" name="anim-g2-224"/>
          <p:cNvSpPr/>
          <p:nvPr/>
        </p:nvSpPr>
        <p:spPr>
          <a:xfrm>
            <a:off x="822960"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25"/>
          <p:cNvSpPr/>
          <p:nvPr/>
        </p:nvSpPr>
        <p:spPr>
          <a:xfrm>
            <a:off x="5117440" y="2267712"/>
            <a:ext cx="566928" cy="566928"/>
          </a:xfrm>
          <a:prstGeom prst="roundRect">
            <a:avLst>
              <a:gd name="adj" fmla="val 32258"/>
            </a:avLst>
          </a:prstGeom>
          <a:solidFill>
            <a:srgbClr val="F7E6BC"/>
          </a:solidFill>
          <a:ln/>
        </p:spPr>
      </p:sp>
      <p:sp>
        <p:nvSpPr>
          <p:cNvPr id="12" name="anim-g2-226"/>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227"/>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السعوي (لوح أسود)</a:t>
            </a:r>
            <a:endParaRPr lang="ar-SA" sz="2200" dirty="0"/>
          </a:p>
        </p:txBody>
      </p:sp>
      <p:sp>
        <p:nvSpPr>
          <p:cNvPr id="14" name="anim-g2-228"/>
          <p:cNvSpPr/>
          <p:nvPr/>
        </p:nvSpPr>
        <p:spPr>
          <a:xfrm>
            <a:off x="1097280"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يلمس المعدن التربة، فيعيش طويلًا. القراءة تقل كلما زادت الرطوبة</a:t>
            </a:r>
            <a:endParaRPr lang="ar-SA" sz="1900" dirty="0"/>
          </a:p>
        </p:txBody>
      </p:sp>
      <p:sp>
        <p:nvSpPr>
          <p:cNvPr id="15"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16"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الري الآلي  ·  ٣٤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27871" y="457200"/>
            <a:ext cx="2340864" cy="457200"/>
          </a:xfrm>
          <a:prstGeom prst="roundRect">
            <a:avLst>
              <a:gd name="adj" fmla="val 50000"/>
            </a:avLst>
          </a:prstGeom>
          <a:solidFill>
            <a:srgbClr val="F6EBCF"/>
          </a:solidFill>
          <a:ln/>
        </p:spPr>
      </p:sp>
      <p:sp>
        <p:nvSpPr>
          <p:cNvPr id="3" name="Text 1"/>
          <p:cNvSpPr/>
          <p:nvPr/>
        </p:nvSpPr>
        <p:spPr>
          <a:xfrm>
            <a:off x="9027871" y="45720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المعايرة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من رقم غريب… إلى نسبة مفهومة</a:t>
            </a:r>
            <a:endParaRPr lang="ar-SA" sz="3800" dirty="0"/>
          </a:p>
        </p:txBody>
      </p:sp>
      <p:sp>
        <p:nvSpPr>
          <p:cNvPr id="5" name="anim-g1-229"/>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30"/>
          <p:cNvSpPr/>
          <p:nvPr/>
        </p:nvSpPr>
        <p:spPr>
          <a:xfrm>
            <a:off x="10527487" y="2267712"/>
            <a:ext cx="566928" cy="566928"/>
          </a:xfrm>
          <a:prstGeom prst="roundRect">
            <a:avLst>
              <a:gd name="adj" fmla="val 32258"/>
            </a:avLst>
          </a:prstGeom>
          <a:solidFill>
            <a:srgbClr val="F7E6BC"/>
          </a:solidFill>
          <a:ln/>
        </p:spPr>
      </p:sp>
      <p:sp>
        <p:nvSpPr>
          <p:cNvPr id="7" name="anim-g1-231"/>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232"/>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في الهواء</a:t>
            </a:r>
            <a:endParaRPr lang="ar-SA" sz="2200" dirty="0"/>
          </a:p>
        </p:txBody>
      </p:sp>
      <p:sp>
        <p:nvSpPr>
          <p:cNvPr id="9" name="anim-g1-233"/>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اقرأ الحساس جافًا تمامًا: نحو ٦٠٠ (رقمك قد يختلف)</a:t>
            </a:r>
            <a:endParaRPr lang="ar-SA" sz="1900" dirty="0"/>
          </a:p>
        </p:txBody>
      </p:sp>
      <p:sp>
        <p:nvSpPr>
          <p:cNvPr id="10" name="anim-g2-234"/>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35"/>
          <p:cNvSpPr/>
          <p:nvPr/>
        </p:nvSpPr>
        <p:spPr>
          <a:xfrm>
            <a:off x="6920789" y="2267712"/>
            <a:ext cx="566928" cy="566928"/>
          </a:xfrm>
          <a:prstGeom prst="roundRect">
            <a:avLst>
              <a:gd name="adj" fmla="val 32258"/>
            </a:avLst>
          </a:prstGeom>
          <a:solidFill>
            <a:srgbClr val="F7E6BC"/>
          </a:solidFill>
          <a:ln/>
        </p:spPr>
      </p:sp>
      <p:sp>
        <p:nvSpPr>
          <p:cNvPr id="12" name="anim-g2-236"/>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237"/>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في الماء</a:t>
            </a:r>
            <a:endParaRPr lang="ar-SA" sz="2200" dirty="0"/>
          </a:p>
        </p:txBody>
      </p:sp>
      <p:sp>
        <p:nvSpPr>
          <p:cNvPr id="14" name="anim-g2-238"/>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اغمسه حتى الخط في كوب ماء: نحو ٢٧٠</a:t>
            </a:r>
            <a:endParaRPr lang="ar-SA" sz="1900" dirty="0"/>
          </a:p>
        </p:txBody>
      </p:sp>
      <p:sp>
        <p:nvSpPr>
          <p:cNvPr id="15" name="anim-g3-239"/>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40"/>
          <p:cNvSpPr/>
          <p:nvPr/>
        </p:nvSpPr>
        <p:spPr>
          <a:xfrm>
            <a:off x="3314090" y="2267712"/>
            <a:ext cx="566928" cy="566928"/>
          </a:xfrm>
          <a:prstGeom prst="roundRect">
            <a:avLst>
              <a:gd name="adj" fmla="val 32258"/>
            </a:avLst>
          </a:prstGeom>
          <a:solidFill>
            <a:srgbClr val="F7E6BC"/>
          </a:solidFill>
          <a:ln/>
        </p:spPr>
      </p:sp>
      <p:sp>
        <p:nvSpPr>
          <p:cNvPr id="17" name="anim-g3-241"/>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42"/>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map</a:t>
            </a:r>
            <a:endParaRPr lang="ar-SA" sz="2200" dirty="0"/>
          </a:p>
        </p:txBody>
      </p:sp>
      <p:sp>
        <p:nvSpPr>
          <p:cNvPr id="19" name="anim-g3-243"/>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map(قراءة، ٦٠٠، ٢٧٠، ٠، ١٠٠) ← ٠٪ جاف و١٠٠٪ مبتل. لاحظ أن الترتيب معكوس</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الري الآلي  ·  ٣٥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C:\Users\user\projects\younes-training\arduino4\.pptx-cache\s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C:\Users\user\projects\younes-training\arduino4\.pptx-cache\s37-0.jpg">    </p:cNvPr>
          <p:cNvPicPr>
            <a:picLocks noChangeAspect="1"/>
          </p:cNvPicPr>
          <p:nvPr/>
        </p:nvPicPr>
        <p:blipFill>
          <a:blip r:embed="rId1"/>
          <a:stretch>
            <a:fillRect/>
          </a:stretch>
        </p:blipFill>
        <p:spPr>
          <a:xfrm>
            <a:off x="0" y="0"/>
            <a:ext cx="12191695" cy="6858000"/>
          </a:xfrm>
          <a:prstGeom prst="rect">
            <a:avLst/>
          </a:prstGeom>
        </p:spPr>
      </p:pic>
      <p:pic>
        <p:nvPicPr>
          <p:cNvPr id="3" name="anim-g1-244" descr="C:\Users\user\projects\younes-training\arduino4\.pptx-cache\s37-1.jpg">    </p:cNvPr>
          <p:cNvPicPr>
            <a:picLocks noChangeAspect="1"/>
          </p:cNvPicPr>
          <p:nvPr/>
        </p:nvPicPr>
        <p:blipFill>
          <a:blip r:embed="rId2"/>
          <a:stretch>
            <a:fillRect/>
          </a:stretch>
        </p:blipFill>
        <p:spPr>
          <a:xfrm>
            <a:off x="0" y="0"/>
            <a:ext cx="12191695" cy="6858000"/>
          </a:xfrm>
          <a:prstGeom prst="rect">
            <a:avLst/>
          </a:prstGeom>
        </p:spPr>
      </p:pic>
      <p:pic>
        <p:nvPicPr>
          <p:cNvPr id="4" name="anim-g2-245" descr="C:\Users\user\projects\younes-training\arduino4\.pptx-cache\s37-2.jpg">    </p:cNvPr>
          <p:cNvPicPr>
            <a:picLocks noChangeAspect="1"/>
          </p:cNvPicPr>
          <p:nvPr/>
        </p:nvPicPr>
        <p:blipFill>
          <a:blip r:embed="rId3"/>
          <a:stretch>
            <a:fillRect/>
          </a:stretch>
        </p:blipFill>
        <p:spPr>
          <a:xfrm>
            <a:off x="0" y="0"/>
            <a:ext cx="12191695" cy="6858000"/>
          </a:xfrm>
          <a:prstGeom prst="rect">
            <a:avLst/>
          </a:prstGeom>
        </p:spPr>
      </p:pic>
      <p:pic>
        <p:nvPicPr>
          <p:cNvPr id="5" name="anim-g3-246" descr="C:\Users\user\projects\younes-training\arduino4\.pptx-cache\s37-3.jpg">    </p:cNvPr>
          <p:cNvPicPr>
            <a:picLocks noChangeAspect="1"/>
          </p:cNvPicPr>
          <p:nvPr/>
        </p:nvPicPr>
        <p:blipFill>
          <a:blip r:embed="rId4"/>
          <a:stretch>
            <a:fillRect/>
          </a:stretch>
        </p:blipFill>
        <p:spPr>
          <a:xfrm>
            <a:off x="0" y="0"/>
            <a:ext cx="12191695" cy="6858000"/>
          </a:xfrm>
          <a:prstGeom prst="rect">
            <a:avLst/>
          </a:prstGeom>
        </p:spPr>
      </p:pic>
      <p:pic>
        <p:nvPicPr>
          <p:cNvPr id="6" name="anim-g4-247" descr="C:\Users\user\projects\younes-training\arduino4\.pptx-cache\s37-4.jpg">    </p:cNvPr>
          <p:cNvPicPr>
            <a:picLocks noChangeAspect="1"/>
          </p:cNvPicPr>
          <p:nvPr/>
        </p:nvPicPr>
        <p:blipFill>
          <a:blip r:embed="rId5"/>
          <a:stretch>
            <a:fillRect/>
          </a:stretch>
        </p:blipFill>
        <p:spPr>
          <a:xfrm>
            <a:off x="0" y="0"/>
            <a:ext cx="12191695" cy="6858000"/>
          </a:xfrm>
          <a:prstGeom prst="rect">
            <a:avLst/>
          </a:prstGeom>
        </p:spPr>
      </p:pic>
      <p:pic>
        <p:nvPicPr>
          <p:cNvPr id="7" name="anim-g5-248" descr="C:\Users\user\projects\younes-training\arduino4\.pptx-cache\s37-5.jpg">    </p:cNvPr>
          <p:cNvPicPr>
            <a:picLocks noChangeAspect="1"/>
          </p:cNvPicPr>
          <p:nvPr/>
        </p:nvPicPr>
        <p:blipFill>
          <a:blip r:embed="rId6"/>
          <a:stretch>
            <a:fillRect/>
          </a:stretch>
        </p:blipFill>
        <p:spPr>
          <a:xfrm>
            <a:off x="0" y="0"/>
            <a:ext cx="12191695" cy="6858000"/>
          </a:xfrm>
          <a:prstGeom prst="rect">
            <a:avLst/>
          </a:prstGeom>
        </p:spPr>
      </p:pic>
      <p:pic>
        <p:nvPicPr>
          <p:cNvPr id="8" name="anim-g6-249" descr="C:\Users\user\projects\younes-training\arduino4\.pptx-cache\s37-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C:\Users\user\projects\younes-training\arduino4\.pptx-cache\s38-0.jpg">    </p:cNvPr>
          <p:cNvPicPr>
            <a:picLocks noChangeAspect="1"/>
          </p:cNvPicPr>
          <p:nvPr/>
        </p:nvPicPr>
        <p:blipFill>
          <a:blip r:embed="rId1"/>
          <a:stretch>
            <a:fillRect/>
          </a:stretch>
        </p:blipFill>
        <p:spPr>
          <a:xfrm>
            <a:off x="0" y="0"/>
            <a:ext cx="12191695" cy="6858000"/>
          </a:xfrm>
          <a:prstGeom prst="rect">
            <a:avLst/>
          </a:prstGeom>
        </p:spPr>
      </p:pic>
      <p:pic>
        <p:nvPicPr>
          <p:cNvPr id="3" name="anim-g1-250" descr="C:\Users\user\projects\younes-training\arduino4\.pptx-cache\s38-1.jpg">    </p:cNvPr>
          <p:cNvPicPr>
            <a:picLocks noChangeAspect="1"/>
          </p:cNvPicPr>
          <p:nvPr/>
        </p:nvPicPr>
        <p:blipFill>
          <a:blip r:embed="rId2"/>
          <a:stretch>
            <a:fillRect/>
          </a:stretch>
        </p:blipFill>
        <p:spPr>
          <a:xfrm>
            <a:off x="0" y="0"/>
            <a:ext cx="12191695" cy="6858000"/>
          </a:xfrm>
          <a:prstGeom prst="rect">
            <a:avLst/>
          </a:prstGeom>
        </p:spPr>
      </p:pic>
      <p:pic>
        <p:nvPicPr>
          <p:cNvPr id="4" name="anim-g2-251" descr="C:\Users\user\projects\younes-training\arduino4\.pptx-cache\s38-2.jpg">    </p:cNvPr>
          <p:cNvPicPr>
            <a:picLocks noChangeAspect="1"/>
          </p:cNvPicPr>
          <p:nvPr/>
        </p:nvPicPr>
        <p:blipFill>
          <a:blip r:embed="rId3"/>
          <a:stretch>
            <a:fillRect/>
          </a:stretch>
        </p:blipFill>
        <p:spPr>
          <a:xfrm>
            <a:off x="0" y="0"/>
            <a:ext cx="12191695" cy="6858000"/>
          </a:xfrm>
          <a:prstGeom prst="rect">
            <a:avLst/>
          </a:prstGeom>
        </p:spPr>
      </p:pic>
      <p:pic>
        <p:nvPicPr>
          <p:cNvPr id="5" name="anim-g3-252" descr="C:\Users\user\projects\younes-training\arduino4\.pptx-cache\s38-3.jpg">    </p:cNvPr>
          <p:cNvPicPr>
            <a:picLocks noChangeAspect="1"/>
          </p:cNvPicPr>
          <p:nvPr/>
        </p:nvPicPr>
        <p:blipFill>
          <a:blip r:embed="rId4"/>
          <a:stretch>
            <a:fillRect/>
          </a:stretch>
        </p:blipFill>
        <p:spPr>
          <a:xfrm>
            <a:off x="0" y="0"/>
            <a:ext cx="12191695" cy="6858000"/>
          </a:xfrm>
          <a:prstGeom prst="rect">
            <a:avLst/>
          </a:prstGeom>
        </p:spPr>
      </p:pic>
      <p:pic>
        <p:nvPicPr>
          <p:cNvPr id="6" name="anim-g4-253" descr="C:\Users\user\projects\younes-training\arduino4\.pptx-cache\s38-4.jpg">    </p:cNvPr>
          <p:cNvPicPr>
            <a:picLocks noChangeAspect="1"/>
          </p:cNvPicPr>
          <p:nvPr/>
        </p:nvPicPr>
        <p:blipFill>
          <a:blip r:embed="rId5"/>
          <a:stretch>
            <a:fillRect/>
          </a:stretch>
        </p:blipFill>
        <p:spPr>
          <a:xfrm>
            <a:off x="0" y="0"/>
            <a:ext cx="12191695" cy="6858000"/>
          </a:xfrm>
          <a:prstGeom prst="rect">
            <a:avLst/>
          </a:prstGeom>
        </p:spPr>
      </p:pic>
      <p:pic>
        <p:nvPicPr>
          <p:cNvPr id="7" name="anim-g5-254" descr="C:\Users\user\projects\younes-training\arduino4\.pptx-cache\s38-5.jpg">    </p:cNvPr>
          <p:cNvPicPr>
            <a:picLocks noChangeAspect="1"/>
          </p:cNvPicPr>
          <p:nvPr/>
        </p:nvPicPr>
        <p:blipFill>
          <a:blip r:embed="rId6"/>
          <a:stretch>
            <a:fillRect/>
          </a:stretch>
        </p:blipFill>
        <p:spPr>
          <a:xfrm>
            <a:off x="0" y="0"/>
            <a:ext cx="12191695" cy="6858000"/>
          </a:xfrm>
          <a:prstGeom prst="rect">
            <a:avLst/>
          </a:prstGeom>
        </p:spPr>
      </p:pic>
      <p:pic>
        <p:nvPicPr>
          <p:cNvPr id="8" name="anim-g6-255" descr="C:\Users\user\projects\younes-training\arduino4\.pptx-cache\s38-6.jpg">    </p:cNvPr>
          <p:cNvPicPr>
            <a:picLocks noChangeAspect="1"/>
          </p:cNvPicPr>
          <p:nvPr/>
        </p:nvPicPr>
        <p:blipFill>
          <a:blip r:embed="rId7"/>
          <a:stretch>
            <a:fillRect/>
          </a:stretch>
        </p:blipFill>
        <p:spPr>
          <a:xfrm>
            <a:off x="0" y="0"/>
            <a:ext cx="12191695" cy="6858000"/>
          </a:xfrm>
          <a:prstGeom prst="rect">
            <a:avLst/>
          </a:prstGeom>
        </p:spPr>
      </p:pic>
      <p:pic>
        <p:nvPicPr>
          <p:cNvPr id="9" name="anim-g7-256" descr="C:\Users\user\projects\younes-training\arduino4\.pptx-cache\s38-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C:\Users\user\projects\younes-training\arduino4\.pptx-cache\s39-0.jpg">    </p:cNvPr>
          <p:cNvPicPr>
            <a:picLocks noChangeAspect="1"/>
          </p:cNvPicPr>
          <p:nvPr/>
        </p:nvPicPr>
        <p:blipFill>
          <a:blip r:embed="rId1"/>
          <a:stretch>
            <a:fillRect/>
          </a:stretch>
        </p:blipFill>
        <p:spPr>
          <a:xfrm>
            <a:off x="0" y="0"/>
            <a:ext cx="12191695" cy="6858000"/>
          </a:xfrm>
          <a:prstGeom prst="rect">
            <a:avLst/>
          </a:prstGeom>
        </p:spPr>
      </p:pic>
      <p:pic>
        <p:nvPicPr>
          <p:cNvPr id="3" name="anim-g1-257" descr="C:\Users\user\projects\younes-training\arduino4\.pptx-cache\s39-1.jpg">    </p:cNvPr>
          <p:cNvPicPr>
            <a:picLocks noChangeAspect="1"/>
          </p:cNvPicPr>
          <p:nvPr/>
        </p:nvPicPr>
        <p:blipFill>
          <a:blip r:embed="rId2"/>
          <a:stretch>
            <a:fillRect/>
          </a:stretch>
        </p:blipFill>
        <p:spPr>
          <a:xfrm>
            <a:off x="0" y="0"/>
            <a:ext cx="12191695" cy="6858000"/>
          </a:xfrm>
          <a:prstGeom prst="rect">
            <a:avLst/>
          </a:prstGeom>
        </p:spPr>
      </p:pic>
      <p:pic>
        <p:nvPicPr>
          <p:cNvPr id="4" name="anim-g2-258" descr="C:\Users\user\projects\younes-training\arduino4\.pptx-cache\s39-2.jpg">    </p:cNvPr>
          <p:cNvPicPr>
            <a:picLocks noChangeAspect="1"/>
          </p:cNvPicPr>
          <p:nvPr/>
        </p:nvPicPr>
        <p:blipFill>
          <a:blip r:embed="rId3"/>
          <a:stretch>
            <a:fillRect/>
          </a:stretch>
        </p:blipFill>
        <p:spPr>
          <a:xfrm>
            <a:off x="0" y="0"/>
            <a:ext cx="12191695" cy="6858000"/>
          </a:xfrm>
          <a:prstGeom prst="rect">
            <a:avLst/>
          </a:prstGeom>
        </p:spPr>
      </p:pic>
      <p:pic>
        <p:nvPicPr>
          <p:cNvPr id="5" name="anim-g3-259" descr="C:\Users\user\projects\younes-training\arduino4\.pptx-cache\s39-3.jpg">    </p:cNvPr>
          <p:cNvPicPr>
            <a:picLocks noChangeAspect="1"/>
          </p:cNvPicPr>
          <p:nvPr/>
        </p:nvPicPr>
        <p:blipFill>
          <a:blip r:embed="rId4"/>
          <a:stretch>
            <a:fillRect/>
          </a:stretch>
        </p:blipFill>
        <p:spPr>
          <a:xfrm>
            <a:off x="0" y="0"/>
            <a:ext cx="12191695" cy="6858000"/>
          </a:xfrm>
          <a:prstGeom prst="rect">
            <a:avLst/>
          </a:prstGeom>
        </p:spPr>
      </p:pic>
      <p:pic>
        <p:nvPicPr>
          <p:cNvPr id="6" name="anim-g4-260" descr="C:\Users\user\projects\younes-training\arduino4\.pptx-cache\s39-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الرطوبة الآن ٥٠٪ والمضخة تعمل… ماذا يحدث في الدورة القادمة (الحدان ٤٠ و٦٥)؟</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تتوقف لأن ٥٠ فوق ٤٠</a:t>
            </a:r>
            <a:endParaRPr lang="ar-SA" sz="2500" dirty="0"/>
          </a:p>
        </p:txBody>
      </p:sp>
      <p:sp>
        <p:nvSpPr>
          <p:cNvPr id="9" name="anim-g1-261"/>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262"/>
          <p:cNvSpPr/>
          <p:nvPr/>
        </p:nvSpPr>
        <p:spPr>
          <a:xfrm>
            <a:off x="10231831" y="2194560"/>
            <a:ext cx="954024" cy="954024"/>
          </a:xfrm>
          <a:prstGeom prst="roundRect">
            <a:avLst>
              <a:gd name="adj" fmla="val 11502"/>
            </a:avLst>
          </a:prstGeom>
          <a:solidFill>
            <a:srgbClr val="A3A9BA"/>
          </a:solidFill>
          <a:ln/>
        </p:spPr>
      </p:sp>
      <p:sp>
        <p:nvSpPr>
          <p:cNvPr id="11" name="anim-g1-263"/>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264"/>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تتوقف لأن ٥٠ فوق ٤٠</a:t>
            </a:r>
            <a:endParaRPr lang="ar-SA" sz="2400" dirty="0"/>
          </a:p>
        </p:txBody>
      </p:sp>
      <p:sp>
        <p:nvSpPr>
          <p:cNvPr id="13" name="anim-g1-265"/>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شرط الإيقاف هو تجاوز ٦٥ لا ٤٠</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تستمر في العمل حتى تتجاوز ٦٥</a:t>
            </a:r>
            <a:endParaRPr lang="ar-SA" sz="2500" dirty="0"/>
          </a:p>
        </p:txBody>
      </p:sp>
      <p:sp>
        <p:nvSpPr>
          <p:cNvPr id="18" name="anim-g1-266"/>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267"/>
          <p:cNvSpPr/>
          <p:nvPr/>
        </p:nvSpPr>
        <p:spPr>
          <a:xfrm>
            <a:off x="10231831" y="3569208"/>
            <a:ext cx="954024" cy="954024"/>
          </a:xfrm>
          <a:prstGeom prst="roundRect">
            <a:avLst>
              <a:gd name="adj" fmla="val 11502"/>
            </a:avLst>
          </a:prstGeom>
          <a:solidFill>
            <a:srgbClr val="2E9E6B"/>
          </a:solidFill>
          <a:ln/>
        </p:spPr>
      </p:sp>
      <p:sp>
        <p:nvSpPr>
          <p:cNvPr id="20" name="anim-g1-268"/>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269"/>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تستمر في العمل حتى تتجاوز ٦٥</a:t>
            </a:r>
            <a:endParaRPr lang="ar-SA" sz="2400" dirty="0"/>
          </a:p>
        </p:txBody>
      </p:sp>
      <p:sp>
        <p:nvSpPr>
          <p:cNvPr id="22" name="anim-g1-270"/>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بين الحدين لا يتغير شيء: المضخة تكمل ما بدأته. هذه ذاكرة التخلّف</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تتوقف وتعمل بالتناوب</a:t>
            </a:r>
            <a:endParaRPr lang="ar-SA" sz="2500" dirty="0"/>
          </a:p>
        </p:txBody>
      </p:sp>
      <p:sp>
        <p:nvSpPr>
          <p:cNvPr id="27" name="anim-g1-271"/>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272"/>
          <p:cNvSpPr/>
          <p:nvPr/>
        </p:nvSpPr>
        <p:spPr>
          <a:xfrm>
            <a:off x="10231831" y="4943856"/>
            <a:ext cx="954024" cy="954024"/>
          </a:xfrm>
          <a:prstGeom prst="roundRect">
            <a:avLst>
              <a:gd name="adj" fmla="val 11502"/>
            </a:avLst>
          </a:prstGeom>
          <a:solidFill>
            <a:srgbClr val="A3A9BA"/>
          </a:solidFill>
          <a:ln/>
        </p:spPr>
      </p:sp>
      <p:sp>
        <p:nvSpPr>
          <p:cNvPr id="29" name="anim-g1-27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274"/>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تتوقف وتعمل بالتناوب</a:t>
            </a:r>
            <a:endParaRPr lang="ar-SA" sz="2400" dirty="0"/>
          </a:p>
        </p:txBody>
      </p:sp>
      <p:sp>
        <p:nvSpPr>
          <p:cNvPr id="31" name="anim-g1-275"/>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ما يحدث مع الحد الواحد، وهو ما نتجنبه</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الري الآلي  ·  ٤٠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C:\Users\user\projects\younes-training\arduino4\.pptx-cache\s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C:\Users\user\projects\younes-training\arduino4\.pptx-cache\s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حساس يسأل التربة، وحدّان يمنعان الارتجاف، ومضخة تسقي في وقتها: أول نظام في مزرعتنا يعمل وحده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الري الآلي  ·  ٤٣</a:t>
            </a:r>
            <a:endParaRPr lang="ar-SA"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٤</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٤</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البيت المحمي</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مناخ مثالي داخل الجدران… مهما كان الطقس خارجها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البيت المحمي  ·  ٤٤</a:t>
            </a:r>
            <a:endParaRPr lang="ar-SA"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276"/>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277"/>
          <p:cNvSpPr/>
          <p:nvPr/>
        </p:nvSpPr>
        <p:spPr>
          <a:xfrm>
            <a:off x="10573207" y="2109978"/>
            <a:ext cx="566928" cy="566928"/>
          </a:xfrm>
          <a:prstGeom prst="ellipse">
            <a:avLst/>
          </a:prstGeom>
          <a:solidFill>
            <a:srgbClr val="D9AE4B"/>
          </a:solidFill>
          <a:ln/>
        </p:spPr>
      </p:sp>
      <p:sp>
        <p:nvSpPr>
          <p:cNvPr id="7" name="anim-g1-278"/>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279"/>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تقرأ الحرارة والرطوبة بحساس DHT22</a:t>
            </a:r>
            <a:endParaRPr lang="ar-SA" sz="2400" dirty="0"/>
          </a:p>
        </p:txBody>
      </p:sp>
      <p:sp>
        <p:nvSpPr>
          <p:cNvPr id="9" name="anim-g2-280"/>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281"/>
          <p:cNvSpPr/>
          <p:nvPr/>
        </p:nvSpPr>
        <p:spPr>
          <a:xfrm>
            <a:off x="10573207" y="3166110"/>
            <a:ext cx="566928" cy="566928"/>
          </a:xfrm>
          <a:prstGeom prst="ellipse">
            <a:avLst/>
          </a:prstGeom>
          <a:solidFill>
            <a:srgbClr val="D9AE4B"/>
          </a:solidFill>
          <a:ln/>
        </p:spPr>
      </p:sp>
      <p:sp>
        <p:nvSpPr>
          <p:cNvPr id="11" name="anim-g2-282"/>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283"/>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تشغّل مروحة بالتخلّف، وتفتح نافذة بدرجة تناسب الحرارة</a:t>
            </a:r>
            <a:endParaRPr lang="ar-SA" sz="2400" dirty="0"/>
          </a:p>
        </p:txBody>
      </p:sp>
      <p:sp>
        <p:nvSpPr>
          <p:cNvPr id="13" name="anim-g3-284"/>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285"/>
          <p:cNvSpPr/>
          <p:nvPr/>
        </p:nvSpPr>
        <p:spPr>
          <a:xfrm>
            <a:off x="10573207" y="4222242"/>
            <a:ext cx="566928" cy="566928"/>
          </a:xfrm>
          <a:prstGeom prst="ellipse">
            <a:avLst/>
          </a:prstGeom>
          <a:solidFill>
            <a:srgbClr val="D9AE4B"/>
          </a:solidFill>
          <a:ln/>
        </p:spPr>
      </p:sp>
      <p:sp>
        <p:nvSpPr>
          <p:cNvPr id="15" name="anim-g3-286"/>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287"/>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تضيف إضاءة نمو حين يقل الضوء</a:t>
            </a:r>
            <a:endParaRPr lang="ar-SA" sz="2400" dirty="0"/>
          </a:p>
        </p:txBody>
      </p:sp>
      <p:sp>
        <p:nvSpPr>
          <p:cNvPr id="17" name="anim-g4-288"/>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289"/>
          <p:cNvSpPr/>
          <p:nvPr/>
        </p:nvSpPr>
        <p:spPr>
          <a:xfrm>
            <a:off x="10573207" y="5278374"/>
            <a:ext cx="566928" cy="566928"/>
          </a:xfrm>
          <a:prstGeom prst="ellipse">
            <a:avLst/>
          </a:prstGeom>
          <a:solidFill>
            <a:srgbClr val="D9AE4B"/>
          </a:solidFill>
          <a:ln/>
        </p:spPr>
      </p:sp>
      <p:sp>
        <p:nvSpPr>
          <p:cNvPr id="19" name="anim-g4-290"/>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291"/>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تفهم الفرق بين التحكم «يعمل/لا يعمل» والتحكم التدريجي</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البيت المحمي  ·  ٤٥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أدوات المناخ</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ثلاثة مشغّلات… ثلاث طرق تحكم</a:t>
            </a:r>
            <a:endParaRPr lang="ar-SA" sz="3800" dirty="0"/>
          </a:p>
        </p:txBody>
      </p:sp>
      <p:sp>
        <p:nvSpPr>
          <p:cNvPr id="5" name="anim-g1-292"/>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93"/>
          <p:cNvSpPr/>
          <p:nvPr/>
        </p:nvSpPr>
        <p:spPr>
          <a:xfrm>
            <a:off x="10527487" y="2267712"/>
            <a:ext cx="566928" cy="566928"/>
          </a:xfrm>
          <a:prstGeom prst="roundRect">
            <a:avLst>
              <a:gd name="adj" fmla="val 32258"/>
            </a:avLst>
          </a:prstGeom>
          <a:solidFill>
            <a:srgbClr val="F7E6BC"/>
          </a:solidFill>
          <a:ln/>
        </p:spPr>
      </p:sp>
      <p:sp>
        <p:nvSpPr>
          <p:cNvPr id="7" name="anim-g1-29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295"/>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المروحة</a:t>
            </a:r>
            <a:endParaRPr lang="ar-SA" sz="2200" dirty="0"/>
          </a:p>
        </p:txBody>
      </p:sp>
      <p:sp>
        <p:nvSpPr>
          <p:cNvPr id="9" name="anim-g1-296"/>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يعمل أو لا يعمل (ريليه) بالتخلّف: فوق ٢٨ تعمل، وتحت ٢٦ تتوقف</a:t>
            </a:r>
            <a:endParaRPr lang="ar-SA" sz="1900" dirty="0"/>
          </a:p>
        </p:txBody>
      </p:sp>
      <p:sp>
        <p:nvSpPr>
          <p:cNvPr id="10" name="anim-g2-297"/>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98"/>
          <p:cNvSpPr/>
          <p:nvPr/>
        </p:nvSpPr>
        <p:spPr>
          <a:xfrm>
            <a:off x="6920789" y="2267712"/>
            <a:ext cx="566928" cy="566928"/>
          </a:xfrm>
          <a:prstGeom prst="roundRect">
            <a:avLst>
              <a:gd name="adj" fmla="val 32258"/>
            </a:avLst>
          </a:prstGeom>
          <a:solidFill>
            <a:srgbClr val="F7E6BC"/>
          </a:solidFill>
          <a:ln/>
        </p:spPr>
      </p:sp>
      <p:sp>
        <p:nvSpPr>
          <p:cNvPr id="12" name="anim-g2-299"/>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00"/>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النافذة</a:t>
            </a:r>
            <a:endParaRPr lang="ar-SA" sz="2200" dirty="0"/>
          </a:p>
        </p:txBody>
      </p:sp>
      <p:sp>
        <p:nvSpPr>
          <p:cNvPr id="14" name="anim-g2-301"/>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تدريجي (سيرفو): تنفتح بقدر الحرارة من ٠ إلى ٩٠ درجة</a:t>
            </a:r>
            <a:endParaRPr lang="ar-SA" sz="1900" dirty="0"/>
          </a:p>
        </p:txBody>
      </p:sp>
      <p:sp>
        <p:nvSpPr>
          <p:cNvPr id="15" name="anim-g3-302"/>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03"/>
          <p:cNvSpPr/>
          <p:nvPr/>
        </p:nvSpPr>
        <p:spPr>
          <a:xfrm>
            <a:off x="3314090" y="2267712"/>
            <a:ext cx="566928" cy="566928"/>
          </a:xfrm>
          <a:prstGeom prst="roundRect">
            <a:avLst>
              <a:gd name="adj" fmla="val 32258"/>
            </a:avLst>
          </a:prstGeom>
          <a:solidFill>
            <a:srgbClr val="F7E6BC"/>
          </a:solidFill>
          <a:ln/>
        </p:spPr>
      </p:sp>
      <p:sp>
        <p:nvSpPr>
          <p:cNvPr id="17" name="anim-g3-304"/>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305"/>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إضاءة النمو</a:t>
            </a:r>
            <a:endParaRPr lang="ar-SA" sz="2200" dirty="0"/>
          </a:p>
        </p:txBody>
      </p:sp>
      <p:sp>
        <p:nvSpPr>
          <p:cNvPr id="19" name="anim-g3-306"/>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ليدات حمراء وزرقاء تعمل حين يقل الضوء، لتطيل «نهار» النبات</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البيت المحمي  ·  ٤٦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تعرّف على DHT22</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حساس الحرارة والرطوبة الدقيق</a:t>
            </a:r>
            <a:endParaRPr lang="ar-SA" sz="3800" dirty="0"/>
          </a:p>
        </p:txBody>
      </p:sp>
      <p:sp>
        <p:nvSpPr>
          <p:cNvPr id="5" name="anim-g1-307"/>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08"/>
          <p:cNvSpPr/>
          <p:nvPr/>
        </p:nvSpPr>
        <p:spPr>
          <a:xfrm>
            <a:off x="10527487" y="2267712"/>
            <a:ext cx="566928" cy="566928"/>
          </a:xfrm>
          <a:prstGeom prst="roundRect">
            <a:avLst>
              <a:gd name="adj" fmla="val 32258"/>
            </a:avLst>
          </a:prstGeom>
          <a:solidFill>
            <a:srgbClr val="F7E6BC"/>
          </a:solidFill>
          <a:ln/>
        </p:spPr>
      </p:sp>
      <p:sp>
        <p:nvSpPr>
          <p:cNvPr id="7" name="anim-g1-30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310"/>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الحرارة</a:t>
            </a:r>
            <a:endParaRPr lang="ar-SA" sz="2200" dirty="0"/>
          </a:p>
        </p:txBody>
      </p:sp>
      <p:sp>
        <p:nvSpPr>
          <p:cNvPr id="9" name="anim-g1-311"/>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من −٤٠ إلى ٨٠ درجة، بدقة نحو نصف درجة</a:t>
            </a:r>
            <a:endParaRPr lang="ar-SA" sz="1900" dirty="0"/>
          </a:p>
        </p:txBody>
      </p:sp>
      <p:sp>
        <p:nvSpPr>
          <p:cNvPr id="10" name="anim-g2-312"/>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13"/>
          <p:cNvSpPr/>
          <p:nvPr/>
        </p:nvSpPr>
        <p:spPr>
          <a:xfrm>
            <a:off x="6920789" y="2267712"/>
            <a:ext cx="566928" cy="566928"/>
          </a:xfrm>
          <a:prstGeom prst="roundRect">
            <a:avLst>
              <a:gd name="adj" fmla="val 32258"/>
            </a:avLst>
          </a:prstGeom>
          <a:solidFill>
            <a:srgbClr val="F7E6BC"/>
          </a:solidFill>
          <a:ln/>
        </p:spPr>
      </p:sp>
      <p:sp>
        <p:nvSpPr>
          <p:cNvPr id="12" name="anim-g2-314"/>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15"/>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الرطوبة</a:t>
            </a:r>
            <a:endParaRPr lang="ar-SA" sz="2200" dirty="0"/>
          </a:p>
        </p:txBody>
      </p:sp>
      <p:sp>
        <p:nvSpPr>
          <p:cNvPr id="14" name="anim-g2-316"/>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من ٠ إلى ١٠٠٪، بدقة بضع درجات مئوية</a:t>
            </a:r>
            <a:endParaRPr lang="ar-SA" sz="1900" dirty="0"/>
          </a:p>
        </p:txBody>
      </p:sp>
      <p:sp>
        <p:nvSpPr>
          <p:cNvPr id="15" name="anim-g3-317"/>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18"/>
          <p:cNvSpPr/>
          <p:nvPr/>
        </p:nvSpPr>
        <p:spPr>
          <a:xfrm>
            <a:off x="3314090" y="2267712"/>
            <a:ext cx="566928" cy="566928"/>
          </a:xfrm>
          <a:prstGeom prst="roundRect">
            <a:avLst>
              <a:gd name="adj" fmla="val 32258"/>
            </a:avLst>
          </a:prstGeom>
          <a:solidFill>
            <a:srgbClr val="F7E6BC"/>
          </a:solidFill>
          <a:ln/>
        </p:spPr>
      </p:sp>
      <p:sp>
        <p:nvSpPr>
          <p:cNvPr id="17" name="anim-g3-319"/>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320"/>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بهدوء</a:t>
            </a:r>
            <a:endParaRPr lang="ar-SA" sz="2200" dirty="0"/>
          </a:p>
        </p:txBody>
      </p:sp>
      <p:sp>
        <p:nvSpPr>
          <p:cNvPr id="19" name="anim-g3-321"/>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قراءة واحدة كل ثانيتين على الأكثر</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البيت المحمي  ·  ٤٧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C:\Users\user\projects\younes-training\arduino4\.pptx-cache\s4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Image 0" descr="C:\Users\user\projects\younes-training\arduino4\.pptx-cache\s49-0.jpg">    </p:cNvPr>
          <p:cNvPicPr>
            <a:picLocks noChangeAspect="1"/>
          </p:cNvPicPr>
          <p:nvPr/>
        </p:nvPicPr>
        <p:blipFill>
          <a:blip r:embed="rId1"/>
          <a:stretch>
            <a:fillRect/>
          </a:stretch>
        </p:blipFill>
        <p:spPr>
          <a:xfrm>
            <a:off x="0" y="0"/>
            <a:ext cx="12191695" cy="6858000"/>
          </a:xfrm>
          <a:prstGeom prst="rect">
            <a:avLst/>
          </a:prstGeom>
        </p:spPr>
      </p:pic>
      <p:pic>
        <p:nvPicPr>
          <p:cNvPr id="3" name="anim-g1-322" descr="C:\Users\user\projects\younes-training\arduino4\.pptx-cache\s49-1.jpg">    </p:cNvPr>
          <p:cNvPicPr>
            <a:picLocks noChangeAspect="1"/>
          </p:cNvPicPr>
          <p:nvPr/>
        </p:nvPicPr>
        <p:blipFill>
          <a:blip r:embed="rId2"/>
          <a:stretch>
            <a:fillRect/>
          </a:stretch>
        </p:blipFill>
        <p:spPr>
          <a:xfrm>
            <a:off x="0" y="0"/>
            <a:ext cx="12191695" cy="6858000"/>
          </a:xfrm>
          <a:prstGeom prst="rect">
            <a:avLst/>
          </a:prstGeom>
        </p:spPr>
      </p:pic>
      <p:pic>
        <p:nvPicPr>
          <p:cNvPr id="4" name="anim-g2-323" descr="C:\Users\user\projects\younes-training\arduino4\.pptx-cache\s49-2.jpg">    </p:cNvPr>
          <p:cNvPicPr>
            <a:picLocks noChangeAspect="1"/>
          </p:cNvPicPr>
          <p:nvPr/>
        </p:nvPicPr>
        <p:blipFill>
          <a:blip r:embed="rId3"/>
          <a:stretch>
            <a:fillRect/>
          </a:stretch>
        </p:blipFill>
        <p:spPr>
          <a:xfrm>
            <a:off x="0" y="0"/>
            <a:ext cx="12191695" cy="6858000"/>
          </a:xfrm>
          <a:prstGeom prst="rect">
            <a:avLst/>
          </a:prstGeom>
        </p:spPr>
      </p:pic>
      <p:pic>
        <p:nvPicPr>
          <p:cNvPr id="5" name="anim-g3-324" descr="C:\Users\user\projects\younes-training\arduino4\.pptx-cache\s49-3.jpg">    </p:cNvPr>
          <p:cNvPicPr>
            <a:picLocks noChangeAspect="1"/>
          </p:cNvPicPr>
          <p:nvPr/>
        </p:nvPicPr>
        <p:blipFill>
          <a:blip r:embed="rId4"/>
          <a:stretch>
            <a:fillRect/>
          </a:stretch>
        </p:blipFill>
        <p:spPr>
          <a:xfrm>
            <a:off x="0" y="0"/>
            <a:ext cx="12191695" cy="6858000"/>
          </a:xfrm>
          <a:prstGeom prst="rect">
            <a:avLst/>
          </a:prstGeom>
        </p:spPr>
      </p:pic>
      <p:pic>
        <p:nvPicPr>
          <p:cNvPr id="6" name="anim-g4-325" descr="C:\Users\user\projects\younes-training\arduino4\.pptx-cache\s49-4.jpg">    </p:cNvPr>
          <p:cNvPicPr>
            <a:picLocks noChangeAspect="1"/>
          </p:cNvPicPr>
          <p:nvPr/>
        </p:nvPicPr>
        <p:blipFill>
          <a:blip r:embed="rId5"/>
          <a:stretch>
            <a:fillRect/>
          </a:stretch>
        </p:blipFill>
        <p:spPr>
          <a:xfrm>
            <a:off x="0" y="0"/>
            <a:ext cx="12191695" cy="6858000"/>
          </a:xfrm>
          <a:prstGeom prst="rect">
            <a:avLst/>
          </a:prstGeom>
        </p:spPr>
      </p:pic>
      <p:pic>
        <p:nvPicPr>
          <p:cNvPr id="7" name="anim-g5-326" descr="C:\Users\user\projects\younes-training\arduino4\.pptx-cache\s49-5.jpg">    </p:cNvPr>
          <p:cNvPicPr>
            <a:picLocks noChangeAspect="1"/>
          </p:cNvPicPr>
          <p:nvPr/>
        </p:nvPicPr>
        <p:blipFill>
          <a:blip r:embed="rId6"/>
          <a:stretch>
            <a:fillRect/>
          </a:stretch>
        </p:blipFill>
        <p:spPr>
          <a:xfrm>
            <a:off x="0" y="0"/>
            <a:ext cx="12191695" cy="6858000"/>
          </a:xfrm>
          <a:prstGeom prst="rect">
            <a:avLst/>
          </a:prstGeom>
        </p:spPr>
      </p:pic>
      <p:pic>
        <p:nvPicPr>
          <p:cNvPr id="8" name="anim-g6-327" descr="C:\Users\user\projects\younes-training\arduino4\.pptx-cache\s49-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C:\Users\user\projects\younes-training\arduino4\.pptx-cache\s50-0.jpg">    </p:cNvPr>
          <p:cNvPicPr>
            <a:picLocks noChangeAspect="1"/>
          </p:cNvPicPr>
          <p:nvPr/>
        </p:nvPicPr>
        <p:blipFill>
          <a:blip r:embed="rId1"/>
          <a:stretch>
            <a:fillRect/>
          </a:stretch>
        </p:blipFill>
        <p:spPr>
          <a:xfrm>
            <a:off x="0" y="0"/>
            <a:ext cx="12191695" cy="6858000"/>
          </a:xfrm>
          <a:prstGeom prst="rect">
            <a:avLst/>
          </a:prstGeom>
        </p:spPr>
      </p:pic>
      <p:pic>
        <p:nvPicPr>
          <p:cNvPr id="3" name="anim-g1-328" descr="C:\Users\user\projects\younes-training\arduino4\.pptx-cache\s50-1.jpg">    </p:cNvPr>
          <p:cNvPicPr>
            <a:picLocks noChangeAspect="1"/>
          </p:cNvPicPr>
          <p:nvPr/>
        </p:nvPicPr>
        <p:blipFill>
          <a:blip r:embed="rId2"/>
          <a:stretch>
            <a:fillRect/>
          </a:stretch>
        </p:blipFill>
        <p:spPr>
          <a:xfrm>
            <a:off x="0" y="0"/>
            <a:ext cx="12191695" cy="6858000"/>
          </a:xfrm>
          <a:prstGeom prst="rect">
            <a:avLst/>
          </a:prstGeom>
        </p:spPr>
      </p:pic>
      <p:pic>
        <p:nvPicPr>
          <p:cNvPr id="4" name="anim-g2-329" descr="C:\Users\user\projects\younes-training\arduino4\.pptx-cache\s50-2.jpg">    </p:cNvPr>
          <p:cNvPicPr>
            <a:picLocks noChangeAspect="1"/>
          </p:cNvPicPr>
          <p:nvPr/>
        </p:nvPicPr>
        <p:blipFill>
          <a:blip r:embed="rId3"/>
          <a:stretch>
            <a:fillRect/>
          </a:stretch>
        </p:blipFill>
        <p:spPr>
          <a:xfrm>
            <a:off x="0" y="0"/>
            <a:ext cx="12191695" cy="6858000"/>
          </a:xfrm>
          <a:prstGeom prst="rect">
            <a:avLst/>
          </a:prstGeom>
        </p:spPr>
      </p:pic>
      <p:pic>
        <p:nvPicPr>
          <p:cNvPr id="5" name="anim-g3-330" descr="C:\Users\user\projects\younes-training\arduino4\.pptx-cache\s50-3.jpg">    </p:cNvPr>
          <p:cNvPicPr>
            <a:picLocks noChangeAspect="1"/>
          </p:cNvPicPr>
          <p:nvPr/>
        </p:nvPicPr>
        <p:blipFill>
          <a:blip r:embed="rId4"/>
          <a:stretch>
            <a:fillRect/>
          </a:stretch>
        </p:blipFill>
        <p:spPr>
          <a:xfrm>
            <a:off x="0" y="0"/>
            <a:ext cx="12191695" cy="6858000"/>
          </a:xfrm>
          <a:prstGeom prst="rect">
            <a:avLst/>
          </a:prstGeom>
        </p:spPr>
      </p:pic>
      <p:pic>
        <p:nvPicPr>
          <p:cNvPr id="6" name="anim-g4-331" descr="C:\Users\user\projects\younes-training\arduino4\.pptx-cache\s50-4.jpg">    </p:cNvPr>
          <p:cNvPicPr>
            <a:picLocks noChangeAspect="1"/>
          </p:cNvPicPr>
          <p:nvPr/>
        </p:nvPicPr>
        <p:blipFill>
          <a:blip r:embed="rId5"/>
          <a:stretch>
            <a:fillRect/>
          </a:stretch>
        </p:blipFill>
        <p:spPr>
          <a:xfrm>
            <a:off x="0" y="0"/>
            <a:ext cx="12191695" cy="6858000"/>
          </a:xfrm>
          <a:prstGeom prst="rect">
            <a:avLst/>
          </a:prstGeom>
        </p:spPr>
      </p:pic>
      <p:pic>
        <p:nvPicPr>
          <p:cNvPr id="7" name="anim-g5-332" descr="C:\Users\user\projects\younes-training\arduino4\.pptx-cache\s50-5.jpg">    </p:cNvPr>
          <p:cNvPicPr>
            <a:picLocks noChangeAspect="1"/>
          </p:cNvPicPr>
          <p:nvPr/>
        </p:nvPicPr>
        <p:blipFill>
          <a:blip r:embed="rId6"/>
          <a:stretch>
            <a:fillRect/>
          </a:stretch>
        </p:blipFill>
        <p:spPr>
          <a:xfrm>
            <a:off x="0" y="0"/>
            <a:ext cx="12191695" cy="6858000"/>
          </a:xfrm>
          <a:prstGeom prst="rect">
            <a:avLst/>
          </a:prstGeom>
        </p:spPr>
      </p:pic>
      <p:pic>
        <p:nvPicPr>
          <p:cNvPr id="8" name="anim-g6-333" descr="C:\Users\user\projects\younes-training\arduino4\.pptx-cache\s50-6.jpg">    </p:cNvPr>
          <p:cNvPicPr>
            <a:picLocks noChangeAspect="1"/>
          </p:cNvPicPr>
          <p:nvPr/>
        </p:nvPicPr>
        <p:blipFill>
          <a:blip r:embed="rId7"/>
          <a:stretch>
            <a:fillRect/>
          </a:stretch>
        </p:blipFill>
        <p:spPr>
          <a:xfrm>
            <a:off x="0" y="0"/>
            <a:ext cx="12191695" cy="6858000"/>
          </a:xfrm>
          <a:prstGeom prst="rect">
            <a:avLst/>
          </a:prstGeom>
        </p:spPr>
      </p:pic>
      <p:pic>
        <p:nvPicPr>
          <p:cNvPr id="9" name="anim-g7-334" descr="C:\Users\user\projects\younes-training\arduino4\.pptx-cache\s50-7.jpg">    </p:cNvPr>
          <p:cNvPicPr>
            <a:picLocks noChangeAspect="1"/>
          </p:cNvPicPr>
          <p:nvPr/>
        </p:nvPicPr>
        <p:blipFill>
          <a:blip r:embed="rId8"/>
          <a:stretch>
            <a:fillRect/>
          </a:stretch>
        </p:blipFill>
        <p:spPr>
          <a:xfrm>
            <a:off x="0" y="0"/>
            <a:ext cx="12191695" cy="6858000"/>
          </a:xfrm>
          <a:prstGeom prst="rect">
            <a:avLst/>
          </a:prstGeom>
        </p:spPr>
      </p:pic>
      <p:pic>
        <p:nvPicPr>
          <p:cNvPr id="10" name="anim-g8-335" descr="C:\Users\user\projects\younes-training\arduino4\.pptx-cache\s50-8.jpg">    </p:cNvPr>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C:\Users\user\projects\younes-training\arduino4\.pptx-cache\s51-0.jpg">    </p:cNvPr>
          <p:cNvPicPr>
            <a:picLocks noChangeAspect="1"/>
          </p:cNvPicPr>
          <p:nvPr/>
        </p:nvPicPr>
        <p:blipFill>
          <a:blip r:embed="rId1"/>
          <a:stretch>
            <a:fillRect/>
          </a:stretch>
        </p:blipFill>
        <p:spPr>
          <a:xfrm>
            <a:off x="0" y="0"/>
            <a:ext cx="12191695" cy="6858000"/>
          </a:xfrm>
          <a:prstGeom prst="rect">
            <a:avLst/>
          </a:prstGeom>
        </p:spPr>
      </p:pic>
      <p:pic>
        <p:nvPicPr>
          <p:cNvPr id="3" name="anim-g1-336" descr="C:\Users\user\projects\younes-training\arduino4\.pptx-cache\s51-1.jpg">    </p:cNvPr>
          <p:cNvPicPr>
            <a:picLocks noChangeAspect="1"/>
          </p:cNvPicPr>
          <p:nvPr/>
        </p:nvPicPr>
        <p:blipFill>
          <a:blip r:embed="rId2"/>
          <a:stretch>
            <a:fillRect/>
          </a:stretch>
        </p:blipFill>
        <p:spPr>
          <a:xfrm>
            <a:off x="0" y="0"/>
            <a:ext cx="12191695" cy="6858000"/>
          </a:xfrm>
          <a:prstGeom prst="rect">
            <a:avLst/>
          </a:prstGeom>
        </p:spPr>
      </p:pic>
      <p:pic>
        <p:nvPicPr>
          <p:cNvPr id="4" name="anim-g2-337" descr="C:\Users\user\projects\younes-training\arduino4\.pptx-cache\s51-2.jpg">    </p:cNvPr>
          <p:cNvPicPr>
            <a:picLocks noChangeAspect="1"/>
          </p:cNvPicPr>
          <p:nvPr/>
        </p:nvPicPr>
        <p:blipFill>
          <a:blip r:embed="rId3"/>
          <a:stretch>
            <a:fillRect/>
          </a:stretch>
        </p:blipFill>
        <p:spPr>
          <a:xfrm>
            <a:off x="0" y="0"/>
            <a:ext cx="12191695" cy="6858000"/>
          </a:xfrm>
          <a:prstGeom prst="rect">
            <a:avLst/>
          </a:prstGeom>
        </p:spPr>
      </p:pic>
      <p:pic>
        <p:nvPicPr>
          <p:cNvPr id="5" name="anim-g3-338" descr="C:\Users\user\projects\younes-training\arduino4\.pptx-cache\s51-3.jpg">    </p:cNvPr>
          <p:cNvPicPr>
            <a:picLocks noChangeAspect="1"/>
          </p:cNvPicPr>
          <p:nvPr/>
        </p:nvPicPr>
        <p:blipFill>
          <a:blip r:embed="rId4"/>
          <a:stretch>
            <a:fillRect/>
          </a:stretch>
        </p:blipFill>
        <p:spPr>
          <a:xfrm>
            <a:off x="0" y="0"/>
            <a:ext cx="12191695" cy="6858000"/>
          </a:xfrm>
          <a:prstGeom prst="rect">
            <a:avLst/>
          </a:prstGeom>
        </p:spPr>
      </p:pic>
      <p:pic>
        <p:nvPicPr>
          <p:cNvPr id="6" name="anim-g4-339" descr="C:\Users\user\projects\younes-training\arduino4\.pptx-cache\s51-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الحرارة ٢٨ درجة… كم درجة تنفتح النافذة؟ (map من ٢٤–٣٢ إلى ٠–٩٠)</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٢٨ درجة</a:t>
            </a:r>
            <a:endParaRPr lang="ar-SA" sz="2500" dirty="0"/>
          </a:p>
        </p:txBody>
      </p:sp>
      <p:sp>
        <p:nvSpPr>
          <p:cNvPr id="9" name="anim-g1-340"/>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341"/>
          <p:cNvSpPr/>
          <p:nvPr/>
        </p:nvSpPr>
        <p:spPr>
          <a:xfrm>
            <a:off x="10231831" y="2194560"/>
            <a:ext cx="954024" cy="954024"/>
          </a:xfrm>
          <a:prstGeom prst="roundRect">
            <a:avLst>
              <a:gd name="adj" fmla="val 11502"/>
            </a:avLst>
          </a:prstGeom>
          <a:solidFill>
            <a:srgbClr val="A3A9BA"/>
          </a:solidFill>
          <a:ln/>
        </p:spPr>
      </p:sp>
      <p:sp>
        <p:nvSpPr>
          <p:cNvPr id="11" name="anim-g1-342"/>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343"/>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٢٨ درجة</a:t>
            </a:r>
            <a:endParaRPr lang="ar-SA" sz="2400" dirty="0"/>
          </a:p>
        </p:txBody>
      </p:sp>
      <p:sp>
        <p:nvSpPr>
          <p:cNvPr id="13" name="anim-g1-344"/>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map لا تنقل الرقم كما هو، بل بالتناسب</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٤٥ درجة</a:t>
            </a:r>
            <a:endParaRPr lang="ar-SA" sz="2500" dirty="0"/>
          </a:p>
        </p:txBody>
      </p:sp>
      <p:sp>
        <p:nvSpPr>
          <p:cNvPr id="18" name="anim-g1-345"/>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346"/>
          <p:cNvSpPr/>
          <p:nvPr/>
        </p:nvSpPr>
        <p:spPr>
          <a:xfrm>
            <a:off x="10231831" y="3569208"/>
            <a:ext cx="954024" cy="954024"/>
          </a:xfrm>
          <a:prstGeom prst="roundRect">
            <a:avLst>
              <a:gd name="adj" fmla="val 11502"/>
            </a:avLst>
          </a:prstGeom>
          <a:solidFill>
            <a:srgbClr val="2E9E6B"/>
          </a:solidFill>
          <a:ln/>
        </p:spPr>
      </p:sp>
      <p:sp>
        <p:nvSpPr>
          <p:cNvPr id="20" name="anim-g1-347"/>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348"/>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٤٥ درجة</a:t>
            </a:r>
            <a:endParaRPr lang="ar-SA" sz="2400" dirty="0"/>
          </a:p>
        </p:txBody>
      </p:sp>
      <p:sp>
        <p:nvSpPr>
          <p:cNvPr id="22" name="anim-g1-349"/>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٢٨ في منتصف ٢٤ و٣٢ تمامًا، فالنافذة في منتصف ٠ و٩٠</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٩٠ درجة</a:t>
            </a:r>
            <a:endParaRPr lang="ar-SA" sz="2500" dirty="0"/>
          </a:p>
        </p:txBody>
      </p:sp>
      <p:sp>
        <p:nvSpPr>
          <p:cNvPr id="27" name="anim-g1-350"/>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351"/>
          <p:cNvSpPr/>
          <p:nvPr/>
        </p:nvSpPr>
        <p:spPr>
          <a:xfrm>
            <a:off x="10231831" y="4943856"/>
            <a:ext cx="954024" cy="954024"/>
          </a:xfrm>
          <a:prstGeom prst="roundRect">
            <a:avLst>
              <a:gd name="adj" fmla="val 11502"/>
            </a:avLst>
          </a:prstGeom>
          <a:solidFill>
            <a:srgbClr val="A3A9BA"/>
          </a:solidFill>
          <a:ln/>
        </p:spPr>
      </p:sp>
      <p:sp>
        <p:nvSpPr>
          <p:cNvPr id="29" name="anim-g1-352"/>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353"/>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٩٠ درجة</a:t>
            </a:r>
            <a:endParaRPr lang="ar-SA" sz="2400" dirty="0"/>
          </a:p>
        </p:txBody>
      </p:sp>
      <p:sp>
        <p:nvSpPr>
          <p:cNvPr id="31" name="anim-g1-354"/>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عند ٣٢ فأكثر</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البيت المحمي  ·  ٥٢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Image 0" descr="C:\Users\user\projects\younes-training\arduino4\.pptx-cache\s5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Image 0" descr="C:\Users\user\projects\younes-training\arduino4\.pptx-cache\s5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تخلّف للمروحة، وتناسب للنافذة، وضوء حين يغيب الضوء: ثلاث طرق تحكم تصنع مناخًا مثاليًا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البيت المحمي  ·  ٥٥</a:t>
            </a:r>
            <a:endParaRPr lang="ar-SA"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٥</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٥</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الخزان والمطر</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كم بقي من الماء؟ وهل السماء تسقي عنا اليوم؟</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الخزان والمطر  ·  ٥٦</a:t>
            </a:r>
            <a:endParaRPr lang="ar-SA"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355"/>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356"/>
          <p:cNvSpPr/>
          <p:nvPr/>
        </p:nvSpPr>
        <p:spPr>
          <a:xfrm>
            <a:off x="10573207" y="2109978"/>
            <a:ext cx="566928" cy="566928"/>
          </a:xfrm>
          <a:prstGeom prst="ellipse">
            <a:avLst/>
          </a:prstGeom>
          <a:solidFill>
            <a:srgbClr val="D9AE4B"/>
          </a:solidFill>
          <a:ln/>
        </p:spPr>
      </p:sp>
      <p:sp>
        <p:nvSpPr>
          <p:cNvPr id="7" name="anim-g1-357"/>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358"/>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تقيس مستوى الماء بحساس المسافة دون أن يلمس الماء</a:t>
            </a:r>
            <a:endParaRPr lang="ar-SA" sz="2400" dirty="0"/>
          </a:p>
        </p:txBody>
      </p:sp>
      <p:sp>
        <p:nvSpPr>
          <p:cNvPr id="9" name="anim-g2-359"/>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360"/>
          <p:cNvSpPr/>
          <p:nvPr/>
        </p:nvSpPr>
        <p:spPr>
          <a:xfrm>
            <a:off x="10573207" y="3166110"/>
            <a:ext cx="566928" cy="566928"/>
          </a:xfrm>
          <a:prstGeom prst="ellipse">
            <a:avLst/>
          </a:prstGeom>
          <a:solidFill>
            <a:srgbClr val="D9AE4B"/>
          </a:solidFill>
          <a:ln/>
        </p:spPr>
      </p:sp>
      <p:sp>
        <p:nvSpPr>
          <p:cNvPr id="11" name="anim-g2-361"/>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362"/>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تملأ الخزان آليًا بالتخلّف بين ٢٠٪ و٩٠٪</a:t>
            </a:r>
            <a:endParaRPr lang="ar-SA" sz="2400" dirty="0"/>
          </a:p>
        </p:txBody>
      </p:sp>
      <p:sp>
        <p:nvSpPr>
          <p:cNvPr id="13" name="anim-g3-363"/>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364"/>
          <p:cNvSpPr/>
          <p:nvPr/>
        </p:nvSpPr>
        <p:spPr>
          <a:xfrm>
            <a:off x="10573207" y="4222242"/>
            <a:ext cx="566928" cy="566928"/>
          </a:xfrm>
          <a:prstGeom prst="ellipse">
            <a:avLst/>
          </a:prstGeom>
          <a:solidFill>
            <a:srgbClr val="D9AE4B"/>
          </a:solidFill>
          <a:ln/>
        </p:spPr>
      </p:sp>
      <p:sp>
        <p:nvSpPr>
          <p:cNvPr id="15" name="anim-g3-365"/>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366"/>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تكتشف المطر وتلغي الري</a:t>
            </a:r>
            <a:endParaRPr lang="ar-SA" sz="2400" dirty="0"/>
          </a:p>
        </p:txBody>
      </p:sp>
      <p:sp>
        <p:nvSpPr>
          <p:cNvPr id="17" name="anim-g4-367"/>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368"/>
          <p:cNvSpPr/>
          <p:nvPr/>
        </p:nvSpPr>
        <p:spPr>
          <a:xfrm>
            <a:off x="10573207" y="5278374"/>
            <a:ext cx="566928" cy="566928"/>
          </a:xfrm>
          <a:prstGeom prst="ellipse">
            <a:avLst/>
          </a:prstGeom>
          <a:solidFill>
            <a:srgbClr val="D9AE4B"/>
          </a:solidFill>
          <a:ln/>
        </p:spPr>
      </p:sp>
      <p:sp>
        <p:nvSpPr>
          <p:cNvPr id="19" name="anim-g4-369"/>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370"/>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تكتشف تسريبًا من سلوك المستوى</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الخزان والمطر  ·  ٥٧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كيف نقيس الماء؟</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بلا تلامس… بالصدى</a:t>
            </a:r>
            <a:endParaRPr lang="ar-SA" sz="3800" dirty="0"/>
          </a:p>
        </p:txBody>
      </p:sp>
      <p:sp>
        <p:nvSpPr>
          <p:cNvPr id="5" name="anim-g1-371"/>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72"/>
          <p:cNvSpPr/>
          <p:nvPr/>
        </p:nvSpPr>
        <p:spPr>
          <a:xfrm>
            <a:off x="10527487" y="2267712"/>
            <a:ext cx="566928" cy="566928"/>
          </a:xfrm>
          <a:prstGeom prst="roundRect">
            <a:avLst>
              <a:gd name="adj" fmla="val 32258"/>
            </a:avLst>
          </a:prstGeom>
          <a:solidFill>
            <a:srgbClr val="F7E6BC"/>
          </a:solidFill>
          <a:ln/>
        </p:spPr>
      </p:sp>
      <p:sp>
        <p:nvSpPr>
          <p:cNvPr id="7" name="anim-g1-37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374"/>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حساس المسافة في الغطاء</a:t>
            </a:r>
            <a:endParaRPr lang="ar-SA" sz="2200" dirty="0"/>
          </a:p>
        </p:txBody>
      </p:sp>
      <p:sp>
        <p:nvSpPr>
          <p:cNvPr id="9" name="anim-g1-375"/>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HC-SR04 ينظر للأسفل ويقيس المسافة d إلى سطح الماء</a:t>
            </a:r>
            <a:endParaRPr lang="ar-SA" sz="1900" dirty="0"/>
          </a:p>
        </p:txBody>
      </p:sp>
      <p:sp>
        <p:nvSpPr>
          <p:cNvPr id="10" name="anim-g2-376"/>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77"/>
          <p:cNvSpPr/>
          <p:nvPr/>
        </p:nvSpPr>
        <p:spPr>
          <a:xfrm>
            <a:off x="6920789" y="2267712"/>
            <a:ext cx="566928" cy="566928"/>
          </a:xfrm>
          <a:prstGeom prst="roundRect">
            <a:avLst>
              <a:gd name="adj" fmla="val 32258"/>
            </a:avLst>
          </a:prstGeom>
          <a:solidFill>
            <a:srgbClr val="F7E6BC"/>
          </a:solidFill>
          <a:ln/>
        </p:spPr>
      </p:sp>
      <p:sp>
        <p:nvSpPr>
          <p:cNvPr id="12" name="anim-g2-378"/>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79"/>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المستوى</a:t>
            </a:r>
            <a:endParaRPr lang="ar-SA" sz="2200" dirty="0"/>
          </a:p>
        </p:txBody>
      </p:sp>
      <p:sp>
        <p:nvSpPr>
          <p:cNvPr id="14" name="anim-g2-380"/>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كلما ارتفع الماء قصرت d. المستوى = عمق الخزان − d</a:t>
            </a:r>
            <a:endParaRPr lang="ar-SA" sz="1900" dirty="0"/>
          </a:p>
        </p:txBody>
      </p:sp>
      <p:sp>
        <p:nvSpPr>
          <p:cNvPr id="15" name="anim-g3-381"/>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82"/>
          <p:cNvSpPr/>
          <p:nvPr/>
        </p:nvSpPr>
        <p:spPr>
          <a:xfrm>
            <a:off x="3314090" y="2267712"/>
            <a:ext cx="566928" cy="566928"/>
          </a:xfrm>
          <a:prstGeom prst="roundRect">
            <a:avLst>
              <a:gd name="adj" fmla="val 32258"/>
            </a:avLst>
          </a:prstGeom>
          <a:solidFill>
            <a:srgbClr val="F7E6BC"/>
          </a:solidFill>
          <a:ln/>
        </p:spPr>
      </p:sp>
      <p:sp>
        <p:nvSpPr>
          <p:cNvPr id="17" name="anim-g3-383"/>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384"/>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حساس المطر</a:t>
            </a:r>
            <a:endParaRPr lang="ar-SA" sz="2200" dirty="0"/>
          </a:p>
        </p:txBody>
      </p:sp>
      <p:sp>
        <p:nvSpPr>
          <p:cNvPr id="19" name="anim-g3-385"/>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لوح بخطوط معدنية: قطرات الماء تخفض قراءته التماثلية</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الخزان والمطر  ·  ٥٨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2" name="Image 0" descr="C:\Users\user\projects\younes-training\arduino4\.pptx-cache\s5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pic>
        <p:nvPicPr>
          <p:cNvPr id="2" name="Image 0" descr="C:\Users\user\projects\younes-training\arduino4\.pptx-cache\s60-0.jpg">    </p:cNvPr>
          <p:cNvPicPr>
            <a:picLocks noChangeAspect="1"/>
          </p:cNvPicPr>
          <p:nvPr/>
        </p:nvPicPr>
        <p:blipFill>
          <a:blip r:embed="rId1"/>
          <a:stretch>
            <a:fillRect/>
          </a:stretch>
        </p:blipFill>
        <p:spPr>
          <a:xfrm>
            <a:off x="0" y="0"/>
            <a:ext cx="12191695" cy="6858000"/>
          </a:xfrm>
          <a:prstGeom prst="rect">
            <a:avLst/>
          </a:prstGeom>
        </p:spPr>
      </p:pic>
      <p:pic>
        <p:nvPicPr>
          <p:cNvPr id="3" name="anim-g1-386" descr="C:\Users\user\projects\younes-training\arduino4\.pptx-cache\s60-1.jpg">    </p:cNvPr>
          <p:cNvPicPr>
            <a:picLocks noChangeAspect="1"/>
          </p:cNvPicPr>
          <p:nvPr/>
        </p:nvPicPr>
        <p:blipFill>
          <a:blip r:embed="rId2"/>
          <a:stretch>
            <a:fillRect/>
          </a:stretch>
        </p:blipFill>
        <p:spPr>
          <a:xfrm>
            <a:off x="0" y="0"/>
            <a:ext cx="12191695" cy="6858000"/>
          </a:xfrm>
          <a:prstGeom prst="rect">
            <a:avLst/>
          </a:prstGeom>
        </p:spPr>
      </p:pic>
      <p:pic>
        <p:nvPicPr>
          <p:cNvPr id="4" name="anim-g2-387" descr="C:\Users\user\projects\younes-training\arduino4\.pptx-cache\s60-2.jpg">    </p:cNvPr>
          <p:cNvPicPr>
            <a:picLocks noChangeAspect="1"/>
          </p:cNvPicPr>
          <p:nvPr/>
        </p:nvPicPr>
        <p:blipFill>
          <a:blip r:embed="rId3"/>
          <a:stretch>
            <a:fillRect/>
          </a:stretch>
        </p:blipFill>
        <p:spPr>
          <a:xfrm>
            <a:off x="0" y="0"/>
            <a:ext cx="12191695" cy="6858000"/>
          </a:xfrm>
          <a:prstGeom prst="rect">
            <a:avLst/>
          </a:prstGeom>
        </p:spPr>
      </p:pic>
      <p:pic>
        <p:nvPicPr>
          <p:cNvPr id="5" name="anim-g3-388" descr="C:\Users\user\projects\younes-training\arduino4\.pptx-cache\s60-3.jpg">    </p:cNvPr>
          <p:cNvPicPr>
            <a:picLocks noChangeAspect="1"/>
          </p:cNvPicPr>
          <p:nvPr/>
        </p:nvPicPr>
        <p:blipFill>
          <a:blip r:embed="rId4"/>
          <a:stretch>
            <a:fillRect/>
          </a:stretch>
        </p:blipFill>
        <p:spPr>
          <a:xfrm>
            <a:off x="0" y="0"/>
            <a:ext cx="12191695" cy="6858000"/>
          </a:xfrm>
          <a:prstGeom prst="rect">
            <a:avLst/>
          </a:prstGeom>
        </p:spPr>
      </p:pic>
      <p:pic>
        <p:nvPicPr>
          <p:cNvPr id="6" name="anim-g4-389" descr="C:\Users\user\projects\younes-training\arduino4\.pptx-cache\s60-4.jpg">    </p:cNvPr>
          <p:cNvPicPr>
            <a:picLocks noChangeAspect="1"/>
          </p:cNvPicPr>
          <p:nvPr/>
        </p:nvPicPr>
        <p:blipFill>
          <a:blip r:embed="rId5"/>
          <a:stretch>
            <a:fillRect/>
          </a:stretch>
        </p:blipFill>
        <p:spPr>
          <a:xfrm>
            <a:off x="0" y="0"/>
            <a:ext cx="12191695" cy="6858000"/>
          </a:xfrm>
          <a:prstGeom prst="rect">
            <a:avLst/>
          </a:prstGeom>
        </p:spPr>
      </p:pic>
      <p:pic>
        <p:nvPicPr>
          <p:cNvPr id="7" name="anim-g5-390" descr="C:\Users\user\projects\younes-training\arduino4\.pptx-cache\s60-5.jpg">    </p:cNvPr>
          <p:cNvPicPr>
            <a:picLocks noChangeAspect="1"/>
          </p:cNvPicPr>
          <p:nvPr/>
        </p:nvPicPr>
        <p:blipFill>
          <a:blip r:embed="rId6"/>
          <a:stretch>
            <a:fillRect/>
          </a:stretch>
        </p:blipFill>
        <p:spPr>
          <a:xfrm>
            <a:off x="0" y="0"/>
            <a:ext cx="12191695" cy="6858000"/>
          </a:xfrm>
          <a:prstGeom prst="rect">
            <a:avLst/>
          </a:prstGeom>
        </p:spPr>
      </p:pic>
      <p:pic>
        <p:nvPicPr>
          <p:cNvPr id="8" name="anim-g6-391" descr="C:\Users\user\projects\younes-training\arduino4\.pptx-cache\s60-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Image 0" descr="C:\Users\user\projects\younes-training\arduino4\.pptx-cache\s61-0.jpg">    </p:cNvPr>
          <p:cNvPicPr>
            <a:picLocks noChangeAspect="1"/>
          </p:cNvPicPr>
          <p:nvPr/>
        </p:nvPicPr>
        <p:blipFill>
          <a:blip r:embed="rId1"/>
          <a:stretch>
            <a:fillRect/>
          </a:stretch>
        </p:blipFill>
        <p:spPr>
          <a:xfrm>
            <a:off x="0" y="0"/>
            <a:ext cx="12191695" cy="6858000"/>
          </a:xfrm>
          <a:prstGeom prst="rect">
            <a:avLst/>
          </a:prstGeom>
        </p:spPr>
      </p:pic>
      <p:pic>
        <p:nvPicPr>
          <p:cNvPr id="3" name="anim-g1-392" descr="C:\Users\user\projects\younes-training\arduino4\.pptx-cache\s61-1.jpg">    </p:cNvPr>
          <p:cNvPicPr>
            <a:picLocks noChangeAspect="1"/>
          </p:cNvPicPr>
          <p:nvPr/>
        </p:nvPicPr>
        <p:blipFill>
          <a:blip r:embed="rId2"/>
          <a:stretch>
            <a:fillRect/>
          </a:stretch>
        </p:blipFill>
        <p:spPr>
          <a:xfrm>
            <a:off x="0" y="0"/>
            <a:ext cx="12191695" cy="6858000"/>
          </a:xfrm>
          <a:prstGeom prst="rect">
            <a:avLst/>
          </a:prstGeom>
        </p:spPr>
      </p:pic>
      <p:pic>
        <p:nvPicPr>
          <p:cNvPr id="4" name="anim-g2-393" descr="C:\Users\user\projects\younes-training\arduino4\.pptx-cache\s61-2.jpg">    </p:cNvPr>
          <p:cNvPicPr>
            <a:picLocks noChangeAspect="1"/>
          </p:cNvPicPr>
          <p:nvPr/>
        </p:nvPicPr>
        <p:blipFill>
          <a:blip r:embed="rId3"/>
          <a:stretch>
            <a:fillRect/>
          </a:stretch>
        </p:blipFill>
        <p:spPr>
          <a:xfrm>
            <a:off x="0" y="0"/>
            <a:ext cx="12191695" cy="6858000"/>
          </a:xfrm>
          <a:prstGeom prst="rect">
            <a:avLst/>
          </a:prstGeom>
        </p:spPr>
      </p:pic>
      <p:pic>
        <p:nvPicPr>
          <p:cNvPr id="5" name="anim-g3-394" descr="C:\Users\user\projects\younes-training\arduino4\.pptx-cache\s61-3.jpg">    </p:cNvPr>
          <p:cNvPicPr>
            <a:picLocks noChangeAspect="1"/>
          </p:cNvPicPr>
          <p:nvPr/>
        </p:nvPicPr>
        <p:blipFill>
          <a:blip r:embed="rId4"/>
          <a:stretch>
            <a:fillRect/>
          </a:stretch>
        </p:blipFill>
        <p:spPr>
          <a:xfrm>
            <a:off x="0" y="0"/>
            <a:ext cx="12191695" cy="6858000"/>
          </a:xfrm>
          <a:prstGeom prst="rect">
            <a:avLst/>
          </a:prstGeom>
        </p:spPr>
      </p:pic>
      <p:pic>
        <p:nvPicPr>
          <p:cNvPr id="6" name="anim-g4-395" descr="C:\Users\user\projects\younes-training\arduino4\.pptx-cache\s61-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قرأ الحساس d = ٢٠ سم في خزان عمقه ١٠٠ سم… كم المستوى تقريبًا؟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٢٠٪</a:t>
            </a:r>
            <a:endParaRPr lang="ar-SA" sz="2500" dirty="0"/>
          </a:p>
        </p:txBody>
      </p:sp>
      <p:sp>
        <p:nvSpPr>
          <p:cNvPr id="9" name="anim-g1-396"/>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397"/>
          <p:cNvSpPr/>
          <p:nvPr/>
        </p:nvSpPr>
        <p:spPr>
          <a:xfrm>
            <a:off x="10231831" y="2194560"/>
            <a:ext cx="954024" cy="954024"/>
          </a:xfrm>
          <a:prstGeom prst="roundRect">
            <a:avLst>
              <a:gd name="adj" fmla="val 11502"/>
            </a:avLst>
          </a:prstGeom>
          <a:solidFill>
            <a:srgbClr val="A3A9BA"/>
          </a:solidFill>
          <a:ln/>
        </p:spPr>
      </p:sp>
      <p:sp>
        <p:nvSpPr>
          <p:cNvPr id="11" name="anim-g1-398"/>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399"/>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٢٠٪</a:t>
            </a:r>
            <a:endParaRPr lang="ar-SA" sz="2400" dirty="0"/>
          </a:p>
        </p:txBody>
      </p:sp>
      <p:sp>
        <p:nvSpPr>
          <p:cNvPr id="13" name="anim-g1-400"/>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هذه المسافة إلى سطح الماء، لا كمية الماء</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٥٠٪</a:t>
            </a:r>
            <a:endParaRPr lang="ar-SA" sz="2500" dirty="0"/>
          </a:p>
        </p:txBody>
      </p:sp>
      <p:sp>
        <p:nvSpPr>
          <p:cNvPr id="18" name="anim-g1-401"/>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402"/>
          <p:cNvSpPr/>
          <p:nvPr/>
        </p:nvSpPr>
        <p:spPr>
          <a:xfrm>
            <a:off x="10231831" y="3569208"/>
            <a:ext cx="954024" cy="954024"/>
          </a:xfrm>
          <a:prstGeom prst="roundRect">
            <a:avLst>
              <a:gd name="adj" fmla="val 11502"/>
            </a:avLst>
          </a:prstGeom>
          <a:solidFill>
            <a:srgbClr val="A3A9BA"/>
          </a:solidFill>
          <a:ln/>
        </p:spPr>
      </p:sp>
      <p:sp>
        <p:nvSpPr>
          <p:cNvPr id="20" name="anim-g1-403"/>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404"/>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٥٠٪</a:t>
            </a:r>
            <a:endParaRPr lang="ar-SA" sz="2400" dirty="0"/>
          </a:p>
        </p:txBody>
      </p:sp>
      <p:sp>
        <p:nvSpPr>
          <p:cNvPr id="22" name="anim-g1-405"/>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لو كانت d نحو ٥٠ سم</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نحو ٨٠٪</a:t>
            </a:r>
            <a:endParaRPr lang="ar-SA" sz="2500" dirty="0"/>
          </a:p>
        </p:txBody>
      </p:sp>
      <p:sp>
        <p:nvSpPr>
          <p:cNvPr id="27" name="anim-g1-406"/>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407"/>
          <p:cNvSpPr/>
          <p:nvPr/>
        </p:nvSpPr>
        <p:spPr>
          <a:xfrm>
            <a:off x="10231831" y="4943856"/>
            <a:ext cx="954024" cy="954024"/>
          </a:xfrm>
          <a:prstGeom prst="roundRect">
            <a:avLst>
              <a:gd name="adj" fmla="val 11502"/>
            </a:avLst>
          </a:prstGeom>
          <a:solidFill>
            <a:srgbClr val="2E9E6B"/>
          </a:solidFill>
          <a:ln/>
        </p:spPr>
      </p:sp>
      <p:sp>
        <p:nvSpPr>
          <p:cNvPr id="29" name="anim-g1-408"/>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409"/>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نحو ٨٠٪</a:t>
            </a:r>
            <a:endParaRPr lang="ar-SA" sz="2400" dirty="0"/>
          </a:p>
        </p:txBody>
      </p:sp>
      <p:sp>
        <p:nvSpPr>
          <p:cNvPr id="31" name="anim-g1-410"/>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الماء يملأ ١٠٠ − ٢٠ = ٨٠ سم من العمق تقريبًا</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الخزان والمطر  ·  ٦٢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pic>
        <p:nvPicPr>
          <p:cNvPr id="2" name="Image 0" descr="C:\Users\user\projects\younes-training\arduino4\.pptx-cache\s6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2" name="Image 0" descr="C:\Users\user\projects\younes-training\arduino4\.pptx-cache\s6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صدى يقيس الماء دون أن يلمسه، ومطر يوفّر الري، وتخلّف يحرس البئر: مزرعة تحترم كل قطرة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الخزان والمطر  ·  ٦٥</a:t>
            </a:r>
            <a:endParaRPr lang="ar-SA"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٦</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٦</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المزرعة الكاملة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ري وبيت محمي وخزان وشاشة… في نظام واحد يعيش يومه</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المزرعة الكاملة  ·  ٦٦</a:t>
            </a:r>
            <a:endParaRPr lang="ar-SA"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411"/>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412"/>
          <p:cNvSpPr/>
          <p:nvPr/>
        </p:nvSpPr>
        <p:spPr>
          <a:xfrm>
            <a:off x="10573207" y="2109978"/>
            <a:ext cx="566928" cy="566928"/>
          </a:xfrm>
          <a:prstGeom prst="ellipse">
            <a:avLst/>
          </a:prstGeom>
          <a:solidFill>
            <a:srgbClr val="D9AE4B"/>
          </a:solidFill>
          <a:ln/>
        </p:spPr>
      </p:sp>
      <p:sp>
        <p:nvSpPr>
          <p:cNvPr id="7" name="anim-g1-413"/>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414"/>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تدمج الري والمناخ والماء في برنامج واحد</a:t>
            </a:r>
            <a:endParaRPr lang="ar-SA" sz="2400" dirty="0"/>
          </a:p>
        </p:txBody>
      </p:sp>
      <p:sp>
        <p:nvSpPr>
          <p:cNvPr id="9" name="anim-g2-415"/>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416"/>
          <p:cNvSpPr/>
          <p:nvPr/>
        </p:nvSpPr>
        <p:spPr>
          <a:xfrm>
            <a:off x="10573207" y="3166110"/>
            <a:ext cx="566928" cy="566928"/>
          </a:xfrm>
          <a:prstGeom prst="ellipse">
            <a:avLst/>
          </a:prstGeom>
          <a:solidFill>
            <a:srgbClr val="D9AE4B"/>
          </a:solidFill>
          <a:ln/>
        </p:spPr>
      </p:sp>
      <p:sp>
        <p:nvSpPr>
          <p:cNvPr id="11" name="anim-g2-417"/>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418"/>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تستخدم الوقت (RTC) لتسقي فجرًا ومساءً</a:t>
            </a:r>
            <a:endParaRPr lang="ar-SA" sz="2400" dirty="0"/>
          </a:p>
        </p:txBody>
      </p:sp>
      <p:sp>
        <p:nvSpPr>
          <p:cNvPr id="13" name="anim-g3-419"/>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420"/>
          <p:cNvSpPr/>
          <p:nvPr/>
        </p:nvSpPr>
        <p:spPr>
          <a:xfrm>
            <a:off x="10573207" y="4222242"/>
            <a:ext cx="566928" cy="566928"/>
          </a:xfrm>
          <a:prstGeom prst="ellipse">
            <a:avLst/>
          </a:prstGeom>
          <a:solidFill>
            <a:srgbClr val="D9AE4B"/>
          </a:solidFill>
          <a:ln/>
        </p:spPr>
      </p:sp>
      <p:sp>
        <p:nvSpPr>
          <p:cNvPr id="15" name="anim-g3-421"/>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422"/>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تعرض حالة المزرعة كلها على شاشة واحدة</a:t>
            </a:r>
            <a:endParaRPr lang="ar-SA" sz="2400" dirty="0"/>
          </a:p>
        </p:txBody>
      </p:sp>
      <p:sp>
        <p:nvSpPr>
          <p:cNvPr id="17" name="anim-g4-423"/>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424"/>
          <p:cNvSpPr/>
          <p:nvPr/>
        </p:nvSpPr>
        <p:spPr>
          <a:xfrm>
            <a:off x="10573207" y="5278374"/>
            <a:ext cx="566928" cy="566928"/>
          </a:xfrm>
          <a:prstGeom prst="ellipse">
            <a:avLst/>
          </a:prstGeom>
          <a:solidFill>
            <a:srgbClr val="D9AE4B"/>
          </a:solidFill>
          <a:ln/>
        </p:spPr>
      </p:sp>
      <p:sp>
        <p:nvSpPr>
          <p:cNvPr id="19" name="anim-g4-425"/>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426"/>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تقيس أثر قرارات الكود على الماء والمحصول</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المزرعة الكاملة  ·  ٦٧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33311" y="457200"/>
            <a:ext cx="4535424" cy="457200"/>
          </a:xfrm>
          <a:prstGeom prst="roundRect">
            <a:avLst>
              <a:gd name="adj" fmla="val 50000"/>
            </a:avLst>
          </a:prstGeom>
          <a:solidFill>
            <a:srgbClr val="F6EBCF"/>
          </a:solidFill>
          <a:ln/>
        </p:spPr>
      </p:sp>
      <p:sp>
        <p:nvSpPr>
          <p:cNvPr id="3" name="Text 1"/>
          <p:cNvSpPr/>
          <p:nvPr/>
        </p:nvSpPr>
        <p:spPr>
          <a:xfrm>
            <a:off x="6833311" y="457200"/>
            <a:ext cx="453542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لماذا الري فجرًا ومساءً؟</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التوقيت يوفّر الماء</a:t>
            </a:r>
            <a:endParaRPr lang="ar-SA" sz="3800" dirty="0"/>
          </a:p>
        </p:txBody>
      </p:sp>
      <p:sp>
        <p:nvSpPr>
          <p:cNvPr id="5" name="anim-g1-427"/>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428"/>
          <p:cNvSpPr/>
          <p:nvPr/>
        </p:nvSpPr>
        <p:spPr>
          <a:xfrm>
            <a:off x="10527487" y="2267712"/>
            <a:ext cx="566928" cy="566928"/>
          </a:xfrm>
          <a:prstGeom prst="roundRect">
            <a:avLst>
              <a:gd name="adj" fmla="val 32258"/>
            </a:avLst>
          </a:prstGeom>
          <a:solidFill>
            <a:srgbClr val="F7E6BC"/>
          </a:solidFill>
          <a:ln/>
        </p:spPr>
      </p:sp>
      <p:sp>
        <p:nvSpPr>
          <p:cNvPr id="7" name="anim-g1-42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430"/>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ظهرًا</a:t>
            </a:r>
            <a:endParaRPr lang="ar-SA" sz="2200" dirty="0"/>
          </a:p>
        </p:txBody>
      </p:sp>
      <p:sp>
        <p:nvSpPr>
          <p:cNvPr id="9" name="anim-g1-431"/>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جزء كبير من الماء يتبخر قبل أن يصل إلى الجذور</a:t>
            </a:r>
            <a:endParaRPr lang="ar-SA" sz="1900" dirty="0"/>
          </a:p>
        </p:txBody>
      </p:sp>
      <p:sp>
        <p:nvSpPr>
          <p:cNvPr id="10" name="anim-g2-432"/>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433"/>
          <p:cNvSpPr/>
          <p:nvPr/>
        </p:nvSpPr>
        <p:spPr>
          <a:xfrm>
            <a:off x="6920789" y="2267712"/>
            <a:ext cx="566928" cy="566928"/>
          </a:xfrm>
          <a:prstGeom prst="roundRect">
            <a:avLst>
              <a:gd name="adj" fmla="val 32258"/>
            </a:avLst>
          </a:prstGeom>
          <a:solidFill>
            <a:srgbClr val="F7E6BC"/>
          </a:solidFill>
          <a:ln/>
        </p:spPr>
      </p:sp>
      <p:sp>
        <p:nvSpPr>
          <p:cNvPr id="12" name="anim-g2-434"/>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435"/>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فجرًا ومساءً</a:t>
            </a:r>
            <a:endParaRPr lang="ar-SA" sz="2200" dirty="0"/>
          </a:p>
        </p:txBody>
      </p:sp>
      <p:sp>
        <p:nvSpPr>
          <p:cNvPr id="14" name="anim-g2-436"/>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الحرارة أقل، فيتسرب الماء إلى الجذور</a:t>
            </a:r>
            <a:endParaRPr lang="ar-SA" sz="1900" dirty="0"/>
          </a:p>
        </p:txBody>
      </p:sp>
      <p:sp>
        <p:nvSpPr>
          <p:cNvPr id="15" name="anim-g3-437"/>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438"/>
          <p:cNvSpPr/>
          <p:nvPr/>
        </p:nvSpPr>
        <p:spPr>
          <a:xfrm>
            <a:off x="3314090" y="2267712"/>
            <a:ext cx="566928" cy="566928"/>
          </a:xfrm>
          <a:prstGeom prst="roundRect">
            <a:avLst>
              <a:gd name="adj" fmla="val 32258"/>
            </a:avLst>
          </a:prstGeom>
          <a:solidFill>
            <a:srgbClr val="F7E6BC"/>
          </a:solidFill>
          <a:ln/>
        </p:spPr>
      </p:sp>
      <p:sp>
        <p:nvSpPr>
          <p:cNvPr id="17" name="anim-g3-439"/>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440"/>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ساعة RTC</a:t>
            </a:r>
            <a:endParaRPr lang="ar-SA" sz="2200" dirty="0"/>
          </a:p>
        </p:txBody>
      </p:sp>
      <p:sp>
        <p:nvSpPr>
          <p:cNvPr id="19" name="anim-g3-441"/>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وحدة DS3231 تحفظ الوقت ولو انقطعت الكهرباء ببطارية صغيرة</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المزرعة الكاملة  ·  ٦٨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pic>
        <p:nvPicPr>
          <p:cNvPr id="2" name="Image 0" descr="C:\Users\user\projects\younes-training\arduino4\.pptx-cache\s6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pic>
        <p:nvPicPr>
          <p:cNvPr id="2" name="Image 0" descr="C:\Users\user\projects\younes-training\arduino4\.pptx-cache\s70-0.jpg">    </p:cNvPr>
          <p:cNvPicPr>
            <a:picLocks noChangeAspect="1"/>
          </p:cNvPicPr>
          <p:nvPr/>
        </p:nvPicPr>
        <p:blipFill>
          <a:blip r:embed="rId1"/>
          <a:stretch>
            <a:fillRect/>
          </a:stretch>
        </p:blipFill>
        <p:spPr>
          <a:xfrm>
            <a:off x="0" y="0"/>
            <a:ext cx="12191695" cy="6858000"/>
          </a:xfrm>
          <a:prstGeom prst="rect">
            <a:avLst/>
          </a:prstGeom>
        </p:spPr>
      </p:pic>
      <p:pic>
        <p:nvPicPr>
          <p:cNvPr id="3" name="anim-g1-442" descr="C:\Users\user\projects\younes-training\arduino4\.pptx-cache\s70-1.jpg">    </p:cNvPr>
          <p:cNvPicPr>
            <a:picLocks noChangeAspect="1"/>
          </p:cNvPicPr>
          <p:nvPr/>
        </p:nvPicPr>
        <p:blipFill>
          <a:blip r:embed="rId2"/>
          <a:stretch>
            <a:fillRect/>
          </a:stretch>
        </p:blipFill>
        <p:spPr>
          <a:xfrm>
            <a:off x="0" y="0"/>
            <a:ext cx="12191695" cy="6858000"/>
          </a:xfrm>
          <a:prstGeom prst="rect">
            <a:avLst/>
          </a:prstGeom>
        </p:spPr>
      </p:pic>
      <p:pic>
        <p:nvPicPr>
          <p:cNvPr id="4" name="anim-g2-443" descr="C:\Users\user\projects\younes-training\arduino4\.pptx-cache\s70-2.jpg">    </p:cNvPr>
          <p:cNvPicPr>
            <a:picLocks noChangeAspect="1"/>
          </p:cNvPicPr>
          <p:nvPr/>
        </p:nvPicPr>
        <p:blipFill>
          <a:blip r:embed="rId3"/>
          <a:stretch>
            <a:fillRect/>
          </a:stretch>
        </p:blipFill>
        <p:spPr>
          <a:xfrm>
            <a:off x="0" y="0"/>
            <a:ext cx="12191695" cy="6858000"/>
          </a:xfrm>
          <a:prstGeom prst="rect">
            <a:avLst/>
          </a:prstGeom>
        </p:spPr>
      </p:pic>
      <p:pic>
        <p:nvPicPr>
          <p:cNvPr id="5" name="anim-g3-444" descr="C:\Users\user\projects\younes-training\arduino4\.pptx-cache\s70-3.jpg">    </p:cNvPr>
          <p:cNvPicPr>
            <a:picLocks noChangeAspect="1"/>
          </p:cNvPicPr>
          <p:nvPr/>
        </p:nvPicPr>
        <p:blipFill>
          <a:blip r:embed="rId4"/>
          <a:stretch>
            <a:fillRect/>
          </a:stretch>
        </p:blipFill>
        <p:spPr>
          <a:xfrm>
            <a:off x="0" y="0"/>
            <a:ext cx="12191695" cy="6858000"/>
          </a:xfrm>
          <a:prstGeom prst="rect">
            <a:avLst/>
          </a:prstGeom>
        </p:spPr>
      </p:pic>
      <p:pic>
        <p:nvPicPr>
          <p:cNvPr id="6" name="anim-g4-445" descr="C:\Users\user\projects\younes-training\arduino4\.pptx-cache\s70-4.jpg">    </p:cNvPr>
          <p:cNvPicPr>
            <a:picLocks noChangeAspect="1"/>
          </p:cNvPicPr>
          <p:nvPr/>
        </p:nvPicPr>
        <p:blipFill>
          <a:blip r:embed="rId5"/>
          <a:stretch>
            <a:fillRect/>
          </a:stretch>
        </p:blipFill>
        <p:spPr>
          <a:xfrm>
            <a:off x="0" y="0"/>
            <a:ext cx="12191695" cy="6858000"/>
          </a:xfrm>
          <a:prstGeom prst="rect">
            <a:avLst/>
          </a:prstGeom>
        </p:spPr>
      </p:pic>
      <p:pic>
        <p:nvPicPr>
          <p:cNvPr id="7" name="anim-g5-446" descr="C:\Users\user\projects\younes-training\arduino4\.pptx-cache\s70-5.jpg">    </p:cNvPr>
          <p:cNvPicPr>
            <a:picLocks noChangeAspect="1"/>
          </p:cNvPicPr>
          <p:nvPr/>
        </p:nvPicPr>
        <p:blipFill>
          <a:blip r:embed="rId6"/>
          <a:stretch>
            <a:fillRect/>
          </a:stretch>
        </p:blipFill>
        <p:spPr>
          <a:xfrm>
            <a:off x="0" y="0"/>
            <a:ext cx="12191695" cy="6858000"/>
          </a:xfrm>
          <a:prstGeom prst="rect">
            <a:avLst/>
          </a:prstGeom>
        </p:spPr>
      </p:pic>
      <p:pic>
        <p:nvPicPr>
          <p:cNvPr id="8" name="anim-g6-447" descr="C:\Users\user\projects\younes-training\arduino4\.pptx-cache\s70-6.jpg">    </p:cNvPr>
          <p:cNvPicPr>
            <a:picLocks noChangeAspect="1"/>
          </p:cNvPicPr>
          <p:nvPr/>
        </p:nvPicPr>
        <p:blipFill>
          <a:blip r:embed="rId7"/>
          <a:stretch>
            <a:fillRect/>
          </a:stretch>
        </p:blipFill>
        <p:spPr>
          <a:xfrm>
            <a:off x="0" y="0"/>
            <a:ext cx="12191695" cy="6858000"/>
          </a:xfrm>
          <a:prstGeom prst="rect">
            <a:avLst/>
          </a:prstGeom>
        </p:spPr>
      </p:pic>
      <p:pic>
        <p:nvPicPr>
          <p:cNvPr id="9" name="anim-g7-448" descr="C:\Users\user\projects\younes-training\arduino4\.pptx-cache\s70-7.jpg">    </p:cNvPr>
          <p:cNvPicPr>
            <a:picLocks noChangeAspect="1"/>
          </p:cNvPicPr>
          <p:nvPr/>
        </p:nvPicPr>
        <p:blipFill>
          <a:blip r:embed="rId8"/>
          <a:stretch>
            <a:fillRect/>
          </a:stretch>
        </p:blipFill>
        <p:spPr>
          <a:xfrm>
            <a:off x="0" y="0"/>
            <a:ext cx="12191695" cy="6858000"/>
          </a:xfrm>
          <a:prstGeom prst="rect">
            <a:avLst/>
          </a:prstGeom>
        </p:spPr>
      </p:pic>
      <p:pic>
        <p:nvPicPr>
          <p:cNvPr id="10" name="anim-g8-449" descr="C:\Users\user\projects\younes-training\arduino4\.pptx-cache\s70-8.jpg">    </p:cNvPr>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759391" y="457200"/>
            <a:ext cx="1609344" cy="457200"/>
          </a:xfrm>
          <a:prstGeom prst="roundRect">
            <a:avLst>
              <a:gd name="adj" fmla="val 50000"/>
            </a:avLst>
          </a:prstGeom>
          <a:solidFill>
            <a:srgbClr val="F6EBCF"/>
          </a:solidFill>
          <a:ln/>
        </p:spPr>
      </p:sp>
      <p:sp>
        <p:nvSpPr>
          <p:cNvPr id="3" name="Text 1"/>
          <p:cNvSpPr/>
          <p:nvPr/>
        </p:nvSpPr>
        <p:spPr>
          <a:xfrm>
            <a:off x="9759391" y="457200"/>
            <a:ext cx="160934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للمعلم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شاشة المزرعة: ماذا نعرض في ٣٢ خانة؟</a:t>
            </a:r>
            <a:endParaRPr lang="ar-SA" sz="3200" dirty="0"/>
          </a:p>
        </p:txBody>
      </p:sp>
      <p:sp>
        <p:nvSpPr>
          <p:cNvPr id="5" name="Shape 3"/>
          <p:cNvSpPr/>
          <p:nvPr/>
        </p:nvSpPr>
        <p:spPr>
          <a:xfrm>
            <a:off x="9303471" y="1874520"/>
            <a:ext cx="2065264" cy="548640"/>
          </a:xfrm>
          <a:prstGeom prst="roundRect">
            <a:avLst>
              <a:gd name="adj" fmla="val 20000"/>
            </a:avLst>
          </a:prstGeom>
          <a:solidFill>
            <a:srgbClr val="101B45"/>
          </a:solidFill>
          <a:ln/>
        </p:spPr>
      </p:sp>
      <p:sp>
        <p:nvSpPr>
          <p:cNvPr id="6" name="Text 4"/>
          <p:cNvSpPr/>
          <p:nvPr/>
        </p:nvSpPr>
        <p:spPr>
          <a:xfrm>
            <a:off x="9303471" y="1874520"/>
            <a:ext cx="206526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السطر</a:t>
            </a:r>
            <a:endParaRPr lang="ar-SA" sz="1900" dirty="0"/>
          </a:p>
        </p:txBody>
      </p:sp>
      <p:sp>
        <p:nvSpPr>
          <p:cNvPr id="7" name="Shape 5"/>
          <p:cNvSpPr/>
          <p:nvPr/>
        </p:nvSpPr>
        <p:spPr>
          <a:xfrm>
            <a:off x="5063216" y="1874520"/>
            <a:ext cx="4130528" cy="548640"/>
          </a:xfrm>
          <a:prstGeom prst="roundRect">
            <a:avLst>
              <a:gd name="adj" fmla="val 20000"/>
            </a:avLst>
          </a:prstGeom>
          <a:solidFill>
            <a:srgbClr val="101B45"/>
          </a:solidFill>
          <a:ln/>
        </p:spPr>
      </p:sp>
      <p:sp>
        <p:nvSpPr>
          <p:cNvPr id="8" name="Text 6"/>
          <p:cNvSpPr/>
          <p:nvPr/>
        </p:nvSpPr>
        <p:spPr>
          <a:xfrm>
            <a:off x="5063216" y="1874520"/>
            <a:ext cx="4130528"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الحالة العادية</a:t>
            </a:r>
            <a:endParaRPr lang="ar-SA" sz="1900" dirty="0"/>
          </a:p>
        </p:txBody>
      </p:sp>
      <p:sp>
        <p:nvSpPr>
          <p:cNvPr id="9" name="Shape 7"/>
          <p:cNvSpPr/>
          <p:nvPr/>
        </p:nvSpPr>
        <p:spPr>
          <a:xfrm>
            <a:off x="822960" y="1874520"/>
            <a:ext cx="4130528" cy="548640"/>
          </a:xfrm>
          <a:prstGeom prst="roundRect">
            <a:avLst>
              <a:gd name="adj" fmla="val 20000"/>
            </a:avLst>
          </a:prstGeom>
          <a:solidFill>
            <a:srgbClr val="101B45"/>
          </a:solidFill>
          <a:ln/>
        </p:spPr>
      </p:sp>
      <p:sp>
        <p:nvSpPr>
          <p:cNvPr id="10" name="Text 8"/>
          <p:cNvSpPr/>
          <p:nvPr/>
        </p:nvSpPr>
        <p:spPr>
          <a:xfrm>
            <a:off x="822960" y="1874520"/>
            <a:ext cx="4130528"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حالة خاصة</a:t>
            </a:r>
            <a:endParaRPr lang="ar-SA" sz="1900" dirty="0"/>
          </a:p>
        </p:txBody>
      </p:sp>
      <p:sp>
        <p:nvSpPr>
          <p:cNvPr id="11" name="anim-g1-450"/>
          <p:cNvSpPr/>
          <p:nvPr/>
        </p:nvSpPr>
        <p:spPr>
          <a:xfrm>
            <a:off x="9303471" y="2514600"/>
            <a:ext cx="2065264" cy="1100328"/>
          </a:xfrm>
          <a:prstGeom prst="roundRect">
            <a:avLst>
              <a:gd name="adj" fmla="val 9972"/>
            </a:avLst>
          </a:prstGeom>
          <a:solidFill>
            <a:srgbClr val="FBF3DF"/>
          </a:solidFill>
          <a:ln w="12700">
            <a:solidFill>
              <a:srgbClr val="EFDDAF"/>
            </a:solidFill>
            <a:prstDash val="solid"/>
          </a:ln>
        </p:spPr>
      </p:sp>
      <p:sp>
        <p:nvSpPr>
          <p:cNvPr id="12" name="anim-g1-451"/>
          <p:cNvSpPr/>
          <p:nvPr/>
        </p:nvSpPr>
        <p:spPr>
          <a:xfrm>
            <a:off x="9440631" y="2514600"/>
            <a:ext cx="1790944"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الأول</a:t>
            </a:r>
            <a:endParaRPr lang="ar-SA" sz="2100" dirty="0"/>
          </a:p>
        </p:txBody>
      </p:sp>
      <p:sp>
        <p:nvSpPr>
          <p:cNvPr id="13" name="anim-g1-452"/>
          <p:cNvSpPr/>
          <p:nvPr/>
        </p:nvSpPr>
        <p:spPr>
          <a:xfrm>
            <a:off x="5063216" y="2514600"/>
            <a:ext cx="4130528" cy="1100328"/>
          </a:xfrm>
          <a:prstGeom prst="roundRect">
            <a:avLst>
              <a:gd name="adj" fmla="val 9972"/>
            </a:avLst>
          </a:prstGeom>
          <a:solidFill>
            <a:srgbClr val="FFFFFF"/>
          </a:solidFill>
          <a:ln w="12700">
            <a:solidFill>
              <a:srgbClr val="E4DCC8"/>
            </a:solidFill>
            <a:prstDash val="solid"/>
          </a:ln>
        </p:spPr>
      </p:sp>
      <p:sp>
        <p:nvSpPr>
          <p:cNvPr id="14" name="anim-g1-453"/>
          <p:cNvSpPr/>
          <p:nvPr/>
        </p:nvSpPr>
        <p:spPr>
          <a:xfrm>
            <a:off x="5200376" y="2514600"/>
            <a:ext cx="3856208"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06:30 Soil:42%</a:t>
            </a:r>
            <a:endParaRPr lang="ar-SA" sz="2100" dirty="0"/>
          </a:p>
        </p:txBody>
      </p:sp>
      <p:sp>
        <p:nvSpPr>
          <p:cNvPr id="15" name="anim-g1-454"/>
          <p:cNvSpPr/>
          <p:nvPr/>
        </p:nvSpPr>
        <p:spPr>
          <a:xfrm>
            <a:off x="822960" y="2514600"/>
            <a:ext cx="4130528" cy="1100328"/>
          </a:xfrm>
          <a:prstGeom prst="roundRect">
            <a:avLst>
              <a:gd name="adj" fmla="val 9972"/>
            </a:avLst>
          </a:prstGeom>
          <a:solidFill>
            <a:srgbClr val="E6F4EC"/>
          </a:solidFill>
          <a:ln w="12700">
            <a:solidFill>
              <a:srgbClr val="CDE9D9"/>
            </a:solidFill>
            <a:prstDash val="solid"/>
          </a:ln>
        </p:spPr>
      </p:sp>
      <p:sp>
        <p:nvSpPr>
          <p:cNvPr id="16" name="anim-g1-455"/>
          <p:cNvSpPr/>
          <p:nvPr/>
        </p:nvSpPr>
        <p:spPr>
          <a:xfrm>
            <a:off x="960120" y="2514600"/>
            <a:ext cx="3856208"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نفسه دائمًا: الوقت والتربة</a:t>
            </a:r>
            <a:endParaRPr lang="ar-SA" sz="2100" dirty="0"/>
          </a:p>
        </p:txBody>
      </p:sp>
      <p:sp>
        <p:nvSpPr>
          <p:cNvPr id="17" name="anim-g2-456"/>
          <p:cNvSpPr/>
          <p:nvPr/>
        </p:nvSpPr>
        <p:spPr>
          <a:xfrm>
            <a:off x="9303471" y="3724656"/>
            <a:ext cx="2065264" cy="1100328"/>
          </a:xfrm>
          <a:prstGeom prst="roundRect">
            <a:avLst>
              <a:gd name="adj" fmla="val 9972"/>
            </a:avLst>
          </a:prstGeom>
          <a:solidFill>
            <a:srgbClr val="FBF3DF"/>
          </a:solidFill>
          <a:ln w="12700">
            <a:solidFill>
              <a:srgbClr val="EFDDAF"/>
            </a:solidFill>
            <a:prstDash val="solid"/>
          </a:ln>
        </p:spPr>
      </p:sp>
      <p:sp>
        <p:nvSpPr>
          <p:cNvPr id="18" name="anim-g2-457"/>
          <p:cNvSpPr/>
          <p:nvPr/>
        </p:nvSpPr>
        <p:spPr>
          <a:xfrm>
            <a:off x="9440631" y="3724656"/>
            <a:ext cx="1790944"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الثاني</a:t>
            </a:r>
            <a:endParaRPr lang="ar-SA" sz="2100" dirty="0"/>
          </a:p>
        </p:txBody>
      </p:sp>
      <p:sp>
        <p:nvSpPr>
          <p:cNvPr id="19" name="anim-g2-458"/>
          <p:cNvSpPr/>
          <p:nvPr/>
        </p:nvSpPr>
        <p:spPr>
          <a:xfrm>
            <a:off x="5063216" y="3724656"/>
            <a:ext cx="4130528" cy="1100328"/>
          </a:xfrm>
          <a:prstGeom prst="roundRect">
            <a:avLst>
              <a:gd name="adj" fmla="val 9972"/>
            </a:avLst>
          </a:prstGeom>
          <a:solidFill>
            <a:srgbClr val="FFFFFF"/>
          </a:solidFill>
          <a:ln w="12700">
            <a:solidFill>
              <a:srgbClr val="E4DCC8"/>
            </a:solidFill>
            <a:prstDash val="solid"/>
          </a:ln>
        </p:spPr>
      </p:sp>
      <p:sp>
        <p:nvSpPr>
          <p:cNvPr id="20" name="anim-g2-459"/>
          <p:cNvSpPr/>
          <p:nvPr/>
        </p:nvSpPr>
        <p:spPr>
          <a:xfrm>
            <a:off x="5200376" y="3724656"/>
            <a:ext cx="3856208"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T:27C Tank:70%</a:t>
            </a:r>
            <a:endParaRPr lang="ar-SA" sz="2100" dirty="0"/>
          </a:p>
        </p:txBody>
      </p:sp>
      <p:sp>
        <p:nvSpPr>
          <p:cNvPr id="21" name="anim-g2-460"/>
          <p:cNvSpPr/>
          <p:nvPr/>
        </p:nvSpPr>
        <p:spPr>
          <a:xfrm>
            <a:off x="822960" y="3724656"/>
            <a:ext cx="4130528" cy="1100328"/>
          </a:xfrm>
          <a:prstGeom prst="roundRect">
            <a:avLst>
              <a:gd name="adj" fmla="val 9972"/>
            </a:avLst>
          </a:prstGeom>
          <a:solidFill>
            <a:srgbClr val="E6F4EC"/>
          </a:solidFill>
          <a:ln w="12700">
            <a:solidFill>
              <a:srgbClr val="CDE9D9"/>
            </a:solidFill>
            <a:prstDash val="solid"/>
          </a:ln>
        </p:spPr>
      </p:sp>
      <p:sp>
        <p:nvSpPr>
          <p:cNvPr id="22" name="anim-g2-461"/>
          <p:cNvSpPr/>
          <p:nvPr/>
        </p:nvSpPr>
        <p:spPr>
          <a:xfrm>
            <a:off x="960120" y="3724656"/>
            <a:ext cx="3856208"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PUMP ON أثناء الري</a:t>
            </a:r>
            <a:endParaRPr lang="ar-SA" sz="2100" dirty="0"/>
          </a:p>
        </p:txBody>
      </p:sp>
      <p:sp>
        <p:nvSpPr>
          <p:cNvPr id="23" name="anim-g3-462"/>
          <p:cNvSpPr/>
          <p:nvPr/>
        </p:nvSpPr>
        <p:spPr>
          <a:xfrm>
            <a:off x="9303471" y="4934712"/>
            <a:ext cx="2065264" cy="1100328"/>
          </a:xfrm>
          <a:prstGeom prst="roundRect">
            <a:avLst>
              <a:gd name="adj" fmla="val 9972"/>
            </a:avLst>
          </a:prstGeom>
          <a:solidFill>
            <a:srgbClr val="FBF3DF"/>
          </a:solidFill>
          <a:ln w="12700">
            <a:solidFill>
              <a:srgbClr val="EFDDAF"/>
            </a:solidFill>
            <a:prstDash val="solid"/>
          </a:ln>
        </p:spPr>
      </p:sp>
      <p:sp>
        <p:nvSpPr>
          <p:cNvPr id="24" name="anim-g3-463"/>
          <p:cNvSpPr/>
          <p:nvPr/>
        </p:nvSpPr>
        <p:spPr>
          <a:xfrm>
            <a:off x="9440631" y="4934712"/>
            <a:ext cx="1790944"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الثاني</a:t>
            </a:r>
            <a:endParaRPr lang="ar-SA" sz="2100" dirty="0"/>
          </a:p>
        </p:txBody>
      </p:sp>
      <p:sp>
        <p:nvSpPr>
          <p:cNvPr id="25" name="anim-g3-464"/>
          <p:cNvSpPr/>
          <p:nvPr/>
        </p:nvSpPr>
        <p:spPr>
          <a:xfrm>
            <a:off x="5063216" y="4934712"/>
            <a:ext cx="4130528" cy="1100328"/>
          </a:xfrm>
          <a:prstGeom prst="roundRect">
            <a:avLst>
              <a:gd name="adj" fmla="val 9972"/>
            </a:avLst>
          </a:prstGeom>
          <a:solidFill>
            <a:srgbClr val="FFFFFF"/>
          </a:solidFill>
          <a:ln w="12700">
            <a:solidFill>
              <a:srgbClr val="E4DCC8"/>
            </a:solidFill>
            <a:prstDash val="solid"/>
          </a:ln>
        </p:spPr>
      </p:sp>
      <p:sp>
        <p:nvSpPr>
          <p:cNvPr id="26" name="anim-g3-465"/>
          <p:cNvSpPr/>
          <p:nvPr/>
        </p:nvSpPr>
        <p:spPr>
          <a:xfrm>
            <a:off x="5200376" y="4934712"/>
            <a:ext cx="3856208"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a:t>
            </a:r>
            <a:endParaRPr lang="ar-SA" sz="2100" dirty="0"/>
          </a:p>
        </p:txBody>
      </p:sp>
      <p:sp>
        <p:nvSpPr>
          <p:cNvPr id="27" name="anim-g3-466"/>
          <p:cNvSpPr/>
          <p:nvPr/>
        </p:nvSpPr>
        <p:spPr>
          <a:xfrm>
            <a:off x="822960" y="4934712"/>
            <a:ext cx="4130528" cy="1100328"/>
          </a:xfrm>
          <a:prstGeom prst="roundRect">
            <a:avLst>
              <a:gd name="adj" fmla="val 9972"/>
            </a:avLst>
          </a:prstGeom>
          <a:solidFill>
            <a:srgbClr val="E6F4EC"/>
          </a:solidFill>
          <a:ln w="12700">
            <a:solidFill>
              <a:srgbClr val="CDE9D9"/>
            </a:solidFill>
            <a:prstDash val="solid"/>
          </a:ln>
        </p:spPr>
      </p:sp>
      <p:sp>
        <p:nvSpPr>
          <p:cNvPr id="28" name="anim-g3-467"/>
          <p:cNvSpPr/>
          <p:nvPr/>
        </p:nvSpPr>
        <p:spPr>
          <a:xfrm>
            <a:off x="960120" y="4934712"/>
            <a:ext cx="3856208"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RAIN! no water عند المطر</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المزرعة الكاملة  ·  ٧١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pic>
        <p:nvPicPr>
          <p:cNvPr id="2" name="Image 0" descr="C:\Users\user\projects\younes-training\arduino4\.pptx-cache\s72-0.jpg">    </p:cNvPr>
          <p:cNvPicPr>
            <a:picLocks noChangeAspect="1"/>
          </p:cNvPicPr>
          <p:nvPr/>
        </p:nvPicPr>
        <p:blipFill>
          <a:blip r:embed="rId1"/>
          <a:stretch>
            <a:fillRect/>
          </a:stretch>
        </p:blipFill>
        <p:spPr>
          <a:xfrm>
            <a:off x="0" y="0"/>
            <a:ext cx="12191695" cy="6858000"/>
          </a:xfrm>
          <a:prstGeom prst="rect">
            <a:avLst/>
          </a:prstGeom>
        </p:spPr>
      </p:pic>
      <p:pic>
        <p:nvPicPr>
          <p:cNvPr id="3" name="anim-g1-468" descr="C:\Users\user\projects\younes-training\arduino4\.pptx-cache\s72-1.jpg">    </p:cNvPr>
          <p:cNvPicPr>
            <a:picLocks noChangeAspect="1"/>
          </p:cNvPicPr>
          <p:nvPr/>
        </p:nvPicPr>
        <p:blipFill>
          <a:blip r:embed="rId2"/>
          <a:stretch>
            <a:fillRect/>
          </a:stretch>
        </p:blipFill>
        <p:spPr>
          <a:xfrm>
            <a:off x="0" y="0"/>
            <a:ext cx="12191695" cy="6858000"/>
          </a:xfrm>
          <a:prstGeom prst="rect">
            <a:avLst/>
          </a:prstGeom>
        </p:spPr>
      </p:pic>
      <p:pic>
        <p:nvPicPr>
          <p:cNvPr id="4" name="anim-g2-469" descr="C:\Users\user\projects\younes-training\arduino4\.pptx-cache\s72-2.jpg">    </p:cNvPr>
          <p:cNvPicPr>
            <a:picLocks noChangeAspect="1"/>
          </p:cNvPicPr>
          <p:nvPr/>
        </p:nvPicPr>
        <p:blipFill>
          <a:blip r:embed="rId3"/>
          <a:stretch>
            <a:fillRect/>
          </a:stretch>
        </p:blipFill>
        <p:spPr>
          <a:xfrm>
            <a:off x="0" y="0"/>
            <a:ext cx="12191695" cy="6858000"/>
          </a:xfrm>
          <a:prstGeom prst="rect">
            <a:avLst/>
          </a:prstGeom>
        </p:spPr>
      </p:pic>
      <p:pic>
        <p:nvPicPr>
          <p:cNvPr id="5" name="anim-g3-470" descr="C:\Users\user\projects\younes-training\arduino4\.pptx-cache\s72-3.jpg">    </p:cNvPr>
          <p:cNvPicPr>
            <a:picLocks noChangeAspect="1"/>
          </p:cNvPicPr>
          <p:nvPr/>
        </p:nvPicPr>
        <p:blipFill>
          <a:blip r:embed="rId4"/>
          <a:stretch>
            <a:fillRect/>
          </a:stretch>
        </p:blipFill>
        <p:spPr>
          <a:xfrm>
            <a:off x="0" y="0"/>
            <a:ext cx="12191695" cy="6858000"/>
          </a:xfrm>
          <a:prstGeom prst="rect">
            <a:avLst/>
          </a:prstGeom>
        </p:spPr>
      </p:pic>
      <p:pic>
        <p:nvPicPr>
          <p:cNvPr id="6" name="anim-g4-471" descr="C:\Users\user\projects\younes-training\arduino4\.pptx-cache\s72-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الساعة ١٢ ظهرًا والتربة ٣٠٪… لماذا لم تعمل المضخة؟</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ليس وقتًا مناسبًا للري، فالكود ينتظر المساء</a:t>
            </a:r>
            <a:endParaRPr lang="ar-SA" sz="2500" dirty="0"/>
          </a:p>
        </p:txBody>
      </p:sp>
      <p:sp>
        <p:nvSpPr>
          <p:cNvPr id="9" name="anim-g1-472"/>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473"/>
          <p:cNvSpPr/>
          <p:nvPr/>
        </p:nvSpPr>
        <p:spPr>
          <a:xfrm>
            <a:off x="10231831" y="2194560"/>
            <a:ext cx="954024" cy="954024"/>
          </a:xfrm>
          <a:prstGeom prst="roundRect">
            <a:avLst>
              <a:gd name="adj" fmla="val 11502"/>
            </a:avLst>
          </a:prstGeom>
          <a:solidFill>
            <a:srgbClr val="2E9E6B"/>
          </a:solidFill>
          <a:ln/>
        </p:spPr>
      </p:sp>
      <p:sp>
        <p:nvSpPr>
          <p:cNvPr id="11" name="anim-g1-474"/>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475"/>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ليس وقتًا مناسبًا للري، فالكود ينتظر المساء</a:t>
            </a:r>
            <a:endParaRPr lang="ar-SA" sz="2400" dirty="0"/>
          </a:p>
        </p:txBody>
      </p:sp>
      <p:sp>
        <p:nvSpPr>
          <p:cNvPr id="13" name="anim-g1-476"/>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ظهرًا لا نسقي إلا تحت ١٨٪ (طوارئ). ٣٠٪ تكفي النبات حتى المساء، فنوفّر ماء التبخر</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المضخة معطلة</a:t>
            </a:r>
            <a:endParaRPr lang="ar-SA" sz="2500" dirty="0"/>
          </a:p>
        </p:txBody>
      </p:sp>
      <p:sp>
        <p:nvSpPr>
          <p:cNvPr id="18" name="anim-g1-477"/>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478"/>
          <p:cNvSpPr/>
          <p:nvPr/>
        </p:nvSpPr>
        <p:spPr>
          <a:xfrm>
            <a:off x="10231831" y="3569208"/>
            <a:ext cx="954024" cy="954024"/>
          </a:xfrm>
          <a:prstGeom prst="roundRect">
            <a:avLst>
              <a:gd name="adj" fmla="val 11502"/>
            </a:avLst>
          </a:prstGeom>
          <a:solidFill>
            <a:srgbClr val="A3A9BA"/>
          </a:solidFill>
          <a:ln/>
        </p:spPr>
      </p:sp>
      <p:sp>
        <p:nvSpPr>
          <p:cNvPr id="20" name="anim-g1-479"/>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480"/>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المضخة معطلة</a:t>
            </a:r>
            <a:endParaRPr lang="ar-SA" sz="2400" dirty="0"/>
          </a:p>
        </p:txBody>
      </p:sp>
      <p:sp>
        <p:nvSpPr>
          <p:cNvPr id="22" name="anim-g1-481"/>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المضخة سليمة، والكود هو الذي قرر</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التربة رطبة بما يكفي</a:t>
            </a:r>
            <a:endParaRPr lang="ar-SA" sz="2500" dirty="0"/>
          </a:p>
        </p:txBody>
      </p:sp>
      <p:sp>
        <p:nvSpPr>
          <p:cNvPr id="27" name="anim-g1-482"/>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483"/>
          <p:cNvSpPr/>
          <p:nvPr/>
        </p:nvSpPr>
        <p:spPr>
          <a:xfrm>
            <a:off x="10231831" y="4943856"/>
            <a:ext cx="954024" cy="954024"/>
          </a:xfrm>
          <a:prstGeom prst="roundRect">
            <a:avLst>
              <a:gd name="adj" fmla="val 11502"/>
            </a:avLst>
          </a:prstGeom>
          <a:solidFill>
            <a:srgbClr val="A3A9BA"/>
          </a:solidFill>
          <a:ln/>
        </p:spPr>
      </p:sp>
      <p:sp>
        <p:nvSpPr>
          <p:cNvPr id="29" name="anim-g1-484"/>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485"/>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التربة رطبة بما يكفي</a:t>
            </a:r>
            <a:endParaRPr lang="ar-SA" sz="2400" dirty="0"/>
          </a:p>
        </p:txBody>
      </p:sp>
      <p:sp>
        <p:nvSpPr>
          <p:cNvPr id="31" name="anim-g1-486"/>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ليست رطبة جدًا، لكنها فوق حد الطوارئ</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المزرعة الكاملة  ·  ٧٣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pic>
        <p:nvPicPr>
          <p:cNvPr id="2" name="Image 0" descr="C:\Users\user\projects\younes-training\arduino4\.pptx-cache\s7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pic>
        <p:nvPicPr>
          <p:cNvPr id="2" name="Image 0" descr="C:\Users\user\projects\younes-training\arduino4\.pptx-cache\s7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08680" y="1188720"/>
            <a:ext cx="497433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3608680" y="1188720"/>
            <a:ext cx="497433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 — اكتملت المزرعة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ري في وقته، ومناخ مثالي، وماء محسوب، وشاشة تخبرك بكل شيء: مزرعة تعمل وأنت نائم</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المزرعة الكاملة  ·  ٧٦</a:t>
            </a:r>
            <a:endParaRPr lang="ar-SA"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٧</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٧</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الإضاءة الذكية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ضوء يعرف أنك في الغرفة… وأن الشمس غابت</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الإضاءة الذكية  ·  ٧٧</a:t>
            </a:r>
            <a:endParaRPr lang="ar-SA"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487"/>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488"/>
          <p:cNvSpPr/>
          <p:nvPr/>
        </p:nvSpPr>
        <p:spPr>
          <a:xfrm>
            <a:off x="10573207" y="2109978"/>
            <a:ext cx="566928" cy="566928"/>
          </a:xfrm>
          <a:prstGeom prst="ellipse">
            <a:avLst/>
          </a:prstGeom>
          <a:solidFill>
            <a:srgbClr val="D9AE4B"/>
          </a:solidFill>
          <a:ln/>
        </p:spPr>
      </p:sp>
      <p:sp>
        <p:nvSpPr>
          <p:cNvPr id="7" name="anim-g1-489"/>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490"/>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تدمج حساس الحركة وحساس الضوء في قرار واحد</a:t>
            </a:r>
            <a:endParaRPr lang="ar-SA" sz="2400" dirty="0"/>
          </a:p>
        </p:txBody>
      </p:sp>
      <p:sp>
        <p:nvSpPr>
          <p:cNvPr id="9" name="anim-g2-491"/>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492"/>
          <p:cNvSpPr/>
          <p:nvPr/>
        </p:nvSpPr>
        <p:spPr>
          <a:xfrm>
            <a:off x="10573207" y="3166110"/>
            <a:ext cx="566928" cy="566928"/>
          </a:xfrm>
          <a:prstGeom prst="ellipse">
            <a:avLst/>
          </a:prstGeom>
          <a:solidFill>
            <a:srgbClr val="D9AE4B"/>
          </a:solidFill>
          <a:ln/>
        </p:spPr>
      </p:sp>
      <p:sp>
        <p:nvSpPr>
          <p:cNvPr id="11" name="anim-g2-493"/>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494"/>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تستخدم millis بدل delay لتعدّ الوقت دون أن يتوقف الأردوينو</a:t>
            </a:r>
            <a:endParaRPr lang="ar-SA" sz="2400" dirty="0"/>
          </a:p>
        </p:txBody>
      </p:sp>
      <p:sp>
        <p:nvSpPr>
          <p:cNvPr id="13" name="anim-g3-495"/>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496"/>
          <p:cNvSpPr/>
          <p:nvPr/>
        </p:nvSpPr>
        <p:spPr>
          <a:xfrm>
            <a:off x="10573207" y="4222242"/>
            <a:ext cx="566928" cy="566928"/>
          </a:xfrm>
          <a:prstGeom prst="ellipse">
            <a:avLst/>
          </a:prstGeom>
          <a:solidFill>
            <a:srgbClr val="D9AE4B"/>
          </a:solidFill>
          <a:ln/>
        </p:spPr>
      </p:sp>
      <p:sp>
        <p:nvSpPr>
          <p:cNvPr id="15" name="anim-g3-497"/>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498"/>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تتحكم بعدة غرف في الوقت نفسه</a:t>
            </a:r>
            <a:endParaRPr lang="ar-SA" sz="2400" dirty="0"/>
          </a:p>
        </p:txBody>
      </p:sp>
      <p:sp>
        <p:nvSpPr>
          <p:cNvPr id="17" name="anim-g4-499"/>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500"/>
          <p:cNvSpPr/>
          <p:nvPr/>
        </p:nvSpPr>
        <p:spPr>
          <a:xfrm>
            <a:off x="10573207" y="5278374"/>
            <a:ext cx="566928" cy="566928"/>
          </a:xfrm>
          <a:prstGeom prst="ellipse">
            <a:avLst/>
          </a:prstGeom>
          <a:solidFill>
            <a:srgbClr val="D9AE4B"/>
          </a:solidFill>
          <a:ln/>
        </p:spPr>
      </p:sp>
      <p:sp>
        <p:nvSpPr>
          <p:cNvPr id="19" name="anim-g4-501"/>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502"/>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تقيس التوفير في الطاقة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الإضاءة الذكية  ·  ٧٨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18527" y="457200"/>
            <a:ext cx="3950208" cy="457200"/>
          </a:xfrm>
          <a:prstGeom prst="roundRect">
            <a:avLst>
              <a:gd name="adj" fmla="val 50000"/>
            </a:avLst>
          </a:prstGeom>
          <a:solidFill>
            <a:srgbClr val="F6EBCF"/>
          </a:solidFill>
          <a:ln/>
        </p:spPr>
      </p:sp>
      <p:sp>
        <p:nvSpPr>
          <p:cNvPr id="3" name="Text 1"/>
          <p:cNvSpPr/>
          <p:nvPr/>
        </p:nvSpPr>
        <p:spPr>
          <a:xfrm>
            <a:off x="7418527" y="457200"/>
            <a:ext cx="395020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لماذا لا نستخدم delay؟</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delay يجمّد… وmillis يراقب</a:t>
            </a:r>
            <a:endParaRPr lang="ar-SA" sz="3800" dirty="0"/>
          </a:p>
        </p:txBody>
      </p:sp>
      <p:sp>
        <p:nvSpPr>
          <p:cNvPr id="5" name="anim-g1-503"/>
          <p:cNvSpPr/>
          <p:nvPr/>
        </p:nvSpPr>
        <p:spPr>
          <a:xfrm>
            <a:off x="6233008"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04"/>
          <p:cNvSpPr/>
          <p:nvPr/>
        </p:nvSpPr>
        <p:spPr>
          <a:xfrm>
            <a:off x="10527487" y="2267712"/>
            <a:ext cx="566928" cy="566928"/>
          </a:xfrm>
          <a:prstGeom prst="roundRect">
            <a:avLst>
              <a:gd name="adj" fmla="val 32258"/>
            </a:avLst>
          </a:prstGeom>
          <a:solidFill>
            <a:srgbClr val="F7E6BC"/>
          </a:solidFill>
          <a:ln/>
        </p:spPr>
      </p:sp>
      <p:sp>
        <p:nvSpPr>
          <p:cNvPr id="7" name="anim-g1-50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06"/>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delay(30000)</a:t>
            </a:r>
            <a:endParaRPr lang="ar-SA" sz="2200" dirty="0"/>
          </a:p>
        </p:txBody>
      </p:sp>
      <p:sp>
        <p:nvSpPr>
          <p:cNvPr id="9" name="anim-g1-507"/>
          <p:cNvSpPr/>
          <p:nvPr/>
        </p:nvSpPr>
        <p:spPr>
          <a:xfrm>
            <a:off x="6507328"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الأردوينو يتجمد ٣٠ ثانية: لا يقرأ حركة، ولا يشعل غرفة أخرى، ولا يسمع جرس الباب</a:t>
            </a:r>
            <a:endParaRPr lang="ar-SA" sz="1900" dirty="0"/>
          </a:p>
        </p:txBody>
      </p:sp>
      <p:sp>
        <p:nvSpPr>
          <p:cNvPr id="10" name="anim-g2-508"/>
          <p:cNvSpPr/>
          <p:nvPr/>
        </p:nvSpPr>
        <p:spPr>
          <a:xfrm>
            <a:off x="822960"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09"/>
          <p:cNvSpPr/>
          <p:nvPr/>
        </p:nvSpPr>
        <p:spPr>
          <a:xfrm>
            <a:off x="5117440" y="2267712"/>
            <a:ext cx="566928" cy="566928"/>
          </a:xfrm>
          <a:prstGeom prst="roundRect">
            <a:avLst>
              <a:gd name="adj" fmla="val 32258"/>
            </a:avLst>
          </a:prstGeom>
          <a:solidFill>
            <a:srgbClr val="F7E6BC"/>
          </a:solidFill>
          <a:ln/>
        </p:spPr>
      </p:sp>
      <p:sp>
        <p:nvSpPr>
          <p:cNvPr id="12" name="anim-g2-510"/>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511"/>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millis()</a:t>
            </a:r>
            <a:endParaRPr lang="ar-SA" sz="2200" dirty="0"/>
          </a:p>
        </p:txBody>
      </p:sp>
      <p:sp>
        <p:nvSpPr>
          <p:cNvPr id="14" name="anim-g2-512"/>
          <p:cNvSpPr/>
          <p:nvPr/>
        </p:nvSpPr>
        <p:spPr>
          <a:xfrm>
            <a:off x="1097280"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ساعة إيقاف تعمل في الخلفية. نحفظ وقت آخر حركة، ونسأل: هل مرّ ٣٠ ثانية؟ وبين السؤالين يفعل كل شيء آخر</a:t>
            </a:r>
            <a:endParaRPr lang="ar-SA" sz="1900" dirty="0"/>
          </a:p>
        </p:txBody>
      </p:sp>
      <p:sp>
        <p:nvSpPr>
          <p:cNvPr id="15"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16"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الإضاءة الذكية  ·  ٧٩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pic>
        <p:nvPicPr>
          <p:cNvPr id="2" name="Image 0" descr="C:\Users\user\projects\younes-training\arduino4\.pptx-cache\s8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pic>
        <p:nvPicPr>
          <p:cNvPr id="2" name="Image 0" descr="C:\Users\user\projects\younes-training\arduino4\.pptx-cache\s81-0.jpg">    </p:cNvPr>
          <p:cNvPicPr>
            <a:picLocks noChangeAspect="1"/>
          </p:cNvPicPr>
          <p:nvPr/>
        </p:nvPicPr>
        <p:blipFill>
          <a:blip r:embed="rId1"/>
          <a:stretch>
            <a:fillRect/>
          </a:stretch>
        </p:blipFill>
        <p:spPr>
          <a:xfrm>
            <a:off x="0" y="0"/>
            <a:ext cx="12191695" cy="6858000"/>
          </a:xfrm>
          <a:prstGeom prst="rect">
            <a:avLst/>
          </a:prstGeom>
        </p:spPr>
      </p:pic>
      <p:pic>
        <p:nvPicPr>
          <p:cNvPr id="3" name="anim-g1-513" descr="C:\Users\user\projects\younes-training\arduino4\.pptx-cache\s81-1.jpg">    </p:cNvPr>
          <p:cNvPicPr>
            <a:picLocks noChangeAspect="1"/>
          </p:cNvPicPr>
          <p:nvPr/>
        </p:nvPicPr>
        <p:blipFill>
          <a:blip r:embed="rId2"/>
          <a:stretch>
            <a:fillRect/>
          </a:stretch>
        </p:blipFill>
        <p:spPr>
          <a:xfrm>
            <a:off x="0" y="0"/>
            <a:ext cx="12191695" cy="6858000"/>
          </a:xfrm>
          <a:prstGeom prst="rect">
            <a:avLst/>
          </a:prstGeom>
        </p:spPr>
      </p:pic>
      <p:pic>
        <p:nvPicPr>
          <p:cNvPr id="4" name="anim-g2-514" descr="C:\Users\user\projects\younes-training\arduino4\.pptx-cache\s81-2.jpg">    </p:cNvPr>
          <p:cNvPicPr>
            <a:picLocks noChangeAspect="1"/>
          </p:cNvPicPr>
          <p:nvPr/>
        </p:nvPicPr>
        <p:blipFill>
          <a:blip r:embed="rId3"/>
          <a:stretch>
            <a:fillRect/>
          </a:stretch>
        </p:blipFill>
        <p:spPr>
          <a:xfrm>
            <a:off x="0" y="0"/>
            <a:ext cx="12191695" cy="6858000"/>
          </a:xfrm>
          <a:prstGeom prst="rect">
            <a:avLst/>
          </a:prstGeom>
        </p:spPr>
      </p:pic>
      <p:pic>
        <p:nvPicPr>
          <p:cNvPr id="5" name="anim-g3-515" descr="C:\Users\user\projects\younes-training\arduino4\.pptx-cache\s81-3.jpg">    </p:cNvPr>
          <p:cNvPicPr>
            <a:picLocks noChangeAspect="1"/>
          </p:cNvPicPr>
          <p:nvPr/>
        </p:nvPicPr>
        <p:blipFill>
          <a:blip r:embed="rId4"/>
          <a:stretch>
            <a:fillRect/>
          </a:stretch>
        </p:blipFill>
        <p:spPr>
          <a:xfrm>
            <a:off x="0" y="0"/>
            <a:ext cx="12191695" cy="6858000"/>
          </a:xfrm>
          <a:prstGeom prst="rect">
            <a:avLst/>
          </a:prstGeom>
        </p:spPr>
      </p:pic>
      <p:pic>
        <p:nvPicPr>
          <p:cNvPr id="6" name="anim-g4-516" descr="C:\Users\user\projects\younes-training\arduino4\.pptx-cache\s81-4.jpg">    </p:cNvPr>
          <p:cNvPicPr>
            <a:picLocks noChangeAspect="1"/>
          </p:cNvPicPr>
          <p:nvPr/>
        </p:nvPicPr>
        <p:blipFill>
          <a:blip r:embed="rId5"/>
          <a:stretch>
            <a:fillRect/>
          </a:stretch>
        </p:blipFill>
        <p:spPr>
          <a:xfrm>
            <a:off x="0" y="0"/>
            <a:ext cx="12191695" cy="6858000"/>
          </a:xfrm>
          <a:prstGeom prst="rect">
            <a:avLst/>
          </a:prstGeom>
        </p:spPr>
      </p:pic>
      <p:pic>
        <p:nvPicPr>
          <p:cNvPr id="7" name="anim-g5-517" descr="C:\Users\user\projects\younes-training\arduino4\.pptx-cache\s81-5.jpg">    </p:cNvPr>
          <p:cNvPicPr>
            <a:picLocks noChangeAspect="1"/>
          </p:cNvPicPr>
          <p:nvPr/>
        </p:nvPicPr>
        <p:blipFill>
          <a:blip r:embed="rId6"/>
          <a:stretch>
            <a:fillRect/>
          </a:stretch>
        </p:blipFill>
        <p:spPr>
          <a:xfrm>
            <a:off x="0" y="0"/>
            <a:ext cx="12191695" cy="6858000"/>
          </a:xfrm>
          <a:prstGeom prst="rect">
            <a:avLst/>
          </a:prstGeom>
        </p:spPr>
      </p:pic>
      <p:pic>
        <p:nvPicPr>
          <p:cNvPr id="8" name="anim-g6-518" descr="C:\Users\user\projects\younes-training\arduino4\.pptx-cache\s81-6.jpg">    </p:cNvPr>
          <p:cNvPicPr>
            <a:picLocks noChangeAspect="1"/>
          </p:cNvPicPr>
          <p:nvPr/>
        </p:nvPicPr>
        <p:blipFill>
          <a:blip r:embed="rId7"/>
          <a:stretch>
            <a:fillRect/>
          </a:stretch>
        </p:blipFill>
        <p:spPr>
          <a:xfrm>
            <a:off x="0" y="0"/>
            <a:ext cx="12191695" cy="6858000"/>
          </a:xfrm>
          <a:prstGeom prst="rect">
            <a:avLst/>
          </a:prstGeom>
        </p:spPr>
      </p:pic>
      <p:pic>
        <p:nvPicPr>
          <p:cNvPr id="9" name="anim-g7-519" descr="C:\Users\user\projects\younes-training\arduino4\.pptx-cache\s81-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pic>
        <p:nvPicPr>
          <p:cNvPr id="2" name="Image 0" descr="C:\Users\user\projects\younes-training\arduino4\.pptx-cache\s82-0.jpg">    </p:cNvPr>
          <p:cNvPicPr>
            <a:picLocks noChangeAspect="1"/>
          </p:cNvPicPr>
          <p:nvPr/>
        </p:nvPicPr>
        <p:blipFill>
          <a:blip r:embed="rId1"/>
          <a:stretch>
            <a:fillRect/>
          </a:stretch>
        </p:blipFill>
        <p:spPr>
          <a:xfrm>
            <a:off x="0" y="0"/>
            <a:ext cx="12191695" cy="6858000"/>
          </a:xfrm>
          <a:prstGeom prst="rect">
            <a:avLst/>
          </a:prstGeom>
        </p:spPr>
      </p:pic>
      <p:pic>
        <p:nvPicPr>
          <p:cNvPr id="3" name="anim-g1-520" descr="C:\Users\user\projects\younes-training\arduino4\.pptx-cache\s82-1.jpg">    </p:cNvPr>
          <p:cNvPicPr>
            <a:picLocks noChangeAspect="1"/>
          </p:cNvPicPr>
          <p:nvPr/>
        </p:nvPicPr>
        <p:blipFill>
          <a:blip r:embed="rId2"/>
          <a:stretch>
            <a:fillRect/>
          </a:stretch>
        </p:blipFill>
        <p:spPr>
          <a:xfrm>
            <a:off x="0" y="0"/>
            <a:ext cx="12191695" cy="6858000"/>
          </a:xfrm>
          <a:prstGeom prst="rect">
            <a:avLst/>
          </a:prstGeom>
        </p:spPr>
      </p:pic>
      <p:pic>
        <p:nvPicPr>
          <p:cNvPr id="4" name="anim-g2-521" descr="C:\Users\user\projects\younes-training\arduino4\.pptx-cache\s82-2.jpg">    </p:cNvPr>
          <p:cNvPicPr>
            <a:picLocks noChangeAspect="1"/>
          </p:cNvPicPr>
          <p:nvPr/>
        </p:nvPicPr>
        <p:blipFill>
          <a:blip r:embed="rId3"/>
          <a:stretch>
            <a:fillRect/>
          </a:stretch>
        </p:blipFill>
        <p:spPr>
          <a:xfrm>
            <a:off x="0" y="0"/>
            <a:ext cx="12191695" cy="6858000"/>
          </a:xfrm>
          <a:prstGeom prst="rect">
            <a:avLst/>
          </a:prstGeom>
        </p:spPr>
      </p:pic>
      <p:pic>
        <p:nvPicPr>
          <p:cNvPr id="5" name="anim-g3-522" descr="C:\Users\user\projects\younes-training\arduino4\.pptx-cache\s82-3.jpg">    </p:cNvPr>
          <p:cNvPicPr>
            <a:picLocks noChangeAspect="1"/>
          </p:cNvPicPr>
          <p:nvPr/>
        </p:nvPicPr>
        <p:blipFill>
          <a:blip r:embed="rId4"/>
          <a:stretch>
            <a:fillRect/>
          </a:stretch>
        </p:blipFill>
        <p:spPr>
          <a:xfrm>
            <a:off x="0" y="0"/>
            <a:ext cx="12191695" cy="6858000"/>
          </a:xfrm>
          <a:prstGeom prst="rect">
            <a:avLst/>
          </a:prstGeom>
        </p:spPr>
      </p:pic>
      <p:pic>
        <p:nvPicPr>
          <p:cNvPr id="6" name="anim-g4-523" descr="C:\Users\user\projects\younes-training\arduino4\.pptx-cache\s82-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خرجت من الغرفة قبل ١٠ ثوانٍ، ومدة البقاء ٣٠ ثانية… ما حال الضوء؟</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ما زال مضاءً ٢٠ ثانية أخرى</a:t>
            </a:r>
            <a:endParaRPr lang="ar-SA" sz="2500" dirty="0"/>
          </a:p>
        </p:txBody>
      </p:sp>
      <p:sp>
        <p:nvSpPr>
          <p:cNvPr id="9" name="anim-g1-524"/>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525"/>
          <p:cNvSpPr/>
          <p:nvPr/>
        </p:nvSpPr>
        <p:spPr>
          <a:xfrm>
            <a:off x="10231831" y="2194560"/>
            <a:ext cx="954024" cy="954024"/>
          </a:xfrm>
          <a:prstGeom prst="roundRect">
            <a:avLst>
              <a:gd name="adj" fmla="val 11502"/>
            </a:avLst>
          </a:prstGeom>
          <a:solidFill>
            <a:srgbClr val="2E9E6B"/>
          </a:solidFill>
          <a:ln/>
        </p:spPr>
      </p:sp>
      <p:sp>
        <p:nvSpPr>
          <p:cNvPr id="11" name="anim-g1-526"/>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527"/>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ما زال مضاءً ٢٠ ثانية أخرى</a:t>
            </a:r>
            <a:endParaRPr lang="ar-SA" sz="2400" dirty="0"/>
          </a:p>
        </p:txBody>
      </p:sp>
      <p:sp>
        <p:nvSpPr>
          <p:cNvPr id="13" name="anim-g1-528"/>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millis() − lastMove = ١٠ ثوانٍ، وهي أقل من ٣٠</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ينطفئ فورًا</a:t>
            </a:r>
            <a:endParaRPr lang="ar-SA" sz="2500" dirty="0"/>
          </a:p>
        </p:txBody>
      </p:sp>
      <p:sp>
        <p:nvSpPr>
          <p:cNvPr id="18" name="anim-g1-529"/>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530"/>
          <p:cNvSpPr/>
          <p:nvPr/>
        </p:nvSpPr>
        <p:spPr>
          <a:xfrm>
            <a:off x="10231831" y="3569208"/>
            <a:ext cx="954024" cy="954024"/>
          </a:xfrm>
          <a:prstGeom prst="roundRect">
            <a:avLst>
              <a:gd name="adj" fmla="val 11502"/>
            </a:avLst>
          </a:prstGeom>
          <a:solidFill>
            <a:srgbClr val="A3A9BA"/>
          </a:solidFill>
          <a:ln/>
        </p:spPr>
      </p:sp>
      <p:sp>
        <p:nvSpPr>
          <p:cNvPr id="20" name="anim-g1-531"/>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532"/>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ينطفئ فورًا</a:t>
            </a:r>
            <a:endParaRPr lang="ar-SA" sz="2400" dirty="0"/>
          </a:p>
        </p:txBody>
      </p:sp>
      <p:sp>
        <p:nvSpPr>
          <p:cNvPr id="22" name="anim-g1-533"/>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لو كان كذلك لانطفأ الضوء كلما وقفت ساكنًا لحظة</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ينطفئ بعد ٣٠ ثانية من الآن</a:t>
            </a:r>
            <a:endParaRPr lang="ar-SA" sz="2500" dirty="0"/>
          </a:p>
        </p:txBody>
      </p:sp>
      <p:sp>
        <p:nvSpPr>
          <p:cNvPr id="27" name="anim-g1-534"/>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535"/>
          <p:cNvSpPr/>
          <p:nvPr/>
        </p:nvSpPr>
        <p:spPr>
          <a:xfrm>
            <a:off x="10231831" y="4943856"/>
            <a:ext cx="954024" cy="954024"/>
          </a:xfrm>
          <a:prstGeom prst="roundRect">
            <a:avLst>
              <a:gd name="adj" fmla="val 11502"/>
            </a:avLst>
          </a:prstGeom>
          <a:solidFill>
            <a:srgbClr val="A3A9BA"/>
          </a:solidFill>
          <a:ln/>
        </p:spPr>
      </p:sp>
      <p:sp>
        <p:nvSpPr>
          <p:cNvPr id="29" name="anim-g1-536"/>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537"/>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ينطفئ بعد ٣٠ ثانية من الآن</a:t>
            </a:r>
            <a:endParaRPr lang="ar-SA" sz="2400" dirty="0"/>
          </a:p>
        </p:txBody>
      </p:sp>
      <p:sp>
        <p:nvSpPr>
          <p:cNvPr id="31" name="anim-g1-538"/>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العدّ بدأ من آخر حركة لا من الآن</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الإضاءة الذكية  ·  ٨٣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pic>
        <p:nvPicPr>
          <p:cNvPr id="2" name="Image 0" descr="C:\Users\user\projects\younes-training\arduino4\.pptx-cache\s8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pic>
        <p:nvPicPr>
          <p:cNvPr id="2" name="Image 0" descr="C:\Users\user\projects\younes-training\arduino4\.pptx-cache\s8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حركة وظلام وساعة إيقاف لا تتوقف: ضوء يتبعك ويطفئ نفسه…</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وأردوينو لا يتجمد أبدًا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الإضاءة الذكية  ·  ٨٦</a:t>
            </a:r>
            <a:endParaRPr lang="ar-SA" sz="12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٨</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٨</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الباب الذكي</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كلمة سر… أو بطاقة… والباب يعرف أهله</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الباب الذكي  ·  ٨٧</a:t>
            </a:r>
            <a:endParaRPr lang="ar-SA" sz="12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539"/>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540"/>
          <p:cNvSpPr/>
          <p:nvPr/>
        </p:nvSpPr>
        <p:spPr>
          <a:xfrm>
            <a:off x="10573207" y="2109978"/>
            <a:ext cx="566928" cy="566928"/>
          </a:xfrm>
          <a:prstGeom prst="ellipse">
            <a:avLst/>
          </a:prstGeom>
          <a:solidFill>
            <a:srgbClr val="D9AE4B"/>
          </a:solidFill>
          <a:ln/>
        </p:spPr>
      </p:sp>
      <p:sp>
        <p:nvSpPr>
          <p:cNvPr id="7" name="anim-g1-541"/>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542"/>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تقرأ لوحة مفاتيح ٤ × ٤ وتجمع الأرقام في كلمة سر</a:t>
            </a:r>
            <a:endParaRPr lang="ar-SA" sz="2400" dirty="0"/>
          </a:p>
        </p:txBody>
      </p:sp>
      <p:sp>
        <p:nvSpPr>
          <p:cNvPr id="9" name="anim-g2-543"/>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544"/>
          <p:cNvSpPr/>
          <p:nvPr/>
        </p:nvSpPr>
        <p:spPr>
          <a:xfrm>
            <a:off x="10573207" y="3166110"/>
            <a:ext cx="566928" cy="566928"/>
          </a:xfrm>
          <a:prstGeom prst="ellipse">
            <a:avLst/>
          </a:prstGeom>
          <a:solidFill>
            <a:srgbClr val="D9AE4B"/>
          </a:solidFill>
          <a:ln/>
        </p:spPr>
      </p:sp>
      <p:sp>
        <p:nvSpPr>
          <p:cNvPr id="11" name="anim-g2-545"/>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546"/>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تقرأ بطاقات RFID وتميّز المسموح منها</a:t>
            </a:r>
            <a:endParaRPr lang="ar-SA" sz="2400" dirty="0"/>
          </a:p>
        </p:txBody>
      </p:sp>
      <p:sp>
        <p:nvSpPr>
          <p:cNvPr id="13" name="anim-g3-547"/>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548"/>
          <p:cNvSpPr/>
          <p:nvPr/>
        </p:nvSpPr>
        <p:spPr>
          <a:xfrm>
            <a:off x="10573207" y="4222242"/>
            <a:ext cx="566928" cy="566928"/>
          </a:xfrm>
          <a:prstGeom prst="ellipse">
            <a:avLst/>
          </a:prstGeom>
          <a:solidFill>
            <a:srgbClr val="D9AE4B"/>
          </a:solidFill>
          <a:ln/>
        </p:spPr>
      </p:sp>
      <p:sp>
        <p:nvSpPr>
          <p:cNvPr id="15" name="anim-g3-549"/>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550"/>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تقفل الباب وتفتحه بسيرفو</a:t>
            </a:r>
            <a:endParaRPr lang="ar-SA" sz="2400" dirty="0"/>
          </a:p>
        </p:txBody>
      </p:sp>
      <p:sp>
        <p:nvSpPr>
          <p:cNvPr id="17" name="anim-g4-551"/>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552"/>
          <p:cNvSpPr/>
          <p:nvPr/>
        </p:nvSpPr>
        <p:spPr>
          <a:xfrm>
            <a:off x="10573207" y="5278374"/>
            <a:ext cx="566928" cy="566928"/>
          </a:xfrm>
          <a:prstGeom prst="ellipse">
            <a:avLst/>
          </a:prstGeom>
          <a:solidFill>
            <a:srgbClr val="D9AE4B"/>
          </a:solidFill>
          <a:ln/>
        </p:spPr>
      </p:sp>
      <p:sp>
        <p:nvSpPr>
          <p:cNvPr id="19" name="anim-g4-553"/>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554"/>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تحمي الباب من التخمين بقفل مؤقت بعد ثلاث محاولات</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الباب الذكي  ·  ٨٨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name="Slide 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طريقتان للدخول</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 تعرفه… أو ما تحمله</a:t>
            </a:r>
            <a:endParaRPr lang="ar-SA" sz="3800" dirty="0"/>
          </a:p>
        </p:txBody>
      </p:sp>
      <p:sp>
        <p:nvSpPr>
          <p:cNvPr id="5" name="anim-g1-555"/>
          <p:cNvSpPr/>
          <p:nvPr/>
        </p:nvSpPr>
        <p:spPr>
          <a:xfrm>
            <a:off x="6233008"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56"/>
          <p:cNvSpPr/>
          <p:nvPr/>
        </p:nvSpPr>
        <p:spPr>
          <a:xfrm>
            <a:off x="10527487" y="2267712"/>
            <a:ext cx="566928" cy="566928"/>
          </a:xfrm>
          <a:prstGeom prst="roundRect">
            <a:avLst>
              <a:gd name="adj" fmla="val 32258"/>
            </a:avLst>
          </a:prstGeom>
          <a:solidFill>
            <a:srgbClr val="F7E6BC"/>
          </a:solidFill>
          <a:ln/>
        </p:spPr>
      </p:sp>
      <p:sp>
        <p:nvSpPr>
          <p:cNvPr id="7" name="anim-g1-557"/>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58"/>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لوحة المفاتيح ٤ × ٤</a:t>
            </a:r>
            <a:endParaRPr lang="ar-SA" sz="2200" dirty="0"/>
          </a:p>
        </p:txBody>
      </p:sp>
      <p:sp>
        <p:nvSpPr>
          <p:cNvPr id="9" name="anim-g1-559"/>
          <p:cNvSpPr/>
          <p:nvPr/>
        </p:nvSpPr>
        <p:spPr>
          <a:xfrm>
            <a:off x="6507328"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١٦ زرًا في ٨ أسلاك فقط (٤ صفوف و٤ أعمدة). مكتبة Keypad تعرف أي زر ضُغط</a:t>
            </a:r>
            <a:endParaRPr lang="ar-SA" sz="1900" dirty="0"/>
          </a:p>
        </p:txBody>
      </p:sp>
      <p:sp>
        <p:nvSpPr>
          <p:cNvPr id="10" name="anim-g2-560"/>
          <p:cNvSpPr/>
          <p:nvPr/>
        </p:nvSpPr>
        <p:spPr>
          <a:xfrm>
            <a:off x="822960"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61"/>
          <p:cNvSpPr/>
          <p:nvPr/>
        </p:nvSpPr>
        <p:spPr>
          <a:xfrm>
            <a:off x="5117440" y="2267712"/>
            <a:ext cx="566928" cy="566928"/>
          </a:xfrm>
          <a:prstGeom prst="roundRect">
            <a:avLst>
              <a:gd name="adj" fmla="val 32258"/>
            </a:avLst>
          </a:prstGeom>
          <a:solidFill>
            <a:srgbClr val="F7E6BC"/>
          </a:solidFill>
          <a:ln/>
        </p:spPr>
      </p:sp>
      <p:sp>
        <p:nvSpPr>
          <p:cNvPr id="12" name="anim-g2-562"/>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563"/>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قارئ RFID (RC522)</a:t>
            </a:r>
            <a:endParaRPr lang="ar-SA" sz="2200" dirty="0"/>
          </a:p>
        </p:txBody>
      </p:sp>
      <p:sp>
        <p:nvSpPr>
          <p:cNvPr id="14" name="anim-g2-564"/>
          <p:cNvSpPr/>
          <p:nvPr/>
        </p:nvSpPr>
        <p:spPr>
          <a:xfrm>
            <a:off x="1097280"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يقرأ رقم البطاقة الفريد (UID) لاسلكيًا من مسافة سنتيمترات. يعمل على ٣٫٣ فولت!</a:t>
            </a:r>
            <a:endParaRPr lang="ar-SA" sz="1900" dirty="0"/>
          </a:p>
        </p:txBody>
      </p:sp>
      <p:sp>
        <p:nvSpPr>
          <p:cNvPr id="15"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16"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الباب الذكي  ·  ٨٩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pic>
        <p:nvPicPr>
          <p:cNvPr id="2" name="Image 0" descr="C:\Users\user\projects\younes-training\arduino4\.pptx-cache\s9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pic>
        <p:nvPicPr>
          <p:cNvPr id="2" name="Image 0" descr="C:\Users\user\projects\younes-training\arduino4\.pptx-cache\s91-0.jpg">    </p:cNvPr>
          <p:cNvPicPr>
            <a:picLocks noChangeAspect="1"/>
          </p:cNvPicPr>
          <p:nvPr/>
        </p:nvPicPr>
        <p:blipFill>
          <a:blip r:embed="rId1"/>
          <a:stretch>
            <a:fillRect/>
          </a:stretch>
        </p:blipFill>
        <p:spPr>
          <a:xfrm>
            <a:off x="0" y="0"/>
            <a:ext cx="12191695" cy="6858000"/>
          </a:xfrm>
          <a:prstGeom prst="rect">
            <a:avLst/>
          </a:prstGeom>
        </p:spPr>
      </p:pic>
      <p:pic>
        <p:nvPicPr>
          <p:cNvPr id="3" name="anim-g1-565" descr="C:\Users\user\projects\younes-training\arduino4\.pptx-cache\s91-1.jpg">    </p:cNvPr>
          <p:cNvPicPr>
            <a:picLocks noChangeAspect="1"/>
          </p:cNvPicPr>
          <p:nvPr/>
        </p:nvPicPr>
        <p:blipFill>
          <a:blip r:embed="rId2"/>
          <a:stretch>
            <a:fillRect/>
          </a:stretch>
        </p:blipFill>
        <p:spPr>
          <a:xfrm>
            <a:off x="0" y="0"/>
            <a:ext cx="12191695" cy="6858000"/>
          </a:xfrm>
          <a:prstGeom prst="rect">
            <a:avLst/>
          </a:prstGeom>
        </p:spPr>
      </p:pic>
      <p:pic>
        <p:nvPicPr>
          <p:cNvPr id="4" name="anim-g2-566" descr="C:\Users\user\projects\younes-training\arduino4\.pptx-cache\s91-2.jpg">    </p:cNvPr>
          <p:cNvPicPr>
            <a:picLocks noChangeAspect="1"/>
          </p:cNvPicPr>
          <p:nvPr/>
        </p:nvPicPr>
        <p:blipFill>
          <a:blip r:embed="rId3"/>
          <a:stretch>
            <a:fillRect/>
          </a:stretch>
        </p:blipFill>
        <p:spPr>
          <a:xfrm>
            <a:off x="0" y="0"/>
            <a:ext cx="12191695" cy="6858000"/>
          </a:xfrm>
          <a:prstGeom prst="rect">
            <a:avLst/>
          </a:prstGeom>
        </p:spPr>
      </p:pic>
      <p:pic>
        <p:nvPicPr>
          <p:cNvPr id="5" name="anim-g3-567" descr="C:\Users\user\projects\younes-training\arduino4\.pptx-cache\s91-3.jpg">    </p:cNvPr>
          <p:cNvPicPr>
            <a:picLocks noChangeAspect="1"/>
          </p:cNvPicPr>
          <p:nvPr/>
        </p:nvPicPr>
        <p:blipFill>
          <a:blip r:embed="rId4"/>
          <a:stretch>
            <a:fillRect/>
          </a:stretch>
        </p:blipFill>
        <p:spPr>
          <a:xfrm>
            <a:off x="0" y="0"/>
            <a:ext cx="12191695" cy="6858000"/>
          </a:xfrm>
          <a:prstGeom prst="rect">
            <a:avLst/>
          </a:prstGeom>
        </p:spPr>
      </p:pic>
      <p:pic>
        <p:nvPicPr>
          <p:cNvPr id="6" name="anim-g4-568" descr="C:\Users\user\projects\younes-training\arduino4\.pptx-cache\s91-4.jpg">    </p:cNvPr>
          <p:cNvPicPr>
            <a:picLocks noChangeAspect="1"/>
          </p:cNvPicPr>
          <p:nvPr/>
        </p:nvPicPr>
        <p:blipFill>
          <a:blip r:embed="rId5"/>
          <a:stretch>
            <a:fillRect/>
          </a:stretch>
        </p:blipFill>
        <p:spPr>
          <a:xfrm>
            <a:off x="0" y="0"/>
            <a:ext cx="12191695" cy="6858000"/>
          </a:xfrm>
          <a:prstGeom prst="rect">
            <a:avLst/>
          </a:prstGeom>
        </p:spPr>
      </p:pic>
      <p:pic>
        <p:nvPicPr>
          <p:cNvPr id="7" name="anim-g5-569" descr="C:\Users\user\projects\younes-training\arduino4\.pptx-cache\s91-5.jpg">    </p:cNvPr>
          <p:cNvPicPr>
            <a:picLocks noChangeAspect="1"/>
          </p:cNvPicPr>
          <p:nvPr/>
        </p:nvPicPr>
        <p:blipFill>
          <a:blip r:embed="rId6"/>
          <a:stretch>
            <a:fillRect/>
          </a:stretch>
        </p:blipFill>
        <p:spPr>
          <a:xfrm>
            <a:off x="0" y="0"/>
            <a:ext cx="12191695" cy="6858000"/>
          </a:xfrm>
          <a:prstGeom prst="rect">
            <a:avLst/>
          </a:prstGeom>
        </p:spPr>
      </p:pic>
      <p:pic>
        <p:nvPicPr>
          <p:cNvPr id="8" name="anim-g6-570" descr="C:\Users\user\projects\younes-training\arduino4\.pptx-cache\s91-6.jpg">    </p:cNvPr>
          <p:cNvPicPr>
            <a:picLocks noChangeAspect="1"/>
          </p:cNvPicPr>
          <p:nvPr/>
        </p:nvPicPr>
        <p:blipFill>
          <a:blip r:embed="rId7"/>
          <a:stretch>
            <a:fillRect/>
          </a:stretch>
        </p:blipFill>
        <p:spPr>
          <a:xfrm>
            <a:off x="0" y="0"/>
            <a:ext cx="12191695" cy="6858000"/>
          </a:xfrm>
          <a:prstGeom prst="rect">
            <a:avLst/>
          </a:prstGeom>
        </p:spPr>
      </p:pic>
      <p:pic>
        <p:nvPicPr>
          <p:cNvPr id="9" name="anim-g7-571" descr="C:\Users\user\projects\younes-training\arduino4\.pptx-cache\s91-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pic>
        <p:nvPicPr>
          <p:cNvPr id="2" name="Image 0" descr="C:\Users\user\projects\younes-training\arduino4\.pptx-cache\s92-0.jpg">    </p:cNvPr>
          <p:cNvPicPr>
            <a:picLocks noChangeAspect="1"/>
          </p:cNvPicPr>
          <p:nvPr/>
        </p:nvPicPr>
        <p:blipFill>
          <a:blip r:embed="rId1"/>
          <a:stretch>
            <a:fillRect/>
          </a:stretch>
        </p:blipFill>
        <p:spPr>
          <a:xfrm>
            <a:off x="0" y="0"/>
            <a:ext cx="12191695" cy="6858000"/>
          </a:xfrm>
          <a:prstGeom prst="rect">
            <a:avLst/>
          </a:prstGeom>
        </p:spPr>
      </p:pic>
      <p:pic>
        <p:nvPicPr>
          <p:cNvPr id="3" name="anim-g1-572" descr="C:\Users\user\projects\younes-training\arduino4\.pptx-cache\s92-1.jpg">    </p:cNvPr>
          <p:cNvPicPr>
            <a:picLocks noChangeAspect="1"/>
          </p:cNvPicPr>
          <p:nvPr/>
        </p:nvPicPr>
        <p:blipFill>
          <a:blip r:embed="rId2"/>
          <a:stretch>
            <a:fillRect/>
          </a:stretch>
        </p:blipFill>
        <p:spPr>
          <a:xfrm>
            <a:off x="0" y="0"/>
            <a:ext cx="12191695" cy="6858000"/>
          </a:xfrm>
          <a:prstGeom prst="rect">
            <a:avLst/>
          </a:prstGeom>
        </p:spPr>
      </p:pic>
      <p:pic>
        <p:nvPicPr>
          <p:cNvPr id="4" name="anim-g2-573" descr="C:\Users\user\projects\younes-training\arduino4\.pptx-cache\s92-2.jpg">    </p:cNvPr>
          <p:cNvPicPr>
            <a:picLocks noChangeAspect="1"/>
          </p:cNvPicPr>
          <p:nvPr/>
        </p:nvPicPr>
        <p:blipFill>
          <a:blip r:embed="rId3"/>
          <a:stretch>
            <a:fillRect/>
          </a:stretch>
        </p:blipFill>
        <p:spPr>
          <a:xfrm>
            <a:off x="0" y="0"/>
            <a:ext cx="12191695" cy="6858000"/>
          </a:xfrm>
          <a:prstGeom prst="rect">
            <a:avLst/>
          </a:prstGeom>
        </p:spPr>
      </p:pic>
      <p:pic>
        <p:nvPicPr>
          <p:cNvPr id="5" name="anim-g3-574" descr="C:\Users\user\projects\younes-training\arduino4\.pptx-cache\s92-3.jpg">    </p:cNvPr>
          <p:cNvPicPr>
            <a:picLocks noChangeAspect="1"/>
          </p:cNvPicPr>
          <p:nvPr/>
        </p:nvPicPr>
        <p:blipFill>
          <a:blip r:embed="rId4"/>
          <a:stretch>
            <a:fillRect/>
          </a:stretch>
        </p:blipFill>
        <p:spPr>
          <a:xfrm>
            <a:off x="0" y="0"/>
            <a:ext cx="12191695" cy="6858000"/>
          </a:xfrm>
          <a:prstGeom prst="rect">
            <a:avLst/>
          </a:prstGeom>
        </p:spPr>
      </p:pic>
      <p:pic>
        <p:nvPicPr>
          <p:cNvPr id="6" name="anim-g4-575" descr="C:\Users\user\projects\younes-training\arduino4\.pptx-cache\s92-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لماذا نقفل النظام مؤقتًا بعد ثلاث محاولات خاطئة؟</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لتوفير البطارية</a:t>
            </a:r>
            <a:endParaRPr lang="ar-SA" sz="2500" dirty="0"/>
          </a:p>
        </p:txBody>
      </p:sp>
      <p:sp>
        <p:nvSpPr>
          <p:cNvPr id="9" name="anim-g1-576"/>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577"/>
          <p:cNvSpPr/>
          <p:nvPr/>
        </p:nvSpPr>
        <p:spPr>
          <a:xfrm>
            <a:off x="10231831" y="2194560"/>
            <a:ext cx="954024" cy="954024"/>
          </a:xfrm>
          <a:prstGeom prst="roundRect">
            <a:avLst>
              <a:gd name="adj" fmla="val 11502"/>
            </a:avLst>
          </a:prstGeom>
          <a:solidFill>
            <a:srgbClr val="A3A9BA"/>
          </a:solidFill>
          <a:ln/>
        </p:spPr>
      </p:sp>
      <p:sp>
        <p:nvSpPr>
          <p:cNvPr id="11" name="anim-g1-578"/>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579"/>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لتوفير البطارية</a:t>
            </a:r>
            <a:endParaRPr lang="ar-SA" sz="2400" dirty="0"/>
          </a:p>
        </p:txBody>
      </p:sp>
      <p:sp>
        <p:nvSpPr>
          <p:cNvPr id="13" name="anim-g1-580"/>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لا علاقة له بالطاقة</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 تخمين ١٠ آلاف رقم يصبح مستحيلًا عمليًا</a:t>
            </a:r>
            <a:endParaRPr lang="ar-SA" sz="2500" dirty="0"/>
          </a:p>
        </p:txBody>
      </p:sp>
      <p:sp>
        <p:nvSpPr>
          <p:cNvPr id="18" name="anim-g1-581"/>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582"/>
          <p:cNvSpPr/>
          <p:nvPr/>
        </p:nvSpPr>
        <p:spPr>
          <a:xfrm>
            <a:off x="10231831" y="3569208"/>
            <a:ext cx="954024" cy="954024"/>
          </a:xfrm>
          <a:prstGeom prst="roundRect">
            <a:avLst>
              <a:gd name="adj" fmla="val 11502"/>
            </a:avLst>
          </a:prstGeom>
          <a:solidFill>
            <a:srgbClr val="2E9E6B"/>
          </a:solidFill>
          <a:ln/>
        </p:spPr>
      </p:sp>
      <p:sp>
        <p:nvSpPr>
          <p:cNvPr id="20" name="anim-g1-583"/>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584"/>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لأن تخمين ١٠ آلاف رقم يصبح مستحيلًا عمليًا</a:t>
            </a:r>
            <a:endParaRPr lang="ar-SA" sz="2400" dirty="0"/>
          </a:p>
        </p:txBody>
      </p:sp>
      <p:sp>
        <p:nvSpPr>
          <p:cNvPr id="22" name="anim-g1-585"/>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كلمة من ٤ أرقام لها ١٠٠٠٠ احتمال؛ بالقفل المؤقت يحتاج المخمّن أيامًا</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 لوحة المفاتيح تسخن</a:t>
            </a:r>
            <a:endParaRPr lang="ar-SA" sz="2500" dirty="0"/>
          </a:p>
        </p:txBody>
      </p:sp>
      <p:sp>
        <p:nvSpPr>
          <p:cNvPr id="27" name="anim-g1-586"/>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587"/>
          <p:cNvSpPr/>
          <p:nvPr/>
        </p:nvSpPr>
        <p:spPr>
          <a:xfrm>
            <a:off x="10231831" y="4943856"/>
            <a:ext cx="954024" cy="954024"/>
          </a:xfrm>
          <a:prstGeom prst="roundRect">
            <a:avLst>
              <a:gd name="adj" fmla="val 11502"/>
            </a:avLst>
          </a:prstGeom>
          <a:solidFill>
            <a:srgbClr val="A3A9BA"/>
          </a:solidFill>
          <a:ln/>
        </p:spPr>
      </p:sp>
      <p:sp>
        <p:nvSpPr>
          <p:cNvPr id="29" name="anim-g1-588"/>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589"/>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لأن لوحة المفاتيح تسخن</a:t>
            </a:r>
            <a:endParaRPr lang="ar-SA" sz="2400" dirty="0"/>
          </a:p>
        </p:txBody>
      </p:sp>
      <p:sp>
        <p:nvSpPr>
          <p:cNvPr id="31" name="anim-g1-590"/>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لا تسخن لوحة المفاتيح</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الباب الذكي  ·  ٩٣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pic>
        <p:nvPicPr>
          <p:cNvPr id="2" name="Image 0" descr="C:\Users\user\projects\younes-training\arduino4\.pptx-cache\s9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pic>
        <p:nvPicPr>
          <p:cNvPr id="2" name="Image 0" descr="C:\Users\user\projects\younes-training\arduino4\.pptx-cache\s9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رقم يُكتب بنجوم، وبطاقة تُعرف برقمها، وقفل يقاوم التخمين: باب يعرف أهله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الباب الذكي  ·  ٩٦</a:t>
            </a:r>
            <a:endParaRPr lang="ar-SA" sz="12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٩</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٩</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الغاز والحريق</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نظام ينقذ الأرواح… قبل أن يشعر أحد بالخطر</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الغاز والحريق  ·  ٩٧</a:t>
            </a:r>
            <a:endParaRPr lang="ar-SA" sz="1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591"/>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592"/>
          <p:cNvSpPr/>
          <p:nvPr/>
        </p:nvSpPr>
        <p:spPr>
          <a:xfrm>
            <a:off x="10573207" y="2109978"/>
            <a:ext cx="566928" cy="566928"/>
          </a:xfrm>
          <a:prstGeom prst="ellipse">
            <a:avLst/>
          </a:prstGeom>
          <a:solidFill>
            <a:srgbClr val="D9AE4B"/>
          </a:solidFill>
          <a:ln/>
        </p:spPr>
      </p:sp>
      <p:sp>
        <p:nvSpPr>
          <p:cNvPr id="7" name="anim-g1-593"/>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594"/>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تقرأ حساس الغاز MQ-2 وتعرف حاجته للتسخين</a:t>
            </a:r>
            <a:endParaRPr lang="ar-SA" sz="2400" dirty="0"/>
          </a:p>
        </p:txBody>
      </p:sp>
      <p:sp>
        <p:nvSpPr>
          <p:cNvPr id="9" name="anim-g2-595"/>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596"/>
          <p:cNvSpPr/>
          <p:nvPr/>
        </p:nvSpPr>
        <p:spPr>
          <a:xfrm>
            <a:off x="10573207" y="3166110"/>
            <a:ext cx="566928" cy="566928"/>
          </a:xfrm>
          <a:prstGeom prst="ellipse">
            <a:avLst/>
          </a:prstGeom>
          <a:solidFill>
            <a:srgbClr val="D9AE4B"/>
          </a:solidFill>
          <a:ln/>
        </p:spPr>
      </p:sp>
      <p:sp>
        <p:nvSpPr>
          <p:cNvPr id="11" name="anim-g2-597"/>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598"/>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تبني استجابة متدرجة: تحذير ثم خطر</a:t>
            </a:r>
            <a:endParaRPr lang="ar-SA" sz="2400" dirty="0"/>
          </a:p>
        </p:txBody>
      </p:sp>
      <p:sp>
        <p:nvSpPr>
          <p:cNvPr id="13" name="anim-g3-599"/>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600"/>
          <p:cNvSpPr/>
          <p:nvPr/>
        </p:nvSpPr>
        <p:spPr>
          <a:xfrm>
            <a:off x="10573207" y="4222242"/>
            <a:ext cx="566928" cy="566928"/>
          </a:xfrm>
          <a:prstGeom prst="ellipse">
            <a:avLst/>
          </a:prstGeom>
          <a:solidFill>
            <a:srgbClr val="D9AE4B"/>
          </a:solidFill>
          <a:ln/>
        </p:spPr>
      </p:sp>
      <p:sp>
        <p:nvSpPr>
          <p:cNvPr id="15" name="anim-g3-601"/>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602"/>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تقطع الغاز وتهوّي المطبخ آليًا</a:t>
            </a:r>
            <a:endParaRPr lang="ar-SA" sz="2400" dirty="0"/>
          </a:p>
        </p:txBody>
      </p:sp>
      <p:sp>
        <p:nvSpPr>
          <p:cNvPr id="17" name="anim-g4-603"/>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604"/>
          <p:cNvSpPr/>
          <p:nvPr/>
        </p:nvSpPr>
        <p:spPr>
          <a:xfrm>
            <a:off x="10573207" y="5278374"/>
            <a:ext cx="566928" cy="566928"/>
          </a:xfrm>
          <a:prstGeom prst="ellipse">
            <a:avLst/>
          </a:prstGeom>
          <a:solidFill>
            <a:srgbClr val="D9AE4B"/>
          </a:solidFill>
          <a:ln/>
        </p:spPr>
      </p:sp>
      <p:sp>
        <p:nvSpPr>
          <p:cNvPr id="19" name="anim-g4-605"/>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606"/>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تكشف اللهب بحساس الحريق</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الغاز والحريق  ·  ٩٨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حساسان للأمان</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أنف إلكتروني… وعين ترى النار</a:t>
            </a:r>
            <a:endParaRPr lang="ar-SA" sz="3800" dirty="0"/>
          </a:p>
        </p:txBody>
      </p:sp>
      <p:sp>
        <p:nvSpPr>
          <p:cNvPr id="5" name="anim-g1-607"/>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608"/>
          <p:cNvSpPr/>
          <p:nvPr/>
        </p:nvSpPr>
        <p:spPr>
          <a:xfrm>
            <a:off x="10527487" y="2267712"/>
            <a:ext cx="566928" cy="566928"/>
          </a:xfrm>
          <a:prstGeom prst="roundRect">
            <a:avLst>
              <a:gd name="adj" fmla="val 32258"/>
            </a:avLst>
          </a:prstGeom>
          <a:solidFill>
            <a:srgbClr val="F7E6BC"/>
          </a:solidFill>
          <a:ln/>
        </p:spPr>
      </p:sp>
      <p:sp>
        <p:nvSpPr>
          <p:cNvPr id="7" name="anim-g1-60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610"/>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MQ-2</a:t>
            </a:r>
            <a:endParaRPr lang="ar-SA" sz="2200" dirty="0"/>
          </a:p>
        </p:txBody>
      </p:sp>
      <p:sp>
        <p:nvSpPr>
          <p:cNvPr id="9" name="anim-g1-611"/>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يكشف غاز الطبخ والدخان. مخرج تماثلي: كلما زاد الغاز زادت القراءة</a:t>
            </a:r>
            <a:endParaRPr lang="ar-SA" sz="1900" dirty="0"/>
          </a:p>
        </p:txBody>
      </p:sp>
      <p:sp>
        <p:nvSpPr>
          <p:cNvPr id="10" name="anim-g2-612"/>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613"/>
          <p:cNvSpPr/>
          <p:nvPr/>
        </p:nvSpPr>
        <p:spPr>
          <a:xfrm>
            <a:off x="6920789" y="2267712"/>
            <a:ext cx="566928" cy="566928"/>
          </a:xfrm>
          <a:prstGeom prst="roundRect">
            <a:avLst>
              <a:gd name="adj" fmla="val 32258"/>
            </a:avLst>
          </a:prstGeom>
          <a:solidFill>
            <a:srgbClr val="F7E6BC"/>
          </a:solidFill>
          <a:ln/>
        </p:spPr>
      </p:sp>
      <p:sp>
        <p:nvSpPr>
          <p:cNvPr id="12" name="anim-g2-614"/>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615"/>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حساس اللهب</a:t>
            </a:r>
            <a:endParaRPr lang="ar-SA" sz="2200" dirty="0"/>
          </a:p>
        </p:txBody>
      </p:sp>
      <p:sp>
        <p:nvSpPr>
          <p:cNvPr id="14" name="anim-g2-616"/>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يرى الأشعة تحت الحمراء من النار. مخرج رقمي: LOW حين يرى لهبًا في أغلب الوحدات</a:t>
            </a:r>
            <a:endParaRPr lang="ar-SA" sz="1900" dirty="0"/>
          </a:p>
        </p:txBody>
      </p:sp>
      <p:sp>
        <p:nvSpPr>
          <p:cNvPr id="15" name="anim-g3-617"/>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618"/>
          <p:cNvSpPr/>
          <p:nvPr/>
        </p:nvSpPr>
        <p:spPr>
          <a:xfrm>
            <a:off x="3314090" y="2267712"/>
            <a:ext cx="566928" cy="566928"/>
          </a:xfrm>
          <a:prstGeom prst="roundRect">
            <a:avLst>
              <a:gd name="adj" fmla="val 32258"/>
            </a:avLst>
          </a:prstGeom>
          <a:solidFill>
            <a:srgbClr val="F7E6BC"/>
          </a:solidFill>
          <a:ln/>
        </p:spPr>
      </p:sp>
      <p:sp>
        <p:nvSpPr>
          <p:cNvPr id="17" name="anim-g3-619"/>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620"/>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التسخين</a:t>
            </a:r>
            <a:endParaRPr lang="ar-SA" sz="2200" dirty="0"/>
          </a:p>
        </p:txBody>
      </p:sp>
      <p:sp>
        <p:nvSpPr>
          <p:cNvPr id="19" name="anim-g3-621"/>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MQ-2 فيه سخان صغير: يحتاج دقائق بعد التشغيل حتى تستقر قراءته</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الغاز والحريق  ·  ٩٩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pic>
        <p:nvPicPr>
          <p:cNvPr id="2" name="Image 0" descr="C:\Users\user\projects\younes-training\arduino4\.pptx-cache\s10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pic>
        <p:nvPicPr>
          <p:cNvPr id="2" name="Image 0" descr="C:\Users\user\projects\younes-training\arduino4\.pptx-cache\s101-0.jpg">    </p:cNvPr>
          <p:cNvPicPr>
            <a:picLocks noChangeAspect="1"/>
          </p:cNvPicPr>
          <p:nvPr/>
        </p:nvPicPr>
        <p:blipFill>
          <a:blip r:embed="rId1"/>
          <a:stretch>
            <a:fillRect/>
          </a:stretch>
        </p:blipFill>
        <p:spPr>
          <a:xfrm>
            <a:off x="0" y="0"/>
            <a:ext cx="12191695" cy="6858000"/>
          </a:xfrm>
          <a:prstGeom prst="rect">
            <a:avLst/>
          </a:prstGeom>
        </p:spPr>
      </p:pic>
      <p:pic>
        <p:nvPicPr>
          <p:cNvPr id="3" name="anim-g1-622" descr="C:\Users\user\projects\younes-training\arduino4\.pptx-cache\s101-1.jpg">    </p:cNvPr>
          <p:cNvPicPr>
            <a:picLocks noChangeAspect="1"/>
          </p:cNvPicPr>
          <p:nvPr/>
        </p:nvPicPr>
        <p:blipFill>
          <a:blip r:embed="rId2"/>
          <a:stretch>
            <a:fillRect/>
          </a:stretch>
        </p:blipFill>
        <p:spPr>
          <a:xfrm>
            <a:off x="0" y="0"/>
            <a:ext cx="12191695" cy="6858000"/>
          </a:xfrm>
          <a:prstGeom prst="rect">
            <a:avLst/>
          </a:prstGeom>
        </p:spPr>
      </p:pic>
      <p:pic>
        <p:nvPicPr>
          <p:cNvPr id="4" name="anim-g2-623" descr="C:\Users\user\projects\younes-training\arduino4\.pptx-cache\s101-2.jpg">    </p:cNvPr>
          <p:cNvPicPr>
            <a:picLocks noChangeAspect="1"/>
          </p:cNvPicPr>
          <p:nvPr/>
        </p:nvPicPr>
        <p:blipFill>
          <a:blip r:embed="rId3"/>
          <a:stretch>
            <a:fillRect/>
          </a:stretch>
        </p:blipFill>
        <p:spPr>
          <a:xfrm>
            <a:off x="0" y="0"/>
            <a:ext cx="12191695" cy="6858000"/>
          </a:xfrm>
          <a:prstGeom prst="rect">
            <a:avLst/>
          </a:prstGeom>
        </p:spPr>
      </p:pic>
      <p:pic>
        <p:nvPicPr>
          <p:cNvPr id="5" name="anim-g3-624" descr="C:\Users\user\projects\younes-training\arduino4\.pptx-cache\s101-3.jpg">    </p:cNvPr>
          <p:cNvPicPr>
            <a:picLocks noChangeAspect="1"/>
          </p:cNvPicPr>
          <p:nvPr/>
        </p:nvPicPr>
        <p:blipFill>
          <a:blip r:embed="rId4"/>
          <a:stretch>
            <a:fillRect/>
          </a:stretch>
        </p:blipFill>
        <p:spPr>
          <a:xfrm>
            <a:off x="0" y="0"/>
            <a:ext cx="12191695" cy="6858000"/>
          </a:xfrm>
          <a:prstGeom prst="rect">
            <a:avLst/>
          </a:prstGeom>
        </p:spPr>
      </p:pic>
      <p:pic>
        <p:nvPicPr>
          <p:cNvPr id="6" name="anim-g4-625" descr="C:\Users\user\projects\younes-training\arduino4\.pptx-cache\s101-4.jpg">    </p:cNvPr>
          <p:cNvPicPr>
            <a:picLocks noChangeAspect="1"/>
          </p:cNvPicPr>
          <p:nvPr/>
        </p:nvPicPr>
        <p:blipFill>
          <a:blip r:embed="rId5"/>
          <a:stretch>
            <a:fillRect/>
          </a:stretch>
        </p:blipFill>
        <p:spPr>
          <a:xfrm>
            <a:off x="0" y="0"/>
            <a:ext cx="12191695" cy="6858000"/>
          </a:xfrm>
          <a:prstGeom prst="rect">
            <a:avLst/>
          </a:prstGeom>
        </p:spPr>
      </p:pic>
      <p:pic>
        <p:nvPicPr>
          <p:cNvPr id="7" name="anim-g5-626" descr="C:\Users\user\projects\younes-training\arduino4\.pptx-cache\s101-5.jpg">    </p:cNvPr>
          <p:cNvPicPr>
            <a:picLocks noChangeAspect="1"/>
          </p:cNvPicPr>
          <p:nvPr/>
        </p:nvPicPr>
        <p:blipFill>
          <a:blip r:embed="rId6"/>
          <a:stretch>
            <a:fillRect/>
          </a:stretch>
        </p:blipFill>
        <p:spPr>
          <a:xfrm>
            <a:off x="0" y="0"/>
            <a:ext cx="12191695" cy="6858000"/>
          </a:xfrm>
          <a:prstGeom prst="rect">
            <a:avLst/>
          </a:prstGeom>
        </p:spPr>
      </p:pic>
      <p:pic>
        <p:nvPicPr>
          <p:cNvPr id="8" name="anim-g6-627" descr="C:\Users\user\projects\younes-training\arduino4\.pptx-cache\s101-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name="Slide 1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564831" y="457200"/>
            <a:ext cx="3803904" cy="457200"/>
          </a:xfrm>
          <a:prstGeom prst="roundRect">
            <a:avLst>
              <a:gd name="adj" fmla="val 50000"/>
            </a:avLst>
          </a:prstGeom>
          <a:solidFill>
            <a:srgbClr val="F6EBCF"/>
          </a:solidFill>
          <a:ln/>
        </p:spPr>
      </p:sp>
      <p:sp>
        <p:nvSpPr>
          <p:cNvPr id="3" name="Text 1"/>
          <p:cNvSpPr/>
          <p:nvPr/>
        </p:nvSpPr>
        <p:spPr>
          <a:xfrm>
            <a:off x="7564831" y="457200"/>
            <a:ext cx="380390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تصميم أمان احترافي</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ثلاثة مبادئ في كل نظام أمان</a:t>
            </a:r>
            <a:endParaRPr lang="ar-SA" sz="3800" dirty="0"/>
          </a:p>
        </p:txBody>
      </p:sp>
      <p:sp>
        <p:nvSpPr>
          <p:cNvPr id="5" name="anim-g1-628"/>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629"/>
          <p:cNvSpPr/>
          <p:nvPr/>
        </p:nvSpPr>
        <p:spPr>
          <a:xfrm>
            <a:off x="10527487" y="2267712"/>
            <a:ext cx="566928" cy="566928"/>
          </a:xfrm>
          <a:prstGeom prst="roundRect">
            <a:avLst>
              <a:gd name="adj" fmla="val 32258"/>
            </a:avLst>
          </a:prstGeom>
          <a:solidFill>
            <a:srgbClr val="F7E6BC"/>
          </a:solidFill>
          <a:ln/>
        </p:spPr>
      </p:sp>
      <p:sp>
        <p:nvSpPr>
          <p:cNvPr id="7" name="anim-g1-630"/>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631"/>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التدرج</a:t>
            </a:r>
            <a:endParaRPr lang="ar-SA" sz="2200" dirty="0"/>
          </a:p>
        </p:txBody>
      </p:sp>
      <p:sp>
        <p:nvSpPr>
          <p:cNvPr id="9" name="anim-g1-632"/>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تحذير أولًا، ثم إجراءات قوية. لا ذعر من قراءة عابرة</a:t>
            </a:r>
            <a:endParaRPr lang="ar-SA" sz="1900" dirty="0"/>
          </a:p>
        </p:txBody>
      </p:sp>
      <p:sp>
        <p:nvSpPr>
          <p:cNvPr id="10" name="anim-g2-633"/>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634"/>
          <p:cNvSpPr/>
          <p:nvPr/>
        </p:nvSpPr>
        <p:spPr>
          <a:xfrm>
            <a:off x="6920789" y="2267712"/>
            <a:ext cx="566928" cy="566928"/>
          </a:xfrm>
          <a:prstGeom prst="roundRect">
            <a:avLst>
              <a:gd name="adj" fmla="val 32258"/>
            </a:avLst>
          </a:prstGeom>
          <a:solidFill>
            <a:srgbClr val="F7E6BC"/>
          </a:solidFill>
          <a:ln/>
        </p:spPr>
      </p:sp>
      <p:sp>
        <p:nvSpPr>
          <p:cNvPr id="12" name="anim-g2-635"/>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636"/>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الأمان عند العطل</a:t>
            </a:r>
            <a:endParaRPr lang="ar-SA" sz="2200" dirty="0"/>
          </a:p>
        </p:txBody>
      </p:sp>
      <p:sp>
        <p:nvSpPr>
          <p:cNvPr id="14" name="anim-g2-637"/>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صمام يُغلق إذا انقطعت الكهرباء (Normally Closed)</a:t>
            </a:r>
            <a:endParaRPr lang="ar-SA" sz="1900" dirty="0"/>
          </a:p>
        </p:txBody>
      </p:sp>
      <p:sp>
        <p:nvSpPr>
          <p:cNvPr id="15" name="anim-g3-638"/>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639"/>
          <p:cNvSpPr/>
          <p:nvPr/>
        </p:nvSpPr>
        <p:spPr>
          <a:xfrm>
            <a:off x="3314090" y="2267712"/>
            <a:ext cx="566928" cy="566928"/>
          </a:xfrm>
          <a:prstGeom prst="roundRect">
            <a:avLst>
              <a:gd name="adj" fmla="val 32258"/>
            </a:avLst>
          </a:prstGeom>
          <a:solidFill>
            <a:srgbClr val="F7E6BC"/>
          </a:solidFill>
          <a:ln/>
        </p:spPr>
      </p:sp>
      <p:sp>
        <p:nvSpPr>
          <p:cNvPr id="17" name="anim-g3-640"/>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641"/>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التكرار</a:t>
            </a:r>
            <a:endParaRPr lang="ar-SA" sz="2200" dirty="0"/>
          </a:p>
        </p:txBody>
      </p:sp>
      <p:sp>
        <p:nvSpPr>
          <p:cNvPr id="19" name="anim-g3-642"/>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حساسان بدل واحد في الأماكن الخطرة</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الغاز والحريق  ·  ١٠٢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pic>
        <p:nvPicPr>
          <p:cNvPr id="2" name="Image 0" descr="C:\Users\user\projects\younes-training\arduino4\.pptx-cache\s103-0.jpg">    </p:cNvPr>
          <p:cNvPicPr>
            <a:picLocks noChangeAspect="1"/>
          </p:cNvPicPr>
          <p:nvPr/>
        </p:nvPicPr>
        <p:blipFill>
          <a:blip r:embed="rId1"/>
          <a:stretch>
            <a:fillRect/>
          </a:stretch>
        </p:blipFill>
        <p:spPr>
          <a:xfrm>
            <a:off x="0" y="0"/>
            <a:ext cx="12191695" cy="6858000"/>
          </a:xfrm>
          <a:prstGeom prst="rect">
            <a:avLst/>
          </a:prstGeom>
        </p:spPr>
      </p:pic>
      <p:pic>
        <p:nvPicPr>
          <p:cNvPr id="3" name="anim-g1-643" descr="C:\Users\user\projects\younes-training\arduino4\.pptx-cache\s103-1.jpg">    </p:cNvPr>
          <p:cNvPicPr>
            <a:picLocks noChangeAspect="1"/>
          </p:cNvPicPr>
          <p:nvPr/>
        </p:nvPicPr>
        <p:blipFill>
          <a:blip r:embed="rId2"/>
          <a:stretch>
            <a:fillRect/>
          </a:stretch>
        </p:blipFill>
        <p:spPr>
          <a:xfrm>
            <a:off x="0" y="0"/>
            <a:ext cx="12191695" cy="6858000"/>
          </a:xfrm>
          <a:prstGeom prst="rect">
            <a:avLst/>
          </a:prstGeom>
        </p:spPr>
      </p:pic>
      <p:pic>
        <p:nvPicPr>
          <p:cNvPr id="4" name="anim-g2-644" descr="C:\Users\user\projects\younes-training\arduino4\.pptx-cache\s103-2.jpg">    </p:cNvPr>
          <p:cNvPicPr>
            <a:picLocks noChangeAspect="1"/>
          </p:cNvPicPr>
          <p:nvPr/>
        </p:nvPicPr>
        <p:blipFill>
          <a:blip r:embed="rId3"/>
          <a:stretch>
            <a:fillRect/>
          </a:stretch>
        </p:blipFill>
        <p:spPr>
          <a:xfrm>
            <a:off x="0" y="0"/>
            <a:ext cx="12191695" cy="6858000"/>
          </a:xfrm>
          <a:prstGeom prst="rect">
            <a:avLst/>
          </a:prstGeom>
        </p:spPr>
      </p:pic>
      <p:pic>
        <p:nvPicPr>
          <p:cNvPr id="5" name="anim-g3-645" descr="C:\Users\user\projects\younes-training\arduino4\.pptx-cache\s103-3.jpg">    </p:cNvPr>
          <p:cNvPicPr>
            <a:picLocks noChangeAspect="1"/>
          </p:cNvPicPr>
          <p:nvPr/>
        </p:nvPicPr>
        <p:blipFill>
          <a:blip r:embed="rId4"/>
          <a:stretch>
            <a:fillRect/>
          </a:stretch>
        </p:blipFill>
        <p:spPr>
          <a:xfrm>
            <a:off x="0" y="0"/>
            <a:ext cx="12191695" cy="6858000"/>
          </a:xfrm>
          <a:prstGeom prst="rect">
            <a:avLst/>
          </a:prstGeom>
        </p:spPr>
      </p:pic>
      <p:pic>
        <p:nvPicPr>
          <p:cNvPr id="6" name="anim-g4-646" descr="C:\Users\user\projects\younes-training\arduino4\.pptx-cache\s103-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لماذا نختار صمام غاز من نوع «مغلق عادةً» (NC)؟</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لأنه أرخص</a:t>
            </a:r>
            <a:endParaRPr lang="ar-SA" sz="2500" dirty="0"/>
          </a:p>
        </p:txBody>
      </p:sp>
      <p:sp>
        <p:nvSpPr>
          <p:cNvPr id="9" name="anim-g1-647"/>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648"/>
          <p:cNvSpPr/>
          <p:nvPr/>
        </p:nvSpPr>
        <p:spPr>
          <a:xfrm>
            <a:off x="10231831" y="2194560"/>
            <a:ext cx="954024" cy="954024"/>
          </a:xfrm>
          <a:prstGeom prst="roundRect">
            <a:avLst>
              <a:gd name="adj" fmla="val 11502"/>
            </a:avLst>
          </a:prstGeom>
          <a:solidFill>
            <a:srgbClr val="A3A9BA"/>
          </a:solidFill>
          <a:ln/>
        </p:spPr>
      </p:sp>
      <p:sp>
        <p:nvSpPr>
          <p:cNvPr id="11" name="anim-g1-649"/>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650"/>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لأنه أرخص</a:t>
            </a:r>
            <a:endParaRPr lang="ar-SA" sz="2400" dirty="0"/>
          </a:p>
        </p:txBody>
      </p:sp>
      <p:sp>
        <p:nvSpPr>
          <p:cNvPr id="13" name="anim-g1-651"/>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السعر ليس السبب</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لأنه أسرع</a:t>
            </a:r>
            <a:endParaRPr lang="ar-SA" sz="2500" dirty="0"/>
          </a:p>
        </p:txBody>
      </p:sp>
      <p:sp>
        <p:nvSpPr>
          <p:cNvPr id="18" name="anim-g1-652"/>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653"/>
          <p:cNvSpPr/>
          <p:nvPr/>
        </p:nvSpPr>
        <p:spPr>
          <a:xfrm>
            <a:off x="10231831" y="3569208"/>
            <a:ext cx="954024" cy="954024"/>
          </a:xfrm>
          <a:prstGeom prst="roundRect">
            <a:avLst>
              <a:gd name="adj" fmla="val 11502"/>
            </a:avLst>
          </a:prstGeom>
          <a:solidFill>
            <a:srgbClr val="A3A9BA"/>
          </a:solidFill>
          <a:ln/>
        </p:spPr>
      </p:sp>
      <p:sp>
        <p:nvSpPr>
          <p:cNvPr id="20" name="anim-g1-65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655"/>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لأنه أسرع</a:t>
            </a:r>
            <a:endParaRPr lang="ar-SA" sz="2400" dirty="0"/>
          </a:p>
        </p:txBody>
      </p:sp>
      <p:sp>
        <p:nvSpPr>
          <p:cNvPr id="22" name="anim-g1-656"/>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السرعة متقاربة</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لأنه يُغلق وحده إن انقطعت الكهرباء</a:t>
            </a:r>
            <a:endParaRPr lang="ar-SA" sz="2500" dirty="0"/>
          </a:p>
        </p:txBody>
      </p:sp>
      <p:sp>
        <p:nvSpPr>
          <p:cNvPr id="27" name="anim-g1-657"/>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658"/>
          <p:cNvSpPr/>
          <p:nvPr/>
        </p:nvSpPr>
        <p:spPr>
          <a:xfrm>
            <a:off x="10231831" y="4943856"/>
            <a:ext cx="954024" cy="954024"/>
          </a:xfrm>
          <a:prstGeom prst="roundRect">
            <a:avLst>
              <a:gd name="adj" fmla="val 11502"/>
            </a:avLst>
          </a:prstGeom>
          <a:solidFill>
            <a:srgbClr val="2E9E6B"/>
          </a:solidFill>
          <a:ln/>
        </p:spPr>
      </p:sp>
      <p:sp>
        <p:nvSpPr>
          <p:cNvPr id="29" name="anim-g1-659"/>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660"/>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لأنه يُغلق وحده إن انقطعت الكهرباء</a:t>
            </a:r>
            <a:endParaRPr lang="ar-SA" sz="2400" dirty="0"/>
          </a:p>
        </p:txBody>
      </p:sp>
      <p:sp>
        <p:nvSpPr>
          <p:cNvPr id="31" name="anim-g1-661"/>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الأمان عند العطل: بلا كهرباء = بلا غاز</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الغاز والحريق  ·  ١٠٤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pic>
        <p:nvPicPr>
          <p:cNvPr id="2" name="Image 0" descr="C:\Users\user\projects\younes-training\arduino4\.pptx-cache\s1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pic>
        <p:nvPicPr>
          <p:cNvPr id="2" name="Image 0" descr="C:\Users\user\projects\younes-training\arduino4\.pptx-cache\s1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أنف لا ينام، وعين ترى النار، وصمام يُغلق وحده: البرمجة هنا تحمي الأرواح</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الغاز والحريق  ·  ١٠٧</a:t>
            </a:r>
            <a:endParaRPr lang="ar-SA" sz="12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١٠</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١٠</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الطاقة الشمسية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الشمس تعطي نهارًا… والبطارية تحرس الليل… والأردوينو يوزّع بحكمة</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الطاقة الشمسية  ·  ١٠٨</a:t>
            </a:r>
            <a:endParaRPr lang="ar-SA" sz="12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662"/>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663"/>
          <p:cNvSpPr/>
          <p:nvPr/>
        </p:nvSpPr>
        <p:spPr>
          <a:xfrm>
            <a:off x="10573207" y="2109978"/>
            <a:ext cx="566928" cy="566928"/>
          </a:xfrm>
          <a:prstGeom prst="ellipse">
            <a:avLst/>
          </a:prstGeom>
          <a:solidFill>
            <a:srgbClr val="D9AE4B"/>
          </a:solidFill>
          <a:ln/>
        </p:spPr>
      </p:sp>
      <p:sp>
        <p:nvSpPr>
          <p:cNvPr id="7" name="anim-g1-664"/>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665"/>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دورة الطاقة: لوح ← بطارية ← أحمال</a:t>
            </a:r>
            <a:endParaRPr lang="ar-SA" sz="2400" dirty="0"/>
          </a:p>
        </p:txBody>
      </p:sp>
      <p:sp>
        <p:nvSpPr>
          <p:cNvPr id="9" name="anim-g2-666"/>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667"/>
          <p:cNvSpPr/>
          <p:nvPr/>
        </p:nvSpPr>
        <p:spPr>
          <a:xfrm>
            <a:off x="10573207" y="3166110"/>
            <a:ext cx="566928" cy="566928"/>
          </a:xfrm>
          <a:prstGeom prst="ellipse">
            <a:avLst/>
          </a:prstGeom>
          <a:solidFill>
            <a:srgbClr val="D9AE4B"/>
          </a:solidFill>
          <a:ln/>
        </p:spPr>
      </p:sp>
      <p:sp>
        <p:nvSpPr>
          <p:cNvPr id="11" name="anim-g2-668"/>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669"/>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ترتّب الأجهزة بالأولوية</a:t>
            </a:r>
            <a:endParaRPr lang="ar-SA" sz="2400" dirty="0"/>
          </a:p>
        </p:txBody>
      </p:sp>
      <p:sp>
        <p:nvSpPr>
          <p:cNvPr id="13" name="anim-g3-670"/>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671"/>
          <p:cNvSpPr/>
          <p:nvPr/>
        </p:nvSpPr>
        <p:spPr>
          <a:xfrm>
            <a:off x="10573207" y="4222242"/>
            <a:ext cx="566928" cy="566928"/>
          </a:xfrm>
          <a:prstGeom prst="ellipse">
            <a:avLst/>
          </a:prstGeom>
          <a:solidFill>
            <a:srgbClr val="D9AE4B"/>
          </a:solidFill>
          <a:ln/>
        </p:spPr>
      </p:sp>
      <p:sp>
        <p:nvSpPr>
          <p:cNvPr id="15" name="anim-g3-672"/>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673"/>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تفصل الأجهزة الأقل أهمية حين تضعف البطارية</a:t>
            </a:r>
            <a:endParaRPr lang="ar-SA" sz="2400" dirty="0"/>
          </a:p>
        </p:txBody>
      </p:sp>
      <p:sp>
        <p:nvSpPr>
          <p:cNvPr id="17" name="anim-g4-674"/>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675"/>
          <p:cNvSpPr/>
          <p:nvPr/>
        </p:nvSpPr>
        <p:spPr>
          <a:xfrm>
            <a:off x="10573207" y="5278374"/>
            <a:ext cx="566928" cy="566928"/>
          </a:xfrm>
          <a:prstGeom prst="ellipse">
            <a:avLst/>
          </a:prstGeom>
          <a:solidFill>
            <a:srgbClr val="D9AE4B"/>
          </a:solidFill>
          <a:ln/>
        </p:spPr>
      </p:sp>
      <p:sp>
        <p:nvSpPr>
          <p:cNvPr id="19" name="anim-g4-676"/>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677"/>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تقيس جهد البطارية وتحوّله إلى نسبة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الطاقة الشمسية  ·  ١٠٩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name="Slide 1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20479" y="457200"/>
            <a:ext cx="2048256" cy="457200"/>
          </a:xfrm>
          <a:prstGeom prst="roundRect">
            <a:avLst>
              <a:gd name="adj" fmla="val 50000"/>
            </a:avLst>
          </a:prstGeom>
          <a:solidFill>
            <a:srgbClr val="F6EBCF"/>
          </a:solidFill>
          <a:ln/>
        </p:spPr>
      </p:sp>
      <p:sp>
        <p:nvSpPr>
          <p:cNvPr id="3" name="Text 1"/>
          <p:cNvSpPr/>
          <p:nvPr/>
        </p:nvSpPr>
        <p:spPr>
          <a:xfrm>
            <a:off x="9320479" y="45720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الأولويات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من يعمل حين تضعف البطارية؟</a:t>
            </a:r>
            <a:endParaRPr lang="ar-SA" sz="3800" dirty="0"/>
          </a:p>
        </p:txBody>
      </p:sp>
      <p:sp>
        <p:nvSpPr>
          <p:cNvPr id="5" name="anim-g1-678"/>
          <p:cNvSpPr/>
          <p:nvPr/>
        </p:nvSpPr>
        <p:spPr>
          <a:xfrm>
            <a:off x="8938031"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679"/>
          <p:cNvSpPr/>
          <p:nvPr/>
        </p:nvSpPr>
        <p:spPr>
          <a:xfrm>
            <a:off x="10527487" y="2267712"/>
            <a:ext cx="566928" cy="566928"/>
          </a:xfrm>
          <a:prstGeom prst="roundRect">
            <a:avLst>
              <a:gd name="adj" fmla="val 32258"/>
            </a:avLst>
          </a:prstGeom>
          <a:solidFill>
            <a:srgbClr val="F7E6BC"/>
          </a:solidFill>
          <a:ln/>
        </p:spPr>
      </p:sp>
      <p:sp>
        <p:nvSpPr>
          <p:cNvPr id="7" name="anim-g1-680"/>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681"/>
          <p:cNvSpPr/>
          <p:nvPr/>
        </p:nvSpPr>
        <p:spPr>
          <a:xfrm>
            <a:off x="9212351"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١. الثلاجة</a:t>
            </a:r>
            <a:endParaRPr lang="ar-SA" sz="2200" dirty="0"/>
          </a:p>
        </p:txBody>
      </p:sp>
      <p:sp>
        <p:nvSpPr>
          <p:cNvPr id="9" name="anim-g1-682"/>
          <p:cNvSpPr/>
          <p:nvPr/>
        </p:nvSpPr>
        <p:spPr>
          <a:xfrm>
            <a:off x="9212351"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دائمًا: الطعام والدواء</a:t>
            </a:r>
            <a:endParaRPr lang="ar-SA" sz="1900" dirty="0"/>
          </a:p>
        </p:txBody>
      </p:sp>
      <p:sp>
        <p:nvSpPr>
          <p:cNvPr id="10" name="anim-g2-683"/>
          <p:cNvSpPr/>
          <p:nvPr/>
        </p:nvSpPr>
        <p:spPr>
          <a:xfrm>
            <a:off x="6233008"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684"/>
          <p:cNvSpPr/>
          <p:nvPr/>
        </p:nvSpPr>
        <p:spPr>
          <a:xfrm>
            <a:off x="7822463" y="2267712"/>
            <a:ext cx="566928" cy="566928"/>
          </a:xfrm>
          <a:prstGeom prst="roundRect">
            <a:avLst>
              <a:gd name="adj" fmla="val 32258"/>
            </a:avLst>
          </a:prstGeom>
          <a:solidFill>
            <a:srgbClr val="F7E6BC"/>
          </a:solidFill>
          <a:ln/>
        </p:spPr>
      </p:sp>
      <p:sp>
        <p:nvSpPr>
          <p:cNvPr id="12" name="anim-g2-685"/>
          <p:cNvSpPr/>
          <p:nvPr/>
        </p:nvSpPr>
        <p:spPr>
          <a:xfrm>
            <a:off x="7822463"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686"/>
          <p:cNvSpPr/>
          <p:nvPr/>
        </p:nvSpPr>
        <p:spPr>
          <a:xfrm>
            <a:off x="6507328"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٢. الإضاءة</a:t>
            </a:r>
            <a:endParaRPr lang="ar-SA" sz="2200" dirty="0"/>
          </a:p>
        </p:txBody>
      </p:sp>
      <p:sp>
        <p:nvSpPr>
          <p:cNvPr id="14" name="anim-g2-687"/>
          <p:cNvSpPr/>
          <p:nvPr/>
        </p:nvSpPr>
        <p:spPr>
          <a:xfrm>
            <a:off x="6507328"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فوق ١٥٪</a:t>
            </a:r>
            <a:endParaRPr lang="ar-SA" sz="1900" dirty="0"/>
          </a:p>
        </p:txBody>
      </p:sp>
      <p:sp>
        <p:nvSpPr>
          <p:cNvPr id="15" name="anim-g3-688"/>
          <p:cNvSpPr/>
          <p:nvPr/>
        </p:nvSpPr>
        <p:spPr>
          <a:xfrm>
            <a:off x="3527984"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689"/>
          <p:cNvSpPr/>
          <p:nvPr/>
        </p:nvSpPr>
        <p:spPr>
          <a:xfrm>
            <a:off x="5117440" y="2267712"/>
            <a:ext cx="566928" cy="566928"/>
          </a:xfrm>
          <a:prstGeom prst="roundRect">
            <a:avLst>
              <a:gd name="adj" fmla="val 32258"/>
            </a:avLst>
          </a:prstGeom>
          <a:solidFill>
            <a:srgbClr val="F7E6BC"/>
          </a:solidFill>
          <a:ln/>
        </p:spPr>
      </p:sp>
      <p:sp>
        <p:nvSpPr>
          <p:cNvPr id="17" name="anim-g3-690"/>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691"/>
          <p:cNvSpPr/>
          <p:nvPr/>
        </p:nvSpPr>
        <p:spPr>
          <a:xfrm>
            <a:off x="3802304"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٣. مضخة المزرعة</a:t>
            </a:r>
            <a:endParaRPr lang="ar-SA" sz="2200" dirty="0"/>
          </a:p>
        </p:txBody>
      </p:sp>
      <p:sp>
        <p:nvSpPr>
          <p:cNvPr id="19" name="anim-g3-692"/>
          <p:cNvSpPr/>
          <p:nvPr/>
        </p:nvSpPr>
        <p:spPr>
          <a:xfrm>
            <a:off x="3802304"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فوق ٤٠٪</a:t>
            </a:r>
            <a:endParaRPr lang="ar-SA" sz="1900" dirty="0"/>
          </a:p>
        </p:txBody>
      </p:sp>
      <p:sp>
        <p:nvSpPr>
          <p:cNvPr id="20" name="anim-g4-693"/>
          <p:cNvSpPr/>
          <p:nvPr/>
        </p:nvSpPr>
        <p:spPr>
          <a:xfrm>
            <a:off x="822960"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694"/>
          <p:cNvSpPr/>
          <p:nvPr/>
        </p:nvSpPr>
        <p:spPr>
          <a:xfrm>
            <a:off x="2412416" y="2267712"/>
            <a:ext cx="566928" cy="566928"/>
          </a:xfrm>
          <a:prstGeom prst="roundRect">
            <a:avLst>
              <a:gd name="adj" fmla="val 32258"/>
            </a:avLst>
          </a:prstGeom>
          <a:solidFill>
            <a:srgbClr val="F7E6BC"/>
          </a:solidFill>
          <a:ln/>
        </p:spPr>
      </p:sp>
      <p:sp>
        <p:nvSpPr>
          <p:cNvPr id="22" name="anim-g4-695"/>
          <p:cNvSpPr/>
          <p:nvPr/>
        </p:nvSpPr>
        <p:spPr>
          <a:xfrm>
            <a:off x="2412416"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696"/>
          <p:cNvSpPr/>
          <p:nvPr/>
        </p:nvSpPr>
        <p:spPr>
          <a:xfrm>
            <a:off x="1097280"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٤. المكيف</a:t>
            </a:r>
            <a:endParaRPr lang="ar-SA" sz="2200" dirty="0"/>
          </a:p>
        </p:txBody>
      </p:sp>
      <p:sp>
        <p:nvSpPr>
          <p:cNvPr id="24" name="anim-g4-697"/>
          <p:cNvSpPr/>
          <p:nvPr/>
        </p:nvSpPr>
        <p:spPr>
          <a:xfrm>
            <a:off x="1097280"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فوق ٦٠٪ والشمس قوية</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الطاقة الشمسية  ·  ١١٠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pic>
        <p:nvPicPr>
          <p:cNvPr id="2" name="Image 0" descr="C:\Users\user\projects\younes-training\arduino4\.pptx-cache\s1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pic>
        <p:nvPicPr>
          <p:cNvPr id="2" name="Image 0" descr="C:\Users\user\projects\younes-training\arduino4\.pptx-cache\s112-0.jpg">    </p:cNvPr>
          <p:cNvPicPr>
            <a:picLocks noChangeAspect="1"/>
          </p:cNvPicPr>
          <p:nvPr/>
        </p:nvPicPr>
        <p:blipFill>
          <a:blip r:embed="rId1"/>
          <a:stretch>
            <a:fillRect/>
          </a:stretch>
        </p:blipFill>
        <p:spPr>
          <a:xfrm>
            <a:off x="0" y="0"/>
            <a:ext cx="12191695" cy="6858000"/>
          </a:xfrm>
          <a:prstGeom prst="rect">
            <a:avLst/>
          </a:prstGeom>
        </p:spPr>
      </p:pic>
      <p:pic>
        <p:nvPicPr>
          <p:cNvPr id="3" name="anim-g1-698" descr="C:\Users\user\projects\younes-training\arduino4\.pptx-cache\s112-1.jpg">    </p:cNvPr>
          <p:cNvPicPr>
            <a:picLocks noChangeAspect="1"/>
          </p:cNvPicPr>
          <p:nvPr/>
        </p:nvPicPr>
        <p:blipFill>
          <a:blip r:embed="rId2"/>
          <a:stretch>
            <a:fillRect/>
          </a:stretch>
        </p:blipFill>
        <p:spPr>
          <a:xfrm>
            <a:off x="0" y="0"/>
            <a:ext cx="12191695" cy="6858000"/>
          </a:xfrm>
          <a:prstGeom prst="rect">
            <a:avLst/>
          </a:prstGeom>
        </p:spPr>
      </p:pic>
      <p:pic>
        <p:nvPicPr>
          <p:cNvPr id="4" name="anim-g2-699" descr="C:\Users\user\projects\younes-training\arduino4\.pptx-cache\s112-2.jpg">    </p:cNvPr>
          <p:cNvPicPr>
            <a:picLocks noChangeAspect="1"/>
          </p:cNvPicPr>
          <p:nvPr/>
        </p:nvPicPr>
        <p:blipFill>
          <a:blip r:embed="rId3"/>
          <a:stretch>
            <a:fillRect/>
          </a:stretch>
        </p:blipFill>
        <p:spPr>
          <a:xfrm>
            <a:off x="0" y="0"/>
            <a:ext cx="12191695" cy="6858000"/>
          </a:xfrm>
          <a:prstGeom prst="rect">
            <a:avLst/>
          </a:prstGeom>
        </p:spPr>
      </p:pic>
      <p:pic>
        <p:nvPicPr>
          <p:cNvPr id="5" name="anim-g3-700" descr="C:\Users\user\projects\younes-training\arduino4\.pptx-cache\s112-3.jpg">    </p:cNvPr>
          <p:cNvPicPr>
            <a:picLocks noChangeAspect="1"/>
          </p:cNvPicPr>
          <p:nvPr/>
        </p:nvPicPr>
        <p:blipFill>
          <a:blip r:embed="rId4"/>
          <a:stretch>
            <a:fillRect/>
          </a:stretch>
        </p:blipFill>
        <p:spPr>
          <a:xfrm>
            <a:off x="0" y="0"/>
            <a:ext cx="12191695" cy="6858000"/>
          </a:xfrm>
          <a:prstGeom prst="rect">
            <a:avLst/>
          </a:prstGeom>
        </p:spPr>
      </p:pic>
      <p:pic>
        <p:nvPicPr>
          <p:cNvPr id="6" name="anim-g4-701" descr="C:\Users\user\projects\younes-training\arduino4\.pptx-cache\s112-4.jpg">    </p:cNvPr>
          <p:cNvPicPr>
            <a:picLocks noChangeAspect="1"/>
          </p:cNvPicPr>
          <p:nvPr/>
        </p:nvPicPr>
        <p:blipFill>
          <a:blip r:embed="rId5"/>
          <a:stretch>
            <a:fillRect/>
          </a:stretch>
        </p:blipFill>
        <p:spPr>
          <a:xfrm>
            <a:off x="0" y="0"/>
            <a:ext cx="12191695" cy="6858000"/>
          </a:xfrm>
          <a:prstGeom prst="rect">
            <a:avLst/>
          </a:prstGeom>
        </p:spPr>
      </p:pic>
      <p:pic>
        <p:nvPicPr>
          <p:cNvPr id="7" name="anim-g5-702" descr="C:\Users\user\projects\younes-training\arduino4\.pptx-cache\s112-5.jpg">    </p:cNvPr>
          <p:cNvPicPr>
            <a:picLocks noChangeAspect="1"/>
          </p:cNvPicPr>
          <p:nvPr/>
        </p:nvPicPr>
        <p:blipFill>
          <a:blip r:embed="rId6"/>
          <a:stretch>
            <a:fillRect/>
          </a:stretch>
        </p:blipFill>
        <p:spPr>
          <a:xfrm>
            <a:off x="0" y="0"/>
            <a:ext cx="12191695" cy="6858000"/>
          </a:xfrm>
          <a:prstGeom prst="rect">
            <a:avLst/>
          </a:prstGeom>
        </p:spPr>
      </p:pic>
      <p:pic>
        <p:nvPicPr>
          <p:cNvPr id="8" name="anim-g6-703" descr="C:\Users\user\projects\younes-training\arduino4\.pptx-cache\s112-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pic>
        <p:nvPicPr>
          <p:cNvPr id="2" name="Image 0" descr="C:\Users\user\projects\younes-training\arduino4\.pptx-cache\s113-0.jpg">    </p:cNvPr>
          <p:cNvPicPr>
            <a:picLocks noChangeAspect="1"/>
          </p:cNvPicPr>
          <p:nvPr/>
        </p:nvPicPr>
        <p:blipFill>
          <a:blip r:embed="rId1"/>
          <a:stretch>
            <a:fillRect/>
          </a:stretch>
        </p:blipFill>
        <p:spPr>
          <a:xfrm>
            <a:off x="0" y="0"/>
            <a:ext cx="12191695" cy="6858000"/>
          </a:xfrm>
          <a:prstGeom prst="rect">
            <a:avLst/>
          </a:prstGeom>
        </p:spPr>
      </p:pic>
      <p:pic>
        <p:nvPicPr>
          <p:cNvPr id="3" name="anim-g1-704" descr="C:\Users\user\projects\younes-training\arduino4\.pptx-cache\s113-1.jpg">    </p:cNvPr>
          <p:cNvPicPr>
            <a:picLocks noChangeAspect="1"/>
          </p:cNvPicPr>
          <p:nvPr/>
        </p:nvPicPr>
        <p:blipFill>
          <a:blip r:embed="rId2"/>
          <a:stretch>
            <a:fillRect/>
          </a:stretch>
        </p:blipFill>
        <p:spPr>
          <a:xfrm>
            <a:off x="0" y="0"/>
            <a:ext cx="12191695" cy="6858000"/>
          </a:xfrm>
          <a:prstGeom prst="rect">
            <a:avLst/>
          </a:prstGeom>
        </p:spPr>
      </p:pic>
      <p:pic>
        <p:nvPicPr>
          <p:cNvPr id="4" name="anim-g2-705" descr="C:\Users\user\projects\younes-training\arduino4\.pptx-cache\s113-2.jpg">    </p:cNvPr>
          <p:cNvPicPr>
            <a:picLocks noChangeAspect="1"/>
          </p:cNvPicPr>
          <p:nvPr/>
        </p:nvPicPr>
        <p:blipFill>
          <a:blip r:embed="rId3"/>
          <a:stretch>
            <a:fillRect/>
          </a:stretch>
        </p:blipFill>
        <p:spPr>
          <a:xfrm>
            <a:off x="0" y="0"/>
            <a:ext cx="12191695" cy="6858000"/>
          </a:xfrm>
          <a:prstGeom prst="rect">
            <a:avLst/>
          </a:prstGeom>
        </p:spPr>
      </p:pic>
      <p:pic>
        <p:nvPicPr>
          <p:cNvPr id="5" name="anim-g3-706" descr="C:\Users\user\projects\younes-training\arduino4\.pptx-cache\s113-3.jpg">    </p:cNvPr>
          <p:cNvPicPr>
            <a:picLocks noChangeAspect="1"/>
          </p:cNvPicPr>
          <p:nvPr/>
        </p:nvPicPr>
        <p:blipFill>
          <a:blip r:embed="rId4"/>
          <a:stretch>
            <a:fillRect/>
          </a:stretch>
        </p:blipFill>
        <p:spPr>
          <a:xfrm>
            <a:off x="0" y="0"/>
            <a:ext cx="12191695" cy="6858000"/>
          </a:xfrm>
          <a:prstGeom prst="rect">
            <a:avLst/>
          </a:prstGeom>
        </p:spPr>
      </p:pic>
      <p:pic>
        <p:nvPicPr>
          <p:cNvPr id="6" name="anim-g4-707" descr="C:\Users\user\projects\younes-training\arduino4\.pptx-cache\s113-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name="Slide 1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البطارية ٥٠٪ والشمس قوية… أي الأجهزة تعمل؟</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كلها</a:t>
            </a:r>
            <a:endParaRPr lang="ar-SA" sz="2500" dirty="0"/>
          </a:p>
        </p:txBody>
      </p:sp>
      <p:sp>
        <p:nvSpPr>
          <p:cNvPr id="9" name="anim-g1-708"/>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709"/>
          <p:cNvSpPr/>
          <p:nvPr/>
        </p:nvSpPr>
        <p:spPr>
          <a:xfrm>
            <a:off x="10231831" y="2194560"/>
            <a:ext cx="954024" cy="954024"/>
          </a:xfrm>
          <a:prstGeom prst="roundRect">
            <a:avLst>
              <a:gd name="adj" fmla="val 11502"/>
            </a:avLst>
          </a:prstGeom>
          <a:solidFill>
            <a:srgbClr val="A3A9BA"/>
          </a:solidFill>
          <a:ln/>
        </p:spPr>
      </p:sp>
      <p:sp>
        <p:nvSpPr>
          <p:cNvPr id="11" name="anim-g1-710"/>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711"/>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كلها</a:t>
            </a:r>
            <a:endParaRPr lang="ar-SA" sz="2400" dirty="0"/>
          </a:p>
        </p:txBody>
      </p:sp>
      <p:sp>
        <p:nvSpPr>
          <p:cNvPr id="13" name="anim-g1-712"/>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المكيف يحتاج فوق ٦٠٪</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الثلاجة والإضاءة والمضخة، لا المكيف</a:t>
            </a:r>
            <a:endParaRPr lang="ar-SA" sz="2500" dirty="0"/>
          </a:p>
        </p:txBody>
      </p:sp>
      <p:sp>
        <p:nvSpPr>
          <p:cNvPr id="18" name="anim-g1-713"/>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714"/>
          <p:cNvSpPr/>
          <p:nvPr/>
        </p:nvSpPr>
        <p:spPr>
          <a:xfrm>
            <a:off x="10231831" y="3569208"/>
            <a:ext cx="954024" cy="954024"/>
          </a:xfrm>
          <a:prstGeom prst="roundRect">
            <a:avLst>
              <a:gd name="adj" fmla="val 11502"/>
            </a:avLst>
          </a:prstGeom>
          <a:solidFill>
            <a:srgbClr val="2E9E6B"/>
          </a:solidFill>
          <a:ln/>
        </p:spPr>
      </p:sp>
      <p:sp>
        <p:nvSpPr>
          <p:cNvPr id="20" name="anim-g1-715"/>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716"/>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الثلاجة والإضاءة والمضخة، لا المكيف</a:t>
            </a:r>
            <a:endParaRPr lang="ar-SA" sz="2400" dirty="0"/>
          </a:p>
        </p:txBody>
      </p:sp>
      <p:sp>
        <p:nvSpPr>
          <p:cNvPr id="22" name="anim-g1-717"/>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٥٠ فوق ١٥ وفوق ٤٠، لكنها تحت ٦٠</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الثلاجة فقط</a:t>
            </a:r>
            <a:endParaRPr lang="ar-SA" sz="2500" dirty="0"/>
          </a:p>
        </p:txBody>
      </p:sp>
      <p:sp>
        <p:nvSpPr>
          <p:cNvPr id="27" name="anim-g1-718"/>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719"/>
          <p:cNvSpPr/>
          <p:nvPr/>
        </p:nvSpPr>
        <p:spPr>
          <a:xfrm>
            <a:off x="10231831" y="4943856"/>
            <a:ext cx="954024" cy="954024"/>
          </a:xfrm>
          <a:prstGeom prst="roundRect">
            <a:avLst>
              <a:gd name="adj" fmla="val 11502"/>
            </a:avLst>
          </a:prstGeom>
          <a:solidFill>
            <a:srgbClr val="A3A9BA"/>
          </a:solidFill>
          <a:ln/>
        </p:spPr>
      </p:sp>
      <p:sp>
        <p:nvSpPr>
          <p:cNvPr id="29" name="anim-g1-720"/>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721"/>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الثلاجة فقط</a:t>
            </a:r>
            <a:endParaRPr lang="ar-SA" sz="2400" dirty="0"/>
          </a:p>
        </p:txBody>
      </p:sp>
      <p:sp>
        <p:nvSpPr>
          <p:cNvPr id="31" name="anim-g1-722"/>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البطارية ليست ضعيفة لهذا الحد</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الطاقة الشمسية  ·  ١١٤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pic>
        <p:nvPicPr>
          <p:cNvPr id="2" name="Image 0" descr="C:\Users\user\projects\younes-training\arduino4\.pptx-cache\s1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pic>
        <p:nvPicPr>
          <p:cNvPr id="2" name="Image 0" descr="C:\Users\user\projects\younes-training\arduino4\.pptx-cache\s1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الشمس تعطي، والبطارية تخزّن، والأولويات تحمي ما يهم: طاقة لا تنفد حين نحتاجها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الطاقة الشمسية  ·  ١١٧</a:t>
            </a:r>
            <a:endParaRPr lang="ar-SA" sz="12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١١</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١١</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المنزل الكامل</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زر واحد يغيّر البيت كله: في البيت… خارج البيت… النوم… الضيوف</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المنزل الكامل  ·  ١١٨</a:t>
            </a:r>
            <a:endParaRPr lang="ar-SA" sz="12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723"/>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724"/>
          <p:cNvSpPr/>
          <p:nvPr/>
        </p:nvSpPr>
        <p:spPr>
          <a:xfrm>
            <a:off x="10573207" y="2109978"/>
            <a:ext cx="566928" cy="566928"/>
          </a:xfrm>
          <a:prstGeom prst="ellipse">
            <a:avLst/>
          </a:prstGeom>
          <a:solidFill>
            <a:srgbClr val="D9AE4B"/>
          </a:solidFill>
          <a:ln/>
        </p:spPr>
      </p:sp>
      <p:sp>
        <p:nvSpPr>
          <p:cNvPr id="7" name="anim-g1-725"/>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726"/>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تصمم أوضاع البيت وما يحدث في كل وضع</a:t>
            </a:r>
            <a:endParaRPr lang="ar-SA" sz="2400" dirty="0"/>
          </a:p>
        </p:txBody>
      </p:sp>
      <p:sp>
        <p:nvSpPr>
          <p:cNvPr id="9" name="anim-g2-727"/>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728"/>
          <p:cNvSpPr/>
          <p:nvPr/>
        </p:nvSpPr>
        <p:spPr>
          <a:xfrm>
            <a:off x="10573207" y="3166110"/>
            <a:ext cx="566928" cy="566928"/>
          </a:xfrm>
          <a:prstGeom prst="ellipse">
            <a:avLst/>
          </a:prstGeom>
          <a:solidFill>
            <a:srgbClr val="D9AE4B"/>
          </a:solidFill>
          <a:ln/>
        </p:spPr>
      </p:sp>
      <p:sp>
        <p:nvSpPr>
          <p:cNvPr id="11" name="anim-g2-729"/>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730"/>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تبرمج آلة حالات بـ enum وswitch</a:t>
            </a:r>
            <a:endParaRPr lang="ar-SA" sz="2400" dirty="0"/>
          </a:p>
        </p:txBody>
      </p:sp>
      <p:sp>
        <p:nvSpPr>
          <p:cNvPr id="13" name="anim-g3-731"/>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732"/>
          <p:cNvSpPr/>
          <p:nvPr/>
        </p:nvSpPr>
        <p:spPr>
          <a:xfrm>
            <a:off x="10573207" y="4222242"/>
            <a:ext cx="566928" cy="566928"/>
          </a:xfrm>
          <a:prstGeom prst="ellipse">
            <a:avLst/>
          </a:prstGeom>
          <a:solidFill>
            <a:srgbClr val="D9AE4B"/>
          </a:solidFill>
          <a:ln/>
        </p:spPr>
      </p:sp>
      <p:sp>
        <p:nvSpPr>
          <p:cNvPr id="15" name="anim-g3-733"/>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734"/>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تجعل الحدث نفسه يعني أشياء مختلفة حسب الوضع</a:t>
            </a:r>
            <a:endParaRPr lang="ar-SA" sz="2400" dirty="0"/>
          </a:p>
        </p:txBody>
      </p:sp>
      <p:sp>
        <p:nvSpPr>
          <p:cNvPr id="17" name="anim-g4-735"/>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736"/>
          <p:cNvSpPr/>
          <p:nvPr/>
        </p:nvSpPr>
        <p:spPr>
          <a:xfrm>
            <a:off x="10573207" y="5278374"/>
            <a:ext cx="566928" cy="566928"/>
          </a:xfrm>
          <a:prstGeom prst="ellipse">
            <a:avLst/>
          </a:prstGeom>
          <a:solidFill>
            <a:srgbClr val="D9AE4B"/>
          </a:solidFill>
          <a:ln/>
        </p:spPr>
      </p:sp>
      <p:sp>
        <p:nvSpPr>
          <p:cNvPr id="19" name="anim-g4-737"/>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738"/>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ترسل إشعارًا لصاحب البيت عند الخطر</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المنزل الكامل  ·  ١١٩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name="Slide 1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27871" y="457200"/>
            <a:ext cx="2340864" cy="457200"/>
          </a:xfrm>
          <a:prstGeom prst="roundRect">
            <a:avLst>
              <a:gd name="adj" fmla="val 50000"/>
            </a:avLst>
          </a:prstGeom>
          <a:solidFill>
            <a:srgbClr val="F6EBCF"/>
          </a:solidFill>
          <a:ln/>
        </p:spPr>
      </p:sp>
      <p:sp>
        <p:nvSpPr>
          <p:cNvPr id="3" name="Text 1"/>
          <p:cNvSpPr/>
          <p:nvPr/>
        </p:nvSpPr>
        <p:spPr>
          <a:xfrm>
            <a:off x="9027871" y="45720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آلة الحالات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البيت في وضع واحد دائمًا… وينتقل بينها</a:t>
            </a:r>
            <a:endParaRPr lang="ar-SA" sz="3200" dirty="0"/>
          </a:p>
        </p:txBody>
      </p:sp>
      <p:sp>
        <p:nvSpPr>
          <p:cNvPr id="5" name="anim-g1-739"/>
          <p:cNvSpPr/>
          <p:nvPr/>
        </p:nvSpPr>
        <p:spPr>
          <a:xfrm>
            <a:off x="8938031"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40"/>
          <p:cNvSpPr/>
          <p:nvPr/>
        </p:nvSpPr>
        <p:spPr>
          <a:xfrm>
            <a:off x="10527487" y="2267712"/>
            <a:ext cx="566928" cy="566928"/>
          </a:xfrm>
          <a:prstGeom prst="roundRect">
            <a:avLst>
              <a:gd name="adj" fmla="val 32258"/>
            </a:avLst>
          </a:prstGeom>
          <a:solidFill>
            <a:srgbClr val="F7E6BC"/>
          </a:solidFill>
          <a:ln/>
        </p:spPr>
      </p:sp>
      <p:sp>
        <p:nvSpPr>
          <p:cNvPr id="7" name="anim-g1-741"/>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742"/>
          <p:cNvSpPr/>
          <p:nvPr/>
        </p:nvSpPr>
        <p:spPr>
          <a:xfrm>
            <a:off x="9212351"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في البيت</a:t>
            </a:r>
            <a:endParaRPr lang="ar-SA" sz="2200" dirty="0"/>
          </a:p>
        </p:txBody>
      </p:sp>
      <p:sp>
        <p:nvSpPr>
          <p:cNvPr id="9" name="anim-g1-743"/>
          <p:cNvSpPr/>
          <p:nvPr/>
        </p:nvSpPr>
        <p:spPr>
          <a:xfrm>
            <a:off x="9212351"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إضاءة وتكييف آليان، والإنذار مطفأ</a:t>
            </a:r>
            <a:endParaRPr lang="ar-SA" sz="1900" dirty="0"/>
          </a:p>
        </p:txBody>
      </p:sp>
      <p:sp>
        <p:nvSpPr>
          <p:cNvPr id="10" name="anim-g2-744"/>
          <p:cNvSpPr/>
          <p:nvPr/>
        </p:nvSpPr>
        <p:spPr>
          <a:xfrm>
            <a:off x="6233008"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45"/>
          <p:cNvSpPr/>
          <p:nvPr/>
        </p:nvSpPr>
        <p:spPr>
          <a:xfrm>
            <a:off x="7822463" y="2267712"/>
            <a:ext cx="566928" cy="566928"/>
          </a:xfrm>
          <a:prstGeom prst="roundRect">
            <a:avLst>
              <a:gd name="adj" fmla="val 32258"/>
            </a:avLst>
          </a:prstGeom>
          <a:solidFill>
            <a:srgbClr val="F7E6BC"/>
          </a:solidFill>
          <a:ln/>
        </p:spPr>
      </p:sp>
      <p:sp>
        <p:nvSpPr>
          <p:cNvPr id="12" name="anim-g2-746"/>
          <p:cNvSpPr/>
          <p:nvPr/>
        </p:nvSpPr>
        <p:spPr>
          <a:xfrm>
            <a:off x="7822463"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747"/>
          <p:cNvSpPr/>
          <p:nvPr/>
        </p:nvSpPr>
        <p:spPr>
          <a:xfrm>
            <a:off x="6507328"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خارج البيت</a:t>
            </a:r>
            <a:endParaRPr lang="ar-SA" sz="2200" dirty="0"/>
          </a:p>
        </p:txBody>
      </p:sp>
      <p:sp>
        <p:nvSpPr>
          <p:cNvPr id="14" name="anim-g2-748"/>
          <p:cNvSpPr/>
          <p:nvPr/>
        </p:nvSpPr>
        <p:spPr>
          <a:xfrm>
            <a:off x="6507328"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كل شيء مطفأ، والباب مقفل، والإنذار مفعّل</a:t>
            </a:r>
            <a:endParaRPr lang="ar-SA" sz="1900" dirty="0"/>
          </a:p>
        </p:txBody>
      </p:sp>
      <p:sp>
        <p:nvSpPr>
          <p:cNvPr id="15" name="anim-g3-749"/>
          <p:cNvSpPr/>
          <p:nvPr/>
        </p:nvSpPr>
        <p:spPr>
          <a:xfrm>
            <a:off x="3527984"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750"/>
          <p:cNvSpPr/>
          <p:nvPr/>
        </p:nvSpPr>
        <p:spPr>
          <a:xfrm>
            <a:off x="5117440" y="2267712"/>
            <a:ext cx="566928" cy="566928"/>
          </a:xfrm>
          <a:prstGeom prst="roundRect">
            <a:avLst>
              <a:gd name="adj" fmla="val 32258"/>
            </a:avLst>
          </a:prstGeom>
          <a:solidFill>
            <a:srgbClr val="F7E6BC"/>
          </a:solidFill>
          <a:ln/>
        </p:spPr>
      </p:sp>
      <p:sp>
        <p:nvSpPr>
          <p:cNvPr id="17" name="anim-g3-751"/>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752"/>
          <p:cNvSpPr/>
          <p:nvPr/>
        </p:nvSpPr>
        <p:spPr>
          <a:xfrm>
            <a:off x="3802304"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النوم</a:t>
            </a:r>
            <a:endParaRPr lang="ar-SA" sz="2200" dirty="0"/>
          </a:p>
        </p:txBody>
      </p:sp>
      <p:sp>
        <p:nvSpPr>
          <p:cNvPr id="19" name="anim-g3-753"/>
          <p:cNvSpPr/>
          <p:nvPr/>
        </p:nvSpPr>
        <p:spPr>
          <a:xfrm>
            <a:off x="3802304"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ضوء ليلي خافت، وتكييف اقتصادي، وباب مقفل</a:t>
            </a:r>
            <a:endParaRPr lang="ar-SA" sz="1900" dirty="0"/>
          </a:p>
        </p:txBody>
      </p:sp>
      <p:sp>
        <p:nvSpPr>
          <p:cNvPr id="20" name="anim-g4-754"/>
          <p:cNvSpPr/>
          <p:nvPr/>
        </p:nvSpPr>
        <p:spPr>
          <a:xfrm>
            <a:off x="822960" y="2011680"/>
            <a:ext cx="2430704" cy="40233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755"/>
          <p:cNvSpPr/>
          <p:nvPr/>
        </p:nvSpPr>
        <p:spPr>
          <a:xfrm>
            <a:off x="2412416" y="2267712"/>
            <a:ext cx="566928" cy="566928"/>
          </a:xfrm>
          <a:prstGeom prst="roundRect">
            <a:avLst>
              <a:gd name="adj" fmla="val 32258"/>
            </a:avLst>
          </a:prstGeom>
          <a:solidFill>
            <a:srgbClr val="F7E6BC"/>
          </a:solidFill>
          <a:ln/>
        </p:spPr>
      </p:sp>
      <p:sp>
        <p:nvSpPr>
          <p:cNvPr id="22" name="anim-g4-756"/>
          <p:cNvSpPr/>
          <p:nvPr/>
        </p:nvSpPr>
        <p:spPr>
          <a:xfrm>
            <a:off x="2412416"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757"/>
          <p:cNvSpPr/>
          <p:nvPr/>
        </p:nvSpPr>
        <p:spPr>
          <a:xfrm>
            <a:off x="1097280" y="2944368"/>
            <a:ext cx="1882064"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الضيوف</a:t>
            </a:r>
            <a:endParaRPr lang="ar-SA" sz="2200" dirty="0"/>
          </a:p>
        </p:txBody>
      </p:sp>
      <p:sp>
        <p:nvSpPr>
          <p:cNvPr id="24" name="anim-g4-758"/>
          <p:cNvSpPr/>
          <p:nvPr/>
        </p:nvSpPr>
        <p:spPr>
          <a:xfrm>
            <a:off x="1097280" y="3493008"/>
            <a:ext cx="1882064"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كل الأضواء، والتكييف، والباب مفتوح</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المنزل الكامل  ·  ١٢٠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pic>
        <p:nvPicPr>
          <p:cNvPr id="2" name="Image 0" descr="C:\Users\user\projects\younes-training\arduino4\.pptx-cache\s1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pic>
        <p:nvPicPr>
          <p:cNvPr id="2" name="Image 0" descr="C:\Users\user\projects\younes-training\arduino4\.pptx-cache\s122-0.jpg">    </p:cNvPr>
          <p:cNvPicPr>
            <a:picLocks noChangeAspect="1"/>
          </p:cNvPicPr>
          <p:nvPr/>
        </p:nvPicPr>
        <p:blipFill>
          <a:blip r:embed="rId1"/>
          <a:stretch>
            <a:fillRect/>
          </a:stretch>
        </p:blipFill>
        <p:spPr>
          <a:xfrm>
            <a:off x="0" y="0"/>
            <a:ext cx="12191695" cy="6858000"/>
          </a:xfrm>
          <a:prstGeom prst="rect">
            <a:avLst/>
          </a:prstGeom>
        </p:spPr>
      </p:pic>
      <p:pic>
        <p:nvPicPr>
          <p:cNvPr id="3" name="anim-g1-759" descr="C:\Users\user\projects\younes-training\arduino4\.pptx-cache\s122-1.jpg">    </p:cNvPr>
          <p:cNvPicPr>
            <a:picLocks noChangeAspect="1"/>
          </p:cNvPicPr>
          <p:nvPr/>
        </p:nvPicPr>
        <p:blipFill>
          <a:blip r:embed="rId2"/>
          <a:stretch>
            <a:fillRect/>
          </a:stretch>
        </p:blipFill>
        <p:spPr>
          <a:xfrm>
            <a:off x="0" y="0"/>
            <a:ext cx="12191695" cy="6858000"/>
          </a:xfrm>
          <a:prstGeom prst="rect">
            <a:avLst/>
          </a:prstGeom>
        </p:spPr>
      </p:pic>
      <p:pic>
        <p:nvPicPr>
          <p:cNvPr id="4" name="anim-g2-760" descr="C:\Users\user\projects\younes-training\arduino4\.pptx-cache\s122-2.jpg">    </p:cNvPr>
          <p:cNvPicPr>
            <a:picLocks noChangeAspect="1"/>
          </p:cNvPicPr>
          <p:nvPr/>
        </p:nvPicPr>
        <p:blipFill>
          <a:blip r:embed="rId3"/>
          <a:stretch>
            <a:fillRect/>
          </a:stretch>
        </p:blipFill>
        <p:spPr>
          <a:xfrm>
            <a:off x="0" y="0"/>
            <a:ext cx="12191695" cy="6858000"/>
          </a:xfrm>
          <a:prstGeom prst="rect">
            <a:avLst/>
          </a:prstGeom>
        </p:spPr>
      </p:pic>
      <p:pic>
        <p:nvPicPr>
          <p:cNvPr id="5" name="anim-g3-761" descr="C:\Users\user\projects\younes-training\arduino4\.pptx-cache\s122-3.jpg">    </p:cNvPr>
          <p:cNvPicPr>
            <a:picLocks noChangeAspect="1"/>
          </p:cNvPicPr>
          <p:nvPr/>
        </p:nvPicPr>
        <p:blipFill>
          <a:blip r:embed="rId4"/>
          <a:stretch>
            <a:fillRect/>
          </a:stretch>
        </p:blipFill>
        <p:spPr>
          <a:xfrm>
            <a:off x="0" y="0"/>
            <a:ext cx="12191695" cy="6858000"/>
          </a:xfrm>
          <a:prstGeom prst="rect">
            <a:avLst/>
          </a:prstGeom>
        </p:spPr>
      </p:pic>
      <p:pic>
        <p:nvPicPr>
          <p:cNvPr id="6" name="anim-g4-762" descr="C:\Users\user\projects\younes-training\arduino4\.pptx-cache\s122-4.jpg">    </p:cNvPr>
          <p:cNvPicPr>
            <a:picLocks noChangeAspect="1"/>
          </p:cNvPicPr>
          <p:nvPr/>
        </p:nvPicPr>
        <p:blipFill>
          <a:blip r:embed="rId5"/>
          <a:stretch>
            <a:fillRect/>
          </a:stretch>
        </p:blipFill>
        <p:spPr>
          <a:xfrm>
            <a:off x="0" y="0"/>
            <a:ext cx="12191695" cy="6858000"/>
          </a:xfrm>
          <a:prstGeom prst="rect">
            <a:avLst/>
          </a:prstGeom>
        </p:spPr>
      </p:pic>
      <p:pic>
        <p:nvPicPr>
          <p:cNvPr id="7" name="anim-g5-763" descr="C:\Users\user\projects\younes-training\arduino4\.pptx-cache\s122-5.jpg">    </p:cNvPr>
          <p:cNvPicPr>
            <a:picLocks noChangeAspect="1"/>
          </p:cNvPicPr>
          <p:nvPr/>
        </p:nvPicPr>
        <p:blipFill>
          <a:blip r:embed="rId6"/>
          <a:stretch>
            <a:fillRect/>
          </a:stretch>
        </p:blipFill>
        <p:spPr>
          <a:xfrm>
            <a:off x="0" y="0"/>
            <a:ext cx="12191695" cy="6858000"/>
          </a:xfrm>
          <a:prstGeom prst="rect">
            <a:avLst/>
          </a:prstGeom>
        </p:spPr>
      </p:pic>
      <p:pic>
        <p:nvPicPr>
          <p:cNvPr id="8" name="anim-g6-764" descr="C:\Users\user\projects\younes-training\arduino4\.pptx-cache\s122-6.jpg">    </p:cNvPr>
          <p:cNvPicPr>
            <a:picLocks noChangeAspect="1"/>
          </p:cNvPicPr>
          <p:nvPr/>
        </p:nvPicPr>
        <p:blipFill>
          <a:blip r:embed="rId7"/>
          <a:stretch>
            <a:fillRect/>
          </a:stretch>
        </p:blipFill>
        <p:spPr>
          <a:xfrm>
            <a:off x="0" y="0"/>
            <a:ext cx="12191695" cy="6858000"/>
          </a:xfrm>
          <a:prstGeom prst="rect">
            <a:avLst/>
          </a:prstGeom>
        </p:spPr>
      </p:pic>
      <p:pic>
        <p:nvPicPr>
          <p:cNvPr id="9" name="anim-g7-765" descr="C:\Users\user\projects\younes-training\arduino4\.pptx-cache\s122-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pic>
        <p:nvPicPr>
          <p:cNvPr id="2" name="Image 0" descr="C:\Users\user\projects\younes-training\arduino4\.pptx-cache\s123-0.jpg">    </p:cNvPr>
          <p:cNvPicPr>
            <a:picLocks noChangeAspect="1"/>
          </p:cNvPicPr>
          <p:nvPr/>
        </p:nvPicPr>
        <p:blipFill>
          <a:blip r:embed="rId1"/>
          <a:stretch>
            <a:fillRect/>
          </a:stretch>
        </p:blipFill>
        <p:spPr>
          <a:xfrm>
            <a:off x="0" y="0"/>
            <a:ext cx="12191695" cy="6858000"/>
          </a:xfrm>
          <a:prstGeom prst="rect">
            <a:avLst/>
          </a:prstGeom>
        </p:spPr>
      </p:pic>
      <p:pic>
        <p:nvPicPr>
          <p:cNvPr id="3" name="anim-g1-766" descr="C:\Users\user\projects\younes-training\arduino4\.pptx-cache\s123-1.jpg">    </p:cNvPr>
          <p:cNvPicPr>
            <a:picLocks noChangeAspect="1"/>
          </p:cNvPicPr>
          <p:nvPr/>
        </p:nvPicPr>
        <p:blipFill>
          <a:blip r:embed="rId2"/>
          <a:stretch>
            <a:fillRect/>
          </a:stretch>
        </p:blipFill>
        <p:spPr>
          <a:xfrm>
            <a:off x="0" y="0"/>
            <a:ext cx="12191695" cy="6858000"/>
          </a:xfrm>
          <a:prstGeom prst="rect">
            <a:avLst/>
          </a:prstGeom>
        </p:spPr>
      </p:pic>
      <p:pic>
        <p:nvPicPr>
          <p:cNvPr id="4" name="anim-g2-767" descr="C:\Users\user\projects\younes-training\arduino4\.pptx-cache\s123-2.jpg">    </p:cNvPr>
          <p:cNvPicPr>
            <a:picLocks noChangeAspect="1"/>
          </p:cNvPicPr>
          <p:nvPr/>
        </p:nvPicPr>
        <p:blipFill>
          <a:blip r:embed="rId3"/>
          <a:stretch>
            <a:fillRect/>
          </a:stretch>
        </p:blipFill>
        <p:spPr>
          <a:xfrm>
            <a:off x="0" y="0"/>
            <a:ext cx="12191695" cy="6858000"/>
          </a:xfrm>
          <a:prstGeom prst="rect">
            <a:avLst/>
          </a:prstGeom>
        </p:spPr>
      </p:pic>
      <p:pic>
        <p:nvPicPr>
          <p:cNvPr id="5" name="anim-g3-768" descr="C:\Users\user\projects\younes-training\arduino4\.pptx-cache\s123-3.jpg">    </p:cNvPr>
          <p:cNvPicPr>
            <a:picLocks noChangeAspect="1"/>
          </p:cNvPicPr>
          <p:nvPr/>
        </p:nvPicPr>
        <p:blipFill>
          <a:blip r:embed="rId4"/>
          <a:stretch>
            <a:fillRect/>
          </a:stretch>
        </p:blipFill>
        <p:spPr>
          <a:xfrm>
            <a:off x="0" y="0"/>
            <a:ext cx="12191695" cy="6858000"/>
          </a:xfrm>
          <a:prstGeom prst="rect">
            <a:avLst/>
          </a:prstGeom>
        </p:spPr>
      </p:pic>
      <p:pic>
        <p:nvPicPr>
          <p:cNvPr id="6" name="anim-g4-769" descr="C:\Users\user\projects\younes-training\arduino4\.pptx-cache\s123-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name="Slide 1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البيت في وضع «النوم» وقام أحد الأبناء ليشرب ماء… ماذا يحدث؟</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يُضاء البيت كله</a:t>
            </a:r>
            <a:endParaRPr lang="ar-SA" sz="2500" dirty="0"/>
          </a:p>
        </p:txBody>
      </p:sp>
      <p:sp>
        <p:nvSpPr>
          <p:cNvPr id="9" name="anim-g1-770"/>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771"/>
          <p:cNvSpPr/>
          <p:nvPr/>
        </p:nvSpPr>
        <p:spPr>
          <a:xfrm>
            <a:off x="10231831" y="2194560"/>
            <a:ext cx="954024" cy="954024"/>
          </a:xfrm>
          <a:prstGeom prst="roundRect">
            <a:avLst>
              <a:gd name="adj" fmla="val 11502"/>
            </a:avLst>
          </a:prstGeom>
          <a:solidFill>
            <a:srgbClr val="A3A9BA"/>
          </a:solidFill>
          <a:ln/>
        </p:spPr>
      </p:sp>
      <p:sp>
        <p:nvSpPr>
          <p:cNvPr id="11" name="anim-g1-772"/>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773"/>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يُضاء البيت كله</a:t>
            </a:r>
            <a:endParaRPr lang="ar-SA" sz="2400" dirty="0"/>
          </a:p>
        </p:txBody>
      </p:sp>
      <p:sp>
        <p:nvSpPr>
          <p:cNvPr id="13" name="anim-g1-774"/>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الضوء الكامل يوقظ الجميع</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لا شيء</a:t>
            </a:r>
            <a:endParaRPr lang="ar-SA" sz="2500" dirty="0"/>
          </a:p>
        </p:txBody>
      </p:sp>
      <p:sp>
        <p:nvSpPr>
          <p:cNvPr id="18" name="anim-g1-775"/>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776"/>
          <p:cNvSpPr/>
          <p:nvPr/>
        </p:nvSpPr>
        <p:spPr>
          <a:xfrm>
            <a:off x="10231831" y="3569208"/>
            <a:ext cx="954024" cy="954024"/>
          </a:xfrm>
          <a:prstGeom prst="roundRect">
            <a:avLst>
              <a:gd name="adj" fmla="val 11502"/>
            </a:avLst>
          </a:prstGeom>
          <a:solidFill>
            <a:srgbClr val="A3A9BA"/>
          </a:solidFill>
          <a:ln/>
        </p:spPr>
      </p:sp>
      <p:sp>
        <p:nvSpPr>
          <p:cNvPr id="20" name="anim-g1-777"/>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778"/>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لا شيء</a:t>
            </a:r>
            <a:endParaRPr lang="ar-SA" sz="2400" dirty="0"/>
          </a:p>
        </p:txBody>
      </p:sp>
      <p:sp>
        <p:nvSpPr>
          <p:cNvPr id="22" name="anim-g1-779"/>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حساس الحركة سيرى شيئًا بالتأكيد</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حسب تصميمك: إنذار مزعج… أو ضوء ليلي خافت في الممر</a:t>
            </a:r>
            <a:endParaRPr lang="ar-SA" sz="2500" dirty="0"/>
          </a:p>
        </p:txBody>
      </p:sp>
      <p:sp>
        <p:nvSpPr>
          <p:cNvPr id="27" name="anim-g1-780"/>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781"/>
          <p:cNvSpPr/>
          <p:nvPr/>
        </p:nvSpPr>
        <p:spPr>
          <a:xfrm>
            <a:off x="10231831" y="4943856"/>
            <a:ext cx="954024" cy="954024"/>
          </a:xfrm>
          <a:prstGeom prst="roundRect">
            <a:avLst>
              <a:gd name="adj" fmla="val 11502"/>
            </a:avLst>
          </a:prstGeom>
          <a:solidFill>
            <a:srgbClr val="2E9E6B"/>
          </a:solidFill>
          <a:ln/>
        </p:spPr>
      </p:sp>
      <p:sp>
        <p:nvSpPr>
          <p:cNvPr id="29" name="anim-g1-782"/>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783"/>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حسب تصميمك: إنذار مزعج… أو ضوء ليلي خافت في الممر</a:t>
            </a:r>
            <a:endParaRPr lang="ar-SA" sz="2400" dirty="0"/>
          </a:p>
        </p:txBody>
      </p:sp>
      <p:sp>
        <p:nvSpPr>
          <p:cNvPr id="31" name="anim-g1-784"/>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هنا قرار تصميم مهم: داخل البيت في النوم نضيء ممرًا خافتًا، ونترك الإنذار للأبواب والنوافذ فقط</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المنزل الكامل  ·  ١٢٤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pic>
        <p:nvPicPr>
          <p:cNvPr id="2" name="Image 0" descr="C:\Users\user\projects\younes-training\arduino4\.pptx-cache\s1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pic>
        <p:nvPicPr>
          <p:cNvPr id="2" name="Image 0" descr="C:\Users\user\projects\younes-training\arduino4\.pptx-cache\s1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754984" y="1188720"/>
            <a:ext cx="468172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3754984" y="1188720"/>
            <a:ext cx="468172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 — اكتمل المنزل</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أوضاع واضحة، وحدث يُفهم حسب السياق، وأمان فوق كل شيء: بيت يفهم أهله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المنزل الكامل  ·  ١٢٧</a:t>
            </a:r>
            <a:endParaRPr lang="ar-SA" sz="12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١٢</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١٢</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الجراج الذكي</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بوابتان، ومواقف تضيء أحمر وأخضر، وشاشة ترحّب… ولا دخول حين يمتلئ</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الجراج الذكي  ·  ١٢٨</a:t>
            </a:r>
            <a:endParaRPr lang="ar-SA" sz="12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785"/>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786"/>
          <p:cNvSpPr/>
          <p:nvPr/>
        </p:nvSpPr>
        <p:spPr>
          <a:xfrm>
            <a:off x="10573207" y="2109978"/>
            <a:ext cx="566928" cy="566928"/>
          </a:xfrm>
          <a:prstGeom prst="ellipse">
            <a:avLst/>
          </a:prstGeom>
          <a:solidFill>
            <a:srgbClr val="D9AE4B"/>
          </a:solidFill>
          <a:ln/>
        </p:spPr>
      </p:sp>
      <p:sp>
        <p:nvSpPr>
          <p:cNvPr id="7" name="anim-g1-787"/>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788"/>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تكشف السيارة عند البوابتين وفي كل موقف</a:t>
            </a:r>
            <a:endParaRPr lang="ar-SA" sz="2400" dirty="0"/>
          </a:p>
        </p:txBody>
      </p:sp>
      <p:sp>
        <p:nvSpPr>
          <p:cNvPr id="9" name="anim-g2-789"/>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790"/>
          <p:cNvSpPr/>
          <p:nvPr/>
        </p:nvSpPr>
        <p:spPr>
          <a:xfrm>
            <a:off x="10573207" y="3166110"/>
            <a:ext cx="566928" cy="566928"/>
          </a:xfrm>
          <a:prstGeom prst="ellipse">
            <a:avLst/>
          </a:prstGeom>
          <a:solidFill>
            <a:srgbClr val="D9AE4B"/>
          </a:solidFill>
          <a:ln/>
        </p:spPr>
      </p:sp>
      <p:sp>
        <p:nvSpPr>
          <p:cNvPr id="11" name="anim-g2-791"/>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792"/>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تضيء كل موقف: أحمر للمشغول وأخضر للخالي</a:t>
            </a:r>
            <a:endParaRPr lang="ar-SA" sz="2400" dirty="0"/>
          </a:p>
        </p:txBody>
      </p:sp>
      <p:sp>
        <p:nvSpPr>
          <p:cNvPr id="13" name="anim-g3-793"/>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794"/>
          <p:cNvSpPr/>
          <p:nvPr/>
        </p:nvSpPr>
        <p:spPr>
          <a:xfrm>
            <a:off x="10573207" y="4222242"/>
            <a:ext cx="566928" cy="566928"/>
          </a:xfrm>
          <a:prstGeom prst="ellipse">
            <a:avLst/>
          </a:prstGeom>
          <a:solidFill>
            <a:srgbClr val="D9AE4B"/>
          </a:solidFill>
          <a:ln/>
        </p:spPr>
      </p:sp>
      <p:sp>
        <p:nvSpPr>
          <p:cNvPr id="15" name="anim-g3-795"/>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796"/>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تعدّ الأماكن الخالية وتمنع الدخول عند الامتلاء</a:t>
            </a:r>
            <a:endParaRPr lang="ar-SA" sz="2400" dirty="0"/>
          </a:p>
        </p:txBody>
      </p:sp>
      <p:sp>
        <p:nvSpPr>
          <p:cNvPr id="17" name="anim-g4-797"/>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798"/>
          <p:cNvSpPr/>
          <p:nvPr/>
        </p:nvSpPr>
        <p:spPr>
          <a:xfrm>
            <a:off x="10573207" y="5278374"/>
            <a:ext cx="566928" cy="566928"/>
          </a:xfrm>
          <a:prstGeom prst="ellipse">
            <a:avLst/>
          </a:prstGeom>
          <a:solidFill>
            <a:srgbClr val="D9AE4B"/>
          </a:solidFill>
          <a:ln/>
        </p:spPr>
      </p:sp>
      <p:sp>
        <p:nvSpPr>
          <p:cNvPr id="19" name="anim-g4-799"/>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800"/>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تعرض الترحيب والأماكن المتاحة على الشاشة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الجراج الذكي  ·  ١٢٩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name="Slide 1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مكونات الجراج</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خمسة أنظمة في مشروع واحد</a:t>
            </a:r>
            <a:endParaRPr lang="ar-SA" sz="3800" dirty="0"/>
          </a:p>
        </p:txBody>
      </p:sp>
      <p:sp>
        <p:nvSpPr>
          <p:cNvPr id="5" name="anim-g1-801"/>
          <p:cNvSpPr/>
          <p:nvPr/>
        </p:nvSpPr>
        <p:spPr>
          <a:xfrm>
            <a:off x="8036357"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02"/>
          <p:cNvSpPr/>
          <p:nvPr/>
        </p:nvSpPr>
        <p:spPr>
          <a:xfrm>
            <a:off x="10527487" y="2267712"/>
            <a:ext cx="566928" cy="566928"/>
          </a:xfrm>
          <a:prstGeom prst="roundRect">
            <a:avLst>
              <a:gd name="adj" fmla="val 32258"/>
            </a:avLst>
          </a:prstGeom>
          <a:solidFill>
            <a:srgbClr val="F7E6BC"/>
          </a:solidFill>
          <a:ln/>
        </p:spPr>
      </p:sp>
      <p:sp>
        <p:nvSpPr>
          <p:cNvPr id="7" name="anim-g1-80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04"/>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بوابتان بسيرفو</a:t>
            </a:r>
            <a:endParaRPr lang="ar-SA" sz="2200" dirty="0"/>
          </a:p>
        </p:txBody>
      </p:sp>
      <p:sp>
        <p:nvSpPr>
          <p:cNvPr id="9" name="anim-g1-805"/>
          <p:cNvSpPr/>
          <p:nvPr/>
        </p:nvSpPr>
        <p:spPr>
          <a:xfrm>
            <a:off x="8310677"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دخول وخروج، وأمام كل بوابة حساس IR يرى السيارة</a:t>
            </a:r>
            <a:endParaRPr lang="ar-SA" sz="1900" dirty="0"/>
          </a:p>
        </p:txBody>
      </p:sp>
      <p:sp>
        <p:nvSpPr>
          <p:cNvPr id="10" name="anim-g2-806"/>
          <p:cNvSpPr/>
          <p:nvPr/>
        </p:nvSpPr>
        <p:spPr>
          <a:xfrm>
            <a:off x="4429658"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07"/>
          <p:cNvSpPr/>
          <p:nvPr/>
        </p:nvSpPr>
        <p:spPr>
          <a:xfrm>
            <a:off x="6920789" y="2267712"/>
            <a:ext cx="566928" cy="566928"/>
          </a:xfrm>
          <a:prstGeom prst="roundRect">
            <a:avLst>
              <a:gd name="adj" fmla="val 32258"/>
            </a:avLst>
          </a:prstGeom>
          <a:solidFill>
            <a:srgbClr val="F7E6BC"/>
          </a:solidFill>
          <a:ln/>
        </p:spPr>
      </p:sp>
      <p:sp>
        <p:nvSpPr>
          <p:cNvPr id="12" name="anim-g2-808"/>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809"/>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مواقف بأضواء</a:t>
            </a:r>
            <a:endParaRPr lang="ar-SA" sz="2200" dirty="0"/>
          </a:p>
        </p:txBody>
      </p:sp>
      <p:sp>
        <p:nvSpPr>
          <p:cNvPr id="14" name="anim-g2-810"/>
          <p:cNvSpPr/>
          <p:nvPr/>
        </p:nvSpPr>
        <p:spPr>
          <a:xfrm>
            <a:off x="4703978"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حساس في كل موقف، وليدان: أحمر مشغول وأخضر خالٍ</a:t>
            </a:r>
            <a:endParaRPr lang="ar-SA" sz="1900" dirty="0"/>
          </a:p>
        </p:txBody>
      </p:sp>
      <p:sp>
        <p:nvSpPr>
          <p:cNvPr id="15" name="anim-g3-811"/>
          <p:cNvSpPr/>
          <p:nvPr/>
        </p:nvSpPr>
        <p:spPr>
          <a:xfrm>
            <a:off x="822960"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812"/>
          <p:cNvSpPr/>
          <p:nvPr/>
        </p:nvSpPr>
        <p:spPr>
          <a:xfrm>
            <a:off x="3314090" y="2267712"/>
            <a:ext cx="566928" cy="566928"/>
          </a:xfrm>
          <a:prstGeom prst="roundRect">
            <a:avLst>
              <a:gd name="adj" fmla="val 32258"/>
            </a:avLst>
          </a:prstGeom>
          <a:solidFill>
            <a:srgbClr val="F7E6BC"/>
          </a:solidFill>
          <a:ln/>
        </p:spPr>
      </p:sp>
      <p:sp>
        <p:nvSpPr>
          <p:cNvPr id="17" name="anim-g3-813"/>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814"/>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العدّاد</a:t>
            </a:r>
            <a:endParaRPr lang="ar-SA" sz="2200" dirty="0"/>
          </a:p>
        </p:txBody>
      </p:sp>
      <p:sp>
        <p:nvSpPr>
          <p:cNvPr id="19" name="anim-g3-815"/>
          <p:cNvSpPr/>
          <p:nvPr/>
        </p:nvSpPr>
        <p:spPr>
          <a:xfrm>
            <a:off x="1097280"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ينقص عند الدخول ويزيد عند الخروج</a:t>
            </a:r>
            <a:endParaRPr lang="ar-SA" sz="1900" dirty="0"/>
          </a:p>
        </p:txBody>
      </p:sp>
      <p:sp>
        <p:nvSpPr>
          <p:cNvPr id="20" name="anim-g4-816"/>
          <p:cNvSpPr/>
          <p:nvPr/>
        </p:nvSpPr>
        <p:spPr>
          <a:xfrm>
            <a:off x="8036357"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817"/>
          <p:cNvSpPr/>
          <p:nvPr/>
        </p:nvSpPr>
        <p:spPr>
          <a:xfrm>
            <a:off x="10527487" y="4393692"/>
            <a:ext cx="566928" cy="566928"/>
          </a:xfrm>
          <a:prstGeom prst="roundRect">
            <a:avLst>
              <a:gd name="adj" fmla="val 32258"/>
            </a:avLst>
          </a:prstGeom>
          <a:solidFill>
            <a:srgbClr val="F7E6BC"/>
          </a:solidFill>
          <a:ln/>
        </p:spPr>
      </p:sp>
      <p:sp>
        <p:nvSpPr>
          <p:cNvPr id="22" name="anim-g4-818"/>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819"/>
          <p:cNvSpPr/>
          <p:nvPr/>
        </p:nvSpPr>
        <p:spPr>
          <a:xfrm>
            <a:off x="8310677"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شاشة الترحيب</a:t>
            </a:r>
            <a:endParaRPr lang="ar-SA" sz="2200" dirty="0"/>
          </a:p>
        </p:txBody>
      </p:sp>
      <p:sp>
        <p:nvSpPr>
          <p:cNvPr id="24" name="anim-g4-820"/>
          <p:cNvSpPr/>
          <p:nvPr/>
        </p:nvSpPr>
        <p:spPr>
          <a:xfrm>
            <a:off x="8310677"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Welcome! وعدد الأماكن، أو Sorry FULL</a:t>
            </a:r>
            <a:endParaRPr lang="ar-SA" sz="1900" dirty="0"/>
          </a:p>
        </p:txBody>
      </p:sp>
      <p:sp>
        <p:nvSpPr>
          <p:cNvPr id="25" name="anim-g5-821"/>
          <p:cNvSpPr/>
          <p:nvPr/>
        </p:nvSpPr>
        <p:spPr>
          <a:xfrm>
            <a:off x="4429658"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822"/>
          <p:cNvSpPr/>
          <p:nvPr/>
        </p:nvSpPr>
        <p:spPr>
          <a:xfrm>
            <a:off x="6920789" y="4393692"/>
            <a:ext cx="566928" cy="566928"/>
          </a:xfrm>
          <a:prstGeom prst="roundRect">
            <a:avLst>
              <a:gd name="adj" fmla="val 32258"/>
            </a:avLst>
          </a:prstGeom>
          <a:solidFill>
            <a:srgbClr val="F7E6BC"/>
          </a:solidFill>
          <a:ln/>
        </p:spPr>
      </p:sp>
      <p:sp>
        <p:nvSpPr>
          <p:cNvPr id="27" name="anim-g5-823"/>
          <p:cNvSpPr/>
          <p:nvPr/>
        </p:nvSpPr>
        <p:spPr>
          <a:xfrm>
            <a:off x="6920789"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824"/>
          <p:cNvSpPr/>
          <p:nvPr/>
        </p:nvSpPr>
        <p:spPr>
          <a:xfrm>
            <a:off x="4703978"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المنع عند الامتلاء</a:t>
            </a:r>
            <a:endParaRPr lang="ar-SA" sz="2200" dirty="0"/>
          </a:p>
        </p:txBody>
      </p:sp>
      <p:sp>
        <p:nvSpPr>
          <p:cNvPr id="29" name="anim-g5-825"/>
          <p:cNvSpPr/>
          <p:nvPr/>
        </p:nvSpPr>
        <p:spPr>
          <a:xfrm>
            <a:off x="4703978"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البوابة لا تُفتح والعدّاد صفر</a:t>
            </a:r>
            <a:endParaRPr lang="ar-SA" sz="1900" dirty="0"/>
          </a:p>
        </p:txBody>
      </p:sp>
      <p:sp>
        <p:nvSpPr>
          <p:cNvPr id="30" name="anim-g6-826"/>
          <p:cNvSpPr/>
          <p:nvPr/>
        </p:nvSpPr>
        <p:spPr>
          <a:xfrm>
            <a:off x="822960"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827"/>
          <p:cNvSpPr/>
          <p:nvPr/>
        </p:nvSpPr>
        <p:spPr>
          <a:xfrm>
            <a:off x="3314090" y="4393692"/>
            <a:ext cx="566928" cy="566928"/>
          </a:xfrm>
          <a:prstGeom prst="roundRect">
            <a:avLst>
              <a:gd name="adj" fmla="val 32258"/>
            </a:avLst>
          </a:prstGeom>
          <a:solidFill>
            <a:srgbClr val="F7E6BC"/>
          </a:solidFill>
          <a:ln/>
        </p:spPr>
      </p:sp>
      <p:sp>
        <p:nvSpPr>
          <p:cNvPr id="32" name="anim-g6-828"/>
          <p:cNvSpPr/>
          <p:nvPr/>
        </p:nvSpPr>
        <p:spPr>
          <a:xfrm>
            <a:off x="331409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829"/>
          <p:cNvSpPr/>
          <p:nvPr/>
        </p:nvSpPr>
        <p:spPr>
          <a:xfrm>
            <a:off x="1097280"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تنبيه صوتي</a:t>
            </a:r>
            <a:endParaRPr lang="ar-SA" sz="2200" dirty="0"/>
          </a:p>
        </p:txBody>
      </p:sp>
      <p:sp>
        <p:nvSpPr>
          <p:cNvPr id="34" name="anim-g6-830"/>
          <p:cNvSpPr/>
          <p:nvPr/>
        </p:nvSpPr>
        <p:spPr>
          <a:xfrm>
            <a:off x="1097280"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نغمة ترحيب، ونغمة رفض</a:t>
            </a:r>
            <a:endParaRPr lang="ar-SA" sz="19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الجراج الذكي  ·  ١٣٠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pic>
        <p:nvPicPr>
          <p:cNvPr id="2" name="Image 0" descr="C:\Users\user\projects\younes-training\arduino4\.pptx-cache\s1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pic>
        <p:nvPicPr>
          <p:cNvPr id="2" name="Image 0" descr="C:\Users\user\projects\younes-training\arduino4\.pptx-cache\s132-0.jpg">    </p:cNvPr>
          <p:cNvPicPr>
            <a:picLocks noChangeAspect="1"/>
          </p:cNvPicPr>
          <p:nvPr/>
        </p:nvPicPr>
        <p:blipFill>
          <a:blip r:embed="rId1"/>
          <a:stretch>
            <a:fillRect/>
          </a:stretch>
        </p:blipFill>
        <p:spPr>
          <a:xfrm>
            <a:off x="0" y="0"/>
            <a:ext cx="12191695" cy="6858000"/>
          </a:xfrm>
          <a:prstGeom prst="rect">
            <a:avLst/>
          </a:prstGeom>
        </p:spPr>
      </p:pic>
      <p:pic>
        <p:nvPicPr>
          <p:cNvPr id="3" name="anim-g1-831" descr="C:\Users\user\projects\younes-training\arduino4\.pptx-cache\s132-1.jpg">    </p:cNvPr>
          <p:cNvPicPr>
            <a:picLocks noChangeAspect="1"/>
          </p:cNvPicPr>
          <p:nvPr/>
        </p:nvPicPr>
        <p:blipFill>
          <a:blip r:embed="rId2"/>
          <a:stretch>
            <a:fillRect/>
          </a:stretch>
        </p:blipFill>
        <p:spPr>
          <a:xfrm>
            <a:off x="0" y="0"/>
            <a:ext cx="12191695" cy="6858000"/>
          </a:xfrm>
          <a:prstGeom prst="rect">
            <a:avLst/>
          </a:prstGeom>
        </p:spPr>
      </p:pic>
      <p:pic>
        <p:nvPicPr>
          <p:cNvPr id="4" name="anim-g2-832" descr="C:\Users\user\projects\younes-training\arduino4\.pptx-cache\s132-2.jpg">    </p:cNvPr>
          <p:cNvPicPr>
            <a:picLocks noChangeAspect="1"/>
          </p:cNvPicPr>
          <p:nvPr/>
        </p:nvPicPr>
        <p:blipFill>
          <a:blip r:embed="rId3"/>
          <a:stretch>
            <a:fillRect/>
          </a:stretch>
        </p:blipFill>
        <p:spPr>
          <a:xfrm>
            <a:off x="0" y="0"/>
            <a:ext cx="12191695" cy="6858000"/>
          </a:xfrm>
          <a:prstGeom prst="rect">
            <a:avLst/>
          </a:prstGeom>
        </p:spPr>
      </p:pic>
      <p:pic>
        <p:nvPicPr>
          <p:cNvPr id="5" name="anim-g3-833" descr="C:\Users\user\projects\younes-training\arduino4\.pptx-cache\s132-3.jpg">    </p:cNvPr>
          <p:cNvPicPr>
            <a:picLocks noChangeAspect="1"/>
          </p:cNvPicPr>
          <p:nvPr/>
        </p:nvPicPr>
        <p:blipFill>
          <a:blip r:embed="rId4"/>
          <a:stretch>
            <a:fillRect/>
          </a:stretch>
        </p:blipFill>
        <p:spPr>
          <a:xfrm>
            <a:off x="0" y="0"/>
            <a:ext cx="12191695" cy="6858000"/>
          </a:xfrm>
          <a:prstGeom prst="rect">
            <a:avLst/>
          </a:prstGeom>
        </p:spPr>
      </p:pic>
      <p:pic>
        <p:nvPicPr>
          <p:cNvPr id="6" name="anim-g4-834" descr="C:\Users\user\projects\younes-training\arduino4\.pptx-cache\s132-4.jpg">    </p:cNvPr>
          <p:cNvPicPr>
            <a:picLocks noChangeAspect="1"/>
          </p:cNvPicPr>
          <p:nvPr/>
        </p:nvPicPr>
        <p:blipFill>
          <a:blip r:embed="rId5"/>
          <a:stretch>
            <a:fillRect/>
          </a:stretch>
        </p:blipFill>
        <p:spPr>
          <a:xfrm>
            <a:off x="0" y="0"/>
            <a:ext cx="12191695" cy="6858000"/>
          </a:xfrm>
          <a:prstGeom prst="rect">
            <a:avLst/>
          </a:prstGeom>
        </p:spPr>
      </p:pic>
      <p:pic>
        <p:nvPicPr>
          <p:cNvPr id="7" name="anim-g5-835" descr="C:\Users\user\projects\younes-training\arduino4\.pptx-cache\s132-5.jpg">    </p:cNvPr>
          <p:cNvPicPr>
            <a:picLocks noChangeAspect="1"/>
          </p:cNvPicPr>
          <p:nvPr/>
        </p:nvPicPr>
        <p:blipFill>
          <a:blip r:embed="rId6"/>
          <a:stretch>
            <a:fillRect/>
          </a:stretch>
        </p:blipFill>
        <p:spPr>
          <a:xfrm>
            <a:off x="0" y="0"/>
            <a:ext cx="12191695" cy="6858000"/>
          </a:xfrm>
          <a:prstGeom prst="rect">
            <a:avLst/>
          </a:prstGeom>
        </p:spPr>
      </p:pic>
      <p:pic>
        <p:nvPicPr>
          <p:cNvPr id="8" name="anim-g6-836" descr="C:\Users\user\projects\younes-training\arduino4\.pptx-cache\s132-6.jpg">    </p:cNvPr>
          <p:cNvPicPr>
            <a:picLocks noChangeAspect="1"/>
          </p:cNvPicPr>
          <p:nvPr/>
        </p:nvPicPr>
        <p:blipFill>
          <a:blip r:embed="rId7"/>
          <a:stretch>
            <a:fillRect/>
          </a:stretch>
        </p:blipFill>
        <p:spPr>
          <a:xfrm>
            <a:off x="0" y="0"/>
            <a:ext cx="12191695" cy="6858000"/>
          </a:xfrm>
          <a:prstGeom prst="rect">
            <a:avLst/>
          </a:prstGeom>
        </p:spPr>
      </p:pic>
      <p:pic>
        <p:nvPicPr>
          <p:cNvPr id="9" name="anim-g7-837" descr="C:\Users\user\projects\younes-training\arduino4\.pptx-cache\s132-7.jpg">    </p:cNvPr>
          <p:cNvPicPr>
            <a:picLocks noChangeAspect="1"/>
          </p:cNvPicPr>
          <p:nvPr/>
        </p:nvPicPr>
        <p:blipFill>
          <a:blip r:embed="rId8"/>
          <a:stretch>
            <a:fillRect/>
          </a:stretch>
        </p:blipFill>
        <p:spPr>
          <a:xfrm>
            <a:off x="0" y="0"/>
            <a:ext cx="12191695" cy="6858000"/>
          </a:xfrm>
          <a:prstGeom prst="rect">
            <a:avLst/>
          </a:prstGeom>
        </p:spPr>
      </p:pic>
      <p:pic>
        <p:nvPicPr>
          <p:cNvPr id="10" name="anim-g8-838" descr="C:\Users\user\projects\younes-training\arduino4\.pptx-cache\s132-8.jpg">    </p:cNvPr>
          <p:cNvPicPr>
            <a:picLocks noChangeAspect="1"/>
          </p:cNvPicPr>
          <p:nvPr/>
        </p:nvPicPr>
        <p:blipFill>
          <a:blip r:embed="rId9"/>
          <a:stretch>
            <a:fillRect/>
          </a:stretch>
        </p:blipFill>
        <p:spPr>
          <a:xfrm>
            <a:off x="0" y="0"/>
            <a:ext cx="12191695" cy="6858000"/>
          </a:xfrm>
          <a:prstGeom prst="rect">
            <a:avLst/>
          </a:prstGeom>
        </p:spPr>
      </p:pic>
      <p:pic>
        <p:nvPicPr>
          <p:cNvPr id="11" name="anim-g9-839" descr="C:\Users\user\projects\younes-training\arduino4\.pptx-cache\s132-9.jpg">    </p:cNvPr>
          <p:cNvPicPr>
            <a:picLocks noChangeAspect="1"/>
          </p:cNvPicPr>
          <p:nvPr/>
        </p:nvPicPr>
        <p:blipFill>
          <a:blip r:embed="rId10"/>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pic>
        <p:nvPicPr>
          <p:cNvPr id="2" name="Image 0" descr="C:\Users\user\projects\younes-training\arduino4\.pptx-cache\s1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pic>
        <p:nvPicPr>
          <p:cNvPr id="2" name="Image 0" descr="C:\Users\user\projects\younes-training\arduino4\.pptx-cache\s134-0.jpg">    </p:cNvPr>
          <p:cNvPicPr>
            <a:picLocks noChangeAspect="1"/>
          </p:cNvPicPr>
          <p:nvPr/>
        </p:nvPicPr>
        <p:blipFill>
          <a:blip r:embed="rId1"/>
          <a:stretch>
            <a:fillRect/>
          </a:stretch>
        </p:blipFill>
        <p:spPr>
          <a:xfrm>
            <a:off x="0" y="0"/>
            <a:ext cx="12191695" cy="6858000"/>
          </a:xfrm>
          <a:prstGeom prst="rect">
            <a:avLst/>
          </a:prstGeom>
        </p:spPr>
      </p:pic>
      <p:pic>
        <p:nvPicPr>
          <p:cNvPr id="3" name="anim-g1-840" descr="C:\Users\user\projects\younes-training\arduino4\.pptx-cache\s134-1.jpg">    </p:cNvPr>
          <p:cNvPicPr>
            <a:picLocks noChangeAspect="1"/>
          </p:cNvPicPr>
          <p:nvPr/>
        </p:nvPicPr>
        <p:blipFill>
          <a:blip r:embed="rId2"/>
          <a:stretch>
            <a:fillRect/>
          </a:stretch>
        </p:blipFill>
        <p:spPr>
          <a:xfrm>
            <a:off x="0" y="0"/>
            <a:ext cx="12191695" cy="6858000"/>
          </a:xfrm>
          <a:prstGeom prst="rect">
            <a:avLst/>
          </a:prstGeom>
        </p:spPr>
      </p:pic>
      <p:pic>
        <p:nvPicPr>
          <p:cNvPr id="4" name="anim-g2-841" descr="C:\Users\user\projects\younes-training\arduino4\.pptx-cache\s134-2.jpg">    </p:cNvPr>
          <p:cNvPicPr>
            <a:picLocks noChangeAspect="1"/>
          </p:cNvPicPr>
          <p:nvPr/>
        </p:nvPicPr>
        <p:blipFill>
          <a:blip r:embed="rId3"/>
          <a:stretch>
            <a:fillRect/>
          </a:stretch>
        </p:blipFill>
        <p:spPr>
          <a:xfrm>
            <a:off x="0" y="0"/>
            <a:ext cx="12191695" cy="6858000"/>
          </a:xfrm>
          <a:prstGeom prst="rect">
            <a:avLst/>
          </a:prstGeom>
        </p:spPr>
      </p:pic>
      <p:pic>
        <p:nvPicPr>
          <p:cNvPr id="5" name="anim-g3-842" descr="C:\Users\user\projects\younes-training\arduino4\.pptx-cache\s134-3.jpg">    </p:cNvPr>
          <p:cNvPicPr>
            <a:picLocks noChangeAspect="1"/>
          </p:cNvPicPr>
          <p:nvPr/>
        </p:nvPicPr>
        <p:blipFill>
          <a:blip r:embed="rId4"/>
          <a:stretch>
            <a:fillRect/>
          </a:stretch>
        </p:blipFill>
        <p:spPr>
          <a:xfrm>
            <a:off x="0" y="0"/>
            <a:ext cx="12191695" cy="6858000"/>
          </a:xfrm>
          <a:prstGeom prst="rect">
            <a:avLst/>
          </a:prstGeom>
        </p:spPr>
      </p:pic>
      <p:pic>
        <p:nvPicPr>
          <p:cNvPr id="6" name="anim-g4-843" descr="C:\Users\user\projects\younes-training\arduino4\.pptx-cache\s134-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name="Slide 1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الجراج ممتلئ (٠ أماكن) وسيارة تنتظر… ثم غادرت سيارة. ماذا يحدث؟</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تبقى البوابة مغلقة</a:t>
            </a:r>
            <a:endParaRPr lang="ar-SA" sz="2500" dirty="0"/>
          </a:p>
        </p:txBody>
      </p:sp>
      <p:sp>
        <p:nvSpPr>
          <p:cNvPr id="9" name="anim-g1-844"/>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845"/>
          <p:cNvSpPr/>
          <p:nvPr/>
        </p:nvSpPr>
        <p:spPr>
          <a:xfrm>
            <a:off x="10231831" y="2194560"/>
            <a:ext cx="954024" cy="954024"/>
          </a:xfrm>
          <a:prstGeom prst="roundRect">
            <a:avLst>
              <a:gd name="adj" fmla="val 11502"/>
            </a:avLst>
          </a:prstGeom>
          <a:solidFill>
            <a:srgbClr val="A3A9BA"/>
          </a:solidFill>
          <a:ln/>
        </p:spPr>
      </p:sp>
      <p:sp>
        <p:nvSpPr>
          <p:cNvPr id="11" name="anim-g1-846"/>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847"/>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تبقى البوابة مغلقة</a:t>
            </a:r>
            <a:endParaRPr lang="ar-SA" sz="2400" dirty="0"/>
          </a:p>
        </p:txBody>
      </p:sp>
      <p:sp>
        <p:nvSpPr>
          <p:cNvPr id="13" name="anim-g1-848"/>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الخروج زاد العدّاد، فالشرط تحقق</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يصبح العدّاد ١ فتنفتح بوابة الدخول للمنتظرة</a:t>
            </a:r>
            <a:endParaRPr lang="ar-SA" sz="2500" dirty="0"/>
          </a:p>
        </p:txBody>
      </p:sp>
      <p:sp>
        <p:nvSpPr>
          <p:cNvPr id="18" name="anim-g1-849"/>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850"/>
          <p:cNvSpPr/>
          <p:nvPr/>
        </p:nvSpPr>
        <p:spPr>
          <a:xfrm>
            <a:off x="10231831" y="3569208"/>
            <a:ext cx="954024" cy="954024"/>
          </a:xfrm>
          <a:prstGeom prst="roundRect">
            <a:avLst>
              <a:gd name="adj" fmla="val 11502"/>
            </a:avLst>
          </a:prstGeom>
          <a:solidFill>
            <a:srgbClr val="2E9E6B"/>
          </a:solidFill>
          <a:ln/>
        </p:spPr>
      </p:sp>
      <p:sp>
        <p:nvSpPr>
          <p:cNvPr id="20" name="anim-g1-851"/>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852"/>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يصبح العدّاد ١ فتنفتح بوابة الدخول للمنتظرة</a:t>
            </a:r>
            <a:endParaRPr lang="ar-SA" sz="2400" dirty="0"/>
          </a:p>
        </p:txBody>
      </p:sp>
      <p:sp>
        <p:nvSpPr>
          <p:cNvPr id="22" name="anim-g1-853"/>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freeSpots++ عند الخروج، ثم freeSpots &gt; 0 عند الدخول: دخول فوري</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تنفتح البوابتان معًا وتبقيان مفتوحتين</a:t>
            </a:r>
            <a:endParaRPr lang="ar-SA" sz="2500" dirty="0"/>
          </a:p>
        </p:txBody>
      </p:sp>
      <p:sp>
        <p:nvSpPr>
          <p:cNvPr id="27" name="anim-g1-854"/>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855"/>
          <p:cNvSpPr/>
          <p:nvPr/>
        </p:nvSpPr>
        <p:spPr>
          <a:xfrm>
            <a:off x="10231831" y="4943856"/>
            <a:ext cx="954024" cy="954024"/>
          </a:xfrm>
          <a:prstGeom prst="roundRect">
            <a:avLst>
              <a:gd name="adj" fmla="val 11502"/>
            </a:avLst>
          </a:prstGeom>
          <a:solidFill>
            <a:srgbClr val="A3A9BA"/>
          </a:solidFill>
          <a:ln/>
        </p:spPr>
      </p:sp>
      <p:sp>
        <p:nvSpPr>
          <p:cNvPr id="29" name="anim-g1-856"/>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857"/>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تنفتح البوابتان معًا وتبقيان مفتوحتين</a:t>
            </a:r>
            <a:endParaRPr lang="ar-SA" sz="2400" dirty="0"/>
          </a:p>
        </p:txBody>
      </p:sp>
      <p:sp>
        <p:nvSpPr>
          <p:cNvPr id="31" name="anim-g1-858"/>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كل بوابة تُفتح لحدثها ثم تُغلق</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الجراج الذكي  ·  ١٣٥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pic>
        <p:nvPicPr>
          <p:cNvPr id="2" name="Image 0" descr="C:\Users\user\projects\younes-training\arduino4\.pptx-cache\s1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pic>
        <p:nvPicPr>
          <p:cNvPr id="2" name="Image 0" descr="C:\Users\user\projects\younes-training\arduino4\.pptx-cache\s1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عدّاد صادق، وأضواء تخبرك أين تقف، وبوابة لا تُفتح إلا بمكان، وشاشة ترحّب: جراج يدير نفسه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الجراج الذكي  ·  ١٣٨</a:t>
            </a:r>
            <a:endParaRPr lang="ar-SA" sz="12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١٣</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١٣</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إنترنت الأشياء</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المزرعة والبيت والجراج… في جيبك</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إنترنت الأشياء  ·  ١٣٩</a:t>
            </a:r>
            <a:endParaRPr lang="ar-SA" sz="12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859"/>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860"/>
          <p:cNvSpPr/>
          <p:nvPr/>
        </p:nvSpPr>
        <p:spPr>
          <a:xfrm>
            <a:off x="10573207" y="2109978"/>
            <a:ext cx="566928" cy="566928"/>
          </a:xfrm>
          <a:prstGeom prst="ellipse">
            <a:avLst/>
          </a:prstGeom>
          <a:solidFill>
            <a:srgbClr val="D9AE4B"/>
          </a:solidFill>
          <a:ln/>
        </p:spPr>
      </p:sp>
      <p:sp>
        <p:nvSpPr>
          <p:cNvPr id="7" name="anim-g1-861"/>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862"/>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الفرق بين Arduino Uno وESP32</a:t>
            </a:r>
            <a:endParaRPr lang="ar-SA" sz="2400" dirty="0"/>
          </a:p>
        </p:txBody>
      </p:sp>
      <p:sp>
        <p:nvSpPr>
          <p:cNvPr id="9" name="anim-g2-863"/>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864"/>
          <p:cNvSpPr/>
          <p:nvPr/>
        </p:nvSpPr>
        <p:spPr>
          <a:xfrm>
            <a:off x="10573207" y="3166110"/>
            <a:ext cx="566928" cy="566928"/>
          </a:xfrm>
          <a:prstGeom prst="ellipse">
            <a:avLst/>
          </a:prstGeom>
          <a:solidFill>
            <a:srgbClr val="D9AE4B"/>
          </a:solidFill>
          <a:ln/>
        </p:spPr>
      </p:sp>
      <p:sp>
        <p:nvSpPr>
          <p:cNvPr id="11" name="anim-g2-865"/>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866"/>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تربط ESP32 بشبكة الواي فاي</a:t>
            </a:r>
            <a:endParaRPr lang="ar-SA" sz="2400" dirty="0"/>
          </a:p>
        </p:txBody>
      </p:sp>
      <p:sp>
        <p:nvSpPr>
          <p:cNvPr id="13" name="anim-g3-867"/>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868"/>
          <p:cNvSpPr/>
          <p:nvPr/>
        </p:nvSpPr>
        <p:spPr>
          <a:xfrm>
            <a:off x="10573207" y="4222242"/>
            <a:ext cx="566928" cy="566928"/>
          </a:xfrm>
          <a:prstGeom prst="ellipse">
            <a:avLst/>
          </a:prstGeom>
          <a:solidFill>
            <a:srgbClr val="D9AE4B"/>
          </a:solidFill>
          <a:ln/>
        </p:spPr>
      </p:sp>
      <p:sp>
        <p:nvSpPr>
          <p:cNvPr id="15" name="anim-g3-869"/>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870"/>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تبني خادمًا صغيرًا يستقبل أوامر الجوال</a:t>
            </a:r>
            <a:endParaRPr lang="ar-SA" sz="2400" dirty="0"/>
          </a:p>
        </p:txBody>
      </p:sp>
      <p:sp>
        <p:nvSpPr>
          <p:cNvPr id="17" name="anim-g4-871"/>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872"/>
          <p:cNvSpPr/>
          <p:nvPr/>
        </p:nvSpPr>
        <p:spPr>
          <a:xfrm>
            <a:off x="10573207" y="5278374"/>
            <a:ext cx="566928" cy="566928"/>
          </a:xfrm>
          <a:prstGeom prst="ellipse">
            <a:avLst/>
          </a:prstGeom>
          <a:solidFill>
            <a:srgbClr val="D9AE4B"/>
          </a:solidFill>
          <a:ln/>
        </p:spPr>
      </p:sp>
      <p:sp>
        <p:nvSpPr>
          <p:cNvPr id="19" name="anim-g4-873"/>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874"/>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تعيد القراءات للجوال بصيغة JSON</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إنترنت الأشياء  ·  ١٤٠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name="Slide 1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تعرّف على ESP32</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أردوينو… بواي فاي وبلوتوث مدمجين</a:t>
            </a:r>
            <a:endParaRPr lang="ar-SA" sz="3800" dirty="0"/>
          </a:p>
        </p:txBody>
      </p:sp>
      <p:sp>
        <p:nvSpPr>
          <p:cNvPr id="5" name="anim-g1-875"/>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76"/>
          <p:cNvSpPr/>
          <p:nvPr/>
        </p:nvSpPr>
        <p:spPr>
          <a:xfrm>
            <a:off x="10527487" y="2267712"/>
            <a:ext cx="566928" cy="566928"/>
          </a:xfrm>
          <a:prstGeom prst="roundRect">
            <a:avLst>
              <a:gd name="adj" fmla="val 32258"/>
            </a:avLst>
          </a:prstGeom>
          <a:solidFill>
            <a:srgbClr val="F7E6BC"/>
          </a:solidFill>
          <a:ln/>
        </p:spPr>
      </p:sp>
      <p:sp>
        <p:nvSpPr>
          <p:cNvPr id="7" name="anim-g1-877"/>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78"/>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واي فاي وبلوتوث</a:t>
            </a:r>
            <a:endParaRPr lang="ar-SA" sz="2200" dirty="0"/>
          </a:p>
        </p:txBody>
      </p:sp>
      <p:sp>
        <p:nvSpPr>
          <p:cNvPr id="9" name="anim-g1-879"/>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مدمجان في الشريحة نفسها، بلا وحدة إضافية</a:t>
            </a:r>
            <a:endParaRPr lang="ar-SA" sz="1900" dirty="0"/>
          </a:p>
        </p:txBody>
      </p:sp>
      <p:sp>
        <p:nvSpPr>
          <p:cNvPr id="10" name="anim-g2-880"/>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81"/>
          <p:cNvSpPr/>
          <p:nvPr/>
        </p:nvSpPr>
        <p:spPr>
          <a:xfrm>
            <a:off x="6920789" y="2267712"/>
            <a:ext cx="566928" cy="566928"/>
          </a:xfrm>
          <a:prstGeom prst="roundRect">
            <a:avLst>
              <a:gd name="adj" fmla="val 32258"/>
            </a:avLst>
          </a:prstGeom>
          <a:solidFill>
            <a:srgbClr val="F7E6BC"/>
          </a:solidFill>
          <a:ln/>
        </p:spPr>
      </p:sp>
      <p:sp>
        <p:nvSpPr>
          <p:cNvPr id="12" name="anim-g2-882"/>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883"/>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أسرع وأقوى</a:t>
            </a:r>
            <a:endParaRPr lang="ar-SA" sz="2200" dirty="0"/>
          </a:p>
        </p:txBody>
      </p:sp>
      <p:sp>
        <p:nvSpPr>
          <p:cNvPr id="14" name="anim-g2-884"/>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معالج بنواتين وذاكرة أكبر بكثير من Uno</a:t>
            </a:r>
            <a:endParaRPr lang="ar-SA" sz="1900" dirty="0"/>
          </a:p>
        </p:txBody>
      </p:sp>
      <p:sp>
        <p:nvSpPr>
          <p:cNvPr id="15" name="anim-g3-885"/>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886"/>
          <p:cNvSpPr/>
          <p:nvPr/>
        </p:nvSpPr>
        <p:spPr>
          <a:xfrm>
            <a:off x="3314090" y="2267712"/>
            <a:ext cx="566928" cy="566928"/>
          </a:xfrm>
          <a:prstGeom prst="roundRect">
            <a:avLst>
              <a:gd name="adj" fmla="val 32258"/>
            </a:avLst>
          </a:prstGeom>
          <a:solidFill>
            <a:srgbClr val="F7E6BC"/>
          </a:solidFill>
          <a:ln/>
        </p:spPr>
      </p:sp>
      <p:sp>
        <p:nvSpPr>
          <p:cNvPr id="17" name="anim-g3-887"/>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888"/>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٣٫٣ فولت</a:t>
            </a:r>
            <a:endParaRPr lang="ar-SA" sz="2200" dirty="0"/>
          </a:p>
        </p:txBody>
      </p:sp>
      <p:sp>
        <p:nvSpPr>
          <p:cNvPr id="19" name="anim-g3-889"/>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منطقه ٣٫٣ فولت لا ٥! انتبه عند وصل الحساسات</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إنترنت الأشياء  ·  ١٤١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name="Slide 1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33311" y="457200"/>
            <a:ext cx="4535424" cy="457200"/>
          </a:xfrm>
          <a:prstGeom prst="roundRect">
            <a:avLst>
              <a:gd name="adj" fmla="val 50000"/>
            </a:avLst>
          </a:prstGeom>
          <a:solidFill>
            <a:srgbClr val="F6EBCF"/>
          </a:solidFill>
          <a:ln/>
        </p:spPr>
      </p:sp>
      <p:sp>
        <p:nvSpPr>
          <p:cNvPr id="3" name="Text 1"/>
          <p:cNvSpPr/>
          <p:nvPr/>
        </p:nvSpPr>
        <p:spPr>
          <a:xfrm>
            <a:off x="6833311" y="457200"/>
            <a:ext cx="453542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كيف يتكلم الجوال مع ESP32؟</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طلب… ثم رد</a:t>
            </a:r>
            <a:endParaRPr lang="ar-SA" sz="3800" dirty="0"/>
          </a:p>
        </p:txBody>
      </p:sp>
      <p:sp>
        <p:nvSpPr>
          <p:cNvPr id="5" name="anim-g1-890"/>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91"/>
          <p:cNvSpPr/>
          <p:nvPr/>
        </p:nvSpPr>
        <p:spPr>
          <a:xfrm>
            <a:off x="10527487" y="2267712"/>
            <a:ext cx="566928" cy="566928"/>
          </a:xfrm>
          <a:prstGeom prst="roundRect">
            <a:avLst>
              <a:gd name="adj" fmla="val 32258"/>
            </a:avLst>
          </a:prstGeom>
          <a:solidFill>
            <a:srgbClr val="F7E6BC"/>
          </a:solidFill>
          <a:ln/>
        </p:spPr>
      </p:sp>
      <p:sp>
        <p:nvSpPr>
          <p:cNvPr id="7" name="anim-g1-892"/>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93"/>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الطلب</a:t>
            </a:r>
            <a:endParaRPr lang="ar-SA" sz="2200" dirty="0"/>
          </a:p>
        </p:txBody>
      </p:sp>
      <p:sp>
        <p:nvSpPr>
          <p:cNvPr id="9" name="anim-g1-894"/>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الجوال يفتح عنوانًا مثل 192.168.1.50/pump/on</a:t>
            </a:r>
            <a:endParaRPr lang="ar-SA" sz="1900" dirty="0"/>
          </a:p>
        </p:txBody>
      </p:sp>
      <p:sp>
        <p:nvSpPr>
          <p:cNvPr id="10" name="anim-g2-895"/>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96"/>
          <p:cNvSpPr/>
          <p:nvPr/>
        </p:nvSpPr>
        <p:spPr>
          <a:xfrm>
            <a:off x="6920789" y="2267712"/>
            <a:ext cx="566928" cy="566928"/>
          </a:xfrm>
          <a:prstGeom prst="roundRect">
            <a:avLst>
              <a:gd name="adj" fmla="val 32258"/>
            </a:avLst>
          </a:prstGeom>
          <a:solidFill>
            <a:srgbClr val="F7E6BC"/>
          </a:solidFill>
          <a:ln/>
        </p:spPr>
      </p:sp>
      <p:sp>
        <p:nvSpPr>
          <p:cNvPr id="12" name="anim-g2-897"/>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898"/>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التنفيذ</a:t>
            </a:r>
            <a:endParaRPr lang="ar-SA" sz="2200" dirty="0"/>
          </a:p>
        </p:txBody>
      </p:sp>
      <p:sp>
        <p:nvSpPr>
          <p:cNvPr id="14" name="anim-g2-899"/>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ESP32 يعرف المسار /pump/on فيشغّل المضخة</a:t>
            </a:r>
            <a:endParaRPr lang="ar-SA" sz="1900" dirty="0"/>
          </a:p>
        </p:txBody>
      </p:sp>
      <p:sp>
        <p:nvSpPr>
          <p:cNvPr id="15" name="anim-g3-900"/>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01"/>
          <p:cNvSpPr/>
          <p:nvPr/>
        </p:nvSpPr>
        <p:spPr>
          <a:xfrm>
            <a:off x="3314090" y="2267712"/>
            <a:ext cx="566928" cy="566928"/>
          </a:xfrm>
          <a:prstGeom prst="roundRect">
            <a:avLst>
              <a:gd name="adj" fmla="val 32258"/>
            </a:avLst>
          </a:prstGeom>
          <a:solidFill>
            <a:srgbClr val="F7E6BC"/>
          </a:solidFill>
          <a:ln/>
        </p:spPr>
      </p:sp>
      <p:sp>
        <p:nvSpPr>
          <p:cNvPr id="17" name="anim-g3-902"/>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903"/>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الرد</a:t>
            </a:r>
            <a:endParaRPr lang="ar-SA" sz="2200" dirty="0"/>
          </a:p>
        </p:txBody>
      </p:sp>
      <p:sp>
        <p:nvSpPr>
          <p:cNvPr id="19" name="anim-g3-904"/>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يرسل 200 OK ومعه القراءات بصيغة JSON</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إنترنت الأشياء  ·  ١٤٢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pic>
        <p:nvPicPr>
          <p:cNvPr id="2" name="Image 0" descr="C:\Users\user\projects\younes-training\arduino4\.pptx-cache\s1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pic>
        <p:nvPicPr>
          <p:cNvPr id="2" name="Image 0" descr="C:\Users\user\projects\younes-training\arduino4\.pptx-cache\s144-0.jpg">    </p:cNvPr>
          <p:cNvPicPr>
            <a:picLocks noChangeAspect="1"/>
          </p:cNvPicPr>
          <p:nvPr/>
        </p:nvPicPr>
        <p:blipFill>
          <a:blip r:embed="rId1"/>
          <a:stretch>
            <a:fillRect/>
          </a:stretch>
        </p:blipFill>
        <p:spPr>
          <a:xfrm>
            <a:off x="0" y="0"/>
            <a:ext cx="12191695" cy="6858000"/>
          </a:xfrm>
          <a:prstGeom prst="rect">
            <a:avLst/>
          </a:prstGeom>
        </p:spPr>
      </p:pic>
      <p:pic>
        <p:nvPicPr>
          <p:cNvPr id="3" name="anim-g1-905" descr="C:\Users\user\projects\younes-training\arduino4\.pptx-cache\s144-1.jpg">    </p:cNvPr>
          <p:cNvPicPr>
            <a:picLocks noChangeAspect="1"/>
          </p:cNvPicPr>
          <p:nvPr/>
        </p:nvPicPr>
        <p:blipFill>
          <a:blip r:embed="rId2"/>
          <a:stretch>
            <a:fillRect/>
          </a:stretch>
        </p:blipFill>
        <p:spPr>
          <a:xfrm>
            <a:off x="0" y="0"/>
            <a:ext cx="12191695" cy="6858000"/>
          </a:xfrm>
          <a:prstGeom prst="rect">
            <a:avLst/>
          </a:prstGeom>
        </p:spPr>
      </p:pic>
      <p:pic>
        <p:nvPicPr>
          <p:cNvPr id="4" name="anim-g2-906" descr="C:\Users\user\projects\younes-training\arduino4\.pptx-cache\s144-2.jpg">    </p:cNvPr>
          <p:cNvPicPr>
            <a:picLocks noChangeAspect="1"/>
          </p:cNvPicPr>
          <p:nvPr/>
        </p:nvPicPr>
        <p:blipFill>
          <a:blip r:embed="rId3"/>
          <a:stretch>
            <a:fillRect/>
          </a:stretch>
        </p:blipFill>
        <p:spPr>
          <a:xfrm>
            <a:off x="0" y="0"/>
            <a:ext cx="12191695" cy="6858000"/>
          </a:xfrm>
          <a:prstGeom prst="rect">
            <a:avLst/>
          </a:prstGeom>
        </p:spPr>
      </p:pic>
      <p:pic>
        <p:nvPicPr>
          <p:cNvPr id="5" name="anim-g3-907" descr="C:\Users\user\projects\younes-training\arduino4\.pptx-cache\s144-3.jpg">    </p:cNvPr>
          <p:cNvPicPr>
            <a:picLocks noChangeAspect="1"/>
          </p:cNvPicPr>
          <p:nvPr/>
        </p:nvPicPr>
        <p:blipFill>
          <a:blip r:embed="rId4"/>
          <a:stretch>
            <a:fillRect/>
          </a:stretch>
        </p:blipFill>
        <p:spPr>
          <a:xfrm>
            <a:off x="0" y="0"/>
            <a:ext cx="12191695" cy="6858000"/>
          </a:xfrm>
          <a:prstGeom prst="rect">
            <a:avLst/>
          </a:prstGeom>
        </p:spPr>
      </p:pic>
      <p:pic>
        <p:nvPicPr>
          <p:cNvPr id="6" name="anim-g4-908" descr="C:\Users\user\projects\younes-training\arduino4\.pptx-cache\s144-4.jpg">    </p:cNvPr>
          <p:cNvPicPr>
            <a:picLocks noChangeAspect="1"/>
          </p:cNvPicPr>
          <p:nvPr/>
        </p:nvPicPr>
        <p:blipFill>
          <a:blip r:embed="rId5"/>
          <a:stretch>
            <a:fillRect/>
          </a:stretch>
        </p:blipFill>
        <p:spPr>
          <a:xfrm>
            <a:off x="0" y="0"/>
            <a:ext cx="12191695" cy="6858000"/>
          </a:xfrm>
          <a:prstGeom prst="rect">
            <a:avLst/>
          </a:prstGeom>
        </p:spPr>
      </p:pic>
      <p:pic>
        <p:nvPicPr>
          <p:cNvPr id="7" name="anim-g5-909" descr="C:\Users\user\projects\younes-training\arduino4\.pptx-cache\s144-5.jpg">    </p:cNvPr>
          <p:cNvPicPr>
            <a:picLocks noChangeAspect="1"/>
          </p:cNvPicPr>
          <p:nvPr/>
        </p:nvPicPr>
        <p:blipFill>
          <a:blip r:embed="rId6"/>
          <a:stretch>
            <a:fillRect/>
          </a:stretch>
        </p:blipFill>
        <p:spPr>
          <a:xfrm>
            <a:off x="0" y="0"/>
            <a:ext cx="12191695" cy="6858000"/>
          </a:xfrm>
          <a:prstGeom prst="rect">
            <a:avLst/>
          </a:prstGeom>
        </p:spPr>
      </p:pic>
      <p:pic>
        <p:nvPicPr>
          <p:cNvPr id="8" name="anim-g6-910" descr="C:\Users\user\projects\younes-training\arduino4\.pptx-cache\s144-6.jpg">    </p:cNvPr>
          <p:cNvPicPr>
            <a:picLocks noChangeAspect="1"/>
          </p:cNvPicPr>
          <p:nvPr/>
        </p:nvPicPr>
        <p:blipFill>
          <a:blip r:embed="rId7"/>
          <a:stretch>
            <a:fillRect/>
          </a:stretch>
        </p:blipFill>
        <p:spPr>
          <a:xfrm>
            <a:off x="0" y="0"/>
            <a:ext cx="12191695" cy="6858000"/>
          </a:xfrm>
          <a:prstGeom prst="rect">
            <a:avLst/>
          </a:prstGeom>
        </p:spPr>
      </p:pic>
      <p:pic>
        <p:nvPicPr>
          <p:cNvPr id="9" name="anim-g7-911" descr="C:\Users\user\projects\younes-training\arduino4\.pptx-cache\s144-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name="Slide 1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الأمان أولًا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جهاز على الإنترنت… باب مفتوح؟</a:t>
            </a:r>
            <a:endParaRPr lang="ar-SA" sz="3800" dirty="0"/>
          </a:p>
        </p:txBody>
      </p:sp>
      <p:sp>
        <p:nvSpPr>
          <p:cNvPr id="5" name="anim-g1-912"/>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13"/>
          <p:cNvSpPr/>
          <p:nvPr/>
        </p:nvSpPr>
        <p:spPr>
          <a:xfrm>
            <a:off x="10527487" y="2267712"/>
            <a:ext cx="566928" cy="566928"/>
          </a:xfrm>
          <a:prstGeom prst="roundRect">
            <a:avLst>
              <a:gd name="adj" fmla="val 32258"/>
            </a:avLst>
          </a:prstGeom>
          <a:solidFill>
            <a:srgbClr val="F7E6BC"/>
          </a:solidFill>
          <a:ln/>
        </p:spPr>
      </p:sp>
      <p:sp>
        <p:nvSpPr>
          <p:cNvPr id="7" name="anim-g1-91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915"/>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كلمة سر</a:t>
            </a:r>
            <a:endParaRPr lang="ar-SA" sz="2200" dirty="0"/>
          </a:p>
        </p:txBody>
      </p:sp>
      <p:sp>
        <p:nvSpPr>
          <p:cNvPr id="9" name="anim-g1-916"/>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تترك أوامر خطيرة (فتح الباب) بلا كلمة سر</a:t>
            </a:r>
            <a:endParaRPr lang="ar-SA" sz="1900" dirty="0"/>
          </a:p>
        </p:txBody>
      </p:sp>
      <p:sp>
        <p:nvSpPr>
          <p:cNvPr id="10" name="anim-g2-917"/>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18"/>
          <p:cNvSpPr/>
          <p:nvPr/>
        </p:nvSpPr>
        <p:spPr>
          <a:xfrm>
            <a:off x="6920789" y="2267712"/>
            <a:ext cx="566928" cy="566928"/>
          </a:xfrm>
          <a:prstGeom prst="roundRect">
            <a:avLst>
              <a:gd name="adj" fmla="val 32258"/>
            </a:avLst>
          </a:prstGeom>
          <a:solidFill>
            <a:srgbClr val="F7E6BC"/>
          </a:solidFill>
          <a:ln/>
        </p:spPr>
      </p:sp>
      <p:sp>
        <p:nvSpPr>
          <p:cNvPr id="12" name="anim-g2-919"/>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920"/>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الشبكة المحلية</a:t>
            </a:r>
            <a:endParaRPr lang="ar-SA" sz="2200" dirty="0"/>
          </a:p>
        </p:txBody>
      </p:sp>
      <p:sp>
        <p:nvSpPr>
          <p:cNvPr id="14" name="anim-g2-921"/>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في المدرسة: اجعل التحكم داخل شبكة الفصل فقط</a:t>
            </a:r>
            <a:endParaRPr lang="ar-SA" sz="1900" dirty="0"/>
          </a:p>
        </p:txBody>
      </p:sp>
      <p:sp>
        <p:nvSpPr>
          <p:cNvPr id="15" name="anim-g3-922"/>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23"/>
          <p:cNvSpPr/>
          <p:nvPr/>
        </p:nvSpPr>
        <p:spPr>
          <a:xfrm>
            <a:off x="3314090" y="2267712"/>
            <a:ext cx="566928" cy="566928"/>
          </a:xfrm>
          <a:prstGeom prst="roundRect">
            <a:avLst>
              <a:gd name="adj" fmla="val 32258"/>
            </a:avLst>
          </a:prstGeom>
          <a:solidFill>
            <a:srgbClr val="F7E6BC"/>
          </a:solidFill>
          <a:ln/>
        </p:spPr>
      </p:sp>
      <p:sp>
        <p:nvSpPr>
          <p:cNvPr id="17" name="anim-g3-924"/>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925"/>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قيود آمنة</a:t>
            </a:r>
            <a:endParaRPr lang="ar-SA" sz="2200" dirty="0"/>
          </a:p>
        </p:txBody>
      </p:sp>
      <p:sp>
        <p:nvSpPr>
          <p:cNvPr id="19" name="anim-g3-926"/>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المضخة تتوقف وحدها بعد مدة حتى لو انقطع الاتصال</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إنترنت الأشياء  ·  ١٤٥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pic>
        <p:nvPicPr>
          <p:cNvPr id="2" name="Image 0" descr="C:\Users\user\projects\younes-training\arduino4\.pptx-cache\s146-0.jpg">    </p:cNvPr>
          <p:cNvPicPr>
            <a:picLocks noChangeAspect="1"/>
          </p:cNvPicPr>
          <p:nvPr/>
        </p:nvPicPr>
        <p:blipFill>
          <a:blip r:embed="rId1"/>
          <a:stretch>
            <a:fillRect/>
          </a:stretch>
        </p:blipFill>
        <p:spPr>
          <a:xfrm>
            <a:off x="0" y="0"/>
            <a:ext cx="12191695" cy="6858000"/>
          </a:xfrm>
          <a:prstGeom prst="rect">
            <a:avLst/>
          </a:prstGeom>
        </p:spPr>
      </p:pic>
      <p:pic>
        <p:nvPicPr>
          <p:cNvPr id="3" name="anim-g1-927" descr="C:\Users\user\projects\younes-training\arduino4\.pptx-cache\s146-1.jpg">    </p:cNvPr>
          <p:cNvPicPr>
            <a:picLocks noChangeAspect="1"/>
          </p:cNvPicPr>
          <p:nvPr/>
        </p:nvPicPr>
        <p:blipFill>
          <a:blip r:embed="rId2"/>
          <a:stretch>
            <a:fillRect/>
          </a:stretch>
        </p:blipFill>
        <p:spPr>
          <a:xfrm>
            <a:off x="0" y="0"/>
            <a:ext cx="12191695" cy="6858000"/>
          </a:xfrm>
          <a:prstGeom prst="rect">
            <a:avLst/>
          </a:prstGeom>
        </p:spPr>
      </p:pic>
      <p:pic>
        <p:nvPicPr>
          <p:cNvPr id="4" name="anim-g2-928" descr="C:\Users\user\projects\younes-training\arduino4\.pptx-cache\s146-2.jpg">    </p:cNvPr>
          <p:cNvPicPr>
            <a:picLocks noChangeAspect="1"/>
          </p:cNvPicPr>
          <p:nvPr/>
        </p:nvPicPr>
        <p:blipFill>
          <a:blip r:embed="rId3"/>
          <a:stretch>
            <a:fillRect/>
          </a:stretch>
        </p:blipFill>
        <p:spPr>
          <a:xfrm>
            <a:off x="0" y="0"/>
            <a:ext cx="12191695" cy="6858000"/>
          </a:xfrm>
          <a:prstGeom prst="rect">
            <a:avLst/>
          </a:prstGeom>
        </p:spPr>
      </p:pic>
      <p:pic>
        <p:nvPicPr>
          <p:cNvPr id="5" name="anim-g3-929" descr="C:\Users\user\projects\younes-training\arduino4\.pptx-cache\s146-3.jpg">    </p:cNvPr>
          <p:cNvPicPr>
            <a:picLocks noChangeAspect="1"/>
          </p:cNvPicPr>
          <p:nvPr/>
        </p:nvPicPr>
        <p:blipFill>
          <a:blip r:embed="rId4"/>
          <a:stretch>
            <a:fillRect/>
          </a:stretch>
        </p:blipFill>
        <p:spPr>
          <a:xfrm>
            <a:off x="0" y="0"/>
            <a:ext cx="12191695" cy="6858000"/>
          </a:xfrm>
          <a:prstGeom prst="rect">
            <a:avLst/>
          </a:prstGeom>
        </p:spPr>
      </p:pic>
      <p:pic>
        <p:nvPicPr>
          <p:cNvPr id="6" name="anim-g4-930" descr="C:\Users\user\projects\younes-training\arduino4\.pptx-cache\s146-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name="Slide 1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ضغطت زر المضخة في الجوال ولم يحدث شيء، والجوال على شبكة أخرى… ما السبب الأرجح؟</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الجوال وESP32 ليسا على الشبكة نفسها</a:t>
            </a:r>
            <a:endParaRPr lang="ar-SA" sz="2500" dirty="0"/>
          </a:p>
        </p:txBody>
      </p:sp>
      <p:sp>
        <p:nvSpPr>
          <p:cNvPr id="9" name="anim-g1-931"/>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932"/>
          <p:cNvSpPr/>
          <p:nvPr/>
        </p:nvSpPr>
        <p:spPr>
          <a:xfrm>
            <a:off x="10231831" y="2194560"/>
            <a:ext cx="954024" cy="954024"/>
          </a:xfrm>
          <a:prstGeom prst="roundRect">
            <a:avLst>
              <a:gd name="adj" fmla="val 11502"/>
            </a:avLst>
          </a:prstGeom>
          <a:solidFill>
            <a:srgbClr val="2E9E6B"/>
          </a:solidFill>
          <a:ln/>
        </p:spPr>
      </p:sp>
      <p:sp>
        <p:nvSpPr>
          <p:cNvPr id="11" name="anim-g1-933"/>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934"/>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الجوال وESP32 ليسا على الشبكة نفسها</a:t>
            </a:r>
            <a:endParaRPr lang="ar-SA" sz="2400" dirty="0"/>
          </a:p>
        </p:txBody>
      </p:sp>
      <p:sp>
        <p:nvSpPr>
          <p:cNvPr id="13" name="anim-g1-935"/>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العنوان 192.168.x.x محلي: يعمل داخل الشبكة نفسها فقط</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المضخة تالفة</a:t>
            </a:r>
            <a:endParaRPr lang="ar-SA" sz="2500" dirty="0"/>
          </a:p>
        </p:txBody>
      </p:sp>
      <p:sp>
        <p:nvSpPr>
          <p:cNvPr id="18" name="anim-g1-936"/>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937"/>
          <p:cNvSpPr/>
          <p:nvPr/>
        </p:nvSpPr>
        <p:spPr>
          <a:xfrm>
            <a:off x="10231831" y="3569208"/>
            <a:ext cx="954024" cy="954024"/>
          </a:xfrm>
          <a:prstGeom prst="roundRect">
            <a:avLst>
              <a:gd name="adj" fmla="val 11502"/>
            </a:avLst>
          </a:prstGeom>
          <a:solidFill>
            <a:srgbClr val="A3A9BA"/>
          </a:solidFill>
          <a:ln/>
        </p:spPr>
      </p:sp>
      <p:sp>
        <p:nvSpPr>
          <p:cNvPr id="20" name="anim-g1-938"/>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939"/>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المضخة تالفة</a:t>
            </a:r>
            <a:endParaRPr lang="ar-SA" sz="2400" dirty="0"/>
          </a:p>
        </p:txBody>
      </p:sp>
      <p:sp>
        <p:nvSpPr>
          <p:cNvPr id="22" name="anim-g1-940"/>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المضخة لم تصلها أي إشارة أصلًا</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الكود يحتاج delay أطول</a:t>
            </a:r>
            <a:endParaRPr lang="ar-SA" sz="2500" dirty="0"/>
          </a:p>
        </p:txBody>
      </p:sp>
      <p:sp>
        <p:nvSpPr>
          <p:cNvPr id="27" name="anim-g1-941"/>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942"/>
          <p:cNvSpPr/>
          <p:nvPr/>
        </p:nvSpPr>
        <p:spPr>
          <a:xfrm>
            <a:off x="10231831" y="4943856"/>
            <a:ext cx="954024" cy="954024"/>
          </a:xfrm>
          <a:prstGeom prst="roundRect">
            <a:avLst>
              <a:gd name="adj" fmla="val 11502"/>
            </a:avLst>
          </a:prstGeom>
          <a:solidFill>
            <a:srgbClr val="A3A9BA"/>
          </a:solidFill>
          <a:ln/>
        </p:spPr>
      </p:sp>
      <p:sp>
        <p:nvSpPr>
          <p:cNvPr id="29" name="anim-g1-94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944"/>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الكود يحتاج delay أطول</a:t>
            </a:r>
            <a:endParaRPr lang="ar-SA" sz="2400" dirty="0"/>
          </a:p>
        </p:txBody>
      </p:sp>
      <p:sp>
        <p:nvSpPr>
          <p:cNvPr id="31" name="anim-g1-945"/>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delay يجعل الأمر أسوأ</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إنترنت الأشياء  ·  ١٤٧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pic>
        <p:nvPicPr>
          <p:cNvPr id="2" name="Image 0" descr="C:\Users\user\projects\younes-training\arduino4\.pptx-cache\s14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pic>
        <p:nvPicPr>
          <p:cNvPr id="2" name="Image 0" descr="C:\Users\user\projects\younes-training\arduino4\.pptx-cache\s14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طلب يطير، وجهاز ينفّذ، ورد يعود: المزرعة والبيت والجراج صاروا في جيبك</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إنترنت الأشياء  ·  ١٥٠</a:t>
            </a:r>
            <a:endParaRPr lang="ar-SA" sz="12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١٤</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١٤</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القرية الذكية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مزرعة وبيت وجراج… يتحدثون معًا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الختام  ·  ١٥١</a:t>
            </a:r>
            <a:endParaRPr lang="ar-SA" sz="12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pic>
        <p:nvPicPr>
          <p:cNvPr id="2" name="Image 0" descr="C:\Users\user\projects\younes-training\arduino4\.pptx-cache\s15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أدوات المحترفين</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ستة مفاهيم ستلازمك في كل مشروع</a:t>
            </a:r>
            <a:endParaRPr lang="ar-SA" sz="3800" dirty="0"/>
          </a:p>
        </p:txBody>
      </p:sp>
      <p:sp>
        <p:nvSpPr>
          <p:cNvPr id="5" name="anim-g1-946"/>
          <p:cNvSpPr/>
          <p:nvPr/>
        </p:nvSpPr>
        <p:spPr>
          <a:xfrm>
            <a:off x="9839706" y="2148840"/>
            <a:ext cx="1529029" cy="3566160"/>
          </a:xfrm>
          <a:prstGeom prst="roundRect">
            <a:avLst>
              <a:gd name="adj" fmla="val 10764"/>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47"/>
          <p:cNvSpPr/>
          <p:nvPr/>
        </p:nvSpPr>
        <p:spPr>
          <a:xfrm>
            <a:off x="10362895" y="2404872"/>
            <a:ext cx="731520" cy="731520"/>
          </a:xfrm>
          <a:prstGeom prst="roundRect">
            <a:avLst>
              <a:gd name="adj" fmla="val 25000"/>
            </a:avLst>
          </a:prstGeom>
          <a:solidFill>
            <a:srgbClr val="F7E6BC"/>
          </a:solidFill>
          <a:ln/>
        </p:spPr>
      </p:sp>
      <p:sp>
        <p:nvSpPr>
          <p:cNvPr id="7" name="anim-g1-948"/>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949"/>
          <p:cNvSpPr/>
          <p:nvPr/>
        </p:nvSpPr>
        <p:spPr>
          <a:xfrm>
            <a:off x="10114026" y="3246120"/>
            <a:ext cx="980389"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التخلّف</a:t>
            </a:r>
            <a:endParaRPr lang="ar-SA" sz="2300" dirty="0"/>
          </a:p>
        </p:txBody>
      </p:sp>
      <p:sp>
        <p:nvSpPr>
          <p:cNvPr id="9" name="anim-g1-950"/>
          <p:cNvSpPr/>
          <p:nvPr/>
        </p:nvSpPr>
        <p:spPr>
          <a:xfrm>
            <a:off x="10114026" y="3794760"/>
            <a:ext cx="980389"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حدّان بدل حد: لا ارتجاف</a:t>
            </a:r>
            <a:endParaRPr lang="ar-SA" sz="2100" dirty="0"/>
          </a:p>
        </p:txBody>
      </p:sp>
      <p:sp>
        <p:nvSpPr>
          <p:cNvPr id="10" name="anim-g2-951"/>
          <p:cNvSpPr/>
          <p:nvPr/>
        </p:nvSpPr>
        <p:spPr>
          <a:xfrm>
            <a:off x="8036357" y="2148840"/>
            <a:ext cx="1529029" cy="3566160"/>
          </a:xfrm>
          <a:prstGeom prst="roundRect">
            <a:avLst>
              <a:gd name="adj" fmla="val 10764"/>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52"/>
          <p:cNvSpPr/>
          <p:nvPr/>
        </p:nvSpPr>
        <p:spPr>
          <a:xfrm>
            <a:off x="8559546" y="2404872"/>
            <a:ext cx="731520" cy="731520"/>
          </a:xfrm>
          <a:prstGeom prst="roundRect">
            <a:avLst>
              <a:gd name="adj" fmla="val 25000"/>
            </a:avLst>
          </a:prstGeom>
          <a:solidFill>
            <a:srgbClr val="F7E6BC"/>
          </a:solidFill>
          <a:ln/>
        </p:spPr>
      </p:sp>
      <p:sp>
        <p:nvSpPr>
          <p:cNvPr id="12" name="anim-g2-953"/>
          <p:cNvSpPr/>
          <p:nvPr/>
        </p:nvSpPr>
        <p:spPr>
          <a:xfrm>
            <a:off x="8559546"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954"/>
          <p:cNvSpPr/>
          <p:nvPr/>
        </p:nvSpPr>
        <p:spPr>
          <a:xfrm>
            <a:off x="8310677" y="3246120"/>
            <a:ext cx="980389"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millis</a:t>
            </a:r>
            <a:endParaRPr lang="ar-SA" sz="2300" dirty="0"/>
          </a:p>
        </p:txBody>
      </p:sp>
      <p:sp>
        <p:nvSpPr>
          <p:cNvPr id="14" name="anim-g2-955"/>
          <p:cNvSpPr/>
          <p:nvPr/>
        </p:nvSpPr>
        <p:spPr>
          <a:xfrm>
            <a:off x="8310677" y="3794760"/>
            <a:ext cx="980389"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عدّ الوقت بلا تجميد</a:t>
            </a:r>
            <a:endParaRPr lang="ar-SA" sz="2100" dirty="0"/>
          </a:p>
        </p:txBody>
      </p:sp>
      <p:sp>
        <p:nvSpPr>
          <p:cNvPr id="15" name="anim-g3-956"/>
          <p:cNvSpPr/>
          <p:nvPr/>
        </p:nvSpPr>
        <p:spPr>
          <a:xfrm>
            <a:off x="6233008" y="2148840"/>
            <a:ext cx="1529029" cy="3566160"/>
          </a:xfrm>
          <a:prstGeom prst="roundRect">
            <a:avLst>
              <a:gd name="adj" fmla="val 10764"/>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57"/>
          <p:cNvSpPr/>
          <p:nvPr/>
        </p:nvSpPr>
        <p:spPr>
          <a:xfrm>
            <a:off x="6756197" y="2404872"/>
            <a:ext cx="731520" cy="731520"/>
          </a:xfrm>
          <a:prstGeom prst="roundRect">
            <a:avLst>
              <a:gd name="adj" fmla="val 25000"/>
            </a:avLst>
          </a:prstGeom>
          <a:solidFill>
            <a:srgbClr val="F7E6BC"/>
          </a:solidFill>
          <a:ln/>
        </p:spPr>
      </p:sp>
      <p:sp>
        <p:nvSpPr>
          <p:cNvPr id="17" name="anim-g3-958"/>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959"/>
          <p:cNvSpPr/>
          <p:nvPr/>
        </p:nvSpPr>
        <p:spPr>
          <a:xfrm>
            <a:off x="6507328" y="3246120"/>
            <a:ext cx="980389"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آلة الحالات</a:t>
            </a:r>
            <a:endParaRPr lang="ar-SA" sz="2300" dirty="0"/>
          </a:p>
        </p:txBody>
      </p:sp>
      <p:sp>
        <p:nvSpPr>
          <p:cNvPr id="19" name="anim-g3-960"/>
          <p:cNvSpPr/>
          <p:nvPr/>
        </p:nvSpPr>
        <p:spPr>
          <a:xfrm>
            <a:off x="6507328" y="3794760"/>
            <a:ext cx="980389"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أوضاع واضحة بـ switch</a:t>
            </a:r>
            <a:endParaRPr lang="ar-SA" sz="2100" dirty="0"/>
          </a:p>
        </p:txBody>
      </p:sp>
      <p:sp>
        <p:nvSpPr>
          <p:cNvPr id="20" name="anim-g4-961"/>
          <p:cNvSpPr/>
          <p:nvPr/>
        </p:nvSpPr>
        <p:spPr>
          <a:xfrm>
            <a:off x="4429658" y="2148840"/>
            <a:ext cx="1529029" cy="3566160"/>
          </a:xfrm>
          <a:prstGeom prst="roundRect">
            <a:avLst>
              <a:gd name="adj" fmla="val 10764"/>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962"/>
          <p:cNvSpPr/>
          <p:nvPr/>
        </p:nvSpPr>
        <p:spPr>
          <a:xfrm>
            <a:off x="4952848" y="2404872"/>
            <a:ext cx="731520" cy="731520"/>
          </a:xfrm>
          <a:prstGeom prst="roundRect">
            <a:avLst>
              <a:gd name="adj" fmla="val 25000"/>
            </a:avLst>
          </a:prstGeom>
          <a:solidFill>
            <a:srgbClr val="F7E6BC"/>
          </a:solidFill>
          <a:ln/>
        </p:spPr>
      </p:sp>
      <p:sp>
        <p:nvSpPr>
          <p:cNvPr id="22" name="anim-g4-963"/>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964"/>
          <p:cNvSpPr/>
          <p:nvPr/>
        </p:nvSpPr>
        <p:spPr>
          <a:xfrm>
            <a:off x="4703978" y="3246120"/>
            <a:ext cx="980389"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المصفوفات</a:t>
            </a:r>
            <a:endParaRPr lang="ar-SA" sz="2300" dirty="0"/>
          </a:p>
        </p:txBody>
      </p:sp>
      <p:sp>
        <p:nvSpPr>
          <p:cNvPr id="24" name="anim-g4-965"/>
          <p:cNvSpPr/>
          <p:nvPr/>
        </p:nvSpPr>
        <p:spPr>
          <a:xfrm>
            <a:off x="4703978" y="3794760"/>
            <a:ext cx="980389"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عشرة حساسات بحلقة واحدة</a:t>
            </a:r>
            <a:endParaRPr lang="ar-SA" sz="2100" dirty="0"/>
          </a:p>
        </p:txBody>
      </p:sp>
      <p:sp>
        <p:nvSpPr>
          <p:cNvPr id="25" name="anim-g5-966"/>
          <p:cNvSpPr/>
          <p:nvPr/>
        </p:nvSpPr>
        <p:spPr>
          <a:xfrm>
            <a:off x="2626309" y="2148840"/>
            <a:ext cx="1529029" cy="3566160"/>
          </a:xfrm>
          <a:prstGeom prst="roundRect">
            <a:avLst>
              <a:gd name="adj" fmla="val 10764"/>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967"/>
          <p:cNvSpPr/>
          <p:nvPr/>
        </p:nvSpPr>
        <p:spPr>
          <a:xfrm>
            <a:off x="3149498" y="2404872"/>
            <a:ext cx="731520" cy="731520"/>
          </a:xfrm>
          <a:prstGeom prst="roundRect">
            <a:avLst>
              <a:gd name="adj" fmla="val 25000"/>
            </a:avLst>
          </a:prstGeom>
          <a:solidFill>
            <a:srgbClr val="F7E6BC"/>
          </a:solidFill>
          <a:ln/>
        </p:spPr>
      </p:sp>
      <p:sp>
        <p:nvSpPr>
          <p:cNvPr id="27" name="anim-g5-968"/>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8" name="anim-g5-969"/>
          <p:cNvSpPr/>
          <p:nvPr/>
        </p:nvSpPr>
        <p:spPr>
          <a:xfrm>
            <a:off x="2900629" y="3246120"/>
            <a:ext cx="980389"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الطلب والرد</a:t>
            </a:r>
            <a:endParaRPr lang="ar-SA" sz="2300" dirty="0"/>
          </a:p>
        </p:txBody>
      </p:sp>
      <p:sp>
        <p:nvSpPr>
          <p:cNvPr id="29" name="anim-g5-970"/>
          <p:cNvSpPr/>
          <p:nvPr/>
        </p:nvSpPr>
        <p:spPr>
          <a:xfrm>
            <a:off x="2900629" y="3794760"/>
            <a:ext cx="980389"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لغة الإنترنت</a:t>
            </a:r>
            <a:endParaRPr lang="ar-SA" sz="2100" dirty="0"/>
          </a:p>
        </p:txBody>
      </p:sp>
      <p:sp>
        <p:nvSpPr>
          <p:cNvPr id="30" name="anim-g6-971"/>
          <p:cNvSpPr/>
          <p:nvPr/>
        </p:nvSpPr>
        <p:spPr>
          <a:xfrm>
            <a:off x="822960" y="2148840"/>
            <a:ext cx="1529029" cy="3566160"/>
          </a:xfrm>
          <a:prstGeom prst="roundRect">
            <a:avLst>
              <a:gd name="adj" fmla="val 10764"/>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972"/>
          <p:cNvSpPr/>
          <p:nvPr/>
        </p:nvSpPr>
        <p:spPr>
          <a:xfrm>
            <a:off x="1346149" y="2404872"/>
            <a:ext cx="731520" cy="731520"/>
          </a:xfrm>
          <a:prstGeom prst="roundRect">
            <a:avLst>
              <a:gd name="adj" fmla="val 25000"/>
            </a:avLst>
          </a:prstGeom>
          <a:solidFill>
            <a:srgbClr val="F7E6BC"/>
          </a:solidFill>
          <a:ln/>
        </p:spPr>
      </p:sp>
      <p:sp>
        <p:nvSpPr>
          <p:cNvPr id="32" name="anim-g6-973"/>
          <p:cNvSpPr/>
          <p:nvPr/>
        </p:nvSpPr>
        <p:spPr>
          <a:xfrm>
            <a:off x="1346149"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33" name="anim-g6-974"/>
          <p:cNvSpPr/>
          <p:nvPr/>
        </p:nvSpPr>
        <p:spPr>
          <a:xfrm>
            <a:off x="1097280" y="3246120"/>
            <a:ext cx="980389"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الأمان عند العطل</a:t>
            </a:r>
            <a:endParaRPr lang="ar-SA" sz="2300" dirty="0"/>
          </a:p>
        </p:txBody>
      </p:sp>
      <p:sp>
        <p:nvSpPr>
          <p:cNvPr id="34" name="anim-g6-975"/>
          <p:cNvSpPr/>
          <p:nvPr/>
        </p:nvSpPr>
        <p:spPr>
          <a:xfrm>
            <a:off x="1097280" y="3794760"/>
            <a:ext cx="980389"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الوضع الآمن تلقائيًا</a:t>
            </a:r>
            <a:endParaRPr lang="ar-SA" sz="21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الختام  ·  ١٥٣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name="Slide 1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مشروع التخرج</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القرية الذكية: كل فريق يبني جزءًا</a:t>
            </a:r>
            <a:endParaRPr lang="ar-SA" sz="3200" dirty="0"/>
          </a:p>
        </p:txBody>
      </p:sp>
      <p:sp>
        <p:nvSpPr>
          <p:cNvPr id="5" name="anim-g1-976"/>
          <p:cNvSpPr/>
          <p:nvPr/>
        </p:nvSpPr>
        <p:spPr>
          <a:xfrm>
            <a:off x="8036357"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77"/>
          <p:cNvSpPr/>
          <p:nvPr/>
        </p:nvSpPr>
        <p:spPr>
          <a:xfrm>
            <a:off x="10527487" y="2267712"/>
            <a:ext cx="566928" cy="566928"/>
          </a:xfrm>
          <a:prstGeom prst="roundRect">
            <a:avLst>
              <a:gd name="adj" fmla="val 32258"/>
            </a:avLst>
          </a:prstGeom>
          <a:solidFill>
            <a:srgbClr val="F7E6BC"/>
          </a:solidFill>
          <a:ln/>
        </p:spPr>
      </p:sp>
      <p:sp>
        <p:nvSpPr>
          <p:cNvPr id="7" name="anim-g1-978"/>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979"/>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فريق المزرعة</a:t>
            </a:r>
            <a:endParaRPr lang="ar-SA" sz="2200" dirty="0"/>
          </a:p>
        </p:txBody>
      </p:sp>
      <p:sp>
        <p:nvSpPr>
          <p:cNvPr id="9" name="anim-g1-980"/>
          <p:cNvSpPr/>
          <p:nvPr/>
        </p:nvSpPr>
        <p:spPr>
          <a:xfrm>
            <a:off x="8310677"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ري آلي وبيت محمي وخزان، بشاشة</a:t>
            </a:r>
            <a:endParaRPr lang="ar-SA" sz="1900" dirty="0"/>
          </a:p>
        </p:txBody>
      </p:sp>
      <p:sp>
        <p:nvSpPr>
          <p:cNvPr id="10" name="anim-g2-981"/>
          <p:cNvSpPr/>
          <p:nvPr/>
        </p:nvSpPr>
        <p:spPr>
          <a:xfrm>
            <a:off x="4429658"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82"/>
          <p:cNvSpPr/>
          <p:nvPr/>
        </p:nvSpPr>
        <p:spPr>
          <a:xfrm>
            <a:off x="6920789" y="2267712"/>
            <a:ext cx="566928" cy="566928"/>
          </a:xfrm>
          <a:prstGeom prst="roundRect">
            <a:avLst>
              <a:gd name="adj" fmla="val 32258"/>
            </a:avLst>
          </a:prstGeom>
          <a:solidFill>
            <a:srgbClr val="F7E6BC"/>
          </a:solidFill>
          <a:ln/>
        </p:spPr>
      </p:sp>
      <p:sp>
        <p:nvSpPr>
          <p:cNvPr id="12" name="anim-g2-983"/>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984"/>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فريق البيت</a:t>
            </a:r>
            <a:endParaRPr lang="ar-SA" sz="2200" dirty="0"/>
          </a:p>
        </p:txBody>
      </p:sp>
      <p:sp>
        <p:nvSpPr>
          <p:cNvPr id="14" name="anim-g2-985"/>
          <p:cNvSpPr/>
          <p:nvPr/>
        </p:nvSpPr>
        <p:spPr>
          <a:xfrm>
            <a:off x="4703978"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إضاءة وباب وأمان، بأوضاع</a:t>
            </a:r>
            <a:endParaRPr lang="ar-SA" sz="1900" dirty="0"/>
          </a:p>
        </p:txBody>
      </p:sp>
      <p:sp>
        <p:nvSpPr>
          <p:cNvPr id="15" name="anim-g3-986"/>
          <p:cNvSpPr/>
          <p:nvPr/>
        </p:nvSpPr>
        <p:spPr>
          <a:xfrm>
            <a:off x="822960"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87"/>
          <p:cNvSpPr/>
          <p:nvPr/>
        </p:nvSpPr>
        <p:spPr>
          <a:xfrm>
            <a:off x="3314090" y="2267712"/>
            <a:ext cx="566928" cy="566928"/>
          </a:xfrm>
          <a:prstGeom prst="roundRect">
            <a:avLst>
              <a:gd name="adj" fmla="val 32258"/>
            </a:avLst>
          </a:prstGeom>
          <a:solidFill>
            <a:srgbClr val="F7E6BC"/>
          </a:solidFill>
          <a:ln/>
        </p:spPr>
      </p:sp>
      <p:sp>
        <p:nvSpPr>
          <p:cNvPr id="17" name="anim-g3-988"/>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989"/>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فريق الجراج</a:t>
            </a:r>
            <a:endParaRPr lang="ar-SA" sz="2200" dirty="0"/>
          </a:p>
        </p:txBody>
      </p:sp>
      <p:sp>
        <p:nvSpPr>
          <p:cNvPr id="19" name="anim-g3-990"/>
          <p:cNvSpPr/>
          <p:nvPr/>
        </p:nvSpPr>
        <p:spPr>
          <a:xfrm>
            <a:off x="1097280"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بوابتان ومواقف وشاشة ترحيب</a:t>
            </a:r>
            <a:endParaRPr lang="ar-SA" sz="1900" dirty="0"/>
          </a:p>
        </p:txBody>
      </p:sp>
      <p:sp>
        <p:nvSpPr>
          <p:cNvPr id="20" name="anim-g4-991"/>
          <p:cNvSpPr/>
          <p:nvPr/>
        </p:nvSpPr>
        <p:spPr>
          <a:xfrm>
            <a:off x="8036357"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992"/>
          <p:cNvSpPr/>
          <p:nvPr/>
        </p:nvSpPr>
        <p:spPr>
          <a:xfrm>
            <a:off x="10527487" y="4393692"/>
            <a:ext cx="566928" cy="566928"/>
          </a:xfrm>
          <a:prstGeom prst="roundRect">
            <a:avLst>
              <a:gd name="adj" fmla="val 32258"/>
            </a:avLst>
          </a:prstGeom>
          <a:solidFill>
            <a:srgbClr val="F7E6BC"/>
          </a:solidFill>
          <a:ln/>
        </p:spPr>
      </p:sp>
      <p:sp>
        <p:nvSpPr>
          <p:cNvPr id="22" name="anim-g4-993"/>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994"/>
          <p:cNvSpPr/>
          <p:nvPr/>
        </p:nvSpPr>
        <p:spPr>
          <a:xfrm>
            <a:off x="8310677"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فريق الطاقة</a:t>
            </a:r>
            <a:endParaRPr lang="ar-SA" sz="2200" dirty="0"/>
          </a:p>
        </p:txBody>
      </p:sp>
      <p:sp>
        <p:nvSpPr>
          <p:cNvPr id="24" name="anim-g4-995"/>
          <p:cNvSpPr/>
          <p:nvPr/>
        </p:nvSpPr>
        <p:spPr>
          <a:xfrm>
            <a:off x="8310677"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لوح وبطارية يغذيان القرية بالأولويات</a:t>
            </a:r>
            <a:endParaRPr lang="ar-SA" sz="1900" dirty="0"/>
          </a:p>
        </p:txBody>
      </p:sp>
      <p:sp>
        <p:nvSpPr>
          <p:cNvPr id="25" name="anim-g5-996"/>
          <p:cNvSpPr/>
          <p:nvPr/>
        </p:nvSpPr>
        <p:spPr>
          <a:xfrm>
            <a:off x="4429658"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997"/>
          <p:cNvSpPr/>
          <p:nvPr/>
        </p:nvSpPr>
        <p:spPr>
          <a:xfrm>
            <a:off x="6920789" y="4393692"/>
            <a:ext cx="566928" cy="566928"/>
          </a:xfrm>
          <a:prstGeom prst="roundRect">
            <a:avLst>
              <a:gd name="adj" fmla="val 32258"/>
            </a:avLst>
          </a:prstGeom>
          <a:solidFill>
            <a:srgbClr val="F7E6BC"/>
          </a:solidFill>
          <a:ln/>
        </p:spPr>
      </p:sp>
      <p:sp>
        <p:nvSpPr>
          <p:cNvPr id="27" name="anim-g5-998"/>
          <p:cNvSpPr/>
          <p:nvPr/>
        </p:nvSpPr>
        <p:spPr>
          <a:xfrm>
            <a:off x="6920789"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999"/>
          <p:cNvSpPr/>
          <p:nvPr/>
        </p:nvSpPr>
        <p:spPr>
          <a:xfrm>
            <a:off x="4703978"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فريق التحكم</a:t>
            </a:r>
            <a:endParaRPr lang="ar-SA" sz="2200" dirty="0"/>
          </a:p>
        </p:txBody>
      </p:sp>
      <p:sp>
        <p:nvSpPr>
          <p:cNvPr id="29" name="anim-g5-1000"/>
          <p:cNvSpPr/>
          <p:nvPr/>
        </p:nvSpPr>
        <p:spPr>
          <a:xfrm>
            <a:off x="4703978"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لوحة جوال تعرض القرية كلها</a:t>
            </a:r>
            <a:endParaRPr lang="ar-SA" sz="1900" dirty="0"/>
          </a:p>
        </p:txBody>
      </p:sp>
      <p:sp>
        <p:nvSpPr>
          <p:cNvPr id="30" name="anim-g6-1001"/>
          <p:cNvSpPr/>
          <p:nvPr/>
        </p:nvSpPr>
        <p:spPr>
          <a:xfrm>
            <a:off x="822960"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1002"/>
          <p:cNvSpPr/>
          <p:nvPr/>
        </p:nvSpPr>
        <p:spPr>
          <a:xfrm>
            <a:off x="3314090" y="4393692"/>
            <a:ext cx="566928" cy="566928"/>
          </a:xfrm>
          <a:prstGeom prst="roundRect">
            <a:avLst>
              <a:gd name="adj" fmla="val 32258"/>
            </a:avLst>
          </a:prstGeom>
          <a:solidFill>
            <a:srgbClr val="F7E6BC"/>
          </a:solidFill>
          <a:ln/>
        </p:spPr>
      </p:sp>
      <p:sp>
        <p:nvSpPr>
          <p:cNvPr id="32" name="anim-g6-1003"/>
          <p:cNvSpPr/>
          <p:nvPr/>
        </p:nvSpPr>
        <p:spPr>
          <a:xfrm>
            <a:off x="331409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1004"/>
          <p:cNvSpPr/>
          <p:nvPr/>
        </p:nvSpPr>
        <p:spPr>
          <a:xfrm>
            <a:off x="1097280"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فريق العرض</a:t>
            </a:r>
            <a:endParaRPr lang="ar-SA" sz="2200" dirty="0"/>
          </a:p>
        </p:txBody>
      </p:sp>
      <p:sp>
        <p:nvSpPr>
          <p:cNvPr id="34" name="anim-g6-1005"/>
          <p:cNvSpPr/>
          <p:nvPr/>
        </p:nvSpPr>
        <p:spPr>
          <a:xfrm>
            <a:off x="1097280"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لوحات الشرح والجولة للزوار</a:t>
            </a:r>
            <a:endParaRPr lang="ar-SA" sz="19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الختام  ·  ١٥٤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name="Slide 1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759391" y="457200"/>
            <a:ext cx="1609344" cy="457200"/>
          </a:xfrm>
          <a:prstGeom prst="roundRect">
            <a:avLst>
              <a:gd name="adj" fmla="val 50000"/>
            </a:avLst>
          </a:prstGeom>
          <a:solidFill>
            <a:srgbClr val="F6EBCF"/>
          </a:solidFill>
          <a:ln/>
        </p:spPr>
      </p:sp>
      <p:sp>
        <p:nvSpPr>
          <p:cNvPr id="3" name="Text 1"/>
          <p:cNvSpPr/>
          <p:nvPr/>
        </p:nvSpPr>
        <p:spPr>
          <a:xfrm>
            <a:off x="9759391" y="457200"/>
            <a:ext cx="160934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للمعلم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بطاقة تقييم مشروع التخرج</a:t>
            </a:r>
            <a:endParaRPr lang="ar-SA" sz="3800" dirty="0"/>
          </a:p>
        </p:txBody>
      </p:sp>
      <p:sp>
        <p:nvSpPr>
          <p:cNvPr id="5" name="Shape 3"/>
          <p:cNvSpPr/>
          <p:nvPr/>
        </p:nvSpPr>
        <p:spPr>
          <a:xfrm>
            <a:off x="8939013" y="1874520"/>
            <a:ext cx="2429722" cy="548640"/>
          </a:xfrm>
          <a:prstGeom prst="roundRect">
            <a:avLst>
              <a:gd name="adj" fmla="val 20000"/>
            </a:avLst>
          </a:prstGeom>
          <a:solidFill>
            <a:srgbClr val="101B45"/>
          </a:solidFill>
          <a:ln/>
        </p:spPr>
      </p:sp>
      <p:sp>
        <p:nvSpPr>
          <p:cNvPr id="6" name="Text 4"/>
          <p:cNvSpPr/>
          <p:nvPr/>
        </p:nvSpPr>
        <p:spPr>
          <a:xfrm>
            <a:off x="8939013" y="1874520"/>
            <a:ext cx="242972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المعيار</a:t>
            </a:r>
            <a:endParaRPr lang="ar-SA" sz="1900" dirty="0"/>
          </a:p>
        </p:txBody>
      </p:sp>
      <p:sp>
        <p:nvSpPr>
          <p:cNvPr id="7" name="Shape 5"/>
          <p:cNvSpPr/>
          <p:nvPr/>
        </p:nvSpPr>
        <p:spPr>
          <a:xfrm>
            <a:off x="5184702" y="1874520"/>
            <a:ext cx="3644583" cy="548640"/>
          </a:xfrm>
          <a:prstGeom prst="roundRect">
            <a:avLst>
              <a:gd name="adj" fmla="val 20000"/>
            </a:avLst>
          </a:prstGeom>
          <a:solidFill>
            <a:srgbClr val="101B45"/>
          </a:solidFill>
          <a:ln/>
        </p:spPr>
      </p:sp>
      <p:sp>
        <p:nvSpPr>
          <p:cNvPr id="8" name="Text 6"/>
          <p:cNvSpPr/>
          <p:nvPr/>
        </p:nvSpPr>
        <p:spPr>
          <a:xfrm>
            <a:off x="5184702" y="1874520"/>
            <a:ext cx="3644583"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يحتاج دعمًا</a:t>
            </a:r>
            <a:endParaRPr lang="ar-SA" sz="1900" dirty="0"/>
          </a:p>
        </p:txBody>
      </p:sp>
      <p:sp>
        <p:nvSpPr>
          <p:cNvPr id="9" name="Shape 7"/>
          <p:cNvSpPr/>
          <p:nvPr/>
        </p:nvSpPr>
        <p:spPr>
          <a:xfrm>
            <a:off x="822960" y="1874520"/>
            <a:ext cx="4252014" cy="548640"/>
          </a:xfrm>
          <a:prstGeom prst="roundRect">
            <a:avLst>
              <a:gd name="adj" fmla="val 20000"/>
            </a:avLst>
          </a:prstGeom>
          <a:solidFill>
            <a:srgbClr val="101B45"/>
          </a:solidFill>
          <a:ln/>
        </p:spPr>
      </p:sp>
      <p:sp>
        <p:nvSpPr>
          <p:cNvPr id="10" name="Text 8"/>
          <p:cNvSpPr/>
          <p:nvPr/>
        </p:nvSpPr>
        <p:spPr>
          <a:xfrm>
            <a:off x="822960" y="1874520"/>
            <a:ext cx="425201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متميز</a:t>
            </a:r>
            <a:endParaRPr lang="ar-SA" sz="1900" dirty="0"/>
          </a:p>
        </p:txBody>
      </p:sp>
      <p:sp>
        <p:nvSpPr>
          <p:cNvPr id="11" name="anim-g1-1006"/>
          <p:cNvSpPr/>
          <p:nvPr/>
        </p:nvSpPr>
        <p:spPr>
          <a:xfrm>
            <a:off x="8939013" y="2514600"/>
            <a:ext cx="2429722" cy="797814"/>
          </a:xfrm>
          <a:prstGeom prst="roundRect">
            <a:avLst>
              <a:gd name="adj" fmla="val 13754"/>
            </a:avLst>
          </a:prstGeom>
          <a:solidFill>
            <a:srgbClr val="FBF3DF"/>
          </a:solidFill>
          <a:ln w="12700">
            <a:solidFill>
              <a:srgbClr val="EFDDAF"/>
            </a:solidFill>
            <a:prstDash val="solid"/>
          </a:ln>
        </p:spPr>
      </p:sp>
      <p:sp>
        <p:nvSpPr>
          <p:cNvPr id="12" name="anim-g1-1007"/>
          <p:cNvSpPr/>
          <p:nvPr/>
        </p:nvSpPr>
        <p:spPr>
          <a:xfrm>
            <a:off x="9076173" y="2514600"/>
            <a:ext cx="21554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الدائرة</a:t>
            </a:r>
            <a:endParaRPr lang="ar-SA" sz="2100" dirty="0"/>
          </a:p>
        </p:txBody>
      </p:sp>
      <p:sp>
        <p:nvSpPr>
          <p:cNvPr id="13" name="anim-g1-1008"/>
          <p:cNvSpPr/>
          <p:nvPr/>
        </p:nvSpPr>
        <p:spPr>
          <a:xfrm>
            <a:off x="5184702" y="2514600"/>
            <a:ext cx="3644583" cy="797814"/>
          </a:xfrm>
          <a:prstGeom prst="roundRect">
            <a:avLst>
              <a:gd name="adj" fmla="val 13754"/>
            </a:avLst>
          </a:prstGeom>
          <a:solidFill>
            <a:srgbClr val="FFFFFF"/>
          </a:solidFill>
          <a:ln w="12700">
            <a:solidFill>
              <a:srgbClr val="E4DCC8"/>
            </a:solidFill>
            <a:prstDash val="solid"/>
          </a:ln>
        </p:spPr>
      </p:sp>
      <p:sp>
        <p:nvSpPr>
          <p:cNvPr id="14" name="anim-g1-1009"/>
          <p:cNvSpPr/>
          <p:nvPr/>
        </p:nvSpPr>
        <p:spPr>
          <a:xfrm>
            <a:off x="5321862" y="2514600"/>
            <a:ext cx="337026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تعمل بمساعدة</a:t>
            </a:r>
            <a:endParaRPr lang="ar-SA" sz="2100" dirty="0"/>
          </a:p>
        </p:txBody>
      </p:sp>
      <p:sp>
        <p:nvSpPr>
          <p:cNvPr id="15" name="anim-g1-1010"/>
          <p:cNvSpPr/>
          <p:nvPr/>
        </p:nvSpPr>
        <p:spPr>
          <a:xfrm>
            <a:off x="822960" y="2514600"/>
            <a:ext cx="4252014" cy="797814"/>
          </a:xfrm>
          <a:prstGeom prst="roundRect">
            <a:avLst>
              <a:gd name="adj" fmla="val 13754"/>
            </a:avLst>
          </a:prstGeom>
          <a:solidFill>
            <a:srgbClr val="E6F4EC"/>
          </a:solidFill>
          <a:ln w="12700">
            <a:solidFill>
              <a:srgbClr val="CDE9D9"/>
            </a:solidFill>
            <a:prstDash val="solid"/>
          </a:ln>
        </p:spPr>
      </p:sp>
      <p:sp>
        <p:nvSpPr>
          <p:cNvPr id="16" name="anim-g1-1011"/>
          <p:cNvSpPr/>
          <p:nvPr/>
        </p:nvSpPr>
        <p:spPr>
          <a:xfrm>
            <a:off x="960120" y="2514600"/>
            <a:ext cx="3977694"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مرتبة، وآمنة، والجهد العالي معزول</a:t>
            </a:r>
            <a:endParaRPr lang="ar-SA" sz="2100" dirty="0"/>
          </a:p>
        </p:txBody>
      </p:sp>
      <p:sp>
        <p:nvSpPr>
          <p:cNvPr id="17" name="anim-g2-1012"/>
          <p:cNvSpPr/>
          <p:nvPr/>
        </p:nvSpPr>
        <p:spPr>
          <a:xfrm>
            <a:off x="8939013" y="3422142"/>
            <a:ext cx="2429722" cy="797814"/>
          </a:xfrm>
          <a:prstGeom prst="roundRect">
            <a:avLst>
              <a:gd name="adj" fmla="val 13754"/>
            </a:avLst>
          </a:prstGeom>
          <a:solidFill>
            <a:srgbClr val="FBF3DF"/>
          </a:solidFill>
          <a:ln w="12700">
            <a:solidFill>
              <a:srgbClr val="EFDDAF"/>
            </a:solidFill>
            <a:prstDash val="solid"/>
          </a:ln>
        </p:spPr>
      </p:sp>
      <p:sp>
        <p:nvSpPr>
          <p:cNvPr id="18" name="anim-g2-1013"/>
          <p:cNvSpPr/>
          <p:nvPr/>
        </p:nvSpPr>
        <p:spPr>
          <a:xfrm>
            <a:off x="9076173" y="3422142"/>
            <a:ext cx="21554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الكود</a:t>
            </a:r>
            <a:endParaRPr lang="ar-SA" sz="2100" dirty="0"/>
          </a:p>
        </p:txBody>
      </p:sp>
      <p:sp>
        <p:nvSpPr>
          <p:cNvPr id="19" name="anim-g2-1014"/>
          <p:cNvSpPr/>
          <p:nvPr/>
        </p:nvSpPr>
        <p:spPr>
          <a:xfrm>
            <a:off x="5184702" y="3422142"/>
            <a:ext cx="3644583" cy="797814"/>
          </a:xfrm>
          <a:prstGeom prst="roundRect">
            <a:avLst>
              <a:gd name="adj" fmla="val 13754"/>
            </a:avLst>
          </a:prstGeom>
          <a:solidFill>
            <a:srgbClr val="FFFFFF"/>
          </a:solidFill>
          <a:ln w="12700">
            <a:solidFill>
              <a:srgbClr val="E4DCC8"/>
            </a:solidFill>
            <a:prstDash val="solid"/>
          </a:ln>
        </p:spPr>
      </p:sp>
      <p:sp>
        <p:nvSpPr>
          <p:cNvPr id="20" name="anim-g2-1015"/>
          <p:cNvSpPr/>
          <p:nvPr/>
        </p:nvSpPr>
        <p:spPr>
          <a:xfrm>
            <a:off x="5321862" y="3422142"/>
            <a:ext cx="337026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delay كثير وأرقام بلا تفسير</a:t>
            </a:r>
            <a:endParaRPr lang="ar-SA" sz="2100" dirty="0"/>
          </a:p>
        </p:txBody>
      </p:sp>
      <p:sp>
        <p:nvSpPr>
          <p:cNvPr id="21" name="anim-g2-1016"/>
          <p:cNvSpPr/>
          <p:nvPr/>
        </p:nvSpPr>
        <p:spPr>
          <a:xfrm>
            <a:off x="822960" y="3422142"/>
            <a:ext cx="4252014" cy="797814"/>
          </a:xfrm>
          <a:prstGeom prst="roundRect">
            <a:avLst>
              <a:gd name="adj" fmla="val 13754"/>
            </a:avLst>
          </a:prstGeom>
          <a:solidFill>
            <a:srgbClr val="E6F4EC"/>
          </a:solidFill>
          <a:ln w="12700">
            <a:solidFill>
              <a:srgbClr val="CDE9D9"/>
            </a:solidFill>
            <a:prstDash val="solid"/>
          </a:ln>
        </p:spPr>
      </p:sp>
      <p:sp>
        <p:nvSpPr>
          <p:cNvPr id="22" name="anim-g2-1017"/>
          <p:cNvSpPr/>
          <p:nvPr/>
        </p:nvSpPr>
        <p:spPr>
          <a:xfrm>
            <a:off x="960120" y="3422142"/>
            <a:ext cx="3977694"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millis وتخلّف وأوضاع ودوال واضحة</a:t>
            </a:r>
            <a:endParaRPr lang="ar-SA" sz="2100" dirty="0"/>
          </a:p>
        </p:txBody>
      </p:sp>
      <p:sp>
        <p:nvSpPr>
          <p:cNvPr id="23" name="anim-g3-1018"/>
          <p:cNvSpPr/>
          <p:nvPr/>
        </p:nvSpPr>
        <p:spPr>
          <a:xfrm>
            <a:off x="8939013" y="4329684"/>
            <a:ext cx="2429722" cy="797814"/>
          </a:xfrm>
          <a:prstGeom prst="roundRect">
            <a:avLst>
              <a:gd name="adj" fmla="val 13754"/>
            </a:avLst>
          </a:prstGeom>
          <a:solidFill>
            <a:srgbClr val="FBF3DF"/>
          </a:solidFill>
          <a:ln w="12700">
            <a:solidFill>
              <a:srgbClr val="EFDDAF"/>
            </a:solidFill>
            <a:prstDash val="solid"/>
          </a:ln>
        </p:spPr>
      </p:sp>
      <p:sp>
        <p:nvSpPr>
          <p:cNvPr id="24" name="anim-g3-1019"/>
          <p:cNvSpPr/>
          <p:nvPr/>
        </p:nvSpPr>
        <p:spPr>
          <a:xfrm>
            <a:off x="9076173" y="4329684"/>
            <a:ext cx="21554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الاختبار</a:t>
            </a:r>
            <a:endParaRPr lang="ar-SA" sz="2100" dirty="0"/>
          </a:p>
        </p:txBody>
      </p:sp>
      <p:sp>
        <p:nvSpPr>
          <p:cNvPr id="25" name="anim-g3-1020"/>
          <p:cNvSpPr/>
          <p:nvPr/>
        </p:nvSpPr>
        <p:spPr>
          <a:xfrm>
            <a:off x="5184702" y="4329684"/>
            <a:ext cx="3644583" cy="797814"/>
          </a:xfrm>
          <a:prstGeom prst="roundRect">
            <a:avLst>
              <a:gd name="adj" fmla="val 13754"/>
            </a:avLst>
          </a:prstGeom>
          <a:solidFill>
            <a:srgbClr val="FFFFFF"/>
          </a:solidFill>
          <a:ln w="12700">
            <a:solidFill>
              <a:srgbClr val="E4DCC8"/>
            </a:solidFill>
            <a:prstDash val="solid"/>
          </a:ln>
        </p:spPr>
      </p:sp>
      <p:sp>
        <p:nvSpPr>
          <p:cNvPr id="26" name="anim-g3-1021"/>
          <p:cNvSpPr/>
          <p:nvPr/>
        </p:nvSpPr>
        <p:spPr>
          <a:xfrm>
            <a:off x="5321862" y="4329684"/>
            <a:ext cx="337026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يعمل أحيانًا</a:t>
            </a:r>
            <a:endParaRPr lang="ar-SA" sz="2100" dirty="0"/>
          </a:p>
        </p:txBody>
      </p:sp>
      <p:sp>
        <p:nvSpPr>
          <p:cNvPr id="27" name="anim-g3-1022"/>
          <p:cNvSpPr/>
          <p:nvPr/>
        </p:nvSpPr>
        <p:spPr>
          <a:xfrm>
            <a:off x="822960" y="4329684"/>
            <a:ext cx="4252014" cy="797814"/>
          </a:xfrm>
          <a:prstGeom prst="roundRect">
            <a:avLst>
              <a:gd name="adj" fmla="val 13754"/>
            </a:avLst>
          </a:prstGeom>
          <a:solidFill>
            <a:srgbClr val="E6F4EC"/>
          </a:solidFill>
          <a:ln w="12700">
            <a:solidFill>
              <a:srgbClr val="CDE9D9"/>
            </a:solidFill>
            <a:prstDash val="solid"/>
          </a:ln>
        </p:spPr>
      </p:sp>
      <p:sp>
        <p:nvSpPr>
          <p:cNvPr id="28" name="anim-g3-1023"/>
          <p:cNvSpPr/>
          <p:nvPr/>
        </p:nvSpPr>
        <p:spPr>
          <a:xfrm>
            <a:off x="960120" y="4329684"/>
            <a:ext cx="3977694"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قائمة فحص وتجارب مسجلة</a:t>
            </a:r>
            <a:endParaRPr lang="ar-SA" sz="2100" dirty="0"/>
          </a:p>
        </p:txBody>
      </p:sp>
      <p:sp>
        <p:nvSpPr>
          <p:cNvPr id="29" name="anim-g4-1024"/>
          <p:cNvSpPr/>
          <p:nvPr/>
        </p:nvSpPr>
        <p:spPr>
          <a:xfrm>
            <a:off x="8939013" y="5237226"/>
            <a:ext cx="2429722" cy="797814"/>
          </a:xfrm>
          <a:prstGeom prst="roundRect">
            <a:avLst>
              <a:gd name="adj" fmla="val 13754"/>
            </a:avLst>
          </a:prstGeom>
          <a:solidFill>
            <a:srgbClr val="FBF3DF"/>
          </a:solidFill>
          <a:ln w="12700">
            <a:solidFill>
              <a:srgbClr val="EFDDAF"/>
            </a:solidFill>
            <a:prstDash val="solid"/>
          </a:ln>
        </p:spPr>
      </p:sp>
      <p:sp>
        <p:nvSpPr>
          <p:cNvPr id="30" name="anim-g4-1025"/>
          <p:cNvSpPr/>
          <p:nvPr/>
        </p:nvSpPr>
        <p:spPr>
          <a:xfrm>
            <a:off x="9076173" y="5237226"/>
            <a:ext cx="21554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العرض</a:t>
            </a:r>
            <a:endParaRPr lang="ar-SA" sz="2100" dirty="0"/>
          </a:p>
        </p:txBody>
      </p:sp>
      <p:sp>
        <p:nvSpPr>
          <p:cNvPr id="31" name="anim-g4-1026"/>
          <p:cNvSpPr/>
          <p:nvPr/>
        </p:nvSpPr>
        <p:spPr>
          <a:xfrm>
            <a:off x="5184702" y="5237226"/>
            <a:ext cx="3644583" cy="797814"/>
          </a:xfrm>
          <a:prstGeom prst="roundRect">
            <a:avLst>
              <a:gd name="adj" fmla="val 13754"/>
            </a:avLst>
          </a:prstGeom>
          <a:solidFill>
            <a:srgbClr val="FFFFFF"/>
          </a:solidFill>
          <a:ln w="12700">
            <a:solidFill>
              <a:srgbClr val="E4DCC8"/>
            </a:solidFill>
            <a:prstDash val="solid"/>
          </a:ln>
        </p:spPr>
      </p:sp>
      <p:sp>
        <p:nvSpPr>
          <p:cNvPr id="32" name="anim-g4-1027"/>
          <p:cNvSpPr/>
          <p:nvPr/>
        </p:nvSpPr>
        <p:spPr>
          <a:xfrm>
            <a:off x="5321862" y="5237226"/>
            <a:ext cx="337026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يقرأ من الورقة</a:t>
            </a:r>
            <a:endParaRPr lang="ar-SA" sz="2100" dirty="0"/>
          </a:p>
        </p:txBody>
      </p:sp>
      <p:sp>
        <p:nvSpPr>
          <p:cNvPr id="33" name="anim-g4-1028"/>
          <p:cNvSpPr/>
          <p:nvPr/>
        </p:nvSpPr>
        <p:spPr>
          <a:xfrm>
            <a:off x="822960" y="5237226"/>
            <a:ext cx="4252014" cy="797814"/>
          </a:xfrm>
          <a:prstGeom prst="roundRect">
            <a:avLst>
              <a:gd name="adj" fmla="val 13754"/>
            </a:avLst>
          </a:prstGeom>
          <a:solidFill>
            <a:srgbClr val="E6F4EC"/>
          </a:solidFill>
          <a:ln w="12700">
            <a:solidFill>
              <a:srgbClr val="CDE9D9"/>
            </a:solidFill>
            <a:prstDash val="solid"/>
          </a:ln>
        </p:spPr>
      </p:sp>
      <p:sp>
        <p:nvSpPr>
          <p:cNvPr id="34" name="anim-g4-1029"/>
          <p:cNvSpPr/>
          <p:nvPr/>
        </p:nvSpPr>
        <p:spPr>
          <a:xfrm>
            <a:off x="960120" y="5237226"/>
            <a:ext cx="3977694"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يشرح المشكلة والحل والأثر بالأرقام</a:t>
            </a:r>
            <a:endParaRPr lang="ar-SA" sz="21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الختام  ·  ١٥٥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56.xml><?xml version="1.0" encoding="utf-8"?>
<p:sld xmlns:a="http://schemas.openxmlformats.org/drawingml/2006/main" xmlns:r="http://schemas.openxmlformats.org/officeDocument/2006/relationships" xmlns:p="http://schemas.openxmlformats.org/presentationml/2006/main">
  <p:cSld name="Slide 1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خارطة الطريق</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درّس الدورة في عشرة أسابيع</a:t>
            </a:r>
            <a:endParaRPr lang="ar-SA" sz="3800" dirty="0"/>
          </a:p>
        </p:txBody>
      </p:sp>
      <p:sp>
        <p:nvSpPr>
          <p:cNvPr id="5" name="anim-g1-1030"/>
          <p:cNvSpPr/>
          <p:nvPr/>
        </p:nvSpPr>
        <p:spPr>
          <a:xfrm>
            <a:off x="822960" y="1920240"/>
            <a:ext cx="10545775" cy="594360"/>
          </a:xfrm>
          <a:prstGeom prst="roundRect">
            <a:avLst>
              <a:gd name="adj" fmla="val 24615"/>
            </a:avLst>
          </a:prstGeom>
          <a:solidFill>
            <a:srgbClr val="FFFFFF"/>
          </a:solidFill>
          <a:ln w="12700">
            <a:solidFill>
              <a:srgbClr val="E4DCC8"/>
            </a:solidFill>
            <a:prstDash val="solid"/>
          </a:ln>
        </p:spPr>
      </p:sp>
      <p:sp>
        <p:nvSpPr>
          <p:cNvPr id="6" name="anim-g1-1031"/>
          <p:cNvSpPr/>
          <p:nvPr/>
        </p:nvSpPr>
        <p:spPr>
          <a:xfrm>
            <a:off x="10728655" y="2011680"/>
            <a:ext cx="411480" cy="411480"/>
          </a:xfrm>
          <a:prstGeom prst="ellipse">
            <a:avLst/>
          </a:prstGeom>
          <a:solidFill>
            <a:srgbClr val="D9AE4B"/>
          </a:solidFill>
          <a:ln/>
        </p:spPr>
      </p:sp>
      <p:sp>
        <p:nvSpPr>
          <p:cNvPr id="7" name="anim-g1-1032"/>
          <p:cNvSpPr/>
          <p:nvPr/>
        </p:nvSpPr>
        <p:spPr>
          <a:xfrm>
            <a:off x="10728655" y="2011680"/>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033"/>
          <p:cNvSpPr/>
          <p:nvPr/>
        </p:nvSpPr>
        <p:spPr>
          <a:xfrm>
            <a:off x="1097280" y="1920240"/>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١: الأدوات</a:t>
            </a:r>
            <a:pPr algn="r" indent="0" marL="0">
              <a:buNone/>
            </a:pPr>
            <a:r>
              <a:rPr lang="ar-SA" altLang="en-US" sz="1800" b="1" dirty="0">
                <a:solidFill>
                  <a:srgbClr val="3B4460"/>
                </a:solidFill>
                <a:latin typeface="Cairo" pitchFamily="34" charset="0"/>
                <a:ea typeface="Cairo" pitchFamily="34" charset="-122"/>
                <a:cs typeface="Cairo" pitchFamily="34" charset="-120"/>
              </a:rPr>
              <a:t>   — الريليه والشاشة</a:t>
            </a:r>
            <a:endParaRPr lang="ar-SA" sz="2200" dirty="0"/>
          </a:p>
        </p:txBody>
      </p:sp>
      <p:sp>
        <p:nvSpPr>
          <p:cNvPr id="9" name="anim-g2-1034"/>
          <p:cNvSpPr/>
          <p:nvPr/>
        </p:nvSpPr>
        <p:spPr>
          <a:xfrm>
            <a:off x="822960" y="2624328"/>
            <a:ext cx="10545775" cy="594360"/>
          </a:xfrm>
          <a:prstGeom prst="roundRect">
            <a:avLst>
              <a:gd name="adj" fmla="val 24615"/>
            </a:avLst>
          </a:prstGeom>
          <a:solidFill>
            <a:srgbClr val="FFFFFF"/>
          </a:solidFill>
          <a:ln w="12700">
            <a:solidFill>
              <a:srgbClr val="E4DCC8"/>
            </a:solidFill>
            <a:prstDash val="solid"/>
          </a:ln>
        </p:spPr>
      </p:sp>
      <p:sp>
        <p:nvSpPr>
          <p:cNvPr id="10" name="anim-g2-1035"/>
          <p:cNvSpPr/>
          <p:nvPr/>
        </p:nvSpPr>
        <p:spPr>
          <a:xfrm>
            <a:off x="10728655" y="2715768"/>
            <a:ext cx="411480" cy="411480"/>
          </a:xfrm>
          <a:prstGeom prst="ellipse">
            <a:avLst/>
          </a:prstGeom>
          <a:solidFill>
            <a:srgbClr val="D9AE4B"/>
          </a:solidFill>
          <a:ln/>
        </p:spPr>
      </p:sp>
      <p:sp>
        <p:nvSpPr>
          <p:cNvPr id="11" name="anim-g2-1036"/>
          <p:cNvSpPr/>
          <p:nvPr/>
        </p:nvSpPr>
        <p:spPr>
          <a:xfrm>
            <a:off x="10728655" y="2715768"/>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037"/>
          <p:cNvSpPr/>
          <p:nvPr/>
        </p:nvSpPr>
        <p:spPr>
          <a:xfrm>
            <a:off x="1097280" y="2624328"/>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الأسابيع ٢–٤: المزرعة</a:t>
            </a:r>
            <a:pPr algn="r" indent="0" marL="0">
              <a:buNone/>
            </a:pPr>
            <a:r>
              <a:rPr lang="ar-SA" altLang="en-US" sz="1800" b="1" dirty="0">
                <a:solidFill>
                  <a:srgbClr val="3B4460"/>
                </a:solidFill>
                <a:latin typeface="Cairo" pitchFamily="34" charset="0"/>
                <a:ea typeface="Cairo" pitchFamily="34" charset="-122"/>
                <a:cs typeface="Cairo" pitchFamily="34" charset="-120"/>
              </a:rPr>
              <a:t>   — الري والبيت المحمي والخزان، ثم الدمج</a:t>
            </a:r>
            <a:endParaRPr lang="ar-SA" sz="2200" dirty="0"/>
          </a:p>
        </p:txBody>
      </p:sp>
      <p:sp>
        <p:nvSpPr>
          <p:cNvPr id="13" name="anim-g3-1038"/>
          <p:cNvSpPr/>
          <p:nvPr/>
        </p:nvSpPr>
        <p:spPr>
          <a:xfrm>
            <a:off x="822960" y="3328416"/>
            <a:ext cx="10545775" cy="594360"/>
          </a:xfrm>
          <a:prstGeom prst="roundRect">
            <a:avLst>
              <a:gd name="adj" fmla="val 24615"/>
            </a:avLst>
          </a:prstGeom>
          <a:solidFill>
            <a:srgbClr val="FFFFFF"/>
          </a:solidFill>
          <a:ln w="12700">
            <a:solidFill>
              <a:srgbClr val="E4DCC8"/>
            </a:solidFill>
            <a:prstDash val="solid"/>
          </a:ln>
        </p:spPr>
      </p:sp>
      <p:sp>
        <p:nvSpPr>
          <p:cNvPr id="14" name="anim-g3-1039"/>
          <p:cNvSpPr/>
          <p:nvPr/>
        </p:nvSpPr>
        <p:spPr>
          <a:xfrm>
            <a:off x="10728655" y="3419856"/>
            <a:ext cx="411480" cy="411480"/>
          </a:xfrm>
          <a:prstGeom prst="ellipse">
            <a:avLst/>
          </a:prstGeom>
          <a:solidFill>
            <a:srgbClr val="D9AE4B"/>
          </a:solidFill>
          <a:ln/>
        </p:spPr>
      </p:sp>
      <p:sp>
        <p:nvSpPr>
          <p:cNvPr id="15" name="anim-g3-1040"/>
          <p:cNvSpPr/>
          <p:nvPr/>
        </p:nvSpPr>
        <p:spPr>
          <a:xfrm>
            <a:off x="10728655" y="3419856"/>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041"/>
          <p:cNvSpPr/>
          <p:nvPr/>
        </p:nvSpPr>
        <p:spPr>
          <a:xfrm>
            <a:off x="1097280" y="3328416"/>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الأسابيع ٥–٧: المنزل</a:t>
            </a:r>
            <a:pPr algn="r" indent="0" marL="0">
              <a:buNone/>
            </a:pPr>
            <a:r>
              <a:rPr lang="ar-SA" altLang="en-US" sz="1800" b="1" dirty="0">
                <a:solidFill>
                  <a:srgbClr val="3B4460"/>
                </a:solidFill>
                <a:latin typeface="Cairo" pitchFamily="34" charset="0"/>
                <a:ea typeface="Cairo" pitchFamily="34" charset="-122"/>
                <a:cs typeface="Cairo" pitchFamily="34" charset="-120"/>
              </a:rPr>
              <a:t>   — الضوء والباب والأمان والطاقة والأوضاع</a:t>
            </a:r>
            <a:endParaRPr lang="ar-SA" sz="2200" dirty="0"/>
          </a:p>
        </p:txBody>
      </p:sp>
      <p:sp>
        <p:nvSpPr>
          <p:cNvPr id="17" name="anim-g4-1042"/>
          <p:cNvSpPr/>
          <p:nvPr/>
        </p:nvSpPr>
        <p:spPr>
          <a:xfrm>
            <a:off x="822960" y="4032504"/>
            <a:ext cx="10545775" cy="594360"/>
          </a:xfrm>
          <a:prstGeom prst="roundRect">
            <a:avLst>
              <a:gd name="adj" fmla="val 24615"/>
            </a:avLst>
          </a:prstGeom>
          <a:solidFill>
            <a:srgbClr val="FFFFFF"/>
          </a:solidFill>
          <a:ln w="12700">
            <a:solidFill>
              <a:srgbClr val="E4DCC8"/>
            </a:solidFill>
            <a:prstDash val="solid"/>
          </a:ln>
        </p:spPr>
      </p:sp>
      <p:sp>
        <p:nvSpPr>
          <p:cNvPr id="18" name="anim-g4-1043"/>
          <p:cNvSpPr/>
          <p:nvPr/>
        </p:nvSpPr>
        <p:spPr>
          <a:xfrm>
            <a:off x="10728655" y="4123944"/>
            <a:ext cx="411480" cy="411480"/>
          </a:xfrm>
          <a:prstGeom prst="ellipse">
            <a:avLst/>
          </a:prstGeom>
          <a:solidFill>
            <a:srgbClr val="D9AE4B"/>
          </a:solidFill>
          <a:ln/>
        </p:spPr>
      </p:sp>
      <p:sp>
        <p:nvSpPr>
          <p:cNvPr id="19" name="anim-g4-1044"/>
          <p:cNvSpPr/>
          <p:nvPr/>
        </p:nvSpPr>
        <p:spPr>
          <a:xfrm>
            <a:off x="10728655" y="4123944"/>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045"/>
          <p:cNvSpPr/>
          <p:nvPr/>
        </p:nvSpPr>
        <p:spPr>
          <a:xfrm>
            <a:off x="1097280" y="4032504"/>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٨: الجراج</a:t>
            </a:r>
            <a:pPr algn="r" indent="0" marL="0">
              <a:buNone/>
            </a:pPr>
            <a:r>
              <a:rPr lang="ar-SA" altLang="en-US" sz="1800" b="1" dirty="0">
                <a:solidFill>
                  <a:srgbClr val="3B4460"/>
                </a:solidFill>
                <a:latin typeface="Cairo" pitchFamily="34" charset="0"/>
                <a:ea typeface="Cairo" pitchFamily="34" charset="-122"/>
                <a:cs typeface="Cairo" pitchFamily="34" charset="-120"/>
              </a:rPr>
              <a:t>   — مشروع كامل</a:t>
            </a:r>
            <a:endParaRPr lang="ar-SA" sz="2200" dirty="0"/>
          </a:p>
        </p:txBody>
      </p:sp>
      <p:sp>
        <p:nvSpPr>
          <p:cNvPr id="21" name="anim-g5-1046"/>
          <p:cNvSpPr/>
          <p:nvPr/>
        </p:nvSpPr>
        <p:spPr>
          <a:xfrm>
            <a:off x="822960" y="4736592"/>
            <a:ext cx="10545775" cy="594360"/>
          </a:xfrm>
          <a:prstGeom prst="roundRect">
            <a:avLst>
              <a:gd name="adj" fmla="val 24615"/>
            </a:avLst>
          </a:prstGeom>
          <a:solidFill>
            <a:srgbClr val="FFFFFF"/>
          </a:solidFill>
          <a:ln w="12700">
            <a:solidFill>
              <a:srgbClr val="E4DCC8"/>
            </a:solidFill>
            <a:prstDash val="solid"/>
          </a:ln>
        </p:spPr>
      </p:sp>
      <p:sp>
        <p:nvSpPr>
          <p:cNvPr id="22" name="anim-g5-1047"/>
          <p:cNvSpPr/>
          <p:nvPr/>
        </p:nvSpPr>
        <p:spPr>
          <a:xfrm>
            <a:off x="10728655" y="4828032"/>
            <a:ext cx="411480" cy="411480"/>
          </a:xfrm>
          <a:prstGeom prst="ellipse">
            <a:avLst/>
          </a:prstGeom>
          <a:solidFill>
            <a:srgbClr val="D9AE4B"/>
          </a:solidFill>
          <a:ln/>
        </p:spPr>
      </p:sp>
      <p:sp>
        <p:nvSpPr>
          <p:cNvPr id="23" name="anim-g5-1048"/>
          <p:cNvSpPr/>
          <p:nvPr/>
        </p:nvSpPr>
        <p:spPr>
          <a:xfrm>
            <a:off x="10728655" y="4828032"/>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1049"/>
          <p:cNvSpPr/>
          <p:nvPr/>
        </p:nvSpPr>
        <p:spPr>
          <a:xfrm>
            <a:off x="1097280" y="4736592"/>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٩: الإنترنت</a:t>
            </a:r>
            <a:pPr algn="r" indent="0" marL="0">
              <a:buNone/>
            </a:pPr>
            <a:r>
              <a:rPr lang="ar-SA" altLang="en-US" sz="1800" b="1" dirty="0">
                <a:solidFill>
                  <a:srgbClr val="3B4460"/>
                </a:solidFill>
                <a:latin typeface="Cairo" pitchFamily="34" charset="0"/>
                <a:ea typeface="Cairo" pitchFamily="34" charset="-122"/>
                <a:cs typeface="Cairo" pitchFamily="34" charset="-120"/>
              </a:rPr>
              <a:t>   — ESP32 والجوال</a:t>
            </a:r>
            <a:endParaRPr lang="ar-SA" sz="2200" dirty="0"/>
          </a:p>
        </p:txBody>
      </p:sp>
      <p:sp>
        <p:nvSpPr>
          <p:cNvPr id="25" name="anim-g6-1050"/>
          <p:cNvSpPr/>
          <p:nvPr/>
        </p:nvSpPr>
        <p:spPr>
          <a:xfrm>
            <a:off x="822960" y="5440680"/>
            <a:ext cx="10545775" cy="594360"/>
          </a:xfrm>
          <a:prstGeom prst="roundRect">
            <a:avLst>
              <a:gd name="adj" fmla="val 24615"/>
            </a:avLst>
          </a:prstGeom>
          <a:solidFill>
            <a:srgbClr val="FFFFFF"/>
          </a:solidFill>
          <a:ln w="12700">
            <a:solidFill>
              <a:srgbClr val="E4DCC8"/>
            </a:solidFill>
            <a:prstDash val="solid"/>
          </a:ln>
        </p:spPr>
      </p:sp>
      <p:sp>
        <p:nvSpPr>
          <p:cNvPr id="26" name="anim-g6-1051"/>
          <p:cNvSpPr/>
          <p:nvPr/>
        </p:nvSpPr>
        <p:spPr>
          <a:xfrm>
            <a:off x="10728655" y="5532120"/>
            <a:ext cx="411480" cy="411480"/>
          </a:xfrm>
          <a:prstGeom prst="ellipse">
            <a:avLst/>
          </a:prstGeom>
          <a:solidFill>
            <a:srgbClr val="D9AE4B"/>
          </a:solidFill>
          <a:ln/>
        </p:spPr>
      </p:sp>
      <p:sp>
        <p:nvSpPr>
          <p:cNvPr id="27" name="anim-g6-1052"/>
          <p:cNvSpPr/>
          <p:nvPr/>
        </p:nvSpPr>
        <p:spPr>
          <a:xfrm>
            <a:off x="10728655" y="5532120"/>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٦</a:t>
            </a:r>
            <a:endParaRPr lang="ar-SA" sz="2000" dirty="0"/>
          </a:p>
        </p:txBody>
      </p:sp>
      <p:sp>
        <p:nvSpPr>
          <p:cNvPr id="28" name="anim-g6-1053"/>
          <p:cNvSpPr/>
          <p:nvPr/>
        </p:nvSpPr>
        <p:spPr>
          <a:xfrm>
            <a:off x="1097280" y="5440680"/>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١٠: القرية الذكية</a:t>
            </a:r>
            <a:pPr algn="r" indent="0" marL="0">
              <a:buNone/>
            </a:pPr>
            <a:r>
              <a:rPr lang="ar-SA" altLang="en-US" sz="1800" b="1" dirty="0">
                <a:solidFill>
                  <a:srgbClr val="3B4460"/>
                </a:solidFill>
                <a:latin typeface="Cairo" pitchFamily="34" charset="0"/>
                <a:ea typeface="Cairo" pitchFamily="34" charset="-122"/>
                <a:cs typeface="Cairo" pitchFamily="34" charset="-120"/>
              </a:rPr>
              <a:t>   — المعرض الختامي</a:t>
            </a:r>
            <a:endParaRPr lang="ar-SA" sz="22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الختام  ·  ١٥٦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4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4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name="Slide 1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مصادر مجانية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رافقك بعد الدورة</a:t>
            </a:r>
            <a:endParaRPr lang="ar-SA" sz="3800" dirty="0"/>
          </a:p>
        </p:txBody>
      </p:sp>
      <p:sp>
        <p:nvSpPr>
          <p:cNvPr id="5" name="anim-g1-1054"/>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055"/>
          <p:cNvSpPr/>
          <p:nvPr/>
        </p:nvSpPr>
        <p:spPr>
          <a:xfrm>
            <a:off x="10527487" y="2267712"/>
            <a:ext cx="566928" cy="566928"/>
          </a:xfrm>
          <a:prstGeom prst="roundRect">
            <a:avLst>
              <a:gd name="adj" fmla="val 32258"/>
            </a:avLst>
          </a:prstGeom>
          <a:solidFill>
            <a:srgbClr val="F7E6BC"/>
          </a:solidFill>
          <a:ln/>
        </p:spPr>
      </p:sp>
      <p:sp>
        <p:nvSpPr>
          <p:cNvPr id="7" name="anim-g1-1056"/>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057"/>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Wokwi</a:t>
            </a:r>
            <a:endParaRPr lang="ar-SA" sz="2200" dirty="0"/>
          </a:p>
        </p:txBody>
      </p:sp>
      <p:sp>
        <p:nvSpPr>
          <p:cNvPr id="9" name="anim-g1-1058"/>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محاكي ESP32 وDHT22 والشاشة في المتصفح</a:t>
            </a:r>
            <a:endParaRPr lang="ar-SA" sz="1900" dirty="0"/>
          </a:p>
        </p:txBody>
      </p:sp>
      <p:sp>
        <p:nvSpPr>
          <p:cNvPr id="10" name="anim-g2-1059"/>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060"/>
          <p:cNvSpPr/>
          <p:nvPr/>
        </p:nvSpPr>
        <p:spPr>
          <a:xfrm>
            <a:off x="5117440" y="2267712"/>
            <a:ext cx="566928" cy="566928"/>
          </a:xfrm>
          <a:prstGeom prst="roundRect">
            <a:avLst>
              <a:gd name="adj" fmla="val 32258"/>
            </a:avLst>
          </a:prstGeom>
          <a:solidFill>
            <a:srgbClr val="F7E6BC"/>
          </a:solidFill>
          <a:ln/>
        </p:spPr>
      </p:sp>
      <p:sp>
        <p:nvSpPr>
          <p:cNvPr id="12" name="anim-g2-1061"/>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062"/>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Tinkercad</a:t>
            </a:r>
            <a:endParaRPr lang="ar-SA" sz="2200" dirty="0"/>
          </a:p>
        </p:txBody>
      </p:sp>
      <p:sp>
        <p:nvSpPr>
          <p:cNvPr id="14" name="anim-g2-1063"/>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الريليه والشاشة وحساسات كثيرة</a:t>
            </a:r>
            <a:endParaRPr lang="ar-SA" sz="1900" dirty="0"/>
          </a:p>
        </p:txBody>
      </p:sp>
      <p:sp>
        <p:nvSpPr>
          <p:cNvPr id="15" name="anim-g3-1064"/>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065"/>
          <p:cNvSpPr/>
          <p:nvPr/>
        </p:nvSpPr>
        <p:spPr>
          <a:xfrm>
            <a:off x="10527487" y="4393692"/>
            <a:ext cx="566928" cy="566928"/>
          </a:xfrm>
          <a:prstGeom prst="roundRect">
            <a:avLst>
              <a:gd name="adj" fmla="val 32258"/>
            </a:avLst>
          </a:prstGeom>
          <a:solidFill>
            <a:srgbClr val="F7E6BC"/>
          </a:solidFill>
          <a:ln/>
        </p:spPr>
      </p:sp>
      <p:sp>
        <p:nvSpPr>
          <p:cNvPr id="17" name="anim-g3-1066"/>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067"/>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docs.arduino.cc</a:t>
            </a:r>
            <a:endParaRPr lang="ar-SA" sz="2200" dirty="0"/>
          </a:p>
        </p:txBody>
      </p:sp>
      <p:sp>
        <p:nvSpPr>
          <p:cNvPr id="19" name="anim-g3-1068"/>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مراجع المكتبات بأمثلة</a:t>
            </a:r>
            <a:endParaRPr lang="ar-SA" sz="1900" dirty="0"/>
          </a:p>
        </p:txBody>
      </p:sp>
      <p:sp>
        <p:nvSpPr>
          <p:cNvPr id="20" name="anim-g4-1069"/>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070"/>
          <p:cNvSpPr/>
          <p:nvPr/>
        </p:nvSpPr>
        <p:spPr>
          <a:xfrm>
            <a:off x="5117440" y="4393692"/>
            <a:ext cx="566928" cy="566928"/>
          </a:xfrm>
          <a:prstGeom prst="roundRect">
            <a:avLst>
              <a:gd name="adj" fmla="val 32258"/>
            </a:avLst>
          </a:prstGeom>
          <a:solidFill>
            <a:srgbClr val="F7E6BC"/>
          </a:solidFill>
          <a:ln/>
        </p:spPr>
      </p:sp>
      <p:sp>
        <p:nvSpPr>
          <p:cNvPr id="22" name="anim-g4-1071"/>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072"/>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كتب أ. محمد زيتون</a:t>
            </a:r>
            <a:endParaRPr lang="ar-SA" sz="2200" dirty="0"/>
          </a:p>
        </p:txBody>
      </p:sp>
      <p:sp>
        <p:nvSpPr>
          <p:cNvPr id="24" name="anim-g4-1073"/>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«رحلة عبر الأردوينو» و«أردوينو بلا قيود»</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الختام  ·  ١٥٧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name="Slide 1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نشاط ختامي — ثلاث دقائق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مشروعي الأول مع طلابي</a:t>
            </a:r>
            <a:endParaRPr lang="ar-SA" sz="3800" dirty="0"/>
          </a:p>
        </p:txBody>
      </p:sp>
      <p:sp>
        <p:nvSpPr>
          <p:cNvPr id="5" name="anim-g1-1074"/>
          <p:cNvSpPr/>
          <p:nvPr/>
        </p:nvSpPr>
        <p:spPr>
          <a:xfrm>
            <a:off x="10637215" y="2286000"/>
            <a:ext cx="731520" cy="731520"/>
          </a:xfrm>
          <a:prstGeom prst="ellipse">
            <a:avLst/>
          </a:prstGeom>
          <a:solidFill>
            <a:srgbClr val="D9AE4B"/>
          </a:solidFill>
          <a:ln/>
        </p:spPr>
      </p:sp>
      <p:sp>
        <p:nvSpPr>
          <p:cNvPr id="6" name="anim-g1-1075"/>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1076"/>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أي مشكلة في مدرستك يمكن أن يحلها نظام ذكي من هذه الدورة؟</a:t>
            </a:r>
            <a:endParaRPr lang="ar-SA" sz="2200" dirty="0"/>
          </a:p>
        </p:txBody>
      </p:sp>
      <p:sp>
        <p:nvSpPr>
          <p:cNvPr id="8" name="anim-g2-1077"/>
          <p:cNvSpPr/>
          <p:nvPr/>
        </p:nvSpPr>
        <p:spPr>
          <a:xfrm>
            <a:off x="10637215" y="3383280"/>
            <a:ext cx="731520" cy="731520"/>
          </a:xfrm>
          <a:prstGeom prst="ellipse">
            <a:avLst/>
          </a:prstGeom>
          <a:solidFill>
            <a:srgbClr val="D9AE4B"/>
          </a:solidFill>
          <a:ln/>
        </p:spPr>
      </p:sp>
      <p:sp>
        <p:nvSpPr>
          <p:cNvPr id="9" name="anim-g2-1078"/>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1079"/>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أي محور ستبدأ به مع طلابك؟ ولماذا؟</a:t>
            </a:r>
            <a:endParaRPr lang="ar-SA" sz="2200" dirty="0"/>
          </a:p>
        </p:txBody>
      </p:sp>
      <p:sp>
        <p:nvSpPr>
          <p:cNvPr id="11" name="anim-g3-1080"/>
          <p:cNvSpPr/>
          <p:nvPr/>
        </p:nvSpPr>
        <p:spPr>
          <a:xfrm>
            <a:off x="10637215" y="4480560"/>
            <a:ext cx="731520" cy="731520"/>
          </a:xfrm>
          <a:prstGeom prst="ellipse">
            <a:avLst/>
          </a:prstGeom>
          <a:solidFill>
            <a:srgbClr val="D9AE4B"/>
          </a:solidFill>
          <a:ln/>
        </p:spPr>
      </p:sp>
      <p:sp>
        <p:nvSpPr>
          <p:cNvPr id="12" name="anim-g3-1081"/>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1082"/>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ما أول ما ستطلبه من الإدارة لتبدأ؟</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3:00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٣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الختام  ·  ١٥٨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name="Slide 1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رسالة الدورة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حين يرى طالبك نبتته تُسقى، وبابه يعرفه، وجراجه يرحّب بالزوار…</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يدرك أنه يستطيع أن يبني عالمًا أذكى</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المزرعة الذكية والمنزل الذكي</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الختام  ·  ١٥٩</a:t>
            </a:r>
            <a:endParaRPr lang="ar-SA" sz="12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شكرًا لكم</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ازرعوا… وابنوا… وعلّموا طلابكم أن يصنعوا الذكاء</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المزرعة الذكية والمنزل الذكي · إعداد وتقديم: أ. محمد زيتون</a:t>
            </a:r>
            <a:endParaRPr lang="ar-SA"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160</Slides>
  <Notes>160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160</vt:i4>
      </vt:variant>
    </vt:vector>
  </HeadingPairs>
  <TitlesOfParts>
    <vt:vector size="1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المزرعة الذكية والمنزل الذكي</dc:title>
  <dc:subject>PptxGenJS Presentation</dc:subject>
  <dc:creator>أ. محمد زيتون</dc:creator>
  <cp:lastModifiedBy>أ. محمد زيتون</cp:lastModifiedBy>
  <cp:revision>1</cp:revision>
  <dcterms:created xsi:type="dcterms:W3CDTF">2026-10-01T23:38:39Z</dcterms:created>
  <dcterms:modified xsi:type="dcterms:W3CDTF">2026-10-01T23:38:39Z</dcterms:modified>
</cp:coreProperties>
</file>