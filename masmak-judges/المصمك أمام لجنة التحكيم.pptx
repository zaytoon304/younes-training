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jpg" ContentType="image/jpg"/>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jpg" ContentType="image/jpg"/>
  <Override PartName="/ppt/media/image20.jpg" ContentType="image/jpg"/>
  <Override PartName="/ppt/media/image21.jpg" ContentType="image/jpg"/>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media/image27.jpg" ContentType="image/jpg"/>
  <Override PartName="/ppt/media/image28.jpg" ContentType="image/jpg"/>
  <Override PartName="/ppt/media/image29.jpg" ContentType="image/jpg"/>
  <Override PartName="/ppt/media/image3.jpg" ContentType="image/jpg"/>
  <Override PartName="/ppt/media/image30.jpg" ContentType="image/jpg"/>
  <Override PartName="/ppt/media/image31.jpg" ContentType="image/jpg"/>
  <Override PartName="/ppt/media/image32.jpg" ContentType="image/jpg"/>
  <Override PartName="/ppt/media/image33.jpg" ContentType="image/jpg"/>
  <Override PartName="/ppt/media/image34.jpg" ContentType="image/jpg"/>
  <Override PartName="/ppt/media/image35.jpg" ContentType="image/jpg"/>
  <Override PartName="/ppt/media/image36.jpg" ContentType="image/jpg"/>
  <Override PartName="/ppt/media/image37.jpg" ContentType="image/jpg"/>
  <Override PartName="/ppt/media/image38.jpg" ContentType="image/jpg"/>
  <Override PartName="/ppt/media/image39.jpg" ContentType="image/jpg"/>
  <Override PartName="/ppt/media/image40.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media/image47.jpg" ContentType="image/jpg"/>
  <Override PartName="/ppt/media/image48.jpg" ContentType="image/jpg"/>
  <Override PartName="/ppt/media/image49.jpg" ContentType="image/jpg"/>
  <Override PartName="/ppt/media/image50.jpg" ContentType="image/jpg"/>
  <Override PartName="/ppt/media/image51.jpg" ContentType="image/jpg"/>
  <Override PartName="/ppt/media/image52.jpg" ContentType="image/jpg"/>
  <Override PartName="/ppt/media/image53.jpg" ContentType="image/jpg"/>
  <Override PartName="/ppt/media/image54.jpg" ContentType="image/jpg"/>
  <Override PartName="/ppt/media/image55.jpg" ContentType="image/jpg"/>
  <Override PartName="/ppt/media/image56.jpg" ContentType="image/jpg"/>
  <Override PartName="/ppt/media/image57.jpg" ContentType="image/jpg"/>
  <Override PartName="/ppt/media/image58.jpg" ContentType="image/jpg"/>
  <Override PartName="/ppt/media/image59.jpg" ContentType="image/jpg"/>
  <Override PartName="/ppt/media/image60.jpg" ContentType="image/jpg"/>
  <Override PartName="/ppt/media/image61.jpg" ContentType="image/jpg"/>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jpg" ContentType="image/jpg"/>
  <Override PartName="/ppt/media/image70.jpg" ContentType="image/jpg"/>
  <Override PartName="/ppt/media/image71.jpg" ContentType="image/jpg"/>
  <Override PartName="/ppt/media/image72.jpg" ContentType="image/jpg"/>
  <Override PartName="/ppt/media/image73.jpg" ContentType="image/jpg"/>
  <Override PartName="/ppt/media/image74.jpg" ContentType="image/jpg"/>
  <Override PartName="/ppt/media/image75.jpg" ContentType="image/jpg"/>
  <Override PartName="/ppt/media/image76.jpg" ContentType="image/jpg"/>
  <Override PartName="/ppt/media/image77.jpg" ContentType="image/jpg"/>
  <Override PartName="/ppt/media/image79.jpg" ContentType="image/jpg"/>
  <Override PartName="/ppt/media/image8.jpg" ContentType="image/jpg"/>
  <Override PartName="/ppt/media/image80.jpg" ContentType="image/jpg"/>
  <Override PartName="/ppt/media/image81.jpg" ContentType="image/jpg"/>
  <Override PartName="/ppt/media/image82.jpg" ContentType="image/jpg"/>
  <Override PartName="/ppt/media/image83.jpg" ContentType="image/jpg"/>
  <Override PartName="/ppt/media/image84.jpg" ContentType="image/jpg"/>
  <Override PartName="/ppt/media/image85.jpg" ContentType="image/jpg"/>
  <Override PartName="/ppt/media/image86.jpg" ContentType="image/jpg"/>
  <Override PartName="/ppt/media/image88.jpg" ContentType="image/jpg"/>
  <Override PartName="/ppt/media/image89.jpg" ContentType="image/jpg"/>
  <Override PartName="/ppt/media/image9.jpg" ContentType="image/jpg"/>
  <Override PartName="/ppt/media/image90.jpg" ContentType="image/jpg"/>
  <Override PartName="/ppt/media/image91.jpg" ContentType="image/jpg"/>
  <Override PartName="/ppt/media/image92.jpg" ContentType="image/jpg"/>
  <Override PartName="/ppt/media/image93.jpg" ContentType="image/jpg"/>
  <Override PartName="/ppt/media/image94.jpg" ContentType="image/jpg"/>
  <Override PartName="/ppt/media/image95.jpg" ContentType="image/jpg"/>
  <Override PartName="/ppt/media/media2.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35"/>
  </p:notesMasterIdLst>
  <p:sldIdLst>
    <p:sldId id="256" r:id="rId2"/>
    <p:sldId id="289" r:id="rId40"/>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80691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«هذه الدورة ليست مثالًا من كتاب. إنها مشروع حقيقي بناه طلاب في المرحلة الابتدائية وشاركوا به في أولمبياد الروبوت العالمي WRO: لمسة تراث».</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تُعرض أولًا أمام المحكّمين وتعمل وحدها بصوت الراوي (في البوربوينت فيديو يبدأ تلقائيًا؛ وفي المنصة اضغط 🔊 الراوي). الفصل ٠: الزائر على كرسي LEGO، الكاميرا ترحّب به، عيناه تديران القصر يمينًا ويسارًا مع موجة الضوء، يثبّت نظره فتظهر لغة الإشارة والسرد الصوتي معًا، والرمشة والحارس يوقفان المنصة. ثم محطة الأمان: (١) لهب فقط: القائد يطفئ ويعود للخلف. (٢) غاز فقط: القائد يعطي الروبوت الثاني الإذن. (٣) لهب وغاز: القائد للهب والثاني للغاز + تيليجرام. (٤) النار أكبر: «نحتاج دعمًا»، ورجل الدفاع المدني يقود الروبوتين ٣ و٤ بيده حتى «المتحف آمن». اتركه يعمل كاملًا ثم ابدأ الشرح.
🎬 فيديو بصوت الراوي يبدأ وحده عند فتح الشريحة.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دون كلام: زائر على كرسي متحرك أمام كاميرا. ينظر بعينه يمينًا فيدور المجسّم وتجري موجة ذهبية حول المنصة. يثبّت نظره فيتوقف المجسّم، ويضيء لون الجهة، ويبدأ على الشاشة فيديو بلغة الإشارة مع شرح صوتي. ثم اسأل: «من يتحكم هنا؟» الجواب: عين الزائر فقط. وفي الزاوية: روبوت سلامة يحرس المعرض.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الفريق بالزيارات الميدانية والنقاش مع أشخاص من ذوي الإعاقة أن المواقع التراثية نادرًا ما تُصمم للجميع. والحاجة ليست ثلاثة حلول منفصلة، بل حل واحد ذكي.</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الحركية: لا أزرار تحتاج قوة أو دقة. السمعية: فيديو لغة الإشارة. البصرية: الشرح الصوتي. هذا التصميم الموحّد ما يميز المشروع عن الحلول التقليدية التي تعامل كل إعاقة وحدها.</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عقدة واقرأ دورها. ثم «شاهد نظرة واحدة»: ثماني خطوات من الكاميرا حتى فيديو لغة الإشارة. اسأل: «كم جهازًا شارك في نظرة واحدة؟» أربعة: الكاميرا والحاسوب، والراسبيري، وESP32، والدرايفر.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r يمين: ليد STEP يومض مع كل نبضة، وDIR مضاء، والمجسّم يدور وموجة ذهبية تجري حوله. اضغط s: ‏EN يصبح HIGH ويظهر اسم الجهة. غيّر wait: أكبر = أبطأ. ثم اختر «كاملة ×١» وقلّل wait تحت ٧٠٠: المحرك يفقد خطواته ويهتز. الخطوات الدقيقة تجعل الحركة ناعمة لعين تتابع.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الدالة turn تخطو خطوة واحدة فقط، وloop تستدعيها آلاف المرات. هكذا يبقى ESP32 حرًا ليقرأ الأوامر الجديدة بين كل خطوة وأخرى، وهذا مهم جدًا في المحور السادس.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جهة: المنصة تدور إليها ويتلون الشريط بلونها. ثم «موجة الدوران». ثم «مكافأة الاهتمام»: فكرة قيد التطوير عند الفريق، حين يطيل الزائر النظر إلى جهة. ارفع السطوع إلى ٢٥٥ وراقب التيار: هذا سبب «السطوع المضبوط أمانيًا» في تقرير الفريق.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يتغير شيء قبل show! هذا خطأ شائع: يكتب الطالب الألوان وينسى show فلا يرى شيئًا.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اختر جهة وراقب الشريطين: الصوت أطول من الفيديو! بلا تمديد: ينتهي الفيديو فتظهر شاشة سوداء والصوت مستمر، والزائر الأصم فقد المترجم. هذا ما حدث للفريق فعلًا: الفرق بين ثانيتين و١١ ثانية. اضغط «تمديد بآخر إطار»: الصورة تبقى حتى ينتهي الصوت. الحل بأمر ffmpeg واحد، مع الاحتفاظ بالنسخ الأصلية احتياطًا.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Popen لا تنتظر انتهاء البرنامج، فيعمل الفيديو والصوت معًا ويبقى بايثون حرًا لاستقبال أوامر العين.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مطولًا «انظر يمينًا»: رسائل r تطير كل ١٠٠ ملي ثانية. ارفع إصبعك: رسائل s. الآن ارفع الفقد إلى ٤٠٪ وأوقف الحارس وكرر: أحيانًا تضيع رسائل s فتستمر المنصة بالدوران! هذا ما اكتشفه الفريق من سجلات التشغيل: رسالة واحدة ضائعة سببت دورانًا أكبر بكثير من المطلوب. ثم شغّل الحارس: إن لم تصل رسالة لأكثر من ثانية توقفت المنصة بأمان. وأخيرًا «اقطع الشبكة» مع الحارس.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ينجح الحارس؟ لأن المرسل يكرر الأمر باستمرار. فالصمت الطويل لا يعني «استمر»، بل يعني «حدث خطأ». هذا مبدأ «الأمان عند العطل» Fail-safe في كل الأنظمة الحرجة: الطائرات والقطارات والمصاعد.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«معايرة» أولًا. ثم مرّر المؤشر يمينًا ويسارًا فوق الوجه: البؤبؤ يتحرك، والنسبة تتغير، والأمر r أو l، والقصر يدور. عد للوسط: s ويبدأ محتوى الجهة. مرّر للأعلى: البوابة دون أن تتحرك المنصة. اضغط «رمشة»: توقف أماني فوري. و«إغماضة طويلة»: «اشرح هذه الجهة». وأخيرًا «المؤشرات: الموثقة»: الاتجاهان ينعكسان! هذا ما وجده الفريق فعلًا: ترتيب 468 و473 كان معكوسًا عن المصادر الشائعة.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الهامش ٠٫٠٨ «منطقة ميتة»: نظرة أمامية طبيعية فيها اهتزاز بسيط لا يجب أن يحرك المنصة. والغمضة الطويلة المقصودة (أطول من رمشة عادية) تعني «اشرح هذه الجهة».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«ابدأ الجولة»: ترحيب، ثم الكرسي يتقدم وحساس المسافة يقيس، ثم «وضع الاستكشاف». اضغط مطولًا على «انظر يمينًا»: القصر يدور. اتركها: يتوقف ويبدأ محتوى الجهة، وشريط الاهتمام يمتلئ. أطل النظر إلى جهة: إضاءة احتفالية. زر كل الجهات الأربع: ملخص الجولة. هاتان الميزتان «قيد التطوير» عند الفريق، والمحاكي يريكم كيف ستعمل.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الفرق بين روبوت «يستجيب لأمر» وروبوت «يتخذ قرارًا». ناقشوا مع الطلاب: ما البيانات الأخرى التي يمكن أن يقرر بها النظام؟</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لهب عند البرج وتسرّب غاز في اللحظة نفسها. القائد يذهب إلى اللهب بنفسه (معه المضخة)، ويرسل إلى الروبوت الثاني «إلى الغاز» (معه المروحة). ينطلقان معًا، وبعد الانتهاء يعود كلٌّ إلى مكانه بالاتجاه نفسه للخلف. روبوتان أسرع من روبوت واحد يعالج الخطرين بالتتابع. هذا ما سنبنيه في المحاور ٩–١٥.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 الأزرار الثلاثة: لهب فقط (القائد يذهب ويعود للخلف، والثاني يحرس)، ثم غاز فقط (القائد يبقى ويعطي الثاني الإذن)، ثم الاثنان معًا (القائد للهب ويأمر الثاني بالغاز). ثم حرّك المنزلقتين بنفسك.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نأمر الثاني قبل أن نتحرك؟ لأن مهمة اللهب تستغرق وقتًا، ولو أبلغناه بعدها لانتظر الغاز بلا داعٍ. ترتيب سطرين يصنع فرقًا في ثوانٍ ثمينة.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«لهب A»: القائد (الأحمر) يذهب بنفسه ويطفئ ثم يعود بالاتجاه نفسه للخلف، والثاني (الأزرق) يحرس. ثم «غاز B»: القائد يبقى، وتطير منه رسالة إذن إلى الثاني فينطلق ويشغّل المروحة ويعود. ثم «معًا»: غاز في A ولهب في B: القائد يرسل الأمر للثاني ثم ينطلق إلى اللهب، فيعملان في الوقت نفسه: مضخة هنا ومروحة هناك، ثم يعود كلٌّ مكانه.
💡 هذه الأداة تفاعلية بالكامل في منصة جذور، فاعرضها من المنصة إن أمكن.</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والروبوت الثاني؟ ينتظر رسالة GO GAS من القائد، فيذهب إلى الغاز ويشغّل المروحة ثم يعود للخلف بالطريقة نفسها. القرار عند القائد، والتنفيذ عند الاثنين.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خطوة خطوة: في الوضع الطبيعي الشاشة تقول «المتحف آمن». عند الحريق تتحول الشاشة إلى الأحمر وتعلن «إنذار حريق» ونسبته، ثم «الروبوتات في طريقها»، ثم «أُبلغ الدفاع المدني». وبعد أن تنطفئ النار ويعود الروبوت: «تمت المهمة بنجاح» ثم «المتحف آمن الآن». الشاشة بالإنجليزية لأن شاشة LCD الصغيرة لا تكتب العربية، وهي تقلب صفحاتها وحدها كل ثانيتين مثل لوحة الإعلانات.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الجوال هنا يمثل جوال الدفاع المدني. لحظة اكتشاف الحريق ترسل المحطة وحدها رسالة تيليجرام فيها نوع الخطر ونسبته، وأن الروبوتات تتعامل معه. وعندما تزول النار ويعود كل روبوت إلى مكانه تصل رسالة ثانية: «المتحف آمن، لا داعي للحضور». اقرأ الرسالتين بصوت عالٍ أمام لجنة التحكيم، والأجمل أن يرن جوال حقيقي أمامهم.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قاعدة جواب عن سؤال «ماذا لو؟»: ماذا لو لم تنطفئ النار؟ ماذا لو انقطع الاتصال؟ ماذا لو ضاعت الرسالة؟ هذا ما يفعله المهندسون في أنظمة السلامة الحقيقية.</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القائد والروبوت الثاني يرشّان، لكن النار تكبر. تنتهي المهلة (٣٠ ثانية)، فيقرر القائد وحده أنه يحتاج دعمًا ويرسل تيليجرام: «لم نستطع السيطرة… نحتاج دعمًا عاجلًا»، ثم يعود الروبوتان للخلف بأمان. يصل رجل الإطفاء ومعه روبوتان: الثالث عليه خرطوم وكاميرا ESP32-CAM تبث الحريق إلى اللابتوب، والرابع عليه خرطوم فقط. يفتح يده أمام كاميرا اللابتوب فيتقدمان، ويقبضها فيقفان ويبدأ الرش، ويحرّك القبضة يمينًا ويسارًا فيرتفع الخرطوم وينخفض. تنطفئ النار، وتصل رسالة ثانية: «المتحف آمن».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الفكرة الجوهرية لمعرض الأمن: روبوتات مستقلة تعرف حدودها وتطلب المساعدة، وإنسان يقود روبوتات أخرى من مسافة آمنة دون أن يقترب من النار.</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قرار مستقل حقيقي: الروبوت يقيس، ويقارن بمهلته، ويقرر أن المهمة أكبر منه. الاعتراف بالحدود جزء من السلامة.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 الأزرار، أو اترك العرض التلقائي: يد مفتوحة فيتقدم الروبوتان، قبضة فيقفان ويبدأ الرش، القبضة يمينًا فيرتفع الخرطوم، ويسارًا فينخفض. الماء يطفئ النار أسرع حين يكون الخرطوم بالزاوية الصحيحة. والصورة على اللابتوب تأتي من ESP32-CAM على الروبوت الثالث.
🎬 المشهد يتحرك وحده أثناء العرض، وهو تفاعلي بالكامل في منصة جذور.</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الأوامر حرف واحد يطير عبر الشبكة إلى الروبوتين، تمامًا مثل أوامر العين في مجسّم المصمك. واختفاء اليد يعني التوقف: الأمان أولًا.
🖱️ اضغط للانتقال بين الخطوات.</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لجان التحكيم تحب هذا الجدول أكثر من قائمة الميزات: يُظهر أن الفريق بنى فعلًا، وأخطأ، وفهم، وأصلح.</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يعرّف كل طالب بنفسه في جملة واحدة: اسمه، والجزء الذي بناه في المشروع.</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6.jpg"/><Relationship Id="rId3"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microsoft.com/office/2007/relationships/media" Target="../media/media2.mp3"/><Relationship Id="rId2" Type="http://schemas.openxmlformats.org/officeDocument/2006/relationships/audio" Target="../media/media2.mp3"/><Relationship Id="rId3" Type="http://schemas.microsoft.com/office/2007/relationships/media" Target="../media/media3.mp3"/><Relationship Id="rId4" Type="http://schemas.openxmlformats.org/officeDocument/2006/relationships/audio" Target="../media/media3.mp3"/><Relationship Id="rId5" Type="http://schemas.microsoft.com/office/2007/relationships/media" Target="../media/media4.mp3"/><Relationship Id="rId6" Type="http://schemas.openxmlformats.org/officeDocument/2006/relationships/audio" Target="../media/media4.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6.mp3"/><Relationship Id="rId10" Type="http://schemas.openxmlformats.org/officeDocument/2006/relationships/audio" Target="../media/media6.mp3"/><Relationship Id="rId11" Type="http://schemas.microsoft.com/office/2007/relationships/media" Target="../media/media7.mp3"/><Relationship Id="rId12" Type="http://schemas.openxmlformats.org/officeDocument/2006/relationships/audio" Target="../media/media7.mp3"/><Relationship Id="rId13" Type="http://schemas.openxmlformats.org/officeDocument/2006/relationships/slideLayout" Target="../slideLayouts/slideLayout1.xml"/><Relationship Id="rId14" Type="http://schemas.openxmlformats.org/officeDocument/2006/relationships/notesSlide" Target="../notesSlides/notesSlide3.xml"/><Relationship Id="rId15" Type="http://schemas.openxmlformats.org/officeDocument/2006/relationships/image" Target="../media/image3.jpg"/><Relationship Id="rId16" Type="http://schemas.openxmlformats.org/officeDocument/2006/relationships/image" Target="../media/image4.gif"/><Relationship Id="rId1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 Id="rId9"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 Id="rId8" Type="http://schemas.openxmlformats.org/officeDocument/2006/relationships/image" Target="../media/image22.jpg"/><Relationship Id="rId9"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 Id="rId8" Type="http://schemas.openxmlformats.org/officeDocument/2006/relationships/image" Target="../media/image30.jpg"/><Relationship Id="rId9" Type="http://schemas.openxmlformats.org/officeDocument/2006/relationships/image" Target="../media/image3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 Id="rId6" Type="http://schemas.openxmlformats.org/officeDocument/2006/relationships/image" Target="../media/image43.jpg"/><Relationship Id="rId7" Type="http://schemas.openxmlformats.org/officeDocument/2006/relationships/image" Target="../media/image44.jpg"/><Relationship Id="rId8" Type="http://schemas.openxmlformats.org/officeDocument/2006/relationships/image" Target="../media/image45.jpg"/><Relationship Id="rId9" Type="http://schemas.openxmlformats.org/officeDocument/2006/relationships/image" Target="../media/image4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image" Target="../media/image52.jpg"/><Relationship Id="rId6" Type="http://schemas.openxmlformats.org/officeDocument/2006/relationships/image" Target="../media/image53.jpg"/><Relationship Id="rId7" Type="http://schemas.openxmlformats.org/officeDocument/2006/relationships/image" Target="../media/image54.jpg"/><Relationship Id="rId8" Type="http://schemas.openxmlformats.org/officeDocument/2006/relationships/image" Target="../media/image55.jpg"/><Relationship Id="rId9" Type="http://schemas.openxmlformats.org/officeDocument/2006/relationships/image" Target="../media/image56.jpg"/><Relationship Id="rId10" Type="http://schemas.openxmlformats.org/officeDocument/2006/relationships/image" Target="../media/image5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9.jpg"/><Relationship Id="rId4" Type="http://schemas.openxmlformats.org/officeDocument/2006/relationships/image" Target="../media/image60.jpg"/><Relationship Id="rId5" Type="http://schemas.openxmlformats.org/officeDocument/2006/relationships/image" Target="../media/image61.jpg"/><Relationship Id="rId6" Type="http://schemas.openxmlformats.org/officeDocument/2006/relationships/image" Target="../media/image62.jpg"/><Relationship Id="rId7" Type="http://schemas.openxmlformats.org/officeDocument/2006/relationships/image" Target="../media/image63.jpg"/><Relationship Id="rId8" Type="http://schemas.openxmlformats.org/officeDocument/2006/relationships/image" Target="../media/image64.jpg"/><Relationship Id="rId9" Type="http://schemas.openxmlformats.org/officeDocument/2006/relationships/image" Target="../media/image65.jpg"/><Relationship Id="rId10" Type="http://schemas.openxmlformats.org/officeDocument/2006/relationships/image" Target="../media/image6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7.jpg"/><Relationship Id="rId4" Type="http://schemas.openxmlformats.org/officeDocument/2006/relationships/image" Target="../media/image68.jpg"/><Relationship Id="rId5" Type="http://schemas.openxmlformats.org/officeDocument/2006/relationships/image" Target="../media/image69.jpg"/><Relationship Id="rId6" Type="http://schemas.openxmlformats.org/officeDocument/2006/relationships/image" Target="../media/image70.jpg"/><Relationship Id="rId7" Type="http://schemas.openxmlformats.org/officeDocument/2006/relationships/image" Target="../media/image71.jpg"/><Relationship Id="rId8" Type="http://schemas.openxmlformats.org/officeDocument/2006/relationships/image" Target="../media/image7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jpeg"/></Relationships>
</file>

<file path=ppt/slides/_rels/slide28.xml.rels><?xml version='1.0' encoding='UTF-8' standalone='yes'?>
<Relationships xmlns="http://schemas.openxmlformats.org/package/2006/relationships"><Relationship Id="rId1" Type="http://schemas.microsoft.com/office/2007/relationships/media" Target="../media/media8.mp3"/><Relationship Id="rId2" Type="http://schemas.openxmlformats.org/officeDocument/2006/relationships/audio" Target="../media/media8.mp3"/><Relationship Id="rId3" Type="http://schemas.openxmlformats.org/officeDocument/2006/relationships/slideLayout" Target="../slideLayouts/slideLayout1.xml"/><Relationship Id="rId4" Type="http://schemas.openxmlformats.org/officeDocument/2006/relationships/notesSlide" Target="../notesSlides/notesSlide27.xml"/><Relationship Id="rId5" Type="http://schemas.openxmlformats.org/officeDocument/2006/relationships/image" Target="../media/image77.jpg"/><Relationship Id="rId6" Type="http://schemas.openxmlformats.org/officeDocument/2006/relationships/image" Target="../media/image78.gif"/><Relationship Id="rId7"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9.jpg"/><Relationship Id="rId4" Type="http://schemas.openxmlformats.org/officeDocument/2006/relationships/image" Target="../media/image80.jpg"/><Relationship Id="rId5" Type="http://schemas.openxmlformats.org/officeDocument/2006/relationships/image" Target="../media/image81.jpg"/><Relationship Id="rId6" Type="http://schemas.openxmlformats.org/officeDocument/2006/relationships/image" Target="../media/image82.jpg"/><Relationship Id="rId7" Type="http://schemas.openxmlformats.org/officeDocument/2006/relationships/image" Target="../media/image83.jpg"/><Relationship Id="rId8" Type="http://schemas.openxmlformats.org/officeDocument/2006/relationships/image" Target="../media/image84.jpg"/><Relationship Id="rId9" Type="http://schemas.openxmlformats.org/officeDocument/2006/relationships/image" Target="../media/image85.jpg"/></Relationships>
</file>

<file path=ppt/slides/_rels/slide31.xml.rels><?xml version='1.0' encoding='UTF-8' standalone='yes'?>
<Relationships xmlns="http://schemas.openxmlformats.org/package/2006/relationships"><Relationship Id="rId1" Type="http://schemas.microsoft.com/office/2007/relationships/media" Target="../media/media9.mp3"/><Relationship Id="rId2" Type="http://schemas.openxmlformats.org/officeDocument/2006/relationships/audio" Target="../media/media9.mp3"/><Relationship Id="rId3" Type="http://schemas.openxmlformats.org/officeDocument/2006/relationships/slideLayout" Target="../slideLayouts/slideLayout1.xml"/><Relationship Id="rId4" Type="http://schemas.openxmlformats.org/officeDocument/2006/relationships/notesSlide" Target="../notesSlides/notesSlide30.xml"/><Relationship Id="rId5" Type="http://schemas.openxmlformats.org/officeDocument/2006/relationships/image" Target="../media/image86.jpg"/><Relationship Id="rId6" Type="http://schemas.openxmlformats.org/officeDocument/2006/relationships/image" Target="../media/image87.gif"/><Relationship Id="rId7"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88.jpg"/><Relationship Id="rId4" Type="http://schemas.openxmlformats.org/officeDocument/2006/relationships/image" Target="../media/image89.jpg"/><Relationship Id="rId5" Type="http://schemas.openxmlformats.org/officeDocument/2006/relationships/image" Target="../media/image90.jpg"/><Relationship Id="rId6" Type="http://schemas.openxmlformats.org/officeDocument/2006/relationships/image" Target="../media/image91.jpg"/><Relationship Id="rId7" Type="http://schemas.openxmlformats.org/officeDocument/2006/relationships/image" Target="../media/image92.jpg"/><Relationship Id="rId8" Type="http://schemas.openxmlformats.org/officeDocument/2006/relationships/image" Target="../media/image93.jpg"/><Relationship Id="rId9" Type="http://schemas.openxmlformats.org/officeDocument/2006/relationships/image" Target="../media/image94.jpg"/><Relationship Id="rId10" Type="http://schemas.openxmlformats.org/officeDocument/2006/relationships/image" Target="../media/image9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blurRad="254000" dist="50800" dir="16200000" algn="bl" rotWithShape="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marL="0" indent="0" algn="ctr" rtl="1">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marL="0" indent="0" algn="ctr" rtl="1">
              <a:buNone/>
            </a:pPr>
            <a:r>
              <a:rPr lang="ar-SA" altLang="en-US" sz="2000" b="1" dirty="0">
                <a:solidFill>
                  <a:srgbClr val="F0CC7A"/>
                </a:solidFill>
                <a:latin typeface="Cairo" pitchFamily="34" charset="0"/>
                <a:ea typeface="Cairo" pitchFamily="34" charset="-122"/>
                <a:cs typeface="Cairo" pitchFamily="34" charset="-120"/>
              </a:rPr>
              <a:t>WRO 2026 · Future Innovators · عرض لجنة التحكيم</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marL="0" indent="0" algn="ctr" rtl="1">
              <a:buNone/>
            </a:pPr>
            <a:r>
              <a:rPr lang="ar-SA" altLang="en-US" sz="9600" dirty="0">
                <a:solidFill>
                  <a:srgbClr val="FFF3D6"/>
                </a:solidFill>
                <a:latin typeface="Cairo Black" pitchFamily="34" charset="0"/>
                <a:ea typeface="Cairo Black" pitchFamily="34" charset="-122"/>
                <a:cs typeface="Cairo Black" pitchFamily="34" charset="-120"/>
              </a:rPr>
              <a:t>لمسة تراث</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marL="0" indent="0" algn="ctr" rtl="1">
              <a:buNone/>
            </a:pPr>
            <a:r>
              <a:rPr lang="ar-SA" altLang="en-US" sz="2800" b="1" dirty="0">
                <a:solidFill>
                  <a:srgbClr val="FFFFFF"/>
                </a:solidFill>
                <a:latin typeface="Cairo" pitchFamily="34" charset="0"/>
                <a:ea typeface="Cairo" pitchFamily="34" charset="-122"/>
                <a:cs typeface="Cairo" pitchFamily="34" charset="-120"/>
              </a:rPr>
              <a:t>قصر المصمك التفاعلي الشامل</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marL="0" indent="0" algn="ctr">
              <a:buNone/>
            </a:pPr>
            <a:r>
              <a:rPr lang="ar-SA" altLang="en-US" sz="2000" b="1" dirty="0">
                <a:solidFill>
                  <a:srgbClr val="C9CFE6"/>
                </a:solidFill>
                <a:latin typeface="Cairo" pitchFamily="34" charset="0"/>
                <a:ea typeface="Cairo" pitchFamily="34" charset="-122"/>
                <a:cs typeface="Cairo" pitchFamily="34" charset="-120"/>
              </a:rPr>
              <a:t>إعداد وتقديم: </a:t>
            </a:r>
            <a:r>
              <a:rPr lang="ar-SA" altLang="en-US" sz="2000" b="1" dirty="0">
                <a:solidFill>
                  <a:srgbClr val="D9AE4B"/>
                </a:solidFill>
                <a:latin typeface="Cairo" pitchFamily="34" charset="0"/>
                <a:ea typeface="Cairo" pitchFamily="34" charset="-122"/>
                <a:cs typeface="Cairo" pitchFamily="34" charset="-120"/>
              </a:rPr>
              <a:t>فريق al arqam innovators · مدارس الأرقم</a:t>
            </a:r>
            <a:endParaRPr lang="ar-SA" sz="2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s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projects\younes-training\masmak-judges\.pptx-cache\s2.jpg"/>
          <p:cNvPicPr>
            <a:picLocks noChangeAspect="1"/>
          </p:cNvPicPr>
          <p:nvPr/>
        </p:nvPicPr>
        <p:blipFill>
          <a:blip r:embed="rId5"/>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masmak-judges\.pptx-cache\s3.jpg"/>
          <p:cNvPicPr>
            <a:picLocks noChangeAspect="1"/>
          </p:cNvPicPr>
          <p:nvPr/>
        </p:nvPicPr>
        <p:blipFill>
          <a:blip r:embed="rId15"/>
          <a:stretch>
            <a:fillRect/>
          </a:stretch>
        </p:blipFill>
        <p:spPr>
          <a:xfrm>
            <a:off x="0" y="0"/>
            <a:ext cx="12191695" cy="6858000"/>
          </a:xfrm>
          <a:prstGeom prst="rect">
            <a:avLst/>
          </a:prstGeom>
        </p:spPr>
      </p:pic>
      <p:pic>
        <p:nvPicPr>
          <p:cNvPr id="3" name="Image 1" descr="C:\Users\user\projects\younes-training\masmak-judges\.pptx-cache\s3.gif"/>
          <p:cNvPicPr>
            <a:picLocks noChangeAspect="1"/>
          </p:cNvPicPr>
          <p:nvPr/>
        </p:nvPicPr>
        <p:blipFill>
          <a:blip r:embed="rId16"/>
          <a:stretch>
            <a:fillRect/>
          </a:stretch>
        </p:blipFill>
        <p:spPr>
          <a:xfrm>
            <a:off x="825479" y="2184400"/>
            <a:ext cx="10540736" cy="3848100"/>
          </a:xfrm>
          <a:prstGeom prst="rect">
            <a:avLst/>
          </a:prstGeom>
        </p:spPr>
      </p:pic>
      <p:pic>
        <p:nvPicPr>
          <p:cNvPr id="5" name="audio-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7699282" y="1809750"/>
            <a:ext cx="952872" cy="336550"/>
          </a:xfrm>
          <a:prstGeom prst="rect">
            <a:avLst/>
          </a:prstGeom>
        </p:spPr>
      </p:pic>
      <p:pic>
        <p:nvPicPr>
          <p:cNvPr id="8" name="audio-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7"/>
          <a:stretch>
            <a:fillRect/>
          </a:stretch>
        </p:blipFill>
        <p:spPr>
          <a:xfrm>
            <a:off x="6733114" y="1809750"/>
            <a:ext cx="902669" cy="336550"/>
          </a:xfrm>
          <a:prstGeom prst="rect">
            <a:avLst/>
          </a:prstGeom>
        </p:spPr>
      </p:pic>
      <p:pic>
        <p:nvPicPr>
          <p:cNvPr id="11" name="audio-4">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7"/>
          <a:stretch>
            <a:fillRect/>
          </a:stretch>
        </p:blipFill>
        <p:spPr>
          <a:xfrm>
            <a:off x="5999012" y="1809750"/>
            <a:ext cx="670603" cy="336550"/>
          </a:xfrm>
          <a:prstGeom prst="rect">
            <a:avLst/>
          </a:prstGeom>
        </p:spPr>
      </p:pic>
      <p:pic>
        <p:nvPicPr>
          <p:cNvPr id="14" name="audio-5">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7"/>
          <a:stretch>
            <a:fillRect/>
          </a:stretch>
        </p:blipFill>
        <p:spPr>
          <a:xfrm>
            <a:off x="5270864" y="1809750"/>
            <a:ext cx="664650" cy="336550"/>
          </a:xfrm>
          <a:prstGeom prst="rect">
            <a:avLst/>
          </a:prstGeom>
        </p:spPr>
      </p:pic>
      <p:pic>
        <p:nvPicPr>
          <p:cNvPr id="17" name="audio-6">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7"/>
          <a:stretch>
            <a:fillRect/>
          </a:stretch>
        </p:blipFill>
        <p:spPr>
          <a:xfrm>
            <a:off x="4429312" y="1809750"/>
            <a:ext cx="778054" cy="336550"/>
          </a:xfrm>
          <a:prstGeom prst="rect">
            <a:avLst/>
          </a:prstGeom>
        </p:spPr>
      </p:pic>
      <p:pic>
        <p:nvPicPr>
          <p:cNvPr id="20" name="audio-7">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7"/>
          <a:stretch>
            <a:fillRect/>
          </a:stretch>
        </p:blipFill>
        <p:spPr>
          <a:xfrm>
            <a:off x="3539640" y="1809750"/>
            <a:ext cx="826174" cy="3365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 fill="hold"/>
                                        <p:tgtEl>
                                          <p:spTgt spid="8"/>
                                        </p:tgtEl>
                                      </p:cBhvr>
                                    </p:cmd>
                                  </p:childTnLst>
                                </p:cTn>
                              </p:par>
                            </p:childTnLst>
                          </p:cTn>
                        </p:par>
                      </p:childTnLst>
                    </p:cTn>
                  </p:par>
                </p:childTnLst>
              </p:cTn>
              <p:nextCondLst>
                <p:cond evt="onClick" delay="0">
                  <p:tgtEl>
                    <p:spTgt spid="8"/>
                  </p:tgtEl>
                </p:cond>
              </p:nextCondLst>
            </p:seq>
            <p:seq concurrent="1" nextAc="seek">
              <p:cTn id="12" restart="whenNotActive" fill="hold" evtFilter="cancelBubble" nodeType="interactiveSeq">
                <p:stCondLst>
                  <p:cond evt="onClick" delay="0">
                    <p:tgtEl>
                      <p:spTgt spid="11"/>
                    </p:tgtEl>
                  </p:cond>
                </p:stCondLst>
                <p:endSync evt="end" delay="0">
                  <p:rtn val="all"/>
                </p:endSync>
                <p:childTnLst>
                  <p:par>
                    <p:cTn id="13" fill="hold">
                      <p:stCondLst>
                        <p:cond delay="0"/>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 fill="hold"/>
                                        <p:tgtEl>
                                          <p:spTgt spid="11"/>
                                        </p:tgtEl>
                                      </p:cBhvr>
                                    </p:cmd>
                                  </p:childTnLst>
                                </p:cTn>
                              </p:par>
                            </p:childTnLst>
                          </p:cTn>
                        </p:par>
                      </p:childTnLst>
                    </p:cTn>
                  </p:par>
                </p:childTnLst>
              </p:cTn>
              <p:nextCondLst>
                <p:cond evt="onClick" delay="0">
                  <p:tgtEl>
                    <p:spTgt spid="11"/>
                  </p:tgtEl>
                </p:cond>
              </p:nextCondLst>
            </p:seq>
            <p:seq concurrent="1" nextAc="seek">
              <p:cTn id="17" restart="whenNotActive" fill="hold" evtFilter="cancelBubble" nodeType="interactiveSeq">
                <p:stCondLst>
                  <p:cond evt="onClick" delay="0">
                    <p:tgtEl>
                      <p:spTgt spid="14"/>
                    </p:tgtEl>
                  </p:cond>
                </p:stCondLst>
                <p:endSync evt="end" delay="0">
                  <p:rtn val="all"/>
                </p:endSync>
                <p:childTnLst>
                  <p:par>
                    <p:cTn id="18" fill="hold">
                      <p:stCondLst>
                        <p:cond delay="0"/>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 fill="hold"/>
                                        <p:tgtEl>
                                          <p:spTgt spid="14"/>
                                        </p:tgtEl>
                                      </p:cBhvr>
                                    </p:cmd>
                                  </p:childTnLst>
                                </p:cTn>
                              </p:par>
                            </p:childTnLst>
                          </p:cTn>
                        </p:par>
                      </p:childTnLst>
                    </p:cTn>
                  </p:par>
                </p:childTnLst>
              </p:cTn>
              <p:nextCondLst>
                <p:cond evt="onClick" delay="0">
                  <p:tgtEl>
                    <p:spTgt spid="14"/>
                  </p:tgtEl>
                </p:cond>
              </p:nextCondLst>
            </p:seq>
            <p:seq concurrent="1" nextAc="seek">
              <p:cTn id="22" restart="whenNotActive" fill="hold" evtFilter="cancelBubble" nodeType="interactiveSeq">
                <p:stCondLst>
                  <p:cond evt="onClick" delay="0">
                    <p:tgtEl>
                      <p:spTgt spid="17"/>
                    </p:tgtEl>
                  </p:cond>
                </p:stCondLst>
                <p:endSync evt="end" delay="0">
                  <p:rtn val="all"/>
                </p:endSync>
                <p:childTnLst>
                  <p:par>
                    <p:cTn id="23" fill="hold">
                      <p:stCondLst>
                        <p:cond delay="0"/>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1" fill="hold"/>
                                        <p:tgtEl>
                                          <p:spTgt spid="17"/>
                                        </p:tgtEl>
                                      </p:cBhvr>
                                    </p:cmd>
                                  </p:childTnLst>
                                </p:cTn>
                              </p:par>
                            </p:childTnLst>
                          </p:cTn>
                        </p:par>
                      </p:childTnLst>
                    </p:cTn>
                  </p:par>
                </p:childTnLst>
              </p:cTn>
              <p:nextCondLst>
                <p:cond evt="onClick" delay="0">
                  <p:tgtEl>
                    <p:spTgt spid="17"/>
                  </p:tgtEl>
                </p:cond>
              </p:nextCondLst>
            </p:seq>
            <p:seq concurrent="1" nextAc="seek">
              <p:cTn id="27" restart="whenNotActive" fill="hold" evtFilter="cancelBubble" nodeType="interactiveSeq">
                <p:stCondLst>
                  <p:cond evt="onClick" delay="0">
                    <p:tgtEl>
                      <p:spTgt spid="20"/>
                    </p:tgtEl>
                  </p:cond>
                </p:stCondLst>
                <p:endSync evt="end" delay="0">
                  <p:rtn val="all"/>
                </p:endSync>
                <p:childTnLst>
                  <p:par>
                    <p:cTn id="28" fill="hold">
                      <p:stCondLst>
                        <p:cond delay="0"/>
                      </p:stCondLst>
                      <p:childTnLst>
                        <p:par>
                          <p:cTn id="29" fill="hold">
                            <p:stCondLst>
                              <p:cond delay="0"/>
                            </p:stCondLst>
                            <p:childTnLst>
                              <p:par>
                                <p:cTn id="30" presetID="1" presetClass="mediacall" presetSubtype="0" fill="hold" nodeType="clickEffect">
                                  <p:stCondLst>
                                    <p:cond delay="0"/>
                                  </p:stCondLst>
                                  <p:childTnLst>
                                    <p:cmd type="call" cmd="playFrom(0.0)">
                                      <p:cBhvr>
                                        <p:cTn id="31"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txBody>
          <a:bodyPr/>
          <a:p/>
        </p:txBody>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B08A2E"/>
                </a:solidFill>
                <a:latin typeface="Cairo" pitchFamily="34" charset="0"/>
                <a:ea typeface="Cairo" pitchFamily="34" charset="-122"/>
                <a:cs typeface="Cairo" pitchFamily="34" charset="-120"/>
              </a:rPr>
              <a:t>المشكلة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marL="0" indent="0" algn="r" rtl="1">
              <a:buNone/>
            </a:pPr>
            <a:r>
              <a:rPr lang="ar-SA" altLang="en-US" sz="3200" dirty="0">
                <a:solidFill>
                  <a:srgbClr val="101B45"/>
                </a:solidFill>
                <a:latin typeface="Cairo Black" pitchFamily="34" charset="0"/>
                <a:ea typeface="Cairo Black" pitchFamily="34" charset="-122"/>
                <a:cs typeface="Cairo Black" pitchFamily="34" charset="-120"/>
              </a:rPr>
              <a:t>التراث لنا جميعًا… لكن الوصول إليه ليس سهلًا للجميع</a:t>
            </a:r>
            <a:endParaRPr lang="ar-SA" sz="3200" dirty="0"/>
          </a:p>
        </p:txBody>
      </p:sp>
      <p:sp>
        <p:nvSpPr>
          <p:cNvPr id="5" name="anim-g1-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6" name="anim-g1-9"/>
          <p:cNvSpPr/>
          <p:nvPr/>
        </p:nvSpPr>
        <p:spPr>
          <a:xfrm>
            <a:off x="10527487" y="2267712"/>
            <a:ext cx="566928" cy="566928"/>
          </a:xfrm>
          <a:prstGeom prst="roundRect">
            <a:avLst>
              <a:gd name="adj" fmla="val 32258"/>
            </a:avLst>
          </a:prstGeom>
          <a:solidFill>
            <a:srgbClr val="F7E6BC"/>
          </a:solidFill>
          <a:ln/>
        </p:spPr>
        <p:txBody>
          <a:bodyPr/>
          <a:p/>
        </p:txBody>
      </p:sp>
      <p:sp>
        <p:nvSpPr>
          <p:cNvPr id="7" name="anim-g1-10"/>
          <p:cNvSpPr/>
          <p:nvPr/>
        </p:nvSpPr>
        <p:spPr>
          <a:xfrm>
            <a:off x="10527487"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
          <p:cNvSpPr/>
          <p:nvPr/>
        </p:nvSpPr>
        <p:spPr>
          <a:xfrm>
            <a:off x="8310677" y="2944368"/>
            <a:ext cx="278373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الإعاقة الحركية</a:t>
            </a:r>
            <a:endParaRPr lang="ar-SA" sz="2200" dirty="0"/>
          </a:p>
        </p:txBody>
      </p:sp>
      <p:sp>
        <p:nvSpPr>
          <p:cNvPr id="9" name="anim-g1-12"/>
          <p:cNvSpPr/>
          <p:nvPr/>
        </p:nvSpPr>
        <p:spPr>
          <a:xfrm>
            <a:off x="8310677" y="3493008"/>
            <a:ext cx="2783738" cy="240487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صعوبة التنقل حول المجسمات الثابتة، والحاجة الدائمة لمرافق</a:t>
            </a:r>
            <a:endParaRPr lang="ar-SA" sz="1900" dirty="0"/>
          </a:p>
        </p:txBody>
      </p:sp>
      <p:sp>
        <p:nvSpPr>
          <p:cNvPr id="10" name="anim-g2-1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1" name="anim-g2-14"/>
          <p:cNvSpPr/>
          <p:nvPr/>
        </p:nvSpPr>
        <p:spPr>
          <a:xfrm>
            <a:off x="6920789" y="2267712"/>
            <a:ext cx="566928" cy="566928"/>
          </a:xfrm>
          <a:prstGeom prst="roundRect">
            <a:avLst>
              <a:gd name="adj" fmla="val 32258"/>
            </a:avLst>
          </a:prstGeom>
          <a:solidFill>
            <a:srgbClr val="F7E6BC"/>
          </a:solidFill>
          <a:ln/>
        </p:spPr>
        <p:txBody>
          <a:bodyPr/>
          <a:p/>
        </p:txBody>
      </p:sp>
      <p:sp>
        <p:nvSpPr>
          <p:cNvPr id="12" name="anim-g2-15"/>
          <p:cNvSpPr/>
          <p:nvPr/>
        </p:nvSpPr>
        <p:spPr>
          <a:xfrm>
            <a:off x="6920789"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6"/>
          <p:cNvSpPr/>
          <p:nvPr/>
        </p:nvSpPr>
        <p:spPr>
          <a:xfrm>
            <a:off x="4703978" y="2944368"/>
            <a:ext cx="278373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الإعاقة السمعية</a:t>
            </a:r>
            <a:endParaRPr lang="ar-SA" sz="2200" dirty="0"/>
          </a:p>
        </p:txBody>
      </p:sp>
      <p:sp>
        <p:nvSpPr>
          <p:cNvPr id="14" name="anim-g2-17"/>
          <p:cNvSpPr/>
          <p:nvPr/>
        </p:nvSpPr>
        <p:spPr>
          <a:xfrm>
            <a:off x="4703978" y="3493008"/>
            <a:ext cx="2783738" cy="240487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شرح المرشد والتسجيلات الصوتية لا تصل</a:t>
            </a:r>
            <a:endParaRPr lang="ar-SA" sz="1900" dirty="0"/>
          </a:p>
        </p:txBody>
      </p:sp>
      <p:sp>
        <p:nvSpPr>
          <p:cNvPr id="15" name="anim-g3-1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6" name="anim-g3-19"/>
          <p:cNvSpPr/>
          <p:nvPr/>
        </p:nvSpPr>
        <p:spPr>
          <a:xfrm>
            <a:off x="3314090" y="2267712"/>
            <a:ext cx="566928" cy="566928"/>
          </a:xfrm>
          <a:prstGeom prst="roundRect">
            <a:avLst>
              <a:gd name="adj" fmla="val 32258"/>
            </a:avLst>
          </a:prstGeom>
          <a:solidFill>
            <a:srgbClr val="F7E6BC"/>
          </a:solidFill>
          <a:ln/>
        </p:spPr>
        <p:txBody>
          <a:bodyPr/>
          <a:p/>
        </p:txBody>
      </p:sp>
      <p:sp>
        <p:nvSpPr>
          <p:cNvPr id="17" name="anim-g3-20"/>
          <p:cNvSpPr/>
          <p:nvPr/>
        </p:nvSpPr>
        <p:spPr>
          <a:xfrm>
            <a:off x="3314090"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1"/>
          <p:cNvSpPr/>
          <p:nvPr/>
        </p:nvSpPr>
        <p:spPr>
          <a:xfrm>
            <a:off x="1097280" y="2944368"/>
            <a:ext cx="278373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الإعاقة البصرية</a:t>
            </a:r>
            <a:endParaRPr lang="ar-SA" sz="2200" dirty="0"/>
          </a:p>
        </p:txBody>
      </p:sp>
      <p:sp>
        <p:nvSpPr>
          <p:cNvPr id="19" name="anim-g3-22"/>
          <p:cNvSpPr/>
          <p:nvPr/>
        </p:nvSpPr>
        <p:spPr>
          <a:xfrm>
            <a:off x="1097280" y="3493008"/>
            <a:ext cx="2783738" cy="240487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التفاصيل المعروضة واللوحات الإرشادية لا تُرى</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5E6782"/>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5E6782"/>
                </a:solidFill>
                <a:latin typeface="Cairo" pitchFamily="34" charset="0"/>
                <a:ea typeface="Cairo" pitchFamily="34" charset="-122"/>
                <a:cs typeface="Cairo" pitchFamily="34" charset="-120"/>
              </a:rPr>
              <a:t>🏰 لمسة تراث  ·  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632808" y="1188720"/>
            <a:ext cx="2926080" cy="457200"/>
          </a:xfrm>
          <a:prstGeom prst="roundRect">
            <a:avLst>
              <a:gd name="adj" fmla="val 50000"/>
            </a:avLst>
          </a:prstGeom>
          <a:solidFill>
            <a:srgbClr val="3A3A45">
              <a:alpha val="60000"/>
            </a:srgbClr>
          </a:solidFill>
          <a:ln w="12700">
            <a:solidFill>
              <a:srgbClr val="D9AE4B">
                <a:alpha val="60000"/>
              </a:srgbClr>
            </a:solidFill>
            <a:prstDash val="solid"/>
          </a:ln>
        </p:spPr>
        <p:txBody>
          <a:bodyPr/>
          <a:p/>
        </p:txBody>
      </p:sp>
      <p:sp>
        <p:nvSpPr>
          <p:cNvPr id="3" name="Text 1"/>
          <p:cNvSpPr/>
          <p:nvPr/>
        </p:nvSpPr>
        <p:spPr>
          <a:xfrm>
            <a:off x="4632808" y="1188720"/>
            <a:ext cx="2926080"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F0CC7A"/>
                </a:solidFill>
                <a:latin typeface="Cairo" pitchFamily="34" charset="0"/>
                <a:ea typeface="Cairo" pitchFamily="34" charset="-122"/>
                <a:cs typeface="Cairo" pitchFamily="34" charset="-120"/>
              </a:rPr>
              <a:t>الفكرة الجوهرية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marL="0" indent="0" algn="ctr">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واجهة تفاعل واحدة بسيطة وطبيعية: حركة العين…</a:t>
            </a:r>
            <a:endParaRPr lang="ar-SA" sz="4400" dirty="0"/>
          </a:p>
          <a:p>
            <a:pPr marL="0" indent="0" algn="ctr">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تخدم ثلاث فئات إعاقة في آن واحد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C9CFE6"/>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C9CFE6"/>
                </a:solidFill>
                <a:latin typeface="Cairo" pitchFamily="34" charset="0"/>
                <a:ea typeface="Cairo" pitchFamily="34" charset="-122"/>
                <a:cs typeface="Cairo" pitchFamily="34" charset="-120"/>
              </a:rPr>
              <a:t>🏰 لمسة تراث  ·  ٦</a:t>
            </a:r>
            <a:endParaRPr lang="ar-SA"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user\projects\younes-training\masmak-judges\.pptx-cache\s6.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projects\younes-training\masmak-judges\.pptx-cache\s7.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user\projects\younes-training\masmak-judges\.pptx-cache\s8-0.jpg"/>
          <p:cNvPicPr>
            <a:picLocks noChangeAspect="1"/>
          </p:cNvPicPr>
          <p:nvPr/>
        </p:nvPicPr>
        <p:blipFill>
          <a:blip r:embed="rId3"/>
          <a:stretch>
            <a:fillRect/>
          </a:stretch>
        </p:blipFill>
        <p:spPr>
          <a:xfrm>
            <a:off x="0" y="0"/>
            <a:ext cx="12191695" cy="6858000"/>
          </a:xfrm>
          <a:prstGeom prst="rect">
            <a:avLst/>
          </a:prstGeom>
        </p:spPr>
      </p:pic>
      <p:pic>
        <p:nvPicPr>
          <p:cNvPr id="3" name="anim-g1-23" descr="C:\Users\user\projects\younes-training\masmak-judges\.pptx-cache\s8-1.jpg"/>
          <p:cNvPicPr>
            <a:picLocks noChangeAspect="1"/>
          </p:cNvPicPr>
          <p:nvPr/>
        </p:nvPicPr>
        <p:blipFill>
          <a:blip r:embed="rId4"/>
          <a:stretch>
            <a:fillRect/>
          </a:stretch>
        </p:blipFill>
        <p:spPr>
          <a:xfrm>
            <a:off x="0" y="0"/>
            <a:ext cx="12191695" cy="6858000"/>
          </a:xfrm>
          <a:prstGeom prst="rect">
            <a:avLst/>
          </a:prstGeom>
        </p:spPr>
      </p:pic>
      <p:pic>
        <p:nvPicPr>
          <p:cNvPr id="4" name="anim-g2-24" descr="C:\Users\user\projects\younes-training\masmak-judges\.pptx-cache\s8-2.jpg"/>
          <p:cNvPicPr>
            <a:picLocks noChangeAspect="1"/>
          </p:cNvPicPr>
          <p:nvPr/>
        </p:nvPicPr>
        <p:blipFill>
          <a:blip r:embed="rId5"/>
          <a:stretch>
            <a:fillRect/>
          </a:stretch>
        </p:blipFill>
        <p:spPr>
          <a:xfrm>
            <a:off x="0" y="0"/>
            <a:ext cx="12191695" cy="6858000"/>
          </a:xfrm>
          <a:prstGeom prst="rect">
            <a:avLst/>
          </a:prstGeom>
        </p:spPr>
      </p:pic>
      <p:pic>
        <p:nvPicPr>
          <p:cNvPr id="5" name="anim-g3-25" descr="C:\Users\user\projects\younes-training\masmak-judges\.pptx-cache\s8-3.jpg"/>
          <p:cNvPicPr>
            <a:picLocks noChangeAspect="1"/>
          </p:cNvPicPr>
          <p:nvPr/>
        </p:nvPicPr>
        <p:blipFill>
          <a:blip r:embed="rId6"/>
          <a:stretch>
            <a:fillRect/>
          </a:stretch>
        </p:blipFill>
        <p:spPr>
          <a:xfrm>
            <a:off x="0" y="0"/>
            <a:ext cx="12191695" cy="6858000"/>
          </a:xfrm>
          <a:prstGeom prst="rect">
            <a:avLst/>
          </a:prstGeom>
        </p:spPr>
      </p:pic>
      <p:pic>
        <p:nvPicPr>
          <p:cNvPr id="6" name="anim-g4-26" descr="C:\Users\user\projects\younes-training\masmak-judges\.pptx-cache\s8-4.jpg"/>
          <p:cNvPicPr>
            <a:picLocks noChangeAspect="1"/>
          </p:cNvPicPr>
          <p:nvPr/>
        </p:nvPicPr>
        <p:blipFill>
          <a:blip r:embed="rId7"/>
          <a:stretch>
            <a:fillRect/>
          </a:stretch>
        </p:blipFill>
        <p:spPr>
          <a:xfrm>
            <a:off x="0" y="0"/>
            <a:ext cx="12191695" cy="6858000"/>
          </a:xfrm>
          <a:prstGeom prst="rect">
            <a:avLst/>
          </a:prstGeom>
        </p:spPr>
      </p:pic>
      <p:pic>
        <p:nvPicPr>
          <p:cNvPr id="7" name="anim-g5-27" descr="C:\Users\user\projects\younes-training\masmak-judges\.pptx-cache\s8-5.jpg"/>
          <p:cNvPicPr>
            <a:picLocks noChangeAspect="1"/>
          </p:cNvPicPr>
          <p:nvPr/>
        </p:nvPicPr>
        <p:blipFill>
          <a:blip r:embed="rId8"/>
          <a:stretch>
            <a:fillRect/>
          </a:stretch>
        </p:blipFill>
        <p:spPr>
          <a:xfrm>
            <a:off x="0" y="0"/>
            <a:ext cx="12191695" cy="6858000"/>
          </a:xfrm>
          <a:prstGeom prst="rect">
            <a:avLst/>
          </a:prstGeom>
        </p:spPr>
      </p:pic>
      <p:pic>
        <p:nvPicPr>
          <p:cNvPr id="8" name="anim-g6-28" descr="C:\Users\user\projects\younes-training\masmak-judges\.pptx-cache\s8-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user\projects\younes-training\masmak-judges\.pptx-cache\s9.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user\projects\younes-training\masmak-judges\.pptx-cache\s10-0.jpg"/>
          <p:cNvPicPr>
            <a:picLocks noChangeAspect="1"/>
          </p:cNvPicPr>
          <p:nvPr/>
        </p:nvPicPr>
        <p:blipFill>
          <a:blip r:embed="rId3"/>
          <a:stretch>
            <a:fillRect/>
          </a:stretch>
        </p:blipFill>
        <p:spPr>
          <a:xfrm>
            <a:off x="0" y="0"/>
            <a:ext cx="12191695" cy="6858000"/>
          </a:xfrm>
          <a:prstGeom prst="rect">
            <a:avLst/>
          </a:prstGeom>
        </p:spPr>
      </p:pic>
      <p:pic>
        <p:nvPicPr>
          <p:cNvPr id="3" name="anim-g1-29" descr="C:\Users\user\projects\younes-training\masmak-judges\.pptx-cache\s10-1.jpg"/>
          <p:cNvPicPr>
            <a:picLocks noChangeAspect="1"/>
          </p:cNvPicPr>
          <p:nvPr/>
        </p:nvPicPr>
        <p:blipFill>
          <a:blip r:embed="rId4"/>
          <a:stretch>
            <a:fillRect/>
          </a:stretch>
        </p:blipFill>
        <p:spPr>
          <a:xfrm>
            <a:off x="0" y="0"/>
            <a:ext cx="12191695" cy="6858000"/>
          </a:xfrm>
          <a:prstGeom prst="rect">
            <a:avLst/>
          </a:prstGeom>
        </p:spPr>
      </p:pic>
      <p:pic>
        <p:nvPicPr>
          <p:cNvPr id="4" name="anim-g2-30" descr="C:\Users\user\projects\younes-training\masmak-judges\.pptx-cache\s10-2.jpg"/>
          <p:cNvPicPr>
            <a:picLocks noChangeAspect="1"/>
          </p:cNvPicPr>
          <p:nvPr/>
        </p:nvPicPr>
        <p:blipFill>
          <a:blip r:embed="rId5"/>
          <a:stretch>
            <a:fillRect/>
          </a:stretch>
        </p:blipFill>
        <p:spPr>
          <a:xfrm>
            <a:off x="0" y="0"/>
            <a:ext cx="12191695" cy="6858000"/>
          </a:xfrm>
          <a:prstGeom prst="rect">
            <a:avLst/>
          </a:prstGeom>
        </p:spPr>
      </p:pic>
      <p:pic>
        <p:nvPicPr>
          <p:cNvPr id="5" name="anim-g3-31" descr="C:\Users\user\projects\younes-training\masmak-judges\.pptx-cache\s10-3.jpg"/>
          <p:cNvPicPr>
            <a:picLocks noChangeAspect="1"/>
          </p:cNvPicPr>
          <p:nvPr/>
        </p:nvPicPr>
        <p:blipFill>
          <a:blip r:embed="rId6"/>
          <a:stretch>
            <a:fillRect/>
          </a:stretch>
        </p:blipFill>
        <p:spPr>
          <a:xfrm>
            <a:off x="0" y="0"/>
            <a:ext cx="12191695" cy="6858000"/>
          </a:xfrm>
          <a:prstGeom prst="rect">
            <a:avLst/>
          </a:prstGeom>
        </p:spPr>
      </p:pic>
      <p:pic>
        <p:nvPicPr>
          <p:cNvPr id="6" name="anim-g4-32" descr="C:\Users\user\projects\younes-training\masmak-judges\.pptx-cache\s10-4.jpg"/>
          <p:cNvPicPr>
            <a:picLocks noChangeAspect="1"/>
          </p:cNvPicPr>
          <p:nvPr/>
        </p:nvPicPr>
        <p:blipFill>
          <a:blip r:embed="rId7"/>
          <a:stretch>
            <a:fillRect/>
          </a:stretch>
        </p:blipFill>
        <p:spPr>
          <a:xfrm>
            <a:off x="0" y="0"/>
            <a:ext cx="12191695" cy="6858000"/>
          </a:xfrm>
          <a:prstGeom prst="rect">
            <a:avLst/>
          </a:prstGeom>
        </p:spPr>
      </p:pic>
      <p:pic>
        <p:nvPicPr>
          <p:cNvPr id="7" name="anim-g5-33" descr="C:\Users\user\projects\younes-training\masmak-judges\.pptx-cache\s10-5.jpg"/>
          <p:cNvPicPr>
            <a:picLocks noChangeAspect="1"/>
          </p:cNvPicPr>
          <p:nvPr/>
        </p:nvPicPr>
        <p:blipFill>
          <a:blip r:embed="rId8"/>
          <a:stretch>
            <a:fillRect/>
          </a:stretch>
        </p:blipFill>
        <p:spPr>
          <a:xfrm>
            <a:off x="0" y="0"/>
            <a:ext cx="12191695" cy="6858000"/>
          </a:xfrm>
          <a:prstGeom prst="rect">
            <a:avLst/>
          </a:prstGeom>
        </p:spPr>
      </p:pic>
      <p:pic>
        <p:nvPicPr>
          <p:cNvPr id="8" name="anim-g6-34" descr="C:\Users\user\projects\younes-training\masmak-judges\.pptx-cache\s10-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user\projects\younes-training\masmak-judges\.pptx-cache\s11.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projects\younes-training\masmak-judges\.pptx-cache\s12-0.jpg"/>
          <p:cNvPicPr>
            <a:picLocks noChangeAspect="1"/>
          </p:cNvPicPr>
          <p:nvPr/>
        </p:nvPicPr>
        <p:blipFill>
          <a:blip r:embed="rId3"/>
          <a:stretch>
            <a:fillRect/>
          </a:stretch>
        </p:blipFill>
        <p:spPr>
          <a:xfrm>
            <a:off x="0" y="0"/>
            <a:ext cx="12191695" cy="6858000"/>
          </a:xfrm>
          <a:prstGeom prst="rect">
            <a:avLst/>
          </a:prstGeom>
        </p:spPr>
      </p:pic>
      <p:pic>
        <p:nvPicPr>
          <p:cNvPr id="3" name="anim-g1-35" descr="C:\Users\user\projects\younes-training\masmak-judges\.pptx-cache\s12-1.jpg"/>
          <p:cNvPicPr>
            <a:picLocks noChangeAspect="1"/>
          </p:cNvPicPr>
          <p:nvPr/>
        </p:nvPicPr>
        <p:blipFill>
          <a:blip r:embed="rId4"/>
          <a:stretch>
            <a:fillRect/>
          </a:stretch>
        </p:blipFill>
        <p:spPr>
          <a:xfrm>
            <a:off x="0" y="0"/>
            <a:ext cx="12191695" cy="6858000"/>
          </a:xfrm>
          <a:prstGeom prst="rect">
            <a:avLst/>
          </a:prstGeom>
        </p:spPr>
      </p:pic>
      <p:pic>
        <p:nvPicPr>
          <p:cNvPr id="4" name="anim-g2-36" descr="C:\Users\user\projects\younes-training\masmak-judges\.pptx-cache\s12-2.jpg"/>
          <p:cNvPicPr>
            <a:picLocks noChangeAspect="1"/>
          </p:cNvPicPr>
          <p:nvPr/>
        </p:nvPicPr>
        <p:blipFill>
          <a:blip r:embed="rId5"/>
          <a:stretch>
            <a:fillRect/>
          </a:stretch>
        </p:blipFill>
        <p:spPr>
          <a:xfrm>
            <a:off x="0" y="0"/>
            <a:ext cx="12191695" cy="6858000"/>
          </a:xfrm>
          <a:prstGeom prst="rect">
            <a:avLst/>
          </a:prstGeom>
        </p:spPr>
      </p:pic>
      <p:pic>
        <p:nvPicPr>
          <p:cNvPr id="5" name="anim-g3-37" descr="C:\Users\user\projects\younes-training\masmak-judges\.pptx-cache\s12-3.jpg"/>
          <p:cNvPicPr>
            <a:picLocks noChangeAspect="1"/>
          </p:cNvPicPr>
          <p:nvPr/>
        </p:nvPicPr>
        <p:blipFill>
          <a:blip r:embed="rId6"/>
          <a:stretch>
            <a:fillRect/>
          </a:stretch>
        </p:blipFill>
        <p:spPr>
          <a:xfrm>
            <a:off x="0" y="0"/>
            <a:ext cx="12191695" cy="6858000"/>
          </a:xfrm>
          <a:prstGeom prst="rect">
            <a:avLst/>
          </a:prstGeom>
        </p:spPr>
      </p:pic>
      <p:pic>
        <p:nvPicPr>
          <p:cNvPr id="6" name="anim-g4-38" descr="C:\Users\user\projects\younes-training\masmak-judges\.pptx-cache\s12-4.jpg"/>
          <p:cNvPicPr>
            <a:picLocks noChangeAspect="1"/>
          </p:cNvPicPr>
          <p:nvPr/>
        </p:nvPicPr>
        <p:blipFill>
          <a:blip r:embed="rId7"/>
          <a:stretch>
            <a:fillRect/>
          </a:stretch>
        </p:blipFill>
        <p:spPr>
          <a:xfrm>
            <a:off x="0" y="0"/>
            <a:ext cx="12191695" cy="6858000"/>
          </a:xfrm>
          <a:prstGeom prst="rect">
            <a:avLst/>
          </a:prstGeom>
        </p:spPr>
      </p:pic>
      <p:pic>
        <p:nvPicPr>
          <p:cNvPr id="7" name="anim-g5-39" descr="C:\Users\user\projects\younes-training\masmak-judges\.pptx-cache\s12-5.jpg"/>
          <p:cNvPicPr>
            <a:picLocks noChangeAspect="1"/>
          </p:cNvPicPr>
          <p:nvPr/>
        </p:nvPicPr>
        <p:blipFill>
          <a:blip r:embed="rId8"/>
          <a:stretch>
            <a:fillRect/>
          </a:stretch>
        </p:blipFill>
        <p:spPr>
          <a:xfrm>
            <a:off x="0" y="0"/>
            <a:ext cx="12191695" cy="6858000"/>
          </a:xfrm>
          <a:prstGeom prst="rect">
            <a:avLst/>
          </a:prstGeom>
        </p:spPr>
      </p:pic>
      <p:pic>
        <p:nvPicPr>
          <p:cNvPr id="8" name="anim-g6-40" descr="C:\Users\user\projects\younes-training\masmak-judges\.pptx-cache\s12-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projects\younes-training\masmak-judges\.pptx-cache\s13.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projects\younes-training\masmak-judges\.pptx-cache\s14-0.jpg"/>
          <p:cNvPicPr>
            <a:picLocks noChangeAspect="1"/>
          </p:cNvPicPr>
          <p:nvPr/>
        </p:nvPicPr>
        <p:blipFill>
          <a:blip r:embed="rId3"/>
          <a:stretch>
            <a:fillRect/>
          </a:stretch>
        </p:blipFill>
        <p:spPr>
          <a:xfrm>
            <a:off x="0" y="0"/>
            <a:ext cx="12191695" cy="6858000"/>
          </a:xfrm>
          <a:prstGeom prst="rect">
            <a:avLst/>
          </a:prstGeom>
        </p:spPr>
      </p:pic>
      <p:pic>
        <p:nvPicPr>
          <p:cNvPr id="3" name="anim-g1-41" descr="C:\Users\user\projects\younes-training\masmak-judges\.pptx-cache\s14-1.jpg"/>
          <p:cNvPicPr>
            <a:picLocks noChangeAspect="1"/>
          </p:cNvPicPr>
          <p:nvPr/>
        </p:nvPicPr>
        <p:blipFill>
          <a:blip r:embed="rId4"/>
          <a:stretch>
            <a:fillRect/>
          </a:stretch>
        </p:blipFill>
        <p:spPr>
          <a:xfrm>
            <a:off x="0" y="0"/>
            <a:ext cx="12191695" cy="6858000"/>
          </a:xfrm>
          <a:prstGeom prst="rect">
            <a:avLst/>
          </a:prstGeom>
        </p:spPr>
      </p:pic>
      <p:pic>
        <p:nvPicPr>
          <p:cNvPr id="4" name="anim-g2-42" descr="C:\Users\user\projects\younes-training\masmak-judges\.pptx-cache\s14-2.jpg"/>
          <p:cNvPicPr>
            <a:picLocks noChangeAspect="1"/>
          </p:cNvPicPr>
          <p:nvPr/>
        </p:nvPicPr>
        <p:blipFill>
          <a:blip r:embed="rId5"/>
          <a:stretch>
            <a:fillRect/>
          </a:stretch>
        </p:blipFill>
        <p:spPr>
          <a:xfrm>
            <a:off x="0" y="0"/>
            <a:ext cx="12191695" cy="6858000"/>
          </a:xfrm>
          <a:prstGeom prst="rect">
            <a:avLst/>
          </a:prstGeom>
        </p:spPr>
      </p:pic>
      <p:pic>
        <p:nvPicPr>
          <p:cNvPr id="5" name="anim-g3-43" descr="C:\Users\user\projects\younes-training\masmak-judges\.pptx-cache\s14-3.jpg"/>
          <p:cNvPicPr>
            <a:picLocks noChangeAspect="1"/>
          </p:cNvPicPr>
          <p:nvPr/>
        </p:nvPicPr>
        <p:blipFill>
          <a:blip r:embed="rId6"/>
          <a:stretch>
            <a:fillRect/>
          </a:stretch>
        </p:blipFill>
        <p:spPr>
          <a:xfrm>
            <a:off x="0" y="0"/>
            <a:ext cx="12191695" cy="6858000"/>
          </a:xfrm>
          <a:prstGeom prst="rect">
            <a:avLst/>
          </a:prstGeom>
        </p:spPr>
      </p:pic>
      <p:pic>
        <p:nvPicPr>
          <p:cNvPr id="6" name="anim-g4-44" descr="C:\Users\user\projects\younes-training\masmak-judges\.pptx-cache\s14-4.jpg"/>
          <p:cNvPicPr>
            <a:picLocks noChangeAspect="1"/>
          </p:cNvPicPr>
          <p:nvPr/>
        </p:nvPicPr>
        <p:blipFill>
          <a:blip r:embed="rId7"/>
          <a:stretch>
            <a:fillRect/>
          </a:stretch>
        </p:blipFill>
        <p:spPr>
          <a:xfrm>
            <a:off x="0" y="0"/>
            <a:ext cx="12191695" cy="6858000"/>
          </a:xfrm>
          <a:prstGeom prst="rect">
            <a:avLst/>
          </a:prstGeom>
        </p:spPr>
      </p:pic>
      <p:pic>
        <p:nvPicPr>
          <p:cNvPr id="7" name="anim-g5-45" descr="C:\Users\user\projects\younes-training\masmak-judges\.pptx-cache\s14-5.jpg"/>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user\projects\younes-training\masmak-judges\.pptx-cache\s15.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projects\younes-training\masmak-judges\.pptx-cache\s16-0.jpg"/>
          <p:cNvPicPr>
            <a:picLocks noChangeAspect="1"/>
          </p:cNvPicPr>
          <p:nvPr/>
        </p:nvPicPr>
        <p:blipFill>
          <a:blip r:embed="rId3"/>
          <a:stretch>
            <a:fillRect/>
          </a:stretch>
        </p:blipFill>
        <p:spPr>
          <a:xfrm>
            <a:off x="0" y="0"/>
            <a:ext cx="12191695" cy="6858000"/>
          </a:xfrm>
          <a:prstGeom prst="rect">
            <a:avLst/>
          </a:prstGeom>
        </p:spPr>
      </p:pic>
      <p:pic>
        <p:nvPicPr>
          <p:cNvPr id="3" name="anim-g1-46" descr="C:\Users\user\projects\younes-training\masmak-judges\.pptx-cache\s16-1.jpg"/>
          <p:cNvPicPr>
            <a:picLocks noChangeAspect="1"/>
          </p:cNvPicPr>
          <p:nvPr/>
        </p:nvPicPr>
        <p:blipFill>
          <a:blip r:embed="rId4"/>
          <a:stretch>
            <a:fillRect/>
          </a:stretch>
        </p:blipFill>
        <p:spPr>
          <a:xfrm>
            <a:off x="0" y="0"/>
            <a:ext cx="12191695" cy="6858000"/>
          </a:xfrm>
          <a:prstGeom prst="rect">
            <a:avLst/>
          </a:prstGeom>
        </p:spPr>
      </p:pic>
      <p:pic>
        <p:nvPicPr>
          <p:cNvPr id="4" name="anim-g2-47" descr="C:\Users\user\projects\younes-training\masmak-judges\.pptx-cache\s16-2.jpg"/>
          <p:cNvPicPr>
            <a:picLocks noChangeAspect="1"/>
          </p:cNvPicPr>
          <p:nvPr/>
        </p:nvPicPr>
        <p:blipFill>
          <a:blip r:embed="rId5"/>
          <a:stretch>
            <a:fillRect/>
          </a:stretch>
        </p:blipFill>
        <p:spPr>
          <a:xfrm>
            <a:off x="0" y="0"/>
            <a:ext cx="12191695" cy="6858000"/>
          </a:xfrm>
          <a:prstGeom prst="rect">
            <a:avLst/>
          </a:prstGeom>
        </p:spPr>
      </p:pic>
      <p:pic>
        <p:nvPicPr>
          <p:cNvPr id="5" name="anim-g3-48" descr="C:\Users\user\projects\younes-training\masmak-judges\.pptx-cache\s16-3.jpg"/>
          <p:cNvPicPr>
            <a:picLocks noChangeAspect="1"/>
          </p:cNvPicPr>
          <p:nvPr/>
        </p:nvPicPr>
        <p:blipFill>
          <a:blip r:embed="rId6"/>
          <a:stretch>
            <a:fillRect/>
          </a:stretch>
        </p:blipFill>
        <p:spPr>
          <a:xfrm>
            <a:off x="0" y="0"/>
            <a:ext cx="12191695" cy="6858000"/>
          </a:xfrm>
          <a:prstGeom prst="rect">
            <a:avLst/>
          </a:prstGeom>
        </p:spPr>
      </p:pic>
      <p:pic>
        <p:nvPicPr>
          <p:cNvPr id="6" name="anim-g4-49" descr="C:\Users\user\projects\younes-training\masmak-judges\.pptx-cache\s16-4.jpg"/>
          <p:cNvPicPr>
            <a:picLocks noChangeAspect="1"/>
          </p:cNvPicPr>
          <p:nvPr/>
        </p:nvPicPr>
        <p:blipFill>
          <a:blip r:embed="rId7"/>
          <a:stretch>
            <a:fillRect/>
          </a:stretch>
        </p:blipFill>
        <p:spPr>
          <a:xfrm>
            <a:off x="0" y="0"/>
            <a:ext cx="12191695" cy="6858000"/>
          </a:xfrm>
          <a:prstGeom prst="rect">
            <a:avLst/>
          </a:prstGeom>
        </p:spPr>
      </p:pic>
      <p:pic>
        <p:nvPicPr>
          <p:cNvPr id="7" name="anim-g5-50" descr="C:\Users\user\projects\younes-training\masmak-judges\.pptx-cache\s16-5.jpg"/>
          <p:cNvPicPr>
            <a:picLocks noChangeAspect="1"/>
          </p:cNvPicPr>
          <p:nvPr/>
        </p:nvPicPr>
        <p:blipFill>
          <a:blip r:embed="rId8"/>
          <a:stretch>
            <a:fillRect/>
          </a:stretch>
        </p:blipFill>
        <p:spPr>
          <a:xfrm>
            <a:off x="0" y="0"/>
            <a:ext cx="12191695" cy="6858000"/>
          </a:xfrm>
          <a:prstGeom prst="rect">
            <a:avLst/>
          </a:prstGeom>
        </p:spPr>
      </p:pic>
      <p:pic>
        <p:nvPicPr>
          <p:cNvPr id="8" name="anim-g6-51" descr="C:\Users\user\projects\younes-training\masmak-judges\.pptx-cache\s16-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projects\younes-training\masmak-judges\.pptx-cache\s17.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txBody>
          <a:bodyPr/>
          <a:p/>
        </p:txBody>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B08A2E"/>
                </a:solidFill>
                <a:latin typeface="Cairo" pitchFamily="34" charset="0"/>
                <a:ea typeface="Cairo" pitchFamily="34" charset="-122"/>
                <a:cs typeface="Cairo" pitchFamily="34" charset="-120"/>
              </a:rPr>
              <a:t>🧠 روبوت يتخذ قرارًا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marL="0" indent="0" algn="r" rtl="1">
              <a:buNone/>
            </a:pPr>
            <a:r>
              <a:rPr lang="ar-SA" altLang="en-US" sz="3200" dirty="0">
                <a:solidFill>
                  <a:srgbClr val="101B45"/>
                </a:solidFill>
                <a:latin typeface="Cairo Black" pitchFamily="34" charset="0"/>
                <a:ea typeface="Cairo Black" pitchFamily="34" charset="-122"/>
                <a:cs typeface="Cairo Black" pitchFamily="34" charset="-120"/>
              </a:rPr>
              <a:t>قياس الاهتمام: من أداة… إلى نظام يقرر</a:t>
            </a:r>
            <a:endParaRPr lang="ar-SA" sz="3200" dirty="0"/>
          </a:p>
        </p:txBody>
      </p:sp>
      <p:sp>
        <p:nvSpPr>
          <p:cNvPr id="5" name="anim-g1-52"/>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6" name="anim-g1-53"/>
          <p:cNvSpPr/>
          <p:nvPr/>
        </p:nvSpPr>
        <p:spPr>
          <a:xfrm>
            <a:off x="10527487" y="2267712"/>
            <a:ext cx="566928" cy="566928"/>
          </a:xfrm>
          <a:prstGeom prst="roundRect">
            <a:avLst>
              <a:gd name="adj" fmla="val 32258"/>
            </a:avLst>
          </a:prstGeom>
          <a:solidFill>
            <a:srgbClr val="F7E6BC"/>
          </a:solidFill>
          <a:ln/>
        </p:spPr>
        <p:txBody>
          <a:bodyPr/>
          <a:p/>
        </p:txBody>
      </p:sp>
      <p:sp>
        <p:nvSpPr>
          <p:cNvPr id="7" name="anim-g1-54"/>
          <p:cNvSpPr/>
          <p:nvPr/>
        </p:nvSpPr>
        <p:spPr>
          <a:xfrm>
            <a:off x="10527487"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5"/>
          <p:cNvSpPr/>
          <p:nvPr/>
        </p:nvSpPr>
        <p:spPr>
          <a:xfrm>
            <a:off x="6507328"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البيانات</a:t>
            </a:r>
            <a:endParaRPr lang="ar-SA" sz="2200" dirty="0"/>
          </a:p>
        </p:txBody>
      </p:sp>
      <p:sp>
        <p:nvSpPr>
          <p:cNvPr id="9" name="anim-g1-56"/>
          <p:cNvSpPr/>
          <p:nvPr/>
        </p:nvSpPr>
        <p:spPr>
          <a:xfrm>
            <a:off x="6507328"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كم ثانية ثبّت الزائر نظره على كل جهة؟ وهل بقي حتى بعد انتهاء الفيديو؟</a:t>
            </a:r>
            <a:endParaRPr lang="ar-SA" sz="1900" dirty="0"/>
          </a:p>
        </p:txBody>
      </p:sp>
      <p:sp>
        <p:nvSpPr>
          <p:cNvPr id="10" name="anim-g2-57"/>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1" name="anim-g2-58"/>
          <p:cNvSpPr/>
          <p:nvPr/>
        </p:nvSpPr>
        <p:spPr>
          <a:xfrm>
            <a:off x="5117440" y="2267712"/>
            <a:ext cx="566928" cy="566928"/>
          </a:xfrm>
          <a:prstGeom prst="roundRect">
            <a:avLst>
              <a:gd name="adj" fmla="val 32258"/>
            </a:avLst>
          </a:prstGeom>
          <a:solidFill>
            <a:srgbClr val="F7E6BC"/>
          </a:solidFill>
          <a:ln/>
        </p:spPr>
        <p:txBody>
          <a:bodyPr/>
          <a:p/>
        </p:txBody>
      </p:sp>
      <p:sp>
        <p:nvSpPr>
          <p:cNvPr id="12" name="anim-g2-59"/>
          <p:cNvSpPr/>
          <p:nvPr/>
        </p:nvSpPr>
        <p:spPr>
          <a:xfrm>
            <a:off x="5117440"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0"/>
          <p:cNvSpPr/>
          <p:nvPr/>
        </p:nvSpPr>
        <p:spPr>
          <a:xfrm>
            <a:off x="1097280"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القرار</a:t>
            </a:r>
            <a:endParaRPr lang="ar-SA" sz="2200" dirty="0"/>
          </a:p>
        </p:txBody>
      </p:sp>
      <p:sp>
        <p:nvSpPr>
          <p:cNvPr id="14" name="anim-g2-61"/>
          <p:cNvSpPr/>
          <p:nvPr/>
        </p:nvSpPr>
        <p:spPr>
          <a:xfrm>
            <a:off x="1097280"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اهتمام طويل وعميق؟ النظام يقرر وحده مكافأته بنمط إضاءة احتفالي</a:t>
            </a:r>
            <a:endParaRPr lang="ar-SA" sz="1900" dirty="0"/>
          </a:p>
        </p:txBody>
      </p:sp>
      <p:sp>
        <p:nvSpPr>
          <p:cNvPr id="15" name="anim-g3-62"/>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6" name="anim-g3-63"/>
          <p:cNvSpPr/>
          <p:nvPr/>
        </p:nvSpPr>
        <p:spPr>
          <a:xfrm>
            <a:off x="10527487" y="4393692"/>
            <a:ext cx="566928" cy="566928"/>
          </a:xfrm>
          <a:prstGeom prst="roundRect">
            <a:avLst>
              <a:gd name="adj" fmla="val 32258"/>
            </a:avLst>
          </a:prstGeom>
          <a:solidFill>
            <a:srgbClr val="F7E6BC"/>
          </a:solidFill>
          <a:ln/>
        </p:spPr>
        <p:txBody>
          <a:bodyPr/>
          <a:p/>
        </p:txBody>
      </p:sp>
      <p:sp>
        <p:nvSpPr>
          <p:cNvPr id="17" name="anim-g3-64"/>
          <p:cNvSpPr/>
          <p:nvPr/>
        </p:nvSpPr>
        <p:spPr>
          <a:xfrm>
            <a:off x="10527487"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5"/>
          <p:cNvSpPr/>
          <p:nvPr/>
        </p:nvSpPr>
        <p:spPr>
          <a:xfrm>
            <a:off x="6507328"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ملخص الجولة</a:t>
            </a:r>
            <a:endParaRPr lang="ar-SA" sz="2200" dirty="0"/>
          </a:p>
        </p:txBody>
      </p:sp>
      <p:sp>
        <p:nvSpPr>
          <p:cNvPr id="19" name="anim-g3-66"/>
          <p:cNvSpPr/>
          <p:nvPr/>
        </p:nvSpPr>
        <p:spPr>
          <a:xfrm>
            <a:off x="6507328"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في الختام: «أكثر ما شدّك كان…» بدل أن تنتهي التجربة فجأة</a:t>
            </a:r>
            <a:endParaRPr lang="ar-SA" sz="1900" dirty="0"/>
          </a:p>
        </p:txBody>
      </p:sp>
      <p:sp>
        <p:nvSpPr>
          <p:cNvPr id="20" name="anim-g4-67"/>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21" name="anim-g4-68"/>
          <p:cNvSpPr/>
          <p:nvPr/>
        </p:nvSpPr>
        <p:spPr>
          <a:xfrm>
            <a:off x="5117440" y="4393692"/>
            <a:ext cx="566928" cy="566928"/>
          </a:xfrm>
          <a:prstGeom prst="roundRect">
            <a:avLst>
              <a:gd name="adj" fmla="val 32258"/>
            </a:avLst>
          </a:prstGeom>
          <a:solidFill>
            <a:srgbClr val="F7E6BC"/>
          </a:solidFill>
          <a:ln/>
        </p:spPr>
        <p:txBody>
          <a:bodyPr/>
          <a:p/>
        </p:txBody>
      </p:sp>
      <p:sp>
        <p:nvSpPr>
          <p:cNvPr id="22" name="anim-g4-69"/>
          <p:cNvSpPr/>
          <p:nvPr/>
        </p:nvSpPr>
        <p:spPr>
          <a:xfrm>
            <a:off x="5117440"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70"/>
          <p:cNvSpPr/>
          <p:nvPr/>
        </p:nvSpPr>
        <p:spPr>
          <a:xfrm>
            <a:off x="1097280"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لماذا يهم؟</a:t>
            </a:r>
            <a:endParaRPr lang="ar-SA" sz="2200" dirty="0"/>
          </a:p>
        </p:txBody>
      </p:sp>
      <p:sp>
        <p:nvSpPr>
          <p:cNvPr id="24" name="anim-g4-71"/>
          <p:cNvSpPr/>
          <p:nvPr/>
        </p:nvSpPr>
        <p:spPr>
          <a:xfrm>
            <a:off x="1097280"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قرار مستقل مبني على بيانات لحظية: شرط الاستقلالية في مسابقات الروبوت</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5E6782"/>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5E6782"/>
                </a:solidFill>
                <a:latin typeface="Cairo" pitchFamily="34" charset="0"/>
                <a:ea typeface="Cairo" pitchFamily="34" charset="-122"/>
                <a:cs typeface="Cairo" pitchFamily="34" charset="-120"/>
              </a:rPr>
              <a:t>🦽 القرار والجولة  ·  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projects\younes-training\masmak-judges\.pptx-cache\s19.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user\projects\younes-training\masmak-judges\.pptx-cache\s20.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user\projects\younes-training\masmak-judges\.pptx-cache\s21-0.jpg"/>
          <p:cNvPicPr>
            <a:picLocks noChangeAspect="1"/>
          </p:cNvPicPr>
          <p:nvPr/>
        </p:nvPicPr>
        <p:blipFill>
          <a:blip r:embed="rId3"/>
          <a:stretch>
            <a:fillRect/>
          </a:stretch>
        </p:blipFill>
        <p:spPr>
          <a:xfrm>
            <a:off x="0" y="0"/>
            <a:ext cx="12191695" cy="6858000"/>
          </a:xfrm>
          <a:prstGeom prst="rect">
            <a:avLst/>
          </a:prstGeom>
        </p:spPr>
      </p:pic>
      <p:pic>
        <p:nvPicPr>
          <p:cNvPr id="3" name="anim-g1-72" descr="C:\Users\user\projects\younes-training\masmak-judges\.pptx-cache\s21-1.jpg"/>
          <p:cNvPicPr>
            <a:picLocks noChangeAspect="1"/>
          </p:cNvPicPr>
          <p:nvPr/>
        </p:nvPicPr>
        <p:blipFill>
          <a:blip r:embed="rId4"/>
          <a:stretch>
            <a:fillRect/>
          </a:stretch>
        </p:blipFill>
        <p:spPr>
          <a:xfrm>
            <a:off x="0" y="0"/>
            <a:ext cx="12191695" cy="6858000"/>
          </a:xfrm>
          <a:prstGeom prst="rect">
            <a:avLst/>
          </a:prstGeom>
        </p:spPr>
      </p:pic>
      <p:pic>
        <p:nvPicPr>
          <p:cNvPr id="4" name="anim-g2-73" descr="C:\Users\user\projects\younes-training\masmak-judges\.pptx-cache\s21-2.jpg"/>
          <p:cNvPicPr>
            <a:picLocks noChangeAspect="1"/>
          </p:cNvPicPr>
          <p:nvPr/>
        </p:nvPicPr>
        <p:blipFill>
          <a:blip r:embed="rId5"/>
          <a:stretch>
            <a:fillRect/>
          </a:stretch>
        </p:blipFill>
        <p:spPr>
          <a:xfrm>
            <a:off x="0" y="0"/>
            <a:ext cx="12191695" cy="6858000"/>
          </a:xfrm>
          <a:prstGeom prst="rect">
            <a:avLst/>
          </a:prstGeom>
        </p:spPr>
      </p:pic>
      <p:pic>
        <p:nvPicPr>
          <p:cNvPr id="5" name="anim-g3-74" descr="C:\Users\user\projects\younes-training\masmak-judges\.pptx-cache\s21-3.jpg"/>
          <p:cNvPicPr>
            <a:picLocks noChangeAspect="1"/>
          </p:cNvPicPr>
          <p:nvPr/>
        </p:nvPicPr>
        <p:blipFill>
          <a:blip r:embed="rId6"/>
          <a:stretch>
            <a:fillRect/>
          </a:stretch>
        </p:blipFill>
        <p:spPr>
          <a:xfrm>
            <a:off x="0" y="0"/>
            <a:ext cx="12191695" cy="6858000"/>
          </a:xfrm>
          <a:prstGeom prst="rect">
            <a:avLst/>
          </a:prstGeom>
        </p:spPr>
      </p:pic>
      <p:pic>
        <p:nvPicPr>
          <p:cNvPr id="6" name="anim-g4-75" descr="C:\Users\user\projects\younes-training\masmak-judges\.pptx-cache\s21-4.jpg"/>
          <p:cNvPicPr>
            <a:picLocks noChangeAspect="1"/>
          </p:cNvPicPr>
          <p:nvPr/>
        </p:nvPicPr>
        <p:blipFill>
          <a:blip r:embed="rId7"/>
          <a:stretch>
            <a:fillRect/>
          </a:stretch>
        </p:blipFill>
        <p:spPr>
          <a:xfrm>
            <a:off x="0" y="0"/>
            <a:ext cx="12191695" cy="6858000"/>
          </a:xfrm>
          <a:prstGeom prst="rect">
            <a:avLst/>
          </a:prstGeom>
        </p:spPr>
      </p:pic>
      <p:pic>
        <p:nvPicPr>
          <p:cNvPr id="7" name="anim-g5-76" descr="C:\Users\user\projects\younes-training\masmak-judges\.pptx-cache\s21-5.jpg"/>
          <p:cNvPicPr>
            <a:picLocks noChangeAspect="1"/>
          </p:cNvPicPr>
          <p:nvPr/>
        </p:nvPicPr>
        <p:blipFill>
          <a:blip r:embed="rId8"/>
          <a:stretch>
            <a:fillRect/>
          </a:stretch>
        </p:blipFill>
        <p:spPr>
          <a:xfrm>
            <a:off x="0" y="0"/>
            <a:ext cx="12191695" cy="6858000"/>
          </a:xfrm>
          <a:prstGeom prst="rect">
            <a:avLst/>
          </a:prstGeom>
        </p:spPr>
      </p:pic>
      <p:pic>
        <p:nvPicPr>
          <p:cNvPr id="8" name="anim-g6-77" descr="C:\Users\user\projects\younes-training\masmak-judges\.pptx-cache\s21-6.jpg"/>
          <p:cNvPicPr>
            <a:picLocks noChangeAspect="1"/>
          </p:cNvPicPr>
          <p:nvPr/>
        </p:nvPicPr>
        <p:blipFill>
          <a:blip r:embed="rId9"/>
          <a:stretch>
            <a:fillRect/>
          </a:stretch>
        </p:blipFill>
        <p:spPr>
          <a:xfrm>
            <a:off x="0" y="0"/>
            <a:ext cx="12191695" cy="6858000"/>
          </a:xfrm>
          <a:prstGeom prst="rect">
            <a:avLst/>
          </a:prstGeom>
        </p:spPr>
      </p:pic>
      <p:pic>
        <p:nvPicPr>
          <p:cNvPr id="9" name="anim-g7-78" descr="C:\Users\user\projects\younes-training\masmak-judges\.pptx-cache\s21-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user\projects\younes-training\masmak-judges\.pptx-cache\s22.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user\projects\younes-training\masmak-judges\.pptx-cache\s23-0.jpg"/>
          <p:cNvPicPr>
            <a:picLocks noChangeAspect="1"/>
          </p:cNvPicPr>
          <p:nvPr/>
        </p:nvPicPr>
        <p:blipFill>
          <a:blip r:embed="rId3"/>
          <a:stretch>
            <a:fillRect/>
          </a:stretch>
        </p:blipFill>
        <p:spPr>
          <a:xfrm>
            <a:off x="0" y="0"/>
            <a:ext cx="12191695" cy="6858000"/>
          </a:xfrm>
          <a:prstGeom prst="rect">
            <a:avLst/>
          </a:prstGeom>
        </p:spPr>
      </p:pic>
      <p:pic>
        <p:nvPicPr>
          <p:cNvPr id="3" name="anim-g1-79" descr="C:\Users\user\projects\younes-training\masmak-judges\.pptx-cache\s23-1.jpg"/>
          <p:cNvPicPr>
            <a:picLocks noChangeAspect="1"/>
          </p:cNvPicPr>
          <p:nvPr/>
        </p:nvPicPr>
        <p:blipFill>
          <a:blip r:embed="rId4"/>
          <a:stretch>
            <a:fillRect/>
          </a:stretch>
        </p:blipFill>
        <p:spPr>
          <a:xfrm>
            <a:off x="0" y="0"/>
            <a:ext cx="12191695" cy="6858000"/>
          </a:xfrm>
          <a:prstGeom prst="rect">
            <a:avLst/>
          </a:prstGeom>
        </p:spPr>
      </p:pic>
      <p:pic>
        <p:nvPicPr>
          <p:cNvPr id="4" name="anim-g2-80" descr="C:\Users\user\projects\younes-training\masmak-judges\.pptx-cache\s23-2.jpg"/>
          <p:cNvPicPr>
            <a:picLocks noChangeAspect="1"/>
          </p:cNvPicPr>
          <p:nvPr/>
        </p:nvPicPr>
        <p:blipFill>
          <a:blip r:embed="rId5"/>
          <a:stretch>
            <a:fillRect/>
          </a:stretch>
        </p:blipFill>
        <p:spPr>
          <a:xfrm>
            <a:off x="0" y="0"/>
            <a:ext cx="12191695" cy="6858000"/>
          </a:xfrm>
          <a:prstGeom prst="rect">
            <a:avLst/>
          </a:prstGeom>
        </p:spPr>
      </p:pic>
      <p:pic>
        <p:nvPicPr>
          <p:cNvPr id="5" name="anim-g3-81" descr="C:\Users\user\projects\younes-training\masmak-judges\.pptx-cache\s23-3.jpg"/>
          <p:cNvPicPr>
            <a:picLocks noChangeAspect="1"/>
          </p:cNvPicPr>
          <p:nvPr/>
        </p:nvPicPr>
        <p:blipFill>
          <a:blip r:embed="rId6"/>
          <a:stretch>
            <a:fillRect/>
          </a:stretch>
        </p:blipFill>
        <p:spPr>
          <a:xfrm>
            <a:off x="0" y="0"/>
            <a:ext cx="12191695" cy="6858000"/>
          </a:xfrm>
          <a:prstGeom prst="rect">
            <a:avLst/>
          </a:prstGeom>
        </p:spPr>
      </p:pic>
      <p:pic>
        <p:nvPicPr>
          <p:cNvPr id="6" name="anim-g4-82" descr="C:\Users\user\projects\younes-training\masmak-judges\.pptx-cache\s23-4.jpg"/>
          <p:cNvPicPr>
            <a:picLocks noChangeAspect="1"/>
          </p:cNvPicPr>
          <p:nvPr/>
        </p:nvPicPr>
        <p:blipFill>
          <a:blip r:embed="rId7"/>
          <a:stretch>
            <a:fillRect/>
          </a:stretch>
        </p:blipFill>
        <p:spPr>
          <a:xfrm>
            <a:off x="0" y="0"/>
            <a:ext cx="12191695" cy="6858000"/>
          </a:xfrm>
          <a:prstGeom prst="rect">
            <a:avLst/>
          </a:prstGeom>
        </p:spPr>
      </p:pic>
      <p:pic>
        <p:nvPicPr>
          <p:cNvPr id="7" name="anim-g5-83" descr="C:\Users\user\projects\younes-training\masmak-judges\.pptx-cache\s23-5.jpg"/>
          <p:cNvPicPr>
            <a:picLocks noChangeAspect="1"/>
          </p:cNvPicPr>
          <p:nvPr/>
        </p:nvPicPr>
        <p:blipFill>
          <a:blip r:embed="rId8"/>
          <a:stretch>
            <a:fillRect/>
          </a:stretch>
        </p:blipFill>
        <p:spPr>
          <a:xfrm>
            <a:off x="0" y="0"/>
            <a:ext cx="12191695" cy="6858000"/>
          </a:xfrm>
          <a:prstGeom prst="rect">
            <a:avLst/>
          </a:prstGeom>
        </p:spPr>
      </p:pic>
      <p:pic>
        <p:nvPicPr>
          <p:cNvPr id="8" name="anim-g6-84" descr="C:\Users\user\projects\younes-training\masmak-judges\.pptx-cache\s23-6.jpg"/>
          <p:cNvPicPr>
            <a:picLocks noChangeAspect="1"/>
          </p:cNvPicPr>
          <p:nvPr/>
        </p:nvPicPr>
        <p:blipFill>
          <a:blip r:embed="rId9"/>
          <a:stretch>
            <a:fillRect/>
          </a:stretch>
        </p:blipFill>
        <p:spPr>
          <a:xfrm>
            <a:off x="0" y="0"/>
            <a:ext cx="12191695" cy="6858000"/>
          </a:xfrm>
          <a:prstGeom prst="rect">
            <a:avLst/>
          </a:prstGeom>
        </p:spPr>
      </p:pic>
      <p:pic>
        <p:nvPicPr>
          <p:cNvPr id="9" name="anim-g7-85" descr="C:\Users\user\projects\younes-training\masmak-judges\.pptx-cache\s23-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masmak-judges\.pptx-cache\s24-0.jpg"/>
          <p:cNvPicPr>
            <a:picLocks noChangeAspect="1"/>
          </p:cNvPicPr>
          <p:nvPr/>
        </p:nvPicPr>
        <p:blipFill>
          <a:blip r:embed="rId3"/>
          <a:stretch>
            <a:fillRect/>
          </a:stretch>
        </p:blipFill>
        <p:spPr>
          <a:xfrm>
            <a:off x="0" y="0"/>
            <a:ext cx="12191695" cy="6858000"/>
          </a:xfrm>
          <a:prstGeom prst="rect">
            <a:avLst/>
          </a:prstGeom>
        </p:spPr>
      </p:pic>
      <p:pic>
        <p:nvPicPr>
          <p:cNvPr id="3" name="anim-g1-86" descr="C:\Users\user\projects\younes-training\masmak-judges\.pptx-cache\s24-1.jpg"/>
          <p:cNvPicPr>
            <a:picLocks noChangeAspect="1"/>
          </p:cNvPicPr>
          <p:nvPr/>
        </p:nvPicPr>
        <p:blipFill>
          <a:blip r:embed="rId4"/>
          <a:stretch>
            <a:fillRect/>
          </a:stretch>
        </p:blipFill>
        <p:spPr>
          <a:xfrm>
            <a:off x="0" y="0"/>
            <a:ext cx="12191695" cy="6858000"/>
          </a:xfrm>
          <a:prstGeom prst="rect">
            <a:avLst/>
          </a:prstGeom>
        </p:spPr>
      </p:pic>
      <p:pic>
        <p:nvPicPr>
          <p:cNvPr id="4" name="anim-g2-87" descr="C:\Users\user\projects\younes-training\masmak-judges\.pptx-cache\s24-2.jpg"/>
          <p:cNvPicPr>
            <a:picLocks noChangeAspect="1"/>
          </p:cNvPicPr>
          <p:nvPr/>
        </p:nvPicPr>
        <p:blipFill>
          <a:blip r:embed="rId5"/>
          <a:stretch>
            <a:fillRect/>
          </a:stretch>
        </p:blipFill>
        <p:spPr>
          <a:xfrm>
            <a:off x="0" y="0"/>
            <a:ext cx="12191695" cy="6858000"/>
          </a:xfrm>
          <a:prstGeom prst="rect">
            <a:avLst/>
          </a:prstGeom>
        </p:spPr>
      </p:pic>
      <p:pic>
        <p:nvPicPr>
          <p:cNvPr id="5" name="anim-g3-88" descr="C:\Users\user\projects\younes-training\masmak-judges\.pptx-cache\s24-3.jpg"/>
          <p:cNvPicPr>
            <a:picLocks noChangeAspect="1"/>
          </p:cNvPicPr>
          <p:nvPr/>
        </p:nvPicPr>
        <p:blipFill>
          <a:blip r:embed="rId6"/>
          <a:stretch>
            <a:fillRect/>
          </a:stretch>
        </p:blipFill>
        <p:spPr>
          <a:xfrm>
            <a:off x="0" y="0"/>
            <a:ext cx="12191695" cy="6858000"/>
          </a:xfrm>
          <a:prstGeom prst="rect">
            <a:avLst/>
          </a:prstGeom>
        </p:spPr>
      </p:pic>
      <p:pic>
        <p:nvPicPr>
          <p:cNvPr id="6" name="anim-g4-89" descr="C:\Users\user\projects\younes-training\masmak-judges\.pptx-cache\s24-4.jpg"/>
          <p:cNvPicPr>
            <a:picLocks noChangeAspect="1"/>
          </p:cNvPicPr>
          <p:nvPr/>
        </p:nvPicPr>
        <p:blipFill>
          <a:blip r:embed="rId7"/>
          <a:stretch>
            <a:fillRect/>
          </a:stretch>
        </p:blipFill>
        <p:spPr>
          <a:xfrm>
            <a:off x="0" y="0"/>
            <a:ext cx="12191695" cy="6858000"/>
          </a:xfrm>
          <a:prstGeom prst="rect">
            <a:avLst/>
          </a:prstGeom>
        </p:spPr>
      </p:pic>
      <p:pic>
        <p:nvPicPr>
          <p:cNvPr id="7" name="anim-g5-90" descr="C:\Users\user\projects\younes-training\masmak-judges\.pptx-cache\s24-5.jpg"/>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user\projects\younes-training\masmak-judges\.pptx-cache\s25-0.jpg"/>
          <p:cNvPicPr>
            <a:picLocks noChangeAspect="1"/>
          </p:cNvPicPr>
          <p:nvPr/>
        </p:nvPicPr>
        <p:blipFill>
          <a:blip r:embed="rId3"/>
          <a:stretch>
            <a:fillRect/>
          </a:stretch>
        </p:blipFill>
        <p:spPr>
          <a:xfrm>
            <a:off x="0" y="0"/>
            <a:ext cx="12191695" cy="6858000"/>
          </a:xfrm>
          <a:prstGeom prst="rect">
            <a:avLst/>
          </a:prstGeom>
        </p:spPr>
      </p:pic>
      <p:pic>
        <p:nvPicPr>
          <p:cNvPr id="3" name="anim-g1-91" descr="C:\Users\user\projects\younes-training\masmak-judges\.pptx-cache\s25-1.jpg"/>
          <p:cNvPicPr>
            <a:picLocks noChangeAspect="1"/>
          </p:cNvPicPr>
          <p:nvPr/>
        </p:nvPicPr>
        <p:blipFill>
          <a:blip r:embed="rId4"/>
          <a:stretch>
            <a:fillRect/>
          </a:stretch>
        </p:blipFill>
        <p:spPr>
          <a:xfrm>
            <a:off x="0" y="0"/>
            <a:ext cx="12191695" cy="6858000"/>
          </a:xfrm>
          <a:prstGeom prst="rect">
            <a:avLst/>
          </a:prstGeom>
        </p:spPr>
      </p:pic>
      <p:pic>
        <p:nvPicPr>
          <p:cNvPr id="4" name="anim-g2-92" descr="C:\Users\user\projects\younes-training\masmak-judges\.pptx-cache\s25-2.jpg"/>
          <p:cNvPicPr>
            <a:picLocks noChangeAspect="1"/>
          </p:cNvPicPr>
          <p:nvPr/>
        </p:nvPicPr>
        <p:blipFill>
          <a:blip r:embed="rId5"/>
          <a:stretch>
            <a:fillRect/>
          </a:stretch>
        </p:blipFill>
        <p:spPr>
          <a:xfrm>
            <a:off x="0" y="0"/>
            <a:ext cx="12191695" cy="6858000"/>
          </a:xfrm>
          <a:prstGeom prst="rect">
            <a:avLst/>
          </a:prstGeom>
        </p:spPr>
      </p:pic>
      <p:pic>
        <p:nvPicPr>
          <p:cNvPr id="5" name="anim-g3-93" descr="C:\Users\user\projects\younes-training\masmak-judges\.pptx-cache\s25-3.jpg"/>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txBody>
          <a:bodyPr/>
          <a:p/>
        </p:txBody>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B08A2E"/>
                </a:solidFill>
                <a:latin typeface="Cairo" pitchFamily="34" charset="0"/>
                <a:ea typeface="Cairo" pitchFamily="34" charset="-122"/>
                <a:cs typeface="Cairo" pitchFamily="34" charset="-120"/>
              </a:rPr>
              <a:t>🛡️ الأمان أولًا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marL="0" indent="0" algn="r" rtl="1">
              <a:buNone/>
            </a:pPr>
            <a:r>
              <a:rPr lang="ar-SA" altLang="en-US" sz="3800" dirty="0">
                <a:solidFill>
                  <a:srgbClr val="101B45"/>
                </a:solidFill>
                <a:latin typeface="Cairo Black" pitchFamily="34" charset="0"/>
                <a:ea typeface="Cairo Black" pitchFamily="34" charset="-122"/>
                <a:cs typeface="Cairo Black" pitchFamily="34" charset="-120"/>
              </a:rPr>
              <a:t>قواعد تحمي المتحف… وتحمي الروبوت</a:t>
            </a:r>
            <a:endParaRPr lang="ar-SA" sz="3800" dirty="0"/>
          </a:p>
        </p:txBody>
      </p:sp>
      <p:sp>
        <p:nvSpPr>
          <p:cNvPr id="5" name="anim-g1-94"/>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6" name="anim-g1-95"/>
          <p:cNvSpPr/>
          <p:nvPr/>
        </p:nvSpPr>
        <p:spPr>
          <a:xfrm>
            <a:off x="10527487" y="2267712"/>
            <a:ext cx="566928" cy="566928"/>
          </a:xfrm>
          <a:prstGeom prst="roundRect">
            <a:avLst>
              <a:gd name="adj" fmla="val 32258"/>
            </a:avLst>
          </a:prstGeom>
          <a:solidFill>
            <a:srgbClr val="F7E6BC"/>
          </a:solidFill>
          <a:ln/>
        </p:spPr>
        <p:txBody>
          <a:bodyPr/>
          <a:p/>
        </p:txBody>
      </p:sp>
      <p:sp>
        <p:nvSpPr>
          <p:cNvPr id="7" name="anim-g1-96"/>
          <p:cNvSpPr/>
          <p:nvPr/>
        </p:nvSpPr>
        <p:spPr>
          <a:xfrm>
            <a:off x="10527487"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7"/>
          <p:cNvSpPr/>
          <p:nvPr/>
        </p:nvSpPr>
        <p:spPr>
          <a:xfrm>
            <a:off x="6507328"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يرش حتى يزول الخطر</a:t>
            </a:r>
            <a:endParaRPr lang="ar-SA" sz="2200" dirty="0"/>
          </a:p>
        </p:txBody>
      </p:sp>
      <p:sp>
        <p:nvSpPr>
          <p:cNvPr id="9" name="anim-g1-98"/>
          <p:cNvSpPr/>
          <p:nvPr/>
        </p:nvSpPr>
        <p:spPr>
          <a:xfrm>
            <a:off x="6507328"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المضخة والمروحة تعملان حتى تقول المحطة: انتهى الخطر</a:t>
            </a:r>
            <a:endParaRPr lang="ar-SA" sz="1900" dirty="0"/>
          </a:p>
        </p:txBody>
      </p:sp>
      <p:sp>
        <p:nvSpPr>
          <p:cNvPr id="10" name="anim-g2-99"/>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1" name="anim-g2-100"/>
          <p:cNvSpPr/>
          <p:nvPr/>
        </p:nvSpPr>
        <p:spPr>
          <a:xfrm>
            <a:off x="5117440" y="2267712"/>
            <a:ext cx="566928" cy="566928"/>
          </a:xfrm>
          <a:prstGeom prst="roundRect">
            <a:avLst>
              <a:gd name="adj" fmla="val 32258"/>
            </a:avLst>
          </a:prstGeom>
          <a:solidFill>
            <a:srgbClr val="F7E6BC"/>
          </a:solidFill>
          <a:ln/>
        </p:spPr>
        <p:txBody>
          <a:bodyPr/>
          <a:p/>
        </p:txBody>
      </p:sp>
      <p:sp>
        <p:nvSpPr>
          <p:cNvPr id="12" name="anim-g2-101"/>
          <p:cNvSpPr/>
          <p:nvPr/>
        </p:nvSpPr>
        <p:spPr>
          <a:xfrm>
            <a:off x="5117440"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2"/>
          <p:cNvSpPr/>
          <p:nvPr/>
        </p:nvSpPr>
        <p:spPr>
          <a:xfrm>
            <a:off x="1097280"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٣٠ ثانية حدًّا أقصى</a:t>
            </a:r>
            <a:endParaRPr lang="ar-SA" sz="2200" dirty="0"/>
          </a:p>
        </p:txBody>
      </p:sp>
      <p:sp>
        <p:nvSpPr>
          <p:cNvPr id="14" name="anim-g2-103"/>
          <p:cNvSpPr/>
          <p:nvPr/>
        </p:nvSpPr>
        <p:spPr>
          <a:xfrm>
            <a:off x="1097280"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بعدها يتوقف ويعود، حتى لو لم يزل الخطر</a:t>
            </a:r>
            <a:endParaRPr lang="ar-SA" sz="1900" dirty="0"/>
          </a:p>
        </p:txBody>
      </p:sp>
      <p:sp>
        <p:nvSpPr>
          <p:cNvPr id="15" name="anim-g3-104"/>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6" name="anim-g3-105"/>
          <p:cNvSpPr/>
          <p:nvPr/>
        </p:nvSpPr>
        <p:spPr>
          <a:xfrm>
            <a:off x="10527487" y="4393692"/>
            <a:ext cx="566928" cy="566928"/>
          </a:xfrm>
          <a:prstGeom prst="roundRect">
            <a:avLst>
              <a:gd name="adj" fmla="val 32258"/>
            </a:avLst>
          </a:prstGeom>
          <a:solidFill>
            <a:srgbClr val="F7E6BC"/>
          </a:solidFill>
          <a:ln/>
        </p:spPr>
        <p:txBody>
          <a:bodyPr/>
          <a:p/>
        </p:txBody>
      </p:sp>
      <p:sp>
        <p:nvSpPr>
          <p:cNvPr id="17" name="anim-g3-106"/>
          <p:cNvSpPr/>
          <p:nvPr/>
        </p:nvSpPr>
        <p:spPr>
          <a:xfrm>
            <a:off x="10527487"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7"/>
          <p:cNvSpPr/>
          <p:nvPr/>
        </p:nvSpPr>
        <p:spPr>
          <a:xfrm>
            <a:off x="6507328"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انقطع الاتصال؟ توقف</a:t>
            </a:r>
            <a:endParaRPr lang="ar-SA" sz="2200" dirty="0"/>
          </a:p>
        </p:txBody>
      </p:sp>
      <p:sp>
        <p:nvSpPr>
          <p:cNvPr id="19" name="anim-g3-108"/>
          <p:cNvSpPr/>
          <p:nvPr/>
        </p:nvSpPr>
        <p:spPr>
          <a:xfrm>
            <a:off x="6507328"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لا رسائل من المحطة ثانيتين: تتوقف المضخة فورًا</a:t>
            </a:r>
            <a:endParaRPr lang="ar-SA" sz="1900" dirty="0"/>
          </a:p>
        </p:txBody>
      </p:sp>
      <p:sp>
        <p:nvSpPr>
          <p:cNvPr id="20" name="anim-g4-109"/>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21" name="anim-g4-110"/>
          <p:cNvSpPr/>
          <p:nvPr/>
        </p:nvSpPr>
        <p:spPr>
          <a:xfrm>
            <a:off x="5117440" y="4393692"/>
            <a:ext cx="566928" cy="566928"/>
          </a:xfrm>
          <a:prstGeom prst="roundRect">
            <a:avLst>
              <a:gd name="adj" fmla="val 32258"/>
            </a:avLst>
          </a:prstGeom>
          <a:solidFill>
            <a:srgbClr val="F7E6BC"/>
          </a:solidFill>
          <a:ln/>
        </p:spPr>
        <p:txBody>
          <a:bodyPr/>
          <a:p/>
        </p:txBody>
      </p:sp>
      <p:sp>
        <p:nvSpPr>
          <p:cNvPr id="22" name="anim-g4-111"/>
          <p:cNvSpPr/>
          <p:nvPr/>
        </p:nvSpPr>
        <p:spPr>
          <a:xfrm>
            <a:off x="5117440"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2"/>
          <p:cNvSpPr/>
          <p:nvPr/>
        </p:nvSpPr>
        <p:spPr>
          <a:xfrm>
            <a:off x="1097280"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لم يرد الثاني؟ أعد الإرسال</a:t>
            </a:r>
            <a:endParaRPr lang="ar-SA" sz="2200" dirty="0"/>
          </a:p>
        </p:txBody>
      </p:sp>
      <p:sp>
        <p:nvSpPr>
          <p:cNvPr id="24" name="anim-g4-113"/>
          <p:cNvSpPr/>
          <p:nvPr/>
        </p:nvSpPr>
        <p:spPr>
          <a:xfrm>
            <a:off x="1097280"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القائد يكرر الأمر حتى يصله «استلمت» من الروبوت الثاني</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5E6782"/>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5E6782"/>
                </a:solidFill>
                <a:latin typeface="Cairo" pitchFamily="34" charset="0"/>
                <a:ea typeface="Cairo" pitchFamily="34" charset="-122"/>
                <a:cs typeface="Cairo" pitchFamily="34" charset="-120"/>
              </a:rPr>
              <a:t>🛡️ روبوتا السلامة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user\projects\younes-training\masmak-judges\.pptx-cache\s27.jpg"/>
          <p:cNvPicPr>
            <a:picLocks noChangeAspect="1"/>
          </p:cNvPicPr>
          <p:nvPr/>
        </p:nvPicPr>
        <p:blipFill>
          <a:blip r:embed="rId5"/>
          <a:stretch>
            <a:fillRect/>
          </a:stretch>
        </p:blipFill>
        <p:spPr>
          <a:xfrm>
            <a:off x="0" y="0"/>
            <a:ext cx="12191695" cy="6858000"/>
          </a:xfrm>
          <a:prstGeom prst="rect">
            <a:avLst/>
          </a:prstGeom>
        </p:spPr>
      </p:pic>
      <p:pic>
        <p:nvPicPr>
          <p:cNvPr id="3" name="Image 1" descr="C:\Users\user\projects\younes-training\masmak-judges\.pptx-cache\s27.gif"/>
          <p:cNvPicPr>
            <a:picLocks noChangeAspect="1"/>
          </p:cNvPicPr>
          <p:nvPr/>
        </p:nvPicPr>
        <p:blipFill>
          <a:blip r:embed="rId6"/>
          <a:stretch>
            <a:fillRect/>
          </a:stretch>
        </p:blipFill>
        <p:spPr>
          <a:xfrm>
            <a:off x="1333467" y="1440160"/>
            <a:ext cx="9524762" cy="4330700"/>
          </a:xfrm>
          <a:prstGeom prst="rect">
            <a:avLst/>
          </a:prstGeom>
        </p:spPr>
      </p:pic>
      <p:pic>
        <p:nvPicPr>
          <p:cNvPr id="5" name="audio-11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333467" y="5834360"/>
            <a:ext cx="885902" cy="3429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txBody>
          <a:bodyPr/>
          <a:p/>
        </p:txBody>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B08A2E"/>
                </a:solidFill>
                <a:latin typeface="Cairo" pitchFamily="34" charset="0"/>
                <a:ea typeface="Cairo" pitchFamily="34" charset="-122"/>
                <a:cs typeface="Cairo" pitchFamily="34" charset="-120"/>
              </a:rPr>
              <a:t>🤖 أربعة روبوتات… أربع طرق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marL="0" indent="0" algn="r" rtl="1">
              <a:buNone/>
            </a:pPr>
            <a:r>
              <a:rPr lang="ar-SA" altLang="en-US" sz="3800" dirty="0">
                <a:solidFill>
                  <a:srgbClr val="101B45"/>
                </a:solidFill>
                <a:latin typeface="Cairo Black" pitchFamily="34" charset="0"/>
                <a:ea typeface="Cairo Black" pitchFamily="34" charset="-122"/>
                <a:cs typeface="Cairo Black" pitchFamily="34" charset="-120"/>
              </a:rPr>
              <a:t>كل روبوت يعمل بطريقة غير الأخرى</a:t>
            </a:r>
            <a:endParaRPr lang="ar-SA" sz="3800" dirty="0"/>
          </a:p>
        </p:txBody>
      </p:sp>
      <p:sp>
        <p:nvSpPr>
          <p:cNvPr id="5" name="anim-g1-115"/>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6" name="anim-g1-116"/>
          <p:cNvSpPr/>
          <p:nvPr/>
        </p:nvSpPr>
        <p:spPr>
          <a:xfrm>
            <a:off x="10527487" y="2267712"/>
            <a:ext cx="566928" cy="566928"/>
          </a:xfrm>
          <a:prstGeom prst="roundRect">
            <a:avLst>
              <a:gd name="adj" fmla="val 32258"/>
            </a:avLst>
          </a:prstGeom>
          <a:solidFill>
            <a:srgbClr val="F7E6BC"/>
          </a:solidFill>
          <a:ln/>
        </p:spPr>
        <p:txBody>
          <a:bodyPr/>
          <a:p/>
        </p:txBody>
      </p:sp>
      <p:sp>
        <p:nvSpPr>
          <p:cNvPr id="7" name="anim-g1-117"/>
          <p:cNvSpPr/>
          <p:nvPr/>
        </p:nvSpPr>
        <p:spPr>
          <a:xfrm>
            <a:off x="10527487"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8"/>
          <p:cNvSpPr/>
          <p:nvPr/>
        </p:nvSpPr>
        <p:spPr>
          <a:xfrm>
            <a:off x="6507328"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القائد: يقرر وحده</a:t>
            </a:r>
            <a:endParaRPr lang="ar-SA" sz="2200" dirty="0"/>
          </a:p>
        </p:txBody>
      </p:sp>
      <p:sp>
        <p:nvSpPr>
          <p:cNvPr id="9" name="anim-g1-119"/>
          <p:cNvSpPr/>
          <p:nvPr/>
        </p:nvSpPr>
        <p:spPr>
          <a:xfrm>
            <a:off x="6507328"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يطفئ اللهب، ويوزّع المهام، ويطلب الدعم بتيليجرام حين لا يكفي</a:t>
            </a:r>
            <a:endParaRPr lang="ar-SA" sz="1900" dirty="0"/>
          </a:p>
        </p:txBody>
      </p:sp>
      <p:sp>
        <p:nvSpPr>
          <p:cNvPr id="10" name="anim-g2-120"/>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1" name="anim-g2-121"/>
          <p:cNvSpPr/>
          <p:nvPr/>
        </p:nvSpPr>
        <p:spPr>
          <a:xfrm>
            <a:off x="5117440" y="2267712"/>
            <a:ext cx="566928" cy="566928"/>
          </a:xfrm>
          <a:prstGeom prst="roundRect">
            <a:avLst>
              <a:gd name="adj" fmla="val 32258"/>
            </a:avLst>
          </a:prstGeom>
          <a:solidFill>
            <a:srgbClr val="F7E6BC"/>
          </a:solidFill>
          <a:ln/>
        </p:spPr>
        <p:txBody>
          <a:bodyPr/>
          <a:p/>
        </p:txBody>
      </p:sp>
      <p:sp>
        <p:nvSpPr>
          <p:cNvPr id="12" name="anim-g2-122"/>
          <p:cNvSpPr/>
          <p:nvPr/>
        </p:nvSpPr>
        <p:spPr>
          <a:xfrm>
            <a:off x="5117440" y="226771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23"/>
          <p:cNvSpPr/>
          <p:nvPr/>
        </p:nvSpPr>
        <p:spPr>
          <a:xfrm>
            <a:off x="1097280" y="294436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الروبوت ٢: ينفّذ الأمر</a:t>
            </a:r>
            <a:endParaRPr lang="ar-SA" sz="2200" dirty="0"/>
          </a:p>
        </p:txBody>
      </p:sp>
      <p:sp>
        <p:nvSpPr>
          <p:cNvPr id="14" name="anim-g2-124"/>
          <p:cNvSpPr/>
          <p:nvPr/>
        </p:nvSpPr>
        <p:spPr>
          <a:xfrm>
            <a:off x="1097280" y="349300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لا يتحرك إلا بإذن القائد، ويتعامل مع الغاز</a:t>
            </a:r>
            <a:endParaRPr lang="ar-SA" sz="1900" dirty="0"/>
          </a:p>
        </p:txBody>
      </p:sp>
      <p:sp>
        <p:nvSpPr>
          <p:cNvPr id="15" name="anim-g3-125"/>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16" name="anim-g3-126"/>
          <p:cNvSpPr/>
          <p:nvPr/>
        </p:nvSpPr>
        <p:spPr>
          <a:xfrm>
            <a:off x="10527487" y="4393692"/>
            <a:ext cx="566928" cy="566928"/>
          </a:xfrm>
          <a:prstGeom prst="roundRect">
            <a:avLst>
              <a:gd name="adj" fmla="val 32258"/>
            </a:avLst>
          </a:prstGeom>
          <a:solidFill>
            <a:srgbClr val="F7E6BC"/>
          </a:solidFill>
          <a:ln/>
        </p:spPr>
        <p:txBody>
          <a:bodyPr/>
          <a:p/>
        </p:txBody>
      </p:sp>
      <p:sp>
        <p:nvSpPr>
          <p:cNvPr id="17" name="anim-g3-127"/>
          <p:cNvSpPr/>
          <p:nvPr/>
        </p:nvSpPr>
        <p:spPr>
          <a:xfrm>
            <a:off x="10527487"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8"/>
          <p:cNvSpPr/>
          <p:nvPr/>
        </p:nvSpPr>
        <p:spPr>
          <a:xfrm>
            <a:off x="6507328"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الروبوت ٣: عين رجل الإطفاء</a:t>
            </a:r>
            <a:endParaRPr lang="ar-SA" sz="2200" dirty="0"/>
          </a:p>
        </p:txBody>
      </p:sp>
      <p:sp>
        <p:nvSpPr>
          <p:cNvPr id="19" name="anim-g3-129"/>
          <p:cNvSpPr/>
          <p:nvPr/>
        </p:nvSpPr>
        <p:spPr>
          <a:xfrm>
            <a:off x="6507328"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خرطوم على سيرفو + ESP32-CAM يبث الحريق إلى اللابتوب</a:t>
            </a:r>
            <a:endParaRPr lang="ar-SA" sz="1900" dirty="0"/>
          </a:p>
        </p:txBody>
      </p:sp>
      <p:sp>
        <p:nvSpPr>
          <p:cNvPr id="20" name="anim-g4-130"/>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blurRad="152400" dist="38100" dir="5400000" algn="bl" rotWithShape="0">
              <a:srgbClr val="101B45">
                <a:alpha val="8000"/>
              </a:srgbClr>
            </a:outerShdw>
          </a:effectLst>
        </p:spPr>
        <p:txBody>
          <a:bodyPr/>
          <a:p/>
        </p:txBody>
      </p:sp>
      <p:sp>
        <p:nvSpPr>
          <p:cNvPr id="21" name="anim-g4-131"/>
          <p:cNvSpPr/>
          <p:nvPr/>
        </p:nvSpPr>
        <p:spPr>
          <a:xfrm>
            <a:off x="5117440" y="4393692"/>
            <a:ext cx="566928" cy="566928"/>
          </a:xfrm>
          <a:prstGeom prst="roundRect">
            <a:avLst>
              <a:gd name="adj" fmla="val 32258"/>
            </a:avLst>
          </a:prstGeom>
          <a:solidFill>
            <a:srgbClr val="F7E6BC"/>
          </a:solidFill>
          <a:ln/>
        </p:spPr>
        <p:txBody>
          <a:bodyPr/>
          <a:p/>
        </p:txBody>
      </p:sp>
      <p:sp>
        <p:nvSpPr>
          <p:cNvPr id="22" name="anim-g4-132"/>
          <p:cNvSpPr/>
          <p:nvPr/>
        </p:nvSpPr>
        <p:spPr>
          <a:xfrm>
            <a:off x="5117440" y="4393692"/>
            <a:ext cx="566928" cy="566928"/>
          </a:xfrm>
          <a:prstGeom prst="rect">
            <a:avLst/>
          </a:prstGeom>
          <a:noFill/>
          <a:ln/>
        </p:spPr>
        <p:txBody>
          <a:bodyPr wrap="square" lIns="0" tIns="0" rIns="0" bIns="0" rtlCol="0" anchor="ctr">
            <a:normAutofit/>
          </a:bodyPr>
          <a:lstStyle/>
          <a:p>
            <a:pPr marL="0" indent="0" algn="ctr" rtl="1">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33"/>
          <p:cNvSpPr/>
          <p:nvPr/>
        </p:nvSpPr>
        <p:spPr>
          <a:xfrm>
            <a:off x="1097280" y="5070348"/>
            <a:ext cx="4587088" cy="548640"/>
          </a:xfrm>
          <a:prstGeom prst="rect">
            <a:avLst/>
          </a:prstGeom>
          <a:noFill/>
          <a:ln/>
        </p:spPr>
        <p:txBody>
          <a:bodyPr wrap="square" lIns="0" tIns="0" rIns="0" bIns="0" rtlCol="0" anchor="ctr">
            <a:normAutofit/>
          </a:bodyPr>
          <a:lstStyle/>
          <a:p>
            <a:pPr marL="0" indent="0" algn="r" rtl="1">
              <a:buNone/>
            </a:pPr>
            <a:r>
              <a:rPr lang="ar-SA" altLang="en-US" sz="2200" dirty="0">
                <a:solidFill>
                  <a:srgbClr val="101B45"/>
                </a:solidFill>
                <a:latin typeface="Cairo Black" pitchFamily="34" charset="0"/>
                <a:ea typeface="Cairo Black" pitchFamily="34" charset="-122"/>
                <a:cs typeface="Cairo Black" pitchFamily="34" charset="-120"/>
              </a:rPr>
              <a:t>الروبوت ٤: خرطوم إضافي</a:t>
            </a:r>
            <a:endParaRPr lang="ar-SA" sz="2200" dirty="0"/>
          </a:p>
        </p:txBody>
      </p:sp>
      <p:sp>
        <p:nvSpPr>
          <p:cNvPr id="24" name="anim-g4-134"/>
          <p:cNvSpPr/>
          <p:nvPr/>
        </p:nvSpPr>
        <p:spPr>
          <a:xfrm>
            <a:off x="1097280" y="5618988"/>
            <a:ext cx="4587088" cy="278892"/>
          </a:xfrm>
          <a:prstGeom prst="rect">
            <a:avLst/>
          </a:prstGeom>
          <a:noFill/>
          <a:ln/>
        </p:spPr>
        <p:txBody>
          <a:bodyPr wrap="square" lIns="0" tIns="0" rIns="0" bIns="0" rtlCol="0" anchor="t">
            <a:normAutofit/>
          </a:bodyPr>
          <a:lstStyle/>
          <a:p>
            <a:pPr marL="0" indent="0" algn="r" rtl="1">
              <a:lnSpc>
                <a:spcPct val="115000"/>
              </a:lnSpc>
              <a:buNone/>
            </a:pPr>
            <a:r>
              <a:rPr lang="ar-SA" altLang="en-US" sz="1900" b="1" dirty="0">
                <a:solidFill>
                  <a:srgbClr val="3B4460"/>
                </a:solidFill>
                <a:latin typeface="Cairo" pitchFamily="34" charset="0"/>
                <a:ea typeface="Cairo" pitchFamily="34" charset="-122"/>
                <a:cs typeface="Cairo" pitchFamily="34" charset="-120"/>
              </a:rPr>
              <a:t>خرطوم على سيرفو، يتحرك مع الثالث بحركة اليد نفسها</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5E6782"/>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5E6782"/>
                </a:solidFill>
                <a:latin typeface="Cairo" pitchFamily="34" charset="0"/>
                <a:ea typeface="Cairo" pitchFamily="34" charset="-122"/>
                <a:cs typeface="Cairo" pitchFamily="34" charset="-120"/>
              </a:rPr>
              <a:t>🚒 رجل الإطفاء  ·  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user\projects\younes-training\masmak-judges\.pptx-cache\s29-0.jpg"/>
          <p:cNvPicPr>
            <a:picLocks noChangeAspect="1"/>
          </p:cNvPicPr>
          <p:nvPr/>
        </p:nvPicPr>
        <p:blipFill>
          <a:blip r:embed="rId3"/>
          <a:stretch>
            <a:fillRect/>
          </a:stretch>
        </p:blipFill>
        <p:spPr>
          <a:xfrm>
            <a:off x="0" y="0"/>
            <a:ext cx="12191695" cy="6858000"/>
          </a:xfrm>
          <a:prstGeom prst="rect">
            <a:avLst/>
          </a:prstGeom>
        </p:spPr>
      </p:pic>
      <p:pic>
        <p:nvPicPr>
          <p:cNvPr id="3" name="anim-g1-135" descr="C:\Users\user\projects\younes-training\masmak-judges\.pptx-cache\s29-1.jpg"/>
          <p:cNvPicPr>
            <a:picLocks noChangeAspect="1"/>
          </p:cNvPicPr>
          <p:nvPr/>
        </p:nvPicPr>
        <p:blipFill>
          <a:blip r:embed="rId4"/>
          <a:stretch>
            <a:fillRect/>
          </a:stretch>
        </p:blipFill>
        <p:spPr>
          <a:xfrm>
            <a:off x="0" y="0"/>
            <a:ext cx="12191695" cy="6858000"/>
          </a:xfrm>
          <a:prstGeom prst="rect">
            <a:avLst/>
          </a:prstGeom>
        </p:spPr>
      </p:pic>
      <p:pic>
        <p:nvPicPr>
          <p:cNvPr id="4" name="anim-g2-136" descr="C:\Users\user\projects\younes-training\masmak-judges\.pptx-cache\s29-2.jpg"/>
          <p:cNvPicPr>
            <a:picLocks noChangeAspect="1"/>
          </p:cNvPicPr>
          <p:nvPr/>
        </p:nvPicPr>
        <p:blipFill>
          <a:blip r:embed="rId5"/>
          <a:stretch>
            <a:fillRect/>
          </a:stretch>
        </p:blipFill>
        <p:spPr>
          <a:xfrm>
            <a:off x="0" y="0"/>
            <a:ext cx="12191695" cy="6858000"/>
          </a:xfrm>
          <a:prstGeom prst="rect">
            <a:avLst/>
          </a:prstGeom>
        </p:spPr>
      </p:pic>
      <p:pic>
        <p:nvPicPr>
          <p:cNvPr id="5" name="anim-g3-137" descr="C:\Users\user\projects\younes-training\masmak-judges\.pptx-cache\s29-3.jpg"/>
          <p:cNvPicPr>
            <a:picLocks noChangeAspect="1"/>
          </p:cNvPicPr>
          <p:nvPr/>
        </p:nvPicPr>
        <p:blipFill>
          <a:blip r:embed="rId6"/>
          <a:stretch>
            <a:fillRect/>
          </a:stretch>
        </p:blipFill>
        <p:spPr>
          <a:xfrm>
            <a:off x="0" y="0"/>
            <a:ext cx="12191695" cy="6858000"/>
          </a:xfrm>
          <a:prstGeom prst="rect">
            <a:avLst/>
          </a:prstGeom>
        </p:spPr>
      </p:pic>
      <p:pic>
        <p:nvPicPr>
          <p:cNvPr id="6" name="anim-g4-138" descr="C:\Users\user\projects\younes-training\masmak-judges\.pptx-cache\s29-4.jpg"/>
          <p:cNvPicPr>
            <a:picLocks noChangeAspect="1"/>
          </p:cNvPicPr>
          <p:nvPr/>
        </p:nvPicPr>
        <p:blipFill>
          <a:blip r:embed="rId7"/>
          <a:stretch>
            <a:fillRect/>
          </a:stretch>
        </p:blipFill>
        <p:spPr>
          <a:xfrm>
            <a:off x="0" y="0"/>
            <a:ext cx="12191695" cy="6858000"/>
          </a:xfrm>
          <a:prstGeom prst="rect">
            <a:avLst/>
          </a:prstGeom>
        </p:spPr>
      </p:pic>
      <p:pic>
        <p:nvPicPr>
          <p:cNvPr id="7" name="anim-g5-139" descr="C:\Users\user\projects\younes-training\masmak-judges\.pptx-cache\s29-5.jpg"/>
          <p:cNvPicPr>
            <a:picLocks noChangeAspect="1"/>
          </p:cNvPicPr>
          <p:nvPr/>
        </p:nvPicPr>
        <p:blipFill>
          <a:blip r:embed="rId8"/>
          <a:stretch>
            <a:fillRect/>
          </a:stretch>
        </p:blipFill>
        <p:spPr>
          <a:xfrm>
            <a:off x="0" y="0"/>
            <a:ext cx="12191695" cy="6858000"/>
          </a:xfrm>
          <a:prstGeom prst="rect">
            <a:avLst/>
          </a:prstGeom>
        </p:spPr>
      </p:pic>
      <p:pic>
        <p:nvPicPr>
          <p:cNvPr id="8" name="anim-g6-140" descr="C:\Users\user\projects\younes-training\masmak-judges\.pptx-cache\s29-6.jpg"/>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user\projects\younes-training\masmak-judges\.pptx-cache\s30.jpg"/>
          <p:cNvPicPr>
            <a:picLocks noChangeAspect="1"/>
          </p:cNvPicPr>
          <p:nvPr/>
        </p:nvPicPr>
        <p:blipFill>
          <a:blip r:embed="rId5"/>
          <a:stretch>
            <a:fillRect/>
          </a:stretch>
        </p:blipFill>
        <p:spPr>
          <a:xfrm>
            <a:off x="0" y="0"/>
            <a:ext cx="12191695" cy="6858000"/>
          </a:xfrm>
          <a:prstGeom prst="rect">
            <a:avLst/>
          </a:prstGeom>
        </p:spPr>
      </p:pic>
      <p:pic>
        <p:nvPicPr>
          <p:cNvPr id="3" name="Image 1" descr="C:\Users\user\projects\younes-training\masmak-judges\.pptx-cache\s30.gif"/>
          <p:cNvPicPr>
            <a:picLocks noChangeAspect="1"/>
          </p:cNvPicPr>
          <p:nvPr/>
        </p:nvPicPr>
        <p:blipFill>
          <a:blip r:embed="rId6"/>
          <a:stretch>
            <a:fillRect/>
          </a:stretch>
        </p:blipFill>
        <p:spPr>
          <a:xfrm>
            <a:off x="4859315" y="1736725"/>
            <a:ext cx="6506901" cy="3643908"/>
          </a:xfrm>
          <a:prstGeom prst="rect">
            <a:avLst/>
          </a:prstGeom>
        </p:spPr>
      </p:pic>
      <p:pic>
        <p:nvPicPr>
          <p:cNvPr id="5" name="audio-14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833717" y="4854575"/>
            <a:ext cx="847803" cy="3810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user\projects\younes-training\masmak-judges\.pptx-cache\s31-0.jpg"/>
          <p:cNvPicPr>
            <a:picLocks noChangeAspect="1"/>
          </p:cNvPicPr>
          <p:nvPr/>
        </p:nvPicPr>
        <p:blipFill>
          <a:blip r:embed="rId3"/>
          <a:stretch>
            <a:fillRect/>
          </a:stretch>
        </p:blipFill>
        <p:spPr>
          <a:xfrm>
            <a:off x="0" y="0"/>
            <a:ext cx="12191695" cy="6858000"/>
          </a:xfrm>
          <a:prstGeom prst="rect">
            <a:avLst/>
          </a:prstGeom>
        </p:spPr>
      </p:pic>
      <p:pic>
        <p:nvPicPr>
          <p:cNvPr id="3" name="anim-g1-142" descr="C:\Users\user\projects\younes-training\masmak-judges\.pptx-cache\s31-1.jpg"/>
          <p:cNvPicPr>
            <a:picLocks noChangeAspect="1"/>
          </p:cNvPicPr>
          <p:nvPr/>
        </p:nvPicPr>
        <p:blipFill>
          <a:blip r:embed="rId4"/>
          <a:stretch>
            <a:fillRect/>
          </a:stretch>
        </p:blipFill>
        <p:spPr>
          <a:xfrm>
            <a:off x="0" y="0"/>
            <a:ext cx="12191695" cy="6858000"/>
          </a:xfrm>
          <a:prstGeom prst="rect">
            <a:avLst/>
          </a:prstGeom>
        </p:spPr>
      </p:pic>
      <p:pic>
        <p:nvPicPr>
          <p:cNvPr id="4" name="anim-g2-143" descr="C:\Users\user\projects\younes-training\masmak-judges\.pptx-cache\s31-2.jpg"/>
          <p:cNvPicPr>
            <a:picLocks noChangeAspect="1"/>
          </p:cNvPicPr>
          <p:nvPr/>
        </p:nvPicPr>
        <p:blipFill>
          <a:blip r:embed="rId5"/>
          <a:stretch>
            <a:fillRect/>
          </a:stretch>
        </p:blipFill>
        <p:spPr>
          <a:xfrm>
            <a:off x="0" y="0"/>
            <a:ext cx="12191695" cy="6858000"/>
          </a:xfrm>
          <a:prstGeom prst="rect">
            <a:avLst/>
          </a:prstGeom>
        </p:spPr>
      </p:pic>
      <p:pic>
        <p:nvPicPr>
          <p:cNvPr id="5" name="anim-g3-144" descr="C:\Users\user\projects\younes-training\masmak-judges\.pptx-cache\s31-3.jpg"/>
          <p:cNvPicPr>
            <a:picLocks noChangeAspect="1"/>
          </p:cNvPicPr>
          <p:nvPr/>
        </p:nvPicPr>
        <p:blipFill>
          <a:blip r:embed="rId6"/>
          <a:stretch>
            <a:fillRect/>
          </a:stretch>
        </p:blipFill>
        <p:spPr>
          <a:xfrm>
            <a:off x="0" y="0"/>
            <a:ext cx="12191695" cy="6858000"/>
          </a:xfrm>
          <a:prstGeom prst="rect">
            <a:avLst/>
          </a:prstGeom>
        </p:spPr>
      </p:pic>
      <p:pic>
        <p:nvPicPr>
          <p:cNvPr id="6" name="anim-g4-145" descr="C:\Users\user\projects\younes-training\masmak-judges\.pptx-cache\s31-4.jpg"/>
          <p:cNvPicPr>
            <a:picLocks noChangeAspect="1"/>
          </p:cNvPicPr>
          <p:nvPr/>
        </p:nvPicPr>
        <p:blipFill>
          <a:blip r:embed="rId7"/>
          <a:stretch>
            <a:fillRect/>
          </a:stretch>
        </p:blipFill>
        <p:spPr>
          <a:xfrm>
            <a:off x="0" y="0"/>
            <a:ext cx="12191695" cy="6858000"/>
          </a:xfrm>
          <a:prstGeom prst="rect">
            <a:avLst/>
          </a:prstGeom>
        </p:spPr>
      </p:pic>
      <p:pic>
        <p:nvPicPr>
          <p:cNvPr id="7" name="anim-g5-146" descr="C:\Users\user\projects\younes-training\masmak-judges\.pptx-cache\s31-5.jpg"/>
          <p:cNvPicPr>
            <a:picLocks noChangeAspect="1"/>
          </p:cNvPicPr>
          <p:nvPr/>
        </p:nvPicPr>
        <p:blipFill>
          <a:blip r:embed="rId8"/>
          <a:stretch>
            <a:fillRect/>
          </a:stretch>
        </p:blipFill>
        <p:spPr>
          <a:xfrm>
            <a:off x="0" y="0"/>
            <a:ext cx="12191695" cy="6858000"/>
          </a:xfrm>
          <a:prstGeom prst="rect">
            <a:avLst/>
          </a:prstGeom>
        </p:spPr>
      </p:pic>
      <p:pic>
        <p:nvPicPr>
          <p:cNvPr id="8" name="anim-g6-147" descr="C:\Users\user\projects\younes-training\masmak-judges\.pptx-cache\s31-6.jpg"/>
          <p:cNvPicPr>
            <a:picLocks noChangeAspect="1"/>
          </p:cNvPicPr>
          <p:nvPr/>
        </p:nvPicPr>
        <p:blipFill>
          <a:blip r:embed="rId9"/>
          <a:stretch>
            <a:fillRect/>
          </a:stretch>
        </p:blipFill>
        <p:spPr>
          <a:xfrm>
            <a:off x="0" y="0"/>
            <a:ext cx="12191695" cy="6858000"/>
          </a:xfrm>
          <a:prstGeom prst="rect">
            <a:avLst/>
          </a:prstGeom>
        </p:spPr>
      </p:pic>
      <p:pic>
        <p:nvPicPr>
          <p:cNvPr id="9" name="anim-g7-148" descr="C:\Users\user\projects\younes-training\masmak-judges\.pptx-cache\s31-7.jpg"/>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txBody>
          <a:bodyPr/>
          <a:p/>
        </p:txBody>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B08A2E"/>
                </a:solidFill>
                <a:latin typeface="Cairo" pitchFamily="34" charset="0"/>
                <a:ea typeface="Cairo" pitchFamily="34" charset="-122"/>
                <a:cs typeface="Cairo" pitchFamily="34" charset="-120"/>
              </a:rPr>
              <a:t>🧯 قصص التحديات</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marL="0" indent="0" algn="r" rtl="1">
              <a:buNone/>
            </a:pPr>
            <a:r>
              <a:rPr lang="ar-SA" altLang="en-US" sz="3200" dirty="0">
                <a:solidFill>
                  <a:srgbClr val="101B45"/>
                </a:solidFill>
                <a:latin typeface="Cairo Black" pitchFamily="34" charset="0"/>
                <a:ea typeface="Cairo Black" pitchFamily="34" charset="-122"/>
                <a:cs typeface="Cairo Black" pitchFamily="34" charset="-120"/>
              </a:rPr>
              <a:t>خمسة تحديات واجهها الفريق… وكيف حُلّت</a:t>
            </a:r>
            <a:endParaRPr lang="ar-SA" sz="3200" dirty="0"/>
          </a:p>
        </p:txBody>
      </p:sp>
      <p:sp>
        <p:nvSpPr>
          <p:cNvPr id="5" name="Shape 3"/>
          <p:cNvSpPr/>
          <p:nvPr/>
        </p:nvSpPr>
        <p:spPr>
          <a:xfrm>
            <a:off x="7194316" y="1874520"/>
            <a:ext cx="4174419" cy="548640"/>
          </a:xfrm>
          <a:prstGeom prst="roundRect">
            <a:avLst>
              <a:gd name="adj" fmla="val 20000"/>
            </a:avLst>
          </a:prstGeom>
          <a:solidFill>
            <a:srgbClr val="101B45"/>
          </a:solidFill>
          <a:ln/>
        </p:spPr>
        <p:txBody>
          <a:bodyPr/>
          <a:p/>
        </p:txBody>
      </p:sp>
      <p:sp>
        <p:nvSpPr>
          <p:cNvPr id="6" name="Text 4"/>
          <p:cNvSpPr/>
          <p:nvPr/>
        </p:nvSpPr>
        <p:spPr>
          <a:xfrm>
            <a:off x="7194316" y="1874520"/>
            <a:ext cx="4174419" cy="548640"/>
          </a:xfrm>
          <a:prstGeom prst="rect">
            <a:avLst/>
          </a:prstGeom>
          <a:noFill/>
          <a:ln/>
        </p:spPr>
        <p:txBody>
          <a:bodyPr wrap="square" lIns="0" tIns="0" rIns="0" bIns="0" rtlCol="0" anchor="ctr">
            <a:normAutofit/>
          </a:bodyPr>
          <a:lstStyle/>
          <a:p>
            <a:pPr marL="0" indent="0" algn="ctr" rtl="1">
              <a:buNone/>
            </a:pPr>
            <a:r>
              <a:rPr lang="ar-SA" altLang="en-US" sz="1900" dirty="0">
                <a:solidFill>
                  <a:srgbClr val="FFFFFF"/>
                </a:solidFill>
                <a:latin typeface="Cairo Black" pitchFamily="34" charset="0"/>
                <a:ea typeface="Cairo Black" pitchFamily="34" charset="-122"/>
                <a:cs typeface="Cairo Black" pitchFamily="34" charset="-120"/>
              </a:rPr>
              <a:t>التحدي</a:t>
            </a:r>
            <a:endParaRPr lang="ar-SA" sz="1900" dirty="0"/>
          </a:p>
        </p:txBody>
      </p:sp>
      <p:sp>
        <p:nvSpPr>
          <p:cNvPr id="7" name="Shape 5"/>
          <p:cNvSpPr/>
          <p:nvPr/>
        </p:nvSpPr>
        <p:spPr>
          <a:xfrm>
            <a:off x="822960" y="1874520"/>
            <a:ext cx="6261628" cy="548640"/>
          </a:xfrm>
          <a:prstGeom prst="roundRect">
            <a:avLst>
              <a:gd name="adj" fmla="val 20000"/>
            </a:avLst>
          </a:prstGeom>
          <a:solidFill>
            <a:srgbClr val="101B45"/>
          </a:solidFill>
          <a:ln/>
        </p:spPr>
        <p:txBody>
          <a:bodyPr/>
          <a:p/>
        </p:txBody>
      </p:sp>
      <p:sp>
        <p:nvSpPr>
          <p:cNvPr id="8" name="Text 6"/>
          <p:cNvSpPr/>
          <p:nvPr/>
        </p:nvSpPr>
        <p:spPr>
          <a:xfrm>
            <a:off x="822960" y="1874520"/>
            <a:ext cx="6261628" cy="548640"/>
          </a:xfrm>
          <a:prstGeom prst="rect">
            <a:avLst/>
          </a:prstGeom>
          <a:noFill/>
          <a:ln/>
        </p:spPr>
        <p:txBody>
          <a:bodyPr wrap="square" lIns="0" tIns="0" rIns="0" bIns="0" rtlCol="0" anchor="ctr">
            <a:normAutofit/>
          </a:bodyPr>
          <a:lstStyle/>
          <a:p>
            <a:pPr marL="0" indent="0" algn="ctr" rtl="1">
              <a:buNone/>
            </a:pPr>
            <a:r>
              <a:rPr lang="ar-SA" altLang="en-US" sz="1900" dirty="0">
                <a:solidFill>
                  <a:srgbClr val="FFFFFF"/>
                </a:solidFill>
                <a:latin typeface="Cairo Black" pitchFamily="34" charset="0"/>
                <a:ea typeface="Cairo Black" pitchFamily="34" charset="-122"/>
                <a:cs typeface="Cairo Black" pitchFamily="34" charset="-120"/>
              </a:rPr>
              <a:t>الحل</a:t>
            </a:r>
            <a:endParaRPr lang="ar-SA" sz="1900" dirty="0"/>
          </a:p>
        </p:txBody>
      </p:sp>
      <p:sp>
        <p:nvSpPr>
          <p:cNvPr id="9" name="anim-g1-149"/>
          <p:cNvSpPr/>
          <p:nvPr/>
        </p:nvSpPr>
        <p:spPr>
          <a:xfrm>
            <a:off x="7194316" y="2514600"/>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0" name="anim-g1-150"/>
          <p:cNvSpPr/>
          <p:nvPr/>
        </p:nvSpPr>
        <p:spPr>
          <a:xfrm>
            <a:off x="7331476" y="2514600"/>
            <a:ext cx="3900099"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01B45"/>
                </a:solidFill>
                <a:latin typeface="Cairo Black" pitchFamily="34" charset="0"/>
                <a:ea typeface="Cairo Black" pitchFamily="34" charset="-122"/>
                <a:cs typeface="Cairo Black" pitchFamily="34" charset="-120"/>
              </a:rPr>
              <a:t>🎞️ الفيديو أقصر من الصوت (٢–١١ ث)</a:t>
            </a:r>
            <a:endParaRPr lang="ar-SA" sz="2100" dirty="0"/>
          </a:p>
        </p:txBody>
      </p:sp>
      <p:sp>
        <p:nvSpPr>
          <p:cNvPr id="11" name="anim-g1-151"/>
          <p:cNvSpPr/>
          <p:nvPr/>
        </p:nvSpPr>
        <p:spPr>
          <a:xfrm>
            <a:off x="822960" y="2514600"/>
            <a:ext cx="6261628" cy="616306"/>
          </a:xfrm>
          <a:prstGeom prst="roundRect">
            <a:avLst>
              <a:gd name="adj" fmla="val 17804"/>
            </a:avLst>
          </a:prstGeom>
          <a:solidFill>
            <a:srgbClr val="E6F4EC"/>
          </a:solidFill>
          <a:ln w="12700">
            <a:solidFill>
              <a:srgbClr val="CDE9D9"/>
            </a:solidFill>
            <a:prstDash val="solid"/>
          </a:ln>
        </p:spPr>
        <p:txBody>
          <a:bodyPr/>
          <a:p/>
        </p:txBody>
      </p:sp>
      <p:sp>
        <p:nvSpPr>
          <p:cNvPr id="12" name="anim-g1-152"/>
          <p:cNvSpPr/>
          <p:nvPr/>
        </p:nvSpPr>
        <p:spPr>
          <a:xfrm>
            <a:off x="960120" y="2514600"/>
            <a:ext cx="5987308"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D5E40"/>
                </a:solidFill>
                <a:latin typeface="Cairo" pitchFamily="34" charset="0"/>
                <a:ea typeface="Cairo" pitchFamily="34" charset="-122"/>
                <a:cs typeface="Cairo" pitchFamily="34" charset="-120"/>
              </a:rPr>
              <a:t>تكرار آخر صورة بأمر ffmpeg، مع حفظ النسخ الأصلية</a:t>
            </a:r>
            <a:endParaRPr lang="ar-SA" sz="2100" dirty="0"/>
          </a:p>
        </p:txBody>
      </p:sp>
      <p:sp>
        <p:nvSpPr>
          <p:cNvPr id="13" name="anim-g2-153"/>
          <p:cNvSpPr/>
          <p:nvPr/>
        </p:nvSpPr>
        <p:spPr>
          <a:xfrm>
            <a:off x="7194316" y="3240634"/>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4" name="anim-g2-154"/>
          <p:cNvSpPr/>
          <p:nvPr/>
        </p:nvSpPr>
        <p:spPr>
          <a:xfrm>
            <a:off x="7331476" y="3240634"/>
            <a:ext cx="3900099"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01B45"/>
                </a:solidFill>
                <a:latin typeface="Cairo Black" pitchFamily="34" charset="0"/>
                <a:ea typeface="Cairo Black" pitchFamily="34" charset="-122"/>
                <a:cs typeface="Cairo Black" pitchFamily="34" charset="-120"/>
              </a:rPr>
              <a:t>🌀 رسالة ضائعة = دوران زائد</a:t>
            </a:r>
            <a:endParaRPr lang="ar-SA" sz="2100" dirty="0"/>
          </a:p>
        </p:txBody>
      </p:sp>
      <p:sp>
        <p:nvSpPr>
          <p:cNvPr id="15" name="anim-g2-155"/>
          <p:cNvSpPr/>
          <p:nvPr/>
        </p:nvSpPr>
        <p:spPr>
          <a:xfrm>
            <a:off x="822960" y="3240634"/>
            <a:ext cx="6261628" cy="616306"/>
          </a:xfrm>
          <a:prstGeom prst="roundRect">
            <a:avLst>
              <a:gd name="adj" fmla="val 17804"/>
            </a:avLst>
          </a:prstGeom>
          <a:solidFill>
            <a:srgbClr val="E6F4EC"/>
          </a:solidFill>
          <a:ln w="12700">
            <a:solidFill>
              <a:srgbClr val="CDE9D9"/>
            </a:solidFill>
            <a:prstDash val="solid"/>
          </a:ln>
        </p:spPr>
        <p:txBody>
          <a:bodyPr/>
          <a:p/>
        </p:txBody>
      </p:sp>
      <p:sp>
        <p:nvSpPr>
          <p:cNvPr id="16" name="anim-g2-156"/>
          <p:cNvSpPr/>
          <p:nvPr/>
        </p:nvSpPr>
        <p:spPr>
          <a:xfrm>
            <a:off x="960120" y="3240634"/>
            <a:ext cx="5987308"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D5E40"/>
                </a:solidFill>
                <a:latin typeface="Cairo" pitchFamily="34" charset="0"/>
                <a:ea typeface="Cairo" pitchFamily="34" charset="-122"/>
                <a:cs typeface="Cairo" pitchFamily="34" charset="-120"/>
              </a:rPr>
              <a:t>من سجلات التشغيل، وحارس يوقفها بعد ثانية بلا رسالة</a:t>
            </a:r>
            <a:endParaRPr lang="ar-SA" sz="2100" dirty="0"/>
          </a:p>
        </p:txBody>
      </p:sp>
      <p:sp>
        <p:nvSpPr>
          <p:cNvPr id="17" name="anim-g3-157"/>
          <p:cNvSpPr/>
          <p:nvPr/>
        </p:nvSpPr>
        <p:spPr>
          <a:xfrm>
            <a:off x="7194316" y="3966667"/>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8" name="anim-g3-158"/>
          <p:cNvSpPr/>
          <p:nvPr/>
        </p:nvSpPr>
        <p:spPr>
          <a:xfrm>
            <a:off x="7331476" y="3966667"/>
            <a:ext cx="3900099"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01B45"/>
                </a:solidFill>
                <a:latin typeface="Cairo Black" pitchFamily="34" charset="0"/>
                <a:ea typeface="Cairo Black" pitchFamily="34" charset="-122"/>
                <a:cs typeface="Cairo Black" pitchFamily="34" charset="-120"/>
              </a:rPr>
              <a:t>👁️ مؤشرات البؤبؤ معكوسة</a:t>
            </a:r>
            <a:endParaRPr lang="ar-SA" sz="2100" dirty="0"/>
          </a:p>
        </p:txBody>
      </p:sp>
      <p:sp>
        <p:nvSpPr>
          <p:cNvPr id="19" name="anim-g3-159"/>
          <p:cNvSpPr/>
          <p:nvPr/>
        </p:nvSpPr>
        <p:spPr>
          <a:xfrm>
            <a:off x="822960" y="3966667"/>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0" name="anim-g3-160"/>
          <p:cNvSpPr/>
          <p:nvPr/>
        </p:nvSpPr>
        <p:spPr>
          <a:xfrm>
            <a:off x="960120" y="3966667"/>
            <a:ext cx="5987308"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D5E40"/>
                </a:solidFill>
                <a:latin typeface="Cairo" pitchFamily="34" charset="0"/>
                <a:ea typeface="Cairo" pitchFamily="34" charset="-122"/>
                <a:cs typeface="Cairo" pitchFamily="34" charset="-120"/>
              </a:rPr>
              <a:t>طبعنا الأرقام الخام: ٤٦٨ لليمنى و٤٧٣ لليسرى</a:t>
            </a:r>
            <a:endParaRPr lang="ar-SA" sz="2100" dirty="0"/>
          </a:p>
        </p:txBody>
      </p:sp>
      <p:sp>
        <p:nvSpPr>
          <p:cNvPr id="21" name="anim-g4-161"/>
          <p:cNvSpPr/>
          <p:nvPr/>
        </p:nvSpPr>
        <p:spPr>
          <a:xfrm>
            <a:off x="7194316" y="4692701"/>
            <a:ext cx="4174419" cy="616306"/>
          </a:xfrm>
          <a:prstGeom prst="roundRect">
            <a:avLst>
              <a:gd name="adj" fmla="val 17804"/>
            </a:avLst>
          </a:prstGeom>
          <a:solidFill>
            <a:srgbClr val="FBF3DF"/>
          </a:solidFill>
          <a:ln w="12700">
            <a:solidFill>
              <a:srgbClr val="EFDDAF"/>
            </a:solidFill>
            <a:prstDash val="solid"/>
          </a:ln>
        </p:spPr>
        <p:txBody>
          <a:bodyPr/>
          <a:p/>
        </p:txBody>
      </p:sp>
      <p:sp>
        <p:nvSpPr>
          <p:cNvPr id="22" name="anim-g4-162"/>
          <p:cNvSpPr/>
          <p:nvPr/>
        </p:nvSpPr>
        <p:spPr>
          <a:xfrm>
            <a:off x="7331476" y="4692701"/>
            <a:ext cx="3900099"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01B45"/>
                </a:solidFill>
                <a:latin typeface="Cairo Black" pitchFamily="34" charset="0"/>
                <a:ea typeface="Cairo Black" pitchFamily="34" charset="-122"/>
                <a:cs typeface="Cairo Black" pitchFamily="34" charset="-120"/>
              </a:rPr>
              <a:t>🔈 صوت خافت جدًا</a:t>
            </a:r>
            <a:endParaRPr lang="ar-SA" sz="2100" dirty="0"/>
          </a:p>
        </p:txBody>
      </p:sp>
      <p:sp>
        <p:nvSpPr>
          <p:cNvPr id="23" name="anim-g4-163"/>
          <p:cNvSpPr/>
          <p:nvPr/>
        </p:nvSpPr>
        <p:spPr>
          <a:xfrm>
            <a:off x="822960" y="4692701"/>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4" name="anim-g4-164"/>
          <p:cNvSpPr/>
          <p:nvPr/>
        </p:nvSpPr>
        <p:spPr>
          <a:xfrm>
            <a:off x="960120" y="4692701"/>
            <a:ext cx="5987308"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D5E40"/>
                </a:solidFill>
                <a:latin typeface="Cairo" pitchFamily="34" charset="0"/>
                <a:ea typeface="Cairo" pitchFamily="34" charset="-122"/>
                <a:cs typeface="Cairo" pitchFamily="34" charset="-120"/>
              </a:rPr>
              <a:t>من ٣ أماكن: كرت الصوت، ونظام PipeWire، والمشغّل</a:t>
            </a:r>
            <a:endParaRPr lang="ar-SA" sz="2100" dirty="0"/>
          </a:p>
        </p:txBody>
      </p:sp>
      <p:sp>
        <p:nvSpPr>
          <p:cNvPr id="25" name="anim-g5-165"/>
          <p:cNvSpPr/>
          <p:nvPr/>
        </p:nvSpPr>
        <p:spPr>
          <a:xfrm>
            <a:off x="7194316" y="5418734"/>
            <a:ext cx="4174419" cy="616306"/>
          </a:xfrm>
          <a:prstGeom prst="roundRect">
            <a:avLst>
              <a:gd name="adj" fmla="val 17804"/>
            </a:avLst>
          </a:prstGeom>
          <a:solidFill>
            <a:srgbClr val="FBF3DF"/>
          </a:solidFill>
          <a:ln w="12700">
            <a:solidFill>
              <a:srgbClr val="EFDDAF"/>
            </a:solidFill>
            <a:prstDash val="solid"/>
          </a:ln>
        </p:spPr>
        <p:txBody>
          <a:bodyPr/>
          <a:p/>
        </p:txBody>
      </p:sp>
      <p:sp>
        <p:nvSpPr>
          <p:cNvPr id="26" name="anim-g5-166"/>
          <p:cNvSpPr/>
          <p:nvPr/>
        </p:nvSpPr>
        <p:spPr>
          <a:xfrm>
            <a:off x="7331476" y="5418734"/>
            <a:ext cx="3900099"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01B45"/>
                </a:solidFill>
                <a:latin typeface="Cairo Black" pitchFamily="34" charset="0"/>
                <a:ea typeface="Cairo Black" pitchFamily="34" charset="-122"/>
                <a:cs typeface="Cairo Black" pitchFamily="34" charset="-120"/>
              </a:rPr>
              <a:t>🔑 نسيان كلمة مرور الراسبيري</a:t>
            </a:r>
            <a:endParaRPr lang="ar-SA" sz="2100" dirty="0"/>
          </a:p>
        </p:txBody>
      </p:sp>
      <p:sp>
        <p:nvSpPr>
          <p:cNvPr id="27" name="anim-g5-167"/>
          <p:cNvSpPr/>
          <p:nvPr/>
        </p:nvSpPr>
        <p:spPr>
          <a:xfrm>
            <a:off x="822960" y="5418734"/>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8" name="anim-g5-168"/>
          <p:cNvSpPr/>
          <p:nvPr/>
        </p:nvSpPr>
        <p:spPr>
          <a:xfrm>
            <a:off x="960120" y="5418734"/>
            <a:ext cx="5987308" cy="616306"/>
          </a:xfrm>
          <a:prstGeom prst="rect">
            <a:avLst/>
          </a:prstGeom>
          <a:noFill/>
          <a:ln/>
        </p:spPr>
        <p:txBody>
          <a:bodyPr wrap="square" lIns="0" tIns="0" rIns="0" bIns="0" rtlCol="0" anchor="ctr">
            <a:normAutofit/>
          </a:bodyPr>
          <a:lstStyle/>
          <a:p>
            <a:pPr marL="0" indent="0" algn="r" rtl="1">
              <a:buNone/>
            </a:pPr>
            <a:r>
              <a:rPr lang="ar-SA" altLang="en-US" sz="2100" b="1" dirty="0">
                <a:solidFill>
                  <a:srgbClr val="1D5E40"/>
                </a:solidFill>
                <a:latin typeface="Cairo" pitchFamily="34" charset="0"/>
                <a:ea typeface="Cairo" pitchFamily="34" charset="-122"/>
                <a:cs typeface="Cairo" pitchFamily="34" charset="-120"/>
              </a:rPr>
              <a:t>وضع إصلاح من كرت الذاكرة، دون فقد أي ملف</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marL="0" indent="0" algn="r">
              <a:buNone/>
            </a:pPr>
            <a:r>
              <a:rPr lang="ar-SA" altLang="en-US" sz="1200" b="1" dirty="0">
                <a:solidFill>
                  <a:srgbClr val="5E6782"/>
                </a:solidFill>
                <a:latin typeface="Cairo" pitchFamily="34" charset="0"/>
                <a:ea typeface="Cairo" pitchFamily="34" charset="-122"/>
                <a:cs typeface="Cairo" pitchFamily="34" charset="-120"/>
              </a:rPr>
              <a:t>🌳 </a:t>
            </a:r>
            <a:r>
              <a:rPr lang="ar-SA" altLang="en-US" sz="1200" b="1" dirty="0">
                <a:solidFill>
                  <a:srgbClr val="D9AE4B"/>
                </a:solidFill>
                <a:latin typeface="Cairo" pitchFamily="34" charset="0"/>
                <a:ea typeface="Cairo" pitchFamily="34" charset="-122"/>
                <a:cs typeface="Cairo" pitchFamily="34" charset="-120"/>
              </a:rPr>
              <a:t>جذور</a:t>
            </a: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marL="0" indent="0" algn="l" rtl="1">
              <a:buNone/>
            </a:pPr>
            <a:r>
              <a:rPr lang="ar-SA" altLang="en-US" sz="1200" b="1" dirty="0">
                <a:solidFill>
                  <a:srgbClr val="5E6782"/>
                </a:solidFill>
                <a:latin typeface="Cairo" pitchFamily="34" charset="0"/>
                <a:ea typeface="Cairo" pitchFamily="34" charset="-122"/>
                <a:cs typeface="Cairo" pitchFamily="34" charset="-120"/>
              </a:rPr>
              <a:t>🏆 التحديات  ·  ٣٣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txBody>
          <a:bodyPr/>
          <a:p/>
        </p:txBody>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marL="0" indent="0" algn="ctr" rtl="1">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marL="0" indent="0" algn="ctr" rtl="1">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marL="0" indent="0" algn="ctr" rtl="1">
              <a:buNone/>
            </a:pPr>
            <a:r>
              <a:rPr lang="ar-SA" altLang="en-US" sz="2800" b="1" dirty="0">
                <a:solidFill>
                  <a:srgbClr val="FFFFFF"/>
                </a:solidFill>
                <a:latin typeface="Cairo" pitchFamily="34" charset="0"/>
                <a:ea typeface="Cairo" pitchFamily="34" charset="-122"/>
                <a:cs typeface="Cairo" pitchFamily="34" charset="-120"/>
              </a:rPr>
              <a:t>ننظر إلى الماضي… بعين المستقبل</a:t>
            </a:r>
            <a:endParaRPr lang="ar-SA" sz="2800" dirty="0"/>
          </a:p>
        </p:txBody>
      </p:sp>
      <p:sp>
        <p:nvSpPr>
          <p:cNvPr id="6" name="Shape 4"/>
          <p:cNvSpPr/>
          <p:nvPr/>
        </p:nvSpPr>
        <p:spPr>
          <a:xfrm>
            <a:off x="5364328" y="4434840"/>
            <a:ext cx="1463040" cy="36576"/>
          </a:xfrm>
          <a:prstGeom prst="rect">
            <a:avLst/>
          </a:prstGeom>
          <a:solidFill>
            <a:srgbClr val="D9AE4B"/>
          </a:solidFill>
          <a:ln/>
        </p:spPr>
        <p:txBody>
          <a:bodyPr/>
          <a:p/>
        </p:txBody>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marL="0" indent="0" algn="ctr" rtl="1">
              <a:buNone/>
            </a:pPr>
            <a:r>
              <a:rPr lang="ar-SA" altLang="en-US" sz="1800" b="1" dirty="0">
                <a:solidFill>
                  <a:srgbClr val="C9CFE6"/>
                </a:solidFill>
                <a:latin typeface="Cairo" pitchFamily="34" charset="0"/>
                <a:ea typeface="Cairo" pitchFamily="34" charset="-122"/>
                <a:cs typeface="Cairo" pitchFamily="34" charset="-120"/>
              </a:rPr>
              <a:t>لمسة تراث · إعداد وتقديم: فريق al arqam innovators · مدارس الأرقم</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2385</Words>
  <Application>Microsoft Office PowerPoint</Application>
  <PresentationFormat>شاشة عريضة</PresentationFormat>
  <Paragraphs>157</Paragraphs>
  <Slides>33</Slides>
  <Notes>33</Notes>
  <HiddenSlides>0</HiddenSlides>
  <MMClips>9</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33</vt:i4>
      </vt:variant>
    </vt:vector>
  </HeadingPairs>
  <TitlesOfParts>
    <vt:vector size="37" baseType="lpstr">
      <vt:lpstr>Arial</vt:lpstr>
      <vt:lpstr>Cairo</vt:lpstr>
      <vt:lpstr>Cairo Black</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لمسة تراث</dc:title>
  <dc:subject>PptxGenJS Presentation</dc:subject>
  <dc:creator>فريق al arqam innovators · مدارس الأرقم</dc:creator>
  <cp:lastModifiedBy>user</cp:lastModifiedBy>
  <cp:revision>2</cp:revision>
  <dcterms:created xsi:type="dcterms:W3CDTF">2026-10-10T16:35:02Z</dcterms:created>
  <dcterms:modified xsi:type="dcterms:W3CDTF">2026-10-10T16:35:21Z</dcterms:modified>
</cp:coreProperties>
</file>