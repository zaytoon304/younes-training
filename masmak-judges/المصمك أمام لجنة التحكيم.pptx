
<file path=[Content_Types].xml><?xml version="1.0" encoding="utf-8"?>
<Types xmlns="http://schemas.openxmlformats.org/package/2006/content-types">
  <Default Extension="gif" ContentType="image/gif"/>
  <Default Extension="jpeg" ContentType="image/jpeg"/>
  <Default Extension="jpg" ContentType="image/jpg"/>
  <Default Extension="mp3" ContentType="audio/m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rtl="1" saveSubsetFonts="1" autoCompressPictures="0">
  <p:sldMasterIdLst>
    <p:sldMasterId id="2147483648" r:id="rId1"/>
  </p:sldMasterIdLst>
  <p:notesMasterIdLst>
    <p:notesMasterId r:id="rId2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presProps" Target="presProps.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414314415"/>
      </p:ext>
    </p:extLst>
  </p:cSld>
  <p:clrMap bg1="lt1" tx1="dk1" bg2="lt2" tx2="dk2" accent1="accent1" accent2="accent2" accent3="accent3" accent4="accent4" accent5="accent5" accent6="accent6" hlink="hlink" folHlink="folHlink"/>
  <p:notesStyle>
    <a:lvl1pPr marL="0" algn="r" defTabSz="914400" rtl="1" eaLnBrk="1" latinLnBrk="0" hangingPunct="1">
      <a:defRPr sz="1200" kern="1200">
        <a:solidFill>
          <a:schemeClr val="tx1"/>
        </a:solidFill>
        <a:latin typeface="+mn-lt"/>
        <a:ea typeface="+mn-ea"/>
        <a:cs typeface="+mn-cs"/>
      </a:defRPr>
    </a:lvl1pPr>
    <a:lvl2pPr marL="457200" algn="r" defTabSz="914400" rtl="1" eaLnBrk="1" latinLnBrk="0" hangingPunct="1">
      <a:defRPr sz="1200" kern="1200">
        <a:solidFill>
          <a:schemeClr val="tx1"/>
        </a:solidFill>
        <a:latin typeface="+mn-lt"/>
        <a:ea typeface="+mn-ea"/>
        <a:cs typeface="+mn-cs"/>
      </a:defRPr>
    </a:lvl2pPr>
    <a:lvl3pPr marL="914400" algn="r" defTabSz="914400" rtl="1" eaLnBrk="1" latinLnBrk="0" hangingPunct="1">
      <a:defRPr sz="1200" kern="1200">
        <a:solidFill>
          <a:schemeClr val="tx1"/>
        </a:solidFill>
        <a:latin typeface="+mn-lt"/>
        <a:ea typeface="+mn-ea"/>
        <a:cs typeface="+mn-cs"/>
      </a:defRPr>
    </a:lvl3pPr>
    <a:lvl4pPr marL="1371600" algn="r" defTabSz="914400" rtl="1" eaLnBrk="1" latinLnBrk="0" hangingPunct="1">
      <a:defRPr sz="1200" kern="1200">
        <a:solidFill>
          <a:schemeClr val="tx1"/>
        </a:solidFill>
        <a:latin typeface="+mn-lt"/>
        <a:ea typeface="+mn-ea"/>
        <a:cs typeface="+mn-cs"/>
      </a:defRPr>
    </a:lvl4pPr>
    <a:lvl5pPr marL="1828800" algn="r" defTabSz="914400" rtl="1" eaLnBrk="1" latinLnBrk="0" hangingPunct="1">
      <a:defRPr sz="1200" kern="1200">
        <a:solidFill>
          <a:schemeClr val="tx1"/>
        </a:solidFill>
        <a:latin typeface="+mn-lt"/>
        <a:ea typeface="+mn-ea"/>
        <a:cs typeface="+mn-cs"/>
      </a:defRPr>
    </a:lvl5pPr>
    <a:lvl6pPr marL="2286000" algn="r" defTabSz="914400" rtl="1" eaLnBrk="1" latinLnBrk="0" hangingPunct="1">
      <a:defRPr sz="1200" kern="1200">
        <a:solidFill>
          <a:schemeClr val="tx1"/>
        </a:solidFill>
        <a:latin typeface="+mn-lt"/>
        <a:ea typeface="+mn-ea"/>
        <a:cs typeface="+mn-cs"/>
      </a:defRPr>
    </a:lvl6pPr>
    <a:lvl7pPr marL="2743200" algn="r" defTabSz="914400" rtl="1" eaLnBrk="1" latinLnBrk="0" hangingPunct="1">
      <a:defRPr sz="1200" kern="1200">
        <a:solidFill>
          <a:schemeClr val="tx1"/>
        </a:solidFill>
        <a:latin typeface="+mn-lt"/>
        <a:ea typeface="+mn-ea"/>
        <a:cs typeface="+mn-cs"/>
      </a:defRPr>
    </a:lvl7pPr>
    <a:lvl8pPr marL="3200400" algn="r" defTabSz="914400" rtl="1" eaLnBrk="1" latinLnBrk="0" hangingPunct="1">
      <a:defRPr sz="1200" kern="1200">
        <a:solidFill>
          <a:schemeClr val="tx1"/>
        </a:solidFill>
        <a:latin typeface="+mn-lt"/>
        <a:ea typeface="+mn-ea"/>
        <a:cs typeface="+mn-cs"/>
      </a:defRPr>
    </a:lvl8pPr>
    <a:lvl9pPr marL="3657600" algn="r" defTabSz="914400" rtl="1"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رحّب بالمعلمين. قل: «هذه الدورة ليست مثالًا من كتاب. إنها مشروع حقيقي بناه طلاب في المرحلة الابتدائية وشاركوا به في أولمبياد الروبوت العالمي WRO: لمسة تراث».</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اترك المشهد يعمل دون كلام: زائر على كرسي متحرك أمام كاميرا. ينظر بعينه يمينًا فيدور المجسّم وتجري موجة ذهبية حول المنصة. يثبّت نظره فيتوقف المجسّم، ويضيء لون الجهة، ويبدأ على الشاشة فيديو بلغة الإشارة مع شرح صوتي. ثم اسأل: «من يتحكم هنا؟» الجواب: عين الزائر فقط. وفي الزاوية: روبوت سلامة يحرس المعرض.
🎬 المشهد يتحرك وحده أثناء العرض، وهو تفاعلي بالكامل في منصة جذور.</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لاحظ الفريق بالزيارات الميدانية والنقاش مع أشخاص من ذوي الإعاقة أن المواقع التراثية نادرًا ما تُصمم للجميع. والحاجة ليست ثلاثة حلول منفصلة، بل حل واحد ذكي.</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الحركية: لا أزرار تحتاج قوة أو دقة. السمعية: فيديو لغة الإشارة. البصرية: الشرح الصوتي. هذا التصميم الموحّد ما يميز المشروع عن الحلول التقليدية التي تعامل كل إعاقة وحدها.</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اضغط كل عقدة واقرأ دورها. ثم «شاهد نظرة واحدة»: ثماني خطوات من الكاميرا حتى فيديو لغة الإشارة. اسأل: «كم جهازًا شارك في نظرة واحدة؟» أربعة: الكاميرا والحاسوب، والراسبيري، وESP32، والدرايفر.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اضغط r يمين: ليد STEP يومض مع كل نبضة، وDIR مضاء، والمجسّم يدور وموجة ذهبية تجري حوله. اضغط s: ‏EN يصبح HIGH ويظهر اسم الجهة. غيّر wait: أكبر = أبطأ. ثم اختر «كاملة ×١» وقلّل wait تحت ٧٠٠: المحرك يفقد خطواته ويهتز. الخطوات الدقيقة تجعل الحركة ناعمة لعين تتابع.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الدالة turn تخطو خطوة واحدة فقط، وloop تستدعيها آلاف المرات. هكذا يبقى ESP32 حرًا ليقرأ الأوامر الجديدة بين كل خطوة وأخرى، وهذا مهم جدًا في المحور السادس.
🖱️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اضغط كل جهة: المنصة تدور إليها ويتلون الشريط بلونها. ثم «موجة الدوران». ثم «مكافأة الاهتمام»: فكرة قيد التطوير عند الفريق، حين يطيل الزائر النظر إلى جهة. ارفع السطوع إلى ٢٥٥ وراقب التيار: هذا سبب «السطوع المضبوط أمانيًا» في تقرير الفريق.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لا يتغير شيء قبل show! هذا خطأ شائع: يكتب الطالب الألوان وينسى show فلا يرى شيئًا.
🖱️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اختر جهة وراقب الشريطين: الصوت أطول من الفيديو! بلا تمديد: ينتهي الفيديو فتظهر شاشة سوداء والصوت مستمر، والزائر الأصم فقد المترجم. هذا ما حدث للفريق فعلًا: الفرق بين ثانيتين و١١ ثانية. اضغط «تمديد بآخر إطار»: الصورة تبقى حتى ينتهي الصوت. الحل بأمر ffmpeg واحد، مع الاحتفاظ بالنسخ الأصلية احتياطًا.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Popen لا تنتظر انتهاء البرنامج، فيعمل الفيديو والصوت معًا ويبقى بايثون حرًا لاستقبال أوامر العين.
🖱️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اضغط مطولًا «انظر يمينًا»: رسائل r تطير كل ١٠٠ ملي ثانية. ارفع إصبعك: رسائل s. الآن ارفع الفقد إلى ٤٠٪ وأوقف الحارس وكرر: أحيانًا تضيع رسائل s فتستمر المنصة بالدوران! هذا ما اكتشفه الفريق من سجلات التشغيل: رسالة واحدة ضائعة سببت دورانًا أكبر بكثير من المطلوب. ثم شغّل الحارس: إن لم تصل رسالة لأكثر من ثانية توقفت المنصة بأمان. وأخيرًا «اقطع الشبكة» مع الحارس.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لماذا ينجح الحارس؟ لأن المرسل يكرر الأمر باستمرار. فالصمت الطويل لا يعني «استمر»، بل يعني «حدث خطأ». هذا مبدأ «الأمان عند العطل» Fail-safe في كل الأنظمة الحرجة: الطائرات والقطارات والمصاعد.
🖱️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اضغط «معايرة» أولًا. ثم مرّر المؤشر يمينًا ويسارًا فوق الوجه: البؤبؤ يتحرك، والنسبة تتغير، والأمر r أو l، والقصر يدور. عد للوسط: s ويبدأ محتوى الجهة. مرّر للأعلى: البوابة دون أن تتحرك المنصة. اضغط «رمشة»: توقف أماني فوري. و«إغماضة طويلة»: «اشرح هذه الجهة». وأخيرًا «المؤشرات: الموثقة»: الاتجاهان ينعكسان! هذا ما وجده الفريق فعلًا: ترتيب 468 و473 كان معكوسًا عن المصادر الشائعة.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الهامش ٠٫٠٨ «منطقة ميتة»: نظرة أمامية طبيعية فيها اهتزاز بسيط لا يجب أن يحرك المنصة. والغمضة الطويلة المقصودة (أطول من رمشة عادية) تعني «اشرح هذه الجهة».
🖱️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اضغط «ابدأ الجولة»: ترحيب، ثم الكرسي يتقدم وحساس المسافة يقيس، ثم «وضع الاستكشاف». اضغط مطولًا على «انظر يمينًا»: القصر يدور. اتركها: يتوقف ويبدأ محتوى الجهة، وشريط الاهتمام يمتلئ. أطل النظر إلى جهة: إضاءة احتفالية. زر كل الجهات الأربع: ملخص الجولة. هاتان الميزتان «قيد التطوير» عند الفريق، والمحاكي يريكم كيف ستعمل.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هذا الفرق بين روبوت «يستجيب لأمر» وروبوت «يتخذ قرارًا». ناقشوا مع الطلاب: ما البيانات الأخرى التي يمكن أن يقرر بها النظام؟</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اترك المشهد يعمل: لهب عند البرج وتسرّب غاز في اللحظة نفسها. القائد يذهب إلى اللهب بنفسه (معه المضخة)، ويرسل إلى الروبوت الثاني «إلى الغاز» (معه المروحة). ينطلقان معًا، وبعد الانتهاء يعود كلٌّ إلى مكانه بالاتجاه نفسه للخلف. روبوتان أسرع من روبوت واحد يعالج الخطرين بالتتابع. هذا ما سنبنيه في المحاور ٩–١٥.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جرّب الأزرار الثلاثة: لهب فقط (القائد يذهب ويعود للخلف، والثاني يحرس)، ثم غاز فقط (القائد يبقى ويعطي الثاني الإذن)، ثم الاثنان معًا (القائد للهب ويأمر الثاني بالغاز). ثم حرّك المنزلقتين بنفسك.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لماذا نأمر الثاني قبل أن نتحرك؟ لأن مهمة اللهب تستغرق وقتًا، ولو أبلغناه بعدها لانتظر الغاز بلا داعٍ. ترتيب سطرين يصنع فرقًا في ثوانٍ ثمينة.
🖱️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ابدأ بـ «لهب A»: القائد (الأحمر) يذهب بنفسه ويطفئ ثم يعود بالاتجاه نفسه للخلف، والثاني (الأزرق) يحرس. ثم «غاز B»: القائد يبقى، وتطير منه رسالة إذن إلى الثاني فينطلق ويشغّل المروحة ويعود. ثم «معًا»: غاز في A ولهب في B: القائد يرسل الأمر للثاني ثم ينطلق إلى اللهب، فيعملان في الوقت نفسه: مضخة هنا ومروحة هناك، ثم يعود كلٌّ مكانه.
💡 هذه الأداة تفاعلية بالكامل في منصة جذور، فاعرضها من المنصة إن أمكن.</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والروبوت الثاني؟ ينتظر رسالة GO GAS من القائد، فيذهب إلى الغاز ويشغّل المروحة ثم يعود للخلف بالطريقة نفسها. القرار عند القائد، والتنفيذ عند الاثنين.
🖱️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اضغط خطوة خطوة: في الوضع الطبيعي الشاشة تقول «المتحف آمن». عند الحريق تتحول الشاشة إلى الأحمر وتعلن «إنذار حريق» ونسبته، ثم «الروبوتات في طريقها»، ثم «أُبلغ الدفاع المدني». وبعد أن تنطفئ النار ويعود الروبوت: «تمت المهمة بنجاح» ثم «المتحف آمن الآن». الشاشة بالإنجليزية لأن شاشة LCD الصغيرة لا تكتب العربية، وهي تقلب صفحاتها وحدها كل ثانيتين مثل لوحة الإعلانات.
🖱️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الجوال هنا يمثل جوال الدفاع المدني. لحظة اكتشاف الحريق ترسل المحطة وحدها رسالة تيليجرام فيها نوع الخطر ونسبته، وأن الروبوتات تتعامل معه. وعندما تزول النار ويعود كل روبوت إلى مكانه تصل رسالة ثانية: «المتحف آمن، لا داعي للحضور». اقرأ الرسالتين بصوت عالٍ أمام لجنة التحكيم، والأجمل أن يرن جوال حقيقي أمامهم.
🖱️ اضغط للانتقال بين الخطوات.</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كل قاعدة جواب عن سؤال «ماذا لو؟»: ماذا لو لم تنطفئ النار؟ ماذا لو انقطع الاتصال؟ ماذا لو ضاعت الرسالة؟ هذا ما يفعله المهندسون في أنظمة السلامة الحقيقية.</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لجان التحكيم تحب هذا الجدول أكثر من قائمة الميزات: يُظهر أن الفريق بنى فعلًا، وأخطأ، وفهم، وأصلح.</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شريحة الختام.</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8" Type="http://schemas.openxmlformats.org/officeDocument/2006/relationships/audio" Target="../media/media4.mp3"/><Relationship Id="rId13" Type="http://schemas.openxmlformats.org/officeDocument/2006/relationships/slideLayout" Target="../slideLayouts/slideLayout1.xml"/><Relationship Id="rId3" Type="http://schemas.microsoft.com/office/2007/relationships/media" Target="../media/media2.mp3"/><Relationship Id="rId7" Type="http://schemas.microsoft.com/office/2007/relationships/media" Target="../media/media4.mp3"/><Relationship Id="rId12" Type="http://schemas.openxmlformats.org/officeDocument/2006/relationships/audio" Target="../media/media6.mp3"/><Relationship Id="rId17" Type="http://schemas.openxmlformats.org/officeDocument/2006/relationships/image" Target="../media/image4.png"/><Relationship Id="rId2" Type="http://schemas.openxmlformats.org/officeDocument/2006/relationships/audio" Target="../media/media1.mp3"/><Relationship Id="rId16" Type="http://schemas.openxmlformats.org/officeDocument/2006/relationships/image" Target="../media/image3.gif"/><Relationship Id="rId1" Type="http://schemas.microsoft.com/office/2007/relationships/media" Target="../media/media1.mp3"/><Relationship Id="rId6" Type="http://schemas.openxmlformats.org/officeDocument/2006/relationships/audio" Target="../media/media3.mp3"/><Relationship Id="rId11" Type="http://schemas.microsoft.com/office/2007/relationships/media" Target="../media/media6.mp3"/><Relationship Id="rId5" Type="http://schemas.microsoft.com/office/2007/relationships/media" Target="../media/media3.mp3"/><Relationship Id="rId15" Type="http://schemas.openxmlformats.org/officeDocument/2006/relationships/image" Target="../media/image2.jpg"/><Relationship Id="rId10" Type="http://schemas.openxmlformats.org/officeDocument/2006/relationships/audio" Target="../media/media5.mp3"/><Relationship Id="rId4" Type="http://schemas.openxmlformats.org/officeDocument/2006/relationships/audio" Target="../media/media2.mp3"/><Relationship Id="rId9" Type="http://schemas.microsoft.com/office/2007/relationships/media" Target="../media/media5.mp3"/><Relationship Id="rId1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8" Type="http://schemas.openxmlformats.org/officeDocument/2006/relationships/image" Target="../media/image13.jpg"/><Relationship Id="rId3" Type="http://schemas.openxmlformats.org/officeDocument/2006/relationships/image" Target="../media/image8.jpg"/><Relationship Id="rId7" Type="http://schemas.openxmlformats.org/officeDocument/2006/relationships/image" Target="../media/image12.jp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11.jpg"/><Relationship Id="rId5" Type="http://schemas.openxmlformats.org/officeDocument/2006/relationships/image" Target="../media/image10.jpg"/><Relationship Id="rId4" Type="http://schemas.openxmlformats.org/officeDocument/2006/relationships/image" Target="../media/image9.jpg"/><Relationship Id="rId9" Type="http://schemas.openxmlformats.org/officeDocument/2006/relationships/image" Target="../media/image14.jpg"/></Relationships>
</file>

<file path=ppt/slides/_rels/slide8.xml.rels><?xml version="1.0" encoding="UTF-8" standalone="yes"?>
<Relationships xmlns="http://schemas.openxmlformats.org/package/2006/relationships"><Relationship Id="rId3" Type="http://schemas.openxmlformats.org/officeDocument/2006/relationships/image" Target="../media/image15.jp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8" Type="http://schemas.openxmlformats.org/officeDocument/2006/relationships/image" Target="../media/image21.jpg"/><Relationship Id="rId3" Type="http://schemas.openxmlformats.org/officeDocument/2006/relationships/image" Target="../media/image16.jpg"/><Relationship Id="rId7" Type="http://schemas.openxmlformats.org/officeDocument/2006/relationships/image" Target="../media/image20.jpg"/><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image" Target="../media/image19.jpg"/><Relationship Id="rId5" Type="http://schemas.openxmlformats.org/officeDocument/2006/relationships/image" Target="../media/image18.jpg"/><Relationship Id="rId4" Type="http://schemas.openxmlformats.org/officeDocument/2006/relationships/image" Target="../media/image17.jpg"/><Relationship Id="rId9" Type="http://schemas.openxmlformats.org/officeDocument/2006/relationships/image" Target="../media/image22.jpg"/></Relationships>
</file>

<file path=ppt/slides/_rels/slide10.xml.rels><?xml version="1.0" encoding="UTF-8" standalone="yes"?>
<Relationships xmlns="http://schemas.openxmlformats.org/package/2006/relationships"><Relationship Id="rId3" Type="http://schemas.openxmlformats.org/officeDocument/2006/relationships/image" Target="../media/image23.jp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8" Type="http://schemas.openxmlformats.org/officeDocument/2006/relationships/image" Target="../media/image29.jpg"/><Relationship Id="rId3" Type="http://schemas.openxmlformats.org/officeDocument/2006/relationships/image" Target="../media/image24.jpg"/><Relationship Id="rId7" Type="http://schemas.openxmlformats.org/officeDocument/2006/relationships/image" Target="../media/image28.jpg"/><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image" Target="../media/image27.jpg"/><Relationship Id="rId5" Type="http://schemas.openxmlformats.org/officeDocument/2006/relationships/image" Target="../media/image26.jpg"/><Relationship Id="rId4" Type="http://schemas.openxmlformats.org/officeDocument/2006/relationships/image" Target="../media/image25.jpg"/><Relationship Id="rId9" Type="http://schemas.openxmlformats.org/officeDocument/2006/relationships/image" Target="../media/image30.jpg"/></Relationships>
</file>

<file path=ppt/slides/_rels/slide12.xml.rels><?xml version="1.0" encoding="UTF-8" standalone="yes"?>
<Relationships xmlns="http://schemas.openxmlformats.org/package/2006/relationships"><Relationship Id="rId3" Type="http://schemas.openxmlformats.org/officeDocument/2006/relationships/image" Target="../media/image31.jp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8" Type="http://schemas.openxmlformats.org/officeDocument/2006/relationships/image" Target="../media/image37.jpg"/><Relationship Id="rId3" Type="http://schemas.openxmlformats.org/officeDocument/2006/relationships/image" Target="../media/image32.jpg"/><Relationship Id="rId7" Type="http://schemas.openxmlformats.org/officeDocument/2006/relationships/image" Target="../media/image36.jpg"/><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image" Target="../media/image35.jpg"/><Relationship Id="rId5" Type="http://schemas.openxmlformats.org/officeDocument/2006/relationships/image" Target="../media/image34.jpg"/><Relationship Id="rId4" Type="http://schemas.openxmlformats.org/officeDocument/2006/relationships/image" Target="../media/image33.jpg"/></Relationships>
</file>

<file path=ppt/slides/_rels/slide14.xml.rels><?xml version="1.0" encoding="UTF-8" standalone="yes"?>
<Relationships xmlns="http://schemas.openxmlformats.org/package/2006/relationships"><Relationship Id="rId3" Type="http://schemas.openxmlformats.org/officeDocument/2006/relationships/image" Target="../media/image38.jp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8" Type="http://schemas.openxmlformats.org/officeDocument/2006/relationships/image" Target="../media/image44.jpg"/><Relationship Id="rId3" Type="http://schemas.openxmlformats.org/officeDocument/2006/relationships/image" Target="../media/image39.jpg"/><Relationship Id="rId7" Type="http://schemas.openxmlformats.org/officeDocument/2006/relationships/image" Target="../media/image43.jpg"/><Relationship Id="rId2" Type="http://schemas.openxmlformats.org/officeDocument/2006/relationships/notesSlide" Target="../notesSlides/notesSlide15.xml"/><Relationship Id="rId1" Type="http://schemas.openxmlformats.org/officeDocument/2006/relationships/slideLayout" Target="../slideLayouts/slideLayout1.xml"/><Relationship Id="rId6" Type="http://schemas.openxmlformats.org/officeDocument/2006/relationships/image" Target="../media/image42.jpg"/><Relationship Id="rId5" Type="http://schemas.openxmlformats.org/officeDocument/2006/relationships/image" Target="../media/image41.jpg"/><Relationship Id="rId4" Type="http://schemas.openxmlformats.org/officeDocument/2006/relationships/image" Target="../media/image40.jpg"/><Relationship Id="rId9" Type="http://schemas.openxmlformats.org/officeDocument/2006/relationships/image" Target="../media/image45.jpg"/></Relationships>
</file>

<file path=ppt/slides/_rels/slide16.xml.rels><?xml version="1.0" encoding="UTF-8" standalone="yes"?>
<Relationships xmlns="http://schemas.openxmlformats.org/package/2006/relationships"><Relationship Id="rId3" Type="http://schemas.openxmlformats.org/officeDocument/2006/relationships/image" Target="../media/image46.jp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47.jpg"/><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48.jpg"/><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8" Type="http://schemas.openxmlformats.org/officeDocument/2006/relationships/image" Target="../media/image54.jpg"/><Relationship Id="rId3" Type="http://schemas.openxmlformats.org/officeDocument/2006/relationships/image" Target="../media/image49.jpg"/><Relationship Id="rId7" Type="http://schemas.openxmlformats.org/officeDocument/2006/relationships/image" Target="../media/image53.jpg"/><Relationship Id="rId2" Type="http://schemas.openxmlformats.org/officeDocument/2006/relationships/notesSlide" Target="../notesSlides/notesSlide20.xml"/><Relationship Id="rId1" Type="http://schemas.openxmlformats.org/officeDocument/2006/relationships/slideLayout" Target="../slideLayouts/slideLayout1.xml"/><Relationship Id="rId6" Type="http://schemas.openxmlformats.org/officeDocument/2006/relationships/image" Target="../media/image52.jpg"/><Relationship Id="rId5" Type="http://schemas.openxmlformats.org/officeDocument/2006/relationships/image" Target="../media/image51.jpg"/><Relationship Id="rId10" Type="http://schemas.openxmlformats.org/officeDocument/2006/relationships/image" Target="../media/image56.jpg"/><Relationship Id="rId4" Type="http://schemas.openxmlformats.org/officeDocument/2006/relationships/image" Target="../media/image50.jpg"/><Relationship Id="rId9" Type="http://schemas.openxmlformats.org/officeDocument/2006/relationships/image" Target="../media/image55.jpg"/></Relationships>
</file>

<file path=ppt/slides/_rels/slide21.xml.rels><?xml version="1.0" encoding="UTF-8" standalone="yes"?>
<Relationships xmlns="http://schemas.openxmlformats.org/package/2006/relationships"><Relationship Id="rId3" Type="http://schemas.openxmlformats.org/officeDocument/2006/relationships/image" Target="../media/image57.jpg"/><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8" Type="http://schemas.openxmlformats.org/officeDocument/2006/relationships/image" Target="../media/image63.jpg"/><Relationship Id="rId3" Type="http://schemas.openxmlformats.org/officeDocument/2006/relationships/image" Target="../media/image58.jpg"/><Relationship Id="rId7" Type="http://schemas.openxmlformats.org/officeDocument/2006/relationships/image" Target="../media/image62.jpg"/><Relationship Id="rId2" Type="http://schemas.openxmlformats.org/officeDocument/2006/relationships/notesSlide" Target="../notesSlides/notesSlide22.xml"/><Relationship Id="rId1" Type="http://schemas.openxmlformats.org/officeDocument/2006/relationships/slideLayout" Target="../slideLayouts/slideLayout1.xml"/><Relationship Id="rId6" Type="http://schemas.openxmlformats.org/officeDocument/2006/relationships/image" Target="../media/image61.jpg"/><Relationship Id="rId5" Type="http://schemas.openxmlformats.org/officeDocument/2006/relationships/image" Target="../media/image60.jpg"/><Relationship Id="rId10" Type="http://schemas.openxmlformats.org/officeDocument/2006/relationships/image" Target="../media/image65.jpg"/><Relationship Id="rId4" Type="http://schemas.openxmlformats.org/officeDocument/2006/relationships/image" Target="../media/image59.jpg"/><Relationship Id="rId9" Type="http://schemas.openxmlformats.org/officeDocument/2006/relationships/image" Target="../media/image64.jpg"/></Relationships>
</file>

<file path=ppt/slides/_rels/slide23.xml.rels><?xml version="1.0" encoding="UTF-8" standalone="yes"?>
<Relationships xmlns="http://schemas.openxmlformats.org/package/2006/relationships"><Relationship Id="rId8" Type="http://schemas.openxmlformats.org/officeDocument/2006/relationships/image" Target="../media/image71.jpg"/><Relationship Id="rId3" Type="http://schemas.openxmlformats.org/officeDocument/2006/relationships/image" Target="../media/image66.jpg"/><Relationship Id="rId7" Type="http://schemas.openxmlformats.org/officeDocument/2006/relationships/image" Target="../media/image70.jpg"/><Relationship Id="rId2" Type="http://schemas.openxmlformats.org/officeDocument/2006/relationships/notesSlide" Target="../notesSlides/notesSlide23.xml"/><Relationship Id="rId1" Type="http://schemas.openxmlformats.org/officeDocument/2006/relationships/slideLayout" Target="../slideLayouts/slideLayout1.xml"/><Relationship Id="rId6" Type="http://schemas.openxmlformats.org/officeDocument/2006/relationships/image" Target="../media/image69.jpg"/><Relationship Id="rId5" Type="http://schemas.openxmlformats.org/officeDocument/2006/relationships/image" Target="../media/image68.jpg"/><Relationship Id="rId4" Type="http://schemas.openxmlformats.org/officeDocument/2006/relationships/image" Target="../media/image67.jpg"/></Relationships>
</file>

<file path=ppt/slides/_rels/slide24.xml.rels><?xml version="1.0" encoding="UTF-8" standalone="yes"?>
<Relationships xmlns="http://schemas.openxmlformats.org/package/2006/relationships"><Relationship Id="rId3" Type="http://schemas.openxmlformats.org/officeDocument/2006/relationships/image" Target="../media/image72.jpg"/><Relationship Id="rId2" Type="http://schemas.openxmlformats.org/officeDocument/2006/relationships/notesSlide" Target="../notesSlides/notesSlide24.xml"/><Relationship Id="rId1" Type="http://schemas.openxmlformats.org/officeDocument/2006/relationships/slideLayout" Target="../slideLayouts/slideLayout1.xml"/><Relationship Id="rId6" Type="http://schemas.openxmlformats.org/officeDocument/2006/relationships/image" Target="../media/image75.jpg"/><Relationship Id="rId5" Type="http://schemas.openxmlformats.org/officeDocument/2006/relationships/image" Target="../media/image74.jpg"/><Relationship Id="rId4" Type="http://schemas.openxmlformats.org/officeDocument/2006/relationships/image" Target="../media/image73.jpg"/></Relationships>
</file>

<file path=ppt/slides/_rels/slide25.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5615788" y="731520"/>
            <a:ext cx="960120" cy="960120"/>
          </a:xfrm>
          <a:prstGeom prst="roundRect">
            <a:avLst>
              <a:gd name="adj" fmla="val 26667"/>
            </a:avLst>
          </a:prstGeom>
          <a:solidFill>
            <a:srgbClr val="D9AE4B"/>
          </a:solidFill>
          <a:ln/>
          <a:effectLst>
            <a:outerShdw blurRad="254000" dist="50800" dir="16200000" algn="bl" rotWithShape="0">
              <a:srgbClr val="D9AE4B">
                <a:alpha val="45000"/>
              </a:srgbClr>
            </a:outerShdw>
          </a:effectLst>
        </p:spPr>
      </p:sp>
      <p:sp>
        <p:nvSpPr>
          <p:cNvPr id="3" name="Text 1"/>
          <p:cNvSpPr/>
          <p:nvPr/>
        </p:nvSpPr>
        <p:spPr>
          <a:xfrm>
            <a:off x="5615788" y="731520"/>
            <a:ext cx="960120" cy="960120"/>
          </a:xfrm>
          <a:prstGeom prst="rect">
            <a:avLst/>
          </a:prstGeom>
          <a:noFill/>
          <a:ln/>
        </p:spPr>
        <p:txBody>
          <a:bodyPr wrap="square" lIns="0" tIns="0" rIns="0" bIns="0" rtlCol="0" anchor="ctr">
            <a:normAutofit/>
          </a:bodyPr>
          <a:lstStyle/>
          <a:p>
            <a:pPr marL="0" indent="0" algn="ctr" rtl="1">
              <a:buNone/>
            </a:pPr>
            <a:r>
              <a:rPr lang="ar-SA" altLang="en-US" sz="4400" dirty="0">
                <a:solidFill>
                  <a:srgbClr val="131B34"/>
                </a:solidFill>
                <a:latin typeface="Cairo" pitchFamily="34" charset="0"/>
                <a:ea typeface="Cairo" pitchFamily="34" charset="-122"/>
                <a:cs typeface="Cairo" pitchFamily="34" charset="-120"/>
              </a:rPr>
              <a:t>🌳</a:t>
            </a:r>
            <a:endParaRPr lang="ar-SA" sz="4400" dirty="0"/>
          </a:p>
        </p:txBody>
      </p:sp>
      <p:sp>
        <p:nvSpPr>
          <p:cNvPr id="4" name="Text 2"/>
          <p:cNvSpPr/>
          <p:nvPr/>
        </p:nvSpPr>
        <p:spPr>
          <a:xfrm>
            <a:off x="0" y="1920240"/>
            <a:ext cx="12191695" cy="457200"/>
          </a:xfrm>
          <a:prstGeom prst="rect">
            <a:avLst/>
          </a:prstGeom>
          <a:noFill/>
          <a:ln/>
        </p:spPr>
        <p:txBody>
          <a:bodyPr wrap="square" lIns="0" tIns="0" rIns="0" bIns="0" rtlCol="0" anchor="ctr">
            <a:normAutofit/>
          </a:bodyPr>
          <a:lstStyle/>
          <a:p>
            <a:pPr marL="0" indent="0" algn="ctr" rtl="1">
              <a:buNone/>
            </a:pPr>
            <a:r>
              <a:rPr lang="ar-SA" altLang="en-US" sz="2000" b="1" dirty="0">
                <a:solidFill>
                  <a:srgbClr val="F0CC7A"/>
                </a:solidFill>
                <a:latin typeface="Cairo" pitchFamily="34" charset="0"/>
                <a:ea typeface="Cairo" pitchFamily="34" charset="-122"/>
                <a:cs typeface="Cairo" pitchFamily="34" charset="-120"/>
              </a:rPr>
              <a:t>WRO 2026 · Future Innovators · عرض لجنة التحكيم</a:t>
            </a:r>
            <a:endParaRPr lang="ar-SA" sz="2000" dirty="0"/>
          </a:p>
        </p:txBody>
      </p:sp>
      <p:sp>
        <p:nvSpPr>
          <p:cNvPr id="5" name="Text 3"/>
          <p:cNvSpPr/>
          <p:nvPr/>
        </p:nvSpPr>
        <p:spPr>
          <a:xfrm>
            <a:off x="0" y="2331720"/>
            <a:ext cx="12191695" cy="1463040"/>
          </a:xfrm>
          <a:prstGeom prst="rect">
            <a:avLst/>
          </a:prstGeom>
          <a:noFill/>
          <a:ln/>
        </p:spPr>
        <p:txBody>
          <a:bodyPr wrap="square" lIns="0" tIns="0" rIns="0" bIns="0" rtlCol="0" anchor="ctr">
            <a:normAutofit/>
          </a:bodyPr>
          <a:lstStyle/>
          <a:p>
            <a:pPr marL="0" indent="0" algn="ctr" rtl="1">
              <a:buNone/>
            </a:pPr>
            <a:r>
              <a:rPr lang="ar-SA" altLang="en-US" sz="9600" dirty="0">
                <a:solidFill>
                  <a:srgbClr val="FFF3D6"/>
                </a:solidFill>
                <a:latin typeface="Cairo Black" pitchFamily="34" charset="0"/>
                <a:ea typeface="Cairo Black" pitchFamily="34" charset="-122"/>
                <a:cs typeface="Cairo Black" pitchFamily="34" charset="-120"/>
              </a:rPr>
              <a:t>لمسة تراث</a:t>
            </a:r>
            <a:endParaRPr lang="ar-SA" sz="9600" dirty="0"/>
          </a:p>
        </p:txBody>
      </p:sp>
      <p:sp>
        <p:nvSpPr>
          <p:cNvPr id="6" name="Text 4"/>
          <p:cNvSpPr/>
          <p:nvPr/>
        </p:nvSpPr>
        <p:spPr>
          <a:xfrm>
            <a:off x="0" y="3794760"/>
            <a:ext cx="12191695" cy="640080"/>
          </a:xfrm>
          <a:prstGeom prst="rect">
            <a:avLst/>
          </a:prstGeom>
          <a:noFill/>
          <a:ln/>
        </p:spPr>
        <p:txBody>
          <a:bodyPr wrap="square" lIns="0" tIns="0" rIns="0" bIns="0" rtlCol="0" anchor="ctr">
            <a:normAutofit/>
          </a:bodyPr>
          <a:lstStyle/>
          <a:p>
            <a:pPr marL="0" indent="0" algn="ctr" rtl="1">
              <a:buNone/>
            </a:pPr>
            <a:r>
              <a:rPr lang="ar-SA" altLang="en-US" sz="2800" b="1" dirty="0">
                <a:solidFill>
                  <a:srgbClr val="FFFFFF"/>
                </a:solidFill>
                <a:latin typeface="Cairo" pitchFamily="34" charset="0"/>
                <a:ea typeface="Cairo" pitchFamily="34" charset="-122"/>
                <a:cs typeface="Cairo" pitchFamily="34" charset="-120"/>
              </a:rPr>
              <a:t>قصر المصمك التفاعلي الشامل</a:t>
            </a:r>
            <a:endParaRPr lang="ar-SA" sz="2800" dirty="0"/>
          </a:p>
        </p:txBody>
      </p:sp>
      <p:sp>
        <p:nvSpPr>
          <p:cNvPr id="7" name="Shape 5"/>
          <p:cNvSpPr/>
          <p:nvPr/>
        </p:nvSpPr>
        <p:spPr>
          <a:xfrm>
            <a:off x="5364328" y="4617720"/>
            <a:ext cx="1463040" cy="36576"/>
          </a:xfrm>
          <a:prstGeom prst="rect">
            <a:avLst/>
          </a:prstGeom>
          <a:solidFill>
            <a:srgbClr val="D9AE4B"/>
          </a:solidFill>
          <a:ln/>
        </p:spPr>
      </p:sp>
      <p:sp>
        <p:nvSpPr>
          <p:cNvPr id="8" name="Text 6"/>
          <p:cNvSpPr/>
          <p:nvPr/>
        </p:nvSpPr>
        <p:spPr>
          <a:xfrm>
            <a:off x="0" y="5029200"/>
            <a:ext cx="12191695" cy="457200"/>
          </a:xfrm>
          <a:prstGeom prst="rect">
            <a:avLst/>
          </a:prstGeom>
          <a:noFill/>
          <a:ln/>
        </p:spPr>
        <p:txBody>
          <a:bodyPr wrap="square" lIns="0" tIns="0" rIns="0" bIns="0" rtlCol="0" anchor="ctr">
            <a:normAutofit/>
          </a:bodyPr>
          <a:lstStyle/>
          <a:p>
            <a:pPr marL="0" indent="0" algn="ctr">
              <a:buNone/>
            </a:pPr>
            <a:r>
              <a:rPr lang="ar-SA" altLang="en-US" sz="2000" b="1" dirty="0">
                <a:solidFill>
                  <a:srgbClr val="C9CFE6"/>
                </a:solidFill>
                <a:latin typeface="Cairo" pitchFamily="34" charset="0"/>
                <a:ea typeface="Cairo" pitchFamily="34" charset="-122"/>
                <a:cs typeface="Cairo" pitchFamily="34" charset="-120"/>
              </a:rPr>
              <a:t>إعداد وتقديم: </a:t>
            </a:r>
            <a:r>
              <a:rPr lang="ar-SA" altLang="en-US" sz="2000" b="1" dirty="0">
                <a:solidFill>
                  <a:srgbClr val="D9AE4B"/>
                </a:solidFill>
                <a:latin typeface="Cairo" pitchFamily="34" charset="0"/>
                <a:ea typeface="Cairo" pitchFamily="34" charset="-122"/>
                <a:cs typeface="Cairo" pitchFamily="34" charset="-120"/>
              </a:rPr>
              <a:t>فريق al arqam innovators · مدارس الأرقم</a:t>
            </a:r>
            <a:endParaRPr lang="ar-SA"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C:\Users\user\projects\younes-training\masmak-judges\.pptx-cache\s2.jpg"/>
          <p:cNvPicPr>
            <a:picLocks noChangeAspect="1"/>
          </p:cNvPicPr>
          <p:nvPr/>
        </p:nvPicPr>
        <p:blipFill>
          <a:blip r:embed="rId15"/>
          <a:stretch>
            <a:fillRect/>
          </a:stretch>
        </p:blipFill>
        <p:spPr>
          <a:xfrm>
            <a:off x="0" y="0"/>
            <a:ext cx="12191695" cy="6858000"/>
          </a:xfrm>
          <a:prstGeom prst="rect">
            <a:avLst/>
          </a:prstGeom>
        </p:spPr>
      </p:pic>
      <p:pic>
        <p:nvPicPr>
          <p:cNvPr id="3" name="Image 1" descr="C:\Users\user\projects\younes-training\masmak-judges\.pptx-cache\s2.gif"/>
          <p:cNvPicPr>
            <a:picLocks noChangeAspect="1"/>
          </p:cNvPicPr>
          <p:nvPr/>
        </p:nvPicPr>
        <p:blipFill>
          <a:blip r:embed="rId16"/>
          <a:stretch>
            <a:fillRect/>
          </a:stretch>
        </p:blipFill>
        <p:spPr>
          <a:xfrm>
            <a:off x="825479" y="2184400"/>
            <a:ext cx="10540736" cy="3848100"/>
          </a:xfrm>
          <a:prstGeom prst="rect">
            <a:avLst/>
          </a:prstGeom>
        </p:spPr>
      </p:pic>
      <p:pic>
        <p:nvPicPr>
          <p:cNvPr id="5" name="audio-1">
            <a:hlinkClick r:id="" action="ppaction://media"/>
          </p:cNvPr>
          <p:cNvPicPr>
            <a:picLocks noChangeAspect="1"/>
          </p:cNvPicPr>
          <p:nvPr>
            <a:audioFile r:link="rId2"/>
            <p:extLst>
              <p:ext uri="{DAA4B4D4-6D71-4841-9C94-3DE7FCFB9230}">
                <p14:media xmlns:p14="http://schemas.microsoft.com/office/powerpoint/2010/main" r:embed="rId1"/>
              </p:ext>
            </p:extLst>
          </p:nvPr>
        </p:nvPicPr>
        <p:blipFill>
          <a:blip r:embed="rId17"/>
          <a:stretch>
            <a:fillRect/>
          </a:stretch>
        </p:blipFill>
        <p:spPr>
          <a:xfrm>
            <a:off x="7699282" y="1809750"/>
            <a:ext cx="952872" cy="336550"/>
          </a:xfrm>
          <a:prstGeom prst="rect">
            <a:avLst/>
          </a:prstGeom>
        </p:spPr>
      </p:pic>
      <p:pic>
        <p:nvPicPr>
          <p:cNvPr id="8" name="audio-2">
            <a:hlinkClick r:id="" action="ppaction://media"/>
          </p:cNvPr>
          <p:cNvPicPr>
            <a:picLocks noChangeAspect="1"/>
          </p:cNvPicPr>
          <p:nvPr>
            <a:audioFile r:link="rId4"/>
            <p:extLst>
              <p:ext uri="{DAA4B4D4-6D71-4841-9C94-3DE7FCFB9230}">
                <p14:media xmlns:p14="http://schemas.microsoft.com/office/powerpoint/2010/main" r:embed="rId3"/>
              </p:ext>
            </p:extLst>
          </p:nvPr>
        </p:nvPicPr>
        <p:blipFill>
          <a:blip r:embed="rId17"/>
          <a:stretch>
            <a:fillRect/>
          </a:stretch>
        </p:blipFill>
        <p:spPr>
          <a:xfrm>
            <a:off x="6733114" y="1809750"/>
            <a:ext cx="902669" cy="336550"/>
          </a:xfrm>
          <a:prstGeom prst="rect">
            <a:avLst/>
          </a:prstGeom>
        </p:spPr>
      </p:pic>
      <p:pic>
        <p:nvPicPr>
          <p:cNvPr id="11" name="audio-3">
            <a:hlinkClick r:id="" action="ppaction://media"/>
          </p:cNvPr>
          <p:cNvPicPr>
            <a:picLocks noChangeAspect="1"/>
          </p:cNvPicPr>
          <p:nvPr>
            <a:audioFile r:link="rId6"/>
            <p:extLst>
              <p:ext uri="{DAA4B4D4-6D71-4841-9C94-3DE7FCFB9230}">
                <p14:media xmlns:p14="http://schemas.microsoft.com/office/powerpoint/2010/main" r:embed="rId5"/>
              </p:ext>
            </p:extLst>
          </p:nvPr>
        </p:nvPicPr>
        <p:blipFill>
          <a:blip r:embed="rId17"/>
          <a:stretch>
            <a:fillRect/>
          </a:stretch>
        </p:blipFill>
        <p:spPr>
          <a:xfrm>
            <a:off x="5999012" y="1809750"/>
            <a:ext cx="670603" cy="336550"/>
          </a:xfrm>
          <a:prstGeom prst="rect">
            <a:avLst/>
          </a:prstGeom>
        </p:spPr>
      </p:pic>
      <p:pic>
        <p:nvPicPr>
          <p:cNvPr id="14" name="audio-4">
            <a:hlinkClick r:id="" action="ppaction://media"/>
          </p:cNvPr>
          <p:cNvPicPr>
            <a:picLocks noChangeAspect="1"/>
          </p:cNvPicPr>
          <p:nvPr>
            <a:audioFile r:link="rId8"/>
            <p:extLst>
              <p:ext uri="{DAA4B4D4-6D71-4841-9C94-3DE7FCFB9230}">
                <p14:media xmlns:p14="http://schemas.microsoft.com/office/powerpoint/2010/main" r:embed="rId7"/>
              </p:ext>
            </p:extLst>
          </p:nvPr>
        </p:nvPicPr>
        <p:blipFill>
          <a:blip r:embed="rId17"/>
          <a:stretch>
            <a:fillRect/>
          </a:stretch>
        </p:blipFill>
        <p:spPr>
          <a:xfrm>
            <a:off x="5270864" y="1809750"/>
            <a:ext cx="664650" cy="336550"/>
          </a:xfrm>
          <a:prstGeom prst="rect">
            <a:avLst/>
          </a:prstGeom>
        </p:spPr>
      </p:pic>
      <p:pic>
        <p:nvPicPr>
          <p:cNvPr id="17" name="audio-5">
            <a:hlinkClick r:id="" action="ppaction://media"/>
          </p:cNvPr>
          <p:cNvPicPr>
            <a:picLocks noChangeAspect="1"/>
          </p:cNvPicPr>
          <p:nvPr>
            <a:audioFile r:link="rId10"/>
            <p:extLst>
              <p:ext uri="{DAA4B4D4-6D71-4841-9C94-3DE7FCFB9230}">
                <p14:media xmlns:p14="http://schemas.microsoft.com/office/powerpoint/2010/main" r:embed="rId9"/>
              </p:ext>
            </p:extLst>
          </p:nvPr>
        </p:nvPicPr>
        <p:blipFill>
          <a:blip r:embed="rId17"/>
          <a:stretch>
            <a:fillRect/>
          </a:stretch>
        </p:blipFill>
        <p:spPr>
          <a:xfrm>
            <a:off x="4429312" y="1809750"/>
            <a:ext cx="778054" cy="336550"/>
          </a:xfrm>
          <a:prstGeom prst="rect">
            <a:avLst/>
          </a:prstGeom>
        </p:spPr>
      </p:pic>
      <p:pic>
        <p:nvPicPr>
          <p:cNvPr id="20" name="audio-6">
            <a:hlinkClick r:id="" action="ppaction://media"/>
          </p:cNvPr>
          <p:cNvPicPr>
            <a:picLocks noChangeAspect="1"/>
          </p:cNvPicPr>
          <p:nvPr>
            <a:audioFile r:link="rId12"/>
            <p:extLst>
              <p:ext uri="{DAA4B4D4-6D71-4841-9C94-3DE7FCFB9230}">
                <p14:media xmlns:p14="http://schemas.microsoft.com/office/powerpoint/2010/main" r:embed="rId11"/>
              </p:ext>
            </p:extLst>
          </p:nvPr>
        </p:nvPicPr>
        <p:blipFill>
          <a:blip r:embed="rId17"/>
          <a:stretch>
            <a:fillRect/>
          </a:stretch>
        </p:blipFill>
        <p:spPr>
          <a:xfrm>
            <a:off x="3539640" y="1809750"/>
            <a:ext cx="826174" cy="336550"/>
          </a:xfrm>
          <a:prstGeom prst="rect">
            <a:avLst/>
          </a:prstGeom>
        </p:spPr>
      </p:pic>
    </p:spTree>
  </p:cSld>
  <p:clrMapOvr>
    <a:masterClrMapping/>
  </p:clrMapOvr>
  <p:timing>
    <p:tnLst>
      <p:par>
        <p:cTn id="1" dur="indefinite" restart="never" nodeType="tmRoot">
          <p:childTnLst>
            <p:seq concurrent="1" nextAc="seek">
              <p:cTn id="2" restart="whenNotActive" fill="hold" evtFilter="cancelBubble" nodeType="interactiveSeq">
                <p:stCondLst>
                  <p:cond evt="onClick" delay="0">
                    <p:tgtEl>
                      <p:spTgt spid="5"/>
                    </p:tgtEl>
                  </p:cond>
                </p:stCondLst>
                <p:endSync evt="end" delay="0">
                  <p:rtn val="all"/>
                </p:endSync>
                <p:childTnLst>
                  <p:par>
                    <p:cTn id="3" fill="hold">
                      <p:stCondLst>
                        <p:cond delay="0"/>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5"/>
                                        </p:tgtEl>
                                      </p:cBhvr>
                                    </p:cmd>
                                  </p:childTnLst>
                                </p:cTn>
                              </p:par>
                            </p:childTnLst>
                          </p:cTn>
                        </p:par>
                      </p:childTnLst>
                    </p:cTn>
                  </p:par>
                </p:childTnLst>
              </p:cTn>
              <p:nextCondLst>
                <p:cond evt="onClick" delay="0">
                  <p:tgtEl>
                    <p:spTgt spid="5"/>
                  </p:tgtEl>
                </p:cond>
              </p:nextCondLst>
            </p:seq>
            <p:seq concurrent="1" nextAc="seek">
              <p:cTn id="7" restart="whenNotActive" fill="hold" evtFilter="cancelBubble" nodeType="interactiveSeq">
                <p:stCondLst>
                  <p:cond evt="onClick" delay="0">
                    <p:tgtEl>
                      <p:spTgt spid="8"/>
                    </p:tgtEl>
                  </p:cond>
                </p:stCondLst>
                <p:endSync evt="end" delay="0">
                  <p:rtn val="all"/>
                </p:endSync>
                <p:childTnLst>
                  <p:par>
                    <p:cTn id="8" fill="hold">
                      <p:stCondLst>
                        <p:cond delay="0"/>
                      </p:stCondLst>
                      <p:childTnLst>
                        <p:par>
                          <p:cTn id="9" fill="hold">
                            <p:stCondLst>
                              <p:cond delay="0"/>
                            </p:stCondLst>
                            <p:childTnLst>
                              <p:par>
                                <p:cTn id="10" presetID="1" presetClass="mediacall" presetSubtype="0" fill="hold" nodeType="clickEffect">
                                  <p:stCondLst>
                                    <p:cond delay="0"/>
                                  </p:stCondLst>
                                  <p:childTnLst>
                                    <p:cmd type="call" cmd="playFrom(0.0)">
                                      <p:cBhvr>
                                        <p:cTn id="11" dur="1" fill="hold"/>
                                        <p:tgtEl>
                                          <p:spTgt spid="8"/>
                                        </p:tgtEl>
                                      </p:cBhvr>
                                    </p:cmd>
                                  </p:childTnLst>
                                </p:cTn>
                              </p:par>
                            </p:childTnLst>
                          </p:cTn>
                        </p:par>
                      </p:childTnLst>
                    </p:cTn>
                  </p:par>
                </p:childTnLst>
              </p:cTn>
              <p:nextCondLst>
                <p:cond evt="onClick" delay="0">
                  <p:tgtEl>
                    <p:spTgt spid="8"/>
                  </p:tgtEl>
                </p:cond>
              </p:nextCondLst>
            </p:seq>
            <p:seq concurrent="1" nextAc="seek">
              <p:cTn id="12" restart="whenNotActive" fill="hold" evtFilter="cancelBubble" nodeType="interactiveSeq">
                <p:stCondLst>
                  <p:cond evt="onClick" delay="0">
                    <p:tgtEl>
                      <p:spTgt spid="11"/>
                    </p:tgtEl>
                  </p:cond>
                </p:stCondLst>
                <p:endSync evt="end" delay="0">
                  <p:rtn val="all"/>
                </p:endSync>
                <p:childTnLst>
                  <p:par>
                    <p:cTn id="13" fill="hold">
                      <p:stCondLst>
                        <p:cond delay="0"/>
                      </p:stCondLst>
                      <p:childTnLst>
                        <p:par>
                          <p:cTn id="14" fill="hold">
                            <p:stCondLst>
                              <p:cond delay="0"/>
                            </p:stCondLst>
                            <p:childTnLst>
                              <p:par>
                                <p:cTn id="15" presetID="1" presetClass="mediacall" presetSubtype="0" fill="hold" nodeType="clickEffect">
                                  <p:stCondLst>
                                    <p:cond delay="0"/>
                                  </p:stCondLst>
                                  <p:childTnLst>
                                    <p:cmd type="call" cmd="playFrom(0.0)">
                                      <p:cBhvr>
                                        <p:cTn id="16" dur="1" fill="hold"/>
                                        <p:tgtEl>
                                          <p:spTgt spid="11"/>
                                        </p:tgtEl>
                                      </p:cBhvr>
                                    </p:cmd>
                                  </p:childTnLst>
                                </p:cTn>
                              </p:par>
                            </p:childTnLst>
                          </p:cTn>
                        </p:par>
                      </p:childTnLst>
                    </p:cTn>
                  </p:par>
                </p:childTnLst>
              </p:cTn>
              <p:nextCondLst>
                <p:cond evt="onClick" delay="0">
                  <p:tgtEl>
                    <p:spTgt spid="11"/>
                  </p:tgtEl>
                </p:cond>
              </p:nextCondLst>
            </p:seq>
            <p:seq concurrent="1" nextAc="seek">
              <p:cTn id="17" restart="whenNotActive" fill="hold" evtFilter="cancelBubble" nodeType="interactiveSeq">
                <p:stCondLst>
                  <p:cond evt="onClick" delay="0">
                    <p:tgtEl>
                      <p:spTgt spid="14"/>
                    </p:tgtEl>
                  </p:cond>
                </p:stCondLst>
                <p:endSync evt="end" delay="0">
                  <p:rtn val="all"/>
                </p:endSync>
                <p:childTnLst>
                  <p:par>
                    <p:cTn id="18" fill="hold">
                      <p:stCondLst>
                        <p:cond delay="0"/>
                      </p:stCondLst>
                      <p:childTnLst>
                        <p:par>
                          <p:cTn id="19" fill="hold">
                            <p:stCondLst>
                              <p:cond delay="0"/>
                            </p:stCondLst>
                            <p:childTnLst>
                              <p:par>
                                <p:cTn id="20" presetID="1" presetClass="mediacall" presetSubtype="0" fill="hold" nodeType="clickEffect">
                                  <p:stCondLst>
                                    <p:cond delay="0"/>
                                  </p:stCondLst>
                                  <p:childTnLst>
                                    <p:cmd type="call" cmd="playFrom(0.0)">
                                      <p:cBhvr>
                                        <p:cTn id="21" dur="1" fill="hold"/>
                                        <p:tgtEl>
                                          <p:spTgt spid="14"/>
                                        </p:tgtEl>
                                      </p:cBhvr>
                                    </p:cmd>
                                  </p:childTnLst>
                                </p:cTn>
                              </p:par>
                            </p:childTnLst>
                          </p:cTn>
                        </p:par>
                      </p:childTnLst>
                    </p:cTn>
                  </p:par>
                </p:childTnLst>
              </p:cTn>
              <p:nextCondLst>
                <p:cond evt="onClick" delay="0">
                  <p:tgtEl>
                    <p:spTgt spid="14"/>
                  </p:tgtEl>
                </p:cond>
              </p:nextCondLst>
            </p:seq>
            <p:seq concurrent="1" nextAc="seek">
              <p:cTn id="22" restart="whenNotActive" fill="hold" evtFilter="cancelBubble" nodeType="interactiveSeq">
                <p:stCondLst>
                  <p:cond evt="onClick" delay="0">
                    <p:tgtEl>
                      <p:spTgt spid="17"/>
                    </p:tgtEl>
                  </p:cond>
                </p:stCondLst>
                <p:endSync evt="end" delay="0">
                  <p:rtn val="all"/>
                </p:endSync>
                <p:childTnLst>
                  <p:par>
                    <p:cTn id="23" fill="hold">
                      <p:stCondLst>
                        <p:cond delay="0"/>
                      </p:stCondLst>
                      <p:childTnLst>
                        <p:par>
                          <p:cTn id="24" fill="hold">
                            <p:stCondLst>
                              <p:cond delay="0"/>
                            </p:stCondLst>
                            <p:childTnLst>
                              <p:par>
                                <p:cTn id="25" presetID="1" presetClass="mediacall" presetSubtype="0" fill="hold" nodeType="clickEffect">
                                  <p:stCondLst>
                                    <p:cond delay="0"/>
                                  </p:stCondLst>
                                  <p:childTnLst>
                                    <p:cmd type="call" cmd="playFrom(0.0)">
                                      <p:cBhvr>
                                        <p:cTn id="26" dur="1" fill="hold"/>
                                        <p:tgtEl>
                                          <p:spTgt spid="17"/>
                                        </p:tgtEl>
                                      </p:cBhvr>
                                    </p:cmd>
                                  </p:childTnLst>
                                </p:cTn>
                              </p:par>
                            </p:childTnLst>
                          </p:cTn>
                        </p:par>
                      </p:childTnLst>
                    </p:cTn>
                  </p:par>
                </p:childTnLst>
              </p:cTn>
              <p:nextCondLst>
                <p:cond evt="onClick" delay="0">
                  <p:tgtEl>
                    <p:spTgt spid="17"/>
                  </p:tgtEl>
                </p:cond>
              </p:nextCondLst>
            </p:seq>
            <p:seq concurrent="1" nextAc="seek">
              <p:cTn id="27" restart="whenNotActive" fill="hold" evtFilter="cancelBubble" nodeType="interactiveSeq">
                <p:stCondLst>
                  <p:cond evt="onClick" delay="0">
                    <p:tgtEl>
                      <p:spTgt spid="20"/>
                    </p:tgtEl>
                  </p:cond>
                </p:stCondLst>
                <p:endSync evt="end" delay="0">
                  <p:rtn val="all"/>
                </p:endSync>
                <p:childTnLst>
                  <p:par>
                    <p:cTn id="28" fill="hold">
                      <p:stCondLst>
                        <p:cond delay="0"/>
                      </p:stCondLst>
                      <p:childTnLst>
                        <p:par>
                          <p:cTn id="29" fill="hold">
                            <p:stCondLst>
                              <p:cond delay="0"/>
                            </p:stCondLst>
                            <p:childTnLst>
                              <p:par>
                                <p:cTn id="30" presetID="1" presetClass="mediacall" presetSubtype="0" fill="hold" nodeType="clickEffect">
                                  <p:stCondLst>
                                    <p:cond delay="0"/>
                                  </p:stCondLst>
                                  <p:childTnLst>
                                    <p:cmd type="call" cmd="playFrom(0.0)">
                                      <p:cBhvr>
                                        <p:cTn id="31" dur="1" fill="hold"/>
                                        <p:tgtEl>
                                          <p:spTgt spid="20"/>
                                        </p:tgtEl>
                                      </p:cBhvr>
                                    </p:cmd>
                                  </p:childTnLst>
                                </p:cTn>
                              </p:par>
                            </p:childTnLst>
                          </p:cTn>
                        </p:par>
                      </p:childTnLst>
                    </p:cTn>
                  </p:par>
                </p:childTnLst>
              </p:cTn>
              <p:nextCondLst>
                <p:cond evt="onClick" delay="0">
                  <p:tgtEl>
                    <p:spTgt spid="20"/>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9613087" y="457200"/>
            <a:ext cx="1755648" cy="457200"/>
          </a:xfrm>
          <a:prstGeom prst="roundRect">
            <a:avLst>
              <a:gd name="adj" fmla="val 50000"/>
            </a:avLst>
          </a:prstGeom>
          <a:solidFill>
            <a:srgbClr val="F6EBCF"/>
          </a:solidFill>
          <a:ln/>
        </p:spPr>
      </p:sp>
      <p:sp>
        <p:nvSpPr>
          <p:cNvPr id="3" name="Text 1"/>
          <p:cNvSpPr/>
          <p:nvPr/>
        </p:nvSpPr>
        <p:spPr>
          <a:xfrm>
            <a:off x="9613087" y="457200"/>
            <a:ext cx="1755648"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B08A2E"/>
                </a:solidFill>
                <a:latin typeface="Cairo" pitchFamily="34" charset="0"/>
                <a:ea typeface="Cairo" pitchFamily="34" charset="-122"/>
                <a:cs typeface="Cairo" pitchFamily="34" charset="-120"/>
              </a:rPr>
              <a:t>المشكلة</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marL="0" indent="0" algn="r" rtl="1">
              <a:buNone/>
            </a:pPr>
            <a:r>
              <a:rPr lang="ar-SA" altLang="en-US" sz="3200" dirty="0">
                <a:solidFill>
                  <a:srgbClr val="101B45"/>
                </a:solidFill>
                <a:latin typeface="Cairo Black" pitchFamily="34" charset="0"/>
                <a:ea typeface="Cairo Black" pitchFamily="34" charset="-122"/>
                <a:cs typeface="Cairo Black" pitchFamily="34" charset="-120"/>
              </a:rPr>
              <a:t>التراث لنا جميعًا… لكن الوصول إليه ليس سهلًا للجميع</a:t>
            </a:r>
            <a:endParaRPr lang="ar-SA" sz="3200" dirty="0"/>
          </a:p>
        </p:txBody>
      </p:sp>
      <p:sp>
        <p:nvSpPr>
          <p:cNvPr id="5" name="anim-g1-7"/>
          <p:cNvSpPr/>
          <p:nvPr/>
        </p:nvSpPr>
        <p:spPr>
          <a:xfrm>
            <a:off x="8036357" y="2011680"/>
            <a:ext cx="3332378" cy="4023360"/>
          </a:xfrm>
          <a:prstGeom prst="roundRect">
            <a:avLst>
              <a:gd name="adj" fmla="val 4939"/>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6" name="anim-g1-8"/>
          <p:cNvSpPr/>
          <p:nvPr/>
        </p:nvSpPr>
        <p:spPr>
          <a:xfrm>
            <a:off x="10527487" y="2267712"/>
            <a:ext cx="566928" cy="566928"/>
          </a:xfrm>
          <a:prstGeom prst="roundRect">
            <a:avLst>
              <a:gd name="adj" fmla="val 32258"/>
            </a:avLst>
          </a:prstGeom>
          <a:solidFill>
            <a:srgbClr val="F7E6BC"/>
          </a:solidFill>
          <a:ln/>
        </p:spPr>
      </p:sp>
      <p:sp>
        <p:nvSpPr>
          <p:cNvPr id="7" name="anim-g1-9"/>
          <p:cNvSpPr/>
          <p:nvPr/>
        </p:nvSpPr>
        <p:spPr>
          <a:xfrm>
            <a:off x="10527487" y="226771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8" name="anim-g1-10"/>
          <p:cNvSpPr/>
          <p:nvPr/>
        </p:nvSpPr>
        <p:spPr>
          <a:xfrm>
            <a:off x="8310677" y="2944368"/>
            <a:ext cx="278373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الإعاقة الحركية</a:t>
            </a:r>
            <a:endParaRPr lang="ar-SA" sz="2200" dirty="0"/>
          </a:p>
        </p:txBody>
      </p:sp>
      <p:sp>
        <p:nvSpPr>
          <p:cNvPr id="9" name="anim-g1-11"/>
          <p:cNvSpPr/>
          <p:nvPr/>
        </p:nvSpPr>
        <p:spPr>
          <a:xfrm>
            <a:off x="8310677" y="3493008"/>
            <a:ext cx="2783738" cy="240487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صعوبة التنقل حول المجسمات الثابتة، والحاجة الدائمة لمرافق</a:t>
            </a:r>
            <a:endParaRPr lang="ar-SA" sz="1900" dirty="0"/>
          </a:p>
        </p:txBody>
      </p:sp>
      <p:sp>
        <p:nvSpPr>
          <p:cNvPr id="10" name="anim-g2-12"/>
          <p:cNvSpPr/>
          <p:nvPr/>
        </p:nvSpPr>
        <p:spPr>
          <a:xfrm>
            <a:off x="4429658" y="2011680"/>
            <a:ext cx="3332378" cy="4023360"/>
          </a:xfrm>
          <a:prstGeom prst="roundRect">
            <a:avLst>
              <a:gd name="adj" fmla="val 4939"/>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11" name="anim-g2-13"/>
          <p:cNvSpPr/>
          <p:nvPr/>
        </p:nvSpPr>
        <p:spPr>
          <a:xfrm>
            <a:off x="6920789" y="2267712"/>
            <a:ext cx="566928" cy="566928"/>
          </a:xfrm>
          <a:prstGeom prst="roundRect">
            <a:avLst>
              <a:gd name="adj" fmla="val 32258"/>
            </a:avLst>
          </a:prstGeom>
          <a:solidFill>
            <a:srgbClr val="F7E6BC"/>
          </a:solidFill>
          <a:ln/>
        </p:spPr>
      </p:sp>
      <p:sp>
        <p:nvSpPr>
          <p:cNvPr id="12" name="anim-g2-14"/>
          <p:cNvSpPr/>
          <p:nvPr/>
        </p:nvSpPr>
        <p:spPr>
          <a:xfrm>
            <a:off x="6920789" y="226771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3" name="anim-g2-15"/>
          <p:cNvSpPr/>
          <p:nvPr/>
        </p:nvSpPr>
        <p:spPr>
          <a:xfrm>
            <a:off x="4703978" y="2944368"/>
            <a:ext cx="278373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الإعاقة السمعية</a:t>
            </a:r>
            <a:endParaRPr lang="ar-SA" sz="2200" dirty="0"/>
          </a:p>
        </p:txBody>
      </p:sp>
      <p:sp>
        <p:nvSpPr>
          <p:cNvPr id="14" name="anim-g2-16"/>
          <p:cNvSpPr/>
          <p:nvPr/>
        </p:nvSpPr>
        <p:spPr>
          <a:xfrm>
            <a:off x="4703978" y="3493008"/>
            <a:ext cx="2783738" cy="240487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شرح المرشد والتسجيلات الصوتية لا تصل</a:t>
            </a:r>
            <a:endParaRPr lang="ar-SA" sz="1900" dirty="0"/>
          </a:p>
        </p:txBody>
      </p:sp>
      <p:sp>
        <p:nvSpPr>
          <p:cNvPr id="15" name="anim-g3-17"/>
          <p:cNvSpPr/>
          <p:nvPr/>
        </p:nvSpPr>
        <p:spPr>
          <a:xfrm>
            <a:off x="822960" y="2011680"/>
            <a:ext cx="3332378" cy="4023360"/>
          </a:xfrm>
          <a:prstGeom prst="roundRect">
            <a:avLst>
              <a:gd name="adj" fmla="val 4939"/>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16" name="anim-g3-18"/>
          <p:cNvSpPr/>
          <p:nvPr/>
        </p:nvSpPr>
        <p:spPr>
          <a:xfrm>
            <a:off x="3314090" y="2267712"/>
            <a:ext cx="566928" cy="566928"/>
          </a:xfrm>
          <a:prstGeom prst="roundRect">
            <a:avLst>
              <a:gd name="adj" fmla="val 32258"/>
            </a:avLst>
          </a:prstGeom>
          <a:solidFill>
            <a:srgbClr val="F7E6BC"/>
          </a:solidFill>
          <a:ln/>
        </p:spPr>
      </p:sp>
      <p:sp>
        <p:nvSpPr>
          <p:cNvPr id="17" name="anim-g3-19"/>
          <p:cNvSpPr/>
          <p:nvPr/>
        </p:nvSpPr>
        <p:spPr>
          <a:xfrm>
            <a:off x="3314090" y="226771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8" name="anim-g3-20"/>
          <p:cNvSpPr/>
          <p:nvPr/>
        </p:nvSpPr>
        <p:spPr>
          <a:xfrm>
            <a:off x="1097280" y="2944368"/>
            <a:ext cx="278373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الإعاقة البصرية</a:t>
            </a:r>
            <a:endParaRPr lang="ar-SA" sz="2200" dirty="0"/>
          </a:p>
        </p:txBody>
      </p:sp>
      <p:sp>
        <p:nvSpPr>
          <p:cNvPr id="19" name="anim-g3-21"/>
          <p:cNvSpPr/>
          <p:nvPr/>
        </p:nvSpPr>
        <p:spPr>
          <a:xfrm>
            <a:off x="1097280" y="3493008"/>
            <a:ext cx="2783738" cy="240487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التفاصيل المعروضة واللوحات الإرشادية لا تُرى</a:t>
            </a:r>
            <a:endParaRPr lang="ar-SA" sz="1900" dirty="0"/>
          </a:p>
        </p:txBody>
      </p:sp>
      <p:sp>
        <p:nvSpPr>
          <p:cNvPr id="20" name="Text 18"/>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5E6782"/>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5E6782"/>
                </a:solidFill>
                <a:latin typeface="Cairo" pitchFamily="34" charset="0"/>
                <a:ea typeface="Cairo" pitchFamily="34" charset="-122"/>
                <a:cs typeface="Cairo" pitchFamily="34" charset="-120"/>
              </a:rPr>
              <a:t> · لمسة تراث</a:t>
            </a:r>
            <a:endParaRPr lang="ar-SA" sz="1200" dirty="0"/>
          </a:p>
        </p:txBody>
      </p:sp>
      <p:sp>
        <p:nvSpPr>
          <p:cNvPr id="21" name="Text 19"/>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5E6782"/>
                </a:solidFill>
                <a:latin typeface="Cairo" pitchFamily="34" charset="0"/>
                <a:ea typeface="Cairo" pitchFamily="34" charset="-122"/>
                <a:cs typeface="Cairo" pitchFamily="34" charset="-120"/>
              </a:rPr>
              <a:t>🏰 لمسة تراث  ·  ٣</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632808" y="1188720"/>
            <a:ext cx="2926080" cy="457200"/>
          </a:xfrm>
          <a:prstGeom prst="roundRect">
            <a:avLst>
              <a:gd name="adj" fmla="val 50000"/>
            </a:avLst>
          </a:prstGeom>
          <a:solidFill>
            <a:srgbClr val="3A3A45">
              <a:alpha val="60000"/>
            </a:srgbClr>
          </a:solidFill>
          <a:ln w="12700">
            <a:solidFill>
              <a:srgbClr val="D9AE4B">
                <a:alpha val="60000"/>
              </a:srgbClr>
            </a:solidFill>
            <a:prstDash val="solid"/>
          </a:ln>
        </p:spPr>
      </p:sp>
      <p:sp>
        <p:nvSpPr>
          <p:cNvPr id="3" name="Text 1"/>
          <p:cNvSpPr/>
          <p:nvPr/>
        </p:nvSpPr>
        <p:spPr>
          <a:xfrm>
            <a:off x="4632808" y="1188720"/>
            <a:ext cx="2926080"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F0CC7A"/>
                </a:solidFill>
                <a:latin typeface="Cairo" pitchFamily="34" charset="0"/>
                <a:ea typeface="Cairo" pitchFamily="34" charset="-122"/>
                <a:cs typeface="Cairo" pitchFamily="34" charset="-120"/>
              </a:rPr>
              <a:t>الفكرة الجوهرية</a:t>
            </a:r>
            <a:endParaRPr lang="ar-SA" sz="1800" dirty="0"/>
          </a:p>
        </p:txBody>
      </p:sp>
      <p:sp>
        <p:nvSpPr>
          <p:cNvPr id="4" name="Text 2"/>
          <p:cNvSpPr/>
          <p:nvPr/>
        </p:nvSpPr>
        <p:spPr>
          <a:xfrm>
            <a:off x="914400" y="1920240"/>
            <a:ext cx="10362895" cy="2743200"/>
          </a:xfrm>
          <a:prstGeom prst="rect">
            <a:avLst/>
          </a:prstGeom>
          <a:noFill/>
          <a:ln/>
        </p:spPr>
        <p:txBody>
          <a:bodyPr wrap="square" lIns="0" tIns="0" rIns="0" bIns="0" rtlCol="0" anchor="ctr">
            <a:normAutofit/>
          </a:bodyPr>
          <a:lstStyle/>
          <a:p>
            <a:pPr marL="0" indent="0" algn="ctr">
              <a:lnSpc>
                <a:spcPct val="115000"/>
              </a:lnSpc>
              <a:buNone/>
            </a:pPr>
            <a:r>
              <a:rPr lang="ar-SA" altLang="en-US" sz="4400" dirty="0">
                <a:solidFill>
                  <a:srgbClr val="FFFFFF"/>
                </a:solidFill>
                <a:latin typeface="Cairo Black" pitchFamily="34" charset="0"/>
                <a:ea typeface="Cairo Black" pitchFamily="34" charset="-122"/>
                <a:cs typeface="Cairo Black" pitchFamily="34" charset="-120"/>
              </a:rPr>
              <a:t>واجهة تفاعل واحدة بسيطة وطبيعية: حركة العين…</a:t>
            </a:r>
            <a:endParaRPr lang="ar-SA" sz="4400" dirty="0"/>
          </a:p>
          <a:p>
            <a:pPr marL="0" indent="0" algn="ctr">
              <a:lnSpc>
                <a:spcPct val="115000"/>
              </a:lnSpc>
              <a:buNone/>
            </a:pPr>
            <a:r>
              <a:rPr lang="ar-SA" altLang="en-US" sz="4400" dirty="0">
                <a:solidFill>
                  <a:srgbClr val="F0CC7A"/>
                </a:solidFill>
                <a:latin typeface="Cairo Black" pitchFamily="34" charset="0"/>
                <a:ea typeface="Cairo Black" pitchFamily="34" charset="-122"/>
                <a:cs typeface="Cairo Black" pitchFamily="34" charset="-120"/>
              </a:rPr>
              <a:t> تخدم ثلاث فئات إعاقة في آن واحد</a:t>
            </a:r>
            <a:endParaRPr lang="ar-SA" sz="4400" dirty="0"/>
          </a:p>
        </p:txBody>
      </p:sp>
      <p:sp>
        <p:nvSpPr>
          <p:cNvPr id="5" name="Text 3"/>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C9CFE6"/>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C9CFE6"/>
                </a:solidFill>
                <a:latin typeface="Cairo" pitchFamily="34" charset="0"/>
                <a:ea typeface="Cairo" pitchFamily="34" charset="-122"/>
                <a:cs typeface="Cairo" pitchFamily="34" charset="-120"/>
              </a:rPr>
              <a:t> · لمسة تراث</a:t>
            </a:r>
            <a:endParaRPr lang="ar-SA" sz="1200" dirty="0"/>
          </a:p>
        </p:txBody>
      </p:sp>
      <p:sp>
        <p:nvSpPr>
          <p:cNvPr id="6" name="Text 4"/>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C9CFE6"/>
                </a:solidFill>
                <a:latin typeface="Cairo" pitchFamily="34" charset="0"/>
                <a:ea typeface="Cairo" pitchFamily="34" charset="-122"/>
                <a:cs typeface="Cairo" pitchFamily="34" charset="-120"/>
              </a:rPr>
              <a:t>🏰 لمسة تراث  ·  ٤</a:t>
            </a:r>
            <a:endParaRPr lang="ar-SA"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Image 0" descr="C:\Users\user\projects\younes-training\masmak-judges\.pptx-cache\s5.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Image 0" descr="C:\Users\user\projects\younes-training\masmak-judges\.pptx-cache\s6.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Image 0" descr="C:\Users\user\projects\younes-training\masmak-judges\.pptx-cache\s7-0.jpg"/>
          <p:cNvPicPr>
            <a:picLocks noChangeAspect="1"/>
          </p:cNvPicPr>
          <p:nvPr/>
        </p:nvPicPr>
        <p:blipFill>
          <a:blip r:embed="rId3"/>
          <a:stretch>
            <a:fillRect/>
          </a:stretch>
        </p:blipFill>
        <p:spPr>
          <a:xfrm>
            <a:off x="0" y="0"/>
            <a:ext cx="12191695" cy="6858000"/>
          </a:xfrm>
          <a:prstGeom prst="rect">
            <a:avLst/>
          </a:prstGeom>
        </p:spPr>
      </p:pic>
      <p:pic>
        <p:nvPicPr>
          <p:cNvPr id="3" name="anim-g1-22" descr="C:\Users\user\projects\younes-training\masmak-judges\.pptx-cache\s7-1.jpg"/>
          <p:cNvPicPr>
            <a:picLocks noChangeAspect="1"/>
          </p:cNvPicPr>
          <p:nvPr/>
        </p:nvPicPr>
        <p:blipFill>
          <a:blip r:embed="rId4"/>
          <a:stretch>
            <a:fillRect/>
          </a:stretch>
        </p:blipFill>
        <p:spPr>
          <a:xfrm>
            <a:off x="0" y="0"/>
            <a:ext cx="12191695" cy="6858000"/>
          </a:xfrm>
          <a:prstGeom prst="rect">
            <a:avLst/>
          </a:prstGeom>
        </p:spPr>
      </p:pic>
      <p:pic>
        <p:nvPicPr>
          <p:cNvPr id="4" name="anim-g2-23" descr="C:\Users\user\projects\younes-training\masmak-judges\.pptx-cache\s7-2.jpg"/>
          <p:cNvPicPr>
            <a:picLocks noChangeAspect="1"/>
          </p:cNvPicPr>
          <p:nvPr/>
        </p:nvPicPr>
        <p:blipFill>
          <a:blip r:embed="rId5"/>
          <a:stretch>
            <a:fillRect/>
          </a:stretch>
        </p:blipFill>
        <p:spPr>
          <a:xfrm>
            <a:off x="0" y="0"/>
            <a:ext cx="12191695" cy="6858000"/>
          </a:xfrm>
          <a:prstGeom prst="rect">
            <a:avLst/>
          </a:prstGeom>
        </p:spPr>
      </p:pic>
      <p:pic>
        <p:nvPicPr>
          <p:cNvPr id="5" name="anim-g3-24" descr="C:\Users\user\projects\younes-training\masmak-judges\.pptx-cache\s7-3.jpg"/>
          <p:cNvPicPr>
            <a:picLocks noChangeAspect="1"/>
          </p:cNvPicPr>
          <p:nvPr/>
        </p:nvPicPr>
        <p:blipFill>
          <a:blip r:embed="rId6"/>
          <a:stretch>
            <a:fillRect/>
          </a:stretch>
        </p:blipFill>
        <p:spPr>
          <a:xfrm>
            <a:off x="0" y="0"/>
            <a:ext cx="12191695" cy="6858000"/>
          </a:xfrm>
          <a:prstGeom prst="rect">
            <a:avLst/>
          </a:prstGeom>
        </p:spPr>
      </p:pic>
      <p:pic>
        <p:nvPicPr>
          <p:cNvPr id="6" name="anim-g4-25" descr="C:\Users\user\projects\younes-training\masmak-judges\.pptx-cache\s7-4.jpg"/>
          <p:cNvPicPr>
            <a:picLocks noChangeAspect="1"/>
          </p:cNvPicPr>
          <p:nvPr/>
        </p:nvPicPr>
        <p:blipFill>
          <a:blip r:embed="rId7"/>
          <a:stretch>
            <a:fillRect/>
          </a:stretch>
        </p:blipFill>
        <p:spPr>
          <a:xfrm>
            <a:off x="0" y="0"/>
            <a:ext cx="12191695" cy="6858000"/>
          </a:xfrm>
          <a:prstGeom prst="rect">
            <a:avLst/>
          </a:prstGeom>
        </p:spPr>
      </p:pic>
      <p:pic>
        <p:nvPicPr>
          <p:cNvPr id="7" name="anim-g5-26" descr="C:\Users\user\projects\younes-training\masmak-judges\.pptx-cache\s7-5.jpg"/>
          <p:cNvPicPr>
            <a:picLocks noChangeAspect="1"/>
          </p:cNvPicPr>
          <p:nvPr/>
        </p:nvPicPr>
        <p:blipFill>
          <a:blip r:embed="rId8"/>
          <a:stretch>
            <a:fillRect/>
          </a:stretch>
        </p:blipFill>
        <p:spPr>
          <a:xfrm>
            <a:off x="0" y="0"/>
            <a:ext cx="12191695" cy="6858000"/>
          </a:xfrm>
          <a:prstGeom prst="rect">
            <a:avLst/>
          </a:prstGeom>
        </p:spPr>
      </p:pic>
      <p:pic>
        <p:nvPicPr>
          <p:cNvPr id="8" name="anim-g6-27" descr="C:\Users\user\projects\younes-training\masmak-judges\.pptx-cache\s7-6.jpg"/>
          <p:cNvPicPr>
            <a:picLocks noChangeAspect="1"/>
          </p:cNvPicPr>
          <p:nvPr/>
        </p:nvPicPr>
        <p:blipFill>
          <a:blip r:embed="rId9"/>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Image 0" descr="C:\Users\user\projects\younes-training\masmak-judges\.pptx-cache\s8.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Image 0" descr="C:\Users\user\projects\younes-training\masmak-judges\.pptx-cache\s9-0.jpg"/>
          <p:cNvPicPr>
            <a:picLocks noChangeAspect="1"/>
          </p:cNvPicPr>
          <p:nvPr/>
        </p:nvPicPr>
        <p:blipFill>
          <a:blip r:embed="rId3"/>
          <a:stretch>
            <a:fillRect/>
          </a:stretch>
        </p:blipFill>
        <p:spPr>
          <a:xfrm>
            <a:off x="0" y="0"/>
            <a:ext cx="12191695" cy="6858000"/>
          </a:xfrm>
          <a:prstGeom prst="rect">
            <a:avLst/>
          </a:prstGeom>
        </p:spPr>
      </p:pic>
      <p:pic>
        <p:nvPicPr>
          <p:cNvPr id="3" name="anim-g1-28" descr="C:\Users\user\projects\younes-training\masmak-judges\.pptx-cache\s9-1.jpg"/>
          <p:cNvPicPr>
            <a:picLocks noChangeAspect="1"/>
          </p:cNvPicPr>
          <p:nvPr/>
        </p:nvPicPr>
        <p:blipFill>
          <a:blip r:embed="rId4"/>
          <a:stretch>
            <a:fillRect/>
          </a:stretch>
        </p:blipFill>
        <p:spPr>
          <a:xfrm>
            <a:off x="0" y="0"/>
            <a:ext cx="12191695" cy="6858000"/>
          </a:xfrm>
          <a:prstGeom prst="rect">
            <a:avLst/>
          </a:prstGeom>
        </p:spPr>
      </p:pic>
      <p:pic>
        <p:nvPicPr>
          <p:cNvPr id="4" name="anim-g2-29" descr="C:\Users\user\projects\younes-training\masmak-judges\.pptx-cache\s9-2.jpg"/>
          <p:cNvPicPr>
            <a:picLocks noChangeAspect="1"/>
          </p:cNvPicPr>
          <p:nvPr/>
        </p:nvPicPr>
        <p:blipFill>
          <a:blip r:embed="rId5"/>
          <a:stretch>
            <a:fillRect/>
          </a:stretch>
        </p:blipFill>
        <p:spPr>
          <a:xfrm>
            <a:off x="0" y="0"/>
            <a:ext cx="12191695" cy="6858000"/>
          </a:xfrm>
          <a:prstGeom prst="rect">
            <a:avLst/>
          </a:prstGeom>
        </p:spPr>
      </p:pic>
      <p:pic>
        <p:nvPicPr>
          <p:cNvPr id="5" name="anim-g3-30" descr="C:\Users\user\projects\younes-training\masmak-judges\.pptx-cache\s9-3.jpg"/>
          <p:cNvPicPr>
            <a:picLocks noChangeAspect="1"/>
          </p:cNvPicPr>
          <p:nvPr/>
        </p:nvPicPr>
        <p:blipFill>
          <a:blip r:embed="rId6"/>
          <a:stretch>
            <a:fillRect/>
          </a:stretch>
        </p:blipFill>
        <p:spPr>
          <a:xfrm>
            <a:off x="0" y="0"/>
            <a:ext cx="12191695" cy="6858000"/>
          </a:xfrm>
          <a:prstGeom prst="rect">
            <a:avLst/>
          </a:prstGeom>
        </p:spPr>
      </p:pic>
      <p:pic>
        <p:nvPicPr>
          <p:cNvPr id="6" name="anim-g4-31" descr="C:\Users\user\projects\younes-training\masmak-judges\.pptx-cache\s9-4.jpg"/>
          <p:cNvPicPr>
            <a:picLocks noChangeAspect="1"/>
          </p:cNvPicPr>
          <p:nvPr/>
        </p:nvPicPr>
        <p:blipFill>
          <a:blip r:embed="rId7"/>
          <a:stretch>
            <a:fillRect/>
          </a:stretch>
        </p:blipFill>
        <p:spPr>
          <a:xfrm>
            <a:off x="0" y="0"/>
            <a:ext cx="12191695" cy="6858000"/>
          </a:xfrm>
          <a:prstGeom prst="rect">
            <a:avLst/>
          </a:prstGeom>
        </p:spPr>
      </p:pic>
      <p:pic>
        <p:nvPicPr>
          <p:cNvPr id="7" name="anim-g5-32" descr="C:\Users\user\projects\younes-training\masmak-judges\.pptx-cache\s9-5.jpg"/>
          <p:cNvPicPr>
            <a:picLocks noChangeAspect="1"/>
          </p:cNvPicPr>
          <p:nvPr/>
        </p:nvPicPr>
        <p:blipFill>
          <a:blip r:embed="rId8"/>
          <a:stretch>
            <a:fillRect/>
          </a:stretch>
        </p:blipFill>
        <p:spPr>
          <a:xfrm>
            <a:off x="0" y="0"/>
            <a:ext cx="12191695" cy="6858000"/>
          </a:xfrm>
          <a:prstGeom prst="rect">
            <a:avLst/>
          </a:prstGeom>
        </p:spPr>
      </p:pic>
      <p:pic>
        <p:nvPicPr>
          <p:cNvPr id="8" name="anim-g6-33" descr="C:\Users\user\projects\younes-training\masmak-judges\.pptx-cache\s9-6.jpg"/>
          <p:cNvPicPr>
            <a:picLocks noChangeAspect="1"/>
          </p:cNvPicPr>
          <p:nvPr/>
        </p:nvPicPr>
        <p:blipFill>
          <a:blip r:embed="rId9"/>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Image 0" descr="C:\Users\user\projects\younes-training\masmak-judges\.pptx-cache\s10.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Image 0" descr="C:\Users\user\projects\younes-training\masmak-judges\.pptx-cache\s11-0.jpg"/>
          <p:cNvPicPr>
            <a:picLocks noChangeAspect="1"/>
          </p:cNvPicPr>
          <p:nvPr/>
        </p:nvPicPr>
        <p:blipFill>
          <a:blip r:embed="rId3"/>
          <a:stretch>
            <a:fillRect/>
          </a:stretch>
        </p:blipFill>
        <p:spPr>
          <a:xfrm>
            <a:off x="0" y="0"/>
            <a:ext cx="12191695" cy="6858000"/>
          </a:xfrm>
          <a:prstGeom prst="rect">
            <a:avLst/>
          </a:prstGeom>
        </p:spPr>
      </p:pic>
      <p:pic>
        <p:nvPicPr>
          <p:cNvPr id="3" name="anim-g1-34" descr="C:\Users\user\projects\younes-training\masmak-judges\.pptx-cache\s11-1.jpg"/>
          <p:cNvPicPr>
            <a:picLocks noChangeAspect="1"/>
          </p:cNvPicPr>
          <p:nvPr/>
        </p:nvPicPr>
        <p:blipFill>
          <a:blip r:embed="rId4"/>
          <a:stretch>
            <a:fillRect/>
          </a:stretch>
        </p:blipFill>
        <p:spPr>
          <a:xfrm>
            <a:off x="0" y="0"/>
            <a:ext cx="12191695" cy="6858000"/>
          </a:xfrm>
          <a:prstGeom prst="rect">
            <a:avLst/>
          </a:prstGeom>
        </p:spPr>
      </p:pic>
      <p:pic>
        <p:nvPicPr>
          <p:cNvPr id="4" name="anim-g2-35" descr="C:\Users\user\projects\younes-training\masmak-judges\.pptx-cache\s11-2.jpg"/>
          <p:cNvPicPr>
            <a:picLocks noChangeAspect="1"/>
          </p:cNvPicPr>
          <p:nvPr/>
        </p:nvPicPr>
        <p:blipFill>
          <a:blip r:embed="rId5"/>
          <a:stretch>
            <a:fillRect/>
          </a:stretch>
        </p:blipFill>
        <p:spPr>
          <a:xfrm>
            <a:off x="0" y="0"/>
            <a:ext cx="12191695" cy="6858000"/>
          </a:xfrm>
          <a:prstGeom prst="rect">
            <a:avLst/>
          </a:prstGeom>
        </p:spPr>
      </p:pic>
      <p:pic>
        <p:nvPicPr>
          <p:cNvPr id="5" name="anim-g3-36" descr="C:\Users\user\projects\younes-training\masmak-judges\.pptx-cache\s11-3.jpg"/>
          <p:cNvPicPr>
            <a:picLocks noChangeAspect="1"/>
          </p:cNvPicPr>
          <p:nvPr/>
        </p:nvPicPr>
        <p:blipFill>
          <a:blip r:embed="rId6"/>
          <a:stretch>
            <a:fillRect/>
          </a:stretch>
        </p:blipFill>
        <p:spPr>
          <a:xfrm>
            <a:off x="0" y="0"/>
            <a:ext cx="12191695" cy="6858000"/>
          </a:xfrm>
          <a:prstGeom prst="rect">
            <a:avLst/>
          </a:prstGeom>
        </p:spPr>
      </p:pic>
      <p:pic>
        <p:nvPicPr>
          <p:cNvPr id="6" name="anim-g4-37" descr="C:\Users\user\projects\younes-training\masmak-judges\.pptx-cache\s11-4.jpg"/>
          <p:cNvPicPr>
            <a:picLocks noChangeAspect="1"/>
          </p:cNvPicPr>
          <p:nvPr/>
        </p:nvPicPr>
        <p:blipFill>
          <a:blip r:embed="rId7"/>
          <a:stretch>
            <a:fillRect/>
          </a:stretch>
        </p:blipFill>
        <p:spPr>
          <a:xfrm>
            <a:off x="0" y="0"/>
            <a:ext cx="12191695" cy="6858000"/>
          </a:xfrm>
          <a:prstGeom prst="rect">
            <a:avLst/>
          </a:prstGeom>
        </p:spPr>
      </p:pic>
      <p:pic>
        <p:nvPicPr>
          <p:cNvPr id="7" name="anim-g5-38" descr="C:\Users\user\projects\younes-training\masmak-judges\.pptx-cache\s11-5.jpg"/>
          <p:cNvPicPr>
            <a:picLocks noChangeAspect="1"/>
          </p:cNvPicPr>
          <p:nvPr/>
        </p:nvPicPr>
        <p:blipFill>
          <a:blip r:embed="rId8"/>
          <a:stretch>
            <a:fillRect/>
          </a:stretch>
        </p:blipFill>
        <p:spPr>
          <a:xfrm>
            <a:off x="0" y="0"/>
            <a:ext cx="12191695" cy="6858000"/>
          </a:xfrm>
          <a:prstGeom prst="rect">
            <a:avLst/>
          </a:prstGeom>
        </p:spPr>
      </p:pic>
      <p:pic>
        <p:nvPicPr>
          <p:cNvPr id="8" name="anim-g6-39" descr="C:\Users\user\projects\younes-training\masmak-judges\.pptx-cache\s11-6.jpg"/>
          <p:cNvPicPr>
            <a:picLocks noChangeAspect="1"/>
          </p:cNvPicPr>
          <p:nvPr/>
        </p:nvPicPr>
        <p:blipFill>
          <a:blip r:embed="rId9"/>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Image 0" descr="C:\Users\user\projects\younes-training\masmak-judges\.pptx-cache\s12.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Image 0" descr="C:\Users\user\projects\younes-training\masmak-judges\.pptx-cache\s13-0.jpg"/>
          <p:cNvPicPr>
            <a:picLocks noChangeAspect="1"/>
          </p:cNvPicPr>
          <p:nvPr/>
        </p:nvPicPr>
        <p:blipFill>
          <a:blip r:embed="rId3"/>
          <a:stretch>
            <a:fillRect/>
          </a:stretch>
        </p:blipFill>
        <p:spPr>
          <a:xfrm>
            <a:off x="0" y="0"/>
            <a:ext cx="12191695" cy="6858000"/>
          </a:xfrm>
          <a:prstGeom prst="rect">
            <a:avLst/>
          </a:prstGeom>
        </p:spPr>
      </p:pic>
      <p:pic>
        <p:nvPicPr>
          <p:cNvPr id="3" name="anim-g1-40" descr="C:\Users\user\projects\younes-training\masmak-judges\.pptx-cache\s13-1.jpg"/>
          <p:cNvPicPr>
            <a:picLocks noChangeAspect="1"/>
          </p:cNvPicPr>
          <p:nvPr/>
        </p:nvPicPr>
        <p:blipFill>
          <a:blip r:embed="rId4"/>
          <a:stretch>
            <a:fillRect/>
          </a:stretch>
        </p:blipFill>
        <p:spPr>
          <a:xfrm>
            <a:off x="0" y="0"/>
            <a:ext cx="12191695" cy="6858000"/>
          </a:xfrm>
          <a:prstGeom prst="rect">
            <a:avLst/>
          </a:prstGeom>
        </p:spPr>
      </p:pic>
      <p:pic>
        <p:nvPicPr>
          <p:cNvPr id="4" name="anim-g2-41" descr="C:\Users\user\projects\younes-training\masmak-judges\.pptx-cache\s13-2.jpg"/>
          <p:cNvPicPr>
            <a:picLocks noChangeAspect="1"/>
          </p:cNvPicPr>
          <p:nvPr/>
        </p:nvPicPr>
        <p:blipFill>
          <a:blip r:embed="rId5"/>
          <a:stretch>
            <a:fillRect/>
          </a:stretch>
        </p:blipFill>
        <p:spPr>
          <a:xfrm>
            <a:off x="0" y="0"/>
            <a:ext cx="12191695" cy="6858000"/>
          </a:xfrm>
          <a:prstGeom prst="rect">
            <a:avLst/>
          </a:prstGeom>
        </p:spPr>
      </p:pic>
      <p:pic>
        <p:nvPicPr>
          <p:cNvPr id="5" name="anim-g3-42" descr="C:\Users\user\projects\younes-training\masmak-judges\.pptx-cache\s13-3.jpg"/>
          <p:cNvPicPr>
            <a:picLocks noChangeAspect="1"/>
          </p:cNvPicPr>
          <p:nvPr/>
        </p:nvPicPr>
        <p:blipFill>
          <a:blip r:embed="rId6"/>
          <a:stretch>
            <a:fillRect/>
          </a:stretch>
        </p:blipFill>
        <p:spPr>
          <a:xfrm>
            <a:off x="0" y="0"/>
            <a:ext cx="12191695" cy="6858000"/>
          </a:xfrm>
          <a:prstGeom prst="rect">
            <a:avLst/>
          </a:prstGeom>
        </p:spPr>
      </p:pic>
      <p:pic>
        <p:nvPicPr>
          <p:cNvPr id="6" name="anim-g4-43" descr="C:\Users\user\projects\younes-training\masmak-judges\.pptx-cache\s13-4.jpg"/>
          <p:cNvPicPr>
            <a:picLocks noChangeAspect="1"/>
          </p:cNvPicPr>
          <p:nvPr/>
        </p:nvPicPr>
        <p:blipFill>
          <a:blip r:embed="rId7"/>
          <a:stretch>
            <a:fillRect/>
          </a:stretch>
        </p:blipFill>
        <p:spPr>
          <a:xfrm>
            <a:off x="0" y="0"/>
            <a:ext cx="12191695" cy="6858000"/>
          </a:xfrm>
          <a:prstGeom prst="rect">
            <a:avLst/>
          </a:prstGeom>
        </p:spPr>
      </p:pic>
      <p:pic>
        <p:nvPicPr>
          <p:cNvPr id="7" name="anim-g5-44" descr="C:\Users\user\projects\younes-training\masmak-judges\.pptx-cache\s13-5.jpg"/>
          <p:cNvPicPr>
            <a:picLocks noChangeAspect="1"/>
          </p:cNvPicPr>
          <p:nvPr/>
        </p:nvPicPr>
        <p:blipFill>
          <a:blip r:embed="rId8"/>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Image 0" descr="C:\Users\user\projects\younes-training\masmak-judges\.pptx-cache\s14.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Image 0" descr="C:\Users\user\projects\younes-training\masmak-judges\.pptx-cache\s15-0.jpg"/>
          <p:cNvPicPr>
            <a:picLocks noChangeAspect="1"/>
          </p:cNvPicPr>
          <p:nvPr/>
        </p:nvPicPr>
        <p:blipFill>
          <a:blip r:embed="rId3"/>
          <a:stretch>
            <a:fillRect/>
          </a:stretch>
        </p:blipFill>
        <p:spPr>
          <a:xfrm>
            <a:off x="0" y="0"/>
            <a:ext cx="12191695" cy="6858000"/>
          </a:xfrm>
          <a:prstGeom prst="rect">
            <a:avLst/>
          </a:prstGeom>
        </p:spPr>
      </p:pic>
      <p:pic>
        <p:nvPicPr>
          <p:cNvPr id="3" name="anim-g1-45" descr="C:\Users\user\projects\younes-training\masmak-judges\.pptx-cache\s15-1.jpg"/>
          <p:cNvPicPr>
            <a:picLocks noChangeAspect="1"/>
          </p:cNvPicPr>
          <p:nvPr/>
        </p:nvPicPr>
        <p:blipFill>
          <a:blip r:embed="rId4"/>
          <a:stretch>
            <a:fillRect/>
          </a:stretch>
        </p:blipFill>
        <p:spPr>
          <a:xfrm>
            <a:off x="0" y="0"/>
            <a:ext cx="12191695" cy="6858000"/>
          </a:xfrm>
          <a:prstGeom prst="rect">
            <a:avLst/>
          </a:prstGeom>
        </p:spPr>
      </p:pic>
      <p:pic>
        <p:nvPicPr>
          <p:cNvPr id="4" name="anim-g2-46" descr="C:\Users\user\projects\younes-training\masmak-judges\.pptx-cache\s15-2.jpg"/>
          <p:cNvPicPr>
            <a:picLocks noChangeAspect="1"/>
          </p:cNvPicPr>
          <p:nvPr/>
        </p:nvPicPr>
        <p:blipFill>
          <a:blip r:embed="rId5"/>
          <a:stretch>
            <a:fillRect/>
          </a:stretch>
        </p:blipFill>
        <p:spPr>
          <a:xfrm>
            <a:off x="0" y="0"/>
            <a:ext cx="12191695" cy="6858000"/>
          </a:xfrm>
          <a:prstGeom prst="rect">
            <a:avLst/>
          </a:prstGeom>
        </p:spPr>
      </p:pic>
      <p:pic>
        <p:nvPicPr>
          <p:cNvPr id="5" name="anim-g3-47" descr="C:\Users\user\projects\younes-training\masmak-judges\.pptx-cache\s15-3.jpg"/>
          <p:cNvPicPr>
            <a:picLocks noChangeAspect="1"/>
          </p:cNvPicPr>
          <p:nvPr/>
        </p:nvPicPr>
        <p:blipFill>
          <a:blip r:embed="rId6"/>
          <a:stretch>
            <a:fillRect/>
          </a:stretch>
        </p:blipFill>
        <p:spPr>
          <a:xfrm>
            <a:off x="0" y="0"/>
            <a:ext cx="12191695" cy="6858000"/>
          </a:xfrm>
          <a:prstGeom prst="rect">
            <a:avLst/>
          </a:prstGeom>
        </p:spPr>
      </p:pic>
      <p:pic>
        <p:nvPicPr>
          <p:cNvPr id="6" name="anim-g4-48" descr="C:\Users\user\projects\younes-training\masmak-judges\.pptx-cache\s15-4.jpg"/>
          <p:cNvPicPr>
            <a:picLocks noChangeAspect="1"/>
          </p:cNvPicPr>
          <p:nvPr/>
        </p:nvPicPr>
        <p:blipFill>
          <a:blip r:embed="rId7"/>
          <a:stretch>
            <a:fillRect/>
          </a:stretch>
        </p:blipFill>
        <p:spPr>
          <a:xfrm>
            <a:off x="0" y="0"/>
            <a:ext cx="12191695" cy="6858000"/>
          </a:xfrm>
          <a:prstGeom prst="rect">
            <a:avLst/>
          </a:prstGeom>
        </p:spPr>
      </p:pic>
      <p:pic>
        <p:nvPicPr>
          <p:cNvPr id="7" name="anim-g5-49" descr="C:\Users\user\projects\younes-training\masmak-judges\.pptx-cache\s15-5.jpg"/>
          <p:cNvPicPr>
            <a:picLocks noChangeAspect="1"/>
          </p:cNvPicPr>
          <p:nvPr/>
        </p:nvPicPr>
        <p:blipFill>
          <a:blip r:embed="rId8"/>
          <a:stretch>
            <a:fillRect/>
          </a:stretch>
        </p:blipFill>
        <p:spPr>
          <a:xfrm>
            <a:off x="0" y="0"/>
            <a:ext cx="12191695" cy="6858000"/>
          </a:xfrm>
          <a:prstGeom prst="rect">
            <a:avLst/>
          </a:prstGeom>
        </p:spPr>
      </p:pic>
      <p:pic>
        <p:nvPicPr>
          <p:cNvPr id="8" name="anim-g6-50" descr="C:\Users\user\projects\younes-training\masmak-judges\.pptx-cache\s15-6.jpg"/>
          <p:cNvPicPr>
            <a:picLocks noChangeAspect="1"/>
          </p:cNvPicPr>
          <p:nvPr/>
        </p:nvPicPr>
        <p:blipFill>
          <a:blip r:embed="rId9"/>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Image 0" descr="C:\Users\user\projects\younes-training\masmak-judges\.pptx-cache\s16.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7711135" y="457200"/>
            <a:ext cx="3657600" cy="457200"/>
          </a:xfrm>
          <a:prstGeom prst="roundRect">
            <a:avLst>
              <a:gd name="adj" fmla="val 50000"/>
            </a:avLst>
          </a:prstGeom>
          <a:solidFill>
            <a:srgbClr val="F6EBCF"/>
          </a:solidFill>
          <a:ln/>
        </p:spPr>
      </p:sp>
      <p:sp>
        <p:nvSpPr>
          <p:cNvPr id="3" name="Text 1"/>
          <p:cNvSpPr/>
          <p:nvPr/>
        </p:nvSpPr>
        <p:spPr>
          <a:xfrm>
            <a:off x="7711135" y="457200"/>
            <a:ext cx="3657600"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B08A2E"/>
                </a:solidFill>
                <a:latin typeface="Cairo" pitchFamily="34" charset="0"/>
                <a:ea typeface="Cairo" pitchFamily="34" charset="-122"/>
                <a:cs typeface="Cairo" pitchFamily="34" charset="-120"/>
              </a:rPr>
              <a:t>🧠 روبوت يتخذ قرارًا</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marL="0" indent="0" algn="r" rtl="1">
              <a:buNone/>
            </a:pPr>
            <a:r>
              <a:rPr lang="ar-SA" altLang="en-US" sz="3200" dirty="0">
                <a:solidFill>
                  <a:srgbClr val="101B45"/>
                </a:solidFill>
                <a:latin typeface="Cairo Black" pitchFamily="34" charset="0"/>
                <a:ea typeface="Cairo Black" pitchFamily="34" charset="-122"/>
                <a:cs typeface="Cairo Black" pitchFamily="34" charset="-120"/>
              </a:rPr>
              <a:t>قياس الاهتمام: من أداة… إلى نظام يقرر</a:t>
            </a:r>
            <a:endParaRPr lang="ar-SA" sz="3200" dirty="0"/>
          </a:p>
        </p:txBody>
      </p:sp>
      <p:sp>
        <p:nvSpPr>
          <p:cNvPr id="5" name="anim-g1-51"/>
          <p:cNvSpPr/>
          <p:nvPr/>
        </p:nvSpPr>
        <p:spPr>
          <a:xfrm>
            <a:off x="6233008" y="2011680"/>
            <a:ext cx="5135728" cy="1897380"/>
          </a:xfrm>
          <a:prstGeom prst="roundRect">
            <a:avLst>
              <a:gd name="adj" fmla="val 8675"/>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6" name="anim-g1-52"/>
          <p:cNvSpPr/>
          <p:nvPr/>
        </p:nvSpPr>
        <p:spPr>
          <a:xfrm>
            <a:off x="10527487" y="2267712"/>
            <a:ext cx="566928" cy="566928"/>
          </a:xfrm>
          <a:prstGeom prst="roundRect">
            <a:avLst>
              <a:gd name="adj" fmla="val 32258"/>
            </a:avLst>
          </a:prstGeom>
          <a:solidFill>
            <a:srgbClr val="F7E6BC"/>
          </a:solidFill>
          <a:ln/>
        </p:spPr>
      </p:sp>
      <p:sp>
        <p:nvSpPr>
          <p:cNvPr id="7" name="anim-g1-53"/>
          <p:cNvSpPr/>
          <p:nvPr/>
        </p:nvSpPr>
        <p:spPr>
          <a:xfrm>
            <a:off x="10527487" y="226771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8" name="anim-g1-54"/>
          <p:cNvSpPr/>
          <p:nvPr/>
        </p:nvSpPr>
        <p:spPr>
          <a:xfrm>
            <a:off x="6507328" y="2944368"/>
            <a:ext cx="458708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البيانات</a:t>
            </a:r>
            <a:endParaRPr lang="ar-SA" sz="2200" dirty="0"/>
          </a:p>
        </p:txBody>
      </p:sp>
      <p:sp>
        <p:nvSpPr>
          <p:cNvPr id="9" name="anim-g1-55"/>
          <p:cNvSpPr/>
          <p:nvPr/>
        </p:nvSpPr>
        <p:spPr>
          <a:xfrm>
            <a:off x="6507328" y="3493008"/>
            <a:ext cx="4587088" cy="27889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كم ثانية ثبّت الزائر نظره على كل جهة؟ وهل بقي حتى بعد انتهاء الفيديو؟</a:t>
            </a:r>
            <a:endParaRPr lang="ar-SA" sz="1900" dirty="0"/>
          </a:p>
        </p:txBody>
      </p:sp>
      <p:sp>
        <p:nvSpPr>
          <p:cNvPr id="10" name="anim-g2-56"/>
          <p:cNvSpPr/>
          <p:nvPr/>
        </p:nvSpPr>
        <p:spPr>
          <a:xfrm>
            <a:off x="822960" y="2011680"/>
            <a:ext cx="5135728" cy="1897380"/>
          </a:xfrm>
          <a:prstGeom prst="roundRect">
            <a:avLst>
              <a:gd name="adj" fmla="val 8675"/>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11" name="anim-g2-57"/>
          <p:cNvSpPr/>
          <p:nvPr/>
        </p:nvSpPr>
        <p:spPr>
          <a:xfrm>
            <a:off x="5117440" y="2267712"/>
            <a:ext cx="566928" cy="566928"/>
          </a:xfrm>
          <a:prstGeom prst="roundRect">
            <a:avLst>
              <a:gd name="adj" fmla="val 32258"/>
            </a:avLst>
          </a:prstGeom>
          <a:solidFill>
            <a:srgbClr val="F7E6BC"/>
          </a:solidFill>
          <a:ln/>
        </p:spPr>
      </p:sp>
      <p:sp>
        <p:nvSpPr>
          <p:cNvPr id="12" name="anim-g2-58"/>
          <p:cNvSpPr/>
          <p:nvPr/>
        </p:nvSpPr>
        <p:spPr>
          <a:xfrm>
            <a:off x="5117440" y="226771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3" name="anim-g2-59"/>
          <p:cNvSpPr/>
          <p:nvPr/>
        </p:nvSpPr>
        <p:spPr>
          <a:xfrm>
            <a:off x="1097280" y="2944368"/>
            <a:ext cx="458708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القرار</a:t>
            </a:r>
            <a:endParaRPr lang="ar-SA" sz="2200" dirty="0"/>
          </a:p>
        </p:txBody>
      </p:sp>
      <p:sp>
        <p:nvSpPr>
          <p:cNvPr id="14" name="anim-g2-60"/>
          <p:cNvSpPr/>
          <p:nvPr/>
        </p:nvSpPr>
        <p:spPr>
          <a:xfrm>
            <a:off x="1097280" y="3493008"/>
            <a:ext cx="4587088" cy="27889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اهتمام طويل وعميق؟ النظام يقرر وحده مكافأته بنمط إضاءة احتفالي</a:t>
            </a:r>
            <a:endParaRPr lang="ar-SA" sz="1900" dirty="0"/>
          </a:p>
        </p:txBody>
      </p:sp>
      <p:sp>
        <p:nvSpPr>
          <p:cNvPr id="15" name="anim-g3-61"/>
          <p:cNvSpPr/>
          <p:nvPr/>
        </p:nvSpPr>
        <p:spPr>
          <a:xfrm>
            <a:off x="6233008" y="4137660"/>
            <a:ext cx="5135728" cy="1897380"/>
          </a:xfrm>
          <a:prstGeom prst="roundRect">
            <a:avLst>
              <a:gd name="adj" fmla="val 8675"/>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16" name="anim-g3-62"/>
          <p:cNvSpPr/>
          <p:nvPr/>
        </p:nvSpPr>
        <p:spPr>
          <a:xfrm>
            <a:off x="10527487" y="4393692"/>
            <a:ext cx="566928" cy="566928"/>
          </a:xfrm>
          <a:prstGeom prst="roundRect">
            <a:avLst>
              <a:gd name="adj" fmla="val 32258"/>
            </a:avLst>
          </a:prstGeom>
          <a:solidFill>
            <a:srgbClr val="F7E6BC"/>
          </a:solidFill>
          <a:ln/>
        </p:spPr>
      </p:sp>
      <p:sp>
        <p:nvSpPr>
          <p:cNvPr id="17" name="anim-g3-63"/>
          <p:cNvSpPr/>
          <p:nvPr/>
        </p:nvSpPr>
        <p:spPr>
          <a:xfrm>
            <a:off x="10527487" y="439369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8" name="anim-g3-64"/>
          <p:cNvSpPr/>
          <p:nvPr/>
        </p:nvSpPr>
        <p:spPr>
          <a:xfrm>
            <a:off x="6507328" y="5070348"/>
            <a:ext cx="458708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ملخص الجولة</a:t>
            </a:r>
            <a:endParaRPr lang="ar-SA" sz="2200" dirty="0"/>
          </a:p>
        </p:txBody>
      </p:sp>
      <p:sp>
        <p:nvSpPr>
          <p:cNvPr id="19" name="anim-g3-65"/>
          <p:cNvSpPr/>
          <p:nvPr/>
        </p:nvSpPr>
        <p:spPr>
          <a:xfrm>
            <a:off x="6507328" y="5618988"/>
            <a:ext cx="4587088" cy="27889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في الختام: «أكثر ما شدّك كان…» بدل أن تنتهي التجربة فجأة</a:t>
            </a:r>
            <a:endParaRPr lang="ar-SA" sz="1900" dirty="0"/>
          </a:p>
        </p:txBody>
      </p:sp>
      <p:sp>
        <p:nvSpPr>
          <p:cNvPr id="20" name="anim-g4-66"/>
          <p:cNvSpPr/>
          <p:nvPr/>
        </p:nvSpPr>
        <p:spPr>
          <a:xfrm>
            <a:off x="822960" y="4137660"/>
            <a:ext cx="5135728" cy="1897380"/>
          </a:xfrm>
          <a:prstGeom prst="roundRect">
            <a:avLst>
              <a:gd name="adj" fmla="val 8675"/>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21" name="anim-g4-67"/>
          <p:cNvSpPr/>
          <p:nvPr/>
        </p:nvSpPr>
        <p:spPr>
          <a:xfrm>
            <a:off x="5117440" y="4393692"/>
            <a:ext cx="566928" cy="566928"/>
          </a:xfrm>
          <a:prstGeom prst="roundRect">
            <a:avLst>
              <a:gd name="adj" fmla="val 32258"/>
            </a:avLst>
          </a:prstGeom>
          <a:solidFill>
            <a:srgbClr val="F7E6BC"/>
          </a:solidFill>
          <a:ln/>
        </p:spPr>
      </p:sp>
      <p:sp>
        <p:nvSpPr>
          <p:cNvPr id="22" name="anim-g4-68"/>
          <p:cNvSpPr/>
          <p:nvPr/>
        </p:nvSpPr>
        <p:spPr>
          <a:xfrm>
            <a:off x="5117440" y="439369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23" name="anim-g4-69"/>
          <p:cNvSpPr/>
          <p:nvPr/>
        </p:nvSpPr>
        <p:spPr>
          <a:xfrm>
            <a:off x="1097280" y="5070348"/>
            <a:ext cx="458708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لماذا يهم؟</a:t>
            </a:r>
            <a:endParaRPr lang="ar-SA" sz="2200" dirty="0"/>
          </a:p>
        </p:txBody>
      </p:sp>
      <p:sp>
        <p:nvSpPr>
          <p:cNvPr id="24" name="anim-g4-70"/>
          <p:cNvSpPr/>
          <p:nvPr/>
        </p:nvSpPr>
        <p:spPr>
          <a:xfrm>
            <a:off x="1097280" y="5618988"/>
            <a:ext cx="4587088" cy="27889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قرار مستقل مبني على بيانات لحظية: شرط الاستقلالية في مسابقات الروبوت</a:t>
            </a:r>
            <a:endParaRPr lang="ar-SA" sz="1900" dirty="0"/>
          </a:p>
        </p:txBody>
      </p:sp>
      <p:sp>
        <p:nvSpPr>
          <p:cNvPr id="25" name="Text 23"/>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5E6782"/>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5E6782"/>
                </a:solidFill>
                <a:latin typeface="Cairo" pitchFamily="34" charset="0"/>
                <a:ea typeface="Cairo" pitchFamily="34" charset="-122"/>
                <a:cs typeface="Cairo" pitchFamily="34" charset="-120"/>
              </a:rPr>
              <a:t> · لمسة تراث</a:t>
            </a:r>
            <a:endParaRPr lang="ar-SA" sz="1200" dirty="0"/>
          </a:p>
        </p:txBody>
      </p:sp>
      <p:sp>
        <p:nvSpPr>
          <p:cNvPr id="26" name="Text 24"/>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5E6782"/>
                </a:solidFill>
                <a:latin typeface="Cairo" pitchFamily="34" charset="0"/>
                <a:ea typeface="Cairo" pitchFamily="34" charset="-122"/>
                <a:cs typeface="Cairo" pitchFamily="34" charset="-120"/>
              </a:rPr>
              <a:t>🦽 القرار والجولة  ·  ١٧</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00"/>
                                        <p:tgtEl>
                                          <p:spTgt spid="20"/>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1"/>
                                        </p:tgtEl>
                                        <p:attrNameLst>
                                          <p:attrName>style.visibility</p:attrName>
                                        </p:attrNameLst>
                                      </p:cBhvr>
                                      <p:to>
                                        <p:strVal val="visible"/>
                                      </p:to>
                                    </p:set>
                                    <p:animEffect transition="in" filter="fade">
                                      <p:cBhvr>
                                        <p:cTn id="61" dur="400"/>
                                        <p:tgtEl>
                                          <p:spTgt spid="21"/>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2"/>
                                        </p:tgtEl>
                                        <p:attrNameLst>
                                          <p:attrName>style.visibility</p:attrName>
                                        </p:attrNameLst>
                                      </p:cBhvr>
                                      <p:to>
                                        <p:strVal val="visible"/>
                                      </p:to>
                                    </p:set>
                                    <p:animEffect transition="in" filter="fade">
                                      <p:cBhvr>
                                        <p:cTn id="64" dur="400"/>
                                        <p:tgtEl>
                                          <p:spTgt spid="22"/>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3"/>
                                        </p:tgtEl>
                                        <p:attrNameLst>
                                          <p:attrName>style.visibility</p:attrName>
                                        </p:attrNameLst>
                                      </p:cBhvr>
                                      <p:to>
                                        <p:strVal val="visible"/>
                                      </p:to>
                                    </p:set>
                                    <p:animEffect transition="in" filter="fade">
                                      <p:cBhvr>
                                        <p:cTn id="67" dur="400"/>
                                        <p:tgtEl>
                                          <p:spTgt spid="23"/>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4"/>
                                        </p:tgtEl>
                                        <p:attrNameLst>
                                          <p:attrName>style.visibility</p:attrName>
                                        </p:attrNameLst>
                                      </p:cBhvr>
                                      <p:to>
                                        <p:strVal val="visible"/>
                                      </p:to>
                                    </p:set>
                                    <p:animEffect transition="in" filter="fade">
                                      <p:cBhvr>
                                        <p:cTn id="70"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Image 0" descr="C:\Users\user\projects\younes-training\masmak-judges\.pptx-cache\s18.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Image 0" descr="C:\Users\user\projects\younes-training\masmak-judges\.pptx-cache\s19.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Image 0" descr="C:\Users\user\projects\younes-training\masmak-judges\.pptx-cache\s20-0.jpg"/>
          <p:cNvPicPr>
            <a:picLocks noChangeAspect="1"/>
          </p:cNvPicPr>
          <p:nvPr/>
        </p:nvPicPr>
        <p:blipFill>
          <a:blip r:embed="rId3"/>
          <a:stretch>
            <a:fillRect/>
          </a:stretch>
        </p:blipFill>
        <p:spPr>
          <a:xfrm>
            <a:off x="0" y="0"/>
            <a:ext cx="12191695" cy="6858000"/>
          </a:xfrm>
          <a:prstGeom prst="rect">
            <a:avLst/>
          </a:prstGeom>
        </p:spPr>
      </p:pic>
      <p:pic>
        <p:nvPicPr>
          <p:cNvPr id="3" name="anim-g1-71" descr="C:\Users\user\projects\younes-training\masmak-judges\.pptx-cache\s20-1.jpg"/>
          <p:cNvPicPr>
            <a:picLocks noChangeAspect="1"/>
          </p:cNvPicPr>
          <p:nvPr/>
        </p:nvPicPr>
        <p:blipFill>
          <a:blip r:embed="rId4"/>
          <a:stretch>
            <a:fillRect/>
          </a:stretch>
        </p:blipFill>
        <p:spPr>
          <a:xfrm>
            <a:off x="0" y="0"/>
            <a:ext cx="12191695" cy="6858000"/>
          </a:xfrm>
          <a:prstGeom prst="rect">
            <a:avLst/>
          </a:prstGeom>
        </p:spPr>
      </p:pic>
      <p:pic>
        <p:nvPicPr>
          <p:cNvPr id="4" name="anim-g2-72" descr="C:\Users\user\projects\younes-training\masmak-judges\.pptx-cache\s20-2.jpg"/>
          <p:cNvPicPr>
            <a:picLocks noChangeAspect="1"/>
          </p:cNvPicPr>
          <p:nvPr/>
        </p:nvPicPr>
        <p:blipFill>
          <a:blip r:embed="rId5"/>
          <a:stretch>
            <a:fillRect/>
          </a:stretch>
        </p:blipFill>
        <p:spPr>
          <a:xfrm>
            <a:off x="0" y="0"/>
            <a:ext cx="12191695" cy="6858000"/>
          </a:xfrm>
          <a:prstGeom prst="rect">
            <a:avLst/>
          </a:prstGeom>
        </p:spPr>
      </p:pic>
      <p:pic>
        <p:nvPicPr>
          <p:cNvPr id="5" name="anim-g3-73" descr="C:\Users\user\projects\younes-training\masmak-judges\.pptx-cache\s20-3.jpg"/>
          <p:cNvPicPr>
            <a:picLocks noChangeAspect="1"/>
          </p:cNvPicPr>
          <p:nvPr/>
        </p:nvPicPr>
        <p:blipFill>
          <a:blip r:embed="rId6"/>
          <a:stretch>
            <a:fillRect/>
          </a:stretch>
        </p:blipFill>
        <p:spPr>
          <a:xfrm>
            <a:off x="0" y="0"/>
            <a:ext cx="12191695" cy="6858000"/>
          </a:xfrm>
          <a:prstGeom prst="rect">
            <a:avLst/>
          </a:prstGeom>
        </p:spPr>
      </p:pic>
      <p:pic>
        <p:nvPicPr>
          <p:cNvPr id="6" name="anim-g4-74" descr="C:\Users\user\projects\younes-training\masmak-judges\.pptx-cache\s20-4.jpg"/>
          <p:cNvPicPr>
            <a:picLocks noChangeAspect="1"/>
          </p:cNvPicPr>
          <p:nvPr/>
        </p:nvPicPr>
        <p:blipFill>
          <a:blip r:embed="rId7"/>
          <a:stretch>
            <a:fillRect/>
          </a:stretch>
        </p:blipFill>
        <p:spPr>
          <a:xfrm>
            <a:off x="0" y="0"/>
            <a:ext cx="12191695" cy="6858000"/>
          </a:xfrm>
          <a:prstGeom prst="rect">
            <a:avLst/>
          </a:prstGeom>
        </p:spPr>
      </p:pic>
      <p:pic>
        <p:nvPicPr>
          <p:cNvPr id="7" name="anim-g5-75" descr="C:\Users\user\projects\younes-training\masmak-judges\.pptx-cache\s20-5.jpg"/>
          <p:cNvPicPr>
            <a:picLocks noChangeAspect="1"/>
          </p:cNvPicPr>
          <p:nvPr/>
        </p:nvPicPr>
        <p:blipFill>
          <a:blip r:embed="rId8"/>
          <a:stretch>
            <a:fillRect/>
          </a:stretch>
        </p:blipFill>
        <p:spPr>
          <a:xfrm>
            <a:off x="0" y="0"/>
            <a:ext cx="12191695" cy="6858000"/>
          </a:xfrm>
          <a:prstGeom prst="rect">
            <a:avLst/>
          </a:prstGeom>
        </p:spPr>
      </p:pic>
      <p:pic>
        <p:nvPicPr>
          <p:cNvPr id="8" name="anim-g6-76" descr="C:\Users\user\projects\younes-training\masmak-judges\.pptx-cache\s20-6.jpg"/>
          <p:cNvPicPr>
            <a:picLocks noChangeAspect="1"/>
          </p:cNvPicPr>
          <p:nvPr/>
        </p:nvPicPr>
        <p:blipFill>
          <a:blip r:embed="rId9"/>
          <a:stretch>
            <a:fillRect/>
          </a:stretch>
        </p:blipFill>
        <p:spPr>
          <a:xfrm>
            <a:off x="0" y="0"/>
            <a:ext cx="12191695" cy="6858000"/>
          </a:xfrm>
          <a:prstGeom prst="rect">
            <a:avLst/>
          </a:prstGeom>
        </p:spPr>
      </p:pic>
      <p:pic>
        <p:nvPicPr>
          <p:cNvPr id="9" name="anim-g7-77" descr="C:\Users\user\projects\younes-training\masmak-judges\.pptx-cache\s20-7.jpg"/>
          <p:cNvPicPr>
            <a:picLocks noChangeAspect="1"/>
          </p:cNvPicPr>
          <p:nvPr/>
        </p:nvPicPr>
        <p:blipFill>
          <a:blip r:embed="rId10"/>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400"/>
                                        <p:tgtEl>
                                          <p:spTgt spid="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9"/>
                                        </p:tgtEl>
                                        <p:attrNameLst>
                                          <p:attrName>style.visibility</p:attrName>
                                        </p:attrNameLst>
                                      </p:cBhvr>
                                      <p:to>
                                        <p:strVal val="visible"/>
                                      </p:to>
                                    </p:set>
                                    <p:animEffect transition="in" filter="fade">
                                      <p:cBhvr>
                                        <p:cTn id="37" dur="4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Image 0" descr="C:\Users\user\projects\younes-training\masmak-judges\.pptx-cache\s21.jp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Image 0" descr="C:\Users\user\projects\younes-training\masmak-judges\.pptx-cache\s22-0.jpg"/>
          <p:cNvPicPr>
            <a:picLocks noChangeAspect="1"/>
          </p:cNvPicPr>
          <p:nvPr/>
        </p:nvPicPr>
        <p:blipFill>
          <a:blip r:embed="rId3"/>
          <a:stretch>
            <a:fillRect/>
          </a:stretch>
        </p:blipFill>
        <p:spPr>
          <a:xfrm>
            <a:off x="0" y="0"/>
            <a:ext cx="12191695" cy="6858000"/>
          </a:xfrm>
          <a:prstGeom prst="rect">
            <a:avLst/>
          </a:prstGeom>
        </p:spPr>
      </p:pic>
      <p:pic>
        <p:nvPicPr>
          <p:cNvPr id="3" name="anim-g1-78" descr="C:\Users\user\projects\younes-training\masmak-judges\.pptx-cache\s22-1.jpg"/>
          <p:cNvPicPr>
            <a:picLocks noChangeAspect="1"/>
          </p:cNvPicPr>
          <p:nvPr/>
        </p:nvPicPr>
        <p:blipFill>
          <a:blip r:embed="rId4"/>
          <a:stretch>
            <a:fillRect/>
          </a:stretch>
        </p:blipFill>
        <p:spPr>
          <a:xfrm>
            <a:off x="0" y="0"/>
            <a:ext cx="12191695" cy="6858000"/>
          </a:xfrm>
          <a:prstGeom prst="rect">
            <a:avLst/>
          </a:prstGeom>
        </p:spPr>
      </p:pic>
      <p:pic>
        <p:nvPicPr>
          <p:cNvPr id="4" name="anim-g2-79" descr="C:\Users\user\projects\younes-training\masmak-judges\.pptx-cache\s22-2.jpg"/>
          <p:cNvPicPr>
            <a:picLocks noChangeAspect="1"/>
          </p:cNvPicPr>
          <p:nvPr/>
        </p:nvPicPr>
        <p:blipFill>
          <a:blip r:embed="rId5"/>
          <a:stretch>
            <a:fillRect/>
          </a:stretch>
        </p:blipFill>
        <p:spPr>
          <a:xfrm>
            <a:off x="0" y="0"/>
            <a:ext cx="12191695" cy="6858000"/>
          </a:xfrm>
          <a:prstGeom prst="rect">
            <a:avLst/>
          </a:prstGeom>
        </p:spPr>
      </p:pic>
      <p:pic>
        <p:nvPicPr>
          <p:cNvPr id="5" name="anim-g3-80" descr="C:\Users\user\projects\younes-training\masmak-judges\.pptx-cache\s22-3.jpg"/>
          <p:cNvPicPr>
            <a:picLocks noChangeAspect="1"/>
          </p:cNvPicPr>
          <p:nvPr/>
        </p:nvPicPr>
        <p:blipFill>
          <a:blip r:embed="rId6"/>
          <a:stretch>
            <a:fillRect/>
          </a:stretch>
        </p:blipFill>
        <p:spPr>
          <a:xfrm>
            <a:off x="0" y="0"/>
            <a:ext cx="12191695" cy="6858000"/>
          </a:xfrm>
          <a:prstGeom prst="rect">
            <a:avLst/>
          </a:prstGeom>
        </p:spPr>
      </p:pic>
      <p:pic>
        <p:nvPicPr>
          <p:cNvPr id="6" name="anim-g4-81" descr="C:\Users\user\projects\younes-training\masmak-judges\.pptx-cache\s22-4.jpg"/>
          <p:cNvPicPr>
            <a:picLocks noChangeAspect="1"/>
          </p:cNvPicPr>
          <p:nvPr/>
        </p:nvPicPr>
        <p:blipFill>
          <a:blip r:embed="rId7"/>
          <a:stretch>
            <a:fillRect/>
          </a:stretch>
        </p:blipFill>
        <p:spPr>
          <a:xfrm>
            <a:off x="0" y="0"/>
            <a:ext cx="12191695" cy="6858000"/>
          </a:xfrm>
          <a:prstGeom prst="rect">
            <a:avLst/>
          </a:prstGeom>
        </p:spPr>
      </p:pic>
      <p:pic>
        <p:nvPicPr>
          <p:cNvPr id="7" name="anim-g5-82" descr="C:\Users\user\projects\younes-training\masmak-judges\.pptx-cache\s22-5.jpg"/>
          <p:cNvPicPr>
            <a:picLocks noChangeAspect="1"/>
          </p:cNvPicPr>
          <p:nvPr/>
        </p:nvPicPr>
        <p:blipFill>
          <a:blip r:embed="rId8"/>
          <a:stretch>
            <a:fillRect/>
          </a:stretch>
        </p:blipFill>
        <p:spPr>
          <a:xfrm>
            <a:off x="0" y="0"/>
            <a:ext cx="12191695" cy="6858000"/>
          </a:xfrm>
          <a:prstGeom prst="rect">
            <a:avLst/>
          </a:prstGeom>
        </p:spPr>
      </p:pic>
      <p:pic>
        <p:nvPicPr>
          <p:cNvPr id="8" name="anim-g6-83" descr="C:\Users\user\projects\younes-training\masmak-judges\.pptx-cache\s22-6.jpg"/>
          <p:cNvPicPr>
            <a:picLocks noChangeAspect="1"/>
          </p:cNvPicPr>
          <p:nvPr/>
        </p:nvPicPr>
        <p:blipFill>
          <a:blip r:embed="rId9"/>
          <a:stretch>
            <a:fillRect/>
          </a:stretch>
        </p:blipFill>
        <p:spPr>
          <a:xfrm>
            <a:off x="0" y="0"/>
            <a:ext cx="12191695" cy="6858000"/>
          </a:xfrm>
          <a:prstGeom prst="rect">
            <a:avLst/>
          </a:prstGeom>
        </p:spPr>
      </p:pic>
      <p:pic>
        <p:nvPicPr>
          <p:cNvPr id="9" name="anim-g7-84" descr="C:\Users\user\projects\younes-training\masmak-judges\.pptx-cache\s22-7.jpg"/>
          <p:cNvPicPr>
            <a:picLocks noChangeAspect="1"/>
          </p:cNvPicPr>
          <p:nvPr/>
        </p:nvPicPr>
        <p:blipFill>
          <a:blip r:embed="rId10"/>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400"/>
                                        <p:tgtEl>
                                          <p:spTgt spid="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9"/>
                                        </p:tgtEl>
                                        <p:attrNameLst>
                                          <p:attrName>style.visibility</p:attrName>
                                        </p:attrNameLst>
                                      </p:cBhvr>
                                      <p:to>
                                        <p:strVal val="visible"/>
                                      </p:to>
                                    </p:set>
                                    <p:animEffect transition="in" filter="fade">
                                      <p:cBhvr>
                                        <p:cTn id="37" dur="4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Image 0" descr="C:\Users\user\projects\younes-training\masmak-judges\.pptx-cache\s23-0.jpg"/>
          <p:cNvPicPr>
            <a:picLocks noChangeAspect="1"/>
          </p:cNvPicPr>
          <p:nvPr/>
        </p:nvPicPr>
        <p:blipFill>
          <a:blip r:embed="rId3"/>
          <a:stretch>
            <a:fillRect/>
          </a:stretch>
        </p:blipFill>
        <p:spPr>
          <a:xfrm>
            <a:off x="0" y="0"/>
            <a:ext cx="12191695" cy="6858000"/>
          </a:xfrm>
          <a:prstGeom prst="rect">
            <a:avLst/>
          </a:prstGeom>
        </p:spPr>
      </p:pic>
      <p:pic>
        <p:nvPicPr>
          <p:cNvPr id="3" name="anim-g1-85" descr="C:\Users\user\projects\younes-training\masmak-judges\.pptx-cache\s23-1.jpg"/>
          <p:cNvPicPr>
            <a:picLocks noChangeAspect="1"/>
          </p:cNvPicPr>
          <p:nvPr/>
        </p:nvPicPr>
        <p:blipFill>
          <a:blip r:embed="rId4"/>
          <a:stretch>
            <a:fillRect/>
          </a:stretch>
        </p:blipFill>
        <p:spPr>
          <a:xfrm>
            <a:off x="0" y="0"/>
            <a:ext cx="12191695" cy="6858000"/>
          </a:xfrm>
          <a:prstGeom prst="rect">
            <a:avLst/>
          </a:prstGeom>
        </p:spPr>
      </p:pic>
      <p:pic>
        <p:nvPicPr>
          <p:cNvPr id="4" name="anim-g2-86" descr="C:\Users\user\projects\younes-training\masmak-judges\.pptx-cache\s23-2.jpg"/>
          <p:cNvPicPr>
            <a:picLocks noChangeAspect="1"/>
          </p:cNvPicPr>
          <p:nvPr/>
        </p:nvPicPr>
        <p:blipFill>
          <a:blip r:embed="rId5"/>
          <a:stretch>
            <a:fillRect/>
          </a:stretch>
        </p:blipFill>
        <p:spPr>
          <a:xfrm>
            <a:off x="0" y="0"/>
            <a:ext cx="12191695" cy="6858000"/>
          </a:xfrm>
          <a:prstGeom prst="rect">
            <a:avLst/>
          </a:prstGeom>
        </p:spPr>
      </p:pic>
      <p:pic>
        <p:nvPicPr>
          <p:cNvPr id="5" name="anim-g3-87" descr="C:\Users\user\projects\younes-training\masmak-judges\.pptx-cache\s23-3.jpg"/>
          <p:cNvPicPr>
            <a:picLocks noChangeAspect="1"/>
          </p:cNvPicPr>
          <p:nvPr/>
        </p:nvPicPr>
        <p:blipFill>
          <a:blip r:embed="rId6"/>
          <a:stretch>
            <a:fillRect/>
          </a:stretch>
        </p:blipFill>
        <p:spPr>
          <a:xfrm>
            <a:off x="0" y="0"/>
            <a:ext cx="12191695" cy="6858000"/>
          </a:xfrm>
          <a:prstGeom prst="rect">
            <a:avLst/>
          </a:prstGeom>
        </p:spPr>
      </p:pic>
      <p:pic>
        <p:nvPicPr>
          <p:cNvPr id="6" name="anim-g4-88" descr="C:\Users\user\projects\younes-training\masmak-judges\.pptx-cache\s23-4.jpg"/>
          <p:cNvPicPr>
            <a:picLocks noChangeAspect="1"/>
          </p:cNvPicPr>
          <p:nvPr/>
        </p:nvPicPr>
        <p:blipFill>
          <a:blip r:embed="rId7"/>
          <a:stretch>
            <a:fillRect/>
          </a:stretch>
        </p:blipFill>
        <p:spPr>
          <a:xfrm>
            <a:off x="0" y="0"/>
            <a:ext cx="12191695" cy="6858000"/>
          </a:xfrm>
          <a:prstGeom prst="rect">
            <a:avLst/>
          </a:prstGeom>
        </p:spPr>
      </p:pic>
      <p:pic>
        <p:nvPicPr>
          <p:cNvPr id="7" name="anim-g5-89" descr="C:\Users\user\projects\younes-training\masmak-judges\.pptx-cache\s23-5.jpg"/>
          <p:cNvPicPr>
            <a:picLocks noChangeAspect="1"/>
          </p:cNvPicPr>
          <p:nvPr/>
        </p:nvPicPr>
        <p:blipFill>
          <a:blip r:embed="rId8"/>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4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Image 0" descr="C:\Users\user\projects\younes-training\masmak-judges\.pptx-cache\s24-0.jpg"/>
          <p:cNvPicPr>
            <a:picLocks noChangeAspect="1"/>
          </p:cNvPicPr>
          <p:nvPr/>
        </p:nvPicPr>
        <p:blipFill>
          <a:blip r:embed="rId3"/>
          <a:stretch>
            <a:fillRect/>
          </a:stretch>
        </p:blipFill>
        <p:spPr>
          <a:xfrm>
            <a:off x="0" y="0"/>
            <a:ext cx="12191695" cy="6858000"/>
          </a:xfrm>
          <a:prstGeom prst="rect">
            <a:avLst/>
          </a:prstGeom>
        </p:spPr>
      </p:pic>
      <p:pic>
        <p:nvPicPr>
          <p:cNvPr id="3" name="anim-g1-90" descr="C:\Users\user\projects\younes-training\masmak-judges\.pptx-cache\s24-1.jpg"/>
          <p:cNvPicPr>
            <a:picLocks noChangeAspect="1"/>
          </p:cNvPicPr>
          <p:nvPr/>
        </p:nvPicPr>
        <p:blipFill>
          <a:blip r:embed="rId4"/>
          <a:stretch>
            <a:fillRect/>
          </a:stretch>
        </p:blipFill>
        <p:spPr>
          <a:xfrm>
            <a:off x="0" y="0"/>
            <a:ext cx="12191695" cy="6858000"/>
          </a:xfrm>
          <a:prstGeom prst="rect">
            <a:avLst/>
          </a:prstGeom>
        </p:spPr>
      </p:pic>
      <p:pic>
        <p:nvPicPr>
          <p:cNvPr id="4" name="anim-g2-91" descr="C:\Users\user\projects\younes-training\masmak-judges\.pptx-cache\s24-2.jpg"/>
          <p:cNvPicPr>
            <a:picLocks noChangeAspect="1"/>
          </p:cNvPicPr>
          <p:nvPr/>
        </p:nvPicPr>
        <p:blipFill>
          <a:blip r:embed="rId5"/>
          <a:stretch>
            <a:fillRect/>
          </a:stretch>
        </p:blipFill>
        <p:spPr>
          <a:xfrm>
            <a:off x="0" y="0"/>
            <a:ext cx="12191695" cy="6858000"/>
          </a:xfrm>
          <a:prstGeom prst="rect">
            <a:avLst/>
          </a:prstGeom>
        </p:spPr>
      </p:pic>
      <p:pic>
        <p:nvPicPr>
          <p:cNvPr id="5" name="anim-g3-92" descr="C:\Users\user\projects\younes-training\masmak-judges\.pptx-cache\s24-3.jpg"/>
          <p:cNvPicPr>
            <a:picLocks noChangeAspect="1"/>
          </p:cNvPicPr>
          <p:nvPr/>
        </p:nvPicPr>
        <p:blipFill>
          <a:blip r:embed="rId6"/>
          <a:stretch>
            <a:fillRect/>
          </a:stretch>
        </p:blipFill>
        <p:spPr>
          <a:xfrm>
            <a:off x="0" y="0"/>
            <a:ext cx="12191695"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4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4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4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296351" y="457200"/>
            <a:ext cx="3072384" cy="457200"/>
          </a:xfrm>
          <a:prstGeom prst="roundRect">
            <a:avLst>
              <a:gd name="adj" fmla="val 50000"/>
            </a:avLst>
          </a:prstGeom>
          <a:solidFill>
            <a:srgbClr val="F6EBCF"/>
          </a:solidFill>
          <a:ln/>
        </p:spPr>
      </p:sp>
      <p:sp>
        <p:nvSpPr>
          <p:cNvPr id="3" name="Text 1"/>
          <p:cNvSpPr/>
          <p:nvPr/>
        </p:nvSpPr>
        <p:spPr>
          <a:xfrm>
            <a:off x="8296351" y="457200"/>
            <a:ext cx="3072384"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B08A2E"/>
                </a:solidFill>
                <a:latin typeface="Cairo" pitchFamily="34" charset="0"/>
                <a:ea typeface="Cairo" pitchFamily="34" charset="-122"/>
                <a:cs typeface="Cairo" pitchFamily="34" charset="-120"/>
              </a:rPr>
              <a:t>🛡️ الأمان أولًا</a:t>
            </a:r>
            <a:endParaRPr lang="ar-SA" sz="1800" dirty="0"/>
          </a:p>
        </p:txBody>
      </p:sp>
      <p:sp>
        <p:nvSpPr>
          <p:cNvPr id="4" name="Text 2"/>
          <p:cNvSpPr/>
          <p:nvPr/>
        </p:nvSpPr>
        <p:spPr>
          <a:xfrm>
            <a:off x="822960" y="1005840"/>
            <a:ext cx="10545775" cy="868680"/>
          </a:xfrm>
          <a:prstGeom prst="rect">
            <a:avLst/>
          </a:prstGeom>
          <a:noFill/>
          <a:ln/>
        </p:spPr>
        <p:txBody>
          <a:bodyPr wrap="square" lIns="0" tIns="0" rIns="0" bIns="0" rtlCol="0" anchor="ctr">
            <a:normAutofit/>
          </a:bodyPr>
          <a:lstStyle/>
          <a:p>
            <a:pPr marL="0" indent="0" algn="r" rtl="1">
              <a:buNone/>
            </a:pPr>
            <a:r>
              <a:rPr lang="ar-SA" altLang="en-US" sz="3800" dirty="0">
                <a:solidFill>
                  <a:srgbClr val="101B45"/>
                </a:solidFill>
                <a:latin typeface="Cairo Black" pitchFamily="34" charset="0"/>
                <a:ea typeface="Cairo Black" pitchFamily="34" charset="-122"/>
                <a:cs typeface="Cairo Black" pitchFamily="34" charset="-120"/>
              </a:rPr>
              <a:t>قواعد تحمي المتحف… وتحمي الروبوت</a:t>
            </a:r>
            <a:endParaRPr lang="ar-SA" sz="3800" dirty="0"/>
          </a:p>
        </p:txBody>
      </p:sp>
      <p:sp>
        <p:nvSpPr>
          <p:cNvPr id="5" name="anim-g1-93"/>
          <p:cNvSpPr/>
          <p:nvPr/>
        </p:nvSpPr>
        <p:spPr>
          <a:xfrm>
            <a:off x="6233008" y="2011680"/>
            <a:ext cx="5135728" cy="1897380"/>
          </a:xfrm>
          <a:prstGeom prst="roundRect">
            <a:avLst>
              <a:gd name="adj" fmla="val 8675"/>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6" name="anim-g1-94"/>
          <p:cNvSpPr/>
          <p:nvPr/>
        </p:nvSpPr>
        <p:spPr>
          <a:xfrm>
            <a:off x="10527487" y="2267712"/>
            <a:ext cx="566928" cy="566928"/>
          </a:xfrm>
          <a:prstGeom prst="roundRect">
            <a:avLst>
              <a:gd name="adj" fmla="val 32258"/>
            </a:avLst>
          </a:prstGeom>
          <a:solidFill>
            <a:srgbClr val="F7E6BC"/>
          </a:solidFill>
          <a:ln/>
        </p:spPr>
      </p:sp>
      <p:sp>
        <p:nvSpPr>
          <p:cNvPr id="7" name="anim-g1-95"/>
          <p:cNvSpPr/>
          <p:nvPr/>
        </p:nvSpPr>
        <p:spPr>
          <a:xfrm>
            <a:off x="10527487" y="226771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8" name="anim-g1-96"/>
          <p:cNvSpPr/>
          <p:nvPr/>
        </p:nvSpPr>
        <p:spPr>
          <a:xfrm>
            <a:off x="6507328" y="2944368"/>
            <a:ext cx="458708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يرش حتى يزول الخطر</a:t>
            </a:r>
            <a:endParaRPr lang="ar-SA" sz="2200" dirty="0"/>
          </a:p>
        </p:txBody>
      </p:sp>
      <p:sp>
        <p:nvSpPr>
          <p:cNvPr id="9" name="anim-g1-97"/>
          <p:cNvSpPr/>
          <p:nvPr/>
        </p:nvSpPr>
        <p:spPr>
          <a:xfrm>
            <a:off x="6507328" y="3493008"/>
            <a:ext cx="4587088" cy="27889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المضخة والمروحة تعملان حتى تقول المحطة: انتهى الخطر</a:t>
            </a:r>
            <a:endParaRPr lang="ar-SA" sz="1900" dirty="0"/>
          </a:p>
        </p:txBody>
      </p:sp>
      <p:sp>
        <p:nvSpPr>
          <p:cNvPr id="10" name="anim-g2-98"/>
          <p:cNvSpPr/>
          <p:nvPr/>
        </p:nvSpPr>
        <p:spPr>
          <a:xfrm>
            <a:off x="822960" y="2011680"/>
            <a:ext cx="5135728" cy="1897380"/>
          </a:xfrm>
          <a:prstGeom prst="roundRect">
            <a:avLst>
              <a:gd name="adj" fmla="val 8675"/>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11" name="anim-g2-99"/>
          <p:cNvSpPr/>
          <p:nvPr/>
        </p:nvSpPr>
        <p:spPr>
          <a:xfrm>
            <a:off x="5117440" y="2267712"/>
            <a:ext cx="566928" cy="566928"/>
          </a:xfrm>
          <a:prstGeom prst="roundRect">
            <a:avLst>
              <a:gd name="adj" fmla="val 32258"/>
            </a:avLst>
          </a:prstGeom>
          <a:solidFill>
            <a:srgbClr val="F7E6BC"/>
          </a:solidFill>
          <a:ln/>
        </p:spPr>
      </p:sp>
      <p:sp>
        <p:nvSpPr>
          <p:cNvPr id="12" name="anim-g2-100"/>
          <p:cNvSpPr/>
          <p:nvPr/>
        </p:nvSpPr>
        <p:spPr>
          <a:xfrm>
            <a:off x="5117440" y="226771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3" name="anim-g2-101"/>
          <p:cNvSpPr/>
          <p:nvPr/>
        </p:nvSpPr>
        <p:spPr>
          <a:xfrm>
            <a:off x="1097280" y="2944368"/>
            <a:ext cx="458708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٣٠ ثانية حدًّا أقصى</a:t>
            </a:r>
            <a:endParaRPr lang="ar-SA" sz="2200" dirty="0"/>
          </a:p>
        </p:txBody>
      </p:sp>
      <p:sp>
        <p:nvSpPr>
          <p:cNvPr id="14" name="anim-g2-102"/>
          <p:cNvSpPr/>
          <p:nvPr/>
        </p:nvSpPr>
        <p:spPr>
          <a:xfrm>
            <a:off x="1097280" y="3493008"/>
            <a:ext cx="4587088" cy="27889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بعدها يتوقف ويعود، حتى لو لم يزل الخطر</a:t>
            </a:r>
            <a:endParaRPr lang="ar-SA" sz="1900" dirty="0"/>
          </a:p>
        </p:txBody>
      </p:sp>
      <p:sp>
        <p:nvSpPr>
          <p:cNvPr id="15" name="anim-g3-103"/>
          <p:cNvSpPr/>
          <p:nvPr/>
        </p:nvSpPr>
        <p:spPr>
          <a:xfrm>
            <a:off x="6233008" y="4137660"/>
            <a:ext cx="5135728" cy="1897380"/>
          </a:xfrm>
          <a:prstGeom prst="roundRect">
            <a:avLst>
              <a:gd name="adj" fmla="val 8675"/>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16" name="anim-g3-104"/>
          <p:cNvSpPr/>
          <p:nvPr/>
        </p:nvSpPr>
        <p:spPr>
          <a:xfrm>
            <a:off x="10527487" y="4393692"/>
            <a:ext cx="566928" cy="566928"/>
          </a:xfrm>
          <a:prstGeom prst="roundRect">
            <a:avLst>
              <a:gd name="adj" fmla="val 32258"/>
            </a:avLst>
          </a:prstGeom>
          <a:solidFill>
            <a:srgbClr val="F7E6BC"/>
          </a:solidFill>
          <a:ln/>
        </p:spPr>
      </p:sp>
      <p:sp>
        <p:nvSpPr>
          <p:cNvPr id="17" name="anim-g3-105"/>
          <p:cNvSpPr/>
          <p:nvPr/>
        </p:nvSpPr>
        <p:spPr>
          <a:xfrm>
            <a:off x="10527487" y="439369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18" name="anim-g3-106"/>
          <p:cNvSpPr/>
          <p:nvPr/>
        </p:nvSpPr>
        <p:spPr>
          <a:xfrm>
            <a:off x="6507328" y="5070348"/>
            <a:ext cx="458708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انقطع الاتصال؟ توقف</a:t>
            </a:r>
            <a:endParaRPr lang="ar-SA" sz="2200" dirty="0"/>
          </a:p>
        </p:txBody>
      </p:sp>
      <p:sp>
        <p:nvSpPr>
          <p:cNvPr id="19" name="anim-g3-107"/>
          <p:cNvSpPr/>
          <p:nvPr/>
        </p:nvSpPr>
        <p:spPr>
          <a:xfrm>
            <a:off x="6507328" y="5618988"/>
            <a:ext cx="4587088" cy="27889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لا رسائل من المحطة ثانيتين: تتوقف المضخة فورًا</a:t>
            </a:r>
            <a:endParaRPr lang="ar-SA" sz="1900" dirty="0"/>
          </a:p>
        </p:txBody>
      </p:sp>
      <p:sp>
        <p:nvSpPr>
          <p:cNvPr id="20" name="anim-g4-108"/>
          <p:cNvSpPr/>
          <p:nvPr/>
        </p:nvSpPr>
        <p:spPr>
          <a:xfrm>
            <a:off x="822960" y="4137660"/>
            <a:ext cx="5135728" cy="1897380"/>
          </a:xfrm>
          <a:prstGeom prst="roundRect">
            <a:avLst>
              <a:gd name="adj" fmla="val 8675"/>
            </a:avLst>
          </a:prstGeom>
          <a:solidFill>
            <a:srgbClr val="FFFFFF"/>
          </a:solidFill>
          <a:ln w="12700">
            <a:solidFill>
              <a:srgbClr val="E4DCC8"/>
            </a:solidFill>
            <a:prstDash val="solid"/>
          </a:ln>
          <a:effectLst>
            <a:outerShdw blurRad="152400" dist="38100" dir="5400000" algn="bl" rotWithShape="0">
              <a:srgbClr val="101B45">
                <a:alpha val="8000"/>
              </a:srgbClr>
            </a:outerShdw>
          </a:effectLst>
        </p:spPr>
      </p:sp>
      <p:sp>
        <p:nvSpPr>
          <p:cNvPr id="21" name="anim-g4-109"/>
          <p:cNvSpPr/>
          <p:nvPr/>
        </p:nvSpPr>
        <p:spPr>
          <a:xfrm>
            <a:off x="5117440" y="4393692"/>
            <a:ext cx="566928" cy="566928"/>
          </a:xfrm>
          <a:prstGeom prst="roundRect">
            <a:avLst>
              <a:gd name="adj" fmla="val 32258"/>
            </a:avLst>
          </a:prstGeom>
          <a:solidFill>
            <a:srgbClr val="F7E6BC"/>
          </a:solidFill>
          <a:ln/>
        </p:spPr>
      </p:sp>
      <p:sp>
        <p:nvSpPr>
          <p:cNvPr id="22" name="anim-g4-110"/>
          <p:cNvSpPr/>
          <p:nvPr/>
        </p:nvSpPr>
        <p:spPr>
          <a:xfrm>
            <a:off x="5117440" y="4393692"/>
            <a:ext cx="566928" cy="566928"/>
          </a:xfrm>
          <a:prstGeom prst="rect">
            <a:avLst/>
          </a:prstGeom>
          <a:noFill/>
          <a:ln/>
        </p:spPr>
        <p:txBody>
          <a:bodyPr wrap="square" lIns="0" tIns="0" rIns="0" bIns="0" rtlCol="0" anchor="ctr">
            <a:normAutofit/>
          </a:bodyPr>
          <a:lstStyle/>
          <a:p>
            <a:pPr marL="0" indent="0" algn="ctr" rtl="1">
              <a:buNone/>
            </a:pPr>
            <a:r>
              <a:rPr lang="ar-SA" altLang="en-US" sz="2200" dirty="0">
                <a:solidFill>
                  <a:srgbClr val="131B34"/>
                </a:solidFill>
                <a:latin typeface="Cairo" pitchFamily="34" charset="0"/>
                <a:ea typeface="Cairo" pitchFamily="34" charset="-122"/>
                <a:cs typeface="Cairo" pitchFamily="34" charset="-120"/>
              </a:rPr>
              <a:t>🔁</a:t>
            </a:r>
            <a:endParaRPr lang="ar-SA" sz="2200" dirty="0"/>
          </a:p>
        </p:txBody>
      </p:sp>
      <p:sp>
        <p:nvSpPr>
          <p:cNvPr id="23" name="anim-g4-111"/>
          <p:cNvSpPr/>
          <p:nvPr/>
        </p:nvSpPr>
        <p:spPr>
          <a:xfrm>
            <a:off x="1097280" y="5070348"/>
            <a:ext cx="4587088" cy="548640"/>
          </a:xfrm>
          <a:prstGeom prst="rect">
            <a:avLst/>
          </a:prstGeom>
          <a:noFill/>
          <a:ln/>
        </p:spPr>
        <p:txBody>
          <a:bodyPr wrap="square" lIns="0" tIns="0" rIns="0" bIns="0" rtlCol="0" anchor="ctr">
            <a:normAutofit/>
          </a:bodyPr>
          <a:lstStyle/>
          <a:p>
            <a:pPr marL="0" indent="0" algn="r" rtl="1">
              <a:buNone/>
            </a:pPr>
            <a:r>
              <a:rPr lang="ar-SA" altLang="en-US" sz="2200" dirty="0">
                <a:solidFill>
                  <a:srgbClr val="101B45"/>
                </a:solidFill>
                <a:latin typeface="Cairo Black" pitchFamily="34" charset="0"/>
                <a:ea typeface="Cairo Black" pitchFamily="34" charset="-122"/>
                <a:cs typeface="Cairo Black" pitchFamily="34" charset="-120"/>
              </a:rPr>
              <a:t>لم يرد الثاني؟ أعد الإرسال</a:t>
            </a:r>
            <a:endParaRPr lang="ar-SA" sz="2200" dirty="0"/>
          </a:p>
        </p:txBody>
      </p:sp>
      <p:sp>
        <p:nvSpPr>
          <p:cNvPr id="24" name="anim-g4-112"/>
          <p:cNvSpPr/>
          <p:nvPr/>
        </p:nvSpPr>
        <p:spPr>
          <a:xfrm>
            <a:off x="1097280" y="5618988"/>
            <a:ext cx="4587088" cy="278892"/>
          </a:xfrm>
          <a:prstGeom prst="rect">
            <a:avLst/>
          </a:prstGeom>
          <a:noFill/>
          <a:ln/>
        </p:spPr>
        <p:txBody>
          <a:bodyPr wrap="square" lIns="0" tIns="0" rIns="0" bIns="0" rtlCol="0" anchor="t">
            <a:normAutofit/>
          </a:bodyPr>
          <a:lstStyle/>
          <a:p>
            <a:pPr marL="0" indent="0" algn="r" rtl="1">
              <a:lnSpc>
                <a:spcPct val="115000"/>
              </a:lnSpc>
              <a:buNone/>
            </a:pPr>
            <a:r>
              <a:rPr lang="ar-SA" altLang="en-US" sz="1900" b="1" dirty="0">
                <a:solidFill>
                  <a:srgbClr val="3B4460"/>
                </a:solidFill>
                <a:latin typeface="Cairo" pitchFamily="34" charset="0"/>
                <a:ea typeface="Cairo" pitchFamily="34" charset="-122"/>
                <a:cs typeface="Cairo" pitchFamily="34" charset="-120"/>
              </a:rPr>
              <a:t>القائد يكرر الأمر حتى يصله «استلمت» من الروبوت الثاني</a:t>
            </a:r>
            <a:endParaRPr lang="ar-SA" sz="1900" dirty="0"/>
          </a:p>
        </p:txBody>
      </p:sp>
      <p:sp>
        <p:nvSpPr>
          <p:cNvPr id="25" name="Text 23"/>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5E6782"/>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5E6782"/>
                </a:solidFill>
                <a:latin typeface="Cairo" pitchFamily="34" charset="0"/>
                <a:ea typeface="Cairo" pitchFamily="34" charset="-122"/>
                <a:cs typeface="Cairo" pitchFamily="34" charset="-120"/>
              </a:rPr>
              <a:t> · لمسة تراث</a:t>
            </a:r>
            <a:endParaRPr lang="ar-SA" sz="1200" dirty="0"/>
          </a:p>
        </p:txBody>
      </p:sp>
      <p:sp>
        <p:nvSpPr>
          <p:cNvPr id="26" name="Text 24"/>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5E6782"/>
                </a:solidFill>
                <a:latin typeface="Cairo" pitchFamily="34" charset="0"/>
                <a:ea typeface="Cairo" pitchFamily="34" charset="-122"/>
                <a:cs typeface="Cairo" pitchFamily="34" charset="-120"/>
              </a:rPr>
              <a:t>🛡️ روبوتا السلامة  ·  ٢٥</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4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4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4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4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400"/>
                                        <p:tgtEl>
                                          <p:spTgt spid="9"/>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4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4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4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4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400"/>
                                        <p:tgtEl>
                                          <p:spTgt spid="14"/>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4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4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4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400"/>
                                        <p:tgtEl>
                                          <p:spTgt spid="19"/>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00"/>
                                        <p:tgtEl>
                                          <p:spTgt spid="20"/>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1"/>
                                        </p:tgtEl>
                                        <p:attrNameLst>
                                          <p:attrName>style.visibility</p:attrName>
                                        </p:attrNameLst>
                                      </p:cBhvr>
                                      <p:to>
                                        <p:strVal val="visible"/>
                                      </p:to>
                                    </p:set>
                                    <p:animEffect transition="in" filter="fade">
                                      <p:cBhvr>
                                        <p:cTn id="61" dur="400"/>
                                        <p:tgtEl>
                                          <p:spTgt spid="21"/>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2"/>
                                        </p:tgtEl>
                                        <p:attrNameLst>
                                          <p:attrName>style.visibility</p:attrName>
                                        </p:attrNameLst>
                                      </p:cBhvr>
                                      <p:to>
                                        <p:strVal val="visible"/>
                                      </p:to>
                                    </p:set>
                                    <p:animEffect transition="in" filter="fade">
                                      <p:cBhvr>
                                        <p:cTn id="64" dur="400"/>
                                        <p:tgtEl>
                                          <p:spTgt spid="22"/>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3"/>
                                        </p:tgtEl>
                                        <p:attrNameLst>
                                          <p:attrName>style.visibility</p:attrName>
                                        </p:attrNameLst>
                                      </p:cBhvr>
                                      <p:to>
                                        <p:strVal val="visible"/>
                                      </p:to>
                                    </p:set>
                                    <p:animEffect transition="in" filter="fade">
                                      <p:cBhvr>
                                        <p:cTn id="67" dur="400"/>
                                        <p:tgtEl>
                                          <p:spTgt spid="23"/>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4"/>
                                        </p:tgtEl>
                                        <p:attrNameLst>
                                          <p:attrName>style.visibility</p:attrName>
                                        </p:attrNameLst>
                                      </p:cBhvr>
                                      <p:to>
                                        <p:strVal val="visible"/>
                                      </p:to>
                                    </p:set>
                                    <p:animEffect transition="in" filter="fade">
                                      <p:cBhvr>
                                        <p:cTn id="70"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8442655" y="457200"/>
            <a:ext cx="2926080" cy="457200"/>
          </a:xfrm>
          <a:prstGeom prst="roundRect">
            <a:avLst>
              <a:gd name="adj" fmla="val 50000"/>
            </a:avLst>
          </a:prstGeom>
          <a:solidFill>
            <a:srgbClr val="F6EBCF"/>
          </a:solidFill>
          <a:ln/>
        </p:spPr>
      </p:sp>
      <p:sp>
        <p:nvSpPr>
          <p:cNvPr id="3" name="Text 1"/>
          <p:cNvSpPr/>
          <p:nvPr/>
        </p:nvSpPr>
        <p:spPr>
          <a:xfrm>
            <a:off x="8442655" y="457200"/>
            <a:ext cx="2926080"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B08A2E"/>
                </a:solidFill>
                <a:latin typeface="Cairo" pitchFamily="34" charset="0"/>
                <a:ea typeface="Cairo" pitchFamily="34" charset="-122"/>
                <a:cs typeface="Cairo" pitchFamily="34" charset="-120"/>
              </a:rPr>
              <a:t>🧯 قصص التحديات</a:t>
            </a:r>
            <a:endParaRPr lang="ar-SA" sz="1800" dirty="0"/>
          </a:p>
        </p:txBody>
      </p:sp>
      <p:sp>
        <p:nvSpPr>
          <p:cNvPr id="4" name="Text 2"/>
          <p:cNvSpPr/>
          <p:nvPr/>
        </p:nvSpPr>
        <p:spPr>
          <a:xfrm>
            <a:off x="822960" y="960120"/>
            <a:ext cx="10545775" cy="868680"/>
          </a:xfrm>
          <a:prstGeom prst="rect">
            <a:avLst/>
          </a:prstGeom>
          <a:noFill/>
          <a:ln/>
        </p:spPr>
        <p:txBody>
          <a:bodyPr wrap="square" lIns="0" tIns="0" rIns="0" bIns="0" rtlCol="0" anchor="ctr">
            <a:normAutofit/>
          </a:bodyPr>
          <a:lstStyle/>
          <a:p>
            <a:pPr marL="0" indent="0" algn="r" rtl="1">
              <a:buNone/>
            </a:pPr>
            <a:r>
              <a:rPr lang="ar-SA" altLang="en-US" sz="3200" dirty="0">
                <a:solidFill>
                  <a:srgbClr val="101B45"/>
                </a:solidFill>
                <a:latin typeface="Cairo Black" pitchFamily="34" charset="0"/>
                <a:ea typeface="Cairo Black" pitchFamily="34" charset="-122"/>
                <a:cs typeface="Cairo Black" pitchFamily="34" charset="-120"/>
              </a:rPr>
              <a:t>خمسة تحديات واجهها الفريق… وكيف حُلّت</a:t>
            </a:r>
            <a:endParaRPr lang="ar-SA" sz="3200" dirty="0"/>
          </a:p>
        </p:txBody>
      </p:sp>
      <p:sp>
        <p:nvSpPr>
          <p:cNvPr id="5" name="Shape 3"/>
          <p:cNvSpPr/>
          <p:nvPr/>
        </p:nvSpPr>
        <p:spPr>
          <a:xfrm>
            <a:off x="7194316" y="1874520"/>
            <a:ext cx="4174419" cy="548640"/>
          </a:xfrm>
          <a:prstGeom prst="roundRect">
            <a:avLst>
              <a:gd name="adj" fmla="val 20000"/>
            </a:avLst>
          </a:prstGeom>
          <a:solidFill>
            <a:srgbClr val="101B45"/>
          </a:solidFill>
          <a:ln/>
        </p:spPr>
      </p:sp>
      <p:sp>
        <p:nvSpPr>
          <p:cNvPr id="6" name="Text 4"/>
          <p:cNvSpPr/>
          <p:nvPr/>
        </p:nvSpPr>
        <p:spPr>
          <a:xfrm>
            <a:off x="7194316" y="1874520"/>
            <a:ext cx="4174419" cy="548640"/>
          </a:xfrm>
          <a:prstGeom prst="rect">
            <a:avLst/>
          </a:prstGeom>
          <a:noFill/>
          <a:ln/>
        </p:spPr>
        <p:txBody>
          <a:bodyPr wrap="square" lIns="0" tIns="0" rIns="0" bIns="0" rtlCol="0" anchor="ctr">
            <a:normAutofit/>
          </a:bodyPr>
          <a:lstStyle/>
          <a:p>
            <a:pPr marL="0" indent="0" algn="ctr" rtl="1">
              <a:buNone/>
            </a:pPr>
            <a:r>
              <a:rPr lang="ar-SA" altLang="en-US" sz="1900" dirty="0">
                <a:solidFill>
                  <a:srgbClr val="FFFFFF"/>
                </a:solidFill>
                <a:latin typeface="Cairo Black" pitchFamily="34" charset="0"/>
                <a:ea typeface="Cairo Black" pitchFamily="34" charset="-122"/>
                <a:cs typeface="Cairo Black" pitchFamily="34" charset="-120"/>
              </a:rPr>
              <a:t>التحدي</a:t>
            </a:r>
            <a:endParaRPr lang="ar-SA" sz="1900" dirty="0"/>
          </a:p>
        </p:txBody>
      </p:sp>
      <p:sp>
        <p:nvSpPr>
          <p:cNvPr id="7" name="Shape 5"/>
          <p:cNvSpPr/>
          <p:nvPr/>
        </p:nvSpPr>
        <p:spPr>
          <a:xfrm>
            <a:off x="822960" y="1874520"/>
            <a:ext cx="6261628" cy="548640"/>
          </a:xfrm>
          <a:prstGeom prst="roundRect">
            <a:avLst>
              <a:gd name="adj" fmla="val 20000"/>
            </a:avLst>
          </a:prstGeom>
          <a:solidFill>
            <a:srgbClr val="101B45"/>
          </a:solidFill>
          <a:ln/>
        </p:spPr>
      </p:sp>
      <p:sp>
        <p:nvSpPr>
          <p:cNvPr id="8" name="Text 6"/>
          <p:cNvSpPr/>
          <p:nvPr/>
        </p:nvSpPr>
        <p:spPr>
          <a:xfrm>
            <a:off x="822960" y="1874520"/>
            <a:ext cx="6261628" cy="548640"/>
          </a:xfrm>
          <a:prstGeom prst="rect">
            <a:avLst/>
          </a:prstGeom>
          <a:noFill/>
          <a:ln/>
        </p:spPr>
        <p:txBody>
          <a:bodyPr wrap="square" lIns="0" tIns="0" rIns="0" bIns="0" rtlCol="0" anchor="ctr">
            <a:normAutofit/>
          </a:bodyPr>
          <a:lstStyle/>
          <a:p>
            <a:pPr marL="0" indent="0" algn="ctr" rtl="1">
              <a:buNone/>
            </a:pPr>
            <a:r>
              <a:rPr lang="ar-SA" altLang="en-US" sz="1900" dirty="0">
                <a:solidFill>
                  <a:srgbClr val="FFFFFF"/>
                </a:solidFill>
                <a:latin typeface="Cairo Black" pitchFamily="34" charset="0"/>
                <a:ea typeface="Cairo Black" pitchFamily="34" charset="-122"/>
                <a:cs typeface="Cairo Black" pitchFamily="34" charset="-120"/>
              </a:rPr>
              <a:t>الحل</a:t>
            </a:r>
            <a:endParaRPr lang="ar-SA" sz="1900" dirty="0"/>
          </a:p>
        </p:txBody>
      </p:sp>
      <p:sp>
        <p:nvSpPr>
          <p:cNvPr id="9" name="anim-g1-113"/>
          <p:cNvSpPr/>
          <p:nvPr/>
        </p:nvSpPr>
        <p:spPr>
          <a:xfrm>
            <a:off x="7194316" y="2514600"/>
            <a:ext cx="4174419" cy="616306"/>
          </a:xfrm>
          <a:prstGeom prst="roundRect">
            <a:avLst>
              <a:gd name="adj" fmla="val 17804"/>
            </a:avLst>
          </a:prstGeom>
          <a:solidFill>
            <a:srgbClr val="FBF3DF"/>
          </a:solidFill>
          <a:ln w="12700">
            <a:solidFill>
              <a:srgbClr val="EFDDAF"/>
            </a:solidFill>
            <a:prstDash val="solid"/>
          </a:ln>
        </p:spPr>
      </p:sp>
      <p:sp>
        <p:nvSpPr>
          <p:cNvPr id="10" name="anim-g1-114"/>
          <p:cNvSpPr/>
          <p:nvPr/>
        </p:nvSpPr>
        <p:spPr>
          <a:xfrm>
            <a:off x="7331476" y="2514600"/>
            <a:ext cx="3900099" cy="616306"/>
          </a:xfrm>
          <a:prstGeom prst="rect">
            <a:avLst/>
          </a:prstGeom>
          <a:noFill/>
          <a:ln/>
        </p:spPr>
        <p:txBody>
          <a:bodyPr wrap="square" lIns="0" tIns="0" rIns="0" bIns="0" rtlCol="0" anchor="ctr">
            <a:normAutofit/>
          </a:bodyPr>
          <a:lstStyle/>
          <a:p>
            <a:pPr marL="0" indent="0" algn="r" rtl="1">
              <a:buNone/>
            </a:pPr>
            <a:r>
              <a:rPr lang="ar-SA" altLang="en-US" sz="2100" b="1" dirty="0">
                <a:solidFill>
                  <a:srgbClr val="101B45"/>
                </a:solidFill>
                <a:latin typeface="Cairo Black" pitchFamily="34" charset="0"/>
                <a:ea typeface="Cairo Black" pitchFamily="34" charset="-122"/>
                <a:cs typeface="Cairo Black" pitchFamily="34" charset="-120"/>
              </a:rPr>
              <a:t>🎞️ الفيديو أقصر من الصوت (٢–١١ ث)</a:t>
            </a:r>
            <a:endParaRPr lang="ar-SA" sz="2100" dirty="0"/>
          </a:p>
        </p:txBody>
      </p:sp>
      <p:sp>
        <p:nvSpPr>
          <p:cNvPr id="11" name="anim-g1-115"/>
          <p:cNvSpPr/>
          <p:nvPr/>
        </p:nvSpPr>
        <p:spPr>
          <a:xfrm>
            <a:off x="822960" y="2514600"/>
            <a:ext cx="6261628" cy="616306"/>
          </a:xfrm>
          <a:prstGeom prst="roundRect">
            <a:avLst>
              <a:gd name="adj" fmla="val 17804"/>
            </a:avLst>
          </a:prstGeom>
          <a:solidFill>
            <a:srgbClr val="E6F4EC"/>
          </a:solidFill>
          <a:ln w="12700">
            <a:solidFill>
              <a:srgbClr val="CDE9D9"/>
            </a:solidFill>
            <a:prstDash val="solid"/>
          </a:ln>
        </p:spPr>
      </p:sp>
      <p:sp>
        <p:nvSpPr>
          <p:cNvPr id="12" name="anim-g1-116"/>
          <p:cNvSpPr/>
          <p:nvPr/>
        </p:nvSpPr>
        <p:spPr>
          <a:xfrm>
            <a:off x="960120" y="2514600"/>
            <a:ext cx="5987308" cy="616306"/>
          </a:xfrm>
          <a:prstGeom prst="rect">
            <a:avLst/>
          </a:prstGeom>
          <a:noFill/>
          <a:ln/>
        </p:spPr>
        <p:txBody>
          <a:bodyPr wrap="square" lIns="0" tIns="0" rIns="0" bIns="0" rtlCol="0" anchor="ctr">
            <a:normAutofit/>
          </a:bodyPr>
          <a:lstStyle/>
          <a:p>
            <a:pPr marL="0" indent="0" algn="r" rtl="1">
              <a:buNone/>
            </a:pPr>
            <a:r>
              <a:rPr lang="ar-SA" altLang="en-US" sz="2100" b="1" dirty="0">
                <a:solidFill>
                  <a:srgbClr val="1D5E40"/>
                </a:solidFill>
                <a:latin typeface="Cairo" pitchFamily="34" charset="0"/>
                <a:ea typeface="Cairo" pitchFamily="34" charset="-122"/>
                <a:cs typeface="Cairo" pitchFamily="34" charset="-120"/>
              </a:rPr>
              <a:t>تمديد كل فيديو بتجميد آخر إطار، مع حفظ النسخ الأصلية</a:t>
            </a:r>
            <a:endParaRPr lang="ar-SA" sz="2100" dirty="0"/>
          </a:p>
        </p:txBody>
      </p:sp>
      <p:sp>
        <p:nvSpPr>
          <p:cNvPr id="13" name="anim-g2-117"/>
          <p:cNvSpPr/>
          <p:nvPr/>
        </p:nvSpPr>
        <p:spPr>
          <a:xfrm>
            <a:off x="7194316" y="3240634"/>
            <a:ext cx="4174419" cy="616306"/>
          </a:xfrm>
          <a:prstGeom prst="roundRect">
            <a:avLst>
              <a:gd name="adj" fmla="val 17804"/>
            </a:avLst>
          </a:prstGeom>
          <a:solidFill>
            <a:srgbClr val="FBF3DF"/>
          </a:solidFill>
          <a:ln w="12700">
            <a:solidFill>
              <a:srgbClr val="EFDDAF"/>
            </a:solidFill>
            <a:prstDash val="solid"/>
          </a:ln>
        </p:spPr>
      </p:sp>
      <p:sp>
        <p:nvSpPr>
          <p:cNvPr id="14" name="anim-g2-118"/>
          <p:cNvSpPr/>
          <p:nvPr/>
        </p:nvSpPr>
        <p:spPr>
          <a:xfrm>
            <a:off x="7331476" y="3240634"/>
            <a:ext cx="3900099" cy="616306"/>
          </a:xfrm>
          <a:prstGeom prst="rect">
            <a:avLst/>
          </a:prstGeom>
          <a:noFill/>
          <a:ln/>
        </p:spPr>
        <p:txBody>
          <a:bodyPr wrap="square" lIns="0" tIns="0" rIns="0" bIns="0" rtlCol="0" anchor="ctr">
            <a:normAutofit/>
          </a:bodyPr>
          <a:lstStyle/>
          <a:p>
            <a:pPr marL="0" indent="0" algn="r" rtl="1">
              <a:buNone/>
            </a:pPr>
            <a:r>
              <a:rPr lang="ar-SA" altLang="en-US" sz="2100" b="1" dirty="0">
                <a:solidFill>
                  <a:srgbClr val="101B45"/>
                </a:solidFill>
                <a:latin typeface="Cairo Black" pitchFamily="34" charset="0"/>
                <a:ea typeface="Cairo Black" pitchFamily="34" charset="-122"/>
                <a:cs typeface="Cairo Black" pitchFamily="34" charset="-120"/>
              </a:rPr>
              <a:t>🌀 رسالة ضائعة = دوران زائد</a:t>
            </a:r>
            <a:endParaRPr lang="ar-SA" sz="2100" dirty="0"/>
          </a:p>
        </p:txBody>
      </p:sp>
      <p:sp>
        <p:nvSpPr>
          <p:cNvPr id="15" name="anim-g2-119"/>
          <p:cNvSpPr/>
          <p:nvPr/>
        </p:nvSpPr>
        <p:spPr>
          <a:xfrm>
            <a:off x="822960" y="3240634"/>
            <a:ext cx="6261628" cy="616306"/>
          </a:xfrm>
          <a:prstGeom prst="roundRect">
            <a:avLst>
              <a:gd name="adj" fmla="val 17804"/>
            </a:avLst>
          </a:prstGeom>
          <a:solidFill>
            <a:srgbClr val="E6F4EC"/>
          </a:solidFill>
          <a:ln w="12700">
            <a:solidFill>
              <a:srgbClr val="CDE9D9"/>
            </a:solidFill>
            <a:prstDash val="solid"/>
          </a:ln>
        </p:spPr>
      </p:sp>
      <p:sp>
        <p:nvSpPr>
          <p:cNvPr id="16" name="anim-g2-120"/>
          <p:cNvSpPr/>
          <p:nvPr/>
        </p:nvSpPr>
        <p:spPr>
          <a:xfrm>
            <a:off x="960120" y="3240634"/>
            <a:ext cx="5987308" cy="616306"/>
          </a:xfrm>
          <a:prstGeom prst="rect">
            <a:avLst/>
          </a:prstGeom>
          <a:noFill/>
          <a:ln/>
        </p:spPr>
        <p:txBody>
          <a:bodyPr wrap="square" lIns="0" tIns="0" rIns="0" bIns="0" rtlCol="0" anchor="ctr">
            <a:normAutofit/>
          </a:bodyPr>
          <a:lstStyle/>
          <a:p>
            <a:pPr marL="0" indent="0" algn="r" rtl="1">
              <a:buNone/>
            </a:pPr>
            <a:r>
              <a:rPr lang="ar-SA" altLang="en-US" sz="2100" b="1" dirty="0">
                <a:solidFill>
                  <a:srgbClr val="1D5E40"/>
                </a:solidFill>
                <a:latin typeface="Cairo" pitchFamily="34" charset="0"/>
                <a:ea typeface="Cairo" pitchFamily="34" charset="-122"/>
                <a:cs typeface="Cairo" pitchFamily="34" charset="-120"/>
              </a:rPr>
              <a:t>تشخيص من سجلات التشغيل، وحارس يوقف المنصة بعد ثانية صمت</a:t>
            </a:r>
            <a:endParaRPr lang="ar-SA" sz="2100" dirty="0"/>
          </a:p>
        </p:txBody>
      </p:sp>
      <p:sp>
        <p:nvSpPr>
          <p:cNvPr id="17" name="anim-g3-121"/>
          <p:cNvSpPr/>
          <p:nvPr/>
        </p:nvSpPr>
        <p:spPr>
          <a:xfrm>
            <a:off x="7194316" y="3966667"/>
            <a:ext cx="4174419" cy="616306"/>
          </a:xfrm>
          <a:prstGeom prst="roundRect">
            <a:avLst>
              <a:gd name="adj" fmla="val 17804"/>
            </a:avLst>
          </a:prstGeom>
          <a:solidFill>
            <a:srgbClr val="FBF3DF"/>
          </a:solidFill>
          <a:ln w="12700">
            <a:solidFill>
              <a:srgbClr val="EFDDAF"/>
            </a:solidFill>
            <a:prstDash val="solid"/>
          </a:ln>
        </p:spPr>
      </p:sp>
      <p:sp>
        <p:nvSpPr>
          <p:cNvPr id="18" name="anim-g3-122"/>
          <p:cNvSpPr/>
          <p:nvPr/>
        </p:nvSpPr>
        <p:spPr>
          <a:xfrm>
            <a:off x="7331476" y="3966667"/>
            <a:ext cx="3900099" cy="616306"/>
          </a:xfrm>
          <a:prstGeom prst="rect">
            <a:avLst/>
          </a:prstGeom>
          <a:noFill/>
          <a:ln/>
        </p:spPr>
        <p:txBody>
          <a:bodyPr wrap="square" lIns="0" tIns="0" rIns="0" bIns="0" rtlCol="0" anchor="ctr">
            <a:normAutofit/>
          </a:bodyPr>
          <a:lstStyle/>
          <a:p>
            <a:pPr marL="0" indent="0" algn="r" rtl="1">
              <a:buNone/>
            </a:pPr>
            <a:r>
              <a:rPr lang="ar-SA" altLang="en-US" sz="2100" b="1" dirty="0">
                <a:solidFill>
                  <a:srgbClr val="101B45"/>
                </a:solidFill>
                <a:latin typeface="Cairo Black" pitchFamily="34" charset="0"/>
                <a:ea typeface="Cairo Black" pitchFamily="34" charset="-122"/>
                <a:cs typeface="Cairo Black" pitchFamily="34" charset="-120"/>
              </a:rPr>
              <a:t>👁️ مؤشرات البؤبؤ معكوسة</a:t>
            </a:r>
            <a:endParaRPr lang="ar-SA" sz="2100" dirty="0"/>
          </a:p>
        </p:txBody>
      </p:sp>
      <p:sp>
        <p:nvSpPr>
          <p:cNvPr id="19" name="anim-g3-123"/>
          <p:cNvSpPr/>
          <p:nvPr/>
        </p:nvSpPr>
        <p:spPr>
          <a:xfrm>
            <a:off x="822960" y="3966667"/>
            <a:ext cx="6261628" cy="616306"/>
          </a:xfrm>
          <a:prstGeom prst="roundRect">
            <a:avLst>
              <a:gd name="adj" fmla="val 17804"/>
            </a:avLst>
          </a:prstGeom>
          <a:solidFill>
            <a:srgbClr val="E6F4EC"/>
          </a:solidFill>
          <a:ln w="12700">
            <a:solidFill>
              <a:srgbClr val="CDE9D9"/>
            </a:solidFill>
            <a:prstDash val="solid"/>
          </a:ln>
        </p:spPr>
      </p:sp>
      <p:sp>
        <p:nvSpPr>
          <p:cNvPr id="20" name="anim-g3-124"/>
          <p:cNvSpPr/>
          <p:nvPr/>
        </p:nvSpPr>
        <p:spPr>
          <a:xfrm>
            <a:off x="960120" y="3966667"/>
            <a:ext cx="5987308" cy="616306"/>
          </a:xfrm>
          <a:prstGeom prst="rect">
            <a:avLst/>
          </a:prstGeom>
          <a:noFill/>
          <a:ln/>
        </p:spPr>
        <p:txBody>
          <a:bodyPr wrap="square" lIns="0" tIns="0" rIns="0" bIns="0" rtlCol="0" anchor="ctr">
            <a:normAutofit/>
          </a:bodyPr>
          <a:lstStyle/>
          <a:p>
            <a:pPr marL="0" indent="0" algn="r" rtl="1">
              <a:buNone/>
            </a:pPr>
            <a:r>
              <a:rPr lang="ar-SA" altLang="en-US" sz="2100" b="1" dirty="0">
                <a:solidFill>
                  <a:srgbClr val="1D5E40"/>
                </a:solidFill>
                <a:latin typeface="Cairo" pitchFamily="34" charset="0"/>
                <a:ea typeface="Cairo" pitchFamily="34" charset="-122"/>
                <a:cs typeface="Cairo" pitchFamily="34" charset="-120"/>
              </a:rPr>
              <a:t>التحقق بالإحداثيات الخام بدل الثقة بالمصادر الشائعة</a:t>
            </a:r>
            <a:endParaRPr lang="ar-SA" sz="2100" dirty="0"/>
          </a:p>
        </p:txBody>
      </p:sp>
      <p:sp>
        <p:nvSpPr>
          <p:cNvPr id="21" name="anim-g4-125"/>
          <p:cNvSpPr/>
          <p:nvPr/>
        </p:nvSpPr>
        <p:spPr>
          <a:xfrm>
            <a:off x="7194316" y="4692701"/>
            <a:ext cx="4174419" cy="616306"/>
          </a:xfrm>
          <a:prstGeom prst="roundRect">
            <a:avLst>
              <a:gd name="adj" fmla="val 17804"/>
            </a:avLst>
          </a:prstGeom>
          <a:solidFill>
            <a:srgbClr val="FBF3DF"/>
          </a:solidFill>
          <a:ln w="12700">
            <a:solidFill>
              <a:srgbClr val="EFDDAF"/>
            </a:solidFill>
            <a:prstDash val="solid"/>
          </a:ln>
        </p:spPr>
      </p:sp>
      <p:sp>
        <p:nvSpPr>
          <p:cNvPr id="22" name="anim-g4-126"/>
          <p:cNvSpPr/>
          <p:nvPr/>
        </p:nvSpPr>
        <p:spPr>
          <a:xfrm>
            <a:off x="7331476" y="4692701"/>
            <a:ext cx="3900099" cy="616306"/>
          </a:xfrm>
          <a:prstGeom prst="rect">
            <a:avLst/>
          </a:prstGeom>
          <a:noFill/>
          <a:ln/>
        </p:spPr>
        <p:txBody>
          <a:bodyPr wrap="square" lIns="0" tIns="0" rIns="0" bIns="0" rtlCol="0" anchor="ctr">
            <a:normAutofit/>
          </a:bodyPr>
          <a:lstStyle/>
          <a:p>
            <a:pPr marL="0" indent="0" algn="r" rtl="1">
              <a:buNone/>
            </a:pPr>
            <a:r>
              <a:rPr lang="ar-SA" altLang="en-US" sz="2100" b="1" dirty="0">
                <a:solidFill>
                  <a:srgbClr val="101B45"/>
                </a:solidFill>
                <a:latin typeface="Cairo Black" pitchFamily="34" charset="0"/>
                <a:ea typeface="Cairo Black" pitchFamily="34" charset="-122"/>
                <a:cs typeface="Cairo Black" pitchFamily="34" charset="-120"/>
              </a:rPr>
              <a:t>🔈 صوت خافت جدًا</a:t>
            </a:r>
            <a:endParaRPr lang="ar-SA" sz="2100" dirty="0"/>
          </a:p>
        </p:txBody>
      </p:sp>
      <p:sp>
        <p:nvSpPr>
          <p:cNvPr id="23" name="anim-g4-127"/>
          <p:cNvSpPr/>
          <p:nvPr/>
        </p:nvSpPr>
        <p:spPr>
          <a:xfrm>
            <a:off x="822960" y="4692701"/>
            <a:ext cx="6261628" cy="616306"/>
          </a:xfrm>
          <a:prstGeom prst="roundRect">
            <a:avLst>
              <a:gd name="adj" fmla="val 17804"/>
            </a:avLst>
          </a:prstGeom>
          <a:solidFill>
            <a:srgbClr val="E6F4EC"/>
          </a:solidFill>
          <a:ln w="12700">
            <a:solidFill>
              <a:srgbClr val="CDE9D9"/>
            </a:solidFill>
            <a:prstDash val="solid"/>
          </a:ln>
        </p:spPr>
      </p:sp>
      <p:sp>
        <p:nvSpPr>
          <p:cNvPr id="24" name="anim-g4-128"/>
          <p:cNvSpPr/>
          <p:nvPr/>
        </p:nvSpPr>
        <p:spPr>
          <a:xfrm>
            <a:off x="960120" y="4692701"/>
            <a:ext cx="5987308" cy="616306"/>
          </a:xfrm>
          <a:prstGeom prst="rect">
            <a:avLst/>
          </a:prstGeom>
          <a:noFill/>
          <a:ln/>
        </p:spPr>
        <p:txBody>
          <a:bodyPr wrap="square" lIns="0" tIns="0" rIns="0" bIns="0" rtlCol="0" anchor="ctr">
            <a:normAutofit/>
          </a:bodyPr>
          <a:lstStyle/>
          <a:p>
            <a:pPr marL="0" indent="0" algn="r" rtl="1">
              <a:buNone/>
            </a:pPr>
            <a:r>
              <a:rPr lang="ar-SA" altLang="en-US" sz="2100" b="1" dirty="0">
                <a:solidFill>
                  <a:srgbClr val="1D5E40"/>
                </a:solidFill>
                <a:latin typeface="Cairo" pitchFamily="34" charset="0"/>
                <a:ea typeface="Cairo" pitchFamily="34" charset="-122"/>
                <a:cs typeface="Cairo" pitchFamily="34" charset="-120"/>
              </a:rPr>
              <a:t>رفع الصوت من PipeWire ومن المشغّل معًا</a:t>
            </a:r>
            <a:endParaRPr lang="ar-SA" sz="2100" dirty="0"/>
          </a:p>
        </p:txBody>
      </p:sp>
      <p:sp>
        <p:nvSpPr>
          <p:cNvPr id="25" name="anim-g5-129"/>
          <p:cNvSpPr/>
          <p:nvPr/>
        </p:nvSpPr>
        <p:spPr>
          <a:xfrm>
            <a:off x="7194316" y="5418734"/>
            <a:ext cx="4174419" cy="616306"/>
          </a:xfrm>
          <a:prstGeom prst="roundRect">
            <a:avLst>
              <a:gd name="adj" fmla="val 17804"/>
            </a:avLst>
          </a:prstGeom>
          <a:solidFill>
            <a:srgbClr val="FBF3DF"/>
          </a:solidFill>
          <a:ln w="12700">
            <a:solidFill>
              <a:srgbClr val="EFDDAF"/>
            </a:solidFill>
            <a:prstDash val="solid"/>
          </a:ln>
        </p:spPr>
      </p:sp>
      <p:sp>
        <p:nvSpPr>
          <p:cNvPr id="26" name="anim-g5-130"/>
          <p:cNvSpPr/>
          <p:nvPr/>
        </p:nvSpPr>
        <p:spPr>
          <a:xfrm>
            <a:off x="7331476" y="5418734"/>
            <a:ext cx="3900099" cy="616306"/>
          </a:xfrm>
          <a:prstGeom prst="rect">
            <a:avLst/>
          </a:prstGeom>
          <a:noFill/>
          <a:ln/>
        </p:spPr>
        <p:txBody>
          <a:bodyPr wrap="square" lIns="0" tIns="0" rIns="0" bIns="0" rtlCol="0" anchor="ctr">
            <a:normAutofit/>
          </a:bodyPr>
          <a:lstStyle/>
          <a:p>
            <a:pPr marL="0" indent="0" algn="r" rtl="1">
              <a:buNone/>
            </a:pPr>
            <a:r>
              <a:rPr lang="ar-SA" altLang="en-US" sz="2100" b="1" dirty="0">
                <a:solidFill>
                  <a:srgbClr val="101B45"/>
                </a:solidFill>
                <a:latin typeface="Cairo Black" pitchFamily="34" charset="0"/>
                <a:ea typeface="Cairo Black" pitchFamily="34" charset="-122"/>
                <a:cs typeface="Cairo Black" pitchFamily="34" charset="-120"/>
              </a:rPr>
              <a:t>🔑 نسيان كلمة مرور الراسبيري</a:t>
            </a:r>
            <a:endParaRPr lang="ar-SA" sz="2100" dirty="0"/>
          </a:p>
        </p:txBody>
      </p:sp>
      <p:sp>
        <p:nvSpPr>
          <p:cNvPr id="27" name="anim-g5-131"/>
          <p:cNvSpPr/>
          <p:nvPr/>
        </p:nvSpPr>
        <p:spPr>
          <a:xfrm>
            <a:off x="822960" y="5418734"/>
            <a:ext cx="6261628" cy="616306"/>
          </a:xfrm>
          <a:prstGeom prst="roundRect">
            <a:avLst>
              <a:gd name="adj" fmla="val 17804"/>
            </a:avLst>
          </a:prstGeom>
          <a:solidFill>
            <a:srgbClr val="E6F4EC"/>
          </a:solidFill>
          <a:ln w="12700">
            <a:solidFill>
              <a:srgbClr val="CDE9D9"/>
            </a:solidFill>
            <a:prstDash val="solid"/>
          </a:ln>
        </p:spPr>
      </p:sp>
      <p:sp>
        <p:nvSpPr>
          <p:cNvPr id="28" name="anim-g5-132"/>
          <p:cNvSpPr/>
          <p:nvPr/>
        </p:nvSpPr>
        <p:spPr>
          <a:xfrm>
            <a:off x="960120" y="5418734"/>
            <a:ext cx="5987308" cy="616306"/>
          </a:xfrm>
          <a:prstGeom prst="rect">
            <a:avLst/>
          </a:prstGeom>
          <a:noFill/>
          <a:ln/>
        </p:spPr>
        <p:txBody>
          <a:bodyPr wrap="square" lIns="0" tIns="0" rIns="0" bIns="0" rtlCol="0" anchor="ctr">
            <a:normAutofit/>
          </a:bodyPr>
          <a:lstStyle/>
          <a:p>
            <a:pPr marL="0" indent="0" algn="r" rtl="1">
              <a:buNone/>
            </a:pPr>
            <a:r>
              <a:rPr lang="ar-SA" altLang="en-US" sz="2100" b="1" dirty="0">
                <a:solidFill>
                  <a:srgbClr val="1D5E40"/>
                </a:solidFill>
                <a:latin typeface="Cairo" pitchFamily="34" charset="0"/>
                <a:ea typeface="Cairo" pitchFamily="34" charset="-122"/>
                <a:cs typeface="Cairo" pitchFamily="34" charset="-120"/>
              </a:rPr>
              <a:t>إعادة ضبطها من بطاقة الذاكرة دون فقد أي ملف</a:t>
            </a:r>
            <a:endParaRPr lang="ar-SA" sz="2100" dirty="0"/>
          </a:p>
        </p:txBody>
      </p:sp>
      <p:sp>
        <p:nvSpPr>
          <p:cNvPr id="29" name="Text 27"/>
          <p:cNvSpPr/>
          <p:nvPr/>
        </p:nvSpPr>
        <p:spPr>
          <a:xfrm>
            <a:off x="7711135" y="6355080"/>
            <a:ext cx="3657600" cy="320040"/>
          </a:xfrm>
          <a:prstGeom prst="rect">
            <a:avLst/>
          </a:prstGeom>
          <a:noFill/>
          <a:ln/>
        </p:spPr>
        <p:txBody>
          <a:bodyPr wrap="square" lIns="0" tIns="0" rIns="0" bIns="0" rtlCol="0" anchor="ctr">
            <a:normAutofit/>
          </a:bodyPr>
          <a:lstStyle/>
          <a:p>
            <a:pPr marL="0" indent="0" algn="r">
              <a:buNone/>
            </a:pPr>
            <a:r>
              <a:rPr lang="ar-SA" altLang="en-US" sz="1200" b="1" dirty="0">
                <a:solidFill>
                  <a:srgbClr val="5E6782"/>
                </a:solidFill>
                <a:latin typeface="Cairo" pitchFamily="34" charset="0"/>
                <a:ea typeface="Cairo" pitchFamily="34" charset="-122"/>
                <a:cs typeface="Cairo" pitchFamily="34" charset="-120"/>
              </a:rPr>
              <a:t>🌳 </a:t>
            </a:r>
            <a:r>
              <a:rPr lang="ar-SA" altLang="en-US" sz="1200" b="1" dirty="0">
                <a:solidFill>
                  <a:srgbClr val="D9AE4B"/>
                </a:solidFill>
                <a:latin typeface="Cairo" pitchFamily="34" charset="0"/>
                <a:ea typeface="Cairo" pitchFamily="34" charset="-122"/>
                <a:cs typeface="Cairo" pitchFamily="34" charset="-120"/>
              </a:rPr>
              <a:t>جذور</a:t>
            </a:r>
            <a:r>
              <a:rPr lang="ar-SA" altLang="en-US" sz="1200" b="1" dirty="0">
                <a:solidFill>
                  <a:srgbClr val="5E6782"/>
                </a:solidFill>
                <a:latin typeface="Cairo" pitchFamily="34" charset="0"/>
                <a:ea typeface="Cairo" pitchFamily="34" charset="-122"/>
                <a:cs typeface="Cairo" pitchFamily="34" charset="-120"/>
              </a:rPr>
              <a:t> · لمسة تراث</a:t>
            </a:r>
            <a:endParaRPr lang="ar-SA" sz="1200" dirty="0"/>
          </a:p>
        </p:txBody>
      </p:sp>
      <p:sp>
        <p:nvSpPr>
          <p:cNvPr id="30" name="Text 28"/>
          <p:cNvSpPr/>
          <p:nvPr/>
        </p:nvSpPr>
        <p:spPr>
          <a:xfrm>
            <a:off x="822960" y="6355080"/>
            <a:ext cx="4572000" cy="320040"/>
          </a:xfrm>
          <a:prstGeom prst="rect">
            <a:avLst/>
          </a:prstGeom>
          <a:noFill/>
          <a:ln/>
        </p:spPr>
        <p:txBody>
          <a:bodyPr wrap="square" lIns="0" tIns="0" rIns="0" bIns="0" rtlCol="0" anchor="ctr">
            <a:normAutofit/>
          </a:bodyPr>
          <a:lstStyle/>
          <a:p>
            <a:pPr marL="0" indent="0" algn="l" rtl="1">
              <a:buNone/>
            </a:pPr>
            <a:r>
              <a:rPr lang="ar-SA" altLang="en-US" sz="1200" b="1" dirty="0">
                <a:solidFill>
                  <a:srgbClr val="5E6782"/>
                </a:solidFill>
                <a:latin typeface="Cairo" pitchFamily="34" charset="0"/>
                <a:ea typeface="Cairo" pitchFamily="34" charset="-122"/>
                <a:cs typeface="Cairo" pitchFamily="34" charset="-120"/>
              </a:rPr>
              <a:t>🏆 التحديات  ·  ٢٦</a:t>
            </a:r>
            <a:endParaRPr lang="ar-SA"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0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400"/>
                                        <p:tgtEl>
                                          <p:spTgt spid="12"/>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13"/>
                                        </p:tgtEl>
                                        <p:attrNameLst>
                                          <p:attrName>style.visibility</p:attrName>
                                        </p:attrNameLst>
                                      </p:cBhvr>
                                      <p:to>
                                        <p:strVal val="visible"/>
                                      </p:to>
                                    </p:set>
                                    <p:animEffect transition="in" filter="fade">
                                      <p:cBhvr>
                                        <p:cTn id="21" dur="400"/>
                                        <p:tgtEl>
                                          <p:spTgt spid="13"/>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4"/>
                                        </p:tgtEl>
                                        <p:attrNameLst>
                                          <p:attrName>style.visibility</p:attrName>
                                        </p:attrNameLst>
                                      </p:cBhvr>
                                      <p:to>
                                        <p:strVal val="visible"/>
                                      </p:to>
                                    </p:set>
                                    <p:animEffect transition="in" filter="fade">
                                      <p:cBhvr>
                                        <p:cTn id="24" dur="400"/>
                                        <p:tgtEl>
                                          <p:spTgt spid="14"/>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5"/>
                                        </p:tgtEl>
                                        <p:attrNameLst>
                                          <p:attrName>style.visibility</p:attrName>
                                        </p:attrNameLst>
                                      </p:cBhvr>
                                      <p:to>
                                        <p:strVal val="visible"/>
                                      </p:to>
                                    </p:set>
                                    <p:animEffect transition="in" filter="fade">
                                      <p:cBhvr>
                                        <p:cTn id="27" dur="400"/>
                                        <p:tgtEl>
                                          <p:spTgt spid="15"/>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6"/>
                                        </p:tgtEl>
                                        <p:attrNameLst>
                                          <p:attrName>style.visibility</p:attrName>
                                        </p:attrNameLst>
                                      </p:cBhvr>
                                      <p:to>
                                        <p:strVal val="visible"/>
                                      </p:to>
                                    </p:set>
                                    <p:animEffect transition="in" filter="fade">
                                      <p:cBhvr>
                                        <p:cTn id="30" dur="400"/>
                                        <p:tgtEl>
                                          <p:spTgt spid="16"/>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17"/>
                                        </p:tgtEl>
                                        <p:attrNameLst>
                                          <p:attrName>style.visibility</p:attrName>
                                        </p:attrNameLst>
                                      </p:cBhvr>
                                      <p:to>
                                        <p:strVal val="visible"/>
                                      </p:to>
                                    </p:set>
                                    <p:animEffect transition="in" filter="fade">
                                      <p:cBhvr>
                                        <p:cTn id="35" dur="400"/>
                                        <p:tgtEl>
                                          <p:spTgt spid="17"/>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8"/>
                                        </p:tgtEl>
                                        <p:attrNameLst>
                                          <p:attrName>style.visibility</p:attrName>
                                        </p:attrNameLst>
                                      </p:cBhvr>
                                      <p:to>
                                        <p:strVal val="visible"/>
                                      </p:to>
                                    </p:set>
                                    <p:animEffect transition="in" filter="fade">
                                      <p:cBhvr>
                                        <p:cTn id="38" dur="400"/>
                                        <p:tgtEl>
                                          <p:spTgt spid="18"/>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9"/>
                                        </p:tgtEl>
                                        <p:attrNameLst>
                                          <p:attrName>style.visibility</p:attrName>
                                        </p:attrNameLst>
                                      </p:cBhvr>
                                      <p:to>
                                        <p:strVal val="visible"/>
                                      </p:to>
                                    </p:set>
                                    <p:animEffect transition="in" filter="fade">
                                      <p:cBhvr>
                                        <p:cTn id="41" dur="400"/>
                                        <p:tgtEl>
                                          <p:spTgt spid="19"/>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21"/>
                                        </p:tgtEl>
                                        <p:attrNameLst>
                                          <p:attrName>style.visibility</p:attrName>
                                        </p:attrNameLst>
                                      </p:cBhvr>
                                      <p:to>
                                        <p:strVal val="visible"/>
                                      </p:to>
                                    </p:set>
                                    <p:animEffect transition="in" filter="fade">
                                      <p:cBhvr>
                                        <p:cTn id="49" dur="400"/>
                                        <p:tgtEl>
                                          <p:spTgt spid="21"/>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22"/>
                                        </p:tgtEl>
                                        <p:attrNameLst>
                                          <p:attrName>style.visibility</p:attrName>
                                        </p:attrNameLst>
                                      </p:cBhvr>
                                      <p:to>
                                        <p:strVal val="visible"/>
                                      </p:to>
                                    </p:set>
                                    <p:animEffect transition="in" filter="fade">
                                      <p:cBhvr>
                                        <p:cTn id="52" dur="400"/>
                                        <p:tgtEl>
                                          <p:spTgt spid="22"/>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3"/>
                                        </p:tgtEl>
                                        <p:attrNameLst>
                                          <p:attrName>style.visibility</p:attrName>
                                        </p:attrNameLst>
                                      </p:cBhvr>
                                      <p:to>
                                        <p:strVal val="visible"/>
                                      </p:to>
                                    </p:set>
                                    <p:animEffect transition="in" filter="fade">
                                      <p:cBhvr>
                                        <p:cTn id="55" dur="400"/>
                                        <p:tgtEl>
                                          <p:spTgt spid="23"/>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24"/>
                                        </p:tgtEl>
                                        <p:attrNameLst>
                                          <p:attrName>style.visibility</p:attrName>
                                        </p:attrNameLst>
                                      </p:cBhvr>
                                      <p:to>
                                        <p:strVal val="visible"/>
                                      </p:to>
                                    </p:set>
                                    <p:animEffect transition="in" filter="fade">
                                      <p:cBhvr>
                                        <p:cTn id="58" dur="400"/>
                                        <p:tgtEl>
                                          <p:spTgt spid="24"/>
                                        </p:tgtEl>
                                      </p:cBhvr>
                                    </p:animEffect>
                                  </p:childTnLst>
                                </p:cTn>
                              </p:par>
                            </p:childTnLst>
                          </p:cTn>
                        </p:par>
                      </p:childTnLst>
                    </p:cTn>
                  </p:par>
                  <p:par>
                    <p:cTn id="59" fill="hold">
                      <p:stCondLst>
                        <p:cond delay="indefinite"/>
                      </p:stCondLst>
                      <p:childTnLst>
                        <p:par>
                          <p:cTn id="60" fill="hold">
                            <p:stCondLst>
                              <p:cond delay="0"/>
                            </p:stCondLst>
                            <p:childTnLst>
                              <p:par>
                                <p:cTn id="61" presetID="10" presetClass="entr" presetSubtype="0" fill="hold" grpId="0" nodeType="clickEffect">
                                  <p:stCondLst>
                                    <p:cond delay="0"/>
                                  </p:stCondLst>
                                  <p:childTnLst>
                                    <p:set>
                                      <p:cBhvr>
                                        <p:cTn id="62" dur="1" fill="hold">
                                          <p:stCondLst>
                                            <p:cond delay="0"/>
                                          </p:stCondLst>
                                        </p:cTn>
                                        <p:tgtEl>
                                          <p:spTgt spid="25"/>
                                        </p:tgtEl>
                                        <p:attrNameLst>
                                          <p:attrName>style.visibility</p:attrName>
                                        </p:attrNameLst>
                                      </p:cBhvr>
                                      <p:to>
                                        <p:strVal val="visible"/>
                                      </p:to>
                                    </p:set>
                                    <p:animEffect transition="in" filter="fade">
                                      <p:cBhvr>
                                        <p:cTn id="63" dur="400"/>
                                        <p:tgtEl>
                                          <p:spTgt spid="25"/>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6"/>
                                        </p:tgtEl>
                                        <p:attrNameLst>
                                          <p:attrName>style.visibility</p:attrName>
                                        </p:attrNameLst>
                                      </p:cBhvr>
                                      <p:to>
                                        <p:strVal val="visible"/>
                                      </p:to>
                                    </p:set>
                                    <p:animEffect transition="in" filter="fade">
                                      <p:cBhvr>
                                        <p:cTn id="66" dur="400"/>
                                        <p:tgtEl>
                                          <p:spTgt spid="26"/>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27"/>
                                        </p:tgtEl>
                                        <p:attrNameLst>
                                          <p:attrName>style.visibility</p:attrName>
                                        </p:attrNameLst>
                                      </p:cBhvr>
                                      <p:to>
                                        <p:strVal val="visible"/>
                                      </p:to>
                                    </p:set>
                                    <p:animEffect transition="in" filter="fade">
                                      <p:cBhvr>
                                        <p:cTn id="69" dur="400"/>
                                        <p:tgtEl>
                                          <p:spTgt spid="27"/>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28"/>
                                        </p:tgtEl>
                                        <p:attrNameLst>
                                          <p:attrName>style.visibility</p:attrName>
                                        </p:attrNameLst>
                                      </p:cBhvr>
                                      <p:to>
                                        <p:strVal val="visible"/>
                                      </p:to>
                                    </p:set>
                                    <p:animEffect transition="in" filter="fade">
                                      <p:cBhvr>
                                        <p:cTn id="72"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Lst>
  </p:timing>
</p:sld>
</file>

<file path=ppt/slides/slide27.xml><?xml version="1.0" encoding="utf-8"?>
<p:sld xmlns:a="http://schemas.openxmlformats.org/drawingml/2006/main" xmlns:r="http://schemas.openxmlformats.org/officeDocument/2006/relationships" xmlns:p="http://schemas.openxmlformats.org/presentationml/2006/main">
  <p:cSld name="Slide 27">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5615788" y="914400"/>
            <a:ext cx="960120" cy="960120"/>
          </a:xfrm>
          <a:prstGeom prst="roundRect">
            <a:avLst>
              <a:gd name="adj" fmla="val 26667"/>
            </a:avLst>
          </a:prstGeom>
          <a:solidFill>
            <a:srgbClr val="D9AE4B"/>
          </a:solidFill>
          <a:ln/>
        </p:spPr>
      </p:sp>
      <p:sp>
        <p:nvSpPr>
          <p:cNvPr id="3" name="Text 1"/>
          <p:cNvSpPr/>
          <p:nvPr/>
        </p:nvSpPr>
        <p:spPr>
          <a:xfrm>
            <a:off x="5615788" y="914400"/>
            <a:ext cx="960120" cy="960120"/>
          </a:xfrm>
          <a:prstGeom prst="rect">
            <a:avLst/>
          </a:prstGeom>
          <a:noFill/>
          <a:ln/>
        </p:spPr>
        <p:txBody>
          <a:bodyPr wrap="square" lIns="0" tIns="0" rIns="0" bIns="0" rtlCol="0" anchor="ctr">
            <a:normAutofit/>
          </a:bodyPr>
          <a:lstStyle/>
          <a:p>
            <a:pPr marL="0" indent="0" algn="ctr" rtl="1">
              <a:buNone/>
            </a:pPr>
            <a:r>
              <a:rPr lang="ar-SA" altLang="en-US" sz="4400" dirty="0">
                <a:solidFill>
                  <a:srgbClr val="131B34"/>
                </a:solidFill>
                <a:latin typeface="Cairo" pitchFamily="34" charset="0"/>
                <a:ea typeface="Cairo" pitchFamily="34" charset="-122"/>
                <a:cs typeface="Cairo" pitchFamily="34" charset="-120"/>
              </a:rPr>
              <a:t>🌳</a:t>
            </a:r>
            <a:endParaRPr lang="ar-SA" sz="4400" dirty="0"/>
          </a:p>
        </p:txBody>
      </p:sp>
      <p:sp>
        <p:nvSpPr>
          <p:cNvPr id="4" name="Text 2"/>
          <p:cNvSpPr/>
          <p:nvPr/>
        </p:nvSpPr>
        <p:spPr>
          <a:xfrm>
            <a:off x="0" y="2194560"/>
            <a:ext cx="12191695" cy="1280160"/>
          </a:xfrm>
          <a:prstGeom prst="rect">
            <a:avLst/>
          </a:prstGeom>
          <a:noFill/>
          <a:ln/>
        </p:spPr>
        <p:txBody>
          <a:bodyPr wrap="square" lIns="0" tIns="0" rIns="0" bIns="0" rtlCol="0" anchor="ctr">
            <a:normAutofit/>
          </a:bodyPr>
          <a:lstStyle/>
          <a:p>
            <a:pPr marL="0" indent="0" algn="ctr" rtl="1">
              <a:buNone/>
            </a:pPr>
            <a:r>
              <a:rPr lang="ar-SA" altLang="en-US" sz="8000" dirty="0">
                <a:solidFill>
                  <a:srgbClr val="FFF3D6"/>
                </a:solidFill>
                <a:latin typeface="Cairo Black" pitchFamily="34" charset="0"/>
                <a:ea typeface="Cairo Black" pitchFamily="34" charset="-122"/>
                <a:cs typeface="Cairo Black" pitchFamily="34" charset="-120"/>
              </a:rPr>
              <a:t>شكرًا لكم</a:t>
            </a:r>
            <a:endParaRPr lang="ar-SA" sz="8000" dirty="0"/>
          </a:p>
        </p:txBody>
      </p:sp>
      <p:sp>
        <p:nvSpPr>
          <p:cNvPr id="5" name="Text 3"/>
          <p:cNvSpPr/>
          <p:nvPr/>
        </p:nvSpPr>
        <p:spPr>
          <a:xfrm>
            <a:off x="0" y="3566160"/>
            <a:ext cx="12191695" cy="640080"/>
          </a:xfrm>
          <a:prstGeom prst="rect">
            <a:avLst/>
          </a:prstGeom>
          <a:noFill/>
          <a:ln/>
        </p:spPr>
        <p:txBody>
          <a:bodyPr wrap="square" lIns="0" tIns="0" rIns="0" bIns="0" rtlCol="0" anchor="ctr">
            <a:normAutofit/>
          </a:bodyPr>
          <a:lstStyle/>
          <a:p>
            <a:pPr marL="0" indent="0" algn="ctr" rtl="1">
              <a:buNone/>
            </a:pPr>
            <a:r>
              <a:rPr lang="ar-SA" altLang="en-US" sz="2800" b="1" dirty="0">
                <a:solidFill>
                  <a:srgbClr val="FFFFFF"/>
                </a:solidFill>
                <a:latin typeface="Cairo" pitchFamily="34" charset="0"/>
                <a:ea typeface="Cairo" pitchFamily="34" charset="-122"/>
                <a:cs typeface="Cairo" pitchFamily="34" charset="-120"/>
              </a:rPr>
              <a:t>ننظر إلى الماضي… بعين المستقبل</a:t>
            </a:r>
            <a:endParaRPr lang="ar-SA" sz="2800" dirty="0"/>
          </a:p>
        </p:txBody>
      </p:sp>
      <p:sp>
        <p:nvSpPr>
          <p:cNvPr id="6" name="Shape 4"/>
          <p:cNvSpPr/>
          <p:nvPr/>
        </p:nvSpPr>
        <p:spPr>
          <a:xfrm>
            <a:off x="5364328" y="4434840"/>
            <a:ext cx="1463040" cy="36576"/>
          </a:xfrm>
          <a:prstGeom prst="rect">
            <a:avLst/>
          </a:prstGeom>
          <a:solidFill>
            <a:srgbClr val="D9AE4B"/>
          </a:solidFill>
          <a:ln/>
        </p:spPr>
      </p:sp>
      <p:sp>
        <p:nvSpPr>
          <p:cNvPr id="7" name="Text 5"/>
          <p:cNvSpPr/>
          <p:nvPr/>
        </p:nvSpPr>
        <p:spPr>
          <a:xfrm>
            <a:off x="0" y="4846320"/>
            <a:ext cx="12191695" cy="457200"/>
          </a:xfrm>
          <a:prstGeom prst="rect">
            <a:avLst/>
          </a:prstGeom>
          <a:noFill/>
          <a:ln/>
        </p:spPr>
        <p:txBody>
          <a:bodyPr wrap="square" lIns="0" tIns="0" rIns="0" bIns="0" rtlCol="0" anchor="ctr">
            <a:normAutofit/>
          </a:bodyPr>
          <a:lstStyle/>
          <a:p>
            <a:pPr marL="0" indent="0" algn="ctr" rtl="1">
              <a:buNone/>
            </a:pPr>
            <a:r>
              <a:rPr lang="ar-SA" altLang="en-US" sz="1800" b="1" dirty="0">
                <a:solidFill>
                  <a:srgbClr val="C9CFE6"/>
                </a:solidFill>
                <a:latin typeface="Cairo" pitchFamily="34" charset="0"/>
                <a:ea typeface="Cairo" pitchFamily="34" charset="-122"/>
                <a:cs typeface="Cairo" pitchFamily="34" charset="-120"/>
              </a:rPr>
              <a:t>لمسة تراث · إعداد وتقديم: فريق al arqam innovators · مدارس الأرقم</a:t>
            </a:r>
            <a:endParaRPr lang="ar-SA"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نسق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1891</Words>
  <Application>Microsoft Office PowerPoint</Application>
  <PresentationFormat>شاشة عريضة</PresentationFormat>
  <Paragraphs>129</Paragraphs>
  <Slides>27</Slides>
  <Notes>27</Notes>
  <HiddenSlides>0</HiddenSlides>
  <MMClips>6</MMClips>
  <ScaleCrop>false</ScaleCrop>
  <HeadingPairs>
    <vt:vector size="6" baseType="variant">
      <vt:variant>
        <vt:lpstr>الخطوط المستخدمة</vt:lpstr>
      </vt:variant>
      <vt:variant>
        <vt:i4>3</vt:i4>
      </vt:variant>
      <vt:variant>
        <vt:lpstr>نسق</vt:lpstr>
      </vt:variant>
      <vt:variant>
        <vt:i4>1</vt:i4>
      </vt:variant>
      <vt:variant>
        <vt:lpstr>عناوين الشرائح</vt:lpstr>
      </vt:variant>
      <vt:variant>
        <vt:i4>27</vt:i4>
      </vt:variant>
    </vt:vector>
  </HeadingPairs>
  <TitlesOfParts>
    <vt:vector size="31" baseType="lpstr">
      <vt:lpstr>Arial</vt:lpstr>
      <vt:lpstr>Cairo</vt:lpstr>
      <vt:lpstr>Cairo Black</vt:lpstr>
      <vt:lpstr>Office Theme</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lpstr>عرض تقديمي في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لمسة تراث</dc:title>
  <dc:subject>PptxGenJS Presentation</dc:subject>
  <dc:creator>فريق al arqam innovators · مدارس الأرقم</dc:creator>
  <cp:lastModifiedBy>user</cp:lastModifiedBy>
  <cp:revision>4</cp:revision>
  <dcterms:created xsi:type="dcterms:W3CDTF">2026-10-09T18:17:01Z</dcterms:created>
  <dcterms:modified xsi:type="dcterms:W3CDTF">2026-10-09T21:31:06Z</dcterms:modified>
</cp:coreProperties>
</file>