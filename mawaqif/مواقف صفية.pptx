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Lst>
  <p:notesMasterIdLst>
    <p:notesMasterId r:id="rId20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notesMaster" Target="notesMasters/notesMaster1.xml"/><Relationship Id="rId206" Type="http://schemas.openxmlformats.org/officeDocument/2006/relationships/presProps" Target="presProps.xml"/><Relationship Id="rId207" Type="http://schemas.openxmlformats.org/officeDocument/2006/relationships/viewProps" Target="viewProps.xml"/><Relationship Id="rId208" Type="http://schemas.openxmlformats.org/officeDocument/2006/relationships/theme" Target="theme/theme1.xml"/><Relationship Id="rId20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بالحضور بأسمائهم إن أمكن. لا تبدأ بالتعريف بنفسك مباشرة؛ اترك الشريحة ثوانيَ حتى يهدأ الجميع، ثم قل: «كلّنا مرّ بموقف صفي خرجنا منه نقول: ليتني تصرّفت بطريقة أخرى… هذه الدورة عن تلك اللحظة».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بنفسك في أقل من دقيقة. الأهم: «أنا زميل مرّ بكل موقف ستسمعونه اليوم، ولست محاضرًا يتكلم من الكتب».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«من منكم حضر دورة في إدارة الصف وخرج منها بكلام جميل لم يستطع تطبيقه؟» — ستُرفع أيدٍ كثيرة. قل: «اليوم مختلف: كل موقف سنخرج منه بالجملة التي تقولها، والخطوة التي تفعلها».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المحطة ليست وعظًا منفصلًا عن الدورة؛ هي أساسها. المعلم الذي يرى طالبه أمانة يدعو له، يتعامل معه بطريقة مختلفة تمامًا عن المعلم الذي يراه «مشكلة».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الحديث بهدوء، ثم اسأل: «بماذا نويت حين خرجت من بيتك صباح اليوم إلى المدرسة؟». دع السؤال معلّقًا ثواني.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علّق: «حين يضايقك طالب في الحصة الأخيرة وأنت متعب… تذكّر أن الحوت في البحر يدعو لك الآن». هذه الجملة تغيّر المزاج في القاعة.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اقترح عليهم عادة بسيطة: قبل أن تفتح باب الفصل، توقف ثلاث ثوانٍ وجدّد نية واحدة من الثلاث.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ابن عباس كان صبيًا صغيرًا. لاحظ: ضمّه (قرب جسدي آمن)، ثم دعا له بصوت يسمعه. فصار ابن عباس «ترجمان القرآن». دعوة واحدة سمعها صبي… صنعت عالمًا.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يقول إحدى الجمل لزميله بجانبه بصوت مسموع. سيضحكون قليلًا ثم يشعرون بأثرها فعلًا.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علّق: «حين تدعو لطلابك بالصلاح والتوفيق في غيابهم… يقول الملَك: ولك بمثل. فدعاؤك لأبناء الناس يعود دعاءً لأبنائك 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أعطهم دقيقتين كاملتين بصمت. ثم قل: «ستلاحظون خلال أيام أنكم أنتم من تغيّر أولًا: صبركم، نظرتكم، نبرة صوتكم معهم… وهذا هو نصف حل المشكلة».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الآية قاعدة إدارة صفية كاملة: الغلظة لا تصنع انضباطًا، بل تصنع انفضاضًا؛ قد يبقى الطلاب في مقاعدهم، لكن قلوبهم تنفضّ عنك.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بالفصل: كم مرة أوقفنا الدرس كله لنعالج خطأ طالب أمام الجميع؟ النبي ﷺ أجّل التصحيح إلى اللحظة المناسبة، ثم قال القاعدة: «إن هذه الصلاة لا يصلح فيها شيء من كلام الناس…». لا توبيخ، لا محاضرة… جملة 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السؤال للقاعة: «ماذا لو قام الصحابة وطاردوا الرجل؟» — لانتشرت النجاسة في المسجد كله، ولخرج الرجل كارهًا للإسلام. الدرس: ردّة فعلك قد تصنع مشكلة أكبر من الخطأ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المحطة: «هذا هو هدفنا: أن نخرج من هنا معلمين ميسّرين، لا متعنّتين. والآن ننتقل من القلب… إلى الأدوات».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انتقال سريع إلى الجزء التفاعلي الأول.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أعطِ المجموعات ثلاث دقائق. اكشف الحل. ثم اسأل: «ما علاقة القصة بالفصل؟» الإجابة التي نريدها: صاحب الحصان لم يفكر في خسارته الآنية، بل في أثر الموقف على الآخرين. وكذلك المعلم: كل موقف يعالجه أمام ٣٠ طالبًا هو درس يتعلمه الجميع عن العدل والرحمة، وليس الطالب المخطئ وحده.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جملة مفتاحية للدورة. اطلب منهم كتابتها.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وسجّل العدد تقريبًا. لا تكشف الإجابة؛ الشريحة التالية تكشفها بالأرقام.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الرقم ببساطة: طالب ترتيبه ٥٠ من كل ١٠٠ طالب. مع معلم ضعيف في مدرسة ضعيفة ينزل إلى المركز ٣. والمفاجأة: المعلم الفعّال في مدرسة ضعيفة يرفعه إلى ٦٣، أي أكثر من المدرسة الفعّالة مع معلم ضعيف (٣٧). ملاحظة للمدرب: في النسخة القديمة كُتب الرقم ٢٪ ونُسب لـ«وونغ»؛ والأصح أنه ترتيب مئيني من أبحاث مارزانو، ونقله عنه هاري وونغ.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يعني أن مسؤولية الفصل وسلطته في يد المعلم، لا الوكيل ولا المرشد. وهذا ما سنتدرب عليه.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 على المحطات بسرعة. نبّههم إلى أن كل موقف في الدورة سيسير بالترتيب نفسه: القصة، ثم التصويت، ثم السبب، ثم الحل خطوة بخطوة.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«قبل الأدوات، نحتاج أن ننظف الطريق من أفكار نحملها منذ سنوات». اطلب من كل مجموعة ورقة يكتبون عليها «صح» أو «خطأ» لكل عبارة قبل كشفها.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علّق ضاحكًا: «إن حصلت مجموعتكم على سبعة من سبعة… فأنتم جاهزون لصندوق الأدوات».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المحطة هي «المفاتيح»، وكل المواقف القادمة ستستخدمها. قل: «سنتعلم الأدوات الآن، ثم نجربها على ١٧ موقفًا حقيقيًا».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التصنيف للطبيب النفسي رودولف دريكرس، وهو أصل جدول الأسباب القديم في الدورة. الفكرة الذهبية: «شعورك أنت دليل». إن شعرت بالانزعاج فالطالب غالبًا يطلب الانتباه، وإن شعرت بالغضب والتحدي فهو يطلب القوة. اكشف الصفوف واحدًا واحدًا، واطلب من المتدربين مثالًا من فصولهم لكل 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منهم تذكر آخر طالب أغضبهم فعلًا: هل كان يبحث عن القوة؟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السلّم من كتاب «علّم كالبطل» (Teach Like a Champion) لدوغ ليموف. الفكرة: كل خطوة لا توقف الدرس تقريبًا. معظم المشكلات تنتهي في الدرجات الثلاث الأولى، بشرط أن تبدأ مبكرًا قبل التصعيد.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التعليمة الفعّالة: محددة، وقابلة للملاحظة، وقصيرة. «انتبه» لا يعرف الطالب كيف ينفذها، أما «القلم على الطاولة» فواضحة تمامًا. اطلب من كل مجموعة تحويل ثلاث عبارات يقولونها يوميًا إلى عبارات «ماذا تريد».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الفرق: أعطِ تعليمة وأنت تمشي وتقلب الأوراق، ثم أعطها وأنت واقف ثابت تنظر إليهم. اسألهم: أيهما شعرتم أنها جادة؟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أهم ما في الحوار الخاص أنه خاص: لا جمهور، فلا حاجة للطالب إلى الدفاع عن كرامته. ولا تحوّله إلى محاضرة؛ الطالب يتكلم أكثر منك.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الممارسات الترميمية (Restorative Practices) تنقل السؤال من «ما العقاب المناسب؟» إلى «كيف نصلح الضرر؟». الطالب الذي يصلح ما أفسد يتعلم أكثر بكثير من الطالب الذي يُعاقَب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برامج «دعم السلوك الإيجابي» (PBIS) توصي بنسبة أربع ملاحظات إيجابية على الأقل لكل ملاحظة تصحيحية. تحدٍّ للمتدربين: عدّوا ملاحظاتكم غدًا في حصة 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انتقل إلى المواقف: «الآن نجرّب الأدوات على مواقف حقيقية، ونبدأ بأنماط القيادة».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قبل البدء: «من يتذكر معلمًا كان الطلاب يخافونه؟ ومعلمًا كان الفصل عنده فوضى؟ ومعلمًا كنتم تحترمونه وتحبونه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اكشف الخلايا واحدة واحدة، واترك «الحازم الدافئ» للنهاية. الفكرة من أبحاث أساليب التربية (ديانا بومرند) مطبّقة على الفصل. أكّد: المعلم الحكيم قد يميل مؤقتًا لنمط حسب الموقف، مثل «كتاب الطهي» لكل وصفة مقاديرها، لكن قاعدته الثابتة هي الحزم الدافئ.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متطوعين قول كل جملة بالنبرة المناسبة. الجملة الأخيرة تجمع الدفء والحزم في نفَس واحد، ودرّبهم على قولها.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تطلب منهم إعلان النتيجة؛ هذا تأمل شخصي. من يريد المشاركة فليتطوع.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المعلم قائد الفصل، لكن فاعليته تتضاعف حين يشرك الطلاب. أكّد على التدوير الشهري؛ سيمهّد لموقف «لماذا تتجاهلون ابني؟» في محطة الأسرة.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بسؤال: «٣٠ شخصًا في غرفة مغلقة ست ساعات يوميًا… ماذا يحدث لو لم تكن هناك قواعد؟»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غياب القواعد يعني: المسموح غامض، والعواقب مجهولة إلا في ذهن المعلم، وربما متناقضة من حالة إلى أخرى. وهذا يُدخل المعلم في دوائر الجدال وفقدان المصداقية مع الطلاب وأوليائهم.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أمثلة لقواعد المرحلة الابتدائية: ساعد الآخرين، احترم ملكية غيرك، استأذن قبل الكلام. وللمتوسطة والثانوية: أحضر أدواتك، كن في مكانك قبل بدء الحصة، احترم الآخرين قولًا وفعلًا.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القاعدة تحدد السلوك المتوقع (احترم الآخرين)، والإجراء يحدد «كيف» ننفذ شيئًا (كيف ندخل، كيف نوزع الأوراق). معظم الفوضى تأتي من إجراءات لم تُعلَّم، لا من قواعد مكسورة. مثّل تدريب إجراء «الدخول إلى الفصل» مع المتدربين.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مجموعة اختيار مجال واحد وكتابة الإجراء الخاص به في خمس خطوات، ثم تعرضه في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جواب السؤال الأصلي في الكراسة: «هل من الحكمة قبول اعتذاره؟». الفاعلية المتوقعة عالية لأن المشكلة في البداية لا في قدرته العلمية.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جواب سؤال الكراسة الأخير: تحويل الموقف إلى فرصة لتحمّل المسؤولية.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«كم منكم تلقّى مكالمة من ولي أمر غاضب هذا العام؟» سترتفع أيدٍ كثيرة. قل: «هذه المحطة لكم».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القاعدة الأولى أهمها: ولي الأمر الذي تلقى منك رسالة إيجابية يستقبل ملاحظتك لاحقًا كشريك، لا كمتهم.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درس الشرائح ١٢ و١٣ في الدورة القديمة: المعلم هو المسؤول عن قواعد فصله، والمرشد والوكيل يساعدان ولا ينوبان. وبالمنطق نفسه، الأم مسؤولة عن قواعد بيتها.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«هذه المواقف لم نتدرب عليها في الجامعة، لأنها لم تكن موجودة. لكنها اليوم أكثر ما يُربك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وتوقف عند الجملة الأخيرة. هذه لحظة «صراع قوة»، وهي أخطر لحظة في الإدارة الصفية.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غالبًا يختار كثيرون الخيار الأول «حفاظًا على الهيبة»، فناقشهم: الهيبة الحقيقية تظهر في هدوئك، لا في انتصارك على مراهق أمام زملائه.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تغيّر نظرة المعلم: الرفض ليس تحديًا شخصيًا. حين تفهم هذا يختفي غضبك، ويبقى قرارك.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كلمة «شكرًا» في الجملة الأولى: تشكره قبل أن يفعل، كأنك واثق أنه سيمتثل. هذه تقنية «التوقع الإيجابي». وفي جملة الرفض: أنت لم تتراجع عن القاعدة، بل أجّلت مكان تطبيقها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أغلب المعلمين يقفزون من الدرجة الأولى إلى الخامسة مباشرة. الدرجة الثالثة (الخيار المحدد) قوية جدًا لأنها تعطي الطالب إحساسًا بالتحكم داخل حدود تضعها 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بقوة على الخطأ الثاني: فتح جوال الطالب انتهاك لخصوصيته، وقد يعرّض المعلم للمساءلة. التسليم للإدارة يكون والجوال مغلق.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المجموعات: «ما أفكاركم أنتم للوقاية؟» واكتب أفضلها. الأفكار التي تخرج من المعلمين أنفسهم أكثر قابلية للتطبيق.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إلى أن الأنظمة في المملكة تجرّم المساس بالحياة الخاصة عبر كاميرات الجوال، وأن التعامل يكون عبر الإدارة ووفق لائحة المدرسة، لا بتصرف فردي من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اعتذار المعلم عن ارتفاع صوته أمام الفصل لا يُضعفه، بل يسحب قيمة المقطع تمامًا ويرفع احترامه.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المعلمين التواصل مع الدعم الفني في مدارسهم لتطبيق هذه الإعدادات، فهي تختلف من جهاز لآخر.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المحطة تجمع كل ما سبق في مرجع سريع يعود إليه المعلم، ثم تنتقل من «ماذا تعلمنا؟» إلى «ماذا سأفعل غدًا؟».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تطوير جدول الدورة القديمة (الشرائح ٧٤–٨٢): أبقينا السلوك والسبب، وحوّلنا العلاج العام إلى خطوات يمكن تطبيقها غدًا صباحًا.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توقف عند الصف الأخير: أحيانًا يكون السبب نحن. المعلم الشجاع يراجع نفسه قبل أن يحكم على الطالب.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أهم نشاط في الدورة: المتدربون يطبقون القالب على مواقفهم هم. تجوّل بين المجموعات وساعدهم في صياغة «الجملة الجاهزة» تحديدًا.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كتابة التزاماته الثلاثة على ورقة يحتفظ بها. الالتزام الثالث يعيدنا إلى المحطة الأولى: الإدارة الصفية تبدأ من القلب.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الحديث بهدوء، ثم قل: «لا يوجد طالب مستحيل… يوجد موقف لم نجد مفتاحه بعد».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اشكر المتدربين، واطلب تعبئة التقييم إن وُجد.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jpeg"/><Relationship Id="rId2" Type="http://schemas.openxmlformats.org/officeDocument/2006/relationships/image" Target="../media/image-47-2.jpg"/><Relationship Id="rId3" Type="http://schemas.openxmlformats.org/officeDocument/2006/relationships/image" Target="../media/image-47-3.pn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jpeg"/><Relationship Id="rId2" Type="http://schemas.openxmlformats.org/officeDocument/2006/relationships/image" Target="../media/image-48-2.jp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jpeg"/><Relationship Id="rId2" Type="http://schemas.openxmlformats.org/officeDocument/2006/relationships/image" Target="../media/image-55-2.jpg"/><Relationship Id="rId3" Type="http://schemas.openxmlformats.org/officeDocument/2006/relationships/image" Target="../media/image-55-3.png"/><Relationship Id="rId4" Type="http://schemas.openxmlformats.org/officeDocument/2006/relationships/slideLayout" Target="../slideLayouts/slideLayout1.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jpeg"/><Relationship Id="rId2" Type="http://schemas.openxmlformats.org/officeDocument/2006/relationships/image" Target="../media/image-56-2.jp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jpeg"/><Relationship Id="rId2" Type="http://schemas.openxmlformats.org/officeDocument/2006/relationships/image" Target="../media/image-63-2.jpg"/><Relationship Id="rId3" Type="http://schemas.openxmlformats.org/officeDocument/2006/relationships/image" Target="../media/image-63-3.pn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jpeg"/><Relationship Id="rId2" Type="http://schemas.openxmlformats.org/officeDocument/2006/relationships/image" Target="../media/image-64-2.jp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jpe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jpeg"/><Relationship Id="rId2" Type="http://schemas.openxmlformats.org/officeDocument/2006/relationships/image" Target="../media/image-76-2.jpg"/><Relationship Id="rId3" Type="http://schemas.openxmlformats.org/officeDocument/2006/relationships/image" Target="../media/image-76-3.png"/><Relationship Id="rId4" Type="http://schemas.openxmlformats.org/officeDocument/2006/relationships/slideLayout" Target="../slideLayouts/slideLayout1.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Slide-77-image-1.jpeg"/><Relationship Id="rId2" Type="http://schemas.openxmlformats.org/officeDocument/2006/relationships/image" Target="../media/image-77-2.jp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Slide-78-image-1.jpe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Slide-79-image-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Slide-80-image-1.jpe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Slide-81-image-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Slide-82-image-1.jpe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Slide-83-image-1.jpe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Slide-84-image-1.jpe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jpeg"/><Relationship Id="rId2" Type="http://schemas.openxmlformats.org/officeDocument/2006/relationships/image" Target="../media/image-85-2.jpg"/><Relationship Id="rId3" Type="http://schemas.openxmlformats.org/officeDocument/2006/relationships/image" Target="../media/image-85-3.png"/><Relationship Id="rId4" Type="http://schemas.openxmlformats.org/officeDocument/2006/relationships/slideLayout" Target="../slideLayouts/slideLayout1.xml"/><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Slide-86-image-1.jpeg"/><Relationship Id="rId2" Type="http://schemas.openxmlformats.org/officeDocument/2006/relationships/image" Target="../media/image-86-2.jp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Slide-87-image-1.jpe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Slide-88-image-1.jpe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Slide-89-image-1.jpe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Slide-90-image-1.jpe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Slide-91-image-1.jpe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Slide-92-image-1.jpe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Slide-93-image-1.jpeg"/><Relationship Id="rId2" Type="http://schemas.openxmlformats.org/officeDocument/2006/relationships/image" Target="../media/image-93-2.jpg"/><Relationship Id="rId3" Type="http://schemas.openxmlformats.org/officeDocument/2006/relationships/image" Target="../media/image-93-3.png"/><Relationship Id="rId4" Type="http://schemas.openxmlformats.org/officeDocument/2006/relationships/slideLayout" Target="../slideLayouts/slideLayout1.xml"/><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Slide-94-image-1.jpeg"/><Relationship Id="rId2" Type="http://schemas.openxmlformats.org/officeDocument/2006/relationships/image" Target="../media/image-94-2.jpg"/><Relationship Id="rId3" Type="http://schemas.openxmlformats.org/officeDocument/2006/relationships/slideLayout" Target="../slideLayouts/slideLayout1.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Slide-95-image-1.jpe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Slide-96-image-1.jpe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Slide-97-image-1.jpe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Slide-98-image-1.jpe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Slide-99-image-1.jpe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Slide-100-image-1.jpe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Slide-101-image-1.jpe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Slide-102-image-1.jpeg"/><Relationship Id="rId2" Type="http://schemas.openxmlformats.org/officeDocument/2006/relationships/image" Target="../media/image-102-2.jpg"/><Relationship Id="rId3" Type="http://schemas.openxmlformats.org/officeDocument/2006/relationships/image" Target="../media/image-102-3.png"/><Relationship Id="rId4" Type="http://schemas.openxmlformats.org/officeDocument/2006/relationships/slideLayout" Target="../slideLayouts/slideLayout1.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Slide-103-image-1.jpeg"/><Relationship Id="rId2" Type="http://schemas.openxmlformats.org/officeDocument/2006/relationships/image" Target="../media/image-103-2.jpg"/><Relationship Id="rId3" Type="http://schemas.openxmlformats.org/officeDocument/2006/relationships/slideLayout" Target="../slideLayouts/slideLayout1.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Slide-104-image-1.jpe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Slide-105-image-1.jpe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Slide-106-image-1.jpe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Slide-107-image-1.jpe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Slide-108-image-1.jpe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Slide-109-image-1.jpe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Slide-110-image-1.jpe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Slide-111-image-1.jpe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Slide-112-image-1.jpeg"/><Relationship Id="rId2" Type="http://schemas.openxmlformats.org/officeDocument/2006/relationships/image" Target="../media/image-112-2.jpg"/><Relationship Id="rId3" Type="http://schemas.openxmlformats.org/officeDocument/2006/relationships/image" Target="../media/image-112-3.png"/><Relationship Id="rId4" Type="http://schemas.openxmlformats.org/officeDocument/2006/relationships/slideLayout" Target="../slideLayouts/slideLayout1.xml"/><Relationship Id="rId5"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Slide-113-image-1.jpeg"/><Relationship Id="rId2" Type="http://schemas.openxmlformats.org/officeDocument/2006/relationships/image" Target="../media/image-113-2.jpg"/><Relationship Id="rId3" Type="http://schemas.openxmlformats.org/officeDocument/2006/relationships/slideLayout" Target="../slideLayouts/slideLayout1.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Slide-114-image-1.jpe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Slide-115-image-1.jpe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Slide-116-image-1.jpe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Slide-117-image-1.jpe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Slide-118-image-1.jpe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Slide-119-image-1.jpe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Slide-120-image-1.jpeg"/><Relationship Id="rId2" Type="http://schemas.openxmlformats.org/officeDocument/2006/relationships/image" Target="../media/image-120-2.jpg"/><Relationship Id="rId3" Type="http://schemas.openxmlformats.org/officeDocument/2006/relationships/image" Target="../media/image-120-3.png"/><Relationship Id="rId4" Type="http://schemas.openxmlformats.org/officeDocument/2006/relationships/slideLayout" Target="../slideLayouts/slideLayout1.xml"/><Relationship Id="rId5"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Slide-121-image-1.jpeg"/><Relationship Id="rId2" Type="http://schemas.openxmlformats.org/officeDocument/2006/relationships/image" Target="../media/image-121-2.jpg"/><Relationship Id="rId3" Type="http://schemas.openxmlformats.org/officeDocument/2006/relationships/slideLayout" Target="../slideLayouts/slideLayout1.xm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Slide-122-image-1.jpe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Slide-123-image-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Slide-124-image-1.jpe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Slide-125-image-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Slide-126-image-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Slide-127-image-1.jpe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Slide-128-image-1.jpeg"/><Relationship Id="rId2" Type="http://schemas.openxmlformats.org/officeDocument/2006/relationships/image" Target="../media/image-128-2.jpg"/><Relationship Id="rId3" Type="http://schemas.openxmlformats.org/officeDocument/2006/relationships/image" Target="../media/image-128-3.png"/><Relationship Id="rId4" Type="http://schemas.openxmlformats.org/officeDocument/2006/relationships/slideLayout" Target="../slideLayouts/slideLayout1.xml"/><Relationship Id="rId5"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Slide-129-image-1.jpeg"/><Relationship Id="rId2" Type="http://schemas.openxmlformats.org/officeDocument/2006/relationships/image" Target="../media/image-129-2.jpg"/><Relationship Id="rId3" Type="http://schemas.openxmlformats.org/officeDocument/2006/relationships/slideLayout" Target="../slideLayouts/slideLayout1.xml"/><Relationship Id="rId4"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Slide-130-image-1.jpe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Slide-131-image-1.jpe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Slide-132-image-1.jpe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Slide-133-image-1.jpe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Slide-134-image-1.jpe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Slide-135-image-1.jpe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Slide-136-image-1.jpe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Slide-137-image-1.jpeg"/><Relationship Id="rId2" Type="http://schemas.openxmlformats.org/officeDocument/2006/relationships/image" Target="../media/image-137-2.jpg"/><Relationship Id="rId3" Type="http://schemas.openxmlformats.org/officeDocument/2006/relationships/image" Target="../media/image-137-3.png"/><Relationship Id="rId4" Type="http://schemas.openxmlformats.org/officeDocument/2006/relationships/slideLayout" Target="../slideLayouts/slideLayout1.xml"/><Relationship Id="rId5"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Slide-138-image-1.jpeg"/><Relationship Id="rId2" Type="http://schemas.openxmlformats.org/officeDocument/2006/relationships/image" Target="../media/image-138-2.jpg"/><Relationship Id="rId3" Type="http://schemas.openxmlformats.org/officeDocument/2006/relationships/slideLayout" Target="../slideLayouts/slideLayout1.xml"/><Relationship Id="rId4"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Slide-139-image-1.jpeg"/><Relationship Id="rId2" Type="http://schemas.openxmlformats.org/officeDocument/2006/relationships/slideLayout" Target="../slideLayouts/slideLayout1.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Slide-140-image-1.jpe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Slide-141-image-1.jpe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Slide-142-image-1.jpe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Slide-143-image-1.jpe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Slide-144-image-1.jpe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Slide-145-image-1.jpe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Slide-146-image-1.jpe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Slide-147-image-1.jpeg"/><Relationship Id="rId2" Type="http://schemas.openxmlformats.org/officeDocument/2006/relationships/image" Target="../media/image-147-2.jpg"/><Relationship Id="rId3" Type="http://schemas.openxmlformats.org/officeDocument/2006/relationships/image" Target="../media/image-147-3.png"/><Relationship Id="rId4" Type="http://schemas.openxmlformats.org/officeDocument/2006/relationships/slideLayout" Target="../slideLayouts/slideLayout1.xml"/><Relationship Id="rId5"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Slide-148-image-1.jpeg"/><Relationship Id="rId2" Type="http://schemas.openxmlformats.org/officeDocument/2006/relationships/image" Target="../media/image-148-2.jpg"/><Relationship Id="rId3" Type="http://schemas.openxmlformats.org/officeDocument/2006/relationships/slideLayout" Target="../slideLayouts/slideLayout1.xml"/><Relationship Id="rId4"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Slide-149-image-1.jpe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Slide-150-image-1.jpe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Slide-151-image-1.jpeg"/><Relationship Id="rId2" Type="http://schemas.openxmlformats.org/officeDocument/2006/relationships/slideLayout" Target="../slideLayouts/slideLayout1.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Slide-152-image-1.jpeg"/><Relationship Id="rId2" Type="http://schemas.openxmlformats.org/officeDocument/2006/relationships/slideLayout" Target="../slideLayouts/slideLayout1.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Slide-153-image-1.jpe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Slide-154-image-1.jpe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Slide-155-image-1.jpeg"/><Relationship Id="rId2" Type="http://schemas.openxmlformats.org/officeDocument/2006/relationships/image" Target="../media/image-155-2.jpg"/><Relationship Id="rId3" Type="http://schemas.openxmlformats.org/officeDocument/2006/relationships/image" Target="../media/image-155-3.png"/><Relationship Id="rId4" Type="http://schemas.openxmlformats.org/officeDocument/2006/relationships/slideLayout" Target="../slideLayouts/slideLayout1.xml"/><Relationship Id="rId5"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Slide-156-image-1.jpeg"/><Relationship Id="rId2" Type="http://schemas.openxmlformats.org/officeDocument/2006/relationships/image" Target="../media/image-156-2.jpg"/><Relationship Id="rId3" Type="http://schemas.openxmlformats.org/officeDocument/2006/relationships/slideLayout" Target="../slideLayouts/slideLayout1.xml"/><Relationship Id="rId4"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Slide-157-image-1.jpeg"/><Relationship Id="rId2" Type="http://schemas.openxmlformats.org/officeDocument/2006/relationships/slideLayout" Target="../slideLayouts/slideLayout1.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Slide-158-image-1.jpe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Slide-159-image-1.jpe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Slide-160-image-1.jpe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Slide-161-image-1.jpeg"/><Relationship Id="rId2" Type="http://schemas.openxmlformats.org/officeDocument/2006/relationships/slideLayout" Target="../slideLayouts/slideLayout1.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Slide-162-image-1.jpeg"/><Relationship Id="rId2" Type="http://schemas.openxmlformats.org/officeDocument/2006/relationships/slideLayout" Target="../slideLayouts/slideLayout1.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Slide-163-image-1.jpeg"/><Relationship Id="rId2" Type="http://schemas.openxmlformats.org/officeDocument/2006/relationships/image" Target="../media/image-163-2.jpg"/><Relationship Id="rId3" Type="http://schemas.openxmlformats.org/officeDocument/2006/relationships/image" Target="../media/image-163-3.png"/><Relationship Id="rId4" Type="http://schemas.openxmlformats.org/officeDocument/2006/relationships/slideLayout" Target="../slideLayouts/slideLayout1.xml"/><Relationship Id="rId5"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Slide-164-image-1.jpeg"/><Relationship Id="rId2" Type="http://schemas.openxmlformats.org/officeDocument/2006/relationships/image" Target="../media/image-164-2.jpg"/><Relationship Id="rId3" Type="http://schemas.openxmlformats.org/officeDocument/2006/relationships/slideLayout" Target="../slideLayouts/slideLayout1.xml"/><Relationship Id="rId4"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Slide-165-image-1.jpe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Slide-166-image-1.jpe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Slide-167-image-1.jpe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Slide-168-image-1.jpe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Slide-169-image-1.jpe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Slide-170-image-1.jpe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Slide-171-image-1.jpeg"/><Relationship Id="rId2" Type="http://schemas.openxmlformats.org/officeDocument/2006/relationships/image" Target="../media/image-171-2.jpg"/><Relationship Id="rId3" Type="http://schemas.openxmlformats.org/officeDocument/2006/relationships/image" Target="../media/image-171-3.png"/><Relationship Id="rId4" Type="http://schemas.openxmlformats.org/officeDocument/2006/relationships/slideLayout" Target="../slideLayouts/slideLayout1.xml"/><Relationship Id="rId5"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Slide-172-image-1.jpeg"/><Relationship Id="rId2" Type="http://schemas.openxmlformats.org/officeDocument/2006/relationships/image" Target="../media/image-172-2.jpg"/><Relationship Id="rId3" Type="http://schemas.openxmlformats.org/officeDocument/2006/relationships/slideLayout" Target="../slideLayouts/slideLayout1.xml"/><Relationship Id="rId4"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Slide-173-image-1.jpe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Slide-174-image-1.jpe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Slide-175-image-1.jpe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Slide-176-image-1.jpe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Slide-177-image-1.jpe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Slide-178-image-1.jpe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Slide-179-image-1.jpe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Slide-180-image-1.jpeg"/><Relationship Id="rId2" Type="http://schemas.openxmlformats.org/officeDocument/2006/relationships/image" Target="../media/image-180-2.jpg"/><Relationship Id="rId3" Type="http://schemas.openxmlformats.org/officeDocument/2006/relationships/image" Target="../media/image-180-3.png"/><Relationship Id="rId4" Type="http://schemas.openxmlformats.org/officeDocument/2006/relationships/slideLayout" Target="../slideLayouts/slideLayout1.xml"/><Relationship Id="rId5"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Slide-181-image-1.jpeg"/><Relationship Id="rId2" Type="http://schemas.openxmlformats.org/officeDocument/2006/relationships/image" Target="../media/image-181-2.jpg"/><Relationship Id="rId3" Type="http://schemas.openxmlformats.org/officeDocument/2006/relationships/slideLayout" Target="../slideLayouts/slideLayout1.xml"/><Relationship Id="rId4"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Slide-182-image-1.jpe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Slide-183-image-1.jpeg"/><Relationship Id="rId2" Type="http://schemas.openxmlformats.org/officeDocument/2006/relationships/slideLayout" Target="../slideLayouts/slideLayout1.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Slide-184-image-1.jpe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Slide-185-image-1.jpeg"/><Relationship Id="rId2" Type="http://schemas.openxmlformats.org/officeDocument/2006/relationships/slideLayout" Target="../slideLayouts/slideLayout1.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Slide-186-image-1.jpeg"/><Relationship Id="rId2" Type="http://schemas.openxmlformats.org/officeDocument/2006/relationships/slideLayout" Target="../slideLayouts/slideLayout1.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Slide-187-image-1.jpeg"/><Relationship Id="rId2" Type="http://schemas.openxmlformats.org/officeDocument/2006/relationships/slideLayout" Target="../slideLayouts/slideLayout1.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Slide-188-image-1.jpeg"/><Relationship Id="rId2" Type="http://schemas.openxmlformats.org/officeDocument/2006/relationships/image" Target="../media/image-188-2.jpg"/><Relationship Id="rId3" Type="http://schemas.openxmlformats.org/officeDocument/2006/relationships/image" Target="../media/image-188-3.png"/><Relationship Id="rId4" Type="http://schemas.openxmlformats.org/officeDocument/2006/relationships/slideLayout" Target="../slideLayouts/slideLayout1.xml"/><Relationship Id="rId5"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Slide-189-image-1.jpeg"/><Relationship Id="rId2" Type="http://schemas.openxmlformats.org/officeDocument/2006/relationships/image" Target="../media/image-189-2.jpg"/><Relationship Id="rId3" Type="http://schemas.openxmlformats.org/officeDocument/2006/relationships/slideLayout" Target="../slideLayouts/slideLayout1.xml"/><Relationship Id="rId4"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Slide-190-image-1.jpeg"/><Relationship Id="rId2" Type="http://schemas.openxmlformats.org/officeDocument/2006/relationships/slideLayout" Target="../slideLayouts/slideLayout1.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Slide-191-image-1.jpe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Slide-192-image-1.jpe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Slide-193-image-1.jpeg"/><Relationship Id="rId2" Type="http://schemas.openxmlformats.org/officeDocument/2006/relationships/slideLayout" Target="../slideLayouts/slideLayout1.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Slide-194-image-1.jpe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Slide-195-image-1.jpe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Slide-196-image-1.jpe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Slide-197-image-1.jpe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Slide-198-image-1.jpe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Slide-199-image-1.jpe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Slide-200-image-1.jpe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Slide-201-image-1.jpe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Slide-202-image-1.jpe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Slide-203-image-1.jpe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sx="100000" sy="100000" kx="0" ky="0" algn="bl" rotWithShape="0" blurRad="254000" dist="50800" dir="1620000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rtl="1" algn="ctr" indent="0" marL="0">
              <a:buNone/>
            </a:pPr>
            <a:r>
              <a:rPr lang="ar-SA" altLang="en-US" sz="2000" b="1" dirty="0">
                <a:solidFill>
                  <a:srgbClr val="F0CC7A"/>
                </a:solidFill>
                <a:latin typeface="Cairo" pitchFamily="34" charset="0"/>
                <a:ea typeface="Cairo" pitchFamily="34" charset="-122"/>
                <a:cs typeface="Cairo" pitchFamily="34" charset="-120"/>
              </a:rPr>
              <a:t>الإدارة الصفية التطبيقية</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rtl="1" algn="ctr" indent="0" marL="0">
              <a:buNone/>
            </a:pPr>
            <a:r>
              <a:rPr lang="ar-SA" altLang="en-US" sz="9600" dirty="0">
                <a:solidFill>
                  <a:srgbClr val="FFF3D6"/>
                </a:solidFill>
                <a:latin typeface="Cairo Black" pitchFamily="34" charset="0"/>
                <a:ea typeface="Cairo Black" pitchFamily="34" charset="-122"/>
                <a:cs typeface="Cairo Black" pitchFamily="34" charset="-120"/>
              </a:rPr>
              <a:t>مواقف صفية</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من ردّة الفعل… إلى التصرّف الواعي</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algn="ctr" indent="0" marL="0">
              <a:buNone/>
            </a:pPr>
            <a:r>
              <a:rPr lang="ar-SA" altLang="en-US" sz="2000" b="1" dirty="0">
                <a:solidFill>
                  <a:srgbClr val="C9CFE6"/>
                </a:solidFill>
                <a:latin typeface="Cairo" pitchFamily="34" charset="0"/>
                <a:ea typeface="Cairo" pitchFamily="34" charset="-122"/>
                <a:cs typeface="Cairo" pitchFamily="34" charset="-120"/>
              </a:rPr>
              <a:t>إعداد وتقديم: </a:t>
            </a:r>
            <a:pPr algn="ctr" indent="0" marL="0">
              <a:buNone/>
            </a:pPr>
            <a:r>
              <a:rPr lang="ar-SA" altLang="en-US" sz="2000" b="1" dirty="0">
                <a:solidFill>
                  <a:srgbClr val="D9AE4B"/>
                </a:solidFill>
                <a:latin typeface="Cairo" pitchFamily="34" charset="0"/>
                <a:ea typeface="Cairo" pitchFamily="34" charset="-122"/>
                <a:cs typeface="Cairo" pitchFamily="34" charset="-120"/>
              </a:rPr>
              <a:t>أ. محمد زيتون</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مقدّم الدورة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 محمد زيتون</a:t>
            </a:r>
            <a:endParaRPr lang="ar-SA" sz="3800" dirty="0"/>
          </a:p>
        </p:txBody>
      </p:sp>
      <p:sp>
        <p:nvSpPr>
          <p:cNvPr id="5" name="Text 3"/>
          <p:cNvSpPr/>
          <p:nvPr/>
        </p:nvSpPr>
        <p:spPr>
          <a:xfrm>
            <a:off x="822960" y="1783080"/>
            <a:ext cx="1054577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22346F"/>
                </a:solidFill>
                <a:latin typeface="Cairo" pitchFamily="34" charset="0"/>
                <a:ea typeface="Cairo" pitchFamily="34" charset="-122"/>
                <a:cs typeface="Cairo" pitchFamily="34" charset="-120"/>
              </a:rPr>
              <a:t>مشرف تربوي — الابتكار والذكاء الاصطناعي وSTEAM · مدارس الأرقم</a:t>
            </a:r>
            <a:endParaRPr lang="ar-SA" sz="2000" dirty="0"/>
          </a:p>
        </p:txBody>
      </p:sp>
      <p:sp>
        <p:nvSpPr>
          <p:cNvPr id="6" name="anim-g1-1"/>
          <p:cNvSpPr/>
          <p:nvPr/>
        </p:nvSpPr>
        <p:spPr>
          <a:xfrm>
            <a:off x="8066837"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7" name="anim-g1-2"/>
          <p:cNvSpPr/>
          <p:nvPr/>
        </p:nvSpPr>
        <p:spPr>
          <a:xfrm>
            <a:off x="8066837"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٣٣</a:t>
            </a:r>
            <a:endParaRPr lang="ar-SA" sz="5600" dirty="0"/>
          </a:p>
        </p:txBody>
      </p:sp>
      <p:sp>
        <p:nvSpPr>
          <p:cNvPr id="8" name="anim-g1-3"/>
          <p:cNvSpPr/>
          <p:nvPr/>
        </p:nvSpPr>
        <p:spPr>
          <a:xfrm>
            <a:off x="8249717"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عامًا في الميدان التعليمي</a:t>
            </a:r>
            <a:endParaRPr lang="ar-SA" sz="2000" dirty="0"/>
          </a:p>
        </p:txBody>
      </p:sp>
      <p:sp>
        <p:nvSpPr>
          <p:cNvPr id="9" name="anim-g2-4"/>
          <p:cNvSpPr/>
          <p:nvPr/>
        </p:nvSpPr>
        <p:spPr>
          <a:xfrm>
            <a:off x="4444898"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0" name="anim-g2-5"/>
          <p:cNvSpPr/>
          <p:nvPr/>
        </p:nvSpPr>
        <p:spPr>
          <a:xfrm>
            <a:off x="4444898"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١٠+</a:t>
            </a:r>
            <a:endParaRPr lang="ar-SA" sz="5600" dirty="0"/>
          </a:p>
        </p:txBody>
      </p:sp>
      <p:sp>
        <p:nvSpPr>
          <p:cNvPr id="11" name="anim-g2-6"/>
          <p:cNvSpPr/>
          <p:nvPr/>
        </p:nvSpPr>
        <p:spPr>
          <a:xfrm>
            <a:off x="4627778"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كتب مؤلفة ومعتمدة</a:t>
            </a:r>
            <a:endParaRPr lang="ar-SA" sz="2000" dirty="0"/>
          </a:p>
        </p:txBody>
      </p:sp>
      <p:sp>
        <p:nvSpPr>
          <p:cNvPr id="12" name="anim-g3-7"/>
          <p:cNvSpPr/>
          <p:nvPr/>
        </p:nvSpPr>
        <p:spPr>
          <a:xfrm>
            <a:off x="822960"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3" name="anim-g3-8"/>
          <p:cNvSpPr/>
          <p:nvPr/>
        </p:nvSpPr>
        <p:spPr>
          <a:xfrm>
            <a:off x="822960" y="2743200"/>
            <a:ext cx="3301898" cy="1097280"/>
          </a:xfrm>
          <a:prstGeom prst="rect">
            <a:avLst/>
          </a:prstGeom>
          <a:noFill/>
          <a:ln/>
        </p:spPr>
        <p:txBody>
          <a:bodyPr wrap="square" lIns="0" tIns="0" rIns="0" bIns="0" rtlCol="0" anchor="ctr">
            <a:normAutofit/>
          </a:bodyPr>
          <a:lstStyle/>
          <a:p>
            <a:pPr rtl="1" algn="ctr" indent="0" marL="0">
              <a:buNone/>
            </a:pPr>
            <a:r>
              <a:rPr lang="ar-SA" altLang="en-US" sz="3600" dirty="0">
                <a:solidFill>
                  <a:srgbClr val="B08A2E"/>
                </a:solidFill>
                <a:latin typeface="Cairo Black" pitchFamily="34" charset="0"/>
                <a:ea typeface="Cairo Black" pitchFamily="34" charset="-122"/>
                <a:cs typeface="Cairo Black" pitchFamily="34" charset="-120"/>
              </a:rPr>
              <a:t>Microsoft</a:t>
            </a:r>
            <a:endParaRPr lang="ar-SA" sz="3600" dirty="0"/>
          </a:p>
        </p:txBody>
      </p:sp>
      <p:sp>
        <p:nvSpPr>
          <p:cNvPr id="14" name="anim-g3-9"/>
          <p:cNvSpPr/>
          <p:nvPr/>
        </p:nvSpPr>
        <p:spPr>
          <a:xfrm>
            <a:off x="1005840"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مدرب معتمد</a:t>
            </a:r>
            <a:endParaRPr lang="ar-SA" sz="2000" dirty="0"/>
          </a:p>
        </p:txBody>
      </p:sp>
      <p:sp>
        <p:nvSpPr>
          <p:cNvPr id="15" name="anim-g4-10"/>
          <p:cNvSpPr/>
          <p:nvPr/>
        </p:nvSpPr>
        <p:spPr>
          <a:xfrm>
            <a:off x="822960" y="5257800"/>
            <a:ext cx="1054577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محاضر على منصات رواق وأعناب ونون · عضو مجمع اللغة العربية</a:t>
            </a:r>
            <a:endParaRPr lang="ar-SA" sz="1800" dirty="0"/>
          </a:p>
        </p:txBody>
      </p:sp>
      <p:sp>
        <p:nvSpPr>
          <p:cNvPr id="16" name="Text 1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7" name="Text 1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عن الدورة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لمن هذه الدورة؟ وماذا ستأخذ منها؟</a:t>
            </a:r>
            <a:endParaRPr lang="ar-SA" sz="3200" dirty="0"/>
          </a:p>
        </p:txBody>
      </p:sp>
      <p:sp>
        <p:nvSpPr>
          <p:cNvPr id="5" name="anim-g1-11"/>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
          <p:cNvSpPr/>
          <p:nvPr/>
        </p:nvSpPr>
        <p:spPr>
          <a:xfrm>
            <a:off x="10362895" y="2404872"/>
            <a:ext cx="731520" cy="731520"/>
          </a:xfrm>
          <a:prstGeom prst="roundRect">
            <a:avLst>
              <a:gd name="adj" fmla="val 25000"/>
            </a:avLst>
          </a:prstGeom>
          <a:solidFill>
            <a:srgbClr val="F7E6BC"/>
          </a:solidFill>
          <a:ln/>
        </p:spPr>
      </p:sp>
      <p:sp>
        <p:nvSpPr>
          <p:cNvPr id="7" name="anim-g1-13"/>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4"/>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لمن؟</a:t>
            </a:r>
            <a:endParaRPr lang="ar-SA" sz="2300" dirty="0"/>
          </a:p>
        </p:txBody>
      </p:sp>
      <p:sp>
        <p:nvSpPr>
          <p:cNvPr id="9" name="anim-g1-15"/>
          <p:cNvSpPr/>
          <p:nvPr/>
        </p:nvSpPr>
        <p:spPr>
          <a:xfrm>
            <a:off x="8310677"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المعلمون والمعلمات في كل المراحل، وقادة المدارس، والمشرفون التربويون</a:t>
            </a:r>
            <a:endParaRPr lang="ar-SA" sz="1800" dirty="0"/>
          </a:p>
        </p:txBody>
      </p:sp>
      <p:sp>
        <p:nvSpPr>
          <p:cNvPr id="10" name="anim-g2-16"/>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7"/>
          <p:cNvSpPr/>
          <p:nvPr/>
        </p:nvSpPr>
        <p:spPr>
          <a:xfrm>
            <a:off x="6756197" y="2404872"/>
            <a:ext cx="731520" cy="731520"/>
          </a:xfrm>
          <a:prstGeom prst="roundRect">
            <a:avLst>
              <a:gd name="adj" fmla="val 25000"/>
            </a:avLst>
          </a:prstGeom>
          <a:solidFill>
            <a:srgbClr val="F7E6BC"/>
          </a:solidFill>
          <a:ln/>
        </p:spPr>
      </p:sp>
      <p:sp>
        <p:nvSpPr>
          <p:cNvPr id="12" name="anim-g2-18"/>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9"/>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ماذا ستأخذ؟</a:t>
            </a:r>
            <a:endParaRPr lang="ar-SA" sz="2300" dirty="0"/>
          </a:p>
        </p:txBody>
      </p:sp>
      <p:sp>
        <p:nvSpPr>
          <p:cNvPr id="14" name="anim-g2-20"/>
          <p:cNvSpPr/>
          <p:nvPr/>
        </p:nvSpPr>
        <p:spPr>
          <a:xfrm>
            <a:off x="4703978"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جُملًا حرفية تقولها غدًا، وخطوات واضحة لكل موقف، لا نظريات عامة</a:t>
            </a:r>
            <a:endParaRPr lang="ar-SA" sz="1800" dirty="0"/>
          </a:p>
        </p:txBody>
      </p:sp>
      <p:sp>
        <p:nvSpPr>
          <p:cNvPr id="15" name="anim-g3-21"/>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2"/>
          <p:cNvSpPr/>
          <p:nvPr/>
        </p:nvSpPr>
        <p:spPr>
          <a:xfrm>
            <a:off x="3149498" y="2404872"/>
            <a:ext cx="731520" cy="731520"/>
          </a:xfrm>
          <a:prstGeom prst="roundRect">
            <a:avLst>
              <a:gd name="adj" fmla="val 25000"/>
            </a:avLst>
          </a:prstGeom>
          <a:solidFill>
            <a:srgbClr val="F7E6BC"/>
          </a:solidFill>
          <a:ln/>
        </p:spPr>
      </p:sp>
      <p:sp>
        <p:nvSpPr>
          <p:cNvPr id="17" name="anim-g3-23"/>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4"/>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كيف نتعلم؟</a:t>
            </a:r>
            <a:endParaRPr lang="ar-SA" sz="2300" dirty="0"/>
          </a:p>
        </p:txBody>
      </p:sp>
      <p:sp>
        <p:nvSpPr>
          <p:cNvPr id="19" name="anim-g3-25"/>
          <p:cNvSpPr/>
          <p:nvPr/>
        </p:nvSpPr>
        <p:spPr>
          <a:xfrm>
            <a:off x="1097280"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مواقف حقيقية، وتصويت، ونقاش مجموعات، ثم الحل العملي خطوة بخطوة</a:t>
            </a:r>
            <a:endParaRPr lang="ar-SA" sz="18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قبل أن تدخل الفصل</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النية والدعاء… الإدارة الصفية تبدأ من القلب</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169768" y="1097280"/>
            <a:ext cx="58521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169768" y="1097280"/>
            <a:ext cx="58521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قبل أن تُصلح سلوك طالب… أصلِح نيّتك</a:t>
            </a:r>
            <a:endParaRPr lang="ar-SA" sz="16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إنما الأعمال بالنيات، وإنما لكل امرئ ما نوى</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6"/>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متفق عليه</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828136" y="1097280"/>
            <a:ext cx="453542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828136" y="1097280"/>
            <a:ext cx="453542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أنت لست موظفًا يؤدي ست حصص</a:t>
            </a:r>
            <a:endParaRPr lang="ar-SA" sz="16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 الله وملائكته وأهل السماوات والأرض، حتى النملة في جحرها وحتى الحوت، ليصلّون على معلّم الناس الخير</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7"/>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الترمذي، وصحّحه الألباني</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تطبيق عملي</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ثلاث نيّات تجدّدها كل صباح عند باب الفصل</a:t>
            </a:r>
            <a:endParaRPr lang="ar-SA" sz="3200" dirty="0"/>
          </a:p>
        </p:txBody>
      </p:sp>
      <p:sp>
        <p:nvSpPr>
          <p:cNvPr id="5" name="anim-g1-28"/>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9"/>
          <p:cNvSpPr/>
          <p:nvPr/>
        </p:nvSpPr>
        <p:spPr>
          <a:xfrm>
            <a:off x="10362895" y="2404872"/>
            <a:ext cx="731520" cy="731520"/>
          </a:xfrm>
          <a:prstGeom prst="roundRect">
            <a:avLst>
              <a:gd name="adj" fmla="val 25000"/>
            </a:avLst>
          </a:prstGeom>
          <a:solidFill>
            <a:srgbClr val="F7E6BC"/>
          </a:solidFill>
          <a:ln/>
        </p:spPr>
      </p:sp>
      <p:sp>
        <p:nvSpPr>
          <p:cNvPr id="7" name="anim-g1-30"/>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31"/>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أعلّم لوجه الله</a:t>
            </a:r>
            <a:endParaRPr lang="ar-SA" sz="2300" dirty="0"/>
          </a:p>
        </p:txBody>
      </p:sp>
      <p:sp>
        <p:nvSpPr>
          <p:cNvPr id="9" name="anim-g1-32"/>
          <p:cNvSpPr/>
          <p:nvPr/>
        </p:nvSpPr>
        <p:spPr>
          <a:xfrm>
            <a:off x="8310677"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لا لإرضاء مدير ولا لتقييم أداء؛ فيبقى عطائي ثابتًا في كل الظروف</a:t>
            </a:r>
            <a:endParaRPr lang="ar-SA" sz="1800" dirty="0"/>
          </a:p>
        </p:txBody>
      </p:sp>
      <p:sp>
        <p:nvSpPr>
          <p:cNvPr id="10" name="anim-g2-33"/>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4"/>
          <p:cNvSpPr/>
          <p:nvPr/>
        </p:nvSpPr>
        <p:spPr>
          <a:xfrm>
            <a:off x="6756197" y="2404872"/>
            <a:ext cx="731520" cy="731520"/>
          </a:xfrm>
          <a:prstGeom prst="roundRect">
            <a:avLst>
              <a:gd name="adj" fmla="val 25000"/>
            </a:avLst>
          </a:prstGeom>
          <a:solidFill>
            <a:srgbClr val="F7E6BC"/>
          </a:solidFill>
          <a:ln/>
        </p:spPr>
      </p:sp>
      <p:sp>
        <p:nvSpPr>
          <p:cNvPr id="12" name="anim-g2-35"/>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36"/>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أربّي قبل أن أعلّم</a:t>
            </a:r>
            <a:endParaRPr lang="ar-SA" sz="2300" dirty="0"/>
          </a:p>
        </p:txBody>
      </p:sp>
      <p:sp>
        <p:nvSpPr>
          <p:cNvPr id="14" name="anim-g2-37"/>
          <p:cNvSpPr/>
          <p:nvPr/>
        </p:nvSpPr>
        <p:spPr>
          <a:xfrm>
            <a:off x="4703978"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الطالب الذي يخطئ أمامي فرصة تربية، لا خصم أهزمه</a:t>
            </a:r>
            <a:endParaRPr lang="ar-SA" sz="1800" dirty="0"/>
          </a:p>
        </p:txBody>
      </p:sp>
      <p:sp>
        <p:nvSpPr>
          <p:cNvPr id="15" name="anim-g3-38"/>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9"/>
          <p:cNvSpPr/>
          <p:nvPr/>
        </p:nvSpPr>
        <p:spPr>
          <a:xfrm>
            <a:off x="3149498" y="2404872"/>
            <a:ext cx="731520" cy="731520"/>
          </a:xfrm>
          <a:prstGeom prst="roundRect">
            <a:avLst>
              <a:gd name="adj" fmla="val 25000"/>
            </a:avLst>
          </a:prstGeom>
          <a:solidFill>
            <a:srgbClr val="F7E6BC"/>
          </a:solidFill>
          <a:ln/>
        </p:spPr>
      </p:sp>
      <p:sp>
        <p:nvSpPr>
          <p:cNvPr id="17" name="anim-g3-40"/>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41"/>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أصبر محتسبًا</a:t>
            </a:r>
            <a:endParaRPr lang="ar-SA" sz="2300" dirty="0"/>
          </a:p>
        </p:txBody>
      </p:sp>
      <p:sp>
        <p:nvSpPr>
          <p:cNvPr id="19" name="anim-g3-42"/>
          <p:cNvSpPr/>
          <p:nvPr/>
        </p:nvSpPr>
        <p:spPr>
          <a:xfrm>
            <a:off x="1097280"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صبري على أصعب طالب عندي عبادة أُؤجر عليها، لا خسارة أتحمّلها</a:t>
            </a:r>
            <a:endParaRPr lang="ar-SA" sz="18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قبل أن تدخل الفصل  ·  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40200" y="1097280"/>
            <a:ext cx="351129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340200" y="109728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الدعاء للطالب أمامه</a:t>
            </a:r>
            <a:endParaRPr lang="ar-SA" sz="16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ضمّني رسول الله ﷺ إلى صدره وقال: «اللهم علّمه الكتاب»</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43"/>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البخاري — عن ابن عباس رضي الله عنهما</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الدعاء أمامهم</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جُمل دعاء يسمعها الطالب… فتبقى معه سنوات</a:t>
            </a:r>
            <a:endParaRPr lang="ar-SA" sz="3200" dirty="0"/>
          </a:p>
        </p:txBody>
      </p:sp>
      <p:sp>
        <p:nvSpPr>
          <p:cNvPr id="5" name="anim-g1-44"/>
          <p:cNvSpPr/>
          <p:nvPr/>
        </p:nvSpPr>
        <p:spPr>
          <a:xfrm>
            <a:off x="9768535" y="2130552"/>
            <a:ext cx="1600200" cy="819912"/>
          </a:xfrm>
          <a:prstGeom prst="roundRect">
            <a:avLst>
              <a:gd name="adj" fmla="val 16729"/>
            </a:avLst>
          </a:prstGeom>
          <a:solidFill>
            <a:srgbClr val="E9EDF9"/>
          </a:solidFill>
          <a:ln/>
        </p:spPr>
      </p:sp>
      <p:sp>
        <p:nvSpPr>
          <p:cNvPr id="6" name="anim-g1-45"/>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عند الإجابة الصحيحة</a:t>
            </a:r>
            <a:endParaRPr lang="ar-SA" sz="1400" dirty="0"/>
          </a:p>
        </p:txBody>
      </p:sp>
      <p:sp>
        <p:nvSpPr>
          <p:cNvPr id="7" name="anim-g1-46"/>
          <p:cNvSpPr/>
          <p:nvPr/>
        </p:nvSpPr>
        <p:spPr>
          <a:xfrm>
            <a:off x="822960" y="2057400"/>
            <a:ext cx="8716975" cy="966216"/>
          </a:xfrm>
          <a:prstGeom prst="roundRect">
            <a:avLst>
              <a:gd name="adj" fmla="val 20820"/>
            </a:avLst>
          </a:prstGeom>
          <a:solidFill>
            <a:srgbClr val="101B45"/>
          </a:solidFill>
          <a:ln/>
        </p:spPr>
      </p:sp>
      <p:sp>
        <p:nvSpPr>
          <p:cNvPr id="8" name="anim-g1-47"/>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فتح الله عليك، هذه إجابة عالم صغير</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9" name="anim-g2-48"/>
          <p:cNvSpPr/>
          <p:nvPr/>
        </p:nvSpPr>
        <p:spPr>
          <a:xfrm>
            <a:off x="9768535" y="3243072"/>
            <a:ext cx="1600200" cy="819912"/>
          </a:xfrm>
          <a:prstGeom prst="roundRect">
            <a:avLst>
              <a:gd name="adj" fmla="val 16729"/>
            </a:avLst>
          </a:prstGeom>
          <a:solidFill>
            <a:srgbClr val="E9EDF9"/>
          </a:solidFill>
          <a:ln/>
        </p:spPr>
      </p:sp>
      <p:sp>
        <p:nvSpPr>
          <p:cNvPr id="10" name="anim-g2-49"/>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لطالب متعثر حاول</a:t>
            </a:r>
            <a:endParaRPr lang="ar-SA" sz="1400" dirty="0"/>
          </a:p>
        </p:txBody>
      </p:sp>
      <p:sp>
        <p:nvSpPr>
          <p:cNvPr id="11" name="anim-g2-50"/>
          <p:cNvSpPr/>
          <p:nvPr/>
        </p:nvSpPr>
        <p:spPr>
          <a:xfrm>
            <a:off x="822960" y="3169920"/>
            <a:ext cx="8716975" cy="966216"/>
          </a:xfrm>
          <a:prstGeom prst="roundRect">
            <a:avLst>
              <a:gd name="adj" fmla="val 20820"/>
            </a:avLst>
          </a:prstGeom>
          <a:solidFill>
            <a:srgbClr val="101B45"/>
          </a:solidFill>
          <a:ln/>
        </p:spPr>
      </p:sp>
      <p:sp>
        <p:nvSpPr>
          <p:cNvPr id="12" name="anim-g2-51"/>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بارك الله في محاولتك، سيفتح الله عليك قريبًا</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13" name="anim-g3-52"/>
          <p:cNvSpPr/>
          <p:nvPr/>
        </p:nvSpPr>
        <p:spPr>
          <a:xfrm>
            <a:off x="9768535" y="4355592"/>
            <a:ext cx="1600200" cy="819912"/>
          </a:xfrm>
          <a:prstGeom prst="roundRect">
            <a:avLst>
              <a:gd name="adj" fmla="val 16729"/>
            </a:avLst>
          </a:prstGeom>
          <a:solidFill>
            <a:srgbClr val="E9EDF9"/>
          </a:solidFill>
          <a:ln/>
        </p:spPr>
      </p:sp>
      <p:sp>
        <p:nvSpPr>
          <p:cNvPr id="14" name="anim-g3-53"/>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بعد تصحيح خطأ</a:t>
            </a:r>
            <a:endParaRPr lang="ar-SA" sz="1400" dirty="0"/>
          </a:p>
        </p:txBody>
      </p:sp>
      <p:sp>
        <p:nvSpPr>
          <p:cNvPr id="15" name="anim-g3-54"/>
          <p:cNvSpPr/>
          <p:nvPr/>
        </p:nvSpPr>
        <p:spPr>
          <a:xfrm>
            <a:off x="822960" y="4282440"/>
            <a:ext cx="8716975" cy="966216"/>
          </a:xfrm>
          <a:prstGeom prst="roundRect">
            <a:avLst>
              <a:gd name="adj" fmla="val 20820"/>
            </a:avLst>
          </a:prstGeom>
          <a:solidFill>
            <a:srgbClr val="101B45"/>
          </a:solidFill>
          <a:ln/>
        </p:spPr>
      </p:sp>
      <p:sp>
        <p:nvSpPr>
          <p:cNvPr id="16" name="anim-g3-55"/>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أسأل الله أن يجعلك من المتميزين، وأنا أثق بك</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17" name="anim-g4-56"/>
          <p:cNvSpPr/>
          <p:nvPr/>
        </p:nvSpPr>
        <p:spPr>
          <a:xfrm>
            <a:off x="822960" y="5532120"/>
            <a:ext cx="10545775" cy="548640"/>
          </a:xfrm>
          <a:prstGeom prst="roundRect">
            <a:avLst>
              <a:gd name="adj" fmla="val 20000"/>
            </a:avLst>
          </a:prstGeom>
          <a:solidFill>
            <a:srgbClr val="FBECEC"/>
          </a:solidFill>
          <a:ln/>
        </p:spPr>
      </p:sp>
      <p:sp>
        <p:nvSpPr>
          <p:cNvPr id="18" name="anim-g4-57"/>
          <p:cNvSpPr/>
          <p:nvPr/>
        </p:nvSpPr>
        <p:spPr>
          <a:xfrm>
            <a:off x="11295583" y="5532120"/>
            <a:ext cx="73152" cy="548640"/>
          </a:xfrm>
          <a:prstGeom prst="rect">
            <a:avLst/>
          </a:prstGeom>
          <a:solidFill>
            <a:srgbClr val="D64545"/>
          </a:solidFill>
          <a:ln/>
        </p:spPr>
      </p:sp>
      <p:sp>
        <p:nvSpPr>
          <p:cNvPr id="19" name="anim-g4-58"/>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انتبه لنبرة الصوت: «الله يهديك» بنبرة غاضبة تتحول من دعاء إلى إهانة</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قبل أن تدخل الفصل  ·  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40200" y="1097280"/>
            <a:ext cx="351129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340200" y="109728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الدعاء لهم من خلفهم</a:t>
            </a:r>
            <a:endParaRPr lang="ar-SA" sz="16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ما من عبد مسلم يدعو لأخيه بظهر الغيب إلا قال الملَك: ولك بمثل</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59"/>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نشاط فردي — دقيقتان</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«وِرد المعلم»</a:t>
            </a:r>
            <a:endParaRPr lang="ar-SA" sz="3800" dirty="0"/>
          </a:p>
        </p:txBody>
      </p:sp>
      <p:sp>
        <p:nvSpPr>
          <p:cNvPr id="5" name="anim-g1-60"/>
          <p:cNvSpPr/>
          <p:nvPr/>
        </p:nvSpPr>
        <p:spPr>
          <a:xfrm>
            <a:off x="10637215" y="2286000"/>
            <a:ext cx="731520" cy="731520"/>
          </a:xfrm>
          <a:prstGeom prst="ellipse">
            <a:avLst/>
          </a:prstGeom>
          <a:solidFill>
            <a:srgbClr val="D9AE4B"/>
          </a:solidFill>
          <a:ln/>
        </p:spPr>
      </p:sp>
      <p:sp>
        <p:nvSpPr>
          <p:cNvPr id="6" name="anim-g1-61"/>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62"/>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 الآن أسماء ثلاثة طلاب هم الأصعب عليك هذا العام</a:t>
            </a:r>
            <a:endParaRPr lang="ar-SA" sz="2200" dirty="0"/>
          </a:p>
        </p:txBody>
      </p:sp>
      <p:sp>
        <p:nvSpPr>
          <p:cNvPr id="8" name="anim-g2-63"/>
          <p:cNvSpPr/>
          <p:nvPr/>
        </p:nvSpPr>
        <p:spPr>
          <a:xfrm>
            <a:off x="10637215" y="3383280"/>
            <a:ext cx="731520" cy="731520"/>
          </a:xfrm>
          <a:prstGeom prst="ellipse">
            <a:avLst/>
          </a:prstGeom>
          <a:solidFill>
            <a:srgbClr val="D9AE4B"/>
          </a:solidFill>
          <a:ln/>
        </p:spPr>
      </p:sp>
      <p:sp>
        <p:nvSpPr>
          <p:cNvPr id="9" name="anim-g2-64"/>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65"/>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ادعُ لكل واحد منهم باسمه كل يوم لمدة أسبوع</a:t>
            </a:r>
            <a:endParaRPr lang="ar-SA" sz="2200" dirty="0"/>
          </a:p>
        </p:txBody>
      </p:sp>
      <p:sp>
        <p:nvSpPr>
          <p:cNvPr id="11" name="anim-g3-66"/>
          <p:cNvSpPr/>
          <p:nvPr/>
        </p:nvSpPr>
        <p:spPr>
          <a:xfrm>
            <a:off x="10637215" y="4480560"/>
            <a:ext cx="731520" cy="731520"/>
          </a:xfrm>
          <a:prstGeom prst="ellipse">
            <a:avLst/>
          </a:prstGeom>
          <a:solidFill>
            <a:srgbClr val="D9AE4B"/>
          </a:solidFill>
          <a:ln/>
        </p:spPr>
      </p:sp>
      <p:sp>
        <p:nvSpPr>
          <p:cNvPr id="12" name="anim-g3-67"/>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68"/>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راقب بصدق: من الذي تغيّر أولًا… هم أم أنت؟</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2:00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٢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071720" y="1188720"/>
            <a:ext cx="204825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071720" y="1188720"/>
            <a:ext cx="204825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قال تعالى</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pPr algn="ctr" indent="0" marL="0">
              <a:lnSpc>
                <a:spcPct val="130000"/>
              </a:lnSpc>
              <a:buNone/>
            </a:pPr>
            <a:r>
              <a:rPr lang="ar-SA" altLang="en-US" sz="4400" b="1" dirty="0">
                <a:solidFill>
                  <a:srgbClr val="FFFFFF"/>
                </a:solidFill>
                <a:latin typeface="Amiri" pitchFamily="34" charset="0"/>
                <a:ea typeface="Amiri" pitchFamily="34" charset="-122"/>
                <a:cs typeface="Amiri" pitchFamily="34" charset="-120"/>
              </a:rPr>
              <a:t>فَبِمَا رَحْمَةٍ مِّنَ اللَّهِ لِنتَ لَهُمْ ۖ وَلَوْ كُنتَ فَظًّا غَلِيظَ الْقَلْبِ لَانفَضُّوا مِنْ حَوْلِكَ</a:t>
            </a:r>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endParaRPr lang="ar-SA" sz="4400" dirty="0"/>
          </a:p>
        </p:txBody>
      </p:sp>
      <p:sp>
        <p:nvSpPr>
          <p:cNvPr id="5" name="Text 3"/>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آل عمران: ١٥٩</a:t>
            </a:r>
            <a:endParaRPr lang="ar-SA" sz="1600" dirty="0"/>
          </a:p>
        </p:txBody>
      </p:sp>
      <p:sp>
        <p:nvSpPr>
          <p:cNvPr id="6" name="Text 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7" name="Text 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١٢</a:t>
            </a:r>
            <a:endParaRPr lang="ar-SA"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955487" y="457200"/>
            <a:ext cx="54132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955487" y="457200"/>
            <a:ext cx="541324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النبي ﷺ معلّمًا — موقف صفي حقيقي</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FFFFF"/>
                </a:solidFill>
                <a:latin typeface="Cairo Black" pitchFamily="34" charset="0"/>
                <a:ea typeface="Cairo Black" pitchFamily="34" charset="-122"/>
                <a:cs typeface="Cairo Black" pitchFamily="34" charset="-120"/>
              </a:rPr>
              <a:t>صحابي يتكلم أثناء الصلاة</a:t>
            </a:r>
            <a:endParaRPr lang="ar-SA" sz="3800" dirty="0"/>
          </a:p>
        </p:txBody>
      </p:sp>
      <p:sp>
        <p:nvSpPr>
          <p:cNvPr id="5" name="Text 3"/>
          <p:cNvSpPr/>
          <p:nvPr/>
        </p:nvSpPr>
        <p:spPr>
          <a:xfrm>
            <a:off x="5577840" y="2103120"/>
            <a:ext cx="5790895" cy="1463040"/>
          </a:xfrm>
          <a:prstGeom prst="rect">
            <a:avLst/>
          </a:prstGeom>
          <a:noFill/>
          <a:ln/>
        </p:spPr>
        <p:txBody>
          <a:bodyPr wrap="square" lIns="0" tIns="0" rIns="0" bIns="0" rtlCol="0" anchor="t">
            <a:normAutofit/>
          </a:bodyPr>
          <a:lstStyle/>
          <a:p>
            <a:pPr rtl="1" algn="r" indent="0" marL="0">
              <a:lnSpc>
                <a:spcPct val="125000"/>
              </a:lnSpc>
              <a:buNone/>
            </a:pPr>
            <a:r>
              <a:rPr lang="ar-SA" altLang="en-US" sz="1900" b="1" dirty="0">
                <a:solidFill>
                  <a:srgbClr val="D9DEF0"/>
                </a:solidFill>
                <a:latin typeface="Cairo" pitchFamily="34" charset="0"/>
                <a:ea typeface="Cairo" pitchFamily="34" charset="-122"/>
                <a:cs typeface="Cairo" pitchFamily="34" charset="-120"/>
              </a:rPr>
              <a:t>تكلّم معاوية بن الحكم رضي الله عنه في الصلاة جاهلًا بالحكم، فرمقه الناس بأبصارهم وضربوا بأيديهم على أفخاذهم يُسكتونه.</a:t>
            </a:r>
            <a:endParaRPr lang="ar-SA" sz="1900" dirty="0"/>
          </a:p>
        </p:txBody>
      </p:sp>
      <p:sp>
        <p:nvSpPr>
          <p:cNvPr id="6" name="anim-g1-69"/>
          <p:cNvSpPr/>
          <p:nvPr/>
        </p:nvSpPr>
        <p:spPr>
          <a:xfrm>
            <a:off x="11313871" y="3703320"/>
            <a:ext cx="54864" cy="1828800"/>
          </a:xfrm>
          <a:prstGeom prst="rect">
            <a:avLst/>
          </a:prstGeom>
          <a:solidFill>
            <a:srgbClr val="D9AE4B"/>
          </a:solidFill>
          <a:ln/>
        </p:spPr>
      </p:sp>
      <p:sp>
        <p:nvSpPr>
          <p:cNvPr id="7" name="anim-g1-70"/>
          <p:cNvSpPr/>
          <p:nvPr/>
        </p:nvSpPr>
        <p:spPr>
          <a:xfrm>
            <a:off x="5577840" y="3657600"/>
            <a:ext cx="5516575" cy="1463040"/>
          </a:xfrm>
          <a:prstGeom prst="rect">
            <a:avLst/>
          </a:prstGeom>
          <a:noFill/>
          <a:ln/>
        </p:spPr>
        <p:txBody>
          <a:bodyPr wrap="square" lIns="0" tIns="0" rIns="0" bIns="0" rtlCol="0" anchor="t">
            <a:normAutofit/>
          </a:bodyPr>
          <a:lstStyle/>
          <a:p>
            <a:pPr rtl="1" algn="r" indent="0" marL="0">
              <a:lnSpc>
                <a:spcPct val="120000"/>
              </a:lnSpc>
              <a:buNone/>
            </a:pPr>
            <a:r>
              <a:rPr lang="ar-SA" altLang="en-US" sz="2400" b="1" dirty="0">
                <a:solidFill>
                  <a:srgbClr val="F0CC7A"/>
                </a:solidFill>
                <a:latin typeface="Amiri" pitchFamily="34" charset="0"/>
                <a:ea typeface="Amiri" pitchFamily="34" charset="-122"/>
                <a:cs typeface="Amiri" pitchFamily="34" charset="-120"/>
              </a:rPr>
              <a:t>«فبأبي هو وأمي، ما رأيت معلّمًا قبله ولا بعده أحسن تعليمًا منه؛ فوالله ما كهرني ولا ضربني ولا شتمني»</a:t>
            </a:r>
            <a:endParaRPr lang="ar-SA" sz="2400" dirty="0"/>
          </a:p>
        </p:txBody>
      </p:sp>
      <p:sp>
        <p:nvSpPr>
          <p:cNvPr id="8" name="anim-g1-71"/>
          <p:cNvSpPr/>
          <p:nvPr/>
        </p:nvSpPr>
        <p:spPr>
          <a:xfrm>
            <a:off x="5577840" y="5166360"/>
            <a:ext cx="5516575" cy="365760"/>
          </a:xfrm>
          <a:prstGeom prst="rect">
            <a:avLst/>
          </a:prstGeom>
          <a:noFill/>
          <a:ln/>
        </p:spPr>
        <p:txBody>
          <a:bodyPr wrap="square" lIns="0" tIns="0" rIns="0" bIns="0" rtlCol="0" anchor="ctr">
            <a:normAutofit/>
          </a:bodyPr>
          <a:lstStyle/>
          <a:p>
            <a:pPr rtl="1" algn="r" indent="0" marL="0">
              <a:buNone/>
            </a:pPr>
            <a:r>
              <a:rPr lang="ar-SA" altLang="en-US" sz="1400" b="1" dirty="0">
                <a:solidFill>
                  <a:srgbClr val="D9AE4B"/>
                </a:solidFill>
                <a:latin typeface="Cairo" pitchFamily="34" charset="0"/>
                <a:ea typeface="Cairo" pitchFamily="34" charset="-122"/>
                <a:cs typeface="Cairo" pitchFamily="34" charset="-120"/>
              </a:rPr>
              <a:t>رواه مسلم</a:t>
            </a:r>
            <a:endParaRPr lang="ar-SA" sz="1400" dirty="0"/>
          </a:p>
        </p:txBody>
      </p:sp>
      <p:sp>
        <p:nvSpPr>
          <p:cNvPr id="9" name="anim-g2-72"/>
          <p:cNvSpPr/>
          <p:nvPr/>
        </p:nvSpPr>
        <p:spPr>
          <a:xfrm>
            <a:off x="822960" y="2103120"/>
            <a:ext cx="4389120" cy="3566160"/>
          </a:xfrm>
          <a:prstGeom prst="roundRect">
            <a:avLst>
              <a:gd name="adj" fmla="val 6410"/>
            </a:avLst>
          </a:prstGeom>
          <a:solidFill>
            <a:srgbClr val="FFFFFF">
              <a:alpha val="6000"/>
            </a:srgbClr>
          </a:solidFill>
          <a:ln w="19050">
            <a:solidFill>
              <a:srgbClr val="D9AE4B">
                <a:alpha val="50000"/>
              </a:srgbClr>
            </a:solidFill>
            <a:prstDash val="solid"/>
          </a:ln>
        </p:spPr>
      </p:sp>
      <p:sp>
        <p:nvSpPr>
          <p:cNvPr id="10" name="anim-g2-73"/>
          <p:cNvSpPr/>
          <p:nvPr/>
        </p:nvSpPr>
        <p:spPr>
          <a:xfrm>
            <a:off x="1097280" y="2286000"/>
            <a:ext cx="3840480" cy="502920"/>
          </a:xfrm>
          <a:prstGeom prst="rect">
            <a:avLst/>
          </a:prstGeom>
          <a:noFill/>
          <a:ln/>
        </p:spPr>
        <p:txBody>
          <a:bodyPr wrap="square" lIns="0" tIns="0" rIns="0" bIns="0" rtlCol="0" anchor="ctr">
            <a:normAutofit/>
          </a:bodyPr>
          <a:lstStyle/>
          <a:p>
            <a:pPr rtl="1" algn="r" indent="0" marL="0">
              <a:buNone/>
            </a:pPr>
            <a:r>
              <a:rPr lang="ar-SA" altLang="en-US" sz="2100" dirty="0">
                <a:solidFill>
                  <a:srgbClr val="D9AE4B"/>
                </a:solidFill>
                <a:latin typeface="Cairo Black" pitchFamily="34" charset="0"/>
                <a:ea typeface="Cairo Black" pitchFamily="34" charset="-122"/>
                <a:cs typeface="Cairo Black" pitchFamily="34" charset="-120"/>
              </a:rPr>
              <a:t>كيف تصرّف ﷺ؟</a:t>
            </a:r>
            <a:endParaRPr lang="ar-SA" sz="2100" dirty="0"/>
          </a:p>
        </p:txBody>
      </p:sp>
      <p:sp>
        <p:nvSpPr>
          <p:cNvPr id="11" name="anim-g2-74"/>
          <p:cNvSpPr/>
          <p:nvPr/>
        </p:nvSpPr>
        <p:spPr>
          <a:xfrm>
            <a:off x="4526280" y="2999232"/>
            <a:ext cx="384048" cy="384048"/>
          </a:xfrm>
          <a:prstGeom prst="ellipse">
            <a:avLst/>
          </a:prstGeom>
          <a:solidFill>
            <a:srgbClr val="D9AE4B"/>
          </a:solidFill>
          <a:ln/>
        </p:spPr>
      </p:sp>
      <p:sp>
        <p:nvSpPr>
          <p:cNvPr id="12" name="anim-g2-75"/>
          <p:cNvSpPr/>
          <p:nvPr/>
        </p:nvSpPr>
        <p:spPr>
          <a:xfrm>
            <a:off x="4526280" y="299923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١</a:t>
            </a:r>
            <a:endParaRPr lang="ar-SA" sz="1400" dirty="0"/>
          </a:p>
        </p:txBody>
      </p:sp>
      <p:sp>
        <p:nvSpPr>
          <p:cNvPr id="13" name="anim-g2-76"/>
          <p:cNvSpPr/>
          <p:nvPr/>
        </p:nvSpPr>
        <p:spPr>
          <a:xfrm>
            <a:off x="1051560" y="2926080"/>
            <a:ext cx="3383280" cy="777240"/>
          </a:xfrm>
          <a:prstGeom prst="rect">
            <a:avLst/>
          </a:prstGeom>
          <a:noFill/>
          <a:ln/>
        </p:spPr>
        <p:txBody>
          <a:bodyPr wrap="square" lIns="0" tIns="0" rIns="0" bIns="0" rtlCol="0" anchor="t">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انتظر حتى انتهت الصلاة، ولم يقطعها ليعالج الخطأ</a:t>
            </a:r>
            <a:endParaRPr lang="ar-SA" sz="1800" dirty="0"/>
          </a:p>
        </p:txBody>
      </p:sp>
      <p:sp>
        <p:nvSpPr>
          <p:cNvPr id="14" name="anim-g2-77"/>
          <p:cNvSpPr/>
          <p:nvPr/>
        </p:nvSpPr>
        <p:spPr>
          <a:xfrm>
            <a:off x="4526280" y="3867912"/>
            <a:ext cx="384048" cy="384048"/>
          </a:xfrm>
          <a:prstGeom prst="ellipse">
            <a:avLst/>
          </a:prstGeom>
          <a:solidFill>
            <a:srgbClr val="D9AE4B"/>
          </a:solidFill>
          <a:ln/>
        </p:spPr>
      </p:sp>
      <p:sp>
        <p:nvSpPr>
          <p:cNvPr id="15" name="anim-g2-78"/>
          <p:cNvSpPr/>
          <p:nvPr/>
        </p:nvSpPr>
        <p:spPr>
          <a:xfrm>
            <a:off x="4526280" y="386791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٢</a:t>
            </a:r>
            <a:endParaRPr lang="ar-SA" sz="1400" dirty="0"/>
          </a:p>
        </p:txBody>
      </p:sp>
      <p:sp>
        <p:nvSpPr>
          <p:cNvPr id="16" name="anim-g2-79"/>
          <p:cNvSpPr/>
          <p:nvPr/>
        </p:nvSpPr>
        <p:spPr>
          <a:xfrm>
            <a:off x="1051560" y="3794760"/>
            <a:ext cx="3383280" cy="777240"/>
          </a:xfrm>
          <a:prstGeom prst="rect">
            <a:avLst/>
          </a:prstGeom>
          <a:noFill/>
          <a:ln/>
        </p:spPr>
        <p:txBody>
          <a:bodyPr wrap="square" lIns="0" tIns="0" rIns="0" bIns="0" rtlCol="0" anchor="t">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لم يوبّخه أمام الناس</a:t>
            </a:r>
            <a:endParaRPr lang="ar-SA" sz="1800" dirty="0"/>
          </a:p>
        </p:txBody>
      </p:sp>
      <p:sp>
        <p:nvSpPr>
          <p:cNvPr id="17" name="anim-g2-80"/>
          <p:cNvSpPr/>
          <p:nvPr/>
        </p:nvSpPr>
        <p:spPr>
          <a:xfrm>
            <a:off x="4526280" y="4736592"/>
            <a:ext cx="384048" cy="384048"/>
          </a:xfrm>
          <a:prstGeom prst="ellipse">
            <a:avLst/>
          </a:prstGeom>
          <a:solidFill>
            <a:srgbClr val="D9AE4B"/>
          </a:solidFill>
          <a:ln/>
        </p:spPr>
      </p:sp>
      <p:sp>
        <p:nvSpPr>
          <p:cNvPr id="18" name="anim-g2-81"/>
          <p:cNvSpPr/>
          <p:nvPr/>
        </p:nvSpPr>
        <p:spPr>
          <a:xfrm>
            <a:off x="4526280" y="473659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٣</a:t>
            </a:r>
            <a:endParaRPr lang="ar-SA" sz="1400" dirty="0"/>
          </a:p>
        </p:txBody>
      </p:sp>
      <p:sp>
        <p:nvSpPr>
          <p:cNvPr id="19" name="anim-g2-82"/>
          <p:cNvSpPr/>
          <p:nvPr/>
        </p:nvSpPr>
        <p:spPr>
          <a:xfrm>
            <a:off x="1051560" y="4663440"/>
            <a:ext cx="3383280" cy="777240"/>
          </a:xfrm>
          <a:prstGeom prst="rect">
            <a:avLst/>
          </a:prstGeom>
          <a:noFill/>
          <a:ln/>
        </p:spPr>
        <p:txBody>
          <a:bodyPr wrap="square" lIns="0" tIns="0" rIns="0" bIns="0" rtlCol="0" anchor="t">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علّمه القاعدة في جملة واحدة واضحة</a:t>
            </a:r>
            <a:endParaRPr lang="ar-SA" sz="18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955487" y="457200"/>
            <a:ext cx="54132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955487" y="457200"/>
            <a:ext cx="541324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النبي ﷺ معلّمًا — موقف صفي حقيقي</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FFFFF"/>
                </a:solidFill>
                <a:latin typeface="Cairo Black" pitchFamily="34" charset="0"/>
                <a:ea typeface="Cairo Black" pitchFamily="34" charset="-122"/>
                <a:cs typeface="Cairo Black" pitchFamily="34" charset="-120"/>
              </a:rPr>
              <a:t>أعرابي يبول في المسجد</a:t>
            </a:r>
            <a:endParaRPr lang="ar-SA" sz="3800" dirty="0"/>
          </a:p>
        </p:txBody>
      </p:sp>
      <p:sp>
        <p:nvSpPr>
          <p:cNvPr id="5" name="Text 3"/>
          <p:cNvSpPr/>
          <p:nvPr/>
        </p:nvSpPr>
        <p:spPr>
          <a:xfrm>
            <a:off x="5577840" y="2103120"/>
            <a:ext cx="5790895" cy="1463040"/>
          </a:xfrm>
          <a:prstGeom prst="rect">
            <a:avLst/>
          </a:prstGeom>
          <a:noFill/>
          <a:ln/>
        </p:spPr>
        <p:txBody>
          <a:bodyPr wrap="square" lIns="0" tIns="0" rIns="0" bIns="0" rtlCol="0" anchor="t">
            <a:normAutofit/>
          </a:bodyPr>
          <a:lstStyle/>
          <a:p>
            <a:pPr rtl="1" algn="r" indent="0" marL="0">
              <a:lnSpc>
                <a:spcPct val="125000"/>
              </a:lnSpc>
              <a:buNone/>
            </a:pPr>
            <a:r>
              <a:rPr lang="ar-SA" altLang="en-US" sz="1900" b="1" dirty="0">
                <a:solidFill>
                  <a:srgbClr val="D9DEF0"/>
                </a:solidFill>
                <a:latin typeface="Cairo" pitchFamily="34" charset="0"/>
                <a:ea typeface="Cairo" pitchFamily="34" charset="-122"/>
                <a:cs typeface="Cairo" pitchFamily="34" charset="-120"/>
              </a:rPr>
              <a:t>قام الصحابة إلى الأعرابي ليزجروه، فأوقفهم النبي ﷺ حتى أتمّ، ثم أمر بماء فصُبّ على المكان.</a:t>
            </a:r>
            <a:endParaRPr lang="ar-SA" sz="1900" dirty="0"/>
          </a:p>
        </p:txBody>
      </p:sp>
      <p:sp>
        <p:nvSpPr>
          <p:cNvPr id="6" name="anim-g1-83"/>
          <p:cNvSpPr/>
          <p:nvPr/>
        </p:nvSpPr>
        <p:spPr>
          <a:xfrm>
            <a:off x="11313871" y="3703320"/>
            <a:ext cx="54864" cy="1828800"/>
          </a:xfrm>
          <a:prstGeom prst="rect">
            <a:avLst/>
          </a:prstGeom>
          <a:solidFill>
            <a:srgbClr val="D9AE4B"/>
          </a:solidFill>
          <a:ln/>
        </p:spPr>
      </p:sp>
      <p:sp>
        <p:nvSpPr>
          <p:cNvPr id="7" name="anim-g1-84"/>
          <p:cNvSpPr/>
          <p:nvPr/>
        </p:nvSpPr>
        <p:spPr>
          <a:xfrm>
            <a:off x="5577840" y="3657600"/>
            <a:ext cx="5516575" cy="1463040"/>
          </a:xfrm>
          <a:prstGeom prst="rect">
            <a:avLst/>
          </a:prstGeom>
          <a:noFill/>
          <a:ln/>
        </p:spPr>
        <p:txBody>
          <a:bodyPr wrap="square" lIns="0" tIns="0" rIns="0" bIns="0" rtlCol="0" anchor="t">
            <a:normAutofit/>
          </a:bodyPr>
          <a:lstStyle/>
          <a:p>
            <a:pPr rtl="1" algn="r" indent="0" marL="0">
              <a:lnSpc>
                <a:spcPct val="120000"/>
              </a:lnSpc>
              <a:buNone/>
            </a:pPr>
            <a:r>
              <a:rPr lang="ar-SA" altLang="en-US" sz="2400" b="1" dirty="0">
                <a:solidFill>
                  <a:srgbClr val="F0CC7A"/>
                </a:solidFill>
                <a:latin typeface="Amiri" pitchFamily="34" charset="0"/>
                <a:ea typeface="Amiri" pitchFamily="34" charset="-122"/>
                <a:cs typeface="Amiri" pitchFamily="34" charset="-120"/>
              </a:rPr>
              <a:t>«دعوه… فإنما بُعثتم ميسّرين ولم تُبعثوا معسّرين»</a:t>
            </a:r>
            <a:endParaRPr lang="ar-SA" sz="2400" dirty="0"/>
          </a:p>
        </p:txBody>
      </p:sp>
      <p:sp>
        <p:nvSpPr>
          <p:cNvPr id="8" name="anim-g1-85"/>
          <p:cNvSpPr/>
          <p:nvPr/>
        </p:nvSpPr>
        <p:spPr>
          <a:xfrm>
            <a:off x="5577840" y="5166360"/>
            <a:ext cx="5516575" cy="365760"/>
          </a:xfrm>
          <a:prstGeom prst="rect">
            <a:avLst/>
          </a:prstGeom>
          <a:noFill/>
          <a:ln/>
        </p:spPr>
        <p:txBody>
          <a:bodyPr wrap="square" lIns="0" tIns="0" rIns="0" bIns="0" rtlCol="0" anchor="ctr">
            <a:normAutofit/>
          </a:bodyPr>
          <a:lstStyle/>
          <a:p>
            <a:pPr rtl="1" algn="r" indent="0" marL="0">
              <a:buNone/>
            </a:pPr>
            <a:r>
              <a:rPr lang="ar-SA" altLang="en-US" sz="1400" b="1" dirty="0">
                <a:solidFill>
                  <a:srgbClr val="D9AE4B"/>
                </a:solidFill>
                <a:latin typeface="Cairo" pitchFamily="34" charset="0"/>
                <a:ea typeface="Cairo" pitchFamily="34" charset="-122"/>
                <a:cs typeface="Cairo" pitchFamily="34" charset="-120"/>
              </a:rPr>
              <a:t>رواه البخاري</a:t>
            </a:r>
            <a:endParaRPr lang="ar-SA" sz="1400" dirty="0"/>
          </a:p>
        </p:txBody>
      </p:sp>
      <p:sp>
        <p:nvSpPr>
          <p:cNvPr id="9" name="anim-g2-86"/>
          <p:cNvSpPr/>
          <p:nvPr/>
        </p:nvSpPr>
        <p:spPr>
          <a:xfrm>
            <a:off x="822960" y="2103120"/>
            <a:ext cx="4389120" cy="3566160"/>
          </a:xfrm>
          <a:prstGeom prst="roundRect">
            <a:avLst>
              <a:gd name="adj" fmla="val 6410"/>
            </a:avLst>
          </a:prstGeom>
          <a:solidFill>
            <a:srgbClr val="FFFFFF">
              <a:alpha val="6000"/>
            </a:srgbClr>
          </a:solidFill>
          <a:ln w="19050">
            <a:solidFill>
              <a:srgbClr val="D9AE4B">
                <a:alpha val="50000"/>
              </a:srgbClr>
            </a:solidFill>
            <a:prstDash val="solid"/>
          </a:ln>
        </p:spPr>
      </p:sp>
      <p:sp>
        <p:nvSpPr>
          <p:cNvPr id="10" name="anim-g2-87"/>
          <p:cNvSpPr/>
          <p:nvPr/>
        </p:nvSpPr>
        <p:spPr>
          <a:xfrm>
            <a:off x="1097280" y="2286000"/>
            <a:ext cx="3840480" cy="502920"/>
          </a:xfrm>
          <a:prstGeom prst="rect">
            <a:avLst/>
          </a:prstGeom>
          <a:noFill/>
          <a:ln/>
        </p:spPr>
        <p:txBody>
          <a:bodyPr wrap="square" lIns="0" tIns="0" rIns="0" bIns="0" rtlCol="0" anchor="ctr">
            <a:normAutofit/>
          </a:bodyPr>
          <a:lstStyle/>
          <a:p>
            <a:pPr rtl="1" algn="r" indent="0" marL="0">
              <a:buNone/>
            </a:pPr>
            <a:r>
              <a:rPr lang="ar-SA" altLang="en-US" sz="2100" dirty="0">
                <a:solidFill>
                  <a:srgbClr val="D9AE4B"/>
                </a:solidFill>
                <a:latin typeface="Cairo Black" pitchFamily="34" charset="0"/>
                <a:ea typeface="Cairo Black" pitchFamily="34" charset="-122"/>
                <a:cs typeface="Cairo Black" pitchFamily="34" charset="-120"/>
              </a:rPr>
              <a:t>كيف تصرّف ﷺ؟</a:t>
            </a:r>
            <a:endParaRPr lang="ar-SA" sz="2100" dirty="0"/>
          </a:p>
        </p:txBody>
      </p:sp>
      <p:sp>
        <p:nvSpPr>
          <p:cNvPr id="11" name="anim-g2-88"/>
          <p:cNvSpPr/>
          <p:nvPr/>
        </p:nvSpPr>
        <p:spPr>
          <a:xfrm>
            <a:off x="4526280" y="2999232"/>
            <a:ext cx="384048" cy="384048"/>
          </a:xfrm>
          <a:prstGeom prst="ellipse">
            <a:avLst/>
          </a:prstGeom>
          <a:solidFill>
            <a:srgbClr val="D9AE4B"/>
          </a:solidFill>
          <a:ln/>
        </p:spPr>
      </p:sp>
      <p:sp>
        <p:nvSpPr>
          <p:cNvPr id="12" name="anim-g2-89"/>
          <p:cNvSpPr/>
          <p:nvPr/>
        </p:nvSpPr>
        <p:spPr>
          <a:xfrm>
            <a:off x="4526280" y="299923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١</a:t>
            </a:r>
            <a:endParaRPr lang="ar-SA" sz="1400" dirty="0"/>
          </a:p>
        </p:txBody>
      </p:sp>
      <p:sp>
        <p:nvSpPr>
          <p:cNvPr id="13" name="anim-g2-90"/>
          <p:cNvSpPr/>
          <p:nvPr/>
        </p:nvSpPr>
        <p:spPr>
          <a:xfrm>
            <a:off x="1051560" y="2926080"/>
            <a:ext cx="3383280" cy="777240"/>
          </a:xfrm>
          <a:prstGeom prst="rect">
            <a:avLst/>
          </a:prstGeom>
          <a:noFill/>
          <a:ln/>
        </p:spPr>
        <p:txBody>
          <a:bodyPr wrap="square" lIns="0" tIns="0" rIns="0" bIns="0" rtlCol="0" anchor="t">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أوقف التصعيد أولًا، فزجر الصحابة كان سيصنع ضررًا أكبر</a:t>
            </a:r>
            <a:endParaRPr lang="ar-SA" sz="1800" dirty="0"/>
          </a:p>
        </p:txBody>
      </p:sp>
      <p:sp>
        <p:nvSpPr>
          <p:cNvPr id="14" name="anim-g2-91"/>
          <p:cNvSpPr/>
          <p:nvPr/>
        </p:nvSpPr>
        <p:spPr>
          <a:xfrm>
            <a:off x="4526280" y="3867912"/>
            <a:ext cx="384048" cy="384048"/>
          </a:xfrm>
          <a:prstGeom prst="ellipse">
            <a:avLst/>
          </a:prstGeom>
          <a:solidFill>
            <a:srgbClr val="D9AE4B"/>
          </a:solidFill>
          <a:ln/>
        </p:spPr>
      </p:sp>
      <p:sp>
        <p:nvSpPr>
          <p:cNvPr id="15" name="anim-g2-92"/>
          <p:cNvSpPr/>
          <p:nvPr/>
        </p:nvSpPr>
        <p:spPr>
          <a:xfrm>
            <a:off x="4526280" y="386791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٢</a:t>
            </a:r>
            <a:endParaRPr lang="ar-SA" sz="1400" dirty="0"/>
          </a:p>
        </p:txBody>
      </p:sp>
      <p:sp>
        <p:nvSpPr>
          <p:cNvPr id="16" name="anim-g2-93"/>
          <p:cNvSpPr/>
          <p:nvPr/>
        </p:nvSpPr>
        <p:spPr>
          <a:xfrm>
            <a:off x="1051560" y="3794760"/>
            <a:ext cx="3383280" cy="777240"/>
          </a:xfrm>
          <a:prstGeom prst="rect">
            <a:avLst/>
          </a:prstGeom>
          <a:noFill/>
          <a:ln/>
        </p:spPr>
        <p:txBody>
          <a:bodyPr wrap="square" lIns="0" tIns="0" rIns="0" bIns="0" rtlCol="0" anchor="t">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عالج الأثر بهدوء</a:t>
            </a:r>
            <a:endParaRPr lang="ar-SA" sz="1800" dirty="0"/>
          </a:p>
        </p:txBody>
      </p:sp>
      <p:sp>
        <p:nvSpPr>
          <p:cNvPr id="17" name="anim-g2-94"/>
          <p:cNvSpPr/>
          <p:nvPr/>
        </p:nvSpPr>
        <p:spPr>
          <a:xfrm>
            <a:off x="4526280" y="4736592"/>
            <a:ext cx="384048" cy="384048"/>
          </a:xfrm>
          <a:prstGeom prst="ellipse">
            <a:avLst/>
          </a:prstGeom>
          <a:solidFill>
            <a:srgbClr val="D9AE4B"/>
          </a:solidFill>
          <a:ln/>
        </p:spPr>
      </p:sp>
      <p:sp>
        <p:nvSpPr>
          <p:cNvPr id="18" name="anim-g2-95"/>
          <p:cNvSpPr/>
          <p:nvPr/>
        </p:nvSpPr>
        <p:spPr>
          <a:xfrm>
            <a:off x="4526280" y="473659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٣</a:t>
            </a:r>
            <a:endParaRPr lang="ar-SA" sz="1400" dirty="0"/>
          </a:p>
        </p:txBody>
      </p:sp>
      <p:sp>
        <p:nvSpPr>
          <p:cNvPr id="19" name="anim-g2-96"/>
          <p:cNvSpPr/>
          <p:nvPr/>
        </p:nvSpPr>
        <p:spPr>
          <a:xfrm>
            <a:off x="1051560" y="4663440"/>
            <a:ext cx="3383280" cy="777240"/>
          </a:xfrm>
          <a:prstGeom prst="rect">
            <a:avLst/>
          </a:prstGeom>
          <a:noFill/>
          <a:ln/>
        </p:spPr>
        <p:txBody>
          <a:bodyPr wrap="square" lIns="0" tIns="0" rIns="0" bIns="0" rtlCol="0" anchor="t">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ثم علّم الأعرابي برفق</a:t>
            </a:r>
            <a:endParaRPr lang="ar-SA" sz="18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81832" y="1188720"/>
            <a:ext cx="482803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681832" y="1188720"/>
            <a:ext cx="482803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هذه الدورة كلها في حديث واحد</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200" b="1" dirty="0">
                <a:solidFill>
                  <a:srgbClr val="FFFFFF"/>
                </a:solidFill>
                <a:latin typeface="Amiri" pitchFamily="34" charset="0"/>
                <a:ea typeface="Amiri" pitchFamily="34" charset="-122"/>
                <a:cs typeface="Amiri" pitchFamily="34" charset="-120"/>
              </a:rPr>
              <a:t>إن الله لم يبعثني معنِّتًا ولا متعنِّتًا، ولكن بعثني معلِّمًا ميسِّرًا</a:t>
            </a:r>
            <a:endParaRPr lang="ar-SA" sz="4200" dirty="0"/>
          </a:p>
        </p:txBody>
      </p:sp>
      <p:sp>
        <p:nvSpPr>
          <p:cNvPr id="5" name="Text 3"/>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6" name="Text 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7" name="Text 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١٥</a:t>
            </a:r>
            <a:endParaRPr lang="ar-SA"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لماذا نحن هنا؟</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المعلم هو الفرق</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نحن هنا؟  ·  ١٦</a:t>
            </a:r>
            <a:endParaRPr lang="ar-SA"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نشاط افتتاحي — مجموعات</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أكمل القصة بالكلمات المناسبة</a:t>
            </a:r>
            <a:endParaRPr lang="ar-SA" sz="3800" dirty="0"/>
          </a:p>
        </p:txBody>
      </p:sp>
      <p:sp>
        <p:nvSpPr>
          <p:cNvPr id="5" name="Shape 3"/>
          <p:cNvSpPr/>
          <p:nvPr/>
        </p:nvSpPr>
        <p:spPr>
          <a:xfrm>
            <a:off x="10396454" y="2011680"/>
            <a:ext cx="972282" cy="502920"/>
          </a:xfrm>
          <a:prstGeom prst="roundRect">
            <a:avLst>
              <a:gd name="adj" fmla="val 21818"/>
            </a:avLst>
          </a:prstGeom>
          <a:solidFill>
            <a:srgbClr val="F6EBCF"/>
          </a:solidFill>
          <a:ln/>
        </p:spPr>
      </p:sp>
      <p:sp>
        <p:nvSpPr>
          <p:cNvPr id="6" name="Text 4"/>
          <p:cNvSpPr/>
          <p:nvPr/>
        </p:nvSpPr>
        <p:spPr>
          <a:xfrm>
            <a:off x="10396454"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الطريق</a:t>
            </a:r>
            <a:endParaRPr lang="ar-SA" sz="1600" dirty="0"/>
          </a:p>
        </p:txBody>
      </p:sp>
      <p:sp>
        <p:nvSpPr>
          <p:cNvPr id="7" name="Shape 5"/>
          <p:cNvSpPr/>
          <p:nvPr/>
        </p:nvSpPr>
        <p:spPr>
          <a:xfrm>
            <a:off x="9332732" y="2011680"/>
            <a:ext cx="972282" cy="502920"/>
          </a:xfrm>
          <a:prstGeom prst="roundRect">
            <a:avLst>
              <a:gd name="adj" fmla="val 21818"/>
            </a:avLst>
          </a:prstGeom>
          <a:solidFill>
            <a:srgbClr val="F6EBCF"/>
          </a:solidFill>
          <a:ln/>
        </p:spPr>
      </p:sp>
      <p:sp>
        <p:nvSpPr>
          <p:cNvPr id="8" name="Text 6"/>
          <p:cNvSpPr/>
          <p:nvPr/>
        </p:nvSpPr>
        <p:spPr>
          <a:xfrm>
            <a:off x="9332732"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رجل</a:t>
            </a:r>
            <a:endParaRPr lang="ar-SA" sz="1600" dirty="0"/>
          </a:p>
        </p:txBody>
      </p:sp>
      <p:sp>
        <p:nvSpPr>
          <p:cNvPr id="9" name="Shape 7"/>
          <p:cNvSpPr/>
          <p:nvPr/>
        </p:nvSpPr>
        <p:spPr>
          <a:xfrm>
            <a:off x="8269011" y="2011680"/>
            <a:ext cx="972282" cy="502920"/>
          </a:xfrm>
          <a:prstGeom prst="roundRect">
            <a:avLst>
              <a:gd name="adj" fmla="val 21818"/>
            </a:avLst>
          </a:prstGeom>
          <a:solidFill>
            <a:srgbClr val="F6EBCF"/>
          </a:solidFill>
          <a:ln/>
        </p:spPr>
      </p:sp>
      <p:sp>
        <p:nvSpPr>
          <p:cNvPr id="10" name="Text 8"/>
          <p:cNvSpPr/>
          <p:nvPr/>
        </p:nvSpPr>
        <p:spPr>
          <a:xfrm>
            <a:off x="8269011"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الحصان</a:t>
            </a:r>
            <a:endParaRPr lang="ar-SA" sz="1600" dirty="0"/>
          </a:p>
        </p:txBody>
      </p:sp>
      <p:sp>
        <p:nvSpPr>
          <p:cNvPr id="11" name="Shape 9"/>
          <p:cNvSpPr/>
          <p:nvPr/>
        </p:nvSpPr>
        <p:spPr>
          <a:xfrm>
            <a:off x="7205289" y="2011680"/>
            <a:ext cx="972282" cy="502920"/>
          </a:xfrm>
          <a:prstGeom prst="roundRect">
            <a:avLst>
              <a:gd name="adj" fmla="val 21818"/>
            </a:avLst>
          </a:prstGeom>
          <a:solidFill>
            <a:srgbClr val="F6EBCF"/>
          </a:solidFill>
          <a:ln/>
        </p:spPr>
      </p:sp>
      <p:sp>
        <p:nvSpPr>
          <p:cNvPr id="12" name="Text 10"/>
          <p:cNvSpPr/>
          <p:nvPr/>
        </p:nvSpPr>
        <p:spPr>
          <a:xfrm>
            <a:off x="7205289"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راكبًا</a:t>
            </a:r>
            <a:endParaRPr lang="ar-SA" sz="1600" dirty="0"/>
          </a:p>
        </p:txBody>
      </p:sp>
      <p:sp>
        <p:nvSpPr>
          <p:cNvPr id="13" name="Shape 11"/>
          <p:cNvSpPr/>
          <p:nvPr/>
        </p:nvSpPr>
        <p:spPr>
          <a:xfrm>
            <a:off x="6141568" y="2011680"/>
            <a:ext cx="972282" cy="502920"/>
          </a:xfrm>
          <a:prstGeom prst="roundRect">
            <a:avLst>
              <a:gd name="adj" fmla="val 21818"/>
            </a:avLst>
          </a:prstGeom>
          <a:solidFill>
            <a:srgbClr val="F6EBCF"/>
          </a:solidFill>
          <a:ln/>
        </p:spPr>
      </p:sp>
      <p:sp>
        <p:nvSpPr>
          <p:cNvPr id="14" name="Text 12"/>
          <p:cNvSpPr/>
          <p:nvPr/>
        </p:nvSpPr>
        <p:spPr>
          <a:xfrm>
            <a:off x="6141568"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تُخبر</a:t>
            </a:r>
            <a:endParaRPr lang="ar-SA" sz="1600" dirty="0"/>
          </a:p>
        </p:txBody>
      </p:sp>
      <p:sp>
        <p:nvSpPr>
          <p:cNvPr id="15" name="Shape 13"/>
          <p:cNvSpPr/>
          <p:nvPr/>
        </p:nvSpPr>
        <p:spPr>
          <a:xfrm>
            <a:off x="5077846" y="2011680"/>
            <a:ext cx="972282" cy="502920"/>
          </a:xfrm>
          <a:prstGeom prst="roundRect">
            <a:avLst>
              <a:gd name="adj" fmla="val 21818"/>
            </a:avLst>
          </a:prstGeom>
          <a:solidFill>
            <a:srgbClr val="F6EBCF"/>
          </a:solidFill>
          <a:ln/>
        </p:spPr>
      </p:sp>
      <p:sp>
        <p:nvSpPr>
          <p:cNvPr id="16" name="Text 14"/>
          <p:cNvSpPr/>
          <p:nvPr/>
        </p:nvSpPr>
        <p:spPr>
          <a:xfrm>
            <a:off x="5077846"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ظهر</a:t>
            </a:r>
            <a:endParaRPr lang="ar-SA" sz="1600" dirty="0"/>
          </a:p>
        </p:txBody>
      </p:sp>
      <p:sp>
        <p:nvSpPr>
          <p:cNvPr id="17" name="Shape 15"/>
          <p:cNvSpPr/>
          <p:nvPr/>
        </p:nvSpPr>
        <p:spPr>
          <a:xfrm>
            <a:off x="4014125" y="2011680"/>
            <a:ext cx="972282" cy="502920"/>
          </a:xfrm>
          <a:prstGeom prst="roundRect">
            <a:avLst>
              <a:gd name="adj" fmla="val 21818"/>
            </a:avLst>
          </a:prstGeom>
          <a:solidFill>
            <a:srgbClr val="F6EBCF"/>
          </a:solidFill>
          <a:ln/>
        </p:spPr>
      </p:sp>
      <p:sp>
        <p:nvSpPr>
          <p:cNvPr id="18" name="Text 16"/>
          <p:cNvSpPr/>
          <p:nvPr/>
        </p:nvSpPr>
        <p:spPr>
          <a:xfrm>
            <a:off x="4014125"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مريض</a:t>
            </a:r>
            <a:endParaRPr lang="ar-SA" sz="1600" dirty="0"/>
          </a:p>
        </p:txBody>
      </p:sp>
      <p:sp>
        <p:nvSpPr>
          <p:cNvPr id="19" name="Shape 17"/>
          <p:cNvSpPr/>
          <p:nvPr/>
        </p:nvSpPr>
        <p:spPr>
          <a:xfrm>
            <a:off x="2950403" y="2011680"/>
            <a:ext cx="972282" cy="502920"/>
          </a:xfrm>
          <a:prstGeom prst="roundRect">
            <a:avLst>
              <a:gd name="adj" fmla="val 21818"/>
            </a:avLst>
          </a:prstGeom>
          <a:solidFill>
            <a:srgbClr val="F6EBCF"/>
          </a:solidFill>
          <a:ln/>
        </p:spPr>
      </p:sp>
      <p:sp>
        <p:nvSpPr>
          <p:cNvPr id="20" name="Text 18"/>
          <p:cNvSpPr/>
          <p:nvPr/>
        </p:nvSpPr>
        <p:spPr>
          <a:xfrm>
            <a:off x="2950403"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الحيلة</a:t>
            </a:r>
            <a:endParaRPr lang="ar-SA" sz="1600" dirty="0"/>
          </a:p>
        </p:txBody>
      </p:sp>
      <p:sp>
        <p:nvSpPr>
          <p:cNvPr id="21" name="Shape 19"/>
          <p:cNvSpPr/>
          <p:nvPr/>
        </p:nvSpPr>
        <p:spPr>
          <a:xfrm>
            <a:off x="1886682" y="2011680"/>
            <a:ext cx="972282" cy="502920"/>
          </a:xfrm>
          <a:prstGeom prst="roundRect">
            <a:avLst>
              <a:gd name="adj" fmla="val 21818"/>
            </a:avLst>
          </a:prstGeom>
          <a:solidFill>
            <a:srgbClr val="F6EBCF"/>
          </a:solidFill>
          <a:ln/>
        </p:spPr>
      </p:sp>
      <p:sp>
        <p:nvSpPr>
          <p:cNvPr id="22" name="Text 20"/>
          <p:cNvSpPr/>
          <p:nvPr/>
        </p:nvSpPr>
        <p:spPr>
          <a:xfrm>
            <a:off x="1886682"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معتذرًا</a:t>
            </a:r>
            <a:endParaRPr lang="ar-SA" sz="1600" dirty="0"/>
          </a:p>
        </p:txBody>
      </p:sp>
      <p:sp>
        <p:nvSpPr>
          <p:cNvPr id="23" name="Shape 21"/>
          <p:cNvSpPr/>
          <p:nvPr/>
        </p:nvSpPr>
        <p:spPr>
          <a:xfrm>
            <a:off x="822960" y="2011680"/>
            <a:ext cx="972282" cy="502920"/>
          </a:xfrm>
          <a:prstGeom prst="roundRect">
            <a:avLst>
              <a:gd name="adj" fmla="val 21818"/>
            </a:avLst>
          </a:prstGeom>
          <a:solidFill>
            <a:srgbClr val="F6EBCF"/>
          </a:solidFill>
          <a:ln/>
        </p:spPr>
      </p:sp>
      <p:sp>
        <p:nvSpPr>
          <p:cNvPr id="24" name="Text 22"/>
          <p:cNvSpPr/>
          <p:nvPr/>
        </p:nvSpPr>
        <p:spPr>
          <a:xfrm>
            <a:off x="822960"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الكلام</a:t>
            </a:r>
            <a:endParaRPr lang="ar-SA" sz="1600" dirty="0"/>
          </a:p>
        </p:txBody>
      </p:sp>
      <p:sp>
        <p:nvSpPr>
          <p:cNvPr id="25" name="Shape 23"/>
          <p:cNvSpPr/>
          <p:nvPr/>
        </p:nvSpPr>
        <p:spPr>
          <a:xfrm>
            <a:off x="822960" y="2788920"/>
            <a:ext cx="10545775" cy="3200400"/>
          </a:xfrm>
          <a:prstGeom prst="roundRect">
            <a:avLst>
              <a:gd name="adj" fmla="val 5714"/>
            </a:avLst>
          </a:prstGeom>
          <a:solidFill>
            <a:srgbClr val="FFFFFF"/>
          </a:solidFill>
          <a:ln w="19050">
            <a:solidFill>
              <a:srgbClr val="E4DCC8"/>
            </a:solidFill>
            <a:prstDash val="dash"/>
          </a:ln>
        </p:spPr>
      </p:sp>
      <p:sp>
        <p:nvSpPr>
          <p:cNvPr id="26" name="Text 24"/>
          <p:cNvSpPr/>
          <p:nvPr/>
        </p:nvSpPr>
        <p:spPr>
          <a:xfrm>
            <a:off x="1188720" y="2880360"/>
            <a:ext cx="9814255" cy="3017520"/>
          </a:xfrm>
          <a:prstGeom prst="rect">
            <a:avLst/>
          </a:prstGeom>
          <a:noFill/>
          <a:ln/>
        </p:spPr>
        <p:txBody>
          <a:bodyPr wrap="square" lIns="0" tIns="0" rIns="0" bIns="0" rtlCol="0" anchor="ctr">
            <a:normAutofit/>
          </a:bodyPr>
          <a:lstStyle/>
          <a:p>
            <a:pPr rtl="1" algn="r" indent="0" marL="0">
              <a:lnSpc>
                <a:spcPct val="145000"/>
              </a:lnSpc>
              <a:buNone/>
            </a:pPr>
            <a:r>
              <a:rPr lang="ar-SA" altLang="en-US" sz="2100" b="1" dirty="0">
                <a:solidFill>
                  <a:srgbClr val="131B34"/>
                </a:solidFill>
                <a:latin typeface="Cairo" pitchFamily="34" charset="0"/>
                <a:ea typeface="Cairo" pitchFamily="34" charset="-122"/>
                <a:cs typeface="Cairo" pitchFamily="34" charset="-120"/>
              </a:rPr>
              <a:t>تظاهر ________ بالمرض في ________ ، فرأى رجلًا ________ على ________ . فلما أصعده صاحب الحصان على ________ الحصان ولّى به هاربًا، لكن صاحب الحصان قال له: أرجو ألّا ________ أحدًا بهذه ________ ، حتى لا يرى أحد الناس ________ حقًّا وعاجزًا فيمتنع عن الجميل. فلما سمع هذا ________ ردّ إليه الحصان ________ .</a:t>
            </a:r>
            <a:endParaRPr lang="ar-SA" sz="2100" dirty="0"/>
          </a:p>
        </p:txBody>
      </p:sp>
      <p:sp>
        <p:nvSpPr>
          <p:cNvPr id="27" name="anim-g1-97"/>
          <p:cNvSpPr/>
          <p:nvPr/>
        </p:nvSpPr>
        <p:spPr>
          <a:xfrm>
            <a:off x="822960" y="1920240"/>
            <a:ext cx="10545775" cy="4114800"/>
          </a:xfrm>
          <a:prstGeom prst="roundRect">
            <a:avLst>
              <a:gd name="adj" fmla="val 5556"/>
            </a:avLst>
          </a:prstGeom>
          <a:solidFill>
            <a:srgbClr val="101B45"/>
          </a:solidFill>
          <a:ln/>
        </p:spPr>
      </p:sp>
      <p:sp>
        <p:nvSpPr>
          <p:cNvPr id="28" name="anim-g1-98"/>
          <p:cNvSpPr/>
          <p:nvPr/>
        </p:nvSpPr>
        <p:spPr>
          <a:xfrm>
            <a:off x="1280160" y="2011680"/>
            <a:ext cx="9631375" cy="3931920"/>
          </a:xfrm>
          <a:prstGeom prst="rect">
            <a:avLst/>
          </a:prstGeom>
          <a:noFill/>
          <a:ln/>
        </p:spPr>
        <p:txBody>
          <a:bodyPr wrap="square" lIns="0" tIns="0" rIns="0" bIns="0" rtlCol="0" anchor="ctr">
            <a:normAutofit/>
          </a:bodyPr>
          <a:lstStyle/>
          <a:p>
            <a:pPr algn="r" indent="0" marL="0">
              <a:lnSpc>
                <a:spcPct val="145000"/>
              </a:lnSpc>
              <a:buNone/>
            </a:pPr>
            <a:r>
              <a:rPr lang="ar-SA" altLang="en-US" sz="2300" b="1" dirty="0">
                <a:solidFill>
                  <a:srgbClr val="F0CC7A"/>
                </a:solidFill>
                <a:latin typeface="Cairo" pitchFamily="34" charset="0"/>
                <a:ea typeface="Cairo" pitchFamily="34" charset="-122"/>
                <a:cs typeface="Cairo" pitchFamily="34" charset="-120"/>
              </a:rPr>
              <a:t>الحل: </a:t>
            </a:r>
            <a:pPr algn="r" indent="0" marL="0">
              <a:lnSpc>
                <a:spcPct val="145000"/>
              </a:lnSpc>
              <a:buNone/>
            </a:pPr>
            <a:r>
              <a:rPr lang="ar-SA" altLang="en-US" sz="2300" b="1" dirty="0">
                <a:solidFill>
                  <a:srgbClr val="FFFFFF"/>
                </a:solidFill>
                <a:latin typeface="Cairo" pitchFamily="34" charset="0"/>
                <a:ea typeface="Cairo" pitchFamily="34" charset="-122"/>
                <a:cs typeface="Cairo" pitchFamily="34" charset="-120"/>
              </a:rPr>
              <a:t>تظاهر رجلٌ بالمرض في الطريق، فرأى رجلًا راكبًا على حصانه. فلما أصعده صاحب الحصان على ظهر الحصان ولّى به هاربًا، لكن صاحب الحصان قال له: أرجو ألّا تُخبر أحدًا بهذه الحيلة، حتى لا يرى أحد الناس مريضًا حقًّا وعاجزًا فيمتنع عن الجميل. فلما سمع هذا الكلام ردّ إليه الحصان معتذرًا.</a:t>
            </a:r>
            <a:endParaRPr lang="ar-SA" sz="23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18872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18872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الدرس من القصة</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الطلاب يتعلمون من ردّة فعلك…</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أكثر مما يتعلمون من شرحك</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نحن هنا؟  ·  ١٨</a:t>
            </a:r>
            <a:endParaRPr lang="ar-SA"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سؤال للجميع</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أيهما يؤثر أكثر في تحصيل الطالب؟</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المدرسة الفعّالة</a:t>
            </a:r>
            <a:endParaRPr lang="ar-SA" sz="2300" dirty="0"/>
          </a:p>
        </p:txBody>
      </p:sp>
      <p:sp>
        <p:nvSpPr>
          <p:cNvPr id="9" name="anim-g1-9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0"/>
          <p:cNvSpPr/>
          <p:nvPr/>
        </p:nvSpPr>
        <p:spPr>
          <a:xfrm>
            <a:off x="10231831" y="2194560"/>
            <a:ext cx="954024" cy="954024"/>
          </a:xfrm>
          <a:prstGeom prst="roundRect">
            <a:avLst>
              <a:gd name="adj" fmla="val 11502"/>
            </a:avLst>
          </a:prstGeom>
          <a:solidFill>
            <a:srgbClr val="A3A9BA"/>
          </a:solidFill>
          <a:ln/>
        </p:spPr>
      </p:sp>
      <p:sp>
        <p:nvSpPr>
          <p:cNvPr id="11" name="anim-g1-10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2"/>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8A90A3"/>
                </a:solidFill>
                <a:latin typeface="Cairo" pitchFamily="34" charset="0"/>
                <a:ea typeface="Cairo" pitchFamily="34" charset="-122"/>
                <a:cs typeface="Cairo" pitchFamily="34" charset="-120"/>
              </a:rPr>
              <a:t>المدرسة الفعّالة</a:t>
            </a:r>
            <a:endParaRPr lang="ar-SA" sz="2300" dirty="0"/>
          </a:p>
        </p:txBody>
      </p:sp>
      <p:sp>
        <p:nvSpPr>
          <p:cNvPr id="13" name="Shape 11"/>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4" name="Shape 12"/>
          <p:cNvSpPr/>
          <p:nvPr/>
        </p:nvSpPr>
        <p:spPr>
          <a:xfrm>
            <a:off x="10231831" y="3569208"/>
            <a:ext cx="954024" cy="954024"/>
          </a:xfrm>
          <a:prstGeom prst="roundRect">
            <a:avLst>
              <a:gd name="adj" fmla="val 11502"/>
            </a:avLst>
          </a:prstGeom>
          <a:solidFill>
            <a:srgbClr val="101B45"/>
          </a:solidFill>
          <a:ln/>
        </p:spPr>
      </p:sp>
      <p:sp>
        <p:nvSpPr>
          <p:cNvPr id="15" name="Text 13"/>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6" name="Text 14"/>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المعلم الفعّال</a:t>
            </a:r>
            <a:endParaRPr lang="ar-SA" sz="2300" dirty="0"/>
          </a:p>
        </p:txBody>
      </p:sp>
      <p:sp>
        <p:nvSpPr>
          <p:cNvPr id="17" name="anim-g1-103"/>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8" name="anim-g1-104"/>
          <p:cNvSpPr/>
          <p:nvPr/>
        </p:nvSpPr>
        <p:spPr>
          <a:xfrm>
            <a:off x="10231831" y="3569208"/>
            <a:ext cx="954024" cy="954024"/>
          </a:xfrm>
          <a:prstGeom prst="roundRect">
            <a:avLst>
              <a:gd name="adj" fmla="val 11502"/>
            </a:avLst>
          </a:prstGeom>
          <a:solidFill>
            <a:srgbClr val="2E9E6B"/>
          </a:solidFill>
          <a:ln/>
        </p:spPr>
      </p:sp>
      <p:sp>
        <p:nvSpPr>
          <p:cNvPr id="19" name="anim-g1-10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0" name="anim-g1-106"/>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المعلم الفعّال</a:t>
            </a:r>
            <a:endParaRPr lang="ar-SA" sz="2300" dirty="0"/>
          </a:p>
        </p:txBody>
      </p:sp>
      <p:sp>
        <p:nvSpPr>
          <p:cNvPr id="21" name="Shape 19"/>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2" name="Shape 20"/>
          <p:cNvSpPr/>
          <p:nvPr/>
        </p:nvSpPr>
        <p:spPr>
          <a:xfrm>
            <a:off x="10231831" y="4943856"/>
            <a:ext cx="954024" cy="954024"/>
          </a:xfrm>
          <a:prstGeom prst="roundRect">
            <a:avLst>
              <a:gd name="adj" fmla="val 11502"/>
            </a:avLst>
          </a:prstGeom>
          <a:solidFill>
            <a:srgbClr val="101B45"/>
          </a:solidFill>
          <a:ln/>
        </p:spPr>
      </p:sp>
      <p:sp>
        <p:nvSpPr>
          <p:cNvPr id="23" name="Text 2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4" name="Text 22"/>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تأثيرهما متساوٍ</a:t>
            </a:r>
            <a:endParaRPr lang="ar-SA" sz="2300" dirty="0"/>
          </a:p>
        </p:txBody>
      </p:sp>
      <p:sp>
        <p:nvSpPr>
          <p:cNvPr id="25" name="anim-g1-107"/>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6" name="anim-g1-108"/>
          <p:cNvSpPr/>
          <p:nvPr/>
        </p:nvSpPr>
        <p:spPr>
          <a:xfrm>
            <a:off x="10231831" y="4943856"/>
            <a:ext cx="954024" cy="954024"/>
          </a:xfrm>
          <a:prstGeom prst="roundRect">
            <a:avLst>
              <a:gd name="adj" fmla="val 11502"/>
            </a:avLst>
          </a:prstGeom>
          <a:solidFill>
            <a:srgbClr val="A3A9BA"/>
          </a:solidFill>
          <a:ln/>
        </p:spPr>
      </p:sp>
      <p:sp>
        <p:nvSpPr>
          <p:cNvPr id="27" name="anim-g1-109"/>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8" name="anim-g1-110"/>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8A90A3"/>
                </a:solidFill>
                <a:latin typeface="Cairo" pitchFamily="34" charset="0"/>
                <a:ea typeface="Cairo" pitchFamily="34" charset="-122"/>
                <a:cs typeface="Cairo" pitchFamily="34" charset="-120"/>
              </a:rPr>
              <a:t>تأثيرهما متساوٍ</a:t>
            </a:r>
            <a:endParaRPr lang="ar-SA" sz="23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7" grpId="0" animBg="1"/>
      <p:bldP spid="18" grpId="0" animBg="1"/>
      <p:bldP spid="19" grpId="0" animBg="1"/>
      <p:bldP spid="20" grpId="0" animBg="1"/>
      <p:bldP spid="25" grpId="0" animBg="1"/>
      <p:bldP spid="26"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ماذا تقول الأبحاث؟</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طالب ترتيبه في المنتصف… أين يصبح بعد سنتين؟</a:t>
            </a:r>
            <a:endParaRPr lang="ar-SA" sz="3200" dirty="0"/>
          </a:p>
        </p:txBody>
      </p:sp>
      <p:sp>
        <p:nvSpPr>
          <p:cNvPr id="5" name="Shape 3"/>
          <p:cNvSpPr/>
          <p:nvPr/>
        </p:nvSpPr>
        <p:spPr>
          <a:xfrm>
            <a:off x="1005840" y="4995367"/>
            <a:ext cx="1670243" cy="79553"/>
          </a:xfrm>
          <a:prstGeom prst="rect">
            <a:avLst/>
          </a:prstGeom>
          <a:solidFill>
            <a:srgbClr val="C94040"/>
          </a:solidFill>
          <a:ln/>
        </p:spPr>
      </p:sp>
      <p:sp>
        <p:nvSpPr>
          <p:cNvPr id="6" name="Text 4"/>
          <p:cNvSpPr/>
          <p:nvPr/>
        </p:nvSpPr>
        <p:spPr>
          <a:xfrm>
            <a:off x="1005840" y="4446727"/>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C94040"/>
                </a:solidFill>
                <a:latin typeface="Cairo Black" pitchFamily="34" charset="0"/>
                <a:ea typeface="Cairo Black" pitchFamily="34" charset="-122"/>
                <a:cs typeface="Cairo Black" pitchFamily="34" charset="-120"/>
              </a:rPr>
              <a:t>٣</a:t>
            </a:r>
            <a:endParaRPr lang="ar-SA" sz="3000" dirty="0"/>
          </a:p>
        </p:txBody>
      </p:sp>
      <p:sp>
        <p:nvSpPr>
          <p:cNvPr id="7" name="Text 5"/>
          <p:cNvSpPr/>
          <p:nvPr/>
        </p:nvSpPr>
        <p:spPr>
          <a:xfrm>
            <a:off x="914400" y="5166360"/>
            <a:ext cx="1853123" cy="685800"/>
          </a:xfrm>
          <a:prstGeom prst="rect">
            <a:avLst/>
          </a:prstGeom>
          <a:noFill/>
          <a:ln/>
        </p:spPr>
        <p:txBody>
          <a:bodyPr wrap="square" lIns="0" tIns="0" rIns="0" bIns="0" rtlCol="0" anchor="t">
            <a:normAutofit/>
          </a:bodyPr>
          <a:lstStyle/>
          <a:p>
            <a:pPr rtl="1" algn="ctr" indent="0" marL="0">
              <a:buNone/>
            </a:pPr>
            <a:r>
              <a:rPr lang="ar-SA" altLang="en-US" sz="1500" b="1" dirty="0">
                <a:solidFill>
                  <a:srgbClr val="101B45"/>
                </a:solidFill>
                <a:latin typeface="Cairo" pitchFamily="34" charset="0"/>
                <a:ea typeface="Cairo" pitchFamily="34" charset="-122"/>
                <a:cs typeface="Cairo" pitchFamily="34" charset="-120"/>
              </a:rPr>
              <a:t>مدرسة ضعيفة ومعلم ضعيف</a:t>
            </a:r>
            <a:endParaRPr lang="ar-SA" sz="1500" dirty="0"/>
          </a:p>
        </p:txBody>
      </p:sp>
      <p:sp>
        <p:nvSpPr>
          <p:cNvPr id="8" name="Shape 6"/>
          <p:cNvSpPr/>
          <p:nvPr/>
        </p:nvSpPr>
        <p:spPr>
          <a:xfrm>
            <a:off x="3133283" y="4093769"/>
            <a:ext cx="1670243" cy="981151"/>
          </a:xfrm>
          <a:prstGeom prst="rect">
            <a:avLst/>
          </a:prstGeom>
          <a:solidFill>
            <a:srgbClr val="6E7BA6"/>
          </a:solidFill>
          <a:ln/>
        </p:spPr>
      </p:sp>
      <p:sp>
        <p:nvSpPr>
          <p:cNvPr id="9" name="Text 7"/>
          <p:cNvSpPr/>
          <p:nvPr/>
        </p:nvSpPr>
        <p:spPr>
          <a:xfrm>
            <a:off x="3133283" y="3545129"/>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6E7BA6"/>
                </a:solidFill>
                <a:latin typeface="Cairo Black" pitchFamily="34" charset="0"/>
                <a:ea typeface="Cairo Black" pitchFamily="34" charset="-122"/>
                <a:cs typeface="Cairo Black" pitchFamily="34" charset="-120"/>
              </a:rPr>
              <a:t>٣٧</a:t>
            </a:r>
            <a:endParaRPr lang="ar-SA" sz="3000" dirty="0"/>
          </a:p>
        </p:txBody>
      </p:sp>
      <p:sp>
        <p:nvSpPr>
          <p:cNvPr id="10" name="Text 8"/>
          <p:cNvSpPr/>
          <p:nvPr/>
        </p:nvSpPr>
        <p:spPr>
          <a:xfrm>
            <a:off x="3041843" y="5166360"/>
            <a:ext cx="1853123" cy="685800"/>
          </a:xfrm>
          <a:prstGeom prst="rect">
            <a:avLst/>
          </a:prstGeom>
          <a:noFill/>
          <a:ln/>
        </p:spPr>
        <p:txBody>
          <a:bodyPr wrap="square" lIns="0" tIns="0" rIns="0" bIns="0" rtlCol="0" anchor="t">
            <a:normAutofit/>
          </a:bodyPr>
          <a:lstStyle/>
          <a:p>
            <a:pPr rtl="1" algn="ctr" indent="0" marL="0">
              <a:buNone/>
            </a:pPr>
            <a:r>
              <a:rPr lang="ar-SA" altLang="en-US" sz="1500" b="1" dirty="0">
                <a:solidFill>
                  <a:srgbClr val="101B45"/>
                </a:solidFill>
                <a:latin typeface="Cairo" pitchFamily="34" charset="0"/>
                <a:ea typeface="Cairo" pitchFamily="34" charset="-122"/>
                <a:cs typeface="Cairo" pitchFamily="34" charset="-120"/>
              </a:rPr>
              <a:t>مدرسة فعّالة ومعلم ضعيف</a:t>
            </a:r>
            <a:endParaRPr lang="ar-SA" sz="1500" dirty="0"/>
          </a:p>
        </p:txBody>
      </p:sp>
      <p:sp>
        <p:nvSpPr>
          <p:cNvPr id="11" name="Shape 9"/>
          <p:cNvSpPr/>
          <p:nvPr/>
        </p:nvSpPr>
        <p:spPr>
          <a:xfrm>
            <a:off x="5260726" y="3749040"/>
            <a:ext cx="1670243" cy="1325880"/>
          </a:xfrm>
          <a:prstGeom prst="rect">
            <a:avLst/>
          </a:prstGeom>
          <a:solidFill>
            <a:srgbClr val="C6CBDB"/>
          </a:solidFill>
          <a:ln/>
        </p:spPr>
      </p:sp>
      <p:sp>
        <p:nvSpPr>
          <p:cNvPr id="12" name="Text 10"/>
          <p:cNvSpPr/>
          <p:nvPr/>
        </p:nvSpPr>
        <p:spPr>
          <a:xfrm>
            <a:off x="5260726" y="3200400"/>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5E6782"/>
                </a:solidFill>
                <a:latin typeface="Cairo Black" pitchFamily="34" charset="0"/>
                <a:ea typeface="Cairo Black" pitchFamily="34" charset="-122"/>
                <a:cs typeface="Cairo Black" pitchFamily="34" charset="-120"/>
              </a:rPr>
              <a:t>٥٠</a:t>
            </a:r>
            <a:endParaRPr lang="ar-SA" sz="3000" dirty="0"/>
          </a:p>
        </p:txBody>
      </p:sp>
      <p:sp>
        <p:nvSpPr>
          <p:cNvPr id="13" name="Text 11"/>
          <p:cNvSpPr/>
          <p:nvPr/>
        </p:nvSpPr>
        <p:spPr>
          <a:xfrm>
            <a:off x="5169286" y="5166360"/>
            <a:ext cx="1853123" cy="685800"/>
          </a:xfrm>
          <a:prstGeom prst="rect">
            <a:avLst/>
          </a:prstGeom>
          <a:noFill/>
          <a:ln/>
        </p:spPr>
        <p:txBody>
          <a:bodyPr wrap="square" lIns="0" tIns="0" rIns="0" bIns="0" rtlCol="0" anchor="t">
            <a:normAutofit/>
          </a:bodyPr>
          <a:lstStyle/>
          <a:p>
            <a:pPr rtl="1" algn="ctr" indent="0" marL="0">
              <a:buNone/>
            </a:pPr>
            <a:r>
              <a:rPr lang="ar-SA" altLang="en-US" sz="1500" b="1" dirty="0">
                <a:solidFill>
                  <a:srgbClr val="101B45"/>
                </a:solidFill>
                <a:latin typeface="Cairo" pitchFamily="34" charset="0"/>
                <a:ea typeface="Cairo" pitchFamily="34" charset="-122"/>
                <a:cs typeface="Cairo" pitchFamily="34" charset="-120"/>
              </a:rPr>
              <a:t>نقطة البداية</a:t>
            </a:r>
            <a:endParaRPr lang="ar-SA" sz="1500" dirty="0"/>
          </a:p>
        </p:txBody>
      </p:sp>
      <p:sp>
        <p:nvSpPr>
          <p:cNvPr id="14" name="Shape 12"/>
          <p:cNvSpPr/>
          <p:nvPr/>
        </p:nvSpPr>
        <p:spPr>
          <a:xfrm>
            <a:off x="7388169" y="3404311"/>
            <a:ext cx="1670243" cy="1670609"/>
          </a:xfrm>
          <a:prstGeom prst="rect">
            <a:avLst/>
          </a:prstGeom>
          <a:solidFill>
            <a:srgbClr val="2E9E6B"/>
          </a:solidFill>
          <a:ln/>
        </p:spPr>
      </p:sp>
      <p:sp>
        <p:nvSpPr>
          <p:cNvPr id="15" name="Text 13"/>
          <p:cNvSpPr/>
          <p:nvPr/>
        </p:nvSpPr>
        <p:spPr>
          <a:xfrm>
            <a:off x="7388169" y="2855671"/>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2E9E6B"/>
                </a:solidFill>
                <a:latin typeface="Cairo Black" pitchFamily="34" charset="0"/>
                <a:ea typeface="Cairo Black" pitchFamily="34" charset="-122"/>
                <a:cs typeface="Cairo Black" pitchFamily="34" charset="-120"/>
              </a:rPr>
              <a:t>٦٣</a:t>
            </a:r>
            <a:endParaRPr lang="ar-SA" sz="3000" dirty="0"/>
          </a:p>
        </p:txBody>
      </p:sp>
      <p:sp>
        <p:nvSpPr>
          <p:cNvPr id="16" name="Text 14"/>
          <p:cNvSpPr/>
          <p:nvPr/>
        </p:nvSpPr>
        <p:spPr>
          <a:xfrm>
            <a:off x="7296729" y="5166360"/>
            <a:ext cx="1853123" cy="685800"/>
          </a:xfrm>
          <a:prstGeom prst="rect">
            <a:avLst/>
          </a:prstGeom>
          <a:noFill/>
          <a:ln/>
        </p:spPr>
        <p:txBody>
          <a:bodyPr wrap="square" lIns="0" tIns="0" rIns="0" bIns="0" rtlCol="0" anchor="t">
            <a:normAutofit/>
          </a:bodyPr>
          <a:lstStyle/>
          <a:p>
            <a:pPr rtl="1" algn="ctr" indent="0" marL="0">
              <a:buNone/>
            </a:pPr>
            <a:r>
              <a:rPr lang="ar-SA" altLang="en-US" sz="1500" b="1" dirty="0">
                <a:solidFill>
                  <a:srgbClr val="101B45"/>
                </a:solidFill>
                <a:latin typeface="Cairo" pitchFamily="34" charset="0"/>
                <a:ea typeface="Cairo" pitchFamily="34" charset="-122"/>
                <a:cs typeface="Cairo" pitchFamily="34" charset="-120"/>
              </a:rPr>
              <a:t>مدرسة ضعيفة ومعلم فعّال</a:t>
            </a:r>
            <a:endParaRPr lang="ar-SA" sz="1500" dirty="0"/>
          </a:p>
        </p:txBody>
      </p:sp>
      <p:sp>
        <p:nvSpPr>
          <p:cNvPr id="17" name="Shape 15"/>
          <p:cNvSpPr/>
          <p:nvPr/>
        </p:nvSpPr>
        <p:spPr>
          <a:xfrm>
            <a:off x="9515612" y="2529230"/>
            <a:ext cx="1670243" cy="2545690"/>
          </a:xfrm>
          <a:prstGeom prst="rect">
            <a:avLst/>
          </a:prstGeom>
          <a:solidFill>
            <a:srgbClr val="D9AE4B"/>
          </a:solidFill>
          <a:ln/>
        </p:spPr>
      </p:sp>
      <p:sp>
        <p:nvSpPr>
          <p:cNvPr id="18" name="Text 16"/>
          <p:cNvSpPr/>
          <p:nvPr/>
        </p:nvSpPr>
        <p:spPr>
          <a:xfrm>
            <a:off x="9515612" y="1980590"/>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D9AE4B"/>
                </a:solidFill>
                <a:latin typeface="Cairo Black" pitchFamily="34" charset="0"/>
                <a:ea typeface="Cairo Black" pitchFamily="34" charset="-122"/>
                <a:cs typeface="Cairo Black" pitchFamily="34" charset="-120"/>
              </a:rPr>
              <a:t>٩٦</a:t>
            </a:r>
            <a:endParaRPr lang="ar-SA" sz="3000" dirty="0"/>
          </a:p>
        </p:txBody>
      </p:sp>
      <p:sp>
        <p:nvSpPr>
          <p:cNvPr id="19" name="Text 17"/>
          <p:cNvSpPr/>
          <p:nvPr/>
        </p:nvSpPr>
        <p:spPr>
          <a:xfrm>
            <a:off x="9424172" y="5166360"/>
            <a:ext cx="1853123" cy="685800"/>
          </a:xfrm>
          <a:prstGeom prst="rect">
            <a:avLst/>
          </a:prstGeom>
          <a:noFill/>
          <a:ln/>
        </p:spPr>
        <p:txBody>
          <a:bodyPr wrap="square" lIns="0" tIns="0" rIns="0" bIns="0" rtlCol="0" anchor="t">
            <a:normAutofit/>
          </a:bodyPr>
          <a:lstStyle/>
          <a:p>
            <a:pPr rtl="1" algn="ctr" indent="0" marL="0">
              <a:buNone/>
            </a:pPr>
            <a:r>
              <a:rPr lang="ar-SA" altLang="en-US" sz="1500" b="1" dirty="0">
                <a:solidFill>
                  <a:srgbClr val="101B45"/>
                </a:solidFill>
                <a:latin typeface="Cairo" pitchFamily="34" charset="0"/>
                <a:ea typeface="Cairo" pitchFamily="34" charset="-122"/>
                <a:cs typeface="Cairo" pitchFamily="34" charset="-120"/>
              </a:rPr>
              <a:t>مدرسة فعّالة ومعلم فعّال</a:t>
            </a:r>
            <a:endParaRPr lang="ar-SA" sz="1500" dirty="0"/>
          </a:p>
        </p:txBody>
      </p:sp>
      <p:sp>
        <p:nvSpPr>
          <p:cNvPr id="20" name="Shape 18"/>
          <p:cNvSpPr/>
          <p:nvPr/>
        </p:nvSpPr>
        <p:spPr>
          <a:xfrm>
            <a:off x="822960" y="5074920"/>
            <a:ext cx="10545775" cy="0"/>
          </a:xfrm>
          <a:prstGeom prst="line">
            <a:avLst/>
          </a:prstGeom>
          <a:noFill/>
          <a:ln w="25400">
            <a:solidFill>
              <a:srgbClr val="101B45"/>
            </a:solidFill>
            <a:prstDash val="solid"/>
          </a:ln>
        </p:spPr>
      </p:sp>
      <p:sp>
        <p:nvSpPr>
          <p:cNvPr id="21" name="Text 19"/>
          <p:cNvSpPr/>
          <p:nvPr/>
        </p:nvSpPr>
        <p:spPr>
          <a:xfrm>
            <a:off x="822960" y="5897880"/>
            <a:ext cx="10545775"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5E6782"/>
                </a:solidFill>
                <a:latin typeface="Cairo" pitchFamily="34" charset="0"/>
                <a:ea typeface="Cairo" pitchFamily="34" charset="-122"/>
                <a:cs typeface="Cairo" pitchFamily="34" charset="-120"/>
              </a:rPr>
              <a:t>المحور الرأسي: ترتيب الطالب من ١٠٠ · المصدر: روبرت مارزانو، «ما الذي ينجح في المدارس» (2003)</a:t>
            </a:r>
            <a:endParaRPr lang="ar-SA" sz="1300" dirty="0"/>
          </a:p>
        </p:txBody>
      </p:sp>
      <p:sp>
        <p:nvSpPr>
          <p:cNvPr id="22" name="Text 2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3" name="Text 2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٢٠</a:t>
            </a:r>
            <a:endParaRPr lang="ar-SA"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18024" y="1188720"/>
            <a:ext cx="17556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218024" y="1188720"/>
            <a:ext cx="175564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الخلاصة</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الفعّال يصنع الفرق…</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حتى في المدرسة الضعيفة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نحن هنا؟  ·  ٢١</a:t>
            </a:r>
            <a:endParaRPr lang="ar-SA"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خريطة الرحلة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محطات الدورة</a:t>
            </a:r>
            <a:endParaRPr lang="ar-SA" sz="3800" dirty="0"/>
          </a:p>
        </p:txBody>
      </p:sp>
      <p:sp>
        <p:nvSpPr>
          <p:cNvPr id="5" name="Shape 3"/>
          <p:cNvSpPr/>
          <p:nvPr/>
        </p:nvSpPr>
        <p:spPr>
          <a:xfrm>
            <a:off x="8036357" y="2011680"/>
            <a:ext cx="3332378" cy="1097280"/>
          </a:xfrm>
          <a:prstGeom prst="roundRect">
            <a:avLst>
              <a:gd name="adj" fmla="val 15000"/>
            </a:avLst>
          </a:prstGeom>
          <a:solidFill>
            <a:srgbClr val="FFFFFF"/>
          </a:solidFill>
          <a:ln w="12700">
            <a:solidFill>
              <a:srgbClr val="E4DCC8"/>
            </a:solidFill>
            <a:prstDash val="solid"/>
          </a:ln>
        </p:spPr>
      </p:sp>
      <p:sp>
        <p:nvSpPr>
          <p:cNvPr id="6" name="Shape 4"/>
          <p:cNvSpPr/>
          <p:nvPr/>
        </p:nvSpPr>
        <p:spPr>
          <a:xfrm>
            <a:off x="10408615" y="2194560"/>
            <a:ext cx="731520" cy="731520"/>
          </a:xfrm>
          <a:prstGeom prst="roundRect">
            <a:avLst>
              <a:gd name="adj" fmla="val 22500"/>
            </a:avLst>
          </a:prstGeom>
          <a:solidFill>
            <a:srgbClr val="101B45"/>
          </a:solidFill>
          <a:ln/>
        </p:spPr>
      </p:sp>
      <p:sp>
        <p:nvSpPr>
          <p:cNvPr id="7" name="Text 5"/>
          <p:cNvSpPr/>
          <p:nvPr/>
        </p:nvSpPr>
        <p:spPr>
          <a:xfrm>
            <a:off x="10408615" y="219456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Text 6"/>
          <p:cNvSpPr/>
          <p:nvPr/>
        </p:nvSpPr>
        <p:spPr>
          <a:xfrm>
            <a:off x="8219237" y="2148840"/>
            <a:ext cx="2052218"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B08A2E"/>
                </a:solidFill>
                <a:latin typeface="Cairo" pitchFamily="34" charset="0"/>
                <a:ea typeface="Cairo" pitchFamily="34" charset="-122"/>
                <a:cs typeface="Cairo" pitchFamily="34" charset="-120"/>
              </a:rPr>
              <a:t>المحطة ١</a:t>
            </a:r>
            <a:endParaRPr lang="ar-SA" sz="1300" dirty="0"/>
          </a:p>
        </p:txBody>
      </p:sp>
      <p:sp>
        <p:nvSpPr>
          <p:cNvPr id="9" name="Text 7"/>
          <p:cNvSpPr/>
          <p:nvPr/>
        </p:nvSpPr>
        <p:spPr>
          <a:xfrm>
            <a:off x="8219237" y="2423160"/>
            <a:ext cx="2052218" cy="548640"/>
          </a:xfrm>
          <a:prstGeom prst="rect">
            <a:avLst/>
          </a:prstGeom>
          <a:noFill/>
          <a:ln/>
        </p:spPr>
        <p:txBody>
          <a:bodyPr wrap="square" lIns="0" tIns="0" rIns="0" bIns="0" rtlCol="0" anchor="ctr">
            <a:normAutofit/>
          </a:bodyPr>
          <a:lstStyle/>
          <a:p>
            <a:pPr rtl="1" algn="r" indent="0" marL="0">
              <a:buNone/>
            </a:pPr>
            <a:r>
              <a:rPr lang="ar-SA" altLang="en-US" sz="1900" dirty="0">
                <a:solidFill>
                  <a:srgbClr val="101B45"/>
                </a:solidFill>
                <a:latin typeface="Cairo Black" pitchFamily="34" charset="0"/>
                <a:ea typeface="Cairo Black" pitchFamily="34" charset="-122"/>
                <a:cs typeface="Cairo Black" pitchFamily="34" charset="-120"/>
              </a:rPr>
              <a:t>قبل أن تدخل الفصل</a:t>
            </a:r>
            <a:endParaRPr lang="ar-SA" sz="1900" dirty="0"/>
          </a:p>
        </p:txBody>
      </p:sp>
      <p:sp>
        <p:nvSpPr>
          <p:cNvPr id="10" name="Shape 8"/>
          <p:cNvSpPr/>
          <p:nvPr/>
        </p:nvSpPr>
        <p:spPr>
          <a:xfrm>
            <a:off x="4429658" y="2011680"/>
            <a:ext cx="3332378" cy="1097280"/>
          </a:xfrm>
          <a:prstGeom prst="roundRect">
            <a:avLst>
              <a:gd name="adj" fmla="val 15000"/>
            </a:avLst>
          </a:prstGeom>
          <a:solidFill>
            <a:srgbClr val="FFFFFF"/>
          </a:solidFill>
          <a:ln w="12700">
            <a:solidFill>
              <a:srgbClr val="E4DCC8"/>
            </a:solidFill>
            <a:prstDash val="solid"/>
          </a:ln>
        </p:spPr>
      </p:sp>
      <p:sp>
        <p:nvSpPr>
          <p:cNvPr id="11" name="Shape 9"/>
          <p:cNvSpPr/>
          <p:nvPr/>
        </p:nvSpPr>
        <p:spPr>
          <a:xfrm>
            <a:off x="6801917" y="2194560"/>
            <a:ext cx="731520" cy="731520"/>
          </a:xfrm>
          <a:prstGeom prst="roundRect">
            <a:avLst>
              <a:gd name="adj" fmla="val 22500"/>
            </a:avLst>
          </a:prstGeom>
          <a:solidFill>
            <a:srgbClr val="101B45"/>
          </a:solidFill>
          <a:ln/>
        </p:spPr>
      </p:sp>
      <p:sp>
        <p:nvSpPr>
          <p:cNvPr id="12" name="Text 10"/>
          <p:cNvSpPr/>
          <p:nvPr/>
        </p:nvSpPr>
        <p:spPr>
          <a:xfrm>
            <a:off x="6801917" y="219456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Text 11"/>
          <p:cNvSpPr/>
          <p:nvPr/>
        </p:nvSpPr>
        <p:spPr>
          <a:xfrm>
            <a:off x="4612538" y="2148840"/>
            <a:ext cx="2052218"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B08A2E"/>
                </a:solidFill>
                <a:latin typeface="Cairo" pitchFamily="34" charset="0"/>
                <a:ea typeface="Cairo" pitchFamily="34" charset="-122"/>
                <a:cs typeface="Cairo" pitchFamily="34" charset="-120"/>
              </a:rPr>
              <a:t>المحطة ٢</a:t>
            </a:r>
            <a:endParaRPr lang="ar-SA" sz="1300" dirty="0"/>
          </a:p>
        </p:txBody>
      </p:sp>
      <p:sp>
        <p:nvSpPr>
          <p:cNvPr id="14" name="Text 12"/>
          <p:cNvSpPr/>
          <p:nvPr/>
        </p:nvSpPr>
        <p:spPr>
          <a:xfrm>
            <a:off x="4612538" y="2423160"/>
            <a:ext cx="2052218" cy="548640"/>
          </a:xfrm>
          <a:prstGeom prst="rect">
            <a:avLst/>
          </a:prstGeom>
          <a:noFill/>
          <a:ln/>
        </p:spPr>
        <p:txBody>
          <a:bodyPr wrap="square" lIns="0" tIns="0" rIns="0" bIns="0" rtlCol="0" anchor="ctr">
            <a:normAutofit/>
          </a:bodyPr>
          <a:lstStyle/>
          <a:p>
            <a:pPr rtl="1" algn="r" indent="0" marL="0">
              <a:buNone/>
            </a:pPr>
            <a:r>
              <a:rPr lang="ar-SA" altLang="en-US" sz="1900" dirty="0">
                <a:solidFill>
                  <a:srgbClr val="101B45"/>
                </a:solidFill>
                <a:latin typeface="Cairo Black" pitchFamily="34" charset="0"/>
                <a:ea typeface="Cairo Black" pitchFamily="34" charset="-122"/>
                <a:cs typeface="Cairo Black" pitchFamily="34" charset="-120"/>
              </a:rPr>
              <a:t>لماذا نحن هنا؟</a:t>
            </a:r>
            <a:endParaRPr lang="ar-SA" sz="1900" dirty="0"/>
          </a:p>
        </p:txBody>
      </p:sp>
      <p:sp>
        <p:nvSpPr>
          <p:cNvPr id="15" name="Shape 13"/>
          <p:cNvSpPr/>
          <p:nvPr/>
        </p:nvSpPr>
        <p:spPr>
          <a:xfrm>
            <a:off x="822960" y="2011680"/>
            <a:ext cx="3332378" cy="1097280"/>
          </a:xfrm>
          <a:prstGeom prst="roundRect">
            <a:avLst>
              <a:gd name="adj" fmla="val 15000"/>
            </a:avLst>
          </a:prstGeom>
          <a:solidFill>
            <a:srgbClr val="FFFFFF"/>
          </a:solidFill>
          <a:ln w="12700">
            <a:solidFill>
              <a:srgbClr val="E4DCC8"/>
            </a:solidFill>
            <a:prstDash val="solid"/>
          </a:ln>
        </p:spPr>
      </p:sp>
      <p:sp>
        <p:nvSpPr>
          <p:cNvPr id="16" name="Shape 14"/>
          <p:cNvSpPr/>
          <p:nvPr/>
        </p:nvSpPr>
        <p:spPr>
          <a:xfrm>
            <a:off x="3195218" y="2194560"/>
            <a:ext cx="731520" cy="731520"/>
          </a:xfrm>
          <a:prstGeom prst="roundRect">
            <a:avLst>
              <a:gd name="adj" fmla="val 22500"/>
            </a:avLst>
          </a:prstGeom>
          <a:solidFill>
            <a:srgbClr val="101B45"/>
          </a:solidFill>
          <a:ln/>
        </p:spPr>
      </p:sp>
      <p:sp>
        <p:nvSpPr>
          <p:cNvPr id="17" name="Text 15"/>
          <p:cNvSpPr/>
          <p:nvPr/>
        </p:nvSpPr>
        <p:spPr>
          <a:xfrm>
            <a:off x="3195218" y="219456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Text 16"/>
          <p:cNvSpPr/>
          <p:nvPr/>
        </p:nvSpPr>
        <p:spPr>
          <a:xfrm>
            <a:off x="1005840" y="2148840"/>
            <a:ext cx="2052218"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B08A2E"/>
                </a:solidFill>
                <a:latin typeface="Cairo" pitchFamily="34" charset="0"/>
                <a:ea typeface="Cairo" pitchFamily="34" charset="-122"/>
                <a:cs typeface="Cairo" pitchFamily="34" charset="-120"/>
              </a:rPr>
              <a:t>المحطة ٣</a:t>
            </a:r>
            <a:endParaRPr lang="ar-SA" sz="1300" dirty="0"/>
          </a:p>
        </p:txBody>
      </p:sp>
      <p:sp>
        <p:nvSpPr>
          <p:cNvPr id="19" name="Text 17"/>
          <p:cNvSpPr/>
          <p:nvPr/>
        </p:nvSpPr>
        <p:spPr>
          <a:xfrm>
            <a:off x="1005840" y="2423160"/>
            <a:ext cx="2052218" cy="548640"/>
          </a:xfrm>
          <a:prstGeom prst="rect">
            <a:avLst/>
          </a:prstGeom>
          <a:noFill/>
          <a:ln/>
        </p:spPr>
        <p:txBody>
          <a:bodyPr wrap="square" lIns="0" tIns="0" rIns="0" bIns="0" rtlCol="0" anchor="ctr">
            <a:normAutofit/>
          </a:bodyPr>
          <a:lstStyle/>
          <a:p>
            <a:pPr rtl="1" algn="r" indent="0" marL="0">
              <a:buNone/>
            </a:pPr>
            <a:r>
              <a:rPr lang="ar-SA" altLang="en-US" sz="1900" dirty="0">
                <a:solidFill>
                  <a:srgbClr val="101B45"/>
                </a:solidFill>
                <a:latin typeface="Cairo Black" pitchFamily="34" charset="0"/>
                <a:ea typeface="Cairo Black" pitchFamily="34" charset="-122"/>
                <a:cs typeface="Cairo Black" pitchFamily="34" charset="-120"/>
              </a:rPr>
              <a:t>تصحيح المفاهيم</a:t>
            </a:r>
            <a:endParaRPr lang="ar-SA" sz="1900" dirty="0"/>
          </a:p>
        </p:txBody>
      </p:sp>
      <p:sp>
        <p:nvSpPr>
          <p:cNvPr id="20" name="Shape 18"/>
          <p:cNvSpPr/>
          <p:nvPr/>
        </p:nvSpPr>
        <p:spPr>
          <a:xfrm>
            <a:off x="8036357" y="3337560"/>
            <a:ext cx="3332378" cy="1097280"/>
          </a:xfrm>
          <a:prstGeom prst="roundRect">
            <a:avLst>
              <a:gd name="adj" fmla="val 15000"/>
            </a:avLst>
          </a:prstGeom>
          <a:solidFill>
            <a:srgbClr val="FFFFFF"/>
          </a:solidFill>
          <a:ln w="12700">
            <a:solidFill>
              <a:srgbClr val="E4DCC8"/>
            </a:solidFill>
            <a:prstDash val="solid"/>
          </a:ln>
        </p:spPr>
      </p:sp>
      <p:sp>
        <p:nvSpPr>
          <p:cNvPr id="21" name="Shape 19"/>
          <p:cNvSpPr/>
          <p:nvPr/>
        </p:nvSpPr>
        <p:spPr>
          <a:xfrm>
            <a:off x="10408615" y="3520440"/>
            <a:ext cx="731520" cy="731520"/>
          </a:xfrm>
          <a:prstGeom prst="roundRect">
            <a:avLst>
              <a:gd name="adj" fmla="val 22500"/>
            </a:avLst>
          </a:prstGeom>
          <a:solidFill>
            <a:srgbClr val="101B45"/>
          </a:solidFill>
          <a:ln/>
        </p:spPr>
      </p:sp>
      <p:sp>
        <p:nvSpPr>
          <p:cNvPr id="22" name="Text 20"/>
          <p:cNvSpPr/>
          <p:nvPr/>
        </p:nvSpPr>
        <p:spPr>
          <a:xfrm>
            <a:off x="10408615" y="352044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Text 21"/>
          <p:cNvSpPr/>
          <p:nvPr/>
        </p:nvSpPr>
        <p:spPr>
          <a:xfrm>
            <a:off x="8219237" y="3474720"/>
            <a:ext cx="2052218"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B08A2E"/>
                </a:solidFill>
                <a:latin typeface="Cairo" pitchFamily="34" charset="0"/>
                <a:ea typeface="Cairo" pitchFamily="34" charset="-122"/>
                <a:cs typeface="Cairo" pitchFamily="34" charset="-120"/>
              </a:rPr>
              <a:t>المحطة ٤</a:t>
            </a:r>
            <a:endParaRPr lang="ar-SA" sz="1300" dirty="0"/>
          </a:p>
        </p:txBody>
      </p:sp>
      <p:sp>
        <p:nvSpPr>
          <p:cNvPr id="24" name="Text 22"/>
          <p:cNvSpPr/>
          <p:nvPr/>
        </p:nvSpPr>
        <p:spPr>
          <a:xfrm>
            <a:off x="8219237" y="3749040"/>
            <a:ext cx="2052218" cy="548640"/>
          </a:xfrm>
          <a:prstGeom prst="rect">
            <a:avLst/>
          </a:prstGeom>
          <a:noFill/>
          <a:ln/>
        </p:spPr>
        <p:txBody>
          <a:bodyPr wrap="square" lIns="0" tIns="0" rIns="0" bIns="0" rtlCol="0" anchor="ctr">
            <a:normAutofit/>
          </a:bodyPr>
          <a:lstStyle/>
          <a:p>
            <a:pPr rtl="1" algn="r" indent="0" marL="0">
              <a:buNone/>
            </a:pPr>
            <a:r>
              <a:rPr lang="ar-SA" altLang="en-US" sz="1900" dirty="0">
                <a:solidFill>
                  <a:srgbClr val="101B45"/>
                </a:solidFill>
                <a:latin typeface="Cairo Black" pitchFamily="34" charset="0"/>
                <a:ea typeface="Cairo Black" pitchFamily="34" charset="-122"/>
                <a:cs typeface="Cairo Black" pitchFamily="34" charset="-120"/>
              </a:rPr>
              <a:t>صندوق أدوات المعلم</a:t>
            </a:r>
            <a:endParaRPr lang="ar-SA" sz="1900" dirty="0"/>
          </a:p>
        </p:txBody>
      </p:sp>
      <p:sp>
        <p:nvSpPr>
          <p:cNvPr id="25" name="Shape 23"/>
          <p:cNvSpPr/>
          <p:nvPr/>
        </p:nvSpPr>
        <p:spPr>
          <a:xfrm>
            <a:off x="4429658" y="3337560"/>
            <a:ext cx="3332378" cy="1097280"/>
          </a:xfrm>
          <a:prstGeom prst="roundRect">
            <a:avLst>
              <a:gd name="adj" fmla="val 15000"/>
            </a:avLst>
          </a:prstGeom>
          <a:solidFill>
            <a:srgbClr val="FFFFFF"/>
          </a:solidFill>
          <a:ln w="12700">
            <a:solidFill>
              <a:srgbClr val="E4DCC8"/>
            </a:solidFill>
            <a:prstDash val="solid"/>
          </a:ln>
        </p:spPr>
      </p:sp>
      <p:sp>
        <p:nvSpPr>
          <p:cNvPr id="26" name="Shape 24"/>
          <p:cNvSpPr/>
          <p:nvPr/>
        </p:nvSpPr>
        <p:spPr>
          <a:xfrm>
            <a:off x="6801917" y="3520440"/>
            <a:ext cx="731520" cy="731520"/>
          </a:xfrm>
          <a:prstGeom prst="roundRect">
            <a:avLst>
              <a:gd name="adj" fmla="val 22500"/>
            </a:avLst>
          </a:prstGeom>
          <a:solidFill>
            <a:srgbClr val="101B45"/>
          </a:solidFill>
          <a:ln/>
        </p:spPr>
      </p:sp>
      <p:sp>
        <p:nvSpPr>
          <p:cNvPr id="27" name="Text 25"/>
          <p:cNvSpPr/>
          <p:nvPr/>
        </p:nvSpPr>
        <p:spPr>
          <a:xfrm>
            <a:off x="6801917" y="352044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8" name="Text 26"/>
          <p:cNvSpPr/>
          <p:nvPr/>
        </p:nvSpPr>
        <p:spPr>
          <a:xfrm>
            <a:off x="4612538" y="3474720"/>
            <a:ext cx="2052218"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B08A2E"/>
                </a:solidFill>
                <a:latin typeface="Cairo" pitchFamily="34" charset="0"/>
                <a:ea typeface="Cairo" pitchFamily="34" charset="-122"/>
                <a:cs typeface="Cairo" pitchFamily="34" charset="-120"/>
              </a:rPr>
              <a:t>المحطة ٥</a:t>
            </a:r>
            <a:endParaRPr lang="ar-SA" sz="1300" dirty="0"/>
          </a:p>
        </p:txBody>
      </p:sp>
      <p:sp>
        <p:nvSpPr>
          <p:cNvPr id="29" name="Text 27"/>
          <p:cNvSpPr/>
          <p:nvPr/>
        </p:nvSpPr>
        <p:spPr>
          <a:xfrm>
            <a:off x="4612538" y="3749040"/>
            <a:ext cx="2052218" cy="548640"/>
          </a:xfrm>
          <a:prstGeom prst="rect">
            <a:avLst/>
          </a:prstGeom>
          <a:noFill/>
          <a:ln/>
        </p:spPr>
        <p:txBody>
          <a:bodyPr wrap="square" lIns="0" tIns="0" rIns="0" bIns="0" rtlCol="0" anchor="ctr">
            <a:normAutofit/>
          </a:bodyPr>
          <a:lstStyle/>
          <a:p>
            <a:pPr rtl="1" algn="r" indent="0" marL="0">
              <a:buNone/>
            </a:pPr>
            <a:r>
              <a:rPr lang="ar-SA" altLang="en-US" sz="1900" dirty="0">
                <a:solidFill>
                  <a:srgbClr val="101B45"/>
                </a:solidFill>
                <a:latin typeface="Cairo Black" pitchFamily="34" charset="0"/>
                <a:ea typeface="Cairo Black" pitchFamily="34" charset="-122"/>
                <a:cs typeface="Cairo Black" pitchFamily="34" charset="-120"/>
              </a:rPr>
              <a:t>أنماط القيادة الصفية</a:t>
            </a:r>
            <a:endParaRPr lang="ar-SA" sz="1900" dirty="0"/>
          </a:p>
        </p:txBody>
      </p:sp>
      <p:sp>
        <p:nvSpPr>
          <p:cNvPr id="30" name="Shape 28"/>
          <p:cNvSpPr/>
          <p:nvPr/>
        </p:nvSpPr>
        <p:spPr>
          <a:xfrm>
            <a:off x="822960" y="3337560"/>
            <a:ext cx="3332378" cy="1097280"/>
          </a:xfrm>
          <a:prstGeom prst="roundRect">
            <a:avLst>
              <a:gd name="adj" fmla="val 15000"/>
            </a:avLst>
          </a:prstGeom>
          <a:solidFill>
            <a:srgbClr val="FFFFFF"/>
          </a:solidFill>
          <a:ln w="12700">
            <a:solidFill>
              <a:srgbClr val="E4DCC8"/>
            </a:solidFill>
            <a:prstDash val="solid"/>
          </a:ln>
        </p:spPr>
      </p:sp>
      <p:sp>
        <p:nvSpPr>
          <p:cNvPr id="31" name="Shape 29"/>
          <p:cNvSpPr/>
          <p:nvPr/>
        </p:nvSpPr>
        <p:spPr>
          <a:xfrm>
            <a:off x="3195218" y="3520440"/>
            <a:ext cx="731520" cy="731520"/>
          </a:xfrm>
          <a:prstGeom prst="roundRect">
            <a:avLst>
              <a:gd name="adj" fmla="val 22500"/>
            </a:avLst>
          </a:prstGeom>
          <a:solidFill>
            <a:srgbClr val="101B45"/>
          </a:solidFill>
          <a:ln/>
        </p:spPr>
      </p:sp>
      <p:sp>
        <p:nvSpPr>
          <p:cNvPr id="32" name="Text 30"/>
          <p:cNvSpPr/>
          <p:nvPr/>
        </p:nvSpPr>
        <p:spPr>
          <a:xfrm>
            <a:off x="3195218" y="352044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33" name="Text 31"/>
          <p:cNvSpPr/>
          <p:nvPr/>
        </p:nvSpPr>
        <p:spPr>
          <a:xfrm>
            <a:off x="1005840" y="3474720"/>
            <a:ext cx="2052218"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B08A2E"/>
                </a:solidFill>
                <a:latin typeface="Cairo" pitchFamily="34" charset="0"/>
                <a:ea typeface="Cairo" pitchFamily="34" charset="-122"/>
                <a:cs typeface="Cairo" pitchFamily="34" charset="-120"/>
              </a:rPr>
              <a:t>المحطة ٦</a:t>
            </a:r>
            <a:endParaRPr lang="ar-SA" sz="1300" dirty="0"/>
          </a:p>
        </p:txBody>
      </p:sp>
      <p:sp>
        <p:nvSpPr>
          <p:cNvPr id="34" name="Text 32"/>
          <p:cNvSpPr/>
          <p:nvPr/>
        </p:nvSpPr>
        <p:spPr>
          <a:xfrm>
            <a:off x="1005840" y="3749040"/>
            <a:ext cx="2052218" cy="548640"/>
          </a:xfrm>
          <a:prstGeom prst="rect">
            <a:avLst/>
          </a:prstGeom>
          <a:noFill/>
          <a:ln/>
        </p:spPr>
        <p:txBody>
          <a:bodyPr wrap="square" lIns="0" tIns="0" rIns="0" bIns="0" rtlCol="0" anchor="ctr">
            <a:normAutofit/>
          </a:bodyPr>
          <a:lstStyle/>
          <a:p>
            <a:pPr rtl="1" algn="r" indent="0" marL="0">
              <a:buNone/>
            </a:pPr>
            <a:r>
              <a:rPr lang="ar-SA" altLang="en-US" sz="1900" dirty="0">
                <a:solidFill>
                  <a:srgbClr val="101B45"/>
                </a:solidFill>
                <a:latin typeface="Cairo Black" pitchFamily="34" charset="0"/>
                <a:ea typeface="Cairo Black" pitchFamily="34" charset="-122"/>
                <a:cs typeface="Cairo Black" pitchFamily="34" charset="-120"/>
              </a:rPr>
              <a:t>القواعد والإجراءات</a:t>
            </a:r>
            <a:endParaRPr lang="ar-SA" sz="1900" dirty="0"/>
          </a:p>
        </p:txBody>
      </p:sp>
      <p:sp>
        <p:nvSpPr>
          <p:cNvPr id="35" name="Shape 33"/>
          <p:cNvSpPr/>
          <p:nvPr/>
        </p:nvSpPr>
        <p:spPr>
          <a:xfrm>
            <a:off x="8036357" y="4663440"/>
            <a:ext cx="3332378" cy="1097280"/>
          </a:xfrm>
          <a:prstGeom prst="roundRect">
            <a:avLst>
              <a:gd name="adj" fmla="val 15000"/>
            </a:avLst>
          </a:prstGeom>
          <a:solidFill>
            <a:srgbClr val="FFFFFF"/>
          </a:solidFill>
          <a:ln w="12700">
            <a:solidFill>
              <a:srgbClr val="E4DCC8"/>
            </a:solidFill>
            <a:prstDash val="solid"/>
          </a:ln>
        </p:spPr>
      </p:sp>
      <p:sp>
        <p:nvSpPr>
          <p:cNvPr id="36" name="Shape 34"/>
          <p:cNvSpPr/>
          <p:nvPr/>
        </p:nvSpPr>
        <p:spPr>
          <a:xfrm>
            <a:off x="10408615" y="4846320"/>
            <a:ext cx="731520" cy="731520"/>
          </a:xfrm>
          <a:prstGeom prst="roundRect">
            <a:avLst>
              <a:gd name="adj" fmla="val 22500"/>
            </a:avLst>
          </a:prstGeom>
          <a:solidFill>
            <a:srgbClr val="101B45"/>
          </a:solidFill>
          <a:ln/>
        </p:spPr>
      </p:sp>
      <p:sp>
        <p:nvSpPr>
          <p:cNvPr id="37" name="Text 35"/>
          <p:cNvSpPr/>
          <p:nvPr/>
        </p:nvSpPr>
        <p:spPr>
          <a:xfrm>
            <a:off x="10408615" y="484632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38" name="Text 36"/>
          <p:cNvSpPr/>
          <p:nvPr/>
        </p:nvSpPr>
        <p:spPr>
          <a:xfrm>
            <a:off x="8219237" y="4800600"/>
            <a:ext cx="2052218"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B08A2E"/>
                </a:solidFill>
                <a:latin typeface="Cairo" pitchFamily="34" charset="0"/>
                <a:ea typeface="Cairo" pitchFamily="34" charset="-122"/>
                <a:cs typeface="Cairo" pitchFamily="34" charset="-120"/>
              </a:rPr>
              <a:t>المحطة ٧</a:t>
            </a:r>
            <a:endParaRPr lang="ar-SA" sz="1300" dirty="0"/>
          </a:p>
        </p:txBody>
      </p:sp>
      <p:sp>
        <p:nvSpPr>
          <p:cNvPr id="39" name="Text 37"/>
          <p:cNvSpPr/>
          <p:nvPr/>
        </p:nvSpPr>
        <p:spPr>
          <a:xfrm>
            <a:off x="8219237" y="5074920"/>
            <a:ext cx="2052218" cy="548640"/>
          </a:xfrm>
          <a:prstGeom prst="rect">
            <a:avLst/>
          </a:prstGeom>
          <a:noFill/>
          <a:ln/>
        </p:spPr>
        <p:txBody>
          <a:bodyPr wrap="square" lIns="0" tIns="0" rIns="0" bIns="0" rtlCol="0" anchor="ctr">
            <a:normAutofit/>
          </a:bodyPr>
          <a:lstStyle/>
          <a:p>
            <a:pPr rtl="1" algn="r" indent="0" marL="0">
              <a:buNone/>
            </a:pPr>
            <a:r>
              <a:rPr lang="ar-SA" altLang="en-US" sz="1900" dirty="0">
                <a:solidFill>
                  <a:srgbClr val="101B45"/>
                </a:solidFill>
                <a:latin typeface="Cairo Black" pitchFamily="34" charset="0"/>
                <a:ea typeface="Cairo Black" pitchFamily="34" charset="-122"/>
                <a:cs typeface="Cairo Black" pitchFamily="34" charset="-120"/>
              </a:rPr>
              <a:t>الطالب والأسرة</a:t>
            </a:r>
            <a:endParaRPr lang="ar-SA" sz="1900" dirty="0"/>
          </a:p>
        </p:txBody>
      </p:sp>
      <p:sp>
        <p:nvSpPr>
          <p:cNvPr id="40" name="Shape 38"/>
          <p:cNvSpPr/>
          <p:nvPr/>
        </p:nvSpPr>
        <p:spPr>
          <a:xfrm>
            <a:off x="4429658" y="4663440"/>
            <a:ext cx="3332378" cy="1097280"/>
          </a:xfrm>
          <a:prstGeom prst="roundRect">
            <a:avLst>
              <a:gd name="adj" fmla="val 15000"/>
            </a:avLst>
          </a:prstGeom>
          <a:solidFill>
            <a:srgbClr val="FFFFFF"/>
          </a:solidFill>
          <a:ln w="12700">
            <a:solidFill>
              <a:srgbClr val="E4DCC8"/>
            </a:solidFill>
            <a:prstDash val="solid"/>
          </a:ln>
        </p:spPr>
      </p:sp>
      <p:sp>
        <p:nvSpPr>
          <p:cNvPr id="41" name="Shape 39"/>
          <p:cNvSpPr/>
          <p:nvPr/>
        </p:nvSpPr>
        <p:spPr>
          <a:xfrm>
            <a:off x="6801917" y="4846320"/>
            <a:ext cx="731520" cy="731520"/>
          </a:xfrm>
          <a:prstGeom prst="roundRect">
            <a:avLst>
              <a:gd name="adj" fmla="val 22500"/>
            </a:avLst>
          </a:prstGeom>
          <a:solidFill>
            <a:srgbClr val="101B45"/>
          </a:solidFill>
          <a:ln/>
        </p:spPr>
      </p:sp>
      <p:sp>
        <p:nvSpPr>
          <p:cNvPr id="42" name="Text 40"/>
          <p:cNvSpPr/>
          <p:nvPr/>
        </p:nvSpPr>
        <p:spPr>
          <a:xfrm>
            <a:off x="6801917" y="484632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43" name="Text 41"/>
          <p:cNvSpPr/>
          <p:nvPr/>
        </p:nvSpPr>
        <p:spPr>
          <a:xfrm>
            <a:off x="4612538" y="4800600"/>
            <a:ext cx="2052218"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B08A2E"/>
                </a:solidFill>
                <a:latin typeface="Cairo" pitchFamily="34" charset="0"/>
                <a:ea typeface="Cairo" pitchFamily="34" charset="-122"/>
                <a:cs typeface="Cairo" pitchFamily="34" charset="-120"/>
              </a:rPr>
              <a:t>المحطة ٨</a:t>
            </a:r>
            <a:endParaRPr lang="ar-SA" sz="1300" dirty="0"/>
          </a:p>
        </p:txBody>
      </p:sp>
      <p:sp>
        <p:nvSpPr>
          <p:cNvPr id="44" name="Text 42"/>
          <p:cNvSpPr/>
          <p:nvPr/>
        </p:nvSpPr>
        <p:spPr>
          <a:xfrm>
            <a:off x="4612538" y="5074920"/>
            <a:ext cx="2052218" cy="548640"/>
          </a:xfrm>
          <a:prstGeom prst="rect">
            <a:avLst/>
          </a:prstGeom>
          <a:noFill/>
          <a:ln/>
        </p:spPr>
        <p:txBody>
          <a:bodyPr wrap="square" lIns="0" tIns="0" rIns="0" bIns="0" rtlCol="0" anchor="ctr">
            <a:normAutofit/>
          </a:bodyPr>
          <a:lstStyle/>
          <a:p>
            <a:pPr rtl="1" algn="r" indent="0" marL="0">
              <a:buNone/>
            </a:pPr>
            <a:r>
              <a:rPr lang="ar-SA" altLang="en-US" sz="1900" dirty="0">
                <a:solidFill>
                  <a:srgbClr val="101B45"/>
                </a:solidFill>
                <a:latin typeface="Cairo Black" pitchFamily="34" charset="0"/>
                <a:ea typeface="Cairo Black" pitchFamily="34" charset="-122"/>
                <a:cs typeface="Cairo Black" pitchFamily="34" charset="-120"/>
              </a:rPr>
              <a:t>مواقف العصر الرقمي</a:t>
            </a:r>
            <a:endParaRPr lang="ar-SA" sz="1900" dirty="0"/>
          </a:p>
        </p:txBody>
      </p:sp>
      <p:sp>
        <p:nvSpPr>
          <p:cNvPr id="45" name="Shape 43"/>
          <p:cNvSpPr/>
          <p:nvPr/>
        </p:nvSpPr>
        <p:spPr>
          <a:xfrm>
            <a:off x="822960" y="4663440"/>
            <a:ext cx="3332378" cy="1097280"/>
          </a:xfrm>
          <a:prstGeom prst="roundRect">
            <a:avLst>
              <a:gd name="adj" fmla="val 15000"/>
            </a:avLst>
          </a:prstGeom>
          <a:solidFill>
            <a:srgbClr val="FFFFFF"/>
          </a:solidFill>
          <a:ln w="12700">
            <a:solidFill>
              <a:srgbClr val="E4DCC8"/>
            </a:solidFill>
            <a:prstDash val="solid"/>
          </a:ln>
        </p:spPr>
      </p:sp>
      <p:sp>
        <p:nvSpPr>
          <p:cNvPr id="46" name="Shape 44"/>
          <p:cNvSpPr/>
          <p:nvPr/>
        </p:nvSpPr>
        <p:spPr>
          <a:xfrm>
            <a:off x="3195218" y="4846320"/>
            <a:ext cx="731520" cy="731520"/>
          </a:xfrm>
          <a:prstGeom prst="roundRect">
            <a:avLst>
              <a:gd name="adj" fmla="val 22500"/>
            </a:avLst>
          </a:prstGeom>
          <a:solidFill>
            <a:srgbClr val="101B45"/>
          </a:solidFill>
          <a:ln/>
        </p:spPr>
      </p:sp>
      <p:sp>
        <p:nvSpPr>
          <p:cNvPr id="47" name="Text 45"/>
          <p:cNvSpPr/>
          <p:nvPr/>
        </p:nvSpPr>
        <p:spPr>
          <a:xfrm>
            <a:off x="3195218" y="484632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48" name="Text 46"/>
          <p:cNvSpPr/>
          <p:nvPr/>
        </p:nvSpPr>
        <p:spPr>
          <a:xfrm>
            <a:off x="1005840" y="4800600"/>
            <a:ext cx="2052218" cy="320040"/>
          </a:xfrm>
          <a:prstGeom prst="rect">
            <a:avLst/>
          </a:prstGeom>
          <a:noFill/>
          <a:ln/>
        </p:spPr>
        <p:txBody>
          <a:bodyPr wrap="square" lIns="0" tIns="0" rIns="0" bIns="0" rtlCol="0" anchor="ctr">
            <a:normAutofit/>
          </a:bodyPr>
          <a:lstStyle/>
          <a:p>
            <a:pPr rtl="1" algn="r" indent="0" marL="0">
              <a:buNone/>
            </a:pPr>
            <a:r>
              <a:rPr lang="ar-SA" altLang="en-US" sz="1300" b="1" dirty="0">
                <a:solidFill>
                  <a:srgbClr val="B08A2E"/>
                </a:solidFill>
                <a:latin typeface="Cairo" pitchFamily="34" charset="0"/>
                <a:ea typeface="Cairo" pitchFamily="34" charset="-122"/>
                <a:cs typeface="Cairo" pitchFamily="34" charset="-120"/>
              </a:rPr>
              <a:t>المحطة ٩</a:t>
            </a:r>
            <a:endParaRPr lang="ar-SA" sz="1300" dirty="0"/>
          </a:p>
        </p:txBody>
      </p:sp>
      <p:sp>
        <p:nvSpPr>
          <p:cNvPr id="49" name="Text 47"/>
          <p:cNvSpPr/>
          <p:nvPr/>
        </p:nvSpPr>
        <p:spPr>
          <a:xfrm>
            <a:off x="1005840" y="5074920"/>
            <a:ext cx="2052218" cy="548640"/>
          </a:xfrm>
          <a:prstGeom prst="rect">
            <a:avLst/>
          </a:prstGeom>
          <a:noFill/>
          <a:ln/>
        </p:spPr>
        <p:txBody>
          <a:bodyPr wrap="square" lIns="0" tIns="0" rIns="0" bIns="0" rtlCol="0" anchor="ctr">
            <a:normAutofit/>
          </a:bodyPr>
          <a:lstStyle/>
          <a:p>
            <a:pPr rtl="1" algn="r" indent="0" marL="0">
              <a:buNone/>
            </a:pPr>
            <a:r>
              <a:rPr lang="ar-SA" altLang="en-US" sz="1900" dirty="0">
                <a:solidFill>
                  <a:srgbClr val="101B45"/>
                </a:solidFill>
                <a:latin typeface="Cairo Black" pitchFamily="34" charset="0"/>
                <a:ea typeface="Cairo Black" pitchFamily="34" charset="-122"/>
                <a:cs typeface="Cairo Black" pitchFamily="34" charset="-120"/>
              </a:rPr>
              <a:t>عيادة المواقف</a:t>
            </a:r>
            <a:endParaRPr lang="ar-SA" sz="1900" dirty="0"/>
          </a:p>
        </p:txBody>
      </p:sp>
      <p:sp>
        <p:nvSpPr>
          <p:cNvPr id="50" name="Text 4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51" name="Text 4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٢٢</a:t>
            </a:r>
            <a:endParaRPr lang="ar-SA"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تصحيح المفاهيم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سبع أفكار شائعة… تُفسد إدارة الفصل دون أن نشعر</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تصحيح المفاهيم  ·  ٢٣</a:t>
            </a:r>
            <a:endParaRPr lang="ar-SA"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صح أم خطأ؟ · ١ من ٧</a:t>
            </a:r>
            <a:endParaRPr lang="ar-SA" sz="16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ضبط السلوك هو الهدف الأساسي لإدارة الفصل</a:t>
            </a:r>
            <a:endParaRPr lang="ar-SA" sz="3200" dirty="0"/>
          </a:p>
        </p:txBody>
      </p:sp>
      <p:sp>
        <p:nvSpPr>
          <p:cNvPr id="7" name="anim-g1-11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1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13"/>
          <p:cNvSpPr/>
          <p:nvPr/>
        </p:nvSpPr>
        <p:spPr>
          <a:xfrm>
            <a:off x="822960" y="3886200"/>
            <a:ext cx="10545775" cy="1828800"/>
          </a:xfrm>
          <a:prstGeom prst="roundRect">
            <a:avLst>
              <a:gd name="adj" fmla="val 11000"/>
            </a:avLst>
          </a:prstGeom>
          <a:solidFill>
            <a:srgbClr val="E6F4EC"/>
          </a:solidFill>
          <a:ln/>
        </p:spPr>
      </p:sp>
      <p:sp>
        <p:nvSpPr>
          <p:cNvPr id="10" name="anim-g2-114"/>
          <p:cNvSpPr/>
          <p:nvPr/>
        </p:nvSpPr>
        <p:spPr>
          <a:xfrm>
            <a:off x="11259007" y="3886200"/>
            <a:ext cx="109728" cy="1828800"/>
          </a:xfrm>
          <a:prstGeom prst="rect">
            <a:avLst/>
          </a:prstGeom>
          <a:solidFill>
            <a:srgbClr val="2E9E6B"/>
          </a:solidFill>
          <a:ln/>
        </p:spPr>
      </p:sp>
      <p:sp>
        <p:nvSpPr>
          <p:cNvPr id="11" name="anim-g2-11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ضبط السلوك وسيلة واحدة فقط. الهدف الحقيقي بيئة يتعلم فيها كل طالب بأمان واحترام.</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صح أم خطأ؟ · ٢ من ٧</a:t>
            </a:r>
            <a:endParaRPr lang="ar-SA" sz="16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أهتم بالطلاب الراغبين في التعلم… أما البقية فهم وشأنهم</a:t>
            </a:r>
            <a:endParaRPr lang="ar-SA" sz="3200" dirty="0"/>
          </a:p>
        </p:txBody>
      </p:sp>
      <p:sp>
        <p:nvSpPr>
          <p:cNvPr id="7" name="anim-g1-116"/>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17"/>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18"/>
          <p:cNvSpPr/>
          <p:nvPr/>
        </p:nvSpPr>
        <p:spPr>
          <a:xfrm>
            <a:off x="822960" y="3886200"/>
            <a:ext cx="10545775" cy="1828800"/>
          </a:xfrm>
          <a:prstGeom prst="roundRect">
            <a:avLst>
              <a:gd name="adj" fmla="val 11000"/>
            </a:avLst>
          </a:prstGeom>
          <a:solidFill>
            <a:srgbClr val="E6F4EC"/>
          </a:solidFill>
          <a:ln/>
        </p:spPr>
      </p:sp>
      <p:sp>
        <p:nvSpPr>
          <p:cNvPr id="10" name="anim-g2-119"/>
          <p:cNvSpPr/>
          <p:nvPr/>
        </p:nvSpPr>
        <p:spPr>
          <a:xfrm>
            <a:off x="11259007" y="3886200"/>
            <a:ext cx="109728" cy="1828800"/>
          </a:xfrm>
          <a:prstGeom prst="rect">
            <a:avLst/>
          </a:prstGeom>
          <a:solidFill>
            <a:srgbClr val="2E9E6B"/>
          </a:solidFill>
          <a:ln/>
        </p:spPr>
      </p:sp>
      <p:sp>
        <p:nvSpPr>
          <p:cNvPr id="11" name="anim-g2-120"/>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هذا سلوك المعلم العاجز. نجاحك يُقاس بتقدم كل طلابك، والأقل انضباطًا أحوجهم إليك.</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صح أم خطأ؟ · ٣ من ٧</a:t>
            </a:r>
            <a:endParaRPr lang="ar-SA" sz="16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أشرح القواعد أول السنة… ولا حاجة لإعادتها</a:t>
            </a:r>
            <a:endParaRPr lang="ar-SA" sz="3200" dirty="0"/>
          </a:p>
        </p:txBody>
      </p:sp>
      <p:sp>
        <p:nvSpPr>
          <p:cNvPr id="7" name="anim-g1-12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2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23"/>
          <p:cNvSpPr/>
          <p:nvPr/>
        </p:nvSpPr>
        <p:spPr>
          <a:xfrm>
            <a:off x="822960" y="3886200"/>
            <a:ext cx="10545775" cy="1828800"/>
          </a:xfrm>
          <a:prstGeom prst="roundRect">
            <a:avLst>
              <a:gd name="adj" fmla="val 11000"/>
            </a:avLst>
          </a:prstGeom>
          <a:solidFill>
            <a:srgbClr val="E6F4EC"/>
          </a:solidFill>
          <a:ln/>
        </p:spPr>
      </p:sp>
      <p:sp>
        <p:nvSpPr>
          <p:cNvPr id="10" name="anim-g2-124"/>
          <p:cNvSpPr/>
          <p:nvPr/>
        </p:nvSpPr>
        <p:spPr>
          <a:xfrm>
            <a:off x="11259007" y="3886200"/>
            <a:ext cx="109728" cy="1828800"/>
          </a:xfrm>
          <a:prstGeom prst="rect">
            <a:avLst/>
          </a:prstGeom>
          <a:solidFill>
            <a:srgbClr val="2E9E6B"/>
          </a:solidFill>
          <a:ln/>
        </p:spPr>
      </p:sp>
      <p:sp>
        <p:nvSpPr>
          <p:cNvPr id="11" name="anim-g2-12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القواعد تُشرح وتُمارَس وتُراجَع ويُعاد تعليمها، تمامًا كأي درس. التكرار يصنع العادة.</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صح أم خطأ؟ · ٤ من ٧</a:t>
            </a:r>
            <a:endParaRPr lang="ar-SA" sz="16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لا داعي لإضاعة وقت الدرس في مشكلات الانضباط</a:t>
            </a:r>
            <a:endParaRPr lang="ar-SA" sz="3200" dirty="0"/>
          </a:p>
        </p:txBody>
      </p:sp>
      <p:sp>
        <p:nvSpPr>
          <p:cNvPr id="7" name="anim-g1-126"/>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27"/>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28"/>
          <p:cNvSpPr/>
          <p:nvPr/>
        </p:nvSpPr>
        <p:spPr>
          <a:xfrm>
            <a:off x="822960" y="3886200"/>
            <a:ext cx="10545775" cy="1828800"/>
          </a:xfrm>
          <a:prstGeom prst="roundRect">
            <a:avLst>
              <a:gd name="adj" fmla="val 11000"/>
            </a:avLst>
          </a:prstGeom>
          <a:solidFill>
            <a:srgbClr val="E6F4EC"/>
          </a:solidFill>
          <a:ln/>
        </p:spPr>
      </p:sp>
      <p:sp>
        <p:nvSpPr>
          <p:cNvPr id="10" name="anim-g2-129"/>
          <p:cNvSpPr/>
          <p:nvPr/>
        </p:nvSpPr>
        <p:spPr>
          <a:xfrm>
            <a:off x="11259007" y="3886200"/>
            <a:ext cx="109728" cy="1828800"/>
          </a:xfrm>
          <a:prstGeom prst="rect">
            <a:avLst/>
          </a:prstGeom>
          <a:solidFill>
            <a:srgbClr val="2E9E6B"/>
          </a:solidFill>
          <a:ln/>
        </p:spPr>
      </p:sp>
      <p:sp>
        <p:nvSpPr>
          <p:cNvPr id="11" name="anim-g2-130"/>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لا تدريس فعّال بلا انضباط. الدقائق التي تستثمرها في الإدارة تعود عليك ساعات من التعلم.</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صح أم خطأ؟ · ٥ من ٧</a:t>
            </a:r>
            <a:endParaRPr lang="ar-SA" sz="16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إذا أظهرت حبي الشديد للطلاب سينضبط الفصل تلقائيًا</a:t>
            </a:r>
            <a:endParaRPr lang="ar-SA" sz="3200" dirty="0"/>
          </a:p>
        </p:txBody>
      </p:sp>
      <p:sp>
        <p:nvSpPr>
          <p:cNvPr id="7" name="anim-g1-13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3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33"/>
          <p:cNvSpPr/>
          <p:nvPr/>
        </p:nvSpPr>
        <p:spPr>
          <a:xfrm>
            <a:off x="822960" y="3886200"/>
            <a:ext cx="10545775" cy="1828800"/>
          </a:xfrm>
          <a:prstGeom prst="roundRect">
            <a:avLst>
              <a:gd name="adj" fmla="val 11000"/>
            </a:avLst>
          </a:prstGeom>
          <a:solidFill>
            <a:srgbClr val="E6F4EC"/>
          </a:solidFill>
          <a:ln/>
        </p:spPr>
      </p:sp>
      <p:sp>
        <p:nvSpPr>
          <p:cNvPr id="10" name="anim-g2-134"/>
          <p:cNvSpPr/>
          <p:nvPr/>
        </p:nvSpPr>
        <p:spPr>
          <a:xfrm>
            <a:off x="11259007" y="3886200"/>
            <a:ext cx="109728" cy="1828800"/>
          </a:xfrm>
          <a:prstGeom prst="rect">
            <a:avLst/>
          </a:prstGeom>
          <a:solidFill>
            <a:srgbClr val="2E9E6B"/>
          </a:solidFill>
          <a:ln/>
        </p:spPr>
      </p:sp>
      <p:sp>
        <p:nvSpPr>
          <p:cNvPr id="11" name="anim-g2-13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الحب وحده لا يكفي، والحزم وحده لا يكفي. الطالب يحتاج دفئًا في العلاقة وحزمًا في القاعدة معًا.</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صح أم خطأ؟ · ٦ من ٧</a:t>
            </a:r>
            <a:endParaRPr lang="ar-SA" sz="16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إدارة الصف موهبة فطرية… لا تُتعلَّم</a:t>
            </a:r>
            <a:endParaRPr lang="ar-SA" sz="3200" dirty="0"/>
          </a:p>
        </p:txBody>
      </p:sp>
      <p:sp>
        <p:nvSpPr>
          <p:cNvPr id="7" name="anim-g1-136"/>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37"/>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38"/>
          <p:cNvSpPr/>
          <p:nvPr/>
        </p:nvSpPr>
        <p:spPr>
          <a:xfrm>
            <a:off x="822960" y="3886200"/>
            <a:ext cx="10545775" cy="1828800"/>
          </a:xfrm>
          <a:prstGeom prst="roundRect">
            <a:avLst>
              <a:gd name="adj" fmla="val 11000"/>
            </a:avLst>
          </a:prstGeom>
          <a:solidFill>
            <a:srgbClr val="E6F4EC"/>
          </a:solidFill>
          <a:ln/>
        </p:spPr>
      </p:sp>
      <p:sp>
        <p:nvSpPr>
          <p:cNvPr id="10" name="anim-g2-139"/>
          <p:cNvSpPr/>
          <p:nvPr/>
        </p:nvSpPr>
        <p:spPr>
          <a:xfrm>
            <a:off x="11259007" y="3886200"/>
            <a:ext cx="109728" cy="1828800"/>
          </a:xfrm>
          <a:prstGeom prst="rect">
            <a:avLst/>
          </a:prstGeom>
          <a:solidFill>
            <a:srgbClr val="2E9E6B"/>
          </a:solidFill>
          <a:ln/>
        </p:spPr>
      </p:sp>
      <p:sp>
        <p:nvSpPr>
          <p:cNvPr id="11" name="anim-g2-140"/>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إدارة الصف مهارات قابلة للتعلم والتدريب مثل أي مهارة. كل معلم قادر على التحسن.</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صح أم خطأ؟ · ٧ من ٧</a:t>
            </a:r>
            <a:endParaRPr lang="ar-SA" sz="16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التخلص من الطالب المشاغب يحل مشكلات الفصل</a:t>
            </a:r>
            <a:endParaRPr lang="ar-SA" sz="3200" dirty="0"/>
          </a:p>
        </p:txBody>
      </p:sp>
      <p:sp>
        <p:nvSpPr>
          <p:cNvPr id="7" name="anim-g1-14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4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43"/>
          <p:cNvSpPr/>
          <p:nvPr/>
        </p:nvSpPr>
        <p:spPr>
          <a:xfrm>
            <a:off x="822960" y="3886200"/>
            <a:ext cx="10545775" cy="1828800"/>
          </a:xfrm>
          <a:prstGeom prst="roundRect">
            <a:avLst>
              <a:gd name="adj" fmla="val 11000"/>
            </a:avLst>
          </a:prstGeom>
          <a:solidFill>
            <a:srgbClr val="E6F4EC"/>
          </a:solidFill>
          <a:ln/>
        </p:spPr>
      </p:sp>
      <p:sp>
        <p:nvSpPr>
          <p:cNvPr id="10" name="anim-g2-144"/>
          <p:cNvSpPr/>
          <p:nvPr/>
        </p:nvSpPr>
        <p:spPr>
          <a:xfrm>
            <a:off x="11259007" y="3886200"/>
            <a:ext cx="109728" cy="1828800"/>
          </a:xfrm>
          <a:prstGeom prst="rect">
            <a:avLst/>
          </a:prstGeom>
          <a:solidFill>
            <a:srgbClr val="2E9E6B"/>
          </a:solidFill>
          <a:ln/>
        </p:spPr>
      </p:sp>
      <p:sp>
        <p:nvSpPr>
          <p:cNvPr id="11" name="anim-g2-14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إخراجه يصدّر المشكلة للوكيل أو لفصل آخر. ابذل جهدًا حقيقيًا معه قبل اللجوء إلى الإدارة.</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٣٠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المحطة</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كل العبارات السبع خاطئة…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وكلها قيلت في غرفة المعلمين يومًا ما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تصحيح المفاهيم  ·  ٣١</a:t>
            </a:r>
            <a:endParaRPr lang="ar-SA"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صندوق أدوات المعلم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ست أدوات ستستخدمها في كل موقف من مواقف الدورة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صندوق أدوات المعلم  ·  ٣٢</a:t>
            </a:r>
            <a:endParaRPr lang="ar-SA"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الأداة ١ · اقرأ ما وراء السلوك</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يسيء الطالب؟ أربعة أهداف خفية</a:t>
            </a:r>
            <a:endParaRPr lang="ar-SA" sz="3200" dirty="0"/>
          </a:p>
        </p:txBody>
      </p:sp>
      <p:sp>
        <p:nvSpPr>
          <p:cNvPr id="5" name="Shape 3"/>
          <p:cNvSpPr/>
          <p:nvPr/>
        </p:nvSpPr>
        <p:spPr>
          <a:xfrm>
            <a:off x="9098382" y="1874520"/>
            <a:ext cx="2270354" cy="502920"/>
          </a:xfrm>
          <a:prstGeom prst="roundRect">
            <a:avLst>
              <a:gd name="adj" fmla="val 21818"/>
            </a:avLst>
          </a:prstGeom>
          <a:solidFill>
            <a:srgbClr val="101B45"/>
          </a:solidFill>
          <a:ln/>
        </p:spPr>
      </p:sp>
      <p:sp>
        <p:nvSpPr>
          <p:cNvPr id="6" name="Text 4"/>
          <p:cNvSpPr/>
          <p:nvPr/>
        </p:nvSpPr>
        <p:spPr>
          <a:xfrm>
            <a:off x="9098382" y="1874520"/>
            <a:ext cx="2270354"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ما يريده الطالب</a:t>
            </a:r>
            <a:endParaRPr lang="ar-SA" sz="1600" dirty="0"/>
          </a:p>
        </p:txBody>
      </p:sp>
      <p:sp>
        <p:nvSpPr>
          <p:cNvPr id="7" name="Shape 5"/>
          <p:cNvSpPr/>
          <p:nvPr/>
        </p:nvSpPr>
        <p:spPr>
          <a:xfrm>
            <a:off x="6718300" y="1874520"/>
            <a:ext cx="2270354" cy="502920"/>
          </a:xfrm>
          <a:prstGeom prst="roundRect">
            <a:avLst>
              <a:gd name="adj" fmla="val 21818"/>
            </a:avLst>
          </a:prstGeom>
          <a:solidFill>
            <a:srgbClr val="101B45"/>
          </a:solidFill>
          <a:ln/>
        </p:spPr>
      </p:sp>
      <p:sp>
        <p:nvSpPr>
          <p:cNvPr id="8" name="Text 6"/>
          <p:cNvSpPr/>
          <p:nvPr/>
        </p:nvSpPr>
        <p:spPr>
          <a:xfrm>
            <a:off x="6718300" y="1874520"/>
            <a:ext cx="2270354"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ماذا تشعر أنت؟</a:t>
            </a:r>
            <a:endParaRPr lang="ar-SA" sz="1600" dirty="0"/>
          </a:p>
        </p:txBody>
      </p:sp>
      <p:sp>
        <p:nvSpPr>
          <p:cNvPr id="9" name="Shape 7"/>
          <p:cNvSpPr/>
          <p:nvPr/>
        </p:nvSpPr>
        <p:spPr>
          <a:xfrm>
            <a:off x="4111183" y="1874520"/>
            <a:ext cx="2497389" cy="502920"/>
          </a:xfrm>
          <a:prstGeom prst="roundRect">
            <a:avLst>
              <a:gd name="adj" fmla="val 21818"/>
            </a:avLst>
          </a:prstGeom>
          <a:solidFill>
            <a:srgbClr val="101B45"/>
          </a:solidFill>
          <a:ln/>
        </p:spPr>
      </p:sp>
      <p:sp>
        <p:nvSpPr>
          <p:cNvPr id="10" name="Text 8"/>
          <p:cNvSpPr/>
          <p:nvPr/>
        </p:nvSpPr>
        <p:spPr>
          <a:xfrm>
            <a:off x="4111183" y="1874520"/>
            <a:ext cx="2497389"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ردّ الفعل الخاطئ</a:t>
            </a:r>
            <a:endParaRPr lang="ar-SA" sz="1600" dirty="0"/>
          </a:p>
        </p:txBody>
      </p:sp>
      <p:sp>
        <p:nvSpPr>
          <p:cNvPr id="11" name="Shape 9"/>
          <p:cNvSpPr/>
          <p:nvPr/>
        </p:nvSpPr>
        <p:spPr>
          <a:xfrm>
            <a:off x="822960" y="1874520"/>
            <a:ext cx="3178495" cy="502920"/>
          </a:xfrm>
          <a:prstGeom prst="roundRect">
            <a:avLst>
              <a:gd name="adj" fmla="val 21818"/>
            </a:avLst>
          </a:prstGeom>
          <a:solidFill>
            <a:srgbClr val="101B45"/>
          </a:solidFill>
          <a:ln/>
        </p:spPr>
      </p:sp>
      <p:sp>
        <p:nvSpPr>
          <p:cNvPr id="12" name="Text 10"/>
          <p:cNvSpPr/>
          <p:nvPr/>
        </p:nvSpPr>
        <p:spPr>
          <a:xfrm>
            <a:off x="822960" y="1874520"/>
            <a:ext cx="3178495"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التصرف الصحيح</a:t>
            </a:r>
            <a:endParaRPr lang="ar-SA" sz="1600" dirty="0"/>
          </a:p>
        </p:txBody>
      </p:sp>
      <p:sp>
        <p:nvSpPr>
          <p:cNvPr id="13" name="anim-g1-146"/>
          <p:cNvSpPr/>
          <p:nvPr/>
        </p:nvSpPr>
        <p:spPr>
          <a:xfrm>
            <a:off x="9098382" y="2468880"/>
            <a:ext cx="2270354" cy="822960"/>
          </a:xfrm>
          <a:prstGeom prst="roundRect">
            <a:avLst>
              <a:gd name="adj" fmla="val 13333"/>
            </a:avLst>
          </a:prstGeom>
          <a:solidFill>
            <a:srgbClr val="FBF3DF"/>
          </a:solidFill>
          <a:ln w="12700">
            <a:solidFill>
              <a:srgbClr val="EFDDAF"/>
            </a:solidFill>
            <a:prstDash val="solid"/>
          </a:ln>
        </p:spPr>
      </p:sp>
      <p:sp>
        <p:nvSpPr>
          <p:cNvPr id="14" name="anim-g1-147"/>
          <p:cNvSpPr/>
          <p:nvPr/>
        </p:nvSpPr>
        <p:spPr>
          <a:xfrm>
            <a:off x="9235542" y="2468880"/>
            <a:ext cx="1996034"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01B45"/>
                </a:solidFill>
                <a:latin typeface="Cairo Black" pitchFamily="34" charset="0"/>
                <a:ea typeface="Cairo Black" pitchFamily="34" charset="-122"/>
                <a:cs typeface="Cairo Black" pitchFamily="34" charset="-120"/>
              </a:rPr>
              <a:t>🎭 لفت الانتباه</a:t>
            </a:r>
            <a:endParaRPr lang="ar-SA" sz="1500" dirty="0"/>
          </a:p>
        </p:txBody>
      </p:sp>
      <p:sp>
        <p:nvSpPr>
          <p:cNvPr id="15" name="anim-g1-148"/>
          <p:cNvSpPr/>
          <p:nvPr/>
        </p:nvSpPr>
        <p:spPr>
          <a:xfrm>
            <a:off x="6718300" y="2468880"/>
            <a:ext cx="2270354" cy="822960"/>
          </a:xfrm>
          <a:prstGeom prst="roundRect">
            <a:avLst>
              <a:gd name="adj" fmla="val 13333"/>
            </a:avLst>
          </a:prstGeom>
          <a:solidFill>
            <a:srgbClr val="FFFFFF"/>
          </a:solidFill>
          <a:ln w="12700">
            <a:solidFill>
              <a:srgbClr val="E4DCC8"/>
            </a:solidFill>
            <a:prstDash val="solid"/>
          </a:ln>
        </p:spPr>
      </p:sp>
      <p:sp>
        <p:nvSpPr>
          <p:cNvPr id="16" name="anim-g1-149"/>
          <p:cNvSpPr/>
          <p:nvPr/>
        </p:nvSpPr>
        <p:spPr>
          <a:xfrm>
            <a:off x="6855460" y="2468880"/>
            <a:ext cx="1996034"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انزعاج وضيق</a:t>
            </a:r>
            <a:endParaRPr lang="ar-SA" sz="1500" dirty="0"/>
          </a:p>
        </p:txBody>
      </p:sp>
      <p:sp>
        <p:nvSpPr>
          <p:cNvPr id="17" name="anim-g1-150"/>
          <p:cNvSpPr/>
          <p:nvPr/>
        </p:nvSpPr>
        <p:spPr>
          <a:xfrm>
            <a:off x="4111183" y="2468880"/>
            <a:ext cx="2497389" cy="822960"/>
          </a:xfrm>
          <a:prstGeom prst="roundRect">
            <a:avLst>
              <a:gd name="adj" fmla="val 13333"/>
            </a:avLst>
          </a:prstGeom>
          <a:solidFill>
            <a:srgbClr val="FFFFFF"/>
          </a:solidFill>
          <a:ln w="12700">
            <a:solidFill>
              <a:srgbClr val="E4DCC8"/>
            </a:solidFill>
            <a:prstDash val="solid"/>
          </a:ln>
        </p:spPr>
      </p:sp>
      <p:sp>
        <p:nvSpPr>
          <p:cNvPr id="18" name="anim-g1-151"/>
          <p:cNvSpPr/>
          <p:nvPr/>
        </p:nvSpPr>
        <p:spPr>
          <a:xfrm>
            <a:off x="4248343" y="2468880"/>
            <a:ext cx="2223069"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التوبيخ المتكرر</a:t>
            </a:r>
            <a:endParaRPr lang="ar-SA" sz="1500" dirty="0"/>
          </a:p>
        </p:txBody>
      </p:sp>
      <p:sp>
        <p:nvSpPr>
          <p:cNvPr id="19" name="anim-g1-152"/>
          <p:cNvSpPr/>
          <p:nvPr/>
        </p:nvSpPr>
        <p:spPr>
          <a:xfrm>
            <a:off x="822960" y="2468880"/>
            <a:ext cx="3178495" cy="822960"/>
          </a:xfrm>
          <a:prstGeom prst="roundRect">
            <a:avLst>
              <a:gd name="adj" fmla="val 13333"/>
            </a:avLst>
          </a:prstGeom>
          <a:solidFill>
            <a:srgbClr val="E6F4EC"/>
          </a:solidFill>
          <a:ln w="12700">
            <a:solidFill>
              <a:srgbClr val="CDE9D9"/>
            </a:solidFill>
            <a:prstDash val="solid"/>
          </a:ln>
        </p:spPr>
      </p:sp>
      <p:sp>
        <p:nvSpPr>
          <p:cNvPr id="20" name="anim-g1-153"/>
          <p:cNvSpPr/>
          <p:nvPr/>
        </p:nvSpPr>
        <p:spPr>
          <a:xfrm>
            <a:off x="960120" y="2468880"/>
            <a:ext cx="2904175"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D5E40"/>
                </a:solidFill>
                <a:latin typeface="Cairo" pitchFamily="34" charset="0"/>
                <a:ea typeface="Cairo" pitchFamily="34" charset="-122"/>
                <a:cs typeface="Cairo" pitchFamily="34" charset="-120"/>
              </a:rPr>
              <a:t>انتباه للسلوك الجيد فقط، ومهمة لها قيمة</a:t>
            </a:r>
            <a:endParaRPr lang="ar-SA" sz="1500" dirty="0"/>
          </a:p>
        </p:txBody>
      </p:sp>
      <p:sp>
        <p:nvSpPr>
          <p:cNvPr id="21" name="anim-g2-154"/>
          <p:cNvSpPr/>
          <p:nvPr/>
        </p:nvSpPr>
        <p:spPr>
          <a:xfrm>
            <a:off x="9098382" y="3383280"/>
            <a:ext cx="2270354" cy="822960"/>
          </a:xfrm>
          <a:prstGeom prst="roundRect">
            <a:avLst>
              <a:gd name="adj" fmla="val 13333"/>
            </a:avLst>
          </a:prstGeom>
          <a:solidFill>
            <a:srgbClr val="FBF3DF"/>
          </a:solidFill>
          <a:ln w="12700">
            <a:solidFill>
              <a:srgbClr val="EFDDAF"/>
            </a:solidFill>
            <a:prstDash val="solid"/>
          </a:ln>
        </p:spPr>
      </p:sp>
      <p:sp>
        <p:nvSpPr>
          <p:cNvPr id="22" name="anim-g2-155"/>
          <p:cNvSpPr/>
          <p:nvPr/>
        </p:nvSpPr>
        <p:spPr>
          <a:xfrm>
            <a:off x="9235542" y="3383280"/>
            <a:ext cx="1996034"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01B45"/>
                </a:solidFill>
                <a:latin typeface="Cairo Black" pitchFamily="34" charset="0"/>
                <a:ea typeface="Cairo Black" pitchFamily="34" charset="-122"/>
                <a:cs typeface="Cairo Black" pitchFamily="34" charset="-120"/>
              </a:rPr>
              <a:t>💪 إثبات القوة</a:t>
            </a:r>
            <a:endParaRPr lang="ar-SA" sz="1500" dirty="0"/>
          </a:p>
        </p:txBody>
      </p:sp>
      <p:sp>
        <p:nvSpPr>
          <p:cNvPr id="23" name="anim-g2-156"/>
          <p:cNvSpPr/>
          <p:nvPr/>
        </p:nvSpPr>
        <p:spPr>
          <a:xfrm>
            <a:off x="6718300" y="3383280"/>
            <a:ext cx="2270354" cy="822960"/>
          </a:xfrm>
          <a:prstGeom prst="roundRect">
            <a:avLst>
              <a:gd name="adj" fmla="val 13333"/>
            </a:avLst>
          </a:prstGeom>
          <a:solidFill>
            <a:srgbClr val="FFFFFF"/>
          </a:solidFill>
          <a:ln w="12700">
            <a:solidFill>
              <a:srgbClr val="E4DCC8"/>
            </a:solidFill>
            <a:prstDash val="solid"/>
          </a:ln>
        </p:spPr>
      </p:sp>
      <p:sp>
        <p:nvSpPr>
          <p:cNvPr id="24" name="anim-g2-157"/>
          <p:cNvSpPr/>
          <p:nvPr/>
        </p:nvSpPr>
        <p:spPr>
          <a:xfrm>
            <a:off x="6855460" y="3383280"/>
            <a:ext cx="1996034"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غضب وتحدٍّ</a:t>
            </a:r>
            <a:endParaRPr lang="ar-SA" sz="1500" dirty="0"/>
          </a:p>
        </p:txBody>
      </p:sp>
      <p:sp>
        <p:nvSpPr>
          <p:cNvPr id="25" name="anim-g2-158"/>
          <p:cNvSpPr/>
          <p:nvPr/>
        </p:nvSpPr>
        <p:spPr>
          <a:xfrm>
            <a:off x="4111183" y="3383280"/>
            <a:ext cx="2497389" cy="822960"/>
          </a:xfrm>
          <a:prstGeom prst="roundRect">
            <a:avLst>
              <a:gd name="adj" fmla="val 13333"/>
            </a:avLst>
          </a:prstGeom>
          <a:solidFill>
            <a:srgbClr val="FFFFFF"/>
          </a:solidFill>
          <a:ln w="12700">
            <a:solidFill>
              <a:srgbClr val="E4DCC8"/>
            </a:solidFill>
            <a:prstDash val="solid"/>
          </a:ln>
        </p:spPr>
      </p:sp>
      <p:sp>
        <p:nvSpPr>
          <p:cNvPr id="26" name="anim-g2-159"/>
          <p:cNvSpPr/>
          <p:nvPr/>
        </p:nvSpPr>
        <p:spPr>
          <a:xfrm>
            <a:off x="4248343" y="3383280"/>
            <a:ext cx="2223069"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الجدال أمام الجميع</a:t>
            </a:r>
            <a:endParaRPr lang="ar-SA" sz="1500" dirty="0"/>
          </a:p>
        </p:txBody>
      </p:sp>
      <p:sp>
        <p:nvSpPr>
          <p:cNvPr id="27" name="anim-g2-160"/>
          <p:cNvSpPr/>
          <p:nvPr/>
        </p:nvSpPr>
        <p:spPr>
          <a:xfrm>
            <a:off x="822960" y="3383280"/>
            <a:ext cx="3178495" cy="822960"/>
          </a:xfrm>
          <a:prstGeom prst="roundRect">
            <a:avLst>
              <a:gd name="adj" fmla="val 13333"/>
            </a:avLst>
          </a:prstGeom>
          <a:solidFill>
            <a:srgbClr val="E6F4EC"/>
          </a:solidFill>
          <a:ln w="12700">
            <a:solidFill>
              <a:srgbClr val="CDE9D9"/>
            </a:solidFill>
            <a:prstDash val="solid"/>
          </a:ln>
        </p:spPr>
      </p:sp>
      <p:sp>
        <p:nvSpPr>
          <p:cNvPr id="28" name="anim-g2-161"/>
          <p:cNvSpPr/>
          <p:nvPr/>
        </p:nvSpPr>
        <p:spPr>
          <a:xfrm>
            <a:off x="960120" y="3383280"/>
            <a:ext cx="2904175"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D5E40"/>
                </a:solidFill>
                <a:latin typeface="Cairo" pitchFamily="34" charset="0"/>
                <a:ea typeface="Cairo" pitchFamily="34" charset="-122"/>
                <a:cs typeface="Cairo" pitchFamily="34" charset="-120"/>
              </a:rPr>
              <a:t>لا صراع علني، وخياران محددان، وقيادة بحدود</a:t>
            </a:r>
            <a:endParaRPr lang="ar-SA" sz="1500" dirty="0"/>
          </a:p>
        </p:txBody>
      </p:sp>
      <p:sp>
        <p:nvSpPr>
          <p:cNvPr id="29" name="anim-g3-162"/>
          <p:cNvSpPr/>
          <p:nvPr/>
        </p:nvSpPr>
        <p:spPr>
          <a:xfrm>
            <a:off x="9098382" y="4297680"/>
            <a:ext cx="2270354" cy="822960"/>
          </a:xfrm>
          <a:prstGeom prst="roundRect">
            <a:avLst>
              <a:gd name="adj" fmla="val 13333"/>
            </a:avLst>
          </a:prstGeom>
          <a:solidFill>
            <a:srgbClr val="FBF3DF"/>
          </a:solidFill>
          <a:ln w="12700">
            <a:solidFill>
              <a:srgbClr val="EFDDAF"/>
            </a:solidFill>
            <a:prstDash val="solid"/>
          </a:ln>
        </p:spPr>
      </p:sp>
      <p:sp>
        <p:nvSpPr>
          <p:cNvPr id="30" name="anim-g3-163"/>
          <p:cNvSpPr/>
          <p:nvPr/>
        </p:nvSpPr>
        <p:spPr>
          <a:xfrm>
            <a:off x="9235542" y="4297680"/>
            <a:ext cx="1996034"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01B45"/>
                </a:solidFill>
                <a:latin typeface="Cairo Black" pitchFamily="34" charset="0"/>
                <a:ea typeface="Cairo Black" pitchFamily="34" charset="-122"/>
                <a:cs typeface="Cairo Black" pitchFamily="34" charset="-120"/>
              </a:rPr>
              <a:t>🗡️ الانتقام</a:t>
            </a:r>
            <a:endParaRPr lang="ar-SA" sz="1500" dirty="0"/>
          </a:p>
        </p:txBody>
      </p:sp>
      <p:sp>
        <p:nvSpPr>
          <p:cNvPr id="31" name="anim-g3-164"/>
          <p:cNvSpPr/>
          <p:nvPr/>
        </p:nvSpPr>
        <p:spPr>
          <a:xfrm>
            <a:off x="6718300" y="4297680"/>
            <a:ext cx="2270354" cy="822960"/>
          </a:xfrm>
          <a:prstGeom prst="roundRect">
            <a:avLst>
              <a:gd name="adj" fmla="val 13333"/>
            </a:avLst>
          </a:prstGeom>
          <a:solidFill>
            <a:srgbClr val="FFFFFF"/>
          </a:solidFill>
          <a:ln w="12700">
            <a:solidFill>
              <a:srgbClr val="E4DCC8"/>
            </a:solidFill>
            <a:prstDash val="solid"/>
          </a:ln>
        </p:spPr>
      </p:sp>
      <p:sp>
        <p:nvSpPr>
          <p:cNvPr id="32" name="anim-g3-165"/>
          <p:cNvSpPr/>
          <p:nvPr/>
        </p:nvSpPr>
        <p:spPr>
          <a:xfrm>
            <a:off x="6855460" y="4297680"/>
            <a:ext cx="1996034"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جرح وألم</a:t>
            </a:r>
            <a:endParaRPr lang="ar-SA" sz="1500" dirty="0"/>
          </a:p>
        </p:txBody>
      </p:sp>
      <p:sp>
        <p:nvSpPr>
          <p:cNvPr id="33" name="anim-g3-166"/>
          <p:cNvSpPr/>
          <p:nvPr/>
        </p:nvSpPr>
        <p:spPr>
          <a:xfrm>
            <a:off x="4111183" y="4297680"/>
            <a:ext cx="2497389" cy="822960"/>
          </a:xfrm>
          <a:prstGeom prst="roundRect">
            <a:avLst>
              <a:gd name="adj" fmla="val 13333"/>
            </a:avLst>
          </a:prstGeom>
          <a:solidFill>
            <a:srgbClr val="FFFFFF"/>
          </a:solidFill>
          <a:ln w="12700">
            <a:solidFill>
              <a:srgbClr val="E4DCC8"/>
            </a:solidFill>
            <a:prstDash val="solid"/>
          </a:ln>
        </p:spPr>
      </p:sp>
      <p:sp>
        <p:nvSpPr>
          <p:cNvPr id="34" name="anim-g3-167"/>
          <p:cNvSpPr/>
          <p:nvPr/>
        </p:nvSpPr>
        <p:spPr>
          <a:xfrm>
            <a:off x="4248343" y="4297680"/>
            <a:ext cx="2223069"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الردّ بالعقاب القاسي</a:t>
            </a:r>
            <a:endParaRPr lang="ar-SA" sz="1500" dirty="0"/>
          </a:p>
        </p:txBody>
      </p:sp>
      <p:sp>
        <p:nvSpPr>
          <p:cNvPr id="35" name="anim-g3-168"/>
          <p:cNvSpPr/>
          <p:nvPr/>
        </p:nvSpPr>
        <p:spPr>
          <a:xfrm>
            <a:off x="822960" y="4297680"/>
            <a:ext cx="3178495" cy="822960"/>
          </a:xfrm>
          <a:prstGeom prst="roundRect">
            <a:avLst>
              <a:gd name="adj" fmla="val 13333"/>
            </a:avLst>
          </a:prstGeom>
          <a:solidFill>
            <a:srgbClr val="E6F4EC"/>
          </a:solidFill>
          <a:ln w="12700">
            <a:solidFill>
              <a:srgbClr val="CDE9D9"/>
            </a:solidFill>
            <a:prstDash val="solid"/>
          </a:ln>
        </p:spPr>
      </p:sp>
      <p:sp>
        <p:nvSpPr>
          <p:cNvPr id="36" name="anim-g3-169"/>
          <p:cNvSpPr/>
          <p:nvPr/>
        </p:nvSpPr>
        <p:spPr>
          <a:xfrm>
            <a:off x="960120" y="4297680"/>
            <a:ext cx="2904175"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D5E40"/>
                </a:solidFill>
                <a:latin typeface="Cairo" pitchFamily="34" charset="0"/>
                <a:ea typeface="Cairo" pitchFamily="34" charset="-122"/>
                <a:cs typeface="Cairo" pitchFamily="34" charset="-120"/>
              </a:rPr>
              <a:t>هدوء، وبناء ثقة، وحوار خاص عن الألم</a:t>
            </a:r>
            <a:endParaRPr lang="ar-SA" sz="1500" dirty="0"/>
          </a:p>
        </p:txBody>
      </p:sp>
      <p:sp>
        <p:nvSpPr>
          <p:cNvPr id="37" name="anim-g4-170"/>
          <p:cNvSpPr/>
          <p:nvPr/>
        </p:nvSpPr>
        <p:spPr>
          <a:xfrm>
            <a:off x="9098382" y="5212080"/>
            <a:ext cx="2270354" cy="822960"/>
          </a:xfrm>
          <a:prstGeom prst="roundRect">
            <a:avLst>
              <a:gd name="adj" fmla="val 13333"/>
            </a:avLst>
          </a:prstGeom>
          <a:solidFill>
            <a:srgbClr val="FBF3DF"/>
          </a:solidFill>
          <a:ln w="12700">
            <a:solidFill>
              <a:srgbClr val="EFDDAF"/>
            </a:solidFill>
            <a:prstDash val="solid"/>
          </a:ln>
        </p:spPr>
      </p:sp>
      <p:sp>
        <p:nvSpPr>
          <p:cNvPr id="38" name="anim-g4-171"/>
          <p:cNvSpPr/>
          <p:nvPr/>
        </p:nvSpPr>
        <p:spPr>
          <a:xfrm>
            <a:off x="9235542" y="5212080"/>
            <a:ext cx="1996034"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01B45"/>
                </a:solidFill>
                <a:latin typeface="Cairo Black" pitchFamily="34" charset="0"/>
                <a:ea typeface="Cairo Black" pitchFamily="34" charset="-122"/>
                <a:cs typeface="Cairo Black" pitchFamily="34" charset="-120"/>
              </a:rPr>
              <a:t>🐢 إظهار العجز</a:t>
            </a:r>
            <a:endParaRPr lang="ar-SA" sz="1500" dirty="0"/>
          </a:p>
        </p:txBody>
      </p:sp>
      <p:sp>
        <p:nvSpPr>
          <p:cNvPr id="39" name="anim-g4-172"/>
          <p:cNvSpPr/>
          <p:nvPr/>
        </p:nvSpPr>
        <p:spPr>
          <a:xfrm>
            <a:off x="6718300" y="5212080"/>
            <a:ext cx="2270354" cy="822960"/>
          </a:xfrm>
          <a:prstGeom prst="roundRect">
            <a:avLst>
              <a:gd name="adj" fmla="val 13333"/>
            </a:avLst>
          </a:prstGeom>
          <a:solidFill>
            <a:srgbClr val="FFFFFF"/>
          </a:solidFill>
          <a:ln w="12700">
            <a:solidFill>
              <a:srgbClr val="E4DCC8"/>
            </a:solidFill>
            <a:prstDash val="solid"/>
          </a:ln>
        </p:spPr>
      </p:sp>
      <p:sp>
        <p:nvSpPr>
          <p:cNvPr id="40" name="anim-g4-173"/>
          <p:cNvSpPr/>
          <p:nvPr/>
        </p:nvSpPr>
        <p:spPr>
          <a:xfrm>
            <a:off x="6855460" y="5212080"/>
            <a:ext cx="1996034"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يأس وإحباط</a:t>
            </a:r>
            <a:endParaRPr lang="ar-SA" sz="1500" dirty="0"/>
          </a:p>
        </p:txBody>
      </p:sp>
      <p:sp>
        <p:nvSpPr>
          <p:cNvPr id="41" name="anim-g4-174"/>
          <p:cNvSpPr/>
          <p:nvPr/>
        </p:nvSpPr>
        <p:spPr>
          <a:xfrm>
            <a:off x="4111183" y="5212080"/>
            <a:ext cx="2497389" cy="822960"/>
          </a:xfrm>
          <a:prstGeom prst="roundRect">
            <a:avLst>
              <a:gd name="adj" fmla="val 13333"/>
            </a:avLst>
          </a:prstGeom>
          <a:solidFill>
            <a:srgbClr val="FFFFFF"/>
          </a:solidFill>
          <a:ln w="12700">
            <a:solidFill>
              <a:srgbClr val="E4DCC8"/>
            </a:solidFill>
            <a:prstDash val="solid"/>
          </a:ln>
        </p:spPr>
      </p:sp>
      <p:sp>
        <p:nvSpPr>
          <p:cNvPr id="42" name="anim-g4-175"/>
          <p:cNvSpPr/>
          <p:nvPr/>
        </p:nvSpPr>
        <p:spPr>
          <a:xfrm>
            <a:off x="4248343" y="5212080"/>
            <a:ext cx="2223069"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الاستسلام أو الشفقة</a:t>
            </a:r>
            <a:endParaRPr lang="ar-SA" sz="1500" dirty="0"/>
          </a:p>
        </p:txBody>
      </p:sp>
      <p:sp>
        <p:nvSpPr>
          <p:cNvPr id="43" name="anim-g4-176"/>
          <p:cNvSpPr/>
          <p:nvPr/>
        </p:nvSpPr>
        <p:spPr>
          <a:xfrm>
            <a:off x="822960" y="5212080"/>
            <a:ext cx="3178495" cy="822960"/>
          </a:xfrm>
          <a:prstGeom prst="roundRect">
            <a:avLst>
              <a:gd name="adj" fmla="val 13333"/>
            </a:avLst>
          </a:prstGeom>
          <a:solidFill>
            <a:srgbClr val="E6F4EC"/>
          </a:solidFill>
          <a:ln w="12700">
            <a:solidFill>
              <a:srgbClr val="CDE9D9"/>
            </a:solidFill>
            <a:prstDash val="solid"/>
          </a:ln>
        </p:spPr>
      </p:sp>
      <p:sp>
        <p:nvSpPr>
          <p:cNvPr id="44" name="anim-g4-177"/>
          <p:cNvSpPr/>
          <p:nvPr/>
        </p:nvSpPr>
        <p:spPr>
          <a:xfrm>
            <a:off x="960120" y="5212080"/>
            <a:ext cx="2904175"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D5E40"/>
                </a:solidFill>
                <a:latin typeface="Cairo" pitchFamily="34" charset="0"/>
                <a:ea typeface="Cairo" pitchFamily="34" charset="-122"/>
                <a:cs typeface="Cairo" pitchFamily="34" charset="-120"/>
              </a:rPr>
              <a:t>مهمة صغيرة ينجح فيها، ومدح المحاولة</a:t>
            </a:r>
            <a:endParaRPr lang="ar-SA" sz="1500" dirty="0"/>
          </a:p>
        </p:txBody>
      </p:sp>
      <p:sp>
        <p:nvSpPr>
          <p:cNvPr id="45" name="Text 4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6" name="Text 4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400"/>
                                        <p:tgtEl>
                                          <p:spTgt spid="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400"/>
                                        <p:tgtEl>
                                          <p:spTgt spid="3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400"/>
                                        <p:tgtEl>
                                          <p:spTgt spid="3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25416" y="1188720"/>
            <a:ext cx="234086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25416" y="1188720"/>
            <a:ext cx="234086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قاعدة ذهبية</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مشاعرك أنت دليل…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ما تشعر به يكشف ما يريده الطالب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صندوق أدوات المعلم  ·  ٣٤</a:t>
            </a:r>
            <a:endParaRPr lang="ar-SA"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907231" y="457200"/>
            <a:ext cx="7461504" cy="457200"/>
          </a:xfrm>
          <a:prstGeom prst="roundRect">
            <a:avLst>
              <a:gd name="adj" fmla="val 50000"/>
            </a:avLst>
          </a:prstGeom>
          <a:solidFill>
            <a:srgbClr val="F6EBCF"/>
          </a:solidFill>
          <a:ln/>
        </p:spPr>
      </p:sp>
      <p:sp>
        <p:nvSpPr>
          <p:cNvPr id="3" name="Text 1"/>
          <p:cNvSpPr/>
          <p:nvPr/>
        </p:nvSpPr>
        <p:spPr>
          <a:xfrm>
            <a:off x="3907231" y="457200"/>
            <a:ext cx="746150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ابدأ من الأسفل دائمًا، واصعد فقط عند الحاجة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الأداة ٢ · سلّم التدخّل الأقل إزعاجًا</a:t>
            </a:r>
            <a:endParaRPr lang="ar-SA" sz="3200" dirty="0"/>
          </a:p>
        </p:txBody>
      </p:sp>
      <p:sp>
        <p:nvSpPr>
          <p:cNvPr id="5" name="anim-g1-178"/>
          <p:cNvSpPr/>
          <p:nvPr/>
        </p:nvSpPr>
        <p:spPr>
          <a:xfrm>
            <a:off x="822960" y="5349240"/>
            <a:ext cx="10545775" cy="594360"/>
          </a:xfrm>
          <a:prstGeom prst="roundRect">
            <a:avLst>
              <a:gd name="adj" fmla="val 21538"/>
            </a:avLst>
          </a:prstGeom>
          <a:solidFill>
            <a:srgbClr val="2E9E6B"/>
          </a:solidFill>
          <a:ln/>
        </p:spPr>
      </p:sp>
      <p:sp>
        <p:nvSpPr>
          <p:cNvPr id="6" name="anim-g1-179"/>
          <p:cNvSpPr/>
          <p:nvPr/>
        </p:nvSpPr>
        <p:spPr>
          <a:xfrm>
            <a:off x="10801807" y="5440680"/>
            <a:ext cx="411480" cy="411480"/>
          </a:xfrm>
          <a:prstGeom prst="ellipse">
            <a:avLst/>
          </a:prstGeom>
          <a:solidFill>
            <a:srgbClr val="FFFFFF"/>
          </a:solidFill>
          <a:ln/>
        </p:spPr>
      </p:sp>
      <p:sp>
        <p:nvSpPr>
          <p:cNvPr id="7" name="anim-g1-180"/>
          <p:cNvSpPr/>
          <p:nvPr/>
        </p:nvSpPr>
        <p:spPr>
          <a:xfrm>
            <a:off x="10801807" y="5440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2E9E6B"/>
                </a:solidFill>
                <a:latin typeface="Cairo Black" pitchFamily="34" charset="0"/>
                <a:ea typeface="Cairo Black" pitchFamily="34" charset="-122"/>
                <a:cs typeface="Cairo Black" pitchFamily="34" charset="-120"/>
              </a:rPr>
              <a:t>١</a:t>
            </a:r>
            <a:endParaRPr lang="ar-SA" sz="1500" dirty="0"/>
          </a:p>
        </p:txBody>
      </p:sp>
      <p:sp>
        <p:nvSpPr>
          <p:cNvPr id="8" name="anim-g1-181"/>
          <p:cNvSpPr/>
          <p:nvPr/>
        </p:nvSpPr>
        <p:spPr>
          <a:xfrm>
            <a:off x="1005840" y="5349240"/>
            <a:ext cx="96313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إشارة صامتة: نظرة، أو اقتراب، أو إيماءة</a:t>
            </a:r>
            <a:endParaRPr lang="ar-SA" sz="1800" dirty="0"/>
          </a:p>
        </p:txBody>
      </p:sp>
      <p:sp>
        <p:nvSpPr>
          <p:cNvPr id="9" name="anim-g2-182"/>
          <p:cNvSpPr/>
          <p:nvPr/>
        </p:nvSpPr>
        <p:spPr>
          <a:xfrm>
            <a:off x="822960" y="4663440"/>
            <a:ext cx="10088575" cy="594360"/>
          </a:xfrm>
          <a:prstGeom prst="roundRect">
            <a:avLst>
              <a:gd name="adj" fmla="val 21538"/>
            </a:avLst>
          </a:prstGeom>
          <a:solidFill>
            <a:srgbClr val="5A9E4B"/>
          </a:solidFill>
          <a:ln/>
        </p:spPr>
      </p:sp>
      <p:sp>
        <p:nvSpPr>
          <p:cNvPr id="10" name="anim-g2-183"/>
          <p:cNvSpPr/>
          <p:nvPr/>
        </p:nvSpPr>
        <p:spPr>
          <a:xfrm>
            <a:off x="10344607" y="4754880"/>
            <a:ext cx="411480" cy="411480"/>
          </a:xfrm>
          <a:prstGeom prst="ellipse">
            <a:avLst/>
          </a:prstGeom>
          <a:solidFill>
            <a:srgbClr val="FFFFFF"/>
          </a:solidFill>
          <a:ln/>
        </p:spPr>
      </p:sp>
      <p:sp>
        <p:nvSpPr>
          <p:cNvPr id="11" name="anim-g2-184"/>
          <p:cNvSpPr/>
          <p:nvPr/>
        </p:nvSpPr>
        <p:spPr>
          <a:xfrm>
            <a:off x="10344607" y="47548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5A9E4B"/>
                </a:solidFill>
                <a:latin typeface="Cairo Black" pitchFamily="34" charset="0"/>
                <a:ea typeface="Cairo Black" pitchFamily="34" charset="-122"/>
                <a:cs typeface="Cairo Black" pitchFamily="34" charset="-120"/>
              </a:rPr>
              <a:t>٢</a:t>
            </a:r>
            <a:endParaRPr lang="ar-SA" sz="1500" dirty="0"/>
          </a:p>
        </p:txBody>
      </p:sp>
      <p:sp>
        <p:nvSpPr>
          <p:cNvPr id="12" name="anim-g2-185"/>
          <p:cNvSpPr/>
          <p:nvPr/>
        </p:nvSpPr>
        <p:spPr>
          <a:xfrm>
            <a:off x="1005840" y="4663440"/>
            <a:ext cx="91741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تصحيح جماعي إيجابي: «أنتظر ثلاثة زملاء بعد…»</a:t>
            </a:r>
            <a:endParaRPr lang="ar-SA" sz="1800" dirty="0"/>
          </a:p>
        </p:txBody>
      </p:sp>
      <p:sp>
        <p:nvSpPr>
          <p:cNvPr id="13" name="anim-g3-186"/>
          <p:cNvSpPr/>
          <p:nvPr/>
        </p:nvSpPr>
        <p:spPr>
          <a:xfrm>
            <a:off x="822960" y="3977640"/>
            <a:ext cx="9631375" cy="594360"/>
          </a:xfrm>
          <a:prstGeom prst="roundRect">
            <a:avLst>
              <a:gd name="adj" fmla="val 21538"/>
            </a:avLst>
          </a:prstGeom>
          <a:solidFill>
            <a:srgbClr val="B7A034"/>
          </a:solidFill>
          <a:ln/>
        </p:spPr>
      </p:sp>
      <p:sp>
        <p:nvSpPr>
          <p:cNvPr id="14" name="anim-g3-187"/>
          <p:cNvSpPr/>
          <p:nvPr/>
        </p:nvSpPr>
        <p:spPr>
          <a:xfrm>
            <a:off x="9887407" y="4069080"/>
            <a:ext cx="411480" cy="411480"/>
          </a:xfrm>
          <a:prstGeom prst="ellipse">
            <a:avLst/>
          </a:prstGeom>
          <a:solidFill>
            <a:srgbClr val="FFFFFF"/>
          </a:solidFill>
          <a:ln/>
        </p:spPr>
      </p:sp>
      <p:sp>
        <p:nvSpPr>
          <p:cNvPr id="15" name="anim-g3-188"/>
          <p:cNvSpPr/>
          <p:nvPr/>
        </p:nvSpPr>
        <p:spPr>
          <a:xfrm>
            <a:off x="9887407" y="40690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B7A034"/>
                </a:solidFill>
                <a:latin typeface="Cairo Black" pitchFamily="34" charset="0"/>
                <a:ea typeface="Cairo Black" pitchFamily="34" charset="-122"/>
                <a:cs typeface="Cairo Black" pitchFamily="34" charset="-120"/>
              </a:rPr>
              <a:t>٣</a:t>
            </a:r>
            <a:endParaRPr lang="ar-SA" sz="1500" dirty="0"/>
          </a:p>
        </p:txBody>
      </p:sp>
      <p:sp>
        <p:nvSpPr>
          <p:cNvPr id="16" name="anim-g3-189"/>
          <p:cNvSpPr/>
          <p:nvPr/>
        </p:nvSpPr>
        <p:spPr>
          <a:xfrm>
            <a:off x="1005840" y="3977640"/>
            <a:ext cx="87169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تصحيح دون تسمية: «بعضنا ما زال يتحدث»</a:t>
            </a:r>
            <a:endParaRPr lang="ar-SA" sz="1800" dirty="0"/>
          </a:p>
        </p:txBody>
      </p:sp>
      <p:sp>
        <p:nvSpPr>
          <p:cNvPr id="17" name="anim-g4-190"/>
          <p:cNvSpPr/>
          <p:nvPr/>
        </p:nvSpPr>
        <p:spPr>
          <a:xfrm>
            <a:off x="822960" y="3291840"/>
            <a:ext cx="9174175" cy="594360"/>
          </a:xfrm>
          <a:prstGeom prst="roundRect">
            <a:avLst>
              <a:gd name="adj" fmla="val 21538"/>
            </a:avLst>
          </a:prstGeom>
          <a:solidFill>
            <a:srgbClr val="D99A2B"/>
          </a:solidFill>
          <a:ln/>
        </p:spPr>
      </p:sp>
      <p:sp>
        <p:nvSpPr>
          <p:cNvPr id="18" name="anim-g4-191"/>
          <p:cNvSpPr/>
          <p:nvPr/>
        </p:nvSpPr>
        <p:spPr>
          <a:xfrm>
            <a:off x="9430207" y="3383280"/>
            <a:ext cx="411480" cy="411480"/>
          </a:xfrm>
          <a:prstGeom prst="ellipse">
            <a:avLst/>
          </a:prstGeom>
          <a:solidFill>
            <a:srgbClr val="FFFFFF"/>
          </a:solidFill>
          <a:ln/>
        </p:spPr>
      </p:sp>
      <p:sp>
        <p:nvSpPr>
          <p:cNvPr id="19" name="anim-g4-192"/>
          <p:cNvSpPr/>
          <p:nvPr/>
        </p:nvSpPr>
        <p:spPr>
          <a:xfrm>
            <a:off x="9430207" y="33832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9A2B"/>
                </a:solidFill>
                <a:latin typeface="Cairo Black" pitchFamily="34" charset="0"/>
                <a:ea typeface="Cairo Black" pitchFamily="34" charset="-122"/>
                <a:cs typeface="Cairo Black" pitchFamily="34" charset="-120"/>
              </a:rPr>
              <a:t>٤</a:t>
            </a:r>
            <a:endParaRPr lang="ar-SA" sz="1500" dirty="0"/>
          </a:p>
        </p:txBody>
      </p:sp>
      <p:sp>
        <p:nvSpPr>
          <p:cNvPr id="20" name="anim-g4-193"/>
          <p:cNvSpPr/>
          <p:nvPr/>
        </p:nvSpPr>
        <p:spPr>
          <a:xfrm>
            <a:off x="1005840" y="3291840"/>
            <a:ext cx="82597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همسة خاصة بجانب الطالب</a:t>
            </a:r>
            <a:endParaRPr lang="ar-SA" sz="1800" dirty="0"/>
          </a:p>
        </p:txBody>
      </p:sp>
      <p:sp>
        <p:nvSpPr>
          <p:cNvPr id="21" name="anim-g5-194"/>
          <p:cNvSpPr/>
          <p:nvPr/>
        </p:nvSpPr>
        <p:spPr>
          <a:xfrm>
            <a:off x="822960" y="2606040"/>
            <a:ext cx="8716975" cy="594360"/>
          </a:xfrm>
          <a:prstGeom prst="roundRect">
            <a:avLst>
              <a:gd name="adj" fmla="val 21538"/>
            </a:avLst>
          </a:prstGeom>
          <a:solidFill>
            <a:srgbClr val="D9722B"/>
          </a:solidFill>
          <a:ln/>
        </p:spPr>
      </p:sp>
      <p:sp>
        <p:nvSpPr>
          <p:cNvPr id="22" name="anim-g5-195"/>
          <p:cNvSpPr/>
          <p:nvPr/>
        </p:nvSpPr>
        <p:spPr>
          <a:xfrm>
            <a:off x="8973007" y="2697480"/>
            <a:ext cx="411480" cy="411480"/>
          </a:xfrm>
          <a:prstGeom prst="ellipse">
            <a:avLst/>
          </a:prstGeom>
          <a:solidFill>
            <a:srgbClr val="FFFFFF"/>
          </a:solidFill>
          <a:ln/>
        </p:spPr>
      </p:sp>
      <p:sp>
        <p:nvSpPr>
          <p:cNvPr id="23" name="anim-g5-196"/>
          <p:cNvSpPr/>
          <p:nvPr/>
        </p:nvSpPr>
        <p:spPr>
          <a:xfrm>
            <a:off x="8973007" y="26974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722B"/>
                </a:solidFill>
                <a:latin typeface="Cairo Black" pitchFamily="34" charset="0"/>
                <a:ea typeface="Cairo Black" pitchFamily="34" charset="-122"/>
                <a:cs typeface="Cairo Black" pitchFamily="34" charset="-120"/>
              </a:rPr>
              <a:t>٥</a:t>
            </a:r>
            <a:endParaRPr lang="ar-SA" sz="1500" dirty="0"/>
          </a:p>
        </p:txBody>
      </p:sp>
      <p:sp>
        <p:nvSpPr>
          <p:cNvPr id="24" name="anim-g5-197"/>
          <p:cNvSpPr/>
          <p:nvPr/>
        </p:nvSpPr>
        <p:spPr>
          <a:xfrm>
            <a:off x="1005840" y="2606040"/>
            <a:ext cx="78025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تصحيح علني سريع بجملة واحدة</a:t>
            </a:r>
            <a:endParaRPr lang="ar-SA" sz="1800" dirty="0"/>
          </a:p>
        </p:txBody>
      </p:sp>
      <p:sp>
        <p:nvSpPr>
          <p:cNvPr id="25" name="anim-g6-198"/>
          <p:cNvSpPr/>
          <p:nvPr/>
        </p:nvSpPr>
        <p:spPr>
          <a:xfrm>
            <a:off x="822960" y="1920240"/>
            <a:ext cx="8259775" cy="594360"/>
          </a:xfrm>
          <a:prstGeom prst="roundRect">
            <a:avLst>
              <a:gd name="adj" fmla="val 21538"/>
            </a:avLst>
          </a:prstGeom>
          <a:solidFill>
            <a:srgbClr val="C94040"/>
          </a:solidFill>
          <a:ln/>
        </p:spPr>
      </p:sp>
      <p:sp>
        <p:nvSpPr>
          <p:cNvPr id="26" name="anim-g6-199"/>
          <p:cNvSpPr/>
          <p:nvPr/>
        </p:nvSpPr>
        <p:spPr>
          <a:xfrm>
            <a:off x="8515807" y="2011680"/>
            <a:ext cx="411480" cy="411480"/>
          </a:xfrm>
          <a:prstGeom prst="ellipse">
            <a:avLst/>
          </a:prstGeom>
          <a:solidFill>
            <a:srgbClr val="FFFFFF"/>
          </a:solidFill>
          <a:ln/>
        </p:spPr>
      </p:sp>
      <p:sp>
        <p:nvSpPr>
          <p:cNvPr id="27" name="anim-g6-200"/>
          <p:cNvSpPr/>
          <p:nvPr/>
        </p:nvSpPr>
        <p:spPr>
          <a:xfrm>
            <a:off x="8515807" y="2011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C94040"/>
                </a:solidFill>
                <a:latin typeface="Cairo Black" pitchFamily="34" charset="0"/>
                <a:ea typeface="Cairo Black" pitchFamily="34" charset="-122"/>
                <a:cs typeface="Cairo Black" pitchFamily="34" charset="-120"/>
              </a:rPr>
              <a:t>٦</a:t>
            </a:r>
            <a:endParaRPr lang="ar-SA" sz="1500" dirty="0"/>
          </a:p>
        </p:txBody>
      </p:sp>
      <p:sp>
        <p:nvSpPr>
          <p:cNvPr id="28" name="anim-g6-201"/>
          <p:cNvSpPr/>
          <p:nvPr/>
        </p:nvSpPr>
        <p:spPr>
          <a:xfrm>
            <a:off x="1005840" y="1920240"/>
            <a:ext cx="73453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عاقبة متفق عليها مسبقًا</a:t>
            </a:r>
            <a:endParaRPr lang="ar-SA" sz="18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الأداة ٣ · قل ماذا تريد… لا ما لا تريد</a:t>
            </a:r>
            <a:endParaRPr lang="ar-SA" sz="32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02"/>
          <p:cNvSpPr/>
          <p:nvPr/>
        </p:nvSpPr>
        <p:spPr>
          <a:xfrm>
            <a:off x="6415888" y="2194560"/>
            <a:ext cx="4952848" cy="804672"/>
          </a:xfrm>
          <a:prstGeom prst="roundRect">
            <a:avLst>
              <a:gd name="adj" fmla="val 15909"/>
            </a:avLst>
          </a:prstGeom>
          <a:solidFill>
            <a:srgbClr val="FBECEC"/>
          </a:solidFill>
          <a:ln/>
        </p:spPr>
      </p:sp>
      <p:sp>
        <p:nvSpPr>
          <p:cNvPr id="6" name="anim-g1-203"/>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«انتبهوا!»</a:t>
            </a:r>
            <a:endParaRPr lang="ar-SA" sz="1900" dirty="0"/>
          </a:p>
        </p:txBody>
      </p:sp>
      <p:sp>
        <p:nvSpPr>
          <p:cNvPr id="7" name="anim-g1-204"/>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05"/>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206"/>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07"/>
          <p:cNvSpPr/>
          <p:nvPr/>
        </p:nvSpPr>
        <p:spPr>
          <a:xfrm>
            <a:off x="822960" y="2194560"/>
            <a:ext cx="4952848" cy="804672"/>
          </a:xfrm>
          <a:prstGeom prst="roundRect">
            <a:avLst>
              <a:gd name="adj" fmla="val 15909"/>
            </a:avLst>
          </a:prstGeom>
          <a:solidFill>
            <a:srgbClr val="E6F4EC"/>
          </a:solidFill>
          <a:ln/>
        </p:spPr>
      </p:sp>
      <p:sp>
        <p:nvSpPr>
          <p:cNvPr id="11" name="anim-g2-208"/>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«الأقلام على الطاولة، والعيون عليّ»</a:t>
            </a:r>
            <a:endParaRPr lang="ar-SA" sz="1900" dirty="0"/>
          </a:p>
        </p:txBody>
      </p:sp>
      <p:sp>
        <p:nvSpPr>
          <p:cNvPr id="12" name="anim-g3-209"/>
          <p:cNvSpPr/>
          <p:nvPr/>
        </p:nvSpPr>
        <p:spPr>
          <a:xfrm>
            <a:off x="6415888" y="3154680"/>
            <a:ext cx="4952848" cy="804672"/>
          </a:xfrm>
          <a:prstGeom prst="roundRect">
            <a:avLst>
              <a:gd name="adj" fmla="val 15909"/>
            </a:avLst>
          </a:prstGeom>
          <a:solidFill>
            <a:srgbClr val="FBECEC"/>
          </a:solidFill>
          <a:ln/>
        </p:spPr>
      </p:sp>
      <p:sp>
        <p:nvSpPr>
          <p:cNvPr id="13" name="anim-g3-210"/>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«كفى إزعاجًا!»</a:t>
            </a:r>
            <a:endParaRPr lang="ar-SA" sz="1900" dirty="0"/>
          </a:p>
        </p:txBody>
      </p:sp>
      <p:sp>
        <p:nvSpPr>
          <p:cNvPr id="14" name="anim-g3-211"/>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12"/>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213"/>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14"/>
          <p:cNvSpPr/>
          <p:nvPr/>
        </p:nvSpPr>
        <p:spPr>
          <a:xfrm>
            <a:off x="822960" y="3154680"/>
            <a:ext cx="4952848" cy="804672"/>
          </a:xfrm>
          <a:prstGeom prst="roundRect">
            <a:avLst>
              <a:gd name="adj" fmla="val 15909"/>
            </a:avLst>
          </a:prstGeom>
          <a:solidFill>
            <a:srgbClr val="E6F4EC"/>
          </a:solidFill>
          <a:ln/>
        </p:spPr>
      </p:sp>
      <p:sp>
        <p:nvSpPr>
          <p:cNvPr id="18" name="anim-g4-215"/>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«صوت صفر حتى أنهي هذه الجملة»</a:t>
            </a:r>
            <a:endParaRPr lang="ar-SA" sz="1900" dirty="0"/>
          </a:p>
        </p:txBody>
      </p:sp>
      <p:sp>
        <p:nvSpPr>
          <p:cNvPr id="19" name="anim-g5-216"/>
          <p:cNvSpPr/>
          <p:nvPr/>
        </p:nvSpPr>
        <p:spPr>
          <a:xfrm>
            <a:off x="6415888" y="4114800"/>
            <a:ext cx="4952848" cy="804672"/>
          </a:xfrm>
          <a:prstGeom prst="roundRect">
            <a:avLst>
              <a:gd name="adj" fmla="val 15909"/>
            </a:avLst>
          </a:prstGeom>
          <a:solidFill>
            <a:srgbClr val="FBECEC"/>
          </a:solidFill>
          <a:ln/>
        </p:spPr>
      </p:sp>
      <p:sp>
        <p:nvSpPr>
          <p:cNvPr id="20" name="anim-g5-217"/>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«لماذا تتأخر دائمًا؟»</a:t>
            </a:r>
            <a:endParaRPr lang="ar-SA" sz="1900" dirty="0"/>
          </a:p>
        </p:txBody>
      </p:sp>
      <p:sp>
        <p:nvSpPr>
          <p:cNvPr id="21" name="anim-g5-218"/>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19"/>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220"/>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21"/>
          <p:cNvSpPr/>
          <p:nvPr/>
        </p:nvSpPr>
        <p:spPr>
          <a:xfrm>
            <a:off x="822960" y="4114800"/>
            <a:ext cx="4952848" cy="804672"/>
          </a:xfrm>
          <a:prstGeom prst="roundRect">
            <a:avLst>
              <a:gd name="adj" fmla="val 15909"/>
            </a:avLst>
          </a:prstGeom>
          <a:solidFill>
            <a:srgbClr val="E6F4EC"/>
          </a:solidFill>
          <a:ln/>
        </p:spPr>
      </p:sp>
      <p:sp>
        <p:nvSpPr>
          <p:cNvPr id="25" name="anim-g6-222"/>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«اجلس الآن، ونتحدث دقيقة بعد الحصة»</a:t>
            </a:r>
            <a:endParaRPr lang="ar-SA" sz="1900" dirty="0"/>
          </a:p>
        </p:txBody>
      </p:sp>
      <p:sp>
        <p:nvSpPr>
          <p:cNvPr id="26" name="anim-g7-223"/>
          <p:cNvSpPr/>
          <p:nvPr/>
        </p:nvSpPr>
        <p:spPr>
          <a:xfrm>
            <a:off x="6415888" y="5074920"/>
            <a:ext cx="4952848" cy="804672"/>
          </a:xfrm>
          <a:prstGeom prst="roundRect">
            <a:avLst>
              <a:gd name="adj" fmla="val 15909"/>
            </a:avLst>
          </a:prstGeom>
          <a:solidFill>
            <a:srgbClr val="FBECEC"/>
          </a:solidFill>
          <a:ln/>
        </p:spPr>
      </p:sp>
      <p:sp>
        <p:nvSpPr>
          <p:cNvPr id="27" name="anim-g7-224"/>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«كم مرة قلت لك؟!»</a:t>
            </a:r>
            <a:endParaRPr lang="ar-SA" sz="1900" dirty="0"/>
          </a:p>
        </p:txBody>
      </p:sp>
      <p:sp>
        <p:nvSpPr>
          <p:cNvPr id="28" name="anim-g7-225"/>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26"/>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227"/>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28"/>
          <p:cNvSpPr/>
          <p:nvPr/>
        </p:nvSpPr>
        <p:spPr>
          <a:xfrm>
            <a:off x="822960" y="5074920"/>
            <a:ext cx="4952848" cy="804672"/>
          </a:xfrm>
          <a:prstGeom prst="roundRect">
            <a:avLst>
              <a:gd name="adj" fmla="val 15909"/>
            </a:avLst>
          </a:prstGeom>
          <a:solidFill>
            <a:srgbClr val="E6F4EC"/>
          </a:solidFill>
          <a:ln/>
        </p:spPr>
      </p:sp>
      <p:sp>
        <p:nvSpPr>
          <p:cNvPr id="32" name="anim-g8-229"/>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«القاعدة رقم ٢. شكرًا لك»</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الأداة ٤ · صوتك وجسدك</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حضورك يقول قبل كلامك</a:t>
            </a:r>
            <a:endParaRPr lang="ar-SA" sz="3800" dirty="0"/>
          </a:p>
        </p:txBody>
      </p:sp>
      <p:sp>
        <p:nvSpPr>
          <p:cNvPr id="5" name="anim-g1-230"/>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31"/>
          <p:cNvSpPr/>
          <p:nvPr/>
        </p:nvSpPr>
        <p:spPr>
          <a:xfrm>
            <a:off x="10362895" y="2404872"/>
            <a:ext cx="731520" cy="731520"/>
          </a:xfrm>
          <a:prstGeom prst="roundRect">
            <a:avLst>
              <a:gd name="adj" fmla="val 25000"/>
            </a:avLst>
          </a:prstGeom>
          <a:solidFill>
            <a:srgbClr val="F7E6BC"/>
          </a:solidFill>
          <a:ln/>
        </p:spPr>
      </p:sp>
      <p:sp>
        <p:nvSpPr>
          <p:cNvPr id="7" name="anim-g1-232"/>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233"/>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قف ثابتًا</a:t>
            </a:r>
            <a:endParaRPr lang="ar-SA" sz="2300" dirty="0"/>
          </a:p>
        </p:txBody>
      </p:sp>
      <p:sp>
        <p:nvSpPr>
          <p:cNvPr id="9" name="anim-g1-234"/>
          <p:cNvSpPr/>
          <p:nvPr/>
        </p:nvSpPr>
        <p:spPr>
          <a:xfrm>
            <a:off x="9212351"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لا تتحرك ولا تنشغل بشيء آخر وأنت تعطي تعليمة مهمة</a:t>
            </a:r>
            <a:endParaRPr lang="ar-SA" sz="1800" dirty="0"/>
          </a:p>
        </p:txBody>
      </p:sp>
      <p:sp>
        <p:nvSpPr>
          <p:cNvPr id="10" name="anim-g2-235"/>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36"/>
          <p:cNvSpPr/>
          <p:nvPr/>
        </p:nvSpPr>
        <p:spPr>
          <a:xfrm>
            <a:off x="7657871" y="2404872"/>
            <a:ext cx="731520" cy="731520"/>
          </a:xfrm>
          <a:prstGeom prst="roundRect">
            <a:avLst>
              <a:gd name="adj" fmla="val 25000"/>
            </a:avLst>
          </a:prstGeom>
          <a:solidFill>
            <a:srgbClr val="F7E6BC"/>
          </a:solidFill>
          <a:ln/>
        </p:spPr>
      </p:sp>
      <p:sp>
        <p:nvSpPr>
          <p:cNvPr id="12" name="anim-g2-237"/>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38"/>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اخفض صوتك</a:t>
            </a:r>
            <a:endParaRPr lang="ar-SA" sz="2300" dirty="0"/>
          </a:p>
        </p:txBody>
      </p:sp>
      <p:sp>
        <p:nvSpPr>
          <p:cNvPr id="14" name="anim-g2-239"/>
          <p:cNvSpPr/>
          <p:nvPr/>
        </p:nvSpPr>
        <p:spPr>
          <a:xfrm>
            <a:off x="6507328"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الصوت المنخفض الواضح يجذب الانتباه أكثر من الصراخ</a:t>
            </a:r>
            <a:endParaRPr lang="ar-SA" sz="1800" dirty="0"/>
          </a:p>
        </p:txBody>
      </p:sp>
      <p:sp>
        <p:nvSpPr>
          <p:cNvPr id="15" name="anim-g3-240"/>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41"/>
          <p:cNvSpPr/>
          <p:nvPr/>
        </p:nvSpPr>
        <p:spPr>
          <a:xfrm>
            <a:off x="4952848" y="2404872"/>
            <a:ext cx="731520" cy="731520"/>
          </a:xfrm>
          <a:prstGeom prst="roundRect">
            <a:avLst>
              <a:gd name="adj" fmla="val 25000"/>
            </a:avLst>
          </a:prstGeom>
          <a:solidFill>
            <a:srgbClr val="F7E6BC"/>
          </a:solidFill>
          <a:ln/>
        </p:spPr>
      </p:sp>
      <p:sp>
        <p:nvSpPr>
          <p:cNvPr id="17" name="anim-g3-242"/>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43"/>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انظر وانتظر</a:t>
            </a:r>
            <a:endParaRPr lang="ar-SA" sz="2300" dirty="0"/>
          </a:p>
        </p:txBody>
      </p:sp>
      <p:sp>
        <p:nvSpPr>
          <p:cNvPr id="19" name="anim-g3-244"/>
          <p:cNvSpPr/>
          <p:nvPr/>
        </p:nvSpPr>
        <p:spPr>
          <a:xfrm>
            <a:off x="3802304"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تواصل بالعين ثم اصمت ثلاث ثوانٍ؛ الصمت أداة قوية</a:t>
            </a:r>
            <a:endParaRPr lang="ar-SA" sz="1800" dirty="0"/>
          </a:p>
        </p:txBody>
      </p:sp>
      <p:sp>
        <p:nvSpPr>
          <p:cNvPr id="20" name="anim-g4-245"/>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246"/>
          <p:cNvSpPr/>
          <p:nvPr/>
        </p:nvSpPr>
        <p:spPr>
          <a:xfrm>
            <a:off x="2247824" y="2404872"/>
            <a:ext cx="731520" cy="731520"/>
          </a:xfrm>
          <a:prstGeom prst="roundRect">
            <a:avLst>
              <a:gd name="adj" fmla="val 25000"/>
            </a:avLst>
          </a:prstGeom>
          <a:solidFill>
            <a:srgbClr val="F7E6BC"/>
          </a:solidFill>
          <a:ln/>
        </p:spPr>
      </p:sp>
      <p:sp>
        <p:nvSpPr>
          <p:cNvPr id="22" name="anim-g4-247"/>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248"/>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اقترب</a:t>
            </a:r>
            <a:endParaRPr lang="ar-SA" sz="2300" dirty="0"/>
          </a:p>
        </p:txBody>
      </p:sp>
      <p:sp>
        <p:nvSpPr>
          <p:cNvPr id="24" name="anim-g4-249"/>
          <p:cNvSpPr/>
          <p:nvPr/>
        </p:nvSpPr>
        <p:spPr>
          <a:xfrm>
            <a:off x="1097280"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القرب الجسدي يطفئ معظم السلوكيات دون كلمة واحدة</a:t>
            </a:r>
            <a:endParaRPr lang="ar-SA" sz="18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101791" y="457200"/>
            <a:ext cx="5266944" cy="457200"/>
          </a:xfrm>
          <a:prstGeom prst="roundRect">
            <a:avLst>
              <a:gd name="adj" fmla="val 50000"/>
            </a:avLst>
          </a:prstGeom>
          <a:solidFill>
            <a:srgbClr val="F6EBCF"/>
          </a:solidFill>
          <a:ln/>
        </p:spPr>
      </p:sp>
      <p:sp>
        <p:nvSpPr>
          <p:cNvPr id="3" name="Text 1"/>
          <p:cNvSpPr/>
          <p:nvPr/>
        </p:nvSpPr>
        <p:spPr>
          <a:xfrm>
            <a:off x="6101791" y="457200"/>
            <a:ext cx="526694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بعد الحصة… بعيدًا عن الجمهور</a:t>
            </a:r>
            <a:endParaRPr lang="ar-SA" sz="1600" dirty="0"/>
          </a:p>
        </p:txBody>
      </p:sp>
      <p:sp>
        <p:nvSpPr>
          <p:cNvPr id="4" name="Shape 2"/>
          <p:cNvSpPr/>
          <p:nvPr/>
        </p:nvSpPr>
        <p:spPr>
          <a:xfrm>
            <a:off x="822960" y="457200"/>
            <a:ext cx="1618488" cy="457200"/>
          </a:xfrm>
          <a:prstGeom prst="roundRect">
            <a:avLst>
              <a:gd name="adj" fmla="val 50000"/>
            </a:avLst>
          </a:prstGeom>
          <a:solidFill>
            <a:srgbClr val="FBECEC"/>
          </a:solidFill>
          <a:ln/>
        </p:spPr>
      </p:sp>
      <p:sp>
        <p:nvSpPr>
          <p:cNvPr id="5" name="Text 3"/>
          <p:cNvSpPr/>
          <p:nvPr/>
        </p:nvSpPr>
        <p:spPr>
          <a:xfrm>
            <a:off x="822960" y="457200"/>
            <a:ext cx="161848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دقيقتان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الأداة ٥ · الحوار الخاص في دقيقتين</a:t>
            </a:r>
            <a:endParaRPr lang="ar-SA" sz="3200" dirty="0"/>
          </a:p>
        </p:txBody>
      </p:sp>
      <p:sp>
        <p:nvSpPr>
          <p:cNvPr id="7" name="anim-g1-250"/>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51"/>
          <p:cNvSpPr/>
          <p:nvPr/>
        </p:nvSpPr>
        <p:spPr>
          <a:xfrm>
            <a:off x="9747618" y="2423160"/>
            <a:ext cx="777240" cy="777240"/>
          </a:xfrm>
          <a:prstGeom prst="ellipse">
            <a:avLst/>
          </a:prstGeom>
          <a:solidFill>
            <a:srgbClr val="D9AE4B"/>
          </a:solidFill>
          <a:ln/>
        </p:spPr>
      </p:sp>
      <p:sp>
        <p:nvSpPr>
          <p:cNvPr id="9" name="anim-g1-252"/>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53"/>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العلاقة</a:t>
            </a:r>
            <a:endParaRPr lang="ar-SA" sz="2500" dirty="0"/>
          </a:p>
        </p:txBody>
      </p:sp>
      <p:sp>
        <p:nvSpPr>
          <p:cNvPr id="11" name="anim-g1-254"/>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«أنا مهتم بك، ولهذا طلبتك»</a:t>
            </a:r>
            <a:endParaRPr lang="ar-SA" sz="1700" dirty="0"/>
          </a:p>
        </p:txBody>
      </p:sp>
      <p:sp>
        <p:nvSpPr>
          <p:cNvPr id="12" name="anim-g2-255"/>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56"/>
          <p:cNvSpPr/>
          <p:nvPr/>
        </p:nvSpPr>
        <p:spPr>
          <a:xfrm>
            <a:off x="7054024" y="2423160"/>
            <a:ext cx="777240" cy="777240"/>
          </a:xfrm>
          <a:prstGeom prst="ellipse">
            <a:avLst/>
          </a:prstGeom>
          <a:solidFill>
            <a:srgbClr val="D9AE4B"/>
          </a:solidFill>
          <a:ln/>
        </p:spPr>
      </p:sp>
      <p:sp>
        <p:nvSpPr>
          <p:cNvPr id="14" name="anim-g2-257"/>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58"/>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السلوك</a:t>
            </a:r>
            <a:endParaRPr lang="ar-SA" sz="2500" dirty="0"/>
          </a:p>
        </p:txBody>
      </p:sp>
      <p:sp>
        <p:nvSpPr>
          <p:cNvPr id="16" name="anim-g2-259"/>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«لاحظت أنك…» صف ما حدث، لا شخصيته</a:t>
            </a:r>
            <a:endParaRPr lang="ar-SA" sz="1700" dirty="0"/>
          </a:p>
        </p:txBody>
      </p:sp>
      <p:sp>
        <p:nvSpPr>
          <p:cNvPr id="17" name="anim-g3-260"/>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61"/>
          <p:cNvSpPr/>
          <p:nvPr/>
        </p:nvSpPr>
        <p:spPr>
          <a:xfrm>
            <a:off x="4360431" y="2423160"/>
            <a:ext cx="777240" cy="777240"/>
          </a:xfrm>
          <a:prstGeom prst="ellipse">
            <a:avLst/>
          </a:prstGeom>
          <a:solidFill>
            <a:srgbClr val="D9AE4B"/>
          </a:solidFill>
          <a:ln/>
        </p:spPr>
      </p:sp>
      <p:sp>
        <p:nvSpPr>
          <p:cNvPr id="19" name="anim-g3-262"/>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63"/>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a:t>
            </a:r>
            <a:endParaRPr lang="ar-SA" sz="2500" dirty="0"/>
          </a:p>
        </p:txBody>
      </p:sp>
      <p:sp>
        <p:nvSpPr>
          <p:cNvPr id="21" name="anim-g3-264"/>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«ما الذي يحدث؟» واستمع دون مقاطعة</a:t>
            </a:r>
            <a:endParaRPr lang="ar-SA" sz="1700" dirty="0"/>
          </a:p>
        </p:txBody>
      </p:sp>
      <p:sp>
        <p:nvSpPr>
          <p:cNvPr id="22" name="anim-g4-265"/>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66"/>
          <p:cNvSpPr/>
          <p:nvPr/>
        </p:nvSpPr>
        <p:spPr>
          <a:xfrm>
            <a:off x="1666837" y="2423160"/>
            <a:ext cx="777240" cy="777240"/>
          </a:xfrm>
          <a:prstGeom prst="ellipse">
            <a:avLst/>
          </a:prstGeom>
          <a:solidFill>
            <a:srgbClr val="D9AE4B"/>
          </a:solidFill>
          <a:ln/>
        </p:spPr>
      </p:sp>
      <p:sp>
        <p:nvSpPr>
          <p:cNvPr id="24" name="anim-g4-267"/>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68"/>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خطوة واحدة</a:t>
            </a:r>
            <a:endParaRPr lang="ar-SA" sz="2500" dirty="0"/>
          </a:p>
        </p:txBody>
      </p:sp>
      <p:sp>
        <p:nvSpPr>
          <p:cNvPr id="26" name="anim-g4-269"/>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«ماذا ستفعل غدًا؟ وكيف أساعدك؟»</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الأداة ٦ · الحوار الترميمي</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خمسة أسئلة تُصلح بدل أن تعاقب</a:t>
            </a:r>
            <a:endParaRPr lang="ar-SA" sz="3800" dirty="0"/>
          </a:p>
        </p:txBody>
      </p:sp>
      <p:sp>
        <p:nvSpPr>
          <p:cNvPr id="5" name="anim-g1-270"/>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271"/>
          <p:cNvSpPr/>
          <p:nvPr/>
        </p:nvSpPr>
        <p:spPr>
          <a:xfrm>
            <a:off x="10587838" y="2011680"/>
            <a:ext cx="552298" cy="552298"/>
          </a:xfrm>
          <a:prstGeom prst="ellipse">
            <a:avLst/>
          </a:prstGeom>
          <a:solidFill>
            <a:srgbClr val="D9AE4B"/>
          </a:solidFill>
          <a:ln/>
        </p:spPr>
      </p:sp>
      <p:sp>
        <p:nvSpPr>
          <p:cNvPr id="7" name="anim-g1-272"/>
          <p:cNvSpPr/>
          <p:nvPr/>
        </p:nvSpPr>
        <p:spPr>
          <a:xfrm>
            <a:off x="10587838" y="2011680"/>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73"/>
          <p:cNvSpPr/>
          <p:nvPr/>
        </p:nvSpPr>
        <p:spPr>
          <a:xfrm>
            <a:off x="1097280" y="1920240"/>
            <a:ext cx="9261958" cy="735178"/>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ماذا حدث؟</a:t>
            </a:r>
            <a:pPr algn="r" indent="0" marL="0">
              <a:buNone/>
            </a:pPr>
            <a:r>
              <a:rPr lang="ar-SA" altLang="en-US" sz="1500" b="1" dirty="0">
                <a:solidFill>
                  <a:srgbClr val="3B4460"/>
                </a:solidFill>
                <a:latin typeface="Cairo" pitchFamily="34" charset="0"/>
                <a:ea typeface="Cairo" pitchFamily="34" charset="-122"/>
                <a:cs typeface="Cairo" pitchFamily="34" charset="-120"/>
              </a:rPr>
              <a:t>   — يروي الطالب القصة من وجهة نظره</a:t>
            </a:r>
            <a:endParaRPr lang="ar-SA" sz="2000" dirty="0"/>
          </a:p>
        </p:txBody>
      </p:sp>
      <p:sp>
        <p:nvSpPr>
          <p:cNvPr id="9" name="anim-g2-274"/>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275"/>
          <p:cNvSpPr/>
          <p:nvPr/>
        </p:nvSpPr>
        <p:spPr>
          <a:xfrm>
            <a:off x="10587838" y="2856586"/>
            <a:ext cx="552298" cy="552298"/>
          </a:xfrm>
          <a:prstGeom prst="ellipse">
            <a:avLst/>
          </a:prstGeom>
          <a:solidFill>
            <a:srgbClr val="D9AE4B"/>
          </a:solidFill>
          <a:ln/>
        </p:spPr>
      </p:sp>
      <p:sp>
        <p:nvSpPr>
          <p:cNvPr id="11" name="anim-g2-276"/>
          <p:cNvSpPr/>
          <p:nvPr/>
        </p:nvSpPr>
        <p:spPr>
          <a:xfrm>
            <a:off x="10587838" y="2856586"/>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77"/>
          <p:cNvSpPr/>
          <p:nvPr/>
        </p:nvSpPr>
        <p:spPr>
          <a:xfrm>
            <a:off x="1097280" y="2765146"/>
            <a:ext cx="9261958" cy="735178"/>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بماذا كنت تفكر وقتها؟</a:t>
            </a:r>
            <a:pPr algn="r" indent="0" marL="0">
              <a:buNone/>
            </a:pPr>
            <a:r>
              <a:rPr lang="ar-SA" altLang="en-US" sz="1500" b="1" dirty="0">
                <a:solidFill>
                  <a:srgbClr val="3B4460"/>
                </a:solidFill>
                <a:latin typeface="Cairo" pitchFamily="34" charset="0"/>
                <a:ea typeface="Cairo" pitchFamily="34" charset="-122"/>
                <a:cs typeface="Cairo" pitchFamily="34" charset="-120"/>
              </a:rPr>
              <a:t>   — نفهم الدافع دون حكم</a:t>
            </a:r>
            <a:endParaRPr lang="ar-SA" sz="2000" dirty="0"/>
          </a:p>
        </p:txBody>
      </p:sp>
      <p:sp>
        <p:nvSpPr>
          <p:cNvPr id="13" name="anim-g3-278"/>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279"/>
          <p:cNvSpPr/>
          <p:nvPr/>
        </p:nvSpPr>
        <p:spPr>
          <a:xfrm>
            <a:off x="10587838" y="3701491"/>
            <a:ext cx="552298" cy="552298"/>
          </a:xfrm>
          <a:prstGeom prst="ellipse">
            <a:avLst/>
          </a:prstGeom>
          <a:solidFill>
            <a:srgbClr val="D9AE4B"/>
          </a:solidFill>
          <a:ln/>
        </p:spPr>
      </p:sp>
      <p:sp>
        <p:nvSpPr>
          <p:cNvPr id="15" name="anim-g3-280"/>
          <p:cNvSpPr/>
          <p:nvPr/>
        </p:nvSpPr>
        <p:spPr>
          <a:xfrm>
            <a:off x="10587838" y="3701491"/>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81"/>
          <p:cNvSpPr/>
          <p:nvPr/>
        </p:nvSpPr>
        <p:spPr>
          <a:xfrm>
            <a:off x="1097280" y="3610051"/>
            <a:ext cx="9261958" cy="735178"/>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من تأثر بما فعلت؟ وكيف؟</a:t>
            </a:r>
            <a:pPr algn="r" indent="0" marL="0">
              <a:buNone/>
            </a:pPr>
            <a:r>
              <a:rPr lang="ar-SA" altLang="en-US" sz="1500" b="1" dirty="0">
                <a:solidFill>
                  <a:srgbClr val="3B4460"/>
                </a:solidFill>
                <a:latin typeface="Cairo" pitchFamily="34" charset="0"/>
                <a:ea typeface="Cairo" pitchFamily="34" charset="-122"/>
                <a:cs typeface="Cairo" pitchFamily="34" charset="-120"/>
              </a:rPr>
              <a:t>   — يرى أثر سلوكه على الآخرين</a:t>
            </a:r>
            <a:endParaRPr lang="ar-SA" sz="2000" dirty="0"/>
          </a:p>
        </p:txBody>
      </p:sp>
      <p:sp>
        <p:nvSpPr>
          <p:cNvPr id="17" name="anim-g4-282"/>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283"/>
          <p:cNvSpPr/>
          <p:nvPr/>
        </p:nvSpPr>
        <p:spPr>
          <a:xfrm>
            <a:off x="10587838" y="4546397"/>
            <a:ext cx="552298" cy="552298"/>
          </a:xfrm>
          <a:prstGeom prst="ellipse">
            <a:avLst/>
          </a:prstGeom>
          <a:solidFill>
            <a:srgbClr val="D9AE4B"/>
          </a:solidFill>
          <a:ln/>
        </p:spPr>
      </p:sp>
      <p:sp>
        <p:nvSpPr>
          <p:cNvPr id="19" name="anim-g4-284"/>
          <p:cNvSpPr/>
          <p:nvPr/>
        </p:nvSpPr>
        <p:spPr>
          <a:xfrm>
            <a:off x="10587838" y="4546397"/>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85"/>
          <p:cNvSpPr/>
          <p:nvPr/>
        </p:nvSpPr>
        <p:spPr>
          <a:xfrm>
            <a:off x="1097280" y="4454957"/>
            <a:ext cx="9261958" cy="735178"/>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ماذا تحتاج أن تفعل لإصلاح الأمر؟</a:t>
            </a:r>
            <a:pPr algn="r" indent="0" marL="0">
              <a:buNone/>
            </a:pPr>
            <a:r>
              <a:rPr lang="ar-SA" altLang="en-US" sz="1500" b="1" dirty="0">
                <a:solidFill>
                  <a:srgbClr val="3B4460"/>
                </a:solidFill>
                <a:latin typeface="Cairo" pitchFamily="34" charset="0"/>
                <a:ea typeface="Cairo" pitchFamily="34" charset="-122"/>
                <a:cs typeface="Cairo" pitchFamily="34" charset="-120"/>
              </a:rPr>
              <a:t>   — هو من يقترح الإصلاح</a:t>
            </a:r>
            <a:endParaRPr lang="ar-SA" sz="2000" dirty="0"/>
          </a:p>
        </p:txBody>
      </p:sp>
      <p:sp>
        <p:nvSpPr>
          <p:cNvPr id="21" name="anim-g5-286"/>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287"/>
          <p:cNvSpPr/>
          <p:nvPr/>
        </p:nvSpPr>
        <p:spPr>
          <a:xfrm>
            <a:off x="10587838" y="5391302"/>
            <a:ext cx="552298" cy="552298"/>
          </a:xfrm>
          <a:prstGeom prst="ellipse">
            <a:avLst/>
          </a:prstGeom>
          <a:solidFill>
            <a:srgbClr val="D9AE4B"/>
          </a:solidFill>
          <a:ln/>
        </p:spPr>
      </p:sp>
      <p:sp>
        <p:nvSpPr>
          <p:cNvPr id="23" name="anim-g5-288"/>
          <p:cNvSpPr/>
          <p:nvPr/>
        </p:nvSpPr>
        <p:spPr>
          <a:xfrm>
            <a:off x="10587838" y="5391302"/>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289"/>
          <p:cNvSpPr/>
          <p:nvPr/>
        </p:nvSpPr>
        <p:spPr>
          <a:xfrm>
            <a:off x="1097280" y="5299862"/>
            <a:ext cx="9261958" cy="735178"/>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ماذا ستفعل مختلفًا في المرة القادمة؟</a:t>
            </a:r>
            <a:pPr algn="r" indent="0" marL="0">
              <a:buNone/>
            </a:pPr>
            <a:r>
              <a:rPr lang="ar-SA" altLang="en-US" sz="1500" b="1" dirty="0">
                <a:solidFill>
                  <a:srgbClr val="3B4460"/>
                </a:solidFill>
                <a:latin typeface="Cairo" pitchFamily="34" charset="0"/>
                <a:ea typeface="Cairo" pitchFamily="34" charset="-122"/>
                <a:cs typeface="Cairo" pitchFamily="34" charset="-120"/>
              </a:rPr>
              <a:t>   — خطة للمستقبل لا لوم على الماضي</a:t>
            </a:r>
            <a:endParaRPr lang="ar-SA" sz="20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وقود كل الأدوات</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قاعدة ٤ إلى ١: التعزيز قبل التصحيح</a:t>
            </a:r>
            <a:endParaRPr lang="ar-SA" sz="3200" dirty="0"/>
          </a:p>
        </p:txBody>
      </p:sp>
      <p:sp>
        <p:nvSpPr>
          <p:cNvPr id="5" name="anim-g1-290"/>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91"/>
          <p:cNvSpPr/>
          <p:nvPr/>
        </p:nvSpPr>
        <p:spPr>
          <a:xfrm>
            <a:off x="10362895" y="2404872"/>
            <a:ext cx="731520" cy="731520"/>
          </a:xfrm>
          <a:prstGeom prst="roundRect">
            <a:avLst>
              <a:gd name="adj" fmla="val 25000"/>
            </a:avLst>
          </a:prstGeom>
          <a:solidFill>
            <a:srgbClr val="F7E6BC"/>
          </a:solidFill>
          <a:ln/>
        </p:spPr>
      </p:sp>
      <p:sp>
        <p:nvSpPr>
          <p:cNvPr id="7" name="anim-g1-292"/>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4️⃣</a:t>
            </a:r>
            <a:endParaRPr lang="ar-SA" sz="2900" dirty="0"/>
          </a:p>
        </p:txBody>
      </p:sp>
      <p:sp>
        <p:nvSpPr>
          <p:cNvPr id="8" name="anim-g1-293"/>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أربع ملاحظات إيجابية</a:t>
            </a:r>
            <a:endParaRPr lang="ar-SA" sz="2300" dirty="0"/>
          </a:p>
        </p:txBody>
      </p:sp>
      <p:sp>
        <p:nvSpPr>
          <p:cNvPr id="9" name="anim-g1-294"/>
          <p:cNvSpPr/>
          <p:nvPr/>
        </p:nvSpPr>
        <p:spPr>
          <a:xfrm>
            <a:off x="8310677"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لكل ملاحظة تصحيحية واحدة، كما توصي برامج دعم السلوك الإيجابي</a:t>
            </a:r>
            <a:endParaRPr lang="ar-SA" sz="1800" dirty="0"/>
          </a:p>
        </p:txBody>
      </p:sp>
      <p:sp>
        <p:nvSpPr>
          <p:cNvPr id="10" name="anim-g2-295"/>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96"/>
          <p:cNvSpPr/>
          <p:nvPr/>
        </p:nvSpPr>
        <p:spPr>
          <a:xfrm>
            <a:off x="6756197" y="2404872"/>
            <a:ext cx="731520" cy="731520"/>
          </a:xfrm>
          <a:prstGeom prst="roundRect">
            <a:avLst>
              <a:gd name="adj" fmla="val 25000"/>
            </a:avLst>
          </a:prstGeom>
          <a:solidFill>
            <a:srgbClr val="F7E6BC"/>
          </a:solidFill>
          <a:ln/>
        </p:spPr>
      </p:sp>
      <p:sp>
        <p:nvSpPr>
          <p:cNvPr id="12" name="anim-g2-297"/>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98"/>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امدح السلوك</a:t>
            </a:r>
            <a:endParaRPr lang="ar-SA" sz="2300" dirty="0"/>
          </a:p>
        </p:txBody>
      </p:sp>
      <p:sp>
        <p:nvSpPr>
          <p:cNvPr id="14" name="anim-g2-299"/>
          <p:cNvSpPr/>
          <p:nvPr/>
        </p:nvSpPr>
        <p:spPr>
          <a:xfrm>
            <a:off x="4703978"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«رتّبت أدواتك بسرعة» أقوى من «أنت رائع»</a:t>
            </a:r>
            <a:endParaRPr lang="ar-SA" sz="1800" dirty="0"/>
          </a:p>
        </p:txBody>
      </p:sp>
      <p:sp>
        <p:nvSpPr>
          <p:cNvPr id="15" name="anim-g3-300"/>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01"/>
          <p:cNvSpPr/>
          <p:nvPr/>
        </p:nvSpPr>
        <p:spPr>
          <a:xfrm>
            <a:off x="3149498" y="2404872"/>
            <a:ext cx="731520" cy="731520"/>
          </a:xfrm>
          <a:prstGeom prst="roundRect">
            <a:avLst>
              <a:gd name="adj" fmla="val 25000"/>
            </a:avLst>
          </a:prstGeom>
          <a:solidFill>
            <a:srgbClr val="F7E6BC"/>
          </a:solidFill>
          <a:ln/>
        </p:spPr>
      </p:sp>
      <p:sp>
        <p:nvSpPr>
          <p:cNvPr id="17" name="anim-g3-302"/>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303"/>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علنًا وسرًّا</a:t>
            </a:r>
            <a:endParaRPr lang="ar-SA" sz="2300" dirty="0"/>
          </a:p>
        </p:txBody>
      </p:sp>
      <p:sp>
        <p:nvSpPr>
          <p:cNvPr id="19" name="anim-g3-304"/>
          <p:cNvSpPr/>
          <p:nvPr/>
        </p:nvSpPr>
        <p:spPr>
          <a:xfrm>
            <a:off x="1097280"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المدح أمام الجميع، والتصحيح على انفراد قدر الإمكان</a:t>
            </a:r>
            <a:endParaRPr lang="ar-SA" sz="18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٤٠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79112" y="1188720"/>
            <a:ext cx="263347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79112" y="1188720"/>
            <a:ext cx="263347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الصندوق</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افهم السبب…</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ثم اختر أصغر أداة تكفي</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صندوق أدوات المعلم  ·  ٤١</a:t>
            </a:r>
            <a:endParaRPr lang="ar-SA"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أنماط القيادة الصفية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كيف تقود فصلك؟ بالخوف… أم بالفوضى… أم بالحزم الدافئ؟</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أنماط القيادة الصفية  ·  ٤٢</a:t>
            </a:r>
            <a:endParaRPr lang="ar-SA"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مربع القيادة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نمطك يحدده أمران: الحزم والدفء</a:t>
            </a:r>
            <a:endParaRPr lang="ar-SA" sz="3800" dirty="0"/>
          </a:p>
        </p:txBody>
      </p:sp>
      <p:sp>
        <p:nvSpPr>
          <p:cNvPr id="5" name="Text 3"/>
          <p:cNvSpPr/>
          <p:nvPr/>
        </p:nvSpPr>
        <p:spPr>
          <a:xfrm rot="16200000">
            <a:off x="10865815" y="1874520"/>
            <a:ext cx="502920" cy="1655064"/>
          </a:xfrm>
          <a:prstGeom prst="rect">
            <a:avLst/>
          </a:prstGeom>
          <a:noFill/>
          <a:ln/>
        </p:spPr>
        <p:txBody>
          <a:bodyPr wrap="square" lIns="0" tIns="0" rIns="0" bIns="0" rtlCol="0" anchor="ctr">
            <a:normAutofit/>
          </a:bodyPr>
          <a:lstStyle/>
          <a:p>
            <a:pPr rtl="1" algn="ctr" indent="0" marL="0">
              <a:buNone/>
            </a:pPr>
            <a:r>
              <a:rPr lang="ar-SA" altLang="en-US" sz="1500" b="1" dirty="0">
                <a:solidFill>
                  <a:srgbClr val="5E6782"/>
                </a:solidFill>
                <a:latin typeface="Cairo" pitchFamily="34" charset="0"/>
                <a:ea typeface="Cairo" pitchFamily="34" charset="-122"/>
                <a:cs typeface="Cairo" pitchFamily="34" charset="-120"/>
              </a:rPr>
              <a:t>حزم مرتفع</a:t>
            </a:r>
            <a:endParaRPr lang="ar-SA" sz="1500" dirty="0"/>
          </a:p>
        </p:txBody>
      </p:sp>
      <p:sp>
        <p:nvSpPr>
          <p:cNvPr id="6" name="Text 4"/>
          <p:cNvSpPr/>
          <p:nvPr/>
        </p:nvSpPr>
        <p:spPr>
          <a:xfrm rot="16200000">
            <a:off x="10865815" y="3694176"/>
            <a:ext cx="502920" cy="1655064"/>
          </a:xfrm>
          <a:prstGeom prst="rect">
            <a:avLst/>
          </a:prstGeom>
          <a:noFill/>
          <a:ln/>
        </p:spPr>
        <p:txBody>
          <a:bodyPr wrap="square" lIns="0" tIns="0" rIns="0" bIns="0" rtlCol="0" anchor="ctr">
            <a:normAutofit/>
          </a:bodyPr>
          <a:lstStyle/>
          <a:p>
            <a:pPr rtl="1" algn="ctr" indent="0" marL="0">
              <a:buNone/>
            </a:pPr>
            <a:r>
              <a:rPr lang="ar-SA" altLang="en-US" sz="1500" b="1" dirty="0">
                <a:solidFill>
                  <a:srgbClr val="5E6782"/>
                </a:solidFill>
                <a:latin typeface="Cairo" pitchFamily="34" charset="0"/>
                <a:ea typeface="Cairo" pitchFamily="34" charset="-122"/>
                <a:cs typeface="Cairo" pitchFamily="34" charset="-120"/>
              </a:rPr>
              <a:t>حزم منخفض</a:t>
            </a:r>
            <a:endParaRPr lang="ar-SA" sz="1500" dirty="0"/>
          </a:p>
        </p:txBody>
      </p:sp>
      <p:sp>
        <p:nvSpPr>
          <p:cNvPr id="7" name="Text 5"/>
          <p:cNvSpPr/>
          <p:nvPr/>
        </p:nvSpPr>
        <p:spPr>
          <a:xfrm>
            <a:off x="5844388" y="5394960"/>
            <a:ext cx="4856836" cy="320040"/>
          </a:xfrm>
          <a:prstGeom prst="rect">
            <a:avLst/>
          </a:prstGeom>
          <a:noFill/>
          <a:ln/>
        </p:spPr>
        <p:txBody>
          <a:bodyPr wrap="square" lIns="0" tIns="0" rIns="0" bIns="0" rtlCol="0" anchor="ctr">
            <a:normAutofit/>
          </a:bodyPr>
          <a:lstStyle/>
          <a:p>
            <a:pPr rtl="1" algn="ctr" indent="0" marL="0">
              <a:buNone/>
            </a:pPr>
            <a:r>
              <a:rPr lang="ar-SA" altLang="en-US" sz="1500" b="1" dirty="0">
                <a:solidFill>
                  <a:srgbClr val="5E6782"/>
                </a:solidFill>
                <a:latin typeface="Cairo" pitchFamily="34" charset="0"/>
                <a:ea typeface="Cairo" pitchFamily="34" charset="-122"/>
                <a:cs typeface="Cairo" pitchFamily="34" charset="-120"/>
              </a:rPr>
              <a:t>دفء منخفض</a:t>
            </a:r>
            <a:endParaRPr lang="ar-SA" sz="1500" dirty="0"/>
          </a:p>
        </p:txBody>
      </p:sp>
      <p:sp>
        <p:nvSpPr>
          <p:cNvPr id="8" name="Text 6"/>
          <p:cNvSpPr/>
          <p:nvPr/>
        </p:nvSpPr>
        <p:spPr>
          <a:xfrm>
            <a:off x="822960" y="5394960"/>
            <a:ext cx="4856836" cy="320040"/>
          </a:xfrm>
          <a:prstGeom prst="rect">
            <a:avLst/>
          </a:prstGeom>
          <a:noFill/>
          <a:ln/>
        </p:spPr>
        <p:txBody>
          <a:bodyPr wrap="square" lIns="0" tIns="0" rIns="0" bIns="0" rtlCol="0" anchor="ctr">
            <a:normAutofit/>
          </a:bodyPr>
          <a:lstStyle/>
          <a:p>
            <a:pPr rtl="1" algn="ctr" indent="0" marL="0">
              <a:buNone/>
            </a:pPr>
            <a:r>
              <a:rPr lang="ar-SA" altLang="en-US" sz="1500" b="1" dirty="0">
                <a:solidFill>
                  <a:srgbClr val="5E6782"/>
                </a:solidFill>
                <a:latin typeface="Cairo" pitchFamily="34" charset="0"/>
                <a:ea typeface="Cairo" pitchFamily="34" charset="-122"/>
                <a:cs typeface="Cairo" pitchFamily="34" charset="-120"/>
              </a:rPr>
              <a:t>دفء مرتفع</a:t>
            </a:r>
            <a:endParaRPr lang="ar-SA" sz="1500" dirty="0"/>
          </a:p>
        </p:txBody>
      </p:sp>
      <p:sp>
        <p:nvSpPr>
          <p:cNvPr id="9" name="anim-g1-305"/>
          <p:cNvSpPr/>
          <p:nvPr/>
        </p:nvSpPr>
        <p:spPr>
          <a:xfrm>
            <a:off x="5844388" y="1874520"/>
            <a:ext cx="4856836" cy="1655064"/>
          </a:xfrm>
          <a:prstGeom prst="roundRect">
            <a:avLst>
              <a:gd name="adj" fmla="val 11050"/>
            </a:avLst>
          </a:prstGeom>
          <a:solidFill>
            <a:srgbClr val="FFFFFF"/>
          </a:solidFill>
          <a:ln w="19050">
            <a:solidFill>
              <a:srgbClr val="E4DCC8"/>
            </a:solidFill>
            <a:prstDash val="solid"/>
          </a:ln>
        </p:spPr>
      </p:sp>
      <p:sp>
        <p:nvSpPr>
          <p:cNvPr id="10" name="anim-g1-306"/>
          <p:cNvSpPr/>
          <p:nvPr/>
        </p:nvSpPr>
        <p:spPr>
          <a:xfrm>
            <a:off x="9878263" y="2011680"/>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1" name="anim-g1-307"/>
          <p:cNvSpPr/>
          <p:nvPr/>
        </p:nvSpPr>
        <p:spPr>
          <a:xfrm>
            <a:off x="6118708" y="2011680"/>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التسلّطي</a:t>
            </a:r>
            <a:endParaRPr lang="ar-SA" sz="2400" dirty="0"/>
          </a:p>
        </p:txBody>
      </p:sp>
      <p:sp>
        <p:nvSpPr>
          <p:cNvPr id="12" name="anim-g1-308"/>
          <p:cNvSpPr/>
          <p:nvPr/>
        </p:nvSpPr>
        <p:spPr>
          <a:xfrm>
            <a:off x="6118708" y="2606040"/>
            <a:ext cx="4308196" cy="786384"/>
          </a:xfrm>
          <a:prstGeom prst="rect">
            <a:avLst/>
          </a:prstGeom>
          <a:noFill/>
          <a:ln/>
        </p:spPr>
        <p:txBody>
          <a:bodyPr wrap="square" lIns="0" tIns="0" rIns="0" bIns="0" rtlCol="0" anchor="t">
            <a:normAutofit/>
          </a:bodyPr>
          <a:lstStyle/>
          <a:p>
            <a:pPr rtl="1" algn="r" indent="0" marL="0">
              <a:buNone/>
            </a:pPr>
            <a:r>
              <a:rPr lang="ar-SA" altLang="en-US" sz="1600" b="1" dirty="0">
                <a:solidFill>
                  <a:srgbClr val="3B4460"/>
                </a:solidFill>
                <a:latin typeface="Cairo" pitchFamily="34" charset="0"/>
                <a:ea typeface="Cairo" pitchFamily="34" charset="-122"/>
                <a:cs typeface="Cairo" pitchFamily="34" charset="-120"/>
              </a:rPr>
              <a:t>قواعد صارمة بلا علاقة. انضباط لحظي، وخوف، وطلاب لا يتعلمون المسؤولية</a:t>
            </a:r>
            <a:endParaRPr lang="ar-SA" sz="1600" dirty="0"/>
          </a:p>
        </p:txBody>
      </p:sp>
      <p:sp>
        <p:nvSpPr>
          <p:cNvPr id="13" name="anim-g2-309"/>
          <p:cNvSpPr/>
          <p:nvPr/>
        </p:nvSpPr>
        <p:spPr>
          <a:xfrm>
            <a:off x="822960" y="1874520"/>
            <a:ext cx="4856836" cy="1655064"/>
          </a:xfrm>
          <a:prstGeom prst="roundRect">
            <a:avLst>
              <a:gd name="adj" fmla="val 11050"/>
            </a:avLst>
          </a:prstGeom>
          <a:solidFill>
            <a:srgbClr val="FBEBC0"/>
          </a:solidFill>
          <a:ln w="31750">
            <a:solidFill>
              <a:srgbClr val="D9AE4B"/>
            </a:solidFill>
            <a:prstDash val="solid"/>
          </a:ln>
        </p:spPr>
      </p:sp>
      <p:sp>
        <p:nvSpPr>
          <p:cNvPr id="14" name="anim-g2-310"/>
          <p:cNvSpPr/>
          <p:nvPr/>
        </p:nvSpPr>
        <p:spPr>
          <a:xfrm>
            <a:off x="4856836" y="2011680"/>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5" name="anim-g2-311"/>
          <p:cNvSpPr/>
          <p:nvPr/>
        </p:nvSpPr>
        <p:spPr>
          <a:xfrm>
            <a:off x="1097280" y="2011680"/>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الحازم الدافئ ⭐</a:t>
            </a:r>
            <a:endParaRPr lang="ar-SA" sz="2400" dirty="0"/>
          </a:p>
        </p:txBody>
      </p:sp>
      <p:sp>
        <p:nvSpPr>
          <p:cNvPr id="16" name="anim-g2-312"/>
          <p:cNvSpPr/>
          <p:nvPr/>
        </p:nvSpPr>
        <p:spPr>
          <a:xfrm>
            <a:off x="1097280" y="2606040"/>
            <a:ext cx="4308196" cy="786384"/>
          </a:xfrm>
          <a:prstGeom prst="rect">
            <a:avLst/>
          </a:prstGeom>
          <a:noFill/>
          <a:ln/>
        </p:spPr>
        <p:txBody>
          <a:bodyPr wrap="square" lIns="0" tIns="0" rIns="0" bIns="0" rtlCol="0" anchor="t">
            <a:normAutofit/>
          </a:bodyPr>
          <a:lstStyle/>
          <a:p>
            <a:pPr rtl="1" algn="r" indent="0" marL="0">
              <a:buNone/>
            </a:pPr>
            <a:r>
              <a:rPr lang="ar-SA" altLang="en-US" sz="1600" b="1" dirty="0">
                <a:solidFill>
                  <a:srgbClr val="3B4460"/>
                </a:solidFill>
                <a:latin typeface="Cairo" pitchFamily="34" charset="0"/>
                <a:ea typeface="Cairo" pitchFamily="34" charset="-122"/>
                <a:cs typeface="Cairo" pitchFamily="34" charset="-120"/>
              </a:rPr>
              <a:t>قواعد واضحة وعلاقة قوية. احترام حقيقي، وطلاب يتحملون المسؤولية</a:t>
            </a:r>
            <a:endParaRPr lang="ar-SA" sz="1600" dirty="0"/>
          </a:p>
        </p:txBody>
      </p:sp>
      <p:sp>
        <p:nvSpPr>
          <p:cNvPr id="17" name="anim-g3-313"/>
          <p:cNvSpPr/>
          <p:nvPr/>
        </p:nvSpPr>
        <p:spPr>
          <a:xfrm>
            <a:off x="5844388" y="3694176"/>
            <a:ext cx="4856836" cy="1655064"/>
          </a:xfrm>
          <a:prstGeom prst="roundRect">
            <a:avLst>
              <a:gd name="adj" fmla="val 11050"/>
            </a:avLst>
          </a:prstGeom>
          <a:solidFill>
            <a:srgbClr val="FFFFFF"/>
          </a:solidFill>
          <a:ln w="19050">
            <a:solidFill>
              <a:srgbClr val="E4DCC8"/>
            </a:solidFill>
            <a:prstDash val="solid"/>
          </a:ln>
        </p:spPr>
      </p:sp>
      <p:sp>
        <p:nvSpPr>
          <p:cNvPr id="18" name="anim-g3-314"/>
          <p:cNvSpPr/>
          <p:nvPr/>
        </p:nvSpPr>
        <p:spPr>
          <a:xfrm>
            <a:off x="9878263" y="3831336"/>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9" name="anim-g3-315"/>
          <p:cNvSpPr/>
          <p:nvPr/>
        </p:nvSpPr>
        <p:spPr>
          <a:xfrm>
            <a:off x="6118708" y="3831336"/>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المتسيّب</a:t>
            </a:r>
            <a:endParaRPr lang="ar-SA" sz="2400" dirty="0"/>
          </a:p>
        </p:txBody>
      </p:sp>
      <p:sp>
        <p:nvSpPr>
          <p:cNvPr id="20" name="anim-g3-316"/>
          <p:cNvSpPr/>
          <p:nvPr/>
        </p:nvSpPr>
        <p:spPr>
          <a:xfrm>
            <a:off x="6118708" y="4425696"/>
            <a:ext cx="4308196" cy="786384"/>
          </a:xfrm>
          <a:prstGeom prst="rect">
            <a:avLst/>
          </a:prstGeom>
          <a:noFill/>
          <a:ln/>
        </p:spPr>
        <p:txBody>
          <a:bodyPr wrap="square" lIns="0" tIns="0" rIns="0" bIns="0" rtlCol="0" anchor="t">
            <a:normAutofit/>
          </a:bodyPr>
          <a:lstStyle/>
          <a:p>
            <a:pPr rtl="1" algn="r" indent="0" marL="0">
              <a:buNone/>
            </a:pPr>
            <a:r>
              <a:rPr lang="ar-SA" altLang="en-US" sz="1600" b="1" dirty="0">
                <a:solidFill>
                  <a:srgbClr val="3B4460"/>
                </a:solidFill>
                <a:latin typeface="Cairo" pitchFamily="34" charset="0"/>
                <a:ea typeface="Cairo" pitchFamily="34" charset="-122"/>
                <a:cs typeface="Cairo" pitchFamily="34" charset="-120"/>
              </a:rPr>
              <a:t>لا قواعد ولا علاقة. فوضى، وضياع وقت، وفقدان هيبة المعلم</a:t>
            </a:r>
            <a:endParaRPr lang="ar-SA" sz="1600" dirty="0"/>
          </a:p>
        </p:txBody>
      </p:sp>
      <p:sp>
        <p:nvSpPr>
          <p:cNvPr id="21" name="anim-g4-317"/>
          <p:cNvSpPr/>
          <p:nvPr/>
        </p:nvSpPr>
        <p:spPr>
          <a:xfrm>
            <a:off x="822960" y="3694176"/>
            <a:ext cx="4856836" cy="1655064"/>
          </a:xfrm>
          <a:prstGeom prst="roundRect">
            <a:avLst>
              <a:gd name="adj" fmla="val 11050"/>
            </a:avLst>
          </a:prstGeom>
          <a:solidFill>
            <a:srgbClr val="FFFFFF"/>
          </a:solidFill>
          <a:ln w="19050">
            <a:solidFill>
              <a:srgbClr val="E4DCC8"/>
            </a:solidFill>
            <a:prstDash val="solid"/>
          </a:ln>
        </p:spPr>
      </p:sp>
      <p:sp>
        <p:nvSpPr>
          <p:cNvPr id="22" name="anim-g4-318"/>
          <p:cNvSpPr/>
          <p:nvPr/>
        </p:nvSpPr>
        <p:spPr>
          <a:xfrm>
            <a:off x="4856836" y="3831336"/>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319"/>
          <p:cNvSpPr/>
          <p:nvPr/>
        </p:nvSpPr>
        <p:spPr>
          <a:xfrm>
            <a:off x="1097280" y="3831336"/>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العاطفي</a:t>
            </a:r>
            <a:endParaRPr lang="ar-SA" sz="2400" dirty="0"/>
          </a:p>
        </p:txBody>
      </p:sp>
      <p:sp>
        <p:nvSpPr>
          <p:cNvPr id="24" name="anim-g4-320"/>
          <p:cNvSpPr/>
          <p:nvPr/>
        </p:nvSpPr>
        <p:spPr>
          <a:xfrm>
            <a:off x="1097280" y="4425696"/>
            <a:ext cx="4308196" cy="786384"/>
          </a:xfrm>
          <a:prstGeom prst="rect">
            <a:avLst/>
          </a:prstGeom>
          <a:noFill/>
          <a:ln/>
        </p:spPr>
        <p:txBody>
          <a:bodyPr wrap="square" lIns="0" tIns="0" rIns="0" bIns="0" rtlCol="0" anchor="t">
            <a:normAutofit/>
          </a:bodyPr>
          <a:lstStyle/>
          <a:p>
            <a:pPr rtl="1" algn="r" indent="0" marL="0">
              <a:buNone/>
            </a:pPr>
            <a:r>
              <a:rPr lang="ar-SA" altLang="en-US" sz="1600" b="1" dirty="0">
                <a:solidFill>
                  <a:srgbClr val="3B4460"/>
                </a:solidFill>
                <a:latin typeface="Cairo" pitchFamily="34" charset="0"/>
                <a:ea typeface="Cairo" pitchFamily="34" charset="-122"/>
                <a:cs typeface="Cairo" pitchFamily="34" charset="-120"/>
              </a:rPr>
              <a:t>علاقة بلا قواعد. محبوب لكن الطلاب يستغلون طيبته</a:t>
            </a:r>
            <a:endParaRPr lang="ar-SA" sz="16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أنماط القيادة الصفية  ·  ٤٣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كيف تعرف النمط؟</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جملة واحدة تكشف كل نمط</a:t>
            </a:r>
            <a:endParaRPr lang="ar-SA" sz="3800" dirty="0"/>
          </a:p>
        </p:txBody>
      </p:sp>
      <p:sp>
        <p:nvSpPr>
          <p:cNvPr id="5" name="anim-g1-321"/>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22"/>
          <p:cNvSpPr/>
          <p:nvPr/>
        </p:nvSpPr>
        <p:spPr>
          <a:xfrm>
            <a:off x="10362895" y="2404872"/>
            <a:ext cx="731520" cy="731520"/>
          </a:xfrm>
          <a:prstGeom prst="roundRect">
            <a:avLst>
              <a:gd name="adj" fmla="val 25000"/>
            </a:avLst>
          </a:prstGeom>
          <a:solidFill>
            <a:srgbClr val="F7E6BC"/>
          </a:solidFill>
          <a:ln/>
        </p:spPr>
      </p:sp>
      <p:sp>
        <p:nvSpPr>
          <p:cNvPr id="7" name="anim-g1-323"/>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324"/>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التسلّطي</a:t>
            </a:r>
            <a:endParaRPr lang="ar-SA" sz="2300" dirty="0"/>
          </a:p>
        </p:txBody>
      </p:sp>
      <p:sp>
        <p:nvSpPr>
          <p:cNvPr id="9" name="anim-g1-325"/>
          <p:cNvSpPr/>
          <p:nvPr/>
        </p:nvSpPr>
        <p:spPr>
          <a:xfrm>
            <a:off x="9212351"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«لأنني قلت ذلك!»</a:t>
            </a:r>
            <a:endParaRPr lang="ar-SA" sz="1800" dirty="0"/>
          </a:p>
        </p:txBody>
      </p:sp>
      <p:sp>
        <p:nvSpPr>
          <p:cNvPr id="10" name="anim-g2-326"/>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27"/>
          <p:cNvSpPr/>
          <p:nvPr/>
        </p:nvSpPr>
        <p:spPr>
          <a:xfrm>
            <a:off x="7657871" y="2404872"/>
            <a:ext cx="731520" cy="731520"/>
          </a:xfrm>
          <a:prstGeom prst="roundRect">
            <a:avLst>
              <a:gd name="adj" fmla="val 25000"/>
            </a:avLst>
          </a:prstGeom>
          <a:solidFill>
            <a:srgbClr val="F7E6BC"/>
          </a:solidFill>
          <a:ln/>
        </p:spPr>
      </p:sp>
      <p:sp>
        <p:nvSpPr>
          <p:cNvPr id="12" name="anim-g2-328"/>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329"/>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المتسيّب</a:t>
            </a:r>
            <a:endParaRPr lang="ar-SA" sz="2300" dirty="0"/>
          </a:p>
        </p:txBody>
      </p:sp>
      <p:sp>
        <p:nvSpPr>
          <p:cNvPr id="14" name="anim-g2-330"/>
          <p:cNvSpPr/>
          <p:nvPr/>
        </p:nvSpPr>
        <p:spPr>
          <a:xfrm>
            <a:off x="6507328"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«افعلوا ما شئتم، أنا موجود إن أردتم»</a:t>
            </a:r>
            <a:endParaRPr lang="ar-SA" sz="1800" dirty="0"/>
          </a:p>
        </p:txBody>
      </p:sp>
      <p:sp>
        <p:nvSpPr>
          <p:cNvPr id="15" name="anim-g3-331"/>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32"/>
          <p:cNvSpPr/>
          <p:nvPr/>
        </p:nvSpPr>
        <p:spPr>
          <a:xfrm>
            <a:off x="4952848" y="2404872"/>
            <a:ext cx="731520" cy="731520"/>
          </a:xfrm>
          <a:prstGeom prst="roundRect">
            <a:avLst>
              <a:gd name="adj" fmla="val 25000"/>
            </a:avLst>
          </a:prstGeom>
          <a:solidFill>
            <a:srgbClr val="F7E6BC"/>
          </a:solidFill>
          <a:ln/>
        </p:spPr>
      </p:sp>
      <p:sp>
        <p:nvSpPr>
          <p:cNvPr id="17" name="anim-g3-333"/>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334"/>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العاطفي</a:t>
            </a:r>
            <a:endParaRPr lang="ar-SA" sz="2300" dirty="0"/>
          </a:p>
        </p:txBody>
      </p:sp>
      <p:sp>
        <p:nvSpPr>
          <p:cNvPr id="19" name="anim-g3-335"/>
          <p:cNvSpPr/>
          <p:nvPr/>
        </p:nvSpPr>
        <p:spPr>
          <a:xfrm>
            <a:off x="3802304"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«أرجوكم… من أجلي»</a:t>
            </a:r>
            <a:endParaRPr lang="ar-SA" sz="1800" dirty="0"/>
          </a:p>
        </p:txBody>
      </p:sp>
      <p:sp>
        <p:nvSpPr>
          <p:cNvPr id="20" name="anim-g4-336"/>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337"/>
          <p:cNvSpPr/>
          <p:nvPr/>
        </p:nvSpPr>
        <p:spPr>
          <a:xfrm>
            <a:off x="2247824" y="2404872"/>
            <a:ext cx="731520" cy="731520"/>
          </a:xfrm>
          <a:prstGeom prst="roundRect">
            <a:avLst>
              <a:gd name="adj" fmla="val 25000"/>
            </a:avLst>
          </a:prstGeom>
          <a:solidFill>
            <a:srgbClr val="F7E6BC"/>
          </a:solidFill>
          <a:ln/>
        </p:spPr>
      </p:sp>
      <p:sp>
        <p:nvSpPr>
          <p:cNvPr id="22" name="anim-g4-338"/>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339"/>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الحازم الدافئ</a:t>
            </a:r>
            <a:endParaRPr lang="ar-SA" sz="2300" dirty="0"/>
          </a:p>
        </p:txBody>
      </p:sp>
      <p:sp>
        <p:nvSpPr>
          <p:cNvPr id="24" name="anim-g4-340"/>
          <p:cNvSpPr/>
          <p:nvPr/>
        </p:nvSpPr>
        <p:spPr>
          <a:xfrm>
            <a:off x="1097280"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«أنا أهتم بك، ولهذا لن أسمح بهذا»</a:t>
            </a:r>
            <a:endParaRPr lang="ar-SA" sz="18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أنماط القيادة الصفية  ·  ٤٤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نشاط فردي — ثلاث دقائق</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حدّد نمطك بصدق</a:t>
            </a:r>
            <a:endParaRPr lang="ar-SA" sz="3800" dirty="0"/>
          </a:p>
        </p:txBody>
      </p:sp>
      <p:sp>
        <p:nvSpPr>
          <p:cNvPr id="5" name="anim-g1-341"/>
          <p:cNvSpPr/>
          <p:nvPr/>
        </p:nvSpPr>
        <p:spPr>
          <a:xfrm>
            <a:off x="10637215" y="2286000"/>
            <a:ext cx="731520" cy="731520"/>
          </a:xfrm>
          <a:prstGeom prst="ellipse">
            <a:avLst/>
          </a:prstGeom>
          <a:solidFill>
            <a:srgbClr val="D9AE4B"/>
          </a:solidFill>
          <a:ln/>
        </p:spPr>
      </p:sp>
      <p:sp>
        <p:nvSpPr>
          <p:cNvPr id="6" name="anim-g1-342"/>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343"/>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تذكّر آخر موقف صعب واجهته في فصلك</a:t>
            </a:r>
            <a:endParaRPr lang="ar-SA" sz="2200" dirty="0"/>
          </a:p>
        </p:txBody>
      </p:sp>
      <p:sp>
        <p:nvSpPr>
          <p:cNvPr id="8" name="anim-g2-344"/>
          <p:cNvSpPr/>
          <p:nvPr/>
        </p:nvSpPr>
        <p:spPr>
          <a:xfrm>
            <a:off x="10637215" y="3383280"/>
            <a:ext cx="731520" cy="731520"/>
          </a:xfrm>
          <a:prstGeom prst="ellipse">
            <a:avLst/>
          </a:prstGeom>
          <a:solidFill>
            <a:srgbClr val="D9AE4B"/>
          </a:solidFill>
          <a:ln/>
        </p:spPr>
      </p:sp>
      <p:sp>
        <p:nvSpPr>
          <p:cNvPr id="9" name="anim-g2-345"/>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346"/>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أي الجمل الأربع كانت الأقرب لما قلته؟</a:t>
            </a:r>
            <a:endParaRPr lang="ar-SA" sz="2200" dirty="0"/>
          </a:p>
        </p:txBody>
      </p:sp>
      <p:sp>
        <p:nvSpPr>
          <p:cNvPr id="11" name="anim-g3-347"/>
          <p:cNvSpPr/>
          <p:nvPr/>
        </p:nvSpPr>
        <p:spPr>
          <a:xfrm>
            <a:off x="10637215" y="4480560"/>
            <a:ext cx="731520" cy="731520"/>
          </a:xfrm>
          <a:prstGeom prst="ellipse">
            <a:avLst/>
          </a:prstGeom>
          <a:solidFill>
            <a:srgbClr val="D9AE4B"/>
          </a:solidFill>
          <a:ln/>
        </p:spPr>
      </p:sp>
      <p:sp>
        <p:nvSpPr>
          <p:cNvPr id="12" name="anim-g3-348"/>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349"/>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ضع نفسك في المربع… وحدّد خطوة واحدة نحو «الحازم الدافئ»</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3:00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٣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أنماط القيادة الصفية  ·  ٤٥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القيادة المشتركة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الطلاب شركاء في قيادة الفصل</a:t>
            </a:r>
            <a:endParaRPr lang="ar-SA" sz="3800" dirty="0"/>
          </a:p>
        </p:txBody>
      </p:sp>
      <p:sp>
        <p:nvSpPr>
          <p:cNvPr id="5" name="anim-g1-350"/>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51"/>
          <p:cNvSpPr/>
          <p:nvPr/>
        </p:nvSpPr>
        <p:spPr>
          <a:xfrm>
            <a:off x="10527487" y="2267712"/>
            <a:ext cx="566928" cy="566928"/>
          </a:xfrm>
          <a:prstGeom prst="roundRect">
            <a:avLst>
              <a:gd name="adj" fmla="val 32258"/>
            </a:avLst>
          </a:prstGeom>
          <a:solidFill>
            <a:srgbClr val="F7E6BC"/>
          </a:solidFill>
          <a:ln/>
        </p:spPr>
      </p:sp>
      <p:sp>
        <p:nvSpPr>
          <p:cNvPr id="7" name="anim-g1-35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53"/>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مسؤول النظام</a:t>
            </a:r>
            <a:endParaRPr lang="ar-SA" sz="2000" dirty="0"/>
          </a:p>
        </p:txBody>
      </p:sp>
      <p:sp>
        <p:nvSpPr>
          <p:cNvPr id="9" name="anim-g1-354"/>
          <p:cNvSpPr/>
          <p:nvPr/>
        </p:nvSpPr>
        <p:spPr>
          <a:xfrm>
            <a:off x="8310677" y="351129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يذكّر بالقواعد بلطف</a:t>
            </a:r>
            <a:endParaRPr lang="ar-SA" sz="1600" dirty="0"/>
          </a:p>
        </p:txBody>
      </p:sp>
      <p:sp>
        <p:nvSpPr>
          <p:cNvPr id="10" name="anim-g2-355"/>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56"/>
          <p:cNvSpPr/>
          <p:nvPr/>
        </p:nvSpPr>
        <p:spPr>
          <a:xfrm>
            <a:off x="6920789" y="2267712"/>
            <a:ext cx="566928" cy="566928"/>
          </a:xfrm>
          <a:prstGeom prst="roundRect">
            <a:avLst>
              <a:gd name="adj" fmla="val 32258"/>
            </a:avLst>
          </a:prstGeom>
          <a:solidFill>
            <a:srgbClr val="F7E6BC"/>
          </a:solidFill>
          <a:ln/>
        </p:spPr>
      </p:sp>
      <p:sp>
        <p:nvSpPr>
          <p:cNvPr id="12" name="anim-g2-357"/>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58"/>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مسؤول الوقت</a:t>
            </a:r>
            <a:endParaRPr lang="ar-SA" sz="2000" dirty="0"/>
          </a:p>
        </p:txBody>
      </p:sp>
      <p:sp>
        <p:nvSpPr>
          <p:cNvPr id="14" name="anim-g2-359"/>
          <p:cNvSpPr/>
          <p:nvPr/>
        </p:nvSpPr>
        <p:spPr>
          <a:xfrm>
            <a:off x="4703978" y="351129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ينبّه لانتهاء وقت النشاط</a:t>
            </a:r>
            <a:endParaRPr lang="ar-SA" sz="1600" dirty="0"/>
          </a:p>
        </p:txBody>
      </p:sp>
      <p:sp>
        <p:nvSpPr>
          <p:cNvPr id="15" name="anim-g3-360"/>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61"/>
          <p:cNvSpPr/>
          <p:nvPr/>
        </p:nvSpPr>
        <p:spPr>
          <a:xfrm>
            <a:off x="3314090" y="2267712"/>
            <a:ext cx="566928" cy="566928"/>
          </a:xfrm>
          <a:prstGeom prst="roundRect">
            <a:avLst>
              <a:gd name="adj" fmla="val 32258"/>
            </a:avLst>
          </a:prstGeom>
          <a:solidFill>
            <a:srgbClr val="F7E6BC"/>
          </a:solidFill>
          <a:ln/>
        </p:spPr>
      </p:sp>
      <p:sp>
        <p:nvSpPr>
          <p:cNvPr id="17" name="anim-g3-362"/>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63"/>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مسؤول الأدوات</a:t>
            </a:r>
            <a:endParaRPr lang="ar-SA" sz="2000" dirty="0"/>
          </a:p>
        </p:txBody>
      </p:sp>
      <p:sp>
        <p:nvSpPr>
          <p:cNvPr id="19" name="anim-g3-364"/>
          <p:cNvSpPr/>
          <p:nvPr/>
        </p:nvSpPr>
        <p:spPr>
          <a:xfrm>
            <a:off x="1097280" y="351129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يوزع الأدوات ويجمعها</a:t>
            </a:r>
            <a:endParaRPr lang="ar-SA" sz="1600" dirty="0"/>
          </a:p>
        </p:txBody>
      </p:sp>
      <p:sp>
        <p:nvSpPr>
          <p:cNvPr id="20" name="anim-g4-365"/>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366"/>
          <p:cNvSpPr/>
          <p:nvPr/>
        </p:nvSpPr>
        <p:spPr>
          <a:xfrm>
            <a:off x="10527487" y="4393692"/>
            <a:ext cx="566928" cy="566928"/>
          </a:xfrm>
          <a:prstGeom prst="roundRect">
            <a:avLst>
              <a:gd name="adj" fmla="val 32258"/>
            </a:avLst>
          </a:prstGeom>
          <a:solidFill>
            <a:srgbClr val="F7E6BC"/>
          </a:solidFill>
          <a:ln/>
        </p:spPr>
      </p:sp>
      <p:sp>
        <p:nvSpPr>
          <p:cNvPr id="22" name="anim-g4-367"/>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368"/>
          <p:cNvSpPr/>
          <p:nvPr/>
        </p:nvSpPr>
        <p:spPr>
          <a:xfrm>
            <a:off x="8310677" y="507034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مسؤول التوثيق</a:t>
            </a:r>
            <a:endParaRPr lang="ar-SA" sz="2000" dirty="0"/>
          </a:p>
        </p:txBody>
      </p:sp>
      <p:sp>
        <p:nvSpPr>
          <p:cNvPr id="24" name="anim-g4-369"/>
          <p:cNvSpPr/>
          <p:nvPr/>
        </p:nvSpPr>
        <p:spPr>
          <a:xfrm>
            <a:off x="8310677" y="563727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يصوّر إنجازات الفصل بإذن المعلم</a:t>
            </a:r>
            <a:endParaRPr lang="ar-SA" sz="1600" dirty="0"/>
          </a:p>
        </p:txBody>
      </p:sp>
      <p:sp>
        <p:nvSpPr>
          <p:cNvPr id="25" name="anim-g5-370"/>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371"/>
          <p:cNvSpPr/>
          <p:nvPr/>
        </p:nvSpPr>
        <p:spPr>
          <a:xfrm>
            <a:off x="6920789" y="4393692"/>
            <a:ext cx="566928" cy="566928"/>
          </a:xfrm>
          <a:prstGeom prst="roundRect">
            <a:avLst>
              <a:gd name="adj" fmla="val 32258"/>
            </a:avLst>
          </a:prstGeom>
          <a:solidFill>
            <a:srgbClr val="F7E6BC"/>
          </a:solidFill>
          <a:ln/>
        </p:spPr>
      </p:sp>
      <p:sp>
        <p:nvSpPr>
          <p:cNvPr id="27" name="anim-g5-372"/>
          <p:cNvSpPr/>
          <p:nvPr/>
        </p:nvSpPr>
        <p:spPr>
          <a:xfrm>
            <a:off x="6920789"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373"/>
          <p:cNvSpPr/>
          <p:nvPr/>
        </p:nvSpPr>
        <p:spPr>
          <a:xfrm>
            <a:off x="4703978" y="507034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سفير الترحيب</a:t>
            </a:r>
            <a:endParaRPr lang="ar-SA" sz="2000" dirty="0"/>
          </a:p>
        </p:txBody>
      </p:sp>
      <p:sp>
        <p:nvSpPr>
          <p:cNvPr id="29" name="anim-g5-374"/>
          <p:cNvSpPr/>
          <p:nvPr/>
        </p:nvSpPr>
        <p:spPr>
          <a:xfrm>
            <a:off x="4703978" y="563727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يرافق الطالب الجديد أسبوعه الأول</a:t>
            </a:r>
            <a:endParaRPr lang="ar-SA" sz="1600" dirty="0"/>
          </a:p>
        </p:txBody>
      </p:sp>
      <p:sp>
        <p:nvSpPr>
          <p:cNvPr id="30" name="anim-g6-375"/>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376"/>
          <p:cNvSpPr/>
          <p:nvPr/>
        </p:nvSpPr>
        <p:spPr>
          <a:xfrm>
            <a:off x="3314090" y="4393692"/>
            <a:ext cx="566928" cy="566928"/>
          </a:xfrm>
          <a:prstGeom prst="roundRect">
            <a:avLst>
              <a:gd name="adj" fmla="val 32258"/>
            </a:avLst>
          </a:prstGeom>
          <a:solidFill>
            <a:srgbClr val="F7E6BC"/>
          </a:solidFill>
          <a:ln/>
        </p:spPr>
      </p:sp>
      <p:sp>
        <p:nvSpPr>
          <p:cNvPr id="32" name="anim-g6-377"/>
          <p:cNvSpPr/>
          <p:nvPr/>
        </p:nvSpPr>
        <p:spPr>
          <a:xfrm>
            <a:off x="331409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378"/>
          <p:cNvSpPr/>
          <p:nvPr/>
        </p:nvSpPr>
        <p:spPr>
          <a:xfrm>
            <a:off x="1097280" y="507034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تدوير شهري</a:t>
            </a:r>
            <a:endParaRPr lang="ar-SA" sz="2000" dirty="0"/>
          </a:p>
        </p:txBody>
      </p:sp>
      <p:sp>
        <p:nvSpPr>
          <p:cNvPr id="34" name="anim-g6-379"/>
          <p:cNvSpPr/>
          <p:nvPr/>
        </p:nvSpPr>
        <p:spPr>
          <a:xfrm>
            <a:off x="1097280" y="563727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تتبدل الأدوار ليجرّب الجميع القيادة</a:t>
            </a:r>
            <a:endParaRPr lang="ar-SA" sz="16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أنماط القيادة الصفية  ·  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380" descr="/Users/mac/Desktop/أردوينو/المشاريع والكتب/younes-training/mawaqif/assets/scenes/homework.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أنماط القيادة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الواجب الغائب</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الواجب الغائب  ·  ٤٧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381"/>
          <p:cNvSpPr/>
          <p:nvPr/>
        </p:nvSpPr>
        <p:spPr>
          <a:xfrm>
            <a:off x="11323015" y="2011680"/>
            <a:ext cx="45720" cy="845820"/>
          </a:xfrm>
          <a:prstGeom prst="rect">
            <a:avLst/>
          </a:prstGeom>
          <a:solidFill>
            <a:srgbClr val="E4DCC8"/>
          </a:solidFill>
          <a:ln/>
        </p:spPr>
      </p:sp>
      <p:sp>
        <p:nvSpPr>
          <p:cNvPr id="6" name="anim-g1-382"/>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للمرة الرابعة على التوالي، لم يُحضر نواف (الأول المتوسط) واجبه، رغم تحذيرات أ. تركي، وتهديده بخصم الدرجات، وعرضه المساعدة.</a:t>
            </a:r>
            <a:endParaRPr lang="ar-SA" sz="1700" dirty="0"/>
          </a:p>
        </p:txBody>
      </p:sp>
      <p:sp>
        <p:nvSpPr>
          <p:cNvPr id="7" name="anim-g2-383"/>
          <p:cNvSpPr/>
          <p:nvPr/>
        </p:nvSpPr>
        <p:spPr>
          <a:xfrm>
            <a:off x="11323015" y="3040380"/>
            <a:ext cx="45720" cy="845820"/>
          </a:xfrm>
          <a:prstGeom prst="rect">
            <a:avLst/>
          </a:prstGeom>
          <a:solidFill>
            <a:srgbClr val="E4DCC8"/>
          </a:solidFill>
          <a:ln/>
        </p:spPr>
      </p:sp>
      <p:sp>
        <p:nvSpPr>
          <p:cNvPr id="8" name="anim-g2-384"/>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في كل مرة عذر جديد: «نسيته في البيت»، «كنت مريضًا»، «لم أفهم المطلوب».</a:t>
            </a:r>
            <a:endParaRPr lang="ar-SA" sz="1700" dirty="0"/>
          </a:p>
        </p:txBody>
      </p:sp>
      <p:sp>
        <p:nvSpPr>
          <p:cNvPr id="9" name="anim-g3-385"/>
          <p:cNvSpPr/>
          <p:nvPr/>
        </p:nvSpPr>
        <p:spPr>
          <a:xfrm>
            <a:off x="11323015" y="4069080"/>
            <a:ext cx="45720" cy="845820"/>
          </a:xfrm>
          <a:prstGeom prst="rect">
            <a:avLst/>
          </a:prstGeom>
          <a:solidFill>
            <a:srgbClr val="E4DCC8"/>
          </a:solidFill>
          <a:ln/>
        </p:spPr>
      </p:sp>
      <p:sp>
        <p:nvSpPr>
          <p:cNvPr id="10" name="anim-g3-386"/>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طلب أ. تركي حضور ولي الأمر، فقال نواف: «أبي مسافر». ثم اكتشف أن رقم الهاتف المسجل لدى الوكيل غير صحيح.</a:t>
            </a:r>
            <a:endParaRPr lang="ar-SA" sz="1700" dirty="0"/>
          </a:p>
        </p:txBody>
      </p:sp>
      <p:sp>
        <p:nvSpPr>
          <p:cNvPr id="11" name="anim-g4-387"/>
          <p:cNvSpPr/>
          <p:nvPr/>
        </p:nvSpPr>
        <p:spPr>
          <a:xfrm>
            <a:off x="11323015" y="5097780"/>
            <a:ext cx="45720" cy="845820"/>
          </a:xfrm>
          <a:prstGeom prst="rect">
            <a:avLst/>
          </a:prstGeom>
          <a:solidFill>
            <a:srgbClr val="D64545"/>
          </a:solidFill>
          <a:ln/>
        </p:spPr>
      </p:sp>
      <p:sp>
        <p:nvSpPr>
          <p:cNvPr id="12" name="anim-g4-388"/>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نفد صبر أ. تركي… وبدأ يفكر في ترسيبه.</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homework.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٤٨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تركي الآن؟</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يخصم الدرجات فورًا وينهي الموضوع</a:t>
            </a:r>
            <a:endParaRPr lang="ar-SA" sz="1900" dirty="0"/>
          </a:p>
        </p:txBody>
      </p:sp>
      <p:sp>
        <p:nvSpPr>
          <p:cNvPr id="9" name="anim-g1-389"/>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390"/>
          <p:cNvSpPr/>
          <p:nvPr/>
        </p:nvSpPr>
        <p:spPr>
          <a:xfrm>
            <a:off x="10575493" y="2194560"/>
            <a:ext cx="610362" cy="610362"/>
          </a:xfrm>
          <a:prstGeom prst="roundRect">
            <a:avLst>
              <a:gd name="adj" fmla="val 17978"/>
            </a:avLst>
          </a:prstGeom>
          <a:solidFill>
            <a:srgbClr val="A3A9BA"/>
          </a:solidFill>
          <a:ln/>
        </p:spPr>
      </p:sp>
      <p:sp>
        <p:nvSpPr>
          <p:cNvPr id="11" name="anim-g1-391"/>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392"/>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يخصم الدرجات فورًا وينهي الموضوع</a:t>
            </a:r>
            <a:endParaRPr lang="ar-SA" sz="1700" dirty="0"/>
          </a:p>
        </p:txBody>
      </p:sp>
      <p:sp>
        <p:nvSpPr>
          <p:cNvPr id="13" name="anim-g1-393"/>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الخصم وحده لا يعلّم شيئًا، وقد يكون ما يريده نواف أصلًا: أن يُترك</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يطلب من الوكيل استدعاء الأب بأي طريقة</a:t>
            </a:r>
            <a:endParaRPr lang="ar-SA" sz="1900" dirty="0"/>
          </a:p>
        </p:txBody>
      </p:sp>
      <p:sp>
        <p:nvSpPr>
          <p:cNvPr id="18" name="anim-g1-394"/>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395"/>
          <p:cNvSpPr/>
          <p:nvPr/>
        </p:nvSpPr>
        <p:spPr>
          <a:xfrm>
            <a:off x="10575493" y="3225546"/>
            <a:ext cx="610362" cy="610362"/>
          </a:xfrm>
          <a:prstGeom prst="roundRect">
            <a:avLst>
              <a:gd name="adj" fmla="val 17978"/>
            </a:avLst>
          </a:prstGeom>
          <a:solidFill>
            <a:srgbClr val="A3A9BA"/>
          </a:solidFill>
          <a:ln/>
        </p:spPr>
      </p:sp>
      <p:sp>
        <p:nvSpPr>
          <p:cNvPr id="20" name="anim-g1-396"/>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397"/>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يطلب من الوكيل استدعاء الأب بأي طريقة</a:t>
            </a:r>
            <a:endParaRPr lang="ar-SA" sz="1700" dirty="0"/>
          </a:p>
        </p:txBody>
      </p:sp>
      <p:sp>
        <p:nvSpPr>
          <p:cNvPr id="22" name="anim-g1-398"/>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الإدارة خطوة لاحقة، والقفز إليها يُفقدك دورك</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يواجه نواف أمام الفصل بكذب أعذاره</a:t>
            </a:r>
            <a:endParaRPr lang="ar-SA" sz="1900" dirty="0"/>
          </a:p>
        </p:txBody>
      </p:sp>
      <p:sp>
        <p:nvSpPr>
          <p:cNvPr id="27" name="anim-g1-399"/>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400"/>
          <p:cNvSpPr/>
          <p:nvPr/>
        </p:nvSpPr>
        <p:spPr>
          <a:xfrm>
            <a:off x="10575493" y="4256532"/>
            <a:ext cx="610362" cy="610362"/>
          </a:xfrm>
          <a:prstGeom prst="roundRect">
            <a:avLst>
              <a:gd name="adj" fmla="val 17978"/>
            </a:avLst>
          </a:prstGeom>
          <a:solidFill>
            <a:srgbClr val="A3A9BA"/>
          </a:solidFill>
          <a:ln/>
        </p:spPr>
      </p:sp>
      <p:sp>
        <p:nvSpPr>
          <p:cNvPr id="29" name="anim-g1-401"/>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402"/>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يواجه نواف أمام الفصل بكذب أعذاره</a:t>
            </a:r>
            <a:endParaRPr lang="ar-SA" sz="1700" dirty="0"/>
          </a:p>
        </p:txBody>
      </p:sp>
      <p:sp>
        <p:nvSpPr>
          <p:cNvPr id="31" name="anim-g1-403"/>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الفضح يدفعه لمزيد من الكذب ويهدم العلاقة</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يبحث عن السبب الحقيقي بحوار خاص، ثم يضع خطة صغيرة يتابعها يوميًا</a:t>
            </a:r>
            <a:endParaRPr lang="ar-SA" sz="1900" dirty="0"/>
          </a:p>
        </p:txBody>
      </p:sp>
      <p:sp>
        <p:nvSpPr>
          <p:cNvPr id="36" name="anim-g1-404"/>
          <p:cNvSpPr/>
          <p:nvPr/>
        </p:nvSpPr>
        <p:spPr>
          <a:xfrm>
            <a:off x="822960" y="5150358"/>
            <a:ext cx="10545775" cy="884682"/>
          </a:xfrm>
          <a:prstGeom prst="roundRect">
            <a:avLst>
              <a:gd name="adj" fmla="val 16537"/>
            </a:avLst>
          </a:prstGeom>
          <a:solidFill>
            <a:srgbClr val="E6F4EC"/>
          </a:solidFill>
          <a:ln w="31750">
            <a:solidFill>
              <a:srgbClr val="2E9E6B"/>
            </a:solidFill>
            <a:prstDash val="solid"/>
          </a:ln>
        </p:spPr>
      </p:sp>
      <p:sp>
        <p:nvSpPr>
          <p:cNvPr id="37" name="anim-g1-405"/>
          <p:cNvSpPr/>
          <p:nvPr/>
        </p:nvSpPr>
        <p:spPr>
          <a:xfrm>
            <a:off x="10575493" y="5287518"/>
            <a:ext cx="610362" cy="610362"/>
          </a:xfrm>
          <a:prstGeom prst="roundRect">
            <a:avLst>
              <a:gd name="adj" fmla="val 17978"/>
            </a:avLst>
          </a:prstGeom>
          <a:solidFill>
            <a:srgbClr val="2E9E6B"/>
          </a:solidFill>
          <a:ln/>
        </p:spPr>
      </p:sp>
      <p:sp>
        <p:nvSpPr>
          <p:cNvPr id="38" name="anim-g1-406"/>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9" name="anim-g1-407"/>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يبحث عن السبب الحقيقي بحوار خاص، ثم يضع خطة صغيرة يتابعها يوميًا</a:t>
            </a:r>
            <a:endParaRPr lang="ar-SA" sz="1700" dirty="0"/>
          </a:p>
        </p:txBody>
      </p:sp>
      <p:sp>
        <p:nvSpPr>
          <p:cNvPr id="40" name="anim-g1-408"/>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تكرار الأعذار عَرَض لمشكلة لم تُكتشف بعد</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يختلق نواف الأعذار؟</a:t>
            </a:r>
            <a:endParaRPr lang="ar-SA" sz="3800" dirty="0"/>
          </a:p>
        </p:txBody>
      </p:sp>
      <p:sp>
        <p:nvSpPr>
          <p:cNvPr id="5" name="anim-g1-409"/>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410"/>
          <p:cNvSpPr/>
          <p:nvPr/>
        </p:nvSpPr>
        <p:spPr>
          <a:xfrm>
            <a:off x="9816198" y="2194560"/>
            <a:ext cx="640080" cy="640080"/>
          </a:xfrm>
          <a:prstGeom prst="roundRect">
            <a:avLst>
              <a:gd name="adj" fmla="val 25714"/>
            </a:avLst>
          </a:prstGeom>
          <a:solidFill>
            <a:srgbClr val="F7E6BC"/>
          </a:solidFill>
          <a:ln/>
        </p:spPr>
      </p:sp>
      <p:sp>
        <p:nvSpPr>
          <p:cNvPr id="7" name="anim-g1-411"/>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412"/>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ضعف دراسي</a:t>
            </a:r>
            <a:endParaRPr lang="ar-SA" sz="2200" dirty="0"/>
          </a:p>
        </p:txBody>
      </p:sp>
      <p:sp>
        <p:nvSpPr>
          <p:cNvPr id="9" name="anim-g1-413"/>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لا يستطيع حل الواجب، فيخفي عجزه بالأعذار</a:t>
            </a:r>
            <a:endParaRPr lang="ar-SA" sz="1600" dirty="0"/>
          </a:p>
        </p:txBody>
      </p:sp>
      <p:sp>
        <p:nvSpPr>
          <p:cNvPr id="10" name="anim-g2-414"/>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415"/>
          <p:cNvSpPr/>
          <p:nvPr/>
        </p:nvSpPr>
        <p:spPr>
          <a:xfrm>
            <a:off x="7122604" y="2194560"/>
            <a:ext cx="640080" cy="640080"/>
          </a:xfrm>
          <a:prstGeom prst="roundRect">
            <a:avLst>
              <a:gd name="adj" fmla="val 25714"/>
            </a:avLst>
          </a:prstGeom>
          <a:solidFill>
            <a:srgbClr val="F7E6BC"/>
          </a:solidFill>
          <a:ln/>
        </p:spPr>
      </p:sp>
      <p:sp>
        <p:nvSpPr>
          <p:cNvPr id="12" name="anim-g2-416"/>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417"/>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ظرف أسري</a:t>
            </a:r>
            <a:endParaRPr lang="ar-SA" sz="2200" dirty="0"/>
          </a:p>
        </p:txBody>
      </p:sp>
      <p:sp>
        <p:nvSpPr>
          <p:cNvPr id="14" name="anim-g2-418"/>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لا أحد يتابعه، والرقم الخاطئ مؤشر مهم</a:t>
            </a:r>
            <a:endParaRPr lang="ar-SA" sz="1600" dirty="0"/>
          </a:p>
        </p:txBody>
      </p:sp>
      <p:sp>
        <p:nvSpPr>
          <p:cNvPr id="15" name="anim-g3-419"/>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420"/>
          <p:cNvSpPr/>
          <p:nvPr/>
        </p:nvSpPr>
        <p:spPr>
          <a:xfrm>
            <a:off x="4429011" y="2194560"/>
            <a:ext cx="640080" cy="640080"/>
          </a:xfrm>
          <a:prstGeom prst="roundRect">
            <a:avLst>
              <a:gd name="adj" fmla="val 25714"/>
            </a:avLst>
          </a:prstGeom>
          <a:solidFill>
            <a:srgbClr val="F7E6BC"/>
          </a:solidFill>
          <a:ln/>
        </p:spPr>
      </p:sp>
      <p:sp>
        <p:nvSpPr>
          <p:cNvPr id="17" name="anim-g3-421"/>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422"/>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عادات يومية</a:t>
            </a:r>
            <a:endParaRPr lang="ar-SA" sz="2200" dirty="0"/>
          </a:p>
        </p:txBody>
      </p:sp>
      <p:sp>
        <p:nvSpPr>
          <p:cNvPr id="19" name="anim-g3-423"/>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سهر وألعاب إلكترونية تستهلك وقته</a:t>
            </a:r>
            <a:endParaRPr lang="ar-SA" sz="1600" dirty="0"/>
          </a:p>
        </p:txBody>
      </p:sp>
      <p:sp>
        <p:nvSpPr>
          <p:cNvPr id="20" name="anim-g4-424"/>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425"/>
          <p:cNvSpPr/>
          <p:nvPr/>
        </p:nvSpPr>
        <p:spPr>
          <a:xfrm>
            <a:off x="1735417" y="2194560"/>
            <a:ext cx="640080" cy="640080"/>
          </a:xfrm>
          <a:prstGeom prst="roundRect">
            <a:avLst>
              <a:gd name="adj" fmla="val 25714"/>
            </a:avLst>
          </a:prstGeom>
          <a:solidFill>
            <a:srgbClr val="F7E6BC"/>
          </a:solidFill>
          <a:ln/>
        </p:spPr>
      </p:sp>
      <p:sp>
        <p:nvSpPr>
          <p:cNvPr id="22" name="anim-g4-426"/>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427"/>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خوف</a:t>
            </a:r>
            <a:endParaRPr lang="ar-SA" sz="2200" dirty="0"/>
          </a:p>
        </p:txBody>
      </p:sp>
      <p:sp>
        <p:nvSpPr>
          <p:cNvPr id="24" name="anim-g4-428"/>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تهديد الدرجات جعله يختار الكذب على المواجهة</a:t>
            </a:r>
            <a:endParaRPr lang="ar-SA" sz="1600" dirty="0"/>
          </a:p>
        </p:txBody>
      </p:sp>
      <p:sp>
        <p:nvSpPr>
          <p:cNvPr id="25" name="anim-g5-429"/>
          <p:cNvSpPr/>
          <p:nvPr/>
        </p:nvSpPr>
        <p:spPr>
          <a:xfrm>
            <a:off x="822960" y="4754880"/>
            <a:ext cx="10545775" cy="1051560"/>
          </a:xfrm>
          <a:prstGeom prst="roundRect">
            <a:avLst>
              <a:gd name="adj" fmla="val 17391"/>
            </a:avLst>
          </a:prstGeom>
          <a:solidFill>
            <a:srgbClr val="101B45"/>
          </a:solidFill>
          <a:ln/>
        </p:spPr>
      </p:sp>
      <p:sp>
        <p:nvSpPr>
          <p:cNvPr id="26" name="anim-g5-430"/>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الأعذار المتكررة ليست المشكلة…</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بل الدخان الذي يغطي المشكلة</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دقيقتان على انفراد</a:t>
            </a:r>
            <a:endParaRPr lang="ar-SA" sz="1600" dirty="0"/>
          </a:p>
        </p:txBody>
      </p:sp>
      <p:sp>
        <p:nvSpPr>
          <p:cNvPr id="4" name="Shape 2"/>
          <p:cNvSpPr/>
          <p:nvPr/>
        </p:nvSpPr>
        <p:spPr>
          <a:xfrm>
            <a:off x="822960" y="457200"/>
            <a:ext cx="1618488" cy="457200"/>
          </a:xfrm>
          <a:prstGeom prst="roundRect">
            <a:avLst>
              <a:gd name="adj" fmla="val 50000"/>
            </a:avLst>
          </a:prstGeom>
          <a:solidFill>
            <a:srgbClr val="FBECEC"/>
          </a:solidFill>
          <a:ln/>
        </p:spPr>
      </p:sp>
      <p:sp>
        <p:nvSpPr>
          <p:cNvPr id="5" name="Text 3"/>
          <p:cNvSpPr/>
          <p:nvPr/>
        </p:nvSpPr>
        <p:spPr>
          <a:xfrm>
            <a:off x="822960" y="457200"/>
            <a:ext cx="161848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دقيقتان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الخطوة الأولى</a:t>
            </a:r>
            <a:endParaRPr lang="ar-SA" sz="3800" dirty="0"/>
          </a:p>
        </p:txBody>
      </p:sp>
      <p:sp>
        <p:nvSpPr>
          <p:cNvPr id="7" name="anim-g1-431"/>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432"/>
          <p:cNvSpPr/>
          <p:nvPr/>
        </p:nvSpPr>
        <p:spPr>
          <a:xfrm>
            <a:off x="9747618" y="2423160"/>
            <a:ext cx="777240" cy="777240"/>
          </a:xfrm>
          <a:prstGeom prst="ellipse">
            <a:avLst/>
          </a:prstGeom>
          <a:solidFill>
            <a:srgbClr val="D9AE4B"/>
          </a:solidFill>
          <a:ln/>
        </p:spPr>
      </p:sp>
      <p:sp>
        <p:nvSpPr>
          <p:cNvPr id="9" name="anim-g1-433"/>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434"/>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على انفراد</a:t>
            </a:r>
            <a:endParaRPr lang="ar-SA" sz="2500" dirty="0"/>
          </a:p>
        </p:txBody>
      </p:sp>
      <p:sp>
        <p:nvSpPr>
          <p:cNvPr id="11" name="anim-g1-435"/>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بعيدًا عن زملائه، لا أمامهم</a:t>
            </a:r>
            <a:endParaRPr lang="ar-SA" sz="1700" dirty="0"/>
          </a:p>
        </p:txBody>
      </p:sp>
      <p:sp>
        <p:nvSpPr>
          <p:cNvPr id="12" name="anim-g2-436"/>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437"/>
          <p:cNvSpPr/>
          <p:nvPr/>
        </p:nvSpPr>
        <p:spPr>
          <a:xfrm>
            <a:off x="7054024" y="2423160"/>
            <a:ext cx="777240" cy="777240"/>
          </a:xfrm>
          <a:prstGeom prst="ellipse">
            <a:avLst/>
          </a:prstGeom>
          <a:solidFill>
            <a:srgbClr val="D9AE4B"/>
          </a:solidFill>
          <a:ln/>
        </p:spPr>
      </p:sp>
      <p:sp>
        <p:nvSpPr>
          <p:cNvPr id="14" name="anim-g2-438"/>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439"/>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بلا اتهام</a:t>
            </a:r>
            <a:endParaRPr lang="ar-SA" sz="2500" dirty="0"/>
          </a:p>
        </p:txBody>
      </p:sp>
      <p:sp>
        <p:nvSpPr>
          <p:cNvPr id="16" name="anim-g2-440"/>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«لاحظت أن الواجب لم يصل أربع مرات»</a:t>
            </a:r>
            <a:endParaRPr lang="ar-SA" sz="1700" dirty="0"/>
          </a:p>
        </p:txBody>
      </p:sp>
      <p:sp>
        <p:nvSpPr>
          <p:cNvPr id="17" name="anim-g3-441"/>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442"/>
          <p:cNvSpPr/>
          <p:nvPr/>
        </p:nvSpPr>
        <p:spPr>
          <a:xfrm>
            <a:off x="4360431" y="2423160"/>
            <a:ext cx="777240" cy="777240"/>
          </a:xfrm>
          <a:prstGeom prst="ellipse">
            <a:avLst/>
          </a:prstGeom>
          <a:solidFill>
            <a:srgbClr val="D9AE4B"/>
          </a:solidFill>
          <a:ln/>
        </p:spPr>
      </p:sp>
      <p:sp>
        <p:nvSpPr>
          <p:cNvPr id="19" name="anim-g3-443"/>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444"/>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a:t>
            </a:r>
            <a:endParaRPr lang="ar-SA" sz="2500" dirty="0"/>
          </a:p>
        </p:txBody>
      </p:sp>
      <p:sp>
        <p:nvSpPr>
          <p:cNvPr id="21" name="anim-g3-445"/>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«ما الذي يصعب عليك فيه؟»</a:t>
            </a:r>
            <a:endParaRPr lang="ar-SA" sz="1700" dirty="0"/>
          </a:p>
        </p:txBody>
      </p:sp>
      <p:sp>
        <p:nvSpPr>
          <p:cNvPr id="22" name="anim-g4-446"/>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447"/>
          <p:cNvSpPr/>
          <p:nvPr/>
        </p:nvSpPr>
        <p:spPr>
          <a:xfrm>
            <a:off x="1666837" y="2423160"/>
            <a:ext cx="777240" cy="777240"/>
          </a:xfrm>
          <a:prstGeom prst="ellipse">
            <a:avLst/>
          </a:prstGeom>
          <a:solidFill>
            <a:srgbClr val="D9AE4B"/>
          </a:solidFill>
          <a:ln/>
        </p:spPr>
      </p:sp>
      <p:sp>
        <p:nvSpPr>
          <p:cNvPr id="24" name="anim-g4-448"/>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449"/>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خطوة صغيرة</a:t>
            </a:r>
            <a:endParaRPr lang="ar-SA" sz="2500" dirty="0"/>
          </a:p>
        </p:txBody>
      </p:sp>
      <p:sp>
        <p:nvSpPr>
          <p:cNvPr id="26" name="anim-g4-450"/>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واجب أقصر يسلّمه لك غدًا صباحًا</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451"/>
          <p:cNvSpPr/>
          <p:nvPr/>
        </p:nvSpPr>
        <p:spPr>
          <a:xfrm>
            <a:off x="9768535" y="2130552"/>
            <a:ext cx="1600200" cy="819912"/>
          </a:xfrm>
          <a:prstGeom prst="roundRect">
            <a:avLst>
              <a:gd name="adj" fmla="val 16729"/>
            </a:avLst>
          </a:prstGeom>
          <a:solidFill>
            <a:srgbClr val="E9EDF9"/>
          </a:solidFill>
          <a:ln/>
        </p:spPr>
      </p:sp>
      <p:sp>
        <p:nvSpPr>
          <p:cNvPr id="6" name="anim-g1-452"/>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بداية الحوار</a:t>
            </a:r>
            <a:endParaRPr lang="ar-SA" sz="1400" dirty="0"/>
          </a:p>
        </p:txBody>
      </p:sp>
      <p:sp>
        <p:nvSpPr>
          <p:cNvPr id="7" name="anim-g1-453"/>
          <p:cNvSpPr/>
          <p:nvPr/>
        </p:nvSpPr>
        <p:spPr>
          <a:xfrm>
            <a:off x="822960" y="2057400"/>
            <a:ext cx="8716975" cy="966216"/>
          </a:xfrm>
          <a:prstGeom prst="roundRect">
            <a:avLst>
              <a:gd name="adj" fmla="val 20820"/>
            </a:avLst>
          </a:prstGeom>
          <a:solidFill>
            <a:srgbClr val="101B45"/>
          </a:solidFill>
          <a:ln/>
        </p:spPr>
      </p:sp>
      <p:sp>
        <p:nvSpPr>
          <p:cNvPr id="8" name="anim-g1-454"/>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نواف، أنا لا أبحث عن عقاب، أبحث عمّا يمنعك. ما الذي يحدث؟</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455"/>
          <p:cNvSpPr/>
          <p:nvPr/>
        </p:nvSpPr>
        <p:spPr>
          <a:xfrm>
            <a:off x="9768535" y="3243072"/>
            <a:ext cx="1600200" cy="819912"/>
          </a:xfrm>
          <a:prstGeom prst="roundRect">
            <a:avLst>
              <a:gd name="adj" fmla="val 16729"/>
            </a:avLst>
          </a:prstGeom>
          <a:solidFill>
            <a:srgbClr val="E9EDF9"/>
          </a:solidFill>
          <a:ln/>
        </p:spPr>
      </p:sp>
      <p:sp>
        <p:nvSpPr>
          <p:cNvPr id="10" name="anim-g2-456"/>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أمام العذر الجديد</a:t>
            </a:r>
            <a:endParaRPr lang="ar-SA" sz="1400" dirty="0"/>
          </a:p>
        </p:txBody>
      </p:sp>
      <p:sp>
        <p:nvSpPr>
          <p:cNvPr id="11" name="anim-g2-457"/>
          <p:cNvSpPr/>
          <p:nvPr/>
        </p:nvSpPr>
        <p:spPr>
          <a:xfrm>
            <a:off x="822960" y="3169920"/>
            <a:ext cx="8716975" cy="966216"/>
          </a:xfrm>
          <a:prstGeom prst="roundRect">
            <a:avLst>
              <a:gd name="adj" fmla="val 20820"/>
            </a:avLst>
          </a:prstGeom>
          <a:solidFill>
            <a:srgbClr val="101B45"/>
          </a:solidFill>
          <a:ln/>
        </p:spPr>
      </p:sp>
      <p:sp>
        <p:nvSpPr>
          <p:cNvPr id="12" name="anim-g2-458"/>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قد يكون عذرك صحيحًا، لكن الواجب ما زال مطلوبًا. متى تستطيع تسليمه؟</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3" name="anim-g3-459"/>
          <p:cNvSpPr/>
          <p:nvPr/>
        </p:nvSpPr>
        <p:spPr>
          <a:xfrm>
            <a:off x="9768535" y="4355592"/>
            <a:ext cx="1600200" cy="819912"/>
          </a:xfrm>
          <a:prstGeom prst="roundRect">
            <a:avLst>
              <a:gd name="adj" fmla="val 16729"/>
            </a:avLst>
          </a:prstGeom>
          <a:solidFill>
            <a:srgbClr val="E9EDF9"/>
          </a:solidFill>
          <a:ln/>
        </p:spPr>
      </p:sp>
      <p:sp>
        <p:nvSpPr>
          <p:cNvPr id="14" name="anim-g3-460"/>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الاتفاق</a:t>
            </a:r>
            <a:endParaRPr lang="ar-SA" sz="1400" dirty="0"/>
          </a:p>
        </p:txBody>
      </p:sp>
      <p:sp>
        <p:nvSpPr>
          <p:cNvPr id="15" name="anim-g3-461"/>
          <p:cNvSpPr/>
          <p:nvPr/>
        </p:nvSpPr>
        <p:spPr>
          <a:xfrm>
            <a:off x="822960" y="4282440"/>
            <a:ext cx="8716975" cy="966216"/>
          </a:xfrm>
          <a:prstGeom prst="roundRect">
            <a:avLst>
              <a:gd name="adj" fmla="val 20820"/>
            </a:avLst>
          </a:prstGeom>
          <a:solidFill>
            <a:srgbClr val="101B45"/>
          </a:solidFill>
          <a:ln/>
        </p:spPr>
      </p:sp>
      <p:sp>
        <p:nvSpPr>
          <p:cNvPr id="16" name="anim-g3-462"/>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اتفقنا: تسلّمني ثلاثة أسئلة فقط غدًا صباحًا، وأراجعها معك</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7" name="anim-g4-463"/>
          <p:cNvSpPr/>
          <p:nvPr/>
        </p:nvSpPr>
        <p:spPr>
          <a:xfrm>
            <a:off x="822960" y="5532120"/>
            <a:ext cx="10545775" cy="548640"/>
          </a:xfrm>
          <a:prstGeom prst="roundRect">
            <a:avLst>
              <a:gd name="adj" fmla="val 20000"/>
            </a:avLst>
          </a:prstGeom>
          <a:solidFill>
            <a:srgbClr val="FBECEC"/>
          </a:solidFill>
          <a:ln/>
        </p:spPr>
      </p:sp>
      <p:sp>
        <p:nvSpPr>
          <p:cNvPr id="18" name="anim-g4-464"/>
          <p:cNvSpPr/>
          <p:nvPr/>
        </p:nvSpPr>
        <p:spPr>
          <a:xfrm>
            <a:off x="11295583" y="5532120"/>
            <a:ext cx="73152" cy="548640"/>
          </a:xfrm>
          <a:prstGeom prst="rect">
            <a:avLst/>
          </a:prstGeom>
          <a:solidFill>
            <a:srgbClr val="D64545"/>
          </a:solidFill>
          <a:ln/>
        </p:spPr>
      </p:sp>
      <p:sp>
        <p:nvSpPr>
          <p:cNvPr id="19" name="anim-g4-465"/>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«أنت كذّاب» · «أعذارك محفوظة»</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466"/>
          <p:cNvSpPr/>
          <p:nvPr/>
        </p:nvSpPr>
        <p:spPr>
          <a:xfrm>
            <a:off x="6415888" y="2194560"/>
            <a:ext cx="4952848" cy="804672"/>
          </a:xfrm>
          <a:prstGeom prst="roundRect">
            <a:avLst>
              <a:gd name="adj" fmla="val 15909"/>
            </a:avLst>
          </a:prstGeom>
          <a:solidFill>
            <a:srgbClr val="FBECEC"/>
          </a:solidFill>
          <a:ln/>
        </p:spPr>
      </p:sp>
      <p:sp>
        <p:nvSpPr>
          <p:cNvPr id="6" name="anim-g1-467"/>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التهديد بالخصم مرة بعد مرة</a:t>
            </a:r>
            <a:endParaRPr lang="ar-SA" sz="1900" dirty="0"/>
          </a:p>
        </p:txBody>
      </p:sp>
      <p:sp>
        <p:nvSpPr>
          <p:cNvPr id="7" name="anim-g1-468"/>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469"/>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470"/>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471"/>
          <p:cNvSpPr/>
          <p:nvPr/>
        </p:nvSpPr>
        <p:spPr>
          <a:xfrm>
            <a:off x="822960" y="2194560"/>
            <a:ext cx="4952848" cy="804672"/>
          </a:xfrm>
          <a:prstGeom prst="roundRect">
            <a:avLst>
              <a:gd name="adj" fmla="val 15909"/>
            </a:avLst>
          </a:prstGeom>
          <a:solidFill>
            <a:srgbClr val="E6F4EC"/>
          </a:solidFill>
          <a:ln/>
        </p:spPr>
      </p:sp>
      <p:sp>
        <p:nvSpPr>
          <p:cNvPr id="11" name="anim-g2-472"/>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عاقبة واحدة واضحة، ثم خطة دعم</a:t>
            </a:r>
            <a:endParaRPr lang="ar-SA" sz="1900" dirty="0"/>
          </a:p>
        </p:txBody>
      </p:sp>
      <p:sp>
        <p:nvSpPr>
          <p:cNvPr id="12" name="anim-g3-473"/>
          <p:cNvSpPr/>
          <p:nvPr/>
        </p:nvSpPr>
        <p:spPr>
          <a:xfrm>
            <a:off x="6415888" y="3154680"/>
            <a:ext cx="4952848" cy="804672"/>
          </a:xfrm>
          <a:prstGeom prst="roundRect">
            <a:avLst>
              <a:gd name="adj" fmla="val 15909"/>
            </a:avLst>
          </a:prstGeom>
          <a:solidFill>
            <a:srgbClr val="FBECEC"/>
          </a:solidFill>
          <a:ln/>
        </p:spPr>
      </p:sp>
      <p:sp>
        <p:nvSpPr>
          <p:cNvPr id="13" name="anim-g3-474"/>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تكذيب الطالب أمام زملائه</a:t>
            </a:r>
            <a:endParaRPr lang="ar-SA" sz="1900" dirty="0"/>
          </a:p>
        </p:txBody>
      </p:sp>
      <p:sp>
        <p:nvSpPr>
          <p:cNvPr id="14" name="anim-g3-475"/>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476"/>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477"/>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478"/>
          <p:cNvSpPr/>
          <p:nvPr/>
        </p:nvSpPr>
        <p:spPr>
          <a:xfrm>
            <a:off x="822960" y="3154680"/>
            <a:ext cx="4952848" cy="804672"/>
          </a:xfrm>
          <a:prstGeom prst="roundRect">
            <a:avLst>
              <a:gd name="adj" fmla="val 15909"/>
            </a:avLst>
          </a:prstGeom>
          <a:solidFill>
            <a:srgbClr val="E6F4EC"/>
          </a:solidFill>
          <a:ln/>
        </p:spPr>
      </p:sp>
      <p:sp>
        <p:nvSpPr>
          <p:cNvPr id="18" name="anim-g4-479"/>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التحقق بهدوء وعلى انفراد</a:t>
            </a:r>
            <a:endParaRPr lang="ar-SA" sz="1900" dirty="0"/>
          </a:p>
        </p:txBody>
      </p:sp>
      <p:sp>
        <p:nvSpPr>
          <p:cNvPr id="19" name="anim-g5-480"/>
          <p:cNvSpPr/>
          <p:nvPr/>
        </p:nvSpPr>
        <p:spPr>
          <a:xfrm>
            <a:off x="6415888" y="4114800"/>
            <a:ext cx="4952848" cy="804672"/>
          </a:xfrm>
          <a:prstGeom prst="roundRect">
            <a:avLst>
              <a:gd name="adj" fmla="val 15909"/>
            </a:avLst>
          </a:prstGeom>
          <a:solidFill>
            <a:srgbClr val="FBECEC"/>
          </a:solidFill>
          <a:ln/>
        </p:spPr>
      </p:sp>
      <p:sp>
        <p:nvSpPr>
          <p:cNvPr id="20" name="anim-g5-481"/>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انتظار عودة الأب من السفر</a:t>
            </a:r>
            <a:endParaRPr lang="ar-SA" sz="1900" dirty="0"/>
          </a:p>
        </p:txBody>
      </p:sp>
      <p:sp>
        <p:nvSpPr>
          <p:cNvPr id="21" name="anim-g5-482"/>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483"/>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484"/>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485"/>
          <p:cNvSpPr/>
          <p:nvPr/>
        </p:nvSpPr>
        <p:spPr>
          <a:xfrm>
            <a:off x="822960" y="4114800"/>
            <a:ext cx="4952848" cy="804672"/>
          </a:xfrm>
          <a:prstGeom prst="roundRect">
            <a:avLst>
              <a:gd name="adj" fmla="val 15909"/>
            </a:avLst>
          </a:prstGeom>
          <a:solidFill>
            <a:srgbClr val="E6F4EC"/>
          </a:solidFill>
          <a:ln/>
        </p:spPr>
      </p:sp>
      <p:sp>
        <p:nvSpPr>
          <p:cNvPr id="25" name="anim-g6-486"/>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تحديث بيانات التواصل عبر الإدارة فورًا</a:t>
            </a:r>
            <a:endParaRPr lang="ar-SA" sz="1900" dirty="0"/>
          </a:p>
        </p:txBody>
      </p:sp>
      <p:sp>
        <p:nvSpPr>
          <p:cNvPr id="26" name="anim-g7-487"/>
          <p:cNvSpPr/>
          <p:nvPr/>
        </p:nvSpPr>
        <p:spPr>
          <a:xfrm>
            <a:off x="6415888" y="5074920"/>
            <a:ext cx="4952848" cy="804672"/>
          </a:xfrm>
          <a:prstGeom prst="roundRect">
            <a:avLst>
              <a:gd name="adj" fmla="val 15909"/>
            </a:avLst>
          </a:prstGeom>
          <a:solidFill>
            <a:srgbClr val="FBECEC"/>
          </a:solidFill>
          <a:ln/>
        </p:spPr>
      </p:sp>
      <p:sp>
        <p:nvSpPr>
          <p:cNvPr id="27" name="anim-g7-488"/>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واجب طويل لطالب متعثر</a:t>
            </a:r>
            <a:endParaRPr lang="ar-SA" sz="1900" dirty="0"/>
          </a:p>
        </p:txBody>
      </p:sp>
      <p:sp>
        <p:nvSpPr>
          <p:cNvPr id="28" name="anim-g7-489"/>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490"/>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491"/>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492"/>
          <p:cNvSpPr/>
          <p:nvPr/>
        </p:nvSpPr>
        <p:spPr>
          <a:xfrm>
            <a:off x="822960" y="5074920"/>
            <a:ext cx="4952848" cy="804672"/>
          </a:xfrm>
          <a:prstGeom prst="roundRect">
            <a:avLst>
              <a:gd name="adj" fmla="val 15909"/>
            </a:avLst>
          </a:prstGeom>
          <a:solidFill>
            <a:srgbClr val="E6F4EC"/>
          </a:solidFill>
          <a:ln/>
        </p:spPr>
      </p:sp>
      <p:sp>
        <p:nvSpPr>
          <p:cNvPr id="32" name="anim-g8-493"/>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واجب قصير يضمن فيه النجاح أولًا</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تحارب العذر…</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ابحث عمّا يختبئ خلفه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الواجب الغائب  ·  ٥٤</a:t>
            </a:r>
            <a:endParaRPr lang="ar-SA"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494" descr="/Users/mac/Desktop/أردوينو/المشاريع والكتب/younes-training/mawaqif/assets/scenes/clown.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أنماط القيادة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٢</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مهرّج الفصل</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 الفصل  ·  ٥٥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495"/>
          <p:cNvSpPr/>
          <p:nvPr/>
        </p:nvSpPr>
        <p:spPr>
          <a:xfrm>
            <a:off x="11323015" y="2011680"/>
            <a:ext cx="45720" cy="845820"/>
          </a:xfrm>
          <a:prstGeom prst="rect">
            <a:avLst/>
          </a:prstGeom>
          <a:solidFill>
            <a:srgbClr val="E4DCC8"/>
          </a:solidFill>
          <a:ln/>
        </p:spPr>
      </p:sp>
      <p:sp>
        <p:nvSpPr>
          <p:cNvPr id="6" name="anim-g1-496"/>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كان أ. هاني يكتب على السبورة حين سمع ضحكات مكتومة. «ماذا يضحككم؟» فأجاب طالب: «فهد يضحكنا يا أستاذ».</a:t>
            </a:r>
            <a:endParaRPr lang="ar-SA" sz="1700" dirty="0"/>
          </a:p>
        </p:txBody>
      </p:sp>
      <p:sp>
        <p:nvSpPr>
          <p:cNvPr id="7" name="anim-g2-497"/>
          <p:cNvSpPr/>
          <p:nvPr/>
        </p:nvSpPr>
        <p:spPr>
          <a:xfrm>
            <a:off x="11323015" y="3040380"/>
            <a:ext cx="45720" cy="845820"/>
          </a:xfrm>
          <a:prstGeom prst="rect">
            <a:avLst/>
          </a:prstGeom>
          <a:solidFill>
            <a:srgbClr val="E4DCC8"/>
          </a:solidFill>
          <a:ln/>
        </p:spPr>
      </p:sp>
      <p:sp>
        <p:nvSpPr>
          <p:cNvPr id="8" name="anim-g2-498"/>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نظر إلى فهد (الثالث المتوسط) بغضب، وعاد إلى السبورة، فارتفع الضحك أكثر.</a:t>
            </a:r>
            <a:endParaRPr lang="ar-SA" sz="1700" dirty="0"/>
          </a:p>
        </p:txBody>
      </p:sp>
      <p:sp>
        <p:nvSpPr>
          <p:cNvPr id="9" name="anim-g3-499"/>
          <p:cNvSpPr/>
          <p:nvPr/>
        </p:nvSpPr>
        <p:spPr>
          <a:xfrm>
            <a:off x="11323015" y="4069080"/>
            <a:ext cx="45720" cy="845820"/>
          </a:xfrm>
          <a:prstGeom prst="rect">
            <a:avLst/>
          </a:prstGeom>
          <a:solidFill>
            <a:srgbClr val="E4DCC8"/>
          </a:solidFill>
          <a:ln/>
        </p:spPr>
      </p:sp>
      <p:sp>
        <p:nvSpPr>
          <p:cNvPr id="10" name="anim-g3-500"/>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التفت: «هل ستتصرف كالأطفال؟ ستلقى عقابًا تندم عليه!». وما إن أدار ظهره حتى سخر منه فهد بحركة أجرأ.</a:t>
            </a:r>
            <a:endParaRPr lang="ar-SA" sz="1700" dirty="0"/>
          </a:p>
        </p:txBody>
      </p:sp>
      <p:sp>
        <p:nvSpPr>
          <p:cNvPr id="11" name="anim-g4-501"/>
          <p:cNvSpPr/>
          <p:nvPr/>
        </p:nvSpPr>
        <p:spPr>
          <a:xfrm>
            <a:off x="11323015" y="5097780"/>
            <a:ext cx="45720" cy="845820"/>
          </a:xfrm>
          <a:prstGeom prst="rect">
            <a:avLst/>
          </a:prstGeom>
          <a:solidFill>
            <a:srgbClr val="D64545"/>
          </a:solidFill>
          <a:ln/>
        </p:spPr>
      </p:sp>
      <p:sp>
        <p:nvSpPr>
          <p:cNvPr id="12" name="anim-g4-502"/>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«أتستمتع بأن تكون مهرّج الفصل؟!» فردّ فهد: «نعم!»… فأخرجه أ. هاني إلى الممر.</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clown.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٥٦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أفضل تصرف عند أول ضحكة؟</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إخراجه من الفصل فورًا</a:t>
            </a:r>
            <a:endParaRPr lang="ar-SA" sz="1900" dirty="0"/>
          </a:p>
        </p:txBody>
      </p:sp>
      <p:sp>
        <p:nvSpPr>
          <p:cNvPr id="9" name="anim-g1-503"/>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504"/>
          <p:cNvSpPr/>
          <p:nvPr/>
        </p:nvSpPr>
        <p:spPr>
          <a:xfrm>
            <a:off x="10575493" y="2194560"/>
            <a:ext cx="610362" cy="610362"/>
          </a:xfrm>
          <a:prstGeom prst="roundRect">
            <a:avLst>
              <a:gd name="adj" fmla="val 17978"/>
            </a:avLst>
          </a:prstGeom>
          <a:solidFill>
            <a:srgbClr val="A3A9BA"/>
          </a:solidFill>
          <a:ln/>
        </p:spPr>
      </p:sp>
      <p:sp>
        <p:nvSpPr>
          <p:cNvPr id="11" name="anim-g1-50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506"/>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إخراجه من الفصل فورًا</a:t>
            </a:r>
            <a:endParaRPr lang="ar-SA" sz="1700" dirty="0"/>
          </a:p>
        </p:txBody>
      </p:sp>
      <p:sp>
        <p:nvSpPr>
          <p:cNvPr id="13" name="anim-g1-507"/>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الإخراج يمنحه بطولة أمام الجمهور، ويُفقده الدرس</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محاضرة أمام الجميع عن الاحترام</a:t>
            </a:r>
            <a:endParaRPr lang="ar-SA" sz="1900" dirty="0"/>
          </a:p>
        </p:txBody>
      </p:sp>
      <p:sp>
        <p:nvSpPr>
          <p:cNvPr id="18" name="anim-g1-508"/>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509"/>
          <p:cNvSpPr/>
          <p:nvPr/>
        </p:nvSpPr>
        <p:spPr>
          <a:xfrm>
            <a:off x="10575493" y="3225546"/>
            <a:ext cx="610362" cy="610362"/>
          </a:xfrm>
          <a:prstGeom prst="roundRect">
            <a:avLst>
              <a:gd name="adj" fmla="val 17978"/>
            </a:avLst>
          </a:prstGeom>
          <a:solidFill>
            <a:srgbClr val="A3A9BA"/>
          </a:solidFill>
          <a:ln/>
        </p:spPr>
      </p:sp>
      <p:sp>
        <p:nvSpPr>
          <p:cNvPr id="20" name="anim-g1-510"/>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511"/>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محاضرة أمام الجميع عن الاحترام</a:t>
            </a:r>
            <a:endParaRPr lang="ar-SA" sz="1700" dirty="0"/>
          </a:p>
        </p:txBody>
      </p:sp>
      <p:sp>
        <p:nvSpPr>
          <p:cNvPr id="22" name="anim-g1-512"/>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المحاضرة مسرح إضافي لمهرّج يبحث عن جمهور</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التوقف عن الكتابة، والوقوف قرب فهد، ومتابعة الدرس من هناك</a:t>
            </a:r>
            <a:endParaRPr lang="ar-SA" sz="1900" dirty="0"/>
          </a:p>
        </p:txBody>
      </p:sp>
      <p:sp>
        <p:nvSpPr>
          <p:cNvPr id="27" name="anim-g1-513"/>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514"/>
          <p:cNvSpPr/>
          <p:nvPr/>
        </p:nvSpPr>
        <p:spPr>
          <a:xfrm>
            <a:off x="10575493" y="4256532"/>
            <a:ext cx="610362" cy="610362"/>
          </a:xfrm>
          <a:prstGeom prst="roundRect">
            <a:avLst>
              <a:gd name="adj" fmla="val 17978"/>
            </a:avLst>
          </a:prstGeom>
          <a:solidFill>
            <a:srgbClr val="2E9E6B"/>
          </a:solidFill>
          <a:ln/>
        </p:spPr>
      </p:sp>
      <p:sp>
        <p:nvSpPr>
          <p:cNvPr id="29" name="anim-g1-515"/>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516"/>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التوقف عن الكتابة، والوقوف قرب فهد، ومتابعة الدرس من هناك</a:t>
            </a:r>
            <a:endParaRPr lang="ar-SA" sz="1700" dirty="0"/>
          </a:p>
        </p:txBody>
      </p:sp>
      <p:sp>
        <p:nvSpPr>
          <p:cNvPr id="31" name="anim-g1-517"/>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القرب يطفئ العرض دون مواجهة، ويعيد السيطرة</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تجاهله تمامًا حتى يملّ</a:t>
            </a:r>
            <a:endParaRPr lang="ar-SA" sz="1900" dirty="0"/>
          </a:p>
        </p:txBody>
      </p:sp>
      <p:sp>
        <p:nvSpPr>
          <p:cNvPr id="36" name="anim-g1-518"/>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519"/>
          <p:cNvSpPr/>
          <p:nvPr/>
        </p:nvSpPr>
        <p:spPr>
          <a:xfrm>
            <a:off x="10575493" y="5287518"/>
            <a:ext cx="610362" cy="610362"/>
          </a:xfrm>
          <a:prstGeom prst="roundRect">
            <a:avLst>
              <a:gd name="adj" fmla="val 17978"/>
            </a:avLst>
          </a:prstGeom>
          <a:solidFill>
            <a:srgbClr val="A3A9BA"/>
          </a:solidFill>
          <a:ln/>
        </p:spPr>
      </p:sp>
      <p:sp>
        <p:nvSpPr>
          <p:cNvPr id="38" name="anim-g1-520"/>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521"/>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تجاهله تمامًا حتى يملّ</a:t>
            </a:r>
            <a:endParaRPr lang="ar-SA" sz="1700" dirty="0"/>
          </a:p>
        </p:txBody>
      </p:sp>
      <p:sp>
        <p:nvSpPr>
          <p:cNvPr id="40" name="anim-g1-522"/>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التجاهل يصلح للسلوك البسيط، لا للسخرية المتصاعدة</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٥٧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يهرّج فهد؟</a:t>
            </a:r>
            <a:endParaRPr lang="ar-SA" sz="3800" dirty="0"/>
          </a:p>
        </p:txBody>
      </p:sp>
      <p:sp>
        <p:nvSpPr>
          <p:cNvPr id="5" name="anim-g1-523"/>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524"/>
          <p:cNvSpPr/>
          <p:nvPr/>
        </p:nvSpPr>
        <p:spPr>
          <a:xfrm>
            <a:off x="9816198" y="2194560"/>
            <a:ext cx="640080" cy="640080"/>
          </a:xfrm>
          <a:prstGeom prst="roundRect">
            <a:avLst>
              <a:gd name="adj" fmla="val 25714"/>
            </a:avLst>
          </a:prstGeom>
          <a:solidFill>
            <a:srgbClr val="F7E6BC"/>
          </a:solidFill>
          <a:ln/>
        </p:spPr>
      </p:sp>
      <p:sp>
        <p:nvSpPr>
          <p:cNvPr id="7" name="anim-g1-525"/>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526"/>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الانتباه</a:t>
            </a:r>
            <a:endParaRPr lang="ar-SA" sz="2200" dirty="0"/>
          </a:p>
        </p:txBody>
      </p:sp>
      <p:sp>
        <p:nvSpPr>
          <p:cNvPr id="9" name="anim-g1-527"/>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ضحك الفصل مكافأته الفورية</a:t>
            </a:r>
            <a:endParaRPr lang="ar-SA" sz="1600" dirty="0"/>
          </a:p>
        </p:txBody>
      </p:sp>
      <p:sp>
        <p:nvSpPr>
          <p:cNvPr id="10" name="anim-g2-528"/>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529"/>
          <p:cNvSpPr/>
          <p:nvPr/>
        </p:nvSpPr>
        <p:spPr>
          <a:xfrm>
            <a:off x="7122604" y="2194560"/>
            <a:ext cx="640080" cy="640080"/>
          </a:xfrm>
          <a:prstGeom prst="roundRect">
            <a:avLst>
              <a:gd name="adj" fmla="val 25714"/>
            </a:avLst>
          </a:prstGeom>
          <a:solidFill>
            <a:srgbClr val="F7E6BC"/>
          </a:solidFill>
          <a:ln/>
        </p:spPr>
      </p:sp>
      <p:sp>
        <p:nvSpPr>
          <p:cNvPr id="12" name="anim-g2-530"/>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531"/>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المكانة</a:t>
            </a:r>
            <a:endParaRPr lang="ar-SA" sz="2200" dirty="0"/>
          </a:p>
        </p:txBody>
      </p:sp>
      <p:sp>
        <p:nvSpPr>
          <p:cNvPr id="14" name="anim-g2-532"/>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دور المهرّج صار هويته بين زملائه</a:t>
            </a:r>
            <a:endParaRPr lang="ar-SA" sz="1600" dirty="0"/>
          </a:p>
        </p:txBody>
      </p:sp>
      <p:sp>
        <p:nvSpPr>
          <p:cNvPr id="15" name="anim-g3-533"/>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534"/>
          <p:cNvSpPr/>
          <p:nvPr/>
        </p:nvSpPr>
        <p:spPr>
          <a:xfrm>
            <a:off x="4429011" y="2194560"/>
            <a:ext cx="640080" cy="640080"/>
          </a:xfrm>
          <a:prstGeom prst="roundRect">
            <a:avLst>
              <a:gd name="adj" fmla="val 25714"/>
            </a:avLst>
          </a:prstGeom>
          <a:solidFill>
            <a:srgbClr val="F7E6BC"/>
          </a:solidFill>
          <a:ln/>
        </p:spPr>
      </p:sp>
      <p:sp>
        <p:nvSpPr>
          <p:cNvPr id="17" name="anim-g3-535"/>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536"/>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الملل</a:t>
            </a:r>
            <a:endParaRPr lang="ar-SA" sz="2200" dirty="0"/>
          </a:p>
        </p:txBody>
      </p:sp>
      <p:sp>
        <p:nvSpPr>
          <p:cNvPr id="19" name="anim-g3-537"/>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الحصة تسير بلا تفاعل</a:t>
            </a:r>
            <a:endParaRPr lang="ar-SA" sz="1600" dirty="0"/>
          </a:p>
        </p:txBody>
      </p:sp>
      <p:sp>
        <p:nvSpPr>
          <p:cNvPr id="20" name="anim-g4-538"/>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539"/>
          <p:cNvSpPr/>
          <p:nvPr/>
        </p:nvSpPr>
        <p:spPr>
          <a:xfrm>
            <a:off x="1735417" y="2194560"/>
            <a:ext cx="640080" cy="640080"/>
          </a:xfrm>
          <a:prstGeom prst="roundRect">
            <a:avLst>
              <a:gd name="adj" fmla="val 25714"/>
            </a:avLst>
          </a:prstGeom>
          <a:solidFill>
            <a:srgbClr val="F7E6BC"/>
          </a:solidFill>
          <a:ln/>
        </p:spPr>
      </p:sp>
      <p:sp>
        <p:nvSpPr>
          <p:cNvPr id="22" name="anim-g4-540"/>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541"/>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ظهر المعلم</a:t>
            </a:r>
            <a:endParaRPr lang="ar-SA" sz="2200" dirty="0"/>
          </a:p>
        </p:txBody>
      </p:sp>
      <p:sp>
        <p:nvSpPr>
          <p:cNvPr id="24" name="anim-g4-542"/>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الكتابة الطويلة تفتح له المسرح</a:t>
            </a:r>
            <a:endParaRPr lang="ar-SA" sz="1600" dirty="0"/>
          </a:p>
        </p:txBody>
      </p:sp>
      <p:sp>
        <p:nvSpPr>
          <p:cNvPr id="25" name="anim-g5-543"/>
          <p:cNvSpPr/>
          <p:nvPr/>
        </p:nvSpPr>
        <p:spPr>
          <a:xfrm>
            <a:off x="822960" y="4754880"/>
            <a:ext cx="10545775" cy="1051560"/>
          </a:xfrm>
          <a:prstGeom prst="roundRect">
            <a:avLst>
              <a:gd name="adj" fmla="val 17391"/>
            </a:avLst>
          </a:prstGeom>
          <a:solidFill>
            <a:srgbClr val="101B45"/>
          </a:solidFill>
          <a:ln/>
        </p:spPr>
      </p:sp>
      <p:sp>
        <p:nvSpPr>
          <p:cNvPr id="26" name="anim-g5-544"/>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فهد لا يريد إغضابك…</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بل يريد جمهورًا، والجمهور هو الفصل</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ماذا تفعل فورًا؟</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545"/>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546"/>
          <p:cNvSpPr/>
          <p:nvPr/>
        </p:nvSpPr>
        <p:spPr>
          <a:xfrm>
            <a:off x="9747618" y="2423160"/>
            <a:ext cx="777240" cy="777240"/>
          </a:xfrm>
          <a:prstGeom prst="ellipse">
            <a:avLst/>
          </a:prstGeom>
          <a:solidFill>
            <a:srgbClr val="D9AE4B"/>
          </a:solidFill>
          <a:ln/>
        </p:spPr>
      </p:sp>
      <p:sp>
        <p:nvSpPr>
          <p:cNvPr id="9" name="anim-g1-547"/>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548"/>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تُعطِ ظهرك</a:t>
            </a:r>
            <a:endParaRPr lang="ar-SA" sz="2500" dirty="0"/>
          </a:p>
        </p:txBody>
      </p:sp>
      <p:sp>
        <p:nvSpPr>
          <p:cNvPr id="11" name="anim-g1-549"/>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اكتب جانبيًا، ووجهك للفصل</a:t>
            </a:r>
            <a:endParaRPr lang="ar-SA" sz="1700" dirty="0"/>
          </a:p>
        </p:txBody>
      </p:sp>
      <p:sp>
        <p:nvSpPr>
          <p:cNvPr id="12" name="anim-g2-550"/>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551"/>
          <p:cNvSpPr/>
          <p:nvPr/>
        </p:nvSpPr>
        <p:spPr>
          <a:xfrm>
            <a:off x="7054024" y="2423160"/>
            <a:ext cx="777240" cy="777240"/>
          </a:xfrm>
          <a:prstGeom prst="ellipse">
            <a:avLst/>
          </a:prstGeom>
          <a:solidFill>
            <a:srgbClr val="D9AE4B"/>
          </a:solidFill>
          <a:ln/>
        </p:spPr>
      </p:sp>
      <p:sp>
        <p:nvSpPr>
          <p:cNvPr id="14" name="anim-g2-552"/>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553"/>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اقترب</a:t>
            </a:r>
            <a:endParaRPr lang="ar-SA" sz="2500" dirty="0"/>
          </a:p>
        </p:txBody>
      </p:sp>
      <p:sp>
        <p:nvSpPr>
          <p:cNvPr id="16" name="anim-g2-554"/>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قف بجانب طاولته وتابع الشرح</a:t>
            </a:r>
            <a:endParaRPr lang="ar-SA" sz="1700" dirty="0"/>
          </a:p>
        </p:txBody>
      </p:sp>
      <p:sp>
        <p:nvSpPr>
          <p:cNvPr id="17" name="anim-g3-555"/>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556"/>
          <p:cNvSpPr/>
          <p:nvPr/>
        </p:nvSpPr>
        <p:spPr>
          <a:xfrm>
            <a:off x="4360431" y="2423160"/>
            <a:ext cx="777240" cy="777240"/>
          </a:xfrm>
          <a:prstGeom prst="ellipse">
            <a:avLst/>
          </a:prstGeom>
          <a:solidFill>
            <a:srgbClr val="D9AE4B"/>
          </a:solidFill>
          <a:ln/>
        </p:spPr>
      </p:sp>
      <p:sp>
        <p:nvSpPr>
          <p:cNvPr id="19" name="anim-g3-557"/>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558"/>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أشرِكه</a:t>
            </a:r>
            <a:endParaRPr lang="ar-SA" sz="2500" dirty="0"/>
          </a:p>
        </p:txBody>
      </p:sp>
      <p:sp>
        <p:nvSpPr>
          <p:cNvPr id="21" name="anim-g3-559"/>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«فهد، اقرأ لنا السؤال الأول»</a:t>
            </a:r>
            <a:endParaRPr lang="ar-SA" sz="1700" dirty="0"/>
          </a:p>
        </p:txBody>
      </p:sp>
      <p:sp>
        <p:nvSpPr>
          <p:cNvPr id="22" name="anim-g4-560"/>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561"/>
          <p:cNvSpPr/>
          <p:nvPr/>
        </p:nvSpPr>
        <p:spPr>
          <a:xfrm>
            <a:off x="1666837" y="2423160"/>
            <a:ext cx="777240" cy="777240"/>
          </a:xfrm>
          <a:prstGeom prst="ellipse">
            <a:avLst/>
          </a:prstGeom>
          <a:solidFill>
            <a:srgbClr val="D9AE4B"/>
          </a:solidFill>
          <a:ln/>
        </p:spPr>
      </p:sp>
      <p:sp>
        <p:nvSpPr>
          <p:cNvPr id="24" name="anim-g4-562"/>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563"/>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امدح</a:t>
            </a:r>
            <a:endParaRPr lang="ar-SA" sz="2500" dirty="0"/>
          </a:p>
        </p:txBody>
      </p:sp>
      <p:sp>
        <p:nvSpPr>
          <p:cNvPr id="26" name="anim-g4-564"/>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عند أول سلوك جيد منه</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٥٩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565"/>
          <p:cNvSpPr/>
          <p:nvPr/>
        </p:nvSpPr>
        <p:spPr>
          <a:xfrm>
            <a:off x="9768535" y="2130552"/>
            <a:ext cx="1600200" cy="819912"/>
          </a:xfrm>
          <a:prstGeom prst="roundRect">
            <a:avLst>
              <a:gd name="adj" fmla="val 16729"/>
            </a:avLst>
          </a:prstGeom>
          <a:solidFill>
            <a:srgbClr val="E9EDF9"/>
          </a:solidFill>
          <a:ln/>
        </p:spPr>
      </p:sp>
      <p:sp>
        <p:nvSpPr>
          <p:cNvPr id="6" name="anim-g1-566"/>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بجانبه بهدوء</a:t>
            </a:r>
            <a:endParaRPr lang="ar-SA" sz="1400" dirty="0"/>
          </a:p>
        </p:txBody>
      </p:sp>
      <p:sp>
        <p:nvSpPr>
          <p:cNvPr id="7" name="anim-g1-567"/>
          <p:cNvSpPr/>
          <p:nvPr/>
        </p:nvSpPr>
        <p:spPr>
          <a:xfrm>
            <a:off x="822960" y="2057400"/>
            <a:ext cx="8716975" cy="966216"/>
          </a:xfrm>
          <a:prstGeom prst="roundRect">
            <a:avLst>
              <a:gd name="adj" fmla="val 20820"/>
            </a:avLst>
          </a:prstGeom>
          <a:solidFill>
            <a:srgbClr val="101B45"/>
          </a:solidFill>
          <a:ln/>
        </p:spPr>
      </p:sp>
      <p:sp>
        <p:nvSpPr>
          <p:cNvPr id="8" name="anim-g1-568"/>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فهد، أحتاج انتباهك الآن. شكرًا</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9" name="anim-g2-569"/>
          <p:cNvSpPr/>
          <p:nvPr/>
        </p:nvSpPr>
        <p:spPr>
          <a:xfrm>
            <a:off x="9768535" y="3243072"/>
            <a:ext cx="1600200" cy="819912"/>
          </a:xfrm>
          <a:prstGeom prst="roundRect">
            <a:avLst>
              <a:gd name="adj" fmla="val 16729"/>
            </a:avLst>
          </a:prstGeom>
          <a:solidFill>
            <a:srgbClr val="E9EDF9"/>
          </a:solidFill>
          <a:ln/>
        </p:spPr>
      </p:sp>
      <p:sp>
        <p:nvSpPr>
          <p:cNvPr id="10" name="anim-g2-570"/>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إن ردّ باستفزاز</a:t>
            </a:r>
            <a:endParaRPr lang="ar-SA" sz="1400" dirty="0"/>
          </a:p>
        </p:txBody>
      </p:sp>
      <p:sp>
        <p:nvSpPr>
          <p:cNvPr id="11" name="anim-g2-571"/>
          <p:cNvSpPr/>
          <p:nvPr/>
        </p:nvSpPr>
        <p:spPr>
          <a:xfrm>
            <a:off x="822960" y="3169920"/>
            <a:ext cx="8716975" cy="966216"/>
          </a:xfrm>
          <a:prstGeom prst="roundRect">
            <a:avLst>
              <a:gd name="adj" fmla="val 20820"/>
            </a:avLst>
          </a:prstGeom>
          <a:solidFill>
            <a:srgbClr val="101B45"/>
          </a:solidFill>
          <a:ln/>
        </p:spPr>
      </p:sp>
      <p:sp>
        <p:nvSpPr>
          <p:cNvPr id="12" name="anim-g2-572"/>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سنتحدث بعد الحصة. والآن نكمل</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13" name="anim-g3-573"/>
          <p:cNvSpPr/>
          <p:nvPr/>
        </p:nvSpPr>
        <p:spPr>
          <a:xfrm>
            <a:off x="9768535" y="4355592"/>
            <a:ext cx="1600200" cy="819912"/>
          </a:xfrm>
          <a:prstGeom prst="roundRect">
            <a:avLst>
              <a:gd name="adj" fmla="val 16729"/>
            </a:avLst>
          </a:prstGeom>
          <a:solidFill>
            <a:srgbClr val="E9EDF9"/>
          </a:solidFill>
          <a:ln/>
        </p:spPr>
      </p:sp>
      <p:sp>
        <p:nvSpPr>
          <p:cNvPr id="14" name="anim-g3-574"/>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بعد الحصة</a:t>
            </a:r>
            <a:endParaRPr lang="ar-SA" sz="1400" dirty="0"/>
          </a:p>
        </p:txBody>
      </p:sp>
      <p:sp>
        <p:nvSpPr>
          <p:cNvPr id="15" name="anim-g3-575"/>
          <p:cNvSpPr/>
          <p:nvPr/>
        </p:nvSpPr>
        <p:spPr>
          <a:xfrm>
            <a:off x="822960" y="4282440"/>
            <a:ext cx="8716975" cy="966216"/>
          </a:xfrm>
          <a:prstGeom prst="roundRect">
            <a:avLst>
              <a:gd name="adj" fmla="val 20820"/>
            </a:avLst>
          </a:prstGeom>
          <a:solidFill>
            <a:srgbClr val="101B45"/>
          </a:solidFill>
          <a:ln/>
        </p:spPr>
      </p:sp>
      <p:sp>
        <p:nvSpPr>
          <p:cNvPr id="16" name="anim-g3-576"/>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عندك موهبة في جذب الناس، وأريدك أن تستخدمها معي لا ضدي. ما رأيك أن تقدّم فقرة المراجعة الأسبوع القادم؟</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7" name="anim-g4-577"/>
          <p:cNvSpPr/>
          <p:nvPr/>
        </p:nvSpPr>
        <p:spPr>
          <a:xfrm>
            <a:off x="822960" y="5532120"/>
            <a:ext cx="10545775" cy="548640"/>
          </a:xfrm>
          <a:prstGeom prst="roundRect">
            <a:avLst>
              <a:gd name="adj" fmla="val 20000"/>
            </a:avLst>
          </a:prstGeom>
          <a:solidFill>
            <a:srgbClr val="FBECEC"/>
          </a:solidFill>
          <a:ln/>
        </p:spPr>
      </p:sp>
      <p:sp>
        <p:nvSpPr>
          <p:cNvPr id="18" name="anim-g4-578"/>
          <p:cNvSpPr/>
          <p:nvPr/>
        </p:nvSpPr>
        <p:spPr>
          <a:xfrm>
            <a:off x="11295583" y="5532120"/>
            <a:ext cx="73152" cy="548640"/>
          </a:xfrm>
          <a:prstGeom prst="rect">
            <a:avLst/>
          </a:prstGeom>
          <a:solidFill>
            <a:srgbClr val="D64545"/>
          </a:solidFill>
          <a:ln/>
        </p:spPr>
      </p:sp>
      <p:sp>
        <p:nvSpPr>
          <p:cNvPr id="19" name="anim-g4-579"/>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«أتستمتع بأن تكون مهرّجًا؟» — سؤال يدعوه ليقول: نعم!</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580"/>
          <p:cNvSpPr/>
          <p:nvPr/>
        </p:nvSpPr>
        <p:spPr>
          <a:xfrm>
            <a:off x="6415888" y="2194560"/>
            <a:ext cx="4952848" cy="804672"/>
          </a:xfrm>
          <a:prstGeom prst="roundRect">
            <a:avLst>
              <a:gd name="adj" fmla="val 15909"/>
            </a:avLst>
          </a:prstGeom>
          <a:solidFill>
            <a:srgbClr val="FBECEC"/>
          </a:solidFill>
          <a:ln/>
        </p:spPr>
      </p:sp>
      <p:sp>
        <p:nvSpPr>
          <p:cNvPr id="6" name="anim-g1-581"/>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الكتابة الطويلة وظهرك للفصل</a:t>
            </a:r>
            <a:endParaRPr lang="ar-SA" sz="1900" dirty="0"/>
          </a:p>
        </p:txBody>
      </p:sp>
      <p:sp>
        <p:nvSpPr>
          <p:cNvPr id="7" name="anim-g1-582"/>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583"/>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584"/>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585"/>
          <p:cNvSpPr/>
          <p:nvPr/>
        </p:nvSpPr>
        <p:spPr>
          <a:xfrm>
            <a:off x="822960" y="2194560"/>
            <a:ext cx="4952848" cy="804672"/>
          </a:xfrm>
          <a:prstGeom prst="roundRect">
            <a:avLst>
              <a:gd name="adj" fmla="val 15909"/>
            </a:avLst>
          </a:prstGeom>
          <a:solidFill>
            <a:srgbClr val="E6F4EC"/>
          </a:solidFill>
          <a:ln/>
        </p:spPr>
      </p:sp>
      <p:sp>
        <p:nvSpPr>
          <p:cNvPr id="11" name="anim-g2-586"/>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اكتب جانبيًا، أو جهّز الشرح مسبقًا</a:t>
            </a:r>
            <a:endParaRPr lang="ar-SA" sz="1900" dirty="0"/>
          </a:p>
        </p:txBody>
      </p:sp>
      <p:sp>
        <p:nvSpPr>
          <p:cNvPr id="12" name="anim-g3-587"/>
          <p:cNvSpPr/>
          <p:nvPr/>
        </p:nvSpPr>
        <p:spPr>
          <a:xfrm>
            <a:off x="6415888" y="3154680"/>
            <a:ext cx="4952848" cy="804672"/>
          </a:xfrm>
          <a:prstGeom prst="roundRect">
            <a:avLst>
              <a:gd name="adj" fmla="val 15909"/>
            </a:avLst>
          </a:prstGeom>
          <a:solidFill>
            <a:srgbClr val="FBECEC"/>
          </a:solidFill>
          <a:ln/>
        </p:spPr>
      </p:sp>
      <p:sp>
        <p:nvSpPr>
          <p:cNvPr id="13" name="anim-g3-588"/>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الأسئلة الاستنكارية العلنية</a:t>
            </a:r>
            <a:endParaRPr lang="ar-SA" sz="1900" dirty="0"/>
          </a:p>
        </p:txBody>
      </p:sp>
      <p:sp>
        <p:nvSpPr>
          <p:cNvPr id="14" name="anim-g3-589"/>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590"/>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591"/>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592"/>
          <p:cNvSpPr/>
          <p:nvPr/>
        </p:nvSpPr>
        <p:spPr>
          <a:xfrm>
            <a:off x="822960" y="3154680"/>
            <a:ext cx="4952848" cy="804672"/>
          </a:xfrm>
          <a:prstGeom prst="roundRect">
            <a:avLst>
              <a:gd name="adj" fmla="val 15909"/>
            </a:avLst>
          </a:prstGeom>
          <a:solidFill>
            <a:srgbClr val="E6F4EC"/>
          </a:solidFill>
          <a:ln/>
        </p:spPr>
      </p:sp>
      <p:sp>
        <p:nvSpPr>
          <p:cNvPr id="18" name="anim-g4-593"/>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جملة طلب واضحة وقصيرة</a:t>
            </a:r>
            <a:endParaRPr lang="ar-SA" sz="1900" dirty="0"/>
          </a:p>
        </p:txBody>
      </p:sp>
      <p:sp>
        <p:nvSpPr>
          <p:cNvPr id="19" name="anim-g5-594"/>
          <p:cNvSpPr/>
          <p:nvPr/>
        </p:nvSpPr>
        <p:spPr>
          <a:xfrm>
            <a:off x="6415888" y="4114800"/>
            <a:ext cx="4952848" cy="804672"/>
          </a:xfrm>
          <a:prstGeom prst="roundRect">
            <a:avLst>
              <a:gd name="adj" fmla="val 15909"/>
            </a:avLst>
          </a:prstGeom>
          <a:solidFill>
            <a:srgbClr val="FBECEC"/>
          </a:solidFill>
          <a:ln/>
        </p:spPr>
      </p:sp>
      <p:sp>
        <p:nvSpPr>
          <p:cNvPr id="20" name="anim-g5-595"/>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الطرد إلى الممر</a:t>
            </a:r>
            <a:endParaRPr lang="ar-SA" sz="1900" dirty="0"/>
          </a:p>
        </p:txBody>
      </p:sp>
      <p:sp>
        <p:nvSpPr>
          <p:cNvPr id="21" name="anim-g5-596"/>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597"/>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598"/>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599"/>
          <p:cNvSpPr/>
          <p:nvPr/>
        </p:nvSpPr>
        <p:spPr>
          <a:xfrm>
            <a:off x="822960" y="4114800"/>
            <a:ext cx="4952848" cy="804672"/>
          </a:xfrm>
          <a:prstGeom prst="roundRect">
            <a:avLst>
              <a:gd name="adj" fmla="val 15909"/>
            </a:avLst>
          </a:prstGeom>
          <a:solidFill>
            <a:srgbClr val="E6F4EC"/>
          </a:solidFill>
          <a:ln/>
        </p:spPr>
      </p:sp>
      <p:sp>
        <p:nvSpPr>
          <p:cNvPr id="25" name="anim-g6-600"/>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إبعاد داخل الفصل، ثم حوار بعد الحصة</a:t>
            </a:r>
            <a:endParaRPr lang="ar-SA" sz="1900" dirty="0"/>
          </a:p>
        </p:txBody>
      </p:sp>
      <p:sp>
        <p:nvSpPr>
          <p:cNvPr id="26" name="anim-g7-601"/>
          <p:cNvSpPr/>
          <p:nvPr/>
        </p:nvSpPr>
        <p:spPr>
          <a:xfrm>
            <a:off x="6415888" y="5074920"/>
            <a:ext cx="4952848" cy="804672"/>
          </a:xfrm>
          <a:prstGeom prst="roundRect">
            <a:avLst>
              <a:gd name="adj" fmla="val 15909"/>
            </a:avLst>
          </a:prstGeom>
          <a:solidFill>
            <a:srgbClr val="FBECEC"/>
          </a:solidFill>
          <a:ln/>
        </p:spPr>
      </p:sp>
      <p:sp>
        <p:nvSpPr>
          <p:cNvPr id="27" name="anim-g7-602"/>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ترك موهبته بلا توجيه</a:t>
            </a:r>
            <a:endParaRPr lang="ar-SA" sz="1900" dirty="0"/>
          </a:p>
        </p:txBody>
      </p:sp>
      <p:sp>
        <p:nvSpPr>
          <p:cNvPr id="28" name="anim-g7-603"/>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604"/>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605"/>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606"/>
          <p:cNvSpPr/>
          <p:nvPr/>
        </p:nvSpPr>
        <p:spPr>
          <a:xfrm>
            <a:off x="822960" y="5074920"/>
            <a:ext cx="4952848" cy="804672"/>
          </a:xfrm>
          <a:prstGeom prst="roundRect">
            <a:avLst>
              <a:gd name="adj" fmla="val 15909"/>
            </a:avLst>
          </a:prstGeom>
          <a:solidFill>
            <a:srgbClr val="E6F4EC"/>
          </a:solidFill>
          <a:ln/>
        </p:spPr>
      </p:sp>
      <p:sp>
        <p:nvSpPr>
          <p:cNvPr id="32" name="anim-g8-607"/>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دور رسمي يستثمر حضوره</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٦١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المهرّج يحتاج جمهورًا…</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فاجعل الجمهور معك لا معه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 الفصل  ·  ٦٢</a:t>
            </a:r>
            <a:endParaRPr lang="ar-SA"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608" descr="/Users/mac/Desktop/أردوينو/المشاريع والكتب/younes-training/mawaqif/assets/scenes/permissiv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أنماط القيادة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٣</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الحرية الكاملة</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الحرية الكاملة  ·  ٦٣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609"/>
          <p:cNvSpPr/>
          <p:nvPr/>
        </p:nvSpPr>
        <p:spPr>
          <a:xfrm>
            <a:off x="11323015" y="2011680"/>
            <a:ext cx="45720" cy="845820"/>
          </a:xfrm>
          <a:prstGeom prst="rect">
            <a:avLst/>
          </a:prstGeom>
          <a:solidFill>
            <a:srgbClr val="E4DCC8"/>
          </a:solidFill>
          <a:ln/>
        </p:spPr>
      </p:sp>
      <p:sp>
        <p:nvSpPr>
          <p:cNvPr id="6" name="anim-g1-610"/>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أ. فواز مرجع زملائه العلمي، وصحته لا تحتمل الانفعال، وحكمته الدائمة: «يا بخت من بات مغلوبًا ولا بات غالبًا».</a:t>
            </a:r>
            <a:endParaRPr lang="ar-SA" sz="1700" dirty="0"/>
          </a:p>
        </p:txBody>
      </p:sp>
      <p:sp>
        <p:nvSpPr>
          <p:cNvPr id="7" name="anim-g2-611"/>
          <p:cNvSpPr/>
          <p:nvPr/>
        </p:nvSpPr>
        <p:spPr>
          <a:xfrm>
            <a:off x="11323015" y="3040380"/>
            <a:ext cx="45720" cy="845820"/>
          </a:xfrm>
          <a:prstGeom prst="rect">
            <a:avLst/>
          </a:prstGeom>
          <a:solidFill>
            <a:srgbClr val="E4DCC8"/>
          </a:solidFill>
          <a:ln/>
        </p:spPr>
      </p:sp>
      <p:sp>
        <p:nvSpPr>
          <p:cNvPr id="8" name="anim-g2-612"/>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يقول عن طلاب الأول الثانوي: «جيل غير مسؤول. أنا موجود إن أرادوا التعلم، وإن أرادوا اللعب فهم أحرار».</a:t>
            </a:r>
            <a:endParaRPr lang="ar-SA" sz="1700" dirty="0"/>
          </a:p>
        </p:txBody>
      </p:sp>
      <p:sp>
        <p:nvSpPr>
          <p:cNvPr id="9" name="anim-g3-613"/>
          <p:cNvSpPr/>
          <p:nvPr/>
        </p:nvSpPr>
        <p:spPr>
          <a:xfrm>
            <a:off x="11323015" y="4069080"/>
            <a:ext cx="45720" cy="845820"/>
          </a:xfrm>
          <a:prstGeom prst="rect">
            <a:avLst/>
          </a:prstGeom>
          <a:solidFill>
            <a:srgbClr val="E4DCC8"/>
          </a:solidFill>
          <a:ln/>
        </p:spPr>
      </p:sp>
      <p:sp>
        <p:nvSpPr>
          <p:cNvPr id="10" name="anim-g3-614"/>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قال له المدير: «لكنك مسؤول عن تربيتهم». فردّ: «أربّي من هو أطول مني؟ أين أهاليهم؟».</a:t>
            </a:r>
            <a:endParaRPr lang="ar-SA" sz="1700" dirty="0"/>
          </a:p>
        </p:txBody>
      </p:sp>
      <p:sp>
        <p:nvSpPr>
          <p:cNvPr id="11" name="anim-g4-615"/>
          <p:cNvSpPr/>
          <p:nvPr/>
        </p:nvSpPr>
        <p:spPr>
          <a:xfrm>
            <a:off x="11323015" y="5097780"/>
            <a:ext cx="45720" cy="845820"/>
          </a:xfrm>
          <a:prstGeom prst="rect">
            <a:avLst/>
          </a:prstGeom>
          <a:solidFill>
            <a:srgbClr val="D64545"/>
          </a:solidFill>
          <a:ln/>
        </p:spPr>
      </p:sp>
      <p:sp>
        <p:nvSpPr>
          <p:cNvPr id="12" name="anim-g4-616"/>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فقال المدير: «إنهم معنا سبع ساعات يوميًا… أكثر مما يقضونه مع أهاليهم».</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permissive.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مع من تتفق؟</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مع أ. فواز: الطالب الكبير مسؤول عن نفسه</a:t>
            </a:r>
            <a:endParaRPr lang="ar-SA" sz="2300" dirty="0"/>
          </a:p>
        </p:txBody>
      </p:sp>
      <p:sp>
        <p:nvSpPr>
          <p:cNvPr id="9" name="anim-g1-617"/>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618"/>
          <p:cNvSpPr/>
          <p:nvPr/>
        </p:nvSpPr>
        <p:spPr>
          <a:xfrm>
            <a:off x="10231831" y="2194560"/>
            <a:ext cx="954024" cy="954024"/>
          </a:xfrm>
          <a:prstGeom prst="roundRect">
            <a:avLst>
              <a:gd name="adj" fmla="val 11502"/>
            </a:avLst>
          </a:prstGeom>
          <a:solidFill>
            <a:srgbClr val="A3A9BA"/>
          </a:solidFill>
          <a:ln/>
        </p:spPr>
      </p:sp>
      <p:sp>
        <p:nvSpPr>
          <p:cNvPr id="11" name="anim-g1-619"/>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620"/>
          <p:cNvSpPr/>
          <p:nvPr/>
        </p:nvSpPr>
        <p:spPr>
          <a:xfrm>
            <a:off x="1097280" y="2112264"/>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مع أ. فواز: الطالب الكبير مسؤول عن نفسه</a:t>
            </a:r>
            <a:endParaRPr lang="ar-SA" sz="2100" dirty="0"/>
          </a:p>
        </p:txBody>
      </p:sp>
      <p:sp>
        <p:nvSpPr>
          <p:cNvPr id="13" name="anim-g1-621"/>
          <p:cNvSpPr/>
          <p:nvPr/>
        </p:nvSpPr>
        <p:spPr>
          <a:xfrm>
            <a:off x="1097280" y="2720706"/>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الحرية بلا حدود في هذا العمر تتحول إلى فوضى</a:t>
            </a:r>
            <a:endParaRPr lang="ar-SA" sz="13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مع المدير: التربية جزء من عمل المعلم مهما كان عمر الطالب</a:t>
            </a:r>
            <a:endParaRPr lang="ar-SA" sz="2300" dirty="0"/>
          </a:p>
        </p:txBody>
      </p:sp>
      <p:sp>
        <p:nvSpPr>
          <p:cNvPr id="18" name="anim-g1-622"/>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623"/>
          <p:cNvSpPr/>
          <p:nvPr/>
        </p:nvSpPr>
        <p:spPr>
          <a:xfrm>
            <a:off x="10231831" y="3569208"/>
            <a:ext cx="954024" cy="954024"/>
          </a:xfrm>
          <a:prstGeom prst="roundRect">
            <a:avLst>
              <a:gd name="adj" fmla="val 11502"/>
            </a:avLst>
          </a:prstGeom>
          <a:solidFill>
            <a:srgbClr val="2E9E6B"/>
          </a:solidFill>
          <a:ln/>
        </p:spPr>
      </p:sp>
      <p:sp>
        <p:nvSpPr>
          <p:cNvPr id="20" name="anim-g1-62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625"/>
          <p:cNvSpPr/>
          <p:nvPr/>
        </p:nvSpPr>
        <p:spPr>
          <a:xfrm>
            <a:off x="1097280" y="3486912"/>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مع المدير: التربية جزء من عمل المعلم مهما كان عمر الطالب</a:t>
            </a:r>
            <a:endParaRPr lang="ar-SA" sz="2100" dirty="0"/>
          </a:p>
        </p:txBody>
      </p:sp>
      <p:sp>
        <p:nvSpPr>
          <p:cNvPr id="22" name="anim-g1-626"/>
          <p:cNvSpPr/>
          <p:nvPr/>
        </p:nvSpPr>
        <p:spPr>
          <a:xfrm>
            <a:off x="1097280" y="4095354"/>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المراهق يحتاج حدودًا واضحة ليتعلم المسؤولية</a:t>
            </a:r>
            <a:endParaRPr lang="ar-SA" sz="13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الحل أن يشدّد أ. فواز العقوبات</a:t>
            </a:r>
            <a:endParaRPr lang="ar-SA" sz="2300" dirty="0"/>
          </a:p>
        </p:txBody>
      </p:sp>
      <p:sp>
        <p:nvSpPr>
          <p:cNvPr id="27" name="anim-g1-627"/>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628"/>
          <p:cNvSpPr/>
          <p:nvPr/>
        </p:nvSpPr>
        <p:spPr>
          <a:xfrm>
            <a:off x="10231831" y="4943856"/>
            <a:ext cx="954024" cy="954024"/>
          </a:xfrm>
          <a:prstGeom prst="roundRect">
            <a:avLst>
              <a:gd name="adj" fmla="val 11502"/>
            </a:avLst>
          </a:prstGeom>
          <a:solidFill>
            <a:srgbClr val="A3A9BA"/>
          </a:solidFill>
          <a:ln/>
        </p:spPr>
      </p:sp>
      <p:sp>
        <p:nvSpPr>
          <p:cNvPr id="29" name="anim-g1-629"/>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630"/>
          <p:cNvSpPr/>
          <p:nvPr/>
        </p:nvSpPr>
        <p:spPr>
          <a:xfrm>
            <a:off x="1097280" y="4861560"/>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الحل أن يشدّد أ. فواز العقوبات</a:t>
            </a:r>
            <a:endParaRPr lang="ar-SA" sz="2100" dirty="0"/>
          </a:p>
        </p:txBody>
      </p:sp>
      <p:sp>
        <p:nvSpPr>
          <p:cNvPr id="31" name="anim-g1-631"/>
          <p:cNvSpPr/>
          <p:nvPr/>
        </p:nvSpPr>
        <p:spPr>
          <a:xfrm>
            <a:off x="1097280" y="5470002"/>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الانتقال من التسيّب إلى التسلّط يستبدل مشكلة بأخرى</a:t>
            </a:r>
            <a:endParaRPr lang="ar-SA" sz="13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نمط قصة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يتسيّب المعلم؟</a:t>
            </a:r>
            <a:endParaRPr lang="ar-SA" sz="3800" dirty="0"/>
          </a:p>
        </p:txBody>
      </p:sp>
      <p:sp>
        <p:nvSpPr>
          <p:cNvPr id="5" name="anim-g1-632"/>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633"/>
          <p:cNvSpPr/>
          <p:nvPr/>
        </p:nvSpPr>
        <p:spPr>
          <a:xfrm>
            <a:off x="9816198" y="2194560"/>
            <a:ext cx="640080" cy="640080"/>
          </a:xfrm>
          <a:prstGeom prst="roundRect">
            <a:avLst>
              <a:gd name="adj" fmla="val 25714"/>
            </a:avLst>
          </a:prstGeom>
          <a:solidFill>
            <a:srgbClr val="F7E6BC"/>
          </a:solidFill>
          <a:ln/>
        </p:spPr>
      </p:sp>
      <p:sp>
        <p:nvSpPr>
          <p:cNvPr id="7" name="anim-g1-634"/>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635"/>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إرهاق</a:t>
            </a:r>
            <a:endParaRPr lang="ar-SA" sz="2200" dirty="0"/>
          </a:p>
        </p:txBody>
      </p:sp>
      <p:sp>
        <p:nvSpPr>
          <p:cNvPr id="9" name="anim-g1-636"/>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يتجنب المواجهة ليحمي صحته</a:t>
            </a:r>
            <a:endParaRPr lang="ar-SA" sz="1600" dirty="0"/>
          </a:p>
        </p:txBody>
      </p:sp>
      <p:sp>
        <p:nvSpPr>
          <p:cNvPr id="10" name="anim-g2-637"/>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638"/>
          <p:cNvSpPr/>
          <p:nvPr/>
        </p:nvSpPr>
        <p:spPr>
          <a:xfrm>
            <a:off x="7122604" y="2194560"/>
            <a:ext cx="640080" cy="640080"/>
          </a:xfrm>
          <a:prstGeom prst="roundRect">
            <a:avLst>
              <a:gd name="adj" fmla="val 25714"/>
            </a:avLst>
          </a:prstGeom>
          <a:solidFill>
            <a:srgbClr val="F7E6BC"/>
          </a:solidFill>
          <a:ln/>
        </p:spPr>
      </p:sp>
      <p:sp>
        <p:nvSpPr>
          <p:cNvPr id="12" name="anim-g2-639"/>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640"/>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سوء فهم</a:t>
            </a:r>
            <a:endParaRPr lang="ar-SA" sz="2200" dirty="0"/>
          </a:p>
        </p:txBody>
      </p:sp>
      <p:sp>
        <p:nvSpPr>
          <p:cNvPr id="14" name="anim-g2-641"/>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يظن أن الحرية تعني غياب القواعد</a:t>
            </a:r>
            <a:endParaRPr lang="ar-SA" sz="1600" dirty="0"/>
          </a:p>
        </p:txBody>
      </p:sp>
      <p:sp>
        <p:nvSpPr>
          <p:cNvPr id="15" name="anim-g3-642"/>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643"/>
          <p:cNvSpPr/>
          <p:nvPr/>
        </p:nvSpPr>
        <p:spPr>
          <a:xfrm>
            <a:off x="4429011" y="2194560"/>
            <a:ext cx="640080" cy="640080"/>
          </a:xfrm>
          <a:prstGeom prst="roundRect">
            <a:avLst>
              <a:gd name="adj" fmla="val 25714"/>
            </a:avLst>
          </a:prstGeom>
          <a:solidFill>
            <a:srgbClr val="F7E6BC"/>
          </a:solidFill>
          <a:ln/>
        </p:spPr>
      </p:sp>
      <p:sp>
        <p:nvSpPr>
          <p:cNvPr id="17" name="anim-g3-644"/>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645"/>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إحباط</a:t>
            </a:r>
            <a:endParaRPr lang="ar-SA" sz="2200" dirty="0"/>
          </a:p>
        </p:txBody>
      </p:sp>
      <p:sp>
        <p:nvSpPr>
          <p:cNvPr id="19" name="anim-g3-646"/>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جرّب ولم ينجح، فاستسلم</a:t>
            </a:r>
            <a:endParaRPr lang="ar-SA" sz="1600" dirty="0"/>
          </a:p>
        </p:txBody>
      </p:sp>
      <p:sp>
        <p:nvSpPr>
          <p:cNvPr id="20" name="anim-g4-647"/>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648"/>
          <p:cNvSpPr/>
          <p:nvPr/>
        </p:nvSpPr>
        <p:spPr>
          <a:xfrm>
            <a:off x="1735417" y="2194560"/>
            <a:ext cx="640080" cy="640080"/>
          </a:xfrm>
          <a:prstGeom prst="roundRect">
            <a:avLst>
              <a:gd name="adj" fmla="val 25714"/>
            </a:avLst>
          </a:prstGeom>
          <a:solidFill>
            <a:srgbClr val="F7E6BC"/>
          </a:solidFill>
          <a:ln/>
        </p:spPr>
      </p:sp>
      <p:sp>
        <p:nvSpPr>
          <p:cNvPr id="22" name="anim-g4-649"/>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650"/>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المادة فقط</a:t>
            </a:r>
            <a:endParaRPr lang="ar-SA" sz="2200" dirty="0"/>
          </a:p>
        </p:txBody>
      </p:sp>
      <p:sp>
        <p:nvSpPr>
          <p:cNvPr id="24" name="anim-g4-651"/>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يرى دوره نقل العلم لا غير</a:t>
            </a:r>
            <a:endParaRPr lang="ar-SA" sz="1600" dirty="0"/>
          </a:p>
        </p:txBody>
      </p:sp>
      <p:sp>
        <p:nvSpPr>
          <p:cNvPr id="25" name="anim-g5-652"/>
          <p:cNvSpPr/>
          <p:nvPr/>
        </p:nvSpPr>
        <p:spPr>
          <a:xfrm>
            <a:off x="822960" y="4754880"/>
            <a:ext cx="10545775" cy="1051560"/>
          </a:xfrm>
          <a:prstGeom prst="roundRect">
            <a:avLst>
              <a:gd name="adj" fmla="val 17391"/>
            </a:avLst>
          </a:prstGeom>
          <a:solidFill>
            <a:srgbClr val="101B45"/>
          </a:solidFill>
          <a:ln/>
        </p:spPr>
      </p:sp>
      <p:sp>
        <p:nvSpPr>
          <p:cNvPr id="26" name="anim-g5-653"/>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الحرية الحقيقية تُتعلَّم…</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داخل حدود واضحة</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150047" y="457200"/>
            <a:ext cx="3218688" cy="457200"/>
          </a:xfrm>
          <a:prstGeom prst="roundRect">
            <a:avLst>
              <a:gd name="adj" fmla="val 50000"/>
            </a:avLst>
          </a:prstGeom>
          <a:solidFill>
            <a:srgbClr val="F6EBCF"/>
          </a:solidFill>
          <a:ln/>
        </p:spPr>
      </p:sp>
      <p:sp>
        <p:nvSpPr>
          <p:cNvPr id="3" name="Text 1"/>
          <p:cNvSpPr/>
          <p:nvPr/>
        </p:nvSpPr>
        <p:spPr>
          <a:xfrm>
            <a:off x="8150047" y="457200"/>
            <a:ext cx="321868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خطة أسبوع واحد</a:t>
            </a:r>
            <a:endParaRPr lang="ar-SA" sz="1600" dirty="0"/>
          </a:p>
        </p:txBody>
      </p:sp>
      <p:sp>
        <p:nvSpPr>
          <p:cNvPr id="4" name="Shape 2"/>
          <p:cNvSpPr/>
          <p:nvPr/>
        </p:nvSpPr>
        <p:spPr>
          <a:xfrm>
            <a:off x="822960" y="457200"/>
            <a:ext cx="1380744" cy="457200"/>
          </a:xfrm>
          <a:prstGeom prst="roundRect">
            <a:avLst>
              <a:gd name="adj" fmla="val 50000"/>
            </a:avLst>
          </a:prstGeom>
          <a:solidFill>
            <a:srgbClr val="FBECEC"/>
          </a:solidFill>
          <a:ln/>
        </p:spPr>
      </p:sp>
      <p:sp>
        <p:nvSpPr>
          <p:cNvPr id="5" name="Text 3"/>
          <p:cNvSpPr/>
          <p:nvPr/>
        </p:nvSpPr>
        <p:spPr>
          <a:xfrm>
            <a:off x="822960" y="457200"/>
            <a:ext cx="138074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أسبوع</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يبدأ أ. فواز من جديد؟</a:t>
            </a:r>
            <a:endParaRPr lang="ar-SA" sz="3800" dirty="0"/>
          </a:p>
        </p:txBody>
      </p:sp>
      <p:sp>
        <p:nvSpPr>
          <p:cNvPr id="7" name="anim-g1-654"/>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655"/>
          <p:cNvSpPr/>
          <p:nvPr/>
        </p:nvSpPr>
        <p:spPr>
          <a:xfrm>
            <a:off x="9747618" y="2423160"/>
            <a:ext cx="777240" cy="777240"/>
          </a:xfrm>
          <a:prstGeom prst="ellipse">
            <a:avLst/>
          </a:prstGeom>
          <a:solidFill>
            <a:srgbClr val="D9AE4B"/>
          </a:solidFill>
          <a:ln/>
        </p:spPr>
      </p:sp>
      <p:sp>
        <p:nvSpPr>
          <p:cNvPr id="9" name="anim-g1-656"/>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657"/>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قواعد قليلة</a:t>
            </a:r>
            <a:endParaRPr lang="ar-SA" sz="2500" dirty="0"/>
          </a:p>
        </p:txBody>
      </p:sp>
      <p:sp>
        <p:nvSpPr>
          <p:cNvPr id="11" name="anim-g1-658"/>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ثلاث قواعد يصوغها مع طلابه</a:t>
            </a:r>
            <a:endParaRPr lang="ar-SA" sz="1700" dirty="0"/>
          </a:p>
        </p:txBody>
      </p:sp>
      <p:sp>
        <p:nvSpPr>
          <p:cNvPr id="12" name="anim-g2-659"/>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660"/>
          <p:cNvSpPr/>
          <p:nvPr/>
        </p:nvSpPr>
        <p:spPr>
          <a:xfrm>
            <a:off x="7054024" y="2423160"/>
            <a:ext cx="777240" cy="777240"/>
          </a:xfrm>
          <a:prstGeom prst="ellipse">
            <a:avLst/>
          </a:prstGeom>
          <a:solidFill>
            <a:srgbClr val="D9AE4B"/>
          </a:solidFill>
          <a:ln/>
        </p:spPr>
      </p:sp>
      <p:sp>
        <p:nvSpPr>
          <p:cNvPr id="14" name="anim-g2-661"/>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662"/>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بداية ثابتة</a:t>
            </a:r>
            <a:endParaRPr lang="ar-SA" sz="2500" dirty="0"/>
          </a:p>
        </p:txBody>
      </p:sp>
      <p:sp>
        <p:nvSpPr>
          <p:cNvPr id="16" name="anim-g2-663"/>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روتين أول خمس دقائق كل حصة</a:t>
            </a:r>
            <a:endParaRPr lang="ar-SA" sz="1700" dirty="0"/>
          </a:p>
        </p:txBody>
      </p:sp>
      <p:sp>
        <p:nvSpPr>
          <p:cNvPr id="17" name="anim-g3-664"/>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665"/>
          <p:cNvSpPr/>
          <p:nvPr/>
        </p:nvSpPr>
        <p:spPr>
          <a:xfrm>
            <a:off x="4360431" y="2423160"/>
            <a:ext cx="777240" cy="777240"/>
          </a:xfrm>
          <a:prstGeom prst="ellipse">
            <a:avLst/>
          </a:prstGeom>
          <a:solidFill>
            <a:srgbClr val="D9AE4B"/>
          </a:solidFill>
          <a:ln/>
        </p:spPr>
      </p:sp>
      <p:sp>
        <p:nvSpPr>
          <p:cNvPr id="19" name="anim-g3-666"/>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667"/>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مسؤوليات</a:t>
            </a:r>
            <a:endParaRPr lang="ar-SA" sz="2500" dirty="0"/>
          </a:p>
        </p:txBody>
      </p:sp>
      <p:sp>
        <p:nvSpPr>
          <p:cNvPr id="21" name="anim-g3-668"/>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أدوار للطلاب في إدارة الحصة</a:t>
            </a:r>
            <a:endParaRPr lang="ar-SA" sz="1700" dirty="0"/>
          </a:p>
        </p:txBody>
      </p:sp>
      <p:sp>
        <p:nvSpPr>
          <p:cNvPr id="22" name="anim-g4-669"/>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670"/>
          <p:cNvSpPr/>
          <p:nvPr/>
        </p:nvSpPr>
        <p:spPr>
          <a:xfrm>
            <a:off x="1666837" y="2423160"/>
            <a:ext cx="777240" cy="777240"/>
          </a:xfrm>
          <a:prstGeom prst="ellipse">
            <a:avLst/>
          </a:prstGeom>
          <a:solidFill>
            <a:srgbClr val="D9AE4B"/>
          </a:solidFill>
          <a:ln/>
        </p:spPr>
      </p:sp>
      <p:sp>
        <p:nvSpPr>
          <p:cNvPr id="24" name="anim-g4-671"/>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672"/>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متابعة هادئة</a:t>
            </a:r>
            <a:endParaRPr lang="ar-SA" sz="2500" dirty="0"/>
          </a:p>
        </p:txBody>
      </p:sp>
      <p:sp>
        <p:nvSpPr>
          <p:cNvPr id="26" name="anim-g4-673"/>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يطبّق القواعد دون انفعال</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674"/>
          <p:cNvSpPr/>
          <p:nvPr/>
        </p:nvSpPr>
        <p:spPr>
          <a:xfrm>
            <a:off x="9768535" y="2130552"/>
            <a:ext cx="1600200" cy="1018032"/>
          </a:xfrm>
          <a:prstGeom prst="roundRect">
            <a:avLst>
              <a:gd name="adj" fmla="val 13473"/>
            </a:avLst>
          </a:prstGeom>
          <a:solidFill>
            <a:srgbClr val="E9EDF9"/>
          </a:solidFill>
          <a:ln/>
        </p:spPr>
      </p:sp>
      <p:sp>
        <p:nvSpPr>
          <p:cNvPr id="6" name="anim-g1-675"/>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مع طلابه</a:t>
            </a:r>
            <a:endParaRPr lang="ar-SA" sz="1400" dirty="0"/>
          </a:p>
        </p:txBody>
      </p:sp>
      <p:sp>
        <p:nvSpPr>
          <p:cNvPr id="7" name="anim-g1-676"/>
          <p:cNvSpPr/>
          <p:nvPr/>
        </p:nvSpPr>
        <p:spPr>
          <a:xfrm>
            <a:off x="822960" y="2057400"/>
            <a:ext cx="8716975" cy="1164336"/>
          </a:xfrm>
          <a:prstGeom prst="roundRect">
            <a:avLst>
              <a:gd name="adj" fmla="val 17277"/>
            </a:avLst>
          </a:prstGeom>
          <a:solidFill>
            <a:srgbClr val="101B45"/>
          </a:solidFill>
          <a:ln/>
        </p:spPr>
      </p:sp>
      <p:sp>
        <p:nvSpPr>
          <p:cNvPr id="8" name="anim-g1-677"/>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أنتم كبار، ولهذا سأعاملكم كمسؤولين: نضع القواعد معًا، ونلتزم بها معًا</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678"/>
          <p:cNvSpPr/>
          <p:nvPr/>
        </p:nvSpPr>
        <p:spPr>
          <a:xfrm>
            <a:off x="9768535" y="3441192"/>
            <a:ext cx="1600200" cy="1018032"/>
          </a:xfrm>
          <a:prstGeom prst="roundRect">
            <a:avLst>
              <a:gd name="adj" fmla="val 13473"/>
            </a:avLst>
          </a:prstGeom>
          <a:solidFill>
            <a:srgbClr val="E9EDF9"/>
          </a:solidFill>
          <a:ln/>
        </p:spPr>
      </p:sp>
      <p:sp>
        <p:nvSpPr>
          <p:cNvPr id="10" name="anim-g2-679"/>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عند المخالفة</a:t>
            </a:r>
            <a:endParaRPr lang="ar-SA" sz="1400" dirty="0"/>
          </a:p>
        </p:txBody>
      </p:sp>
      <p:sp>
        <p:nvSpPr>
          <p:cNvPr id="11" name="anim-g2-680"/>
          <p:cNvSpPr/>
          <p:nvPr/>
        </p:nvSpPr>
        <p:spPr>
          <a:xfrm>
            <a:off x="822960" y="3368040"/>
            <a:ext cx="8716975" cy="1164336"/>
          </a:xfrm>
          <a:prstGeom prst="roundRect">
            <a:avLst>
              <a:gd name="adj" fmla="val 17277"/>
            </a:avLst>
          </a:prstGeom>
          <a:solidFill>
            <a:srgbClr val="101B45"/>
          </a:solidFill>
          <a:ln/>
        </p:spPr>
      </p:sp>
      <p:sp>
        <p:nvSpPr>
          <p:cNvPr id="12" name="anim-g2-681"/>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اتفقنا على هذه القاعدة. ما الذي ستفعله الآن؟</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13" name="anim-g3-682"/>
          <p:cNvSpPr/>
          <p:nvPr/>
        </p:nvSpPr>
        <p:spPr>
          <a:xfrm>
            <a:off x="9768535" y="4751832"/>
            <a:ext cx="1600200" cy="1018032"/>
          </a:xfrm>
          <a:prstGeom prst="roundRect">
            <a:avLst>
              <a:gd name="adj" fmla="val 13473"/>
            </a:avLst>
          </a:prstGeom>
          <a:solidFill>
            <a:srgbClr val="E9EDF9"/>
          </a:solidFill>
          <a:ln/>
        </p:spPr>
      </p:sp>
      <p:sp>
        <p:nvSpPr>
          <p:cNvPr id="14" name="anim-g3-683"/>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المدير لأ. فواز</a:t>
            </a:r>
            <a:endParaRPr lang="ar-SA" sz="1400" dirty="0"/>
          </a:p>
        </p:txBody>
      </p:sp>
      <p:sp>
        <p:nvSpPr>
          <p:cNvPr id="15" name="anim-g3-684"/>
          <p:cNvSpPr/>
          <p:nvPr/>
        </p:nvSpPr>
        <p:spPr>
          <a:xfrm>
            <a:off x="822960" y="4678680"/>
            <a:ext cx="8716975" cy="1164336"/>
          </a:xfrm>
          <a:prstGeom prst="roundRect">
            <a:avLst>
              <a:gd name="adj" fmla="val 17277"/>
            </a:avLst>
          </a:prstGeom>
          <a:solidFill>
            <a:srgbClr val="101B45"/>
          </a:solidFill>
          <a:ln/>
        </p:spPr>
      </p:sp>
      <p:sp>
        <p:nvSpPr>
          <p:cNvPr id="16" name="anim-g3-685"/>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علمك كنز، وأريد أن يصل إليهم. كيف أساعدك في ضبط الحصة؟</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686"/>
          <p:cNvSpPr/>
          <p:nvPr/>
        </p:nvSpPr>
        <p:spPr>
          <a:xfrm>
            <a:off x="6415888" y="2194560"/>
            <a:ext cx="4952848" cy="804672"/>
          </a:xfrm>
          <a:prstGeom prst="roundRect">
            <a:avLst>
              <a:gd name="adj" fmla="val 15909"/>
            </a:avLst>
          </a:prstGeom>
          <a:solidFill>
            <a:srgbClr val="FBECEC"/>
          </a:solidFill>
          <a:ln/>
        </p:spPr>
      </p:sp>
      <p:sp>
        <p:nvSpPr>
          <p:cNvPr id="6" name="anim-g1-687"/>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«أنا موجود إن أرادوا»</a:t>
            </a:r>
            <a:endParaRPr lang="ar-SA" sz="1900" dirty="0"/>
          </a:p>
        </p:txBody>
      </p:sp>
      <p:sp>
        <p:nvSpPr>
          <p:cNvPr id="7" name="anim-g1-688"/>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689"/>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690"/>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691"/>
          <p:cNvSpPr/>
          <p:nvPr/>
        </p:nvSpPr>
        <p:spPr>
          <a:xfrm>
            <a:off x="822960" y="2194560"/>
            <a:ext cx="4952848" cy="804672"/>
          </a:xfrm>
          <a:prstGeom prst="roundRect">
            <a:avLst>
              <a:gd name="adj" fmla="val 15909"/>
            </a:avLst>
          </a:prstGeom>
          <a:solidFill>
            <a:srgbClr val="E6F4EC"/>
          </a:solidFill>
          <a:ln/>
        </p:spPr>
      </p:sp>
      <p:sp>
        <p:nvSpPr>
          <p:cNvPr id="11" name="anim-g2-692"/>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«أنا هنا لأتأكد أنكم تتعلمون»</a:t>
            </a:r>
            <a:endParaRPr lang="ar-SA" sz="1900" dirty="0"/>
          </a:p>
        </p:txBody>
      </p:sp>
      <p:sp>
        <p:nvSpPr>
          <p:cNvPr id="12" name="anim-g3-693"/>
          <p:cNvSpPr/>
          <p:nvPr/>
        </p:nvSpPr>
        <p:spPr>
          <a:xfrm>
            <a:off x="6415888" y="3154680"/>
            <a:ext cx="4952848" cy="804672"/>
          </a:xfrm>
          <a:prstGeom prst="roundRect">
            <a:avLst>
              <a:gd name="adj" fmla="val 15909"/>
            </a:avLst>
          </a:prstGeom>
          <a:solidFill>
            <a:srgbClr val="FBECEC"/>
          </a:solidFill>
          <a:ln/>
        </p:spPr>
      </p:sp>
      <p:sp>
        <p:nvSpPr>
          <p:cNvPr id="13" name="anim-g3-694"/>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غياب القواعد تجنبًا للمواجهة</a:t>
            </a:r>
            <a:endParaRPr lang="ar-SA" sz="1900" dirty="0"/>
          </a:p>
        </p:txBody>
      </p:sp>
      <p:sp>
        <p:nvSpPr>
          <p:cNvPr id="14" name="anim-g3-695"/>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696"/>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697"/>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698"/>
          <p:cNvSpPr/>
          <p:nvPr/>
        </p:nvSpPr>
        <p:spPr>
          <a:xfrm>
            <a:off x="822960" y="3154680"/>
            <a:ext cx="4952848" cy="804672"/>
          </a:xfrm>
          <a:prstGeom prst="roundRect">
            <a:avLst>
              <a:gd name="adj" fmla="val 15909"/>
            </a:avLst>
          </a:prstGeom>
          <a:solidFill>
            <a:srgbClr val="E6F4EC"/>
          </a:solidFill>
          <a:ln/>
        </p:spPr>
      </p:sp>
      <p:sp>
        <p:nvSpPr>
          <p:cNvPr id="18" name="anim-g4-699"/>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قواعد قليلة تُطبَّق بهدوء</a:t>
            </a:r>
            <a:endParaRPr lang="ar-SA" sz="1900" dirty="0"/>
          </a:p>
        </p:txBody>
      </p:sp>
      <p:sp>
        <p:nvSpPr>
          <p:cNvPr id="19" name="anim-g5-700"/>
          <p:cNvSpPr/>
          <p:nvPr/>
        </p:nvSpPr>
        <p:spPr>
          <a:xfrm>
            <a:off x="6415888" y="4114800"/>
            <a:ext cx="4952848" cy="804672"/>
          </a:xfrm>
          <a:prstGeom prst="roundRect">
            <a:avLst>
              <a:gd name="adj" fmla="val 15909"/>
            </a:avLst>
          </a:prstGeom>
          <a:solidFill>
            <a:srgbClr val="FBECEC"/>
          </a:solidFill>
          <a:ln/>
        </p:spPr>
      </p:sp>
      <p:sp>
        <p:nvSpPr>
          <p:cNvPr id="20" name="anim-g5-701"/>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لوم الأهل والجيل</a:t>
            </a:r>
            <a:endParaRPr lang="ar-SA" sz="1900" dirty="0"/>
          </a:p>
        </p:txBody>
      </p:sp>
      <p:sp>
        <p:nvSpPr>
          <p:cNvPr id="21" name="anim-g5-702"/>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703"/>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704"/>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705"/>
          <p:cNvSpPr/>
          <p:nvPr/>
        </p:nvSpPr>
        <p:spPr>
          <a:xfrm>
            <a:off x="822960" y="4114800"/>
            <a:ext cx="4952848" cy="804672"/>
          </a:xfrm>
          <a:prstGeom prst="roundRect">
            <a:avLst>
              <a:gd name="adj" fmla="val 15909"/>
            </a:avLst>
          </a:prstGeom>
          <a:solidFill>
            <a:srgbClr val="E6F4EC"/>
          </a:solidFill>
          <a:ln/>
        </p:spPr>
      </p:sp>
      <p:sp>
        <p:nvSpPr>
          <p:cNvPr id="25" name="anim-g6-706"/>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التركيز على ما أملكه داخل الفصل</a:t>
            </a:r>
            <a:endParaRPr lang="ar-SA" sz="19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الحرية بلا حدود…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تسيّب. والحدود بلا حب… تسلّط</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الحرية الكاملة  ·  ٧٠</a:t>
            </a:r>
            <a:endParaRPr lang="ar-SA"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القواعد والإجراءات</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الفصل مجتمع صغير… وبلا قواعد يتحول إلى فوضى</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القواعد والإجراءات  ·  ٧١</a:t>
            </a:r>
            <a:endParaRPr lang="ar-SA"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18872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18872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لماذا القواعد؟</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إذا لم نتفق على القواعد من البداية…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يصبح كل شيء جائزًا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القواعد والإجراءات  ·  ٧٢</a:t>
            </a:r>
            <a:endParaRPr lang="ar-SA"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صفات القاعدة الناجحة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قواعد قليلة… واضحة… إيجابية</a:t>
            </a:r>
            <a:endParaRPr lang="ar-SA" sz="3800" dirty="0"/>
          </a:p>
        </p:txBody>
      </p:sp>
      <p:sp>
        <p:nvSpPr>
          <p:cNvPr id="5" name="anim-g1-707"/>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08"/>
          <p:cNvSpPr/>
          <p:nvPr/>
        </p:nvSpPr>
        <p:spPr>
          <a:xfrm>
            <a:off x="10362895" y="2404872"/>
            <a:ext cx="731520" cy="731520"/>
          </a:xfrm>
          <a:prstGeom prst="roundRect">
            <a:avLst>
              <a:gd name="adj" fmla="val 25000"/>
            </a:avLst>
          </a:prstGeom>
          <a:solidFill>
            <a:srgbClr val="F7E6BC"/>
          </a:solidFill>
          <a:ln/>
        </p:spPr>
      </p:sp>
      <p:sp>
        <p:nvSpPr>
          <p:cNvPr id="7" name="anim-g1-709"/>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710"/>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من ٣ إلى ٥ فقط</a:t>
            </a:r>
            <a:endParaRPr lang="ar-SA" sz="2300" dirty="0"/>
          </a:p>
        </p:txBody>
      </p:sp>
      <p:sp>
        <p:nvSpPr>
          <p:cNvPr id="9" name="anim-g1-711"/>
          <p:cNvSpPr/>
          <p:nvPr/>
        </p:nvSpPr>
        <p:spPr>
          <a:xfrm>
            <a:off x="9212351"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كثرة القواعد تجعل حفظها وتطبيقها مستحيلًا</a:t>
            </a:r>
            <a:endParaRPr lang="ar-SA" sz="1800" dirty="0"/>
          </a:p>
        </p:txBody>
      </p:sp>
      <p:sp>
        <p:nvSpPr>
          <p:cNvPr id="10" name="anim-g2-712"/>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13"/>
          <p:cNvSpPr/>
          <p:nvPr/>
        </p:nvSpPr>
        <p:spPr>
          <a:xfrm>
            <a:off x="7657871" y="2404872"/>
            <a:ext cx="731520" cy="731520"/>
          </a:xfrm>
          <a:prstGeom prst="roundRect">
            <a:avLst>
              <a:gd name="adj" fmla="val 25000"/>
            </a:avLst>
          </a:prstGeom>
          <a:solidFill>
            <a:srgbClr val="F7E6BC"/>
          </a:solidFill>
          <a:ln/>
        </p:spPr>
      </p:sp>
      <p:sp>
        <p:nvSpPr>
          <p:cNvPr id="12" name="anim-g2-714"/>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715"/>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بصيغة إيجابية</a:t>
            </a:r>
            <a:endParaRPr lang="ar-SA" sz="2300" dirty="0"/>
          </a:p>
        </p:txBody>
      </p:sp>
      <p:sp>
        <p:nvSpPr>
          <p:cNvPr id="14" name="anim-g2-716"/>
          <p:cNvSpPr/>
          <p:nvPr/>
        </p:nvSpPr>
        <p:spPr>
          <a:xfrm>
            <a:off x="6507328"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«ارفع يدك قبل الكلام» بدل «لا تتكلم»</a:t>
            </a:r>
            <a:endParaRPr lang="ar-SA" sz="1800" dirty="0"/>
          </a:p>
        </p:txBody>
      </p:sp>
      <p:sp>
        <p:nvSpPr>
          <p:cNvPr id="15" name="anim-g3-717"/>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18"/>
          <p:cNvSpPr/>
          <p:nvPr/>
        </p:nvSpPr>
        <p:spPr>
          <a:xfrm>
            <a:off x="4952848" y="2404872"/>
            <a:ext cx="731520" cy="731520"/>
          </a:xfrm>
          <a:prstGeom prst="roundRect">
            <a:avLst>
              <a:gd name="adj" fmla="val 25000"/>
            </a:avLst>
          </a:prstGeom>
          <a:solidFill>
            <a:srgbClr val="F7E6BC"/>
          </a:solidFill>
          <a:ln/>
        </p:spPr>
      </p:sp>
      <p:sp>
        <p:nvSpPr>
          <p:cNvPr id="17" name="anim-g3-719"/>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720"/>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تُصاغ مع الطلاب</a:t>
            </a:r>
            <a:endParaRPr lang="ar-SA" sz="2300" dirty="0"/>
          </a:p>
        </p:txBody>
      </p:sp>
      <p:sp>
        <p:nvSpPr>
          <p:cNvPr id="19" name="anim-g3-721"/>
          <p:cNvSpPr/>
          <p:nvPr/>
        </p:nvSpPr>
        <p:spPr>
          <a:xfrm>
            <a:off x="3802304"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من شارك في وضع القاعدة التزم بها أكثر</a:t>
            </a:r>
            <a:endParaRPr lang="ar-SA" sz="1800" dirty="0"/>
          </a:p>
        </p:txBody>
      </p:sp>
      <p:sp>
        <p:nvSpPr>
          <p:cNvPr id="20" name="anim-g4-722"/>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723"/>
          <p:cNvSpPr/>
          <p:nvPr/>
        </p:nvSpPr>
        <p:spPr>
          <a:xfrm>
            <a:off x="2247824" y="2404872"/>
            <a:ext cx="731520" cy="731520"/>
          </a:xfrm>
          <a:prstGeom prst="roundRect">
            <a:avLst>
              <a:gd name="adj" fmla="val 25000"/>
            </a:avLst>
          </a:prstGeom>
          <a:solidFill>
            <a:srgbClr val="F7E6BC"/>
          </a:solidFill>
          <a:ln/>
        </p:spPr>
      </p:sp>
      <p:sp>
        <p:nvSpPr>
          <p:cNvPr id="22" name="anim-g4-724"/>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725"/>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عاقبتها معروفة</a:t>
            </a:r>
            <a:endParaRPr lang="ar-SA" sz="2300" dirty="0"/>
          </a:p>
        </p:txBody>
      </p:sp>
      <p:sp>
        <p:nvSpPr>
          <p:cNvPr id="24" name="anim-g4-726"/>
          <p:cNvSpPr/>
          <p:nvPr/>
        </p:nvSpPr>
        <p:spPr>
          <a:xfrm>
            <a:off x="1097280"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كل قاعدة لها نتيجة معلنة مسبقًا تُطبَّق على الجميع</a:t>
            </a:r>
            <a:endParaRPr lang="ar-SA" sz="18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القواعد والإجراءات  ·  ٧٣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القاعدة غير الإجراء</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تعلّم إجراءً في أربع خطوات؟</a:t>
            </a:r>
            <a:endParaRPr lang="ar-SA" sz="3800" dirty="0"/>
          </a:p>
        </p:txBody>
      </p:sp>
      <p:sp>
        <p:nvSpPr>
          <p:cNvPr id="5" name="anim-g1-727"/>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728"/>
          <p:cNvSpPr/>
          <p:nvPr/>
        </p:nvSpPr>
        <p:spPr>
          <a:xfrm>
            <a:off x="10573207" y="2109978"/>
            <a:ext cx="566928" cy="566928"/>
          </a:xfrm>
          <a:prstGeom prst="ellipse">
            <a:avLst/>
          </a:prstGeom>
          <a:solidFill>
            <a:srgbClr val="D9AE4B"/>
          </a:solidFill>
          <a:ln/>
        </p:spPr>
      </p:sp>
      <p:sp>
        <p:nvSpPr>
          <p:cNvPr id="7" name="anim-g1-729"/>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730"/>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اشرح: لماذا؟</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«نخرج بهدوء حتى لا نزعج الفصول المجاورة»</a:t>
            </a:r>
            <a:endParaRPr lang="ar-SA" sz="2000" dirty="0"/>
          </a:p>
        </p:txBody>
      </p:sp>
      <p:sp>
        <p:nvSpPr>
          <p:cNvPr id="9" name="anim-g2-731"/>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732"/>
          <p:cNvSpPr/>
          <p:nvPr/>
        </p:nvSpPr>
        <p:spPr>
          <a:xfrm>
            <a:off x="10573207" y="3166110"/>
            <a:ext cx="566928" cy="566928"/>
          </a:xfrm>
          <a:prstGeom prst="ellipse">
            <a:avLst/>
          </a:prstGeom>
          <a:solidFill>
            <a:srgbClr val="D9AE4B"/>
          </a:solidFill>
          <a:ln/>
        </p:spPr>
      </p:sp>
      <p:sp>
        <p:nvSpPr>
          <p:cNvPr id="11" name="anim-g2-733"/>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34"/>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أرِهم: نمذج بنفسك</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قم أنت بالإجراء أمامهم خطوة خطوة</a:t>
            </a:r>
            <a:endParaRPr lang="ar-SA" sz="2000" dirty="0"/>
          </a:p>
        </p:txBody>
      </p:sp>
      <p:sp>
        <p:nvSpPr>
          <p:cNvPr id="13" name="anim-g3-735"/>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736"/>
          <p:cNvSpPr/>
          <p:nvPr/>
        </p:nvSpPr>
        <p:spPr>
          <a:xfrm>
            <a:off x="10573207" y="4222242"/>
            <a:ext cx="566928" cy="566928"/>
          </a:xfrm>
          <a:prstGeom prst="ellipse">
            <a:avLst/>
          </a:prstGeom>
          <a:solidFill>
            <a:srgbClr val="D9AE4B"/>
          </a:solidFill>
          <a:ln/>
        </p:spPr>
      </p:sp>
      <p:sp>
        <p:nvSpPr>
          <p:cNvPr id="15" name="anim-g3-737"/>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38"/>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تدرّبوا الآن</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نفّذوه أمامك، وأعيدوه إن لم يُتقن</a:t>
            </a:r>
            <a:endParaRPr lang="ar-SA" sz="2000" dirty="0"/>
          </a:p>
        </p:txBody>
      </p:sp>
      <p:sp>
        <p:nvSpPr>
          <p:cNvPr id="17" name="anim-g4-739"/>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740"/>
          <p:cNvSpPr/>
          <p:nvPr/>
        </p:nvSpPr>
        <p:spPr>
          <a:xfrm>
            <a:off x="10573207" y="5278374"/>
            <a:ext cx="566928" cy="566928"/>
          </a:xfrm>
          <a:prstGeom prst="ellipse">
            <a:avLst/>
          </a:prstGeom>
          <a:solidFill>
            <a:srgbClr val="D9AE4B"/>
          </a:solidFill>
          <a:ln/>
        </p:spPr>
      </p:sp>
      <p:sp>
        <p:nvSpPr>
          <p:cNvPr id="19" name="anim-g4-741"/>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742"/>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عزّز وراجع</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امدح الإتقان، وأعد التدريب عند أول تراخٍ</a:t>
            </a:r>
            <a:endParaRPr lang="ar-SA" sz="20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القواعد والإجراءات  ·  ٧٤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مجالات الإجراءات</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ستة مواقف يومية تحتاج إجراءً واضحًا</a:t>
            </a:r>
            <a:endParaRPr lang="ar-SA" sz="3200" dirty="0"/>
          </a:p>
        </p:txBody>
      </p:sp>
      <p:sp>
        <p:nvSpPr>
          <p:cNvPr id="5" name="anim-g1-743"/>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44"/>
          <p:cNvSpPr/>
          <p:nvPr/>
        </p:nvSpPr>
        <p:spPr>
          <a:xfrm>
            <a:off x="10527487" y="2267712"/>
            <a:ext cx="566928" cy="566928"/>
          </a:xfrm>
          <a:prstGeom prst="roundRect">
            <a:avLst>
              <a:gd name="adj" fmla="val 32258"/>
            </a:avLst>
          </a:prstGeom>
          <a:solidFill>
            <a:srgbClr val="F7E6BC"/>
          </a:solidFill>
          <a:ln/>
        </p:spPr>
      </p:sp>
      <p:sp>
        <p:nvSpPr>
          <p:cNvPr id="7" name="anim-g1-745"/>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46"/>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بداية الحصة</a:t>
            </a:r>
            <a:endParaRPr lang="ar-SA" sz="2000" dirty="0"/>
          </a:p>
        </p:txBody>
      </p:sp>
      <p:sp>
        <p:nvSpPr>
          <p:cNvPr id="9" name="anim-g1-747"/>
          <p:cNvSpPr/>
          <p:nvPr/>
        </p:nvSpPr>
        <p:spPr>
          <a:xfrm>
            <a:off x="8310677" y="351129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الدخول، والجلوس، ونشاط الدقائق الأولى</a:t>
            </a:r>
            <a:endParaRPr lang="ar-SA" sz="1600" dirty="0"/>
          </a:p>
        </p:txBody>
      </p:sp>
      <p:sp>
        <p:nvSpPr>
          <p:cNvPr id="10" name="anim-g2-748"/>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49"/>
          <p:cNvSpPr/>
          <p:nvPr/>
        </p:nvSpPr>
        <p:spPr>
          <a:xfrm>
            <a:off x="6920789" y="2267712"/>
            <a:ext cx="566928" cy="566928"/>
          </a:xfrm>
          <a:prstGeom prst="roundRect">
            <a:avLst>
              <a:gd name="adj" fmla="val 32258"/>
            </a:avLst>
          </a:prstGeom>
          <a:solidFill>
            <a:srgbClr val="F7E6BC"/>
          </a:solidFill>
          <a:ln/>
        </p:spPr>
      </p:sp>
      <p:sp>
        <p:nvSpPr>
          <p:cNvPr id="12" name="anim-g2-750"/>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51"/>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الانتقال</a:t>
            </a:r>
            <a:endParaRPr lang="ar-SA" sz="2000" dirty="0"/>
          </a:p>
        </p:txBody>
      </p:sp>
      <p:sp>
        <p:nvSpPr>
          <p:cNvPr id="14" name="anim-g2-752"/>
          <p:cNvSpPr/>
          <p:nvPr/>
        </p:nvSpPr>
        <p:spPr>
          <a:xfrm>
            <a:off x="4703978" y="351129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من نشاط لآخر، أو من مكان لآخر</a:t>
            </a:r>
            <a:endParaRPr lang="ar-SA" sz="1600" dirty="0"/>
          </a:p>
        </p:txBody>
      </p:sp>
      <p:sp>
        <p:nvSpPr>
          <p:cNvPr id="15" name="anim-g3-753"/>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54"/>
          <p:cNvSpPr/>
          <p:nvPr/>
        </p:nvSpPr>
        <p:spPr>
          <a:xfrm>
            <a:off x="3314090" y="2267712"/>
            <a:ext cx="566928" cy="566928"/>
          </a:xfrm>
          <a:prstGeom prst="roundRect">
            <a:avLst>
              <a:gd name="adj" fmla="val 32258"/>
            </a:avLst>
          </a:prstGeom>
          <a:solidFill>
            <a:srgbClr val="F7E6BC"/>
          </a:solidFill>
          <a:ln/>
        </p:spPr>
      </p:sp>
      <p:sp>
        <p:nvSpPr>
          <p:cNvPr id="17" name="anim-g3-755"/>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56"/>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العمل في مجموعات</a:t>
            </a:r>
            <a:endParaRPr lang="ar-SA" sz="2000" dirty="0"/>
          </a:p>
        </p:txBody>
      </p:sp>
      <p:sp>
        <p:nvSpPr>
          <p:cNvPr id="19" name="anim-g3-757"/>
          <p:cNvSpPr/>
          <p:nvPr/>
        </p:nvSpPr>
        <p:spPr>
          <a:xfrm>
            <a:off x="1097280" y="351129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الأدوار، ومستوى الصوت، وطلب المساعدة</a:t>
            </a:r>
            <a:endParaRPr lang="ar-SA" sz="1600" dirty="0"/>
          </a:p>
        </p:txBody>
      </p:sp>
      <p:sp>
        <p:nvSpPr>
          <p:cNvPr id="20" name="anim-g4-758"/>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759"/>
          <p:cNvSpPr/>
          <p:nvPr/>
        </p:nvSpPr>
        <p:spPr>
          <a:xfrm>
            <a:off x="10527487" y="4393692"/>
            <a:ext cx="566928" cy="566928"/>
          </a:xfrm>
          <a:prstGeom prst="roundRect">
            <a:avLst>
              <a:gd name="adj" fmla="val 32258"/>
            </a:avLst>
          </a:prstGeom>
          <a:solidFill>
            <a:srgbClr val="F7E6BC"/>
          </a:solidFill>
          <a:ln/>
        </p:spPr>
      </p:sp>
      <p:sp>
        <p:nvSpPr>
          <p:cNvPr id="22" name="anim-g4-760"/>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61"/>
          <p:cNvSpPr/>
          <p:nvPr/>
        </p:nvSpPr>
        <p:spPr>
          <a:xfrm>
            <a:off x="8310677" y="507034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الأدوات</a:t>
            </a:r>
            <a:endParaRPr lang="ar-SA" sz="2000" dirty="0"/>
          </a:p>
        </p:txBody>
      </p:sp>
      <p:sp>
        <p:nvSpPr>
          <p:cNvPr id="24" name="anim-g4-762"/>
          <p:cNvSpPr/>
          <p:nvPr/>
        </p:nvSpPr>
        <p:spPr>
          <a:xfrm>
            <a:off x="8310677" y="563727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التوزيع، والجمع، والكتب والمتعلقات</a:t>
            </a:r>
            <a:endParaRPr lang="ar-SA" sz="1600" dirty="0"/>
          </a:p>
        </p:txBody>
      </p:sp>
      <p:sp>
        <p:nvSpPr>
          <p:cNvPr id="25" name="anim-g5-763"/>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764"/>
          <p:cNvSpPr/>
          <p:nvPr/>
        </p:nvSpPr>
        <p:spPr>
          <a:xfrm>
            <a:off x="6920789" y="4393692"/>
            <a:ext cx="566928" cy="566928"/>
          </a:xfrm>
          <a:prstGeom prst="roundRect">
            <a:avLst>
              <a:gd name="adj" fmla="val 32258"/>
            </a:avLst>
          </a:prstGeom>
          <a:solidFill>
            <a:srgbClr val="F7E6BC"/>
          </a:solidFill>
          <a:ln/>
        </p:spPr>
      </p:sp>
      <p:sp>
        <p:nvSpPr>
          <p:cNvPr id="27" name="anim-g5-765"/>
          <p:cNvSpPr/>
          <p:nvPr/>
        </p:nvSpPr>
        <p:spPr>
          <a:xfrm>
            <a:off x="6920789"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766"/>
          <p:cNvSpPr/>
          <p:nvPr/>
        </p:nvSpPr>
        <p:spPr>
          <a:xfrm>
            <a:off x="4703978" y="507034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الاستئذان</a:t>
            </a:r>
            <a:endParaRPr lang="ar-SA" sz="2000" dirty="0"/>
          </a:p>
        </p:txBody>
      </p:sp>
      <p:sp>
        <p:nvSpPr>
          <p:cNvPr id="29" name="anim-g5-767"/>
          <p:cNvSpPr/>
          <p:nvPr/>
        </p:nvSpPr>
        <p:spPr>
          <a:xfrm>
            <a:off x="4703978" y="563727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دورة المياه، وشرب الماء، والتأخر</a:t>
            </a:r>
            <a:endParaRPr lang="ar-SA" sz="1600" dirty="0"/>
          </a:p>
        </p:txBody>
      </p:sp>
      <p:sp>
        <p:nvSpPr>
          <p:cNvPr id="30" name="anim-g6-768"/>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769"/>
          <p:cNvSpPr/>
          <p:nvPr/>
        </p:nvSpPr>
        <p:spPr>
          <a:xfrm>
            <a:off x="3314090" y="4393692"/>
            <a:ext cx="566928" cy="566928"/>
          </a:xfrm>
          <a:prstGeom prst="roundRect">
            <a:avLst>
              <a:gd name="adj" fmla="val 32258"/>
            </a:avLst>
          </a:prstGeom>
          <a:solidFill>
            <a:srgbClr val="F7E6BC"/>
          </a:solidFill>
          <a:ln/>
        </p:spPr>
      </p:sp>
      <p:sp>
        <p:nvSpPr>
          <p:cNvPr id="32" name="anim-g6-770"/>
          <p:cNvSpPr/>
          <p:nvPr/>
        </p:nvSpPr>
        <p:spPr>
          <a:xfrm>
            <a:off x="331409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771"/>
          <p:cNvSpPr/>
          <p:nvPr/>
        </p:nvSpPr>
        <p:spPr>
          <a:xfrm>
            <a:off x="1097280" y="5070348"/>
            <a:ext cx="2783738" cy="548640"/>
          </a:xfrm>
          <a:prstGeom prst="rect">
            <a:avLst/>
          </a:prstGeom>
          <a:noFill/>
          <a:ln/>
        </p:spPr>
        <p:txBody>
          <a:bodyPr wrap="square" lIns="0" tIns="0" rIns="0" bIns="0" rtlCol="0" anchor="ctr">
            <a:normAutofit/>
          </a:bodyPr>
          <a:lstStyle/>
          <a:p>
            <a:pPr rtl="1" algn="r" indent="0" marL="0">
              <a:buNone/>
            </a:pPr>
            <a:r>
              <a:rPr lang="ar-SA" altLang="en-US" sz="2000" dirty="0">
                <a:solidFill>
                  <a:srgbClr val="101B45"/>
                </a:solidFill>
                <a:latin typeface="Cairo Black" pitchFamily="34" charset="0"/>
                <a:ea typeface="Cairo Black" pitchFamily="34" charset="-122"/>
                <a:cs typeface="Cairo Black" pitchFamily="34" charset="-120"/>
              </a:rPr>
              <a:t>نهاية الحصة</a:t>
            </a:r>
            <a:endParaRPr lang="ar-SA" sz="2000" dirty="0"/>
          </a:p>
        </p:txBody>
      </p:sp>
      <p:sp>
        <p:nvSpPr>
          <p:cNvPr id="34" name="anim-g6-772"/>
          <p:cNvSpPr/>
          <p:nvPr/>
        </p:nvSpPr>
        <p:spPr>
          <a:xfrm>
            <a:off x="1097280" y="5637276"/>
            <a:ext cx="2783738" cy="233172"/>
          </a:xfrm>
          <a:prstGeom prst="rect">
            <a:avLst/>
          </a:prstGeom>
          <a:noFill/>
          <a:ln/>
        </p:spPr>
        <p:txBody>
          <a:bodyPr wrap="square" lIns="0" tIns="0" rIns="0" bIns="0" rtlCol="0" anchor="t">
            <a:normAutofit/>
          </a:bodyPr>
          <a:lstStyle/>
          <a:p>
            <a:pPr rtl="1" algn="r" indent="0" marL="0">
              <a:lnSpc>
                <a:spcPct val="115000"/>
              </a:lnSpc>
              <a:buNone/>
            </a:pPr>
            <a:r>
              <a:rPr lang="ar-SA" altLang="en-US" sz="1600" b="1" dirty="0">
                <a:solidFill>
                  <a:srgbClr val="3B4460"/>
                </a:solidFill>
                <a:latin typeface="Cairo" pitchFamily="34" charset="0"/>
                <a:ea typeface="Cairo" pitchFamily="34" charset="-122"/>
                <a:cs typeface="Cairo" pitchFamily="34" charset="-120"/>
              </a:rPr>
              <a:t>الواجب، وترتيب المكان، والخروج</a:t>
            </a:r>
            <a:endParaRPr lang="ar-SA" sz="16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القواعد والإجراءات  ·  ٧٥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773" descr="/Users/mac/Desktop/أردوينو/المشاريع والكتب/younes-training/mawaqif/assets/scenes/firstda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٤</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أول حصة</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أول حصة  ·  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name="Slide 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774"/>
          <p:cNvSpPr/>
          <p:nvPr/>
        </p:nvSpPr>
        <p:spPr>
          <a:xfrm>
            <a:off x="11323015" y="2011680"/>
            <a:ext cx="45720" cy="845820"/>
          </a:xfrm>
          <a:prstGeom prst="rect">
            <a:avLst/>
          </a:prstGeom>
          <a:solidFill>
            <a:srgbClr val="E4DCC8"/>
          </a:solidFill>
          <a:ln/>
        </p:spPr>
      </p:sp>
      <p:sp>
        <p:nvSpPr>
          <p:cNvPr id="6" name="anim-g1-775"/>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انتقل أ. عبد العزيز، موسوعة المعرفة في تخصصه، إلى المرحلة الثانوية، واستعد جيدًا لأول حصة مع الأول الثانوي.</a:t>
            </a:r>
            <a:endParaRPr lang="ar-SA" sz="1700" dirty="0"/>
          </a:p>
        </p:txBody>
      </p:sp>
      <p:sp>
        <p:nvSpPr>
          <p:cNvPr id="7" name="anim-g2-776"/>
          <p:cNvSpPr/>
          <p:nvPr/>
        </p:nvSpPr>
        <p:spPr>
          <a:xfrm>
            <a:off x="11323015" y="3040380"/>
            <a:ext cx="45720" cy="845820"/>
          </a:xfrm>
          <a:prstGeom prst="rect">
            <a:avLst/>
          </a:prstGeom>
          <a:solidFill>
            <a:srgbClr val="E4DCC8"/>
          </a:solidFill>
          <a:ln/>
        </p:spPr>
      </p:sp>
      <p:sp>
        <p:nvSpPr>
          <p:cNvPr id="8" name="anim-g2-777"/>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لكن: لا انتباه للشرح، وأغلب الطلاب بلا كراسات، ثم بدأ طالب ثم ثانٍ ثم ثالث يستأذن للخروج.</a:t>
            </a:r>
            <a:endParaRPr lang="ar-SA" sz="1700" dirty="0"/>
          </a:p>
        </p:txBody>
      </p:sp>
      <p:sp>
        <p:nvSpPr>
          <p:cNvPr id="9" name="anim-g3-778"/>
          <p:cNvSpPr/>
          <p:nvPr/>
        </p:nvSpPr>
        <p:spPr>
          <a:xfrm>
            <a:off x="11323015" y="4069080"/>
            <a:ext cx="45720" cy="845820"/>
          </a:xfrm>
          <a:prstGeom prst="rect">
            <a:avLst/>
          </a:prstGeom>
          <a:solidFill>
            <a:srgbClr val="E4DCC8"/>
          </a:solidFill>
          <a:ln/>
        </p:spPr>
      </p:sp>
      <p:sp>
        <p:nvSpPr>
          <p:cNvPr id="10" name="anim-g3-779"/>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قرر: «سأعلن كل قاعدة فور وقوع المخالفة، وخلال أسابيع تكتمل القواعد».</a:t>
            </a:r>
            <a:endParaRPr lang="ar-SA" sz="1700" dirty="0"/>
          </a:p>
        </p:txBody>
      </p:sp>
      <p:sp>
        <p:nvSpPr>
          <p:cNvPr id="11" name="anim-g4-780"/>
          <p:cNvSpPr/>
          <p:nvPr/>
        </p:nvSpPr>
        <p:spPr>
          <a:xfrm>
            <a:off x="11323015" y="5097780"/>
            <a:ext cx="45720" cy="845820"/>
          </a:xfrm>
          <a:prstGeom prst="rect">
            <a:avLst/>
          </a:prstGeom>
          <a:solidFill>
            <a:srgbClr val="D64545"/>
          </a:solidFill>
          <a:ln/>
        </p:spPr>
      </p:sp>
      <p:sp>
        <p:nvSpPr>
          <p:cNvPr id="12" name="anim-g4-781"/>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بعد أسابيع صار الفصل مضرب المثل في الفوضى… وقدّم طلبًا بالاعتذار عن تدريسه.</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firstday.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أين كان الخطأ؟</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الطلاب صعبون، ولا ذنب للمعلم</a:t>
            </a:r>
            <a:endParaRPr lang="ar-SA" sz="2300" dirty="0"/>
          </a:p>
        </p:txBody>
      </p:sp>
      <p:sp>
        <p:nvSpPr>
          <p:cNvPr id="9" name="anim-g1-782"/>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783"/>
          <p:cNvSpPr/>
          <p:nvPr/>
        </p:nvSpPr>
        <p:spPr>
          <a:xfrm>
            <a:off x="10231831" y="2194560"/>
            <a:ext cx="954024" cy="954024"/>
          </a:xfrm>
          <a:prstGeom prst="roundRect">
            <a:avLst>
              <a:gd name="adj" fmla="val 11502"/>
            </a:avLst>
          </a:prstGeom>
          <a:solidFill>
            <a:srgbClr val="A3A9BA"/>
          </a:solidFill>
          <a:ln/>
        </p:spPr>
      </p:sp>
      <p:sp>
        <p:nvSpPr>
          <p:cNvPr id="11" name="anim-g1-784"/>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785"/>
          <p:cNvSpPr/>
          <p:nvPr/>
        </p:nvSpPr>
        <p:spPr>
          <a:xfrm>
            <a:off x="1097280" y="2112264"/>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الطلاب صعبون، ولا ذنب للمعلم</a:t>
            </a:r>
            <a:endParaRPr lang="ar-SA" sz="2100" dirty="0"/>
          </a:p>
        </p:txBody>
      </p:sp>
      <p:sp>
        <p:nvSpPr>
          <p:cNvPr id="13" name="anim-g1-786"/>
          <p:cNvSpPr/>
          <p:nvPr/>
        </p:nvSpPr>
        <p:spPr>
          <a:xfrm>
            <a:off x="1097280" y="2720706"/>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المعلمون الآخرون لا يواجهون المشكلة نفسها في الفصل ذاته</a:t>
            </a:r>
            <a:endParaRPr lang="ar-SA" sz="13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القواعد جاءت متأخرة وبعد المخالفة، فبدت عقابًا شخصيًا</a:t>
            </a:r>
            <a:endParaRPr lang="ar-SA" sz="2300" dirty="0"/>
          </a:p>
        </p:txBody>
      </p:sp>
      <p:sp>
        <p:nvSpPr>
          <p:cNvPr id="18" name="anim-g1-787"/>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788"/>
          <p:cNvSpPr/>
          <p:nvPr/>
        </p:nvSpPr>
        <p:spPr>
          <a:xfrm>
            <a:off x="10231831" y="3569208"/>
            <a:ext cx="954024" cy="954024"/>
          </a:xfrm>
          <a:prstGeom prst="roundRect">
            <a:avLst>
              <a:gd name="adj" fmla="val 11502"/>
            </a:avLst>
          </a:prstGeom>
          <a:solidFill>
            <a:srgbClr val="2E9E6B"/>
          </a:solidFill>
          <a:ln/>
        </p:spPr>
      </p:sp>
      <p:sp>
        <p:nvSpPr>
          <p:cNvPr id="20" name="anim-g1-789"/>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790"/>
          <p:cNvSpPr/>
          <p:nvPr/>
        </p:nvSpPr>
        <p:spPr>
          <a:xfrm>
            <a:off x="1097280" y="3486912"/>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القواعد جاءت متأخرة وبعد المخالفة، فبدت عقابًا شخصيًا</a:t>
            </a:r>
            <a:endParaRPr lang="ar-SA" sz="2100" dirty="0"/>
          </a:p>
        </p:txBody>
      </p:sp>
      <p:sp>
        <p:nvSpPr>
          <p:cNvPr id="22" name="anim-g1-791"/>
          <p:cNvSpPr/>
          <p:nvPr/>
        </p:nvSpPr>
        <p:spPr>
          <a:xfrm>
            <a:off x="1097280" y="4095354"/>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القاعدة التي تُعلن بعد الخطأ تُفهم انتقامًا، لا نظامًا</a:t>
            </a:r>
            <a:endParaRPr lang="ar-SA" sz="13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كان عليه أن يكون أشد قسوة من اليوم الأول</a:t>
            </a:r>
            <a:endParaRPr lang="ar-SA" sz="2300" dirty="0"/>
          </a:p>
        </p:txBody>
      </p:sp>
      <p:sp>
        <p:nvSpPr>
          <p:cNvPr id="27" name="anim-g1-792"/>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793"/>
          <p:cNvSpPr/>
          <p:nvPr/>
        </p:nvSpPr>
        <p:spPr>
          <a:xfrm>
            <a:off x="10231831" y="4943856"/>
            <a:ext cx="954024" cy="954024"/>
          </a:xfrm>
          <a:prstGeom prst="roundRect">
            <a:avLst>
              <a:gd name="adj" fmla="val 11502"/>
            </a:avLst>
          </a:prstGeom>
          <a:solidFill>
            <a:srgbClr val="A3A9BA"/>
          </a:solidFill>
          <a:ln/>
        </p:spPr>
      </p:sp>
      <p:sp>
        <p:nvSpPr>
          <p:cNvPr id="29" name="anim-g1-794"/>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795"/>
          <p:cNvSpPr/>
          <p:nvPr/>
        </p:nvSpPr>
        <p:spPr>
          <a:xfrm>
            <a:off x="1097280" y="4861560"/>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كان عليه أن يكون أشد قسوة من اليوم الأول</a:t>
            </a:r>
            <a:endParaRPr lang="ar-SA" sz="2100" dirty="0"/>
          </a:p>
        </p:txBody>
      </p:sp>
      <p:sp>
        <p:nvSpPr>
          <p:cNvPr id="31" name="anim-g1-796"/>
          <p:cNvSpPr/>
          <p:nvPr/>
        </p:nvSpPr>
        <p:spPr>
          <a:xfrm>
            <a:off x="1097280" y="5470002"/>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القسوة تضبط لحظيًا، أما الوضوح فيضبط دائمًا</a:t>
            </a:r>
            <a:endParaRPr lang="ar-SA" sz="13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انفلت الفصل؟</a:t>
            </a:r>
            <a:endParaRPr lang="ar-SA" sz="3800" dirty="0"/>
          </a:p>
        </p:txBody>
      </p:sp>
      <p:sp>
        <p:nvSpPr>
          <p:cNvPr id="5" name="anim-g1-797"/>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798"/>
          <p:cNvSpPr/>
          <p:nvPr/>
        </p:nvSpPr>
        <p:spPr>
          <a:xfrm>
            <a:off x="9816198" y="2194560"/>
            <a:ext cx="640080" cy="640080"/>
          </a:xfrm>
          <a:prstGeom prst="roundRect">
            <a:avLst>
              <a:gd name="adj" fmla="val 25714"/>
            </a:avLst>
          </a:prstGeom>
          <a:solidFill>
            <a:srgbClr val="F7E6BC"/>
          </a:solidFill>
          <a:ln/>
        </p:spPr>
      </p:sp>
      <p:sp>
        <p:nvSpPr>
          <p:cNvPr id="7" name="anim-g1-799"/>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800"/>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غياب البداية</a:t>
            </a:r>
            <a:endParaRPr lang="ar-SA" sz="2200" dirty="0"/>
          </a:p>
        </p:txBody>
      </p:sp>
      <p:sp>
        <p:nvSpPr>
          <p:cNvPr id="9" name="anim-g1-801"/>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لم يعرّفهم بنفسه ولا بنظامه</a:t>
            </a:r>
            <a:endParaRPr lang="ar-SA" sz="1600" dirty="0"/>
          </a:p>
        </p:txBody>
      </p:sp>
      <p:sp>
        <p:nvSpPr>
          <p:cNvPr id="10" name="anim-g2-802"/>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803"/>
          <p:cNvSpPr/>
          <p:nvPr/>
        </p:nvSpPr>
        <p:spPr>
          <a:xfrm>
            <a:off x="7122604" y="2194560"/>
            <a:ext cx="640080" cy="640080"/>
          </a:xfrm>
          <a:prstGeom prst="roundRect">
            <a:avLst>
              <a:gd name="adj" fmla="val 25714"/>
            </a:avLst>
          </a:prstGeom>
          <a:solidFill>
            <a:srgbClr val="F7E6BC"/>
          </a:solidFill>
          <a:ln/>
        </p:spPr>
      </p:sp>
      <p:sp>
        <p:nvSpPr>
          <p:cNvPr id="12" name="anim-g2-804"/>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805"/>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قواعد متأخرة</a:t>
            </a:r>
            <a:endParaRPr lang="ar-SA" sz="2200" dirty="0"/>
          </a:p>
        </p:txBody>
      </p:sp>
      <p:sp>
        <p:nvSpPr>
          <p:cNvPr id="14" name="anim-g2-806"/>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كل قاعدة جاءت بعد مخالفة</a:t>
            </a:r>
            <a:endParaRPr lang="ar-SA" sz="1600" dirty="0"/>
          </a:p>
        </p:txBody>
      </p:sp>
      <p:sp>
        <p:nvSpPr>
          <p:cNvPr id="15" name="anim-g3-807"/>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808"/>
          <p:cNvSpPr/>
          <p:nvPr/>
        </p:nvSpPr>
        <p:spPr>
          <a:xfrm>
            <a:off x="4429011" y="2194560"/>
            <a:ext cx="640080" cy="640080"/>
          </a:xfrm>
          <a:prstGeom prst="roundRect">
            <a:avLst>
              <a:gd name="adj" fmla="val 25714"/>
            </a:avLst>
          </a:prstGeom>
          <a:solidFill>
            <a:srgbClr val="F7E6BC"/>
          </a:solidFill>
          <a:ln/>
        </p:spPr>
      </p:sp>
      <p:sp>
        <p:nvSpPr>
          <p:cNvPr id="17" name="anim-g3-809"/>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810"/>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اختبار الحدود</a:t>
            </a:r>
            <a:endParaRPr lang="ar-SA" sz="2200" dirty="0"/>
          </a:p>
        </p:txBody>
      </p:sp>
      <p:sp>
        <p:nvSpPr>
          <p:cNvPr id="19" name="anim-g3-811"/>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الطلاب يختبرون كل معلم جديد</a:t>
            </a:r>
            <a:endParaRPr lang="ar-SA" sz="1600" dirty="0"/>
          </a:p>
        </p:txBody>
      </p:sp>
      <p:sp>
        <p:nvSpPr>
          <p:cNvPr id="20" name="anim-g4-812"/>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813"/>
          <p:cNvSpPr/>
          <p:nvPr/>
        </p:nvSpPr>
        <p:spPr>
          <a:xfrm>
            <a:off x="1735417" y="2194560"/>
            <a:ext cx="640080" cy="640080"/>
          </a:xfrm>
          <a:prstGeom prst="roundRect">
            <a:avLst>
              <a:gd name="adj" fmla="val 25714"/>
            </a:avLst>
          </a:prstGeom>
          <a:solidFill>
            <a:srgbClr val="F7E6BC"/>
          </a:solidFill>
          <a:ln/>
        </p:spPr>
      </p:sp>
      <p:sp>
        <p:nvSpPr>
          <p:cNvPr id="22" name="anim-g4-814"/>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815"/>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المحتوى أولًا</a:t>
            </a:r>
            <a:endParaRPr lang="ar-SA" sz="2200" dirty="0"/>
          </a:p>
        </p:txBody>
      </p:sp>
      <p:sp>
        <p:nvSpPr>
          <p:cNvPr id="24" name="anim-g4-816"/>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استعد للدرس ولم يستعد للإدارة</a:t>
            </a:r>
            <a:endParaRPr lang="ar-SA" sz="1600" dirty="0"/>
          </a:p>
        </p:txBody>
      </p:sp>
      <p:sp>
        <p:nvSpPr>
          <p:cNvPr id="25" name="anim-g5-817"/>
          <p:cNvSpPr/>
          <p:nvPr/>
        </p:nvSpPr>
        <p:spPr>
          <a:xfrm>
            <a:off x="822960" y="4754880"/>
            <a:ext cx="10545775" cy="1051560"/>
          </a:xfrm>
          <a:prstGeom prst="roundRect">
            <a:avLst>
              <a:gd name="adj" fmla="val 17391"/>
            </a:avLst>
          </a:prstGeom>
          <a:solidFill>
            <a:srgbClr val="101B45"/>
          </a:solidFill>
          <a:ln/>
        </p:spPr>
      </p:sp>
      <p:sp>
        <p:nvSpPr>
          <p:cNvPr id="26" name="anim-g5-818"/>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الأيام الأولى لا تُعوَّض…</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من يضع القواعد أولًا يكسب العام كله</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name="Slide 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خطة الحصة الأولى</a:t>
            </a:r>
            <a:endParaRPr lang="ar-SA" sz="1600" dirty="0"/>
          </a:p>
        </p:txBody>
      </p:sp>
      <p:sp>
        <p:nvSpPr>
          <p:cNvPr id="4" name="Shape 2"/>
          <p:cNvSpPr/>
          <p:nvPr/>
        </p:nvSpPr>
        <p:spPr>
          <a:xfrm>
            <a:off x="822960" y="457200"/>
            <a:ext cx="2212848" cy="457200"/>
          </a:xfrm>
          <a:prstGeom prst="roundRect">
            <a:avLst>
              <a:gd name="adj" fmla="val 50000"/>
            </a:avLst>
          </a:prstGeom>
          <a:solidFill>
            <a:srgbClr val="FBECEC"/>
          </a:solidFill>
          <a:ln/>
        </p:spPr>
      </p:sp>
      <p:sp>
        <p:nvSpPr>
          <p:cNvPr id="5" name="Text 3"/>
          <p:cNvSpPr/>
          <p:nvPr/>
        </p:nvSpPr>
        <p:spPr>
          <a:xfrm>
            <a:off x="822960" y="457200"/>
            <a:ext cx="221284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الحصة الأولى</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حصة كما ينبغي</a:t>
            </a:r>
            <a:endParaRPr lang="ar-SA" sz="3800" dirty="0"/>
          </a:p>
        </p:txBody>
      </p:sp>
      <p:sp>
        <p:nvSpPr>
          <p:cNvPr id="7" name="anim-g1-819"/>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820"/>
          <p:cNvSpPr/>
          <p:nvPr/>
        </p:nvSpPr>
        <p:spPr>
          <a:xfrm>
            <a:off x="9747618" y="2423160"/>
            <a:ext cx="777240" cy="777240"/>
          </a:xfrm>
          <a:prstGeom prst="ellipse">
            <a:avLst/>
          </a:prstGeom>
          <a:solidFill>
            <a:srgbClr val="D9AE4B"/>
          </a:solidFill>
          <a:ln/>
        </p:spPr>
      </p:sp>
      <p:sp>
        <p:nvSpPr>
          <p:cNvPr id="9" name="anim-g1-821"/>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822"/>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عرّف بنفسك</a:t>
            </a:r>
            <a:endParaRPr lang="ar-SA" sz="2500" dirty="0"/>
          </a:p>
        </p:txBody>
      </p:sp>
      <p:sp>
        <p:nvSpPr>
          <p:cNvPr id="11" name="anim-g1-823"/>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من أنت، ولماذا تحب مادتك</a:t>
            </a:r>
            <a:endParaRPr lang="ar-SA" sz="1700" dirty="0"/>
          </a:p>
        </p:txBody>
      </p:sp>
      <p:sp>
        <p:nvSpPr>
          <p:cNvPr id="12" name="anim-g2-824"/>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825"/>
          <p:cNvSpPr/>
          <p:nvPr/>
        </p:nvSpPr>
        <p:spPr>
          <a:xfrm>
            <a:off x="7054024" y="2423160"/>
            <a:ext cx="777240" cy="777240"/>
          </a:xfrm>
          <a:prstGeom prst="ellipse">
            <a:avLst/>
          </a:prstGeom>
          <a:solidFill>
            <a:srgbClr val="D9AE4B"/>
          </a:solidFill>
          <a:ln/>
        </p:spPr>
      </p:sp>
      <p:sp>
        <p:nvSpPr>
          <p:cNvPr id="14" name="anim-g2-826"/>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827"/>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القواعد</a:t>
            </a:r>
            <a:endParaRPr lang="ar-SA" sz="2500" dirty="0"/>
          </a:p>
        </p:txBody>
      </p:sp>
      <p:sp>
        <p:nvSpPr>
          <p:cNvPr id="16" name="anim-g2-828"/>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ثلاث إلى خمس قواعد تتفقون عليها</a:t>
            </a:r>
            <a:endParaRPr lang="ar-SA" sz="1700" dirty="0"/>
          </a:p>
        </p:txBody>
      </p:sp>
      <p:sp>
        <p:nvSpPr>
          <p:cNvPr id="17" name="anim-g3-829"/>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830"/>
          <p:cNvSpPr/>
          <p:nvPr/>
        </p:nvSpPr>
        <p:spPr>
          <a:xfrm>
            <a:off x="4360431" y="2423160"/>
            <a:ext cx="777240" cy="777240"/>
          </a:xfrm>
          <a:prstGeom prst="ellipse">
            <a:avLst/>
          </a:prstGeom>
          <a:solidFill>
            <a:srgbClr val="D9AE4B"/>
          </a:solidFill>
          <a:ln/>
        </p:spPr>
      </p:sp>
      <p:sp>
        <p:nvSpPr>
          <p:cNvPr id="19" name="anim-g3-831"/>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832"/>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الإجراءات</a:t>
            </a:r>
            <a:endParaRPr lang="ar-SA" sz="2500" dirty="0"/>
          </a:p>
        </p:txBody>
      </p:sp>
      <p:sp>
        <p:nvSpPr>
          <p:cNvPr id="21" name="anim-g3-833"/>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تدريب على الدخول والخروج والأدوات</a:t>
            </a:r>
            <a:endParaRPr lang="ar-SA" sz="1700" dirty="0"/>
          </a:p>
        </p:txBody>
      </p:sp>
      <p:sp>
        <p:nvSpPr>
          <p:cNvPr id="22" name="anim-g4-834"/>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835"/>
          <p:cNvSpPr/>
          <p:nvPr/>
        </p:nvSpPr>
        <p:spPr>
          <a:xfrm>
            <a:off x="1666837" y="2423160"/>
            <a:ext cx="777240" cy="777240"/>
          </a:xfrm>
          <a:prstGeom prst="ellipse">
            <a:avLst/>
          </a:prstGeom>
          <a:solidFill>
            <a:srgbClr val="D9AE4B"/>
          </a:solidFill>
          <a:ln/>
        </p:spPr>
      </p:sp>
      <p:sp>
        <p:nvSpPr>
          <p:cNvPr id="24" name="anim-g4-836"/>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837"/>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نجاح مبكر</a:t>
            </a:r>
            <a:endParaRPr lang="ar-SA" sz="2500" dirty="0"/>
          </a:p>
        </p:txBody>
      </p:sp>
      <p:sp>
        <p:nvSpPr>
          <p:cNvPr id="26" name="anim-g4-838"/>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نشاط يشعرون فيه بالإنجاز من اليوم الأول</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839"/>
          <p:cNvSpPr/>
          <p:nvPr/>
        </p:nvSpPr>
        <p:spPr>
          <a:xfrm>
            <a:off x="9768535" y="2130552"/>
            <a:ext cx="1600200" cy="819912"/>
          </a:xfrm>
          <a:prstGeom prst="roundRect">
            <a:avLst>
              <a:gd name="adj" fmla="val 16729"/>
            </a:avLst>
          </a:prstGeom>
          <a:solidFill>
            <a:srgbClr val="E9EDF9"/>
          </a:solidFill>
          <a:ln/>
        </p:spPr>
      </p:sp>
      <p:sp>
        <p:nvSpPr>
          <p:cNvPr id="6" name="anim-g1-840"/>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الدقيقة الأولى</a:t>
            </a:r>
            <a:endParaRPr lang="ar-SA" sz="1400" dirty="0"/>
          </a:p>
        </p:txBody>
      </p:sp>
      <p:sp>
        <p:nvSpPr>
          <p:cNvPr id="7" name="anim-g1-841"/>
          <p:cNvSpPr/>
          <p:nvPr/>
        </p:nvSpPr>
        <p:spPr>
          <a:xfrm>
            <a:off x="822960" y="2057400"/>
            <a:ext cx="8716975" cy="966216"/>
          </a:xfrm>
          <a:prstGeom prst="roundRect">
            <a:avLst>
              <a:gd name="adj" fmla="val 20820"/>
            </a:avLst>
          </a:prstGeom>
          <a:solidFill>
            <a:srgbClr val="101B45"/>
          </a:solidFill>
          <a:ln/>
        </p:spPr>
      </p:sp>
      <p:sp>
        <p:nvSpPr>
          <p:cNvPr id="8" name="anim-g1-842"/>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أهلًا بكم. هذا العام سنعمل معًا بنظام واضح، وسأشرح لكم لماذا</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843"/>
          <p:cNvSpPr/>
          <p:nvPr/>
        </p:nvSpPr>
        <p:spPr>
          <a:xfrm>
            <a:off x="9768535" y="3243072"/>
            <a:ext cx="1600200" cy="819912"/>
          </a:xfrm>
          <a:prstGeom prst="roundRect">
            <a:avLst>
              <a:gd name="adj" fmla="val 16729"/>
            </a:avLst>
          </a:prstGeom>
          <a:solidFill>
            <a:srgbClr val="E9EDF9"/>
          </a:solidFill>
          <a:ln/>
        </p:spPr>
      </p:sp>
      <p:sp>
        <p:nvSpPr>
          <p:cNvPr id="10" name="anim-g2-844"/>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عند الاستئذان المتكرر</a:t>
            </a:r>
            <a:endParaRPr lang="ar-SA" sz="1400" dirty="0"/>
          </a:p>
        </p:txBody>
      </p:sp>
      <p:sp>
        <p:nvSpPr>
          <p:cNvPr id="11" name="anim-g2-845"/>
          <p:cNvSpPr/>
          <p:nvPr/>
        </p:nvSpPr>
        <p:spPr>
          <a:xfrm>
            <a:off x="822960" y="3169920"/>
            <a:ext cx="8716975" cy="966216"/>
          </a:xfrm>
          <a:prstGeom prst="roundRect">
            <a:avLst>
              <a:gd name="adj" fmla="val 20820"/>
            </a:avLst>
          </a:prstGeom>
          <a:solidFill>
            <a:srgbClr val="101B45"/>
          </a:solidFill>
          <a:ln/>
        </p:spPr>
      </p:sp>
      <p:sp>
        <p:nvSpPr>
          <p:cNvPr id="12" name="anim-g2-846"/>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الخروج لشخص واحد في كل مرة، بعد انتهاء الشرح. شكرًا لتفهمكم</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3" name="anim-g3-847"/>
          <p:cNvSpPr/>
          <p:nvPr/>
        </p:nvSpPr>
        <p:spPr>
          <a:xfrm>
            <a:off x="9768535" y="4355592"/>
            <a:ext cx="1600200" cy="819912"/>
          </a:xfrm>
          <a:prstGeom prst="roundRect">
            <a:avLst>
              <a:gd name="adj" fmla="val 16729"/>
            </a:avLst>
          </a:prstGeom>
          <a:solidFill>
            <a:srgbClr val="E9EDF9"/>
          </a:solidFill>
          <a:ln/>
        </p:spPr>
      </p:sp>
      <p:sp>
        <p:nvSpPr>
          <p:cNvPr id="14" name="anim-g3-848"/>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المدير لأ. عبد العزيز</a:t>
            </a:r>
            <a:endParaRPr lang="ar-SA" sz="1400" dirty="0"/>
          </a:p>
        </p:txBody>
      </p:sp>
      <p:sp>
        <p:nvSpPr>
          <p:cNvPr id="15" name="anim-g3-849"/>
          <p:cNvSpPr/>
          <p:nvPr/>
        </p:nvSpPr>
        <p:spPr>
          <a:xfrm>
            <a:off x="822960" y="4282440"/>
            <a:ext cx="8716975" cy="966216"/>
          </a:xfrm>
          <a:prstGeom prst="roundRect">
            <a:avLst>
              <a:gd name="adj" fmla="val 20820"/>
            </a:avLst>
          </a:prstGeom>
          <a:solidFill>
            <a:srgbClr val="101B45"/>
          </a:solidFill>
          <a:ln/>
        </p:spPr>
      </p:sp>
      <p:sp>
        <p:nvSpPr>
          <p:cNvPr id="16" name="anim-g3-850"/>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لن أقبل اعتذارك لأني أثق بك. سنبدأ معًا من جديد، وسأحضر معك الأسبوع القادم</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7" name="anim-g4-851"/>
          <p:cNvSpPr/>
          <p:nvPr/>
        </p:nvSpPr>
        <p:spPr>
          <a:xfrm>
            <a:off x="822960" y="5532120"/>
            <a:ext cx="10545775" cy="548640"/>
          </a:xfrm>
          <a:prstGeom prst="roundRect">
            <a:avLst>
              <a:gd name="adj" fmla="val 20000"/>
            </a:avLst>
          </a:prstGeom>
          <a:solidFill>
            <a:srgbClr val="FBECEC"/>
          </a:solidFill>
          <a:ln/>
        </p:spPr>
      </p:sp>
      <p:sp>
        <p:nvSpPr>
          <p:cNvPr id="18" name="anim-g4-852"/>
          <p:cNvSpPr/>
          <p:nvPr/>
        </p:nvSpPr>
        <p:spPr>
          <a:xfrm>
            <a:off x="11295583" y="5532120"/>
            <a:ext cx="73152" cy="548640"/>
          </a:xfrm>
          <a:prstGeom prst="rect">
            <a:avLst/>
          </a:prstGeom>
          <a:solidFill>
            <a:srgbClr val="D64545"/>
          </a:solidFill>
          <a:ln/>
        </p:spPr>
      </p:sp>
      <p:sp>
        <p:nvSpPr>
          <p:cNvPr id="19" name="anim-g4-853"/>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إعلان قاعدة جديدة في لحظة غضب</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name="Slide 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854"/>
          <p:cNvSpPr/>
          <p:nvPr/>
        </p:nvSpPr>
        <p:spPr>
          <a:xfrm>
            <a:off x="6415888" y="2194560"/>
            <a:ext cx="4952848" cy="804672"/>
          </a:xfrm>
          <a:prstGeom prst="roundRect">
            <a:avLst>
              <a:gd name="adj" fmla="val 15909"/>
            </a:avLst>
          </a:prstGeom>
          <a:solidFill>
            <a:srgbClr val="FBECEC"/>
          </a:solidFill>
          <a:ln/>
        </p:spPr>
      </p:sp>
      <p:sp>
        <p:nvSpPr>
          <p:cNvPr id="6" name="anim-g1-855"/>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البدء بالشرح مباشرة</a:t>
            </a:r>
            <a:endParaRPr lang="ar-SA" sz="1900" dirty="0"/>
          </a:p>
        </p:txBody>
      </p:sp>
      <p:sp>
        <p:nvSpPr>
          <p:cNvPr id="7" name="anim-g1-856"/>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857"/>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858"/>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859"/>
          <p:cNvSpPr/>
          <p:nvPr/>
        </p:nvSpPr>
        <p:spPr>
          <a:xfrm>
            <a:off x="822960" y="2194560"/>
            <a:ext cx="4952848" cy="804672"/>
          </a:xfrm>
          <a:prstGeom prst="roundRect">
            <a:avLst>
              <a:gd name="adj" fmla="val 15909"/>
            </a:avLst>
          </a:prstGeom>
          <a:solidFill>
            <a:srgbClr val="E6F4EC"/>
          </a:solidFill>
          <a:ln/>
        </p:spPr>
      </p:sp>
      <p:sp>
        <p:nvSpPr>
          <p:cNvPr id="11" name="anim-g2-860"/>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البدء بالتعارف والقواعد</a:t>
            </a:r>
            <a:endParaRPr lang="ar-SA" sz="1900" dirty="0"/>
          </a:p>
        </p:txBody>
      </p:sp>
      <p:sp>
        <p:nvSpPr>
          <p:cNvPr id="12" name="anim-g3-861"/>
          <p:cNvSpPr/>
          <p:nvPr/>
        </p:nvSpPr>
        <p:spPr>
          <a:xfrm>
            <a:off x="6415888" y="3154680"/>
            <a:ext cx="4952848" cy="804672"/>
          </a:xfrm>
          <a:prstGeom prst="roundRect">
            <a:avLst>
              <a:gd name="adj" fmla="val 15909"/>
            </a:avLst>
          </a:prstGeom>
          <a:solidFill>
            <a:srgbClr val="FBECEC"/>
          </a:solidFill>
          <a:ln/>
        </p:spPr>
      </p:sp>
      <p:sp>
        <p:nvSpPr>
          <p:cNvPr id="13" name="anim-g3-862"/>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قاعدة جديدة بعد كل مخالفة</a:t>
            </a:r>
            <a:endParaRPr lang="ar-SA" sz="1900" dirty="0"/>
          </a:p>
        </p:txBody>
      </p:sp>
      <p:sp>
        <p:nvSpPr>
          <p:cNvPr id="14" name="anim-g3-863"/>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864"/>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865"/>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866"/>
          <p:cNvSpPr/>
          <p:nvPr/>
        </p:nvSpPr>
        <p:spPr>
          <a:xfrm>
            <a:off x="822960" y="3154680"/>
            <a:ext cx="4952848" cy="804672"/>
          </a:xfrm>
          <a:prstGeom prst="roundRect">
            <a:avLst>
              <a:gd name="adj" fmla="val 15909"/>
            </a:avLst>
          </a:prstGeom>
          <a:solidFill>
            <a:srgbClr val="E6F4EC"/>
          </a:solidFill>
          <a:ln/>
        </p:spPr>
      </p:sp>
      <p:sp>
        <p:nvSpPr>
          <p:cNvPr id="18" name="anim-g4-867"/>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كل القواعد معلنة من اليوم الأول</a:t>
            </a:r>
            <a:endParaRPr lang="ar-SA" sz="1900" dirty="0"/>
          </a:p>
        </p:txBody>
      </p:sp>
      <p:sp>
        <p:nvSpPr>
          <p:cNvPr id="19" name="anim-g5-868"/>
          <p:cNvSpPr/>
          <p:nvPr/>
        </p:nvSpPr>
        <p:spPr>
          <a:xfrm>
            <a:off x="6415888" y="4114800"/>
            <a:ext cx="4952848" cy="804672"/>
          </a:xfrm>
          <a:prstGeom prst="roundRect">
            <a:avLst>
              <a:gd name="adj" fmla="val 15909"/>
            </a:avLst>
          </a:prstGeom>
          <a:solidFill>
            <a:srgbClr val="FBECEC"/>
          </a:solidFill>
          <a:ln/>
        </p:spPr>
      </p:sp>
      <p:sp>
        <p:nvSpPr>
          <p:cNvPr id="20" name="anim-g5-869"/>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قبول اعتذار المعلم ونقله</a:t>
            </a:r>
            <a:endParaRPr lang="ar-SA" sz="1900" dirty="0"/>
          </a:p>
        </p:txBody>
      </p:sp>
      <p:sp>
        <p:nvSpPr>
          <p:cNvPr id="21" name="anim-g5-870"/>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871"/>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872"/>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873"/>
          <p:cNvSpPr/>
          <p:nvPr/>
        </p:nvSpPr>
        <p:spPr>
          <a:xfrm>
            <a:off x="822960" y="4114800"/>
            <a:ext cx="4952848" cy="804672"/>
          </a:xfrm>
          <a:prstGeom prst="roundRect">
            <a:avLst>
              <a:gd name="adj" fmla="val 15909"/>
            </a:avLst>
          </a:prstGeom>
          <a:solidFill>
            <a:srgbClr val="E6F4EC"/>
          </a:solidFill>
          <a:ln/>
        </p:spPr>
      </p:sp>
      <p:sp>
        <p:nvSpPr>
          <p:cNvPr id="25" name="anim-g6-874"/>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دعم مستمر وبداية جديدة للفصل</a:t>
            </a:r>
            <a:endParaRPr lang="ar-SA" sz="19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name="Slide 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دور المدير</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يدعم المدير أ. عبد العزيز؟</a:t>
            </a:r>
            <a:endParaRPr lang="ar-SA" sz="3800" dirty="0"/>
          </a:p>
        </p:txBody>
      </p:sp>
      <p:sp>
        <p:nvSpPr>
          <p:cNvPr id="5" name="anim-g1-875"/>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876"/>
          <p:cNvSpPr/>
          <p:nvPr/>
        </p:nvSpPr>
        <p:spPr>
          <a:xfrm>
            <a:off x="10362895" y="2404872"/>
            <a:ext cx="731520" cy="731520"/>
          </a:xfrm>
          <a:prstGeom prst="roundRect">
            <a:avLst>
              <a:gd name="adj" fmla="val 25000"/>
            </a:avLst>
          </a:prstGeom>
          <a:solidFill>
            <a:srgbClr val="F7E6BC"/>
          </a:solidFill>
          <a:ln/>
        </p:spPr>
      </p:sp>
      <p:sp>
        <p:nvSpPr>
          <p:cNvPr id="7" name="anim-g1-877"/>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878"/>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زيارة داعمة</a:t>
            </a:r>
            <a:endParaRPr lang="ar-SA" sz="2300" dirty="0"/>
          </a:p>
        </p:txBody>
      </p:sp>
      <p:sp>
        <p:nvSpPr>
          <p:cNvPr id="9" name="anim-g1-879"/>
          <p:cNvSpPr/>
          <p:nvPr/>
        </p:nvSpPr>
        <p:spPr>
          <a:xfrm>
            <a:off x="9212351"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لا لتقييمه، بل لملاحظة ما يحدث ومساعدته</a:t>
            </a:r>
            <a:endParaRPr lang="ar-SA" sz="1800" dirty="0"/>
          </a:p>
        </p:txBody>
      </p:sp>
      <p:sp>
        <p:nvSpPr>
          <p:cNvPr id="10" name="anim-g2-880"/>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81"/>
          <p:cNvSpPr/>
          <p:nvPr/>
        </p:nvSpPr>
        <p:spPr>
          <a:xfrm>
            <a:off x="7657871" y="2404872"/>
            <a:ext cx="731520" cy="731520"/>
          </a:xfrm>
          <a:prstGeom prst="roundRect">
            <a:avLst>
              <a:gd name="adj" fmla="val 25000"/>
            </a:avLst>
          </a:prstGeom>
          <a:solidFill>
            <a:srgbClr val="F7E6BC"/>
          </a:solidFill>
          <a:ln/>
        </p:spPr>
      </p:sp>
      <p:sp>
        <p:nvSpPr>
          <p:cNvPr id="12" name="anim-g2-882"/>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883"/>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زميل خبير</a:t>
            </a:r>
            <a:endParaRPr lang="ar-SA" sz="2300" dirty="0"/>
          </a:p>
        </p:txBody>
      </p:sp>
      <p:sp>
        <p:nvSpPr>
          <p:cNvPr id="14" name="anim-g2-884"/>
          <p:cNvSpPr/>
          <p:nvPr/>
        </p:nvSpPr>
        <p:spPr>
          <a:xfrm>
            <a:off x="6507328"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يشاركه حصة ويعرض عليه أساليبه</a:t>
            </a:r>
            <a:endParaRPr lang="ar-SA" sz="1800" dirty="0"/>
          </a:p>
        </p:txBody>
      </p:sp>
      <p:sp>
        <p:nvSpPr>
          <p:cNvPr id="15" name="anim-g3-885"/>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886"/>
          <p:cNvSpPr/>
          <p:nvPr/>
        </p:nvSpPr>
        <p:spPr>
          <a:xfrm>
            <a:off x="4952848" y="2404872"/>
            <a:ext cx="731520" cy="731520"/>
          </a:xfrm>
          <a:prstGeom prst="roundRect">
            <a:avLst>
              <a:gd name="adj" fmla="val 25000"/>
            </a:avLst>
          </a:prstGeom>
          <a:solidFill>
            <a:srgbClr val="F7E6BC"/>
          </a:solidFill>
          <a:ln/>
        </p:spPr>
      </p:sp>
      <p:sp>
        <p:nvSpPr>
          <p:cNvPr id="17" name="anim-g3-887"/>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888"/>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إعادة إطلاق</a:t>
            </a:r>
            <a:endParaRPr lang="ar-SA" sz="2300" dirty="0"/>
          </a:p>
        </p:txBody>
      </p:sp>
      <p:sp>
        <p:nvSpPr>
          <p:cNvPr id="19" name="anim-g3-889"/>
          <p:cNvSpPr/>
          <p:nvPr/>
        </p:nvSpPr>
        <p:spPr>
          <a:xfrm>
            <a:off x="3802304"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بداية جديدة للفصل بقواعد يعلنها أمام المدير</a:t>
            </a:r>
            <a:endParaRPr lang="ar-SA" sz="1800" dirty="0"/>
          </a:p>
        </p:txBody>
      </p:sp>
      <p:sp>
        <p:nvSpPr>
          <p:cNvPr id="20" name="anim-g4-890"/>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891"/>
          <p:cNvSpPr/>
          <p:nvPr/>
        </p:nvSpPr>
        <p:spPr>
          <a:xfrm>
            <a:off x="2247824" y="2404872"/>
            <a:ext cx="731520" cy="731520"/>
          </a:xfrm>
          <a:prstGeom prst="roundRect">
            <a:avLst>
              <a:gd name="adj" fmla="val 25000"/>
            </a:avLst>
          </a:prstGeom>
          <a:solidFill>
            <a:srgbClr val="F7E6BC"/>
          </a:solidFill>
          <a:ln/>
        </p:spPr>
      </p:sp>
      <p:sp>
        <p:nvSpPr>
          <p:cNvPr id="22" name="anim-g4-892"/>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893"/>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متابعة أسبوعية</a:t>
            </a:r>
            <a:endParaRPr lang="ar-SA" sz="2300" dirty="0"/>
          </a:p>
        </p:txBody>
      </p:sp>
      <p:sp>
        <p:nvSpPr>
          <p:cNvPr id="24" name="anim-g4-894"/>
          <p:cNvSpPr/>
          <p:nvPr/>
        </p:nvSpPr>
        <p:spPr>
          <a:xfrm>
            <a:off x="1097280"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عشر دقائق كل أسبوع لمراجعة التقدم</a:t>
            </a:r>
            <a:endParaRPr lang="ar-SA" sz="18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القاعدة قبل المخالفة نظام…</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والقاعدة بعد المخالفة عقاب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أول حصة  ·  ٨٤</a:t>
            </a:r>
            <a:endParaRPr lang="ar-SA"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895" descr="/Users/mac/Desktop/أردوينو/المشاريع والكتب/younes-training/mawaqif/assets/scenes/principa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٥</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كل شيء ممنوع!</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كل شيء ممنوع!  ·  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896"/>
          <p:cNvSpPr/>
          <p:nvPr/>
        </p:nvSpPr>
        <p:spPr>
          <a:xfrm>
            <a:off x="11323015" y="2011680"/>
            <a:ext cx="45720" cy="845820"/>
          </a:xfrm>
          <a:prstGeom prst="rect">
            <a:avLst/>
          </a:prstGeom>
          <a:solidFill>
            <a:srgbClr val="E4DCC8"/>
          </a:solidFill>
          <a:ln/>
        </p:spPr>
      </p:sp>
      <p:sp>
        <p:nvSpPr>
          <p:cNvPr id="6" name="anim-g1-897"/>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انتقل أ. الدخيل إلى مدرسة جديدة، فاطلع على مبادئ التعامل: لا تسبّ طالبًا، لا تضرب، لا تطرد… وكن مهيبًا.</a:t>
            </a:r>
            <a:endParaRPr lang="ar-SA" sz="1700" dirty="0"/>
          </a:p>
        </p:txBody>
      </p:sp>
      <p:sp>
        <p:nvSpPr>
          <p:cNvPr id="7" name="anim-g2-898"/>
          <p:cNvSpPr/>
          <p:nvPr/>
        </p:nvSpPr>
        <p:spPr>
          <a:xfrm>
            <a:off x="11323015" y="3040380"/>
            <a:ext cx="45720" cy="845820"/>
          </a:xfrm>
          <a:prstGeom prst="rect">
            <a:avLst/>
          </a:prstGeom>
          <a:solidFill>
            <a:srgbClr val="E4DCC8"/>
          </a:solidFill>
          <a:ln/>
        </p:spPr>
      </p:sp>
      <p:sp>
        <p:nvSpPr>
          <p:cNvPr id="8" name="anim-g2-899"/>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دخل على المدير منفعلًا: «جرّدتموني من أسلحتي ثم ألقيتموني في المعركة! كأنكم ربطتموني ثم طلبتم مني السباحة!»</a:t>
            </a:r>
            <a:endParaRPr lang="ar-SA" sz="1700" dirty="0"/>
          </a:p>
        </p:txBody>
      </p:sp>
      <p:sp>
        <p:nvSpPr>
          <p:cNvPr id="9" name="anim-g3-900"/>
          <p:cNvSpPr/>
          <p:nvPr/>
        </p:nvSpPr>
        <p:spPr>
          <a:xfrm>
            <a:off x="11323015" y="4069080"/>
            <a:ext cx="45720" cy="845820"/>
          </a:xfrm>
          <a:prstGeom prst="rect">
            <a:avLst/>
          </a:prstGeom>
          <a:solidFill>
            <a:srgbClr val="E4DCC8"/>
          </a:solidFill>
          <a:ln/>
        </p:spPr>
      </p:sp>
      <p:sp>
        <p:nvSpPr>
          <p:cNvPr id="10" name="anim-g3-901"/>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«خبرتي عشرون عامًا، والشدة مطلوبة مع هذا الجيل. كيف يهابونني وهم يعلمون أني لا أستطيع عقابهم؟»</a:t>
            </a:r>
            <a:endParaRPr lang="ar-SA" sz="1700" dirty="0"/>
          </a:p>
        </p:txBody>
      </p:sp>
      <p:sp>
        <p:nvSpPr>
          <p:cNvPr id="11" name="anim-g4-902"/>
          <p:cNvSpPr/>
          <p:nvPr/>
        </p:nvSpPr>
        <p:spPr>
          <a:xfrm>
            <a:off x="11323015" y="5097780"/>
            <a:ext cx="45720" cy="845820"/>
          </a:xfrm>
          <a:prstGeom prst="rect">
            <a:avLst/>
          </a:prstGeom>
          <a:solidFill>
            <a:srgbClr val="D64545"/>
          </a:solidFill>
          <a:ln/>
        </p:spPr>
      </p:sp>
      <p:sp>
        <p:nvSpPr>
          <p:cNvPr id="12" name="anim-g4-903"/>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ابتسم المدير وقال: «هذا موضوع يحتاج إلى جلسة…»</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principal.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name="Slide 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لو كنت المدير… بماذا تبدأ الجلسة؟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«هذه أنظمة المدرسة، ومن لا يلتزم يُحاسَب»</a:t>
            </a:r>
            <a:endParaRPr lang="ar-SA" sz="2300" dirty="0"/>
          </a:p>
        </p:txBody>
      </p:sp>
      <p:sp>
        <p:nvSpPr>
          <p:cNvPr id="9" name="anim-g1-904"/>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905"/>
          <p:cNvSpPr/>
          <p:nvPr/>
        </p:nvSpPr>
        <p:spPr>
          <a:xfrm>
            <a:off x="10231831" y="2194560"/>
            <a:ext cx="954024" cy="954024"/>
          </a:xfrm>
          <a:prstGeom prst="roundRect">
            <a:avLst>
              <a:gd name="adj" fmla="val 11502"/>
            </a:avLst>
          </a:prstGeom>
          <a:solidFill>
            <a:srgbClr val="A3A9BA"/>
          </a:solidFill>
          <a:ln/>
        </p:spPr>
      </p:sp>
      <p:sp>
        <p:nvSpPr>
          <p:cNvPr id="11" name="anim-g1-906"/>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907"/>
          <p:cNvSpPr/>
          <p:nvPr/>
        </p:nvSpPr>
        <p:spPr>
          <a:xfrm>
            <a:off x="1097280" y="2112264"/>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«هذه أنظمة المدرسة، ومن لا يلتزم يُحاسَب»</a:t>
            </a:r>
            <a:endParaRPr lang="ar-SA" sz="2100" dirty="0"/>
          </a:p>
        </p:txBody>
      </p:sp>
      <p:sp>
        <p:nvSpPr>
          <p:cNvPr id="13" name="anim-g1-908"/>
          <p:cNvSpPr/>
          <p:nvPr/>
        </p:nvSpPr>
        <p:spPr>
          <a:xfrm>
            <a:off x="1097280" y="2720706"/>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الأمر الإداري يُسكته ولا يقنعه، فيعود لأسلوبه عند أول أزمة</a:t>
            </a:r>
            <a:endParaRPr lang="ar-SA" sz="13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«معك حق، تصرّف كما تراه مناسبًا»</a:t>
            </a:r>
            <a:endParaRPr lang="ar-SA" sz="2300" dirty="0"/>
          </a:p>
        </p:txBody>
      </p:sp>
      <p:sp>
        <p:nvSpPr>
          <p:cNvPr id="18" name="anim-g1-909"/>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910"/>
          <p:cNvSpPr/>
          <p:nvPr/>
        </p:nvSpPr>
        <p:spPr>
          <a:xfrm>
            <a:off x="10231831" y="3569208"/>
            <a:ext cx="954024" cy="954024"/>
          </a:xfrm>
          <a:prstGeom prst="roundRect">
            <a:avLst>
              <a:gd name="adj" fmla="val 11502"/>
            </a:avLst>
          </a:prstGeom>
          <a:solidFill>
            <a:srgbClr val="A3A9BA"/>
          </a:solidFill>
          <a:ln/>
        </p:spPr>
      </p:sp>
      <p:sp>
        <p:nvSpPr>
          <p:cNvPr id="20" name="anim-g1-911"/>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912"/>
          <p:cNvSpPr/>
          <p:nvPr/>
        </p:nvSpPr>
        <p:spPr>
          <a:xfrm>
            <a:off x="1097280" y="3486912"/>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«معك حق، تصرّف كما تراه مناسبًا»</a:t>
            </a:r>
            <a:endParaRPr lang="ar-SA" sz="2100" dirty="0"/>
          </a:p>
        </p:txBody>
      </p:sp>
      <p:sp>
        <p:nvSpPr>
          <p:cNvPr id="22" name="anim-g1-913"/>
          <p:cNvSpPr/>
          <p:nvPr/>
        </p:nvSpPr>
        <p:spPr>
          <a:xfrm>
            <a:off x="1097280" y="4095354"/>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التنازل يعرّض الطلاب والمدرسة للخطر</a:t>
            </a:r>
            <a:endParaRPr lang="ar-SA" sz="13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«أفهم قلقك. تعال نضع مكان كل أداة ممنوعة أداة أقوى منها»</a:t>
            </a:r>
            <a:endParaRPr lang="ar-SA" sz="2300" dirty="0"/>
          </a:p>
        </p:txBody>
      </p:sp>
      <p:sp>
        <p:nvSpPr>
          <p:cNvPr id="27" name="anim-g1-914"/>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915"/>
          <p:cNvSpPr/>
          <p:nvPr/>
        </p:nvSpPr>
        <p:spPr>
          <a:xfrm>
            <a:off x="10231831" y="4943856"/>
            <a:ext cx="954024" cy="954024"/>
          </a:xfrm>
          <a:prstGeom prst="roundRect">
            <a:avLst>
              <a:gd name="adj" fmla="val 11502"/>
            </a:avLst>
          </a:prstGeom>
          <a:solidFill>
            <a:srgbClr val="2E9E6B"/>
          </a:solidFill>
          <a:ln/>
        </p:spPr>
      </p:sp>
      <p:sp>
        <p:nvSpPr>
          <p:cNvPr id="29" name="anim-g1-916"/>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917"/>
          <p:cNvSpPr/>
          <p:nvPr/>
        </p:nvSpPr>
        <p:spPr>
          <a:xfrm>
            <a:off x="1097280" y="4861560"/>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«أفهم قلقك. تعال نضع مكان كل أداة ممنوعة أداة أقوى منها»</a:t>
            </a:r>
            <a:endParaRPr lang="ar-SA" sz="2100" dirty="0"/>
          </a:p>
        </p:txBody>
      </p:sp>
      <p:sp>
        <p:nvSpPr>
          <p:cNvPr id="31" name="anim-g1-918"/>
          <p:cNvSpPr/>
          <p:nvPr/>
        </p:nvSpPr>
        <p:spPr>
          <a:xfrm>
            <a:off x="1097280" y="5470002"/>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المعلم لا يحتاج إذنًا بالعقاب، بل بدائل تعمل فعلًا</a:t>
            </a:r>
            <a:endParaRPr lang="ar-SA" sz="13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٨٧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name="Slide 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يتمسك أ. الدخيل بالشدة؟</a:t>
            </a:r>
            <a:endParaRPr lang="ar-SA" sz="3800" dirty="0"/>
          </a:p>
        </p:txBody>
      </p:sp>
      <p:sp>
        <p:nvSpPr>
          <p:cNvPr id="5" name="anim-g1-919"/>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920"/>
          <p:cNvSpPr/>
          <p:nvPr/>
        </p:nvSpPr>
        <p:spPr>
          <a:xfrm>
            <a:off x="9816198" y="2194560"/>
            <a:ext cx="640080" cy="640080"/>
          </a:xfrm>
          <a:prstGeom prst="roundRect">
            <a:avLst>
              <a:gd name="adj" fmla="val 25714"/>
            </a:avLst>
          </a:prstGeom>
          <a:solidFill>
            <a:srgbClr val="F7E6BC"/>
          </a:solidFill>
          <a:ln/>
        </p:spPr>
      </p:sp>
      <p:sp>
        <p:nvSpPr>
          <p:cNvPr id="7" name="anim-g1-921"/>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922"/>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خوف</a:t>
            </a:r>
            <a:endParaRPr lang="ar-SA" sz="2200" dirty="0"/>
          </a:p>
        </p:txBody>
      </p:sp>
      <p:sp>
        <p:nvSpPr>
          <p:cNvPr id="9" name="anim-g1-923"/>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يخشى فقدان السيطرة بلا عقاب</a:t>
            </a:r>
            <a:endParaRPr lang="ar-SA" sz="1600" dirty="0"/>
          </a:p>
        </p:txBody>
      </p:sp>
      <p:sp>
        <p:nvSpPr>
          <p:cNvPr id="10" name="anim-g2-924"/>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925"/>
          <p:cNvSpPr/>
          <p:nvPr/>
        </p:nvSpPr>
        <p:spPr>
          <a:xfrm>
            <a:off x="7122604" y="2194560"/>
            <a:ext cx="640080" cy="640080"/>
          </a:xfrm>
          <a:prstGeom prst="roundRect">
            <a:avLst>
              <a:gd name="adj" fmla="val 25714"/>
            </a:avLst>
          </a:prstGeom>
          <a:solidFill>
            <a:srgbClr val="F7E6BC"/>
          </a:solidFill>
          <a:ln/>
        </p:spPr>
      </p:sp>
      <p:sp>
        <p:nvSpPr>
          <p:cNvPr id="12" name="anim-g2-926"/>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927"/>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تجربة</a:t>
            </a:r>
            <a:endParaRPr lang="ar-SA" sz="2200" dirty="0"/>
          </a:p>
        </p:txBody>
      </p:sp>
      <p:sp>
        <p:nvSpPr>
          <p:cNvPr id="14" name="anim-g2-928"/>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هكذا تعلّم، وهكذا نجح سابقًا</a:t>
            </a:r>
            <a:endParaRPr lang="ar-SA" sz="1600" dirty="0"/>
          </a:p>
        </p:txBody>
      </p:sp>
      <p:sp>
        <p:nvSpPr>
          <p:cNvPr id="15" name="anim-g3-929"/>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930"/>
          <p:cNvSpPr/>
          <p:nvPr/>
        </p:nvSpPr>
        <p:spPr>
          <a:xfrm>
            <a:off x="4429011" y="2194560"/>
            <a:ext cx="640080" cy="640080"/>
          </a:xfrm>
          <a:prstGeom prst="roundRect">
            <a:avLst>
              <a:gd name="adj" fmla="val 25714"/>
            </a:avLst>
          </a:prstGeom>
          <a:solidFill>
            <a:srgbClr val="F7E6BC"/>
          </a:solidFill>
          <a:ln/>
        </p:spPr>
      </p:sp>
      <p:sp>
        <p:nvSpPr>
          <p:cNvPr id="17" name="anim-g3-931"/>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932"/>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أدوات ناقصة</a:t>
            </a:r>
            <a:endParaRPr lang="ar-SA" sz="2200" dirty="0"/>
          </a:p>
        </p:txBody>
      </p:sp>
      <p:sp>
        <p:nvSpPr>
          <p:cNvPr id="19" name="anim-g3-933"/>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لا يعرف بدائل فعّالة</a:t>
            </a:r>
            <a:endParaRPr lang="ar-SA" sz="1600" dirty="0"/>
          </a:p>
        </p:txBody>
      </p:sp>
      <p:sp>
        <p:nvSpPr>
          <p:cNvPr id="20" name="anim-g4-934"/>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935"/>
          <p:cNvSpPr/>
          <p:nvPr/>
        </p:nvSpPr>
        <p:spPr>
          <a:xfrm>
            <a:off x="1735417" y="2194560"/>
            <a:ext cx="640080" cy="640080"/>
          </a:xfrm>
          <a:prstGeom prst="roundRect">
            <a:avLst>
              <a:gd name="adj" fmla="val 25714"/>
            </a:avLst>
          </a:prstGeom>
          <a:solidFill>
            <a:srgbClr val="F7E6BC"/>
          </a:solidFill>
          <a:ln/>
        </p:spPr>
      </p:sp>
      <p:sp>
        <p:nvSpPr>
          <p:cNvPr id="22" name="anim-g4-936"/>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937"/>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خلط</a:t>
            </a:r>
            <a:endParaRPr lang="ar-SA" sz="2200" dirty="0"/>
          </a:p>
        </p:txBody>
      </p:sp>
      <p:sp>
        <p:nvSpPr>
          <p:cNvPr id="24" name="anim-g4-938"/>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يظن أن الهيبة تعني الخوف</a:t>
            </a:r>
            <a:endParaRPr lang="ar-SA" sz="1600" dirty="0"/>
          </a:p>
        </p:txBody>
      </p:sp>
      <p:sp>
        <p:nvSpPr>
          <p:cNvPr id="25" name="anim-g5-939"/>
          <p:cNvSpPr/>
          <p:nvPr/>
        </p:nvSpPr>
        <p:spPr>
          <a:xfrm>
            <a:off x="822960" y="4754880"/>
            <a:ext cx="10545775" cy="1051560"/>
          </a:xfrm>
          <a:prstGeom prst="roundRect">
            <a:avLst>
              <a:gd name="adj" fmla="val 17391"/>
            </a:avLst>
          </a:prstGeom>
          <a:solidFill>
            <a:srgbClr val="101B45"/>
          </a:solidFill>
          <a:ln/>
        </p:spPr>
      </p:sp>
      <p:sp>
        <p:nvSpPr>
          <p:cNvPr id="26" name="anim-g5-940"/>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الهيبة ليست خوف الطلاب منك…</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بل احترامهم لك</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٨٨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name="Slide 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687007" y="457200"/>
            <a:ext cx="4681728" cy="457200"/>
          </a:xfrm>
          <a:prstGeom prst="roundRect">
            <a:avLst>
              <a:gd name="adj" fmla="val 50000"/>
            </a:avLst>
          </a:prstGeom>
          <a:solidFill>
            <a:srgbClr val="F6EBCF"/>
          </a:solidFill>
          <a:ln/>
        </p:spPr>
      </p:sp>
      <p:sp>
        <p:nvSpPr>
          <p:cNvPr id="3" name="Text 1"/>
          <p:cNvSpPr/>
          <p:nvPr/>
        </p:nvSpPr>
        <p:spPr>
          <a:xfrm>
            <a:off x="6687007" y="457200"/>
            <a:ext cx="468172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جلسة واحدة تغيّر القناعة</a:t>
            </a:r>
            <a:endParaRPr lang="ar-SA" sz="1600" dirty="0"/>
          </a:p>
        </p:txBody>
      </p:sp>
      <p:sp>
        <p:nvSpPr>
          <p:cNvPr id="4" name="Shape 2"/>
          <p:cNvSpPr/>
          <p:nvPr/>
        </p:nvSpPr>
        <p:spPr>
          <a:xfrm>
            <a:off x="822960" y="457200"/>
            <a:ext cx="1975104" cy="457200"/>
          </a:xfrm>
          <a:prstGeom prst="roundRect">
            <a:avLst>
              <a:gd name="adj" fmla="val 50000"/>
            </a:avLst>
          </a:prstGeom>
          <a:solidFill>
            <a:srgbClr val="FBECEC"/>
          </a:solidFill>
          <a:ln/>
        </p:spPr>
      </p:sp>
      <p:sp>
        <p:nvSpPr>
          <p:cNvPr id="5" name="Text 3"/>
          <p:cNvSpPr/>
          <p:nvPr/>
        </p:nvSpPr>
        <p:spPr>
          <a:xfrm>
            <a:off x="822960" y="457200"/>
            <a:ext cx="197510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جلسة واحدة</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يدير المدير الجلسة؟</a:t>
            </a:r>
            <a:endParaRPr lang="ar-SA" sz="3800" dirty="0"/>
          </a:p>
        </p:txBody>
      </p:sp>
      <p:sp>
        <p:nvSpPr>
          <p:cNvPr id="7" name="anim-g1-941"/>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942"/>
          <p:cNvSpPr/>
          <p:nvPr/>
        </p:nvSpPr>
        <p:spPr>
          <a:xfrm>
            <a:off x="9747618" y="2423160"/>
            <a:ext cx="777240" cy="777240"/>
          </a:xfrm>
          <a:prstGeom prst="ellipse">
            <a:avLst/>
          </a:prstGeom>
          <a:solidFill>
            <a:srgbClr val="D9AE4B"/>
          </a:solidFill>
          <a:ln/>
        </p:spPr>
      </p:sp>
      <p:sp>
        <p:nvSpPr>
          <p:cNvPr id="9" name="anim-g1-943"/>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944"/>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استمع</a:t>
            </a:r>
            <a:endParaRPr lang="ar-SA" sz="2500" dirty="0"/>
          </a:p>
        </p:txBody>
      </p:sp>
      <p:sp>
        <p:nvSpPr>
          <p:cNvPr id="11" name="anim-g1-945"/>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دعه يُفرغ قلقه كاملًا</a:t>
            </a:r>
            <a:endParaRPr lang="ar-SA" sz="1700" dirty="0"/>
          </a:p>
        </p:txBody>
      </p:sp>
      <p:sp>
        <p:nvSpPr>
          <p:cNvPr id="12" name="anim-g2-946"/>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947"/>
          <p:cNvSpPr/>
          <p:nvPr/>
        </p:nvSpPr>
        <p:spPr>
          <a:xfrm>
            <a:off x="7054024" y="2423160"/>
            <a:ext cx="777240" cy="777240"/>
          </a:xfrm>
          <a:prstGeom prst="ellipse">
            <a:avLst/>
          </a:prstGeom>
          <a:solidFill>
            <a:srgbClr val="D9AE4B"/>
          </a:solidFill>
          <a:ln/>
        </p:spPr>
      </p:sp>
      <p:sp>
        <p:nvSpPr>
          <p:cNvPr id="14" name="anim-g2-948"/>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949"/>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هدف مشترك</a:t>
            </a:r>
            <a:endParaRPr lang="ar-SA" sz="2500" dirty="0"/>
          </a:p>
        </p:txBody>
      </p:sp>
      <p:sp>
        <p:nvSpPr>
          <p:cNvPr id="16" name="anim-g2-950"/>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فصل منضبط يحترم المعلم</a:t>
            </a:r>
            <a:endParaRPr lang="ar-SA" sz="1700" dirty="0"/>
          </a:p>
        </p:txBody>
      </p:sp>
      <p:sp>
        <p:nvSpPr>
          <p:cNvPr id="17" name="anim-g3-951"/>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952"/>
          <p:cNvSpPr/>
          <p:nvPr/>
        </p:nvSpPr>
        <p:spPr>
          <a:xfrm>
            <a:off x="4360431" y="2423160"/>
            <a:ext cx="777240" cy="777240"/>
          </a:xfrm>
          <a:prstGeom prst="ellipse">
            <a:avLst/>
          </a:prstGeom>
          <a:solidFill>
            <a:srgbClr val="D9AE4B"/>
          </a:solidFill>
          <a:ln/>
        </p:spPr>
      </p:sp>
      <p:sp>
        <p:nvSpPr>
          <p:cNvPr id="19" name="anim-g3-953"/>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954"/>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البدائل</a:t>
            </a:r>
            <a:endParaRPr lang="ar-SA" sz="2500" dirty="0"/>
          </a:p>
        </p:txBody>
      </p:sp>
      <p:sp>
        <p:nvSpPr>
          <p:cNvPr id="21" name="anim-g3-955"/>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أداة مكان كل «ممنوع»</a:t>
            </a:r>
            <a:endParaRPr lang="ar-SA" sz="1700" dirty="0"/>
          </a:p>
        </p:txBody>
      </p:sp>
      <p:sp>
        <p:nvSpPr>
          <p:cNvPr id="22" name="anim-g4-956"/>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957"/>
          <p:cNvSpPr/>
          <p:nvPr/>
        </p:nvSpPr>
        <p:spPr>
          <a:xfrm>
            <a:off x="1666837" y="2423160"/>
            <a:ext cx="777240" cy="777240"/>
          </a:xfrm>
          <a:prstGeom prst="ellipse">
            <a:avLst/>
          </a:prstGeom>
          <a:solidFill>
            <a:srgbClr val="D9AE4B"/>
          </a:solidFill>
          <a:ln/>
        </p:spPr>
      </p:sp>
      <p:sp>
        <p:nvSpPr>
          <p:cNvPr id="24" name="anim-g4-958"/>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959"/>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تابع</a:t>
            </a:r>
            <a:endParaRPr lang="ar-SA" sz="2500" dirty="0"/>
          </a:p>
        </p:txBody>
      </p:sp>
      <p:sp>
        <p:nvSpPr>
          <p:cNvPr id="26" name="anim-g4-960"/>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زيارة داعمة بعد أسبوعين</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٨٩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name="Slide 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961"/>
          <p:cNvSpPr/>
          <p:nvPr/>
        </p:nvSpPr>
        <p:spPr>
          <a:xfrm>
            <a:off x="9768535" y="2130552"/>
            <a:ext cx="1600200" cy="1018032"/>
          </a:xfrm>
          <a:prstGeom prst="roundRect">
            <a:avLst>
              <a:gd name="adj" fmla="val 13473"/>
            </a:avLst>
          </a:prstGeom>
          <a:solidFill>
            <a:srgbClr val="E9EDF9"/>
          </a:solidFill>
          <a:ln/>
        </p:spPr>
      </p:sp>
      <p:sp>
        <p:nvSpPr>
          <p:cNvPr id="6" name="anim-g1-962"/>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المدير يبدأ</a:t>
            </a:r>
            <a:endParaRPr lang="ar-SA" sz="1400" dirty="0"/>
          </a:p>
        </p:txBody>
      </p:sp>
      <p:sp>
        <p:nvSpPr>
          <p:cNvPr id="7" name="anim-g1-963"/>
          <p:cNvSpPr/>
          <p:nvPr/>
        </p:nvSpPr>
        <p:spPr>
          <a:xfrm>
            <a:off x="822960" y="2057400"/>
            <a:ext cx="8716975" cy="1164336"/>
          </a:xfrm>
          <a:prstGeom prst="roundRect">
            <a:avLst>
              <a:gd name="adj" fmla="val 17277"/>
            </a:avLst>
          </a:prstGeom>
          <a:solidFill>
            <a:srgbClr val="101B45"/>
          </a:solidFill>
          <a:ln/>
        </p:spPr>
      </p:sp>
      <p:sp>
        <p:nvSpPr>
          <p:cNvPr id="8" name="anim-g1-964"/>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خبرتك عشرون عامًا، وهذا مكسب لنا. ما الذي تخشى أن يحدث في فصلك؟</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965"/>
          <p:cNvSpPr/>
          <p:nvPr/>
        </p:nvSpPr>
        <p:spPr>
          <a:xfrm>
            <a:off x="9768535" y="3441192"/>
            <a:ext cx="1600200" cy="1018032"/>
          </a:xfrm>
          <a:prstGeom prst="roundRect">
            <a:avLst>
              <a:gd name="adj" fmla="val 13473"/>
            </a:avLst>
          </a:prstGeom>
          <a:solidFill>
            <a:srgbClr val="E9EDF9"/>
          </a:solidFill>
          <a:ln/>
        </p:spPr>
      </p:sp>
      <p:sp>
        <p:nvSpPr>
          <p:cNvPr id="10" name="anim-g2-966"/>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المدير يطمئن</a:t>
            </a:r>
            <a:endParaRPr lang="ar-SA" sz="1400" dirty="0"/>
          </a:p>
        </p:txBody>
      </p:sp>
      <p:sp>
        <p:nvSpPr>
          <p:cNvPr id="11" name="anim-g2-967"/>
          <p:cNvSpPr/>
          <p:nvPr/>
        </p:nvSpPr>
        <p:spPr>
          <a:xfrm>
            <a:off x="822960" y="3368040"/>
            <a:ext cx="8716975" cy="1164336"/>
          </a:xfrm>
          <a:prstGeom prst="roundRect">
            <a:avLst>
              <a:gd name="adj" fmla="val 17277"/>
            </a:avLst>
          </a:prstGeom>
          <a:solidFill>
            <a:srgbClr val="101B45"/>
          </a:solidFill>
          <a:ln/>
        </p:spPr>
      </p:sp>
      <p:sp>
        <p:nvSpPr>
          <p:cNvPr id="12" name="anim-g2-968"/>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لست وحدك. أي حالة صعبة نحلها معًا، ولن أتركك أمام ثلاثين طالبًا بلا دعم</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3" name="anim-g3-969"/>
          <p:cNvSpPr/>
          <p:nvPr/>
        </p:nvSpPr>
        <p:spPr>
          <a:xfrm>
            <a:off x="9768535" y="4751832"/>
            <a:ext cx="1600200" cy="1018032"/>
          </a:xfrm>
          <a:prstGeom prst="roundRect">
            <a:avLst>
              <a:gd name="adj" fmla="val 13473"/>
            </a:avLst>
          </a:prstGeom>
          <a:solidFill>
            <a:srgbClr val="E9EDF9"/>
          </a:solidFill>
          <a:ln/>
        </p:spPr>
      </p:sp>
      <p:sp>
        <p:nvSpPr>
          <p:cNvPr id="14" name="anim-g3-970"/>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أ. الدخيل لطلابه</a:t>
            </a:r>
            <a:endParaRPr lang="ar-SA" sz="1400" dirty="0"/>
          </a:p>
        </p:txBody>
      </p:sp>
      <p:sp>
        <p:nvSpPr>
          <p:cNvPr id="15" name="anim-g3-971"/>
          <p:cNvSpPr/>
          <p:nvPr/>
        </p:nvSpPr>
        <p:spPr>
          <a:xfrm>
            <a:off x="822960" y="4678680"/>
            <a:ext cx="8716975" cy="1164336"/>
          </a:xfrm>
          <a:prstGeom prst="roundRect">
            <a:avLst>
              <a:gd name="adj" fmla="val 17277"/>
            </a:avLst>
          </a:prstGeom>
          <a:solidFill>
            <a:srgbClr val="101B45"/>
          </a:solidFill>
          <a:ln/>
        </p:spPr>
      </p:sp>
      <p:sp>
        <p:nvSpPr>
          <p:cNvPr id="16" name="anim-g3-972"/>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لن أرفع صوتي عليكم، ولن أسمح لأحد أن يعطّل تعلّم زملائه</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٩٠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مكان كل «ممنوع»… أداة أقوى</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973"/>
          <p:cNvSpPr/>
          <p:nvPr/>
        </p:nvSpPr>
        <p:spPr>
          <a:xfrm>
            <a:off x="6415888" y="2194560"/>
            <a:ext cx="4952848" cy="804672"/>
          </a:xfrm>
          <a:prstGeom prst="roundRect">
            <a:avLst>
              <a:gd name="adj" fmla="val 15909"/>
            </a:avLst>
          </a:prstGeom>
          <a:solidFill>
            <a:srgbClr val="FBECEC"/>
          </a:solidFill>
          <a:ln/>
        </p:spPr>
      </p:sp>
      <p:sp>
        <p:nvSpPr>
          <p:cNvPr id="6" name="anim-g1-974"/>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السبّ والتوبيخ</a:t>
            </a:r>
            <a:endParaRPr lang="ar-SA" sz="1900" dirty="0"/>
          </a:p>
        </p:txBody>
      </p:sp>
      <p:sp>
        <p:nvSpPr>
          <p:cNvPr id="7" name="anim-g1-975"/>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976"/>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977"/>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978"/>
          <p:cNvSpPr/>
          <p:nvPr/>
        </p:nvSpPr>
        <p:spPr>
          <a:xfrm>
            <a:off x="822960" y="2194560"/>
            <a:ext cx="4952848" cy="804672"/>
          </a:xfrm>
          <a:prstGeom prst="roundRect">
            <a:avLst>
              <a:gd name="adj" fmla="val 15909"/>
            </a:avLst>
          </a:prstGeom>
          <a:solidFill>
            <a:srgbClr val="E6F4EC"/>
          </a:solidFill>
          <a:ln/>
        </p:spPr>
      </p:sp>
      <p:sp>
        <p:nvSpPr>
          <p:cNvPr id="11" name="anim-g2-979"/>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حزم هادئ بجملة واضحة</a:t>
            </a:r>
            <a:endParaRPr lang="ar-SA" sz="1900" dirty="0"/>
          </a:p>
        </p:txBody>
      </p:sp>
      <p:sp>
        <p:nvSpPr>
          <p:cNvPr id="12" name="anim-g3-980"/>
          <p:cNvSpPr/>
          <p:nvPr/>
        </p:nvSpPr>
        <p:spPr>
          <a:xfrm>
            <a:off x="6415888" y="3154680"/>
            <a:ext cx="4952848" cy="804672"/>
          </a:xfrm>
          <a:prstGeom prst="roundRect">
            <a:avLst>
              <a:gd name="adj" fmla="val 15909"/>
            </a:avLst>
          </a:prstGeom>
          <a:solidFill>
            <a:srgbClr val="FBECEC"/>
          </a:solidFill>
          <a:ln/>
        </p:spPr>
      </p:sp>
      <p:sp>
        <p:nvSpPr>
          <p:cNvPr id="13" name="anim-g3-981"/>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الضرب</a:t>
            </a:r>
            <a:endParaRPr lang="ar-SA" sz="1900" dirty="0"/>
          </a:p>
        </p:txBody>
      </p:sp>
      <p:sp>
        <p:nvSpPr>
          <p:cNvPr id="14" name="anim-g3-982"/>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983"/>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984"/>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985"/>
          <p:cNvSpPr/>
          <p:nvPr/>
        </p:nvSpPr>
        <p:spPr>
          <a:xfrm>
            <a:off x="822960" y="3154680"/>
            <a:ext cx="4952848" cy="804672"/>
          </a:xfrm>
          <a:prstGeom prst="roundRect">
            <a:avLst>
              <a:gd name="adj" fmla="val 15909"/>
            </a:avLst>
          </a:prstGeom>
          <a:solidFill>
            <a:srgbClr val="E6F4EC"/>
          </a:solidFill>
          <a:ln/>
        </p:spPr>
      </p:sp>
      <p:sp>
        <p:nvSpPr>
          <p:cNvPr id="18" name="anim-g4-986"/>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عواقب منطقية متفق عليها مسبقًا</a:t>
            </a:r>
            <a:endParaRPr lang="ar-SA" sz="1900" dirty="0"/>
          </a:p>
        </p:txBody>
      </p:sp>
      <p:sp>
        <p:nvSpPr>
          <p:cNvPr id="19" name="anim-g5-987"/>
          <p:cNvSpPr/>
          <p:nvPr/>
        </p:nvSpPr>
        <p:spPr>
          <a:xfrm>
            <a:off x="6415888" y="4114800"/>
            <a:ext cx="4952848" cy="804672"/>
          </a:xfrm>
          <a:prstGeom prst="roundRect">
            <a:avLst>
              <a:gd name="adj" fmla="val 15909"/>
            </a:avLst>
          </a:prstGeom>
          <a:solidFill>
            <a:srgbClr val="FBECEC"/>
          </a:solidFill>
          <a:ln/>
        </p:spPr>
      </p:sp>
      <p:sp>
        <p:nvSpPr>
          <p:cNvPr id="20" name="anim-g5-988"/>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الطرد من الفصل</a:t>
            </a:r>
            <a:endParaRPr lang="ar-SA" sz="1900" dirty="0"/>
          </a:p>
        </p:txBody>
      </p:sp>
      <p:sp>
        <p:nvSpPr>
          <p:cNvPr id="21" name="anim-g5-989"/>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990"/>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991"/>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992"/>
          <p:cNvSpPr/>
          <p:nvPr/>
        </p:nvSpPr>
        <p:spPr>
          <a:xfrm>
            <a:off x="822960" y="4114800"/>
            <a:ext cx="4952848" cy="804672"/>
          </a:xfrm>
          <a:prstGeom prst="roundRect">
            <a:avLst>
              <a:gd name="adj" fmla="val 15909"/>
            </a:avLst>
          </a:prstGeom>
          <a:solidFill>
            <a:srgbClr val="E6F4EC"/>
          </a:solidFill>
          <a:ln/>
        </p:spPr>
      </p:sp>
      <p:sp>
        <p:nvSpPr>
          <p:cNvPr id="25" name="anim-g6-993"/>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حوار خاص وخطة سلوك مكتوبة</a:t>
            </a:r>
            <a:endParaRPr lang="ar-SA" sz="1900" dirty="0"/>
          </a:p>
        </p:txBody>
      </p:sp>
      <p:sp>
        <p:nvSpPr>
          <p:cNvPr id="26" name="anim-g7-994"/>
          <p:cNvSpPr/>
          <p:nvPr/>
        </p:nvSpPr>
        <p:spPr>
          <a:xfrm>
            <a:off x="6415888" y="5074920"/>
            <a:ext cx="4952848" cy="804672"/>
          </a:xfrm>
          <a:prstGeom prst="roundRect">
            <a:avLst>
              <a:gd name="adj" fmla="val 15909"/>
            </a:avLst>
          </a:prstGeom>
          <a:solidFill>
            <a:srgbClr val="FBECEC"/>
          </a:solidFill>
          <a:ln/>
        </p:spPr>
      </p:sp>
      <p:sp>
        <p:nvSpPr>
          <p:cNvPr id="27" name="anim-g7-995"/>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التخويف</a:t>
            </a:r>
            <a:endParaRPr lang="ar-SA" sz="1900" dirty="0"/>
          </a:p>
        </p:txBody>
      </p:sp>
      <p:sp>
        <p:nvSpPr>
          <p:cNvPr id="28" name="anim-g7-996"/>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997"/>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998"/>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999"/>
          <p:cNvSpPr/>
          <p:nvPr/>
        </p:nvSpPr>
        <p:spPr>
          <a:xfrm>
            <a:off x="822960" y="5074920"/>
            <a:ext cx="4952848" cy="804672"/>
          </a:xfrm>
          <a:prstGeom prst="roundRect">
            <a:avLst>
              <a:gd name="adj" fmla="val 15909"/>
            </a:avLst>
          </a:prstGeom>
          <a:solidFill>
            <a:srgbClr val="E6F4EC"/>
          </a:solidFill>
          <a:ln/>
        </p:spPr>
      </p:sp>
      <p:sp>
        <p:nvSpPr>
          <p:cNvPr id="32" name="anim-g8-1000"/>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علاقة قوية تجعل الطالب لا يريد أن يخذلك</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name="Slide 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القوي لا يحتاج أن يُخيف…</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يكفيه أن يكون واضحًا وعادلًا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كل شيء ممنوع!  ·  ٩٢</a:t>
            </a:r>
            <a:endParaRPr lang="ar-SA" sz="12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001" descr="/Users/mac/Desktop/أردوينو/المشاريع والكتب/younes-training/mawaqif/assets/scenes/jokers.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٦</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مهرّجو الفصل</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مهرّجو الفصل  ·  ٩٣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1002"/>
          <p:cNvSpPr/>
          <p:nvPr/>
        </p:nvSpPr>
        <p:spPr>
          <a:xfrm>
            <a:off x="11323015" y="2011680"/>
            <a:ext cx="45720" cy="845820"/>
          </a:xfrm>
          <a:prstGeom prst="rect">
            <a:avLst/>
          </a:prstGeom>
          <a:solidFill>
            <a:srgbClr val="E4DCC8"/>
          </a:solidFill>
          <a:ln/>
        </p:spPr>
      </p:sp>
      <p:sp>
        <p:nvSpPr>
          <p:cNvPr id="6" name="anim-g1-1003"/>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فصل الثالث المتوسط متماسك منذ الطفولة، واستقرت فيه أدوار: المهرّج، والفيلسوف، و«البريء دائمًا».</a:t>
            </a:r>
            <a:endParaRPr lang="ar-SA" sz="1700" dirty="0"/>
          </a:p>
        </p:txBody>
      </p:sp>
      <p:sp>
        <p:nvSpPr>
          <p:cNvPr id="7" name="anim-g2-1004"/>
          <p:cNvSpPr/>
          <p:nvPr/>
        </p:nvSpPr>
        <p:spPr>
          <a:xfrm>
            <a:off x="11323015" y="3040380"/>
            <a:ext cx="45720" cy="845820"/>
          </a:xfrm>
          <a:prstGeom prst="rect">
            <a:avLst/>
          </a:prstGeom>
          <a:solidFill>
            <a:srgbClr val="E4DCC8"/>
          </a:solidFill>
          <a:ln/>
        </p:spPr>
      </p:sp>
      <p:sp>
        <p:nvSpPr>
          <p:cNvPr id="8" name="anim-g2-1005"/>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لاحظ أ. عبد الرحمن أن ثلاثة طلاب يعلّقون بطرافة على كل ما يقول، والفصل يضحك. جو مبهج… لكنه يأكل وقت التعلم.</a:t>
            </a:r>
            <a:endParaRPr lang="ar-SA" sz="1700" dirty="0"/>
          </a:p>
        </p:txBody>
      </p:sp>
      <p:sp>
        <p:nvSpPr>
          <p:cNvPr id="9" name="anim-g3-1006"/>
          <p:cNvSpPr/>
          <p:nvPr/>
        </p:nvSpPr>
        <p:spPr>
          <a:xfrm>
            <a:off x="11323015" y="4069080"/>
            <a:ext cx="45720" cy="845820"/>
          </a:xfrm>
          <a:prstGeom prst="rect">
            <a:avLst/>
          </a:prstGeom>
          <a:solidFill>
            <a:srgbClr val="E4DCC8"/>
          </a:solidFill>
          <a:ln/>
        </p:spPr>
      </p:sp>
      <p:sp>
        <p:nvSpPr>
          <p:cNvPr id="10" name="anim-g3-1007"/>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في درس التاريخ سأل: «هل سمع أحدكم عن صلاح الدين؟» فردّ إيهاب فورًا: «نعم، حيٌّ في الرياض!» فانفجر الفصل ضحكًا.</a:t>
            </a:r>
            <a:endParaRPr lang="ar-SA" sz="1700" dirty="0"/>
          </a:p>
        </p:txBody>
      </p:sp>
      <p:sp>
        <p:nvSpPr>
          <p:cNvPr id="11" name="anim-g4-1008"/>
          <p:cNvSpPr/>
          <p:nvPr/>
        </p:nvSpPr>
        <p:spPr>
          <a:xfrm>
            <a:off x="11323015" y="5097780"/>
            <a:ext cx="45720" cy="845820"/>
          </a:xfrm>
          <a:prstGeom prst="rect">
            <a:avLst/>
          </a:prstGeom>
          <a:solidFill>
            <a:srgbClr val="D64545"/>
          </a:solidFill>
          <a:ln/>
        </p:spPr>
      </p:sp>
      <p:sp>
        <p:nvSpPr>
          <p:cNvPr id="12" name="anim-g4-1009"/>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قال: «هيا نمشِ في الدرس». فردّ ماجد: «لا أستطيع المشي يا أستاذ، رجلي تؤلمني!»… فأكمل أ. عبد الرحمن درسه إلقاءً بلا نقاش.</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jokers.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ماذا كان على أ. عبد الرحمن أن يفعل؟</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يعاقب الثلاثة أمام الفصل</a:t>
            </a:r>
            <a:endParaRPr lang="ar-SA" sz="1900" dirty="0"/>
          </a:p>
        </p:txBody>
      </p:sp>
      <p:sp>
        <p:nvSpPr>
          <p:cNvPr id="9" name="anim-g1-1010"/>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011"/>
          <p:cNvSpPr/>
          <p:nvPr/>
        </p:nvSpPr>
        <p:spPr>
          <a:xfrm>
            <a:off x="10575493" y="2194560"/>
            <a:ext cx="610362" cy="610362"/>
          </a:xfrm>
          <a:prstGeom prst="roundRect">
            <a:avLst>
              <a:gd name="adj" fmla="val 17978"/>
            </a:avLst>
          </a:prstGeom>
          <a:solidFill>
            <a:srgbClr val="A3A9BA"/>
          </a:solidFill>
          <a:ln/>
        </p:spPr>
      </p:sp>
      <p:sp>
        <p:nvSpPr>
          <p:cNvPr id="11" name="anim-g1-1012"/>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013"/>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يعاقب الثلاثة أمام الفصل</a:t>
            </a:r>
            <a:endParaRPr lang="ar-SA" sz="1700" dirty="0"/>
          </a:p>
        </p:txBody>
      </p:sp>
      <p:sp>
        <p:nvSpPr>
          <p:cNvPr id="13" name="anim-g1-1014"/>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العقاب العلني يصنع منهم أبطالًا، والفصل المتماسك سيتضامن معهم</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يتجاهل ويكمل الإلقاء (كما فعل)</a:t>
            </a:r>
            <a:endParaRPr lang="ar-SA" sz="1900" dirty="0"/>
          </a:p>
        </p:txBody>
      </p:sp>
      <p:sp>
        <p:nvSpPr>
          <p:cNvPr id="18" name="anim-g1-1015"/>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016"/>
          <p:cNvSpPr/>
          <p:nvPr/>
        </p:nvSpPr>
        <p:spPr>
          <a:xfrm>
            <a:off x="10575493" y="3225546"/>
            <a:ext cx="610362" cy="610362"/>
          </a:xfrm>
          <a:prstGeom prst="roundRect">
            <a:avLst>
              <a:gd name="adj" fmla="val 17978"/>
            </a:avLst>
          </a:prstGeom>
          <a:solidFill>
            <a:srgbClr val="A3A9BA"/>
          </a:solidFill>
          <a:ln/>
        </p:spPr>
      </p:sp>
      <p:sp>
        <p:nvSpPr>
          <p:cNvPr id="20" name="anim-g1-1017"/>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018"/>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يتجاهل ويكمل الإلقاء (كما فعل)</a:t>
            </a:r>
            <a:endParaRPr lang="ar-SA" sz="1700" dirty="0"/>
          </a:p>
        </p:txBody>
      </p:sp>
      <p:sp>
        <p:nvSpPr>
          <p:cNvPr id="22" name="anim-g1-1019"/>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الإلقاء بلا تفاعل يعطيهم وقتًا أطول للتعليقات</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يبتسم لحظة، ثم يحوّل الطرفة إلى سؤال في الدرس</a:t>
            </a:r>
            <a:endParaRPr lang="ar-SA" sz="1900" dirty="0"/>
          </a:p>
        </p:txBody>
      </p:sp>
      <p:sp>
        <p:nvSpPr>
          <p:cNvPr id="27" name="anim-g1-1020"/>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021"/>
          <p:cNvSpPr/>
          <p:nvPr/>
        </p:nvSpPr>
        <p:spPr>
          <a:xfrm>
            <a:off x="10575493" y="4256532"/>
            <a:ext cx="610362" cy="610362"/>
          </a:xfrm>
          <a:prstGeom prst="roundRect">
            <a:avLst>
              <a:gd name="adj" fmla="val 17978"/>
            </a:avLst>
          </a:prstGeom>
          <a:solidFill>
            <a:srgbClr val="2E9E6B"/>
          </a:solidFill>
          <a:ln/>
        </p:spPr>
      </p:sp>
      <p:sp>
        <p:nvSpPr>
          <p:cNvPr id="29" name="anim-g1-1022"/>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023"/>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يبتسم لحظة، ثم يحوّل الطرفة إلى سؤال في الدرس</a:t>
            </a:r>
            <a:endParaRPr lang="ar-SA" sz="1700" dirty="0"/>
          </a:p>
        </p:txBody>
      </p:sp>
      <p:sp>
        <p:nvSpPr>
          <p:cNvPr id="31" name="anim-g1-1024"/>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الفكاهة تُمتص ثم تُوجَّه، فيستعيد الدرس بلا صدام</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يستدعي أولياء أمورهم فورًا</a:t>
            </a:r>
            <a:endParaRPr lang="ar-SA" sz="1900" dirty="0"/>
          </a:p>
        </p:txBody>
      </p:sp>
      <p:sp>
        <p:nvSpPr>
          <p:cNvPr id="36" name="anim-g1-1025"/>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026"/>
          <p:cNvSpPr/>
          <p:nvPr/>
        </p:nvSpPr>
        <p:spPr>
          <a:xfrm>
            <a:off x="10575493" y="5287518"/>
            <a:ext cx="610362" cy="610362"/>
          </a:xfrm>
          <a:prstGeom prst="roundRect">
            <a:avLst>
              <a:gd name="adj" fmla="val 17978"/>
            </a:avLst>
          </a:prstGeom>
          <a:solidFill>
            <a:srgbClr val="A3A9BA"/>
          </a:solidFill>
          <a:ln/>
        </p:spPr>
      </p:sp>
      <p:sp>
        <p:nvSpPr>
          <p:cNvPr id="38" name="anim-g1-1027"/>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028"/>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يستدعي أولياء أمورهم فورًا</a:t>
            </a:r>
            <a:endParaRPr lang="ar-SA" sz="1700" dirty="0"/>
          </a:p>
        </p:txBody>
      </p:sp>
      <p:sp>
        <p:nvSpPr>
          <p:cNvPr id="40" name="anim-g1-1029"/>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خطوة كبيرة جدًا لمزاح لم يتجاوز الحد بعد</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يهرّجون؟</a:t>
            </a:r>
            <a:endParaRPr lang="ar-SA" sz="3800" dirty="0"/>
          </a:p>
        </p:txBody>
      </p:sp>
      <p:sp>
        <p:nvSpPr>
          <p:cNvPr id="5" name="anim-g1-1030"/>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031"/>
          <p:cNvSpPr/>
          <p:nvPr/>
        </p:nvSpPr>
        <p:spPr>
          <a:xfrm>
            <a:off x="9816198" y="2194560"/>
            <a:ext cx="640080" cy="640080"/>
          </a:xfrm>
          <a:prstGeom prst="roundRect">
            <a:avLst>
              <a:gd name="adj" fmla="val 25714"/>
            </a:avLst>
          </a:prstGeom>
          <a:solidFill>
            <a:srgbClr val="F7E6BC"/>
          </a:solidFill>
          <a:ln/>
        </p:spPr>
      </p:sp>
      <p:sp>
        <p:nvSpPr>
          <p:cNvPr id="7" name="anim-g1-1032"/>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033"/>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مكانة</a:t>
            </a:r>
            <a:endParaRPr lang="ar-SA" sz="2200" dirty="0"/>
          </a:p>
        </p:txBody>
      </p:sp>
      <p:sp>
        <p:nvSpPr>
          <p:cNvPr id="9" name="anim-g1-1034"/>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الطرافة مصدر شعبيتهم</a:t>
            </a:r>
            <a:endParaRPr lang="ar-SA" sz="1600" dirty="0"/>
          </a:p>
        </p:txBody>
      </p:sp>
      <p:sp>
        <p:nvSpPr>
          <p:cNvPr id="10" name="anim-g2-1035"/>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036"/>
          <p:cNvSpPr/>
          <p:nvPr/>
        </p:nvSpPr>
        <p:spPr>
          <a:xfrm>
            <a:off x="7122604" y="2194560"/>
            <a:ext cx="640080" cy="640080"/>
          </a:xfrm>
          <a:prstGeom prst="roundRect">
            <a:avLst>
              <a:gd name="adj" fmla="val 25714"/>
            </a:avLst>
          </a:prstGeom>
          <a:solidFill>
            <a:srgbClr val="F7E6BC"/>
          </a:solidFill>
          <a:ln/>
        </p:spPr>
      </p:sp>
      <p:sp>
        <p:nvSpPr>
          <p:cNvPr id="12" name="anim-g2-1037"/>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038"/>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تماسك</a:t>
            </a:r>
            <a:endParaRPr lang="ar-SA" sz="2200" dirty="0"/>
          </a:p>
        </p:txBody>
      </p:sp>
      <p:sp>
        <p:nvSpPr>
          <p:cNvPr id="14" name="anim-g2-1039"/>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الفصل يكافئهم بالضحك دائمًا</a:t>
            </a:r>
            <a:endParaRPr lang="ar-SA" sz="1600" dirty="0"/>
          </a:p>
        </p:txBody>
      </p:sp>
      <p:sp>
        <p:nvSpPr>
          <p:cNvPr id="15" name="anim-g3-1040"/>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041"/>
          <p:cNvSpPr/>
          <p:nvPr/>
        </p:nvSpPr>
        <p:spPr>
          <a:xfrm>
            <a:off x="4429011" y="2194560"/>
            <a:ext cx="640080" cy="640080"/>
          </a:xfrm>
          <a:prstGeom prst="roundRect">
            <a:avLst>
              <a:gd name="adj" fmla="val 25714"/>
            </a:avLst>
          </a:prstGeom>
          <a:solidFill>
            <a:srgbClr val="F7E6BC"/>
          </a:solidFill>
          <a:ln/>
        </p:spPr>
      </p:sp>
      <p:sp>
        <p:nvSpPr>
          <p:cNvPr id="17" name="anim-g3-1042"/>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043"/>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إلقاء</a:t>
            </a:r>
            <a:endParaRPr lang="ar-SA" sz="2200" dirty="0"/>
          </a:p>
        </p:txBody>
      </p:sp>
      <p:sp>
        <p:nvSpPr>
          <p:cNvPr id="19" name="anim-g3-1044"/>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الدرس بلا مشاركة يفتح المجال</a:t>
            </a:r>
            <a:endParaRPr lang="ar-SA" sz="1600" dirty="0"/>
          </a:p>
        </p:txBody>
      </p:sp>
      <p:sp>
        <p:nvSpPr>
          <p:cNvPr id="20" name="anim-g4-1045"/>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046"/>
          <p:cNvSpPr/>
          <p:nvPr/>
        </p:nvSpPr>
        <p:spPr>
          <a:xfrm>
            <a:off x="1735417" y="2194560"/>
            <a:ext cx="640080" cy="640080"/>
          </a:xfrm>
          <a:prstGeom prst="roundRect">
            <a:avLst>
              <a:gd name="adj" fmla="val 25714"/>
            </a:avLst>
          </a:prstGeom>
          <a:solidFill>
            <a:srgbClr val="F7E6BC"/>
          </a:solidFill>
          <a:ln/>
        </p:spPr>
      </p:sp>
      <p:sp>
        <p:nvSpPr>
          <p:cNvPr id="22" name="anim-g4-1047"/>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048"/>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اختبار</a:t>
            </a:r>
            <a:endParaRPr lang="ar-SA" sz="2200" dirty="0"/>
          </a:p>
        </p:txBody>
      </p:sp>
      <p:sp>
        <p:nvSpPr>
          <p:cNvPr id="24" name="anim-g4-1049"/>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يقيسون ردّ فعل المعلم الجديد</a:t>
            </a:r>
            <a:endParaRPr lang="ar-SA" sz="1600" dirty="0"/>
          </a:p>
        </p:txBody>
      </p:sp>
      <p:sp>
        <p:nvSpPr>
          <p:cNvPr id="25" name="anim-g5-1050"/>
          <p:cNvSpPr/>
          <p:nvPr/>
        </p:nvSpPr>
        <p:spPr>
          <a:xfrm>
            <a:off x="822960" y="4754880"/>
            <a:ext cx="10545775" cy="1051560"/>
          </a:xfrm>
          <a:prstGeom prst="roundRect">
            <a:avLst>
              <a:gd name="adj" fmla="val 17391"/>
            </a:avLst>
          </a:prstGeom>
          <a:solidFill>
            <a:srgbClr val="101B45"/>
          </a:solidFill>
          <a:ln/>
        </p:spPr>
      </p:sp>
      <p:sp>
        <p:nvSpPr>
          <p:cNvPr id="26" name="anim-g5-1051"/>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الطاقة نفسها التي تعطّل الدرس…</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يمكن أن تشغّله</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name="Slide 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ماذا تفعل فورًا؟</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052"/>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053"/>
          <p:cNvSpPr/>
          <p:nvPr/>
        </p:nvSpPr>
        <p:spPr>
          <a:xfrm>
            <a:off x="9747618" y="2423160"/>
            <a:ext cx="777240" cy="777240"/>
          </a:xfrm>
          <a:prstGeom prst="ellipse">
            <a:avLst/>
          </a:prstGeom>
          <a:solidFill>
            <a:srgbClr val="D9AE4B"/>
          </a:solidFill>
          <a:ln/>
        </p:spPr>
      </p:sp>
      <p:sp>
        <p:nvSpPr>
          <p:cNvPr id="9" name="anim-g1-1054"/>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055"/>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ابتسم لحظة</a:t>
            </a:r>
            <a:endParaRPr lang="ar-SA" sz="2500" dirty="0"/>
          </a:p>
        </p:txBody>
      </p:sp>
      <p:sp>
        <p:nvSpPr>
          <p:cNvPr id="11" name="anim-g1-1056"/>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لا تقاوم الضحك، بل امتصّه</a:t>
            </a:r>
            <a:endParaRPr lang="ar-SA" sz="1700" dirty="0"/>
          </a:p>
        </p:txBody>
      </p:sp>
      <p:sp>
        <p:nvSpPr>
          <p:cNvPr id="12" name="anim-g2-1057"/>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058"/>
          <p:cNvSpPr/>
          <p:nvPr/>
        </p:nvSpPr>
        <p:spPr>
          <a:xfrm>
            <a:off x="7054024" y="2423160"/>
            <a:ext cx="777240" cy="777240"/>
          </a:xfrm>
          <a:prstGeom prst="ellipse">
            <a:avLst/>
          </a:prstGeom>
          <a:solidFill>
            <a:srgbClr val="D9AE4B"/>
          </a:solidFill>
          <a:ln/>
        </p:spPr>
      </p:sp>
      <p:sp>
        <p:nvSpPr>
          <p:cNvPr id="14" name="anim-g2-1059"/>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060"/>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أعِد التوجيه</a:t>
            </a:r>
            <a:endParaRPr lang="ar-SA" sz="2500" dirty="0"/>
          </a:p>
        </p:txBody>
      </p:sp>
      <p:sp>
        <p:nvSpPr>
          <p:cNvPr id="16" name="anim-g2-1061"/>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«جميل يا إيهاب، ولماذا سُمّي باسمه؟»</a:t>
            </a:r>
            <a:endParaRPr lang="ar-SA" sz="1700" dirty="0"/>
          </a:p>
        </p:txBody>
      </p:sp>
      <p:sp>
        <p:nvSpPr>
          <p:cNvPr id="17" name="anim-g3-1062"/>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063"/>
          <p:cNvSpPr/>
          <p:nvPr/>
        </p:nvSpPr>
        <p:spPr>
          <a:xfrm>
            <a:off x="4360431" y="2423160"/>
            <a:ext cx="777240" cy="777240"/>
          </a:xfrm>
          <a:prstGeom prst="ellipse">
            <a:avLst/>
          </a:prstGeom>
          <a:solidFill>
            <a:srgbClr val="D9AE4B"/>
          </a:solidFill>
          <a:ln/>
        </p:spPr>
      </p:sp>
      <p:sp>
        <p:nvSpPr>
          <p:cNvPr id="19" name="anim-g3-1064"/>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065"/>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غيّر النشاط</a:t>
            </a:r>
            <a:endParaRPr lang="ar-SA" sz="2500" dirty="0"/>
          </a:p>
        </p:txBody>
      </p:sp>
      <p:sp>
        <p:nvSpPr>
          <p:cNvPr id="21" name="anim-g3-1066"/>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من إلقاء إلى سؤال أو تحدٍّ جماعي</a:t>
            </a:r>
            <a:endParaRPr lang="ar-SA" sz="1700" dirty="0"/>
          </a:p>
        </p:txBody>
      </p:sp>
      <p:sp>
        <p:nvSpPr>
          <p:cNvPr id="22" name="anim-g4-1067"/>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068"/>
          <p:cNvSpPr/>
          <p:nvPr/>
        </p:nvSpPr>
        <p:spPr>
          <a:xfrm>
            <a:off x="1666837" y="2423160"/>
            <a:ext cx="777240" cy="777240"/>
          </a:xfrm>
          <a:prstGeom prst="ellipse">
            <a:avLst/>
          </a:prstGeom>
          <a:solidFill>
            <a:srgbClr val="D9AE4B"/>
          </a:solidFill>
          <a:ln/>
        </p:spPr>
      </p:sp>
      <p:sp>
        <p:nvSpPr>
          <p:cNvPr id="24" name="anim-g4-1069"/>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070"/>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حدّد الخط</a:t>
            </a:r>
            <a:endParaRPr lang="ar-SA" sz="2500" dirty="0"/>
          </a:p>
        </p:txBody>
      </p:sp>
      <p:sp>
        <p:nvSpPr>
          <p:cNvPr id="26" name="anim-g4-1071"/>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طرفة الدرس مرحّب بها، والمعطِّلة لا</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name="Slide 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072"/>
          <p:cNvSpPr/>
          <p:nvPr/>
        </p:nvSpPr>
        <p:spPr>
          <a:xfrm>
            <a:off x="9768535" y="2130552"/>
            <a:ext cx="1600200" cy="1018032"/>
          </a:xfrm>
          <a:prstGeom prst="roundRect">
            <a:avLst>
              <a:gd name="adj" fmla="val 13473"/>
            </a:avLst>
          </a:prstGeom>
          <a:solidFill>
            <a:srgbClr val="E9EDF9"/>
          </a:solidFill>
          <a:ln/>
        </p:spPr>
      </p:sp>
      <p:sp>
        <p:nvSpPr>
          <p:cNvPr id="6" name="anim-g1-1073"/>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بعد الطرفة</a:t>
            </a:r>
            <a:endParaRPr lang="ar-SA" sz="1400" dirty="0"/>
          </a:p>
        </p:txBody>
      </p:sp>
      <p:sp>
        <p:nvSpPr>
          <p:cNvPr id="7" name="anim-g1-1074"/>
          <p:cNvSpPr/>
          <p:nvPr/>
        </p:nvSpPr>
        <p:spPr>
          <a:xfrm>
            <a:off x="822960" y="2057400"/>
            <a:ext cx="8716975" cy="1164336"/>
          </a:xfrm>
          <a:prstGeom prst="roundRect">
            <a:avLst>
              <a:gd name="adj" fmla="val 17277"/>
            </a:avLst>
          </a:prstGeom>
          <a:solidFill>
            <a:srgbClr val="101B45"/>
          </a:solidFill>
          <a:ln/>
        </p:spPr>
      </p:sp>
      <p:sp>
        <p:nvSpPr>
          <p:cNvPr id="8" name="anim-g1-1075"/>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ذكي يا إيهاب! ولماذا اختاروا اسم صلاح الدين لهذا الحي؟ من يعرف؟</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1076"/>
          <p:cNvSpPr/>
          <p:nvPr/>
        </p:nvSpPr>
        <p:spPr>
          <a:xfrm>
            <a:off x="9768535" y="3441192"/>
            <a:ext cx="1600200" cy="1018032"/>
          </a:xfrm>
          <a:prstGeom prst="roundRect">
            <a:avLst>
              <a:gd name="adj" fmla="val 13473"/>
            </a:avLst>
          </a:prstGeom>
          <a:solidFill>
            <a:srgbClr val="E9EDF9"/>
          </a:solidFill>
          <a:ln/>
        </p:spPr>
      </p:sp>
      <p:sp>
        <p:nvSpPr>
          <p:cNvPr id="10" name="anim-g2-1077"/>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إن تكرر التعطيل</a:t>
            </a:r>
            <a:endParaRPr lang="ar-SA" sz="1400" dirty="0"/>
          </a:p>
        </p:txBody>
      </p:sp>
      <p:sp>
        <p:nvSpPr>
          <p:cNvPr id="11" name="anim-g2-1078"/>
          <p:cNvSpPr/>
          <p:nvPr/>
        </p:nvSpPr>
        <p:spPr>
          <a:xfrm>
            <a:off x="822960" y="3368040"/>
            <a:ext cx="8716975" cy="1164336"/>
          </a:xfrm>
          <a:prstGeom prst="roundRect">
            <a:avLst>
              <a:gd name="adj" fmla="val 17277"/>
            </a:avLst>
          </a:prstGeom>
          <a:solidFill>
            <a:srgbClr val="101B45"/>
          </a:solidFill>
          <a:ln/>
        </p:spPr>
      </p:sp>
      <p:sp>
        <p:nvSpPr>
          <p:cNvPr id="12" name="anim-g2-1079"/>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أحب روح الفكاهة عندكم، والآن نحتاج خمس دقائق جادة، وبعدها مفاجأة</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3" name="anim-g3-1080"/>
          <p:cNvSpPr/>
          <p:nvPr/>
        </p:nvSpPr>
        <p:spPr>
          <a:xfrm>
            <a:off x="9768535" y="4751832"/>
            <a:ext cx="1600200" cy="1018032"/>
          </a:xfrm>
          <a:prstGeom prst="roundRect">
            <a:avLst>
              <a:gd name="adj" fmla="val 13473"/>
            </a:avLst>
          </a:prstGeom>
          <a:solidFill>
            <a:srgbClr val="E9EDF9"/>
          </a:solidFill>
          <a:ln/>
        </p:spPr>
      </p:sp>
      <p:sp>
        <p:nvSpPr>
          <p:cNvPr id="14" name="anim-g3-1081"/>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مع الثلاثة بعد الحصة</a:t>
            </a:r>
            <a:endParaRPr lang="ar-SA" sz="1400" dirty="0"/>
          </a:p>
        </p:txBody>
      </p:sp>
      <p:sp>
        <p:nvSpPr>
          <p:cNvPr id="15" name="anim-g3-1082"/>
          <p:cNvSpPr/>
          <p:nvPr/>
        </p:nvSpPr>
        <p:spPr>
          <a:xfrm>
            <a:off x="822960" y="4678680"/>
            <a:ext cx="8716975" cy="1164336"/>
          </a:xfrm>
          <a:prstGeom prst="roundRect">
            <a:avLst>
              <a:gd name="adj" fmla="val 17277"/>
            </a:avLst>
          </a:prstGeom>
          <a:solidFill>
            <a:srgbClr val="101B45"/>
          </a:solidFill>
          <a:ln/>
        </p:spPr>
      </p:sp>
      <p:sp>
        <p:nvSpPr>
          <p:cNvPr id="16" name="anim-g3-1083"/>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أنتم قادة هذا الفصل فعلًا، وأريدكم أن تقودوه معي. من يحضّر مسابقة الأسبوع القادم؟</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name="Slide 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084"/>
          <p:cNvSpPr/>
          <p:nvPr/>
        </p:nvSpPr>
        <p:spPr>
          <a:xfrm>
            <a:off x="6415888" y="2194560"/>
            <a:ext cx="4952848" cy="804672"/>
          </a:xfrm>
          <a:prstGeom prst="roundRect">
            <a:avLst>
              <a:gd name="adj" fmla="val 15909"/>
            </a:avLst>
          </a:prstGeom>
          <a:solidFill>
            <a:srgbClr val="FBECEC"/>
          </a:solidFill>
          <a:ln/>
        </p:spPr>
      </p:sp>
      <p:sp>
        <p:nvSpPr>
          <p:cNvPr id="6" name="anim-g1-1085"/>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التحول إلى إلقاء صامت</a:t>
            </a:r>
            <a:endParaRPr lang="ar-SA" sz="1900" dirty="0"/>
          </a:p>
        </p:txBody>
      </p:sp>
      <p:sp>
        <p:nvSpPr>
          <p:cNvPr id="7" name="anim-g1-1086"/>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087"/>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1088"/>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089"/>
          <p:cNvSpPr/>
          <p:nvPr/>
        </p:nvSpPr>
        <p:spPr>
          <a:xfrm>
            <a:off x="822960" y="2194560"/>
            <a:ext cx="4952848" cy="804672"/>
          </a:xfrm>
          <a:prstGeom prst="roundRect">
            <a:avLst>
              <a:gd name="adj" fmla="val 15909"/>
            </a:avLst>
          </a:prstGeom>
          <a:solidFill>
            <a:srgbClr val="E6F4EC"/>
          </a:solidFill>
          <a:ln/>
        </p:spPr>
      </p:sp>
      <p:sp>
        <p:nvSpPr>
          <p:cNvPr id="11" name="anim-g2-1090"/>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نشاط تفاعلي يُشغل الجميع</a:t>
            </a:r>
            <a:endParaRPr lang="ar-SA" sz="1900" dirty="0"/>
          </a:p>
        </p:txBody>
      </p:sp>
      <p:sp>
        <p:nvSpPr>
          <p:cNvPr id="12" name="anim-g3-1091"/>
          <p:cNvSpPr/>
          <p:nvPr/>
        </p:nvSpPr>
        <p:spPr>
          <a:xfrm>
            <a:off x="6415888" y="3154680"/>
            <a:ext cx="4952848" cy="804672"/>
          </a:xfrm>
          <a:prstGeom prst="roundRect">
            <a:avLst>
              <a:gd name="adj" fmla="val 15909"/>
            </a:avLst>
          </a:prstGeom>
          <a:solidFill>
            <a:srgbClr val="FBECEC"/>
          </a:solidFill>
          <a:ln/>
        </p:spPr>
      </p:sp>
      <p:sp>
        <p:nvSpPr>
          <p:cNvPr id="13" name="anim-g3-1092"/>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معاقبة المجموعة علنًا</a:t>
            </a:r>
            <a:endParaRPr lang="ar-SA" sz="1900" dirty="0"/>
          </a:p>
        </p:txBody>
      </p:sp>
      <p:sp>
        <p:nvSpPr>
          <p:cNvPr id="14" name="anim-g3-1093"/>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094"/>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1095"/>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096"/>
          <p:cNvSpPr/>
          <p:nvPr/>
        </p:nvSpPr>
        <p:spPr>
          <a:xfrm>
            <a:off x="822960" y="3154680"/>
            <a:ext cx="4952848" cy="804672"/>
          </a:xfrm>
          <a:prstGeom prst="roundRect">
            <a:avLst>
              <a:gd name="adj" fmla="val 15909"/>
            </a:avLst>
          </a:prstGeom>
          <a:solidFill>
            <a:srgbClr val="E6F4EC"/>
          </a:solidFill>
          <a:ln/>
        </p:spPr>
      </p:sp>
      <p:sp>
        <p:nvSpPr>
          <p:cNvPr id="18" name="anim-g4-1097"/>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حوار خاص مع قادة المجموعة</a:t>
            </a:r>
            <a:endParaRPr lang="ar-SA" sz="1900" dirty="0"/>
          </a:p>
        </p:txBody>
      </p:sp>
      <p:sp>
        <p:nvSpPr>
          <p:cNvPr id="19" name="anim-g5-1098"/>
          <p:cNvSpPr/>
          <p:nvPr/>
        </p:nvSpPr>
        <p:spPr>
          <a:xfrm>
            <a:off x="6415888" y="4114800"/>
            <a:ext cx="4952848" cy="804672"/>
          </a:xfrm>
          <a:prstGeom prst="roundRect">
            <a:avLst>
              <a:gd name="adj" fmla="val 15909"/>
            </a:avLst>
          </a:prstGeom>
          <a:solidFill>
            <a:srgbClr val="FBECEC"/>
          </a:solidFill>
          <a:ln/>
        </p:spPr>
      </p:sp>
      <p:sp>
        <p:nvSpPr>
          <p:cNvPr id="20" name="anim-g5-1099"/>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قمع كل فكاهة</a:t>
            </a:r>
            <a:endParaRPr lang="ar-SA" sz="1900" dirty="0"/>
          </a:p>
        </p:txBody>
      </p:sp>
      <p:sp>
        <p:nvSpPr>
          <p:cNvPr id="21" name="anim-g5-1100"/>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101"/>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1102"/>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103"/>
          <p:cNvSpPr/>
          <p:nvPr/>
        </p:nvSpPr>
        <p:spPr>
          <a:xfrm>
            <a:off x="822960" y="4114800"/>
            <a:ext cx="4952848" cy="804672"/>
          </a:xfrm>
          <a:prstGeom prst="roundRect">
            <a:avLst>
              <a:gd name="adj" fmla="val 15909"/>
            </a:avLst>
          </a:prstGeom>
          <a:solidFill>
            <a:srgbClr val="E6F4EC"/>
          </a:solidFill>
          <a:ln/>
        </p:spPr>
      </p:sp>
      <p:sp>
        <p:nvSpPr>
          <p:cNvPr id="25" name="anim-g6-1104"/>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فكاهة مرتبطة بالدرس ولها وقت</a:t>
            </a:r>
            <a:endParaRPr lang="ar-SA" sz="19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name="Slide 1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5919" y="457200"/>
            <a:ext cx="4242816" cy="457200"/>
          </a:xfrm>
          <a:prstGeom prst="roundRect">
            <a:avLst>
              <a:gd name="adj" fmla="val 50000"/>
            </a:avLst>
          </a:prstGeom>
          <a:solidFill>
            <a:srgbClr val="F6EBCF"/>
          </a:solidFill>
          <a:ln/>
        </p:spPr>
      </p:sp>
      <p:sp>
        <p:nvSpPr>
          <p:cNvPr id="3" name="Text 1"/>
          <p:cNvSpPr/>
          <p:nvPr/>
        </p:nvSpPr>
        <p:spPr>
          <a:xfrm>
            <a:off x="7125919" y="457200"/>
            <a:ext cx="424281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من التهريج إلى المسؤولية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كيف يستثمر الموقف لتنمية المسؤولية؟</a:t>
            </a:r>
            <a:endParaRPr lang="ar-SA" sz="3200" dirty="0"/>
          </a:p>
        </p:txBody>
      </p:sp>
      <p:sp>
        <p:nvSpPr>
          <p:cNvPr id="5" name="anim-g1-1105"/>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106"/>
          <p:cNvSpPr/>
          <p:nvPr/>
        </p:nvSpPr>
        <p:spPr>
          <a:xfrm>
            <a:off x="10362895" y="2404872"/>
            <a:ext cx="731520" cy="731520"/>
          </a:xfrm>
          <a:prstGeom prst="roundRect">
            <a:avLst>
              <a:gd name="adj" fmla="val 25000"/>
            </a:avLst>
          </a:prstGeom>
          <a:solidFill>
            <a:srgbClr val="F7E6BC"/>
          </a:solidFill>
          <a:ln/>
        </p:spPr>
      </p:sp>
      <p:sp>
        <p:nvSpPr>
          <p:cNvPr id="7" name="anim-g1-1107"/>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108"/>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مسابقة يعدّونها</a:t>
            </a:r>
            <a:endParaRPr lang="ar-SA" sz="2300" dirty="0"/>
          </a:p>
        </p:txBody>
      </p:sp>
      <p:sp>
        <p:nvSpPr>
          <p:cNvPr id="9" name="anim-g1-1109"/>
          <p:cNvSpPr/>
          <p:nvPr/>
        </p:nvSpPr>
        <p:spPr>
          <a:xfrm>
            <a:off x="8310677"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الثلاثة يحضّرون مسابقة مراجعة للفصل</a:t>
            </a:r>
            <a:endParaRPr lang="ar-SA" sz="1800" dirty="0"/>
          </a:p>
        </p:txBody>
      </p:sp>
      <p:sp>
        <p:nvSpPr>
          <p:cNvPr id="10" name="anim-g2-1110"/>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111"/>
          <p:cNvSpPr/>
          <p:nvPr/>
        </p:nvSpPr>
        <p:spPr>
          <a:xfrm>
            <a:off x="6756197" y="2404872"/>
            <a:ext cx="731520" cy="731520"/>
          </a:xfrm>
          <a:prstGeom prst="roundRect">
            <a:avLst>
              <a:gd name="adj" fmla="val 25000"/>
            </a:avLst>
          </a:prstGeom>
          <a:solidFill>
            <a:srgbClr val="F7E6BC"/>
          </a:solidFill>
          <a:ln/>
        </p:spPr>
      </p:sp>
      <p:sp>
        <p:nvSpPr>
          <p:cNvPr id="12" name="anim-g2-1112"/>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113"/>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مدير الوقت</a:t>
            </a:r>
            <a:endParaRPr lang="ar-SA" sz="2300" dirty="0"/>
          </a:p>
        </p:txBody>
      </p:sp>
      <p:sp>
        <p:nvSpPr>
          <p:cNvPr id="14" name="anim-g2-1114"/>
          <p:cNvSpPr/>
          <p:nvPr/>
        </p:nvSpPr>
        <p:spPr>
          <a:xfrm>
            <a:off x="4703978"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أحدهم مسؤول عن التزام الفصل بوقت النشاط</a:t>
            </a:r>
            <a:endParaRPr lang="ar-SA" sz="1800" dirty="0"/>
          </a:p>
        </p:txBody>
      </p:sp>
      <p:sp>
        <p:nvSpPr>
          <p:cNvPr id="15" name="anim-g3-1115"/>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116"/>
          <p:cNvSpPr/>
          <p:nvPr/>
        </p:nvSpPr>
        <p:spPr>
          <a:xfrm>
            <a:off x="3149498" y="2404872"/>
            <a:ext cx="731520" cy="731520"/>
          </a:xfrm>
          <a:prstGeom prst="roundRect">
            <a:avLst>
              <a:gd name="adj" fmla="val 25000"/>
            </a:avLst>
          </a:prstGeom>
          <a:solidFill>
            <a:srgbClr val="F7E6BC"/>
          </a:solidFill>
          <a:ln/>
        </p:spPr>
      </p:sp>
      <p:sp>
        <p:nvSpPr>
          <p:cNvPr id="17" name="anim-g3-1117"/>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1118"/>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ميثاق الفكاهة</a:t>
            </a:r>
            <a:endParaRPr lang="ar-SA" sz="2300" dirty="0"/>
          </a:p>
        </p:txBody>
      </p:sp>
      <p:sp>
        <p:nvSpPr>
          <p:cNvPr id="19" name="anim-g3-1119"/>
          <p:cNvSpPr/>
          <p:nvPr/>
        </p:nvSpPr>
        <p:spPr>
          <a:xfrm>
            <a:off x="1097280"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يكتب الفصل متى تكون الطرفة مقبولة ومتى لا</a:t>
            </a:r>
            <a:endParaRPr lang="ar-SA" sz="18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١٠٠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تطفئ روح الفصل…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وجّهها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مهرّجو الفصل  ·  ١٠١</a:t>
            </a:r>
            <a:endParaRPr lang="ar-SA"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120" descr="/Users/mac/Desktop/أردوينو/المشاريع والكتب/younes-training/mawaqif/assets/scenes/sandwich.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٧</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الساندويتش ينادي سالم</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الساندويتش ينادي سالم  ·  ١٠٢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1121"/>
          <p:cNvSpPr/>
          <p:nvPr/>
        </p:nvSpPr>
        <p:spPr>
          <a:xfrm>
            <a:off x="11323015" y="2011680"/>
            <a:ext cx="45720" cy="845820"/>
          </a:xfrm>
          <a:prstGeom prst="rect">
            <a:avLst/>
          </a:prstGeom>
          <a:solidFill>
            <a:srgbClr val="E4DCC8"/>
          </a:solidFill>
          <a:ln/>
        </p:spPr>
      </p:sp>
      <p:sp>
        <p:nvSpPr>
          <p:cNvPr id="6" name="anim-g1-1122"/>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يعرف سالم (الخامس الابتدائي) أن الأكل ممنوع أثناء الحصة، لكن كلما أدار أ. سند ظهره أخرج الساندويتش من الدرج وقضم قطعة.</a:t>
            </a:r>
            <a:endParaRPr lang="ar-SA" sz="1700" dirty="0"/>
          </a:p>
        </p:txBody>
      </p:sp>
      <p:sp>
        <p:nvSpPr>
          <p:cNvPr id="7" name="anim-g2-1123"/>
          <p:cNvSpPr/>
          <p:nvPr/>
        </p:nvSpPr>
        <p:spPr>
          <a:xfrm>
            <a:off x="11323015" y="3040380"/>
            <a:ext cx="45720" cy="845820"/>
          </a:xfrm>
          <a:prstGeom prst="rect">
            <a:avLst/>
          </a:prstGeom>
          <a:solidFill>
            <a:srgbClr val="E4DCC8"/>
          </a:solidFill>
          <a:ln/>
        </p:spPr>
      </p:sp>
      <p:sp>
        <p:nvSpPr>
          <p:cNvPr id="8" name="anim-g2-1124"/>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أكل نصفه تقريبًا قبل أن ينتبه أ. سند: «سالم! لا أكل في الحصة، اتركه للفسحة». «آسف يا أستاذ».</a:t>
            </a:r>
            <a:endParaRPr lang="ar-SA" sz="1700" dirty="0"/>
          </a:p>
        </p:txBody>
      </p:sp>
      <p:sp>
        <p:nvSpPr>
          <p:cNvPr id="9" name="anim-g3-1125"/>
          <p:cNvSpPr/>
          <p:nvPr/>
        </p:nvSpPr>
        <p:spPr>
          <a:xfrm>
            <a:off x="11323015" y="4069080"/>
            <a:ext cx="45720" cy="845820"/>
          </a:xfrm>
          <a:prstGeom prst="rect">
            <a:avLst/>
          </a:prstGeom>
          <a:solidFill>
            <a:srgbClr val="E4DCC8"/>
          </a:solidFill>
          <a:ln/>
        </p:spPr>
      </p:sp>
      <p:sp>
        <p:nvSpPr>
          <p:cNvPr id="10" name="anim-g3-1126"/>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بعد دقائق عاد سالم للعبة نفسها، فأمسكه أ. سند ثانية، وعلا صوته: «ألم أقل لك؟ عيب!»</a:t>
            </a:r>
            <a:endParaRPr lang="ar-SA" sz="1700" dirty="0"/>
          </a:p>
        </p:txBody>
      </p:sp>
      <p:sp>
        <p:nvSpPr>
          <p:cNvPr id="11" name="anim-g4-1127"/>
          <p:cNvSpPr/>
          <p:nvPr/>
        </p:nvSpPr>
        <p:spPr>
          <a:xfrm>
            <a:off x="11323015" y="5097780"/>
            <a:ext cx="45720" cy="845820"/>
          </a:xfrm>
          <a:prstGeom prst="rect">
            <a:avLst/>
          </a:prstGeom>
          <a:solidFill>
            <a:srgbClr val="D64545"/>
          </a:solidFill>
          <a:ln/>
        </p:spPr>
      </p:sp>
      <p:sp>
        <p:nvSpPr>
          <p:cNvPr id="12" name="anim-g4-1128"/>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وعاد سالم… للمرة الثالثة.</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sandwich.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name="Slide 1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التصرف الأنسب؟</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رفع الصوت أكثر حتى يرتدع</a:t>
            </a:r>
            <a:endParaRPr lang="ar-SA" sz="2300" dirty="0"/>
          </a:p>
        </p:txBody>
      </p:sp>
      <p:sp>
        <p:nvSpPr>
          <p:cNvPr id="9" name="anim-g1-112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130"/>
          <p:cNvSpPr/>
          <p:nvPr/>
        </p:nvSpPr>
        <p:spPr>
          <a:xfrm>
            <a:off x="10231831" y="2194560"/>
            <a:ext cx="954024" cy="954024"/>
          </a:xfrm>
          <a:prstGeom prst="roundRect">
            <a:avLst>
              <a:gd name="adj" fmla="val 11502"/>
            </a:avLst>
          </a:prstGeom>
          <a:solidFill>
            <a:srgbClr val="A3A9BA"/>
          </a:solidFill>
          <a:ln/>
        </p:spPr>
      </p:sp>
      <p:sp>
        <p:nvSpPr>
          <p:cNvPr id="11" name="anim-g1-113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132"/>
          <p:cNvSpPr/>
          <p:nvPr/>
        </p:nvSpPr>
        <p:spPr>
          <a:xfrm>
            <a:off x="1097280" y="2112264"/>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رفع الصوت أكثر حتى يرتدع</a:t>
            </a:r>
            <a:endParaRPr lang="ar-SA" sz="2100" dirty="0"/>
          </a:p>
        </p:txBody>
      </p:sp>
      <p:sp>
        <p:nvSpPr>
          <p:cNvPr id="13" name="anim-g1-1133"/>
          <p:cNvSpPr/>
          <p:nvPr/>
        </p:nvSpPr>
        <p:spPr>
          <a:xfrm>
            <a:off x="1097280" y="2720706"/>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الصوت العالي لم يغيّر شيئًا، والتكرار دليل ذلك</a:t>
            </a:r>
            <a:endParaRPr lang="ar-SA" sz="13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مصادرة الساندويتش ورميه</a:t>
            </a:r>
            <a:endParaRPr lang="ar-SA" sz="2300" dirty="0"/>
          </a:p>
        </p:txBody>
      </p:sp>
      <p:sp>
        <p:nvSpPr>
          <p:cNvPr id="18" name="anim-g1-1134"/>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135"/>
          <p:cNvSpPr/>
          <p:nvPr/>
        </p:nvSpPr>
        <p:spPr>
          <a:xfrm>
            <a:off x="10231831" y="3569208"/>
            <a:ext cx="954024" cy="954024"/>
          </a:xfrm>
          <a:prstGeom prst="roundRect">
            <a:avLst>
              <a:gd name="adj" fmla="val 11502"/>
            </a:avLst>
          </a:prstGeom>
          <a:solidFill>
            <a:srgbClr val="A3A9BA"/>
          </a:solidFill>
          <a:ln/>
        </p:spPr>
      </p:sp>
      <p:sp>
        <p:nvSpPr>
          <p:cNvPr id="20" name="anim-g1-1136"/>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137"/>
          <p:cNvSpPr/>
          <p:nvPr/>
        </p:nvSpPr>
        <p:spPr>
          <a:xfrm>
            <a:off x="1097280" y="3486912"/>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مصادرة الساندويتش ورميه</a:t>
            </a:r>
            <a:endParaRPr lang="ar-SA" sz="2100" dirty="0"/>
          </a:p>
        </p:txBody>
      </p:sp>
      <p:sp>
        <p:nvSpPr>
          <p:cNvPr id="22" name="anim-g1-1138"/>
          <p:cNvSpPr/>
          <p:nvPr/>
        </p:nvSpPr>
        <p:spPr>
          <a:xfrm>
            <a:off x="1097280" y="4095354"/>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رمي الطعام إهانة، وقد يكون جائعًا فعلًا</a:t>
            </a:r>
            <a:endParaRPr lang="ar-SA" sz="13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السؤال بهدوء: «أنت جائع؟» ثم حل عملي</a:t>
            </a:r>
            <a:endParaRPr lang="ar-SA" sz="2300" dirty="0"/>
          </a:p>
        </p:txBody>
      </p:sp>
      <p:sp>
        <p:nvSpPr>
          <p:cNvPr id="27" name="anim-g1-1139"/>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140"/>
          <p:cNvSpPr/>
          <p:nvPr/>
        </p:nvSpPr>
        <p:spPr>
          <a:xfrm>
            <a:off x="10231831" y="4943856"/>
            <a:ext cx="954024" cy="954024"/>
          </a:xfrm>
          <a:prstGeom prst="roundRect">
            <a:avLst>
              <a:gd name="adj" fmla="val 11502"/>
            </a:avLst>
          </a:prstGeom>
          <a:solidFill>
            <a:srgbClr val="2E9E6B"/>
          </a:solidFill>
          <a:ln/>
        </p:spPr>
      </p:sp>
      <p:sp>
        <p:nvSpPr>
          <p:cNvPr id="29" name="anim-g1-114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142"/>
          <p:cNvSpPr/>
          <p:nvPr/>
        </p:nvSpPr>
        <p:spPr>
          <a:xfrm>
            <a:off x="1097280" y="4861560"/>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السؤال بهدوء: «أنت جائع؟» ثم حل عملي</a:t>
            </a:r>
            <a:endParaRPr lang="ar-SA" sz="2100" dirty="0"/>
          </a:p>
        </p:txBody>
      </p:sp>
      <p:sp>
        <p:nvSpPr>
          <p:cNvPr id="31" name="anim-g1-1143"/>
          <p:cNvSpPr/>
          <p:nvPr/>
        </p:nvSpPr>
        <p:spPr>
          <a:xfrm>
            <a:off x="1097280" y="5470002"/>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السلوك المتكرر رغم معرفة القاعدة يشير إلى حاجة، لا إلى تحدٍّ</a:t>
            </a:r>
            <a:endParaRPr lang="ar-SA" sz="13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يكرر سالم؟</a:t>
            </a:r>
            <a:endParaRPr lang="ar-SA" sz="3800" dirty="0"/>
          </a:p>
        </p:txBody>
      </p:sp>
      <p:sp>
        <p:nvSpPr>
          <p:cNvPr id="5" name="anim-g1-1144"/>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145"/>
          <p:cNvSpPr/>
          <p:nvPr/>
        </p:nvSpPr>
        <p:spPr>
          <a:xfrm>
            <a:off x="9816198" y="2194560"/>
            <a:ext cx="640080" cy="640080"/>
          </a:xfrm>
          <a:prstGeom prst="roundRect">
            <a:avLst>
              <a:gd name="adj" fmla="val 25714"/>
            </a:avLst>
          </a:prstGeom>
          <a:solidFill>
            <a:srgbClr val="F7E6BC"/>
          </a:solidFill>
          <a:ln/>
        </p:spPr>
      </p:sp>
      <p:sp>
        <p:nvSpPr>
          <p:cNvPr id="7" name="anim-g1-1146"/>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147"/>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جوع حقيقي</a:t>
            </a:r>
            <a:endParaRPr lang="ar-SA" sz="2200" dirty="0"/>
          </a:p>
        </p:txBody>
      </p:sp>
      <p:sp>
        <p:nvSpPr>
          <p:cNvPr id="9" name="anim-g1-1148"/>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ربما لم يفطر في البيت</a:t>
            </a:r>
            <a:endParaRPr lang="ar-SA" sz="1600" dirty="0"/>
          </a:p>
        </p:txBody>
      </p:sp>
      <p:sp>
        <p:nvSpPr>
          <p:cNvPr id="10" name="anim-g2-1149"/>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150"/>
          <p:cNvSpPr/>
          <p:nvPr/>
        </p:nvSpPr>
        <p:spPr>
          <a:xfrm>
            <a:off x="7122604" y="2194560"/>
            <a:ext cx="640080" cy="640080"/>
          </a:xfrm>
          <a:prstGeom prst="roundRect">
            <a:avLst>
              <a:gd name="adj" fmla="val 25714"/>
            </a:avLst>
          </a:prstGeom>
          <a:solidFill>
            <a:srgbClr val="F7E6BC"/>
          </a:solidFill>
          <a:ln/>
        </p:spPr>
      </p:sp>
      <p:sp>
        <p:nvSpPr>
          <p:cNvPr id="12" name="anim-g2-1151"/>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152"/>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التوقيت</a:t>
            </a:r>
            <a:endParaRPr lang="ar-SA" sz="2200" dirty="0"/>
          </a:p>
        </p:txBody>
      </p:sp>
      <p:sp>
        <p:nvSpPr>
          <p:cNvPr id="14" name="anim-g2-1153"/>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الحصة قبل الفسحة مباشرة</a:t>
            </a:r>
            <a:endParaRPr lang="ar-SA" sz="1600" dirty="0"/>
          </a:p>
        </p:txBody>
      </p:sp>
      <p:sp>
        <p:nvSpPr>
          <p:cNvPr id="15" name="anim-g3-1154"/>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155"/>
          <p:cNvSpPr/>
          <p:nvPr/>
        </p:nvSpPr>
        <p:spPr>
          <a:xfrm>
            <a:off x="4429011" y="2194560"/>
            <a:ext cx="640080" cy="640080"/>
          </a:xfrm>
          <a:prstGeom prst="roundRect">
            <a:avLst>
              <a:gd name="adj" fmla="val 25714"/>
            </a:avLst>
          </a:prstGeom>
          <a:solidFill>
            <a:srgbClr val="F7E6BC"/>
          </a:solidFill>
          <a:ln/>
        </p:spPr>
      </p:sp>
      <p:sp>
        <p:nvSpPr>
          <p:cNvPr id="17" name="anim-g3-1156"/>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157"/>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عادة</a:t>
            </a:r>
            <a:endParaRPr lang="ar-SA" sz="2200" dirty="0"/>
          </a:p>
        </p:txBody>
      </p:sp>
      <p:sp>
        <p:nvSpPr>
          <p:cNvPr id="19" name="anim-g3-1158"/>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الأكل أثناء الانشغال عادة منزلية</a:t>
            </a:r>
            <a:endParaRPr lang="ar-SA" sz="1600" dirty="0"/>
          </a:p>
        </p:txBody>
      </p:sp>
      <p:sp>
        <p:nvSpPr>
          <p:cNvPr id="20" name="anim-g4-1159"/>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160"/>
          <p:cNvSpPr/>
          <p:nvPr/>
        </p:nvSpPr>
        <p:spPr>
          <a:xfrm>
            <a:off x="1735417" y="2194560"/>
            <a:ext cx="640080" cy="640080"/>
          </a:xfrm>
          <a:prstGeom prst="roundRect">
            <a:avLst>
              <a:gd name="adj" fmla="val 25714"/>
            </a:avLst>
          </a:prstGeom>
          <a:solidFill>
            <a:srgbClr val="F7E6BC"/>
          </a:solidFill>
          <a:ln/>
        </p:spPr>
      </p:sp>
      <p:sp>
        <p:nvSpPr>
          <p:cNvPr id="22" name="anim-g4-1161"/>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162"/>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لعبة</a:t>
            </a:r>
            <a:endParaRPr lang="ar-SA" sz="2200" dirty="0"/>
          </a:p>
        </p:txBody>
      </p:sp>
      <p:sp>
        <p:nvSpPr>
          <p:cNvPr id="24" name="anim-g4-1163"/>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التحدي الصغير ممتع حين يدير المعلم ظهره</a:t>
            </a:r>
            <a:endParaRPr lang="ar-SA" sz="1600" dirty="0"/>
          </a:p>
        </p:txBody>
      </p:sp>
      <p:sp>
        <p:nvSpPr>
          <p:cNvPr id="25" name="anim-g5-1164"/>
          <p:cNvSpPr/>
          <p:nvPr/>
        </p:nvSpPr>
        <p:spPr>
          <a:xfrm>
            <a:off x="822960" y="4754880"/>
            <a:ext cx="10545775" cy="1051560"/>
          </a:xfrm>
          <a:prstGeom prst="roundRect">
            <a:avLst>
              <a:gd name="adj" fmla="val 17391"/>
            </a:avLst>
          </a:prstGeom>
          <a:solidFill>
            <a:srgbClr val="101B45"/>
          </a:solidFill>
          <a:ln/>
        </p:spPr>
      </p:sp>
      <p:sp>
        <p:nvSpPr>
          <p:cNvPr id="26" name="anim-g5-1165"/>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حين يتكرر السلوك رغم معرفة القاعدة…</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ابحث عن الحاجة</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name="Slide 1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ماذا تفعل فورًا؟</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166"/>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167"/>
          <p:cNvSpPr/>
          <p:nvPr/>
        </p:nvSpPr>
        <p:spPr>
          <a:xfrm>
            <a:off x="9747618" y="2423160"/>
            <a:ext cx="777240" cy="777240"/>
          </a:xfrm>
          <a:prstGeom prst="ellipse">
            <a:avLst/>
          </a:prstGeom>
          <a:solidFill>
            <a:srgbClr val="D9AE4B"/>
          </a:solidFill>
          <a:ln/>
        </p:spPr>
      </p:sp>
      <p:sp>
        <p:nvSpPr>
          <p:cNvPr id="9" name="anim-g1-1168"/>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169"/>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اقترب</a:t>
            </a:r>
            <a:endParaRPr lang="ar-SA" sz="2500" dirty="0"/>
          </a:p>
        </p:txBody>
      </p:sp>
      <p:sp>
        <p:nvSpPr>
          <p:cNvPr id="11" name="anim-g1-1170"/>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دون أن تتوقف عن الشرح</a:t>
            </a:r>
            <a:endParaRPr lang="ar-SA" sz="1700" dirty="0"/>
          </a:p>
        </p:txBody>
      </p:sp>
      <p:sp>
        <p:nvSpPr>
          <p:cNvPr id="12" name="anim-g2-1171"/>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172"/>
          <p:cNvSpPr/>
          <p:nvPr/>
        </p:nvSpPr>
        <p:spPr>
          <a:xfrm>
            <a:off x="7054024" y="2423160"/>
            <a:ext cx="777240" cy="777240"/>
          </a:xfrm>
          <a:prstGeom prst="ellipse">
            <a:avLst/>
          </a:prstGeom>
          <a:solidFill>
            <a:srgbClr val="D9AE4B"/>
          </a:solidFill>
          <a:ln/>
        </p:spPr>
      </p:sp>
      <p:sp>
        <p:nvSpPr>
          <p:cNvPr id="14" name="anim-g2-1173"/>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174"/>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 همسًا</a:t>
            </a:r>
            <a:endParaRPr lang="ar-SA" sz="2500" dirty="0"/>
          </a:p>
        </p:txBody>
      </p:sp>
      <p:sp>
        <p:nvSpPr>
          <p:cNvPr id="16" name="anim-g2-1175"/>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«جائع؟»</a:t>
            </a:r>
            <a:endParaRPr lang="ar-SA" sz="1700" dirty="0"/>
          </a:p>
        </p:txBody>
      </p:sp>
      <p:sp>
        <p:nvSpPr>
          <p:cNvPr id="17" name="anim-g3-1176"/>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177"/>
          <p:cNvSpPr/>
          <p:nvPr/>
        </p:nvSpPr>
        <p:spPr>
          <a:xfrm>
            <a:off x="4360431" y="2423160"/>
            <a:ext cx="777240" cy="777240"/>
          </a:xfrm>
          <a:prstGeom prst="ellipse">
            <a:avLst/>
          </a:prstGeom>
          <a:solidFill>
            <a:srgbClr val="D9AE4B"/>
          </a:solidFill>
          <a:ln/>
        </p:spPr>
      </p:sp>
      <p:sp>
        <p:nvSpPr>
          <p:cNvPr id="19" name="anim-g3-1178"/>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179"/>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حل عملي</a:t>
            </a:r>
            <a:endParaRPr lang="ar-SA" sz="2500" dirty="0"/>
          </a:p>
        </p:txBody>
      </p:sp>
      <p:sp>
        <p:nvSpPr>
          <p:cNvPr id="21" name="anim-g3-1180"/>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«في الحقيبة الآن، ولك دقيقة قبل الجرس»</a:t>
            </a:r>
            <a:endParaRPr lang="ar-SA" sz="1700" dirty="0"/>
          </a:p>
        </p:txBody>
      </p:sp>
      <p:sp>
        <p:nvSpPr>
          <p:cNvPr id="22" name="anim-g4-1181"/>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182"/>
          <p:cNvSpPr/>
          <p:nvPr/>
        </p:nvSpPr>
        <p:spPr>
          <a:xfrm>
            <a:off x="1666837" y="2423160"/>
            <a:ext cx="777240" cy="777240"/>
          </a:xfrm>
          <a:prstGeom prst="ellipse">
            <a:avLst/>
          </a:prstGeom>
          <a:solidFill>
            <a:srgbClr val="D9AE4B"/>
          </a:solidFill>
          <a:ln/>
        </p:spPr>
      </p:sp>
      <p:sp>
        <p:nvSpPr>
          <p:cNvPr id="24" name="anim-g4-1183"/>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184"/>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تابع</a:t>
            </a:r>
            <a:endParaRPr lang="ar-SA" sz="2500" dirty="0"/>
          </a:p>
        </p:txBody>
      </p:sp>
      <p:sp>
        <p:nvSpPr>
          <p:cNvPr id="26" name="anim-g4-1185"/>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هل يتكرر الجوع يوميًا؟</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name="Slide 1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186"/>
          <p:cNvSpPr/>
          <p:nvPr/>
        </p:nvSpPr>
        <p:spPr>
          <a:xfrm>
            <a:off x="9768535" y="2130552"/>
            <a:ext cx="1600200" cy="819912"/>
          </a:xfrm>
          <a:prstGeom prst="roundRect">
            <a:avLst>
              <a:gd name="adj" fmla="val 16729"/>
            </a:avLst>
          </a:prstGeom>
          <a:solidFill>
            <a:srgbClr val="E9EDF9"/>
          </a:solidFill>
          <a:ln/>
        </p:spPr>
      </p:sp>
      <p:sp>
        <p:nvSpPr>
          <p:cNvPr id="6" name="anim-g1-1187"/>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همسًا</a:t>
            </a:r>
            <a:endParaRPr lang="ar-SA" sz="1400" dirty="0"/>
          </a:p>
        </p:txBody>
      </p:sp>
      <p:sp>
        <p:nvSpPr>
          <p:cNvPr id="7" name="anim-g1-1188"/>
          <p:cNvSpPr/>
          <p:nvPr/>
        </p:nvSpPr>
        <p:spPr>
          <a:xfrm>
            <a:off x="822960" y="2057400"/>
            <a:ext cx="8716975" cy="966216"/>
          </a:xfrm>
          <a:prstGeom prst="roundRect">
            <a:avLst>
              <a:gd name="adj" fmla="val 20820"/>
            </a:avLst>
          </a:prstGeom>
          <a:solidFill>
            <a:srgbClr val="101B45"/>
          </a:solidFill>
          <a:ln/>
        </p:spPr>
      </p:sp>
      <p:sp>
        <p:nvSpPr>
          <p:cNvPr id="8" name="anim-g1-1189"/>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سالم، يبدو أنك جائع. الساندويتش في الحقيبة الآن، وأعدك بدقيقة قبل الجرس</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9" name="anim-g2-1190"/>
          <p:cNvSpPr/>
          <p:nvPr/>
        </p:nvSpPr>
        <p:spPr>
          <a:xfrm>
            <a:off x="9768535" y="3243072"/>
            <a:ext cx="1600200" cy="819912"/>
          </a:xfrm>
          <a:prstGeom prst="roundRect">
            <a:avLst>
              <a:gd name="adj" fmla="val 16729"/>
            </a:avLst>
          </a:prstGeom>
          <a:solidFill>
            <a:srgbClr val="E9EDF9"/>
          </a:solidFill>
          <a:ln/>
        </p:spPr>
      </p:sp>
      <p:sp>
        <p:nvSpPr>
          <p:cNvPr id="10" name="anim-g2-1191"/>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بعد الحصة</a:t>
            </a:r>
            <a:endParaRPr lang="ar-SA" sz="1400" dirty="0"/>
          </a:p>
        </p:txBody>
      </p:sp>
      <p:sp>
        <p:nvSpPr>
          <p:cNvPr id="11" name="anim-g2-1192"/>
          <p:cNvSpPr/>
          <p:nvPr/>
        </p:nvSpPr>
        <p:spPr>
          <a:xfrm>
            <a:off x="822960" y="3169920"/>
            <a:ext cx="8716975" cy="966216"/>
          </a:xfrm>
          <a:prstGeom prst="roundRect">
            <a:avLst>
              <a:gd name="adj" fmla="val 20820"/>
            </a:avLst>
          </a:prstGeom>
          <a:solidFill>
            <a:srgbClr val="101B45"/>
          </a:solidFill>
          <a:ln/>
        </p:spPr>
      </p:sp>
      <p:sp>
        <p:nvSpPr>
          <p:cNvPr id="12" name="anim-g2-1193"/>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هل تفطر في البيت قبل أن تأتي إلى المدرسة؟</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13" name="anim-g3-1194"/>
          <p:cNvSpPr/>
          <p:nvPr/>
        </p:nvSpPr>
        <p:spPr>
          <a:xfrm>
            <a:off x="9768535" y="4355592"/>
            <a:ext cx="1600200" cy="819912"/>
          </a:xfrm>
          <a:prstGeom prst="roundRect">
            <a:avLst>
              <a:gd name="adj" fmla="val 16729"/>
            </a:avLst>
          </a:prstGeom>
          <a:solidFill>
            <a:srgbClr val="E9EDF9"/>
          </a:solidFill>
          <a:ln/>
        </p:spPr>
      </p:sp>
      <p:sp>
        <p:nvSpPr>
          <p:cNvPr id="14" name="anim-g3-1195"/>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لولي الأمر إن تكرر</a:t>
            </a:r>
            <a:endParaRPr lang="ar-SA" sz="1400" dirty="0"/>
          </a:p>
        </p:txBody>
      </p:sp>
      <p:sp>
        <p:nvSpPr>
          <p:cNvPr id="15" name="anim-g3-1196"/>
          <p:cNvSpPr/>
          <p:nvPr/>
        </p:nvSpPr>
        <p:spPr>
          <a:xfrm>
            <a:off x="822960" y="4282440"/>
            <a:ext cx="8716975" cy="966216"/>
          </a:xfrm>
          <a:prstGeom prst="roundRect">
            <a:avLst>
              <a:gd name="adj" fmla="val 20820"/>
            </a:avLst>
          </a:prstGeom>
          <a:solidFill>
            <a:srgbClr val="101B45"/>
          </a:solidFill>
          <a:ln/>
        </p:spPr>
      </p:sp>
      <p:sp>
        <p:nvSpPr>
          <p:cNvPr id="16" name="anim-g3-1197"/>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لاحظنا أن سالم يجوع كثيرًا في الحصص الأولى، فهل نتعاون على وجبة الفطور؟</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7" name="anim-g4-1198"/>
          <p:cNvSpPr/>
          <p:nvPr/>
        </p:nvSpPr>
        <p:spPr>
          <a:xfrm>
            <a:off x="822960" y="5532120"/>
            <a:ext cx="10545775" cy="548640"/>
          </a:xfrm>
          <a:prstGeom prst="roundRect">
            <a:avLst>
              <a:gd name="adj" fmla="val 20000"/>
            </a:avLst>
          </a:prstGeom>
          <a:solidFill>
            <a:srgbClr val="FBECEC"/>
          </a:solidFill>
          <a:ln/>
        </p:spPr>
      </p:sp>
      <p:sp>
        <p:nvSpPr>
          <p:cNvPr id="18" name="anim-g4-1199"/>
          <p:cNvSpPr/>
          <p:nvPr/>
        </p:nvSpPr>
        <p:spPr>
          <a:xfrm>
            <a:off x="11295583" y="5532120"/>
            <a:ext cx="73152" cy="548640"/>
          </a:xfrm>
          <a:prstGeom prst="rect">
            <a:avLst/>
          </a:prstGeom>
          <a:solidFill>
            <a:srgbClr val="D64545"/>
          </a:solidFill>
          <a:ln/>
        </p:spPr>
      </p:sp>
      <p:sp>
        <p:nvSpPr>
          <p:cNvPr id="19" name="anim-g4-1200"/>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«عيب عليك!» — الجوع ليس عيبًا</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name="Slide 10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201"/>
          <p:cNvSpPr/>
          <p:nvPr/>
        </p:nvSpPr>
        <p:spPr>
          <a:xfrm>
            <a:off x="6415888" y="2194560"/>
            <a:ext cx="4952848" cy="804672"/>
          </a:xfrm>
          <a:prstGeom prst="roundRect">
            <a:avLst>
              <a:gd name="adj" fmla="val 15909"/>
            </a:avLst>
          </a:prstGeom>
          <a:solidFill>
            <a:srgbClr val="FBECEC"/>
          </a:solidFill>
          <a:ln/>
        </p:spPr>
      </p:sp>
      <p:sp>
        <p:nvSpPr>
          <p:cNvPr id="6" name="anim-g1-1202"/>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رفع الصوت مع كل تكرار</a:t>
            </a:r>
            <a:endParaRPr lang="ar-SA" sz="1900" dirty="0"/>
          </a:p>
        </p:txBody>
      </p:sp>
      <p:sp>
        <p:nvSpPr>
          <p:cNvPr id="7" name="anim-g1-1203"/>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204"/>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1205"/>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206"/>
          <p:cNvSpPr/>
          <p:nvPr/>
        </p:nvSpPr>
        <p:spPr>
          <a:xfrm>
            <a:off x="822960" y="2194560"/>
            <a:ext cx="4952848" cy="804672"/>
          </a:xfrm>
          <a:prstGeom prst="roundRect">
            <a:avLst>
              <a:gd name="adj" fmla="val 15909"/>
            </a:avLst>
          </a:prstGeom>
          <a:solidFill>
            <a:srgbClr val="E6F4EC"/>
          </a:solidFill>
          <a:ln/>
        </p:spPr>
      </p:sp>
      <p:sp>
        <p:nvSpPr>
          <p:cNvPr id="11" name="anim-g2-1207"/>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تغيير الأسلوب بعد أول تكرار</a:t>
            </a:r>
            <a:endParaRPr lang="ar-SA" sz="1900" dirty="0"/>
          </a:p>
        </p:txBody>
      </p:sp>
      <p:sp>
        <p:nvSpPr>
          <p:cNvPr id="12" name="anim-g3-1208"/>
          <p:cNvSpPr/>
          <p:nvPr/>
        </p:nvSpPr>
        <p:spPr>
          <a:xfrm>
            <a:off x="6415888" y="3154680"/>
            <a:ext cx="4952848" cy="804672"/>
          </a:xfrm>
          <a:prstGeom prst="roundRect">
            <a:avLst>
              <a:gd name="adj" fmla="val 15909"/>
            </a:avLst>
          </a:prstGeom>
          <a:solidFill>
            <a:srgbClr val="FBECEC"/>
          </a:solidFill>
          <a:ln/>
        </p:spPr>
      </p:sp>
      <p:sp>
        <p:nvSpPr>
          <p:cNvPr id="13" name="anim-g3-1209"/>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الإحراج بكلمة «عيب»</a:t>
            </a:r>
            <a:endParaRPr lang="ar-SA" sz="1900" dirty="0"/>
          </a:p>
        </p:txBody>
      </p:sp>
      <p:sp>
        <p:nvSpPr>
          <p:cNvPr id="14" name="anim-g3-1210"/>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211"/>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1212"/>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213"/>
          <p:cNvSpPr/>
          <p:nvPr/>
        </p:nvSpPr>
        <p:spPr>
          <a:xfrm>
            <a:off x="822960" y="3154680"/>
            <a:ext cx="4952848" cy="804672"/>
          </a:xfrm>
          <a:prstGeom prst="roundRect">
            <a:avLst>
              <a:gd name="adj" fmla="val 15909"/>
            </a:avLst>
          </a:prstGeom>
          <a:solidFill>
            <a:srgbClr val="E6F4EC"/>
          </a:solidFill>
          <a:ln/>
        </p:spPr>
      </p:sp>
      <p:sp>
        <p:nvSpPr>
          <p:cNvPr id="18" name="anim-g4-1214"/>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سؤال عن الحاجة همسًا</a:t>
            </a:r>
            <a:endParaRPr lang="ar-SA" sz="1900" dirty="0"/>
          </a:p>
        </p:txBody>
      </p:sp>
      <p:sp>
        <p:nvSpPr>
          <p:cNvPr id="19" name="anim-g5-1215"/>
          <p:cNvSpPr/>
          <p:nvPr/>
        </p:nvSpPr>
        <p:spPr>
          <a:xfrm>
            <a:off x="6415888" y="4114800"/>
            <a:ext cx="4952848" cy="804672"/>
          </a:xfrm>
          <a:prstGeom prst="roundRect">
            <a:avLst>
              <a:gd name="adj" fmla="val 15909"/>
            </a:avLst>
          </a:prstGeom>
          <a:solidFill>
            <a:srgbClr val="FBECEC"/>
          </a:solidFill>
          <a:ln/>
        </p:spPr>
      </p:sp>
      <p:sp>
        <p:nvSpPr>
          <p:cNvPr id="20" name="anim-g5-1216"/>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تجاهل الجوع المتكرر</a:t>
            </a:r>
            <a:endParaRPr lang="ar-SA" sz="1900" dirty="0"/>
          </a:p>
        </p:txBody>
      </p:sp>
      <p:sp>
        <p:nvSpPr>
          <p:cNvPr id="21" name="anim-g5-1217"/>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218"/>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1219"/>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220"/>
          <p:cNvSpPr/>
          <p:nvPr/>
        </p:nvSpPr>
        <p:spPr>
          <a:xfrm>
            <a:off x="822960" y="4114800"/>
            <a:ext cx="4952848" cy="804672"/>
          </a:xfrm>
          <a:prstGeom prst="roundRect">
            <a:avLst>
              <a:gd name="adj" fmla="val 15909"/>
            </a:avLst>
          </a:prstGeom>
          <a:solidFill>
            <a:srgbClr val="E6F4EC"/>
          </a:solidFill>
          <a:ln/>
        </p:spPr>
      </p:sp>
      <p:sp>
        <p:nvSpPr>
          <p:cNvPr id="25" name="anim-g6-1221"/>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إبلاغ المرشد وولي الأمر بلطف</a:t>
            </a:r>
            <a:endParaRPr lang="ar-SA" sz="19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name="Slide 10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وراء كل سلوك متكرر…</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حاجة لم تُلبَّ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الساندويتش ينادي سالم  ·  ١٠٩</a:t>
            </a:r>
            <a:endParaRPr lang="ar-SA"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٧</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٧</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الطالب والأسرة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وليّ الأمر شريك… كيف نجعله معنا لا علينا؟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الطالب والأسرة  ·  ١١٠</a:t>
            </a:r>
            <a:endParaRPr lang="ar-SA"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قواعد الشراكة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أربع قواعد للتواصل مع أولياء الأمور</a:t>
            </a:r>
            <a:endParaRPr lang="ar-SA" sz="3200" dirty="0"/>
          </a:p>
        </p:txBody>
      </p:sp>
      <p:sp>
        <p:nvSpPr>
          <p:cNvPr id="5" name="anim-g1-1222"/>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223"/>
          <p:cNvSpPr/>
          <p:nvPr/>
        </p:nvSpPr>
        <p:spPr>
          <a:xfrm>
            <a:off x="10573207" y="2109978"/>
            <a:ext cx="566928" cy="566928"/>
          </a:xfrm>
          <a:prstGeom prst="ellipse">
            <a:avLst/>
          </a:prstGeom>
          <a:solidFill>
            <a:srgbClr val="D9AE4B"/>
          </a:solidFill>
          <a:ln/>
        </p:spPr>
      </p:sp>
      <p:sp>
        <p:nvSpPr>
          <p:cNvPr id="7" name="anim-g1-1224"/>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225"/>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ابدأ بالإيجابي قبل أي مشكلة</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رسالة شكر مبكرة تجعل مكالمة المشكلة لاحقًا أسهل بكثير</a:t>
            </a:r>
            <a:endParaRPr lang="ar-SA" sz="2000" dirty="0"/>
          </a:p>
        </p:txBody>
      </p:sp>
      <p:sp>
        <p:nvSpPr>
          <p:cNvPr id="9" name="anim-g2-1226"/>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227"/>
          <p:cNvSpPr/>
          <p:nvPr/>
        </p:nvSpPr>
        <p:spPr>
          <a:xfrm>
            <a:off x="10573207" y="3166110"/>
            <a:ext cx="566928" cy="566928"/>
          </a:xfrm>
          <a:prstGeom prst="ellipse">
            <a:avLst/>
          </a:prstGeom>
          <a:solidFill>
            <a:srgbClr val="D9AE4B"/>
          </a:solidFill>
          <a:ln/>
        </p:spPr>
      </p:sp>
      <p:sp>
        <p:nvSpPr>
          <p:cNvPr id="11" name="anim-g2-1228"/>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229"/>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صِف بالحقائق لا بالأحكام</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«لم يسلّم الواجب ثلاث مرات» بدل «ابنك مهمل»</a:t>
            </a:r>
            <a:endParaRPr lang="ar-SA" sz="2000" dirty="0"/>
          </a:p>
        </p:txBody>
      </p:sp>
      <p:sp>
        <p:nvSpPr>
          <p:cNvPr id="13" name="anim-g3-1230"/>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231"/>
          <p:cNvSpPr/>
          <p:nvPr/>
        </p:nvSpPr>
        <p:spPr>
          <a:xfrm>
            <a:off x="10573207" y="4222242"/>
            <a:ext cx="566928" cy="566928"/>
          </a:xfrm>
          <a:prstGeom prst="ellipse">
            <a:avLst/>
          </a:prstGeom>
          <a:solidFill>
            <a:srgbClr val="D9AE4B"/>
          </a:solidFill>
          <a:ln/>
        </p:spPr>
      </p:sp>
      <p:sp>
        <p:nvSpPr>
          <p:cNvPr id="15" name="anim-g3-1232"/>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233"/>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اقترح خطة مشتركة</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ما الذي أفعله أنا في المدرسة؟ وما الذي تفعلونه في البيت؟</a:t>
            </a:r>
            <a:endParaRPr lang="ar-SA" sz="2000" dirty="0"/>
          </a:p>
        </p:txBody>
      </p:sp>
      <p:sp>
        <p:nvSpPr>
          <p:cNvPr id="17" name="anim-g4-1234"/>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235"/>
          <p:cNvSpPr/>
          <p:nvPr/>
        </p:nvSpPr>
        <p:spPr>
          <a:xfrm>
            <a:off x="10573207" y="5278374"/>
            <a:ext cx="566928" cy="566928"/>
          </a:xfrm>
          <a:prstGeom prst="ellipse">
            <a:avLst/>
          </a:prstGeom>
          <a:solidFill>
            <a:srgbClr val="D9AE4B"/>
          </a:solidFill>
          <a:ln/>
        </p:spPr>
      </p:sp>
      <p:sp>
        <p:nvSpPr>
          <p:cNvPr id="19" name="anim-g4-1236"/>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237"/>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وثّق وحدّد أوقات التواصل</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سجّل ما اتُّفق عليه، واتفق على أوقات مناسبة للتواصل</a:t>
            </a:r>
            <a:endParaRPr lang="ar-SA" sz="20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الطالب والأسرة  ·  ١١١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name="Slide 1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238" descr="/Users/mac/Desktop/أردوينو/المشاريع والكتب/younes-training/mawaqif/assets/scenes/nightcal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الطالب والأسرة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٨</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مكالمة المساء</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مكالمة المساء  ·  ١١٢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name="Slide 1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1239"/>
          <p:cNvSpPr/>
          <p:nvPr/>
        </p:nvSpPr>
        <p:spPr>
          <a:xfrm>
            <a:off x="11323015" y="2011680"/>
            <a:ext cx="45720" cy="1188720"/>
          </a:xfrm>
          <a:prstGeom prst="rect">
            <a:avLst/>
          </a:prstGeom>
          <a:solidFill>
            <a:srgbClr val="E4DCC8"/>
          </a:solidFill>
          <a:ln/>
        </p:spPr>
      </p:sp>
      <p:sp>
        <p:nvSpPr>
          <p:cNvPr id="6" name="anim-g1-1240"/>
          <p:cNvSpPr/>
          <p:nvPr/>
        </p:nvSpPr>
        <p:spPr>
          <a:xfrm>
            <a:off x="4785055" y="1920240"/>
            <a:ext cx="6309360"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في التاسعة مساءً رنّ هاتف أ. ماجد. كانت والدة علاء، تلميذه في الرابع الابتدائي.</a:t>
            </a:r>
            <a:endParaRPr lang="ar-SA" sz="1700" dirty="0"/>
          </a:p>
        </p:txBody>
      </p:sp>
      <p:sp>
        <p:nvSpPr>
          <p:cNvPr id="7" name="anim-g2-1241"/>
          <p:cNvSpPr/>
          <p:nvPr/>
        </p:nvSpPr>
        <p:spPr>
          <a:xfrm>
            <a:off x="11323015" y="3383280"/>
            <a:ext cx="45720" cy="1188720"/>
          </a:xfrm>
          <a:prstGeom prst="rect">
            <a:avLst/>
          </a:prstGeom>
          <a:solidFill>
            <a:srgbClr val="E4DCC8"/>
          </a:solidFill>
          <a:ln/>
        </p:spPr>
      </p:sp>
      <p:sp>
        <p:nvSpPr>
          <p:cNvPr id="8" name="anim-g2-1242"/>
          <p:cNvSpPr/>
          <p:nvPr/>
        </p:nvSpPr>
        <p:spPr>
          <a:xfrm>
            <a:off x="4785055" y="3291840"/>
            <a:ext cx="6309360"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«علاء يسهر كل ليلة على الأجهزة، ولا يسمع كلامي أبدًا… أرجوك كلّمه، فهو يسمعك أكثر مني!»</a:t>
            </a:r>
            <a:endParaRPr lang="ar-SA" sz="1700" dirty="0"/>
          </a:p>
        </p:txBody>
      </p:sp>
      <p:sp>
        <p:nvSpPr>
          <p:cNvPr id="9" name="anim-g3-1243"/>
          <p:cNvSpPr/>
          <p:nvPr/>
        </p:nvSpPr>
        <p:spPr>
          <a:xfrm>
            <a:off x="11323015" y="4754880"/>
            <a:ext cx="45720" cy="1188720"/>
          </a:xfrm>
          <a:prstGeom prst="rect">
            <a:avLst/>
          </a:prstGeom>
          <a:solidFill>
            <a:srgbClr val="D64545"/>
          </a:solidFill>
          <a:ln/>
        </p:spPr>
      </p:sp>
      <p:sp>
        <p:nvSpPr>
          <p:cNvPr id="10" name="anim-g3-1244"/>
          <p:cNvSpPr/>
          <p:nvPr/>
        </p:nvSpPr>
        <p:spPr>
          <a:xfrm>
            <a:off x="4785055" y="4663440"/>
            <a:ext cx="6309360"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وقف أ. ماجد بين حرجين: أن يردّ طلب أم قلقة… أو أن يتحمّل مسؤولية ليست مسؤوليته.</a:t>
            </a:r>
            <a:endParaRPr lang="ar-SA" sz="1900" dirty="0"/>
          </a:p>
        </p:txBody>
      </p:sp>
      <p:sp>
        <p:nvSpPr>
          <p:cNvPr id="11" name="Shape 9"/>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2" name="Image 0" descr="/Users/mac/Desktop/أردوينو/المشاريع والكتب/younes-training/mawaqif/assets/scenes/nightcall.jpg">    </p:cNvPr>
          <p:cNvPicPr>
            <a:picLocks noChangeAspect="1"/>
          </p:cNvPicPr>
          <p:nvPr/>
        </p:nvPicPr>
        <p:blipFill>
          <a:blip r:embed="rId2"/>
          <a:stretch>
            <a:fillRect/>
          </a:stretch>
        </p:blipFill>
        <p:spPr>
          <a:xfrm>
            <a:off x="822960" y="2966171"/>
            <a:ext cx="3596335" cy="2022939"/>
          </a:xfrm>
          <a:prstGeom prst="rect">
            <a:avLst/>
          </a:prstGeom>
        </p:spPr>
      </p:pic>
      <p:sp>
        <p:nvSpPr>
          <p:cNvPr id="13"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4"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name="Slide 1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ماجد؟</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يوافق، ويكلّم علاء غدًا أمام زملائه</a:t>
            </a:r>
            <a:endParaRPr lang="ar-SA" sz="2300" dirty="0"/>
          </a:p>
        </p:txBody>
      </p:sp>
      <p:sp>
        <p:nvSpPr>
          <p:cNvPr id="9" name="anim-g1-1245"/>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246"/>
          <p:cNvSpPr/>
          <p:nvPr/>
        </p:nvSpPr>
        <p:spPr>
          <a:xfrm>
            <a:off x="10231831" y="2194560"/>
            <a:ext cx="954024" cy="954024"/>
          </a:xfrm>
          <a:prstGeom prst="roundRect">
            <a:avLst>
              <a:gd name="adj" fmla="val 11502"/>
            </a:avLst>
          </a:prstGeom>
          <a:solidFill>
            <a:srgbClr val="A3A9BA"/>
          </a:solidFill>
          <a:ln/>
        </p:spPr>
      </p:sp>
      <p:sp>
        <p:nvSpPr>
          <p:cNvPr id="11" name="anim-g1-1247"/>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248"/>
          <p:cNvSpPr/>
          <p:nvPr/>
        </p:nvSpPr>
        <p:spPr>
          <a:xfrm>
            <a:off x="1097280" y="2112264"/>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يوافق، ويكلّم علاء غدًا أمام زملائه</a:t>
            </a:r>
            <a:endParaRPr lang="ar-SA" sz="2100" dirty="0"/>
          </a:p>
        </p:txBody>
      </p:sp>
      <p:sp>
        <p:nvSpPr>
          <p:cNvPr id="13" name="anim-g1-1249"/>
          <p:cNvSpPr/>
          <p:nvPr/>
        </p:nvSpPr>
        <p:spPr>
          <a:xfrm>
            <a:off x="1097280" y="2720706"/>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يصبح المعلم «الشرطي» البديل، فتضعف سلطة الأم أكثر</a:t>
            </a:r>
            <a:endParaRPr lang="ar-SA" sz="13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يرفض: «هذه مسؤوليتكِ لا مسؤوليتي»</a:t>
            </a:r>
            <a:endParaRPr lang="ar-SA" sz="2300" dirty="0"/>
          </a:p>
        </p:txBody>
      </p:sp>
      <p:sp>
        <p:nvSpPr>
          <p:cNvPr id="18" name="anim-g1-1250"/>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251"/>
          <p:cNvSpPr/>
          <p:nvPr/>
        </p:nvSpPr>
        <p:spPr>
          <a:xfrm>
            <a:off x="10231831" y="3569208"/>
            <a:ext cx="954024" cy="954024"/>
          </a:xfrm>
          <a:prstGeom prst="roundRect">
            <a:avLst>
              <a:gd name="adj" fmla="val 11502"/>
            </a:avLst>
          </a:prstGeom>
          <a:solidFill>
            <a:srgbClr val="A3A9BA"/>
          </a:solidFill>
          <a:ln/>
        </p:spPr>
      </p:sp>
      <p:sp>
        <p:nvSpPr>
          <p:cNvPr id="20" name="anim-g1-1252"/>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253"/>
          <p:cNvSpPr/>
          <p:nvPr/>
        </p:nvSpPr>
        <p:spPr>
          <a:xfrm>
            <a:off x="1097280" y="3486912"/>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يرفض: «هذه مسؤوليتكِ لا مسؤوليتي»</a:t>
            </a:r>
            <a:endParaRPr lang="ar-SA" sz="2100" dirty="0"/>
          </a:p>
        </p:txBody>
      </p:sp>
      <p:sp>
        <p:nvSpPr>
          <p:cNvPr id="22" name="anim-g1-1254"/>
          <p:cNvSpPr/>
          <p:nvPr/>
        </p:nvSpPr>
        <p:spPr>
          <a:xfrm>
            <a:off x="1097280" y="4095354"/>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الرفض الجاف يخسر شريكًا مهمًا في تربية الطالب</a:t>
            </a:r>
            <a:endParaRPr lang="ar-SA" sz="13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يساعد بطريقة تعيد السلطة للأم ولا تأخذها منها</a:t>
            </a:r>
            <a:endParaRPr lang="ar-SA" sz="2300" dirty="0"/>
          </a:p>
        </p:txBody>
      </p:sp>
      <p:sp>
        <p:nvSpPr>
          <p:cNvPr id="27" name="anim-g1-1255"/>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256"/>
          <p:cNvSpPr/>
          <p:nvPr/>
        </p:nvSpPr>
        <p:spPr>
          <a:xfrm>
            <a:off x="10231831" y="4943856"/>
            <a:ext cx="954024" cy="954024"/>
          </a:xfrm>
          <a:prstGeom prst="roundRect">
            <a:avLst>
              <a:gd name="adj" fmla="val 11502"/>
            </a:avLst>
          </a:prstGeom>
          <a:solidFill>
            <a:srgbClr val="2E9E6B"/>
          </a:solidFill>
          <a:ln/>
        </p:spPr>
      </p:sp>
      <p:sp>
        <p:nvSpPr>
          <p:cNvPr id="29" name="anim-g1-1257"/>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258"/>
          <p:cNvSpPr/>
          <p:nvPr/>
        </p:nvSpPr>
        <p:spPr>
          <a:xfrm>
            <a:off x="1097280" y="4861560"/>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يساعد بطريقة تعيد السلطة للأم ولا تأخذها منها</a:t>
            </a:r>
            <a:endParaRPr lang="ar-SA" sz="2100" dirty="0"/>
          </a:p>
        </p:txBody>
      </p:sp>
      <p:sp>
        <p:nvSpPr>
          <p:cNvPr id="31" name="anim-g1-1259"/>
          <p:cNvSpPr/>
          <p:nvPr/>
        </p:nvSpPr>
        <p:spPr>
          <a:xfrm>
            <a:off x="1097280" y="5470002"/>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الأم صاحبة القاعدة في البيت، والمعلم داعم لا بديل</a:t>
            </a:r>
            <a:endParaRPr lang="ar-SA" sz="13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لكلٍّ مملكته</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من صاحب السلطة؟</a:t>
            </a:r>
            <a:endParaRPr lang="ar-SA" sz="3800" dirty="0"/>
          </a:p>
        </p:txBody>
      </p:sp>
      <p:sp>
        <p:nvSpPr>
          <p:cNvPr id="5" name="anim-g1-1260"/>
          <p:cNvSpPr/>
          <p:nvPr/>
        </p:nvSpPr>
        <p:spPr>
          <a:xfrm>
            <a:off x="8005877" y="2011680"/>
            <a:ext cx="3362858" cy="2514600"/>
          </a:xfrm>
          <a:prstGeom prst="roundRect">
            <a:avLst>
              <a:gd name="adj" fmla="val 6545"/>
            </a:avLst>
          </a:prstGeom>
          <a:solidFill>
            <a:srgbClr val="FFFFFF"/>
          </a:solidFill>
          <a:ln w="12700">
            <a:solidFill>
              <a:srgbClr val="E4DCC8"/>
            </a:solidFill>
            <a:prstDash val="solid"/>
          </a:ln>
        </p:spPr>
      </p:sp>
      <p:sp>
        <p:nvSpPr>
          <p:cNvPr id="6" name="anim-g1-1261"/>
          <p:cNvSpPr/>
          <p:nvPr/>
        </p:nvSpPr>
        <p:spPr>
          <a:xfrm>
            <a:off x="9367266" y="2194560"/>
            <a:ext cx="640080" cy="640080"/>
          </a:xfrm>
          <a:prstGeom prst="roundRect">
            <a:avLst>
              <a:gd name="adj" fmla="val 25714"/>
            </a:avLst>
          </a:prstGeom>
          <a:solidFill>
            <a:srgbClr val="F7E6BC"/>
          </a:solidFill>
          <a:ln/>
        </p:spPr>
      </p:sp>
      <p:sp>
        <p:nvSpPr>
          <p:cNvPr id="7" name="anim-g1-1262"/>
          <p:cNvSpPr/>
          <p:nvPr/>
        </p:nvSpPr>
        <p:spPr>
          <a:xfrm>
            <a:off x="9367266"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263"/>
          <p:cNvSpPr/>
          <p:nvPr/>
        </p:nvSpPr>
        <p:spPr>
          <a:xfrm>
            <a:off x="8143037"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في البيت</a:t>
            </a:r>
            <a:endParaRPr lang="ar-SA" sz="2200" dirty="0"/>
          </a:p>
        </p:txBody>
      </p:sp>
      <p:sp>
        <p:nvSpPr>
          <p:cNvPr id="9" name="anim-g1-1264"/>
          <p:cNvSpPr/>
          <p:nvPr/>
        </p:nvSpPr>
        <p:spPr>
          <a:xfrm>
            <a:off x="8188757" y="3474720"/>
            <a:ext cx="2997098"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الوالدان يضعان القواعد ويتابعانها</a:t>
            </a:r>
            <a:endParaRPr lang="ar-SA" sz="1600" dirty="0"/>
          </a:p>
        </p:txBody>
      </p:sp>
      <p:sp>
        <p:nvSpPr>
          <p:cNvPr id="10" name="anim-g2-1265"/>
          <p:cNvSpPr/>
          <p:nvPr/>
        </p:nvSpPr>
        <p:spPr>
          <a:xfrm>
            <a:off x="4414418" y="2011680"/>
            <a:ext cx="3362858" cy="2514600"/>
          </a:xfrm>
          <a:prstGeom prst="roundRect">
            <a:avLst>
              <a:gd name="adj" fmla="val 6545"/>
            </a:avLst>
          </a:prstGeom>
          <a:solidFill>
            <a:srgbClr val="FFFFFF"/>
          </a:solidFill>
          <a:ln w="12700">
            <a:solidFill>
              <a:srgbClr val="E4DCC8"/>
            </a:solidFill>
            <a:prstDash val="solid"/>
          </a:ln>
        </p:spPr>
      </p:sp>
      <p:sp>
        <p:nvSpPr>
          <p:cNvPr id="11" name="anim-g2-1266"/>
          <p:cNvSpPr/>
          <p:nvPr/>
        </p:nvSpPr>
        <p:spPr>
          <a:xfrm>
            <a:off x="5775808" y="2194560"/>
            <a:ext cx="640080" cy="640080"/>
          </a:xfrm>
          <a:prstGeom prst="roundRect">
            <a:avLst>
              <a:gd name="adj" fmla="val 25714"/>
            </a:avLst>
          </a:prstGeom>
          <a:solidFill>
            <a:srgbClr val="F7E6BC"/>
          </a:solidFill>
          <a:ln/>
        </p:spPr>
      </p:sp>
      <p:sp>
        <p:nvSpPr>
          <p:cNvPr id="12" name="anim-g2-1267"/>
          <p:cNvSpPr/>
          <p:nvPr/>
        </p:nvSpPr>
        <p:spPr>
          <a:xfrm>
            <a:off x="577580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268"/>
          <p:cNvSpPr/>
          <p:nvPr/>
        </p:nvSpPr>
        <p:spPr>
          <a:xfrm>
            <a:off x="4551578"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في الفصل</a:t>
            </a:r>
            <a:endParaRPr lang="ar-SA" sz="2200" dirty="0"/>
          </a:p>
        </p:txBody>
      </p:sp>
      <p:sp>
        <p:nvSpPr>
          <p:cNvPr id="14" name="anim-g2-1269"/>
          <p:cNvSpPr/>
          <p:nvPr/>
        </p:nvSpPr>
        <p:spPr>
          <a:xfrm>
            <a:off x="4597298" y="3474720"/>
            <a:ext cx="2997098"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المعلم هو السلطة، لا الوكيل ولا المرشد</a:t>
            </a:r>
            <a:endParaRPr lang="ar-SA" sz="1600" dirty="0"/>
          </a:p>
        </p:txBody>
      </p:sp>
      <p:sp>
        <p:nvSpPr>
          <p:cNvPr id="15" name="anim-g3-1270"/>
          <p:cNvSpPr/>
          <p:nvPr/>
        </p:nvSpPr>
        <p:spPr>
          <a:xfrm>
            <a:off x="822960" y="2011680"/>
            <a:ext cx="3362858" cy="2514600"/>
          </a:xfrm>
          <a:prstGeom prst="roundRect">
            <a:avLst>
              <a:gd name="adj" fmla="val 6545"/>
            </a:avLst>
          </a:prstGeom>
          <a:solidFill>
            <a:srgbClr val="FFFFFF"/>
          </a:solidFill>
          <a:ln w="12700">
            <a:solidFill>
              <a:srgbClr val="E4DCC8"/>
            </a:solidFill>
            <a:prstDash val="solid"/>
          </a:ln>
        </p:spPr>
      </p:sp>
      <p:sp>
        <p:nvSpPr>
          <p:cNvPr id="16" name="anim-g3-1271"/>
          <p:cNvSpPr/>
          <p:nvPr/>
        </p:nvSpPr>
        <p:spPr>
          <a:xfrm>
            <a:off x="2184349" y="2194560"/>
            <a:ext cx="640080" cy="640080"/>
          </a:xfrm>
          <a:prstGeom prst="roundRect">
            <a:avLst>
              <a:gd name="adj" fmla="val 25714"/>
            </a:avLst>
          </a:prstGeom>
          <a:solidFill>
            <a:srgbClr val="F7E6BC"/>
          </a:solidFill>
          <a:ln/>
        </p:spPr>
      </p:sp>
      <p:sp>
        <p:nvSpPr>
          <p:cNvPr id="17" name="anim-g3-1272"/>
          <p:cNvSpPr/>
          <p:nvPr/>
        </p:nvSpPr>
        <p:spPr>
          <a:xfrm>
            <a:off x="2184349"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273"/>
          <p:cNvSpPr/>
          <p:nvPr/>
        </p:nvSpPr>
        <p:spPr>
          <a:xfrm>
            <a:off x="960120"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بين الاثنين</a:t>
            </a:r>
            <a:endParaRPr lang="ar-SA" sz="2200" dirty="0"/>
          </a:p>
        </p:txBody>
      </p:sp>
      <p:sp>
        <p:nvSpPr>
          <p:cNvPr id="19" name="anim-g3-1274"/>
          <p:cNvSpPr/>
          <p:nvPr/>
        </p:nvSpPr>
        <p:spPr>
          <a:xfrm>
            <a:off x="1005840" y="3474720"/>
            <a:ext cx="2997098"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كلٌّ يدعم الآخر، ولا يحلّ محله</a:t>
            </a:r>
            <a:endParaRPr lang="ar-SA" sz="1600" dirty="0"/>
          </a:p>
        </p:txBody>
      </p:sp>
      <p:sp>
        <p:nvSpPr>
          <p:cNvPr id="20" name="anim-g4-1275"/>
          <p:cNvSpPr/>
          <p:nvPr/>
        </p:nvSpPr>
        <p:spPr>
          <a:xfrm>
            <a:off x="822960" y="4754880"/>
            <a:ext cx="10545775" cy="1051560"/>
          </a:xfrm>
          <a:prstGeom prst="roundRect">
            <a:avLst>
              <a:gd name="adj" fmla="val 17391"/>
            </a:avLst>
          </a:prstGeom>
          <a:solidFill>
            <a:srgbClr val="101B45"/>
          </a:solidFill>
          <a:ln/>
        </p:spPr>
      </p:sp>
      <p:sp>
        <p:nvSpPr>
          <p:cNvPr id="21" name="anim-g4-1276"/>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كما أن الأم سلطة البيت…</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فالمعلم سلطة الفصل. والشريك يدعم ولا ينوب</a:t>
            </a:r>
            <a:endParaRPr lang="ar-SA" sz="2000" dirty="0"/>
          </a:p>
        </p:txBody>
      </p:sp>
      <p:sp>
        <p:nvSpPr>
          <p:cNvPr id="22" name="Text 2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3" name="Text 2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name="Slide 1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خلال المكالمة</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المكالمة</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يرد أ. ماجد؟</a:t>
            </a:r>
            <a:endParaRPr lang="ar-SA" sz="3800" dirty="0"/>
          </a:p>
        </p:txBody>
      </p:sp>
      <p:sp>
        <p:nvSpPr>
          <p:cNvPr id="7" name="anim-g1-1277"/>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278"/>
          <p:cNvSpPr/>
          <p:nvPr/>
        </p:nvSpPr>
        <p:spPr>
          <a:xfrm>
            <a:off x="9747618" y="2423160"/>
            <a:ext cx="777240" cy="777240"/>
          </a:xfrm>
          <a:prstGeom prst="ellipse">
            <a:avLst/>
          </a:prstGeom>
          <a:solidFill>
            <a:srgbClr val="D9AE4B"/>
          </a:solidFill>
          <a:ln/>
        </p:spPr>
      </p:sp>
      <p:sp>
        <p:nvSpPr>
          <p:cNvPr id="9" name="anim-g1-1279"/>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280"/>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اشكر</a:t>
            </a:r>
            <a:endParaRPr lang="ar-SA" sz="2500" dirty="0"/>
          </a:p>
        </p:txBody>
      </p:sp>
      <p:sp>
        <p:nvSpPr>
          <p:cNvPr id="11" name="anim-g1-1281"/>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ثقتها بك بداية شراكة</a:t>
            </a:r>
            <a:endParaRPr lang="ar-SA" sz="1700" dirty="0"/>
          </a:p>
        </p:txBody>
      </p:sp>
      <p:sp>
        <p:nvSpPr>
          <p:cNvPr id="12" name="anim-g2-1282"/>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283"/>
          <p:cNvSpPr/>
          <p:nvPr/>
        </p:nvSpPr>
        <p:spPr>
          <a:xfrm>
            <a:off x="7054024" y="2423160"/>
            <a:ext cx="777240" cy="777240"/>
          </a:xfrm>
          <a:prstGeom prst="ellipse">
            <a:avLst/>
          </a:prstGeom>
          <a:solidFill>
            <a:srgbClr val="D9AE4B"/>
          </a:solidFill>
          <a:ln/>
        </p:spPr>
      </p:sp>
      <p:sp>
        <p:nvSpPr>
          <p:cNvPr id="14" name="anim-g2-1284"/>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285"/>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أعِد السلطة</a:t>
            </a:r>
            <a:endParaRPr lang="ar-SA" sz="2500" dirty="0"/>
          </a:p>
        </p:txBody>
      </p:sp>
      <p:sp>
        <p:nvSpPr>
          <p:cNvPr id="16" name="anim-g2-1286"/>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«أنتِ صاحبة القرار في البيت»</a:t>
            </a:r>
            <a:endParaRPr lang="ar-SA" sz="1700" dirty="0"/>
          </a:p>
        </p:txBody>
      </p:sp>
      <p:sp>
        <p:nvSpPr>
          <p:cNvPr id="17" name="anim-g3-1287"/>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288"/>
          <p:cNvSpPr/>
          <p:nvPr/>
        </p:nvSpPr>
        <p:spPr>
          <a:xfrm>
            <a:off x="4360431" y="2423160"/>
            <a:ext cx="777240" cy="777240"/>
          </a:xfrm>
          <a:prstGeom prst="ellipse">
            <a:avLst/>
          </a:prstGeom>
          <a:solidFill>
            <a:srgbClr val="D9AE4B"/>
          </a:solidFill>
          <a:ln/>
        </p:spPr>
      </p:sp>
      <p:sp>
        <p:nvSpPr>
          <p:cNvPr id="19" name="anim-g3-1289"/>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290"/>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اقترح أداة</a:t>
            </a:r>
            <a:endParaRPr lang="ar-SA" sz="2500" dirty="0"/>
          </a:p>
        </p:txBody>
      </p:sp>
      <p:sp>
        <p:nvSpPr>
          <p:cNvPr id="21" name="anim-g3-1291"/>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جدول نوم يتفق عليه علاء مع والدته</a:t>
            </a:r>
            <a:endParaRPr lang="ar-SA" sz="1700" dirty="0"/>
          </a:p>
        </p:txBody>
      </p:sp>
      <p:sp>
        <p:nvSpPr>
          <p:cNvPr id="22" name="anim-g4-1292"/>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293"/>
          <p:cNvSpPr/>
          <p:nvPr/>
        </p:nvSpPr>
        <p:spPr>
          <a:xfrm>
            <a:off x="1666837" y="2423160"/>
            <a:ext cx="777240" cy="777240"/>
          </a:xfrm>
          <a:prstGeom prst="ellipse">
            <a:avLst/>
          </a:prstGeom>
          <a:solidFill>
            <a:srgbClr val="D9AE4B"/>
          </a:solidFill>
          <a:ln/>
        </p:spPr>
      </p:sp>
      <p:sp>
        <p:nvSpPr>
          <p:cNvPr id="24" name="anim-g4-1294"/>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295"/>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ادعم في الفصل</a:t>
            </a:r>
            <a:endParaRPr lang="ar-SA" sz="2500" dirty="0"/>
          </a:p>
        </p:txBody>
      </p:sp>
      <p:sp>
        <p:nvSpPr>
          <p:cNvPr id="26" name="anim-g4-1296"/>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حديث عام عن النوم دون ذكر علاء</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297"/>
          <p:cNvSpPr/>
          <p:nvPr/>
        </p:nvSpPr>
        <p:spPr>
          <a:xfrm>
            <a:off x="9768535" y="2130552"/>
            <a:ext cx="1600200" cy="819912"/>
          </a:xfrm>
          <a:prstGeom prst="roundRect">
            <a:avLst>
              <a:gd name="adj" fmla="val 16729"/>
            </a:avLst>
          </a:prstGeom>
          <a:solidFill>
            <a:srgbClr val="E9EDF9"/>
          </a:solidFill>
          <a:ln/>
        </p:spPr>
      </p:sp>
      <p:sp>
        <p:nvSpPr>
          <p:cNvPr id="6" name="anim-g1-1298"/>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للأم</a:t>
            </a:r>
            <a:endParaRPr lang="ar-SA" sz="1400" dirty="0"/>
          </a:p>
        </p:txBody>
      </p:sp>
      <p:sp>
        <p:nvSpPr>
          <p:cNvPr id="7" name="anim-g1-1299"/>
          <p:cNvSpPr/>
          <p:nvPr/>
        </p:nvSpPr>
        <p:spPr>
          <a:xfrm>
            <a:off x="822960" y="2057400"/>
            <a:ext cx="8716975" cy="966216"/>
          </a:xfrm>
          <a:prstGeom prst="roundRect">
            <a:avLst>
              <a:gd name="adj" fmla="val 20820"/>
            </a:avLst>
          </a:prstGeom>
          <a:solidFill>
            <a:srgbClr val="101B45"/>
          </a:solidFill>
          <a:ln/>
        </p:spPr>
      </p:sp>
      <p:sp>
        <p:nvSpPr>
          <p:cNvPr id="8" name="anim-g1-1300"/>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أشكرك على ثقتك. أنتِ صاحبة القاعدة في البيت، وأنا سأدعمك</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1301"/>
          <p:cNvSpPr/>
          <p:nvPr/>
        </p:nvSpPr>
        <p:spPr>
          <a:xfrm>
            <a:off x="9768535" y="3243072"/>
            <a:ext cx="1600200" cy="819912"/>
          </a:xfrm>
          <a:prstGeom prst="roundRect">
            <a:avLst>
              <a:gd name="adj" fmla="val 16729"/>
            </a:avLst>
          </a:prstGeom>
          <a:solidFill>
            <a:srgbClr val="E9EDF9"/>
          </a:solidFill>
          <a:ln/>
        </p:spPr>
      </p:sp>
      <p:sp>
        <p:nvSpPr>
          <p:cNvPr id="10" name="anim-g2-1302"/>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اقتراح</a:t>
            </a:r>
            <a:endParaRPr lang="ar-SA" sz="1400" dirty="0"/>
          </a:p>
        </p:txBody>
      </p:sp>
      <p:sp>
        <p:nvSpPr>
          <p:cNvPr id="11" name="anim-g2-1303"/>
          <p:cNvSpPr/>
          <p:nvPr/>
        </p:nvSpPr>
        <p:spPr>
          <a:xfrm>
            <a:off x="822960" y="3169920"/>
            <a:ext cx="8716975" cy="966216"/>
          </a:xfrm>
          <a:prstGeom prst="roundRect">
            <a:avLst>
              <a:gd name="adj" fmla="val 20820"/>
            </a:avLst>
          </a:prstGeom>
          <a:solidFill>
            <a:srgbClr val="101B45"/>
          </a:solidFill>
          <a:ln/>
        </p:spPr>
      </p:sp>
      <p:sp>
        <p:nvSpPr>
          <p:cNvPr id="12" name="anim-g2-1304"/>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ما رأيك أن تتفقي معه على موعد نوم مكتوب، ويسلّمك الجهاز قبله بنصف ساعة؟</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3" name="anim-g3-1305"/>
          <p:cNvSpPr/>
          <p:nvPr/>
        </p:nvSpPr>
        <p:spPr>
          <a:xfrm>
            <a:off x="9768535" y="4355592"/>
            <a:ext cx="1600200" cy="819912"/>
          </a:xfrm>
          <a:prstGeom prst="roundRect">
            <a:avLst>
              <a:gd name="adj" fmla="val 16729"/>
            </a:avLst>
          </a:prstGeom>
          <a:solidFill>
            <a:srgbClr val="E9EDF9"/>
          </a:solidFill>
          <a:ln/>
        </p:spPr>
      </p:sp>
      <p:sp>
        <p:nvSpPr>
          <p:cNvPr id="14" name="anim-g3-1306"/>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في الفصل للجميع</a:t>
            </a:r>
            <a:endParaRPr lang="ar-SA" sz="1400" dirty="0"/>
          </a:p>
        </p:txBody>
      </p:sp>
      <p:sp>
        <p:nvSpPr>
          <p:cNvPr id="15" name="anim-g3-1307"/>
          <p:cNvSpPr/>
          <p:nvPr/>
        </p:nvSpPr>
        <p:spPr>
          <a:xfrm>
            <a:off x="822960" y="4282440"/>
            <a:ext cx="8716975" cy="966216"/>
          </a:xfrm>
          <a:prstGeom prst="roundRect">
            <a:avLst>
              <a:gd name="adj" fmla="val 20820"/>
            </a:avLst>
          </a:prstGeom>
          <a:solidFill>
            <a:srgbClr val="101B45"/>
          </a:solidFill>
          <a:ln/>
        </p:spPr>
      </p:sp>
      <p:sp>
        <p:nvSpPr>
          <p:cNvPr id="16" name="anim-g3-1308"/>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من يعرف كم ساعة نوم يحتاج دماغ البطل ليتذكر ما تعلّمه؟</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7" name="anim-g4-1309"/>
          <p:cNvSpPr/>
          <p:nvPr/>
        </p:nvSpPr>
        <p:spPr>
          <a:xfrm>
            <a:off x="822960" y="5532120"/>
            <a:ext cx="10545775" cy="548640"/>
          </a:xfrm>
          <a:prstGeom prst="roundRect">
            <a:avLst>
              <a:gd name="adj" fmla="val 20000"/>
            </a:avLst>
          </a:prstGeom>
          <a:solidFill>
            <a:srgbClr val="FBECEC"/>
          </a:solidFill>
          <a:ln/>
        </p:spPr>
      </p:sp>
      <p:sp>
        <p:nvSpPr>
          <p:cNvPr id="18" name="anim-g4-1310"/>
          <p:cNvSpPr/>
          <p:nvPr/>
        </p:nvSpPr>
        <p:spPr>
          <a:xfrm>
            <a:off x="11295583" y="5532120"/>
            <a:ext cx="73152" cy="548640"/>
          </a:xfrm>
          <a:prstGeom prst="rect">
            <a:avLst/>
          </a:prstGeom>
          <a:solidFill>
            <a:srgbClr val="D64545"/>
          </a:solidFill>
          <a:ln/>
        </p:spPr>
      </p:sp>
      <p:sp>
        <p:nvSpPr>
          <p:cNvPr id="19" name="anim-g4-1311"/>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ذكر ما قالته الأم أمام الطالب أو زملائه</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312"/>
          <p:cNvSpPr/>
          <p:nvPr/>
        </p:nvSpPr>
        <p:spPr>
          <a:xfrm>
            <a:off x="6415888" y="2194560"/>
            <a:ext cx="4952848" cy="804672"/>
          </a:xfrm>
          <a:prstGeom prst="roundRect">
            <a:avLst>
              <a:gd name="adj" fmla="val 15909"/>
            </a:avLst>
          </a:prstGeom>
          <a:solidFill>
            <a:srgbClr val="FBECEC"/>
          </a:solidFill>
          <a:ln/>
        </p:spPr>
      </p:sp>
      <p:sp>
        <p:nvSpPr>
          <p:cNvPr id="6" name="anim-g1-1313"/>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أن يصبح المعلم «الشرطي» البديل</a:t>
            </a:r>
            <a:endParaRPr lang="ar-SA" sz="1900" dirty="0"/>
          </a:p>
        </p:txBody>
      </p:sp>
      <p:sp>
        <p:nvSpPr>
          <p:cNvPr id="7" name="anim-g1-1314"/>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315"/>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1316"/>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317"/>
          <p:cNvSpPr/>
          <p:nvPr/>
        </p:nvSpPr>
        <p:spPr>
          <a:xfrm>
            <a:off x="822960" y="2194560"/>
            <a:ext cx="4952848" cy="804672"/>
          </a:xfrm>
          <a:prstGeom prst="roundRect">
            <a:avLst>
              <a:gd name="adj" fmla="val 15909"/>
            </a:avLst>
          </a:prstGeom>
          <a:solidFill>
            <a:srgbClr val="E6F4EC"/>
          </a:solidFill>
          <a:ln/>
        </p:spPr>
      </p:sp>
      <p:sp>
        <p:nvSpPr>
          <p:cNvPr id="11" name="anim-g2-1318"/>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دعم الأم لتبقى صاحبة القرار</a:t>
            </a:r>
            <a:endParaRPr lang="ar-SA" sz="1900" dirty="0"/>
          </a:p>
        </p:txBody>
      </p:sp>
      <p:sp>
        <p:nvSpPr>
          <p:cNvPr id="12" name="anim-g3-1319"/>
          <p:cNvSpPr/>
          <p:nvPr/>
        </p:nvSpPr>
        <p:spPr>
          <a:xfrm>
            <a:off x="6415888" y="3154680"/>
            <a:ext cx="4952848" cy="804672"/>
          </a:xfrm>
          <a:prstGeom prst="roundRect">
            <a:avLst>
              <a:gd name="adj" fmla="val 15909"/>
            </a:avLst>
          </a:prstGeom>
          <a:solidFill>
            <a:srgbClr val="FBECEC"/>
          </a:solidFill>
          <a:ln/>
        </p:spPr>
      </p:sp>
      <p:sp>
        <p:nvSpPr>
          <p:cNvPr id="13" name="anim-g3-1320"/>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الحديث مع علاء أمام زملائه</a:t>
            </a:r>
            <a:endParaRPr lang="ar-SA" sz="1900" dirty="0"/>
          </a:p>
        </p:txBody>
      </p:sp>
      <p:sp>
        <p:nvSpPr>
          <p:cNvPr id="14" name="anim-g3-1321"/>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322"/>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1323"/>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324"/>
          <p:cNvSpPr/>
          <p:nvPr/>
        </p:nvSpPr>
        <p:spPr>
          <a:xfrm>
            <a:off x="822960" y="3154680"/>
            <a:ext cx="4952848" cy="804672"/>
          </a:xfrm>
          <a:prstGeom prst="roundRect">
            <a:avLst>
              <a:gd name="adj" fmla="val 15909"/>
            </a:avLst>
          </a:prstGeom>
          <a:solidFill>
            <a:srgbClr val="E6F4EC"/>
          </a:solidFill>
          <a:ln/>
        </p:spPr>
      </p:sp>
      <p:sp>
        <p:nvSpPr>
          <p:cNvPr id="18" name="anim-g4-1325"/>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حديث عام للفصل كله عن النوم</a:t>
            </a:r>
            <a:endParaRPr lang="ar-SA" sz="1900" dirty="0"/>
          </a:p>
        </p:txBody>
      </p:sp>
      <p:sp>
        <p:nvSpPr>
          <p:cNvPr id="19" name="anim-g5-1326"/>
          <p:cNvSpPr/>
          <p:nvPr/>
        </p:nvSpPr>
        <p:spPr>
          <a:xfrm>
            <a:off x="6415888" y="4114800"/>
            <a:ext cx="4952848" cy="804672"/>
          </a:xfrm>
          <a:prstGeom prst="roundRect">
            <a:avLst>
              <a:gd name="adj" fmla="val 15909"/>
            </a:avLst>
          </a:prstGeom>
          <a:solidFill>
            <a:srgbClr val="FBECEC"/>
          </a:solidFill>
          <a:ln/>
        </p:spPr>
      </p:sp>
      <p:sp>
        <p:nvSpPr>
          <p:cNvPr id="20" name="anim-g5-1327"/>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الرد على المكالمات في أي وقت</a:t>
            </a:r>
            <a:endParaRPr lang="ar-SA" sz="1900" dirty="0"/>
          </a:p>
        </p:txBody>
      </p:sp>
      <p:sp>
        <p:nvSpPr>
          <p:cNvPr id="21" name="anim-g5-1328"/>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329"/>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1330"/>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331"/>
          <p:cNvSpPr/>
          <p:nvPr/>
        </p:nvSpPr>
        <p:spPr>
          <a:xfrm>
            <a:off x="822960" y="4114800"/>
            <a:ext cx="4952848" cy="804672"/>
          </a:xfrm>
          <a:prstGeom prst="roundRect">
            <a:avLst>
              <a:gd name="adj" fmla="val 15909"/>
            </a:avLst>
          </a:prstGeom>
          <a:solidFill>
            <a:srgbClr val="E6F4EC"/>
          </a:solidFill>
          <a:ln/>
        </p:spPr>
      </p:sp>
      <p:sp>
        <p:nvSpPr>
          <p:cNvPr id="25" name="anim-g6-1332"/>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أوقات تواصل واضحة ومتفق عليها</a:t>
            </a:r>
            <a:endParaRPr lang="ar-SA" sz="19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name="Slide 1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شريك للأسرة…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لا بديل عنها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مكالمة المساء  ·  ١١٩</a:t>
            </a:r>
            <a:endParaRPr lang="ar-SA" sz="12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333" descr="/Users/mac/Desktop/أردوينو/المشاريع والكتب/younes-training/mawaqif/assets/scenes/sh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الطالب والأسرة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٩</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لماذا تتجاهلون ابني؟</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لماذا تتجاهلون ابني؟  ·  ١٢٠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name="Slide 1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1334"/>
          <p:cNvSpPr/>
          <p:nvPr/>
        </p:nvSpPr>
        <p:spPr>
          <a:xfrm>
            <a:off x="11323015" y="2011680"/>
            <a:ext cx="45720" cy="845820"/>
          </a:xfrm>
          <a:prstGeom prst="rect">
            <a:avLst/>
          </a:prstGeom>
          <a:solidFill>
            <a:srgbClr val="E4DCC8"/>
          </a:solidFill>
          <a:ln/>
        </p:spPr>
      </p:sp>
      <p:sp>
        <p:nvSpPr>
          <p:cNvPr id="6" name="anim-g1-1335"/>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أشرك أ. محمود طلابه في اختيار قادة الفصل. لم يُختر فيصل (الخامس الابتدائي)، الهادئ الذي لا يحب الأضواء، ولم ينزعج أبدًا.</a:t>
            </a:r>
            <a:endParaRPr lang="ar-SA" sz="1700" dirty="0"/>
          </a:p>
        </p:txBody>
      </p:sp>
      <p:sp>
        <p:nvSpPr>
          <p:cNvPr id="7" name="anim-g2-1336"/>
          <p:cNvSpPr/>
          <p:nvPr/>
        </p:nvSpPr>
        <p:spPr>
          <a:xfrm>
            <a:off x="11323015" y="3040380"/>
            <a:ext cx="45720" cy="845820"/>
          </a:xfrm>
          <a:prstGeom prst="rect">
            <a:avLst/>
          </a:prstGeom>
          <a:solidFill>
            <a:srgbClr val="E4DCC8"/>
          </a:solidFill>
          <a:ln/>
        </p:spPr>
      </p:sp>
      <p:sp>
        <p:nvSpPr>
          <p:cNvPr id="8" name="anim-g2-1337"/>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لكن في المساء اتصلت والدته غاضبة: «هذا تجاهل واضطهاد لابني!»</a:t>
            </a:r>
            <a:endParaRPr lang="ar-SA" sz="1700" dirty="0"/>
          </a:p>
        </p:txBody>
      </p:sp>
      <p:sp>
        <p:nvSpPr>
          <p:cNvPr id="9" name="anim-g3-1338"/>
          <p:cNvSpPr/>
          <p:nvPr/>
        </p:nvSpPr>
        <p:spPr>
          <a:xfrm>
            <a:off x="11323015" y="4069080"/>
            <a:ext cx="45720" cy="845820"/>
          </a:xfrm>
          <a:prstGeom prst="rect">
            <a:avLst/>
          </a:prstGeom>
          <a:solidFill>
            <a:srgbClr val="E4DCC8"/>
          </a:solidFill>
          <a:ln/>
        </p:spPr>
      </p:sp>
      <p:sp>
        <p:nvSpPr>
          <p:cNvPr id="10" name="anim-g3-1339"/>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قضى أ. محمود الليل يفكر: هل يعطيه دورًا قياديًا ترضيةً للأم؟ وكيف سيراه زملاؤه؟</a:t>
            </a:r>
            <a:endParaRPr lang="ar-SA" sz="1700" dirty="0"/>
          </a:p>
        </p:txBody>
      </p:sp>
      <p:sp>
        <p:nvSpPr>
          <p:cNvPr id="11" name="anim-g4-1340"/>
          <p:cNvSpPr/>
          <p:nvPr/>
        </p:nvSpPr>
        <p:spPr>
          <a:xfrm>
            <a:off x="11323015" y="5097780"/>
            <a:ext cx="45720" cy="845820"/>
          </a:xfrm>
          <a:prstGeom prst="rect">
            <a:avLst/>
          </a:prstGeom>
          <a:solidFill>
            <a:srgbClr val="D64545"/>
          </a:solidFill>
          <a:ln/>
        </p:spPr>
      </p:sp>
      <p:sp>
        <p:nvSpPr>
          <p:cNvPr id="12" name="anim-g4-1341"/>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وفي الصباح جاءك يسأل: «بماذا تنصحني؟»</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shy.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name="Slide 1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بماذا تنصح أ. محمود؟</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يعيّنه قائدًا فورًا إرضاءً للأم</a:t>
            </a:r>
            <a:endParaRPr lang="ar-SA" sz="2300" dirty="0"/>
          </a:p>
        </p:txBody>
      </p:sp>
      <p:sp>
        <p:nvSpPr>
          <p:cNvPr id="9" name="anim-g1-1342"/>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343"/>
          <p:cNvSpPr/>
          <p:nvPr/>
        </p:nvSpPr>
        <p:spPr>
          <a:xfrm>
            <a:off x="10231831" y="2194560"/>
            <a:ext cx="954024" cy="954024"/>
          </a:xfrm>
          <a:prstGeom prst="roundRect">
            <a:avLst>
              <a:gd name="adj" fmla="val 11502"/>
            </a:avLst>
          </a:prstGeom>
          <a:solidFill>
            <a:srgbClr val="A3A9BA"/>
          </a:solidFill>
          <a:ln/>
        </p:spPr>
      </p:sp>
      <p:sp>
        <p:nvSpPr>
          <p:cNvPr id="11" name="anim-g1-1344"/>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345"/>
          <p:cNvSpPr/>
          <p:nvPr/>
        </p:nvSpPr>
        <p:spPr>
          <a:xfrm>
            <a:off x="1097280" y="2112264"/>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يعيّنه قائدًا فورًا إرضاءً للأم</a:t>
            </a:r>
            <a:endParaRPr lang="ar-SA" sz="2100" dirty="0"/>
          </a:p>
        </p:txBody>
      </p:sp>
      <p:sp>
        <p:nvSpPr>
          <p:cNvPr id="13" name="anim-g1-1346"/>
          <p:cNvSpPr/>
          <p:nvPr/>
        </p:nvSpPr>
        <p:spPr>
          <a:xfrm>
            <a:off x="1097280" y="2720706"/>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الترضية تُفقد القرار عدالته أمام الطلاب، وقد تضغط على فيصل نفسه</a:t>
            </a:r>
            <a:endParaRPr lang="ar-SA" sz="13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يرفض أي تغيير: «الطلاب اختاروا»</a:t>
            </a:r>
            <a:endParaRPr lang="ar-SA" sz="2300" dirty="0"/>
          </a:p>
        </p:txBody>
      </p:sp>
      <p:sp>
        <p:nvSpPr>
          <p:cNvPr id="18" name="anim-g1-1347"/>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348"/>
          <p:cNvSpPr/>
          <p:nvPr/>
        </p:nvSpPr>
        <p:spPr>
          <a:xfrm>
            <a:off x="10231831" y="3569208"/>
            <a:ext cx="954024" cy="954024"/>
          </a:xfrm>
          <a:prstGeom prst="roundRect">
            <a:avLst>
              <a:gd name="adj" fmla="val 11502"/>
            </a:avLst>
          </a:prstGeom>
          <a:solidFill>
            <a:srgbClr val="A3A9BA"/>
          </a:solidFill>
          <a:ln/>
        </p:spPr>
      </p:sp>
      <p:sp>
        <p:nvSpPr>
          <p:cNvPr id="20" name="anim-g1-1349"/>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350"/>
          <p:cNvSpPr/>
          <p:nvPr/>
        </p:nvSpPr>
        <p:spPr>
          <a:xfrm>
            <a:off x="1097280" y="3486912"/>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يرفض أي تغيير: «الطلاب اختاروا»</a:t>
            </a:r>
            <a:endParaRPr lang="ar-SA" sz="2100" dirty="0"/>
          </a:p>
        </p:txBody>
      </p:sp>
      <p:sp>
        <p:nvSpPr>
          <p:cNvPr id="22" name="anim-g1-1351"/>
          <p:cNvSpPr/>
          <p:nvPr/>
        </p:nvSpPr>
        <p:spPr>
          <a:xfrm>
            <a:off x="1097280" y="4095354"/>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الجمود يتجاهل قلقًا حقيقيًا يستحق الاستماع</a:t>
            </a:r>
            <a:endParaRPr lang="ar-SA" sz="13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يشرح للأم آلية الاختيار، ويبحث عن دور يناسب شخصية فيصل فعلًا</a:t>
            </a:r>
            <a:endParaRPr lang="ar-SA" sz="2300" dirty="0"/>
          </a:p>
        </p:txBody>
      </p:sp>
      <p:sp>
        <p:nvSpPr>
          <p:cNvPr id="27" name="anim-g1-1352"/>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353"/>
          <p:cNvSpPr/>
          <p:nvPr/>
        </p:nvSpPr>
        <p:spPr>
          <a:xfrm>
            <a:off x="10231831" y="4943856"/>
            <a:ext cx="954024" cy="954024"/>
          </a:xfrm>
          <a:prstGeom prst="roundRect">
            <a:avLst>
              <a:gd name="adj" fmla="val 11502"/>
            </a:avLst>
          </a:prstGeom>
          <a:solidFill>
            <a:srgbClr val="2E9E6B"/>
          </a:solidFill>
          <a:ln/>
        </p:spPr>
      </p:sp>
      <p:sp>
        <p:nvSpPr>
          <p:cNvPr id="29" name="anim-g1-1354"/>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355"/>
          <p:cNvSpPr/>
          <p:nvPr/>
        </p:nvSpPr>
        <p:spPr>
          <a:xfrm>
            <a:off x="1097280" y="4861560"/>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يشرح للأم آلية الاختيار، ويبحث عن دور يناسب شخصية فيصل فعلًا</a:t>
            </a:r>
            <a:endParaRPr lang="ar-SA" sz="2100" dirty="0"/>
          </a:p>
        </p:txBody>
      </p:sp>
      <p:sp>
        <p:nvSpPr>
          <p:cNvPr id="31" name="anim-g1-1356"/>
          <p:cNvSpPr/>
          <p:nvPr/>
        </p:nvSpPr>
        <p:spPr>
          <a:xfrm>
            <a:off x="1097280" y="5470002"/>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ليست كل قيادة وقوفًا في المقدمة؛ للهادئين أدوار قيادية أيضًا</a:t>
            </a:r>
            <a:endParaRPr lang="ar-SA" sz="13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وراء غضب الأم؟</a:t>
            </a:r>
            <a:endParaRPr lang="ar-SA" sz="3800" dirty="0"/>
          </a:p>
        </p:txBody>
      </p:sp>
      <p:sp>
        <p:nvSpPr>
          <p:cNvPr id="5" name="anim-g1-1357"/>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358"/>
          <p:cNvSpPr/>
          <p:nvPr/>
        </p:nvSpPr>
        <p:spPr>
          <a:xfrm>
            <a:off x="9816198" y="2194560"/>
            <a:ext cx="640080" cy="640080"/>
          </a:xfrm>
          <a:prstGeom prst="roundRect">
            <a:avLst>
              <a:gd name="adj" fmla="val 25714"/>
            </a:avLst>
          </a:prstGeom>
          <a:solidFill>
            <a:srgbClr val="F7E6BC"/>
          </a:solidFill>
          <a:ln/>
        </p:spPr>
      </p:sp>
      <p:sp>
        <p:nvSpPr>
          <p:cNvPr id="7" name="anim-g1-1359"/>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360"/>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قلق</a:t>
            </a:r>
            <a:endParaRPr lang="ar-SA" sz="2200" dirty="0"/>
          </a:p>
        </p:txBody>
      </p:sp>
      <p:sp>
        <p:nvSpPr>
          <p:cNvPr id="9" name="anim-g1-1361"/>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تخشى أن ابنها غير مقدَّر</a:t>
            </a:r>
            <a:endParaRPr lang="ar-SA" sz="1600" dirty="0"/>
          </a:p>
        </p:txBody>
      </p:sp>
      <p:sp>
        <p:nvSpPr>
          <p:cNvPr id="10" name="anim-g2-1362"/>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363"/>
          <p:cNvSpPr/>
          <p:nvPr/>
        </p:nvSpPr>
        <p:spPr>
          <a:xfrm>
            <a:off x="7122604" y="2194560"/>
            <a:ext cx="640080" cy="640080"/>
          </a:xfrm>
          <a:prstGeom prst="roundRect">
            <a:avLst>
              <a:gd name="adj" fmla="val 25714"/>
            </a:avLst>
          </a:prstGeom>
          <a:solidFill>
            <a:srgbClr val="F7E6BC"/>
          </a:solidFill>
          <a:ln/>
        </p:spPr>
      </p:sp>
      <p:sp>
        <p:nvSpPr>
          <p:cNvPr id="12" name="anim-g2-1364"/>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365"/>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غموض</a:t>
            </a:r>
            <a:endParaRPr lang="ar-SA" sz="2200" dirty="0"/>
          </a:p>
        </p:txBody>
      </p:sp>
      <p:sp>
        <p:nvSpPr>
          <p:cNvPr id="14" name="anim-g2-1366"/>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لم تعرف كيف تم الاختيار</a:t>
            </a:r>
            <a:endParaRPr lang="ar-SA" sz="1600" dirty="0"/>
          </a:p>
        </p:txBody>
      </p:sp>
      <p:sp>
        <p:nvSpPr>
          <p:cNvPr id="15" name="anim-g3-1367"/>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368"/>
          <p:cNvSpPr/>
          <p:nvPr/>
        </p:nvSpPr>
        <p:spPr>
          <a:xfrm>
            <a:off x="4429011" y="2194560"/>
            <a:ext cx="640080" cy="640080"/>
          </a:xfrm>
          <a:prstGeom prst="roundRect">
            <a:avLst>
              <a:gd name="adj" fmla="val 25714"/>
            </a:avLst>
          </a:prstGeom>
          <a:solidFill>
            <a:srgbClr val="F7E6BC"/>
          </a:solidFill>
          <a:ln/>
        </p:spPr>
      </p:sp>
      <p:sp>
        <p:nvSpPr>
          <p:cNvPr id="17" name="anim-g3-1369"/>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370"/>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مقارنة</a:t>
            </a:r>
            <a:endParaRPr lang="ar-SA" sz="2200" dirty="0"/>
          </a:p>
        </p:txBody>
      </p:sp>
      <p:sp>
        <p:nvSpPr>
          <p:cNvPr id="19" name="anim-g3-1371"/>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ترى أبناء غيرها في المقدمة</a:t>
            </a:r>
            <a:endParaRPr lang="ar-SA" sz="1600" dirty="0"/>
          </a:p>
        </p:txBody>
      </p:sp>
      <p:sp>
        <p:nvSpPr>
          <p:cNvPr id="20" name="anim-g4-1372"/>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373"/>
          <p:cNvSpPr/>
          <p:nvPr/>
        </p:nvSpPr>
        <p:spPr>
          <a:xfrm>
            <a:off x="1735417" y="2194560"/>
            <a:ext cx="640080" cy="640080"/>
          </a:xfrm>
          <a:prstGeom prst="roundRect">
            <a:avLst>
              <a:gd name="adj" fmla="val 25714"/>
            </a:avLst>
          </a:prstGeom>
          <a:solidFill>
            <a:srgbClr val="F7E6BC"/>
          </a:solidFill>
          <a:ln/>
        </p:spPr>
      </p:sp>
      <p:sp>
        <p:nvSpPr>
          <p:cNvPr id="22" name="anim-g4-1374"/>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375"/>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أمنية</a:t>
            </a:r>
            <a:endParaRPr lang="ar-SA" sz="2200" dirty="0"/>
          </a:p>
        </p:txBody>
      </p:sp>
      <p:sp>
        <p:nvSpPr>
          <p:cNvPr id="24" name="anim-g4-1376"/>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ربما تتمنى له ما لم تنله</a:t>
            </a:r>
            <a:endParaRPr lang="ar-SA" sz="1600" dirty="0"/>
          </a:p>
        </p:txBody>
      </p:sp>
      <p:sp>
        <p:nvSpPr>
          <p:cNvPr id="25" name="anim-g5-1377"/>
          <p:cNvSpPr/>
          <p:nvPr/>
        </p:nvSpPr>
        <p:spPr>
          <a:xfrm>
            <a:off x="822960" y="4754880"/>
            <a:ext cx="10545775" cy="1051560"/>
          </a:xfrm>
          <a:prstGeom prst="roundRect">
            <a:avLst>
              <a:gd name="adj" fmla="val 17391"/>
            </a:avLst>
          </a:prstGeom>
          <a:solidFill>
            <a:srgbClr val="101B45"/>
          </a:solidFill>
          <a:ln/>
        </p:spPr>
      </p:sp>
      <p:sp>
        <p:nvSpPr>
          <p:cNvPr id="26" name="anim-g5-1378"/>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الأم لا تطلب منصبًا…</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بل تطمئن أن ابنها مرئي</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name="Slide 1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خطة يوم واحد</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يوم واحد</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يتصرف أ. محمود؟</a:t>
            </a:r>
            <a:endParaRPr lang="ar-SA" sz="3800" dirty="0"/>
          </a:p>
        </p:txBody>
      </p:sp>
      <p:sp>
        <p:nvSpPr>
          <p:cNvPr id="7" name="anim-g1-1379"/>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380"/>
          <p:cNvSpPr/>
          <p:nvPr/>
        </p:nvSpPr>
        <p:spPr>
          <a:xfrm>
            <a:off x="9747618" y="2423160"/>
            <a:ext cx="777240" cy="777240"/>
          </a:xfrm>
          <a:prstGeom prst="ellipse">
            <a:avLst/>
          </a:prstGeom>
          <a:solidFill>
            <a:srgbClr val="D9AE4B"/>
          </a:solidFill>
          <a:ln/>
        </p:spPr>
      </p:sp>
      <p:sp>
        <p:nvSpPr>
          <p:cNvPr id="9" name="anim-g1-1381"/>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382"/>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اسمع الأم</a:t>
            </a:r>
            <a:endParaRPr lang="ar-SA" sz="2500" dirty="0"/>
          </a:p>
        </p:txBody>
      </p:sp>
      <p:sp>
        <p:nvSpPr>
          <p:cNvPr id="11" name="anim-g1-1383"/>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قلقها مفهوم، فاشكرها عليه</a:t>
            </a:r>
            <a:endParaRPr lang="ar-SA" sz="1700" dirty="0"/>
          </a:p>
        </p:txBody>
      </p:sp>
      <p:sp>
        <p:nvSpPr>
          <p:cNvPr id="12" name="anim-g2-1384"/>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385"/>
          <p:cNvSpPr/>
          <p:nvPr/>
        </p:nvSpPr>
        <p:spPr>
          <a:xfrm>
            <a:off x="7054024" y="2423160"/>
            <a:ext cx="777240" cy="777240"/>
          </a:xfrm>
          <a:prstGeom prst="ellipse">
            <a:avLst/>
          </a:prstGeom>
          <a:solidFill>
            <a:srgbClr val="D9AE4B"/>
          </a:solidFill>
          <a:ln/>
        </p:spPr>
      </p:sp>
      <p:sp>
        <p:nvSpPr>
          <p:cNvPr id="14" name="anim-g2-1386"/>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387"/>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اشرح الآلية</a:t>
            </a:r>
            <a:endParaRPr lang="ar-SA" sz="2500" dirty="0"/>
          </a:p>
        </p:txBody>
      </p:sp>
      <p:sp>
        <p:nvSpPr>
          <p:cNvPr id="16" name="anim-g2-1388"/>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الاختيار تم بشفافية وبأصوات الطلاب</a:t>
            </a:r>
            <a:endParaRPr lang="ar-SA" sz="1700" dirty="0"/>
          </a:p>
        </p:txBody>
      </p:sp>
      <p:sp>
        <p:nvSpPr>
          <p:cNvPr id="17" name="anim-g3-1389"/>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390"/>
          <p:cNvSpPr/>
          <p:nvPr/>
        </p:nvSpPr>
        <p:spPr>
          <a:xfrm>
            <a:off x="4360431" y="2423160"/>
            <a:ext cx="777240" cy="777240"/>
          </a:xfrm>
          <a:prstGeom prst="ellipse">
            <a:avLst/>
          </a:prstGeom>
          <a:solidFill>
            <a:srgbClr val="D9AE4B"/>
          </a:solidFill>
          <a:ln/>
        </p:spPr>
      </p:sp>
      <p:sp>
        <p:nvSpPr>
          <p:cNvPr id="19" name="anim-g3-1391"/>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392"/>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 فيصل</a:t>
            </a:r>
            <a:endParaRPr lang="ar-SA" sz="2500" dirty="0"/>
          </a:p>
        </p:txBody>
      </p:sp>
      <p:sp>
        <p:nvSpPr>
          <p:cNvPr id="21" name="anim-g3-1393"/>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ماذا يحب؟ وأين يرتاح؟</a:t>
            </a:r>
            <a:endParaRPr lang="ar-SA" sz="1700" dirty="0"/>
          </a:p>
        </p:txBody>
      </p:sp>
      <p:sp>
        <p:nvSpPr>
          <p:cNvPr id="22" name="anim-g4-1394"/>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395"/>
          <p:cNvSpPr/>
          <p:nvPr/>
        </p:nvSpPr>
        <p:spPr>
          <a:xfrm>
            <a:off x="1666837" y="2423160"/>
            <a:ext cx="777240" cy="777240"/>
          </a:xfrm>
          <a:prstGeom prst="ellipse">
            <a:avLst/>
          </a:prstGeom>
          <a:solidFill>
            <a:srgbClr val="D9AE4B"/>
          </a:solidFill>
          <a:ln/>
        </p:spPr>
      </p:sp>
      <p:sp>
        <p:nvSpPr>
          <p:cNvPr id="24" name="anim-g4-1396"/>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397"/>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دور يناسبه</a:t>
            </a:r>
            <a:endParaRPr lang="ar-SA" sz="2500" dirty="0"/>
          </a:p>
        </p:txBody>
      </p:sp>
      <p:sp>
        <p:nvSpPr>
          <p:cNvPr id="26" name="anim-g4-1398"/>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أمين المكتبة، أو مسؤول التوثيق</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399"/>
          <p:cNvSpPr/>
          <p:nvPr/>
        </p:nvSpPr>
        <p:spPr>
          <a:xfrm>
            <a:off x="9768535" y="2130552"/>
            <a:ext cx="1600200" cy="1018032"/>
          </a:xfrm>
          <a:prstGeom prst="roundRect">
            <a:avLst>
              <a:gd name="adj" fmla="val 13473"/>
            </a:avLst>
          </a:prstGeom>
          <a:solidFill>
            <a:srgbClr val="E9EDF9"/>
          </a:solidFill>
          <a:ln/>
        </p:spPr>
      </p:sp>
      <p:sp>
        <p:nvSpPr>
          <p:cNvPr id="6" name="anim-g1-1400"/>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للأم</a:t>
            </a:r>
            <a:endParaRPr lang="ar-SA" sz="1400" dirty="0"/>
          </a:p>
        </p:txBody>
      </p:sp>
      <p:sp>
        <p:nvSpPr>
          <p:cNvPr id="7" name="anim-g1-1401"/>
          <p:cNvSpPr/>
          <p:nvPr/>
        </p:nvSpPr>
        <p:spPr>
          <a:xfrm>
            <a:off x="822960" y="2057400"/>
            <a:ext cx="8716975" cy="1164336"/>
          </a:xfrm>
          <a:prstGeom prst="roundRect">
            <a:avLst>
              <a:gd name="adj" fmla="val 17277"/>
            </a:avLst>
          </a:prstGeom>
          <a:solidFill>
            <a:srgbClr val="101B45"/>
          </a:solidFill>
          <a:ln/>
        </p:spPr>
      </p:sp>
      <p:sp>
        <p:nvSpPr>
          <p:cNvPr id="8" name="anim-g1-1402"/>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فيصل يهمّني كثيرًا. الاختيار تم بأصوات زملائه، وأنا أبحث عن دور يناسب شخصيته الهادئة</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9" name="anim-g2-1403"/>
          <p:cNvSpPr/>
          <p:nvPr/>
        </p:nvSpPr>
        <p:spPr>
          <a:xfrm>
            <a:off x="9768535" y="3441192"/>
            <a:ext cx="1600200" cy="1018032"/>
          </a:xfrm>
          <a:prstGeom prst="roundRect">
            <a:avLst>
              <a:gd name="adj" fmla="val 13473"/>
            </a:avLst>
          </a:prstGeom>
          <a:solidFill>
            <a:srgbClr val="E9EDF9"/>
          </a:solidFill>
          <a:ln/>
        </p:spPr>
      </p:sp>
      <p:sp>
        <p:nvSpPr>
          <p:cNvPr id="10" name="anim-g2-1404"/>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لفيصل</a:t>
            </a:r>
            <a:endParaRPr lang="ar-SA" sz="1400" dirty="0"/>
          </a:p>
        </p:txBody>
      </p:sp>
      <p:sp>
        <p:nvSpPr>
          <p:cNvPr id="11" name="anim-g2-1405"/>
          <p:cNvSpPr/>
          <p:nvPr/>
        </p:nvSpPr>
        <p:spPr>
          <a:xfrm>
            <a:off x="822960" y="3368040"/>
            <a:ext cx="8716975" cy="1164336"/>
          </a:xfrm>
          <a:prstGeom prst="roundRect">
            <a:avLst>
              <a:gd name="adj" fmla="val 17277"/>
            </a:avLst>
          </a:prstGeom>
          <a:solidFill>
            <a:srgbClr val="101B45"/>
          </a:solidFill>
          <a:ln/>
        </p:spPr>
      </p:sp>
      <p:sp>
        <p:nvSpPr>
          <p:cNvPr id="12" name="anim-g2-1406"/>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لاحظت أنك تحب القراءة والترتيب. ما رأيك أن تكون أمين مكتبة الفصل؟</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3" name="anim-g3-1407"/>
          <p:cNvSpPr/>
          <p:nvPr/>
        </p:nvSpPr>
        <p:spPr>
          <a:xfrm>
            <a:off x="9768535" y="4751832"/>
            <a:ext cx="1600200" cy="1018032"/>
          </a:xfrm>
          <a:prstGeom prst="roundRect">
            <a:avLst>
              <a:gd name="adj" fmla="val 13473"/>
            </a:avLst>
          </a:prstGeom>
          <a:solidFill>
            <a:srgbClr val="E9EDF9"/>
          </a:solidFill>
          <a:ln/>
        </p:spPr>
      </p:sp>
      <p:sp>
        <p:nvSpPr>
          <p:cNvPr id="14" name="anim-g3-1408"/>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للفصل</a:t>
            </a:r>
            <a:endParaRPr lang="ar-SA" sz="1400" dirty="0"/>
          </a:p>
        </p:txBody>
      </p:sp>
      <p:sp>
        <p:nvSpPr>
          <p:cNvPr id="15" name="anim-g3-1409"/>
          <p:cNvSpPr/>
          <p:nvPr/>
        </p:nvSpPr>
        <p:spPr>
          <a:xfrm>
            <a:off x="822960" y="4678680"/>
            <a:ext cx="8716975" cy="1164336"/>
          </a:xfrm>
          <a:prstGeom prst="roundRect">
            <a:avLst>
              <a:gd name="adj" fmla="val 17277"/>
            </a:avLst>
          </a:prstGeom>
          <a:solidFill>
            <a:srgbClr val="101B45"/>
          </a:solidFill>
          <a:ln/>
        </p:spPr>
      </p:sp>
      <p:sp>
        <p:nvSpPr>
          <p:cNvPr id="16" name="anim-g3-1410"/>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عندنا أدوار جديدة هذا الشهر، وكل شهر نبدّل الأدوار ليجرّب الجميع</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name="Slide 1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411"/>
          <p:cNvSpPr/>
          <p:nvPr/>
        </p:nvSpPr>
        <p:spPr>
          <a:xfrm>
            <a:off x="6415888" y="2194560"/>
            <a:ext cx="4952848" cy="804672"/>
          </a:xfrm>
          <a:prstGeom prst="roundRect">
            <a:avLst>
              <a:gd name="adj" fmla="val 15909"/>
            </a:avLst>
          </a:prstGeom>
          <a:solidFill>
            <a:srgbClr val="FBECEC"/>
          </a:solidFill>
          <a:ln/>
        </p:spPr>
      </p:sp>
      <p:sp>
        <p:nvSpPr>
          <p:cNvPr id="6" name="anim-g1-1412"/>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تعيينه قائدًا ترضيةً للأم</a:t>
            </a:r>
            <a:endParaRPr lang="ar-SA" sz="1900" dirty="0"/>
          </a:p>
        </p:txBody>
      </p:sp>
      <p:sp>
        <p:nvSpPr>
          <p:cNvPr id="7" name="anim-g1-1413"/>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414"/>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1415"/>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416"/>
          <p:cNvSpPr/>
          <p:nvPr/>
        </p:nvSpPr>
        <p:spPr>
          <a:xfrm>
            <a:off x="822960" y="2194560"/>
            <a:ext cx="4952848" cy="804672"/>
          </a:xfrm>
          <a:prstGeom prst="roundRect">
            <a:avLst>
              <a:gd name="adj" fmla="val 15909"/>
            </a:avLst>
          </a:prstGeom>
          <a:solidFill>
            <a:srgbClr val="E6F4EC"/>
          </a:solidFill>
          <a:ln/>
        </p:spPr>
      </p:sp>
      <p:sp>
        <p:nvSpPr>
          <p:cNvPr id="11" name="anim-g2-1417"/>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دور حقيقي يناسب شخصيته</a:t>
            </a:r>
            <a:endParaRPr lang="ar-SA" sz="1900" dirty="0"/>
          </a:p>
        </p:txBody>
      </p:sp>
      <p:sp>
        <p:nvSpPr>
          <p:cNvPr id="12" name="anim-g3-1418"/>
          <p:cNvSpPr/>
          <p:nvPr/>
        </p:nvSpPr>
        <p:spPr>
          <a:xfrm>
            <a:off x="6415888" y="3154680"/>
            <a:ext cx="4952848" cy="804672"/>
          </a:xfrm>
          <a:prstGeom prst="roundRect">
            <a:avLst>
              <a:gd name="adj" fmla="val 15909"/>
            </a:avLst>
          </a:prstGeom>
          <a:solidFill>
            <a:srgbClr val="FBECEC"/>
          </a:solidFill>
          <a:ln/>
        </p:spPr>
      </p:sp>
      <p:sp>
        <p:nvSpPr>
          <p:cNvPr id="13" name="anim-g3-1419"/>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القيادة = الوقوف في المقدمة</a:t>
            </a:r>
            <a:endParaRPr lang="ar-SA" sz="1900" dirty="0"/>
          </a:p>
        </p:txBody>
      </p:sp>
      <p:sp>
        <p:nvSpPr>
          <p:cNvPr id="14" name="anim-g3-1420"/>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421"/>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1422"/>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423"/>
          <p:cNvSpPr/>
          <p:nvPr/>
        </p:nvSpPr>
        <p:spPr>
          <a:xfrm>
            <a:off x="822960" y="3154680"/>
            <a:ext cx="4952848" cy="804672"/>
          </a:xfrm>
          <a:prstGeom prst="roundRect">
            <a:avLst>
              <a:gd name="adj" fmla="val 15909"/>
            </a:avLst>
          </a:prstGeom>
          <a:solidFill>
            <a:srgbClr val="E6F4EC"/>
          </a:solidFill>
          <a:ln/>
        </p:spPr>
      </p:sp>
      <p:sp>
        <p:nvSpPr>
          <p:cNvPr id="18" name="anim-g4-1424"/>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أدوار قيادية هادئة: توثيق، ومكتبة، وتنظيم</a:t>
            </a:r>
            <a:endParaRPr lang="ar-SA" sz="1900" dirty="0"/>
          </a:p>
        </p:txBody>
      </p:sp>
      <p:sp>
        <p:nvSpPr>
          <p:cNvPr id="19" name="anim-g5-1425"/>
          <p:cNvSpPr/>
          <p:nvPr/>
        </p:nvSpPr>
        <p:spPr>
          <a:xfrm>
            <a:off x="6415888" y="4114800"/>
            <a:ext cx="4952848" cy="804672"/>
          </a:xfrm>
          <a:prstGeom prst="roundRect">
            <a:avLst>
              <a:gd name="adj" fmla="val 15909"/>
            </a:avLst>
          </a:prstGeom>
          <a:solidFill>
            <a:srgbClr val="FBECEC"/>
          </a:solidFill>
          <a:ln/>
        </p:spPr>
      </p:sp>
      <p:sp>
        <p:nvSpPr>
          <p:cNvPr id="20" name="anim-g5-1426"/>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أدوار ثابتة طوال العام</a:t>
            </a:r>
            <a:endParaRPr lang="ar-SA" sz="1900" dirty="0"/>
          </a:p>
        </p:txBody>
      </p:sp>
      <p:sp>
        <p:nvSpPr>
          <p:cNvPr id="21" name="anim-g5-1427"/>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428"/>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1429"/>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430"/>
          <p:cNvSpPr/>
          <p:nvPr/>
        </p:nvSpPr>
        <p:spPr>
          <a:xfrm>
            <a:off x="822960" y="4114800"/>
            <a:ext cx="4952848" cy="804672"/>
          </a:xfrm>
          <a:prstGeom prst="roundRect">
            <a:avLst>
              <a:gd name="adj" fmla="val 15909"/>
            </a:avLst>
          </a:prstGeom>
          <a:solidFill>
            <a:srgbClr val="E6F4EC"/>
          </a:solidFill>
          <a:ln/>
        </p:spPr>
      </p:sp>
      <p:sp>
        <p:nvSpPr>
          <p:cNvPr id="25" name="anim-g6-1431"/>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تدوير الأدوار شهريًا</a:t>
            </a:r>
            <a:endParaRPr lang="ar-SA" sz="19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name="Slide 1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لكل طالب مكان في القيادة…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إن وسّعنا معنى القيادة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لماذا تتجاهلون ابني؟  ·  ١٢٧</a:t>
            </a:r>
            <a:endParaRPr lang="ar-SA" sz="12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432" descr="/Users/mac/Desktop/أردوينو/المشاريع والكتب/younes-training/mawaqif/assets/scenes/slow.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الطالب والأسرة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١٠</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هل مساعد المعلم مطلوب؟</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هل مساعد المعلم مطلوب؟  ·  ١٢٨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name="Slide 1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1433"/>
          <p:cNvSpPr/>
          <p:nvPr/>
        </p:nvSpPr>
        <p:spPr>
          <a:xfrm>
            <a:off x="11323015" y="2011680"/>
            <a:ext cx="45720" cy="845820"/>
          </a:xfrm>
          <a:prstGeom prst="rect">
            <a:avLst/>
          </a:prstGeom>
          <a:solidFill>
            <a:srgbClr val="E4DCC8"/>
          </a:solidFill>
          <a:ln/>
        </p:spPr>
      </p:sp>
      <p:sp>
        <p:nvSpPr>
          <p:cNvPr id="6" name="anim-g1-1434"/>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خالد بطيء جدًا في الفهم، ودائم السؤال وطلب إعادة الشرح. وزملاؤه يملّون ويضيقون.</a:t>
            </a:r>
            <a:endParaRPr lang="ar-SA" sz="1700" dirty="0"/>
          </a:p>
        </p:txBody>
      </p:sp>
      <p:sp>
        <p:nvSpPr>
          <p:cNvPr id="7" name="anim-g2-1435"/>
          <p:cNvSpPr/>
          <p:nvPr/>
        </p:nvSpPr>
        <p:spPr>
          <a:xfrm>
            <a:off x="11323015" y="3040380"/>
            <a:ext cx="45720" cy="845820"/>
          </a:xfrm>
          <a:prstGeom prst="rect">
            <a:avLst/>
          </a:prstGeom>
          <a:solidFill>
            <a:srgbClr val="E4DCC8"/>
          </a:solidFill>
          <a:ln/>
        </p:spPr>
      </p:sp>
      <p:sp>
        <p:nvSpPr>
          <p:cNvPr id="8" name="anim-g2-1436"/>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أ. جلال معلم الرياضيات قادر دائمًا على احتواء الفصل، وتقدّره الإدارة لذلك.</a:t>
            </a:r>
            <a:endParaRPr lang="ar-SA" sz="1700" dirty="0"/>
          </a:p>
        </p:txBody>
      </p:sp>
      <p:sp>
        <p:nvSpPr>
          <p:cNvPr id="9" name="anim-g3-1437"/>
          <p:cNvSpPr/>
          <p:nvPr/>
        </p:nvSpPr>
        <p:spPr>
          <a:xfrm>
            <a:off x="11323015" y="4069080"/>
            <a:ext cx="45720" cy="845820"/>
          </a:xfrm>
          <a:prstGeom prst="rect">
            <a:avLst/>
          </a:prstGeom>
          <a:solidFill>
            <a:srgbClr val="E4DCC8"/>
          </a:solidFill>
          <a:ln/>
        </p:spPr>
      </p:sp>
      <p:sp>
        <p:nvSpPr>
          <p:cNvPr id="10" name="anim-g3-1438"/>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لكن ثلاثة من أولياء الأمور اعترضوا: «نصف وقت الحصة يضيع في الإعادة لخالد!»</a:t>
            </a:r>
            <a:endParaRPr lang="ar-SA" sz="1700" dirty="0"/>
          </a:p>
        </p:txBody>
      </p:sp>
      <p:sp>
        <p:nvSpPr>
          <p:cNvPr id="11" name="anim-g4-1439"/>
          <p:cNvSpPr/>
          <p:nvPr/>
        </p:nvSpPr>
        <p:spPr>
          <a:xfrm>
            <a:off x="11323015" y="5097780"/>
            <a:ext cx="45720" cy="845820"/>
          </a:xfrm>
          <a:prstGeom prst="rect">
            <a:avLst/>
          </a:prstGeom>
          <a:solidFill>
            <a:srgbClr val="D64545"/>
          </a:solidFill>
          <a:ln/>
        </p:spPr>
      </p:sp>
      <p:sp>
        <p:nvSpPr>
          <p:cNvPr id="12" name="anim-g4-1440"/>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وأصرّوا على وجود مساعد معلم في الفصل… وإلا نقلوا أبناءهم.</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slow.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name="Slide 1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الحل الأنسب؟</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نقل خالد إلى فصل آخر</a:t>
            </a:r>
            <a:endParaRPr lang="ar-SA" sz="1900" dirty="0"/>
          </a:p>
        </p:txBody>
      </p:sp>
      <p:sp>
        <p:nvSpPr>
          <p:cNvPr id="9" name="anim-g1-144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442"/>
          <p:cNvSpPr/>
          <p:nvPr/>
        </p:nvSpPr>
        <p:spPr>
          <a:xfrm>
            <a:off x="10575493" y="2194560"/>
            <a:ext cx="610362" cy="610362"/>
          </a:xfrm>
          <a:prstGeom prst="roundRect">
            <a:avLst>
              <a:gd name="adj" fmla="val 17978"/>
            </a:avLst>
          </a:prstGeom>
          <a:solidFill>
            <a:srgbClr val="A3A9BA"/>
          </a:solidFill>
          <a:ln/>
        </p:spPr>
      </p:sp>
      <p:sp>
        <p:nvSpPr>
          <p:cNvPr id="11" name="anim-g1-144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444"/>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نقل خالد إلى فصل آخر</a:t>
            </a:r>
            <a:endParaRPr lang="ar-SA" sz="1700" dirty="0"/>
          </a:p>
        </p:txBody>
      </p:sp>
      <p:sp>
        <p:nvSpPr>
          <p:cNvPr id="13" name="anim-g1-1445"/>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النقل يصدّر المشكلة ولا يحلها، ويجرح خالد</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تجاهل اعتراض أولياء الأمور</a:t>
            </a:r>
            <a:endParaRPr lang="ar-SA" sz="1900" dirty="0"/>
          </a:p>
        </p:txBody>
      </p:sp>
      <p:sp>
        <p:nvSpPr>
          <p:cNvPr id="18" name="anim-g1-144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447"/>
          <p:cNvSpPr/>
          <p:nvPr/>
        </p:nvSpPr>
        <p:spPr>
          <a:xfrm>
            <a:off x="10575493" y="3225546"/>
            <a:ext cx="610362" cy="610362"/>
          </a:xfrm>
          <a:prstGeom prst="roundRect">
            <a:avLst>
              <a:gd name="adj" fmla="val 17978"/>
            </a:avLst>
          </a:prstGeom>
          <a:solidFill>
            <a:srgbClr val="A3A9BA"/>
          </a:solidFill>
          <a:ln/>
        </p:spPr>
      </p:sp>
      <p:sp>
        <p:nvSpPr>
          <p:cNvPr id="20" name="anim-g1-144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449"/>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تجاهل اعتراض أولياء الأمور</a:t>
            </a:r>
            <a:endParaRPr lang="ar-SA" sz="1700" dirty="0"/>
          </a:p>
        </p:txBody>
      </p:sp>
      <p:sp>
        <p:nvSpPr>
          <p:cNvPr id="22" name="anim-g1-1450"/>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في اعتراض الأهل جانب مشروع يستحق الاستماع</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التدريس المتمايز: دعم خاص لخالد، وتحديات إضافية للمتقدمين</a:t>
            </a:r>
            <a:endParaRPr lang="ar-SA" sz="1900" dirty="0"/>
          </a:p>
        </p:txBody>
      </p:sp>
      <p:sp>
        <p:nvSpPr>
          <p:cNvPr id="27" name="anim-g1-145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452"/>
          <p:cNvSpPr/>
          <p:nvPr/>
        </p:nvSpPr>
        <p:spPr>
          <a:xfrm>
            <a:off x="10575493" y="4256532"/>
            <a:ext cx="610362" cy="610362"/>
          </a:xfrm>
          <a:prstGeom prst="roundRect">
            <a:avLst>
              <a:gd name="adj" fmla="val 17978"/>
            </a:avLst>
          </a:prstGeom>
          <a:solidFill>
            <a:srgbClr val="2E9E6B"/>
          </a:solidFill>
          <a:ln/>
        </p:spPr>
      </p:sp>
      <p:sp>
        <p:nvSpPr>
          <p:cNvPr id="29" name="anim-g1-145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454"/>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التدريس المتمايز: دعم خاص لخالد، وتحديات إضافية للمتقدمين</a:t>
            </a:r>
            <a:endParaRPr lang="ar-SA" sz="1700" dirty="0"/>
          </a:p>
        </p:txBody>
      </p:sp>
      <p:sp>
        <p:nvSpPr>
          <p:cNvPr id="31" name="anim-g1-1455"/>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كل طالب يأخذ ما يحتاجه دون أن يتعطل غيره</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مساعد معلم دائم لخالد وحده</a:t>
            </a:r>
            <a:endParaRPr lang="ar-SA" sz="1900" dirty="0"/>
          </a:p>
        </p:txBody>
      </p:sp>
      <p:sp>
        <p:nvSpPr>
          <p:cNvPr id="36" name="anim-g1-145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457"/>
          <p:cNvSpPr/>
          <p:nvPr/>
        </p:nvSpPr>
        <p:spPr>
          <a:xfrm>
            <a:off x="10575493" y="5287518"/>
            <a:ext cx="610362" cy="610362"/>
          </a:xfrm>
          <a:prstGeom prst="roundRect">
            <a:avLst>
              <a:gd name="adj" fmla="val 17978"/>
            </a:avLst>
          </a:prstGeom>
          <a:solidFill>
            <a:srgbClr val="A3A9BA"/>
          </a:solidFill>
          <a:ln/>
        </p:spPr>
      </p:sp>
      <p:sp>
        <p:nvSpPr>
          <p:cNvPr id="38" name="anim-g1-145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459"/>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مساعد معلم دائم لخالد وحده</a:t>
            </a:r>
            <a:endParaRPr lang="ar-SA" sz="1700" dirty="0"/>
          </a:p>
        </p:txBody>
      </p:sp>
      <p:sp>
        <p:nvSpPr>
          <p:cNvPr id="40" name="anim-g1-1460"/>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قد يفيد أحيانًا، لكنه مكلف، وقد يعزل خالد عن زملائه</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name="Slide 1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5919" y="457200"/>
            <a:ext cx="4242816" cy="457200"/>
          </a:xfrm>
          <a:prstGeom prst="roundRect">
            <a:avLst>
              <a:gd name="adj" fmla="val 50000"/>
            </a:avLst>
          </a:prstGeom>
          <a:solidFill>
            <a:srgbClr val="F6EBCF"/>
          </a:solidFill>
          <a:ln/>
        </p:spPr>
      </p:sp>
      <p:sp>
        <p:nvSpPr>
          <p:cNvPr id="3" name="Text 1"/>
          <p:cNvSpPr/>
          <p:nvPr/>
        </p:nvSpPr>
        <p:spPr>
          <a:xfrm>
            <a:off x="7125919" y="457200"/>
            <a:ext cx="424281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أربعة أطراف… وحل واحد</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احتياج كل طرف؟</a:t>
            </a:r>
            <a:endParaRPr lang="ar-SA" sz="3800" dirty="0"/>
          </a:p>
        </p:txBody>
      </p:sp>
      <p:sp>
        <p:nvSpPr>
          <p:cNvPr id="5" name="anim-g1-1461"/>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462"/>
          <p:cNvSpPr/>
          <p:nvPr/>
        </p:nvSpPr>
        <p:spPr>
          <a:xfrm>
            <a:off x="9816198" y="2194560"/>
            <a:ext cx="640080" cy="640080"/>
          </a:xfrm>
          <a:prstGeom prst="roundRect">
            <a:avLst>
              <a:gd name="adj" fmla="val 25714"/>
            </a:avLst>
          </a:prstGeom>
          <a:solidFill>
            <a:srgbClr val="F7E6BC"/>
          </a:solidFill>
          <a:ln/>
        </p:spPr>
      </p:sp>
      <p:sp>
        <p:nvSpPr>
          <p:cNvPr id="7" name="anim-g1-1463"/>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464"/>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خالد</a:t>
            </a:r>
            <a:endParaRPr lang="ar-SA" sz="2200" dirty="0"/>
          </a:p>
        </p:txBody>
      </p:sp>
      <p:sp>
        <p:nvSpPr>
          <p:cNvPr id="9" name="anim-g1-1465"/>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وقت أطول وطرق مختلفة</a:t>
            </a:r>
            <a:endParaRPr lang="ar-SA" sz="1600" dirty="0"/>
          </a:p>
        </p:txBody>
      </p:sp>
      <p:sp>
        <p:nvSpPr>
          <p:cNvPr id="10" name="anim-g2-1466"/>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467"/>
          <p:cNvSpPr/>
          <p:nvPr/>
        </p:nvSpPr>
        <p:spPr>
          <a:xfrm>
            <a:off x="7122604" y="2194560"/>
            <a:ext cx="640080" cy="640080"/>
          </a:xfrm>
          <a:prstGeom prst="roundRect">
            <a:avLst>
              <a:gd name="adj" fmla="val 25714"/>
            </a:avLst>
          </a:prstGeom>
          <a:solidFill>
            <a:srgbClr val="F7E6BC"/>
          </a:solidFill>
          <a:ln/>
        </p:spPr>
      </p:sp>
      <p:sp>
        <p:nvSpPr>
          <p:cNvPr id="12" name="anim-g2-1468"/>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469"/>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المتقدمون</a:t>
            </a:r>
            <a:endParaRPr lang="ar-SA" sz="2200" dirty="0"/>
          </a:p>
        </p:txBody>
      </p:sp>
      <p:sp>
        <p:nvSpPr>
          <p:cNvPr id="14" name="anim-g2-1470"/>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تحدٍّ لا انتظار</a:t>
            </a:r>
            <a:endParaRPr lang="ar-SA" sz="1600" dirty="0"/>
          </a:p>
        </p:txBody>
      </p:sp>
      <p:sp>
        <p:nvSpPr>
          <p:cNvPr id="15" name="anim-g3-1471"/>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472"/>
          <p:cNvSpPr/>
          <p:nvPr/>
        </p:nvSpPr>
        <p:spPr>
          <a:xfrm>
            <a:off x="4429011" y="2194560"/>
            <a:ext cx="640080" cy="640080"/>
          </a:xfrm>
          <a:prstGeom prst="roundRect">
            <a:avLst>
              <a:gd name="adj" fmla="val 25714"/>
            </a:avLst>
          </a:prstGeom>
          <a:solidFill>
            <a:srgbClr val="F7E6BC"/>
          </a:solidFill>
          <a:ln/>
        </p:spPr>
      </p:sp>
      <p:sp>
        <p:nvSpPr>
          <p:cNvPr id="17" name="anim-g3-1473"/>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474"/>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الأهل</a:t>
            </a:r>
            <a:endParaRPr lang="ar-SA" sz="2200" dirty="0"/>
          </a:p>
        </p:txBody>
      </p:sp>
      <p:sp>
        <p:nvSpPr>
          <p:cNvPr id="19" name="anim-g3-1475"/>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ضمان حق أبنائهم</a:t>
            </a:r>
            <a:endParaRPr lang="ar-SA" sz="1600" dirty="0"/>
          </a:p>
        </p:txBody>
      </p:sp>
      <p:sp>
        <p:nvSpPr>
          <p:cNvPr id="20" name="anim-g4-1476"/>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477"/>
          <p:cNvSpPr/>
          <p:nvPr/>
        </p:nvSpPr>
        <p:spPr>
          <a:xfrm>
            <a:off x="1735417" y="2194560"/>
            <a:ext cx="640080" cy="640080"/>
          </a:xfrm>
          <a:prstGeom prst="roundRect">
            <a:avLst>
              <a:gd name="adj" fmla="val 25714"/>
            </a:avLst>
          </a:prstGeom>
          <a:solidFill>
            <a:srgbClr val="F7E6BC"/>
          </a:solidFill>
          <a:ln/>
        </p:spPr>
      </p:sp>
      <p:sp>
        <p:nvSpPr>
          <p:cNvPr id="22" name="anim-g4-1478"/>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479"/>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المعلم</a:t>
            </a:r>
            <a:endParaRPr lang="ar-SA" sz="2200" dirty="0"/>
          </a:p>
        </p:txBody>
      </p:sp>
      <p:sp>
        <p:nvSpPr>
          <p:cNvPr id="24" name="anim-g4-1480"/>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أدوات للتدريس المتمايز</a:t>
            </a:r>
            <a:endParaRPr lang="ar-SA" sz="1600" dirty="0"/>
          </a:p>
        </p:txBody>
      </p:sp>
      <p:sp>
        <p:nvSpPr>
          <p:cNvPr id="25" name="anim-g5-1481"/>
          <p:cNvSpPr/>
          <p:nvPr/>
        </p:nvSpPr>
        <p:spPr>
          <a:xfrm>
            <a:off x="822960" y="4754880"/>
            <a:ext cx="10545775" cy="1051560"/>
          </a:xfrm>
          <a:prstGeom prst="roundRect">
            <a:avLst>
              <a:gd name="adj" fmla="val 17391"/>
            </a:avLst>
          </a:prstGeom>
          <a:solidFill>
            <a:srgbClr val="101B45"/>
          </a:solidFill>
          <a:ln/>
        </p:spPr>
      </p:sp>
      <p:sp>
        <p:nvSpPr>
          <p:cNvPr id="26" name="anim-g5-1482"/>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العدل ليس أن يأخذ الجميع الشيء نفسه…</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بل أن يأخذ كلٌّ ما يحتاجه</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name="Slide 1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في كل حصة</a:t>
            </a:r>
            <a:endParaRPr lang="ar-SA" sz="1600" dirty="0"/>
          </a:p>
        </p:txBody>
      </p:sp>
      <p:sp>
        <p:nvSpPr>
          <p:cNvPr id="4" name="Shape 2"/>
          <p:cNvSpPr/>
          <p:nvPr/>
        </p:nvSpPr>
        <p:spPr>
          <a:xfrm>
            <a:off x="822960" y="457200"/>
            <a:ext cx="1499616" cy="457200"/>
          </a:xfrm>
          <a:prstGeom prst="roundRect">
            <a:avLst>
              <a:gd name="adj" fmla="val 50000"/>
            </a:avLst>
          </a:prstGeom>
          <a:solidFill>
            <a:srgbClr val="FBECEC"/>
          </a:solidFill>
          <a:ln/>
        </p:spPr>
      </p:sp>
      <p:sp>
        <p:nvSpPr>
          <p:cNvPr id="5" name="Text 3"/>
          <p:cNvSpPr/>
          <p:nvPr/>
        </p:nvSpPr>
        <p:spPr>
          <a:xfrm>
            <a:off x="822960" y="457200"/>
            <a:ext cx="149961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كل حصة</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أدوات أ. جلال داخل الحصة</a:t>
            </a:r>
            <a:endParaRPr lang="ar-SA" sz="3800" dirty="0"/>
          </a:p>
        </p:txBody>
      </p:sp>
      <p:sp>
        <p:nvSpPr>
          <p:cNvPr id="7" name="anim-g1-1483"/>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484"/>
          <p:cNvSpPr/>
          <p:nvPr/>
        </p:nvSpPr>
        <p:spPr>
          <a:xfrm>
            <a:off x="9747618" y="2423160"/>
            <a:ext cx="777240" cy="777240"/>
          </a:xfrm>
          <a:prstGeom prst="ellipse">
            <a:avLst/>
          </a:prstGeom>
          <a:solidFill>
            <a:srgbClr val="D9AE4B"/>
          </a:solidFill>
          <a:ln/>
        </p:spPr>
      </p:sp>
      <p:sp>
        <p:nvSpPr>
          <p:cNvPr id="9" name="anim-g1-1485"/>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486"/>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بطاقة المساعدة</a:t>
            </a:r>
            <a:endParaRPr lang="ar-SA" sz="2500" dirty="0"/>
          </a:p>
        </p:txBody>
      </p:sp>
      <p:sp>
        <p:nvSpPr>
          <p:cNvPr id="11" name="anim-g1-1487"/>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يرفعها خالد بدل السؤال العلني المتكرر</a:t>
            </a:r>
            <a:endParaRPr lang="ar-SA" sz="1700" dirty="0"/>
          </a:p>
        </p:txBody>
      </p:sp>
      <p:sp>
        <p:nvSpPr>
          <p:cNvPr id="12" name="anim-g2-1488"/>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489"/>
          <p:cNvSpPr/>
          <p:nvPr/>
        </p:nvSpPr>
        <p:spPr>
          <a:xfrm>
            <a:off x="7054024" y="2423160"/>
            <a:ext cx="777240" cy="777240"/>
          </a:xfrm>
          <a:prstGeom prst="ellipse">
            <a:avLst/>
          </a:prstGeom>
          <a:solidFill>
            <a:srgbClr val="D9AE4B"/>
          </a:solidFill>
          <a:ln/>
        </p:spPr>
      </p:sp>
      <p:sp>
        <p:nvSpPr>
          <p:cNvPr id="14" name="anim-g2-1490"/>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491"/>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الزميل المساعد</a:t>
            </a:r>
            <a:endParaRPr lang="ar-SA" sz="2500" dirty="0"/>
          </a:p>
        </p:txBody>
      </p:sp>
      <p:sp>
        <p:nvSpPr>
          <p:cNvPr id="16" name="anim-g2-1492"/>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متقدم يشرح لخالد، فيتعلم الاثنان</a:t>
            </a:r>
            <a:endParaRPr lang="ar-SA" sz="1700" dirty="0"/>
          </a:p>
        </p:txBody>
      </p:sp>
      <p:sp>
        <p:nvSpPr>
          <p:cNvPr id="17" name="anim-g3-1493"/>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494"/>
          <p:cNvSpPr/>
          <p:nvPr/>
        </p:nvSpPr>
        <p:spPr>
          <a:xfrm>
            <a:off x="4360431" y="2423160"/>
            <a:ext cx="777240" cy="777240"/>
          </a:xfrm>
          <a:prstGeom prst="ellipse">
            <a:avLst/>
          </a:prstGeom>
          <a:solidFill>
            <a:srgbClr val="D9AE4B"/>
          </a:solidFill>
          <a:ln/>
        </p:spPr>
      </p:sp>
      <p:sp>
        <p:nvSpPr>
          <p:cNvPr id="19" name="anim-g3-1495"/>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496"/>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تحدٍّ إضافي</a:t>
            </a:r>
            <a:endParaRPr lang="ar-SA" sz="2500" dirty="0"/>
          </a:p>
        </p:txBody>
      </p:sp>
      <p:sp>
        <p:nvSpPr>
          <p:cNvPr id="21" name="anim-g3-1497"/>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للمنجزين أولًا، فلا وقت انتظار</a:t>
            </a:r>
            <a:endParaRPr lang="ar-SA" sz="1700" dirty="0"/>
          </a:p>
        </p:txBody>
      </p:sp>
      <p:sp>
        <p:nvSpPr>
          <p:cNvPr id="22" name="anim-g4-1498"/>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499"/>
          <p:cNvSpPr/>
          <p:nvPr/>
        </p:nvSpPr>
        <p:spPr>
          <a:xfrm>
            <a:off x="1666837" y="2423160"/>
            <a:ext cx="777240" cy="777240"/>
          </a:xfrm>
          <a:prstGeom prst="ellipse">
            <a:avLst/>
          </a:prstGeom>
          <a:solidFill>
            <a:srgbClr val="D9AE4B"/>
          </a:solidFill>
          <a:ln/>
        </p:spPr>
      </p:sp>
      <p:sp>
        <p:nvSpPr>
          <p:cNvPr id="24" name="anim-g4-1500"/>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501"/>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دقيقتان لخالد</a:t>
            </a:r>
            <a:endParaRPr lang="ar-SA" sz="2500" dirty="0"/>
          </a:p>
        </p:txBody>
      </p:sp>
      <p:sp>
        <p:nvSpPr>
          <p:cNvPr id="26" name="anim-g4-1502"/>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أثناء عمل الفصل الفردي</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name="Slide 1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503"/>
          <p:cNvSpPr/>
          <p:nvPr/>
        </p:nvSpPr>
        <p:spPr>
          <a:xfrm>
            <a:off x="9768535" y="2130552"/>
            <a:ext cx="1600200" cy="1018032"/>
          </a:xfrm>
          <a:prstGeom prst="roundRect">
            <a:avLst>
              <a:gd name="adj" fmla="val 13473"/>
            </a:avLst>
          </a:prstGeom>
          <a:solidFill>
            <a:srgbClr val="E9EDF9"/>
          </a:solidFill>
          <a:ln/>
        </p:spPr>
      </p:sp>
      <p:sp>
        <p:nvSpPr>
          <p:cNvPr id="6" name="anim-g1-1504"/>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لخالد</a:t>
            </a:r>
            <a:endParaRPr lang="ar-SA" sz="1400" dirty="0"/>
          </a:p>
        </p:txBody>
      </p:sp>
      <p:sp>
        <p:nvSpPr>
          <p:cNvPr id="7" name="anim-g1-1505"/>
          <p:cNvSpPr/>
          <p:nvPr/>
        </p:nvSpPr>
        <p:spPr>
          <a:xfrm>
            <a:off x="822960" y="2057400"/>
            <a:ext cx="8716975" cy="1164336"/>
          </a:xfrm>
          <a:prstGeom prst="roundRect">
            <a:avLst>
              <a:gd name="adj" fmla="val 17277"/>
            </a:avLst>
          </a:prstGeom>
          <a:solidFill>
            <a:srgbClr val="101B45"/>
          </a:solidFill>
          <a:ln/>
        </p:spPr>
      </p:sp>
      <p:sp>
        <p:nvSpPr>
          <p:cNvPr id="8" name="anim-g1-1506"/>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سؤالك مهم. ارفع البطاقة الصفراء، وسآتيك أول ما يبدأ الجميع الحل</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1507"/>
          <p:cNvSpPr/>
          <p:nvPr/>
        </p:nvSpPr>
        <p:spPr>
          <a:xfrm>
            <a:off x="9768535" y="3441192"/>
            <a:ext cx="1600200" cy="1018032"/>
          </a:xfrm>
          <a:prstGeom prst="roundRect">
            <a:avLst>
              <a:gd name="adj" fmla="val 13473"/>
            </a:avLst>
          </a:prstGeom>
          <a:solidFill>
            <a:srgbClr val="E9EDF9"/>
          </a:solidFill>
          <a:ln/>
        </p:spPr>
      </p:sp>
      <p:sp>
        <p:nvSpPr>
          <p:cNvPr id="10" name="anim-g2-1508"/>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للمتقدمين</a:t>
            </a:r>
            <a:endParaRPr lang="ar-SA" sz="1400" dirty="0"/>
          </a:p>
        </p:txBody>
      </p:sp>
      <p:sp>
        <p:nvSpPr>
          <p:cNvPr id="11" name="anim-g2-1509"/>
          <p:cNvSpPr/>
          <p:nvPr/>
        </p:nvSpPr>
        <p:spPr>
          <a:xfrm>
            <a:off x="822960" y="3368040"/>
            <a:ext cx="8716975" cy="1164336"/>
          </a:xfrm>
          <a:prstGeom prst="roundRect">
            <a:avLst>
              <a:gd name="adj" fmla="val 17277"/>
            </a:avLst>
          </a:prstGeom>
          <a:solidFill>
            <a:srgbClr val="101B45"/>
          </a:solidFill>
          <a:ln/>
        </p:spPr>
      </p:sp>
      <p:sp>
        <p:nvSpPr>
          <p:cNvPr id="12" name="anim-g2-1510"/>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من أنهى، فعنده تحدي النجمة على السبورة</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13" name="anim-g3-1511"/>
          <p:cNvSpPr/>
          <p:nvPr/>
        </p:nvSpPr>
        <p:spPr>
          <a:xfrm>
            <a:off x="9768535" y="4751832"/>
            <a:ext cx="1600200" cy="1018032"/>
          </a:xfrm>
          <a:prstGeom prst="roundRect">
            <a:avLst>
              <a:gd name="adj" fmla="val 13473"/>
            </a:avLst>
          </a:prstGeom>
          <a:solidFill>
            <a:srgbClr val="E9EDF9"/>
          </a:solidFill>
          <a:ln/>
        </p:spPr>
      </p:sp>
      <p:sp>
        <p:nvSpPr>
          <p:cNvPr id="14" name="anim-g3-1512"/>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المدير لأولياء الأمور</a:t>
            </a:r>
            <a:endParaRPr lang="ar-SA" sz="1400" dirty="0"/>
          </a:p>
        </p:txBody>
      </p:sp>
      <p:sp>
        <p:nvSpPr>
          <p:cNvPr id="15" name="anim-g3-1513"/>
          <p:cNvSpPr/>
          <p:nvPr/>
        </p:nvSpPr>
        <p:spPr>
          <a:xfrm>
            <a:off x="822960" y="4678680"/>
            <a:ext cx="8716975" cy="1164336"/>
          </a:xfrm>
          <a:prstGeom prst="roundRect">
            <a:avLst>
              <a:gd name="adj" fmla="val 17277"/>
            </a:avLst>
          </a:prstGeom>
          <a:solidFill>
            <a:srgbClr val="101B45"/>
          </a:solidFill>
          <a:ln/>
        </p:spPr>
      </p:sp>
      <p:sp>
        <p:nvSpPr>
          <p:cNvPr id="16" name="anim-g3-1514"/>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حق أبنائكم محفوظ، وهذه خطتنا ليتقدم كل طالب بسرعته، وسنطلعكم على النتائج بعد شهر</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515"/>
          <p:cNvSpPr/>
          <p:nvPr/>
        </p:nvSpPr>
        <p:spPr>
          <a:xfrm>
            <a:off x="6415888" y="2194560"/>
            <a:ext cx="4952848" cy="804672"/>
          </a:xfrm>
          <a:prstGeom prst="roundRect">
            <a:avLst>
              <a:gd name="adj" fmla="val 15909"/>
            </a:avLst>
          </a:prstGeom>
          <a:solidFill>
            <a:srgbClr val="FBECEC"/>
          </a:solidFill>
          <a:ln/>
        </p:spPr>
      </p:sp>
      <p:sp>
        <p:nvSpPr>
          <p:cNvPr id="6" name="anim-g1-1516"/>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إعادة الشرح كاملًا للفصل كله</a:t>
            </a:r>
            <a:endParaRPr lang="ar-SA" sz="1900" dirty="0"/>
          </a:p>
        </p:txBody>
      </p:sp>
      <p:sp>
        <p:nvSpPr>
          <p:cNvPr id="7" name="anim-g1-1517"/>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518"/>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1519"/>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520"/>
          <p:cNvSpPr/>
          <p:nvPr/>
        </p:nvSpPr>
        <p:spPr>
          <a:xfrm>
            <a:off x="822960" y="2194560"/>
            <a:ext cx="4952848" cy="804672"/>
          </a:xfrm>
          <a:prstGeom prst="roundRect">
            <a:avLst>
              <a:gd name="adj" fmla="val 15909"/>
            </a:avLst>
          </a:prstGeom>
          <a:solidFill>
            <a:srgbClr val="E6F4EC"/>
          </a:solidFill>
          <a:ln/>
        </p:spPr>
      </p:sp>
      <p:sp>
        <p:nvSpPr>
          <p:cNvPr id="11" name="anim-g2-1521"/>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دعم فردي أثناء العمل المستقل</a:t>
            </a:r>
            <a:endParaRPr lang="ar-SA" sz="1900" dirty="0"/>
          </a:p>
        </p:txBody>
      </p:sp>
      <p:sp>
        <p:nvSpPr>
          <p:cNvPr id="12" name="anim-g3-1522"/>
          <p:cNvSpPr/>
          <p:nvPr/>
        </p:nvSpPr>
        <p:spPr>
          <a:xfrm>
            <a:off x="6415888" y="3154680"/>
            <a:ext cx="4952848" cy="804672"/>
          </a:xfrm>
          <a:prstGeom prst="roundRect">
            <a:avLst>
              <a:gd name="adj" fmla="val 15909"/>
            </a:avLst>
          </a:prstGeom>
          <a:solidFill>
            <a:srgbClr val="FBECEC"/>
          </a:solidFill>
          <a:ln/>
        </p:spPr>
      </p:sp>
      <p:sp>
        <p:nvSpPr>
          <p:cNvPr id="13" name="anim-g3-1523"/>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نقل الطالب إرضاءً للأهل</a:t>
            </a:r>
            <a:endParaRPr lang="ar-SA" sz="1900" dirty="0"/>
          </a:p>
        </p:txBody>
      </p:sp>
      <p:sp>
        <p:nvSpPr>
          <p:cNvPr id="14" name="anim-g3-1524"/>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525"/>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1526"/>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527"/>
          <p:cNvSpPr/>
          <p:nvPr/>
        </p:nvSpPr>
        <p:spPr>
          <a:xfrm>
            <a:off x="822960" y="3154680"/>
            <a:ext cx="4952848" cy="804672"/>
          </a:xfrm>
          <a:prstGeom prst="roundRect">
            <a:avLst>
              <a:gd name="adj" fmla="val 15909"/>
            </a:avLst>
          </a:prstGeom>
          <a:solidFill>
            <a:srgbClr val="E6F4EC"/>
          </a:solidFill>
          <a:ln/>
        </p:spPr>
      </p:sp>
      <p:sp>
        <p:nvSpPr>
          <p:cNvPr id="18" name="anim-g4-1528"/>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خطة واضحة تُشرح للأهل</a:t>
            </a:r>
            <a:endParaRPr lang="ar-SA" sz="1900" dirty="0"/>
          </a:p>
        </p:txBody>
      </p:sp>
      <p:sp>
        <p:nvSpPr>
          <p:cNvPr id="19" name="anim-g5-1529"/>
          <p:cNvSpPr/>
          <p:nvPr/>
        </p:nvSpPr>
        <p:spPr>
          <a:xfrm>
            <a:off x="6415888" y="4114800"/>
            <a:ext cx="4952848" cy="804672"/>
          </a:xfrm>
          <a:prstGeom prst="roundRect">
            <a:avLst>
              <a:gd name="adj" fmla="val 15909"/>
            </a:avLst>
          </a:prstGeom>
          <a:solidFill>
            <a:srgbClr val="FBECEC"/>
          </a:solidFill>
          <a:ln/>
        </p:spPr>
      </p:sp>
      <p:sp>
        <p:nvSpPr>
          <p:cNvPr id="20" name="anim-g5-1530"/>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انتظار المتقدمين بلا عمل</a:t>
            </a:r>
            <a:endParaRPr lang="ar-SA" sz="1900" dirty="0"/>
          </a:p>
        </p:txBody>
      </p:sp>
      <p:sp>
        <p:nvSpPr>
          <p:cNvPr id="21" name="anim-g5-1531"/>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532"/>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1533"/>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534"/>
          <p:cNvSpPr/>
          <p:nvPr/>
        </p:nvSpPr>
        <p:spPr>
          <a:xfrm>
            <a:off x="822960" y="4114800"/>
            <a:ext cx="4952848" cy="804672"/>
          </a:xfrm>
          <a:prstGeom prst="roundRect">
            <a:avLst>
              <a:gd name="adj" fmla="val 15909"/>
            </a:avLst>
          </a:prstGeom>
          <a:solidFill>
            <a:srgbClr val="E6F4EC"/>
          </a:solidFill>
          <a:ln/>
        </p:spPr>
      </p:sp>
      <p:sp>
        <p:nvSpPr>
          <p:cNvPr id="25" name="anim-g6-1535"/>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مهام إثرائية جاهزة دائمًا</a:t>
            </a:r>
            <a:endParaRPr lang="ar-SA" sz="19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name="Slide 1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فصل واحد…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وسرعات متعددة. هذا هو التدريس الحقيقي</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هل مساعد المعلم مطلوب؟  ·  ١٣٥</a:t>
            </a:r>
            <a:endParaRPr lang="ar-SA" sz="12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٨</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٨</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مواقف العصر الرقمي</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مشكلات لم تكن في كتبنا… وتحدث في فصولنا كل يوم</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مواقف العصر الرقمي  ·  ١٣٦</a:t>
            </a:r>
            <a:endParaRPr lang="ar-SA"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536" descr="/Users/mac/Desktop/أردوينو/المشاريع والكتب/younes-training/mawaqif/assets/scenes/phon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١١</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شاشة تحت الطاولة</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شاشة تحت الطاولة  ·  ١٣٧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name="Slide 1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1537"/>
          <p:cNvSpPr/>
          <p:nvPr/>
        </p:nvSpPr>
        <p:spPr>
          <a:xfrm>
            <a:off x="11323015" y="2011680"/>
            <a:ext cx="45720" cy="845820"/>
          </a:xfrm>
          <a:prstGeom prst="rect">
            <a:avLst/>
          </a:prstGeom>
          <a:solidFill>
            <a:srgbClr val="E4DCC8"/>
          </a:solidFill>
          <a:ln/>
        </p:spPr>
      </p:sp>
      <p:sp>
        <p:nvSpPr>
          <p:cNvPr id="6" name="anim-g1-1538"/>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في منتصف الشرح، لاحظ أ. سامي أن يزن (الثاني المتوسط) يخفض رأسه باستمرار، وضوء خافت يلمع من تحت الطاولة، وهو يبتسم.</a:t>
            </a:r>
            <a:endParaRPr lang="ar-SA" sz="1700" dirty="0"/>
          </a:p>
        </p:txBody>
      </p:sp>
      <p:sp>
        <p:nvSpPr>
          <p:cNvPr id="7" name="anim-g2-1539"/>
          <p:cNvSpPr/>
          <p:nvPr/>
        </p:nvSpPr>
        <p:spPr>
          <a:xfrm>
            <a:off x="11323015" y="3040380"/>
            <a:ext cx="45720" cy="845820"/>
          </a:xfrm>
          <a:prstGeom prst="rect">
            <a:avLst/>
          </a:prstGeom>
          <a:solidFill>
            <a:srgbClr val="E4DCC8"/>
          </a:solidFill>
          <a:ln/>
        </p:spPr>
      </p:sp>
      <p:sp>
        <p:nvSpPr>
          <p:cNvPr id="8" name="anim-g2-1540"/>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سأله: «يزن، ماذا معك؟». ردّ: «لا شيء يا أستاذ». فضحك بعض زملائه.</a:t>
            </a:r>
            <a:endParaRPr lang="ar-SA" sz="1700" dirty="0"/>
          </a:p>
        </p:txBody>
      </p:sp>
      <p:sp>
        <p:nvSpPr>
          <p:cNvPr id="9" name="anim-g3-1541"/>
          <p:cNvSpPr/>
          <p:nvPr/>
        </p:nvSpPr>
        <p:spPr>
          <a:xfrm>
            <a:off x="11323015" y="4069080"/>
            <a:ext cx="45720" cy="845820"/>
          </a:xfrm>
          <a:prstGeom prst="rect">
            <a:avLst/>
          </a:prstGeom>
          <a:solidFill>
            <a:srgbClr val="E4DCC8"/>
          </a:solidFill>
          <a:ln/>
        </p:spPr>
      </p:sp>
      <p:sp>
        <p:nvSpPr>
          <p:cNvPr id="10" name="anim-g3-1542"/>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اقترب أ. سامي وقال بصوت عالٍ: «هات الجوال فورًا!». فأمسك يزن جواله بقوة وقال أمام الجميع: «لن أعطيك جوالي!».</a:t>
            </a:r>
            <a:endParaRPr lang="ar-SA" sz="1700" dirty="0"/>
          </a:p>
        </p:txBody>
      </p:sp>
      <p:sp>
        <p:nvSpPr>
          <p:cNvPr id="11" name="anim-g4-1543"/>
          <p:cNvSpPr/>
          <p:nvPr/>
        </p:nvSpPr>
        <p:spPr>
          <a:xfrm>
            <a:off x="11323015" y="5097780"/>
            <a:ext cx="45720" cy="845820"/>
          </a:xfrm>
          <a:prstGeom prst="rect">
            <a:avLst/>
          </a:prstGeom>
          <a:solidFill>
            <a:srgbClr val="D64545"/>
          </a:solidFill>
          <a:ln/>
        </p:spPr>
      </p:sp>
      <p:sp>
        <p:nvSpPr>
          <p:cNvPr id="12" name="anim-g4-1544"/>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ساد صمت ثقيل… وثلاثون طالبًا ينظرون: من سيتراجع؟</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phone.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name="Slide 1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لو كنت مكان أ. سامي الآن… ماذا تفعل؟</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أُصرّ على أخذ الجوال فورًا حتى لا تسقط هيبتي</a:t>
            </a:r>
            <a:endParaRPr lang="ar-SA" sz="1900" dirty="0"/>
          </a:p>
        </p:txBody>
      </p:sp>
      <p:sp>
        <p:nvSpPr>
          <p:cNvPr id="9" name="anim-g1-1545"/>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546"/>
          <p:cNvSpPr/>
          <p:nvPr/>
        </p:nvSpPr>
        <p:spPr>
          <a:xfrm>
            <a:off x="10575493" y="2194560"/>
            <a:ext cx="610362" cy="610362"/>
          </a:xfrm>
          <a:prstGeom prst="roundRect">
            <a:avLst>
              <a:gd name="adj" fmla="val 17978"/>
            </a:avLst>
          </a:prstGeom>
          <a:solidFill>
            <a:srgbClr val="A3A9BA"/>
          </a:solidFill>
          <a:ln/>
        </p:spPr>
      </p:sp>
      <p:sp>
        <p:nvSpPr>
          <p:cNvPr id="11" name="anim-g1-1547"/>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548"/>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أُصرّ على أخذ الجوال فورًا حتى لا تسقط هيبتي</a:t>
            </a:r>
            <a:endParaRPr lang="ar-SA" sz="1700" dirty="0"/>
          </a:p>
        </p:txBody>
      </p:sp>
      <p:sp>
        <p:nvSpPr>
          <p:cNvPr id="13" name="anim-g1-1549"/>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الإصرار أمام الجمهور يجعل تراجع الطالب هزيمة علنية، فيتمسك أكثر</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أتجاهل الموقف وأكمل الشرح</a:t>
            </a:r>
            <a:endParaRPr lang="ar-SA" sz="1900" dirty="0"/>
          </a:p>
        </p:txBody>
      </p:sp>
      <p:sp>
        <p:nvSpPr>
          <p:cNvPr id="18" name="anim-g1-1550"/>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551"/>
          <p:cNvSpPr/>
          <p:nvPr/>
        </p:nvSpPr>
        <p:spPr>
          <a:xfrm>
            <a:off x="10575493" y="3225546"/>
            <a:ext cx="610362" cy="610362"/>
          </a:xfrm>
          <a:prstGeom prst="roundRect">
            <a:avLst>
              <a:gd name="adj" fmla="val 17978"/>
            </a:avLst>
          </a:prstGeom>
          <a:solidFill>
            <a:srgbClr val="A3A9BA"/>
          </a:solidFill>
          <a:ln/>
        </p:spPr>
      </p:sp>
      <p:sp>
        <p:nvSpPr>
          <p:cNvPr id="20" name="anim-g1-1552"/>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553"/>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أتجاهل الموقف وأكمل الشرح</a:t>
            </a:r>
            <a:endParaRPr lang="ar-SA" sz="1700" dirty="0"/>
          </a:p>
        </p:txBody>
      </p:sp>
      <p:sp>
        <p:nvSpPr>
          <p:cNvPr id="22" name="anim-g1-1554"/>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التجاهل يعلّم الفصل كله أن القاعدة غير حقيقية</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أهدده بالوكيل وخصم الدرجات</a:t>
            </a:r>
            <a:endParaRPr lang="ar-SA" sz="1900" dirty="0"/>
          </a:p>
        </p:txBody>
      </p:sp>
      <p:sp>
        <p:nvSpPr>
          <p:cNvPr id="27" name="anim-g1-1555"/>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1556"/>
          <p:cNvSpPr/>
          <p:nvPr/>
        </p:nvSpPr>
        <p:spPr>
          <a:xfrm>
            <a:off x="10575493" y="4256532"/>
            <a:ext cx="610362" cy="610362"/>
          </a:xfrm>
          <a:prstGeom prst="roundRect">
            <a:avLst>
              <a:gd name="adj" fmla="val 17978"/>
            </a:avLst>
          </a:prstGeom>
          <a:solidFill>
            <a:srgbClr val="A3A9BA"/>
          </a:solidFill>
          <a:ln/>
        </p:spPr>
      </p:sp>
      <p:sp>
        <p:nvSpPr>
          <p:cNvPr id="29" name="anim-g1-1557"/>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1558"/>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أهدده بالوكيل وخصم الدرجات</a:t>
            </a:r>
            <a:endParaRPr lang="ar-SA" sz="1700" dirty="0"/>
          </a:p>
        </p:txBody>
      </p:sp>
      <p:sp>
        <p:nvSpPr>
          <p:cNvPr id="31" name="anim-g1-1559"/>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التهديد في لحظة غضب غالبًا تهديد لن تنفذه، فتفقد مصداقيتك</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أُنهي المواجهة العلنية الآن، وأؤجل الحل لحوار خاص بعد الحصة</a:t>
            </a:r>
            <a:endParaRPr lang="ar-SA" sz="1900" dirty="0"/>
          </a:p>
        </p:txBody>
      </p:sp>
      <p:sp>
        <p:nvSpPr>
          <p:cNvPr id="36" name="anim-g1-1560"/>
          <p:cNvSpPr/>
          <p:nvPr/>
        </p:nvSpPr>
        <p:spPr>
          <a:xfrm>
            <a:off x="822960" y="5150358"/>
            <a:ext cx="10545775" cy="884682"/>
          </a:xfrm>
          <a:prstGeom prst="roundRect">
            <a:avLst>
              <a:gd name="adj" fmla="val 16537"/>
            </a:avLst>
          </a:prstGeom>
          <a:solidFill>
            <a:srgbClr val="E6F4EC"/>
          </a:solidFill>
          <a:ln w="31750">
            <a:solidFill>
              <a:srgbClr val="2E9E6B"/>
            </a:solidFill>
            <a:prstDash val="solid"/>
          </a:ln>
        </p:spPr>
      </p:sp>
      <p:sp>
        <p:nvSpPr>
          <p:cNvPr id="37" name="anim-g1-1561"/>
          <p:cNvSpPr/>
          <p:nvPr/>
        </p:nvSpPr>
        <p:spPr>
          <a:xfrm>
            <a:off x="10575493" y="5287518"/>
            <a:ext cx="610362" cy="610362"/>
          </a:xfrm>
          <a:prstGeom prst="roundRect">
            <a:avLst>
              <a:gd name="adj" fmla="val 17978"/>
            </a:avLst>
          </a:prstGeom>
          <a:solidFill>
            <a:srgbClr val="2E9E6B"/>
          </a:solidFill>
          <a:ln/>
        </p:spPr>
      </p:sp>
      <p:sp>
        <p:nvSpPr>
          <p:cNvPr id="38" name="anim-g1-156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9" name="anim-g1-1563"/>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أُنهي المواجهة العلنية الآن، وأؤجل الحل لحوار خاص بعد الحصة</a:t>
            </a:r>
            <a:endParaRPr lang="ar-SA" sz="1700" dirty="0"/>
          </a:p>
        </p:txBody>
      </p:sp>
      <p:sp>
        <p:nvSpPr>
          <p:cNvPr id="40" name="anim-g1-1564"/>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تحفظ كرامتك وكرامته، وتطبق القاعدة بعيدًا عن الجمهور</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name="Slide 1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يفعل يزن هذا؟</a:t>
            </a:r>
            <a:endParaRPr lang="ar-SA" sz="3800" dirty="0"/>
          </a:p>
        </p:txBody>
      </p:sp>
      <p:sp>
        <p:nvSpPr>
          <p:cNvPr id="5" name="anim-g1-1565"/>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566"/>
          <p:cNvSpPr/>
          <p:nvPr/>
        </p:nvSpPr>
        <p:spPr>
          <a:xfrm>
            <a:off x="9816198" y="2194560"/>
            <a:ext cx="640080" cy="640080"/>
          </a:xfrm>
          <a:prstGeom prst="roundRect">
            <a:avLst>
              <a:gd name="adj" fmla="val 25714"/>
            </a:avLst>
          </a:prstGeom>
          <a:solidFill>
            <a:srgbClr val="F7E6BC"/>
          </a:solidFill>
          <a:ln/>
        </p:spPr>
      </p:sp>
      <p:sp>
        <p:nvSpPr>
          <p:cNvPr id="7" name="anim-g1-1567"/>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568"/>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قلق الانقطاع</a:t>
            </a:r>
            <a:endParaRPr lang="ar-SA" sz="2200" dirty="0"/>
          </a:p>
        </p:txBody>
      </p:sp>
      <p:sp>
        <p:nvSpPr>
          <p:cNvPr id="9" name="anim-g1-1569"/>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خوف دائم من أن يفوته شيء في مجموعات أصدقائه</a:t>
            </a:r>
            <a:endParaRPr lang="ar-SA" sz="1600" dirty="0"/>
          </a:p>
        </p:txBody>
      </p:sp>
      <p:sp>
        <p:nvSpPr>
          <p:cNvPr id="10" name="anim-g2-1570"/>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571"/>
          <p:cNvSpPr/>
          <p:nvPr/>
        </p:nvSpPr>
        <p:spPr>
          <a:xfrm>
            <a:off x="7122604" y="2194560"/>
            <a:ext cx="640080" cy="640080"/>
          </a:xfrm>
          <a:prstGeom prst="roundRect">
            <a:avLst>
              <a:gd name="adj" fmla="val 25714"/>
            </a:avLst>
          </a:prstGeom>
          <a:solidFill>
            <a:srgbClr val="F7E6BC"/>
          </a:solidFill>
          <a:ln/>
        </p:spPr>
      </p:sp>
      <p:sp>
        <p:nvSpPr>
          <p:cNvPr id="12" name="anim-g2-1572"/>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573"/>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ملل</a:t>
            </a:r>
            <a:endParaRPr lang="ar-SA" sz="2200" dirty="0"/>
          </a:p>
        </p:txBody>
      </p:sp>
      <p:sp>
        <p:nvSpPr>
          <p:cNvPr id="14" name="anim-g2-1574"/>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الحصة لم تشدّه، فالشاشة أقوى منافس</a:t>
            </a:r>
            <a:endParaRPr lang="ar-SA" sz="1600" dirty="0"/>
          </a:p>
        </p:txBody>
      </p:sp>
      <p:sp>
        <p:nvSpPr>
          <p:cNvPr id="15" name="anim-g3-1575"/>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576"/>
          <p:cNvSpPr/>
          <p:nvPr/>
        </p:nvSpPr>
        <p:spPr>
          <a:xfrm>
            <a:off x="4429011" y="2194560"/>
            <a:ext cx="640080" cy="640080"/>
          </a:xfrm>
          <a:prstGeom prst="roundRect">
            <a:avLst>
              <a:gd name="adj" fmla="val 25714"/>
            </a:avLst>
          </a:prstGeom>
          <a:solidFill>
            <a:srgbClr val="F7E6BC"/>
          </a:solidFill>
          <a:ln/>
        </p:spPr>
      </p:sp>
      <p:sp>
        <p:nvSpPr>
          <p:cNvPr id="17" name="anim-g3-1577"/>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578"/>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همّ خفي</a:t>
            </a:r>
            <a:endParaRPr lang="ar-SA" sz="2200" dirty="0"/>
          </a:p>
        </p:txBody>
      </p:sp>
      <p:sp>
        <p:nvSpPr>
          <p:cNvPr id="19" name="anim-g3-1579"/>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قد تكون رسالة عن مشكلة أسرية تشغله</a:t>
            </a:r>
            <a:endParaRPr lang="ar-SA" sz="1600" dirty="0"/>
          </a:p>
        </p:txBody>
      </p:sp>
      <p:sp>
        <p:nvSpPr>
          <p:cNvPr id="20" name="anim-g4-1580"/>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581"/>
          <p:cNvSpPr/>
          <p:nvPr/>
        </p:nvSpPr>
        <p:spPr>
          <a:xfrm>
            <a:off x="1735417" y="2194560"/>
            <a:ext cx="640080" cy="640080"/>
          </a:xfrm>
          <a:prstGeom prst="roundRect">
            <a:avLst>
              <a:gd name="adj" fmla="val 25714"/>
            </a:avLst>
          </a:prstGeom>
          <a:solidFill>
            <a:srgbClr val="F7E6BC"/>
          </a:solidFill>
          <a:ln/>
        </p:spPr>
      </p:sp>
      <p:sp>
        <p:nvSpPr>
          <p:cNvPr id="22" name="anim-g4-1582"/>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583"/>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الجمهور</a:t>
            </a:r>
            <a:endParaRPr lang="ar-SA" sz="2200" dirty="0"/>
          </a:p>
        </p:txBody>
      </p:sp>
      <p:sp>
        <p:nvSpPr>
          <p:cNvPr id="24" name="anim-g4-1584"/>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التسليم أمام زملائه يعني هزيمة علنية</a:t>
            </a:r>
            <a:endParaRPr lang="ar-SA" sz="1600" dirty="0"/>
          </a:p>
        </p:txBody>
      </p:sp>
      <p:sp>
        <p:nvSpPr>
          <p:cNvPr id="25" name="anim-g5-1585"/>
          <p:cNvSpPr/>
          <p:nvPr/>
        </p:nvSpPr>
        <p:spPr>
          <a:xfrm>
            <a:off x="822960" y="4754880"/>
            <a:ext cx="10545775" cy="1051560"/>
          </a:xfrm>
          <a:prstGeom prst="roundRect">
            <a:avLst>
              <a:gd name="adj" fmla="val 17391"/>
            </a:avLst>
          </a:prstGeom>
          <a:solidFill>
            <a:srgbClr val="101B45"/>
          </a:solidFill>
          <a:ln/>
        </p:spPr>
      </p:sp>
      <p:sp>
        <p:nvSpPr>
          <p:cNvPr id="26" name="anim-g5-1586"/>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رفضه تسليم الجوال ليس عنادًا معك…</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بل دفاع عن كرامته أمام الجمهور</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name="Slide 1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ماذا تفعل فورًا؟</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587"/>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588"/>
          <p:cNvSpPr/>
          <p:nvPr/>
        </p:nvSpPr>
        <p:spPr>
          <a:xfrm>
            <a:off x="9747618" y="2423160"/>
            <a:ext cx="777240" cy="777240"/>
          </a:xfrm>
          <a:prstGeom prst="ellipse">
            <a:avLst/>
          </a:prstGeom>
          <a:solidFill>
            <a:srgbClr val="D9AE4B"/>
          </a:solidFill>
          <a:ln/>
        </p:spPr>
      </p:sp>
      <p:sp>
        <p:nvSpPr>
          <p:cNvPr id="9" name="anim-g1-1589"/>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590"/>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تتوقف</a:t>
            </a:r>
            <a:endParaRPr lang="ar-SA" sz="2500" dirty="0"/>
          </a:p>
        </p:txBody>
      </p:sp>
      <p:sp>
        <p:nvSpPr>
          <p:cNvPr id="11" name="anim-g1-1591"/>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تابع الشرح، فإيقاف الدرس يصنع مسرحًا</a:t>
            </a:r>
            <a:endParaRPr lang="ar-SA" sz="1700" dirty="0"/>
          </a:p>
        </p:txBody>
      </p:sp>
      <p:sp>
        <p:nvSpPr>
          <p:cNvPr id="12" name="anim-g2-1592"/>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593"/>
          <p:cNvSpPr/>
          <p:nvPr/>
        </p:nvSpPr>
        <p:spPr>
          <a:xfrm>
            <a:off x="7054024" y="2423160"/>
            <a:ext cx="777240" cy="777240"/>
          </a:xfrm>
          <a:prstGeom prst="ellipse">
            <a:avLst/>
          </a:prstGeom>
          <a:solidFill>
            <a:srgbClr val="D9AE4B"/>
          </a:solidFill>
          <a:ln/>
        </p:spPr>
      </p:sp>
      <p:sp>
        <p:nvSpPr>
          <p:cNvPr id="14" name="anim-g2-1594"/>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595"/>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اقترب</a:t>
            </a:r>
            <a:endParaRPr lang="ar-SA" sz="2500" dirty="0"/>
          </a:p>
        </p:txBody>
      </p:sp>
      <p:sp>
        <p:nvSpPr>
          <p:cNvPr id="16" name="anim-g2-1596"/>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امشِ نحو طاولته وأنت تشرح</a:t>
            </a:r>
            <a:endParaRPr lang="ar-SA" sz="1700" dirty="0"/>
          </a:p>
        </p:txBody>
      </p:sp>
      <p:sp>
        <p:nvSpPr>
          <p:cNvPr id="17" name="anim-g3-1597"/>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598"/>
          <p:cNvSpPr/>
          <p:nvPr/>
        </p:nvSpPr>
        <p:spPr>
          <a:xfrm>
            <a:off x="4360431" y="2423160"/>
            <a:ext cx="777240" cy="777240"/>
          </a:xfrm>
          <a:prstGeom prst="ellipse">
            <a:avLst/>
          </a:prstGeom>
          <a:solidFill>
            <a:srgbClr val="D9AE4B"/>
          </a:solidFill>
          <a:ln/>
        </p:spPr>
      </p:sp>
      <p:sp>
        <p:nvSpPr>
          <p:cNvPr id="19" name="anim-g3-1599"/>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600"/>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همسة</a:t>
            </a:r>
            <a:endParaRPr lang="ar-SA" sz="2500" dirty="0"/>
          </a:p>
        </p:txBody>
      </p:sp>
      <p:sp>
        <p:nvSpPr>
          <p:cNvPr id="21" name="anim-g3-1601"/>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جملة قصيرة بصوت لا يسمعه غيره</a:t>
            </a:r>
            <a:endParaRPr lang="ar-SA" sz="1700" dirty="0"/>
          </a:p>
        </p:txBody>
      </p:sp>
      <p:sp>
        <p:nvSpPr>
          <p:cNvPr id="22" name="anim-g4-1602"/>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603"/>
          <p:cNvSpPr/>
          <p:nvPr/>
        </p:nvSpPr>
        <p:spPr>
          <a:xfrm>
            <a:off x="1666837" y="2423160"/>
            <a:ext cx="777240" cy="777240"/>
          </a:xfrm>
          <a:prstGeom prst="ellipse">
            <a:avLst/>
          </a:prstGeom>
          <a:solidFill>
            <a:srgbClr val="D9AE4B"/>
          </a:solidFill>
          <a:ln/>
        </p:spPr>
      </p:sp>
      <p:sp>
        <p:nvSpPr>
          <p:cNvPr id="24" name="anim-g4-1604"/>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605"/>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ابتعد</a:t>
            </a:r>
            <a:endParaRPr lang="ar-SA" sz="2500" dirty="0"/>
          </a:p>
        </p:txBody>
      </p:sp>
      <p:sp>
        <p:nvSpPr>
          <p:cNvPr id="26" name="anim-g4-1606"/>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امنحه فرصة ليمتثل بلا جمهور</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name="Slide 1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607"/>
          <p:cNvSpPr/>
          <p:nvPr/>
        </p:nvSpPr>
        <p:spPr>
          <a:xfrm>
            <a:off x="9768535" y="2130552"/>
            <a:ext cx="1600200" cy="819912"/>
          </a:xfrm>
          <a:prstGeom prst="roundRect">
            <a:avLst>
              <a:gd name="adj" fmla="val 16729"/>
            </a:avLst>
          </a:prstGeom>
          <a:solidFill>
            <a:srgbClr val="E9EDF9"/>
          </a:solidFill>
          <a:ln/>
        </p:spPr>
      </p:sp>
      <p:sp>
        <p:nvSpPr>
          <p:cNvPr id="6" name="anim-g1-1608"/>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همسًا بجانبه</a:t>
            </a:r>
            <a:endParaRPr lang="ar-SA" sz="1400" dirty="0"/>
          </a:p>
        </p:txBody>
      </p:sp>
      <p:sp>
        <p:nvSpPr>
          <p:cNvPr id="7" name="anim-g1-1609"/>
          <p:cNvSpPr/>
          <p:nvPr/>
        </p:nvSpPr>
        <p:spPr>
          <a:xfrm>
            <a:off x="822960" y="2057400"/>
            <a:ext cx="8716975" cy="966216"/>
          </a:xfrm>
          <a:prstGeom prst="roundRect">
            <a:avLst>
              <a:gd name="adj" fmla="val 20820"/>
            </a:avLst>
          </a:prstGeom>
          <a:solidFill>
            <a:srgbClr val="101B45"/>
          </a:solidFill>
          <a:ln/>
        </p:spPr>
      </p:sp>
      <p:sp>
        <p:nvSpPr>
          <p:cNvPr id="8" name="anim-g1-1610"/>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يزن، الجوال في الحقيبة الآن، وتابع معنا. شكرًا لك</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9" name="anim-g2-1611"/>
          <p:cNvSpPr/>
          <p:nvPr/>
        </p:nvSpPr>
        <p:spPr>
          <a:xfrm>
            <a:off x="9768535" y="3243072"/>
            <a:ext cx="1600200" cy="819912"/>
          </a:xfrm>
          <a:prstGeom prst="roundRect">
            <a:avLst>
              <a:gd name="adj" fmla="val 16729"/>
            </a:avLst>
          </a:prstGeom>
          <a:solidFill>
            <a:srgbClr val="E9EDF9"/>
          </a:solidFill>
          <a:ln/>
        </p:spPr>
      </p:sp>
      <p:sp>
        <p:nvSpPr>
          <p:cNvPr id="10" name="anim-g2-1612"/>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إن رفض أمام الجميع</a:t>
            </a:r>
            <a:endParaRPr lang="ar-SA" sz="1400" dirty="0"/>
          </a:p>
        </p:txBody>
      </p:sp>
      <p:sp>
        <p:nvSpPr>
          <p:cNvPr id="11" name="anim-g2-1613"/>
          <p:cNvSpPr/>
          <p:nvPr/>
        </p:nvSpPr>
        <p:spPr>
          <a:xfrm>
            <a:off x="822960" y="3169920"/>
            <a:ext cx="8716975" cy="966216"/>
          </a:xfrm>
          <a:prstGeom prst="roundRect">
            <a:avLst>
              <a:gd name="adj" fmla="val 20820"/>
            </a:avLst>
          </a:prstGeom>
          <a:solidFill>
            <a:srgbClr val="101B45"/>
          </a:solidFill>
          <a:ln/>
        </p:spPr>
      </p:sp>
      <p:sp>
        <p:nvSpPr>
          <p:cNvPr id="12" name="anim-g2-1614"/>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لن نتناقش الآن. نكمل الدرس، وأنت وأنا نتحدث دقيقتين بعد الحصة</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3" name="anim-g3-1615"/>
          <p:cNvSpPr/>
          <p:nvPr/>
        </p:nvSpPr>
        <p:spPr>
          <a:xfrm>
            <a:off x="9768535" y="4355592"/>
            <a:ext cx="1600200" cy="819912"/>
          </a:xfrm>
          <a:prstGeom prst="roundRect">
            <a:avLst>
              <a:gd name="adj" fmla="val 16729"/>
            </a:avLst>
          </a:prstGeom>
          <a:solidFill>
            <a:srgbClr val="E9EDF9"/>
          </a:solidFill>
          <a:ln/>
        </p:spPr>
      </p:sp>
      <p:sp>
        <p:nvSpPr>
          <p:cNvPr id="14" name="anim-g3-1616"/>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في الحوار الخاص</a:t>
            </a:r>
            <a:endParaRPr lang="ar-SA" sz="1400" dirty="0"/>
          </a:p>
        </p:txBody>
      </p:sp>
      <p:sp>
        <p:nvSpPr>
          <p:cNvPr id="15" name="anim-g3-1617"/>
          <p:cNvSpPr/>
          <p:nvPr/>
        </p:nvSpPr>
        <p:spPr>
          <a:xfrm>
            <a:off x="822960" y="4282440"/>
            <a:ext cx="8716975" cy="966216"/>
          </a:xfrm>
          <a:prstGeom prst="roundRect">
            <a:avLst>
              <a:gd name="adj" fmla="val 20820"/>
            </a:avLst>
          </a:prstGeom>
          <a:solidFill>
            <a:srgbClr val="101B45"/>
          </a:solidFill>
          <a:ln/>
        </p:spPr>
      </p:sp>
      <p:sp>
        <p:nvSpPr>
          <p:cNvPr id="16" name="anim-g3-1618"/>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لاحظت أن الجوال أخذك مني اليوم، هل هناك أمر مهم؟ القاعدة للجميع، فما الذي يساعدك على الالتزام بها؟</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7" name="anim-g4-1619"/>
          <p:cNvSpPr/>
          <p:nvPr/>
        </p:nvSpPr>
        <p:spPr>
          <a:xfrm>
            <a:off x="822960" y="5532120"/>
            <a:ext cx="10545775" cy="548640"/>
          </a:xfrm>
          <a:prstGeom prst="roundRect">
            <a:avLst>
              <a:gd name="adj" fmla="val 20000"/>
            </a:avLst>
          </a:prstGeom>
          <a:solidFill>
            <a:srgbClr val="FBECEC"/>
          </a:solidFill>
          <a:ln/>
        </p:spPr>
      </p:sp>
      <p:sp>
        <p:nvSpPr>
          <p:cNvPr id="18" name="anim-g4-1620"/>
          <p:cNvSpPr/>
          <p:nvPr/>
        </p:nvSpPr>
        <p:spPr>
          <a:xfrm>
            <a:off x="11295583" y="5532120"/>
            <a:ext cx="73152" cy="548640"/>
          </a:xfrm>
          <a:prstGeom prst="rect">
            <a:avLst/>
          </a:prstGeom>
          <a:solidFill>
            <a:srgbClr val="D64545"/>
          </a:solidFill>
          <a:ln/>
        </p:spPr>
      </p:sp>
      <p:sp>
        <p:nvSpPr>
          <p:cNvPr id="19" name="anim-g4-1621"/>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«هات الجوال حالًا!» · «أنت دائمًا هكذا»</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name="Slide 1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31359" y="457200"/>
            <a:ext cx="6437376" cy="457200"/>
          </a:xfrm>
          <a:prstGeom prst="roundRect">
            <a:avLst>
              <a:gd name="adj" fmla="val 50000"/>
            </a:avLst>
          </a:prstGeom>
          <a:solidFill>
            <a:srgbClr val="F6EBCF"/>
          </a:solidFill>
          <a:ln/>
        </p:spPr>
      </p:sp>
      <p:sp>
        <p:nvSpPr>
          <p:cNvPr id="3" name="Text 1"/>
          <p:cNvSpPr/>
          <p:nvPr/>
        </p:nvSpPr>
        <p:spPr>
          <a:xfrm>
            <a:off x="4931359" y="457200"/>
            <a:ext cx="64373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اصعد درجة فقط إذا لم تنجح التي قبلها</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سلّم التدخّل</a:t>
            </a:r>
            <a:endParaRPr lang="ar-SA" sz="3800" dirty="0"/>
          </a:p>
        </p:txBody>
      </p:sp>
      <p:sp>
        <p:nvSpPr>
          <p:cNvPr id="5" name="anim-g1-1622"/>
          <p:cNvSpPr/>
          <p:nvPr/>
        </p:nvSpPr>
        <p:spPr>
          <a:xfrm>
            <a:off x="822960" y="5349240"/>
            <a:ext cx="10545775" cy="594360"/>
          </a:xfrm>
          <a:prstGeom prst="roundRect">
            <a:avLst>
              <a:gd name="adj" fmla="val 21538"/>
            </a:avLst>
          </a:prstGeom>
          <a:solidFill>
            <a:srgbClr val="2E9E6B"/>
          </a:solidFill>
          <a:ln/>
        </p:spPr>
      </p:sp>
      <p:sp>
        <p:nvSpPr>
          <p:cNvPr id="6" name="anim-g1-1623"/>
          <p:cNvSpPr/>
          <p:nvPr/>
        </p:nvSpPr>
        <p:spPr>
          <a:xfrm>
            <a:off x="10801807" y="5440680"/>
            <a:ext cx="411480" cy="411480"/>
          </a:xfrm>
          <a:prstGeom prst="ellipse">
            <a:avLst/>
          </a:prstGeom>
          <a:solidFill>
            <a:srgbClr val="FFFFFF"/>
          </a:solidFill>
          <a:ln/>
        </p:spPr>
      </p:sp>
      <p:sp>
        <p:nvSpPr>
          <p:cNvPr id="7" name="anim-g1-1624"/>
          <p:cNvSpPr/>
          <p:nvPr/>
        </p:nvSpPr>
        <p:spPr>
          <a:xfrm>
            <a:off x="10801807" y="5440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2E9E6B"/>
                </a:solidFill>
                <a:latin typeface="Cairo Black" pitchFamily="34" charset="0"/>
                <a:ea typeface="Cairo Black" pitchFamily="34" charset="-122"/>
                <a:cs typeface="Cairo Black" pitchFamily="34" charset="-120"/>
              </a:rPr>
              <a:t>١</a:t>
            </a:r>
            <a:endParaRPr lang="ar-SA" sz="1500" dirty="0"/>
          </a:p>
        </p:txBody>
      </p:sp>
      <p:sp>
        <p:nvSpPr>
          <p:cNvPr id="8" name="anim-g1-1625"/>
          <p:cNvSpPr/>
          <p:nvPr/>
        </p:nvSpPr>
        <p:spPr>
          <a:xfrm>
            <a:off x="1005840" y="5349240"/>
            <a:ext cx="96313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نظرة واقتراب صامت</a:t>
            </a:r>
            <a:endParaRPr lang="ar-SA" sz="1800" dirty="0"/>
          </a:p>
        </p:txBody>
      </p:sp>
      <p:sp>
        <p:nvSpPr>
          <p:cNvPr id="9" name="anim-g2-1626"/>
          <p:cNvSpPr/>
          <p:nvPr/>
        </p:nvSpPr>
        <p:spPr>
          <a:xfrm>
            <a:off x="822960" y="4663440"/>
            <a:ext cx="10088575" cy="594360"/>
          </a:xfrm>
          <a:prstGeom prst="roundRect">
            <a:avLst>
              <a:gd name="adj" fmla="val 21538"/>
            </a:avLst>
          </a:prstGeom>
          <a:solidFill>
            <a:srgbClr val="5A9E4B"/>
          </a:solidFill>
          <a:ln/>
        </p:spPr>
      </p:sp>
      <p:sp>
        <p:nvSpPr>
          <p:cNvPr id="10" name="anim-g2-1627"/>
          <p:cNvSpPr/>
          <p:nvPr/>
        </p:nvSpPr>
        <p:spPr>
          <a:xfrm>
            <a:off x="10344607" y="4754880"/>
            <a:ext cx="411480" cy="411480"/>
          </a:xfrm>
          <a:prstGeom prst="ellipse">
            <a:avLst/>
          </a:prstGeom>
          <a:solidFill>
            <a:srgbClr val="FFFFFF"/>
          </a:solidFill>
          <a:ln/>
        </p:spPr>
      </p:sp>
      <p:sp>
        <p:nvSpPr>
          <p:cNvPr id="11" name="anim-g2-1628"/>
          <p:cNvSpPr/>
          <p:nvPr/>
        </p:nvSpPr>
        <p:spPr>
          <a:xfrm>
            <a:off x="10344607" y="47548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5A9E4B"/>
                </a:solidFill>
                <a:latin typeface="Cairo Black" pitchFamily="34" charset="0"/>
                <a:ea typeface="Cairo Black" pitchFamily="34" charset="-122"/>
                <a:cs typeface="Cairo Black" pitchFamily="34" charset="-120"/>
              </a:rPr>
              <a:t>٢</a:t>
            </a:r>
            <a:endParaRPr lang="ar-SA" sz="1500" dirty="0"/>
          </a:p>
        </p:txBody>
      </p:sp>
      <p:sp>
        <p:nvSpPr>
          <p:cNvPr id="12" name="anim-g2-1629"/>
          <p:cNvSpPr/>
          <p:nvPr/>
        </p:nvSpPr>
        <p:spPr>
          <a:xfrm>
            <a:off x="1005840" y="4663440"/>
            <a:ext cx="91741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همسة بجانبه</a:t>
            </a:r>
            <a:endParaRPr lang="ar-SA" sz="1800" dirty="0"/>
          </a:p>
        </p:txBody>
      </p:sp>
      <p:sp>
        <p:nvSpPr>
          <p:cNvPr id="13" name="anim-g3-1630"/>
          <p:cNvSpPr/>
          <p:nvPr/>
        </p:nvSpPr>
        <p:spPr>
          <a:xfrm>
            <a:off x="822960" y="3977640"/>
            <a:ext cx="9631375" cy="594360"/>
          </a:xfrm>
          <a:prstGeom prst="roundRect">
            <a:avLst>
              <a:gd name="adj" fmla="val 21538"/>
            </a:avLst>
          </a:prstGeom>
          <a:solidFill>
            <a:srgbClr val="B7A034"/>
          </a:solidFill>
          <a:ln/>
        </p:spPr>
      </p:sp>
      <p:sp>
        <p:nvSpPr>
          <p:cNvPr id="14" name="anim-g3-1631"/>
          <p:cNvSpPr/>
          <p:nvPr/>
        </p:nvSpPr>
        <p:spPr>
          <a:xfrm>
            <a:off x="9887407" y="4069080"/>
            <a:ext cx="411480" cy="411480"/>
          </a:xfrm>
          <a:prstGeom prst="ellipse">
            <a:avLst/>
          </a:prstGeom>
          <a:solidFill>
            <a:srgbClr val="FFFFFF"/>
          </a:solidFill>
          <a:ln/>
        </p:spPr>
      </p:sp>
      <p:sp>
        <p:nvSpPr>
          <p:cNvPr id="15" name="anim-g3-1632"/>
          <p:cNvSpPr/>
          <p:nvPr/>
        </p:nvSpPr>
        <p:spPr>
          <a:xfrm>
            <a:off x="9887407" y="40690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B7A034"/>
                </a:solidFill>
                <a:latin typeface="Cairo Black" pitchFamily="34" charset="0"/>
                <a:ea typeface="Cairo Black" pitchFamily="34" charset="-122"/>
                <a:cs typeface="Cairo Black" pitchFamily="34" charset="-120"/>
              </a:rPr>
              <a:t>٣</a:t>
            </a:r>
            <a:endParaRPr lang="ar-SA" sz="1500" dirty="0"/>
          </a:p>
        </p:txBody>
      </p:sp>
      <p:sp>
        <p:nvSpPr>
          <p:cNvPr id="16" name="anim-g3-1633"/>
          <p:cNvSpPr/>
          <p:nvPr/>
        </p:nvSpPr>
        <p:spPr>
          <a:xfrm>
            <a:off x="1005840" y="3977640"/>
            <a:ext cx="87169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خيار محدد: «في الحقيبة أو على طاولتي حتى نهاية الحصة، أنت تختار»</a:t>
            </a:r>
            <a:endParaRPr lang="ar-SA" sz="1800" dirty="0"/>
          </a:p>
        </p:txBody>
      </p:sp>
      <p:sp>
        <p:nvSpPr>
          <p:cNvPr id="17" name="anim-g4-1634"/>
          <p:cNvSpPr/>
          <p:nvPr/>
        </p:nvSpPr>
        <p:spPr>
          <a:xfrm>
            <a:off x="822960" y="3291840"/>
            <a:ext cx="9174175" cy="594360"/>
          </a:xfrm>
          <a:prstGeom prst="roundRect">
            <a:avLst>
              <a:gd name="adj" fmla="val 21538"/>
            </a:avLst>
          </a:prstGeom>
          <a:solidFill>
            <a:srgbClr val="D99A2B"/>
          </a:solidFill>
          <a:ln/>
        </p:spPr>
      </p:sp>
      <p:sp>
        <p:nvSpPr>
          <p:cNvPr id="18" name="anim-g4-1635"/>
          <p:cNvSpPr/>
          <p:nvPr/>
        </p:nvSpPr>
        <p:spPr>
          <a:xfrm>
            <a:off x="9430207" y="3383280"/>
            <a:ext cx="411480" cy="411480"/>
          </a:xfrm>
          <a:prstGeom prst="ellipse">
            <a:avLst/>
          </a:prstGeom>
          <a:solidFill>
            <a:srgbClr val="FFFFFF"/>
          </a:solidFill>
          <a:ln/>
        </p:spPr>
      </p:sp>
      <p:sp>
        <p:nvSpPr>
          <p:cNvPr id="19" name="anim-g4-1636"/>
          <p:cNvSpPr/>
          <p:nvPr/>
        </p:nvSpPr>
        <p:spPr>
          <a:xfrm>
            <a:off x="9430207" y="33832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9A2B"/>
                </a:solidFill>
                <a:latin typeface="Cairo Black" pitchFamily="34" charset="0"/>
                <a:ea typeface="Cairo Black" pitchFamily="34" charset="-122"/>
                <a:cs typeface="Cairo Black" pitchFamily="34" charset="-120"/>
              </a:rPr>
              <a:t>٤</a:t>
            </a:r>
            <a:endParaRPr lang="ar-SA" sz="1500" dirty="0"/>
          </a:p>
        </p:txBody>
      </p:sp>
      <p:sp>
        <p:nvSpPr>
          <p:cNvPr id="20" name="anim-g4-1637"/>
          <p:cNvSpPr/>
          <p:nvPr/>
        </p:nvSpPr>
        <p:spPr>
          <a:xfrm>
            <a:off x="1005840" y="3291840"/>
            <a:ext cx="82597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حوار خاص بعد الحصة</a:t>
            </a:r>
            <a:endParaRPr lang="ar-SA" sz="1800" dirty="0"/>
          </a:p>
        </p:txBody>
      </p:sp>
      <p:sp>
        <p:nvSpPr>
          <p:cNvPr id="21" name="anim-g5-1638"/>
          <p:cNvSpPr/>
          <p:nvPr/>
        </p:nvSpPr>
        <p:spPr>
          <a:xfrm>
            <a:off x="822960" y="2606040"/>
            <a:ext cx="8716975" cy="594360"/>
          </a:xfrm>
          <a:prstGeom prst="roundRect">
            <a:avLst>
              <a:gd name="adj" fmla="val 21538"/>
            </a:avLst>
          </a:prstGeom>
          <a:solidFill>
            <a:srgbClr val="D9722B"/>
          </a:solidFill>
          <a:ln/>
        </p:spPr>
      </p:sp>
      <p:sp>
        <p:nvSpPr>
          <p:cNvPr id="22" name="anim-g5-1639"/>
          <p:cNvSpPr/>
          <p:nvPr/>
        </p:nvSpPr>
        <p:spPr>
          <a:xfrm>
            <a:off x="8973007" y="2697480"/>
            <a:ext cx="411480" cy="411480"/>
          </a:xfrm>
          <a:prstGeom prst="ellipse">
            <a:avLst/>
          </a:prstGeom>
          <a:solidFill>
            <a:srgbClr val="FFFFFF"/>
          </a:solidFill>
          <a:ln/>
        </p:spPr>
      </p:sp>
      <p:sp>
        <p:nvSpPr>
          <p:cNvPr id="23" name="anim-g5-1640"/>
          <p:cNvSpPr/>
          <p:nvPr/>
        </p:nvSpPr>
        <p:spPr>
          <a:xfrm>
            <a:off x="8973007" y="26974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722B"/>
                </a:solidFill>
                <a:latin typeface="Cairo Black" pitchFamily="34" charset="0"/>
                <a:ea typeface="Cairo Black" pitchFamily="34" charset="-122"/>
                <a:cs typeface="Cairo Black" pitchFamily="34" charset="-120"/>
              </a:rPr>
              <a:t>٥</a:t>
            </a:r>
            <a:endParaRPr lang="ar-SA" sz="1500" dirty="0"/>
          </a:p>
        </p:txBody>
      </p:sp>
      <p:sp>
        <p:nvSpPr>
          <p:cNvPr id="24" name="anim-g5-1641"/>
          <p:cNvSpPr/>
          <p:nvPr/>
        </p:nvSpPr>
        <p:spPr>
          <a:xfrm>
            <a:off x="1005840" y="2606040"/>
            <a:ext cx="78025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تواصل مع ولي الأمر بلغة الشراكة</a:t>
            </a:r>
            <a:endParaRPr lang="ar-SA" sz="1800" dirty="0"/>
          </a:p>
        </p:txBody>
      </p:sp>
      <p:sp>
        <p:nvSpPr>
          <p:cNvPr id="25" name="anim-g6-1642"/>
          <p:cNvSpPr/>
          <p:nvPr/>
        </p:nvSpPr>
        <p:spPr>
          <a:xfrm>
            <a:off x="822960" y="1920240"/>
            <a:ext cx="8259775" cy="594360"/>
          </a:xfrm>
          <a:prstGeom prst="roundRect">
            <a:avLst>
              <a:gd name="adj" fmla="val 21538"/>
            </a:avLst>
          </a:prstGeom>
          <a:solidFill>
            <a:srgbClr val="C94040"/>
          </a:solidFill>
          <a:ln/>
        </p:spPr>
      </p:sp>
      <p:sp>
        <p:nvSpPr>
          <p:cNvPr id="26" name="anim-g6-1643"/>
          <p:cNvSpPr/>
          <p:nvPr/>
        </p:nvSpPr>
        <p:spPr>
          <a:xfrm>
            <a:off x="8515807" y="2011680"/>
            <a:ext cx="411480" cy="411480"/>
          </a:xfrm>
          <a:prstGeom prst="ellipse">
            <a:avLst/>
          </a:prstGeom>
          <a:solidFill>
            <a:srgbClr val="FFFFFF"/>
          </a:solidFill>
          <a:ln/>
        </p:spPr>
      </p:sp>
      <p:sp>
        <p:nvSpPr>
          <p:cNvPr id="27" name="anim-g6-1644"/>
          <p:cNvSpPr/>
          <p:nvPr/>
        </p:nvSpPr>
        <p:spPr>
          <a:xfrm>
            <a:off x="8515807" y="2011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C94040"/>
                </a:solidFill>
                <a:latin typeface="Cairo Black" pitchFamily="34" charset="0"/>
                <a:ea typeface="Cairo Black" pitchFamily="34" charset="-122"/>
                <a:cs typeface="Cairo Black" pitchFamily="34" charset="-120"/>
              </a:rPr>
              <a:t>٦</a:t>
            </a:r>
            <a:endParaRPr lang="ar-SA" sz="1500" dirty="0"/>
          </a:p>
        </p:txBody>
      </p:sp>
      <p:sp>
        <p:nvSpPr>
          <p:cNvPr id="28" name="anim-g6-1645"/>
          <p:cNvSpPr/>
          <p:nvPr/>
        </p:nvSpPr>
        <p:spPr>
          <a:xfrm>
            <a:off x="1005840" y="1920240"/>
            <a:ext cx="7345375" cy="594360"/>
          </a:xfrm>
          <a:prstGeom prst="rect">
            <a:avLst/>
          </a:prstGeom>
          <a:noFill/>
          <a:ln/>
        </p:spPr>
        <p:txBody>
          <a:bodyPr wrap="square" lIns="0" tIns="0" rIns="0" bIns="0" rtlCol="0" anchor="ctr">
            <a:normAutofit/>
          </a:bodyPr>
          <a:lstStyle/>
          <a:p>
            <a:pPr rtl="1" algn="r" indent="0" marL="0">
              <a:buNone/>
            </a:pPr>
            <a:r>
              <a:rPr lang="ar-SA" altLang="en-US" sz="1800" b="1" dirty="0">
                <a:solidFill>
                  <a:srgbClr val="FFFFFF"/>
                </a:solidFill>
                <a:latin typeface="Cairo" pitchFamily="34" charset="0"/>
                <a:ea typeface="Cairo" pitchFamily="34" charset="-122"/>
                <a:cs typeface="Cairo" pitchFamily="34" charset="-120"/>
              </a:rPr>
              <a:t>الإدارة وفق لائحة السلوك في مدرستك</a:t>
            </a:r>
            <a:endParaRPr lang="ar-SA" sz="18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name="Slide 1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646"/>
          <p:cNvSpPr/>
          <p:nvPr/>
        </p:nvSpPr>
        <p:spPr>
          <a:xfrm>
            <a:off x="6415888" y="2194560"/>
            <a:ext cx="4952848" cy="804672"/>
          </a:xfrm>
          <a:prstGeom prst="roundRect">
            <a:avLst>
              <a:gd name="adj" fmla="val 15909"/>
            </a:avLst>
          </a:prstGeom>
          <a:solidFill>
            <a:srgbClr val="FBECEC"/>
          </a:solidFill>
          <a:ln/>
        </p:spPr>
      </p:sp>
      <p:sp>
        <p:nvSpPr>
          <p:cNvPr id="6" name="anim-g1-1647"/>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انتزاع الجوال بالقوة أمام الجميع</a:t>
            </a:r>
            <a:endParaRPr lang="ar-SA" sz="1900" dirty="0"/>
          </a:p>
        </p:txBody>
      </p:sp>
      <p:sp>
        <p:nvSpPr>
          <p:cNvPr id="7" name="anim-g1-1648"/>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649"/>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1650"/>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651"/>
          <p:cNvSpPr/>
          <p:nvPr/>
        </p:nvSpPr>
        <p:spPr>
          <a:xfrm>
            <a:off x="822960" y="2194560"/>
            <a:ext cx="4952848" cy="804672"/>
          </a:xfrm>
          <a:prstGeom prst="roundRect">
            <a:avLst>
              <a:gd name="adj" fmla="val 15909"/>
            </a:avLst>
          </a:prstGeom>
          <a:solidFill>
            <a:srgbClr val="E6F4EC"/>
          </a:solidFill>
          <a:ln/>
        </p:spPr>
      </p:sp>
      <p:sp>
        <p:nvSpPr>
          <p:cNvPr id="11" name="anim-g2-1652"/>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خيار محدد بهدوء، ثم حوار خاص</a:t>
            </a:r>
            <a:endParaRPr lang="ar-SA" sz="1900" dirty="0"/>
          </a:p>
        </p:txBody>
      </p:sp>
      <p:sp>
        <p:nvSpPr>
          <p:cNvPr id="12" name="anim-g3-1653"/>
          <p:cNvSpPr/>
          <p:nvPr/>
        </p:nvSpPr>
        <p:spPr>
          <a:xfrm>
            <a:off x="6415888" y="3154680"/>
            <a:ext cx="4952848" cy="804672"/>
          </a:xfrm>
          <a:prstGeom prst="roundRect">
            <a:avLst>
              <a:gd name="adj" fmla="val 15909"/>
            </a:avLst>
          </a:prstGeom>
          <a:solidFill>
            <a:srgbClr val="FBECEC"/>
          </a:solidFill>
          <a:ln/>
        </p:spPr>
      </p:sp>
      <p:sp>
        <p:nvSpPr>
          <p:cNvPr id="13" name="anim-g3-1654"/>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فتح الجوال وقراءة رسائله</a:t>
            </a:r>
            <a:endParaRPr lang="ar-SA" sz="1900" dirty="0"/>
          </a:p>
        </p:txBody>
      </p:sp>
      <p:sp>
        <p:nvSpPr>
          <p:cNvPr id="14" name="anim-g3-1655"/>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656"/>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1657"/>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658"/>
          <p:cNvSpPr/>
          <p:nvPr/>
        </p:nvSpPr>
        <p:spPr>
          <a:xfrm>
            <a:off x="822960" y="3154680"/>
            <a:ext cx="4952848" cy="804672"/>
          </a:xfrm>
          <a:prstGeom prst="roundRect">
            <a:avLst>
              <a:gd name="adj" fmla="val 15909"/>
            </a:avLst>
          </a:prstGeom>
          <a:solidFill>
            <a:srgbClr val="E6F4EC"/>
          </a:solidFill>
          <a:ln/>
        </p:spPr>
      </p:sp>
      <p:sp>
        <p:nvSpPr>
          <p:cNvPr id="18" name="anim-g4-1659"/>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لا تطّلع على محتوى جوال طالب أبدًا</a:t>
            </a:r>
            <a:endParaRPr lang="ar-SA" sz="1900" dirty="0"/>
          </a:p>
        </p:txBody>
      </p:sp>
      <p:sp>
        <p:nvSpPr>
          <p:cNvPr id="19" name="anim-g5-1660"/>
          <p:cNvSpPr/>
          <p:nvPr/>
        </p:nvSpPr>
        <p:spPr>
          <a:xfrm>
            <a:off x="6415888" y="4114800"/>
            <a:ext cx="4952848" cy="804672"/>
          </a:xfrm>
          <a:prstGeom prst="roundRect">
            <a:avLst>
              <a:gd name="adj" fmla="val 15909"/>
            </a:avLst>
          </a:prstGeom>
          <a:solidFill>
            <a:srgbClr val="FBECEC"/>
          </a:solidFill>
          <a:ln/>
        </p:spPr>
      </p:sp>
      <p:sp>
        <p:nvSpPr>
          <p:cNvPr id="20" name="anim-g5-1661"/>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تهديد بما لا تملكه: «سأكسره!»</a:t>
            </a:r>
            <a:endParaRPr lang="ar-SA" sz="1900" dirty="0"/>
          </a:p>
        </p:txBody>
      </p:sp>
      <p:sp>
        <p:nvSpPr>
          <p:cNvPr id="21" name="anim-g5-1662"/>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663"/>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1664"/>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665"/>
          <p:cNvSpPr/>
          <p:nvPr/>
        </p:nvSpPr>
        <p:spPr>
          <a:xfrm>
            <a:off x="822960" y="4114800"/>
            <a:ext cx="4952848" cy="804672"/>
          </a:xfrm>
          <a:prstGeom prst="roundRect">
            <a:avLst>
              <a:gd name="adj" fmla="val 15909"/>
            </a:avLst>
          </a:prstGeom>
          <a:solidFill>
            <a:srgbClr val="E6F4EC"/>
          </a:solidFill>
          <a:ln/>
        </p:spPr>
      </p:sp>
      <p:sp>
        <p:nvSpPr>
          <p:cNvPr id="25" name="anim-g6-1666"/>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عاقبة واضحة ومتفق عليها مسبقًا</a:t>
            </a:r>
            <a:endParaRPr lang="ar-SA" sz="1900" dirty="0"/>
          </a:p>
        </p:txBody>
      </p:sp>
      <p:sp>
        <p:nvSpPr>
          <p:cNvPr id="26" name="anim-g7-1667"/>
          <p:cNvSpPr/>
          <p:nvPr/>
        </p:nvSpPr>
        <p:spPr>
          <a:xfrm>
            <a:off x="6415888" y="5074920"/>
            <a:ext cx="4952848" cy="804672"/>
          </a:xfrm>
          <a:prstGeom prst="roundRect">
            <a:avLst>
              <a:gd name="adj" fmla="val 15909"/>
            </a:avLst>
          </a:prstGeom>
          <a:solidFill>
            <a:srgbClr val="FBECEC"/>
          </a:solidFill>
          <a:ln/>
        </p:spPr>
      </p:sp>
      <p:sp>
        <p:nvSpPr>
          <p:cNvPr id="27" name="anim-g7-1668"/>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التشدد مع طالب والتغاضي عن آخر</a:t>
            </a:r>
            <a:endParaRPr lang="ar-SA" sz="1900" dirty="0"/>
          </a:p>
        </p:txBody>
      </p:sp>
      <p:sp>
        <p:nvSpPr>
          <p:cNvPr id="28" name="anim-g7-1669"/>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1670"/>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1671"/>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1672"/>
          <p:cNvSpPr/>
          <p:nvPr/>
        </p:nvSpPr>
        <p:spPr>
          <a:xfrm>
            <a:off x="822960" y="5074920"/>
            <a:ext cx="4952848" cy="804672"/>
          </a:xfrm>
          <a:prstGeom prst="roundRect">
            <a:avLst>
              <a:gd name="adj" fmla="val 15909"/>
            </a:avLst>
          </a:prstGeom>
          <a:solidFill>
            <a:srgbClr val="E6F4EC"/>
          </a:solidFill>
          <a:ln/>
        </p:spPr>
      </p:sp>
      <p:sp>
        <p:nvSpPr>
          <p:cNvPr id="32" name="anim-g8-1673"/>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القاعدة نفسها على الجميع دائمًا</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name="Slide 1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الوقاية خير من العلاج</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بعد الحصة… وغدًا</a:t>
            </a:r>
            <a:endParaRPr lang="ar-SA" sz="3800" dirty="0"/>
          </a:p>
        </p:txBody>
      </p:sp>
      <p:sp>
        <p:nvSpPr>
          <p:cNvPr id="5" name="anim-g1-1674"/>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675"/>
          <p:cNvSpPr/>
          <p:nvPr/>
        </p:nvSpPr>
        <p:spPr>
          <a:xfrm>
            <a:off x="10362895" y="2404872"/>
            <a:ext cx="731520" cy="731520"/>
          </a:xfrm>
          <a:prstGeom prst="roundRect">
            <a:avLst>
              <a:gd name="adj" fmla="val 25000"/>
            </a:avLst>
          </a:prstGeom>
          <a:solidFill>
            <a:srgbClr val="F7E6BC"/>
          </a:solidFill>
          <a:ln/>
        </p:spPr>
      </p:sp>
      <p:sp>
        <p:nvSpPr>
          <p:cNvPr id="7" name="anim-g1-1676"/>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677"/>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«فندق الجوالات»</a:t>
            </a:r>
            <a:endParaRPr lang="ar-SA" sz="2300" dirty="0"/>
          </a:p>
        </p:txBody>
      </p:sp>
      <p:sp>
        <p:nvSpPr>
          <p:cNvPr id="9" name="anim-g1-1678"/>
          <p:cNvSpPr/>
          <p:nvPr/>
        </p:nvSpPr>
        <p:spPr>
          <a:xfrm>
            <a:off x="8310677"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جيوب مرقّمة عند الباب، يضع فيها كل طالب جواله أول الحصة</a:t>
            </a:r>
            <a:endParaRPr lang="ar-SA" sz="1800" dirty="0"/>
          </a:p>
        </p:txBody>
      </p:sp>
      <p:sp>
        <p:nvSpPr>
          <p:cNvPr id="10" name="anim-g2-1679"/>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680"/>
          <p:cNvSpPr/>
          <p:nvPr/>
        </p:nvSpPr>
        <p:spPr>
          <a:xfrm>
            <a:off x="6756197" y="2404872"/>
            <a:ext cx="731520" cy="731520"/>
          </a:xfrm>
          <a:prstGeom prst="roundRect">
            <a:avLst>
              <a:gd name="adj" fmla="val 25000"/>
            </a:avLst>
          </a:prstGeom>
          <a:solidFill>
            <a:srgbClr val="F7E6BC"/>
          </a:solidFill>
          <a:ln/>
        </p:spPr>
      </p:sp>
      <p:sp>
        <p:nvSpPr>
          <p:cNvPr id="12" name="anim-g2-1681"/>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682"/>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قاعدة من اليوم الأول</a:t>
            </a:r>
            <a:endParaRPr lang="ar-SA" sz="2300" dirty="0"/>
          </a:p>
        </p:txBody>
      </p:sp>
      <p:sp>
        <p:nvSpPr>
          <p:cNvPr id="14" name="anim-g2-1683"/>
          <p:cNvSpPr/>
          <p:nvPr/>
        </p:nvSpPr>
        <p:spPr>
          <a:xfrm>
            <a:off x="4703978"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تُكتب مع الطلاب، وتُعلَّق في الفصل، ويُذكَّر بها دوريًا</a:t>
            </a:r>
            <a:endParaRPr lang="ar-SA" sz="1800" dirty="0"/>
          </a:p>
        </p:txBody>
      </p:sp>
      <p:sp>
        <p:nvSpPr>
          <p:cNvPr id="15" name="anim-g3-1684"/>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685"/>
          <p:cNvSpPr/>
          <p:nvPr/>
        </p:nvSpPr>
        <p:spPr>
          <a:xfrm>
            <a:off x="3149498" y="2404872"/>
            <a:ext cx="731520" cy="731520"/>
          </a:xfrm>
          <a:prstGeom prst="roundRect">
            <a:avLst>
              <a:gd name="adj" fmla="val 25000"/>
            </a:avLst>
          </a:prstGeom>
          <a:solidFill>
            <a:srgbClr val="F7E6BC"/>
          </a:solidFill>
          <a:ln/>
        </p:spPr>
      </p:sp>
      <p:sp>
        <p:nvSpPr>
          <p:cNvPr id="17" name="anim-g3-1686"/>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1687"/>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كن القدوة</a:t>
            </a:r>
            <a:endParaRPr lang="ar-SA" sz="2300" dirty="0"/>
          </a:p>
        </p:txBody>
      </p:sp>
      <p:sp>
        <p:nvSpPr>
          <p:cNvPr id="19" name="anim-g3-1688"/>
          <p:cNvSpPr/>
          <p:nvPr/>
        </p:nvSpPr>
        <p:spPr>
          <a:xfrm>
            <a:off x="1097280" y="3813048"/>
            <a:ext cx="2783738"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جوالك مقلوب على الطاولة، لا تردّ عليه أثناء الحصة</a:t>
            </a:r>
            <a:endParaRPr lang="ar-SA" sz="18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name="Slide 1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في المواجهة العلنية يخسر الطرفان…</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القاعدة تُطبَّق بهدوء، والكرامة تُحفظ دائمًا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شاشة تحت الطاولة  ·  ١٤٦</a:t>
            </a:r>
            <a:endParaRPr lang="ar-SA" sz="12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689" descr="/Users/mac/Desktop/أردوينو/المشاريع والكتب/younes-training/mawaqif/assets/scenes/filming.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١٢</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الكاميرا في الصف الأخير</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الكاميرا في الصف الأخير  ·  ١٤٧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8.xml><?xml version="1.0" encoding="utf-8"?>
<p:sld xmlns:a="http://schemas.openxmlformats.org/drawingml/2006/main" xmlns:r="http://schemas.openxmlformats.org/officeDocument/2006/relationships" xmlns:p="http://schemas.openxmlformats.org/presentationml/2006/main">
  <p:cSld name="Slide 1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1690"/>
          <p:cNvSpPr/>
          <p:nvPr/>
        </p:nvSpPr>
        <p:spPr>
          <a:xfrm>
            <a:off x="11323015" y="2011680"/>
            <a:ext cx="45720" cy="845820"/>
          </a:xfrm>
          <a:prstGeom prst="rect">
            <a:avLst/>
          </a:prstGeom>
          <a:solidFill>
            <a:srgbClr val="E4DCC8"/>
          </a:solidFill>
          <a:ln/>
        </p:spPr>
      </p:sp>
      <p:sp>
        <p:nvSpPr>
          <p:cNvPr id="6" name="anim-g1-1691"/>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في حصة متوترة، رفع أ. عادل صوته على طالب تأخر للمرة الثالثة.</a:t>
            </a:r>
            <a:endParaRPr lang="ar-SA" sz="1700" dirty="0"/>
          </a:p>
        </p:txBody>
      </p:sp>
      <p:sp>
        <p:nvSpPr>
          <p:cNvPr id="7" name="anim-g2-1692"/>
          <p:cNvSpPr/>
          <p:nvPr/>
        </p:nvSpPr>
        <p:spPr>
          <a:xfrm>
            <a:off x="11323015" y="3040380"/>
            <a:ext cx="45720" cy="845820"/>
          </a:xfrm>
          <a:prstGeom prst="rect">
            <a:avLst/>
          </a:prstGeom>
          <a:solidFill>
            <a:srgbClr val="E4DCC8"/>
          </a:solidFill>
          <a:ln/>
        </p:spPr>
      </p:sp>
      <p:sp>
        <p:nvSpPr>
          <p:cNvPr id="8" name="anim-g2-1693"/>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في الصف الأخير، كان راكان (الثاني الثانوي) يرفع جواله بهدوء… والنقطة الحمراء تومض: إنه يصوّر.</a:t>
            </a:r>
            <a:endParaRPr lang="ar-SA" sz="1700" dirty="0"/>
          </a:p>
        </p:txBody>
      </p:sp>
      <p:sp>
        <p:nvSpPr>
          <p:cNvPr id="9" name="anim-g3-1694"/>
          <p:cNvSpPr/>
          <p:nvPr/>
        </p:nvSpPr>
        <p:spPr>
          <a:xfrm>
            <a:off x="11323015" y="4069080"/>
            <a:ext cx="45720" cy="845820"/>
          </a:xfrm>
          <a:prstGeom prst="rect">
            <a:avLst/>
          </a:prstGeom>
          <a:solidFill>
            <a:srgbClr val="E4DCC8"/>
          </a:solidFill>
          <a:ln/>
        </p:spPr>
      </p:sp>
      <p:sp>
        <p:nvSpPr>
          <p:cNvPr id="10" name="anim-g3-1695"/>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لاحظه زميله، وتبادل الطلاب النظرات، ولمح أ. عادل الجوال المرفوع.</a:t>
            </a:r>
            <a:endParaRPr lang="ar-SA" sz="1700" dirty="0"/>
          </a:p>
        </p:txBody>
      </p:sp>
      <p:sp>
        <p:nvSpPr>
          <p:cNvPr id="11" name="anim-g4-1696"/>
          <p:cNvSpPr/>
          <p:nvPr/>
        </p:nvSpPr>
        <p:spPr>
          <a:xfrm>
            <a:off x="11323015" y="5097780"/>
            <a:ext cx="45720" cy="845820"/>
          </a:xfrm>
          <a:prstGeom prst="rect">
            <a:avLst/>
          </a:prstGeom>
          <a:solidFill>
            <a:srgbClr val="D64545"/>
          </a:solidFill>
          <a:ln/>
        </p:spPr>
      </p:sp>
      <p:sp>
        <p:nvSpPr>
          <p:cNvPr id="12" name="anim-g4-1697"/>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المقطع قد يصل إلى مواقع التواصل خلال دقائق… مقتطعًا من سياقه.</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filming.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١٤٨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name="Slide 1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عادل الآن؟</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ينتزع الجوال ويحذف المقطع بنفسه</a:t>
            </a:r>
            <a:endParaRPr lang="ar-SA" sz="1900" dirty="0"/>
          </a:p>
        </p:txBody>
      </p:sp>
      <p:sp>
        <p:nvSpPr>
          <p:cNvPr id="9" name="anim-g1-1698"/>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699"/>
          <p:cNvSpPr/>
          <p:nvPr/>
        </p:nvSpPr>
        <p:spPr>
          <a:xfrm>
            <a:off x="10575493" y="2194560"/>
            <a:ext cx="610362" cy="610362"/>
          </a:xfrm>
          <a:prstGeom prst="roundRect">
            <a:avLst>
              <a:gd name="adj" fmla="val 17978"/>
            </a:avLst>
          </a:prstGeom>
          <a:solidFill>
            <a:srgbClr val="A3A9BA"/>
          </a:solidFill>
          <a:ln/>
        </p:spPr>
      </p:sp>
      <p:sp>
        <p:nvSpPr>
          <p:cNvPr id="11" name="anim-g1-1700"/>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701"/>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ينتزع الجوال ويحذف المقطع بنفسه</a:t>
            </a:r>
            <a:endParaRPr lang="ar-SA" sz="1700" dirty="0"/>
          </a:p>
        </p:txBody>
      </p:sp>
      <p:sp>
        <p:nvSpPr>
          <p:cNvPr id="13" name="anim-g1-1702"/>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فتح جوال الطالب والعبث به يحوّلك من متضرر إلى مخالف</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يصرخ: «أوقف التصوير فورًا!»</a:t>
            </a:r>
            <a:endParaRPr lang="ar-SA" sz="1900" dirty="0"/>
          </a:p>
        </p:txBody>
      </p:sp>
      <p:sp>
        <p:nvSpPr>
          <p:cNvPr id="18" name="anim-g1-1703"/>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704"/>
          <p:cNvSpPr/>
          <p:nvPr/>
        </p:nvSpPr>
        <p:spPr>
          <a:xfrm>
            <a:off x="10575493" y="3225546"/>
            <a:ext cx="610362" cy="610362"/>
          </a:xfrm>
          <a:prstGeom prst="roundRect">
            <a:avLst>
              <a:gd name="adj" fmla="val 17978"/>
            </a:avLst>
          </a:prstGeom>
          <a:solidFill>
            <a:srgbClr val="A3A9BA"/>
          </a:solidFill>
          <a:ln/>
        </p:spPr>
      </p:sp>
      <p:sp>
        <p:nvSpPr>
          <p:cNvPr id="20" name="anim-g1-1705"/>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706"/>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يصرخ: «أوقف التصوير فورًا!»</a:t>
            </a:r>
            <a:endParaRPr lang="ar-SA" sz="1700" dirty="0"/>
          </a:p>
        </p:txBody>
      </p:sp>
      <p:sp>
        <p:nvSpPr>
          <p:cNvPr id="22" name="anim-g1-1707"/>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الصراخ الآن هو بالضبط المقطع الذي يريده</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يستعيد هدوءه فورًا، ويطلب بحزم إيقاف التصوير، ثم يبلّغ الإدارة وفق النظام</a:t>
            </a:r>
            <a:endParaRPr lang="ar-SA" sz="1900" dirty="0"/>
          </a:p>
        </p:txBody>
      </p:sp>
      <p:sp>
        <p:nvSpPr>
          <p:cNvPr id="27" name="anim-g1-1708"/>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709"/>
          <p:cNvSpPr/>
          <p:nvPr/>
        </p:nvSpPr>
        <p:spPr>
          <a:xfrm>
            <a:off x="10575493" y="4256532"/>
            <a:ext cx="610362" cy="610362"/>
          </a:xfrm>
          <a:prstGeom prst="roundRect">
            <a:avLst>
              <a:gd name="adj" fmla="val 17978"/>
            </a:avLst>
          </a:prstGeom>
          <a:solidFill>
            <a:srgbClr val="2E9E6B"/>
          </a:solidFill>
          <a:ln/>
        </p:spPr>
      </p:sp>
      <p:sp>
        <p:nvSpPr>
          <p:cNvPr id="29" name="anim-g1-1710"/>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711"/>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يستعيد هدوءه فورًا، ويطلب بحزم إيقاف التصوير، ثم يبلّغ الإدارة وفق النظام</a:t>
            </a:r>
            <a:endParaRPr lang="ar-SA" sz="1700" dirty="0"/>
          </a:p>
        </p:txBody>
      </p:sp>
      <p:sp>
        <p:nvSpPr>
          <p:cNvPr id="31" name="anim-g1-1712"/>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الهدوء يجعل المقطع بلا قيمة، والنظام يحمي الطرفين</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يتجاهل ويكمل كأن شيئًا لم يحدث</a:t>
            </a:r>
            <a:endParaRPr lang="ar-SA" sz="1900" dirty="0"/>
          </a:p>
        </p:txBody>
      </p:sp>
      <p:sp>
        <p:nvSpPr>
          <p:cNvPr id="36" name="anim-g1-1713"/>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714"/>
          <p:cNvSpPr/>
          <p:nvPr/>
        </p:nvSpPr>
        <p:spPr>
          <a:xfrm>
            <a:off x="10575493" y="5287518"/>
            <a:ext cx="610362" cy="610362"/>
          </a:xfrm>
          <a:prstGeom prst="roundRect">
            <a:avLst>
              <a:gd name="adj" fmla="val 17978"/>
            </a:avLst>
          </a:prstGeom>
          <a:solidFill>
            <a:srgbClr val="A3A9BA"/>
          </a:solidFill>
          <a:ln/>
        </p:spPr>
      </p:sp>
      <p:sp>
        <p:nvSpPr>
          <p:cNvPr id="38" name="anim-g1-1715"/>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716"/>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يتجاهل ويكمل كأن شيئًا لم يحدث</a:t>
            </a:r>
            <a:endParaRPr lang="ar-SA" sz="1700" dirty="0"/>
          </a:p>
        </p:txBody>
      </p:sp>
      <p:sp>
        <p:nvSpPr>
          <p:cNvPr id="40" name="anim-g1-1717"/>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التصوير دون إذن مخالفة لا يصح تجاهلها</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name="Slide 1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يصوّر الطالب معلمه؟</a:t>
            </a:r>
            <a:endParaRPr lang="ar-SA" sz="3800" dirty="0"/>
          </a:p>
        </p:txBody>
      </p:sp>
      <p:sp>
        <p:nvSpPr>
          <p:cNvPr id="5" name="anim-g1-1718"/>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719"/>
          <p:cNvSpPr/>
          <p:nvPr/>
        </p:nvSpPr>
        <p:spPr>
          <a:xfrm>
            <a:off x="9816198" y="2194560"/>
            <a:ext cx="640080" cy="640080"/>
          </a:xfrm>
          <a:prstGeom prst="roundRect">
            <a:avLst>
              <a:gd name="adj" fmla="val 25714"/>
            </a:avLst>
          </a:prstGeom>
          <a:solidFill>
            <a:srgbClr val="F7E6BC"/>
          </a:solidFill>
          <a:ln/>
        </p:spPr>
      </p:sp>
      <p:sp>
        <p:nvSpPr>
          <p:cNvPr id="7" name="anim-g1-1720"/>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721"/>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الشهرة</a:t>
            </a:r>
            <a:endParaRPr lang="ar-SA" sz="2200" dirty="0"/>
          </a:p>
        </p:txBody>
      </p:sp>
      <p:sp>
        <p:nvSpPr>
          <p:cNvPr id="9" name="anim-g1-1722"/>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مقطع «مثير» يعني مشاهدات ومتابعين</a:t>
            </a:r>
            <a:endParaRPr lang="ar-SA" sz="1600" dirty="0"/>
          </a:p>
        </p:txBody>
      </p:sp>
      <p:sp>
        <p:nvSpPr>
          <p:cNvPr id="10" name="anim-g2-1723"/>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724"/>
          <p:cNvSpPr/>
          <p:nvPr/>
        </p:nvSpPr>
        <p:spPr>
          <a:xfrm>
            <a:off x="7122604" y="2194560"/>
            <a:ext cx="640080" cy="640080"/>
          </a:xfrm>
          <a:prstGeom prst="roundRect">
            <a:avLst>
              <a:gd name="adj" fmla="val 25714"/>
            </a:avLst>
          </a:prstGeom>
          <a:solidFill>
            <a:srgbClr val="F7E6BC"/>
          </a:solidFill>
          <a:ln/>
        </p:spPr>
      </p:sp>
      <p:sp>
        <p:nvSpPr>
          <p:cNvPr id="12" name="anim-g2-1725"/>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726"/>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انتقام</a:t>
            </a:r>
            <a:endParaRPr lang="ar-SA" sz="2200" dirty="0"/>
          </a:p>
        </p:txBody>
      </p:sp>
      <p:sp>
        <p:nvSpPr>
          <p:cNvPr id="14" name="anim-g2-1727"/>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يشعر أن المعلم ظلمه أو ظلم زميله</a:t>
            </a:r>
            <a:endParaRPr lang="ar-SA" sz="1600" dirty="0"/>
          </a:p>
        </p:txBody>
      </p:sp>
      <p:sp>
        <p:nvSpPr>
          <p:cNvPr id="15" name="anim-g3-1728"/>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729"/>
          <p:cNvSpPr/>
          <p:nvPr/>
        </p:nvSpPr>
        <p:spPr>
          <a:xfrm>
            <a:off x="4429011" y="2194560"/>
            <a:ext cx="640080" cy="640080"/>
          </a:xfrm>
          <a:prstGeom prst="roundRect">
            <a:avLst>
              <a:gd name="adj" fmla="val 25714"/>
            </a:avLst>
          </a:prstGeom>
          <a:solidFill>
            <a:srgbClr val="F7E6BC"/>
          </a:solidFill>
          <a:ln/>
        </p:spPr>
      </p:sp>
      <p:sp>
        <p:nvSpPr>
          <p:cNvPr id="17" name="anim-g3-1730"/>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731"/>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تسلية</a:t>
            </a:r>
            <a:endParaRPr lang="ar-SA" sz="2200" dirty="0"/>
          </a:p>
        </p:txBody>
      </p:sp>
      <p:sp>
        <p:nvSpPr>
          <p:cNvPr id="19" name="anim-g3-1732"/>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لا يدرك خطورة ما يفعل</a:t>
            </a:r>
            <a:endParaRPr lang="ar-SA" sz="1600" dirty="0"/>
          </a:p>
        </p:txBody>
      </p:sp>
      <p:sp>
        <p:nvSpPr>
          <p:cNvPr id="20" name="anim-g4-1733"/>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734"/>
          <p:cNvSpPr/>
          <p:nvPr/>
        </p:nvSpPr>
        <p:spPr>
          <a:xfrm>
            <a:off x="1735417" y="2194560"/>
            <a:ext cx="640080" cy="640080"/>
          </a:xfrm>
          <a:prstGeom prst="roundRect">
            <a:avLst>
              <a:gd name="adj" fmla="val 25714"/>
            </a:avLst>
          </a:prstGeom>
          <a:solidFill>
            <a:srgbClr val="F7E6BC"/>
          </a:solidFill>
          <a:ln/>
        </p:spPr>
      </p:sp>
      <p:sp>
        <p:nvSpPr>
          <p:cNvPr id="22" name="anim-g4-1735"/>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736"/>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جهل بالنظام</a:t>
            </a:r>
            <a:endParaRPr lang="ar-SA" sz="2200" dirty="0"/>
          </a:p>
        </p:txBody>
      </p:sp>
      <p:sp>
        <p:nvSpPr>
          <p:cNvPr id="24" name="anim-g4-1737"/>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لا يعرف أن التصوير دون إذن مخالفة</a:t>
            </a:r>
            <a:endParaRPr lang="ar-SA" sz="1600" dirty="0"/>
          </a:p>
        </p:txBody>
      </p:sp>
      <p:sp>
        <p:nvSpPr>
          <p:cNvPr id="25" name="anim-g5-1738"/>
          <p:cNvSpPr/>
          <p:nvPr/>
        </p:nvSpPr>
        <p:spPr>
          <a:xfrm>
            <a:off x="822960" y="4754880"/>
            <a:ext cx="10545775" cy="1051560"/>
          </a:xfrm>
          <a:prstGeom prst="roundRect">
            <a:avLst>
              <a:gd name="adj" fmla="val 17391"/>
            </a:avLst>
          </a:prstGeom>
          <a:solidFill>
            <a:srgbClr val="101B45"/>
          </a:solidFill>
          <a:ln/>
        </p:spPr>
      </p:sp>
      <p:sp>
        <p:nvSpPr>
          <p:cNvPr id="26" name="anim-g5-1739"/>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أفضل حماية من الكاميرا…</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أن تتصرف دائمًا كأنها تصوّرك</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name="Slide 1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ماذا تفعل فورًا؟</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740"/>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741"/>
          <p:cNvSpPr/>
          <p:nvPr/>
        </p:nvSpPr>
        <p:spPr>
          <a:xfrm>
            <a:off x="9747618" y="2423160"/>
            <a:ext cx="777240" cy="777240"/>
          </a:xfrm>
          <a:prstGeom prst="ellipse">
            <a:avLst/>
          </a:prstGeom>
          <a:solidFill>
            <a:srgbClr val="D9AE4B"/>
          </a:solidFill>
          <a:ln/>
        </p:spPr>
      </p:sp>
      <p:sp>
        <p:nvSpPr>
          <p:cNvPr id="9" name="anim-g1-1742"/>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743"/>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تنفّس</a:t>
            </a:r>
            <a:endParaRPr lang="ar-SA" sz="2500" dirty="0"/>
          </a:p>
        </p:txBody>
      </p:sp>
      <p:sp>
        <p:nvSpPr>
          <p:cNvPr id="11" name="anim-g1-1744"/>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اخفض صوتك فورًا</a:t>
            </a:r>
            <a:endParaRPr lang="ar-SA" sz="1700" dirty="0"/>
          </a:p>
        </p:txBody>
      </p:sp>
      <p:sp>
        <p:nvSpPr>
          <p:cNvPr id="12" name="anim-g2-1745"/>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746"/>
          <p:cNvSpPr/>
          <p:nvPr/>
        </p:nvSpPr>
        <p:spPr>
          <a:xfrm>
            <a:off x="7054024" y="2423160"/>
            <a:ext cx="777240" cy="777240"/>
          </a:xfrm>
          <a:prstGeom prst="ellipse">
            <a:avLst/>
          </a:prstGeom>
          <a:solidFill>
            <a:srgbClr val="D9AE4B"/>
          </a:solidFill>
          <a:ln/>
        </p:spPr>
      </p:sp>
      <p:sp>
        <p:nvSpPr>
          <p:cNvPr id="14" name="anim-g2-1747"/>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748"/>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اطلب بحزم</a:t>
            </a:r>
            <a:endParaRPr lang="ar-SA" sz="2500" dirty="0"/>
          </a:p>
        </p:txBody>
      </p:sp>
      <p:sp>
        <p:nvSpPr>
          <p:cNvPr id="16" name="anim-g2-1749"/>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«أوقف التصوير، وضع الجوال على الطاولة»</a:t>
            </a:r>
            <a:endParaRPr lang="ar-SA" sz="1700" dirty="0"/>
          </a:p>
        </p:txBody>
      </p:sp>
      <p:sp>
        <p:nvSpPr>
          <p:cNvPr id="17" name="anim-g3-1750"/>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751"/>
          <p:cNvSpPr/>
          <p:nvPr/>
        </p:nvSpPr>
        <p:spPr>
          <a:xfrm>
            <a:off x="4360431" y="2423160"/>
            <a:ext cx="777240" cy="777240"/>
          </a:xfrm>
          <a:prstGeom prst="ellipse">
            <a:avLst/>
          </a:prstGeom>
          <a:solidFill>
            <a:srgbClr val="D9AE4B"/>
          </a:solidFill>
          <a:ln/>
        </p:spPr>
      </p:sp>
      <p:sp>
        <p:nvSpPr>
          <p:cNvPr id="19" name="anim-g3-1752"/>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753"/>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تلمس الجوال</a:t>
            </a:r>
            <a:endParaRPr lang="ar-SA" sz="2500" dirty="0"/>
          </a:p>
        </p:txBody>
      </p:sp>
      <p:sp>
        <p:nvSpPr>
          <p:cNvPr id="21" name="anim-g3-1754"/>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ولا تطلب فتحه أو حذف شيء منه</a:t>
            </a:r>
            <a:endParaRPr lang="ar-SA" sz="1700" dirty="0"/>
          </a:p>
        </p:txBody>
      </p:sp>
      <p:sp>
        <p:nvSpPr>
          <p:cNvPr id="22" name="anim-g4-1755"/>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756"/>
          <p:cNvSpPr/>
          <p:nvPr/>
        </p:nvSpPr>
        <p:spPr>
          <a:xfrm>
            <a:off x="1666837" y="2423160"/>
            <a:ext cx="777240" cy="777240"/>
          </a:xfrm>
          <a:prstGeom prst="ellipse">
            <a:avLst/>
          </a:prstGeom>
          <a:solidFill>
            <a:srgbClr val="D9AE4B"/>
          </a:solidFill>
          <a:ln/>
        </p:spPr>
      </p:sp>
      <p:sp>
        <p:nvSpPr>
          <p:cNvPr id="24" name="anim-g4-1757"/>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758"/>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أكمل ثم بلّغ</a:t>
            </a:r>
            <a:endParaRPr lang="ar-SA" sz="2500" dirty="0"/>
          </a:p>
        </p:txBody>
      </p:sp>
      <p:sp>
        <p:nvSpPr>
          <p:cNvPr id="26" name="anim-g4-1759"/>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الإدارة تتعامل بعد الحصة</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name="Slide 1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760"/>
          <p:cNvSpPr/>
          <p:nvPr/>
        </p:nvSpPr>
        <p:spPr>
          <a:xfrm>
            <a:off x="9768535" y="2130552"/>
            <a:ext cx="1600200" cy="819912"/>
          </a:xfrm>
          <a:prstGeom prst="roundRect">
            <a:avLst>
              <a:gd name="adj" fmla="val 16729"/>
            </a:avLst>
          </a:prstGeom>
          <a:solidFill>
            <a:srgbClr val="E9EDF9"/>
          </a:solidFill>
          <a:ln/>
        </p:spPr>
      </p:sp>
      <p:sp>
        <p:nvSpPr>
          <p:cNvPr id="6" name="anim-g1-1761"/>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بهدوء وحزم</a:t>
            </a:r>
            <a:endParaRPr lang="ar-SA" sz="1400" dirty="0"/>
          </a:p>
        </p:txBody>
      </p:sp>
      <p:sp>
        <p:nvSpPr>
          <p:cNvPr id="7" name="anim-g1-1762"/>
          <p:cNvSpPr/>
          <p:nvPr/>
        </p:nvSpPr>
        <p:spPr>
          <a:xfrm>
            <a:off x="822960" y="2057400"/>
            <a:ext cx="8716975" cy="966216"/>
          </a:xfrm>
          <a:prstGeom prst="roundRect">
            <a:avLst>
              <a:gd name="adj" fmla="val 20820"/>
            </a:avLst>
          </a:prstGeom>
          <a:solidFill>
            <a:srgbClr val="101B45"/>
          </a:solidFill>
          <a:ln/>
        </p:spPr>
      </p:sp>
      <p:sp>
        <p:nvSpPr>
          <p:cNvPr id="8" name="anim-g1-1763"/>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راكان، التصوير في الفصل غير مسموح. أوقفه الآن، وضع الجوال على الطاولة</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1764"/>
          <p:cNvSpPr/>
          <p:nvPr/>
        </p:nvSpPr>
        <p:spPr>
          <a:xfrm>
            <a:off x="9768535" y="3243072"/>
            <a:ext cx="1600200" cy="819912"/>
          </a:xfrm>
          <a:prstGeom prst="roundRect">
            <a:avLst>
              <a:gd name="adj" fmla="val 16729"/>
            </a:avLst>
          </a:prstGeom>
          <a:solidFill>
            <a:srgbClr val="E9EDF9"/>
          </a:solidFill>
          <a:ln/>
        </p:spPr>
      </p:sp>
      <p:sp>
        <p:nvSpPr>
          <p:cNvPr id="10" name="anim-g2-1765"/>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للفصل</a:t>
            </a:r>
            <a:endParaRPr lang="ar-SA" sz="1400" dirty="0"/>
          </a:p>
        </p:txBody>
      </p:sp>
      <p:sp>
        <p:nvSpPr>
          <p:cNvPr id="11" name="anim-g2-1766"/>
          <p:cNvSpPr/>
          <p:nvPr/>
        </p:nvSpPr>
        <p:spPr>
          <a:xfrm>
            <a:off x="822960" y="3169920"/>
            <a:ext cx="8716975" cy="966216"/>
          </a:xfrm>
          <a:prstGeom prst="roundRect">
            <a:avLst>
              <a:gd name="adj" fmla="val 20820"/>
            </a:avLst>
          </a:prstGeom>
          <a:solidFill>
            <a:srgbClr val="101B45"/>
          </a:solidFill>
          <a:ln/>
        </p:spPr>
      </p:sp>
      <p:sp>
        <p:nvSpPr>
          <p:cNvPr id="12" name="anim-g2-1767"/>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نكمل درسنا. وأعتذر عن ارتفاع صوتي قبل قليل</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13" name="anim-g3-1768"/>
          <p:cNvSpPr/>
          <p:nvPr/>
        </p:nvSpPr>
        <p:spPr>
          <a:xfrm>
            <a:off x="9768535" y="4355592"/>
            <a:ext cx="1600200" cy="819912"/>
          </a:xfrm>
          <a:prstGeom prst="roundRect">
            <a:avLst>
              <a:gd name="adj" fmla="val 16729"/>
            </a:avLst>
          </a:prstGeom>
          <a:solidFill>
            <a:srgbClr val="E9EDF9"/>
          </a:solidFill>
          <a:ln/>
        </p:spPr>
      </p:sp>
      <p:sp>
        <p:nvSpPr>
          <p:cNvPr id="14" name="anim-g3-1769"/>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بعد الحصة مع الإدارة</a:t>
            </a:r>
            <a:endParaRPr lang="ar-SA" sz="1400" dirty="0"/>
          </a:p>
        </p:txBody>
      </p:sp>
      <p:sp>
        <p:nvSpPr>
          <p:cNvPr id="15" name="anim-g3-1770"/>
          <p:cNvSpPr/>
          <p:nvPr/>
        </p:nvSpPr>
        <p:spPr>
          <a:xfrm>
            <a:off x="822960" y="4282440"/>
            <a:ext cx="8716975" cy="966216"/>
          </a:xfrm>
          <a:prstGeom prst="roundRect">
            <a:avLst>
              <a:gd name="adj" fmla="val 20820"/>
            </a:avLst>
          </a:prstGeom>
          <a:solidFill>
            <a:srgbClr val="101B45"/>
          </a:solidFill>
          <a:ln/>
        </p:spPr>
      </p:sp>
      <p:sp>
        <p:nvSpPr>
          <p:cNvPr id="16" name="anim-g3-1771"/>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نريد أن نفهم لماذا صوّرت، وماذا تنوي به. والقرار يتم وفق لائحة المدرسة</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7" name="anim-g4-1772"/>
          <p:cNvSpPr/>
          <p:nvPr/>
        </p:nvSpPr>
        <p:spPr>
          <a:xfrm>
            <a:off x="822960" y="5532120"/>
            <a:ext cx="10545775" cy="548640"/>
          </a:xfrm>
          <a:prstGeom prst="roundRect">
            <a:avLst>
              <a:gd name="adj" fmla="val 20000"/>
            </a:avLst>
          </a:prstGeom>
          <a:solidFill>
            <a:srgbClr val="FBECEC"/>
          </a:solidFill>
          <a:ln/>
        </p:spPr>
      </p:sp>
      <p:sp>
        <p:nvSpPr>
          <p:cNvPr id="18" name="anim-g4-1773"/>
          <p:cNvSpPr/>
          <p:nvPr/>
        </p:nvSpPr>
        <p:spPr>
          <a:xfrm>
            <a:off x="11295583" y="5532120"/>
            <a:ext cx="73152" cy="548640"/>
          </a:xfrm>
          <a:prstGeom prst="rect">
            <a:avLst/>
          </a:prstGeom>
          <a:solidFill>
            <a:srgbClr val="D64545"/>
          </a:solidFill>
          <a:ln/>
        </p:spPr>
      </p:sp>
      <p:sp>
        <p:nvSpPr>
          <p:cNvPr id="19" name="anim-g4-1774"/>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انتزاع الجوال أو فتحه أو حذف المقطع بنفسك</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name="Slide 1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775"/>
          <p:cNvSpPr/>
          <p:nvPr/>
        </p:nvSpPr>
        <p:spPr>
          <a:xfrm>
            <a:off x="6415888" y="2194560"/>
            <a:ext cx="4952848" cy="804672"/>
          </a:xfrm>
          <a:prstGeom prst="roundRect">
            <a:avLst>
              <a:gd name="adj" fmla="val 15909"/>
            </a:avLst>
          </a:prstGeom>
          <a:solidFill>
            <a:srgbClr val="FBECEC"/>
          </a:solidFill>
          <a:ln/>
        </p:spPr>
      </p:sp>
      <p:sp>
        <p:nvSpPr>
          <p:cNvPr id="6" name="anim-g1-1776"/>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انتزاع الجوال وحذف المقطع</a:t>
            </a:r>
            <a:endParaRPr lang="ar-SA" sz="1900" dirty="0"/>
          </a:p>
        </p:txBody>
      </p:sp>
      <p:sp>
        <p:nvSpPr>
          <p:cNvPr id="7" name="anim-g1-1777"/>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778"/>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1779"/>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780"/>
          <p:cNvSpPr/>
          <p:nvPr/>
        </p:nvSpPr>
        <p:spPr>
          <a:xfrm>
            <a:off x="822960" y="2194560"/>
            <a:ext cx="4952848" cy="804672"/>
          </a:xfrm>
          <a:prstGeom prst="roundRect">
            <a:avLst>
              <a:gd name="adj" fmla="val 15909"/>
            </a:avLst>
          </a:prstGeom>
          <a:solidFill>
            <a:srgbClr val="E6F4EC"/>
          </a:solidFill>
          <a:ln/>
        </p:spPr>
      </p:sp>
      <p:sp>
        <p:nvSpPr>
          <p:cNvPr id="11" name="anim-g2-1781"/>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طلب الإيقاف، وإحالة الأمر للإدارة</a:t>
            </a:r>
            <a:endParaRPr lang="ar-SA" sz="1900" dirty="0"/>
          </a:p>
        </p:txBody>
      </p:sp>
      <p:sp>
        <p:nvSpPr>
          <p:cNvPr id="12" name="anim-g3-1782"/>
          <p:cNvSpPr/>
          <p:nvPr/>
        </p:nvSpPr>
        <p:spPr>
          <a:xfrm>
            <a:off x="6415888" y="3154680"/>
            <a:ext cx="4952848" cy="804672"/>
          </a:xfrm>
          <a:prstGeom prst="roundRect">
            <a:avLst>
              <a:gd name="adj" fmla="val 15909"/>
            </a:avLst>
          </a:prstGeom>
          <a:solidFill>
            <a:srgbClr val="FBECEC"/>
          </a:solidFill>
          <a:ln/>
        </p:spPr>
      </p:sp>
      <p:sp>
        <p:nvSpPr>
          <p:cNvPr id="13" name="anim-g3-1783"/>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الانفعال أمام الكاميرا</a:t>
            </a:r>
            <a:endParaRPr lang="ar-SA" sz="1900" dirty="0"/>
          </a:p>
        </p:txBody>
      </p:sp>
      <p:sp>
        <p:nvSpPr>
          <p:cNvPr id="14" name="anim-g3-1784"/>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785"/>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1786"/>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787"/>
          <p:cNvSpPr/>
          <p:nvPr/>
        </p:nvSpPr>
        <p:spPr>
          <a:xfrm>
            <a:off x="822960" y="3154680"/>
            <a:ext cx="4952848" cy="804672"/>
          </a:xfrm>
          <a:prstGeom prst="roundRect">
            <a:avLst>
              <a:gd name="adj" fmla="val 15909"/>
            </a:avLst>
          </a:prstGeom>
          <a:solidFill>
            <a:srgbClr val="E6F4EC"/>
          </a:solidFill>
          <a:ln/>
        </p:spPr>
      </p:sp>
      <p:sp>
        <p:nvSpPr>
          <p:cNvPr id="18" name="anim-g4-1788"/>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هدوء يجعل المقطع بلا قيمة</a:t>
            </a:r>
            <a:endParaRPr lang="ar-SA" sz="1900" dirty="0"/>
          </a:p>
        </p:txBody>
      </p:sp>
      <p:sp>
        <p:nvSpPr>
          <p:cNvPr id="19" name="anim-g5-1789"/>
          <p:cNvSpPr/>
          <p:nvPr/>
        </p:nvSpPr>
        <p:spPr>
          <a:xfrm>
            <a:off x="6415888" y="4114800"/>
            <a:ext cx="4952848" cy="804672"/>
          </a:xfrm>
          <a:prstGeom prst="roundRect">
            <a:avLst>
              <a:gd name="adj" fmla="val 15909"/>
            </a:avLst>
          </a:prstGeom>
          <a:solidFill>
            <a:srgbClr val="FBECEC"/>
          </a:solidFill>
          <a:ln/>
        </p:spPr>
      </p:sp>
      <p:sp>
        <p:nvSpPr>
          <p:cNvPr id="20" name="anim-g5-1790"/>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التهديد بالفضيحة أو الانتقام</a:t>
            </a:r>
            <a:endParaRPr lang="ar-SA" sz="1900" dirty="0"/>
          </a:p>
        </p:txBody>
      </p:sp>
      <p:sp>
        <p:nvSpPr>
          <p:cNvPr id="21" name="anim-g5-1791"/>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792"/>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1793"/>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794"/>
          <p:cNvSpPr/>
          <p:nvPr/>
        </p:nvSpPr>
        <p:spPr>
          <a:xfrm>
            <a:off x="822960" y="4114800"/>
            <a:ext cx="4952848" cy="804672"/>
          </a:xfrm>
          <a:prstGeom prst="roundRect">
            <a:avLst>
              <a:gd name="adj" fmla="val 15909"/>
            </a:avLst>
          </a:prstGeom>
          <a:solidFill>
            <a:srgbClr val="E6F4EC"/>
          </a:solidFill>
          <a:ln/>
        </p:spPr>
      </p:sp>
      <p:sp>
        <p:nvSpPr>
          <p:cNvPr id="25" name="anim-g6-1795"/>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إجراء نظامي هادئ وموثّق</a:t>
            </a:r>
            <a:endParaRPr lang="ar-SA" sz="1900" dirty="0"/>
          </a:p>
        </p:txBody>
      </p:sp>
      <p:sp>
        <p:nvSpPr>
          <p:cNvPr id="26" name="anim-g7-1796"/>
          <p:cNvSpPr/>
          <p:nvPr/>
        </p:nvSpPr>
        <p:spPr>
          <a:xfrm>
            <a:off x="6415888" y="5074920"/>
            <a:ext cx="4952848" cy="804672"/>
          </a:xfrm>
          <a:prstGeom prst="roundRect">
            <a:avLst>
              <a:gd name="adj" fmla="val 15909"/>
            </a:avLst>
          </a:prstGeom>
          <a:solidFill>
            <a:srgbClr val="FBECEC"/>
          </a:solidFill>
          <a:ln/>
        </p:spPr>
      </p:sp>
      <p:sp>
        <p:nvSpPr>
          <p:cNvPr id="27" name="anim-g7-1797"/>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نسيان سبب التوتر الأصلي</a:t>
            </a:r>
            <a:endParaRPr lang="ar-SA" sz="1900" dirty="0"/>
          </a:p>
        </p:txBody>
      </p:sp>
      <p:sp>
        <p:nvSpPr>
          <p:cNvPr id="28" name="anim-g7-1798"/>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1799"/>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1800"/>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1801"/>
          <p:cNvSpPr/>
          <p:nvPr/>
        </p:nvSpPr>
        <p:spPr>
          <a:xfrm>
            <a:off x="822960" y="5074920"/>
            <a:ext cx="4952848" cy="804672"/>
          </a:xfrm>
          <a:prstGeom prst="roundRect">
            <a:avLst>
              <a:gd name="adj" fmla="val 15909"/>
            </a:avLst>
          </a:prstGeom>
          <a:solidFill>
            <a:srgbClr val="E6F4EC"/>
          </a:solidFill>
          <a:ln/>
        </p:spPr>
      </p:sp>
      <p:sp>
        <p:nvSpPr>
          <p:cNvPr id="32" name="anim-g8-1802"/>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مراجعة أسلوبك، والاعتذار إن أخطأت</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name="Slide 1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تصرّف دائمًا كأن الكاميرا تصوّرك…</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فتكون دائمًا المعلم الذي تفخر به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الكاميرا في الصف الأخير  ·  ١٥٤</a:t>
            </a:r>
            <a:endParaRPr lang="ar-SA" sz="12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803" descr="/Users/mac/Desktop/أردوينو/المشاريع والكتب/younes-training/mawaqif/assets/scenes/aichea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١٣</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واجب بلا بصمة</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واجب بلا بصمة  ·  ١٥٥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6.xml><?xml version="1.0" encoding="utf-8"?>
<p:sld xmlns:a="http://schemas.openxmlformats.org/drawingml/2006/main" xmlns:r="http://schemas.openxmlformats.org/officeDocument/2006/relationships" xmlns:p="http://schemas.openxmlformats.org/presentationml/2006/main">
  <p:cSld name="Slide 1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1804"/>
          <p:cNvSpPr/>
          <p:nvPr/>
        </p:nvSpPr>
        <p:spPr>
          <a:xfrm>
            <a:off x="11323015" y="2011680"/>
            <a:ext cx="45720" cy="845820"/>
          </a:xfrm>
          <a:prstGeom prst="rect">
            <a:avLst/>
          </a:prstGeom>
          <a:solidFill>
            <a:srgbClr val="E4DCC8"/>
          </a:solidFill>
          <a:ln/>
        </p:spPr>
      </p:sp>
      <p:sp>
        <p:nvSpPr>
          <p:cNvPr id="6" name="anim-g1-1805"/>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طلبت أ. نورة من طالبات الثاني الثانوي مقالًا عن «أثر القراءة في حياتي».</a:t>
            </a:r>
            <a:endParaRPr lang="ar-SA" sz="1700" dirty="0"/>
          </a:p>
        </p:txBody>
      </p:sp>
      <p:sp>
        <p:nvSpPr>
          <p:cNvPr id="7" name="anim-g2-1806"/>
          <p:cNvSpPr/>
          <p:nvPr/>
        </p:nvSpPr>
        <p:spPr>
          <a:xfrm>
            <a:off x="11323015" y="3040380"/>
            <a:ext cx="45720" cy="845820"/>
          </a:xfrm>
          <a:prstGeom prst="rect">
            <a:avLst/>
          </a:prstGeom>
          <a:solidFill>
            <a:srgbClr val="E4DCC8"/>
          </a:solidFill>
          <a:ln/>
        </p:spPr>
      </p:sp>
      <p:sp>
        <p:nvSpPr>
          <p:cNvPr id="8" name="anim-g2-1807"/>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وصلتها مقالات متقنة جدًا: لغة لا تشبه طالباتها، وعبارات شبه متطابقة في ثلاث أوراق.</a:t>
            </a:r>
            <a:endParaRPr lang="ar-SA" sz="1700" dirty="0"/>
          </a:p>
        </p:txBody>
      </p:sp>
      <p:sp>
        <p:nvSpPr>
          <p:cNvPr id="9" name="anim-g3-1808"/>
          <p:cNvSpPr/>
          <p:nvPr/>
        </p:nvSpPr>
        <p:spPr>
          <a:xfrm>
            <a:off x="11323015" y="4069080"/>
            <a:ext cx="45720" cy="845820"/>
          </a:xfrm>
          <a:prstGeom prst="rect">
            <a:avLst/>
          </a:prstGeom>
          <a:solidFill>
            <a:srgbClr val="E4DCC8"/>
          </a:solidFill>
          <a:ln/>
        </p:spPr>
      </p:sp>
      <p:sp>
        <p:nvSpPr>
          <p:cNvPr id="10" name="anim-g3-1809"/>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سألت ريم عن معنى كلمة في مقالها… فلم تعرفها.</a:t>
            </a:r>
            <a:endParaRPr lang="ar-SA" sz="1700" dirty="0"/>
          </a:p>
        </p:txBody>
      </p:sp>
      <p:sp>
        <p:nvSpPr>
          <p:cNvPr id="11" name="anim-g4-1810"/>
          <p:cNvSpPr/>
          <p:nvPr/>
        </p:nvSpPr>
        <p:spPr>
          <a:xfrm>
            <a:off x="11323015" y="5097780"/>
            <a:ext cx="45720" cy="845820"/>
          </a:xfrm>
          <a:prstGeom prst="rect">
            <a:avLst/>
          </a:prstGeom>
          <a:solidFill>
            <a:srgbClr val="D64545"/>
          </a:solidFill>
          <a:ln/>
        </p:spPr>
      </p:sp>
      <p:sp>
        <p:nvSpPr>
          <p:cNvPr id="12" name="anim-g4-1811"/>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أدركت أ. نورة أن المقالات كتبها الذكاء الاصطناعي… والمقال القادم بعد أسبوع.</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aicheat.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١٥٦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name="Slide 1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نورة؟</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تعطي الطالبات صفرًا وتفضحهن أمام الفصل</a:t>
            </a:r>
            <a:endParaRPr lang="ar-SA" sz="1900" dirty="0"/>
          </a:p>
        </p:txBody>
      </p:sp>
      <p:sp>
        <p:nvSpPr>
          <p:cNvPr id="9" name="anim-g1-1812"/>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813"/>
          <p:cNvSpPr/>
          <p:nvPr/>
        </p:nvSpPr>
        <p:spPr>
          <a:xfrm>
            <a:off x="10575493" y="2194560"/>
            <a:ext cx="610362" cy="610362"/>
          </a:xfrm>
          <a:prstGeom prst="roundRect">
            <a:avLst>
              <a:gd name="adj" fmla="val 17978"/>
            </a:avLst>
          </a:prstGeom>
          <a:solidFill>
            <a:srgbClr val="A3A9BA"/>
          </a:solidFill>
          <a:ln/>
        </p:spPr>
      </p:sp>
      <p:sp>
        <p:nvSpPr>
          <p:cNvPr id="11" name="anim-g1-1814"/>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815"/>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تعطي الطالبات صفرًا وتفضحهن أمام الفصل</a:t>
            </a:r>
            <a:endParaRPr lang="ar-SA" sz="1700" dirty="0"/>
          </a:p>
        </p:txBody>
      </p:sp>
      <p:sp>
        <p:nvSpPr>
          <p:cNvPr id="13" name="anim-g1-1816"/>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الفضح يهدم الثقة، ولا يعلّم النزاهة</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تمنع أي استخدام للتقنية في الواجبات</a:t>
            </a:r>
            <a:endParaRPr lang="ar-SA" sz="1900" dirty="0"/>
          </a:p>
        </p:txBody>
      </p:sp>
      <p:sp>
        <p:nvSpPr>
          <p:cNvPr id="18" name="anim-g1-1817"/>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818"/>
          <p:cNvSpPr/>
          <p:nvPr/>
        </p:nvSpPr>
        <p:spPr>
          <a:xfrm>
            <a:off x="10575493" y="3225546"/>
            <a:ext cx="610362" cy="610362"/>
          </a:xfrm>
          <a:prstGeom prst="roundRect">
            <a:avLst>
              <a:gd name="adj" fmla="val 17978"/>
            </a:avLst>
          </a:prstGeom>
          <a:solidFill>
            <a:srgbClr val="A3A9BA"/>
          </a:solidFill>
          <a:ln/>
        </p:spPr>
      </p:sp>
      <p:sp>
        <p:nvSpPr>
          <p:cNvPr id="20" name="anim-g1-1819"/>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820"/>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تمنع أي استخدام للتقنية في الواجبات</a:t>
            </a:r>
            <a:endParaRPr lang="ar-SA" sz="1700" dirty="0"/>
          </a:p>
        </p:txBody>
      </p:sp>
      <p:sp>
        <p:nvSpPr>
          <p:cNvPr id="22" name="anim-g1-1821"/>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المنع الكامل مستحيل التطبيق، والذكاء الاصطناعي جزء من مستقبلهن</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تحاور الطالبات، وتغيّر طريقة الواجب بحيث يكشف تفكير الطالبة الحقيقي</a:t>
            </a:r>
            <a:endParaRPr lang="ar-SA" sz="1900" dirty="0"/>
          </a:p>
        </p:txBody>
      </p:sp>
      <p:sp>
        <p:nvSpPr>
          <p:cNvPr id="27" name="anim-g1-1822"/>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823"/>
          <p:cNvSpPr/>
          <p:nvPr/>
        </p:nvSpPr>
        <p:spPr>
          <a:xfrm>
            <a:off x="10575493" y="4256532"/>
            <a:ext cx="610362" cy="610362"/>
          </a:xfrm>
          <a:prstGeom prst="roundRect">
            <a:avLst>
              <a:gd name="adj" fmla="val 17978"/>
            </a:avLst>
          </a:prstGeom>
          <a:solidFill>
            <a:srgbClr val="2E9E6B"/>
          </a:solidFill>
          <a:ln/>
        </p:spPr>
      </p:sp>
      <p:sp>
        <p:nvSpPr>
          <p:cNvPr id="29" name="anim-g1-1824"/>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825"/>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تحاور الطالبات، وتغيّر طريقة الواجب بحيث يكشف تفكير الطالبة الحقيقي</a:t>
            </a:r>
            <a:endParaRPr lang="ar-SA" sz="1700" dirty="0"/>
          </a:p>
        </p:txBody>
      </p:sp>
      <p:sp>
        <p:nvSpPr>
          <p:cNvPr id="31" name="anim-g1-1826"/>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حين يتغير الواجب، يصبح الغش أصعب من العمل الحقيقي</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تتجاهل، فالمهم أن الواجب وصل</a:t>
            </a:r>
            <a:endParaRPr lang="ar-SA" sz="1900" dirty="0"/>
          </a:p>
        </p:txBody>
      </p:sp>
      <p:sp>
        <p:nvSpPr>
          <p:cNvPr id="36" name="anim-g1-1827"/>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828"/>
          <p:cNvSpPr/>
          <p:nvPr/>
        </p:nvSpPr>
        <p:spPr>
          <a:xfrm>
            <a:off x="10575493" y="5287518"/>
            <a:ext cx="610362" cy="610362"/>
          </a:xfrm>
          <a:prstGeom prst="roundRect">
            <a:avLst>
              <a:gd name="adj" fmla="val 17978"/>
            </a:avLst>
          </a:prstGeom>
          <a:solidFill>
            <a:srgbClr val="A3A9BA"/>
          </a:solidFill>
          <a:ln/>
        </p:spPr>
      </p:sp>
      <p:sp>
        <p:nvSpPr>
          <p:cNvPr id="38" name="anim-g1-1829"/>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830"/>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تتجاهل، فالمهم أن الواجب وصل</a:t>
            </a:r>
            <a:endParaRPr lang="ar-SA" sz="1700" dirty="0"/>
          </a:p>
        </p:txBody>
      </p:sp>
      <p:sp>
        <p:nvSpPr>
          <p:cNvPr id="40" name="anim-g1-1831"/>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التجاهل يعني أن الطالبة لم تتعلم شيئًا</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١٥٧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name="Slide 1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تلجأ الطالبة إلى الغش؟</a:t>
            </a:r>
            <a:endParaRPr lang="ar-SA" sz="3800" dirty="0"/>
          </a:p>
        </p:txBody>
      </p:sp>
      <p:sp>
        <p:nvSpPr>
          <p:cNvPr id="5" name="anim-g1-1832"/>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833"/>
          <p:cNvSpPr/>
          <p:nvPr/>
        </p:nvSpPr>
        <p:spPr>
          <a:xfrm>
            <a:off x="9816198" y="2194560"/>
            <a:ext cx="640080" cy="640080"/>
          </a:xfrm>
          <a:prstGeom prst="roundRect">
            <a:avLst>
              <a:gd name="adj" fmla="val 25714"/>
            </a:avLst>
          </a:prstGeom>
          <a:solidFill>
            <a:srgbClr val="F7E6BC"/>
          </a:solidFill>
          <a:ln/>
        </p:spPr>
      </p:sp>
      <p:sp>
        <p:nvSpPr>
          <p:cNvPr id="7" name="anim-g1-1834"/>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835"/>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ضغط</a:t>
            </a:r>
            <a:endParaRPr lang="ar-SA" sz="2200" dirty="0"/>
          </a:p>
        </p:txBody>
      </p:sp>
      <p:sp>
        <p:nvSpPr>
          <p:cNvPr id="9" name="anim-g1-1836"/>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واجبات كثيرة ووقت قليل</a:t>
            </a:r>
            <a:endParaRPr lang="ar-SA" sz="1600" dirty="0"/>
          </a:p>
        </p:txBody>
      </p:sp>
      <p:sp>
        <p:nvSpPr>
          <p:cNvPr id="10" name="anim-g2-1837"/>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838"/>
          <p:cNvSpPr/>
          <p:nvPr/>
        </p:nvSpPr>
        <p:spPr>
          <a:xfrm>
            <a:off x="7122604" y="2194560"/>
            <a:ext cx="640080" cy="640080"/>
          </a:xfrm>
          <a:prstGeom prst="roundRect">
            <a:avLst>
              <a:gd name="adj" fmla="val 25714"/>
            </a:avLst>
          </a:prstGeom>
          <a:solidFill>
            <a:srgbClr val="F7E6BC"/>
          </a:solidFill>
          <a:ln/>
        </p:spPr>
      </p:sp>
      <p:sp>
        <p:nvSpPr>
          <p:cNvPr id="12" name="anim-g2-1839"/>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840"/>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خوف</a:t>
            </a:r>
            <a:endParaRPr lang="ar-SA" sz="2200" dirty="0"/>
          </a:p>
        </p:txBody>
      </p:sp>
      <p:sp>
        <p:nvSpPr>
          <p:cNvPr id="14" name="anim-g2-1841"/>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تخشى أن يكون مقالها ضعيفًا</a:t>
            </a:r>
            <a:endParaRPr lang="ar-SA" sz="1600" dirty="0"/>
          </a:p>
        </p:txBody>
      </p:sp>
      <p:sp>
        <p:nvSpPr>
          <p:cNvPr id="15" name="anim-g3-1842"/>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843"/>
          <p:cNvSpPr/>
          <p:nvPr/>
        </p:nvSpPr>
        <p:spPr>
          <a:xfrm>
            <a:off x="4429011" y="2194560"/>
            <a:ext cx="640080" cy="640080"/>
          </a:xfrm>
          <a:prstGeom prst="roundRect">
            <a:avLst>
              <a:gd name="adj" fmla="val 25714"/>
            </a:avLst>
          </a:prstGeom>
          <a:solidFill>
            <a:srgbClr val="F7E6BC"/>
          </a:solidFill>
          <a:ln/>
        </p:spPr>
      </p:sp>
      <p:sp>
        <p:nvSpPr>
          <p:cNvPr id="17" name="anim-g3-1844"/>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845"/>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التباس</a:t>
            </a:r>
            <a:endParaRPr lang="ar-SA" sz="2200" dirty="0"/>
          </a:p>
        </p:txBody>
      </p:sp>
      <p:sp>
        <p:nvSpPr>
          <p:cNvPr id="19" name="anim-g3-1846"/>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لا تعرف أين تنتهي «الاستعانة» ويبدأ «الغش»</a:t>
            </a:r>
            <a:endParaRPr lang="ar-SA" sz="1600" dirty="0"/>
          </a:p>
        </p:txBody>
      </p:sp>
      <p:sp>
        <p:nvSpPr>
          <p:cNvPr id="20" name="anim-g4-1847"/>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848"/>
          <p:cNvSpPr/>
          <p:nvPr/>
        </p:nvSpPr>
        <p:spPr>
          <a:xfrm>
            <a:off x="1735417" y="2194560"/>
            <a:ext cx="640080" cy="640080"/>
          </a:xfrm>
          <a:prstGeom prst="roundRect">
            <a:avLst>
              <a:gd name="adj" fmla="val 25714"/>
            </a:avLst>
          </a:prstGeom>
          <a:solidFill>
            <a:srgbClr val="F7E6BC"/>
          </a:solidFill>
          <a:ln/>
        </p:spPr>
      </p:sp>
      <p:sp>
        <p:nvSpPr>
          <p:cNvPr id="22" name="anim-g4-1849"/>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850"/>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واجب عام</a:t>
            </a:r>
            <a:endParaRPr lang="ar-SA" sz="2200" dirty="0"/>
          </a:p>
        </p:txBody>
      </p:sp>
      <p:sp>
        <p:nvSpPr>
          <p:cNvPr id="24" name="anim-g4-1851"/>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سؤال يجيب عنه أي برنامج</a:t>
            </a:r>
            <a:endParaRPr lang="ar-SA" sz="1600" dirty="0"/>
          </a:p>
        </p:txBody>
      </p:sp>
      <p:sp>
        <p:nvSpPr>
          <p:cNvPr id="25" name="anim-g5-1852"/>
          <p:cNvSpPr/>
          <p:nvPr/>
        </p:nvSpPr>
        <p:spPr>
          <a:xfrm>
            <a:off x="822960" y="4754880"/>
            <a:ext cx="10545775" cy="1051560"/>
          </a:xfrm>
          <a:prstGeom prst="roundRect">
            <a:avLst>
              <a:gd name="adj" fmla="val 17391"/>
            </a:avLst>
          </a:prstGeom>
          <a:solidFill>
            <a:srgbClr val="101B45"/>
          </a:solidFill>
          <a:ln/>
        </p:spPr>
      </p:sp>
      <p:sp>
        <p:nvSpPr>
          <p:cNvPr id="26" name="anim-g5-1853"/>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إن استطاع برنامج أن يحل واجبك كاملًا…</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فالمشكلة في الواجب قبل الطالبة</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name="Slide 1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تصميم الواجب القادم</a:t>
            </a:r>
            <a:endParaRPr lang="ar-SA" sz="1600" dirty="0"/>
          </a:p>
        </p:txBody>
      </p:sp>
      <p:sp>
        <p:nvSpPr>
          <p:cNvPr id="4" name="Shape 2"/>
          <p:cNvSpPr/>
          <p:nvPr/>
        </p:nvSpPr>
        <p:spPr>
          <a:xfrm>
            <a:off x="822960" y="457200"/>
            <a:ext cx="2331720" cy="457200"/>
          </a:xfrm>
          <a:prstGeom prst="roundRect">
            <a:avLst>
              <a:gd name="adj" fmla="val 50000"/>
            </a:avLst>
          </a:prstGeom>
          <a:solidFill>
            <a:srgbClr val="FBECEC"/>
          </a:solidFill>
          <a:ln/>
        </p:spPr>
      </p:sp>
      <p:sp>
        <p:nvSpPr>
          <p:cNvPr id="5" name="Text 3"/>
          <p:cNvSpPr/>
          <p:nvPr/>
        </p:nvSpPr>
        <p:spPr>
          <a:xfrm>
            <a:off x="822960" y="457200"/>
            <a:ext cx="233172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الواجب القادم</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واجب لا يُنسخ</a:t>
            </a:r>
            <a:endParaRPr lang="ar-SA" sz="3800" dirty="0"/>
          </a:p>
        </p:txBody>
      </p:sp>
      <p:sp>
        <p:nvSpPr>
          <p:cNvPr id="7" name="anim-g1-1854"/>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855"/>
          <p:cNvSpPr/>
          <p:nvPr/>
        </p:nvSpPr>
        <p:spPr>
          <a:xfrm>
            <a:off x="9747618" y="2423160"/>
            <a:ext cx="777240" cy="777240"/>
          </a:xfrm>
          <a:prstGeom prst="ellipse">
            <a:avLst/>
          </a:prstGeom>
          <a:solidFill>
            <a:srgbClr val="D9AE4B"/>
          </a:solidFill>
          <a:ln/>
        </p:spPr>
      </p:sp>
      <p:sp>
        <p:nvSpPr>
          <p:cNvPr id="9" name="anim-g1-1856"/>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857"/>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شخصي</a:t>
            </a:r>
            <a:endParaRPr lang="ar-SA" sz="2500" dirty="0"/>
          </a:p>
        </p:txBody>
      </p:sp>
      <p:sp>
        <p:nvSpPr>
          <p:cNvPr id="11" name="anim-g1-1858"/>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من تجربتها: «كتاب غيّر رأيك في شيء»</a:t>
            </a:r>
            <a:endParaRPr lang="ar-SA" sz="1700" dirty="0"/>
          </a:p>
        </p:txBody>
      </p:sp>
      <p:sp>
        <p:nvSpPr>
          <p:cNvPr id="12" name="anim-g2-1859"/>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860"/>
          <p:cNvSpPr/>
          <p:nvPr/>
        </p:nvSpPr>
        <p:spPr>
          <a:xfrm>
            <a:off x="7054024" y="2423160"/>
            <a:ext cx="777240" cy="777240"/>
          </a:xfrm>
          <a:prstGeom prst="ellipse">
            <a:avLst/>
          </a:prstGeom>
          <a:solidFill>
            <a:srgbClr val="D9AE4B"/>
          </a:solidFill>
          <a:ln/>
        </p:spPr>
      </p:sp>
      <p:sp>
        <p:nvSpPr>
          <p:cNvPr id="14" name="anim-g2-1861"/>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862"/>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على مراحل</a:t>
            </a:r>
            <a:endParaRPr lang="ar-SA" sz="2500" dirty="0"/>
          </a:p>
        </p:txBody>
      </p:sp>
      <p:sp>
        <p:nvSpPr>
          <p:cNvPr id="16" name="anim-g2-1863"/>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مسودة في الفصل، ثم تطوير في البيت</a:t>
            </a:r>
            <a:endParaRPr lang="ar-SA" sz="1700" dirty="0"/>
          </a:p>
        </p:txBody>
      </p:sp>
      <p:sp>
        <p:nvSpPr>
          <p:cNvPr id="17" name="anim-g3-1864"/>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865"/>
          <p:cNvSpPr/>
          <p:nvPr/>
        </p:nvSpPr>
        <p:spPr>
          <a:xfrm>
            <a:off x="4360431" y="2423160"/>
            <a:ext cx="777240" cy="777240"/>
          </a:xfrm>
          <a:prstGeom prst="ellipse">
            <a:avLst/>
          </a:prstGeom>
          <a:solidFill>
            <a:srgbClr val="D9AE4B"/>
          </a:solidFill>
          <a:ln/>
        </p:spPr>
      </p:sp>
      <p:sp>
        <p:nvSpPr>
          <p:cNvPr id="19" name="anim-g3-1866"/>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867"/>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شفهي</a:t>
            </a:r>
            <a:endParaRPr lang="ar-SA" sz="2500" dirty="0"/>
          </a:p>
        </p:txBody>
      </p:sp>
      <p:sp>
        <p:nvSpPr>
          <p:cNvPr id="21" name="anim-g3-1868"/>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دقيقتان تشرح فيهما فكرتها</a:t>
            </a:r>
            <a:endParaRPr lang="ar-SA" sz="1700" dirty="0"/>
          </a:p>
        </p:txBody>
      </p:sp>
      <p:sp>
        <p:nvSpPr>
          <p:cNvPr id="22" name="anim-g4-1869"/>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870"/>
          <p:cNvSpPr/>
          <p:nvPr/>
        </p:nvSpPr>
        <p:spPr>
          <a:xfrm>
            <a:off x="1666837" y="2423160"/>
            <a:ext cx="777240" cy="777240"/>
          </a:xfrm>
          <a:prstGeom prst="ellipse">
            <a:avLst/>
          </a:prstGeom>
          <a:solidFill>
            <a:srgbClr val="D9AE4B"/>
          </a:solidFill>
          <a:ln/>
        </p:spPr>
      </p:sp>
      <p:sp>
        <p:nvSpPr>
          <p:cNvPr id="24" name="anim-g4-1871"/>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872"/>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قاعدة واضحة</a:t>
            </a:r>
            <a:endParaRPr lang="ar-SA" sz="2500" dirty="0"/>
          </a:p>
        </p:txBody>
      </p:sp>
      <p:sp>
        <p:nvSpPr>
          <p:cNvPr id="26" name="anim-g4-1873"/>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متى يُسمح بالذكاء الاصطناعي؟ وكيف يُذكر؟</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١٥٩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name="Slide 1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874"/>
          <p:cNvSpPr/>
          <p:nvPr/>
        </p:nvSpPr>
        <p:spPr>
          <a:xfrm>
            <a:off x="9768535" y="2130552"/>
            <a:ext cx="1600200" cy="819912"/>
          </a:xfrm>
          <a:prstGeom prst="roundRect">
            <a:avLst>
              <a:gd name="adj" fmla="val 16729"/>
            </a:avLst>
          </a:prstGeom>
          <a:solidFill>
            <a:srgbClr val="E9EDF9"/>
          </a:solidFill>
          <a:ln/>
        </p:spPr>
      </p:sp>
      <p:sp>
        <p:nvSpPr>
          <p:cNvPr id="6" name="anim-g1-1875"/>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على انفراد</a:t>
            </a:r>
            <a:endParaRPr lang="ar-SA" sz="1400" dirty="0"/>
          </a:p>
        </p:txBody>
      </p:sp>
      <p:sp>
        <p:nvSpPr>
          <p:cNvPr id="7" name="anim-g1-1876"/>
          <p:cNvSpPr/>
          <p:nvPr/>
        </p:nvSpPr>
        <p:spPr>
          <a:xfrm>
            <a:off x="822960" y="2057400"/>
            <a:ext cx="8716975" cy="966216"/>
          </a:xfrm>
          <a:prstGeom prst="roundRect">
            <a:avLst>
              <a:gd name="adj" fmla="val 20820"/>
            </a:avLst>
          </a:prstGeom>
          <a:solidFill>
            <a:srgbClr val="101B45"/>
          </a:solidFill>
          <a:ln/>
        </p:spPr>
      </p:sp>
      <p:sp>
        <p:nvSpPr>
          <p:cNvPr id="8" name="anim-g1-1877"/>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مقالك جميل لغويًا، لكنني أريد أن أسمع صوتك أنتِ. حدثيني عن فكرته بكلماتك</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9" name="anim-g2-1878"/>
          <p:cNvSpPr/>
          <p:nvPr/>
        </p:nvSpPr>
        <p:spPr>
          <a:xfrm>
            <a:off x="9768535" y="3243072"/>
            <a:ext cx="1600200" cy="819912"/>
          </a:xfrm>
          <a:prstGeom prst="roundRect">
            <a:avLst>
              <a:gd name="adj" fmla="val 16729"/>
            </a:avLst>
          </a:prstGeom>
          <a:solidFill>
            <a:srgbClr val="E9EDF9"/>
          </a:solidFill>
          <a:ln/>
        </p:spPr>
      </p:sp>
      <p:sp>
        <p:nvSpPr>
          <p:cNvPr id="10" name="anim-g2-1879"/>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للفصل</a:t>
            </a:r>
            <a:endParaRPr lang="ar-SA" sz="1400" dirty="0"/>
          </a:p>
        </p:txBody>
      </p:sp>
      <p:sp>
        <p:nvSpPr>
          <p:cNvPr id="11" name="anim-g2-1880"/>
          <p:cNvSpPr/>
          <p:nvPr/>
        </p:nvSpPr>
        <p:spPr>
          <a:xfrm>
            <a:off x="822960" y="3169920"/>
            <a:ext cx="8716975" cy="966216"/>
          </a:xfrm>
          <a:prstGeom prst="roundRect">
            <a:avLst>
              <a:gd name="adj" fmla="val 20820"/>
            </a:avLst>
          </a:prstGeom>
          <a:solidFill>
            <a:srgbClr val="101B45"/>
          </a:solidFill>
          <a:ln/>
        </p:spPr>
      </p:sp>
      <p:sp>
        <p:nvSpPr>
          <p:cNvPr id="12" name="anim-g2-1881"/>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الذكاء الاصطناعي أداة رائعة للأفكار والمراجعة، لكن الكتابة النهائية لكِ، ومن استخدمته تذكر ذلك آخر الورقة</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3" name="anim-g3-1882"/>
          <p:cNvSpPr/>
          <p:nvPr/>
        </p:nvSpPr>
        <p:spPr>
          <a:xfrm>
            <a:off x="9768535" y="4355592"/>
            <a:ext cx="1600200" cy="819912"/>
          </a:xfrm>
          <a:prstGeom prst="roundRect">
            <a:avLst>
              <a:gd name="adj" fmla="val 16729"/>
            </a:avLst>
          </a:prstGeom>
          <a:solidFill>
            <a:srgbClr val="E9EDF9"/>
          </a:solidFill>
          <a:ln/>
        </p:spPr>
      </p:sp>
      <p:sp>
        <p:nvSpPr>
          <p:cNvPr id="14" name="anim-g3-1883"/>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عند الاعتراف</a:t>
            </a:r>
            <a:endParaRPr lang="ar-SA" sz="1400" dirty="0"/>
          </a:p>
        </p:txBody>
      </p:sp>
      <p:sp>
        <p:nvSpPr>
          <p:cNvPr id="15" name="anim-g3-1884"/>
          <p:cNvSpPr/>
          <p:nvPr/>
        </p:nvSpPr>
        <p:spPr>
          <a:xfrm>
            <a:off x="822960" y="4282440"/>
            <a:ext cx="8716975" cy="966216"/>
          </a:xfrm>
          <a:prstGeom prst="roundRect">
            <a:avLst>
              <a:gd name="adj" fmla="val 20820"/>
            </a:avLst>
          </a:prstGeom>
          <a:solidFill>
            <a:srgbClr val="101B45"/>
          </a:solidFill>
          <a:ln/>
        </p:spPr>
      </p:sp>
      <p:sp>
        <p:nvSpPr>
          <p:cNvPr id="16" name="anim-g3-1885"/>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100" b="1" dirty="0">
                <a:solidFill>
                  <a:srgbClr val="D9AE4B"/>
                </a:solidFill>
                <a:latin typeface="Cairo" pitchFamily="34" charset="0"/>
                <a:ea typeface="Cairo" pitchFamily="34" charset="-122"/>
                <a:cs typeface="Cairo" pitchFamily="34" charset="-120"/>
              </a:rPr>
              <a:t>« </a:t>
            </a:r>
            <a:pPr algn="r" indent="0" marL="0">
              <a:buNone/>
            </a:pPr>
            <a:r>
              <a:rPr lang="ar-SA" altLang="en-US" sz="2100" b="1" dirty="0">
                <a:solidFill>
                  <a:srgbClr val="FFFFFF"/>
                </a:solidFill>
                <a:latin typeface="Cairo" pitchFamily="34" charset="0"/>
                <a:ea typeface="Cairo" pitchFamily="34" charset="-122"/>
                <a:cs typeface="Cairo" pitchFamily="34" charset="-120"/>
              </a:rPr>
              <a:t>شكرًا لصدقك. أعيدي كتابته بصوتك، وسأقيّمه من جديد</a:t>
            </a:r>
            <a:pPr algn="r" indent="0" marL="0">
              <a:buNone/>
            </a:pPr>
            <a:r>
              <a:rPr lang="ar-SA" altLang="en-US" sz="2100" b="1" dirty="0">
                <a:solidFill>
                  <a:srgbClr val="D9AE4B"/>
                </a:solidFill>
                <a:latin typeface="Cairo" pitchFamily="34" charset="0"/>
                <a:ea typeface="Cairo" pitchFamily="34" charset="-122"/>
                <a:cs typeface="Cairo" pitchFamily="34" charset="-120"/>
              </a:rPr>
              <a:t> »</a:t>
            </a:r>
            <a:endParaRPr lang="ar-SA" sz="2100" dirty="0"/>
          </a:p>
        </p:txBody>
      </p:sp>
      <p:sp>
        <p:nvSpPr>
          <p:cNvPr id="17" name="anim-g4-1886"/>
          <p:cNvSpPr/>
          <p:nvPr/>
        </p:nvSpPr>
        <p:spPr>
          <a:xfrm>
            <a:off x="822960" y="5532120"/>
            <a:ext cx="10545775" cy="548640"/>
          </a:xfrm>
          <a:prstGeom prst="roundRect">
            <a:avLst>
              <a:gd name="adj" fmla="val 20000"/>
            </a:avLst>
          </a:prstGeom>
          <a:solidFill>
            <a:srgbClr val="FBECEC"/>
          </a:solidFill>
          <a:ln/>
        </p:spPr>
      </p:sp>
      <p:sp>
        <p:nvSpPr>
          <p:cNvPr id="18" name="anim-g4-1887"/>
          <p:cNvSpPr/>
          <p:nvPr/>
        </p:nvSpPr>
        <p:spPr>
          <a:xfrm>
            <a:off x="11295583" y="5532120"/>
            <a:ext cx="73152" cy="548640"/>
          </a:xfrm>
          <a:prstGeom prst="rect">
            <a:avLst/>
          </a:prstGeom>
          <a:solidFill>
            <a:srgbClr val="D64545"/>
          </a:solidFill>
          <a:ln/>
        </p:spPr>
      </p:sp>
      <p:sp>
        <p:nvSpPr>
          <p:cNvPr id="19" name="anim-g4-1888"/>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الاتهام دون دليل — أدوات كشف الذكاء الاصطناعي ليست دقيقة دائمًا</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name="Slide 1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889"/>
          <p:cNvSpPr/>
          <p:nvPr/>
        </p:nvSpPr>
        <p:spPr>
          <a:xfrm>
            <a:off x="6415888" y="2194560"/>
            <a:ext cx="4952848" cy="804672"/>
          </a:xfrm>
          <a:prstGeom prst="roundRect">
            <a:avLst>
              <a:gd name="adj" fmla="val 15909"/>
            </a:avLst>
          </a:prstGeom>
          <a:solidFill>
            <a:srgbClr val="FBECEC"/>
          </a:solidFill>
          <a:ln/>
        </p:spPr>
      </p:sp>
      <p:sp>
        <p:nvSpPr>
          <p:cNvPr id="6" name="anim-g1-1890"/>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اتهام الطالبة أمام زميلاتها</a:t>
            </a:r>
            <a:endParaRPr lang="ar-SA" sz="1900" dirty="0"/>
          </a:p>
        </p:txBody>
      </p:sp>
      <p:sp>
        <p:nvSpPr>
          <p:cNvPr id="7" name="anim-g1-1891"/>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892"/>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1893"/>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894"/>
          <p:cNvSpPr/>
          <p:nvPr/>
        </p:nvSpPr>
        <p:spPr>
          <a:xfrm>
            <a:off x="822960" y="2194560"/>
            <a:ext cx="4952848" cy="804672"/>
          </a:xfrm>
          <a:prstGeom prst="roundRect">
            <a:avLst>
              <a:gd name="adj" fmla="val 15909"/>
            </a:avLst>
          </a:prstGeom>
          <a:solidFill>
            <a:srgbClr val="E6F4EC"/>
          </a:solidFill>
          <a:ln/>
        </p:spPr>
      </p:sp>
      <p:sp>
        <p:nvSpPr>
          <p:cNvPr id="11" name="anim-g2-1895"/>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حوار خاص يكشف مدى فهمها</a:t>
            </a:r>
            <a:endParaRPr lang="ar-SA" sz="1900" dirty="0"/>
          </a:p>
        </p:txBody>
      </p:sp>
      <p:sp>
        <p:nvSpPr>
          <p:cNvPr id="12" name="anim-g3-1896"/>
          <p:cNvSpPr/>
          <p:nvPr/>
        </p:nvSpPr>
        <p:spPr>
          <a:xfrm>
            <a:off x="6415888" y="3154680"/>
            <a:ext cx="4952848" cy="804672"/>
          </a:xfrm>
          <a:prstGeom prst="roundRect">
            <a:avLst>
              <a:gd name="adj" fmla="val 15909"/>
            </a:avLst>
          </a:prstGeom>
          <a:solidFill>
            <a:srgbClr val="FBECEC"/>
          </a:solidFill>
          <a:ln/>
        </p:spPr>
      </p:sp>
      <p:sp>
        <p:nvSpPr>
          <p:cNvPr id="13" name="anim-g3-1897"/>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منع التقنية كليًا</a:t>
            </a:r>
            <a:endParaRPr lang="ar-SA" sz="1900" dirty="0"/>
          </a:p>
        </p:txBody>
      </p:sp>
      <p:sp>
        <p:nvSpPr>
          <p:cNvPr id="14" name="anim-g3-1898"/>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899"/>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1900"/>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901"/>
          <p:cNvSpPr/>
          <p:nvPr/>
        </p:nvSpPr>
        <p:spPr>
          <a:xfrm>
            <a:off x="822960" y="3154680"/>
            <a:ext cx="4952848" cy="804672"/>
          </a:xfrm>
          <a:prstGeom prst="roundRect">
            <a:avLst>
              <a:gd name="adj" fmla="val 15909"/>
            </a:avLst>
          </a:prstGeom>
          <a:solidFill>
            <a:srgbClr val="E6F4EC"/>
          </a:solidFill>
          <a:ln/>
        </p:spPr>
      </p:sp>
      <p:sp>
        <p:nvSpPr>
          <p:cNvPr id="18" name="anim-g4-1902"/>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قاعدة واضحة للاستخدام المسموح</a:t>
            </a:r>
            <a:endParaRPr lang="ar-SA" sz="1900" dirty="0"/>
          </a:p>
        </p:txBody>
      </p:sp>
      <p:sp>
        <p:nvSpPr>
          <p:cNvPr id="19" name="anim-g5-1903"/>
          <p:cNvSpPr/>
          <p:nvPr/>
        </p:nvSpPr>
        <p:spPr>
          <a:xfrm>
            <a:off x="6415888" y="4114800"/>
            <a:ext cx="4952848" cy="804672"/>
          </a:xfrm>
          <a:prstGeom prst="roundRect">
            <a:avLst>
              <a:gd name="adj" fmla="val 15909"/>
            </a:avLst>
          </a:prstGeom>
          <a:solidFill>
            <a:srgbClr val="FBECEC"/>
          </a:solidFill>
          <a:ln/>
        </p:spPr>
      </p:sp>
      <p:sp>
        <p:nvSpPr>
          <p:cNvPr id="20" name="anim-g5-1904"/>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واجبات عامة قابلة للنسخ</a:t>
            </a:r>
            <a:endParaRPr lang="ar-SA" sz="1900" dirty="0"/>
          </a:p>
        </p:txBody>
      </p:sp>
      <p:sp>
        <p:nvSpPr>
          <p:cNvPr id="21" name="anim-g5-1905"/>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906"/>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1907"/>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908"/>
          <p:cNvSpPr/>
          <p:nvPr/>
        </p:nvSpPr>
        <p:spPr>
          <a:xfrm>
            <a:off x="822960" y="4114800"/>
            <a:ext cx="4952848" cy="804672"/>
          </a:xfrm>
          <a:prstGeom prst="roundRect">
            <a:avLst>
              <a:gd name="adj" fmla="val 15909"/>
            </a:avLst>
          </a:prstGeom>
          <a:solidFill>
            <a:srgbClr val="E6F4EC"/>
          </a:solidFill>
          <a:ln/>
        </p:spPr>
      </p:sp>
      <p:sp>
        <p:nvSpPr>
          <p:cNvPr id="25" name="anim-g6-1909"/>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واجبات شخصية بمراحل وتقديم شفهي</a:t>
            </a:r>
            <a:endParaRPr lang="ar-SA" sz="1900" dirty="0"/>
          </a:p>
        </p:txBody>
      </p:sp>
      <p:sp>
        <p:nvSpPr>
          <p:cNvPr id="26" name="anim-g7-1910"/>
          <p:cNvSpPr/>
          <p:nvPr/>
        </p:nvSpPr>
        <p:spPr>
          <a:xfrm>
            <a:off x="6415888" y="5074920"/>
            <a:ext cx="4952848" cy="804672"/>
          </a:xfrm>
          <a:prstGeom prst="roundRect">
            <a:avLst>
              <a:gd name="adj" fmla="val 15909"/>
            </a:avLst>
          </a:prstGeom>
          <a:solidFill>
            <a:srgbClr val="FBECEC"/>
          </a:solidFill>
          <a:ln/>
        </p:spPr>
      </p:sp>
      <p:sp>
        <p:nvSpPr>
          <p:cNvPr id="27" name="anim-g7-1911"/>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الاعتماد على أدوات الكشف وحدها</a:t>
            </a:r>
            <a:endParaRPr lang="ar-SA" sz="1900" dirty="0"/>
          </a:p>
        </p:txBody>
      </p:sp>
      <p:sp>
        <p:nvSpPr>
          <p:cNvPr id="28" name="anim-g7-1912"/>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1913"/>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1914"/>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1915"/>
          <p:cNvSpPr/>
          <p:nvPr/>
        </p:nvSpPr>
        <p:spPr>
          <a:xfrm>
            <a:off x="822960" y="5074920"/>
            <a:ext cx="4952848" cy="804672"/>
          </a:xfrm>
          <a:prstGeom prst="roundRect">
            <a:avLst>
              <a:gd name="adj" fmla="val 15909"/>
            </a:avLst>
          </a:prstGeom>
          <a:solidFill>
            <a:srgbClr val="E6F4EC"/>
          </a:solidFill>
          <a:ln/>
        </p:spPr>
      </p:sp>
      <p:sp>
        <p:nvSpPr>
          <p:cNvPr id="32" name="anim-g8-1916"/>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معرفتك بأسلوب طالبتك أدق دليل</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١٦١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name="Slide 1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تحارب الأداة…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علّم النزاهة في استخدامها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واجب بلا بصمة  ·  ١٦٢</a:t>
            </a:r>
            <a:endParaRPr lang="ar-SA" sz="12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917" descr="/Users/mac/Desktop/أردوينو/المشاريع والكتب/younes-training/mawaqif/assets/scenes/whatsapp.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١٤</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رسالة في القروب</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رسالة في القروب  ·  ١٦٣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4.xml><?xml version="1.0" encoding="utf-8"?>
<p:sld xmlns:a="http://schemas.openxmlformats.org/drawingml/2006/main" xmlns:r="http://schemas.openxmlformats.org/officeDocument/2006/relationships" xmlns:p="http://schemas.openxmlformats.org/presentationml/2006/main">
  <p:cSld name="Slide 1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1918"/>
          <p:cNvSpPr/>
          <p:nvPr/>
        </p:nvSpPr>
        <p:spPr>
          <a:xfrm>
            <a:off x="11323015" y="2011680"/>
            <a:ext cx="45720" cy="845820"/>
          </a:xfrm>
          <a:prstGeom prst="rect">
            <a:avLst/>
          </a:prstGeom>
          <a:solidFill>
            <a:srgbClr val="E4DCC8"/>
          </a:solidFill>
          <a:ln/>
        </p:spPr>
      </p:sp>
      <p:sp>
        <p:nvSpPr>
          <p:cNvPr id="6" name="anim-g1-1919"/>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في العاشرة ليلًا، كتبت إحدى الأمهات في قروب أولياء الأمور: «معلمة العلوم ظلمت ابنتي في الدرجة، وليست أول مرة!»</a:t>
            </a:r>
            <a:endParaRPr lang="ar-SA" sz="1700" dirty="0"/>
          </a:p>
        </p:txBody>
      </p:sp>
      <p:sp>
        <p:nvSpPr>
          <p:cNvPr id="7" name="anim-g2-1920"/>
          <p:cNvSpPr/>
          <p:nvPr/>
        </p:nvSpPr>
        <p:spPr>
          <a:xfrm>
            <a:off x="11323015" y="3040380"/>
            <a:ext cx="45720" cy="845820"/>
          </a:xfrm>
          <a:prstGeom prst="rect">
            <a:avLst/>
          </a:prstGeom>
          <a:solidFill>
            <a:srgbClr val="E4DCC8"/>
          </a:solidFill>
          <a:ln/>
        </p:spPr>
      </p:sp>
      <p:sp>
        <p:nvSpPr>
          <p:cNvPr id="8" name="anim-g2-1921"/>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انهالت الردود: من يؤيد، ومن يسأل، ومن يرسل وجوهًا متعجبة.</a:t>
            </a:r>
            <a:endParaRPr lang="ar-SA" sz="1700" dirty="0"/>
          </a:p>
        </p:txBody>
      </p:sp>
      <p:sp>
        <p:nvSpPr>
          <p:cNvPr id="9" name="anim-g3-1922"/>
          <p:cNvSpPr/>
          <p:nvPr/>
        </p:nvSpPr>
        <p:spPr>
          <a:xfrm>
            <a:off x="11323015" y="4069080"/>
            <a:ext cx="45720" cy="845820"/>
          </a:xfrm>
          <a:prstGeom prst="rect">
            <a:avLst/>
          </a:prstGeom>
          <a:solidFill>
            <a:srgbClr val="E4DCC8"/>
          </a:solidFill>
          <a:ln/>
        </p:spPr>
      </p:sp>
      <p:sp>
        <p:nvSpPr>
          <p:cNvPr id="10" name="anim-g3-1923"/>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قرأت أ. هند الرسائل وقلبها يخفق، وأصابعها على لوحة المفاتيح.</a:t>
            </a:r>
            <a:endParaRPr lang="ar-SA" sz="1700" dirty="0"/>
          </a:p>
        </p:txBody>
      </p:sp>
      <p:sp>
        <p:nvSpPr>
          <p:cNvPr id="11" name="anim-g4-1924"/>
          <p:cNvSpPr/>
          <p:nvPr/>
        </p:nvSpPr>
        <p:spPr>
          <a:xfrm>
            <a:off x="11323015" y="5097780"/>
            <a:ext cx="45720" cy="845820"/>
          </a:xfrm>
          <a:prstGeom prst="rect">
            <a:avLst/>
          </a:prstGeom>
          <a:solidFill>
            <a:srgbClr val="D64545"/>
          </a:solidFill>
          <a:ln/>
        </p:spPr>
      </p:sp>
      <p:sp>
        <p:nvSpPr>
          <p:cNvPr id="12" name="anim-g4-1925"/>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ردٌّ واحد متسرّع… قد يشعل القروب كله.</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whatsapp.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65.xml><?xml version="1.0" encoding="utf-8"?>
<p:sld xmlns:a="http://schemas.openxmlformats.org/drawingml/2006/main" xmlns:r="http://schemas.openxmlformats.org/officeDocument/2006/relationships" xmlns:p="http://schemas.openxmlformats.org/presentationml/2006/main">
  <p:cSld name="Slide 1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هند؟</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ترد فورًا في القروب وتدافع عن نفسها بالتفصيل</a:t>
            </a:r>
            <a:endParaRPr lang="ar-SA" sz="1900" dirty="0"/>
          </a:p>
        </p:txBody>
      </p:sp>
      <p:sp>
        <p:nvSpPr>
          <p:cNvPr id="9" name="anim-g1-1926"/>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927"/>
          <p:cNvSpPr/>
          <p:nvPr/>
        </p:nvSpPr>
        <p:spPr>
          <a:xfrm>
            <a:off x="10575493" y="2194560"/>
            <a:ext cx="610362" cy="610362"/>
          </a:xfrm>
          <a:prstGeom prst="roundRect">
            <a:avLst>
              <a:gd name="adj" fmla="val 17978"/>
            </a:avLst>
          </a:prstGeom>
          <a:solidFill>
            <a:srgbClr val="A3A9BA"/>
          </a:solidFill>
          <a:ln/>
        </p:spPr>
      </p:sp>
      <p:sp>
        <p:nvSpPr>
          <p:cNvPr id="11" name="anim-g1-1928"/>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929"/>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ترد فورًا في القروب وتدافع عن نفسها بالتفصيل</a:t>
            </a:r>
            <a:endParaRPr lang="ar-SA" sz="1700" dirty="0"/>
          </a:p>
        </p:txBody>
      </p:sp>
      <p:sp>
        <p:nvSpPr>
          <p:cNvPr id="13" name="anim-g1-1930"/>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النقاش العلني يحوّل الشكوى إلى معركة يتابعها الجميع</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تغادر القروب احتجاجًا</a:t>
            </a:r>
            <a:endParaRPr lang="ar-SA" sz="1900" dirty="0"/>
          </a:p>
        </p:txBody>
      </p:sp>
      <p:sp>
        <p:nvSpPr>
          <p:cNvPr id="18" name="anim-g1-1931"/>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932"/>
          <p:cNvSpPr/>
          <p:nvPr/>
        </p:nvSpPr>
        <p:spPr>
          <a:xfrm>
            <a:off x="10575493" y="3225546"/>
            <a:ext cx="610362" cy="610362"/>
          </a:xfrm>
          <a:prstGeom prst="roundRect">
            <a:avLst>
              <a:gd name="adj" fmla="val 17978"/>
            </a:avLst>
          </a:prstGeom>
          <a:solidFill>
            <a:srgbClr val="A3A9BA"/>
          </a:solidFill>
          <a:ln/>
        </p:spPr>
      </p:sp>
      <p:sp>
        <p:nvSpPr>
          <p:cNvPr id="20" name="anim-g1-1933"/>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934"/>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تغادر القروب احتجاجًا</a:t>
            </a:r>
            <a:endParaRPr lang="ar-SA" sz="1700" dirty="0"/>
          </a:p>
        </p:txBody>
      </p:sp>
      <p:sp>
        <p:nvSpPr>
          <p:cNvPr id="22" name="anim-g1-1935"/>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المغادرة تبدو هروبًا واعترافًا</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لا ترد ليلًا، وفي الصباح تبلّغ الإدارة، ثم تتواصل مع الأم على انفراد</a:t>
            </a:r>
            <a:endParaRPr lang="ar-SA" sz="1900" dirty="0"/>
          </a:p>
        </p:txBody>
      </p:sp>
      <p:sp>
        <p:nvSpPr>
          <p:cNvPr id="27" name="anim-g1-1936"/>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937"/>
          <p:cNvSpPr/>
          <p:nvPr/>
        </p:nvSpPr>
        <p:spPr>
          <a:xfrm>
            <a:off x="10575493" y="4256532"/>
            <a:ext cx="610362" cy="610362"/>
          </a:xfrm>
          <a:prstGeom prst="roundRect">
            <a:avLst>
              <a:gd name="adj" fmla="val 17978"/>
            </a:avLst>
          </a:prstGeom>
          <a:solidFill>
            <a:srgbClr val="2E9E6B"/>
          </a:solidFill>
          <a:ln/>
        </p:spPr>
      </p:sp>
      <p:sp>
        <p:nvSpPr>
          <p:cNvPr id="29" name="anim-g1-1938"/>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939"/>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لا ترد ليلًا، وفي الصباح تبلّغ الإدارة، ثم تتواصل مع الأم على انفراد</a:t>
            </a:r>
            <a:endParaRPr lang="ar-SA" sz="1700" dirty="0"/>
          </a:p>
        </p:txBody>
      </p:sp>
      <p:sp>
        <p:nvSpPr>
          <p:cNvPr id="31" name="anim-g1-1940"/>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الانفراد يطفئ الجمهور، والإدارة تحمي المعلمة وتوثّق</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ترد بجملة قاسية تحفظ هيبتها</a:t>
            </a:r>
            <a:endParaRPr lang="ar-SA" sz="1900" dirty="0"/>
          </a:p>
        </p:txBody>
      </p:sp>
      <p:sp>
        <p:nvSpPr>
          <p:cNvPr id="36" name="anim-g1-1941"/>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942"/>
          <p:cNvSpPr/>
          <p:nvPr/>
        </p:nvSpPr>
        <p:spPr>
          <a:xfrm>
            <a:off x="10575493" y="5287518"/>
            <a:ext cx="610362" cy="610362"/>
          </a:xfrm>
          <a:prstGeom prst="roundRect">
            <a:avLst>
              <a:gd name="adj" fmla="val 17978"/>
            </a:avLst>
          </a:prstGeom>
          <a:solidFill>
            <a:srgbClr val="A3A9BA"/>
          </a:solidFill>
          <a:ln/>
        </p:spPr>
      </p:sp>
      <p:sp>
        <p:nvSpPr>
          <p:cNvPr id="38" name="anim-g1-1943"/>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944"/>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ترد بجملة قاسية تحفظ هيبتها</a:t>
            </a:r>
            <a:endParaRPr lang="ar-SA" sz="1700" dirty="0"/>
          </a:p>
        </p:txBody>
      </p:sp>
      <p:sp>
        <p:nvSpPr>
          <p:cNvPr id="40" name="anim-g1-1945"/>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القسوة تُصوَّر وتنتشر، وتخسر بها تعاطف الآخرين</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66.xml><?xml version="1.0" encoding="utf-8"?>
<p:sld xmlns:a="http://schemas.openxmlformats.org/drawingml/2006/main" xmlns:r="http://schemas.openxmlformats.org/officeDocument/2006/relationships" xmlns:p="http://schemas.openxmlformats.org/presentationml/2006/main">
  <p:cSld name="Slide 1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اختارت الأم القروب؟</a:t>
            </a:r>
            <a:endParaRPr lang="ar-SA" sz="3800" dirty="0"/>
          </a:p>
        </p:txBody>
      </p:sp>
      <p:sp>
        <p:nvSpPr>
          <p:cNvPr id="5" name="anim-g1-1946"/>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947"/>
          <p:cNvSpPr/>
          <p:nvPr/>
        </p:nvSpPr>
        <p:spPr>
          <a:xfrm>
            <a:off x="9816198" y="2194560"/>
            <a:ext cx="640080" cy="640080"/>
          </a:xfrm>
          <a:prstGeom prst="roundRect">
            <a:avLst>
              <a:gd name="adj" fmla="val 25714"/>
            </a:avLst>
          </a:prstGeom>
          <a:solidFill>
            <a:srgbClr val="F7E6BC"/>
          </a:solidFill>
          <a:ln/>
        </p:spPr>
      </p:sp>
      <p:sp>
        <p:nvSpPr>
          <p:cNvPr id="7" name="anim-g1-1948"/>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949"/>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انفعال</a:t>
            </a:r>
            <a:endParaRPr lang="ar-SA" sz="2200" dirty="0"/>
          </a:p>
        </p:txBody>
      </p:sp>
      <p:sp>
        <p:nvSpPr>
          <p:cNvPr id="9" name="anim-g1-1950"/>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كتبت وهي غاضبة، قبل أن تفكر</a:t>
            </a:r>
            <a:endParaRPr lang="ar-SA" sz="1600" dirty="0"/>
          </a:p>
        </p:txBody>
      </p:sp>
      <p:sp>
        <p:nvSpPr>
          <p:cNvPr id="10" name="anim-g2-1951"/>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952"/>
          <p:cNvSpPr/>
          <p:nvPr/>
        </p:nvSpPr>
        <p:spPr>
          <a:xfrm>
            <a:off x="7122604" y="2194560"/>
            <a:ext cx="640080" cy="640080"/>
          </a:xfrm>
          <a:prstGeom prst="roundRect">
            <a:avLst>
              <a:gd name="adj" fmla="val 25714"/>
            </a:avLst>
          </a:prstGeom>
          <a:solidFill>
            <a:srgbClr val="F7E6BC"/>
          </a:solidFill>
          <a:ln/>
        </p:spPr>
      </p:sp>
      <p:sp>
        <p:nvSpPr>
          <p:cNvPr id="12" name="anim-g2-1953"/>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954"/>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ضغط</a:t>
            </a:r>
            <a:endParaRPr lang="ar-SA" sz="2200" dirty="0"/>
          </a:p>
        </p:txBody>
      </p:sp>
      <p:sp>
        <p:nvSpPr>
          <p:cNvPr id="14" name="anim-g2-1955"/>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تظن أن العلن يضمن الاستجابة</a:t>
            </a:r>
            <a:endParaRPr lang="ar-SA" sz="1600" dirty="0"/>
          </a:p>
        </p:txBody>
      </p:sp>
      <p:sp>
        <p:nvSpPr>
          <p:cNvPr id="15" name="anim-g3-1956"/>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957"/>
          <p:cNvSpPr/>
          <p:nvPr/>
        </p:nvSpPr>
        <p:spPr>
          <a:xfrm>
            <a:off x="4429011" y="2194560"/>
            <a:ext cx="640080" cy="640080"/>
          </a:xfrm>
          <a:prstGeom prst="roundRect">
            <a:avLst>
              <a:gd name="adj" fmla="val 25714"/>
            </a:avLst>
          </a:prstGeom>
          <a:solidFill>
            <a:srgbClr val="F7E6BC"/>
          </a:solidFill>
          <a:ln/>
        </p:spPr>
      </p:sp>
      <p:sp>
        <p:nvSpPr>
          <p:cNvPr id="17" name="anim-g3-1958"/>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959"/>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غياب القناة</a:t>
            </a:r>
            <a:endParaRPr lang="ar-SA" sz="2200" dirty="0"/>
          </a:p>
        </p:txBody>
      </p:sp>
      <p:sp>
        <p:nvSpPr>
          <p:cNvPr id="19" name="anim-g3-1960"/>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لا تعرف طريقًا رسميًا للشكوى</a:t>
            </a:r>
            <a:endParaRPr lang="ar-SA" sz="1600" dirty="0"/>
          </a:p>
        </p:txBody>
      </p:sp>
      <p:sp>
        <p:nvSpPr>
          <p:cNvPr id="20" name="anim-g4-1961"/>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962"/>
          <p:cNvSpPr/>
          <p:nvPr/>
        </p:nvSpPr>
        <p:spPr>
          <a:xfrm>
            <a:off x="1735417" y="2194560"/>
            <a:ext cx="640080" cy="640080"/>
          </a:xfrm>
          <a:prstGeom prst="roundRect">
            <a:avLst>
              <a:gd name="adj" fmla="val 25714"/>
            </a:avLst>
          </a:prstGeom>
          <a:solidFill>
            <a:srgbClr val="F7E6BC"/>
          </a:solidFill>
          <a:ln/>
        </p:spPr>
      </p:sp>
      <p:sp>
        <p:nvSpPr>
          <p:cNvPr id="22" name="anim-g4-1963"/>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964"/>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تأييد</a:t>
            </a:r>
            <a:endParaRPr lang="ar-SA" sz="2200" dirty="0"/>
          </a:p>
        </p:txBody>
      </p:sp>
      <p:sp>
        <p:nvSpPr>
          <p:cNvPr id="24" name="anim-g4-1965"/>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تبحث عن أمهات يشاركنها الرأي</a:t>
            </a:r>
            <a:endParaRPr lang="ar-SA" sz="1600" dirty="0"/>
          </a:p>
        </p:txBody>
      </p:sp>
      <p:sp>
        <p:nvSpPr>
          <p:cNvPr id="25" name="anim-g5-1966"/>
          <p:cNvSpPr/>
          <p:nvPr/>
        </p:nvSpPr>
        <p:spPr>
          <a:xfrm>
            <a:off x="822960" y="4754880"/>
            <a:ext cx="10545775" cy="1051560"/>
          </a:xfrm>
          <a:prstGeom prst="roundRect">
            <a:avLst>
              <a:gd name="adj" fmla="val 17391"/>
            </a:avLst>
          </a:prstGeom>
          <a:solidFill>
            <a:srgbClr val="101B45"/>
          </a:solidFill>
          <a:ln/>
        </p:spPr>
      </p:sp>
      <p:sp>
        <p:nvSpPr>
          <p:cNvPr id="26" name="anim-g5-1967"/>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الشكوى العلنية غالبًا…</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صرخة من لم يجد بابًا مفتوحًا</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7.xml><?xml version="1.0" encoding="utf-8"?>
<p:sld xmlns:a="http://schemas.openxmlformats.org/drawingml/2006/main" xmlns:r="http://schemas.openxmlformats.org/officeDocument/2006/relationships" xmlns:p="http://schemas.openxmlformats.org/presentationml/2006/main">
  <p:cSld name="Slide 1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قبل أي رد</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قبل الرد</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خطوات أ. هند</a:t>
            </a:r>
            <a:endParaRPr lang="ar-SA" sz="3800" dirty="0"/>
          </a:p>
        </p:txBody>
      </p:sp>
      <p:sp>
        <p:nvSpPr>
          <p:cNvPr id="7" name="anim-g1-1968"/>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969"/>
          <p:cNvSpPr/>
          <p:nvPr/>
        </p:nvSpPr>
        <p:spPr>
          <a:xfrm>
            <a:off x="9747618" y="2423160"/>
            <a:ext cx="777240" cy="777240"/>
          </a:xfrm>
          <a:prstGeom prst="ellipse">
            <a:avLst/>
          </a:prstGeom>
          <a:solidFill>
            <a:srgbClr val="D9AE4B"/>
          </a:solidFill>
          <a:ln/>
        </p:spPr>
      </p:sp>
      <p:sp>
        <p:nvSpPr>
          <p:cNvPr id="9" name="anim-g1-1970"/>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971"/>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ترد ليلًا</a:t>
            </a:r>
            <a:endParaRPr lang="ar-SA" sz="2500" dirty="0"/>
          </a:p>
        </p:txBody>
      </p:sp>
      <p:sp>
        <p:nvSpPr>
          <p:cNvPr id="11" name="anim-g1-1972"/>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الانفعال أسوأ مستشار</a:t>
            </a:r>
            <a:endParaRPr lang="ar-SA" sz="1700" dirty="0"/>
          </a:p>
        </p:txBody>
      </p:sp>
      <p:sp>
        <p:nvSpPr>
          <p:cNvPr id="12" name="anim-g2-1973"/>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974"/>
          <p:cNvSpPr/>
          <p:nvPr/>
        </p:nvSpPr>
        <p:spPr>
          <a:xfrm>
            <a:off x="7054024" y="2423160"/>
            <a:ext cx="777240" cy="777240"/>
          </a:xfrm>
          <a:prstGeom prst="ellipse">
            <a:avLst/>
          </a:prstGeom>
          <a:solidFill>
            <a:srgbClr val="D9AE4B"/>
          </a:solidFill>
          <a:ln/>
        </p:spPr>
      </p:sp>
      <p:sp>
        <p:nvSpPr>
          <p:cNvPr id="14" name="anim-g2-1975"/>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976"/>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وثّق</a:t>
            </a:r>
            <a:endParaRPr lang="ar-SA" sz="2500" dirty="0"/>
          </a:p>
        </p:txBody>
      </p:sp>
      <p:sp>
        <p:nvSpPr>
          <p:cNvPr id="16" name="anim-g2-1977"/>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صورة للرسائل دون أي تعليق</a:t>
            </a:r>
            <a:endParaRPr lang="ar-SA" sz="1700" dirty="0"/>
          </a:p>
        </p:txBody>
      </p:sp>
      <p:sp>
        <p:nvSpPr>
          <p:cNvPr id="17" name="anim-g3-1978"/>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979"/>
          <p:cNvSpPr/>
          <p:nvPr/>
        </p:nvSpPr>
        <p:spPr>
          <a:xfrm>
            <a:off x="4360431" y="2423160"/>
            <a:ext cx="777240" cy="777240"/>
          </a:xfrm>
          <a:prstGeom prst="ellipse">
            <a:avLst/>
          </a:prstGeom>
          <a:solidFill>
            <a:srgbClr val="D9AE4B"/>
          </a:solidFill>
          <a:ln/>
        </p:spPr>
      </p:sp>
      <p:sp>
        <p:nvSpPr>
          <p:cNvPr id="19" name="anim-g3-1980"/>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981"/>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أبلغ الإدارة</a:t>
            </a:r>
            <a:endParaRPr lang="ar-SA" sz="2500" dirty="0"/>
          </a:p>
        </p:txBody>
      </p:sp>
      <p:sp>
        <p:nvSpPr>
          <p:cNvPr id="21" name="anim-g3-1982"/>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قبل أي تواصل مع الأم</a:t>
            </a:r>
            <a:endParaRPr lang="ar-SA" sz="1700" dirty="0"/>
          </a:p>
        </p:txBody>
      </p:sp>
      <p:sp>
        <p:nvSpPr>
          <p:cNvPr id="22" name="anim-g4-1983"/>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984"/>
          <p:cNvSpPr/>
          <p:nvPr/>
        </p:nvSpPr>
        <p:spPr>
          <a:xfrm>
            <a:off x="1666837" y="2423160"/>
            <a:ext cx="777240" cy="777240"/>
          </a:xfrm>
          <a:prstGeom prst="ellipse">
            <a:avLst/>
          </a:prstGeom>
          <a:solidFill>
            <a:srgbClr val="D9AE4B"/>
          </a:solidFill>
          <a:ln/>
        </p:spPr>
      </p:sp>
      <p:sp>
        <p:nvSpPr>
          <p:cNvPr id="24" name="anim-g4-1985"/>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986"/>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انفراد</a:t>
            </a:r>
            <a:endParaRPr lang="ar-SA" sz="2500" dirty="0"/>
          </a:p>
        </p:txBody>
      </p:sp>
      <p:sp>
        <p:nvSpPr>
          <p:cNvPr id="26" name="anim-g4-1987"/>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اتصال محترم يبدأ بالاستماع</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name="Slide 1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988"/>
          <p:cNvSpPr/>
          <p:nvPr/>
        </p:nvSpPr>
        <p:spPr>
          <a:xfrm>
            <a:off x="9768535" y="2130552"/>
            <a:ext cx="1600200" cy="819912"/>
          </a:xfrm>
          <a:prstGeom prst="roundRect">
            <a:avLst>
              <a:gd name="adj" fmla="val 16729"/>
            </a:avLst>
          </a:prstGeom>
          <a:solidFill>
            <a:srgbClr val="E9EDF9"/>
          </a:solidFill>
          <a:ln/>
        </p:spPr>
      </p:sp>
      <p:sp>
        <p:nvSpPr>
          <p:cNvPr id="6" name="anim-g1-1989"/>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في القروب (بعد الإدارة)</a:t>
            </a:r>
            <a:endParaRPr lang="ar-SA" sz="1400" dirty="0"/>
          </a:p>
        </p:txBody>
      </p:sp>
      <p:sp>
        <p:nvSpPr>
          <p:cNvPr id="7" name="anim-g1-1990"/>
          <p:cNvSpPr/>
          <p:nvPr/>
        </p:nvSpPr>
        <p:spPr>
          <a:xfrm>
            <a:off x="822960" y="2057400"/>
            <a:ext cx="8716975" cy="966216"/>
          </a:xfrm>
          <a:prstGeom prst="roundRect">
            <a:avLst>
              <a:gd name="adj" fmla="val 20820"/>
            </a:avLst>
          </a:prstGeom>
          <a:solidFill>
            <a:srgbClr val="101B45"/>
          </a:solidFill>
          <a:ln/>
        </p:spPr>
      </p:sp>
      <p:sp>
        <p:nvSpPr>
          <p:cNvPr id="8" name="anim-g1-1991"/>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أهلًا بكم، يسعدني التواصل مع أي ولي أمر مباشرة لمناقشة أي ملاحظة. شكرًا لكم</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9" name="anim-g2-1992"/>
          <p:cNvSpPr/>
          <p:nvPr/>
        </p:nvSpPr>
        <p:spPr>
          <a:xfrm>
            <a:off x="9768535" y="3243072"/>
            <a:ext cx="1600200" cy="819912"/>
          </a:xfrm>
          <a:prstGeom prst="roundRect">
            <a:avLst>
              <a:gd name="adj" fmla="val 16729"/>
            </a:avLst>
          </a:prstGeom>
          <a:solidFill>
            <a:srgbClr val="E9EDF9"/>
          </a:solidFill>
          <a:ln/>
        </p:spPr>
      </p:sp>
      <p:sp>
        <p:nvSpPr>
          <p:cNvPr id="10" name="anim-g2-1993"/>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للأم على انفراد</a:t>
            </a:r>
            <a:endParaRPr lang="ar-SA" sz="1400" dirty="0"/>
          </a:p>
        </p:txBody>
      </p:sp>
      <p:sp>
        <p:nvSpPr>
          <p:cNvPr id="11" name="anim-g2-1994"/>
          <p:cNvSpPr/>
          <p:nvPr/>
        </p:nvSpPr>
        <p:spPr>
          <a:xfrm>
            <a:off x="822960" y="3169920"/>
            <a:ext cx="8716975" cy="966216"/>
          </a:xfrm>
          <a:prstGeom prst="roundRect">
            <a:avLst>
              <a:gd name="adj" fmla="val 20820"/>
            </a:avLst>
          </a:prstGeom>
          <a:solidFill>
            <a:srgbClr val="101B45"/>
          </a:solidFill>
          <a:ln/>
        </p:spPr>
      </p:sp>
      <p:sp>
        <p:nvSpPr>
          <p:cNvPr id="12" name="anim-g2-1995"/>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قرأت رسالتك، ويهمني أن أفهم ما حدث. هل نراجع ورقة ابنتك معًا؟</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3" name="anim-g3-1996"/>
          <p:cNvSpPr/>
          <p:nvPr/>
        </p:nvSpPr>
        <p:spPr>
          <a:xfrm>
            <a:off x="9768535" y="4355592"/>
            <a:ext cx="1600200" cy="819912"/>
          </a:xfrm>
          <a:prstGeom prst="roundRect">
            <a:avLst>
              <a:gd name="adj" fmla="val 16729"/>
            </a:avLst>
          </a:prstGeom>
          <a:solidFill>
            <a:srgbClr val="E9EDF9"/>
          </a:solidFill>
          <a:ln/>
        </p:spPr>
      </p:sp>
      <p:sp>
        <p:nvSpPr>
          <p:cNvPr id="14" name="anim-g3-1997"/>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بعد التوضيح</a:t>
            </a:r>
            <a:endParaRPr lang="ar-SA" sz="1400" dirty="0"/>
          </a:p>
        </p:txBody>
      </p:sp>
      <p:sp>
        <p:nvSpPr>
          <p:cNvPr id="15" name="anim-g3-1998"/>
          <p:cNvSpPr/>
          <p:nvPr/>
        </p:nvSpPr>
        <p:spPr>
          <a:xfrm>
            <a:off x="822960" y="4282440"/>
            <a:ext cx="8716975" cy="966216"/>
          </a:xfrm>
          <a:prstGeom prst="roundRect">
            <a:avLst>
              <a:gd name="adj" fmla="val 20820"/>
            </a:avLst>
          </a:prstGeom>
          <a:solidFill>
            <a:srgbClr val="101B45"/>
          </a:solidFill>
          <a:ln/>
        </p:spPr>
      </p:sp>
      <p:sp>
        <p:nvSpPr>
          <p:cNvPr id="16" name="anim-g3-1999"/>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أتمنى في المرة القادمة أن تتواصلي معي مباشرة، فبابي مفتوح دائمًا</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7" name="anim-g4-2000"/>
          <p:cNvSpPr/>
          <p:nvPr/>
        </p:nvSpPr>
        <p:spPr>
          <a:xfrm>
            <a:off x="822960" y="5532120"/>
            <a:ext cx="10545775" cy="548640"/>
          </a:xfrm>
          <a:prstGeom prst="roundRect">
            <a:avLst>
              <a:gd name="adj" fmla="val 20000"/>
            </a:avLst>
          </a:prstGeom>
          <a:solidFill>
            <a:srgbClr val="FBECEC"/>
          </a:solidFill>
          <a:ln/>
        </p:spPr>
      </p:sp>
      <p:sp>
        <p:nvSpPr>
          <p:cNvPr id="18" name="anim-g4-2001"/>
          <p:cNvSpPr/>
          <p:nvPr/>
        </p:nvSpPr>
        <p:spPr>
          <a:xfrm>
            <a:off x="11295583" y="5532120"/>
            <a:ext cx="73152" cy="548640"/>
          </a:xfrm>
          <a:prstGeom prst="rect">
            <a:avLst/>
          </a:prstGeom>
          <a:solidFill>
            <a:srgbClr val="D64545"/>
          </a:solidFill>
          <a:ln/>
        </p:spPr>
      </p:sp>
      <p:sp>
        <p:nvSpPr>
          <p:cNvPr id="19" name="anim-g4-2002"/>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ذكر الدرجات أو التفاصيل في القروب — خصوصية الطالبة أولًا</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name="Slide 1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003"/>
          <p:cNvSpPr/>
          <p:nvPr/>
        </p:nvSpPr>
        <p:spPr>
          <a:xfrm>
            <a:off x="6415888" y="2194560"/>
            <a:ext cx="4952848" cy="804672"/>
          </a:xfrm>
          <a:prstGeom prst="roundRect">
            <a:avLst>
              <a:gd name="adj" fmla="val 15909"/>
            </a:avLst>
          </a:prstGeom>
          <a:solidFill>
            <a:srgbClr val="FBECEC"/>
          </a:solidFill>
          <a:ln/>
        </p:spPr>
      </p:sp>
      <p:sp>
        <p:nvSpPr>
          <p:cNvPr id="6" name="anim-g1-2004"/>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الرد الليلي المنفعل</a:t>
            </a:r>
            <a:endParaRPr lang="ar-SA" sz="1900" dirty="0"/>
          </a:p>
        </p:txBody>
      </p:sp>
      <p:sp>
        <p:nvSpPr>
          <p:cNvPr id="7" name="anim-g1-2005"/>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006"/>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2007"/>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008"/>
          <p:cNvSpPr/>
          <p:nvPr/>
        </p:nvSpPr>
        <p:spPr>
          <a:xfrm>
            <a:off x="822960" y="2194560"/>
            <a:ext cx="4952848" cy="804672"/>
          </a:xfrm>
          <a:prstGeom prst="roundRect">
            <a:avLst>
              <a:gd name="adj" fmla="val 15909"/>
            </a:avLst>
          </a:prstGeom>
          <a:solidFill>
            <a:srgbClr val="E6F4EC"/>
          </a:solidFill>
          <a:ln/>
        </p:spPr>
      </p:sp>
      <p:sp>
        <p:nvSpPr>
          <p:cNvPr id="11" name="anim-g2-2009"/>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رد هادئ في الصباح بعد التفكير</a:t>
            </a:r>
            <a:endParaRPr lang="ar-SA" sz="1900" dirty="0"/>
          </a:p>
        </p:txBody>
      </p:sp>
      <p:sp>
        <p:nvSpPr>
          <p:cNvPr id="12" name="anim-g3-2010"/>
          <p:cNvSpPr/>
          <p:nvPr/>
        </p:nvSpPr>
        <p:spPr>
          <a:xfrm>
            <a:off x="6415888" y="3154680"/>
            <a:ext cx="4952848" cy="804672"/>
          </a:xfrm>
          <a:prstGeom prst="roundRect">
            <a:avLst>
              <a:gd name="adj" fmla="val 15909"/>
            </a:avLst>
          </a:prstGeom>
          <a:solidFill>
            <a:srgbClr val="FBECEC"/>
          </a:solidFill>
          <a:ln/>
        </p:spPr>
      </p:sp>
      <p:sp>
        <p:nvSpPr>
          <p:cNvPr id="13" name="anim-g3-2011"/>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الدفاع العلني بالتفاصيل</a:t>
            </a:r>
            <a:endParaRPr lang="ar-SA" sz="1900" dirty="0"/>
          </a:p>
        </p:txBody>
      </p:sp>
      <p:sp>
        <p:nvSpPr>
          <p:cNvPr id="14" name="anim-g3-2012"/>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013"/>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2014"/>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015"/>
          <p:cNvSpPr/>
          <p:nvPr/>
        </p:nvSpPr>
        <p:spPr>
          <a:xfrm>
            <a:off x="822960" y="3154680"/>
            <a:ext cx="4952848" cy="804672"/>
          </a:xfrm>
          <a:prstGeom prst="roundRect">
            <a:avLst>
              <a:gd name="adj" fmla="val 15909"/>
            </a:avLst>
          </a:prstGeom>
          <a:solidFill>
            <a:srgbClr val="E6F4EC"/>
          </a:solidFill>
          <a:ln/>
        </p:spPr>
      </p:sp>
      <p:sp>
        <p:nvSpPr>
          <p:cNvPr id="18" name="anim-g4-2016"/>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حوار خاص مع الأم فقط</a:t>
            </a:r>
            <a:endParaRPr lang="ar-SA" sz="1900" dirty="0"/>
          </a:p>
        </p:txBody>
      </p:sp>
      <p:sp>
        <p:nvSpPr>
          <p:cNvPr id="19" name="anim-g5-2017"/>
          <p:cNvSpPr/>
          <p:nvPr/>
        </p:nvSpPr>
        <p:spPr>
          <a:xfrm>
            <a:off x="6415888" y="4114800"/>
            <a:ext cx="4952848" cy="804672"/>
          </a:xfrm>
          <a:prstGeom prst="roundRect">
            <a:avLst>
              <a:gd name="adj" fmla="val 15909"/>
            </a:avLst>
          </a:prstGeom>
          <a:solidFill>
            <a:srgbClr val="FBECEC"/>
          </a:solidFill>
          <a:ln/>
        </p:spPr>
      </p:sp>
      <p:sp>
        <p:nvSpPr>
          <p:cNvPr id="20" name="anim-g5-2018"/>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التصرف دون علم الإدارة</a:t>
            </a:r>
            <a:endParaRPr lang="ar-SA" sz="1900" dirty="0"/>
          </a:p>
        </p:txBody>
      </p:sp>
      <p:sp>
        <p:nvSpPr>
          <p:cNvPr id="21" name="anim-g5-2019"/>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020"/>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2021"/>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022"/>
          <p:cNvSpPr/>
          <p:nvPr/>
        </p:nvSpPr>
        <p:spPr>
          <a:xfrm>
            <a:off x="822960" y="4114800"/>
            <a:ext cx="4952848" cy="804672"/>
          </a:xfrm>
          <a:prstGeom prst="roundRect">
            <a:avLst>
              <a:gd name="adj" fmla="val 15909"/>
            </a:avLst>
          </a:prstGeom>
          <a:solidFill>
            <a:srgbClr val="E6F4EC"/>
          </a:solidFill>
          <a:ln/>
        </p:spPr>
      </p:sp>
      <p:sp>
        <p:nvSpPr>
          <p:cNvPr id="25" name="anim-g6-2023"/>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إبلاغ الإدارة وتوثيق كل شيء</a:t>
            </a:r>
            <a:endParaRPr lang="ar-SA" sz="1900" dirty="0"/>
          </a:p>
        </p:txBody>
      </p:sp>
      <p:sp>
        <p:nvSpPr>
          <p:cNvPr id="26" name="anim-g7-2024"/>
          <p:cNvSpPr/>
          <p:nvPr/>
        </p:nvSpPr>
        <p:spPr>
          <a:xfrm>
            <a:off x="6415888" y="5074920"/>
            <a:ext cx="4952848" cy="804672"/>
          </a:xfrm>
          <a:prstGeom prst="roundRect">
            <a:avLst>
              <a:gd name="adj" fmla="val 15909"/>
            </a:avLst>
          </a:prstGeom>
          <a:solidFill>
            <a:srgbClr val="FBECEC"/>
          </a:solidFill>
          <a:ln/>
        </p:spPr>
      </p:sp>
      <p:sp>
        <p:nvSpPr>
          <p:cNvPr id="27" name="anim-g7-2025"/>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قروب بلا قواعد</a:t>
            </a:r>
            <a:endParaRPr lang="ar-SA" sz="1900" dirty="0"/>
          </a:p>
        </p:txBody>
      </p:sp>
      <p:sp>
        <p:nvSpPr>
          <p:cNvPr id="28" name="anim-g7-2026"/>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027"/>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2028"/>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029"/>
          <p:cNvSpPr/>
          <p:nvPr/>
        </p:nvSpPr>
        <p:spPr>
          <a:xfrm>
            <a:off x="822960" y="5074920"/>
            <a:ext cx="4952848" cy="804672"/>
          </a:xfrm>
          <a:prstGeom prst="roundRect">
            <a:avLst>
              <a:gd name="adj" fmla="val 15909"/>
            </a:avLst>
          </a:prstGeom>
          <a:solidFill>
            <a:srgbClr val="E6F4EC"/>
          </a:solidFill>
          <a:ln/>
        </p:spPr>
      </p:sp>
      <p:sp>
        <p:nvSpPr>
          <p:cNvPr id="32" name="anim-g8-2030"/>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ميثاق للقروب يُعلن من البداية</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name="Slide 1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أطفئ الجمهور أولًا…</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ثم عالج الشكوى</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رسالة في القروب  ·  ١٧٠</a:t>
            </a:r>
            <a:endParaRPr lang="ar-SA" sz="12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031" descr="/Users/mac/Desktop/أردوينو/المشاريع والكتب/younes-training/mawaqif/assets/scenes/smartboard.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١٥</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من يتحكم بالسبورة؟</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من يتحكم بالسبورة؟  ·  ١٧١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p:cSld name="Slide 1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2032"/>
          <p:cNvSpPr/>
          <p:nvPr/>
        </p:nvSpPr>
        <p:spPr>
          <a:xfrm>
            <a:off x="11323015" y="2011680"/>
            <a:ext cx="45720" cy="845820"/>
          </a:xfrm>
          <a:prstGeom prst="rect">
            <a:avLst/>
          </a:prstGeom>
          <a:solidFill>
            <a:srgbClr val="E4DCC8"/>
          </a:solidFill>
          <a:ln/>
        </p:spPr>
      </p:sp>
      <p:sp>
        <p:nvSpPr>
          <p:cNvPr id="6" name="anim-g1-2033"/>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بدأت أ. أمل عرض الدرس على السبورة الذكية، فظهرت فجأة ملصقات ووجوه ضاحكة تملأ الشاشة.</a:t>
            </a:r>
            <a:endParaRPr lang="ar-SA" sz="1700" dirty="0"/>
          </a:p>
        </p:txBody>
      </p:sp>
      <p:sp>
        <p:nvSpPr>
          <p:cNvPr id="7" name="anim-g2-2034"/>
          <p:cNvSpPr/>
          <p:nvPr/>
        </p:nvSpPr>
        <p:spPr>
          <a:xfrm>
            <a:off x="11323015" y="3040380"/>
            <a:ext cx="45720" cy="845820"/>
          </a:xfrm>
          <a:prstGeom prst="rect">
            <a:avLst/>
          </a:prstGeom>
          <a:solidFill>
            <a:srgbClr val="E4DCC8"/>
          </a:solidFill>
          <a:ln/>
        </p:spPr>
      </p:sp>
      <p:sp>
        <p:nvSpPr>
          <p:cNvPr id="8" name="anim-g2-2035"/>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ضغطت على جهاز التحكم فلم يستجب، ثم انتقل العرض وحده إلى صفحة أخرى.</a:t>
            </a:r>
            <a:endParaRPr lang="ar-SA" sz="1700" dirty="0"/>
          </a:p>
        </p:txBody>
      </p:sp>
      <p:sp>
        <p:nvSpPr>
          <p:cNvPr id="9" name="anim-g3-2036"/>
          <p:cNvSpPr/>
          <p:nvPr/>
        </p:nvSpPr>
        <p:spPr>
          <a:xfrm>
            <a:off x="11323015" y="4069080"/>
            <a:ext cx="45720" cy="845820"/>
          </a:xfrm>
          <a:prstGeom prst="rect">
            <a:avLst/>
          </a:prstGeom>
          <a:solidFill>
            <a:srgbClr val="E4DCC8"/>
          </a:solidFill>
          <a:ln/>
        </p:spPr>
      </p:sp>
      <p:sp>
        <p:nvSpPr>
          <p:cNvPr id="10" name="anim-g3-2037"/>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كانت بعض طالبات الثاني المتوسط قد اتصلن بالسبورة من جوالاتهن عبر خاصية العرض اللاسلكي، والضحكات المكتومة تملأ الفصل.</a:t>
            </a:r>
            <a:endParaRPr lang="ar-SA" sz="1700" dirty="0"/>
          </a:p>
        </p:txBody>
      </p:sp>
      <p:sp>
        <p:nvSpPr>
          <p:cNvPr id="11" name="anim-g4-2038"/>
          <p:cNvSpPr/>
          <p:nvPr/>
        </p:nvSpPr>
        <p:spPr>
          <a:xfrm>
            <a:off x="11323015" y="5097780"/>
            <a:ext cx="45720" cy="845820"/>
          </a:xfrm>
          <a:prstGeom prst="rect">
            <a:avLst/>
          </a:prstGeom>
          <a:solidFill>
            <a:srgbClr val="D64545"/>
          </a:solidFill>
          <a:ln/>
        </p:spPr>
      </p:sp>
      <p:sp>
        <p:nvSpPr>
          <p:cNvPr id="12" name="anim-g4-2039"/>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ضاع ربع الحصة… وأ. أمل لا تعرف من يتحكم، ولا كيف توقفه.</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smartboard.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name="Slide 1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أمل؟</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تغلق السبورة وتلغي الشرح الإلكتروني نهائيًا</a:t>
            </a:r>
            <a:endParaRPr lang="ar-SA" sz="1900" dirty="0"/>
          </a:p>
        </p:txBody>
      </p:sp>
      <p:sp>
        <p:nvSpPr>
          <p:cNvPr id="9" name="anim-g1-2040"/>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2041"/>
          <p:cNvSpPr/>
          <p:nvPr/>
        </p:nvSpPr>
        <p:spPr>
          <a:xfrm>
            <a:off x="10575493" y="2194560"/>
            <a:ext cx="610362" cy="610362"/>
          </a:xfrm>
          <a:prstGeom prst="roundRect">
            <a:avLst>
              <a:gd name="adj" fmla="val 17978"/>
            </a:avLst>
          </a:prstGeom>
          <a:solidFill>
            <a:srgbClr val="A3A9BA"/>
          </a:solidFill>
          <a:ln/>
        </p:spPr>
      </p:sp>
      <p:sp>
        <p:nvSpPr>
          <p:cNvPr id="11" name="anim-g1-2042"/>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2043"/>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تغلق السبورة وتلغي الشرح الإلكتروني نهائيًا</a:t>
            </a:r>
            <a:endParaRPr lang="ar-SA" sz="1700" dirty="0"/>
          </a:p>
        </p:txBody>
      </p:sp>
      <p:sp>
        <p:nvSpPr>
          <p:cNvPr id="13" name="anim-g1-2044"/>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الاستسلام للتقنية يحرم الطالبات من أداة مفيدة</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تصرخ وتفتش جوالات الطالبات</a:t>
            </a:r>
            <a:endParaRPr lang="ar-SA" sz="1900" dirty="0"/>
          </a:p>
        </p:txBody>
      </p:sp>
      <p:sp>
        <p:nvSpPr>
          <p:cNvPr id="18" name="anim-g1-2045"/>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2046"/>
          <p:cNvSpPr/>
          <p:nvPr/>
        </p:nvSpPr>
        <p:spPr>
          <a:xfrm>
            <a:off x="10575493" y="3225546"/>
            <a:ext cx="610362" cy="610362"/>
          </a:xfrm>
          <a:prstGeom prst="roundRect">
            <a:avLst>
              <a:gd name="adj" fmla="val 17978"/>
            </a:avLst>
          </a:prstGeom>
          <a:solidFill>
            <a:srgbClr val="A3A9BA"/>
          </a:solidFill>
          <a:ln/>
        </p:spPr>
      </p:sp>
      <p:sp>
        <p:nvSpPr>
          <p:cNvPr id="20" name="anim-g1-2047"/>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2048"/>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تصرخ وتفتش جوالات الطالبات</a:t>
            </a:r>
            <a:endParaRPr lang="ar-SA" sz="1700" dirty="0"/>
          </a:p>
        </p:txBody>
      </p:sp>
      <p:sp>
        <p:nvSpPr>
          <p:cNvPr id="22" name="anim-g1-2049"/>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التفتيش يحوّل الموقف إلى معركة، والصراخ يمنحهن ما أردن</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توقف الاتصال بهدوء، وتكمل، ثم تضع قاعدة وتؤمّن الجهاز</a:t>
            </a:r>
            <a:endParaRPr lang="ar-SA" sz="1900" dirty="0"/>
          </a:p>
        </p:txBody>
      </p:sp>
      <p:sp>
        <p:nvSpPr>
          <p:cNvPr id="27" name="anim-g1-2050"/>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2051"/>
          <p:cNvSpPr/>
          <p:nvPr/>
        </p:nvSpPr>
        <p:spPr>
          <a:xfrm>
            <a:off x="10575493" y="4256532"/>
            <a:ext cx="610362" cy="610362"/>
          </a:xfrm>
          <a:prstGeom prst="roundRect">
            <a:avLst>
              <a:gd name="adj" fmla="val 17978"/>
            </a:avLst>
          </a:prstGeom>
          <a:solidFill>
            <a:srgbClr val="2E9E6B"/>
          </a:solidFill>
          <a:ln/>
        </p:spPr>
      </p:sp>
      <p:sp>
        <p:nvSpPr>
          <p:cNvPr id="29" name="anim-g1-2052"/>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2053"/>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توقف الاتصال بهدوء، وتكمل، ثم تضع قاعدة وتؤمّن الجهاز</a:t>
            </a:r>
            <a:endParaRPr lang="ar-SA" sz="1700" dirty="0"/>
          </a:p>
        </p:txBody>
      </p:sp>
      <p:sp>
        <p:nvSpPr>
          <p:cNvPr id="31" name="anim-g1-2054"/>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المشكلة تقنية قبل أن تكون سلوكية، والحل تقني وسلوكي معًا</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تتجاهل وتحاول الشرح وسط الفوضى</a:t>
            </a:r>
            <a:endParaRPr lang="ar-SA" sz="1900" dirty="0"/>
          </a:p>
        </p:txBody>
      </p:sp>
      <p:sp>
        <p:nvSpPr>
          <p:cNvPr id="36" name="anim-g1-2055"/>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2056"/>
          <p:cNvSpPr/>
          <p:nvPr/>
        </p:nvSpPr>
        <p:spPr>
          <a:xfrm>
            <a:off x="10575493" y="5287518"/>
            <a:ext cx="610362" cy="610362"/>
          </a:xfrm>
          <a:prstGeom prst="roundRect">
            <a:avLst>
              <a:gd name="adj" fmla="val 17978"/>
            </a:avLst>
          </a:prstGeom>
          <a:solidFill>
            <a:srgbClr val="A3A9BA"/>
          </a:solidFill>
          <a:ln/>
        </p:spPr>
      </p:sp>
      <p:sp>
        <p:nvSpPr>
          <p:cNvPr id="38" name="anim-g1-2057"/>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2058"/>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تتجاهل وتحاول الشرح وسط الفوضى</a:t>
            </a:r>
            <a:endParaRPr lang="ar-SA" sz="1700" dirty="0"/>
          </a:p>
        </p:txBody>
      </p:sp>
      <p:sp>
        <p:nvSpPr>
          <p:cNvPr id="40" name="anim-g1-2059"/>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كل دقيقة فوضى تعلّم الفصل أن هذا مقبول</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name="Slide 1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حدث هذا؟</a:t>
            </a:r>
            <a:endParaRPr lang="ar-SA" sz="3800" dirty="0"/>
          </a:p>
        </p:txBody>
      </p:sp>
      <p:sp>
        <p:nvSpPr>
          <p:cNvPr id="5" name="anim-g1-2060"/>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2061"/>
          <p:cNvSpPr/>
          <p:nvPr/>
        </p:nvSpPr>
        <p:spPr>
          <a:xfrm>
            <a:off x="9816198" y="2194560"/>
            <a:ext cx="640080" cy="640080"/>
          </a:xfrm>
          <a:prstGeom prst="roundRect">
            <a:avLst>
              <a:gd name="adj" fmla="val 25714"/>
            </a:avLst>
          </a:prstGeom>
          <a:solidFill>
            <a:srgbClr val="F7E6BC"/>
          </a:solidFill>
          <a:ln/>
        </p:spPr>
      </p:sp>
      <p:sp>
        <p:nvSpPr>
          <p:cNvPr id="7" name="anim-g1-2062"/>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2063"/>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جهاز مفتوح</a:t>
            </a:r>
            <a:endParaRPr lang="ar-SA" sz="2200" dirty="0"/>
          </a:p>
        </p:txBody>
      </p:sp>
      <p:sp>
        <p:nvSpPr>
          <p:cNvPr id="9" name="anim-g1-2064"/>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العرض اللاسلكي متاح بلا رمز</a:t>
            </a:r>
            <a:endParaRPr lang="ar-SA" sz="1600" dirty="0"/>
          </a:p>
        </p:txBody>
      </p:sp>
      <p:sp>
        <p:nvSpPr>
          <p:cNvPr id="10" name="anim-g2-2065"/>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2066"/>
          <p:cNvSpPr/>
          <p:nvPr/>
        </p:nvSpPr>
        <p:spPr>
          <a:xfrm>
            <a:off x="7122604" y="2194560"/>
            <a:ext cx="640080" cy="640080"/>
          </a:xfrm>
          <a:prstGeom prst="roundRect">
            <a:avLst>
              <a:gd name="adj" fmla="val 25714"/>
            </a:avLst>
          </a:prstGeom>
          <a:solidFill>
            <a:srgbClr val="F7E6BC"/>
          </a:solidFill>
          <a:ln/>
        </p:spPr>
      </p:sp>
      <p:sp>
        <p:nvSpPr>
          <p:cNvPr id="12" name="anim-g2-2067"/>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2068"/>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مهارة تقنية</a:t>
            </a:r>
            <a:endParaRPr lang="ar-SA" sz="2200" dirty="0"/>
          </a:p>
        </p:txBody>
      </p:sp>
      <p:sp>
        <p:nvSpPr>
          <p:cNvPr id="14" name="anim-g2-2069"/>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الطالبات يعرفن التقنية أحيانًا أكثر منا</a:t>
            </a:r>
            <a:endParaRPr lang="ar-SA" sz="1600" dirty="0"/>
          </a:p>
        </p:txBody>
      </p:sp>
      <p:sp>
        <p:nvSpPr>
          <p:cNvPr id="15" name="anim-g3-2070"/>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2071"/>
          <p:cNvSpPr/>
          <p:nvPr/>
        </p:nvSpPr>
        <p:spPr>
          <a:xfrm>
            <a:off x="4429011" y="2194560"/>
            <a:ext cx="640080" cy="640080"/>
          </a:xfrm>
          <a:prstGeom prst="roundRect">
            <a:avLst>
              <a:gd name="adj" fmla="val 25714"/>
            </a:avLst>
          </a:prstGeom>
          <a:solidFill>
            <a:srgbClr val="F7E6BC"/>
          </a:solidFill>
          <a:ln/>
        </p:spPr>
      </p:sp>
      <p:sp>
        <p:nvSpPr>
          <p:cNvPr id="17" name="anim-g3-2072"/>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2073"/>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تسلية</a:t>
            </a:r>
            <a:endParaRPr lang="ar-SA" sz="2200" dirty="0"/>
          </a:p>
        </p:txBody>
      </p:sp>
      <p:sp>
        <p:nvSpPr>
          <p:cNvPr id="19" name="anim-g3-2074"/>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مغامرة جماعية ممتعة</a:t>
            </a:r>
            <a:endParaRPr lang="ar-SA" sz="1600" dirty="0"/>
          </a:p>
        </p:txBody>
      </p:sp>
      <p:sp>
        <p:nvSpPr>
          <p:cNvPr id="20" name="anim-g4-2075"/>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2076"/>
          <p:cNvSpPr/>
          <p:nvPr/>
        </p:nvSpPr>
        <p:spPr>
          <a:xfrm>
            <a:off x="1735417" y="2194560"/>
            <a:ext cx="640080" cy="640080"/>
          </a:xfrm>
          <a:prstGeom prst="roundRect">
            <a:avLst>
              <a:gd name="adj" fmla="val 25714"/>
            </a:avLst>
          </a:prstGeom>
          <a:solidFill>
            <a:srgbClr val="F7E6BC"/>
          </a:solidFill>
          <a:ln/>
        </p:spPr>
      </p:sp>
      <p:sp>
        <p:nvSpPr>
          <p:cNvPr id="22" name="anim-g4-2077"/>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2078"/>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غياب قاعدة</a:t>
            </a:r>
            <a:endParaRPr lang="ar-SA" sz="2200" dirty="0"/>
          </a:p>
        </p:txBody>
      </p:sp>
      <p:sp>
        <p:nvSpPr>
          <p:cNvPr id="24" name="anim-g4-2079"/>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لم يُتفق على استخدام الأجهزة</a:t>
            </a:r>
            <a:endParaRPr lang="ar-SA" sz="1600" dirty="0"/>
          </a:p>
        </p:txBody>
      </p:sp>
      <p:sp>
        <p:nvSpPr>
          <p:cNvPr id="25" name="anim-g5-2080"/>
          <p:cNvSpPr/>
          <p:nvPr/>
        </p:nvSpPr>
        <p:spPr>
          <a:xfrm>
            <a:off x="822960" y="4754880"/>
            <a:ext cx="10545775" cy="1051560"/>
          </a:xfrm>
          <a:prstGeom prst="roundRect">
            <a:avLst>
              <a:gd name="adj" fmla="val 17391"/>
            </a:avLst>
          </a:prstGeom>
          <a:solidFill>
            <a:srgbClr val="101B45"/>
          </a:solidFill>
          <a:ln/>
        </p:spPr>
      </p:sp>
      <p:sp>
        <p:nvSpPr>
          <p:cNvPr id="26" name="anim-g5-2081"/>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السيطرة على الفصل اليوم…</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تبدأ من إعدادات الجهاز</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name="Slide 1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ماذا تفعل فورًا؟</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2082"/>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083"/>
          <p:cNvSpPr/>
          <p:nvPr/>
        </p:nvSpPr>
        <p:spPr>
          <a:xfrm>
            <a:off x="9747618" y="2423160"/>
            <a:ext cx="777240" cy="777240"/>
          </a:xfrm>
          <a:prstGeom prst="ellipse">
            <a:avLst/>
          </a:prstGeom>
          <a:solidFill>
            <a:srgbClr val="D9AE4B"/>
          </a:solidFill>
          <a:ln/>
        </p:spPr>
      </p:sp>
      <p:sp>
        <p:nvSpPr>
          <p:cNvPr id="9" name="anim-g1-2084"/>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085"/>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بلا انفعال</a:t>
            </a:r>
            <a:endParaRPr lang="ar-SA" sz="2500" dirty="0"/>
          </a:p>
        </p:txBody>
      </p:sp>
      <p:sp>
        <p:nvSpPr>
          <p:cNvPr id="11" name="anim-g1-2086"/>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ابتسامة: «عندنا مبرمجات موهوبات!»</a:t>
            </a:r>
            <a:endParaRPr lang="ar-SA" sz="1700" dirty="0"/>
          </a:p>
        </p:txBody>
      </p:sp>
      <p:sp>
        <p:nvSpPr>
          <p:cNvPr id="12" name="anim-g2-2087"/>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088"/>
          <p:cNvSpPr/>
          <p:nvPr/>
        </p:nvSpPr>
        <p:spPr>
          <a:xfrm>
            <a:off x="7054024" y="2423160"/>
            <a:ext cx="777240" cy="777240"/>
          </a:xfrm>
          <a:prstGeom prst="ellipse">
            <a:avLst/>
          </a:prstGeom>
          <a:solidFill>
            <a:srgbClr val="D9AE4B"/>
          </a:solidFill>
          <a:ln/>
        </p:spPr>
      </p:sp>
      <p:sp>
        <p:nvSpPr>
          <p:cNvPr id="14" name="anim-g2-2089"/>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090"/>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افصل المصدر</a:t>
            </a:r>
            <a:endParaRPr lang="ar-SA" sz="2500" dirty="0"/>
          </a:p>
        </p:txBody>
      </p:sp>
      <p:sp>
        <p:nvSpPr>
          <p:cNvPr id="16" name="anim-g2-2091"/>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أوقف العرض اللاسلكي أو الشبكة مؤقتًا</a:t>
            </a:r>
            <a:endParaRPr lang="ar-SA" sz="1700" dirty="0"/>
          </a:p>
        </p:txBody>
      </p:sp>
      <p:sp>
        <p:nvSpPr>
          <p:cNvPr id="17" name="anim-g3-2092"/>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093"/>
          <p:cNvSpPr/>
          <p:nvPr/>
        </p:nvSpPr>
        <p:spPr>
          <a:xfrm>
            <a:off x="4360431" y="2423160"/>
            <a:ext cx="777240" cy="777240"/>
          </a:xfrm>
          <a:prstGeom prst="ellipse">
            <a:avLst/>
          </a:prstGeom>
          <a:solidFill>
            <a:srgbClr val="D9AE4B"/>
          </a:solidFill>
          <a:ln/>
        </p:spPr>
      </p:sp>
      <p:sp>
        <p:nvSpPr>
          <p:cNvPr id="19" name="anim-g3-2094"/>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095"/>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الجوالات جانبًا</a:t>
            </a:r>
            <a:endParaRPr lang="ar-SA" sz="2500" dirty="0"/>
          </a:p>
        </p:txBody>
      </p:sp>
      <p:sp>
        <p:nvSpPr>
          <p:cNvPr id="21" name="anim-g3-2096"/>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مقلوبة على الطاولات حتى نهاية الحصة</a:t>
            </a:r>
            <a:endParaRPr lang="ar-SA" sz="1700" dirty="0"/>
          </a:p>
        </p:txBody>
      </p:sp>
      <p:sp>
        <p:nvSpPr>
          <p:cNvPr id="22" name="anim-g4-2097"/>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098"/>
          <p:cNvSpPr/>
          <p:nvPr/>
        </p:nvSpPr>
        <p:spPr>
          <a:xfrm>
            <a:off x="1666837" y="2423160"/>
            <a:ext cx="777240" cy="777240"/>
          </a:xfrm>
          <a:prstGeom prst="ellipse">
            <a:avLst/>
          </a:prstGeom>
          <a:solidFill>
            <a:srgbClr val="D9AE4B"/>
          </a:solidFill>
          <a:ln/>
        </p:spPr>
      </p:sp>
      <p:sp>
        <p:nvSpPr>
          <p:cNvPr id="24" name="anim-g4-2099"/>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100"/>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أكملي</a:t>
            </a:r>
            <a:endParaRPr lang="ar-SA" sz="2500" dirty="0"/>
          </a:p>
        </p:txBody>
      </p:sp>
      <p:sp>
        <p:nvSpPr>
          <p:cNvPr id="26" name="anim-g4-2101"/>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بخطة بديلة جاهزة: ورقة أو سبورة عادية</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name="Slide 1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2102"/>
          <p:cNvSpPr/>
          <p:nvPr/>
        </p:nvSpPr>
        <p:spPr>
          <a:xfrm>
            <a:off x="9768535" y="2130552"/>
            <a:ext cx="1600200" cy="1018032"/>
          </a:xfrm>
          <a:prstGeom prst="roundRect">
            <a:avLst>
              <a:gd name="adj" fmla="val 13473"/>
            </a:avLst>
          </a:prstGeom>
          <a:solidFill>
            <a:srgbClr val="E9EDF9"/>
          </a:solidFill>
          <a:ln/>
        </p:spPr>
      </p:sp>
      <p:sp>
        <p:nvSpPr>
          <p:cNvPr id="6" name="anim-g1-2103"/>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للفصل بهدوء</a:t>
            </a:r>
            <a:endParaRPr lang="ar-SA" sz="1400" dirty="0"/>
          </a:p>
        </p:txBody>
      </p:sp>
      <p:sp>
        <p:nvSpPr>
          <p:cNvPr id="7" name="anim-g1-2104"/>
          <p:cNvSpPr/>
          <p:nvPr/>
        </p:nvSpPr>
        <p:spPr>
          <a:xfrm>
            <a:off x="822960" y="2057400"/>
            <a:ext cx="8716975" cy="1164336"/>
          </a:xfrm>
          <a:prstGeom prst="roundRect">
            <a:avLst>
              <a:gd name="adj" fmla="val 17277"/>
            </a:avLst>
          </a:prstGeom>
          <a:solidFill>
            <a:srgbClr val="101B45"/>
          </a:solidFill>
          <a:ln/>
        </p:spPr>
      </p:sp>
      <p:sp>
        <p:nvSpPr>
          <p:cNvPr id="8" name="anim-g1-2105"/>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واضح أن عندنا مبرمجات ماهرات! الجوالات مقلوبة على الطاولات الآن، ونكمل</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2106"/>
          <p:cNvSpPr/>
          <p:nvPr/>
        </p:nvSpPr>
        <p:spPr>
          <a:xfrm>
            <a:off x="9768535" y="3441192"/>
            <a:ext cx="1600200" cy="1018032"/>
          </a:xfrm>
          <a:prstGeom prst="roundRect">
            <a:avLst>
              <a:gd name="adj" fmla="val 13473"/>
            </a:avLst>
          </a:prstGeom>
          <a:solidFill>
            <a:srgbClr val="E9EDF9"/>
          </a:solidFill>
          <a:ln/>
        </p:spPr>
      </p:sp>
      <p:sp>
        <p:nvSpPr>
          <p:cNvPr id="10" name="anim-g2-2107"/>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بعد الحصة</a:t>
            </a:r>
            <a:endParaRPr lang="ar-SA" sz="1400" dirty="0"/>
          </a:p>
        </p:txBody>
      </p:sp>
      <p:sp>
        <p:nvSpPr>
          <p:cNvPr id="11" name="anim-g2-2108"/>
          <p:cNvSpPr/>
          <p:nvPr/>
        </p:nvSpPr>
        <p:spPr>
          <a:xfrm>
            <a:off x="822960" y="3368040"/>
            <a:ext cx="8716975" cy="1164336"/>
          </a:xfrm>
          <a:prstGeom prst="roundRect">
            <a:avLst>
              <a:gd name="adj" fmla="val 17277"/>
            </a:avLst>
          </a:prstGeom>
          <a:solidFill>
            <a:srgbClr val="101B45"/>
          </a:solidFill>
          <a:ln/>
        </p:spPr>
      </p:sp>
      <p:sp>
        <p:nvSpPr>
          <p:cNvPr id="12" name="anim-g2-2109"/>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مهارتكن التقنية رائعة، وأريدها لخدمة الفصل. من تساعدني في تجهيز العرض كل أسبوع؟</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3" name="anim-g3-2110"/>
          <p:cNvSpPr/>
          <p:nvPr/>
        </p:nvSpPr>
        <p:spPr>
          <a:xfrm>
            <a:off x="9768535" y="4751832"/>
            <a:ext cx="1600200" cy="1018032"/>
          </a:xfrm>
          <a:prstGeom prst="roundRect">
            <a:avLst>
              <a:gd name="adj" fmla="val 13473"/>
            </a:avLst>
          </a:prstGeom>
          <a:solidFill>
            <a:srgbClr val="E9EDF9"/>
          </a:solidFill>
          <a:ln/>
        </p:spPr>
      </p:sp>
      <p:sp>
        <p:nvSpPr>
          <p:cNvPr id="14" name="anim-g3-2111"/>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للدعم الفني</a:t>
            </a:r>
            <a:endParaRPr lang="ar-SA" sz="1400" dirty="0"/>
          </a:p>
        </p:txBody>
      </p:sp>
      <p:sp>
        <p:nvSpPr>
          <p:cNvPr id="15" name="anim-g3-2112"/>
          <p:cNvSpPr/>
          <p:nvPr/>
        </p:nvSpPr>
        <p:spPr>
          <a:xfrm>
            <a:off x="822960" y="4678680"/>
            <a:ext cx="8716975" cy="1164336"/>
          </a:xfrm>
          <a:prstGeom prst="roundRect">
            <a:avLst>
              <a:gd name="adj" fmla="val 17277"/>
            </a:avLst>
          </a:prstGeom>
          <a:solidFill>
            <a:srgbClr val="101B45"/>
          </a:solidFill>
          <a:ln/>
        </p:spPr>
      </p:sp>
      <p:sp>
        <p:nvSpPr>
          <p:cNvPr id="16" name="anim-g3-2113"/>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أحتاج رمز حماية للعرض اللاسلكي في سبورة فصلي، ومنع الاتصال إلا من جهازي</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77.xml><?xml version="1.0" encoding="utf-8"?>
<p:sld xmlns:a="http://schemas.openxmlformats.org/drawingml/2006/main" xmlns:r="http://schemas.openxmlformats.org/officeDocument/2006/relationships" xmlns:p="http://schemas.openxmlformats.org/presentationml/2006/main">
  <p:cSld name="Slide 1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114"/>
          <p:cNvSpPr/>
          <p:nvPr/>
        </p:nvSpPr>
        <p:spPr>
          <a:xfrm>
            <a:off x="6415888" y="2194560"/>
            <a:ext cx="4952848" cy="804672"/>
          </a:xfrm>
          <a:prstGeom prst="roundRect">
            <a:avLst>
              <a:gd name="adj" fmla="val 15909"/>
            </a:avLst>
          </a:prstGeom>
          <a:solidFill>
            <a:srgbClr val="FBECEC"/>
          </a:solidFill>
          <a:ln/>
        </p:spPr>
      </p:sp>
      <p:sp>
        <p:nvSpPr>
          <p:cNvPr id="6" name="anim-g1-2115"/>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إلغاء التقنية بسبب الموقف</a:t>
            </a:r>
            <a:endParaRPr lang="ar-SA" sz="1900" dirty="0"/>
          </a:p>
        </p:txBody>
      </p:sp>
      <p:sp>
        <p:nvSpPr>
          <p:cNvPr id="7" name="anim-g1-2116"/>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117"/>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2118"/>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119"/>
          <p:cNvSpPr/>
          <p:nvPr/>
        </p:nvSpPr>
        <p:spPr>
          <a:xfrm>
            <a:off x="822960" y="2194560"/>
            <a:ext cx="4952848" cy="804672"/>
          </a:xfrm>
          <a:prstGeom prst="roundRect">
            <a:avLst>
              <a:gd name="adj" fmla="val 15909"/>
            </a:avLst>
          </a:prstGeom>
          <a:solidFill>
            <a:srgbClr val="E6F4EC"/>
          </a:solidFill>
          <a:ln/>
        </p:spPr>
      </p:sp>
      <p:sp>
        <p:nvSpPr>
          <p:cNvPr id="11" name="anim-g2-2120"/>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تأمين الجهاز وقواعد استخدام واضحة</a:t>
            </a:r>
            <a:endParaRPr lang="ar-SA" sz="1900" dirty="0"/>
          </a:p>
        </p:txBody>
      </p:sp>
      <p:sp>
        <p:nvSpPr>
          <p:cNvPr id="12" name="anim-g3-2121"/>
          <p:cNvSpPr/>
          <p:nvPr/>
        </p:nvSpPr>
        <p:spPr>
          <a:xfrm>
            <a:off x="6415888" y="3154680"/>
            <a:ext cx="4952848" cy="804672"/>
          </a:xfrm>
          <a:prstGeom prst="roundRect">
            <a:avLst>
              <a:gd name="adj" fmla="val 15909"/>
            </a:avLst>
          </a:prstGeom>
          <a:solidFill>
            <a:srgbClr val="FBECEC"/>
          </a:solidFill>
          <a:ln/>
        </p:spPr>
      </p:sp>
      <p:sp>
        <p:nvSpPr>
          <p:cNvPr id="13" name="anim-g3-2122"/>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تفتيش الجوالات بحثًا عن الفاعلة</a:t>
            </a:r>
            <a:endParaRPr lang="ar-SA" sz="1900" dirty="0"/>
          </a:p>
        </p:txBody>
      </p:sp>
      <p:sp>
        <p:nvSpPr>
          <p:cNvPr id="14" name="anim-g3-2123"/>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124"/>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2125"/>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126"/>
          <p:cNvSpPr/>
          <p:nvPr/>
        </p:nvSpPr>
        <p:spPr>
          <a:xfrm>
            <a:off x="822960" y="3154680"/>
            <a:ext cx="4952848" cy="804672"/>
          </a:xfrm>
          <a:prstGeom prst="roundRect">
            <a:avLst>
              <a:gd name="adj" fmla="val 15909"/>
            </a:avLst>
          </a:prstGeom>
          <a:solidFill>
            <a:srgbClr val="E6F4EC"/>
          </a:solidFill>
          <a:ln/>
        </p:spPr>
      </p:sp>
      <p:sp>
        <p:nvSpPr>
          <p:cNvPr id="18" name="anim-g4-2127"/>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إجراء جماعي هادئ: الجوالات مقلوبة</a:t>
            </a:r>
            <a:endParaRPr lang="ar-SA" sz="1900" dirty="0"/>
          </a:p>
        </p:txBody>
      </p:sp>
      <p:sp>
        <p:nvSpPr>
          <p:cNvPr id="19" name="anim-g5-2128"/>
          <p:cNvSpPr/>
          <p:nvPr/>
        </p:nvSpPr>
        <p:spPr>
          <a:xfrm>
            <a:off x="6415888" y="4114800"/>
            <a:ext cx="4952848" cy="804672"/>
          </a:xfrm>
          <a:prstGeom prst="roundRect">
            <a:avLst>
              <a:gd name="adj" fmla="val 15909"/>
            </a:avLst>
          </a:prstGeom>
          <a:solidFill>
            <a:srgbClr val="FBECEC"/>
          </a:solidFill>
          <a:ln/>
        </p:spPr>
      </p:sp>
      <p:sp>
        <p:nvSpPr>
          <p:cNvPr id="20" name="anim-g5-2129"/>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الارتباك أمام الطالبات</a:t>
            </a:r>
            <a:endParaRPr lang="ar-SA" sz="1900" dirty="0"/>
          </a:p>
        </p:txBody>
      </p:sp>
      <p:sp>
        <p:nvSpPr>
          <p:cNvPr id="21" name="anim-g5-2130"/>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131"/>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2132"/>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133"/>
          <p:cNvSpPr/>
          <p:nvPr/>
        </p:nvSpPr>
        <p:spPr>
          <a:xfrm>
            <a:off x="822960" y="4114800"/>
            <a:ext cx="4952848" cy="804672"/>
          </a:xfrm>
          <a:prstGeom prst="roundRect">
            <a:avLst>
              <a:gd name="adj" fmla="val 15909"/>
            </a:avLst>
          </a:prstGeom>
          <a:solidFill>
            <a:srgbClr val="E6F4EC"/>
          </a:solidFill>
          <a:ln/>
        </p:spPr>
      </p:sp>
      <p:sp>
        <p:nvSpPr>
          <p:cNvPr id="25" name="anim-g6-2134"/>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خطة بديلة جاهزة دائمًا</a:t>
            </a:r>
            <a:endParaRPr lang="ar-SA" sz="1900" dirty="0"/>
          </a:p>
        </p:txBody>
      </p:sp>
      <p:sp>
        <p:nvSpPr>
          <p:cNvPr id="26" name="anim-g7-2135"/>
          <p:cNvSpPr/>
          <p:nvPr/>
        </p:nvSpPr>
        <p:spPr>
          <a:xfrm>
            <a:off x="6415888" y="5074920"/>
            <a:ext cx="4952848" cy="804672"/>
          </a:xfrm>
          <a:prstGeom prst="roundRect">
            <a:avLst>
              <a:gd name="adj" fmla="val 15909"/>
            </a:avLst>
          </a:prstGeom>
          <a:solidFill>
            <a:srgbClr val="FBECEC"/>
          </a:solidFill>
          <a:ln/>
        </p:spPr>
      </p:sp>
      <p:sp>
        <p:nvSpPr>
          <p:cNvPr id="27" name="anim-g7-2136"/>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تجاهل الموهبة التقنية</a:t>
            </a:r>
            <a:endParaRPr lang="ar-SA" sz="1900" dirty="0"/>
          </a:p>
        </p:txBody>
      </p:sp>
      <p:sp>
        <p:nvSpPr>
          <p:cNvPr id="28" name="anim-g7-2137"/>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138"/>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2139"/>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140"/>
          <p:cNvSpPr/>
          <p:nvPr/>
        </p:nvSpPr>
        <p:spPr>
          <a:xfrm>
            <a:off x="822960" y="5074920"/>
            <a:ext cx="4952848" cy="804672"/>
          </a:xfrm>
          <a:prstGeom prst="roundRect">
            <a:avLst>
              <a:gd name="adj" fmla="val 15909"/>
            </a:avLst>
          </a:prstGeom>
          <a:solidFill>
            <a:srgbClr val="E6F4EC"/>
          </a:solidFill>
          <a:ln/>
        </p:spPr>
      </p:sp>
      <p:sp>
        <p:nvSpPr>
          <p:cNvPr id="32" name="anim-g8-2141"/>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توظيفها: «مساعدة التقنية» في الفصل</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name="Slide 1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قائمة فحص قبل الحصة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أمّن سبورتك الذكية في خمس دقائق</a:t>
            </a:r>
            <a:endParaRPr lang="ar-SA" sz="3800" dirty="0"/>
          </a:p>
        </p:txBody>
      </p:sp>
      <p:sp>
        <p:nvSpPr>
          <p:cNvPr id="5" name="anim-g1-2142"/>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143"/>
          <p:cNvSpPr/>
          <p:nvPr/>
        </p:nvSpPr>
        <p:spPr>
          <a:xfrm>
            <a:off x="10362895" y="2404872"/>
            <a:ext cx="731520" cy="731520"/>
          </a:xfrm>
          <a:prstGeom prst="roundRect">
            <a:avLst>
              <a:gd name="adj" fmla="val 25000"/>
            </a:avLst>
          </a:prstGeom>
          <a:solidFill>
            <a:srgbClr val="F7E6BC"/>
          </a:solidFill>
          <a:ln/>
        </p:spPr>
      </p:sp>
      <p:sp>
        <p:nvSpPr>
          <p:cNvPr id="7" name="anim-g1-2144"/>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2145"/>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رمز للعرض اللاسلكي</a:t>
            </a:r>
            <a:endParaRPr lang="ar-SA" sz="2300" dirty="0"/>
          </a:p>
        </p:txBody>
      </p:sp>
      <p:sp>
        <p:nvSpPr>
          <p:cNvPr id="9" name="anim-g1-2146"/>
          <p:cNvSpPr/>
          <p:nvPr/>
        </p:nvSpPr>
        <p:spPr>
          <a:xfrm>
            <a:off x="9212351"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لا يتصل أحد بالسبورة دون رمز يظهر على الشاشة</a:t>
            </a:r>
            <a:endParaRPr lang="ar-SA" sz="1800" dirty="0"/>
          </a:p>
        </p:txBody>
      </p:sp>
      <p:sp>
        <p:nvSpPr>
          <p:cNvPr id="10" name="anim-g2-2147"/>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148"/>
          <p:cNvSpPr/>
          <p:nvPr/>
        </p:nvSpPr>
        <p:spPr>
          <a:xfrm>
            <a:off x="7657871" y="2404872"/>
            <a:ext cx="731520" cy="731520"/>
          </a:xfrm>
          <a:prstGeom prst="roundRect">
            <a:avLst>
              <a:gd name="adj" fmla="val 25000"/>
            </a:avLst>
          </a:prstGeom>
          <a:solidFill>
            <a:srgbClr val="F7E6BC"/>
          </a:solidFill>
          <a:ln/>
        </p:spPr>
      </p:sp>
      <p:sp>
        <p:nvSpPr>
          <p:cNvPr id="12" name="anim-g2-2149"/>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150"/>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منع الأجهزة المجهولة</a:t>
            </a:r>
            <a:endParaRPr lang="ar-SA" sz="2300" dirty="0"/>
          </a:p>
        </p:txBody>
      </p:sp>
      <p:sp>
        <p:nvSpPr>
          <p:cNvPr id="14" name="anim-g2-2151"/>
          <p:cNvSpPr/>
          <p:nvPr/>
        </p:nvSpPr>
        <p:spPr>
          <a:xfrm>
            <a:off x="6507328"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فعّل خيار الاتصال بالأجهزة المعروفة فقط</a:t>
            </a:r>
            <a:endParaRPr lang="ar-SA" sz="1800" dirty="0"/>
          </a:p>
        </p:txBody>
      </p:sp>
      <p:sp>
        <p:nvSpPr>
          <p:cNvPr id="15" name="anim-g3-2152"/>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153"/>
          <p:cNvSpPr/>
          <p:nvPr/>
        </p:nvSpPr>
        <p:spPr>
          <a:xfrm>
            <a:off x="4952848" y="2404872"/>
            <a:ext cx="731520" cy="731520"/>
          </a:xfrm>
          <a:prstGeom prst="roundRect">
            <a:avLst>
              <a:gd name="adj" fmla="val 25000"/>
            </a:avLst>
          </a:prstGeom>
          <a:solidFill>
            <a:srgbClr val="F7E6BC"/>
          </a:solidFill>
          <a:ln/>
        </p:spPr>
      </p:sp>
      <p:sp>
        <p:nvSpPr>
          <p:cNvPr id="17" name="anim-g3-2154"/>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155"/>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حساب للمعلم</a:t>
            </a:r>
            <a:endParaRPr lang="ar-SA" sz="2300" dirty="0"/>
          </a:p>
        </p:txBody>
      </p:sp>
      <p:sp>
        <p:nvSpPr>
          <p:cNvPr id="19" name="anim-g3-2156"/>
          <p:cNvSpPr/>
          <p:nvPr/>
        </p:nvSpPr>
        <p:spPr>
          <a:xfrm>
            <a:off x="3802304"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بكلمة مرور خاصة، لا يعرفها الطلاب</a:t>
            </a:r>
            <a:endParaRPr lang="ar-SA" sz="1800" dirty="0"/>
          </a:p>
        </p:txBody>
      </p:sp>
      <p:sp>
        <p:nvSpPr>
          <p:cNvPr id="20" name="anim-g4-2157"/>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2158"/>
          <p:cNvSpPr/>
          <p:nvPr/>
        </p:nvSpPr>
        <p:spPr>
          <a:xfrm>
            <a:off x="2247824" y="2404872"/>
            <a:ext cx="731520" cy="731520"/>
          </a:xfrm>
          <a:prstGeom prst="roundRect">
            <a:avLst>
              <a:gd name="adj" fmla="val 25000"/>
            </a:avLst>
          </a:prstGeom>
          <a:solidFill>
            <a:srgbClr val="F7E6BC"/>
          </a:solidFill>
          <a:ln/>
        </p:spPr>
      </p:sp>
      <p:sp>
        <p:nvSpPr>
          <p:cNvPr id="22" name="anim-g4-2159"/>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2160"/>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خطة بديلة</a:t>
            </a:r>
            <a:endParaRPr lang="ar-SA" sz="2300" dirty="0"/>
          </a:p>
        </p:txBody>
      </p:sp>
      <p:sp>
        <p:nvSpPr>
          <p:cNvPr id="24" name="anim-g4-2161"/>
          <p:cNvSpPr/>
          <p:nvPr/>
        </p:nvSpPr>
        <p:spPr>
          <a:xfrm>
            <a:off x="1097280" y="3813048"/>
            <a:ext cx="1882064" cy="1737360"/>
          </a:xfrm>
          <a:prstGeom prst="rect">
            <a:avLst/>
          </a:prstGeom>
          <a:noFill/>
          <a:ln/>
        </p:spPr>
        <p:txBody>
          <a:bodyPr wrap="square" lIns="0" tIns="0" rIns="0" bIns="0" rtlCol="0" anchor="t">
            <a:normAutofit/>
          </a:bodyPr>
          <a:lstStyle/>
          <a:p>
            <a:pPr rtl="1" algn="r" indent="0" marL="0">
              <a:lnSpc>
                <a:spcPct val="115000"/>
              </a:lnSpc>
              <a:buNone/>
            </a:pPr>
            <a:r>
              <a:rPr lang="ar-SA" altLang="en-US" sz="1800" b="1" dirty="0">
                <a:solidFill>
                  <a:srgbClr val="3B4460"/>
                </a:solidFill>
                <a:latin typeface="Cairo" pitchFamily="34" charset="0"/>
                <a:ea typeface="Cairo" pitchFamily="34" charset="-122"/>
                <a:cs typeface="Cairo" pitchFamily="34" charset="-120"/>
              </a:rPr>
              <a:t>نسخة ورقية أو سبورة عادية لأي عطل</a:t>
            </a:r>
            <a:endParaRPr lang="ar-SA" sz="18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name="Slide 1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التقنية في الفصل تحتاج قواعد…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تمامًا مثل الطلاب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من يتحكم بالسبورة؟  ·  ١٧٩</a:t>
            </a:r>
            <a:endParaRPr lang="ar-SA" sz="12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162" descr="/Users/mac/Desktop/أردوينو/المشاريع والكتب/younes-training/mawaqif/assets/scenes/bull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١٦</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رسائل تؤلم</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رسائل تؤلم  ·  ١٨٠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1.xml><?xml version="1.0" encoding="utf-8"?>
<p:sld xmlns:a="http://schemas.openxmlformats.org/drawingml/2006/main" xmlns:r="http://schemas.openxmlformats.org/officeDocument/2006/relationships" xmlns:p="http://schemas.openxmlformats.org/presentationml/2006/main">
  <p:cSld name="Slide 1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2163"/>
          <p:cNvSpPr/>
          <p:nvPr/>
        </p:nvSpPr>
        <p:spPr>
          <a:xfrm>
            <a:off x="11323015" y="2011680"/>
            <a:ext cx="45720" cy="845820"/>
          </a:xfrm>
          <a:prstGeom prst="rect">
            <a:avLst/>
          </a:prstGeom>
          <a:solidFill>
            <a:srgbClr val="E4DCC8"/>
          </a:solidFill>
          <a:ln/>
        </p:spPr>
      </p:sp>
      <p:sp>
        <p:nvSpPr>
          <p:cNvPr id="6" name="anim-g1-2164"/>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لاحظت أ. مها أن لمى (الأول المتوسط)، الطالبة المرحة، صارت صامتة، تجلس وحدها، وعيناها على جوالها.</a:t>
            </a:r>
            <a:endParaRPr lang="ar-SA" sz="1700" dirty="0"/>
          </a:p>
        </p:txBody>
      </p:sp>
      <p:sp>
        <p:nvSpPr>
          <p:cNvPr id="7" name="anim-g2-2165"/>
          <p:cNvSpPr/>
          <p:nvPr/>
        </p:nvSpPr>
        <p:spPr>
          <a:xfrm>
            <a:off x="11323015" y="3040380"/>
            <a:ext cx="45720" cy="845820"/>
          </a:xfrm>
          <a:prstGeom prst="rect">
            <a:avLst/>
          </a:prstGeom>
          <a:solidFill>
            <a:srgbClr val="E4DCC8"/>
          </a:solidFill>
          <a:ln/>
        </p:spPr>
      </p:sp>
      <p:sp>
        <p:nvSpPr>
          <p:cNvPr id="8" name="anim-g2-2166"/>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وفي الفسحة سمعت طالبتين تضحكان: «رأيتِ ما كتبناه عنها في المجموعة؟»</a:t>
            </a:r>
            <a:endParaRPr lang="ar-SA" sz="1700" dirty="0"/>
          </a:p>
        </p:txBody>
      </p:sp>
      <p:sp>
        <p:nvSpPr>
          <p:cNvPr id="9" name="anim-g3-2167"/>
          <p:cNvSpPr/>
          <p:nvPr/>
        </p:nvSpPr>
        <p:spPr>
          <a:xfrm>
            <a:off x="11323015" y="4069080"/>
            <a:ext cx="45720" cy="845820"/>
          </a:xfrm>
          <a:prstGeom prst="rect">
            <a:avLst/>
          </a:prstGeom>
          <a:solidFill>
            <a:srgbClr val="E4DCC8"/>
          </a:solidFill>
          <a:ln/>
        </p:spPr>
      </p:sp>
      <p:sp>
        <p:nvSpPr>
          <p:cNvPr id="10" name="anim-g3-2168"/>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اقتربت لمى من أ. مها بعد الحصة، وقالت بصوت مرتجف: «أستاذة… لا أريد أن آتي إلى المدرسة بعد اليوم».</a:t>
            </a:r>
            <a:endParaRPr lang="ar-SA" sz="1700" dirty="0"/>
          </a:p>
        </p:txBody>
      </p:sp>
      <p:sp>
        <p:nvSpPr>
          <p:cNvPr id="11" name="anim-g4-2169"/>
          <p:cNvSpPr/>
          <p:nvPr/>
        </p:nvSpPr>
        <p:spPr>
          <a:xfrm>
            <a:off x="11323015" y="5097780"/>
            <a:ext cx="45720" cy="845820"/>
          </a:xfrm>
          <a:prstGeom prst="rect">
            <a:avLst/>
          </a:prstGeom>
          <a:solidFill>
            <a:srgbClr val="D64545"/>
          </a:solidFill>
          <a:ln/>
        </p:spPr>
      </p:sp>
      <p:sp>
        <p:nvSpPr>
          <p:cNvPr id="12" name="anim-g4-2170"/>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التنمّر لم يعد في الساحة فقط… صار في جيب كل طالبة، ليلًا ونهارًا.</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bully.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82.xml><?xml version="1.0" encoding="utf-8"?>
<p:sld xmlns:a="http://schemas.openxmlformats.org/drawingml/2006/main" xmlns:r="http://schemas.openxmlformats.org/officeDocument/2006/relationships" xmlns:p="http://schemas.openxmlformats.org/presentationml/2006/main">
  <p:cSld name="Slide 1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مها؟</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تواجه الطالبتين فورًا أمام الفصل</a:t>
            </a:r>
            <a:endParaRPr lang="ar-SA" sz="1900" dirty="0"/>
          </a:p>
        </p:txBody>
      </p:sp>
      <p:sp>
        <p:nvSpPr>
          <p:cNvPr id="9" name="anim-g1-217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2172"/>
          <p:cNvSpPr/>
          <p:nvPr/>
        </p:nvSpPr>
        <p:spPr>
          <a:xfrm>
            <a:off x="10575493" y="2194560"/>
            <a:ext cx="610362" cy="610362"/>
          </a:xfrm>
          <a:prstGeom prst="roundRect">
            <a:avLst>
              <a:gd name="adj" fmla="val 17978"/>
            </a:avLst>
          </a:prstGeom>
          <a:solidFill>
            <a:srgbClr val="A3A9BA"/>
          </a:solidFill>
          <a:ln/>
        </p:spPr>
      </p:sp>
      <p:sp>
        <p:nvSpPr>
          <p:cNvPr id="11" name="anim-g1-217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2174"/>
          <p:cNvSpPr/>
          <p:nvPr/>
        </p:nvSpPr>
        <p:spPr>
          <a:xfrm>
            <a:off x="1097280" y="2112264"/>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تواجه الطالبتين فورًا أمام الفصل</a:t>
            </a:r>
            <a:endParaRPr lang="ar-SA" sz="1700" dirty="0"/>
          </a:p>
        </p:txBody>
      </p:sp>
      <p:sp>
        <p:nvSpPr>
          <p:cNvPr id="13" name="anim-g1-2175"/>
          <p:cNvSpPr/>
          <p:nvPr/>
        </p:nvSpPr>
        <p:spPr>
          <a:xfrm>
            <a:off x="1097280" y="2535128"/>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المواجهة العلنية قد تزيد التنمّر على لمى انتقامًا</a:t>
            </a:r>
            <a:endParaRPr lang="ar-SA" sz="13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تنصح لمى بتجاهلهن وحذف التطبيق</a:t>
            </a:r>
            <a:endParaRPr lang="ar-SA" sz="1900" dirty="0"/>
          </a:p>
        </p:txBody>
      </p:sp>
      <p:sp>
        <p:nvSpPr>
          <p:cNvPr id="18" name="anim-g1-217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2177"/>
          <p:cNvSpPr/>
          <p:nvPr/>
        </p:nvSpPr>
        <p:spPr>
          <a:xfrm>
            <a:off x="10575493" y="3225546"/>
            <a:ext cx="610362" cy="610362"/>
          </a:xfrm>
          <a:prstGeom prst="roundRect">
            <a:avLst>
              <a:gd name="adj" fmla="val 17978"/>
            </a:avLst>
          </a:prstGeom>
          <a:solidFill>
            <a:srgbClr val="A3A9BA"/>
          </a:solidFill>
          <a:ln/>
        </p:spPr>
      </p:sp>
      <p:sp>
        <p:nvSpPr>
          <p:cNvPr id="20" name="anim-g1-217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2179"/>
          <p:cNvSpPr/>
          <p:nvPr/>
        </p:nvSpPr>
        <p:spPr>
          <a:xfrm>
            <a:off x="1097280" y="3143250"/>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تنصح لمى بتجاهلهن وحذف التطبيق</a:t>
            </a:r>
            <a:endParaRPr lang="ar-SA" sz="1700" dirty="0"/>
          </a:p>
        </p:txBody>
      </p:sp>
      <p:sp>
        <p:nvSpPr>
          <p:cNvPr id="22" name="anim-g1-2180"/>
          <p:cNvSpPr/>
          <p:nvPr/>
        </p:nvSpPr>
        <p:spPr>
          <a:xfrm>
            <a:off x="1097280" y="3566114"/>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النصيحة وحدها تحمّل الضحية المسؤولية، وتتركها وحيدة</a:t>
            </a:r>
            <a:endParaRPr lang="ar-SA" sz="13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تطمئن لمى، وتوثّق بإذنها، وتحيل الأمر للمرشدة والإدارة وفق النظام</a:t>
            </a:r>
            <a:endParaRPr lang="ar-SA" sz="1900" dirty="0"/>
          </a:p>
        </p:txBody>
      </p:sp>
      <p:sp>
        <p:nvSpPr>
          <p:cNvPr id="27" name="anim-g1-218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2182"/>
          <p:cNvSpPr/>
          <p:nvPr/>
        </p:nvSpPr>
        <p:spPr>
          <a:xfrm>
            <a:off x="10575493" y="4256532"/>
            <a:ext cx="610362" cy="610362"/>
          </a:xfrm>
          <a:prstGeom prst="roundRect">
            <a:avLst>
              <a:gd name="adj" fmla="val 17978"/>
            </a:avLst>
          </a:prstGeom>
          <a:solidFill>
            <a:srgbClr val="2E9E6B"/>
          </a:solidFill>
          <a:ln/>
        </p:spPr>
      </p:sp>
      <p:sp>
        <p:nvSpPr>
          <p:cNvPr id="29" name="anim-g1-218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2184"/>
          <p:cNvSpPr/>
          <p:nvPr/>
        </p:nvSpPr>
        <p:spPr>
          <a:xfrm>
            <a:off x="1097280" y="4174236"/>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131B34"/>
                </a:solidFill>
                <a:latin typeface="Cairo" pitchFamily="34" charset="0"/>
                <a:ea typeface="Cairo" pitchFamily="34" charset="-122"/>
                <a:cs typeface="Cairo" pitchFamily="34" charset="-120"/>
              </a:rPr>
              <a:t>تطمئن لمى، وتوثّق بإذنها، وتحيل الأمر للمرشدة والإدارة وفق النظام</a:t>
            </a:r>
            <a:endParaRPr lang="ar-SA" sz="1700" dirty="0"/>
          </a:p>
        </p:txBody>
      </p:sp>
      <p:sp>
        <p:nvSpPr>
          <p:cNvPr id="31" name="anim-g1-2185"/>
          <p:cNvSpPr/>
          <p:nvPr/>
        </p:nvSpPr>
        <p:spPr>
          <a:xfrm>
            <a:off x="1097280" y="4597100"/>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الضحية تحتاج أمانًا أولًا، والنظام يحمي الجميع ويضمن المتابعة</a:t>
            </a:r>
            <a:endParaRPr lang="ar-SA" sz="13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1900" b="1" dirty="0">
                <a:solidFill>
                  <a:srgbClr val="131B34"/>
                </a:solidFill>
                <a:latin typeface="Cairo" pitchFamily="34" charset="0"/>
                <a:ea typeface="Cairo" pitchFamily="34" charset="-122"/>
                <a:cs typeface="Cairo" pitchFamily="34" charset="-120"/>
              </a:rPr>
              <a:t>تعتبره خلافًا بين طالبات يُحل وحده</a:t>
            </a:r>
            <a:endParaRPr lang="ar-SA" sz="1900" dirty="0"/>
          </a:p>
        </p:txBody>
      </p:sp>
      <p:sp>
        <p:nvSpPr>
          <p:cNvPr id="36" name="anim-g1-218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2187"/>
          <p:cNvSpPr/>
          <p:nvPr/>
        </p:nvSpPr>
        <p:spPr>
          <a:xfrm>
            <a:off x="10575493" y="5287518"/>
            <a:ext cx="610362" cy="610362"/>
          </a:xfrm>
          <a:prstGeom prst="roundRect">
            <a:avLst>
              <a:gd name="adj" fmla="val 17978"/>
            </a:avLst>
          </a:prstGeom>
          <a:solidFill>
            <a:srgbClr val="A3A9BA"/>
          </a:solidFill>
          <a:ln/>
        </p:spPr>
      </p:sp>
      <p:sp>
        <p:nvSpPr>
          <p:cNvPr id="38" name="anim-g1-218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2189"/>
          <p:cNvSpPr/>
          <p:nvPr/>
        </p:nvSpPr>
        <p:spPr>
          <a:xfrm>
            <a:off x="1097280" y="5205222"/>
            <a:ext cx="9295333" cy="442341"/>
          </a:xfrm>
          <a:prstGeom prst="rect">
            <a:avLst/>
          </a:prstGeom>
          <a:noFill/>
          <a:ln/>
        </p:spPr>
        <p:txBody>
          <a:bodyPr wrap="square" lIns="0" tIns="0" rIns="0" bIns="0" rtlCol="0" anchor="ctr">
            <a:normAutofit/>
          </a:bodyPr>
          <a:lstStyle/>
          <a:p>
            <a:pPr rtl="1" algn="r" indent="0" marL="0">
              <a:buNone/>
            </a:pPr>
            <a:r>
              <a:rPr lang="ar-SA" altLang="en-US" sz="1700" b="1" dirty="0">
                <a:solidFill>
                  <a:srgbClr val="8A90A3"/>
                </a:solidFill>
                <a:latin typeface="Cairo" pitchFamily="34" charset="0"/>
                <a:ea typeface="Cairo" pitchFamily="34" charset="-122"/>
                <a:cs typeface="Cairo" pitchFamily="34" charset="-120"/>
              </a:rPr>
              <a:t>تعتبره خلافًا بين طالبات يُحل وحده</a:t>
            </a:r>
            <a:endParaRPr lang="ar-SA" sz="1700" dirty="0"/>
          </a:p>
        </p:txBody>
      </p:sp>
      <p:sp>
        <p:nvSpPr>
          <p:cNvPr id="40" name="anim-g1-2190"/>
          <p:cNvSpPr/>
          <p:nvPr/>
        </p:nvSpPr>
        <p:spPr>
          <a:xfrm>
            <a:off x="1097280" y="5628086"/>
            <a:ext cx="9295333" cy="353873"/>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التنمّر الإلكتروني لا يتوقف وحده، بل يتصاعد</a:t>
            </a:r>
            <a:endParaRPr lang="ar-SA" sz="13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83.xml><?xml version="1.0" encoding="utf-8"?>
<p:sld xmlns:a="http://schemas.openxmlformats.org/drawingml/2006/main" xmlns:r="http://schemas.openxmlformats.org/officeDocument/2006/relationships" xmlns:p="http://schemas.openxmlformats.org/presentationml/2006/main">
  <p:cSld name="Slide 1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516575" y="457200"/>
            <a:ext cx="5852160" cy="457200"/>
          </a:xfrm>
          <a:prstGeom prst="roundRect">
            <a:avLst>
              <a:gd name="adj" fmla="val 50000"/>
            </a:avLst>
          </a:prstGeom>
          <a:solidFill>
            <a:srgbClr val="F6EBCF"/>
          </a:solidFill>
          <a:ln/>
        </p:spPr>
      </p:sp>
      <p:sp>
        <p:nvSpPr>
          <p:cNvPr id="3" name="Text 1"/>
          <p:cNvSpPr/>
          <p:nvPr/>
        </p:nvSpPr>
        <p:spPr>
          <a:xfrm>
            <a:off x="5516575" y="457200"/>
            <a:ext cx="58521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الطالبة المتضررة نادرًا ما تتكلم</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علامات يجب أن تنتبه لها</a:t>
            </a:r>
            <a:endParaRPr lang="ar-SA" sz="3800" dirty="0"/>
          </a:p>
        </p:txBody>
      </p:sp>
      <p:sp>
        <p:nvSpPr>
          <p:cNvPr id="5" name="anim-g1-2191"/>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2192"/>
          <p:cNvSpPr/>
          <p:nvPr/>
        </p:nvSpPr>
        <p:spPr>
          <a:xfrm>
            <a:off x="9816198" y="2194560"/>
            <a:ext cx="640080" cy="640080"/>
          </a:xfrm>
          <a:prstGeom prst="roundRect">
            <a:avLst>
              <a:gd name="adj" fmla="val 25714"/>
            </a:avLst>
          </a:prstGeom>
          <a:solidFill>
            <a:srgbClr val="F7E6BC"/>
          </a:solidFill>
          <a:ln/>
        </p:spPr>
      </p:sp>
      <p:sp>
        <p:nvSpPr>
          <p:cNvPr id="7" name="anim-g1-2193"/>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2194"/>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صمت مفاجئ</a:t>
            </a:r>
            <a:endParaRPr lang="ar-SA" sz="2200" dirty="0"/>
          </a:p>
        </p:txBody>
      </p:sp>
      <p:sp>
        <p:nvSpPr>
          <p:cNvPr id="9" name="anim-g1-2195"/>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طالبة مرحة صارت منعزلة</a:t>
            </a:r>
            <a:endParaRPr lang="ar-SA" sz="1600" dirty="0"/>
          </a:p>
        </p:txBody>
      </p:sp>
      <p:sp>
        <p:nvSpPr>
          <p:cNvPr id="10" name="anim-g2-2196"/>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2197"/>
          <p:cNvSpPr/>
          <p:nvPr/>
        </p:nvSpPr>
        <p:spPr>
          <a:xfrm>
            <a:off x="7122604" y="2194560"/>
            <a:ext cx="640080" cy="640080"/>
          </a:xfrm>
          <a:prstGeom prst="roundRect">
            <a:avLst>
              <a:gd name="adj" fmla="val 25714"/>
            </a:avLst>
          </a:prstGeom>
          <a:solidFill>
            <a:srgbClr val="F7E6BC"/>
          </a:solidFill>
          <a:ln/>
        </p:spPr>
      </p:sp>
      <p:sp>
        <p:nvSpPr>
          <p:cNvPr id="12" name="anim-g2-2198"/>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2199"/>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قلق من الجوال</a:t>
            </a:r>
            <a:endParaRPr lang="ar-SA" sz="2200" dirty="0"/>
          </a:p>
        </p:txBody>
      </p:sp>
      <p:sp>
        <p:nvSpPr>
          <p:cNvPr id="14" name="anim-g2-2200"/>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تتوتر عند كل إشعار</a:t>
            </a:r>
            <a:endParaRPr lang="ar-SA" sz="1600" dirty="0"/>
          </a:p>
        </p:txBody>
      </p:sp>
      <p:sp>
        <p:nvSpPr>
          <p:cNvPr id="15" name="anim-g3-2201"/>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2202"/>
          <p:cNvSpPr/>
          <p:nvPr/>
        </p:nvSpPr>
        <p:spPr>
          <a:xfrm>
            <a:off x="4429011" y="2194560"/>
            <a:ext cx="640080" cy="640080"/>
          </a:xfrm>
          <a:prstGeom prst="roundRect">
            <a:avLst>
              <a:gd name="adj" fmla="val 25714"/>
            </a:avLst>
          </a:prstGeom>
          <a:solidFill>
            <a:srgbClr val="F7E6BC"/>
          </a:solidFill>
          <a:ln/>
        </p:spPr>
      </p:sp>
      <p:sp>
        <p:nvSpPr>
          <p:cNvPr id="17" name="anim-g3-2203"/>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2204"/>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تجنّب</a:t>
            </a:r>
            <a:endParaRPr lang="ar-SA" sz="2200" dirty="0"/>
          </a:p>
        </p:txBody>
      </p:sp>
      <p:sp>
        <p:nvSpPr>
          <p:cNvPr id="19" name="anim-g3-2205"/>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غياب متكرر، أو رغبة في ترك المدرسة</a:t>
            </a:r>
            <a:endParaRPr lang="ar-SA" sz="1600" dirty="0"/>
          </a:p>
        </p:txBody>
      </p:sp>
      <p:sp>
        <p:nvSpPr>
          <p:cNvPr id="20" name="anim-g4-2206"/>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2207"/>
          <p:cNvSpPr/>
          <p:nvPr/>
        </p:nvSpPr>
        <p:spPr>
          <a:xfrm>
            <a:off x="1735417" y="2194560"/>
            <a:ext cx="640080" cy="640080"/>
          </a:xfrm>
          <a:prstGeom prst="roundRect">
            <a:avLst>
              <a:gd name="adj" fmla="val 25714"/>
            </a:avLst>
          </a:prstGeom>
          <a:solidFill>
            <a:srgbClr val="F7E6BC"/>
          </a:solidFill>
          <a:ln/>
        </p:spPr>
      </p:sp>
      <p:sp>
        <p:nvSpPr>
          <p:cNvPr id="22" name="anim-g4-2208"/>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2209"/>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تراجع</a:t>
            </a:r>
            <a:endParaRPr lang="ar-SA" sz="2200" dirty="0"/>
          </a:p>
        </p:txBody>
      </p:sp>
      <p:sp>
        <p:nvSpPr>
          <p:cNvPr id="24" name="anim-g4-2210"/>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انخفاض مفاجئ في المستوى</a:t>
            </a:r>
            <a:endParaRPr lang="ar-SA" sz="1600" dirty="0"/>
          </a:p>
        </p:txBody>
      </p:sp>
      <p:sp>
        <p:nvSpPr>
          <p:cNvPr id="25" name="anim-g5-2211"/>
          <p:cNvSpPr/>
          <p:nvPr/>
        </p:nvSpPr>
        <p:spPr>
          <a:xfrm>
            <a:off x="822960" y="4754880"/>
            <a:ext cx="10545775" cy="1051560"/>
          </a:xfrm>
          <a:prstGeom prst="roundRect">
            <a:avLst>
              <a:gd name="adj" fmla="val 17391"/>
            </a:avLst>
          </a:prstGeom>
          <a:solidFill>
            <a:srgbClr val="101B45"/>
          </a:solidFill>
          <a:ln/>
        </p:spPr>
      </p:sp>
      <p:sp>
        <p:nvSpPr>
          <p:cNvPr id="26" name="anim-g5-2212"/>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الطالبة المتضررة من التنمّر…</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تحتاج شخصًا بالغًا واحدًا يصدّقها</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name="Slide 1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اللحظة الأولى</a:t>
            </a:r>
            <a:endParaRPr lang="ar-SA" sz="1600" dirty="0"/>
          </a:p>
        </p:txBody>
      </p:sp>
      <p:sp>
        <p:nvSpPr>
          <p:cNvPr id="4" name="Shape 2"/>
          <p:cNvSpPr/>
          <p:nvPr/>
        </p:nvSpPr>
        <p:spPr>
          <a:xfrm>
            <a:off x="822960" y="457200"/>
            <a:ext cx="2331720" cy="457200"/>
          </a:xfrm>
          <a:prstGeom prst="roundRect">
            <a:avLst>
              <a:gd name="adj" fmla="val 50000"/>
            </a:avLst>
          </a:prstGeom>
          <a:solidFill>
            <a:srgbClr val="FBECEC"/>
          </a:solidFill>
          <a:ln/>
        </p:spPr>
      </p:sp>
      <p:sp>
        <p:nvSpPr>
          <p:cNvPr id="5" name="Text 3"/>
          <p:cNvSpPr/>
          <p:nvPr/>
        </p:nvSpPr>
        <p:spPr>
          <a:xfrm>
            <a:off x="822960" y="457200"/>
            <a:ext cx="233172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اللحظة الأولى</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حين تأتيك الطالبة</a:t>
            </a:r>
            <a:endParaRPr lang="ar-SA" sz="3800" dirty="0"/>
          </a:p>
        </p:txBody>
      </p:sp>
      <p:sp>
        <p:nvSpPr>
          <p:cNvPr id="7" name="anim-g1-2213"/>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214"/>
          <p:cNvSpPr/>
          <p:nvPr/>
        </p:nvSpPr>
        <p:spPr>
          <a:xfrm>
            <a:off x="9747618" y="2423160"/>
            <a:ext cx="777240" cy="777240"/>
          </a:xfrm>
          <a:prstGeom prst="ellipse">
            <a:avLst/>
          </a:prstGeom>
          <a:solidFill>
            <a:srgbClr val="D9AE4B"/>
          </a:solidFill>
          <a:ln/>
        </p:spPr>
      </p:sp>
      <p:sp>
        <p:nvSpPr>
          <p:cNvPr id="9" name="anim-g1-2215"/>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216"/>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صدّقها</a:t>
            </a:r>
            <a:endParaRPr lang="ar-SA" sz="2500" dirty="0"/>
          </a:p>
        </p:txBody>
      </p:sp>
      <p:sp>
        <p:nvSpPr>
          <p:cNvPr id="11" name="anim-g1-2217"/>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«أنا أصدقك، ولستِ وحدك»</a:t>
            </a:r>
            <a:endParaRPr lang="ar-SA" sz="1700" dirty="0"/>
          </a:p>
        </p:txBody>
      </p:sp>
      <p:sp>
        <p:nvSpPr>
          <p:cNvPr id="12" name="anim-g2-2218"/>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219"/>
          <p:cNvSpPr/>
          <p:nvPr/>
        </p:nvSpPr>
        <p:spPr>
          <a:xfrm>
            <a:off x="7054024" y="2423160"/>
            <a:ext cx="777240" cy="777240"/>
          </a:xfrm>
          <a:prstGeom prst="ellipse">
            <a:avLst/>
          </a:prstGeom>
          <a:solidFill>
            <a:srgbClr val="D9AE4B"/>
          </a:solidFill>
          <a:ln/>
        </p:spPr>
      </p:sp>
      <p:sp>
        <p:nvSpPr>
          <p:cNvPr id="14" name="anim-g2-2220"/>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221"/>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تلُمها</a:t>
            </a:r>
            <a:endParaRPr lang="ar-SA" sz="2500" dirty="0"/>
          </a:p>
        </p:txBody>
      </p:sp>
      <p:sp>
        <p:nvSpPr>
          <p:cNvPr id="16" name="anim-g2-2222"/>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لا تسأل: ماذا فعلتِ لهن؟</a:t>
            </a:r>
            <a:endParaRPr lang="ar-SA" sz="1700" dirty="0"/>
          </a:p>
        </p:txBody>
      </p:sp>
      <p:sp>
        <p:nvSpPr>
          <p:cNvPr id="17" name="anim-g3-2223"/>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224"/>
          <p:cNvSpPr/>
          <p:nvPr/>
        </p:nvSpPr>
        <p:spPr>
          <a:xfrm>
            <a:off x="4360431" y="2423160"/>
            <a:ext cx="777240" cy="777240"/>
          </a:xfrm>
          <a:prstGeom prst="ellipse">
            <a:avLst/>
          </a:prstGeom>
          <a:solidFill>
            <a:srgbClr val="D9AE4B"/>
          </a:solidFill>
          <a:ln/>
        </p:spPr>
      </p:sp>
      <p:sp>
        <p:nvSpPr>
          <p:cNvPr id="19" name="anim-g3-2225"/>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226"/>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وثّق بإذنها</a:t>
            </a:r>
            <a:endParaRPr lang="ar-SA" sz="2500" dirty="0"/>
          </a:p>
        </p:txBody>
      </p:sp>
      <p:sp>
        <p:nvSpPr>
          <p:cNvPr id="21" name="anim-g3-2227"/>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صور للرسائل مع الوقت والتاريخ</a:t>
            </a:r>
            <a:endParaRPr lang="ar-SA" sz="1700" dirty="0"/>
          </a:p>
        </p:txBody>
      </p:sp>
      <p:sp>
        <p:nvSpPr>
          <p:cNvPr id="22" name="anim-g4-2228"/>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229"/>
          <p:cNvSpPr/>
          <p:nvPr/>
        </p:nvSpPr>
        <p:spPr>
          <a:xfrm>
            <a:off x="1666837" y="2423160"/>
            <a:ext cx="777240" cy="777240"/>
          </a:xfrm>
          <a:prstGeom prst="ellipse">
            <a:avLst/>
          </a:prstGeom>
          <a:solidFill>
            <a:srgbClr val="D9AE4B"/>
          </a:solidFill>
          <a:ln/>
        </p:spPr>
      </p:sp>
      <p:sp>
        <p:nvSpPr>
          <p:cNvPr id="24" name="anim-g4-2230"/>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231"/>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أحِل فورًا</a:t>
            </a:r>
            <a:endParaRPr lang="ar-SA" sz="2500" dirty="0"/>
          </a:p>
        </p:txBody>
      </p:sp>
      <p:sp>
        <p:nvSpPr>
          <p:cNvPr id="26" name="anim-g4-2232"/>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للمرشدة الطلابية والإدارة اليوم</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85.xml><?xml version="1.0" encoding="utf-8"?>
<p:sld xmlns:a="http://schemas.openxmlformats.org/drawingml/2006/main" xmlns:r="http://schemas.openxmlformats.org/officeDocument/2006/relationships" xmlns:p="http://schemas.openxmlformats.org/presentationml/2006/main">
  <p:cSld name="Slide 1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2233"/>
          <p:cNvSpPr/>
          <p:nvPr/>
        </p:nvSpPr>
        <p:spPr>
          <a:xfrm>
            <a:off x="9768535" y="2130552"/>
            <a:ext cx="1600200" cy="819912"/>
          </a:xfrm>
          <a:prstGeom prst="roundRect">
            <a:avLst>
              <a:gd name="adj" fmla="val 16729"/>
            </a:avLst>
          </a:prstGeom>
          <a:solidFill>
            <a:srgbClr val="E9EDF9"/>
          </a:solidFill>
          <a:ln/>
        </p:spPr>
      </p:sp>
      <p:sp>
        <p:nvSpPr>
          <p:cNvPr id="6" name="anim-g1-2234"/>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للطالبة</a:t>
            </a:r>
            <a:endParaRPr lang="ar-SA" sz="1400" dirty="0"/>
          </a:p>
        </p:txBody>
      </p:sp>
      <p:sp>
        <p:nvSpPr>
          <p:cNvPr id="7" name="anim-g1-2235"/>
          <p:cNvSpPr/>
          <p:nvPr/>
        </p:nvSpPr>
        <p:spPr>
          <a:xfrm>
            <a:off x="822960" y="2057400"/>
            <a:ext cx="8716975" cy="966216"/>
          </a:xfrm>
          <a:prstGeom prst="roundRect">
            <a:avLst>
              <a:gd name="adj" fmla="val 20820"/>
            </a:avLst>
          </a:prstGeom>
          <a:solidFill>
            <a:srgbClr val="101B45"/>
          </a:solidFill>
          <a:ln/>
        </p:spPr>
      </p:sp>
      <p:sp>
        <p:nvSpPr>
          <p:cNvPr id="8" name="anim-g1-2236"/>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شكرًا لأنك أخبرتني، هذه شجاعة. ما يحدث ليس ذنبك، وسنوقفه معًا</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2237"/>
          <p:cNvSpPr/>
          <p:nvPr/>
        </p:nvSpPr>
        <p:spPr>
          <a:xfrm>
            <a:off x="9768535" y="3243072"/>
            <a:ext cx="1600200" cy="819912"/>
          </a:xfrm>
          <a:prstGeom prst="roundRect">
            <a:avLst>
              <a:gd name="adj" fmla="val 16729"/>
            </a:avLst>
          </a:prstGeom>
          <a:solidFill>
            <a:srgbClr val="E9EDF9"/>
          </a:solidFill>
          <a:ln/>
        </p:spPr>
      </p:sp>
      <p:sp>
        <p:nvSpPr>
          <p:cNvPr id="10" name="anim-g2-2238"/>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للمتنمّرة (مع المرشدة)</a:t>
            </a:r>
            <a:endParaRPr lang="ar-SA" sz="1400" dirty="0"/>
          </a:p>
        </p:txBody>
      </p:sp>
      <p:sp>
        <p:nvSpPr>
          <p:cNvPr id="11" name="anim-g2-2239"/>
          <p:cNvSpPr/>
          <p:nvPr/>
        </p:nvSpPr>
        <p:spPr>
          <a:xfrm>
            <a:off x="822960" y="3169920"/>
            <a:ext cx="8716975" cy="966216"/>
          </a:xfrm>
          <a:prstGeom prst="roundRect">
            <a:avLst>
              <a:gd name="adj" fmla="val 20820"/>
            </a:avLst>
          </a:prstGeom>
          <a:solidFill>
            <a:srgbClr val="101B45"/>
          </a:solidFill>
          <a:ln/>
        </p:spPr>
      </p:sp>
      <p:sp>
        <p:nvSpPr>
          <p:cNvPr id="12" name="anim-g2-2240"/>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ما كُتب آذى زميلتك أذى حقيقيًا. ماذا ستفعلين لإصلاح ذلك؟</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3" name="anim-g3-2241"/>
          <p:cNvSpPr/>
          <p:nvPr/>
        </p:nvSpPr>
        <p:spPr>
          <a:xfrm>
            <a:off x="9768535" y="4355592"/>
            <a:ext cx="1600200" cy="819912"/>
          </a:xfrm>
          <a:prstGeom prst="roundRect">
            <a:avLst>
              <a:gd name="adj" fmla="val 16729"/>
            </a:avLst>
          </a:prstGeom>
          <a:solidFill>
            <a:srgbClr val="E9EDF9"/>
          </a:solidFill>
          <a:ln/>
        </p:spPr>
      </p:sp>
      <p:sp>
        <p:nvSpPr>
          <p:cNvPr id="14" name="anim-g3-2242"/>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للفصل دون أسماء</a:t>
            </a:r>
            <a:endParaRPr lang="ar-SA" sz="1400" dirty="0"/>
          </a:p>
        </p:txBody>
      </p:sp>
      <p:sp>
        <p:nvSpPr>
          <p:cNvPr id="15" name="anim-g3-2243"/>
          <p:cNvSpPr/>
          <p:nvPr/>
        </p:nvSpPr>
        <p:spPr>
          <a:xfrm>
            <a:off x="822960" y="4282440"/>
            <a:ext cx="8716975" cy="966216"/>
          </a:xfrm>
          <a:prstGeom prst="roundRect">
            <a:avLst>
              <a:gd name="adj" fmla="val 20820"/>
            </a:avLst>
          </a:prstGeom>
          <a:solidFill>
            <a:srgbClr val="101B45"/>
          </a:solidFill>
          <a:ln/>
        </p:spPr>
      </p:sp>
      <p:sp>
        <p:nvSpPr>
          <p:cNvPr id="16" name="anim-g3-2244"/>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600" b="1" dirty="0">
                <a:solidFill>
                  <a:srgbClr val="D9AE4B"/>
                </a:solidFill>
                <a:latin typeface="Cairo" pitchFamily="34" charset="0"/>
                <a:ea typeface="Cairo" pitchFamily="34" charset="-122"/>
                <a:cs typeface="Cairo" pitchFamily="34" charset="-120"/>
              </a:rPr>
              <a:t>« </a:t>
            </a:r>
            <a:pPr algn="r" indent="0" marL="0">
              <a:buNone/>
            </a:pPr>
            <a:r>
              <a:rPr lang="ar-SA" altLang="en-US" sz="1600" b="1" dirty="0">
                <a:solidFill>
                  <a:srgbClr val="FFFFFF"/>
                </a:solidFill>
                <a:latin typeface="Cairo" pitchFamily="34" charset="0"/>
                <a:ea typeface="Cairo" pitchFamily="34" charset="-122"/>
                <a:cs typeface="Cairo" pitchFamily="34" charset="-120"/>
              </a:rPr>
              <a:t>الكلمة المكتوبة تجرح مثل المنطوقة وأكثر، لأنها تبقى. ومن يرى الإساءة ويسكت يشارك فيها</a:t>
            </a:r>
            <a:pPr algn="r" indent="0" marL="0">
              <a:buNone/>
            </a:pPr>
            <a:r>
              <a:rPr lang="ar-SA" altLang="en-US" sz="1600" b="1" dirty="0">
                <a:solidFill>
                  <a:srgbClr val="D9AE4B"/>
                </a:solidFill>
                <a:latin typeface="Cairo" pitchFamily="34" charset="0"/>
                <a:ea typeface="Cairo" pitchFamily="34" charset="-122"/>
                <a:cs typeface="Cairo" pitchFamily="34" charset="-120"/>
              </a:rPr>
              <a:t> »</a:t>
            </a:r>
            <a:endParaRPr lang="ar-SA" sz="1600" dirty="0"/>
          </a:p>
        </p:txBody>
      </p:sp>
      <p:sp>
        <p:nvSpPr>
          <p:cNvPr id="17" name="anim-g4-2245"/>
          <p:cNvSpPr/>
          <p:nvPr/>
        </p:nvSpPr>
        <p:spPr>
          <a:xfrm>
            <a:off x="822960" y="5532120"/>
            <a:ext cx="10545775" cy="548640"/>
          </a:xfrm>
          <a:prstGeom prst="roundRect">
            <a:avLst>
              <a:gd name="adj" fmla="val 20000"/>
            </a:avLst>
          </a:prstGeom>
          <a:solidFill>
            <a:srgbClr val="FBECEC"/>
          </a:solidFill>
          <a:ln/>
        </p:spPr>
      </p:sp>
      <p:sp>
        <p:nvSpPr>
          <p:cNvPr id="18" name="anim-g4-2246"/>
          <p:cNvSpPr/>
          <p:nvPr/>
        </p:nvSpPr>
        <p:spPr>
          <a:xfrm>
            <a:off x="11295583" y="5532120"/>
            <a:ext cx="73152" cy="548640"/>
          </a:xfrm>
          <a:prstGeom prst="rect">
            <a:avLst/>
          </a:prstGeom>
          <a:solidFill>
            <a:srgbClr val="D64545"/>
          </a:solidFill>
          <a:ln/>
        </p:spPr>
      </p:sp>
      <p:sp>
        <p:nvSpPr>
          <p:cNvPr id="19" name="anim-g4-2247"/>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كشف اسم الطالبة المتضررة أمام الفصل</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name="Slide 1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248"/>
          <p:cNvSpPr/>
          <p:nvPr/>
        </p:nvSpPr>
        <p:spPr>
          <a:xfrm>
            <a:off x="6415888" y="2194560"/>
            <a:ext cx="4952848" cy="804672"/>
          </a:xfrm>
          <a:prstGeom prst="roundRect">
            <a:avLst>
              <a:gd name="adj" fmla="val 15909"/>
            </a:avLst>
          </a:prstGeom>
          <a:solidFill>
            <a:srgbClr val="FBECEC"/>
          </a:solidFill>
          <a:ln/>
        </p:spPr>
      </p:sp>
      <p:sp>
        <p:nvSpPr>
          <p:cNvPr id="6" name="anim-g1-2249"/>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المواجهة العلنية للمتنمّرات</a:t>
            </a:r>
            <a:endParaRPr lang="ar-SA" sz="1900" dirty="0"/>
          </a:p>
        </p:txBody>
      </p:sp>
      <p:sp>
        <p:nvSpPr>
          <p:cNvPr id="7" name="anim-g1-2250"/>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251"/>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2252"/>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253"/>
          <p:cNvSpPr/>
          <p:nvPr/>
        </p:nvSpPr>
        <p:spPr>
          <a:xfrm>
            <a:off x="822960" y="2194560"/>
            <a:ext cx="4952848" cy="804672"/>
          </a:xfrm>
          <a:prstGeom prst="roundRect">
            <a:avLst>
              <a:gd name="adj" fmla="val 15909"/>
            </a:avLst>
          </a:prstGeom>
          <a:solidFill>
            <a:srgbClr val="E6F4EC"/>
          </a:solidFill>
          <a:ln/>
        </p:spPr>
      </p:sp>
      <p:sp>
        <p:nvSpPr>
          <p:cNvPr id="11" name="anim-g2-2254"/>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إجراء خاص عبر المرشدة والإدارة</a:t>
            </a:r>
            <a:endParaRPr lang="ar-SA" sz="1900" dirty="0"/>
          </a:p>
        </p:txBody>
      </p:sp>
      <p:sp>
        <p:nvSpPr>
          <p:cNvPr id="12" name="anim-g3-2255"/>
          <p:cNvSpPr/>
          <p:nvPr/>
        </p:nvSpPr>
        <p:spPr>
          <a:xfrm>
            <a:off x="6415888" y="3154680"/>
            <a:ext cx="4952848" cy="804672"/>
          </a:xfrm>
          <a:prstGeom prst="roundRect">
            <a:avLst>
              <a:gd name="adj" fmla="val 15909"/>
            </a:avLst>
          </a:prstGeom>
          <a:solidFill>
            <a:srgbClr val="FBECEC"/>
          </a:solidFill>
          <a:ln/>
        </p:spPr>
      </p:sp>
      <p:sp>
        <p:nvSpPr>
          <p:cNvPr id="13" name="anim-g3-2256"/>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«تجاهليهن» فقط</a:t>
            </a:r>
            <a:endParaRPr lang="ar-SA" sz="1900" dirty="0"/>
          </a:p>
        </p:txBody>
      </p:sp>
      <p:sp>
        <p:nvSpPr>
          <p:cNvPr id="14" name="anim-g3-2257"/>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258"/>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2259"/>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260"/>
          <p:cNvSpPr/>
          <p:nvPr/>
        </p:nvSpPr>
        <p:spPr>
          <a:xfrm>
            <a:off x="822960" y="3154680"/>
            <a:ext cx="4952848" cy="804672"/>
          </a:xfrm>
          <a:prstGeom prst="roundRect">
            <a:avLst>
              <a:gd name="adj" fmla="val 15909"/>
            </a:avLst>
          </a:prstGeom>
          <a:solidFill>
            <a:srgbClr val="E6F4EC"/>
          </a:solidFill>
          <a:ln/>
        </p:spPr>
      </p:sp>
      <p:sp>
        <p:nvSpPr>
          <p:cNvPr id="18" name="anim-g4-2261"/>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حماية فعلية ومتابعة يومية</a:t>
            </a:r>
            <a:endParaRPr lang="ar-SA" sz="1900" dirty="0"/>
          </a:p>
        </p:txBody>
      </p:sp>
      <p:sp>
        <p:nvSpPr>
          <p:cNvPr id="19" name="anim-g5-2262"/>
          <p:cNvSpPr/>
          <p:nvPr/>
        </p:nvSpPr>
        <p:spPr>
          <a:xfrm>
            <a:off x="6415888" y="4114800"/>
            <a:ext cx="4952848" cy="804672"/>
          </a:xfrm>
          <a:prstGeom prst="roundRect">
            <a:avLst>
              <a:gd name="adj" fmla="val 15909"/>
            </a:avLst>
          </a:prstGeom>
          <a:solidFill>
            <a:srgbClr val="FBECEC"/>
          </a:solidFill>
          <a:ln/>
        </p:spPr>
      </p:sp>
      <p:sp>
        <p:nvSpPr>
          <p:cNvPr id="20" name="anim-g5-2263"/>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حذف الرسائل فورًا</a:t>
            </a:r>
            <a:endParaRPr lang="ar-SA" sz="1900" dirty="0"/>
          </a:p>
        </p:txBody>
      </p:sp>
      <p:sp>
        <p:nvSpPr>
          <p:cNvPr id="21" name="anim-g5-2264"/>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265"/>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2266"/>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267"/>
          <p:cNvSpPr/>
          <p:nvPr/>
        </p:nvSpPr>
        <p:spPr>
          <a:xfrm>
            <a:off x="822960" y="4114800"/>
            <a:ext cx="4952848" cy="804672"/>
          </a:xfrm>
          <a:prstGeom prst="roundRect">
            <a:avLst>
              <a:gd name="adj" fmla="val 15909"/>
            </a:avLst>
          </a:prstGeom>
          <a:solidFill>
            <a:srgbClr val="E6F4EC"/>
          </a:solidFill>
          <a:ln/>
        </p:spPr>
      </p:sp>
      <p:sp>
        <p:nvSpPr>
          <p:cNvPr id="25" name="anim-g6-2268"/>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توثيقها أولًا كدليل</a:t>
            </a:r>
            <a:endParaRPr lang="ar-SA" sz="1900" dirty="0"/>
          </a:p>
        </p:txBody>
      </p:sp>
      <p:sp>
        <p:nvSpPr>
          <p:cNvPr id="26" name="anim-g7-2269"/>
          <p:cNvSpPr/>
          <p:nvPr/>
        </p:nvSpPr>
        <p:spPr>
          <a:xfrm>
            <a:off x="6415888" y="5074920"/>
            <a:ext cx="4952848" cy="804672"/>
          </a:xfrm>
          <a:prstGeom prst="roundRect">
            <a:avLst>
              <a:gd name="adj" fmla="val 15909"/>
            </a:avLst>
          </a:prstGeom>
          <a:solidFill>
            <a:srgbClr val="FBECEC"/>
          </a:solidFill>
          <a:ln/>
        </p:spPr>
      </p:sp>
      <p:sp>
        <p:nvSpPr>
          <p:cNvPr id="27" name="anim-g7-2270"/>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اعتباره مزاحًا بين طالبات</a:t>
            </a:r>
            <a:endParaRPr lang="ar-SA" sz="1900" dirty="0"/>
          </a:p>
        </p:txBody>
      </p:sp>
      <p:sp>
        <p:nvSpPr>
          <p:cNvPr id="28" name="anim-g7-2271"/>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272"/>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30" name="anim-g8-2273"/>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274"/>
          <p:cNvSpPr/>
          <p:nvPr/>
        </p:nvSpPr>
        <p:spPr>
          <a:xfrm>
            <a:off x="822960" y="5074920"/>
            <a:ext cx="4952848" cy="804672"/>
          </a:xfrm>
          <a:prstGeom prst="roundRect">
            <a:avLst>
              <a:gd name="adj" fmla="val 15909"/>
            </a:avLst>
          </a:prstGeom>
          <a:solidFill>
            <a:srgbClr val="E6F4EC"/>
          </a:solidFill>
          <a:ln/>
        </p:spPr>
      </p:sp>
      <p:sp>
        <p:nvSpPr>
          <p:cNvPr id="32" name="anim-g8-2275"/>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أخذ كل بلاغ بجدية</a:t>
            </a:r>
            <a:endParaRPr lang="ar-SA" sz="19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name="Slide 1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في التنمّر الإلكتروني…</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صمت الكبار أخطر رسالة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رسائل تؤلم  ·  ١٨٧</a:t>
            </a:r>
            <a:endParaRPr lang="ar-SA" sz="12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276" descr="/Users/mac/Desktop/أردوينو/المشاريع والكتب/younes-training/mawaqif/assets/scenes/interne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١٧</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المعلومة على الشاشة</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القصة</a:t>
            </a:r>
            <a:endParaRPr lang="ar-SA" sz="13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تصويت</a:t>
            </a:r>
            <a:endParaRPr lang="ar-SA" sz="13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لماذا؟</a:t>
            </a:r>
            <a:endParaRPr lang="ar-SA" sz="13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أول خطوة</a:t>
            </a:r>
            <a:endParaRPr lang="ar-SA" sz="13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300" b="1" dirty="0">
                <a:solidFill>
                  <a:srgbClr val="FFFFFF"/>
                </a:solidFill>
                <a:latin typeface="Cairo" pitchFamily="34" charset="0"/>
                <a:ea typeface="Cairo" pitchFamily="34" charset="-122"/>
                <a:cs typeface="Cairo" pitchFamily="34" charset="-120"/>
              </a:rPr>
              <a:t>💬 ماذا تقول؟</a:t>
            </a:r>
            <a:endParaRPr lang="ar-SA" sz="13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المعلومة على الشاشة  ·  ١٨٨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9.xml><?xml version="1.0" encoding="utf-8"?>
<p:sld xmlns:a="http://schemas.openxmlformats.org/drawingml/2006/main" xmlns:r="http://schemas.openxmlformats.org/officeDocument/2006/relationships" xmlns:p="http://schemas.openxmlformats.org/presentationml/2006/main">
  <p:cSld name="Slide 1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القصة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حدث؟</a:t>
            </a:r>
            <a:endParaRPr lang="ar-SA" sz="3800" dirty="0"/>
          </a:p>
        </p:txBody>
      </p:sp>
      <p:sp>
        <p:nvSpPr>
          <p:cNvPr id="5" name="anim-g1-2277"/>
          <p:cNvSpPr/>
          <p:nvPr/>
        </p:nvSpPr>
        <p:spPr>
          <a:xfrm>
            <a:off x="11323015" y="2011680"/>
            <a:ext cx="45720" cy="845820"/>
          </a:xfrm>
          <a:prstGeom prst="rect">
            <a:avLst/>
          </a:prstGeom>
          <a:solidFill>
            <a:srgbClr val="E4DCC8"/>
          </a:solidFill>
          <a:ln/>
        </p:spPr>
      </p:sp>
      <p:sp>
        <p:nvSpPr>
          <p:cNvPr id="6" name="anim-g1-2278"/>
          <p:cNvSpPr/>
          <p:nvPr/>
        </p:nvSpPr>
        <p:spPr>
          <a:xfrm>
            <a:off x="4785055" y="19202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كان أ. ناصر يشرح درس الفيزياء، حين رفع بدر (الثالث الثانوي) جواله عاليًا: «أستاذ، المعلومة خطأ! المكتوب هنا عكس كلامك».</a:t>
            </a:r>
            <a:endParaRPr lang="ar-SA" sz="1700" dirty="0"/>
          </a:p>
        </p:txBody>
      </p:sp>
      <p:sp>
        <p:nvSpPr>
          <p:cNvPr id="7" name="anim-g2-2279"/>
          <p:cNvSpPr/>
          <p:nvPr/>
        </p:nvSpPr>
        <p:spPr>
          <a:xfrm>
            <a:off x="11323015" y="3040380"/>
            <a:ext cx="45720" cy="845820"/>
          </a:xfrm>
          <a:prstGeom prst="rect">
            <a:avLst/>
          </a:prstGeom>
          <a:solidFill>
            <a:srgbClr val="E4DCC8"/>
          </a:solidFill>
          <a:ln/>
        </p:spPr>
      </p:sp>
      <p:sp>
        <p:nvSpPr>
          <p:cNvPr id="8" name="anim-g2-2280"/>
          <p:cNvSpPr/>
          <p:nvPr/>
        </p:nvSpPr>
        <p:spPr>
          <a:xfrm>
            <a:off x="4785055" y="29489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التفت الطلاب جميعًا، وبعضهم يبتسم منتظرًا ردّ المعلم.</a:t>
            </a:r>
            <a:endParaRPr lang="ar-SA" sz="1700" dirty="0"/>
          </a:p>
        </p:txBody>
      </p:sp>
      <p:sp>
        <p:nvSpPr>
          <p:cNvPr id="9" name="anim-g3-2281"/>
          <p:cNvSpPr/>
          <p:nvPr/>
        </p:nvSpPr>
        <p:spPr>
          <a:xfrm>
            <a:off x="11323015" y="4069080"/>
            <a:ext cx="45720" cy="845820"/>
          </a:xfrm>
          <a:prstGeom prst="rect">
            <a:avLst/>
          </a:prstGeom>
          <a:solidFill>
            <a:srgbClr val="E4DCC8"/>
          </a:solidFill>
          <a:ln/>
        </p:spPr>
      </p:sp>
      <p:sp>
        <p:nvSpPr>
          <p:cNvPr id="10" name="anim-g3-2282"/>
          <p:cNvSpPr/>
          <p:nvPr/>
        </p:nvSpPr>
        <p:spPr>
          <a:xfrm>
            <a:off x="4785055" y="39776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700" b="1" dirty="0">
                <a:solidFill>
                  <a:srgbClr val="131B34"/>
                </a:solidFill>
                <a:latin typeface="Cairo" pitchFamily="34" charset="0"/>
                <a:ea typeface="Cairo" pitchFamily="34" charset="-122"/>
                <a:cs typeface="Cairo" pitchFamily="34" charset="-120"/>
              </a:rPr>
              <a:t>نظر أ. ناصر إلى الشاشة… وكان محتملًا أن يكون بدر محقًّا.</a:t>
            </a:r>
            <a:endParaRPr lang="ar-SA" sz="1700" dirty="0"/>
          </a:p>
        </p:txBody>
      </p:sp>
      <p:sp>
        <p:nvSpPr>
          <p:cNvPr id="11" name="anim-g4-2283"/>
          <p:cNvSpPr/>
          <p:nvPr/>
        </p:nvSpPr>
        <p:spPr>
          <a:xfrm>
            <a:off x="11323015" y="5097780"/>
            <a:ext cx="45720" cy="845820"/>
          </a:xfrm>
          <a:prstGeom prst="rect">
            <a:avLst/>
          </a:prstGeom>
          <a:solidFill>
            <a:srgbClr val="D64545"/>
          </a:solidFill>
          <a:ln/>
        </p:spPr>
      </p:sp>
      <p:sp>
        <p:nvSpPr>
          <p:cNvPr id="12" name="anim-g4-2284"/>
          <p:cNvSpPr/>
          <p:nvPr/>
        </p:nvSpPr>
        <p:spPr>
          <a:xfrm>
            <a:off x="4785055" y="5006340"/>
            <a:ext cx="6309360"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1900" b="1" dirty="0">
                <a:solidFill>
                  <a:srgbClr val="D64545"/>
                </a:solidFill>
                <a:latin typeface="Cairo" pitchFamily="34" charset="0"/>
                <a:ea typeface="Cairo" pitchFamily="34" charset="-122"/>
                <a:cs typeface="Cairo" pitchFamily="34" charset="-120"/>
              </a:rPr>
              <a:t>لحظة واحدة ستحدد: هل يخسر المعلم هيبته… أم يكسب احترامًا أعمق؟</a:t>
            </a:r>
            <a:endParaRPr lang="ar-SA" sz="1900" dirty="0"/>
          </a:p>
        </p:txBody>
      </p:sp>
      <p:sp>
        <p:nvSpPr>
          <p:cNvPr id="13" name="Shape 11"/>
          <p:cNvSpPr/>
          <p:nvPr/>
        </p:nvSpPr>
        <p:spPr>
          <a:xfrm>
            <a:off x="768096" y="2911307"/>
            <a:ext cx="3706063" cy="2132667"/>
          </a:xfrm>
          <a:prstGeom prst="roundRect">
            <a:avLst>
              <a:gd name="adj" fmla="val 8575"/>
            </a:avLst>
          </a:prstGeom>
          <a:solidFill>
            <a:srgbClr val="FFFFFF"/>
          </a:solidFill>
          <a:ln/>
          <a:effectLst>
            <a:outerShdw sx="100000" sy="100000" kx="0" ky="0" algn="bl" rotWithShape="0" blurRad="228600" dist="63500" dir="5400000">
              <a:srgbClr val="101B45">
                <a:alpha val="25000"/>
              </a:srgbClr>
            </a:outerShdw>
          </a:effectLst>
        </p:spPr>
      </p:sp>
      <p:pic>
        <p:nvPicPr>
          <p:cNvPr id="14" name="Image 0" descr="/Users/mac/Desktop/أردوينو/المشاريع والكتب/younes-training/mawaqif/assets/scenes/internet.jpg">    </p:cNvPr>
          <p:cNvPicPr>
            <a:picLocks noChangeAspect="1"/>
          </p:cNvPicPr>
          <p:nvPr/>
        </p:nvPicPr>
        <p:blipFill>
          <a:blip r:embed="rId2"/>
          <a:stretch>
            <a:fillRect/>
          </a:stretch>
        </p:blipFill>
        <p:spPr>
          <a:xfrm>
            <a:off x="822960" y="2966171"/>
            <a:ext cx="3596335" cy="2022939"/>
          </a:xfrm>
          <a:prstGeom prst="rect">
            <a:avLst/>
          </a:prstGeom>
        </p:spPr>
      </p:pic>
      <p:sp>
        <p:nvSpPr>
          <p:cNvPr id="15" name="Text 1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6" name="Text 1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١٨٩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name="Slide 1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صوّت قبل أن نكشف</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ناصر؟</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يرفض فورًا: «أنا المعلم، والإنترنت مليء بالأخطاء»</a:t>
            </a:r>
            <a:endParaRPr lang="ar-SA" sz="2300" dirty="0"/>
          </a:p>
        </p:txBody>
      </p:sp>
      <p:sp>
        <p:nvSpPr>
          <p:cNvPr id="9" name="anim-g1-2285"/>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2286"/>
          <p:cNvSpPr/>
          <p:nvPr/>
        </p:nvSpPr>
        <p:spPr>
          <a:xfrm>
            <a:off x="10231831" y="2194560"/>
            <a:ext cx="954024" cy="954024"/>
          </a:xfrm>
          <a:prstGeom prst="roundRect">
            <a:avLst>
              <a:gd name="adj" fmla="val 11502"/>
            </a:avLst>
          </a:prstGeom>
          <a:solidFill>
            <a:srgbClr val="A3A9BA"/>
          </a:solidFill>
          <a:ln/>
        </p:spPr>
      </p:sp>
      <p:sp>
        <p:nvSpPr>
          <p:cNvPr id="11" name="anim-g1-2287"/>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2288"/>
          <p:cNvSpPr/>
          <p:nvPr/>
        </p:nvSpPr>
        <p:spPr>
          <a:xfrm>
            <a:off x="1097280" y="2112264"/>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يرفض فورًا: «أنا المعلم، والإنترنت مليء بالأخطاء»</a:t>
            </a:r>
            <a:endParaRPr lang="ar-SA" sz="2100" dirty="0"/>
          </a:p>
        </p:txBody>
      </p:sp>
      <p:sp>
        <p:nvSpPr>
          <p:cNvPr id="13" name="anim-g1-2289"/>
          <p:cNvSpPr/>
          <p:nvPr/>
        </p:nvSpPr>
        <p:spPr>
          <a:xfrm>
            <a:off x="1097280" y="2720706"/>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الرفض دون تحقق يعلّم الطلاب أن المعلم لا يخطئ، وهذا غير صحيح</a:t>
            </a:r>
            <a:endParaRPr lang="ar-SA" sz="13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يعاقبه على استخدام الجوال دون إذن ويتجاوز السؤال</a:t>
            </a:r>
            <a:endParaRPr lang="ar-SA" sz="2300" dirty="0"/>
          </a:p>
        </p:txBody>
      </p:sp>
      <p:sp>
        <p:nvSpPr>
          <p:cNvPr id="18" name="anim-g1-2290"/>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2291"/>
          <p:cNvSpPr/>
          <p:nvPr/>
        </p:nvSpPr>
        <p:spPr>
          <a:xfrm>
            <a:off x="10231831" y="3569208"/>
            <a:ext cx="954024" cy="954024"/>
          </a:xfrm>
          <a:prstGeom prst="roundRect">
            <a:avLst>
              <a:gd name="adj" fmla="val 11502"/>
            </a:avLst>
          </a:prstGeom>
          <a:solidFill>
            <a:srgbClr val="A3A9BA"/>
          </a:solidFill>
          <a:ln/>
        </p:spPr>
      </p:sp>
      <p:sp>
        <p:nvSpPr>
          <p:cNvPr id="20" name="anim-g1-2292"/>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2293"/>
          <p:cNvSpPr/>
          <p:nvPr/>
        </p:nvSpPr>
        <p:spPr>
          <a:xfrm>
            <a:off x="1097280" y="3486912"/>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8A90A3"/>
                </a:solidFill>
                <a:latin typeface="Cairo" pitchFamily="34" charset="0"/>
                <a:ea typeface="Cairo" pitchFamily="34" charset="-122"/>
                <a:cs typeface="Cairo" pitchFamily="34" charset="-120"/>
              </a:rPr>
              <a:t>يعاقبه على استخدام الجوال دون إذن ويتجاوز السؤال</a:t>
            </a:r>
            <a:endParaRPr lang="ar-SA" sz="2100" dirty="0"/>
          </a:p>
        </p:txBody>
      </p:sp>
      <p:sp>
        <p:nvSpPr>
          <p:cNvPr id="22" name="anim-g1-2294"/>
          <p:cNvSpPr/>
          <p:nvPr/>
        </p:nvSpPr>
        <p:spPr>
          <a:xfrm>
            <a:off x="1097280" y="4095354"/>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9A4A4A"/>
                </a:solidFill>
                <a:latin typeface="Cairo" pitchFamily="34" charset="0"/>
                <a:ea typeface="Cairo" pitchFamily="34" charset="-122"/>
                <a:cs typeface="Cairo" pitchFamily="34" charset="-120"/>
              </a:rPr>
              <a:t>العقاب يُسكت الفضول العلمي، ويبدو هروبًا من السؤال</a:t>
            </a:r>
            <a:endParaRPr lang="ar-SA" sz="13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300" b="1" dirty="0">
                <a:solidFill>
                  <a:srgbClr val="131B34"/>
                </a:solidFill>
                <a:latin typeface="Cairo" pitchFamily="34" charset="0"/>
                <a:ea typeface="Cairo" pitchFamily="34" charset="-122"/>
                <a:cs typeface="Cairo" pitchFamily="34" charset="-120"/>
              </a:rPr>
              <a:t>يشكره، ويحوّل السؤال إلى بحث جماعي للتحقق من المصدر</a:t>
            </a:r>
            <a:endParaRPr lang="ar-SA" sz="2300" dirty="0"/>
          </a:p>
        </p:txBody>
      </p:sp>
      <p:sp>
        <p:nvSpPr>
          <p:cNvPr id="27" name="anim-g1-2295"/>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2296"/>
          <p:cNvSpPr/>
          <p:nvPr/>
        </p:nvSpPr>
        <p:spPr>
          <a:xfrm>
            <a:off x="10231831" y="4943856"/>
            <a:ext cx="954024" cy="954024"/>
          </a:xfrm>
          <a:prstGeom prst="roundRect">
            <a:avLst>
              <a:gd name="adj" fmla="val 11502"/>
            </a:avLst>
          </a:prstGeom>
          <a:solidFill>
            <a:srgbClr val="2E9E6B"/>
          </a:solidFill>
          <a:ln/>
        </p:spPr>
      </p:sp>
      <p:sp>
        <p:nvSpPr>
          <p:cNvPr id="29" name="anim-g1-2297"/>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2298"/>
          <p:cNvSpPr/>
          <p:nvPr/>
        </p:nvSpPr>
        <p:spPr>
          <a:xfrm>
            <a:off x="1097280" y="4861560"/>
            <a:ext cx="8951671" cy="614172"/>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يشكره، ويحوّل السؤال إلى بحث جماعي للتحقق من المصدر</a:t>
            </a:r>
            <a:endParaRPr lang="ar-SA" sz="2100" dirty="0"/>
          </a:p>
        </p:txBody>
      </p:sp>
      <p:sp>
        <p:nvSpPr>
          <p:cNvPr id="31" name="anim-g1-2299"/>
          <p:cNvSpPr/>
          <p:nvPr/>
        </p:nvSpPr>
        <p:spPr>
          <a:xfrm>
            <a:off x="1097280" y="5470002"/>
            <a:ext cx="8951671" cy="491338"/>
          </a:xfrm>
          <a:prstGeom prst="rect">
            <a:avLst/>
          </a:prstGeom>
          <a:noFill/>
          <a:ln/>
        </p:spPr>
        <p:txBody>
          <a:bodyPr wrap="square" lIns="0" tIns="0" rIns="0" bIns="0" rtlCol="0" anchor="ctr">
            <a:normAutofit/>
          </a:bodyPr>
          <a:lstStyle/>
          <a:p>
            <a:pPr rtl="1" algn="r" indent="0" marL="0">
              <a:buNone/>
            </a:pPr>
            <a:r>
              <a:rPr lang="ar-SA" altLang="en-US" sz="1300" b="1" dirty="0">
                <a:solidFill>
                  <a:srgbClr val="1D5E40"/>
                </a:solidFill>
                <a:latin typeface="Cairo" pitchFamily="34" charset="0"/>
                <a:ea typeface="Cairo" pitchFamily="34" charset="-122"/>
                <a:cs typeface="Cairo" pitchFamily="34" charset="-120"/>
              </a:rPr>
              <a:t>سواء كان بدر محقًّا أم لا، يتعلم الجميع التحقق من المعلومة</a:t>
            </a:r>
            <a:endParaRPr lang="ar-SA" sz="13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name="Slide 1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وراء كل سلوك حاجة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فعل بدر ذلك؟</a:t>
            </a:r>
            <a:endParaRPr lang="ar-SA" sz="3800" dirty="0"/>
          </a:p>
        </p:txBody>
      </p:sp>
      <p:sp>
        <p:nvSpPr>
          <p:cNvPr id="5" name="anim-g1-2300"/>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2301"/>
          <p:cNvSpPr/>
          <p:nvPr/>
        </p:nvSpPr>
        <p:spPr>
          <a:xfrm>
            <a:off x="9816198" y="2194560"/>
            <a:ext cx="640080" cy="640080"/>
          </a:xfrm>
          <a:prstGeom prst="roundRect">
            <a:avLst>
              <a:gd name="adj" fmla="val 25714"/>
            </a:avLst>
          </a:prstGeom>
          <a:solidFill>
            <a:srgbClr val="F7E6BC"/>
          </a:solidFill>
          <a:ln/>
        </p:spPr>
      </p:sp>
      <p:sp>
        <p:nvSpPr>
          <p:cNvPr id="7" name="anim-g1-2302"/>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2303"/>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فضول</a:t>
            </a:r>
            <a:endParaRPr lang="ar-SA" sz="2200" dirty="0"/>
          </a:p>
        </p:txBody>
      </p:sp>
      <p:sp>
        <p:nvSpPr>
          <p:cNvPr id="9" name="anim-g1-2304"/>
          <p:cNvSpPr/>
          <p:nvPr/>
        </p:nvSpPr>
        <p:spPr>
          <a:xfrm>
            <a:off x="9086621"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يريد فعلًا أن يعرف الصحيح</a:t>
            </a:r>
            <a:endParaRPr lang="ar-SA" sz="1600" dirty="0"/>
          </a:p>
        </p:txBody>
      </p:sp>
      <p:sp>
        <p:nvSpPr>
          <p:cNvPr id="10" name="anim-g2-2305"/>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2306"/>
          <p:cNvSpPr/>
          <p:nvPr/>
        </p:nvSpPr>
        <p:spPr>
          <a:xfrm>
            <a:off x="7122604" y="2194560"/>
            <a:ext cx="640080" cy="640080"/>
          </a:xfrm>
          <a:prstGeom prst="roundRect">
            <a:avLst>
              <a:gd name="adj" fmla="val 25714"/>
            </a:avLst>
          </a:prstGeom>
          <a:solidFill>
            <a:srgbClr val="F7E6BC"/>
          </a:solidFill>
          <a:ln/>
        </p:spPr>
      </p:sp>
      <p:sp>
        <p:nvSpPr>
          <p:cNvPr id="12" name="anim-g2-2307"/>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2308"/>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إثبات الذات</a:t>
            </a:r>
            <a:endParaRPr lang="ar-SA" sz="2200" dirty="0"/>
          </a:p>
        </p:txBody>
      </p:sp>
      <p:sp>
        <p:nvSpPr>
          <p:cNvPr id="14" name="anim-g2-2309"/>
          <p:cNvSpPr/>
          <p:nvPr/>
        </p:nvSpPr>
        <p:spPr>
          <a:xfrm>
            <a:off x="6393028"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يريد أن يظهر ذكيًا أمام زملائه</a:t>
            </a:r>
            <a:endParaRPr lang="ar-SA" sz="1600" dirty="0"/>
          </a:p>
        </p:txBody>
      </p:sp>
      <p:sp>
        <p:nvSpPr>
          <p:cNvPr id="15" name="anim-g3-2310"/>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2311"/>
          <p:cNvSpPr/>
          <p:nvPr/>
        </p:nvSpPr>
        <p:spPr>
          <a:xfrm>
            <a:off x="4429011" y="2194560"/>
            <a:ext cx="640080" cy="640080"/>
          </a:xfrm>
          <a:prstGeom prst="roundRect">
            <a:avLst>
              <a:gd name="adj" fmla="val 25714"/>
            </a:avLst>
          </a:prstGeom>
          <a:solidFill>
            <a:srgbClr val="F7E6BC"/>
          </a:solidFill>
          <a:ln/>
        </p:spPr>
      </p:sp>
      <p:sp>
        <p:nvSpPr>
          <p:cNvPr id="17" name="anim-g3-2312"/>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2313"/>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اختبار</a:t>
            </a:r>
            <a:endParaRPr lang="ar-SA" sz="2200" dirty="0"/>
          </a:p>
        </p:txBody>
      </p:sp>
      <p:sp>
        <p:nvSpPr>
          <p:cNvPr id="19" name="anim-g3-2314"/>
          <p:cNvSpPr/>
          <p:nvPr/>
        </p:nvSpPr>
        <p:spPr>
          <a:xfrm>
            <a:off x="3699434"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يقيس ردّ فعل المعلم</a:t>
            </a:r>
            <a:endParaRPr lang="ar-SA" sz="1600" dirty="0"/>
          </a:p>
        </p:txBody>
      </p:sp>
      <p:sp>
        <p:nvSpPr>
          <p:cNvPr id="20" name="anim-g4-2315"/>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2316"/>
          <p:cNvSpPr/>
          <p:nvPr/>
        </p:nvSpPr>
        <p:spPr>
          <a:xfrm>
            <a:off x="1735417" y="2194560"/>
            <a:ext cx="640080" cy="640080"/>
          </a:xfrm>
          <a:prstGeom prst="roundRect">
            <a:avLst>
              <a:gd name="adj" fmla="val 25714"/>
            </a:avLst>
          </a:prstGeom>
          <a:solidFill>
            <a:srgbClr val="F7E6BC"/>
          </a:solidFill>
          <a:ln/>
        </p:spPr>
      </p:sp>
      <p:sp>
        <p:nvSpPr>
          <p:cNvPr id="22" name="anim-g4-2317"/>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2318"/>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ثقة بالشاشة</a:t>
            </a:r>
            <a:endParaRPr lang="ar-SA" sz="2200" dirty="0"/>
          </a:p>
        </p:txBody>
      </p:sp>
      <p:sp>
        <p:nvSpPr>
          <p:cNvPr id="24" name="anim-g4-2319"/>
          <p:cNvSpPr/>
          <p:nvPr/>
        </p:nvSpPr>
        <p:spPr>
          <a:xfrm>
            <a:off x="1005840" y="3474720"/>
            <a:ext cx="2099234" cy="960120"/>
          </a:xfrm>
          <a:prstGeom prst="rect">
            <a:avLst/>
          </a:prstGeom>
          <a:noFill/>
          <a:ln/>
        </p:spPr>
        <p:txBody>
          <a:bodyPr wrap="square" lIns="0" tIns="0" rIns="0" bIns="0" rtlCol="0" anchor="t">
            <a:normAutofit/>
          </a:bodyPr>
          <a:lstStyle/>
          <a:p>
            <a:pPr rtl="1" algn="ctr" indent="0" marL="0">
              <a:buNone/>
            </a:pPr>
            <a:r>
              <a:rPr lang="ar-SA" altLang="en-US" sz="1600" b="1" dirty="0">
                <a:solidFill>
                  <a:srgbClr val="3B4460"/>
                </a:solidFill>
                <a:latin typeface="Cairo" pitchFamily="34" charset="0"/>
                <a:ea typeface="Cairo" pitchFamily="34" charset="-122"/>
                <a:cs typeface="Cairo" pitchFamily="34" charset="-120"/>
              </a:rPr>
              <a:t>يصدّق كل ما يقرؤه على الإنترنت</a:t>
            </a:r>
            <a:endParaRPr lang="ar-SA" sz="1600" dirty="0"/>
          </a:p>
        </p:txBody>
      </p:sp>
      <p:sp>
        <p:nvSpPr>
          <p:cNvPr id="25" name="anim-g5-2320"/>
          <p:cNvSpPr/>
          <p:nvPr/>
        </p:nvSpPr>
        <p:spPr>
          <a:xfrm>
            <a:off x="822960" y="4754880"/>
            <a:ext cx="10545775" cy="1051560"/>
          </a:xfrm>
          <a:prstGeom prst="roundRect">
            <a:avLst>
              <a:gd name="adj" fmla="val 17391"/>
            </a:avLst>
          </a:prstGeom>
          <a:solidFill>
            <a:srgbClr val="101B45"/>
          </a:solidFill>
          <a:ln/>
        </p:spPr>
      </p:sp>
      <p:sp>
        <p:nvSpPr>
          <p:cNvPr id="26" name="anim-g5-2321"/>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000" b="1" dirty="0">
                <a:solidFill>
                  <a:srgbClr val="FFFFFF"/>
                </a:solidFill>
                <a:latin typeface="Cairo" pitchFamily="34" charset="0"/>
                <a:ea typeface="Cairo" pitchFamily="34" charset="-122"/>
                <a:cs typeface="Cairo" pitchFamily="34" charset="-120"/>
              </a:rPr>
              <a:t>💡 المعلم اليوم ليس المصدر الوحيد للمعلومة…</a:t>
            </a:r>
            <a:endParaRPr lang="ar-SA" sz="2000" dirty="0"/>
          </a:p>
          <a:p>
            <a:pPr algn="ctr" indent="0" marL="0">
              <a:buNone/>
            </a:pPr>
            <a:r>
              <a:rPr lang="ar-SA" altLang="en-US" sz="2000" b="1" dirty="0">
                <a:solidFill>
                  <a:srgbClr val="F0CC7A"/>
                </a:solidFill>
                <a:latin typeface="Cairo" pitchFamily="34" charset="0"/>
                <a:ea typeface="Cairo" pitchFamily="34" charset="-122"/>
                <a:cs typeface="Cairo" pitchFamily="34" charset="-120"/>
              </a:rPr>
              <a:t> بل مرشد يعلّم كيف نتحقق منها</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92.xml><?xml version="1.0" encoding="utf-8"?>
<p:sld xmlns:a="http://schemas.openxmlformats.org/drawingml/2006/main" xmlns:r="http://schemas.openxmlformats.org/officeDocument/2006/relationships" xmlns:p="http://schemas.openxmlformats.org/presentationml/2006/main">
  <p:cSld name="Slide 1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 ماذا تفعل فورًا؟</a:t>
            </a:r>
            <a:endParaRPr lang="ar-SA" sz="16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2322"/>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323"/>
          <p:cNvSpPr/>
          <p:nvPr/>
        </p:nvSpPr>
        <p:spPr>
          <a:xfrm>
            <a:off x="9747618" y="2423160"/>
            <a:ext cx="777240" cy="777240"/>
          </a:xfrm>
          <a:prstGeom prst="ellipse">
            <a:avLst/>
          </a:prstGeom>
          <a:solidFill>
            <a:srgbClr val="D9AE4B"/>
          </a:solidFill>
          <a:ln/>
        </p:spPr>
      </p:sp>
      <p:sp>
        <p:nvSpPr>
          <p:cNvPr id="9" name="anim-g1-2324"/>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325"/>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اشكره</a:t>
            </a:r>
            <a:endParaRPr lang="ar-SA" sz="2500" dirty="0"/>
          </a:p>
        </p:txBody>
      </p:sp>
      <p:sp>
        <p:nvSpPr>
          <p:cNvPr id="11" name="anim-g1-2326"/>
          <p:cNvSpPr/>
          <p:nvPr/>
        </p:nvSpPr>
        <p:spPr>
          <a:xfrm>
            <a:off x="9132341"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«سؤال رائع يا بدر»</a:t>
            </a:r>
            <a:endParaRPr lang="ar-SA" sz="1700" dirty="0"/>
          </a:p>
        </p:txBody>
      </p:sp>
      <p:sp>
        <p:nvSpPr>
          <p:cNvPr id="12" name="anim-g2-2327"/>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328"/>
          <p:cNvSpPr/>
          <p:nvPr/>
        </p:nvSpPr>
        <p:spPr>
          <a:xfrm>
            <a:off x="7054024" y="2423160"/>
            <a:ext cx="777240" cy="777240"/>
          </a:xfrm>
          <a:prstGeom prst="ellipse">
            <a:avLst/>
          </a:prstGeom>
          <a:solidFill>
            <a:srgbClr val="D9AE4B"/>
          </a:solidFill>
          <a:ln/>
        </p:spPr>
      </p:sp>
      <p:sp>
        <p:nvSpPr>
          <p:cNvPr id="14" name="anim-g2-2329"/>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330"/>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تدافع</a:t>
            </a:r>
            <a:endParaRPr lang="ar-SA" sz="2500" dirty="0"/>
          </a:p>
        </p:txBody>
      </p:sp>
      <p:sp>
        <p:nvSpPr>
          <p:cNvPr id="16" name="anim-g2-2331"/>
          <p:cNvSpPr/>
          <p:nvPr/>
        </p:nvSpPr>
        <p:spPr>
          <a:xfrm>
            <a:off x="6438748"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المهم الحقيقة، لا من المحق</a:t>
            </a:r>
            <a:endParaRPr lang="ar-SA" sz="1700" dirty="0"/>
          </a:p>
        </p:txBody>
      </p:sp>
      <p:sp>
        <p:nvSpPr>
          <p:cNvPr id="17" name="anim-g3-2332"/>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333"/>
          <p:cNvSpPr/>
          <p:nvPr/>
        </p:nvSpPr>
        <p:spPr>
          <a:xfrm>
            <a:off x="4360431" y="2423160"/>
            <a:ext cx="777240" cy="777240"/>
          </a:xfrm>
          <a:prstGeom prst="ellipse">
            <a:avLst/>
          </a:prstGeom>
          <a:solidFill>
            <a:srgbClr val="D9AE4B"/>
          </a:solidFill>
          <a:ln/>
        </p:spPr>
      </p:sp>
      <p:sp>
        <p:nvSpPr>
          <p:cNvPr id="19" name="anim-g3-2334"/>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335"/>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تحققوا معًا</a:t>
            </a:r>
            <a:endParaRPr lang="ar-SA" sz="2500" dirty="0"/>
          </a:p>
        </p:txBody>
      </p:sp>
      <p:sp>
        <p:nvSpPr>
          <p:cNvPr id="21" name="anim-g3-2336"/>
          <p:cNvSpPr/>
          <p:nvPr/>
        </p:nvSpPr>
        <p:spPr>
          <a:xfrm>
            <a:off x="3745154"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ما المصدر؟ وماذا يقول الكتاب؟ ومصدر ثالث؟</a:t>
            </a:r>
            <a:endParaRPr lang="ar-SA" sz="1700" dirty="0"/>
          </a:p>
        </p:txBody>
      </p:sp>
      <p:sp>
        <p:nvSpPr>
          <p:cNvPr id="22" name="anim-g4-2337"/>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338"/>
          <p:cNvSpPr/>
          <p:nvPr/>
        </p:nvSpPr>
        <p:spPr>
          <a:xfrm>
            <a:off x="1666837" y="2423160"/>
            <a:ext cx="777240" cy="777240"/>
          </a:xfrm>
          <a:prstGeom prst="ellipse">
            <a:avLst/>
          </a:prstGeom>
          <a:solidFill>
            <a:srgbClr val="D9AE4B"/>
          </a:solidFill>
          <a:ln/>
        </p:spPr>
      </p:sp>
      <p:sp>
        <p:nvSpPr>
          <p:cNvPr id="24" name="anim-g4-2339"/>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340"/>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اعترف إن أخطأت</a:t>
            </a:r>
            <a:endParaRPr lang="ar-SA" sz="2500" dirty="0"/>
          </a:p>
        </p:txBody>
      </p:sp>
      <p:sp>
        <p:nvSpPr>
          <p:cNvPr id="26" name="anim-g4-2341"/>
          <p:cNvSpPr/>
          <p:nvPr/>
        </p:nvSpPr>
        <p:spPr>
          <a:xfrm>
            <a:off x="1051560" y="4069080"/>
            <a:ext cx="2007794" cy="1188720"/>
          </a:xfrm>
          <a:prstGeom prst="rect">
            <a:avLst/>
          </a:prstGeom>
          <a:noFill/>
          <a:ln/>
        </p:spPr>
        <p:txBody>
          <a:bodyPr wrap="square" lIns="0" tIns="0" rIns="0" bIns="0" rtlCol="0" anchor="t">
            <a:normAutofit/>
          </a:bodyPr>
          <a:lstStyle/>
          <a:p>
            <a:pPr rtl="1" algn="ctr" indent="0" marL="0">
              <a:buNone/>
            </a:pPr>
            <a:r>
              <a:rPr lang="ar-SA" altLang="en-US" sz="1700" b="1" dirty="0">
                <a:solidFill>
                  <a:srgbClr val="3B4460"/>
                </a:solidFill>
                <a:latin typeface="Cairo" pitchFamily="34" charset="0"/>
                <a:ea typeface="Cairo" pitchFamily="34" charset="-122"/>
                <a:cs typeface="Cairo" pitchFamily="34" charset="-120"/>
              </a:rPr>
              <a:t>«تعلمت منك اليوم»</a:t>
            </a:r>
            <a:endParaRPr lang="ar-SA" sz="17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name="Slide 1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الجُمل الجاهزة</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2342"/>
          <p:cNvSpPr/>
          <p:nvPr/>
        </p:nvSpPr>
        <p:spPr>
          <a:xfrm>
            <a:off x="9768535" y="2130552"/>
            <a:ext cx="1600200" cy="819912"/>
          </a:xfrm>
          <a:prstGeom prst="roundRect">
            <a:avLst>
              <a:gd name="adj" fmla="val 16729"/>
            </a:avLst>
          </a:prstGeom>
          <a:solidFill>
            <a:srgbClr val="E9EDF9"/>
          </a:solidFill>
          <a:ln/>
        </p:spPr>
      </p:sp>
      <p:sp>
        <p:nvSpPr>
          <p:cNvPr id="6" name="anim-g1-2343"/>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فورًا</a:t>
            </a:r>
            <a:endParaRPr lang="ar-SA" sz="1400" dirty="0"/>
          </a:p>
        </p:txBody>
      </p:sp>
      <p:sp>
        <p:nvSpPr>
          <p:cNvPr id="7" name="anim-g1-2344"/>
          <p:cNvSpPr/>
          <p:nvPr/>
        </p:nvSpPr>
        <p:spPr>
          <a:xfrm>
            <a:off x="822960" y="2057400"/>
            <a:ext cx="8716975" cy="966216"/>
          </a:xfrm>
          <a:prstGeom prst="roundRect">
            <a:avLst>
              <a:gd name="adj" fmla="val 20820"/>
            </a:avLst>
          </a:prstGeom>
          <a:solidFill>
            <a:srgbClr val="101B45"/>
          </a:solidFill>
          <a:ln/>
        </p:spPr>
      </p:sp>
      <p:sp>
        <p:nvSpPr>
          <p:cNvPr id="8" name="anim-g1-2345"/>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سؤال ممتاز يا بدر! تعالوا نتحقق معًا: من أين هذه المعلومة؟</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9" name="anim-g2-2346"/>
          <p:cNvSpPr/>
          <p:nvPr/>
        </p:nvSpPr>
        <p:spPr>
          <a:xfrm>
            <a:off x="9768535" y="3243072"/>
            <a:ext cx="1600200" cy="819912"/>
          </a:xfrm>
          <a:prstGeom prst="roundRect">
            <a:avLst>
              <a:gd name="adj" fmla="val 16729"/>
            </a:avLst>
          </a:prstGeom>
          <a:solidFill>
            <a:srgbClr val="E9EDF9"/>
          </a:solidFill>
          <a:ln/>
        </p:spPr>
      </p:sp>
      <p:sp>
        <p:nvSpPr>
          <p:cNvPr id="10" name="anim-g2-2347"/>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إن كان محقًّا</a:t>
            </a:r>
            <a:endParaRPr lang="ar-SA" sz="1400" dirty="0"/>
          </a:p>
        </p:txBody>
      </p:sp>
      <p:sp>
        <p:nvSpPr>
          <p:cNvPr id="11" name="anim-g2-2348"/>
          <p:cNvSpPr/>
          <p:nvPr/>
        </p:nvSpPr>
        <p:spPr>
          <a:xfrm>
            <a:off x="822960" y="3169920"/>
            <a:ext cx="8716975" cy="966216"/>
          </a:xfrm>
          <a:prstGeom prst="roundRect">
            <a:avLst>
              <a:gd name="adj" fmla="val 20820"/>
            </a:avLst>
          </a:prstGeom>
          <a:solidFill>
            <a:srgbClr val="101B45"/>
          </a:solidFill>
          <a:ln/>
        </p:spPr>
      </p:sp>
      <p:sp>
        <p:nvSpPr>
          <p:cNvPr id="12" name="anim-g2-2349"/>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معك حق، وأشكرك. هكذا يتعلم العلماء: يراجعون ويصححون</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3" name="anim-g3-2350"/>
          <p:cNvSpPr/>
          <p:nvPr/>
        </p:nvSpPr>
        <p:spPr>
          <a:xfrm>
            <a:off x="9768535" y="4355592"/>
            <a:ext cx="1600200" cy="819912"/>
          </a:xfrm>
          <a:prstGeom prst="roundRect">
            <a:avLst>
              <a:gd name="adj" fmla="val 16729"/>
            </a:avLst>
          </a:prstGeom>
          <a:solidFill>
            <a:srgbClr val="E9EDF9"/>
          </a:solidFill>
          <a:ln/>
        </p:spPr>
      </p:sp>
      <p:sp>
        <p:nvSpPr>
          <p:cNvPr id="14" name="anim-g3-2351"/>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400" b="1" dirty="0">
                <a:solidFill>
                  <a:srgbClr val="22346F"/>
                </a:solidFill>
                <a:latin typeface="Cairo" pitchFamily="34" charset="0"/>
                <a:ea typeface="Cairo" pitchFamily="34" charset="-122"/>
                <a:cs typeface="Cairo" pitchFamily="34" charset="-120"/>
              </a:rPr>
              <a:t>إن كان المصدر ضعيفًا</a:t>
            </a:r>
            <a:endParaRPr lang="ar-SA" sz="1400" dirty="0"/>
          </a:p>
        </p:txBody>
      </p:sp>
      <p:sp>
        <p:nvSpPr>
          <p:cNvPr id="15" name="anim-g3-2352"/>
          <p:cNvSpPr/>
          <p:nvPr/>
        </p:nvSpPr>
        <p:spPr>
          <a:xfrm>
            <a:off x="822960" y="4282440"/>
            <a:ext cx="8716975" cy="966216"/>
          </a:xfrm>
          <a:prstGeom prst="roundRect">
            <a:avLst>
              <a:gd name="adj" fmla="val 20820"/>
            </a:avLst>
          </a:prstGeom>
          <a:solidFill>
            <a:srgbClr val="101B45"/>
          </a:solidFill>
          <a:ln/>
        </p:spPr>
      </p:sp>
      <p:sp>
        <p:nvSpPr>
          <p:cNvPr id="16" name="anim-g3-2353"/>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1800" b="1" dirty="0">
                <a:solidFill>
                  <a:srgbClr val="D9AE4B"/>
                </a:solidFill>
                <a:latin typeface="Cairo" pitchFamily="34" charset="0"/>
                <a:ea typeface="Cairo" pitchFamily="34" charset="-122"/>
                <a:cs typeface="Cairo" pitchFamily="34" charset="-120"/>
              </a:rPr>
              <a:t>« </a:t>
            </a:r>
            <a:pPr algn="r" indent="0" marL="0">
              <a:buNone/>
            </a:pPr>
            <a:r>
              <a:rPr lang="ar-SA" altLang="en-US" sz="1800" b="1" dirty="0">
                <a:solidFill>
                  <a:srgbClr val="FFFFFF"/>
                </a:solidFill>
                <a:latin typeface="Cairo" pitchFamily="34" charset="0"/>
                <a:ea typeface="Cairo" pitchFamily="34" charset="-122"/>
                <a:cs typeface="Cairo" pitchFamily="34" charset="-120"/>
              </a:rPr>
              <a:t>لاحظوا: هذا الموقع غير موثوق. ما علامات المصدر الذي نثق به؟</a:t>
            </a:r>
            <a:pPr algn="r" indent="0" marL="0">
              <a:buNone/>
            </a:pPr>
            <a:r>
              <a:rPr lang="ar-SA" altLang="en-US" sz="1800" b="1" dirty="0">
                <a:solidFill>
                  <a:srgbClr val="D9AE4B"/>
                </a:solidFill>
                <a:latin typeface="Cairo" pitchFamily="34" charset="0"/>
                <a:ea typeface="Cairo" pitchFamily="34" charset="-122"/>
                <a:cs typeface="Cairo" pitchFamily="34" charset="-120"/>
              </a:rPr>
              <a:t> »</a:t>
            </a:r>
            <a:endParaRPr lang="ar-SA" sz="1800" dirty="0"/>
          </a:p>
        </p:txBody>
      </p:sp>
      <p:sp>
        <p:nvSpPr>
          <p:cNvPr id="17" name="anim-g4-2354"/>
          <p:cNvSpPr/>
          <p:nvPr/>
        </p:nvSpPr>
        <p:spPr>
          <a:xfrm>
            <a:off x="822960" y="5532120"/>
            <a:ext cx="10545775" cy="548640"/>
          </a:xfrm>
          <a:prstGeom prst="roundRect">
            <a:avLst>
              <a:gd name="adj" fmla="val 20000"/>
            </a:avLst>
          </a:prstGeom>
          <a:solidFill>
            <a:srgbClr val="FBECEC"/>
          </a:solidFill>
          <a:ln/>
        </p:spPr>
      </p:sp>
      <p:sp>
        <p:nvSpPr>
          <p:cNvPr id="18" name="anim-g4-2355"/>
          <p:cNvSpPr/>
          <p:nvPr/>
        </p:nvSpPr>
        <p:spPr>
          <a:xfrm>
            <a:off x="11295583" y="5532120"/>
            <a:ext cx="73152" cy="548640"/>
          </a:xfrm>
          <a:prstGeom prst="rect">
            <a:avLst/>
          </a:prstGeom>
          <a:solidFill>
            <a:srgbClr val="D64545"/>
          </a:solidFill>
          <a:ln/>
        </p:spPr>
      </p:sp>
      <p:sp>
        <p:nvSpPr>
          <p:cNvPr id="19" name="anim-g4-2356"/>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600" b="1" dirty="0">
                <a:solidFill>
                  <a:srgbClr val="8E2A2A"/>
                </a:solidFill>
                <a:latin typeface="Cairo" pitchFamily="34" charset="0"/>
                <a:ea typeface="Cairo" pitchFamily="34" charset="-122"/>
                <a:cs typeface="Cairo" pitchFamily="34" charset="-120"/>
              </a:rPr>
              <a:t>⚠️ تجنّب: «أنا المعلم، وكلامي هو الصحيح»</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name="Slide 1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357"/>
          <p:cNvSpPr/>
          <p:nvPr/>
        </p:nvSpPr>
        <p:spPr>
          <a:xfrm>
            <a:off x="6415888" y="2194560"/>
            <a:ext cx="4952848" cy="804672"/>
          </a:xfrm>
          <a:prstGeom prst="roundRect">
            <a:avLst>
              <a:gd name="adj" fmla="val 15909"/>
            </a:avLst>
          </a:prstGeom>
          <a:solidFill>
            <a:srgbClr val="FBECEC"/>
          </a:solidFill>
          <a:ln/>
        </p:spPr>
      </p:sp>
      <p:sp>
        <p:nvSpPr>
          <p:cNvPr id="6" name="anim-g1-2358"/>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الدفاع عن الخطأ حفاظًا على الهيبة</a:t>
            </a:r>
            <a:endParaRPr lang="ar-SA" sz="1900" dirty="0"/>
          </a:p>
        </p:txBody>
      </p:sp>
      <p:sp>
        <p:nvSpPr>
          <p:cNvPr id="7" name="anim-g1-2359"/>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360"/>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9" name="anim-g2-2361"/>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362"/>
          <p:cNvSpPr/>
          <p:nvPr/>
        </p:nvSpPr>
        <p:spPr>
          <a:xfrm>
            <a:off x="822960" y="2194560"/>
            <a:ext cx="4952848" cy="804672"/>
          </a:xfrm>
          <a:prstGeom prst="roundRect">
            <a:avLst>
              <a:gd name="adj" fmla="val 15909"/>
            </a:avLst>
          </a:prstGeom>
          <a:solidFill>
            <a:srgbClr val="E6F4EC"/>
          </a:solidFill>
          <a:ln/>
        </p:spPr>
      </p:sp>
      <p:sp>
        <p:nvSpPr>
          <p:cNvPr id="11" name="anim-g2-2363"/>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الاعتراف بالخطأ يرفع الهيبة</a:t>
            </a:r>
            <a:endParaRPr lang="ar-SA" sz="1900" dirty="0"/>
          </a:p>
        </p:txBody>
      </p:sp>
      <p:sp>
        <p:nvSpPr>
          <p:cNvPr id="12" name="anim-g3-2364"/>
          <p:cNvSpPr/>
          <p:nvPr/>
        </p:nvSpPr>
        <p:spPr>
          <a:xfrm>
            <a:off x="6415888" y="3154680"/>
            <a:ext cx="4952848" cy="804672"/>
          </a:xfrm>
          <a:prstGeom prst="roundRect">
            <a:avLst>
              <a:gd name="adj" fmla="val 15909"/>
            </a:avLst>
          </a:prstGeom>
          <a:solidFill>
            <a:srgbClr val="FBECEC"/>
          </a:solidFill>
          <a:ln/>
        </p:spPr>
      </p:sp>
      <p:sp>
        <p:nvSpPr>
          <p:cNvPr id="13" name="anim-g3-2365"/>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اعتبار السؤال تحديًا شخصيًا</a:t>
            </a:r>
            <a:endParaRPr lang="ar-SA" sz="1900" dirty="0"/>
          </a:p>
        </p:txBody>
      </p:sp>
      <p:sp>
        <p:nvSpPr>
          <p:cNvPr id="14" name="anim-g3-2366"/>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367"/>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16" name="anim-g4-2368"/>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369"/>
          <p:cNvSpPr/>
          <p:nvPr/>
        </p:nvSpPr>
        <p:spPr>
          <a:xfrm>
            <a:off x="822960" y="3154680"/>
            <a:ext cx="4952848" cy="804672"/>
          </a:xfrm>
          <a:prstGeom prst="roundRect">
            <a:avLst>
              <a:gd name="adj" fmla="val 15909"/>
            </a:avLst>
          </a:prstGeom>
          <a:solidFill>
            <a:srgbClr val="E6F4EC"/>
          </a:solidFill>
          <a:ln/>
        </p:spPr>
      </p:sp>
      <p:sp>
        <p:nvSpPr>
          <p:cNvPr id="18" name="anim-g4-2370"/>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اعتباره فرصة تعليمية</a:t>
            </a:r>
            <a:endParaRPr lang="ar-SA" sz="1900" dirty="0"/>
          </a:p>
        </p:txBody>
      </p:sp>
      <p:sp>
        <p:nvSpPr>
          <p:cNvPr id="19" name="anim-g5-2371"/>
          <p:cNvSpPr/>
          <p:nvPr/>
        </p:nvSpPr>
        <p:spPr>
          <a:xfrm>
            <a:off x="6415888" y="4114800"/>
            <a:ext cx="4952848" cy="804672"/>
          </a:xfrm>
          <a:prstGeom prst="roundRect">
            <a:avLst>
              <a:gd name="adj" fmla="val 15909"/>
            </a:avLst>
          </a:prstGeom>
          <a:solidFill>
            <a:srgbClr val="FBECEC"/>
          </a:solidFill>
          <a:ln/>
        </p:spPr>
      </p:sp>
      <p:sp>
        <p:nvSpPr>
          <p:cNvPr id="20" name="anim-g5-2372"/>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منع الأسئلة من الإنترنت</a:t>
            </a:r>
            <a:endParaRPr lang="ar-SA" sz="1900" dirty="0"/>
          </a:p>
        </p:txBody>
      </p:sp>
      <p:sp>
        <p:nvSpPr>
          <p:cNvPr id="21" name="anim-g5-2373"/>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374"/>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600" b="1" dirty="0">
                <a:solidFill>
                  <a:srgbClr val="8FB5A2"/>
                </a:solidFill>
                <a:latin typeface="Cairo" pitchFamily="34" charset="0"/>
                <a:ea typeface="Cairo" pitchFamily="34" charset="-122"/>
                <a:cs typeface="Cairo" pitchFamily="34" charset="-120"/>
              </a:rPr>
              <a:t>💬 ناقشوا… ما البديل؟</a:t>
            </a:r>
            <a:endParaRPr lang="ar-SA" sz="1600" dirty="0"/>
          </a:p>
        </p:txBody>
      </p:sp>
      <p:sp>
        <p:nvSpPr>
          <p:cNvPr id="23" name="anim-g6-2375"/>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376"/>
          <p:cNvSpPr/>
          <p:nvPr/>
        </p:nvSpPr>
        <p:spPr>
          <a:xfrm>
            <a:off x="822960" y="4114800"/>
            <a:ext cx="4952848" cy="804672"/>
          </a:xfrm>
          <a:prstGeom prst="roundRect">
            <a:avLst>
              <a:gd name="adj" fmla="val 15909"/>
            </a:avLst>
          </a:prstGeom>
          <a:solidFill>
            <a:srgbClr val="E6F4EC"/>
          </a:solidFill>
          <a:ln/>
        </p:spPr>
      </p:sp>
      <p:sp>
        <p:nvSpPr>
          <p:cNvPr id="25" name="anim-g6-2377"/>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1900" b="1" dirty="0">
                <a:solidFill>
                  <a:srgbClr val="1D5E40"/>
                </a:solidFill>
                <a:latin typeface="Cairo" pitchFamily="34" charset="0"/>
                <a:ea typeface="Cairo" pitchFamily="34" charset="-122"/>
                <a:cs typeface="Cairo" pitchFamily="34" charset="-120"/>
              </a:rPr>
              <a:t>تعليم مهارة التحقق من المصادر</a:t>
            </a:r>
            <a:endParaRPr lang="ar-SA" sz="19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name="Slide 1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خلاصة الموقف</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الذي يقول «تعلّمت منك»…</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يعلّم أعظم درس</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المعلومة على الشاشة  ·  ١٩٥</a:t>
            </a:r>
            <a:endParaRPr lang="ar-SA" sz="12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٩</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٩</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عيادة المواقف</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دليل سريع لأشهر السلوكيات… ثم خطتك أنت</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١٩٦</a:t>
            </a:r>
            <a:endParaRPr lang="ar-SA" sz="12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الدليل السريع (١ من ٢)</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السلوك… سببه المحتمل… وماذا تفعل غدًا</a:t>
            </a:r>
            <a:endParaRPr lang="ar-SA" sz="3200" dirty="0"/>
          </a:p>
        </p:txBody>
      </p:sp>
      <p:sp>
        <p:nvSpPr>
          <p:cNvPr id="5" name="Shape 3"/>
          <p:cNvSpPr/>
          <p:nvPr/>
        </p:nvSpPr>
        <p:spPr>
          <a:xfrm>
            <a:off x="8577838" y="1874520"/>
            <a:ext cx="2790897" cy="502920"/>
          </a:xfrm>
          <a:prstGeom prst="roundRect">
            <a:avLst>
              <a:gd name="adj" fmla="val 21818"/>
            </a:avLst>
          </a:prstGeom>
          <a:solidFill>
            <a:srgbClr val="101B45"/>
          </a:solidFill>
          <a:ln/>
        </p:spPr>
      </p:sp>
      <p:sp>
        <p:nvSpPr>
          <p:cNvPr id="6" name="Text 4"/>
          <p:cNvSpPr/>
          <p:nvPr/>
        </p:nvSpPr>
        <p:spPr>
          <a:xfrm>
            <a:off x="8577838" y="1874520"/>
            <a:ext cx="2790897"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السلوك</a:t>
            </a:r>
            <a:endParaRPr lang="ar-SA" sz="1600" dirty="0"/>
          </a:p>
        </p:txBody>
      </p:sp>
      <p:sp>
        <p:nvSpPr>
          <p:cNvPr id="7" name="Shape 5"/>
          <p:cNvSpPr/>
          <p:nvPr/>
        </p:nvSpPr>
        <p:spPr>
          <a:xfrm>
            <a:off x="5956303" y="1874520"/>
            <a:ext cx="2511807" cy="502920"/>
          </a:xfrm>
          <a:prstGeom prst="roundRect">
            <a:avLst>
              <a:gd name="adj" fmla="val 21818"/>
            </a:avLst>
          </a:prstGeom>
          <a:solidFill>
            <a:srgbClr val="101B45"/>
          </a:solidFill>
          <a:ln/>
        </p:spPr>
      </p:sp>
      <p:sp>
        <p:nvSpPr>
          <p:cNvPr id="8" name="Text 6"/>
          <p:cNvSpPr/>
          <p:nvPr/>
        </p:nvSpPr>
        <p:spPr>
          <a:xfrm>
            <a:off x="5956303" y="1874520"/>
            <a:ext cx="2511807"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السبب المحتمل</a:t>
            </a:r>
            <a:endParaRPr lang="ar-SA" sz="1600" dirty="0"/>
          </a:p>
        </p:txBody>
      </p:sp>
      <p:sp>
        <p:nvSpPr>
          <p:cNvPr id="9" name="Shape 7"/>
          <p:cNvSpPr/>
          <p:nvPr/>
        </p:nvSpPr>
        <p:spPr>
          <a:xfrm>
            <a:off x="822960" y="1874520"/>
            <a:ext cx="5023615" cy="502920"/>
          </a:xfrm>
          <a:prstGeom prst="roundRect">
            <a:avLst>
              <a:gd name="adj" fmla="val 21818"/>
            </a:avLst>
          </a:prstGeom>
          <a:solidFill>
            <a:srgbClr val="101B45"/>
          </a:solidFill>
          <a:ln/>
        </p:spPr>
      </p:sp>
      <p:sp>
        <p:nvSpPr>
          <p:cNvPr id="10" name="Text 8"/>
          <p:cNvSpPr/>
          <p:nvPr/>
        </p:nvSpPr>
        <p:spPr>
          <a:xfrm>
            <a:off x="822960" y="1874520"/>
            <a:ext cx="5023615"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ماذا تفعل عمليًا؟</a:t>
            </a:r>
            <a:endParaRPr lang="ar-SA" sz="1600" dirty="0"/>
          </a:p>
        </p:txBody>
      </p:sp>
      <p:sp>
        <p:nvSpPr>
          <p:cNvPr id="11" name="anim-g1-2378"/>
          <p:cNvSpPr/>
          <p:nvPr/>
        </p:nvSpPr>
        <p:spPr>
          <a:xfrm>
            <a:off x="8577838" y="2468880"/>
            <a:ext cx="2790897" cy="640080"/>
          </a:xfrm>
          <a:prstGeom prst="roundRect">
            <a:avLst>
              <a:gd name="adj" fmla="val 17143"/>
            </a:avLst>
          </a:prstGeom>
          <a:solidFill>
            <a:srgbClr val="FBF3DF"/>
          </a:solidFill>
          <a:ln w="12700">
            <a:solidFill>
              <a:srgbClr val="EFDDAF"/>
            </a:solidFill>
            <a:prstDash val="solid"/>
          </a:ln>
        </p:spPr>
      </p:sp>
      <p:sp>
        <p:nvSpPr>
          <p:cNvPr id="12" name="anim-g1-2379"/>
          <p:cNvSpPr/>
          <p:nvPr/>
        </p:nvSpPr>
        <p:spPr>
          <a:xfrm>
            <a:off x="8714998" y="2468880"/>
            <a:ext cx="251657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01B45"/>
                </a:solidFill>
                <a:latin typeface="Cairo Black" pitchFamily="34" charset="0"/>
                <a:ea typeface="Cairo Black" pitchFamily="34" charset="-122"/>
                <a:cs typeface="Cairo Black" pitchFamily="34" charset="-120"/>
              </a:rPr>
              <a:t>السخرية والمضايقة العلنية</a:t>
            </a:r>
            <a:endParaRPr lang="ar-SA" sz="1400" dirty="0"/>
          </a:p>
        </p:txBody>
      </p:sp>
      <p:sp>
        <p:nvSpPr>
          <p:cNvPr id="13" name="anim-g1-2380"/>
          <p:cNvSpPr/>
          <p:nvPr/>
        </p:nvSpPr>
        <p:spPr>
          <a:xfrm>
            <a:off x="5956303" y="2468880"/>
            <a:ext cx="2511807" cy="640080"/>
          </a:xfrm>
          <a:prstGeom prst="roundRect">
            <a:avLst>
              <a:gd name="adj" fmla="val 17143"/>
            </a:avLst>
          </a:prstGeom>
          <a:solidFill>
            <a:srgbClr val="FFFFFF"/>
          </a:solidFill>
          <a:ln w="12700">
            <a:solidFill>
              <a:srgbClr val="E4DCC8"/>
            </a:solidFill>
            <a:prstDash val="solid"/>
          </a:ln>
        </p:spPr>
      </p:sp>
      <p:sp>
        <p:nvSpPr>
          <p:cNvPr id="14" name="anim-g1-2381"/>
          <p:cNvSpPr/>
          <p:nvPr/>
        </p:nvSpPr>
        <p:spPr>
          <a:xfrm>
            <a:off x="6093463" y="2468880"/>
            <a:ext cx="223748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31B34"/>
                </a:solidFill>
                <a:latin typeface="Cairo" pitchFamily="34" charset="0"/>
                <a:ea typeface="Cairo" pitchFamily="34" charset="-122"/>
                <a:cs typeface="Cairo" pitchFamily="34" charset="-120"/>
              </a:rPr>
              <a:t>لفت الانتباه</a:t>
            </a:r>
            <a:endParaRPr lang="ar-SA" sz="1400" dirty="0"/>
          </a:p>
        </p:txBody>
      </p:sp>
      <p:sp>
        <p:nvSpPr>
          <p:cNvPr id="15" name="anim-g1-2382"/>
          <p:cNvSpPr/>
          <p:nvPr/>
        </p:nvSpPr>
        <p:spPr>
          <a:xfrm>
            <a:off x="822960" y="2468880"/>
            <a:ext cx="5023615" cy="640080"/>
          </a:xfrm>
          <a:prstGeom prst="roundRect">
            <a:avLst>
              <a:gd name="adj" fmla="val 17143"/>
            </a:avLst>
          </a:prstGeom>
          <a:solidFill>
            <a:srgbClr val="E6F4EC"/>
          </a:solidFill>
          <a:ln w="12700">
            <a:solidFill>
              <a:srgbClr val="CDE9D9"/>
            </a:solidFill>
            <a:prstDash val="solid"/>
          </a:ln>
        </p:spPr>
      </p:sp>
      <p:sp>
        <p:nvSpPr>
          <p:cNvPr id="16" name="anim-g1-2383"/>
          <p:cNvSpPr/>
          <p:nvPr/>
        </p:nvSpPr>
        <p:spPr>
          <a:xfrm>
            <a:off x="960120" y="2468880"/>
            <a:ext cx="4749295"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D5E40"/>
                </a:solidFill>
                <a:latin typeface="Cairo" pitchFamily="34" charset="0"/>
                <a:ea typeface="Cairo" pitchFamily="34" charset="-122"/>
                <a:cs typeface="Cairo" pitchFamily="34" charset="-120"/>
              </a:rPr>
              <a:t>انتباه للسلوك الجيد فقط، ومهمة لها قيمة، وحوار خاص: «أريد صوتك في الإجابات لا في التعليقات»</a:t>
            </a:r>
            <a:endParaRPr lang="ar-SA" sz="1400" dirty="0"/>
          </a:p>
        </p:txBody>
      </p:sp>
      <p:sp>
        <p:nvSpPr>
          <p:cNvPr id="17" name="anim-g2-2384"/>
          <p:cNvSpPr/>
          <p:nvPr/>
        </p:nvSpPr>
        <p:spPr>
          <a:xfrm>
            <a:off x="8577838" y="3200400"/>
            <a:ext cx="2790897" cy="640080"/>
          </a:xfrm>
          <a:prstGeom prst="roundRect">
            <a:avLst>
              <a:gd name="adj" fmla="val 17143"/>
            </a:avLst>
          </a:prstGeom>
          <a:solidFill>
            <a:srgbClr val="FBF3DF"/>
          </a:solidFill>
          <a:ln w="12700">
            <a:solidFill>
              <a:srgbClr val="EFDDAF"/>
            </a:solidFill>
            <a:prstDash val="solid"/>
          </a:ln>
        </p:spPr>
      </p:sp>
      <p:sp>
        <p:nvSpPr>
          <p:cNvPr id="18" name="anim-g2-2385"/>
          <p:cNvSpPr/>
          <p:nvPr/>
        </p:nvSpPr>
        <p:spPr>
          <a:xfrm>
            <a:off x="8714998" y="3200400"/>
            <a:ext cx="251657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01B45"/>
                </a:solidFill>
                <a:latin typeface="Cairo Black" pitchFamily="34" charset="0"/>
                <a:ea typeface="Cairo Black" pitchFamily="34" charset="-122"/>
                <a:cs typeface="Cairo Black" pitchFamily="34" charset="-120"/>
              </a:rPr>
              <a:t>العدوان اللفظي أو الجسدي</a:t>
            </a:r>
            <a:endParaRPr lang="ar-SA" sz="1400" dirty="0"/>
          </a:p>
        </p:txBody>
      </p:sp>
      <p:sp>
        <p:nvSpPr>
          <p:cNvPr id="19" name="anim-g2-2386"/>
          <p:cNvSpPr/>
          <p:nvPr/>
        </p:nvSpPr>
        <p:spPr>
          <a:xfrm>
            <a:off x="5956303" y="3200400"/>
            <a:ext cx="2511807" cy="640080"/>
          </a:xfrm>
          <a:prstGeom prst="roundRect">
            <a:avLst>
              <a:gd name="adj" fmla="val 17143"/>
            </a:avLst>
          </a:prstGeom>
          <a:solidFill>
            <a:srgbClr val="FFFFFF"/>
          </a:solidFill>
          <a:ln w="12700">
            <a:solidFill>
              <a:srgbClr val="E4DCC8"/>
            </a:solidFill>
            <a:prstDash val="solid"/>
          </a:ln>
        </p:spPr>
      </p:sp>
      <p:sp>
        <p:nvSpPr>
          <p:cNvPr id="20" name="anim-g2-2387"/>
          <p:cNvSpPr/>
          <p:nvPr/>
        </p:nvSpPr>
        <p:spPr>
          <a:xfrm>
            <a:off x="6093463" y="3200400"/>
            <a:ext cx="223748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31B34"/>
                </a:solidFill>
                <a:latin typeface="Cairo" pitchFamily="34" charset="0"/>
                <a:ea typeface="Cairo" pitchFamily="34" charset="-122"/>
                <a:cs typeface="Cairo" pitchFamily="34" charset="-120"/>
              </a:rPr>
              <a:t>غضب، أو غيرة، أو مشكلة خارجية</a:t>
            </a:r>
            <a:endParaRPr lang="ar-SA" sz="1400" dirty="0"/>
          </a:p>
        </p:txBody>
      </p:sp>
      <p:sp>
        <p:nvSpPr>
          <p:cNvPr id="21" name="anim-g2-2388"/>
          <p:cNvSpPr/>
          <p:nvPr/>
        </p:nvSpPr>
        <p:spPr>
          <a:xfrm>
            <a:off x="822960" y="3200400"/>
            <a:ext cx="5023615" cy="640080"/>
          </a:xfrm>
          <a:prstGeom prst="roundRect">
            <a:avLst>
              <a:gd name="adj" fmla="val 17143"/>
            </a:avLst>
          </a:prstGeom>
          <a:solidFill>
            <a:srgbClr val="E6F4EC"/>
          </a:solidFill>
          <a:ln w="12700">
            <a:solidFill>
              <a:srgbClr val="CDE9D9"/>
            </a:solidFill>
            <a:prstDash val="solid"/>
          </a:ln>
        </p:spPr>
      </p:sp>
      <p:sp>
        <p:nvSpPr>
          <p:cNvPr id="22" name="anim-g2-2389"/>
          <p:cNvSpPr/>
          <p:nvPr/>
        </p:nvSpPr>
        <p:spPr>
          <a:xfrm>
            <a:off x="960120" y="3200400"/>
            <a:ext cx="4749295"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D5E40"/>
                </a:solidFill>
                <a:latin typeface="Cairo" pitchFamily="34" charset="0"/>
                <a:ea typeface="Cairo" pitchFamily="34" charset="-122"/>
                <a:cs typeface="Cairo" pitchFamily="34" charset="-120"/>
              </a:rPr>
              <a:t>أوقف الأذى وافصل بهدوء، ثم تهدئة، ثم حوار ترميمي، وإبلاغ المرشد</a:t>
            </a:r>
            <a:endParaRPr lang="ar-SA" sz="1400" dirty="0"/>
          </a:p>
        </p:txBody>
      </p:sp>
      <p:sp>
        <p:nvSpPr>
          <p:cNvPr id="23" name="anim-g3-2390"/>
          <p:cNvSpPr/>
          <p:nvPr/>
        </p:nvSpPr>
        <p:spPr>
          <a:xfrm>
            <a:off x="8577838" y="3931920"/>
            <a:ext cx="2790897" cy="640080"/>
          </a:xfrm>
          <a:prstGeom prst="roundRect">
            <a:avLst>
              <a:gd name="adj" fmla="val 17143"/>
            </a:avLst>
          </a:prstGeom>
          <a:solidFill>
            <a:srgbClr val="FBF3DF"/>
          </a:solidFill>
          <a:ln w="12700">
            <a:solidFill>
              <a:srgbClr val="EFDDAF"/>
            </a:solidFill>
            <a:prstDash val="solid"/>
          </a:ln>
        </p:spPr>
      </p:sp>
      <p:sp>
        <p:nvSpPr>
          <p:cNvPr id="24" name="anim-g3-2391"/>
          <p:cNvSpPr/>
          <p:nvPr/>
        </p:nvSpPr>
        <p:spPr>
          <a:xfrm>
            <a:off x="8714998" y="3931920"/>
            <a:ext cx="251657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01B45"/>
                </a:solidFill>
                <a:latin typeface="Cairo Black" pitchFamily="34" charset="0"/>
                <a:ea typeface="Cairo Black" pitchFamily="34" charset="-122"/>
                <a:cs typeface="Cairo Black" pitchFamily="34" charset="-120"/>
              </a:rPr>
              <a:t>تحدّي المعلم وعصيانه</a:t>
            </a:r>
            <a:endParaRPr lang="ar-SA" sz="1400" dirty="0"/>
          </a:p>
        </p:txBody>
      </p:sp>
      <p:sp>
        <p:nvSpPr>
          <p:cNvPr id="25" name="anim-g3-2392"/>
          <p:cNvSpPr/>
          <p:nvPr/>
        </p:nvSpPr>
        <p:spPr>
          <a:xfrm>
            <a:off x="5956303" y="3931920"/>
            <a:ext cx="2511807" cy="640080"/>
          </a:xfrm>
          <a:prstGeom prst="roundRect">
            <a:avLst>
              <a:gd name="adj" fmla="val 17143"/>
            </a:avLst>
          </a:prstGeom>
          <a:solidFill>
            <a:srgbClr val="FFFFFF"/>
          </a:solidFill>
          <a:ln w="12700">
            <a:solidFill>
              <a:srgbClr val="E4DCC8"/>
            </a:solidFill>
            <a:prstDash val="solid"/>
          </a:ln>
        </p:spPr>
      </p:sp>
      <p:sp>
        <p:nvSpPr>
          <p:cNvPr id="26" name="anim-g3-2393"/>
          <p:cNvSpPr/>
          <p:nvPr/>
        </p:nvSpPr>
        <p:spPr>
          <a:xfrm>
            <a:off x="6093463" y="3931920"/>
            <a:ext cx="223748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31B34"/>
                </a:solidFill>
                <a:latin typeface="Cairo" pitchFamily="34" charset="0"/>
                <a:ea typeface="Cairo" pitchFamily="34" charset="-122"/>
                <a:cs typeface="Cairo" pitchFamily="34" charset="-120"/>
              </a:rPr>
              <a:t>إثبات القوة</a:t>
            </a:r>
            <a:endParaRPr lang="ar-SA" sz="1400" dirty="0"/>
          </a:p>
        </p:txBody>
      </p:sp>
      <p:sp>
        <p:nvSpPr>
          <p:cNvPr id="27" name="anim-g3-2394"/>
          <p:cNvSpPr/>
          <p:nvPr/>
        </p:nvSpPr>
        <p:spPr>
          <a:xfrm>
            <a:off x="822960" y="3931920"/>
            <a:ext cx="5023615" cy="640080"/>
          </a:xfrm>
          <a:prstGeom prst="roundRect">
            <a:avLst>
              <a:gd name="adj" fmla="val 17143"/>
            </a:avLst>
          </a:prstGeom>
          <a:solidFill>
            <a:srgbClr val="E6F4EC"/>
          </a:solidFill>
          <a:ln w="12700">
            <a:solidFill>
              <a:srgbClr val="CDE9D9"/>
            </a:solidFill>
            <a:prstDash val="solid"/>
          </a:ln>
        </p:spPr>
      </p:sp>
      <p:sp>
        <p:nvSpPr>
          <p:cNvPr id="28" name="anim-g3-2395"/>
          <p:cNvSpPr/>
          <p:nvPr/>
        </p:nvSpPr>
        <p:spPr>
          <a:xfrm>
            <a:off x="960120" y="3931920"/>
            <a:ext cx="4749295"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D5E40"/>
                </a:solidFill>
                <a:latin typeface="Cairo" pitchFamily="34" charset="0"/>
                <a:ea typeface="Cairo" pitchFamily="34" charset="-122"/>
                <a:cs typeface="Cairo" pitchFamily="34" charset="-120"/>
              </a:rPr>
              <a:t>لا جدال أمام الجمهور، وخياران محددان، ودور قيادي بحدود</a:t>
            </a:r>
            <a:endParaRPr lang="ar-SA" sz="1400" dirty="0"/>
          </a:p>
        </p:txBody>
      </p:sp>
      <p:sp>
        <p:nvSpPr>
          <p:cNvPr id="29" name="anim-g4-2396"/>
          <p:cNvSpPr/>
          <p:nvPr/>
        </p:nvSpPr>
        <p:spPr>
          <a:xfrm>
            <a:off x="8577838" y="4663440"/>
            <a:ext cx="2790897" cy="640080"/>
          </a:xfrm>
          <a:prstGeom prst="roundRect">
            <a:avLst>
              <a:gd name="adj" fmla="val 17143"/>
            </a:avLst>
          </a:prstGeom>
          <a:solidFill>
            <a:srgbClr val="FBF3DF"/>
          </a:solidFill>
          <a:ln w="12700">
            <a:solidFill>
              <a:srgbClr val="EFDDAF"/>
            </a:solidFill>
            <a:prstDash val="solid"/>
          </a:ln>
        </p:spPr>
      </p:sp>
      <p:sp>
        <p:nvSpPr>
          <p:cNvPr id="30" name="anim-g4-2397"/>
          <p:cNvSpPr/>
          <p:nvPr/>
        </p:nvSpPr>
        <p:spPr>
          <a:xfrm>
            <a:off x="8714998" y="4663440"/>
            <a:ext cx="251657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01B45"/>
                </a:solidFill>
                <a:latin typeface="Cairo Black" pitchFamily="34" charset="0"/>
                <a:ea typeface="Cairo Black" pitchFamily="34" charset="-122"/>
                <a:cs typeface="Cairo Black" pitchFamily="34" charset="-120"/>
              </a:rPr>
              <a:t>رفض المشاركة</a:t>
            </a:r>
            <a:endParaRPr lang="ar-SA" sz="1400" dirty="0"/>
          </a:p>
        </p:txBody>
      </p:sp>
      <p:sp>
        <p:nvSpPr>
          <p:cNvPr id="31" name="anim-g4-2398"/>
          <p:cNvSpPr/>
          <p:nvPr/>
        </p:nvSpPr>
        <p:spPr>
          <a:xfrm>
            <a:off x="5956303" y="4663440"/>
            <a:ext cx="2511807" cy="640080"/>
          </a:xfrm>
          <a:prstGeom prst="roundRect">
            <a:avLst>
              <a:gd name="adj" fmla="val 17143"/>
            </a:avLst>
          </a:prstGeom>
          <a:solidFill>
            <a:srgbClr val="FFFFFF"/>
          </a:solidFill>
          <a:ln w="12700">
            <a:solidFill>
              <a:srgbClr val="E4DCC8"/>
            </a:solidFill>
            <a:prstDash val="solid"/>
          </a:ln>
        </p:spPr>
      </p:sp>
      <p:sp>
        <p:nvSpPr>
          <p:cNvPr id="32" name="anim-g4-2399"/>
          <p:cNvSpPr/>
          <p:nvPr/>
        </p:nvSpPr>
        <p:spPr>
          <a:xfrm>
            <a:off x="6093463" y="4663440"/>
            <a:ext cx="223748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31B34"/>
                </a:solidFill>
                <a:latin typeface="Cairo" pitchFamily="34" charset="0"/>
                <a:ea typeface="Cairo" pitchFamily="34" charset="-122"/>
                <a:cs typeface="Cairo" pitchFamily="34" charset="-120"/>
              </a:rPr>
              <a:t>ضعف المهارة أو خوف الفشل</a:t>
            </a:r>
            <a:endParaRPr lang="ar-SA" sz="1400" dirty="0"/>
          </a:p>
        </p:txBody>
      </p:sp>
      <p:sp>
        <p:nvSpPr>
          <p:cNvPr id="33" name="anim-g4-2400"/>
          <p:cNvSpPr/>
          <p:nvPr/>
        </p:nvSpPr>
        <p:spPr>
          <a:xfrm>
            <a:off x="822960" y="4663440"/>
            <a:ext cx="5023615" cy="640080"/>
          </a:xfrm>
          <a:prstGeom prst="roundRect">
            <a:avLst>
              <a:gd name="adj" fmla="val 17143"/>
            </a:avLst>
          </a:prstGeom>
          <a:solidFill>
            <a:srgbClr val="E6F4EC"/>
          </a:solidFill>
          <a:ln w="12700">
            <a:solidFill>
              <a:srgbClr val="CDE9D9"/>
            </a:solidFill>
            <a:prstDash val="solid"/>
          </a:ln>
        </p:spPr>
      </p:sp>
      <p:sp>
        <p:nvSpPr>
          <p:cNvPr id="34" name="anim-g4-2401"/>
          <p:cNvSpPr/>
          <p:nvPr/>
        </p:nvSpPr>
        <p:spPr>
          <a:xfrm>
            <a:off x="960120" y="4663440"/>
            <a:ext cx="4749295"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D5E40"/>
                </a:solidFill>
                <a:latin typeface="Cairo" pitchFamily="34" charset="0"/>
                <a:ea typeface="Cairo" pitchFamily="34" charset="-122"/>
                <a:cs typeface="Cairo" pitchFamily="34" charset="-120"/>
              </a:rPr>
              <a:t>مهمة صغيرة يضمن نجاحه فيها، ومدح المحاولة، ودعم خاص دون إشارة لضعفه</a:t>
            </a:r>
            <a:endParaRPr lang="ar-SA" sz="1400" dirty="0"/>
          </a:p>
        </p:txBody>
      </p:sp>
      <p:sp>
        <p:nvSpPr>
          <p:cNvPr id="35" name="anim-g5-2402"/>
          <p:cNvSpPr/>
          <p:nvPr/>
        </p:nvSpPr>
        <p:spPr>
          <a:xfrm>
            <a:off x="8577838" y="5394960"/>
            <a:ext cx="2790897" cy="640080"/>
          </a:xfrm>
          <a:prstGeom prst="roundRect">
            <a:avLst>
              <a:gd name="adj" fmla="val 17143"/>
            </a:avLst>
          </a:prstGeom>
          <a:solidFill>
            <a:srgbClr val="FBF3DF"/>
          </a:solidFill>
          <a:ln w="12700">
            <a:solidFill>
              <a:srgbClr val="EFDDAF"/>
            </a:solidFill>
            <a:prstDash val="solid"/>
          </a:ln>
        </p:spPr>
      </p:sp>
      <p:sp>
        <p:nvSpPr>
          <p:cNvPr id="36" name="anim-g5-2403"/>
          <p:cNvSpPr/>
          <p:nvPr/>
        </p:nvSpPr>
        <p:spPr>
          <a:xfrm>
            <a:off x="8714998" y="5394960"/>
            <a:ext cx="251657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01B45"/>
                </a:solidFill>
                <a:latin typeface="Cairo Black" pitchFamily="34" charset="0"/>
                <a:ea typeface="Cairo Black" pitchFamily="34" charset="-122"/>
                <a:cs typeface="Cairo Black" pitchFamily="34" charset="-120"/>
              </a:rPr>
              <a:t>صراع المجموعات</a:t>
            </a:r>
            <a:endParaRPr lang="ar-SA" sz="1400" dirty="0"/>
          </a:p>
        </p:txBody>
      </p:sp>
      <p:sp>
        <p:nvSpPr>
          <p:cNvPr id="37" name="anim-g5-2404"/>
          <p:cNvSpPr/>
          <p:nvPr/>
        </p:nvSpPr>
        <p:spPr>
          <a:xfrm>
            <a:off x="5956303" y="5394960"/>
            <a:ext cx="2511807" cy="640080"/>
          </a:xfrm>
          <a:prstGeom prst="roundRect">
            <a:avLst>
              <a:gd name="adj" fmla="val 17143"/>
            </a:avLst>
          </a:prstGeom>
          <a:solidFill>
            <a:srgbClr val="FFFFFF"/>
          </a:solidFill>
          <a:ln w="12700">
            <a:solidFill>
              <a:srgbClr val="E4DCC8"/>
            </a:solidFill>
            <a:prstDash val="solid"/>
          </a:ln>
        </p:spPr>
      </p:sp>
      <p:sp>
        <p:nvSpPr>
          <p:cNvPr id="38" name="anim-g5-2405"/>
          <p:cNvSpPr/>
          <p:nvPr/>
        </p:nvSpPr>
        <p:spPr>
          <a:xfrm>
            <a:off x="6093463" y="5394960"/>
            <a:ext cx="2237487"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31B34"/>
                </a:solidFill>
                <a:latin typeface="Cairo" pitchFamily="34" charset="0"/>
                <a:ea typeface="Cairo" pitchFamily="34" charset="-122"/>
                <a:cs typeface="Cairo" pitchFamily="34" charset="-120"/>
              </a:rPr>
              <a:t>خلافات بين الطلاب</a:t>
            </a:r>
            <a:endParaRPr lang="ar-SA" sz="1400" dirty="0"/>
          </a:p>
        </p:txBody>
      </p:sp>
      <p:sp>
        <p:nvSpPr>
          <p:cNvPr id="39" name="anim-g5-2406"/>
          <p:cNvSpPr/>
          <p:nvPr/>
        </p:nvSpPr>
        <p:spPr>
          <a:xfrm>
            <a:off x="822960" y="5394960"/>
            <a:ext cx="5023615" cy="640080"/>
          </a:xfrm>
          <a:prstGeom prst="roundRect">
            <a:avLst>
              <a:gd name="adj" fmla="val 17143"/>
            </a:avLst>
          </a:prstGeom>
          <a:solidFill>
            <a:srgbClr val="E6F4EC"/>
          </a:solidFill>
          <a:ln w="12700">
            <a:solidFill>
              <a:srgbClr val="CDE9D9"/>
            </a:solidFill>
            <a:prstDash val="solid"/>
          </a:ln>
        </p:spPr>
      </p:sp>
      <p:sp>
        <p:nvSpPr>
          <p:cNvPr id="40" name="anim-g5-2407"/>
          <p:cNvSpPr/>
          <p:nvPr/>
        </p:nvSpPr>
        <p:spPr>
          <a:xfrm>
            <a:off x="960120" y="5394960"/>
            <a:ext cx="4749295" cy="640080"/>
          </a:xfrm>
          <a:prstGeom prst="rect">
            <a:avLst/>
          </a:prstGeom>
          <a:noFill/>
          <a:ln/>
        </p:spPr>
        <p:txBody>
          <a:bodyPr wrap="square" lIns="0" tIns="0" rIns="0" bIns="0" rtlCol="0" anchor="ctr">
            <a:normAutofit/>
          </a:bodyPr>
          <a:lstStyle/>
          <a:p>
            <a:pPr rtl="1" algn="r" indent="0" marL="0">
              <a:buNone/>
            </a:pPr>
            <a:r>
              <a:rPr lang="ar-SA" altLang="en-US" sz="1400" b="1" dirty="0">
                <a:solidFill>
                  <a:srgbClr val="1D5E40"/>
                </a:solidFill>
                <a:latin typeface="Cairo" pitchFamily="34" charset="0"/>
                <a:ea typeface="Cairo" pitchFamily="34" charset="-122"/>
                <a:cs typeface="Cairo" pitchFamily="34" charset="-120"/>
              </a:rPr>
              <a:t>تغيير تشكيل المجموعات دوريًا، وأدوار محددة لكل عضو</a:t>
            </a:r>
            <a:endParaRPr lang="ar-SA" sz="14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١٩٧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98.xml><?xml version="1.0" encoding="utf-8"?>
<p:sld xmlns:a="http://schemas.openxmlformats.org/drawingml/2006/main" xmlns:r="http://schemas.openxmlformats.org/officeDocument/2006/relationships" xmlns:p="http://schemas.openxmlformats.org/presentationml/2006/main">
  <p:cSld name="Slide 1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الدليل السريع (٢ من ٢)</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السلوك… سببه المحتمل… وماذا تفعل غدًا</a:t>
            </a:r>
            <a:endParaRPr lang="ar-SA" sz="3200" dirty="0"/>
          </a:p>
        </p:txBody>
      </p:sp>
      <p:sp>
        <p:nvSpPr>
          <p:cNvPr id="5" name="Shape 3"/>
          <p:cNvSpPr/>
          <p:nvPr/>
        </p:nvSpPr>
        <p:spPr>
          <a:xfrm>
            <a:off x="8577838" y="1874520"/>
            <a:ext cx="2790897" cy="502920"/>
          </a:xfrm>
          <a:prstGeom prst="roundRect">
            <a:avLst>
              <a:gd name="adj" fmla="val 21818"/>
            </a:avLst>
          </a:prstGeom>
          <a:solidFill>
            <a:srgbClr val="101B45"/>
          </a:solidFill>
          <a:ln/>
        </p:spPr>
      </p:sp>
      <p:sp>
        <p:nvSpPr>
          <p:cNvPr id="6" name="Text 4"/>
          <p:cNvSpPr/>
          <p:nvPr/>
        </p:nvSpPr>
        <p:spPr>
          <a:xfrm>
            <a:off x="8577838" y="1874520"/>
            <a:ext cx="2790897"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السلوك</a:t>
            </a:r>
            <a:endParaRPr lang="ar-SA" sz="1600" dirty="0"/>
          </a:p>
        </p:txBody>
      </p:sp>
      <p:sp>
        <p:nvSpPr>
          <p:cNvPr id="7" name="Shape 5"/>
          <p:cNvSpPr/>
          <p:nvPr/>
        </p:nvSpPr>
        <p:spPr>
          <a:xfrm>
            <a:off x="5956303" y="1874520"/>
            <a:ext cx="2511807" cy="502920"/>
          </a:xfrm>
          <a:prstGeom prst="roundRect">
            <a:avLst>
              <a:gd name="adj" fmla="val 21818"/>
            </a:avLst>
          </a:prstGeom>
          <a:solidFill>
            <a:srgbClr val="101B45"/>
          </a:solidFill>
          <a:ln/>
        </p:spPr>
      </p:sp>
      <p:sp>
        <p:nvSpPr>
          <p:cNvPr id="8" name="Text 6"/>
          <p:cNvSpPr/>
          <p:nvPr/>
        </p:nvSpPr>
        <p:spPr>
          <a:xfrm>
            <a:off x="5956303" y="1874520"/>
            <a:ext cx="2511807"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السبب المحتمل</a:t>
            </a:r>
            <a:endParaRPr lang="ar-SA" sz="1600" dirty="0"/>
          </a:p>
        </p:txBody>
      </p:sp>
      <p:sp>
        <p:nvSpPr>
          <p:cNvPr id="9" name="Shape 7"/>
          <p:cNvSpPr/>
          <p:nvPr/>
        </p:nvSpPr>
        <p:spPr>
          <a:xfrm>
            <a:off x="822960" y="1874520"/>
            <a:ext cx="5023615" cy="502920"/>
          </a:xfrm>
          <a:prstGeom prst="roundRect">
            <a:avLst>
              <a:gd name="adj" fmla="val 21818"/>
            </a:avLst>
          </a:prstGeom>
          <a:solidFill>
            <a:srgbClr val="101B45"/>
          </a:solidFill>
          <a:ln/>
        </p:spPr>
      </p:sp>
      <p:sp>
        <p:nvSpPr>
          <p:cNvPr id="10" name="Text 8"/>
          <p:cNvSpPr/>
          <p:nvPr/>
        </p:nvSpPr>
        <p:spPr>
          <a:xfrm>
            <a:off x="822960" y="1874520"/>
            <a:ext cx="5023615" cy="502920"/>
          </a:xfrm>
          <a:prstGeom prst="rect">
            <a:avLst/>
          </a:prstGeom>
          <a:noFill/>
          <a:ln/>
        </p:spPr>
        <p:txBody>
          <a:bodyPr wrap="square" lIns="0" tIns="0" rIns="0" bIns="0" rtlCol="0" anchor="ctr">
            <a:normAutofit/>
          </a:bodyPr>
          <a:lstStyle/>
          <a:p>
            <a:pPr rtl="1" algn="ctr" indent="0" marL="0">
              <a:buNone/>
            </a:pPr>
            <a:r>
              <a:rPr lang="ar-SA" altLang="en-US" sz="1600" dirty="0">
                <a:solidFill>
                  <a:srgbClr val="FFFFFF"/>
                </a:solidFill>
                <a:latin typeface="Cairo Black" pitchFamily="34" charset="0"/>
                <a:ea typeface="Cairo Black" pitchFamily="34" charset="-122"/>
                <a:cs typeface="Cairo Black" pitchFamily="34" charset="-120"/>
              </a:rPr>
              <a:t>ماذا تفعل عمليًا؟</a:t>
            </a:r>
            <a:endParaRPr lang="ar-SA" sz="1600" dirty="0"/>
          </a:p>
        </p:txBody>
      </p:sp>
      <p:sp>
        <p:nvSpPr>
          <p:cNvPr id="11" name="anim-g1-2408"/>
          <p:cNvSpPr/>
          <p:nvPr/>
        </p:nvSpPr>
        <p:spPr>
          <a:xfrm>
            <a:off x="8577838" y="2468880"/>
            <a:ext cx="2790897" cy="822960"/>
          </a:xfrm>
          <a:prstGeom prst="roundRect">
            <a:avLst>
              <a:gd name="adj" fmla="val 13333"/>
            </a:avLst>
          </a:prstGeom>
          <a:solidFill>
            <a:srgbClr val="FBF3DF"/>
          </a:solidFill>
          <a:ln w="12700">
            <a:solidFill>
              <a:srgbClr val="EFDDAF"/>
            </a:solidFill>
            <a:prstDash val="solid"/>
          </a:ln>
        </p:spPr>
      </p:sp>
      <p:sp>
        <p:nvSpPr>
          <p:cNvPr id="12" name="anim-g1-2409"/>
          <p:cNvSpPr/>
          <p:nvPr/>
        </p:nvSpPr>
        <p:spPr>
          <a:xfrm>
            <a:off x="8714998" y="2468880"/>
            <a:ext cx="2516577"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01B45"/>
                </a:solidFill>
                <a:latin typeface="Cairo Black" pitchFamily="34" charset="0"/>
                <a:ea typeface="Cairo Black" pitchFamily="34" charset="-122"/>
                <a:cs typeface="Cairo Black" pitchFamily="34" charset="-120"/>
              </a:rPr>
              <a:t>كسر القواعد باستمرار</a:t>
            </a:r>
            <a:endParaRPr lang="ar-SA" sz="1500" dirty="0"/>
          </a:p>
        </p:txBody>
      </p:sp>
      <p:sp>
        <p:nvSpPr>
          <p:cNvPr id="13" name="anim-g1-2410"/>
          <p:cNvSpPr/>
          <p:nvPr/>
        </p:nvSpPr>
        <p:spPr>
          <a:xfrm>
            <a:off x="5956303" y="2468880"/>
            <a:ext cx="2511807" cy="822960"/>
          </a:xfrm>
          <a:prstGeom prst="roundRect">
            <a:avLst>
              <a:gd name="adj" fmla="val 13333"/>
            </a:avLst>
          </a:prstGeom>
          <a:solidFill>
            <a:srgbClr val="FFFFFF"/>
          </a:solidFill>
          <a:ln w="12700">
            <a:solidFill>
              <a:srgbClr val="E4DCC8"/>
            </a:solidFill>
            <a:prstDash val="solid"/>
          </a:ln>
        </p:spPr>
      </p:sp>
      <p:sp>
        <p:nvSpPr>
          <p:cNvPr id="14" name="anim-g1-2411"/>
          <p:cNvSpPr/>
          <p:nvPr/>
        </p:nvSpPr>
        <p:spPr>
          <a:xfrm>
            <a:off x="6093463" y="2468880"/>
            <a:ext cx="2237487"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تطبيق غير ثابت</a:t>
            </a:r>
            <a:endParaRPr lang="ar-SA" sz="1500" dirty="0"/>
          </a:p>
        </p:txBody>
      </p:sp>
      <p:sp>
        <p:nvSpPr>
          <p:cNvPr id="15" name="anim-g1-2412"/>
          <p:cNvSpPr/>
          <p:nvPr/>
        </p:nvSpPr>
        <p:spPr>
          <a:xfrm>
            <a:off x="822960" y="2468880"/>
            <a:ext cx="5023615" cy="822960"/>
          </a:xfrm>
          <a:prstGeom prst="roundRect">
            <a:avLst>
              <a:gd name="adj" fmla="val 13333"/>
            </a:avLst>
          </a:prstGeom>
          <a:solidFill>
            <a:srgbClr val="E6F4EC"/>
          </a:solidFill>
          <a:ln w="12700">
            <a:solidFill>
              <a:srgbClr val="CDE9D9"/>
            </a:solidFill>
            <a:prstDash val="solid"/>
          </a:ln>
        </p:spPr>
      </p:sp>
      <p:sp>
        <p:nvSpPr>
          <p:cNvPr id="16" name="anim-g1-2413"/>
          <p:cNvSpPr/>
          <p:nvPr/>
        </p:nvSpPr>
        <p:spPr>
          <a:xfrm>
            <a:off x="960120" y="2468880"/>
            <a:ext cx="4749295"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D5E40"/>
                </a:solidFill>
                <a:latin typeface="Cairo" pitchFamily="34" charset="0"/>
                <a:ea typeface="Cairo" pitchFamily="34" charset="-122"/>
                <a:cs typeface="Cairo" pitchFamily="34" charset="-120"/>
              </a:rPr>
              <a:t>الثبات: العاقبة نفسها، كل مرة، مع الجميع</a:t>
            </a:r>
            <a:endParaRPr lang="ar-SA" sz="1500" dirty="0"/>
          </a:p>
        </p:txBody>
      </p:sp>
      <p:sp>
        <p:nvSpPr>
          <p:cNvPr id="17" name="anim-g2-2414"/>
          <p:cNvSpPr/>
          <p:nvPr/>
        </p:nvSpPr>
        <p:spPr>
          <a:xfrm>
            <a:off x="8577838" y="3383280"/>
            <a:ext cx="2790897" cy="822960"/>
          </a:xfrm>
          <a:prstGeom prst="roundRect">
            <a:avLst>
              <a:gd name="adj" fmla="val 13333"/>
            </a:avLst>
          </a:prstGeom>
          <a:solidFill>
            <a:srgbClr val="FBF3DF"/>
          </a:solidFill>
          <a:ln w="12700">
            <a:solidFill>
              <a:srgbClr val="EFDDAF"/>
            </a:solidFill>
            <a:prstDash val="solid"/>
          </a:ln>
        </p:spPr>
      </p:sp>
      <p:sp>
        <p:nvSpPr>
          <p:cNvPr id="18" name="anim-g2-2415"/>
          <p:cNvSpPr/>
          <p:nvPr/>
        </p:nvSpPr>
        <p:spPr>
          <a:xfrm>
            <a:off x="8714998" y="3383280"/>
            <a:ext cx="2516577"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01B45"/>
                </a:solidFill>
                <a:latin typeface="Cairo Black" pitchFamily="34" charset="0"/>
                <a:ea typeface="Cairo Black" pitchFamily="34" charset="-122"/>
                <a:cs typeface="Cairo Black" pitchFamily="34" charset="-120"/>
              </a:rPr>
              <a:t>صعوبة التكيّف</a:t>
            </a:r>
            <a:endParaRPr lang="ar-SA" sz="1500" dirty="0"/>
          </a:p>
        </p:txBody>
      </p:sp>
      <p:sp>
        <p:nvSpPr>
          <p:cNvPr id="19" name="anim-g2-2416"/>
          <p:cNvSpPr/>
          <p:nvPr/>
        </p:nvSpPr>
        <p:spPr>
          <a:xfrm>
            <a:off x="5956303" y="3383280"/>
            <a:ext cx="2511807" cy="822960"/>
          </a:xfrm>
          <a:prstGeom prst="roundRect">
            <a:avLst>
              <a:gd name="adj" fmla="val 13333"/>
            </a:avLst>
          </a:prstGeom>
          <a:solidFill>
            <a:srgbClr val="FFFFFF"/>
          </a:solidFill>
          <a:ln w="12700">
            <a:solidFill>
              <a:srgbClr val="E4DCC8"/>
            </a:solidFill>
            <a:prstDash val="solid"/>
          </a:ln>
        </p:spPr>
      </p:sp>
      <p:sp>
        <p:nvSpPr>
          <p:cNvPr id="20" name="anim-g2-2417"/>
          <p:cNvSpPr/>
          <p:nvPr/>
        </p:nvSpPr>
        <p:spPr>
          <a:xfrm>
            <a:off x="6093463" y="3383280"/>
            <a:ext cx="2237487"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انتقال إلى مدرسة أو مرحلة جديدة</a:t>
            </a:r>
            <a:endParaRPr lang="ar-SA" sz="1500" dirty="0"/>
          </a:p>
        </p:txBody>
      </p:sp>
      <p:sp>
        <p:nvSpPr>
          <p:cNvPr id="21" name="anim-g2-2418"/>
          <p:cNvSpPr/>
          <p:nvPr/>
        </p:nvSpPr>
        <p:spPr>
          <a:xfrm>
            <a:off x="822960" y="3383280"/>
            <a:ext cx="5023615" cy="822960"/>
          </a:xfrm>
          <a:prstGeom prst="roundRect">
            <a:avLst>
              <a:gd name="adj" fmla="val 13333"/>
            </a:avLst>
          </a:prstGeom>
          <a:solidFill>
            <a:srgbClr val="E6F4EC"/>
          </a:solidFill>
          <a:ln w="12700">
            <a:solidFill>
              <a:srgbClr val="CDE9D9"/>
            </a:solidFill>
            <a:prstDash val="solid"/>
          </a:ln>
        </p:spPr>
      </p:sp>
      <p:sp>
        <p:nvSpPr>
          <p:cNvPr id="22" name="anim-g2-2419"/>
          <p:cNvSpPr/>
          <p:nvPr/>
        </p:nvSpPr>
        <p:spPr>
          <a:xfrm>
            <a:off x="960120" y="3383280"/>
            <a:ext cx="4749295"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D5E40"/>
                </a:solidFill>
                <a:latin typeface="Cairo" pitchFamily="34" charset="0"/>
                <a:ea typeface="Cairo" pitchFamily="34" charset="-122"/>
                <a:cs typeface="Cairo" pitchFamily="34" charset="-120"/>
              </a:rPr>
              <a:t>زميل مرافق أسبوعًا، وتواصل يومي قصير، ومهمة تمنحه الانتماء</a:t>
            </a:r>
            <a:endParaRPr lang="ar-SA" sz="1500" dirty="0"/>
          </a:p>
        </p:txBody>
      </p:sp>
      <p:sp>
        <p:nvSpPr>
          <p:cNvPr id="23" name="anim-g3-2420"/>
          <p:cNvSpPr/>
          <p:nvPr/>
        </p:nvSpPr>
        <p:spPr>
          <a:xfrm>
            <a:off x="8577838" y="4297680"/>
            <a:ext cx="2790897" cy="822960"/>
          </a:xfrm>
          <a:prstGeom prst="roundRect">
            <a:avLst>
              <a:gd name="adj" fmla="val 13333"/>
            </a:avLst>
          </a:prstGeom>
          <a:solidFill>
            <a:srgbClr val="FBF3DF"/>
          </a:solidFill>
          <a:ln w="12700">
            <a:solidFill>
              <a:srgbClr val="EFDDAF"/>
            </a:solidFill>
            <a:prstDash val="solid"/>
          </a:ln>
        </p:spPr>
      </p:sp>
      <p:sp>
        <p:nvSpPr>
          <p:cNvPr id="24" name="anim-g3-2421"/>
          <p:cNvSpPr/>
          <p:nvPr/>
        </p:nvSpPr>
        <p:spPr>
          <a:xfrm>
            <a:off x="8714998" y="4297680"/>
            <a:ext cx="2516577"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01B45"/>
                </a:solidFill>
                <a:latin typeface="Cairo Black" pitchFamily="34" charset="0"/>
                <a:ea typeface="Cairo Black" pitchFamily="34" charset="-122"/>
                <a:cs typeface="Cairo Black" pitchFamily="34" charset="-120"/>
              </a:rPr>
              <a:t>تأييد الفصل للسلوك السيئ</a:t>
            </a:r>
            <a:endParaRPr lang="ar-SA" sz="1500" dirty="0"/>
          </a:p>
        </p:txBody>
      </p:sp>
      <p:sp>
        <p:nvSpPr>
          <p:cNvPr id="25" name="anim-g3-2422"/>
          <p:cNvSpPr/>
          <p:nvPr/>
        </p:nvSpPr>
        <p:spPr>
          <a:xfrm>
            <a:off x="5956303" y="4297680"/>
            <a:ext cx="2511807" cy="822960"/>
          </a:xfrm>
          <a:prstGeom prst="roundRect">
            <a:avLst>
              <a:gd name="adj" fmla="val 13333"/>
            </a:avLst>
          </a:prstGeom>
          <a:solidFill>
            <a:srgbClr val="FFFFFF"/>
          </a:solidFill>
          <a:ln w="12700">
            <a:solidFill>
              <a:srgbClr val="E4DCC8"/>
            </a:solidFill>
            <a:prstDash val="solid"/>
          </a:ln>
        </p:spPr>
      </p:sp>
      <p:sp>
        <p:nvSpPr>
          <p:cNvPr id="26" name="anim-g3-2423"/>
          <p:cNvSpPr/>
          <p:nvPr/>
        </p:nvSpPr>
        <p:spPr>
          <a:xfrm>
            <a:off x="6093463" y="4297680"/>
            <a:ext cx="2237487"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شعور بعدم العدالة</a:t>
            </a:r>
            <a:endParaRPr lang="ar-SA" sz="1500" dirty="0"/>
          </a:p>
        </p:txBody>
      </p:sp>
      <p:sp>
        <p:nvSpPr>
          <p:cNvPr id="27" name="anim-g3-2424"/>
          <p:cNvSpPr/>
          <p:nvPr/>
        </p:nvSpPr>
        <p:spPr>
          <a:xfrm>
            <a:off x="822960" y="4297680"/>
            <a:ext cx="5023615" cy="822960"/>
          </a:xfrm>
          <a:prstGeom prst="roundRect">
            <a:avLst>
              <a:gd name="adj" fmla="val 13333"/>
            </a:avLst>
          </a:prstGeom>
          <a:solidFill>
            <a:srgbClr val="E6F4EC"/>
          </a:solidFill>
          <a:ln w="12700">
            <a:solidFill>
              <a:srgbClr val="CDE9D9"/>
            </a:solidFill>
            <a:prstDash val="solid"/>
          </a:ln>
        </p:spPr>
      </p:sp>
      <p:sp>
        <p:nvSpPr>
          <p:cNvPr id="28" name="anim-g3-2425"/>
          <p:cNvSpPr/>
          <p:nvPr/>
        </p:nvSpPr>
        <p:spPr>
          <a:xfrm>
            <a:off x="960120" y="4297680"/>
            <a:ext cx="4749295"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D5E40"/>
                </a:solidFill>
                <a:latin typeface="Cairo" pitchFamily="34" charset="0"/>
                <a:ea typeface="Cairo" pitchFamily="34" charset="-122"/>
                <a:cs typeface="Cairo" pitchFamily="34" charset="-120"/>
              </a:rPr>
              <a:t>عدالة معلنة، واستماع لشكواهم، وشرح أسباب قراراتك</a:t>
            </a:r>
            <a:endParaRPr lang="ar-SA" sz="1500" dirty="0"/>
          </a:p>
        </p:txBody>
      </p:sp>
      <p:sp>
        <p:nvSpPr>
          <p:cNvPr id="29" name="anim-g4-2426"/>
          <p:cNvSpPr/>
          <p:nvPr/>
        </p:nvSpPr>
        <p:spPr>
          <a:xfrm>
            <a:off x="8577838" y="5212080"/>
            <a:ext cx="2790897" cy="822960"/>
          </a:xfrm>
          <a:prstGeom prst="roundRect">
            <a:avLst>
              <a:gd name="adj" fmla="val 13333"/>
            </a:avLst>
          </a:prstGeom>
          <a:solidFill>
            <a:srgbClr val="FBF3DF"/>
          </a:solidFill>
          <a:ln w="12700">
            <a:solidFill>
              <a:srgbClr val="EFDDAF"/>
            </a:solidFill>
            <a:prstDash val="solid"/>
          </a:ln>
        </p:spPr>
      </p:sp>
      <p:sp>
        <p:nvSpPr>
          <p:cNvPr id="30" name="anim-g4-2427"/>
          <p:cNvSpPr/>
          <p:nvPr/>
        </p:nvSpPr>
        <p:spPr>
          <a:xfrm>
            <a:off x="8714998" y="5212080"/>
            <a:ext cx="2516577"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01B45"/>
                </a:solidFill>
                <a:latin typeface="Cairo Black" pitchFamily="34" charset="0"/>
                <a:ea typeface="Cairo Black" pitchFamily="34" charset="-122"/>
                <a:cs typeface="Cairo Black" pitchFamily="34" charset="-120"/>
              </a:rPr>
              <a:t>عناد المعلم ورفضه</a:t>
            </a:r>
            <a:endParaRPr lang="ar-SA" sz="1500" dirty="0"/>
          </a:p>
        </p:txBody>
      </p:sp>
      <p:sp>
        <p:nvSpPr>
          <p:cNvPr id="31" name="anim-g4-2428"/>
          <p:cNvSpPr/>
          <p:nvPr/>
        </p:nvSpPr>
        <p:spPr>
          <a:xfrm>
            <a:off x="5956303" y="5212080"/>
            <a:ext cx="2511807" cy="822960"/>
          </a:xfrm>
          <a:prstGeom prst="roundRect">
            <a:avLst>
              <a:gd name="adj" fmla="val 13333"/>
            </a:avLst>
          </a:prstGeom>
          <a:solidFill>
            <a:srgbClr val="FFFFFF"/>
          </a:solidFill>
          <a:ln w="12700">
            <a:solidFill>
              <a:srgbClr val="E4DCC8"/>
            </a:solidFill>
            <a:prstDash val="solid"/>
          </a:ln>
        </p:spPr>
      </p:sp>
      <p:sp>
        <p:nvSpPr>
          <p:cNvPr id="32" name="anim-g4-2429"/>
          <p:cNvSpPr/>
          <p:nvPr/>
        </p:nvSpPr>
        <p:spPr>
          <a:xfrm>
            <a:off x="6093463" y="5212080"/>
            <a:ext cx="2237487"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31B34"/>
                </a:solidFill>
                <a:latin typeface="Cairo" pitchFamily="34" charset="0"/>
                <a:ea typeface="Cairo" pitchFamily="34" charset="-122"/>
                <a:cs typeface="Cairo" pitchFamily="34" charset="-120"/>
              </a:rPr>
              <a:t>أسلوب المعلم أو تكليفات زائدة</a:t>
            </a:r>
            <a:endParaRPr lang="ar-SA" sz="1500" dirty="0"/>
          </a:p>
        </p:txBody>
      </p:sp>
      <p:sp>
        <p:nvSpPr>
          <p:cNvPr id="33" name="anim-g4-2430"/>
          <p:cNvSpPr/>
          <p:nvPr/>
        </p:nvSpPr>
        <p:spPr>
          <a:xfrm>
            <a:off x="822960" y="5212080"/>
            <a:ext cx="5023615" cy="822960"/>
          </a:xfrm>
          <a:prstGeom prst="roundRect">
            <a:avLst>
              <a:gd name="adj" fmla="val 13333"/>
            </a:avLst>
          </a:prstGeom>
          <a:solidFill>
            <a:srgbClr val="E6F4EC"/>
          </a:solidFill>
          <a:ln w="12700">
            <a:solidFill>
              <a:srgbClr val="CDE9D9"/>
            </a:solidFill>
            <a:prstDash val="solid"/>
          </a:ln>
        </p:spPr>
      </p:sp>
      <p:sp>
        <p:nvSpPr>
          <p:cNvPr id="34" name="anim-g4-2431"/>
          <p:cNvSpPr/>
          <p:nvPr/>
        </p:nvSpPr>
        <p:spPr>
          <a:xfrm>
            <a:off x="960120" y="5212080"/>
            <a:ext cx="4749295" cy="822960"/>
          </a:xfrm>
          <a:prstGeom prst="rect">
            <a:avLst/>
          </a:prstGeom>
          <a:noFill/>
          <a:ln/>
        </p:spPr>
        <p:txBody>
          <a:bodyPr wrap="square" lIns="0" tIns="0" rIns="0" bIns="0" rtlCol="0" anchor="ctr">
            <a:normAutofit/>
          </a:bodyPr>
          <a:lstStyle/>
          <a:p>
            <a:pPr rtl="1" algn="r" indent="0" marL="0">
              <a:buNone/>
            </a:pPr>
            <a:r>
              <a:rPr lang="ar-SA" altLang="en-US" sz="1500" b="1" dirty="0">
                <a:solidFill>
                  <a:srgbClr val="1D5E40"/>
                </a:solidFill>
                <a:latin typeface="Cairo" pitchFamily="34" charset="0"/>
                <a:ea typeface="Cairo" pitchFamily="34" charset="-122"/>
                <a:cs typeface="Cairo" pitchFamily="34" charset="-120"/>
              </a:rPr>
              <a:t>راجع أسلوبك أولًا، وخفّف التكليف، وابدأ معه علاقة جديدة</a:t>
            </a:r>
            <a:endParaRPr lang="ar-SA" sz="15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١٩٨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name="Slide 1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نشاط المجموعات — عشر دقائق</a:t>
            </a:r>
            <a:endParaRPr lang="ar-SA" sz="16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عيادة المواقف</a:t>
            </a:r>
            <a:endParaRPr lang="ar-SA" sz="3800" dirty="0"/>
          </a:p>
        </p:txBody>
      </p:sp>
      <p:sp>
        <p:nvSpPr>
          <p:cNvPr id="5" name="anim-g1-2432"/>
          <p:cNvSpPr/>
          <p:nvPr/>
        </p:nvSpPr>
        <p:spPr>
          <a:xfrm>
            <a:off x="10637215" y="2286000"/>
            <a:ext cx="731520" cy="731520"/>
          </a:xfrm>
          <a:prstGeom prst="ellipse">
            <a:avLst/>
          </a:prstGeom>
          <a:solidFill>
            <a:srgbClr val="D9AE4B"/>
          </a:solidFill>
          <a:ln/>
        </p:spPr>
      </p:sp>
      <p:sp>
        <p:nvSpPr>
          <p:cNvPr id="6" name="anim-g1-2433"/>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2434"/>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اختاروا موقفًا حقيقيًا مررتم به هذا العام</a:t>
            </a:r>
            <a:endParaRPr lang="ar-SA" sz="2200" dirty="0"/>
          </a:p>
        </p:txBody>
      </p:sp>
      <p:sp>
        <p:nvSpPr>
          <p:cNvPr id="8" name="anim-g2-2435"/>
          <p:cNvSpPr/>
          <p:nvPr/>
        </p:nvSpPr>
        <p:spPr>
          <a:xfrm>
            <a:off x="10637215" y="3383280"/>
            <a:ext cx="731520" cy="731520"/>
          </a:xfrm>
          <a:prstGeom prst="ellipse">
            <a:avLst/>
          </a:prstGeom>
          <a:solidFill>
            <a:srgbClr val="D9AE4B"/>
          </a:solidFill>
          <a:ln/>
        </p:spPr>
      </p:sp>
      <p:sp>
        <p:nvSpPr>
          <p:cNvPr id="9" name="anim-g2-2436"/>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2437"/>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اكتبوا له «بطاقة تدخّل»: السبب، وأول خطوة، والجملة، والبديل</a:t>
            </a:r>
            <a:endParaRPr lang="ar-SA" sz="2200" dirty="0"/>
          </a:p>
        </p:txBody>
      </p:sp>
      <p:sp>
        <p:nvSpPr>
          <p:cNvPr id="11" name="anim-g3-2438"/>
          <p:cNvSpPr/>
          <p:nvPr/>
        </p:nvSpPr>
        <p:spPr>
          <a:xfrm>
            <a:off x="10637215" y="4480560"/>
            <a:ext cx="731520" cy="731520"/>
          </a:xfrm>
          <a:prstGeom prst="ellipse">
            <a:avLst/>
          </a:prstGeom>
          <a:solidFill>
            <a:srgbClr val="D9AE4B"/>
          </a:solidFill>
          <a:ln/>
        </p:spPr>
      </p:sp>
      <p:sp>
        <p:nvSpPr>
          <p:cNvPr id="12" name="anim-g3-2439"/>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2440"/>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قدّموه للقاعة في دقيقتين، ولنتعلم من خبراتكم</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10:00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١٠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١٩٩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name="Slide 2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خطتي الشخصية</a:t>
            </a:r>
            <a:endParaRPr lang="ar-SA" sz="16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ثلاثة التزامات… أبدأ بها غدًا</a:t>
            </a:r>
            <a:endParaRPr lang="ar-SA" sz="3800" dirty="0"/>
          </a:p>
        </p:txBody>
      </p:sp>
      <p:sp>
        <p:nvSpPr>
          <p:cNvPr id="5" name="anim-g1-2441"/>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2442"/>
          <p:cNvSpPr/>
          <p:nvPr/>
        </p:nvSpPr>
        <p:spPr>
          <a:xfrm>
            <a:off x="10573207" y="2286000"/>
            <a:ext cx="566928" cy="566928"/>
          </a:xfrm>
          <a:prstGeom prst="ellipse">
            <a:avLst/>
          </a:prstGeom>
          <a:solidFill>
            <a:srgbClr val="D9AE4B"/>
          </a:solidFill>
          <a:ln/>
        </p:spPr>
      </p:sp>
      <p:sp>
        <p:nvSpPr>
          <p:cNvPr id="7" name="anim-g1-2443"/>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444"/>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جملة جديدة سأقولها</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من الجمل الجاهزة التي تعلمتها اليوم</a:t>
            </a:r>
            <a:endParaRPr lang="ar-SA" sz="2000" dirty="0"/>
          </a:p>
        </p:txBody>
      </p:sp>
      <p:sp>
        <p:nvSpPr>
          <p:cNvPr id="9" name="anim-g2-2445"/>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2446"/>
          <p:cNvSpPr/>
          <p:nvPr/>
        </p:nvSpPr>
        <p:spPr>
          <a:xfrm>
            <a:off x="10573207" y="3694176"/>
            <a:ext cx="566928" cy="566928"/>
          </a:xfrm>
          <a:prstGeom prst="ellipse">
            <a:avLst/>
          </a:prstGeom>
          <a:solidFill>
            <a:srgbClr val="D9AE4B"/>
          </a:solidFill>
          <a:ln/>
        </p:spPr>
      </p:sp>
      <p:sp>
        <p:nvSpPr>
          <p:cNvPr id="11" name="anim-g2-2447"/>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448"/>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إجراء سأعلّمه لطلابي</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بالخطوات الأربع: اشرح، أرِهم، تدرّبوا، عزّز</a:t>
            </a:r>
            <a:endParaRPr lang="ar-SA" sz="2000" dirty="0"/>
          </a:p>
        </p:txBody>
      </p:sp>
      <p:sp>
        <p:nvSpPr>
          <p:cNvPr id="13" name="anim-g3-2449"/>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2450"/>
          <p:cNvSpPr/>
          <p:nvPr/>
        </p:nvSpPr>
        <p:spPr>
          <a:xfrm>
            <a:off x="10573207" y="5102352"/>
            <a:ext cx="566928" cy="566928"/>
          </a:xfrm>
          <a:prstGeom prst="ellipse">
            <a:avLst/>
          </a:prstGeom>
          <a:solidFill>
            <a:srgbClr val="D9AE4B"/>
          </a:solidFill>
          <a:ln/>
        </p:spPr>
      </p:sp>
      <p:sp>
        <p:nvSpPr>
          <p:cNvPr id="15" name="anim-g3-2451"/>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452"/>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000" b="1" dirty="0">
                <a:solidFill>
                  <a:srgbClr val="101B45"/>
                </a:solidFill>
                <a:latin typeface="Cairo Black" pitchFamily="34" charset="0"/>
                <a:ea typeface="Cairo Black" pitchFamily="34" charset="-122"/>
                <a:cs typeface="Cairo Black" pitchFamily="34" charset="-120"/>
              </a:rPr>
              <a:t>طالب سأدعو له كل يوم</a:t>
            </a:r>
            <a:endParaRPr lang="ar-SA" sz="2000" dirty="0"/>
          </a:p>
          <a:p>
            <a:pPr algn="r" indent="0" marL="0">
              <a:buNone/>
            </a:pPr>
            <a:r>
              <a:rPr lang="ar-SA" altLang="en-US" sz="1600" b="1" dirty="0">
                <a:solidFill>
                  <a:srgbClr val="3B4460"/>
                </a:solidFill>
                <a:latin typeface="Cairo" pitchFamily="34" charset="0"/>
                <a:ea typeface="Cairo" pitchFamily="34" charset="-122"/>
                <a:cs typeface="Cairo" pitchFamily="34" charset="-120"/>
              </a:rPr>
              <a:t>وأراقب: من يتغير أولًا… هو أم أنا؟</a:t>
            </a:r>
            <a:endParaRPr lang="ar-SA" sz="20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٢٠٠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name="Slide 2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09728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097280"/>
            <a:ext cx="277977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نختم كما بدأنا</a:t>
            </a:r>
            <a:endParaRPr lang="ar-SA" sz="16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 الرفق لا يكون في شيء إلا زانه، ولا يُنزع من شيء إلا شانه</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453"/>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٢٠١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name="Slide 2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F0CC7A"/>
                </a:solidFill>
                <a:latin typeface="Cairo" pitchFamily="34" charset="0"/>
                <a:ea typeface="Cairo" pitchFamily="34" charset="-122"/>
                <a:cs typeface="Cairo" pitchFamily="34" charset="-120"/>
              </a:rPr>
              <a:t>رسالة الدورة</a:t>
            </a:r>
            <a:endParaRPr lang="ar-SA" sz="16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يوجد طالب مستحيل…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يوجد موقف لم نجد مفتاحه بعد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٢٠٢</a:t>
            </a:r>
            <a:endParaRPr lang="ar-SA" sz="12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rtl="1" algn="ctr" indent="0" marL="0">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دمتم معلمين ميسّرين… لا متعنّتين</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C9CFE6"/>
                </a:solidFill>
                <a:latin typeface="Cairo" pitchFamily="34" charset="0"/>
                <a:ea typeface="Cairo" pitchFamily="34" charset="-122"/>
                <a:cs typeface="Cairo" pitchFamily="34" charset="-120"/>
              </a:rPr>
              <a:t>مواقف صفية · إعداد وتقديم: أ. محمد زيتون</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203</Slides>
  <Notes>203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203</vt:i4>
      </vt:variant>
    </vt:vector>
  </HeadingPairs>
  <TitlesOfParts>
    <vt:vector size="20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مواقف صفية</dc:title>
  <dc:subject>PptxGenJS Presentation</dc:subject>
  <dc:creator>أ. محمد زيتون</dc:creator>
  <cp:lastModifiedBy>أ. محمد زيتون</cp:lastModifiedBy>
  <cp:revision>1</cp:revision>
  <dcterms:created xsi:type="dcterms:W3CDTF">2026-09-27T05:17:38Z</dcterms:created>
  <dcterms:modified xsi:type="dcterms:W3CDTF">2026-09-27T05:17:38Z</dcterms:modified>
</cp:coreProperties>
</file>