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رحّب بالحضور بأسمائهم إن أمكن. لا تبدأ بالتعريف بنفسك مباشرة؛ اترك الشريحة ثوانيَ حتى يهدأ الجميع، ثم قل: «كلّنا مرّ بموقف صفي خرجنا منه نقول: ليتني تصرّفت بطريقة أخرى… هذه الدورة عن تلك اللحظة».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عرّف بنفسك في أقل من دقيقة. الأهم: «أنا زميل مرّ بكل موقف ستسمعونه اليوم، ولست محاضرًا يتكلم من الكتب».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اسأل: «من منكم حضر دورة في إدارة الصف وخرج منها بكلام جميل لم يستطع تطبيقه؟» — ستُرفع أيدٍ كثيرة. قل: «اليوم مختلف: كل موقف سنخرج منه بالجملة التي تقولها، والخطوة التي تفعلها».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المحطة ليست وعظًا منفصلًا عن الدورة؛ هي أساسها. المعلم الذي يرى طالبه أمانة يدعو له، يتعامل معه بطريقة مختلفة تمامًا عن المعلم الذي يراه «مشكلة».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اقرأ الحديث بهدوء، ثم اسأل: «بماذا نويت حين خرجت من بيتك صباح اليوم إلى المدرسة؟». دع السؤال معلّقًا ثواني.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علّق: «حين يضايقك طالب في الحصة الأخيرة وأنت متعب… تذكّر أن الحوت في البحر يدعو لك الآن». هذه الجملة تغيّر المزاج في القاعة.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اقترح عليهم عادة بسيطة: قبل أن تفتح باب الفصل، توقف ثلاث ثوانٍ وجدّد نية واحدة من الثلاث.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ابن عباس كان صبيًا صغيرًا. لاحظ: ضمّه (قرب جسدي آمن)، ثم دعا له بصوت يسمعه. فصار ابن عباس «ترجمان القرآن». دعوة واحدة سمعها صبي… صنعت عالمًا.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اطلب من كل متدرب أن يقول إحدى الجمل لزميله بجانبه بصوت مسموع. سيضحكون قليلًا ثم يشعرون بأثرها فعلًا.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علّق: «حين تدعو لطلابك بالصلاح والتوفيق في غيابهم… يقول الملَك: ولك بمثل. فدعاؤك لأبناء الناس يعود دعاءً لأبنائك أنت».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أعطهم دقيقتين كاملتين بصمت. ثم قل: «ستلاحظون خلال أيام أنكم أنتم من تغيّر أولًا: صبركم، نظرتكم، نبرة صوتكم معهم… وهذا هو نصف حل المشكلة».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الآية قاعدة إدارة صفية كاملة: الغلظة لا تصنع انضباطًا، بل تصنع انفضاضًا؛ قد يبقى الطلاب في مقاعدهم، لكن قلوبهم تنفضّ عنك.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اربط بالفصل: كم مرة أوقفنا الدرس كله لنعالج خطأ طالب أمام الجميع؟ النبي ﷺ أجّل التصحيح إلى اللحظة المناسبة، ثم قال القاعدة: «إن هذه الصلاة لا يصلح فيها شيء من كلام الناس…». لا توبيخ، لا محاضرة… جملة واحدة.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السؤال للقاعة: «ماذا لو قام الصحابة وطاردوا الرجل؟» — لانتشرت النجاسة في المسجد كله، ولخرج الرجل كارهًا للإسلام. الدرس: ردّة فعلك قد تصنع مشكلة أكبر من الخطأ نفسه.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اختم المحطة: «هذا هو هدفنا: أن نخرج من هنا معلمين ميسّرين، لا متعنّتين. والآن ننتقل من القلب… إلى الأدوات».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انتقال سريع إلى الجزء التفاعلي الأول.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أعطِ المجموعات ثلاث دقائق. اكشف الحل. ثم اسأل: «ما علاقة القصة بالفصل؟» الإجابة التي نريدها: صاحب الحصان لم يفكر في خسارته الآنية، بل في أثر الموقف على الآخرين. وكذلك المعلم: كل موقف يعالجه أمام ٣٠ طالبًا هو درس يتعلمه الجميع عن العدل والرحمة، وليس الطالب المخطئ وحده.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الحل: تظاهر رجلٌ بالمرض في الطريق، فرأى رجلًا راكبًا على حصانه. فلما أصعده صاحب الحصان على ظهر الحصان ولّى به هاربًا، لكن صاحب الحصان قال له: أرجو ألّا تُخبر أحدًا بهذه الحيلة، حتى لا يرى أحد الناس مريضًا حقًّا وعاجزًا فيمتنع عن الجميل. فلما سمع هذا الكلام ردّ إليه الحصان معتذرًا.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مفتاحية للدورة. اطلب منهم كتابتها.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اطلب رفع الأيدي لكل خيار وسجّل العدد تقريبًا. لا تكشف الإجابة؛ الشريحة التالية تكشفها بالأرقام.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كشف الإجابة: اطلب رفع الأيدي لكل خيار وسجّل العدد تقريبًا. لا تكشف الإجابة؛ الشريحة التالية تكشفها بالأرقام.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اشرح الرقم ببساطة: طالب ترتيبه ٥٠ من كل ١٠٠ طالب. مع معلم ضعيف في مدرسة ضعيفة ينزل إلى المركز ٣. والمفاجأة: المعلم الفعّال في مدرسة ضعيفة يرفعه إلى ٦٣، أي أكثر من المدرسة الفعّالة مع معلم ضعيف (٣٧). ملاحظة للمدرب: في النسخة القديمة كُتب الرقم ٢٪ ونُسب لـ«وونغ»؛ والأصح أنه ترتيب مئيني من أبحاث مارزانو، ونقله عنه هاري وونغ.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هذا يعني أن مسؤولية الفصل وسلطته في يد المعلم، لا الوكيل ولا المرشد. وهذا ما سنتدرب عليه.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مرّ على المحطات بسرعة. قل: «سنقفز الآن مباشرة إلى موقف من المحطة الرقمية، لتروا كيف سنعالج كل موقف في هذه الدورة».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كل موقف في الدورة يسير بالترتيب نفسه: القصة، ثم التصويت، ثم السبب، ثم الحل خطوة بخطوة. عرّف المتدربين بهذا الترتيب في أول موقف.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اقرأ القصة بنبرة تمثيلية، وتوقف عند الجملة الأخيرة. هذه لحظة «صراع قوة»، وهي أخطر لحظة في الإدارة الصفية.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اجمع التصويت أولًا، ثم اكشف الإجابة ومعها سبب كل خيار. غالبًا يختار كثيرون الخيار الأول «حفاظًا على الهيبة»، فناقشهم: الهيبة الحقيقية تظهر في هدوئك، لا في انتصارك على مراهق أمام زملائه.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كشف الإجابة: اجمع التصويت أولًا، ثم اكشف الإجابة ومعها سبب كل خيار. غالبًا يختار كثيرون الخيار الأول «حفاظًا على الهيبة»، فناقشهم: الهيبة الحقيقية تظهر في هدوئك، لا في انتصارك على مراهق أمام زملائه.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الشريحة تغيّر نظرة المعلم: الرفض ليس تحديًا شخصيًا. حين تفهم هذا، يختفي غضبك، ويبقى قرارك.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مثّل هذه الخطوات أمامهم فعليًا: امشِ بين المقاعد وأنت تتكلم، وتوقف بجانب متدرب، وهمس له، ثم ابتعد. التمثيل هنا أقوى من أي شرح.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لاحظ كلمة «شكرًا» في الجملة الأولى: تشكره قبل أن يفعل، كأنك واثق أنه سيمتثل. هذه تقنية «التوقع الإيجابي». وفي جملة الرفض: أنت لم تتراجع عن القاعدة، بل أجّلت مكان تطبيقها فقط.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أغلب المعلمين يقفزون من الدرجة الأولى إلى الخامسة مباشرة، فيستهلكون أقوى أدواتهم مبكرًا. الدرجة الثالثة (الخيار المحدد) قوية جدًا لأنها تعطي الطالب إحساسًا بالتحكم داخل حدود تضعها أنت.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نبّه بقوة على الخطأ الثاني: فتح جوال الطالب انتهاك لخصوصيته، وقد يعرّض المعلم للمساءلة. التسليم للإدارة يكون بالجوال مغلقًا.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اسأل المجموعات: «ما أفكاركم أنتم للوقاية؟» واكتب أفضلها. الأفكار التي تخرج من المعلمين أنفسهم أكثر قابلية للتطبيق.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اختم الموقف بالجملة، واطلب من كل متدرب أن يكتب جملة واحدة سيقولها غدًا لو واجه الموقف نفسه.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15788" y="731520"/>
            <a:ext cx="960120" cy="960120"/>
          </a:xfrm>
          <a:prstGeom prst="roundRect">
            <a:avLst>
              <a:gd name="adj" fmla="val 26667"/>
            </a:avLst>
          </a:prstGeom>
          <a:solidFill>
            <a:srgbClr val="D9AE4B"/>
          </a:solidFill>
          <a:ln/>
          <a:effectLst>
            <a:outerShdw sx="100000" sy="100000" kx="0" ky="0" algn="bl" rotWithShape="0" blurRad="254000" dist="50800" dir="16200000">
              <a:srgbClr val="D9AE4B">
                <a:alpha val="4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615788" y="7315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</a:t>
            </a:r>
            <a:endParaRPr lang="ar-SA" sz="4400" dirty="0"/>
          </a:p>
        </p:txBody>
      </p:sp>
      <p:sp>
        <p:nvSpPr>
          <p:cNvPr id="4" name="Text 2"/>
          <p:cNvSpPr/>
          <p:nvPr/>
        </p:nvSpPr>
        <p:spPr>
          <a:xfrm>
            <a:off x="0" y="19202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الإدارة الصفية التطبيقية</a:t>
            </a:r>
            <a:endParaRPr lang="ar-SA" sz="2000" dirty="0"/>
          </a:p>
        </p:txBody>
      </p:sp>
      <p:sp>
        <p:nvSpPr>
          <p:cNvPr id="5" name="Text 3"/>
          <p:cNvSpPr/>
          <p:nvPr/>
        </p:nvSpPr>
        <p:spPr>
          <a:xfrm>
            <a:off x="0" y="2331720"/>
            <a:ext cx="121916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FFF3D6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مواقف صفية</a:t>
            </a:r>
            <a:endParaRPr lang="ar-SA" sz="9600" dirty="0"/>
          </a:p>
        </p:txBody>
      </p:sp>
      <p:sp>
        <p:nvSpPr>
          <p:cNvPr id="6" name="Text 4"/>
          <p:cNvSpPr/>
          <p:nvPr/>
        </p:nvSpPr>
        <p:spPr>
          <a:xfrm>
            <a:off x="0" y="379476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من ردّة الفعل… إلى التصرّف الواعي</a:t>
            </a:r>
            <a:endParaRPr lang="ar-SA" sz="2800" dirty="0"/>
          </a:p>
        </p:txBody>
      </p:sp>
      <p:sp>
        <p:nvSpPr>
          <p:cNvPr id="7" name="Shape 5"/>
          <p:cNvSpPr/>
          <p:nvPr/>
        </p:nvSpPr>
        <p:spPr>
          <a:xfrm>
            <a:off x="5364328" y="4617720"/>
            <a:ext cx="1463040" cy="36576"/>
          </a:xfrm>
          <a:prstGeom prst="rect">
            <a:avLst/>
          </a:prstGeom>
          <a:solidFill>
            <a:srgbClr val="D9AE4B"/>
          </a:solidFill>
          <a:ln/>
        </p:spPr>
      </p:sp>
      <p:sp>
        <p:nvSpPr>
          <p:cNvPr id="8" name="Text 6"/>
          <p:cNvSpPr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ar-SA" altLang="en-US" sz="20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إعداد وتقديم: </a:t>
            </a:r>
            <a:pPr algn="ctr" indent="0" marL="0">
              <a:buNone/>
            </a:pPr>
            <a:r>
              <a:rPr lang="ar-SA" altLang="en-US" sz="20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أ. محمد زيتون</a:t>
            </a:r>
            <a:endParaRPr lang="ar-SA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81567" y="4572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88156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مقدّم الدورة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أ. محمد زيتون</a:t>
            </a:r>
            <a:endParaRPr lang="ar-SA" sz="38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22346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مشرف تربوي — الابتكار والذكاء الاصطناعي وSTEAM · مدارس الأرقم</a:t>
            </a:r>
            <a:endParaRPr lang="ar-SA" sz="2000" dirty="0"/>
          </a:p>
        </p:txBody>
      </p:sp>
      <p:sp>
        <p:nvSpPr>
          <p:cNvPr id="6" name="Shape 4"/>
          <p:cNvSpPr/>
          <p:nvPr/>
        </p:nvSpPr>
        <p:spPr>
          <a:xfrm>
            <a:off x="8066837" y="2560320"/>
            <a:ext cx="3301898" cy="2286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66837" y="2743200"/>
            <a:ext cx="33018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B08A2E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٣٣</a:t>
            </a:r>
            <a:endParaRPr lang="ar-SA" sz="5600" dirty="0"/>
          </a:p>
        </p:txBody>
      </p:sp>
      <p:sp>
        <p:nvSpPr>
          <p:cNvPr id="8" name="Text 6"/>
          <p:cNvSpPr/>
          <p:nvPr/>
        </p:nvSpPr>
        <p:spPr>
          <a:xfrm>
            <a:off x="8249717" y="3886200"/>
            <a:ext cx="29361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01B45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عامًا في الميدان التعليمي</a:t>
            </a:r>
            <a:endParaRPr lang="ar-SA" sz="2000" dirty="0"/>
          </a:p>
        </p:txBody>
      </p:sp>
      <p:sp>
        <p:nvSpPr>
          <p:cNvPr id="9" name="Shape 7"/>
          <p:cNvSpPr/>
          <p:nvPr/>
        </p:nvSpPr>
        <p:spPr>
          <a:xfrm>
            <a:off x="4444898" y="2560320"/>
            <a:ext cx="3301898" cy="2286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44898" y="2743200"/>
            <a:ext cx="33018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B08A2E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١٠+</a:t>
            </a:r>
            <a:endParaRPr lang="ar-SA" sz="5600" dirty="0"/>
          </a:p>
        </p:txBody>
      </p:sp>
      <p:sp>
        <p:nvSpPr>
          <p:cNvPr id="11" name="Text 9"/>
          <p:cNvSpPr/>
          <p:nvPr/>
        </p:nvSpPr>
        <p:spPr>
          <a:xfrm>
            <a:off x="4627778" y="3886200"/>
            <a:ext cx="29361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01B45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كتب مؤلفة ومعتمدة</a:t>
            </a:r>
            <a:endParaRPr lang="ar-SA" sz="2000" dirty="0"/>
          </a:p>
        </p:txBody>
      </p:sp>
      <p:sp>
        <p:nvSpPr>
          <p:cNvPr id="12" name="Shape 10"/>
          <p:cNvSpPr/>
          <p:nvPr/>
        </p:nvSpPr>
        <p:spPr>
          <a:xfrm>
            <a:off x="822960" y="2560320"/>
            <a:ext cx="3301898" cy="2286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2960" y="2743200"/>
            <a:ext cx="33018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B08A2E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Microsoft</a:t>
            </a:r>
            <a:endParaRPr lang="ar-SA" sz="3600" dirty="0"/>
          </a:p>
        </p:txBody>
      </p:sp>
      <p:sp>
        <p:nvSpPr>
          <p:cNvPr id="14" name="Text 12"/>
          <p:cNvSpPr/>
          <p:nvPr/>
        </p:nvSpPr>
        <p:spPr>
          <a:xfrm>
            <a:off x="1005840" y="3886200"/>
            <a:ext cx="29361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01B45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مدرب معتمد</a:t>
            </a:r>
            <a:endParaRPr lang="ar-SA" sz="2000" dirty="0"/>
          </a:p>
        </p:txBody>
      </p:sp>
      <p:sp>
        <p:nvSpPr>
          <p:cNvPr id="15" name="Text 13"/>
          <p:cNvSpPr/>
          <p:nvPr/>
        </p:nvSpPr>
        <p:spPr>
          <a:xfrm>
            <a:off x="822960" y="5257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محاضر على منصات رواق وأعناب ونون · عضو مجمع اللغة العربية</a:t>
            </a:r>
            <a:endParaRPr lang="ar-SA" sz="1800" dirty="0"/>
          </a:p>
        </p:txBody>
      </p:sp>
      <p:sp>
        <p:nvSpPr>
          <p:cNvPr id="16" name="Text 14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البداية  ·  ٢</a:t>
            </a:r>
            <a:endParaRPr lang="ar-SA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0479" y="457200"/>
            <a:ext cx="2048256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9320479" y="457200"/>
            <a:ext cx="2048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عن الدورة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لمن هذه الدورة؟ وماذا ستأخذ منها؟</a:t>
            </a:r>
            <a:endParaRPr lang="ar-SA" sz="3200" dirty="0"/>
          </a:p>
        </p:txBody>
      </p:sp>
      <p:sp>
        <p:nvSpPr>
          <p:cNvPr id="5" name="Shape 3"/>
          <p:cNvSpPr/>
          <p:nvPr/>
        </p:nvSpPr>
        <p:spPr>
          <a:xfrm>
            <a:off x="8036357" y="2148840"/>
            <a:ext cx="3332378" cy="35661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362895" y="2423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F7E6BC"/>
          </a:solidFill>
          <a:ln/>
        </p:spPr>
      </p:sp>
      <p:sp>
        <p:nvSpPr>
          <p:cNvPr id="7" name="Text 5"/>
          <p:cNvSpPr/>
          <p:nvPr/>
        </p:nvSpPr>
        <p:spPr>
          <a:xfrm>
            <a:off x="10362895" y="2423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👩‍🏫</a:t>
            </a:r>
            <a:endParaRPr lang="ar-SA" sz="3000" dirty="0"/>
          </a:p>
        </p:txBody>
      </p:sp>
      <p:sp>
        <p:nvSpPr>
          <p:cNvPr id="8" name="Text 6"/>
          <p:cNvSpPr/>
          <p:nvPr/>
        </p:nvSpPr>
        <p:spPr>
          <a:xfrm>
            <a:off x="8310677" y="3291840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لمن؟</a:t>
            </a:r>
            <a:endParaRPr lang="ar-SA" sz="2400" dirty="0"/>
          </a:p>
        </p:txBody>
      </p:sp>
      <p:sp>
        <p:nvSpPr>
          <p:cNvPr id="9" name="Text 7"/>
          <p:cNvSpPr/>
          <p:nvPr/>
        </p:nvSpPr>
        <p:spPr>
          <a:xfrm>
            <a:off x="8310677" y="3886200"/>
            <a:ext cx="278373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المعلمون والمعلمات في كل المراحل، وقادة المدارس، والمشرفون التربويون</a:t>
            </a:r>
            <a:endParaRPr lang="ar-SA" sz="1900" dirty="0"/>
          </a:p>
        </p:txBody>
      </p:sp>
      <p:sp>
        <p:nvSpPr>
          <p:cNvPr id="10" name="Shape 8"/>
          <p:cNvSpPr/>
          <p:nvPr/>
        </p:nvSpPr>
        <p:spPr>
          <a:xfrm>
            <a:off x="4429658" y="2148840"/>
            <a:ext cx="3332378" cy="35661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756197" y="2423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F7E6BC"/>
          </a:solidFill>
          <a:ln/>
        </p:spPr>
      </p:sp>
      <p:sp>
        <p:nvSpPr>
          <p:cNvPr id="12" name="Text 10"/>
          <p:cNvSpPr/>
          <p:nvPr/>
        </p:nvSpPr>
        <p:spPr>
          <a:xfrm>
            <a:off x="6756197" y="2423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🧰</a:t>
            </a:r>
            <a:endParaRPr lang="ar-SA" sz="3000" dirty="0"/>
          </a:p>
        </p:txBody>
      </p:sp>
      <p:sp>
        <p:nvSpPr>
          <p:cNvPr id="13" name="Text 11"/>
          <p:cNvSpPr/>
          <p:nvPr/>
        </p:nvSpPr>
        <p:spPr>
          <a:xfrm>
            <a:off x="4703978" y="3291840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ماذا ستأخذ؟</a:t>
            </a:r>
            <a:endParaRPr lang="ar-SA" sz="2400" dirty="0"/>
          </a:p>
        </p:txBody>
      </p:sp>
      <p:sp>
        <p:nvSpPr>
          <p:cNvPr id="14" name="Text 12"/>
          <p:cNvSpPr/>
          <p:nvPr/>
        </p:nvSpPr>
        <p:spPr>
          <a:xfrm>
            <a:off x="4703978" y="3886200"/>
            <a:ext cx="278373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جُملًا حرفية تقولها غدًا، وخطوات واضحة لكل موقف، لا نظريات عامة</a:t>
            </a:r>
            <a:endParaRPr lang="ar-SA" sz="1900" dirty="0"/>
          </a:p>
        </p:txBody>
      </p:sp>
      <p:sp>
        <p:nvSpPr>
          <p:cNvPr id="15" name="Shape 13"/>
          <p:cNvSpPr/>
          <p:nvPr/>
        </p:nvSpPr>
        <p:spPr>
          <a:xfrm>
            <a:off x="822960" y="2148840"/>
            <a:ext cx="3332378" cy="35661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149498" y="2423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F7E6BC"/>
          </a:solidFill>
          <a:ln/>
        </p:spPr>
      </p:sp>
      <p:sp>
        <p:nvSpPr>
          <p:cNvPr id="17" name="Text 15"/>
          <p:cNvSpPr/>
          <p:nvPr/>
        </p:nvSpPr>
        <p:spPr>
          <a:xfrm>
            <a:off x="3149498" y="2423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🎯</a:t>
            </a:r>
            <a:endParaRPr lang="ar-SA" sz="3000" dirty="0"/>
          </a:p>
        </p:txBody>
      </p:sp>
      <p:sp>
        <p:nvSpPr>
          <p:cNvPr id="18" name="Text 16"/>
          <p:cNvSpPr/>
          <p:nvPr/>
        </p:nvSpPr>
        <p:spPr>
          <a:xfrm>
            <a:off x="1097280" y="3291840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كيف نتعلم؟</a:t>
            </a:r>
            <a:endParaRPr lang="ar-SA" sz="2400" dirty="0"/>
          </a:p>
        </p:txBody>
      </p:sp>
      <p:sp>
        <p:nvSpPr>
          <p:cNvPr id="19" name="Text 17"/>
          <p:cNvSpPr/>
          <p:nvPr/>
        </p:nvSpPr>
        <p:spPr>
          <a:xfrm>
            <a:off x="1097280" y="3886200"/>
            <a:ext cx="278373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مواقف حقيقية، وتصويت، ونقاش مجموعات، ثم الحل العملي خطوة بخطوة</a:t>
            </a:r>
            <a:endParaRPr lang="ar-SA" sz="1900" dirty="0"/>
          </a:p>
        </p:txBody>
      </p:sp>
      <p:sp>
        <p:nvSpPr>
          <p:cNvPr id="20" name="Text 18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البداية  ·  ٣</a:t>
            </a:r>
            <a:endParaRPr lang="ar-SA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103120"/>
            <a:ext cx="2651760" cy="2651760"/>
          </a:xfrm>
          <a:prstGeom prst="ellipse">
            <a:avLst/>
          </a:prstGeom>
          <a:solidFill>
            <a:srgbClr val="D9AE4B">
              <a:alpha val="12000"/>
            </a:srgbClr>
          </a:solidFill>
          <a:ln w="635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21031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12000" dirty="0"/>
          </a:p>
        </p:txBody>
      </p:sp>
      <p:sp>
        <p:nvSpPr>
          <p:cNvPr id="4" name="Text 2"/>
          <p:cNvSpPr/>
          <p:nvPr/>
        </p:nvSpPr>
        <p:spPr>
          <a:xfrm>
            <a:off x="4206240" y="2011680"/>
            <a:ext cx="7162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المحطة ١</a:t>
            </a:r>
            <a:endParaRPr lang="ar-SA" sz="2000" dirty="0"/>
          </a:p>
        </p:txBody>
      </p:sp>
      <p:sp>
        <p:nvSpPr>
          <p:cNvPr id="5" name="Text 3"/>
          <p:cNvSpPr/>
          <p:nvPr/>
        </p:nvSpPr>
        <p:spPr>
          <a:xfrm>
            <a:off x="4206240" y="246888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60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قبل أن تدخل الفصل</a:t>
            </a:r>
            <a:endParaRPr lang="ar-SA" sz="6000" dirty="0"/>
          </a:p>
        </p:txBody>
      </p:sp>
      <p:sp>
        <p:nvSpPr>
          <p:cNvPr id="6" name="Text 4"/>
          <p:cNvSpPr/>
          <p:nvPr/>
        </p:nvSpPr>
        <p:spPr>
          <a:xfrm>
            <a:off x="4206240" y="3840480"/>
            <a:ext cx="71624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النية والدعاء… الإدارة الصفية تبدأ من القلب</a:t>
            </a:r>
            <a:endParaRPr lang="ar-SA" sz="2400" dirty="0"/>
          </a:p>
        </p:txBody>
      </p:sp>
      <p:sp>
        <p:nvSpPr>
          <p:cNvPr id="7" name="Text 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قبل أن تدخل الفصل  ·  ٤</a:t>
            </a:r>
            <a:endParaRPr lang="ar-SA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69768" y="1097280"/>
            <a:ext cx="5852160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169768" y="10972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قبل أن تُصلح سلوك طالب… أصلِح نيّتك</a:t>
            </a:r>
            <a:endParaRPr lang="ar-SA" sz="1600" dirty="0"/>
          </a:p>
        </p:txBody>
      </p:sp>
      <p:sp>
        <p:nvSpPr>
          <p:cNvPr id="4" name="Shape 2"/>
          <p:cNvSpPr/>
          <p:nvPr/>
        </p:nvSpPr>
        <p:spPr>
          <a:xfrm>
            <a:off x="5181448" y="2103120"/>
            <a:ext cx="1828800" cy="32004"/>
          </a:xfrm>
          <a:prstGeom prst="rect">
            <a:avLst/>
          </a:prstGeom>
          <a:solidFill>
            <a:srgbClr val="D9AE4B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228600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25000"/>
              </a:lnSpc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34" charset="0"/>
                <a:ea typeface="Amiri" pitchFamily="34" charset="-122"/>
                <a:cs typeface="Amiri" pitchFamily="34" charset="-120"/>
              </a:rPr>
              <a:t>إنما الأعمال بالنيات، وإنما لكل امرئ ما نوى</a:t>
            </a:r>
            <a:endParaRPr lang="ar-SA" sz="4000" dirty="0"/>
          </a:p>
        </p:txBody>
      </p:sp>
      <p:sp>
        <p:nvSpPr>
          <p:cNvPr id="6" name="Shape 4"/>
          <p:cNvSpPr/>
          <p:nvPr/>
        </p:nvSpPr>
        <p:spPr>
          <a:xfrm>
            <a:off x="5181448" y="4800600"/>
            <a:ext cx="1828800" cy="32004"/>
          </a:xfrm>
          <a:prstGeom prst="rect">
            <a:avLst/>
          </a:prstGeom>
          <a:solidFill>
            <a:srgbClr val="D9AE4B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متفق عليه</a:t>
            </a:r>
            <a:endParaRPr lang="ar-SA" sz="1600" dirty="0"/>
          </a:p>
        </p:txBody>
      </p:sp>
      <p:sp>
        <p:nvSpPr>
          <p:cNvPr id="8" name="Text 6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قبل أن تدخل الفصل  ·  ٥</a:t>
            </a:r>
            <a:endParaRPr lang="ar-SA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28136" y="1097280"/>
            <a:ext cx="4535424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28136" y="1097280"/>
            <a:ext cx="4535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أنت لست موظفًا يؤدي ست حصص</a:t>
            </a:r>
            <a:endParaRPr lang="ar-SA" sz="1600" dirty="0"/>
          </a:p>
        </p:txBody>
      </p:sp>
      <p:sp>
        <p:nvSpPr>
          <p:cNvPr id="4" name="Shape 2"/>
          <p:cNvSpPr/>
          <p:nvPr/>
        </p:nvSpPr>
        <p:spPr>
          <a:xfrm>
            <a:off x="5181448" y="2103120"/>
            <a:ext cx="1828800" cy="32004"/>
          </a:xfrm>
          <a:prstGeom prst="rect">
            <a:avLst/>
          </a:prstGeom>
          <a:solidFill>
            <a:srgbClr val="D9AE4B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228600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25000"/>
              </a:lnSpc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34" charset="0"/>
                <a:ea typeface="Amiri" pitchFamily="34" charset="-122"/>
                <a:cs typeface="Amiri" pitchFamily="34" charset="-120"/>
              </a:rPr>
              <a:t>إن الله وملائكته وأهل السماوات والأرض، حتى النملة في جحرها وحتى الحوت، ليصلّون على معلّم الناس الخير</a:t>
            </a:r>
            <a:endParaRPr lang="ar-SA" sz="4000" dirty="0"/>
          </a:p>
        </p:txBody>
      </p:sp>
      <p:sp>
        <p:nvSpPr>
          <p:cNvPr id="6" name="Shape 4"/>
          <p:cNvSpPr/>
          <p:nvPr/>
        </p:nvSpPr>
        <p:spPr>
          <a:xfrm>
            <a:off x="5181448" y="4800600"/>
            <a:ext cx="1828800" cy="32004"/>
          </a:xfrm>
          <a:prstGeom prst="rect">
            <a:avLst/>
          </a:prstGeom>
          <a:solidFill>
            <a:srgbClr val="D9AE4B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رواه الترمذي، وصحّحه الألباني</a:t>
            </a:r>
            <a:endParaRPr lang="ar-SA" sz="1600" dirty="0"/>
          </a:p>
        </p:txBody>
      </p:sp>
      <p:sp>
        <p:nvSpPr>
          <p:cNvPr id="8" name="Text 6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قبل أن تدخل الفصل  ·  ٦</a:t>
            </a:r>
            <a:endParaRPr lang="ar-SA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74175" y="45720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9174175" y="457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تطبيق عملي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ثلاث نيّات تجدّدها كل صباح عند باب الفصل</a:t>
            </a:r>
            <a:endParaRPr lang="ar-SA" sz="3200" dirty="0"/>
          </a:p>
        </p:txBody>
      </p:sp>
      <p:sp>
        <p:nvSpPr>
          <p:cNvPr id="5" name="Shape 3"/>
          <p:cNvSpPr/>
          <p:nvPr/>
        </p:nvSpPr>
        <p:spPr>
          <a:xfrm>
            <a:off x="8036357" y="2148840"/>
            <a:ext cx="3332378" cy="35661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362895" y="2423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F7E6BC"/>
          </a:solidFill>
          <a:ln/>
        </p:spPr>
      </p:sp>
      <p:sp>
        <p:nvSpPr>
          <p:cNvPr id="7" name="Text 5"/>
          <p:cNvSpPr/>
          <p:nvPr/>
        </p:nvSpPr>
        <p:spPr>
          <a:xfrm>
            <a:off x="10362895" y="2423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🤲</a:t>
            </a:r>
            <a:endParaRPr lang="ar-SA" sz="3000" dirty="0"/>
          </a:p>
        </p:txBody>
      </p:sp>
      <p:sp>
        <p:nvSpPr>
          <p:cNvPr id="8" name="Text 6"/>
          <p:cNvSpPr/>
          <p:nvPr/>
        </p:nvSpPr>
        <p:spPr>
          <a:xfrm>
            <a:off x="8310677" y="3291840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أعلّم لوجه الله</a:t>
            </a:r>
            <a:endParaRPr lang="ar-SA" sz="2400" dirty="0"/>
          </a:p>
        </p:txBody>
      </p:sp>
      <p:sp>
        <p:nvSpPr>
          <p:cNvPr id="9" name="Text 7"/>
          <p:cNvSpPr/>
          <p:nvPr/>
        </p:nvSpPr>
        <p:spPr>
          <a:xfrm>
            <a:off x="8310677" y="3886200"/>
            <a:ext cx="278373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لا لإرضاء مدير ولا لتقييم أداء؛ فيبقى عطائي ثابتًا في كل الظروف</a:t>
            </a:r>
            <a:endParaRPr lang="ar-SA" sz="1900" dirty="0"/>
          </a:p>
        </p:txBody>
      </p:sp>
      <p:sp>
        <p:nvSpPr>
          <p:cNvPr id="10" name="Shape 8"/>
          <p:cNvSpPr/>
          <p:nvPr/>
        </p:nvSpPr>
        <p:spPr>
          <a:xfrm>
            <a:off x="4429658" y="2148840"/>
            <a:ext cx="3332378" cy="35661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756197" y="2423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F7E6BC"/>
          </a:solidFill>
          <a:ln/>
        </p:spPr>
      </p:sp>
      <p:sp>
        <p:nvSpPr>
          <p:cNvPr id="12" name="Text 10"/>
          <p:cNvSpPr/>
          <p:nvPr/>
        </p:nvSpPr>
        <p:spPr>
          <a:xfrm>
            <a:off x="6756197" y="2423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🌱</a:t>
            </a:r>
            <a:endParaRPr lang="ar-SA" sz="3000" dirty="0"/>
          </a:p>
        </p:txBody>
      </p:sp>
      <p:sp>
        <p:nvSpPr>
          <p:cNvPr id="13" name="Text 11"/>
          <p:cNvSpPr/>
          <p:nvPr/>
        </p:nvSpPr>
        <p:spPr>
          <a:xfrm>
            <a:off x="4703978" y="3291840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أربّي قبل أن أعلّم</a:t>
            </a:r>
            <a:endParaRPr lang="ar-SA" sz="2400" dirty="0"/>
          </a:p>
        </p:txBody>
      </p:sp>
      <p:sp>
        <p:nvSpPr>
          <p:cNvPr id="14" name="Text 12"/>
          <p:cNvSpPr/>
          <p:nvPr/>
        </p:nvSpPr>
        <p:spPr>
          <a:xfrm>
            <a:off x="4703978" y="3886200"/>
            <a:ext cx="278373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الطالب الذي يخطئ أمامي فرصة تربية، لا خصم أهزمه</a:t>
            </a:r>
            <a:endParaRPr lang="ar-SA" sz="1900" dirty="0"/>
          </a:p>
        </p:txBody>
      </p:sp>
      <p:sp>
        <p:nvSpPr>
          <p:cNvPr id="15" name="Shape 13"/>
          <p:cNvSpPr/>
          <p:nvPr/>
        </p:nvSpPr>
        <p:spPr>
          <a:xfrm>
            <a:off x="822960" y="2148840"/>
            <a:ext cx="3332378" cy="35661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149498" y="2423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F7E6BC"/>
          </a:solidFill>
          <a:ln/>
        </p:spPr>
      </p:sp>
      <p:sp>
        <p:nvSpPr>
          <p:cNvPr id="17" name="Text 15"/>
          <p:cNvSpPr/>
          <p:nvPr/>
        </p:nvSpPr>
        <p:spPr>
          <a:xfrm>
            <a:off x="3149498" y="2423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⏳</a:t>
            </a:r>
            <a:endParaRPr lang="ar-SA" sz="3000" dirty="0"/>
          </a:p>
        </p:txBody>
      </p:sp>
      <p:sp>
        <p:nvSpPr>
          <p:cNvPr id="18" name="Text 16"/>
          <p:cNvSpPr/>
          <p:nvPr/>
        </p:nvSpPr>
        <p:spPr>
          <a:xfrm>
            <a:off x="1097280" y="3291840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أصبر محتسبًا</a:t>
            </a:r>
            <a:endParaRPr lang="ar-SA" sz="2400" dirty="0"/>
          </a:p>
        </p:txBody>
      </p:sp>
      <p:sp>
        <p:nvSpPr>
          <p:cNvPr id="19" name="Text 17"/>
          <p:cNvSpPr/>
          <p:nvPr/>
        </p:nvSpPr>
        <p:spPr>
          <a:xfrm>
            <a:off x="1097280" y="3886200"/>
            <a:ext cx="278373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صبري على أصعب طالب عندي عبادة أُؤجر عليها، لا خسارة أتحمّلها</a:t>
            </a:r>
            <a:endParaRPr lang="ar-SA" sz="1900" dirty="0"/>
          </a:p>
        </p:txBody>
      </p:sp>
      <p:sp>
        <p:nvSpPr>
          <p:cNvPr id="20" name="Text 18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قبل أن تدخل الفصل  ·  ٧</a:t>
            </a:r>
            <a:endParaRPr lang="ar-SA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40200" y="1097280"/>
            <a:ext cx="3511296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340200" y="1097280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الدعاء للطالب أمامه</a:t>
            </a:r>
            <a:endParaRPr lang="ar-SA" sz="1600" dirty="0"/>
          </a:p>
        </p:txBody>
      </p:sp>
      <p:sp>
        <p:nvSpPr>
          <p:cNvPr id="4" name="Shape 2"/>
          <p:cNvSpPr/>
          <p:nvPr/>
        </p:nvSpPr>
        <p:spPr>
          <a:xfrm>
            <a:off x="5181448" y="2103120"/>
            <a:ext cx="1828800" cy="32004"/>
          </a:xfrm>
          <a:prstGeom prst="rect">
            <a:avLst/>
          </a:prstGeom>
          <a:solidFill>
            <a:srgbClr val="D9AE4B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228600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25000"/>
              </a:lnSpc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34" charset="0"/>
                <a:ea typeface="Amiri" pitchFamily="34" charset="-122"/>
                <a:cs typeface="Amiri" pitchFamily="34" charset="-120"/>
              </a:rPr>
              <a:t>ضمّني رسول الله ﷺ إلى صدره وقال: «اللهم علّمه الكتاب»</a:t>
            </a:r>
            <a:endParaRPr lang="ar-SA" sz="4000" dirty="0"/>
          </a:p>
        </p:txBody>
      </p:sp>
      <p:sp>
        <p:nvSpPr>
          <p:cNvPr id="6" name="Shape 4"/>
          <p:cNvSpPr/>
          <p:nvPr/>
        </p:nvSpPr>
        <p:spPr>
          <a:xfrm>
            <a:off x="5181448" y="4800600"/>
            <a:ext cx="1828800" cy="32004"/>
          </a:xfrm>
          <a:prstGeom prst="rect">
            <a:avLst/>
          </a:prstGeom>
          <a:solidFill>
            <a:srgbClr val="D9AE4B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رواه البخاري — عن ابن عباس رضي الله عنهما</a:t>
            </a:r>
            <a:endParaRPr lang="ar-SA" sz="1600" dirty="0"/>
          </a:p>
        </p:txBody>
      </p:sp>
      <p:sp>
        <p:nvSpPr>
          <p:cNvPr id="8" name="Text 6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قبل أن تدخل الفصل  ·  ٨</a:t>
            </a:r>
            <a:endParaRPr lang="ar-SA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5263" y="457200"/>
            <a:ext cx="2633472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735263" y="457200"/>
            <a:ext cx="2633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الدعاء أمامهم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جُمل دعاء يسمعها الطالب… فتبقى معه سنوات</a:t>
            </a:r>
            <a:endParaRPr lang="ar-SA" sz="3200" dirty="0"/>
          </a:p>
        </p:txBody>
      </p:sp>
      <p:sp>
        <p:nvSpPr>
          <p:cNvPr id="5" name="Shape 3"/>
          <p:cNvSpPr/>
          <p:nvPr/>
        </p:nvSpPr>
        <p:spPr>
          <a:xfrm>
            <a:off x="9768535" y="2194560"/>
            <a:ext cx="1600200" cy="749808"/>
          </a:xfrm>
          <a:prstGeom prst="roundRect">
            <a:avLst>
              <a:gd name="adj" fmla="val 18293"/>
            </a:avLst>
          </a:prstGeom>
          <a:solidFill>
            <a:srgbClr val="E9EDF9"/>
          </a:solidFill>
          <a:ln/>
        </p:spPr>
      </p:sp>
      <p:sp>
        <p:nvSpPr>
          <p:cNvPr id="6" name="Text 4"/>
          <p:cNvSpPr/>
          <p:nvPr/>
        </p:nvSpPr>
        <p:spPr>
          <a:xfrm>
            <a:off x="9814255" y="2194560"/>
            <a:ext cx="1508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2346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عند الإجابة الصحيحة</a:t>
            </a:r>
            <a:endParaRPr lang="ar-SA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103120"/>
            <a:ext cx="8716975" cy="932688"/>
          </a:xfrm>
          <a:prstGeom prst="roundRect">
            <a:avLst>
              <a:gd name="adj" fmla="val 21569"/>
            </a:avLst>
          </a:prstGeom>
          <a:solidFill>
            <a:srgbClr val="101B45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103120"/>
            <a:ext cx="816833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1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« </a:t>
            </a:r>
            <a:pPr algn="r" indent="0" marL="0">
              <a:buNone/>
            </a:pPr>
            <a:r>
              <a:rPr lang="ar-SA" altLang="en-US" sz="21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فتح الله عليك، هذه إجابة عالم صغير</a:t>
            </a:r>
            <a:pPr algn="r" indent="0" marL="0">
              <a:buNone/>
            </a:pPr>
            <a:r>
              <a:rPr lang="ar-SA" altLang="en-US" sz="21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»</a:t>
            </a:r>
            <a:endParaRPr lang="ar-SA" sz="2100" dirty="0"/>
          </a:p>
        </p:txBody>
      </p:sp>
      <p:sp>
        <p:nvSpPr>
          <p:cNvPr id="9" name="Shape 7"/>
          <p:cNvSpPr/>
          <p:nvPr/>
        </p:nvSpPr>
        <p:spPr>
          <a:xfrm>
            <a:off x="9768535" y="3291840"/>
            <a:ext cx="1600200" cy="749808"/>
          </a:xfrm>
          <a:prstGeom prst="roundRect">
            <a:avLst>
              <a:gd name="adj" fmla="val 18293"/>
            </a:avLst>
          </a:prstGeom>
          <a:solidFill>
            <a:srgbClr val="E9EDF9"/>
          </a:solidFill>
          <a:ln/>
        </p:spPr>
      </p:sp>
      <p:sp>
        <p:nvSpPr>
          <p:cNvPr id="10" name="Text 8"/>
          <p:cNvSpPr/>
          <p:nvPr/>
        </p:nvSpPr>
        <p:spPr>
          <a:xfrm>
            <a:off x="9814255" y="3291840"/>
            <a:ext cx="1508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2346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لطالب متعثر حاول</a:t>
            </a:r>
            <a:endParaRPr lang="ar-SA" sz="1500" dirty="0"/>
          </a:p>
        </p:txBody>
      </p:sp>
      <p:sp>
        <p:nvSpPr>
          <p:cNvPr id="11" name="Shape 9"/>
          <p:cNvSpPr/>
          <p:nvPr/>
        </p:nvSpPr>
        <p:spPr>
          <a:xfrm>
            <a:off x="822960" y="3200400"/>
            <a:ext cx="8716975" cy="932688"/>
          </a:xfrm>
          <a:prstGeom prst="roundRect">
            <a:avLst>
              <a:gd name="adj" fmla="val 21569"/>
            </a:avLst>
          </a:prstGeom>
          <a:solidFill>
            <a:srgbClr val="101B45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3200400"/>
            <a:ext cx="816833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1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« </a:t>
            </a:r>
            <a:pPr algn="r" indent="0" marL="0">
              <a:buNone/>
            </a:pPr>
            <a:r>
              <a:rPr lang="ar-SA" altLang="en-US" sz="21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بارك الله في محاولتك، سيفتح الله عليك قريبًا</a:t>
            </a:r>
            <a:pPr algn="r" indent="0" marL="0">
              <a:buNone/>
            </a:pPr>
            <a:r>
              <a:rPr lang="ar-SA" altLang="en-US" sz="21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»</a:t>
            </a:r>
            <a:endParaRPr lang="ar-SA" sz="2100" dirty="0"/>
          </a:p>
        </p:txBody>
      </p:sp>
      <p:sp>
        <p:nvSpPr>
          <p:cNvPr id="13" name="Shape 11"/>
          <p:cNvSpPr/>
          <p:nvPr/>
        </p:nvSpPr>
        <p:spPr>
          <a:xfrm>
            <a:off x="9768535" y="4389120"/>
            <a:ext cx="1600200" cy="749808"/>
          </a:xfrm>
          <a:prstGeom prst="roundRect">
            <a:avLst>
              <a:gd name="adj" fmla="val 18293"/>
            </a:avLst>
          </a:prstGeom>
          <a:solidFill>
            <a:srgbClr val="E9EDF9"/>
          </a:solidFill>
          <a:ln/>
        </p:spPr>
      </p:sp>
      <p:sp>
        <p:nvSpPr>
          <p:cNvPr id="14" name="Text 12"/>
          <p:cNvSpPr/>
          <p:nvPr/>
        </p:nvSpPr>
        <p:spPr>
          <a:xfrm>
            <a:off x="9814255" y="4389120"/>
            <a:ext cx="1508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2346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بعد تصحيح خطأ</a:t>
            </a:r>
            <a:endParaRPr lang="ar-SA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4297680"/>
            <a:ext cx="8716975" cy="932688"/>
          </a:xfrm>
          <a:prstGeom prst="roundRect">
            <a:avLst>
              <a:gd name="adj" fmla="val 21569"/>
            </a:avLst>
          </a:prstGeom>
          <a:solidFill>
            <a:srgbClr val="101B45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4297680"/>
            <a:ext cx="816833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1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« </a:t>
            </a:r>
            <a:pPr algn="r" indent="0" marL="0">
              <a:buNone/>
            </a:pPr>
            <a:r>
              <a:rPr lang="ar-SA" altLang="en-US" sz="21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أسأل الله أن يجعلك من المتميزين، وأنا أثق بك</a:t>
            </a:r>
            <a:pPr algn="r" indent="0" marL="0">
              <a:buNone/>
            </a:pPr>
            <a:r>
              <a:rPr lang="ar-SA" altLang="en-US" sz="21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»</a:t>
            </a:r>
            <a:endParaRPr lang="ar-SA" sz="2100" dirty="0"/>
          </a:p>
        </p:txBody>
      </p:sp>
      <p:sp>
        <p:nvSpPr>
          <p:cNvPr id="17" name="Shape 15"/>
          <p:cNvSpPr/>
          <p:nvPr/>
        </p:nvSpPr>
        <p:spPr>
          <a:xfrm>
            <a:off x="822960" y="5532120"/>
            <a:ext cx="10545775" cy="548640"/>
          </a:xfrm>
          <a:prstGeom prst="roundRect">
            <a:avLst>
              <a:gd name="adj" fmla="val 20000"/>
            </a:avLst>
          </a:prstGeom>
          <a:solidFill>
            <a:srgbClr val="FBECEC"/>
          </a:solidFill>
          <a:ln/>
        </p:spPr>
      </p:sp>
      <p:sp>
        <p:nvSpPr>
          <p:cNvPr id="18" name="Shape 16"/>
          <p:cNvSpPr/>
          <p:nvPr/>
        </p:nvSpPr>
        <p:spPr>
          <a:xfrm>
            <a:off x="11295583" y="5532120"/>
            <a:ext cx="73152" cy="548640"/>
          </a:xfrm>
          <a:prstGeom prst="rect">
            <a:avLst/>
          </a:prstGeom>
          <a:solidFill>
            <a:srgbClr val="D64545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5532120"/>
            <a:ext cx="10088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8E2A2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⚠️ انتبه لنبرة الصوت: «الله يهديك» بنبرة غاضبة تتحول من دعاء إلى إهانة</a:t>
            </a:r>
            <a:endParaRPr lang="ar-SA" sz="1700" dirty="0"/>
          </a:p>
        </p:txBody>
      </p:sp>
      <p:sp>
        <p:nvSpPr>
          <p:cNvPr id="20" name="Text 18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قبل أن تدخل الفصل  ·  ٩</a:t>
            </a:r>
            <a:endParaRPr lang="ar-SA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40200" y="1097280"/>
            <a:ext cx="3511296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340200" y="1097280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الدعاء لهم من خلفهم</a:t>
            </a:r>
            <a:endParaRPr lang="ar-SA" sz="1600" dirty="0"/>
          </a:p>
        </p:txBody>
      </p:sp>
      <p:sp>
        <p:nvSpPr>
          <p:cNvPr id="4" name="Shape 2"/>
          <p:cNvSpPr/>
          <p:nvPr/>
        </p:nvSpPr>
        <p:spPr>
          <a:xfrm>
            <a:off x="5181448" y="2103120"/>
            <a:ext cx="1828800" cy="32004"/>
          </a:xfrm>
          <a:prstGeom prst="rect">
            <a:avLst/>
          </a:prstGeom>
          <a:solidFill>
            <a:srgbClr val="D9AE4B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228600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25000"/>
              </a:lnSpc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34" charset="0"/>
                <a:ea typeface="Amiri" pitchFamily="34" charset="-122"/>
                <a:cs typeface="Amiri" pitchFamily="34" charset="-120"/>
              </a:rPr>
              <a:t>ما من عبد مسلم يدعو لأخيه بظهر الغيب إلا قال الملَك: ولك بمثل</a:t>
            </a:r>
            <a:endParaRPr lang="ar-SA" sz="4000" dirty="0"/>
          </a:p>
        </p:txBody>
      </p:sp>
      <p:sp>
        <p:nvSpPr>
          <p:cNvPr id="6" name="Shape 4"/>
          <p:cNvSpPr/>
          <p:nvPr/>
        </p:nvSpPr>
        <p:spPr>
          <a:xfrm>
            <a:off x="5181448" y="4800600"/>
            <a:ext cx="1828800" cy="32004"/>
          </a:xfrm>
          <a:prstGeom prst="rect">
            <a:avLst/>
          </a:prstGeom>
          <a:solidFill>
            <a:srgbClr val="D9AE4B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رواه مسلم</a:t>
            </a:r>
            <a:endParaRPr lang="ar-SA" sz="1600" dirty="0"/>
          </a:p>
        </p:txBody>
      </p:sp>
      <p:sp>
        <p:nvSpPr>
          <p:cNvPr id="8" name="Text 6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قبل أن تدخل الفصل  ·  ١٠</a:t>
            </a:r>
            <a:endParaRPr lang="ar-SA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57439" y="457200"/>
            <a:ext cx="3511296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57439" y="457200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نشاط فردي — دقيقتان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«وِرد المعلم»</a:t>
            </a:r>
            <a:endParaRPr lang="ar-SA" sz="3800" dirty="0"/>
          </a:p>
        </p:txBody>
      </p:sp>
      <p:sp>
        <p:nvSpPr>
          <p:cNvPr id="5" name="Shape 3"/>
          <p:cNvSpPr/>
          <p:nvPr/>
        </p:nvSpPr>
        <p:spPr>
          <a:xfrm>
            <a:off x="10637215" y="2286000"/>
            <a:ext cx="731520" cy="731520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6" name="Text 4"/>
          <p:cNvSpPr/>
          <p:nvPr/>
        </p:nvSpPr>
        <p:spPr>
          <a:xfrm>
            <a:off x="10637215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2400" dirty="0"/>
          </a:p>
        </p:txBody>
      </p:sp>
      <p:sp>
        <p:nvSpPr>
          <p:cNvPr id="7" name="Text 5"/>
          <p:cNvSpPr/>
          <p:nvPr/>
        </p:nvSpPr>
        <p:spPr>
          <a:xfrm>
            <a:off x="4023360" y="2194560"/>
            <a:ext cx="6339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3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اكتب الآن أسماء ثلاثة طلاب هم الأصعب عليك هذا العام</a:t>
            </a:r>
            <a:endParaRPr lang="ar-SA" sz="2300" dirty="0"/>
          </a:p>
        </p:txBody>
      </p:sp>
      <p:sp>
        <p:nvSpPr>
          <p:cNvPr id="8" name="Shape 6"/>
          <p:cNvSpPr/>
          <p:nvPr/>
        </p:nvSpPr>
        <p:spPr>
          <a:xfrm>
            <a:off x="10637215" y="3383280"/>
            <a:ext cx="731520" cy="731520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9" name="Text 7"/>
          <p:cNvSpPr/>
          <p:nvPr/>
        </p:nvSpPr>
        <p:spPr>
          <a:xfrm>
            <a:off x="10637215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2400" dirty="0"/>
          </a:p>
        </p:txBody>
      </p:sp>
      <p:sp>
        <p:nvSpPr>
          <p:cNvPr id="10" name="Text 8"/>
          <p:cNvSpPr/>
          <p:nvPr/>
        </p:nvSpPr>
        <p:spPr>
          <a:xfrm>
            <a:off x="4023360" y="3291840"/>
            <a:ext cx="6339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3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ادعُ لكل واحد منهم باسمه كل يوم لمدة أسبوع</a:t>
            </a:r>
            <a:endParaRPr lang="ar-SA" sz="2300" dirty="0"/>
          </a:p>
        </p:txBody>
      </p:sp>
      <p:sp>
        <p:nvSpPr>
          <p:cNvPr id="11" name="Shape 9"/>
          <p:cNvSpPr/>
          <p:nvPr/>
        </p:nvSpPr>
        <p:spPr>
          <a:xfrm>
            <a:off x="10637215" y="4480560"/>
            <a:ext cx="731520" cy="731520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2" name="Text 10"/>
          <p:cNvSpPr/>
          <p:nvPr/>
        </p:nvSpPr>
        <p:spPr>
          <a:xfrm>
            <a:off x="10637215" y="4480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2400" dirty="0"/>
          </a:p>
        </p:txBody>
      </p:sp>
      <p:sp>
        <p:nvSpPr>
          <p:cNvPr id="13" name="Text 11"/>
          <p:cNvSpPr/>
          <p:nvPr/>
        </p:nvSpPr>
        <p:spPr>
          <a:xfrm>
            <a:off x="4023360" y="4389120"/>
            <a:ext cx="6339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3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راقب بصدق: من الذي تغيّر أولًا… هم أم أنت؟</a:t>
            </a:r>
            <a:endParaRPr lang="ar-SA" sz="2300" dirty="0"/>
          </a:p>
        </p:txBody>
      </p:sp>
      <p:sp>
        <p:nvSpPr>
          <p:cNvPr id="14" name="Shape 12"/>
          <p:cNvSpPr/>
          <p:nvPr/>
        </p:nvSpPr>
        <p:spPr>
          <a:xfrm>
            <a:off x="822960" y="2194560"/>
            <a:ext cx="2834640" cy="2834640"/>
          </a:xfrm>
          <a:prstGeom prst="ellipse">
            <a:avLst/>
          </a:prstGeom>
          <a:solidFill>
            <a:srgbClr val="FFFFFF">
              <a:alpha val="5000"/>
            </a:srgbClr>
          </a:solidFill>
          <a:ln w="88900">
            <a:solidFill>
              <a:srgbClr val="D9AE4B">
                <a:alpha val="5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8346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2:00</a:t>
            </a:r>
            <a:endParaRPr lang="ar-SA" sz="6000" dirty="0"/>
          </a:p>
        </p:txBody>
      </p:sp>
      <p:sp>
        <p:nvSpPr>
          <p:cNvPr id="16" name="Text 14"/>
          <p:cNvSpPr/>
          <p:nvPr/>
        </p:nvSpPr>
        <p:spPr>
          <a:xfrm>
            <a:off x="822960" y="3840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دقيقتان</a:t>
            </a:r>
            <a:endParaRPr lang="ar-SA" sz="1600" dirty="0"/>
          </a:p>
        </p:txBody>
      </p:sp>
      <p:sp>
        <p:nvSpPr>
          <p:cNvPr id="17" name="Text 1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قبل أن تدخل الفصل  ·  ١١</a:t>
            </a:r>
            <a:endParaRPr lang="ar-SA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1720" y="1188720"/>
            <a:ext cx="2048256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1720" y="1188720"/>
            <a:ext cx="2048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قال تعالى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ar-SA" altLang="en-US" sz="4400" b="1" dirty="0">
                <a:solidFill>
                  <a:srgbClr val="D9AE4B"/>
                </a:solidFill>
                <a:latin typeface="Amiri" pitchFamily="34" charset="0"/>
                <a:ea typeface="Amiri" pitchFamily="34" charset="-122"/>
                <a:cs typeface="Amiri" pitchFamily="34" charset="-120"/>
              </a:rPr>
              <a:t>﴿ </a:t>
            </a:r>
            <a:pPr algn="ctr" indent="0" marL="0">
              <a:lnSpc>
                <a:spcPct val="130000"/>
              </a:lnSpc>
              <a:buNone/>
            </a:pPr>
            <a:r>
              <a:rPr lang="ar-SA" altLang="en-US" sz="4400" b="1" dirty="0">
                <a:solidFill>
                  <a:srgbClr val="FFFFFF"/>
                </a:solidFill>
                <a:latin typeface="Amiri" pitchFamily="34" charset="0"/>
                <a:ea typeface="Amiri" pitchFamily="34" charset="-122"/>
                <a:cs typeface="Amiri" pitchFamily="34" charset="-120"/>
              </a:rPr>
              <a:t>فَبِمَا رَحْمَةٍ مِّنَ اللَّهِ لِنتَ لَهُمْ ۖ وَلَوْ كُنتَ فَظًّا غَلِيظَ الْقَلْبِ لَانفَضُّوا مِنْ حَوْلِكَ</a:t>
            </a:r>
            <a:pPr algn="ctr" indent="0" marL="0">
              <a:lnSpc>
                <a:spcPct val="130000"/>
              </a:lnSpc>
              <a:buNone/>
            </a:pPr>
            <a:r>
              <a:rPr lang="ar-SA" altLang="en-US" sz="4400" b="1" dirty="0">
                <a:solidFill>
                  <a:srgbClr val="D9AE4B"/>
                </a:solidFill>
                <a:latin typeface="Amiri" pitchFamily="34" charset="0"/>
                <a:ea typeface="Amiri" pitchFamily="34" charset="-122"/>
                <a:cs typeface="Amiri" pitchFamily="34" charset="-120"/>
              </a:rPr>
              <a:t> ﴾</a:t>
            </a:r>
            <a:endParaRPr lang="ar-SA" sz="4400" dirty="0"/>
          </a:p>
        </p:txBody>
      </p:sp>
      <p:sp>
        <p:nvSpPr>
          <p:cNvPr id="5" name="Text 3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آل عمران: ١٥٩</a:t>
            </a:r>
            <a:endParaRPr lang="ar-SA" sz="1600" dirty="0"/>
          </a:p>
        </p:txBody>
      </p:sp>
      <p:sp>
        <p:nvSpPr>
          <p:cNvPr id="6" name="Text 4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قبل أن تدخل الفصل  ·  ١٢</a:t>
            </a:r>
            <a:endParaRPr lang="ar-SA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55487" y="457200"/>
            <a:ext cx="5413248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55487" y="457200"/>
            <a:ext cx="5413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النبي ﷺ معلّمًا — موقف صفي حقيقي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صحابي يتكلم أثناء الصلاة</a:t>
            </a:r>
            <a:endParaRPr lang="ar-SA" sz="3800" dirty="0"/>
          </a:p>
        </p:txBody>
      </p:sp>
      <p:sp>
        <p:nvSpPr>
          <p:cNvPr id="5" name="Text 3"/>
          <p:cNvSpPr/>
          <p:nvPr/>
        </p:nvSpPr>
        <p:spPr>
          <a:xfrm>
            <a:off x="5577840" y="2103120"/>
            <a:ext cx="57908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ar-SA" altLang="en-US" sz="1900" b="1" dirty="0">
                <a:solidFill>
                  <a:srgbClr val="D9DEF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تكلّم معاوية بن الحكم رضي الله عنه في الصلاة جاهلًا بالحكم، فرمقه الناس بأبصارهم وضربوا بأيديهم على أفخاذهم يُسكتونه.</a:t>
            </a:r>
            <a:endParaRPr lang="ar-SA" sz="1900" dirty="0"/>
          </a:p>
        </p:txBody>
      </p:sp>
      <p:sp>
        <p:nvSpPr>
          <p:cNvPr id="6" name="Shape 4"/>
          <p:cNvSpPr/>
          <p:nvPr/>
        </p:nvSpPr>
        <p:spPr>
          <a:xfrm>
            <a:off x="11313871" y="3703320"/>
            <a:ext cx="54864" cy="1828800"/>
          </a:xfrm>
          <a:prstGeom prst="rect">
            <a:avLst/>
          </a:prstGeom>
          <a:solidFill>
            <a:srgbClr val="D9AE4B"/>
          </a:solidFill>
          <a:ln/>
        </p:spPr>
      </p:sp>
      <p:sp>
        <p:nvSpPr>
          <p:cNvPr id="7" name="Text 5"/>
          <p:cNvSpPr/>
          <p:nvPr/>
        </p:nvSpPr>
        <p:spPr>
          <a:xfrm>
            <a:off x="5577840" y="3657600"/>
            <a:ext cx="55165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00" b="1" dirty="0">
                <a:solidFill>
                  <a:srgbClr val="F0CC7A"/>
                </a:solidFill>
                <a:latin typeface="Amiri" pitchFamily="34" charset="0"/>
                <a:ea typeface="Amiri" pitchFamily="34" charset="-122"/>
                <a:cs typeface="Amiri" pitchFamily="34" charset="-120"/>
              </a:rPr>
              <a:t>«فبأبي هو وأمي، ما رأيت معلّمًا قبله ولا بعده أحسن تعليمًا منه؛ فوالله ما كهرني ولا ضربني ولا شتمني»</a:t>
            </a:r>
            <a:endParaRPr lang="ar-SA" sz="2500" dirty="0"/>
          </a:p>
        </p:txBody>
      </p:sp>
      <p:sp>
        <p:nvSpPr>
          <p:cNvPr id="8" name="Text 6"/>
          <p:cNvSpPr/>
          <p:nvPr/>
        </p:nvSpPr>
        <p:spPr>
          <a:xfrm>
            <a:off x="5577840" y="5166360"/>
            <a:ext cx="5516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رواه مسلم</a:t>
            </a:r>
            <a:endParaRPr lang="ar-SA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2103120"/>
            <a:ext cx="4389120" cy="3566160"/>
          </a:xfrm>
          <a:prstGeom prst="roundRect">
            <a:avLst>
              <a:gd name="adj" fmla="val 6410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D9AE4B">
                <a:alpha val="5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2860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dirty="0">
                <a:solidFill>
                  <a:srgbClr val="D9AE4B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كيف تصرّف ﷺ؟</a:t>
            </a:r>
            <a:endParaRPr lang="ar-SA" sz="2100" dirty="0"/>
          </a:p>
        </p:txBody>
      </p:sp>
      <p:sp>
        <p:nvSpPr>
          <p:cNvPr id="11" name="Shape 9"/>
          <p:cNvSpPr/>
          <p:nvPr/>
        </p:nvSpPr>
        <p:spPr>
          <a:xfrm>
            <a:off x="4526280" y="2999232"/>
            <a:ext cx="384048" cy="38404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29260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انتظر حتى انتهت الصلاة، ولم يقطعها ليعالج الخطأ</a:t>
            </a:r>
            <a:endParaRPr lang="ar-SA" sz="1800" dirty="0"/>
          </a:p>
        </p:txBody>
      </p:sp>
      <p:sp>
        <p:nvSpPr>
          <p:cNvPr id="14" name="Shape 12"/>
          <p:cNvSpPr/>
          <p:nvPr/>
        </p:nvSpPr>
        <p:spPr>
          <a:xfrm>
            <a:off x="4526280" y="3867912"/>
            <a:ext cx="384048" cy="38404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5" name="Text 13"/>
          <p:cNvSpPr/>
          <p:nvPr/>
        </p:nvSpPr>
        <p:spPr>
          <a:xfrm>
            <a:off x="452628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1400" dirty="0"/>
          </a:p>
        </p:txBody>
      </p:sp>
      <p:sp>
        <p:nvSpPr>
          <p:cNvPr id="16" name="Text 14"/>
          <p:cNvSpPr/>
          <p:nvPr/>
        </p:nvSpPr>
        <p:spPr>
          <a:xfrm>
            <a:off x="1051560" y="37947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لم يوبّخه أمام الناس</a:t>
            </a:r>
            <a:endParaRPr lang="ar-SA" sz="1800" dirty="0"/>
          </a:p>
        </p:txBody>
      </p:sp>
      <p:sp>
        <p:nvSpPr>
          <p:cNvPr id="17" name="Shape 15"/>
          <p:cNvSpPr/>
          <p:nvPr/>
        </p:nvSpPr>
        <p:spPr>
          <a:xfrm>
            <a:off x="4526280" y="4736592"/>
            <a:ext cx="384048" cy="38404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8" name="Text 16"/>
          <p:cNvSpPr/>
          <p:nvPr/>
        </p:nvSpPr>
        <p:spPr>
          <a:xfrm>
            <a:off x="4526280" y="4736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1400" dirty="0"/>
          </a:p>
        </p:txBody>
      </p:sp>
      <p:sp>
        <p:nvSpPr>
          <p:cNvPr id="19" name="Text 17"/>
          <p:cNvSpPr/>
          <p:nvPr/>
        </p:nvSpPr>
        <p:spPr>
          <a:xfrm>
            <a:off x="1051560" y="46634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علّمه القاعدة في جملة واحدة واضحة</a:t>
            </a:r>
            <a:endParaRPr lang="ar-SA" sz="1800" dirty="0"/>
          </a:p>
        </p:txBody>
      </p:sp>
      <p:sp>
        <p:nvSpPr>
          <p:cNvPr id="20" name="Text 18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قبل أن تدخل الفصل  ·  ١٣</a:t>
            </a:r>
            <a:endParaRPr lang="ar-SA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55487" y="457200"/>
            <a:ext cx="5413248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55487" y="457200"/>
            <a:ext cx="5413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النبي ﷺ معلّمًا — موقف صفي حقيقي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أعرابي يبول في المسجد</a:t>
            </a:r>
            <a:endParaRPr lang="ar-SA" sz="3800" dirty="0"/>
          </a:p>
        </p:txBody>
      </p:sp>
      <p:sp>
        <p:nvSpPr>
          <p:cNvPr id="5" name="Text 3"/>
          <p:cNvSpPr/>
          <p:nvPr/>
        </p:nvSpPr>
        <p:spPr>
          <a:xfrm>
            <a:off x="5577840" y="2103120"/>
            <a:ext cx="57908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ar-SA" altLang="en-US" sz="1900" b="1" dirty="0">
                <a:solidFill>
                  <a:srgbClr val="D9DEF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قام الصحابة إلى الأعرابي ليزجروه، فأوقفهم النبي ﷺ حتى أتمّ، ثم أمر بماء فصُبّ على المكان.</a:t>
            </a:r>
            <a:endParaRPr lang="ar-SA" sz="1900" dirty="0"/>
          </a:p>
        </p:txBody>
      </p:sp>
      <p:sp>
        <p:nvSpPr>
          <p:cNvPr id="6" name="Shape 4"/>
          <p:cNvSpPr/>
          <p:nvPr/>
        </p:nvSpPr>
        <p:spPr>
          <a:xfrm>
            <a:off x="11313871" y="3703320"/>
            <a:ext cx="54864" cy="1828800"/>
          </a:xfrm>
          <a:prstGeom prst="rect">
            <a:avLst/>
          </a:prstGeom>
          <a:solidFill>
            <a:srgbClr val="D9AE4B"/>
          </a:solidFill>
          <a:ln/>
        </p:spPr>
      </p:sp>
      <p:sp>
        <p:nvSpPr>
          <p:cNvPr id="7" name="Text 5"/>
          <p:cNvSpPr/>
          <p:nvPr/>
        </p:nvSpPr>
        <p:spPr>
          <a:xfrm>
            <a:off x="5577840" y="3657600"/>
            <a:ext cx="55165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00" b="1" dirty="0">
                <a:solidFill>
                  <a:srgbClr val="F0CC7A"/>
                </a:solidFill>
                <a:latin typeface="Amiri" pitchFamily="34" charset="0"/>
                <a:ea typeface="Amiri" pitchFamily="34" charset="-122"/>
                <a:cs typeface="Amiri" pitchFamily="34" charset="-120"/>
              </a:rPr>
              <a:t>«دعوه… فإنما بُعثتم ميسّرين ولم تُبعثوا معسّرين»</a:t>
            </a:r>
            <a:endParaRPr lang="ar-SA" sz="2500" dirty="0"/>
          </a:p>
        </p:txBody>
      </p:sp>
      <p:sp>
        <p:nvSpPr>
          <p:cNvPr id="8" name="Text 6"/>
          <p:cNvSpPr/>
          <p:nvPr/>
        </p:nvSpPr>
        <p:spPr>
          <a:xfrm>
            <a:off x="5577840" y="5166360"/>
            <a:ext cx="5516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رواه البخاري</a:t>
            </a:r>
            <a:endParaRPr lang="ar-SA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2103120"/>
            <a:ext cx="4389120" cy="3566160"/>
          </a:xfrm>
          <a:prstGeom prst="roundRect">
            <a:avLst>
              <a:gd name="adj" fmla="val 6410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D9AE4B">
                <a:alpha val="5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2860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dirty="0">
                <a:solidFill>
                  <a:srgbClr val="D9AE4B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كيف تصرّف ﷺ؟</a:t>
            </a:r>
            <a:endParaRPr lang="ar-SA" sz="2100" dirty="0"/>
          </a:p>
        </p:txBody>
      </p:sp>
      <p:sp>
        <p:nvSpPr>
          <p:cNvPr id="11" name="Shape 9"/>
          <p:cNvSpPr/>
          <p:nvPr/>
        </p:nvSpPr>
        <p:spPr>
          <a:xfrm>
            <a:off x="4526280" y="2999232"/>
            <a:ext cx="384048" cy="38404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29260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أوقف التصعيد أولًا، فزجر الصحابة كان سيصنع ضررًا أكبر</a:t>
            </a:r>
            <a:endParaRPr lang="ar-SA" sz="1800" dirty="0"/>
          </a:p>
        </p:txBody>
      </p:sp>
      <p:sp>
        <p:nvSpPr>
          <p:cNvPr id="14" name="Shape 12"/>
          <p:cNvSpPr/>
          <p:nvPr/>
        </p:nvSpPr>
        <p:spPr>
          <a:xfrm>
            <a:off x="4526280" y="3867912"/>
            <a:ext cx="384048" cy="38404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5" name="Text 13"/>
          <p:cNvSpPr/>
          <p:nvPr/>
        </p:nvSpPr>
        <p:spPr>
          <a:xfrm>
            <a:off x="452628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1400" dirty="0"/>
          </a:p>
        </p:txBody>
      </p:sp>
      <p:sp>
        <p:nvSpPr>
          <p:cNvPr id="16" name="Text 14"/>
          <p:cNvSpPr/>
          <p:nvPr/>
        </p:nvSpPr>
        <p:spPr>
          <a:xfrm>
            <a:off x="1051560" y="37947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عالج الأثر بهدوء</a:t>
            </a:r>
            <a:endParaRPr lang="ar-SA" sz="1800" dirty="0"/>
          </a:p>
        </p:txBody>
      </p:sp>
      <p:sp>
        <p:nvSpPr>
          <p:cNvPr id="17" name="Shape 15"/>
          <p:cNvSpPr/>
          <p:nvPr/>
        </p:nvSpPr>
        <p:spPr>
          <a:xfrm>
            <a:off x="4526280" y="4736592"/>
            <a:ext cx="384048" cy="38404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8" name="Text 16"/>
          <p:cNvSpPr/>
          <p:nvPr/>
        </p:nvSpPr>
        <p:spPr>
          <a:xfrm>
            <a:off x="4526280" y="4736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1400" dirty="0"/>
          </a:p>
        </p:txBody>
      </p:sp>
      <p:sp>
        <p:nvSpPr>
          <p:cNvPr id="19" name="Text 17"/>
          <p:cNvSpPr/>
          <p:nvPr/>
        </p:nvSpPr>
        <p:spPr>
          <a:xfrm>
            <a:off x="1051560" y="46634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ثم علّم الأعرابي برفق</a:t>
            </a:r>
            <a:endParaRPr lang="ar-SA" sz="1800" dirty="0"/>
          </a:p>
        </p:txBody>
      </p:sp>
      <p:sp>
        <p:nvSpPr>
          <p:cNvPr id="20" name="Text 18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قبل أن تدخل الفصل  ·  ١٤</a:t>
            </a:r>
            <a:endParaRPr lang="ar-SA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81832" y="1188720"/>
            <a:ext cx="4828032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81832" y="1188720"/>
            <a:ext cx="4828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هذه الدورة كلها في حديث واحد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miri" pitchFamily="34" charset="0"/>
                <a:ea typeface="Amiri" pitchFamily="34" charset="-122"/>
                <a:cs typeface="Amiri" pitchFamily="34" charset="-120"/>
              </a:rPr>
              <a:t>إن الله لم يبعثني معنِّتًا ولا متعنِّتًا، ولكن بعثني معلِّمًا ميسِّرًا</a:t>
            </a:r>
            <a:endParaRPr lang="ar-SA" sz="4200" dirty="0"/>
          </a:p>
        </p:txBody>
      </p:sp>
      <p:sp>
        <p:nvSpPr>
          <p:cNvPr id="5" name="Text 3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رواه مسلم</a:t>
            </a:r>
            <a:endParaRPr lang="ar-SA" sz="1600" dirty="0"/>
          </a:p>
        </p:txBody>
      </p:sp>
      <p:sp>
        <p:nvSpPr>
          <p:cNvPr id="6" name="Text 4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قبل أن تدخل الفصل  ·  ١٥</a:t>
            </a:r>
            <a:endParaRPr lang="ar-SA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103120"/>
            <a:ext cx="2651760" cy="2651760"/>
          </a:xfrm>
          <a:prstGeom prst="ellipse">
            <a:avLst/>
          </a:prstGeom>
          <a:solidFill>
            <a:srgbClr val="D9AE4B">
              <a:alpha val="12000"/>
            </a:srgbClr>
          </a:solidFill>
          <a:ln w="635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21031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12000" dirty="0"/>
          </a:p>
        </p:txBody>
      </p:sp>
      <p:sp>
        <p:nvSpPr>
          <p:cNvPr id="4" name="Text 2"/>
          <p:cNvSpPr/>
          <p:nvPr/>
        </p:nvSpPr>
        <p:spPr>
          <a:xfrm>
            <a:off x="4206240" y="2011680"/>
            <a:ext cx="7162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المحطة ٢</a:t>
            </a:r>
            <a:endParaRPr lang="ar-SA" sz="2000" dirty="0"/>
          </a:p>
        </p:txBody>
      </p:sp>
      <p:sp>
        <p:nvSpPr>
          <p:cNvPr id="5" name="Text 3"/>
          <p:cNvSpPr/>
          <p:nvPr/>
        </p:nvSpPr>
        <p:spPr>
          <a:xfrm>
            <a:off x="4206240" y="246888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60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لماذا نحن هنا؟</a:t>
            </a:r>
            <a:endParaRPr lang="ar-SA" sz="6000" dirty="0"/>
          </a:p>
        </p:txBody>
      </p:sp>
      <p:sp>
        <p:nvSpPr>
          <p:cNvPr id="6" name="Text 4"/>
          <p:cNvSpPr/>
          <p:nvPr/>
        </p:nvSpPr>
        <p:spPr>
          <a:xfrm>
            <a:off x="4206240" y="3840480"/>
            <a:ext cx="71624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المعلم هو الفرق</a:t>
            </a:r>
            <a:endParaRPr lang="ar-SA" sz="2400" dirty="0"/>
          </a:p>
        </p:txBody>
      </p:sp>
      <p:sp>
        <p:nvSpPr>
          <p:cNvPr id="7" name="Text 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لماذا نحن هنا؟  ·  ١٦</a:t>
            </a:r>
            <a:endParaRPr lang="ar-SA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18527" y="457200"/>
            <a:ext cx="395020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7418527" y="457200"/>
            <a:ext cx="3950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نشاط افتتاحي — مجموعات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أكمل القصة بالكلمات المناسبة</a:t>
            </a:r>
            <a:endParaRPr lang="ar-SA" sz="3800" dirty="0"/>
          </a:p>
        </p:txBody>
      </p:sp>
      <p:sp>
        <p:nvSpPr>
          <p:cNvPr id="5" name="Shape 3"/>
          <p:cNvSpPr/>
          <p:nvPr/>
        </p:nvSpPr>
        <p:spPr>
          <a:xfrm>
            <a:off x="10396454" y="2011680"/>
            <a:ext cx="972282" cy="502920"/>
          </a:xfrm>
          <a:prstGeom prst="roundRect">
            <a:avLst>
              <a:gd name="adj" fmla="val 21818"/>
            </a:avLst>
          </a:prstGeom>
          <a:solidFill>
            <a:srgbClr val="F6EBCF"/>
          </a:solidFill>
          <a:ln/>
        </p:spPr>
      </p:sp>
      <p:sp>
        <p:nvSpPr>
          <p:cNvPr id="6" name="Text 4"/>
          <p:cNvSpPr/>
          <p:nvPr/>
        </p:nvSpPr>
        <p:spPr>
          <a:xfrm>
            <a:off x="10396454" y="2011680"/>
            <a:ext cx="972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الطريق</a:t>
            </a:r>
            <a:endParaRPr lang="ar-SA" sz="1600" dirty="0"/>
          </a:p>
        </p:txBody>
      </p:sp>
      <p:sp>
        <p:nvSpPr>
          <p:cNvPr id="7" name="Shape 5"/>
          <p:cNvSpPr/>
          <p:nvPr/>
        </p:nvSpPr>
        <p:spPr>
          <a:xfrm>
            <a:off x="9332732" y="2011680"/>
            <a:ext cx="972282" cy="502920"/>
          </a:xfrm>
          <a:prstGeom prst="roundRect">
            <a:avLst>
              <a:gd name="adj" fmla="val 21818"/>
            </a:avLst>
          </a:prstGeom>
          <a:solidFill>
            <a:srgbClr val="F6EBCF"/>
          </a:solidFill>
          <a:ln/>
        </p:spPr>
      </p:sp>
      <p:sp>
        <p:nvSpPr>
          <p:cNvPr id="8" name="Text 6"/>
          <p:cNvSpPr/>
          <p:nvPr/>
        </p:nvSpPr>
        <p:spPr>
          <a:xfrm>
            <a:off x="9332732" y="2011680"/>
            <a:ext cx="972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رجل</a:t>
            </a:r>
            <a:endParaRPr lang="ar-SA" sz="1600" dirty="0"/>
          </a:p>
        </p:txBody>
      </p:sp>
      <p:sp>
        <p:nvSpPr>
          <p:cNvPr id="9" name="Shape 7"/>
          <p:cNvSpPr/>
          <p:nvPr/>
        </p:nvSpPr>
        <p:spPr>
          <a:xfrm>
            <a:off x="8269011" y="2011680"/>
            <a:ext cx="972282" cy="502920"/>
          </a:xfrm>
          <a:prstGeom prst="roundRect">
            <a:avLst>
              <a:gd name="adj" fmla="val 21818"/>
            </a:avLst>
          </a:prstGeom>
          <a:solidFill>
            <a:srgbClr val="F6EBCF"/>
          </a:solidFill>
          <a:ln/>
        </p:spPr>
      </p:sp>
      <p:sp>
        <p:nvSpPr>
          <p:cNvPr id="10" name="Text 8"/>
          <p:cNvSpPr/>
          <p:nvPr/>
        </p:nvSpPr>
        <p:spPr>
          <a:xfrm>
            <a:off x="8269011" y="2011680"/>
            <a:ext cx="972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الحصان</a:t>
            </a:r>
            <a:endParaRPr lang="ar-SA" sz="1600" dirty="0"/>
          </a:p>
        </p:txBody>
      </p:sp>
      <p:sp>
        <p:nvSpPr>
          <p:cNvPr id="11" name="Shape 9"/>
          <p:cNvSpPr/>
          <p:nvPr/>
        </p:nvSpPr>
        <p:spPr>
          <a:xfrm>
            <a:off x="7205289" y="2011680"/>
            <a:ext cx="972282" cy="502920"/>
          </a:xfrm>
          <a:prstGeom prst="roundRect">
            <a:avLst>
              <a:gd name="adj" fmla="val 21818"/>
            </a:avLst>
          </a:prstGeom>
          <a:solidFill>
            <a:srgbClr val="F6EBCF"/>
          </a:solidFill>
          <a:ln/>
        </p:spPr>
      </p:sp>
      <p:sp>
        <p:nvSpPr>
          <p:cNvPr id="12" name="Text 10"/>
          <p:cNvSpPr/>
          <p:nvPr/>
        </p:nvSpPr>
        <p:spPr>
          <a:xfrm>
            <a:off x="7205289" y="2011680"/>
            <a:ext cx="972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راكبًا</a:t>
            </a:r>
            <a:endParaRPr lang="ar-SA" sz="1600" dirty="0"/>
          </a:p>
        </p:txBody>
      </p:sp>
      <p:sp>
        <p:nvSpPr>
          <p:cNvPr id="13" name="Shape 11"/>
          <p:cNvSpPr/>
          <p:nvPr/>
        </p:nvSpPr>
        <p:spPr>
          <a:xfrm>
            <a:off x="6141568" y="2011680"/>
            <a:ext cx="972282" cy="502920"/>
          </a:xfrm>
          <a:prstGeom prst="roundRect">
            <a:avLst>
              <a:gd name="adj" fmla="val 21818"/>
            </a:avLst>
          </a:prstGeom>
          <a:solidFill>
            <a:srgbClr val="F6EBCF"/>
          </a:solidFill>
          <a:ln/>
        </p:spPr>
      </p:sp>
      <p:sp>
        <p:nvSpPr>
          <p:cNvPr id="14" name="Text 12"/>
          <p:cNvSpPr/>
          <p:nvPr/>
        </p:nvSpPr>
        <p:spPr>
          <a:xfrm>
            <a:off x="6141568" y="2011680"/>
            <a:ext cx="972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تُخبر</a:t>
            </a:r>
            <a:endParaRPr lang="ar-SA" sz="1600" dirty="0"/>
          </a:p>
        </p:txBody>
      </p:sp>
      <p:sp>
        <p:nvSpPr>
          <p:cNvPr id="15" name="Shape 13"/>
          <p:cNvSpPr/>
          <p:nvPr/>
        </p:nvSpPr>
        <p:spPr>
          <a:xfrm>
            <a:off x="5077846" y="2011680"/>
            <a:ext cx="972282" cy="502920"/>
          </a:xfrm>
          <a:prstGeom prst="roundRect">
            <a:avLst>
              <a:gd name="adj" fmla="val 21818"/>
            </a:avLst>
          </a:prstGeom>
          <a:solidFill>
            <a:srgbClr val="F6EBCF"/>
          </a:solidFill>
          <a:ln/>
        </p:spPr>
      </p:sp>
      <p:sp>
        <p:nvSpPr>
          <p:cNvPr id="16" name="Text 14"/>
          <p:cNvSpPr/>
          <p:nvPr/>
        </p:nvSpPr>
        <p:spPr>
          <a:xfrm>
            <a:off x="5077846" y="2011680"/>
            <a:ext cx="972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ظهر</a:t>
            </a:r>
            <a:endParaRPr lang="ar-SA" sz="1600" dirty="0"/>
          </a:p>
        </p:txBody>
      </p:sp>
      <p:sp>
        <p:nvSpPr>
          <p:cNvPr id="17" name="Shape 15"/>
          <p:cNvSpPr/>
          <p:nvPr/>
        </p:nvSpPr>
        <p:spPr>
          <a:xfrm>
            <a:off x="4014125" y="2011680"/>
            <a:ext cx="972282" cy="502920"/>
          </a:xfrm>
          <a:prstGeom prst="roundRect">
            <a:avLst>
              <a:gd name="adj" fmla="val 21818"/>
            </a:avLst>
          </a:prstGeom>
          <a:solidFill>
            <a:srgbClr val="F6EBCF"/>
          </a:solidFill>
          <a:ln/>
        </p:spPr>
      </p:sp>
      <p:sp>
        <p:nvSpPr>
          <p:cNvPr id="18" name="Text 16"/>
          <p:cNvSpPr/>
          <p:nvPr/>
        </p:nvSpPr>
        <p:spPr>
          <a:xfrm>
            <a:off x="4014125" y="2011680"/>
            <a:ext cx="972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مريض</a:t>
            </a:r>
            <a:endParaRPr lang="ar-SA" sz="1600" dirty="0"/>
          </a:p>
        </p:txBody>
      </p:sp>
      <p:sp>
        <p:nvSpPr>
          <p:cNvPr id="19" name="Shape 17"/>
          <p:cNvSpPr/>
          <p:nvPr/>
        </p:nvSpPr>
        <p:spPr>
          <a:xfrm>
            <a:off x="2950403" y="2011680"/>
            <a:ext cx="972282" cy="502920"/>
          </a:xfrm>
          <a:prstGeom prst="roundRect">
            <a:avLst>
              <a:gd name="adj" fmla="val 21818"/>
            </a:avLst>
          </a:prstGeom>
          <a:solidFill>
            <a:srgbClr val="F6EBCF"/>
          </a:solidFill>
          <a:ln/>
        </p:spPr>
      </p:sp>
      <p:sp>
        <p:nvSpPr>
          <p:cNvPr id="20" name="Text 18"/>
          <p:cNvSpPr/>
          <p:nvPr/>
        </p:nvSpPr>
        <p:spPr>
          <a:xfrm>
            <a:off x="2950403" y="2011680"/>
            <a:ext cx="972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الحيلة</a:t>
            </a:r>
            <a:endParaRPr lang="ar-SA" sz="1600" dirty="0"/>
          </a:p>
        </p:txBody>
      </p:sp>
      <p:sp>
        <p:nvSpPr>
          <p:cNvPr id="21" name="Shape 19"/>
          <p:cNvSpPr/>
          <p:nvPr/>
        </p:nvSpPr>
        <p:spPr>
          <a:xfrm>
            <a:off x="1886682" y="2011680"/>
            <a:ext cx="972282" cy="502920"/>
          </a:xfrm>
          <a:prstGeom prst="roundRect">
            <a:avLst>
              <a:gd name="adj" fmla="val 21818"/>
            </a:avLst>
          </a:prstGeom>
          <a:solidFill>
            <a:srgbClr val="F6EBCF"/>
          </a:solidFill>
          <a:ln/>
        </p:spPr>
      </p:sp>
      <p:sp>
        <p:nvSpPr>
          <p:cNvPr id="22" name="Text 20"/>
          <p:cNvSpPr/>
          <p:nvPr/>
        </p:nvSpPr>
        <p:spPr>
          <a:xfrm>
            <a:off x="1886682" y="2011680"/>
            <a:ext cx="972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معتذرًا</a:t>
            </a:r>
            <a:endParaRPr lang="ar-SA" sz="1600" dirty="0"/>
          </a:p>
        </p:txBody>
      </p:sp>
      <p:sp>
        <p:nvSpPr>
          <p:cNvPr id="23" name="Shape 21"/>
          <p:cNvSpPr/>
          <p:nvPr/>
        </p:nvSpPr>
        <p:spPr>
          <a:xfrm>
            <a:off x="822960" y="2011680"/>
            <a:ext cx="972282" cy="502920"/>
          </a:xfrm>
          <a:prstGeom prst="roundRect">
            <a:avLst>
              <a:gd name="adj" fmla="val 21818"/>
            </a:avLst>
          </a:prstGeom>
          <a:solidFill>
            <a:srgbClr val="F6EBC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2011680"/>
            <a:ext cx="972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الكلام</a:t>
            </a:r>
            <a:endParaRPr lang="ar-SA" sz="1600" dirty="0"/>
          </a:p>
        </p:txBody>
      </p:sp>
      <p:sp>
        <p:nvSpPr>
          <p:cNvPr id="25" name="Shape 23"/>
          <p:cNvSpPr/>
          <p:nvPr/>
        </p:nvSpPr>
        <p:spPr>
          <a:xfrm>
            <a:off x="822960" y="2788920"/>
            <a:ext cx="10545775" cy="3200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188720" y="2880360"/>
            <a:ext cx="981425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45000"/>
              </a:lnSpc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تظاهر ________ بالمرض في ________ ، فرأى رجلًا ________ على ________ . فلما أصعده صاحب الحصان على ________ الحصان ولّى به هاربًا، لكن صاحب الحصان قال له: أرجو ألّا ________ أحدًا بهذه ________ ، حتى لا يرى أحد الناس ________ حقًّا وعاجزًا فيمتنع عن الجميل. فلما سمع هذا ________ ردّ إليه الحصان ________ .</a:t>
            </a:r>
            <a:endParaRPr lang="ar-SA" sz="2100" dirty="0"/>
          </a:p>
        </p:txBody>
      </p:sp>
      <p:sp>
        <p:nvSpPr>
          <p:cNvPr id="27" name="Text 2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28" name="Text 2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لماذا نحن هنا؟  ·  ١٧</a:t>
            </a:r>
            <a:endParaRPr lang="ar-SA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1999" y="457200"/>
            <a:ext cx="1316736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10051999" y="45720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الحل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أكمل القصة بالكلمات المناسبة</a:t>
            </a:r>
            <a:endParaRPr lang="ar-SA" sz="3800" dirty="0"/>
          </a:p>
        </p:txBody>
      </p:sp>
      <p:sp>
        <p:nvSpPr>
          <p:cNvPr id="5" name="Shape 3"/>
          <p:cNvSpPr/>
          <p:nvPr/>
        </p:nvSpPr>
        <p:spPr>
          <a:xfrm>
            <a:off x="822960" y="2103120"/>
            <a:ext cx="10545775" cy="3749040"/>
          </a:xfrm>
          <a:prstGeom prst="roundRect">
            <a:avLst>
              <a:gd name="adj" fmla="val 6098"/>
            </a:avLst>
          </a:prstGeom>
          <a:solidFill>
            <a:srgbClr val="101B45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2194560"/>
            <a:ext cx="963137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45000"/>
              </a:lnSpc>
              <a:buNone/>
            </a:pPr>
            <a:r>
              <a:rPr lang="ar-SA" altLang="en-US" sz="23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تظاهر رجلٌ بالمرض في الطريق، فرأى رجلًا راكبًا على حصانه. فلما أصعده صاحب الحصان على ظهر الحصان ولّى به هاربًا، لكن صاحب الحصان قال له: أرجو ألّا تُخبر أحدًا بهذه الحيلة، حتى لا يرى أحد الناس مريضًا حقًّا وعاجزًا فيمتنع عن الجميل. فلما سمع هذا الكلام ردّ إليه الحصان معتذرًا.</a:t>
            </a:r>
            <a:endParaRPr lang="ar-SA" sz="2300" dirty="0"/>
          </a:p>
        </p:txBody>
      </p:sp>
      <p:sp>
        <p:nvSpPr>
          <p:cNvPr id="7" name="Text 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لماذا نحن هنا؟  ·  ١٨</a:t>
            </a:r>
            <a:endParaRPr lang="ar-SA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05960" y="1188720"/>
            <a:ext cx="2779776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05960" y="1188720"/>
            <a:ext cx="2779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الدرس من القصة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ar-SA" altLang="en-US" sz="46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الطلاب يتعلمون من ردّة فعلك…</a:t>
            </a:r>
            <a:endParaRPr lang="ar-SA" sz="4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ar-SA" altLang="en-US" sz="46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 أكثر مما يتعلمون من شرحك</a:t>
            </a:r>
            <a:endParaRPr lang="ar-SA" sz="4600" dirty="0"/>
          </a:p>
        </p:txBody>
      </p:sp>
      <p:sp>
        <p:nvSpPr>
          <p:cNvPr id="5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لماذا نحن هنا؟  ·  ١٩</a:t>
            </a:r>
            <a:endParaRPr lang="ar-SA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27871" y="457200"/>
            <a:ext cx="2340864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9027871" y="45720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سؤال للجميع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أيهما يؤثر أكثر في تحصيل الطالب؟</a:t>
            </a:r>
            <a:endParaRPr lang="ar-SA" sz="38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31831" y="2194560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7" name="Text 5"/>
          <p:cNvSpPr/>
          <p:nvPr/>
        </p:nvSpPr>
        <p:spPr>
          <a:xfrm>
            <a:off x="10231831" y="2194560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400" dirty="0"/>
          </a:p>
        </p:txBody>
      </p:sp>
      <p:sp>
        <p:nvSpPr>
          <p:cNvPr id="8" name="Text 6"/>
          <p:cNvSpPr/>
          <p:nvPr/>
        </p:nvSpPr>
        <p:spPr>
          <a:xfrm>
            <a:off x="1097280" y="2057400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المدرسة الفعّالة</a:t>
            </a:r>
            <a:endParaRPr lang="ar-SA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3432048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31831" y="3569208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11" name="Text 9"/>
          <p:cNvSpPr/>
          <p:nvPr/>
        </p:nvSpPr>
        <p:spPr>
          <a:xfrm>
            <a:off x="10231831" y="3569208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ب</a:t>
            </a:r>
            <a:endParaRPr lang="ar-SA" sz="2400" dirty="0"/>
          </a:p>
        </p:txBody>
      </p:sp>
      <p:sp>
        <p:nvSpPr>
          <p:cNvPr id="12" name="Text 10"/>
          <p:cNvSpPr/>
          <p:nvPr/>
        </p:nvSpPr>
        <p:spPr>
          <a:xfrm>
            <a:off x="1097280" y="3432048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المعلم الفعّال</a:t>
            </a:r>
            <a:endParaRPr lang="ar-SA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4806696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31831" y="4943856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15" name="Text 13"/>
          <p:cNvSpPr/>
          <p:nvPr/>
        </p:nvSpPr>
        <p:spPr>
          <a:xfrm>
            <a:off x="10231831" y="4943856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</a:t>
            </a:r>
            <a:endParaRPr lang="ar-SA" sz="2400" dirty="0"/>
          </a:p>
        </p:txBody>
      </p:sp>
      <p:sp>
        <p:nvSpPr>
          <p:cNvPr id="16" name="Text 14"/>
          <p:cNvSpPr/>
          <p:nvPr/>
        </p:nvSpPr>
        <p:spPr>
          <a:xfrm>
            <a:off x="1097280" y="4806696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تأثيرهما متساوٍ</a:t>
            </a:r>
            <a:endParaRPr lang="ar-SA" sz="2400" dirty="0"/>
          </a:p>
        </p:txBody>
      </p:sp>
      <p:sp>
        <p:nvSpPr>
          <p:cNvPr id="17" name="Text 1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لماذا نحن هنا؟  ·  ٢٠</a:t>
            </a:r>
            <a:endParaRPr lang="ar-SA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13087" y="457200"/>
            <a:ext cx="175564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9613087" y="4572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الإجابة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أيهما يؤثر أكثر في تحصيل الطالب؟</a:t>
            </a:r>
            <a:endParaRPr lang="ar-SA" sz="38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31831" y="2194560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8A91A8"/>
          </a:solidFill>
          <a:ln/>
        </p:spPr>
      </p:sp>
      <p:sp>
        <p:nvSpPr>
          <p:cNvPr id="7" name="Text 5"/>
          <p:cNvSpPr/>
          <p:nvPr/>
        </p:nvSpPr>
        <p:spPr>
          <a:xfrm>
            <a:off x="10231831" y="2194560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400" dirty="0"/>
          </a:p>
        </p:txBody>
      </p:sp>
      <p:sp>
        <p:nvSpPr>
          <p:cNvPr id="8" name="Text 6"/>
          <p:cNvSpPr/>
          <p:nvPr/>
        </p:nvSpPr>
        <p:spPr>
          <a:xfrm>
            <a:off x="1097280" y="2057400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7A809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المدرسة الفعّالة</a:t>
            </a:r>
            <a:endParaRPr lang="ar-SA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3432048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E6F4EC"/>
          </a:solidFill>
          <a:ln w="31750">
            <a:solidFill>
              <a:srgbClr val="2E9E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31831" y="3569208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2E9E6B"/>
          </a:solidFill>
          <a:ln/>
        </p:spPr>
      </p:sp>
      <p:sp>
        <p:nvSpPr>
          <p:cNvPr id="11" name="Text 9"/>
          <p:cNvSpPr/>
          <p:nvPr/>
        </p:nvSpPr>
        <p:spPr>
          <a:xfrm>
            <a:off x="10231831" y="3569208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ب</a:t>
            </a:r>
            <a:endParaRPr lang="ar-SA" sz="2400" dirty="0"/>
          </a:p>
        </p:txBody>
      </p:sp>
      <p:sp>
        <p:nvSpPr>
          <p:cNvPr id="12" name="Text 10"/>
          <p:cNvSpPr/>
          <p:nvPr/>
        </p:nvSpPr>
        <p:spPr>
          <a:xfrm>
            <a:off x="1097280" y="3432048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المعلم الفعّال</a:t>
            </a:r>
            <a:endParaRPr lang="ar-SA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4806696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31831" y="4943856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8A91A8"/>
          </a:solidFill>
          <a:ln/>
        </p:spPr>
      </p:sp>
      <p:sp>
        <p:nvSpPr>
          <p:cNvPr id="15" name="Text 13"/>
          <p:cNvSpPr/>
          <p:nvPr/>
        </p:nvSpPr>
        <p:spPr>
          <a:xfrm>
            <a:off x="10231831" y="4943856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</a:t>
            </a:r>
            <a:endParaRPr lang="ar-SA" sz="2400" dirty="0"/>
          </a:p>
        </p:txBody>
      </p:sp>
      <p:sp>
        <p:nvSpPr>
          <p:cNvPr id="16" name="Text 14"/>
          <p:cNvSpPr/>
          <p:nvPr/>
        </p:nvSpPr>
        <p:spPr>
          <a:xfrm>
            <a:off x="1097280" y="4806696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7A809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تأثيرهما متساوٍ</a:t>
            </a:r>
            <a:endParaRPr lang="ar-SA" sz="2400" dirty="0"/>
          </a:p>
        </p:txBody>
      </p:sp>
      <p:sp>
        <p:nvSpPr>
          <p:cNvPr id="17" name="Text 1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لماذا نحن هنا؟  ·  ٢١</a:t>
            </a:r>
            <a:endParaRPr lang="ar-SA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3743" y="457200"/>
            <a:ext cx="3364992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003743" y="457200"/>
            <a:ext cx="3364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ماذا تقول الأبحاث؟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طالب ترتيبه في المنتصف… أين يصبح بعد سنتين؟</a:t>
            </a:r>
            <a:endParaRPr lang="ar-SA" sz="3200" dirty="0"/>
          </a:p>
        </p:txBody>
      </p:sp>
      <p:sp>
        <p:nvSpPr>
          <p:cNvPr id="5" name="Shape 3"/>
          <p:cNvSpPr/>
          <p:nvPr/>
        </p:nvSpPr>
        <p:spPr>
          <a:xfrm>
            <a:off x="1005840" y="4995367"/>
            <a:ext cx="1670243" cy="79553"/>
          </a:xfrm>
          <a:prstGeom prst="rect">
            <a:avLst/>
          </a:prstGeom>
          <a:solidFill>
            <a:srgbClr val="C94040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4446727"/>
            <a:ext cx="16702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C9404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5166360"/>
            <a:ext cx="1853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01B45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مدرسة ضعيفة ومعلم ضعيف</a:t>
            </a:r>
            <a:endParaRPr lang="ar-SA" sz="1500" dirty="0"/>
          </a:p>
        </p:txBody>
      </p:sp>
      <p:sp>
        <p:nvSpPr>
          <p:cNvPr id="8" name="Shape 6"/>
          <p:cNvSpPr/>
          <p:nvPr/>
        </p:nvSpPr>
        <p:spPr>
          <a:xfrm>
            <a:off x="3133283" y="4093769"/>
            <a:ext cx="1670243" cy="981151"/>
          </a:xfrm>
          <a:prstGeom prst="rect">
            <a:avLst/>
          </a:prstGeom>
          <a:solidFill>
            <a:srgbClr val="6E7BA6"/>
          </a:solidFill>
          <a:ln/>
        </p:spPr>
      </p:sp>
      <p:sp>
        <p:nvSpPr>
          <p:cNvPr id="9" name="Text 7"/>
          <p:cNvSpPr/>
          <p:nvPr/>
        </p:nvSpPr>
        <p:spPr>
          <a:xfrm>
            <a:off x="3133283" y="3545129"/>
            <a:ext cx="16702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6E7BA6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٣٧</a:t>
            </a:r>
            <a:endParaRPr lang="ar-SA" sz="3000" dirty="0"/>
          </a:p>
        </p:txBody>
      </p:sp>
      <p:sp>
        <p:nvSpPr>
          <p:cNvPr id="10" name="Text 8"/>
          <p:cNvSpPr/>
          <p:nvPr/>
        </p:nvSpPr>
        <p:spPr>
          <a:xfrm>
            <a:off x="3041843" y="5166360"/>
            <a:ext cx="1853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01B45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مدرسة فعّالة ومعلم ضعيف</a:t>
            </a:r>
            <a:endParaRPr lang="ar-SA" sz="1500" dirty="0"/>
          </a:p>
        </p:txBody>
      </p:sp>
      <p:sp>
        <p:nvSpPr>
          <p:cNvPr id="11" name="Shape 9"/>
          <p:cNvSpPr/>
          <p:nvPr/>
        </p:nvSpPr>
        <p:spPr>
          <a:xfrm>
            <a:off x="5260726" y="3749040"/>
            <a:ext cx="1670243" cy="1325880"/>
          </a:xfrm>
          <a:prstGeom prst="rect">
            <a:avLst/>
          </a:prstGeom>
          <a:solidFill>
            <a:srgbClr val="C6CBDB"/>
          </a:solidFill>
          <a:ln/>
        </p:spPr>
      </p:sp>
      <p:sp>
        <p:nvSpPr>
          <p:cNvPr id="12" name="Text 10"/>
          <p:cNvSpPr/>
          <p:nvPr/>
        </p:nvSpPr>
        <p:spPr>
          <a:xfrm>
            <a:off x="5260726" y="3200400"/>
            <a:ext cx="16702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5E6782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٥٠</a:t>
            </a:r>
            <a:endParaRPr lang="ar-SA" sz="3000" dirty="0"/>
          </a:p>
        </p:txBody>
      </p:sp>
      <p:sp>
        <p:nvSpPr>
          <p:cNvPr id="13" name="Text 11"/>
          <p:cNvSpPr/>
          <p:nvPr/>
        </p:nvSpPr>
        <p:spPr>
          <a:xfrm>
            <a:off x="5169286" y="5166360"/>
            <a:ext cx="1853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01B45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نقطة البداية</a:t>
            </a:r>
            <a:endParaRPr lang="ar-SA" sz="1500" dirty="0"/>
          </a:p>
        </p:txBody>
      </p:sp>
      <p:sp>
        <p:nvSpPr>
          <p:cNvPr id="14" name="Shape 12"/>
          <p:cNvSpPr/>
          <p:nvPr/>
        </p:nvSpPr>
        <p:spPr>
          <a:xfrm>
            <a:off x="7388169" y="3404311"/>
            <a:ext cx="1670243" cy="1670609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5" name="Text 13"/>
          <p:cNvSpPr/>
          <p:nvPr/>
        </p:nvSpPr>
        <p:spPr>
          <a:xfrm>
            <a:off x="7388169" y="2855671"/>
            <a:ext cx="16702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2E9E6B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٦٣</a:t>
            </a:r>
            <a:endParaRPr lang="ar-SA" sz="3000" dirty="0"/>
          </a:p>
        </p:txBody>
      </p:sp>
      <p:sp>
        <p:nvSpPr>
          <p:cNvPr id="16" name="Text 14"/>
          <p:cNvSpPr/>
          <p:nvPr/>
        </p:nvSpPr>
        <p:spPr>
          <a:xfrm>
            <a:off x="7296729" y="5166360"/>
            <a:ext cx="1853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01B45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مدرسة ضعيفة ومعلم فعّال</a:t>
            </a:r>
            <a:endParaRPr lang="ar-SA" sz="1500" dirty="0"/>
          </a:p>
        </p:txBody>
      </p:sp>
      <p:sp>
        <p:nvSpPr>
          <p:cNvPr id="17" name="Shape 15"/>
          <p:cNvSpPr/>
          <p:nvPr/>
        </p:nvSpPr>
        <p:spPr>
          <a:xfrm>
            <a:off x="9515612" y="2529230"/>
            <a:ext cx="1670243" cy="2545690"/>
          </a:xfrm>
          <a:prstGeom prst="rect">
            <a:avLst/>
          </a:prstGeom>
          <a:solidFill>
            <a:srgbClr val="D9AE4B"/>
          </a:solidFill>
          <a:ln/>
        </p:spPr>
      </p:sp>
      <p:sp>
        <p:nvSpPr>
          <p:cNvPr id="18" name="Text 16"/>
          <p:cNvSpPr/>
          <p:nvPr/>
        </p:nvSpPr>
        <p:spPr>
          <a:xfrm>
            <a:off x="9515612" y="1980590"/>
            <a:ext cx="16702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D9AE4B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٩٦</a:t>
            </a:r>
            <a:endParaRPr lang="ar-SA" sz="3000" dirty="0"/>
          </a:p>
        </p:txBody>
      </p:sp>
      <p:sp>
        <p:nvSpPr>
          <p:cNvPr id="19" name="Text 17"/>
          <p:cNvSpPr/>
          <p:nvPr/>
        </p:nvSpPr>
        <p:spPr>
          <a:xfrm>
            <a:off x="9424172" y="5166360"/>
            <a:ext cx="1853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01B45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مدرسة فعّالة ومعلم فعّال</a:t>
            </a:r>
            <a:endParaRPr lang="ar-SA" sz="1500" dirty="0"/>
          </a:p>
        </p:txBody>
      </p:sp>
      <p:sp>
        <p:nvSpPr>
          <p:cNvPr id="20" name="Shape 18"/>
          <p:cNvSpPr/>
          <p:nvPr/>
        </p:nvSpPr>
        <p:spPr>
          <a:xfrm>
            <a:off x="822960" y="5074920"/>
            <a:ext cx="10545775" cy="0"/>
          </a:xfrm>
          <a:prstGeom prst="line">
            <a:avLst/>
          </a:prstGeom>
          <a:noFill/>
          <a:ln w="25400">
            <a:solidFill>
              <a:srgbClr val="101B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89788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المحور الرأسي: ترتيب الطالب من ١٠٠ · المصدر: روبرت مارزانو، «ما الذي ينجح في المدارس» (2003)</a:t>
            </a:r>
            <a:endParaRPr lang="ar-SA" sz="1300" dirty="0"/>
          </a:p>
        </p:txBody>
      </p:sp>
      <p:sp>
        <p:nvSpPr>
          <p:cNvPr id="22" name="Text 20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23" name="Text 21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لماذا نحن هنا؟  ·  ٢٢</a:t>
            </a:r>
            <a:endParaRPr lang="ar-SA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8024" y="1188720"/>
            <a:ext cx="1755648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218024" y="118872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الخلاصة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ar-SA" altLang="en-US" sz="46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المعلم الفعّال يصنع الفرق…</a:t>
            </a:r>
            <a:endParaRPr lang="ar-SA" sz="4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ar-SA" altLang="en-US" sz="46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 حتى في المدرسة الضعيفة</a:t>
            </a:r>
            <a:endParaRPr lang="ar-SA" sz="4600" dirty="0"/>
          </a:p>
        </p:txBody>
      </p:sp>
      <p:sp>
        <p:nvSpPr>
          <p:cNvPr id="5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لماذا نحن هنا؟  ·  ٢٣</a:t>
            </a:r>
            <a:endParaRPr lang="ar-SA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81567" y="4572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88156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خريطة الرحلة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محطات الدورة</a:t>
            </a:r>
            <a:endParaRPr lang="ar-SA" sz="3800" dirty="0"/>
          </a:p>
        </p:txBody>
      </p:sp>
      <p:sp>
        <p:nvSpPr>
          <p:cNvPr id="5" name="Shape 3"/>
          <p:cNvSpPr/>
          <p:nvPr/>
        </p:nvSpPr>
        <p:spPr>
          <a:xfrm>
            <a:off x="8036357" y="2011680"/>
            <a:ext cx="3332378" cy="10972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08615" y="2194560"/>
            <a:ext cx="731520" cy="731520"/>
          </a:xfrm>
          <a:prstGeom prst="roundRect">
            <a:avLst>
              <a:gd name="adj" fmla="val 22500"/>
            </a:avLst>
          </a:prstGeom>
          <a:solidFill>
            <a:srgbClr val="101B45"/>
          </a:solidFill>
          <a:ln/>
        </p:spPr>
      </p:sp>
      <p:sp>
        <p:nvSpPr>
          <p:cNvPr id="7" name="Text 5"/>
          <p:cNvSpPr/>
          <p:nvPr/>
        </p:nvSpPr>
        <p:spPr>
          <a:xfrm>
            <a:off x="10408615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🤲</a:t>
            </a:r>
            <a:endParaRPr lang="ar-SA" sz="2600" dirty="0"/>
          </a:p>
        </p:txBody>
      </p:sp>
      <p:sp>
        <p:nvSpPr>
          <p:cNvPr id="8" name="Text 6"/>
          <p:cNvSpPr/>
          <p:nvPr/>
        </p:nvSpPr>
        <p:spPr>
          <a:xfrm>
            <a:off x="8219237" y="2148840"/>
            <a:ext cx="2052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المحطة ١</a:t>
            </a:r>
            <a:endParaRPr lang="ar-SA" sz="1300" dirty="0"/>
          </a:p>
        </p:txBody>
      </p:sp>
      <p:sp>
        <p:nvSpPr>
          <p:cNvPr id="9" name="Text 7"/>
          <p:cNvSpPr/>
          <p:nvPr/>
        </p:nvSpPr>
        <p:spPr>
          <a:xfrm>
            <a:off x="8219237" y="2423160"/>
            <a:ext cx="2052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9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قبل أن تدخل الفصل</a:t>
            </a:r>
            <a:endParaRPr lang="ar-SA" sz="1900" dirty="0"/>
          </a:p>
        </p:txBody>
      </p:sp>
      <p:sp>
        <p:nvSpPr>
          <p:cNvPr id="10" name="Shape 8"/>
          <p:cNvSpPr/>
          <p:nvPr/>
        </p:nvSpPr>
        <p:spPr>
          <a:xfrm>
            <a:off x="4429658" y="2011680"/>
            <a:ext cx="3332378" cy="10972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01917" y="2194560"/>
            <a:ext cx="731520" cy="731520"/>
          </a:xfrm>
          <a:prstGeom prst="roundRect">
            <a:avLst>
              <a:gd name="adj" fmla="val 22500"/>
            </a:avLst>
          </a:prstGeom>
          <a:solidFill>
            <a:srgbClr val="101B45"/>
          </a:solidFill>
          <a:ln/>
        </p:spPr>
      </p:sp>
      <p:sp>
        <p:nvSpPr>
          <p:cNvPr id="12" name="Text 10"/>
          <p:cNvSpPr/>
          <p:nvPr/>
        </p:nvSpPr>
        <p:spPr>
          <a:xfrm>
            <a:off x="6801917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🎯</a:t>
            </a:r>
            <a:endParaRPr lang="ar-SA" sz="2600" dirty="0"/>
          </a:p>
        </p:txBody>
      </p:sp>
      <p:sp>
        <p:nvSpPr>
          <p:cNvPr id="13" name="Text 11"/>
          <p:cNvSpPr/>
          <p:nvPr/>
        </p:nvSpPr>
        <p:spPr>
          <a:xfrm>
            <a:off x="4612538" y="2148840"/>
            <a:ext cx="2052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المحطة ٢</a:t>
            </a:r>
            <a:endParaRPr lang="ar-SA" sz="1300" dirty="0"/>
          </a:p>
        </p:txBody>
      </p:sp>
      <p:sp>
        <p:nvSpPr>
          <p:cNvPr id="14" name="Text 12"/>
          <p:cNvSpPr/>
          <p:nvPr/>
        </p:nvSpPr>
        <p:spPr>
          <a:xfrm>
            <a:off x="4612538" y="2423160"/>
            <a:ext cx="2052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9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لماذا نحن هنا؟</a:t>
            </a:r>
            <a:endParaRPr lang="ar-SA" sz="1900" dirty="0"/>
          </a:p>
        </p:txBody>
      </p:sp>
      <p:sp>
        <p:nvSpPr>
          <p:cNvPr id="15" name="Shape 13"/>
          <p:cNvSpPr/>
          <p:nvPr/>
        </p:nvSpPr>
        <p:spPr>
          <a:xfrm>
            <a:off x="822960" y="2011680"/>
            <a:ext cx="3332378" cy="10972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95218" y="2194560"/>
            <a:ext cx="731520" cy="731520"/>
          </a:xfrm>
          <a:prstGeom prst="roundRect">
            <a:avLst>
              <a:gd name="adj" fmla="val 22500"/>
            </a:avLst>
          </a:prstGeom>
          <a:solidFill>
            <a:srgbClr val="101B45"/>
          </a:solidFill>
          <a:ln/>
        </p:spPr>
      </p:sp>
      <p:sp>
        <p:nvSpPr>
          <p:cNvPr id="17" name="Text 15"/>
          <p:cNvSpPr/>
          <p:nvPr/>
        </p:nvSpPr>
        <p:spPr>
          <a:xfrm>
            <a:off x="3195218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🔄</a:t>
            </a:r>
            <a:endParaRPr lang="ar-SA" sz="2600" dirty="0"/>
          </a:p>
        </p:txBody>
      </p:sp>
      <p:sp>
        <p:nvSpPr>
          <p:cNvPr id="18" name="Text 16"/>
          <p:cNvSpPr/>
          <p:nvPr/>
        </p:nvSpPr>
        <p:spPr>
          <a:xfrm>
            <a:off x="1005840" y="2148840"/>
            <a:ext cx="2052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المحطة ٣</a:t>
            </a:r>
            <a:endParaRPr lang="ar-SA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423160"/>
            <a:ext cx="2052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9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تصحيح المفاهيم</a:t>
            </a:r>
            <a:endParaRPr lang="ar-SA" sz="1900" dirty="0"/>
          </a:p>
        </p:txBody>
      </p:sp>
      <p:sp>
        <p:nvSpPr>
          <p:cNvPr id="20" name="Shape 18"/>
          <p:cNvSpPr/>
          <p:nvPr/>
        </p:nvSpPr>
        <p:spPr>
          <a:xfrm>
            <a:off x="8036357" y="3337560"/>
            <a:ext cx="3332378" cy="10972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408615" y="3520440"/>
            <a:ext cx="731520" cy="731520"/>
          </a:xfrm>
          <a:prstGeom prst="roundRect">
            <a:avLst>
              <a:gd name="adj" fmla="val 22500"/>
            </a:avLst>
          </a:prstGeom>
          <a:solidFill>
            <a:srgbClr val="101B45"/>
          </a:solidFill>
          <a:ln/>
        </p:spPr>
      </p:sp>
      <p:sp>
        <p:nvSpPr>
          <p:cNvPr id="22" name="Text 20"/>
          <p:cNvSpPr/>
          <p:nvPr/>
        </p:nvSpPr>
        <p:spPr>
          <a:xfrm>
            <a:off x="10408615" y="3520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🧰</a:t>
            </a:r>
            <a:endParaRPr lang="ar-SA" sz="2600" dirty="0"/>
          </a:p>
        </p:txBody>
      </p:sp>
      <p:sp>
        <p:nvSpPr>
          <p:cNvPr id="23" name="Text 21"/>
          <p:cNvSpPr/>
          <p:nvPr/>
        </p:nvSpPr>
        <p:spPr>
          <a:xfrm>
            <a:off x="8219237" y="3474720"/>
            <a:ext cx="2052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المحطة ٤</a:t>
            </a:r>
            <a:endParaRPr lang="ar-SA" sz="1300" dirty="0"/>
          </a:p>
        </p:txBody>
      </p:sp>
      <p:sp>
        <p:nvSpPr>
          <p:cNvPr id="24" name="Text 22"/>
          <p:cNvSpPr/>
          <p:nvPr/>
        </p:nvSpPr>
        <p:spPr>
          <a:xfrm>
            <a:off x="8219237" y="3749040"/>
            <a:ext cx="2052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9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صندوق أدوات المعلم</a:t>
            </a:r>
            <a:endParaRPr lang="ar-SA" sz="1900" dirty="0"/>
          </a:p>
        </p:txBody>
      </p:sp>
      <p:sp>
        <p:nvSpPr>
          <p:cNvPr id="25" name="Shape 23"/>
          <p:cNvSpPr/>
          <p:nvPr/>
        </p:nvSpPr>
        <p:spPr>
          <a:xfrm>
            <a:off x="4429658" y="3337560"/>
            <a:ext cx="3332378" cy="10972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01917" y="3520440"/>
            <a:ext cx="731520" cy="731520"/>
          </a:xfrm>
          <a:prstGeom prst="roundRect">
            <a:avLst>
              <a:gd name="adj" fmla="val 22500"/>
            </a:avLst>
          </a:prstGeom>
          <a:solidFill>
            <a:srgbClr val="101B45"/>
          </a:solidFill>
          <a:ln/>
        </p:spPr>
      </p:sp>
      <p:sp>
        <p:nvSpPr>
          <p:cNvPr id="27" name="Text 25"/>
          <p:cNvSpPr/>
          <p:nvPr/>
        </p:nvSpPr>
        <p:spPr>
          <a:xfrm>
            <a:off x="6801917" y="3520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🧭</a:t>
            </a:r>
            <a:endParaRPr lang="ar-SA" sz="2600" dirty="0"/>
          </a:p>
        </p:txBody>
      </p:sp>
      <p:sp>
        <p:nvSpPr>
          <p:cNvPr id="28" name="Text 26"/>
          <p:cNvSpPr/>
          <p:nvPr/>
        </p:nvSpPr>
        <p:spPr>
          <a:xfrm>
            <a:off x="4612538" y="3474720"/>
            <a:ext cx="2052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المحطة ٥</a:t>
            </a:r>
            <a:endParaRPr lang="ar-SA" sz="1300" dirty="0"/>
          </a:p>
        </p:txBody>
      </p:sp>
      <p:sp>
        <p:nvSpPr>
          <p:cNvPr id="29" name="Text 27"/>
          <p:cNvSpPr/>
          <p:nvPr/>
        </p:nvSpPr>
        <p:spPr>
          <a:xfrm>
            <a:off x="4612538" y="3749040"/>
            <a:ext cx="2052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9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أنماط القيادة الصفية</a:t>
            </a:r>
            <a:endParaRPr lang="ar-SA" sz="1900" dirty="0"/>
          </a:p>
        </p:txBody>
      </p:sp>
      <p:sp>
        <p:nvSpPr>
          <p:cNvPr id="30" name="Shape 28"/>
          <p:cNvSpPr/>
          <p:nvPr/>
        </p:nvSpPr>
        <p:spPr>
          <a:xfrm>
            <a:off x="822960" y="3337560"/>
            <a:ext cx="3332378" cy="10972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95218" y="3520440"/>
            <a:ext cx="731520" cy="731520"/>
          </a:xfrm>
          <a:prstGeom prst="roundRect">
            <a:avLst>
              <a:gd name="adj" fmla="val 22500"/>
            </a:avLst>
          </a:prstGeom>
          <a:solidFill>
            <a:srgbClr val="101B45"/>
          </a:solidFill>
          <a:ln/>
        </p:spPr>
      </p:sp>
      <p:sp>
        <p:nvSpPr>
          <p:cNvPr id="32" name="Text 30"/>
          <p:cNvSpPr/>
          <p:nvPr/>
        </p:nvSpPr>
        <p:spPr>
          <a:xfrm>
            <a:off x="3195218" y="3520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📋</a:t>
            </a:r>
            <a:endParaRPr lang="ar-SA" sz="2600" dirty="0"/>
          </a:p>
        </p:txBody>
      </p:sp>
      <p:sp>
        <p:nvSpPr>
          <p:cNvPr id="33" name="Text 31"/>
          <p:cNvSpPr/>
          <p:nvPr/>
        </p:nvSpPr>
        <p:spPr>
          <a:xfrm>
            <a:off x="1005840" y="3474720"/>
            <a:ext cx="2052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المحطة ٦</a:t>
            </a:r>
            <a:endParaRPr lang="ar-SA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3749040"/>
            <a:ext cx="2052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9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القواعد والإجراءات</a:t>
            </a:r>
            <a:endParaRPr lang="ar-SA" sz="1900" dirty="0"/>
          </a:p>
        </p:txBody>
      </p:sp>
      <p:sp>
        <p:nvSpPr>
          <p:cNvPr id="35" name="Shape 33"/>
          <p:cNvSpPr/>
          <p:nvPr/>
        </p:nvSpPr>
        <p:spPr>
          <a:xfrm>
            <a:off x="8036357" y="4663440"/>
            <a:ext cx="3332378" cy="10972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408615" y="4846320"/>
            <a:ext cx="731520" cy="731520"/>
          </a:xfrm>
          <a:prstGeom prst="roundRect">
            <a:avLst>
              <a:gd name="adj" fmla="val 22500"/>
            </a:avLst>
          </a:prstGeom>
          <a:solidFill>
            <a:srgbClr val="101B45"/>
          </a:solidFill>
          <a:ln/>
        </p:spPr>
      </p:sp>
      <p:sp>
        <p:nvSpPr>
          <p:cNvPr id="37" name="Text 35"/>
          <p:cNvSpPr/>
          <p:nvPr/>
        </p:nvSpPr>
        <p:spPr>
          <a:xfrm>
            <a:off x="10408615" y="4846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👨‍👩‍👦</a:t>
            </a:r>
            <a:endParaRPr lang="ar-SA" sz="2600" dirty="0"/>
          </a:p>
        </p:txBody>
      </p:sp>
      <p:sp>
        <p:nvSpPr>
          <p:cNvPr id="38" name="Text 36"/>
          <p:cNvSpPr/>
          <p:nvPr/>
        </p:nvSpPr>
        <p:spPr>
          <a:xfrm>
            <a:off x="8219237" y="4800600"/>
            <a:ext cx="2052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المحطة ٧</a:t>
            </a:r>
            <a:endParaRPr lang="ar-SA" sz="1300" dirty="0"/>
          </a:p>
        </p:txBody>
      </p:sp>
      <p:sp>
        <p:nvSpPr>
          <p:cNvPr id="39" name="Text 37"/>
          <p:cNvSpPr/>
          <p:nvPr/>
        </p:nvSpPr>
        <p:spPr>
          <a:xfrm>
            <a:off x="8219237" y="5074920"/>
            <a:ext cx="2052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9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الطالب والأسرة</a:t>
            </a:r>
            <a:endParaRPr lang="ar-SA" sz="1900" dirty="0"/>
          </a:p>
        </p:txBody>
      </p:sp>
      <p:sp>
        <p:nvSpPr>
          <p:cNvPr id="40" name="Shape 38"/>
          <p:cNvSpPr/>
          <p:nvPr/>
        </p:nvSpPr>
        <p:spPr>
          <a:xfrm>
            <a:off x="4429658" y="4663440"/>
            <a:ext cx="3332378" cy="10972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1917" y="4846320"/>
            <a:ext cx="731520" cy="731520"/>
          </a:xfrm>
          <a:prstGeom prst="roundRect">
            <a:avLst>
              <a:gd name="adj" fmla="val 22500"/>
            </a:avLst>
          </a:prstGeom>
          <a:solidFill>
            <a:srgbClr val="101B45"/>
          </a:solidFill>
          <a:ln/>
        </p:spPr>
      </p:sp>
      <p:sp>
        <p:nvSpPr>
          <p:cNvPr id="42" name="Text 40"/>
          <p:cNvSpPr/>
          <p:nvPr/>
        </p:nvSpPr>
        <p:spPr>
          <a:xfrm>
            <a:off x="6801917" y="4846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📱</a:t>
            </a:r>
            <a:endParaRPr lang="ar-SA" sz="2600" dirty="0"/>
          </a:p>
        </p:txBody>
      </p:sp>
      <p:sp>
        <p:nvSpPr>
          <p:cNvPr id="43" name="Text 41"/>
          <p:cNvSpPr/>
          <p:nvPr/>
        </p:nvSpPr>
        <p:spPr>
          <a:xfrm>
            <a:off x="4612538" y="4800600"/>
            <a:ext cx="2052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المحطة ٨</a:t>
            </a:r>
            <a:endParaRPr lang="ar-SA" sz="1300" dirty="0"/>
          </a:p>
        </p:txBody>
      </p:sp>
      <p:sp>
        <p:nvSpPr>
          <p:cNvPr id="44" name="Text 42"/>
          <p:cNvSpPr/>
          <p:nvPr/>
        </p:nvSpPr>
        <p:spPr>
          <a:xfrm>
            <a:off x="4612538" y="5074920"/>
            <a:ext cx="2052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9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مواقف العصر الرقمي</a:t>
            </a:r>
            <a:endParaRPr lang="ar-SA" sz="1900" dirty="0"/>
          </a:p>
        </p:txBody>
      </p:sp>
      <p:sp>
        <p:nvSpPr>
          <p:cNvPr id="45" name="Shape 43"/>
          <p:cNvSpPr/>
          <p:nvPr/>
        </p:nvSpPr>
        <p:spPr>
          <a:xfrm>
            <a:off x="822960" y="4663440"/>
            <a:ext cx="3332378" cy="10972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195218" y="4846320"/>
            <a:ext cx="731520" cy="731520"/>
          </a:xfrm>
          <a:prstGeom prst="roundRect">
            <a:avLst>
              <a:gd name="adj" fmla="val 22500"/>
            </a:avLst>
          </a:prstGeom>
          <a:solidFill>
            <a:srgbClr val="101B45"/>
          </a:solidFill>
          <a:ln/>
        </p:spPr>
      </p:sp>
      <p:sp>
        <p:nvSpPr>
          <p:cNvPr id="47" name="Text 45"/>
          <p:cNvSpPr/>
          <p:nvPr/>
        </p:nvSpPr>
        <p:spPr>
          <a:xfrm>
            <a:off x="3195218" y="4846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🩺</a:t>
            </a:r>
            <a:endParaRPr lang="ar-SA" sz="2600" dirty="0"/>
          </a:p>
        </p:txBody>
      </p:sp>
      <p:sp>
        <p:nvSpPr>
          <p:cNvPr id="48" name="Text 46"/>
          <p:cNvSpPr/>
          <p:nvPr/>
        </p:nvSpPr>
        <p:spPr>
          <a:xfrm>
            <a:off x="1005840" y="4800600"/>
            <a:ext cx="2052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المحطة ٩</a:t>
            </a:r>
            <a:endParaRPr lang="ar-SA" sz="1300" dirty="0"/>
          </a:p>
        </p:txBody>
      </p:sp>
      <p:sp>
        <p:nvSpPr>
          <p:cNvPr id="49" name="Text 47"/>
          <p:cNvSpPr/>
          <p:nvPr/>
        </p:nvSpPr>
        <p:spPr>
          <a:xfrm>
            <a:off x="1005840" y="5074920"/>
            <a:ext cx="2052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9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عيادة المواقف</a:t>
            </a:r>
            <a:endParaRPr lang="ar-SA" sz="1900" dirty="0"/>
          </a:p>
        </p:txBody>
      </p:sp>
      <p:sp>
        <p:nvSpPr>
          <p:cNvPr id="50" name="Text 48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51" name="Text 49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لماذا نحن هنا؟  ·  ٢٤</a:t>
            </a:r>
            <a:endParaRPr lang="ar-SA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-480000">
            <a:off x="914400" y="16459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70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📱</a:t>
            </a:r>
            <a:endParaRPr lang="ar-SA" sz="17000" dirty="0"/>
          </a:p>
        </p:txBody>
      </p:sp>
      <p:sp>
        <p:nvSpPr>
          <p:cNvPr id="3" name="Text 1"/>
          <p:cNvSpPr/>
          <p:nvPr/>
        </p:nvSpPr>
        <p:spPr>
          <a:xfrm>
            <a:off x="4206240" y="1737360"/>
            <a:ext cx="7162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مواقف العصر الرقمي</a:t>
            </a:r>
            <a:endParaRPr lang="ar-SA" sz="2200" dirty="0"/>
          </a:p>
        </p:txBody>
      </p:sp>
      <p:sp>
        <p:nvSpPr>
          <p:cNvPr id="4" name="Text 2"/>
          <p:cNvSpPr/>
          <p:nvPr/>
        </p:nvSpPr>
        <p:spPr>
          <a:xfrm>
            <a:off x="4206240" y="2286000"/>
            <a:ext cx="7162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الموقف ١</a:t>
            </a:r>
            <a:endParaRPr lang="ar-SA" sz="2600" dirty="0"/>
          </a:p>
        </p:txBody>
      </p:sp>
      <p:sp>
        <p:nvSpPr>
          <p:cNvPr id="5" name="Text 3"/>
          <p:cNvSpPr/>
          <p:nvPr/>
        </p:nvSpPr>
        <p:spPr>
          <a:xfrm>
            <a:off x="4206240" y="2834640"/>
            <a:ext cx="7162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6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شاشة تحت الطاولة</a:t>
            </a:r>
            <a:endParaRPr lang="ar-SA" sz="6400" dirty="0"/>
          </a:p>
        </p:txBody>
      </p:sp>
      <p:sp>
        <p:nvSpPr>
          <p:cNvPr id="6" name="Shape 4"/>
          <p:cNvSpPr/>
          <p:nvPr/>
        </p:nvSpPr>
        <p:spPr>
          <a:xfrm>
            <a:off x="10125151" y="4480560"/>
            <a:ext cx="1243584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25151" y="44805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🎬 القصة</a:t>
            </a:r>
            <a:endParaRPr lang="ar-SA" sz="1300" dirty="0"/>
          </a:p>
        </p:txBody>
      </p:sp>
      <p:sp>
        <p:nvSpPr>
          <p:cNvPr id="8" name="Shape 6"/>
          <p:cNvSpPr/>
          <p:nvPr/>
        </p:nvSpPr>
        <p:spPr>
          <a:xfrm>
            <a:off x="8680399" y="4480560"/>
            <a:ext cx="1353312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0399" y="448056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🗳️ تصويت</a:t>
            </a:r>
            <a:endParaRPr lang="ar-SA" sz="1300" dirty="0"/>
          </a:p>
        </p:txBody>
      </p:sp>
      <p:sp>
        <p:nvSpPr>
          <p:cNvPr id="10" name="Shape 8"/>
          <p:cNvSpPr/>
          <p:nvPr/>
        </p:nvSpPr>
        <p:spPr>
          <a:xfrm>
            <a:off x="7235647" y="4480560"/>
            <a:ext cx="1353312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35647" y="448056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🔍 لماذا؟</a:t>
            </a:r>
            <a:endParaRPr lang="ar-SA" sz="1300" dirty="0"/>
          </a:p>
        </p:txBody>
      </p:sp>
      <p:sp>
        <p:nvSpPr>
          <p:cNvPr id="12" name="Shape 10"/>
          <p:cNvSpPr/>
          <p:nvPr/>
        </p:nvSpPr>
        <p:spPr>
          <a:xfrm>
            <a:off x="5132527" y="44805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32527" y="4480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⏱️ أول ١٠ ثوانٍ</a:t>
            </a:r>
            <a:endParaRPr lang="ar-SA" sz="1300" dirty="0"/>
          </a:p>
        </p:txBody>
      </p:sp>
      <p:sp>
        <p:nvSpPr>
          <p:cNvPr id="14" name="Shape 12"/>
          <p:cNvSpPr/>
          <p:nvPr/>
        </p:nvSpPr>
        <p:spPr>
          <a:xfrm>
            <a:off x="3248863" y="4480560"/>
            <a:ext cx="1792224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8863" y="4480560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💬 ماذا تقول؟</a:t>
            </a:r>
            <a:endParaRPr lang="ar-SA" sz="1300" dirty="0"/>
          </a:p>
        </p:txBody>
      </p:sp>
      <p:sp>
        <p:nvSpPr>
          <p:cNvPr id="16" name="Shape 14"/>
          <p:cNvSpPr/>
          <p:nvPr/>
        </p:nvSpPr>
        <p:spPr>
          <a:xfrm>
            <a:off x="1145743" y="44805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45743" y="4480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🪜 سلّم التدخّل</a:t>
            </a:r>
            <a:endParaRPr lang="ar-SA" sz="1300" dirty="0"/>
          </a:p>
        </p:txBody>
      </p:sp>
      <p:sp>
        <p:nvSpPr>
          <p:cNvPr id="18" name="Text 16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19" name="Text 17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موقف: شاشة تحت الطاولة  ·  ٢٥</a:t>
            </a:r>
            <a:endParaRPr lang="ar-SA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66783" y="457200"/>
            <a:ext cx="1901952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9466783" y="457200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🎬 القصة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ماذا حدث؟</a:t>
            </a:r>
            <a:endParaRPr lang="ar-SA" sz="3800" dirty="0"/>
          </a:p>
        </p:txBody>
      </p:sp>
      <p:sp>
        <p:nvSpPr>
          <p:cNvPr id="5" name="Shape 3"/>
          <p:cNvSpPr/>
          <p:nvPr/>
        </p:nvSpPr>
        <p:spPr>
          <a:xfrm>
            <a:off x="11323015" y="2057400"/>
            <a:ext cx="45720" cy="822960"/>
          </a:xfrm>
          <a:prstGeom prst="rect">
            <a:avLst/>
          </a:prstGeom>
          <a:solidFill>
            <a:srgbClr val="E4DCC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10271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2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في منتصف الشرح، لاحظ أ. سامي أن يزن (الثاني المتوسط) يخفض رأسه باستمرار، وضوء خافت يلمع من تحت الطاولة، وهو يبتسم.</a:t>
            </a:r>
            <a:endParaRPr lang="ar-SA" sz="2200" dirty="0"/>
          </a:p>
        </p:txBody>
      </p:sp>
      <p:sp>
        <p:nvSpPr>
          <p:cNvPr id="7" name="Shape 5"/>
          <p:cNvSpPr/>
          <p:nvPr/>
        </p:nvSpPr>
        <p:spPr>
          <a:xfrm>
            <a:off x="11323015" y="3063240"/>
            <a:ext cx="45720" cy="822960"/>
          </a:xfrm>
          <a:prstGeom prst="rect">
            <a:avLst/>
          </a:prstGeom>
          <a:solidFill>
            <a:srgbClr val="E4DCC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971800"/>
            <a:ext cx="10271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2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سأله: «يزن، ماذا معك؟». ردّ: «لا شيء يا أستاذ». فضحك بعض زملائه.</a:t>
            </a:r>
            <a:endParaRPr lang="ar-SA" sz="2200" dirty="0"/>
          </a:p>
        </p:txBody>
      </p:sp>
      <p:sp>
        <p:nvSpPr>
          <p:cNvPr id="9" name="Shape 7"/>
          <p:cNvSpPr/>
          <p:nvPr/>
        </p:nvSpPr>
        <p:spPr>
          <a:xfrm>
            <a:off x="11323015" y="4069080"/>
            <a:ext cx="45720" cy="822960"/>
          </a:xfrm>
          <a:prstGeom prst="rect">
            <a:avLst/>
          </a:prstGeom>
          <a:solidFill>
            <a:srgbClr val="E4DCC8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977640"/>
            <a:ext cx="10271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2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اقترب أ. سامي وقال بصوت عالٍ: «هات الجوال فورًا!». فأمسك يزن جواله بقوة وقال أمام الجميع: «لن أعطيك جوالي!».</a:t>
            </a:r>
            <a:endParaRPr lang="ar-SA" sz="2200" dirty="0"/>
          </a:p>
        </p:txBody>
      </p:sp>
      <p:sp>
        <p:nvSpPr>
          <p:cNvPr id="11" name="Shape 9"/>
          <p:cNvSpPr/>
          <p:nvPr/>
        </p:nvSpPr>
        <p:spPr>
          <a:xfrm>
            <a:off x="11323015" y="5074920"/>
            <a:ext cx="45720" cy="822960"/>
          </a:xfrm>
          <a:prstGeom prst="rect">
            <a:avLst/>
          </a:prstGeom>
          <a:solidFill>
            <a:srgbClr val="D64545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983480"/>
            <a:ext cx="10271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00" b="1" dirty="0">
                <a:solidFill>
                  <a:srgbClr val="D64545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ساد صمت ثقيل… وثلاثون طالبًا ينظرون: من سيتراجع؟</a:t>
            </a:r>
            <a:endParaRPr lang="ar-SA" sz="2500" dirty="0"/>
          </a:p>
        </p:txBody>
      </p:sp>
      <p:sp>
        <p:nvSpPr>
          <p:cNvPr id="13" name="Text 11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موقف: شاشة تحت الطاولة  ·  ٢٦</a:t>
            </a:r>
            <a:endParaRPr lang="ar-SA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96351" y="457200"/>
            <a:ext cx="3072384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296351" y="45720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صوّت قبل أن نكشف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لو كنت مكان أ. سامي الآن… ماذا تفعل؟</a:t>
            </a:r>
            <a:endParaRPr lang="ar-SA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10545775" cy="884682"/>
          </a:xfrm>
          <a:prstGeom prst="roundRect">
            <a:avLst>
              <a:gd name="adj" fmla="val 16537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75493" y="2194560"/>
            <a:ext cx="610362" cy="610362"/>
          </a:xfrm>
          <a:prstGeom prst="roundRect">
            <a:avLst>
              <a:gd name="adj" fmla="val 17978"/>
            </a:avLst>
          </a:prstGeom>
          <a:solidFill>
            <a:srgbClr val="101B45"/>
          </a:solidFill>
          <a:ln/>
        </p:spPr>
      </p:sp>
      <p:sp>
        <p:nvSpPr>
          <p:cNvPr id="7" name="Text 5"/>
          <p:cNvSpPr/>
          <p:nvPr/>
        </p:nvSpPr>
        <p:spPr>
          <a:xfrm>
            <a:off x="10575493" y="2194560"/>
            <a:ext cx="610362" cy="61036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057400"/>
            <a:ext cx="9295333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أُصرّ على أخذ الجوال فورًا حتى لا تسقط هيبتي</a:t>
            </a:r>
            <a:endParaRPr lang="ar-SA" sz="2000" dirty="0"/>
          </a:p>
        </p:txBody>
      </p:sp>
      <p:sp>
        <p:nvSpPr>
          <p:cNvPr id="9" name="Shape 7"/>
          <p:cNvSpPr/>
          <p:nvPr/>
        </p:nvSpPr>
        <p:spPr>
          <a:xfrm>
            <a:off x="822960" y="3088386"/>
            <a:ext cx="10545775" cy="884682"/>
          </a:xfrm>
          <a:prstGeom prst="roundRect">
            <a:avLst>
              <a:gd name="adj" fmla="val 16537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75493" y="3225546"/>
            <a:ext cx="610362" cy="610362"/>
          </a:xfrm>
          <a:prstGeom prst="roundRect">
            <a:avLst>
              <a:gd name="adj" fmla="val 17978"/>
            </a:avLst>
          </a:prstGeom>
          <a:solidFill>
            <a:srgbClr val="101B45"/>
          </a:solidFill>
          <a:ln/>
        </p:spPr>
      </p:sp>
      <p:sp>
        <p:nvSpPr>
          <p:cNvPr id="11" name="Text 9"/>
          <p:cNvSpPr/>
          <p:nvPr/>
        </p:nvSpPr>
        <p:spPr>
          <a:xfrm>
            <a:off x="10575493" y="3225546"/>
            <a:ext cx="610362" cy="61036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ب</a:t>
            </a:r>
            <a:endParaRPr lang="ar-SA" sz="2000" dirty="0"/>
          </a:p>
        </p:txBody>
      </p:sp>
      <p:sp>
        <p:nvSpPr>
          <p:cNvPr id="12" name="Text 10"/>
          <p:cNvSpPr/>
          <p:nvPr/>
        </p:nvSpPr>
        <p:spPr>
          <a:xfrm>
            <a:off x="1097280" y="3088386"/>
            <a:ext cx="9295333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أتجاهل الموقف وأكمل الشرح</a:t>
            </a:r>
            <a:endParaRPr lang="ar-SA" sz="2000" dirty="0"/>
          </a:p>
        </p:txBody>
      </p:sp>
      <p:sp>
        <p:nvSpPr>
          <p:cNvPr id="13" name="Shape 11"/>
          <p:cNvSpPr/>
          <p:nvPr/>
        </p:nvSpPr>
        <p:spPr>
          <a:xfrm>
            <a:off x="822960" y="4119372"/>
            <a:ext cx="10545775" cy="884682"/>
          </a:xfrm>
          <a:prstGeom prst="roundRect">
            <a:avLst>
              <a:gd name="adj" fmla="val 16537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575493" y="4256532"/>
            <a:ext cx="610362" cy="610362"/>
          </a:xfrm>
          <a:prstGeom prst="roundRect">
            <a:avLst>
              <a:gd name="adj" fmla="val 17978"/>
            </a:avLst>
          </a:prstGeom>
          <a:solidFill>
            <a:srgbClr val="101B45"/>
          </a:solidFill>
          <a:ln/>
        </p:spPr>
      </p:sp>
      <p:sp>
        <p:nvSpPr>
          <p:cNvPr id="15" name="Text 13"/>
          <p:cNvSpPr/>
          <p:nvPr/>
        </p:nvSpPr>
        <p:spPr>
          <a:xfrm>
            <a:off x="10575493" y="4256532"/>
            <a:ext cx="610362" cy="61036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</a:t>
            </a:r>
            <a:endParaRPr lang="ar-SA" sz="2000" dirty="0"/>
          </a:p>
        </p:txBody>
      </p:sp>
      <p:sp>
        <p:nvSpPr>
          <p:cNvPr id="16" name="Text 14"/>
          <p:cNvSpPr/>
          <p:nvPr/>
        </p:nvSpPr>
        <p:spPr>
          <a:xfrm>
            <a:off x="1097280" y="4119372"/>
            <a:ext cx="9295333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أهدده بالوكيل وخصم الدرجات</a:t>
            </a:r>
            <a:endParaRPr lang="ar-SA" sz="2000" dirty="0"/>
          </a:p>
        </p:txBody>
      </p:sp>
      <p:sp>
        <p:nvSpPr>
          <p:cNvPr id="17" name="Shape 15"/>
          <p:cNvSpPr/>
          <p:nvPr/>
        </p:nvSpPr>
        <p:spPr>
          <a:xfrm>
            <a:off x="822960" y="5150358"/>
            <a:ext cx="10545775" cy="884682"/>
          </a:xfrm>
          <a:prstGeom prst="roundRect">
            <a:avLst>
              <a:gd name="adj" fmla="val 16537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575493" y="5287518"/>
            <a:ext cx="610362" cy="610362"/>
          </a:xfrm>
          <a:prstGeom prst="roundRect">
            <a:avLst>
              <a:gd name="adj" fmla="val 17978"/>
            </a:avLst>
          </a:prstGeom>
          <a:solidFill>
            <a:srgbClr val="101B45"/>
          </a:solidFill>
          <a:ln/>
        </p:spPr>
      </p:sp>
      <p:sp>
        <p:nvSpPr>
          <p:cNvPr id="19" name="Text 17"/>
          <p:cNvSpPr/>
          <p:nvPr/>
        </p:nvSpPr>
        <p:spPr>
          <a:xfrm>
            <a:off x="10575493" y="5287518"/>
            <a:ext cx="610362" cy="61036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د</a:t>
            </a:r>
            <a:endParaRPr lang="ar-SA" sz="2000" dirty="0"/>
          </a:p>
        </p:txBody>
      </p:sp>
      <p:sp>
        <p:nvSpPr>
          <p:cNvPr id="20" name="Text 18"/>
          <p:cNvSpPr/>
          <p:nvPr/>
        </p:nvSpPr>
        <p:spPr>
          <a:xfrm>
            <a:off x="1097280" y="5150358"/>
            <a:ext cx="9295333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أُنهي المواجهة العلنية الآن، وأؤجل الحل لحوار خاص بعد الحصة</a:t>
            </a:r>
            <a:endParaRPr lang="ar-SA" sz="2000" dirty="0"/>
          </a:p>
        </p:txBody>
      </p:sp>
      <p:sp>
        <p:nvSpPr>
          <p:cNvPr id="21" name="Text 19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موقف: شاشة تحت الطاولة  ·  ٢٧</a:t>
            </a:r>
            <a:endParaRPr lang="ar-SA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13087" y="457200"/>
            <a:ext cx="175564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9613087" y="4572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الإجابة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لو كنت مكان أ. سامي الآن… ماذا تفعل؟</a:t>
            </a:r>
            <a:endParaRPr lang="ar-SA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10545775" cy="884682"/>
          </a:xfrm>
          <a:prstGeom prst="roundRect">
            <a:avLst>
              <a:gd name="adj" fmla="val 16537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75493" y="2194560"/>
            <a:ext cx="610362" cy="610362"/>
          </a:xfrm>
          <a:prstGeom prst="roundRect">
            <a:avLst>
              <a:gd name="adj" fmla="val 17978"/>
            </a:avLst>
          </a:prstGeom>
          <a:solidFill>
            <a:srgbClr val="8A91A8"/>
          </a:solidFill>
          <a:ln/>
        </p:spPr>
      </p:sp>
      <p:sp>
        <p:nvSpPr>
          <p:cNvPr id="7" name="Text 5"/>
          <p:cNvSpPr/>
          <p:nvPr/>
        </p:nvSpPr>
        <p:spPr>
          <a:xfrm>
            <a:off x="10575493" y="2194560"/>
            <a:ext cx="610362" cy="61036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112264"/>
            <a:ext cx="9295333" cy="44234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7A809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أُصرّ على أخذ الجوال فورًا حتى لا تسقط هيبتي</a:t>
            </a:r>
            <a:endParaRPr lang="ar-SA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2535128"/>
            <a:ext cx="9295333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7A34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الإصرار أمام الجمهور يجعل تراجع الطالب هزيمة علنية، فيتمسك أكثر</a:t>
            </a:r>
            <a:endParaRPr lang="ar-SA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3088386"/>
            <a:ext cx="10545775" cy="884682"/>
          </a:xfrm>
          <a:prstGeom prst="roundRect">
            <a:avLst>
              <a:gd name="adj" fmla="val 16537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75493" y="3225546"/>
            <a:ext cx="610362" cy="610362"/>
          </a:xfrm>
          <a:prstGeom prst="roundRect">
            <a:avLst>
              <a:gd name="adj" fmla="val 17978"/>
            </a:avLst>
          </a:prstGeom>
          <a:solidFill>
            <a:srgbClr val="8A91A8"/>
          </a:solidFill>
          <a:ln/>
        </p:spPr>
      </p:sp>
      <p:sp>
        <p:nvSpPr>
          <p:cNvPr id="12" name="Text 10"/>
          <p:cNvSpPr/>
          <p:nvPr/>
        </p:nvSpPr>
        <p:spPr>
          <a:xfrm>
            <a:off x="10575493" y="3225546"/>
            <a:ext cx="610362" cy="61036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ب</a:t>
            </a:r>
            <a:endParaRPr lang="ar-SA" sz="2000" dirty="0"/>
          </a:p>
        </p:txBody>
      </p:sp>
      <p:sp>
        <p:nvSpPr>
          <p:cNvPr id="13" name="Text 11"/>
          <p:cNvSpPr/>
          <p:nvPr/>
        </p:nvSpPr>
        <p:spPr>
          <a:xfrm>
            <a:off x="1097280" y="3143250"/>
            <a:ext cx="9295333" cy="44234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7A809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أتجاهل الموقف وأكمل الشرح</a:t>
            </a:r>
            <a:endParaRPr lang="ar-SA" sz="1700" dirty="0"/>
          </a:p>
        </p:txBody>
      </p:sp>
      <p:sp>
        <p:nvSpPr>
          <p:cNvPr id="14" name="Text 12"/>
          <p:cNvSpPr/>
          <p:nvPr/>
        </p:nvSpPr>
        <p:spPr>
          <a:xfrm>
            <a:off x="1097280" y="3566114"/>
            <a:ext cx="9295333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7A34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التجاهل يعلّم الفصل كله أن القاعدة غير حقيقية</a:t>
            </a:r>
            <a:endParaRPr lang="ar-SA" sz="1300" dirty="0"/>
          </a:p>
        </p:txBody>
      </p:sp>
      <p:sp>
        <p:nvSpPr>
          <p:cNvPr id="15" name="Shape 13"/>
          <p:cNvSpPr/>
          <p:nvPr/>
        </p:nvSpPr>
        <p:spPr>
          <a:xfrm>
            <a:off x="822960" y="4119372"/>
            <a:ext cx="10545775" cy="884682"/>
          </a:xfrm>
          <a:prstGeom prst="roundRect">
            <a:avLst>
              <a:gd name="adj" fmla="val 16537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75493" y="4256532"/>
            <a:ext cx="610362" cy="610362"/>
          </a:xfrm>
          <a:prstGeom prst="roundRect">
            <a:avLst>
              <a:gd name="adj" fmla="val 17978"/>
            </a:avLst>
          </a:prstGeom>
          <a:solidFill>
            <a:srgbClr val="8A91A8"/>
          </a:solidFill>
          <a:ln/>
        </p:spPr>
      </p:sp>
      <p:sp>
        <p:nvSpPr>
          <p:cNvPr id="17" name="Text 15"/>
          <p:cNvSpPr/>
          <p:nvPr/>
        </p:nvSpPr>
        <p:spPr>
          <a:xfrm>
            <a:off x="10575493" y="4256532"/>
            <a:ext cx="610362" cy="61036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</a:t>
            </a:r>
            <a:endParaRPr lang="ar-SA" sz="2000" dirty="0"/>
          </a:p>
        </p:txBody>
      </p:sp>
      <p:sp>
        <p:nvSpPr>
          <p:cNvPr id="18" name="Text 16"/>
          <p:cNvSpPr/>
          <p:nvPr/>
        </p:nvSpPr>
        <p:spPr>
          <a:xfrm>
            <a:off x="1097280" y="4174236"/>
            <a:ext cx="9295333" cy="44234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7A809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أهدده بالوكيل وخصم الدرجات</a:t>
            </a:r>
            <a:endParaRPr lang="ar-SA" sz="1700" dirty="0"/>
          </a:p>
        </p:txBody>
      </p:sp>
      <p:sp>
        <p:nvSpPr>
          <p:cNvPr id="19" name="Text 17"/>
          <p:cNvSpPr/>
          <p:nvPr/>
        </p:nvSpPr>
        <p:spPr>
          <a:xfrm>
            <a:off x="1097280" y="4597100"/>
            <a:ext cx="9295333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7A34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التهديد في لحظة غضب غالبًا تهديد لن تنفذه، فتفقد مصداقيتك</a:t>
            </a:r>
            <a:endParaRPr lang="ar-SA" sz="1300" dirty="0"/>
          </a:p>
        </p:txBody>
      </p:sp>
      <p:sp>
        <p:nvSpPr>
          <p:cNvPr id="20" name="Shape 18"/>
          <p:cNvSpPr/>
          <p:nvPr/>
        </p:nvSpPr>
        <p:spPr>
          <a:xfrm>
            <a:off x="822960" y="5150358"/>
            <a:ext cx="10545775" cy="884682"/>
          </a:xfrm>
          <a:prstGeom prst="roundRect">
            <a:avLst>
              <a:gd name="adj" fmla="val 16537"/>
            </a:avLst>
          </a:prstGeom>
          <a:solidFill>
            <a:srgbClr val="E6F4EC"/>
          </a:solidFill>
          <a:ln w="31750">
            <a:solidFill>
              <a:srgbClr val="2E9E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575493" y="5287518"/>
            <a:ext cx="610362" cy="610362"/>
          </a:xfrm>
          <a:prstGeom prst="roundRect">
            <a:avLst>
              <a:gd name="adj" fmla="val 17978"/>
            </a:avLst>
          </a:prstGeom>
          <a:solidFill>
            <a:srgbClr val="2E9E6B"/>
          </a:solidFill>
          <a:ln/>
        </p:spPr>
      </p:sp>
      <p:sp>
        <p:nvSpPr>
          <p:cNvPr id="22" name="Text 20"/>
          <p:cNvSpPr/>
          <p:nvPr/>
        </p:nvSpPr>
        <p:spPr>
          <a:xfrm>
            <a:off x="10575493" y="5287518"/>
            <a:ext cx="610362" cy="61036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د</a:t>
            </a:r>
            <a:endParaRPr lang="ar-SA" sz="2000" dirty="0"/>
          </a:p>
        </p:txBody>
      </p:sp>
      <p:sp>
        <p:nvSpPr>
          <p:cNvPr id="23" name="Text 21"/>
          <p:cNvSpPr/>
          <p:nvPr/>
        </p:nvSpPr>
        <p:spPr>
          <a:xfrm>
            <a:off x="1097280" y="5205222"/>
            <a:ext cx="9295333" cy="44234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أُنهي المواجهة العلنية الآن، وأؤجل الحل لحوار خاص بعد الحصة</a:t>
            </a:r>
            <a:endParaRPr lang="ar-SA" sz="1700" dirty="0"/>
          </a:p>
        </p:txBody>
      </p:sp>
      <p:sp>
        <p:nvSpPr>
          <p:cNvPr id="24" name="Text 22"/>
          <p:cNvSpPr/>
          <p:nvPr/>
        </p:nvSpPr>
        <p:spPr>
          <a:xfrm>
            <a:off x="1097280" y="5628086"/>
            <a:ext cx="9295333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تحفظ كرامتك وكرامته، وتطبق القاعدة بعيدًا عن الجمهور</a:t>
            </a:r>
            <a:endParaRPr lang="ar-SA" sz="1300" dirty="0"/>
          </a:p>
        </p:txBody>
      </p:sp>
      <p:sp>
        <p:nvSpPr>
          <p:cNvPr id="25" name="Text 2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موقف: شاشة تحت الطاولة  ·  ٢٨</a:t>
            </a:r>
            <a:endParaRPr lang="ar-SA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11135" y="457200"/>
            <a:ext cx="3657600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7711135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🔍 وراء كل سلوك حاجة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لماذا يفعل يزن هذا؟</a:t>
            </a:r>
            <a:endParaRPr lang="ar-SA" sz="3800" dirty="0"/>
          </a:p>
        </p:txBody>
      </p:sp>
      <p:sp>
        <p:nvSpPr>
          <p:cNvPr id="5" name="Shape 3"/>
          <p:cNvSpPr/>
          <p:nvPr/>
        </p:nvSpPr>
        <p:spPr>
          <a:xfrm>
            <a:off x="8903741" y="2011680"/>
            <a:ext cx="2464994" cy="2514600"/>
          </a:xfrm>
          <a:prstGeom prst="roundRect">
            <a:avLst>
              <a:gd name="adj" fmla="val 6677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16198" y="219456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F7E6BC"/>
          </a:solidFill>
          <a:ln/>
        </p:spPr>
      </p:sp>
      <p:sp>
        <p:nvSpPr>
          <p:cNvPr id="7" name="Text 5"/>
          <p:cNvSpPr/>
          <p:nvPr/>
        </p:nvSpPr>
        <p:spPr>
          <a:xfrm>
            <a:off x="9816198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🔔</a:t>
            </a:r>
            <a:endParaRPr lang="ar-SA" sz="2600" dirty="0"/>
          </a:p>
        </p:txBody>
      </p:sp>
      <p:sp>
        <p:nvSpPr>
          <p:cNvPr id="8" name="Text 6"/>
          <p:cNvSpPr/>
          <p:nvPr/>
        </p:nvSpPr>
        <p:spPr>
          <a:xfrm>
            <a:off x="9040901" y="2926080"/>
            <a:ext cx="21906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قلق الانقطاع</a:t>
            </a:r>
            <a:endParaRPr lang="ar-SA" sz="2200" dirty="0"/>
          </a:p>
        </p:txBody>
      </p:sp>
      <p:sp>
        <p:nvSpPr>
          <p:cNvPr id="9" name="Text 7"/>
          <p:cNvSpPr/>
          <p:nvPr/>
        </p:nvSpPr>
        <p:spPr>
          <a:xfrm>
            <a:off x="9086621" y="3474720"/>
            <a:ext cx="2099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خوف دائم من أن يفوته شيء في مجموعات أصدقائه</a:t>
            </a:r>
            <a:endParaRPr lang="ar-SA" sz="1600" dirty="0"/>
          </a:p>
        </p:txBody>
      </p:sp>
      <p:sp>
        <p:nvSpPr>
          <p:cNvPr id="10" name="Shape 8"/>
          <p:cNvSpPr/>
          <p:nvPr/>
        </p:nvSpPr>
        <p:spPr>
          <a:xfrm>
            <a:off x="6210148" y="2011680"/>
            <a:ext cx="2464994" cy="2514600"/>
          </a:xfrm>
          <a:prstGeom prst="roundRect">
            <a:avLst>
              <a:gd name="adj" fmla="val 6677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22604" y="219456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F7E6BC"/>
          </a:solidFill>
          <a:ln/>
        </p:spPr>
      </p:sp>
      <p:sp>
        <p:nvSpPr>
          <p:cNvPr id="12" name="Text 10"/>
          <p:cNvSpPr/>
          <p:nvPr/>
        </p:nvSpPr>
        <p:spPr>
          <a:xfrm>
            <a:off x="7122604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😴</a:t>
            </a:r>
            <a:endParaRPr lang="ar-SA" sz="2600" dirty="0"/>
          </a:p>
        </p:txBody>
      </p:sp>
      <p:sp>
        <p:nvSpPr>
          <p:cNvPr id="13" name="Text 11"/>
          <p:cNvSpPr/>
          <p:nvPr/>
        </p:nvSpPr>
        <p:spPr>
          <a:xfrm>
            <a:off x="6347308" y="2926080"/>
            <a:ext cx="21906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ملل</a:t>
            </a:r>
            <a:endParaRPr lang="ar-SA" sz="2200" dirty="0"/>
          </a:p>
        </p:txBody>
      </p:sp>
      <p:sp>
        <p:nvSpPr>
          <p:cNvPr id="14" name="Text 12"/>
          <p:cNvSpPr/>
          <p:nvPr/>
        </p:nvSpPr>
        <p:spPr>
          <a:xfrm>
            <a:off x="6393028" y="3474720"/>
            <a:ext cx="2099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الحصة لم تشدّه، فالشاشة أقوى منافس</a:t>
            </a:r>
            <a:endParaRPr lang="ar-SA" sz="1600" dirty="0"/>
          </a:p>
        </p:txBody>
      </p:sp>
      <p:sp>
        <p:nvSpPr>
          <p:cNvPr id="15" name="Shape 13"/>
          <p:cNvSpPr/>
          <p:nvPr/>
        </p:nvSpPr>
        <p:spPr>
          <a:xfrm>
            <a:off x="3516554" y="2011680"/>
            <a:ext cx="2464994" cy="2514600"/>
          </a:xfrm>
          <a:prstGeom prst="roundRect">
            <a:avLst>
              <a:gd name="adj" fmla="val 6677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29011" y="219456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F7E6BC"/>
          </a:solidFill>
          <a:ln/>
        </p:spPr>
      </p:sp>
      <p:sp>
        <p:nvSpPr>
          <p:cNvPr id="17" name="Text 15"/>
          <p:cNvSpPr/>
          <p:nvPr/>
        </p:nvSpPr>
        <p:spPr>
          <a:xfrm>
            <a:off x="4429011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🏠</a:t>
            </a:r>
            <a:endParaRPr lang="ar-SA" sz="2600" dirty="0"/>
          </a:p>
        </p:txBody>
      </p:sp>
      <p:sp>
        <p:nvSpPr>
          <p:cNvPr id="18" name="Text 16"/>
          <p:cNvSpPr/>
          <p:nvPr/>
        </p:nvSpPr>
        <p:spPr>
          <a:xfrm>
            <a:off x="3653714" y="2926080"/>
            <a:ext cx="21906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همّ خفي</a:t>
            </a:r>
            <a:endParaRPr lang="ar-SA" sz="2200" dirty="0"/>
          </a:p>
        </p:txBody>
      </p:sp>
      <p:sp>
        <p:nvSpPr>
          <p:cNvPr id="19" name="Text 17"/>
          <p:cNvSpPr/>
          <p:nvPr/>
        </p:nvSpPr>
        <p:spPr>
          <a:xfrm>
            <a:off x="3699434" y="3474720"/>
            <a:ext cx="2099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قد تكون رسالة عن مشكلة أسرية تشغله</a:t>
            </a:r>
            <a:endParaRPr lang="ar-SA" sz="1600" dirty="0"/>
          </a:p>
        </p:txBody>
      </p:sp>
      <p:sp>
        <p:nvSpPr>
          <p:cNvPr id="20" name="Shape 18"/>
          <p:cNvSpPr/>
          <p:nvPr/>
        </p:nvSpPr>
        <p:spPr>
          <a:xfrm>
            <a:off x="822960" y="2011680"/>
            <a:ext cx="2464994" cy="2514600"/>
          </a:xfrm>
          <a:prstGeom prst="roundRect">
            <a:avLst>
              <a:gd name="adj" fmla="val 6677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35417" y="219456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F7E6BC"/>
          </a:solidFill>
          <a:ln/>
        </p:spPr>
      </p:sp>
      <p:sp>
        <p:nvSpPr>
          <p:cNvPr id="22" name="Text 20"/>
          <p:cNvSpPr/>
          <p:nvPr/>
        </p:nvSpPr>
        <p:spPr>
          <a:xfrm>
            <a:off x="1735417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👀</a:t>
            </a:r>
            <a:endParaRPr lang="ar-SA" sz="2600" dirty="0"/>
          </a:p>
        </p:txBody>
      </p:sp>
      <p:sp>
        <p:nvSpPr>
          <p:cNvPr id="23" name="Text 21"/>
          <p:cNvSpPr/>
          <p:nvPr/>
        </p:nvSpPr>
        <p:spPr>
          <a:xfrm>
            <a:off x="960120" y="2926080"/>
            <a:ext cx="21906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الجمهور</a:t>
            </a:r>
            <a:endParaRPr lang="ar-SA" sz="2200" dirty="0"/>
          </a:p>
        </p:txBody>
      </p:sp>
      <p:sp>
        <p:nvSpPr>
          <p:cNvPr id="24" name="Text 22"/>
          <p:cNvSpPr/>
          <p:nvPr/>
        </p:nvSpPr>
        <p:spPr>
          <a:xfrm>
            <a:off x="1005840" y="3474720"/>
            <a:ext cx="20992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التسليم أمام زملائه يعني هزيمة علنية</a:t>
            </a:r>
            <a:endParaRPr lang="ar-SA" sz="1600" dirty="0"/>
          </a:p>
        </p:txBody>
      </p:sp>
      <p:sp>
        <p:nvSpPr>
          <p:cNvPr id="25" name="Shape 23"/>
          <p:cNvSpPr/>
          <p:nvPr/>
        </p:nvSpPr>
        <p:spPr>
          <a:xfrm>
            <a:off x="822960" y="4754880"/>
            <a:ext cx="10545775" cy="1051560"/>
          </a:xfrm>
          <a:prstGeom prst="roundRect">
            <a:avLst>
              <a:gd name="adj" fmla="val 17391"/>
            </a:avLst>
          </a:prstGeom>
          <a:solidFill>
            <a:srgbClr val="101B45"/>
          </a:solidFill>
          <a:ln/>
        </p:spPr>
      </p:sp>
      <p:sp>
        <p:nvSpPr>
          <p:cNvPr id="26" name="Text 24"/>
          <p:cNvSpPr/>
          <p:nvPr/>
        </p:nvSpPr>
        <p:spPr>
          <a:xfrm>
            <a:off x="1097280" y="4754880"/>
            <a:ext cx="99971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ar-SA" altLang="en-US" sz="21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💡 رفضه تسليم الجوال ليس عنادًا معك…</a:t>
            </a:r>
            <a:endParaRPr lang="ar-SA" sz="2100" dirty="0"/>
          </a:p>
          <a:p>
            <a:pPr algn="ctr" indent="0" marL="0">
              <a:buNone/>
            </a:pPr>
            <a:r>
              <a:rPr lang="ar-SA" altLang="en-US" sz="21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بل دفاع عن كرامته أمام الجمهور</a:t>
            </a:r>
            <a:endParaRPr lang="ar-SA" sz="2100" dirty="0"/>
          </a:p>
        </p:txBody>
      </p:sp>
      <p:sp>
        <p:nvSpPr>
          <p:cNvPr id="27" name="Text 2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28" name="Text 2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موقف: شاشة تحت الطاولة  ·  ٢٩</a:t>
            </a:r>
            <a:endParaRPr lang="ar-SA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457200"/>
            <a:ext cx="5120640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6248095" y="457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⏱️ ماذا تفعل داخل الفصل فورًا؟</a:t>
            </a:r>
            <a:endParaRPr lang="ar-SA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BECE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D64545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⏱ ١٠ ثوانٍ</a:t>
            </a:r>
            <a:endParaRPr lang="ar-SA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أول ١٠ ثوانٍ</a:t>
            </a:r>
            <a:endParaRPr lang="ar-SA" sz="3800" dirty="0"/>
          </a:p>
        </p:txBody>
      </p:sp>
      <p:sp>
        <p:nvSpPr>
          <p:cNvPr id="7" name="Shape 5"/>
          <p:cNvSpPr/>
          <p:nvPr/>
        </p:nvSpPr>
        <p:spPr>
          <a:xfrm>
            <a:off x="8903741" y="2148840"/>
            <a:ext cx="2464994" cy="3383280"/>
          </a:xfrm>
          <a:prstGeom prst="roundRect">
            <a:avLst>
              <a:gd name="adj" fmla="val 6677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747618" y="2423160"/>
            <a:ext cx="777240" cy="777240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9" name="Text 7"/>
          <p:cNvSpPr/>
          <p:nvPr/>
        </p:nvSpPr>
        <p:spPr>
          <a:xfrm>
            <a:off x="9747618" y="24231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2800" dirty="0"/>
          </a:p>
        </p:txBody>
      </p:sp>
      <p:sp>
        <p:nvSpPr>
          <p:cNvPr id="10" name="Text 8"/>
          <p:cNvSpPr/>
          <p:nvPr/>
        </p:nvSpPr>
        <p:spPr>
          <a:xfrm>
            <a:off x="9040901" y="3383280"/>
            <a:ext cx="21906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لا تتوقف</a:t>
            </a:r>
            <a:endParaRPr lang="ar-SA" sz="2800" dirty="0"/>
          </a:p>
        </p:txBody>
      </p:sp>
      <p:sp>
        <p:nvSpPr>
          <p:cNvPr id="11" name="Text 9"/>
          <p:cNvSpPr/>
          <p:nvPr/>
        </p:nvSpPr>
        <p:spPr>
          <a:xfrm>
            <a:off x="9132341" y="4069080"/>
            <a:ext cx="200779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تابع الشرح، فإيقاف الدرس يصنع مسرحًا</a:t>
            </a:r>
            <a:endParaRPr lang="ar-SA" sz="1800" dirty="0"/>
          </a:p>
        </p:txBody>
      </p:sp>
      <p:sp>
        <p:nvSpPr>
          <p:cNvPr id="12" name="Shape 10"/>
          <p:cNvSpPr/>
          <p:nvPr/>
        </p:nvSpPr>
        <p:spPr>
          <a:xfrm>
            <a:off x="6210148" y="2148840"/>
            <a:ext cx="2464994" cy="3383280"/>
          </a:xfrm>
          <a:prstGeom prst="roundRect">
            <a:avLst>
              <a:gd name="adj" fmla="val 6677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54024" y="2423160"/>
            <a:ext cx="777240" cy="777240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4" name="Text 12"/>
          <p:cNvSpPr/>
          <p:nvPr/>
        </p:nvSpPr>
        <p:spPr>
          <a:xfrm>
            <a:off x="7054024" y="24231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2800" dirty="0"/>
          </a:p>
        </p:txBody>
      </p:sp>
      <p:sp>
        <p:nvSpPr>
          <p:cNvPr id="15" name="Text 13"/>
          <p:cNvSpPr/>
          <p:nvPr/>
        </p:nvSpPr>
        <p:spPr>
          <a:xfrm>
            <a:off x="6347308" y="3383280"/>
            <a:ext cx="21906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اقترب</a:t>
            </a:r>
            <a:endParaRPr lang="ar-SA" sz="2800" dirty="0"/>
          </a:p>
        </p:txBody>
      </p:sp>
      <p:sp>
        <p:nvSpPr>
          <p:cNvPr id="16" name="Text 14"/>
          <p:cNvSpPr/>
          <p:nvPr/>
        </p:nvSpPr>
        <p:spPr>
          <a:xfrm>
            <a:off x="6438748" y="4069080"/>
            <a:ext cx="200779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امشِ نحو طاولته وأنت تشرح</a:t>
            </a:r>
            <a:endParaRPr lang="ar-SA" sz="1800" dirty="0"/>
          </a:p>
        </p:txBody>
      </p:sp>
      <p:sp>
        <p:nvSpPr>
          <p:cNvPr id="17" name="Shape 15"/>
          <p:cNvSpPr/>
          <p:nvPr/>
        </p:nvSpPr>
        <p:spPr>
          <a:xfrm>
            <a:off x="3516554" y="2148840"/>
            <a:ext cx="2464994" cy="3383280"/>
          </a:xfrm>
          <a:prstGeom prst="roundRect">
            <a:avLst>
              <a:gd name="adj" fmla="val 6677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60431" y="2423160"/>
            <a:ext cx="777240" cy="777240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9" name="Text 17"/>
          <p:cNvSpPr/>
          <p:nvPr/>
        </p:nvSpPr>
        <p:spPr>
          <a:xfrm>
            <a:off x="4360431" y="24231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2800" dirty="0"/>
          </a:p>
        </p:txBody>
      </p:sp>
      <p:sp>
        <p:nvSpPr>
          <p:cNvPr id="20" name="Text 18"/>
          <p:cNvSpPr/>
          <p:nvPr/>
        </p:nvSpPr>
        <p:spPr>
          <a:xfrm>
            <a:off x="3653714" y="3383280"/>
            <a:ext cx="21906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همسة</a:t>
            </a:r>
            <a:endParaRPr lang="ar-SA" sz="2800" dirty="0"/>
          </a:p>
        </p:txBody>
      </p:sp>
      <p:sp>
        <p:nvSpPr>
          <p:cNvPr id="21" name="Text 19"/>
          <p:cNvSpPr/>
          <p:nvPr/>
        </p:nvSpPr>
        <p:spPr>
          <a:xfrm>
            <a:off x="3745154" y="4069080"/>
            <a:ext cx="200779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جملة قصيرة بصوت لا يسمعه غيره</a:t>
            </a:r>
            <a:endParaRPr lang="ar-SA" sz="1800" dirty="0"/>
          </a:p>
        </p:txBody>
      </p:sp>
      <p:sp>
        <p:nvSpPr>
          <p:cNvPr id="22" name="Shape 20"/>
          <p:cNvSpPr/>
          <p:nvPr/>
        </p:nvSpPr>
        <p:spPr>
          <a:xfrm>
            <a:off x="822960" y="2148840"/>
            <a:ext cx="2464994" cy="3383280"/>
          </a:xfrm>
          <a:prstGeom prst="roundRect">
            <a:avLst>
              <a:gd name="adj" fmla="val 6677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37" y="2423160"/>
            <a:ext cx="777240" cy="777240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24" name="Text 22"/>
          <p:cNvSpPr/>
          <p:nvPr/>
        </p:nvSpPr>
        <p:spPr>
          <a:xfrm>
            <a:off x="1666837" y="24231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٤</a:t>
            </a:r>
            <a:endParaRPr lang="ar-SA" sz="2800" dirty="0"/>
          </a:p>
        </p:txBody>
      </p:sp>
      <p:sp>
        <p:nvSpPr>
          <p:cNvPr id="25" name="Text 23"/>
          <p:cNvSpPr/>
          <p:nvPr/>
        </p:nvSpPr>
        <p:spPr>
          <a:xfrm>
            <a:off x="960120" y="3383280"/>
            <a:ext cx="21906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ابتعد</a:t>
            </a:r>
            <a:endParaRPr lang="ar-SA" sz="2800" dirty="0"/>
          </a:p>
        </p:txBody>
      </p:sp>
      <p:sp>
        <p:nvSpPr>
          <p:cNvPr id="26" name="Text 24"/>
          <p:cNvSpPr/>
          <p:nvPr/>
        </p:nvSpPr>
        <p:spPr>
          <a:xfrm>
            <a:off x="1051560" y="4069080"/>
            <a:ext cx="200779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امنحه فرصة ليمتثل بلا جمهور</a:t>
            </a:r>
            <a:endParaRPr lang="ar-SA" sz="1800" dirty="0"/>
          </a:p>
        </p:txBody>
      </p:sp>
      <p:sp>
        <p:nvSpPr>
          <p:cNvPr id="27" name="Text 2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28" name="Text 2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موقف: شاشة تحت الطاولة  ·  ٣٠</a:t>
            </a:r>
            <a:endParaRPr lang="ar-SA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88959" y="457200"/>
            <a:ext cx="2779776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588959" y="457200"/>
            <a:ext cx="2779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الجُمل الجاهزة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ماذا تقول بالحرف؟</a:t>
            </a:r>
            <a:endParaRPr lang="ar-SA" sz="3800" dirty="0"/>
          </a:p>
        </p:txBody>
      </p:sp>
      <p:sp>
        <p:nvSpPr>
          <p:cNvPr id="5" name="Shape 3"/>
          <p:cNvSpPr/>
          <p:nvPr/>
        </p:nvSpPr>
        <p:spPr>
          <a:xfrm>
            <a:off x="9768535" y="2194560"/>
            <a:ext cx="1600200" cy="749808"/>
          </a:xfrm>
          <a:prstGeom prst="roundRect">
            <a:avLst>
              <a:gd name="adj" fmla="val 18293"/>
            </a:avLst>
          </a:prstGeom>
          <a:solidFill>
            <a:srgbClr val="E9EDF9"/>
          </a:solidFill>
          <a:ln/>
        </p:spPr>
      </p:sp>
      <p:sp>
        <p:nvSpPr>
          <p:cNvPr id="6" name="Text 4"/>
          <p:cNvSpPr/>
          <p:nvPr/>
        </p:nvSpPr>
        <p:spPr>
          <a:xfrm>
            <a:off x="9814255" y="2194560"/>
            <a:ext cx="1508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2346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همسًا بجانبه</a:t>
            </a:r>
            <a:endParaRPr lang="ar-SA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103120"/>
            <a:ext cx="8716975" cy="932688"/>
          </a:xfrm>
          <a:prstGeom prst="roundRect">
            <a:avLst>
              <a:gd name="adj" fmla="val 21569"/>
            </a:avLst>
          </a:prstGeom>
          <a:solidFill>
            <a:srgbClr val="101B45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103120"/>
            <a:ext cx="816833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1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« </a:t>
            </a:r>
            <a:pPr algn="r" indent="0" marL="0">
              <a:buNone/>
            </a:pPr>
            <a:r>
              <a:rPr lang="ar-SA" altLang="en-US" sz="21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يزن، الجوال في الحقيبة الآن، وتابع معنا. شكرًا لك</a:t>
            </a:r>
            <a:pPr algn="r" indent="0" marL="0">
              <a:buNone/>
            </a:pPr>
            <a:r>
              <a:rPr lang="ar-SA" altLang="en-US" sz="21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»</a:t>
            </a:r>
            <a:endParaRPr lang="ar-SA" sz="2100" dirty="0"/>
          </a:p>
        </p:txBody>
      </p:sp>
      <p:sp>
        <p:nvSpPr>
          <p:cNvPr id="9" name="Shape 7"/>
          <p:cNvSpPr/>
          <p:nvPr/>
        </p:nvSpPr>
        <p:spPr>
          <a:xfrm>
            <a:off x="9768535" y="3291840"/>
            <a:ext cx="1600200" cy="749808"/>
          </a:xfrm>
          <a:prstGeom prst="roundRect">
            <a:avLst>
              <a:gd name="adj" fmla="val 18293"/>
            </a:avLst>
          </a:prstGeom>
          <a:solidFill>
            <a:srgbClr val="E9EDF9"/>
          </a:solidFill>
          <a:ln/>
        </p:spPr>
      </p:sp>
      <p:sp>
        <p:nvSpPr>
          <p:cNvPr id="10" name="Text 8"/>
          <p:cNvSpPr/>
          <p:nvPr/>
        </p:nvSpPr>
        <p:spPr>
          <a:xfrm>
            <a:off x="9814255" y="3291840"/>
            <a:ext cx="1508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2346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إن رفض أمام الجميع</a:t>
            </a:r>
            <a:endParaRPr lang="ar-SA" sz="1500" dirty="0"/>
          </a:p>
        </p:txBody>
      </p:sp>
      <p:sp>
        <p:nvSpPr>
          <p:cNvPr id="11" name="Shape 9"/>
          <p:cNvSpPr/>
          <p:nvPr/>
        </p:nvSpPr>
        <p:spPr>
          <a:xfrm>
            <a:off x="822960" y="3200400"/>
            <a:ext cx="8716975" cy="932688"/>
          </a:xfrm>
          <a:prstGeom prst="roundRect">
            <a:avLst>
              <a:gd name="adj" fmla="val 21569"/>
            </a:avLst>
          </a:prstGeom>
          <a:solidFill>
            <a:srgbClr val="101B45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3200400"/>
            <a:ext cx="816833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« </a:t>
            </a:r>
            <a:pPr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لن نتناقش الآن. نكمل الدرس، وأنت وأنا نتحدث دقيقتين بعد الحصة</a:t>
            </a:r>
            <a:pPr algn="r" indent="0" marL="0">
              <a:buNone/>
            </a:pPr>
            <a:r>
              <a:rPr lang="ar-SA" altLang="en-US" sz="18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»</a:t>
            </a:r>
            <a:endParaRPr lang="ar-SA" sz="1800" dirty="0"/>
          </a:p>
        </p:txBody>
      </p:sp>
      <p:sp>
        <p:nvSpPr>
          <p:cNvPr id="13" name="Shape 11"/>
          <p:cNvSpPr/>
          <p:nvPr/>
        </p:nvSpPr>
        <p:spPr>
          <a:xfrm>
            <a:off x="9768535" y="4389120"/>
            <a:ext cx="1600200" cy="749808"/>
          </a:xfrm>
          <a:prstGeom prst="roundRect">
            <a:avLst>
              <a:gd name="adj" fmla="val 18293"/>
            </a:avLst>
          </a:prstGeom>
          <a:solidFill>
            <a:srgbClr val="E9EDF9"/>
          </a:solidFill>
          <a:ln/>
        </p:spPr>
      </p:sp>
      <p:sp>
        <p:nvSpPr>
          <p:cNvPr id="14" name="Text 12"/>
          <p:cNvSpPr/>
          <p:nvPr/>
        </p:nvSpPr>
        <p:spPr>
          <a:xfrm>
            <a:off x="9814255" y="4389120"/>
            <a:ext cx="1508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2346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في الحوار الخاص</a:t>
            </a:r>
            <a:endParaRPr lang="ar-SA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4297680"/>
            <a:ext cx="8716975" cy="932688"/>
          </a:xfrm>
          <a:prstGeom prst="roundRect">
            <a:avLst>
              <a:gd name="adj" fmla="val 21569"/>
            </a:avLst>
          </a:prstGeom>
          <a:solidFill>
            <a:srgbClr val="101B45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4297680"/>
            <a:ext cx="816833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« </a:t>
            </a:r>
            <a:pPr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لاحظت أن الجوال أخذك مني اليوم، هل هناك أمر مهم؟ القاعدة للجميع، فما الذي يساعدك على الالتزام بها؟</a:t>
            </a:r>
            <a:pPr algn="r" indent="0" marL="0">
              <a:buNone/>
            </a:pPr>
            <a:r>
              <a:rPr lang="ar-SA" altLang="en-US" sz="18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»</a:t>
            </a:r>
            <a:endParaRPr lang="ar-SA" sz="1800" dirty="0"/>
          </a:p>
        </p:txBody>
      </p:sp>
      <p:sp>
        <p:nvSpPr>
          <p:cNvPr id="17" name="Shape 15"/>
          <p:cNvSpPr/>
          <p:nvPr/>
        </p:nvSpPr>
        <p:spPr>
          <a:xfrm>
            <a:off x="822960" y="5532120"/>
            <a:ext cx="10545775" cy="548640"/>
          </a:xfrm>
          <a:prstGeom prst="roundRect">
            <a:avLst>
              <a:gd name="adj" fmla="val 20000"/>
            </a:avLst>
          </a:prstGeom>
          <a:solidFill>
            <a:srgbClr val="FBECEC"/>
          </a:solidFill>
          <a:ln/>
        </p:spPr>
      </p:sp>
      <p:sp>
        <p:nvSpPr>
          <p:cNvPr id="18" name="Shape 16"/>
          <p:cNvSpPr/>
          <p:nvPr/>
        </p:nvSpPr>
        <p:spPr>
          <a:xfrm>
            <a:off x="11295583" y="5532120"/>
            <a:ext cx="73152" cy="548640"/>
          </a:xfrm>
          <a:prstGeom prst="rect">
            <a:avLst/>
          </a:prstGeom>
          <a:solidFill>
            <a:srgbClr val="D64545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5532120"/>
            <a:ext cx="10088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8E2A2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⚠️ تجنّب: «هات الجوال حالًا!» · «أنت دائمًا هكذا»</a:t>
            </a:r>
            <a:endParaRPr lang="ar-SA" sz="1700" dirty="0"/>
          </a:p>
        </p:txBody>
      </p:sp>
      <p:sp>
        <p:nvSpPr>
          <p:cNvPr id="20" name="Text 18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موقف: شاشة تحت الطاولة  ·  ٣١</a:t>
            </a:r>
            <a:endParaRPr lang="ar-SA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1359" y="457200"/>
            <a:ext cx="6437376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4931359" y="457200"/>
            <a:ext cx="6437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🪜 اصعد درجة فقط إذا لم تنجح التي قبلها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سلّم التدخّل</a:t>
            </a:r>
            <a:endParaRPr lang="ar-SA" sz="3800" dirty="0"/>
          </a:p>
        </p:txBody>
      </p:sp>
      <p:sp>
        <p:nvSpPr>
          <p:cNvPr id="5" name="Shape 3"/>
          <p:cNvSpPr/>
          <p:nvPr/>
        </p:nvSpPr>
        <p:spPr>
          <a:xfrm>
            <a:off x="822960" y="5349240"/>
            <a:ext cx="10545775" cy="594360"/>
          </a:xfrm>
          <a:prstGeom prst="roundRect">
            <a:avLst>
              <a:gd name="adj" fmla="val 21538"/>
            </a:avLst>
          </a:prstGeom>
          <a:solidFill>
            <a:srgbClr val="2E9E6B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807" y="5440680"/>
            <a:ext cx="411480" cy="41148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0801807" y="5440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5349240"/>
            <a:ext cx="9631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نظرة واقتراب صامت</a:t>
            </a:r>
            <a:endParaRPr lang="ar-SA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4663440"/>
            <a:ext cx="10088575" cy="594360"/>
          </a:xfrm>
          <a:prstGeom prst="roundRect">
            <a:avLst>
              <a:gd name="adj" fmla="val 21538"/>
            </a:avLst>
          </a:prstGeom>
          <a:solidFill>
            <a:srgbClr val="5A9E4B"/>
          </a:solidFill>
          <a:ln/>
        </p:spPr>
      </p:sp>
      <p:sp>
        <p:nvSpPr>
          <p:cNvPr id="10" name="Shape 8"/>
          <p:cNvSpPr/>
          <p:nvPr/>
        </p:nvSpPr>
        <p:spPr>
          <a:xfrm>
            <a:off x="10344607" y="4754880"/>
            <a:ext cx="411480" cy="41148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0344607" y="4754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1500" dirty="0"/>
          </a:p>
        </p:txBody>
      </p:sp>
      <p:sp>
        <p:nvSpPr>
          <p:cNvPr id="12" name="Text 10"/>
          <p:cNvSpPr/>
          <p:nvPr/>
        </p:nvSpPr>
        <p:spPr>
          <a:xfrm>
            <a:off x="1005840" y="4663440"/>
            <a:ext cx="91741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همسة بجانبه</a:t>
            </a:r>
            <a:endParaRPr lang="ar-SA" sz="1800" dirty="0"/>
          </a:p>
        </p:txBody>
      </p:sp>
      <p:sp>
        <p:nvSpPr>
          <p:cNvPr id="13" name="Shape 11"/>
          <p:cNvSpPr/>
          <p:nvPr/>
        </p:nvSpPr>
        <p:spPr>
          <a:xfrm>
            <a:off x="822960" y="3977640"/>
            <a:ext cx="9631375" cy="594360"/>
          </a:xfrm>
          <a:prstGeom prst="roundRect">
            <a:avLst>
              <a:gd name="adj" fmla="val 21538"/>
            </a:avLst>
          </a:prstGeom>
          <a:solidFill>
            <a:srgbClr val="B7A034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4069080"/>
            <a:ext cx="411480" cy="41148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9887407" y="4069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1500" dirty="0"/>
          </a:p>
        </p:txBody>
      </p:sp>
      <p:sp>
        <p:nvSpPr>
          <p:cNvPr id="16" name="Text 14"/>
          <p:cNvSpPr/>
          <p:nvPr/>
        </p:nvSpPr>
        <p:spPr>
          <a:xfrm>
            <a:off x="1005840" y="3977640"/>
            <a:ext cx="87169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خيار محدد: «في الحقيبة أو على طاولتي حتى نهاية الحصة، أنت تختار»</a:t>
            </a:r>
            <a:endParaRPr lang="ar-SA" sz="1800" dirty="0"/>
          </a:p>
        </p:txBody>
      </p:sp>
      <p:sp>
        <p:nvSpPr>
          <p:cNvPr id="17" name="Shape 15"/>
          <p:cNvSpPr/>
          <p:nvPr/>
        </p:nvSpPr>
        <p:spPr>
          <a:xfrm>
            <a:off x="822960" y="3291840"/>
            <a:ext cx="9174175" cy="594360"/>
          </a:xfrm>
          <a:prstGeom prst="roundRect">
            <a:avLst>
              <a:gd name="adj" fmla="val 21538"/>
            </a:avLst>
          </a:prstGeom>
          <a:solidFill>
            <a:srgbClr val="D99A2B"/>
          </a:solidFill>
          <a:ln/>
        </p:spPr>
      </p:sp>
      <p:sp>
        <p:nvSpPr>
          <p:cNvPr id="18" name="Shape 16"/>
          <p:cNvSpPr/>
          <p:nvPr/>
        </p:nvSpPr>
        <p:spPr>
          <a:xfrm>
            <a:off x="9430207" y="3383280"/>
            <a:ext cx="411480" cy="41148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9430207" y="3383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٤</a:t>
            </a:r>
            <a:endParaRPr lang="ar-SA" sz="1500" dirty="0"/>
          </a:p>
        </p:txBody>
      </p:sp>
      <p:sp>
        <p:nvSpPr>
          <p:cNvPr id="20" name="Text 18"/>
          <p:cNvSpPr/>
          <p:nvPr/>
        </p:nvSpPr>
        <p:spPr>
          <a:xfrm>
            <a:off x="1005840" y="3291840"/>
            <a:ext cx="8259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حوار خاص بعد الحصة</a:t>
            </a:r>
            <a:endParaRPr lang="ar-SA" sz="1800" dirty="0"/>
          </a:p>
        </p:txBody>
      </p:sp>
      <p:sp>
        <p:nvSpPr>
          <p:cNvPr id="21" name="Shape 19"/>
          <p:cNvSpPr/>
          <p:nvPr/>
        </p:nvSpPr>
        <p:spPr>
          <a:xfrm>
            <a:off x="822960" y="2606040"/>
            <a:ext cx="8716975" cy="594360"/>
          </a:xfrm>
          <a:prstGeom prst="roundRect">
            <a:avLst>
              <a:gd name="adj" fmla="val 21538"/>
            </a:avLst>
          </a:prstGeom>
          <a:solidFill>
            <a:srgbClr val="D9722B"/>
          </a:solidFill>
          <a:ln/>
        </p:spPr>
      </p:sp>
      <p:sp>
        <p:nvSpPr>
          <p:cNvPr id="22" name="Shape 20"/>
          <p:cNvSpPr/>
          <p:nvPr/>
        </p:nvSpPr>
        <p:spPr>
          <a:xfrm>
            <a:off x="8973007" y="2697480"/>
            <a:ext cx="411480" cy="41148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8973007" y="2697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٥</a:t>
            </a:r>
            <a:endParaRPr lang="ar-SA" sz="1500" dirty="0"/>
          </a:p>
        </p:txBody>
      </p:sp>
      <p:sp>
        <p:nvSpPr>
          <p:cNvPr id="24" name="Text 22"/>
          <p:cNvSpPr/>
          <p:nvPr/>
        </p:nvSpPr>
        <p:spPr>
          <a:xfrm>
            <a:off x="1005840" y="2606040"/>
            <a:ext cx="7802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تواصل مع ولي الأمر بلغة الشراكة</a:t>
            </a:r>
            <a:endParaRPr lang="ar-SA" sz="1800" dirty="0"/>
          </a:p>
        </p:txBody>
      </p:sp>
      <p:sp>
        <p:nvSpPr>
          <p:cNvPr id="25" name="Shape 23"/>
          <p:cNvSpPr/>
          <p:nvPr/>
        </p:nvSpPr>
        <p:spPr>
          <a:xfrm>
            <a:off x="822960" y="1920240"/>
            <a:ext cx="8259775" cy="594360"/>
          </a:xfrm>
          <a:prstGeom prst="roundRect">
            <a:avLst>
              <a:gd name="adj" fmla="val 21538"/>
            </a:avLst>
          </a:prstGeom>
          <a:solidFill>
            <a:srgbClr val="C94040"/>
          </a:solidFill>
          <a:ln/>
        </p:spPr>
      </p:sp>
      <p:sp>
        <p:nvSpPr>
          <p:cNvPr id="26" name="Shape 24"/>
          <p:cNvSpPr/>
          <p:nvPr/>
        </p:nvSpPr>
        <p:spPr>
          <a:xfrm>
            <a:off x="8515807" y="2011680"/>
            <a:ext cx="411480" cy="41148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8515807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٦</a:t>
            </a:r>
            <a:endParaRPr lang="ar-SA" sz="1500" dirty="0"/>
          </a:p>
        </p:txBody>
      </p:sp>
      <p:sp>
        <p:nvSpPr>
          <p:cNvPr id="28" name="Text 26"/>
          <p:cNvSpPr/>
          <p:nvPr/>
        </p:nvSpPr>
        <p:spPr>
          <a:xfrm>
            <a:off x="1005840" y="1920240"/>
            <a:ext cx="7345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الإدارة وفق لائحة السلوك في مدرستك</a:t>
            </a:r>
            <a:endParaRPr lang="ar-SA" sz="1800" dirty="0"/>
          </a:p>
        </p:txBody>
      </p:sp>
      <p:sp>
        <p:nvSpPr>
          <p:cNvPr id="29" name="Text 27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30" name="Text 28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موقف: شاشة تحت الطاولة  ·  ٣٢</a:t>
            </a:r>
            <a:endParaRPr lang="ar-SA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أخطاء شائعة… وبدائلها</a:t>
            </a:r>
            <a:endParaRPr lang="ar-SA" sz="3800" dirty="0"/>
          </a:p>
        </p:txBody>
      </p:sp>
      <p:sp>
        <p:nvSpPr>
          <p:cNvPr id="3" name="Text 1"/>
          <p:cNvSpPr/>
          <p:nvPr/>
        </p:nvSpPr>
        <p:spPr>
          <a:xfrm>
            <a:off x="6415888" y="1600200"/>
            <a:ext cx="495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100" dirty="0">
                <a:solidFill>
                  <a:srgbClr val="D645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❌ الخطأ الشائع</a:t>
            </a:r>
            <a:endParaRPr lang="ar-SA" sz="2100" dirty="0"/>
          </a:p>
        </p:txBody>
      </p:sp>
      <p:sp>
        <p:nvSpPr>
          <p:cNvPr id="4" name="Text 2"/>
          <p:cNvSpPr/>
          <p:nvPr/>
        </p:nvSpPr>
        <p:spPr>
          <a:xfrm>
            <a:off x="822960" y="1600200"/>
            <a:ext cx="495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100" dirty="0">
                <a:solidFill>
                  <a:srgbClr val="2E9E6B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✅ البديل</a:t>
            </a:r>
            <a:endParaRPr lang="ar-SA" sz="2100" dirty="0"/>
          </a:p>
        </p:txBody>
      </p:sp>
      <p:sp>
        <p:nvSpPr>
          <p:cNvPr id="5" name="Shape 3"/>
          <p:cNvSpPr/>
          <p:nvPr/>
        </p:nvSpPr>
        <p:spPr>
          <a:xfrm>
            <a:off x="6415888" y="2194560"/>
            <a:ext cx="4952848" cy="804672"/>
          </a:xfrm>
          <a:prstGeom prst="roundRect">
            <a:avLst>
              <a:gd name="adj" fmla="val 15909"/>
            </a:avLst>
          </a:prstGeom>
          <a:solidFill>
            <a:srgbClr val="FBECEC"/>
          </a:solidFill>
          <a:ln/>
        </p:spPr>
      </p:sp>
      <p:sp>
        <p:nvSpPr>
          <p:cNvPr id="6" name="Text 4"/>
          <p:cNvSpPr/>
          <p:nvPr/>
        </p:nvSpPr>
        <p:spPr>
          <a:xfrm>
            <a:off x="6644488" y="2194560"/>
            <a:ext cx="44956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900" b="1" dirty="0">
                <a:solidFill>
                  <a:srgbClr val="8E2A2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انتزاع الجوال بالقوة أمام الجميع</a:t>
            </a:r>
            <a:endParaRPr lang="ar-SA" sz="1900" dirty="0"/>
          </a:p>
        </p:txBody>
      </p:sp>
      <p:sp>
        <p:nvSpPr>
          <p:cNvPr id="7" name="Text 5"/>
          <p:cNvSpPr/>
          <p:nvPr/>
        </p:nvSpPr>
        <p:spPr>
          <a:xfrm>
            <a:off x="5775808" y="2194560"/>
            <a:ext cx="640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←</a:t>
            </a:r>
            <a:endParaRPr lang="ar-SA" sz="2600" dirty="0"/>
          </a:p>
        </p:txBody>
      </p:sp>
      <p:sp>
        <p:nvSpPr>
          <p:cNvPr id="8" name="Shape 6"/>
          <p:cNvSpPr/>
          <p:nvPr/>
        </p:nvSpPr>
        <p:spPr>
          <a:xfrm>
            <a:off x="822960" y="2194560"/>
            <a:ext cx="4952848" cy="804672"/>
          </a:xfrm>
          <a:prstGeom prst="roundRect">
            <a:avLst>
              <a:gd name="adj" fmla="val 15909"/>
            </a:avLst>
          </a:prstGeom>
          <a:solidFill>
            <a:srgbClr val="E6F4EC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2194560"/>
            <a:ext cx="44956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9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خيار محدد بهدوء، ثم حوار خاص</a:t>
            </a:r>
            <a:endParaRPr lang="ar-SA" sz="1900" dirty="0"/>
          </a:p>
        </p:txBody>
      </p:sp>
      <p:sp>
        <p:nvSpPr>
          <p:cNvPr id="10" name="Shape 8"/>
          <p:cNvSpPr/>
          <p:nvPr/>
        </p:nvSpPr>
        <p:spPr>
          <a:xfrm>
            <a:off x="6415888" y="3154680"/>
            <a:ext cx="4952848" cy="804672"/>
          </a:xfrm>
          <a:prstGeom prst="roundRect">
            <a:avLst>
              <a:gd name="adj" fmla="val 15909"/>
            </a:avLst>
          </a:prstGeom>
          <a:solidFill>
            <a:srgbClr val="FBECEC"/>
          </a:solidFill>
          <a:ln/>
        </p:spPr>
      </p:sp>
      <p:sp>
        <p:nvSpPr>
          <p:cNvPr id="11" name="Text 9"/>
          <p:cNvSpPr/>
          <p:nvPr/>
        </p:nvSpPr>
        <p:spPr>
          <a:xfrm>
            <a:off x="6644488" y="3154680"/>
            <a:ext cx="44956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900" b="1" dirty="0">
                <a:solidFill>
                  <a:srgbClr val="8E2A2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فتح الجوال وقراءة رسائله</a:t>
            </a:r>
            <a:endParaRPr lang="ar-SA" sz="1900" dirty="0"/>
          </a:p>
        </p:txBody>
      </p:sp>
      <p:sp>
        <p:nvSpPr>
          <p:cNvPr id="12" name="Text 10"/>
          <p:cNvSpPr/>
          <p:nvPr/>
        </p:nvSpPr>
        <p:spPr>
          <a:xfrm>
            <a:off x="5775808" y="3154680"/>
            <a:ext cx="640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←</a:t>
            </a:r>
            <a:endParaRPr lang="ar-SA" sz="2600" dirty="0"/>
          </a:p>
        </p:txBody>
      </p:sp>
      <p:sp>
        <p:nvSpPr>
          <p:cNvPr id="13" name="Shape 11"/>
          <p:cNvSpPr/>
          <p:nvPr/>
        </p:nvSpPr>
        <p:spPr>
          <a:xfrm>
            <a:off x="822960" y="3154680"/>
            <a:ext cx="4952848" cy="804672"/>
          </a:xfrm>
          <a:prstGeom prst="roundRect">
            <a:avLst>
              <a:gd name="adj" fmla="val 15909"/>
            </a:avLst>
          </a:prstGeom>
          <a:solidFill>
            <a:srgbClr val="E6F4EC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3154680"/>
            <a:ext cx="44956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9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لا تطّلع على محتوى جوال طالب أبدًا</a:t>
            </a:r>
            <a:endParaRPr lang="ar-SA" sz="1900" dirty="0"/>
          </a:p>
        </p:txBody>
      </p:sp>
      <p:sp>
        <p:nvSpPr>
          <p:cNvPr id="15" name="Shape 13"/>
          <p:cNvSpPr/>
          <p:nvPr/>
        </p:nvSpPr>
        <p:spPr>
          <a:xfrm>
            <a:off x="6415888" y="4114800"/>
            <a:ext cx="4952848" cy="804672"/>
          </a:xfrm>
          <a:prstGeom prst="roundRect">
            <a:avLst>
              <a:gd name="adj" fmla="val 15909"/>
            </a:avLst>
          </a:prstGeom>
          <a:solidFill>
            <a:srgbClr val="FBECEC"/>
          </a:solidFill>
          <a:ln/>
        </p:spPr>
      </p:sp>
      <p:sp>
        <p:nvSpPr>
          <p:cNvPr id="16" name="Text 14"/>
          <p:cNvSpPr/>
          <p:nvPr/>
        </p:nvSpPr>
        <p:spPr>
          <a:xfrm>
            <a:off x="6644488" y="4114800"/>
            <a:ext cx="44956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900" b="1" dirty="0">
                <a:solidFill>
                  <a:srgbClr val="8E2A2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تهديد بما لا تملكه: «سأكسره!»</a:t>
            </a:r>
            <a:endParaRPr lang="ar-SA" sz="1900" dirty="0"/>
          </a:p>
        </p:txBody>
      </p:sp>
      <p:sp>
        <p:nvSpPr>
          <p:cNvPr id="17" name="Text 15"/>
          <p:cNvSpPr/>
          <p:nvPr/>
        </p:nvSpPr>
        <p:spPr>
          <a:xfrm>
            <a:off x="5775808" y="4114800"/>
            <a:ext cx="640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←</a:t>
            </a:r>
            <a:endParaRPr lang="ar-SA" sz="2600" dirty="0"/>
          </a:p>
        </p:txBody>
      </p:sp>
      <p:sp>
        <p:nvSpPr>
          <p:cNvPr id="18" name="Shape 16"/>
          <p:cNvSpPr/>
          <p:nvPr/>
        </p:nvSpPr>
        <p:spPr>
          <a:xfrm>
            <a:off x="822960" y="4114800"/>
            <a:ext cx="4952848" cy="804672"/>
          </a:xfrm>
          <a:prstGeom prst="roundRect">
            <a:avLst>
              <a:gd name="adj" fmla="val 15909"/>
            </a:avLst>
          </a:prstGeom>
          <a:solidFill>
            <a:srgbClr val="E6F4EC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4114800"/>
            <a:ext cx="44956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9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عاقبة واضحة ومتفق عليها مسبقًا</a:t>
            </a:r>
            <a:endParaRPr lang="ar-SA" sz="1900" dirty="0"/>
          </a:p>
        </p:txBody>
      </p:sp>
      <p:sp>
        <p:nvSpPr>
          <p:cNvPr id="20" name="Shape 18"/>
          <p:cNvSpPr/>
          <p:nvPr/>
        </p:nvSpPr>
        <p:spPr>
          <a:xfrm>
            <a:off x="6415888" y="5074920"/>
            <a:ext cx="4952848" cy="804672"/>
          </a:xfrm>
          <a:prstGeom prst="roundRect">
            <a:avLst>
              <a:gd name="adj" fmla="val 15909"/>
            </a:avLst>
          </a:prstGeom>
          <a:solidFill>
            <a:srgbClr val="FBECEC"/>
          </a:solidFill>
          <a:ln/>
        </p:spPr>
      </p:sp>
      <p:sp>
        <p:nvSpPr>
          <p:cNvPr id="21" name="Text 19"/>
          <p:cNvSpPr/>
          <p:nvPr/>
        </p:nvSpPr>
        <p:spPr>
          <a:xfrm>
            <a:off x="6644488" y="5074920"/>
            <a:ext cx="44956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900" b="1" dirty="0">
                <a:solidFill>
                  <a:srgbClr val="8E2A2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التشدد مع طالب والتغاضي عن آخر</a:t>
            </a:r>
            <a:endParaRPr lang="ar-SA" sz="1900" dirty="0"/>
          </a:p>
        </p:txBody>
      </p:sp>
      <p:sp>
        <p:nvSpPr>
          <p:cNvPr id="22" name="Text 20"/>
          <p:cNvSpPr/>
          <p:nvPr/>
        </p:nvSpPr>
        <p:spPr>
          <a:xfrm>
            <a:off x="5775808" y="5074920"/>
            <a:ext cx="640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←</a:t>
            </a:r>
            <a:endParaRPr lang="ar-SA" sz="2600" dirty="0"/>
          </a:p>
        </p:txBody>
      </p:sp>
      <p:sp>
        <p:nvSpPr>
          <p:cNvPr id="23" name="Shape 21"/>
          <p:cNvSpPr/>
          <p:nvPr/>
        </p:nvSpPr>
        <p:spPr>
          <a:xfrm>
            <a:off x="822960" y="5074920"/>
            <a:ext cx="4952848" cy="804672"/>
          </a:xfrm>
          <a:prstGeom prst="roundRect">
            <a:avLst>
              <a:gd name="adj" fmla="val 15909"/>
            </a:avLst>
          </a:prstGeom>
          <a:solidFill>
            <a:srgbClr val="E6F4EC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5074920"/>
            <a:ext cx="44956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9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القاعدة نفسها على الجميع دائمًا</a:t>
            </a:r>
            <a:endParaRPr lang="ar-SA" sz="1900" dirty="0"/>
          </a:p>
        </p:txBody>
      </p:sp>
      <p:sp>
        <p:nvSpPr>
          <p:cNvPr id="25" name="Text 2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موقف: شاشة تحت الطاولة  ·  ٣٣</a:t>
            </a:r>
            <a:endParaRPr lang="ar-SA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4831" y="457200"/>
            <a:ext cx="3803904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7564831" y="457200"/>
            <a:ext cx="3803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الوقاية خير من العلاج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بعد الحصة… وغدًا</a:t>
            </a:r>
            <a:endParaRPr lang="ar-SA" sz="3800" dirty="0"/>
          </a:p>
        </p:txBody>
      </p:sp>
      <p:sp>
        <p:nvSpPr>
          <p:cNvPr id="5" name="Shape 3"/>
          <p:cNvSpPr/>
          <p:nvPr/>
        </p:nvSpPr>
        <p:spPr>
          <a:xfrm>
            <a:off x="8036357" y="2148840"/>
            <a:ext cx="3332378" cy="35661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362895" y="2423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F7E6BC"/>
          </a:solidFill>
          <a:ln/>
        </p:spPr>
      </p:sp>
      <p:sp>
        <p:nvSpPr>
          <p:cNvPr id="7" name="Text 5"/>
          <p:cNvSpPr/>
          <p:nvPr/>
        </p:nvSpPr>
        <p:spPr>
          <a:xfrm>
            <a:off x="10362895" y="2423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🏨</a:t>
            </a:r>
            <a:endParaRPr lang="ar-SA" sz="3000" dirty="0"/>
          </a:p>
        </p:txBody>
      </p:sp>
      <p:sp>
        <p:nvSpPr>
          <p:cNvPr id="8" name="Text 6"/>
          <p:cNvSpPr/>
          <p:nvPr/>
        </p:nvSpPr>
        <p:spPr>
          <a:xfrm>
            <a:off x="8310677" y="3291840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«فندق الجوالات»</a:t>
            </a:r>
            <a:endParaRPr lang="ar-SA" sz="2400" dirty="0"/>
          </a:p>
        </p:txBody>
      </p:sp>
      <p:sp>
        <p:nvSpPr>
          <p:cNvPr id="9" name="Text 7"/>
          <p:cNvSpPr/>
          <p:nvPr/>
        </p:nvSpPr>
        <p:spPr>
          <a:xfrm>
            <a:off x="8310677" y="3886200"/>
            <a:ext cx="278373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جيوب مرقّمة عند الباب، يضع فيها كل طالب جواله أول الحصة</a:t>
            </a:r>
            <a:endParaRPr lang="ar-SA" sz="1900" dirty="0"/>
          </a:p>
        </p:txBody>
      </p:sp>
      <p:sp>
        <p:nvSpPr>
          <p:cNvPr id="10" name="Shape 8"/>
          <p:cNvSpPr/>
          <p:nvPr/>
        </p:nvSpPr>
        <p:spPr>
          <a:xfrm>
            <a:off x="4429658" y="2148840"/>
            <a:ext cx="3332378" cy="35661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756197" y="2423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F7E6BC"/>
          </a:solidFill>
          <a:ln/>
        </p:spPr>
      </p:sp>
      <p:sp>
        <p:nvSpPr>
          <p:cNvPr id="12" name="Text 10"/>
          <p:cNvSpPr/>
          <p:nvPr/>
        </p:nvSpPr>
        <p:spPr>
          <a:xfrm>
            <a:off x="6756197" y="2423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📜</a:t>
            </a:r>
            <a:endParaRPr lang="ar-SA" sz="3000" dirty="0"/>
          </a:p>
        </p:txBody>
      </p:sp>
      <p:sp>
        <p:nvSpPr>
          <p:cNvPr id="13" name="Text 11"/>
          <p:cNvSpPr/>
          <p:nvPr/>
        </p:nvSpPr>
        <p:spPr>
          <a:xfrm>
            <a:off x="4703978" y="3291840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قاعدة من اليوم الأول</a:t>
            </a:r>
            <a:endParaRPr lang="ar-SA" sz="2400" dirty="0"/>
          </a:p>
        </p:txBody>
      </p:sp>
      <p:sp>
        <p:nvSpPr>
          <p:cNvPr id="14" name="Text 12"/>
          <p:cNvSpPr/>
          <p:nvPr/>
        </p:nvSpPr>
        <p:spPr>
          <a:xfrm>
            <a:off x="4703978" y="3886200"/>
            <a:ext cx="278373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تُكتب مع الطلاب، وتُعلَّق في الفصل، وتُذكَّر بها دوريًا</a:t>
            </a:r>
            <a:endParaRPr lang="ar-SA" sz="1900" dirty="0"/>
          </a:p>
        </p:txBody>
      </p:sp>
      <p:sp>
        <p:nvSpPr>
          <p:cNvPr id="15" name="Shape 13"/>
          <p:cNvSpPr/>
          <p:nvPr/>
        </p:nvSpPr>
        <p:spPr>
          <a:xfrm>
            <a:off x="822960" y="2148840"/>
            <a:ext cx="3332378" cy="35661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149498" y="2423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F7E6BC"/>
          </a:solidFill>
          <a:ln/>
        </p:spPr>
      </p:sp>
      <p:sp>
        <p:nvSpPr>
          <p:cNvPr id="17" name="Text 15"/>
          <p:cNvSpPr/>
          <p:nvPr/>
        </p:nvSpPr>
        <p:spPr>
          <a:xfrm>
            <a:off x="3149498" y="2423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🪞</a:t>
            </a:r>
            <a:endParaRPr lang="ar-SA" sz="3000" dirty="0"/>
          </a:p>
        </p:txBody>
      </p:sp>
      <p:sp>
        <p:nvSpPr>
          <p:cNvPr id="18" name="Text 16"/>
          <p:cNvSpPr/>
          <p:nvPr/>
        </p:nvSpPr>
        <p:spPr>
          <a:xfrm>
            <a:off x="1097280" y="3291840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كن القدوة</a:t>
            </a:r>
            <a:endParaRPr lang="ar-SA" sz="2400" dirty="0"/>
          </a:p>
        </p:txBody>
      </p:sp>
      <p:sp>
        <p:nvSpPr>
          <p:cNvPr id="19" name="Text 17"/>
          <p:cNvSpPr/>
          <p:nvPr/>
        </p:nvSpPr>
        <p:spPr>
          <a:xfrm>
            <a:off x="1097280" y="3886200"/>
            <a:ext cx="278373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جوالك مقلوب على الطاولة، لا تردّ عليه أثناء الحصة</a:t>
            </a:r>
            <a:endParaRPr lang="ar-SA" sz="1900" dirty="0"/>
          </a:p>
        </p:txBody>
      </p:sp>
      <p:sp>
        <p:nvSpPr>
          <p:cNvPr id="20" name="Text 18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موقف: شاشة تحت الطاولة  ·  ٣٤</a:t>
            </a:r>
            <a:endParaRPr lang="ar-SA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52264" y="118872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852264" y="118872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خلاصة الموقف</a:t>
            </a:r>
            <a:endParaRPr lang="ar-SA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ar-SA" altLang="en-US" sz="46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في المواجهة العلنية يخسر الطرفان…</a:t>
            </a:r>
            <a:endParaRPr lang="ar-SA" sz="4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ar-SA" altLang="en-US" sz="46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 القاعدة تُطبَّق بهدوء، والكرامة تُحفظ دائمًا</a:t>
            </a:r>
            <a:endParaRPr lang="ar-SA" sz="4600" dirty="0"/>
          </a:p>
        </p:txBody>
      </p:sp>
      <p:sp>
        <p:nvSpPr>
          <p:cNvPr id="5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مواقف صفية</a:t>
            </a:r>
            <a:endParaRPr lang="ar-SA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موقف: شاشة تحت الطاولة  ·  ٣٥</a:t>
            </a:r>
            <a:endParaRPr lang="ar-SA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مواقف صفية</dc:title>
  <dc:subject>PptxGenJS Presentation</dc:subject>
  <dc:creator>أ. محمد زيتون</dc:creator>
  <cp:lastModifiedBy>أ. محمد زيتون</cp:lastModifiedBy>
  <cp:revision>1</cp:revision>
  <dcterms:created xsi:type="dcterms:W3CDTF">2026-09-27T04:27:25Z</dcterms:created>
  <dcterms:modified xsi:type="dcterms:W3CDTF">2026-09-27T04:27:25Z</dcterms:modified>
</cp:coreProperties>
</file>