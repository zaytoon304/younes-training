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slideMasters/slideMaster159.xml" ContentType="application/vnd.openxmlformats-officedocument.presentationml.slideMaster+xml"/>
  <Override PartName="/ppt/slides/slide159.xml" ContentType="application/vnd.openxmlformats-officedocument.presentationml.slide+xml"/>
  <Override PartName="/ppt/slideMasters/slideMaster160.xml" ContentType="application/vnd.openxmlformats-officedocument.presentationml.slideMaster+xml"/>
  <Override PartName="/ppt/slides/slide160.xml" ContentType="application/vnd.openxmlformats-officedocument.presentationml.slide+xml"/>
  <Override PartName="/ppt/slideMasters/slideMaster161.xml" ContentType="application/vnd.openxmlformats-officedocument.presentationml.slideMaster+xml"/>
  <Override PartName="/ppt/slides/slide161.xml" ContentType="application/vnd.openxmlformats-officedocument.presentationml.slide+xml"/>
  <Override PartName="/ppt/slideMasters/slideMaster162.xml" ContentType="application/vnd.openxmlformats-officedocument.presentationml.slideMaster+xml"/>
  <Override PartName="/ppt/slides/slide162.xml" ContentType="application/vnd.openxmlformats-officedocument.presentationml.slide+xml"/>
  <Override PartName="/ppt/slideMasters/slideMaster163.xml" ContentType="application/vnd.openxmlformats-officedocument.presentationml.slideMaster+xml"/>
  <Override PartName="/ppt/slides/slide163.xml" ContentType="application/vnd.openxmlformats-officedocument.presentationml.slide+xml"/>
  <Override PartName="/ppt/slideMasters/slideMaster164.xml" ContentType="application/vnd.openxmlformats-officedocument.presentationml.slideMaster+xml"/>
  <Override PartName="/ppt/slides/slide164.xml" ContentType="application/vnd.openxmlformats-officedocument.presentationml.slide+xml"/>
  <Override PartName="/ppt/slideMasters/slideMaster165.xml" ContentType="application/vnd.openxmlformats-officedocument.presentationml.slideMaster+xml"/>
  <Override PartName="/ppt/slides/slide165.xml" ContentType="application/vnd.openxmlformats-officedocument.presentationml.slide+xml"/>
  <Override PartName="/ppt/slideMasters/slideMaster166.xml" ContentType="application/vnd.openxmlformats-officedocument.presentationml.slideMaster+xml"/>
  <Override PartName="/ppt/slides/slide166.xml" ContentType="application/vnd.openxmlformats-officedocument.presentationml.slide+xml"/>
  <Override PartName="/ppt/slideMasters/slideMaster167.xml" ContentType="application/vnd.openxmlformats-officedocument.presentationml.slideMaster+xml"/>
  <Override PartName="/ppt/slides/slide167.xml" ContentType="application/vnd.openxmlformats-officedocument.presentationml.slide+xml"/>
  <Override PartName="/ppt/slideMasters/slideMaster168.xml" ContentType="application/vnd.openxmlformats-officedocument.presentationml.slideMaster+xml"/>
  <Override PartName="/ppt/slides/slide168.xml" ContentType="application/vnd.openxmlformats-officedocument.presentationml.slide+xml"/>
  <Override PartName="/ppt/slideMasters/slideMaster169.xml" ContentType="application/vnd.openxmlformats-officedocument.presentationml.slideMaster+xml"/>
  <Override PartName="/ppt/slides/slide169.xml" ContentType="application/vnd.openxmlformats-officedocument.presentationml.slide+xml"/>
  <Override PartName="/ppt/slideMasters/slideMaster170.xml" ContentType="application/vnd.openxmlformats-officedocument.presentationml.slideMaster+xml"/>
  <Override PartName="/ppt/slides/slide170.xml" ContentType="application/vnd.openxmlformats-officedocument.presentationml.slide+xml"/>
  <Override PartName="/ppt/slideMasters/slideMaster171.xml" ContentType="application/vnd.openxmlformats-officedocument.presentationml.slideMaster+xml"/>
  <Override PartName="/ppt/slides/slide171.xml" ContentType="application/vnd.openxmlformats-officedocument.presentationml.slide+xml"/>
  <Override PartName="/ppt/slideMasters/slideMaster172.xml" ContentType="application/vnd.openxmlformats-officedocument.presentationml.slideMaster+xml"/>
  <Override PartName="/ppt/slides/slide172.xml" ContentType="application/vnd.openxmlformats-officedocument.presentationml.slide+xml"/>
  <Override PartName="/ppt/slideMasters/slideMaster173.xml" ContentType="application/vnd.openxmlformats-officedocument.presentationml.slideMaster+xml"/>
  <Override PartName="/ppt/slides/slide173.xml" ContentType="application/vnd.openxmlformats-officedocument.presentationml.slide+xml"/>
  <Override PartName="/ppt/slideMasters/slideMaster174.xml" ContentType="application/vnd.openxmlformats-officedocument.presentationml.slideMaster+xml"/>
  <Override PartName="/ppt/slides/slide174.xml" ContentType="application/vnd.openxmlformats-officedocument.presentationml.slide+xml"/>
  <Override PartName="/ppt/slideMasters/slideMaster175.xml" ContentType="application/vnd.openxmlformats-officedocument.presentationml.slideMaster+xml"/>
  <Override PartName="/ppt/slides/slide175.xml" ContentType="application/vnd.openxmlformats-officedocument.presentationml.slide+xml"/>
  <Override PartName="/ppt/slideMasters/slideMaster176.xml" ContentType="application/vnd.openxmlformats-officedocument.presentationml.slideMaster+xml"/>
  <Override PartName="/ppt/slides/slide176.xml" ContentType="application/vnd.openxmlformats-officedocument.presentationml.slide+xml"/>
  <Override PartName="/ppt/slideMasters/slideMaster177.xml" ContentType="application/vnd.openxmlformats-officedocument.presentationml.slideMaster+xml"/>
  <Override PartName="/ppt/slides/slide177.xml" ContentType="application/vnd.openxmlformats-officedocument.presentationml.slide+xml"/>
  <Override PartName="/ppt/slideMasters/slideMaster178.xml" ContentType="application/vnd.openxmlformats-officedocument.presentationml.slideMaster+xml"/>
  <Override PartName="/ppt/slides/slide178.xml" ContentType="application/vnd.openxmlformats-officedocument.presentationml.slide+xml"/>
  <Override PartName="/ppt/slideMasters/slideMaster179.xml" ContentType="application/vnd.openxmlformats-officedocument.presentationml.slideMaster+xml"/>
  <Override PartName="/ppt/slides/slide179.xml" ContentType="application/vnd.openxmlformats-officedocument.presentationml.slide+xml"/>
  <Override PartName="/ppt/slideMasters/slideMaster180.xml" ContentType="application/vnd.openxmlformats-officedocument.presentationml.slideMaster+xml"/>
  <Override PartName="/ppt/slides/slide180.xml" ContentType="application/vnd.openxmlformats-officedocument.presentationml.slide+xml"/>
  <Override PartName="/ppt/slideMasters/slideMaster181.xml" ContentType="application/vnd.openxmlformats-officedocument.presentationml.slideMaster+xml"/>
  <Override PartName="/ppt/slides/slide181.xml" ContentType="application/vnd.openxmlformats-officedocument.presentationml.slide+xml"/>
  <Override PartName="/ppt/slideMasters/slideMaster182.xml" ContentType="application/vnd.openxmlformats-officedocument.presentationml.slideMaster+xml"/>
  <Override PartName="/ppt/slides/slide182.xml" ContentType="application/vnd.openxmlformats-officedocument.presentationml.slide+xml"/>
  <Override PartName="/ppt/slideMasters/slideMaster183.xml" ContentType="application/vnd.openxmlformats-officedocument.presentationml.slideMaster+xml"/>
  <Override PartName="/ppt/slides/slide183.xml" ContentType="application/vnd.openxmlformats-officedocument.presentationml.slide+xml"/>
  <Override PartName="/ppt/slideMasters/slideMaster184.xml" ContentType="application/vnd.openxmlformats-officedocument.presentationml.slideMaster+xml"/>
  <Override PartName="/ppt/slides/slide184.xml" ContentType="application/vnd.openxmlformats-officedocument.presentationml.slide+xml"/>
  <Override PartName="/ppt/slideMasters/slideMaster185.xml" ContentType="application/vnd.openxmlformats-officedocument.presentationml.slideMaster+xml"/>
  <Override PartName="/ppt/slides/slide185.xml" ContentType="application/vnd.openxmlformats-officedocument.presentationml.slide+xml"/>
  <Override PartName="/ppt/slideMasters/slideMaster186.xml" ContentType="application/vnd.openxmlformats-officedocument.presentationml.slideMaster+xml"/>
  <Override PartName="/ppt/slides/slide186.xml" ContentType="application/vnd.openxmlformats-officedocument.presentationml.slide+xml"/>
  <Override PartName="/ppt/slideMasters/slideMaster187.xml" ContentType="application/vnd.openxmlformats-officedocument.presentationml.slideMaster+xml"/>
  <Override PartName="/ppt/slides/slide187.xml" ContentType="application/vnd.openxmlformats-officedocument.presentationml.slide+xml"/>
  <Override PartName="/ppt/slideMasters/slideMaster188.xml" ContentType="application/vnd.openxmlformats-officedocument.presentationml.slideMaster+xml"/>
  <Override PartName="/ppt/slides/slide188.xml" ContentType="application/vnd.openxmlformats-officedocument.presentationml.slide+xml"/>
  <Override PartName="/ppt/slideMasters/slideMaster189.xml" ContentType="application/vnd.openxmlformats-officedocument.presentationml.slideMaster+xml"/>
  <Override PartName="/ppt/slides/slide189.xml" ContentType="application/vnd.openxmlformats-officedocument.presentationml.slide+xml"/>
  <Override PartName="/ppt/slideMasters/slideMaster190.xml" ContentType="application/vnd.openxmlformats-officedocument.presentationml.slideMaster+xml"/>
  <Override PartName="/ppt/slides/slide190.xml" ContentType="application/vnd.openxmlformats-officedocument.presentationml.slide+xml"/>
  <Override PartName="/ppt/slideMasters/slideMaster191.xml" ContentType="application/vnd.openxmlformats-officedocument.presentationml.slideMaster+xml"/>
  <Override PartName="/ppt/slides/slide191.xml" ContentType="application/vnd.openxmlformats-officedocument.presentationml.slide+xml"/>
  <Override PartName="/ppt/slideMasters/slideMaster192.xml" ContentType="application/vnd.openxmlformats-officedocument.presentationml.slideMaster+xml"/>
  <Override PartName="/ppt/slides/slide192.xml" ContentType="application/vnd.openxmlformats-officedocument.presentationml.slide+xml"/>
  <Override PartName="/ppt/slideMasters/slideMaster193.xml" ContentType="application/vnd.openxmlformats-officedocument.presentationml.slideMaster+xml"/>
  <Override PartName="/ppt/slides/slide193.xml" ContentType="application/vnd.openxmlformats-officedocument.presentationml.slide+xml"/>
  <Override PartName="/ppt/slideMasters/slideMaster194.xml" ContentType="application/vnd.openxmlformats-officedocument.presentationml.slideMaster+xml"/>
  <Override PartName="/ppt/slides/slide194.xml" ContentType="application/vnd.openxmlformats-officedocument.presentationml.slide+xml"/>
  <Override PartName="/ppt/slideMasters/slideMaster195.xml" ContentType="application/vnd.openxmlformats-officedocument.presentationml.slideMaster+xml"/>
  <Override PartName="/ppt/slides/slide195.xml" ContentType="application/vnd.openxmlformats-officedocument.presentationml.slide+xml"/>
  <Override PartName="/ppt/slideMasters/slideMaster196.xml" ContentType="application/vnd.openxmlformats-officedocument.presentationml.slideMaster+xml"/>
  <Override PartName="/ppt/slides/slide196.xml" ContentType="application/vnd.openxmlformats-officedocument.presentationml.slide+xml"/>
  <Override PartName="/ppt/slideMasters/slideMaster197.xml" ContentType="application/vnd.openxmlformats-officedocument.presentationml.slideMaster+xml"/>
  <Override PartName="/ppt/slides/slide197.xml" ContentType="application/vnd.openxmlformats-officedocument.presentationml.slide+xml"/>
  <Override PartName="/ppt/slideMasters/slideMaster198.xml" ContentType="application/vnd.openxmlformats-officedocument.presentationml.slideMaster+xml"/>
  <Override PartName="/ppt/slides/slide198.xml" ContentType="application/vnd.openxmlformats-officedocument.presentationml.slide+xml"/>
  <Override PartName="/ppt/slideMasters/slideMaster199.xml" ContentType="application/vnd.openxmlformats-officedocument.presentationml.slideMaster+xml"/>
  <Override PartName="/ppt/slides/slide199.xml" ContentType="application/vnd.openxmlformats-officedocument.presentationml.slide+xml"/>
  <Override PartName="/ppt/slideMasters/slideMaster200.xml" ContentType="application/vnd.openxmlformats-officedocument.presentationml.slideMaster+xml"/>
  <Override PartName="/ppt/slides/slide200.xml" ContentType="application/vnd.openxmlformats-officedocument.presentationml.slide+xml"/>
  <Override PartName="/ppt/slideMasters/slideMaster201.xml" ContentType="application/vnd.openxmlformats-officedocument.presentationml.slideMaster+xml"/>
  <Override PartName="/ppt/slides/slide201.xml" ContentType="application/vnd.openxmlformats-officedocument.presentationml.slide+xml"/>
  <Override PartName="/ppt/slideMasters/slideMaster202.xml" ContentType="application/vnd.openxmlformats-officedocument.presentationml.slideMaster+xml"/>
  <Override PartName="/ppt/slides/slide202.xml" ContentType="application/vnd.openxmlformats-officedocument.presentationml.slide+xml"/>
  <Override PartName="/ppt/slideMasters/slideMaster203.xml" ContentType="application/vnd.openxmlformats-officedocument.presentationml.slideMaster+xml"/>
  <Override PartName="/ppt/slides/slide203.xml" ContentType="application/vnd.openxmlformats-officedocument.presentationml.slide+xml"/>
  <Override PartName="/ppt/slideMasters/slideMaster204.xml" ContentType="application/vnd.openxmlformats-officedocument.presentationml.slideMaster+xml"/>
  <Override PartName="/ppt/slides/slide204.xml" ContentType="application/vnd.openxmlformats-officedocument.presentationml.slide+xml"/>
  <Override PartName="/ppt/slideMasters/slideMaster205.xml" ContentType="application/vnd.openxmlformats-officedocument.presentationml.slideMaster+xml"/>
  <Override PartName="/ppt/slides/slide205.xml" ContentType="application/vnd.openxmlformats-officedocument.presentationml.slide+xml"/>
  <Override PartName="/ppt/slideMasters/slideMaster206.xml" ContentType="application/vnd.openxmlformats-officedocument.presentationml.slideMaster+xml"/>
  <Override PartName="/ppt/slides/slide206.xml" ContentType="application/vnd.openxmlformats-officedocument.presentationml.slide+xml"/>
  <Override PartName="/ppt/slideMasters/slideMaster207.xml" ContentType="application/vnd.openxmlformats-officedocument.presentationml.slideMaster+xml"/>
  <Override PartName="/ppt/slides/slide207.xml" ContentType="application/vnd.openxmlformats-officedocument.presentationml.slide+xml"/>
  <Override PartName="/ppt/slideMasters/slideMaster208.xml" ContentType="application/vnd.openxmlformats-officedocument.presentationml.slideMaster+xml"/>
  <Override PartName="/ppt/slides/slide208.xml" ContentType="application/vnd.openxmlformats-officedocument.presentationml.slide+xml"/>
  <Override PartName="/ppt/slideMasters/slideMaster209.xml" ContentType="application/vnd.openxmlformats-officedocument.presentationml.slideMaster+xml"/>
  <Override PartName="/ppt/slides/slide209.xml" ContentType="application/vnd.openxmlformats-officedocument.presentationml.slide+xml"/>
  <Override PartName="/ppt/slideMasters/slideMaster210.xml" ContentType="application/vnd.openxmlformats-officedocument.presentationml.slideMaster+xml"/>
  <Override PartName="/ppt/slides/slide210.xml" ContentType="application/vnd.openxmlformats-officedocument.presentationml.slide+xml"/>
  <Override PartName="/ppt/slideMasters/slideMaster211.xml" ContentType="application/vnd.openxmlformats-officedocument.presentationml.slideMaster+xml"/>
  <Override PartName="/ppt/slides/slide211.xml" ContentType="application/vnd.openxmlformats-officedocument.presentationml.slide+xml"/>
  <Override PartName="/ppt/slideMasters/slideMaster212.xml" ContentType="application/vnd.openxmlformats-officedocument.presentationml.slideMaster+xml"/>
  <Override PartName="/ppt/slides/slide212.xml" ContentType="application/vnd.openxmlformats-officedocument.presentationml.slide+xml"/>
  <Override PartName="/ppt/slideMasters/slideMaster213.xml" ContentType="application/vnd.openxmlformats-officedocument.presentationml.slideMaster+xml"/>
  <Override PartName="/ppt/slides/slide213.xml" ContentType="application/vnd.openxmlformats-officedocument.presentationml.slide+xml"/>
  <Override PartName="/ppt/slideMasters/slideMaster214.xml" ContentType="application/vnd.openxmlformats-officedocument.presentationml.slideMaster+xml"/>
  <Override PartName="/ppt/slides/slide214.xml" ContentType="application/vnd.openxmlformats-officedocument.presentationml.slide+xml"/>
  <Override PartName="/ppt/slideMasters/slideMaster215.xml" ContentType="application/vnd.openxmlformats-officedocument.presentationml.slideMaster+xml"/>
  <Override PartName="/ppt/slides/slide215.xml" ContentType="application/vnd.openxmlformats-officedocument.presentationml.slide+xml"/>
  <Override PartName="/ppt/slideMasters/slideMaster216.xml" ContentType="application/vnd.openxmlformats-officedocument.presentationml.slideMaster+xml"/>
  <Override PartName="/ppt/slides/slide216.xml" ContentType="application/vnd.openxmlformats-officedocument.presentationml.slide+xml"/>
  <Override PartName="/ppt/slideMasters/slideMaster217.xml" ContentType="application/vnd.openxmlformats-officedocument.presentationml.slideMaster+xml"/>
  <Override PartName="/ppt/slides/slide217.xml" ContentType="application/vnd.openxmlformats-officedocument.presentationml.slide+xml"/>
  <Override PartName="/ppt/slideMasters/slideMaster218.xml" ContentType="application/vnd.openxmlformats-officedocument.presentationml.slideMaster+xml"/>
  <Override PartName="/ppt/slides/slide218.xml" ContentType="application/vnd.openxmlformats-officedocument.presentationml.slide+xml"/>
  <Override PartName="/ppt/slideMasters/slideMaster219.xml" ContentType="application/vnd.openxmlformats-officedocument.presentationml.slideMaster+xml"/>
  <Override PartName="/ppt/slides/slide2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Lst>
  <p:notesMasterIdLst>
    <p:notesMasterId r:id="rId2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notesMaster" Target="notesMasters/notesMaster1.xml"/><Relationship Id="rId222" Type="http://schemas.openxmlformats.org/officeDocument/2006/relationships/presProps" Target="presProps.xml"/><Relationship Id="rId223" Type="http://schemas.openxmlformats.org/officeDocument/2006/relationships/viewProps" Target="viewProps.xml"/><Relationship Id="rId224" Type="http://schemas.openxmlformats.org/officeDocument/2006/relationships/theme" Target="theme/theme1.xml"/><Relationship Id="rId2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_rels/notesSlide1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4.xml"/>
		</Relationships>
</file>

<file path=ppt/notesSlides/_rels/notesSlide1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5.xml"/>
		</Relationships>
</file>

<file path=ppt/notesSlides/_rels/notesSlide1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6.xml"/>
		</Relationships>
</file>

<file path=ppt/notesSlides/_rels/notesSlide1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7.xml"/>
		</Relationships>
</file>

<file path=ppt/notesSlides/_rels/notesSlide1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8.xml"/>
		</Relationships>
</file>

<file path=ppt/notesSlides/_rels/notesSlide1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9.xml"/>
		</Relationships>
</file>

<file path=ppt/notesSlides/_rels/notesSlide1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0.xml"/>
		</Relationships>
</file>

<file path=ppt/notesSlides/_rels/notesSlide1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1.xml"/>
		</Relationships>
</file>

<file path=ppt/notesSlides/_rels/notesSlide1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2.xml"/>
		</Relationships>
</file>

<file path=ppt/notesSlides/_rels/notesSlide1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3.xml"/>
		</Relationships>
</file>

<file path=ppt/notesSlides/_rels/notesSlide1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4.xml"/>
		</Relationships>
</file>

<file path=ppt/notesSlides/_rels/notesSlide1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5.xml"/>
		</Relationships>
</file>

<file path=ppt/notesSlides/_rels/notesSlide1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6.xml"/>
		</Relationships>
</file>

<file path=ppt/notesSlides/_rels/notesSlide1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7.xml"/>
		</Relationships>
</file>

<file path=ppt/notesSlides/_rels/notesSlide1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8.xml"/>
		</Relationships>
</file>

<file path=ppt/notesSlides/_rels/notesSlide1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9.xml"/>
		</Relationships>
</file>

<file path=ppt/notesSlides/_rels/notesSlide1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0.xml"/>
		</Relationships>
</file>

<file path=ppt/notesSlides/_rels/notesSlide1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1.xml"/>
		</Relationships>
</file>

<file path=ppt/notesSlides/_rels/notesSlide1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2.xml"/>
		</Relationships>
</file>

<file path=ppt/notesSlides/_rels/notesSlide1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3.xml"/>
		</Relationships>
</file>

<file path=ppt/notesSlides/_rels/notesSlide1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4.xml"/>
		</Relationships>
</file>

<file path=ppt/notesSlides/_rels/notesSlide1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5.xml"/>
		</Relationships>
</file>

<file path=ppt/notesSlides/_rels/notesSlide1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6.xml"/>
		</Relationships>
</file>

<file path=ppt/notesSlides/_rels/notesSlide1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7.xml"/>
		</Relationships>
</file>

<file path=ppt/notesSlides/_rels/notesSlide1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8.xml"/>
		</Relationships>
</file>

<file path=ppt/notesSlides/_rels/notesSlide1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9.xml"/>
		</Relationships>
</file>

<file path=ppt/notesSlides/_rels/notesSlide1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0.xml"/>
		</Relationships>
</file>

<file path=ppt/notesSlides/_rels/notesSlide1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1.xml"/>
		</Relationships>
</file>

<file path=ppt/notesSlides/_rels/notesSlide1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2.xml"/>
		</Relationships>
</file>

<file path=ppt/notesSlides/_rels/notesSlide1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3.xml"/>
		</Relationships>
</file>

<file path=ppt/notesSlides/_rels/notesSlide1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4.xml"/>
		</Relationships>
</file>

<file path=ppt/notesSlides/_rels/notesSlide1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5.xml"/>
		</Relationships>
</file>

<file path=ppt/notesSlides/_rels/notesSlide1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6.xml"/>
		</Relationships>
</file>

<file path=ppt/notesSlides/_rels/notesSlide1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7.xml"/>
		</Relationships>
</file>

<file path=ppt/notesSlides/_rels/notesSlide1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8.xml"/>
		</Relationships>
</file>

<file path=ppt/notesSlides/_rels/notesSlide1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9.xml"/>
		</Relationships>
</file>

<file path=ppt/notesSlides/_rels/notesSlide2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0.xml"/>
		</Relationships>
</file>

<file path=ppt/notesSlides/_rels/notesSlide2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1.xml"/>
		</Relationships>
</file>

<file path=ppt/notesSlides/_rels/notesSlide2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2.xml"/>
		</Relationships>
</file>

<file path=ppt/notesSlides/_rels/notesSlide2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3.xml"/>
		</Relationships>
</file>

<file path=ppt/notesSlides/_rels/notesSlide2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4.xml"/>
		</Relationships>
</file>

<file path=ppt/notesSlides/_rels/notesSlide2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5.xml"/>
		</Relationships>
</file>

<file path=ppt/notesSlides/_rels/notesSlide2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6.xml"/>
		</Relationships>
</file>

<file path=ppt/notesSlides/_rels/notesSlide2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7.xml"/>
		</Relationships>
</file>

<file path=ppt/notesSlides/_rels/notesSlide2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8.xml"/>
		</Relationships>
</file>

<file path=ppt/notesSlides/_rels/notesSlide2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9.xml"/>
		</Relationships>
</file>

<file path=ppt/notesSlides/_rels/notesSlide2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0.xml"/>
		</Relationships>
</file>

<file path=ppt/notesSlides/_rels/notesSlide2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1.xml"/>
		</Relationships>
</file>

<file path=ppt/notesSlides/_rels/notesSlide2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2.xml"/>
		</Relationships>
</file>

<file path=ppt/notesSlides/_rels/notesSlide2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3.xml"/>
		</Relationships>
</file>

<file path=ppt/notesSlides/_rels/notesSlide2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4.xml"/>
		</Relationships>
</file>

<file path=ppt/notesSlides/_rels/notesSlide2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5.xml"/>
		</Relationships>
</file>

<file path=ppt/notesSlides/_rels/notesSlide2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6.xml"/>
		</Relationships>
</file>

<file path=ppt/notesSlides/_rels/notesSlide2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7.xml"/>
		</Relationships>
</file>

<file path=ppt/notesSlides/_rels/notesSlide2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8.xml"/>
		</Relationships>
</file>

<file path=ppt/notesSlides/_rels/notesSlide2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رحّب بالحضور بأسمائهم إن أمكن. لا تبدأ بالتعريف بنفسك مباشرة؛ اترك الشريحة ثوانيَ حتى يهدأ الجميع، ثم قل: «كلّنا مرّ بموقف صفي خرجنا منه نقول: ليتني تصرّفت بطريقة أخرى… هذه الدورة عن تلك اللحظة».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عرّف بنفسك في أقل من دقيقة. الأهم: «أنا زميل مرّ بكل موقف ستسمعونه اليوم، ولست محاضرًا يتكلم من الكتب».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اسأل: «من منكم حضر دورة في إدارة الصف وخرج منها بكلام جميل لم يستطع تطبيقه؟» — ستُرفع أيدٍ كثيرة. قل: «اليوم مختلف: كل موقف سنخرج منه بالجملة التي تقولها، والخطوة التي تفعلها».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الجميع مسح الباركود وتقييم أنفسهم بصدق (دقيقتان). النتيجة الجماعية تظهر هنا مباشرة، وسنقارنها بتقييم نهاية الدورة. التقييم سري لا يحمل اسمًا.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المحطة ليست وعظًا منفصلًا عن الدورة؛ هي أساسها. المعلم الذي يرى طالبه أمانة يدعو له، يتعامل معه بطريقة مختلفة تمامًا عن المعلم الذي يراه «مشكلة».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اقرأ الحديث بهدوء، ثم اسأل: «بماذا نويت حين خرجت من بيتك صباح اليوم إلى المدرسة؟». دع السؤال معلّقًا ثواني.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علّق: «حين يضايقك طالب في الحصة الأخيرة وأنت متعب… تذكّر أن الحوت في البحر يدعو لك الآن». هذه الجملة تغيّر المزاج في القاعة.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اقترح عليهم عادة بسيطة: قبل أن تفتح باب الفصل، توقف ثلاث ثوانٍ وجدّد نية واحدة من الثلاث.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ابن عباس كان صبيًا صغيرًا. لاحظ: ضمّه (قرب جسدي آمن)، ثم دعا له بصوت يسمعه. فصار ابن عباس «ترجمان القرآن». دعوة واحدة سمعها صبي… صنعت عالمًا.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كل متدرب أن يقول إحدى الجمل لزميله بجانبه بصوت مسموع. سيضحكون قليلًا ثم يشعرون بأثرها فعلًا.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علّق: «حين تدعو لطلابك بالصلاح والتوفيق في غيابهم… يقول الملَك: ولك بمثل. فدعاؤك لأبناء الناس يعود دعاءً لأبنائك أنت».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أعطهم دقيقتين كاملتين بصمت. ثم قل: «ستلاحظون خلال أيام أنكم أنتم من تغيّر أولًا: صبركم، نظرتكم، نبرة صوتكم معهم… وهذا هو نصف حل المشكلة».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الآية قاعدة إدارة صفية كاملة: الغلظة لا تصنع انضباطًا، بل تصنع انفضاضًا؛ قد يبقى الطلاب في مقاعدهم، لكن قلوبهم تنفضّ عنك.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اربط بالفصل: كم مرة أوقفنا الدرس كله لنعالج خطأ طالب أمام الجميع؟ النبي ﷺ أجّل التصحيح إلى اللحظة المناسبة، ثم قال القاعدة: «إن هذه الصلاة لا يصلح فيها شيء من كلام الناس…». لا توبيخ، لا محاضرة… جملة واحدة.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السؤال للقاعة: «ماذا لو قام الصحابة وطاردوا الرجل؟» — لانتشرت النجاسة في المسجد كله، ولخرج الرجل كارهًا للإسلام. الدرس: ردّة فعلك قد تصنع مشكلة أكبر من الخطأ نفسه.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اختم المحطة: «هذا هو هدفنا: أن نخرج من هنا معلمين ميسّرين، لا متعنّتين. والآن ننتقل من القلب… إلى الأدوات».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انتقال سريع إلى الجزء التفاعلي الأول.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أعطِ المجموعات ثلاث دقائق. اكشف الحل. ثم اسأل: «ما علاقة القصة بالفصل؟» الإجابة التي نريدها: صاحب الحصان لم يفكر في خسارته الآنية، بل في أثر الموقف على الآخرين. وكذلك المعلم: كل موقف يعالجه أمام ٣٠ طالبًا هو درس يتعلمه الجميع عن العدل والرحمة، وليس الطالب المخطئ وحده.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جملة مفتاحية للدورة. اطلب منهم كتابتها.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رفع الأيدي لكل خيار وسجّل العدد تقريبًا. لا تكشف الإجابة؛ الشريحة التالية تكشفها بالأرقام.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اشرح الرقم ببساطة: طالب ترتيبه ٥٠ من كل ١٠٠ طالب. مع معلم ضعيف في مدرسة ضعيفة ينزل إلى المركز ٣. والمفاجأة: المعلم الفعّال في مدرسة ضعيفة يرفعه إلى ٦٣، أي أكثر من المدرسة الفعّالة مع معلم ضعيف (٣٧). ملاحظة للمدرب: في النسخة القديمة كُتب الرقم ٢٪ ونُسب لـ«وونغ»؛ والأصح أنه ترتيب مئيني من أبحاث مارزانو، ونقله عنه هاري وونغ.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يعني أن مسؤولية الفصل وسلطته في يد المعلم، لا الوكيل ولا المرشد. وهذا ما سنتدرب عليه.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 على المحطات بسرعة. نبّههم إلى أن كل موقف في الدورة سيسير بالترتيب نفسه: القصة، ثم التصويت، ثم السبب، ثم الحل خطوة بخطوة.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الجدول مرن: يمكن تقسيم الدورة على أربع أمسيات بدل يومين. ولكل موقف قرابة ٢٥ دقيقة.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قل: «قبل الأدوات، نحتاج أن ننظف الطريق من أفكار نحملها منذ سنوات». اطلب من كل مجموعة ورقة يكتبون عليها «صح» أو «خطأ» لكل عبارة قبل كشفها.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اقرأ العبارة، واطلب من المجموعات رفع بطاقة «صح» أو «خطأ». ثم اكشف الختم والتصحيح. اسأل: «من منكم سمع هذه العبارة في غرفة المعلمين؟»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اقرأ العبارة، واطلب من المجموعات رفع بطاقة «صح» أو «خطأ». ثم اكشف الختم والتصحيح. اسأل: «من منكم سمع هذه العبارة في غرفة المعلمين؟»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اقرأ العبارة، واطلب من المجموعات رفع بطاقة «صح» أو «خطأ». ثم اكشف الختم والتصحيح. اسأل: «من منكم سمع هذه العبارة في غرفة المعلمين؟»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اقرأ العبارة، واطلب من المجموعات رفع بطاقة «صح» أو «خطأ». ثم اكشف الختم والتصحيح. اسأل: «من منكم سمع هذه العبارة في غرفة المعلمين؟»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اقرأ العبارة، واطلب من المجموعات رفع بطاقة «صح» أو «خطأ». ثم اكشف الختم والتصحيح. اسأل: «من منكم سمع هذه العبارة في غرفة المعلمين؟»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اقرأ العبارة، واطلب من المجموعات رفع بطاقة «صح» أو «خطأ». ثم اكشف الختم والتصحيح. اسأل: «من منكم سمع هذه العبارة في غرفة المعلمين؟»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اقرأ العبارة، واطلب من المجموعات رفع بطاقة «صح» أو «خطأ». ثم اكشف الختم والتصحيح. اسأل: «من منكم سمع هذه العبارة في غرفة المعلمين؟»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علّق ضاحكًا: «إن حصلت مجموعتكم على سبعة من سبعة… فأنتم جاهزون لصندوق الأدوات».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المحطة هي «المفاتيح»، وكل المواقف القادمة ستستخدمها. قل: «سنتعلم الأدوات الآن، ثم نجربها على ١٧ موقفًا حقيقيًا».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ابدأ بالهدفين الأكثر شيوعًا في الفصول: لفت الانتباه وإثبات القوة. الفكرة الذهبية: «شعورك أنت دليل».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التصنيف للطبيب النفسي رودولف دريكرس، وهو أصل جدول الأسباب القديم في الدورة. الفكرة الذهبية: «شعورك أنت دليل». إن شعرت بالانزعاج فالطالب غالبًا يطلب الانتباه، وإن شعرت بالغضب والتحدي فهو يطلب القوة. اكشف الصفوف واحدًا واحدًا، واطلب من المتدربين مثالًا من فصولهم لكل صف.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منهم تذكر آخر طالب أغضبهم فعلًا: هل كان يبحث عن القوة؟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السلّم من كتاب «علّم كالبطل» (Teach Like a Champion) لدوغ ليموف. الفكرة: كل خطوة لا توقف الدرس تقريبًا. معظم المشكلات تنتهي في الدرجات الثلاث الأولى، بشرط أن تبدأ مبكرًا قبل التصعيد.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التعليمة الفعّالة: محددة، وقابلة للملاحظة، وقصيرة. «انتبه» لا يعرف الطالب كيف ينفذها، أما «القلم على الطاولة» فواضحة تمامًا. اطلب من كل مجموعة تحويل ثلاث عبارات يقولونها يوميًا إلى عبارات «ماذا تريد».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مثّل الفرق: أعطِ تعليمة وأنت تمشي وتقلب الأوراق، ثم أعطها وأنت واقف ثابت تنظر إليهم. اسألهم: أيهما شعرتم أنها جادة؟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أهم ما في الحوار الخاص أنه خاص: لا جمهور، فلا حاجة للطالب إلى الدفاع عن كرامته. ولا تحوّله إلى محاضرة؛ الطالب يتكلم أكثر منك.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الممارسات الترميمية (Restorative Practices) تنقل السؤال من «ما العقاب المناسب؟» إلى «كيف نصلح الضرر؟». الطالب الذي يصلح ما أفسد يتعلم أكثر بكثير من الطالب الذي يُعاقَب فقط.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برامج «دعم السلوك الإيجابي» (PBIS) توصي بنسبة أربع ملاحظات إيجابية على الأقل لكل ملاحظة تصحيحية. تحدٍّ للمتدربين: عدّوا ملاحظاتكم غدًا في حصة واحدة.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انتقل إلى المواقف: «الآن نجرّب الأدوات على مواقف حقيقية، ونبدأ بأنماط القيادة».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اسأل قبل البدء: «من يتذكر معلمًا كان الطلاب يخافونه؟ ومعلمًا كان الفصل عنده فوضى؟ ومعلمًا كنتم تحترمونه وتحبونه معًا؟»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اكشف الخلايا واحدة واحدة، واترك «الحازم الدافئ» للنهاية. الفكرة من أبحاث أساليب التربية (ديانا بومرند) مطبّقة على الفصل. أكّد: المعلم الحكيم قد يميل مؤقتًا لنمط حسب الموقف، مثل «كتاب الطهي» لكل وصفة مقاديرها، لكن قاعدته الثابتة هي الحزم الدافئ.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متطوعين قول كل جملة بالنبرة المناسبة. الجملة الأخيرة تجمع الدفء والحزم في نفَس واحد، ودرّبهم على قولها.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لا تطلب منهم إعلان النتيجة؛ هذا تأمل شخصي. من يريد المشاركة فليتطوع.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المعلم قائد الفصل، لكن فاعليته تتضاعف حين يشرك الطلاب. أكّد على التدوير الشهري؛ سيمهّد لموقف «لماذا تتجاهلون ابني؟» في محطة الأسرة.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اعرض الصورة واسأل: «ماذا تتوقعون أن يحدث هنا؟» — دقيقة واحدة فقط لتشويق القاعة قبل القصة.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اقرأ القصة بنبرة تمثيلية، فقرة فقرة مع كل نقرة، وتوقف عند الجملة الأخيرة ثوانيَ قبل الانتقال.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المتدربين مسح الباركود والتصويت بجوالاتهم (أو رفع الأيدي)، ثم اكشف الإجابة ومعها سبب كل خيار.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اسأل القاعة أولًا: «ما الأسباب المحتملة؟»، ثم اكشف البطاقات واحدة واحدة وقارن بإجاباتهم.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مثّل الخطوات أمامهم فعليًا إن أمكن؛ التمثيل هنا أقوى من أي شرح.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متدربَين تمثيل الحوار: أحدهما المعلم والآخر الطالب. ثم اسأل «الطالب»: كيف شعرت؟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في كل مجموعة: متدرب يمثل المعلم، وآخر الطرف الآخر، والبقية ملاحظون. خمس دقائق للتمثيل، ثم دقيقتان للملاحظين. بعدها بدّلوا الأدوار.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اعرض الخطأ أولًا، واطلب من القاعة اقتراح البديل قبل كشفه، ثم اكشفه بنقرة.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الحلول لا تنجح دائمًا من المرة الأولى. اعرض كل عقبة، واطلب من المجموعات اقتراح الخطة البديلة قبل كشفها.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كل متدرب أن يكتب جملة واحدة سيقولها غدًا لو واجه الموقف نفسه.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اعرض الصورة واسأل: «ماذا تتوقعون أن يحدث هنا؟» — دقيقة واحدة فقط لتشويق القاعة قبل القصة.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اقرأ القصة بنبرة تمثيلية، فقرة فقرة مع كل نقرة، وتوقف عند الجملة الأخيرة ثوانيَ قبل الانتقال.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كل مجموعة اختيار تصرف واحد والدفاع عنه دقيقة، ثم اضغط اختيارهم ليروا نتيجته. اكشف بقية النتائج بزر «التالي».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اسأل القاعة أولًا: «ما الأسباب المحتملة؟»، ثم اكشف البطاقات واحدة واحدة وقارن بإجاباتهم.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مثّل الخطوات أمامهم فعليًا إن أمكن؛ التمثيل هنا أقوى من أي شرح.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متدربَين تمثيل الحوار: أحدهما المعلم والآخر الطالب. ثم اسأل «الطالب»: كيف شعرت؟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اعرض الخطأ أولًا، واطلب من القاعة اقتراح البديل قبل كشفه، ثم اكشفه بنقرة.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الحلول لا تنجح دائمًا من المرة الأولى. اعرض كل عقبة، واطلب من المجموعات اقتراح الخطة البديلة قبل كشفها.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كل متدرب أن يكتب جملة واحدة سيقولها غدًا لو واجه الموقف نفسه.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اعرض الصورة واسأل: «ماذا تتوقعون أن يحدث هنا؟» — دقيقة واحدة فقط لتشويق القاعة قبل القصة.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اقرأ القصة بنبرة تمثيلية، فقرة فقرة مع كل نقرة، وتوقف عند الجملة الأخيرة ثوانيَ قبل الانتقال.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المتدربين مسح الباركود والتصويت بجوالاتهم (أو رفع الأيدي)، ثم اكشف الإجابة ومعها سبب كل خيار.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اسأل القاعة أولًا: «ما الأسباب المحتملة؟»، ثم اكشف البطاقات واحدة واحدة وقارن بإجاباتهم.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مثّل الخطوات أمامهم فعليًا إن أمكن؛ التمثيل هنا أقوى من أي شرح.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متدربَين تمثيل الحوار: أحدهما المعلم والآخر الطالب. ثم اسأل «الطالب»: كيف شعرت؟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اعرض الخطأ أولًا، واطلب من القاعة اقتراح البديل قبل كشفه، ثم اكشفه بنقرة.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كل متدرب أن يكتب جملة واحدة سيقولها غدًا لو واجه الموقف نفسه.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ابدأ بسؤال: «٣٠ شخصًا في غرفة مغلقة ست ساعات يوميًا… ماذا يحدث لو لم تكن هناك قواعد؟»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غياب القواعد يعني: المسموح غامض، والعواقب مجهولة إلا في ذهن المعلم، وربما متناقضة من حالة إلى أخرى. وهذا يُدخل المعلم في دوائر الجدال وفقدان المصداقية مع الطلاب وأوليائهم.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أمثلة لقواعد المرحلة الابتدائية: ساعد الآخرين، احترم ملكية غيرك، استأذن قبل الكلام. وللمتوسطة والثانوية: أحضر أدواتك، كن في مكانك قبل بدء الحصة، احترم الآخرين قولًا وفعلًا.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القاعدة تحدد السلوك المتوقع (احترم الآخرين)، والإجراء يحدد «كيف» ننفذ شيئًا (كيف ندخل، كيف نوزع الأوراق). معظم الفوضى تأتي من إجراءات لم تُعلَّم، لا من قواعد مكسورة. مثّل تدريب إجراء «الدخول إلى الفصل» مع المتدربين.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كل مجموعة اختيار مجال واحد وكتابة الإجراء الخاص به في خمس خطوات، ثم تعرضه في دقيقة.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اعرض الصورة واسأل: «ماذا تتوقعون أن يحدث هنا؟» — دقيقة واحدة فقط لتشويق القاعة قبل القصة.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اقرأ القصة بنبرة تمثيلية، فقرة فقرة مع كل نقرة، وتوقف عند الجملة الأخيرة ثوانيَ قبل الانتقال.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المتدربين مسح الباركود والتصويت بجوالاتهم (أو رفع الأيدي)، ثم اكشف الإجابة ومعها سبب كل خيار.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اسأل القاعة أولًا: «ما الأسباب المحتملة؟»، ثم اكشف البطاقات واحدة واحدة وقارن بإجاباتهم.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مثّل الخطوات أمامهم فعليًا إن أمكن؛ التمثيل هنا أقوى من أي شرح.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متدربَين تمثيل الحوار: أحدهما المعلم والآخر الطالب. ثم اسأل «الطالب»: كيف شعرت؟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اعرض الخطأ أولًا، واطلب من القاعة اقتراح البديل قبل كشفه، ثم اكشفه بنقرة.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جواب السؤال الأصلي في الكراسة: «هل من الحكمة قبول اعتذاره؟». الفاعلية المتوقعة عالية لأن المشكلة في البداية لا في قدرته العلمية.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كل متدرب أن يكتب جملة واحدة سيقولها غدًا لو واجه الموقف نفسه.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اعرض الصورة واسأل: «ماذا تتوقعون أن يحدث هنا؟» — دقيقة واحدة فقط لتشويق القاعة قبل القصة.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اقرأ القصة بنبرة تمثيلية، فقرة فقرة مع كل نقرة، وتوقف عند الجملة الأخيرة ثوانيَ قبل الانتقال.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المتدربين مسح الباركود والتصويت بجوالاتهم (أو رفع الأيدي)، ثم اكشف الإجابة ومعها سبب كل خيار.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اسأل القاعة أولًا: «ما الأسباب المحتملة؟»، ثم اكشف البطاقات واحدة واحدة وقارن بإجاباتهم.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مثّل الخطوات أمامهم فعليًا إن أمكن؛ التمثيل هنا أقوى من أي شرح.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متدربَين تمثيل الحوار: أحدهما المعلم والآخر الطالب. ثم اسأل «الطالب»: كيف شعرت؟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في كل مجموعة: متدرب يمثل المعلم، وآخر الطرف الآخر، والبقية ملاحظون. خمس دقائق للتمثيل، ثم دقيقتان للملاحظين. بعدها بدّلوا الأدوار.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اعرض الخطأ أولًا، واطلب من القاعة اقتراح البديل قبل كشفه، ثم اكشفه بنقرة.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كل متدرب أن يكتب جملة واحدة سيقولها غدًا لو واجه الموقف نفسه.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اعرض الصورة واسأل: «ماذا تتوقعون أن يحدث هنا؟» — دقيقة واحدة فقط لتشويق القاعة قبل القصة.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اقرأ القصة بنبرة تمثيلية، فقرة فقرة مع كل نقرة، وتوقف عند الجملة الأخيرة ثوانيَ قبل الانتقال.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المتدربين مسح الباركود والتصويت بجوالاتهم (أو رفع الأيدي)، ثم اكشف الإجابة ومعها سبب كل خيار.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اسأل القاعة أولًا: «ما الأسباب المحتملة؟»، ثم اكشف البطاقات واحدة واحدة وقارن بإجاباتهم.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مثّل الخطوات أمامهم فعليًا إن أمكن؛ التمثيل هنا أقوى من أي شرح.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متدربَين تمثيل الحوار: أحدهما المعلم والآخر الطالب. ثم اسأل «الطالب»: كيف شعرت؟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اعرض الخطأ أولًا، واطلب من القاعة اقتراح البديل قبل كشفه، ثم اكشفه بنقرة.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الحلول لا تنجح دائمًا من المرة الأولى. اعرض كل عقبة، واطلب من المجموعات اقتراح الخطة البديلة قبل كشفها.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جواب سؤال الكراسة الأخير: تحويل الموقف إلى فرصة لتحمّل المسؤولية.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كل متدرب أن يكتب جملة واحدة سيقولها غدًا لو واجه الموقف نفسه.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اعرض الصورة واسأل: «ماذا تتوقعون أن يحدث هنا؟» — دقيقة واحدة فقط لتشويق القاعة قبل القصة.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اقرأ القصة بنبرة تمثيلية، فقرة فقرة مع كل نقرة، وتوقف عند الجملة الأخيرة ثوانيَ قبل الانتقال.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كل مجموعة اختيار تصرف واحد والدفاع عنه دقيقة، ثم اضغط اختيارهم ليروا نتيجته. اكشف بقية النتائج بزر «التالي».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اسأل القاعة أولًا: «ما الأسباب المحتملة؟»، ثم اكشف البطاقات واحدة واحدة وقارن بإجاباتهم.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مثّل الخطوات أمامهم فعليًا إن أمكن؛ التمثيل هنا أقوى من أي شرح.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متدربَين تمثيل الحوار: أحدهما المعلم والآخر الطالب. ثم اسأل «الطالب»: كيف شعرت؟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اعرض الخطأ أولًا، واطلب من القاعة اقتراح البديل قبل كشفه، ثم اكشفه بنقرة.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كل متدرب أن يكتب جملة واحدة سيقولها غدًا لو واجه الموقف نفسه.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اسأل: «كم منكم تلقّى مكالمة من ولي أمر غاضب هذا العام؟» سترتفع أيدٍ كثيرة. قل: «هذه المحطة لكم».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القاعدة الأولى أهمها: ولي الأمر الذي تلقى منك رسالة إيجابية يستقبل ملاحظتك لاحقًا كشريك، لا كمتهم.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اعرض الصورة واسأل: «ماذا تتوقعون أن يحدث هنا؟» — دقيقة واحدة فقط لتشويق القاعة قبل القصة.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اقرأ القصة بنبرة تمثيلية، فقرة فقرة مع كل نقرة، وتوقف عند الجملة الأخيرة ثوانيَ قبل الانتقال.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المتدربين مسح الباركود والتصويت بجوالاتهم (أو رفع الأيدي)، ثم اكشف الإجابة ومعها سبب كل خيار.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درس الشرائح ١٢ و١٣ في الدورة القديمة: المعلم هو المسؤول عن قواعد فصله، والمرشد والوكيل يساعدان ولا ينوبان. وبالمنطق نفسه، الأم مسؤولة عن قواعد بيتها.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مثّل الخطوات أمامهم فعليًا إن أمكن؛ التمثيل هنا أقوى من أي شرح.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متدربَين تمثيل الحوار: أحدهما المعلم والآخر الطالب. ثم اسأل «الطالب»: كيف شعرت؟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في كل مجموعة: متدرب يمثل المعلم، وآخر الطرف الآخر، والبقية ملاحظون. خمس دقائق للتمثيل، ثم دقيقتان للملاحظين. بعدها بدّلوا الأدوار.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اعرض الخطأ أولًا، واطلب من القاعة اقتراح البديل قبل كشفه، ثم اكشفه بنقرة.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كل متدرب أن يكتب جملة واحدة سيقولها غدًا لو واجه الموقف نفسه.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اعرض الصورة واسأل: «ماذا تتوقعون أن يحدث هنا؟» — دقيقة واحدة فقط لتشويق القاعة قبل القصة.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اقرأ القصة بنبرة تمثيلية، فقرة فقرة مع كل نقرة، وتوقف عند الجملة الأخيرة ثوانيَ قبل الانتقال.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المتدربين مسح الباركود والتصويت بجوالاتهم (أو رفع الأيدي)، ثم اكشف الإجابة ومعها سبب كل خيار.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اسأل القاعة أولًا: «ما الأسباب المحتملة؟»، ثم اكشف البطاقات واحدة واحدة وقارن بإجاباتهم.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مثّل الخطوات أمامهم فعليًا إن أمكن؛ التمثيل هنا أقوى من أي شرح.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متدربَين تمثيل الحوار: أحدهما المعلم والآخر الطالب. ثم اسأل «الطالب»: كيف شعرت؟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اعرض الخطأ أولًا، واطلب من القاعة اقتراح البديل قبل كشفه، ثم اكشفه بنقرة.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كل متدرب أن يكتب جملة واحدة سيقولها غدًا لو واجه الموقف نفسه.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اعرض الصورة واسأل: «ماذا تتوقعون أن يحدث هنا؟» — دقيقة واحدة فقط لتشويق القاعة قبل القصة.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اقرأ القصة بنبرة تمثيلية، فقرة فقرة مع كل نقرة، وتوقف عند الجملة الأخيرة ثوانيَ قبل الانتقال.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المتدربين مسح الباركود والتصويت بجوالاتهم (أو رفع الأيدي)، ثم اكشف الإجابة ومعها سبب كل خيار.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اسأل القاعة أولًا: «ما الأسباب المحتملة؟»، ثم اكشف البطاقات واحدة واحدة وقارن بإجاباتهم.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مثّل الخطوات أمامهم فعليًا إن أمكن؛ التمثيل هنا أقوى من أي شرح.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متدربَين تمثيل الحوار: أحدهما المعلم والآخر الطالب. ثم اسأل «الطالب»: كيف شعرت؟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اعرض الخطأ أولًا، واطلب من القاعة اقتراح البديل قبل كشفه، ثم اكشفه بنقرة.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كل متدرب أن يكتب جملة واحدة سيقولها غدًا لو واجه الموقف نفسه.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قل: «هذه المواقف لم نتدرب عليها في الجامعة، لأنها لم تكن موجودة. لكنها اليوم أكثر ما يُربك المعلم».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اعرض الصورة واسأل: «ماذا تتوقعون أن يحدث هنا؟» — دقيقة واحدة فقط لتشويق القاعة قبل القصة.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اقرأ القصة بنبرة تمثيلية، وتوقف عند الجملة الأخيرة. هذه لحظة «صراع قوة»، وهي أخطر لحظة في الإدارة الصفية.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غالبًا يختار كثيرون الخيار الأول «حفاظًا على الهيبة»، فناقشهم: الهيبة الحقيقية تظهر في هدوئك، لا في انتصارك على مراهق أمام زملائه.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الشريحة تغيّر نظرة المعلم: الرفض ليس تحديًا شخصيًا. حين تفهم هذا يختفي غضبك، ويبقى قرارك.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مثّل الخطوات أمامهم فعليًا إن أمكن؛ التمثيل هنا أقوى من أي شرح.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لاحظ كلمة «شكرًا» في الجملة الأولى: تشكره قبل أن يفعل، كأنك واثق أنه سيمتثل. هذه تقنية «التوقع الإيجابي». وفي جملة الرفض: أنت لم تتراجع عن القاعدة، بل أجّلت مكان تطبيقها فقط.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أغلب المعلمين يقفزون من الدرجة الأولى إلى الخامسة مباشرة. الدرجة الثالثة (الخيار المحدد) قوية جدًا لأنها تعطي الطالب إحساسًا بالتحكم داخل حدود تضعها أنت.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نبّه بقوة على الخطأ الثاني: فتح جوال الطالب انتهاك لخصوصيته، وقد يعرّض المعلم للمساءلة. التسليم للإدارة يكون والجوال مغلق.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الحلول لا تنجح دائمًا من المرة الأولى. اعرض كل عقبة، واطلب من المجموعات اقتراح الخطة البديلة قبل كشفها.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اسأل المجموعات: «ما أفكاركم أنتم للوقاية؟» واكتب أفضلها. الأفكار التي تخرج من المعلمين أنفسهم أكثر قابلية للتطبيق.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كل متدرب أن يكتب جملة واحدة سيقولها غدًا لو واجه الموقف نفسه.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اعرض الصورة واسأل: «ماذا تتوقعون أن يحدث هنا؟» — دقيقة واحدة فقط لتشويق القاعة قبل القصة.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اقرأ القصة بنبرة تمثيلية، فقرة فقرة مع كل نقرة، وتوقف عند الجملة الأخيرة ثوانيَ قبل الانتقال.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المتدربين مسح الباركود والتصويت بجوالاتهم (أو رفع الأيدي)، ثم اكشف الإجابة ومعها سبب كل خيار.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نبّه إلى أن الأنظمة في المملكة تجرّم المساس بالحياة الخاصة عبر كاميرات الجوال، وأن التعامل يكون عبر الإدارة ووفق لائحة المدرسة، لا بتصرف فردي من المعلم.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مثّل الخطوات أمامهم فعليًا إن أمكن؛ التمثيل هنا أقوى من أي شرح.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اعتذار المعلم عن ارتفاع صوته أمام الفصل لا يُضعفه، بل يسحب قيمة المقطع تمامًا ويرفع احترامه.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اعرض الخطأ أولًا، واطلب من القاعة اقتراح البديل قبل كشفه، ثم اكشفه بنقرة.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الحلول لا تنجح دائمًا من المرة الأولى. اعرض كل عقبة، واطلب من المجموعات اقتراح الخطة البديلة قبل كشفها.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كل متدرب أن يكتب جملة واحدة سيقولها غدًا لو واجه الموقف نفسه.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اعرض الصورة واسأل: «ماذا تتوقعون أن يحدث هنا؟» — دقيقة واحدة فقط لتشويق القاعة قبل القصة.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اقرأ القصة بنبرة تمثيلية، فقرة فقرة مع كل نقرة، وتوقف عند الجملة الأخيرة ثوانيَ قبل الانتقال.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المتدربين مسح الباركود والتصويت بجوالاتهم (أو رفع الأيدي)، ثم اكشف الإجابة ومعها سبب كل خيار.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اسأل القاعة أولًا: «ما الأسباب المحتملة؟»، ثم اكشف البطاقات واحدة واحدة وقارن بإجاباتهم.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مثّل الخطوات أمامهم فعليًا إن أمكن؛ التمثيل هنا أقوى من أي شرح.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متدربَين تمثيل الحوار: أحدهما المعلم والآخر الطالب. ثم اسأل «الطالب»: كيف شعرت؟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في كل مجموعة: متدرب يمثل المعلم، وآخر الطرف الآخر، والبقية ملاحظون. خمس دقائق للتمثيل، ثم دقيقتان للملاحظين. بعدها بدّلوا الأدوار.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اعرض الخطأ أولًا، واطلب من القاعة اقتراح البديل قبل كشفه، ثم اكشفه بنقرة.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كل متدرب أن يكتب جملة واحدة سيقولها غدًا لو واجه الموقف نفسه.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اعرض الصورة واسأل: «ماذا تتوقعون أن يحدث هنا؟» — دقيقة واحدة فقط لتشويق القاعة قبل القصة.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اقرأ القصة بنبرة تمثيلية، فقرة فقرة مع كل نقرة، وتوقف عند الجملة الأخيرة ثوانيَ قبل الانتقال.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كل مجموعة اختيار تصرف واحد والدفاع عنه دقيقة، ثم اضغط اختيارهم ليروا نتيجته. اكشف بقية النتائج بزر «التالي».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اسأل القاعة أولًا: «ما الأسباب المحتملة؟»، ثم اكشف البطاقات واحدة واحدة وقارن بإجاباتهم.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مثّل الخطوات أمامهم فعليًا إن أمكن؛ التمثيل هنا أقوى من أي شرح.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متدربَين تمثيل الحوار: أحدهما المعلم والآخر الطالب. ثم اسأل «الطالب»: كيف شعرت؟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اعرض الخطأ أولًا، واطلب من القاعة اقتراح البديل قبل كشفه، ثم اكشفه بنقرة.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كل متدرب أن يكتب جملة واحدة سيقولها غدًا لو واجه الموقف نفسه.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اعرض الصورة واسأل: «ماذا تتوقعون أن يحدث هنا؟» — دقيقة واحدة فقط لتشويق القاعة قبل القصة.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اقرأ القصة بنبرة تمثيلية، فقرة فقرة مع كل نقرة، وتوقف عند الجملة الأخيرة ثوانيَ قبل الانتقال.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المتدربين مسح الباركود والتصويت بجوالاتهم (أو رفع الأيدي)، ثم اكشف الإجابة ومعها سبب كل خيار.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اسأل القاعة أولًا: «ما الأسباب المحتملة؟»، ثم اكشف البطاقات واحدة واحدة وقارن بإجاباتهم.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مثّل الخطوات أمامهم فعليًا إن أمكن؛ التمثيل هنا أقوى من أي شرح.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متدربَين تمثيل الحوار: أحدهما المعلم والآخر الطالب. ثم اسأل «الطالب»: كيف شعرت؟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اعرض الخطأ أولًا، واطلب من القاعة اقتراح البديل قبل كشفه، ثم اكشفه بنقرة.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المعلمين التواصل مع الدعم الفني في مدارسهم لتطبيق هذه الإعدادات، فهي تختلف من جهاز لآخر.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كل متدرب أن يكتب جملة واحدة سيقولها غدًا لو واجه الموقف نفسه.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اعرض الصورة واسأل: «ماذا تتوقعون أن يحدث هنا؟» — دقيقة واحدة فقط لتشويق القاعة قبل القصة.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اقرأ القصة بنبرة تمثيلية، فقرة فقرة مع كل نقرة، وتوقف عند الجملة الأخيرة ثوانيَ قبل الانتقال.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المتدربين مسح الباركود والتصويت بجوالاتهم (أو رفع الأيدي)، ثم اكشف الإجابة ومعها سبب كل خيار.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اسأل القاعة أولًا: «ما الأسباب المحتملة؟»، ثم اكشف البطاقات واحدة واحدة وقارن بإجاباتهم.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مثّل الخطوات أمامهم فعليًا إن أمكن؛ التمثيل هنا أقوى من أي شرح.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متدربَين تمثيل الحوار: أحدهما المعلم والآخر الطالب. ثم اسأل «الطالب»: كيف شعرت؟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اعرض الخطأ أولًا، واطلب من القاعة اقتراح البديل قبل كشفه، ثم اكشفه بنقرة.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الحلول لا تنجح دائمًا من المرة الأولى. اعرض كل عقبة، واطلب من المجموعات اقتراح الخطة البديلة قبل كشفها.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كل متدرب أن يكتب جملة واحدة سيقولها غدًا لو واجه الموقف نفسه.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اعرض الصورة واسأل: «ماذا تتوقعون أن يحدث هنا؟» — دقيقة واحدة فقط لتشويق القاعة قبل القصة.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اقرأ القصة بنبرة تمثيلية، فقرة فقرة مع كل نقرة، وتوقف عند الجملة الأخيرة ثوانيَ قبل الانتقال.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كل مجموعة اختيار تصرف واحد والدفاع عنه دقيقة، ثم اضغط اختيارهم ليروا نتيجته. اكشف بقية النتائج بزر «التالي».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اسأل القاعة أولًا: «ما الأسباب المحتملة؟»، ثم اكشف البطاقات واحدة واحدة وقارن بإجاباتهم.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مثّل الخطوات أمامهم فعليًا إن أمكن؛ التمثيل هنا أقوى من أي شرح.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متدربَين تمثيل الحوار: أحدهما المعلم والآخر الطالب. ثم اسأل «الطالب»: كيف شعرت؟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اعرض الخطأ أولًا، واطلب من القاعة اقتراح البديل قبل كشفه، ثم اكشفه بنقرة.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كل متدرب أن يكتب جملة واحدة سيقولها غدًا لو واجه الموقف نفسه.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المحطة تجمع كل ما سبق في مرجع سريع يعود إليه المعلم، ثم تنتقل من «ماذا تعلمنا؟» إلى «ماذا سأفعل غدًا؟».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تطوير جدول الدورة القديمة (الشرائح ٧٤–٨٢): أبقينا السلوك والسبب، وحوّلنا العلاج العام إلى خطوات يمكن تطبيقها غدًا صباحًا.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كل مجموعة مثالًا حقيقيًا لكل سلوك من فصولها.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توقف عند الصف الأخير: أحيانًا يكون السبب نحن. المعلم الشجاع يراجع نفسه قبل أن يحكم على الطالب.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أهم نشاط في الدورة: المتدربون يطبقون القالب على مواقفهم هم. تجوّل بين المجموعات وساعدهم في صياغة «الجملة الجاهزة» تحديدًا.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كل متدرب كتابة التزاماته الثلاثة على ورقة يحتفظ بها. الالتزام الثالث يعيدنا إلى المحطة الأولى: الإدارة الصفية تبدأ من القلب.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الجميع التقييم مرة أخرى بالعبارات نفسها. الأعمدة الرمادية تقييم البداية، والذهبية الآن، والنسبة الخضراء مقدار النمو الجماعي.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اقرأ الحديث بهدوء، ثم قل: «لا يوجد طالب مستحيل… يوجد موقف لم نجد مفتاحه بعد».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اشكر المتدربين، واطلب تعبئة التقييم إن وُجد.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المتدربين تصوير الباركود بجوالاتهم الآن، والعودة إليه بعد أسبوع لتقييم ما طبّقوه فعلًا. أرسله لهم أيضًا في مجموعة الدورة بعد سبعة أيام. النتائج تظهر في هذه الشريحة عند فتح العرض لاحقًا من الجهاز نفسه.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شريحة الختام.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e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jpe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jpe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jpe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jpe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jpe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jpe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jpe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jpe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jpe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jpe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jpe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jpe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jpe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jpe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jpe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jpe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jpe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jpe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jpe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jpe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40-image-1.jpe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Slide-41-image-1.jpe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Slide-42-image-1.jpe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Slide-43-image-1.jpe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Slide-44-image-1.jpe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Slide-45-image-1.jpe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Slide-46-image-1.jpe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Slide-47-image-1.jpe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Slide-48-image-1.jpe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Slide-49-image-1.jpe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Slide-50-image-1.jpeg"/><Relationship Id="rId2" Type="http://schemas.openxmlformats.org/officeDocument/2006/relationships/image" Target="../media/image-50-2.jpg"/><Relationship Id="rId3" Type="http://schemas.openxmlformats.org/officeDocument/2006/relationships/image" Target="../media/image-50-3.png"/><Relationship Id="rId4" Type="http://schemas.openxmlformats.org/officeDocument/2006/relationships/slideLayout" Target="../slideLayouts/slideLayout1.xml"/><Relationship Id="rId5"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Slide-51-image-1.jpeg"/><Relationship Id="rId2" Type="http://schemas.openxmlformats.org/officeDocument/2006/relationships/image" Target="../media/image-51-2.jpg"/><Relationship Id="rId3" Type="http://schemas.openxmlformats.org/officeDocument/2006/relationships/image" Target="../media/image-51-3.png"/><Relationship Id="rId4" Type="http://schemas.openxmlformats.org/officeDocument/2006/relationships/slideLayout" Target="../slideLayouts/slideLayout1.xml"/><Relationship Id="rId5"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Slide-52-image-1.jpe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Slide-53-image-1.jpe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Slide-54-image-1.jpe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Slide-55-image-1.jpe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jp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Slide-57-image-1.jpe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Slide-58-image-1.jpe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Slide-59-image-1.jpe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Slide-60-image-1.jpeg"/><Relationship Id="rId2" Type="http://schemas.openxmlformats.org/officeDocument/2006/relationships/image" Target="../media/image-60-2.jpg"/><Relationship Id="rId3" Type="http://schemas.openxmlformats.org/officeDocument/2006/relationships/image" Target="../media/image-60-3.png"/><Relationship Id="rId4" Type="http://schemas.openxmlformats.org/officeDocument/2006/relationships/slideLayout" Target="../slideLayouts/slideLayout1.xml"/><Relationship Id="rId5"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Slide-61-image-1.jpeg"/><Relationship Id="rId2" Type="http://schemas.openxmlformats.org/officeDocument/2006/relationships/image" Target="../media/image-61-2.jpg"/><Relationship Id="rId3" Type="http://schemas.openxmlformats.org/officeDocument/2006/relationships/image" Target="../media/image-61-3.png"/><Relationship Id="rId4" Type="http://schemas.openxmlformats.org/officeDocument/2006/relationships/slideLayout" Target="../slideLayouts/slideLayout1.xml"/><Relationship Id="rId5"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jp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Slide-63-image-1.jpe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Slide-64-image-1.jpe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Slide-65-image-1.jpe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Slide-66-image-1.jpe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Slide-67-image-1.jpe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Slide-68-image-1.jpe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Slide-69-image-1.jpeg"/><Relationship Id="rId2" Type="http://schemas.openxmlformats.org/officeDocument/2006/relationships/image" Target="../media/image-69-2.jpg"/><Relationship Id="rId3" Type="http://schemas.openxmlformats.org/officeDocument/2006/relationships/image" Target="../media/image-69-3.png"/><Relationship Id="rId4" Type="http://schemas.openxmlformats.org/officeDocument/2006/relationships/slideLayout" Target="../slideLayouts/slideLayout1.xml"/><Relationship Id="rId5"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Slide-70-image-1.jpeg"/><Relationship Id="rId2" Type="http://schemas.openxmlformats.org/officeDocument/2006/relationships/image" Target="../media/image-70-2.jpg"/><Relationship Id="rId3" Type="http://schemas.openxmlformats.org/officeDocument/2006/relationships/image" Target="../media/image-70-3.png"/><Relationship Id="rId4" Type="http://schemas.openxmlformats.org/officeDocument/2006/relationships/slideLayout" Target="../slideLayouts/slideLayout1.xml"/><Relationship Id="rId5"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Slide-71-image-1.jpe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Slide-72-image-1.jpe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Slide-73-image-1.jpe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Slide-74-image-1.jpe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Slide-75-image-1.jpe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Slide-76-image-1.jpe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Slide-77-image-1.jpe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Slide-78-image-1.jpe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Slide-79-image-1.jpe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Slide-80-image-1.jpeg"/><Relationship Id="rId2" Type="http://schemas.openxmlformats.org/officeDocument/2006/relationships/slideLayout" Target="../slideLayouts/slideLayout1.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Slide-81-image-1.jpeg"/><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Slide-82-image-1.jpeg"/><Relationship Id="rId2" Type="http://schemas.openxmlformats.org/officeDocument/2006/relationships/image" Target="../media/image-82-2.jpg"/><Relationship Id="rId3" Type="http://schemas.openxmlformats.org/officeDocument/2006/relationships/image" Target="../media/image-82-3.png"/><Relationship Id="rId4" Type="http://schemas.openxmlformats.org/officeDocument/2006/relationships/slideLayout" Target="../slideLayouts/slideLayout1.xml"/><Relationship Id="rId5"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Slide-83-image-1.jpeg"/><Relationship Id="rId2" Type="http://schemas.openxmlformats.org/officeDocument/2006/relationships/image" Target="../media/image-83-2.jpg"/><Relationship Id="rId3" Type="http://schemas.openxmlformats.org/officeDocument/2006/relationships/image" Target="../media/image-83-3.png"/><Relationship Id="rId4" Type="http://schemas.openxmlformats.org/officeDocument/2006/relationships/slideLayout" Target="../slideLayouts/slideLayout1.xml"/><Relationship Id="rId5"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Slide-84-image-1.jpeg"/><Relationship Id="rId2" Type="http://schemas.openxmlformats.org/officeDocument/2006/relationships/slideLayout" Target="../slideLayouts/slideLayout1.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Slide-85-image-1.jpeg"/><Relationship Id="rId2" Type="http://schemas.openxmlformats.org/officeDocument/2006/relationships/slideLayout" Target="../slideLayouts/slideLayout1.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Slide-86-image-1.jpeg"/><Relationship Id="rId2" Type="http://schemas.openxmlformats.org/officeDocument/2006/relationships/slideLayout" Target="../slideLayouts/slideLayout1.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Slide-87-image-1.jpeg"/><Relationship Id="rId2" Type="http://schemas.openxmlformats.org/officeDocument/2006/relationships/slideLayout" Target="../slideLayouts/slideLayout1.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Slide-88-image-1.jpeg"/><Relationship Id="rId2" Type="http://schemas.openxmlformats.org/officeDocument/2006/relationships/slideLayout" Target="../slideLayouts/slideLayout1.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Slide-89-image-1.jpeg"/><Relationship Id="rId2" Type="http://schemas.openxmlformats.org/officeDocument/2006/relationships/slideLayout" Target="../slideLayouts/slideLayout1.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Slide-90-image-1.jpeg"/><Relationship Id="rId2" Type="http://schemas.openxmlformats.org/officeDocument/2006/relationships/slideLayout" Target="../slideLayouts/slideLayout1.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Slide-91-image-1.jpeg"/><Relationship Id="rId2" Type="http://schemas.openxmlformats.org/officeDocument/2006/relationships/image" Target="../media/image-91-2.jpg"/><Relationship Id="rId3" Type="http://schemas.openxmlformats.org/officeDocument/2006/relationships/image" Target="../media/image-91-3.png"/><Relationship Id="rId4" Type="http://schemas.openxmlformats.org/officeDocument/2006/relationships/slideLayout" Target="../slideLayouts/slideLayout1.xml"/><Relationship Id="rId5"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Slide-92-image-1.jpeg"/><Relationship Id="rId2" Type="http://schemas.openxmlformats.org/officeDocument/2006/relationships/image" Target="../media/image-92-2.jpg"/><Relationship Id="rId3" Type="http://schemas.openxmlformats.org/officeDocument/2006/relationships/image" Target="../media/image-92-3.png"/><Relationship Id="rId4" Type="http://schemas.openxmlformats.org/officeDocument/2006/relationships/slideLayout" Target="../slideLayouts/slideLayout1.xml"/><Relationship Id="rId5"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Slide-93-image-1.jpeg"/><Relationship Id="rId2" Type="http://schemas.openxmlformats.org/officeDocument/2006/relationships/slideLayout" Target="../slideLayouts/slideLayout1.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Slide-94-image-1.jpeg"/><Relationship Id="rId2" Type="http://schemas.openxmlformats.org/officeDocument/2006/relationships/slideLayout" Target="../slideLayouts/slideLayout1.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Slide-95-image-1.jpeg"/><Relationship Id="rId2" Type="http://schemas.openxmlformats.org/officeDocument/2006/relationships/slideLayout" Target="../slideLayouts/slideLayout1.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Slide-96-image-1.jpeg"/><Relationship Id="rId2" Type="http://schemas.openxmlformats.org/officeDocument/2006/relationships/slideLayout" Target="../slideLayouts/slideLayout1.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jpg"/><Relationship Id="rId2" Type="http://schemas.openxmlformats.org/officeDocument/2006/relationships/slideLayout" Target="../slideLayouts/slideLayout1.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Slide-98-image-1.jpeg"/><Relationship Id="rId2" Type="http://schemas.openxmlformats.org/officeDocument/2006/relationships/slideLayout" Target="../slideLayouts/slideLayout1.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Slide-99-image-1.jpeg"/><Relationship Id="rId2" Type="http://schemas.openxmlformats.org/officeDocument/2006/relationships/slideLayout" Target="../slideLayouts/slideLayout1.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Slide-100-image-1.jpeg"/><Relationship Id="rId2" Type="http://schemas.openxmlformats.org/officeDocument/2006/relationships/image" Target="../media/image-100-2.jpg"/><Relationship Id="rId3" Type="http://schemas.openxmlformats.org/officeDocument/2006/relationships/image" Target="../media/image-100-3.png"/><Relationship Id="rId4" Type="http://schemas.openxmlformats.org/officeDocument/2006/relationships/slideLayout" Target="../slideLayouts/slideLayout1.xml"/><Relationship Id="rId5"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Slide-101-image-1.jpeg"/><Relationship Id="rId2" Type="http://schemas.openxmlformats.org/officeDocument/2006/relationships/image" Target="../media/image-101-2.jpg"/><Relationship Id="rId3" Type="http://schemas.openxmlformats.org/officeDocument/2006/relationships/image" Target="../media/image-101-3.png"/><Relationship Id="rId4" Type="http://schemas.openxmlformats.org/officeDocument/2006/relationships/slideLayout" Target="../slideLayouts/slideLayout1.xml"/><Relationship Id="rId5"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Slide-102-image-1.jpeg"/><Relationship Id="rId2" Type="http://schemas.openxmlformats.org/officeDocument/2006/relationships/slideLayout" Target="../slideLayouts/slideLayout1.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Slide-103-image-1.jpeg"/><Relationship Id="rId2" Type="http://schemas.openxmlformats.org/officeDocument/2006/relationships/slideLayout" Target="../slideLayouts/slideLayout1.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Slide-104-image-1.jpeg"/><Relationship Id="rId2" Type="http://schemas.openxmlformats.org/officeDocument/2006/relationships/slideLayout" Target="../slideLayouts/slideLayout1.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Slide-105-image-1.jpeg"/><Relationship Id="rId2" Type="http://schemas.openxmlformats.org/officeDocument/2006/relationships/slideLayout" Target="../slideLayouts/slideLayout1.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Slide-106-image-1.jpeg"/><Relationship Id="rId2" Type="http://schemas.openxmlformats.org/officeDocument/2006/relationships/slideLayout" Target="../slideLayouts/slideLayout1.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Slide-107-image-1.jpeg"/><Relationship Id="rId2" Type="http://schemas.openxmlformats.org/officeDocument/2006/relationships/slideLayout" Target="../slideLayouts/slideLayout1.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image" Target="../media/Slide-108-image-1.jpeg"/><Relationship Id="rId2" Type="http://schemas.openxmlformats.org/officeDocument/2006/relationships/slideLayout" Target="../slideLayouts/slideLayout1.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Slide-109-image-1.jpeg"/><Relationship Id="rId2" Type="http://schemas.openxmlformats.org/officeDocument/2006/relationships/slideLayout" Target="../slideLayouts/slideLayout1.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Slide-110-image-1.jpeg"/><Relationship Id="rId2" Type="http://schemas.openxmlformats.org/officeDocument/2006/relationships/image" Target="../media/image-110-2.jpg"/><Relationship Id="rId3" Type="http://schemas.openxmlformats.org/officeDocument/2006/relationships/image" Target="../media/image-110-3.png"/><Relationship Id="rId4" Type="http://schemas.openxmlformats.org/officeDocument/2006/relationships/slideLayout" Target="../slideLayouts/slideLayout1.xml"/><Relationship Id="rId5"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image" Target="../media/Slide-111-image-1.jpeg"/><Relationship Id="rId2" Type="http://schemas.openxmlformats.org/officeDocument/2006/relationships/image" Target="../media/image-111-2.jpg"/><Relationship Id="rId3" Type="http://schemas.openxmlformats.org/officeDocument/2006/relationships/image" Target="../media/image-111-3.png"/><Relationship Id="rId4" Type="http://schemas.openxmlformats.org/officeDocument/2006/relationships/slideLayout" Target="../slideLayouts/slideLayout1.xml"/><Relationship Id="rId5"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image" Target="../media/image-112-1.jpg"/><Relationship Id="rId2" Type="http://schemas.openxmlformats.org/officeDocument/2006/relationships/slideLayout" Target="../slideLayouts/slideLayout1.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image" Target="../media/Slide-113-image-1.jpeg"/><Relationship Id="rId2" Type="http://schemas.openxmlformats.org/officeDocument/2006/relationships/slideLayout" Target="../slideLayouts/slideLayout1.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image" Target="../media/Slide-114-image-1.jpeg"/><Relationship Id="rId2" Type="http://schemas.openxmlformats.org/officeDocument/2006/relationships/slideLayout" Target="../slideLayouts/slideLayout1.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image" Target="../media/Slide-115-image-1.jpeg"/><Relationship Id="rId2" Type="http://schemas.openxmlformats.org/officeDocument/2006/relationships/slideLayout" Target="../slideLayouts/slideLayout1.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image" Target="../media/Slide-116-image-1.jpeg"/><Relationship Id="rId2" Type="http://schemas.openxmlformats.org/officeDocument/2006/relationships/slideLayout" Target="../slideLayouts/slideLayout1.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image" Target="../media/Slide-117-image-1.jpeg"/><Relationship Id="rId2" Type="http://schemas.openxmlformats.org/officeDocument/2006/relationships/slideLayout" Target="../slideLayouts/slideLayout1.xml"/><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image" Target="../media/Slide-118-image-1.jpeg"/><Relationship Id="rId2" Type="http://schemas.openxmlformats.org/officeDocument/2006/relationships/slideLayout" Target="../slideLayouts/slideLayout1.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image" Target="../media/Slide-119-image-1.jpeg"/><Relationship Id="rId2" Type="http://schemas.openxmlformats.org/officeDocument/2006/relationships/slideLayout" Target="../slideLayouts/slideLayout1.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image" Target="../media/Slide-120-image-1.jpeg"/><Relationship Id="rId2" Type="http://schemas.openxmlformats.org/officeDocument/2006/relationships/image" Target="../media/image-120-2.jpg"/><Relationship Id="rId3" Type="http://schemas.openxmlformats.org/officeDocument/2006/relationships/image" Target="../media/image-120-3.png"/><Relationship Id="rId4" Type="http://schemas.openxmlformats.org/officeDocument/2006/relationships/slideLayout" Target="../slideLayouts/slideLayout1.xml"/><Relationship Id="rId5"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image" Target="../media/Slide-121-image-1.jpeg"/><Relationship Id="rId2" Type="http://schemas.openxmlformats.org/officeDocument/2006/relationships/image" Target="../media/image-121-2.jpg"/><Relationship Id="rId3" Type="http://schemas.openxmlformats.org/officeDocument/2006/relationships/image" Target="../media/image-121-3.png"/><Relationship Id="rId4" Type="http://schemas.openxmlformats.org/officeDocument/2006/relationships/slideLayout" Target="../slideLayouts/slideLayout1.xml"/><Relationship Id="rId5"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image" Target="../media/Slide-122-image-1.jpeg"/><Relationship Id="rId2" Type="http://schemas.openxmlformats.org/officeDocument/2006/relationships/slideLayout" Target="../slideLayouts/slideLayout1.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image" Target="../media/Slide-123-image-1.jpeg"/><Relationship Id="rId2" Type="http://schemas.openxmlformats.org/officeDocument/2006/relationships/slideLayout" Target="../slideLayouts/slideLayout1.xml"/><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image" Target="../media/Slide-124-image-1.jpeg"/><Relationship Id="rId2" Type="http://schemas.openxmlformats.org/officeDocument/2006/relationships/slideLayout" Target="../slideLayouts/slideLayout1.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image" Target="../media/Slide-125-image-1.jpeg"/><Relationship Id="rId2" Type="http://schemas.openxmlformats.org/officeDocument/2006/relationships/slideLayout" Target="../slideLayouts/slideLayout1.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image" Target="../media/image-126-1.jpg"/><Relationship Id="rId2" Type="http://schemas.openxmlformats.org/officeDocument/2006/relationships/slideLayout" Target="../slideLayouts/slideLayout1.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image" Target="../media/Slide-127-image-1.jpeg"/><Relationship Id="rId2" Type="http://schemas.openxmlformats.org/officeDocument/2006/relationships/slideLayout" Target="../slideLayouts/slideLayout1.xml"/><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image" Target="../media/Slide-128-image-1.jpeg"/><Relationship Id="rId2" Type="http://schemas.openxmlformats.org/officeDocument/2006/relationships/slideLayout" Target="../slideLayouts/slideLayout1.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image" Target="../media/Slide-129-image-1.jpeg"/><Relationship Id="rId2" Type="http://schemas.openxmlformats.org/officeDocument/2006/relationships/image" Target="../media/image-129-2.jpg"/><Relationship Id="rId3" Type="http://schemas.openxmlformats.org/officeDocument/2006/relationships/image" Target="../media/image-129-3.png"/><Relationship Id="rId4" Type="http://schemas.openxmlformats.org/officeDocument/2006/relationships/slideLayout" Target="../slideLayouts/slideLayout1.xml"/><Relationship Id="rId5"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image" Target="../media/Slide-130-image-1.jpeg"/><Relationship Id="rId2" Type="http://schemas.openxmlformats.org/officeDocument/2006/relationships/image" Target="../media/image-130-2.jpg"/><Relationship Id="rId3" Type="http://schemas.openxmlformats.org/officeDocument/2006/relationships/image" Target="../media/image-130-3.png"/><Relationship Id="rId4" Type="http://schemas.openxmlformats.org/officeDocument/2006/relationships/slideLayout" Target="../slideLayouts/slideLayout1.xml"/><Relationship Id="rId5"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image" Target="../media/Slide-131-image-1.jpeg"/><Relationship Id="rId2" Type="http://schemas.openxmlformats.org/officeDocument/2006/relationships/slideLayout" Target="../slideLayouts/slideLayout1.xml"/><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image" Target="../media/Slide-132-image-1.jpeg"/><Relationship Id="rId2" Type="http://schemas.openxmlformats.org/officeDocument/2006/relationships/slideLayout" Target="../slideLayouts/slideLayout1.xml"/><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image" Target="../media/Slide-133-image-1.jpeg"/><Relationship Id="rId2" Type="http://schemas.openxmlformats.org/officeDocument/2006/relationships/slideLayout" Target="../slideLayouts/slideLayout1.xml"/><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image" Target="../media/Slide-134-image-1.jpeg"/><Relationship Id="rId2" Type="http://schemas.openxmlformats.org/officeDocument/2006/relationships/slideLayout" Target="../slideLayouts/slideLayout1.xml"/><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image" Target="../media/Slide-135-image-1.jpeg"/><Relationship Id="rId2" Type="http://schemas.openxmlformats.org/officeDocument/2006/relationships/slideLayout" Target="../slideLayouts/slideLayout1.xml"/><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image" Target="../media/Slide-136-image-1.jpeg"/><Relationship Id="rId2" Type="http://schemas.openxmlformats.org/officeDocument/2006/relationships/slideLayout" Target="../slideLayouts/slideLayout1.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image" Target="../media/Slide-137-image-1.jpeg"/><Relationship Id="rId2" Type="http://schemas.openxmlformats.org/officeDocument/2006/relationships/image" Target="../media/image-137-2.jpg"/><Relationship Id="rId3" Type="http://schemas.openxmlformats.org/officeDocument/2006/relationships/image" Target="../media/image-137-3.png"/><Relationship Id="rId4" Type="http://schemas.openxmlformats.org/officeDocument/2006/relationships/slideLayout" Target="../slideLayouts/slideLayout1.xml"/><Relationship Id="rId5"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image" Target="../media/Slide-138-image-1.jpeg"/><Relationship Id="rId2" Type="http://schemas.openxmlformats.org/officeDocument/2006/relationships/image" Target="../media/image-138-2.jpg"/><Relationship Id="rId3" Type="http://schemas.openxmlformats.org/officeDocument/2006/relationships/image" Target="../media/image-138-3.png"/><Relationship Id="rId4" Type="http://schemas.openxmlformats.org/officeDocument/2006/relationships/slideLayout" Target="../slideLayouts/slideLayout1.xml"/><Relationship Id="rId5"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image" Target="../media/Slide-139-image-1.jpeg"/><Relationship Id="rId2" Type="http://schemas.openxmlformats.org/officeDocument/2006/relationships/slideLayout" Target="../slideLayouts/slideLayout1.xml"/><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image" Target="../media/Slide-140-image-1.jpeg"/><Relationship Id="rId2" Type="http://schemas.openxmlformats.org/officeDocument/2006/relationships/slideLayout" Target="../slideLayouts/slideLayout1.xml"/><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image" Target="../media/Slide-141-image-1.jpeg"/><Relationship Id="rId2" Type="http://schemas.openxmlformats.org/officeDocument/2006/relationships/slideLayout" Target="../slideLayouts/slideLayout1.xml"/><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image" Target="../media/Slide-142-image-1.jpeg"/><Relationship Id="rId2" Type="http://schemas.openxmlformats.org/officeDocument/2006/relationships/slideLayout" Target="../slideLayouts/slideLayout1.xml"/><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image" Target="../media/Slide-143-image-1.jpeg"/><Relationship Id="rId2" Type="http://schemas.openxmlformats.org/officeDocument/2006/relationships/slideLayout" Target="../slideLayouts/slideLayout1.xml"/><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image" Target="../media/Slide-144-image-1.jpeg"/><Relationship Id="rId2" Type="http://schemas.openxmlformats.org/officeDocument/2006/relationships/slideLayout" Target="../slideLayouts/slideLayout1.xml"/><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image" Target="../media/Slide-145-image-1.jpeg"/><Relationship Id="rId2" Type="http://schemas.openxmlformats.org/officeDocument/2006/relationships/slideLayout" Target="../slideLayouts/slideLayout1.xml"/><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image" Target="../media/Slide-146-image-1.jpeg"/><Relationship Id="rId2" Type="http://schemas.openxmlformats.org/officeDocument/2006/relationships/image" Target="../media/image-146-2.jpg"/><Relationship Id="rId3" Type="http://schemas.openxmlformats.org/officeDocument/2006/relationships/image" Target="../media/image-146-3.png"/><Relationship Id="rId4" Type="http://schemas.openxmlformats.org/officeDocument/2006/relationships/slideLayout" Target="../slideLayouts/slideLayout1.xml"/><Relationship Id="rId5"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image" Target="../media/Slide-147-image-1.jpeg"/><Relationship Id="rId2" Type="http://schemas.openxmlformats.org/officeDocument/2006/relationships/image" Target="../media/image-147-2.jpg"/><Relationship Id="rId3" Type="http://schemas.openxmlformats.org/officeDocument/2006/relationships/image" Target="../media/image-147-3.png"/><Relationship Id="rId4" Type="http://schemas.openxmlformats.org/officeDocument/2006/relationships/slideLayout" Target="../slideLayouts/slideLayout1.xml"/><Relationship Id="rId5"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image" Target="../media/Slide-148-image-1.jpeg"/><Relationship Id="rId2" Type="http://schemas.openxmlformats.org/officeDocument/2006/relationships/slideLayout" Target="../slideLayouts/slideLayout1.xml"/><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image" Target="../media/Slide-149-image-1.jpeg"/><Relationship Id="rId2" Type="http://schemas.openxmlformats.org/officeDocument/2006/relationships/slideLayout" Target="../slideLayouts/slideLayout1.xml"/><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image" Target="../media/Slide-150-image-1.jpeg"/><Relationship Id="rId2" Type="http://schemas.openxmlformats.org/officeDocument/2006/relationships/slideLayout" Target="../slideLayouts/slideLayout1.xml"/><Relationship Id="rId3"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image" Target="../media/Slide-151-image-1.jpeg"/><Relationship Id="rId2" Type="http://schemas.openxmlformats.org/officeDocument/2006/relationships/slideLayout" Target="../slideLayouts/slideLayout1.xml"/><Relationship Id="rId3"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image" Target="../media/Slide-152-image-1.jpeg"/><Relationship Id="rId2" Type="http://schemas.openxmlformats.org/officeDocument/2006/relationships/slideLayout" Target="../slideLayouts/slideLayout1.xml"/><Relationship Id="rId3"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image" Target="../media/Slide-153-image-1.jpeg"/><Relationship Id="rId2" Type="http://schemas.openxmlformats.org/officeDocument/2006/relationships/slideLayout" Target="../slideLayouts/slideLayout1.xml"/><Relationship Id="rId3"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image" Target="../media/Slide-154-image-1.jpeg"/><Relationship Id="rId2" Type="http://schemas.openxmlformats.org/officeDocument/2006/relationships/slideLayout" Target="../slideLayouts/slideLayout1.xml"/><Relationship Id="rId3"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image" Target="../media/Slide-155-image-1.jpeg"/><Relationship Id="rId2" Type="http://schemas.openxmlformats.org/officeDocument/2006/relationships/slideLayout" Target="../slideLayouts/slideLayout1.xml"/><Relationship Id="rId3"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image" Target="../media/Slide-156-image-1.jpeg"/><Relationship Id="rId2" Type="http://schemas.openxmlformats.org/officeDocument/2006/relationships/slideLayout" Target="../slideLayouts/slideLayout1.xml"/><Relationship Id="rId3"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image" Target="../media/Slide-157-image-1.jpeg"/><Relationship Id="rId2" Type="http://schemas.openxmlformats.org/officeDocument/2006/relationships/image" Target="../media/image-157-2.jpg"/><Relationship Id="rId3" Type="http://schemas.openxmlformats.org/officeDocument/2006/relationships/image" Target="../media/image-157-3.png"/><Relationship Id="rId4" Type="http://schemas.openxmlformats.org/officeDocument/2006/relationships/slideLayout" Target="../slideLayouts/slideLayout1.xml"/><Relationship Id="rId5"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image" Target="../media/Slide-158-image-1.jpeg"/><Relationship Id="rId2" Type="http://schemas.openxmlformats.org/officeDocument/2006/relationships/image" Target="../media/image-158-2.jpg"/><Relationship Id="rId3" Type="http://schemas.openxmlformats.org/officeDocument/2006/relationships/image" Target="../media/image-158-3.png"/><Relationship Id="rId4" Type="http://schemas.openxmlformats.org/officeDocument/2006/relationships/slideLayout" Target="../slideLayouts/slideLayout1.xml"/><Relationship Id="rId5"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image" Target="../media/Slide-159-image-1.jpeg"/><Relationship Id="rId2" Type="http://schemas.openxmlformats.org/officeDocument/2006/relationships/slideLayout" Target="../slideLayouts/slideLayout1.xml"/><Relationship Id="rId3"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image" Target="../media/Slide-160-image-1.jpeg"/><Relationship Id="rId2" Type="http://schemas.openxmlformats.org/officeDocument/2006/relationships/slideLayout" Target="../slideLayouts/slideLayout1.xml"/><Relationship Id="rId3"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image" Target="../media/Slide-161-image-1.jpeg"/><Relationship Id="rId2" Type="http://schemas.openxmlformats.org/officeDocument/2006/relationships/slideLayout" Target="../slideLayouts/slideLayout1.xml"/><Relationship Id="rId3"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image" Target="../media/Slide-162-image-1.jpeg"/><Relationship Id="rId2" Type="http://schemas.openxmlformats.org/officeDocument/2006/relationships/slideLayout" Target="../slideLayouts/slideLayout1.xml"/><Relationship Id="rId3"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image" Target="../media/Slide-163-image-1.jpeg"/><Relationship Id="rId2" Type="http://schemas.openxmlformats.org/officeDocument/2006/relationships/slideLayout" Target="../slideLayouts/slideLayout1.xml"/><Relationship Id="rId3"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image" Target="../media/Slide-164-image-1.jpeg"/><Relationship Id="rId2" Type="http://schemas.openxmlformats.org/officeDocument/2006/relationships/slideLayout" Target="../slideLayouts/slideLayout1.xml"/><Relationship Id="rId3"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image" Target="../media/Slide-165-image-1.jpeg"/><Relationship Id="rId2" Type="http://schemas.openxmlformats.org/officeDocument/2006/relationships/slideLayout" Target="../slideLayouts/slideLayout1.xml"/><Relationship Id="rId3"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image" Target="../media/Slide-166-image-1.jpeg"/><Relationship Id="rId2" Type="http://schemas.openxmlformats.org/officeDocument/2006/relationships/image" Target="../media/image-166-2.jpg"/><Relationship Id="rId3" Type="http://schemas.openxmlformats.org/officeDocument/2006/relationships/image" Target="../media/image-166-3.png"/><Relationship Id="rId4" Type="http://schemas.openxmlformats.org/officeDocument/2006/relationships/slideLayout" Target="../slideLayouts/slideLayout1.xml"/><Relationship Id="rId5"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image" Target="../media/Slide-167-image-1.jpeg"/><Relationship Id="rId2" Type="http://schemas.openxmlformats.org/officeDocument/2006/relationships/image" Target="../media/image-167-2.jpg"/><Relationship Id="rId3" Type="http://schemas.openxmlformats.org/officeDocument/2006/relationships/image" Target="../media/image-167-3.png"/><Relationship Id="rId4" Type="http://schemas.openxmlformats.org/officeDocument/2006/relationships/slideLayout" Target="../slideLayouts/slideLayout1.xml"/><Relationship Id="rId5"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image" Target="../media/Slide-168-image-1.jpeg"/><Relationship Id="rId2" Type="http://schemas.openxmlformats.org/officeDocument/2006/relationships/slideLayout" Target="../slideLayouts/slideLayout1.xml"/><Relationship Id="rId3"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image" Target="../media/Slide-169-image-1.jpeg"/><Relationship Id="rId2" Type="http://schemas.openxmlformats.org/officeDocument/2006/relationships/slideLayout" Target="../slideLayouts/slideLayout1.xml"/><Relationship Id="rId3"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image" Target="../media/Slide-170-image-1.jpeg"/><Relationship Id="rId2" Type="http://schemas.openxmlformats.org/officeDocument/2006/relationships/slideLayout" Target="../slideLayouts/slideLayout1.xml"/><Relationship Id="rId3"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image" Target="../media/Slide-171-image-1.jpeg"/><Relationship Id="rId2" Type="http://schemas.openxmlformats.org/officeDocument/2006/relationships/slideLayout" Target="../slideLayouts/slideLayout1.xml"/><Relationship Id="rId3"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image" Target="../media/image-172-1.jpg"/><Relationship Id="rId2" Type="http://schemas.openxmlformats.org/officeDocument/2006/relationships/slideLayout" Target="../slideLayouts/slideLayout1.xml"/><Relationship Id="rId3"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image" Target="../media/Slide-173-image-1.jpeg"/><Relationship Id="rId2" Type="http://schemas.openxmlformats.org/officeDocument/2006/relationships/slideLayout" Target="../slideLayouts/slideLayout1.xml"/><Relationship Id="rId3"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image" Target="../media/Slide-174-image-1.jpeg"/><Relationship Id="rId2" Type="http://schemas.openxmlformats.org/officeDocument/2006/relationships/slideLayout" Target="../slideLayouts/slideLayout1.xml"/><Relationship Id="rId3"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image" Target="../media/Slide-175-image-1.jpeg"/><Relationship Id="rId2" Type="http://schemas.openxmlformats.org/officeDocument/2006/relationships/image" Target="../media/image-175-2.jpg"/><Relationship Id="rId3" Type="http://schemas.openxmlformats.org/officeDocument/2006/relationships/image" Target="../media/image-175-3.png"/><Relationship Id="rId4" Type="http://schemas.openxmlformats.org/officeDocument/2006/relationships/slideLayout" Target="../slideLayouts/slideLayout1.xml"/><Relationship Id="rId5"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image" Target="../media/Slide-176-image-1.jpeg"/><Relationship Id="rId2" Type="http://schemas.openxmlformats.org/officeDocument/2006/relationships/image" Target="../media/image-176-2.jpg"/><Relationship Id="rId3" Type="http://schemas.openxmlformats.org/officeDocument/2006/relationships/image" Target="../media/image-176-3.png"/><Relationship Id="rId4" Type="http://schemas.openxmlformats.org/officeDocument/2006/relationships/slideLayout" Target="../slideLayouts/slideLayout1.xml"/><Relationship Id="rId5"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image" Target="../media/image-177-1.jpg"/><Relationship Id="rId2" Type="http://schemas.openxmlformats.org/officeDocument/2006/relationships/slideLayout" Target="../slideLayouts/slideLayout1.xml"/><Relationship Id="rId3"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image" Target="../media/Slide-178-image-1.jpeg"/><Relationship Id="rId2" Type="http://schemas.openxmlformats.org/officeDocument/2006/relationships/slideLayout" Target="../slideLayouts/slideLayout1.xml"/><Relationship Id="rId3"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image" Target="../media/Slide-179-image-1.jpeg"/><Relationship Id="rId2" Type="http://schemas.openxmlformats.org/officeDocument/2006/relationships/slideLayout" Target="../slideLayouts/slideLayout1.xml"/><Relationship Id="rId3"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image" Target="../media/Slide-180-image-1.jpeg"/><Relationship Id="rId2" Type="http://schemas.openxmlformats.org/officeDocument/2006/relationships/slideLayout" Target="../slideLayouts/slideLayout1.xml"/><Relationship Id="rId3"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image" Target="../media/Slide-181-image-1.jpeg"/><Relationship Id="rId2" Type="http://schemas.openxmlformats.org/officeDocument/2006/relationships/slideLayout" Target="../slideLayouts/slideLayout1.xml"/><Relationship Id="rId3"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image" Target="../media/Slide-182-image-1.jpeg"/><Relationship Id="rId2" Type="http://schemas.openxmlformats.org/officeDocument/2006/relationships/slideLayout" Target="../slideLayouts/slideLayout1.xml"/><Relationship Id="rId3"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image" Target="../media/Slide-183-image-1.jpeg"/><Relationship Id="rId2" Type="http://schemas.openxmlformats.org/officeDocument/2006/relationships/image" Target="../media/image-183-2.jpg"/><Relationship Id="rId3" Type="http://schemas.openxmlformats.org/officeDocument/2006/relationships/image" Target="../media/image-183-3.png"/><Relationship Id="rId4" Type="http://schemas.openxmlformats.org/officeDocument/2006/relationships/slideLayout" Target="../slideLayouts/slideLayout1.xml"/><Relationship Id="rId5"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image" Target="../media/Slide-184-image-1.jpeg"/><Relationship Id="rId2" Type="http://schemas.openxmlformats.org/officeDocument/2006/relationships/image" Target="../media/image-184-2.jpg"/><Relationship Id="rId3" Type="http://schemas.openxmlformats.org/officeDocument/2006/relationships/image" Target="../media/image-184-3.png"/><Relationship Id="rId4" Type="http://schemas.openxmlformats.org/officeDocument/2006/relationships/slideLayout" Target="../slideLayouts/slideLayout1.xml"/><Relationship Id="rId5"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image" Target="../media/Slide-185-image-1.jpeg"/><Relationship Id="rId2" Type="http://schemas.openxmlformats.org/officeDocument/2006/relationships/slideLayout" Target="../slideLayouts/slideLayout1.xml"/><Relationship Id="rId3"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image" Target="../media/Slide-186-image-1.jpeg"/><Relationship Id="rId2" Type="http://schemas.openxmlformats.org/officeDocument/2006/relationships/slideLayout" Target="../slideLayouts/slideLayout1.xml"/><Relationship Id="rId3"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image" Target="../media/Slide-187-image-1.jpeg"/><Relationship Id="rId2" Type="http://schemas.openxmlformats.org/officeDocument/2006/relationships/slideLayout" Target="../slideLayouts/slideLayout1.xml"/><Relationship Id="rId3"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image" Target="../media/Slide-188-image-1.jpeg"/><Relationship Id="rId2" Type="http://schemas.openxmlformats.org/officeDocument/2006/relationships/slideLayout" Target="../slideLayouts/slideLayout1.xml"/><Relationship Id="rId3"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image" Target="../media/Slide-189-image-1.jpeg"/><Relationship Id="rId2" Type="http://schemas.openxmlformats.org/officeDocument/2006/relationships/slideLayout" Target="../slideLayouts/slideLayout1.xml"/><Relationship Id="rId3"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image" Target="../media/Slide-190-image-1.jpeg"/><Relationship Id="rId2" Type="http://schemas.openxmlformats.org/officeDocument/2006/relationships/slideLayout" Target="../slideLayouts/slideLayout1.xml"/><Relationship Id="rId3"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image" Target="../media/Slide-191-image-1.jpeg"/><Relationship Id="rId2" Type="http://schemas.openxmlformats.org/officeDocument/2006/relationships/slideLayout" Target="../slideLayouts/slideLayout1.xml"/><Relationship Id="rId3"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image" Target="../media/Slide-192-image-1.jpeg"/><Relationship Id="rId2" Type="http://schemas.openxmlformats.org/officeDocument/2006/relationships/image" Target="../media/image-192-2.jpg"/><Relationship Id="rId3" Type="http://schemas.openxmlformats.org/officeDocument/2006/relationships/image" Target="../media/image-192-3.png"/><Relationship Id="rId4" Type="http://schemas.openxmlformats.org/officeDocument/2006/relationships/slideLayout" Target="../slideLayouts/slideLayout1.xml"/><Relationship Id="rId5"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image" Target="../media/Slide-193-image-1.jpeg"/><Relationship Id="rId2" Type="http://schemas.openxmlformats.org/officeDocument/2006/relationships/image" Target="../media/image-193-2.jpg"/><Relationship Id="rId3" Type="http://schemas.openxmlformats.org/officeDocument/2006/relationships/image" Target="../media/image-193-3.png"/><Relationship Id="rId4" Type="http://schemas.openxmlformats.org/officeDocument/2006/relationships/slideLayout" Target="../slideLayouts/slideLayout1.xml"/><Relationship Id="rId5"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image" Target="../media/Slide-194-image-1.jpeg"/><Relationship Id="rId2" Type="http://schemas.openxmlformats.org/officeDocument/2006/relationships/slideLayout" Target="../slideLayouts/slideLayout1.xml"/><Relationship Id="rId3"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image" Target="../media/Slide-195-image-1.jpeg"/><Relationship Id="rId2" Type="http://schemas.openxmlformats.org/officeDocument/2006/relationships/slideLayout" Target="../slideLayouts/slideLayout1.xml"/><Relationship Id="rId3"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image" Target="../media/Slide-196-image-1.jpeg"/><Relationship Id="rId2" Type="http://schemas.openxmlformats.org/officeDocument/2006/relationships/slideLayout" Target="../slideLayouts/slideLayout1.xml"/><Relationship Id="rId3"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image" Target="../media/Slide-197-image-1.jpeg"/><Relationship Id="rId2" Type="http://schemas.openxmlformats.org/officeDocument/2006/relationships/slideLayout" Target="../slideLayouts/slideLayout1.xml"/><Relationship Id="rId3"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image" Target="../media/Slide-198-image-1.jpeg"/><Relationship Id="rId2" Type="http://schemas.openxmlformats.org/officeDocument/2006/relationships/slideLayout" Target="../slideLayouts/slideLayout1.xml"/><Relationship Id="rId3"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image" Target="../media/Slide-199-image-1.jpeg"/><Relationship Id="rId2" Type="http://schemas.openxmlformats.org/officeDocument/2006/relationships/slideLayout" Target="../slideLayouts/slideLayout1.xml"/><Relationship Id="rId3"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image" Target="../media/Slide-200-image-1.jpeg"/><Relationship Id="rId2" Type="http://schemas.openxmlformats.org/officeDocument/2006/relationships/slideLayout" Target="../slideLayouts/slideLayout1.xml"/><Relationship Id="rId3"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image" Target="../media/Slide-201-image-1.jpeg"/><Relationship Id="rId2" Type="http://schemas.openxmlformats.org/officeDocument/2006/relationships/image" Target="../media/image-201-2.jpg"/><Relationship Id="rId3" Type="http://schemas.openxmlformats.org/officeDocument/2006/relationships/image" Target="../media/image-201-3.png"/><Relationship Id="rId4" Type="http://schemas.openxmlformats.org/officeDocument/2006/relationships/slideLayout" Target="../slideLayouts/slideLayout1.xml"/><Relationship Id="rId5"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image" Target="../media/Slide-202-image-1.jpeg"/><Relationship Id="rId2" Type="http://schemas.openxmlformats.org/officeDocument/2006/relationships/image" Target="../media/image-202-2.jpg"/><Relationship Id="rId3" Type="http://schemas.openxmlformats.org/officeDocument/2006/relationships/image" Target="../media/image-202-3.png"/><Relationship Id="rId4" Type="http://schemas.openxmlformats.org/officeDocument/2006/relationships/slideLayout" Target="../slideLayouts/slideLayout1.xml"/><Relationship Id="rId5"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image" Target="../media/image-203-1.jpg"/><Relationship Id="rId2" Type="http://schemas.openxmlformats.org/officeDocument/2006/relationships/slideLayout" Target="../slideLayouts/slideLayout1.xml"/><Relationship Id="rId3"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image" Target="../media/Slide-204-image-1.jpeg"/><Relationship Id="rId2" Type="http://schemas.openxmlformats.org/officeDocument/2006/relationships/slideLayout" Target="../slideLayouts/slideLayout1.xml"/><Relationship Id="rId3"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image" Target="../media/Slide-205-image-1.jpeg"/><Relationship Id="rId2" Type="http://schemas.openxmlformats.org/officeDocument/2006/relationships/slideLayout" Target="../slideLayouts/slideLayout1.xml"/><Relationship Id="rId3"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image" Target="../media/Slide-206-image-1.jpeg"/><Relationship Id="rId2" Type="http://schemas.openxmlformats.org/officeDocument/2006/relationships/slideLayout" Target="../slideLayouts/slideLayout1.xml"/><Relationship Id="rId3"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image" Target="../media/Slide-207-image-1.jpeg"/><Relationship Id="rId2" Type="http://schemas.openxmlformats.org/officeDocument/2006/relationships/slideLayout" Target="../slideLayouts/slideLayout1.xml"/><Relationship Id="rId3"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image" Target="../media/Slide-208-image-1.jpeg"/><Relationship Id="rId2" Type="http://schemas.openxmlformats.org/officeDocument/2006/relationships/slideLayout" Target="../slideLayouts/slideLayout1.xml"/><Relationship Id="rId3"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image" Target="../media/Slide-209-image-1.jpeg"/><Relationship Id="rId2" Type="http://schemas.openxmlformats.org/officeDocument/2006/relationships/slideLayout" Target="../slideLayouts/slideLayout1.xml"/><Relationship Id="rId3"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image" Target="../media/Slide-210-image-1.jpeg"/><Relationship Id="rId2" Type="http://schemas.openxmlformats.org/officeDocument/2006/relationships/slideLayout" Target="../slideLayouts/slideLayout1.xml"/><Relationship Id="rId3"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image" Target="../media/Slide-211-image-1.jpeg"/><Relationship Id="rId2" Type="http://schemas.openxmlformats.org/officeDocument/2006/relationships/slideLayout" Target="../slideLayouts/slideLayout1.xml"/><Relationship Id="rId3"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image" Target="../media/Slide-212-image-1.jpeg"/><Relationship Id="rId2" Type="http://schemas.openxmlformats.org/officeDocument/2006/relationships/slideLayout" Target="../slideLayouts/slideLayout1.xml"/><Relationship Id="rId3"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image" Target="../media/Slide-213-image-1.jpeg"/><Relationship Id="rId2" Type="http://schemas.openxmlformats.org/officeDocument/2006/relationships/slideLayout" Target="../slideLayouts/slideLayout1.xml"/><Relationship Id="rId3"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image" Target="../media/Slide-214-image-1.jpeg"/><Relationship Id="rId2" Type="http://schemas.openxmlformats.org/officeDocument/2006/relationships/slideLayout" Target="../slideLayouts/slideLayout1.xml"/><Relationship Id="rId3"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image" Target="../media/image-215-1.jpg"/><Relationship Id="rId2" Type="http://schemas.openxmlformats.org/officeDocument/2006/relationships/slideLayout" Target="../slideLayouts/slideLayout1.xml"/><Relationship Id="rId3"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image" Target="../media/Slide-216-image-1.jpeg"/><Relationship Id="rId2" Type="http://schemas.openxmlformats.org/officeDocument/2006/relationships/slideLayout" Target="../slideLayouts/slideLayout1.xml"/><Relationship Id="rId3"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image" Target="../media/Slide-217-image-1.jpeg"/><Relationship Id="rId2" Type="http://schemas.openxmlformats.org/officeDocument/2006/relationships/slideLayout" Target="../slideLayouts/slideLayout1.xml"/><Relationship Id="rId3"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image" Target="../media/image-218-1.jpg"/><Relationship Id="rId2" Type="http://schemas.openxmlformats.org/officeDocument/2006/relationships/slideLayout" Target="../slideLayouts/slideLayout1.xml"/><Relationship Id="rId3"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image" Target="../media/Slide-219-image-1.jpeg"/><Relationship Id="rId2" Type="http://schemas.openxmlformats.org/officeDocument/2006/relationships/slideLayout" Target="../slideLayouts/slideLayout1.xml"/><Relationship Id="rId3" Type="http://schemas.openxmlformats.org/officeDocument/2006/relationships/notesSlide" Target="../notesSlides/notesSlide2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615788" y="731520"/>
            <a:ext cx="960120" cy="960120"/>
          </a:xfrm>
          <a:prstGeom prst="roundRect">
            <a:avLst>
              <a:gd name="adj" fmla="val 26667"/>
            </a:avLst>
          </a:prstGeom>
          <a:solidFill>
            <a:srgbClr val="D9AE4B"/>
          </a:solidFill>
          <a:ln/>
          <a:effectLst>
            <a:outerShdw sx="100000" sy="100000" kx="0" ky="0" algn="bl" rotWithShape="0" blurRad="254000" dist="50800" dir="16200000">
              <a:srgbClr val="D9AE4B">
                <a:alpha val="45000"/>
              </a:srgbClr>
            </a:outerShdw>
          </a:effectLst>
        </p:spPr>
      </p:sp>
      <p:sp>
        <p:nvSpPr>
          <p:cNvPr id="3" name="Text 1"/>
          <p:cNvSpPr/>
          <p:nvPr/>
        </p:nvSpPr>
        <p:spPr>
          <a:xfrm>
            <a:off x="5615788" y="731520"/>
            <a:ext cx="960120" cy="960120"/>
          </a:xfrm>
          <a:prstGeom prst="rect">
            <a:avLst/>
          </a:prstGeom>
          <a:noFill/>
          <a:ln/>
        </p:spPr>
        <p:txBody>
          <a:bodyPr wrap="square" lIns="0" tIns="0" rIns="0" bIns="0" rtlCol="0" anchor="ctr">
            <a:normAutofit/>
          </a:bodyPr>
          <a:lstStyle/>
          <a:p>
            <a:pPr rtl="1" algn="ctr" indent="0" marL="0">
              <a:buNone/>
            </a:pPr>
            <a:r>
              <a:rPr lang="ar-SA" altLang="en-US" sz="4400" dirty="0">
                <a:solidFill>
                  <a:srgbClr val="131B34"/>
                </a:solidFill>
                <a:latin typeface="Cairo" pitchFamily="34" charset="0"/>
                <a:ea typeface="Cairo" pitchFamily="34" charset="-122"/>
                <a:cs typeface="Cairo" pitchFamily="34" charset="-120"/>
              </a:rPr>
              <a:t>🌳</a:t>
            </a:r>
            <a:endParaRPr lang="ar-SA" sz="4400" dirty="0"/>
          </a:p>
        </p:txBody>
      </p:sp>
      <p:sp>
        <p:nvSpPr>
          <p:cNvPr id="4" name="Text 2"/>
          <p:cNvSpPr/>
          <p:nvPr/>
        </p:nvSpPr>
        <p:spPr>
          <a:xfrm>
            <a:off x="0" y="1920240"/>
            <a:ext cx="12191695" cy="457200"/>
          </a:xfrm>
          <a:prstGeom prst="rect">
            <a:avLst/>
          </a:prstGeom>
          <a:noFill/>
          <a:ln/>
        </p:spPr>
        <p:txBody>
          <a:bodyPr wrap="square" lIns="0" tIns="0" rIns="0" bIns="0" rtlCol="0" anchor="ctr">
            <a:normAutofit/>
          </a:bodyPr>
          <a:lstStyle/>
          <a:p>
            <a:pPr rtl="1" algn="ctr" indent="0" marL="0">
              <a:buNone/>
            </a:pPr>
            <a:r>
              <a:rPr lang="ar-SA" altLang="en-US" sz="2000" b="1" dirty="0">
                <a:solidFill>
                  <a:srgbClr val="F0CC7A"/>
                </a:solidFill>
                <a:latin typeface="Cairo" pitchFamily="34" charset="0"/>
                <a:ea typeface="Cairo" pitchFamily="34" charset="-122"/>
                <a:cs typeface="Cairo" pitchFamily="34" charset="-120"/>
              </a:rPr>
              <a:t>الإدارة الصفية التطبيقية</a:t>
            </a:r>
            <a:endParaRPr lang="ar-SA" sz="2000" dirty="0"/>
          </a:p>
        </p:txBody>
      </p:sp>
      <p:sp>
        <p:nvSpPr>
          <p:cNvPr id="5" name="Text 3"/>
          <p:cNvSpPr/>
          <p:nvPr/>
        </p:nvSpPr>
        <p:spPr>
          <a:xfrm>
            <a:off x="0" y="2331720"/>
            <a:ext cx="12191695" cy="1463040"/>
          </a:xfrm>
          <a:prstGeom prst="rect">
            <a:avLst/>
          </a:prstGeom>
          <a:noFill/>
          <a:ln/>
        </p:spPr>
        <p:txBody>
          <a:bodyPr wrap="square" lIns="0" tIns="0" rIns="0" bIns="0" rtlCol="0" anchor="ctr">
            <a:normAutofit/>
          </a:bodyPr>
          <a:lstStyle/>
          <a:p>
            <a:pPr rtl="1" algn="ctr" indent="0" marL="0">
              <a:buNone/>
            </a:pPr>
            <a:r>
              <a:rPr lang="ar-SA" altLang="en-US" sz="9600" dirty="0">
                <a:solidFill>
                  <a:srgbClr val="FFF3D6"/>
                </a:solidFill>
                <a:latin typeface="Cairo Black" pitchFamily="34" charset="0"/>
                <a:ea typeface="Cairo Black" pitchFamily="34" charset="-122"/>
                <a:cs typeface="Cairo Black" pitchFamily="34" charset="-120"/>
              </a:rPr>
              <a:t>مواقف صفية</a:t>
            </a:r>
            <a:endParaRPr lang="ar-SA" sz="9600" dirty="0"/>
          </a:p>
        </p:txBody>
      </p:sp>
      <p:sp>
        <p:nvSpPr>
          <p:cNvPr id="6" name="Text 4"/>
          <p:cNvSpPr/>
          <p:nvPr/>
        </p:nvSpPr>
        <p:spPr>
          <a:xfrm>
            <a:off x="0" y="3794760"/>
            <a:ext cx="12191695" cy="640080"/>
          </a:xfrm>
          <a:prstGeom prst="rect">
            <a:avLst/>
          </a:prstGeom>
          <a:noFill/>
          <a:ln/>
        </p:spPr>
        <p:txBody>
          <a:bodyPr wrap="square" lIns="0" tIns="0" rIns="0" bIns="0" rtlCol="0" anchor="ctr">
            <a:normAutofit/>
          </a:bodyPr>
          <a:lstStyle/>
          <a:p>
            <a:pPr rtl="1" algn="ctr" indent="0" marL="0">
              <a:buNone/>
            </a:pPr>
            <a:r>
              <a:rPr lang="ar-SA" altLang="en-US" sz="2800" b="1" dirty="0">
                <a:solidFill>
                  <a:srgbClr val="FFFFFF"/>
                </a:solidFill>
                <a:latin typeface="Cairo" pitchFamily="34" charset="0"/>
                <a:ea typeface="Cairo" pitchFamily="34" charset="-122"/>
                <a:cs typeface="Cairo" pitchFamily="34" charset="-120"/>
              </a:rPr>
              <a:t>من ردّة الفعل… إلى التصرّف الواعي</a:t>
            </a:r>
            <a:endParaRPr lang="ar-SA" sz="2800" dirty="0"/>
          </a:p>
        </p:txBody>
      </p:sp>
      <p:sp>
        <p:nvSpPr>
          <p:cNvPr id="7" name="Shape 5"/>
          <p:cNvSpPr/>
          <p:nvPr/>
        </p:nvSpPr>
        <p:spPr>
          <a:xfrm>
            <a:off x="5364328" y="4617720"/>
            <a:ext cx="1463040" cy="36576"/>
          </a:xfrm>
          <a:prstGeom prst="rect">
            <a:avLst/>
          </a:prstGeom>
          <a:solidFill>
            <a:srgbClr val="D9AE4B"/>
          </a:solidFill>
          <a:ln/>
        </p:spPr>
      </p:sp>
      <p:sp>
        <p:nvSpPr>
          <p:cNvPr id="8" name="Text 6"/>
          <p:cNvSpPr/>
          <p:nvPr/>
        </p:nvSpPr>
        <p:spPr>
          <a:xfrm>
            <a:off x="0" y="5029200"/>
            <a:ext cx="12191695" cy="457200"/>
          </a:xfrm>
          <a:prstGeom prst="rect">
            <a:avLst/>
          </a:prstGeom>
          <a:noFill/>
          <a:ln/>
        </p:spPr>
        <p:txBody>
          <a:bodyPr wrap="square" lIns="0" tIns="0" rIns="0" bIns="0" rtlCol="0" anchor="ctr">
            <a:normAutofit/>
          </a:bodyPr>
          <a:lstStyle/>
          <a:p>
            <a:pPr algn="ctr" indent="0" marL="0">
              <a:buNone/>
            </a:pPr>
            <a:r>
              <a:rPr lang="ar-SA" altLang="en-US" sz="2000" b="1" dirty="0">
                <a:solidFill>
                  <a:srgbClr val="C9CFE6"/>
                </a:solidFill>
                <a:latin typeface="Cairo" pitchFamily="34" charset="0"/>
                <a:ea typeface="Cairo" pitchFamily="34" charset="-122"/>
                <a:cs typeface="Cairo" pitchFamily="34" charset="-120"/>
              </a:rPr>
              <a:t>إعداد وتقديم: </a:t>
            </a:r>
            <a:pPr algn="ctr" indent="0" marL="0">
              <a:buNone/>
            </a:pPr>
            <a:r>
              <a:rPr lang="ar-SA" altLang="en-US" sz="2000" b="1" dirty="0">
                <a:solidFill>
                  <a:srgbClr val="D9AE4B"/>
                </a:solidFill>
                <a:latin typeface="Cairo" pitchFamily="34" charset="0"/>
                <a:ea typeface="Cairo" pitchFamily="34" charset="-122"/>
                <a:cs typeface="Cairo" pitchFamily="34" charset="-120"/>
              </a:rPr>
              <a:t>أ. محمد زيتون</a:t>
            </a:r>
            <a:endParaRPr lang="ar-SA"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مقدّم الدورة</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 محمد زيتون</a:t>
            </a:r>
            <a:endParaRPr lang="ar-SA" sz="3800" dirty="0"/>
          </a:p>
        </p:txBody>
      </p:sp>
      <p:sp>
        <p:nvSpPr>
          <p:cNvPr id="5" name="Text 3"/>
          <p:cNvSpPr/>
          <p:nvPr/>
        </p:nvSpPr>
        <p:spPr>
          <a:xfrm>
            <a:off x="822960" y="1783080"/>
            <a:ext cx="1054577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22346F"/>
                </a:solidFill>
                <a:latin typeface="Cairo" pitchFamily="34" charset="0"/>
                <a:ea typeface="Cairo" pitchFamily="34" charset="-122"/>
                <a:cs typeface="Cairo" pitchFamily="34" charset="-120"/>
              </a:rPr>
              <a:t>مشرف تربوي — الابتكار والذكاء الاصطناعي وSTEAM · مدارس الأرقم</a:t>
            </a:r>
            <a:endParaRPr lang="ar-SA" sz="2000" dirty="0"/>
          </a:p>
        </p:txBody>
      </p:sp>
      <p:sp>
        <p:nvSpPr>
          <p:cNvPr id="6" name="anim-g1-1"/>
          <p:cNvSpPr/>
          <p:nvPr/>
        </p:nvSpPr>
        <p:spPr>
          <a:xfrm>
            <a:off x="8066837" y="2560320"/>
            <a:ext cx="3301898" cy="2286000"/>
          </a:xfrm>
          <a:prstGeom prst="roundRect">
            <a:avLst>
              <a:gd name="adj" fmla="val 7200"/>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7" name="anim-g1-2"/>
          <p:cNvSpPr/>
          <p:nvPr/>
        </p:nvSpPr>
        <p:spPr>
          <a:xfrm>
            <a:off x="8066837" y="2743200"/>
            <a:ext cx="3301898" cy="1097280"/>
          </a:xfrm>
          <a:prstGeom prst="rect">
            <a:avLst/>
          </a:prstGeom>
          <a:noFill/>
          <a:ln/>
        </p:spPr>
        <p:txBody>
          <a:bodyPr wrap="square" lIns="0" tIns="0" rIns="0" bIns="0" rtlCol="0" anchor="ctr">
            <a:normAutofit/>
          </a:bodyPr>
          <a:lstStyle/>
          <a:p>
            <a:pPr rtl="1" algn="ctr" indent="0" marL="0">
              <a:buNone/>
            </a:pPr>
            <a:r>
              <a:rPr lang="ar-SA" altLang="en-US" sz="5600" dirty="0">
                <a:solidFill>
                  <a:srgbClr val="B08A2E"/>
                </a:solidFill>
                <a:latin typeface="Cairo Black" pitchFamily="34" charset="0"/>
                <a:ea typeface="Cairo Black" pitchFamily="34" charset="-122"/>
                <a:cs typeface="Cairo Black" pitchFamily="34" charset="-120"/>
              </a:rPr>
              <a:t>٣٣</a:t>
            </a:r>
            <a:endParaRPr lang="ar-SA" sz="5600" dirty="0"/>
          </a:p>
        </p:txBody>
      </p:sp>
      <p:sp>
        <p:nvSpPr>
          <p:cNvPr id="8" name="anim-g1-3"/>
          <p:cNvSpPr/>
          <p:nvPr/>
        </p:nvSpPr>
        <p:spPr>
          <a:xfrm>
            <a:off x="8249717" y="3886200"/>
            <a:ext cx="2936138" cy="731520"/>
          </a:xfrm>
          <a:prstGeom prst="rect">
            <a:avLst/>
          </a:prstGeom>
          <a:noFill/>
          <a:ln/>
        </p:spPr>
        <p:txBody>
          <a:bodyPr wrap="square" lIns="0" tIns="0" rIns="0" bIns="0" rtlCol="0" anchor="ctr">
            <a:normAutofit/>
          </a:bodyPr>
          <a:lstStyle/>
          <a:p>
            <a:pPr rtl="1" algn="ctr" indent="0" marL="0">
              <a:buNone/>
            </a:pPr>
            <a:r>
              <a:rPr lang="ar-SA" altLang="en-US" sz="2000" b="1" dirty="0">
                <a:solidFill>
                  <a:srgbClr val="101B45"/>
                </a:solidFill>
                <a:latin typeface="Cairo" pitchFamily="34" charset="0"/>
                <a:ea typeface="Cairo" pitchFamily="34" charset="-122"/>
                <a:cs typeface="Cairo" pitchFamily="34" charset="-120"/>
              </a:rPr>
              <a:t>عامًا في الميدان التعليمي</a:t>
            </a:r>
            <a:endParaRPr lang="ar-SA" sz="2000" dirty="0"/>
          </a:p>
        </p:txBody>
      </p:sp>
      <p:sp>
        <p:nvSpPr>
          <p:cNvPr id="9" name="anim-g2-4"/>
          <p:cNvSpPr/>
          <p:nvPr/>
        </p:nvSpPr>
        <p:spPr>
          <a:xfrm>
            <a:off x="4444898" y="2560320"/>
            <a:ext cx="3301898" cy="2286000"/>
          </a:xfrm>
          <a:prstGeom prst="roundRect">
            <a:avLst>
              <a:gd name="adj" fmla="val 7200"/>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0" name="anim-g2-5"/>
          <p:cNvSpPr/>
          <p:nvPr/>
        </p:nvSpPr>
        <p:spPr>
          <a:xfrm>
            <a:off x="4444898" y="2743200"/>
            <a:ext cx="3301898" cy="1097280"/>
          </a:xfrm>
          <a:prstGeom prst="rect">
            <a:avLst/>
          </a:prstGeom>
          <a:noFill/>
          <a:ln/>
        </p:spPr>
        <p:txBody>
          <a:bodyPr wrap="square" lIns="0" tIns="0" rIns="0" bIns="0" rtlCol="0" anchor="ctr">
            <a:normAutofit/>
          </a:bodyPr>
          <a:lstStyle/>
          <a:p>
            <a:pPr rtl="1" algn="ctr" indent="0" marL="0">
              <a:buNone/>
            </a:pPr>
            <a:r>
              <a:rPr lang="ar-SA" altLang="en-US" sz="5600" dirty="0">
                <a:solidFill>
                  <a:srgbClr val="B08A2E"/>
                </a:solidFill>
                <a:latin typeface="Cairo Black" pitchFamily="34" charset="0"/>
                <a:ea typeface="Cairo Black" pitchFamily="34" charset="-122"/>
                <a:cs typeface="Cairo Black" pitchFamily="34" charset="-120"/>
              </a:rPr>
              <a:t>١٠+</a:t>
            </a:r>
            <a:endParaRPr lang="ar-SA" sz="5600" dirty="0"/>
          </a:p>
        </p:txBody>
      </p:sp>
      <p:sp>
        <p:nvSpPr>
          <p:cNvPr id="11" name="anim-g2-6"/>
          <p:cNvSpPr/>
          <p:nvPr/>
        </p:nvSpPr>
        <p:spPr>
          <a:xfrm>
            <a:off x="4627778" y="3886200"/>
            <a:ext cx="2936138" cy="731520"/>
          </a:xfrm>
          <a:prstGeom prst="rect">
            <a:avLst/>
          </a:prstGeom>
          <a:noFill/>
          <a:ln/>
        </p:spPr>
        <p:txBody>
          <a:bodyPr wrap="square" lIns="0" tIns="0" rIns="0" bIns="0" rtlCol="0" anchor="ctr">
            <a:normAutofit/>
          </a:bodyPr>
          <a:lstStyle/>
          <a:p>
            <a:pPr rtl="1" algn="ctr" indent="0" marL="0">
              <a:buNone/>
            </a:pPr>
            <a:r>
              <a:rPr lang="ar-SA" altLang="en-US" sz="2000" b="1" dirty="0">
                <a:solidFill>
                  <a:srgbClr val="101B45"/>
                </a:solidFill>
                <a:latin typeface="Cairo" pitchFamily="34" charset="0"/>
                <a:ea typeface="Cairo" pitchFamily="34" charset="-122"/>
                <a:cs typeface="Cairo" pitchFamily="34" charset="-120"/>
              </a:rPr>
              <a:t>كتب مؤلفة ومعتمدة</a:t>
            </a:r>
            <a:endParaRPr lang="ar-SA" sz="2000" dirty="0"/>
          </a:p>
        </p:txBody>
      </p:sp>
      <p:sp>
        <p:nvSpPr>
          <p:cNvPr id="12" name="anim-g3-7"/>
          <p:cNvSpPr/>
          <p:nvPr/>
        </p:nvSpPr>
        <p:spPr>
          <a:xfrm>
            <a:off x="822960" y="2560320"/>
            <a:ext cx="3301898" cy="2286000"/>
          </a:xfrm>
          <a:prstGeom prst="roundRect">
            <a:avLst>
              <a:gd name="adj" fmla="val 7200"/>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3" name="anim-g3-8"/>
          <p:cNvSpPr/>
          <p:nvPr/>
        </p:nvSpPr>
        <p:spPr>
          <a:xfrm>
            <a:off x="822960" y="2743200"/>
            <a:ext cx="3301898" cy="1097280"/>
          </a:xfrm>
          <a:prstGeom prst="rect">
            <a:avLst/>
          </a:prstGeom>
          <a:noFill/>
          <a:ln/>
        </p:spPr>
        <p:txBody>
          <a:bodyPr wrap="square" lIns="0" tIns="0" rIns="0" bIns="0" rtlCol="0" anchor="ctr">
            <a:normAutofit/>
          </a:bodyPr>
          <a:lstStyle/>
          <a:p>
            <a:pPr rtl="1" algn="ctr" indent="0" marL="0">
              <a:buNone/>
            </a:pPr>
            <a:r>
              <a:rPr lang="ar-SA" altLang="en-US" sz="3600" dirty="0">
                <a:solidFill>
                  <a:srgbClr val="B08A2E"/>
                </a:solidFill>
                <a:latin typeface="Cairo Black" pitchFamily="34" charset="0"/>
                <a:ea typeface="Cairo Black" pitchFamily="34" charset="-122"/>
                <a:cs typeface="Cairo Black" pitchFamily="34" charset="-120"/>
              </a:rPr>
              <a:t>Microsoft</a:t>
            </a:r>
            <a:endParaRPr lang="ar-SA" sz="3600" dirty="0"/>
          </a:p>
        </p:txBody>
      </p:sp>
      <p:sp>
        <p:nvSpPr>
          <p:cNvPr id="14" name="anim-g3-9"/>
          <p:cNvSpPr/>
          <p:nvPr/>
        </p:nvSpPr>
        <p:spPr>
          <a:xfrm>
            <a:off x="1005840" y="3886200"/>
            <a:ext cx="2936138" cy="731520"/>
          </a:xfrm>
          <a:prstGeom prst="rect">
            <a:avLst/>
          </a:prstGeom>
          <a:noFill/>
          <a:ln/>
        </p:spPr>
        <p:txBody>
          <a:bodyPr wrap="square" lIns="0" tIns="0" rIns="0" bIns="0" rtlCol="0" anchor="ctr">
            <a:normAutofit/>
          </a:bodyPr>
          <a:lstStyle/>
          <a:p>
            <a:pPr rtl="1" algn="ctr" indent="0" marL="0">
              <a:buNone/>
            </a:pPr>
            <a:r>
              <a:rPr lang="ar-SA" altLang="en-US" sz="2000" b="1" dirty="0">
                <a:solidFill>
                  <a:srgbClr val="101B45"/>
                </a:solidFill>
                <a:latin typeface="Cairo" pitchFamily="34" charset="0"/>
                <a:ea typeface="Cairo" pitchFamily="34" charset="-122"/>
                <a:cs typeface="Cairo" pitchFamily="34" charset="-120"/>
              </a:rPr>
              <a:t>مدرب معتمد</a:t>
            </a:r>
            <a:endParaRPr lang="ar-SA" sz="2000" dirty="0"/>
          </a:p>
        </p:txBody>
      </p:sp>
      <p:sp>
        <p:nvSpPr>
          <p:cNvPr id="15" name="anim-g4-10"/>
          <p:cNvSpPr/>
          <p:nvPr/>
        </p:nvSpPr>
        <p:spPr>
          <a:xfrm>
            <a:off x="822960" y="5257800"/>
            <a:ext cx="10545775"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5E6782"/>
                </a:solidFill>
                <a:latin typeface="Cairo" pitchFamily="34" charset="0"/>
                <a:ea typeface="Cairo" pitchFamily="34" charset="-122"/>
                <a:cs typeface="Cairo" pitchFamily="34" charset="-120"/>
              </a:rPr>
              <a:t>محاضر على منصات رواق وأعناب ونون · عضو مجمع اللغة العربية</a:t>
            </a:r>
            <a:endParaRPr lang="ar-SA" sz="1800" dirty="0"/>
          </a:p>
        </p:txBody>
      </p:sp>
      <p:sp>
        <p:nvSpPr>
          <p:cNvPr id="16" name="Text 14"/>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17" name="Text 15"/>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البداية  ·  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4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4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40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400"/>
                                        <p:tgtEl>
                                          <p:spTgt spid="14"/>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320479" y="457200"/>
            <a:ext cx="2048256" cy="457200"/>
          </a:xfrm>
          <a:prstGeom prst="roundRect">
            <a:avLst>
              <a:gd name="adj" fmla="val 50000"/>
            </a:avLst>
          </a:prstGeom>
          <a:solidFill>
            <a:srgbClr val="F6EBCF"/>
          </a:solidFill>
          <a:ln/>
        </p:spPr>
      </p:sp>
      <p:sp>
        <p:nvSpPr>
          <p:cNvPr id="3" name="Text 1"/>
          <p:cNvSpPr/>
          <p:nvPr/>
        </p:nvSpPr>
        <p:spPr>
          <a:xfrm>
            <a:off x="9320479" y="457200"/>
            <a:ext cx="204825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عن الدورة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لمن هذه الدورة؟ وماذا ستأخذ منها؟</a:t>
            </a:r>
            <a:endParaRPr lang="ar-SA" sz="3200" dirty="0"/>
          </a:p>
        </p:txBody>
      </p:sp>
      <p:sp>
        <p:nvSpPr>
          <p:cNvPr id="5" name="anim-g1-11"/>
          <p:cNvSpPr/>
          <p:nvPr/>
        </p:nvSpPr>
        <p:spPr>
          <a:xfrm>
            <a:off x="8036357"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12"/>
          <p:cNvSpPr/>
          <p:nvPr/>
        </p:nvSpPr>
        <p:spPr>
          <a:xfrm>
            <a:off x="10362895" y="2404872"/>
            <a:ext cx="731520" cy="731520"/>
          </a:xfrm>
          <a:prstGeom prst="roundRect">
            <a:avLst>
              <a:gd name="adj" fmla="val 25000"/>
            </a:avLst>
          </a:prstGeom>
          <a:solidFill>
            <a:srgbClr val="F7E6BC"/>
          </a:solidFill>
          <a:ln/>
        </p:spPr>
      </p:sp>
      <p:sp>
        <p:nvSpPr>
          <p:cNvPr id="7" name="anim-g1-13"/>
          <p:cNvSpPr/>
          <p:nvPr/>
        </p:nvSpPr>
        <p:spPr>
          <a:xfrm>
            <a:off x="10362895"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8" name="anim-g1-14"/>
          <p:cNvSpPr/>
          <p:nvPr/>
        </p:nvSpPr>
        <p:spPr>
          <a:xfrm>
            <a:off x="8310677"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لمن؟</a:t>
            </a:r>
            <a:endParaRPr lang="ar-SA" sz="2300" dirty="0"/>
          </a:p>
        </p:txBody>
      </p:sp>
      <p:sp>
        <p:nvSpPr>
          <p:cNvPr id="9" name="anim-g1-15"/>
          <p:cNvSpPr/>
          <p:nvPr/>
        </p:nvSpPr>
        <p:spPr>
          <a:xfrm>
            <a:off x="8310677"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المعلمون والمعلمات في كل المراحل، وقادة المدارس، والمشرفون التربويون</a:t>
            </a:r>
            <a:endParaRPr lang="ar-SA" sz="2100" dirty="0"/>
          </a:p>
        </p:txBody>
      </p:sp>
      <p:sp>
        <p:nvSpPr>
          <p:cNvPr id="10" name="anim-g2-16"/>
          <p:cNvSpPr/>
          <p:nvPr/>
        </p:nvSpPr>
        <p:spPr>
          <a:xfrm>
            <a:off x="4429658"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17"/>
          <p:cNvSpPr/>
          <p:nvPr/>
        </p:nvSpPr>
        <p:spPr>
          <a:xfrm>
            <a:off x="6756197" y="2404872"/>
            <a:ext cx="731520" cy="731520"/>
          </a:xfrm>
          <a:prstGeom prst="roundRect">
            <a:avLst>
              <a:gd name="adj" fmla="val 25000"/>
            </a:avLst>
          </a:prstGeom>
          <a:solidFill>
            <a:srgbClr val="F7E6BC"/>
          </a:solidFill>
          <a:ln/>
        </p:spPr>
      </p:sp>
      <p:sp>
        <p:nvSpPr>
          <p:cNvPr id="12" name="anim-g2-18"/>
          <p:cNvSpPr/>
          <p:nvPr/>
        </p:nvSpPr>
        <p:spPr>
          <a:xfrm>
            <a:off x="6756197"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3" name="anim-g2-19"/>
          <p:cNvSpPr/>
          <p:nvPr/>
        </p:nvSpPr>
        <p:spPr>
          <a:xfrm>
            <a:off x="4703978"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ماذا ستأخذ؟</a:t>
            </a:r>
            <a:endParaRPr lang="ar-SA" sz="2300" dirty="0"/>
          </a:p>
        </p:txBody>
      </p:sp>
      <p:sp>
        <p:nvSpPr>
          <p:cNvPr id="14" name="anim-g2-20"/>
          <p:cNvSpPr/>
          <p:nvPr/>
        </p:nvSpPr>
        <p:spPr>
          <a:xfrm>
            <a:off x="4703978"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جُملًا حرفية تقولها غدًا، وخطوات واضحة لكل موقف، لا نظريات عامة</a:t>
            </a:r>
            <a:endParaRPr lang="ar-SA" sz="2100" dirty="0"/>
          </a:p>
        </p:txBody>
      </p:sp>
      <p:sp>
        <p:nvSpPr>
          <p:cNvPr id="15" name="anim-g3-21"/>
          <p:cNvSpPr/>
          <p:nvPr/>
        </p:nvSpPr>
        <p:spPr>
          <a:xfrm>
            <a:off x="822960"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22"/>
          <p:cNvSpPr/>
          <p:nvPr/>
        </p:nvSpPr>
        <p:spPr>
          <a:xfrm>
            <a:off x="3149498" y="2404872"/>
            <a:ext cx="731520" cy="731520"/>
          </a:xfrm>
          <a:prstGeom prst="roundRect">
            <a:avLst>
              <a:gd name="adj" fmla="val 25000"/>
            </a:avLst>
          </a:prstGeom>
          <a:solidFill>
            <a:srgbClr val="F7E6BC"/>
          </a:solidFill>
          <a:ln/>
        </p:spPr>
      </p:sp>
      <p:sp>
        <p:nvSpPr>
          <p:cNvPr id="17" name="anim-g3-23"/>
          <p:cNvSpPr/>
          <p:nvPr/>
        </p:nvSpPr>
        <p:spPr>
          <a:xfrm>
            <a:off x="3149498"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8" name="anim-g3-24"/>
          <p:cNvSpPr/>
          <p:nvPr/>
        </p:nvSpPr>
        <p:spPr>
          <a:xfrm>
            <a:off x="1097280"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كيف نتعلم؟</a:t>
            </a:r>
            <a:endParaRPr lang="ar-SA" sz="2300" dirty="0"/>
          </a:p>
        </p:txBody>
      </p:sp>
      <p:sp>
        <p:nvSpPr>
          <p:cNvPr id="19" name="anim-g3-25"/>
          <p:cNvSpPr/>
          <p:nvPr/>
        </p:nvSpPr>
        <p:spPr>
          <a:xfrm>
            <a:off x="1097280"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مواقف حقيقية، وتصويت، ونقاش مجموعات، ثم الحل العملي خطوة بخطوة</a:t>
            </a:r>
            <a:endParaRPr lang="ar-SA" sz="21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البداية  ·  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Users/mac/Desktop/أردوينو/المشاريع والكتب/younes-training/mawaqif/.pptx-cache/s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١</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المحطة ١</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قبل أن تدخل الفصل</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النية والدعاء… الإدارة الصفية تبدأ من القلب</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قبل أن تدخل الفصل  ·  ٥</a:t>
            </a:r>
            <a:endParaRPr lang="ar-SA"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3169768" y="1097280"/>
            <a:ext cx="5852160"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3169768" y="1097280"/>
            <a:ext cx="585216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قبل أن تُصلح سلوك طالب… أصلِح نيّتك</a:t>
            </a:r>
            <a:endParaRPr lang="ar-SA" sz="1800" dirty="0"/>
          </a:p>
        </p:txBody>
      </p:sp>
      <p:sp>
        <p:nvSpPr>
          <p:cNvPr id="4" name="Shape 2"/>
          <p:cNvSpPr/>
          <p:nvPr/>
        </p:nvSpPr>
        <p:spPr>
          <a:xfrm>
            <a:off x="5181448" y="2103120"/>
            <a:ext cx="1828800" cy="32004"/>
          </a:xfrm>
          <a:prstGeom prst="rect">
            <a:avLst/>
          </a:prstGeom>
          <a:solidFill>
            <a:srgbClr val="D9AE4B"/>
          </a:solidFill>
          <a:ln/>
        </p:spPr>
      </p:sp>
      <p:sp>
        <p:nvSpPr>
          <p:cNvPr id="5" name="Text 3"/>
          <p:cNvSpPr/>
          <p:nvPr/>
        </p:nvSpPr>
        <p:spPr>
          <a:xfrm>
            <a:off x="1188720" y="2286000"/>
            <a:ext cx="9814255" cy="2377440"/>
          </a:xfrm>
          <a:prstGeom prst="rect">
            <a:avLst/>
          </a:prstGeom>
          <a:noFill/>
          <a:ln/>
        </p:spPr>
        <p:txBody>
          <a:bodyPr wrap="square" lIns="0" tIns="0" rIns="0" bIns="0" rtlCol="0" anchor="ctr">
            <a:normAutofit/>
          </a:bodyPr>
          <a:lstStyle/>
          <a:p>
            <a:pPr rtl="1" algn="ctr" indent="0" marL="0">
              <a:lnSpc>
                <a:spcPct val="125000"/>
              </a:lnSpc>
              <a:buNone/>
            </a:pPr>
            <a:r>
              <a:rPr lang="ar-SA" altLang="en-US" sz="4000" b="1" dirty="0">
                <a:solidFill>
                  <a:srgbClr val="FFFFFF"/>
                </a:solidFill>
                <a:latin typeface="Amiri" pitchFamily="34" charset="0"/>
                <a:ea typeface="Amiri" pitchFamily="34" charset="-122"/>
                <a:cs typeface="Amiri" pitchFamily="34" charset="-120"/>
              </a:rPr>
              <a:t>إنما الأعمال بالنيات، وإنما لكل امرئ ما نوى</a:t>
            </a:r>
            <a:endParaRPr lang="ar-SA" sz="4000" dirty="0"/>
          </a:p>
        </p:txBody>
      </p:sp>
      <p:sp>
        <p:nvSpPr>
          <p:cNvPr id="6" name="Shape 4"/>
          <p:cNvSpPr/>
          <p:nvPr/>
        </p:nvSpPr>
        <p:spPr>
          <a:xfrm>
            <a:off x="5181448" y="4800600"/>
            <a:ext cx="1828800" cy="32004"/>
          </a:xfrm>
          <a:prstGeom prst="rect">
            <a:avLst/>
          </a:prstGeom>
          <a:solidFill>
            <a:srgbClr val="D9AE4B"/>
          </a:solidFill>
          <a:ln/>
        </p:spPr>
      </p:sp>
      <p:sp>
        <p:nvSpPr>
          <p:cNvPr id="7" name="anim-g1-26"/>
          <p:cNvSpPr/>
          <p:nvPr/>
        </p:nvSpPr>
        <p:spPr>
          <a:xfrm>
            <a:off x="0" y="5029200"/>
            <a:ext cx="12191695"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D9AE4B"/>
                </a:solidFill>
                <a:latin typeface="Cairo" pitchFamily="34" charset="0"/>
                <a:ea typeface="Cairo" pitchFamily="34" charset="-122"/>
                <a:cs typeface="Cairo" pitchFamily="34" charset="-120"/>
              </a:rPr>
              <a:t>متفق عليه</a:t>
            </a:r>
            <a:endParaRPr lang="ar-SA" sz="1600" dirty="0"/>
          </a:p>
        </p:txBody>
      </p:sp>
      <p:sp>
        <p:nvSpPr>
          <p:cNvPr id="8" name="Text 6"/>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9" name="Text 7"/>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قبل أن تدخل الفصل  ·  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3828136" y="1097280"/>
            <a:ext cx="4535424"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3828136" y="1097280"/>
            <a:ext cx="453542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أنت لست موظفًا يؤدي ست حصص</a:t>
            </a:r>
            <a:endParaRPr lang="ar-SA" sz="1800" dirty="0"/>
          </a:p>
        </p:txBody>
      </p:sp>
      <p:sp>
        <p:nvSpPr>
          <p:cNvPr id="4" name="Shape 2"/>
          <p:cNvSpPr/>
          <p:nvPr/>
        </p:nvSpPr>
        <p:spPr>
          <a:xfrm>
            <a:off x="5181448" y="2103120"/>
            <a:ext cx="1828800" cy="32004"/>
          </a:xfrm>
          <a:prstGeom prst="rect">
            <a:avLst/>
          </a:prstGeom>
          <a:solidFill>
            <a:srgbClr val="D9AE4B"/>
          </a:solidFill>
          <a:ln/>
        </p:spPr>
      </p:sp>
      <p:sp>
        <p:nvSpPr>
          <p:cNvPr id="5" name="Text 3"/>
          <p:cNvSpPr/>
          <p:nvPr/>
        </p:nvSpPr>
        <p:spPr>
          <a:xfrm>
            <a:off x="1188720" y="2286000"/>
            <a:ext cx="9814255" cy="2377440"/>
          </a:xfrm>
          <a:prstGeom prst="rect">
            <a:avLst/>
          </a:prstGeom>
          <a:noFill/>
          <a:ln/>
        </p:spPr>
        <p:txBody>
          <a:bodyPr wrap="square" lIns="0" tIns="0" rIns="0" bIns="0" rtlCol="0" anchor="ctr">
            <a:normAutofit/>
          </a:bodyPr>
          <a:lstStyle/>
          <a:p>
            <a:pPr rtl="1" algn="ctr" indent="0" marL="0">
              <a:lnSpc>
                <a:spcPct val="125000"/>
              </a:lnSpc>
              <a:buNone/>
            </a:pPr>
            <a:r>
              <a:rPr lang="ar-SA" altLang="en-US" sz="4000" b="1" dirty="0">
                <a:solidFill>
                  <a:srgbClr val="FFFFFF"/>
                </a:solidFill>
                <a:latin typeface="Amiri" pitchFamily="34" charset="0"/>
                <a:ea typeface="Amiri" pitchFamily="34" charset="-122"/>
                <a:cs typeface="Amiri" pitchFamily="34" charset="-120"/>
              </a:rPr>
              <a:t>إن الله وملائكته وأهل السماوات والأرض، حتى النملة في جحرها وحتى الحوت، ليصلّون على معلّم الناس الخير</a:t>
            </a:r>
            <a:endParaRPr lang="ar-SA" sz="4000" dirty="0"/>
          </a:p>
        </p:txBody>
      </p:sp>
      <p:sp>
        <p:nvSpPr>
          <p:cNvPr id="6" name="Shape 4"/>
          <p:cNvSpPr/>
          <p:nvPr/>
        </p:nvSpPr>
        <p:spPr>
          <a:xfrm>
            <a:off x="5181448" y="4800600"/>
            <a:ext cx="1828800" cy="32004"/>
          </a:xfrm>
          <a:prstGeom prst="rect">
            <a:avLst/>
          </a:prstGeom>
          <a:solidFill>
            <a:srgbClr val="D9AE4B"/>
          </a:solidFill>
          <a:ln/>
        </p:spPr>
      </p:sp>
      <p:sp>
        <p:nvSpPr>
          <p:cNvPr id="7" name="anim-g1-27"/>
          <p:cNvSpPr/>
          <p:nvPr/>
        </p:nvSpPr>
        <p:spPr>
          <a:xfrm>
            <a:off x="0" y="5029200"/>
            <a:ext cx="12191695"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D9AE4B"/>
                </a:solidFill>
                <a:latin typeface="Cairo" pitchFamily="34" charset="0"/>
                <a:ea typeface="Cairo" pitchFamily="34" charset="-122"/>
                <a:cs typeface="Cairo" pitchFamily="34" charset="-120"/>
              </a:rPr>
              <a:t>رواه الترمذي، وصحّحه الألباني</a:t>
            </a:r>
            <a:endParaRPr lang="ar-SA" sz="1600" dirty="0"/>
          </a:p>
        </p:txBody>
      </p:sp>
      <p:sp>
        <p:nvSpPr>
          <p:cNvPr id="8" name="Text 6"/>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9" name="Text 7"/>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قبل أن تدخل الفصل  ·  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174175" y="457200"/>
            <a:ext cx="2194560" cy="457200"/>
          </a:xfrm>
          <a:prstGeom prst="roundRect">
            <a:avLst>
              <a:gd name="adj" fmla="val 50000"/>
            </a:avLst>
          </a:prstGeom>
          <a:solidFill>
            <a:srgbClr val="F6EBCF"/>
          </a:solidFill>
          <a:ln/>
        </p:spPr>
      </p:sp>
      <p:sp>
        <p:nvSpPr>
          <p:cNvPr id="3" name="Text 1"/>
          <p:cNvSpPr/>
          <p:nvPr/>
        </p:nvSpPr>
        <p:spPr>
          <a:xfrm>
            <a:off x="9174175" y="457200"/>
            <a:ext cx="219456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تطبيق عملي</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ثلاث نيّات تجدّدها كل صباح عند باب الفصل</a:t>
            </a:r>
            <a:endParaRPr lang="ar-SA" sz="3200" dirty="0"/>
          </a:p>
        </p:txBody>
      </p:sp>
      <p:sp>
        <p:nvSpPr>
          <p:cNvPr id="5" name="anim-g1-28"/>
          <p:cNvSpPr/>
          <p:nvPr/>
        </p:nvSpPr>
        <p:spPr>
          <a:xfrm>
            <a:off x="8036357"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29"/>
          <p:cNvSpPr/>
          <p:nvPr/>
        </p:nvSpPr>
        <p:spPr>
          <a:xfrm>
            <a:off x="10362895" y="2404872"/>
            <a:ext cx="731520" cy="731520"/>
          </a:xfrm>
          <a:prstGeom prst="roundRect">
            <a:avLst>
              <a:gd name="adj" fmla="val 25000"/>
            </a:avLst>
          </a:prstGeom>
          <a:solidFill>
            <a:srgbClr val="F7E6BC"/>
          </a:solidFill>
          <a:ln/>
        </p:spPr>
      </p:sp>
      <p:sp>
        <p:nvSpPr>
          <p:cNvPr id="7" name="anim-g1-30"/>
          <p:cNvSpPr/>
          <p:nvPr/>
        </p:nvSpPr>
        <p:spPr>
          <a:xfrm>
            <a:off x="10362895"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8" name="anim-g1-31"/>
          <p:cNvSpPr/>
          <p:nvPr/>
        </p:nvSpPr>
        <p:spPr>
          <a:xfrm>
            <a:off x="8310677"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أعلّم لوجه الله</a:t>
            </a:r>
            <a:endParaRPr lang="ar-SA" sz="2300" dirty="0"/>
          </a:p>
        </p:txBody>
      </p:sp>
      <p:sp>
        <p:nvSpPr>
          <p:cNvPr id="9" name="anim-g1-32"/>
          <p:cNvSpPr/>
          <p:nvPr/>
        </p:nvSpPr>
        <p:spPr>
          <a:xfrm>
            <a:off x="8310677"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لا لإرضاء مدير ولا لتقييم أداء؛ فيبقى عطائي ثابتًا في كل الظروف</a:t>
            </a:r>
            <a:endParaRPr lang="ar-SA" sz="2100" dirty="0"/>
          </a:p>
        </p:txBody>
      </p:sp>
      <p:sp>
        <p:nvSpPr>
          <p:cNvPr id="10" name="anim-g2-33"/>
          <p:cNvSpPr/>
          <p:nvPr/>
        </p:nvSpPr>
        <p:spPr>
          <a:xfrm>
            <a:off x="4429658"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34"/>
          <p:cNvSpPr/>
          <p:nvPr/>
        </p:nvSpPr>
        <p:spPr>
          <a:xfrm>
            <a:off x="6756197" y="2404872"/>
            <a:ext cx="731520" cy="731520"/>
          </a:xfrm>
          <a:prstGeom prst="roundRect">
            <a:avLst>
              <a:gd name="adj" fmla="val 25000"/>
            </a:avLst>
          </a:prstGeom>
          <a:solidFill>
            <a:srgbClr val="F7E6BC"/>
          </a:solidFill>
          <a:ln/>
        </p:spPr>
      </p:sp>
      <p:sp>
        <p:nvSpPr>
          <p:cNvPr id="12" name="anim-g2-35"/>
          <p:cNvSpPr/>
          <p:nvPr/>
        </p:nvSpPr>
        <p:spPr>
          <a:xfrm>
            <a:off x="6756197"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3" name="anim-g2-36"/>
          <p:cNvSpPr/>
          <p:nvPr/>
        </p:nvSpPr>
        <p:spPr>
          <a:xfrm>
            <a:off x="4703978"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أربّي قبل أن أعلّم</a:t>
            </a:r>
            <a:endParaRPr lang="ar-SA" sz="2300" dirty="0"/>
          </a:p>
        </p:txBody>
      </p:sp>
      <p:sp>
        <p:nvSpPr>
          <p:cNvPr id="14" name="anim-g2-37"/>
          <p:cNvSpPr/>
          <p:nvPr/>
        </p:nvSpPr>
        <p:spPr>
          <a:xfrm>
            <a:off x="4703978"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الطالب الذي يخطئ أمامي فرصة تربية، لا خصم أهزمه</a:t>
            </a:r>
            <a:endParaRPr lang="ar-SA" sz="2100" dirty="0"/>
          </a:p>
        </p:txBody>
      </p:sp>
      <p:sp>
        <p:nvSpPr>
          <p:cNvPr id="15" name="anim-g3-38"/>
          <p:cNvSpPr/>
          <p:nvPr/>
        </p:nvSpPr>
        <p:spPr>
          <a:xfrm>
            <a:off x="822960"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39"/>
          <p:cNvSpPr/>
          <p:nvPr/>
        </p:nvSpPr>
        <p:spPr>
          <a:xfrm>
            <a:off x="3149498" y="2404872"/>
            <a:ext cx="731520" cy="731520"/>
          </a:xfrm>
          <a:prstGeom prst="roundRect">
            <a:avLst>
              <a:gd name="adj" fmla="val 25000"/>
            </a:avLst>
          </a:prstGeom>
          <a:solidFill>
            <a:srgbClr val="F7E6BC"/>
          </a:solidFill>
          <a:ln/>
        </p:spPr>
      </p:sp>
      <p:sp>
        <p:nvSpPr>
          <p:cNvPr id="17" name="anim-g3-40"/>
          <p:cNvSpPr/>
          <p:nvPr/>
        </p:nvSpPr>
        <p:spPr>
          <a:xfrm>
            <a:off x="3149498"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8" name="anim-g3-41"/>
          <p:cNvSpPr/>
          <p:nvPr/>
        </p:nvSpPr>
        <p:spPr>
          <a:xfrm>
            <a:off x="1097280"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أصبر محتسبًا</a:t>
            </a:r>
            <a:endParaRPr lang="ar-SA" sz="2300" dirty="0"/>
          </a:p>
        </p:txBody>
      </p:sp>
      <p:sp>
        <p:nvSpPr>
          <p:cNvPr id="19" name="anim-g3-42"/>
          <p:cNvSpPr/>
          <p:nvPr/>
        </p:nvSpPr>
        <p:spPr>
          <a:xfrm>
            <a:off x="1097280"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صبري على أصعب طالب عندي عبادة أُؤجر عليها، لا خسارة أتحمّلها</a:t>
            </a:r>
            <a:endParaRPr lang="ar-SA" sz="21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قبل أن تدخل الفصل  ·  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40200" y="1097280"/>
            <a:ext cx="3511296"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340200" y="1097280"/>
            <a:ext cx="351129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الدعاء للطالب أمامه</a:t>
            </a:r>
            <a:endParaRPr lang="ar-SA" sz="1800" dirty="0"/>
          </a:p>
        </p:txBody>
      </p:sp>
      <p:sp>
        <p:nvSpPr>
          <p:cNvPr id="4" name="Shape 2"/>
          <p:cNvSpPr/>
          <p:nvPr/>
        </p:nvSpPr>
        <p:spPr>
          <a:xfrm>
            <a:off x="5181448" y="2103120"/>
            <a:ext cx="1828800" cy="32004"/>
          </a:xfrm>
          <a:prstGeom prst="rect">
            <a:avLst/>
          </a:prstGeom>
          <a:solidFill>
            <a:srgbClr val="D9AE4B"/>
          </a:solidFill>
          <a:ln/>
        </p:spPr>
      </p:sp>
      <p:sp>
        <p:nvSpPr>
          <p:cNvPr id="5" name="Text 3"/>
          <p:cNvSpPr/>
          <p:nvPr/>
        </p:nvSpPr>
        <p:spPr>
          <a:xfrm>
            <a:off x="1188720" y="2286000"/>
            <a:ext cx="9814255" cy="2377440"/>
          </a:xfrm>
          <a:prstGeom prst="rect">
            <a:avLst/>
          </a:prstGeom>
          <a:noFill/>
          <a:ln/>
        </p:spPr>
        <p:txBody>
          <a:bodyPr wrap="square" lIns="0" tIns="0" rIns="0" bIns="0" rtlCol="0" anchor="ctr">
            <a:normAutofit/>
          </a:bodyPr>
          <a:lstStyle/>
          <a:p>
            <a:pPr rtl="1" algn="ctr" indent="0" marL="0">
              <a:lnSpc>
                <a:spcPct val="125000"/>
              </a:lnSpc>
              <a:buNone/>
            </a:pPr>
            <a:r>
              <a:rPr lang="ar-SA" altLang="en-US" sz="4000" b="1" dirty="0">
                <a:solidFill>
                  <a:srgbClr val="FFFFFF"/>
                </a:solidFill>
                <a:latin typeface="Amiri" pitchFamily="34" charset="0"/>
                <a:ea typeface="Amiri" pitchFamily="34" charset="-122"/>
                <a:cs typeface="Amiri" pitchFamily="34" charset="-120"/>
              </a:rPr>
              <a:t>ضمّني رسول الله ﷺ إلى صدره وقال: «اللهم علّمه الكتاب»</a:t>
            </a:r>
            <a:endParaRPr lang="ar-SA" sz="4000" dirty="0"/>
          </a:p>
        </p:txBody>
      </p:sp>
      <p:sp>
        <p:nvSpPr>
          <p:cNvPr id="6" name="Shape 4"/>
          <p:cNvSpPr/>
          <p:nvPr/>
        </p:nvSpPr>
        <p:spPr>
          <a:xfrm>
            <a:off x="5181448" y="4800600"/>
            <a:ext cx="1828800" cy="32004"/>
          </a:xfrm>
          <a:prstGeom prst="rect">
            <a:avLst/>
          </a:prstGeom>
          <a:solidFill>
            <a:srgbClr val="D9AE4B"/>
          </a:solidFill>
          <a:ln/>
        </p:spPr>
      </p:sp>
      <p:sp>
        <p:nvSpPr>
          <p:cNvPr id="7" name="anim-g1-43"/>
          <p:cNvSpPr/>
          <p:nvPr/>
        </p:nvSpPr>
        <p:spPr>
          <a:xfrm>
            <a:off x="0" y="5029200"/>
            <a:ext cx="12191695"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D9AE4B"/>
                </a:solidFill>
                <a:latin typeface="Cairo" pitchFamily="34" charset="0"/>
                <a:ea typeface="Cairo" pitchFamily="34" charset="-122"/>
                <a:cs typeface="Cairo" pitchFamily="34" charset="-120"/>
              </a:rPr>
              <a:t>رواه البخاري — عن ابن عباس رضي الله عنهما</a:t>
            </a:r>
            <a:endParaRPr lang="ar-SA" sz="1600" dirty="0"/>
          </a:p>
        </p:txBody>
      </p:sp>
      <p:sp>
        <p:nvSpPr>
          <p:cNvPr id="8" name="Text 6"/>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9" name="Text 7"/>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قبل أن تدخل الفصل  ·  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735263" y="457200"/>
            <a:ext cx="2633472" cy="457200"/>
          </a:xfrm>
          <a:prstGeom prst="roundRect">
            <a:avLst>
              <a:gd name="adj" fmla="val 50000"/>
            </a:avLst>
          </a:prstGeom>
          <a:solidFill>
            <a:srgbClr val="F6EBCF"/>
          </a:solidFill>
          <a:ln/>
        </p:spPr>
      </p:sp>
      <p:sp>
        <p:nvSpPr>
          <p:cNvPr id="3" name="Text 1"/>
          <p:cNvSpPr/>
          <p:nvPr/>
        </p:nvSpPr>
        <p:spPr>
          <a:xfrm>
            <a:off x="8735263" y="457200"/>
            <a:ext cx="263347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الدعاء أمامهم</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جُمل دعاء يسمعها الطالب… فتبقى معه سنوات</a:t>
            </a:r>
            <a:endParaRPr lang="ar-SA" sz="3200" dirty="0"/>
          </a:p>
        </p:txBody>
      </p:sp>
      <p:sp>
        <p:nvSpPr>
          <p:cNvPr id="5" name="anim-g1-44"/>
          <p:cNvSpPr/>
          <p:nvPr/>
        </p:nvSpPr>
        <p:spPr>
          <a:xfrm>
            <a:off x="9768535" y="2130552"/>
            <a:ext cx="1600200" cy="819912"/>
          </a:xfrm>
          <a:prstGeom prst="roundRect">
            <a:avLst>
              <a:gd name="adj" fmla="val 16729"/>
            </a:avLst>
          </a:prstGeom>
          <a:solidFill>
            <a:srgbClr val="E9EDF9"/>
          </a:solidFill>
          <a:ln/>
        </p:spPr>
      </p:sp>
      <p:sp>
        <p:nvSpPr>
          <p:cNvPr id="6" name="anim-g1-45"/>
          <p:cNvSpPr/>
          <p:nvPr/>
        </p:nvSpPr>
        <p:spPr>
          <a:xfrm>
            <a:off x="9814255" y="2130552"/>
            <a:ext cx="1508760" cy="81991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عند الإجابة الصحيحة</a:t>
            </a:r>
            <a:endParaRPr lang="ar-SA" sz="1800" dirty="0"/>
          </a:p>
        </p:txBody>
      </p:sp>
      <p:sp>
        <p:nvSpPr>
          <p:cNvPr id="7" name="anim-g1-46"/>
          <p:cNvSpPr/>
          <p:nvPr/>
        </p:nvSpPr>
        <p:spPr>
          <a:xfrm>
            <a:off x="822960" y="2057400"/>
            <a:ext cx="8716975" cy="966216"/>
          </a:xfrm>
          <a:prstGeom prst="roundRect">
            <a:avLst>
              <a:gd name="adj" fmla="val 20820"/>
            </a:avLst>
          </a:prstGeom>
          <a:solidFill>
            <a:srgbClr val="101B45"/>
          </a:solidFill>
          <a:ln/>
        </p:spPr>
      </p:sp>
      <p:sp>
        <p:nvSpPr>
          <p:cNvPr id="8" name="anim-g1-47"/>
          <p:cNvSpPr/>
          <p:nvPr/>
        </p:nvSpPr>
        <p:spPr>
          <a:xfrm>
            <a:off x="1097280" y="2057400"/>
            <a:ext cx="8168335" cy="966216"/>
          </a:xfrm>
          <a:prstGeom prst="rect">
            <a:avLst/>
          </a:prstGeom>
          <a:noFill/>
          <a:ln/>
        </p:spPr>
        <p:txBody>
          <a:bodyPr wrap="square" lIns="0" tIns="0" rIns="0" bIns="0" rtlCol="0" anchor="ctr">
            <a:normAutofit/>
          </a:bodyPr>
          <a:lstStyle/>
          <a:p>
            <a:pPr algn="r" indent="0" marL="0">
              <a:buNone/>
            </a:pPr>
            <a:r>
              <a:rPr lang="ar-SA" altLang="en-US" sz="2400" b="1" dirty="0">
                <a:solidFill>
                  <a:srgbClr val="D9AE4B"/>
                </a:solidFill>
                <a:latin typeface="Cairo" pitchFamily="34" charset="0"/>
                <a:ea typeface="Cairo" pitchFamily="34" charset="-122"/>
                <a:cs typeface="Cairo" pitchFamily="34" charset="-120"/>
              </a:rPr>
              <a:t>« </a:t>
            </a:r>
            <a:pPr algn="r" indent="0" marL="0">
              <a:buNone/>
            </a:pPr>
            <a:r>
              <a:rPr lang="ar-SA" altLang="en-US" sz="2400" b="1" dirty="0">
                <a:solidFill>
                  <a:srgbClr val="FFFFFF"/>
                </a:solidFill>
                <a:latin typeface="Cairo" pitchFamily="34" charset="0"/>
                <a:ea typeface="Cairo" pitchFamily="34" charset="-122"/>
                <a:cs typeface="Cairo" pitchFamily="34" charset="-120"/>
              </a:rPr>
              <a:t>فتح الله عليك، هذه إجابة عالم صغير</a:t>
            </a:r>
            <a:pPr algn="r" indent="0" marL="0">
              <a:buNone/>
            </a:pPr>
            <a:r>
              <a:rPr lang="ar-SA" altLang="en-US" sz="2400" b="1" dirty="0">
                <a:solidFill>
                  <a:srgbClr val="D9AE4B"/>
                </a:solidFill>
                <a:latin typeface="Cairo" pitchFamily="34" charset="0"/>
                <a:ea typeface="Cairo" pitchFamily="34" charset="-122"/>
                <a:cs typeface="Cairo" pitchFamily="34" charset="-120"/>
              </a:rPr>
              <a:t> »</a:t>
            </a:r>
            <a:endParaRPr lang="ar-SA" sz="2400" dirty="0"/>
          </a:p>
        </p:txBody>
      </p:sp>
      <p:sp>
        <p:nvSpPr>
          <p:cNvPr id="9" name="anim-g2-48"/>
          <p:cNvSpPr/>
          <p:nvPr/>
        </p:nvSpPr>
        <p:spPr>
          <a:xfrm>
            <a:off x="9768535" y="3243072"/>
            <a:ext cx="1600200" cy="819912"/>
          </a:xfrm>
          <a:prstGeom prst="roundRect">
            <a:avLst>
              <a:gd name="adj" fmla="val 16729"/>
            </a:avLst>
          </a:prstGeom>
          <a:solidFill>
            <a:srgbClr val="E9EDF9"/>
          </a:solidFill>
          <a:ln/>
        </p:spPr>
      </p:sp>
      <p:sp>
        <p:nvSpPr>
          <p:cNvPr id="10" name="anim-g2-49"/>
          <p:cNvSpPr/>
          <p:nvPr/>
        </p:nvSpPr>
        <p:spPr>
          <a:xfrm>
            <a:off x="9814255" y="3243072"/>
            <a:ext cx="1508760" cy="81991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لطالب متعثر حاول</a:t>
            </a:r>
            <a:endParaRPr lang="ar-SA" sz="1800" dirty="0"/>
          </a:p>
        </p:txBody>
      </p:sp>
      <p:sp>
        <p:nvSpPr>
          <p:cNvPr id="11" name="anim-g2-50"/>
          <p:cNvSpPr/>
          <p:nvPr/>
        </p:nvSpPr>
        <p:spPr>
          <a:xfrm>
            <a:off x="822960" y="3169920"/>
            <a:ext cx="8716975" cy="966216"/>
          </a:xfrm>
          <a:prstGeom prst="roundRect">
            <a:avLst>
              <a:gd name="adj" fmla="val 20820"/>
            </a:avLst>
          </a:prstGeom>
          <a:solidFill>
            <a:srgbClr val="101B45"/>
          </a:solidFill>
          <a:ln/>
        </p:spPr>
      </p:sp>
      <p:sp>
        <p:nvSpPr>
          <p:cNvPr id="12" name="anim-g2-51"/>
          <p:cNvSpPr/>
          <p:nvPr/>
        </p:nvSpPr>
        <p:spPr>
          <a:xfrm>
            <a:off x="1097280" y="3169920"/>
            <a:ext cx="8168335" cy="966216"/>
          </a:xfrm>
          <a:prstGeom prst="rect">
            <a:avLst/>
          </a:prstGeom>
          <a:noFill/>
          <a:ln/>
        </p:spPr>
        <p:txBody>
          <a:bodyPr wrap="square" lIns="0" tIns="0" rIns="0" bIns="0" rtlCol="0" anchor="ctr">
            <a:normAutofit/>
          </a:bodyPr>
          <a:lstStyle/>
          <a:p>
            <a:pPr algn="r" indent="0" marL="0">
              <a:buNone/>
            </a:pPr>
            <a:r>
              <a:rPr lang="ar-SA" altLang="en-US" sz="2400" b="1" dirty="0">
                <a:solidFill>
                  <a:srgbClr val="D9AE4B"/>
                </a:solidFill>
                <a:latin typeface="Cairo" pitchFamily="34" charset="0"/>
                <a:ea typeface="Cairo" pitchFamily="34" charset="-122"/>
                <a:cs typeface="Cairo" pitchFamily="34" charset="-120"/>
              </a:rPr>
              <a:t>« </a:t>
            </a:r>
            <a:pPr algn="r" indent="0" marL="0">
              <a:buNone/>
            </a:pPr>
            <a:r>
              <a:rPr lang="ar-SA" altLang="en-US" sz="2400" b="1" dirty="0">
                <a:solidFill>
                  <a:srgbClr val="FFFFFF"/>
                </a:solidFill>
                <a:latin typeface="Cairo" pitchFamily="34" charset="0"/>
                <a:ea typeface="Cairo" pitchFamily="34" charset="-122"/>
                <a:cs typeface="Cairo" pitchFamily="34" charset="-120"/>
              </a:rPr>
              <a:t>بارك الله في محاولتك، سيفتح الله عليك قريبًا</a:t>
            </a:r>
            <a:pPr algn="r" indent="0" marL="0">
              <a:buNone/>
            </a:pPr>
            <a:r>
              <a:rPr lang="ar-SA" altLang="en-US" sz="2400" b="1" dirty="0">
                <a:solidFill>
                  <a:srgbClr val="D9AE4B"/>
                </a:solidFill>
                <a:latin typeface="Cairo" pitchFamily="34" charset="0"/>
                <a:ea typeface="Cairo" pitchFamily="34" charset="-122"/>
                <a:cs typeface="Cairo" pitchFamily="34" charset="-120"/>
              </a:rPr>
              <a:t> »</a:t>
            </a:r>
            <a:endParaRPr lang="ar-SA" sz="2400" dirty="0"/>
          </a:p>
        </p:txBody>
      </p:sp>
      <p:sp>
        <p:nvSpPr>
          <p:cNvPr id="13" name="anim-g3-52"/>
          <p:cNvSpPr/>
          <p:nvPr/>
        </p:nvSpPr>
        <p:spPr>
          <a:xfrm>
            <a:off x="9768535" y="4355592"/>
            <a:ext cx="1600200" cy="819912"/>
          </a:xfrm>
          <a:prstGeom prst="roundRect">
            <a:avLst>
              <a:gd name="adj" fmla="val 16729"/>
            </a:avLst>
          </a:prstGeom>
          <a:solidFill>
            <a:srgbClr val="E9EDF9"/>
          </a:solidFill>
          <a:ln/>
        </p:spPr>
      </p:sp>
      <p:sp>
        <p:nvSpPr>
          <p:cNvPr id="14" name="anim-g3-53"/>
          <p:cNvSpPr/>
          <p:nvPr/>
        </p:nvSpPr>
        <p:spPr>
          <a:xfrm>
            <a:off x="9814255" y="4355592"/>
            <a:ext cx="1508760" cy="81991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بعد تصحيح خطأ</a:t>
            </a:r>
            <a:endParaRPr lang="ar-SA" sz="1800" dirty="0"/>
          </a:p>
        </p:txBody>
      </p:sp>
      <p:sp>
        <p:nvSpPr>
          <p:cNvPr id="15" name="anim-g3-54"/>
          <p:cNvSpPr/>
          <p:nvPr/>
        </p:nvSpPr>
        <p:spPr>
          <a:xfrm>
            <a:off x="822960" y="4282440"/>
            <a:ext cx="8716975" cy="966216"/>
          </a:xfrm>
          <a:prstGeom prst="roundRect">
            <a:avLst>
              <a:gd name="adj" fmla="val 20820"/>
            </a:avLst>
          </a:prstGeom>
          <a:solidFill>
            <a:srgbClr val="101B45"/>
          </a:solidFill>
          <a:ln/>
        </p:spPr>
      </p:sp>
      <p:sp>
        <p:nvSpPr>
          <p:cNvPr id="16" name="anim-g3-55"/>
          <p:cNvSpPr/>
          <p:nvPr/>
        </p:nvSpPr>
        <p:spPr>
          <a:xfrm>
            <a:off x="1097280" y="4282440"/>
            <a:ext cx="8168335" cy="966216"/>
          </a:xfrm>
          <a:prstGeom prst="rect">
            <a:avLst/>
          </a:prstGeom>
          <a:noFill/>
          <a:ln/>
        </p:spPr>
        <p:txBody>
          <a:bodyPr wrap="square" lIns="0" tIns="0" rIns="0" bIns="0" rtlCol="0" anchor="ctr">
            <a:normAutofit/>
          </a:bodyPr>
          <a:lstStyle/>
          <a:p>
            <a:pPr algn="r" indent="0" marL="0">
              <a:buNone/>
            </a:pPr>
            <a:r>
              <a:rPr lang="ar-SA" altLang="en-US" sz="2400" b="1" dirty="0">
                <a:solidFill>
                  <a:srgbClr val="D9AE4B"/>
                </a:solidFill>
                <a:latin typeface="Cairo" pitchFamily="34" charset="0"/>
                <a:ea typeface="Cairo" pitchFamily="34" charset="-122"/>
                <a:cs typeface="Cairo" pitchFamily="34" charset="-120"/>
              </a:rPr>
              <a:t>« </a:t>
            </a:r>
            <a:pPr algn="r" indent="0" marL="0">
              <a:buNone/>
            </a:pPr>
            <a:r>
              <a:rPr lang="ar-SA" altLang="en-US" sz="2400" b="1" dirty="0">
                <a:solidFill>
                  <a:srgbClr val="FFFFFF"/>
                </a:solidFill>
                <a:latin typeface="Cairo" pitchFamily="34" charset="0"/>
                <a:ea typeface="Cairo" pitchFamily="34" charset="-122"/>
                <a:cs typeface="Cairo" pitchFamily="34" charset="-120"/>
              </a:rPr>
              <a:t>أسأل الله أن يجعلك من المتميزين، وأنا أثق بك</a:t>
            </a:r>
            <a:pPr algn="r" indent="0" marL="0">
              <a:buNone/>
            </a:pPr>
            <a:r>
              <a:rPr lang="ar-SA" altLang="en-US" sz="2400" b="1" dirty="0">
                <a:solidFill>
                  <a:srgbClr val="D9AE4B"/>
                </a:solidFill>
                <a:latin typeface="Cairo" pitchFamily="34" charset="0"/>
                <a:ea typeface="Cairo" pitchFamily="34" charset="-122"/>
                <a:cs typeface="Cairo" pitchFamily="34" charset="-120"/>
              </a:rPr>
              <a:t> »</a:t>
            </a:r>
            <a:endParaRPr lang="ar-SA" sz="2400" dirty="0"/>
          </a:p>
        </p:txBody>
      </p:sp>
      <p:sp>
        <p:nvSpPr>
          <p:cNvPr id="17" name="anim-g4-56"/>
          <p:cNvSpPr/>
          <p:nvPr/>
        </p:nvSpPr>
        <p:spPr>
          <a:xfrm>
            <a:off x="822960" y="5532120"/>
            <a:ext cx="10545775" cy="548640"/>
          </a:xfrm>
          <a:prstGeom prst="roundRect">
            <a:avLst>
              <a:gd name="adj" fmla="val 20000"/>
            </a:avLst>
          </a:prstGeom>
          <a:solidFill>
            <a:srgbClr val="FBECEC"/>
          </a:solidFill>
          <a:ln/>
        </p:spPr>
      </p:sp>
      <p:sp>
        <p:nvSpPr>
          <p:cNvPr id="18" name="anim-g4-57"/>
          <p:cNvSpPr/>
          <p:nvPr/>
        </p:nvSpPr>
        <p:spPr>
          <a:xfrm>
            <a:off x="11295583" y="5532120"/>
            <a:ext cx="73152" cy="548640"/>
          </a:xfrm>
          <a:prstGeom prst="rect">
            <a:avLst/>
          </a:prstGeom>
          <a:solidFill>
            <a:srgbClr val="D64545"/>
          </a:solidFill>
          <a:ln/>
        </p:spPr>
      </p:sp>
      <p:sp>
        <p:nvSpPr>
          <p:cNvPr id="19" name="anim-g4-58"/>
          <p:cNvSpPr/>
          <p:nvPr/>
        </p:nvSpPr>
        <p:spPr>
          <a:xfrm>
            <a:off x="1005840" y="5532120"/>
            <a:ext cx="10088575" cy="548640"/>
          </a:xfrm>
          <a:prstGeom prst="rect">
            <a:avLst/>
          </a:prstGeom>
          <a:noFill/>
          <a:ln/>
        </p:spPr>
        <p:txBody>
          <a:bodyPr wrap="square" lIns="0" tIns="0" rIns="0" bIns="0" rtlCol="0" anchor="ctr">
            <a:normAutofit/>
          </a:bodyPr>
          <a:lstStyle/>
          <a:p>
            <a:pPr rtl="1" algn="r" indent="0" marL="0">
              <a:buNone/>
            </a:pPr>
            <a:r>
              <a:rPr lang="ar-SA" altLang="en-US" sz="1900" b="1" dirty="0">
                <a:solidFill>
                  <a:srgbClr val="8E2A2A"/>
                </a:solidFill>
                <a:latin typeface="Cairo" pitchFamily="34" charset="0"/>
                <a:ea typeface="Cairo" pitchFamily="34" charset="-122"/>
                <a:cs typeface="Cairo" pitchFamily="34" charset="-120"/>
              </a:rPr>
              <a:t>⚠️ انتبه لنبرة الصوت: «الله يهديك» بنبرة غاضبة تتحول من دعاء إلى إهانة</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قبل أن تدخل الفصل  ·  ١٠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40200" y="1097280"/>
            <a:ext cx="3511296"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340200" y="1097280"/>
            <a:ext cx="351129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الدعاء لهم من خلفهم</a:t>
            </a:r>
            <a:endParaRPr lang="ar-SA" sz="1800" dirty="0"/>
          </a:p>
        </p:txBody>
      </p:sp>
      <p:sp>
        <p:nvSpPr>
          <p:cNvPr id="4" name="Shape 2"/>
          <p:cNvSpPr/>
          <p:nvPr/>
        </p:nvSpPr>
        <p:spPr>
          <a:xfrm>
            <a:off x="5181448" y="2103120"/>
            <a:ext cx="1828800" cy="32004"/>
          </a:xfrm>
          <a:prstGeom prst="rect">
            <a:avLst/>
          </a:prstGeom>
          <a:solidFill>
            <a:srgbClr val="D9AE4B"/>
          </a:solidFill>
          <a:ln/>
        </p:spPr>
      </p:sp>
      <p:sp>
        <p:nvSpPr>
          <p:cNvPr id="5" name="Text 3"/>
          <p:cNvSpPr/>
          <p:nvPr/>
        </p:nvSpPr>
        <p:spPr>
          <a:xfrm>
            <a:off x="1188720" y="2286000"/>
            <a:ext cx="9814255" cy="2377440"/>
          </a:xfrm>
          <a:prstGeom prst="rect">
            <a:avLst/>
          </a:prstGeom>
          <a:noFill/>
          <a:ln/>
        </p:spPr>
        <p:txBody>
          <a:bodyPr wrap="square" lIns="0" tIns="0" rIns="0" bIns="0" rtlCol="0" anchor="ctr">
            <a:normAutofit/>
          </a:bodyPr>
          <a:lstStyle/>
          <a:p>
            <a:pPr rtl="1" algn="ctr" indent="0" marL="0">
              <a:lnSpc>
                <a:spcPct val="125000"/>
              </a:lnSpc>
              <a:buNone/>
            </a:pPr>
            <a:r>
              <a:rPr lang="ar-SA" altLang="en-US" sz="4000" b="1" dirty="0">
                <a:solidFill>
                  <a:srgbClr val="FFFFFF"/>
                </a:solidFill>
                <a:latin typeface="Amiri" pitchFamily="34" charset="0"/>
                <a:ea typeface="Amiri" pitchFamily="34" charset="-122"/>
                <a:cs typeface="Amiri" pitchFamily="34" charset="-120"/>
              </a:rPr>
              <a:t>ما من عبد مسلم يدعو لأخيه بظهر الغيب إلا قال الملَك: ولك بمثل</a:t>
            </a:r>
            <a:endParaRPr lang="ar-SA" sz="4000" dirty="0"/>
          </a:p>
        </p:txBody>
      </p:sp>
      <p:sp>
        <p:nvSpPr>
          <p:cNvPr id="6" name="Shape 4"/>
          <p:cNvSpPr/>
          <p:nvPr/>
        </p:nvSpPr>
        <p:spPr>
          <a:xfrm>
            <a:off x="5181448" y="4800600"/>
            <a:ext cx="1828800" cy="32004"/>
          </a:xfrm>
          <a:prstGeom prst="rect">
            <a:avLst/>
          </a:prstGeom>
          <a:solidFill>
            <a:srgbClr val="D9AE4B"/>
          </a:solidFill>
          <a:ln/>
        </p:spPr>
      </p:sp>
      <p:sp>
        <p:nvSpPr>
          <p:cNvPr id="7" name="anim-g1-59"/>
          <p:cNvSpPr/>
          <p:nvPr/>
        </p:nvSpPr>
        <p:spPr>
          <a:xfrm>
            <a:off x="0" y="5029200"/>
            <a:ext cx="12191695"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D9AE4B"/>
                </a:solidFill>
                <a:latin typeface="Cairo" pitchFamily="34" charset="0"/>
                <a:ea typeface="Cairo" pitchFamily="34" charset="-122"/>
                <a:cs typeface="Cairo" pitchFamily="34" charset="-120"/>
              </a:rPr>
              <a:t>رواه مسلم</a:t>
            </a:r>
            <a:endParaRPr lang="ar-SA" sz="1600" dirty="0"/>
          </a:p>
        </p:txBody>
      </p:sp>
      <p:sp>
        <p:nvSpPr>
          <p:cNvPr id="8" name="Text 6"/>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9" name="Text 7"/>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قبل أن تدخل الفصل  ·  ١١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57439" y="457200"/>
            <a:ext cx="3511296"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7857439" y="457200"/>
            <a:ext cx="351129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نشاط فردي — دقيقتان</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F0CC7A"/>
                </a:solidFill>
                <a:latin typeface="Cairo Black" pitchFamily="34" charset="0"/>
                <a:ea typeface="Cairo Black" pitchFamily="34" charset="-122"/>
                <a:cs typeface="Cairo Black" pitchFamily="34" charset="-120"/>
              </a:rPr>
              <a:t>«وِرد المعلم»</a:t>
            </a:r>
            <a:endParaRPr lang="ar-SA" sz="3800" dirty="0"/>
          </a:p>
        </p:txBody>
      </p:sp>
      <p:sp>
        <p:nvSpPr>
          <p:cNvPr id="5" name="anim-g1-60"/>
          <p:cNvSpPr/>
          <p:nvPr/>
        </p:nvSpPr>
        <p:spPr>
          <a:xfrm>
            <a:off x="10637215" y="2286000"/>
            <a:ext cx="731520" cy="731520"/>
          </a:xfrm>
          <a:prstGeom prst="ellipse">
            <a:avLst/>
          </a:prstGeom>
          <a:solidFill>
            <a:srgbClr val="D9AE4B"/>
          </a:solidFill>
          <a:ln/>
        </p:spPr>
      </p:sp>
      <p:sp>
        <p:nvSpPr>
          <p:cNvPr id="6" name="anim-g1-61"/>
          <p:cNvSpPr/>
          <p:nvPr/>
        </p:nvSpPr>
        <p:spPr>
          <a:xfrm>
            <a:off x="10637215" y="228600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١</a:t>
            </a:r>
            <a:endParaRPr lang="ar-SA" sz="2400" dirty="0"/>
          </a:p>
        </p:txBody>
      </p:sp>
      <p:sp>
        <p:nvSpPr>
          <p:cNvPr id="7" name="anim-g1-62"/>
          <p:cNvSpPr/>
          <p:nvPr/>
        </p:nvSpPr>
        <p:spPr>
          <a:xfrm>
            <a:off x="4023360" y="219456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اكتب الآن أسماء ثلاثة طلاب هم الأصعب عليك هذا العام</a:t>
            </a:r>
            <a:endParaRPr lang="ar-SA" sz="2200" dirty="0"/>
          </a:p>
        </p:txBody>
      </p:sp>
      <p:sp>
        <p:nvSpPr>
          <p:cNvPr id="8" name="anim-g2-63"/>
          <p:cNvSpPr/>
          <p:nvPr/>
        </p:nvSpPr>
        <p:spPr>
          <a:xfrm>
            <a:off x="10637215" y="3383280"/>
            <a:ext cx="731520" cy="731520"/>
          </a:xfrm>
          <a:prstGeom prst="ellipse">
            <a:avLst/>
          </a:prstGeom>
          <a:solidFill>
            <a:srgbClr val="D9AE4B"/>
          </a:solidFill>
          <a:ln/>
        </p:spPr>
      </p:sp>
      <p:sp>
        <p:nvSpPr>
          <p:cNvPr id="9" name="anim-g2-64"/>
          <p:cNvSpPr/>
          <p:nvPr/>
        </p:nvSpPr>
        <p:spPr>
          <a:xfrm>
            <a:off x="10637215" y="338328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٢</a:t>
            </a:r>
            <a:endParaRPr lang="ar-SA" sz="2400" dirty="0"/>
          </a:p>
        </p:txBody>
      </p:sp>
      <p:sp>
        <p:nvSpPr>
          <p:cNvPr id="10" name="anim-g2-65"/>
          <p:cNvSpPr/>
          <p:nvPr/>
        </p:nvSpPr>
        <p:spPr>
          <a:xfrm>
            <a:off x="4023360" y="329184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ادعُ لكل واحد منهم باسمه كل يوم لمدة أسبوع</a:t>
            </a:r>
            <a:endParaRPr lang="ar-SA" sz="2200" dirty="0"/>
          </a:p>
        </p:txBody>
      </p:sp>
      <p:sp>
        <p:nvSpPr>
          <p:cNvPr id="11" name="anim-g3-66"/>
          <p:cNvSpPr/>
          <p:nvPr/>
        </p:nvSpPr>
        <p:spPr>
          <a:xfrm>
            <a:off x="10637215" y="4480560"/>
            <a:ext cx="731520" cy="731520"/>
          </a:xfrm>
          <a:prstGeom prst="ellipse">
            <a:avLst/>
          </a:prstGeom>
          <a:solidFill>
            <a:srgbClr val="D9AE4B"/>
          </a:solidFill>
          <a:ln/>
        </p:spPr>
      </p:sp>
      <p:sp>
        <p:nvSpPr>
          <p:cNvPr id="12" name="anim-g3-67"/>
          <p:cNvSpPr/>
          <p:nvPr/>
        </p:nvSpPr>
        <p:spPr>
          <a:xfrm>
            <a:off x="10637215" y="448056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٣</a:t>
            </a:r>
            <a:endParaRPr lang="ar-SA" sz="2400" dirty="0"/>
          </a:p>
        </p:txBody>
      </p:sp>
      <p:sp>
        <p:nvSpPr>
          <p:cNvPr id="13" name="anim-g3-68"/>
          <p:cNvSpPr/>
          <p:nvPr/>
        </p:nvSpPr>
        <p:spPr>
          <a:xfrm>
            <a:off x="4023360" y="438912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راقب بصدق: من الذي تغيّر أولًا… هم أم أنت؟</a:t>
            </a:r>
            <a:endParaRPr lang="ar-SA" sz="2200" dirty="0"/>
          </a:p>
        </p:txBody>
      </p:sp>
      <p:sp>
        <p:nvSpPr>
          <p:cNvPr id="14" name="Shape 12"/>
          <p:cNvSpPr/>
          <p:nvPr/>
        </p:nvSpPr>
        <p:spPr>
          <a:xfrm>
            <a:off x="822960" y="2194560"/>
            <a:ext cx="2834640" cy="2834640"/>
          </a:xfrm>
          <a:prstGeom prst="ellipse">
            <a:avLst/>
          </a:prstGeom>
          <a:solidFill>
            <a:srgbClr val="FFFFFF">
              <a:alpha val="5000"/>
            </a:srgbClr>
          </a:solidFill>
          <a:ln w="88900">
            <a:solidFill>
              <a:srgbClr val="D9AE4B">
                <a:alpha val="50000"/>
              </a:srgbClr>
            </a:solidFill>
            <a:prstDash val="solid"/>
          </a:ln>
        </p:spPr>
      </p:sp>
      <p:sp>
        <p:nvSpPr>
          <p:cNvPr id="15" name="Text 13"/>
          <p:cNvSpPr/>
          <p:nvPr/>
        </p:nvSpPr>
        <p:spPr>
          <a:xfrm>
            <a:off x="822960" y="2834640"/>
            <a:ext cx="2834640" cy="1097280"/>
          </a:xfrm>
          <a:prstGeom prst="rect">
            <a:avLst/>
          </a:prstGeom>
          <a:noFill/>
          <a:ln/>
        </p:spPr>
        <p:txBody>
          <a:bodyPr wrap="square" lIns="0" tIns="0" rIns="0" bIns="0" rtlCol="0" anchor="ctr">
            <a:normAutofit/>
          </a:bodyPr>
          <a:lstStyle/>
          <a:p>
            <a:pPr algn="ctr" indent="0" marL="0">
              <a:buNone/>
            </a:pPr>
            <a:r>
              <a:rPr lang="ar-SA" altLang="en-US" sz="6000" dirty="0">
                <a:solidFill>
                  <a:srgbClr val="F0CC7A"/>
                </a:solidFill>
                <a:latin typeface="Cairo Black" pitchFamily="34" charset="0"/>
                <a:ea typeface="Cairo Black" pitchFamily="34" charset="-122"/>
                <a:cs typeface="Cairo Black" pitchFamily="34" charset="-120"/>
              </a:rPr>
              <a:t>2:00</a:t>
            </a:r>
            <a:endParaRPr lang="ar-SA" sz="6000" dirty="0"/>
          </a:p>
        </p:txBody>
      </p:sp>
      <p:sp>
        <p:nvSpPr>
          <p:cNvPr id="16" name="Text 14"/>
          <p:cNvSpPr/>
          <p:nvPr/>
        </p:nvSpPr>
        <p:spPr>
          <a:xfrm>
            <a:off x="822960" y="3840480"/>
            <a:ext cx="2834640"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C9CFE6"/>
                </a:solidFill>
                <a:latin typeface="Cairo" pitchFamily="34" charset="0"/>
                <a:ea typeface="Cairo" pitchFamily="34" charset="-122"/>
                <a:cs typeface="Cairo" pitchFamily="34" charset="-120"/>
              </a:rPr>
              <a:t>٢ دقائق</a:t>
            </a:r>
            <a:endParaRPr lang="ar-SA" sz="1600" dirty="0"/>
          </a:p>
        </p:txBody>
      </p:sp>
      <p:sp>
        <p:nvSpPr>
          <p:cNvPr id="17" name="Text 1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18" name="Text 1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قبل أن تدخل الفصل  ·  ١٢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071720" y="1188720"/>
            <a:ext cx="2048256"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5071720" y="1188720"/>
            <a:ext cx="204825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قال تعالى</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30000"/>
              </a:lnSpc>
              <a:buNone/>
            </a:pPr>
            <a:r>
              <a:rPr lang="ar-SA" altLang="en-US" sz="4400" b="1" dirty="0">
                <a:solidFill>
                  <a:srgbClr val="D9AE4B"/>
                </a:solidFill>
                <a:latin typeface="Amiri" pitchFamily="34" charset="0"/>
                <a:ea typeface="Amiri" pitchFamily="34" charset="-122"/>
                <a:cs typeface="Amiri" pitchFamily="34" charset="-120"/>
              </a:rPr>
              <a:t>﴿ </a:t>
            </a:r>
            <a:pPr algn="ctr" indent="0" marL="0">
              <a:lnSpc>
                <a:spcPct val="130000"/>
              </a:lnSpc>
              <a:buNone/>
            </a:pPr>
            <a:r>
              <a:rPr lang="ar-SA" altLang="en-US" sz="4400" b="1" dirty="0">
                <a:solidFill>
                  <a:srgbClr val="FFFFFF"/>
                </a:solidFill>
                <a:latin typeface="Amiri" pitchFamily="34" charset="0"/>
                <a:ea typeface="Amiri" pitchFamily="34" charset="-122"/>
                <a:cs typeface="Amiri" pitchFamily="34" charset="-120"/>
              </a:rPr>
              <a:t>فَبِمَا رَحْمَةٍ مِّنَ اللَّهِ لِنتَ لَهُمْ ۖ وَلَوْ كُنتَ فَظًّا غَلِيظَ الْقَلْبِ لَانفَضُّوا مِنْ حَوْلِكَ</a:t>
            </a:r>
            <a:pPr algn="ctr" indent="0" marL="0">
              <a:lnSpc>
                <a:spcPct val="130000"/>
              </a:lnSpc>
              <a:buNone/>
            </a:pPr>
            <a:r>
              <a:rPr lang="ar-SA" altLang="en-US" sz="4400" b="1" dirty="0">
                <a:solidFill>
                  <a:srgbClr val="D9AE4B"/>
                </a:solidFill>
                <a:latin typeface="Amiri" pitchFamily="34" charset="0"/>
                <a:ea typeface="Amiri" pitchFamily="34" charset="-122"/>
                <a:cs typeface="Amiri" pitchFamily="34" charset="-120"/>
              </a:rPr>
              <a:t> ﴾</a:t>
            </a:r>
            <a:endParaRPr lang="ar-SA" sz="4400" dirty="0"/>
          </a:p>
        </p:txBody>
      </p:sp>
      <p:sp>
        <p:nvSpPr>
          <p:cNvPr id="5" name="Text 3"/>
          <p:cNvSpPr/>
          <p:nvPr/>
        </p:nvSpPr>
        <p:spPr>
          <a:xfrm>
            <a:off x="0" y="4846320"/>
            <a:ext cx="12191695"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D9AE4B"/>
                </a:solidFill>
                <a:latin typeface="Cairo" pitchFamily="34" charset="0"/>
                <a:ea typeface="Cairo" pitchFamily="34" charset="-122"/>
                <a:cs typeface="Cairo" pitchFamily="34" charset="-120"/>
              </a:rPr>
              <a:t>آل عمران: ١٥٩</a:t>
            </a:r>
            <a:endParaRPr lang="ar-SA" sz="1600" dirty="0"/>
          </a:p>
        </p:txBody>
      </p:sp>
      <p:sp>
        <p:nvSpPr>
          <p:cNvPr id="6" name="Text 4"/>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7" name="Text 5"/>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قبل أن تدخل الفصل  ·  ١٣</a:t>
            </a:r>
            <a:endParaRPr lang="ar-SA"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955487" y="457200"/>
            <a:ext cx="541324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5955487" y="457200"/>
            <a:ext cx="541324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النبي ﷺ معلّمًا — موقف صفي حقيقي</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FFFFFF"/>
                </a:solidFill>
                <a:latin typeface="Cairo Black" pitchFamily="34" charset="0"/>
                <a:ea typeface="Cairo Black" pitchFamily="34" charset="-122"/>
                <a:cs typeface="Cairo Black" pitchFamily="34" charset="-120"/>
              </a:rPr>
              <a:t>صحابي يتكلم أثناء الصلاة</a:t>
            </a:r>
            <a:endParaRPr lang="ar-SA" sz="3800" dirty="0"/>
          </a:p>
        </p:txBody>
      </p:sp>
      <p:sp>
        <p:nvSpPr>
          <p:cNvPr id="5" name="Text 3"/>
          <p:cNvSpPr/>
          <p:nvPr/>
        </p:nvSpPr>
        <p:spPr>
          <a:xfrm>
            <a:off x="5577840" y="2103120"/>
            <a:ext cx="5790895" cy="1463040"/>
          </a:xfrm>
          <a:prstGeom prst="rect">
            <a:avLst/>
          </a:prstGeom>
          <a:noFill/>
          <a:ln/>
        </p:spPr>
        <p:txBody>
          <a:bodyPr wrap="square" lIns="0" tIns="0" rIns="0" bIns="0" rtlCol="0" anchor="t">
            <a:normAutofit/>
          </a:bodyPr>
          <a:lstStyle/>
          <a:p>
            <a:pPr rtl="1" algn="r" indent="0" marL="0">
              <a:lnSpc>
                <a:spcPct val="125000"/>
              </a:lnSpc>
              <a:buNone/>
            </a:pPr>
            <a:r>
              <a:rPr lang="ar-SA" altLang="en-US" sz="2100" b="1" dirty="0">
                <a:solidFill>
                  <a:srgbClr val="D9DEF0"/>
                </a:solidFill>
                <a:latin typeface="Cairo" pitchFamily="34" charset="0"/>
                <a:ea typeface="Cairo" pitchFamily="34" charset="-122"/>
                <a:cs typeface="Cairo" pitchFamily="34" charset="-120"/>
              </a:rPr>
              <a:t>تكلّم معاوية بن الحكم رضي الله عنه في الصلاة جاهلًا بالحكم، فرمقه الناس بأبصارهم وضربوا بأيديهم على أفخاذهم يُسكتونه.</a:t>
            </a:r>
            <a:endParaRPr lang="ar-SA" sz="2100" dirty="0"/>
          </a:p>
        </p:txBody>
      </p:sp>
      <p:sp>
        <p:nvSpPr>
          <p:cNvPr id="6" name="anim-g1-69"/>
          <p:cNvSpPr/>
          <p:nvPr/>
        </p:nvSpPr>
        <p:spPr>
          <a:xfrm>
            <a:off x="11313871" y="3703320"/>
            <a:ext cx="54864" cy="1828800"/>
          </a:xfrm>
          <a:prstGeom prst="rect">
            <a:avLst/>
          </a:prstGeom>
          <a:solidFill>
            <a:srgbClr val="D9AE4B"/>
          </a:solidFill>
          <a:ln/>
        </p:spPr>
      </p:sp>
      <p:sp>
        <p:nvSpPr>
          <p:cNvPr id="7" name="anim-g1-70"/>
          <p:cNvSpPr/>
          <p:nvPr/>
        </p:nvSpPr>
        <p:spPr>
          <a:xfrm>
            <a:off x="5577840" y="3657600"/>
            <a:ext cx="5516575" cy="1463040"/>
          </a:xfrm>
          <a:prstGeom prst="rect">
            <a:avLst/>
          </a:prstGeom>
          <a:noFill/>
          <a:ln/>
        </p:spPr>
        <p:txBody>
          <a:bodyPr wrap="square" lIns="0" tIns="0" rIns="0" bIns="0" rtlCol="0" anchor="t">
            <a:normAutofit/>
          </a:bodyPr>
          <a:lstStyle/>
          <a:p>
            <a:pPr rtl="1" algn="r" indent="0" marL="0">
              <a:lnSpc>
                <a:spcPct val="120000"/>
              </a:lnSpc>
              <a:buNone/>
            </a:pPr>
            <a:r>
              <a:rPr lang="ar-SA" altLang="en-US" sz="2400" b="1" dirty="0">
                <a:solidFill>
                  <a:srgbClr val="F0CC7A"/>
                </a:solidFill>
                <a:latin typeface="Amiri" pitchFamily="34" charset="0"/>
                <a:ea typeface="Amiri" pitchFamily="34" charset="-122"/>
                <a:cs typeface="Amiri" pitchFamily="34" charset="-120"/>
              </a:rPr>
              <a:t>«فبأبي هو وأمي، ما رأيت معلّمًا قبله ولا بعده أحسن تعليمًا منه؛ فوالله ما كهرني ولا ضربني ولا شتمني»</a:t>
            </a:r>
            <a:endParaRPr lang="ar-SA" sz="2400" dirty="0"/>
          </a:p>
        </p:txBody>
      </p:sp>
      <p:sp>
        <p:nvSpPr>
          <p:cNvPr id="8" name="anim-g1-71"/>
          <p:cNvSpPr/>
          <p:nvPr/>
        </p:nvSpPr>
        <p:spPr>
          <a:xfrm>
            <a:off x="5577840" y="5166360"/>
            <a:ext cx="5516575" cy="365760"/>
          </a:xfrm>
          <a:prstGeom prst="rect">
            <a:avLst/>
          </a:prstGeom>
          <a:noFill/>
          <a:ln/>
        </p:spPr>
        <p:txBody>
          <a:bodyPr wrap="square" lIns="0" tIns="0" rIns="0" bIns="0" rtlCol="0" anchor="ctr">
            <a:normAutofit/>
          </a:bodyPr>
          <a:lstStyle/>
          <a:p>
            <a:pPr rtl="1" algn="r" indent="0" marL="0">
              <a:buNone/>
            </a:pPr>
            <a:r>
              <a:rPr lang="ar-SA" altLang="en-US" sz="1800" b="1" dirty="0">
                <a:solidFill>
                  <a:srgbClr val="D9AE4B"/>
                </a:solidFill>
                <a:latin typeface="Cairo" pitchFamily="34" charset="0"/>
                <a:ea typeface="Cairo" pitchFamily="34" charset="-122"/>
                <a:cs typeface="Cairo" pitchFamily="34" charset="-120"/>
              </a:rPr>
              <a:t>رواه مسلم</a:t>
            </a:r>
            <a:endParaRPr lang="ar-SA" sz="1800" dirty="0"/>
          </a:p>
        </p:txBody>
      </p:sp>
      <p:sp>
        <p:nvSpPr>
          <p:cNvPr id="9" name="anim-g2-72"/>
          <p:cNvSpPr/>
          <p:nvPr/>
        </p:nvSpPr>
        <p:spPr>
          <a:xfrm>
            <a:off x="822960" y="2103120"/>
            <a:ext cx="4389120" cy="3566160"/>
          </a:xfrm>
          <a:prstGeom prst="roundRect">
            <a:avLst>
              <a:gd name="adj" fmla="val 6410"/>
            </a:avLst>
          </a:prstGeom>
          <a:solidFill>
            <a:srgbClr val="FFFFFF">
              <a:alpha val="6000"/>
            </a:srgbClr>
          </a:solidFill>
          <a:ln w="19050">
            <a:solidFill>
              <a:srgbClr val="D9AE4B">
                <a:alpha val="50000"/>
              </a:srgbClr>
            </a:solidFill>
            <a:prstDash val="solid"/>
          </a:ln>
        </p:spPr>
      </p:sp>
      <p:sp>
        <p:nvSpPr>
          <p:cNvPr id="10" name="anim-g2-73"/>
          <p:cNvSpPr/>
          <p:nvPr/>
        </p:nvSpPr>
        <p:spPr>
          <a:xfrm>
            <a:off x="1097280" y="2286000"/>
            <a:ext cx="3840480" cy="502920"/>
          </a:xfrm>
          <a:prstGeom prst="rect">
            <a:avLst/>
          </a:prstGeom>
          <a:noFill/>
          <a:ln/>
        </p:spPr>
        <p:txBody>
          <a:bodyPr wrap="square" lIns="0" tIns="0" rIns="0" bIns="0" rtlCol="0" anchor="ctr">
            <a:normAutofit/>
          </a:bodyPr>
          <a:lstStyle/>
          <a:p>
            <a:pPr rtl="1" algn="r" indent="0" marL="0">
              <a:buNone/>
            </a:pPr>
            <a:r>
              <a:rPr lang="ar-SA" altLang="en-US" sz="2100" dirty="0">
                <a:solidFill>
                  <a:srgbClr val="D9AE4B"/>
                </a:solidFill>
                <a:latin typeface="Cairo Black" pitchFamily="34" charset="0"/>
                <a:ea typeface="Cairo Black" pitchFamily="34" charset="-122"/>
                <a:cs typeface="Cairo Black" pitchFamily="34" charset="-120"/>
              </a:rPr>
              <a:t>كيف تصرّف ﷺ؟</a:t>
            </a:r>
            <a:endParaRPr lang="ar-SA" sz="2100" dirty="0"/>
          </a:p>
        </p:txBody>
      </p:sp>
      <p:sp>
        <p:nvSpPr>
          <p:cNvPr id="11" name="anim-g2-74"/>
          <p:cNvSpPr/>
          <p:nvPr/>
        </p:nvSpPr>
        <p:spPr>
          <a:xfrm>
            <a:off x="4526280" y="2999232"/>
            <a:ext cx="384048" cy="384048"/>
          </a:xfrm>
          <a:prstGeom prst="ellipse">
            <a:avLst/>
          </a:prstGeom>
          <a:solidFill>
            <a:srgbClr val="D9AE4B"/>
          </a:solidFill>
          <a:ln/>
        </p:spPr>
      </p:sp>
      <p:sp>
        <p:nvSpPr>
          <p:cNvPr id="12" name="anim-g2-75"/>
          <p:cNvSpPr/>
          <p:nvPr/>
        </p:nvSpPr>
        <p:spPr>
          <a:xfrm>
            <a:off x="4526280" y="2999232"/>
            <a:ext cx="384048" cy="384048"/>
          </a:xfrm>
          <a:prstGeom prst="rect">
            <a:avLst/>
          </a:prstGeom>
          <a:noFill/>
          <a:ln/>
        </p:spPr>
        <p:txBody>
          <a:bodyPr wrap="square" lIns="0" tIns="0" rIns="0" bIns="0" rtlCol="0" anchor="ctr">
            <a:normAutofit/>
          </a:bodyPr>
          <a:lstStyle/>
          <a:p>
            <a:pPr rtl="1" algn="ctr" indent="0" marL="0">
              <a:buNone/>
            </a:pPr>
            <a:r>
              <a:rPr lang="ar-SA" altLang="en-US" sz="1400" dirty="0">
                <a:solidFill>
                  <a:srgbClr val="0A1230"/>
                </a:solidFill>
                <a:latin typeface="Cairo Black" pitchFamily="34" charset="0"/>
                <a:ea typeface="Cairo Black" pitchFamily="34" charset="-122"/>
                <a:cs typeface="Cairo Black" pitchFamily="34" charset="-120"/>
              </a:rPr>
              <a:t>١</a:t>
            </a:r>
            <a:endParaRPr lang="ar-SA" sz="1400" dirty="0"/>
          </a:p>
        </p:txBody>
      </p:sp>
      <p:sp>
        <p:nvSpPr>
          <p:cNvPr id="13" name="anim-g2-76"/>
          <p:cNvSpPr/>
          <p:nvPr/>
        </p:nvSpPr>
        <p:spPr>
          <a:xfrm>
            <a:off x="1051560" y="2926080"/>
            <a:ext cx="3383280" cy="777240"/>
          </a:xfrm>
          <a:prstGeom prst="rect">
            <a:avLst/>
          </a:prstGeom>
          <a:noFill/>
          <a:ln/>
        </p:spPr>
        <p:txBody>
          <a:bodyPr wrap="square" lIns="0" tIns="0" rIns="0" bIns="0" rtlCol="0" anchor="t">
            <a:normAutofit/>
          </a:bodyPr>
          <a:lstStyle/>
          <a:p>
            <a:pPr rtl="1" algn="r" indent="0" marL="0">
              <a:buNone/>
            </a:pPr>
            <a:r>
              <a:rPr lang="ar-SA" altLang="en-US" sz="2000" b="1" dirty="0">
                <a:solidFill>
                  <a:srgbClr val="FFFFFF"/>
                </a:solidFill>
                <a:latin typeface="Cairo" pitchFamily="34" charset="0"/>
                <a:ea typeface="Cairo" pitchFamily="34" charset="-122"/>
                <a:cs typeface="Cairo" pitchFamily="34" charset="-120"/>
              </a:rPr>
              <a:t>انتظر حتى انتهت الصلاة، ولم يقطعها ليعالج الخطأ</a:t>
            </a:r>
            <a:endParaRPr lang="ar-SA" sz="2000" dirty="0"/>
          </a:p>
        </p:txBody>
      </p:sp>
      <p:sp>
        <p:nvSpPr>
          <p:cNvPr id="14" name="anim-g2-77"/>
          <p:cNvSpPr/>
          <p:nvPr/>
        </p:nvSpPr>
        <p:spPr>
          <a:xfrm>
            <a:off x="4526280" y="3867912"/>
            <a:ext cx="384048" cy="384048"/>
          </a:xfrm>
          <a:prstGeom prst="ellipse">
            <a:avLst/>
          </a:prstGeom>
          <a:solidFill>
            <a:srgbClr val="D9AE4B"/>
          </a:solidFill>
          <a:ln/>
        </p:spPr>
      </p:sp>
      <p:sp>
        <p:nvSpPr>
          <p:cNvPr id="15" name="anim-g2-78"/>
          <p:cNvSpPr/>
          <p:nvPr/>
        </p:nvSpPr>
        <p:spPr>
          <a:xfrm>
            <a:off x="4526280" y="3867912"/>
            <a:ext cx="384048" cy="384048"/>
          </a:xfrm>
          <a:prstGeom prst="rect">
            <a:avLst/>
          </a:prstGeom>
          <a:noFill/>
          <a:ln/>
        </p:spPr>
        <p:txBody>
          <a:bodyPr wrap="square" lIns="0" tIns="0" rIns="0" bIns="0" rtlCol="0" anchor="ctr">
            <a:normAutofit/>
          </a:bodyPr>
          <a:lstStyle/>
          <a:p>
            <a:pPr rtl="1" algn="ctr" indent="0" marL="0">
              <a:buNone/>
            </a:pPr>
            <a:r>
              <a:rPr lang="ar-SA" altLang="en-US" sz="1400" dirty="0">
                <a:solidFill>
                  <a:srgbClr val="0A1230"/>
                </a:solidFill>
                <a:latin typeface="Cairo Black" pitchFamily="34" charset="0"/>
                <a:ea typeface="Cairo Black" pitchFamily="34" charset="-122"/>
                <a:cs typeface="Cairo Black" pitchFamily="34" charset="-120"/>
              </a:rPr>
              <a:t>٢</a:t>
            </a:r>
            <a:endParaRPr lang="ar-SA" sz="1400" dirty="0"/>
          </a:p>
        </p:txBody>
      </p:sp>
      <p:sp>
        <p:nvSpPr>
          <p:cNvPr id="16" name="anim-g2-79"/>
          <p:cNvSpPr/>
          <p:nvPr/>
        </p:nvSpPr>
        <p:spPr>
          <a:xfrm>
            <a:off x="1051560" y="3794760"/>
            <a:ext cx="3383280" cy="777240"/>
          </a:xfrm>
          <a:prstGeom prst="rect">
            <a:avLst/>
          </a:prstGeom>
          <a:noFill/>
          <a:ln/>
        </p:spPr>
        <p:txBody>
          <a:bodyPr wrap="square" lIns="0" tIns="0" rIns="0" bIns="0" rtlCol="0" anchor="t">
            <a:normAutofit/>
          </a:bodyPr>
          <a:lstStyle/>
          <a:p>
            <a:pPr rtl="1" algn="r" indent="0" marL="0">
              <a:buNone/>
            </a:pPr>
            <a:r>
              <a:rPr lang="ar-SA" altLang="en-US" sz="2000" b="1" dirty="0">
                <a:solidFill>
                  <a:srgbClr val="FFFFFF"/>
                </a:solidFill>
                <a:latin typeface="Cairo" pitchFamily="34" charset="0"/>
                <a:ea typeface="Cairo" pitchFamily="34" charset="-122"/>
                <a:cs typeface="Cairo" pitchFamily="34" charset="-120"/>
              </a:rPr>
              <a:t>لم يوبّخه أمام الناس</a:t>
            </a:r>
            <a:endParaRPr lang="ar-SA" sz="2000" dirty="0"/>
          </a:p>
        </p:txBody>
      </p:sp>
      <p:sp>
        <p:nvSpPr>
          <p:cNvPr id="17" name="anim-g2-80"/>
          <p:cNvSpPr/>
          <p:nvPr/>
        </p:nvSpPr>
        <p:spPr>
          <a:xfrm>
            <a:off x="4526280" y="4736592"/>
            <a:ext cx="384048" cy="384048"/>
          </a:xfrm>
          <a:prstGeom prst="ellipse">
            <a:avLst/>
          </a:prstGeom>
          <a:solidFill>
            <a:srgbClr val="D9AE4B"/>
          </a:solidFill>
          <a:ln/>
        </p:spPr>
      </p:sp>
      <p:sp>
        <p:nvSpPr>
          <p:cNvPr id="18" name="anim-g2-81"/>
          <p:cNvSpPr/>
          <p:nvPr/>
        </p:nvSpPr>
        <p:spPr>
          <a:xfrm>
            <a:off x="4526280" y="4736592"/>
            <a:ext cx="384048" cy="384048"/>
          </a:xfrm>
          <a:prstGeom prst="rect">
            <a:avLst/>
          </a:prstGeom>
          <a:noFill/>
          <a:ln/>
        </p:spPr>
        <p:txBody>
          <a:bodyPr wrap="square" lIns="0" tIns="0" rIns="0" bIns="0" rtlCol="0" anchor="ctr">
            <a:normAutofit/>
          </a:bodyPr>
          <a:lstStyle/>
          <a:p>
            <a:pPr rtl="1" algn="ctr" indent="0" marL="0">
              <a:buNone/>
            </a:pPr>
            <a:r>
              <a:rPr lang="ar-SA" altLang="en-US" sz="1400" dirty="0">
                <a:solidFill>
                  <a:srgbClr val="0A1230"/>
                </a:solidFill>
                <a:latin typeface="Cairo Black" pitchFamily="34" charset="0"/>
                <a:ea typeface="Cairo Black" pitchFamily="34" charset="-122"/>
                <a:cs typeface="Cairo Black" pitchFamily="34" charset="-120"/>
              </a:rPr>
              <a:t>٣</a:t>
            </a:r>
            <a:endParaRPr lang="ar-SA" sz="1400" dirty="0"/>
          </a:p>
        </p:txBody>
      </p:sp>
      <p:sp>
        <p:nvSpPr>
          <p:cNvPr id="19" name="anim-g2-82"/>
          <p:cNvSpPr/>
          <p:nvPr/>
        </p:nvSpPr>
        <p:spPr>
          <a:xfrm>
            <a:off x="1051560" y="4663440"/>
            <a:ext cx="3383280" cy="777240"/>
          </a:xfrm>
          <a:prstGeom prst="rect">
            <a:avLst/>
          </a:prstGeom>
          <a:noFill/>
          <a:ln/>
        </p:spPr>
        <p:txBody>
          <a:bodyPr wrap="square" lIns="0" tIns="0" rIns="0" bIns="0" rtlCol="0" anchor="t">
            <a:normAutofit/>
          </a:bodyPr>
          <a:lstStyle/>
          <a:p>
            <a:pPr rtl="1" algn="r" indent="0" marL="0">
              <a:buNone/>
            </a:pPr>
            <a:r>
              <a:rPr lang="ar-SA" altLang="en-US" sz="2000" b="1" dirty="0">
                <a:solidFill>
                  <a:srgbClr val="FFFFFF"/>
                </a:solidFill>
                <a:latin typeface="Cairo" pitchFamily="34" charset="0"/>
                <a:ea typeface="Cairo" pitchFamily="34" charset="-122"/>
                <a:cs typeface="Cairo" pitchFamily="34" charset="-120"/>
              </a:rPr>
              <a:t>علّمه القاعدة في جملة واحدة واضحة</a:t>
            </a:r>
            <a:endParaRPr lang="ar-SA" sz="20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قبل أن تدخل الفصل  ·  ١٤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4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0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00"/>
                                        <p:tgtEl>
                                          <p:spTgt spid="1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00"/>
                                        <p:tgtEl>
                                          <p:spTgt spid="1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400"/>
                                        <p:tgtEl>
                                          <p:spTgt spid="1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400"/>
                                        <p:tgtEl>
                                          <p:spTgt spid="1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955487" y="457200"/>
            <a:ext cx="541324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5955487" y="457200"/>
            <a:ext cx="541324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النبي ﷺ معلّمًا — موقف صفي حقيقي</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FFFFFF"/>
                </a:solidFill>
                <a:latin typeface="Cairo Black" pitchFamily="34" charset="0"/>
                <a:ea typeface="Cairo Black" pitchFamily="34" charset="-122"/>
                <a:cs typeface="Cairo Black" pitchFamily="34" charset="-120"/>
              </a:rPr>
              <a:t>أعرابي يبول في المسجد</a:t>
            </a:r>
            <a:endParaRPr lang="ar-SA" sz="3800" dirty="0"/>
          </a:p>
        </p:txBody>
      </p:sp>
      <p:sp>
        <p:nvSpPr>
          <p:cNvPr id="5" name="Text 3"/>
          <p:cNvSpPr/>
          <p:nvPr/>
        </p:nvSpPr>
        <p:spPr>
          <a:xfrm>
            <a:off x="5577840" y="2103120"/>
            <a:ext cx="5790895" cy="1463040"/>
          </a:xfrm>
          <a:prstGeom prst="rect">
            <a:avLst/>
          </a:prstGeom>
          <a:noFill/>
          <a:ln/>
        </p:spPr>
        <p:txBody>
          <a:bodyPr wrap="square" lIns="0" tIns="0" rIns="0" bIns="0" rtlCol="0" anchor="t">
            <a:normAutofit/>
          </a:bodyPr>
          <a:lstStyle/>
          <a:p>
            <a:pPr rtl="1" algn="r" indent="0" marL="0">
              <a:lnSpc>
                <a:spcPct val="125000"/>
              </a:lnSpc>
              <a:buNone/>
            </a:pPr>
            <a:r>
              <a:rPr lang="ar-SA" altLang="en-US" sz="2100" b="1" dirty="0">
                <a:solidFill>
                  <a:srgbClr val="D9DEF0"/>
                </a:solidFill>
                <a:latin typeface="Cairo" pitchFamily="34" charset="0"/>
                <a:ea typeface="Cairo" pitchFamily="34" charset="-122"/>
                <a:cs typeface="Cairo" pitchFamily="34" charset="-120"/>
              </a:rPr>
              <a:t>قام الصحابة إلى الأعرابي ليزجروه، فأوقفهم النبي ﷺ حتى أتمّ، ثم أمر بماء فصُبّ على المكان.</a:t>
            </a:r>
            <a:endParaRPr lang="ar-SA" sz="2100" dirty="0"/>
          </a:p>
        </p:txBody>
      </p:sp>
      <p:sp>
        <p:nvSpPr>
          <p:cNvPr id="6" name="anim-g1-83"/>
          <p:cNvSpPr/>
          <p:nvPr/>
        </p:nvSpPr>
        <p:spPr>
          <a:xfrm>
            <a:off x="11313871" y="3703320"/>
            <a:ext cx="54864" cy="1828800"/>
          </a:xfrm>
          <a:prstGeom prst="rect">
            <a:avLst/>
          </a:prstGeom>
          <a:solidFill>
            <a:srgbClr val="D9AE4B"/>
          </a:solidFill>
          <a:ln/>
        </p:spPr>
      </p:sp>
      <p:sp>
        <p:nvSpPr>
          <p:cNvPr id="7" name="anim-g1-84"/>
          <p:cNvSpPr/>
          <p:nvPr/>
        </p:nvSpPr>
        <p:spPr>
          <a:xfrm>
            <a:off x="5577840" y="3657600"/>
            <a:ext cx="5516575" cy="1463040"/>
          </a:xfrm>
          <a:prstGeom prst="rect">
            <a:avLst/>
          </a:prstGeom>
          <a:noFill/>
          <a:ln/>
        </p:spPr>
        <p:txBody>
          <a:bodyPr wrap="square" lIns="0" tIns="0" rIns="0" bIns="0" rtlCol="0" anchor="t">
            <a:normAutofit/>
          </a:bodyPr>
          <a:lstStyle/>
          <a:p>
            <a:pPr rtl="1" algn="r" indent="0" marL="0">
              <a:lnSpc>
                <a:spcPct val="120000"/>
              </a:lnSpc>
              <a:buNone/>
            </a:pPr>
            <a:r>
              <a:rPr lang="ar-SA" altLang="en-US" sz="2400" b="1" dirty="0">
                <a:solidFill>
                  <a:srgbClr val="F0CC7A"/>
                </a:solidFill>
                <a:latin typeface="Amiri" pitchFamily="34" charset="0"/>
                <a:ea typeface="Amiri" pitchFamily="34" charset="-122"/>
                <a:cs typeface="Amiri" pitchFamily="34" charset="-120"/>
              </a:rPr>
              <a:t>«دعوه… فإنما بُعثتم ميسّرين ولم تُبعثوا معسّرين»</a:t>
            </a:r>
            <a:endParaRPr lang="ar-SA" sz="2400" dirty="0"/>
          </a:p>
        </p:txBody>
      </p:sp>
      <p:sp>
        <p:nvSpPr>
          <p:cNvPr id="8" name="anim-g1-85"/>
          <p:cNvSpPr/>
          <p:nvPr/>
        </p:nvSpPr>
        <p:spPr>
          <a:xfrm>
            <a:off x="5577840" y="5166360"/>
            <a:ext cx="5516575" cy="365760"/>
          </a:xfrm>
          <a:prstGeom prst="rect">
            <a:avLst/>
          </a:prstGeom>
          <a:noFill/>
          <a:ln/>
        </p:spPr>
        <p:txBody>
          <a:bodyPr wrap="square" lIns="0" tIns="0" rIns="0" bIns="0" rtlCol="0" anchor="ctr">
            <a:normAutofit/>
          </a:bodyPr>
          <a:lstStyle/>
          <a:p>
            <a:pPr rtl="1" algn="r" indent="0" marL="0">
              <a:buNone/>
            </a:pPr>
            <a:r>
              <a:rPr lang="ar-SA" altLang="en-US" sz="1800" b="1" dirty="0">
                <a:solidFill>
                  <a:srgbClr val="D9AE4B"/>
                </a:solidFill>
                <a:latin typeface="Cairo" pitchFamily="34" charset="0"/>
                <a:ea typeface="Cairo" pitchFamily="34" charset="-122"/>
                <a:cs typeface="Cairo" pitchFamily="34" charset="-120"/>
              </a:rPr>
              <a:t>رواه البخاري</a:t>
            </a:r>
            <a:endParaRPr lang="ar-SA" sz="1800" dirty="0"/>
          </a:p>
        </p:txBody>
      </p:sp>
      <p:sp>
        <p:nvSpPr>
          <p:cNvPr id="9" name="anim-g2-86"/>
          <p:cNvSpPr/>
          <p:nvPr/>
        </p:nvSpPr>
        <p:spPr>
          <a:xfrm>
            <a:off x="822960" y="2103120"/>
            <a:ext cx="4389120" cy="3566160"/>
          </a:xfrm>
          <a:prstGeom prst="roundRect">
            <a:avLst>
              <a:gd name="adj" fmla="val 6410"/>
            </a:avLst>
          </a:prstGeom>
          <a:solidFill>
            <a:srgbClr val="FFFFFF">
              <a:alpha val="6000"/>
            </a:srgbClr>
          </a:solidFill>
          <a:ln w="19050">
            <a:solidFill>
              <a:srgbClr val="D9AE4B">
                <a:alpha val="50000"/>
              </a:srgbClr>
            </a:solidFill>
            <a:prstDash val="solid"/>
          </a:ln>
        </p:spPr>
      </p:sp>
      <p:sp>
        <p:nvSpPr>
          <p:cNvPr id="10" name="anim-g2-87"/>
          <p:cNvSpPr/>
          <p:nvPr/>
        </p:nvSpPr>
        <p:spPr>
          <a:xfrm>
            <a:off x="1097280" y="2286000"/>
            <a:ext cx="3840480" cy="502920"/>
          </a:xfrm>
          <a:prstGeom prst="rect">
            <a:avLst/>
          </a:prstGeom>
          <a:noFill/>
          <a:ln/>
        </p:spPr>
        <p:txBody>
          <a:bodyPr wrap="square" lIns="0" tIns="0" rIns="0" bIns="0" rtlCol="0" anchor="ctr">
            <a:normAutofit/>
          </a:bodyPr>
          <a:lstStyle/>
          <a:p>
            <a:pPr rtl="1" algn="r" indent="0" marL="0">
              <a:buNone/>
            </a:pPr>
            <a:r>
              <a:rPr lang="ar-SA" altLang="en-US" sz="2100" dirty="0">
                <a:solidFill>
                  <a:srgbClr val="D9AE4B"/>
                </a:solidFill>
                <a:latin typeface="Cairo Black" pitchFamily="34" charset="0"/>
                <a:ea typeface="Cairo Black" pitchFamily="34" charset="-122"/>
                <a:cs typeface="Cairo Black" pitchFamily="34" charset="-120"/>
              </a:rPr>
              <a:t>كيف تصرّف ﷺ؟</a:t>
            </a:r>
            <a:endParaRPr lang="ar-SA" sz="2100" dirty="0"/>
          </a:p>
        </p:txBody>
      </p:sp>
      <p:sp>
        <p:nvSpPr>
          <p:cNvPr id="11" name="anim-g2-88"/>
          <p:cNvSpPr/>
          <p:nvPr/>
        </p:nvSpPr>
        <p:spPr>
          <a:xfrm>
            <a:off x="4526280" y="2999232"/>
            <a:ext cx="384048" cy="384048"/>
          </a:xfrm>
          <a:prstGeom prst="ellipse">
            <a:avLst/>
          </a:prstGeom>
          <a:solidFill>
            <a:srgbClr val="D9AE4B"/>
          </a:solidFill>
          <a:ln/>
        </p:spPr>
      </p:sp>
      <p:sp>
        <p:nvSpPr>
          <p:cNvPr id="12" name="anim-g2-89"/>
          <p:cNvSpPr/>
          <p:nvPr/>
        </p:nvSpPr>
        <p:spPr>
          <a:xfrm>
            <a:off x="4526280" y="2999232"/>
            <a:ext cx="384048" cy="384048"/>
          </a:xfrm>
          <a:prstGeom prst="rect">
            <a:avLst/>
          </a:prstGeom>
          <a:noFill/>
          <a:ln/>
        </p:spPr>
        <p:txBody>
          <a:bodyPr wrap="square" lIns="0" tIns="0" rIns="0" bIns="0" rtlCol="0" anchor="ctr">
            <a:normAutofit/>
          </a:bodyPr>
          <a:lstStyle/>
          <a:p>
            <a:pPr rtl="1" algn="ctr" indent="0" marL="0">
              <a:buNone/>
            </a:pPr>
            <a:r>
              <a:rPr lang="ar-SA" altLang="en-US" sz="1400" dirty="0">
                <a:solidFill>
                  <a:srgbClr val="0A1230"/>
                </a:solidFill>
                <a:latin typeface="Cairo Black" pitchFamily="34" charset="0"/>
                <a:ea typeface="Cairo Black" pitchFamily="34" charset="-122"/>
                <a:cs typeface="Cairo Black" pitchFamily="34" charset="-120"/>
              </a:rPr>
              <a:t>١</a:t>
            </a:r>
            <a:endParaRPr lang="ar-SA" sz="1400" dirty="0"/>
          </a:p>
        </p:txBody>
      </p:sp>
      <p:sp>
        <p:nvSpPr>
          <p:cNvPr id="13" name="anim-g2-90"/>
          <p:cNvSpPr/>
          <p:nvPr/>
        </p:nvSpPr>
        <p:spPr>
          <a:xfrm>
            <a:off x="1051560" y="2926080"/>
            <a:ext cx="3383280" cy="777240"/>
          </a:xfrm>
          <a:prstGeom prst="rect">
            <a:avLst/>
          </a:prstGeom>
          <a:noFill/>
          <a:ln/>
        </p:spPr>
        <p:txBody>
          <a:bodyPr wrap="square" lIns="0" tIns="0" rIns="0" bIns="0" rtlCol="0" anchor="t">
            <a:normAutofit/>
          </a:bodyPr>
          <a:lstStyle/>
          <a:p>
            <a:pPr rtl="1" algn="r" indent="0" marL="0">
              <a:buNone/>
            </a:pPr>
            <a:r>
              <a:rPr lang="ar-SA" altLang="en-US" sz="2000" b="1" dirty="0">
                <a:solidFill>
                  <a:srgbClr val="FFFFFF"/>
                </a:solidFill>
                <a:latin typeface="Cairo" pitchFamily="34" charset="0"/>
                <a:ea typeface="Cairo" pitchFamily="34" charset="-122"/>
                <a:cs typeface="Cairo" pitchFamily="34" charset="-120"/>
              </a:rPr>
              <a:t>أوقف التصعيد أولًا، فزجر الصحابة كان سيصنع ضررًا أكبر</a:t>
            </a:r>
            <a:endParaRPr lang="ar-SA" sz="2000" dirty="0"/>
          </a:p>
        </p:txBody>
      </p:sp>
      <p:sp>
        <p:nvSpPr>
          <p:cNvPr id="14" name="anim-g2-91"/>
          <p:cNvSpPr/>
          <p:nvPr/>
        </p:nvSpPr>
        <p:spPr>
          <a:xfrm>
            <a:off x="4526280" y="3867912"/>
            <a:ext cx="384048" cy="384048"/>
          </a:xfrm>
          <a:prstGeom prst="ellipse">
            <a:avLst/>
          </a:prstGeom>
          <a:solidFill>
            <a:srgbClr val="D9AE4B"/>
          </a:solidFill>
          <a:ln/>
        </p:spPr>
      </p:sp>
      <p:sp>
        <p:nvSpPr>
          <p:cNvPr id="15" name="anim-g2-92"/>
          <p:cNvSpPr/>
          <p:nvPr/>
        </p:nvSpPr>
        <p:spPr>
          <a:xfrm>
            <a:off x="4526280" y="3867912"/>
            <a:ext cx="384048" cy="384048"/>
          </a:xfrm>
          <a:prstGeom prst="rect">
            <a:avLst/>
          </a:prstGeom>
          <a:noFill/>
          <a:ln/>
        </p:spPr>
        <p:txBody>
          <a:bodyPr wrap="square" lIns="0" tIns="0" rIns="0" bIns="0" rtlCol="0" anchor="ctr">
            <a:normAutofit/>
          </a:bodyPr>
          <a:lstStyle/>
          <a:p>
            <a:pPr rtl="1" algn="ctr" indent="0" marL="0">
              <a:buNone/>
            </a:pPr>
            <a:r>
              <a:rPr lang="ar-SA" altLang="en-US" sz="1400" dirty="0">
                <a:solidFill>
                  <a:srgbClr val="0A1230"/>
                </a:solidFill>
                <a:latin typeface="Cairo Black" pitchFamily="34" charset="0"/>
                <a:ea typeface="Cairo Black" pitchFamily="34" charset="-122"/>
                <a:cs typeface="Cairo Black" pitchFamily="34" charset="-120"/>
              </a:rPr>
              <a:t>٢</a:t>
            </a:r>
            <a:endParaRPr lang="ar-SA" sz="1400" dirty="0"/>
          </a:p>
        </p:txBody>
      </p:sp>
      <p:sp>
        <p:nvSpPr>
          <p:cNvPr id="16" name="anim-g2-93"/>
          <p:cNvSpPr/>
          <p:nvPr/>
        </p:nvSpPr>
        <p:spPr>
          <a:xfrm>
            <a:off x="1051560" y="3794760"/>
            <a:ext cx="3383280" cy="777240"/>
          </a:xfrm>
          <a:prstGeom prst="rect">
            <a:avLst/>
          </a:prstGeom>
          <a:noFill/>
          <a:ln/>
        </p:spPr>
        <p:txBody>
          <a:bodyPr wrap="square" lIns="0" tIns="0" rIns="0" bIns="0" rtlCol="0" anchor="t">
            <a:normAutofit/>
          </a:bodyPr>
          <a:lstStyle/>
          <a:p>
            <a:pPr rtl="1" algn="r" indent="0" marL="0">
              <a:buNone/>
            </a:pPr>
            <a:r>
              <a:rPr lang="ar-SA" altLang="en-US" sz="2000" b="1" dirty="0">
                <a:solidFill>
                  <a:srgbClr val="FFFFFF"/>
                </a:solidFill>
                <a:latin typeface="Cairo" pitchFamily="34" charset="0"/>
                <a:ea typeface="Cairo" pitchFamily="34" charset="-122"/>
                <a:cs typeface="Cairo" pitchFamily="34" charset="-120"/>
              </a:rPr>
              <a:t>عالج الأثر بهدوء</a:t>
            </a:r>
            <a:endParaRPr lang="ar-SA" sz="2000" dirty="0"/>
          </a:p>
        </p:txBody>
      </p:sp>
      <p:sp>
        <p:nvSpPr>
          <p:cNvPr id="17" name="anim-g2-94"/>
          <p:cNvSpPr/>
          <p:nvPr/>
        </p:nvSpPr>
        <p:spPr>
          <a:xfrm>
            <a:off x="4526280" y="4736592"/>
            <a:ext cx="384048" cy="384048"/>
          </a:xfrm>
          <a:prstGeom prst="ellipse">
            <a:avLst/>
          </a:prstGeom>
          <a:solidFill>
            <a:srgbClr val="D9AE4B"/>
          </a:solidFill>
          <a:ln/>
        </p:spPr>
      </p:sp>
      <p:sp>
        <p:nvSpPr>
          <p:cNvPr id="18" name="anim-g2-95"/>
          <p:cNvSpPr/>
          <p:nvPr/>
        </p:nvSpPr>
        <p:spPr>
          <a:xfrm>
            <a:off x="4526280" y="4736592"/>
            <a:ext cx="384048" cy="384048"/>
          </a:xfrm>
          <a:prstGeom prst="rect">
            <a:avLst/>
          </a:prstGeom>
          <a:noFill/>
          <a:ln/>
        </p:spPr>
        <p:txBody>
          <a:bodyPr wrap="square" lIns="0" tIns="0" rIns="0" bIns="0" rtlCol="0" anchor="ctr">
            <a:normAutofit/>
          </a:bodyPr>
          <a:lstStyle/>
          <a:p>
            <a:pPr rtl="1" algn="ctr" indent="0" marL="0">
              <a:buNone/>
            </a:pPr>
            <a:r>
              <a:rPr lang="ar-SA" altLang="en-US" sz="1400" dirty="0">
                <a:solidFill>
                  <a:srgbClr val="0A1230"/>
                </a:solidFill>
                <a:latin typeface="Cairo Black" pitchFamily="34" charset="0"/>
                <a:ea typeface="Cairo Black" pitchFamily="34" charset="-122"/>
                <a:cs typeface="Cairo Black" pitchFamily="34" charset="-120"/>
              </a:rPr>
              <a:t>٣</a:t>
            </a:r>
            <a:endParaRPr lang="ar-SA" sz="1400" dirty="0"/>
          </a:p>
        </p:txBody>
      </p:sp>
      <p:sp>
        <p:nvSpPr>
          <p:cNvPr id="19" name="anim-g2-96"/>
          <p:cNvSpPr/>
          <p:nvPr/>
        </p:nvSpPr>
        <p:spPr>
          <a:xfrm>
            <a:off x="1051560" y="4663440"/>
            <a:ext cx="3383280" cy="777240"/>
          </a:xfrm>
          <a:prstGeom prst="rect">
            <a:avLst/>
          </a:prstGeom>
          <a:noFill/>
          <a:ln/>
        </p:spPr>
        <p:txBody>
          <a:bodyPr wrap="square" lIns="0" tIns="0" rIns="0" bIns="0" rtlCol="0" anchor="t">
            <a:normAutofit/>
          </a:bodyPr>
          <a:lstStyle/>
          <a:p>
            <a:pPr rtl="1" algn="r" indent="0" marL="0">
              <a:buNone/>
            </a:pPr>
            <a:r>
              <a:rPr lang="ar-SA" altLang="en-US" sz="2000" b="1" dirty="0">
                <a:solidFill>
                  <a:srgbClr val="FFFFFF"/>
                </a:solidFill>
                <a:latin typeface="Cairo" pitchFamily="34" charset="0"/>
                <a:ea typeface="Cairo" pitchFamily="34" charset="-122"/>
                <a:cs typeface="Cairo" pitchFamily="34" charset="-120"/>
              </a:rPr>
              <a:t>ثم علّم الأعرابي برفق</a:t>
            </a:r>
            <a:endParaRPr lang="ar-SA" sz="20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قبل أن تدخل الفصل  ·  ١٥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4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0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00"/>
                                        <p:tgtEl>
                                          <p:spTgt spid="1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00"/>
                                        <p:tgtEl>
                                          <p:spTgt spid="1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400"/>
                                        <p:tgtEl>
                                          <p:spTgt spid="1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400"/>
                                        <p:tgtEl>
                                          <p:spTgt spid="1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3681832" y="1188720"/>
            <a:ext cx="4828032"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3681832" y="1188720"/>
            <a:ext cx="482803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هذه الدورة كلها في حديث واحد</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rtl="1" algn="ctr" indent="0" marL="0">
              <a:lnSpc>
                <a:spcPct val="115000"/>
              </a:lnSpc>
              <a:buNone/>
            </a:pPr>
            <a:r>
              <a:rPr lang="ar-SA" altLang="en-US" sz="4200" b="1" dirty="0">
                <a:solidFill>
                  <a:srgbClr val="FFFFFF"/>
                </a:solidFill>
                <a:latin typeface="Amiri" pitchFamily="34" charset="0"/>
                <a:ea typeface="Amiri" pitchFamily="34" charset="-122"/>
                <a:cs typeface="Amiri" pitchFamily="34" charset="-120"/>
              </a:rPr>
              <a:t>إن الله لم يبعثني معنِّتًا ولا متعنِّتًا، ولكن بعثني معلِّمًا ميسِّرًا</a:t>
            </a:r>
            <a:endParaRPr lang="ar-SA" sz="4200" dirty="0"/>
          </a:p>
        </p:txBody>
      </p:sp>
      <p:sp>
        <p:nvSpPr>
          <p:cNvPr id="5" name="Text 3"/>
          <p:cNvSpPr/>
          <p:nvPr/>
        </p:nvSpPr>
        <p:spPr>
          <a:xfrm>
            <a:off x="0" y="4846320"/>
            <a:ext cx="12191695"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D9AE4B"/>
                </a:solidFill>
                <a:latin typeface="Cairo" pitchFamily="34" charset="0"/>
                <a:ea typeface="Cairo" pitchFamily="34" charset="-122"/>
                <a:cs typeface="Cairo" pitchFamily="34" charset="-120"/>
              </a:rPr>
              <a:t>رواه مسلم</a:t>
            </a:r>
            <a:endParaRPr lang="ar-SA" sz="1600" dirty="0"/>
          </a:p>
        </p:txBody>
      </p:sp>
      <p:sp>
        <p:nvSpPr>
          <p:cNvPr id="6" name="Text 4"/>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7" name="Text 5"/>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قبل أن تدخل الفصل  ·  ١٦</a:t>
            </a:r>
            <a:endParaRPr lang="ar-SA"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٢</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المحطة ٢</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لماذا نحن هنا؟</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المعلم هو الفرق</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لماذا نحن هنا؟  ·  ١٧</a:t>
            </a:r>
            <a:endParaRPr lang="ar-SA"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418527" y="457200"/>
            <a:ext cx="3950208" cy="457200"/>
          </a:xfrm>
          <a:prstGeom prst="roundRect">
            <a:avLst>
              <a:gd name="adj" fmla="val 50000"/>
            </a:avLst>
          </a:prstGeom>
          <a:solidFill>
            <a:srgbClr val="F6EBCF"/>
          </a:solidFill>
          <a:ln/>
        </p:spPr>
      </p:sp>
      <p:sp>
        <p:nvSpPr>
          <p:cNvPr id="3" name="Text 1"/>
          <p:cNvSpPr/>
          <p:nvPr/>
        </p:nvSpPr>
        <p:spPr>
          <a:xfrm>
            <a:off x="7418527" y="457200"/>
            <a:ext cx="395020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نشاط افتتاحي — مجموعات</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أكمل القصة بالكلمات المناسبة</a:t>
            </a:r>
            <a:endParaRPr lang="ar-SA" sz="3800" dirty="0"/>
          </a:p>
        </p:txBody>
      </p:sp>
      <p:sp>
        <p:nvSpPr>
          <p:cNvPr id="5" name="Shape 3"/>
          <p:cNvSpPr/>
          <p:nvPr/>
        </p:nvSpPr>
        <p:spPr>
          <a:xfrm>
            <a:off x="10396454" y="2011680"/>
            <a:ext cx="972282" cy="502920"/>
          </a:xfrm>
          <a:prstGeom prst="roundRect">
            <a:avLst>
              <a:gd name="adj" fmla="val 21818"/>
            </a:avLst>
          </a:prstGeom>
          <a:solidFill>
            <a:srgbClr val="F6EBCF"/>
          </a:solidFill>
          <a:ln/>
        </p:spPr>
      </p:sp>
      <p:sp>
        <p:nvSpPr>
          <p:cNvPr id="6" name="Text 4"/>
          <p:cNvSpPr/>
          <p:nvPr/>
        </p:nvSpPr>
        <p:spPr>
          <a:xfrm>
            <a:off x="10396454" y="2011680"/>
            <a:ext cx="972282" cy="502920"/>
          </a:xfrm>
          <a:prstGeom prst="rect">
            <a:avLst/>
          </a:prstGeom>
          <a:noFill/>
          <a:ln/>
        </p:spPr>
        <p:txBody>
          <a:bodyPr wrap="square" lIns="0" tIns="0" rIns="0" bIns="0" rtlCol="0" anchor="ctr">
            <a:normAutofit/>
          </a:bodyPr>
          <a:lstStyle/>
          <a:p>
            <a:pPr rtl="1" algn="ctr" indent="0" marL="0">
              <a:buNone/>
            </a:pPr>
            <a:r>
              <a:rPr lang="ar-SA" altLang="en-US" sz="1600" b="1" dirty="0">
                <a:solidFill>
                  <a:srgbClr val="B08A2E"/>
                </a:solidFill>
                <a:latin typeface="Cairo" pitchFamily="34" charset="0"/>
                <a:ea typeface="Cairo" pitchFamily="34" charset="-122"/>
                <a:cs typeface="Cairo" pitchFamily="34" charset="-120"/>
              </a:rPr>
              <a:t>الطريق</a:t>
            </a:r>
            <a:endParaRPr lang="ar-SA" sz="1600" dirty="0"/>
          </a:p>
        </p:txBody>
      </p:sp>
      <p:sp>
        <p:nvSpPr>
          <p:cNvPr id="7" name="Shape 5"/>
          <p:cNvSpPr/>
          <p:nvPr/>
        </p:nvSpPr>
        <p:spPr>
          <a:xfrm>
            <a:off x="9332732" y="2011680"/>
            <a:ext cx="972282" cy="502920"/>
          </a:xfrm>
          <a:prstGeom prst="roundRect">
            <a:avLst>
              <a:gd name="adj" fmla="val 21818"/>
            </a:avLst>
          </a:prstGeom>
          <a:solidFill>
            <a:srgbClr val="F6EBCF"/>
          </a:solidFill>
          <a:ln/>
        </p:spPr>
      </p:sp>
      <p:sp>
        <p:nvSpPr>
          <p:cNvPr id="8" name="Text 6"/>
          <p:cNvSpPr/>
          <p:nvPr/>
        </p:nvSpPr>
        <p:spPr>
          <a:xfrm>
            <a:off x="9332732" y="2011680"/>
            <a:ext cx="972282" cy="502920"/>
          </a:xfrm>
          <a:prstGeom prst="rect">
            <a:avLst/>
          </a:prstGeom>
          <a:noFill/>
          <a:ln/>
        </p:spPr>
        <p:txBody>
          <a:bodyPr wrap="square" lIns="0" tIns="0" rIns="0" bIns="0" rtlCol="0" anchor="ctr">
            <a:normAutofit/>
          </a:bodyPr>
          <a:lstStyle/>
          <a:p>
            <a:pPr rtl="1" algn="ctr" indent="0" marL="0">
              <a:buNone/>
            </a:pPr>
            <a:r>
              <a:rPr lang="ar-SA" altLang="en-US" sz="1600" b="1" dirty="0">
                <a:solidFill>
                  <a:srgbClr val="B08A2E"/>
                </a:solidFill>
                <a:latin typeface="Cairo" pitchFamily="34" charset="0"/>
                <a:ea typeface="Cairo" pitchFamily="34" charset="-122"/>
                <a:cs typeface="Cairo" pitchFamily="34" charset="-120"/>
              </a:rPr>
              <a:t>رجل</a:t>
            </a:r>
            <a:endParaRPr lang="ar-SA" sz="1600" dirty="0"/>
          </a:p>
        </p:txBody>
      </p:sp>
      <p:sp>
        <p:nvSpPr>
          <p:cNvPr id="9" name="Shape 7"/>
          <p:cNvSpPr/>
          <p:nvPr/>
        </p:nvSpPr>
        <p:spPr>
          <a:xfrm>
            <a:off x="8269011" y="2011680"/>
            <a:ext cx="972282" cy="502920"/>
          </a:xfrm>
          <a:prstGeom prst="roundRect">
            <a:avLst>
              <a:gd name="adj" fmla="val 21818"/>
            </a:avLst>
          </a:prstGeom>
          <a:solidFill>
            <a:srgbClr val="F6EBCF"/>
          </a:solidFill>
          <a:ln/>
        </p:spPr>
      </p:sp>
      <p:sp>
        <p:nvSpPr>
          <p:cNvPr id="10" name="Text 8"/>
          <p:cNvSpPr/>
          <p:nvPr/>
        </p:nvSpPr>
        <p:spPr>
          <a:xfrm>
            <a:off x="8269011" y="2011680"/>
            <a:ext cx="972282" cy="502920"/>
          </a:xfrm>
          <a:prstGeom prst="rect">
            <a:avLst/>
          </a:prstGeom>
          <a:noFill/>
          <a:ln/>
        </p:spPr>
        <p:txBody>
          <a:bodyPr wrap="square" lIns="0" tIns="0" rIns="0" bIns="0" rtlCol="0" anchor="ctr">
            <a:normAutofit/>
          </a:bodyPr>
          <a:lstStyle/>
          <a:p>
            <a:pPr rtl="1" algn="ctr" indent="0" marL="0">
              <a:buNone/>
            </a:pPr>
            <a:r>
              <a:rPr lang="ar-SA" altLang="en-US" sz="1600" b="1" dirty="0">
                <a:solidFill>
                  <a:srgbClr val="B08A2E"/>
                </a:solidFill>
                <a:latin typeface="Cairo" pitchFamily="34" charset="0"/>
                <a:ea typeface="Cairo" pitchFamily="34" charset="-122"/>
                <a:cs typeface="Cairo" pitchFamily="34" charset="-120"/>
              </a:rPr>
              <a:t>الحصان</a:t>
            </a:r>
            <a:endParaRPr lang="ar-SA" sz="1600" dirty="0"/>
          </a:p>
        </p:txBody>
      </p:sp>
      <p:sp>
        <p:nvSpPr>
          <p:cNvPr id="11" name="Shape 9"/>
          <p:cNvSpPr/>
          <p:nvPr/>
        </p:nvSpPr>
        <p:spPr>
          <a:xfrm>
            <a:off x="7205289" y="2011680"/>
            <a:ext cx="972282" cy="502920"/>
          </a:xfrm>
          <a:prstGeom prst="roundRect">
            <a:avLst>
              <a:gd name="adj" fmla="val 21818"/>
            </a:avLst>
          </a:prstGeom>
          <a:solidFill>
            <a:srgbClr val="F6EBCF"/>
          </a:solidFill>
          <a:ln/>
        </p:spPr>
      </p:sp>
      <p:sp>
        <p:nvSpPr>
          <p:cNvPr id="12" name="Text 10"/>
          <p:cNvSpPr/>
          <p:nvPr/>
        </p:nvSpPr>
        <p:spPr>
          <a:xfrm>
            <a:off x="7205289" y="2011680"/>
            <a:ext cx="972282" cy="502920"/>
          </a:xfrm>
          <a:prstGeom prst="rect">
            <a:avLst/>
          </a:prstGeom>
          <a:noFill/>
          <a:ln/>
        </p:spPr>
        <p:txBody>
          <a:bodyPr wrap="square" lIns="0" tIns="0" rIns="0" bIns="0" rtlCol="0" anchor="ctr">
            <a:normAutofit/>
          </a:bodyPr>
          <a:lstStyle/>
          <a:p>
            <a:pPr rtl="1" algn="ctr" indent="0" marL="0">
              <a:buNone/>
            </a:pPr>
            <a:r>
              <a:rPr lang="ar-SA" altLang="en-US" sz="1600" b="1" dirty="0">
                <a:solidFill>
                  <a:srgbClr val="B08A2E"/>
                </a:solidFill>
                <a:latin typeface="Cairo" pitchFamily="34" charset="0"/>
                <a:ea typeface="Cairo" pitchFamily="34" charset="-122"/>
                <a:cs typeface="Cairo" pitchFamily="34" charset="-120"/>
              </a:rPr>
              <a:t>راكبًا</a:t>
            </a:r>
            <a:endParaRPr lang="ar-SA" sz="1600" dirty="0"/>
          </a:p>
        </p:txBody>
      </p:sp>
      <p:sp>
        <p:nvSpPr>
          <p:cNvPr id="13" name="Shape 11"/>
          <p:cNvSpPr/>
          <p:nvPr/>
        </p:nvSpPr>
        <p:spPr>
          <a:xfrm>
            <a:off x="6141568" y="2011680"/>
            <a:ext cx="972282" cy="502920"/>
          </a:xfrm>
          <a:prstGeom prst="roundRect">
            <a:avLst>
              <a:gd name="adj" fmla="val 21818"/>
            </a:avLst>
          </a:prstGeom>
          <a:solidFill>
            <a:srgbClr val="F6EBCF"/>
          </a:solidFill>
          <a:ln/>
        </p:spPr>
      </p:sp>
      <p:sp>
        <p:nvSpPr>
          <p:cNvPr id="14" name="Text 12"/>
          <p:cNvSpPr/>
          <p:nvPr/>
        </p:nvSpPr>
        <p:spPr>
          <a:xfrm>
            <a:off x="6141568" y="2011680"/>
            <a:ext cx="972282" cy="502920"/>
          </a:xfrm>
          <a:prstGeom prst="rect">
            <a:avLst/>
          </a:prstGeom>
          <a:noFill/>
          <a:ln/>
        </p:spPr>
        <p:txBody>
          <a:bodyPr wrap="square" lIns="0" tIns="0" rIns="0" bIns="0" rtlCol="0" anchor="ctr">
            <a:normAutofit/>
          </a:bodyPr>
          <a:lstStyle/>
          <a:p>
            <a:pPr rtl="1" algn="ctr" indent="0" marL="0">
              <a:buNone/>
            </a:pPr>
            <a:r>
              <a:rPr lang="ar-SA" altLang="en-US" sz="1600" b="1" dirty="0">
                <a:solidFill>
                  <a:srgbClr val="B08A2E"/>
                </a:solidFill>
                <a:latin typeface="Cairo" pitchFamily="34" charset="0"/>
                <a:ea typeface="Cairo" pitchFamily="34" charset="-122"/>
                <a:cs typeface="Cairo" pitchFamily="34" charset="-120"/>
              </a:rPr>
              <a:t>تُخبر</a:t>
            </a:r>
            <a:endParaRPr lang="ar-SA" sz="1600" dirty="0"/>
          </a:p>
        </p:txBody>
      </p:sp>
      <p:sp>
        <p:nvSpPr>
          <p:cNvPr id="15" name="Shape 13"/>
          <p:cNvSpPr/>
          <p:nvPr/>
        </p:nvSpPr>
        <p:spPr>
          <a:xfrm>
            <a:off x="5077846" y="2011680"/>
            <a:ext cx="972282" cy="502920"/>
          </a:xfrm>
          <a:prstGeom prst="roundRect">
            <a:avLst>
              <a:gd name="adj" fmla="val 21818"/>
            </a:avLst>
          </a:prstGeom>
          <a:solidFill>
            <a:srgbClr val="F6EBCF"/>
          </a:solidFill>
          <a:ln/>
        </p:spPr>
      </p:sp>
      <p:sp>
        <p:nvSpPr>
          <p:cNvPr id="16" name="Text 14"/>
          <p:cNvSpPr/>
          <p:nvPr/>
        </p:nvSpPr>
        <p:spPr>
          <a:xfrm>
            <a:off x="5077846" y="2011680"/>
            <a:ext cx="972282" cy="502920"/>
          </a:xfrm>
          <a:prstGeom prst="rect">
            <a:avLst/>
          </a:prstGeom>
          <a:noFill/>
          <a:ln/>
        </p:spPr>
        <p:txBody>
          <a:bodyPr wrap="square" lIns="0" tIns="0" rIns="0" bIns="0" rtlCol="0" anchor="ctr">
            <a:normAutofit/>
          </a:bodyPr>
          <a:lstStyle/>
          <a:p>
            <a:pPr rtl="1" algn="ctr" indent="0" marL="0">
              <a:buNone/>
            </a:pPr>
            <a:r>
              <a:rPr lang="ar-SA" altLang="en-US" sz="1600" b="1" dirty="0">
                <a:solidFill>
                  <a:srgbClr val="B08A2E"/>
                </a:solidFill>
                <a:latin typeface="Cairo" pitchFamily="34" charset="0"/>
                <a:ea typeface="Cairo" pitchFamily="34" charset="-122"/>
                <a:cs typeface="Cairo" pitchFamily="34" charset="-120"/>
              </a:rPr>
              <a:t>ظهر</a:t>
            </a:r>
            <a:endParaRPr lang="ar-SA" sz="1600" dirty="0"/>
          </a:p>
        </p:txBody>
      </p:sp>
      <p:sp>
        <p:nvSpPr>
          <p:cNvPr id="17" name="Shape 15"/>
          <p:cNvSpPr/>
          <p:nvPr/>
        </p:nvSpPr>
        <p:spPr>
          <a:xfrm>
            <a:off x="4014125" y="2011680"/>
            <a:ext cx="972282" cy="502920"/>
          </a:xfrm>
          <a:prstGeom prst="roundRect">
            <a:avLst>
              <a:gd name="adj" fmla="val 21818"/>
            </a:avLst>
          </a:prstGeom>
          <a:solidFill>
            <a:srgbClr val="F6EBCF"/>
          </a:solidFill>
          <a:ln/>
        </p:spPr>
      </p:sp>
      <p:sp>
        <p:nvSpPr>
          <p:cNvPr id="18" name="Text 16"/>
          <p:cNvSpPr/>
          <p:nvPr/>
        </p:nvSpPr>
        <p:spPr>
          <a:xfrm>
            <a:off x="4014125" y="2011680"/>
            <a:ext cx="972282" cy="502920"/>
          </a:xfrm>
          <a:prstGeom prst="rect">
            <a:avLst/>
          </a:prstGeom>
          <a:noFill/>
          <a:ln/>
        </p:spPr>
        <p:txBody>
          <a:bodyPr wrap="square" lIns="0" tIns="0" rIns="0" bIns="0" rtlCol="0" anchor="ctr">
            <a:normAutofit/>
          </a:bodyPr>
          <a:lstStyle/>
          <a:p>
            <a:pPr rtl="1" algn="ctr" indent="0" marL="0">
              <a:buNone/>
            </a:pPr>
            <a:r>
              <a:rPr lang="ar-SA" altLang="en-US" sz="1600" b="1" dirty="0">
                <a:solidFill>
                  <a:srgbClr val="B08A2E"/>
                </a:solidFill>
                <a:latin typeface="Cairo" pitchFamily="34" charset="0"/>
                <a:ea typeface="Cairo" pitchFamily="34" charset="-122"/>
                <a:cs typeface="Cairo" pitchFamily="34" charset="-120"/>
              </a:rPr>
              <a:t>مريض</a:t>
            </a:r>
            <a:endParaRPr lang="ar-SA" sz="1600" dirty="0"/>
          </a:p>
        </p:txBody>
      </p:sp>
      <p:sp>
        <p:nvSpPr>
          <p:cNvPr id="19" name="Shape 17"/>
          <p:cNvSpPr/>
          <p:nvPr/>
        </p:nvSpPr>
        <p:spPr>
          <a:xfrm>
            <a:off x="2950403" y="2011680"/>
            <a:ext cx="972282" cy="502920"/>
          </a:xfrm>
          <a:prstGeom prst="roundRect">
            <a:avLst>
              <a:gd name="adj" fmla="val 21818"/>
            </a:avLst>
          </a:prstGeom>
          <a:solidFill>
            <a:srgbClr val="F6EBCF"/>
          </a:solidFill>
          <a:ln/>
        </p:spPr>
      </p:sp>
      <p:sp>
        <p:nvSpPr>
          <p:cNvPr id="20" name="Text 18"/>
          <p:cNvSpPr/>
          <p:nvPr/>
        </p:nvSpPr>
        <p:spPr>
          <a:xfrm>
            <a:off x="2950403" y="2011680"/>
            <a:ext cx="972282" cy="502920"/>
          </a:xfrm>
          <a:prstGeom prst="rect">
            <a:avLst/>
          </a:prstGeom>
          <a:noFill/>
          <a:ln/>
        </p:spPr>
        <p:txBody>
          <a:bodyPr wrap="square" lIns="0" tIns="0" rIns="0" bIns="0" rtlCol="0" anchor="ctr">
            <a:normAutofit/>
          </a:bodyPr>
          <a:lstStyle/>
          <a:p>
            <a:pPr rtl="1" algn="ctr" indent="0" marL="0">
              <a:buNone/>
            </a:pPr>
            <a:r>
              <a:rPr lang="ar-SA" altLang="en-US" sz="1600" b="1" dirty="0">
                <a:solidFill>
                  <a:srgbClr val="B08A2E"/>
                </a:solidFill>
                <a:latin typeface="Cairo" pitchFamily="34" charset="0"/>
                <a:ea typeface="Cairo" pitchFamily="34" charset="-122"/>
                <a:cs typeface="Cairo" pitchFamily="34" charset="-120"/>
              </a:rPr>
              <a:t>الحيلة</a:t>
            </a:r>
            <a:endParaRPr lang="ar-SA" sz="1600" dirty="0"/>
          </a:p>
        </p:txBody>
      </p:sp>
      <p:sp>
        <p:nvSpPr>
          <p:cNvPr id="21" name="Shape 19"/>
          <p:cNvSpPr/>
          <p:nvPr/>
        </p:nvSpPr>
        <p:spPr>
          <a:xfrm>
            <a:off x="1886682" y="2011680"/>
            <a:ext cx="972282" cy="502920"/>
          </a:xfrm>
          <a:prstGeom prst="roundRect">
            <a:avLst>
              <a:gd name="adj" fmla="val 21818"/>
            </a:avLst>
          </a:prstGeom>
          <a:solidFill>
            <a:srgbClr val="F6EBCF"/>
          </a:solidFill>
          <a:ln/>
        </p:spPr>
      </p:sp>
      <p:sp>
        <p:nvSpPr>
          <p:cNvPr id="22" name="Text 20"/>
          <p:cNvSpPr/>
          <p:nvPr/>
        </p:nvSpPr>
        <p:spPr>
          <a:xfrm>
            <a:off x="1886682" y="2011680"/>
            <a:ext cx="972282" cy="502920"/>
          </a:xfrm>
          <a:prstGeom prst="rect">
            <a:avLst/>
          </a:prstGeom>
          <a:noFill/>
          <a:ln/>
        </p:spPr>
        <p:txBody>
          <a:bodyPr wrap="square" lIns="0" tIns="0" rIns="0" bIns="0" rtlCol="0" anchor="ctr">
            <a:normAutofit/>
          </a:bodyPr>
          <a:lstStyle/>
          <a:p>
            <a:pPr rtl="1" algn="ctr" indent="0" marL="0">
              <a:buNone/>
            </a:pPr>
            <a:r>
              <a:rPr lang="ar-SA" altLang="en-US" sz="1600" b="1" dirty="0">
                <a:solidFill>
                  <a:srgbClr val="B08A2E"/>
                </a:solidFill>
                <a:latin typeface="Cairo" pitchFamily="34" charset="0"/>
                <a:ea typeface="Cairo" pitchFamily="34" charset="-122"/>
                <a:cs typeface="Cairo" pitchFamily="34" charset="-120"/>
              </a:rPr>
              <a:t>معتذرًا</a:t>
            </a:r>
            <a:endParaRPr lang="ar-SA" sz="1600" dirty="0"/>
          </a:p>
        </p:txBody>
      </p:sp>
      <p:sp>
        <p:nvSpPr>
          <p:cNvPr id="23" name="Shape 21"/>
          <p:cNvSpPr/>
          <p:nvPr/>
        </p:nvSpPr>
        <p:spPr>
          <a:xfrm>
            <a:off x="822960" y="2011680"/>
            <a:ext cx="972282" cy="502920"/>
          </a:xfrm>
          <a:prstGeom prst="roundRect">
            <a:avLst>
              <a:gd name="adj" fmla="val 21818"/>
            </a:avLst>
          </a:prstGeom>
          <a:solidFill>
            <a:srgbClr val="F6EBCF"/>
          </a:solidFill>
          <a:ln/>
        </p:spPr>
      </p:sp>
      <p:sp>
        <p:nvSpPr>
          <p:cNvPr id="24" name="Text 22"/>
          <p:cNvSpPr/>
          <p:nvPr/>
        </p:nvSpPr>
        <p:spPr>
          <a:xfrm>
            <a:off x="822960" y="2011680"/>
            <a:ext cx="972282" cy="502920"/>
          </a:xfrm>
          <a:prstGeom prst="rect">
            <a:avLst/>
          </a:prstGeom>
          <a:noFill/>
          <a:ln/>
        </p:spPr>
        <p:txBody>
          <a:bodyPr wrap="square" lIns="0" tIns="0" rIns="0" bIns="0" rtlCol="0" anchor="ctr">
            <a:normAutofit/>
          </a:bodyPr>
          <a:lstStyle/>
          <a:p>
            <a:pPr rtl="1" algn="ctr" indent="0" marL="0">
              <a:buNone/>
            </a:pPr>
            <a:r>
              <a:rPr lang="ar-SA" altLang="en-US" sz="1600" b="1" dirty="0">
                <a:solidFill>
                  <a:srgbClr val="B08A2E"/>
                </a:solidFill>
                <a:latin typeface="Cairo" pitchFamily="34" charset="0"/>
                <a:ea typeface="Cairo" pitchFamily="34" charset="-122"/>
                <a:cs typeface="Cairo" pitchFamily="34" charset="-120"/>
              </a:rPr>
              <a:t>الكلام</a:t>
            </a:r>
            <a:endParaRPr lang="ar-SA" sz="1600" dirty="0"/>
          </a:p>
        </p:txBody>
      </p:sp>
      <p:sp>
        <p:nvSpPr>
          <p:cNvPr id="25" name="Shape 23"/>
          <p:cNvSpPr/>
          <p:nvPr/>
        </p:nvSpPr>
        <p:spPr>
          <a:xfrm>
            <a:off x="822960" y="2788920"/>
            <a:ext cx="10545775" cy="3200400"/>
          </a:xfrm>
          <a:prstGeom prst="roundRect">
            <a:avLst>
              <a:gd name="adj" fmla="val 5714"/>
            </a:avLst>
          </a:prstGeom>
          <a:solidFill>
            <a:srgbClr val="FFFFFF"/>
          </a:solidFill>
          <a:ln w="19050">
            <a:solidFill>
              <a:srgbClr val="E4DCC8"/>
            </a:solidFill>
            <a:prstDash val="dash"/>
          </a:ln>
        </p:spPr>
      </p:sp>
      <p:sp>
        <p:nvSpPr>
          <p:cNvPr id="26" name="Text 24"/>
          <p:cNvSpPr/>
          <p:nvPr/>
        </p:nvSpPr>
        <p:spPr>
          <a:xfrm>
            <a:off x="1188720" y="2880360"/>
            <a:ext cx="9814255" cy="3017520"/>
          </a:xfrm>
          <a:prstGeom prst="rect">
            <a:avLst/>
          </a:prstGeom>
          <a:noFill/>
          <a:ln/>
        </p:spPr>
        <p:txBody>
          <a:bodyPr wrap="square" lIns="0" tIns="0" rIns="0" bIns="0" rtlCol="0" anchor="ctr">
            <a:normAutofit/>
          </a:bodyPr>
          <a:lstStyle/>
          <a:p>
            <a:pPr rtl="1" algn="r" indent="0" marL="0">
              <a:lnSpc>
                <a:spcPct val="145000"/>
              </a:lnSpc>
              <a:buNone/>
            </a:pPr>
            <a:r>
              <a:rPr lang="ar-SA" altLang="en-US" sz="2100" b="1" dirty="0">
                <a:solidFill>
                  <a:srgbClr val="131B34"/>
                </a:solidFill>
                <a:latin typeface="Cairo" pitchFamily="34" charset="0"/>
                <a:ea typeface="Cairo" pitchFamily="34" charset="-122"/>
                <a:cs typeface="Cairo" pitchFamily="34" charset="-120"/>
              </a:rPr>
              <a:t>تظاهر ________ بالمرض في ________ ، فرأى رجلًا ________ على ________ . فلما أصعده صاحب الحصان على ________ الحصان ولّى به هاربًا، لكن صاحب الحصان قال له: أرجو ألّا ________ أحدًا بهذه ________ ، حتى لا يرى أحد الناس ________ حقًّا وعاجزًا فيمتنع عن الجميل. فلما سمع هذا ________ ردّ إليه الحصان ________ .</a:t>
            </a:r>
            <a:endParaRPr lang="ar-SA" sz="2100" dirty="0"/>
          </a:p>
        </p:txBody>
      </p:sp>
      <p:sp>
        <p:nvSpPr>
          <p:cNvPr id="27" name="anim-g1-97"/>
          <p:cNvSpPr/>
          <p:nvPr/>
        </p:nvSpPr>
        <p:spPr>
          <a:xfrm>
            <a:off x="822960" y="1920240"/>
            <a:ext cx="10545775" cy="4114800"/>
          </a:xfrm>
          <a:prstGeom prst="roundRect">
            <a:avLst>
              <a:gd name="adj" fmla="val 5556"/>
            </a:avLst>
          </a:prstGeom>
          <a:solidFill>
            <a:srgbClr val="101B45"/>
          </a:solidFill>
          <a:ln/>
        </p:spPr>
      </p:sp>
      <p:sp>
        <p:nvSpPr>
          <p:cNvPr id="28" name="anim-g1-98"/>
          <p:cNvSpPr/>
          <p:nvPr/>
        </p:nvSpPr>
        <p:spPr>
          <a:xfrm>
            <a:off x="1280160" y="2011680"/>
            <a:ext cx="9631375" cy="3931920"/>
          </a:xfrm>
          <a:prstGeom prst="rect">
            <a:avLst/>
          </a:prstGeom>
          <a:noFill/>
          <a:ln/>
        </p:spPr>
        <p:txBody>
          <a:bodyPr wrap="square" lIns="0" tIns="0" rIns="0" bIns="0" rtlCol="0" anchor="ctr">
            <a:normAutofit/>
          </a:bodyPr>
          <a:lstStyle/>
          <a:p>
            <a:pPr algn="r" indent="0" marL="0">
              <a:lnSpc>
                <a:spcPct val="145000"/>
              </a:lnSpc>
              <a:buNone/>
            </a:pPr>
            <a:r>
              <a:rPr lang="ar-SA" altLang="en-US" sz="2300" b="1" dirty="0">
                <a:solidFill>
                  <a:srgbClr val="F0CC7A"/>
                </a:solidFill>
                <a:latin typeface="Cairo" pitchFamily="34" charset="0"/>
                <a:ea typeface="Cairo" pitchFamily="34" charset="-122"/>
                <a:cs typeface="Cairo" pitchFamily="34" charset="-120"/>
              </a:rPr>
              <a:t>الحل: </a:t>
            </a:r>
            <a:pPr algn="r" indent="0" marL="0">
              <a:lnSpc>
                <a:spcPct val="145000"/>
              </a:lnSpc>
              <a:buNone/>
            </a:pPr>
            <a:r>
              <a:rPr lang="ar-SA" altLang="en-US" sz="2300" b="1" dirty="0">
                <a:solidFill>
                  <a:srgbClr val="FFFFFF"/>
                </a:solidFill>
                <a:latin typeface="Cairo" pitchFamily="34" charset="0"/>
                <a:ea typeface="Cairo" pitchFamily="34" charset="-122"/>
                <a:cs typeface="Cairo" pitchFamily="34" charset="-120"/>
              </a:rPr>
              <a:t>تظاهر رجلٌ بالمرض في الطريق، فرأى رجلًا راكبًا على حصانه. فلما أصعده صاحب الحصان على ظهر الحصان ولّى به هاربًا، لكن صاحب الحصان قال له: أرجو ألّا تُخبر أحدًا بهذه الحيلة، حتى لا يرى أحد الناس مريضًا حقًّا وعاجزًا فيمتنع عن الجميل. فلما سمع هذا الكلام ردّ إليه الحصان معتذرًا.</a:t>
            </a:r>
            <a:endParaRPr lang="ar-SA" sz="2300" dirty="0"/>
          </a:p>
        </p:txBody>
      </p:sp>
      <p:sp>
        <p:nvSpPr>
          <p:cNvPr id="29" name="Text 27"/>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30" name="Text 28"/>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لماذا نحن هنا؟  ·  ١٨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4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705960" y="1188720"/>
            <a:ext cx="2779776"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705960" y="1188720"/>
            <a:ext cx="277977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الدرس من القصة</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الطلاب يتعلمون من ردّة فعلك…</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أكثر مما يتعلمون من شرحك</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لماذا نحن هنا؟  ·  ١٩</a:t>
            </a:r>
            <a:endParaRPr lang="ar-SA"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027871" y="457200"/>
            <a:ext cx="2340864" cy="457200"/>
          </a:xfrm>
          <a:prstGeom prst="roundRect">
            <a:avLst>
              <a:gd name="adj" fmla="val 50000"/>
            </a:avLst>
          </a:prstGeom>
          <a:solidFill>
            <a:srgbClr val="F6EBCF"/>
          </a:solidFill>
          <a:ln/>
        </p:spPr>
      </p:sp>
      <p:sp>
        <p:nvSpPr>
          <p:cNvPr id="3" name="Text 1"/>
          <p:cNvSpPr/>
          <p:nvPr/>
        </p:nvSpPr>
        <p:spPr>
          <a:xfrm>
            <a:off x="9027871" y="457200"/>
            <a:ext cx="234086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سؤال للجميع</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أيهما يؤثر أكثر في تحصيل الطالب؟</a:t>
            </a:r>
            <a:endParaRPr lang="ar-SA" sz="38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المدرسة الفعّالة</a:t>
            </a:r>
            <a:endParaRPr lang="ar-SA" sz="2500" dirty="0"/>
          </a:p>
        </p:txBody>
      </p:sp>
      <p:sp>
        <p:nvSpPr>
          <p:cNvPr id="9" name="anim-g1-99"/>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100"/>
          <p:cNvSpPr/>
          <p:nvPr/>
        </p:nvSpPr>
        <p:spPr>
          <a:xfrm>
            <a:off x="10231831" y="2194560"/>
            <a:ext cx="954024" cy="954024"/>
          </a:xfrm>
          <a:prstGeom prst="roundRect">
            <a:avLst>
              <a:gd name="adj" fmla="val 11502"/>
            </a:avLst>
          </a:prstGeom>
          <a:solidFill>
            <a:srgbClr val="A3A9BA"/>
          </a:solidFill>
          <a:ln/>
        </p:spPr>
      </p:sp>
      <p:sp>
        <p:nvSpPr>
          <p:cNvPr id="11" name="anim-g1-101"/>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102"/>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8A90A3"/>
                </a:solidFill>
                <a:latin typeface="Cairo" pitchFamily="34" charset="0"/>
                <a:ea typeface="Cairo" pitchFamily="34" charset="-122"/>
                <a:cs typeface="Cairo" pitchFamily="34" charset="-120"/>
              </a:rPr>
              <a:t>المدرسة الفعّالة</a:t>
            </a:r>
            <a:endParaRPr lang="ar-SA" sz="2500" dirty="0"/>
          </a:p>
        </p:txBody>
      </p:sp>
      <p:sp>
        <p:nvSpPr>
          <p:cNvPr id="13" name="Shape 11"/>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4" name="Shape 12"/>
          <p:cNvSpPr/>
          <p:nvPr/>
        </p:nvSpPr>
        <p:spPr>
          <a:xfrm>
            <a:off x="10231831" y="3569208"/>
            <a:ext cx="954024" cy="954024"/>
          </a:xfrm>
          <a:prstGeom prst="roundRect">
            <a:avLst>
              <a:gd name="adj" fmla="val 11502"/>
            </a:avLst>
          </a:prstGeom>
          <a:solidFill>
            <a:srgbClr val="101B45"/>
          </a:solidFill>
          <a:ln/>
        </p:spPr>
      </p:sp>
      <p:sp>
        <p:nvSpPr>
          <p:cNvPr id="15" name="Text 13"/>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6" name="Text 14"/>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المعلم الفعّال</a:t>
            </a:r>
            <a:endParaRPr lang="ar-SA" sz="2500" dirty="0"/>
          </a:p>
        </p:txBody>
      </p:sp>
      <p:sp>
        <p:nvSpPr>
          <p:cNvPr id="17" name="anim-g1-103"/>
          <p:cNvSpPr/>
          <p:nvPr/>
        </p:nvSpPr>
        <p:spPr>
          <a:xfrm>
            <a:off x="822960" y="3432048"/>
            <a:ext cx="10545775" cy="1228344"/>
          </a:xfrm>
          <a:prstGeom prst="roundRect">
            <a:avLst>
              <a:gd name="adj" fmla="val 11911"/>
            </a:avLst>
          </a:prstGeom>
          <a:solidFill>
            <a:srgbClr val="E6F4EC"/>
          </a:solidFill>
          <a:ln w="31750">
            <a:solidFill>
              <a:srgbClr val="2E9E6B"/>
            </a:solidFill>
            <a:prstDash val="solid"/>
          </a:ln>
        </p:spPr>
      </p:sp>
      <p:sp>
        <p:nvSpPr>
          <p:cNvPr id="18" name="anim-g1-104"/>
          <p:cNvSpPr/>
          <p:nvPr/>
        </p:nvSpPr>
        <p:spPr>
          <a:xfrm>
            <a:off x="10231831" y="3569208"/>
            <a:ext cx="954024" cy="954024"/>
          </a:xfrm>
          <a:prstGeom prst="roundRect">
            <a:avLst>
              <a:gd name="adj" fmla="val 11502"/>
            </a:avLst>
          </a:prstGeom>
          <a:solidFill>
            <a:srgbClr val="2E9E6B"/>
          </a:solidFill>
          <a:ln/>
        </p:spPr>
      </p:sp>
      <p:sp>
        <p:nvSpPr>
          <p:cNvPr id="19" name="anim-g1-105"/>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20" name="anim-g1-106"/>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المعلم الفعّال</a:t>
            </a:r>
            <a:endParaRPr lang="ar-SA" sz="2500" dirty="0"/>
          </a:p>
        </p:txBody>
      </p:sp>
      <p:sp>
        <p:nvSpPr>
          <p:cNvPr id="21" name="Shape 19"/>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2" name="Shape 20"/>
          <p:cNvSpPr/>
          <p:nvPr/>
        </p:nvSpPr>
        <p:spPr>
          <a:xfrm>
            <a:off x="10231831" y="4943856"/>
            <a:ext cx="954024" cy="954024"/>
          </a:xfrm>
          <a:prstGeom prst="roundRect">
            <a:avLst>
              <a:gd name="adj" fmla="val 11502"/>
            </a:avLst>
          </a:prstGeom>
          <a:solidFill>
            <a:srgbClr val="101B45"/>
          </a:solidFill>
          <a:ln/>
        </p:spPr>
      </p:sp>
      <p:sp>
        <p:nvSpPr>
          <p:cNvPr id="23" name="Text 21"/>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4" name="Text 22"/>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تأثيرهما متساوٍ</a:t>
            </a:r>
            <a:endParaRPr lang="ar-SA" sz="2500" dirty="0"/>
          </a:p>
        </p:txBody>
      </p:sp>
      <p:sp>
        <p:nvSpPr>
          <p:cNvPr id="25" name="anim-g1-107"/>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6" name="anim-g1-108"/>
          <p:cNvSpPr/>
          <p:nvPr/>
        </p:nvSpPr>
        <p:spPr>
          <a:xfrm>
            <a:off x="10231831" y="4943856"/>
            <a:ext cx="954024" cy="954024"/>
          </a:xfrm>
          <a:prstGeom prst="roundRect">
            <a:avLst>
              <a:gd name="adj" fmla="val 11502"/>
            </a:avLst>
          </a:prstGeom>
          <a:solidFill>
            <a:srgbClr val="A3A9BA"/>
          </a:solidFill>
          <a:ln/>
        </p:spPr>
      </p:sp>
      <p:sp>
        <p:nvSpPr>
          <p:cNvPr id="27" name="anim-g1-109"/>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8" name="anim-g1-110"/>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8A90A3"/>
                </a:solidFill>
                <a:latin typeface="Cairo" pitchFamily="34" charset="0"/>
                <a:ea typeface="Cairo" pitchFamily="34" charset="-122"/>
                <a:cs typeface="Cairo" pitchFamily="34" charset="-120"/>
              </a:rPr>
              <a:t>تأثيرهما متساوٍ</a:t>
            </a:r>
            <a:endParaRPr lang="ar-SA" sz="2500" dirty="0"/>
          </a:p>
        </p:txBody>
      </p:sp>
      <p:sp>
        <p:nvSpPr>
          <p:cNvPr id="29" name="Text 27"/>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30" name="Text 28"/>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لماذا نحن هنا؟  ·  ٢٠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400"/>
                                        <p:tgtEl>
                                          <p:spTgt spid="1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400"/>
                                        <p:tgtEl>
                                          <p:spTgt spid="2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fade">
                                      <p:cBhvr>
                                        <p:cTn id="34" dur="400"/>
                                        <p:tgtEl>
                                          <p:spTgt spid="2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7" grpId="0" animBg="1"/>
      <p:bldP spid="18" grpId="0" animBg="1"/>
      <p:bldP spid="19" grpId="0" animBg="1"/>
      <p:bldP spid="20" grpId="0" animBg="1"/>
      <p:bldP spid="25" grpId="0" animBg="1"/>
      <p:bldP spid="26" grpId="0" animBg="1"/>
      <p:bldP spid="27" grpId="0" animBg="1"/>
      <p:bldP spid="2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003743" y="457200"/>
            <a:ext cx="3364992" cy="457200"/>
          </a:xfrm>
          <a:prstGeom prst="roundRect">
            <a:avLst>
              <a:gd name="adj" fmla="val 50000"/>
            </a:avLst>
          </a:prstGeom>
          <a:solidFill>
            <a:srgbClr val="F6EBCF"/>
          </a:solidFill>
          <a:ln/>
        </p:spPr>
      </p:sp>
      <p:sp>
        <p:nvSpPr>
          <p:cNvPr id="3" name="Text 1"/>
          <p:cNvSpPr/>
          <p:nvPr/>
        </p:nvSpPr>
        <p:spPr>
          <a:xfrm>
            <a:off x="8003743" y="457200"/>
            <a:ext cx="336499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ماذا تقول الأبحاث؟</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طالب ترتيبه في المنتصف… أين يصبح بعد سنتين؟</a:t>
            </a:r>
            <a:endParaRPr lang="ar-SA" sz="3200" dirty="0"/>
          </a:p>
        </p:txBody>
      </p:sp>
      <p:sp>
        <p:nvSpPr>
          <p:cNvPr id="5" name="Shape 3"/>
          <p:cNvSpPr/>
          <p:nvPr/>
        </p:nvSpPr>
        <p:spPr>
          <a:xfrm>
            <a:off x="1005840" y="4995367"/>
            <a:ext cx="1670243" cy="79553"/>
          </a:xfrm>
          <a:prstGeom prst="rect">
            <a:avLst/>
          </a:prstGeom>
          <a:solidFill>
            <a:srgbClr val="C94040"/>
          </a:solidFill>
          <a:ln/>
        </p:spPr>
      </p:sp>
      <p:sp>
        <p:nvSpPr>
          <p:cNvPr id="6" name="Text 4"/>
          <p:cNvSpPr/>
          <p:nvPr/>
        </p:nvSpPr>
        <p:spPr>
          <a:xfrm>
            <a:off x="1005840" y="4446727"/>
            <a:ext cx="1670243" cy="502920"/>
          </a:xfrm>
          <a:prstGeom prst="rect">
            <a:avLst/>
          </a:prstGeom>
          <a:noFill/>
          <a:ln/>
        </p:spPr>
        <p:txBody>
          <a:bodyPr wrap="square" lIns="0" tIns="0" rIns="0" bIns="0" rtlCol="0" anchor="ctr">
            <a:normAutofit/>
          </a:bodyPr>
          <a:lstStyle/>
          <a:p>
            <a:pPr rtl="1" algn="ctr" indent="0" marL="0">
              <a:buNone/>
            </a:pPr>
            <a:r>
              <a:rPr lang="ar-SA" altLang="en-US" sz="3000" dirty="0">
                <a:solidFill>
                  <a:srgbClr val="C94040"/>
                </a:solidFill>
                <a:latin typeface="Cairo Black" pitchFamily="34" charset="0"/>
                <a:ea typeface="Cairo Black" pitchFamily="34" charset="-122"/>
                <a:cs typeface="Cairo Black" pitchFamily="34" charset="-120"/>
              </a:rPr>
              <a:t>٣</a:t>
            </a:r>
            <a:endParaRPr lang="ar-SA" sz="3000" dirty="0"/>
          </a:p>
        </p:txBody>
      </p:sp>
      <p:sp>
        <p:nvSpPr>
          <p:cNvPr id="7" name="Text 5"/>
          <p:cNvSpPr/>
          <p:nvPr/>
        </p:nvSpPr>
        <p:spPr>
          <a:xfrm>
            <a:off x="914400" y="5166360"/>
            <a:ext cx="1853123" cy="685800"/>
          </a:xfrm>
          <a:prstGeom prst="rect">
            <a:avLst/>
          </a:prstGeom>
          <a:noFill/>
          <a:ln/>
        </p:spPr>
        <p:txBody>
          <a:bodyPr wrap="square" lIns="0" tIns="0" rIns="0" bIns="0" rtlCol="0" anchor="t">
            <a:normAutofit/>
          </a:bodyPr>
          <a:lstStyle/>
          <a:p>
            <a:pPr rtl="1" algn="ctr" indent="0" marL="0">
              <a:buNone/>
            </a:pPr>
            <a:r>
              <a:rPr lang="ar-SA" altLang="en-US" sz="1800" b="1" dirty="0">
                <a:solidFill>
                  <a:srgbClr val="101B45"/>
                </a:solidFill>
                <a:latin typeface="Cairo" pitchFamily="34" charset="0"/>
                <a:ea typeface="Cairo" pitchFamily="34" charset="-122"/>
                <a:cs typeface="Cairo" pitchFamily="34" charset="-120"/>
              </a:rPr>
              <a:t>مدرسة ضعيفة ومعلم ضعيف</a:t>
            </a:r>
            <a:endParaRPr lang="ar-SA" sz="1800" dirty="0"/>
          </a:p>
        </p:txBody>
      </p:sp>
      <p:sp>
        <p:nvSpPr>
          <p:cNvPr id="8" name="Shape 6"/>
          <p:cNvSpPr/>
          <p:nvPr/>
        </p:nvSpPr>
        <p:spPr>
          <a:xfrm>
            <a:off x="3133283" y="4093769"/>
            <a:ext cx="1670243" cy="981151"/>
          </a:xfrm>
          <a:prstGeom prst="rect">
            <a:avLst/>
          </a:prstGeom>
          <a:solidFill>
            <a:srgbClr val="6E7BA6"/>
          </a:solidFill>
          <a:ln/>
        </p:spPr>
      </p:sp>
      <p:sp>
        <p:nvSpPr>
          <p:cNvPr id="9" name="Text 7"/>
          <p:cNvSpPr/>
          <p:nvPr/>
        </p:nvSpPr>
        <p:spPr>
          <a:xfrm>
            <a:off x="3133283" y="3545129"/>
            <a:ext cx="1670243" cy="502920"/>
          </a:xfrm>
          <a:prstGeom prst="rect">
            <a:avLst/>
          </a:prstGeom>
          <a:noFill/>
          <a:ln/>
        </p:spPr>
        <p:txBody>
          <a:bodyPr wrap="square" lIns="0" tIns="0" rIns="0" bIns="0" rtlCol="0" anchor="ctr">
            <a:normAutofit/>
          </a:bodyPr>
          <a:lstStyle/>
          <a:p>
            <a:pPr rtl="1" algn="ctr" indent="0" marL="0">
              <a:buNone/>
            </a:pPr>
            <a:r>
              <a:rPr lang="ar-SA" altLang="en-US" sz="3000" dirty="0">
                <a:solidFill>
                  <a:srgbClr val="6E7BA6"/>
                </a:solidFill>
                <a:latin typeface="Cairo Black" pitchFamily="34" charset="0"/>
                <a:ea typeface="Cairo Black" pitchFamily="34" charset="-122"/>
                <a:cs typeface="Cairo Black" pitchFamily="34" charset="-120"/>
              </a:rPr>
              <a:t>٣٧</a:t>
            </a:r>
            <a:endParaRPr lang="ar-SA" sz="3000" dirty="0"/>
          </a:p>
        </p:txBody>
      </p:sp>
      <p:sp>
        <p:nvSpPr>
          <p:cNvPr id="10" name="Text 8"/>
          <p:cNvSpPr/>
          <p:nvPr/>
        </p:nvSpPr>
        <p:spPr>
          <a:xfrm>
            <a:off x="3041843" y="5166360"/>
            <a:ext cx="1853123" cy="685800"/>
          </a:xfrm>
          <a:prstGeom prst="rect">
            <a:avLst/>
          </a:prstGeom>
          <a:noFill/>
          <a:ln/>
        </p:spPr>
        <p:txBody>
          <a:bodyPr wrap="square" lIns="0" tIns="0" rIns="0" bIns="0" rtlCol="0" anchor="t">
            <a:normAutofit/>
          </a:bodyPr>
          <a:lstStyle/>
          <a:p>
            <a:pPr rtl="1" algn="ctr" indent="0" marL="0">
              <a:buNone/>
            </a:pPr>
            <a:r>
              <a:rPr lang="ar-SA" altLang="en-US" sz="1800" b="1" dirty="0">
                <a:solidFill>
                  <a:srgbClr val="101B45"/>
                </a:solidFill>
                <a:latin typeface="Cairo" pitchFamily="34" charset="0"/>
                <a:ea typeface="Cairo" pitchFamily="34" charset="-122"/>
                <a:cs typeface="Cairo" pitchFamily="34" charset="-120"/>
              </a:rPr>
              <a:t>مدرسة فعّالة ومعلم ضعيف</a:t>
            </a:r>
            <a:endParaRPr lang="ar-SA" sz="1800" dirty="0"/>
          </a:p>
        </p:txBody>
      </p:sp>
      <p:sp>
        <p:nvSpPr>
          <p:cNvPr id="11" name="Shape 9"/>
          <p:cNvSpPr/>
          <p:nvPr/>
        </p:nvSpPr>
        <p:spPr>
          <a:xfrm>
            <a:off x="5260726" y="3749040"/>
            <a:ext cx="1670243" cy="1325880"/>
          </a:xfrm>
          <a:prstGeom prst="rect">
            <a:avLst/>
          </a:prstGeom>
          <a:solidFill>
            <a:srgbClr val="C6CBDB"/>
          </a:solidFill>
          <a:ln/>
        </p:spPr>
      </p:sp>
      <p:sp>
        <p:nvSpPr>
          <p:cNvPr id="12" name="Text 10"/>
          <p:cNvSpPr/>
          <p:nvPr/>
        </p:nvSpPr>
        <p:spPr>
          <a:xfrm>
            <a:off x="5260726" y="3200400"/>
            <a:ext cx="1670243" cy="502920"/>
          </a:xfrm>
          <a:prstGeom prst="rect">
            <a:avLst/>
          </a:prstGeom>
          <a:noFill/>
          <a:ln/>
        </p:spPr>
        <p:txBody>
          <a:bodyPr wrap="square" lIns="0" tIns="0" rIns="0" bIns="0" rtlCol="0" anchor="ctr">
            <a:normAutofit/>
          </a:bodyPr>
          <a:lstStyle/>
          <a:p>
            <a:pPr rtl="1" algn="ctr" indent="0" marL="0">
              <a:buNone/>
            </a:pPr>
            <a:r>
              <a:rPr lang="ar-SA" altLang="en-US" sz="3000" dirty="0">
                <a:solidFill>
                  <a:srgbClr val="5E6782"/>
                </a:solidFill>
                <a:latin typeface="Cairo Black" pitchFamily="34" charset="0"/>
                <a:ea typeface="Cairo Black" pitchFamily="34" charset="-122"/>
                <a:cs typeface="Cairo Black" pitchFamily="34" charset="-120"/>
              </a:rPr>
              <a:t>٥٠</a:t>
            </a:r>
            <a:endParaRPr lang="ar-SA" sz="3000" dirty="0"/>
          </a:p>
        </p:txBody>
      </p:sp>
      <p:sp>
        <p:nvSpPr>
          <p:cNvPr id="13" name="Text 11"/>
          <p:cNvSpPr/>
          <p:nvPr/>
        </p:nvSpPr>
        <p:spPr>
          <a:xfrm>
            <a:off x="5169286" y="5166360"/>
            <a:ext cx="1853123" cy="685800"/>
          </a:xfrm>
          <a:prstGeom prst="rect">
            <a:avLst/>
          </a:prstGeom>
          <a:noFill/>
          <a:ln/>
        </p:spPr>
        <p:txBody>
          <a:bodyPr wrap="square" lIns="0" tIns="0" rIns="0" bIns="0" rtlCol="0" anchor="t">
            <a:normAutofit/>
          </a:bodyPr>
          <a:lstStyle/>
          <a:p>
            <a:pPr rtl="1" algn="ctr" indent="0" marL="0">
              <a:buNone/>
            </a:pPr>
            <a:r>
              <a:rPr lang="ar-SA" altLang="en-US" sz="1800" b="1" dirty="0">
                <a:solidFill>
                  <a:srgbClr val="101B45"/>
                </a:solidFill>
                <a:latin typeface="Cairo" pitchFamily="34" charset="0"/>
                <a:ea typeface="Cairo" pitchFamily="34" charset="-122"/>
                <a:cs typeface="Cairo" pitchFamily="34" charset="-120"/>
              </a:rPr>
              <a:t>نقطة البداية</a:t>
            </a:r>
            <a:endParaRPr lang="ar-SA" sz="1800" dirty="0"/>
          </a:p>
        </p:txBody>
      </p:sp>
      <p:sp>
        <p:nvSpPr>
          <p:cNvPr id="14" name="Shape 12"/>
          <p:cNvSpPr/>
          <p:nvPr/>
        </p:nvSpPr>
        <p:spPr>
          <a:xfrm>
            <a:off x="7388169" y="3404311"/>
            <a:ext cx="1670243" cy="1670609"/>
          </a:xfrm>
          <a:prstGeom prst="rect">
            <a:avLst/>
          </a:prstGeom>
          <a:solidFill>
            <a:srgbClr val="2E9E6B"/>
          </a:solidFill>
          <a:ln/>
        </p:spPr>
      </p:sp>
      <p:sp>
        <p:nvSpPr>
          <p:cNvPr id="15" name="Text 13"/>
          <p:cNvSpPr/>
          <p:nvPr/>
        </p:nvSpPr>
        <p:spPr>
          <a:xfrm>
            <a:off x="7388169" y="2855671"/>
            <a:ext cx="1670243" cy="502920"/>
          </a:xfrm>
          <a:prstGeom prst="rect">
            <a:avLst/>
          </a:prstGeom>
          <a:noFill/>
          <a:ln/>
        </p:spPr>
        <p:txBody>
          <a:bodyPr wrap="square" lIns="0" tIns="0" rIns="0" bIns="0" rtlCol="0" anchor="ctr">
            <a:normAutofit/>
          </a:bodyPr>
          <a:lstStyle/>
          <a:p>
            <a:pPr rtl="1" algn="ctr" indent="0" marL="0">
              <a:buNone/>
            </a:pPr>
            <a:r>
              <a:rPr lang="ar-SA" altLang="en-US" sz="3000" dirty="0">
                <a:solidFill>
                  <a:srgbClr val="2E9E6B"/>
                </a:solidFill>
                <a:latin typeface="Cairo Black" pitchFamily="34" charset="0"/>
                <a:ea typeface="Cairo Black" pitchFamily="34" charset="-122"/>
                <a:cs typeface="Cairo Black" pitchFamily="34" charset="-120"/>
              </a:rPr>
              <a:t>٦٣</a:t>
            </a:r>
            <a:endParaRPr lang="ar-SA" sz="3000" dirty="0"/>
          </a:p>
        </p:txBody>
      </p:sp>
      <p:sp>
        <p:nvSpPr>
          <p:cNvPr id="16" name="Text 14"/>
          <p:cNvSpPr/>
          <p:nvPr/>
        </p:nvSpPr>
        <p:spPr>
          <a:xfrm>
            <a:off x="7296729" y="5166360"/>
            <a:ext cx="1853123" cy="685800"/>
          </a:xfrm>
          <a:prstGeom prst="rect">
            <a:avLst/>
          </a:prstGeom>
          <a:noFill/>
          <a:ln/>
        </p:spPr>
        <p:txBody>
          <a:bodyPr wrap="square" lIns="0" tIns="0" rIns="0" bIns="0" rtlCol="0" anchor="t">
            <a:normAutofit/>
          </a:bodyPr>
          <a:lstStyle/>
          <a:p>
            <a:pPr rtl="1" algn="ctr" indent="0" marL="0">
              <a:buNone/>
            </a:pPr>
            <a:r>
              <a:rPr lang="ar-SA" altLang="en-US" sz="1800" b="1" dirty="0">
                <a:solidFill>
                  <a:srgbClr val="101B45"/>
                </a:solidFill>
                <a:latin typeface="Cairo" pitchFamily="34" charset="0"/>
                <a:ea typeface="Cairo" pitchFamily="34" charset="-122"/>
                <a:cs typeface="Cairo" pitchFamily="34" charset="-120"/>
              </a:rPr>
              <a:t>مدرسة ضعيفة ومعلم فعّال</a:t>
            </a:r>
            <a:endParaRPr lang="ar-SA" sz="1800" dirty="0"/>
          </a:p>
        </p:txBody>
      </p:sp>
      <p:sp>
        <p:nvSpPr>
          <p:cNvPr id="17" name="Shape 15"/>
          <p:cNvSpPr/>
          <p:nvPr/>
        </p:nvSpPr>
        <p:spPr>
          <a:xfrm>
            <a:off x="9515612" y="2529230"/>
            <a:ext cx="1670243" cy="2545690"/>
          </a:xfrm>
          <a:prstGeom prst="rect">
            <a:avLst/>
          </a:prstGeom>
          <a:solidFill>
            <a:srgbClr val="D9AE4B"/>
          </a:solidFill>
          <a:ln/>
        </p:spPr>
      </p:sp>
      <p:sp>
        <p:nvSpPr>
          <p:cNvPr id="18" name="Text 16"/>
          <p:cNvSpPr/>
          <p:nvPr/>
        </p:nvSpPr>
        <p:spPr>
          <a:xfrm>
            <a:off x="9515612" y="1980590"/>
            <a:ext cx="1670243" cy="502920"/>
          </a:xfrm>
          <a:prstGeom prst="rect">
            <a:avLst/>
          </a:prstGeom>
          <a:noFill/>
          <a:ln/>
        </p:spPr>
        <p:txBody>
          <a:bodyPr wrap="square" lIns="0" tIns="0" rIns="0" bIns="0" rtlCol="0" anchor="ctr">
            <a:normAutofit/>
          </a:bodyPr>
          <a:lstStyle/>
          <a:p>
            <a:pPr rtl="1" algn="ctr" indent="0" marL="0">
              <a:buNone/>
            </a:pPr>
            <a:r>
              <a:rPr lang="ar-SA" altLang="en-US" sz="3000" dirty="0">
                <a:solidFill>
                  <a:srgbClr val="D9AE4B"/>
                </a:solidFill>
                <a:latin typeface="Cairo Black" pitchFamily="34" charset="0"/>
                <a:ea typeface="Cairo Black" pitchFamily="34" charset="-122"/>
                <a:cs typeface="Cairo Black" pitchFamily="34" charset="-120"/>
              </a:rPr>
              <a:t>٩٦</a:t>
            </a:r>
            <a:endParaRPr lang="ar-SA" sz="3000" dirty="0"/>
          </a:p>
        </p:txBody>
      </p:sp>
      <p:sp>
        <p:nvSpPr>
          <p:cNvPr id="19" name="Text 17"/>
          <p:cNvSpPr/>
          <p:nvPr/>
        </p:nvSpPr>
        <p:spPr>
          <a:xfrm>
            <a:off x="9424172" y="5166360"/>
            <a:ext cx="1853123" cy="685800"/>
          </a:xfrm>
          <a:prstGeom prst="rect">
            <a:avLst/>
          </a:prstGeom>
          <a:noFill/>
          <a:ln/>
        </p:spPr>
        <p:txBody>
          <a:bodyPr wrap="square" lIns="0" tIns="0" rIns="0" bIns="0" rtlCol="0" anchor="t">
            <a:normAutofit/>
          </a:bodyPr>
          <a:lstStyle/>
          <a:p>
            <a:pPr rtl="1" algn="ctr" indent="0" marL="0">
              <a:buNone/>
            </a:pPr>
            <a:r>
              <a:rPr lang="ar-SA" altLang="en-US" sz="1800" b="1" dirty="0">
                <a:solidFill>
                  <a:srgbClr val="101B45"/>
                </a:solidFill>
                <a:latin typeface="Cairo" pitchFamily="34" charset="0"/>
                <a:ea typeface="Cairo" pitchFamily="34" charset="-122"/>
                <a:cs typeface="Cairo" pitchFamily="34" charset="-120"/>
              </a:rPr>
              <a:t>مدرسة فعّالة ومعلم فعّال</a:t>
            </a:r>
            <a:endParaRPr lang="ar-SA" sz="1800" dirty="0"/>
          </a:p>
        </p:txBody>
      </p:sp>
      <p:sp>
        <p:nvSpPr>
          <p:cNvPr id="20" name="Shape 18"/>
          <p:cNvSpPr/>
          <p:nvPr/>
        </p:nvSpPr>
        <p:spPr>
          <a:xfrm>
            <a:off x="822960" y="5074920"/>
            <a:ext cx="10545775" cy="0"/>
          </a:xfrm>
          <a:prstGeom prst="line">
            <a:avLst/>
          </a:prstGeom>
          <a:noFill/>
          <a:ln w="25400">
            <a:solidFill>
              <a:srgbClr val="101B45"/>
            </a:solidFill>
            <a:prstDash val="solid"/>
          </a:ln>
        </p:spPr>
      </p:sp>
      <p:sp>
        <p:nvSpPr>
          <p:cNvPr id="21" name="Text 19"/>
          <p:cNvSpPr/>
          <p:nvPr/>
        </p:nvSpPr>
        <p:spPr>
          <a:xfrm>
            <a:off x="822960" y="5897880"/>
            <a:ext cx="10545775" cy="320040"/>
          </a:xfrm>
          <a:prstGeom prst="rect">
            <a:avLst/>
          </a:prstGeom>
          <a:noFill/>
          <a:ln/>
        </p:spPr>
        <p:txBody>
          <a:bodyPr wrap="square" lIns="0" tIns="0" rIns="0" bIns="0" rtlCol="0" anchor="ctr">
            <a:normAutofit/>
          </a:bodyPr>
          <a:lstStyle/>
          <a:p>
            <a:pPr rtl="1" algn="r" indent="0" marL="0">
              <a:buNone/>
            </a:pPr>
            <a:r>
              <a:rPr lang="ar-SA" altLang="en-US" sz="1600" b="1" dirty="0">
                <a:solidFill>
                  <a:srgbClr val="5E6782"/>
                </a:solidFill>
                <a:latin typeface="Cairo" pitchFamily="34" charset="0"/>
                <a:ea typeface="Cairo" pitchFamily="34" charset="-122"/>
                <a:cs typeface="Cairo" pitchFamily="34" charset="-120"/>
              </a:rPr>
              <a:t>المحور الرأسي: ترتيب الطالب من ١٠٠ · المصدر: روبرت مارزانو، «ما الذي ينجح في المدارس» (2003)</a:t>
            </a:r>
            <a:endParaRPr lang="ar-SA" sz="1600" dirty="0"/>
          </a:p>
        </p:txBody>
      </p:sp>
      <p:sp>
        <p:nvSpPr>
          <p:cNvPr id="22" name="Text 2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3" name="Text 2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لماذا نحن هنا؟  ·  ٢١</a:t>
            </a:r>
            <a:endParaRPr lang="ar-SA"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218024" y="1188720"/>
            <a:ext cx="175564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5218024" y="1188720"/>
            <a:ext cx="175564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الخلاصة</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المعلم الفعّال يصنع الفرق…</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حتى في المدرسة الضعيفة</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لماذا نحن هنا؟  ·  ٢٢</a:t>
            </a:r>
            <a:endParaRPr lang="ar-SA"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خريطة الرحلة</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محطات الدورة</a:t>
            </a:r>
            <a:endParaRPr lang="ar-SA" sz="3800" dirty="0"/>
          </a:p>
        </p:txBody>
      </p:sp>
      <p:sp>
        <p:nvSpPr>
          <p:cNvPr id="5" name="Shape 3"/>
          <p:cNvSpPr/>
          <p:nvPr/>
        </p:nvSpPr>
        <p:spPr>
          <a:xfrm>
            <a:off x="8005877" y="1965960"/>
            <a:ext cx="3362858" cy="1097280"/>
          </a:xfrm>
          <a:prstGeom prst="roundRect">
            <a:avLst>
              <a:gd name="adj" fmla="val 15000"/>
            </a:avLst>
          </a:prstGeom>
          <a:solidFill>
            <a:srgbClr val="FFFFFF"/>
          </a:solidFill>
          <a:ln w="12700">
            <a:solidFill>
              <a:srgbClr val="E4DCC8"/>
            </a:solidFill>
            <a:prstDash val="solid"/>
          </a:ln>
        </p:spPr>
      </p:sp>
      <p:sp>
        <p:nvSpPr>
          <p:cNvPr id="6" name="Shape 4"/>
          <p:cNvSpPr/>
          <p:nvPr/>
        </p:nvSpPr>
        <p:spPr>
          <a:xfrm>
            <a:off x="10426903" y="2125980"/>
            <a:ext cx="777240" cy="777240"/>
          </a:xfrm>
          <a:prstGeom prst="roundRect">
            <a:avLst>
              <a:gd name="adj" fmla="val 18824"/>
            </a:avLst>
          </a:prstGeom>
          <a:solidFill>
            <a:srgbClr val="101B45"/>
          </a:solidFill>
          <a:ln/>
        </p:spPr>
      </p:sp>
      <p:sp>
        <p:nvSpPr>
          <p:cNvPr id="7" name="Text 5"/>
          <p:cNvSpPr/>
          <p:nvPr/>
        </p:nvSpPr>
        <p:spPr>
          <a:xfrm>
            <a:off x="10426903" y="2125980"/>
            <a:ext cx="777240" cy="777240"/>
          </a:xfrm>
          <a:prstGeom prst="rect">
            <a:avLst/>
          </a:prstGeom>
          <a:noFill/>
          <a:ln/>
        </p:spPr>
        <p:txBody>
          <a:bodyPr wrap="square" lIns="0" tIns="0" rIns="0" bIns="0" rtlCol="0" anchor="ctr">
            <a:normAutofit/>
          </a:bodyPr>
          <a:lstStyle/>
          <a:p>
            <a:pPr rtl="1" algn="ctr" indent="0" marL="0">
              <a:buNone/>
            </a:pPr>
            <a:r>
              <a:rPr lang="ar-SA" altLang="en-US" sz="2400" dirty="0">
                <a:solidFill>
                  <a:srgbClr val="131B34"/>
                </a:solidFill>
                <a:latin typeface="Cairo" pitchFamily="34" charset="0"/>
                <a:ea typeface="Cairo" pitchFamily="34" charset="-122"/>
                <a:cs typeface="Cairo" pitchFamily="34" charset="-120"/>
              </a:rPr>
              <a:t>🤲</a:t>
            </a:r>
            <a:endParaRPr lang="ar-SA" sz="2400" dirty="0"/>
          </a:p>
        </p:txBody>
      </p:sp>
      <p:sp>
        <p:nvSpPr>
          <p:cNvPr id="8" name="Text 6"/>
          <p:cNvSpPr/>
          <p:nvPr/>
        </p:nvSpPr>
        <p:spPr>
          <a:xfrm>
            <a:off x="8143037" y="2057400"/>
            <a:ext cx="2174138" cy="292608"/>
          </a:xfrm>
          <a:prstGeom prst="rect">
            <a:avLst/>
          </a:prstGeom>
          <a:noFill/>
          <a:ln/>
        </p:spPr>
        <p:txBody>
          <a:bodyPr wrap="square" lIns="0" tIns="0" rIns="0" bIns="0" rtlCol="0" anchor="ctr">
            <a:normAutofit/>
          </a:bodyPr>
          <a:lstStyle/>
          <a:p>
            <a:pPr rtl="1" algn="r" indent="0" marL="0">
              <a:buNone/>
            </a:pPr>
            <a:r>
              <a:rPr lang="ar-SA" altLang="en-US" sz="1400" b="1" dirty="0">
                <a:solidFill>
                  <a:srgbClr val="B08A2E"/>
                </a:solidFill>
                <a:latin typeface="Cairo" pitchFamily="34" charset="0"/>
                <a:ea typeface="Cairo" pitchFamily="34" charset="-122"/>
                <a:cs typeface="Cairo" pitchFamily="34" charset="-120"/>
              </a:rPr>
              <a:t>المحطة ١</a:t>
            </a:r>
            <a:endParaRPr lang="ar-SA" sz="1400" dirty="0"/>
          </a:p>
        </p:txBody>
      </p:sp>
      <p:sp>
        <p:nvSpPr>
          <p:cNvPr id="9" name="Text 7"/>
          <p:cNvSpPr/>
          <p:nvPr/>
        </p:nvSpPr>
        <p:spPr>
          <a:xfrm>
            <a:off x="8143037" y="2331720"/>
            <a:ext cx="2174138" cy="658368"/>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قبل أن تدخل الفصل</a:t>
            </a:r>
            <a:endParaRPr lang="ar-SA" sz="2200" dirty="0"/>
          </a:p>
        </p:txBody>
      </p:sp>
      <p:sp>
        <p:nvSpPr>
          <p:cNvPr id="10" name="Shape 8"/>
          <p:cNvSpPr/>
          <p:nvPr/>
        </p:nvSpPr>
        <p:spPr>
          <a:xfrm>
            <a:off x="4414418" y="1965960"/>
            <a:ext cx="3362858" cy="1097280"/>
          </a:xfrm>
          <a:prstGeom prst="roundRect">
            <a:avLst>
              <a:gd name="adj" fmla="val 15000"/>
            </a:avLst>
          </a:prstGeom>
          <a:solidFill>
            <a:srgbClr val="FFFFFF"/>
          </a:solidFill>
          <a:ln w="12700">
            <a:solidFill>
              <a:srgbClr val="E4DCC8"/>
            </a:solidFill>
            <a:prstDash val="solid"/>
          </a:ln>
        </p:spPr>
      </p:sp>
      <p:sp>
        <p:nvSpPr>
          <p:cNvPr id="11" name="Shape 9"/>
          <p:cNvSpPr/>
          <p:nvPr/>
        </p:nvSpPr>
        <p:spPr>
          <a:xfrm>
            <a:off x="6835445" y="2125980"/>
            <a:ext cx="777240" cy="777240"/>
          </a:xfrm>
          <a:prstGeom prst="roundRect">
            <a:avLst>
              <a:gd name="adj" fmla="val 18824"/>
            </a:avLst>
          </a:prstGeom>
          <a:solidFill>
            <a:srgbClr val="101B45"/>
          </a:solidFill>
          <a:ln/>
        </p:spPr>
      </p:sp>
      <p:sp>
        <p:nvSpPr>
          <p:cNvPr id="12" name="Text 10"/>
          <p:cNvSpPr/>
          <p:nvPr/>
        </p:nvSpPr>
        <p:spPr>
          <a:xfrm>
            <a:off x="6835445" y="2125980"/>
            <a:ext cx="777240" cy="777240"/>
          </a:xfrm>
          <a:prstGeom prst="rect">
            <a:avLst/>
          </a:prstGeom>
          <a:noFill/>
          <a:ln/>
        </p:spPr>
        <p:txBody>
          <a:bodyPr wrap="square" lIns="0" tIns="0" rIns="0" bIns="0" rtlCol="0" anchor="ctr">
            <a:normAutofit/>
          </a:bodyPr>
          <a:lstStyle/>
          <a:p>
            <a:pPr rtl="1" algn="ctr" indent="0" marL="0">
              <a:buNone/>
            </a:pPr>
            <a:r>
              <a:rPr lang="ar-SA" altLang="en-US" sz="2400" dirty="0">
                <a:solidFill>
                  <a:srgbClr val="131B34"/>
                </a:solidFill>
                <a:latin typeface="Cairo" pitchFamily="34" charset="0"/>
                <a:ea typeface="Cairo" pitchFamily="34" charset="-122"/>
                <a:cs typeface="Cairo" pitchFamily="34" charset="-120"/>
              </a:rPr>
              <a:t>🎯</a:t>
            </a:r>
            <a:endParaRPr lang="ar-SA" sz="2400" dirty="0"/>
          </a:p>
        </p:txBody>
      </p:sp>
      <p:sp>
        <p:nvSpPr>
          <p:cNvPr id="13" name="Text 11"/>
          <p:cNvSpPr/>
          <p:nvPr/>
        </p:nvSpPr>
        <p:spPr>
          <a:xfrm>
            <a:off x="4551578" y="2057400"/>
            <a:ext cx="2174138" cy="292608"/>
          </a:xfrm>
          <a:prstGeom prst="rect">
            <a:avLst/>
          </a:prstGeom>
          <a:noFill/>
          <a:ln/>
        </p:spPr>
        <p:txBody>
          <a:bodyPr wrap="square" lIns="0" tIns="0" rIns="0" bIns="0" rtlCol="0" anchor="ctr">
            <a:normAutofit/>
          </a:bodyPr>
          <a:lstStyle/>
          <a:p>
            <a:pPr rtl="1" algn="r" indent="0" marL="0">
              <a:buNone/>
            </a:pPr>
            <a:r>
              <a:rPr lang="ar-SA" altLang="en-US" sz="1400" b="1" dirty="0">
                <a:solidFill>
                  <a:srgbClr val="B08A2E"/>
                </a:solidFill>
                <a:latin typeface="Cairo" pitchFamily="34" charset="0"/>
                <a:ea typeface="Cairo" pitchFamily="34" charset="-122"/>
                <a:cs typeface="Cairo" pitchFamily="34" charset="-120"/>
              </a:rPr>
              <a:t>المحطة ٢</a:t>
            </a:r>
            <a:endParaRPr lang="ar-SA" sz="1400" dirty="0"/>
          </a:p>
        </p:txBody>
      </p:sp>
      <p:sp>
        <p:nvSpPr>
          <p:cNvPr id="14" name="Text 12"/>
          <p:cNvSpPr/>
          <p:nvPr/>
        </p:nvSpPr>
        <p:spPr>
          <a:xfrm>
            <a:off x="4551578" y="2331720"/>
            <a:ext cx="2174138" cy="658368"/>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لماذا نحن هنا؟</a:t>
            </a:r>
            <a:endParaRPr lang="ar-SA" sz="2200" dirty="0"/>
          </a:p>
        </p:txBody>
      </p:sp>
      <p:sp>
        <p:nvSpPr>
          <p:cNvPr id="15" name="Shape 13"/>
          <p:cNvSpPr/>
          <p:nvPr/>
        </p:nvSpPr>
        <p:spPr>
          <a:xfrm>
            <a:off x="822960" y="1965960"/>
            <a:ext cx="3362858" cy="1097280"/>
          </a:xfrm>
          <a:prstGeom prst="roundRect">
            <a:avLst>
              <a:gd name="adj" fmla="val 15000"/>
            </a:avLst>
          </a:prstGeom>
          <a:solidFill>
            <a:srgbClr val="FFFFFF"/>
          </a:solidFill>
          <a:ln w="12700">
            <a:solidFill>
              <a:srgbClr val="E4DCC8"/>
            </a:solidFill>
            <a:prstDash val="solid"/>
          </a:ln>
        </p:spPr>
      </p:sp>
      <p:sp>
        <p:nvSpPr>
          <p:cNvPr id="16" name="Shape 14"/>
          <p:cNvSpPr/>
          <p:nvPr/>
        </p:nvSpPr>
        <p:spPr>
          <a:xfrm>
            <a:off x="3243986" y="2125980"/>
            <a:ext cx="777240" cy="777240"/>
          </a:xfrm>
          <a:prstGeom prst="roundRect">
            <a:avLst>
              <a:gd name="adj" fmla="val 18824"/>
            </a:avLst>
          </a:prstGeom>
          <a:solidFill>
            <a:srgbClr val="101B45"/>
          </a:solidFill>
          <a:ln/>
        </p:spPr>
      </p:sp>
      <p:sp>
        <p:nvSpPr>
          <p:cNvPr id="17" name="Text 15"/>
          <p:cNvSpPr/>
          <p:nvPr/>
        </p:nvSpPr>
        <p:spPr>
          <a:xfrm>
            <a:off x="3243986" y="2125980"/>
            <a:ext cx="777240" cy="777240"/>
          </a:xfrm>
          <a:prstGeom prst="rect">
            <a:avLst/>
          </a:prstGeom>
          <a:noFill/>
          <a:ln/>
        </p:spPr>
        <p:txBody>
          <a:bodyPr wrap="square" lIns="0" tIns="0" rIns="0" bIns="0" rtlCol="0" anchor="ctr">
            <a:normAutofit/>
          </a:bodyPr>
          <a:lstStyle/>
          <a:p>
            <a:pPr rtl="1" algn="ctr" indent="0" marL="0">
              <a:buNone/>
            </a:pPr>
            <a:r>
              <a:rPr lang="ar-SA" altLang="en-US" sz="2400" dirty="0">
                <a:solidFill>
                  <a:srgbClr val="131B34"/>
                </a:solidFill>
                <a:latin typeface="Cairo" pitchFamily="34" charset="0"/>
                <a:ea typeface="Cairo" pitchFamily="34" charset="-122"/>
                <a:cs typeface="Cairo" pitchFamily="34" charset="-120"/>
              </a:rPr>
              <a:t>🔄</a:t>
            </a:r>
            <a:endParaRPr lang="ar-SA" sz="2400" dirty="0"/>
          </a:p>
        </p:txBody>
      </p:sp>
      <p:sp>
        <p:nvSpPr>
          <p:cNvPr id="18" name="Text 16"/>
          <p:cNvSpPr/>
          <p:nvPr/>
        </p:nvSpPr>
        <p:spPr>
          <a:xfrm>
            <a:off x="960120" y="2057400"/>
            <a:ext cx="2174138" cy="292608"/>
          </a:xfrm>
          <a:prstGeom prst="rect">
            <a:avLst/>
          </a:prstGeom>
          <a:noFill/>
          <a:ln/>
        </p:spPr>
        <p:txBody>
          <a:bodyPr wrap="square" lIns="0" tIns="0" rIns="0" bIns="0" rtlCol="0" anchor="ctr">
            <a:normAutofit/>
          </a:bodyPr>
          <a:lstStyle/>
          <a:p>
            <a:pPr rtl="1" algn="r" indent="0" marL="0">
              <a:buNone/>
            </a:pPr>
            <a:r>
              <a:rPr lang="ar-SA" altLang="en-US" sz="1400" b="1" dirty="0">
                <a:solidFill>
                  <a:srgbClr val="B08A2E"/>
                </a:solidFill>
                <a:latin typeface="Cairo" pitchFamily="34" charset="0"/>
                <a:ea typeface="Cairo" pitchFamily="34" charset="-122"/>
                <a:cs typeface="Cairo" pitchFamily="34" charset="-120"/>
              </a:rPr>
              <a:t>المحطة ٣</a:t>
            </a:r>
            <a:endParaRPr lang="ar-SA" sz="1400" dirty="0"/>
          </a:p>
        </p:txBody>
      </p:sp>
      <p:sp>
        <p:nvSpPr>
          <p:cNvPr id="19" name="Text 17"/>
          <p:cNvSpPr/>
          <p:nvPr/>
        </p:nvSpPr>
        <p:spPr>
          <a:xfrm>
            <a:off x="960120" y="2331720"/>
            <a:ext cx="2174138" cy="658368"/>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تصحيح المفاهيم</a:t>
            </a:r>
            <a:endParaRPr lang="ar-SA" sz="2200" dirty="0"/>
          </a:p>
        </p:txBody>
      </p:sp>
      <p:sp>
        <p:nvSpPr>
          <p:cNvPr id="20" name="Shape 18"/>
          <p:cNvSpPr/>
          <p:nvPr/>
        </p:nvSpPr>
        <p:spPr>
          <a:xfrm>
            <a:off x="8005877" y="3291840"/>
            <a:ext cx="3362858" cy="1097280"/>
          </a:xfrm>
          <a:prstGeom prst="roundRect">
            <a:avLst>
              <a:gd name="adj" fmla="val 15000"/>
            </a:avLst>
          </a:prstGeom>
          <a:solidFill>
            <a:srgbClr val="FFFFFF"/>
          </a:solidFill>
          <a:ln w="12700">
            <a:solidFill>
              <a:srgbClr val="E4DCC8"/>
            </a:solidFill>
            <a:prstDash val="solid"/>
          </a:ln>
        </p:spPr>
      </p:sp>
      <p:sp>
        <p:nvSpPr>
          <p:cNvPr id="21" name="Shape 19"/>
          <p:cNvSpPr/>
          <p:nvPr/>
        </p:nvSpPr>
        <p:spPr>
          <a:xfrm>
            <a:off x="10426903" y="3451860"/>
            <a:ext cx="777240" cy="777240"/>
          </a:xfrm>
          <a:prstGeom prst="roundRect">
            <a:avLst>
              <a:gd name="adj" fmla="val 18824"/>
            </a:avLst>
          </a:prstGeom>
          <a:solidFill>
            <a:srgbClr val="101B45"/>
          </a:solidFill>
          <a:ln/>
        </p:spPr>
      </p:sp>
      <p:sp>
        <p:nvSpPr>
          <p:cNvPr id="22" name="Text 20"/>
          <p:cNvSpPr/>
          <p:nvPr/>
        </p:nvSpPr>
        <p:spPr>
          <a:xfrm>
            <a:off x="10426903" y="3451860"/>
            <a:ext cx="777240" cy="777240"/>
          </a:xfrm>
          <a:prstGeom prst="rect">
            <a:avLst/>
          </a:prstGeom>
          <a:noFill/>
          <a:ln/>
        </p:spPr>
        <p:txBody>
          <a:bodyPr wrap="square" lIns="0" tIns="0" rIns="0" bIns="0" rtlCol="0" anchor="ctr">
            <a:normAutofit/>
          </a:bodyPr>
          <a:lstStyle/>
          <a:p>
            <a:pPr rtl="1" algn="ctr" indent="0" marL="0">
              <a:buNone/>
            </a:pPr>
            <a:r>
              <a:rPr lang="ar-SA" altLang="en-US" sz="2400" dirty="0">
                <a:solidFill>
                  <a:srgbClr val="131B34"/>
                </a:solidFill>
                <a:latin typeface="Cairo" pitchFamily="34" charset="0"/>
                <a:ea typeface="Cairo" pitchFamily="34" charset="-122"/>
                <a:cs typeface="Cairo" pitchFamily="34" charset="-120"/>
              </a:rPr>
              <a:t>🧰</a:t>
            </a:r>
            <a:endParaRPr lang="ar-SA" sz="2400" dirty="0"/>
          </a:p>
        </p:txBody>
      </p:sp>
      <p:sp>
        <p:nvSpPr>
          <p:cNvPr id="23" name="Text 21"/>
          <p:cNvSpPr/>
          <p:nvPr/>
        </p:nvSpPr>
        <p:spPr>
          <a:xfrm>
            <a:off x="8143037" y="3383280"/>
            <a:ext cx="2174138" cy="292608"/>
          </a:xfrm>
          <a:prstGeom prst="rect">
            <a:avLst/>
          </a:prstGeom>
          <a:noFill/>
          <a:ln/>
        </p:spPr>
        <p:txBody>
          <a:bodyPr wrap="square" lIns="0" tIns="0" rIns="0" bIns="0" rtlCol="0" anchor="ctr">
            <a:normAutofit/>
          </a:bodyPr>
          <a:lstStyle/>
          <a:p>
            <a:pPr rtl="1" algn="r" indent="0" marL="0">
              <a:buNone/>
            </a:pPr>
            <a:r>
              <a:rPr lang="ar-SA" altLang="en-US" sz="1400" b="1" dirty="0">
                <a:solidFill>
                  <a:srgbClr val="B08A2E"/>
                </a:solidFill>
                <a:latin typeface="Cairo" pitchFamily="34" charset="0"/>
                <a:ea typeface="Cairo" pitchFamily="34" charset="-122"/>
                <a:cs typeface="Cairo" pitchFamily="34" charset="-120"/>
              </a:rPr>
              <a:t>المحطة ٤</a:t>
            </a:r>
            <a:endParaRPr lang="ar-SA" sz="1400" dirty="0"/>
          </a:p>
        </p:txBody>
      </p:sp>
      <p:sp>
        <p:nvSpPr>
          <p:cNvPr id="24" name="Text 22"/>
          <p:cNvSpPr/>
          <p:nvPr/>
        </p:nvSpPr>
        <p:spPr>
          <a:xfrm>
            <a:off x="8143037" y="3657600"/>
            <a:ext cx="2174138" cy="658368"/>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صندوق أدوات المعلم</a:t>
            </a:r>
            <a:endParaRPr lang="ar-SA" sz="2200" dirty="0"/>
          </a:p>
        </p:txBody>
      </p:sp>
      <p:sp>
        <p:nvSpPr>
          <p:cNvPr id="25" name="Shape 23"/>
          <p:cNvSpPr/>
          <p:nvPr/>
        </p:nvSpPr>
        <p:spPr>
          <a:xfrm>
            <a:off x="4414418" y="3291840"/>
            <a:ext cx="3362858" cy="1097280"/>
          </a:xfrm>
          <a:prstGeom prst="roundRect">
            <a:avLst>
              <a:gd name="adj" fmla="val 15000"/>
            </a:avLst>
          </a:prstGeom>
          <a:solidFill>
            <a:srgbClr val="FFFFFF"/>
          </a:solidFill>
          <a:ln w="12700">
            <a:solidFill>
              <a:srgbClr val="E4DCC8"/>
            </a:solidFill>
            <a:prstDash val="solid"/>
          </a:ln>
        </p:spPr>
      </p:sp>
      <p:sp>
        <p:nvSpPr>
          <p:cNvPr id="26" name="Shape 24"/>
          <p:cNvSpPr/>
          <p:nvPr/>
        </p:nvSpPr>
        <p:spPr>
          <a:xfrm>
            <a:off x="6835445" y="3451860"/>
            <a:ext cx="777240" cy="777240"/>
          </a:xfrm>
          <a:prstGeom prst="roundRect">
            <a:avLst>
              <a:gd name="adj" fmla="val 18824"/>
            </a:avLst>
          </a:prstGeom>
          <a:solidFill>
            <a:srgbClr val="101B45"/>
          </a:solidFill>
          <a:ln/>
        </p:spPr>
      </p:sp>
      <p:sp>
        <p:nvSpPr>
          <p:cNvPr id="27" name="Text 25"/>
          <p:cNvSpPr/>
          <p:nvPr/>
        </p:nvSpPr>
        <p:spPr>
          <a:xfrm>
            <a:off x="6835445" y="3451860"/>
            <a:ext cx="777240" cy="777240"/>
          </a:xfrm>
          <a:prstGeom prst="rect">
            <a:avLst/>
          </a:prstGeom>
          <a:noFill/>
          <a:ln/>
        </p:spPr>
        <p:txBody>
          <a:bodyPr wrap="square" lIns="0" tIns="0" rIns="0" bIns="0" rtlCol="0" anchor="ctr">
            <a:normAutofit/>
          </a:bodyPr>
          <a:lstStyle/>
          <a:p>
            <a:pPr rtl="1" algn="ctr" indent="0" marL="0">
              <a:buNone/>
            </a:pPr>
            <a:r>
              <a:rPr lang="ar-SA" altLang="en-US" sz="2400" dirty="0">
                <a:solidFill>
                  <a:srgbClr val="131B34"/>
                </a:solidFill>
                <a:latin typeface="Cairo" pitchFamily="34" charset="0"/>
                <a:ea typeface="Cairo" pitchFamily="34" charset="-122"/>
                <a:cs typeface="Cairo" pitchFamily="34" charset="-120"/>
              </a:rPr>
              <a:t>🧭</a:t>
            </a:r>
            <a:endParaRPr lang="ar-SA" sz="2400" dirty="0"/>
          </a:p>
        </p:txBody>
      </p:sp>
      <p:sp>
        <p:nvSpPr>
          <p:cNvPr id="28" name="Text 26"/>
          <p:cNvSpPr/>
          <p:nvPr/>
        </p:nvSpPr>
        <p:spPr>
          <a:xfrm>
            <a:off x="4551578" y="3383280"/>
            <a:ext cx="2174138" cy="292608"/>
          </a:xfrm>
          <a:prstGeom prst="rect">
            <a:avLst/>
          </a:prstGeom>
          <a:noFill/>
          <a:ln/>
        </p:spPr>
        <p:txBody>
          <a:bodyPr wrap="square" lIns="0" tIns="0" rIns="0" bIns="0" rtlCol="0" anchor="ctr">
            <a:normAutofit/>
          </a:bodyPr>
          <a:lstStyle/>
          <a:p>
            <a:pPr rtl="1" algn="r" indent="0" marL="0">
              <a:buNone/>
            </a:pPr>
            <a:r>
              <a:rPr lang="ar-SA" altLang="en-US" sz="1400" b="1" dirty="0">
                <a:solidFill>
                  <a:srgbClr val="B08A2E"/>
                </a:solidFill>
                <a:latin typeface="Cairo" pitchFamily="34" charset="0"/>
                <a:ea typeface="Cairo" pitchFamily="34" charset="-122"/>
                <a:cs typeface="Cairo" pitchFamily="34" charset="-120"/>
              </a:rPr>
              <a:t>المحطة ٥</a:t>
            </a:r>
            <a:endParaRPr lang="ar-SA" sz="1400" dirty="0"/>
          </a:p>
        </p:txBody>
      </p:sp>
      <p:sp>
        <p:nvSpPr>
          <p:cNvPr id="29" name="Text 27"/>
          <p:cNvSpPr/>
          <p:nvPr/>
        </p:nvSpPr>
        <p:spPr>
          <a:xfrm>
            <a:off x="4551578" y="3657600"/>
            <a:ext cx="2174138" cy="658368"/>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أنماط القيادة الصفية</a:t>
            </a:r>
            <a:endParaRPr lang="ar-SA" sz="2200" dirty="0"/>
          </a:p>
        </p:txBody>
      </p:sp>
      <p:sp>
        <p:nvSpPr>
          <p:cNvPr id="30" name="Shape 28"/>
          <p:cNvSpPr/>
          <p:nvPr/>
        </p:nvSpPr>
        <p:spPr>
          <a:xfrm>
            <a:off x="822960" y="3291840"/>
            <a:ext cx="3362858" cy="1097280"/>
          </a:xfrm>
          <a:prstGeom prst="roundRect">
            <a:avLst>
              <a:gd name="adj" fmla="val 15000"/>
            </a:avLst>
          </a:prstGeom>
          <a:solidFill>
            <a:srgbClr val="FFFFFF"/>
          </a:solidFill>
          <a:ln w="12700">
            <a:solidFill>
              <a:srgbClr val="E4DCC8"/>
            </a:solidFill>
            <a:prstDash val="solid"/>
          </a:ln>
        </p:spPr>
      </p:sp>
      <p:sp>
        <p:nvSpPr>
          <p:cNvPr id="31" name="Shape 29"/>
          <p:cNvSpPr/>
          <p:nvPr/>
        </p:nvSpPr>
        <p:spPr>
          <a:xfrm>
            <a:off x="3243986" y="3451860"/>
            <a:ext cx="777240" cy="777240"/>
          </a:xfrm>
          <a:prstGeom prst="roundRect">
            <a:avLst>
              <a:gd name="adj" fmla="val 18824"/>
            </a:avLst>
          </a:prstGeom>
          <a:solidFill>
            <a:srgbClr val="101B45"/>
          </a:solidFill>
          <a:ln/>
        </p:spPr>
      </p:sp>
      <p:sp>
        <p:nvSpPr>
          <p:cNvPr id="32" name="Text 30"/>
          <p:cNvSpPr/>
          <p:nvPr/>
        </p:nvSpPr>
        <p:spPr>
          <a:xfrm>
            <a:off x="3243986" y="3451860"/>
            <a:ext cx="777240" cy="777240"/>
          </a:xfrm>
          <a:prstGeom prst="rect">
            <a:avLst/>
          </a:prstGeom>
          <a:noFill/>
          <a:ln/>
        </p:spPr>
        <p:txBody>
          <a:bodyPr wrap="square" lIns="0" tIns="0" rIns="0" bIns="0" rtlCol="0" anchor="ctr">
            <a:normAutofit/>
          </a:bodyPr>
          <a:lstStyle/>
          <a:p>
            <a:pPr rtl="1" algn="ctr" indent="0" marL="0">
              <a:buNone/>
            </a:pPr>
            <a:r>
              <a:rPr lang="ar-SA" altLang="en-US" sz="2400" dirty="0">
                <a:solidFill>
                  <a:srgbClr val="131B34"/>
                </a:solidFill>
                <a:latin typeface="Cairo" pitchFamily="34" charset="0"/>
                <a:ea typeface="Cairo" pitchFamily="34" charset="-122"/>
                <a:cs typeface="Cairo" pitchFamily="34" charset="-120"/>
              </a:rPr>
              <a:t>📋</a:t>
            </a:r>
            <a:endParaRPr lang="ar-SA" sz="2400" dirty="0"/>
          </a:p>
        </p:txBody>
      </p:sp>
      <p:sp>
        <p:nvSpPr>
          <p:cNvPr id="33" name="Text 31"/>
          <p:cNvSpPr/>
          <p:nvPr/>
        </p:nvSpPr>
        <p:spPr>
          <a:xfrm>
            <a:off x="960120" y="3383280"/>
            <a:ext cx="2174138" cy="292608"/>
          </a:xfrm>
          <a:prstGeom prst="rect">
            <a:avLst/>
          </a:prstGeom>
          <a:noFill/>
          <a:ln/>
        </p:spPr>
        <p:txBody>
          <a:bodyPr wrap="square" lIns="0" tIns="0" rIns="0" bIns="0" rtlCol="0" anchor="ctr">
            <a:normAutofit/>
          </a:bodyPr>
          <a:lstStyle/>
          <a:p>
            <a:pPr rtl="1" algn="r" indent="0" marL="0">
              <a:buNone/>
            </a:pPr>
            <a:r>
              <a:rPr lang="ar-SA" altLang="en-US" sz="1400" b="1" dirty="0">
                <a:solidFill>
                  <a:srgbClr val="B08A2E"/>
                </a:solidFill>
                <a:latin typeface="Cairo" pitchFamily="34" charset="0"/>
                <a:ea typeface="Cairo" pitchFamily="34" charset="-122"/>
                <a:cs typeface="Cairo" pitchFamily="34" charset="-120"/>
              </a:rPr>
              <a:t>المحطة ٦</a:t>
            </a:r>
            <a:endParaRPr lang="ar-SA" sz="1400" dirty="0"/>
          </a:p>
        </p:txBody>
      </p:sp>
      <p:sp>
        <p:nvSpPr>
          <p:cNvPr id="34" name="Text 32"/>
          <p:cNvSpPr/>
          <p:nvPr/>
        </p:nvSpPr>
        <p:spPr>
          <a:xfrm>
            <a:off x="960120" y="3657600"/>
            <a:ext cx="2174138" cy="658368"/>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القواعد والإجراءات</a:t>
            </a:r>
            <a:endParaRPr lang="ar-SA" sz="2200" dirty="0"/>
          </a:p>
        </p:txBody>
      </p:sp>
      <p:sp>
        <p:nvSpPr>
          <p:cNvPr id="35" name="Shape 33"/>
          <p:cNvSpPr/>
          <p:nvPr/>
        </p:nvSpPr>
        <p:spPr>
          <a:xfrm>
            <a:off x="8005877" y="4617720"/>
            <a:ext cx="3362858" cy="1097280"/>
          </a:xfrm>
          <a:prstGeom prst="roundRect">
            <a:avLst>
              <a:gd name="adj" fmla="val 15000"/>
            </a:avLst>
          </a:prstGeom>
          <a:solidFill>
            <a:srgbClr val="FFFFFF"/>
          </a:solidFill>
          <a:ln w="12700">
            <a:solidFill>
              <a:srgbClr val="E4DCC8"/>
            </a:solidFill>
            <a:prstDash val="solid"/>
          </a:ln>
        </p:spPr>
      </p:sp>
      <p:sp>
        <p:nvSpPr>
          <p:cNvPr id="36" name="Shape 34"/>
          <p:cNvSpPr/>
          <p:nvPr/>
        </p:nvSpPr>
        <p:spPr>
          <a:xfrm>
            <a:off x="10426903" y="4777740"/>
            <a:ext cx="777240" cy="777240"/>
          </a:xfrm>
          <a:prstGeom prst="roundRect">
            <a:avLst>
              <a:gd name="adj" fmla="val 18824"/>
            </a:avLst>
          </a:prstGeom>
          <a:solidFill>
            <a:srgbClr val="101B45"/>
          </a:solidFill>
          <a:ln/>
        </p:spPr>
      </p:sp>
      <p:sp>
        <p:nvSpPr>
          <p:cNvPr id="37" name="Text 35"/>
          <p:cNvSpPr/>
          <p:nvPr/>
        </p:nvSpPr>
        <p:spPr>
          <a:xfrm>
            <a:off x="10426903" y="4777740"/>
            <a:ext cx="777240" cy="777240"/>
          </a:xfrm>
          <a:prstGeom prst="rect">
            <a:avLst/>
          </a:prstGeom>
          <a:noFill/>
          <a:ln/>
        </p:spPr>
        <p:txBody>
          <a:bodyPr wrap="square" lIns="0" tIns="0" rIns="0" bIns="0" rtlCol="0" anchor="ctr">
            <a:normAutofit/>
          </a:bodyPr>
          <a:lstStyle/>
          <a:p>
            <a:pPr rtl="1" algn="ctr" indent="0" marL="0">
              <a:buNone/>
            </a:pPr>
            <a:r>
              <a:rPr lang="ar-SA" altLang="en-US" sz="2400" dirty="0">
                <a:solidFill>
                  <a:srgbClr val="131B34"/>
                </a:solidFill>
                <a:latin typeface="Cairo" pitchFamily="34" charset="0"/>
                <a:ea typeface="Cairo" pitchFamily="34" charset="-122"/>
                <a:cs typeface="Cairo" pitchFamily="34" charset="-120"/>
              </a:rPr>
              <a:t>👨‍👩‍👦</a:t>
            </a:r>
            <a:endParaRPr lang="ar-SA" sz="2400" dirty="0"/>
          </a:p>
        </p:txBody>
      </p:sp>
      <p:sp>
        <p:nvSpPr>
          <p:cNvPr id="38" name="Text 36"/>
          <p:cNvSpPr/>
          <p:nvPr/>
        </p:nvSpPr>
        <p:spPr>
          <a:xfrm>
            <a:off x="8143037" y="4709160"/>
            <a:ext cx="2174138" cy="292608"/>
          </a:xfrm>
          <a:prstGeom prst="rect">
            <a:avLst/>
          </a:prstGeom>
          <a:noFill/>
          <a:ln/>
        </p:spPr>
        <p:txBody>
          <a:bodyPr wrap="square" lIns="0" tIns="0" rIns="0" bIns="0" rtlCol="0" anchor="ctr">
            <a:normAutofit/>
          </a:bodyPr>
          <a:lstStyle/>
          <a:p>
            <a:pPr rtl="1" algn="r" indent="0" marL="0">
              <a:buNone/>
            </a:pPr>
            <a:r>
              <a:rPr lang="ar-SA" altLang="en-US" sz="1400" b="1" dirty="0">
                <a:solidFill>
                  <a:srgbClr val="B08A2E"/>
                </a:solidFill>
                <a:latin typeface="Cairo" pitchFamily="34" charset="0"/>
                <a:ea typeface="Cairo" pitchFamily="34" charset="-122"/>
                <a:cs typeface="Cairo" pitchFamily="34" charset="-120"/>
              </a:rPr>
              <a:t>المحطة ٧</a:t>
            </a:r>
            <a:endParaRPr lang="ar-SA" sz="1400" dirty="0"/>
          </a:p>
        </p:txBody>
      </p:sp>
      <p:sp>
        <p:nvSpPr>
          <p:cNvPr id="39" name="Text 37"/>
          <p:cNvSpPr/>
          <p:nvPr/>
        </p:nvSpPr>
        <p:spPr>
          <a:xfrm>
            <a:off x="8143037" y="4983480"/>
            <a:ext cx="2174138" cy="658368"/>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الطالب والأسرة</a:t>
            </a:r>
            <a:endParaRPr lang="ar-SA" sz="2200" dirty="0"/>
          </a:p>
        </p:txBody>
      </p:sp>
      <p:sp>
        <p:nvSpPr>
          <p:cNvPr id="40" name="Shape 38"/>
          <p:cNvSpPr/>
          <p:nvPr/>
        </p:nvSpPr>
        <p:spPr>
          <a:xfrm>
            <a:off x="4414418" y="4617720"/>
            <a:ext cx="3362858" cy="1097280"/>
          </a:xfrm>
          <a:prstGeom prst="roundRect">
            <a:avLst>
              <a:gd name="adj" fmla="val 15000"/>
            </a:avLst>
          </a:prstGeom>
          <a:solidFill>
            <a:srgbClr val="FFFFFF"/>
          </a:solidFill>
          <a:ln w="12700">
            <a:solidFill>
              <a:srgbClr val="E4DCC8"/>
            </a:solidFill>
            <a:prstDash val="solid"/>
          </a:ln>
        </p:spPr>
      </p:sp>
      <p:sp>
        <p:nvSpPr>
          <p:cNvPr id="41" name="Shape 39"/>
          <p:cNvSpPr/>
          <p:nvPr/>
        </p:nvSpPr>
        <p:spPr>
          <a:xfrm>
            <a:off x="6835445" y="4777740"/>
            <a:ext cx="777240" cy="777240"/>
          </a:xfrm>
          <a:prstGeom prst="roundRect">
            <a:avLst>
              <a:gd name="adj" fmla="val 18824"/>
            </a:avLst>
          </a:prstGeom>
          <a:solidFill>
            <a:srgbClr val="101B45"/>
          </a:solidFill>
          <a:ln/>
        </p:spPr>
      </p:sp>
      <p:sp>
        <p:nvSpPr>
          <p:cNvPr id="42" name="Text 40"/>
          <p:cNvSpPr/>
          <p:nvPr/>
        </p:nvSpPr>
        <p:spPr>
          <a:xfrm>
            <a:off x="6835445" y="4777740"/>
            <a:ext cx="777240" cy="777240"/>
          </a:xfrm>
          <a:prstGeom prst="rect">
            <a:avLst/>
          </a:prstGeom>
          <a:noFill/>
          <a:ln/>
        </p:spPr>
        <p:txBody>
          <a:bodyPr wrap="square" lIns="0" tIns="0" rIns="0" bIns="0" rtlCol="0" anchor="ctr">
            <a:normAutofit/>
          </a:bodyPr>
          <a:lstStyle/>
          <a:p>
            <a:pPr rtl="1" algn="ctr" indent="0" marL="0">
              <a:buNone/>
            </a:pPr>
            <a:r>
              <a:rPr lang="ar-SA" altLang="en-US" sz="2400" dirty="0">
                <a:solidFill>
                  <a:srgbClr val="131B34"/>
                </a:solidFill>
                <a:latin typeface="Cairo" pitchFamily="34" charset="0"/>
                <a:ea typeface="Cairo" pitchFamily="34" charset="-122"/>
                <a:cs typeface="Cairo" pitchFamily="34" charset="-120"/>
              </a:rPr>
              <a:t>📱</a:t>
            </a:r>
            <a:endParaRPr lang="ar-SA" sz="2400" dirty="0"/>
          </a:p>
        </p:txBody>
      </p:sp>
      <p:sp>
        <p:nvSpPr>
          <p:cNvPr id="43" name="Text 41"/>
          <p:cNvSpPr/>
          <p:nvPr/>
        </p:nvSpPr>
        <p:spPr>
          <a:xfrm>
            <a:off x="4551578" y="4709160"/>
            <a:ext cx="2174138" cy="292608"/>
          </a:xfrm>
          <a:prstGeom prst="rect">
            <a:avLst/>
          </a:prstGeom>
          <a:noFill/>
          <a:ln/>
        </p:spPr>
        <p:txBody>
          <a:bodyPr wrap="square" lIns="0" tIns="0" rIns="0" bIns="0" rtlCol="0" anchor="ctr">
            <a:normAutofit/>
          </a:bodyPr>
          <a:lstStyle/>
          <a:p>
            <a:pPr rtl="1" algn="r" indent="0" marL="0">
              <a:buNone/>
            </a:pPr>
            <a:r>
              <a:rPr lang="ar-SA" altLang="en-US" sz="1400" b="1" dirty="0">
                <a:solidFill>
                  <a:srgbClr val="B08A2E"/>
                </a:solidFill>
                <a:latin typeface="Cairo" pitchFamily="34" charset="0"/>
                <a:ea typeface="Cairo" pitchFamily="34" charset="-122"/>
                <a:cs typeface="Cairo" pitchFamily="34" charset="-120"/>
              </a:rPr>
              <a:t>المحطة ٨</a:t>
            </a:r>
            <a:endParaRPr lang="ar-SA" sz="1400" dirty="0"/>
          </a:p>
        </p:txBody>
      </p:sp>
      <p:sp>
        <p:nvSpPr>
          <p:cNvPr id="44" name="Text 42"/>
          <p:cNvSpPr/>
          <p:nvPr/>
        </p:nvSpPr>
        <p:spPr>
          <a:xfrm>
            <a:off x="4551578" y="4983480"/>
            <a:ext cx="2174138" cy="658368"/>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مواقف العصر الرقمي</a:t>
            </a:r>
            <a:endParaRPr lang="ar-SA" sz="2200" dirty="0"/>
          </a:p>
        </p:txBody>
      </p:sp>
      <p:sp>
        <p:nvSpPr>
          <p:cNvPr id="45" name="Shape 43"/>
          <p:cNvSpPr/>
          <p:nvPr/>
        </p:nvSpPr>
        <p:spPr>
          <a:xfrm>
            <a:off x="822960" y="4617720"/>
            <a:ext cx="3362858" cy="1097280"/>
          </a:xfrm>
          <a:prstGeom prst="roundRect">
            <a:avLst>
              <a:gd name="adj" fmla="val 15000"/>
            </a:avLst>
          </a:prstGeom>
          <a:solidFill>
            <a:srgbClr val="FFFFFF"/>
          </a:solidFill>
          <a:ln w="12700">
            <a:solidFill>
              <a:srgbClr val="E4DCC8"/>
            </a:solidFill>
            <a:prstDash val="solid"/>
          </a:ln>
        </p:spPr>
      </p:sp>
      <p:sp>
        <p:nvSpPr>
          <p:cNvPr id="46" name="Shape 44"/>
          <p:cNvSpPr/>
          <p:nvPr/>
        </p:nvSpPr>
        <p:spPr>
          <a:xfrm>
            <a:off x="3243986" y="4777740"/>
            <a:ext cx="777240" cy="777240"/>
          </a:xfrm>
          <a:prstGeom prst="roundRect">
            <a:avLst>
              <a:gd name="adj" fmla="val 18824"/>
            </a:avLst>
          </a:prstGeom>
          <a:solidFill>
            <a:srgbClr val="101B45"/>
          </a:solidFill>
          <a:ln/>
        </p:spPr>
      </p:sp>
      <p:sp>
        <p:nvSpPr>
          <p:cNvPr id="47" name="Text 45"/>
          <p:cNvSpPr/>
          <p:nvPr/>
        </p:nvSpPr>
        <p:spPr>
          <a:xfrm>
            <a:off x="3243986" y="4777740"/>
            <a:ext cx="777240" cy="777240"/>
          </a:xfrm>
          <a:prstGeom prst="rect">
            <a:avLst/>
          </a:prstGeom>
          <a:noFill/>
          <a:ln/>
        </p:spPr>
        <p:txBody>
          <a:bodyPr wrap="square" lIns="0" tIns="0" rIns="0" bIns="0" rtlCol="0" anchor="ctr">
            <a:normAutofit/>
          </a:bodyPr>
          <a:lstStyle/>
          <a:p>
            <a:pPr rtl="1" algn="ctr" indent="0" marL="0">
              <a:buNone/>
            </a:pPr>
            <a:r>
              <a:rPr lang="ar-SA" altLang="en-US" sz="2400" dirty="0">
                <a:solidFill>
                  <a:srgbClr val="131B34"/>
                </a:solidFill>
                <a:latin typeface="Cairo" pitchFamily="34" charset="0"/>
                <a:ea typeface="Cairo" pitchFamily="34" charset="-122"/>
                <a:cs typeface="Cairo" pitchFamily="34" charset="-120"/>
              </a:rPr>
              <a:t>🩺</a:t>
            </a:r>
            <a:endParaRPr lang="ar-SA" sz="2400" dirty="0"/>
          </a:p>
        </p:txBody>
      </p:sp>
      <p:sp>
        <p:nvSpPr>
          <p:cNvPr id="48" name="Text 46"/>
          <p:cNvSpPr/>
          <p:nvPr/>
        </p:nvSpPr>
        <p:spPr>
          <a:xfrm>
            <a:off x="960120" y="4709160"/>
            <a:ext cx="2174138" cy="292608"/>
          </a:xfrm>
          <a:prstGeom prst="rect">
            <a:avLst/>
          </a:prstGeom>
          <a:noFill/>
          <a:ln/>
        </p:spPr>
        <p:txBody>
          <a:bodyPr wrap="square" lIns="0" tIns="0" rIns="0" bIns="0" rtlCol="0" anchor="ctr">
            <a:normAutofit/>
          </a:bodyPr>
          <a:lstStyle/>
          <a:p>
            <a:pPr rtl="1" algn="r" indent="0" marL="0">
              <a:buNone/>
            </a:pPr>
            <a:r>
              <a:rPr lang="ar-SA" altLang="en-US" sz="1400" b="1" dirty="0">
                <a:solidFill>
                  <a:srgbClr val="B08A2E"/>
                </a:solidFill>
                <a:latin typeface="Cairo" pitchFamily="34" charset="0"/>
                <a:ea typeface="Cairo" pitchFamily="34" charset="-122"/>
                <a:cs typeface="Cairo" pitchFamily="34" charset="-120"/>
              </a:rPr>
              <a:t>المحطة ٩</a:t>
            </a:r>
            <a:endParaRPr lang="ar-SA" sz="1400" dirty="0"/>
          </a:p>
        </p:txBody>
      </p:sp>
      <p:sp>
        <p:nvSpPr>
          <p:cNvPr id="49" name="Text 47"/>
          <p:cNvSpPr/>
          <p:nvPr/>
        </p:nvSpPr>
        <p:spPr>
          <a:xfrm>
            <a:off x="960120" y="4983480"/>
            <a:ext cx="2174138" cy="658368"/>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عيادة المواقف</a:t>
            </a:r>
            <a:endParaRPr lang="ar-SA" sz="2200" dirty="0"/>
          </a:p>
        </p:txBody>
      </p:sp>
      <p:sp>
        <p:nvSpPr>
          <p:cNvPr id="50" name="Text 4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51" name="Text 4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لماذا نحن هنا؟  ·  ٢٣</a:t>
            </a:r>
            <a:endParaRPr lang="ar-SA"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735263" y="457200"/>
            <a:ext cx="2633472" cy="457200"/>
          </a:xfrm>
          <a:prstGeom prst="roundRect">
            <a:avLst>
              <a:gd name="adj" fmla="val 50000"/>
            </a:avLst>
          </a:prstGeom>
          <a:solidFill>
            <a:srgbClr val="F6EBCF"/>
          </a:solidFill>
          <a:ln/>
        </p:spPr>
      </p:sp>
      <p:sp>
        <p:nvSpPr>
          <p:cNvPr id="3" name="Text 1"/>
          <p:cNvSpPr/>
          <p:nvPr/>
        </p:nvSpPr>
        <p:spPr>
          <a:xfrm>
            <a:off x="8735263" y="457200"/>
            <a:ext cx="263347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الجدول الزمني</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يومان تدريبيان… عشر ساعات</a:t>
            </a:r>
            <a:endParaRPr lang="ar-SA" sz="3800" dirty="0"/>
          </a:p>
        </p:txBody>
      </p:sp>
      <p:sp>
        <p:nvSpPr>
          <p:cNvPr id="5" name="Shape 3"/>
          <p:cNvSpPr/>
          <p:nvPr/>
        </p:nvSpPr>
        <p:spPr>
          <a:xfrm>
            <a:off x="9194773" y="1874520"/>
            <a:ext cx="2173962" cy="548640"/>
          </a:xfrm>
          <a:prstGeom prst="roundRect">
            <a:avLst>
              <a:gd name="adj" fmla="val 20000"/>
            </a:avLst>
          </a:prstGeom>
          <a:solidFill>
            <a:srgbClr val="101B45"/>
          </a:solidFill>
          <a:ln/>
        </p:spPr>
      </p:sp>
      <p:sp>
        <p:nvSpPr>
          <p:cNvPr id="6" name="Text 4"/>
          <p:cNvSpPr/>
          <p:nvPr/>
        </p:nvSpPr>
        <p:spPr>
          <a:xfrm>
            <a:off x="9194773" y="1874520"/>
            <a:ext cx="2173962"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الجلسة</a:t>
            </a:r>
            <a:endParaRPr lang="ar-SA" sz="1900" dirty="0"/>
          </a:p>
        </p:txBody>
      </p:sp>
      <p:sp>
        <p:nvSpPr>
          <p:cNvPr id="7" name="Shape 5"/>
          <p:cNvSpPr/>
          <p:nvPr/>
        </p:nvSpPr>
        <p:spPr>
          <a:xfrm>
            <a:off x="5008867" y="1874520"/>
            <a:ext cx="4076179" cy="548640"/>
          </a:xfrm>
          <a:prstGeom prst="roundRect">
            <a:avLst>
              <a:gd name="adj" fmla="val 20000"/>
            </a:avLst>
          </a:prstGeom>
          <a:solidFill>
            <a:srgbClr val="101B45"/>
          </a:solidFill>
          <a:ln/>
        </p:spPr>
      </p:sp>
      <p:sp>
        <p:nvSpPr>
          <p:cNvPr id="8" name="Text 6"/>
          <p:cNvSpPr/>
          <p:nvPr/>
        </p:nvSpPr>
        <p:spPr>
          <a:xfrm>
            <a:off x="5008867" y="1874520"/>
            <a:ext cx="4076179"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اليوم الأول</a:t>
            </a:r>
            <a:endParaRPr lang="ar-SA" sz="1900" dirty="0"/>
          </a:p>
        </p:txBody>
      </p:sp>
      <p:sp>
        <p:nvSpPr>
          <p:cNvPr id="9" name="Shape 7"/>
          <p:cNvSpPr/>
          <p:nvPr/>
        </p:nvSpPr>
        <p:spPr>
          <a:xfrm>
            <a:off x="822960" y="1874520"/>
            <a:ext cx="4076179" cy="548640"/>
          </a:xfrm>
          <a:prstGeom prst="roundRect">
            <a:avLst>
              <a:gd name="adj" fmla="val 20000"/>
            </a:avLst>
          </a:prstGeom>
          <a:solidFill>
            <a:srgbClr val="101B45"/>
          </a:solidFill>
          <a:ln/>
        </p:spPr>
      </p:sp>
      <p:sp>
        <p:nvSpPr>
          <p:cNvPr id="10" name="Text 8"/>
          <p:cNvSpPr/>
          <p:nvPr/>
        </p:nvSpPr>
        <p:spPr>
          <a:xfrm>
            <a:off x="822960" y="1874520"/>
            <a:ext cx="4076179"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اليوم الثاني</a:t>
            </a:r>
            <a:endParaRPr lang="ar-SA" sz="1900" dirty="0"/>
          </a:p>
        </p:txBody>
      </p:sp>
      <p:sp>
        <p:nvSpPr>
          <p:cNvPr id="11" name="anim-g1-111"/>
          <p:cNvSpPr/>
          <p:nvPr/>
        </p:nvSpPr>
        <p:spPr>
          <a:xfrm>
            <a:off x="9194773" y="2514600"/>
            <a:ext cx="2173962" cy="797814"/>
          </a:xfrm>
          <a:prstGeom prst="roundRect">
            <a:avLst>
              <a:gd name="adj" fmla="val 13754"/>
            </a:avLst>
          </a:prstGeom>
          <a:solidFill>
            <a:srgbClr val="FBF3DF"/>
          </a:solidFill>
          <a:ln w="12700">
            <a:solidFill>
              <a:srgbClr val="EFDDAF"/>
            </a:solidFill>
            <a:prstDash val="solid"/>
          </a:ln>
        </p:spPr>
      </p:sp>
      <p:sp>
        <p:nvSpPr>
          <p:cNvPr id="12" name="anim-g1-112"/>
          <p:cNvSpPr/>
          <p:nvPr/>
        </p:nvSpPr>
        <p:spPr>
          <a:xfrm>
            <a:off x="9331933" y="2514600"/>
            <a:ext cx="1899642"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الجلسة ١</a:t>
            </a:r>
            <a:endParaRPr lang="ar-SA" sz="2100" dirty="0"/>
          </a:p>
        </p:txBody>
      </p:sp>
      <p:sp>
        <p:nvSpPr>
          <p:cNvPr id="13" name="anim-g1-113"/>
          <p:cNvSpPr/>
          <p:nvPr/>
        </p:nvSpPr>
        <p:spPr>
          <a:xfrm>
            <a:off x="5008867" y="2514600"/>
            <a:ext cx="4076179" cy="797814"/>
          </a:xfrm>
          <a:prstGeom prst="roundRect">
            <a:avLst>
              <a:gd name="adj" fmla="val 13754"/>
            </a:avLst>
          </a:prstGeom>
          <a:solidFill>
            <a:srgbClr val="FFFFFF"/>
          </a:solidFill>
          <a:ln w="12700">
            <a:solidFill>
              <a:srgbClr val="E4DCC8"/>
            </a:solidFill>
            <a:prstDash val="solid"/>
          </a:ln>
        </p:spPr>
      </p:sp>
      <p:sp>
        <p:nvSpPr>
          <p:cNvPr id="14" name="anim-g1-114"/>
          <p:cNvSpPr/>
          <p:nvPr/>
        </p:nvSpPr>
        <p:spPr>
          <a:xfrm>
            <a:off x="5146027" y="2514600"/>
            <a:ext cx="3801859"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قبل أن تدخل الفصل + لماذا نحن هنا؟</a:t>
            </a:r>
            <a:endParaRPr lang="ar-SA" sz="2100" dirty="0"/>
          </a:p>
        </p:txBody>
      </p:sp>
      <p:sp>
        <p:nvSpPr>
          <p:cNvPr id="15" name="anim-g1-115"/>
          <p:cNvSpPr/>
          <p:nvPr/>
        </p:nvSpPr>
        <p:spPr>
          <a:xfrm>
            <a:off x="822960" y="2514600"/>
            <a:ext cx="4076179" cy="797814"/>
          </a:xfrm>
          <a:prstGeom prst="roundRect">
            <a:avLst>
              <a:gd name="adj" fmla="val 13754"/>
            </a:avLst>
          </a:prstGeom>
          <a:solidFill>
            <a:srgbClr val="E6F4EC"/>
          </a:solidFill>
          <a:ln w="12700">
            <a:solidFill>
              <a:srgbClr val="CDE9D9"/>
            </a:solidFill>
            <a:prstDash val="solid"/>
          </a:ln>
        </p:spPr>
      </p:sp>
      <p:sp>
        <p:nvSpPr>
          <p:cNvPr id="16" name="anim-g1-116"/>
          <p:cNvSpPr/>
          <p:nvPr/>
        </p:nvSpPr>
        <p:spPr>
          <a:xfrm>
            <a:off x="960120" y="2514600"/>
            <a:ext cx="3801859"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القواعد والإجراءات + ٤ مواقف</a:t>
            </a:r>
            <a:endParaRPr lang="ar-SA" sz="2100" dirty="0"/>
          </a:p>
        </p:txBody>
      </p:sp>
      <p:sp>
        <p:nvSpPr>
          <p:cNvPr id="17" name="anim-g2-117"/>
          <p:cNvSpPr/>
          <p:nvPr/>
        </p:nvSpPr>
        <p:spPr>
          <a:xfrm>
            <a:off x="9194773" y="3422142"/>
            <a:ext cx="2173962" cy="797814"/>
          </a:xfrm>
          <a:prstGeom prst="roundRect">
            <a:avLst>
              <a:gd name="adj" fmla="val 13754"/>
            </a:avLst>
          </a:prstGeom>
          <a:solidFill>
            <a:srgbClr val="FBF3DF"/>
          </a:solidFill>
          <a:ln w="12700">
            <a:solidFill>
              <a:srgbClr val="EFDDAF"/>
            </a:solidFill>
            <a:prstDash val="solid"/>
          </a:ln>
        </p:spPr>
      </p:sp>
      <p:sp>
        <p:nvSpPr>
          <p:cNvPr id="18" name="anim-g2-118"/>
          <p:cNvSpPr/>
          <p:nvPr/>
        </p:nvSpPr>
        <p:spPr>
          <a:xfrm>
            <a:off x="9331933" y="3422142"/>
            <a:ext cx="1899642"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الجلسة ٢</a:t>
            </a:r>
            <a:endParaRPr lang="ar-SA" sz="2100" dirty="0"/>
          </a:p>
        </p:txBody>
      </p:sp>
      <p:sp>
        <p:nvSpPr>
          <p:cNvPr id="19" name="anim-g2-119"/>
          <p:cNvSpPr/>
          <p:nvPr/>
        </p:nvSpPr>
        <p:spPr>
          <a:xfrm>
            <a:off x="5008867" y="3422142"/>
            <a:ext cx="4076179" cy="797814"/>
          </a:xfrm>
          <a:prstGeom prst="roundRect">
            <a:avLst>
              <a:gd name="adj" fmla="val 13754"/>
            </a:avLst>
          </a:prstGeom>
          <a:solidFill>
            <a:srgbClr val="FFFFFF"/>
          </a:solidFill>
          <a:ln w="12700">
            <a:solidFill>
              <a:srgbClr val="E4DCC8"/>
            </a:solidFill>
            <a:prstDash val="solid"/>
          </a:ln>
        </p:spPr>
      </p:sp>
      <p:sp>
        <p:nvSpPr>
          <p:cNvPr id="20" name="anim-g2-120"/>
          <p:cNvSpPr/>
          <p:nvPr/>
        </p:nvSpPr>
        <p:spPr>
          <a:xfrm>
            <a:off x="5146027" y="3422142"/>
            <a:ext cx="3801859"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المفاهيم + صندوق أدوات المعلم</a:t>
            </a:r>
            <a:endParaRPr lang="ar-SA" sz="2100" dirty="0"/>
          </a:p>
        </p:txBody>
      </p:sp>
      <p:sp>
        <p:nvSpPr>
          <p:cNvPr id="21" name="anim-g2-121"/>
          <p:cNvSpPr/>
          <p:nvPr/>
        </p:nvSpPr>
        <p:spPr>
          <a:xfrm>
            <a:off x="822960" y="3422142"/>
            <a:ext cx="4076179" cy="797814"/>
          </a:xfrm>
          <a:prstGeom prst="roundRect">
            <a:avLst>
              <a:gd name="adj" fmla="val 13754"/>
            </a:avLst>
          </a:prstGeom>
          <a:solidFill>
            <a:srgbClr val="E6F4EC"/>
          </a:solidFill>
          <a:ln w="12700">
            <a:solidFill>
              <a:srgbClr val="CDE9D9"/>
            </a:solidFill>
            <a:prstDash val="solid"/>
          </a:ln>
        </p:spPr>
      </p:sp>
      <p:sp>
        <p:nvSpPr>
          <p:cNvPr id="22" name="anim-g2-122"/>
          <p:cNvSpPr/>
          <p:nvPr/>
        </p:nvSpPr>
        <p:spPr>
          <a:xfrm>
            <a:off x="960120" y="3422142"/>
            <a:ext cx="3801859"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الطالب والأسرة + ٣ مواقف</a:t>
            </a:r>
            <a:endParaRPr lang="ar-SA" sz="2100" dirty="0"/>
          </a:p>
        </p:txBody>
      </p:sp>
      <p:sp>
        <p:nvSpPr>
          <p:cNvPr id="23" name="anim-g3-123"/>
          <p:cNvSpPr/>
          <p:nvPr/>
        </p:nvSpPr>
        <p:spPr>
          <a:xfrm>
            <a:off x="9194773" y="4329684"/>
            <a:ext cx="2173962" cy="797814"/>
          </a:xfrm>
          <a:prstGeom prst="roundRect">
            <a:avLst>
              <a:gd name="adj" fmla="val 13754"/>
            </a:avLst>
          </a:prstGeom>
          <a:solidFill>
            <a:srgbClr val="FBF3DF"/>
          </a:solidFill>
          <a:ln w="12700">
            <a:solidFill>
              <a:srgbClr val="EFDDAF"/>
            </a:solidFill>
            <a:prstDash val="solid"/>
          </a:ln>
        </p:spPr>
      </p:sp>
      <p:sp>
        <p:nvSpPr>
          <p:cNvPr id="24" name="anim-g3-124"/>
          <p:cNvSpPr/>
          <p:nvPr/>
        </p:nvSpPr>
        <p:spPr>
          <a:xfrm>
            <a:off x="9331933" y="4329684"/>
            <a:ext cx="1899642"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الجلسة ٣</a:t>
            </a:r>
            <a:endParaRPr lang="ar-SA" sz="2100" dirty="0"/>
          </a:p>
        </p:txBody>
      </p:sp>
      <p:sp>
        <p:nvSpPr>
          <p:cNvPr id="25" name="anim-g3-125"/>
          <p:cNvSpPr/>
          <p:nvPr/>
        </p:nvSpPr>
        <p:spPr>
          <a:xfrm>
            <a:off x="5008867" y="4329684"/>
            <a:ext cx="4076179" cy="797814"/>
          </a:xfrm>
          <a:prstGeom prst="roundRect">
            <a:avLst>
              <a:gd name="adj" fmla="val 13754"/>
            </a:avLst>
          </a:prstGeom>
          <a:solidFill>
            <a:srgbClr val="FFFFFF"/>
          </a:solidFill>
          <a:ln w="12700">
            <a:solidFill>
              <a:srgbClr val="E4DCC8"/>
            </a:solidFill>
            <a:prstDash val="solid"/>
          </a:ln>
        </p:spPr>
      </p:sp>
      <p:sp>
        <p:nvSpPr>
          <p:cNvPr id="26" name="anim-g3-126"/>
          <p:cNvSpPr/>
          <p:nvPr/>
        </p:nvSpPr>
        <p:spPr>
          <a:xfrm>
            <a:off x="5146027" y="4329684"/>
            <a:ext cx="3801859"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أنماط القيادة + ٣ مواقف</a:t>
            </a:r>
            <a:endParaRPr lang="ar-SA" sz="2100" dirty="0"/>
          </a:p>
        </p:txBody>
      </p:sp>
      <p:sp>
        <p:nvSpPr>
          <p:cNvPr id="27" name="anim-g3-127"/>
          <p:cNvSpPr/>
          <p:nvPr/>
        </p:nvSpPr>
        <p:spPr>
          <a:xfrm>
            <a:off x="822960" y="4329684"/>
            <a:ext cx="4076179" cy="797814"/>
          </a:xfrm>
          <a:prstGeom prst="roundRect">
            <a:avLst>
              <a:gd name="adj" fmla="val 13754"/>
            </a:avLst>
          </a:prstGeom>
          <a:solidFill>
            <a:srgbClr val="E6F4EC"/>
          </a:solidFill>
          <a:ln w="12700">
            <a:solidFill>
              <a:srgbClr val="CDE9D9"/>
            </a:solidFill>
            <a:prstDash val="solid"/>
          </a:ln>
        </p:spPr>
      </p:sp>
      <p:sp>
        <p:nvSpPr>
          <p:cNvPr id="28" name="anim-g3-128"/>
          <p:cNvSpPr/>
          <p:nvPr/>
        </p:nvSpPr>
        <p:spPr>
          <a:xfrm>
            <a:off x="960120" y="4329684"/>
            <a:ext cx="3801859"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العصر الرقمي (٧) + عيادة المواقف</a:t>
            </a:r>
            <a:endParaRPr lang="ar-SA" sz="2100" dirty="0"/>
          </a:p>
        </p:txBody>
      </p:sp>
      <p:sp>
        <p:nvSpPr>
          <p:cNvPr id="29" name="anim-g4-129"/>
          <p:cNvSpPr/>
          <p:nvPr/>
        </p:nvSpPr>
        <p:spPr>
          <a:xfrm>
            <a:off x="9194773" y="5237226"/>
            <a:ext cx="2173962" cy="797814"/>
          </a:xfrm>
          <a:prstGeom prst="roundRect">
            <a:avLst>
              <a:gd name="adj" fmla="val 13754"/>
            </a:avLst>
          </a:prstGeom>
          <a:solidFill>
            <a:srgbClr val="FBF3DF"/>
          </a:solidFill>
          <a:ln w="12700">
            <a:solidFill>
              <a:srgbClr val="EFDDAF"/>
            </a:solidFill>
            <a:prstDash val="solid"/>
          </a:ln>
        </p:spPr>
      </p:sp>
      <p:sp>
        <p:nvSpPr>
          <p:cNvPr id="30" name="anim-g4-130"/>
          <p:cNvSpPr/>
          <p:nvPr/>
        </p:nvSpPr>
        <p:spPr>
          <a:xfrm>
            <a:off x="9331933" y="5237226"/>
            <a:ext cx="1899642"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الاستراحات</a:t>
            </a:r>
            <a:endParaRPr lang="ar-SA" sz="2100" dirty="0"/>
          </a:p>
        </p:txBody>
      </p:sp>
      <p:sp>
        <p:nvSpPr>
          <p:cNvPr id="31" name="anim-g4-131"/>
          <p:cNvSpPr/>
          <p:nvPr/>
        </p:nvSpPr>
        <p:spPr>
          <a:xfrm>
            <a:off x="5008867" y="5237226"/>
            <a:ext cx="4076179" cy="797814"/>
          </a:xfrm>
          <a:prstGeom prst="roundRect">
            <a:avLst>
              <a:gd name="adj" fmla="val 13754"/>
            </a:avLst>
          </a:prstGeom>
          <a:solidFill>
            <a:srgbClr val="FFFFFF"/>
          </a:solidFill>
          <a:ln w="12700">
            <a:solidFill>
              <a:srgbClr val="E4DCC8"/>
            </a:solidFill>
            <a:prstDash val="solid"/>
          </a:ln>
        </p:spPr>
      </p:sp>
      <p:sp>
        <p:nvSpPr>
          <p:cNvPr id="32" name="anim-g4-132"/>
          <p:cNvSpPr/>
          <p:nvPr/>
        </p:nvSpPr>
        <p:spPr>
          <a:xfrm>
            <a:off x="5146027" y="5237226"/>
            <a:ext cx="3801859"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عشرون دقيقة + صلاة</a:t>
            </a:r>
            <a:endParaRPr lang="ar-SA" sz="2100" dirty="0"/>
          </a:p>
        </p:txBody>
      </p:sp>
      <p:sp>
        <p:nvSpPr>
          <p:cNvPr id="33" name="anim-g4-133"/>
          <p:cNvSpPr/>
          <p:nvPr/>
        </p:nvSpPr>
        <p:spPr>
          <a:xfrm>
            <a:off x="822960" y="5237226"/>
            <a:ext cx="4076179" cy="797814"/>
          </a:xfrm>
          <a:prstGeom prst="roundRect">
            <a:avLst>
              <a:gd name="adj" fmla="val 13754"/>
            </a:avLst>
          </a:prstGeom>
          <a:solidFill>
            <a:srgbClr val="E6F4EC"/>
          </a:solidFill>
          <a:ln w="12700">
            <a:solidFill>
              <a:srgbClr val="CDE9D9"/>
            </a:solidFill>
            <a:prstDash val="solid"/>
          </a:ln>
        </p:spPr>
      </p:sp>
      <p:sp>
        <p:nvSpPr>
          <p:cNvPr id="34" name="anim-g4-134"/>
          <p:cNvSpPr/>
          <p:nvPr/>
        </p:nvSpPr>
        <p:spPr>
          <a:xfrm>
            <a:off x="960120" y="5237226"/>
            <a:ext cx="3801859"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عشرون دقيقة + صلاة</a:t>
            </a:r>
            <a:endParaRPr lang="ar-SA" sz="2100" dirty="0"/>
          </a:p>
        </p:txBody>
      </p:sp>
      <p:sp>
        <p:nvSpPr>
          <p:cNvPr id="35" name="Text 3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36" name="Text 3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لماذا نحن هنا؟  ·  ٢٤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400"/>
                                        <p:tgtEl>
                                          <p:spTgt spid="20"/>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0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400"/>
                                        <p:tgtEl>
                                          <p:spTgt spid="2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400"/>
                                        <p:tgtEl>
                                          <p:spTgt spid="2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fade">
                                      <p:cBhvr>
                                        <p:cTn id="59" dur="400"/>
                                        <p:tgtEl>
                                          <p:spTgt spid="27"/>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400"/>
                                        <p:tgtEl>
                                          <p:spTgt spid="28"/>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400"/>
                                        <p:tgtEl>
                                          <p:spTgt spid="2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fade">
                                      <p:cBhvr>
                                        <p:cTn id="70" dur="400"/>
                                        <p:tgtEl>
                                          <p:spTgt spid="30"/>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1"/>
                                        </p:tgtEl>
                                        <p:attrNameLst>
                                          <p:attrName>style.visibility</p:attrName>
                                        </p:attrNameLst>
                                      </p:cBhvr>
                                      <p:to>
                                        <p:strVal val="visible"/>
                                      </p:to>
                                    </p:set>
                                    <p:animEffect transition="in" filter="fade">
                                      <p:cBhvr>
                                        <p:cTn id="73" dur="400"/>
                                        <p:tgtEl>
                                          <p:spTgt spid="31"/>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2"/>
                                        </p:tgtEl>
                                        <p:attrNameLst>
                                          <p:attrName>style.visibility</p:attrName>
                                        </p:attrNameLst>
                                      </p:cBhvr>
                                      <p:to>
                                        <p:strVal val="visible"/>
                                      </p:to>
                                    </p:set>
                                    <p:animEffect transition="in" filter="fade">
                                      <p:cBhvr>
                                        <p:cTn id="76" dur="400"/>
                                        <p:tgtEl>
                                          <p:spTgt spid="32"/>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3"/>
                                        </p:tgtEl>
                                        <p:attrNameLst>
                                          <p:attrName>style.visibility</p:attrName>
                                        </p:attrNameLst>
                                      </p:cBhvr>
                                      <p:to>
                                        <p:strVal val="visible"/>
                                      </p:to>
                                    </p:set>
                                    <p:animEffect transition="in" filter="fade">
                                      <p:cBhvr>
                                        <p:cTn id="79" dur="400"/>
                                        <p:tgtEl>
                                          <p:spTgt spid="33"/>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4"/>
                                        </p:tgtEl>
                                        <p:attrNameLst>
                                          <p:attrName>style.visibility</p:attrName>
                                        </p:attrNameLst>
                                      </p:cBhvr>
                                      <p:to>
                                        <p:strVal val="visible"/>
                                      </p:to>
                                    </p:set>
                                    <p:animEffect transition="in" filter="fade">
                                      <p:cBhvr>
                                        <p:cTn id="82"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٣</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المحطة ٣</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تصحيح المفاهيم</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سبع أفكار شائعة… تُفسد إدارة الفصل دون أن نشعر</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تصحيح المفاهيم  ·  ٢٥</a:t>
            </a:r>
            <a:endParaRPr lang="ar-SA"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57439" y="457200"/>
            <a:ext cx="3511296" cy="457200"/>
          </a:xfrm>
          <a:prstGeom prst="roundRect">
            <a:avLst>
              <a:gd name="adj" fmla="val 50000"/>
            </a:avLst>
          </a:prstGeom>
          <a:solidFill>
            <a:srgbClr val="F6EBCF"/>
          </a:solidFill>
          <a:ln/>
        </p:spPr>
      </p:sp>
      <p:sp>
        <p:nvSpPr>
          <p:cNvPr id="3" name="Text 1"/>
          <p:cNvSpPr/>
          <p:nvPr/>
        </p:nvSpPr>
        <p:spPr>
          <a:xfrm>
            <a:off x="7857439" y="457200"/>
            <a:ext cx="351129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صح أم خطأ؟ · ١ من ٧</a:t>
            </a:r>
            <a:endParaRPr lang="ar-SA" sz="1800" dirty="0"/>
          </a:p>
        </p:txBody>
      </p:sp>
      <p:sp>
        <p:nvSpPr>
          <p:cNvPr id="4" name="Shape 2"/>
          <p:cNvSpPr/>
          <p:nvPr/>
        </p:nvSpPr>
        <p:spPr>
          <a:xfrm>
            <a:off x="822960" y="1371600"/>
            <a:ext cx="10545775" cy="2103120"/>
          </a:xfrm>
          <a:prstGeom prst="roundRect">
            <a:avLst>
              <a:gd name="adj" fmla="val 10870"/>
            </a:avLst>
          </a:prstGeom>
          <a:solidFill>
            <a:srgbClr val="FFFFFF"/>
          </a:solidFill>
          <a:ln w="25400">
            <a:solidFill>
              <a:srgbClr val="E4DCC8"/>
            </a:solidFill>
            <a:prstDash val="solid"/>
          </a:ln>
          <a:effectLst>
            <a:outerShdw sx="100000" sy="100000" kx="0" ky="0" algn="bl" rotWithShape="0" blurRad="152400" dist="38100" dir="5400000">
              <a:srgbClr val="101B45">
                <a:alpha val="8000"/>
              </a:srgbClr>
            </a:outerShdw>
          </a:effectLst>
        </p:spPr>
      </p:sp>
      <p:sp>
        <p:nvSpPr>
          <p:cNvPr id="5" name="Text 3"/>
          <p:cNvSpPr/>
          <p:nvPr/>
        </p:nvSpPr>
        <p:spPr>
          <a:xfrm>
            <a:off x="10454335" y="960120"/>
            <a:ext cx="731520" cy="731520"/>
          </a:xfrm>
          <a:prstGeom prst="rect">
            <a:avLst/>
          </a:prstGeom>
          <a:noFill/>
          <a:ln/>
        </p:spPr>
        <p:txBody>
          <a:bodyPr wrap="square" lIns="0" tIns="0" rIns="0" bIns="0" rtlCol="0" anchor="ctr">
            <a:normAutofit/>
          </a:bodyPr>
          <a:lstStyle/>
          <a:p>
            <a:pPr rtl="1" algn="ctr" indent="0" marL="0">
              <a:buNone/>
            </a:pPr>
            <a:r>
              <a:rPr lang="ar-SA" altLang="en-US" sz="5400" dirty="0">
                <a:solidFill>
                  <a:srgbClr val="D9AE4B"/>
                </a:solidFill>
                <a:latin typeface="Cairo" pitchFamily="34" charset="0"/>
                <a:ea typeface="Cairo" pitchFamily="34" charset="-122"/>
                <a:cs typeface="Cairo" pitchFamily="34" charset="-120"/>
              </a:rPr>
              <a:t>❝</a:t>
            </a:r>
            <a:endParaRPr lang="ar-SA" sz="5400" dirty="0"/>
          </a:p>
        </p:txBody>
      </p:sp>
      <p:sp>
        <p:nvSpPr>
          <p:cNvPr id="6" name="Text 4"/>
          <p:cNvSpPr/>
          <p:nvPr/>
        </p:nvSpPr>
        <p:spPr>
          <a:xfrm>
            <a:off x="1280160" y="1463040"/>
            <a:ext cx="9631375" cy="1920240"/>
          </a:xfrm>
          <a:prstGeom prst="rect">
            <a:avLst/>
          </a:prstGeom>
          <a:noFill/>
          <a:ln/>
        </p:spPr>
        <p:txBody>
          <a:bodyPr wrap="square" lIns="0" tIns="0" rIns="0" bIns="0" rtlCol="0" anchor="ctr">
            <a:normAutofit/>
          </a:bodyPr>
          <a:lstStyle/>
          <a:p>
            <a:pPr rtl="1" algn="r" indent="0" marL="0">
              <a:lnSpc>
                <a:spcPct val="120000"/>
              </a:lnSpc>
              <a:buNone/>
            </a:pPr>
            <a:r>
              <a:rPr lang="ar-SA" altLang="en-US" sz="3200" dirty="0">
                <a:solidFill>
                  <a:srgbClr val="101B45"/>
                </a:solidFill>
                <a:latin typeface="Cairo Black" pitchFamily="34" charset="0"/>
                <a:ea typeface="Cairo Black" pitchFamily="34" charset="-122"/>
                <a:cs typeface="Cairo Black" pitchFamily="34" charset="-120"/>
              </a:rPr>
              <a:t>ضبط السلوك هو الهدف الأساسي لإدارة الفصل</a:t>
            </a:r>
            <a:endParaRPr lang="ar-SA" sz="3200" dirty="0"/>
          </a:p>
        </p:txBody>
      </p:sp>
      <p:sp>
        <p:nvSpPr>
          <p:cNvPr id="7" name="anim-g1-135"/>
          <p:cNvSpPr/>
          <p:nvPr/>
        </p:nvSpPr>
        <p:spPr>
          <a:xfrm rot="-600000">
            <a:off x="1005840" y="914400"/>
            <a:ext cx="2651760" cy="914400"/>
          </a:xfrm>
          <a:prstGeom prst="roundRect">
            <a:avLst>
              <a:gd name="adj" fmla="val 15000"/>
            </a:avLst>
          </a:prstGeom>
          <a:solidFill>
            <a:srgbClr val="FFFFFF">
              <a:alpha val="90000"/>
            </a:srgbClr>
          </a:solidFill>
          <a:ln w="63500">
            <a:solidFill>
              <a:srgbClr val="D64545"/>
            </a:solidFill>
            <a:prstDash val="solid"/>
          </a:ln>
        </p:spPr>
      </p:sp>
      <p:sp>
        <p:nvSpPr>
          <p:cNvPr id="8" name="anim-g1-136"/>
          <p:cNvSpPr/>
          <p:nvPr/>
        </p:nvSpPr>
        <p:spPr>
          <a:xfrm rot="-600000">
            <a:off x="1005840" y="914400"/>
            <a:ext cx="2651760" cy="914400"/>
          </a:xfrm>
          <a:prstGeom prst="rect">
            <a:avLst/>
          </a:prstGeom>
          <a:noFill/>
          <a:ln/>
        </p:spPr>
        <p:txBody>
          <a:bodyPr wrap="square" lIns="0" tIns="0" rIns="0" bIns="0" rtlCol="0" anchor="ctr">
            <a:normAutofit/>
          </a:bodyPr>
          <a:lstStyle/>
          <a:p>
            <a:pPr rtl="1" algn="ctr" indent="0" marL="0">
              <a:buNone/>
            </a:pPr>
            <a:r>
              <a:rPr lang="ar-SA" altLang="en-US" sz="4000" dirty="0">
                <a:solidFill>
                  <a:srgbClr val="D64545"/>
                </a:solidFill>
                <a:latin typeface="Cairo Black" pitchFamily="34" charset="0"/>
                <a:ea typeface="Cairo Black" pitchFamily="34" charset="-122"/>
                <a:cs typeface="Cairo Black" pitchFamily="34" charset="-120"/>
              </a:rPr>
              <a:t>✗ خطأ</a:t>
            </a:r>
            <a:endParaRPr lang="ar-SA" sz="4000" dirty="0"/>
          </a:p>
        </p:txBody>
      </p:sp>
      <p:sp>
        <p:nvSpPr>
          <p:cNvPr id="9" name="anim-g2-137"/>
          <p:cNvSpPr/>
          <p:nvPr/>
        </p:nvSpPr>
        <p:spPr>
          <a:xfrm>
            <a:off x="822960" y="3886200"/>
            <a:ext cx="10545775" cy="1828800"/>
          </a:xfrm>
          <a:prstGeom prst="roundRect">
            <a:avLst>
              <a:gd name="adj" fmla="val 11000"/>
            </a:avLst>
          </a:prstGeom>
          <a:solidFill>
            <a:srgbClr val="E6F4EC"/>
          </a:solidFill>
          <a:ln/>
        </p:spPr>
      </p:sp>
      <p:sp>
        <p:nvSpPr>
          <p:cNvPr id="10" name="anim-g2-138"/>
          <p:cNvSpPr/>
          <p:nvPr/>
        </p:nvSpPr>
        <p:spPr>
          <a:xfrm>
            <a:off x="11259007" y="3886200"/>
            <a:ext cx="109728" cy="1828800"/>
          </a:xfrm>
          <a:prstGeom prst="rect">
            <a:avLst/>
          </a:prstGeom>
          <a:solidFill>
            <a:srgbClr val="2E9E6B"/>
          </a:solidFill>
          <a:ln/>
        </p:spPr>
      </p:sp>
      <p:sp>
        <p:nvSpPr>
          <p:cNvPr id="11" name="anim-g2-139"/>
          <p:cNvSpPr/>
          <p:nvPr/>
        </p:nvSpPr>
        <p:spPr>
          <a:xfrm>
            <a:off x="1188720" y="3931920"/>
            <a:ext cx="9722815" cy="1737360"/>
          </a:xfrm>
          <a:prstGeom prst="rect">
            <a:avLst/>
          </a:prstGeom>
          <a:noFill/>
          <a:ln/>
        </p:spPr>
        <p:txBody>
          <a:bodyPr wrap="square" lIns="0" tIns="0" rIns="0" bIns="0" rtlCol="0" anchor="ctr">
            <a:normAutofit/>
          </a:bodyPr>
          <a:lstStyle/>
          <a:p>
            <a:pPr algn="r" indent="0" marL="0">
              <a:lnSpc>
                <a:spcPct val="125000"/>
              </a:lnSpc>
              <a:buNone/>
            </a:pPr>
            <a:r>
              <a:rPr lang="ar-SA" altLang="en-US" sz="2300" b="1" dirty="0">
                <a:solidFill>
                  <a:srgbClr val="2E9E6B"/>
                </a:solidFill>
                <a:latin typeface="Cairo Black" pitchFamily="34" charset="0"/>
                <a:ea typeface="Cairo Black" pitchFamily="34" charset="-122"/>
                <a:cs typeface="Cairo Black" pitchFamily="34" charset="-120"/>
              </a:rPr>
              <a:t>الصحيح: </a:t>
            </a:r>
            <a:pPr algn="r" indent="0" marL="0">
              <a:lnSpc>
                <a:spcPct val="125000"/>
              </a:lnSpc>
              <a:buNone/>
            </a:pPr>
            <a:r>
              <a:rPr lang="ar-SA" altLang="en-US" sz="2300" b="1" dirty="0">
                <a:solidFill>
                  <a:srgbClr val="1D5E40"/>
                </a:solidFill>
                <a:latin typeface="Cairo" pitchFamily="34" charset="0"/>
                <a:ea typeface="Cairo" pitchFamily="34" charset="-122"/>
                <a:cs typeface="Cairo" pitchFamily="34" charset="-120"/>
              </a:rPr>
              <a:t>ضبط السلوك وسيلة واحدة فقط. الهدف الحقيقي بيئة يتعلم فيها كل طالب بأمان واحترام.</a:t>
            </a:r>
            <a:endParaRPr lang="ar-SA" sz="2300" dirty="0"/>
          </a:p>
        </p:txBody>
      </p:sp>
      <p:sp>
        <p:nvSpPr>
          <p:cNvPr id="12" name="Text 1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13" name="Text 1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تصحيح المفاهيم  ·  ٢٦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4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4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57439" y="457200"/>
            <a:ext cx="3511296" cy="457200"/>
          </a:xfrm>
          <a:prstGeom prst="roundRect">
            <a:avLst>
              <a:gd name="adj" fmla="val 50000"/>
            </a:avLst>
          </a:prstGeom>
          <a:solidFill>
            <a:srgbClr val="F6EBCF"/>
          </a:solidFill>
          <a:ln/>
        </p:spPr>
      </p:sp>
      <p:sp>
        <p:nvSpPr>
          <p:cNvPr id="3" name="Text 1"/>
          <p:cNvSpPr/>
          <p:nvPr/>
        </p:nvSpPr>
        <p:spPr>
          <a:xfrm>
            <a:off x="7857439" y="457200"/>
            <a:ext cx="351129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صح أم خطأ؟ · ٢ من ٧</a:t>
            </a:r>
            <a:endParaRPr lang="ar-SA" sz="1800" dirty="0"/>
          </a:p>
        </p:txBody>
      </p:sp>
      <p:sp>
        <p:nvSpPr>
          <p:cNvPr id="4" name="Shape 2"/>
          <p:cNvSpPr/>
          <p:nvPr/>
        </p:nvSpPr>
        <p:spPr>
          <a:xfrm>
            <a:off x="822960" y="1371600"/>
            <a:ext cx="10545775" cy="2103120"/>
          </a:xfrm>
          <a:prstGeom prst="roundRect">
            <a:avLst>
              <a:gd name="adj" fmla="val 10870"/>
            </a:avLst>
          </a:prstGeom>
          <a:solidFill>
            <a:srgbClr val="FFFFFF"/>
          </a:solidFill>
          <a:ln w="25400">
            <a:solidFill>
              <a:srgbClr val="E4DCC8"/>
            </a:solidFill>
            <a:prstDash val="solid"/>
          </a:ln>
          <a:effectLst>
            <a:outerShdw sx="100000" sy="100000" kx="0" ky="0" algn="bl" rotWithShape="0" blurRad="152400" dist="38100" dir="5400000">
              <a:srgbClr val="101B45">
                <a:alpha val="8000"/>
              </a:srgbClr>
            </a:outerShdw>
          </a:effectLst>
        </p:spPr>
      </p:sp>
      <p:sp>
        <p:nvSpPr>
          <p:cNvPr id="5" name="Text 3"/>
          <p:cNvSpPr/>
          <p:nvPr/>
        </p:nvSpPr>
        <p:spPr>
          <a:xfrm>
            <a:off x="10454335" y="960120"/>
            <a:ext cx="731520" cy="731520"/>
          </a:xfrm>
          <a:prstGeom prst="rect">
            <a:avLst/>
          </a:prstGeom>
          <a:noFill/>
          <a:ln/>
        </p:spPr>
        <p:txBody>
          <a:bodyPr wrap="square" lIns="0" tIns="0" rIns="0" bIns="0" rtlCol="0" anchor="ctr">
            <a:normAutofit/>
          </a:bodyPr>
          <a:lstStyle/>
          <a:p>
            <a:pPr rtl="1" algn="ctr" indent="0" marL="0">
              <a:buNone/>
            </a:pPr>
            <a:r>
              <a:rPr lang="ar-SA" altLang="en-US" sz="5400" dirty="0">
                <a:solidFill>
                  <a:srgbClr val="D9AE4B"/>
                </a:solidFill>
                <a:latin typeface="Cairo" pitchFamily="34" charset="0"/>
                <a:ea typeface="Cairo" pitchFamily="34" charset="-122"/>
                <a:cs typeface="Cairo" pitchFamily="34" charset="-120"/>
              </a:rPr>
              <a:t>❝</a:t>
            </a:r>
            <a:endParaRPr lang="ar-SA" sz="5400" dirty="0"/>
          </a:p>
        </p:txBody>
      </p:sp>
      <p:sp>
        <p:nvSpPr>
          <p:cNvPr id="6" name="Text 4"/>
          <p:cNvSpPr/>
          <p:nvPr/>
        </p:nvSpPr>
        <p:spPr>
          <a:xfrm>
            <a:off x="1280160" y="1463040"/>
            <a:ext cx="9631375" cy="1920240"/>
          </a:xfrm>
          <a:prstGeom prst="rect">
            <a:avLst/>
          </a:prstGeom>
          <a:noFill/>
          <a:ln/>
        </p:spPr>
        <p:txBody>
          <a:bodyPr wrap="square" lIns="0" tIns="0" rIns="0" bIns="0" rtlCol="0" anchor="ctr">
            <a:normAutofit/>
          </a:bodyPr>
          <a:lstStyle/>
          <a:p>
            <a:pPr rtl="1" algn="r" indent="0" marL="0">
              <a:lnSpc>
                <a:spcPct val="120000"/>
              </a:lnSpc>
              <a:buNone/>
            </a:pPr>
            <a:r>
              <a:rPr lang="ar-SA" altLang="en-US" sz="3200" dirty="0">
                <a:solidFill>
                  <a:srgbClr val="101B45"/>
                </a:solidFill>
                <a:latin typeface="Cairo Black" pitchFamily="34" charset="0"/>
                <a:ea typeface="Cairo Black" pitchFamily="34" charset="-122"/>
                <a:cs typeface="Cairo Black" pitchFamily="34" charset="-120"/>
              </a:rPr>
              <a:t>أهتم بالطلاب الراغبين في التعلم… أما البقية فهم وشأنهم</a:t>
            </a:r>
            <a:endParaRPr lang="ar-SA" sz="3200" dirty="0"/>
          </a:p>
        </p:txBody>
      </p:sp>
      <p:sp>
        <p:nvSpPr>
          <p:cNvPr id="7" name="anim-g1-140"/>
          <p:cNvSpPr/>
          <p:nvPr/>
        </p:nvSpPr>
        <p:spPr>
          <a:xfrm rot="-600000">
            <a:off x="1005840" y="914400"/>
            <a:ext cx="2651760" cy="914400"/>
          </a:xfrm>
          <a:prstGeom prst="roundRect">
            <a:avLst>
              <a:gd name="adj" fmla="val 15000"/>
            </a:avLst>
          </a:prstGeom>
          <a:solidFill>
            <a:srgbClr val="FFFFFF">
              <a:alpha val="90000"/>
            </a:srgbClr>
          </a:solidFill>
          <a:ln w="63500">
            <a:solidFill>
              <a:srgbClr val="D64545"/>
            </a:solidFill>
            <a:prstDash val="solid"/>
          </a:ln>
        </p:spPr>
      </p:sp>
      <p:sp>
        <p:nvSpPr>
          <p:cNvPr id="8" name="anim-g1-141"/>
          <p:cNvSpPr/>
          <p:nvPr/>
        </p:nvSpPr>
        <p:spPr>
          <a:xfrm rot="-600000">
            <a:off x="1005840" y="914400"/>
            <a:ext cx="2651760" cy="914400"/>
          </a:xfrm>
          <a:prstGeom prst="rect">
            <a:avLst/>
          </a:prstGeom>
          <a:noFill/>
          <a:ln/>
        </p:spPr>
        <p:txBody>
          <a:bodyPr wrap="square" lIns="0" tIns="0" rIns="0" bIns="0" rtlCol="0" anchor="ctr">
            <a:normAutofit/>
          </a:bodyPr>
          <a:lstStyle/>
          <a:p>
            <a:pPr rtl="1" algn="ctr" indent="0" marL="0">
              <a:buNone/>
            </a:pPr>
            <a:r>
              <a:rPr lang="ar-SA" altLang="en-US" sz="4000" dirty="0">
                <a:solidFill>
                  <a:srgbClr val="D64545"/>
                </a:solidFill>
                <a:latin typeface="Cairo Black" pitchFamily="34" charset="0"/>
                <a:ea typeface="Cairo Black" pitchFamily="34" charset="-122"/>
                <a:cs typeface="Cairo Black" pitchFamily="34" charset="-120"/>
              </a:rPr>
              <a:t>✗ خطأ</a:t>
            </a:r>
            <a:endParaRPr lang="ar-SA" sz="4000" dirty="0"/>
          </a:p>
        </p:txBody>
      </p:sp>
      <p:sp>
        <p:nvSpPr>
          <p:cNvPr id="9" name="anim-g2-142"/>
          <p:cNvSpPr/>
          <p:nvPr/>
        </p:nvSpPr>
        <p:spPr>
          <a:xfrm>
            <a:off x="822960" y="3886200"/>
            <a:ext cx="10545775" cy="1828800"/>
          </a:xfrm>
          <a:prstGeom prst="roundRect">
            <a:avLst>
              <a:gd name="adj" fmla="val 11000"/>
            </a:avLst>
          </a:prstGeom>
          <a:solidFill>
            <a:srgbClr val="E6F4EC"/>
          </a:solidFill>
          <a:ln/>
        </p:spPr>
      </p:sp>
      <p:sp>
        <p:nvSpPr>
          <p:cNvPr id="10" name="anim-g2-143"/>
          <p:cNvSpPr/>
          <p:nvPr/>
        </p:nvSpPr>
        <p:spPr>
          <a:xfrm>
            <a:off x="11259007" y="3886200"/>
            <a:ext cx="109728" cy="1828800"/>
          </a:xfrm>
          <a:prstGeom prst="rect">
            <a:avLst/>
          </a:prstGeom>
          <a:solidFill>
            <a:srgbClr val="2E9E6B"/>
          </a:solidFill>
          <a:ln/>
        </p:spPr>
      </p:sp>
      <p:sp>
        <p:nvSpPr>
          <p:cNvPr id="11" name="anim-g2-144"/>
          <p:cNvSpPr/>
          <p:nvPr/>
        </p:nvSpPr>
        <p:spPr>
          <a:xfrm>
            <a:off x="1188720" y="3931920"/>
            <a:ext cx="9722815" cy="1737360"/>
          </a:xfrm>
          <a:prstGeom prst="rect">
            <a:avLst/>
          </a:prstGeom>
          <a:noFill/>
          <a:ln/>
        </p:spPr>
        <p:txBody>
          <a:bodyPr wrap="square" lIns="0" tIns="0" rIns="0" bIns="0" rtlCol="0" anchor="ctr">
            <a:normAutofit/>
          </a:bodyPr>
          <a:lstStyle/>
          <a:p>
            <a:pPr algn="r" indent="0" marL="0">
              <a:lnSpc>
                <a:spcPct val="125000"/>
              </a:lnSpc>
              <a:buNone/>
            </a:pPr>
            <a:r>
              <a:rPr lang="ar-SA" altLang="en-US" sz="2300" b="1" dirty="0">
                <a:solidFill>
                  <a:srgbClr val="2E9E6B"/>
                </a:solidFill>
                <a:latin typeface="Cairo Black" pitchFamily="34" charset="0"/>
                <a:ea typeface="Cairo Black" pitchFamily="34" charset="-122"/>
                <a:cs typeface="Cairo Black" pitchFamily="34" charset="-120"/>
              </a:rPr>
              <a:t>الصحيح: </a:t>
            </a:r>
            <a:pPr algn="r" indent="0" marL="0">
              <a:lnSpc>
                <a:spcPct val="125000"/>
              </a:lnSpc>
              <a:buNone/>
            </a:pPr>
            <a:r>
              <a:rPr lang="ar-SA" altLang="en-US" sz="2300" b="1" dirty="0">
                <a:solidFill>
                  <a:srgbClr val="1D5E40"/>
                </a:solidFill>
                <a:latin typeface="Cairo" pitchFamily="34" charset="0"/>
                <a:ea typeface="Cairo" pitchFamily="34" charset="-122"/>
                <a:cs typeface="Cairo" pitchFamily="34" charset="-120"/>
              </a:rPr>
              <a:t>هذا سلوك المعلم العاجز. نجاحك يُقاس بتقدم كل طلابك، والأقل انضباطًا أحوجهم إليك.</a:t>
            </a:r>
            <a:endParaRPr lang="ar-SA" sz="2300" dirty="0"/>
          </a:p>
        </p:txBody>
      </p:sp>
      <p:sp>
        <p:nvSpPr>
          <p:cNvPr id="12" name="Text 1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13" name="Text 1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تصحيح المفاهيم  ·  ٢٧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4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4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57439" y="457200"/>
            <a:ext cx="3511296" cy="457200"/>
          </a:xfrm>
          <a:prstGeom prst="roundRect">
            <a:avLst>
              <a:gd name="adj" fmla="val 50000"/>
            </a:avLst>
          </a:prstGeom>
          <a:solidFill>
            <a:srgbClr val="F6EBCF"/>
          </a:solidFill>
          <a:ln/>
        </p:spPr>
      </p:sp>
      <p:sp>
        <p:nvSpPr>
          <p:cNvPr id="3" name="Text 1"/>
          <p:cNvSpPr/>
          <p:nvPr/>
        </p:nvSpPr>
        <p:spPr>
          <a:xfrm>
            <a:off x="7857439" y="457200"/>
            <a:ext cx="351129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صح أم خطأ؟ · ٣ من ٧</a:t>
            </a:r>
            <a:endParaRPr lang="ar-SA" sz="1800" dirty="0"/>
          </a:p>
        </p:txBody>
      </p:sp>
      <p:sp>
        <p:nvSpPr>
          <p:cNvPr id="4" name="Shape 2"/>
          <p:cNvSpPr/>
          <p:nvPr/>
        </p:nvSpPr>
        <p:spPr>
          <a:xfrm>
            <a:off x="822960" y="1371600"/>
            <a:ext cx="10545775" cy="2103120"/>
          </a:xfrm>
          <a:prstGeom prst="roundRect">
            <a:avLst>
              <a:gd name="adj" fmla="val 10870"/>
            </a:avLst>
          </a:prstGeom>
          <a:solidFill>
            <a:srgbClr val="FFFFFF"/>
          </a:solidFill>
          <a:ln w="25400">
            <a:solidFill>
              <a:srgbClr val="E4DCC8"/>
            </a:solidFill>
            <a:prstDash val="solid"/>
          </a:ln>
          <a:effectLst>
            <a:outerShdw sx="100000" sy="100000" kx="0" ky="0" algn="bl" rotWithShape="0" blurRad="152400" dist="38100" dir="5400000">
              <a:srgbClr val="101B45">
                <a:alpha val="8000"/>
              </a:srgbClr>
            </a:outerShdw>
          </a:effectLst>
        </p:spPr>
      </p:sp>
      <p:sp>
        <p:nvSpPr>
          <p:cNvPr id="5" name="Text 3"/>
          <p:cNvSpPr/>
          <p:nvPr/>
        </p:nvSpPr>
        <p:spPr>
          <a:xfrm>
            <a:off x="10454335" y="960120"/>
            <a:ext cx="731520" cy="731520"/>
          </a:xfrm>
          <a:prstGeom prst="rect">
            <a:avLst/>
          </a:prstGeom>
          <a:noFill/>
          <a:ln/>
        </p:spPr>
        <p:txBody>
          <a:bodyPr wrap="square" lIns="0" tIns="0" rIns="0" bIns="0" rtlCol="0" anchor="ctr">
            <a:normAutofit/>
          </a:bodyPr>
          <a:lstStyle/>
          <a:p>
            <a:pPr rtl="1" algn="ctr" indent="0" marL="0">
              <a:buNone/>
            </a:pPr>
            <a:r>
              <a:rPr lang="ar-SA" altLang="en-US" sz="5400" dirty="0">
                <a:solidFill>
                  <a:srgbClr val="D9AE4B"/>
                </a:solidFill>
                <a:latin typeface="Cairo" pitchFamily="34" charset="0"/>
                <a:ea typeface="Cairo" pitchFamily="34" charset="-122"/>
                <a:cs typeface="Cairo" pitchFamily="34" charset="-120"/>
              </a:rPr>
              <a:t>❝</a:t>
            </a:r>
            <a:endParaRPr lang="ar-SA" sz="5400" dirty="0"/>
          </a:p>
        </p:txBody>
      </p:sp>
      <p:sp>
        <p:nvSpPr>
          <p:cNvPr id="6" name="Text 4"/>
          <p:cNvSpPr/>
          <p:nvPr/>
        </p:nvSpPr>
        <p:spPr>
          <a:xfrm>
            <a:off x="1280160" y="1463040"/>
            <a:ext cx="9631375" cy="1920240"/>
          </a:xfrm>
          <a:prstGeom prst="rect">
            <a:avLst/>
          </a:prstGeom>
          <a:noFill/>
          <a:ln/>
        </p:spPr>
        <p:txBody>
          <a:bodyPr wrap="square" lIns="0" tIns="0" rIns="0" bIns="0" rtlCol="0" anchor="ctr">
            <a:normAutofit/>
          </a:bodyPr>
          <a:lstStyle/>
          <a:p>
            <a:pPr rtl="1" algn="r" indent="0" marL="0">
              <a:lnSpc>
                <a:spcPct val="120000"/>
              </a:lnSpc>
              <a:buNone/>
            </a:pPr>
            <a:r>
              <a:rPr lang="ar-SA" altLang="en-US" sz="3200" dirty="0">
                <a:solidFill>
                  <a:srgbClr val="101B45"/>
                </a:solidFill>
                <a:latin typeface="Cairo Black" pitchFamily="34" charset="0"/>
                <a:ea typeface="Cairo Black" pitchFamily="34" charset="-122"/>
                <a:cs typeface="Cairo Black" pitchFamily="34" charset="-120"/>
              </a:rPr>
              <a:t>أشرح القواعد أول السنة… ولا حاجة لإعادتها</a:t>
            </a:r>
            <a:endParaRPr lang="ar-SA" sz="3200" dirty="0"/>
          </a:p>
        </p:txBody>
      </p:sp>
      <p:sp>
        <p:nvSpPr>
          <p:cNvPr id="7" name="anim-g1-145"/>
          <p:cNvSpPr/>
          <p:nvPr/>
        </p:nvSpPr>
        <p:spPr>
          <a:xfrm rot="-600000">
            <a:off x="1005840" y="914400"/>
            <a:ext cx="2651760" cy="914400"/>
          </a:xfrm>
          <a:prstGeom prst="roundRect">
            <a:avLst>
              <a:gd name="adj" fmla="val 15000"/>
            </a:avLst>
          </a:prstGeom>
          <a:solidFill>
            <a:srgbClr val="FFFFFF">
              <a:alpha val="90000"/>
            </a:srgbClr>
          </a:solidFill>
          <a:ln w="63500">
            <a:solidFill>
              <a:srgbClr val="D64545"/>
            </a:solidFill>
            <a:prstDash val="solid"/>
          </a:ln>
        </p:spPr>
      </p:sp>
      <p:sp>
        <p:nvSpPr>
          <p:cNvPr id="8" name="anim-g1-146"/>
          <p:cNvSpPr/>
          <p:nvPr/>
        </p:nvSpPr>
        <p:spPr>
          <a:xfrm rot="-600000">
            <a:off x="1005840" y="914400"/>
            <a:ext cx="2651760" cy="914400"/>
          </a:xfrm>
          <a:prstGeom prst="rect">
            <a:avLst/>
          </a:prstGeom>
          <a:noFill/>
          <a:ln/>
        </p:spPr>
        <p:txBody>
          <a:bodyPr wrap="square" lIns="0" tIns="0" rIns="0" bIns="0" rtlCol="0" anchor="ctr">
            <a:normAutofit/>
          </a:bodyPr>
          <a:lstStyle/>
          <a:p>
            <a:pPr rtl="1" algn="ctr" indent="0" marL="0">
              <a:buNone/>
            </a:pPr>
            <a:r>
              <a:rPr lang="ar-SA" altLang="en-US" sz="4000" dirty="0">
                <a:solidFill>
                  <a:srgbClr val="D64545"/>
                </a:solidFill>
                <a:latin typeface="Cairo Black" pitchFamily="34" charset="0"/>
                <a:ea typeface="Cairo Black" pitchFamily="34" charset="-122"/>
                <a:cs typeface="Cairo Black" pitchFamily="34" charset="-120"/>
              </a:rPr>
              <a:t>✗ خطأ</a:t>
            </a:r>
            <a:endParaRPr lang="ar-SA" sz="4000" dirty="0"/>
          </a:p>
        </p:txBody>
      </p:sp>
      <p:sp>
        <p:nvSpPr>
          <p:cNvPr id="9" name="anim-g2-147"/>
          <p:cNvSpPr/>
          <p:nvPr/>
        </p:nvSpPr>
        <p:spPr>
          <a:xfrm>
            <a:off x="822960" y="3886200"/>
            <a:ext cx="10545775" cy="1828800"/>
          </a:xfrm>
          <a:prstGeom prst="roundRect">
            <a:avLst>
              <a:gd name="adj" fmla="val 11000"/>
            </a:avLst>
          </a:prstGeom>
          <a:solidFill>
            <a:srgbClr val="E6F4EC"/>
          </a:solidFill>
          <a:ln/>
        </p:spPr>
      </p:sp>
      <p:sp>
        <p:nvSpPr>
          <p:cNvPr id="10" name="anim-g2-148"/>
          <p:cNvSpPr/>
          <p:nvPr/>
        </p:nvSpPr>
        <p:spPr>
          <a:xfrm>
            <a:off x="11259007" y="3886200"/>
            <a:ext cx="109728" cy="1828800"/>
          </a:xfrm>
          <a:prstGeom prst="rect">
            <a:avLst/>
          </a:prstGeom>
          <a:solidFill>
            <a:srgbClr val="2E9E6B"/>
          </a:solidFill>
          <a:ln/>
        </p:spPr>
      </p:sp>
      <p:sp>
        <p:nvSpPr>
          <p:cNvPr id="11" name="anim-g2-149"/>
          <p:cNvSpPr/>
          <p:nvPr/>
        </p:nvSpPr>
        <p:spPr>
          <a:xfrm>
            <a:off x="1188720" y="3931920"/>
            <a:ext cx="9722815" cy="1737360"/>
          </a:xfrm>
          <a:prstGeom prst="rect">
            <a:avLst/>
          </a:prstGeom>
          <a:noFill/>
          <a:ln/>
        </p:spPr>
        <p:txBody>
          <a:bodyPr wrap="square" lIns="0" tIns="0" rIns="0" bIns="0" rtlCol="0" anchor="ctr">
            <a:normAutofit/>
          </a:bodyPr>
          <a:lstStyle/>
          <a:p>
            <a:pPr algn="r" indent="0" marL="0">
              <a:lnSpc>
                <a:spcPct val="125000"/>
              </a:lnSpc>
              <a:buNone/>
            </a:pPr>
            <a:r>
              <a:rPr lang="ar-SA" altLang="en-US" sz="2300" b="1" dirty="0">
                <a:solidFill>
                  <a:srgbClr val="2E9E6B"/>
                </a:solidFill>
                <a:latin typeface="Cairo Black" pitchFamily="34" charset="0"/>
                <a:ea typeface="Cairo Black" pitchFamily="34" charset="-122"/>
                <a:cs typeface="Cairo Black" pitchFamily="34" charset="-120"/>
              </a:rPr>
              <a:t>الصحيح: </a:t>
            </a:r>
            <a:pPr algn="r" indent="0" marL="0">
              <a:lnSpc>
                <a:spcPct val="125000"/>
              </a:lnSpc>
              <a:buNone/>
            </a:pPr>
            <a:r>
              <a:rPr lang="ar-SA" altLang="en-US" sz="2300" b="1" dirty="0">
                <a:solidFill>
                  <a:srgbClr val="1D5E40"/>
                </a:solidFill>
                <a:latin typeface="Cairo" pitchFamily="34" charset="0"/>
                <a:ea typeface="Cairo" pitchFamily="34" charset="-122"/>
                <a:cs typeface="Cairo" pitchFamily="34" charset="-120"/>
              </a:rPr>
              <a:t>القواعد تُشرح وتُمارَس وتُراجَع ويُعاد تعليمها، تمامًا كأي درس. التكرار يصنع العادة.</a:t>
            </a:r>
            <a:endParaRPr lang="ar-SA" sz="2300" dirty="0"/>
          </a:p>
        </p:txBody>
      </p:sp>
      <p:sp>
        <p:nvSpPr>
          <p:cNvPr id="12" name="Text 1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13" name="Text 1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تصحيح المفاهيم  ·  ٢٨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4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4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57439" y="457200"/>
            <a:ext cx="3511296" cy="457200"/>
          </a:xfrm>
          <a:prstGeom prst="roundRect">
            <a:avLst>
              <a:gd name="adj" fmla="val 50000"/>
            </a:avLst>
          </a:prstGeom>
          <a:solidFill>
            <a:srgbClr val="F6EBCF"/>
          </a:solidFill>
          <a:ln/>
        </p:spPr>
      </p:sp>
      <p:sp>
        <p:nvSpPr>
          <p:cNvPr id="3" name="Text 1"/>
          <p:cNvSpPr/>
          <p:nvPr/>
        </p:nvSpPr>
        <p:spPr>
          <a:xfrm>
            <a:off x="7857439" y="457200"/>
            <a:ext cx="351129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صح أم خطأ؟ · ٤ من ٧</a:t>
            </a:r>
            <a:endParaRPr lang="ar-SA" sz="1800" dirty="0"/>
          </a:p>
        </p:txBody>
      </p:sp>
      <p:sp>
        <p:nvSpPr>
          <p:cNvPr id="4" name="Shape 2"/>
          <p:cNvSpPr/>
          <p:nvPr/>
        </p:nvSpPr>
        <p:spPr>
          <a:xfrm>
            <a:off x="822960" y="1371600"/>
            <a:ext cx="10545775" cy="2103120"/>
          </a:xfrm>
          <a:prstGeom prst="roundRect">
            <a:avLst>
              <a:gd name="adj" fmla="val 10870"/>
            </a:avLst>
          </a:prstGeom>
          <a:solidFill>
            <a:srgbClr val="FFFFFF"/>
          </a:solidFill>
          <a:ln w="25400">
            <a:solidFill>
              <a:srgbClr val="E4DCC8"/>
            </a:solidFill>
            <a:prstDash val="solid"/>
          </a:ln>
          <a:effectLst>
            <a:outerShdw sx="100000" sy="100000" kx="0" ky="0" algn="bl" rotWithShape="0" blurRad="152400" dist="38100" dir="5400000">
              <a:srgbClr val="101B45">
                <a:alpha val="8000"/>
              </a:srgbClr>
            </a:outerShdw>
          </a:effectLst>
        </p:spPr>
      </p:sp>
      <p:sp>
        <p:nvSpPr>
          <p:cNvPr id="5" name="Text 3"/>
          <p:cNvSpPr/>
          <p:nvPr/>
        </p:nvSpPr>
        <p:spPr>
          <a:xfrm>
            <a:off x="10454335" y="960120"/>
            <a:ext cx="731520" cy="731520"/>
          </a:xfrm>
          <a:prstGeom prst="rect">
            <a:avLst/>
          </a:prstGeom>
          <a:noFill/>
          <a:ln/>
        </p:spPr>
        <p:txBody>
          <a:bodyPr wrap="square" lIns="0" tIns="0" rIns="0" bIns="0" rtlCol="0" anchor="ctr">
            <a:normAutofit/>
          </a:bodyPr>
          <a:lstStyle/>
          <a:p>
            <a:pPr rtl="1" algn="ctr" indent="0" marL="0">
              <a:buNone/>
            </a:pPr>
            <a:r>
              <a:rPr lang="ar-SA" altLang="en-US" sz="5400" dirty="0">
                <a:solidFill>
                  <a:srgbClr val="D9AE4B"/>
                </a:solidFill>
                <a:latin typeface="Cairo" pitchFamily="34" charset="0"/>
                <a:ea typeface="Cairo" pitchFamily="34" charset="-122"/>
                <a:cs typeface="Cairo" pitchFamily="34" charset="-120"/>
              </a:rPr>
              <a:t>❝</a:t>
            </a:r>
            <a:endParaRPr lang="ar-SA" sz="5400" dirty="0"/>
          </a:p>
        </p:txBody>
      </p:sp>
      <p:sp>
        <p:nvSpPr>
          <p:cNvPr id="6" name="Text 4"/>
          <p:cNvSpPr/>
          <p:nvPr/>
        </p:nvSpPr>
        <p:spPr>
          <a:xfrm>
            <a:off x="1280160" y="1463040"/>
            <a:ext cx="9631375" cy="1920240"/>
          </a:xfrm>
          <a:prstGeom prst="rect">
            <a:avLst/>
          </a:prstGeom>
          <a:noFill/>
          <a:ln/>
        </p:spPr>
        <p:txBody>
          <a:bodyPr wrap="square" lIns="0" tIns="0" rIns="0" bIns="0" rtlCol="0" anchor="ctr">
            <a:normAutofit/>
          </a:bodyPr>
          <a:lstStyle/>
          <a:p>
            <a:pPr rtl="1" algn="r" indent="0" marL="0">
              <a:lnSpc>
                <a:spcPct val="120000"/>
              </a:lnSpc>
              <a:buNone/>
            </a:pPr>
            <a:r>
              <a:rPr lang="ar-SA" altLang="en-US" sz="3200" dirty="0">
                <a:solidFill>
                  <a:srgbClr val="101B45"/>
                </a:solidFill>
                <a:latin typeface="Cairo Black" pitchFamily="34" charset="0"/>
                <a:ea typeface="Cairo Black" pitchFamily="34" charset="-122"/>
                <a:cs typeface="Cairo Black" pitchFamily="34" charset="-120"/>
              </a:rPr>
              <a:t>لا داعي لإضاعة وقت الدرس في مشكلات الانضباط</a:t>
            </a:r>
            <a:endParaRPr lang="ar-SA" sz="3200" dirty="0"/>
          </a:p>
        </p:txBody>
      </p:sp>
      <p:sp>
        <p:nvSpPr>
          <p:cNvPr id="7" name="anim-g1-150"/>
          <p:cNvSpPr/>
          <p:nvPr/>
        </p:nvSpPr>
        <p:spPr>
          <a:xfrm rot="-600000">
            <a:off x="1005840" y="914400"/>
            <a:ext cx="2651760" cy="914400"/>
          </a:xfrm>
          <a:prstGeom prst="roundRect">
            <a:avLst>
              <a:gd name="adj" fmla="val 15000"/>
            </a:avLst>
          </a:prstGeom>
          <a:solidFill>
            <a:srgbClr val="FFFFFF">
              <a:alpha val="90000"/>
            </a:srgbClr>
          </a:solidFill>
          <a:ln w="63500">
            <a:solidFill>
              <a:srgbClr val="D64545"/>
            </a:solidFill>
            <a:prstDash val="solid"/>
          </a:ln>
        </p:spPr>
      </p:sp>
      <p:sp>
        <p:nvSpPr>
          <p:cNvPr id="8" name="anim-g1-151"/>
          <p:cNvSpPr/>
          <p:nvPr/>
        </p:nvSpPr>
        <p:spPr>
          <a:xfrm rot="-600000">
            <a:off x="1005840" y="914400"/>
            <a:ext cx="2651760" cy="914400"/>
          </a:xfrm>
          <a:prstGeom prst="rect">
            <a:avLst/>
          </a:prstGeom>
          <a:noFill/>
          <a:ln/>
        </p:spPr>
        <p:txBody>
          <a:bodyPr wrap="square" lIns="0" tIns="0" rIns="0" bIns="0" rtlCol="0" anchor="ctr">
            <a:normAutofit/>
          </a:bodyPr>
          <a:lstStyle/>
          <a:p>
            <a:pPr rtl="1" algn="ctr" indent="0" marL="0">
              <a:buNone/>
            </a:pPr>
            <a:r>
              <a:rPr lang="ar-SA" altLang="en-US" sz="4000" dirty="0">
                <a:solidFill>
                  <a:srgbClr val="D64545"/>
                </a:solidFill>
                <a:latin typeface="Cairo Black" pitchFamily="34" charset="0"/>
                <a:ea typeface="Cairo Black" pitchFamily="34" charset="-122"/>
                <a:cs typeface="Cairo Black" pitchFamily="34" charset="-120"/>
              </a:rPr>
              <a:t>✗ خطأ</a:t>
            </a:r>
            <a:endParaRPr lang="ar-SA" sz="4000" dirty="0"/>
          </a:p>
        </p:txBody>
      </p:sp>
      <p:sp>
        <p:nvSpPr>
          <p:cNvPr id="9" name="anim-g2-152"/>
          <p:cNvSpPr/>
          <p:nvPr/>
        </p:nvSpPr>
        <p:spPr>
          <a:xfrm>
            <a:off x="822960" y="3886200"/>
            <a:ext cx="10545775" cy="1828800"/>
          </a:xfrm>
          <a:prstGeom prst="roundRect">
            <a:avLst>
              <a:gd name="adj" fmla="val 11000"/>
            </a:avLst>
          </a:prstGeom>
          <a:solidFill>
            <a:srgbClr val="E6F4EC"/>
          </a:solidFill>
          <a:ln/>
        </p:spPr>
      </p:sp>
      <p:sp>
        <p:nvSpPr>
          <p:cNvPr id="10" name="anim-g2-153"/>
          <p:cNvSpPr/>
          <p:nvPr/>
        </p:nvSpPr>
        <p:spPr>
          <a:xfrm>
            <a:off x="11259007" y="3886200"/>
            <a:ext cx="109728" cy="1828800"/>
          </a:xfrm>
          <a:prstGeom prst="rect">
            <a:avLst/>
          </a:prstGeom>
          <a:solidFill>
            <a:srgbClr val="2E9E6B"/>
          </a:solidFill>
          <a:ln/>
        </p:spPr>
      </p:sp>
      <p:sp>
        <p:nvSpPr>
          <p:cNvPr id="11" name="anim-g2-154"/>
          <p:cNvSpPr/>
          <p:nvPr/>
        </p:nvSpPr>
        <p:spPr>
          <a:xfrm>
            <a:off x="1188720" y="3931920"/>
            <a:ext cx="9722815" cy="1737360"/>
          </a:xfrm>
          <a:prstGeom prst="rect">
            <a:avLst/>
          </a:prstGeom>
          <a:noFill/>
          <a:ln/>
        </p:spPr>
        <p:txBody>
          <a:bodyPr wrap="square" lIns="0" tIns="0" rIns="0" bIns="0" rtlCol="0" anchor="ctr">
            <a:normAutofit/>
          </a:bodyPr>
          <a:lstStyle/>
          <a:p>
            <a:pPr algn="r" indent="0" marL="0">
              <a:lnSpc>
                <a:spcPct val="125000"/>
              </a:lnSpc>
              <a:buNone/>
            </a:pPr>
            <a:r>
              <a:rPr lang="ar-SA" altLang="en-US" sz="2300" b="1" dirty="0">
                <a:solidFill>
                  <a:srgbClr val="2E9E6B"/>
                </a:solidFill>
                <a:latin typeface="Cairo Black" pitchFamily="34" charset="0"/>
                <a:ea typeface="Cairo Black" pitchFamily="34" charset="-122"/>
                <a:cs typeface="Cairo Black" pitchFamily="34" charset="-120"/>
              </a:rPr>
              <a:t>الصحيح: </a:t>
            </a:r>
            <a:pPr algn="r" indent="0" marL="0">
              <a:lnSpc>
                <a:spcPct val="125000"/>
              </a:lnSpc>
              <a:buNone/>
            </a:pPr>
            <a:r>
              <a:rPr lang="ar-SA" altLang="en-US" sz="2300" b="1" dirty="0">
                <a:solidFill>
                  <a:srgbClr val="1D5E40"/>
                </a:solidFill>
                <a:latin typeface="Cairo" pitchFamily="34" charset="0"/>
                <a:ea typeface="Cairo" pitchFamily="34" charset="-122"/>
                <a:cs typeface="Cairo" pitchFamily="34" charset="-120"/>
              </a:rPr>
              <a:t>لا تدريس فعّال بلا انضباط. الدقائق التي تستثمرها في الإدارة تعود عليك ساعات من التعلم.</a:t>
            </a:r>
            <a:endParaRPr lang="ar-SA" sz="2300" dirty="0"/>
          </a:p>
        </p:txBody>
      </p:sp>
      <p:sp>
        <p:nvSpPr>
          <p:cNvPr id="12" name="Text 1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13" name="Text 1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تصحيح المفاهيم  ·  ٢٩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4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4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57439" y="457200"/>
            <a:ext cx="3511296" cy="457200"/>
          </a:xfrm>
          <a:prstGeom prst="roundRect">
            <a:avLst>
              <a:gd name="adj" fmla="val 50000"/>
            </a:avLst>
          </a:prstGeom>
          <a:solidFill>
            <a:srgbClr val="F6EBCF"/>
          </a:solidFill>
          <a:ln/>
        </p:spPr>
      </p:sp>
      <p:sp>
        <p:nvSpPr>
          <p:cNvPr id="3" name="Text 1"/>
          <p:cNvSpPr/>
          <p:nvPr/>
        </p:nvSpPr>
        <p:spPr>
          <a:xfrm>
            <a:off x="7857439" y="457200"/>
            <a:ext cx="351129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صح أم خطأ؟ · ٥ من ٧</a:t>
            </a:r>
            <a:endParaRPr lang="ar-SA" sz="1800" dirty="0"/>
          </a:p>
        </p:txBody>
      </p:sp>
      <p:sp>
        <p:nvSpPr>
          <p:cNvPr id="4" name="Shape 2"/>
          <p:cNvSpPr/>
          <p:nvPr/>
        </p:nvSpPr>
        <p:spPr>
          <a:xfrm>
            <a:off x="822960" y="1371600"/>
            <a:ext cx="10545775" cy="2103120"/>
          </a:xfrm>
          <a:prstGeom prst="roundRect">
            <a:avLst>
              <a:gd name="adj" fmla="val 10870"/>
            </a:avLst>
          </a:prstGeom>
          <a:solidFill>
            <a:srgbClr val="FFFFFF"/>
          </a:solidFill>
          <a:ln w="25400">
            <a:solidFill>
              <a:srgbClr val="E4DCC8"/>
            </a:solidFill>
            <a:prstDash val="solid"/>
          </a:ln>
          <a:effectLst>
            <a:outerShdw sx="100000" sy="100000" kx="0" ky="0" algn="bl" rotWithShape="0" blurRad="152400" dist="38100" dir="5400000">
              <a:srgbClr val="101B45">
                <a:alpha val="8000"/>
              </a:srgbClr>
            </a:outerShdw>
          </a:effectLst>
        </p:spPr>
      </p:sp>
      <p:sp>
        <p:nvSpPr>
          <p:cNvPr id="5" name="Text 3"/>
          <p:cNvSpPr/>
          <p:nvPr/>
        </p:nvSpPr>
        <p:spPr>
          <a:xfrm>
            <a:off x="10454335" y="960120"/>
            <a:ext cx="731520" cy="731520"/>
          </a:xfrm>
          <a:prstGeom prst="rect">
            <a:avLst/>
          </a:prstGeom>
          <a:noFill/>
          <a:ln/>
        </p:spPr>
        <p:txBody>
          <a:bodyPr wrap="square" lIns="0" tIns="0" rIns="0" bIns="0" rtlCol="0" anchor="ctr">
            <a:normAutofit/>
          </a:bodyPr>
          <a:lstStyle/>
          <a:p>
            <a:pPr rtl="1" algn="ctr" indent="0" marL="0">
              <a:buNone/>
            </a:pPr>
            <a:r>
              <a:rPr lang="ar-SA" altLang="en-US" sz="5400" dirty="0">
                <a:solidFill>
                  <a:srgbClr val="D9AE4B"/>
                </a:solidFill>
                <a:latin typeface="Cairo" pitchFamily="34" charset="0"/>
                <a:ea typeface="Cairo" pitchFamily="34" charset="-122"/>
                <a:cs typeface="Cairo" pitchFamily="34" charset="-120"/>
              </a:rPr>
              <a:t>❝</a:t>
            </a:r>
            <a:endParaRPr lang="ar-SA" sz="5400" dirty="0"/>
          </a:p>
        </p:txBody>
      </p:sp>
      <p:sp>
        <p:nvSpPr>
          <p:cNvPr id="6" name="Text 4"/>
          <p:cNvSpPr/>
          <p:nvPr/>
        </p:nvSpPr>
        <p:spPr>
          <a:xfrm>
            <a:off x="1280160" y="1463040"/>
            <a:ext cx="9631375" cy="1920240"/>
          </a:xfrm>
          <a:prstGeom prst="rect">
            <a:avLst/>
          </a:prstGeom>
          <a:noFill/>
          <a:ln/>
        </p:spPr>
        <p:txBody>
          <a:bodyPr wrap="square" lIns="0" tIns="0" rIns="0" bIns="0" rtlCol="0" anchor="ctr">
            <a:normAutofit/>
          </a:bodyPr>
          <a:lstStyle/>
          <a:p>
            <a:pPr rtl="1" algn="r" indent="0" marL="0">
              <a:lnSpc>
                <a:spcPct val="120000"/>
              </a:lnSpc>
              <a:buNone/>
            </a:pPr>
            <a:r>
              <a:rPr lang="ar-SA" altLang="en-US" sz="3200" dirty="0">
                <a:solidFill>
                  <a:srgbClr val="101B45"/>
                </a:solidFill>
                <a:latin typeface="Cairo Black" pitchFamily="34" charset="0"/>
                <a:ea typeface="Cairo Black" pitchFamily="34" charset="-122"/>
                <a:cs typeface="Cairo Black" pitchFamily="34" charset="-120"/>
              </a:rPr>
              <a:t>إذا أظهرت حبي الشديد للطلاب سينضبط الفصل تلقائيًا</a:t>
            </a:r>
            <a:endParaRPr lang="ar-SA" sz="3200" dirty="0"/>
          </a:p>
        </p:txBody>
      </p:sp>
      <p:sp>
        <p:nvSpPr>
          <p:cNvPr id="7" name="anim-g1-155"/>
          <p:cNvSpPr/>
          <p:nvPr/>
        </p:nvSpPr>
        <p:spPr>
          <a:xfrm rot="-600000">
            <a:off x="1005840" y="914400"/>
            <a:ext cx="2651760" cy="914400"/>
          </a:xfrm>
          <a:prstGeom prst="roundRect">
            <a:avLst>
              <a:gd name="adj" fmla="val 15000"/>
            </a:avLst>
          </a:prstGeom>
          <a:solidFill>
            <a:srgbClr val="FFFFFF">
              <a:alpha val="90000"/>
            </a:srgbClr>
          </a:solidFill>
          <a:ln w="63500">
            <a:solidFill>
              <a:srgbClr val="D64545"/>
            </a:solidFill>
            <a:prstDash val="solid"/>
          </a:ln>
        </p:spPr>
      </p:sp>
      <p:sp>
        <p:nvSpPr>
          <p:cNvPr id="8" name="anim-g1-156"/>
          <p:cNvSpPr/>
          <p:nvPr/>
        </p:nvSpPr>
        <p:spPr>
          <a:xfrm rot="-600000">
            <a:off x="1005840" y="914400"/>
            <a:ext cx="2651760" cy="914400"/>
          </a:xfrm>
          <a:prstGeom prst="rect">
            <a:avLst/>
          </a:prstGeom>
          <a:noFill/>
          <a:ln/>
        </p:spPr>
        <p:txBody>
          <a:bodyPr wrap="square" lIns="0" tIns="0" rIns="0" bIns="0" rtlCol="0" anchor="ctr">
            <a:normAutofit/>
          </a:bodyPr>
          <a:lstStyle/>
          <a:p>
            <a:pPr rtl="1" algn="ctr" indent="0" marL="0">
              <a:buNone/>
            </a:pPr>
            <a:r>
              <a:rPr lang="ar-SA" altLang="en-US" sz="4000" dirty="0">
                <a:solidFill>
                  <a:srgbClr val="D64545"/>
                </a:solidFill>
                <a:latin typeface="Cairo Black" pitchFamily="34" charset="0"/>
                <a:ea typeface="Cairo Black" pitchFamily="34" charset="-122"/>
                <a:cs typeface="Cairo Black" pitchFamily="34" charset="-120"/>
              </a:rPr>
              <a:t>✗ خطأ</a:t>
            </a:r>
            <a:endParaRPr lang="ar-SA" sz="4000" dirty="0"/>
          </a:p>
        </p:txBody>
      </p:sp>
      <p:sp>
        <p:nvSpPr>
          <p:cNvPr id="9" name="anim-g2-157"/>
          <p:cNvSpPr/>
          <p:nvPr/>
        </p:nvSpPr>
        <p:spPr>
          <a:xfrm>
            <a:off x="822960" y="3886200"/>
            <a:ext cx="10545775" cy="1828800"/>
          </a:xfrm>
          <a:prstGeom prst="roundRect">
            <a:avLst>
              <a:gd name="adj" fmla="val 11000"/>
            </a:avLst>
          </a:prstGeom>
          <a:solidFill>
            <a:srgbClr val="E6F4EC"/>
          </a:solidFill>
          <a:ln/>
        </p:spPr>
      </p:sp>
      <p:sp>
        <p:nvSpPr>
          <p:cNvPr id="10" name="anim-g2-158"/>
          <p:cNvSpPr/>
          <p:nvPr/>
        </p:nvSpPr>
        <p:spPr>
          <a:xfrm>
            <a:off x="11259007" y="3886200"/>
            <a:ext cx="109728" cy="1828800"/>
          </a:xfrm>
          <a:prstGeom prst="rect">
            <a:avLst/>
          </a:prstGeom>
          <a:solidFill>
            <a:srgbClr val="2E9E6B"/>
          </a:solidFill>
          <a:ln/>
        </p:spPr>
      </p:sp>
      <p:sp>
        <p:nvSpPr>
          <p:cNvPr id="11" name="anim-g2-159"/>
          <p:cNvSpPr/>
          <p:nvPr/>
        </p:nvSpPr>
        <p:spPr>
          <a:xfrm>
            <a:off x="1188720" y="3931920"/>
            <a:ext cx="9722815" cy="1737360"/>
          </a:xfrm>
          <a:prstGeom prst="rect">
            <a:avLst/>
          </a:prstGeom>
          <a:noFill/>
          <a:ln/>
        </p:spPr>
        <p:txBody>
          <a:bodyPr wrap="square" lIns="0" tIns="0" rIns="0" bIns="0" rtlCol="0" anchor="ctr">
            <a:normAutofit/>
          </a:bodyPr>
          <a:lstStyle/>
          <a:p>
            <a:pPr algn="r" indent="0" marL="0">
              <a:lnSpc>
                <a:spcPct val="125000"/>
              </a:lnSpc>
              <a:buNone/>
            </a:pPr>
            <a:r>
              <a:rPr lang="ar-SA" altLang="en-US" sz="2300" b="1" dirty="0">
                <a:solidFill>
                  <a:srgbClr val="2E9E6B"/>
                </a:solidFill>
                <a:latin typeface="Cairo Black" pitchFamily="34" charset="0"/>
                <a:ea typeface="Cairo Black" pitchFamily="34" charset="-122"/>
                <a:cs typeface="Cairo Black" pitchFamily="34" charset="-120"/>
              </a:rPr>
              <a:t>الصحيح: </a:t>
            </a:r>
            <a:pPr algn="r" indent="0" marL="0">
              <a:lnSpc>
                <a:spcPct val="125000"/>
              </a:lnSpc>
              <a:buNone/>
            </a:pPr>
            <a:r>
              <a:rPr lang="ar-SA" altLang="en-US" sz="2300" b="1" dirty="0">
                <a:solidFill>
                  <a:srgbClr val="1D5E40"/>
                </a:solidFill>
                <a:latin typeface="Cairo" pitchFamily="34" charset="0"/>
                <a:ea typeface="Cairo" pitchFamily="34" charset="-122"/>
                <a:cs typeface="Cairo" pitchFamily="34" charset="-120"/>
              </a:rPr>
              <a:t>الحب وحده لا يكفي، والحزم وحده لا يكفي. الطالب يحتاج دفئًا في العلاقة وحزمًا في القاعدة معًا.</a:t>
            </a:r>
            <a:endParaRPr lang="ar-SA" sz="2300" dirty="0"/>
          </a:p>
        </p:txBody>
      </p:sp>
      <p:sp>
        <p:nvSpPr>
          <p:cNvPr id="12" name="Text 1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13" name="Text 1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تصحيح المفاهيم  ·  ٣٠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4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4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57439" y="457200"/>
            <a:ext cx="3511296" cy="457200"/>
          </a:xfrm>
          <a:prstGeom prst="roundRect">
            <a:avLst>
              <a:gd name="adj" fmla="val 50000"/>
            </a:avLst>
          </a:prstGeom>
          <a:solidFill>
            <a:srgbClr val="F6EBCF"/>
          </a:solidFill>
          <a:ln/>
        </p:spPr>
      </p:sp>
      <p:sp>
        <p:nvSpPr>
          <p:cNvPr id="3" name="Text 1"/>
          <p:cNvSpPr/>
          <p:nvPr/>
        </p:nvSpPr>
        <p:spPr>
          <a:xfrm>
            <a:off x="7857439" y="457200"/>
            <a:ext cx="351129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صح أم خطأ؟ · ٦ من ٧</a:t>
            </a:r>
            <a:endParaRPr lang="ar-SA" sz="1800" dirty="0"/>
          </a:p>
        </p:txBody>
      </p:sp>
      <p:sp>
        <p:nvSpPr>
          <p:cNvPr id="4" name="Shape 2"/>
          <p:cNvSpPr/>
          <p:nvPr/>
        </p:nvSpPr>
        <p:spPr>
          <a:xfrm>
            <a:off x="822960" y="1371600"/>
            <a:ext cx="10545775" cy="2103120"/>
          </a:xfrm>
          <a:prstGeom prst="roundRect">
            <a:avLst>
              <a:gd name="adj" fmla="val 10870"/>
            </a:avLst>
          </a:prstGeom>
          <a:solidFill>
            <a:srgbClr val="FFFFFF"/>
          </a:solidFill>
          <a:ln w="25400">
            <a:solidFill>
              <a:srgbClr val="E4DCC8"/>
            </a:solidFill>
            <a:prstDash val="solid"/>
          </a:ln>
          <a:effectLst>
            <a:outerShdw sx="100000" sy="100000" kx="0" ky="0" algn="bl" rotWithShape="0" blurRad="152400" dist="38100" dir="5400000">
              <a:srgbClr val="101B45">
                <a:alpha val="8000"/>
              </a:srgbClr>
            </a:outerShdw>
          </a:effectLst>
        </p:spPr>
      </p:sp>
      <p:sp>
        <p:nvSpPr>
          <p:cNvPr id="5" name="Text 3"/>
          <p:cNvSpPr/>
          <p:nvPr/>
        </p:nvSpPr>
        <p:spPr>
          <a:xfrm>
            <a:off x="10454335" y="960120"/>
            <a:ext cx="731520" cy="731520"/>
          </a:xfrm>
          <a:prstGeom prst="rect">
            <a:avLst/>
          </a:prstGeom>
          <a:noFill/>
          <a:ln/>
        </p:spPr>
        <p:txBody>
          <a:bodyPr wrap="square" lIns="0" tIns="0" rIns="0" bIns="0" rtlCol="0" anchor="ctr">
            <a:normAutofit/>
          </a:bodyPr>
          <a:lstStyle/>
          <a:p>
            <a:pPr rtl="1" algn="ctr" indent="0" marL="0">
              <a:buNone/>
            </a:pPr>
            <a:r>
              <a:rPr lang="ar-SA" altLang="en-US" sz="5400" dirty="0">
                <a:solidFill>
                  <a:srgbClr val="D9AE4B"/>
                </a:solidFill>
                <a:latin typeface="Cairo" pitchFamily="34" charset="0"/>
                <a:ea typeface="Cairo" pitchFamily="34" charset="-122"/>
                <a:cs typeface="Cairo" pitchFamily="34" charset="-120"/>
              </a:rPr>
              <a:t>❝</a:t>
            </a:r>
            <a:endParaRPr lang="ar-SA" sz="5400" dirty="0"/>
          </a:p>
        </p:txBody>
      </p:sp>
      <p:sp>
        <p:nvSpPr>
          <p:cNvPr id="6" name="Text 4"/>
          <p:cNvSpPr/>
          <p:nvPr/>
        </p:nvSpPr>
        <p:spPr>
          <a:xfrm>
            <a:off x="1280160" y="1463040"/>
            <a:ext cx="9631375" cy="1920240"/>
          </a:xfrm>
          <a:prstGeom prst="rect">
            <a:avLst/>
          </a:prstGeom>
          <a:noFill/>
          <a:ln/>
        </p:spPr>
        <p:txBody>
          <a:bodyPr wrap="square" lIns="0" tIns="0" rIns="0" bIns="0" rtlCol="0" anchor="ctr">
            <a:normAutofit/>
          </a:bodyPr>
          <a:lstStyle/>
          <a:p>
            <a:pPr rtl="1" algn="r" indent="0" marL="0">
              <a:lnSpc>
                <a:spcPct val="120000"/>
              </a:lnSpc>
              <a:buNone/>
            </a:pPr>
            <a:r>
              <a:rPr lang="ar-SA" altLang="en-US" sz="3200" dirty="0">
                <a:solidFill>
                  <a:srgbClr val="101B45"/>
                </a:solidFill>
                <a:latin typeface="Cairo Black" pitchFamily="34" charset="0"/>
                <a:ea typeface="Cairo Black" pitchFamily="34" charset="-122"/>
                <a:cs typeface="Cairo Black" pitchFamily="34" charset="-120"/>
              </a:rPr>
              <a:t>إدارة الصف موهبة فطرية… لا تُتعلَّم</a:t>
            </a:r>
            <a:endParaRPr lang="ar-SA" sz="3200" dirty="0"/>
          </a:p>
        </p:txBody>
      </p:sp>
      <p:sp>
        <p:nvSpPr>
          <p:cNvPr id="7" name="anim-g1-160"/>
          <p:cNvSpPr/>
          <p:nvPr/>
        </p:nvSpPr>
        <p:spPr>
          <a:xfrm rot="-600000">
            <a:off x="1005840" y="914400"/>
            <a:ext cx="2651760" cy="914400"/>
          </a:xfrm>
          <a:prstGeom prst="roundRect">
            <a:avLst>
              <a:gd name="adj" fmla="val 15000"/>
            </a:avLst>
          </a:prstGeom>
          <a:solidFill>
            <a:srgbClr val="FFFFFF">
              <a:alpha val="90000"/>
            </a:srgbClr>
          </a:solidFill>
          <a:ln w="63500">
            <a:solidFill>
              <a:srgbClr val="D64545"/>
            </a:solidFill>
            <a:prstDash val="solid"/>
          </a:ln>
        </p:spPr>
      </p:sp>
      <p:sp>
        <p:nvSpPr>
          <p:cNvPr id="8" name="anim-g1-161"/>
          <p:cNvSpPr/>
          <p:nvPr/>
        </p:nvSpPr>
        <p:spPr>
          <a:xfrm rot="-600000">
            <a:off x="1005840" y="914400"/>
            <a:ext cx="2651760" cy="914400"/>
          </a:xfrm>
          <a:prstGeom prst="rect">
            <a:avLst/>
          </a:prstGeom>
          <a:noFill/>
          <a:ln/>
        </p:spPr>
        <p:txBody>
          <a:bodyPr wrap="square" lIns="0" tIns="0" rIns="0" bIns="0" rtlCol="0" anchor="ctr">
            <a:normAutofit/>
          </a:bodyPr>
          <a:lstStyle/>
          <a:p>
            <a:pPr rtl="1" algn="ctr" indent="0" marL="0">
              <a:buNone/>
            </a:pPr>
            <a:r>
              <a:rPr lang="ar-SA" altLang="en-US" sz="4000" dirty="0">
                <a:solidFill>
                  <a:srgbClr val="D64545"/>
                </a:solidFill>
                <a:latin typeface="Cairo Black" pitchFamily="34" charset="0"/>
                <a:ea typeface="Cairo Black" pitchFamily="34" charset="-122"/>
                <a:cs typeface="Cairo Black" pitchFamily="34" charset="-120"/>
              </a:rPr>
              <a:t>✗ خطأ</a:t>
            </a:r>
            <a:endParaRPr lang="ar-SA" sz="4000" dirty="0"/>
          </a:p>
        </p:txBody>
      </p:sp>
      <p:sp>
        <p:nvSpPr>
          <p:cNvPr id="9" name="anim-g2-162"/>
          <p:cNvSpPr/>
          <p:nvPr/>
        </p:nvSpPr>
        <p:spPr>
          <a:xfrm>
            <a:off x="822960" y="3886200"/>
            <a:ext cx="10545775" cy="1828800"/>
          </a:xfrm>
          <a:prstGeom prst="roundRect">
            <a:avLst>
              <a:gd name="adj" fmla="val 11000"/>
            </a:avLst>
          </a:prstGeom>
          <a:solidFill>
            <a:srgbClr val="E6F4EC"/>
          </a:solidFill>
          <a:ln/>
        </p:spPr>
      </p:sp>
      <p:sp>
        <p:nvSpPr>
          <p:cNvPr id="10" name="anim-g2-163"/>
          <p:cNvSpPr/>
          <p:nvPr/>
        </p:nvSpPr>
        <p:spPr>
          <a:xfrm>
            <a:off x="11259007" y="3886200"/>
            <a:ext cx="109728" cy="1828800"/>
          </a:xfrm>
          <a:prstGeom prst="rect">
            <a:avLst/>
          </a:prstGeom>
          <a:solidFill>
            <a:srgbClr val="2E9E6B"/>
          </a:solidFill>
          <a:ln/>
        </p:spPr>
      </p:sp>
      <p:sp>
        <p:nvSpPr>
          <p:cNvPr id="11" name="anim-g2-164"/>
          <p:cNvSpPr/>
          <p:nvPr/>
        </p:nvSpPr>
        <p:spPr>
          <a:xfrm>
            <a:off x="1188720" y="3931920"/>
            <a:ext cx="9722815" cy="1737360"/>
          </a:xfrm>
          <a:prstGeom prst="rect">
            <a:avLst/>
          </a:prstGeom>
          <a:noFill/>
          <a:ln/>
        </p:spPr>
        <p:txBody>
          <a:bodyPr wrap="square" lIns="0" tIns="0" rIns="0" bIns="0" rtlCol="0" anchor="ctr">
            <a:normAutofit/>
          </a:bodyPr>
          <a:lstStyle/>
          <a:p>
            <a:pPr algn="r" indent="0" marL="0">
              <a:lnSpc>
                <a:spcPct val="125000"/>
              </a:lnSpc>
              <a:buNone/>
            </a:pPr>
            <a:r>
              <a:rPr lang="ar-SA" altLang="en-US" sz="2300" b="1" dirty="0">
                <a:solidFill>
                  <a:srgbClr val="2E9E6B"/>
                </a:solidFill>
                <a:latin typeface="Cairo Black" pitchFamily="34" charset="0"/>
                <a:ea typeface="Cairo Black" pitchFamily="34" charset="-122"/>
                <a:cs typeface="Cairo Black" pitchFamily="34" charset="-120"/>
              </a:rPr>
              <a:t>الصحيح: </a:t>
            </a:r>
            <a:pPr algn="r" indent="0" marL="0">
              <a:lnSpc>
                <a:spcPct val="125000"/>
              </a:lnSpc>
              <a:buNone/>
            </a:pPr>
            <a:r>
              <a:rPr lang="ar-SA" altLang="en-US" sz="2300" b="1" dirty="0">
                <a:solidFill>
                  <a:srgbClr val="1D5E40"/>
                </a:solidFill>
                <a:latin typeface="Cairo" pitchFamily="34" charset="0"/>
                <a:ea typeface="Cairo" pitchFamily="34" charset="-122"/>
                <a:cs typeface="Cairo" pitchFamily="34" charset="-120"/>
              </a:rPr>
              <a:t>إدارة الصف مهارات قابلة للتعلم والتدريب مثل أي مهارة. كل معلم قادر على التحسن.</a:t>
            </a:r>
            <a:endParaRPr lang="ar-SA" sz="2300" dirty="0"/>
          </a:p>
        </p:txBody>
      </p:sp>
      <p:sp>
        <p:nvSpPr>
          <p:cNvPr id="12" name="Text 1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13" name="Text 1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تصحيح المفاهيم  ·  ٣١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4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4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57439" y="457200"/>
            <a:ext cx="3511296" cy="457200"/>
          </a:xfrm>
          <a:prstGeom prst="roundRect">
            <a:avLst>
              <a:gd name="adj" fmla="val 50000"/>
            </a:avLst>
          </a:prstGeom>
          <a:solidFill>
            <a:srgbClr val="F6EBCF"/>
          </a:solidFill>
          <a:ln/>
        </p:spPr>
      </p:sp>
      <p:sp>
        <p:nvSpPr>
          <p:cNvPr id="3" name="Text 1"/>
          <p:cNvSpPr/>
          <p:nvPr/>
        </p:nvSpPr>
        <p:spPr>
          <a:xfrm>
            <a:off x="7857439" y="457200"/>
            <a:ext cx="351129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صح أم خطأ؟ · ٧ من ٧</a:t>
            </a:r>
            <a:endParaRPr lang="ar-SA" sz="1800" dirty="0"/>
          </a:p>
        </p:txBody>
      </p:sp>
      <p:sp>
        <p:nvSpPr>
          <p:cNvPr id="4" name="Shape 2"/>
          <p:cNvSpPr/>
          <p:nvPr/>
        </p:nvSpPr>
        <p:spPr>
          <a:xfrm>
            <a:off x="822960" y="1371600"/>
            <a:ext cx="10545775" cy="2103120"/>
          </a:xfrm>
          <a:prstGeom prst="roundRect">
            <a:avLst>
              <a:gd name="adj" fmla="val 10870"/>
            </a:avLst>
          </a:prstGeom>
          <a:solidFill>
            <a:srgbClr val="FFFFFF"/>
          </a:solidFill>
          <a:ln w="25400">
            <a:solidFill>
              <a:srgbClr val="E4DCC8"/>
            </a:solidFill>
            <a:prstDash val="solid"/>
          </a:ln>
          <a:effectLst>
            <a:outerShdw sx="100000" sy="100000" kx="0" ky="0" algn="bl" rotWithShape="0" blurRad="152400" dist="38100" dir="5400000">
              <a:srgbClr val="101B45">
                <a:alpha val="8000"/>
              </a:srgbClr>
            </a:outerShdw>
          </a:effectLst>
        </p:spPr>
      </p:sp>
      <p:sp>
        <p:nvSpPr>
          <p:cNvPr id="5" name="Text 3"/>
          <p:cNvSpPr/>
          <p:nvPr/>
        </p:nvSpPr>
        <p:spPr>
          <a:xfrm>
            <a:off x="10454335" y="960120"/>
            <a:ext cx="731520" cy="731520"/>
          </a:xfrm>
          <a:prstGeom prst="rect">
            <a:avLst/>
          </a:prstGeom>
          <a:noFill/>
          <a:ln/>
        </p:spPr>
        <p:txBody>
          <a:bodyPr wrap="square" lIns="0" tIns="0" rIns="0" bIns="0" rtlCol="0" anchor="ctr">
            <a:normAutofit/>
          </a:bodyPr>
          <a:lstStyle/>
          <a:p>
            <a:pPr rtl="1" algn="ctr" indent="0" marL="0">
              <a:buNone/>
            </a:pPr>
            <a:r>
              <a:rPr lang="ar-SA" altLang="en-US" sz="5400" dirty="0">
                <a:solidFill>
                  <a:srgbClr val="D9AE4B"/>
                </a:solidFill>
                <a:latin typeface="Cairo" pitchFamily="34" charset="0"/>
                <a:ea typeface="Cairo" pitchFamily="34" charset="-122"/>
                <a:cs typeface="Cairo" pitchFamily="34" charset="-120"/>
              </a:rPr>
              <a:t>❝</a:t>
            </a:r>
            <a:endParaRPr lang="ar-SA" sz="5400" dirty="0"/>
          </a:p>
        </p:txBody>
      </p:sp>
      <p:sp>
        <p:nvSpPr>
          <p:cNvPr id="6" name="Text 4"/>
          <p:cNvSpPr/>
          <p:nvPr/>
        </p:nvSpPr>
        <p:spPr>
          <a:xfrm>
            <a:off x="1280160" y="1463040"/>
            <a:ext cx="9631375" cy="1920240"/>
          </a:xfrm>
          <a:prstGeom prst="rect">
            <a:avLst/>
          </a:prstGeom>
          <a:noFill/>
          <a:ln/>
        </p:spPr>
        <p:txBody>
          <a:bodyPr wrap="square" lIns="0" tIns="0" rIns="0" bIns="0" rtlCol="0" anchor="ctr">
            <a:normAutofit/>
          </a:bodyPr>
          <a:lstStyle/>
          <a:p>
            <a:pPr rtl="1" algn="r" indent="0" marL="0">
              <a:lnSpc>
                <a:spcPct val="120000"/>
              </a:lnSpc>
              <a:buNone/>
            </a:pPr>
            <a:r>
              <a:rPr lang="ar-SA" altLang="en-US" sz="3200" dirty="0">
                <a:solidFill>
                  <a:srgbClr val="101B45"/>
                </a:solidFill>
                <a:latin typeface="Cairo Black" pitchFamily="34" charset="0"/>
                <a:ea typeface="Cairo Black" pitchFamily="34" charset="-122"/>
                <a:cs typeface="Cairo Black" pitchFamily="34" charset="-120"/>
              </a:rPr>
              <a:t>التخلص من الطالب المشاغب يحل مشكلات الفصل</a:t>
            </a:r>
            <a:endParaRPr lang="ar-SA" sz="3200" dirty="0"/>
          </a:p>
        </p:txBody>
      </p:sp>
      <p:sp>
        <p:nvSpPr>
          <p:cNvPr id="7" name="anim-g1-165"/>
          <p:cNvSpPr/>
          <p:nvPr/>
        </p:nvSpPr>
        <p:spPr>
          <a:xfrm rot="-600000">
            <a:off x="1005840" y="914400"/>
            <a:ext cx="2651760" cy="914400"/>
          </a:xfrm>
          <a:prstGeom prst="roundRect">
            <a:avLst>
              <a:gd name="adj" fmla="val 15000"/>
            </a:avLst>
          </a:prstGeom>
          <a:solidFill>
            <a:srgbClr val="FFFFFF">
              <a:alpha val="90000"/>
            </a:srgbClr>
          </a:solidFill>
          <a:ln w="63500">
            <a:solidFill>
              <a:srgbClr val="D64545"/>
            </a:solidFill>
            <a:prstDash val="solid"/>
          </a:ln>
        </p:spPr>
      </p:sp>
      <p:sp>
        <p:nvSpPr>
          <p:cNvPr id="8" name="anim-g1-166"/>
          <p:cNvSpPr/>
          <p:nvPr/>
        </p:nvSpPr>
        <p:spPr>
          <a:xfrm rot="-600000">
            <a:off x="1005840" y="914400"/>
            <a:ext cx="2651760" cy="914400"/>
          </a:xfrm>
          <a:prstGeom prst="rect">
            <a:avLst/>
          </a:prstGeom>
          <a:noFill/>
          <a:ln/>
        </p:spPr>
        <p:txBody>
          <a:bodyPr wrap="square" lIns="0" tIns="0" rIns="0" bIns="0" rtlCol="0" anchor="ctr">
            <a:normAutofit/>
          </a:bodyPr>
          <a:lstStyle/>
          <a:p>
            <a:pPr rtl="1" algn="ctr" indent="0" marL="0">
              <a:buNone/>
            </a:pPr>
            <a:r>
              <a:rPr lang="ar-SA" altLang="en-US" sz="4000" dirty="0">
                <a:solidFill>
                  <a:srgbClr val="D64545"/>
                </a:solidFill>
                <a:latin typeface="Cairo Black" pitchFamily="34" charset="0"/>
                <a:ea typeface="Cairo Black" pitchFamily="34" charset="-122"/>
                <a:cs typeface="Cairo Black" pitchFamily="34" charset="-120"/>
              </a:rPr>
              <a:t>✗ خطأ</a:t>
            </a:r>
            <a:endParaRPr lang="ar-SA" sz="4000" dirty="0"/>
          </a:p>
        </p:txBody>
      </p:sp>
      <p:sp>
        <p:nvSpPr>
          <p:cNvPr id="9" name="anim-g2-167"/>
          <p:cNvSpPr/>
          <p:nvPr/>
        </p:nvSpPr>
        <p:spPr>
          <a:xfrm>
            <a:off x="822960" y="3886200"/>
            <a:ext cx="10545775" cy="1828800"/>
          </a:xfrm>
          <a:prstGeom prst="roundRect">
            <a:avLst>
              <a:gd name="adj" fmla="val 11000"/>
            </a:avLst>
          </a:prstGeom>
          <a:solidFill>
            <a:srgbClr val="E6F4EC"/>
          </a:solidFill>
          <a:ln/>
        </p:spPr>
      </p:sp>
      <p:sp>
        <p:nvSpPr>
          <p:cNvPr id="10" name="anim-g2-168"/>
          <p:cNvSpPr/>
          <p:nvPr/>
        </p:nvSpPr>
        <p:spPr>
          <a:xfrm>
            <a:off x="11259007" y="3886200"/>
            <a:ext cx="109728" cy="1828800"/>
          </a:xfrm>
          <a:prstGeom prst="rect">
            <a:avLst/>
          </a:prstGeom>
          <a:solidFill>
            <a:srgbClr val="2E9E6B"/>
          </a:solidFill>
          <a:ln/>
        </p:spPr>
      </p:sp>
      <p:sp>
        <p:nvSpPr>
          <p:cNvPr id="11" name="anim-g2-169"/>
          <p:cNvSpPr/>
          <p:nvPr/>
        </p:nvSpPr>
        <p:spPr>
          <a:xfrm>
            <a:off x="1188720" y="3931920"/>
            <a:ext cx="9722815" cy="1737360"/>
          </a:xfrm>
          <a:prstGeom prst="rect">
            <a:avLst/>
          </a:prstGeom>
          <a:noFill/>
          <a:ln/>
        </p:spPr>
        <p:txBody>
          <a:bodyPr wrap="square" lIns="0" tIns="0" rIns="0" bIns="0" rtlCol="0" anchor="ctr">
            <a:normAutofit/>
          </a:bodyPr>
          <a:lstStyle/>
          <a:p>
            <a:pPr algn="r" indent="0" marL="0">
              <a:lnSpc>
                <a:spcPct val="125000"/>
              </a:lnSpc>
              <a:buNone/>
            </a:pPr>
            <a:r>
              <a:rPr lang="ar-SA" altLang="en-US" sz="2300" b="1" dirty="0">
                <a:solidFill>
                  <a:srgbClr val="2E9E6B"/>
                </a:solidFill>
                <a:latin typeface="Cairo Black" pitchFamily="34" charset="0"/>
                <a:ea typeface="Cairo Black" pitchFamily="34" charset="-122"/>
                <a:cs typeface="Cairo Black" pitchFamily="34" charset="-120"/>
              </a:rPr>
              <a:t>الصحيح: </a:t>
            </a:r>
            <a:pPr algn="r" indent="0" marL="0">
              <a:lnSpc>
                <a:spcPct val="125000"/>
              </a:lnSpc>
              <a:buNone/>
            </a:pPr>
            <a:r>
              <a:rPr lang="ar-SA" altLang="en-US" sz="2300" b="1" dirty="0">
                <a:solidFill>
                  <a:srgbClr val="1D5E40"/>
                </a:solidFill>
                <a:latin typeface="Cairo" pitchFamily="34" charset="0"/>
                <a:ea typeface="Cairo" pitchFamily="34" charset="-122"/>
                <a:cs typeface="Cairo" pitchFamily="34" charset="-120"/>
              </a:rPr>
              <a:t>إخراجه يصدّر المشكلة للوكيل أو لفصل آخر. ابذل جهدًا حقيقيًا معه قبل اللجوء إلى الإدارة.</a:t>
            </a:r>
            <a:endParaRPr lang="ar-SA" sz="2300" dirty="0"/>
          </a:p>
        </p:txBody>
      </p:sp>
      <p:sp>
        <p:nvSpPr>
          <p:cNvPr id="12" name="Text 1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13" name="Text 1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تصحيح المفاهيم  ·  ٣٢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4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4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المحطة</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كل العبارات السبع خاطئة…</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وكلها قيلت في غرفة المعلمين يومًا ما</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تصحيح المفاهيم  ·  ٣٣</a:t>
            </a:r>
            <a:endParaRPr lang="ar-SA"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٤</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المحطة ٤</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صندوق أدوات المعلم</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ست أدوات ستستخدمها في كل موقف من مواقف الدورة</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صندوق أدوات المعلم  ·  ٣٤</a:t>
            </a:r>
            <a:endParaRPr lang="ar-SA"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931359" y="457200"/>
            <a:ext cx="6437376" cy="457200"/>
          </a:xfrm>
          <a:prstGeom prst="roundRect">
            <a:avLst>
              <a:gd name="adj" fmla="val 50000"/>
            </a:avLst>
          </a:prstGeom>
          <a:solidFill>
            <a:srgbClr val="F6EBCF"/>
          </a:solidFill>
          <a:ln/>
        </p:spPr>
      </p:sp>
      <p:sp>
        <p:nvSpPr>
          <p:cNvPr id="3" name="Text 1"/>
          <p:cNvSpPr/>
          <p:nvPr/>
        </p:nvSpPr>
        <p:spPr>
          <a:xfrm>
            <a:off x="4931359" y="457200"/>
            <a:ext cx="643737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الأداة ١ · اقرأ ما وراء السلوك (١ من ٢)</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لماذا يسيء الطالب؟ أربعة أهداف خفية</a:t>
            </a:r>
            <a:endParaRPr lang="ar-SA" sz="3200" dirty="0"/>
          </a:p>
        </p:txBody>
      </p:sp>
      <p:sp>
        <p:nvSpPr>
          <p:cNvPr id="5" name="Shape 3"/>
          <p:cNvSpPr/>
          <p:nvPr/>
        </p:nvSpPr>
        <p:spPr>
          <a:xfrm>
            <a:off x="9098382" y="1874520"/>
            <a:ext cx="2270354" cy="548640"/>
          </a:xfrm>
          <a:prstGeom prst="roundRect">
            <a:avLst>
              <a:gd name="adj" fmla="val 20000"/>
            </a:avLst>
          </a:prstGeom>
          <a:solidFill>
            <a:srgbClr val="101B45"/>
          </a:solidFill>
          <a:ln/>
        </p:spPr>
      </p:sp>
      <p:sp>
        <p:nvSpPr>
          <p:cNvPr id="6" name="Text 4"/>
          <p:cNvSpPr/>
          <p:nvPr/>
        </p:nvSpPr>
        <p:spPr>
          <a:xfrm>
            <a:off x="9098382" y="1874520"/>
            <a:ext cx="2270354"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ما يريده الطالب</a:t>
            </a:r>
            <a:endParaRPr lang="ar-SA" sz="1900" dirty="0"/>
          </a:p>
        </p:txBody>
      </p:sp>
      <p:sp>
        <p:nvSpPr>
          <p:cNvPr id="7" name="Shape 5"/>
          <p:cNvSpPr/>
          <p:nvPr/>
        </p:nvSpPr>
        <p:spPr>
          <a:xfrm>
            <a:off x="6945335" y="1874520"/>
            <a:ext cx="2043318" cy="548640"/>
          </a:xfrm>
          <a:prstGeom prst="roundRect">
            <a:avLst>
              <a:gd name="adj" fmla="val 20000"/>
            </a:avLst>
          </a:prstGeom>
          <a:solidFill>
            <a:srgbClr val="101B45"/>
          </a:solidFill>
          <a:ln/>
        </p:spPr>
      </p:sp>
      <p:sp>
        <p:nvSpPr>
          <p:cNvPr id="8" name="Text 6"/>
          <p:cNvSpPr/>
          <p:nvPr/>
        </p:nvSpPr>
        <p:spPr>
          <a:xfrm>
            <a:off x="6945335" y="1874520"/>
            <a:ext cx="2043318"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ماذا تشعر أنت؟</a:t>
            </a:r>
            <a:endParaRPr lang="ar-SA" sz="1900" dirty="0"/>
          </a:p>
        </p:txBody>
      </p:sp>
      <p:sp>
        <p:nvSpPr>
          <p:cNvPr id="9" name="Shape 7"/>
          <p:cNvSpPr/>
          <p:nvPr/>
        </p:nvSpPr>
        <p:spPr>
          <a:xfrm>
            <a:off x="4338218" y="1874520"/>
            <a:ext cx="2497389" cy="548640"/>
          </a:xfrm>
          <a:prstGeom prst="roundRect">
            <a:avLst>
              <a:gd name="adj" fmla="val 20000"/>
            </a:avLst>
          </a:prstGeom>
          <a:solidFill>
            <a:srgbClr val="101B45"/>
          </a:solidFill>
          <a:ln/>
        </p:spPr>
      </p:sp>
      <p:sp>
        <p:nvSpPr>
          <p:cNvPr id="10" name="Text 8"/>
          <p:cNvSpPr/>
          <p:nvPr/>
        </p:nvSpPr>
        <p:spPr>
          <a:xfrm>
            <a:off x="4338218" y="1874520"/>
            <a:ext cx="2497389"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ردّ الفعل الخاطئ</a:t>
            </a:r>
            <a:endParaRPr lang="ar-SA" sz="1900" dirty="0"/>
          </a:p>
        </p:txBody>
      </p:sp>
      <p:sp>
        <p:nvSpPr>
          <p:cNvPr id="11" name="Shape 9"/>
          <p:cNvSpPr/>
          <p:nvPr/>
        </p:nvSpPr>
        <p:spPr>
          <a:xfrm>
            <a:off x="822960" y="1874520"/>
            <a:ext cx="3405530" cy="548640"/>
          </a:xfrm>
          <a:prstGeom prst="roundRect">
            <a:avLst>
              <a:gd name="adj" fmla="val 20000"/>
            </a:avLst>
          </a:prstGeom>
          <a:solidFill>
            <a:srgbClr val="101B45"/>
          </a:solidFill>
          <a:ln/>
        </p:spPr>
      </p:sp>
      <p:sp>
        <p:nvSpPr>
          <p:cNvPr id="12" name="Text 10"/>
          <p:cNvSpPr/>
          <p:nvPr/>
        </p:nvSpPr>
        <p:spPr>
          <a:xfrm>
            <a:off x="822960" y="1874520"/>
            <a:ext cx="3405530"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التصرف الصحيح</a:t>
            </a:r>
            <a:endParaRPr lang="ar-SA" sz="1900" dirty="0"/>
          </a:p>
        </p:txBody>
      </p:sp>
      <p:sp>
        <p:nvSpPr>
          <p:cNvPr id="13" name="anim-g1-170"/>
          <p:cNvSpPr/>
          <p:nvPr/>
        </p:nvSpPr>
        <p:spPr>
          <a:xfrm>
            <a:off x="9098382" y="2514600"/>
            <a:ext cx="2270354" cy="1234440"/>
          </a:xfrm>
          <a:prstGeom prst="roundRect">
            <a:avLst>
              <a:gd name="adj" fmla="val 8889"/>
            </a:avLst>
          </a:prstGeom>
          <a:solidFill>
            <a:srgbClr val="FBF3DF"/>
          </a:solidFill>
          <a:ln w="12700">
            <a:solidFill>
              <a:srgbClr val="EFDDAF"/>
            </a:solidFill>
            <a:prstDash val="solid"/>
          </a:ln>
        </p:spPr>
      </p:sp>
      <p:sp>
        <p:nvSpPr>
          <p:cNvPr id="14" name="anim-g1-171"/>
          <p:cNvSpPr/>
          <p:nvPr/>
        </p:nvSpPr>
        <p:spPr>
          <a:xfrm>
            <a:off x="9235542" y="2514600"/>
            <a:ext cx="1996034" cy="1234440"/>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لفت الانتباه</a:t>
            </a:r>
            <a:endParaRPr lang="ar-SA" sz="2100" dirty="0"/>
          </a:p>
        </p:txBody>
      </p:sp>
      <p:sp>
        <p:nvSpPr>
          <p:cNvPr id="15" name="anim-g1-172"/>
          <p:cNvSpPr/>
          <p:nvPr/>
        </p:nvSpPr>
        <p:spPr>
          <a:xfrm>
            <a:off x="6945335" y="2514600"/>
            <a:ext cx="2043318" cy="1234440"/>
          </a:xfrm>
          <a:prstGeom prst="roundRect">
            <a:avLst>
              <a:gd name="adj" fmla="val 8889"/>
            </a:avLst>
          </a:prstGeom>
          <a:solidFill>
            <a:srgbClr val="FFFFFF"/>
          </a:solidFill>
          <a:ln w="12700">
            <a:solidFill>
              <a:srgbClr val="E4DCC8"/>
            </a:solidFill>
            <a:prstDash val="solid"/>
          </a:ln>
        </p:spPr>
      </p:sp>
      <p:sp>
        <p:nvSpPr>
          <p:cNvPr id="16" name="anim-g1-173"/>
          <p:cNvSpPr/>
          <p:nvPr/>
        </p:nvSpPr>
        <p:spPr>
          <a:xfrm>
            <a:off x="7082495" y="2514600"/>
            <a:ext cx="1768998" cy="1234440"/>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انزعاج وضيق</a:t>
            </a:r>
            <a:endParaRPr lang="ar-SA" sz="2100" dirty="0"/>
          </a:p>
        </p:txBody>
      </p:sp>
      <p:sp>
        <p:nvSpPr>
          <p:cNvPr id="17" name="anim-g1-174"/>
          <p:cNvSpPr/>
          <p:nvPr/>
        </p:nvSpPr>
        <p:spPr>
          <a:xfrm>
            <a:off x="4338218" y="2514600"/>
            <a:ext cx="2497389" cy="1234440"/>
          </a:xfrm>
          <a:prstGeom prst="roundRect">
            <a:avLst>
              <a:gd name="adj" fmla="val 8889"/>
            </a:avLst>
          </a:prstGeom>
          <a:solidFill>
            <a:srgbClr val="FFFFFF"/>
          </a:solidFill>
          <a:ln w="12700">
            <a:solidFill>
              <a:srgbClr val="E4DCC8"/>
            </a:solidFill>
            <a:prstDash val="solid"/>
          </a:ln>
        </p:spPr>
      </p:sp>
      <p:sp>
        <p:nvSpPr>
          <p:cNvPr id="18" name="anim-g1-175"/>
          <p:cNvSpPr/>
          <p:nvPr/>
        </p:nvSpPr>
        <p:spPr>
          <a:xfrm>
            <a:off x="4475378" y="2514600"/>
            <a:ext cx="2223069" cy="1234440"/>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التوبيخ المتكرر</a:t>
            </a:r>
            <a:endParaRPr lang="ar-SA" sz="2100" dirty="0"/>
          </a:p>
        </p:txBody>
      </p:sp>
      <p:sp>
        <p:nvSpPr>
          <p:cNvPr id="19" name="anim-g1-176"/>
          <p:cNvSpPr/>
          <p:nvPr/>
        </p:nvSpPr>
        <p:spPr>
          <a:xfrm>
            <a:off x="822960" y="2514600"/>
            <a:ext cx="3405530" cy="1234440"/>
          </a:xfrm>
          <a:prstGeom prst="roundRect">
            <a:avLst>
              <a:gd name="adj" fmla="val 8889"/>
            </a:avLst>
          </a:prstGeom>
          <a:solidFill>
            <a:srgbClr val="E6F4EC"/>
          </a:solidFill>
          <a:ln w="12700">
            <a:solidFill>
              <a:srgbClr val="CDE9D9"/>
            </a:solidFill>
            <a:prstDash val="solid"/>
          </a:ln>
        </p:spPr>
      </p:sp>
      <p:sp>
        <p:nvSpPr>
          <p:cNvPr id="20" name="anim-g1-177"/>
          <p:cNvSpPr/>
          <p:nvPr/>
        </p:nvSpPr>
        <p:spPr>
          <a:xfrm>
            <a:off x="960120" y="2514600"/>
            <a:ext cx="3131210" cy="1234440"/>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انتباه للسلوك الجيد فقط، ومهمة لها قيمة</a:t>
            </a:r>
            <a:endParaRPr lang="ar-SA" sz="2100" dirty="0"/>
          </a:p>
        </p:txBody>
      </p:sp>
      <p:sp>
        <p:nvSpPr>
          <p:cNvPr id="21" name="anim-g2-178"/>
          <p:cNvSpPr/>
          <p:nvPr/>
        </p:nvSpPr>
        <p:spPr>
          <a:xfrm>
            <a:off x="9098382" y="3858768"/>
            <a:ext cx="2270354" cy="1234440"/>
          </a:xfrm>
          <a:prstGeom prst="roundRect">
            <a:avLst>
              <a:gd name="adj" fmla="val 8889"/>
            </a:avLst>
          </a:prstGeom>
          <a:solidFill>
            <a:srgbClr val="FBF3DF"/>
          </a:solidFill>
          <a:ln w="12700">
            <a:solidFill>
              <a:srgbClr val="EFDDAF"/>
            </a:solidFill>
            <a:prstDash val="solid"/>
          </a:ln>
        </p:spPr>
      </p:sp>
      <p:sp>
        <p:nvSpPr>
          <p:cNvPr id="22" name="anim-g2-179"/>
          <p:cNvSpPr/>
          <p:nvPr/>
        </p:nvSpPr>
        <p:spPr>
          <a:xfrm>
            <a:off x="9235542" y="3858768"/>
            <a:ext cx="1996034" cy="1234440"/>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إثبات القوة</a:t>
            </a:r>
            <a:endParaRPr lang="ar-SA" sz="2100" dirty="0"/>
          </a:p>
        </p:txBody>
      </p:sp>
      <p:sp>
        <p:nvSpPr>
          <p:cNvPr id="23" name="anim-g2-180"/>
          <p:cNvSpPr/>
          <p:nvPr/>
        </p:nvSpPr>
        <p:spPr>
          <a:xfrm>
            <a:off x="6945335" y="3858768"/>
            <a:ext cx="2043318" cy="1234440"/>
          </a:xfrm>
          <a:prstGeom prst="roundRect">
            <a:avLst>
              <a:gd name="adj" fmla="val 8889"/>
            </a:avLst>
          </a:prstGeom>
          <a:solidFill>
            <a:srgbClr val="FFFFFF"/>
          </a:solidFill>
          <a:ln w="12700">
            <a:solidFill>
              <a:srgbClr val="E4DCC8"/>
            </a:solidFill>
            <a:prstDash val="solid"/>
          </a:ln>
        </p:spPr>
      </p:sp>
      <p:sp>
        <p:nvSpPr>
          <p:cNvPr id="24" name="anim-g2-181"/>
          <p:cNvSpPr/>
          <p:nvPr/>
        </p:nvSpPr>
        <p:spPr>
          <a:xfrm>
            <a:off x="7082495" y="3858768"/>
            <a:ext cx="1768998" cy="1234440"/>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غضب وتحدٍّ</a:t>
            </a:r>
            <a:endParaRPr lang="ar-SA" sz="2100" dirty="0"/>
          </a:p>
        </p:txBody>
      </p:sp>
      <p:sp>
        <p:nvSpPr>
          <p:cNvPr id="25" name="anim-g2-182"/>
          <p:cNvSpPr/>
          <p:nvPr/>
        </p:nvSpPr>
        <p:spPr>
          <a:xfrm>
            <a:off x="4338218" y="3858768"/>
            <a:ext cx="2497389" cy="1234440"/>
          </a:xfrm>
          <a:prstGeom prst="roundRect">
            <a:avLst>
              <a:gd name="adj" fmla="val 8889"/>
            </a:avLst>
          </a:prstGeom>
          <a:solidFill>
            <a:srgbClr val="FFFFFF"/>
          </a:solidFill>
          <a:ln w="12700">
            <a:solidFill>
              <a:srgbClr val="E4DCC8"/>
            </a:solidFill>
            <a:prstDash val="solid"/>
          </a:ln>
        </p:spPr>
      </p:sp>
      <p:sp>
        <p:nvSpPr>
          <p:cNvPr id="26" name="anim-g2-183"/>
          <p:cNvSpPr/>
          <p:nvPr/>
        </p:nvSpPr>
        <p:spPr>
          <a:xfrm>
            <a:off x="4475378" y="3858768"/>
            <a:ext cx="2223069" cy="1234440"/>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الجدال أمام الجميع</a:t>
            </a:r>
            <a:endParaRPr lang="ar-SA" sz="2100" dirty="0"/>
          </a:p>
        </p:txBody>
      </p:sp>
      <p:sp>
        <p:nvSpPr>
          <p:cNvPr id="27" name="anim-g2-184"/>
          <p:cNvSpPr/>
          <p:nvPr/>
        </p:nvSpPr>
        <p:spPr>
          <a:xfrm>
            <a:off x="822960" y="3858768"/>
            <a:ext cx="3405530" cy="1234440"/>
          </a:xfrm>
          <a:prstGeom prst="roundRect">
            <a:avLst>
              <a:gd name="adj" fmla="val 8889"/>
            </a:avLst>
          </a:prstGeom>
          <a:solidFill>
            <a:srgbClr val="E6F4EC"/>
          </a:solidFill>
          <a:ln w="12700">
            <a:solidFill>
              <a:srgbClr val="CDE9D9"/>
            </a:solidFill>
            <a:prstDash val="solid"/>
          </a:ln>
        </p:spPr>
      </p:sp>
      <p:sp>
        <p:nvSpPr>
          <p:cNvPr id="28" name="anim-g2-185"/>
          <p:cNvSpPr/>
          <p:nvPr/>
        </p:nvSpPr>
        <p:spPr>
          <a:xfrm>
            <a:off x="960120" y="3858768"/>
            <a:ext cx="3131210" cy="1234440"/>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لا صراع علني، وخياران محددان، وقيادة بحدود</a:t>
            </a:r>
            <a:endParaRPr lang="ar-SA" sz="2100" dirty="0"/>
          </a:p>
        </p:txBody>
      </p:sp>
      <p:sp>
        <p:nvSpPr>
          <p:cNvPr id="29" name="Text 27"/>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30" name="Text 28"/>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صندوق أدوات المعلم  ·  ٣٥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4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4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40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400"/>
                                        <p:tgtEl>
                                          <p:spTgt spid="1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400"/>
                                        <p:tgtEl>
                                          <p:spTgt spid="2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400"/>
                                        <p:tgtEl>
                                          <p:spTgt spid="2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400"/>
                                        <p:tgtEl>
                                          <p:spTgt spid="2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400"/>
                                        <p:tgtEl>
                                          <p:spTgt spid="2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400"/>
                                        <p:tgtEl>
                                          <p:spTgt spid="2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400"/>
                                        <p:tgtEl>
                                          <p:spTgt spid="2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7"/>
                                        </p:tgtEl>
                                        <p:attrNameLst>
                                          <p:attrName>style.visibility</p:attrName>
                                        </p:attrNameLst>
                                      </p:cBhvr>
                                      <p:to>
                                        <p:strVal val="visible"/>
                                      </p:to>
                                    </p:set>
                                    <p:animEffect transition="in" filter="fade">
                                      <p:cBhvr>
                                        <p:cTn id="51" dur="400"/>
                                        <p:tgtEl>
                                          <p:spTgt spid="2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fade">
                                      <p:cBhvr>
                                        <p:cTn id="54"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931359" y="457200"/>
            <a:ext cx="6437376" cy="457200"/>
          </a:xfrm>
          <a:prstGeom prst="roundRect">
            <a:avLst>
              <a:gd name="adj" fmla="val 50000"/>
            </a:avLst>
          </a:prstGeom>
          <a:solidFill>
            <a:srgbClr val="F6EBCF"/>
          </a:solidFill>
          <a:ln/>
        </p:spPr>
      </p:sp>
      <p:sp>
        <p:nvSpPr>
          <p:cNvPr id="3" name="Text 1"/>
          <p:cNvSpPr/>
          <p:nvPr/>
        </p:nvSpPr>
        <p:spPr>
          <a:xfrm>
            <a:off x="4931359" y="457200"/>
            <a:ext cx="643737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الأداة ١ · اقرأ ما وراء السلوك (٢ من ٢)</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لماذا يسيء الطالب؟ أربعة أهداف خفية</a:t>
            </a:r>
            <a:endParaRPr lang="ar-SA" sz="3200" dirty="0"/>
          </a:p>
        </p:txBody>
      </p:sp>
      <p:sp>
        <p:nvSpPr>
          <p:cNvPr id="5" name="Shape 3"/>
          <p:cNvSpPr/>
          <p:nvPr/>
        </p:nvSpPr>
        <p:spPr>
          <a:xfrm>
            <a:off x="9098382" y="1874520"/>
            <a:ext cx="2270354" cy="548640"/>
          </a:xfrm>
          <a:prstGeom prst="roundRect">
            <a:avLst>
              <a:gd name="adj" fmla="val 20000"/>
            </a:avLst>
          </a:prstGeom>
          <a:solidFill>
            <a:srgbClr val="101B45"/>
          </a:solidFill>
          <a:ln/>
        </p:spPr>
      </p:sp>
      <p:sp>
        <p:nvSpPr>
          <p:cNvPr id="6" name="Text 4"/>
          <p:cNvSpPr/>
          <p:nvPr/>
        </p:nvSpPr>
        <p:spPr>
          <a:xfrm>
            <a:off x="9098382" y="1874520"/>
            <a:ext cx="2270354"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ما يريده الطالب</a:t>
            </a:r>
            <a:endParaRPr lang="ar-SA" sz="1900" dirty="0"/>
          </a:p>
        </p:txBody>
      </p:sp>
      <p:sp>
        <p:nvSpPr>
          <p:cNvPr id="7" name="Shape 5"/>
          <p:cNvSpPr/>
          <p:nvPr/>
        </p:nvSpPr>
        <p:spPr>
          <a:xfrm>
            <a:off x="6945335" y="1874520"/>
            <a:ext cx="2043318" cy="548640"/>
          </a:xfrm>
          <a:prstGeom prst="roundRect">
            <a:avLst>
              <a:gd name="adj" fmla="val 20000"/>
            </a:avLst>
          </a:prstGeom>
          <a:solidFill>
            <a:srgbClr val="101B45"/>
          </a:solidFill>
          <a:ln/>
        </p:spPr>
      </p:sp>
      <p:sp>
        <p:nvSpPr>
          <p:cNvPr id="8" name="Text 6"/>
          <p:cNvSpPr/>
          <p:nvPr/>
        </p:nvSpPr>
        <p:spPr>
          <a:xfrm>
            <a:off x="6945335" y="1874520"/>
            <a:ext cx="2043318"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ماذا تشعر أنت؟</a:t>
            </a:r>
            <a:endParaRPr lang="ar-SA" sz="1900" dirty="0"/>
          </a:p>
        </p:txBody>
      </p:sp>
      <p:sp>
        <p:nvSpPr>
          <p:cNvPr id="9" name="Shape 7"/>
          <p:cNvSpPr/>
          <p:nvPr/>
        </p:nvSpPr>
        <p:spPr>
          <a:xfrm>
            <a:off x="4338218" y="1874520"/>
            <a:ext cx="2497389" cy="548640"/>
          </a:xfrm>
          <a:prstGeom prst="roundRect">
            <a:avLst>
              <a:gd name="adj" fmla="val 20000"/>
            </a:avLst>
          </a:prstGeom>
          <a:solidFill>
            <a:srgbClr val="101B45"/>
          </a:solidFill>
          <a:ln/>
        </p:spPr>
      </p:sp>
      <p:sp>
        <p:nvSpPr>
          <p:cNvPr id="10" name="Text 8"/>
          <p:cNvSpPr/>
          <p:nvPr/>
        </p:nvSpPr>
        <p:spPr>
          <a:xfrm>
            <a:off x="4338218" y="1874520"/>
            <a:ext cx="2497389"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ردّ الفعل الخاطئ</a:t>
            </a:r>
            <a:endParaRPr lang="ar-SA" sz="1900" dirty="0"/>
          </a:p>
        </p:txBody>
      </p:sp>
      <p:sp>
        <p:nvSpPr>
          <p:cNvPr id="11" name="Shape 9"/>
          <p:cNvSpPr/>
          <p:nvPr/>
        </p:nvSpPr>
        <p:spPr>
          <a:xfrm>
            <a:off x="822960" y="1874520"/>
            <a:ext cx="3405530" cy="548640"/>
          </a:xfrm>
          <a:prstGeom prst="roundRect">
            <a:avLst>
              <a:gd name="adj" fmla="val 20000"/>
            </a:avLst>
          </a:prstGeom>
          <a:solidFill>
            <a:srgbClr val="101B45"/>
          </a:solidFill>
          <a:ln/>
        </p:spPr>
      </p:sp>
      <p:sp>
        <p:nvSpPr>
          <p:cNvPr id="12" name="Text 10"/>
          <p:cNvSpPr/>
          <p:nvPr/>
        </p:nvSpPr>
        <p:spPr>
          <a:xfrm>
            <a:off x="822960" y="1874520"/>
            <a:ext cx="3405530"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التصرف الصحيح</a:t>
            </a:r>
            <a:endParaRPr lang="ar-SA" sz="1900" dirty="0"/>
          </a:p>
        </p:txBody>
      </p:sp>
      <p:sp>
        <p:nvSpPr>
          <p:cNvPr id="13" name="anim-g1-186"/>
          <p:cNvSpPr/>
          <p:nvPr/>
        </p:nvSpPr>
        <p:spPr>
          <a:xfrm>
            <a:off x="9098382" y="2514600"/>
            <a:ext cx="2270354" cy="1234440"/>
          </a:xfrm>
          <a:prstGeom prst="roundRect">
            <a:avLst>
              <a:gd name="adj" fmla="val 8889"/>
            </a:avLst>
          </a:prstGeom>
          <a:solidFill>
            <a:srgbClr val="FBF3DF"/>
          </a:solidFill>
          <a:ln w="12700">
            <a:solidFill>
              <a:srgbClr val="EFDDAF"/>
            </a:solidFill>
            <a:prstDash val="solid"/>
          </a:ln>
        </p:spPr>
      </p:sp>
      <p:sp>
        <p:nvSpPr>
          <p:cNvPr id="14" name="anim-g1-187"/>
          <p:cNvSpPr/>
          <p:nvPr/>
        </p:nvSpPr>
        <p:spPr>
          <a:xfrm>
            <a:off x="9235542" y="2514600"/>
            <a:ext cx="1996034" cy="1234440"/>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الانتقام</a:t>
            </a:r>
            <a:endParaRPr lang="ar-SA" sz="2100" dirty="0"/>
          </a:p>
        </p:txBody>
      </p:sp>
      <p:sp>
        <p:nvSpPr>
          <p:cNvPr id="15" name="anim-g1-188"/>
          <p:cNvSpPr/>
          <p:nvPr/>
        </p:nvSpPr>
        <p:spPr>
          <a:xfrm>
            <a:off x="6945335" y="2514600"/>
            <a:ext cx="2043318" cy="1234440"/>
          </a:xfrm>
          <a:prstGeom prst="roundRect">
            <a:avLst>
              <a:gd name="adj" fmla="val 8889"/>
            </a:avLst>
          </a:prstGeom>
          <a:solidFill>
            <a:srgbClr val="FFFFFF"/>
          </a:solidFill>
          <a:ln w="12700">
            <a:solidFill>
              <a:srgbClr val="E4DCC8"/>
            </a:solidFill>
            <a:prstDash val="solid"/>
          </a:ln>
        </p:spPr>
      </p:sp>
      <p:sp>
        <p:nvSpPr>
          <p:cNvPr id="16" name="anim-g1-189"/>
          <p:cNvSpPr/>
          <p:nvPr/>
        </p:nvSpPr>
        <p:spPr>
          <a:xfrm>
            <a:off x="7082495" y="2514600"/>
            <a:ext cx="1768998" cy="1234440"/>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جرح وألم</a:t>
            </a:r>
            <a:endParaRPr lang="ar-SA" sz="2100" dirty="0"/>
          </a:p>
        </p:txBody>
      </p:sp>
      <p:sp>
        <p:nvSpPr>
          <p:cNvPr id="17" name="anim-g1-190"/>
          <p:cNvSpPr/>
          <p:nvPr/>
        </p:nvSpPr>
        <p:spPr>
          <a:xfrm>
            <a:off x="4338218" y="2514600"/>
            <a:ext cx="2497389" cy="1234440"/>
          </a:xfrm>
          <a:prstGeom prst="roundRect">
            <a:avLst>
              <a:gd name="adj" fmla="val 8889"/>
            </a:avLst>
          </a:prstGeom>
          <a:solidFill>
            <a:srgbClr val="FFFFFF"/>
          </a:solidFill>
          <a:ln w="12700">
            <a:solidFill>
              <a:srgbClr val="E4DCC8"/>
            </a:solidFill>
            <a:prstDash val="solid"/>
          </a:ln>
        </p:spPr>
      </p:sp>
      <p:sp>
        <p:nvSpPr>
          <p:cNvPr id="18" name="anim-g1-191"/>
          <p:cNvSpPr/>
          <p:nvPr/>
        </p:nvSpPr>
        <p:spPr>
          <a:xfrm>
            <a:off x="4475378" y="2514600"/>
            <a:ext cx="2223069" cy="1234440"/>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الردّ بالعقاب القاسي</a:t>
            </a:r>
            <a:endParaRPr lang="ar-SA" sz="2100" dirty="0"/>
          </a:p>
        </p:txBody>
      </p:sp>
      <p:sp>
        <p:nvSpPr>
          <p:cNvPr id="19" name="anim-g1-192"/>
          <p:cNvSpPr/>
          <p:nvPr/>
        </p:nvSpPr>
        <p:spPr>
          <a:xfrm>
            <a:off x="822960" y="2514600"/>
            <a:ext cx="3405530" cy="1234440"/>
          </a:xfrm>
          <a:prstGeom prst="roundRect">
            <a:avLst>
              <a:gd name="adj" fmla="val 8889"/>
            </a:avLst>
          </a:prstGeom>
          <a:solidFill>
            <a:srgbClr val="E6F4EC"/>
          </a:solidFill>
          <a:ln w="12700">
            <a:solidFill>
              <a:srgbClr val="CDE9D9"/>
            </a:solidFill>
            <a:prstDash val="solid"/>
          </a:ln>
        </p:spPr>
      </p:sp>
      <p:sp>
        <p:nvSpPr>
          <p:cNvPr id="20" name="anim-g1-193"/>
          <p:cNvSpPr/>
          <p:nvPr/>
        </p:nvSpPr>
        <p:spPr>
          <a:xfrm>
            <a:off x="960120" y="2514600"/>
            <a:ext cx="3131210" cy="1234440"/>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هدوء، وبناء ثقة، وحوار خاص عن الألم</a:t>
            </a:r>
            <a:endParaRPr lang="ar-SA" sz="2100" dirty="0"/>
          </a:p>
        </p:txBody>
      </p:sp>
      <p:sp>
        <p:nvSpPr>
          <p:cNvPr id="21" name="anim-g2-194"/>
          <p:cNvSpPr/>
          <p:nvPr/>
        </p:nvSpPr>
        <p:spPr>
          <a:xfrm>
            <a:off x="9098382" y="3858768"/>
            <a:ext cx="2270354" cy="1234440"/>
          </a:xfrm>
          <a:prstGeom prst="roundRect">
            <a:avLst>
              <a:gd name="adj" fmla="val 8889"/>
            </a:avLst>
          </a:prstGeom>
          <a:solidFill>
            <a:srgbClr val="FBF3DF"/>
          </a:solidFill>
          <a:ln w="12700">
            <a:solidFill>
              <a:srgbClr val="EFDDAF"/>
            </a:solidFill>
            <a:prstDash val="solid"/>
          </a:ln>
        </p:spPr>
      </p:sp>
      <p:sp>
        <p:nvSpPr>
          <p:cNvPr id="22" name="anim-g2-195"/>
          <p:cNvSpPr/>
          <p:nvPr/>
        </p:nvSpPr>
        <p:spPr>
          <a:xfrm>
            <a:off x="9235542" y="3858768"/>
            <a:ext cx="1996034" cy="1234440"/>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إظهار العجز</a:t>
            </a:r>
            <a:endParaRPr lang="ar-SA" sz="2100" dirty="0"/>
          </a:p>
        </p:txBody>
      </p:sp>
      <p:sp>
        <p:nvSpPr>
          <p:cNvPr id="23" name="anim-g2-196"/>
          <p:cNvSpPr/>
          <p:nvPr/>
        </p:nvSpPr>
        <p:spPr>
          <a:xfrm>
            <a:off x="6945335" y="3858768"/>
            <a:ext cx="2043318" cy="1234440"/>
          </a:xfrm>
          <a:prstGeom prst="roundRect">
            <a:avLst>
              <a:gd name="adj" fmla="val 8889"/>
            </a:avLst>
          </a:prstGeom>
          <a:solidFill>
            <a:srgbClr val="FFFFFF"/>
          </a:solidFill>
          <a:ln w="12700">
            <a:solidFill>
              <a:srgbClr val="E4DCC8"/>
            </a:solidFill>
            <a:prstDash val="solid"/>
          </a:ln>
        </p:spPr>
      </p:sp>
      <p:sp>
        <p:nvSpPr>
          <p:cNvPr id="24" name="anim-g2-197"/>
          <p:cNvSpPr/>
          <p:nvPr/>
        </p:nvSpPr>
        <p:spPr>
          <a:xfrm>
            <a:off x="7082495" y="3858768"/>
            <a:ext cx="1768998" cy="1234440"/>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يأس وإحباط</a:t>
            </a:r>
            <a:endParaRPr lang="ar-SA" sz="2100" dirty="0"/>
          </a:p>
        </p:txBody>
      </p:sp>
      <p:sp>
        <p:nvSpPr>
          <p:cNvPr id="25" name="anim-g2-198"/>
          <p:cNvSpPr/>
          <p:nvPr/>
        </p:nvSpPr>
        <p:spPr>
          <a:xfrm>
            <a:off x="4338218" y="3858768"/>
            <a:ext cx="2497389" cy="1234440"/>
          </a:xfrm>
          <a:prstGeom prst="roundRect">
            <a:avLst>
              <a:gd name="adj" fmla="val 8889"/>
            </a:avLst>
          </a:prstGeom>
          <a:solidFill>
            <a:srgbClr val="FFFFFF"/>
          </a:solidFill>
          <a:ln w="12700">
            <a:solidFill>
              <a:srgbClr val="E4DCC8"/>
            </a:solidFill>
            <a:prstDash val="solid"/>
          </a:ln>
        </p:spPr>
      </p:sp>
      <p:sp>
        <p:nvSpPr>
          <p:cNvPr id="26" name="anim-g2-199"/>
          <p:cNvSpPr/>
          <p:nvPr/>
        </p:nvSpPr>
        <p:spPr>
          <a:xfrm>
            <a:off x="4475378" y="3858768"/>
            <a:ext cx="2223069" cy="1234440"/>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الاستسلام أو الشفقة</a:t>
            </a:r>
            <a:endParaRPr lang="ar-SA" sz="2100" dirty="0"/>
          </a:p>
        </p:txBody>
      </p:sp>
      <p:sp>
        <p:nvSpPr>
          <p:cNvPr id="27" name="anim-g2-200"/>
          <p:cNvSpPr/>
          <p:nvPr/>
        </p:nvSpPr>
        <p:spPr>
          <a:xfrm>
            <a:off x="822960" y="3858768"/>
            <a:ext cx="3405530" cy="1234440"/>
          </a:xfrm>
          <a:prstGeom prst="roundRect">
            <a:avLst>
              <a:gd name="adj" fmla="val 8889"/>
            </a:avLst>
          </a:prstGeom>
          <a:solidFill>
            <a:srgbClr val="E6F4EC"/>
          </a:solidFill>
          <a:ln w="12700">
            <a:solidFill>
              <a:srgbClr val="CDE9D9"/>
            </a:solidFill>
            <a:prstDash val="solid"/>
          </a:ln>
        </p:spPr>
      </p:sp>
      <p:sp>
        <p:nvSpPr>
          <p:cNvPr id="28" name="anim-g2-201"/>
          <p:cNvSpPr/>
          <p:nvPr/>
        </p:nvSpPr>
        <p:spPr>
          <a:xfrm>
            <a:off x="960120" y="3858768"/>
            <a:ext cx="3131210" cy="1234440"/>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مهمة صغيرة ينجح فيها، ومدح المحاولة</a:t>
            </a:r>
            <a:endParaRPr lang="ar-SA" sz="2100" dirty="0"/>
          </a:p>
        </p:txBody>
      </p:sp>
      <p:sp>
        <p:nvSpPr>
          <p:cNvPr id="29" name="Text 27"/>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30" name="Text 28"/>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صندوق أدوات المعلم  ·  ٣٦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4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4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40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400"/>
                                        <p:tgtEl>
                                          <p:spTgt spid="1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400"/>
                                        <p:tgtEl>
                                          <p:spTgt spid="2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400"/>
                                        <p:tgtEl>
                                          <p:spTgt spid="2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400"/>
                                        <p:tgtEl>
                                          <p:spTgt spid="2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400"/>
                                        <p:tgtEl>
                                          <p:spTgt spid="2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400"/>
                                        <p:tgtEl>
                                          <p:spTgt spid="2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400"/>
                                        <p:tgtEl>
                                          <p:spTgt spid="2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7"/>
                                        </p:tgtEl>
                                        <p:attrNameLst>
                                          <p:attrName>style.visibility</p:attrName>
                                        </p:attrNameLst>
                                      </p:cBhvr>
                                      <p:to>
                                        <p:strVal val="visible"/>
                                      </p:to>
                                    </p:set>
                                    <p:animEffect transition="in" filter="fade">
                                      <p:cBhvr>
                                        <p:cTn id="51" dur="400"/>
                                        <p:tgtEl>
                                          <p:spTgt spid="2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fade">
                                      <p:cBhvr>
                                        <p:cTn id="54"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925416" y="1188720"/>
            <a:ext cx="2340864"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925416" y="1188720"/>
            <a:ext cx="234086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قاعدة ذهبية</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مشاعرك أنت دليل…</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ما تشعر به يكشف ما يريده الطالب</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صندوق أدوات المعلم  ·  ٣٧</a:t>
            </a:r>
            <a:endParaRPr lang="ar-SA"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3907231" y="457200"/>
            <a:ext cx="7461504" cy="457200"/>
          </a:xfrm>
          <a:prstGeom prst="roundRect">
            <a:avLst>
              <a:gd name="adj" fmla="val 50000"/>
            </a:avLst>
          </a:prstGeom>
          <a:solidFill>
            <a:srgbClr val="F6EBCF"/>
          </a:solidFill>
          <a:ln/>
        </p:spPr>
      </p:sp>
      <p:sp>
        <p:nvSpPr>
          <p:cNvPr id="3" name="Text 1"/>
          <p:cNvSpPr/>
          <p:nvPr/>
        </p:nvSpPr>
        <p:spPr>
          <a:xfrm>
            <a:off x="3907231" y="457200"/>
            <a:ext cx="746150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ابدأ من الأسفل دائمًا، واصعد فقط عند الحاجة</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الأداة ٢ · سلّم التدخّل الأقل إزعاجًا</a:t>
            </a:r>
            <a:endParaRPr lang="ar-SA" sz="3200" dirty="0"/>
          </a:p>
        </p:txBody>
      </p:sp>
      <p:sp>
        <p:nvSpPr>
          <p:cNvPr id="5" name="anim-g1-202"/>
          <p:cNvSpPr/>
          <p:nvPr/>
        </p:nvSpPr>
        <p:spPr>
          <a:xfrm>
            <a:off x="822960" y="5349240"/>
            <a:ext cx="10545775" cy="594360"/>
          </a:xfrm>
          <a:prstGeom prst="roundRect">
            <a:avLst>
              <a:gd name="adj" fmla="val 21538"/>
            </a:avLst>
          </a:prstGeom>
          <a:solidFill>
            <a:srgbClr val="2E9E6B"/>
          </a:solidFill>
          <a:ln/>
        </p:spPr>
      </p:sp>
      <p:sp>
        <p:nvSpPr>
          <p:cNvPr id="6" name="anim-g1-203"/>
          <p:cNvSpPr/>
          <p:nvPr/>
        </p:nvSpPr>
        <p:spPr>
          <a:xfrm>
            <a:off x="10801807" y="5440680"/>
            <a:ext cx="411480" cy="411480"/>
          </a:xfrm>
          <a:prstGeom prst="ellipse">
            <a:avLst/>
          </a:prstGeom>
          <a:solidFill>
            <a:srgbClr val="FFFFFF"/>
          </a:solidFill>
          <a:ln/>
        </p:spPr>
      </p:sp>
      <p:sp>
        <p:nvSpPr>
          <p:cNvPr id="7" name="anim-g1-204"/>
          <p:cNvSpPr/>
          <p:nvPr/>
        </p:nvSpPr>
        <p:spPr>
          <a:xfrm>
            <a:off x="10801807" y="5440680"/>
            <a:ext cx="411480" cy="411480"/>
          </a:xfrm>
          <a:prstGeom prst="rect">
            <a:avLst/>
          </a:prstGeom>
          <a:noFill/>
          <a:ln/>
        </p:spPr>
        <p:txBody>
          <a:bodyPr wrap="square" lIns="0" tIns="0" rIns="0" bIns="0" rtlCol="0" anchor="ctr">
            <a:normAutofit/>
          </a:bodyPr>
          <a:lstStyle/>
          <a:p>
            <a:pPr rtl="1" algn="ctr" indent="0" marL="0">
              <a:buNone/>
            </a:pPr>
            <a:r>
              <a:rPr lang="ar-SA" altLang="en-US" sz="1500" dirty="0">
                <a:solidFill>
                  <a:srgbClr val="2E9E6B"/>
                </a:solidFill>
                <a:latin typeface="Cairo Black" pitchFamily="34" charset="0"/>
                <a:ea typeface="Cairo Black" pitchFamily="34" charset="-122"/>
                <a:cs typeface="Cairo Black" pitchFamily="34" charset="-120"/>
              </a:rPr>
              <a:t>١</a:t>
            </a:r>
            <a:endParaRPr lang="ar-SA" sz="1500" dirty="0"/>
          </a:p>
        </p:txBody>
      </p:sp>
      <p:sp>
        <p:nvSpPr>
          <p:cNvPr id="8" name="anim-g1-205"/>
          <p:cNvSpPr/>
          <p:nvPr/>
        </p:nvSpPr>
        <p:spPr>
          <a:xfrm>
            <a:off x="1005840" y="5349240"/>
            <a:ext cx="9631375" cy="594360"/>
          </a:xfrm>
          <a:prstGeom prst="rect">
            <a:avLst/>
          </a:prstGeom>
          <a:noFill/>
          <a:ln/>
        </p:spPr>
        <p:txBody>
          <a:bodyPr wrap="square" lIns="0" tIns="0" rIns="0" bIns="0" rtlCol="0" anchor="ctr">
            <a:normAutofit/>
          </a:bodyPr>
          <a:lstStyle/>
          <a:p>
            <a:pPr rtl="1" algn="r" indent="0" marL="0">
              <a:buNone/>
            </a:pPr>
            <a:r>
              <a:rPr lang="ar-SA" altLang="en-US" sz="2100" b="1" dirty="0">
                <a:solidFill>
                  <a:srgbClr val="FFFFFF"/>
                </a:solidFill>
                <a:latin typeface="Cairo" pitchFamily="34" charset="0"/>
                <a:ea typeface="Cairo" pitchFamily="34" charset="-122"/>
                <a:cs typeface="Cairo" pitchFamily="34" charset="-120"/>
              </a:rPr>
              <a:t>إشارة صامتة: نظرة، أو اقتراب، أو إيماءة</a:t>
            </a:r>
            <a:endParaRPr lang="ar-SA" sz="2100" dirty="0"/>
          </a:p>
        </p:txBody>
      </p:sp>
      <p:sp>
        <p:nvSpPr>
          <p:cNvPr id="9" name="anim-g2-206"/>
          <p:cNvSpPr/>
          <p:nvPr/>
        </p:nvSpPr>
        <p:spPr>
          <a:xfrm>
            <a:off x="822960" y="4663440"/>
            <a:ext cx="10088575" cy="594360"/>
          </a:xfrm>
          <a:prstGeom prst="roundRect">
            <a:avLst>
              <a:gd name="adj" fmla="val 21538"/>
            </a:avLst>
          </a:prstGeom>
          <a:solidFill>
            <a:srgbClr val="5A9E4B"/>
          </a:solidFill>
          <a:ln/>
        </p:spPr>
      </p:sp>
      <p:sp>
        <p:nvSpPr>
          <p:cNvPr id="10" name="anim-g2-207"/>
          <p:cNvSpPr/>
          <p:nvPr/>
        </p:nvSpPr>
        <p:spPr>
          <a:xfrm>
            <a:off x="10344607" y="4754880"/>
            <a:ext cx="411480" cy="411480"/>
          </a:xfrm>
          <a:prstGeom prst="ellipse">
            <a:avLst/>
          </a:prstGeom>
          <a:solidFill>
            <a:srgbClr val="FFFFFF"/>
          </a:solidFill>
          <a:ln/>
        </p:spPr>
      </p:sp>
      <p:sp>
        <p:nvSpPr>
          <p:cNvPr id="11" name="anim-g2-208"/>
          <p:cNvSpPr/>
          <p:nvPr/>
        </p:nvSpPr>
        <p:spPr>
          <a:xfrm>
            <a:off x="10344607" y="4754880"/>
            <a:ext cx="411480" cy="411480"/>
          </a:xfrm>
          <a:prstGeom prst="rect">
            <a:avLst/>
          </a:prstGeom>
          <a:noFill/>
          <a:ln/>
        </p:spPr>
        <p:txBody>
          <a:bodyPr wrap="square" lIns="0" tIns="0" rIns="0" bIns="0" rtlCol="0" anchor="ctr">
            <a:normAutofit/>
          </a:bodyPr>
          <a:lstStyle/>
          <a:p>
            <a:pPr rtl="1" algn="ctr" indent="0" marL="0">
              <a:buNone/>
            </a:pPr>
            <a:r>
              <a:rPr lang="ar-SA" altLang="en-US" sz="1500" dirty="0">
                <a:solidFill>
                  <a:srgbClr val="5A9E4B"/>
                </a:solidFill>
                <a:latin typeface="Cairo Black" pitchFamily="34" charset="0"/>
                <a:ea typeface="Cairo Black" pitchFamily="34" charset="-122"/>
                <a:cs typeface="Cairo Black" pitchFamily="34" charset="-120"/>
              </a:rPr>
              <a:t>٢</a:t>
            </a:r>
            <a:endParaRPr lang="ar-SA" sz="1500" dirty="0"/>
          </a:p>
        </p:txBody>
      </p:sp>
      <p:sp>
        <p:nvSpPr>
          <p:cNvPr id="12" name="anim-g2-209"/>
          <p:cNvSpPr/>
          <p:nvPr/>
        </p:nvSpPr>
        <p:spPr>
          <a:xfrm>
            <a:off x="1005840" y="4663440"/>
            <a:ext cx="9174175" cy="594360"/>
          </a:xfrm>
          <a:prstGeom prst="rect">
            <a:avLst/>
          </a:prstGeom>
          <a:noFill/>
          <a:ln/>
        </p:spPr>
        <p:txBody>
          <a:bodyPr wrap="square" lIns="0" tIns="0" rIns="0" bIns="0" rtlCol="0" anchor="ctr">
            <a:normAutofit/>
          </a:bodyPr>
          <a:lstStyle/>
          <a:p>
            <a:pPr rtl="1" algn="r" indent="0" marL="0">
              <a:buNone/>
            </a:pPr>
            <a:r>
              <a:rPr lang="ar-SA" altLang="en-US" sz="2100" b="1" dirty="0">
                <a:solidFill>
                  <a:srgbClr val="FFFFFF"/>
                </a:solidFill>
                <a:latin typeface="Cairo" pitchFamily="34" charset="0"/>
                <a:ea typeface="Cairo" pitchFamily="34" charset="-122"/>
                <a:cs typeface="Cairo" pitchFamily="34" charset="-120"/>
              </a:rPr>
              <a:t>تصحيح جماعي إيجابي: «أنتظر ثلاثة زملاء بعد…»</a:t>
            </a:r>
            <a:endParaRPr lang="ar-SA" sz="2100" dirty="0"/>
          </a:p>
        </p:txBody>
      </p:sp>
      <p:sp>
        <p:nvSpPr>
          <p:cNvPr id="13" name="anim-g3-210"/>
          <p:cNvSpPr/>
          <p:nvPr/>
        </p:nvSpPr>
        <p:spPr>
          <a:xfrm>
            <a:off x="822960" y="3977640"/>
            <a:ext cx="9631375" cy="594360"/>
          </a:xfrm>
          <a:prstGeom prst="roundRect">
            <a:avLst>
              <a:gd name="adj" fmla="val 21538"/>
            </a:avLst>
          </a:prstGeom>
          <a:solidFill>
            <a:srgbClr val="B7A034"/>
          </a:solidFill>
          <a:ln/>
        </p:spPr>
      </p:sp>
      <p:sp>
        <p:nvSpPr>
          <p:cNvPr id="14" name="anim-g3-211"/>
          <p:cNvSpPr/>
          <p:nvPr/>
        </p:nvSpPr>
        <p:spPr>
          <a:xfrm>
            <a:off x="9887407" y="4069080"/>
            <a:ext cx="411480" cy="411480"/>
          </a:xfrm>
          <a:prstGeom prst="ellipse">
            <a:avLst/>
          </a:prstGeom>
          <a:solidFill>
            <a:srgbClr val="FFFFFF"/>
          </a:solidFill>
          <a:ln/>
        </p:spPr>
      </p:sp>
      <p:sp>
        <p:nvSpPr>
          <p:cNvPr id="15" name="anim-g3-212"/>
          <p:cNvSpPr/>
          <p:nvPr/>
        </p:nvSpPr>
        <p:spPr>
          <a:xfrm>
            <a:off x="9887407" y="4069080"/>
            <a:ext cx="411480" cy="411480"/>
          </a:xfrm>
          <a:prstGeom prst="rect">
            <a:avLst/>
          </a:prstGeom>
          <a:noFill/>
          <a:ln/>
        </p:spPr>
        <p:txBody>
          <a:bodyPr wrap="square" lIns="0" tIns="0" rIns="0" bIns="0" rtlCol="0" anchor="ctr">
            <a:normAutofit/>
          </a:bodyPr>
          <a:lstStyle/>
          <a:p>
            <a:pPr rtl="1" algn="ctr" indent="0" marL="0">
              <a:buNone/>
            </a:pPr>
            <a:r>
              <a:rPr lang="ar-SA" altLang="en-US" sz="1500" dirty="0">
                <a:solidFill>
                  <a:srgbClr val="B7A034"/>
                </a:solidFill>
                <a:latin typeface="Cairo Black" pitchFamily="34" charset="0"/>
                <a:ea typeface="Cairo Black" pitchFamily="34" charset="-122"/>
                <a:cs typeface="Cairo Black" pitchFamily="34" charset="-120"/>
              </a:rPr>
              <a:t>٣</a:t>
            </a:r>
            <a:endParaRPr lang="ar-SA" sz="1500" dirty="0"/>
          </a:p>
        </p:txBody>
      </p:sp>
      <p:sp>
        <p:nvSpPr>
          <p:cNvPr id="16" name="anim-g3-213"/>
          <p:cNvSpPr/>
          <p:nvPr/>
        </p:nvSpPr>
        <p:spPr>
          <a:xfrm>
            <a:off x="1005840" y="3977640"/>
            <a:ext cx="8716975" cy="594360"/>
          </a:xfrm>
          <a:prstGeom prst="rect">
            <a:avLst/>
          </a:prstGeom>
          <a:noFill/>
          <a:ln/>
        </p:spPr>
        <p:txBody>
          <a:bodyPr wrap="square" lIns="0" tIns="0" rIns="0" bIns="0" rtlCol="0" anchor="ctr">
            <a:normAutofit/>
          </a:bodyPr>
          <a:lstStyle/>
          <a:p>
            <a:pPr rtl="1" algn="r" indent="0" marL="0">
              <a:buNone/>
            </a:pPr>
            <a:r>
              <a:rPr lang="ar-SA" altLang="en-US" sz="2100" b="1" dirty="0">
                <a:solidFill>
                  <a:srgbClr val="FFFFFF"/>
                </a:solidFill>
                <a:latin typeface="Cairo" pitchFamily="34" charset="0"/>
                <a:ea typeface="Cairo" pitchFamily="34" charset="-122"/>
                <a:cs typeface="Cairo" pitchFamily="34" charset="-120"/>
              </a:rPr>
              <a:t>تصحيح دون تسمية: «بعضنا ما زال يتحدث»</a:t>
            </a:r>
            <a:endParaRPr lang="ar-SA" sz="2100" dirty="0"/>
          </a:p>
        </p:txBody>
      </p:sp>
      <p:sp>
        <p:nvSpPr>
          <p:cNvPr id="17" name="anim-g4-214"/>
          <p:cNvSpPr/>
          <p:nvPr/>
        </p:nvSpPr>
        <p:spPr>
          <a:xfrm>
            <a:off x="822960" y="3291840"/>
            <a:ext cx="9174175" cy="594360"/>
          </a:xfrm>
          <a:prstGeom prst="roundRect">
            <a:avLst>
              <a:gd name="adj" fmla="val 21538"/>
            </a:avLst>
          </a:prstGeom>
          <a:solidFill>
            <a:srgbClr val="D99A2B"/>
          </a:solidFill>
          <a:ln/>
        </p:spPr>
      </p:sp>
      <p:sp>
        <p:nvSpPr>
          <p:cNvPr id="18" name="anim-g4-215"/>
          <p:cNvSpPr/>
          <p:nvPr/>
        </p:nvSpPr>
        <p:spPr>
          <a:xfrm>
            <a:off x="9430207" y="3383280"/>
            <a:ext cx="411480" cy="411480"/>
          </a:xfrm>
          <a:prstGeom prst="ellipse">
            <a:avLst/>
          </a:prstGeom>
          <a:solidFill>
            <a:srgbClr val="FFFFFF"/>
          </a:solidFill>
          <a:ln/>
        </p:spPr>
      </p:sp>
      <p:sp>
        <p:nvSpPr>
          <p:cNvPr id="19" name="anim-g4-216"/>
          <p:cNvSpPr/>
          <p:nvPr/>
        </p:nvSpPr>
        <p:spPr>
          <a:xfrm>
            <a:off x="9430207" y="3383280"/>
            <a:ext cx="411480" cy="411480"/>
          </a:xfrm>
          <a:prstGeom prst="rect">
            <a:avLst/>
          </a:prstGeom>
          <a:noFill/>
          <a:ln/>
        </p:spPr>
        <p:txBody>
          <a:bodyPr wrap="square" lIns="0" tIns="0" rIns="0" bIns="0" rtlCol="0" anchor="ctr">
            <a:normAutofit/>
          </a:bodyPr>
          <a:lstStyle/>
          <a:p>
            <a:pPr rtl="1" algn="ctr" indent="0" marL="0">
              <a:buNone/>
            </a:pPr>
            <a:r>
              <a:rPr lang="ar-SA" altLang="en-US" sz="1500" dirty="0">
                <a:solidFill>
                  <a:srgbClr val="D99A2B"/>
                </a:solidFill>
                <a:latin typeface="Cairo Black" pitchFamily="34" charset="0"/>
                <a:ea typeface="Cairo Black" pitchFamily="34" charset="-122"/>
                <a:cs typeface="Cairo Black" pitchFamily="34" charset="-120"/>
              </a:rPr>
              <a:t>٤</a:t>
            </a:r>
            <a:endParaRPr lang="ar-SA" sz="1500" dirty="0"/>
          </a:p>
        </p:txBody>
      </p:sp>
      <p:sp>
        <p:nvSpPr>
          <p:cNvPr id="20" name="anim-g4-217"/>
          <p:cNvSpPr/>
          <p:nvPr/>
        </p:nvSpPr>
        <p:spPr>
          <a:xfrm>
            <a:off x="1005840" y="3291840"/>
            <a:ext cx="8259775" cy="594360"/>
          </a:xfrm>
          <a:prstGeom prst="rect">
            <a:avLst/>
          </a:prstGeom>
          <a:noFill/>
          <a:ln/>
        </p:spPr>
        <p:txBody>
          <a:bodyPr wrap="square" lIns="0" tIns="0" rIns="0" bIns="0" rtlCol="0" anchor="ctr">
            <a:normAutofit/>
          </a:bodyPr>
          <a:lstStyle/>
          <a:p>
            <a:pPr rtl="1" algn="r" indent="0" marL="0">
              <a:buNone/>
            </a:pPr>
            <a:r>
              <a:rPr lang="ar-SA" altLang="en-US" sz="2100" b="1" dirty="0">
                <a:solidFill>
                  <a:srgbClr val="FFFFFF"/>
                </a:solidFill>
                <a:latin typeface="Cairo" pitchFamily="34" charset="0"/>
                <a:ea typeface="Cairo" pitchFamily="34" charset="-122"/>
                <a:cs typeface="Cairo" pitchFamily="34" charset="-120"/>
              </a:rPr>
              <a:t>همسة خاصة بجانب الطالب</a:t>
            </a:r>
            <a:endParaRPr lang="ar-SA" sz="2100" dirty="0"/>
          </a:p>
        </p:txBody>
      </p:sp>
      <p:sp>
        <p:nvSpPr>
          <p:cNvPr id="21" name="anim-g5-218"/>
          <p:cNvSpPr/>
          <p:nvPr/>
        </p:nvSpPr>
        <p:spPr>
          <a:xfrm>
            <a:off x="822960" y="2606040"/>
            <a:ext cx="8716975" cy="594360"/>
          </a:xfrm>
          <a:prstGeom prst="roundRect">
            <a:avLst>
              <a:gd name="adj" fmla="val 21538"/>
            </a:avLst>
          </a:prstGeom>
          <a:solidFill>
            <a:srgbClr val="D9722B"/>
          </a:solidFill>
          <a:ln/>
        </p:spPr>
      </p:sp>
      <p:sp>
        <p:nvSpPr>
          <p:cNvPr id="22" name="anim-g5-219"/>
          <p:cNvSpPr/>
          <p:nvPr/>
        </p:nvSpPr>
        <p:spPr>
          <a:xfrm>
            <a:off x="8973007" y="2697480"/>
            <a:ext cx="411480" cy="411480"/>
          </a:xfrm>
          <a:prstGeom prst="ellipse">
            <a:avLst/>
          </a:prstGeom>
          <a:solidFill>
            <a:srgbClr val="FFFFFF"/>
          </a:solidFill>
          <a:ln/>
        </p:spPr>
      </p:sp>
      <p:sp>
        <p:nvSpPr>
          <p:cNvPr id="23" name="anim-g5-220"/>
          <p:cNvSpPr/>
          <p:nvPr/>
        </p:nvSpPr>
        <p:spPr>
          <a:xfrm>
            <a:off x="8973007" y="2697480"/>
            <a:ext cx="411480" cy="411480"/>
          </a:xfrm>
          <a:prstGeom prst="rect">
            <a:avLst/>
          </a:prstGeom>
          <a:noFill/>
          <a:ln/>
        </p:spPr>
        <p:txBody>
          <a:bodyPr wrap="square" lIns="0" tIns="0" rIns="0" bIns="0" rtlCol="0" anchor="ctr">
            <a:normAutofit/>
          </a:bodyPr>
          <a:lstStyle/>
          <a:p>
            <a:pPr rtl="1" algn="ctr" indent="0" marL="0">
              <a:buNone/>
            </a:pPr>
            <a:r>
              <a:rPr lang="ar-SA" altLang="en-US" sz="1500" dirty="0">
                <a:solidFill>
                  <a:srgbClr val="D9722B"/>
                </a:solidFill>
                <a:latin typeface="Cairo Black" pitchFamily="34" charset="0"/>
                <a:ea typeface="Cairo Black" pitchFamily="34" charset="-122"/>
                <a:cs typeface="Cairo Black" pitchFamily="34" charset="-120"/>
              </a:rPr>
              <a:t>٥</a:t>
            </a:r>
            <a:endParaRPr lang="ar-SA" sz="1500" dirty="0"/>
          </a:p>
        </p:txBody>
      </p:sp>
      <p:sp>
        <p:nvSpPr>
          <p:cNvPr id="24" name="anim-g5-221"/>
          <p:cNvSpPr/>
          <p:nvPr/>
        </p:nvSpPr>
        <p:spPr>
          <a:xfrm>
            <a:off x="1005840" y="2606040"/>
            <a:ext cx="7802575" cy="594360"/>
          </a:xfrm>
          <a:prstGeom prst="rect">
            <a:avLst/>
          </a:prstGeom>
          <a:noFill/>
          <a:ln/>
        </p:spPr>
        <p:txBody>
          <a:bodyPr wrap="square" lIns="0" tIns="0" rIns="0" bIns="0" rtlCol="0" anchor="ctr">
            <a:normAutofit/>
          </a:bodyPr>
          <a:lstStyle/>
          <a:p>
            <a:pPr rtl="1" algn="r" indent="0" marL="0">
              <a:buNone/>
            </a:pPr>
            <a:r>
              <a:rPr lang="ar-SA" altLang="en-US" sz="2100" b="1" dirty="0">
                <a:solidFill>
                  <a:srgbClr val="FFFFFF"/>
                </a:solidFill>
                <a:latin typeface="Cairo" pitchFamily="34" charset="0"/>
                <a:ea typeface="Cairo" pitchFamily="34" charset="-122"/>
                <a:cs typeface="Cairo" pitchFamily="34" charset="-120"/>
              </a:rPr>
              <a:t>تصحيح علني سريع بجملة واحدة</a:t>
            </a:r>
            <a:endParaRPr lang="ar-SA" sz="2100" dirty="0"/>
          </a:p>
        </p:txBody>
      </p:sp>
      <p:sp>
        <p:nvSpPr>
          <p:cNvPr id="25" name="anim-g6-222"/>
          <p:cNvSpPr/>
          <p:nvPr/>
        </p:nvSpPr>
        <p:spPr>
          <a:xfrm>
            <a:off x="822960" y="1920240"/>
            <a:ext cx="8259775" cy="594360"/>
          </a:xfrm>
          <a:prstGeom prst="roundRect">
            <a:avLst>
              <a:gd name="adj" fmla="val 21538"/>
            </a:avLst>
          </a:prstGeom>
          <a:solidFill>
            <a:srgbClr val="C94040"/>
          </a:solidFill>
          <a:ln/>
        </p:spPr>
      </p:sp>
      <p:sp>
        <p:nvSpPr>
          <p:cNvPr id="26" name="anim-g6-223"/>
          <p:cNvSpPr/>
          <p:nvPr/>
        </p:nvSpPr>
        <p:spPr>
          <a:xfrm>
            <a:off x="8515807" y="2011680"/>
            <a:ext cx="411480" cy="411480"/>
          </a:xfrm>
          <a:prstGeom prst="ellipse">
            <a:avLst/>
          </a:prstGeom>
          <a:solidFill>
            <a:srgbClr val="FFFFFF"/>
          </a:solidFill>
          <a:ln/>
        </p:spPr>
      </p:sp>
      <p:sp>
        <p:nvSpPr>
          <p:cNvPr id="27" name="anim-g6-224"/>
          <p:cNvSpPr/>
          <p:nvPr/>
        </p:nvSpPr>
        <p:spPr>
          <a:xfrm>
            <a:off x="8515807" y="2011680"/>
            <a:ext cx="411480" cy="411480"/>
          </a:xfrm>
          <a:prstGeom prst="rect">
            <a:avLst/>
          </a:prstGeom>
          <a:noFill/>
          <a:ln/>
        </p:spPr>
        <p:txBody>
          <a:bodyPr wrap="square" lIns="0" tIns="0" rIns="0" bIns="0" rtlCol="0" anchor="ctr">
            <a:normAutofit/>
          </a:bodyPr>
          <a:lstStyle/>
          <a:p>
            <a:pPr rtl="1" algn="ctr" indent="0" marL="0">
              <a:buNone/>
            </a:pPr>
            <a:r>
              <a:rPr lang="ar-SA" altLang="en-US" sz="1500" dirty="0">
                <a:solidFill>
                  <a:srgbClr val="C94040"/>
                </a:solidFill>
                <a:latin typeface="Cairo Black" pitchFamily="34" charset="0"/>
                <a:ea typeface="Cairo Black" pitchFamily="34" charset="-122"/>
                <a:cs typeface="Cairo Black" pitchFamily="34" charset="-120"/>
              </a:rPr>
              <a:t>٦</a:t>
            </a:r>
            <a:endParaRPr lang="ar-SA" sz="1500" dirty="0"/>
          </a:p>
        </p:txBody>
      </p:sp>
      <p:sp>
        <p:nvSpPr>
          <p:cNvPr id="28" name="anim-g6-225"/>
          <p:cNvSpPr/>
          <p:nvPr/>
        </p:nvSpPr>
        <p:spPr>
          <a:xfrm>
            <a:off x="1005840" y="1920240"/>
            <a:ext cx="7345375" cy="594360"/>
          </a:xfrm>
          <a:prstGeom prst="rect">
            <a:avLst/>
          </a:prstGeom>
          <a:noFill/>
          <a:ln/>
        </p:spPr>
        <p:txBody>
          <a:bodyPr wrap="square" lIns="0" tIns="0" rIns="0" bIns="0" rtlCol="0" anchor="ctr">
            <a:normAutofit/>
          </a:bodyPr>
          <a:lstStyle/>
          <a:p>
            <a:pPr rtl="1" algn="r" indent="0" marL="0">
              <a:buNone/>
            </a:pPr>
            <a:r>
              <a:rPr lang="ar-SA" altLang="en-US" sz="2100" b="1" dirty="0">
                <a:solidFill>
                  <a:srgbClr val="FFFFFF"/>
                </a:solidFill>
                <a:latin typeface="Cairo" pitchFamily="34" charset="0"/>
                <a:ea typeface="Cairo" pitchFamily="34" charset="-122"/>
                <a:cs typeface="Cairo" pitchFamily="34" charset="-120"/>
              </a:rPr>
              <a:t>عاقبة متفق عليها مسبقًا</a:t>
            </a:r>
            <a:endParaRPr lang="ar-SA" sz="2100" dirty="0"/>
          </a:p>
        </p:txBody>
      </p:sp>
      <p:sp>
        <p:nvSpPr>
          <p:cNvPr id="29" name="Text 27"/>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30" name="Text 28"/>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صندوق أدوات المعلم  ·  ٣٨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400"/>
                                        <p:tgtEl>
                                          <p:spTgt spid="2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400"/>
                                        <p:tgtEl>
                                          <p:spTgt spid="24"/>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400"/>
                                        <p:tgtEl>
                                          <p:spTgt spid="25"/>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6"/>
                                        </p:tgtEl>
                                        <p:attrNameLst>
                                          <p:attrName>style.visibility</p:attrName>
                                        </p:attrNameLst>
                                      </p:cBhvr>
                                      <p:to>
                                        <p:strVal val="visible"/>
                                      </p:to>
                                    </p:set>
                                    <p:animEffect transition="in" filter="fade">
                                      <p:cBhvr>
                                        <p:cTn id="80" dur="400"/>
                                        <p:tgtEl>
                                          <p:spTgt spid="26"/>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7"/>
                                        </p:tgtEl>
                                        <p:attrNameLst>
                                          <p:attrName>style.visibility</p:attrName>
                                        </p:attrNameLst>
                                      </p:cBhvr>
                                      <p:to>
                                        <p:strVal val="visible"/>
                                      </p:to>
                                    </p:set>
                                    <p:animEffect transition="in" filter="fade">
                                      <p:cBhvr>
                                        <p:cTn id="83" dur="400"/>
                                        <p:tgtEl>
                                          <p:spTgt spid="27"/>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8"/>
                                        </p:tgtEl>
                                        <p:attrNameLst>
                                          <p:attrName>style.visibility</p:attrName>
                                        </p:attrNameLst>
                                      </p:cBhvr>
                                      <p:to>
                                        <p:strVal val="visible"/>
                                      </p:to>
                                    </p:set>
                                    <p:animEffect transition="in" filter="fade">
                                      <p:cBhvr>
                                        <p:cTn id="86"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5486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الأداة ٣ · قل ماذا تريد… لا ما لا تريد</a:t>
            </a:r>
            <a:endParaRPr lang="ar-SA" sz="3200" dirty="0"/>
          </a:p>
        </p:txBody>
      </p:sp>
      <p:sp>
        <p:nvSpPr>
          <p:cNvPr id="3" name="Text 1"/>
          <p:cNvSpPr/>
          <p:nvPr/>
        </p:nvSpPr>
        <p:spPr>
          <a:xfrm>
            <a:off x="6415888"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D64545"/>
                </a:solidFill>
                <a:latin typeface="Cairo Black" pitchFamily="34" charset="0"/>
                <a:ea typeface="Cairo Black" pitchFamily="34" charset="-122"/>
                <a:cs typeface="Cairo Black" pitchFamily="34" charset="-120"/>
              </a:rPr>
              <a:t>❌ الخطأ الشائع</a:t>
            </a:r>
            <a:endParaRPr lang="ar-SA" sz="2100" dirty="0"/>
          </a:p>
        </p:txBody>
      </p:sp>
      <p:sp>
        <p:nvSpPr>
          <p:cNvPr id="4" name="Text 2"/>
          <p:cNvSpPr/>
          <p:nvPr/>
        </p:nvSpPr>
        <p:spPr>
          <a:xfrm>
            <a:off x="822960"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2E9E6B"/>
                </a:solidFill>
                <a:latin typeface="Cairo Black" pitchFamily="34" charset="0"/>
                <a:ea typeface="Cairo Black" pitchFamily="34" charset="-122"/>
                <a:cs typeface="Cairo Black" pitchFamily="34" charset="-120"/>
              </a:rPr>
              <a:t>✅ البديل</a:t>
            </a:r>
            <a:endParaRPr lang="ar-SA" sz="2100" dirty="0"/>
          </a:p>
        </p:txBody>
      </p:sp>
      <p:sp>
        <p:nvSpPr>
          <p:cNvPr id="5" name="anim-g1-226"/>
          <p:cNvSpPr/>
          <p:nvPr/>
        </p:nvSpPr>
        <p:spPr>
          <a:xfrm>
            <a:off x="6415888" y="2194560"/>
            <a:ext cx="4952848" cy="804672"/>
          </a:xfrm>
          <a:prstGeom prst="roundRect">
            <a:avLst>
              <a:gd name="adj" fmla="val 15909"/>
            </a:avLst>
          </a:prstGeom>
          <a:solidFill>
            <a:srgbClr val="FBECEC"/>
          </a:solidFill>
          <a:ln/>
        </p:spPr>
      </p:sp>
      <p:sp>
        <p:nvSpPr>
          <p:cNvPr id="6" name="anim-g1-227"/>
          <p:cNvSpPr/>
          <p:nvPr/>
        </p:nvSpPr>
        <p:spPr>
          <a:xfrm>
            <a:off x="6644488"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«انتبهوا!»</a:t>
            </a:r>
            <a:endParaRPr lang="ar-SA" sz="2200" dirty="0"/>
          </a:p>
        </p:txBody>
      </p:sp>
      <p:sp>
        <p:nvSpPr>
          <p:cNvPr id="7" name="anim-g1-228"/>
          <p:cNvSpPr/>
          <p:nvPr/>
        </p:nvSpPr>
        <p:spPr>
          <a:xfrm>
            <a:off x="822960" y="2194560"/>
            <a:ext cx="4952848" cy="804672"/>
          </a:xfrm>
          <a:prstGeom prst="roundRect">
            <a:avLst>
              <a:gd name="adj" fmla="val 15909"/>
            </a:avLst>
          </a:prstGeom>
          <a:solidFill>
            <a:srgbClr val="FFFFFF"/>
          </a:solidFill>
          <a:ln w="19050">
            <a:solidFill>
              <a:srgbClr val="BFD9CB"/>
            </a:solidFill>
            <a:prstDash val="dash"/>
          </a:ln>
        </p:spPr>
      </p:sp>
      <p:sp>
        <p:nvSpPr>
          <p:cNvPr id="8" name="anim-g1-229"/>
          <p:cNvSpPr/>
          <p:nvPr/>
        </p:nvSpPr>
        <p:spPr>
          <a:xfrm>
            <a:off x="822960" y="219456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9" name="anim-g2-230"/>
          <p:cNvSpPr/>
          <p:nvPr/>
        </p:nvSpPr>
        <p:spPr>
          <a:xfrm>
            <a:off x="5775808" y="219456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0" name="anim-g2-231"/>
          <p:cNvSpPr/>
          <p:nvPr/>
        </p:nvSpPr>
        <p:spPr>
          <a:xfrm>
            <a:off x="822960" y="2194560"/>
            <a:ext cx="4952848" cy="804672"/>
          </a:xfrm>
          <a:prstGeom prst="roundRect">
            <a:avLst>
              <a:gd name="adj" fmla="val 15909"/>
            </a:avLst>
          </a:prstGeom>
          <a:solidFill>
            <a:srgbClr val="E6F4EC"/>
          </a:solidFill>
          <a:ln/>
        </p:spPr>
      </p:sp>
      <p:sp>
        <p:nvSpPr>
          <p:cNvPr id="11" name="anim-g2-232"/>
          <p:cNvSpPr/>
          <p:nvPr/>
        </p:nvSpPr>
        <p:spPr>
          <a:xfrm>
            <a:off x="1051560"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«الأقلام على الطاولة، والعيون عليّ»</a:t>
            </a:r>
            <a:endParaRPr lang="ar-SA" sz="2200" dirty="0"/>
          </a:p>
        </p:txBody>
      </p:sp>
      <p:sp>
        <p:nvSpPr>
          <p:cNvPr id="12" name="anim-g3-233"/>
          <p:cNvSpPr/>
          <p:nvPr/>
        </p:nvSpPr>
        <p:spPr>
          <a:xfrm>
            <a:off x="6415888" y="3154680"/>
            <a:ext cx="4952848" cy="804672"/>
          </a:xfrm>
          <a:prstGeom prst="roundRect">
            <a:avLst>
              <a:gd name="adj" fmla="val 15909"/>
            </a:avLst>
          </a:prstGeom>
          <a:solidFill>
            <a:srgbClr val="FBECEC"/>
          </a:solidFill>
          <a:ln/>
        </p:spPr>
      </p:sp>
      <p:sp>
        <p:nvSpPr>
          <p:cNvPr id="13" name="anim-g3-234"/>
          <p:cNvSpPr/>
          <p:nvPr/>
        </p:nvSpPr>
        <p:spPr>
          <a:xfrm>
            <a:off x="6644488"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«كفى إزعاجًا!»</a:t>
            </a:r>
            <a:endParaRPr lang="ar-SA" sz="2200" dirty="0"/>
          </a:p>
        </p:txBody>
      </p:sp>
      <p:sp>
        <p:nvSpPr>
          <p:cNvPr id="14" name="anim-g3-235"/>
          <p:cNvSpPr/>
          <p:nvPr/>
        </p:nvSpPr>
        <p:spPr>
          <a:xfrm>
            <a:off x="822960" y="3154680"/>
            <a:ext cx="4952848" cy="804672"/>
          </a:xfrm>
          <a:prstGeom prst="roundRect">
            <a:avLst>
              <a:gd name="adj" fmla="val 15909"/>
            </a:avLst>
          </a:prstGeom>
          <a:solidFill>
            <a:srgbClr val="FFFFFF"/>
          </a:solidFill>
          <a:ln w="19050">
            <a:solidFill>
              <a:srgbClr val="BFD9CB"/>
            </a:solidFill>
            <a:prstDash val="dash"/>
          </a:ln>
        </p:spPr>
      </p:sp>
      <p:sp>
        <p:nvSpPr>
          <p:cNvPr id="15" name="anim-g3-236"/>
          <p:cNvSpPr/>
          <p:nvPr/>
        </p:nvSpPr>
        <p:spPr>
          <a:xfrm>
            <a:off x="822960" y="315468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16" name="anim-g4-237"/>
          <p:cNvSpPr/>
          <p:nvPr/>
        </p:nvSpPr>
        <p:spPr>
          <a:xfrm>
            <a:off x="5775808" y="315468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7" name="anim-g4-238"/>
          <p:cNvSpPr/>
          <p:nvPr/>
        </p:nvSpPr>
        <p:spPr>
          <a:xfrm>
            <a:off x="822960" y="3154680"/>
            <a:ext cx="4952848" cy="804672"/>
          </a:xfrm>
          <a:prstGeom prst="roundRect">
            <a:avLst>
              <a:gd name="adj" fmla="val 15909"/>
            </a:avLst>
          </a:prstGeom>
          <a:solidFill>
            <a:srgbClr val="E6F4EC"/>
          </a:solidFill>
          <a:ln/>
        </p:spPr>
      </p:sp>
      <p:sp>
        <p:nvSpPr>
          <p:cNvPr id="18" name="anim-g4-239"/>
          <p:cNvSpPr/>
          <p:nvPr/>
        </p:nvSpPr>
        <p:spPr>
          <a:xfrm>
            <a:off x="1051560"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«صوت صفر حتى أنهي هذه الجملة»</a:t>
            </a:r>
            <a:endParaRPr lang="ar-SA" sz="2200" dirty="0"/>
          </a:p>
        </p:txBody>
      </p:sp>
      <p:sp>
        <p:nvSpPr>
          <p:cNvPr id="19" name="anim-g5-240"/>
          <p:cNvSpPr/>
          <p:nvPr/>
        </p:nvSpPr>
        <p:spPr>
          <a:xfrm>
            <a:off x="6415888" y="4114800"/>
            <a:ext cx="4952848" cy="804672"/>
          </a:xfrm>
          <a:prstGeom prst="roundRect">
            <a:avLst>
              <a:gd name="adj" fmla="val 15909"/>
            </a:avLst>
          </a:prstGeom>
          <a:solidFill>
            <a:srgbClr val="FBECEC"/>
          </a:solidFill>
          <a:ln/>
        </p:spPr>
      </p:sp>
      <p:sp>
        <p:nvSpPr>
          <p:cNvPr id="20" name="anim-g5-241"/>
          <p:cNvSpPr/>
          <p:nvPr/>
        </p:nvSpPr>
        <p:spPr>
          <a:xfrm>
            <a:off x="6644488"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«لماذا تتأخر دائمًا؟»</a:t>
            </a:r>
            <a:endParaRPr lang="ar-SA" sz="2200" dirty="0"/>
          </a:p>
        </p:txBody>
      </p:sp>
      <p:sp>
        <p:nvSpPr>
          <p:cNvPr id="21" name="anim-g5-242"/>
          <p:cNvSpPr/>
          <p:nvPr/>
        </p:nvSpPr>
        <p:spPr>
          <a:xfrm>
            <a:off x="822960" y="4114800"/>
            <a:ext cx="4952848" cy="804672"/>
          </a:xfrm>
          <a:prstGeom prst="roundRect">
            <a:avLst>
              <a:gd name="adj" fmla="val 15909"/>
            </a:avLst>
          </a:prstGeom>
          <a:solidFill>
            <a:srgbClr val="FFFFFF"/>
          </a:solidFill>
          <a:ln w="19050">
            <a:solidFill>
              <a:srgbClr val="BFD9CB"/>
            </a:solidFill>
            <a:prstDash val="dash"/>
          </a:ln>
        </p:spPr>
      </p:sp>
      <p:sp>
        <p:nvSpPr>
          <p:cNvPr id="22" name="anim-g5-243"/>
          <p:cNvSpPr/>
          <p:nvPr/>
        </p:nvSpPr>
        <p:spPr>
          <a:xfrm>
            <a:off x="822960" y="411480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23" name="anim-g6-244"/>
          <p:cNvSpPr/>
          <p:nvPr/>
        </p:nvSpPr>
        <p:spPr>
          <a:xfrm>
            <a:off x="5775808" y="411480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24" name="anim-g6-245"/>
          <p:cNvSpPr/>
          <p:nvPr/>
        </p:nvSpPr>
        <p:spPr>
          <a:xfrm>
            <a:off x="822960" y="4114800"/>
            <a:ext cx="4952848" cy="804672"/>
          </a:xfrm>
          <a:prstGeom prst="roundRect">
            <a:avLst>
              <a:gd name="adj" fmla="val 15909"/>
            </a:avLst>
          </a:prstGeom>
          <a:solidFill>
            <a:srgbClr val="E6F4EC"/>
          </a:solidFill>
          <a:ln/>
        </p:spPr>
      </p:sp>
      <p:sp>
        <p:nvSpPr>
          <p:cNvPr id="25" name="anim-g6-246"/>
          <p:cNvSpPr/>
          <p:nvPr/>
        </p:nvSpPr>
        <p:spPr>
          <a:xfrm>
            <a:off x="1051560"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«اجلس الآن، ونتحدث دقيقة بعد الحصة»</a:t>
            </a:r>
            <a:endParaRPr lang="ar-SA" sz="2200" dirty="0"/>
          </a:p>
        </p:txBody>
      </p:sp>
      <p:sp>
        <p:nvSpPr>
          <p:cNvPr id="26" name="anim-g7-247"/>
          <p:cNvSpPr/>
          <p:nvPr/>
        </p:nvSpPr>
        <p:spPr>
          <a:xfrm>
            <a:off x="6415888" y="5074920"/>
            <a:ext cx="4952848" cy="804672"/>
          </a:xfrm>
          <a:prstGeom prst="roundRect">
            <a:avLst>
              <a:gd name="adj" fmla="val 15909"/>
            </a:avLst>
          </a:prstGeom>
          <a:solidFill>
            <a:srgbClr val="FBECEC"/>
          </a:solidFill>
          <a:ln/>
        </p:spPr>
      </p:sp>
      <p:sp>
        <p:nvSpPr>
          <p:cNvPr id="27" name="anim-g7-248"/>
          <p:cNvSpPr/>
          <p:nvPr/>
        </p:nvSpPr>
        <p:spPr>
          <a:xfrm>
            <a:off x="6644488" y="507492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«كم مرة قلت لك؟!»</a:t>
            </a:r>
            <a:endParaRPr lang="ar-SA" sz="2200" dirty="0"/>
          </a:p>
        </p:txBody>
      </p:sp>
      <p:sp>
        <p:nvSpPr>
          <p:cNvPr id="28" name="anim-g7-249"/>
          <p:cNvSpPr/>
          <p:nvPr/>
        </p:nvSpPr>
        <p:spPr>
          <a:xfrm>
            <a:off x="822960" y="5074920"/>
            <a:ext cx="4952848" cy="804672"/>
          </a:xfrm>
          <a:prstGeom prst="roundRect">
            <a:avLst>
              <a:gd name="adj" fmla="val 15909"/>
            </a:avLst>
          </a:prstGeom>
          <a:solidFill>
            <a:srgbClr val="FFFFFF"/>
          </a:solidFill>
          <a:ln w="19050">
            <a:solidFill>
              <a:srgbClr val="BFD9CB"/>
            </a:solidFill>
            <a:prstDash val="dash"/>
          </a:ln>
        </p:spPr>
      </p:sp>
      <p:sp>
        <p:nvSpPr>
          <p:cNvPr id="29" name="anim-g7-250"/>
          <p:cNvSpPr/>
          <p:nvPr/>
        </p:nvSpPr>
        <p:spPr>
          <a:xfrm>
            <a:off x="822960" y="507492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30" name="anim-g8-251"/>
          <p:cNvSpPr/>
          <p:nvPr/>
        </p:nvSpPr>
        <p:spPr>
          <a:xfrm>
            <a:off x="5775808" y="507492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31" name="anim-g8-252"/>
          <p:cNvSpPr/>
          <p:nvPr/>
        </p:nvSpPr>
        <p:spPr>
          <a:xfrm>
            <a:off x="822960" y="5074920"/>
            <a:ext cx="4952848" cy="804672"/>
          </a:xfrm>
          <a:prstGeom prst="roundRect">
            <a:avLst>
              <a:gd name="adj" fmla="val 15909"/>
            </a:avLst>
          </a:prstGeom>
          <a:solidFill>
            <a:srgbClr val="E6F4EC"/>
          </a:solidFill>
          <a:ln/>
        </p:spPr>
      </p:sp>
      <p:sp>
        <p:nvSpPr>
          <p:cNvPr id="32" name="anim-g8-253"/>
          <p:cNvSpPr/>
          <p:nvPr/>
        </p:nvSpPr>
        <p:spPr>
          <a:xfrm>
            <a:off x="1051560" y="507492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«القاعدة رقم ٢. شكرًا لك»</a:t>
            </a:r>
            <a:endParaRPr lang="ar-SA" sz="2200" dirty="0"/>
          </a:p>
        </p:txBody>
      </p:sp>
      <p:sp>
        <p:nvSpPr>
          <p:cNvPr id="33" name="Text 31"/>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34" name="Text 32"/>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صندوق أدوات المعلم  ·  ٣٩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0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400"/>
                                        <p:tgtEl>
                                          <p:spTgt spid="1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400"/>
                                        <p:tgtEl>
                                          <p:spTgt spid="2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400"/>
                                        <p:tgtEl>
                                          <p:spTgt spid="2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400"/>
                                        <p:tgtEl>
                                          <p:spTgt spid="2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400"/>
                                        <p:tgtEl>
                                          <p:spTgt spid="25"/>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26"/>
                                        </p:tgtEl>
                                        <p:attrNameLst>
                                          <p:attrName>style.visibility</p:attrName>
                                        </p:attrNameLst>
                                      </p:cBhvr>
                                      <p:to>
                                        <p:strVal val="visible"/>
                                      </p:to>
                                    </p:set>
                                    <p:animEffect transition="in" filter="fade">
                                      <p:cBhvr>
                                        <p:cTn id="82" dur="400"/>
                                        <p:tgtEl>
                                          <p:spTgt spid="26"/>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7"/>
                                        </p:tgtEl>
                                        <p:attrNameLst>
                                          <p:attrName>style.visibility</p:attrName>
                                        </p:attrNameLst>
                                      </p:cBhvr>
                                      <p:to>
                                        <p:strVal val="visible"/>
                                      </p:to>
                                    </p:set>
                                    <p:animEffect transition="in" filter="fade">
                                      <p:cBhvr>
                                        <p:cTn id="85" dur="400"/>
                                        <p:tgtEl>
                                          <p:spTgt spid="27"/>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8"/>
                                        </p:tgtEl>
                                        <p:attrNameLst>
                                          <p:attrName>style.visibility</p:attrName>
                                        </p:attrNameLst>
                                      </p:cBhvr>
                                      <p:to>
                                        <p:strVal val="visible"/>
                                      </p:to>
                                    </p:set>
                                    <p:animEffect transition="in" filter="fade">
                                      <p:cBhvr>
                                        <p:cTn id="88" dur="400"/>
                                        <p:tgtEl>
                                          <p:spTgt spid="28"/>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29"/>
                                        </p:tgtEl>
                                        <p:attrNameLst>
                                          <p:attrName>style.visibility</p:attrName>
                                        </p:attrNameLst>
                                      </p:cBhvr>
                                      <p:to>
                                        <p:strVal val="visible"/>
                                      </p:to>
                                    </p:set>
                                    <p:animEffect transition="in" filter="fade">
                                      <p:cBhvr>
                                        <p:cTn id="91" dur="400"/>
                                        <p:tgtEl>
                                          <p:spTgt spid="29"/>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30"/>
                                        </p:tgtEl>
                                        <p:attrNameLst>
                                          <p:attrName>style.visibility</p:attrName>
                                        </p:attrNameLst>
                                      </p:cBhvr>
                                      <p:to>
                                        <p:strVal val="visible"/>
                                      </p:to>
                                    </p:set>
                                    <p:animEffect transition="in" filter="fade">
                                      <p:cBhvr>
                                        <p:cTn id="96" dur="400"/>
                                        <p:tgtEl>
                                          <p:spTgt spid="30"/>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1"/>
                                        </p:tgtEl>
                                        <p:attrNameLst>
                                          <p:attrName>style.visibility</p:attrName>
                                        </p:attrNameLst>
                                      </p:cBhvr>
                                      <p:to>
                                        <p:strVal val="visible"/>
                                      </p:to>
                                    </p:set>
                                    <p:animEffect transition="in" filter="fade">
                                      <p:cBhvr>
                                        <p:cTn id="99" dur="400"/>
                                        <p:tgtEl>
                                          <p:spTgt spid="31"/>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2"/>
                                        </p:tgtEl>
                                        <p:attrNameLst>
                                          <p:attrName>style.visibility</p:attrName>
                                        </p:attrNameLst>
                                      </p:cBhvr>
                                      <p:to>
                                        <p:strVal val="visible"/>
                                      </p:to>
                                    </p:set>
                                    <p:animEffect transition="in" filter="fade">
                                      <p:cBhvr>
                                        <p:cTn id="102"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564831" y="457200"/>
            <a:ext cx="3803904" cy="457200"/>
          </a:xfrm>
          <a:prstGeom prst="roundRect">
            <a:avLst>
              <a:gd name="adj" fmla="val 50000"/>
            </a:avLst>
          </a:prstGeom>
          <a:solidFill>
            <a:srgbClr val="F6EBCF"/>
          </a:solidFill>
          <a:ln/>
        </p:spPr>
      </p:sp>
      <p:sp>
        <p:nvSpPr>
          <p:cNvPr id="3" name="Text 1"/>
          <p:cNvSpPr/>
          <p:nvPr/>
        </p:nvSpPr>
        <p:spPr>
          <a:xfrm>
            <a:off x="7564831" y="457200"/>
            <a:ext cx="380390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الأداة ٤ · صوتك وجسدك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حضورك يقول قبل كلامك</a:t>
            </a:r>
            <a:endParaRPr lang="ar-SA" sz="3800" dirty="0"/>
          </a:p>
        </p:txBody>
      </p:sp>
      <p:sp>
        <p:nvSpPr>
          <p:cNvPr id="5" name="anim-g1-254"/>
          <p:cNvSpPr/>
          <p:nvPr/>
        </p:nvSpPr>
        <p:spPr>
          <a:xfrm>
            <a:off x="8938031"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255"/>
          <p:cNvSpPr/>
          <p:nvPr/>
        </p:nvSpPr>
        <p:spPr>
          <a:xfrm>
            <a:off x="10362895" y="2404872"/>
            <a:ext cx="731520" cy="731520"/>
          </a:xfrm>
          <a:prstGeom prst="roundRect">
            <a:avLst>
              <a:gd name="adj" fmla="val 25000"/>
            </a:avLst>
          </a:prstGeom>
          <a:solidFill>
            <a:srgbClr val="F7E6BC"/>
          </a:solidFill>
          <a:ln/>
        </p:spPr>
      </p:sp>
      <p:sp>
        <p:nvSpPr>
          <p:cNvPr id="7" name="anim-g1-256"/>
          <p:cNvSpPr/>
          <p:nvPr/>
        </p:nvSpPr>
        <p:spPr>
          <a:xfrm>
            <a:off x="10362895"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8" name="anim-g1-257"/>
          <p:cNvSpPr/>
          <p:nvPr/>
        </p:nvSpPr>
        <p:spPr>
          <a:xfrm>
            <a:off x="9212351"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قف ثابتًا</a:t>
            </a:r>
            <a:endParaRPr lang="ar-SA" sz="2300" dirty="0"/>
          </a:p>
        </p:txBody>
      </p:sp>
      <p:sp>
        <p:nvSpPr>
          <p:cNvPr id="9" name="anim-g1-258"/>
          <p:cNvSpPr/>
          <p:nvPr/>
        </p:nvSpPr>
        <p:spPr>
          <a:xfrm>
            <a:off x="9212351"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لا تتحرك ولا تنشغل بشيء آخر وأنت تعطي تعليمة مهمة</a:t>
            </a:r>
            <a:endParaRPr lang="ar-SA" sz="2100" dirty="0"/>
          </a:p>
        </p:txBody>
      </p:sp>
      <p:sp>
        <p:nvSpPr>
          <p:cNvPr id="10" name="anim-g2-259"/>
          <p:cNvSpPr/>
          <p:nvPr/>
        </p:nvSpPr>
        <p:spPr>
          <a:xfrm>
            <a:off x="6233008"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260"/>
          <p:cNvSpPr/>
          <p:nvPr/>
        </p:nvSpPr>
        <p:spPr>
          <a:xfrm>
            <a:off x="7657871" y="2404872"/>
            <a:ext cx="731520" cy="731520"/>
          </a:xfrm>
          <a:prstGeom prst="roundRect">
            <a:avLst>
              <a:gd name="adj" fmla="val 25000"/>
            </a:avLst>
          </a:prstGeom>
          <a:solidFill>
            <a:srgbClr val="F7E6BC"/>
          </a:solidFill>
          <a:ln/>
        </p:spPr>
      </p:sp>
      <p:sp>
        <p:nvSpPr>
          <p:cNvPr id="12" name="anim-g2-261"/>
          <p:cNvSpPr/>
          <p:nvPr/>
        </p:nvSpPr>
        <p:spPr>
          <a:xfrm>
            <a:off x="7657871"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3" name="anim-g2-262"/>
          <p:cNvSpPr/>
          <p:nvPr/>
        </p:nvSpPr>
        <p:spPr>
          <a:xfrm>
            <a:off x="6507328"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اخفض صوتك</a:t>
            </a:r>
            <a:endParaRPr lang="ar-SA" sz="2300" dirty="0"/>
          </a:p>
        </p:txBody>
      </p:sp>
      <p:sp>
        <p:nvSpPr>
          <p:cNvPr id="14" name="anim-g2-263"/>
          <p:cNvSpPr/>
          <p:nvPr/>
        </p:nvSpPr>
        <p:spPr>
          <a:xfrm>
            <a:off x="6507328"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الصوت المنخفض الواضح يجذب الانتباه أكثر من الصراخ</a:t>
            </a:r>
            <a:endParaRPr lang="ar-SA" sz="2100" dirty="0"/>
          </a:p>
        </p:txBody>
      </p:sp>
      <p:sp>
        <p:nvSpPr>
          <p:cNvPr id="15" name="anim-g3-264"/>
          <p:cNvSpPr/>
          <p:nvPr/>
        </p:nvSpPr>
        <p:spPr>
          <a:xfrm>
            <a:off x="3527984"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265"/>
          <p:cNvSpPr/>
          <p:nvPr/>
        </p:nvSpPr>
        <p:spPr>
          <a:xfrm>
            <a:off x="4952848" y="2404872"/>
            <a:ext cx="731520" cy="731520"/>
          </a:xfrm>
          <a:prstGeom prst="roundRect">
            <a:avLst>
              <a:gd name="adj" fmla="val 25000"/>
            </a:avLst>
          </a:prstGeom>
          <a:solidFill>
            <a:srgbClr val="F7E6BC"/>
          </a:solidFill>
          <a:ln/>
        </p:spPr>
      </p:sp>
      <p:sp>
        <p:nvSpPr>
          <p:cNvPr id="17" name="anim-g3-266"/>
          <p:cNvSpPr/>
          <p:nvPr/>
        </p:nvSpPr>
        <p:spPr>
          <a:xfrm>
            <a:off x="4952848"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8" name="anim-g3-267"/>
          <p:cNvSpPr/>
          <p:nvPr/>
        </p:nvSpPr>
        <p:spPr>
          <a:xfrm>
            <a:off x="3802304"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انظر وانتظر</a:t>
            </a:r>
            <a:endParaRPr lang="ar-SA" sz="2300" dirty="0"/>
          </a:p>
        </p:txBody>
      </p:sp>
      <p:sp>
        <p:nvSpPr>
          <p:cNvPr id="19" name="anim-g3-268"/>
          <p:cNvSpPr/>
          <p:nvPr/>
        </p:nvSpPr>
        <p:spPr>
          <a:xfrm>
            <a:off x="3802304"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تواصل بالعين ثم اصمت ثلاث ثوانٍ؛ الصمت أداة قوية</a:t>
            </a:r>
            <a:endParaRPr lang="ar-SA" sz="2100" dirty="0"/>
          </a:p>
        </p:txBody>
      </p:sp>
      <p:sp>
        <p:nvSpPr>
          <p:cNvPr id="20" name="anim-g4-269"/>
          <p:cNvSpPr/>
          <p:nvPr/>
        </p:nvSpPr>
        <p:spPr>
          <a:xfrm>
            <a:off x="822960"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270"/>
          <p:cNvSpPr/>
          <p:nvPr/>
        </p:nvSpPr>
        <p:spPr>
          <a:xfrm>
            <a:off x="2247824" y="2404872"/>
            <a:ext cx="731520" cy="731520"/>
          </a:xfrm>
          <a:prstGeom prst="roundRect">
            <a:avLst>
              <a:gd name="adj" fmla="val 25000"/>
            </a:avLst>
          </a:prstGeom>
          <a:solidFill>
            <a:srgbClr val="F7E6BC"/>
          </a:solidFill>
          <a:ln/>
        </p:spPr>
      </p:sp>
      <p:sp>
        <p:nvSpPr>
          <p:cNvPr id="22" name="anim-g4-271"/>
          <p:cNvSpPr/>
          <p:nvPr/>
        </p:nvSpPr>
        <p:spPr>
          <a:xfrm>
            <a:off x="2247824"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23" name="anim-g4-272"/>
          <p:cNvSpPr/>
          <p:nvPr/>
        </p:nvSpPr>
        <p:spPr>
          <a:xfrm>
            <a:off x="1097280"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اقترب</a:t>
            </a:r>
            <a:endParaRPr lang="ar-SA" sz="2300" dirty="0"/>
          </a:p>
        </p:txBody>
      </p:sp>
      <p:sp>
        <p:nvSpPr>
          <p:cNvPr id="24" name="anim-g4-273"/>
          <p:cNvSpPr/>
          <p:nvPr/>
        </p:nvSpPr>
        <p:spPr>
          <a:xfrm>
            <a:off x="1097280"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القرب الجسدي يطفئ معظم السلوكيات دون كلمة واحدة</a:t>
            </a:r>
            <a:endParaRPr lang="ar-SA" sz="21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صندوق أدوات المعلم  ·  ٤٠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101791" y="457200"/>
            <a:ext cx="5266944" cy="457200"/>
          </a:xfrm>
          <a:prstGeom prst="roundRect">
            <a:avLst>
              <a:gd name="adj" fmla="val 50000"/>
            </a:avLst>
          </a:prstGeom>
          <a:solidFill>
            <a:srgbClr val="F6EBCF"/>
          </a:solidFill>
          <a:ln/>
        </p:spPr>
      </p:sp>
      <p:sp>
        <p:nvSpPr>
          <p:cNvPr id="3" name="Text 1"/>
          <p:cNvSpPr/>
          <p:nvPr/>
        </p:nvSpPr>
        <p:spPr>
          <a:xfrm>
            <a:off x="6101791" y="457200"/>
            <a:ext cx="526694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بعد الحصة… بعيدًا عن الجمهور</a:t>
            </a:r>
            <a:endParaRPr lang="ar-SA" sz="1800" dirty="0"/>
          </a:p>
        </p:txBody>
      </p:sp>
      <p:sp>
        <p:nvSpPr>
          <p:cNvPr id="4" name="Shape 2"/>
          <p:cNvSpPr/>
          <p:nvPr/>
        </p:nvSpPr>
        <p:spPr>
          <a:xfrm>
            <a:off x="822960" y="457200"/>
            <a:ext cx="1618488" cy="457200"/>
          </a:xfrm>
          <a:prstGeom prst="roundRect">
            <a:avLst>
              <a:gd name="adj" fmla="val 50000"/>
            </a:avLst>
          </a:prstGeom>
          <a:solidFill>
            <a:srgbClr val="FBECEC"/>
          </a:solidFill>
          <a:ln/>
        </p:spPr>
      </p:sp>
      <p:sp>
        <p:nvSpPr>
          <p:cNvPr id="5" name="Text 3"/>
          <p:cNvSpPr/>
          <p:nvPr/>
        </p:nvSpPr>
        <p:spPr>
          <a:xfrm>
            <a:off x="822960" y="457200"/>
            <a:ext cx="1618488"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D64545"/>
                </a:solidFill>
                <a:latin typeface="Cairo" pitchFamily="34" charset="0"/>
                <a:ea typeface="Cairo" pitchFamily="34" charset="-122"/>
                <a:cs typeface="Cairo" pitchFamily="34" charset="-120"/>
              </a:rPr>
              <a:t>⏱ دقيقتان</a:t>
            </a:r>
            <a:endParaRPr lang="ar-SA" sz="1600" dirty="0"/>
          </a:p>
        </p:txBody>
      </p:sp>
      <p:sp>
        <p:nvSpPr>
          <p:cNvPr id="6" name="Text 4"/>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الأداة ٥ · الحوار الخاص في دقيقتين</a:t>
            </a:r>
            <a:endParaRPr lang="ar-SA" sz="3200" dirty="0"/>
          </a:p>
        </p:txBody>
      </p:sp>
      <p:sp>
        <p:nvSpPr>
          <p:cNvPr id="7" name="anim-g1-274"/>
          <p:cNvSpPr/>
          <p:nvPr/>
        </p:nvSpPr>
        <p:spPr>
          <a:xfrm>
            <a:off x="8903741" y="2148840"/>
            <a:ext cx="2464994" cy="3383280"/>
          </a:xfrm>
          <a:prstGeom prst="roundRect">
            <a:avLst>
              <a:gd name="adj" fmla="val 6677"/>
            </a:avLst>
          </a:prstGeom>
          <a:solidFill>
            <a:srgbClr val="FFFFFF"/>
          </a:solidFill>
          <a:ln w="12700">
            <a:solidFill>
              <a:srgbClr val="E4DCC8"/>
            </a:solidFill>
            <a:prstDash val="solid"/>
          </a:ln>
        </p:spPr>
      </p:sp>
      <p:sp>
        <p:nvSpPr>
          <p:cNvPr id="8" name="anim-g1-275"/>
          <p:cNvSpPr/>
          <p:nvPr/>
        </p:nvSpPr>
        <p:spPr>
          <a:xfrm>
            <a:off x="9747618" y="2423160"/>
            <a:ext cx="777240" cy="777240"/>
          </a:xfrm>
          <a:prstGeom prst="ellipse">
            <a:avLst/>
          </a:prstGeom>
          <a:solidFill>
            <a:srgbClr val="D9AE4B"/>
          </a:solidFill>
          <a:ln/>
        </p:spPr>
      </p:sp>
      <p:sp>
        <p:nvSpPr>
          <p:cNvPr id="9" name="anim-g1-276"/>
          <p:cNvSpPr/>
          <p:nvPr/>
        </p:nvSpPr>
        <p:spPr>
          <a:xfrm>
            <a:off x="9747618"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١</a:t>
            </a:r>
            <a:endParaRPr lang="ar-SA" sz="2800" dirty="0"/>
          </a:p>
        </p:txBody>
      </p:sp>
      <p:sp>
        <p:nvSpPr>
          <p:cNvPr id="10" name="anim-g1-277"/>
          <p:cNvSpPr/>
          <p:nvPr/>
        </p:nvSpPr>
        <p:spPr>
          <a:xfrm>
            <a:off x="9040901"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العلاقة</a:t>
            </a:r>
            <a:endParaRPr lang="ar-SA" sz="2500" dirty="0"/>
          </a:p>
        </p:txBody>
      </p:sp>
      <p:sp>
        <p:nvSpPr>
          <p:cNvPr id="11" name="anim-g1-278"/>
          <p:cNvSpPr/>
          <p:nvPr/>
        </p:nvSpPr>
        <p:spPr>
          <a:xfrm>
            <a:off x="9086621"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«أنا مهتم بك، ولهذا طلبتك»</a:t>
            </a:r>
            <a:endParaRPr lang="ar-SA" sz="2000" dirty="0"/>
          </a:p>
        </p:txBody>
      </p:sp>
      <p:sp>
        <p:nvSpPr>
          <p:cNvPr id="12" name="anim-g2-279"/>
          <p:cNvSpPr/>
          <p:nvPr/>
        </p:nvSpPr>
        <p:spPr>
          <a:xfrm>
            <a:off x="6210148" y="2148840"/>
            <a:ext cx="2464994" cy="3383280"/>
          </a:xfrm>
          <a:prstGeom prst="roundRect">
            <a:avLst>
              <a:gd name="adj" fmla="val 6677"/>
            </a:avLst>
          </a:prstGeom>
          <a:solidFill>
            <a:srgbClr val="FFFFFF"/>
          </a:solidFill>
          <a:ln w="12700">
            <a:solidFill>
              <a:srgbClr val="E4DCC8"/>
            </a:solidFill>
            <a:prstDash val="solid"/>
          </a:ln>
        </p:spPr>
      </p:sp>
      <p:sp>
        <p:nvSpPr>
          <p:cNvPr id="13" name="anim-g2-280"/>
          <p:cNvSpPr/>
          <p:nvPr/>
        </p:nvSpPr>
        <p:spPr>
          <a:xfrm>
            <a:off x="7054024" y="2423160"/>
            <a:ext cx="777240" cy="777240"/>
          </a:xfrm>
          <a:prstGeom prst="ellipse">
            <a:avLst/>
          </a:prstGeom>
          <a:solidFill>
            <a:srgbClr val="D9AE4B"/>
          </a:solidFill>
          <a:ln/>
        </p:spPr>
      </p:sp>
      <p:sp>
        <p:nvSpPr>
          <p:cNvPr id="14" name="anim-g2-281"/>
          <p:cNvSpPr/>
          <p:nvPr/>
        </p:nvSpPr>
        <p:spPr>
          <a:xfrm>
            <a:off x="7054024"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٢</a:t>
            </a:r>
            <a:endParaRPr lang="ar-SA" sz="2800" dirty="0"/>
          </a:p>
        </p:txBody>
      </p:sp>
      <p:sp>
        <p:nvSpPr>
          <p:cNvPr id="15" name="anim-g2-282"/>
          <p:cNvSpPr/>
          <p:nvPr/>
        </p:nvSpPr>
        <p:spPr>
          <a:xfrm>
            <a:off x="6347308"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السلوك</a:t>
            </a:r>
            <a:endParaRPr lang="ar-SA" sz="2500" dirty="0"/>
          </a:p>
        </p:txBody>
      </p:sp>
      <p:sp>
        <p:nvSpPr>
          <p:cNvPr id="16" name="anim-g2-283"/>
          <p:cNvSpPr/>
          <p:nvPr/>
        </p:nvSpPr>
        <p:spPr>
          <a:xfrm>
            <a:off x="6393028"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«لاحظت أنك…» صف ما حدث، لا شخصيته</a:t>
            </a:r>
            <a:endParaRPr lang="ar-SA" sz="2000" dirty="0"/>
          </a:p>
        </p:txBody>
      </p:sp>
      <p:sp>
        <p:nvSpPr>
          <p:cNvPr id="17" name="anim-g3-284"/>
          <p:cNvSpPr/>
          <p:nvPr/>
        </p:nvSpPr>
        <p:spPr>
          <a:xfrm>
            <a:off x="3516554" y="2148840"/>
            <a:ext cx="2464994" cy="3383280"/>
          </a:xfrm>
          <a:prstGeom prst="roundRect">
            <a:avLst>
              <a:gd name="adj" fmla="val 6677"/>
            </a:avLst>
          </a:prstGeom>
          <a:solidFill>
            <a:srgbClr val="FFFFFF"/>
          </a:solidFill>
          <a:ln w="12700">
            <a:solidFill>
              <a:srgbClr val="E4DCC8"/>
            </a:solidFill>
            <a:prstDash val="solid"/>
          </a:ln>
        </p:spPr>
      </p:sp>
      <p:sp>
        <p:nvSpPr>
          <p:cNvPr id="18" name="anim-g3-285"/>
          <p:cNvSpPr/>
          <p:nvPr/>
        </p:nvSpPr>
        <p:spPr>
          <a:xfrm>
            <a:off x="4360431" y="2423160"/>
            <a:ext cx="777240" cy="777240"/>
          </a:xfrm>
          <a:prstGeom prst="ellipse">
            <a:avLst/>
          </a:prstGeom>
          <a:solidFill>
            <a:srgbClr val="D9AE4B"/>
          </a:solidFill>
          <a:ln/>
        </p:spPr>
      </p:sp>
      <p:sp>
        <p:nvSpPr>
          <p:cNvPr id="19" name="anim-g3-286"/>
          <p:cNvSpPr/>
          <p:nvPr/>
        </p:nvSpPr>
        <p:spPr>
          <a:xfrm>
            <a:off x="4360431"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٣</a:t>
            </a:r>
            <a:endParaRPr lang="ar-SA" sz="2800" dirty="0"/>
          </a:p>
        </p:txBody>
      </p:sp>
      <p:sp>
        <p:nvSpPr>
          <p:cNvPr id="20" name="anim-g3-287"/>
          <p:cNvSpPr/>
          <p:nvPr/>
        </p:nvSpPr>
        <p:spPr>
          <a:xfrm>
            <a:off x="3653714"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اسأل</a:t>
            </a:r>
            <a:endParaRPr lang="ar-SA" sz="2500" dirty="0"/>
          </a:p>
        </p:txBody>
      </p:sp>
      <p:sp>
        <p:nvSpPr>
          <p:cNvPr id="21" name="anim-g3-288"/>
          <p:cNvSpPr/>
          <p:nvPr/>
        </p:nvSpPr>
        <p:spPr>
          <a:xfrm>
            <a:off x="3699434"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«ما الذي يحدث؟» واستمع دون مقاطعة</a:t>
            </a:r>
            <a:endParaRPr lang="ar-SA" sz="2000" dirty="0"/>
          </a:p>
        </p:txBody>
      </p:sp>
      <p:sp>
        <p:nvSpPr>
          <p:cNvPr id="22" name="anim-g4-289"/>
          <p:cNvSpPr/>
          <p:nvPr/>
        </p:nvSpPr>
        <p:spPr>
          <a:xfrm>
            <a:off x="822960" y="2148840"/>
            <a:ext cx="2464994" cy="3383280"/>
          </a:xfrm>
          <a:prstGeom prst="roundRect">
            <a:avLst>
              <a:gd name="adj" fmla="val 6677"/>
            </a:avLst>
          </a:prstGeom>
          <a:solidFill>
            <a:srgbClr val="FFFFFF"/>
          </a:solidFill>
          <a:ln w="12700">
            <a:solidFill>
              <a:srgbClr val="E4DCC8"/>
            </a:solidFill>
            <a:prstDash val="solid"/>
          </a:ln>
        </p:spPr>
      </p:sp>
      <p:sp>
        <p:nvSpPr>
          <p:cNvPr id="23" name="anim-g4-290"/>
          <p:cNvSpPr/>
          <p:nvPr/>
        </p:nvSpPr>
        <p:spPr>
          <a:xfrm>
            <a:off x="1666837" y="2423160"/>
            <a:ext cx="777240" cy="777240"/>
          </a:xfrm>
          <a:prstGeom prst="ellipse">
            <a:avLst/>
          </a:prstGeom>
          <a:solidFill>
            <a:srgbClr val="D9AE4B"/>
          </a:solidFill>
          <a:ln/>
        </p:spPr>
      </p:sp>
      <p:sp>
        <p:nvSpPr>
          <p:cNvPr id="24" name="anim-g4-291"/>
          <p:cNvSpPr/>
          <p:nvPr/>
        </p:nvSpPr>
        <p:spPr>
          <a:xfrm>
            <a:off x="1666837"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٤</a:t>
            </a:r>
            <a:endParaRPr lang="ar-SA" sz="2800" dirty="0"/>
          </a:p>
        </p:txBody>
      </p:sp>
      <p:sp>
        <p:nvSpPr>
          <p:cNvPr id="25" name="anim-g4-292"/>
          <p:cNvSpPr/>
          <p:nvPr/>
        </p:nvSpPr>
        <p:spPr>
          <a:xfrm>
            <a:off x="960120"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خطوة واحدة</a:t>
            </a:r>
            <a:endParaRPr lang="ar-SA" sz="2500" dirty="0"/>
          </a:p>
        </p:txBody>
      </p:sp>
      <p:sp>
        <p:nvSpPr>
          <p:cNvPr id="26" name="anim-g4-293"/>
          <p:cNvSpPr/>
          <p:nvPr/>
        </p:nvSpPr>
        <p:spPr>
          <a:xfrm>
            <a:off x="1005840"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«ماذا ستفعل غدًا؟ وكيف أساعدك؟»</a:t>
            </a:r>
            <a:endParaRPr lang="ar-SA" sz="2000" dirty="0"/>
          </a:p>
        </p:txBody>
      </p:sp>
      <p:sp>
        <p:nvSpPr>
          <p:cNvPr id="27" name="Text 2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8" name="Text 2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صندوق أدوات المعلم  ·  ٤١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400"/>
                                        <p:tgtEl>
                                          <p:spTgt spid="1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40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4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400"/>
                                        <p:tgtEl>
                                          <p:spTgt spid="1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400"/>
                                        <p:tgtEl>
                                          <p:spTgt spid="2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400"/>
                                        <p:tgtEl>
                                          <p:spTgt spid="21"/>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400"/>
                                        <p:tgtEl>
                                          <p:spTgt spid="2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400"/>
                                        <p:tgtEl>
                                          <p:spTgt spid="2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400"/>
                                        <p:tgtEl>
                                          <p:spTgt spid="2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400"/>
                                        <p:tgtEl>
                                          <p:spTgt spid="2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833311" y="457200"/>
            <a:ext cx="4535424" cy="457200"/>
          </a:xfrm>
          <a:prstGeom prst="roundRect">
            <a:avLst>
              <a:gd name="adj" fmla="val 50000"/>
            </a:avLst>
          </a:prstGeom>
          <a:solidFill>
            <a:srgbClr val="F6EBCF"/>
          </a:solidFill>
          <a:ln/>
        </p:spPr>
      </p:sp>
      <p:sp>
        <p:nvSpPr>
          <p:cNvPr id="3" name="Text 1"/>
          <p:cNvSpPr/>
          <p:nvPr/>
        </p:nvSpPr>
        <p:spPr>
          <a:xfrm>
            <a:off x="6833311" y="457200"/>
            <a:ext cx="453542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الأداة ٦ · الحوار الترميمي</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خمسة أسئلة تُصلح بدل أن تعاقب</a:t>
            </a:r>
            <a:endParaRPr lang="ar-SA" sz="3800" dirty="0"/>
          </a:p>
        </p:txBody>
      </p:sp>
      <p:sp>
        <p:nvSpPr>
          <p:cNvPr id="5" name="anim-g1-294"/>
          <p:cNvSpPr/>
          <p:nvPr/>
        </p:nvSpPr>
        <p:spPr>
          <a:xfrm>
            <a:off x="822960" y="1920240"/>
            <a:ext cx="10545775" cy="735178"/>
          </a:xfrm>
          <a:prstGeom prst="roundRect">
            <a:avLst>
              <a:gd name="adj" fmla="val 19900"/>
            </a:avLst>
          </a:prstGeom>
          <a:solidFill>
            <a:srgbClr val="FFFFFF"/>
          </a:solidFill>
          <a:ln w="12700">
            <a:solidFill>
              <a:srgbClr val="E4DCC8"/>
            </a:solidFill>
            <a:prstDash val="solid"/>
          </a:ln>
        </p:spPr>
      </p:sp>
      <p:sp>
        <p:nvSpPr>
          <p:cNvPr id="6" name="anim-g1-295"/>
          <p:cNvSpPr/>
          <p:nvPr/>
        </p:nvSpPr>
        <p:spPr>
          <a:xfrm>
            <a:off x="10587838" y="2011680"/>
            <a:ext cx="552298" cy="552298"/>
          </a:xfrm>
          <a:prstGeom prst="ellipse">
            <a:avLst/>
          </a:prstGeom>
          <a:solidFill>
            <a:srgbClr val="D9AE4B"/>
          </a:solidFill>
          <a:ln/>
        </p:spPr>
      </p:sp>
      <p:sp>
        <p:nvSpPr>
          <p:cNvPr id="7" name="anim-g1-296"/>
          <p:cNvSpPr/>
          <p:nvPr/>
        </p:nvSpPr>
        <p:spPr>
          <a:xfrm>
            <a:off x="10587838" y="2011680"/>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297"/>
          <p:cNvSpPr/>
          <p:nvPr/>
        </p:nvSpPr>
        <p:spPr>
          <a:xfrm>
            <a:off x="1097280" y="1920240"/>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ماذا حدث؟</a:t>
            </a:r>
            <a:pPr algn="r" indent="0" marL="0">
              <a:buNone/>
            </a:pPr>
            <a:r>
              <a:rPr lang="ar-SA" altLang="en-US" sz="1800" b="1" dirty="0">
                <a:solidFill>
                  <a:srgbClr val="3B4460"/>
                </a:solidFill>
                <a:latin typeface="Cairo" pitchFamily="34" charset="0"/>
                <a:ea typeface="Cairo" pitchFamily="34" charset="-122"/>
                <a:cs typeface="Cairo" pitchFamily="34" charset="-120"/>
              </a:rPr>
              <a:t>   — يروي الطالب القصة من وجهة نظره</a:t>
            </a:r>
            <a:endParaRPr lang="ar-SA" sz="2200" dirty="0"/>
          </a:p>
        </p:txBody>
      </p:sp>
      <p:sp>
        <p:nvSpPr>
          <p:cNvPr id="9" name="anim-g2-298"/>
          <p:cNvSpPr/>
          <p:nvPr/>
        </p:nvSpPr>
        <p:spPr>
          <a:xfrm>
            <a:off x="822960" y="2765146"/>
            <a:ext cx="10545775" cy="735178"/>
          </a:xfrm>
          <a:prstGeom prst="roundRect">
            <a:avLst>
              <a:gd name="adj" fmla="val 19900"/>
            </a:avLst>
          </a:prstGeom>
          <a:solidFill>
            <a:srgbClr val="FFFFFF"/>
          </a:solidFill>
          <a:ln w="12700">
            <a:solidFill>
              <a:srgbClr val="E4DCC8"/>
            </a:solidFill>
            <a:prstDash val="solid"/>
          </a:ln>
        </p:spPr>
      </p:sp>
      <p:sp>
        <p:nvSpPr>
          <p:cNvPr id="10" name="anim-g2-299"/>
          <p:cNvSpPr/>
          <p:nvPr/>
        </p:nvSpPr>
        <p:spPr>
          <a:xfrm>
            <a:off x="10587838" y="2856586"/>
            <a:ext cx="552298" cy="552298"/>
          </a:xfrm>
          <a:prstGeom prst="ellipse">
            <a:avLst/>
          </a:prstGeom>
          <a:solidFill>
            <a:srgbClr val="D9AE4B"/>
          </a:solidFill>
          <a:ln/>
        </p:spPr>
      </p:sp>
      <p:sp>
        <p:nvSpPr>
          <p:cNvPr id="11" name="anim-g2-300"/>
          <p:cNvSpPr/>
          <p:nvPr/>
        </p:nvSpPr>
        <p:spPr>
          <a:xfrm>
            <a:off x="10587838" y="2856586"/>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301"/>
          <p:cNvSpPr/>
          <p:nvPr/>
        </p:nvSpPr>
        <p:spPr>
          <a:xfrm>
            <a:off x="1097280" y="2765146"/>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بماذا كنت تفكر وقتها؟</a:t>
            </a:r>
            <a:pPr algn="r" indent="0" marL="0">
              <a:buNone/>
            </a:pPr>
            <a:r>
              <a:rPr lang="ar-SA" altLang="en-US" sz="1800" b="1" dirty="0">
                <a:solidFill>
                  <a:srgbClr val="3B4460"/>
                </a:solidFill>
                <a:latin typeface="Cairo" pitchFamily="34" charset="0"/>
                <a:ea typeface="Cairo" pitchFamily="34" charset="-122"/>
                <a:cs typeface="Cairo" pitchFamily="34" charset="-120"/>
              </a:rPr>
              <a:t>   — نفهم الدافع دون حكم</a:t>
            </a:r>
            <a:endParaRPr lang="ar-SA" sz="2200" dirty="0"/>
          </a:p>
        </p:txBody>
      </p:sp>
      <p:sp>
        <p:nvSpPr>
          <p:cNvPr id="13" name="anim-g3-302"/>
          <p:cNvSpPr/>
          <p:nvPr/>
        </p:nvSpPr>
        <p:spPr>
          <a:xfrm>
            <a:off x="822960" y="3610051"/>
            <a:ext cx="10545775" cy="735178"/>
          </a:xfrm>
          <a:prstGeom prst="roundRect">
            <a:avLst>
              <a:gd name="adj" fmla="val 19900"/>
            </a:avLst>
          </a:prstGeom>
          <a:solidFill>
            <a:srgbClr val="FFFFFF"/>
          </a:solidFill>
          <a:ln w="12700">
            <a:solidFill>
              <a:srgbClr val="E4DCC8"/>
            </a:solidFill>
            <a:prstDash val="solid"/>
          </a:ln>
        </p:spPr>
      </p:sp>
      <p:sp>
        <p:nvSpPr>
          <p:cNvPr id="14" name="anim-g3-303"/>
          <p:cNvSpPr/>
          <p:nvPr/>
        </p:nvSpPr>
        <p:spPr>
          <a:xfrm>
            <a:off x="10587838" y="3701491"/>
            <a:ext cx="552298" cy="552298"/>
          </a:xfrm>
          <a:prstGeom prst="ellipse">
            <a:avLst/>
          </a:prstGeom>
          <a:solidFill>
            <a:srgbClr val="D9AE4B"/>
          </a:solidFill>
          <a:ln/>
        </p:spPr>
      </p:sp>
      <p:sp>
        <p:nvSpPr>
          <p:cNvPr id="15" name="anim-g3-304"/>
          <p:cNvSpPr/>
          <p:nvPr/>
        </p:nvSpPr>
        <p:spPr>
          <a:xfrm>
            <a:off x="10587838" y="3701491"/>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305"/>
          <p:cNvSpPr/>
          <p:nvPr/>
        </p:nvSpPr>
        <p:spPr>
          <a:xfrm>
            <a:off x="1097280" y="3610051"/>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من تأثر بما فعلت؟ وكيف؟</a:t>
            </a:r>
            <a:pPr algn="r" indent="0" marL="0">
              <a:buNone/>
            </a:pPr>
            <a:r>
              <a:rPr lang="ar-SA" altLang="en-US" sz="1800" b="1" dirty="0">
                <a:solidFill>
                  <a:srgbClr val="3B4460"/>
                </a:solidFill>
                <a:latin typeface="Cairo" pitchFamily="34" charset="0"/>
                <a:ea typeface="Cairo" pitchFamily="34" charset="-122"/>
                <a:cs typeface="Cairo" pitchFamily="34" charset="-120"/>
              </a:rPr>
              <a:t>   — يرى أثر سلوكه على الآخرين</a:t>
            </a:r>
            <a:endParaRPr lang="ar-SA" sz="2200" dirty="0"/>
          </a:p>
        </p:txBody>
      </p:sp>
      <p:sp>
        <p:nvSpPr>
          <p:cNvPr id="17" name="anim-g4-306"/>
          <p:cNvSpPr/>
          <p:nvPr/>
        </p:nvSpPr>
        <p:spPr>
          <a:xfrm>
            <a:off x="822960" y="4454957"/>
            <a:ext cx="10545775" cy="735178"/>
          </a:xfrm>
          <a:prstGeom prst="roundRect">
            <a:avLst>
              <a:gd name="adj" fmla="val 19900"/>
            </a:avLst>
          </a:prstGeom>
          <a:solidFill>
            <a:srgbClr val="FFFFFF"/>
          </a:solidFill>
          <a:ln w="12700">
            <a:solidFill>
              <a:srgbClr val="E4DCC8"/>
            </a:solidFill>
            <a:prstDash val="solid"/>
          </a:ln>
        </p:spPr>
      </p:sp>
      <p:sp>
        <p:nvSpPr>
          <p:cNvPr id="18" name="anim-g4-307"/>
          <p:cNvSpPr/>
          <p:nvPr/>
        </p:nvSpPr>
        <p:spPr>
          <a:xfrm>
            <a:off x="10587838" y="4546397"/>
            <a:ext cx="552298" cy="552298"/>
          </a:xfrm>
          <a:prstGeom prst="ellipse">
            <a:avLst/>
          </a:prstGeom>
          <a:solidFill>
            <a:srgbClr val="D9AE4B"/>
          </a:solidFill>
          <a:ln/>
        </p:spPr>
      </p:sp>
      <p:sp>
        <p:nvSpPr>
          <p:cNvPr id="19" name="anim-g4-308"/>
          <p:cNvSpPr/>
          <p:nvPr/>
        </p:nvSpPr>
        <p:spPr>
          <a:xfrm>
            <a:off x="10587838" y="4546397"/>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309"/>
          <p:cNvSpPr/>
          <p:nvPr/>
        </p:nvSpPr>
        <p:spPr>
          <a:xfrm>
            <a:off x="1097280" y="4454957"/>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ماذا تحتاج أن تفعل لإصلاح الأمر؟</a:t>
            </a:r>
            <a:pPr algn="r" indent="0" marL="0">
              <a:buNone/>
            </a:pPr>
            <a:r>
              <a:rPr lang="ar-SA" altLang="en-US" sz="1800" b="1" dirty="0">
                <a:solidFill>
                  <a:srgbClr val="3B4460"/>
                </a:solidFill>
                <a:latin typeface="Cairo" pitchFamily="34" charset="0"/>
                <a:ea typeface="Cairo" pitchFamily="34" charset="-122"/>
                <a:cs typeface="Cairo" pitchFamily="34" charset="-120"/>
              </a:rPr>
              <a:t>   — هو من يقترح الإصلاح</a:t>
            </a:r>
            <a:endParaRPr lang="ar-SA" sz="2200" dirty="0"/>
          </a:p>
        </p:txBody>
      </p:sp>
      <p:sp>
        <p:nvSpPr>
          <p:cNvPr id="21" name="anim-g5-310"/>
          <p:cNvSpPr/>
          <p:nvPr/>
        </p:nvSpPr>
        <p:spPr>
          <a:xfrm>
            <a:off x="822960" y="5299862"/>
            <a:ext cx="10545775" cy="735178"/>
          </a:xfrm>
          <a:prstGeom prst="roundRect">
            <a:avLst>
              <a:gd name="adj" fmla="val 19900"/>
            </a:avLst>
          </a:prstGeom>
          <a:solidFill>
            <a:srgbClr val="FFFFFF"/>
          </a:solidFill>
          <a:ln w="12700">
            <a:solidFill>
              <a:srgbClr val="E4DCC8"/>
            </a:solidFill>
            <a:prstDash val="solid"/>
          </a:ln>
        </p:spPr>
      </p:sp>
      <p:sp>
        <p:nvSpPr>
          <p:cNvPr id="22" name="anim-g5-311"/>
          <p:cNvSpPr/>
          <p:nvPr/>
        </p:nvSpPr>
        <p:spPr>
          <a:xfrm>
            <a:off x="10587838" y="5391302"/>
            <a:ext cx="552298" cy="552298"/>
          </a:xfrm>
          <a:prstGeom prst="ellipse">
            <a:avLst/>
          </a:prstGeom>
          <a:solidFill>
            <a:srgbClr val="D9AE4B"/>
          </a:solidFill>
          <a:ln/>
        </p:spPr>
      </p:sp>
      <p:sp>
        <p:nvSpPr>
          <p:cNvPr id="23" name="anim-g5-312"/>
          <p:cNvSpPr/>
          <p:nvPr/>
        </p:nvSpPr>
        <p:spPr>
          <a:xfrm>
            <a:off x="10587838" y="5391302"/>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٥</a:t>
            </a:r>
            <a:endParaRPr lang="ar-SA" sz="2000" dirty="0"/>
          </a:p>
        </p:txBody>
      </p:sp>
      <p:sp>
        <p:nvSpPr>
          <p:cNvPr id="24" name="anim-g5-313"/>
          <p:cNvSpPr/>
          <p:nvPr/>
        </p:nvSpPr>
        <p:spPr>
          <a:xfrm>
            <a:off x="1097280" y="5299862"/>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ماذا ستفعل مختلفًا في المرة القادمة؟</a:t>
            </a:r>
            <a:pPr algn="r" indent="0" marL="0">
              <a:buNone/>
            </a:pPr>
            <a:r>
              <a:rPr lang="ar-SA" altLang="en-US" sz="1800" b="1" dirty="0">
                <a:solidFill>
                  <a:srgbClr val="3B4460"/>
                </a:solidFill>
                <a:latin typeface="Cairo" pitchFamily="34" charset="0"/>
                <a:ea typeface="Cairo" pitchFamily="34" charset="-122"/>
                <a:cs typeface="Cairo" pitchFamily="34" charset="-120"/>
              </a:rPr>
              <a:t>   — خطة للمستقبل لا لوم على الماضي</a:t>
            </a:r>
            <a:endParaRPr lang="ar-SA" sz="22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صندوق أدوات المعلم  ·  ٤٢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400"/>
                                        <p:tgtEl>
                                          <p:spTgt spid="2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name="Slide 4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442655" y="457200"/>
            <a:ext cx="2926080" cy="457200"/>
          </a:xfrm>
          <a:prstGeom prst="roundRect">
            <a:avLst>
              <a:gd name="adj" fmla="val 50000"/>
            </a:avLst>
          </a:prstGeom>
          <a:solidFill>
            <a:srgbClr val="F6EBCF"/>
          </a:solidFill>
          <a:ln/>
        </p:spPr>
      </p:sp>
      <p:sp>
        <p:nvSpPr>
          <p:cNvPr id="3" name="Text 1"/>
          <p:cNvSpPr/>
          <p:nvPr/>
        </p:nvSpPr>
        <p:spPr>
          <a:xfrm>
            <a:off x="8442655" y="457200"/>
            <a:ext cx="292608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وقود كل الأدوات</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قاعدة ٤ إلى ١: التعزيز قبل التصحيح</a:t>
            </a:r>
            <a:endParaRPr lang="ar-SA" sz="3200" dirty="0"/>
          </a:p>
        </p:txBody>
      </p:sp>
      <p:sp>
        <p:nvSpPr>
          <p:cNvPr id="5" name="anim-g1-314"/>
          <p:cNvSpPr/>
          <p:nvPr/>
        </p:nvSpPr>
        <p:spPr>
          <a:xfrm>
            <a:off x="8036357"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315"/>
          <p:cNvSpPr/>
          <p:nvPr/>
        </p:nvSpPr>
        <p:spPr>
          <a:xfrm>
            <a:off x="10362895" y="2404872"/>
            <a:ext cx="731520" cy="731520"/>
          </a:xfrm>
          <a:prstGeom prst="roundRect">
            <a:avLst>
              <a:gd name="adj" fmla="val 25000"/>
            </a:avLst>
          </a:prstGeom>
          <a:solidFill>
            <a:srgbClr val="F7E6BC"/>
          </a:solidFill>
          <a:ln/>
        </p:spPr>
      </p:sp>
      <p:sp>
        <p:nvSpPr>
          <p:cNvPr id="7" name="anim-g1-316"/>
          <p:cNvSpPr/>
          <p:nvPr/>
        </p:nvSpPr>
        <p:spPr>
          <a:xfrm>
            <a:off x="10362895"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4️⃣</a:t>
            </a:r>
            <a:endParaRPr lang="ar-SA" sz="2900" dirty="0"/>
          </a:p>
        </p:txBody>
      </p:sp>
      <p:sp>
        <p:nvSpPr>
          <p:cNvPr id="8" name="anim-g1-317"/>
          <p:cNvSpPr/>
          <p:nvPr/>
        </p:nvSpPr>
        <p:spPr>
          <a:xfrm>
            <a:off x="8310677"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أربع ملاحظات إيجابية</a:t>
            </a:r>
            <a:endParaRPr lang="ar-SA" sz="2300" dirty="0"/>
          </a:p>
        </p:txBody>
      </p:sp>
      <p:sp>
        <p:nvSpPr>
          <p:cNvPr id="9" name="anim-g1-318"/>
          <p:cNvSpPr/>
          <p:nvPr/>
        </p:nvSpPr>
        <p:spPr>
          <a:xfrm>
            <a:off x="8310677"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لكل ملاحظة تصحيحية واحدة، كما توصي برامج دعم السلوك الإيجابي</a:t>
            </a:r>
            <a:endParaRPr lang="ar-SA" sz="2100" dirty="0"/>
          </a:p>
        </p:txBody>
      </p:sp>
      <p:sp>
        <p:nvSpPr>
          <p:cNvPr id="10" name="anim-g2-319"/>
          <p:cNvSpPr/>
          <p:nvPr/>
        </p:nvSpPr>
        <p:spPr>
          <a:xfrm>
            <a:off x="4429658"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320"/>
          <p:cNvSpPr/>
          <p:nvPr/>
        </p:nvSpPr>
        <p:spPr>
          <a:xfrm>
            <a:off x="6756197" y="2404872"/>
            <a:ext cx="731520" cy="731520"/>
          </a:xfrm>
          <a:prstGeom prst="roundRect">
            <a:avLst>
              <a:gd name="adj" fmla="val 25000"/>
            </a:avLst>
          </a:prstGeom>
          <a:solidFill>
            <a:srgbClr val="F7E6BC"/>
          </a:solidFill>
          <a:ln/>
        </p:spPr>
      </p:sp>
      <p:sp>
        <p:nvSpPr>
          <p:cNvPr id="12" name="anim-g2-321"/>
          <p:cNvSpPr/>
          <p:nvPr/>
        </p:nvSpPr>
        <p:spPr>
          <a:xfrm>
            <a:off x="6756197"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3" name="anim-g2-322"/>
          <p:cNvSpPr/>
          <p:nvPr/>
        </p:nvSpPr>
        <p:spPr>
          <a:xfrm>
            <a:off x="4703978"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امدح السلوك</a:t>
            </a:r>
            <a:endParaRPr lang="ar-SA" sz="2300" dirty="0"/>
          </a:p>
        </p:txBody>
      </p:sp>
      <p:sp>
        <p:nvSpPr>
          <p:cNvPr id="14" name="anim-g2-323"/>
          <p:cNvSpPr/>
          <p:nvPr/>
        </p:nvSpPr>
        <p:spPr>
          <a:xfrm>
            <a:off x="4703978"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«رتّبت أدواتك بسرعة» أقوى من «أنت رائع»</a:t>
            </a:r>
            <a:endParaRPr lang="ar-SA" sz="2100" dirty="0"/>
          </a:p>
        </p:txBody>
      </p:sp>
      <p:sp>
        <p:nvSpPr>
          <p:cNvPr id="15" name="anim-g3-324"/>
          <p:cNvSpPr/>
          <p:nvPr/>
        </p:nvSpPr>
        <p:spPr>
          <a:xfrm>
            <a:off x="822960"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325"/>
          <p:cNvSpPr/>
          <p:nvPr/>
        </p:nvSpPr>
        <p:spPr>
          <a:xfrm>
            <a:off x="3149498" y="2404872"/>
            <a:ext cx="731520" cy="731520"/>
          </a:xfrm>
          <a:prstGeom prst="roundRect">
            <a:avLst>
              <a:gd name="adj" fmla="val 25000"/>
            </a:avLst>
          </a:prstGeom>
          <a:solidFill>
            <a:srgbClr val="F7E6BC"/>
          </a:solidFill>
          <a:ln/>
        </p:spPr>
      </p:sp>
      <p:sp>
        <p:nvSpPr>
          <p:cNvPr id="17" name="anim-g3-326"/>
          <p:cNvSpPr/>
          <p:nvPr/>
        </p:nvSpPr>
        <p:spPr>
          <a:xfrm>
            <a:off x="3149498"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8" name="anim-g3-327"/>
          <p:cNvSpPr/>
          <p:nvPr/>
        </p:nvSpPr>
        <p:spPr>
          <a:xfrm>
            <a:off x="1097280"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علنًا وسرًّا</a:t>
            </a:r>
            <a:endParaRPr lang="ar-SA" sz="2300" dirty="0"/>
          </a:p>
        </p:txBody>
      </p:sp>
      <p:sp>
        <p:nvSpPr>
          <p:cNvPr id="19" name="anim-g3-328"/>
          <p:cNvSpPr/>
          <p:nvPr/>
        </p:nvSpPr>
        <p:spPr>
          <a:xfrm>
            <a:off x="1097280"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المدح أمام الجميع، والتصحيح على انفراد قدر الإمكان</a:t>
            </a:r>
            <a:endParaRPr lang="ar-SA" sz="21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صندوق أدوات المعلم  ·  ٤٣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779112" y="1188720"/>
            <a:ext cx="2633472"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779112" y="1188720"/>
            <a:ext cx="263347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الصندوق</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افهم السبب…</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ثم اختر أصغر أداة تكفي</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صندوق أدوات المعلم  ·  ٤٤</a:t>
            </a:r>
            <a:endParaRPr lang="ar-SA"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٥</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المحطة ٥</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أنماط القيادة الصفية</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كيف تقود فصلك؟ بالخوف… أم بالفوضى… أم بالحزم الدافئ؟</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أنماط القيادة الصفية  ·  ٤٥</a:t>
            </a:r>
            <a:endParaRPr lang="ar-SA"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مربع القيادة</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نمطك يحدده أمران: الحزم والدفء</a:t>
            </a:r>
            <a:endParaRPr lang="ar-SA" sz="3800" dirty="0"/>
          </a:p>
        </p:txBody>
      </p:sp>
      <p:sp>
        <p:nvSpPr>
          <p:cNvPr id="5" name="Text 3"/>
          <p:cNvSpPr/>
          <p:nvPr/>
        </p:nvSpPr>
        <p:spPr>
          <a:xfrm rot="16200000">
            <a:off x="10865815" y="1874520"/>
            <a:ext cx="502920" cy="1655064"/>
          </a:xfrm>
          <a:prstGeom prst="rect">
            <a:avLst/>
          </a:prstGeom>
          <a:noFill/>
          <a:ln/>
        </p:spPr>
        <p:txBody>
          <a:bodyPr wrap="square" lIns="0" tIns="0" rIns="0" bIns="0" rtlCol="0" anchor="ctr">
            <a:normAutofit/>
          </a:bodyPr>
          <a:lstStyle/>
          <a:p>
            <a:pPr rtl="1" algn="ctr" indent="0" marL="0">
              <a:buNone/>
            </a:pPr>
            <a:r>
              <a:rPr lang="ar-SA" altLang="en-US" sz="1800" b="1" dirty="0">
                <a:solidFill>
                  <a:srgbClr val="5E6782"/>
                </a:solidFill>
                <a:latin typeface="Cairo" pitchFamily="34" charset="0"/>
                <a:ea typeface="Cairo" pitchFamily="34" charset="-122"/>
                <a:cs typeface="Cairo" pitchFamily="34" charset="-120"/>
              </a:rPr>
              <a:t>حزم مرتفع</a:t>
            </a:r>
            <a:endParaRPr lang="ar-SA" sz="1800" dirty="0"/>
          </a:p>
        </p:txBody>
      </p:sp>
      <p:sp>
        <p:nvSpPr>
          <p:cNvPr id="6" name="Text 4"/>
          <p:cNvSpPr/>
          <p:nvPr/>
        </p:nvSpPr>
        <p:spPr>
          <a:xfrm rot="16200000">
            <a:off x="10865815" y="3694176"/>
            <a:ext cx="502920" cy="1655064"/>
          </a:xfrm>
          <a:prstGeom prst="rect">
            <a:avLst/>
          </a:prstGeom>
          <a:noFill/>
          <a:ln/>
        </p:spPr>
        <p:txBody>
          <a:bodyPr wrap="square" lIns="0" tIns="0" rIns="0" bIns="0" rtlCol="0" anchor="ctr">
            <a:normAutofit/>
          </a:bodyPr>
          <a:lstStyle/>
          <a:p>
            <a:pPr rtl="1" algn="ctr" indent="0" marL="0">
              <a:buNone/>
            </a:pPr>
            <a:r>
              <a:rPr lang="ar-SA" altLang="en-US" sz="1800" b="1" dirty="0">
                <a:solidFill>
                  <a:srgbClr val="5E6782"/>
                </a:solidFill>
                <a:latin typeface="Cairo" pitchFamily="34" charset="0"/>
                <a:ea typeface="Cairo" pitchFamily="34" charset="-122"/>
                <a:cs typeface="Cairo" pitchFamily="34" charset="-120"/>
              </a:rPr>
              <a:t>حزم منخفض</a:t>
            </a:r>
            <a:endParaRPr lang="ar-SA" sz="1800" dirty="0"/>
          </a:p>
        </p:txBody>
      </p:sp>
      <p:sp>
        <p:nvSpPr>
          <p:cNvPr id="7" name="Text 5"/>
          <p:cNvSpPr/>
          <p:nvPr/>
        </p:nvSpPr>
        <p:spPr>
          <a:xfrm>
            <a:off x="5844388" y="5394960"/>
            <a:ext cx="4856836" cy="320040"/>
          </a:xfrm>
          <a:prstGeom prst="rect">
            <a:avLst/>
          </a:prstGeom>
          <a:noFill/>
          <a:ln/>
        </p:spPr>
        <p:txBody>
          <a:bodyPr wrap="square" lIns="0" tIns="0" rIns="0" bIns="0" rtlCol="0" anchor="ctr">
            <a:normAutofit/>
          </a:bodyPr>
          <a:lstStyle/>
          <a:p>
            <a:pPr rtl="1" algn="ctr" indent="0" marL="0">
              <a:buNone/>
            </a:pPr>
            <a:r>
              <a:rPr lang="ar-SA" altLang="en-US" sz="1800" b="1" dirty="0">
                <a:solidFill>
                  <a:srgbClr val="5E6782"/>
                </a:solidFill>
                <a:latin typeface="Cairo" pitchFamily="34" charset="0"/>
                <a:ea typeface="Cairo" pitchFamily="34" charset="-122"/>
                <a:cs typeface="Cairo" pitchFamily="34" charset="-120"/>
              </a:rPr>
              <a:t>دفء منخفض</a:t>
            </a:r>
            <a:endParaRPr lang="ar-SA" sz="1800" dirty="0"/>
          </a:p>
        </p:txBody>
      </p:sp>
      <p:sp>
        <p:nvSpPr>
          <p:cNvPr id="8" name="Text 6"/>
          <p:cNvSpPr/>
          <p:nvPr/>
        </p:nvSpPr>
        <p:spPr>
          <a:xfrm>
            <a:off x="822960" y="5394960"/>
            <a:ext cx="4856836" cy="320040"/>
          </a:xfrm>
          <a:prstGeom prst="rect">
            <a:avLst/>
          </a:prstGeom>
          <a:noFill/>
          <a:ln/>
        </p:spPr>
        <p:txBody>
          <a:bodyPr wrap="square" lIns="0" tIns="0" rIns="0" bIns="0" rtlCol="0" anchor="ctr">
            <a:normAutofit/>
          </a:bodyPr>
          <a:lstStyle/>
          <a:p>
            <a:pPr rtl="1" algn="ctr" indent="0" marL="0">
              <a:buNone/>
            </a:pPr>
            <a:r>
              <a:rPr lang="ar-SA" altLang="en-US" sz="1800" b="1" dirty="0">
                <a:solidFill>
                  <a:srgbClr val="5E6782"/>
                </a:solidFill>
                <a:latin typeface="Cairo" pitchFamily="34" charset="0"/>
                <a:ea typeface="Cairo" pitchFamily="34" charset="-122"/>
                <a:cs typeface="Cairo" pitchFamily="34" charset="-120"/>
              </a:rPr>
              <a:t>دفء مرتفع</a:t>
            </a:r>
            <a:endParaRPr lang="ar-SA" sz="1800" dirty="0"/>
          </a:p>
        </p:txBody>
      </p:sp>
      <p:sp>
        <p:nvSpPr>
          <p:cNvPr id="9" name="anim-g1-329"/>
          <p:cNvSpPr/>
          <p:nvPr/>
        </p:nvSpPr>
        <p:spPr>
          <a:xfrm>
            <a:off x="5844388" y="1874520"/>
            <a:ext cx="4856836" cy="1655064"/>
          </a:xfrm>
          <a:prstGeom prst="roundRect">
            <a:avLst>
              <a:gd name="adj" fmla="val 11050"/>
            </a:avLst>
          </a:prstGeom>
          <a:solidFill>
            <a:srgbClr val="FFFFFF"/>
          </a:solidFill>
          <a:ln w="19050">
            <a:solidFill>
              <a:srgbClr val="E4DCC8"/>
            </a:solidFill>
            <a:prstDash val="solid"/>
          </a:ln>
        </p:spPr>
      </p:sp>
      <p:sp>
        <p:nvSpPr>
          <p:cNvPr id="10" name="anim-g1-330"/>
          <p:cNvSpPr/>
          <p:nvPr/>
        </p:nvSpPr>
        <p:spPr>
          <a:xfrm>
            <a:off x="9878263" y="2011680"/>
            <a:ext cx="640080" cy="54864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11" name="anim-g1-331"/>
          <p:cNvSpPr/>
          <p:nvPr/>
        </p:nvSpPr>
        <p:spPr>
          <a:xfrm>
            <a:off x="6118708" y="2011680"/>
            <a:ext cx="3759556" cy="548640"/>
          </a:xfrm>
          <a:prstGeom prst="rect">
            <a:avLst/>
          </a:prstGeom>
          <a:noFill/>
          <a:ln/>
        </p:spPr>
        <p:txBody>
          <a:bodyPr wrap="square" lIns="0" tIns="0" rIns="0" bIns="0" rtlCol="0" anchor="ctr">
            <a:normAutofit/>
          </a:bodyPr>
          <a:lstStyle/>
          <a:p>
            <a:pPr rtl="1" algn="r" indent="0" marL="0">
              <a:buNone/>
            </a:pPr>
            <a:r>
              <a:rPr lang="ar-SA" altLang="en-US" sz="2400" dirty="0">
                <a:solidFill>
                  <a:srgbClr val="101B45"/>
                </a:solidFill>
                <a:latin typeface="Cairo Black" pitchFamily="34" charset="0"/>
                <a:ea typeface="Cairo Black" pitchFamily="34" charset="-122"/>
                <a:cs typeface="Cairo Black" pitchFamily="34" charset="-120"/>
              </a:rPr>
              <a:t>التسلّطي</a:t>
            </a:r>
            <a:endParaRPr lang="ar-SA" sz="2400" dirty="0"/>
          </a:p>
        </p:txBody>
      </p:sp>
      <p:sp>
        <p:nvSpPr>
          <p:cNvPr id="12" name="anim-g1-332"/>
          <p:cNvSpPr/>
          <p:nvPr/>
        </p:nvSpPr>
        <p:spPr>
          <a:xfrm>
            <a:off x="6118708" y="2606040"/>
            <a:ext cx="4308196" cy="786384"/>
          </a:xfrm>
          <a:prstGeom prst="rect">
            <a:avLst/>
          </a:prstGeom>
          <a:noFill/>
          <a:ln/>
        </p:spPr>
        <p:txBody>
          <a:bodyPr wrap="square" lIns="0" tIns="0" rIns="0" bIns="0" rtlCol="0" anchor="t">
            <a:normAutofit/>
          </a:bodyPr>
          <a:lstStyle/>
          <a:p>
            <a:pPr rtl="1" algn="r" indent="0" marL="0">
              <a:buNone/>
            </a:pPr>
            <a:r>
              <a:rPr lang="ar-SA" altLang="en-US" sz="2000" b="1" dirty="0">
                <a:solidFill>
                  <a:srgbClr val="3B4460"/>
                </a:solidFill>
                <a:latin typeface="Cairo" pitchFamily="34" charset="0"/>
                <a:ea typeface="Cairo" pitchFamily="34" charset="-122"/>
                <a:cs typeface="Cairo" pitchFamily="34" charset="-120"/>
              </a:rPr>
              <a:t>قواعد صارمة بلا علاقة. انضباط لحظي، وخوف، وطلاب لا يتعلمون المسؤولية</a:t>
            </a:r>
            <a:endParaRPr lang="ar-SA" sz="2000" dirty="0"/>
          </a:p>
        </p:txBody>
      </p:sp>
      <p:sp>
        <p:nvSpPr>
          <p:cNvPr id="13" name="anim-g2-333"/>
          <p:cNvSpPr/>
          <p:nvPr/>
        </p:nvSpPr>
        <p:spPr>
          <a:xfrm>
            <a:off x="822960" y="1874520"/>
            <a:ext cx="4856836" cy="1655064"/>
          </a:xfrm>
          <a:prstGeom prst="roundRect">
            <a:avLst>
              <a:gd name="adj" fmla="val 11050"/>
            </a:avLst>
          </a:prstGeom>
          <a:solidFill>
            <a:srgbClr val="FBEBC0"/>
          </a:solidFill>
          <a:ln w="31750">
            <a:solidFill>
              <a:srgbClr val="D9AE4B"/>
            </a:solidFill>
            <a:prstDash val="solid"/>
          </a:ln>
        </p:spPr>
      </p:sp>
      <p:sp>
        <p:nvSpPr>
          <p:cNvPr id="14" name="anim-g2-334"/>
          <p:cNvSpPr/>
          <p:nvPr/>
        </p:nvSpPr>
        <p:spPr>
          <a:xfrm>
            <a:off x="4856836" y="2011680"/>
            <a:ext cx="640080" cy="54864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15" name="anim-g2-335"/>
          <p:cNvSpPr/>
          <p:nvPr/>
        </p:nvSpPr>
        <p:spPr>
          <a:xfrm>
            <a:off x="1097280" y="2011680"/>
            <a:ext cx="3759556" cy="548640"/>
          </a:xfrm>
          <a:prstGeom prst="rect">
            <a:avLst/>
          </a:prstGeom>
          <a:noFill/>
          <a:ln/>
        </p:spPr>
        <p:txBody>
          <a:bodyPr wrap="square" lIns="0" tIns="0" rIns="0" bIns="0" rtlCol="0" anchor="ctr">
            <a:normAutofit/>
          </a:bodyPr>
          <a:lstStyle/>
          <a:p>
            <a:pPr rtl="1" algn="r" indent="0" marL="0">
              <a:buNone/>
            </a:pPr>
            <a:r>
              <a:rPr lang="ar-SA" altLang="en-US" sz="2400" dirty="0">
                <a:solidFill>
                  <a:srgbClr val="101B45"/>
                </a:solidFill>
                <a:latin typeface="Cairo Black" pitchFamily="34" charset="0"/>
                <a:ea typeface="Cairo Black" pitchFamily="34" charset="-122"/>
                <a:cs typeface="Cairo Black" pitchFamily="34" charset="-120"/>
              </a:rPr>
              <a:t>الحازم الدافئ ⭐</a:t>
            </a:r>
            <a:endParaRPr lang="ar-SA" sz="2400" dirty="0"/>
          </a:p>
        </p:txBody>
      </p:sp>
      <p:sp>
        <p:nvSpPr>
          <p:cNvPr id="16" name="anim-g2-336"/>
          <p:cNvSpPr/>
          <p:nvPr/>
        </p:nvSpPr>
        <p:spPr>
          <a:xfrm>
            <a:off x="1097280" y="2606040"/>
            <a:ext cx="4308196" cy="786384"/>
          </a:xfrm>
          <a:prstGeom prst="rect">
            <a:avLst/>
          </a:prstGeom>
          <a:noFill/>
          <a:ln/>
        </p:spPr>
        <p:txBody>
          <a:bodyPr wrap="square" lIns="0" tIns="0" rIns="0" bIns="0" rtlCol="0" anchor="t">
            <a:normAutofit/>
          </a:bodyPr>
          <a:lstStyle/>
          <a:p>
            <a:pPr rtl="1" algn="r" indent="0" marL="0">
              <a:buNone/>
            </a:pPr>
            <a:r>
              <a:rPr lang="ar-SA" altLang="en-US" sz="2000" b="1" dirty="0">
                <a:solidFill>
                  <a:srgbClr val="3B4460"/>
                </a:solidFill>
                <a:latin typeface="Cairo" pitchFamily="34" charset="0"/>
                <a:ea typeface="Cairo" pitchFamily="34" charset="-122"/>
                <a:cs typeface="Cairo" pitchFamily="34" charset="-120"/>
              </a:rPr>
              <a:t>قواعد واضحة وعلاقة قوية. احترام حقيقي، وطلاب يتحملون المسؤولية</a:t>
            </a:r>
            <a:endParaRPr lang="ar-SA" sz="2000" dirty="0"/>
          </a:p>
        </p:txBody>
      </p:sp>
      <p:sp>
        <p:nvSpPr>
          <p:cNvPr id="17" name="anim-g3-337"/>
          <p:cNvSpPr/>
          <p:nvPr/>
        </p:nvSpPr>
        <p:spPr>
          <a:xfrm>
            <a:off x="5844388" y="3694176"/>
            <a:ext cx="4856836" cy="1655064"/>
          </a:xfrm>
          <a:prstGeom prst="roundRect">
            <a:avLst>
              <a:gd name="adj" fmla="val 11050"/>
            </a:avLst>
          </a:prstGeom>
          <a:solidFill>
            <a:srgbClr val="FFFFFF"/>
          </a:solidFill>
          <a:ln w="19050">
            <a:solidFill>
              <a:srgbClr val="E4DCC8"/>
            </a:solidFill>
            <a:prstDash val="solid"/>
          </a:ln>
        </p:spPr>
      </p:sp>
      <p:sp>
        <p:nvSpPr>
          <p:cNvPr id="18" name="anim-g3-338"/>
          <p:cNvSpPr/>
          <p:nvPr/>
        </p:nvSpPr>
        <p:spPr>
          <a:xfrm>
            <a:off x="9878263" y="3831336"/>
            <a:ext cx="640080" cy="54864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19" name="anim-g3-339"/>
          <p:cNvSpPr/>
          <p:nvPr/>
        </p:nvSpPr>
        <p:spPr>
          <a:xfrm>
            <a:off x="6118708" y="3831336"/>
            <a:ext cx="3759556" cy="548640"/>
          </a:xfrm>
          <a:prstGeom prst="rect">
            <a:avLst/>
          </a:prstGeom>
          <a:noFill/>
          <a:ln/>
        </p:spPr>
        <p:txBody>
          <a:bodyPr wrap="square" lIns="0" tIns="0" rIns="0" bIns="0" rtlCol="0" anchor="ctr">
            <a:normAutofit/>
          </a:bodyPr>
          <a:lstStyle/>
          <a:p>
            <a:pPr rtl="1" algn="r" indent="0" marL="0">
              <a:buNone/>
            </a:pPr>
            <a:r>
              <a:rPr lang="ar-SA" altLang="en-US" sz="2400" dirty="0">
                <a:solidFill>
                  <a:srgbClr val="101B45"/>
                </a:solidFill>
                <a:latin typeface="Cairo Black" pitchFamily="34" charset="0"/>
                <a:ea typeface="Cairo Black" pitchFamily="34" charset="-122"/>
                <a:cs typeface="Cairo Black" pitchFamily="34" charset="-120"/>
              </a:rPr>
              <a:t>المتسيّب</a:t>
            </a:r>
            <a:endParaRPr lang="ar-SA" sz="2400" dirty="0"/>
          </a:p>
        </p:txBody>
      </p:sp>
      <p:sp>
        <p:nvSpPr>
          <p:cNvPr id="20" name="anim-g3-340"/>
          <p:cNvSpPr/>
          <p:nvPr/>
        </p:nvSpPr>
        <p:spPr>
          <a:xfrm>
            <a:off x="6118708" y="4425696"/>
            <a:ext cx="4308196" cy="786384"/>
          </a:xfrm>
          <a:prstGeom prst="rect">
            <a:avLst/>
          </a:prstGeom>
          <a:noFill/>
          <a:ln/>
        </p:spPr>
        <p:txBody>
          <a:bodyPr wrap="square" lIns="0" tIns="0" rIns="0" bIns="0" rtlCol="0" anchor="t">
            <a:normAutofit/>
          </a:bodyPr>
          <a:lstStyle/>
          <a:p>
            <a:pPr rtl="1" algn="r" indent="0" marL="0">
              <a:buNone/>
            </a:pPr>
            <a:r>
              <a:rPr lang="ar-SA" altLang="en-US" sz="2000" b="1" dirty="0">
                <a:solidFill>
                  <a:srgbClr val="3B4460"/>
                </a:solidFill>
                <a:latin typeface="Cairo" pitchFamily="34" charset="0"/>
                <a:ea typeface="Cairo" pitchFamily="34" charset="-122"/>
                <a:cs typeface="Cairo" pitchFamily="34" charset="-120"/>
              </a:rPr>
              <a:t>لا قواعد ولا علاقة. فوضى، وضياع وقت، وفقدان هيبة المعلم</a:t>
            </a:r>
            <a:endParaRPr lang="ar-SA" sz="2000" dirty="0"/>
          </a:p>
        </p:txBody>
      </p:sp>
      <p:sp>
        <p:nvSpPr>
          <p:cNvPr id="21" name="anim-g4-341"/>
          <p:cNvSpPr/>
          <p:nvPr/>
        </p:nvSpPr>
        <p:spPr>
          <a:xfrm>
            <a:off x="822960" y="3694176"/>
            <a:ext cx="4856836" cy="1655064"/>
          </a:xfrm>
          <a:prstGeom prst="roundRect">
            <a:avLst>
              <a:gd name="adj" fmla="val 11050"/>
            </a:avLst>
          </a:prstGeom>
          <a:solidFill>
            <a:srgbClr val="FFFFFF"/>
          </a:solidFill>
          <a:ln w="19050">
            <a:solidFill>
              <a:srgbClr val="E4DCC8"/>
            </a:solidFill>
            <a:prstDash val="solid"/>
          </a:ln>
        </p:spPr>
      </p:sp>
      <p:sp>
        <p:nvSpPr>
          <p:cNvPr id="22" name="anim-g4-342"/>
          <p:cNvSpPr/>
          <p:nvPr/>
        </p:nvSpPr>
        <p:spPr>
          <a:xfrm>
            <a:off x="4856836" y="3831336"/>
            <a:ext cx="640080" cy="54864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23" name="anim-g4-343"/>
          <p:cNvSpPr/>
          <p:nvPr/>
        </p:nvSpPr>
        <p:spPr>
          <a:xfrm>
            <a:off x="1097280" y="3831336"/>
            <a:ext cx="3759556" cy="548640"/>
          </a:xfrm>
          <a:prstGeom prst="rect">
            <a:avLst/>
          </a:prstGeom>
          <a:noFill/>
          <a:ln/>
        </p:spPr>
        <p:txBody>
          <a:bodyPr wrap="square" lIns="0" tIns="0" rIns="0" bIns="0" rtlCol="0" anchor="ctr">
            <a:normAutofit/>
          </a:bodyPr>
          <a:lstStyle/>
          <a:p>
            <a:pPr rtl="1" algn="r" indent="0" marL="0">
              <a:buNone/>
            </a:pPr>
            <a:r>
              <a:rPr lang="ar-SA" altLang="en-US" sz="2400" dirty="0">
                <a:solidFill>
                  <a:srgbClr val="101B45"/>
                </a:solidFill>
                <a:latin typeface="Cairo Black" pitchFamily="34" charset="0"/>
                <a:ea typeface="Cairo Black" pitchFamily="34" charset="-122"/>
                <a:cs typeface="Cairo Black" pitchFamily="34" charset="-120"/>
              </a:rPr>
              <a:t>العاطفي</a:t>
            </a:r>
            <a:endParaRPr lang="ar-SA" sz="2400" dirty="0"/>
          </a:p>
        </p:txBody>
      </p:sp>
      <p:sp>
        <p:nvSpPr>
          <p:cNvPr id="24" name="anim-g4-344"/>
          <p:cNvSpPr/>
          <p:nvPr/>
        </p:nvSpPr>
        <p:spPr>
          <a:xfrm>
            <a:off x="1097280" y="4425696"/>
            <a:ext cx="4308196" cy="786384"/>
          </a:xfrm>
          <a:prstGeom prst="rect">
            <a:avLst/>
          </a:prstGeom>
          <a:noFill/>
          <a:ln/>
        </p:spPr>
        <p:txBody>
          <a:bodyPr wrap="square" lIns="0" tIns="0" rIns="0" bIns="0" rtlCol="0" anchor="t">
            <a:normAutofit/>
          </a:bodyPr>
          <a:lstStyle/>
          <a:p>
            <a:pPr rtl="1" algn="r" indent="0" marL="0">
              <a:buNone/>
            </a:pPr>
            <a:r>
              <a:rPr lang="ar-SA" altLang="en-US" sz="2000" b="1" dirty="0">
                <a:solidFill>
                  <a:srgbClr val="3B4460"/>
                </a:solidFill>
                <a:latin typeface="Cairo" pitchFamily="34" charset="0"/>
                <a:ea typeface="Cairo" pitchFamily="34" charset="-122"/>
                <a:cs typeface="Cairo" pitchFamily="34" charset="-120"/>
              </a:rPr>
              <a:t>علاقة بلا قواعد. محبوب لكن الطلاب يستغلون طيبته</a:t>
            </a:r>
            <a:endParaRPr lang="ar-SA" sz="20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أنماط القيادة الصفية  ·  ٤٦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40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00"/>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400"/>
                                        <p:tgtEl>
                                          <p:spTgt spid="1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400"/>
                                        <p:tgtEl>
                                          <p:spTgt spid="18"/>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400"/>
                                        <p:tgtEl>
                                          <p:spTgt spid="19"/>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400"/>
                                        <p:tgtEl>
                                          <p:spTgt spid="2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400"/>
                                        <p:tgtEl>
                                          <p:spTgt spid="22"/>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400"/>
                                        <p:tgtEl>
                                          <p:spTgt spid="23"/>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name="Slide 4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442655" y="457200"/>
            <a:ext cx="2926080" cy="457200"/>
          </a:xfrm>
          <a:prstGeom prst="roundRect">
            <a:avLst>
              <a:gd name="adj" fmla="val 50000"/>
            </a:avLst>
          </a:prstGeom>
          <a:solidFill>
            <a:srgbClr val="F6EBCF"/>
          </a:solidFill>
          <a:ln/>
        </p:spPr>
      </p:sp>
      <p:sp>
        <p:nvSpPr>
          <p:cNvPr id="3" name="Text 1"/>
          <p:cNvSpPr/>
          <p:nvPr/>
        </p:nvSpPr>
        <p:spPr>
          <a:xfrm>
            <a:off x="8442655" y="457200"/>
            <a:ext cx="292608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كيف تعرف النمط؟</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جملة واحدة تكشف كل نمط</a:t>
            </a:r>
            <a:endParaRPr lang="ar-SA" sz="3800" dirty="0"/>
          </a:p>
        </p:txBody>
      </p:sp>
      <p:sp>
        <p:nvSpPr>
          <p:cNvPr id="5" name="anim-g1-345"/>
          <p:cNvSpPr/>
          <p:nvPr/>
        </p:nvSpPr>
        <p:spPr>
          <a:xfrm>
            <a:off x="8938031"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346"/>
          <p:cNvSpPr/>
          <p:nvPr/>
        </p:nvSpPr>
        <p:spPr>
          <a:xfrm>
            <a:off x="10362895" y="2404872"/>
            <a:ext cx="731520" cy="731520"/>
          </a:xfrm>
          <a:prstGeom prst="roundRect">
            <a:avLst>
              <a:gd name="adj" fmla="val 25000"/>
            </a:avLst>
          </a:prstGeom>
          <a:solidFill>
            <a:srgbClr val="F7E6BC"/>
          </a:solidFill>
          <a:ln/>
        </p:spPr>
      </p:sp>
      <p:sp>
        <p:nvSpPr>
          <p:cNvPr id="7" name="anim-g1-347"/>
          <p:cNvSpPr/>
          <p:nvPr/>
        </p:nvSpPr>
        <p:spPr>
          <a:xfrm>
            <a:off x="10362895"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8" name="anim-g1-348"/>
          <p:cNvSpPr/>
          <p:nvPr/>
        </p:nvSpPr>
        <p:spPr>
          <a:xfrm>
            <a:off x="9212351"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التسلّطي</a:t>
            </a:r>
            <a:endParaRPr lang="ar-SA" sz="2300" dirty="0"/>
          </a:p>
        </p:txBody>
      </p:sp>
      <p:sp>
        <p:nvSpPr>
          <p:cNvPr id="9" name="anim-g1-349"/>
          <p:cNvSpPr/>
          <p:nvPr/>
        </p:nvSpPr>
        <p:spPr>
          <a:xfrm>
            <a:off x="9212351"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«لأنني قلت ذلك!»</a:t>
            </a:r>
            <a:endParaRPr lang="ar-SA" sz="2100" dirty="0"/>
          </a:p>
        </p:txBody>
      </p:sp>
      <p:sp>
        <p:nvSpPr>
          <p:cNvPr id="10" name="anim-g2-350"/>
          <p:cNvSpPr/>
          <p:nvPr/>
        </p:nvSpPr>
        <p:spPr>
          <a:xfrm>
            <a:off x="6233008"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351"/>
          <p:cNvSpPr/>
          <p:nvPr/>
        </p:nvSpPr>
        <p:spPr>
          <a:xfrm>
            <a:off x="7657871" y="2404872"/>
            <a:ext cx="731520" cy="731520"/>
          </a:xfrm>
          <a:prstGeom prst="roundRect">
            <a:avLst>
              <a:gd name="adj" fmla="val 25000"/>
            </a:avLst>
          </a:prstGeom>
          <a:solidFill>
            <a:srgbClr val="F7E6BC"/>
          </a:solidFill>
          <a:ln/>
        </p:spPr>
      </p:sp>
      <p:sp>
        <p:nvSpPr>
          <p:cNvPr id="12" name="anim-g2-352"/>
          <p:cNvSpPr/>
          <p:nvPr/>
        </p:nvSpPr>
        <p:spPr>
          <a:xfrm>
            <a:off x="7657871"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3" name="anim-g2-353"/>
          <p:cNvSpPr/>
          <p:nvPr/>
        </p:nvSpPr>
        <p:spPr>
          <a:xfrm>
            <a:off x="6507328"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المتسيّب</a:t>
            </a:r>
            <a:endParaRPr lang="ar-SA" sz="2300" dirty="0"/>
          </a:p>
        </p:txBody>
      </p:sp>
      <p:sp>
        <p:nvSpPr>
          <p:cNvPr id="14" name="anim-g2-354"/>
          <p:cNvSpPr/>
          <p:nvPr/>
        </p:nvSpPr>
        <p:spPr>
          <a:xfrm>
            <a:off x="6507328"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«افعلوا ما شئتم، أنا موجود إن أردتم»</a:t>
            </a:r>
            <a:endParaRPr lang="ar-SA" sz="2100" dirty="0"/>
          </a:p>
        </p:txBody>
      </p:sp>
      <p:sp>
        <p:nvSpPr>
          <p:cNvPr id="15" name="anim-g3-355"/>
          <p:cNvSpPr/>
          <p:nvPr/>
        </p:nvSpPr>
        <p:spPr>
          <a:xfrm>
            <a:off x="3527984"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356"/>
          <p:cNvSpPr/>
          <p:nvPr/>
        </p:nvSpPr>
        <p:spPr>
          <a:xfrm>
            <a:off x="4952848" y="2404872"/>
            <a:ext cx="731520" cy="731520"/>
          </a:xfrm>
          <a:prstGeom prst="roundRect">
            <a:avLst>
              <a:gd name="adj" fmla="val 25000"/>
            </a:avLst>
          </a:prstGeom>
          <a:solidFill>
            <a:srgbClr val="F7E6BC"/>
          </a:solidFill>
          <a:ln/>
        </p:spPr>
      </p:sp>
      <p:sp>
        <p:nvSpPr>
          <p:cNvPr id="17" name="anim-g3-357"/>
          <p:cNvSpPr/>
          <p:nvPr/>
        </p:nvSpPr>
        <p:spPr>
          <a:xfrm>
            <a:off x="4952848"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8" name="anim-g3-358"/>
          <p:cNvSpPr/>
          <p:nvPr/>
        </p:nvSpPr>
        <p:spPr>
          <a:xfrm>
            <a:off x="3802304"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العاطفي</a:t>
            </a:r>
            <a:endParaRPr lang="ar-SA" sz="2300" dirty="0"/>
          </a:p>
        </p:txBody>
      </p:sp>
      <p:sp>
        <p:nvSpPr>
          <p:cNvPr id="19" name="anim-g3-359"/>
          <p:cNvSpPr/>
          <p:nvPr/>
        </p:nvSpPr>
        <p:spPr>
          <a:xfrm>
            <a:off x="3802304"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«أرجوكم… من أجلي»</a:t>
            </a:r>
            <a:endParaRPr lang="ar-SA" sz="2100" dirty="0"/>
          </a:p>
        </p:txBody>
      </p:sp>
      <p:sp>
        <p:nvSpPr>
          <p:cNvPr id="20" name="anim-g4-360"/>
          <p:cNvSpPr/>
          <p:nvPr/>
        </p:nvSpPr>
        <p:spPr>
          <a:xfrm>
            <a:off x="822960"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361"/>
          <p:cNvSpPr/>
          <p:nvPr/>
        </p:nvSpPr>
        <p:spPr>
          <a:xfrm>
            <a:off x="2247824" y="2404872"/>
            <a:ext cx="731520" cy="731520"/>
          </a:xfrm>
          <a:prstGeom prst="roundRect">
            <a:avLst>
              <a:gd name="adj" fmla="val 25000"/>
            </a:avLst>
          </a:prstGeom>
          <a:solidFill>
            <a:srgbClr val="F7E6BC"/>
          </a:solidFill>
          <a:ln/>
        </p:spPr>
      </p:sp>
      <p:sp>
        <p:nvSpPr>
          <p:cNvPr id="22" name="anim-g4-362"/>
          <p:cNvSpPr/>
          <p:nvPr/>
        </p:nvSpPr>
        <p:spPr>
          <a:xfrm>
            <a:off x="2247824"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23" name="anim-g4-363"/>
          <p:cNvSpPr/>
          <p:nvPr/>
        </p:nvSpPr>
        <p:spPr>
          <a:xfrm>
            <a:off x="1097280"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الحازم الدافئ</a:t>
            </a:r>
            <a:endParaRPr lang="ar-SA" sz="2300" dirty="0"/>
          </a:p>
        </p:txBody>
      </p:sp>
      <p:sp>
        <p:nvSpPr>
          <p:cNvPr id="24" name="anim-g4-364"/>
          <p:cNvSpPr/>
          <p:nvPr/>
        </p:nvSpPr>
        <p:spPr>
          <a:xfrm>
            <a:off x="1097280"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«أنا أهتم بك، ولهذا لن أسمح بهذا»</a:t>
            </a:r>
            <a:endParaRPr lang="ar-SA" sz="21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أنماط القيادة الصفية  ·  ٤٧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name="Slide 4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418527" y="457200"/>
            <a:ext cx="395020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7418527" y="457200"/>
            <a:ext cx="395020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نشاط فردي — ثلاث دقائق</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F0CC7A"/>
                </a:solidFill>
                <a:latin typeface="Cairo Black" pitchFamily="34" charset="0"/>
                <a:ea typeface="Cairo Black" pitchFamily="34" charset="-122"/>
                <a:cs typeface="Cairo Black" pitchFamily="34" charset="-120"/>
              </a:rPr>
              <a:t>حدّد نمطك بصدق</a:t>
            </a:r>
            <a:endParaRPr lang="ar-SA" sz="3800" dirty="0"/>
          </a:p>
        </p:txBody>
      </p:sp>
      <p:sp>
        <p:nvSpPr>
          <p:cNvPr id="5" name="anim-g1-365"/>
          <p:cNvSpPr/>
          <p:nvPr/>
        </p:nvSpPr>
        <p:spPr>
          <a:xfrm>
            <a:off x="10637215" y="2286000"/>
            <a:ext cx="731520" cy="731520"/>
          </a:xfrm>
          <a:prstGeom prst="ellipse">
            <a:avLst/>
          </a:prstGeom>
          <a:solidFill>
            <a:srgbClr val="D9AE4B"/>
          </a:solidFill>
          <a:ln/>
        </p:spPr>
      </p:sp>
      <p:sp>
        <p:nvSpPr>
          <p:cNvPr id="6" name="anim-g1-366"/>
          <p:cNvSpPr/>
          <p:nvPr/>
        </p:nvSpPr>
        <p:spPr>
          <a:xfrm>
            <a:off x="10637215" y="228600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١</a:t>
            </a:r>
            <a:endParaRPr lang="ar-SA" sz="2400" dirty="0"/>
          </a:p>
        </p:txBody>
      </p:sp>
      <p:sp>
        <p:nvSpPr>
          <p:cNvPr id="7" name="anim-g1-367"/>
          <p:cNvSpPr/>
          <p:nvPr/>
        </p:nvSpPr>
        <p:spPr>
          <a:xfrm>
            <a:off x="4023360" y="219456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تذكّر آخر موقف صعب واجهته في فصلك</a:t>
            </a:r>
            <a:endParaRPr lang="ar-SA" sz="2200" dirty="0"/>
          </a:p>
        </p:txBody>
      </p:sp>
      <p:sp>
        <p:nvSpPr>
          <p:cNvPr id="8" name="anim-g2-368"/>
          <p:cNvSpPr/>
          <p:nvPr/>
        </p:nvSpPr>
        <p:spPr>
          <a:xfrm>
            <a:off x="10637215" y="3383280"/>
            <a:ext cx="731520" cy="731520"/>
          </a:xfrm>
          <a:prstGeom prst="ellipse">
            <a:avLst/>
          </a:prstGeom>
          <a:solidFill>
            <a:srgbClr val="D9AE4B"/>
          </a:solidFill>
          <a:ln/>
        </p:spPr>
      </p:sp>
      <p:sp>
        <p:nvSpPr>
          <p:cNvPr id="9" name="anim-g2-369"/>
          <p:cNvSpPr/>
          <p:nvPr/>
        </p:nvSpPr>
        <p:spPr>
          <a:xfrm>
            <a:off x="10637215" y="338328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٢</a:t>
            </a:r>
            <a:endParaRPr lang="ar-SA" sz="2400" dirty="0"/>
          </a:p>
        </p:txBody>
      </p:sp>
      <p:sp>
        <p:nvSpPr>
          <p:cNvPr id="10" name="anim-g2-370"/>
          <p:cNvSpPr/>
          <p:nvPr/>
        </p:nvSpPr>
        <p:spPr>
          <a:xfrm>
            <a:off x="4023360" y="329184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أي الجمل الأربع كانت الأقرب لما قلته؟</a:t>
            </a:r>
            <a:endParaRPr lang="ar-SA" sz="2200" dirty="0"/>
          </a:p>
        </p:txBody>
      </p:sp>
      <p:sp>
        <p:nvSpPr>
          <p:cNvPr id="11" name="anim-g3-371"/>
          <p:cNvSpPr/>
          <p:nvPr/>
        </p:nvSpPr>
        <p:spPr>
          <a:xfrm>
            <a:off x="10637215" y="4480560"/>
            <a:ext cx="731520" cy="731520"/>
          </a:xfrm>
          <a:prstGeom prst="ellipse">
            <a:avLst/>
          </a:prstGeom>
          <a:solidFill>
            <a:srgbClr val="D9AE4B"/>
          </a:solidFill>
          <a:ln/>
        </p:spPr>
      </p:sp>
      <p:sp>
        <p:nvSpPr>
          <p:cNvPr id="12" name="anim-g3-372"/>
          <p:cNvSpPr/>
          <p:nvPr/>
        </p:nvSpPr>
        <p:spPr>
          <a:xfrm>
            <a:off x="10637215" y="448056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٣</a:t>
            </a:r>
            <a:endParaRPr lang="ar-SA" sz="2400" dirty="0"/>
          </a:p>
        </p:txBody>
      </p:sp>
      <p:sp>
        <p:nvSpPr>
          <p:cNvPr id="13" name="anim-g3-373"/>
          <p:cNvSpPr/>
          <p:nvPr/>
        </p:nvSpPr>
        <p:spPr>
          <a:xfrm>
            <a:off x="4023360" y="438912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ضع نفسك في المربع… وحدّد خطوة واحدة نحو «الحازم الدافئ»</a:t>
            </a:r>
            <a:endParaRPr lang="ar-SA" sz="2200" dirty="0"/>
          </a:p>
        </p:txBody>
      </p:sp>
      <p:sp>
        <p:nvSpPr>
          <p:cNvPr id="14" name="Shape 12"/>
          <p:cNvSpPr/>
          <p:nvPr/>
        </p:nvSpPr>
        <p:spPr>
          <a:xfrm>
            <a:off x="822960" y="2194560"/>
            <a:ext cx="2834640" cy="2834640"/>
          </a:xfrm>
          <a:prstGeom prst="ellipse">
            <a:avLst/>
          </a:prstGeom>
          <a:solidFill>
            <a:srgbClr val="FFFFFF">
              <a:alpha val="5000"/>
            </a:srgbClr>
          </a:solidFill>
          <a:ln w="88900">
            <a:solidFill>
              <a:srgbClr val="D9AE4B">
                <a:alpha val="50000"/>
              </a:srgbClr>
            </a:solidFill>
            <a:prstDash val="solid"/>
          </a:ln>
        </p:spPr>
      </p:sp>
      <p:sp>
        <p:nvSpPr>
          <p:cNvPr id="15" name="Text 13"/>
          <p:cNvSpPr/>
          <p:nvPr/>
        </p:nvSpPr>
        <p:spPr>
          <a:xfrm>
            <a:off x="822960" y="2834640"/>
            <a:ext cx="2834640" cy="1097280"/>
          </a:xfrm>
          <a:prstGeom prst="rect">
            <a:avLst/>
          </a:prstGeom>
          <a:noFill/>
          <a:ln/>
        </p:spPr>
        <p:txBody>
          <a:bodyPr wrap="square" lIns="0" tIns="0" rIns="0" bIns="0" rtlCol="0" anchor="ctr">
            <a:normAutofit/>
          </a:bodyPr>
          <a:lstStyle/>
          <a:p>
            <a:pPr algn="ctr" indent="0" marL="0">
              <a:buNone/>
            </a:pPr>
            <a:r>
              <a:rPr lang="ar-SA" altLang="en-US" sz="6000" dirty="0">
                <a:solidFill>
                  <a:srgbClr val="F0CC7A"/>
                </a:solidFill>
                <a:latin typeface="Cairo Black" pitchFamily="34" charset="0"/>
                <a:ea typeface="Cairo Black" pitchFamily="34" charset="-122"/>
                <a:cs typeface="Cairo Black" pitchFamily="34" charset="-120"/>
              </a:rPr>
              <a:t>3:00</a:t>
            </a:r>
            <a:endParaRPr lang="ar-SA" sz="6000" dirty="0"/>
          </a:p>
        </p:txBody>
      </p:sp>
      <p:sp>
        <p:nvSpPr>
          <p:cNvPr id="16" name="Text 14"/>
          <p:cNvSpPr/>
          <p:nvPr/>
        </p:nvSpPr>
        <p:spPr>
          <a:xfrm>
            <a:off x="822960" y="3840480"/>
            <a:ext cx="2834640"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C9CFE6"/>
                </a:solidFill>
                <a:latin typeface="Cairo" pitchFamily="34" charset="0"/>
                <a:ea typeface="Cairo" pitchFamily="34" charset="-122"/>
                <a:cs typeface="Cairo" pitchFamily="34" charset="-120"/>
              </a:rPr>
              <a:t>٣ دقائق</a:t>
            </a:r>
            <a:endParaRPr lang="ar-SA" sz="1600" dirty="0"/>
          </a:p>
        </p:txBody>
      </p:sp>
      <p:sp>
        <p:nvSpPr>
          <p:cNvPr id="17" name="Text 1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18" name="Text 1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أنماط القيادة الصفية  ·  ٤٨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name="Slide 4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296351" y="457200"/>
            <a:ext cx="3072384" cy="457200"/>
          </a:xfrm>
          <a:prstGeom prst="roundRect">
            <a:avLst>
              <a:gd name="adj" fmla="val 50000"/>
            </a:avLst>
          </a:prstGeom>
          <a:solidFill>
            <a:srgbClr val="F6EBCF"/>
          </a:solidFill>
          <a:ln/>
        </p:spPr>
      </p:sp>
      <p:sp>
        <p:nvSpPr>
          <p:cNvPr id="3" name="Text 1"/>
          <p:cNvSpPr/>
          <p:nvPr/>
        </p:nvSpPr>
        <p:spPr>
          <a:xfrm>
            <a:off x="8296351" y="457200"/>
            <a:ext cx="307238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القيادة المشتركة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الطلاب شركاء في قيادة الفصل</a:t>
            </a:r>
            <a:endParaRPr lang="ar-SA" sz="3800" dirty="0"/>
          </a:p>
        </p:txBody>
      </p:sp>
      <p:sp>
        <p:nvSpPr>
          <p:cNvPr id="5" name="anim-g1-374"/>
          <p:cNvSpPr/>
          <p:nvPr/>
        </p:nvSpPr>
        <p:spPr>
          <a:xfrm>
            <a:off x="8036357" y="201168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375"/>
          <p:cNvSpPr/>
          <p:nvPr/>
        </p:nvSpPr>
        <p:spPr>
          <a:xfrm>
            <a:off x="10527487" y="2267712"/>
            <a:ext cx="566928" cy="566928"/>
          </a:xfrm>
          <a:prstGeom prst="roundRect">
            <a:avLst>
              <a:gd name="adj" fmla="val 32258"/>
            </a:avLst>
          </a:prstGeom>
          <a:solidFill>
            <a:srgbClr val="F7E6BC"/>
          </a:solidFill>
          <a:ln/>
        </p:spPr>
      </p:sp>
      <p:sp>
        <p:nvSpPr>
          <p:cNvPr id="7" name="anim-g1-376"/>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377"/>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مسؤول النظام</a:t>
            </a:r>
            <a:endParaRPr lang="ar-SA" sz="2200" dirty="0"/>
          </a:p>
        </p:txBody>
      </p:sp>
      <p:sp>
        <p:nvSpPr>
          <p:cNvPr id="9" name="anim-g1-378"/>
          <p:cNvSpPr/>
          <p:nvPr/>
        </p:nvSpPr>
        <p:spPr>
          <a:xfrm>
            <a:off x="8310677" y="349300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يذكّر بالقواعد بلطف</a:t>
            </a:r>
            <a:endParaRPr lang="ar-SA" sz="1900" dirty="0"/>
          </a:p>
        </p:txBody>
      </p:sp>
      <p:sp>
        <p:nvSpPr>
          <p:cNvPr id="10" name="anim-g2-379"/>
          <p:cNvSpPr/>
          <p:nvPr/>
        </p:nvSpPr>
        <p:spPr>
          <a:xfrm>
            <a:off x="4429658" y="201168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380"/>
          <p:cNvSpPr/>
          <p:nvPr/>
        </p:nvSpPr>
        <p:spPr>
          <a:xfrm>
            <a:off x="6920789" y="2267712"/>
            <a:ext cx="566928" cy="566928"/>
          </a:xfrm>
          <a:prstGeom prst="roundRect">
            <a:avLst>
              <a:gd name="adj" fmla="val 32258"/>
            </a:avLst>
          </a:prstGeom>
          <a:solidFill>
            <a:srgbClr val="F7E6BC"/>
          </a:solidFill>
          <a:ln/>
        </p:spPr>
      </p:sp>
      <p:sp>
        <p:nvSpPr>
          <p:cNvPr id="12" name="anim-g2-381"/>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382"/>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مسؤول الوقت</a:t>
            </a:r>
            <a:endParaRPr lang="ar-SA" sz="2200" dirty="0"/>
          </a:p>
        </p:txBody>
      </p:sp>
      <p:sp>
        <p:nvSpPr>
          <p:cNvPr id="14" name="anim-g2-383"/>
          <p:cNvSpPr/>
          <p:nvPr/>
        </p:nvSpPr>
        <p:spPr>
          <a:xfrm>
            <a:off x="4703978" y="349300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ينبّه لانتهاء وقت النشاط</a:t>
            </a:r>
            <a:endParaRPr lang="ar-SA" sz="1900" dirty="0"/>
          </a:p>
        </p:txBody>
      </p:sp>
      <p:sp>
        <p:nvSpPr>
          <p:cNvPr id="15" name="anim-g3-384"/>
          <p:cNvSpPr/>
          <p:nvPr/>
        </p:nvSpPr>
        <p:spPr>
          <a:xfrm>
            <a:off x="822960" y="201168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385"/>
          <p:cNvSpPr/>
          <p:nvPr/>
        </p:nvSpPr>
        <p:spPr>
          <a:xfrm>
            <a:off x="3314090" y="2267712"/>
            <a:ext cx="566928" cy="566928"/>
          </a:xfrm>
          <a:prstGeom prst="roundRect">
            <a:avLst>
              <a:gd name="adj" fmla="val 32258"/>
            </a:avLst>
          </a:prstGeom>
          <a:solidFill>
            <a:srgbClr val="F7E6BC"/>
          </a:solidFill>
          <a:ln/>
        </p:spPr>
      </p:sp>
      <p:sp>
        <p:nvSpPr>
          <p:cNvPr id="17" name="anim-g3-386"/>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387"/>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مسؤول الأدوات</a:t>
            </a:r>
            <a:endParaRPr lang="ar-SA" sz="2200" dirty="0"/>
          </a:p>
        </p:txBody>
      </p:sp>
      <p:sp>
        <p:nvSpPr>
          <p:cNvPr id="19" name="anim-g3-388"/>
          <p:cNvSpPr/>
          <p:nvPr/>
        </p:nvSpPr>
        <p:spPr>
          <a:xfrm>
            <a:off x="1097280" y="349300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يوزع الأدوات ويجمعها</a:t>
            </a:r>
            <a:endParaRPr lang="ar-SA" sz="1900" dirty="0"/>
          </a:p>
        </p:txBody>
      </p:sp>
      <p:sp>
        <p:nvSpPr>
          <p:cNvPr id="20" name="anim-g4-389"/>
          <p:cNvSpPr/>
          <p:nvPr/>
        </p:nvSpPr>
        <p:spPr>
          <a:xfrm>
            <a:off x="8036357" y="413766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390"/>
          <p:cNvSpPr/>
          <p:nvPr/>
        </p:nvSpPr>
        <p:spPr>
          <a:xfrm>
            <a:off x="10527487" y="4393692"/>
            <a:ext cx="566928" cy="566928"/>
          </a:xfrm>
          <a:prstGeom prst="roundRect">
            <a:avLst>
              <a:gd name="adj" fmla="val 32258"/>
            </a:avLst>
          </a:prstGeom>
          <a:solidFill>
            <a:srgbClr val="F7E6BC"/>
          </a:solidFill>
          <a:ln/>
        </p:spPr>
      </p:sp>
      <p:sp>
        <p:nvSpPr>
          <p:cNvPr id="22" name="anim-g4-391"/>
          <p:cNvSpPr/>
          <p:nvPr/>
        </p:nvSpPr>
        <p:spPr>
          <a:xfrm>
            <a:off x="10527487"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3" name="anim-g4-392"/>
          <p:cNvSpPr/>
          <p:nvPr/>
        </p:nvSpPr>
        <p:spPr>
          <a:xfrm>
            <a:off x="8310677" y="507034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مسؤول التوثيق</a:t>
            </a:r>
            <a:endParaRPr lang="ar-SA" sz="2200" dirty="0"/>
          </a:p>
        </p:txBody>
      </p:sp>
      <p:sp>
        <p:nvSpPr>
          <p:cNvPr id="24" name="anim-g4-393"/>
          <p:cNvSpPr/>
          <p:nvPr/>
        </p:nvSpPr>
        <p:spPr>
          <a:xfrm>
            <a:off x="8310677" y="561898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يصوّر إنجازات الفصل بإذن المعلم</a:t>
            </a:r>
            <a:endParaRPr lang="ar-SA" sz="1900" dirty="0"/>
          </a:p>
        </p:txBody>
      </p:sp>
      <p:sp>
        <p:nvSpPr>
          <p:cNvPr id="25" name="anim-g5-394"/>
          <p:cNvSpPr/>
          <p:nvPr/>
        </p:nvSpPr>
        <p:spPr>
          <a:xfrm>
            <a:off x="4429658" y="413766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6" name="anim-g5-395"/>
          <p:cNvSpPr/>
          <p:nvPr/>
        </p:nvSpPr>
        <p:spPr>
          <a:xfrm>
            <a:off x="6920789" y="4393692"/>
            <a:ext cx="566928" cy="566928"/>
          </a:xfrm>
          <a:prstGeom prst="roundRect">
            <a:avLst>
              <a:gd name="adj" fmla="val 32258"/>
            </a:avLst>
          </a:prstGeom>
          <a:solidFill>
            <a:srgbClr val="F7E6BC"/>
          </a:solidFill>
          <a:ln/>
        </p:spPr>
      </p:sp>
      <p:sp>
        <p:nvSpPr>
          <p:cNvPr id="27" name="anim-g5-396"/>
          <p:cNvSpPr/>
          <p:nvPr/>
        </p:nvSpPr>
        <p:spPr>
          <a:xfrm>
            <a:off x="6920789"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8" name="anim-g5-397"/>
          <p:cNvSpPr/>
          <p:nvPr/>
        </p:nvSpPr>
        <p:spPr>
          <a:xfrm>
            <a:off x="4703978" y="507034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سفير الترحيب</a:t>
            </a:r>
            <a:endParaRPr lang="ar-SA" sz="2200" dirty="0"/>
          </a:p>
        </p:txBody>
      </p:sp>
      <p:sp>
        <p:nvSpPr>
          <p:cNvPr id="29" name="anim-g5-398"/>
          <p:cNvSpPr/>
          <p:nvPr/>
        </p:nvSpPr>
        <p:spPr>
          <a:xfrm>
            <a:off x="4703978" y="561898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يرافق الطالب الجديد أسبوعه الأول</a:t>
            </a:r>
            <a:endParaRPr lang="ar-SA" sz="1900" dirty="0"/>
          </a:p>
        </p:txBody>
      </p:sp>
      <p:sp>
        <p:nvSpPr>
          <p:cNvPr id="30" name="anim-g6-399"/>
          <p:cNvSpPr/>
          <p:nvPr/>
        </p:nvSpPr>
        <p:spPr>
          <a:xfrm>
            <a:off x="822960" y="413766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31" name="anim-g6-400"/>
          <p:cNvSpPr/>
          <p:nvPr/>
        </p:nvSpPr>
        <p:spPr>
          <a:xfrm>
            <a:off x="3314090" y="4393692"/>
            <a:ext cx="566928" cy="566928"/>
          </a:xfrm>
          <a:prstGeom prst="roundRect">
            <a:avLst>
              <a:gd name="adj" fmla="val 32258"/>
            </a:avLst>
          </a:prstGeom>
          <a:solidFill>
            <a:srgbClr val="F7E6BC"/>
          </a:solidFill>
          <a:ln/>
        </p:spPr>
      </p:sp>
      <p:sp>
        <p:nvSpPr>
          <p:cNvPr id="32" name="anim-g6-401"/>
          <p:cNvSpPr/>
          <p:nvPr/>
        </p:nvSpPr>
        <p:spPr>
          <a:xfrm>
            <a:off x="3314090"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33" name="anim-g6-402"/>
          <p:cNvSpPr/>
          <p:nvPr/>
        </p:nvSpPr>
        <p:spPr>
          <a:xfrm>
            <a:off x="1097280" y="507034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تدوير شهري</a:t>
            </a:r>
            <a:endParaRPr lang="ar-SA" sz="2200" dirty="0"/>
          </a:p>
        </p:txBody>
      </p:sp>
      <p:sp>
        <p:nvSpPr>
          <p:cNvPr id="34" name="anim-g6-403"/>
          <p:cNvSpPr/>
          <p:nvPr/>
        </p:nvSpPr>
        <p:spPr>
          <a:xfrm>
            <a:off x="1097280" y="561898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تتبدل الأدوار ليجرّب الجميع القيادة</a:t>
            </a:r>
            <a:endParaRPr lang="ar-SA" sz="1900" dirty="0"/>
          </a:p>
        </p:txBody>
      </p:sp>
      <p:sp>
        <p:nvSpPr>
          <p:cNvPr id="35" name="Text 3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36" name="Text 3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أنماط القيادة الصفية  ·  ٤٩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40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400"/>
                                        <p:tgtEl>
                                          <p:spTgt spid="26"/>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400"/>
                                        <p:tgtEl>
                                          <p:spTgt spid="27"/>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400"/>
                                        <p:tgtEl>
                                          <p:spTgt spid="28"/>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400"/>
                                        <p:tgtEl>
                                          <p:spTgt spid="29"/>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30"/>
                                        </p:tgtEl>
                                        <p:attrNameLst>
                                          <p:attrName>style.visibility</p:attrName>
                                        </p:attrNameLst>
                                      </p:cBhvr>
                                      <p:to>
                                        <p:strVal val="visible"/>
                                      </p:to>
                                    </p:set>
                                    <p:animEffect transition="in" filter="fade">
                                      <p:cBhvr>
                                        <p:cTn id="92" dur="400"/>
                                        <p:tgtEl>
                                          <p:spTgt spid="30"/>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5" dur="400"/>
                                        <p:tgtEl>
                                          <p:spTgt spid="31"/>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2"/>
                                        </p:tgtEl>
                                        <p:attrNameLst>
                                          <p:attrName>style.visibility</p:attrName>
                                        </p:attrNameLst>
                                      </p:cBhvr>
                                      <p:to>
                                        <p:strVal val="visible"/>
                                      </p:to>
                                    </p:set>
                                    <p:animEffect transition="in" filter="fade">
                                      <p:cBhvr>
                                        <p:cTn id="98" dur="400"/>
                                        <p:tgtEl>
                                          <p:spTgt spid="32"/>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3"/>
                                        </p:tgtEl>
                                        <p:attrNameLst>
                                          <p:attrName>style.visibility</p:attrName>
                                        </p:attrNameLst>
                                      </p:cBhvr>
                                      <p:to>
                                        <p:strVal val="visible"/>
                                      </p:to>
                                    </p:set>
                                    <p:animEffect transition="in" filter="fade">
                                      <p:cBhvr>
                                        <p:cTn id="101" dur="400"/>
                                        <p:tgtEl>
                                          <p:spTgt spid="33"/>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4"/>
                                        </p:tgtEl>
                                        <p:attrNameLst>
                                          <p:attrName>style.visibility</p:attrName>
                                        </p:attrNameLst>
                                      </p:cBhvr>
                                      <p:to>
                                        <p:strVal val="visible"/>
                                      </p:to>
                                    </p:set>
                                    <p:animEffect transition="in" filter="fade">
                                      <p:cBhvr>
                                        <p:cTn id="104"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name="Slide 5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kb-404" descr="/Users/mac/Desktop/أردوينو/المشاريع والكتب/younes-training/mawaqif/assets/scenes/homework.jpg">    </p:cNvPr>
          <p:cNvPicPr>
            <a:picLocks noChangeAspect="1"/>
          </p:cNvPicPr>
          <p:nvPr/>
        </p:nvPicPr>
        <p:blipFill>
          <a:blip r:embed="rId2"/>
          <a:stretch>
            <a:fillRect/>
          </a:stretch>
        </p:blipFill>
        <p:spPr>
          <a:xfrm>
            <a:off x="0" y="0"/>
            <a:ext cx="12191695" cy="6858000"/>
          </a:xfrm>
          <a:prstGeom prst="rect">
            <a:avLst/>
          </a:prstGeom>
        </p:spPr>
      </p:pic>
      <p:pic>
        <p:nvPicPr>
          <p:cNvPr id="3" name="Image 1" descr="/Users/mac/Desktop/أردوينو/المشاريع والكتب/younes-training/shared/assets/mcover-overlay.png">    </p:cNvPr>
          <p:cNvPicPr>
            <a:picLocks noChangeAspect="1"/>
          </p:cNvPicPr>
          <p:nvPr/>
        </p:nvPicPr>
        <p:blipFill>
          <a:blip r:embed="rId3"/>
          <a:stretch>
            <a:fillRect/>
          </a:stretch>
        </p:blipFill>
        <p:spPr>
          <a:xfrm>
            <a:off x="0" y="0"/>
            <a:ext cx="12191695" cy="6858000"/>
          </a:xfrm>
          <a:prstGeom prst="rect">
            <a:avLst/>
          </a:prstGeom>
        </p:spPr>
      </p:pic>
      <p:sp>
        <p:nvSpPr>
          <p:cNvPr id="4" name="Text 0"/>
          <p:cNvSpPr/>
          <p:nvPr/>
        </p:nvSpPr>
        <p:spPr>
          <a:xfrm>
            <a:off x="5669280" y="1737360"/>
            <a:ext cx="5699455" cy="502920"/>
          </a:xfrm>
          <a:prstGeom prst="rect">
            <a:avLst/>
          </a:prstGeom>
          <a:noFill/>
          <a:ln/>
        </p:spPr>
        <p:txBody>
          <a:bodyPr wrap="square" lIns="0" tIns="0" rIns="0" bIns="0" rtlCol="0" anchor="ctr">
            <a:normAutofit/>
          </a:bodyPr>
          <a:lstStyle/>
          <a:p>
            <a:pPr rtl="1" algn="r" indent="0" marL="0">
              <a:buNone/>
            </a:pPr>
            <a:r>
              <a:rPr lang="ar-SA" altLang="en-US" sz="2200" b="1" dirty="0">
                <a:solidFill>
                  <a:srgbClr val="D9AE4B"/>
                </a:solidFill>
                <a:latin typeface="Cairo" pitchFamily="34" charset="0"/>
                <a:ea typeface="Cairo" pitchFamily="34" charset="-122"/>
                <a:cs typeface="Cairo" pitchFamily="34" charset="-120"/>
              </a:rPr>
              <a:t>أنماط القيادة</a:t>
            </a:r>
            <a:endParaRPr lang="ar-SA" sz="2200" dirty="0"/>
          </a:p>
        </p:txBody>
      </p:sp>
      <p:sp>
        <p:nvSpPr>
          <p:cNvPr id="5" name="Text 1"/>
          <p:cNvSpPr/>
          <p:nvPr/>
        </p:nvSpPr>
        <p:spPr>
          <a:xfrm>
            <a:off x="5669280" y="2286000"/>
            <a:ext cx="5699455" cy="548640"/>
          </a:xfrm>
          <a:prstGeom prst="rect">
            <a:avLst/>
          </a:prstGeom>
          <a:noFill/>
          <a:ln/>
        </p:spPr>
        <p:txBody>
          <a:bodyPr wrap="square" lIns="0" tIns="0" rIns="0" bIns="0" rtlCol="0" anchor="ctr">
            <a:normAutofit/>
          </a:bodyPr>
          <a:lstStyle/>
          <a:p>
            <a:pPr rtl="1" algn="r" indent="0" marL="0">
              <a:buNone/>
            </a:pPr>
            <a:r>
              <a:rPr lang="ar-SA" altLang="en-US" sz="2600" b="1" dirty="0">
                <a:solidFill>
                  <a:srgbClr val="C9CFE6"/>
                </a:solidFill>
                <a:latin typeface="Cairo" pitchFamily="34" charset="0"/>
                <a:ea typeface="Cairo" pitchFamily="34" charset="-122"/>
                <a:cs typeface="Cairo" pitchFamily="34" charset="-120"/>
              </a:rPr>
              <a:t>الموقف ١</a:t>
            </a:r>
            <a:endParaRPr lang="ar-SA" sz="2600" dirty="0"/>
          </a:p>
        </p:txBody>
      </p:sp>
      <p:sp>
        <p:nvSpPr>
          <p:cNvPr id="6" name="Text 2"/>
          <p:cNvSpPr/>
          <p:nvPr/>
        </p:nvSpPr>
        <p:spPr>
          <a:xfrm>
            <a:off x="4572000" y="2834640"/>
            <a:ext cx="6796735" cy="1188720"/>
          </a:xfrm>
          <a:prstGeom prst="rect">
            <a:avLst/>
          </a:prstGeom>
          <a:noFill/>
          <a:ln/>
        </p:spPr>
        <p:txBody>
          <a:bodyPr wrap="square" lIns="0" tIns="0" rIns="0" bIns="0" rtlCol="0" anchor="ctr">
            <a:normAutofit/>
          </a:bodyPr>
          <a:lstStyle/>
          <a:p>
            <a:pPr rtl="1" algn="r" indent="0" marL="0">
              <a:buNone/>
            </a:pPr>
            <a:r>
              <a:rPr lang="ar-SA" altLang="en-US" sz="6000" dirty="0">
                <a:solidFill>
                  <a:srgbClr val="FFFFFF"/>
                </a:solidFill>
                <a:latin typeface="Cairo Black" pitchFamily="34" charset="0"/>
                <a:ea typeface="Cairo Black" pitchFamily="34" charset="-122"/>
                <a:cs typeface="Cairo Black" pitchFamily="34" charset="-120"/>
              </a:rPr>
              <a:t>الواجب الغائب</a:t>
            </a:r>
            <a:endParaRPr lang="ar-SA" sz="6000" dirty="0"/>
          </a:p>
        </p:txBody>
      </p:sp>
      <p:sp>
        <p:nvSpPr>
          <p:cNvPr id="7" name="Shape 3"/>
          <p:cNvSpPr/>
          <p:nvPr/>
        </p:nvSpPr>
        <p:spPr>
          <a:xfrm>
            <a:off x="10125151" y="4480560"/>
            <a:ext cx="1243584"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8" name="Text 4"/>
          <p:cNvSpPr/>
          <p:nvPr/>
        </p:nvSpPr>
        <p:spPr>
          <a:xfrm>
            <a:off x="10125151" y="4480560"/>
            <a:ext cx="1243584"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القصة</a:t>
            </a:r>
            <a:endParaRPr lang="ar-SA" sz="1500" dirty="0"/>
          </a:p>
        </p:txBody>
      </p:sp>
      <p:sp>
        <p:nvSpPr>
          <p:cNvPr id="9" name="Shape 5"/>
          <p:cNvSpPr/>
          <p:nvPr/>
        </p:nvSpPr>
        <p:spPr>
          <a:xfrm>
            <a:off x="8680399" y="4480560"/>
            <a:ext cx="1353312"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0" name="Text 6"/>
          <p:cNvSpPr/>
          <p:nvPr/>
        </p:nvSpPr>
        <p:spPr>
          <a:xfrm>
            <a:off x="8680399" y="4480560"/>
            <a:ext cx="1353312"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تصويت</a:t>
            </a:r>
            <a:endParaRPr lang="ar-SA" sz="1500" dirty="0"/>
          </a:p>
        </p:txBody>
      </p:sp>
      <p:sp>
        <p:nvSpPr>
          <p:cNvPr id="11" name="Shape 7"/>
          <p:cNvSpPr/>
          <p:nvPr/>
        </p:nvSpPr>
        <p:spPr>
          <a:xfrm>
            <a:off x="7235647" y="4480560"/>
            <a:ext cx="1353312"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2" name="Text 8"/>
          <p:cNvSpPr/>
          <p:nvPr/>
        </p:nvSpPr>
        <p:spPr>
          <a:xfrm>
            <a:off x="7235647" y="4480560"/>
            <a:ext cx="1353312"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لماذا؟</a:t>
            </a:r>
            <a:endParaRPr lang="ar-SA" sz="1500" dirty="0"/>
          </a:p>
        </p:txBody>
      </p:sp>
      <p:sp>
        <p:nvSpPr>
          <p:cNvPr id="13" name="Shape 9"/>
          <p:cNvSpPr/>
          <p:nvPr/>
        </p:nvSpPr>
        <p:spPr>
          <a:xfrm>
            <a:off x="5571439" y="4480560"/>
            <a:ext cx="1572768"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4" name="Text 10"/>
          <p:cNvSpPr/>
          <p:nvPr/>
        </p:nvSpPr>
        <p:spPr>
          <a:xfrm>
            <a:off x="5571439" y="4480560"/>
            <a:ext cx="1572768"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أول خطوة</a:t>
            </a:r>
            <a:endParaRPr lang="ar-SA" sz="1500" dirty="0"/>
          </a:p>
        </p:txBody>
      </p:sp>
      <p:sp>
        <p:nvSpPr>
          <p:cNvPr id="15" name="Shape 11"/>
          <p:cNvSpPr/>
          <p:nvPr/>
        </p:nvSpPr>
        <p:spPr>
          <a:xfrm>
            <a:off x="3687775" y="4480560"/>
            <a:ext cx="1792224"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6" name="Text 12"/>
          <p:cNvSpPr/>
          <p:nvPr/>
        </p:nvSpPr>
        <p:spPr>
          <a:xfrm>
            <a:off x="3687775" y="4480560"/>
            <a:ext cx="1792224"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ماذا تقول؟</a:t>
            </a:r>
            <a:endParaRPr lang="ar-SA" sz="1500" dirty="0"/>
          </a:p>
        </p:txBody>
      </p:sp>
      <p:sp>
        <p:nvSpPr>
          <p:cNvPr id="17" name="Text 1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18" name="Text 1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موقف: الواجب الغائب  ·  ٥٠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16000" fill="hold"/>
                                        <p:tgtEl>
                                          <p:spTgt spid="2"/>
                                        </p:tgtEl>
                                      </p:cBhvr>
                                      <p:by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name="Slide 5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kb-405" descr="/Users/mac/Desktop/أردوينو/المشاريع والكتب/younes-training/mawaqif/assets/scenes/homework.jpg">    </p:cNvPr>
          <p:cNvPicPr>
            <a:picLocks noChangeAspect="1"/>
          </p:cNvPicPr>
          <p:nvPr/>
        </p:nvPicPr>
        <p:blipFill>
          <a:blip r:embed="rId2"/>
          <a:stretch>
            <a:fillRect/>
          </a:stretch>
        </p:blipFill>
        <p:spPr>
          <a:xfrm>
            <a:off x="0" y="0"/>
            <a:ext cx="12191695" cy="6858000"/>
          </a:xfrm>
          <a:prstGeom prst="rect">
            <a:avLst/>
          </a:prstGeom>
        </p:spPr>
      </p:pic>
      <p:pic>
        <p:nvPicPr>
          <p:cNvPr id="3" name="Image 1" descr="/Users/mac/Desktop/أردوينو/المشاريع والكتب/younes-training/shared/assets/story-overlay.png">    </p:cNvPr>
          <p:cNvPicPr>
            <a:picLocks noChangeAspect="1"/>
          </p:cNvPicPr>
          <p:nvPr/>
        </p:nvPicPr>
        <p:blipFill>
          <a:blip r:embed="rId3"/>
          <a:stretch>
            <a:fillRect/>
          </a:stretch>
        </p:blipFill>
        <p:spPr>
          <a:xfrm>
            <a:off x="0" y="0"/>
            <a:ext cx="12191695" cy="6858000"/>
          </a:xfrm>
          <a:prstGeom prst="rect">
            <a:avLst/>
          </a:prstGeom>
        </p:spPr>
      </p:pic>
      <p:sp>
        <p:nvSpPr>
          <p:cNvPr id="4" name="Shape 0"/>
          <p:cNvSpPr/>
          <p:nvPr/>
        </p:nvSpPr>
        <p:spPr>
          <a:xfrm>
            <a:off x="7985455" y="365760"/>
            <a:ext cx="3657600" cy="502920"/>
          </a:xfrm>
          <a:prstGeom prst="roundRect">
            <a:avLst>
              <a:gd name="adj" fmla="val 49091"/>
            </a:avLst>
          </a:prstGeom>
          <a:solidFill>
            <a:srgbClr val="0A1230">
              <a:alpha val="80000"/>
            </a:srgbClr>
          </a:solidFill>
          <a:ln w="12700">
            <a:solidFill>
              <a:srgbClr val="D9AE4B">
                <a:alpha val="60000"/>
              </a:srgbClr>
            </a:solidFill>
            <a:prstDash val="solid"/>
          </a:ln>
        </p:spPr>
      </p:sp>
      <p:sp>
        <p:nvSpPr>
          <p:cNvPr id="5" name="Text 1"/>
          <p:cNvSpPr/>
          <p:nvPr/>
        </p:nvSpPr>
        <p:spPr>
          <a:xfrm>
            <a:off x="7985455" y="365760"/>
            <a:ext cx="3657600" cy="50292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 القصة · ماذا حدث؟</a:t>
            </a:r>
            <a:endParaRPr lang="ar-SA" sz="1800" dirty="0"/>
          </a:p>
        </p:txBody>
      </p:sp>
      <p:sp>
        <p:nvSpPr>
          <p:cNvPr id="6" name="Shape 2"/>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7" name="Text 3"/>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للمرة الرابعة على التوالي، لم يُحضر نواف (الأول المتوسط) واجبه، رغم تحذيرات أ. تركي، وتهديده بخصم الدرجات، وعرضه المساعدة.</a:t>
            </a:r>
            <a:endParaRPr lang="ar-SA" sz="2400" dirty="0"/>
          </a:p>
        </p:txBody>
      </p:sp>
      <p:sp>
        <p:nvSpPr>
          <p:cNvPr id="8" name="anim-g1-406"/>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9" name="anim-g1-407"/>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في كل مرة عذر جديد: «نسيته في البيت»، «كنت مريضًا»، «لم أفهم المطلوب».</a:t>
            </a:r>
            <a:endParaRPr lang="ar-SA" sz="2400" dirty="0"/>
          </a:p>
        </p:txBody>
      </p:sp>
      <p:sp>
        <p:nvSpPr>
          <p:cNvPr id="10" name="anim-g2-408"/>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11" name="anim-g2-409"/>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طلب أ. تركي حضور ولي الأمر، فقال نواف: «أبي مسافر». ثم اكتشف أن رقم الهاتف المسجل لدى الوكيل غير صحيح.</a:t>
            </a:r>
            <a:endParaRPr lang="ar-SA" sz="2400" dirty="0"/>
          </a:p>
        </p:txBody>
      </p:sp>
      <p:sp>
        <p:nvSpPr>
          <p:cNvPr id="12" name="anim-g3-410"/>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13" name="anim-g3-411"/>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600" b="1" dirty="0">
                <a:solidFill>
                  <a:srgbClr val="F0CC7A"/>
                </a:solidFill>
                <a:latin typeface="Cairo" pitchFamily="34" charset="0"/>
                <a:ea typeface="Cairo" pitchFamily="34" charset="-122"/>
                <a:cs typeface="Cairo" pitchFamily="34" charset="-120"/>
              </a:rPr>
              <a:t>نفد صبر أ. تركي… وبدأ يفكر في ترسيبه.</a:t>
            </a:r>
            <a:endParaRPr lang="ar-SA" sz="2600" dirty="0"/>
          </a:p>
        </p:txBody>
      </p:sp>
      <p:sp>
        <p:nvSpPr>
          <p:cNvPr id="14" name="Text 1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15" name="Text 1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موقف: الواجب الغائب  ·  ٥١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16000" fill="hold"/>
                                        <p:tgtEl>
                                          <p:spTgt spid="2"/>
                                        </p:tgtEl>
                                      </p:cBhvr>
                                      <p:by x="112000" y="112000"/>
                                    </p:animScale>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name="Slide 5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296351" y="457200"/>
            <a:ext cx="3072384" cy="457200"/>
          </a:xfrm>
          <a:prstGeom prst="roundRect">
            <a:avLst>
              <a:gd name="adj" fmla="val 50000"/>
            </a:avLst>
          </a:prstGeom>
          <a:solidFill>
            <a:srgbClr val="F6EBCF"/>
          </a:solidFill>
          <a:ln/>
        </p:spPr>
      </p:sp>
      <p:sp>
        <p:nvSpPr>
          <p:cNvPr id="3" name="Text 1"/>
          <p:cNvSpPr/>
          <p:nvPr/>
        </p:nvSpPr>
        <p:spPr>
          <a:xfrm>
            <a:off x="8296351" y="457200"/>
            <a:ext cx="307238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صوّت قبل أن نكشف</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ماذا يفعل أ. تركي الآن؟</a:t>
            </a:r>
            <a:endParaRPr lang="ar-SA" sz="3800" dirty="0"/>
          </a:p>
        </p:txBody>
      </p:sp>
      <p:sp>
        <p:nvSpPr>
          <p:cNvPr id="5" name="Shape 3"/>
          <p:cNvSpPr/>
          <p:nvPr/>
        </p:nvSpPr>
        <p:spPr>
          <a:xfrm>
            <a:off x="822960" y="2057400"/>
            <a:ext cx="10545775" cy="884682"/>
          </a:xfrm>
          <a:prstGeom prst="roundRect">
            <a:avLst>
              <a:gd name="adj" fmla="val 16537"/>
            </a:avLst>
          </a:prstGeom>
          <a:solidFill>
            <a:srgbClr val="FFFFFF"/>
          </a:solidFill>
          <a:ln w="19050">
            <a:solidFill>
              <a:srgbClr val="E4DCC8"/>
            </a:solidFill>
            <a:prstDash val="solid"/>
          </a:ln>
        </p:spPr>
      </p:sp>
      <p:sp>
        <p:nvSpPr>
          <p:cNvPr id="6" name="Shape 4"/>
          <p:cNvSpPr/>
          <p:nvPr/>
        </p:nvSpPr>
        <p:spPr>
          <a:xfrm>
            <a:off x="10575493" y="2194560"/>
            <a:ext cx="610362" cy="610362"/>
          </a:xfrm>
          <a:prstGeom prst="roundRect">
            <a:avLst>
              <a:gd name="adj" fmla="val 17978"/>
            </a:avLst>
          </a:prstGeom>
          <a:solidFill>
            <a:srgbClr val="101B45"/>
          </a:solidFill>
          <a:ln/>
        </p:spPr>
      </p:sp>
      <p:sp>
        <p:nvSpPr>
          <p:cNvPr id="7" name="Text 5"/>
          <p:cNvSpPr/>
          <p:nvPr/>
        </p:nvSpPr>
        <p:spPr>
          <a:xfrm>
            <a:off x="10575493" y="2194560"/>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أ</a:t>
            </a:r>
            <a:endParaRPr lang="ar-SA" sz="2000" dirty="0"/>
          </a:p>
        </p:txBody>
      </p:sp>
      <p:sp>
        <p:nvSpPr>
          <p:cNvPr id="8" name="Text 6"/>
          <p:cNvSpPr/>
          <p:nvPr/>
        </p:nvSpPr>
        <p:spPr>
          <a:xfrm>
            <a:off x="1097280" y="2057400"/>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يخصم الدرجات فورًا وينهي الموضوع</a:t>
            </a:r>
            <a:endParaRPr lang="ar-SA" sz="2200" dirty="0"/>
          </a:p>
        </p:txBody>
      </p:sp>
      <p:sp>
        <p:nvSpPr>
          <p:cNvPr id="9" name="anim-g1-412"/>
          <p:cNvSpPr/>
          <p:nvPr/>
        </p:nvSpPr>
        <p:spPr>
          <a:xfrm>
            <a:off x="822960" y="2057400"/>
            <a:ext cx="10545775" cy="884682"/>
          </a:xfrm>
          <a:prstGeom prst="roundRect">
            <a:avLst>
              <a:gd name="adj" fmla="val 16537"/>
            </a:avLst>
          </a:prstGeom>
          <a:solidFill>
            <a:srgbClr val="F7F7F9"/>
          </a:solidFill>
          <a:ln w="19050">
            <a:solidFill>
              <a:srgbClr val="E4DCC8"/>
            </a:solidFill>
            <a:prstDash val="solid"/>
          </a:ln>
        </p:spPr>
      </p:sp>
      <p:sp>
        <p:nvSpPr>
          <p:cNvPr id="10" name="anim-g1-413"/>
          <p:cNvSpPr/>
          <p:nvPr/>
        </p:nvSpPr>
        <p:spPr>
          <a:xfrm>
            <a:off x="10575493" y="2194560"/>
            <a:ext cx="610362" cy="610362"/>
          </a:xfrm>
          <a:prstGeom prst="roundRect">
            <a:avLst>
              <a:gd name="adj" fmla="val 17978"/>
            </a:avLst>
          </a:prstGeom>
          <a:solidFill>
            <a:srgbClr val="A3A9BA"/>
          </a:solidFill>
          <a:ln/>
        </p:spPr>
      </p:sp>
      <p:sp>
        <p:nvSpPr>
          <p:cNvPr id="11" name="anim-g1-414"/>
          <p:cNvSpPr/>
          <p:nvPr/>
        </p:nvSpPr>
        <p:spPr>
          <a:xfrm>
            <a:off x="10575493" y="2194560"/>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أ</a:t>
            </a:r>
            <a:endParaRPr lang="ar-SA" sz="2000" dirty="0"/>
          </a:p>
        </p:txBody>
      </p:sp>
      <p:sp>
        <p:nvSpPr>
          <p:cNvPr id="12" name="anim-g1-415"/>
          <p:cNvSpPr/>
          <p:nvPr/>
        </p:nvSpPr>
        <p:spPr>
          <a:xfrm>
            <a:off x="1097280" y="2093976"/>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يخصم الدرجات فورًا وينهي الموضوع</a:t>
            </a:r>
            <a:endParaRPr lang="ar-SA" sz="2200" dirty="0"/>
          </a:p>
        </p:txBody>
      </p:sp>
      <p:sp>
        <p:nvSpPr>
          <p:cNvPr id="13" name="anim-g1-416"/>
          <p:cNvSpPr/>
          <p:nvPr/>
        </p:nvSpPr>
        <p:spPr>
          <a:xfrm>
            <a:off x="1097280" y="2535128"/>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الخصم وحده لا يعلّم شيئًا، وقد يكون ما يريده نواف أصلًا: أن يُترك</a:t>
            </a:r>
            <a:endParaRPr lang="ar-SA" sz="1800" dirty="0"/>
          </a:p>
        </p:txBody>
      </p:sp>
      <p:sp>
        <p:nvSpPr>
          <p:cNvPr id="14" name="Shape 12"/>
          <p:cNvSpPr/>
          <p:nvPr/>
        </p:nvSpPr>
        <p:spPr>
          <a:xfrm>
            <a:off x="822960" y="3088386"/>
            <a:ext cx="10545775" cy="884682"/>
          </a:xfrm>
          <a:prstGeom prst="roundRect">
            <a:avLst>
              <a:gd name="adj" fmla="val 16537"/>
            </a:avLst>
          </a:prstGeom>
          <a:solidFill>
            <a:srgbClr val="FFFFFF"/>
          </a:solidFill>
          <a:ln w="19050">
            <a:solidFill>
              <a:srgbClr val="E4DCC8"/>
            </a:solidFill>
            <a:prstDash val="solid"/>
          </a:ln>
        </p:spPr>
      </p:sp>
      <p:sp>
        <p:nvSpPr>
          <p:cNvPr id="15" name="Shape 13"/>
          <p:cNvSpPr/>
          <p:nvPr/>
        </p:nvSpPr>
        <p:spPr>
          <a:xfrm>
            <a:off x="10575493" y="3225546"/>
            <a:ext cx="610362" cy="610362"/>
          </a:xfrm>
          <a:prstGeom prst="roundRect">
            <a:avLst>
              <a:gd name="adj" fmla="val 17978"/>
            </a:avLst>
          </a:prstGeom>
          <a:solidFill>
            <a:srgbClr val="101B45"/>
          </a:solidFill>
          <a:ln/>
        </p:spPr>
      </p:sp>
      <p:sp>
        <p:nvSpPr>
          <p:cNvPr id="16" name="Text 14"/>
          <p:cNvSpPr/>
          <p:nvPr/>
        </p:nvSpPr>
        <p:spPr>
          <a:xfrm>
            <a:off x="10575493" y="3225546"/>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ب</a:t>
            </a:r>
            <a:endParaRPr lang="ar-SA" sz="2000" dirty="0"/>
          </a:p>
        </p:txBody>
      </p:sp>
      <p:sp>
        <p:nvSpPr>
          <p:cNvPr id="17" name="Text 15"/>
          <p:cNvSpPr/>
          <p:nvPr/>
        </p:nvSpPr>
        <p:spPr>
          <a:xfrm>
            <a:off x="1097280" y="3088386"/>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يطلب من الوكيل استدعاء الأب بأي طريقة</a:t>
            </a:r>
            <a:endParaRPr lang="ar-SA" sz="2200" dirty="0"/>
          </a:p>
        </p:txBody>
      </p:sp>
      <p:sp>
        <p:nvSpPr>
          <p:cNvPr id="18" name="anim-g1-417"/>
          <p:cNvSpPr/>
          <p:nvPr/>
        </p:nvSpPr>
        <p:spPr>
          <a:xfrm>
            <a:off x="822960" y="3088386"/>
            <a:ext cx="10545775" cy="884682"/>
          </a:xfrm>
          <a:prstGeom prst="roundRect">
            <a:avLst>
              <a:gd name="adj" fmla="val 16537"/>
            </a:avLst>
          </a:prstGeom>
          <a:solidFill>
            <a:srgbClr val="F7F7F9"/>
          </a:solidFill>
          <a:ln w="19050">
            <a:solidFill>
              <a:srgbClr val="E4DCC8"/>
            </a:solidFill>
            <a:prstDash val="solid"/>
          </a:ln>
        </p:spPr>
      </p:sp>
      <p:sp>
        <p:nvSpPr>
          <p:cNvPr id="19" name="anim-g1-418"/>
          <p:cNvSpPr/>
          <p:nvPr/>
        </p:nvSpPr>
        <p:spPr>
          <a:xfrm>
            <a:off x="10575493" y="3225546"/>
            <a:ext cx="610362" cy="610362"/>
          </a:xfrm>
          <a:prstGeom prst="roundRect">
            <a:avLst>
              <a:gd name="adj" fmla="val 17978"/>
            </a:avLst>
          </a:prstGeom>
          <a:solidFill>
            <a:srgbClr val="A3A9BA"/>
          </a:solidFill>
          <a:ln/>
        </p:spPr>
      </p:sp>
      <p:sp>
        <p:nvSpPr>
          <p:cNvPr id="20" name="anim-g1-419"/>
          <p:cNvSpPr/>
          <p:nvPr/>
        </p:nvSpPr>
        <p:spPr>
          <a:xfrm>
            <a:off x="10575493" y="3225546"/>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ب</a:t>
            </a:r>
            <a:endParaRPr lang="ar-SA" sz="2000" dirty="0"/>
          </a:p>
        </p:txBody>
      </p:sp>
      <p:sp>
        <p:nvSpPr>
          <p:cNvPr id="21" name="anim-g1-420"/>
          <p:cNvSpPr/>
          <p:nvPr/>
        </p:nvSpPr>
        <p:spPr>
          <a:xfrm>
            <a:off x="1097280" y="3124962"/>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يطلب من الوكيل استدعاء الأب بأي طريقة</a:t>
            </a:r>
            <a:endParaRPr lang="ar-SA" sz="2200" dirty="0"/>
          </a:p>
        </p:txBody>
      </p:sp>
      <p:sp>
        <p:nvSpPr>
          <p:cNvPr id="22" name="anim-g1-421"/>
          <p:cNvSpPr/>
          <p:nvPr/>
        </p:nvSpPr>
        <p:spPr>
          <a:xfrm>
            <a:off x="1097280" y="3566114"/>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الإدارة خطوة لاحقة، والقفز إليها يُفقدك دورك</a:t>
            </a:r>
            <a:endParaRPr lang="ar-SA" sz="1800" dirty="0"/>
          </a:p>
        </p:txBody>
      </p:sp>
      <p:sp>
        <p:nvSpPr>
          <p:cNvPr id="23" name="Shape 21"/>
          <p:cNvSpPr/>
          <p:nvPr/>
        </p:nvSpPr>
        <p:spPr>
          <a:xfrm>
            <a:off x="822960" y="4119372"/>
            <a:ext cx="10545775" cy="884682"/>
          </a:xfrm>
          <a:prstGeom prst="roundRect">
            <a:avLst>
              <a:gd name="adj" fmla="val 16537"/>
            </a:avLst>
          </a:prstGeom>
          <a:solidFill>
            <a:srgbClr val="FFFFFF"/>
          </a:solidFill>
          <a:ln w="19050">
            <a:solidFill>
              <a:srgbClr val="E4DCC8"/>
            </a:solidFill>
            <a:prstDash val="solid"/>
          </a:ln>
        </p:spPr>
      </p:sp>
      <p:sp>
        <p:nvSpPr>
          <p:cNvPr id="24" name="Shape 22"/>
          <p:cNvSpPr/>
          <p:nvPr/>
        </p:nvSpPr>
        <p:spPr>
          <a:xfrm>
            <a:off x="10575493" y="4256532"/>
            <a:ext cx="610362" cy="610362"/>
          </a:xfrm>
          <a:prstGeom prst="roundRect">
            <a:avLst>
              <a:gd name="adj" fmla="val 17978"/>
            </a:avLst>
          </a:prstGeom>
          <a:solidFill>
            <a:srgbClr val="101B45"/>
          </a:solidFill>
          <a:ln/>
        </p:spPr>
      </p:sp>
      <p:sp>
        <p:nvSpPr>
          <p:cNvPr id="25" name="Text 23"/>
          <p:cNvSpPr/>
          <p:nvPr/>
        </p:nvSpPr>
        <p:spPr>
          <a:xfrm>
            <a:off x="10575493" y="4256532"/>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ج</a:t>
            </a:r>
            <a:endParaRPr lang="ar-SA" sz="2000" dirty="0"/>
          </a:p>
        </p:txBody>
      </p:sp>
      <p:sp>
        <p:nvSpPr>
          <p:cNvPr id="26" name="Text 24"/>
          <p:cNvSpPr/>
          <p:nvPr/>
        </p:nvSpPr>
        <p:spPr>
          <a:xfrm>
            <a:off x="1097280" y="4119372"/>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يواجه نواف أمام الفصل بكذب أعذاره</a:t>
            </a:r>
            <a:endParaRPr lang="ar-SA" sz="2200" dirty="0"/>
          </a:p>
        </p:txBody>
      </p:sp>
      <p:sp>
        <p:nvSpPr>
          <p:cNvPr id="27" name="anim-g1-422"/>
          <p:cNvSpPr/>
          <p:nvPr/>
        </p:nvSpPr>
        <p:spPr>
          <a:xfrm>
            <a:off x="822960" y="4119372"/>
            <a:ext cx="10545775" cy="884682"/>
          </a:xfrm>
          <a:prstGeom prst="roundRect">
            <a:avLst>
              <a:gd name="adj" fmla="val 16537"/>
            </a:avLst>
          </a:prstGeom>
          <a:solidFill>
            <a:srgbClr val="F7F7F9"/>
          </a:solidFill>
          <a:ln w="19050">
            <a:solidFill>
              <a:srgbClr val="E4DCC8"/>
            </a:solidFill>
            <a:prstDash val="solid"/>
          </a:ln>
        </p:spPr>
      </p:sp>
      <p:sp>
        <p:nvSpPr>
          <p:cNvPr id="28" name="anim-g1-423"/>
          <p:cNvSpPr/>
          <p:nvPr/>
        </p:nvSpPr>
        <p:spPr>
          <a:xfrm>
            <a:off x="10575493" y="4256532"/>
            <a:ext cx="610362" cy="610362"/>
          </a:xfrm>
          <a:prstGeom prst="roundRect">
            <a:avLst>
              <a:gd name="adj" fmla="val 17978"/>
            </a:avLst>
          </a:prstGeom>
          <a:solidFill>
            <a:srgbClr val="A3A9BA"/>
          </a:solidFill>
          <a:ln/>
        </p:spPr>
      </p:sp>
      <p:sp>
        <p:nvSpPr>
          <p:cNvPr id="29" name="anim-g1-424"/>
          <p:cNvSpPr/>
          <p:nvPr/>
        </p:nvSpPr>
        <p:spPr>
          <a:xfrm>
            <a:off x="10575493" y="4256532"/>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ج</a:t>
            </a:r>
            <a:endParaRPr lang="ar-SA" sz="2000" dirty="0"/>
          </a:p>
        </p:txBody>
      </p:sp>
      <p:sp>
        <p:nvSpPr>
          <p:cNvPr id="30" name="anim-g1-425"/>
          <p:cNvSpPr/>
          <p:nvPr/>
        </p:nvSpPr>
        <p:spPr>
          <a:xfrm>
            <a:off x="1097280" y="4155948"/>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يواجه نواف أمام الفصل بكذب أعذاره</a:t>
            </a:r>
            <a:endParaRPr lang="ar-SA" sz="2200" dirty="0"/>
          </a:p>
        </p:txBody>
      </p:sp>
      <p:sp>
        <p:nvSpPr>
          <p:cNvPr id="31" name="anim-g1-426"/>
          <p:cNvSpPr/>
          <p:nvPr/>
        </p:nvSpPr>
        <p:spPr>
          <a:xfrm>
            <a:off x="1097280" y="4597100"/>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الفضح يدفعه لمزيد من الكذب ويهدم العلاقة</a:t>
            </a:r>
            <a:endParaRPr lang="ar-SA" sz="1800" dirty="0"/>
          </a:p>
        </p:txBody>
      </p:sp>
      <p:sp>
        <p:nvSpPr>
          <p:cNvPr id="32" name="Shape 30"/>
          <p:cNvSpPr/>
          <p:nvPr/>
        </p:nvSpPr>
        <p:spPr>
          <a:xfrm>
            <a:off x="822960" y="5150358"/>
            <a:ext cx="10545775" cy="884682"/>
          </a:xfrm>
          <a:prstGeom prst="roundRect">
            <a:avLst>
              <a:gd name="adj" fmla="val 16537"/>
            </a:avLst>
          </a:prstGeom>
          <a:solidFill>
            <a:srgbClr val="FFFFFF"/>
          </a:solidFill>
          <a:ln w="19050">
            <a:solidFill>
              <a:srgbClr val="E4DCC8"/>
            </a:solidFill>
            <a:prstDash val="solid"/>
          </a:ln>
        </p:spPr>
      </p:sp>
      <p:sp>
        <p:nvSpPr>
          <p:cNvPr id="33" name="Shape 31"/>
          <p:cNvSpPr/>
          <p:nvPr/>
        </p:nvSpPr>
        <p:spPr>
          <a:xfrm>
            <a:off x="10575493" y="5287518"/>
            <a:ext cx="610362" cy="610362"/>
          </a:xfrm>
          <a:prstGeom prst="roundRect">
            <a:avLst>
              <a:gd name="adj" fmla="val 17978"/>
            </a:avLst>
          </a:prstGeom>
          <a:solidFill>
            <a:srgbClr val="101B45"/>
          </a:solidFill>
          <a:ln/>
        </p:spPr>
      </p:sp>
      <p:sp>
        <p:nvSpPr>
          <p:cNvPr id="34" name="Text 32"/>
          <p:cNvSpPr/>
          <p:nvPr/>
        </p:nvSpPr>
        <p:spPr>
          <a:xfrm>
            <a:off x="10575493" y="5287518"/>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د</a:t>
            </a:r>
            <a:endParaRPr lang="ar-SA" sz="2000" dirty="0"/>
          </a:p>
        </p:txBody>
      </p:sp>
      <p:sp>
        <p:nvSpPr>
          <p:cNvPr id="35" name="Text 33"/>
          <p:cNvSpPr/>
          <p:nvPr/>
        </p:nvSpPr>
        <p:spPr>
          <a:xfrm>
            <a:off x="1097280" y="5150358"/>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يبحث عن السبب الحقيقي بحوار خاص، ثم يضع خطة صغيرة يتابعها يوميًا</a:t>
            </a:r>
            <a:endParaRPr lang="ar-SA" sz="2200" dirty="0"/>
          </a:p>
        </p:txBody>
      </p:sp>
      <p:sp>
        <p:nvSpPr>
          <p:cNvPr id="36" name="anim-g1-427"/>
          <p:cNvSpPr/>
          <p:nvPr/>
        </p:nvSpPr>
        <p:spPr>
          <a:xfrm>
            <a:off x="822960" y="5150358"/>
            <a:ext cx="10545775" cy="884682"/>
          </a:xfrm>
          <a:prstGeom prst="roundRect">
            <a:avLst>
              <a:gd name="adj" fmla="val 16537"/>
            </a:avLst>
          </a:prstGeom>
          <a:solidFill>
            <a:srgbClr val="E6F4EC"/>
          </a:solidFill>
          <a:ln w="31750">
            <a:solidFill>
              <a:srgbClr val="2E9E6B"/>
            </a:solidFill>
            <a:prstDash val="solid"/>
          </a:ln>
        </p:spPr>
      </p:sp>
      <p:sp>
        <p:nvSpPr>
          <p:cNvPr id="37" name="anim-g1-428"/>
          <p:cNvSpPr/>
          <p:nvPr/>
        </p:nvSpPr>
        <p:spPr>
          <a:xfrm>
            <a:off x="10575493" y="5287518"/>
            <a:ext cx="610362" cy="610362"/>
          </a:xfrm>
          <a:prstGeom prst="roundRect">
            <a:avLst>
              <a:gd name="adj" fmla="val 17978"/>
            </a:avLst>
          </a:prstGeom>
          <a:solidFill>
            <a:srgbClr val="2E9E6B"/>
          </a:solidFill>
          <a:ln/>
        </p:spPr>
      </p:sp>
      <p:sp>
        <p:nvSpPr>
          <p:cNvPr id="38" name="anim-g1-429"/>
          <p:cNvSpPr/>
          <p:nvPr/>
        </p:nvSpPr>
        <p:spPr>
          <a:xfrm>
            <a:off x="10575493" y="5287518"/>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a:t>
            </a:r>
            <a:endParaRPr lang="ar-SA" sz="2000" dirty="0"/>
          </a:p>
        </p:txBody>
      </p:sp>
      <p:sp>
        <p:nvSpPr>
          <p:cNvPr id="39" name="anim-g1-430"/>
          <p:cNvSpPr/>
          <p:nvPr/>
        </p:nvSpPr>
        <p:spPr>
          <a:xfrm>
            <a:off x="1097280" y="5186934"/>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يبحث عن السبب الحقيقي بحوار خاص، ثم يضع خطة صغيرة يتابعها يوميًا</a:t>
            </a:r>
            <a:endParaRPr lang="ar-SA" sz="2200" dirty="0"/>
          </a:p>
        </p:txBody>
      </p:sp>
      <p:sp>
        <p:nvSpPr>
          <p:cNvPr id="40" name="anim-g1-431"/>
          <p:cNvSpPr/>
          <p:nvPr/>
        </p:nvSpPr>
        <p:spPr>
          <a:xfrm>
            <a:off x="1097280" y="5628086"/>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تكرار الأعذار عَرَض لمشكلة لم تُكتشف بعد</a:t>
            </a:r>
            <a:endParaRPr lang="ar-SA" sz="1800" dirty="0"/>
          </a:p>
        </p:txBody>
      </p:sp>
      <p:sp>
        <p:nvSpPr>
          <p:cNvPr id="41" name="Text 3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42" name="Text 4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الواجب الغائب  ·  ٥٢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400"/>
                                        <p:tgtEl>
                                          <p:spTgt spid="3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400"/>
                                        <p:tgtEl>
                                          <p:spTgt spid="3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400"/>
                                        <p:tgtEl>
                                          <p:spTgt spid="38"/>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9"/>
                                        </p:tgtEl>
                                        <p:attrNameLst>
                                          <p:attrName>style.visibility</p:attrName>
                                        </p:attrNameLst>
                                      </p:cBhvr>
                                      <p:to>
                                        <p:strVal val="visible"/>
                                      </p:to>
                                    </p:set>
                                    <p:animEffect transition="in" filter="fade">
                                      <p:cBhvr>
                                        <p:cTn id="61" dur="400"/>
                                        <p:tgtEl>
                                          <p:spTgt spid="3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0"/>
                                        </p:tgtEl>
                                        <p:attrNameLst>
                                          <p:attrName>style.visibility</p:attrName>
                                        </p:attrNameLst>
                                      </p:cBhvr>
                                      <p:to>
                                        <p:strVal val="visible"/>
                                      </p:to>
                                    </p:set>
                                    <p:animEffect transition="in" filter="fade">
                                      <p:cBhvr>
                                        <p:cTn id="64"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P spid="36" grpId="0" animBg="1"/>
      <p:bldP spid="37" grpId="0" animBg="1"/>
      <p:bldP spid="38" grpId="0" animBg="1"/>
      <p:bldP spid="39" grpId="0" animBg="1"/>
      <p:bldP spid="40"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name="Slide 5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711135" y="457200"/>
            <a:ext cx="3657600" cy="457200"/>
          </a:xfrm>
          <a:prstGeom prst="roundRect">
            <a:avLst>
              <a:gd name="adj" fmla="val 50000"/>
            </a:avLst>
          </a:prstGeom>
          <a:solidFill>
            <a:srgbClr val="F6EBCF"/>
          </a:solidFill>
          <a:ln/>
        </p:spPr>
      </p:sp>
      <p:sp>
        <p:nvSpPr>
          <p:cNvPr id="3" name="Text 1"/>
          <p:cNvSpPr/>
          <p:nvPr/>
        </p:nvSpPr>
        <p:spPr>
          <a:xfrm>
            <a:off x="7711135" y="457200"/>
            <a:ext cx="365760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وراء كل سلوك حاجة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لماذا يختلق نواف الأعذار؟</a:t>
            </a:r>
            <a:endParaRPr lang="ar-SA" sz="3800" dirty="0"/>
          </a:p>
        </p:txBody>
      </p:sp>
      <p:sp>
        <p:nvSpPr>
          <p:cNvPr id="5" name="anim-g1-432"/>
          <p:cNvSpPr/>
          <p:nvPr/>
        </p:nvSpPr>
        <p:spPr>
          <a:xfrm>
            <a:off x="8903741" y="2011680"/>
            <a:ext cx="2464994" cy="2514600"/>
          </a:xfrm>
          <a:prstGeom prst="roundRect">
            <a:avLst>
              <a:gd name="adj" fmla="val 6677"/>
            </a:avLst>
          </a:prstGeom>
          <a:solidFill>
            <a:srgbClr val="FFFFFF"/>
          </a:solidFill>
          <a:ln w="12700">
            <a:solidFill>
              <a:srgbClr val="E4DCC8"/>
            </a:solidFill>
            <a:prstDash val="solid"/>
          </a:ln>
        </p:spPr>
      </p:sp>
      <p:sp>
        <p:nvSpPr>
          <p:cNvPr id="6" name="anim-g1-433"/>
          <p:cNvSpPr/>
          <p:nvPr/>
        </p:nvSpPr>
        <p:spPr>
          <a:xfrm>
            <a:off x="9816198" y="2194560"/>
            <a:ext cx="640080" cy="640080"/>
          </a:xfrm>
          <a:prstGeom prst="roundRect">
            <a:avLst>
              <a:gd name="adj" fmla="val 25714"/>
            </a:avLst>
          </a:prstGeom>
          <a:solidFill>
            <a:srgbClr val="F7E6BC"/>
          </a:solidFill>
          <a:ln/>
        </p:spPr>
      </p:sp>
      <p:sp>
        <p:nvSpPr>
          <p:cNvPr id="7" name="anim-g1-434"/>
          <p:cNvSpPr/>
          <p:nvPr/>
        </p:nvSpPr>
        <p:spPr>
          <a:xfrm>
            <a:off x="9816198"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8" name="anim-g1-435"/>
          <p:cNvSpPr/>
          <p:nvPr/>
        </p:nvSpPr>
        <p:spPr>
          <a:xfrm>
            <a:off x="9040901"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ضعف دراسي</a:t>
            </a:r>
            <a:endParaRPr lang="ar-SA" sz="2200" dirty="0"/>
          </a:p>
        </p:txBody>
      </p:sp>
      <p:sp>
        <p:nvSpPr>
          <p:cNvPr id="9" name="anim-g1-436"/>
          <p:cNvSpPr/>
          <p:nvPr/>
        </p:nvSpPr>
        <p:spPr>
          <a:xfrm>
            <a:off x="9040901"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لا يستطيع حل الواجب، فيخفي عجزه بالأعذار</a:t>
            </a:r>
            <a:endParaRPr lang="ar-SA" sz="1900" dirty="0"/>
          </a:p>
        </p:txBody>
      </p:sp>
      <p:sp>
        <p:nvSpPr>
          <p:cNvPr id="10" name="anim-g2-437"/>
          <p:cNvSpPr/>
          <p:nvPr/>
        </p:nvSpPr>
        <p:spPr>
          <a:xfrm>
            <a:off x="6210148" y="2011680"/>
            <a:ext cx="2464994" cy="2514600"/>
          </a:xfrm>
          <a:prstGeom prst="roundRect">
            <a:avLst>
              <a:gd name="adj" fmla="val 6677"/>
            </a:avLst>
          </a:prstGeom>
          <a:solidFill>
            <a:srgbClr val="FFFFFF"/>
          </a:solidFill>
          <a:ln w="12700">
            <a:solidFill>
              <a:srgbClr val="E4DCC8"/>
            </a:solidFill>
            <a:prstDash val="solid"/>
          </a:ln>
        </p:spPr>
      </p:sp>
      <p:sp>
        <p:nvSpPr>
          <p:cNvPr id="11" name="anim-g2-438"/>
          <p:cNvSpPr/>
          <p:nvPr/>
        </p:nvSpPr>
        <p:spPr>
          <a:xfrm>
            <a:off x="7122604" y="2194560"/>
            <a:ext cx="640080" cy="640080"/>
          </a:xfrm>
          <a:prstGeom prst="roundRect">
            <a:avLst>
              <a:gd name="adj" fmla="val 25714"/>
            </a:avLst>
          </a:prstGeom>
          <a:solidFill>
            <a:srgbClr val="F7E6BC"/>
          </a:solidFill>
          <a:ln/>
        </p:spPr>
      </p:sp>
      <p:sp>
        <p:nvSpPr>
          <p:cNvPr id="12" name="anim-g2-439"/>
          <p:cNvSpPr/>
          <p:nvPr/>
        </p:nvSpPr>
        <p:spPr>
          <a:xfrm>
            <a:off x="7122604"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13" name="anim-g2-440"/>
          <p:cNvSpPr/>
          <p:nvPr/>
        </p:nvSpPr>
        <p:spPr>
          <a:xfrm>
            <a:off x="6347308"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ظرف أسري</a:t>
            </a:r>
            <a:endParaRPr lang="ar-SA" sz="2200" dirty="0"/>
          </a:p>
        </p:txBody>
      </p:sp>
      <p:sp>
        <p:nvSpPr>
          <p:cNvPr id="14" name="anim-g2-441"/>
          <p:cNvSpPr/>
          <p:nvPr/>
        </p:nvSpPr>
        <p:spPr>
          <a:xfrm>
            <a:off x="6347308"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لا أحد يتابعه، والرقم الخاطئ مؤشر مهم</a:t>
            </a:r>
            <a:endParaRPr lang="ar-SA" sz="1900" dirty="0"/>
          </a:p>
        </p:txBody>
      </p:sp>
      <p:sp>
        <p:nvSpPr>
          <p:cNvPr id="15" name="anim-g3-442"/>
          <p:cNvSpPr/>
          <p:nvPr/>
        </p:nvSpPr>
        <p:spPr>
          <a:xfrm>
            <a:off x="3516554" y="2011680"/>
            <a:ext cx="2464994" cy="2514600"/>
          </a:xfrm>
          <a:prstGeom prst="roundRect">
            <a:avLst>
              <a:gd name="adj" fmla="val 6677"/>
            </a:avLst>
          </a:prstGeom>
          <a:solidFill>
            <a:srgbClr val="FFFFFF"/>
          </a:solidFill>
          <a:ln w="12700">
            <a:solidFill>
              <a:srgbClr val="E4DCC8"/>
            </a:solidFill>
            <a:prstDash val="solid"/>
          </a:ln>
        </p:spPr>
      </p:sp>
      <p:sp>
        <p:nvSpPr>
          <p:cNvPr id="16" name="anim-g3-443"/>
          <p:cNvSpPr/>
          <p:nvPr/>
        </p:nvSpPr>
        <p:spPr>
          <a:xfrm>
            <a:off x="4429011" y="2194560"/>
            <a:ext cx="640080" cy="640080"/>
          </a:xfrm>
          <a:prstGeom prst="roundRect">
            <a:avLst>
              <a:gd name="adj" fmla="val 25714"/>
            </a:avLst>
          </a:prstGeom>
          <a:solidFill>
            <a:srgbClr val="F7E6BC"/>
          </a:solidFill>
          <a:ln/>
        </p:spPr>
      </p:sp>
      <p:sp>
        <p:nvSpPr>
          <p:cNvPr id="17" name="anim-g3-444"/>
          <p:cNvSpPr/>
          <p:nvPr/>
        </p:nvSpPr>
        <p:spPr>
          <a:xfrm>
            <a:off x="4429011"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18" name="anim-g3-445"/>
          <p:cNvSpPr/>
          <p:nvPr/>
        </p:nvSpPr>
        <p:spPr>
          <a:xfrm>
            <a:off x="3653714"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عادات يومية</a:t>
            </a:r>
            <a:endParaRPr lang="ar-SA" sz="2200" dirty="0"/>
          </a:p>
        </p:txBody>
      </p:sp>
      <p:sp>
        <p:nvSpPr>
          <p:cNvPr id="19" name="anim-g3-446"/>
          <p:cNvSpPr/>
          <p:nvPr/>
        </p:nvSpPr>
        <p:spPr>
          <a:xfrm>
            <a:off x="3653714"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سهر وألعاب إلكترونية تستهلك وقته</a:t>
            </a:r>
            <a:endParaRPr lang="ar-SA" sz="1900" dirty="0"/>
          </a:p>
        </p:txBody>
      </p:sp>
      <p:sp>
        <p:nvSpPr>
          <p:cNvPr id="20" name="anim-g4-447"/>
          <p:cNvSpPr/>
          <p:nvPr/>
        </p:nvSpPr>
        <p:spPr>
          <a:xfrm>
            <a:off x="822960" y="2011680"/>
            <a:ext cx="2464994" cy="2514600"/>
          </a:xfrm>
          <a:prstGeom prst="roundRect">
            <a:avLst>
              <a:gd name="adj" fmla="val 6677"/>
            </a:avLst>
          </a:prstGeom>
          <a:solidFill>
            <a:srgbClr val="FFFFFF"/>
          </a:solidFill>
          <a:ln w="12700">
            <a:solidFill>
              <a:srgbClr val="E4DCC8"/>
            </a:solidFill>
            <a:prstDash val="solid"/>
          </a:ln>
        </p:spPr>
      </p:sp>
      <p:sp>
        <p:nvSpPr>
          <p:cNvPr id="21" name="anim-g4-448"/>
          <p:cNvSpPr/>
          <p:nvPr/>
        </p:nvSpPr>
        <p:spPr>
          <a:xfrm>
            <a:off x="1735417" y="2194560"/>
            <a:ext cx="640080" cy="640080"/>
          </a:xfrm>
          <a:prstGeom prst="roundRect">
            <a:avLst>
              <a:gd name="adj" fmla="val 25714"/>
            </a:avLst>
          </a:prstGeom>
          <a:solidFill>
            <a:srgbClr val="F7E6BC"/>
          </a:solidFill>
          <a:ln/>
        </p:spPr>
      </p:sp>
      <p:sp>
        <p:nvSpPr>
          <p:cNvPr id="22" name="anim-g4-449"/>
          <p:cNvSpPr/>
          <p:nvPr/>
        </p:nvSpPr>
        <p:spPr>
          <a:xfrm>
            <a:off x="1735417"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23" name="anim-g4-450"/>
          <p:cNvSpPr/>
          <p:nvPr/>
        </p:nvSpPr>
        <p:spPr>
          <a:xfrm>
            <a:off x="960120"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خوف</a:t>
            </a:r>
            <a:endParaRPr lang="ar-SA" sz="2200" dirty="0"/>
          </a:p>
        </p:txBody>
      </p:sp>
      <p:sp>
        <p:nvSpPr>
          <p:cNvPr id="24" name="anim-g4-451"/>
          <p:cNvSpPr/>
          <p:nvPr/>
        </p:nvSpPr>
        <p:spPr>
          <a:xfrm>
            <a:off x="960120"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تهديد الدرجات جعله يختار الكذب على المواجهة</a:t>
            </a:r>
            <a:endParaRPr lang="ar-SA" sz="1900" dirty="0"/>
          </a:p>
        </p:txBody>
      </p:sp>
      <p:sp>
        <p:nvSpPr>
          <p:cNvPr id="25" name="anim-g5-452"/>
          <p:cNvSpPr/>
          <p:nvPr/>
        </p:nvSpPr>
        <p:spPr>
          <a:xfrm>
            <a:off x="822960" y="4754880"/>
            <a:ext cx="10545775" cy="1051560"/>
          </a:xfrm>
          <a:prstGeom prst="roundRect">
            <a:avLst>
              <a:gd name="adj" fmla="val 17391"/>
            </a:avLst>
          </a:prstGeom>
          <a:solidFill>
            <a:srgbClr val="101B45"/>
          </a:solidFill>
          <a:ln/>
        </p:spPr>
      </p:sp>
      <p:sp>
        <p:nvSpPr>
          <p:cNvPr id="26" name="anim-g5-453"/>
          <p:cNvSpPr/>
          <p:nvPr/>
        </p:nvSpPr>
        <p:spPr>
          <a:xfrm>
            <a:off x="1097280" y="4754880"/>
            <a:ext cx="9997135" cy="1051560"/>
          </a:xfrm>
          <a:prstGeom prst="rect">
            <a:avLst/>
          </a:prstGeom>
          <a:noFill/>
          <a:ln/>
        </p:spPr>
        <p:txBody>
          <a:bodyPr wrap="square" lIns="0" tIns="0" rIns="0" bIns="0" rtlCol="0" anchor="ctr">
            <a:normAutofit/>
          </a:bodyPr>
          <a:lstStyle/>
          <a:p>
            <a:pPr algn="ctr" indent="0" marL="0">
              <a:buNone/>
            </a:pPr>
            <a:r>
              <a:rPr lang="ar-SA" altLang="en-US" sz="2200" b="1" dirty="0">
                <a:solidFill>
                  <a:srgbClr val="FFFFFF"/>
                </a:solidFill>
                <a:latin typeface="Cairo" pitchFamily="34" charset="0"/>
                <a:ea typeface="Cairo" pitchFamily="34" charset="-122"/>
                <a:cs typeface="Cairo" pitchFamily="34" charset="-120"/>
              </a:rPr>
              <a:t>💡 الأعذار المتكررة ليست المشكلة…</a:t>
            </a:r>
            <a:endParaRPr lang="ar-SA" sz="2200" dirty="0"/>
          </a:p>
          <a:p>
            <a:pPr algn="ctr" indent="0" marL="0">
              <a:buNone/>
            </a:pPr>
            <a:r>
              <a:rPr lang="ar-SA" altLang="en-US" sz="2200" b="1" dirty="0">
                <a:solidFill>
                  <a:srgbClr val="F0CC7A"/>
                </a:solidFill>
                <a:latin typeface="Cairo" pitchFamily="34" charset="0"/>
                <a:ea typeface="Cairo" pitchFamily="34" charset="-122"/>
                <a:cs typeface="Cairo" pitchFamily="34" charset="-120"/>
              </a:rPr>
              <a:t> بل الدخان الذي يغطي المشكلة</a:t>
            </a:r>
            <a:endParaRPr lang="ar-SA" sz="2200" dirty="0"/>
          </a:p>
        </p:txBody>
      </p:sp>
      <p:sp>
        <p:nvSpPr>
          <p:cNvPr id="27" name="Text 2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8" name="Text 2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الواجب الغائب  ·  ٥٣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40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name="Slide 5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564831" y="457200"/>
            <a:ext cx="3803904" cy="457200"/>
          </a:xfrm>
          <a:prstGeom prst="roundRect">
            <a:avLst>
              <a:gd name="adj" fmla="val 50000"/>
            </a:avLst>
          </a:prstGeom>
          <a:solidFill>
            <a:srgbClr val="F6EBCF"/>
          </a:solidFill>
          <a:ln/>
        </p:spPr>
      </p:sp>
      <p:sp>
        <p:nvSpPr>
          <p:cNvPr id="3" name="Text 1"/>
          <p:cNvSpPr/>
          <p:nvPr/>
        </p:nvSpPr>
        <p:spPr>
          <a:xfrm>
            <a:off x="7564831" y="457200"/>
            <a:ext cx="380390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دقيقتان على انفراد</a:t>
            </a:r>
            <a:endParaRPr lang="ar-SA" sz="1800" dirty="0"/>
          </a:p>
        </p:txBody>
      </p:sp>
      <p:sp>
        <p:nvSpPr>
          <p:cNvPr id="4" name="Shape 2"/>
          <p:cNvSpPr/>
          <p:nvPr/>
        </p:nvSpPr>
        <p:spPr>
          <a:xfrm>
            <a:off x="822960" y="457200"/>
            <a:ext cx="1618488" cy="457200"/>
          </a:xfrm>
          <a:prstGeom prst="roundRect">
            <a:avLst>
              <a:gd name="adj" fmla="val 50000"/>
            </a:avLst>
          </a:prstGeom>
          <a:solidFill>
            <a:srgbClr val="FBECEC"/>
          </a:solidFill>
          <a:ln/>
        </p:spPr>
      </p:sp>
      <p:sp>
        <p:nvSpPr>
          <p:cNvPr id="5" name="Text 3"/>
          <p:cNvSpPr/>
          <p:nvPr/>
        </p:nvSpPr>
        <p:spPr>
          <a:xfrm>
            <a:off x="822960" y="457200"/>
            <a:ext cx="1618488"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D64545"/>
                </a:solidFill>
                <a:latin typeface="Cairo" pitchFamily="34" charset="0"/>
                <a:ea typeface="Cairo" pitchFamily="34" charset="-122"/>
                <a:cs typeface="Cairo" pitchFamily="34" charset="-120"/>
              </a:rPr>
              <a:t>⏱ دقيقتان</a:t>
            </a:r>
            <a:endParaRPr lang="ar-SA" sz="1600" dirty="0"/>
          </a:p>
        </p:txBody>
      </p:sp>
      <p:sp>
        <p:nvSpPr>
          <p:cNvPr id="6" name="Text 4"/>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الخطوة الأولى</a:t>
            </a:r>
            <a:endParaRPr lang="ar-SA" sz="3800" dirty="0"/>
          </a:p>
        </p:txBody>
      </p:sp>
      <p:sp>
        <p:nvSpPr>
          <p:cNvPr id="7" name="anim-g1-454"/>
          <p:cNvSpPr/>
          <p:nvPr/>
        </p:nvSpPr>
        <p:spPr>
          <a:xfrm>
            <a:off x="8903741" y="2148840"/>
            <a:ext cx="2464994" cy="3383280"/>
          </a:xfrm>
          <a:prstGeom prst="roundRect">
            <a:avLst>
              <a:gd name="adj" fmla="val 6677"/>
            </a:avLst>
          </a:prstGeom>
          <a:solidFill>
            <a:srgbClr val="FFFFFF"/>
          </a:solidFill>
          <a:ln w="12700">
            <a:solidFill>
              <a:srgbClr val="E4DCC8"/>
            </a:solidFill>
            <a:prstDash val="solid"/>
          </a:ln>
        </p:spPr>
      </p:sp>
      <p:sp>
        <p:nvSpPr>
          <p:cNvPr id="8" name="anim-g1-455"/>
          <p:cNvSpPr/>
          <p:nvPr/>
        </p:nvSpPr>
        <p:spPr>
          <a:xfrm>
            <a:off x="9747618" y="2423160"/>
            <a:ext cx="777240" cy="777240"/>
          </a:xfrm>
          <a:prstGeom prst="ellipse">
            <a:avLst/>
          </a:prstGeom>
          <a:solidFill>
            <a:srgbClr val="D9AE4B"/>
          </a:solidFill>
          <a:ln/>
        </p:spPr>
      </p:sp>
      <p:sp>
        <p:nvSpPr>
          <p:cNvPr id="9" name="anim-g1-456"/>
          <p:cNvSpPr/>
          <p:nvPr/>
        </p:nvSpPr>
        <p:spPr>
          <a:xfrm>
            <a:off x="9747618"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١</a:t>
            </a:r>
            <a:endParaRPr lang="ar-SA" sz="2800" dirty="0"/>
          </a:p>
        </p:txBody>
      </p:sp>
      <p:sp>
        <p:nvSpPr>
          <p:cNvPr id="10" name="anim-g1-457"/>
          <p:cNvSpPr/>
          <p:nvPr/>
        </p:nvSpPr>
        <p:spPr>
          <a:xfrm>
            <a:off x="9040901"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على انفراد</a:t>
            </a:r>
            <a:endParaRPr lang="ar-SA" sz="2500" dirty="0"/>
          </a:p>
        </p:txBody>
      </p:sp>
      <p:sp>
        <p:nvSpPr>
          <p:cNvPr id="11" name="anim-g1-458"/>
          <p:cNvSpPr/>
          <p:nvPr/>
        </p:nvSpPr>
        <p:spPr>
          <a:xfrm>
            <a:off x="9086621"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بعيدًا عن زملائه، لا أمامهم</a:t>
            </a:r>
            <a:endParaRPr lang="ar-SA" sz="2000" dirty="0"/>
          </a:p>
        </p:txBody>
      </p:sp>
      <p:sp>
        <p:nvSpPr>
          <p:cNvPr id="12" name="anim-g2-459"/>
          <p:cNvSpPr/>
          <p:nvPr/>
        </p:nvSpPr>
        <p:spPr>
          <a:xfrm>
            <a:off x="6210148" y="2148840"/>
            <a:ext cx="2464994" cy="3383280"/>
          </a:xfrm>
          <a:prstGeom prst="roundRect">
            <a:avLst>
              <a:gd name="adj" fmla="val 6677"/>
            </a:avLst>
          </a:prstGeom>
          <a:solidFill>
            <a:srgbClr val="FFFFFF"/>
          </a:solidFill>
          <a:ln w="12700">
            <a:solidFill>
              <a:srgbClr val="E4DCC8"/>
            </a:solidFill>
            <a:prstDash val="solid"/>
          </a:ln>
        </p:spPr>
      </p:sp>
      <p:sp>
        <p:nvSpPr>
          <p:cNvPr id="13" name="anim-g2-460"/>
          <p:cNvSpPr/>
          <p:nvPr/>
        </p:nvSpPr>
        <p:spPr>
          <a:xfrm>
            <a:off x="7054024" y="2423160"/>
            <a:ext cx="777240" cy="777240"/>
          </a:xfrm>
          <a:prstGeom prst="ellipse">
            <a:avLst/>
          </a:prstGeom>
          <a:solidFill>
            <a:srgbClr val="D9AE4B"/>
          </a:solidFill>
          <a:ln/>
        </p:spPr>
      </p:sp>
      <p:sp>
        <p:nvSpPr>
          <p:cNvPr id="14" name="anim-g2-461"/>
          <p:cNvSpPr/>
          <p:nvPr/>
        </p:nvSpPr>
        <p:spPr>
          <a:xfrm>
            <a:off x="7054024"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٢</a:t>
            </a:r>
            <a:endParaRPr lang="ar-SA" sz="2800" dirty="0"/>
          </a:p>
        </p:txBody>
      </p:sp>
      <p:sp>
        <p:nvSpPr>
          <p:cNvPr id="15" name="anim-g2-462"/>
          <p:cNvSpPr/>
          <p:nvPr/>
        </p:nvSpPr>
        <p:spPr>
          <a:xfrm>
            <a:off x="6347308"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بلا اتهام</a:t>
            </a:r>
            <a:endParaRPr lang="ar-SA" sz="2500" dirty="0"/>
          </a:p>
        </p:txBody>
      </p:sp>
      <p:sp>
        <p:nvSpPr>
          <p:cNvPr id="16" name="anim-g2-463"/>
          <p:cNvSpPr/>
          <p:nvPr/>
        </p:nvSpPr>
        <p:spPr>
          <a:xfrm>
            <a:off x="6393028"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«لاحظت أن الواجب لم يصل أربع مرات»</a:t>
            </a:r>
            <a:endParaRPr lang="ar-SA" sz="2000" dirty="0"/>
          </a:p>
        </p:txBody>
      </p:sp>
      <p:sp>
        <p:nvSpPr>
          <p:cNvPr id="17" name="anim-g3-464"/>
          <p:cNvSpPr/>
          <p:nvPr/>
        </p:nvSpPr>
        <p:spPr>
          <a:xfrm>
            <a:off x="3516554" y="2148840"/>
            <a:ext cx="2464994" cy="3383280"/>
          </a:xfrm>
          <a:prstGeom prst="roundRect">
            <a:avLst>
              <a:gd name="adj" fmla="val 6677"/>
            </a:avLst>
          </a:prstGeom>
          <a:solidFill>
            <a:srgbClr val="FFFFFF"/>
          </a:solidFill>
          <a:ln w="12700">
            <a:solidFill>
              <a:srgbClr val="E4DCC8"/>
            </a:solidFill>
            <a:prstDash val="solid"/>
          </a:ln>
        </p:spPr>
      </p:sp>
      <p:sp>
        <p:nvSpPr>
          <p:cNvPr id="18" name="anim-g3-465"/>
          <p:cNvSpPr/>
          <p:nvPr/>
        </p:nvSpPr>
        <p:spPr>
          <a:xfrm>
            <a:off x="4360431" y="2423160"/>
            <a:ext cx="777240" cy="777240"/>
          </a:xfrm>
          <a:prstGeom prst="ellipse">
            <a:avLst/>
          </a:prstGeom>
          <a:solidFill>
            <a:srgbClr val="D9AE4B"/>
          </a:solidFill>
          <a:ln/>
        </p:spPr>
      </p:sp>
      <p:sp>
        <p:nvSpPr>
          <p:cNvPr id="19" name="anim-g3-466"/>
          <p:cNvSpPr/>
          <p:nvPr/>
        </p:nvSpPr>
        <p:spPr>
          <a:xfrm>
            <a:off x="4360431"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٣</a:t>
            </a:r>
            <a:endParaRPr lang="ar-SA" sz="2800" dirty="0"/>
          </a:p>
        </p:txBody>
      </p:sp>
      <p:sp>
        <p:nvSpPr>
          <p:cNvPr id="20" name="anim-g3-467"/>
          <p:cNvSpPr/>
          <p:nvPr/>
        </p:nvSpPr>
        <p:spPr>
          <a:xfrm>
            <a:off x="3653714"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اسأل</a:t>
            </a:r>
            <a:endParaRPr lang="ar-SA" sz="2500" dirty="0"/>
          </a:p>
        </p:txBody>
      </p:sp>
      <p:sp>
        <p:nvSpPr>
          <p:cNvPr id="21" name="anim-g3-468"/>
          <p:cNvSpPr/>
          <p:nvPr/>
        </p:nvSpPr>
        <p:spPr>
          <a:xfrm>
            <a:off x="3699434"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«ما الذي يصعب عليك فيه؟»</a:t>
            </a:r>
            <a:endParaRPr lang="ar-SA" sz="2000" dirty="0"/>
          </a:p>
        </p:txBody>
      </p:sp>
      <p:sp>
        <p:nvSpPr>
          <p:cNvPr id="22" name="anim-g4-469"/>
          <p:cNvSpPr/>
          <p:nvPr/>
        </p:nvSpPr>
        <p:spPr>
          <a:xfrm>
            <a:off x="822960" y="2148840"/>
            <a:ext cx="2464994" cy="3383280"/>
          </a:xfrm>
          <a:prstGeom prst="roundRect">
            <a:avLst>
              <a:gd name="adj" fmla="val 6677"/>
            </a:avLst>
          </a:prstGeom>
          <a:solidFill>
            <a:srgbClr val="FFFFFF"/>
          </a:solidFill>
          <a:ln w="12700">
            <a:solidFill>
              <a:srgbClr val="E4DCC8"/>
            </a:solidFill>
            <a:prstDash val="solid"/>
          </a:ln>
        </p:spPr>
      </p:sp>
      <p:sp>
        <p:nvSpPr>
          <p:cNvPr id="23" name="anim-g4-470"/>
          <p:cNvSpPr/>
          <p:nvPr/>
        </p:nvSpPr>
        <p:spPr>
          <a:xfrm>
            <a:off x="1666837" y="2423160"/>
            <a:ext cx="777240" cy="777240"/>
          </a:xfrm>
          <a:prstGeom prst="ellipse">
            <a:avLst/>
          </a:prstGeom>
          <a:solidFill>
            <a:srgbClr val="D9AE4B"/>
          </a:solidFill>
          <a:ln/>
        </p:spPr>
      </p:sp>
      <p:sp>
        <p:nvSpPr>
          <p:cNvPr id="24" name="anim-g4-471"/>
          <p:cNvSpPr/>
          <p:nvPr/>
        </p:nvSpPr>
        <p:spPr>
          <a:xfrm>
            <a:off x="1666837"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٤</a:t>
            </a:r>
            <a:endParaRPr lang="ar-SA" sz="2800" dirty="0"/>
          </a:p>
        </p:txBody>
      </p:sp>
      <p:sp>
        <p:nvSpPr>
          <p:cNvPr id="25" name="anim-g4-472"/>
          <p:cNvSpPr/>
          <p:nvPr/>
        </p:nvSpPr>
        <p:spPr>
          <a:xfrm>
            <a:off x="960120"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خطوة صغيرة</a:t>
            </a:r>
            <a:endParaRPr lang="ar-SA" sz="2500" dirty="0"/>
          </a:p>
        </p:txBody>
      </p:sp>
      <p:sp>
        <p:nvSpPr>
          <p:cNvPr id="26" name="anim-g4-473"/>
          <p:cNvSpPr/>
          <p:nvPr/>
        </p:nvSpPr>
        <p:spPr>
          <a:xfrm>
            <a:off x="1005840"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واجب أقصر يسلّمه لك غدًا صباحًا</a:t>
            </a:r>
            <a:endParaRPr lang="ar-SA" sz="2000" dirty="0"/>
          </a:p>
        </p:txBody>
      </p:sp>
      <p:sp>
        <p:nvSpPr>
          <p:cNvPr id="27" name="Text 2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8" name="Text 2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الواجب الغائب  ·  ٥٤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400"/>
                                        <p:tgtEl>
                                          <p:spTgt spid="1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40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4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400"/>
                                        <p:tgtEl>
                                          <p:spTgt spid="1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400"/>
                                        <p:tgtEl>
                                          <p:spTgt spid="2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400"/>
                                        <p:tgtEl>
                                          <p:spTgt spid="21"/>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400"/>
                                        <p:tgtEl>
                                          <p:spTgt spid="2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400"/>
                                        <p:tgtEl>
                                          <p:spTgt spid="2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400"/>
                                        <p:tgtEl>
                                          <p:spTgt spid="2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400"/>
                                        <p:tgtEl>
                                          <p:spTgt spid="2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name="Slide 5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588959" y="457200"/>
            <a:ext cx="2779776" cy="457200"/>
          </a:xfrm>
          <a:prstGeom prst="roundRect">
            <a:avLst>
              <a:gd name="adj" fmla="val 50000"/>
            </a:avLst>
          </a:prstGeom>
          <a:solidFill>
            <a:srgbClr val="F6EBCF"/>
          </a:solidFill>
          <a:ln/>
        </p:spPr>
      </p:sp>
      <p:sp>
        <p:nvSpPr>
          <p:cNvPr id="3" name="Text 1"/>
          <p:cNvSpPr/>
          <p:nvPr/>
        </p:nvSpPr>
        <p:spPr>
          <a:xfrm>
            <a:off x="8588959" y="457200"/>
            <a:ext cx="277977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الجُمل الجاهزة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ماذا تقول بالحرف؟</a:t>
            </a:r>
            <a:endParaRPr lang="ar-SA" sz="3800" dirty="0"/>
          </a:p>
        </p:txBody>
      </p:sp>
      <p:sp>
        <p:nvSpPr>
          <p:cNvPr id="5" name="anim-g1-474"/>
          <p:cNvSpPr/>
          <p:nvPr/>
        </p:nvSpPr>
        <p:spPr>
          <a:xfrm>
            <a:off x="9768535" y="2130552"/>
            <a:ext cx="1600200" cy="819912"/>
          </a:xfrm>
          <a:prstGeom prst="roundRect">
            <a:avLst>
              <a:gd name="adj" fmla="val 16729"/>
            </a:avLst>
          </a:prstGeom>
          <a:solidFill>
            <a:srgbClr val="E9EDF9"/>
          </a:solidFill>
          <a:ln/>
        </p:spPr>
      </p:sp>
      <p:sp>
        <p:nvSpPr>
          <p:cNvPr id="6" name="anim-g1-475"/>
          <p:cNvSpPr/>
          <p:nvPr/>
        </p:nvSpPr>
        <p:spPr>
          <a:xfrm>
            <a:off x="9814255" y="2130552"/>
            <a:ext cx="1508760" cy="81991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بداية الحوار</a:t>
            </a:r>
            <a:endParaRPr lang="ar-SA" sz="1800" dirty="0"/>
          </a:p>
        </p:txBody>
      </p:sp>
      <p:sp>
        <p:nvSpPr>
          <p:cNvPr id="7" name="anim-g1-476"/>
          <p:cNvSpPr/>
          <p:nvPr/>
        </p:nvSpPr>
        <p:spPr>
          <a:xfrm>
            <a:off x="822960" y="2057400"/>
            <a:ext cx="8716975" cy="966216"/>
          </a:xfrm>
          <a:prstGeom prst="roundRect">
            <a:avLst>
              <a:gd name="adj" fmla="val 20820"/>
            </a:avLst>
          </a:prstGeom>
          <a:solidFill>
            <a:srgbClr val="101B45"/>
          </a:solidFill>
          <a:ln/>
        </p:spPr>
      </p:sp>
      <p:sp>
        <p:nvSpPr>
          <p:cNvPr id="8" name="anim-g1-477"/>
          <p:cNvSpPr/>
          <p:nvPr/>
        </p:nvSpPr>
        <p:spPr>
          <a:xfrm>
            <a:off x="1097280" y="2057400"/>
            <a:ext cx="8168335" cy="966216"/>
          </a:xfrm>
          <a:prstGeom prst="rect">
            <a:avLst/>
          </a:prstGeom>
          <a:noFill/>
          <a:ln/>
        </p:spPr>
        <p:txBody>
          <a:bodyPr wrap="square" lIns="0" tIns="0" rIns="0" bIns="0" rtlCol="0" anchor="ctr">
            <a:normAutofit/>
          </a:bodyPr>
          <a:lstStyle/>
          <a:p>
            <a:pPr algn="r" indent="0" marL="0">
              <a:buNone/>
            </a:pPr>
            <a:r>
              <a:rPr lang="ar-SA" altLang="en-US" sz="2200" b="1" dirty="0">
                <a:solidFill>
                  <a:srgbClr val="D9AE4B"/>
                </a:solidFill>
                <a:latin typeface="Cairo" pitchFamily="34" charset="0"/>
                <a:ea typeface="Cairo" pitchFamily="34" charset="-122"/>
                <a:cs typeface="Cairo" pitchFamily="34" charset="-120"/>
              </a:rPr>
              <a:t>« </a:t>
            </a:r>
            <a:pPr algn="r" indent="0" marL="0">
              <a:buNone/>
            </a:pPr>
            <a:r>
              <a:rPr lang="ar-SA" altLang="en-US" sz="2200" b="1" dirty="0">
                <a:solidFill>
                  <a:srgbClr val="FFFFFF"/>
                </a:solidFill>
                <a:latin typeface="Cairo" pitchFamily="34" charset="0"/>
                <a:ea typeface="Cairo" pitchFamily="34" charset="-122"/>
                <a:cs typeface="Cairo" pitchFamily="34" charset="-120"/>
              </a:rPr>
              <a:t>نواف، أنا لا أبحث عن عقاب، أبحث عمّا يمنعك. ما الذي يحدث؟</a:t>
            </a:r>
            <a:pPr algn="r" indent="0" marL="0">
              <a:buNone/>
            </a:pPr>
            <a:r>
              <a:rPr lang="ar-SA" altLang="en-US" sz="2200" b="1" dirty="0">
                <a:solidFill>
                  <a:srgbClr val="D9AE4B"/>
                </a:solidFill>
                <a:latin typeface="Cairo" pitchFamily="34" charset="0"/>
                <a:ea typeface="Cairo" pitchFamily="34" charset="-122"/>
                <a:cs typeface="Cairo" pitchFamily="34" charset="-120"/>
              </a:rPr>
              <a:t> »</a:t>
            </a:r>
            <a:endParaRPr lang="ar-SA" sz="2200" dirty="0"/>
          </a:p>
        </p:txBody>
      </p:sp>
      <p:sp>
        <p:nvSpPr>
          <p:cNvPr id="9" name="anim-g2-478"/>
          <p:cNvSpPr/>
          <p:nvPr/>
        </p:nvSpPr>
        <p:spPr>
          <a:xfrm>
            <a:off x="9768535" y="3243072"/>
            <a:ext cx="1600200" cy="819912"/>
          </a:xfrm>
          <a:prstGeom prst="roundRect">
            <a:avLst>
              <a:gd name="adj" fmla="val 16729"/>
            </a:avLst>
          </a:prstGeom>
          <a:solidFill>
            <a:srgbClr val="E9EDF9"/>
          </a:solidFill>
          <a:ln/>
        </p:spPr>
      </p:sp>
      <p:sp>
        <p:nvSpPr>
          <p:cNvPr id="10" name="anim-g2-479"/>
          <p:cNvSpPr/>
          <p:nvPr/>
        </p:nvSpPr>
        <p:spPr>
          <a:xfrm>
            <a:off x="9814255" y="3243072"/>
            <a:ext cx="1508760" cy="81991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أمام العذر الجديد</a:t>
            </a:r>
            <a:endParaRPr lang="ar-SA" sz="1800" dirty="0"/>
          </a:p>
        </p:txBody>
      </p:sp>
      <p:sp>
        <p:nvSpPr>
          <p:cNvPr id="11" name="anim-g2-480"/>
          <p:cNvSpPr/>
          <p:nvPr/>
        </p:nvSpPr>
        <p:spPr>
          <a:xfrm>
            <a:off x="822960" y="3169920"/>
            <a:ext cx="8716975" cy="966216"/>
          </a:xfrm>
          <a:prstGeom prst="roundRect">
            <a:avLst>
              <a:gd name="adj" fmla="val 20820"/>
            </a:avLst>
          </a:prstGeom>
          <a:solidFill>
            <a:srgbClr val="101B45"/>
          </a:solidFill>
          <a:ln/>
        </p:spPr>
      </p:sp>
      <p:sp>
        <p:nvSpPr>
          <p:cNvPr id="12" name="anim-g2-481"/>
          <p:cNvSpPr/>
          <p:nvPr/>
        </p:nvSpPr>
        <p:spPr>
          <a:xfrm>
            <a:off x="1097280" y="3169920"/>
            <a:ext cx="8168335" cy="966216"/>
          </a:xfrm>
          <a:prstGeom prst="rect">
            <a:avLst/>
          </a:prstGeom>
          <a:noFill/>
          <a:ln/>
        </p:spPr>
        <p:txBody>
          <a:bodyPr wrap="square" lIns="0" tIns="0" rIns="0" bIns="0" rtlCol="0" anchor="ctr">
            <a:normAutofit/>
          </a:bodyPr>
          <a:lstStyle/>
          <a:p>
            <a:pPr algn="r" indent="0" marL="0">
              <a:buNone/>
            </a:pPr>
            <a:r>
              <a:rPr lang="ar-SA" altLang="en-US" sz="2200" b="1" dirty="0">
                <a:solidFill>
                  <a:srgbClr val="D9AE4B"/>
                </a:solidFill>
                <a:latin typeface="Cairo" pitchFamily="34" charset="0"/>
                <a:ea typeface="Cairo" pitchFamily="34" charset="-122"/>
                <a:cs typeface="Cairo" pitchFamily="34" charset="-120"/>
              </a:rPr>
              <a:t>« </a:t>
            </a:r>
            <a:pPr algn="r" indent="0" marL="0">
              <a:buNone/>
            </a:pPr>
            <a:r>
              <a:rPr lang="ar-SA" altLang="en-US" sz="2200" b="1" dirty="0">
                <a:solidFill>
                  <a:srgbClr val="FFFFFF"/>
                </a:solidFill>
                <a:latin typeface="Cairo" pitchFamily="34" charset="0"/>
                <a:ea typeface="Cairo" pitchFamily="34" charset="-122"/>
                <a:cs typeface="Cairo" pitchFamily="34" charset="-120"/>
              </a:rPr>
              <a:t>قد يكون عذرك صحيحًا، لكن الواجب ما زال مطلوبًا. متى تستطيع تسليمه؟</a:t>
            </a:r>
            <a:pPr algn="r" indent="0" marL="0">
              <a:buNone/>
            </a:pPr>
            <a:r>
              <a:rPr lang="ar-SA" altLang="en-US" sz="2200" b="1" dirty="0">
                <a:solidFill>
                  <a:srgbClr val="D9AE4B"/>
                </a:solidFill>
                <a:latin typeface="Cairo" pitchFamily="34" charset="0"/>
                <a:ea typeface="Cairo" pitchFamily="34" charset="-122"/>
                <a:cs typeface="Cairo" pitchFamily="34" charset="-120"/>
              </a:rPr>
              <a:t> »</a:t>
            </a:r>
            <a:endParaRPr lang="ar-SA" sz="2200" dirty="0"/>
          </a:p>
        </p:txBody>
      </p:sp>
      <p:sp>
        <p:nvSpPr>
          <p:cNvPr id="13" name="anim-g3-482"/>
          <p:cNvSpPr/>
          <p:nvPr/>
        </p:nvSpPr>
        <p:spPr>
          <a:xfrm>
            <a:off x="9768535" y="4355592"/>
            <a:ext cx="1600200" cy="819912"/>
          </a:xfrm>
          <a:prstGeom prst="roundRect">
            <a:avLst>
              <a:gd name="adj" fmla="val 16729"/>
            </a:avLst>
          </a:prstGeom>
          <a:solidFill>
            <a:srgbClr val="E9EDF9"/>
          </a:solidFill>
          <a:ln/>
        </p:spPr>
      </p:sp>
      <p:sp>
        <p:nvSpPr>
          <p:cNvPr id="14" name="anim-g3-483"/>
          <p:cNvSpPr/>
          <p:nvPr/>
        </p:nvSpPr>
        <p:spPr>
          <a:xfrm>
            <a:off x="9814255" y="4355592"/>
            <a:ext cx="1508760" cy="81991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الاتفاق</a:t>
            </a:r>
            <a:endParaRPr lang="ar-SA" sz="1800" dirty="0"/>
          </a:p>
        </p:txBody>
      </p:sp>
      <p:sp>
        <p:nvSpPr>
          <p:cNvPr id="15" name="anim-g3-484"/>
          <p:cNvSpPr/>
          <p:nvPr/>
        </p:nvSpPr>
        <p:spPr>
          <a:xfrm>
            <a:off x="822960" y="4282440"/>
            <a:ext cx="8716975" cy="966216"/>
          </a:xfrm>
          <a:prstGeom prst="roundRect">
            <a:avLst>
              <a:gd name="adj" fmla="val 20820"/>
            </a:avLst>
          </a:prstGeom>
          <a:solidFill>
            <a:srgbClr val="101B45"/>
          </a:solidFill>
          <a:ln/>
        </p:spPr>
      </p:sp>
      <p:sp>
        <p:nvSpPr>
          <p:cNvPr id="16" name="anim-g3-485"/>
          <p:cNvSpPr/>
          <p:nvPr/>
        </p:nvSpPr>
        <p:spPr>
          <a:xfrm>
            <a:off x="1097280" y="4282440"/>
            <a:ext cx="8168335" cy="966216"/>
          </a:xfrm>
          <a:prstGeom prst="rect">
            <a:avLst/>
          </a:prstGeom>
          <a:noFill/>
          <a:ln/>
        </p:spPr>
        <p:txBody>
          <a:bodyPr wrap="square" lIns="0" tIns="0" rIns="0" bIns="0" rtlCol="0" anchor="ctr">
            <a:normAutofit/>
          </a:bodyPr>
          <a:lstStyle/>
          <a:p>
            <a:pPr algn="r" indent="0" marL="0">
              <a:buNone/>
            </a:pPr>
            <a:r>
              <a:rPr lang="ar-SA" altLang="en-US" sz="2200" b="1" dirty="0">
                <a:solidFill>
                  <a:srgbClr val="D9AE4B"/>
                </a:solidFill>
                <a:latin typeface="Cairo" pitchFamily="34" charset="0"/>
                <a:ea typeface="Cairo" pitchFamily="34" charset="-122"/>
                <a:cs typeface="Cairo" pitchFamily="34" charset="-120"/>
              </a:rPr>
              <a:t>« </a:t>
            </a:r>
            <a:pPr algn="r" indent="0" marL="0">
              <a:buNone/>
            </a:pPr>
            <a:r>
              <a:rPr lang="ar-SA" altLang="en-US" sz="2200" b="1" dirty="0">
                <a:solidFill>
                  <a:srgbClr val="FFFFFF"/>
                </a:solidFill>
                <a:latin typeface="Cairo" pitchFamily="34" charset="0"/>
                <a:ea typeface="Cairo" pitchFamily="34" charset="-122"/>
                <a:cs typeface="Cairo" pitchFamily="34" charset="-120"/>
              </a:rPr>
              <a:t>اتفقنا: تسلّمني ثلاثة أسئلة فقط غدًا صباحًا، وأراجعها معك</a:t>
            </a:r>
            <a:pPr algn="r" indent="0" marL="0">
              <a:buNone/>
            </a:pPr>
            <a:r>
              <a:rPr lang="ar-SA" altLang="en-US" sz="2200" b="1" dirty="0">
                <a:solidFill>
                  <a:srgbClr val="D9AE4B"/>
                </a:solidFill>
                <a:latin typeface="Cairo" pitchFamily="34" charset="0"/>
                <a:ea typeface="Cairo" pitchFamily="34" charset="-122"/>
                <a:cs typeface="Cairo" pitchFamily="34" charset="-120"/>
              </a:rPr>
              <a:t> »</a:t>
            </a:r>
            <a:endParaRPr lang="ar-SA" sz="2200" dirty="0"/>
          </a:p>
        </p:txBody>
      </p:sp>
      <p:sp>
        <p:nvSpPr>
          <p:cNvPr id="17" name="anim-g4-486"/>
          <p:cNvSpPr/>
          <p:nvPr/>
        </p:nvSpPr>
        <p:spPr>
          <a:xfrm>
            <a:off x="822960" y="5532120"/>
            <a:ext cx="10545775" cy="548640"/>
          </a:xfrm>
          <a:prstGeom prst="roundRect">
            <a:avLst>
              <a:gd name="adj" fmla="val 20000"/>
            </a:avLst>
          </a:prstGeom>
          <a:solidFill>
            <a:srgbClr val="FBECEC"/>
          </a:solidFill>
          <a:ln/>
        </p:spPr>
      </p:sp>
      <p:sp>
        <p:nvSpPr>
          <p:cNvPr id="18" name="anim-g4-487"/>
          <p:cNvSpPr/>
          <p:nvPr/>
        </p:nvSpPr>
        <p:spPr>
          <a:xfrm>
            <a:off x="11295583" y="5532120"/>
            <a:ext cx="73152" cy="548640"/>
          </a:xfrm>
          <a:prstGeom prst="rect">
            <a:avLst/>
          </a:prstGeom>
          <a:solidFill>
            <a:srgbClr val="D64545"/>
          </a:solidFill>
          <a:ln/>
        </p:spPr>
      </p:sp>
      <p:sp>
        <p:nvSpPr>
          <p:cNvPr id="19" name="anim-g4-488"/>
          <p:cNvSpPr/>
          <p:nvPr/>
        </p:nvSpPr>
        <p:spPr>
          <a:xfrm>
            <a:off x="1005840" y="5532120"/>
            <a:ext cx="10088575" cy="548640"/>
          </a:xfrm>
          <a:prstGeom prst="rect">
            <a:avLst/>
          </a:prstGeom>
          <a:noFill/>
          <a:ln/>
        </p:spPr>
        <p:txBody>
          <a:bodyPr wrap="square" lIns="0" tIns="0" rIns="0" bIns="0" rtlCol="0" anchor="ctr">
            <a:normAutofit/>
          </a:bodyPr>
          <a:lstStyle/>
          <a:p>
            <a:pPr rtl="1" algn="r" indent="0" marL="0">
              <a:buNone/>
            </a:pPr>
            <a:r>
              <a:rPr lang="ar-SA" altLang="en-US" sz="1900" b="1" dirty="0">
                <a:solidFill>
                  <a:srgbClr val="8E2A2A"/>
                </a:solidFill>
                <a:latin typeface="Cairo" pitchFamily="34" charset="0"/>
                <a:ea typeface="Cairo" pitchFamily="34" charset="-122"/>
                <a:cs typeface="Cairo" pitchFamily="34" charset="-120"/>
              </a:rPr>
              <a:t>⚠️ تجنّب: «أنت كذّاب» · «أعذارك محفوظة»</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الواجب الغائب  ·  ٥٥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pic>
        <p:nvPicPr>
          <p:cNvPr id="2" name="Image 0" descr="/Users/mac/Desktop/أردوينو/المشاريع والكتب/younes-training/mawaqif/.pptx-cache/s5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5486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أخطاء شائعة… وبدائلها</a:t>
            </a:r>
            <a:endParaRPr lang="ar-SA" sz="3800" dirty="0"/>
          </a:p>
        </p:txBody>
      </p:sp>
      <p:sp>
        <p:nvSpPr>
          <p:cNvPr id="3" name="Text 1"/>
          <p:cNvSpPr/>
          <p:nvPr/>
        </p:nvSpPr>
        <p:spPr>
          <a:xfrm>
            <a:off x="6415888"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D64545"/>
                </a:solidFill>
                <a:latin typeface="Cairo Black" pitchFamily="34" charset="0"/>
                <a:ea typeface="Cairo Black" pitchFamily="34" charset="-122"/>
                <a:cs typeface="Cairo Black" pitchFamily="34" charset="-120"/>
              </a:rPr>
              <a:t>❌ الخطأ الشائع</a:t>
            </a:r>
            <a:endParaRPr lang="ar-SA" sz="2100" dirty="0"/>
          </a:p>
        </p:txBody>
      </p:sp>
      <p:sp>
        <p:nvSpPr>
          <p:cNvPr id="4" name="Text 2"/>
          <p:cNvSpPr/>
          <p:nvPr/>
        </p:nvSpPr>
        <p:spPr>
          <a:xfrm>
            <a:off x="822960"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2E9E6B"/>
                </a:solidFill>
                <a:latin typeface="Cairo Black" pitchFamily="34" charset="0"/>
                <a:ea typeface="Cairo Black" pitchFamily="34" charset="-122"/>
                <a:cs typeface="Cairo Black" pitchFamily="34" charset="-120"/>
              </a:rPr>
              <a:t>✅ البديل</a:t>
            </a:r>
            <a:endParaRPr lang="ar-SA" sz="2100" dirty="0"/>
          </a:p>
        </p:txBody>
      </p:sp>
      <p:sp>
        <p:nvSpPr>
          <p:cNvPr id="5" name="anim-g1-489"/>
          <p:cNvSpPr/>
          <p:nvPr/>
        </p:nvSpPr>
        <p:spPr>
          <a:xfrm>
            <a:off x="6415888" y="2194560"/>
            <a:ext cx="4952848" cy="804672"/>
          </a:xfrm>
          <a:prstGeom prst="roundRect">
            <a:avLst>
              <a:gd name="adj" fmla="val 15909"/>
            </a:avLst>
          </a:prstGeom>
          <a:solidFill>
            <a:srgbClr val="FBECEC"/>
          </a:solidFill>
          <a:ln/>
        </p:spPr>
      </p:sp>
      <p:sp>
        <p:nvSpPr>
          <p:cNvPr id="6" name="anim-g1-490"/>
          <p:cNvSpPr/>
          <p:nvPr/>
        </p:nvSpPr>
        <p:spPr>
          <a:xfrm>
            <a:off x="6644488"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التهديد بالخصم مرة بعد مرة</a:t>
            </a:r>
            <a:endParaRPr lang="ar-SA" sz="2200" dirty="0"/>
          </a:p>
        </p:txBody>
      </p:sp>
      <p:sp>
        <p:nvSpPr>
          <p:cNvPr id="7" name="anim-g1-491"/>
          <p:cNvSpPr/>
          <p:nvPr/>
        </p:nvSpPr>
        <p:spPr>
          <a:xfrm>
            <a:off x="822960" y="2194560"/>
            <a:ext cx="4952848" cy="804672"/>
          </a:xfrm>
          <a:prstGeom prst="roundRect">
            <a:avLst>
              <a:gd name="adj" fmla="val 15909"/>
            </a:avLst>
          </a:prstGeom>
          <a:solidFill>
            <a:srgbClr val="FFFFFF"/>
          </a:solidFill>
          <a:ln w="19050">
            <a:solidFill>
              <a:srgbClr val="BFD9CB"/>
            </a:solidFill>
            <a:prstDash val="dash"/>
          </a:ln>
        </p:spPr>
      </p:sp>
      <p:sp>
        <p:nvSpPr>
          <p:cNvPr id="8" name="anim-g1-492"/>
          <p:cNvSpPr/>
          <p:nvPr/>
        </p:nvSpPr>
        <p:spPr>
          <a:xfrm>
            <a:off x="822960" y="219456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9" name="anim-g2-493"/>
          <p:cNvSpPr/>
          <p:nvPr/>
        </p:nvSpPr>
        <p:spPr>
          <a:xfrm>
            <a:off x="5775808" y="219456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0" name="anim-g2-494"/>
          <p:cNvSpPr/>
          <p:nvPr/>
        </p:nvSpPr>
        <p:spPr>
          <a:xfrm>
            <a:off x="822960" y="2194560"/>
            <a:ext cx="4952848" cy="804672"/>
          </a:xfrm>
          <a:prstGeom prst="roundRect">
            <a:avLst>
              <a:gd name="adj" fmla="val 15909"/>
            </a:avLst>
          </a:prstGeom>
          <a:solidFill>
            <a:srgbClr val="E6F4EC"/>
          </a:solidFill>
          <a:ln/>
        </p:spPr>
      </p:sp>
      <p:sp>
        <p:nvSpPr>
          <p:cNvPr id="11" name="anim-g2-495"/>
          <p:cNvSpPr/>
          <p:nvPr/>
        </p:nvSpPr>
        <p:spPr>
          <a:xfrm>
            <a:off x="1051560"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عاقبة واحدة واضحة، ثم خطة دعم</a:t>
            </a:r>
            <a:endParaRPr lang="ar-SA" sz="2200" dirty="0"/>
          </a:p>
        </p:txBody>
      </p:sp>
      <p:sp>
        <p:nvSpPr>
          <p:cNvPr id="12" name="anim-g3-496"/>
          <p:cNvSpPr/>
          <p:nvPr/>
        </p:nvSpPr>
        <p:spPr>
          <a:xfrm>
            <a:off x="6415888" y="3154680"/>
            <a:ext cx="4952848" cy="804672"/>
          </a:xfrm>
          <a:prstGeom prst="roundRect">
            <a:avLst>
              <a:gd name="adj" fmla="val 15909"/>
            </a:avLst>
          </a:prstGeom>
          <a:solidFill>
            <a:srgbClr val="FBECEC"/>
          </a:solidFill>
          <a:ln/>
        </p:spPr>
      </p:sp>
      <p:sp>
        <p:nvSpPr>
          <p:cNvPr id="13" name="anim-g3-497"/>
          <p:cNvSpPr/>
          <p:nvPr/>
        </p:nvSpPr>
        <p:spPr>
          <a:xfrm>
            <a:off x="6644488"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تكذيب الطالب أمام زملائه</a:t>
            </a:r>
            <a:endParaRPr lang="ar-SA" sz="2200" dirty="0"/>
          </a:p>
        </p:txBody>
      </p:sp>
      <p:sp>
        <p:nvSpPr>
          <p:cNvPr id="14" name="anim-g3-498"/>
          <p:cNvSpPr/>
          <p:nvPr/>
        </p:nvSpPr>
        <p:spPr>
          <a:xfrm>
            <a:off x="822960" y="3154680"/>
            <a:ext cx="4952848" cy="804672"/>
          </a:xfrm>
          <a:prstGeom prst="roundRect">
            <a:avLst>
              <a:gd name="adj" fmla="val 15909"/>
            </a:avLst>
          </a:prstGeom>
          <a:solidFill>
            <a:srgbClr val="FFFFFF"/>
          </a:solidFill>
          <a:ln w="19050">
            <a:solidFill>
              <a:srgbClr val="BFD9CB"/>
            </a:solidFill>
            <a:prstDash val="dash"/>
          </a:ln>
        </p:spPr>
      </p:sp>
      <p:sp>
        <p:nvSpPr>
          <p:cNvPr id="15" name="anim-g3-499"/>
          <p:cNvSpPr/>
          <p:nvPr/>
        </p:nvSpPr>
        <p:spPr>
          <a:xfrm>
            <a:off x="822960" y="315468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16" name="anim-g4-500"/>
          <p:cNvSpPr/>
          <p:nvPr/>
        </p:nvSpPr>
        <p:spPr>
          <a:xfrm>
            <a:off x="5775808" y="315468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7" name="anim-g4-501"/>
          <p:cNvSpPr/>
          <p:nvPr/>
        </p:nvSpPr>
        <p:spPr>
          <a:xfrm>
            <a:off x="822960" y="3154680"/>
            <a:ext cx="4952848" cy="804672"/>
          </a:xfrm>
          <a:prstGeom prst="roundRect">
            <a:avLst>
              <a:gd name="adj" fmla="val 15909"/>
            </a:avLst>
          </a:prstGeom>
          <a:solidFill>
            <a:srgbClr val="E6F4EC"/>
          </a:solidFill>
          <a:ln/>
        </p:spPr>
      </p:sp>
      <p:sp>
        <p:nvSpPr>
          <p:cNvPr id="18" name="anim-g4-502"/>
          <p:cNvSpPr/>
          <p:nvPr/>
        </p:nvSpPr>
        <p:spPr>
          <a:xfrm>
            <a:off x="1051560"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التحقق بهدوء وعلى انفراد</a:t>
            </a:r>
            <a:endParaRPr lang="ar-SA" sz="2200" dirty="0"/>
          </a:p>
        </p:txBody>
      </p:sp>
      <p:sp>
        <p:nvSpPr>
          <p:cNvPr id="19" name="anim-g5-503"/>
          <p:cNvSpPr/>
          <p:nvPr/>
        </p:nvSpPr>
        <p:spPr>
          <a:xfrm>
            <a:off x="6415888" y="4114800"/>
            <a:ext cx="4952848" cy="804672"/>
          </a:xfrm>
          <a:prstGeom prst="roundRect">
            <a:avLst>
              <a:gd name="adj" fmla="val 15909"/>
            </a:avLst>
          </a:prstGeom>
          <a:solidFill>
            <a:srgbClr val="FBECEC"/>
          </a:solidFill>
          <a:ln/>
        </p:spPr>
      </p:sp>
      <p:sp>
        <p:nvSpPr>
          <p:cNvPr id="20" name="anim-g5-504"/>
          <p:cNvSpPr/>
          <p:nvPr/>
        </p:nvSpPr>
        <p:spPr>
          <a:xfrm>
            <a:off x="6644488"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انتظار عودة الأب من السفر</a:t>
            </a:r>
            <a:endParaRPr lang="ar-SA" sz="2200" dirty="0"/>
          </a:p>
        </p:txBody>
      </p:sp>
      <p:sp>
        <p:nvSpPr>
          <p:cNvPr id="21" name="anim-g5-505"/>
          <p:cNvSpPr/>
          <p:nvPr/>
        </p:nvSpPr>
        <p:spPr>
          <a:xfrm>
            <a:off x="822960" y="4114800"/>
            <a:ext cx="4952848" cy="804672"/>
          </a:xfrm>
          <a:prstGeom prst="roundRect">
            <a:avLst>
              <a:gd name="adj" fmla="val 15909"/>
            </a:avLst>
          </a:prstGeom>
          <a:solidFill>
            <a:srgbClr val="FFFFFF"/>
          </a:solidFill>
          <a:ln w="19050">
            <a:solidFill>
              <a:srgbClr val="BFD9CB"/>
            </a:solidFill>
            <a:prstDash val="dash"/>
          </a:ln>
        </p:spPr>
      </p:sp>
      <p:sp>
        <p:nvSpPr>
          <p:cNvPr id="22" name="anim-g5-506"/>
          <p:cNvSpPr/>
          <p:nvPr/>
        </p:nvSpPr>
        <p:spPr>
          <a:xfrm>
            <a:off x="822960" y="411480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23" name="anim-g6-507"/>
          <p:cNvSpPr/>
          <p:nvPr/>
        </p:nvSpPr>
        <p:spPr>
          <a:xfrm>
            <a:off x="5775808" y="411480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24" name="anim-g6-508"/>
          <p:cNvSpPr/>
          <p:nvPr/>
        </p:nvSpPr>
        <p:spPr>
          <a:xfrm>
            <a:off x="822960" y="4114800"/>
            <a:ext cx="4952848" cy="804672"/>
          </a:xfrm>
          <a:prstGeom prst="roundRect">
            <a:avLst>
              <a:gd name="adj" fmla="val 15909"/>
            </a:avLst>
          </a:prstGeom>
          <a:solidFill>
            <a:srgbClr val="E6F4EC"/>
          </a:solidFill>
          <a:ln/>
        </p:spPr>
      </p:sp>
      <p:sp>
        <p:nvSpPr>
          <p:cNvPr id="25" name="anim-g6-509"/>
          <p:cNvSpPr/>
          <p:nvPr/>
        </p:nvSpPr>
        <p:spPr>
          <a:xfrm>
            <a:off x="1051560"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تحديث بيانات التواصل عبر الإدارة فورًا</a:t>
            </a:r>
            <a:endParaRPr lang="ar-SA" sz="2200" dirty="0"/>
          </a:p>
        </p:txBody>
      </p:sp>
      <p:sp>
        <p:nvSpPr>
          <p:cNvPr id="26" name="anim-g7-510"/>
          <p:cNvSpPr/>
          <p:nvPr/>
        </p:nvSpPr>
        <p:spPr>
          <a:xfrm>
            <a:off x="6415888" y="5074920"/>
            <a:ext cx="4952848" cy="804672"/>
          </a:xfrm>
          <a:prstGeom prst="roundRect">
            <a:avLst>
              <a:gd name="adj" fmla="val 15909"/>
            </a:avLst>
          </a:prstGeom>
          <a:solidFill>
            <a:srgbClr val="FBECEC"/>
          </a:solidFill>
          <a:ln/>
        </p:spPr>
      </p:sp>
      <p:sp>
        <p:nvSpPr>
          <p:cNvPr id="27" name="anim-g7-511"/>
          <p:cNvSpPr/>
          <p:nvPr/>
        </p:nvSpPr>
        <p:spPr>
          <a:xfrm>
            <a:off x="6644488" y="507492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واجب طويل لطالب متعثر</a:t>
            </a:r>
            <a:endParaRPr lang="ar-SA" sz="2200" dirty="0"/>
          </a:p>
        </p:txBody>
      </p:sp>
      <p:sp>
        <p:nvSpPr>
          <p:cNvPr id="28" name="anim-g7-512"/>
          <p:cNvSpPr/>
          <p:nvPr/>
        </p:nvSpPr>
        <p:spPr>
          <a:xfrm>
            <a:off x="822960" y="5074920"/>
            <a:ext cx="4952848" cy="804672"/>
          </a:xfrm>
          <a:prstGeom prst="roundRect">
            <a:avLst>
              <a:gd name="adj" fmla="val 15909"/>
            </a:avLst>
          </a:prstGeom>
          <a:solidFill>
            <a:srgbClr val="FFFFFF"/>
          </a:solidFill>
          <a:ln w="19050">
            <a:solidFill>
              <a:srgbClr val="BFD9CB"/>
            </a:solidFill>
            <a:prstDash val="dash"/>
          </a:ln>
        </p:spPr>
      </p:sp>
      <p:sp>
        <p:nvSpPr>
          <p:cNvPr id="29" name="anim-g7-513"/>
          <p:cNvSpPr/>
          <p:nvPr/>
        </p:nvSpPr>
        <p:spPr>
          <a:xfrm>
            <a:off x="822960" y="507492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30" name="anim-g8-514"/>
          <p:cNvSpPr/>
          <p:nvPr/>
        </p:nvSpPr>
        <p:spPr>
          <a:xfrm>
            <a:off x="5775808" y="507492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31" name="anim-g8-515"/>
          <p:cNvSpPr/>
          <p:nvPr/>
        </p:nvSpPr>
        <p:spPr>
          <a:xfrm>
            <a:off x="822960" y="5074920"/>
            <a:ext cx="4952848" cy="804672"/>
          </a:xfrm>
          <a:prstGeom prst="roundRect">
            <a:avLst>
              <a:gd name="adj" fmla="val 15909"/>
            </a:avLst>
          </a:prstGeom>
          <a:solidFill>
            <a:srgbClr val="E6F4EC"/>
          </a:solidFill>
          <a:ln/>
        </p:spPr>
      </p:sp>
      <p:sp>
        <p:nvSpPr>
          <p:cNvPr id="32" name="anim-g8-516"/>
          <p:cNvSpPr/>
          <p:nvPr/>
        </p:nvSpPr>
        <p:spPr>
          <a:xfrm>
            <a:off x="1051560" y="507492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واجب قصير يضمن فيه النجاح أولًا</a:t>
            </a:r>
            <a:endParaRPr lang="ar-SA" sz="2200" dirty="0"/>
          </a:p>
        </p:txBody>
      </p:sp>
      <p:sp>
        <p:nvSpPr>
          <p:cNvPr id="33" name="Text 31"/>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34" name="Text 32"/>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الواجب الغائب  ·  ٥٧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0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400"/>
                                        <p:tgtEl>
                                          <p:spTgt spid="1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400"/>
                                        <p:tgtEl>
                                          <p:spTgt spid="2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400"/>
                                        <p:tgtEl>
                                          <p:spTgt spid="2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400"/>
                                        <p:tgtEl>
                                          <p:spTgt spid="2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400"/>
                                        <p:tgtEl>
                                          <p:spTgt spid="25"/>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26"/>
                                        </p:tgtEl>
                                        <p:attrNameLst>
                                          <p:attrName>style.visibility</p:attrName>
                                        </p:attrNameLst>
                                      </p:cBhvr>
                                      <p:to>
                                        <p:strVal val="visible"/>
                                      </p:to>
                                    </p:set>
                                    <p:animEffect transition="in" filter="fade">
                                      <p:cBhvr>
                                        <p:cTn id="82" dur="400"/>
                                        <p:tgtEl>
                                          <p:spTgt spid="26"/>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7"/>
                                        </p:tgtEl>
                                        <p:attrNameLst>
                                          <p:attrName>style.visibility</p:attrName>
                                        </p:attrNameLst>
                                      </p:cBhvr>
                                      <p:to>
                                        <p:strVal val="visible"/>
                                      </p:to>
                                    </p:set>
                                    <p:animEffect transition="in" filter="fade">
                                      <p:cBhvr>
                                        <p:cTn id="85" dur="400"/>
                                        <p:tgtEl>
                                          <p:spTgt spid="27"/>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8"/>
                                        </p:tgtEl>
                                        <p:attrNameLst>
                                          <p:attrName>style.visibility</p:attrName>
                                        </p:attrNameLst>
                                      </p:cBhvr>
                                      <p:to>
                                        <p:strVal val="visible"/>
                                      </p:to>
                                    </p:set>
                                    <p:animEffect transition="in" filter="fade">
                                      <p:cBhvr>
                                        <p:cTn id="88" dur="400"/>
                                        <p:tgtEl>
                                          <p:spTgt spid="28"/>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29"/>
                                        </p:tgtEl>
                                        <p:attrNameLst>
                                          <p:attrName>style.visibility</p:attrName>
                                        </p:attrNameLst>
                                      </p:cBhvr>
                                      <p:to>
                                        <p:strVal val="visible"/>
                                      </p:to>
                                    </p:set>
                                    <p:animEffect transition="in" filter="fade">
                                      <p:cBhvr>
                                        <p:cTn id="91" dur="400"/>
                                        <p:tgtEl>
                                          <p:spTgt spid="29"/>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30"/>
                                        </p:tgtEl>
                                        <p:attrNameLst>
                                          <p:attrName>style.visibility</p:attrName>
                                        </p:attrNameLst>
                                      </p:cBhvr>
                                      <p:to>
                                        <p:strVal val="visible"/>
                                      </p:to>
                                    </p:set>
                                    <p:animEffect transition="in" filter="fade">
                                      <p:cBhvr>
                                        <p:cTn id="96" dur="400"/>
                                        <p:tgtEl>
                                          <p:spTgt spid="30"/>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1"/>
                                        </p:tgtEl>
                                        <p:attrNameLst>
                                          <p:attrName>style.visibility</p:attrName>
                                        </p:attrNameLst>
                                      </p:cBhvr>
                                      <p:to>
                                        <p:strVal val="visible"/>
                                      </p:to>
                                    </p:set>
                                    <p:animEffect transition="in" filter="fade">
                                      <p:cBhvr>
                                        <p:cTn id="99" dur="400"/>
                                        <p:tgtEl>
                                          <p:spTgt spid="31"/>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2"/>
                                        </p:tgtEl>
                                        <p:attrNameLst>
                                          <p:attrName>style.visibility</p:attrName>
                                        </p:attrNameLst>
                                      </p:cBhvr>
                                      <p:to>
                                        <p:strVal val="visible"/>
                                      </p:to>
                                    </p:set>
                                    <p:animEffect transition="in" filter="fade">
                                      <p:cBhvr>
                                        <p:cTn id="102"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name="Slide 5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5486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ماذا لو لم ينجح الحل؟</a:t>
            </a:r>
            <a:endParaRPr lang="ar-SA" sz="3800" dirty="0"/>
          </a:p>
        </p:txBody>
      </p:sp>
      <p:sp>
        <p:nvSpPr>
          <p:cNvPr id="3" name="Text 1"/>
          <p:cNvSpPr/>
          <p:nvPr/>
        </p:nvSpPr>
        <p:spPr>
          <a:xfrm>
            <a:off x="6415888"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D64545"/>
                </a:solidFill>
                <a:latin typeface="Cairo Black" pitchFamily="34" charset="0"/>
                <a:ea typeface="Cairo Black" pitchFamily="34" charset="-122"/>
                <a:cs typeface="Cairo Black" pitchFamily="34" charset="-120"/>
              </a:rPr>
              <a:t>❌ الخطأ الشائع</a:t>
            </a:r>
            <a:endParaRPr lang="ar-SA" sz="2100" dirty="0"/>
          </a:p>
        </p:txBody>
      </p:sp>
      <p:sp>
        <p:nvSpPr>
          <p:cNvPr id="4" name="Text 2"/>
          <p:cNvSpPr/>
          <p:nvPr/>
        </p:nvSpPr>
        <p:spPr>
          <a:xfrm>
            <a:off x="822960"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2E9E6B"/>
                </a:solidFill>
                <a:latin typeface="Cairo Black" pitchFamily="34" charset="0"/>
                <a:ea typeface="Cairo Black" pitchFamily="34" charset="-122"/>
                <a:cs typeface="Cairo Black" pitchFamily="34" charset="-120"/>
              </a:rPr>
              <a:t>✅ البديل</a:t>
            </a:r>
            <a:endParaRPr lang="ar-SA" sz="2100" dirty="0"/>
          </a:p>
        </p:txBody>
      </p:sp>
      <p:sp>
        <p:nvSpPr>
          <p:cNvPr id="5" name="anim-g1-517"/>
          <p:cNvSpPr/>
          <p:nvPr/>
        </p:nvSpPr>
        <p:spPr>
          <a:xfrm>
            <a:off x="6415888" y="2194560"/>
            <a:ext cx="4952848" cy="804672"/>
          </a:xfrm>
          <a:prstGeom prst="roundRect">
            <a:avLst>
              <a:gd name="adj" fmla="val 15909"/>
            </a:avLst>
          </a:prstGeom>
          <a:solidFill>
            <a:srgbClr val="FBECEC"/>
          </a:solidFill>
          <a:ln/>
        </p:spPr>
      </p:sp>
      <p:sp>
        <p:nvSpPr>
          <p:cNvPr id="6" name="anim-g1-518"/>
          <p:cNvSpPr/>
          <p:nvPr/>
        </p:nvSpPr>
        <p:spPr>
          <a:xfrm>
            <a:off x="6644488"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لم يسلّم حتى الواجب القصير</a:t>
            </a:r>
            <a:endParaRPr lang="ar-SA" sz="2200" dirty="0"/>
          </a:p>
        </p:txBody>
      </p:sp>
      <p:sp>
        <p:nvSpPr>
          <p:cNvPr id="7" name="anim-g1-519"/>
          <p:cNvSpPr/>
          <p:nvPr/>
        </p:nvSpPr>
        <p:spPr>
          <a:xfrm>
            <a:off x="822960" y="2194560"/>
            <a:ext cx="4952848" cy="804672"/>
          </a:xfrm>
          <a:prstGeom prst="roundRect">
            <a:avLst>
              <a:gd name="adj" fmla="val 15909"/>
            </a:avLst>
          </a:prstGeom>
          <a:solidFill>
            <a:srgbClr val="FFFFFF"/>
          </a:solidFill>
          <a:ln w="19050">
            <a:solidFill>
              <a:srgbClr val="BFD9CB"/>
            </a:solidFill>
            <a:prstDash val="dash"/>
          </a:ln>
        </p:spPr>
      </p:sp>
      <p:sp>
        <p:nvSpPr>
          <p:cNvPr id="8" name="anim-g1-520"/>
          <p:cNvSpPr/>
          <p:nvPr/>
        </p:nvSpPr>
        <p:spPr>
          <a:xfrm>
            <a:off x="822960" y="219456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9" name="anim-g2-521"/>
          <p:cNvSpPr/>
          <p:nvPr/>
        </p:nvSpPr>
        <p:spPr>
          <a:xfrm>
            <a:off x="5775808" y="219456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0" name="anim-g2-522"/>
          <p:cNvSpPr/>
          <p:nvPr/>
        </p:nvSpPr>
        <p:spPr>
          <a:xfrm>
            <a:off x="822960" y="2194560"/>
            <a:ext cx="4952848" cy="804672"/>
          </a:xfrm>
          <a:prstGeom prst="roundRect">
            <a:avLst>
              <a:gd name="adj" fmla="val 15909"/>
            </a:avLst>
          </a:prstGeom>
          <a:solidFill>
            <a:srgbClr val="E6F4EC"/>
          </a:solidFill>
          <a:ln/>
        </p:spPr>
      </p:sp>
      <p:sp>
        <p:nvSpPr>
          <p:cNvPr id="11" name="anim-g2-523"/>
          <p:cNvSpPr/>
          <p:nvPr/>
        </p:nvSpPr>
        <p:spPr>
          <a:xfrm>
            <a:off x="1051560"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اجلس معه دقيقتين في الفسحة ليحل أول سؤال أمامك، فالبداية أصعب خطوة</a:t>
            </a:r>
            <a:endParaRPr lang="ar-SA" sz="2200" dirty="0"/>
          </a:p>
        </p:txBody>
      </p:sp>
      <p:sp>
        <p:nvSpPr>
          <p:cNvPr id="12" name="anim-g3-524"/>
          <p:cNvSpPr/>
          <p:nvPr/>
        </p:nvSpPr>
        <p:spPr>
          <a:xfrm>
            <a:off x="6415888" y="3154680"/>
            <a:ext cx="4952848" cy="804672"/>
          </a:xfrm>
          <a:prstGeom prst="roundRect">
            <a:avLst>
              <a:gd name="adj" fmla="val 15909"/>
            </a:avLst>
          </a:prstGeom>
          <a:solidFill>
            <a:srgbClr val="FBECEC"/>
          </a:solidFill>
          <a:ln/>
        </p:spPr>
      </p:sp>
      <p:sp>
        <p:nvSpPr>
          <p:cNvPr id="13" name="anim-g3-525"/>
          <p:cNvSpPr/>
          <p:nvPr/>
        </p:nvSpPr>
        <p:spPr>
          <a:xfrm>
            <a:off x="6644488"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اتضح أن لديه ظرفًا أسريًا صعبًا</a:t>
            </a:r>
            <a:endParaRPr lang="ar-SA" sz="2200" dirty="0"/>
          </a:p>
        </p:txBody>
      </p:sp>
      <p:sp>
        <p:nvSpPr>
          <p:cNvPr id="14" name="anim-g3-526"/>
          <p:cNvSpPr/>
          <p:nvPr/>
        </p:nvSpPr>
        <p:spPr>
          <a:xfrm>
            <a:off x="822960" y="3154680"/>
            <a:ext cx="4952848" cy="804672"/>
          </a:xfrm>
          <a:prstGeom prst="roundRect">
            <a:avLst>
              <a:gd name="adj" fmla="val 15909"/>
            </a:avLst>
          </a:prstGeom>
          <a:solidFill>
            <a:srgbClr val="FFFFFF"/>
          </a:solidFill>
          <a:ln w="19050">
            <a:solidFill>
              <a:srgbClr val="BFD9CB"/>
            </a:solidFill>
            <a:prstDash val="dash"/>
          </a:ln>
        </p:spPr>
      </p:sp>
      <p:sp>
        <p:nvSpPr>
          <p:cNvPr id="15" name="anim-g3-527"/>
          <p:cNvSpPr/>
          <p:nvPr/>
        </p:nvSpPr>
        <p:spPr>
          <a:xfrm>
            <a:off x="822960" y="315468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16" name="anim-g4-528"/>
          <p:cNvSpPr/>
          <p:nvPr/>
        </p:nvSpPr>
        <p:spPr>
          <a:xfrm>
            <a:off x="5775808" y="315468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7" name="anim-g4-529"/>
          <p:cNvSpPr/>
          <p:nvPr/>
        </p:nvSpPr>
        <p:spPr>
          <a:xfrm>
            <a:off x="822960" y="3154680"/>
            <a:ext cx="4952848" cy="804672"/>
          </a:xfrm>
          <a:prstGeom prst="roundRect">
            <a:avLst>
              <a:gd name="adj" fmla="val 15909"/>
            </a:avLst>
          </a:prstGeom>
          <a:solidFill>
            <a:srgbClr val="E6F4EC"/>
          </a:solidFill>
          <a:ln/>
        </p:spPr>
      </p:sp>
      <p:sp>
        <p:nvSpPr>
          <p:cNvPr id="18" name="anim-g4-530"/>
          <p:cNvSpPr/>
          <p:nvPr/>
        </p:nvSpPr>
        <p:spPr>
          <a:xfrm>
            <a:off x="1051560"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أحِل الأمر للمرشد الطلابي، وخفّف المطلوب مؤقتًا دون إلغاء المتابعة</a:t>
            </a:r>
            <a:endParaRPr lang="ar-SA" sz="2200" dirty="0"/>
          </a:p>
        </p:txBody>
      </p:sp>
      <p:sp>
        <p:nvSpPr>
          <p:cNvPr id="19" name="anim-g5-531"/>
          <p:cNvSpPr/>
          <p:nvPr/>
        </p:nvSpPr>
        <p:spPr>
          <a:xfrm>
            <a:off x="6415888" y="4114800"/>
            <a:ext cx="4952848" cy="804672"/>
          </a:xfrm>
          <a:prstGeom prst="roundRect">
            <a:avLst>
              <a:gd name="adj" fmla="val 15909"/>
            </a:avLst>
          </a:prstGeom>
          <a:solidFill>
            <a:srgbClr val="FBECEC"/>
          </a:solidFill>
          <a:ln/>
        </p:spPr>
      </p:sp>
      <p:sp>
        <p:nvSpPr>
          <p:cNvPr id="20" name="anim-g5-532"/>
          <p:cNvSpPr/>
          <p:nvPr/>
        </p:nvSpPr>
        <p:spPr>
          <a:xfrm>
            <a:off x="6644488"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رقم ولي الأمر ما زال خاطئًا</a:t>
            </a:r>
            <a:endParaRPr lang="ar-SA" sz="2200" dirty="0"/>
          </a:p>
        </p:txBody>
      </p:sp>
      <p:sp>
        <p:nvSpPr>
          <p:cNvPr id="21" name="anim-g5-533"/>
          <p:cNvSpPr/>
          <p:nvPr/>
        </p:nvSpPr>
        <p:spPr>
          <a:xfrm>
            <a:off x="822960" y="4114800"/>
            <a:ext cx="4952848" cy="804672"/>
          </a:xfrm>
          <a:prstGeom prst="roundRect">
            <a:avLst>
              <a:gd name="adj" fmla="val 15909"/>
            </a:avLst>
          </a:prstGeom>
          <a:solidFill>
            <a:srgbClr val="FFFFFF"/>
          </a:solidFill>
          <a:ln w="19050">
            <a:solidFill>
              <a:srgbClr val="BFD9CB"/>
            </a:solidFill>
            <a:prstDash val="dash"/>
          </a:ln>
        </p:spPr>
      </p:sp>
      <p:sp>
        <p:nvSpPr>
          <p:cNvPr id="22" name="anim-g5-534"/>
          <p:cNvSpPr/>
          <p:nvPr/>
        </p:nvSpPr>
        <p:spPr>
          <a:xfrm>
            <a:off x="822960" y="411480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23" name="anim-g6-535"/>
          <p:cNvSpPr/>
          <p:nvPr/>
        </p:nvSpPr>
        <p:spPr>
          <a:xfrm>
            <a:off x="5775808" y="411480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24" name="anim-g6-536"/>
          <p:cNvSpPr/>
          <p:nvPr/>
        </p:nvSpPr>
        <p:spPr>
          <a:xfrm>
            <a:off x="822960" y="4114800"/>
            <a:ext cx="4952848" cy="804672"/>
          </a:xfrm>
          <a:prstGeom prst="roundRect">
            <a:avLst>
              <a:gd name="adj" fmla="val 15909"/>
            </a:avLst>
          </a:prstGeom>
          <a:solidFill>
            <a:srgbClr val="E6F4EC"/>
          </a:solidFill>
          <a:ln/>
        </p:spPr>
      </p:sp>
      <p:sp>
        <p:nvSpPr>
          <p:cNvPr id="25" name="anim-g6-537"/>
          <p:cNvSpPr/>
          <p:nvPr/>
        </p:nvSpPr>
        <p:spPr>
          <a:xfrm>
            <a:off x="1051560"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اطلب من الإدارة التواصل عبر العنوان المسجل أو رسالة رسمية</a:t>
            </a:r>
            <a:endParaRPr lang="ar-SA" sz="2200" dirty="0"/>
          </a:p>
        </p:txBody>
      </p:sp>
      <p:sp>
        <p:nvSpPr>
          <p:cNvPr id="26" name="Text 24"/>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7" name="Text 25"/>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الواجب الغائب  ·  ٥٨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0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400"/>
                                        <p:tgtEl>
                                          <p:spTgt spid="1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400"/>
                                        <p:tgtEl>
                                          <p:spTgt spid="2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400"/>
                                        <p:tgtEl>
                                          <p:spTgt spid="2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400"/>
                                        <p:tgtEl>
                                          <p:spTgt spid="2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name="Slide 5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الموقف</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لا تحارب العذر…</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ابحث عمّا يختبئ خلفه</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موقف: الواجب الغائب  ·  ٥٩</a:t>
            </a:r>
            <a:endParaRPr lang="ar-SA" sz="1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kb-538" descr="/Users/mac/Desktop/أردوينو/المشاريع والكتب/younes-training/mawaqif/assets/scenes/clown.jpg">    </p:cNvPr>
          <p:cNvPicPr>
            <a:picLocks noChangeAspect="1"/>
          </p:cNvPicPr>
          <p:nvPr/>
        </p:nvPicPr>
        <p:blipFill>
          <a:blip r:embed="rId2"/>
          <a:stretch>
            <a:fillRect/>
          </a:stretch>
        </p:blipFill>
        <p:spPr>
          <a:xfrm>
            <a:off x="0" y="0"/>
            <a:ext cx="12191695" cy="6858000"/>
          </a:xfrm>
          <a:prstGeom prst="rect">
            <a:avLst/>
          </a:prstGeom>
        </p:spPr>
      </p:pic>
      <p:pic>
        <p:nvPicPr>
          <p:cNvPr id="3" name="Image 1" descr="/Users/mac/Desktop/أردوينو/المشاريع والكتب/younes-training/shared/assets/mcover-overlay.png">    </p:cNvPr>
          <p:cNvPicPr>
            <a:picLocks noChangeAspect="1"/>
          </p:cNvPicPr>
          <p:nvPr/>
        </p:nvPicPr>
        <p:blipFill>
          <a:blip r:embed="rId3"/>
          <a:stretch>
            <a:fillRect/>
          </a:stretch>
        </p:blipFill>
        <p:spPr>
          <a:xfrm>
            <a:off x="0" y="0"/>
            <a:ext cx="12191695" cy="6858000"/>
          </a:xfrm>
          <a:prstGeom prst="rect">
            <a:avLst/>
          </a:prstGeom>
        </p:spPr>
      </p:pic>
      <p:sp>
        <p:nvSpPr>
          <p:cNvPr id="4" name="Text 0"/>
          <p:cNvSpPr/>
          <p:nvPr/>
        </p:nvSpPr>
        <p:spPr>
          <a:xfrm>
            <a:off x="5669280" y="1737360"/>
            <a:ext cx="5699455" cy="502920"/>
          </a:xfrm>
          <a:prstGeom prst="rect">
            <a:avLst/>
          </a:prstGeom>
          <a:noFill/>
          <a:ln/>
        </p:spPr>
        <p:txBody>
          <a:bodyPr wrap="square" lIns="0" tIns="0" rIns="0" bIns="0" rtlCol="0" anchor="ctr">
            <a:normAutofit/>
          </a:bodyPr>
          <a:lstStyle/>
          <a:p>
            <a:pPr rtl="1" algn="r" indent="0" marL="0">
              <a:buNone/>
            </a:pPr>
            <a:r>
              <a:rPr lang="ar-SA" altLang="en-US" sz="2200" b="1" dirty="0">
                <a:solidFill>
                  <a:srgbClr val="D9AE4B"/>
                </a:solidFill>
                <a:latin typeface="Cairo" pitchFamily="34" charset="0"/>
                <a:ea typeface="Cairo" pitchFamily="34" charset="-122"/>
                <a:cs typeface="Cairo" pitchFamily="34" charset="-120"/>
              </a:rPr>
              <a:t>أنماط القيادة</a:t>
            </a:r>
            <a:endParaRPr lang="ar-SA" sz="2200" dirty="0"/>
          </a:p>
        </p:txBody>
      </p:sp>
      <p:sp>
        <p:nvSpPr>
          <p:cNvPr id="5" name="Text 1"/>
          <p:cNvSpPr/>
          <p:nvPr/>
        </p:nvSpPr>
        <p:spPr>
          <a:xfrm>
            <a:off x="5669280" y="2286000"/>
            <a:ext cx="5699455" cy="548640"/>
          </a:xfrm>
          <a:prstGeom prst="rect">
            <a:avLst/>
          </a:prstGeom>
          <a:noFill/>
          <a:ln/>
        </p:spPr>
        <p:txBody>
          <a:bodyPr wrap="square" lIns="0" tIns="0" rIns="0" bIns="0" rtlCol="0" anchor="ctr">
            <a:normAutofit/>
          </a:bodyPr>
          <a:lstStyle/>
          <a:p>
            <a:pPr rtl="1" algn="r" indent="0" marL="0">
              <a:buNone/>
            </a:pPr>
            <a:r>
              <a:rPr lang="ar-SA" altLang="en-US" sz="2600" b="1" dirty="0">
                <a:solidFill>
                  <a:srgbClr val="C9CFE6"/>
                </a:solidFill>
                <a:latin typeface="Cairo" pitchFamily="34" charset="0"/>
                <a:ea typeface="Cairo" pitchFamily="34" charset="-122"/>
                <a:cs typeface="Cairo" pitchFamily="34" charset="-120"/>
              </a:rPr>
              <a:t>الموقف ٢</a:t>
            </a:r>
            <a:endParaRPr lang="ar-SA" sz="2600" dirty="0"/>
          </a:p>
        </p:txBody>
      </p:sp>
      <p:sp>
        <p:nvSpPr>
          <p:cNvPr id="6" name="Text 2"/>
          <p:cNvSpPr/>
          <p:nvPr/>
        </p:nvSpPr>
        <p:spPr>
          <a:xfrm>
            <a:off x="4572000" y="2834640"/>
            <a:ext cx="6796735" cy="1188720"/>
          </a:xfrm>
          <a:prstGeom prst="rect">
            <a:avLst/>
          </a:prstGeom>
          <a:noFill/>
          <a:ln/>
        </p:spPr>
        <p:txBody>
          <a:bodyPr wrap="square" lIns="0" tIns="0" rIns="0" bIns="0" rtlCol="0" anchor="ctr">
            <a:normAutofit/>
          </a:bodyPr>
          <a:lstStyle/>
          <a:p>
            <a:pPr rtl="1" algn="r" indent="0" marL="0">
              <a:buNone/>
            </a:pPr>
            <a:r>
              <a:rPr lang="ar-SA" altLang="en-US" sz="6000" dirty="0">
                <a:solidFill>
                  <a:srgbClr val="FFFFFF"/>
                </a:solidFill>
                <a:latin typeface="Cairo Black" pitchFamily="34" charset="0"/>
                <a:ea typeface="Cairo Black" pitchFamily="34" charset="-122"/>
                <a:cs typeface="Cairo Black" pitchFamily="34" charset="-120"/>
              </a:rPr>
              <a:t>مهرّج الفصل</a:t>
            </a:r>
            <a:endParaRPr lang="ar-SA" sz="6000" dirty="0"/>
          </a:p>
        </p:txBody>
      </p:sp>
      <p:sp>
        <p:nvSpPr>
          <p:cNvPr id="7" name="Shape 3"/>
          <p:cNvSpPr/>
          <p:nvPr/>
        </p:nvSpPr>
        <p:spPr>
          <a:xfrm>
            <a:off x="10125151" y="4480560"/>
            <a:ext cx="1243584"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8" name="Text 4"/>
          <p:cNvSpPr/>
          <p:nvPr/>
        </p:nvSpPr>
        <p:spPr>
          <a:xfrm>
            <a:off x="10125151" y="4480560"/>
            <a:ext cx="1243584"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القصة</a:t>
            </a:r>
            <a:endParaRPr lang="ar-SA" sz="1500" dirty="0"/>
          </a:p>
        </p:txBody>
      </p:sp>
      <p:sp>
        <p:nvSpPr>
          <p:cNvPr id="9" name="Shape 5"/>
          <p:cNvSpPr/>
          <p:nvPr/>
        </p:nvSpPr>
        <p:spPr>
          <a:xfrm>
            <a:off x="8680399" y="4480560"/>
            <a:ext cx="1353312"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0" name="Text 6"/>
          <p:cNvSpPr/>
          <p:nvPr/>
        </p:nvSpPr>
        <p:spPr>
          <a:xfrm>
            <a:off x="8680399" y="4480560"/>
            <a:ext cx="1353312"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تصويت</a:t>
            </a:r>
            <a:endParaRPr lang="ar-SA" sz="1500" dirty="0"/>
          </a:p>
        </p:txBody>
      </p:sp>
      <p:sp>
        <p:nvSpPr>
          <p:cNvPr id="11" name="Shape 7"/>
          <p:cNvSpPr/>
          <p:nvPr/>
        </p:nvSpPr>
        <p:spPr>
          <a:xfrm>
            <a:off x="7235647" y="4480560"/>
            <a:ext cx="1353312"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2" name="Text 8"/>
          <p:cNvSpPr/>
          <p:nvPr/>
        </p:nvSpPr>
        <p:spPr>
          <a:xfrm>
            <a:off x="7235647" y="4480560"/>
            <a:ext cx="1353312"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لماذا؟</a:t>
            </a:r>
            <a:endParaRPr lang="ar-SA" sz="1500" dirty="0"/>
          </a:p>
        </p:txBody>
      </p:sp>
      <p:sp>
        <p:nvSpPr>
          <p:cNvPr id="13" name="Shape 9"/>
          <p:cNvSpPr/>
          <p:nvPr/>
        </p:nvSpPr>
        <p:spPr>
          <a:xfrm>
            <a:off x="5571439" y="4480560"/>
            <a:ext cx="1572768"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4" name="Text 10"/>
          <p:cNvSpPr/>
          <p:nvPr/>
        </p:nvSpPr>
        <p:spPr>
          <a:xfrm>
            <a:off x="5571439" y="4480560"/>
            <a:ext cx="1572768"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أول خطوة</a:t>
            </a:r>
            <a:endParaRPr lang="ar-SA" sz="1500" dirty="0"/>
          </a:p>
        </p:txBody>
      </p:sp>
      <p:sp>
        <p:nvSpPr>
          <p:cNvPr id="15" name="Shape 11"/>
          <p:cNvSpPr/>
          <p:nvPr/>
        </p:nvSpPr>
        <p:spPr>
          <a:xfrm>
            <a:off x="3687775" y="4480560"/>
            <a:ext cx="1792224"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6" name="Text 12"/>
          <p:cNvSpPr/>
          <p:nvPr/>
        </p:nvSpPr>
        <p:spPr>
          <a:xfrm>
            <a:off x="3687775" y="4480560"/>
            <a:ext cx="1792224"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ماذا تقول؟</a:t>
            </a:r>
            <a:endParaRPr lang="ar-SA" sz="1500" dirty="0"/>
          </a:p>
        </p:txBody>
      </p:sp>
      <p:sp>
        <p:nvSpPr>
          <p:cNvPr id="17" name="Text 1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18" name="Text 1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موقف: مهرّج الفصل  ·  ٦٠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16000" fill="hold"/>
                                        <p:tgtEl>
                                          <p:spTgt spid="2"/>
                                        </p:tgtEl>
                                      </p:cBhvr>
                                      <p:by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name="Slide 6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kb-539" descr="/Users/mac/Desktop/أردوينو/المشاريع والكتب/younes-training/mawaqif/assets/scenes/clown.jpg">    </p:cNvPr>
          <p:cNvPicPr>
            <a:picLocks noChangeAspect="1"/>
          </p:cNvPicPr>
          <p:nvPr/>
        </p:nvPicPr>
        <p:blipFill>
          <a:blip r:embed="rId2"/>
          <a:stretch>
            <a:fillRect/>
          </a:stretch>
        </p:blipFill>
        <p:spPr>
          <a:xfrm>
            <a:off x="0" y="0"/>
            <a:ext cx="12191695" cy="6858000"/>
          </a:xfrm>
          <a:prstGeom prst="rect">
            <a:avLst/>
          </a:prstGeom>
        </p:spPr>
      </p:pic>
      <p:pic>
        <p:nvPicPr>
          <p:cNvPr id="3" name="Image 1" descr="/Users/mac/Desktop/أردوينو/المشاريع والكتب/younes-training/shared/assets/story-overlay.png">    </p:cNvPr>
          <p:cNvPicPr>
            <a:picLocks noChangeAspect="1"/>
          </p:cNvPicPr>
          <p:nvPr/>
        </p:nvPicPr>
        <p:blipFill>
          <a:blip r:embed="rId3"/>
          <a:stretch>
            <a:fillRect/>
          </a:stretch>
        </p:blipFill>
        <p:spPr>
          <a:xfrm>
            <a:off x="0" y="0"/>
            <a:ext cx="12191695" cy="6858000"/>
          </a:xfrm>
          <a:prstGeom prst="rect">
            <a:avLst/>
          </a:prstGeom>
        </p:spPr>
      </p:pic>
      <p:sp>
        <p:nvSpPr>
          <p:cNvPr id="4" name="Shape 0"/>
          <p:cNvSpPr/>
          <p:nvPr/>
        </p:nvSpPr>
        <p:spPr>
          <a:xfrm>
            <a:off x="7985455" y="365760"/>
            <a:ext cx="3657600" cy="502920"/>
          </a:xfrm>
          <a:prstGeom prst="roundRect">
            <a:avLst>
              <a:gd name="adj" fmla="val 49091"/>
            </a:avLst>
          </a:prstGeom>
          <a:solidFill>
            <a:srgbClr val="0A1230">
              <a:alpha val="80000"/>
            </a:srgbClr>
          </a:solidFill>
          <a:ln w="12700">
            <a:solidFill>
              <a:srgbClr val="D9AE4B">
                <a:alpha val="60000"/>
              </a:srgbClr>
            </a:solidFill>
            <a:prstDash val="solid"/>
          </a:ln>
        </p:spPr>
      </p:sp>
      <p:sp>
        <p:nvSpPr>
          <p:cNvPr id="5" name="Text 1"/>
          <p:cNvSpPr/>
          <p:nvPr/>
        </p:nvSpPr>
        <p:spPr>
          <a:xfrm>
            <a:off x="7985455" y="365760"/>
            <a:ext cx="3657600" cy="50292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 القصة · ماذا حدث؟</a:t>
            </a:r>
            <a:endParaRPr lang="ar-SA" sz="1800" dirty="0"/>
          </a:p>
        </p:txBody>
      </p:sp>
      <p:sp>
        <p:nvSpPr>
          <p:cNvPr id="6" name="Shape 2"/>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7" name="Text 3"/>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كان أ. هاني يكتب على السبورة حين سمع ضحكات مكتومة. «ماذا يضحككم؟» فأجاب طالب: «فهد يضحكنا يا أستاذ».</a:t>
            </a:r>
            <a:endParaRPr lang="ar-SA" sz="2400" dirty="0"/>
          </a:p>
        </p:txBody>
      </p:sp>
      <p:sp>
        <p:nvSpPr>
          <p:cNvPr id="8" name="anim-g1-540"/>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9" name="anim-g1-541"/>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نظر إلى فهد (الثالث المتوسط) بغضب، وعاد إلى السبورة، فارتفع الضحك أكثر.</a:t>
            </a:r>
            <a:endParaRPr lang="ar-SA" sz="2400" dirty="0"/>
          </a:p>
        </p:txBody>
      </p:sp>
      <p:sp>
        <p:nvSpPr>
          <p:cNvPr id="10" name="anim-g2-542"/>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11" name="anim-g2-543"/>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التفت: «هل ستتصرف كالأطفال؟ ستلقى عقابًا تندم عليه!». وما إن أدار ظهره حتى سخر منه فهد بحركة أجرأ.</a:t>
            </a:r>
            <a:endParaRPr lang="ar-SA" sz="2400" dirty="0"/>
          </a:p>
        </p:txBody>
      </p:sp>
      <p:sp>
        <p:nvSpPr>
          <p:cNvPr id="12" name="anim-g3-544"/>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13" name="anim-g3-545"/>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600" b="1" dirty="0">
                <a:solidFill>
                  <a:srgbClr val="F0CC7A"/>
                </a:solidFill>
                <a:latin typeface="Cairo" pitchFamily="34" charset="0"/>
                <a:ea typeface="Cairo" pitchFamily="34" charset="-122"/>
                <a:cs typeface="Cairo" pitchFamily="34" charset="-120"/>
              </a:rPr>
              <a:t>«أتستمتع بأن تكون مهرّج الفصل؟!» فردّ فهد: «نعم!»… فأخرجه أ. هاني إلى الممر.</a:t>
            </a:r>
            <a:endParaRPr lang="ar-SA" sz="2600" dirty="0"/>
          </a:p>
        </p:txBody>
      </p:sp>
      <p:sp>
        <p:nvSpPr>
          <p:cNvPr id="14" name="Text 1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15" name="Text 1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موقف: مهرّج الفصل  ·  ٦١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16000" fill="hold"/>
                                        <p:tgtEl>
                                          <p:spTgt spid="2"/>
                                        </p:tgtEl>
                                      </p:cBhvr>
                                      <p:by x="112000" y="112000"/>
                                    </p:animScale>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pic>
        <p:nvPicPr>
          <p:cNvPr id="2" name="Image 0" descr="/Users/mac/Desktop/أردوينو/المشاريع والكتب/younes-training/mawaqif/.pptx-cache/s6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711135" y="457200"/>
            <a:ext cx="3657600" cy="457200"/>
          </a:xfrm>
          <a:prstGeom prst="roundRect">
            <a:avLst>
              <a:gd name="adj" fmla="val 50000"/>
            </a:avLst>
          </a:prstGeom>
          <a:solidFill>
            <a:srgbClr val="F6EBCF"/>
          </a:solidFill>
          <a:ln/>
        </p:spPr>
      </p:sp>
      <p:sp>
        <p:nvSpPr>
          <p:cNvPr id="3" name="Text 1"/>
          <p:cNvSpPr/>
          <p:nvPr/>
        </p:nvSpPr>
        <p:spPr>
          <a:xfrm>
            <a:off x="7711135" y="457200"/>
            <a:ext cx="365760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وراء كل سلوك حاجة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لماذا يهرّج فهد؟</a:t>
            </a:r>
            <a:endParaRPr lang="ar-SA" sz="3800" dirty="0"/>
          </a:p>
        </p:txBody>
      </p:sp>
      <p:sp>
        <p:nvSpPr>
          <p:cNvPr id="5" name="anim-g1-546"/>
          <p:cNvSpPr/>
          <p:nvPr/>
        </p:nvSpPr>
        <p:spPr>
          <a:xfrm>
            <a:off x="8903741" y="2011680"/>
            <a:ext cx="2464994" cy="2514600"/>
          </a:xfrm>
          <a:prstGeom prst="roundRect">
            <a:avLst>
              <a:gd name="adj" fmla="val 6677"/>
            </a:avLst>
          </a:prstGeom>
          <a:solidFill>
            <a:srgbClr val="FFFFFF"/>
          </a:solidFill>
          <a:ln w="12700">
            <a:solidFill>
              <a:srgbClr val="E4DCC8"/>
            </a:solidFill>
            <a:prstDash val="solid"/>
          </a:ln>
        </p:spPr>
      </p:sp>
      <p:sp>
        <p:nvSpPr>
          <p:cNvPr id="6" name="anim-g1-547"/>
          <p:cNvSpPr/>
          <p:nvPr/>
        </p:nvSpPr>
        <p:spPr>
          <a:xfrm>
            <a:off x="9816198" y="2194560"/>
            <a:ext cx="640080" cy="640080"/>
          </a:xfrm>
          <a:prstGeom prst="roundRect">
            <a:avLst>
              <a:gd name="adj" fmla="val 25714"/>
            </a:avLst>
          </a:prstGeom>
          <a:solidFill>
            <a:srgbClr val="F7E6BC"/>
          </a:solidFill>
          <a:ln/>
        </p:spPr>
      </p:sp>
      <p:sp>
        <p:nvSpPr>
          <p:cNvPr id="7" name="anim-g1-548"/>
          <p:cNvSpPr/>
          <p:nvPr/>
        </p:nvSpPr>
        <p:spPr>
          <a:xfrm>
            <a:off x="9816198"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8" name="anim-g1-549"/>
          <p:cNvSpPr/>
          <p:nvPr/>
        </p:nvSpPr>
        <p:spPr>
          <a:xfrm>
            <a:off x="9040901"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الانتباه</a:t>
            </a:r>
            <a:endParaRPr lang="ar-SA" sz="2200" dirty="0"/>
          </a:p>
        </p:txBody>
      </p:sp>
      <p:sp>
        <p:nvSpPr>
          <p:cNvPr id="9" name="anim-g1-550"/>
          <p:cNvSpPr/>
          <p:nvPr/>
        </p:nvSpPr>
        <p:spPr>
          <a:xfrm>
            <a:off x="9040901"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ضحك الفصل مكافأته الفورية</a:t>
            </a:r>
            <a:endParaRPr lang="ar-SA" sz="1900" dirty="0"/>
          </a:p>
        </p:txBody>
      </p:sp>
      <p:sp>
        <p:nvSpPr>
          <p:cNvPr id="10" name="anim-g2-551"/>
          <p:cNvSpPr/>
          <p:nvPr/>
        </p:nvSpPr>
        <p:spPr>
          <a:xfrm>
            <a:off x="6210148" y="2011680"/>
            <a:ext cx="2464994" cy="2514600"/>
          </a:xfrm>
          <a:prstGeom prst="roundRect">
            <a:avLst>
              <a:gd name="adj" fmla="val 6677"/>
            </a:avLst>
          </a:prstGeom>
          <a:solidFill>
            <a:srgbClr val="FFFFFF"/>
          </a:solidFill>
          <a:ln w="12700">
            <a:solidFill>
              <a:srgbClr val="E4DCC8"/>
            </a:solidFill>
            <a:prstDash val="solid"/>
          </a:ln>
        </p:spPr>
      </p:sp>
      <p:sp>
        <p:nvSpPr>
          <p:cNvPr id="11" name="anim-g2-552"/>
          <p:cNvSpPr/>
          <p:nvPr/>
        </p:nvSpPr>
        <p:spPr>
          <a:xfrm>
            <a:off x="7122604" y="2194560"/>
            <a:ext cx="640080" cy="640080"/>
          </a:xfrm>
          <a:prstGeom prst="roundRect">
            <a:avLst>
              <a:gd name="adj" fmla="val 25714"/>
            </a:avLst>
          </a:prstGeom>
          <a:solidFill>
            <a:srgbClr val="F7E6BC"/>
          </a:solidFill>
          <a:ln/>
        </p:spPr>
      </p:sp>
      <p:sp>
        <p:nvSpPr>
          <p:cNvPr id="12" name="anim-g2-553"/>
          <p:cNvSpPr/>
          <p:nvPr/>
        </p:nvSpPr>
        <p:spPr>
          <a:xfrm>
            <a:off x="7122604"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13" name="anim-g2-554"/>
          <p:cNvSpPr/>
          <p:nvPr/>
        </p:nvSpPr>
        <p:spPr>
          <a:xfrm>
            <a:off x="6347308"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المكانة</a:t>
            </a:r>
            <a:endParaRPr lang="ar-SA" sz="2200" dirty="0"/>
          </a:p>
        </p:txBody>
      </p:sp>
      <p:sp>
        <p:nvSpPr>
          <p:cNvPr id="14" name="anim-g2-555"/>
          <p:cNvSpPr/>
          <p:nvPr/>
        </p:nvSpPr>
        <p:spPr>
          <a:xfrm>
            <a:off x="6347308"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دور المهرّج صار هويته بين زملائه</a:t>
            </a:r>
            <a:endParaRPr lang="ar-SA" sz="1900" dirty="0"/>
          </a:p>
        </p:txBody>
      </p:sp>
      <p:sp>
        <p:nvSpPr>
          <p:cNvPr id="15" name="anim-g3-556"/>
          <p:cNvSpPr/>
          <p:nvPr/>
        </p:nvSpPr>
        <p:spPr>
          <a:xfrm>
            <a:off x="3516554" y="2011680"/>
            <a:ext cx="2464994" cy="2514600"/>
          </a:xfrm>
          <a:prstGeom prst="roundRect">
            <a:avLst>
              <a:gd name="adj" fmla="val 6677"/>
            </a:avLst>
          </a:prstGeom>
          <a:solidFill>
            <a:srgbClr val="FFFFFF"/>
          </a:solidFill>
          <a:ln w="12700">
            <a:solidFill>
              <a:srgbClr val="E4DCC8"/>
            </a:solidFill>
            <a:prstDash val="solid"/>
          </a:ln>
        </p:spPr>
      </p:sp>
      <p:sp>
        <p:nvSpPr>
          <p:cNvPr id="16" name="anim-g3-557"/>
          <p:cNvSpPr/>
          <p:nvPr/>
        </p:nvSpPr>
        <p:spPr>
          <a:xfrm>
            <a:off x="4429011" y="2194560"/>
            <a:ext cx="640080" cy="640080"/>
          </a:xfrm>
          <a:prstGeom prst="roundRect">
            <a:avLst>
              <a:gd name="adj" fmla="val 25714"/>
            </a:avLst>
          </a:prstGeom>
          <a:solidFill>
            <a:srgbClr val="F7E6BC"/>
          </a:solidFill>
          <a:ln/>
        </p:spPr>
      </p:sp>
      <p:sp>
        <p:nvSpPr>
          <p:cNvPr id="17" name="anim-g3-558"/>
          <p:cNvSpPr/>
          <p:nvPr/>
        </p:nvSpPr>
        <p:spPr>
          <a:xfrm>
            <a:off x="4429011"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18" name="anim-g3-559"/>
          <p:cNvSpPr/>
          <p:nvPr/>
        </p:nvSpPr>
        <p:spPr>
          <a:xfrm>
            <a:off x="3653714"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الملل</a:t>
            </a:r>
            <a:endParaRPr lang="ar-SA" sz="2200" dirty="0"/>
          </a:p>
        </p:txBody>
      </p:sp>
      <p:sp>
        <p:nvSpPr>
          <p:cNvPr id="19" name="anim-g3-560"/>
          <p:cNvSpPr/>
          <p:nvPr/>
        </p:nvSpPr>
        <p:spPr>
          <a:xfrm>
            <a:off x="3653714"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الحصة تسير بلا تفاعل</a:t>
            </a:r>
            <a:endParaRPr lang="ar-SA" sz="1900" dirty="0"/>
          </a:p>
        </p:txBody>
      </p:sp>
      <p:sp>
        <p:nvSpPr>
          <p:cNvPr id="20" name="anim-g4-561"/>
          <p:cNvSpPr/>
          <p:nvPr/>
        </p:nvSpPr>
        <p:spPr>
          <a:xfrm>
            <a:off x="822960" y="2011680"/>
            <a:ext cx="2464994" cy="2514600"/>
          </a:xfrm>
          <a:prstGeom prst="roundRect">
            <a:avLst>
              <a:gd name="adj" fmla="val 6677"/>
            </a:avLst>
          </a:prstGeom>
          <a:solidFill>
            <a:srgbClr val="FFFFFF"/>
          </a:solidFill>
          <a:ln w="12700">
            <a:solidFill>
              <a:srgbClr val="E4DCC8"/>
            </a:solidFill>
            <a:prstDash val="solid"/>
          </a:ln>
        </p:spPr>
      </p:sp>
      <p:sp>
        <p:nvSpPr>
          <p:cNvPr id="21" name="anim-g4-562"/>
          <p:cNvSpPr/>
          <p:nvPr/>
        </p:nvSpPr>
        <p:spPr>
          <a:xfrm>
            <a:off x="1735417" y="2194560"/>
            <a:ext cx="640080" cy="640080"/>
          </a:xfrm>
          <a:prstGeom prst="roundRect">
            <a:avLst>
              <a:gd name="adj" fmla="val 25714"/>
            </a:avLst>
          </a:prstGeom>
          <a:solidFill>
            <a:srgbClr val="F7E6BC"/>
          </a:solidFill>
          <a:ln/>
        </p:spPr>
      </p:sp>
      <p:sp>
        <p:nvSpPr>
          <p:cNvPr id="22" name="anim-g4-563"/>
          <p:cNvSpPr/>
          <p:nvPr/>
        </p:nvSpPr>
        <p:spPr>
          <a:xfrm>
            <a:off x="1735417"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23" name="anim-g4-564"/>
          <p:cNvSpPr/>
          <p:nvPr/>
        </p:nvSpPr>
        <p:spPr>
          <a:xfrm>
            <a:off x="960120"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ظهر المعلم</a:t>
            </a:r>
            <a:endParaRPr lang="ar-SA" sz="2200" dirty="0"/>
          </a:p>
        </p:txBody>
      </p:sp>
      <p:sp>
        <p:nvSpPr>
          <p:cNvPr id="24" name="anim-g4-565"/>
          <p:cNvSpPr/>
          <p:nvPr/>
        </p:nvSpPr>
        <p:spPr>
          <a:xfrm>
            <a:off x="960120"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الكتابة الطويلة تفتح له المسرح</a:t>
            </a:r>
            <a:endParaRPr lang="ar-SA" sz="1900" dirty="0"/>
          </a:p>
        </p:txBody>
      </p:sp>
      <p:sp>
        <p:nvSpPr>
          <p:cNvPr id="25" name="anim-g5-566"/>
          <p:cNvSpPr/>
          <p:nvPr/>
        </p:nvSpPr>
        <p:spPr>
          <a:xfrm>
            <a:off x="822960" y="4754880"/>
            <a:ext cx="10545775" cy="1051560"/>
          </a:xfrm>
          <a:prstGeom prst="roundRect">
            <a:avLst>
              <a:gd name="adj" fmla="val 17391"/>
            </a:avLst>
          </a:prstGeom>
          <a:solidFill>
            <a:srgbClr val="101B45"/>
          </a:solidFill>
          <a:ln/>
        </p:spPr>
      </p:sp>
      <p:sp>
        <p:nvSpPr>
          <p:cNvPr id="26" name="anim-g5-567"/>
          <p:cNvSpPr/>
          <p:nvPr/>
        </p:nvSpPr>
        <p:spPr>
          <a:xfrm>
            <a:off x="1097280" y="4754880"/>
            <a:ext cx="9997135" cy="1051560"/>
          </a:xfrm>
          <a:prstGeom prst="rect">
            <a:avLst/>
          </a:prstGeom>
          <a:noFill/>
          <a:ln/>
        </p:spPr>
        <p:txBody>
          <a:bodyPr wrap="square" lIns="0" tIns="0" rIns="0" bIns="0" rtlCol="0" anchor="ctr">
            <a:normAutofit/>
          </a:bodyPr>
          <a:lstStyle/>
          <a:p>
            <a:pPr algn="ctr" indent="0" marL="0">
              <a:buNone/>
            </a:pPr>
            <a:r>
              <a:rPr lang="ar-SA" altLang="en-US" sz="2200" b="1" dirty="0">
                <a:solidFill>
                  <a:srgbClr val="FFFFFF"/>
                </a:solidFill>
                <a:latin typeface="Cairo" pitchFamily="34" charset="0"/>
                <a:ea typeface="Cairo" pitchFamily="34" charset="-122"/>
                <a:cs typeface="Cairo" pitchFamily="34" charset="-120"/>
              </a:rPr>
              <a:t>💡 فهد لا يريد إغضابك…</a:t>
            </a:r>
            <a:endParaRPr lang="ar-SA" sz="2200" dirty="0"/>
          </a:p>
          <a:p>
            <a:pPr algn="ctr" indent="0" marL="0">
              <a:buNone/>
            </a:pPr>
            <a:r>
              <a:rPr lang="ar-SA" altLang="en-US" sz="2200" b="1" dirty="0">
                <a:solidFill>
                  <a:srgbClr val="F0CC7A"/>
                </a:solidFill>
                <a:latin typeface="Cairo" pitchFamily="34" charset="0"/>
                <a:ea typeface="Cairo" pitchFamily="34" charset="-122"/>
                <a:cs typeface="Cairo" pitchFamily="34" charset="-120"/>
              </a:rPr>
              <a:t> بل يريد جمهورًا، والجمهور هو الفصل</a:t>
            </a:r>
            <a:endParaRPr lang="ar-SA" sz="2200" dirty="0"/>
          </a:p>
        </p:txBody>
      </p:sp>
      <p:sp>
        <p:nvSpPr>
          <p:cNvPr id="27" name="Text 2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8" name="Text 2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مهرّج الفصل  ·  ٦٣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40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name="Slide 6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57439" y="457200"/>
            <a:ext cx="3511296" cy="457200"/>
          </a:xfrm>
          <a:prstGeom prst="roundRect">
            <a:avLst>
              <a:gd name="adj" fmla="val 50000"/>
            </a:avLst>
          </a:prstGeom>
          <a:solidFill>
            <a:srgbClr val="F6EBCF"/>
          </a:solidFill>
          <a:ln/>
        </p:spPr>
      </p:sp>
      <p:sp>
        <p:nvSpPr>
          <p:cNvPr id="3" name="Text 1"/>
          <p:cNvSpPr/>
          <p:nvPr/>
        </p:nvSpPr>
        <p:spPr>
          <a:xfrm>
            <a:off x="7857439" y="457200"/>
            <a:ext cx="351129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ماذا تفعل فورًا؟</a:t>
            </a:r>
            <a:endParaRPr lang="ar-SA" sz="1800" dirty="0"/>
          </a:p>
        </p:txBody>
      </p:sp>
      <p:sp>
        <p:nvSpPr>
          <p:cNvPr id="4" name="Shape 2"/>
          <p:cNvSpPr/>
          <p:nvPr/>
        </p:nvSpPr>
        <p:spPr>
          <a:xfrm>
            <a:off x="822960" y="457200"/>
            <a:ext cx="1737360" cy="457200"/>
          </a:xfrm>
          <a:prstGeom prst="roundRect">
            <a:avLst>
              <a:gd name="adj" fmla="val 50000"/>
            </a:avLst>
          </a:prstGeom>
          <a:solidFill>
            <a:srgbClr val="FBECEC"/>
          </a:solidFill>
          <a:ln/>
        </p:spPr>
      </p:sp>
      <p:sp>
        <p:nvSpPr>
          <p:cNvPr id="5" name="Text 3"/>
          <p:cNvSpPr/>
          <p:nvPr/>
        </p:nvSpPr>
        <p:spPr>
          <a:xfrm>
            <a:off x="822960" y="457200"/>
            <a:ext cx="1737360"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D64545"/>
                </a:solidFill>
                <a:latin typeface="Cairo" pitchFamily="34" charset="0"/>
                <a:ea typeface="Cairo" pitchFamily="34" charset="-122"/>
                <a:cs typeface="Cairo" pitchFamily="34" charset="-120"/>
              </a:rPr>
              <a:t>⏱ ١٠ ثوانٍ</a:t>
            </a:r>
            <a:endParaRPr lang="ar-SA" sz="1600" dirty="0"/>
          </a:p>
        </p:txBody>
      </p:sp>
      <p:sp>
        <p:nvSpPr>
          <p:cNvPr id="6" name="Text 4"/>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أول ١٠ ثوانٍ</a:t>
            </a:r>
            <a:endParaRPr lang="ar-SA" sz="3800" dirty="0"/>
          </a:p>
        </p:txBody>
      </p:sp>
      <p:sp>
        <p:nvSpPr>
          <p:cNvPr id="7" name="anim-g1-568"/>
          <p:cNvSpPr/>
          <p:nvPr/>
        </p:nvSpPr>
        <p:spPr>
          <a:xfrm>
            <a:off x="8903741" y="2148840"/>
            <a:ext cx="2464994" cy="3383280"/>
          </a:xfrm>
          <a:prstGeom prst="roundRect">
            <a:avLst>
              <a:gd name="adj" fmla="val 6677"/>
            </a:avLst>
          </a:prstGeom>
          <a:solidFill>
            <a:srgbClr val="FFFFFF"/>
          </a:solidFill>
          <a:ln w="12700">
            <a:solidFill>
              <a:srgbClr val="E4DCC8"/>
            </a:solidFill>
            <a:prstDash val="solid"/>
          </a:ln>
        </p:spPr>
      </p:sp>
      <p:sp>
        <p:nvSpPr>
          <p:cNvPr id="8" name="anim-g1-569"/>
          <p:cNvSpPr/>
          <p:nvPr/>
        </p:nvSpPr>
        <p:spPr>
          <a:xfrm>
            <a:off x="9747618" y="2423160"/>
            <a:ext cx="777240" cy="777240"/>
          </a:xfrm>
          <a:prstGeom prst="ellipse">
            <a:avLst/>
          </a:prstGeom>
          <a:solidFill>
            <a:srgbClr val="D9AE4B"/>
          </a:solidFill>
          <a:ln/>
        </p:spPr>
      </p:sp>
      <p:sp>
        <p:nvSpPr>
          <p:cNvPr id="9" name="anim-g1-570"/>
          <p:cNvSpPr/>
          <p:nvPr/>
        </p:nvSpPr>
        <p:spPr>
          <a:xfrm>
            <a:off x="9747618"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١</a:t>
            </a:r>
            <a:endParaRPr lang="ar-SA" sz="2800" dirty="0"/>
          </a:p>
        </p:txBody>
      </p:sp>
      <p:sp>
        <p:nvSpPr>
          <p:cNvPr id="10" name="anim-g1-571"/>
          <p:cNvSpPr/>
          <p:nvPr/>
        </p:nvSpPr>
        <p:spPr>
          <a:xfrm>
            <a:off x="9040901"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لا تُعطِ ظهرك</a:t>
            </a:r>
            <a:endParaRPr lang="ar-SA" sz="2500" dirty="0"/>
          </a:p>
        </p:txBody>
      </p:sp>
      <p:sp>
        <p:nvSpPr>
          <p:cNvPr id="11" name="anim-g1-572"/>
          <p:cNvSpPr/>
          <p:nvPr/>
        </p:nvSpPr>
        <p:spPr>
          <a:xfrm>
            <a:off x="9086621"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اكتب جانبيًا، ووجهك للفصل</a:t>
            </a:r>
            <a:endParaRPr lang="ar-SA" sz="2000" dirty="0"/>
          </a:p>
        </p:txBody>
      </p:sp>
      <p:sp>
        <p:nvSpPr>
          <p:cNvPr id="12" name="anim-g2-573"/>
          <p:cNvSpPr/>
          <p:nvPr/>
        </p:nvSpPr>
        <p:spPr>
          <a:xfrm>
            <a:off x="6210148" y="2148840"/>
            <a:ext cx="2464994" cy="3383280"/>
          </a:xfrm>
          <a:prstGeom prst="roundRect">
            <a:avLst>
              <a:gd name="adj" fmla="val 6677"/>
            </a:avLst>
          </a:prstGeom>
          <a:solidFill>
            <a:srgbClr val="FFFFFF"/>
          </a:solidFill>
          <a:ln w="12700">
            <a:solidFill>
              <a:srgbClr val="E4DCC8"/>
            </a:solidFill>
            <a:prstDash val="solid"/>
          </a:ln>
        </p:spPr>
      </p:sp>
      <p:sp>
        <p:nvSpPr>
          <p:cNvPr id="13" name="anim-g2-574"/>
          <p:cNvSpPr/>
          <p:nvPr/>
        </p:nvSpPr>
        <p:spPr>
          <a:xfrm>
            <a:off x="7054024" y="2423160"/>
            <a:ext cx="777240" cy="777240"/>
          </a:xfrm>
          <a:prstGeom prst="ellipse">
            <a:avLst/>
          </a:prstGeom>
          <a:solidFill>
            <a:srgbClr val="D9AE4B"/>
          </a:solidFill>
          <a:ln/>
        </p:spPr>
      </p:sp>
      <p:sp>
        <p:nvSpPr>
          <p:cNvPr id="14" name="anim-g2-575"/>
          <p:cNvSpPr/>
          <p:nvPr/>
        </p:nvSpPr>
        <p:spPr>
          <a:xfrm>
            <a:off x="7054024"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٢</a:t>
            </a:r>
            <a:endParaRPr lang="ar-SA" sz="2800" dirty="0"/>
          </a:p>
        </p:txBody>
      </p:sp>
      <p:sp>
        <p:nvSpPr>
          <p:cNvPr id="15" name="anim-g2-576"/>
          <p:cNvSpPr/>
          <p:nvPr/>
        </p:nvSpPr>
        <p:spPr>
          <a:xfrm>
            <a:off x="6347308"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اقترب</a:t>
            </a:r>
            <a:endParaRPr lang="ar-SA" sz="2500" dirty="0"/>
          </a:p>
        </p:txBody>
      </p:sp>
      <p:sp>
        <p:nvSpPr>
          <p:cNvPr id="16" name="anim-g2-577"/>
          <p:cNvSpPr/>
          <p:nvPr/>
        </p:nvSpPr>
        <p:spPr>
          <a:xfrm>
            <a:off x="6393028"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قف بجانب طاولته وتابع الشرح</a:t>
            </a:r>
            <a:endParaRPr lang="ar-SA" sz="2000" dirty="0"/>
          </a:p>
        </p:txBody>
      </p:sp>
      <p:sp>
        <p:nvSpPr>
          <p:cNvPr id="17" name="anim-g3-578"/>
          <p:cNvSpPr/>
          <p:nvPr/>
        </p:nvSpPr>
        <p:spPr>
          <a:xfrm>
            <a:off x="3516554" y="2148840"/>
            <a:ext cx="2464994" cy="3383280"/>
          </a:xfrm>
          <a:prstGeom prst="roundRect">
            <a:avLst>
              <a:gd name="adj" fmla="val 6677"/>
            </a:avLst>
          </a:prstGeom>
          <a:solidFill>
            <a:srgbClr val="FFFFFF"/>
          </a:solidFill>
          <a:ln w="12700">
            <a:solidFill>
              <a:srgbClr val="E4DCC8"/>
            </a:solidFill>
            <a:prstDash val="solid"/>
          </a:ln>
        </p:spPr>
      </p:sp>
      <p:sp>
        <p:nvSpPr>
          <p:cNvPr id="18" name="anim-g3-579"/>
          <p:cNvSpPr/>
          <p:nvPr/>
        </p:nvSpPr>
        <p:spPr>
          <a:xfrm>
            <a:off x="4360431" y="2423160"/>
            <a:ext cx="777240" cy="777240"/>
          </a:xfrm>
          <a:prstGeom prst="ellipse">
            <a:avLst/>
          </a:prstGeom>
          <a:solidFill>
            <a:srgbClr val="D9AE4B"/>
          </a:solidFill>
          <a:ln/>
        </p:spPr>
      </p:sp>
      <p:sp>
        <p:nvSpPr>
          <p:cNvPr id="19" name="anim-g3-580"/>
          <p:cNvSpPr/>
          <p:nvPr/>
        </p:nvSpPr>
        <p:spPr>
          <a:xfrm>
            <a:off x="4360431"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٣</a:t>
            </a:r>
            <a:endParaRPr lang="ar-SA" sz="2800" dirty="0"/>
          </a:p>
        </p:txBody>
      </p:sp>
      <p:sp>
        <p:nvSpPr>
          <p:cNvPr id="20" name="anim-g3-581"/>
          <p:cNvSpPr/>
          <p:nvPr/>
        </p:nvSpPr>
        <p:spPr>
          <a:xfrm>
            <a:off x="3653714"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أشرِكه</a:t>
            </a:r>
            <a:endParaRPr lang="ar-SA" sz="2500" dirty="0"/>
          </a:p>
        </p:txBody>
      </p:sp>
      <p:sp>
        <p:nvSpPr>
          <p:cNvPr id="21" name="anim-g3-582"/>
          <p:cNvSpPr/>
          <p:nvPr/>
        </p:nvSpPr>
        <p:spPr>
          <a:xfrm>
            <a:off x="3699434"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«فهد، اقرأ لنا السؤال الأول»</a:t>
            </a:r>
            <a:endParaRPr lang="ar-SA" sz="2000" dirty="0"/>
          </a:p>
        </p:txBody>
      </p:sp>
      <p:sp>
        <p:nvSpPr>
          <p:cNvPr id="22" name="anim-g4-583"/>
          <p:cNvSpPr/>
          <p:nvPr/>
        </p:nvSpPr>
        <p:spPr>
          <a:xfrm>
            <a:off x="822960" y="2148840"/>
            <a:ext cx="2464994" cy="3383280"/>
          </a:xfrm>
          <a:prstGeom prst="roundRect">
            <a:avLst>
              <a:gd name="adj" fmla="val 6677"/>
            </a:avLst>
          </a:prstGeom>
          <a:solidFill>
            <a:srgbClr val="FFFFFF"/>
          </a:solidFill>
          <a:ln w="12700">
            <a:solidFill>
              <a:srgbClr val="E4DCC8"/>
            </a:solidFill>
            <a:prstDash val="solid"/>
          </a:ln>
        </p:spPr>
      </p:sp>
      <p:sp>
        <p:nvSpPr>
          <p:cNvPr id="23" name="anim-g4-584"/>
          <p:cNvSpPr/>
          <p:nvPr/>
        </p:nvSpPr>
        <p:spPr>
          <a:xfrm>
            <a:off x="1666837" y="2423160"/>
            <a:ext cx="777240" cy="777240"/>
          </a:xfrm>
          <a:prstGeom prst="ellipse">
            <a:avLst/>
          </a:prstGeom>
          <a:solidFill>
            <a:srgbClr val="D9AE4B"/>
          </a:solidFill>
          <a:ln/>
        </p:spPr>
      </p:sp>
      <p:sp>
        <p:nvSpPr>
          <p:cNvPr id="24" name="anim-g4-585"/>
          <p:cNvSpPr/>
          <p:nvPr/>
        </p:nvSpPr>
        <p:spPr>
          <a:xfrm>
            <a:off x="1666837"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٤</a:t>
            </a:r>
            <a:endParaRPr lang="ar-SA" sz="2800" dirty="0"/>
          </a:p>
        </p:txBody>
      </p:sp>
      <p:sp>
        <p:nvSpPr>
          <p:cNvPr id="25" name="anim-g4-586"/>
          <p:cNvSpPr/>
          <p:nvPr/>
        </p:nvSpPr>
        <p:spPr>
          <a:xfrm>
            <a:off x="960120"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امدح</a:t>
            </a:r>
            <a:endParaRPr lang="ar-SA" sz="2500" dirty="0"/>
          </a:p>
        </p:txBody>
      </p:sp>
      <p:sp>
        <p:nvSpPr>
          <p:cNvPr id="26" name="anim-g4-587"/>
          <p:cNvSpPr/>
          <p:nvPr/>
        </p:nvSpPr>
        <p:spPr>
          <a:xfrm>
            <a:off x="1005840"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عند أول سلوك جيد منه</a:t>
            </a:r>
            <a:endParaRPr lang="ar-SA" sz="2000" dirty="0"/>
          </a:p>
        </p:txBody>
      </p:sp>
      <p:sp>
        <p:nvSpPr>
          <p:cNvPr id="27" name="Text 2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8" name="Text 2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مهرّج الفصل  ·  ٦٤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400"/>
                                        <p:tgtEl>
                                          <p:spTgt spid="1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40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4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400"/>
                                        <p:tgtEl>
                                          <p:spTgt spid="1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400"/>
                                        <p:tgtEl>
                                          <p:spTgt spid="2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400"/>
                                        <p:tgtEl>
                                          <p:spTgt spid="21"/>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400"/>
                                        <p:tgtEl>
                                          <p:spTgt spid="2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400"/>
                                        <p:tgtEl>
                                          <p:spTgt spid="2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400"/>
                                        <p:tgtEl>
                                          <p:spTgt spid="2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400"/>
                                        <p:tgtEl>
                                          <p:spTgt spid="2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name="Slide 6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588959" y="457200"/>
            <a:ext cx="2779776" cy="457200"/>
          </a:xfrm>
          <a:prstGeom prst="roundRect">
            <a:avLst>
              <a:gd name="adj" fmla="val 50000"/>
            </a:avLst>
          </a:prstGeom>
          <a:solidFill>
            <a:srgbClr val="F6EBCF"/>
          </a:solidFill>
          <a:ln/>
        </p:spPr>
      </p:sp>
      <p:sp>
        <p:nvSpPr>
          <p:cNvPr id="3" name="Text 1"/>
          <p:cNvSpPr/>
          <p:nvPr/>
        </p:nvSpPr>
        <p:spPr>
          <a:xfrm>
            <a:off x="8588959" y="457200"/>
            <a:ext cx="277977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الجُمل الجاهزة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ماذا تقول بالحرف؟</a:t>
            </a:r>
            <a:endParaRPr lang="ar-SA" sz="3800" dirty="0"/>
          </a:p>
        </p:txBody>
      </p:sp>
      <p:sp>
        <p:nvSpPr>
          <p:cNvPr id="5" name="anim-g1-588"/>
          <p:cNvSpPr/>
          <p:nvPr/>
        </p:nvSpPr>
        <p:spPr>
          <a:xfrm>
            <a:off x="9768535" y="2130552"/>
            <a:ext cx="1600200" cy="819912"/>
          </a:xfrm>
          <a:prstGeom prst="roundRect">
            <a:avLst>
              <a:gd name="adj" fmla="val 16729"/>
            </a:avLst>
          </a:prstGeom>
          <a:solidFill>
            <a:srgbClr val="E9EDF9"/>
          </a:solidFill>
          <a:ln/>
        </p:spPr>
      </p:sp>
      <p:sp>
        <p:nvSpPr>
          <p:cNvPr id="6" name="anim-g1-589"/>
          <p:cNvSpPr/>
          <p:nvPr/>
        </p:nvSpPr>
        <p:spPr>
          <a:xfrm>
            <a:off x="9814255" y="2130552"/>
            <a:ext cx="1508760" cy="81991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بجانبه بهدوء</a:t>
            </a:r>
            <a:endParaRPr lang="ar-SA" sz="1800" dirty="0"/>
          </a:p>
        </p:txBody>
      </p:sp>
      <p:sp>
        <p:nvSpPr>
          <p:cNvPr id="7" name="anim-g1-590"/>
          <p:cNvSpPr/>
          <p:nvPr/>
        </p:nvSpPr>
        <p:spPr>
          <a:xfrm>
            <a:off x="822960" y="2057400"/>
            <a:ext cx="8716975" cy="966216"/>
          </a:xfrm>
          <a:prstGeom prst="roundRect">
            <a:avLst>
              <a:gd name="adj" fmla="val 20820"/>
            </a:avLst>
          </a:prstGeom>
          <a:solidFill>
            <a:srgbClr val="101B45"/>
          </a:solidFill>
          <a:ln/>
        </p:spPr>
      </p:sp>
      <p:sp>
        <p:nvSpPr>
          <p:cNvPr id="8" name="anim-g1-591"/>
          <p:cNvSpPr/>
          <p:nvPr/>
        </p:nvSpPr>
        <p:spPr>
          <a:xfrm>
            <a:off x="1097280" y="2057400"/>
            <a:ext cx="8168335" cy="966216"/>
          </a:xfrm>
          <a:prstGeom prst="rect">
            <a:avLst/>
          </a:prstGeom>
          <a:noFill/>
          <a:ln/>
        </p:spPr>
        <p:txBody>
          <a:bodyPr wrap="square" lIns="0" tIns="0" rIns="0" bIns="0" rtlCol="0" anchor="ctr">
            <a:normAutofit/>
          </a:bodyPr>
          <a:lstStyle/>
          <a:p>
            <a:pPr algn="r" indent="0" marL="0">
              <a:buNone/>
            </a:pPr>
            <a:r>
              <a:rPr lang="ar-SA" altLang="en-US" sz="2400" b="1" dirty="0">
                <a:solidFill>
                  <a:srgbClr val="D9AE4B"/>
                </a:solidFill>
                <a:latin typeface="Cairo" pitchFamily="34" charset="0"/>
                <a:ea typeface="Cairo" pitchFamily="34" charset="-122"/>
                <a:cs typeface="Cairo" pitchFamily="34" charset="-120"/>
              </a:rPr>
              <a:t>« </a:t>
            </a:r>
            <a:pPr algn="r" indent="0" marL="0">
              <a:buNone/>
            </a:pPr>
            <a:r>
              <a:rPr lang="ar-SA" altLang="en-US" sz="2400" b="1" dirty="0">
                <a:solidFill>
                  <a:srgbClr val="FFFFFF"/>
                </a:solidFill>
                <a:latin typeface="Cairo" pitchFamily="34" charset="0"/>
                <a:ea typeface="Cairo" pitchFamily="34" charset="-122"/>
                <a:cs typeface="Cairo" pitchFamily="34" charset="-120"/>
              </a:rPr>
              <a:t>فهد، أحتاج انتباهك الآن. شكرًا</a:t>
            </a:r>
            <a:pPr algn="r" indent="0" marL="0">
              <a:buNone/>
            </a:pPr>
            <a:r>
              <a:rPr lang="ar-SA" altLang="en-US" sz="2400" b="1" dirty="0">
                <a:solidFill>
                  <a:srgbClr val="D9AE4B"/>
                </a:solidFill>
                <a:latin typeface="Cairo" pitchFamily="34" charset="0"/>
                <a:ea typeface="Cairo" pitchFamily="34" charset="-122"/>
                <a:cs typeface="Cairo" pitchFamily="34" charset="-120"/>
              </a:rPr>
              <a:t> »</a:t>
            </a:r>
            <a:endParaRPr lang="ar-SA" sz="2400" dirty="0"/>
          </a:p>
        </p:txBody>
      </p:sp>
      <p:sp>
        <p:nvSpPr>
          <p:cNvPr id="9" name="anim-g2-592"/>
          <p:cNvSpPr/>
          <p:nvPr/>
        </p:nvSpPr>
        <p:spPr>
          <a:xfrm>
            <a:off x="9768535" y="3243072"/>
            <a:ext cx="1600200" cy="819912"/>
          </a:xfrm>
          <a:prstGeom prst="roundRect">
            <a:avLst>
              <a:gd name="adj" fmla="val 16729"/>
            </a:avLst>
          </a:prstGeom>
          <a:solidFill>
            <a:srgbClr val="E9EDF9"/>
          </a:solidFill>
          <a:ln/>
        </p:spPr>
      </p:sp>
      <p:sp>
        <p:nvSpPr>
          <p:cNvPr id="10" name="anim-g2-593"/>
          <p:cNvSpPr/>
          <p:nvPr/>
        </p:nvSpPr>
        <p:spPr>
          <a:xfrm>
            <a:off x="9814255" y="3243072"/>
            <a:ext cx="1508760" cy="81991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إن ردّ باستفزاز</a:t>
            </a:r>
            <a:endParaRPr lang="ar-SA" sz="1800" dirty="0"/>
          </a:p>
        </p:txBody>
      </p:sp>
      <p:sp>
        <p:nvSpPr>
          <p:cNvPr id="11" name="anim-g2-594"/>
          <p:cNvSpPr/>
          <p:nvPr/>
        </p:nvSpPr>
        <p:spPr>
          <a:xfrm>
            <a:off x="822960" y="3169920"/>
            <a:ext cx="8716975" cy="966216"/>
          </a:xfrm>
          <a:prstGeom prst="roundRect">
            <a:avLst>
              <a:gd name="adj" fmla="val 20820"/>
            </a:avLst>
          </a:prstGeom>
          <a:solidFill>
            <a:srgbClr val="101B45"/>
          </a:solidFill>
          <a:ln/>
        </p:spPr>
      </p:sp>
      <p:sp>
        <p:nvSpPr>
          <p:cNvPr id="12" name="anim-g2-595"/>
          <p:cNvSpPr/>
          <p:nvPr/>
        </p:nvSpPr>
        <p:spPr>
          <a:xfrm>
            <a:off x="1097280" y="3169920"/>
            <a:ext cx="8168335" cy="966216"/>
          </a:xfrm>
          <a:prstGeom prst="rect">
            <a:avLst/>
          </a:prstGeom>
          <a:noFill/>
          <a:ln/>
        </p:spPr>
        <p:txBody>
          <a:bodyPr wrap="square" lIns="0" tIns="0" rIns="0" bIns="0" rtlCol="0" anchor="ctr">
            <a:normAutofit/>
          </a:bodyPr>
          <a:lstStyle/>
          <a:p>
            <a:pPr algn="r" indent="0" marL="0">
              <a:buNone/>
            </a:pPr>
            <a:r>
              <a:rPr lang="ar-SA" altLang="en-US" sz="2400" b="1" dirty="0">
                <a:solidFill>
                  <a:srgbClr val="D9AE4B"/>
                </a:solidFill>
                <a:latin typeface="Cairo" pitchFamily="34" charset="0"/>
                <a:ea typeface="Cairo" pitchFamily="34" charset="-122"/>
                <a:cs typeface="Cairo" pitchFamily="34" charset="-120"/>
              </a:rPr>
              <a:t>« </a:t>
            </a:r>
            <a:pPr algn="r" indent="0" marL="0">
              <a:buNone/>
            </a:pPr>
            <a:r>
              <a:rPr lang="ar-SA" altLang="en-US" sz="2400" b="1" dirty="0">
                <a:solidFill>
                  <a:srgbClr val="FFFFFF"/>
                </a:solidFill>
                <a:latin typeface="Cairo" pitchFamily="34" charset="0"/>
                <a:ea typeface="Cairo" pitchFamily="34" charset="-122"/>
                <a:cs typeface="Cairo" pitchFamily="34" charset="-120"/>
              </a:rPr>
              <a:t>سنتحدث بعد الحصة. والآن نكمل</a:t>
            </a:r>
            <a:pPr algn="r" indent="0" marL="0">
              <a:buNone/>
            </a:pPr>
            <a:r>
              <a:rPr lang="ar-SA" altLang="en-US" sz="2400" b="1" dirty="0">
                <a:solidFill>
                  <a:srgbClr val="D9AE4B"/>
                </a:solidFill>
                <a:latin typeface="Cairo" pitchFamily="34" charset="0"/>
                <a:ea typeface="Cairo" pitchFamily="34" charset="-122"/>
                <a:cs typeface="Cairo" pitchFamily="34" charset="-120"/>
              </a:rPr>
              <a:t> »</a:t>
            </a:r>
            <a:endParaRPr lang="ar-SA" sz="2400" dirty="0"/>
          </a:p>
        </p:txBody>
      </p:sp>
      <p:sp>
        <p:nvSpPr>
          <p:cNvPr id="13" name="anim-g3-596"/>
          <p:cNvSpPr/>
          <p:nvPr/>
        </p:nvSpPr>
        <p:spPr>
          <a:xfrm>
            <a:off x="9768535" y="4355592"/>
            <a:ext cx="1600200" cy="819912"/>
          </a:xfrm>
          <a:prstGeom prst="roundRect">
            <a:avLst>
              <a:gd name="adj" fmla="val 16729"/>
            </a:avLst>
          </a:prstGeom>
          <a:solidFill>
            <a:srgbClr val="E9EDF9"/>
          </a:solidFill>
          <a:ln/>
        </p:spPr>
      </p:sp>
      <p:sp>
        <p:nvSpPr>
          <p:cNvPr id="14" name="anim-g3-597"/>
          <p:cNvSpPr/>
          <p:nvPr/>
        </p:nvSpPr>
        <p:spPr>
          <a:xfrm>
            <a:off x="9814255" y="4355592"/>
            <a:ext cx="1508760" cy="81991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بعد الحصة</a:t>
            </a:r>
            <a:endParaRPr lang="ar-SA" sz="1800" dirty="0"/>
          </a:p>
        </p:txBody>
      </p:sp>
      <p:sp>
        <p:nvSpPr>
          <p:cNvPr id="15" name="anim-g3-598"/>
          <p:cNvSpPr/>
          <p:nvPr/>
        </p:nvSpPr>
        <p:spPr>
          <a:xfrm>
            <a:off x="822960" y="4282440"/>
            <a:ext cx="8716975" cy="966216"/>
          </a:xfrm>
          <a:prstGeom prst="roundRect">
            <a:avLst>
              <a:gd name="adj" fmla="val 20820"/>
            </a:avLst>
          </a:prstGeom>
          <a:solidFill>
            <a:srgbClr val="101B45"/>
          </a:solidFill>
          <a:ln/>
        </p:spPr>
      </p:sp>
      <p:sp>
        <p:nvSpPr>
          <p:cNvPr id="16" name="anim-g3-599"/>
          <p:cNvSpPr/>
          <p:nvPr/>
        </p:nvSpPr>
        <p:spPr>
          <a:xfrm>
            <a:off x="1097280" y="4282440"/>
            <a:ext cx="8168335" cy="966216"/>
          </a:xfrm>
          <a:prstGeom prst="rect">
            <a:avLst/>
          </a:prstGeom>
          <a:noFill/>
          <a:ln/>
        </p:spPr>
        <p:txBody>
          <a:bodyPr wrap="square" lIns="0" tIns="0" rIns="0" bIns="0" rtlCol="0" anchor="ctr">
            <a:normAutofit/>
          </a:bodyPr>
          <a:lstStyle/>
          <a:p>
            <a:pPr algn="r" indent="0" marL="0">
              <a:buNone/>
            </a:pPr>
            <a:r>
              <a:rPr lang="ar-SA" altLang="en-US" sz="2000" b="1" dirty="0">
                <a:solidFill>
                  <a:srgbClr val="D9AE4B"/>
                </a:solidFill>
                <a:latin typeface="Cairo" pitchFamily="34" charset="0"/>
                <a:ea typeface="Cairo" pitchFamily="34" charset="-122"/>
                <a:cs typeface="Cairo" pitchFamily="34" charset="-120"/>
              </a:rPr>
              <a:t>« </a:t>
            </a:r>
            <a:pPr algn="r" indent="0" marL="0">
              <a:buNone/>
            </a:pPr>
            <a:r>
              <a:rPr lang="ar-SA" altLang="en-US" sz="2000" b="1" dirty="0">
                <a:solidFill>
                  <a:srgbClr val="FFFFFF"/>
                </a:solidFill>
                <a:latin typeface="Cairo" pitchFamily="34" charset="0"/>
                <a:ea typeface="Cairo" pitchFamily="34" charset="-122"/>
                <a:cs typeface="Cairo" pitchFamily="34" charset="-120"/>
              </a:rPr>
              <a:t>عندك موهبة في جذب الناس، وأريدك أن تستخدمها معي لا ضدي. ما رأيك أن تقدّم فقرة المراجعة الأسبوع القادم؟</a:t>
            </a:r>
            <a:pPr algn="r" indent="0" marL="0">
              <a:buNone/>
            </a:pPr>
            <a:r>
              <a:rPr lang="ar-SA" altLang="en-US" sz="2000" b="1" dirty="0">
                <a:solidFill>
                  <a:srgbClr val="D9AE4B"/>
                </a:solidFill>
                <a:latin typeface="Cairo" pitchFamily="34" charset="0"/>
                <a:ea typeface="Cairo" pitchFamily="34" charset="-122"/>
                <a:cs typeface="Cairo" pitchFamily="34" charset="-120"/>
              </a:rPr>
              <a:t> »</a:t>
            </a:r>
            <a:endParaRPr lang="ar-SA" sz="2000" dirty="0"/>
          </a:p>
        </p:txBody>
      </p:sp>
      <p:sp>
        <p:nvSpPr>
          <p:cNvPr id="17" name="anim-g4-600"/>
          <p:cNvSpPr/>
          <p:nvPr/>
        </p:nvSpPr>
        <p:spPr>
          <a:xfrm>
            <a:off x="822960" y="5532120"/>
            <a:ext cx="10545775" cy="548640"/>
          </a:xfrm>
          <a:prstGeom prst="roundRect">
            <a:avLst>
              <a:gd name="adj" fmla="val 20000"/>
            </a:avLst>
          </a:prstGeom>
          <a:solidFill>
            <a:srgbClr val="FBECEC"/>
          </a:solidFill>
          <a:ln/>
        </p:spPr>
      </p:sp>
      <p:sp>
        <p:nvSpPr>
          <p:cNvPr id="18" name="anim-g4-601"/>
          <p:cNvSpPr/>
          <p:nvPr/>
        </p:nvSpPr>
        <p:spPr>
          <a:xfrm>
            <a:off x="11295583" y="5532120"/>
            <a:ext cx="73152" cy="548640"/>
          </a:xfrm>
          <a:prstGeom prst="rect">
            <a:avLst/>
          </a:prstGeom>
          <a:solidFill>
            <a:srgbClr val="D64545"/>
          </a:solidFill>
          <a:ln/>
        </p:spPr>
      </p:sp>
      <p:sp>
        <p:nvSpPr>
          <p:cNvPr id="19" name="anim-g4-602"/>
          <p:cNvSpPr/>
          <p:nvPr/>
        </p:nvSpPr>
        <p:spPr>
          <a:xfrm>
            <a:off x="1005840" y="5532120"/>
            <a:ext cx="10088575" cy="548640"/>
          </a:xfrm>
          <a:prstGeom prst="rect">
            <a:avLst/>
          </a:prstGeom>
          <a:noFill/>
          <a:ln/>
        </p:spPr>
        <p:txBody>
          <a:bodyPr wrap="square" lIns="0" tIns="0" rIns="0" bIns="0" rtlCol="0" anchor="ctr">
            <a:normAutofit/>
          </a:bodyPr>
          <a:lstStyle/>
          <a:p>
            <a:pPr rtl="1" algn="r" indent="0" marL="0">
              <a:buNone/>
            </a:pPr>
            <a:r>
              <a:rPr lang="ar-SA" altLang="en-US" sz="1900" b="1" dirty="0">
                <a:solidFill>
                  <a:srgbClr val="8E2A2A"/>
                </a:solidFill>
                <a:latin typeface="Cairo" pitchFamily="34" charset="0"/>
                <a:ea typeface="Cairo" pitchFamily="34" charset="-122"/>
                <a:cs typeface="Cairo" pitchFamily="34" charset="-120"/>
              </a:rPr>
              <a:t>⚠️ تجنّب: «أتستمتع بأن تكون مهرّجًا؟» — سؤال يدعوه ليقول: نعم!</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مهرّج الفصل  ·  ٦٥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name="Slide 6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5486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أخطاء شائعة… وبدائلها</a:t>
            </a:r>
            <a:endParaRPr lang="ar-SA" sz="3800" dirty="0"/>
          </a:p>
        </p:txBody>
      </p:sp>
      <p:sp>
        <p:nvSpPr>
          <p:cNvPr id="3" name="Text 1"/>
          <p:cNvSpPr/>
          <p:nvPr/>
        </p:nvSpPr>
        <p:spPr>
          <a:xfrm>
            <a:off x="6415888"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D64545"/>
                </a:solidFill>
                <a:latin typeface="Cairo Black" pitchFamily="34" charset="0"/>
                <a:ea typeface="Cairo Black" pitchFamily="34" charset="-122"/>
                <a:cs typeface="Cairo Black" pitchFamily="34" charset="-120"/>
              </a:rPr>
              <a:t>❌ الخطأ الشائع</a:t>
            </a:r>
            <a:endParaRPr lang="ar-SA" sz="2100" dirty="0"/>
          </a:p>
        </p:txBody>
      </p:sp>
      <p:sp>
        <p:nvSpPr>
          <p:cNvPr id="4" name="Text 2"/>
          <p:cNvSpPr/>
          <p:nvPr/>
        </p:nvSpPr>
        <p:spPr>
          <a:xfrm>
            <a:off x="822960"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2E9E6B"/>
                </a:solidFill>
                <a:latin typeface="Cairo Black" pitchFamily="34" charset="0"/>
                <a:ea typeface="Cairo Black" pitchFamily="34" charset="-122"/>
                <a:cs typeface="Cairo Black" pitchFamily="34" charset="-120"/>
              </a:rPr>
              <a:t>✅ البديل</a:t>
            </a:r>
            <a:endParaRPr lang="ar-SA" sz="2100" dirty="0"/>
          </a:p>
        </p:txBody>
      </p:sp>
      <p:sp>
        <p:nvSpPr>
          <p:cNvPr id="5" name="anim-g1-603"/>
          <p:cNvSpPr/>
          <p:nvPr/>
        </p:nvSpPr>
        <p:spPr>
          <a:xfrm>
            <a:off x="6415888" y="2194560"/>
            <a:ext cx="4952848" cy="804672"/>
          </a:xfrm>
          <a:prstGeom prst="roundRect">
            <a:avLst>
              <a:gd name="adj" fmla="val 15909"/>
            </a:avLst>
          </a:prstGeom>
          <a:solidFill>
            <a:srgbClr val="FBECEC"/>
          </a:solidFill>
          <a:ln/>
        </p:spPr>
      </p:sp>
      <p:sp>
        <p:nvSpPr>
          <p:cNvPr id="6" name="anim-g1-604"/>
          <p:cNvSpPr/>
          <p:nvPr/>
        </p:nvSpPr>
        <p:spPr>
          <a:xfrm>
            <a:off x="6644488"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الكتابة الطويلة وظهرك للفصل</a:t>
            </a:r>
            <a:endParaRPr lang="ar-SA" sz="2200" dirty="0"/>
          </a:p>
        </p:txBody>
      </p:sp>
      <p:sp>
        <p:nvSpPr>
          <p:cNvPr id="7" name="anim-g1-605"/>
          <p:cNvSpPr/>
          <p:nvPr/>
        </p:nvSpPr>
        <p:spPr>
          <a:xfrm>
            <a:off x="822960" y="2194560"/>
            <a:ext cx="4952848" cy="804672"/>
          </a:xfrm>
          <a:prstGeom prst="roundRect">
            <a:avLst>
              <a:gd name="adj" fmla="val 15909"/>
            </a:avLst>
          </a:prstGeom>
          <a:solidFill>
            <a:srgbClr val="FFFFFF"/>
          </a:solidFill>
          <a:ln w="19050">
            <a:solidFill>
              <a:srgbClr val="BFD9CB"/>
            </a:solidFill>
            <a:prstDash val="dash"/>
          </a:ln>
        </p:spPr>
      </p:sp>
      <p:sp>
        <p:nvSpPr>
          <p:cNvPr id="8" name="anim-g1-606"/>
          <p:cNvSpPr/>
          <p:nvPr/>
        </p:nvSpPr>
        <p:spPr>
          <a:xfrm>
            <a:off x="822960" y="219456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9" name="anim-g2-607"/>
          <p:cNvSpPr/>
          <p:nvPr/>
        </p:nvSpPr>
        <p:spPr>
          <a:xfrm>
            <a:off x="5775808" y="219456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0" name="anim-g2-608"/>
          <p:cNvSpPr/>
          <p:nvPr/>
        </p:nvSpPr>
        <p:spPr>
          <a:xfrm>
            <a:off x="822960" y="2194560"/>
            <a:ext cx="4952848" cy="804672"/>
          </a:xfrm>
          <a:prstGeom prst="roundRect">
            <a:avLst>
              <a:gd name="adj" fmla="val 15909"/>
            </a:avLst>
          </a:prstGeom>
          <a:solidFill>
            <a:srgbClr val="E6F4EC"/>
          </a:solidFill>
          <a:ln/>
        </p:spPr>
      </p:sp>
      <p:sp>
        <p:nvSpPr>
          <p:cNvPr id="11" name="anim-g2-609"/>
          <p:cNvSpPr/>
          <p:nvPr/>
        </p:nvSpPr>
        <p:spPr>
          <a:xfrm>
            <a:off x="1051560"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اكتب جانبيًا، أو جهّز الشرح مسبقًا</a:t>
            </a:r>
            <a:endParaRPr lang="ar-SA" sz="2200" dirty="0"/>
          </a:p>
        </p:txBody>
      </p:sp>
      <p:sp>
        <p:nvSpPr>
          <p:cNvPr id="12" name="anim-g3-610"/>
          <p:cNvSpPr/>
          <p:nvPr/>
        </p:nvSpPr>
        <p:spPr>
          <a:xfrm>
            <a:off x="6415888" y="3154680"/>
            <a:ext cx="4952848" cy="804672"/>
          </a:xfrm>
          <a:prstGeom prst="roundRect">
            <a:avLst>
              <a:gd name="adj" fmla="val 15909"/>
            </a:avLst>
          </a:prstGeom>
          <a:solidFill>
            <a:srgbClr val="FBECEC"/>
          </a:solidFill>
          <a:ln/>
        </p:spPr>
      </p:sp>
      <p:sp>
        <p:nvSpPr>
          <p:cNvPr id="13" name="anim-g3-611"/>
          <p:cNvSpPr/>
          <p:nvPr/>
        </p:nvSpPr>
        <p:spPr>
          <a:xfrm>
            <a:off x="6644488"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الأسئلة الاستنكارية العلنية</a:t>
            </a:r>
            <a:endParaRPr lang="ar-SA" sz="2200" dirty="0"/>
          </a:p>
        </p:txBody>
      </p:sp>
      <p:sp>
        <p:nvSpPr>
          <p:cNvPr id="14" name="anim-g3-612"/>
          <p:cNvSpPr/>
          <p:nvPr/>
        </p:nvSpPr>
        <p:spPr>
          <a:xfrm>
            <a:off x="822960" y="3154680"/>
            <a:ext cx="4952848" cy="804672"/>
          </a:xfrm>
          <a:prstGeom prst="roundRect">
            <a:avLst>
              <a:gd name="adj" fmla="val 15909"/>
            </a:avLst>
          </a:prstGeom>
          <a:solidFill>
            <a:srgbClr val="FFFFFF"/>
          </a:solidFill>
          <a:ln w="19050">
            <a:solidFill>
              <a:srgbClr val="BFD9CB"/>
            </a:solidFill>
            <a:prstDash val="dash"/>
          </a:ln>
        </p:spPr>
      </p:sp>
      <p:sp>
        <p:nvSpPr>
          <p:cNvPr id="15" name="anim-g3-613"/>
          <p:cNvSpPr/>
          <p:nvPr/>
        </p:nvSpPr>
        <p:spPr>
          <a:xfrm>
            <a:off x="822960" y="315468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16" name="anim-g4-614"/>
          <p:cNvSpPr/>
          <p:nvPr/>
        </p:nvSpPr>
        <p:spPr>
          <a:xfrm>
            <a:off x="5775808" y="315468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7" name="anim-g4-615"/>
          <p:cNvSpPr/>
          <p:nvPr/>
        </p:nvSpPr>
        <p:spPr>
          <a:xfrm>
            <a:off x="822960" y="3154680"/>
            <a:ext cx="4952848" cy="804672"/>
          </a:xfrm>
          <a:prstGeom prst="roundRect">
            <a:avLst>
              <a:gd name="adj" fmla="val 15909"/>
            </a:avLst>
          </a:prstGeom>
          <a:solidFill>
            <a:srgbClr val="E6F4EC"/>
          </a:solidFill>
          <a:ln/>
        </p:spPr>
      </p:sp>
      <p:sp>
        <p:nvSpPr>
          <p:cNvPr id="18" name="anim-g4-616"/>
          <p:cNvSpPr/>
          <p:nvPr/>
        </p:nvSpPr>
        <p:spPr>
          <a:xfrm>
            <a:off x="1051560"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جملة طلب واضحة وقصيرة</a:t>
            </a:r>
            <a:endParaRPr lang="ar-SA" sz="2200" dirty="0"/>
          </a:p>
        </p:txBody>
      </p:sp>
      <p:sp>
        <p:nvSpPr>
          <p:cNvPr id="19" name="anim-g5-617"/>
          <p:cNvSpPr/>
          <p:nvPr/>
        </p:nvSpPr>
        <p:spPr>
          <a:xfrm>
            <a:off x="6415888" y="4114800"/>
            <a:ext cx="4952848" cy="804672"/>
          </a:xfrm>
          <a:prstGeom prst="roundRect">
            <a:avLst>
              <a:gd name="adj" fmla="val 15909"/>
            </a:avLst>
          </a:prstGeom>
          <a:solidFill>
            <a:srgbClr val="FBECEC"/>
          </a:solidFill>
          <a:ln/>
        </p:spPr>
      </p:sp>
      <p:sp>
        <p:nvSpPr>
          <p:cNvPr id="20" name="anim-g5-618"/>
          <p:cNvSpPr/>
          <p:nvPr/>
        </p:nvSpPr>
        <p:spPr>
          <a:xfrm>
            <a:off x="6644488"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الطرد إلى الممر</a:t>
            </a:r>
            <a:endParaRPr lang="ar-SA" sz="2200" dirty="0"/>
          </a:p>
        </p:txBody>
      </p:sp>
      <p:sp>
        <p:nvSpPr>
          <p:cNvPr id="21" name="anim-g5-619"/>
          <p:cNvSpPr/>
          <p:nvPr/>
        </p:nvSpPr>
        <p:spPr>
          <a:xfrm>
            <a:off x="822960" y="4114800"/>
            <a:ext cx="4952848" cy="804672"/>
          </a:xfrm>
          <a:prstGeom prst="roundRect">
            <a:avLst>
              <a:gd name="adj" fmla="val 15909"/>
            </a:avLst>
          </a:prstGeom>
          <a:solidFill>
            <a:srgbClr val="FFFFFF"/>
          </a:solidFill>
          <a:ln w="19050">
            <a:solidFill>
              <a:srgbClr val="BFD9CB"/>
            </a:solidFill>
            <a:prstDash val="dash"/>
          </a:ln>
        </p:spPr>
      </p:sp>
      <p:sp>
        <p:nvSpPr>
          <p:cNvPr id="22" name="anim-g5-620"/>
          <p:cNvSpPr/>
          <p:nvPr/>
        </p:nvSpPr>
        <p:spPr>
          <a:xfrm>
            <a:off x="822960" y="411480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23" name="anim-g6-621"/>
          <p:cNvSpPr/>
          <p:nvPr/>
        </p:nvSpPr>
        <p:spPr>
          <a:xfrm>
            <a:off x="5775808" y="411480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24" name="anim-g6-622"/>
          <p:cNvSpPr/>
          <p:nvPr/>
        </p:nvSpPr>
        <p:spPr>
          <a:xfrm>
            <a:off x="822960" y="4114800"/>
            <a:ext cx="4952848" cy="804672"/>
          </a:xfrm>
          <a:prstGeom prst="roundRect">
            <a:avLst>
              <a:gd name="adj" fmla="val 15909"/>
            </a:avLst>
          </a:prstGeom>
          <a:solidFill>
            <a:srgbClr val="E6F4EC"/>
          </a:solidFill>
          <a:ln/>
        </p:spPr>
      </p:sp>
      <p:sp>
        <p:nvSpPr>
          <p:cNvPr id="25" name="anim-g6-623"/>
          <p:cNvSpPr/>
          <p:nvPr/>
        </p:nvSpPr>
        <p:spPr>
          <a:xfrm>
            <a:off x="1051560"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إبعاد داخل الفصل، ثم حوار بعد الحصة</a:t>
            </a:r>
            <a:endParaRPr lang="ar-SA" sz="2200" dirty="0"/>
          </a:p>
        </p:txBody>
      </p:sp>
      <p:sp>
        <p:nvSpPr>
          <p:cNvPr id="26" name="anim-g7-624"/>
          <p:cNvSpPr/>
          <p:nvPr/>
        </p:nvSpPr>
        <p:spPr>
          <a:xfrm>
            <a:off x="6415888" y="5074920"/>
            <a:ext cx="4952848" cy="804672"/>
          </a:xfrm>
          <a:prstGeom prst="roundRect">
            <a:avLst>
              <a:gd name="adj" fmla="val 15909"/>
            </a:avLst>
          </a:prstGeom>
          <a:solidFill>
            <a:srgbClr val="FBECEC"/>
          </a:solidFill>
          <a:ln/>
        </p:spPr>
      </p:sp>
      <p:sp>
        <p:nvSpPr>
          <p:cNvPr id="27" name="anim-g7-625"/>
          <p:cNvSpPr/>
          <p:nvPr/>
        </p:nvSpPr>
        <p:spPr>
          <a:xfrm>
            <a:off x="6644488" y="507492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ترك موهبته بلا توجيه</a:t>
            </a:r>
            <a:endParaRPr lang="ar-SA" sz="2200" dirty="0"/>
          </a:p>
        </p:txBody>
      </p:sp>
      <p:sp>
        <p:nvSpPr>
          <p:cNvPr id="28" name="anim-g7-626"/>
          <p:cNvSpPr/>
          <p:nvPr/>
        </p:nvSpPr>
        <p:spPr>
          <a:xfrm>
            <a:off x="822960" y="5074920"/>
            <a:ext cx="4952848" cy="804672"/>
          </a:xfrm>
          <a:prstGeom prst="roundRect">
            <a:avLst>
              <a:gd name="adj" fmla="val 15909"/>
            </a:avLst>
          </a:prstGeom>
          <a:solidFill>
            <a:srgbClr val="FFFFFF"/>
          </a:solidFill>
          <a:ln w="19050">
            <a:solidFill>
              <a:srgbClr val="BFD9CB"/>
            </a:solidFill>
            <a:prstDash val="dash"/>
          </a:ln>
        </p:spPr>
      </p:sp>
      <p:sp>
        <p:nvSpPr>
          <p:cNvPr id="29" name="anim-g7-627"/>
          <p:cNvSpPr/>
          <p:nvPr/>
        </p:nvSpPr>
        <p:spPr>
          <a:xfrm>
            <a:off x="822960" y="507492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30" name="anim-g8-628"/>
          <p:cNvSpPr/>
          <p:nvPr/>
        </p:nvSpPr>
        <p:spPr>
          <a:xfrm>
            <a:off x="5775808" y="507492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31" name="anim-g8-629"/>
          <p:cNvSpPr/>
          <p:nvPr/>
        </p:nvSpPr>
        <p:spPr>
          <a:xfrm>
            <a:off x="822960" y="5074920"/>
            <a:ext cx="4952848" cy="804672"/>
          </a:xfrm>
          <a:prstGeom prst="roundRect">
            <a:avLst>
              <a:gd name="adj" fmla="val 15909"/>
            </a:avLst>
          </a:prstGeom>
          <a:solidFill>
            <a:srgbClr val="E6F4EC"/>
          </a:solidFill>
          <a:ln/>
        </p:spPr>
      </p:sp>
      <p:sp>
        <p:nvSpPr>
          <p:cNvPr id="32" name="anim-g8-630"/>
          <p:cNvSpPr/>
          <p:nvPr/>
        </p:nvSpPr>
        <p:spPr>
          <a:xfrm>
            <a:off x="1051560" y="507492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دور رسمي يستثمر حضوره</a:t>
            </a:r>
            <a:endParaRPr lang="ar-SA" sz="2200" dirty="0"/>
          </a:p>
        </p:txBody>
      </p:sp>
      <p:sp>
        <p:nvSpPr>
          <p:cNvPr id="33" name="Text 31"/>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34" name="Text 32"/>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مهرّج الفصل  ·  ٦٦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0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400"/>
                                        <p:tgtEl>
                                          <p:spTgt spid="1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400"/>
                                        <p:tgtEl>
                                          <p:spTgt spid="2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400"/>
                                        <p:tgtEl>
                                          <p:spTgt spid="2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400"/>
                                        <p:tgtEl>
                                          <p:spTgt spid="2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400"/>
                                        <p:tgtEl>
                                          <p:spTgt spid="25"/>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26"/>
                                        </p:tgtEl>
                                        <p:attrNameLst>
                                          <p:attrName>style.visibility</p:attrName>
                                        </p:attrNameLst>
                                      </p:cBhvr>
                                      <p:to>
                                        <p:strVal val="visible"/>
                                      </p:to>
                                    </p:set>
                                    <p:animEffect transition="in" filter="fade">
                                      <p:cBhvr>
                                        <p:cTn id="82" dur="400"/>
                                        <p:tgtEl>
                                          <p:spTgt spid="26"/>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7"/>
                                        </p:tgtEl>
                                        <p:attrNameLst>
                                          <p:attrName>style.visibility</p:attrName>
                                        </p:attrNameLst>
                                      </p:cBhvr>
                                      <p:to>
                                        <p:strVal val="visible"/>
                                      </p:to>
                                    </p:set>
                                    <p:animEffect transition="in" filter="fade">
                                      <p:cBhvr>
                                        <p:cTn id="85" dur="400"/>
                                        <p:tgtEl>
                                          <p:spTgt spid="27"/>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8"/>
                                        </p:tgtEl>
                                        <p:attrNameLst>
                                          <p:attrName>style.visibility</p:attrName>
                                        </p:attrNameLst>
                                      </p:cBhvr>
                                      <p:to>
                                        <p:strVal val="visible"/>
                                      </p:to>
                                    </p:set>
                                    <p:animEffect transition="in" filter="fade">
                                      <p:cBhvr>
                                        <p:cTn id="88" dur="400"/>
                                        <p:tgtEl>
                                          <p:spTgt spid="28"/>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29"/>
                                        </p:tgtEl>
                                        <p:attrNameLst>
                                          <p:attrName>style.visibility</p:attrName>
                                        </p:attrNameLst>
                                      </p:cBhvr>
                                      <p:to>
                                        <p:strVal val="visible"/>
                                      </p:to>
                                    </p:set>
                                    <p:animEffect transition="in" filter="fade">
                                      <p:cBhvr>
                                        <p:cTn id="91" dur="400"/>
                                        <p:tgtEl>
                                          <p:spTgt spid="29"/>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30"/>
                                        </p:tgtEl>
                                        <p:attrNameLst>
                                          <p:attrName>style.visibility</p:attrName>
                                        </p:attrNameLst>
                                      </p:cBhvr>
                                      <p:to>
                                        <p:strVal val="visible"/>
                                      </p:to>
                                    </p:set>
                                    <p:animEffect transition="in" filter="fade">
                                      <p:cBhvr>
                                        <p:cTn id="96" dur="400"/>
                                        <p:tgtEl>
                                          <p:spTgt spid="30"/>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1"/>
                                        </p:tgtEl>
                                        <p:attrNameLst>
                                          <p:attrName>style.visibility</p:attrName>
                                        </p:attrNameLst>
                                      </p:cBhvr>
                                      <p:to>
                                        <p:strVal val="visible"/>
                                      </p:to>
                                    </p:set>
                                    <p:animEffect transition="in" filter="fade">
                                      <p:cBhvr>
                                        <p:cTn id="99" dur="400"/>
                                        <p:tgtEl>
                                          <p:spTgt spid="31"/>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2"/>
                                        </p:tgtEl>
                                        <p:attrNameLst>
                                          <p:attrName>style.visibility</p:attrName>
                                        </p:attrNameLst>
                                      </p:cBhvr>
                                      <p:to>
                                        <p:strVal val="visible"/>
                                      </p:to>
                                    </p:set>
                                    <p:animEffect transition="in" filter="fade">
                                      <p:cBhvr>
                                        <p:cTn id="102"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name="Slide 6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5486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ماذا لو لم ينجح الحل؟</a:t>
            </a:r>
            <a:endParaRPr lang="ar-SA" sz="3800" dirty="0"/>
          </a:p>
        </p:txBody>
      </p:sp>
      <p:sp>
        <p:nvSpPr>
          <p:cNvPr id="3" name="Text 1"/>
          <p:cNvSpPr/>
          <p:nvPr/>
        </p:nvSpPr>
        <p:spPr>
          <a:xfrm>
            <a:off x="6415888"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D64545"/>
                </a:solidFill>
                <a:latin typeface="Cairo Black" pitchFamily="34" charset="0"/>
                <a:ea typeface="Cairo Black" pitchFamily="34" charset="-122"/>
                <a:cs typeface="Cairo Black" pitchFamily="34" charset="-120"/>
              </a:rPr>
              <a:t>❌ الخطأ الشائع</a:t>
            </a:r>
            <a:endParaRPr lang="ar-SA" sz="2100" dirty="0"/>
          </a:p>
        </p:txBody>
      </p:sp>
      <p:sp>
        <p:nvSpPr>
          <p:cNvPr id="4" name="Text 2"/>
          <p:cNvSpPr/>
          <p:nvPr/>
        </p:nvSpPr>
        <p:spPr>
          <a:xfrm>
            <a:off x="822960"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2E9E6B"/>
                </a:solidFill>
                <a:latin typeface="Cairo Black" pitchFamily="34" charset="0"/>
                <a:ea typeface="Cairo Black" pitchFamily="34" charset="-122"/>
                <a:cs typeface="Cairo Black" pitchFamily="34" charset="-120"/>
              </a:rPr>
              <a:t>✅ البديل</a:t>
            </a:r>
            <a:endParaRPr lang="ar-SA" sz="2100" dirty="0"/>
          </a:p>
        </p:txBody>
      </p:sp>
      <p:sp>
        <p:nvSpPr>
          <p:cNvPr id="5" name="anim-g1-631"/>
          <p:cNvSpPr/>
          <p:nvPr/>
        </p:nvSpPr>
        <p:spPr>
          <a:xfrm>
            <a:off x="6415888" y="2194560"/>
            <a:ext cx="4952848" cy="804672"/>
          </a:xfrm>
          <a:prstGeom prst="roundRect">
            <a:avLst>
              <a:gd name="adj" fmla="val 15909"/>
            </a:avLst>
          </a:prstGeom>
          <a:solidFill>
            <a:srgbClr val="FBECEC"/>
          </a:solidFill>
          <a:ln/>
        </p:spPr>
      </p:sp>
      <p:sp>
        <p:nvSpPr>
          <p:cNvPr id="6" name="anim-g1-632"/>
          <p:cNvSpPr/>
          <p:nvPr/>
        </p:nvSpPr>
        <p:spPr>
          <a:xfrm>
            <a:off x="6644488"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وقفت بجانبه فواصل التعليقات</a:t>
            </a:r>
            <a:endParaRPr lang="ar-SA" sz="2200" dirty="0"/>
          </a:p>
        </p:txBody>
      </p:sp>
      <p:sp>
        <p:nvSpPr>
          <p:cNvPr id="7" name="anim-g1-633"/>
          <p:cNvSpPr/>
          <p:nvPr/>
        </p:nvSpPr>
        <p:spPr>
          <a:xfrm>
            <a:off x="822960" y="2194560"/>
            <a:ext cx="4952848" cy="804672"/>
          </a:xfrm>
          <a:prstGeom prst="roundRect">
            <a:avLst>
              <a:gd name="adj" fmla="val 15909"/>
            </a:avLst>
          </a:prstGeom>
          <a:solidFill>
            <a:srgbClr val="FFFFFF"/>
          </a:solidFill>
          <a:ln w="19050">
            <a:solidFill>
              <a:srgbClr val="BFD9CB"/>
            </a:solidFill>
            <a:prstDash val="dash"/>
          </a:ln>
        </p:spPr>
      </p:sp>
      <p:sp>
        <p:nvSpPr>
          <p:cNvPr id="8" name="anim-g1-634"/>
          <p:cNvSpPr/>
          <p:nvPr/>
        </p:nvSpPr>
        <p:spPr>
          <a:xfrm>
            <a:off x="822960" y="219456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9" name="anim-g2-635"/>
          <p:cNvSpPr/>
          <p:nvPr/>
        </p:nvSpPr>
        <p:spPr>
          <a:xfrm>
            <a:off x="5775808" y="219456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0" name="anim-g2-636"/>
          <p:cNvSpPr/>
          <p:nvPr/>
        </p:nvSpPr>
        <p:spPr>
          <a:xfrm>
            <a:off x="822960" y="2194560"/>
            <a:ext cx="4952848" cy="804672"/>
          </a:xfrm>
          <a:prstGeom prst="roundRect">
            <a:avLst>
              <a:gd name="adj" fmla="val 15909"/>
            </a:avLst>
          </a:prstGeom>
          <a:solidFill>
            <a:srgbClr val="E6F4EC"/>
          </a:solidFill>
          <a:ln/>
        </p:spPr>
      </p:sp>
      <p:sp>
        <p:nvSpPr>
          <p:cNvPr id="11" name="anim-g2-637"/>
          <p:cNvSpPr/>
          <p:nvPr/>
        </p:nvSpPr>
        <p:spPr>
          <a:xfrm>
            <a:off x="1051560"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أشركه مباشرة: «فهد، اقرأ لنا السؤال الأول» فتحوّل انتباهه إلى دور</a:t>
            </a:r>
            <a:endParaRPr lang="ar-SA" sz="2200" dirty="0"/>
          </a:p>
        </p:txBody>
      </p:sp>
      <p:sp>
        <p:nvSpPr>
          <p:cNvPr id="12" name="anim-g3-638"/>
          <p:cNvSpPr/>
          <p:nvPr/>
        </p:nvSpPr>
        <p:spPr>
          <a:xfrm>
            <a:off x="6415888" y="3154680"/>
            <a:ext cx="4952848" cy="804672"/>
          </a:xfrm>
          <a:prstGeom prst="roundRect">
            <a:avLst>
              <a:gd name="adj" fmla="val 15909"/>
            </a:avLst>
          </a:prstGeom>
          <a:solidFill>
            <a:srgbClr val="FBECEC"/>
          </a:solidFill>
          <a:ln/>
        </p:spPr>
      </p:sp>
      <p:sp>
        <p:nvSpPr>
          <p:cNvPr id="13" name="anim-g3-639"/>
          <p:cNvSpPr/>
          <p:nvPr/>
        </p:nvSpPr>
        <p:spPr>
          <a:xfrm>
            <a:off x="6644488"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ردّ بوقاحة في الحوار الخاص</a:t>
            </a:r>
            <a:endParaRPr lang="ar-SA" sz="2200" dirty="0"/>
          </a:p>
        </p:txBody>
      </p:sp>
      <p:sp>
        <p:nvSpPr>
          <p:cNvPr id="14" name="anim-g3-640"/>
          <p:cNvSpPr/>
          <p:nvPr/>
        </p:nvSpPr>
        <p:spPr>
          <a:xfrm>
            <a:off x="822960" y="3154680"/>
            <a:ext cx="4952848" cy="804672"/>
          </a:xfrm>
          <a:prstGeom prst="roundRect">
            <a:avLst>
              <a:gd name="adj" fmla="val 15909"/>
            </a:avLst>
          </a:prstGeom>
          <a:solidFill>
            <a:srgbClr val="FFFFFF"/>
          </a:solidFill>
          <a:ln w="19050">
            <a:solidFill>
              <a:srgbClr val="BFD9CB"/>
            </a:solidFill>
            <a:prstDash val="dash"/>
          </a:ln>
        </p:spPr>
      </p:sp>
      <p:sp>
        <p:nvSpPr>
          <p:cNvPr id="15" name="anim-g3-641"/>
          <p:cNvSpPr/>
          <p:nvPr/>
        </p:nvSpPr>
        <p:spPr>
          <a:xfrm>
            <a:off x="822960" y="315468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16" name="anim-g4-642"/>
          <p:cNvSpPr/>
          <p:nvPr/>
        </p:nvSpPr>
        <p:spPr>
          <a:xfrm>
            <a:off x="5775808" y="315468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7" name="anim-g4-643"/>
          <p:cNvSpPr/>
          <p:nvPr/>
        </p:nvSpPr>
        <p:spPr>
          <a:xfrm>
            <a:off x="822960" y="3154680"/>
            <a:ext cx="4952848" cy="804672"/>
          </a:xfrm>
          <a:prstGeom prst="roundRect">
            <a:avLst>
              <a:gd name="adj" fmla="val 15909"/>
            </a:avLst>
          </a:prstGeom>
          <a:solidFill>
            <a:srgbClr val="E6F4EC"/>
          </a:solidFill>
          <a:ln/>
        </p:spPr>
      </p:sp>
      <p:sp>
        <p:nvSpPr>
          <p:cNvPr id="18" name="anim-g4-644"/>
          <p:cNvSpPr/>
          <p:nvPr/>
        </p:nvSpPr>
        <p:spPr>
          <a:xfrm>
            <a:off x="1051560"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أنهِ الحوار بهدوء: «سنكمل غدًا»، وأشرك المرشد الطلابي</a:t>
            </a:r>
            <a:endParaRPr lang="ar-SA" sz="2200" dirty="0"/>
          </a:p>
        </p:txBody>
      </p:sp>
      <p:sp>
        <p:nvSpPr>
          <p:cNvPr id="19" name="anim-g5-645"/>
          <p:cNvSpPr/>
          <p:nvPr/>
        </p:nvSpPr>
        <p:spPr>
          <a:xfrm>
            <a:off x="6415888" y="4114800"/>
            <a:ext cx="4952848" cy="804672"/>
          </a:xfrm>
          <a:prstGeom prst="roundRect">
            <a:avLst>
              <a:gd name="adj" fmla="val 15909"/>
            </a:avLst>
          </a:prstGeom>
          <a:solidFill>
            <a:srgbClr val="FBECEC"/>
          </a:solidFill>
          <a:ln/>
        </p:spPr>
      </p:sp>
      <p:sp>
        <p:nvSpPr>
          <p:cNvPr id="20" name="anim-g5-646"/>
          <p:cNvSpPr/>
          <p:nvPr/>
        </p:nvSpPr>
        <p:spPr>
          <a:xfrm>
            <a:off x="6644488"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عاد إلى التهريج بعد يومين</a:t>
            </a:r>
            <a:endParaRPr lang="ar-SA" sz="2200" dirty="0"/>
          </a:p>
        </p:txBody>
      </p:sp>
      <p:sp>
        <p:nvSpPr>
          <p:cNvPr id="21" name="anim-g5-647"/>
          <p:cNvSpPr/>
          <p:nvPr/>
        </p:nvSpPr>
        <p:spPr>
          <a:xfrm>
            <a:off x="822960" y="4114800"/>
            <a:ext cx="4952848" cy="804672"/>
          </a:xfrm>
          <a:prstGeom prst="roundRect">
            <a:avLst>
              <a:gd name="adj" fmla="val 15909"/>
            </a:avLst>
          </a:prstGeom>
          <a:solidFill>
            <a:srgbClr val="FFFFFF"/>
          </a:solidFill>
          <a:ln w="19050">
            <a:solidFill>
              <a:srgbClr val="BFD9CB"/>
            </a:solidFill>
            <a:prstDash val="dash"/>
          </a:ln>
        </p:spPr>
      </p:sp>
      <p:sp>
        <p:nvSpPr>
          <p:cNvPr id="22" name="anim-g5-648"/>
          <p:cNvSpPr/>
          <p:nvPr/>
        </p:nvSpPr>
        <p:spPr>
          <a:xfrm>
            <a:off x="822960" y="411480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23" name="anim-g6-649"/>
          <p:cNvSpPr/>
          <p:nvPr/>
        </p:nvSpPr>
        <p:spPr>
          <a:xfrm>
            <a:off x="5775808" y="411480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24" name="anim-g6-650"/>
          <p:cNvSpPr/>
          <p:nvPr/>
        </p:nvSpPr>
        <p:spPr>
          <a:xfrm>
            <a:off x="822960" y="4114800"/>
            <a:ext cx="4952848" cy="804672"/>
          </a:xfrm>
          <a:prstGeom prst="roundRect">
            <a:avLst>
              <a:gd name="adj" fmla="val 15909"/>
            </a:avLst>
          </a:prstGeom>
          <a:solidFill>
            <a:srgbClr val="E6F4EC"/>
          </a:solidFill>
          <a:ln/>
        </p:spPr>
      </p:sp>
      <p:sp>
        <p:nvSpPr>
          <p:cNvPr id="25" name="anim-g6-651"/>
          <p:cNvSpPr/>
          <p:nvPr/>
        </p:nvSpPr>
        <p:spPr>
          <a:xfrm>
            <a:off x="1051560"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ثبّت دوره الرسمي في الفصل، وامدحه علنًا عند أول التزام</a:t>
            </a:r>
            <a:endParaRPr lang="ar-SA" sz="2200" dirty="0"/>
          </a:p>
        </p:txBody>
      </p:sp>
      <p:sp>
        <p:nvSpPr>
          <p:cNvPr id="26" name="Text 24"/>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7" name="Text 25"/>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مهرّج الفصل  ·  ٦٧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0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400"/>
                                        <p:tgtEl>
                                          <p:spTgt spid="1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400"/>
                                        <p:tgtEl>
                                          <p:spTgt spid="2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400"/>
                                        <p:tgtEl>
                                          <p:spTgt spid="2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400"/>
                                        <p:tgtEl>
                                          <p:spTgt spid="2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name="Slide 6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الموقف</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المهرّج يحتاج جمهورًا…</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فاجعل الجمهور معك لا معه</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موقف: مهرّج الفصل  ·  ٦٨</a:t>
            </a:r>
            <a:endParaRPr lang="ar-SA" sz="12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kb-652" descr="/Users/mac/Desktop/أردوينو/المشاريع والكتب/younes-training/mawaqif/assets/scenes/permissive.jpg">    </p:cNvPr>
          <p:cNvPicPr>
            <a:picLocks noChangeAspect="1"/>
          </p:cNvPicPr>
          <p:nvPr/>
        </p:nvPicPr>
        <p:blipFill>
          <a:blip r:embed="rId2"/>
          <a:stretch>
            <a:fillRect/>
          </a:stretch>
        </p:blipFill>
        <p:spPr>
          <a:xfrm>
            <a:off x="0" y="0"/>
            <a:ext cx="12191695" cy="6858000"/>
          </a:xfrm>
          <a:prstGeom prst="rect">
            <a:avLst/>
          </a:prstGeom>
        </p:spPr>
      </p:pic>
      <p:pic>
        <p:nvPicPr>
          <p:cNvPr id="3" name="Image 1" descr="/Users/mac/Desktop/أردوينو/المشاريع والكتب/younes-training/shared/assets/mcover-overlay.png">    </p:cNvPr>
          <p:cNvPicPr>
            <a:picLocks noChangeAspect="1"/>
          </p:cNvPicPr>
          <p:nvPr/>
        </p:nvPicPr>
        <p:blipFill>
          <a:blip r:embed="rId3"/>
          <a:stretch>
            <a:fillRect/>
          </a:stretch>
        </p:blipFill>
        <p:spPr>
          <a:xfrm>
            <a:off x="0" y="0"/>
            <a:ext cx="12191695" cy="6858000"/>
          </a:xfrm>
          <a:prstGeom prst="rect">
            <a:avLst/>
          </a:prstGeom>
        </p:spPr>
      </p:pic>
      <p:sp>
        <p:nvSpPr>
          <p:cNvPr id="4" name="Text 0"/>
          <p:cNvSpPr/>
          <p:nvPr/>
        </p:nvSpPr>
        <p:spPr>
          <a:xfrm>
            <a:off x="5669280" y="1737360"/>
            <a:ext cx="5699455" cy="502920"/>
          </a:xfrm>
          <a:prstGeom prst="rect">
            <a:avLst/>
          </a:prstGeom>
          <a:noFill/>
          <a:ln/>
        </p:spPr>
        <p:txBody>
          <a:bodyPr wrap="square" lIns="0" tIns="0" rIns="0" bIns="0" rtlCol="0" anchor="ctr">
            <a:normAutofit/>
          </a:bodyPr>
          <a:lstStyle/>
          <a:p>
            <a:pPr rtl="1" algn="r" indent="0" marL="0">
              <a:buNone/>
            </a:pPr>
            <a:r>
              <a:rPr lang="ar-SA" altLang="en-US" sz="2200" b="1" dirty="0">
                <a:solidFill>
                  <a:srgbClr val="D9AE4B"/>
                </a:solidFill>
                <a:latin typeface="Cairo" pitchFamily="34" charset="0"/>
                <a:ea typeface="Cairo" pitchFamily="34" charset="-122"/>
                <a:cs typeface="Cairo" pitchFamily="34" charset="-120"/>
              </a:rPr>
              <a:t>أنماط القيادة</a:t>
            </a:r>
            <a:endParaRPr lang="ar-SA" sz="2200" dirty="0"/>
          </a:p>
        </p:txBody>
      </p:sp>
      <p:sp>
        <p:nvSpPr>
          <p:cNvPr id="5" name="Text 1"/>
          <p:cNvSpPr/>
          <p:nvPr/>
        </p:nvSpPr>
        <p:spPr>
          <a:xfrm>
            <a:off x="5669280" y="2286000"/>
            <a:ext cx="5699455" cy="548640"/>
          </a:xfrm>
          <a:prstGeom prst="rect">
            <a:avLst/>
          </a:prstGeom>
          <a:noFill/>
          <a:ln/>
        </p:spPr>
        <p:txBody>
          <a:bodyPr wrap="square" lIns="0" tIns="0" rIns="0" bIns="0" rtlCol="0" anchor="ctr">
            <a:normAutofit/>
          </a:bodyPr>
          <a:lstStyle/>
          <a:p>
            <a:pPr rtl="1" algn="r" indent="0" marL="0">
              <a:buNone/>
            </a:pPr>
            <a:r>
              <a:rPr lang="ar-SA" altLang="en-US" sz="2600" b="1" dirty="0">
                <a:solidFill>
                  <a:srgbClr val="C9CFE6"/>
                </a:solidFill>
                <a:latin typeface="Cairo" pitchFamily="34" charset="0"/>
                <a:ea typeface="Cairo" pitchFamily="34" charset="-122"/>
                <a:cs typeface="Cairo" pitchFamily="34" charset="-120"/>
              </a:rPr>
              <a:t>الموقف ٣</a:t>
            </a:r>
            <a:endParaRPr lang="ar-SA" sz="2600" dirty="0"/>
          </a:p>
        </p:txBody>
      </p:sp>
      <p:sp>
        <p:nvSpPr>
          <p:cNvPr id="6" name="Text 2"/>
          <p:cNvSpPr/>
          <p:nvPr/>
        </p:nvSpPr>
        <p:spPr>
          <a:xfrm>
            <a:off x="4572000" y="2834640"/>
            <a:ext cx="6796735" cy="1188720"/>
          </a:xfrm>
          <a:prstGeom prst="rect">
            <a:avLst/>
          </a:prstGeom>
          <a:noFill/>
          <a:ln/>
        </p:spPr>
        <p:txBody>
          <a:bodyPr wrap="square" lIns="0" tIns="0" rIns="0" bIns="0" rtlCol="0" anchor="ctr">
            <a:normAutofit/>
          </a:bodyPr>
          <a:lstStyle/>
          <a:p>
            <a:pPr rtl="1" algn="r" indent="0" marL="0">
              <a:buNone/>
            </a:pPr>
            <a:r>
              <a:rPr lang="ar-SA" altLang="en-US" sz="6000" dirty="0">
                <a:solidFill>
                  <a:srgbClr val="FFFFFF"/>
                </a:solidFill>
                <a:latin typeface="Cairo Black" pitchFamily="34" charset="0"/>
                <a:ea typeface="Cairo Black" pitchFamily="34" charset="-122"/>
                <a:cs typeface="Cairo Black" pitchFamily="34" charset="-120"/>
              </a:rPr>
              <a:t>الحرية الكاملة</a:t>
            </a:r>
            <a:endParaRPr lang="ar-SA" sz="6000" dirty="0"/>
          </a:p>
        </p:txBody>
      </p:sp>
      <p:sp>
        <p:nvSpPr>
          <p:cNvPr id="7" name="Shape 3"/>
          <p:cNvSpPr/>
          <p:nvPr/>
        </p:nvSpPr>
        <p:spPr>
          <a:xfrm>
            <a:off x="10125151" y="4480560"/>
            <a:ext cx="1243584"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8" name="Text 4"/>
          <p:cNvSpPr/>
          <p:nvPr/>
        </p:nvSpPr>
        <p:spPr>
          <a:xfrm>
            <a:off x="10125151" y="4480560"/>
            <a:ext cx="1243584"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القصة</a:t>
            </a:r>
            <a:endParaRPr lang="ar-SA" sz="1500" dirty="0"/>
          </a:p>
        </p:txBody>
      </p:sp>
      <p:sp>
        <p:nvSpPr>
          <p:cNvPr id="9" name="Shape 5"/>
          <p:cNvSpPr/>
          <p:nvPr/>
        </p:nvSpPr>
        <p:spPr>
          <a:xfrm>
            <a:off x="8680399" y="4480560"/>
            <a:ext cx="1353312"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0" name="Text 6"/>
          <p:cNvSpPr/>
          <p:nvPr/>
        </p:nvSpPr>
        <p:spPr>
          <a:xfrm>
            <a:off x="8680399" y="4480560"/>
            <a:ext cx="1353312"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تصويت</a:t>
            </a:r>
            <a:endParaRPr lang="ar-SA" sz="1500" dirty="0"/>
          </a:p>
        </p:txBody>
      </p:sp>
      <p:sp>
        <p:nvSpPr>
          <p:cNvPr id="11" name="Shape 7"/>
          <p:cNvSpPr/>
          <p:nvPr/>
        </p:nvSpPr>
        <p:spPr>
          <a:xfrm>
            <a:off x="7235647" y="4480560"/>
            <a:ext cx="1353312"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2" name="Text 8"/>
          <p:cNvSpPr/>
          <p:nvPr/>
        </p:nvSpPr>
        <p:spPr>
          <a:xfrm>
            <a:off x="7235647" y="4480560"/>
            <a:ext cx="1353312"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لماذا؟</a:t>
            </a:r>
            <a:endParaRPr lang="ar-SA" sz="1500" dirty="0"/>
          </a:p>
        </p:txBody>
      </p:sp>
      <p:sp>
        <p:nvSpPr>
          <p:cNvPr id="13" name="Shape 9"/>
          <p:cNvSpPr/>
          <p:nvPr/>
        </p:nvSpPr>
        <p:spPr>
          <a:xfrm>
            <a:off x="5571439" y="4480560"/>
            <a:ext cx="1572768"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4" name="Text 10"/>
          <p:cNvSpPr/>
          <p:nvPr/>
        </p:nvSpPr>
        <p:spPr>
          <a:xfrm>
            <a:off x="5571439" y="4480560"/>
            <a:ext cx="1572768"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أول خطوة</a:t>
            </a:r>
            <a:endParaRPr lang="ar-SA" sz="1500" dirty="0"/>
          </a:p>
        </p:txBody>
      </p:sp>
      <p:sp>
        <p:nvSpPr>
          <p:cNvPr id="15" name="Shape 11"/>
          <p:cNvSpPr/>
          <p:nvPr/>
        </p:nvSpPr>
        <p:spPr>
          <a:xfrm>
            <a:off x="3687775" y="4480560"/>
            <a:ext cx="1792224"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6" name="Text 12"/>
          <p:cNvSpPr/>
          <p:nvPr/>
        </p:nvSpPr>
        <p:spPr>
          <a:xfrm>
            <a:off x="3687775" y="4480560"/>
            <a:ext cx="1792224"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ماذا تقول؟</a:t>
            </a:r>
            <a:endParaRPr lang="ar-SA" sz="1500" dirty="0"/>
          </a:p>
        </p:txBody>
      </p:sp>
      <p:sp>
        <p:nvSpPr>
          <p:cNvPr id="17" name="Text 1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18" name="Text 1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موقف: الحرية الكاملة  ·  ٦٩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16000" fill="hold"/>
                                        <p:tgtEl>
                                          <p:spTgt spid="2"/>
                                        </p:tgtEl>
                                      </p:cBhvr>
                                      <p:by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name="Slide 7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kb-653" descr="/Users/mac/Desktop/أردوينو/المشاريع والكتب/younes-training/mawaqif/assets/scenes/permissive.jpg">    </p:cNvPr>
          <p:cNvPicPr>
            <a:picLocks noChangeAspect="1"/>
          </p:cNvPicPr>
          <p:nvPr/>
        </p:nvPicPr>
        <p:blipFill>
          <a:blip r:embed="rId2"/>
          <a:stretch>
            <a:fillRect/>
          </a:stretch>
        </p:blipFill>
        <p:spPr>
          <a:xfrm>
            <a:off x="0" y="0"/>
            <a:ext cx="12191695" cy="6858000"/>
          </a:xfrm>
          <a:prstGeom prst="rect">
            <a:avLst/>
          </a:prstGeom>
        </p:spPr>
      </p:pic>
      <p:pic>
        <p:nvPicPr>
          <p:cNvPr id="3" name="Image 1" descr="/Users/mac/Desktop/أردوينو/المشاريع والكتب/younes-training/shared/assets/story-overlay.png">    </p:cNvPr>
          <p:cNvPicPr>
            <a:picLocks noChangeAspect="1"/>
          </p:cNvPicPr>
          <p:nvPr/>
        </p:nvPicPr>
        <p:blipFill>
          <a:blip r:embed="rId3"/>
          <a:stretch>
            <a:fillRect/>
          </a:stretch>
        </p:blipFill>
        <p:spPr>
          <a:xfrm>
            <a:off x="0" y="0"/>
            <a:ext cx="12191695" cy="6858000"/>
          </a:xfrm>
          <a:prstGeom prst="rect">
            <a:avLst/>
          </a:prstGeom>
        </p:spPr>
      </p:pic>
      <p:sp>
        <p:nvSpPr>
          <p:cNvPr id="4" name="Shape 0"/>
          <p:cNvSpPr/>
          <p:nvPr/>
        </p:nvSpPr>
        <p:spPr>
          <a:xfrm>
            <a:off x="7985455" y="365760"/>
            <a:ext cx="3657600" cy="502920"/>
          </a:xfrm>
          <a:prstGeom prst="roundRect">
            <a:avLst>
              <a:gd name="adj" fmla="val 49091"/>
            </a:avLst>
          </a:prstGeom>
          <a:solidFill>
            <a:srgbClr val="0A1230">
              <a:alpha val="80000"/>
            </a:srgbClr>
          </a:solidFill>
          <a:ln w="12700">
            <a:solidFill>
              <a:srgbClr val="D9AE4B">
                <a:alpha val="60000"/>
              </a:srgbClr>
            </a:solidFill>
            <a:prstDash val="solid"/>
          </a:ln>
        </p:spPr>
      </p:sp>
      <p:sp>
        <p:nvSpPr>
          <p:cNvPr id="5" name="Text 1"/>
          <p:cNvSpPr/>
          <p:nvPr/>
        </p:nvSpPr>
        <p:spPr>
          <a:xfrm>
            <a:off x="7985455" y="365760"/>
            <a:ext cx="3657600" cy="50292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 القصة · ماذا حدث؟</a:t>
            </a:r>
            <a:endParaRPr lang="ar-SA" sz="1800" dirty="0"/>
          </a:p>
        </p:txBody>
      </p:sp>
      <p:sp>
        <p:nvSpPr>
          <p:cNvPr id="6" name="Shape 2"/>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7" name="Text 3"/>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أ. فواز مرجع زملائه العلمي، وصحته لا تحتمل الانفعال، وحكمته الدائمة: «يا بخت من بات مغلوبًا ولا بات غالبًا».</a:t>
            </a:r>
            <a:endParaRPr lang="ar-SA" sz="2400" dirty="0"/>
          </a:p>
        </p:txBody>
      </p:sp>
      <p:sp>
        <p:nvSpPr>
          <p:cNvPr id="8" name="anim-g1-654"/>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9" name="anim-g1-655"/>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يقول عن طلاب الأول الثانوي: «جيل غير مسؤول. أنا موجود إن أرادوا التعلم، وإن أرادوا اللعب فهم أحرار».</a:t>
            </a:r>
            <a:endParaRPr lang="ar-SA" sz="2400" dirty="0"/>
          </a:p>
        </p:txBody>
      </p:sp>
      <p:sp>
        <p:nvSpPr>
          <p:cNvPr id="10" name="anim-g2-656"/>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11" name="anim-g2-657"/>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قال له المدير: «لكنك مسؤول عن تربيتهم». فردّ: «أربّي من هو أطول مني؟ أين أهاليهم؟».</a:t>
            </a:r>
            <a:endParaRPr lang="ar-SA" sz="2400" dirty="0"/>
          </a:p>
        </p:txBody>
      </p:sp>
      <p:sp>
        <p:nvSpPr>
          <p:cNvPr id="12" name="anim-g3-658"/>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13" name="anim-g3-659"/>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600" b="1" dirty="0">
                <a:solidFill>
                  <a:srgbClr val="F0CC7A"/>
                </a:solidFill>
                <a:latin typeface="Cairo" pitchFamily="34" charset="0"/>
                <a:ea typeface="Cairo" pitchFamily="34" charset="-122"/>
                <a:cs typeface="Cairo" pitchFamily="34" charset="-120"/>
              </a:rPr>
              <a:t>فقال المدير: «إنهم معنا سبع ساعات يوميًا… أكثر مما يقضونه مع أهاليهم».</a:t>
            </a:r>
            <a:endParaRPr lang="ar-SA" sz="2600" dirty="0"/>
          </a:p>
        </p:txBody>
      </p:sp>
      <p:sp>
        <p:nvSpPr>
          <p:cNvPr id="14" name="Text 1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15" name="Text 1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موقف: الحرية الكاملة  ·  ٧٠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16000" fill="hold"/>
                                        <p:tgtEl>
                                          <p:spTgt spid="2"/>
                                        </p:tgtEl>
                                      </p:cBhvr>
                                      <p:by x="112000" y="112000"/>
                                    </p:animScale>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name="Slide 7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296351" y="457200"/>
            <a:ext cx="3072384" cy="457200"/>
          </a:xfrm>
          <a:prstGeom prst="roundRect">
            <a:avLst>
              <a:gd name="adj" fmla="val 50000"/>
            </a:avLst>
          </a:prstGeom>
          <a:solidFill>
            <a:srgbClr val="F6EBCF"/>
          </a:solidFill>
          <a:ln/>
        </p:spPr>
      </p:sp>
      <p:sp>
        <p:nvSpPr>
          <p:cNvPr id="3" name="Text 1"/>
          <p:cNvSpPr/>
          <p:nvPr/>
        </p:nvSpPr>
        <p:spPr>
          <a:xfrm>
            <a:off x="8296351" y="457200"/>
            <a:ext cx="307238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صوّت قبل أن نكشف</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مع من تتفق؟</a:t>
            </a:r>
            <a:endParaRPr lang="ar-SA" sz="38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مع أ. فواز: الطالب الكبير مسؤول عن نفسه</a:t>
            </a:r>
            <a:endParaRPr lang="ar-SA" sz="2500" dirty="0"/>
          </a:p>
        </p:txBody>
      </p:sp>
      <p:sp>
        <p:nvSpPr>
          <p:cNvPr id="9" name="anim-g1-660"/>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661"/>
          <p:cNvSpPr/>
          <p:nvPr/>
        </p:nvSpPr>
        <p:spPr>
          <a:xfrm>
            <a:off x="10231831" y="2194560"/>
            <a:ext cx="954024" cy="954024"/>
          </a:xfrm>
          <a:prstGeom prst="roundRect">
            <a:avLst>
              <a:gd name="adj" fmla="val 11502"/>
            </a:avLst>
          </a:prstGeom>
          <a:solidFill>
            <a:srgbClr val="A3A9BA"/>
          </a:solidFill>
          <a:ln/>
        </p:spPr>
      </p:sp>
      <p:sp>
        <p:nvSpPr>
          <p:cNvPr id="11" name="anim-g1-662"/>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663"/>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مع أ. فواز: الطالب الكبير مسؤول عن نفسه</a:t>
            </a:r>
            <a:endParaRPr lang="ar-SA" sz="2400" dirty="0"/>
          </a:p>
        </p:txBody>
      </p:sp>
      <p:sp>
        <p:nvSpPr>
          <p:cNvPr id="13" name="anim-g1-664"/>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الحرية بلا حدود في هذا العمر تتحول إلى فوضى</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مع المدير: التربية جزء من عمل المعلم مهما كان عمر الطالب</a:t>
            </a:r>
            <a:endParaRPr lang="ar-SA" sz="2500" dirty="0"/>
          </a:p>
        </p:txBody>
      </p:sp>
      <p:sp>
        <p:nvSpPr>
          <p:cNvPr id="18" name="anim-g1-665"/>
          <p:cNvSpPr/>
          <p:nvPr/>
        </p:nvSpPr>
        <p:spPr>
          <a:xfrm>
            <a:off x="822960" y="3432048"/>
            <a:ext cx="10545775" cy="1228344"/>
          </a:xfrm>
          <a:prstGeom prst="roundRect">
            <a:avLst>
              <a:gd name="adj" fmla="val 11911"/>
            </a:avLst>
          </a:prstGeom>
          <a:solidFill>
            <a:srgbClr val="E6F4EC"/>
          </a:solidFill>
          <a:ln w="31750">
            <a:solidFill>
              <a:srgbClr val="2E9E6B"/>
            </a:solidFill>
            <a:prstDash val="solid"/>
          </a:ln>
        </p:spPr>
      </p:sp>
      <p:sp>
        <p:nvSpPr>
          <p:cNvPr id="19" name="anim-g1-666"/>
          <p:cNvSpPr/>
          <p:nvPr/>
        </p:nvSpPr>
        <p:spPr>
          <a:xfrm>
            <a:off x="10231831" y="3569208"/>
            <a:ext cx="954024" cy="954024"/>
          </a:xfrm>
          <a:prstGeom prst="roundRect">
            <a:avLst>
              <a:gd name="adj" fmla="val 11502"/>
            </a:avLst>
          </a:prstGeom>
          <a:solidFill>
            <a:srgbClr val="2E9E6B"/>
          </a:solidFill>
          <a:ln/>
        </p:spPr>
      </p:sp>
      <p:sp>
        <p:nvSpPr>
          <p:cNvPr id="20" name="anim-g1-667"/>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21" name="anim-g1-668"/>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مع المدير: التربية جزء من عمل المعلم مهما كان عمر الطالب</a:t>
            </a:r>
            <a:endParaRPr lang="ar-SA" sz="2400" dirty="0"/>
          </a:p>
        </p:txBody>
      </p:sp>
      <p:sp>
        <p:nvSpPr>
          <p:cNvPr id="22" name="anim-g1-669"/>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المراهق يحتاج حدودًا واضحة ليتعلم المسؤولية</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الحل أن يشدّد أ. فواز العقوبات</a:t>
            </a:r>
            <a:endParaRPr lang="ar-SA" sz="2500" dirty="0"/>
          </a:p>
        </p:txBody>
      </p:sp>
      <p:sp>
        <p:nvSpPr>
          <p:cNvPr id="27" name="anim-g1-670"/>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671"/>
          <p:cNvSpPr/>
          <p:nvPr/>
        </p:nvSpPr>
        <p:spPr>
          <a:xfrm>
            <a:off x="10231831" y="4943856"/>
            <a:ext cx="954024" cy="954024"/>
          </a:xfrm>
          <a:prstGeom prst="roundRect">
            <a:avLst>
              <a:gd name="adj" fmla="val 11502"/>
            </a:avLst>
          </a:prstGeom>
          <a:solidFill>
            <a:srgbClr val="A3A9BA"/>
          </a:solidFill>
          <a:ln/>
        </p:spPr>
      </p:sp>
      <p:sp>
        <p:nvSpPr>
          <p:cNvPr id="29" name="anim-g1-672"/>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673"/>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الحل أن يشدّد أ. فواز العقوبات</a:t>
            </a:r>
            <a:endParaRPr lang="ar-SA" sz="2400" dirty="0"/>
          </a:p>
        </p:txBody>
      </p:sp>
      <p:sp>
        <p:nvSpPr>
          <p:cNvPr id="31" name="anim-g1-674"/>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الانتقال من التسيّب إلى التسلّط يستبدل مشكلة بأخرى</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الحرية الكاملة  ·  ٧١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name="Slide 7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003743" y="457200"/>
            <a:ext cx="3364992" cy="457200"/>
          </a:xfrm>
          <a:prstGeom prst="roundRect">
            <a:avLst>
              <a:gd name="adj" fmla="val 50000"/>
            </a:avLst>
          </a:prstGeom>
          <a:solidFill>
            <a:srgbClr val="F6EBCF"/>
          </a:solidFill>
          <a:ln/>
        </p:spPr>
      </p:sp>
      <p:sp>
        <p:nvSpPr>
          <p:cNvPr id="3" name="Text 1"/>
          <p:cNvSpPr/>
          <p:nvPr/>
        </p:nvSpPr>
        <p:spPr>
          <a:xfrm>
            <a:off x="8003743" y="457200"/>
            <a:ext cx="336499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وراء كل نمط قصة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لماذا يتسيّب المعلم؟</a:t>
            </a:r>
            <a:endParaRPr lang="ar-SA" sz="3800" dirty="0"/>
          </a:p>
        </p:txBody>
      </p:sp>
      <p:sp>
        <p:nvSpPr>
          <p:cNvPr id="5" name="anim-g1-675"/>
          <p:cNvSpPr/>
          <p:nvPr/>
        </p:nvSpPr>
        <p:spPr>
          <a:xfrm>
            <a:off x="8903741" y="2011680"/>
            <a:ext cx="2464994" cy="2514600"/>
          </a:xfrm>
          <a:prstGeom prst="roundRect">
            <a:avLst>
              <a:gd name="adj" fmla="val 6677"/>
            </a:avLst>
          </a:prstGeom>
          <a:solidFill>
            <a:srgbClr val="FFFFFF"/>
          </a:solidFill>
          <a:ln w="12700">
            <a:solidFill>
              <a:srgbClr val="E4DCC8"/>
            </a:solidFill>
            <a:prstDash val="solid"/>
          </a:ln>
        </p:spPr>
      </p:sp>
      <p:sp>
        <p:nvSpPr>
          <p:cNvPr id="6" name="anim-g1-676"/>
          <p:cNvSpPr/>
          <p:nvPr/>
        </p:nvSpPr>
        <p:spPr>
          <a:xfrm>
            <a:off x="9816198" y="2194560"/>
            <a:ext cx="640080" cy="640080"/>
          </a:xfrm>
          <a:prstGeom prst="roundRect">
            <a:avLst>
              <a:gd name="adj" fmla="val 25714"/>
            </a:avLst>
          </a:prstGeom>
          <a:solidFill>
            <a:srgbClr val="F7E6BC"/>
          </a:solidFill>
          <a:ln/>
        </p:spPr>
      </p:sp>
      <p:sp>
        <p:nvSpPr>
          <p:cNvPr id="7" name="anim-g1-677"/>
          <p:cNvSpPr/>
          <p:nvPr/>
        </p:nvSpPr>
        <p:spPr>
          <a:xfrm>
            <a:off x="9816198"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8" name="anim-g1-678"/>
          <p:cNvSpPr/>
          <p:nvPr/>
        </p:nvSpPr>
        <p:spPr>
          <a:xfrm>
            <a:off x="9040901"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إرهاق</a:t>
            </a:r>
            <a:endParaRPr lang="ar-SA" sz="2200" dirty="0"/>
          </a:p>
        </p:txBody>
      </p:sp>
      <p:sp>
        <p:nvSpPr>
          <p:cNvPr id="9" name="anim-g1-679"/>
          <p:cNvSpPr/>
          <p:nvPr/>
        </p:nvSpPr>
        <p:spPr>
          <a:xfrm>
            <a:off x="9040901"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يتجنب المواجهة ليحمي صحته</a:t>
            </a:r>
            <a:endParaRPr lang="ar-SA" sz="1900" dirty="0"/>
          </a:p>
        </p:txBody>
      </p:sp>
      <p:sp>
        <p:nvSpPr>
          <p:cNvPr id="10" name="anim-g2-680"/>
          <p:cNvSpPr/>
          <p:nvPr/>
        </p:nvSpPr>
        <p:spPr>
          <a:xfrm>
            <a:off x="6210148" y="2011680"/>
            <a:ext cx="2464994" cy="2514600"/>
          </a:xfrm>
          <a:prstGeom prst="roundRect">
            <a:avLst>
              <a:gd name="adj" fmla="val 6677"/>
            </a:avLst>
          </a:prstGeom>
          <a:solidFill>
            <a:srgbClr val="FFFFFF"/>
          </a:solidFill>
          <a:ln w="12700">
            <a:solidFill>
              <a:srgbClr val="E4DCC8"/>
            </a:solidFill>
            <a:prstDash val="solid"/>
          </a:ln>
        </p:spPr>
      </p:sp>
      <p:sp>
        <p:nvSpPr>
          <p:cNvPr id="11" name="anim-g2-681"/>
          <p:cNvSpPr/>
          <p:nvPr/>
        </p:nvSpPr>
        <p:spPr>
          <a:xfrm>
            <a:off x="7122604" y="2194560"/>
            <a:ext cx="640080" cy="640080"/>
          </a:xfrm>
          <a:prstGeom prst="roundRect">
            <a:avLst>
              <a:gd name="adj" fmla="val 25714"/>
            </a:avLst>
          </a:prstGeom>
          <a:solidFill>
            <a:srgbClr val="F7E6BC"/>
          </a:solidFill>
          <a:ln/>
        </p:spPr>
      </p:sp>
      <p:sp>
        <p:nvSpPr>
          <p:cNvPr id="12" name="anim-g2-682"/>
          <p:cNvSpPr/>
          <p:nvPr/>
        </p:nvSpPr>
        <p:spPr>
          <a:xfrm>
            <a:off x="7122604"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13" name="anim-g2-683"/>
          <p:cNvSpPr/>
          <p:nvPr/>
        </p:nvSpPr>
        <p:spPr>
          <a:xfrm>
            <a:off x="6347308"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سوء فهم</a:t>
            </a:r>
            <a:endParaRPr lang="ar-SA" sz="2200" dirty="0"/>
          </a:p>
        </p:txBody>
      </p:sp>
      <p:sp>
        <p:nvSpPr>
          <p:cNvPr id="14" name="anim-g2-684"/>
          <p:cNvSpPr/>
          <p:nvPr/>
        </p:nvSpPr>
        <p:spPr>
          <a:xfrm>
            <a:off x="6347308"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يظن أن الحرية تعني غياب القواعد</a:t>
            </a:r>
            <a:endParaRPr lang="ar-SA" sz="1900" dirty="0"/>
          </a:p>
        </p:txBody>
      </p:sp>
      <p:sp>
        <p:nvSpPr>
          <p:cNvPr id="15" name="anim-g3-685"/>
          <p:cNvSpPr/>
          <p:nvPr/>
        </p:nvSpPr>
        <p:spPr>
          <a:xfrm>
            <a:off x="3516554" y="2011680"/>
            <a:ext cx="2464994" cy="2514600"/>
          </a:xfrm>
          <a:prstGeom prst="roundRect">
            <a:avLst>
              <a:gd name="adj" fmla="val 6677"/>
            </a:avLst>
          </a:prstGeom>
          <a:solidFill>
            <a:srgbClr val="FFFFFF"/>
          </a:solidFill>
          <a:ln w="12700">
            <a:solidFill>
              <a:srgbClr val="E4DCC8"/>
            </a:solidFill>
            <a:prstDash val="solid"/>
          </a:ln>
        </p:spPr>
      </p:sp>
      <p:sp>
        <p:nvSpPr>
          <p:cNvPr id="16" name="anim-g3-686"/>
          <p:cNvSpPr/>
          <p:nvPr/>
        </p:nvSpPr>
        <p:spPr>
          <a:xfrm>
            <a:off x="4429011" y="2194560"/>
            <a:ext cx="640080" cy="640080"/>
          </a:xfrm>
          <a:prstGeom prst="roundRect">
            <a:avLst>
              <a:gd name="adj" fmla="val 25714"/>
            </a:avLst>
          </a:prstGeom>
          <a:solidFill>
            <a:srgbClr val="F7E6BC"/>
          </a:solidFill>
          <a:ln/>
        </p:spPr>
      </p:sp>
      <p:sp>
        <p:nvSpPr>
          <p:cNvPr id="17" name="anim-g3-687"/>
          <p:cNvSpPr/>
          <p:nvPr/>
        </p:nvSpPr>
        <p:spPr>
          <a:xfrm>
            <a:off x="4429011"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18" name="anim-g3-688"/>
          <p:cNvSpPr/>
          <p:nvPr/>
        </p:nvSpPr>
        <p:spPr>
          <a:xfrm>
            <a:off x="3653714"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إحباط</a:t>
            </a:r>
            <a:endParaRPr lang="ar-SA" sz="2200" dirty="0"/>
          </a:p>
        </p:txBody>
      </p:sp>
      <p:sp>
        <p:nvSpPr>
          <p:cNvPr id="19" name="anim-g3-689"/>
          <p:cNvSpPr/>
          <p:nvPr/>
        </p:nvSpPr>
        <p:spPr>
          <a:xfrm>
            <a:off x="3653714"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جرّب ولم ينجح، فاستسلم</a:t>
            </a:r>
            <a:endParaRPr lang="ar-SA" sz="1900" dirty="0"/>
          </a:p>
        </p:txBody>
      </p:sp>
      <p:sp>
        <p:nvSpPr>
          <p:cNvPr id="20" name="anim-g4-690"/>
          <p:cNvSpPr/>
          <p:nvPr/>
        </p:nvSpPr>
        <p:spPr>
          <a:xfrm>
            <a:off x="822960" y="2011680"/>
            <a:ext cx="2464994" cy="2514600"/>
          </a:xfrm>
          <a:prstGeom prst="roundRect">
            <a:avLst>
              <a:gd name="adj" fmla="val 6677"/>
            </a:avLst>
          </a:prstGeom>
          <a:solidFill>
            <a:srgbClr val="FFFFFF"/>
          </a:solidFill>
          <a:ln w="12700">
            <a:solidFill>
              <a:srgbClr val="E4DCC8"/>
            </a:solidFill>
            <a:prstDash val="solid"/>
          </a:ln>
        </p:spPr>
      </p:sp>
      <p:sp>
        <p:nvSpPr>
          <p:cNvPr id="21" name="anim-g4-691"/>
          <p:cNvSpPr/>
          <p:nvPr/>
        </p:nvSpPr>
        <p:spPr>
          <a:xfrm>
            <a:off x="1735417" y="2194560"/>
            <a:ext cx="640080" cy="640080"/>
          </a:xfrm>
          <a:prstGeom prst="roundRect">
            <a:avLst>
              <a:gd name="adj" fmla="val 25714"/>
            </a:avLst>
          </a:prstGeom>
          <a:solidFill>
            <a:srgbClr val="F7E6BC"/>
          </a:solidFill>
          <a:ln/>
        </p:spPr>
      </p:sp>
      <p:sp>
        <p:nvSpPr>
          <p:cNvPr id="22" name="anim-g4-692"/>
          <p:cNvSpPr/>
          <p:nvPr/>
        </p:nvSpPr>
        <p:spPr>
          <a:xfrm>
            <a:off x="1735417"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23" name="anim-g4-693"/>
          <p:cNvSpPr/>
          <p:nvPr/>
        </p:nvSpPr>
        <p:spPr>
          <a:xfrm>
            <a:off x="960120"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المادة فقط</a:t>
            </a:r>
            <a:endParaRPr lang="ar-SA" sz="2200" dirty="0"/>
          </a:p>
        </p:txBody>
      </p:sp>
      <p:sp>
        <p:nvSpPr>
          <p:cNvPr id="24" name="anim-g4-694"/>
          <p:cNvSpPr/>
          <p:nvPr/>
        </p:nvSpPr>
        <p:spPr>
          <a:xfrm>
            <a:off x="960120"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يرى دوره نقل العلم لا غير</a:t>
            </a:r>
            <a:endParaRPr lang="ar-SA" sz="1900" dirty="0"/>
          </a:p>
        </p:txBody>
      </p:sp>
      <p:sp>
        <p:nvSpPr>
          <p:cNvPr id="25" name="anim-g5-695"/>
          <p:cNvSpPr/>
          <p:nvPr/>
        </p:nvSpPr>
        <p:spPr>
          <a:xfrm>
            <a:off x="822960" y="4754880"/>
            <a:ext cx="10545775" cy="1051560"/>
          </a:xfrm>
          <a:prstGeom prst="roundRect">
            <a:avLst>
              <a:gd name="adj" fmla="val 17391"/>
            </a:avLst>
          </a:prstGeom>
          <a:solidFill>
            <a:srgbClr val="101B45"/>
          </a:solidFill>
          <a:ln/>
        </p:spPr>
      </p:sp>
      <p:sp>
        <p:nvSpPr>
          <p:cNvPr id="26" name="anim-g5-696"/>
          <p:cNvSpPr/>
          <p:nvPr/>
        </p:nvSpPr>
        <p:spPr>
          <a:xfrm>
            <a:off x="1097280" y="4754880"/>
            <a:ext cx="9997135" cy="1051560"/>
          </a:xfrm>
          <a:prstGeom prst="rect">
            <a:avLst/>
          </a:prstGeom>
          <a:noFill/>
          <a:ln/>
        </p:spPr>
        <p:txBody>
          <a:bodyPr wrap="square" lIns="0" tIns="0" rIns="0" bIns="0" rtlCol="0" anchor="ctr">
            <a:normAutofit/>
          </a:bodyPr>
          <a:lstStyle/>
          <a:p>
            <a:pPr algn="ctr" indent="0" marL="0">
              <a:buNone/>
            </a:pPr>
            <a:r>
              <a:rPr lang="ar-SA" altLang="en-US" sz="2200" b="1" dirty="0">
                <a:solidFill>
                  <a:srgbClr val="FFFFFF"/>
                </a:solidFill>
                <a:latin typeface="Cairo" pitchFamily="34" charset="0"/>
                <a:ea typeface="Cairo" pitchFamily="34" charset="-122"/>
                <a:cs typeface="Cairo" pitchFamily="34" charset="-120"/>
              </a:rPr>
              <a:t>💡 الحرية الحقيقية تُتعلَّم…</a:t>
            </a:r>
            <a:endParaRPr lang="ar-SA" sz="2200" dirty="0"/>
          </a:p>
          <a:p>
            <a:pPr algn="ctr" indent="0" marL="0">
              <a:buNone/>
            </a:pPr>
            <a:r>
              <a:rPr lang="ar-SA" altLang="en-US" sz="2200" b="1" dirty="0">
                <a:solidFill>
                  <a:srgbClr val="F0CC7A"/>
                </a:solidFill>
                <a:latin typeface="Cairo" pitchFamily="34" charset="0"/>
                <a:ea typeface="Cairo" pitchFamily="34" charset="-122"/>
                <a:cs typeface="Cairo" pitchFamily="34" charset="-120"/>
              </a:rPr>
              <a:t> داخل حدود واضحة</a:t>
            </a:r>
            <a:endParaRPr lang="ar-SA" sz="2200" dirty="0"/>
          </a:p>
        </p:txBody>
      </p:sp>
      <p:sp>
        <p:nvSpPr>
          <p:cNvPr id="27" name="Text 2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8" name="Text 2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الحرية الكاملة  ·  ٧٢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40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name="Slide 7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150047" y="457200"/>
            <a:ext cx="3218688" cy="457200"/>
          </a:xfrm>
          <a:prstGeom prst="roundRect">
            <a:avLst>
              <a:gd name="adj" fmla="val 50000"/>
            </a:avLst>
          </a:prstGeom>
          <a:solidFill>
            <a:srgbClr val="F6EBCF"/>
          </a:solidFill>
          <a:ln/>
        </p:spPr>
      </p:sp>
      <p:sp>
        <p:nvSpPr>
          <p:cNvPr id="3" name="Text 1"/>
          <p:cNvSpPr/>
          <p:nvPr/>
        </p:nvSpPr>
        <p:spPr>
          <a:xfrm>
            <a:off x="8150047" y="457200"/>
            <a:ext cx="321868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خطة أسبوع واحد</a:t>
            </a:r>
            <a:endParaRPr lang="ar-SA" sz="1800" dirty="0"/>
          </a:p>
        </p:txBody>
      </p:sp>
      <p:sp>
        <p:nvSpPr>
          <p:cNvPr id="4" name="Shape 2"/>
          <p:cNvSpPr/>
          <p:nvPr/>
        </p:nvSpPr>
        <p:spPr>
          <a:xfrm>
            <a:off x="822960" y="457200"/>
            <a:ext cx="1380744" cy="457200"/>
          </a:xfrm>
          <a:prstGeom prst="roundRect">
            <a:avLst>
              <a:gd name="adj" fmla="val 50000"/>
            </a:avLst>
          </a:prstGeom>
          <a:solidFill>
            <a:srgbClr val="FBECEC"/>
          </a:solidFill>
          <a:ln/>
        </p:spPr>
      </p:sp>
      <p:sp>
        <p:nvSpPr>
          <p:cNvPr id="5" name="Text 3"/>
          <p:cNvSpPr/>
          <p:nvPr/>
        </p:nvSpPr>
        <p:spPr>
          <a:xfrm>
            <a:off x="822960" y="457200"/>
            <a:ext cx="1380744"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D64545"/>
                </a:solidFill>
                <a:latin typeface="Cairo" pitchFamily="34" charset="0"/>
                <a:ea typeface="Cairo" pitchFamily="34" charset="-122"/>
                <a:cs typeface="Cairo" pitchFamily="34" charset="-120"/>
              </a:rPr>
              <a:t>⏱ أسبوع</a:t>
            </a:r>
            <a:endParaRPr lang="ar-SA" sz="1600" dirty="0"/>
          </a:p>
        </p:txBody>
      </p:sp>
      <p:sp>
        <p:nvSpPr>
          <p:cNvPr id="6" name="Text 4"/>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كيف يبدأ أ. فواز من جديد؟</a:t>
            </a:r>
            <a:endParaRPr lang="ar-SA" sz="3800" dirty="0"/>
          </a:p>
        </p:txBody>
      </p:sp>
      <p:sp>
        <p:nvSpPr>
          <p:cNvPr id="7" name="anim-g1-697"/>
          <p:cNvSpPr/>
          <p:nvPr/>
        </p:nvSpPr>
        <p:spPr>
          <a:xfrm>
            <a:off x="8903741" y="2148840"/>
            <a:ext cx="2464994" cy="3383280"/>
          </a:xfrm>
          <a:prstGeom prst="roundRect">
            <a:avLst>
              <a:gd name="adj" fmla="val 6677"/>
            </a:avLst>
          </a:prstGeom>
          <a:solidFill>
            <a:srgbClr val="FFFFFF"/>
          </a:solidFill>
          <a:ln w="12700">
            <a:solidFill>
              <a:srgbClr val="E4DCC8"/>
            </a:solidFill>
            <a:prstDash val="solid"/>
          </a:ln>
        </p:spPr>
      </p:sp>
      <p:sp>
        <p:nvSpPr>
          <p:cNvPr id="8" name="anim-g1-698"/>
          <p:cNvSpPr/>
          <p:nvPr/>
        </p:nvSpPr>
        <p:spPr>
          <a:xfrm>
            <a:off x="9747618" y="2423160"/>
            <a:ext cx="777240" cy="777240"/>
          </a:xfrm>
          <a:prstGeom prst="ellipse">
            <a:avLst/>
          </a:prstGeom>
          <a:solidFill>
            <a:srgbClr val="D9AE4B"/>
          </a:solidFill>
          <a:ln/>
        </p:spPr>
      </p:sp>
      <p:sp>
        <p:nvSpPr>
          <p:cNvPr id="9" name="anim-g1-699"/>
          <p:cNvSpPr/>
          <p:nvPr/>
        </p:nvSpPr>
        <p:spPr>
          <a:xfrm>
            <a:off x="9747618"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١</a:t>
            </a:r>
            <a:endParaRPr lang="ar-SA" sz="2800" dirty="0"/>
          </a:p>
        </p:txBody>
      </p:sp>
      <p:sp>
        <p:nvSpPr>
          <p:cNvPr id="10" name="anim-g1-700"/>
          <p:cNvSpPr/>
          <p:nvPr/>
        </p:nvSpPr>
        <p:spPr>
          <a:xfrm>
            <a:off x="9040901"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قواعد قليلة</a:t>
            </a:r>
            <a:endParaRPr lang="ar-SA" sz="2500" dirty="0"/>
          </a:p>
        </p:txBody>
      </p:sp>
      <p:sp>
        <p:nvSpPr>
          <p:cNvPr id="11" name="anim-g1-701"/>
          <p:cNvSpPr/>
          <p:nvPr/>
        </p:nvSpPr>
        <p:spPr>
          <a:xfrm>
            <a:off x="9086621"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ثلاث قواعد يصوغها مع طلابه</a:t>
            </a:r>
            <a:endParaRPr lang="ar-SA" sz="2000" dirty="0"/>
          </a:p>
        </p:txBody>
      </p:sp>
      <p:sp>
        <p:nvSpPr>
          <p:cNvPr id="12" name="anim-g2-702"/>
          <p:cNvSpPr/>
          <p:nvPr/>
        </p:nvSpPr>
        <p:spPr>
          <a:xfrm>
            <a:off x="6210148" y="2148840"/>
            <a:ext cx="2464994" cy="3383280"/>
          </a:xfrm>
          <a:prstGeom prst="roundRect">
            <a:avLst>
              <a:gd name="adj" fmla="val 6677"/>
            </a:avLst>
          </a:prstGeom>
          <a:solidFill>
            <a:srgbClr val="FFFFFF"/>
          </a:solidFill>
          <a:ln w="12700">
            <a:solidFill>
              <a:srgbClr val="E4DCC8"/>
            </a:solidFill>
            <a:prstDash val="solid"/>
          </a:ln>
        </p:spPr>
      </p:sp>
      <p:sp>
        <p:nvSpPr>
          <p:cNvPr id="13" name="anim-g2-703"/>
          <p:cNvSpPr/>
          <p:nvPr/>
        </p:nvSpPr>
        <p:spPr>
          <a:xfrm>
            <a:off x="7054024" y="2423160"/>
            <a:ext cx="777240" cy="777240"/>
          </a:xfrm>
          <a:prstGeom prst="ellipse">
            <a:avLst/>
          </a:prstGeom>
          <a:solidFill>
            <a:srgbClr val="D9AE4B"/>
          </a:solidFill>
          <a:ln/>
        </p:spPr>
      </p:sp>
      <p:sp>
        <p:nvSpPr>
          <p:cNvPr id="14" name="anim-g2-704"/>
          <p:cNvSpPr/>
          <p:nvPr/>
        </p:nvSpPr>
        <p:spPr>
          <a:xfrm>
            <a:off x="7054024"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٢</a:t>
            </a:r>
            <a:endParaRPr lang="ar-SA" sz="2800" dirty="0"/>
          </a:p>
        </p:txBody>
      </p:sp>
      <p:sp>
        <p:nvSpPr>
          <p:cNvPr id="15" name="anim-g2-705"/>
          <p:cNvSpPr/>
          <p:nvPr/>
        </p:nvSpPr>
        <p:spPr>
          <a:xfrm>
            <a:off x="6347308"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بداية ثابتة</a:t>
            </a:r>
            <a:endParaRPr lang="ar-SA" sz="2500" dirty="0"/>
          </a:p>
        </p:txBody>
      </p:sp>
      <p:sp>
        <p:nvSpPr>
          <p:cNvPr id="16" name="anim-g2-706"/>
          <p:cNvSpPr/>
          <p:nvPr/>
        </p:nvSpPr>
        <p:spPr>
          <a:xfrm>
            <a:off x="6393028"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روتين أول خمس دقائق كل حصة</a:t>
            </a:r>
            <a:endParaRPr lang="ar-SA" sz="2000" dirty="0"/>
          </a:p>
        </p:txBody>
      </p:sp>
      <p:sp>
        <p:nvSpPr>
          <p:cNvPr id="17" name="anim-g3-707"/>
          <p:cNvSpPr/>
          <p:nvPr/>
        </p:nvSpPr>
        <p:spPr>
          <a:xfrm>
            <a:off x="3516554" y="2148840"/>
            <a:ext cx="2464994" cy="3383280"/>
          </a:xfrm>
          <a:prstGeom prst="roundRect">
            <a:avLst>
              <a:gd name="adj" fmla="val 6677"/>
            </a:avLst>
          </a:prstGeom>
          <a:solidFill>
            <a:srgbClr val="FFFFFF"/>
          </a:solidFill>
          <a:ln w="12700">
            <a:solidFill>
              <a:srgbClr val="E4DCC8"/>
            </a:solidFill>
            <a:prstDash val="solid"/>
          </a:ln>
        </p:spPr>
      </p:sp>
      <p:sp>
        <p:nvSpPr>
          <p:cNvPr id="18" name="anim-g3-708"/>
          <p:cNvSpPr/>
          <p:nvPr/>
        </p:nvSpPr>
        <p:spPr>
          <a:xfrm>
            <a:off x="4360431" y="2423160"/>
            <a:ext cx="777240" cy="777240"/>
          </a:xfrm>
          <a:prstGeom prst="ellipse">
            <a:avLst/>
          </a:prstGeom>
          <a:solidFill>
            <a:srgbClr val="D9AE4B"/>
          </a:solidFill>
          <a:ln/>
        </p:spPr>
      </p:sp>
      <p:sp>
        <p:nvSpPr>
          <p:cNvPr id="19" name="anim-g3-709"/>
          <p:cNvSpPr/>
          <p:nvPr/>
        </p:nvSpPr>
        <p:spPr>
          <a:xfrm>
            <a:off x="4360431"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٣</a:t>
            </a:r>
            <a:endParaRPr lang="ar-SA" sz="2800" dirty="0"/>
          </a:p>
        </p:txBody>
      </p:sp>
      <p:sp>
        <p:nvSpPr>
          <p:cNvPr id="20" name="anim-g3-710"/>
          <p:cNvSpPr/>
          <p:nvPr/>
        </p:nvSpPr>
        <p:spPr>
          <a:xfrm>
            <a:off x="3653714"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مسؤوليات</a:t>
            </a:r>
            <a:endParaRPr lang="ar-SA" sz="2500" dirty="0"/>
          </a:p>
        </p:txBody>
      </p:sp>
      <p:sp>
        <p:nvSpPr>
          <p:cNvPr id="21" name="anim-g3-711"/>
          <p:cNvSpPr/>
          <p:nvPr/>
        </p:nvSpPr>
        <p:spPr>
          <a:xfrm>
            <a:off x="3699434"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أدوار للطلاب في إدارة الحصة</a:t>
            </a:r>
            <a:endParaRPr lang="ar-SA" sz="2000" dirty="0"/>
          </a:p>
        </p:txBody>
      </p:sp>
      <p:sp>
        <p:nvSpPr>
          <p:cNvPr id="22" name="anim-g4-712"/>
          <p:cNvSpPr/>
          <p:nvPr/>
        </p:nvSpPr>
        <p:spPr>
          <a:xfrm>
            <a:off x="822960" y="2148840"/>
            <a:ext cx="2464994" cy="3383280"/>
          </a:xfrm>
          <a:prstGeom prst="roundRect">
            <a:avLst>
              <a:gd name="adj" fmla="val 6677"/>
            </a:avLst>
          </a:prstGeom>
          <a:solidFill>
            <a:srgbClr val="FFFFFF"/>
          </a:solidFill>
          <a:ln w="12700">
            <a:solidFill>
              <a:srgbClr val="E4DCC8"/>
            </a:solidFill>
            <a:prstDash val="solid"/>
          </a:ln>
        </p:spPr>
      </p:sp>
      <p:sp>
        <p:nvSpPr>
          <p:cNvPr id="23" name="anim-g4-713"/>
          <p:cNvSpPr/>
          <p:nvPr/>
        </p:nvSpPr>
        <p:spPr>
          <a:xfrm>
            <a:off x="1666837" y="2423160"/>
            <a:ext cx="777240" cy="777240"/>
          </a:xfrm>
          <a:prstGeom prst="ellipse">
            <a:avLst/>
          </a:prstGeom>
          <a:solidFill>
            <a:srgbClr val="D9AE4B"/>
          </a:solidFill>
          <a:ln/>
        </p:spPr>
      </p:sp>
      <p:sp>
        <p:nvSpPr>
          <p:cNvPr id="24" name="anim-g4-714"/>
          <p:cNvSpPr/>
          <p:nvPr/>
        </p:nvSpPr>
        <p:spPr>
          <a:xfrm>
            <a:off x="1666837"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٤</a:t>
            </a:r>
            <a:endParaRPr lang="ar-SA" sz="2800" dirty="0"/>
          </a:p>
        </p:txBody>
      </p:sp>
      <p:sp>
        <p:nvSpPr>
          <p:cNvPr id="25" name="anim-g4-715"/>
          <p:cNvSpPr/>
          <p:nvPr/>
        </p:nvSpPr>
        <p:spPr>
          <a:xfrm>
            <a:off x="960120"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متابعة هادئة</a:t>
            </a:r>
            <a:endParaRPr lang="ar-SA" sz="2500" dirty="0"/>
          </a:p>
        </p:txBody>
      </p:sp>
      <p:sp>
        <p:nvSpPr>
          <p:cNvPr id="26" name="anim-g4-716"/>
          <p:cNvSpPr/>
          <p:nvPr/>
        </p:nvSpPr>
        <p:spPr>
          <a:xfrm>
            <a:off x="1005840"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يطبّق القواعد دون انفعال</a:t>
            </a:r>
            <a:endParaRPr lang="ar-SA" sz="2000" dirty="0"/>
          </a:p>
        </p:txBody>
      </p:sp>
      <p:sp>
        <p:nvSpPr>
          <p:cNvPr id="27" name="Text 2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8" name="Text 2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الحرية الكاملة  ·  ٧٣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400"/>
                                        <p:tgtEl>
                                          <p:spTgt spid="1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40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4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400"/>
                                        <p:tgtEl>
                                          <p:spTgt spid="1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400"/>
                                        <p:tgtEl>
                                          <p:spTgt spid="2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400"/>
                                        <p:tgtEl>
                                          <p:spTgt spid="21"/>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400"/>
                                        <p:tgtEl>
                                          <p:spTgt spid="2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400"/>
                                        <p:tgtEl>
                                          <p:spTgt spid="2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400"/>
                                        <p:tgtEl>
                                          <p:spTgt spid="2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400"/>
                                        <p:tgtEl>
                                          <p:spTgt spid="2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name="Slide 7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588959" y="457200"/>
            <a:ext cx="2779776" cy="457200"/>
          </a:xfrm>
          <a:prstGeom prst="roundRect">
            <a:avLst>
              <a:gd name="adj" fmla="val 50000"/>
            </a:avLst>
          </a:prstGeom>
          <a:solidFill>
            <a:srgbClr val="F6EBCF"/>
          </a:solidFill>
          <a:ln/>
        </p:spPr>
      </p:sp>
      <p:sp>
        <p:nvSpPr>
          <p:cNvPr id="3" name="Text 1"/>
          <p:cNvSpPr/>
          <p:nvPr/>
        </p:nvSpPr>
        <p:spPr>
          <a:xfrm>
            <a:off x="8588959" y="457200"/>
            <a:ext cx="277977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الجُمل الجاهزة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ماذا تقول بالحرف؟</a:t>
            </a:r>
            <a:endParaRPr lang="ar-SA" sz="3800" dirty="0"/>
          </a:p>
        </p:txBody>
      </p:sp>
      <p:sp>
        <p:nvSpPr>
          <p:cNvPr id="5" name="anim-g1-717"/>
          <p:cNvSpPr/>
          <p:nvPr/>
        </p:nvSpPr>
        <p:spPr>
          <a:xfrm>
            <a:off x="9768535" y="2130552"/>
            <a:ext cx="1600200" cy="1018032"/>
          </a:xfrm>
          <a:prstGeom prst="roundRect">
            <a:avLst>
              <a:gd name="adj" fmla="val 13473"/>
            </a:avLst>
          </a:prstGeom>
          <a:solidFill>
            <a:srgbClr val="E9EDF9"/>
          </a:solidFill>
          <a:ln/>
        </p:spPr>
      </p:sp>
      <p:sp>
        <p:nvSpPr>
          <p:cNvPr id="6" name="anim-g1-718"/>
          <p:cNvSpPr/>
          <p:nvPr/>
        </p:nvSpPr>
        <p:spPr>
          <a:xfrm>
            <a:off x="9814255" y="2130552"/>
            <a:ext cx="1508760" cy="101803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مع طلابه</a:t>
            </a:r>
            <a:endParaRPr lang="ar-SA" sz="1800" dirty="0"/>
          </a:p>
        </p:txBody>
      </p:sp>
      <p:sp>
        <p:nvSpPr>
          <p:cNvPr id="7" name="anim-g1-719"/>
          <p:cNvSpPr/>
          <p:nvPr/>
        </p:nvSpPr>
        <p:spPr>
          <a:xfrm>
            <a:off x="822960" y="2057400"/>
            <a:ext cx="8716975" cy="1164336"/>
          </a:xfrm>
          <a:prstGeom prst="roundRect">
            <a:avLst>
              <a:gd name="adj" fmla="val 17277"/>
            </a:avLst>
          </a:prstGeom>
          <a:solidFill>
            <a:srgbClr val="101B45"/>
          </a:solidFill>
          <a:ln/>
        </p:spPr>
      </p:sp>
      <p:sp>
        <p:nvSpPr>
          <p:cNvPr id="8" name="anim-g1-720"/>
          <p:cNvSpPr/>
          <p:nvPr/>
        </p:nvSpPr>
        <p:spPr>
          <a:xfrm>
            <a:off x="1097280" y="2057400"/>
            <a:ext cx="8168335" cy="1164336"/>
          </a:xfrm>
          <a:prstGeom prst="rect">
            <a:avLst/>
          </a:prstGeom>
          <a:noFill/>
          <a:ln/>
        </p:spPr>
        <p:txBody>
          <a:bodyPr wrap="square" lIns="0" tIns="0" rIns="0" bIns="0" rtlCol="0" anchor="ctr">
            <a:normAutofit/>
          </a:bodyPr>
          <a:lstStyle/>
          <a:p>
            <a:pPr algn="r" indent="0" marL="0">
              <a:buNone/>
            </a:pPr>
            <a:r>
              <a:rPr lang="ar-SA" altLang="en-US" sz="2200" b="1" dirty="0">
                <a:solidFill>
                  <a:srgbClr val="D9AE4B"/>
                </a:solidFill>
                <a:latin typeface="Cairo" pitchFamily="34" charset="0"/>
                <a:ea typeface="Cairo" pitchFamily="34" charset="-122"/>
                <a:cs typeface="Cairo" pitchFamily="34" charset="-120"/>
              </a:rPr>
              <a:t>« </a:t>
            </a:r>
            <a:pPr algn="r" indent="0" marL="0">
              <a:buNone/>
            </a:pPr>
            <a:r>
              <a:rPr lang="ar-SA" altLang="en-US" sz="2200" b="1" dirty="0">
                <a:solidFill>
                  <a:srgbClr val="FFFFFF"/>
                </a:solidFill>
                <a:latin typeface="Cairo" pitchFamily="34" charset="0"/>
                <a:ea typeface="Cairo" pitchFamily="34" charset="-122"/>
                <a:cs typeface="Cairo" pitchFamily="34" charset="-120"/>
              </a:rPr>
              <a:t>أنتم كبار، ولهذا سأعاملكم كمسؤولين: نضع القواعد معًا، ونلتزم بها معًا</a:t>
            </a:r>
            <a:pPr algn="r" indent="0" marL="0">
              <a:buNone/>
            </a:pPr>
            <a:r>
              <a:rPr lang="ar-SA" altLang="en-US" sz="2200" b="1" dirty="0">
                <a:solidFill>
                  <a:srgbClr val="D9AE4B"/>
                </a:solidFill>
                <a:latin typeface="Cairo" pitchFamily="34" charset="0"/>
                <a:ea typeface="Cairo" pitchFamily="34" charset="-122"/>
                <a:cs typeface="Cairo" pitchFamily="34" charset="-120"/>
              </a:rPr>
              <a:t> »</a:t>
            </a:r>
            <a:endParaRPr lang="ar-SA" sz="2200" dirty="0"/>
          </a:p>
        </p:txBody>
      </p:sp>
      <p:sp>
        <p:nvSpPr>
          <p:cNvPr id="9" name="anim-g2-721"/>
          <p:cNvSpPr/>
          <p:nvPr/>
        </p:nvSpPr>
        <p:spPr>
          <a:xfrm>
            <a:off x="9768535" y="3441192"/>
            <a:ext cx="1600200" cy="1018032"/>
          </a:xfrm>
          <a:prstGeom prst="roundRect">
            <a:avLst>
              <a:gd name="adj" fmla="val 13473"/>
            </a:avLst>
          </a:prstGeom>
          <a:solidFill>
            <a:srgbClr val="E9EDF9"/>
          </a:solidFill>
          <a:ln/>
        </p:spPr>
      </p:sp>
      <p:sp>
        <p:nvSpPr>
          <p:cNvPr id="10" name="anim-g2-722"/>
          <p:cNvSpPr/>
          <p:nvPr/>
        </p:nvSpPr>
        <p:spPr>
          <a:xfrm>
            <a:off x="9814255" y="3441192"/>
            <a:ext cx="1508760" cy="101803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عند المخالفة</a:t>
            </a:r>
            <a:endParaRPr lang="ar-SA" sz="1800" dirty="0"/>
          </a:p>
        </p:txBody>
      </p:sp>
      <p:sp>
        <p:nvSpPr>
          <p:cNvPr id="11" name="anim-g2-723"/>
          <p:cNvSpPr/>
          <p:nvPr/>
        </p:nvSpPr>
        <p:spPr>
          <a:xfrm>
            <a:off x="822960" y="3368040"/>
            <a:ext cx="8716975" cy="1164336"/>
          </a:xfrm>
          <a:prstGeom prst="roundRect">
            <a:avLst>
              <a:gd name="adj" fmla="val 17277"/>
            </a:avLst>
          </a:prstGeom>
          <a:solidFill>
            <a:srgbClr val="101B45"/>
          </a:solidFill>
          <a:ln/>
        </p:spPr>
      </p:sp>
      <p:sp>
        <p:nvSpPr>
          <p:cNvPr id="12" name="anim-g2-724"/>
          <p:cNvSpPr/>
          <p:nvPr/>
        </p:nvSpPr>
        <p:spPr>
          <a:xfrm>
            <a:off x="1097280" y="3368040"/>
            <a:ext cx="8168335" cy="1164336"/>
          </a:xfrm>
          <a:prstGeom prst="rect">
            <a:avLst/>
          </a:prstGeom>
          <a:noFill/>
          <a:ln/>
        </p:spPr>
        <p:txBody>
          <a:bodyPr wrap="square" lIns="0" tIns="0" rIns="0" bIns="0" rtlCol="0" anchor="ctr">
            <a:normAutofit/>
          </a:bodyPr>
          <a:lstStyle/>
          <a:p>
            <a:pPr algn="r" indent="0" marL="0">
              <a:buNone/>
            </a:pPr>
            <a:r>
              <a:rPr lang="ar-SA" altLang="en-US" sz="2400" b="1" dirty="0">
                <a:solidFill>
                  <a:srgbClr val="D9AE4B"/>
                </a:solidFill>
                <a:latin typeface="Cairo" pitchFamily="34" charset="0"/>
                <a:ea typeface="Cairo" pitchFamily="34" charset="-122"/>
                <a:cs typeface="Cairo" pitchFamily="34" charset="-120"/>
              </a:rPr>
              <a:t>« </a:t>
            </a:r>
            <a:pPr algn="r" indent="0" marL="0">
              <a:buNone/>
            </a:pPr>
            <a:r>
              <a:rPr lang="ar-SA" altLang="en-US" sz="2400" b="1" dirty="0">
                <a:solidFill>
                  <a:srgbClr val="FFFFFF"/>
                </a:solidFill>
                <a:latin typeface="Cairo" pitchFamily="34" charset="0"/>
                <a:ea typeface="Cairo" pitchFamily="34" charset="-122"/>
                <a:cs typeface="Cairo" pitchFamily="34" charset="-120"/>
              </a:rPr>
              <a:t>اتفقنا على هذه القاعدة. ما الذي ستفعله الآن؟</a:t>
            </a:r>
            <a:pPr algn="r" indent="0" marL="0">
              <a:buNone/>
            </a:pPr>
            <a:r>
              <a:rPr lang="ar-SA" altLang="en-US" sz="2400" b="1" dirty="0">
                <a:solidFill>
                  <a:srgbClr val="D9AE4B"/>
                </a:solidFill>
                <a:latin typeface="Cairo" pitchFamily="34" charset="0"/>
                <a:ea typeface="Cairo" pitchFamily="34" charset="-122"/>
                <a:cs typeface="Cairo" pitchFamily="34" charset="-120"/>
              </a:rPr>
              <a:t> »</a:t>
            </a:r>
            <a:endParaRPr lang="ar-SA" sz="2400" dirty="0"/>
          </a:p>
        </p:txBody>
      </p:sp>
      <p:sp>
        <p:nvSpPr>
          <p:cNvPr id="13" name="anim-g3-725"/>
          <p:cNvSpPr/>
          <p:nvPr/>
        </p:nvSpPr>
        <p:spPr>
          <a:xfrm>
            <a:off x="9768535" y="4751832"/>
            <a:ext cx="1600200" cy="1018032"/>
          </a:xfrm>
          <a:prstGeom prst="roundRect">
            <a:avLst>
              <a:gd name="adj" fmla="val 13473"/>
            </a:avLst>
          </a:prstGeom>
          <a:solidFill>
            <a:srgbClr val="E9EDF9"/>
          </a:solidFill>
          <a:ln/>
        </p:spPr>
      </p:sp>
      <p:sp>
        <p:nvSpPr>
          <p:cNvPr id="14" name="anim-g3-726"/>
          <p:cNvSpPr/>
          <p:nvPr/>
        </p:nvSpPr>
        <p:spPr>
          <a:xfrm>
            <a:off x="9814255" y="4751832"/>
            <a:ext cx="1508760" cy="101803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المدير لأ. فواز</a:t>
            </a:r>
            <a:endParaRPr lang="ar-SA" sz="1800" dirty="0"/>
          </a:p>
        </p:txBody>
      </p:sp>
      <p:sp>
        <p:nvSpPr>
          <p:cNvPr id="15" name="anim-g3-727"/>
          <p:cNvSpPr/>
          <p:nvPr/>
        </p:nvSpPr>
        <p:spPr>
          <a:xfrm>
            <a:off x="822960" y="4678680"/>
            <a:ext cx="8716975" cy="1164336"/>
          </a:xfrm>
          <a:prstGeom prst="roundRect">
            <a:avLst>
              <a:gd name="adj" fmla="val 17277"/>
            </a:avLst>
          </a:prstGeom>
          <a:solidFill>
            <a:srgbClr val="101B45"/>
          </a:solidFill>
          <a:ln/>
        </p:spPr>
      </p:sp>
      <p:sp>
        <p:nvSpPr>
          <p:cNvPr id="16" name="anim-g3-728"/>
          <p:cNvSpPr/>
          <p:nvPr/>
        </p:nvSpPr>
        <p:spPr>
          <a:xfrm>
            <a:off x="1097280" y="4678680"/>
            <a:ext cx="8168335" cy="1164336"/>
          </a:xfrm>
          <a:prstGeom prst="rect">
            <a:avLst/>
          </a:prstGeom>
          <a:noFill/>
          <a:ln/>
        </p:spPr>
        <p:txBody>
          <a:bodyPr wrap="square" lIns="0" tIns="0" rIns="0" bIns="0" rtlCol="0" anchor="ctr">
            <a:normAutofit/>
          </a:bodyPr>
          <a:lstStyle/>
          <a:p>
            <a:pPr algn="r" indent="0" marL="0">
              <a:buNone/>
            </a:pPr>
            <a:r>
              <a:rPr lang="ar-SA" altLang="en-US" sz="2200" b="1" dirty="0">
                <a:solidFill>
                  <a:srgbClr val="D9AE4B"/>
                </a:solidFill>
                <a:latin typeface="Cairo" pitchFamily="34" charset="0"/>
                <a:ea typeface="Cairo" pitchFamily="34" charset="-122"/>
                <a:cs typeface="Cairo" pitchFamily="34" charset="-120"/>
              </a:rPr>
              <a:t>« </a:t>
            </a:r>
            <a:pPr algn="r" indent="0" marL="0">
              <a:buNone/>
            </a:pPr>
            <a:r>
              <a:rPr lang="ar-SA" altLang="en-US" sz="2200" b="1" dirty="0">
                <a:solidFill>
                  <a:srgbClr val="FFFFFF"/>
                </a:solidFill>
                <a:latin typeface="Cairo" pitchFamily="34" charset="0"/>
                <a:ea typeface="Cairo" pitchFamily="34" charset="-122"/>
                <a:cs typeface="Cairo" pitchFamily="34" charset="-120"/>
              </a:rPr>
              <a:t>علمك كنز، وأريد أن يصل إليهم. كيف أساعدك في ضبط الحصة؟</a:t>
            </a:r>
            <a:pPr algn="r" indent="0" marL="0">
              <a:buNone/>
            </a:pPr>
            <a:r>
              <a:rPr lang="ar-SA" altLang="en-US" sz="2200" b="1" dirty="0">
                <a:solidFill>
                  <a:srgbClr val="D9AE4B"/>
                </a:solidFill>
                <a:latin typeface="Cairo" pitchFamily="34" charset="0"/>
                <a:ea typeface="Cairo" pitchFamily="34" charset="-122"/>
                <a:cs typeface="Cairo" pitchFamily="34" charset="-120"/>
              </a:rPr>
              <a:t> »</a:t>
            </a:r>
            <a:endParaRPr lang="ar-SA" sz="2200" dirty="0"/>
          </a:p>
        </p:txBody>
      </p:sp>
      <p:sp>
        <p:nvSpPr>
          <p:cNvPr id="17" name="Text 1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18" name="Text 1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الحرية الكاملة  ·  ٧٤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name="Slide 7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5486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أخطاء شائعة… وبدائلها</a:t>
            </a:r>
            <a:endParaRPr lang="ar-SA" sz="3800" dirty="0"/>
          </a:p>
        </p:txBody>
      </p:sp>
      <p:sp>
        <p:nvSpPr>
          <p:cNvPr id="3" name="Text 1"/>
          <p:cNvSpPr/>
          <p:nvPr/>
        </p:nvSpPr>
        <p:spPr>
          <a:xfrm>
            <a:off x="6415888"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D64545"/>
                </a:solidFill>
                <a:latin typeface="Cairo Black" pitchFamily="34" charset="0"/>
                <a:ea typeface="Cairo Black" pitchFamily="34" charset="-122"/>
                <a:cs typeface="Cairo Black" pitchFamily="34" charset="-120"/>
              </a:rPr>
              <a:t>❌ الخطأ الشائع</a:t>
            </a:r>
            <a:endParaRPr lang="ar-SA" sz="2100" dirty="0"/>
          </a:p>
        </p:txBody>
      </p:sp>
      <p:sp>
        <p:nvSpPr>
          <p:cNvPr id="4" name="Text 2"/>
          <p:cNvSpPr/>
          <p:nvPr/>
        </p:nvSpPr>
        <p:spPr>
          <a:xfrm>
            <a:off x="822960"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2E9E6B"/>
                </a:solidFill>
                <a:latin typeface="Cairo Black" pitchFamily="34" charset="0"/>
                <a:ea typeface="Cairo Black" pitchFamily="34" charset="-122"/>
                <a:cs typeface="Cairo Black" pitchFamily="34" charset="-120"/>
              </a:rPr>
              <a:t>✅ البديل</a:t>
            </a:r>
            <a:endParaRPr lang="ar-SA" sz="2100" dirty="0"/>
          </a:p>
        </p:txBody>
      </p:sp>
      <p:sp>
        <p:nvSpPr>
          <p:cNvPr id="5" name="anim-g1-729"/>
          <p:cNvSpPr/>
          <p:nvPr/>
        </p:nvSpPr>
        <p:spPr>
          <a:xfrm>
            <a:off x="6415888" y="2194560"/>
            <a:ext cx="4952848" cy="804672"/>
          </a:xfrm>
          <a:prstGeom prst="roundRect">
            <a:avLst>
              <a:gd name="adj" fmla="val 15909"/>
            </a:avLst>
          </a:prstGeom>
          <a:solidFill>
            <a:srgbClr val="FBECEC"/>
          </a:solidFill>
          <a:ln/>
        </p:spPr>
      </p:sp>
      <p:sp>
        <p:nvSpPr>
          <p:cNvPr id="6" name="anim-g1-730"/>
          <p:cNvSpPr/>
          <p:nvPr/>
        </p:nvSpPr>
        <p:spPr>
          <a:xfrm>
            <a:off x="6644488"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«أنا موجود إن أرادوا»</a:t>
            </a:r>
            <a:endParaRPr lang="ar-SA" sz="2200" dirty="0"/>
          </a:p>
        </p:txBody>
      </p:sp>
      <p:sp>
        <p:nvSpPr>
          <p:cNvPr id="7" name="anim-g1-731"/>
          <p:cNvSpPr/>
          <p:nvPr/>
        </p:nvSpPr>
        <p:spPr>
          <a:xfrm>
            <a:off x="822960" y="2194560"/>
            <a:ext cx="4952848" cy="804672"/>
          </a:xfrm>
          <a:prstGeom prst="roundRect">
            <a:avLst>
              <a:gd name="adj" fmla="val 15909"/>
            </a:avLst>
          </a:prstGeom>
          <a:solidFill>
            <a:srgbClr val="FFFFFF"/>
          </a:solidFill>
          <a:ln w="19050">
            <a:solidFill>
              <a:srgbClr val="BFD9CB"/>
            </a:solidFill>
            <a:prstDash val="dash"/>
          </a:ln>
        </p:spPr>
      </p:sp>
      <p:sp>
        <p:nvSpPr>
          <p:cNvPr id="8" name="anim-g1-732"/>
          <p:cNvSpPr/>
          <p:nvPr/>
        </p:nvSpPr>
        <p:spPr>
          <a:xfrm>
            <a:off x="822960" y="219456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9" name="anim-g2-733"/>
          <p:cNvSpPr/>
          <p:nvPr/>
        </p:nvSpPr>
        <p:spPr>
          <a:xfrm>
            <a:off x="5775808" y="219456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0" name="anim-g2-734"/>
          <p:cNvSpPr/>
          <p:nvPr/>
        </p:nvSpPr>
        <p:spPr>
          <a:xfrm>
            <a:off x="822960" y="2194560"/>
            <a:ext cx="4952848" cy="804672"/>
          </a:xfrm>
          <a:prstGeom prst="roundRect">
            <a:avLst>
              <a:gd name="adj" fmla="val 15909"/>
            </a:avLst>
          </a:prstGeom>
          <a:solidFill>
            <a:srgbClr val="E6F4EC"/>
          </a:solidFill>
          <a:ln/>
        </p:spPr>
      </p:sp>
      <p:sp>
        <p:nvSpPr>
          <p:cNvPr id="11" name="anim-g2-735"/>
          <p:cNvSpPr/>
          <p:nvPr/>
        </p:nvSpPr>
        <p:spPr>
          <a:xfrm>
            <a:off x="1051560"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«أنا هنا لأتأكد أنكم تتعلمون»</a:t>
            </a:r>
            <a:endParaRPr lang="ar-SA" sz="2200" dirty="0"/>
          </a:p>
        </p:txBody>
      </p:sp>
      <p:sp>
        <p:nvSpPr>
          <p:cNvPr id="12" name="anim-g3-736"/>
          <p:cNvSpPr/>
          <p:nvPr/>
        </p:nvSpPr>
        <p:spPr>
          <a:xfrm>
            <a:off x="6415888" y="3154680"/>
            <a:ext cx="4952848" cy="804672"/>
          </a:xfrm>
          <a:prstGeom prst="roundRect">
            <a:avLst>
              <a:gd name="adj" fmla="val 15909"/>
            </a:avLst>
          </a:prstGeom>
          <a:solidFill>
            <a:srgbClr val="FBECEC"/>
          </a:solidFill>
          <a:ln/>
        </p:spPr>
      </p:sp>
      <p:sp>
        <p:nvSpPr>
          <p:cNvPr id="13" name="anim-g3-737"/>
          <p:cNvSpPr/>
          <p:nvPr/>
        </p:nvSpPr>
        <p:spPr>
          <a:xfrm>
            <a:off x="6644488"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غياب القواعد تجنبًا للمواجهة</a:t>
            </a:r>
            <a:endParaRPr lang="ar-SA" sz="2200" dirty="0"/>
          </a:p>
        </p:txBody>
      </p:sp>
      <p:sp>
        <p:nvSpPr>
          <p:cNvPr id="14" name="anim-g3-738"/>
          <p:cNvSpPr/>
          <p:nvPr/>
        </p:nvSpPr>
        <p:spPr>
          <a:xfrm>
            <a:off x="822960" y="3154680"/>
            <a:ext cx="4952848" cy="804672"/>
          </a:xfrm>
          <a:prstGeom prst="roundRect">
            <a:avLst>
              <a:gd name="adj" fmla="val 15909"/>
            </a:avLst>
          </a:prstGeom>
          <a:solidFill>
            <a:srgbClr val="FFFFFF"/>
          </a:solidFill>
          <a:ln w="19050">
            <a:solidFill>
              <a:srgbClr val="BFD9CB"/>
            </a:solidFill>
            <a:prstDash val="dash"/>
          </a:ln>
        </p:spPr>
      </p:sp>
      <p:sp>
        <p:nvSpPr>
          <p:cNvPr id="15" name="anim-g3-739"/>
          <p:cNvSpPr/>
          <p:nvPr/>
        </p:nvSpPr>
        <p:spPr>
          <a:xfrm>
            <a:off x="822960" y="315468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16" name="anim-g4-740"/>
          <p:cNvSpPr/>
          <p:nvPr/>
        </p:nvSpPr>
        <p:spPr>
          <a:xfrm>
            <a:off x="5775808" y="315468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7" name="anim-g4-741"/>
          <p:cNvSpPr/>
          <p:nvPr/>
        </p:nvSpPr>
        <p:spPr>
          <a:xfrm>
            <a:off x="822960" y="3154680"/>
            <a:ext cx="4952848" cy="804672"/>
          </a:xfrm>
          <a:prstGeom prst="roundRect">
            <a:avLst>
              <a:gd name="adj" fmla="val 15909"/>
            </a:avLst>
          </a:prstGeom>
          <a:solidFill>
            <a:srgbClr val="E6F4EC"/>
          </a:solidFill>
          <a:ln/>
        </p:spPr>
      </p:sp>
      <p:sp>
        <p:nvSpPr>
          <p:cNvPr id="18" name="anim-g4-742"/>
          <p:cNvSpPr/>
          <p:nvPr/>
        </p:nvSpPr>
        <p:spPr>
          <a:xfrm>
            <a:off x="1051560"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قواعد قليلة تُطبَّق بهدوء</a:t>
            </a:r>
            <a:endParaRPr lang="ar-SA" sz="2200" dirty="0"/>
          </a:p>
        </p:txBody>
      </p:sp>
      <p:sp>
        <p:nvSpPr>
          <p:cNvPr id="19" name="anim-g5-743"/>
          <p:cNvSpPr/>
          <p:nvPr/>
        </p:nvSpPr>
        <p:spPr>
          <a:xfrm>
            <a:off x="6415888" y="4114800"/>
            <a:ext cx="4952848" cy="804672"/>
          </a:xfrm>
          <a:prstGeom prst="roundRect">
            <a:avLst>
              <a:gd name="adj" fmla="val 15909"/>
            </a:avLst>
          </a:prstGeom>
          <a:solidFill>
            <a:srgbClr val="FBECEC"/>
          </a:solidFill>
          <a:ln/>
        </p:spPr>
      </p:sp>
      <p:sp>
        <p:nvSpPr>
          <p:cNvPr id="20" name="anim-g5-744"/>
          <p:cNvSpPr/>
          <p:nvPr/>
        </p:nvSpPr>
        <p:spPr>
          <a:xfrm>
            <a:off x="6644488"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لوم الأهل والجيل</a:t>
            </a:r>
            <a:endParaRPr lang="ar-SA" sz="2200" dirty="0"/>
          </a:p>
        </p:txBody>
      </p:sp>
      <p:sp>
        <p:nvSpPr>
          <p:cNvPr id="21" name="anim-g5-745"/>
          <p:cNvSpPr/>
          <p:nvPr/>
        </p:nvSpPr>
        <p:spPr>
          <a:xfrm>
            <a:off x="822960" y="4114800"/>
            <a:ext cx="4952848" cy="804672"/>
          </a:xfrm>
          <a:prstGeom prst="roundRect">
            <a:avLst>
              <a:gd name="adj" fmla="val 15909"/>
            </a:avLst>
          </a:prstGeom>
          <a:solidFill>
            <a:srgbClr val="FFFFFF"/>
          </a:solidFill>
          <a:ln w="19050">
            <a:solidFill>
              <a:srgbClr val="BFD9CB"/>
            </a:solidFill>
            <a:prstDash val="dash"/>
          </a:ln>
        </p:spPr>
      </p:sp>
      <p:sp>
        <p:nvSpPr>
          <p:cNvPr id="22" name="anim-g5-746"/>
          <p:cNvSpPr/>
          <p:nvPr/>
        </p:nvSpPr>
        <p:spPr>
          <a:xfrm>
            <a:off x="822960" y="411480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23" name="anim-g6-747"/>
          <p:cNvSpPr/>
          <p:nvPr/>
        </p:nvSpPr>
        <p:spPr>
          <a:xfrm>
            <a:off x="5775808" y="411480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24" name="anim-g6-748"/>
          <p:cNvSpPr/>
          <p:nvPr/>
        </p:nvSpPr>
        <p:spPr>
          <a:xfrm>
            <a:off x="822960" y="4114800"/>
            <a:ext cx="4952848" cy="804672"/>
          </a:xfrm>
          <a:prstGeom prst="roundRect">
            <a:avLst>
              <a:gd name="adj" fmla="val 15909"/>
            </a:avLst>
          </a:prstGeom>
          <a:solidFill>
            <a:srgbClr val="E6F4EC"/>
          </a:solidFill>
          <a:ln/>
        </p:spPr>
      </p:sp>
      <p:sp>
        <p:nvSpPr>
          <p:cNvPr id="25" name="anim-g6-749"/>
          <p:cNvSpPr/>
          <p:nvPr/>
        </p:nvSpPr>
        <p:spPr>
          <a:xfrm>
            <a:off x="1051560"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التركيز على ما أملكه داخل الفصل</a:t>
            </a:r>
            <a:endParaRPr lang="ar-SA" sz="2200" dirty="0"/>
          </a:p>
        </p:txBody>
      </p:sp>
      <p:sp>
        <p:nvSpPr>
          <p:cNvPr id="26" name="Text 24"/>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7" name="Text 25"/>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الحرية الكاملة  ·  ٧٥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0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400"/>
                                        <p:tgtEl>
                                          <p:spTgt spid="1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400"/>
                                        <p:tgtEl>
                                          <p:spTgt spid="2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400"/>
                                        <p:tgtEl>
                                          <p:spTgt spid="2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400"/>
                                        <p:tgtEl>
                                          <p:spTgt spid="2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name="Slide 7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الموقف</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الحرية بلا حدود…</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تسيّب. والحدود بلا حب… تسلّط</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موقف: الحرية الكاملة  ·  ٧٦</a:t>
            </a:r>
            <a:endParaRPr lang="ar-SA" sz="12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٦</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المحطة ٦</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القواعد والإجراءات</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الفصل مجتمع صغير… وبلا قواعد يتحول إلى فوضى</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القواعد والإجراءات  ·  ٧٧</a:t>
            </a:r>
            <a:endParaRPr lang="ar-SA" sz="12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705960" y="1188720"/>
            <a:ext cx="2779776"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705960" y="1188720"/>
            <a:ext cx="277977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لماذا القواعد؟</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إذا لم نتفق على القواعد من البداية…</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يصبح كل شيء جائزًا</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القواعد والإجراءات  ·  ٧٨</a:t>
            </a:r>
            <a:endParaRPr lang="ar-SA" sz="12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711135" y="457200"/>
            <a:ext cx="3657600" cy="457200"/>
          </a:xfrm>
          <a:prstGeom prst="roundRect">
            <a:avLst>
              <a:gd name="adj" fmla="val 50000"/>
            </a:avLst>
          </a:prstGeom>
          <a:solidFill>
            <a:srgbClr val="F6EBCF"/>
          </a:solidFill>
          <a:ln/>
        </p:spPr>
      </p:sp>
      <p:sp>
        <p:nvSpPr>
          <p:cNvPr id="3" name="Text 1"/>
          <p:cNvSpPr/>
          <p:nvPr/>
        </p:nvSpPr>
        <p:spPr>
          <a:xfrm>
            <a:off x="7711135" y="457200"/>
            <a:ext cx="365760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صفات القاعدة الناجحة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قواعد قليلة… واضحة… إيجابية</a:t>
            </a:r>
            <a:endParaRPr lang="ar-SA" sz="3800" dirty="0"/>
          </a:p>
        </p:txBody>
      </p:sp>
      <p:sp>
        <p:nvSpPr>
          <p:cNvPr id="5" name="anim-g1-750"/>
          <p:cNvSpPr/>
          <p:nvPr/>
        </p:nvSpPr>
        <p:spPr>
          <a:xfrm>
            <a:off x="8938031"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751"/>
          <p:cNvSpPr/>
          <p:nvPr/>
        </p:nvSpPr>
        <p:spPr>
          <a:xfrm>
            <a:off x="10362895" y="2404872"/>
            <a:ext cx="731520" cy="731520"/>
          </a:xfrm>
          <a:prstGeom prst="roundRect">
            <a:avLst>
              <a:gd name="adj" fmla="val 25000"/>
            </a:avLst>
          </a:prstGeom>
          <a:solidFill>
            <a:srgbClr val="F7E6BC"/>
          </a:solidFill>
          <a:ln/>
        </p:spPr>
      </p:sp>
      <p:sp>
        <p:nvSpPr>
          <p:cNvPr id="7" name="anim-g1-752"/>
          <p:cNvSpPr/>
          <p:nvPr/>
        </p:nvSpPr>
        <p:spPr>
          <a:xfrm>
            <a:off x="10362895"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8" name="anim-g1-753"/>
          <p:cNvSpPr/>
          <p:nvPr/>
        </p:nvSpPr>
        <p:spPr>
          <a:xfrm>
            <a:off x="9212351"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من ٣ إلى ٥ فقط</a:t>
            </a:r>
            <a:endParaRPr lang="ar-SA" sz="2300" dirty="0"/>
          </a:p>
        </p:txBody>
      </p:sp>
      <p:sp>
        <p:nvSpPr>
          <p:cNvPr id="9" name="anim-g1-754"/>
          <p:cNvSpPr/>
          <p:nvPr/>
        </p:nvSpPr>
        <p:spPr>
          <a:xfrm>
            <a:off x="9212351"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كثرة القواعد تجعل حفظها وتطبيقها مستحيلًا</a:t>
            </a:r>
            <a:endParaRPr lang="ar-SA" sz="2100" dirty="0"/>
          </a:p>
        </p:txBody>
      </p:sp>
      <p:sp>
        <p:nvSpPr>
          <p:cNvPr id="10" name="anim-g2-755"/>
          <p:cNvSpPr/>
          <p:nvPr/>
        </p:nvSpPr>
        <p:spPr>
          <a:xfrm>
            <a:off x="6233008"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756"/>
          <p:cNvSpPr/>
          <p:nvPr/>
        </p:nvSpPr>
        <p:spPr>
          <a:xfrm>
            <a:off x="7657871" y="2404872"/>
            <a:ext cx="731520" cy="731520"/>
          </a:xfrm>
          <a:prstGeom prst="roundRect">
            <a:avLst>
              <a:gd name="adj" fmla="val 25000"/>
            </a:avLst>
          </a:prstGeom>
          <a:solidFill>
            <a:srgbClr val="F7E6BC"/>
          </a:solidFill>
          <a:ln/>
        </p:spPr>
      </p:sp>
      <p:sp>
        <p:nvSpPr>
          <p:cNvPr id="12" name="anim-g2-757"/>
          <p:cNvSpPr/>
          <p:nvPr/>
        </p:nvSpPr>
        <p:spPr>
          <a:xfrm>
            <a:off x="7657871"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3" name="anim-g2-758"/>
          <p:cNvSpPr/>
          <p:nvPr/>
        </p:nvSpPr>
        <p:spPr>
          <a:xfrm>
            <a:off x="6507328"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بصيغة إيجابية</a:t>
            </a:r>
            <a:endParaRPr lang="ar-SA" sz="2300" dirty="0"/>
          </a:p>
        </p:txBody>
      </p:sp>
      <p:sp>
        <p:nvSpPr>
          <p:cNvPr id="14" name="anim-g2-759"/>
          <p:cNvSpPr/>
          <p:nvPr/>
        </p:nvSpPr>
        <p:spPr>
          <a:xfrm>
            <a:off x="6507328"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«ارفع يدك قبل الكلام» بدل «لا تتكلم»</a:t>
            </a:r>
            <a:endParaRPr lang="ar-SA" sz="2100" dirty="0"/>
          </a:p>
        </p:txBody>
      </p:sp>
      <p:sp>
        <p:nvSpPr>
          <p:cNvPr id="15" name="anim-g3-760"/>
          <p:cNvSpPr/>
          <p:nvPr/>
        </p:nvSpPr>
        <p:spPr>
          <a:xfrm>
            <a:off x="3527984"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761"/>
          <p:cNvSpPr/>
          <p:nvPr/>
        </p:nvSpPr>
        <p:spPr>
          <a:xfrm>
            <a:off x="4952848" y="2404872"/>
            <a:ext cx="731520" cy="731520"/>
          </a:xfrm>
          <a:prstGeom prst="roundRect">
            <a:avLst>
              <a:gd name="adj" fmla="val 25000"/>
            </a:avLst>
          </a:prstGeom>
          <a:solidFill>
            <a:srgbClr val="F7E6BC"/>
          </a:solidFill>
          <a:ln/>
        </p:spPr>
      </p:sp>
      <p:sp>
        <p:nvSpPr>
          <p:cNvPr id="17" name="anim-g3-762"/>
          <p:cNvSpPr/>
          <p:nvPr/>
        </p:nvSpPr>
        <p:spPr>
          <a:xfrm>
            <a:off x="4952848"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8" name="anim-g3-763"/>
          <p:cNvSpPr/>
          <p:nvPr/>
        </p:nvSpPr>
        <p:spPr>
          <a:xfrm>
            <a:off x="3802304"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تُصاغ مع الطلاب</a:t>
            </a:r>
            <a:endParaRPr lang="ar-SA" sz="2300" dirty="0"/>
          </a:p>
        </p:txBody>
      </p:sp>
      <p:sp>
        <p:nvSpPr>
          <p:cNvPr id="19" name="anim-g3-764"/>
          <p:cNvSpPr/>
          <p:nvPr/>
        </p:nvSpPr>
        <p:spPr>
          <a:xfrm>
            <a:off x="3802304"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من شارك في وضع القاعدة التزم بها أكثر</a:t>
            </a:r>
            <a:endParaRPr lang="ar-SA" sz="2100" dirty="0"/>
          </a:p>
        </p:txBody>
      </p:sp>
      <p:sp>
        <p:nvSpPr>
          <p:cNvPr id="20" name="anim-g4-765"/>
          <p:cNvSpPr/>
          <p:nvPr/>
        </p:nvSpPr>
        <p:spPr>
          <a:xfrm>
            <a:off x="822960"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766"/>
          <p:cNvSpPr/>
          <p:nvPr/>
        </p:nvSpPr>
        <p:spPr>
          <a:xfrm>
            <a:off x="2247824" y="2404872"/>
            <a:ext cx="731520" cy="731520"/>
          </a:xfrm>
          <a:prstGeom prst="roundRect">
            <a:avLst>
              <a:gd name="adj" fmla="val 25000"/>
            </a:avLst>
          </a:prstGeom>
          <a:solidFill>
            <a:srgbClr val="F7E6BC"/>
          </a:solidFill>
          <a:ln/>
        </p:spPr>
      </p:sp>
      <p:sp>
        <p:nvSpPr>
          <p:cNvPr id="22" name="anim-g4-767"/>
          <p:cNvSpPr/>
          <p:nvPr/>
        </p:nvSpPr>
        <p:spPr>
          <a:xfrm>
            <a:off x="2247824"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23" name="anim-g4-768"/>
          <p:cNvSpPr/>
          <p:nvPr/>
        </p:nvSpPr>
        <p:spPr>
          <a:xfrm>
            <a:off x="1097280"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عاقبتها معروفة</a:t>
            </a:r>
            <a:endParaRPr lang="ar-SA" sz="2300" dirty="0"/>
          </a:p>
        </p:txBody>
      </p:sp>
      <p:sp>
        <p:nvSpPr>
          <p:cNvPr id="24" name="anim-g4-769"/>
          <p:cNvSpPr/>
          <p:nvPr/>
        </p:nvSpPr>
        <p:spPr>
          <a:xfrm>
            <a:off x="1097280"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كل قاعدة لها نتيجة معلنة مسبقًا تُطبَّق على الجميع</a:t>
            </a:r>
            <a:endParaRPr lang="ar-SA" sz="21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القواعد والإجراءات  ·  ٧٩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name="Slide 8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57439" y="457200"/>
            <a:ext cx="3511296" cy="457200"/>
          </a:xfrm>
          <a:prstGeom prst="roundRect">
            <a:avLst>
              <a:gd name="adj" fmla="val 50000"/>
            </a:avLst>
          </a:prstGeom>
          <a:solidFill>
            <a:srgbClr val="F6EBCF"/>
          </a:solidFill>
          <a:ln/>
        </p:spPr>
      </p:sp>
      <p:sp>
        <p:nvSpPr>
          <p:cNvPr id="3" name="Text 1"/>
          <p:cNvSpPr/>
          <p:nvPr/>
        </p:nvSpPr>
        <p:spPr>
          <a:xfrm>
            <a:off x="7857439" y="457200"/>
            <a:ext cx="351129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القاعدة غير الإجراء</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كيف تعلّم إجراءً في أربع خطوات؟</a:t>
            </a:r>
            <a:endParaRPr lang="ar-SA" sz="3800" dirty="0"/>
          </a:p>
        </p:txBody>
      </p:sp>
      <p:sp>
        <p:nvSpPr>
          <p:cNvPr id="5" name="anim-g1-770"/>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771"/>
          <p:cNvSpPr/>
          <p:nvPr/>
        </p:nvSpPr>
        <p:spPr>
          <a:xfrm>
            <a:off x="10573207" y="2109978"/>
            <a:ext cx="566928" cy="566928"/>
          </a:xfrm>
          <a:prstGeom prst="ellipse">
            <a:avLst/>
          </a:prstGeom>
          <a:solidFill>
            <a:srgbClr val="D9AE4B"/>
          </a:solidFill>
          <a:ln/>
        </p:spPr>
      </p:sp>
      <p:sp>
        <p:nvSpPr>
          <p:cNvPr id="7" name="anim-g1-772"/>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773"/>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اشرح: لماذا؟</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«نخرج بهدوء حتى لا نزعج الفصول المجاورة»</a:t>
            </a:r>
            <a:endParaRPr lang="ar-SA" sz="2400" dirty="0"/>
          </a:p>
        </p:txBody>
      </p:sp>
      <p:sp>
        <p:nvSpPr>
          <p:cNvPr id="9" name="anim-g2-774"/>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775"/>
          <p:cNvSpPr/>
          <p:nvPr/>
        </p:nvSpPr>
        <p:spPr>
          <a:xfrm>
            <a:off x="10573207" y="3166110"/>
            <a:ext cx="566928" cy="566928"/>
          </a:xfrm>
          <a:prstGeom prst="ellipse">
            <a:avLst/>
          </a:prstGeom>
          <a:solidFill>
            <a:srgbClr val="D9AE4B"/>
          </a:solidFill>
          <a:ln/>
        </p:spPr>
      </p:sp>
      <p:sp>
        <p:nvSpPr>
          <p:cNvPr id="11" name="anim-g2-776"/>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777"/>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أرِهم: نمذج بنفسك</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قم أنت بالإجراء أمامهم خطوة خطوة</a:t>
            </a:r>
            <a:endParaRPr lang="ar-SA" sz="2400" dirty="0"/>
          </a:p>
        </p:txBody>
      </p:sp>
      <p:sp>
        <p:nvSpPr>
          <p:cNvPr id="13" name="anim-g3-778"/>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779"/>
          <p:cNvSpPr/>
          <p:nvPr/>
        </p:nvSpPr>
        <p:spPr>
          <a:xfrm>
            <a:off x="10573207" y="4222242"/>
            <a:ext cx="566928" cy="566928"/>
          </a:xfrm>
          <a:prstGeom prst="ellipse">
            <a:avLst/>
          </a:prstGeom>
          <a:solidFill>
            <a:srgbClr val="D9AE4B"/>
          </a:solidFill>
          <a:ln/>
        </p:spPr>
      </p:sp>
      <p:sp>
        <p:nvSpPr>
          <p:cNvPr id="15" name="anim-g3-780"/>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781"/>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تدرّبوا الآن</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نفّذوه أمامك، وأعيدوه إن لم يُتقن</a:t>
            </a:r>
            <a:endParaRPr lang="ar-SA" sz="2400" dirty="0"/>
          </a:p>
        </p:txBody>
      </p:sp>
      <p:sp>
        <p:nvSpPr>
          <p:cNvPr id="17" name="anim-g4-782"/>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783"/>
          <p:cNvSpPr/>
          <p:nvPr/>
        </p:nvSpPr>
        <p:spPr>
          <a:xfrm>
            <a:off x="10573207" y="5278374"/>
            <a:ext cx="566928" cy="566928"/>
          </a:xfrm>
          <a:prstGeom prst="ellipse">
            <a:avLst/>
          </a:prstGeom>
          <a:solidFill>
            <a:srgbClr val="D9AE4B"/>
          </a:solidFill>
          <a:ln/>
        </p:spPr>
      </p:sp>
      <p:sp>
        <p:nvSpPr>
          <p:cNvPr id="19" name="anim-g4-784"/>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785"/>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عزّز وراجع</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امدح الإتقان، وأعد التدريب عند أول تراخٍ</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القواعد والإجراءات  ·  ٨٠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name="Slide 8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296351" y="457200"/>
            <a:ext cx="3072384" cy="457200"/>
          </a:xfrm>
          <a:prstGeom prst="roundRect">
            <a:avLst>
              <a:gd name="adj" fmla="val 50000"/>
            </a:avLst>
          </a:prstGeom>
          <a:solidFill>
            <a:srgbClr val="F6EBCF"/>
          </a:solidFill>
          <a:ln/>
        </p:spPr>
      </p:sp>
      <p:sp>
        <p:nvSpPr>
          <p:cNvPr id="3" name="Text 1"/>
          <p:cNvSpPr/>
          <p:nvPr/>
        </p:nvSpPr>
        <p:spPr>
          <a:xfrm>
            <a:off x="8296351" y="457200"/>
            <a:ext cx="307238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مجالات الإجراءات</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ستة مواقف يومية تحتاج إجراءً واضحًا</a:t>
            </a:r>
            <a:endParaRPr lang="ar-SA" sz="3200" dirty="0"/>
          </a:p>
        </p:txBody>
      </p:sp>
      <p:sp>
        <p:nvSpPr>
          <p:cNvPr id="5" name="anim-g1-786"/>
          <p:cNvSpPr/>
          <p:nvPr/>
        </p:nvSpPr>
        <p:spPr>
          <a:xfrm>
            <a:off x="8036357" y="201168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787"/>
          <p:cNvSpPr/>
          <p:nvPr/>
        </p:nvSpPr>
        <p:spPr>
          <a:xfrm>
            <a:off x="10527487" y="2267712"/>
            <a:ext cx="566928" cy="566928"/>
          </a:xfrm>
          <a:prstGeom prst="roundRect">
            <a:avLst>
              <a:gd name="adj" fmla="val 32258"/>
            </a:avLst>
          </a:prstGeom>
          <a:solidFill>
            <a:srgbClr val="F7E6BC"/>
          </a:solidFill>
          <a:ln/>
        </p:spPr>
      </p:sp>
      <p:sp>
        <p:nvSpPr>
          <p:cNvPr id="7" name="anim-g1-788"/>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789"/>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بداية الحصة</a:t>
            </a:r>
            <a:endParaRPr lang="ar-SA" sz="2200" dirty="0"/>
          </a:p>
        </p:txBody>
      </p:sp>
      <p:sp>
        <p:nvSpPr>
          <p:cNvPr id="9" name="anim-g1-790"/>
          <p:cNvSpPr/>
          <p:nvPr/>
        </p:nvSpPr>
        <p:spPr>
          <a:xfrm>
            <a:off x="8310677" y="349300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الدخول، والجلوس، ونشاط الدقائق الأولى</a:t>
            </a:r>
            <a:endParaRPr lang="ar-SA" sz="1900" dirty="0"/>
          </a:p>
        </p:txBody>
      </p:sp>
      <p:sp>
        <p:nvSpPr>
          <p:cNvPr id="10" name="anim-g2-791"/>
          <p:cNvSpPr/>
          <p:nvPr/>
        </p:nvSpPr>
        <p:spPr>
          <a:xfrm>
            <a:off x="4429658" y="201168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792"/>
          <p:cNvSpPr/>
          <p:nvPr/>
        </p:nvSpPr>
        <p:spPr>
          <a:xfrm>
            <a:off x="6920789" y="2267712"/>
            <a:ext cx="566928" cy="566928"/>
          </a:xfrm>
          <a:prstGeom prst="roundRect">
            <a:avLst>
              <a:gd name="adj" fmla="val 32258"/>
            </a:avLst>
          </a:prstGeom>
          <a:solidFill>
            <a:srgbClr val="F7E6BC"/>
          </a:solidFill>
          <a:ln/>
        </p:spPr>
      </p:sp>
      <p:sp>
        <p:nvSpPr>
          <p:cNvPr id="12" name="anim-g2-793"/>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794"/>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الانتقال</a:t>
            </a:r>
            <a:endParaRPr lang="ar-SA" sz="2200" dirty="0"/>
          </a:p>
        </p:txBody>
      </p:sp>
      <p:sp>
        <p:nvSpPr>
          <p:cNvPr id="14" name="anim-g2-795"/>
          <p:cNvSpPr/>
          <p:nvPr/>
        </p:nvSpPr>
        <p:spPr>
          <a:xfrm>
            <a:off x="4703978" y="349300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من نشاط لآخر، أو من مكان لآخر</a:t>
            </a:r>
            <a:endParaRPr lang="ar-SA" sz="1900" dirty="0"/>
          </a:p>
        </p:txBody>
      </p:sp>
      <p:sp>
        <p:nvSpPr>
          <p:cNvPr id="15" name="anim-g3-796"/>
          <p:cNvSpPr/>
          <p:nvPr/>
        </p:nvSpPr>
        <p:spPr>
          <a:xfrm>
            <a:off x="822960" y="201168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797"/>
          <p:cNvSpPr/>
          <p:nvPr/>
        </p:nvSpPr>
        <p:spPr>
          <a:xfrm>
            <a:off x="3314090" y="2267712"/>
            <a:ext cx="566928" cy="566928"/>
          </a:xfrm>
          <a:prstGeom prst="roundRect">
            <a:avLst>
              <a:gd name="adj" fmla="val 32258"/>
            </a:avLst>
          </a:prstGeom>
          <a:solidFill>
            <a:srgbClr val="F7E6BC"/>
          </a:solidFill>
          <a:ln/>
        </p:spPr>
      </p:sp>
      <p:sp>
        <p:nvSpPr>
          <p:cNvPr id="17" name="anim-g3-798"/>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799"/>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العمل في مجموعات</a:t>
            </a:r>
            <a:endParaRPr lang="ar-SA" sz="2200" dirty="0"/>
          </a:p>
        </p:txBody>
      </p:sp>
      <p:sp>
        <p:nvSpPr>
          <p:cNvPr id="19" name="anim-g3-800"/>
          <p:cNvSpPr/>
          <p:nvPr/>
        </p:nvSpPr>
        <p:spPr>
          <a:xfrm>
            <a:off x="1097280" y="349300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الأدوار، ومستوى الصوت، وطلب المساعدة</a:t>
            </a:r>
            <a:endParaRPr lang="ar-SA" sz="1900" dirty="0"/>
          </a:p>
        </p:txBody>
      </p:sp>
      <p:sp>
        <p:nvSpPr>
          <p:cNvPr id="20" name="anim-g4-801"/>
          <p:cNvSpPr/>
          <p:nvPr/>
        </p:nvSpPr>
        <p:spPr>
          <a:xfrm>
            <a:off x="8036357" y="413766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802"/>
          <p:cNvSpPr/>
          <p:nvPr/>
        </p:nvSpPr>
        <p:spPr>
          <a:xfrm>
            <a:off x="10527487" y="4393692"/>
            <a:ext cx="566928" cy="566928"/>
          </a:xfrm>
          <a:prstGeom prst="roundRect">
            <a:avLst>
              <a:gd name="adj" fmla="val 32258"/>
            </a:avLst>
          </a:prstGeom>
          <a:solidFill>
            <a:srgbClr val="F7E6BC"/>
          </a:solidFill>
          <a:ln/>
        </p:spPr>
      </p:sp>
      <p:sp>
        <p:nvSpPr>
          <p:cNvPr id="22" name="anim-g4-803"/>
          <p:cNvSpPr/>
          <p:nvPr/>
        </p:nvSpPr>
        <p:spPr>
          <a:xfrm>
            <a:off x="10527487"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3" name="anim-g4-804"/>
          <p:cNvSpPr/>
          <p:nvPr/>
        </p:nvSpPr>
        <p:spPr>
          <a:xfrm>
            <a:off x="8310677" y="507034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الأدوات</a:t>
            </a:r>
            <a:endParaRPr lang="ar-SA" sz="2200" dirty="0"/>
          </a:p>
        </p:txBody>
      </p:sp>
      <p:sp>
        <p:nvSpPr>
          <p:cNvPr id="24" name="anim-g4-805"/>
          <p:cNvSpPr/>
          <p:nvPr/>
        </p:nvSpPr>
        <p:spPr>
          <a:xfrm>
            <a:off x="8310677" y="561898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التوزيع، والجمع، والكتب والمتعلقات</a:t>
            </a:r>
            <a:endParaRPr lang="ar-SA" sz="1900" dirty="0"/>
          </a:p>
        </p:txBody>
      </p:sp>
      <p:sp>
        <p:nvSpPr>
          <p:cNvPr id="25" name="anim-g5-806"/>
          <p:cNvSpPr/>
          <p:nvPr/>
        </p:nvSpPr>
        <p:spPr>
          <a:xfrm>
            <a:off x="4429658" y="413766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6" name="anim-g5-807"/>
          <p:cNvSpPr/>
          <p:nvPr/>
        </p:nvSpPr>
        <p:spPr>
          <a:xfrm>
            <a:off x="6920789" y="4393692"/>
            <a:ext cx="566928" cy="566928"/>
          </a:xfrm>
          <a:prstGeom prst="roundRect">
            <a:avLst>
              <a:gd name="adj" fmla="val 32258"/>
            </a:avLst>
          </a:prstGeom>
          <a:solidFill>
            <a:srgbClr val="F7E6BC"/>
          </a:solidFill>
          <a:ln/>
        </p:spPr>
      </p:sp>
      <p:sp>
        <p:nvSpPr>
          <p:cNvPr id="27" name="anim-g5-808"/>
          <p:cNvSpPr/>
          <p:nvPr/>
        </p:nvSpPr>
        <p:spPr>
          <a:xfrm>
            <a:off x="6920789"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8" name="anim-g5-809"/>
          <p:cNvSpPr/>
          <p:nvPr/>
        </p:nvSpPr>
        <p:spPr>
          <a:xfrm>
            <a:off x="4703978" y="507034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الاستئذان</a:t>
            </a:r>
            <a:endParaRPr lang="ar-SA" sz="2200" dirty="0"/>
          </a:p>
        </p:txBody>
      </p:sp>
      <p:sp>
        <p:nvSpPr>
          <p:cNvPr id="29" name="anim-g5-810"/>
          <p:cNvSpPr/>
          <p:nvPr/>
        </p:nvSpPr>
        <p:spPr>
          <a:xfrm>
            <a:off x="4703978" y="561898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دورة المياه، وشرب الماء، والتأخر</a:t>
            </a:r>
            <a:endParaRPr lang="ar-SA" sz="1900" dirty="0"/>
          </a:p>
        </p:txBody>
      </p:sp>
      <p:sp>
        <p:nvSpPr>
          <p:cNvPr id="30" name="anim-g6-811"/>
          <p:cNvSpPr/>
          <p:nvPr/>
        </p:nvSpPr>
        <p:spPr>
          <a:xfrm>
            <a:off x="822960" y="413766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31" name="anim-g6-812"/>
          <p:cNvSpPr/>
          <p:nvPr/>
        </p:nvSpPr>
        <p:spPr>
          <a:xfrm>
            <a:off x="3314090" y="4393692"/>
            <a:ext cx="566928" cy="566928"/>
          </a:xfrm>
          <a:prstGeom prst="roundRect">
            <a:avLst>
              <a:gd name="adj" fmla="val 32258"/>
            </a:avLst>
          </a:prstGeom>
          <a:solidFill>
            <a:srgbClr val="F7E6BC"/>
          </a:solidFill>
          <a:ln/>
        </p:spPr>
      </p:sp>
      <p:sp>
        <p:nvSpPr>
          <p:cNvPr id="32" name="anim-g6-813"/>
          <p:cNvSpPr/>
          <p:nvPr/>
        </p:nvSpPr>
        <p:spPr>
          <a:xfrm>
            <a:off x="3314090"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33" name="anim-g6-814"/>
          <p:cNvSpPr/>
          <p:nvPr/>
        </p:nvSpPr>
        <p:spPr>
          <a:xfrm>
            <a:off x="1097280" y="507034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نهاية الحصة</a:t>
            </a:r>
            <a:endParaRPr lang="ar-SA" sz="2200" dirty="0"/>
          </a:p>
        </p:txBody>
      </p:sp>
      <p:sp>
        <p:nvSpPr>
          <p:cNvPr id="34" name="anim-g6-815"/>
          <p:cNvSpPr/>
          <p:nvPr/>
        </p:nvSpPr>
        <p:spPr>
          <a:xfrm>
            <a:off x="1097280" y="561898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الواجب، وترتيب المكان، والخروج</a:t>
            </a:r>
            <a:endParaRPr lang="ar-SA" sz="1900" dirty="0"/>
          </a:p>
        </p:txBody>
      </p:sp>
      <p:sp>
        <p:nvSpPr>
          <p:cNvPr id="35" name="Text 3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36" name="Text 3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القواعد والإجراءات  ·  ٨١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40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400"/>
                                        <p:tgtEl>
                                          <p:spTgt spid="26"/>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400"/>
                                        <p:tgtEl>
                                          <p:spTgt spid="27"/>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400"/>
                                        <p:tgtEl>
                                          <p:spTgt spid="28"/>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400"/>
                                        <p:tgtEl>
                                          <p:spTgt spid="29"/>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30"/>
                                        </p:tgtEl>
                                        <p:attrNameLst>
                                          <p:attrName>style.visibility</p:attrName>
                                        </p:attrNameLst>
                                      </p:cBhvr>
                                      <p:to>
                                        <p:strVal val="visible"/>
                                      </p:to>
                                    </p:set>
                                    <p:animEffect transition="in" filter="fade">
                                      <p:cBhvr>
                                        <p:cTn id="92" dur="400"/>
                                        <p:tgtEl>
                                          <p:spTgt spid="30"/>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5" dur="400"/>
                                        <p:tgtEl>
                                          <p:spTgt spid="31"/>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2"/>
                                        </p:tgtEl>
                                        <p:attrNameLst>
                                          <p:attrName>style.visibility</p:attrName>
                                        </p:attrNameLst>
                                      </p:cBhvr>
                                      <p:to>
                                        <p:strVal val="visible"/>
                                      </p:to>
                                    </p:set>
                                    <p:animEffect transition="in" filter="fade">
                                      <p:cBhvr>
                                        <p:cTn id="98" dur="400"/>
                                        <p:tgtEl>
                                          <p:spTgt spid="32"/>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3"/>
                                        </p:tgtEl>
                                        <p:attrNameLst>
                                          <p:attrName>style.visibility</p:attrName>
                                        </p:attrNameLst>
                                      </p:cBhvr>
                                      <p:to>
                                        <p:strVal val="visible"/>
                                      </p:to>
                                    </p:set>
                                    <p:animEffect transition="in" filter="fade">
                                      <p:cBhvr>
                                        <p:cTn id="101" dur="400"/>
                                        <p:tgtEl>
                                          <p:spTgt spid="33"/>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4"/>
                                        </p:tgtEl>
                                        <p:attrNameLst>
                                          <p:attrName>style.visibility</p:attrName>
                                        </p:attrNameLst>
                                      </p:cBhvr>
                                      <p:to>
                                        <p:strVal val="visible"/>
                                      </p:to>
                                    </p:set>
                                    <p:animEffect transition="in" filter="fade">
                                      <p:cBhvr>
                                        <p:cTn id="104"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name="Slide 8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kb-816" descr="/Users/mac/Desktop/أردوينو/المشاريع والكتب/younes-training/mawaqif/assets/scenes/firstday.jpg">    </p:cNvPr>
          <p:cNvPicPr>
            <a:picLocks noChangeAspect="1"/>
          </p:cNvPicPr>
          <p:nvPr/>
        </p:nvPicPr>
        <p:blipFill>
          <a:blip r:embed="rId2"/>
          <a:stretch>
            <a:fillRect/>
          </a:stretch>
        </p:blipFill>
        <p:spPr>
          <a:xfrm>
            <a:off x="0" y="0"/>
            <a:ext cx="12191695" cy="6858000"/>
          </a:xfrm>
          <a:prstGeom prst="rect">
            <a:avLst/>
          </a:prstGeom>
        </p:spPr>
      </p:pic>
      <p:pic>
        <p:nvPicPr>
          <p:cNvPr id="3" name="Image 1" descr="/Users/mac/Desktop/أردوينو/المشاريع والكتب/younes-training/shared/assets/mcover-overlay.png">    </p:cNvPr>
          <p:cNvPicPr>
            <a:picLocks noChangeAspect="1"/>
          </p:cNvPicPr>
          <p:nvPr/>
        </p:nvPicPr>
        <p:blipFill>
          <a:blip r:embed="rId3"/>
          <a:stretch>
            <a:fillRect/>
          </a:stretch>
        </p:blipFill>
        <p:spPr>
          <a:xfrm>
            <a:off x="0" y="0"/>
            <a:ext cx="12191695" cy="6858000"/>
          </a:xfrm>
          <a:prstGeom prst="rect">
            <a:avLst/>
          </a:prstGeom>
        </p:spPr>
      </p:pic>
      <p:sp>
        <p:nvSpPr>
          <p:cNvPr id="4" name="Text 0"/>
          <p:cNvSpPr/>
          <p:nvPr/>
        </p:nvSpPr>
        <p:spPr>
          <a:xfrm>
            <a:off x="5669280" y="1737360"/>
            <a:ext cx="5699455" cy="502920"/>
          </a:xfrm>
          <a:prstGeom prst="rect">
            <a:avLst/>
          </a:prstGeom>
          <a:noFill/>
          <a:ln/>
        </p:spPr>
        <p:txBody>
          <a:bodyPr wrap="square" lIns="0" tIns="0" rIns="0" bIns="0" rtlCol="0" anchor="ctr">
            <a:normAutofit/>
          </a:bodyPr>
          <a:lstStyle/>
          <a:p>
            <a:pPr rtl="1" algn="r" indent="0" marL="0">
              <a:buNone/>
            </a:pPr>
            <a:r>
              <a:rPr lang="ar-SA" altLang="en-US" sz="2200" b="1" dirty="0">
                <a:solidFill>
                  <a:srgbClr val="D9AE4B"/>
                </a:solidFill>
                <a:latin typeface="Cairo" pitchFamily="34" charset="0"/>
                <a:ea typeface="Cairo" pitchFamily="34" charset="-122"/>
                <a:cs typeface="Cairo" pitchFamily="34" charset="-120"/>
              </a:rPr>
              <a:t>القواعد والإجراءات</a:t>
            </a:r>
            <a:endParaRPr lang="ar-SA" sz="2200" dirty="0"/>
          </a:p>
        </p:txBody>
      </p:sp>
      <p:sp>
        <p:nvSpPr>
          <p:cNvPr id="5" name="Text 1"/>
          <p:cNvSpPr/>
          <p:nvPr/>
        </p:nvSpPr>
        <p:spPr>
          <a:xfrm>
            <a:off x="5669280" y="2286000"/>
            <a:ext cx="5699455" cy="548640"/>
          </a:xfrm>
          <a:prstGeom prst="rect">
            <a:avLst/>
          </a:prstGeom>
          <a:noFill/>
          <a:ln/>
        </p:spPr>
        <p:txBody>
          <a:bodyPr wrap="square" lIns="0" tIns="0" rIns="0" bIns="0" rtlCol="0" anchor="ctr">
            <a:normAutofit/>
          </a:bodyPr>
          <a:lstStyle/>
          <a:p>
            <a:pPr rtl="1" algn="r" indent="0" marL="0">
              <a:buNone/>
            </a:pPr>
            <a:r>
              <a:rPr lang="ar-SA" altLang="en-US" sz="2600" b="1" dirty="0">
                <a:solidFill>
                  <a:srgbClr val="C9CFE6"/>
                </a:solidFill>
                <a:latin typeface="Cairo" pitchFamily="34" charset="0"/>
                <a:ea typeface="Cairo" pitchFamily="34" charset="-122"/>
                <a:cs typeface="Cairo" pitchFamily="34" charset="-120"/>
              </a:rPr>
              <a:t>الموقف ٤</a:t>
            </a:r>
            <a:endParaRPr lang="ar-SA" sz="2600" dirty="0"/>
          </a:p>
        </p:txBody>
      </p:sp>
      <p:sp>
        <p:nvSpPr>
          <p:cNvPr id="6" name="Text 2"/>
          <p:cNvSpPr/>
          <p:nvPr/>
        </p:nvSpPr>
        <p:spPr>
          <a:xfrm>
            <a:off x="4572000" y="2834640"/>
            <a:ext cx="6796735" cy="1188720"/>
          </a:xfrm>
          <a:prstGeom prst="rect">
            <a:avLst/>
          </a:prstGeom>
          <a:noFill/>
          <a:ln/>
        </p:spPr>
        <p:txBody>
          <a:bodyPr wrap="square" lIns="0" tIns="0" rIns="0" bIns="0" rtlCol="0" anchor="ctr">
            <a:normAutofit/>
          </a:bodyPr>
          <a:lstStyle/>
          <a:p>
            <a:pPr rtl="1" algn="r" indent="0" marL="0">
              <a:buNone/>
            </a:pPr>
            <a:r>
              <a:rPr lang="ar-SA" altLang="en-US" sz="6000" dirty="0">
                <a:solidFill>
                  <a:srgbClr val="FFFFFF"/>
                </a:solidFill>
                <a:latin typeface="Cairo Black" pitchFamily="34" charset="0"/>
                <a:ea typeface="Cairo Black" pitchFamily="34" charset="-122"/>
                <a:cs typeface="Cairo Black" pitchFamily="34" charset="-120"/>
              </a:rPr>
              <a:t>أول حصة</a:t>
            </a:r>
            <a:endParaRPr lang="ar-SA" sz="6000" dirty="0"/>
          </a:p>
        </p:txBody>
      </p:sp>
      <p:sp>
        <p:nvSpPr>
          <p:cNvPr id="7" name="Shape 3"/>
          <p:cNvSpPr/>
          <p:nvPr/>
        </p:nvSpPr>
        <p:spPr>
          <a:xfrm>
            <a:off x="10125151" y="4480560"/>
            <a:ext cx="1243584"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8" name="Text 4"/>
          <p:cNvSpPr/>
          <p:nvPr/>
        </p:nvSpPr>
        <p:spPr>
          <a:xfrm>
            <a:off x="10125151" y="4480560"/>
            <a:ext cx="1243584"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القصة</a:t>
            </a:r>
            <a:endParaRPr lang="ar-SA" sz="1500" dirty="0"/>
          </a:p>
        </p:txBody>
      </p:sp>
      <p:sp>
        <p:nvSpPr>
          <p:cNvPr id="9" name="Shape 5"/>
          <p:cNvSpPr/>
          <p:nvPr/>
        </p:nvSpPr>
        <p:spPr>
          <a:xfrm>
            <a:off x="8680399" y="4480560"/>
            <a:ext cx="1353312"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0" name="Text 6"/>
          <p:cNvSpPr/>
          <p:nvPr/>
        </p:nvSpPr>
        <p:spPr>
          <a:xfrm>
            <a:off x="8680399" y="4480560"/>
            <a:ext cx="1353312"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تصويت</a:t>
            </a:r>
            <a:endParaRPr lang="ar-SA" sz="1500" dirty="0"/>
          </a:p>
        </p:txBody>
      </p:sp>
      <p:sp>
        <p:nvSpPr>
          <p:cNvPr id="11" name="Shape 7"/>
          <p:cNvSpPr/>
          <p:nvPr/>
        </p:nvSpPr>
        <p:spPr>
          <a:xfrm>
            <a:off x="7235647" y="4480560"/>
            <a:ext cx="1353312"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2" name="Text 8"/>
          <p:cNvSpPr/>
          <p:nvPr/>
        </p:nvSpPr>
        <p:spPr>
          <a:xfrm>
            <a:off x="7235647" y="4480560"/>
            <a:ext cx="1353312"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لماذا؟</a:t>
            </a:r>
            <a:endParaRPr lang="ar-SA" sz="1500" dirty="0"/>
          </a:p>
        </p:txBody>
      </p:sp>
      <p:sp>
        <p:nvSpPr>
          <p:cNvPr id="13" name="Shape 9"/>
          <p:cNvSpPr/>
          <p:nvPr/>
        </p:nvSpPr>
        <p:spPr>
          <a:xfrm>
            <a:off x="5571439" y="4480560"/>
            <a:ext cx="1572768"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4" name="Text 10"/>
          <p:cNvSpPr/>
          <p:nvPr/>
        </p:nvSpPr>
        <p:spPr>
          <a:xfrm>
            <a:off x="5571439" y="4480560"/>
            <a:ext cx="1572768"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أول خطوة</a:t>
            </a:r>
            <a:endParaRPr lang="ar-SA" sz="1500" dirty="0"/>
          </a:p>
        </p:txBody>
      </p:sp>
      <p:sp>
        <p:nvSpPr>
          <p:cNvPr id="15" name="Shape 11"/>
          <p:cNvSpPr/>
          <p:nvPr/>
        </p:nvSpPr>
        <p:spPr>
          <a:xfrm>
            <a:off x="3687775" y="4480560"/>
            <a:ext cx="1792224"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6" name="Text 12"/>
          <p:cNvSpPr/>
          <p:nvPr/>
        </p:nvSpPr>
        <p:spPr>
          <a:xfrm>
            <a:off x="3687775" y="4480560"/>
            <a:ext cx="1792224"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ماذا تقول؟</a:t>
            </a:r>
            <a:endParaRPr lang="ar-SA" sz="1500" dirty="0"/>
          </a:p>
        </p:txBody>
      </p:sp>
      <p:sp>
        <p:nvSpPr>
          <p:cNvPr id="17" name="Text 1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18" name="Text 1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موقف: أول حصة  ·  ٨٢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16000" fill="hold"/>
                                        <p:tgtEl>
                                          <p:spTgt spid="2"/>
                                        </p:tgtEl>
                                      </p:cBhvr>
                                      <p:by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name="Slide 8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kb-817" descr="/Users/mac/Desktop/أردوينو/المشاريع والكتب/younes-training/mawaqif/assets/scenes/firstday.jpg">    </p:cNvPr>
          <p:cNvPicPr>
            <a:picLocks noChangeAspect="1"/>
          </p:cNvPicPr>
          <p:nvPr/>
        </p:nvPicPr>
        <p:blipFill>
          <a:blip r:embed="rId2"/>
          <a:stretch>
            <a:fillRect/>
          </a:stretch>
        </p:blipFill>
        <p:spPr>
          <a:xfrm>
            <a:off x="0" y="0"/>
            <a:ext cx="12191695" cy="6858000"/>
          </a:xfrm>
          <a:prstGeom prst="rect">
            <a:avLst/>
          </a:prstGeom>
        </p:spPr>
      </p:pic>
      <p:pic>
        <p:nvPicPr>
          <p:cNvPr id="3" name="Image 1" descr="/Users/mac/Desktop/أردوينو/المشاريع والكتب/younes-training/shared/assets/story-overlay.png">    </p:cNvPr>
          <p:cNvPicPr>
            <a:picLocks noChangeAspect="1"/>
          </p:cNvPicPr>
          <p:nvPr/>
        </p:nvPicPr>
        <p:blipFill>
          <a:blip r:embed="rId3"/>
          <a:stretch>
            <a:fillRect/>
          </a:stretch>
        </p:blipFill>
        <p:spPr>
          <a:xfrm>
            <a:off x="0" y="0"/>
            <a:ext cx="12191695" cy="6858000"/>
          </a:xfrm>
          <a:prstGeom prst="rect">
            <a:avLst/>
          </a:prstGeom>
        </p:spPr>
      </p:pic>
      <p:sp>
        <p:nvSpPr>
          <p:cNvPr id="4" name="Shape 0"/>
          <p:cNvSpPr/>
          <p:nvPr/>
        </p:nvSpPr>
        <p:spPr>
          <a:xfrm>
            <a:off x="7985455" y="365760"/>
            <a:ext cx="3657600" cy="502920"/>
          </a:xfrm>
          <a:prstGeom prst="roundRect">
            <a:avLst>
              <a:gd name="adj" fmla="val 49091"/>
            </a:avLst>
          </a:prstGeom>
          <a:solidFill>
            <a:srgbClr val="0A1230">
              <a:alpha val="80000"/>
            </a:srgbClr>
          </a:solidFill>
          <a:ln w="12700">
            <a:solidFill>
              <a:srgbClr val="D9AE4B">
                <a:alpha val="60000"/>
              </a:srgbClr>
            </a:solidFill>
            <a:prstDash val="solid"/>
          </a:ln>
        </p:spPr>
      </p:sp>
      <p:sp>
        <p:nvSpPr>
          <p:cNvPr id="5" name="Text 1"/>
          <p:cNvSpPr/>
          <p:nvPr/>
        </p:nvSpPr>
        <p:spPr>
          <a:xfrm>
            <a:off x="7985455" y="365760"/>
            <a:ext cx="3657600" cy="50292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 القصة · ماذا حدث؟</a:t>
            </a:r>
            <a:endParaRPr lang="ar-SA" sz="1800" dirty="0"/>
          </a:p>
        </p:txBody>
      </p:sp>
      <p:sp>
        <p:nvSpPr>
          <p:cNvPr id="6" name="Shape 2"/>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7" name="Text 3"/>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انتقل أ. عبد العزيز، موسوعة المعرفة في تخصصه، إلى المرحلة الثانوية، واستعد جيدًا لأول حصة مع الأول الثانوي.</a:t>
            </a:r>
            <a:endParaRPr lang="ar-SA" sz="2400" dirty="0"/>
          </a:p>
        </p:txBody>
      </p:sp>
      <p:sp>
        <p:nvSpPr>
          <p:cNvPr id="8" name="anim-g1-818"/>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9" name="anim-g1-819"/>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لكن: لا انتباه للشرح، وأغلب الطلاب بلا كراسات، ثم بدأ طالب ثم ثانٍ ثم ثالث يستأذن للخروج.</a:t>
            </a:r>
            <a:endParaRPr lang="ar-SA" sz="2400" dirty="0"/>
          </a:p>
        </p:txBody>
      </p:sp>
      <p:sp>
        <p:nvSpPr>
          <p:cNvPr id="10" name="anim-g2-820"/>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11" name="anim-g2-821"/>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قرر: «سأعلن كل قاعدة فور وقوع المخالفة، وخلال أسابيع تكتمل القواعد».</a:t>
            </a:r>
            <a:endParaRPr lang="ar-SA" sz="2400" dirty="0"/>
          </a:p>
        </p:txBody>
      </p:sp>
      <p:sp>
        <p:nvSpPr>
          <p:cNvPr id="12" name="anim-g3-822"/>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13" name="anim-g3-823"/>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600" b="1" dirty="0">
                <a:solidFill>
                  <a:srgbClr val="F0CC7A"/>
                </a:solidFill>
                <a:latin typeface="Cairo" pitchFamily="34" charset="0"/>
                <a:ea typeface="Cairo" pitchFamily="34" charset="-122"/>
                <a:cs typeface="Cairo" pitchFamily="34" charset="-120"/>
              </a:rPr>
              <a:t>بعد أسابيع صار الفصل مضرب المثل في الفوضى… وقدّم طلبًا بالاعتذار عن تدريسه.</a:t>
            </a:r>
            <a:endParaRPr lang="ar-SA" sz="2600" dirty="0"/>
          </a:p>
        </p:txBody>
      </p:sp>
      <p:sp>
        <p:nvSpPr>
          <p:cNvPr id="14" name="Text 1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15" name="Text 1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موقف: أول حصة  ·  ٨٣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16000" fill="hold"/>
                                        <p:tgtEl>
                                          <p:spTgt spid="2"/>
                                        </p:tgtEl>
                                      </p:cBhvr>
                                      <p:by x="112000" y="112000"/>
                                    </p:animScale>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name="Slide 8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296351" y="457200"/>
            <a:ext cx="3072384" cy="457200"/>
          </a:xfrm>
          <a:prstGeom prst="roundRect">
            <a:avLst>
              <a:gd name="adj" fmla="val 50000"/>
            </a:avLst>
          </a:prstGeom>
          <a:solidFill>
            <a:srgbClr val="F6EBCF"/>
          </a:solidFill>
          <a:ln/>
        </p:spPr>
      </p:sp>
      <p:sp>
        <p:nvSpPr>
          <p:cNvPr id="3" name="Text 1"/>
          <p:cNvSpPr/>
          <p:nvPr/>
        </p:nvSpPr>
        <p:spPr>
          <a:xfrm>
            <a:off x="8296351" y="457200"/>
            <a:ext cx="307238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صوّت قبل أن نكشف</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أين كان الخطأ؟</a:t>
            </a:r>
            <a:endParaRPr lang="ar-SA" sz="38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الطلاب صعبون، ولا ذنب للمعلم</a:t>
            </a:r>
            <a:endParaRPr lang="ar-SA" sz="2500" dirty="0"/>
          </a:p>
        </p:txBody>
      </p:sp>
      <p:sp>
        <p:nvSpPr>
          <p:cNvPr id="9" name="anim-g1-824"/>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825"/>
          <p:cNvSpPr/>
          <p:nvPr/>
        </p:nvSpPr>
        <p:spPr>
          <a:xfrm>
            <a:off x="10231831" y="2194560"/>
            <a:ext cx="954024" cy="954024"/>
          </a:xfrm>
          <a:prstGeom prst="roundRect">
            <a:avLst>
              <a:gd name="adj" fmla="val 11502"/>
            </a:avLst>
          </a:prstGeom>
          <a:solidFill>
            <a:srgbClr val="A3A9BA"/>
          </a:solidFill>
          <a:ln/>
        </p:spPr>
      </p:sp>
      <p:sp>
        <p:nvSpPr>
          <p:cNvPr id="11" name="anim-g1-826"/>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827"/>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الطلاب صعبون، ولا ذنب للمعلم</a:t>
            </a:r>
            <a:endParaRPr lang="ar-SA" sz="2400" dirty="0"/>
          </a:p>
        </p:txBody>
      </p:sp>
      <p:sp>
        <p:nvSpPr>
          <p:cNvPr id="13" name="anim-g1-828"/>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المعلمون الآخرون لا يواجهون المشكلة نفسها في الفصل ذاته</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القواعد جاءت متأخرة وبعد المخالفة، فبدت عقابًا شخصيًا</a:t>
            </a:r>
            <a:endParaRPr lang="ar-SA" sz="2500" dirty="0"/>
          </a:p>
        </p:txBody>
      </p:sp>
      <p:sp>
        <p:nvSpPr>
          <p:cNvPr id="18" name="anim-g1-829"/>
          <p:cNvSpPr/>
          <p:nvPr/>
        </p:nvSpPr>
        <p:spPr>
          <a:xfrm>
            <a:off x="822960" y="3432048"/>
            <a:ext cx="10545775" cy="1228344"/>
          </a:xfrm>
          <a:prstGeom prst="roundRect">
            <a:avLst>
              <a:gd name="adj" fmla="val 11911"/>
            </a:avLst>
          </a:prstGeom>
          <a:solidFill>
            <a:srgbClr val="E6F4EC"/>
          </a:solidFill>
          <a:ln w="31750">
            <a:solidFill>
              <a:srgbClr val="2E9E6B"/>
            </a:solidFill>
            <a:prstDash val="solid"/>
          </a:ln>
        </p:spPr>
      </p:sp>
      <p:sp>
        <p:nvSpPr>
          <p:cNvPr id="19" name="anim-g1-830"/>
          <p:cNvSpPr/>
          <p:nvPr/>
        </p:nvSpPr>
        <p:spPr>
          <a:xfrm>
            <a:off x="10231831" y="3569208"/>
            <a:ext cx="954024" cy="954024"/>
          </a:xfrm>
          <a:prstGeom prst="roundRect">
            <a:avLst>
              <a:gd name="adj" fmla="val 11502"/>
            </a:avLst>
          </a:prstGeom>
          <a:solidFill>
            <a:srgbClr val="2E9E6B"/>
          </a:solidFill>
          <a:ln/>
        </p:spPr>
      </p:sp>
      <p:sp>
        <p:nvSpPr>
          <p:cNvPr id="20" name="anim-g1-831"/>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21" name="anim-g1-832"/>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القواعد جاءت متأخرة وبعد المخالفة، فبدت عقابًا شخصيًا</a:t>
            </a:r>
            <a:endParaRPr lang="ar-SA" sz="2400" dirty="0"/>
          </a:p>
        </p:txBody>
      </p:sp>
      <p:sp>
        <p:nvSpPr>
          <p:cNvPr id="22" name="anim-g1-833"/>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القاعدة التي تُعلن بعد الخطأ تُفهم انتقامًا، لا نظامًا</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كان عليه أن يكون أشد قسوة من اليوم الأول</a:t>
            </a:r>
            <a:endParaRPr lang="ar-SA" sz="2500" dirty="0"/>
          </a:p>
        </p:txBody>
      </p:sp>
      <p:sp>
        <p:nvSpPr>
          <p:cNvPr id="27" name="anim-g1-834"/>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835"/>
          <p:cNvSpPr/>
          <p:nvPr/>
        </p:nvSpPr>
        <p:spPr>
          <a:xfrm>
            <a:off x="10231831" y="4943856"/>
            <a:ext cx="954024" cy="954024"/>
          </a:xfrm>
          <a:prstGeom prst="roundRect">
            <a:avLst>
              <a:gd name="adj" fmla="val 11502"/>
            </a:avLst>
          </a:prstGeom>
          <a:solidFill>
            <a:srgbClr val="A3A9BA"/>
          </a:solidFill>
          <a:ln/>
        </p:spPr>
      </p:sp>
      <p:sp>
        <p:nvSpPr>
          <p:cNvPr id="29" name="anim-g1-836"/>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837"/>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كان عليه أن يكون أشد قسوة من اليوم الأول</a:t>
            </a:r>
            <a:endParaRPr lang="ar-SA" sz="2400" dirty="0"/>
          </a:p>
        </p:txBody>
      </p:sp>
      <p:sp>
        <p:nvSpPr>
          <p:cNvPr id="31" name="anim-g1-838"/>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القسوة تضبط لحظيًا، أما الوضوح فيضبط دائمًا</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أول حصة  ·  ٨٤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name="Slide 8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711135" y="457200"/>
            <a:ext cx="3657600" cy="457200"/>
          </a:xfrm>
          <a:prstGeom prst="roundRect">
            <a:avLst>
              <a:gd name="adj" fmla="val 50000"/>
            </a:avLst>
          </a:prstGeom>
          <a:solidFill>
            <a:srgbClr val="F6EBCF"/>
          </a:solidFill>
          <a:ln/>
        </p:spPr>
      </p:sp>
      <p:sp>
        <p:nvSpPr>
          <p:cNvPr id="3" name="Text 1"/>
          <p:cNvSpPr/>
          <p:nvPr/>
        </p:nvSpPr>
        <p:spPr>
          <a:xfrm>
            <a:off x="7711135" y="457200"/>
            <a:ext cx="365760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وراء كل سلوك حاجة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لماذا انفلت الفصل؟</a:t>
            </a:r>
            <a:endParaRPr lang="ar-SA" sz="3800" dirty="0"/>
          </a:p>
        </p:txBody>
      </p:sp>
      <p:sp>
        <p:nvSpPr>
          <p:cNvPr id="5" name="anim-g1-839"/>
          <p:cNvSpPr/>
          <p:nvPr/>
        </p:nvSpPr>
        <p:spPr>
          <a:xfrm>
            <a:off x="8903741" y="2011680"/>
            <a:ext cx="2464994" cy="2514600"/>
          </a:xfrm>
          <a:prstGeom prst="roundRect">
            <a:avLst>
              <a:gd name="adj" fmla="val 6677"/>
            </a:avLst>
          </a:prstGeom>
          <a:solidFill>
            <a:srgbClr val="FFFFFF"/>
          </a:solidFill>
          <a:ln w="12700">
            <a:solidFill>
              <a:srgbClr val="E4DCC8"/>
            </a:solidFill>
            <a:prstDash val="solid"/>
          </a:ln>
        </p:spPr>
      </p:sp>
      <p:sp>
        <p:nvSpPr>
          <p:cNvPr id="6" name="anim-g1-840"/>
          <p:cNvSpPr/>
          <p:nvPr/>
        </p:nvSpPr>
        <p:spPr>
          <a:xfrm>
            <a:off x="9816198" y="2194560"/>
            <a:ext cx="640080" cy="640080"/>
          </a:xfrm>
          <a:prstGeom prst="roundRect">
            <a:avLst>
              <a:gd name="adj" fmla="val 25714"/>
            </a:avLst>
          </a:prstGeom>
          <a:solidFill>
            <a:srgbClr val="F7E6BC"/>
          </a:solidFill>
          <a:ln/>
        </p:spPr>
      </p:sp>
      <p:sp>
        <p:nvSpPr>
          <p:cNvPr id="7" name="anim-g1-841"/>
          <p:cNvSpPr/>
          <p:nvPr/>
        </p:nvSpPr>
        <p:spPr>
          <a:xfrm>
            <a:off x="9816198"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8" name="anim-g1-842"/>
          <p:cNvSpPr/>
          <p:nvPr/>
        </p:nvSpPr>
        <p:spPr>
          <a:xfrm>
            <a:off x="9040901"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غياب البداية</a:t>
            </a:r>
            <a:endParaRPr lang="ar-SA" sz="2200" dirty="0"/>
          </a:p>
        </p:txBody>
      </p:sp>
      <p:sp>
        <p:nvSpPr>
          <p:cNvPr id="9" name="anim-g1-843"/>
          <p:cNvSpPr/>
          <p:nvPr/>
        </p:nvSpPr>
        <p:spPr>
          <a:xfrm>
            <a:off x="9040901"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لم يعرّفهم بنفسه ولا بنظامه</a:t>
            </a:r>
            <a:endParaRPr lang="ar-SA" sz="1900" dirty="0"/>
          </a:p>
        </p:txBody>
      </p:sp>
      <p:sp>
        <p:nvSpPr>
          <p:cNvPr id="10" name="anim-g2-844"/>
          <p:cNvSpPr/>
          <p:nvPr/>
        </p:nvSpPr>
        <p:spPr>
          <a:xfrm>
            <a:off x="6210148" y="2011680"/>
            <a:ext cx="2464994" cy="2514600"/>
          </a:xfrm>
          <a:prstGeom prst="roundRect">
            <a:avLst>
              <a:gd name="adj" fmla="val 6677"/>
            </a:avLst>
          </a:prstGeom>
          <a:solidFill>
            <a:srgbClr val="FFFFFF"/>
          </a:solidFill>
          <a:ln w="12700">
            <a:solidFill>
              <a:srgbClr val="E4DCC8"/>
            </a:solidFill>
            <a:prstDash val="solid"/>
          </a:ln>
        </p:spPr>
      </p:sp>
      <p:sp>
        <p:nvSpPr>
          <p:cNvPr id="11" name="anim-g2-845"/>
          <p:cNvSpPr/>
          <p:nvPr/>
        </p:nvSpPr>
        <p:spPr>
          <a:xfrm>
            <a:off x="7122604" y="2194560"/>
            <a:ext cx="640080" cy="640080"/>
          </a:xfrm>
          <a:prstGeom prst="roundRect">
            <a:avLst>
              <a:gd name="adj" fmla="val 25714"/>
            </a:avLst>
          </a:prstGeom>
          <a:solidFill>
            <a:srgbClr val="F7E6BC"/>
          </a:solidFill>
          <a:ln/>
        </p:spPr>
      </p:sp>
      <p:sp>
        <p:nvSpPr>
          <p:cNvPr id="12" name="anim-g2-846"/>
          <p:cNvSpPr/>
          <p:nvPr/>
        </p:nvSpPr>
        <p:spPr>
          <a:xfrm>
            <a:off x="7122604"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13" name="anim-g2-847"/>
          <p:cNvSpPr/>
          <p:nvPr/>
        </p:nvSpPr>
        <p:spPr>
          <a:xfrm>
            <a:off x="6347308"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قواعد متأخرة</a:t>
            </a:r>
            <a:endParaRPr lang="ar-SA" sz="2200" dirty="0"/>
          </a:p>
        </p:txBody>
      </p:sp>
      <p:sp>
        <p:nvSpPr>
          <p:cNvPr id="14" name="anim-g2-848"/>
          <p:cNvSpPr/>
          <p:nvPr/>
        </p:nvSpPr>
        <p:spPr>
          <a:xfrm>
            <a:off x="6347308"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كل قاعدة جاءت بعد مخالفة</a:t>
            </a:r>
            <a:endParaRPr lang="ar-SA" sz="1900" dirty="0"/>
          </a:p>
        </p:txBody>
      </p:sp>
      <p:sp>
        <p:nvSpPr>
          <p:cNvPr id="15" name="anim-g3-849"/>
          <p:cNvSpPr/>
          <p:nvPr/>
        </p:nvSpPr>
        <p:spPr>
          <a:xfrm>
            <a:off x="3516554" y="2011680"/>
            <a:ext cx="2464994" cy="2514600"/>
          </a:xfrm>
          <a:prstGeom prst="roundRect">
            <a:avLst>
              <a:gd name="adj" fmla="val 6677"/>
            </a:avLst>
          </a:prstGeom>
          <a:solidFill>
            <a:srgbClr val="FFFFFF"/>
          </a:solidFill>
          <a:ln w="12700">
            <a:solidFill>
              <a:srgbClr val="E4DCC8"/>
            </a:solidFill>
            <a:prstDash val="solid"/>
          </a:ln>
        </p:spPr>
      </p:sp>
      <p:sp>
        <p:nvSpPr>
          <p:cNvPr id="16" name="anim-g3-850"/>
          <p:cNvSpPr/>
          <p:nvPr/>
        </p:nvSpPr>
        <p:spPr>
          <a:xfrm>
            <a:off x="4429011" y="2194560"/>
            <a:ext cx="640080" cy="640080"/>
          </a:xfrm>
          <a:prstGeom prst="roundRect">
            <a:avLst>
              <a:gd name="adj" fmla="val 25714"/>
            </a:avLst>
          </a:prstGeom>
          <a:solidFill>
            <a:srgbClr val="F7E6BC"/>
          </a:solidFill>
          <a:ln/>
        </p:spPr>
      </p:sp>
      <p:sp>
        <p:nvSpPr>
          <p:cNvPr id="17" name="anim-g3-851"/>
          <p:cNvSpPr/>
          <p:nvPr/>
        </p:nvSpPr>
        <p:spPr>
          <a:xfrm>
            <a:off x="4429011"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18" name="anim-g3-852"/>
          <p:cNvSpPr/>
          <p:nvPr/>
        </p:nvSpPr>
        <p:spPr>
          <a:xfrm>
            <a:off x="3653714"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اختبار الحدود</a:t>
            </a:r>
            <a:endParaRPr lang="ar-SA" sz="2200" dirty="0"/>
          </a:p>
        </p:txBody>
      </p:sp>
      <p:sp>
        <p:nvSpPr>
          <p:cNvPr id="19" name="anim-g3-853"/>
          <p:cNvSpPr/>
          <p:nvPr/>
        </p:nvSpPr>
        <p:spPr>
          <a:xfrm>
            <a:off x="3653714"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الطلاب يختبرون كل معلم جديد</a:t>
            </a:r>
            <a:endParaRPr lang="ar-SA" sz="1900" dirty="0"/>
          </a:p>
        </p:txBody>
      </p:sp>
      <p:sp>
        <p:nvSpPr>
          <p:cNvPr id="20" name="anim-g4-854"/>
          <p:cNvSpPr/>
          <p:nvPr/>
        </p:nvSpPr>
        <p:spPr>
          <a:xfrm>
            <a:off x="822960" y="2011680"/>
            <a:ext cx="2464994" cy="2514600"/>
          </a:xfrm>
          <a:prstGeom prst="roundRect">
            <a:avLst>
              <a:gd name="adj" fmla="val 6677"/>
            </a:avLst>
          </a:prstGeom>
          <a:solidFill>
            <a:srgbClr val="FFFFFF"/>
          </a:solidFill>
          <a:ln w="12700">
            <a:solidFill>
              <a:srgbClr val="E4DCC8"/>
            </a:solidFill>
            <a:prstDash val="solid"/>
          </a:ln>
        </p:spPr>
      </p:sp>
      <p:sp>
        <p:nvSpPr>
          <p:cNvPr id="21" name="anim-g4-855"/>
          <p:cNvSpPr/>
          <p:nvPr/>
        </p:nvSpPr>
        <p:spPr>
          <a:xfrm>
            <a:off x="1735417" y="2194560"/>
            <a:ext cx="640080" cy="640080"/>
          </a:xfrm>
          <a:prstGeom prst="roundRect">
            <a:avLst>
              <a:gd name="adj" fmla="val 25714"/>
            </a:avLst>
          </a:prstGeom>
          <a:solidFill>
            <a:srgbClr val="F7E6BC"/>
          </a:solidFill>
          <a:ln/>
        </p:spPr>
      </p:sp>
      <p:sp>
        <p:nvSpPr>
          <p:cNvPr id="22" name="anim-g4-856"/>
          <p:cNvSpPr/>
          <p:nvPr/>
        </p:nvSpPr>
        <p:spPr>
          <a:xfrm>
            <a:off x="1735417"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23" name="anim-g4-857"/>
          <p:cNvSpPr/>
          <p:nvPr/>
        </p:nvSpPr>
        <p:spPr>
          <a:xfrm>
            <a:off x="960120"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المحتوى أولًا</a:t>
            </a:r>
            <a:endParaRPr lang="ar-SA" sz="2200" dirty="0"/>
          </a:p>
        </p:txBody>
      </p:sp>
      <p:sp>
        <p:nvSpPr>
          <p:cNvPr id="24" name="anim-g4-858"/>
          <p:cNvSpPr/>
          <p:nvPr/>
        </p:nvSpPr>
        <p:spPr>
          <a:xfrm>
            <a:off x="960120"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استعد للدرس ولم يستعد للإدارة</a:t>
            </a:r>
            <a:endParaRPr lang="ar-SA" sz="1900" dirty="0"/>
          </a:p>
        </p:txBody>
      </p:sp>
      <p:sp>
        <p:nvSpPr>
          <p:cNvPr id="25" name="anim-g5-859"/>
          <p:cNvSpPr/>
          <p:nvPr/>
        </p:nvSpPr>
        <p:spPr>
          <a:xfrm>
            <a:off x="822960" y="4754880"/>
            <a:ext cx="10545775" cy="1051560"/>
          </a:xfrm>
          <a:prstGeom prst="roundRect">
            <a:avLst>
              <a:gd name="adj" fmla="val 17391"/>
            </a:avLst>
          </a:prstGeom>
          <a:solidFill>
            <a:srgbClr val="101B45"/>
          </a:solidFill>
          <a:ln/>
        </p:spPr>
      </p:sp>
      <p:sp>
        <p:nvSpPr>
          <p:cNvPr id="26" name="anim-g5-860"/>
          <p:cNvSpPr/>
          <p:nvPr/>
        </p:nvSpPr>
        <p:spPr>
          <a:xfrm>
            <a:off x="1097280" y="4754880"/>
            <a:ext cx="9997135" cy="1051560"/>
          </a:xfrm>
          <a:prstGeom prst="rect">
            <a:avLst/>
          </a:prstGeom>
          <a:noFill/>
          <a:ln/>
        </p:spPr>
        <p:txBody>
          <a:bodyPr wrap="square" lIns="0" tIns="0" rIns="0" bIns="0" rtlCol="0" anchor="ctr">
            <a:normAutofit/>
          </a:bodyPr>
          <a:lstStyle/>
          <a:p>
            <a:pPr algn="ctr" indent="0" marL="0">
              <a:buNone/>
            </a:pPr>
            <a:r>
              <a:rPr lang="ar-SA" altLang="en-US" sz="2200" b="1" dirty="0">
                <a:solidFill>
                  <a:srgbClr val="FFFFFF"/>
                </a:solidFill>
                <a:latin typeface="Cairo" pitchFamily="34" charset="0"/>
                <a:ea typeface="Cairo" pitchFamily="34" charset="-122"/>
                <a:cs typeface="Cairo" pitchFamily="34" charset="-120"/>
              </a:rPr>
              <a:t>💡 الأيام الأولى لا تُعوَّض…</a:t>
            </a:r>
            <a:endParaRPr lang="ar-SA" sz="2200" dirty="0"/>
          </a:p>
          <a:p>
            <a:pPr algn="ctr" indent="0" marL="0">
              <a:buNone/>
            </a:pPr>
            <a:r>
              <a:rPr lang="ar-SA" altLang="en-US" sz="2200" b="1" dirty="0">
                <a:solidFill>
                  <a:srgbClr val="F0CC7A"/>
                </a:solidFill>
                <a:latin typeface="Cairo" pitchFamily="34" charset="0"/>
                <a:ea typeface="Cairo" pitchFamily="34" charset="-122"/>
                <a:cs typeface="Cairo" pitchFamily="34" charset="-120"/>
              </a:rPr>
              <a:t> من يضع القواعد أولًا يكسب العام كله</a:t>
            </a:r>
            <a:endParaRPr lang="ar-SA" sz="2200" dirty="0"/>
          </a:p>
        </p:txBody>
      </p:sp>
      <p:sp>
        <p:nvSpPr>
          <p:cNvPr id="27" name="Text 2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8" name="Text 2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أول حصة  ·  ٨٥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40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name="Slide 8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57439" y="457200"/>
            <a:ext cx="3511296" cy="457200"/>
          </a:xfrm>
          <a:prstGeom prst="roundRect">
            <a:avLst>
              <a:gd name="adj" fmla="val 50000"/>
            </a:avLst>
          </a:prstGeom>
          <a:solidFill>
            <a:srgbClr val="F6EBCF"/>
          </a:solidFill>
          <a:ln/>
        </p:spPr>
      </p:sp>
      <p:sp>
        <p:nvSpPr>
          <p:cNvPr id="3" name="Text 1"/>
          <p:cNvSpPr/>
          <p:nvPr/>
        </p:nvSpPr>
        <p:spPr>
          <a:xfrm>
            <a:off x="7857439" y="457200"/>
            <a:ext cx="351129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خطة الحصة الأولى</a:t>
            </a:r>
            <a:endParaRPr lang="ar-SA" sz="1800" dirty="0"/>
          </a:p>
        </p:txBody>
      </p:sp>
      <p:sp>
        <p:nvSpPr>
          <p:cNvPr id="4" name="Shape 2"/>
          <p:cNvSpPr/>
          <p:nvPr/>
        </p:nvSpPr>
        <p:spPr>
          <a:xfrm>
            <a:off x="822960" y="457200"/>
            <a:ext cx="2212848" cy="457200"/>
          </a:xfrm>
          <a:prstGeom prst="roundRect">
            <a:avLst>
              <a:gd name="adj" fmla="val 50000"/>
            </a:avLst>
          </a:prstGeom>
          <a:solidFill>
            <a:srgbClr val="FBECEC"/>
          </a:solidFill>
          <a:ln/>
        </p:spPr>
      </p:sp>
      <p:sp>
        <p:nvSpPr>
          <p:cNvPr id="5" name="Text 3"/>
          <p:cNvSpPr/>
          <p:nvPr/>
        </p:nvSpPr>
        <p:spPr>
          <a:xfrm>
            <a:off x="822960" y="457200"/>
            <a:ext cx="2212848"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D64545"/>
                </a:solidFill>
                <a:latin typeface="Cairo" pitchFamily="34" charset="0"/>
                <a:ea typeface="Cairo" pitchFamily="34" charset="-122"/>
                <a:cs typeface="Cairo" pitchFamily="34" charset="-120"/>
              </a:rPr>
              <a:t>⏱ الحصة الأولى</a:t>
            </a:r>
            <a:endParaRPr lang="ar-SA" sz="1600" dirty="0"/>
          </a:p>
        </p:txBody>
      </p:sp>
      <p:sp>
        <p:nvSpPr>
          <p:cNvPr id="6" name="Text 4"/>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أول حصة كما ينبغي</a:t>
            </a:r>
            <a:endParaRPr lang="ar-SA" sz="3800" dirty="0"/>
          </a:p>
        </p:txBody>
      </p:sp>
      <p:sp>
        <p:nvSpPr>
          <p:cNvPr id="7" name="anim-g1-861"/>
          <p:cNvSpPr/>
          <p:nvPr/>
        </p:nvSpPr>
        <p:spPr>
          <a:xfrm>
            <a:off x="8903741" y="2148840"/>
            <a:ext cx="2464994" cy="3383280"/>
          </a:xfrm>
          <a:prstGeom prst="roundRect">
            <a:avLst>
              <a:gd name="adj" fmla="val 6677"/>
            </a:avLst>
          </a:prstGeom>
          <a:solidFill>
            <a:srgbClr val="FFFFFF"/>
          </a:solidFill>
          <a:ln w="12700">
            <a:solidFill>
              <a:srgbClr val="E4DCC8"/>
            </a:solidFill>
            <a:prstDash val="solid"/>
          </a:ln>
        </p:spPr>
      </p:sp>
      <p:sp>
        <p:nvSpPr>
          <p:cNvPr id="8" name="anim-g1-862"/>
          <p:cNvSpPr/>
          <p:nvPr/>
        </p:nvSpPr>
        <p:spPr>
          <a:xfrm>
            <a:off x="9747618" y="2423160"/>
            <a:ext cx="777240" cy="777240"/>
          </a:xfrm>
          <a:prstGeom prst="ellipse">
            <a:avLst/>
          </a:prstGeom>
          <a:solidFill>
            <a:srgbClr val="D9AE4B"/>
          </a:solidFill>
          <a:ln/>
        </p:spPr>
      </p:sp>
      <p:sp>
        <p:nvSpPr>
          <p:cNvPr id="9" name="anim-g1-863"/>
          <p:cNvSpPr/>
          <p:nvPr/>
        </p:nvSpPr>
        <p:spPr>
          <a:xfrm>
            <a:off x="9747618"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١</a:t>
            </a:r>
            <a:endParaRPr lang="ar-SA" sz="2800" dirty="0"/>
          </a:p>
        </p:txBody>
      </p:sp>
      <p:sp>
        <p:nvSpPr>
          <p:cNvPr id="10" name="anim-g1-864"/>
          <p:cNvSpPr/>
          <p:nvPr/>
        </p:nvSpPr>
        <p:spPr>
          <a:xfrm>
            <a:off x="9040901"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عرّف بنفسك</a:t>
            </a:r>
            <a:endParaRPr lang="ar-SA" sz="2500" dirty="0"/>
          </a:p>
        </p:txBody>
      </p:sp>
      <p:sp>
        <p:nvSpPr>
          <p:cNvPr id="11" name="anim-g1-865"/>
          <p:cNvSpPr/>
          <p:nvPr/>
        </p:nvSpPr>
        <p:spPr>
          <a:xfrm>
            <a:off x="9086621"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من أنت، ولماذا تحب مادتك</a:t>
            </a:r>
            <a:endParaRPr lang="ar-SA" sz="2000" dirty="0"/>
          </a:p>
        </p:txBody>
      </p:sp>
      <p:sp>
        <p:nvSpPr>
          <p:cNvPr id="12" name="anim-g2-866"/>
          <p:cNvSpPr/>
          <p:nvPr/>
        </p:nvSpPr>
        <p:spPr>
          <a:xfrm>
            <a:off x="6210148" y="2148840"/>
            <a:ext cx="2464994" cy="3383280"/>
          </a:xfrm>
          <a:prstGeom prst="roundRect">
            <a:avLst>
              <a:gd name="adj" fmla="val 6677"/>
            </a:avLst>
          </a:prstGeom>
          <a:solidFill>
            <a:srgbClr val="FFFFFF"/>
          </a:solidFill>
          <a:ln w="12700">
            <a:solidFill>
              <a:srgbClr val="E4DCC8"/>
            </a:solidFill>
            <a:prstDash val="solid"/>
          </a:ln>
        </p:spPr>
      </p:sp>
      <p:sp>
        <p:nvSpPr>
          <p:cNvPr id="13" name="anim-g2-867"/>
          <p:cNvSpPr/>
          <p:nvPr/>
        </p:nvSpPr>
        <p:spPr>
          <a:xfrm>
            <a:off x="7054024" y="2423160"/>
            <a:ext cx="777240" cy="777240"/>
          </a:xfrm>
          <a:prstGeom prst="ellipse">
            <a:avLst/>
          </a:prstGeom>
          <a:solidFill>
            <a:srgbClr val="D9AE4B"/>
          </a:solidFill>
          <a:ln/>
        </p:spPr>
      </p:sp>
      <p:sp>
        <p:nvSpPr>
          <p:cNvPr id="14" name="anim-g2-868"/>
          <p:cNvSpPr/>
          <p:nvPr/>
        </p:nvSpPr>
        <p:spPr>
          <a:xfrm>
            <a:off x="7054024"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٢</a:t>
            </a:r>
            <a:endParaRPr lang="ar-SA" sz="2800" dirty="0"/>
          </a:p>
        </p:txBody>
      </p:sp>
      <p:sp>
        <p:nvSpPr>
          <p:cNvPr id="15" name="anim-g2-869"/>
          <p:cNvSpPr/>
          <p:nvPr/>
        </p:nvSpPr>
        <p:spPr>
          <a:xfrm>
            <a:off x="6347308"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القواعد</a:t>
            </a:r>
            <a:endParaRPr lang="ar-SA" sz="2500" dirty="0"/>
          </a:p>
        </p:txBody>
      </p:sp>
      <p:sp>
        <p:nvSpPr>
          <p:cNvPr id="16" name="anim-g2-870"/>
          <p:cNvSpPr/>
          <p:nvPr/>
        </p:nvSpPr>
        <p:spPr>
          <a:xfrm>
            <a:off x="6393028"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ثلاث إلى خمس قواعد تتفقون عليها</a:t>
            </a:r>
            <a:endParaRPr lang="ar-SA" sz="2000" dirty="0"/>
          </a:p>
        </p:txBody>
      </p:sp>
      <p:sp>
        <p:nvSpPr>
          <p:cNvPr id="17" name="anim-g3-871"/>
          <p:cNvSpPr/>
          <p:nvPr/>
        </p:nvSpPr>
        <p:spPr>
          <a:xfrm>
            <a:off x="3516554" y="2148840"/>
            <a:ext cx="2464994" cy="3383280"/>
          </a:xfrm>
          <a:prstGeom prst="roundRect">
            <a:avLst>
              <a:gd name="adj" fmla="val 6677"/>
            </a:avLst>
          </a:prstGeom>
          <a:solidFill>
            <a:srgbClr val="FFFFFF"/>
          </a:solidFill>
          <a:ln w="12700">
            <a:solidFill>
              <a:srgbClr val="E4DCC8"/>
            </a:solidFill>
            <a:prstDash val="solid"/>
          </a:ln>
        </p:spPr>
      </p:sp>
      <p:sp>
        <p:nvSpPr>
          <p:cNvPr id="18" name="anim-g3-872"/>
          <p:cNvSpPr/>
          <p:nvPr/>
        </p:nvSpPr>
        <p:spPr>
          <a:xfrm>
            <a:off x="4360431" y="2423160"/>
            <a:ext cx="777240" cy="777240"/>
          </a:xfrm>
          <a:prstGeom prst="ellipse">
            <a:avLst/>
          </a:prstGeom>
          <a:solidFill>
            <a:srgbClr val="D9AE4B"/>
          </a:solidFill>
          <a:ln/>
        </p:spPr>
      </p:sp>
      <p:sp>
        <p:nvSpPr>
          <p:cNvPr id="19" name="anim-g3-873"/>
          <p:cNvSpPr/>
          <p:nvPr/>
        </p:nvSpPr>
        <p:spPr>
          <a:xfrm>
            <a:off x="4360431"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٣</a:t>
            </a:r>
            <a:endParaRPr lang="ar-SA" sz="2800" dirty="0"/>
          </a:p>
        </p:txBody>
      </p:sp>
      <p:sp>
        <p:nvSpPr>
          <p:cNvPr id="20" name="anim-g3-874"/>
          <p:cNvSpPr/>
          <p:nvPr/>
        </p:nvSpPr>
        <p:spPr>
          <a:xfrm>
            <a:off x="3653714"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الإجراءات</a:t>
            </a:r>
            <a:endParaRPr lang="ar-SA" sz="2500" dirty="0"/>
          </a:p>
        </p:txBody>
      </p:sp>
      <p:sp>
        <p:nvSpPr>
          <p:cNvPr id="21" name="anim-g3-875"/>
          <p:cNvSpPr/>
          <p:nvPr/>
        </p:nvSpPr>
        <p:spPr>
          <a:xfrm>
            <a:off x="3699434"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تدريب على الدخول والخروج والأدوات</a:t>
            </a:r>
            <a:endParaRPr lang="ar-SA" sz="2000" dirty="0"/>
          </a:p>
        </p:txBody>
      </p:sp>
      <p:sp>
        <p:nvSpPr>
          <p:cNvPr id="22" name="anim-g4-876"/>
          <p:cNvSpPr/>
          <p:nvPr/>
        </p:nvSpPr>
        <p:spPr>
          <a:xfrm>
            <a:off x="822960" y="2148840"/>
            <a:ext cx="2464994" cy="3383280"/>
          </a:xfrm>
          <a:prstGeom prst="roundRect">
            <a:avLst>
              <a:gd name="adj" fmla="val 6677"/>
            </a:avLst>
          </a:prstGeom>
          <a:solidFill>
            <a:srgbClr val="FFFFFF"/>
          </a:solidFill>
          <a:ln w="12700">
            <a:solidFill>
              <a:srgbClr val="E4DCC8"/>
            </a:solidFill>
            <a:prstDash val="solid"/>
          </a:ln>
        </p:spPr>
      </p:sp>
      <p:sp>
        <p:nvSpPr>
          <p:cNvPr id="23" name="anim-g4-877"/>
          <p:cNvSpPr/>
          <p:nvPr/>
        </p:nvSpPr>
        <p:spPr>
          <a:xfrm>
            <a:off x="1666837" y="2423160"/>
            <a:ext cx="777240" cy="777240"/>
          </a:xfrm>
          <a:prstGeom prst="ellipse">
            <a:avLst/>
          </a:prstGeom>
          <a:solidFill>
            <a:srgbClr val="D9AE4B"/>
          </a:solidFill>
          <a:ln/>
        </p:spPr>
      </p:sp>
      <p:sp>
        <p:nvSpPr>
          <p:cNvPr id="24" name="anim-g4-878"/>
          <p:cNvSpPr/>
          <p:nvPr/>
        </p:nvSpPr>
        <p:spPr>
          <a:xfrm>
            <a:off x="1666837"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٤</a:t>
            </a:r>
            <a:endParaRPr lang="ar-SA" sz="2800" dirty="0"/>
          </a:p>
        </p:txBody>
      </p:sp>
      <p:sp>
        <p:nvSpPr>
          <p:cNvPr id="25" name="anim-g4-879"/>
          <p:cNvSpPr/>
          <p:nvPr/>
        </p:nvSpPr>
        <p:spPr>
          <a:xfrm>
            <a:off x="960120"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نجاح مبكر</a:t>
            </a:r>
            <a:endParaRPr lang="ar-SA" sz="2500" dirty="0"/>
          </a:p>
        </p:txBody>
      </p:sp>
      <p:sp>
        <p:nvSpPr>
          <p:cNvPr id="26" name="anim-g4-880"/>
          <p:cNvSpPr/>
          <p:nvPr/>
        </p:nvSpPr>
        <p:spPr>
          <a:xfrm>
            <a:off x="1005840"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نشاط يشعرون فيه بالإنجاز من اليوم الأول</a:t>
            </a:r>
            <a:endParaRPr lang="ar-SA" sz="2000" dirty="0"/>
          </a:p>
        </p:txBody>
      </p:sp>
      <p:sp>
        <p:nvSpPr>
          <p:cNvPr id="27" name="Text 2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8" name="Text 2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أول حصة  ·  ٨٦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400"/>
                                        <p:tgtEl>
                                          <p:spTgt spid="1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40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4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400"/>
                                        <p:tgtEl>
                                          <p:spTgt spid="1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400"/>
                                        <p:tgtEl>
                                          <p:spTgt spid="2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400"/>
                                        <p:tgtEl>
                                          <p:spTgt spid="21"/>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400"/>
                                        <p:tgtEl>
                                          <p:spTgt spid="2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400"/>
                                        <p:tgtEl>
                                          <p:spTgt spid="2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400"/>
                                        <p:tgtEl>
                                          <p:spTgt spid="2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400"/>
                                        <p:tgtEl>
                                          <p:spTgt spid="2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name="Slide 8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588959" y="457200"/>
            <a:ext cx="2779776" cy="457200"/>
          </a:xfrm>
          <a:prstGeom prst="roundRect">
            <a:avLst>
              <a:gd name="adj" fmla="val 50000"/>
            </a:avLst>
          </a:prstGeom>
          <a:solidFill>
            <a:srgbClr val="F6EBCF"/>
          </a:solidFill>
          <a:ln/>
        </p:spPr>
      </p:sp>
      <p:sp>
        <p:nvSpPr>
          <p:cNvPr id="3" name="Text 1"/>
          <p:cNvSpPr/>
          <p:nvPr/>
        </p:nvSpPr>
        <p:spPr>
          <a:xfrm>
            <a:off x="8588959" y="457200"/>
            <a:ext cx="277977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الجُمل الجاهزة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ماذا تقول بالحرف؟</a:t>
            </a:r>
            <a:endParaRPr lang="ar-SA" sz="3800" dirty="0"/>
          </a:p>
        </p:txBody>
      </p:sp>
      <p:sp>
        <p:nvSpPr>
          <p:cNvPr id="5" name="anim-g1-881"/>
          <p:cNvSpPr/>
          <p:nvPr/>
        </p:nvSpPr>
        <p:spPr>
          <a:xfrm>
            <a:off x="9768535" y="2130552"/>
            <a:ext cx="1600200" cy="819912"/>
          </a:xfrm>
          <a:prstGeom prst="roundRect">
            <a:avLst>
              <a:gd name="adj" fmla="val 16729"/>
            </a:avLst>
          </a:prstGeom>
          <a:solidFill>
            <a:srgbClr val="E9EDF9"/>
          </a:solidFill>
          <a:ln/>
        </p:spPr>
      </p:sp>
      <p:sp>
        <p:nvSpPr>
          <p:cNvPr id="6" name="anim-g1-882"/>
          <p:cNvSpPr/>
          <p:nvPr/>
        </p:nvSpPr>
        <p:spPr>
          <a:xfrm>
            <a:off x="9814255" y="2130552"/>
            <a:ext cx="1508760" cy="81991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الدقيقة الأولى</a:t>
            </a:r>
            <a:endParaRPr lang="ar-SA" sz="1800" dirty="0"/>
          </a:p>
        </p:txBody>
      </p:sp>
      <p:sp>
        <p:nvSpPr>
          <p:cNvPr id="7" name="anim-g1-883"/>
          <p:cNvSpPr/>
          <p:nvPr/>
        </p:nvSpPr>
        <p:spPr>
          <a:xfrm>
            <a:off x="822960" y="2057400"/>
            <a:ext cx="8716975" cy="966216"/>
          </a:xfrm>
          <a:prstGeom prst="roundRect">
            <a:avLst>
              <a:gd name="adj" fmla="val 20820"/>
            </a:avLst>
          </a:prstGeom>
          <a:solidFill>
            <a:srgbClr val="101B45"/>
          </a:solidFill>
          <a:ln/>
        </p:spPr>
      </p:sp>
      <p:sp>
        <p:nvSpPr>
          <p:cNvPr id="8" name="anim-g1-884"/>
          <p:cNvSpPr/>
          <p:nvPr/>
        </p:nvSpPr>
        <p:spPr>
          <a:xfrm>
            <a:off x="1097280" y="2057400"/>
            <a:ext cx="8168335" cy="966216"/>
          </a:xfrm>
          <a:prstGeom prst="rect">
            <a:avLst/>
          </a:prstGeom>
          <a:noFill/>
          <a:ln/>
        </p:spPr>
        <p:txBody>
          <a:bodyPr wrap="square" lIns="0" tIns="0" rIns="0" bIns="0" rtlCol="0" anchor="ctr">
            <a:normAutofit/>
          </a:bodyPr>
          <a:lstStyle/>
          <a:p>
            <a:pPr algn="r" indent="0" marL="0">
              <a:buNone/>
            </a:pPr>
            <a:r>
              <a:rPr lang="ar-SA" altLang="en-US" sz="2200" b="1" dirty="0">
                <a:solidFill>
                  <a:srgbClr val="D9AE4B"/>
                </a:solidFill>
                <a:latin typeface="Cairo" pitchFamily="34" charset="0"/>
                <a:ea typeface="Cairo" pitchFamily="34" charset="-122"/>
                <a:cs typeface="Cairo" pitchFamily="34" charset="-120"/>
              </a:rPr>
              <a:t>« </a:t>
            </a:r>
            <a:pPr algn="r" indent="0" marL="0">
              <a:buNone/>
            </a:pPr>
            <a:r>
              <a:rPr lang="ar-SA" altLang="en-US" sz="2200" b="1" dirty="0">
                <a:solidFill>
                  <a:srgbClr val="FFFFFF"/>
                </a:solidFill>
                <a:latin typeface="Cairo" pitchFamily="34" charset="0"/>
                <a:ea typeface="Cairo" pitchFamily="34" charset="-122"/>
                <a:cs typeface="Cairo" pitchFamily="34" charset="-120"/>
              </a:rPr>
              <a:t>أهلًا بكم. هذا العام سنعمل معًا بنظام واضح، وسأشرح لكم لماذا</a:t>
            </a:r>
            <a:pPr algn="r" indent="0" marL="0">
              <a:buNone/>
            </a:pPr>
            <a:r>
              <a:rPr lang="ar-SA" altLang="en-US" sz="2200" b="1" dirty="0">
                <a:solidFill>
                  <a:srgbClr val="D9AE4B"/>
                </a:solidFill>
                <a:latin typeface="Cairo" pitchFamily="34" charset="0"/>
                <a:ea typeface="Cairo" pitchFamily="34" charset="-122"/>
                <a:cs typeface="Cairo" pitchFamily="34" charset="-120"/>
              </a:rPr>
              <a:t> »</a:t>
            </a:r>
            <a:endParaRPr lang="ar-SA" sz="2200" dirty="0"/>
          </a:p>
        </p:txBody>
      </p:sp>
      <p:sp>
        <p:nvSpPr>
          <p:cNvPr id="9" name="anim-g2-885"/>
          <p:cNvSpPr/>
          <p:nvPr/>
        </p:nvSpPr>
        <p:spPr>
          <a:xfrm>
            <a:off x="9768535" y="3243072"/>
            <a:ext cx="1600200" cy="819912"/>
          </a:xfrm>
          <a:prstGeom prst="roundRect">
            <a:avLst>
              <a:gd name="adj" fmla="val 16729"/>
            </a:avLst>
          </a:prstGeom>
          <a:solidFill>
            <a:srgbClr val="E9EDF9"/>
          </a:solidFill>
          <a:ln/>
        </p:spPr>
      </p:sp>
      <p:sp>
        <p:nvSpPr>
          <p:cNvPr id="10" name="anim-g2-886"/>
          <p:cNvSpPr/>
          <p:nvPr/>
        </p:nvSpPr>
        <p:spPr>
          <a:xfrm>
            <a:off x="9814255" y="3243072"/>
            <a:ext cx="1508760" cy="81991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عند الاستئذان المتكرر</a:t>
            </a:r>
            <a:endParaRPr lang="ar-SA" sz="1800" dirty="0"/>
          </a:p>
        </p:txBody>
      </p:sp>
      <p:sp>
        <p:nvSpPr>
          <p:cNvPr id="11" name="anim-g2-887"/>
          <p:cNvSpPr/>
          <p:nvPr/>
        </p:nvSpPr>
        <p:spPr>
          <a:xfrm>
            <a:off x="822960" y="3169920"/>
            <a:ext cx="8716975" cy="966216"/>
          </a:xfrm>
          <a:prstGeom prst="roundRect">
            <a:avLst>
              <a:gd name="adj" fmla="val 20820"/>
            </a:avLst>
          </a:prstGeom>
          <a:solidFill>
            <a:srgbClr val="101B45"/>
          </a:solidFill>
          <a:ln/>
        </p:spPr>
      </p:sp>
      <p:sp>
        <p:nvSpPr>
          <p:cNvPr id="12" name="anim-g2-888"/>
          <p:cNvSpPr/>
          <p:nvPr/>
        </p:nvSpPr>
        <p:spPr>
          <a:xfrm>
            <a:off x="1097280" y="3169920"/>
            <a:ext cx="8168335" cy="966216"/>
          </a:xfrm>
          <a:prstGeom prst="rect">
            <a:avLst/>
          </a:prstGeom>
          <a:noFill/>
          <a:ln/>
        </p:spPr>
        <p:txBody>
          <a:bodyPr wrap="square" lIns="0" tIns="0" rIns="0" bIns="0" rtlCol="0" anchor="ctr">
            <a:normAutofit/>
          </a:bodyPr>
          <a:lstStyle/>
          <a:p>
            <a:pPr algn="r" indent="0" marL="0">
              <a:buNone/>
            </a:pPr>
            <a:r>
              <a:rPr lang="ar-SA" altLang="en-US" sz="2200" b="1" dirty="0">
                <a:solidFill>
                  <a:srgbClr val="D9AE4B"/>
                </a:solidFill>
                <a:latin typeface="Cairo" pitchFamily="34" charset="0"/>
                <a:ea typeface="Cairo" pitchFamily="34" charset="-122"/>
                <a:cs typeface="Cairo" pitchFamily="34" charset="-120"/>
              </a:rPr>
              <a:t>« </a:t>
            </a:r>
            <a:pPr algn="r" indent="0" marL="0">
              <a:buNone/>
            </a:pPr>
            <a:r>
              <a:rPr lang="ar-SA" altLang="en-US" sz="2200" b="1" dirty="0">
                <a:solidFill>
                  <a:srgbClr val="FFFFFF"/>
                </a:solidFill>
                <a:latin typeface="Cairo" pitchFamily="34" charset="0"/>
                <a:ea typeface="Cairo" pitchFamily="34" charset="-122"/>
                <a:cs typeface="Cairo" pitchFamily="34" charset="-120"/>
              </a:rPr>
              <a:t>الخروج لشخص واحد في كل مرة، بعد انتهاء الشرح. شكرًا لتفهمكم</a:t>
            </a:r>
            <a:pPr algn="r" indent="0" marL="0">
              <a:buNone/>
            </a:pPr>
            <a:r>
              <a:rPr lang="ar-SA" altLang="en-US" sz="2200" b="1" dirty="0">
                <a:solidFill>
                  <a:srgbClr val="D9AE4B"/>
                </a:solidFill>
                <a:latin typeface="Cairo" pitchFamily="34" charset="0"/>
                <a:ea typeface="Cairo" pitchFamily="34" charset="-122"/>
                <a:cs typeface="Cairo" pitchFamily="34" charset="-120"/>
              </a:rPr>
              <a:t> »</a:t>
            </a:r>
            <a:endParaRPr lang="ar-SA" sz="2200" dirty="0"/>
          </a:p>
        </p:txBody>
      </p:sp>
      <p:sp>
        <p:nvSpPr>
          <p:cNvPr id="13" name="anim-g3-889"/>
          <p:cNvSpPr/>
          <p:nvPr/>
        </p:nvSpPr>
        <p:spPr>
          <a:xfrm>
            <a:off x="9768535" y="4355592"/>
            <a:ext cx="1600200" cy="819912"/>
          </a:xfrm>
          <a:prstGeom prst="roundRect">
            <a:avLst>
              <a:gd name="adj" fmla="val 16729"/>
            </a:avLst>
          </a:prstGeom>
          <a:solidFill>
            <a:srgbClr val="E9EDF9"/>
          </a:solidFill>
          <a:ln/>
        </p:spPr>
      </p:sp>
      <p:sp>
        <p:nvSpPr>
          <p:cNvPr id="14" name="anim-g3-890"/>
          <p:cNvSpPr/>
          <p:nvPr/>
        </p:nvSpPr>
        <p:spPr>
          <a:xfrm>
            <a:off x="9814255" y="4355592"/>
            <a:ext cx="1508760" cy="81991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المدير لأ. عبد العزيز</a:t>
            </a:r>
            <a:endParaRPr lang="ar-SA" sz="1800" dirty="0"/>
          </a:p>
        </p:txBody>
      </p:sp>
      <p:sp>
        <p:nvSpPr>
          <p:cNvPr id="15" name="anim-g3-891"/>
          <p:cNvSpPr/>
          <p:nvPr/>
        </p:nvSpPr>
        <p:spPr>
          <a:xfrm>
            <a:off x="822960" y="4282440"/>
            <a:ext cx="8716975" cy="966216"/>
          </a:xfrm>
          <a:prstGeom prst="roundRect">
            <a:avLst>
              <a:gd name="adj" fmla="val 20820"/>
            </a:avLst>
          </a:prstGeom>
          <a:solidFill>
            <a:srgbClr val="101B45"/>
          </a:solidFill>
          <a:ln/>
        </p:spPr>
      </p:sp>
      <p:sp>
        <p:nvSpPr>
          <p:cNvPr id="16" name="anim-g3-892"/>
          <p:cNvSpPr/>
          <p:nvPr/>
        </p:nvSpPr>
        <p:spPr>
          <a:xfrm>
            <a:off x="1097280" y="4282440"/>
            <a:ext cx="8168335" cy="966216"/>
          </a:xfrm>
          <a:prstGeom prst="rect">
            <a:avLst/>
          </a:prstGeom>
          <a:noFill/>
          <a:ln/>
        </p:spPr>
        <p:txBody>
          <a:bodyPr wrap="square" lIns="0" tIns="0" rIns="0" bIns="0" rtlCol="0" anchor="ctr">
            <a:normAutofit/>
          </a:bodyPr>
          <a:lstStyle/>
          <a:p>
            <a:pPr algn="r" indent="0" marL="0">
              <a:buNone/>
            </a:pPr>
            <a:r>
              <a:rPr lang="ar-SA" altLang="en-US" sz="2000" b="1" dirty="0">
                <a:solidFill>
                  <a:srgbClr val="D9AE4B"/>
                </a:solidFill>
                <a:latin typeface="Cairo" pitchFamily="34" charset="0"/>
                <a:ea typeface="Cairo" pitchFamily="34" charset="-122"/>
                <a:cs typeface="Cairo" pitchFamily="34" charset="-120"/>
              </a:rPr>
              <a:t>« </a:t>
            </a:r>
            <a:pPr algn="r" indent="0" marL="0">
              <a:buNone/>
            </a:pPr>
            <a:r>
              <a:rPr lang="ar-SA" altLang="en-US" sz="2000" b="1" dirty="0">
                <a:solidFill>
                  <a:srgbClr val="FFFFFF"/>
                </a:solidFill>
                <a:latin typeface="Cairo" pitchFamily="34" charset="0"/>
                <a:ea typeface="Cairo" pitchFamily="34" charset="-122"/>
                <a:cs typeface="Cairo" pitchFamily="34" charset="-120"/>
              </a:rPr>
              <a:t>لن أقبل اعتذارك لأني أثق بك. سنبدأ معًا من جديد، وسأحضر معك الأسبوع القادم</a:t>
            </a:r>
            <a:pPr algn="r" indent="0" marL="0">
              <a:buNone/>
            </a:pPr>
            <a:r>
              <a:rPr lang="ar-SA" altLang="en-US" sz="2000" b="1" dirty="0">
                <a:solidFill>
                  <a:srgbClr val="D9AE4B"/>
                </a:solidFill>
                <a:latin typeface="Cairo" pitchFamily="34" charset="0"/>
                <a:ea typeface="Cairo" pitchFamily="34" charset="-122"/>
                <a:cs typeface="Cairo" pitchFamily="34" charset="-120"/>
              </a:rPr>
              <a:t> »</a:t>
            </a:r>
            <a:endParaRPr lang="ar-SA" sz="2000" dirty="0"/>
          </a:p>
        </p:txBody>
      </p:sp>
      <p:sp>
        <p:nvSpPr>
          <p:cNvPr id="17" name="anim-g4-893"/>
          <p:cNvSpPr/>
          <p:nvPr/>
        </p:nvSpPr>
        <p:spPr>
          <a:xfrm>
            <a:off x="822960" y="5532120"/>
            <a:ext cx="10545775" cy="548640"/>
          </a:xfrm>
          <a:prstGeom prst="roundRect">
            <a:avLst>
              <a:gd name="adj" fmla="val 20000"/>
            </a:avLst>
          </a:prstGeom>
          <a:solidFill>
            <a:srgbClr val="FBECEC"/>
          </a:solidFill>
          <a:ln/>
        </p:spPr>
      </p:sp>
      <p:sp>
        <p:nvSpPr>
          <p:cNvPr id="18" name="anim-g4-894"/>
          <p:cNvSpPr/>
          <p:nvPr/>
        </p:nvSpPr>
        <p:spPr>
          <a:xfrm>
            <a:off x="11295583" y="5532120"/>
            <a:ext cx="73152" cy="548640"/>
          </a:xfrm>
          <a:prstGeom prst="rect">
            <a:avLst/>
          </a:prstGeom>
          <a:solidFill>
            <a:srgbClr val="D64545"/>
          </a:solidFill>
          <a:ln/>
        </p:spPr>
      </p:sp>
      <p:sp>
        <p:nvSpPr>
          <p:cNvPr id="19" name="anim-g4-895"/>
          <p:cNvSpPr/>
          <p:nvPr/>
        </p:nvSpPr>
        <p:spPr>
          <a:xfrm>
            <a:off x="1005840" y="5532120"/>
            <a:ext cx="10088575" cy="548640"/>
          </a:xfrm>
          <a:prstGeom prst="rect">
            <a:avLst/>
          </a:prstGeom>
          <a:noFill/>
          <a:ln/>
        </p:spPr>
        <p:txBody>
          <a:bodyPr wrap="square" lIns="0" tIns="0" rIns="0" bIns="0" rtlCol="0" anchor="ctr">
            <a:normAutofit/>
          </a:bodyPr>
          <a:lstStyle/>
          <a:p>
            <a:pPr rtl="1" algn="r" indent="0" marL="0">
              <a:buNone/>
            </a:pPr>
            <a:r>
              <a:rPr lang="ar-SA" altLang="en-US" sz="1900" b="1" dirty="0">
                <a:solidFill>
                  <a:srgbClr val="8E2A2A"/>
                </a:solidFill>
                <a:latin typeface="Cairo" pitchFamily="34" charset="0"/>
                <a:ea typeface="Cairo" pitchFamily="34" charset="-122"/>
                <a:cs typeface="Cairo" pitchFamily="34" charset="-120"/>
              </a:rPr>
              <a:t>⚠️ تجنّب: إعلان قاعدة جديدة في لحظة غضب</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أول حصة  ·  ٨٧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name="Slide 8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5486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أخطاء شائعة… وبدائلها</a:t>
            </a:r>
            <a:endParaRPr lang="ar-SA" sz="3800" dirty="0"/>
          </a:p>
        </p:txBody>
      </p:sp>
      <p:sp>
        <p:nvSpPr>
          <p:cNvPr id="3" name="Text 1"/>
          <p:cNvSpPr/>
          <p:nvPr/>
        </p:nvSpPr>
        <p:spPr>
          <a:xfrm>
            <a:off x="6415888"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D64545"/>
                </a:solidFill>
                <a:latin typeface="Cairo Black" pitchFamily="34" charset="0"/>
                <a:ea typeface="Cairo Black" pitchFamily="34" charset="-122"/>
                <a:cs typeface="Cairo Black" pitchFamily="34" charset="-120"/>
              </a:rPr>
              <a:t>❌ الخطأ الشائع</a:t>
            </a:r>
            <a:endParaRPr lang="ar-SA" sz="2100" dirty="0"/>
          </a:p>
        </p:txBody>
      </p:sp>
      <p:sp>
        <p:nvSpPr>
          <p:cNvPr id="4" name="Text 2"/>
          <p:cNvSpPr/>
          <p:nvPr/>
        </p:nvSpPr>
        <p:spPr>
          <a:xfrm>
            <a:off x="822960"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2E9E6B"/>
                </a:solidFill>
                <a:latin typeface="Cairo Black" pitchFamily="34" charset="0"/>
                <a:ea typeface="Cairo Black" pitchFamily="34" charset="-122"/>
                <a:cs typeface="Cairo Black" pitchFamily="34" charset="-120"/>
              </a:rPr>
              <a:t>✅ البديل</a:t>
            </a:r>
            <a:endParaRPr lang="ar-SA" sz="2100" dirty="0"/>
          </a:p>
        </p:txBody>
      </p:sp>
      <p:sp>
        <p:nvSpPr>
          <p:cNvPr id="5" name="anim-g1-896"/>
          <p:cNvSpPr/>
          <p:nvPr/>
        </p:nvSpPr>
        <p:spPr>
          <a:xfrm>
            <a:off x="6415888" y="2194560"/>
            <a:ext cx="4952848" cy="804672"/>
          </a:xfrm>
          <a:prstGeom prst="roundRect">
            <a:avLst>
              <a:gd name="adj" fmla="val 15909"/>
            </a:avLst>
          </a:prstGeom>
          <a:solidFill>
            <a:srgbClr val="FBECEC"/>
          </a:solidFill>
          <a:ln/>
        </p:spPr>
      </p:sp>
      <p:sp>
        <p:nvSpPr>
          <p:cNvPr id="6" name="anim-g1-897"/>
          <p:cNvSpPr/>
          <p:nvPr/>
        </p:nvSpPr>
        <p:spPr>
          <a:xfrm>
            <a:off x="6644488"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البدء بالشرح مباشرة</a:t>
            </a:r>
            <a:endParaRPr lang="ar-SA" sz="2200" dirty="0"/>
          </a:p>
        </p:txBody>
      </p:sp>
      <p:sp>
        <p:nvSpPr>
          <p:cNvPr id="7" name="anim-g1-898"/>
          <p:cNvSpPr/>
          <p:nvPr/>
        </p:nvSpPr>
        <p:spPr>
          <a:xfrm>
            <a:off x="822960" y="2194560"/>
            <a:ext cx="4952848" cy="804672"/>
          </a:xfrm>
          <a:prstGeom prst="roundRect">
            <a:avLst>
              <a:gd name="adj" fmla="val 15909"/>
            </a:avLst>
          </a:prstGeom>
          <a:solidFill>
            <a:srgbClr val="FFFFFF"/>
          </a:solidFill>
          <a:ln w="19050">
            <a:solidFill>
              <a:srgbClr val="BFD9CB"/>
            </a:solidFill>
            <a:prstDash val="dash"/>
          </a:ln>
        </p:spPr>
      </p:sp>
      <p:sp>
        <p:nvSpPr>
          <p:cNvPr id="8" name="anim-g1-899"/>
          <p:cNvSpPr/>
          <p:nvPr/>
        </p:nvSpPr>
        <p:spPr>
          <a:xfrm>
            <a:off x="822960" y="219456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9" name="anim-g2-900"/>
          <p:cNvSpPr/>
          <p:nvPr/>
        </p:nvSpPr>
        <p:spPr>
          <a:xfrm>
            <a:off x="5775808" y="219456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0" name="anim-g2-901"/>
          <p:cNvSpPr/>
          <p:nvPr/>
        </p:nvSpPr>
        <p:spPr>
          <a:xfrm>
            <a:off x="822960" y="2194560"/>
            <a:ext cx="4952848" cy="804672"/>
          </a:xfrm>
          <a:prstGeom prst="roundRect">
            <a:avLst>
              <a:gd name="adj" fmla="val 15909"/>
            </a:avLst>
          </a:prstGeom>
          <a:solidFill>
            <a:srgbClr val="E6F4EC"/>
          </a:solidFill>
          <a:ln/>
        </p:spPr>
      </p:sp>
      <p:sp>
        <p:nvSpPr>
          <p:cNvPr id="11" name="anim-g2-902"/>
          <p:cNvSpPr/>
          <p:nvPr/>
        </p:nvSpPr>
        <p:spPr>
          <a:xfrm>
            <a:off x="1051560"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البدء بالتعارف والقواعد</a:t>
            </a:r>
            <a:endParaRPr lang="ar-SA" sz="2200" dirty="0"/>
          </a:p>
        </p:txBody>
      </p:sp>
      <p:sp>
        <p:nvSpPr>
          <p:cNvPr id="12" name="anim-g3-903"/>
          <p:cNvSpPr/>
          <p:nvPr/>
        </p:nvSpPr>
        <p:spPr>
          <a:xfrm>
            <a:off x="6415888" y="3154680"/>
            <a:ext cx="4952848" cy="804672"/>
          </a:xfrm>
          <a:prstGeom prst="roundRect">
            <a:avLst>
              <a:gd name="adj" fmla="val 15909"/>
            </a:avLst>
          </a:prstGeom>
          <a:solidFill>
            <a:srgbClr val="FBECEC"/>
          </a:solidFill>
          <a:ln/>
        </p:spPr>
      </p:sp>
      <p:sp>
        <p:nvSpPr>
          <p:cNvPr id="13" name="anim-g3-904"/>
          <p:cNvSpPr/>
          <p:nvPr/>
        </p:nvSpPr>
        <p:spPr>
          <a:xfrm>
            <a:off x="6644488"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قاعدة جديدة بعد كل مخالفة</a:t>
            </a:r>
            <a:endParaRPr lang="ar-SA" sz="2200" dirty="0"/>
          </a:p>
        </p:txBody>
      </p:sp>
      <p:sp>
        <p:nvSpPr>
          <p:cNvPr id="14" name="anim-g3-905"/>
          <p:cNvSpPr/>
          <p:nvPr/>
        </p:nvSpPr>
        <p:spPr>
          <a:xfrm>
            <a:off x="822960" y="3154680"/>
            <a:ext cx="4952848" cy="804672"/>
          </a:xfrm>
          <a:prstGeom prst="roundRect">
            <a:avLst>
              <a:gd name="adj" fmla="val 15909"/>
            </a:avLst>
          </a:prstGeom>
          <a:solidFill>
            <a:srgbClr val="FFFFFF"/>
          </a:solidFill>
          <a:ln w="19050">
            <a:solidFill>
              <a:srgbClr val="BFD9CB"/>
            </a:solidFill>
            <a:prstDash val="dash"/>
          </a:ln>
        </p:spPr>
      </p:sp>
      <p:sp>
        <p:nvSpPr>
          <p:cNvPr id="15" name="anim-g3-906"/>
          <p:cNvSpPr/>
          <p:nvPr/>
        </p:nvSpPr>
        <p:spPr>
          <a:xfrm>
            <a:off x="822960" y="315468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16" name="anim-g4-907"/>
          <p:cNvSpPr/>
          <p:nvPr/>
        </p:nvSpPr>
        <p:spPr>
          <a:xfrm>
            <a:off x="5775808" y="315468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7" name="anim-g4-908"/>
          <p:cNvSpPr/>
          <p:nvPr/>
        </p:nvSpPr>
        <p:spPr>
          <a:xfrm>
            <a:off x="822960" y="3154680"/>
            <a:ext cx="4952848" cy="804672"/>
          </a:xfrm>
          <a:prstGeom prst="roundRect">
            <a:avLst>
              <a:gd name="adj" fmla="val 15909"/>
            </a:avLst>
          </a:prstGeom>
          <a:solidFill>
            <a:srgbClr val="E6F4EC"/>
          </a:solidFill>
          <a:ln/>
        </p:spPr>
      </p:sp>
      <p:sp>
        <p:nvSpPr>
          <p:cNvPr id="18" name="anim-g4-909"/>
          <p:cNvSpPr/>
          <p:nvPr/>
        </p:nvSpPr>
        <p:spPr>
          <a:xfrm>
            <a:off x="1051560"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كل القواعد معلنة من اليوم الأول</a:t>
            </a:r>
            <a:endParaRPr lang="ar-SA" sz="2200" dirty="0"/>
          </a:p>
        </p:txBody>
      </p:sp>
      <p:sp>
        <p:nvSpPr>
          <p:cNvPr id="19" name="anim-g5-910"/>
          <p:cNvSpPr/>
          <p:nvPr/>
        </p:nvSpPr>
        <p:spPr>
          <a:xfrm>
            <a:off x="6415888" y="4114800"/>
            <a:ext cx="4952848" cy="804672"/>
          </a:xfrm>
          <a:prstGeom prst="roundRect">
            <a:avLst>
              <a:gd name="adj" fmla="val 15909"/>
            </a:avLst>
          </a:prstGeom>
          <a:solidFill>
            <a:srgbClr val="FBECEC"/>
          </a:solidFill>
          <a:ln/>
        </p:spPr>
      </p:sp>
      <p:sp>
        <p:nvSpPr>
          <p:cNvPr id="20" name="anim-g5-911"/>
          <p:cNvSpPr/>
          <p:nvPr/>
        </p:nvSpPr>
        <p:spPr>
          <a:xfrm>
            <a:off x="6644488"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قبول اعتذار المعلم ونقله</a:t>
            </a:r>
            <a:endParaRPr lang="ar-SA" sz="2200" dirty="0"/>
          </a:p>
        </p:txBody>
      </p:sp>
      <p:sp>
        <p:nvSpPr>
          <p:cNvPr id="21" name="anim-g5-912"/>
          <p:cNvSpPr/>
          <p:nvPr/>
        </p:nvSpPr>
        <p:spPr>
          <a:xfrm>
            <a:off x="822960" y="4114800"/>
            <a:ext cx="4952848" cy="804672"/>
          </a:xfrm>
          <a:prstGeom prst="roundRect">
            <a:avLst>
              <a:gd name="adj" fmla="val 15909"/>
            </a:avLst>
          </a:prstGeom>
          <a:solidFill>
            <a:srgbClr val="FFFFFF"/>
          </a:solidFill>
          <a:ln w="19050">
            <a:solidFill>
              <a:srgbClr val="BFD9CB"/>
            </a:solidFill>
            <a:prstDash val="dash"/>
          </a:ln>
        </p:spPr>
      </p:sp>
      <p:sp>
        <p:nvSpPr>
          <p:cNvPr id="22" name="anim-g5-913"/>
          <p:cNvSpPr/>
          <p:nvPr/>
        </p:nvSpPr>
        <p:spPr>
          <a:xfrm>
            <a:off x="822960" y="411480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23" name="anim-g6-914"/>
          <p:cNvSpPr/>
          <p:nvPr/>
        </p:nvSpPr>
        <p:spPr>
          <a:xfrm>
            <a:off x="5775808" y="411480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24" name="anim-g6-915"/>
          <p:cNvSpPr/>
          <p:nvPr/>
        </p:nvSpPr>
        <p:spPr>
          <a:xfrm>
            <a:off x="822960" y="4114800"/>
            <a:ext cx="4952848" cy="804672"/>
          </a:xfrm>
          <a:prstGeom prst="roundRect">
            <a:avLst>
              <a:gd name="adj" fmla="val 15909"/>
            </a:avLst>
          </a:prstGeom>
          <a:solidFill>
            <a:srgbClr val="E6F4EC"/>
          </a:solidFill>
          <a:ln/>
        </p:spPr>
      </p:sp>
      <p:sp>
        <p:nvSpPr>
          <p:cNvPr id="25" name="anim-g6-916"/>
          <p:cNvSpPr/>
          <p:nvPr/>
        </p:nvSpPr>
        <p:spPr>
          <a:xfrm>
            <a:off x="1051560"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دعم مستمر وبداية جديدة للفصل</a:t>
            </a:r>
            <a:endParaRPr lang="ar-SA" sz="2200" dirty="0"/>
          </a:p>
        </p:txBody>
      </p:sp>
      <p:sp>
        <p:nvSpPr>
          <p:cNvPr id="26" name="Text 24"/>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7" name="Text 25"/>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أول حصة  ·  ٨٨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0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400"/>
                                        <p:tgtEl>
                                          <p:spTgt spid="1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400"/>
                                        <p:tgtEl>
                                          <p:spTgt spid="2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400"/>
                                        <p:tgtEl>
                                          <p:spTgt spid="2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400"/>
                                        <p:tgtEl>
                                          <p:spTgt spid="2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name="Slide 8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174175" y="457200"/>
            <a:ext cx="2194560" cy="457200"/>
          </a:xfrm>
          <a:prstGeom prst="roundRect">
            <a:avLst>
              <a:gd name="adj" fmla="val 50000"/>
            </a:avLst>
          </a:prstGeom>
          <a:solidFill>
            <a:srgbClr val="F6EBCF"/>
          </a:solidFill>
          <a:ln/>
        </p:spPr>
      </p:sp>
      <p:sp>
        <p:nvSpPr>
          <p:cNvPr id="3" name="Text 1"/>
          <p:cNvSpPr/>
          <p:nvPr/>
        </p:nvSpPr>
        <p:spPr>
          <a:xfrm>
            <a:off x="9174175" y="457200"/>
            <a:ext cx="219456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دور المدير</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كيف يدعم المدير أ. عبد العزيز؟</a:t>
            </a:r>
            <a:endParaRPr lang="ar-SA" sz="3800" dirty="0"/>
          </a:p>
        </p:txBody>
      </p:sp>
      <p:sp>
        <p:nvSpPr>
          <p:cNvPr id="5" name="anim-g1-917"/>
          <p:cNvSpPr/>
          <p:nvPr/>
        </p:nvSpPr>
        <p:spPr>
          <a:xfrm>
            <a:off x="8938031"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918"/>
          <p:cNvSpPr/>
          <p:nvPr/>
        </p:nvSpPr>
        <p:spPr>
          <a:xfrm>
            <a:off x="10362895" y="2404872"/>
            <a:ext cx="731520" cy="731520"/>
          </a:xfrm>
          <a:prstGeom prst="roundRect">
            <a:avLst>
              <a:gd name="adj" fmla="val 25000"/>
            </a:avLst>
          </a:prstGeom>
          <a:solidFill>
            <a:srgbClr val="F7E6BC"/>
          </a:solidFill>
          <a:ln/>
        </p:spPr>
      </p:sp>
      <p:sp>
        <p:nvSpPr>
          <p:cNvPr id="7" name="anim-g1-919"/>
          <p:cNvSpPr/>
          <p:nvPr/>
        </p:nvSpPr>
        <p:spPr>
          <a:xfrm>
            <a:off x="10362895"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8" name="anim-g1-920"/>
          <p:cNvSpPr/>
          <p:nvPr/>
        </p:nvSpPr>
        <p:spPr>
          <a:xfrm>
            <a:off x="9212351"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زيارة داعمة</a:t>
            </a:r>
            <a:endParaRPr lang="ar-SA" sz="2300" dirty="0"/>
          </a:p>
        </p:txBody>
      </p:sp>
      <p:sp>
        <p:nvSpPr>
          <p:cNvPr id="9" name="anim-g1-921"/>
          <p:cNvSpPr/>
          <p:nvPr/>
        </p:nvSpPr>
        <p:spPr>
          <a:xfrm>
            <a:off x="9212351"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لا لتقييمه، بل لملاحظة ما يحدث ومساعدته</a:t>
            </a:r>
            <a:endParaRPr lang="ar-SA" sz="2100" dirty="0"/>
          </a:p>
        </p:txBody>
      </p:sp>
      <p:sp>
        <p:nvSpPr>
          <p:cNvPr id="10" name="anim-g2-922"/>
          <p:cNvSpPr/>
          <p:nvPr/>
        </p:nvSpPr>
        <p:spPr>
          <a:xfrm>
            <a:off x="6233008"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923"/>
          <p:cNvSpPr/>
          <p:nvPr/>
        </p:nvSpPr>
        <p:spPr>
          <a:xfrm>
            <a:off x="7657871" y="2404872"/>
            <a:ext cx="731520" cy="731520"/>
          </a:xfrm>
          <a:prstGeom prst="roundRect">
            <a:avLst>
              <a:gd name="adj" fmla="val 25000"/>
            </a:avLst>
          </a:prstGeom>
          <a:solidFill>
            <a:srgbClr val="F7E6BC"/>
          </a:solidFill>
          <a:ln/>
        </p:spPr>
      </p:sp>
      <p:sp>
        <p:nvSpPr>
          <p:cNvPr id="12" name="anim-g2-924"/>
          <p:cNvSpPr/>
          <p:nvPr/>
        </p:nvSpPr>
        <p:spPr>
          <a:xfrm>
            <a:off x="7657871"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3" name="anim-g2-925"/>
          <p:cNvSpPr/>
          <p:nvPr/>
        </p:nvSpPr>
        <p:spPr>
          <a:xfrm>
            <a:off x="6507328"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زميل خبير</a:t>
            </a:r>
            <a:endParaRPr lang="ar-SA" sz="2300" dirty="0"/>
          </a:p>
        </p:txBody>
      </p:sp>
      <p:sp>
        <p:nvSpPr>
          <p:cNvPr id="14" name="anim-g2-926"/>
          <p:cNvSpPr/>
          <p:nvPr/>
        </p:nvSpPr>
        <p:spPr>
          <a:xfrm>
            <a:off x="6507328"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يشاركه حصة ويعرض عليه أساليبه</a:t>
            </a:r>
            <a:endParaRPr lang="ar-SA" sz="2100" dirty="0"/>
          </a:p>
        </p:txBody>
      </p:sp>
      <p:sp>
        <p:nvSpPr>
          <p:cNvPr id="15" name="anim-g3-927"/>
          <p:cNvSpPr/>
          <p:nvPr/>
        </p:nvSpPr>
        <p:spPr>
          <a:xfrm>
            <a:off x="3527984"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928"/>
          <p:cNvSpPr/>
          <p:nvPr/>
        </p:nvSpPr>
        <p:spPr>
          <a:xfrm>
            <a:off x="4952848" y="2404872"/>
            <a:ext cx="731520" cy="731520"/>
          </a:xfrm>
          <a:prstGeom prst="roundRect">
            <a:avLst>
              <a:gd name="adj" fmla="val 25000"/>
            </a:avLst>
          </a:prstGeom>
          <a:solidFill>
            <a:srgbClr val="F7E6BC"/>
          </a:solidFill>
          <a:ln/>
        </p:spPr>
      </p:sp>
      <p:sp>
        <p:nvSpPr>
          <p:cNvPr id="17" name="anim-g3-929"/>
          <p:cNvSpPr/>
          <p:nvPr/>
        </p:nvSpPr>
        <p:spPr>
          <a:xfrm>
            <a:off x="4952848"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8" name="anim-g3-930"/>
          <p:cNvSpPr/>
          <p:nvPr/>
        </p:nvSpPr>
        <p:spPr>
          <a:xfrm>
            <a:off x="3802304"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إعادة إطلاق</a:t>
            </a:r>
            <a:endParaRPr lang="ar-SA" sz="2300" dirty="0"/>
          </a:p>
        </p:txBody>
      </p:sp>
      <p:sp>
        <p:nvSpPr>
          <p:cNvPr id="19" name="anim-g3-931"/>
          <p:cNvSpPr/>
          <p:nvPr/>
        </p:nvSpPr>
        <p:spPr>
          <a:xfrm>
            <a:off x="3802304"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بداية جديدة للفصل بقواعد يعلنها أمام المدير</a:t>
            </a:r>
            <a:endParaRPr lang="ar-SA" sz="2100" dirty="0"/>
          </a:p>
        </p:txBody>
      </p:sp>
      <p:sp>
        <p:nvSpPr>
          <p:cNvPr id="20" name="anim-g4-932"/>
          <p:cNvSpPr/>
          <p:nvPr/>
        </p:nvSpPr>
        <p:spPr>
          <a:xfrm>
            <a:off x="822960"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933"/>
          <p:cNvSpPr/>
          <p:nvPr/>
        </p:nvSpPr>
        <p:spPr>
          <a:xfrm>
            <a:off x="2247824" y="2404872"/>
            <a:ext cx="731520" cy="731520"/>
          </a:xfrm>
          <a:prstGeom prst="roundRect">
            <a:avLst>
              <a:gd name="adj" fmla="val 25000"/>
            </a:avLst>
          </a:prstGeom>
          <a:solidFill>
            <a:srgbClr val="F7E6BC"/>
          </a:solidFill>
          <a:ln/>
        </p:spPr>
      </p:sp>
      <p:sp>
        <p:nvSpPr>
          <p:cNvPr id="22" name="anim-g4-934"/>
          <p:cNvSpPr/>
          <p:nvPr/>
        </p:nvSpPr>
        <p:spPr>
          <a:xfrm>
            <a:off x="2247824"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23" name="anim-g4-935"/>
          <p:cNvSpPr/>
          <p:nvPr/>
        </p:nvSpPr>
        <p:spPr>
          <a:xfrm>
            <a:off x="1097280"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متابعة أسبوعية</a:t>
            </a:r>
            <a:endParaRPr lang="ar-SA" sz="2300" dirty="0"/>
          </a:p>
        </p:txBody>
      </p:sp>
      <p:sp>
        <p:nvSpPr>
          <p:cNvPr id="24" name="anim-g4-936"/>
          <p:cNvSpPr/>
          <p:nvPr/>
        </p:nvSpPr>
        <p:spPr>
          <a:xfrm>
            <a:off x="1097280"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عشر دقائق كل أسبوع لمراجعة التقدم</a:t>
            </a:r>
            <a:endParaRPr lang="ar-SA" sz="21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أول حصة  ·  ٨٩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name="Slide 9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الموقف</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القاعدة قبل المخالفة نظام…</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والقاعدة بعد المخالفة عقاب</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موقف: أول حصة  ·  ٩٠</a:t>
            </a:r>
            <a:endParaRPr lang="ar-SA" sz="12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kb-937" descr="/Users/mac/Desktop/أردوينو/المشاريع والكتب/younes-training/mawaqif/assets/scenes/principal.jpg">    </p:cNvPr>
          <p:cNvPicPr>
            <a:picLocks noChangeAspect="1"/>
          </p:cNvPicPr>
          <p:nvPr/>
        </p:nvPicPr>
        <p:blipFill>
          <a:blip r:embed="rId2"/>
          <a:stretch>
            <a:fillRect/>
          </a:stretch>
        </p:blipFill>
        <p:spPr>
          <a:xfrm>
            <a:off x="0" y="0"/>
            <a:ext cx="12191695" cy="6858000"/>
          </a:xfrm>
          <a:prstGeom prst="rect">
            <a:avLst/>
          </a:prstGeom>
        </p:spPr>
      </p:pic>
      <p:pic>
        <p:nvPicPr>
          <p:cNvPr id="3" name="Image 1" descr="/Users/mac/Desktop/أردوينو/المشاريع والكتب/younes-training/shared/assets/mcover-overlay.png">    </p:cNvPr>
          <p:cNvPicPr>
            <a:picLocks noChangeAspect="1"/>
          </p:cNvPicPr>
          <p:nvPr/>
        </p:nvPicPr>
        <p:blipFill>
          <a:blip r:embed="rId3"/>
          <a:stretch>
            <a:fillRect/>
          </a:stretch>
        </p:blipFill>
        <p:spPr>
          <a:xfrm>
            <a:off x="0" y="0"/>
            <a:ext cx="12191695" cy="6858000"/>
          </a:xfrm>
          <a:prstGeom prst="rect">
            <a:avLst/>
          </a:prstGeom>
        </p:spPr>
      </p:pic>
      <p:sp>
        <p:nvSpPr>
          <p:cNvPr id="4" name="Text 0"/>
          <p:cNvSpPr/>
          <p:nvPr/>
        </p:nvSpPr>
        <p:spPr>
          <a:xfrm>
            <a:off x="5669280" y="1737360"/>
            <a:ext cx="5699455" cy="502920"/>
          </a:xfrm>
          <a:prstGeom prst="rect">
            <a:avLst/>
          </a:prstGeom>
          <a:noFill/>
          <a:ln/>
        </p:spPr>
        <p:txBody>
          <a:bodyPr wrap="square" lIns="0" tIns="0" rIns="0" bIns="0" rtlCol="0" anchor="ctr">
            <a:normAutofit/>
          </a:bodyPr>
          <a:lstStyle/>
          <a:p>
            <a:pPr rtl="1" algn="r" indent="0" marL="0">
              <a:buNone/>
            </a:pPr>
            <a:r>
              <a:rPr lang="ar-SA" altLang="en-US" sz="2200" b="1" dirty="0">
                <a:solidFill>
                  <a:srgbClr val="D9AE4B"/>
                </a:solidFill>
                <a:latin typeface="Cairo" pitchFamily="34" charset="0"/>
                <a:ea typeface="Cairo" pitchFamily="34" charset="-122"/>
                <a:cs typeface="Cairo" pitchFamily="34" charset="-120"/>
              </a:rPr>
              <a:t>القواعد والإجراءات</a:t>
            </a:r>
            <a:endParaRPr lang="ar-SA" sz="2200" dirty="0"/>
          </a:p>
        </p:txBody>
      </p:sp>
      <p:sp>
        <p:nvSpPr>
          <p:cNvPr id="5" name="Text 1"/>
          <p:cNvSpPr/>
          <p:nvPr/>
        </p:nvSpPr>
        <p:spPr>
          <a:xfrm>
            <a:off x="5669280" y="2286000"/>
            <a:ext cx="5699455" cy="548640"/>
          </a:xfrm>
          <a:prstGeom prst="rect">
            <a:avLst/>
          </a:prstGeom>
          <a:noFill/>
          <a:ln/>
        </p:spPr>
        <p:txBody>
          <a:bodyPr wrap="square" lIns="0" tIns="0" rIns="0" bIns="0" rtlCol="0" anchor="ctr">
            <a:normAutofit/>
          </a:bodyPr>
          <a:lstStyle/>
          <a:p>
            <a:pPr rtl="1" algn="r" indent="0" marL="0">
              <a:buNone/>
            </a:pPr>
            <a:r>
              <a:rPr lang="ar-SA" altLang="en-US" sz="2600" b="1" dirty="0">
                <a:solidFill>
                  <a:srgbClr val="C9CFE6"/>
                </a:solidFill>
                <a:latin typeface="Cairo" pitchFamily="34" charset="0"/>
                <a:ea typeface="Cairo" pitchFamily="34" charset="-122"/>
                <a:cs typeface="Cairo" pitchFamily="34" charset="-120"/>
              </a:rPr>
              <a:t>الموقف ٥</a:t>
            </a:r>
            <a:endParaRPr lang="ar-SA" sz="2600" dirty="0"/>
          </a:p>
        </p:txBody>
      </p:sp>
      <p:sp>
        <p:nvSpPr>
          <p:cNvPr id="6" name="Text 2"/>
          <p:cNvSpPr/>
          <p:nvPr/>
        </p:nvSpPr>
        <p:spPr>
          <a:xfrm>
            <a:off x="4572000" y="2834640"/>
            <a:ext cx="6796735" cy="1188720"/>
          </a:xfrm>
          <a:prstGeom prst="rect">
            <a:avLst/>
          </a:prstGeom>
          <a:noFill/>
          <a:ln/>
        </p:spPr>
        <p:txBody>
          <a:bodyPr wrap="square" lIns="0" tIns="0" rIns="0" bIns="0" rtlCol="0" anchor="ctr">
            <a:normAutofit/>
          </a:bodyPr>
          <a:lstStyle/>
          <a:p>
            <a:pPr rtl="1" algn="r" indent="0" marL="0">
              <a:buNone/>
            </a:pPr>
            <a:r>
              <a:rPr lang="ar-SA" altLang="en-US" sz="6000" dirty="0">
                <a:solidFill>
                  <a:srgbClr val="FFFFFF"/>
                </a:solidFill>
                <a:latin typeface="Cairo Black" pitchFamily="34" charset="0"/>
                <a:ea typeface="Cairo Black" pitchFamily="34" charset="-122"/>
                <a:cs typeface="Cairo Black" pitchFamily="34" charset="-120"/>
              </a:rPr>
              <a:t>كل شيء ممنوع!</a:t>
            </a:r>
            <a:endParaRPr lang="ar-SA" sz="6000" dirty="0"/>
          </a:p>
        </p:txBody>
      </p:sp>
      <p:sp>
        <p:nvSpPr>
          <p:cNvPr id="7" name="Shape 3"/>
          <p:cNvSpPr/>
          <p:nvPr/>
        </p:nvSpPr>
        <p:spPr>
          <a:xfrm>
            <a:off x="10125151" y="4480560"/>
            <a:ext cx="1243584"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8" name="Text 4"/>
          <p:cNvSpPr/>
          <p:nvPr/>
        </p:nvSpPr>
        <p:spPr>
          <a:xfrm>
            <a:off x="10125151" y="4480560"/>
            <a:ext cx="1243584"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القصة</a:t>
            </a:r>
            <a:endParaRPr lang="ar-SA" sz="1500" dirty="0"/>
          </a:p>
        </p:txBody>
      </p:sp>
      <p:sp>
        <p:nvSpPr>
          <p:cNvPr id="9" name="Shape 5"/>
          <p:cNvSpPr/>
          <p:nvPr/>
        </p:nvSpPr>
        <p:spPr>
          <a:xfrm>
            <a:off x="8680399" y="4480560"/>
            <a:ext cx="1353312"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0" name="Text 6"/>
          <p:cNvSpPr/>
          <p:nvPr/>
        </p:nvSpPr>
        <p:spPr>
          <a:xfrm>
            <a:off x="8680399" y="4480560"/>
            <a:ext cx="1353312"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تصويت</a:t>
            </a:r>
            <a:endParaRPr lang="ar-SA" sz="1500" dirty="0"/>
          </a:p>
        </p:txBody>
      </p:sp>
      <p:sp>
        <p:nvSpPr>
          <p:cNvPr id="11" name="Shape 7"/>
          <p:cNvSpPr/>
          <p:nvPr/>
        </p:nvSpPr>
        <p:spPr>
          <a:xfrm>
            <a:off x="7235647" y="4480560"/>
            <a:ext cx="1353312"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2" name="Text 8"/>
          <p:cNvSpPr/>
          <p:nvPr/>
        </p:nvSpPr>
        <p:spPr>
          <a:xfrm>
            <a:off x="7235647" y="4480560"/>
            <a:ext cx="1353312"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لماذا؟</a:t>
            </a:r>
            <a:endParaRPr lang="ar-SA" sz="1500" dirty="0"/>
          </a:p>
        </p:txBody>
      </p:sp>
      <p:sp>
        <p:nvSpPr>
          <p:cNvPr id="13" name="Shape 9"/>
          <p:cNvSpPr/>
          <p:nvPr/>
        </p:nvSpPr>
        <p:spPr>
          <a:xfrm>
            <a:off x="5571439" y="4480560"/>
            <a:ext cx="1572768"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4" name="Text 10"/>
          <p:cNvSpPr/>
          <p:nvPr/>
        </p:nvSpPr>
        <p:spPr>
          <a:xfrm>
            <a:off x="5571439" y="4480560"/>
            <a:ext cx="1572768"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أول خطوة</a:t>
            </a:r>
            <a:endParaRPr lang="ar-SA" sz="1500" dirty="0"/>
          </a:p>
        </p:txBody>
      </p:sp>
      <p:sp>
        <p:nvSpPr>
          <p:cNvPr id="15" name="Shape 11"/>
          <p:cNvSpPr/>
          <p:nvPr/>
        </p:nvSpPr>
        <p:spPr>
          <a:xfrm>
            <a:off x="3687775" y="4480560"/>
            <a:ext cx="1792224"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6" name="Text 12"/>
          <p:cNvSpPr/>
          <p:nvPr/>
        </p:nvSpPr>
        <p:spPr>
          <a:xfrm>
            <a:off x="3687775" y="4480560"/>
            <a:ext cx="1792224"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ماذا تقول؟</a:t>
            </a:r>
            <a:endParaRPr lang="ar-SA" sz="1500" dirty="0"/>
          </a:p>
        </p:txBody>
      </p:sp>
      <p:sp>
        <p:nvSpPr>
          <p:cNvPr id="17" name="Text 1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18" name="Text 1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موقف: كل شيء ممنوع!  ·  ٩١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16000" fill="hold"/>
                                        <p:tgtEl>
                                          <p:spTgt spid="2"/>
                                        </p:tgtEl>
                                      </p:cBhvr>
                                      <p:by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name="Slide 9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kb-938" descr="/Users/mac/Desktop/أردوينو/المشاريع والكتب/younes-training/mawaqif/assets/scenes/principal.jpg">    </p:cNvPr>
          <p:cNvPicPr>
            <a:picLocks noChangeAspect="1"/>
          </p:cNvPicPr>
          <p:nvPr/>
        </p:nvPicPr>
        <p:blipFill>
          <a:blip r:embed="rId2"/>
          <a:stretch>
            <a:fillRect/>
          </a:stretch>
        </p:blipFill>
        <p:spPr>
          <a:xfrm>
            <a:off x="0" y="0"/>
            <a:ext cx="12191695" cy="6858000"/>
          </a:xfrm>
          <a:prstGeom prst="rect">
            <a:avLst/>
          </a:prstGeom>
        </p:spPr>
      </p:pic>
      <p:pic>
        <p:nvPicPr>
          <p:cNvPr id="3" name="Image 1" descr="/Users/mac/Desktop/أردوينو/المشاريع والكتب/younes-training/shared/assets/story-overlay.png">    </p:cNvPr>
          <p:cNvPicPr>
            <a:picLocks noChangeAspect="1"/>
          </p:cNvPicPr>
          <p:nvPr/>
        </p:nvPicPr>
        <p:blipFill>
          <a:blip r:embed="rId3"/>
          <a:stretch>
            <a:fillRect/>
          </a:stretch>
        </p:blipFill>
        <p:spPr>
          <a:xfrm>
            <a:off x="0" y="0"/>
            <a:ext cx="12191695" cy="6858000"/>
          </a:xfrm>
          <a:prstGeom prst="rect">
            <a:avLst/>
          </a:prstGeom>
        </p:spPr>
      </p:pic>
      <p:sp>
        <p:nvSpPr>
          <p:cNvPr id="4" name="Shape 0"/>
          <p:cNvSpPr/>
          <p:nvPr/>
        </p:nvSpPr>
        <p:spPr>
          <a:xfrm>
            <a:off x="7985455" y="365760"/>
            <a:ext cx="3657600" cy="502920"/>
          </a:xfrm>
          <a:prstGeom prst="roundRect">
            <a:avLst>
              <a:gd name="adj" fmla="val 49091"/>
            </a:avLst>
          </a:prstGeom>
          <a:solidFill>
            <a:srgbClr val="0A1230">
              <a:alpha val="80000"/>
            </a:srgbClr>
          </a:solidFill>
          <a:ln w="12700">
            <a:solidFill>
              <a:srgbClr val="D9AE4B">
                <a:alpha val="60000"/>
              </a:srgbClr>
            </a:solidFill>
            <a:prstDash val="solid"/>
          </a:ln>
        </p:spPr>
      </p:sp>
      <p:sp>
        <p:nvSpPr>
          <p:cNvPr id="5" name="Text 1"/>
          <p:cNvSpPr/>
          <p:nvPr/>
        </p:nvSpPr>
        <p:spPr>
          <a:xfrm>
            <a:off x="7985455" y="365760"/>
            <a:ext cx="3657600" cy="50292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 القصة · ماذا حدث؟</a:t>
            </a:r>
            <a:endParaRPr lang="ar-SA" sz="1800" dirty="0"/>
          </a:p>
        </p:txBody>
      </p:sp>
      <p:sp>
        <p:nvSpPr>
          <p:cNvPr id="6" name="Shape 2"/>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7" name="Text 3"/>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انتقل أ. الدخيل إلى مدرسة جديدة، فاطلع على مبادئ التعامل: لا تسبّ طالبًا، لا تضرب، لا تطرد… وكن مهيبًا.</a:t>
            </a:r>
            <a:endParaRPr lang="ar-SA" sz="2400" dirty="0"/>
          </a:p>
        </p:txBody>
      </p:sp>
      <p:sp>
        <p:nvSpPr>
          <p:cNvPr id="8" name="anim-g1-939"/>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9" name="anim-g1-940"/>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دخل على المدير منفعلًا: «جرّدتموني من أسلحتي ثم ألقيتموني في المعركة! كأنكم ربطتموني ثم طلبتم مني السباحة!»</a:t>
            </a:r>
            <a:endParaRPr lang="ar-SA" sz="2400" dirty="0"/>
          </a:p>
        </p:txBody>
      </p:sp>
      <p:sp>
        <p:nvSpPr>
          <p:cNvPr id="10" name="anim-g2-941"/>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11" name="anim-g2-942"/>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«خبرتي عشرون عامًا، والشدة مطلوبة مع هذا الجيل. كيف يهابونني وهم يعلمون أني لا أستطيع عقابهم؟»</a:t>
            </a:r>
            <a:endParaRPr lang="ar-SA" sz="2400" dirty="0"/>
          </a:p>
        </p:txBody>
      </p:sp>
      <p:sp>
        <p:nvSpPr>
          <p:cNvPr id="12" name="anim-g3-943"/>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13" name="anim-g3-944"/>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600" b="1" dirty="0">
                <a:solidFill>
                  <a:srgbClr val="F0CC7A"/>
                </a:solidFill>
                <a:latin typeface="Cairo" pitchFamily="34" charset="0"/>
                <a:ea typeface="Cairo" pitchFamily="34" charset="-122"/>
                <a:cs typeface="Cairo" pitchFamily="34" charset="-120"/>
              </a:rPr>
              <a:t>ابتسم المدير وقال: «هذا موضوع يحتاج إلى جلسة…»</a:t>
            </a:r>
            <a:endParaRPr lang="ar-SA" sz="2600" dirty="0"/>
          </a:p>
        </p:txBody>
      </p:sp>
      <p:sp>
        <p:nvSpPr>
          <p:cNvPr id="14" name="Text 1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15" name="Text 1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موقف: كل شيء ممنوع!  ·  ٩٢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16000" fill="hold"/>
                                        <p:tgtEl>
                                          <p:spTgt spid="2"/>
                                        </p:tgtEl>
                                      </p:cBhvr>
                                      <p:by x="112000" y="112000"/>
                                    </p:animScale>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name="Slide 9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296351" y="457200"/>
            <a:ext cx="3072384" cy="457200"/>
          </a:xfrm>
          <a:prstGeom prst="roundRect">
            <a:avLst>
              <a:gd name="adj" fmla="val 50000"/>
            </a:avLst>
          </a:prstGeom>
          <a:solidFill>
            <a:srgbClr val="F6EBCF"/>
          </a:solidFill>
          <a:ln/>
        </p:spPr>
      </p:sp>
      <p:sp>
        <p:nvSpPr>
          <p:cNvPr id="3" name="Text 1"/>
          <p:cNvSpPr/>
          <p:nvPr/>
        </p:nvSpPr>
        <p:spPr>
          <a:xfrm>
            <a:off x="8296351" y="457200"/>
            <a:ext cx="307238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صوّت قبل أن نكشف</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لو كنت المدير… بماذا تبدأ الجلسة؟</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«هذه أنظمة المدرسة، ومن لا يلتزم يُحاسَب»</a:t>
            </a:r>
            <a:endParaRPr lang="ar-SA" sz="2500" dirty="0"/>
          </a:p>
        </p:txBody>
      </p:sp>
      <p:sp>
        <p:nvSpPr>
          <p:cNvPr id="9" name="anim-g1-945"/>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946"/>
          <p:cNvSpPr/>
          <p:nvPr/>
        </p:nvSpPr>
        <p:spPr>
          <a:xfrm>
            <a:off x="10231831" y="2194560"/>
            <a:ext cx="954024" cy="954024"/>
          </a:xfrm>
          <a:prstGeom prst="roundRect">
            <a:avLst>
              <a:gd name="adj" fmla="val 11502"/>
            </a:avLst>
          </a:prstGeom>
          <a:solidFill>
            <a:srgbClr val="A3A9BA"/>
          </a:solidFill>
          <a:ln/>
        </p:spPr>
      </p:sp>
      <p:sp>
        <p:nvSpPr>
          <p:cNvPr id="11" name="anim-g1-947"/>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948"/>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«هذه أنظمة المدرسة، ومن لا يلتزم يُحاسَب»</a:t>
            </a:r>
            <a:endParaRPr lang="ar-SA" sz="2400" dirty="0"/>
          </a:p>
        </p:txBody>
      </p:sp>
      <p:sp>
        <p:nvSpPr>
          <p:cNvPr id="13" name="anim-g1-949"/>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الأمر الإداري يُسكته ولا يقنعه، فيعود لأسلوبه عند أول أزمة</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«معك حق، تصرّف كما تراه مناسبًا»</a:t>
            </a:r>
            <a:endParaRPr lang="ar-SA" sz="2500" dirty="0"/>
          </a:p>
        </p:txBody>
      </p:sp>
      <p:sp>
        <p:nvSpPr>
          <p:cNvPr id="18" name="anim-g1-950"/>
          <p:cNvSpPr/>
          <p:nvPr/>
        </p:nvSpPr>
        <p:spPr>
          <a:xfrm>
            <a:off x="822960" y="3432048"/>
            <a:ext cx="10545775" cy="1228344"/>
          </a:xfrm>
          <a:prstGeom prst="roundRect">
            <a:avLst>
              <a:gd name="adj" fmla="val 11911"/>
            </a:avLst>
          </a:prstGeom>
          <a:solidFill>
            <a:srgbClr val="F7F7F9"/>
          </a:solidFill>
          <a:ln w="19050">
            <a:solidFill>
              <a:srgbClr val="E4DCC8"/>
            </a:solidFill>
            <a:prstDash val="solid"/>
          </a:ln>
        </p:spPr>
      </p:sp>
      <p:sp>
        <p:nvSpPr>
          <p:cNvPr id="19" name="anim-g1-951"/>
          <p:cNvSpPr/>
          <p:nvPr/>
        </p:nvSpPr>
        <p:spPr>
          <a:xfrm>
            <a:off x="10231831" y="3569208"/>
            <a:ext cx="954024" cy="954024"/>
          </a:xfrm>
          <a:prstGeom prst="roundRect">
            <a:avLst>
              <a:gd name="adj" fmla="val 11502"/>
            </a:avLst>
          </a:prstGeom>
          <a:solidFill>
            <a:srgbClr val="A3A9BA"/>
          </a:solidFill>
          <a:ln/>
        </p:spPr>
      </p:sp>
      <p:sp>
        <p:nvSpPr>
          <p:cNvPr id="20" name="anim-g1-952"/>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21" name="anim-g1-953"/>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«معك حق، تصرّف كما تراه مناسبًا»</a:t>
            </a:r>
            <a:endParaRPr lang="ar-SA" sz="2400" dirty="0"/>
          </a:p>
        </p:txBody>
      </p:sp>
      <p:sp>
        <p:nvSpPr>
          <p:cNvPr id="22" name="anim-g1-954"/>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التنازل يعرّض الطلاب والمدرسة للخطر</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«أفهم قلقك. تعال نضع مكان كل أداة ممنوعة أداة أقوى منها»</a:t>
            </a:r>
            <a:endParaRPr lang="ar-SA" sz="2500" dirty="0"/>
          </a:p>
        </p:txBody>
      </p:sp>
      <p:sp>
        <p:nvSpPr>
          <p:cNvPr id="27" name="anim-g1-955"/>
          <p:cNvSpPr/>
          <p:nvPr/>
        </p:nvSpPr>
        <p:spPr>
          <a:xfrm>
            <a:off x="822960" y="4806696"/>
            <a:ext cx="10545775" cy="1228344"/>
          </a:xfrm>
          <a:prstGeom prst="roundRect">
            <a:avLst>
              <a:gd name="adj" fmla="val 11911"/>
            </a:avLst>
          </a:prstGeom>
          <a:solidFill>
            <a:srgbClr val="E6F4EC"/>
          </a:solidFill>
          <a:ln w="31750">
            <a:solidFill>
              <a:srgbClr val="2E9E6B"/>
            </a:solidFill>
            <a:prstDash val="solid"/>
          </a:ln>
        </p:spPr>
      </p:sp>
      <p:sp>
        <p:nvSpPr>
          <p:cNvPr id="28" name="anim-g1-956"/>
          <p:cNvSpPr/>
          <p:nvPr/>
        </p:nvSpPr>
        <p:spPr>
          <a:xfrm>
            <a:off x="10231831" y="4943856"/>
            <a:ext cx="954024" cy="954024"/>
          </a:xfrm>
          <a:prstGeom prst="roundRect">
            <a:avLst>
              <a:gd name="adj" fmla="val 11502"/>
            </a:avLst>
          </a:prstGeom>
          <a:solidFill>
            <a:srgbClr val="2E9E6B"/>
          </a:solidFill>
          <a:ln/>
        </p:spPr>
      </p:sp>
      <p:sp>
        <p:nvSpPr>
          <p:cNvPr id="29" name="anim-g1-957"/>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30" name="anim-g1-958"/>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«أفهم قلقك. تعال نضع مكان كل أداة ممنوعة أداة أقوى منها»</a:t>
            </a:r>
            <a:endParaRPr lang="ar-SA" sz="2400" dirty="0"/>
          </a:p>
        </p:txBody>
      </p:sp>
      <p:sp>
        <p:nvSpPr>
          <p:cNvPr id="31" name="anim-g1-959"/>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المعلم لا يحتاج إذنًا بالعقاب، بل بدائل تعمل فعلًا</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كل شيء ممنوع!  ·  ٩٣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name="Slide 9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711135" y="457200"/>
            <a:ext cx="3657600" cy="457200"/>
          </a:xfrm>
          <a:prstGeom prst="roundRect">
            <a:avLst>
              <a:gd name="adj" fmla="val 50000"/>
            </a:avLst>
          </a:prstGeom>
          <a:solidFill>
            <a:srgbClr val="F6EBCF"/>
          </a:solidFill>
          <a:ln/>
        </p:spPr>
      </p:sp>
      <p:sp>
        <p:nvSpPr>
          <p:cNvPr id="3" name="Text 1"/>
          <p:cNvSpPr/>
          <p:nvPr/>
        </p:nvSpPr>
        <p:spPr>
          <a:xfrm>
            <a:off x="7711135" y="457200"/>
            <a:ext cx="365760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وراء كل سلوك حاجة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لماذا يتمسك أ. الدخيل بالشدة؟</a:t>
            </a:r>
            <a:endParaRPr lang="ar-SA" sz="3800" dirty="0"/>
          </a:p>
        </p:txBody>
      </p:sp>
      <p:sp>
        <p:nvSpPr>
          <p:cNvPr id="5" name="anim-g1-960"/>
          <p:cNvSpPr/>
          <p:nvPr/>
        </p:nvSpPr>
        <p:spPr>
          <a:xfrm>
            <a:off x="8903741" y="2011680"/>
            <a:ext cx="2464994" cy="2514600"/>
          </a:xfrm>
          <a:prstGeom prst="roundRect">
            <a:avLst>
              <a:gd name="adj" fmla="val 6677"/>
            </a:avLst>
          </a:prstGeom>
          <a:solidFill>
            <a:srgbClr val="FFFFFF"/>
          </a:solidFill>
          <a:ln w="12700">
            <a:solidFill>
              <a:srgbClr val="E4DCC8"/>
            </a:solidFill>
            <a:prstDash val="solid"/>
          </a:ln>
        </p:spPr>
      </p:sp>
      <p:sp>
        <p:nvSpPr>
          <p:cNvPr id="6" name="anim-g1-961"/>
          <p:cNvSpPr/>
          <p:nvPr/>
        </p:nvSpPr>
        <p:spPr>
          <a:xfrm>
            <a:off x="9816198" y="2194560"/>
            <a:ext cx="640080" cy="640080"/>
          </a:xfrm>
          <a:prstGeom prst="roundRect">
            <a:avLst>
              <a:gd name="adj" fmla="val 25714"/>
            </a:avLst>
          </a:prstGeom>
          <a:solidFill>
            <a:srgbClr val="F7E6BC"/>
          </a:solidFill>
          <a:ln/>
        </p:spPr>
      </p:sp>
      <p:sp>
        <p:nvSpPr>
          <p:cNvPr id="7" name="anim-g1-962"/>
          <p:cNvSpPr/>
          <p:nvPr/>
        </p:nvSpPr>
        <p:spPr>
          <a:xfrm>
            <a:off x="9816198"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8" name="anim-g1-963"/>
          <p:cNvSpPr/>
          <p:nvPr/>
        </p:nvSpPr>
        <p:spPr>
          <a:xfrm>
            <a:off x="9040901"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خوف</a:t>
            </a:r>
            <a:endParaRPr lang="ar-SA" sz="2200" dirty="0"/>
          </a:p>
        </p:txBody>
      </p:sp>
      <p:sp>
        <p:nvSpPr>
          <p:cNvPr id="9" name="anim-g1-964"/>
          <p:cNvSpPr/>
          <p:nvPr/>
        </p:nvSpPr>
        <p:spPr>
          <a:xfrm>
            <a:off x="9040901"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يخشى فقدان السيطرة بلا عقاب</a:t>
            </a:r>
            <a:endParaRPr lang="ar-SA" sz="1900" dirty="0"/>
          </a:p>
        </p:txBody>
      </p:sp>
      <p:sp>
        <p:nvSpPr>
          <p:cNvPr id="10" name="anim-g2-965"/>
          <p:cNvSpPr/>
          <p:nvPr/>
        </p:nvSpPr>
        <p:spPr>
          <a:xfrm>
            <a:off x="6210148" y="2011680"/>
            <a:ext cx="2464994" cy="2514600"/>
          </a:xfrm>
          <a:prstGeom prst="roundRect">
            <a:avLst>
              <a:gd name="adj" fmla="val 6677"/>
            </a:avLst>
          </a:prstGeom>
          <a:solidFill>
            <a:srgbClr val="FFFFFF"/>
          </a:solidFill>
          <a:ln w="12700">
            <a:solidFill>
              <a:srgbClr val="E4DCC8"/>
            </a:solidFill>
            <a:prstDash val="solid"/>
          </a:ln>
        </p:spPr>
      </p:sp>
      <p:sp>
        <p:nvSpPr>
          <p:cNvPr id="11" name="anim-g2-966"/>
          <p:cNvSpPr/>
          <p:nvPr/>
        </p:nvSpPr>
        <p:spPr>
          <a:xfrm>
            <a:off x="7122604" y="2194560"/>
            <a:ext cx="640080" cy="640080"/>
          </a:xfrm>
          <a:prstGeom prst="roundRect">
            <a:avLst>
              <a:gd name="adj" fmla="val 25714"/>
            </a:avLst>
          </a:prstGeom>
          <a:solidFill>
            <a:srgbClr val="F7E6BC"/>
          </a:solidFill>
          <a:ln/>
        </p:spPr>
      </p:sp>
      <p:sp>
        <p:nvSpPr>
          <p:cNvPr id="12" name="anim-g2-967"/>
          <p:cNvSpPr/>
          <p:nvPr/>
        </p:nvSpPr>
        <p:spPr>
          <a:xfrm>
            <a:off x="7122604"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13" name="anim-g2-968"/>
          <p:cNvSpPr/>
          <p:nvPr/>
        </p:nvSpPr>
        <p:spPr>
          <a:xfrm>
            <a:off x="6347308"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تجربة</a:t>
            </a:r>
            <a:endParaRPr lang="ar-SA" sz="2200" dirty="0"/>
          </a:p>
        </p:txBody>
      </p:sp>
      <p:sp>
        <p:nvSpPr>
          <p:cNvPr id="14" name="anim-g2-969"/>
          <p:cNvSpPr/>
          <p:nvPr/>
        </p:nvSpPr>
        <p:spPr>
          <a:xfrm>
            <a:off x="6347308"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هكذا تعلّم، وهكذا نجح سابقًا</a:t>
            </a:r>
            <a:endParaRPr lang="ar-SA" sz="1900" dirty="0"/>
          </a:p>
        </p:txBody>
      </p:sp>
      <p:sp>
        <p:nvSpPr>
          <p:cNvPr id="15" name="anim-g3-970"/>
          <p:cNvSpPr/>
          <p:nvPr/>
        </p:nvSpPr>
        <p:spPr>
          <a:xfrm>
            <a:off x="3516554" y="2011680"/>
            <a:ext cx="2464994" cy="2514600"/>
          </a:xfrm>
          <a:prstGeom prst="roundRect">
            <a:avLst>
              <a:gd name="adj" fmla="val 6677"/>
            </a:avLst>
          </a:prstGeom>
          <a:solidFill>
            <a:srgbClr val="FFFFFF"/>
          </a:solidFill>
          <a:ln w="12700">
            <a:solidFill>
              <a:srgbClr val="E4DCC8"/>
            </a:solidFill>
            <a:prstDash val="solid"/>
          </a:ln>
        </p:spPr>
      </p:sp>
      <p:sp>
        <p:nvSpPr>
          <p:cNvPr id="16" name="anim-g3-971"/>
          <p:cNvSpPr/>
          <p:nvPr/>
        </p:nvSpPr>
        <p:spPr>
          <a:xfrm>
            <a:off x="4429011" y="2194560"/>
            <a:ext cx="640080" cy="640080"/>
          </a:xfrm>
          <a:prstGeom prst="roundRect">
            <a:avLst>
              <a:gd name="adj" fmla="val 25714"/>
            </a:avLst>
          </a:prstGeom>
          <a:solidFill>
            <a:srgbClr val="F7E6BC"/>
          </a:solidFill>
          <a:ln/>
        </p:spPr>
      </p:sp>
      <p:sp>
        <p:nvSpPr>
          <p:cNvPr id="17" name="anim-g3-972"/>
          <p:cNvSpPr/>
          <p:nvPr/>
        </p:nvSpPr>
        <p:spPr>
          <a:xfrm>
            <a:off x="4429011"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18" name="anim-g3-973"/>
          <p:cNvSpPr/>
          <p:nvPr/>
        </p:nvSpPr>
        <p:spPr>
          <a:xfrm>
            <a:off x="3653714"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أدوات ناقصة</a:t>
            </a:r>
            <a:endParaRPr lang="ar-SA" sz="2200" dirty="0"/>
          </a:p>
        </p:txBody>
      </p:sp>
      <p:sp>
        <p:nvSpPr>
          <p:cNvPr id="19" name="anim-g3-974"/>
          <p:cNvSpPr/>
          <p:nvPr/>
        </p:nvSpPr>
        <p:spPr>
          <a:xfrm>
            <a:off x="3653714"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لا يعرف بدائل فعّالة</a:t>
            </a:r>
            <a:endParaRPr lang="ar-SA" sz="1900" dirty="0"/>
          </a:p>
        </p:txBody>
      </p:sp>
      <p:sp>
        <p:nvSpPr>
          <p:cNvPr id="20" name="anim-g4-975"/>
          <p:cNvSpPr/>
          <p:nvPr/>
        </p:nvSpPr>
        <p:spPr>
          <a:xfrm>
            <a:off x="822960" y="2011680"/>
            <a:ext cx="2464994" cy="2514600"/>
          </a:xfrm>
          <a:prstGeom prst="roundRect">
            <a:avLst>
              <a:gd name="adj" fmla="val 6677"/>
            </a:avLst>
          </a:prstGeom>
          <a:solidFill>
            <a:srgbClr val="FFFFFF"/>
          </a:solidFill>
          <a:ln w="12700">
            <a:solidFill>
              <a:srgbClr val="E4DCC8"/>
            </a:solidFill>
            <a:prstDash val="solid"/>
          </a:ln>
        </p:spPr>
      </p:sp>
      <p:sp>
        <p:nvSpPr>
          <p:cNvPr id="21" name="anim-g4-976"/>
          <p:cNvSpPr/>
          <p:nvPr/>
        </p:nvSpPr>
        <p:spPr>
          <a:xfrm>
            <a:off x="1735417" y="2194560"/>
            <a:ext cx="640080" cy="640080"/>
          </a:xfrm>
          <a:prstGeom prst="roundRect">
            <a:avLst>
              <a:gd name="adj" fmla="val 25714"/>
            </a:avLst>
          </a:prstGeom>
          <a:solidFill>
            <a:srgbClr val="F7E6BC"/>
          </a:solidFill>
          <a:ln/>
        </p:spPr>
      </p:sp>
      <p:sp>
        <p:nvSpPr>
          <p:cNvPr id="22" name="anim-g4-977"/>
          <p:cNvSpPr/>
          <p:nvPr/>
        </p:nvSpPr>
        <p:spPr>
          <a:xfrm>
            <a:off x="1735417"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23" name="anim-g4-978"/>
          <p:cNvSpPr/>
          <p:nvPr/>
        </p:nvSpPr>
        <p:spPr>
          <a:xfrm>
            <a:off x="960120"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خلط</a:t>
            </a:r>
            <a:endParaRPr lang="ar-SA" sz="2200" dirty="0"/>
          </a:p>
        </p:txBody>
      </p:sp>
      <p:sp>
        <p:nvSpPr>
          <p:cNvPr id="24" name="anim-g4-979"/>
          <p:cNvSpPr/>
          <p:nvPr/>
        </p:nvSpPr>
        <p:spPr>
          <a:xfrm>
            <a:off x="960120"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يظن أن الهيبة تعني الخوف</a:t>
            </a:r>
            <a:endParaRPr lang="ar-SA" sz="1900" dirty="0"/>
          </a:p>
        </p:txBody>
      </p:sp>
      <p:sp>
        <p:nvSpPr>
          <p:cNvPr id="25" name="anim-g5-980"/>
          <p:cNvSpPr/>
          <p:nvPr/>
        </p:nvSpPr>
        <p:spPr>
          <a:xfrm>
            <a:off x="822960" y="4754880"/>
            <a:ext cx="10545775" cy="1051560"/>
          </a:xfrm>
          <a:prstGeom prst="roundRect">
            <a:avLst>
              <a:gd name="adj" fmla="val 17391"/>
            </a:avLst>
          </a:prstGeom>
          <a:solidFill>
            <a:srgbClr val="101B45"/>
          </a:solidFill>
          <a:ln/>
        </p:spPr>
      </p:sp>
      <p:sp>
        <p:nvSpPr>
          <p:cNvPr id="26" name="anim-g5-981"/>
          <p:cNvSpPr/>
          <p:nvPr/>
        </p:nvSpPr>
        <p:spPr>
          <a:xfrm>
            <a:off x="1097280" y="4754880"/>
            <a:ext cx="9997135" cy="1051560"/>
          </a:xfrm>
          <a:prstGeom prst="rect">
            <a:avLst/>
          </a:prstGeom>
          <a:noFill/>
          <a:ln/>
        </p:spPr>
        <p:txBody>
          <a:bodyPr wrap="square" lIns="0" tIns="0" rIns="0" bIns="0" rtlCol="0" anchor="ctr">
            <a:normAutofit/>
          </a:bodyPr>
          <a:lstStyle/>
          <a:p>
            <a:pPr algn="ctr" indent="0" marL="0">
              <a:buNone/>
            </a:pPr>
            <a:r>
              <a:rPr lang="ar-SA" altLang="en-US" sz="2200" b="1" dirty="0">
                <a:solidFill>
                  <a:srgbClr val="FFFFFF"/>
                </a:solidFill>
                <a:latin typeface="Cairo" pitchFamily="34" charset="0"/>
                <a:ea typeface="Cairo" pitchFamily="34" charset="-122"/>
                <a:cs typeface="Cairo" pitchFamily="34" charset="-120"/>
              </a:rPr>
              <a:t>💡 الهيبة ليست خوف الطلاب منك…</a:t>
            </a:r>
            <a:endParaRPr lang="ar-SA" sz="2200" dirty="0"/>
          </a:p>
          <a:p>
            <a:pPr algn="ctr" indent="0" marL="0">
              <a:buNone/>
            </a:pPr>
            <a:r>
              <a:rPr lang="ar-SA" altLang="en-US" sz="2200" b="1" dirty="0">
                <a:solidFill>
                  <a:srgbClr val="F0CC7A"/>
                </a:solidFill>
                <a:latin typeface="Cairo" pitchFamily="34" charset="0"/>
                <a:ea typeface="Cairo" pitchFamily="34" charset="-122"/>
                <a:cs typeface="Cairo" pitchFamily="34" charset="-120"/>
              </a:rPr>
              <a:t> بل احترامهم لك</a:t>
            </a:r>
            <a:endParaRPr lang="ar-SA" sz="2200" dirty="0"/>
          </a:p>
        </p:txBody>
      </p:sp>
      <p:sp>
        <p:nvSpPr>
          <p:cNvPr id="27" name="Text 2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8" name="Text 2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كل شيء ممنوع!  ·  ٩٤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40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name="Slide 9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687007" y="457200"/>
            <a:ext cx="4681728" cy="457200"/>
          </a:xfrm>
          <a:prstGeom prst="roundRect">
            <a:avLst>
              <a:gd name="adj" fmla="val 50000"/>
            </a:avLst>
          </a:prstGeom>
          <a:solidFill>
            <a:srgbClr val="F6EBCF"/>
          </a:solidFill>
          <a:ln/>
        </p:spPr>
      </p:sp>
      <p:sp>
        <p:nvSpPr>
          <p:cNvPr id="3" name="Text 1"/>
          <p:cNvSpPr/>
          <p:nvPr/>
        </p:nvSpPr>
        <p:spPr>
          <a:xfrm>
            <a:off x="6687007" y="457200"/>
            <a:ext cx="468172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جلسة واحدة تغيّر القناعة</a:t>
            </a:r>
            <a:endParaRPr lang="ar-SA" sz="1800" dirty="0"/>
          </a:p>
        </p:txBody>
      </p:sp>
      <p:sp>
        <p:nvSpPr>
          <p:cNvPr id="4" name="Shape 2"/>
          <p:cNvSpPr/>
          <p:nvPr/>
        </p:nvSpPr>
        <p:spPr>
          <a:xfrm>
            <a:off x="822960" y="457200"/>
            <a:ext cx="1975104" cy="457200"/>
          </a:xfrm>
          <a:prstGeom prst="roundRect">
            <a:avLst>
              <a:gd name="adj" fmla="val 50000"/>
            </a:avLst>
          </a:prstGeom>
          <a:solidFill>
            <a:srgbClr val="FBECEC"/>
          </a:solidFill>
          <a:ln/>
        </p:spPr>
      </p:sp>
      <p:sp>
        <p:nvSpPr>
          <p:cNvPr id="5" name="Text 3"/>
          <p:cNvSpPr/>
          <p:nvPr/>
        </p:nvSpPr>
        <p:spPr>
          <a:xfrm>
            <a:off x="822960" y="457200"/>
            <a:ext cx="1975104"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D64545"/>
                </a:solidFill>
                <a:latin typeface="Cairo" pitchFamily="34" charset="0"/>
                <a:ea typeface="Cairo" pitchFamily="34" charset="-122"/>
                <a:cs typeface="Cairo" pitchFamily="34" charset="-120"/>
              </a:rPr>
              <a:t>⏱ جلسة واحدة</a:t>
            </a:r>
            <a:endParaRPr lang="ar-SA" sz="1600" dirty="0"/>
          </a:p>
        </p:txBody>
      </p:sp>
      <p:sp>
        <p:nvSpPr>
          <p:cNvPr id="6" name="Text 4"/>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كيف يدير المدير الجلسة؟</a:t>
            </a:r>
            <a:endParaRPr lang="ar-SA" sz="3800" dirty="0"/>
          </a:p>
        </p:txBody>
      </p:sp>
      <p:sp>
        <p:nvSpPr>
          <p:cNvPr id="7" name="anim-g1-982"/>
          <p:cNvSpPr/>
          <p:nvPr/>
        </p:nvSpPr>
        <p:spPr>
          <a:xfrm>
            <a:off x="8903741" y="2148840"/>
            <a:ext cx="2464994" cy="3383280"/>
          </a:xfrm>
          <a:prstGeom prst="roundRect">
            <a:avLst>
              <a:gd name="adj" fmla="val 6677"/>
            </a:avLst>
          </a:prstGeom>
          <a:solidFill>
            <a:srgbClr val="FFFFFF"/>
          </a:solidFill>
          <a:ln w="12700">
            <a:solidFill>
              <a:srgbClr val="E4DCC8"/>
            </a:solidFill>
            <a:prstDash val="solid"/>
          </a:ln>
        </p:spPr>
      </p:sp>
      <p:sp>
        <p:nvSpPr>
          <p:cNvPr id="8" name="anim-g1-983"/>
          <p:cNvSpPr/>
          <p:nvPr/>
        </p:nvSpPr>
        <p:spPr>
          <a:xfrm>
            <a:off x="9747618" y="2423160"/>
            <a:ext cx="777240" cy="777240"/>
          </a:xfrm>
          <a:prstGeom prst="ellipse">
            <a:avLst/>
          </a:prstGeom>
          <a:solidFill>
            <a:srgbClr val="D9AE4B"/>
          </a:solidFill>
          <a:ln/>
        </p:spPr>
      </p:sp>
      <p:sp>
        <p:nvSpPr>
          <p:cNvPr id="9" name="anim-g1-984"/>
          <p:cNvSpPr/>
          <p:nvPr/>
        </p:nvSpPr>
        <p:spPr>
          <a:xfrm>
            <a:off x="9747618"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١</a:t>
            </a:r>
            <a:endParaRPr lang="ar-SA" sz="2800" dirty="0"/>
          </a:p>
        </p:txBody>
      </p:sp>
      <p:sp>
        <p:nvSpPr>
          <p:cNvPr id="10" name="anim-g1-985"/>
          <p:cNvSpPr/>
          <p:nvPr/>
        </p:nvSpPr>
        <p:spPr>
          <a:xfrm>
            <a:off x="9040901"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استمع</a:t>
            </a:r>
            <a:endParaRPr lang="ar-SA" sz="2500" dirty="0"/>
          </a:p>
        </p:txBody>
      </p:sp>
      <p:sp>
        <p:nvSpPr>
          <p:cNvPr id="11" name="anim-g1-986"/>
          <p:cNvSpPr/>
          <p:nvPr/>
        </p:nvSpPr>
        <p:spPr>
          <a:xfrm>
            <a:off x="9086621"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دعه يُفرغ قلقه كاملًا</a:t>
            </a:r>
            <a:endParaRPr lang="ar-SA" sz="2000" dirty="0"/>
          </a:p>
        </p:txBody>
      </p:sp>
      <p:sp>
        <p:nvSpPr>
          <p:cNvPr id="12" name="anim-g2-987"/>
          <p:cNvSpPr/>
          <p:nvPr/>
        </p:nvSpPr>
        <p:spPr>
          <a:xfrm>
            <a:off x="6210148" y="2148840"/>
            <a:ext cx="2464994" cy="3383280"/>
          </a:xfrm>
          <a:prstGeom prst="roundRect">
            <a:avLst>
              <a:gd name="adj" fmla="val 6677"/>
            </a:avLst>
          </a:prstGeom>
          <a:solidFill>
            <a:srgbClr val="FFFFFF"/>
          </a:solidFill>
          <a:ln w="12700">
            <a:solidFill>
              <a:srgbClr val="E4DCC8"/>
            </a:solidFill>
            <a:prstDash val="solid"/>
          </a:ln>
        </p:spPr>
      </p:sp>
      <p:sp>
        <p:nvSpPr>
          <p:cNvPr id="13" name="anim-g2-988"/>
          <p:cNvSpPr/>
          <p:nvPr/>
        </p:nvSpPr>
        <p:spPr>
          <a:xfrm>
            <a:off x="7054024" y="2423160"/>
            <a:ext cx="777240" cy="777240"/>
          </a:xfrm>
          <a:prstGeom prst="ellipse">
            <a:avLst/>
          </a:prstGeom>
          <a:solidFill>
            <a:srgbClr val="D9AE4B"/>
          </a:solidFill>
          <a:ln/>
        </p:spPr>
      </p:sp>
      <p:sp>
        <p:nvSpPr>
          <p:cNvPr id="14" name="anim-g2-989"/>
          <p:cNvSpPr/>
          <p:nvPr/>
        </p:nvSpPr>
        <p:spPr>
          <a:xfrm>
            <a:off x="7054024"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٢</a:t>
            </a:r>
            <a:endParaRPr lang="ar-SA" sz="2800" dirty="0"/>
          </a:p>
        </p:txBody>
      </p:sp>
      <p:sp>
        <p:nvSpPr>
          <p:cNvPr id="15" name="anim-g2-990"/>
          <p:cNvSpPr/>
          <p:nvPr/>
        </p:nvSpPr>
        <p:spPr>
          <a:xfrm>
            <a:off x="6347308"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هدف مشترك</a:t>
            </a:r>
            <a:endParaRPr lang="ar-SA" sz="2500" dirty="0"/>
          </a:p>
        </p:txBody>
      </p:sp>
      <p:sp>
        <p:nvSpPr>
          <p:cNvPr id="16" name="anim-g2-991"/>
          <p:cNvSpPr/>
          <p:nvPr/>
        </p:nvSpPr>
        <p:spPr>
          <a:xfrm>
            <a:off x="6393028"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فصل منضبط يحترم المعلم</a:t>
            </a:r>
            <a:endParaRPr lang="ar-SA" sz="2000" dirty="0"/>
          </a:p>
        </p:txBody>
      </p:sp>
      <p:sp>
        <p:nvSpPr>
          <p:cNvPr id="17" name="anim-g3-992"/>
          <p:cNvSpPr/>
          <p:nvPr/>
        </p:nvSpPr>
        <p:spPr>
          <a:xfrm>
            <a:off x="3516554" y="2148840"/>
            <a:ext cx="2464994" cy="3383280"/>
          </a:xfrm>
          <a:prstGeom prst="roundRect">
            <a:avLst>
              <a:gd name="adj" fmla="val 6677"/>
            </a:avLst>
          </a:prstGeom>
          <a:solidFill>
            <a:srgbClr val="FFFFFF"/>
          </a:solidFill>
          <a:ln w="12700">
            <a:solidFill>
              <a:srgbClr val="E4DCC8"/>
            </a:solidFill>
            <a:prstDash val="solid"/>
          </a:ln>
        </p:spPr>
      </p:sp>
      <p:sp>
        <p:nvSpPr>
          <p:cNvPr id="18" name="anim-g3-993"/>
          <p:cNvSpPr/>
          <p:nvPr/>
        </p:nvSpPr>
        <p:spPr>
          <a:xfrm>
            <a:off x="4360431" y="2423160"/>
            <a:ext cx="777240" cy="777240"/>
          </a:xfrm>
          <a:prstGeom prst="ellipse">
            <a:avLst/>
          </a:prstGeom>
          <a:solidFill>
            <a:srgbClr val="D9AE4B"/>
          </a:solidFill>
          <a:ln/>
        </p:spPr>
      </p:sp>
      <p:sp>
        <p:nvSpPr>
          <p:cNvPr id="19" name="anim-g3-994"/>
          <p:cNvSpPr/>
          <p:nvPr/>
        </p:nvSpPr>
        <p:spPr>
          <a:xfrm>
            <a:off x="4360431"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٣</a:t>
            </a:r>
            <a:endParaRPr lang="ar-SA" sz="2800" dirty="0"/>
          </a:p>
        </p:txBody>
      </p:sp>
      <p:sp>
        <p:nvSpPr>
          <p:cNvPr id="20" name="anim-g3-995"/>
          <p:cNvSpPr/>
          <p:nvPr/>
        </p:nvSpPr>
        <p:spPr>
          <a:xfrm>
            <a:off x="3653714"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البدائل</a:t>
            </a:r>
            <a:endParaRPr lang="ar-SA" sz="2500" dirty="0"/>
          </a:p>
        </p:txBody>
      </p:sp>
      <p:sp>
        <p:nvSpPr>
          <p:cNvPr id="21" name="anim-g3-996"/>
          <p:cNvSpPr/>
          <p:nvPr/>
        </p:nvSpPr>
        <p:spPr>
          <a:xfrm>
            <a:off x="3699434"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أداة مكان كل «ممنوع»</a:t>
            </a:r>
            <a:endParaRPr lang="ar-SA" sz="2000" dirty="0"/>
          </a:p>
        </p:txBody>
      </p:sp>
      <p:sp>
        <p:nvSpPr>
          <p:cNvPr id="22" name="anim-g4-997"/>
          <p:cNvSpPr/>
          <p:nvPr/>
        </p:nvSpPr>
        <p:spPr>
          <a:xfrm>
            <a:off x="822960" y="2148840"/>
            <a:ext cx="2464994" cy="3383280"/>
          </a:xfrm>
          <a:prstGeom prst="roundRect">
            <a:avLst>
              <a:gd name="adj" fmla="val 6677"/>
            </a:avLst>
          </a:prstGeom>
          <a:solidFill>
            <a:srgbClr val="FFFFFF"/>
          </a:solidFill>
          <a:ln w="12700">
            <a:solidFill>
              <a:srgbClr val="E4DCC8"/>
            </a:solidFill>
            <a:prstDash val="solid"/>
          </a:ln>
        </p:spPr>
      </p:sp>
      <p:sp>
        <p:nvSpPr>
          <p:cNvPr id="23" name="anim-g4-998"/>
          <p:cNvSpPr/>
          <p:nvPr/>
        </p:nvSpPr>
        <p:spPr>
          <a:xfrm>
            <a:off x="1666837" y="2423160"/>
            <a:ext cx="777240" cy="777240"/>
          </a:xfrm>
          <a:prstGeom prst="ellipse">
            <a:avLst/>
          </a:prstGeom>
          <a:solidFill>
            <a:srgbClr val="D9AE4B"/>
          </a:solidFill>
          <a:ln/>
        </p:spPr>
      </p:sp>
      <p:sp>
        <p:nvSpPr>
          <p:cNvPr id="24" name="anim-g4-999"/>
          <p:cNvSpPr/>
          <p:nvPr/>
        </p:nvSpPr>
        <p:spPr>
          <a:xfrm>
            <a:off x="1666837"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٤</a:t>
            </a:r>
            <a:endParaRPr lang="ar-SA" sz="2800" dirty="0"/>
          </a:p>
        </p:txBody>
      </p:sp>
      <p:sp>
        <p:nvSpPr>
          <p:cNvPr id="25" name="anim-g4-1000"/>
          <p:cNvSpPr/>
          <p:nvPr/>
        </p:nvSpPr>
        <p:spPr>
          <a:xfrm>
            <a:off x="960120"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تابع</a:t>
            </a:r>
            <a:endParaRPr lang="ar-SA" sz="2500" dirty="0"/>
          </a:p>
        </p:txBody>
      </p:sp>
      <p:sp>
        <p:nvSpPr>
          <p:cNvPr id="26" name="anim-g4-1001"/>
          <p:cNvSpPr/>
          <p:nvPr/>
        </p:nvSpPr>
        <p:spPr>
          <a:xfrm>
            <a:off x="1005840"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زيارة داعمة بعد أسبوعين</a:t>
            </a:r>
            <a:endParaRPr lang="ar-SA" sz="2000" dirty="0"/>
          </a:p>
        </p:txBody>
      </p:sp>
      <p:sp>
        <p:nvSpPr>
          <p:cNvPr id="27" name="Text 2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8" name="Text 2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كل شيء ممنوع!  ·  ٩٥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400"/>
                                        <p:tgtEl>
                                          <p:spTgt spid="1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40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4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400"/>
                                        <p:tgtEl>
                                          <p:spTgt spid="1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400"/>
                                        <p:tgtEl>
                                          <p:spTgt spid="2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400"/>
                                        <p:tgtEl>
                                          <p:spTgt spid="21"/>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400"/>
                                        <p:tgtEl>
                                          <p:spTgt spid="2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400"/>
                                        <p:tgtEl>
                                          <p:spTgt spid="2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400"/>
                                        <p:tgtEl>
                                          <p:spTgt spid="2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400"/>
                                        <p:tgtEl>
                                          <p:spTgt spid="2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name="Slide 9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588959" y="457200"/>
            <a:ext cx="2779776" cy="457200"/>
          </a:xfrm>
          <a:prstGeom prst="roundRect">
            <a:avLst>
              <a:gd name="adj" fmla="val 50000"/>
            </a:avLst>
          </a:prstGeom>
          <a:solidFill>
            <a:srgbClr val="F6EBCF"/>
          </a:solidFill>
          <a:ln/>
        </p:spPr>
      </p:sp>
      <p:sp>
        <p:nvSpPr>
          <p:cNvPr id="3" name="Text 1"/>
          <p:cNvSpPr/>
          <p:nvPr/>
        </p:nvSpPr>
        <p:spPr>
          <a:xfrm>
            <a:off x="8588959" y="457200"/>
            <a:ext cx="277977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الجُمل الجاهزة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ماذا تقول بالحرف؟</a:t>
            </a:r>
            <a:endParaRPr lang="ar-SA" sz="3800" dirty="0"/>
          </a:p>
        </p:txBody>
      </p:sp>
      <p:sp>
        <p:nvSpPr>
          <p:cNvPr id="5" name="anim-g1-1002"/>
          <p:cNvSpPr/>
          <p:nvPr/>
        </p:nvSpPr>
        <p:spPr>
          <a:xfrm>
            <a:off x="9768535" y="2130552"/>
            <a:ext cx="1600200" cy="1018032"/>
          </a:xfrm>
          <a:prstGeom prst="roundRect">
            <a:avLst>
              <a:gd name="adj" fmla="val 13473"/>
            </a:avLst>
          </a:prstGeom>
          <a:solidFill>
            <a:srgbClr val="E9EDF9"/>
          </a:solidFill>
          <a:ln/>
        </p:spPr>
      </p:sp>
      <p:sp>
        <p:nvSpPr>
          <p:cNvPr id="6" name="anim-g1-1003"/>
          <p:cNvSpPr/>
          <p:nvPr/>
        </p:nvSpPr>
        <p:spPr>
          <a:xfrm>
            <a:off x="9814255" y="2130552"/>
            <a:ext cx="1508760" cy="101803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المدير يبدأ</a:t>
            </a:r>
            <a:endParaRPr lang="ar-SA" sz="1800" dirty="0"/>
          </a:p>
        </p:txBody>
      </p:sp>
      <p:sp>
        <p:nvSpPr>
          <p:cNvPr id="7" name="anim-g1-1004"/>
          <p:cNvSpPr/>
          <p:nvPr/>
        </p:nvSpPr>
        <p:spPr>
          <a:xfrm>
            <a:off x="822960" y="2057400"/>
            <a:ext cx="8716975" cy="1164336"/>
          </a:xfrm>
          <a:prstGeom prst="roundRect">
            <a:avLst>
              <a:gd name="adj" fmla="val 17277"/>
            </a:avLst>
          </a:prstGeom>
          <a:solidFill>
            <a:srgbClr val="101B45"/>
          </a:solidFill>
          <a:ln/>
        </p:spPr>
      </p:sp>
      <p:sp>
        <p:nvSpPr>
          <p:cNvPr id="8" name="anim-g1-1005"/>
          <p:cNvSpPr/>
          <p:nvPr/>
        </p:nvSpPr>
        <p:spPr>
          <a:xfrm>
            <a:off x="1097280" y="2057400"/>
            <a:ext cx="8168335" cy="1164336"/>
          </a:xfrm>
          <a:prstGeom prst="rect">
            <a:avLst/>
          </a:prstGeom>
          <a:noFill/>
          <a:ln/>
        </p:spPr>
        <p:txBody>
          <a:bodyPr wrap="square" lIns="0" tIns="0" rIns="0" bIns="0" rtlCol="0" anchor="ctr">
            <a:normAutofit/>
          </a:bodyPr>
          <a:lstStyle/>
          <a:p>
            <a:pPr algn="r" indent="0" marL="0">
              <a:buNone/>
            </a:pPr>
            <a:r>
              <a:rPr lang="ar-SA" altLang="en-US" sz="2200" b="1" dirty="0">
                <a:solidFill>
                  <a:srgbClr val="D9AE4B"/>
                </a:solidFill>
                <a:latin typeface="Cairo" pitchFamily="34" charset="0"/>
                <a:ea typeface="Cairo" pitchFamily="34" charset="-122"/>
                <a:cs typeface="Cairo" pitchFamily="34" charset="-120"/>
              </a:rPr>
              <a:t>« </a:t>
            </a:r>
            <a:pPr algn="r" indent="0" marL="0">
              <a:buNone/>
            </a:pPr>
            <a:r>
              <a:rPr lang="ar-SA" altLang="en-US" sz="2200" b="1" dirty="0">
                <a:solidFill>
                  <a:srgbClr val="FFFFFF"/>
                </a:solidFill>
                <a:latin typeface="Cairo" pitchFamily="34" charset="0"/>
                <a:ea typeface="Cairo" pitchFamily="34" charset="-122"/>
                <a:cs typeface="Cairo" pitchFamily="34" charset="-120"/>
              </a:rPr>
              <a:t>خبرتك عشرون عامًا، وهذا مكسب لنا. ما الذي تخشى أن يحدث في فصلك؟</a:t>
            </a:r>
            <a:pPr algn="r" indent="0" marL="0">
              <a:buNone/>
            </a:pPr>
            <a:r>
              <a:rPr lang="ar-SA" altLang="en-US" sz="2200" b="1" dirty="0">
                <a:solidFill>
                  <a:srgbClr val="D9AE4B"/>
                </a:solidFill>
                <a:latin typeface="Cairo" pitchFamily="34" charset="0"/>
                <a:ea typeface="Cairo" pitchFamily="34" charset="-122"/>
                <a:cs typeface="Cairo" pitchFamily="34" charset="-120"/>
              </a:rPr>
              <a:t> »</a:t>
            </a:r>
            <a:endParaRPr lang="ar-SA" sz="2200" dirty="0"/>
          </a:p>
        </p:txBody>
      </p:sp>
      <p:sp>
        <p:nvSpPr>
          <p:cNvPr id="9" name="anim-g2-1006"/>
          <p:cNvSpPr/>
          <p:nvPr/>
        </p:nvSpPr>
        <p:spPr>
          <a:xfrm>
            <a:off x="9768535" y="3441192"/>
            <a:ext cx="1600200" cy="1018032"/>
          </a:xfrm>
          <a:prstGeom prst="roundRect">
            <a:avLst>
              <a:gd name="adj" fmla="val 13473"/>
            </a:avLst>
          </a:prstGeom>
          <a:solidFill>
            <a:srgbClr val="E9EDF9"/>
          </a:solidFill>
          <a:ln/>
        </p:spPr>
      </p:sp>
      <p:sp>
        <p:nvSpPr>
          <p:cNvPr id="10" name="anim-g2-1007"/>
          <p:cNvSpPr/>
          <p:nvPr/>
        </p:nvSpPr>
        <p:spPr>
          <a:xfrm>
            <a:off x="9814255" y="3441192"/>
            <a:ext cx="1508760" cy="101803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المدير يطمئن</a:t>
            </a:r>
            <a:endParaRPr lang="ar-SA" sz="1800" dirty="0"/>
          </a:p>
        </p:txBody>
      </p:sp>
      <p:sp>
        <p:nvSpPr>
          <p:cNvPr id="11" name="anim-g2-1008"/>
          <p:cNvSpPr/>
          <p:nvPr/>
        </p:nvSpPr>
        <p:spPr>
          <a:xfrm>
            <a:off x="822960" y="3368040"/>
            <a:ext cx="8716975" cy="1164336"/>
          </a:xfrm>
          <a:prstGeom prst="roundRect">
            <a:avLst>
              <a:gd name="adj" fmla="val 17277"/>
            </a:avLst>
          </a:prstGeom>
          <a:solidFill>
            <a:srgbClr val="101B45"/>
          </a:solidFill>
          <a:ln/>
        </p:spPr>
      </p:sp>
      <p:sp>
        <p:nvSpPr>
          <p:cNvPr id="12" name="anim-g2-1009"/>
          <p:cNvSpPr/>
          <p:nvPr/>
        </p:nvSpPr>
        <p:spPr>
          <a:xfrm>
            <a:off x="1097280" y="3368040"/>
            <a:ext cx="8168335" cy="1164336"/>
          </a:xfrm>
          <a:prstGeom prst="rect">
            <a:avLst/>
          </a:prstGeom>
          <a:noFill/>
          <a:ln/>
        </p:spPr>
        <p:txBody>
          <a:bodyPr wrap="square" lIns="0" tIns="0" rIns="0" bIns="0" rtlCol="0" anchor="ctr">
            <a:normAutofit/>
          </a:bodyPr>
          <a:lstStyle/>
          <a:p>
            <a:pPr algn="r" indent="0" marL="0">
              <a:buNone/>
            </a:pPr>
            <a:r>
              <a:rPr lang="ar-SA" altLang="en-US" sz="2000" b="1" dirty="0">
                <a:solidFill>
                  <a:srgbClr val="D9AE4B"/>
                </a:solidFill>
                <a:latin typeface="Cairo" pitchFamily="34" charset="0"/>
                <a:ea typeface="Cairo" pitchFamily="34" charset="-122"/>
                <a:cs typeface="Cairo" pitchFamily="34" charset="-120"/>
              </a:rPr>
              <a:t>« </a:t>
            </a:r>
            <a:pPr algn="r" indent="0" marL="0">
              <a:buNone/>
            </a:pPr>
            <a:r>
              <a:rPr lang="ar-SA" altLang="en-US" sz="2000" b="1" dirty="0">
                <a:solidFill>
                  <a:srgbClr val="FFFFFF"/>
                </a:solidFill>
                <a:latin typeface="Cairo" pitchFamily="34" charset="0"/>
                <a:ea typeface="Cairo" pitchFamily="34" charset="-122"/>
                <a:cs typeface="Cairo" pitchFamily="34" charset="-120"/>
              </a:rPr>
              <a:t>لست وحدك. أي حالة صعبة نحلها معًا، ولن أتركك أمام ثلاثين طالبًا بلا دعم</a:t>
            </a:r>
            <a:pPr algn="r" indent="0" marL="0">
              <a:buNone/>
            </a:pPr>
            <a:r>
              <a:rPr lang="ar-SA" altLang="en-US" sz="2000" b="1" dirty="0">
                <a:solidFill>
                  <a:srgbClr val="D9AE4B"/>
                </a:solidFill>
                <a:latin typeface="Cairo" pitchFamily="34" charset="0"/>
                <a:ea typeface="Cairo" pitchFamily="34" charset="-122"/>
                <a:cs typeface="Cairo" pitchFamily="34" charset="-120"/>
              </a:rPr>
              <a:t> »</a:t>
            </a:r>
            <a:endParaRPr lang="ar-SA" sz="2000" dirty="0"/>
          </a:p>
        </p:txBody>
      </p:sp>
      <p:sp>
        <p:nvSpPr>
          <p:cNvPr id="13" name="anim-g3-1010"/>
          <p:cNvSpPr/>
          <p:nvPr/>
        </p:nvSpPr>
        <p:spPr>
          <a:xfrm>
            <a:off x="9768535" y="4751832"/>
            <a:ext cx="1600200" cy="1018032"/>
          </a:xfrm>
          <a:prstGeom prst="roundRect">
            <a:avLst>
              <a:gd name="adj" fmla="val 13473"/>
            </a:avLst>
          </a:prstGeom>
          <a:solidFill>
            <a:srgbClr val="E9EDF9"/>
          </a:solidFill>
          <a:ln/>
        </p:spPr>
      </p:sp>
      <p:sp>
        <p:nvSpPr>
          <p:cNvPr id="14" name="anim-g3-1011"/>
          <p:cNvSpPr/>
          <p:nvPr/>
        </p:nvSpPr>
        <p:spPr>
          <a:xfrm>
            <a:off x="9814255" y="4751832"/>
            <a:ext cx="1508760" cy="101803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أ. الدخيل لطلابه</a:t>
            </a:r>
            <a:endParaRPr lang="ar-SA" sz="1800" dirty="0"/>
          </a:p>
        </p:txBody>
      </p:sp>
      <p:sp>
        <p:nvSpPr>
          <p:cNvPr id="15" name="anim-g3-1012"/>
          <p:cNvSpPr/>
          <p:nvPr/>
        </p:nvSpPr>
        <p:spPr>
          <a:xfrm>
            <a:off x="822960" y="4678680"/>
            <a:ext cx="8716975" cy="1164336"/>
          </a:xfrm>
          <a:prstGeom prst="roundRect">
            <a:avLst>
              <a:gd name="adj" fmla="val 17277"/>
            </a:avLst>
          </a:prstGeom>
          <a:solidFill>
            <a:srgbClr val="101B45"/>
          </a:solidFill>
          <a:ln/>
        </p:spPr>
      </p:sp>
      <p:sp>
        <p:nvSpPr>
          <p:cNvPr id="16" name="anim-g3-1013"/>
          <p:cNvSpPr/>
          <p:nvPr/>
        </p:nvSpPr>
        <p:spPr>
          <a:xfrm>
            <a:off x="1097280" y="4678680"/>
            <a:ext cx="8168335" cy="1164336"/>
          </a:xfrm>
          <a:prstGeom prst="rect">
            <a:avLst/>
          </a:prstGeom>
          <a:noFill/>
          <a:ln/>
        </p:spPr>
        <p:txBody>
          <a:bodyPr wrap="square" lIns="0" tIns="0" rIns="0" bIns="0" rtlCol="0" anchor="ctr">
            <a:normAutofit/>
          </a:bodyPr>
          <a:lstStyle/>
          <a:p>
            <a:pPr algn="r" indent="0" marL="0">
              <a:buNone/>
            </a:pPr>
            <a:r>
              <a:rPr lang="ar-SA" altLang="en-US" sz="2200" b="1" dirty="0">
                <a:solidFill>
                  <a:srgbClr val="D9AE4B"/>
                </a:solidFill>
                <a:latin typeface="Cairo" pitchFamily="34" charset="0"/>
                <a:ea typeface="Cairo" pitchFamily="34" charset="-122"/>
                <a:cs typeface="Cairo" pitchFamily="34" charset="-120"/>
              </a:rPr>
              <a:t>« </a:t>
            </a:r>
            <a:pPr algn="r" indent="0" marL="0">
              <a:buNone/>
            </a:pPr>
            <a:r>
              <a:rPr lang="ar-SA" altLang="en-US" sz="2200" b="1" dirty="0">
                <a:solidFill>
                  <a:srgbClr val="FFFFFF"/>
                </a:solidFill>
                <a:latin typeface="Cairo" pitchFamily="34" charset="0"/>
                <a:ea typeface="Cairo" pitchFamily="34" charset="-122"/>
                <a:cs typeface="Cairo" pitchFamily="34" charset="-120"/>
              </a:rPr>
              <a:t>لن أرفع صوتي عليكم، ولن أسمح لأحد أن يعطّل تعلّم زملائه</a:t>
            </a:r>
            <a:pPr algn="r" indent="0" marL="0">
              <a:buNone/>
            </a:pPr>
            <a:r>
              <a:rPr lang="ar-SA" altLang="en-US" sz="2200" b="1" dirty="0">
                <a:solidFill>
                  <a:srgbClr val="D9AE4B"/>
                </a:solidFill>
                <a:latin typeface="Cairo" pitchFamily="34" charset="0"/>
                <a:ea typeface="Cairo" pitchFamily="34" charset="-122"/>
                <a:cs typeface="Cairo" pitchFamily="34" charset="-120"/>
              </a:rPr>
              <a:t> »</a:t>
            </a:r>
            <a:endParaRPr lang="ar-SA" sz="2200" dirty="0"/>
          </a:p>
        </p:txBody>
      </p:sp>
      <p:sp>
        <p:nvSpPr>
          <p:cNvPr id="17" name="Text 1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18" name="Text 1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كل شيء ممنوع!  ·  ٩٦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pic>
        <p:nvPicPr>
          <p:cNvPr id="2" name="Image 0" descr="/Users/mac/Desktop/أردوينو/المشاريع والكتب/younes-training/mawaqif/.pptx-cache/s9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5486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مكان كل «ممنوع»… أداة أقوى</a:t>
            </a:r>
            <a:endParaRPr lang="ar-SA" sz="3800" dirty="0"/>
          </a:p>
        </p:txBody>
      </p:sp>
      <p:sp>
        <p:nvSpPr>
          <p:cNvPr id="3" name="Text 1"/>
          <p:cNvSpPr/>
          <p:nvPr/>
        </p:nvSpPr>
        <p:spPr>
          <a:xfrm>
            <a:off x="6415888"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D64545"/>
                </a:solidFill>
                <a:latin typeface="Cairo Black" pitchFamily="34" charset="0"/>
                <a:ea typeface="Cairo Black" pitchFamily="34" charset="-122"/>
                <a:cs typeface="Cairo Black" pitchFamily="34" charset="-120"/>
              </a:rPr>
              <a:t>❌ الخطأ الشائع</a:t>
            </a:r>
            <a:endParaRPr lang="ar-SA" sz="2100" dirty="0"/>
          </a:p>
        </p:txBody>
      </p:sp>
      <p:sp>
        <p:nvSpPr>
          <p:cNvPr id="4" name="Text 2"/>
          <p:cNvSpPr/>
          <p:nvPr/>
        </p:nvSpPr>
        <p:spPr>
          <a:xfrm>
            <a:off x="822960"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2E9E6B"/>
                </a:solidFill>
                <a:latin typeface="Cairo Black" pitchFamily="34" charset="0"/>
                <a:ea typeface="Cairo Black" pitchFamily="34" charset="-122"/>
                <a:cs typeface="Cairo Black" pitchFamily="34" charset="-120"/>
              </a:rPr>
              <a:t>✅ البديل</a:t>
            </a:r>
            <a:endParaRPr lang="ar-SA" sz="2100" dirty="0"/>
          </a:p>
        </p:txBody>
      </p:sp>
      <p:sp>
        <p:nvSpPr>
          <p:cNvPr id="5" name="anim-g1-1014"/>
          <p:cNvSpPr/>
          <p:nvPr/>
        </p:nvSpPr>
        <p:spPr>
          <a:xfrm>
            <a:off x="6415888" y="2194560"/>
            <a:ext cx="4952848" cy="804672"/>
          </a:xfrm>
          <a:prstGeom prst="roundRect">
            <a:avLst>
              <a:gd name="adj" fmla="val 15909"/>
            </a:avLst>
          </a:prstGeom>
          <a:solidFill>
            <a:srgbClr val="FBECEC"/>
          </a:solidFill>
          <a:ln/>
        </p:spPr>
      </p:sp>
      <p:sp>
        <p:nvSpPr>
          <p:cNvPr id="6" name="anim-g1-1015"/>
          <p:cNvSpPr/>
          <p:nvPr/>
        </p:nvSpPr>
        <p:spPr>
          <a:xfrm>
            <a:off x="6644488"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السبّ والتوبيخ</a:t>
            </a:r>
            <a:endParaRPr lang="ar-SA" sz="2200" dirty="0"/>
          </a:p>
        </p:txBody>
      </p:sp>
      <p:sp>
        <p:nvSpPr>
          <p:cNvPr id="7" name="anim-g1-1016"/>
          <p:cNvSpPr/>
          <p:nvPr/>
        </p:nvSpPr>
        <p:spPr>
          <a:xfrm>
            <a:off x="822960" y="2194560"/>
            <a:ext cx="4952848" cy="804672"/>
          </a:xfrm>
          <a:prstGeom prst="roundRect">
            <a:avLst>
              <a:gd name="adj" fmla="val 15909"/>
            </a:avLst>
          </a:prstGeom>
          <a:solidFill>
            <a:srgbClr val="FFFFFF"/>
          </a:solidFill>
          <a:ln w="19050">
            <a:solidFill>
              <a:srgbClr val="BFD9CB"/>
            </a:solidFill>
            <a:prstDash val="dash"/>
          </a:ln>
        </p:spPr>
      </p:sp>
      <p:sp>
        <p:nvSpPr>
          <p:cNvPr id="8" name="anim-g1-1017"/>
          <p:cNvSpPr/>
          <p:nvPr/>
        </p:nvSpPr>
        <p:spPr>
          <a:xfrm>
            <a:off x="822960" y="219456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9" name="anim-g2-1018"/>
          <p:cNvSpPr/>
          <p:nvPr/>
        </p:nvSpPr>
        <p:spPr>
          <a:xfrm>
            <a:off x="5775808" y="219456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0" name="anim-g2-1019"/>
          <p:cNvSpPr/>
          <p:nvPr/>
        </p:nvSpPr>
        <p:spPr>
          <a:xfrm>
            <a:off x="822960" y="2194560"/>
            <a:ext cx="4952848" cy="804672"/>
          </a:xfrm>
          <a:prstGeom prst="roundRect">
            <a:avLst>
              <a:gd name="adj" fmla="val 15909"/>
            </a:avLst>
          </a:prstGeom>
          <a:solidFill>
            <a:srgbClr val="E6F4EC"/>
          </a:solidFill>
          <a:ln/>
        </p:spPr>
      </p:sp>
      <p:sp>
        <p:nvSpPr>
          <p:cNvPr id="11" name="anim-g2-1020"/>
          <p:cNvSpPr/>
          <p:nvPr/>
        </p:nvSpPr>
        <p:spPr>
          <a:xfrm>
            <a:off x="1051560"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حزم هادئ بجملة واضحة</a:t>
            </a:r>
            <a:endParaRPr lang="ar-SA" sz="2200" dirty="0"/>
          </a:p>
        </p:txBody>
      </p:sp>
      <p:sp>
        <p:nvSpPr>
          <p:cNvPr id="12" name="anim-g3-1021"/>
          <p:cNvSpPr/>
          <p:nvPr/>
        </p:nvSpPr>
        <p:spPr>
          <a:xfrm>
            <a:off x="6415888" y="3154680"/>
            <a:ext cx="4952848" cy="804672"/>
          </a:xfrm>
          <a:prstGeom prst="roundRect">
            <a:avLst>
              <a:gd name="adj" fmla="val 15909"/>
            </a:avLst>
          </a:prstGeom>
          <a:solidFill>
            <a:srgbClr val="FBECEC"/>
          </a:solidFill>
          <a:ln/>
        </p:spPr>
      </p:sp>
      <p:sp>
        <p:nvSpPr>
          <p:cNvPr id="13" name="anim-g3-1022"/>
          <p:cNvSpPr/>
          <p:nvPr/>
        </p:nvSpPr>
        <p:spPr>
          <a:xfrm>
            <a:off x="6644488"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الضرب</a:t>
            </a:r>
            <a:endParaRPr lang="ar-SA" sz="2200" dirty="0"/>
          </a:p>
        </p:txBody>
      </p:sp>
      <p:sp>
        <p:nvSpPr>
          <p:cNvPr id="14" name="anim-g3-1023"/>
          <p:cNvSpPr/>
          <p:nvPr/>
        </p:nvSpPr>
        <p:spPr>
          <a:xfrm>
            <a:off x="822960" y="3154680"/>
            <a:ext cx="4952848" cy="804672"/>
          </a:xfrm>
          <a:prstGeom prst="roundRect">
            <a:avLst>
              <a:gd name="adj" fmla="val 15909"/>
            </a:avLst>
          </a:prstGeom>
          <a:solidFill>
            <a:srgbClr val="FFFFFF"/>
          </a:solidFill>
          <a:ln w="19050">
            <a:solidFill>
              <a:srgbClr val="BFD9CB"/>
            </a:solidFill>
            <a:prstDash val="dash"/>
          </a:ln>
        </p:spPr>
      </p:sp>
      <p:sp>
        <p:nvSpPr>
          <p:cNvPr id="15" name="anim-g3-1024"/>
          <p:cNvSpPr/>
          <p:nvPr/>
        </p:nvSpPr>
        <p:spPr>
          <a:xfrm>
            <a:off x="822960" y="315468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16" name="anim-g4-1025"/>
          <p:cNvSpPr/>
          <p:nvPr/>
        </p:nvSpPr>
        <p:spPr>
          <a:xfrm>
            <a:off x="5775808" y="315468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7" name="anim-g4-1026"/>
          <p:cNvSpPr/>
          <p:nvPr/>
        </p:nvSpPr>
        <p:spPr>
          <a:xfrm>
            <a:off x="822960" y="3154680"/>
            <a:ext cx="4952848" cy="804672"/>
          </a:xfrm>
          <a:prstGeom prst="roundRect">
            <a:avLst>
              <a:gd name="adj" fmla="val 15909"/>
            </a:avLst>
          </a:prstGeom>
          <a:solidFill>
            <a:srgbClr val="E6F4EC"/>
          </a:solidFill>
          <a:ln/>
        </p:spPr>
      </p:sp>
      <p:sp>
        <p:nvSpPr>
          <p:cNvPr id="18" name="anim-g4-1027"/>
          <p:cNvSpPr/>
          <p:nvPr/>
        </p:nvSpPr>
        <p:spPr>
          <a:xfrm>
            <a:off x="1051560"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عواقب منطقية متفق عليها مسبقًا</a:t>
            </a:r>
            <a:endParaRPr lang="ar-SA" sz="2200" dirty="0"/>
          </a:p>
        </p:txBody>
      </p:sp>
      <p:sp>
        <p:nvSpPr>
          <p:cNvPr id="19" name="anim-g5-1028"/>
          <p:cNvSpPr/>
          <p:nvPr/>
        </p:nvSpPr>
        <p:spPr>
          <a:xfrm>
            <a:off x="6415888" y="4114800"/>
            <a:ext cx="4952848" cy="804672"/>
          </a:xfrm>
          <a:prstGeom prst="roundRect">
            <a:avLst>
              <a:gd name="adj" fmla="val 15909"/>
            </a:avLst>
          </a:prstGeom>
          <a:solidFill>
            <a:srgbClr val="FBECEC"/>
          </a:solidFill>
          <a:ln/>
        </p:spPr>
      </p:sp>
      <p:sp>
        <p:nvSpPr>
          <p:cNvPr id="20" name="anim-g5-1029"/>
          <p:cNvSpPr/>
          <p:nvPr/>
        </p:nvSpPr>
        <p:spPr>
          <a:xfrm>
            <a:off x="6644488"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الطرد من الفصل</a:t>
            </a:r>
            <a:endParaRPr lang="ar-SA" sz="2200" dirty="0"/>
          </a:p>
        </p:txBody>
      </p:sp>
      <p:sp>
        <p:nvSpPr>
          <p:cNvPr id="21" name="anim-g5-1030"/>
          <p:cNvSpPr/>
          <p:nvPr/>
        </p:nvSpPr>
        <p:spPr>
          <a:xfrm>
            <a:off x="822960" y="4114800"/>
            <a:ext cx="4952848" cy="804672"/>
          </a:xfrm>
          <a:prstGeom prst="roundRect">
            <a:avLst>
              <a:gd name="adj" fmla="val 15909"/>
            </a:avLst>
          </a:prstGeom>
          <a:solidFill>
            <a:srgbClr val="FFFFFF"/>
          </a:solidFill>
          <a:ln w="19050">
            <a:solidFill>
              <a:srgbClr val="BFD9CB"/>
            </a:solidFill>
            <a:prstDash val="dash"/>
          </a:ln>
        </p:spPr>
      </p:sp>
      <p:sp>
        <p:nvSpPr>
          <p:cNvPr id="22" name="anim-g5-1031"/>
          <p:cNvSpPr/>
          <p:nvPr/>
        </p:nvSpPr>
        <p:spPr>
          <a:xfrm>
            <a:off x="822960" y="411480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23" name="anim-g6-1032"/>
          <p:cNvSpPr/>
          <p:nvPr/>
        </p:nvSpPr>
        <p:spPr>
          <a:xfrm>
            <a:off x="5775808" y="411480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24" name="anim-g6-1033"/>
          <p:cNvSpPr/>
          <p:nvPr/>
        </p:nvSpPr>
        <p:spPr>
          <a:xfrm>
            <a:off x="822960" y="4114800"/>
            <a:ext cx="4952848" cy="804672"/>
          </a:xfrm>
          <a:prstGeom prst="roundRect">
            <a:avLst>
              <a:gd name="adj" fmla="val 15909"/>
            </a:avLst>
          </a:prstGeom>
          <a:solidFill>
            <a:srgbClr val="E6F4EC"/>
          </a:solidFill>
          <a:ln/>
        </p:spPr>
      </p:sp>
      <p:sp>
        <p:nvSpPr>
          <p:cNvPr id="25" name="anim-g6-1034"/>
          <p:cNvSpPr/>
          <p:nvPr/>
        </p:nvSpPr>
        <p:spPr>
          <a:xfrm>
            <a:off x="1051560"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حوار خاص وخطة سلوك مكتوبة</a:t>
            </a:r>
            <a:endParaRPr lang="ar-SA" sz="2200" dirty="0"/>
          </a:p>
        </p:txBody>
      </p:sp>
      <p:sp>
        <p:nvSpPr>
          <p:cNvPr id="26" name="anim-g7-1035"/>
          <p:cNvSpPr/>
          <p:nvPr/>
        </p:nvSpPr>
        <p:spPr>
          <a:xfrm>
            <a:off x="6415888" y="5074920"/>
            <a:ext cx="4952848" cy="804672"/>
          </a:xfrm>
          <a:prstGeom prst="roundRect">
            <a:avLst>
              <a:gd name="adj" fmla="val 15909"/>
            </a:avLst>
          </a:prstGeom>
          <a:solidFill>
            <a:srgbClr val="FBECEC"/>
          </a:solidFill>
          <a:ln/>
        </p:spPr>
      </p:sp>
      <p:sp>
        <p:nvSpPr>
          <p:cNvPr id="27" name="anim-g7-1036"/>
          <p:cNvSpPr/>
          <p:nvPr/>
        </p:nvSpPr>
        <p:spPr>
          <a:xfrm>
            <a:off x="6644488" y="507492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التخويف</a:t>
            </a:r>
            <a:endParaRPr lang="ar-SA" sz="2200" dirty="0"/>
          </a:p>
        </p:txBody>
      </p:sp>
      <p:sp>
        <p:nvSpPr>
          <p:cNvPr id="28" name="anim-g7-1037"/>
          <p:cNvSpPr/>
          <p:nvPr/>
        </p:nvSpPr>
        <p:spPr>
          <a:xfrm>
            <a:off x="822960" y="5074920"/>
            <a:ext cx="4952848" cy="804672"/>
          </a:xfrm>
          <a:prstGeom prst="roundRect">
            <a:avLst>
              <a:gd name="adj" fmla="val 15909"/>
            </a:avLst>
          </a:prstGeom>
          <a:solidFill>
            <a:srgbClr val="FFFFFF"/>
          </a:solidFill>
          <a:ln w="19050">
            <a:solidFill>
              <a:srgbClr val="BFD9CB"/>
            </a:solidFill>
            <a:prstDash val="dash"/>
          </a:ln>
        </p:spPr>
      </p:sp>
      <p:sp>
        <p:nvSpPr>
          <p:cNvPr id="29" name="anim-g7-1038"/>
          <p:cNvSpPr/>
          <p:nvPr/>
        </p:nvSpPr>
        <p:spPr>
          <a:xfrm>
            <a:off x="822960" y="507492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30" name="anim-g8-1039"/>
          <p:cNvSpPr/>
          <p:nvPr/>
        </p:nvSpPr>
        <p:spPr>
          <a:xfrm>
            <a:off x="5775808" y="507492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31" name="anim-g8-1040"/>
          <p:cNvSpPr/>
          <p:nvPr/>
        </p:nvSpPr>
        <p:spPr>
          <a:xfrm>
            <a:off x="822960" y="5074920"/>
            <a:ext cx="4952848" cy="804672"/>
          </a:xfrm>
          <a:prstGeom prst="roundRect">
            <a:avLst>
              <a:gd name="adj" fmla="val 15909"/>
            </a:avLst>
          </a:prstGeom>
          <a:solidFill>
            <a:srgbClr val="E6F4EC"/>
          </a:solidFill>
          <a:ln/>
        </p:spPr>
      </p:sp>
      <p:sp>
        <p:nvSpPr>
          <p:cNvPr id="32" name="anim-g8-1041"/>
          <p:cNvSpPr/>
          <p:nvPr/>
        </p:nvSpPr>
        <p:spPr>
          <a:xfrm>
            <a:off x="1051560" y="507492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علاقة قوية تجعل الطالب لا يريد أن يخذلك</a:t>
            </a:r>
            <a:endParaRPr lang="ar-SA" sz="2200" dirty="0"/>
          </a:p>
        </p:txBody>
      </p:sp>
      <p:sp>
        <p:nvSpPr>
          <p:cNvPr id="33" name="Text 31"/>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34" name="Text 32"/>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كل شيء ممنوع!  ·  ٩٨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0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400"/>
                                        <p:tgtEl>
                                          <p:spTgt spid="1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400"/>
                                        <p:tgtEl>
                                          <p:spTgt spid="2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400"/>
                                        <p:tgtEl>
                                          <p:spTgt spid="2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400"/>
                                        <p:tgtEl>
                                          <p:spTgt spid="2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400"/>
                                        <p:tgtEl>
                                          <p:spTgt spid="25"/>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26"/>
                                        </p:tgtEl>
                                        <p:attrNameLst>
                                          <p:attrName>style.visibility</p:attrName>
                                        </p:attrNameLst>
                                      </p:cBhvr>
                                      <p:to>
                                        <p:strVal val="visible"/>
                                      </p:to>
                                    </p:set>
                                    <p:animEffect transition="in" filter="fade">
                                      <p:cBhvr>
                                        <p:cTn id="82" dur="400"/>
                                        <p:tgtEl>
                                          <p:spTgt spid="26"/>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7"/>
                                        </p:tgtEl>
                                        <p:attrNameLst>
                                          <p:attrName>style.visibility</p:attrName>
                                        </p:attrNameLst>
                                      </p:cBhvr>
                                      <p:to>
                                        <p:strVal val="visible"/>
                                      </p:to>
                                    </p:set>
                                    <p:animEffect transition="in" filter="fade">
                                      <p:cBhvr>
                                        <p:cTn id="85" dur="400"/>
                                        <p:tgtEl>
                                          <p:spTgt spid="27"/>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8"/>
                                        </p:tgtEl>
                                        <p:attrNameLst>
                                          <p:attrName>style.visibility</p:attrName>
                                        </p:attrNameLst>
                                      </p:cBhvr>
                                      <p:to>
                                        <p:strVal val="visible"/>
                                      </p:to>
                                    </p:set>
                                    <p:animEffect transition="in" filter="fade">
                                      <p:cBhvr>
                                        <p:cTn id="88" dur="400"/>
                                        <p:tgtEl>
                                          <p:spTgt spid="28"/>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29"/>
                                        </p:tgtEl>
                                        <p:attrNameLst>
                                          <p:attrName>style.visibility</p:attrName>
                                        </p:attrNameLst>
                                      </p:cBhvr>
                                      <p:to>
                                        <p:strVal val="visible"/>
                                      </p:to>
                                    </p:set>
                                    <p:animEffect transition="in" filter="fade">
                                      <p:cBhvr>
                                        <p:cTn id="91" dur="400"/>
                                        <p:tgtEl>
                                          <p:spTgt spid="29"/>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30"/>
                                        </p:tgtEl>
                                        <p:attrNameLst>
                                          <p:attrName>style.visibility</p:attrName>
                                        </p:attrNameLst>
                                      </p:cBhvr>
                                      <p:to>
                                        <p:strVal val="visible"/>
                                      </p:to>
                                    </p:set>
                                    <p:animEffect transition="in" filter="fade">
                                      <p:cBhvr>
                                        <p:cTn id="96" dur="400"/>
                                        <p:tgtEl>
                                          <p:spTgt spid="30"/>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1"/>
                                        </p:tgtEl>
                                        <p:attrNameLst>
                                          <p:attrName>style.visibility</p:attrName>
                                        </p:attrNameLst>
                                      </p:cBhvr>
                                      <p:to>
                                        <p:strVal val="visible"/>
                                      </p:to>
                                    </p:set>
                                    <p:animEffect transition="in" filter="fade">
                                      <p:cBhvr>
                                        <p:cTn id="99" dur="400"/>
                                        <p:tgtEl>
                                          <p:spTgt spid="31"/>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2"/>
                                        </p:tgtEl>
                                        <p:attrNameLst>
                                          <p:attrName>style.visibility</p:attrName>
                                        </p:attrNameLst>
                                      </p:cBhvr>
                                      <p:to>
                                        <p:strVal val="visible"/>
                                      </p:to>
                                    </p:set>
                                    <p:animEffect transition="in" filter="fade">
                                      <p:cBhvr>
                                        <p:cTn id="102"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name="Slide 9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الموقف</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المعلم القوي لا يحتاج أن يُخيف…</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يكفيه أن يكون واضحًا وعادلًا</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موقف: كل شيء ممنوع!  ·  ٩٩</a:t>
            </a:r>
            <a:endParaRPr lang="ar-SA" sz="12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kb-1042" descr="/Users/mac/Desktop/أردوينو/المشاريع والكتب/younes-training/mawaqif/assets/scenes/jokers.jpg">    </p:cNvPr>
          <p:cNvPicPr>
            <a:picLocks noChangeAspect="1"/>
          </p:cNvPicPr>
          <p:nvPr/>
        </p:nvPicPr>
        <p:blipFill>
          <a:blip r:embed="rId2"/>
          <a:stretch>
            <a:fillRect/>
          </a:stretch>
        </p:blipFill>
        <p:spPr>
          <a:xfrm>
            <a:off x="0" y="0"/>
            <a:ext cx="12191695" cy="6858000"/>
          </a:xfrm>
          <a:prstGeom prst="rect">
            <a:avLst/>
          </a:prstGeom>
        </p:spPr>
      </p:pic>
      <p:pic>
        <p:nvPicPr>
          <p:cNvPr id="3" name="Image 1" descr="/Users/mac/Desktop/أردوينو/المشاريع والكتب/younes-training/shared/assets/mcover-overlay.png">    </p:cNvPr>
          <p:cNvPicPr>
            <a:picLocks noChangeAspect="1"/>
          </p:cNvPicPr>
          <p:nvPr/>
        </p:nvPicPr>
        <p:blipFill>
          <a:blip r:embed="rId3"/>
          <a:stretch>
            <a:fillRect/>
          </a:stretch>
        </p:blipFill>
        <p:spPr>
          <a:xfrm>
            <a:off x="0" y="0"/>
            <a:ext cx="12191695" cy="6858000"/>
          </a:xfrm>
          <a:prstGeom prst="rect">
            <a:avLst/>
          </a:prstGeom>
        </p:spPr>
      </p:pic>
      <p:sp>
        <p:nvSpPr>
          <p:cNvPr id="4" name="Text 0"/>
          <p:cNvSpPr/>
          <p:nvPr/>
        </p:nvSpPr>
        <p:spPr>
          <a:xfrm>
            <a:off x="5669280" y="1737360"/>
            <a:ext cx="5699455" cy="502920"/>
          </a:xfrm>
          <a:prstGeom prst="rect">
            <a:avLst/>
          </a:prstGeom>
          <a:noFill/>
          <a:ln/>
        </p:spPr>
        <p:txBody>
          <a:bodyPr wrap="square" lIns="0" tIns="0" rIns="0" bIns="0" rtlCol="0" anchor="ctr">
            <a:normAutofit/>
          </a:bodyPr>
          <a:lstStyle/>
          <a:p>
            <a:pPr rtl="1" algn="r" indent="0" marL="0">
              <a:buNone/>
            </a:pPr>
            <a:r>
              <a:rPr lang="ar-SA" altLang="en-US" sz="2200" b="1" dirty="0">
                <a:solidFill>
                  <a:srgbClr val="D9AE4B"/>
                </a:solidFill>
                <a:latin typeface="Cairo" pitchFamily="34" charset="0"/>
                <a:ea typeface="Cairo" pitchFamily="34" charset="-122"/>
                <a:cs typeface="Cairo" pitchFamily="34" charset="-120"/>
              </a:rPr>
              <a:t>القواعد والإجراءات</a:t>
            </a:r>
            <a:endParaRPr lang="ar-SA" sz="2200" dirty="0"/>
          </a:p>
        </p:txBody>
      </p:sp>
      <p:sp>
        <p:nvSpPr>
          <p:cNvPr id="5" name="Text 1"/>
          <p:cNvSpPr/>
          <p:nvPr/>
        </p:nvSpPr>
        <p:spPr>
          <a:xfrm>
            <a:off x="5669280" y="2286000"/>
            <a:ext cx="5699455" cy="548640"/>
          </a:xfrm>
          <a:prstGeom prst="rect">
            <a:avLst/>
          </a:prstGeom>
          <a:noFill/>
          <a:ln/>
        </p:spPr>
        <p:txBody>
          <a:bodyPr wrap="square" lIns="0" tIns="0" rIns="0" bIns="0" rtlCol="0" anchor="ctr">
            <a:normAutofit/>
          </a:bodyPr>
          <a:lstStyle/>
          <a:p>
            <a:pPr rtl="1" algn="r" indent="0" marL="0">
              <a:buNone/>
            </a:pPr>
            <a:r>
              <a:rPr lang="ar-SA" altLang="en-US" sz="2600" b="1" dirty="0">
                <a:solidFill>
                  <a:srgbClr val="C9CFE6"/>
                </a:solidFill>
                <a:latin typeface="Cairo" pitchFamily="34" charset="0"/>
                <a:ea typeface="Cairo" pitchFamily="34" charset="-122"/>
                <a:cs typeface="Cairo" pitchFamily="34" charset="-120"/>
              </a:rPr>
              <a:t>الموقف ٦</a:t>
            </a:r>
            <a:endParaRPr lang="ar-SA" sz="2600" dirty="0"/>
          </a:p>
        </p:txBody>
      </p:sp>
      <p:sp>
        <p:nvSpPr>
          <p:cNvPr id="6" name="Text 2"/>
          <p:cNvSpPr/>
          <p:nvPr/>
        </p:nvSpPr>
        <p:spPr>
          <a:xfrm>
            <a:off x="4572000" y="2834640"/>
            <a:ext cx="6796735" cy="1188720"/>
          </a:xfrm>
          <a:prstGeom prst="rect">
            <a:avLst/>
          </a:prstGeom>
          <a:noFill/>
          <a:ln/>
        </p:spPr>
        <p:txBody>
          <a:bodyPr wrap="square" lIns="0" tIns="0" rIns="0" bIns="0" rtlCol="0" anchor="ctr">
            <a:normAutofit/>
          </a:bodyPr>
          <a:lstStyle/>
          <a:p>
            <a:pPr rtl="1" algn="r" indent="0" marL="0">
              <a:buNone/>
            </a:pPr>
            <a:r>
              <a:rPr lang="ar-SA" altLang="en-US" sz="6000" dirty="0">
                <a:solidFill>
                  <a:srgbClr val="FFFFFF"/>
                </a:solidFill>
                <a:latin typeface="Cairo Black" pitchFamily="34" charset="0"/>
                <a:ea typeface="Cairo Black" pitchFamily="34" charset="-122"/>
                <a:cs typeface="Cairo Black" pitchFamily="34" charset="-120"/>
              </a:rPr>
              <a:t>مهرّجو الفصل</a:t>
            </a:r>
            <a:endParaRPr lang="ar-SA" sz="6000" dirty="0"/>
          </a:p>
        </p:txBody>
      </p:sp>
      <p:sp>
        <p:nvSpPr>
          <p:cNvPr id="7" name="Shape 3"/>
          <p:cNvSpPr/>
          <p:nvPr/>
        </p:nvSpPr>
        <p:spPr>
          <a:xfrm>
            <a:off x="10125151" y="4480560"/>
            <a:ext cx="1243584"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8" name="Text 4"/>
          <p:cNvSpPr/>
          <p:nvPr/>
        </p:nvSpPr>
        <p:spPr>
          <a:xfrm>
            <a:off x="10125151" y="4480560"/>
            <a:ext cx="1243584"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القصة</a:t>
            </a:r>
            <a:endParaRPr lang="ar-SA" sz="1500" dirty="0"/>
          </a:p>
        </p:txBody>
      </p:sp>
      <p:sp>
        <p:nvSpPr>
          <p:cNvPr id="9" name="Shape 5"/>
          <p:cNvSpPr/>
          <p:nvPr/>
        </p:nvSpPr>
        <p:spPr>
          <a:xfrm>
            <a:off x="8680399" y="4480560"/>
            <a:ext cx="1353312"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0" name="Text 6"/>
          <p:cNvSpPr/>
          <p:nvPr/>
        </p:nvSpPr>
        <p:spPr>
          <a:xfrm>
            <a:off x="8680399" y="4480560"/>
            <a:ext cx="1353312"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تصويت</a:t>
            </a:r>
            <a:endParaRPr lang="ar-SA" sz="1500" dirty="0"/>
          </a:p>
        </p:txBody>
      </p:sp>
      <p:sp>
        <p:nvSpPr>
          <p:cNvPr id="11" name="Shape 7"/>
          <p:cNvSpPr/>
          <p:nvPr/>
        </p:nvSpPr>
        <p:spPr>
          <a:xfrm>
            <a:off x="7235647" y="4480560"/>
            <a:ext cx="1353312"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2" name="Text 8"/>
          <p:cNvSpPr/>
          <p:nvPr/>
        </p:nvSpPr>
        <p:spPr>
          <a:xfrm>
            <a:off x="7235647" y="4480560"/>
            <a:ext cx="1353312"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لماذا؟</a:t>
            </a:r>
            <a:endParaRPr lang="ar-SA" sz="1500" dirty="0"/>
          </a:p>
        </p:txBody>
      </p:sp>
      <p:sp>
        <p:nvSpPr>
          <p:cNvPr id="13" name="Shape 9"/>
          <p:cNvSpPr/>
          <p:nvPr/>
        </p:nvSpPr>
        <p:spPr>
          <a:xfrm>
            <a:off x="5571439" y="4480560"/>
            <a:ext cx="1572768"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4" name="Text 10"/>
          <p:cNvSpPr/>
          <p:nvPr/>
        </p:nvSpPr>
        <p:spPr>
          <a:xfrm>
            <a:off x="5571439" y="4480560"/>
            <a:ext cx="1572768"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أول خطوة</a:t>
            </a:r>
            <a:endParaRPr lang="ar-SA" sz="1500" dirty="0"/>
          </a:p>
        </p:txBody>
      </p:sp>
      <p:sp>
        <p:nvSpPr>
          <p:cNvPr id="15" name="Shape 11"/>
          <p:cNvSpPr/>
          <p:nvPr/>
        </p:nvSpPr>
        <p:spPr>
          <a:xfrm>
            <a:off x="3687775" y="4480560"/>
            <a:ext cx="1792224"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6" name="Text 12"/>
          <p:cNvSpPr/>
          <p:nvPr/>
        </p:nvSpPr>
        <p:spPr>
          <a:xfrm>
            <a:off x="3687775" y="4480560"/>
            <a:ext cx="1792224"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ماذا تقول؟</a:t>
            </a:r>
            <a:endParaRPr lang="ar-SA" sz="1500" dirty="0"/>
          </a:p>
        </p:txBody>
      </p:sp>
      <p:sp>
        <p:nvSpPr>
          <p:cNvPr id="17" name="Text 1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18" name="Text 1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موقف: مهرّجو الفصل  ·  ١٠٠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16000" fill="hold"/>
                                        <p:tgtEl>
                                          <p:spTgt spid="2"/>
                                        </p:tgtEl>
                                      </p:cBhvr>
                                      <p:by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name="Slide 10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kb-1043" descr="/Users/mac/Desktop/أردوينو/المشاريع والكتب/younes-training/mawaqif/assets/scenes/jokers.jpg">    </p:cNvPr>
          <p:cNvPicPr>
            <a:picLocks noChangeAspect="1"/>
          </p:cNvPicPr>
          <p:nvPr/>
        </p:nvPicPr>
        <p:blipFill>
          <a:blip r:embed="rId2"/>
          <a:stretch>
            <a:fillRect/>
          </a:stretch>
        </p:blipFill>
        <p:spPr>
          <a:xfrm>
            <a:off x="0" y="0"/>
            <a:ext cx="12191695" cy="6858000"/>
          </a:xfrm>
          <a:prstGeom prst="rect">
            <a:avLst/>
          </a:prstGeom>
        </p:spPr>
      </p:pic>
      <p:pic>
        <p:nvPicPr>
          <p:cNvPr id="3" name="Image 1" descr="/Users/mac/Desktop/أردوينو/المشاريع والكتب/younes-training/shared/assets/story-overlay.png">    </p:cNvPr>
          <p:cNvPicPr>
            <a:picLocks noChangeAspect="1"/>
          </p:cNvPicPr>
          <p:nvPr/>
        </p:nvPicPr>
        <p:blipFill>
          <a:blip r:embed="rId3"/>
          <a:stretch>
            <a:fillRect/>
          </a:stretch>
        </p:blipFill>
        <p:spPr>
          <a:xfrm>
            <a:off x="0" y="0"/>
            <a:ext cx="12191695" cy="6858000"/>
          </a:xfrm>
          <a:prstGeom prst="rect">
            <a:avLst/>
          </a:prstGeom>
        </p:spPr>
      </p:pic>
      <p:sp>
        <p:nvSpPr>
          <p:cNvPr id="4" name="Shape 0"/>
          <p:cNvSpPr/>
          <p:nvPr/>
        </p:nvSpPr>
        <p:spPr>
          <a:xfrm>
            <a:off x="7985455" y="365760"/>
            <a:ext cx="3657600" cy="502920"/>
          </a:xfrm>
          <a:prstGeom prst="roundRect">
            <a:avLst>
              <a:gd name="adj" fmla="val 49091"/>
            </a:avLst>
          </a:prstGeom>
          <a:solidFill>
            <a:srgbClr val="0A1230">
              <a:alpha val="80000"/>
            </a:srgbClr>
          </a:solidFill>
          <a:ln w="12700">
            <a:solidFill>
              <a:srgbClr val="D9AE4B">
                <a:alpha val="60000"/>
              </a:srgbClr>
            </a:solidFill>
            <a:prstDash val="solid"/>
          </a:ln>
        </p:spPr>
      </p:sp>
      <p:sp>
        <p:nvSpPr>
          <p:cNvPr id="5" name="Text 1"/>
          <p:cNvSpPr/>
          <p:nvPr/>
        </p:nvSpPr>
        <p:spPr>
          <a:xfrm>
            <a:off x="7985455" y="365760"/>
            <a:ext cx="3657600" cy="50292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 القصة · ماذا حدث؟</a:t>
            </a:r>
            <a:endParaRPr lang="ar-SA" sz="1800" dirty="0"/>
          </a:p>
        </p:txBody>
      </p:sp>
      <p:sp>
        <p:nvSpPr>
          <p:cNvPr id="6" name="Shape 2"/>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7" name="Text 3"/>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فصل الثالث المتوسط متماسك منذ الطفولة، واستقرت فيه أدوار: المهرّج، والفيلسوف، و«البريء دائمًا».</a:t>
            </a:r>
            <a:endParaRPr lang="ar-SA" sz="2400" dirty="0"/>
          </a:p>
        </p:txBody>
      </p:sp>
      <p:sp>
        <p:nvSpPr>
          <p:cNvPr id="8" name="anim-g1-1044"/>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9" name="anim-g1-1045"/>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لاحظ أ. عبد الرحمن أن ثلاثة طلاب يعلّقون بطرافة على كل ما يقول، والفصل يضحك. جو مبهج… لكنه يأكل وقت التعلم.</a:t>
            </a:r>
            <a:endParaRPr lang="ar-SA" sz="2400" dirty="0"/>
          </a:p>
        </p:txBody>
      </p:sp>
      <p:sp>
        <p:nvSpPr>
          <p:cNvPr id="10" name="anim-g2-1046"/>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11" name="anim-g2-1047"/>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في درس التاريخ سأل: «هل سمع أحدكم عن صلاح الدين؟» فردّ إيهاب فورًا: «نعم، حيٌّ في الرياض!» فانفجر الفصل ضحكًا.</a:t>
            </a:r>
            <a:endParaRPr lang="ar-SA" sz="2400" dirty="0"/>
          </a:p>
        </p:txBody>
      </p:sp>
      <p:sp>
        <p:nvSpPr>
          <p:cNvPr id="12" name="anim-g3-1048"/>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13" name="anim-g3-1049"/>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600" b="1" dirty="0">
                <a:solidFill>
                  <a:srgbClr val="F0CC7A"/>
                </a:solidFill>
                <a:latin typeface="Cairo" pitchFamily="34" charset="0"/>
                <a:ea typeface="Cairo" pitchFamily="34" charset="-122"/>
                <a:cs typeface="Cairo" pitchFamily="34" charset="-120"/>
              </a:rPr>
              <a:t>قال: «هيا نمشِ في الدرس». فردّ ماجد: «لا أستطيع المشي يا أستاذ، رجلي تؤلمني!»… فأكمل أ. عبد الرحمن درسه إلقاءً بلا نقاش.</a:t>
            </a:r>
            <a:endParaRPr lang="ar-SA" sz="2600" dirty="0"/>
          </a:p>
        </p:txBody>
      </p:sp>
      <p:sp>
        <p:nvSpPr>
          <p:cNvPr id="14" name="Text 1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15" name="Text 1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موقف: مهرّجو الفصل  ·  ١٠١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16000" fill="hold"/>
                                        <p:tgtEl>
                                          <p:spTgt spid="2"/>
                                        </p:tgtEl>
                                      </p:cBhvr>
                                      <p:by x="112000" y="112000"/>
                                    </p:animScale>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name="Slide 10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296351" y="457200"/>
            <a:ext cx="3072384" cy="457200"/>
          </a:xfrm>
          <a:prstGeom prst="roundRect">
            <a:avLst>
              <a:gd name="adj" fmla="val 50000"/>
            </a:avLst>
          </a:prstGeom>
          <a:solidFill>
            <a:srgbClr val="F6EBCF"/>
          </a:solidFill>
          <a:ln/>
        </p:spPr>
      </p:sp>
      <p:sp>
        <p:nvSpPr>
          <p:cNvPr id="3" name="Text 1"/>
          <p:cNvSpPr/>
          <p:nvPr/>
        </p:nvSpPr>
        <p:spPr>
          <a:xfrm>
            <a:off x="8296351" y="457200"/>
            <a:ext cx="307238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صوّت قبل أن نكشف</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ماذا كان على أ. عبد الرحمن أن يفعل؟</a:t>
            </a:r>
            <a:endParaRPr lang="ar-SA" sz="3200" dirty="0"/>
          </a:p>
        </p:txBody>
      </p:sp>
      <p:sp>
        <p:nvSpPr>
          <p:cNvPr id="5" name="Shape 3"/>
          <p:cNvSpPr/>
          <p:nvPr/>
        </p:nvSpPr>
        <p:spPr>
          <a:xfrm>
            <a:off x="822960" y="2057400"/>
            <a:ext cx="10545775" cy="884682"/>
          </a:xfrm>
          <a:prstGeom prst="roundRect">
            <a:avLst>
              <a:gd name="adj" fmla="val 16537"/>
            </a:avLst>
          </a:prstGeom>
          <a:solidFill>
            <a:srgbClr val="FFFFFF"/>
          </a:solidFill>
          <a:ln w="19050">
            <a:solidFill>
              <a:srgbClr val="E4DCC8"/>
            </a:solidFill>
            <a:prstDash val="solid"/>
          </a:ln>
        </p:spPr>
      </p:sp>
      <p:sp>
        <p:nvSpPr>
          <p:cNvPr id="6" name="Shape 4"/>
          <p:cNvSpPr/>
          <p:nvPr/>
        </p:nvSpPr>
        <p:spPr>
          <a:xfrm>
            <a:off x="10575493" y="2194560"/>
            <a:ext cx="610362" cy="610362"/>
          </a:xfrm>
          <a:prstGeom prst="roundRect">
            <a:avLst>
              <a:gd name="adj" fmla="val 17978"/>
            </a:avLst>
          </a:prstGeom>
          <a:solidFill>
            <a:srgbClr val="101B45"/>
          </a:solidFill>
          <a:ln/>
        </p:spPr>
      </p:sp>
      <p:sp>
        <p:nvSpPr>
          <p:cNvPr id="7" name="Text 5"/>
          <p:cNvSpPr/>
          <p:nvPr/>
        </p:nvSpPr>
        <p:spPr>
          <a:xfrm>
            <a:off x="10575493" y="2194560"/>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أ</a:t>
            </a:r>
            <a:endParaRPr lang="ar-SA" sz="2000" dirty="0"/>
          </a:p>
        </p:txBody>
      </p:sp>
      <p:sp>
        <p:nvSpPr>
          <p:cNvPr id="8" name="Text 6"/>
          <p:cNvSpPr/>
          <p:nvPr/>
        </p:nvSpPr>
        <p:spPr>
          <a:xfrm>
            <a:off x="1097280" y="2057400"/>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يعاقب الثلاثة أمام الفصل</a:t>
            </a:r>
            <a:endParaRPr lang="ar-SA" sz="2200" dirty="0"/>
          </a:p>
        </p:txBody>
      </p:sp>
      <p:sp>
        <p:nvSpPr>
          <p:cNvPr id="9" name="anim-g1-1050"/>
          <p:cNvSpPr/>
          <p:nvPr/>
        </p:nvSpPr>
        <p:spPr>
          <a:xfrm>
            <a:off x="822960" y="2057400"/>
            <a:ext cx="10545775" cy="884682"/>
          </a:xfrm>
          <a:prstGeom prst="roundRect">
            <a:avLst>
              <a:gd name="adj" fmla="val 16537"/>
            </a:avLst>
          </a:prstGeom>
          <a:solidFill>
            <a:srgbClr val="F7F7F9"/>
          </a:solidFill>
          <a:ln w="19050">
            <a:solidFill>
              <a:srgbClr val="E4DCC8"/>
            </a:solidFill>
            <a:prstDash val="solid"/>
          </a:ln>
        </p:spPr>
      </p:sp>
      <p:sp>
        <p:nvSpPr>
          <p:cNvPr id="10" name="anim-g1-1051"/>
          <p:cNvSpPr/>
          <p:nvPr/>
        </p:nvSpPr>
        <p:spPr>
          <a:xfrm>
            <a:off x="10575493" y="2194560"/>
            <a:ext cx="610362" cy="610362"/>
          </a:xfrm>
          <a:prstGeom prst="roundRect">
            <a:avLst>
              <a:gd name="adj" fmla="val 17978"/>
            </a:avLst>
          </a:prstGeom>
          <a:solidFill>
            <a:srgbClr val="A3A9BA"/>
          </a:solidFill>
          <a:ln/>
        </p:spPr>
      </p:sp>
      <p:sp>
        <p:nvSpPr>
          <p:cNvPr id="11" name="anim-g1-1052"/>
          <p:cNvSpPr/>
          <p:nvPr/>
        </p:nvSpPr>
        <p:spPr>
          <a:xfrm>
            <a:off x="10575493" y="2194560"/>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أ</a:t>
            </a:r>
            <a:endParaRPr lang="ar-SA" sz="2000" dirty="0"/>
          </a:p>
        </p:txBody>
      </p:sp>
      <p:sp>
        <p:nvSpPr>
          <p:cNvPr id="12" name="anim-g1-1053"/>
          <p:cNvSpPr/>
          <p:nvPr/>
        </p:nvSpPr>
        <p:spPr>
          <a:xfrm>
            <a:off x="1097280" y="2093976"/>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يعاقب الثلاثة أمام الفصل</a:t>
            </a:r>
            <a:endParaRPr lang="ar-SA" sz="2200" dirty="0"/>
          </a:p>
        </p:txBody>
      </p:sp>
      <p:sp>
        <p:nvSpPr>
          <p:cNvPr id="13" name="anim-g1-1054"/>
          <p:cNvSpPr/>
          <p:nvPr/>
        </p:nvSpPr>
        <p:spPr>
          <a:xfrm>
            <a:off x="1097280" y="2535128"/>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العقاب العلني يصنع منهم أبطالًا، والفصل المتماسك سيتضامن معهم</a:t>
            </a:r>
            <a:endParaRPr lang="ar-SA" sz="1800" dirty="0"/>
          </a:p>
        </p:txBody>
      </p:sp>
      <p:sp>
        <p:nvSpPr>
          <p:cNvPr id="14" name="Shape 12"/>
          <p:cNvSpPr/>
          <p:nvPr/>
        </p:nvSpPr>
        <p:spPr>
          <a:xfrm>
            <a:off x="822960" y="3088386"/>
            <a:ext cx="10545775" cy="884682"/>
          </a:xfrm>
          <a:prstGeom prst="roundRect">
            <a:avLst>
              <a:gd name="adj" fmla="val 16537"/>
            </a:avLst>
          </a:prstGeom>
          <a:solidFill>
            <a:srgbClr val="FFFFFF"/>
          </a:solidFill>
          <a:ln w="19050">
            <a:solidFill>
              <a:srgbClr val="E4DCC8"/>
            </a:solidFill>
            <a:prstDash val="solid"/>
          </a:ln>
        </p:spPr>
      </p:sp>
      <p:sp>
        <p:nvSpPr>
          <p:cNvPr id="15" name="Shape 13"/>
          <p:cNvSpPr/>
          <p:nvPr/>
        </p:nvSpPr>
        <p:spPr>
          <a:xfrm>
            <a:off x="10575493" y="3225546"/>
            <a:ext cx="610362" cy="610362"/>
          </a:xfrm>
          <a:prstGeom prst="roundRect">
            <a:avLst>
              <a:gd name="adj" fmla="val 17978"/>
            </a:avLst>
          </a:prstGeom>
          <a:solidFill>
            <a:srgbClr val="101B45"/>
          </a:solidFill>
          <a:ln/>
        </p:spPr>
      </p:sp>
      <p:sp>
        <p:nvSpPr>
          <p:cNvPr id="16" name="Text 14"/>
          <p:cNvSpPr/>
          <p:nvPr/>
        </p:nvSpPr>
        <p:spPr>
          <a:xfrm>
            <a:off x="10575493" y="3225546"/>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ب</a:t>
            </a:r>
            <a:endParaRPr lang="ar-SA" sz="2000" dirty="0"/>
          </a:p>
        </p:txBody>
      </p:sp>
      <p:sp>
        <p:nvSpPr>
          <p:cNvPr id="17" name="Text 15"/>
          <p:cNvSpPr/>
          <p:nvPr/>
        </p:nvSpPr>
        <p:spPr>
          <a:xfrm>
            <a:off x="1097280" y="3088386"/>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يتجاهل ويكمل الإلقاء (كما فعل)</a:t>
            </a:r>
            <a:endParaRPr lang="ar-SA" sz="2200" dirty="0"/>
          </a:p>
        </p:txBody>
      </p:sp>
      <p:sp>
        <p:nvSpPr>
          <p:cNvPr id="18" name="anim-g1-1055"/>
          <p:cNvSpPr/>
          <p:nvPr/>
        </p:nvSpPr>
        <p:spPr>
          <a:xfrm>
            <a:off x="822960" y="3088386"/>
            <a:ext cx="10545775" cy="884682"/>
          </a:xfrm>
          <a:prstGeom prst="roundRect">
            <a:avLst>
              <a:gd name="adj" fmla="val 16537"/>
            </a:avLst>
          </a:prstGeom>
          <a:solidFill>
            <a:srgbClr val="F7F7F9"/>
          </a:solidFill>
          <a:ln w="19050">
            <a:solidFill>
              <a:srgbClr val="E4DCC8"/>
            </a:solidFill>
            <a:prstDash val="solid"/>
          </a:ln>
        </p:spPr>
      </p:sp>
      <p:sp>
        <p:nvSpPr>
          <p:cNvPr id="19" name="anim-g1-1056"/>
          <p:cNvSpPr/>
          <p:nvPr/>
        </p:nvSpPr>
        <p:spPr>
          <a:xfrm>
            <a:off x="10575493" y="3225546"/>
            <a:ext cx="610362" cy="610362"/>
          </a:xfrm>
          <a:prstGeom prst="roundRect">
            <a:avLst>
              <a:gd name="adj" fmla="val 17978"/>
            </a:avLst>
          </a:prstGeom>
          <a:solidFill>
            <a:srgbClr val="A3A9BA"/>
          </a:solidFill>
          <a:ln/>
        </p:spPr>
      </p:sp>
      <p:sp>
        <p:nvSpPr>
          <p:cNvPr id="20" name="anim-g1-1057"/>
          <p:cNvSpPr/>
          <p:nvPr/>
        </p:nvSpPr>
        <p:spPr>
          <a:xfrm>
            <a:off x="10575493" y="3225546"/>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ب</a:t>
            </a:r>
            <a:endParaRPr lang="ar-SA" sz="2000" dirty="0"/>
          </a:p>
        </p:txBody>
      </p:sp>
      <p:sp>
        <p:nvSpPr>
          <p:cNvPr id="21" name="anim-g1-1058"/>
          <p:cNvSpPr/>
          <p:nvPr/>
        </p:nvSpPr>
        <p:spPr>
          <a:xfrm>
            <a:off x="1097280" y="3124962"/>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يتجاهل ويكمل الإلقاء (كما فعل)</a:t>
            </a:r>
            <a:endParaRPr lang="ar-SA" sz="2200" dirty="0"/>
          </a:p>
        </p:txBody>
      </p:sp>
      <p:sp>
        <p:nvSpPr>
          <p:cNvPr id="22" name="anim-g1-1059"/>
          <p:cNvSpPr/>
          <p:nvPr/>
        </p:nvSpPr>
        <p:spPr>
          <a:xfrm>
            <a:off x="1097280" y="3566114"/>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الإلقاء بلا تفاعل يعطيهم وقتًا أطول للتعليقات</a:t>
            </a:r>
            <a:endParaRPr lang="ar-SA" sz="1800" dirty="0"/>
          </a:p>
        </p:txBody>
      </p:sp>
      <p:sp>
        <p:nvSpPr>
          <p:cNvPr id="23" name="Shape 21"/>
          <p:cNvSpPr/>
          <p:nvPr/>
        </p:nvSpPr>
        <p:spPr>
          <a:xfrm>
            <a:off x="822960" y="4119372"/>
            <a:ext cx="10545775" cy="884682"/>
          </a:xfrm>
          <a:prstGeom prst="roundRect">
            <a:avLst>
              <a:gd name="adj" fmla="val 16537"/>
            </a:avLst>
          </a:prstGeom>
          <a:solidFill>
            <a:srgbClr val="FFFFFF"/>
          </a:solidFill>
          <a:ln w="19050">
            <a:solidFill>
              <a:srgbClr val="E4DCC8"/>
            </a:solidFill>
            <a:prstDash val="solid"/>
          </a:ln>
        </p:spPr>
      </p:sp>
      <p:sp>
        <p:nvSpPr>
          <p:cNvPr id="24" name="Shape 22"/>
          <p:cNvSpPr/>
          <p:nvPr/>
        </p:nvSpPr>
        <p:spPr>
          <a:xfrm>
            <a:off x="10575493" y="4256532"/>
            <a:ext cx="610362" cy="610362"/>
          </a:xfrm>
          <a:prstGeom prst="roundRect">
            <a:avLst>
              <a:gd name="adj" fmla="val 17978"/>
            </a:avLst>
          </a:prstGeom>
          <a:solidFill>
            <a:srgbClr val="101B45"/>
          </a:solidFill>
          <a:ln/>
        </p:spPr>
      </p:sp>
      <p:sp>
        <p:nvSpPr>
          <p:cNvPr id="25" name="Text 23"/>
          <p:cNvSpPr/>
          <p:nvPr/>
        </p:nvSpPr>
        <p:spPr>
          <a:xfrm>
            <a:off x="10575493" y="4256532"/>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ج</a:t>
            </a:r>
            <a:endParaRPr lang="ar-SA" sz="2000" dirty="0"/>
          </a:p>
        </p:txBody>
      </p:sp>
      <p:sp>
        <p:nvSpPr>
          <p:cNvPr id="26" name="Text 24"/>
          <p:cNvSpPr/>
          <p:nvPr/>
        </p:nvSpPr>
        <p:spPr>
          <a:xfrm>
            <a:off x="1097280" y="4119372"/>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يبتسم لحظة، ثم يحوّل الطرفة إلى سؤال في الدرس</a:t>
            </a:r>
            <a:endParaRPr lang="ar-SA" sz="2200" dirty="0"/>
          </a:p>
        </p:txBody>
      </p:sp>
      <p:sp>
        <p:nvSpPr>
          <p:cNvPr id="27" name="anim-g1-1060"/>
          <p:cNvSpPr/>
          <p:nvPr/>
        </p:nvSpPr>
        <p:spPr>
          <a:xfrm>
            <a:off x="822960" y="4119372"/>
            <a:ext cx="10545775" cy="884682"/>
          </a:xfrm>
          <a:prstGeom prst="roundRect">
            <a:avLst>
              <a:gd name="adj" fmla="val 16537"/>
            </a:avLst>
          </a:prstGeom>
          <a:solidFill>
            <a:srgbClr val="E6F4EC"/>
          </a:solidFill>
          <a:ln w="31750">
            <a:solidFill>
              <a:srgbClr val="2E9E6B"/>
            </a:solidFill>
            <a:prstDash val="solid"/>
          </a:ln>
        </p:spPr>
      </p:sp>
      <p:sp>
        <p:nvSpPr>
          <p:cNvPr id="28" name="anim-g1-1061"/>
          <p:cNvSpPr/>
          <p:nvPr/>
        </p:nvSpPr>
        <p:spPr>
          <a:xfrm>
            <a:off x="10575493" y="4256532"/>
            <a:ext cx="610362" cy="610362"/>
          </a:xfrm>
          <a:prstGeom prst="roundRect">
            <a:avLst>
              <a:gd name="adj" fmla="val 17978"/>
            </a:avLst>
          </a:prstGeom>
          <a:solidFill>
            <a:srgbClr val="2E9E6B"/>
          </a:solidFill>
          <a:ln/>
        </p:spPr>
      </p:sp>
      <p:sp>
        <p:nvSpPr>
          <p:cNvPr id="29" name="anim-g1-1062"/>
          <p:cNvSpPr/>
          <p:nvPr/>
        </p:nvSpPr>
        <p:spPr>
          <a:xfrm>
            <a:off x="10575493" y="4256532"/>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a:t>
            </a:r>
            <a:endParaRPr lang="ar-SA" sz="2000" dirty="0"/>
          </a:p>
        </p:txBody>
      </p:sp>
      <p:sp>
        <p:nvSpPr>
          <p:cNvPr id="30" name="anim-g1-1063"/>
          <p:cNvSpPr/>
          <p:nvPr/>
        </p:nvSpPr>
        <p:spPr>
          <a:xfrm>
            <a:off x="1097280" y="4155948"/>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يبتسم لحظة، ثم يحوّل الطرفة إلى سؤال في الدرس</a:t>
            </a:r>
            <a:endParaRPr lang="ar-SA" sz="2200" dirty="0"/>
          </a:p>
        </p:txBody>
      </p:sp>
      <p:sp>
        <p:nvSpPr>
          <p:cNvPr id="31" name="anim-g1-1064"/>
          <p:cNvSpPr/>
          <p:nvPr/>
        </p:nvSpPr>
        <p:spPr>
          <a:xfrm>
            <a:off x="1097280" y="4597100"/>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الفكاهة تُمتص ثم تُوجَّه، فيستعيد الدرس بلا صدام</a:t>
            </a:r>
            <a:endParaRPr lang="ar-SA" sz="1800" dirty="0"/>
          </a:p>
        </p:txBody>
      </p:sp>
      <p:sp>
        <p:nvSpPr>
          <p:cNvPr id="32" name="Shape 30"/>
          <p:cNvSpPr/>
          <p:nvPr/>
        </p:nvSpPr>
        <p:spPr>
          <a:xfrm>
            <a:off x="822960" y="5150358"/>
            <a:ext cx="10545775" cy="884682"/>
          </a:xfrm>
          <a:prstGeom prst="roundRect">
            <a:avLst>
              <a:gd name="adj" fmla="val 16537"/>
            </a:avLst>
          </a:prstGeom>
          <a:solidFill>
            <a:srgbClr val="FFFFFF"/>
          </a:solidFill>
          <a:ln w="19050">
            <a:solidFill>
              <a:srgbClr val="E4DCC8"/>
            </a:solidFill>
            <a:prstDash val="solid"/>
          </a:ln>
        </p:spPr>
      </p:sp>
      <p:sp>
        <p:nvSpPr>
          <p:cNvPr id="33" name="Shape 31"/>
          <p:cNvSpPr/>
          <p:nvPr/>
        </p:nvSpPr>
        <p:spPr>
          <a:xfrm>
            <a:off x="10575493" y="5287518"/>
            <a:ext cx="610362" cy="610362"/>
          </a:xfrm>
          <a:prstGeom prst="roundRect">
            <a:avLst>
              <a:gd name="adj" fmla="val 17978"/>
            </a:avLst>
          </a:prstGeom>
          <a:solidFill>
            <a:srgbClr val="101B45"/>
          </a:solidFill>
          <a:ln/>
        </p:spPr>
      </p:sp>
      <p:sp>
        <p:nvSpPr>
          <p:cNvPr id="34" name="Text 32"/>
          <p:cNvSpPr/>
          <p:nvPr/>
        </p:nvSpPr>
        <p:spPr>
          <a:xfrm>
            <a:off x="10575493" y="5287518"/>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د</a:t>
            </a:r>
            <a:endParaRPr lang="ar-SA" sz="2000" dirty="0"/>
          </a:p>
        </p:txBody>
      </p:sp>
      <p:sp>
        <p:nvSpPr>
          <p:cNvPr id="35" name="Text 33"/>
          <p:cNvSpPr/>
          <p:nvPr/>
        </p:nvSpPr>
        <p:spPr>
          <a:xfrm>
            <a:off x="1097280" y="5150358"/>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يستدعي أولياء أمورهم فورًا</a:t>
            </a:r>
            <a:endParaRPr lang="ar-SA" sz="2200" dirty="0"/>
          </a:p>
        </p:txBody>
      </p:sp>
      <p:sp>
        <p:nvSpPr>
          <p:cNvPr id="36" name="anim-g1-1065"/>
          <p:cNvSpPr/>
          <p:nvPr/>
        </p:nvSpPr>
        <p:spPr>
          <a:xfrm>
            <a:off x="822960" y="5150358"/>
            <a:ext cx="10545775" cy="884682"/>
          </a:xfrm>
          <a:prstGeom prst="roundRect">
            <a:avLst>
              <a:gd name="adj" fmla="val 16537"/>
            </a:avLst>
          </a:prstGeom>
          <a:solidFill>
            <a:srgbClr val="F7F7F9"/>
          </a:solidFill>
          <a:ln w="19050">
            <a:solidFill>
              <a:srgbClr val="E4DCC8"/>
            </a:solidFill>
            <a:prstDash val="solid"/>
          </a:ln>
        </p:spPr>
      </p:sp>
      <p:sp>
        <p:nvSpPr>
          <p:cNvPr id="37" name="anim-g1-1066"/>
          <p:cNvSpPr/>
          <p:nvPr/>
        </p:nvSpPr>
        <p:spPr>
          <a:xfrm>
            <a:off x="10575493" y="5287518"/>
            <a:ext cx="610362" cy="610362"/>
          </a:xfrm>
          <a:prstGeom prst="roundRect">
            <a:avLst>
              <a:gd name="adj" fmla="val 17978"/>
            </a:avLst>
          </a:prstGeom>
          <a:solidFill>
            <a:srgbClr val="A3A9BA"/>
          </a:solidFill>
          <a:ln/>
        </p:spPr>
      </p:sp>
      <p:sp>
        <p:nvSpPr>
          <p:cNvPr id="38" name="anim-g1-1067"/>
          <p:cNvSpPr/>
          <p:nvPr/>
        </p:nvSpPr>
        <p:spPr>
          <a:xfrm>
            <a:off x="10575493" y="5287518"/>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د</a:t>
            </a:r>
            <a:endParaRPr lang="ar-SA" sz="2000" dirty="0"/>
          </a:p>
        </p:txBody>
      </p:sp>
      <p:sp>
        <p:nvSpPr>
          <p:cNvPr id="39" name="anim-g1-1068"/>
          <p:cNvSpPr/>
          <p:nvPr/>
        </p:nvSpPr>
        <p:spPr>
          <a:xfrm>
            <a:off x="1097280" y="5186934"/>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يستدعي أولياء أمورهم فورًا</a:t>
            </a:r>
            <a:endParaRPr lang="ar-SA" sz="2200" dirty="0"/>
          </a:p>
        </p:txBody>
      </p:sp>
      <p:sp>
        <p:nvSpPr>
          <p:cNvPr id="40" name="anim-g1-1069"/>
          <p:cNvSpPr/>
          <p:nvPr/>
        </p:nvSpPr>
        <p:spPr>
          <a:xfrm>
            <a:off x="1097280" y="5628086"/>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خطوة كبيرة جدًا لمزاح لم يتجاوز الحد بعد</a:t>
            </a:r>
            <a:endParaRPr lang="ar-SA" sz="1800" dirty="0"/>
          </a:p>
        </p:txBody>
      </p:sp>
      <p:sp>
        <p:nvSpPr>
          <p:cNvPr id="41" name="Text 3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42" name="Text 4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مهرّجو الفصل  ·  ١٠٢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400"/>
                                        <p:tgtEl>
                                          <p:spTgt spid="3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400"/>
                                        <p:tgtEl>
                                          <p:spTgt spid="3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400"/>
                                        <p:tgtEl>
                                          <p:spTgt spid="38"/>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9"/>
                                        </p:tgtEl>
                                        <p:attrNameLst>
                                          <p:attrName>style.visibility</p:attrName>
                                        </p:attrNameLst>
                                      </p:cBhvr>
                                      <p:to>
                                        <p:strVal val="visible"/>
                                      </p:to>
                                    </p:set>
                                    <p:animEffect transition="in" filter="fade">
                                      <p:cBhvr>
                                        <p:cTn id="61" dur="400"/>
                                        <p:tgtEl>
                                          <p:spTgt spid="3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0"/>
                                        </p:tgtEl>
                                        <p:attrNameLst>
                                          <p:attrName>style.visibility</p:attrName>
                                        </p:attrNameLst>
                                      </p:cBhvr>
                                      <p:to>
                                        <p:strVal val="visible"/>
                                      </p:to>
                                    </p:set>
                                    <p:animEffect transition="in" filter="fade">
                                      <p:cBhvr>
                                        <p:cTn id="64"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P spid="36" grpId="0" animBg="1"/>
      <p:bldP spid="37" grpId="0" animBg="1"/>
      <p:bldP spid="38" grpId="0" animBg="1"/>
      <p:bldP spid="39" grpId="0" animBg="1"/>
      <p:bldP spid="40"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name="Slide 10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711135" y="457200"/>
            <a:ext cx="3657600" cy="457200"/>
          </a:xfrm>
          <a:prstGeom prst="roundRect">
            <a:avLst>
              <a:gd name="adj" fmla="val 50000"/>
            </a:avLst>
          </a:prstGeom>
          <a:solidFill>
            <a:srgbClr val="F6EBCF"/>
          </a:solidFill>
          <a:ln/>
        </p:spPr>
      </p:sp>
      <p:sp>
        <p:nvSpPr>
          <p:cNvPr id="3" name="Text 1"/>
          <p:cNvSpPr/>
          <p:nvPr/>
        </p:nvSpPr>
        <p:spPr>
          <a:xfrm>
            <a:off x="7711135" y="457200"/>
            <a:ext cx="365760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وراء كل سلوك حاجة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لماذا يهرّجون؟</a:t>
            </a:r>
            <a:endParaRPr lang="ar-SA" sz="3800" dirty="0"/>
          </a:p>
        </p:txBody>
      </p:sp>
      <p:sp>
        <p:nvSpPr>
          <p:cNvPr id="5" name="anim-g1-1070"/>
          <p:cNvSpPr/>
          <p:nvPr/>
        </p:nvSpPr>
        <p:spPr>
          <a:xfrm>
            <a:off x="8903741" y="2011680"/>
            <a:ext cx="2464994" cy="2514600"/>
          </a:xfrm>
          <a:prstGeom prst="roundRect">
            <a:avLst>
              <a:gd name="adj" fmla="val 6677"/>
            </a:avLst>
          </a:prstGeom>
          <a:solidFill>
            <a:srgbClr val="FFFFFF"/>
          </a:solidFill>
          <a:ln w="12700">
            <a:solidFill>
              <a:srgbClr val="E4DCC8"/>
            </a:solidFill>
            <a:prstDash val="solid"/>
          </a:ln>
        </p:spPr>
      </p:sp>
      <p:sp>
        <p:nvSpPr>
          <p:cNvPr id="6" name="anim-g1-1071"/>
          <p:cNvSpPr/>
          <p:nvPr/>
        </p:nvSpPr>
        <p:spPr>
          <a:xfrm>
            <a:off x="9816198" y="2194560"/>
            <a:ext cx="640080" cy="640080"/>
          </a:xfrm>
          <a:prstGeom prst="roundRect">
            <a:avLst>
              <a:gd name="adj" fmla="val 25714"/>
            </a:avLst>
          </a:prstGeom>
          <a:solidFill>
            <a:srgbClr val="F7E6BC"/>
          </a:solidFill>
          <a:ln/>
        </p:spPr>
      </p:sp>
      <p:sp>
        <p:nvSpPr>
          <p:cNvPr id="7" name="anim-g1-1072"/>
          <p:cNvSpPr/>
          <p:nvPr/>
        </p:nvSpPr>
        <p:spPr>
          <a:xfrm>
            <a:off x="9816198"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8" name="anim-g1-1073"/>
          <p:cNvSpPr/>
          <p:nvPr/>
        </p:nvSpPr>
        <p:spPr>
          <a:xfrm>
            <a:off x="9040901"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مكانة</a:t>
            </a:r>
            <a:endParaRPr lang="ar-SA" sz="2200" dirty="0"/>
          </a:p>
        </p:txBody>
      </p:sp>
      <p:sp>
        <p:nvSpPr>
          <p:cNvPr id="9" name="anim-g1-1074"/>
          <p:cNvSpPr/>
          <p:nvPr/>
        </p:nvSpPr>
        <p:spPr>
          <a:xfrm>
            <a:off x="9040901"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الطرافة مصدر شعبيتهم</a:t>
            </a:r>
            <a:endParaRPr lang="ar-SA" sz="1900" dirty="0"/>
          </a:p>
        </p:txBody>
      </p:sp>
      <p:sp>
        <p:nvSpPr>
          <p:cNvPr id="10" name="anim-g2-1075"/>
          <p:cNvSpPr/>
          <p:nvPr/>
        </p:nvSpPr>
        <p:spPr>
          <a:xfrm>
            <a:off x="6210148" y="2011680"/>
            <a:ext cx="2464994" cy="2514600"/>
          </a:xfrm>
          <a:prstGeom prst="roundRect">
            <a:avLst>
              <a:gd name="adj" fmla="val 6677"/>
            </a:avLst>
          </a:prstGeom>
          <a:solidFill>
            <a:srgbClr val="FFFFFF"/>
          </a:solidFill>
          <a:ln w="12700">
            <a:solidFill>
              <a:srgbClr val="E4DCC8"/>
            </a:solidFill>
            <a:prstDash val="solid"/>
          </a:ln>
        </p:spPr>
      </p:sp>
      <p:sp>
        <p:nvSpPr>
          <p:cNvPr id="11" name="anim-g2-1076"/>
          <p:cNvSpPr/>
          <p:nvPr/>
        </p:nvSpPr>
        <p:spPr>
          <a:xfrm>
            <a:off x="7122604" y="2194560"/>
            <a:ext cx="640080" cy="640080"/>
          </a:xfrm>
          <a:prstGeom prst="roundRect">
            <a:avLst>
              <a:gd name="adj" fmla="val 25714"/>
            </a:avLst>
          </a:prstGeom>
          <a:solidFill>
            <a:srgbClr val="F7E6BC"/>
          </a:solidFill>
          <a:ln/>
        </p:spPr>
      </p:sp>
      <p:sp>
        <p:nvSpPr>
          <p:cNvPr id="12" name="anim-g2-1077"/>
          <p:cNvSpPr/>
          <p:nvPr/>
        </p:nvSpPr>
        <p:spPr>
          <a:xfrm>
            <a:off x="7122604"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13" name="anim-g2-1078"/>
          <p:cNvSpPr/>
          <p:nvPr/>
        </p:nvSpPr>
        <p:spPr>
          <a:xfrm>
            <a:off x="6347308"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تماسك</a:t>
            </a:r>
            <a:endParaRPr lang="ar-SA" sz="2200" dirty="0"/>
          </a:p>
        </p:txBody>
      </p:sp>
      <p:sp>
        <p:nvSpPr>
          <p:cNvPr id="14" name="anim-g2-1079"/>
          <p:cNvSpPr/>
          <p:nvPr/>
        </p:nvSpPr>
        <p:spPr>
          <a:xfrm>
            <a:off x="6347308"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الفصل يكافئهم بالضحك دائمًا</a:t>
            </a:r>
            <a:endParaRPr lang="ar-SA" sz="1900" dirty="0"/>
          </a:p>
        </p:txBody>
      </p:sp>
      <p:sp>
        <p:nvSpPr>
          <p:cNvPr id="15" name="anim-g3-1080"/>
          <p:cNvSpPr/>
          <p:nvPr/>
        </p:nvSpPr>
        <p:spPr>
          <a:xfrm>
            <a:off x="3516554" y="2011680"/>
            <a:ext cx="2464994" cy="2514600"/>
          </a:xfrm>
          <a:prstGeom prst="roundRect">
            <a:avLst>
              <a:gd name="adj" fmla="val 6677"/>
            </a:avLst>
          </a:prstGeom>
          <a:solidFill>
            <a:srgbClr val="FFFFFF"/>
          </a:solidFill>
          <a:ln w="12700">
            <a:solidFill>
              <a:srgbClr val="E4DCC8"/>
            </a:solidFill>
            <a:prstDash val="solid"/>
          </a:ln>
        </p:spPr>
      </p:sp>
      <p:sp>
        <p:nvSpPr>
          <p:cNvPr id="16" name="anim-g3-1081"/>
          <p:cNvSpPr/>
          <p:nvPr/>
        </p:nvSpPr>
        <p:spPr>
          <a:xfrm>
            <a:off x="4429011" y="2194560"/>
            <a:ext cx="640080" cy="640080"/>
          </a:xfrm>
          <a:prstGeom prst="roundRect">
            <a:avLst>
              <a:gd name="adj" fmla="val 25714"/>
            </a:avLst>
          </a:prstGeom>
          <a:solidFill>
            <a:srgbClr val="F7E6BC"/>
          </a:solidFill>
          <a:ln/>
        </p:spPr>
      </p:sp>
      <p:sp>
        <p:nvSpPr>
          <p:cNvPr id="17" name="anim-g3-1082"/>
          <p:cNvSpPr/>
          <p:nvPr/>
        </p:nvSpPr>
        <p:spPr>
          <a:xfrm>
            <a:off x="4429011"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18" name="anim-g3-1083"/>
          <p:cNvSpPr/>
          <p:nvPr/>
        </p:nvSpPr>
        <p:spPr>
          <a:xfrm>
            <a:off x="3653714"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إلقاء</a:t>
            </a:r>
            <a:endParaRPr lang="ar-SA" sz="2200" dirty="0"/>
          </a:p>
        </p:txBody>
      </p:sp>
      <p:sp>
        <p:nvSpPr>
          <p:cNvPr id="19" name="anim-g3-1084"/>
          <p:cNvSpPr/>
          <p:nvPr/>
        </p:nvSpPr>
        <p:spPr>
          <a:xfrm>
            <a:off x="3653714"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الدرس بلا مشاركة يفتح المجال</a:t>
            </a:r>
            <a:endParaRPr lang="ar-SA" sz="1900" dirty="0"/>
          </a:p>
        </p:txBody>
      </p:sp>
      <p:sp>
        <p:nvSpPr>
          <p:cNvPr id="20" name="anim-g4-1085"/>
          <p:cNvSpPr/>
          <p:nvPr/>
        </p:nvSpPr>
        <p:spPr>
          <a:xfrm>
            <a:off x="822960" y="2011680"/>
            <a:ext cx="2464994" cy="2514600"/>
          </a:xfrm>
          <a:prstGeom prst="roundRect">
            <a:avLst>
              <a:gd name="adj" fmla="val 6677"/>
            </a:avLst>
          </a:prstGeom>
          <a:solidFill>
            <a:srgbClr val="FFFFFF"/>
          </a:solidFill>
          <a:ln w="12700">
            <a:solidFill>
              <a:srgbClr val="E4DCC8"/>
            </a:solidFill>
            <a:prstDash val="solid"/>
          </a:ln>
        </p:spPr>
      </p:sp>
      <p:sp>
        <p:nvSpPr>
          <p:cNvPr id="21" name="anim-g4-1086"/>
          <p:cNvSpPr/>
          <p:nvPr/>
        </p:nvSpPr>
        <p:spPr>
          <a:xfrm>
            <a:off x="1735417" y="2194560"/>
            <a:ext cx="640080" cy="640080"/>
          </a:xfrm>
          <a:prstGeom prst="roundRect">
            <a:avLst>
              <a:gd name="adj" fmla="val 25714"/>
            </a:avLst>
          </a:prstGeom>
          <a:solidFill>
            <a:srgbClr val="F7E6BC"/>
          </a:solidFill>
          <a:ln/>
        </p:spPr>
      </p:sp>
      <p:sp>
        <p:nvSpPr>
          <p:cNvPr id="22" name="anim-g4-1087"/>
          <p:cNvSpPr/>
          <p:nvPr/>
        </p:nvSpPr>
        <p:spPr>
          <a:xfrm>
            <a:off x="1735417"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23" name="anim-g4-1088"/>
          <p:cNvSpPr/>
          <p:nvPr/>
        </p:nvSpPr>
        <p:spPr>
          <a:xfrm>
            <a:off x="960120"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اختبار</a:t>
            </a:r>
            <a:endParaRPr lang="ar-SA" sz="2200" dirty="0"/>
          </a:p>
        </p:txBody>
      </p:sp>
      <p:sp>
        <p:nvSpPr>
          <p:cNvPr id="24" name="anim-g4-1089"/>
          <p:cNvSpPr/>
          <p:nvPr/>
        </p:nvSpPr>
        <p:spPr>
          <a:xfrm>
            <a:off x="960120"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يقيسون ردّ فعل المعلم الجديد</a:t>
            </a:r>
            <a:endParaRPr lang="ar-SA" sz="1900" dirty="0"/>
          </a:p>
        </p:txBody>
      </p:sp>
      <p:sp>
        <p:nvSpPr>
          <p:cNvPr id="25" name="anim-g5-1090"/>
          <p:cNvSpPr/>
          <p:nvPr/>
        </p:nvSpPr>
        <p:spPr>
          <a:xfrm>
            <a:off x="822960" y="4754880"/>
            <a:ext cx="10545775" cy="1051560"/>
          </a:xfrm>
          <a:prstGeom prst="roundRect">
            <a:avLst>
              <a:gd name="adj" fmla="val 17391"/>
            </a:avLst>
          </a:prstGeom>
          <a:solidFill>
            <a:srgbClr val="101B45"/>
          </a:solidFill>
          <a:ln/>
        </p:spPr>
      </p:sp>
      <p:sp>
        <p:nvSpPr>
          <p:cNvPr id="26" name="anim-g5-1091"/>
          <p:cNvSpPr/>
          <p:nvPr/>
        </p:nvSpPr>
        <p:spPr>
          <a:xfrm>
            <a:off x="1097280" y="4754880"/>
            <a:ext cx="9997135" cy="1051560"/>
          </a:xfrm>
          <a:prstGeom prst="rect">
            <a:avLst/>
          </a:prstGeom>
          <a:noFill/>
          <a:ln/>
        </p:spPr>
        <p:txBody>
          <a:bodyPr wrap="square" lIns="0" tIns="0" rIns="0" bIns="0" rtlCol="0" anchor="ctr">
            <a:normAutofit/>
          </a:bodyPr>
          <a:lstStyle/>
          <a:p>
            <a:pPr algn="ctr" indent="0" marL="0">
              <a:buNone/>
            </a:pPr>
            <a:r>
              <a:rPr lang="ar-SA" altLang="en-US" sz="2200" b="1" dirty="0">
                <a:solidFill>
                  <a:srgbClr val="FFFFFF"/>
                </a:solidFill>
                <a:latin typeface="Cairo" pitchFamily="34" charset="0"/>
                <a:ea typeface="Cairo" pitchFamily="34" charset="-122"/>
                <a:cs typeface="Cairo" pitchFamily="34" charset="-120"/>
              </a:rPr>
              <a:t>💡 الطاقة نفسها التي تعطّل الدرس…</a:t>
            </a:r>
            <a:endParaRPr lang="ar-SA" sz="2200" dirty="0"/>
          </a:p>
          <a:p>
            <a:pPr algn="ctr" indent="0" marL="0">
              <a:buNone/>
            </a:pPr>
            <a:r>
              <a:rPr lang="ar-SA" altLang="en-US" sz="2200" b="1" dirty="0">
                <a:solidFill>
                  <a:srgbClr val="F0CC7A"/>
                </a:solidFill>
                <a:latin typeface="Cairo" pitchFamily="34" charset="0"/>
                <a:ea typeface="Cairo" pitchFamily="34" charset="-122"/>
                <a:cs typeface="Cairo" pitchFamily="34" charset="-120"/>
              </a:rPr>
              <a:t> يمكن أن تشغّله</a:t>
            </a:r>
            <a:endParaRPr lang="ar-SA" sz="2200" dirty="0"/>
          </a:p>
        </p:txBody>
      </p:sp>
      <p:sp>
        <p:nvSpPr>
          <p:cNvPr id="27" name="Text 2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8" name="Text 2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مهرّجو الفصل  ·  ١٠٣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40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name="Slide 10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57439" y="457200"/>
            <a:ext cx="3511296" cy="457200"/>
          </a:xfrm>
          <a:prstGeom prst="roundRect">
            <a:avLst>
              <a:gd name="adj" fmla="val 50000"/>
            </a:avLst>
          </a:prstGeom>
          <a:solidFill>
            <a:srgbClr val="F6EBCF"/>
          </a:solidFill>
          <a:ln/>
        </p:spPr>
      </p:sp>
      <p:sp>
        <p:nvSpPr>
          <p:cNvPr id="3" name="Text 1"/>
          <p:cNvSpPr/>
          <p:nvPr/>
        </p:nvSpPr>
        <p:spPr>
          <a:xfrm>
            <a:off x="7857439" y="457200"/>
            <a:ext cx="351129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ماذا تفعل فورًا؟</a:t>
            </a:r>
            <a:endParaRPr lang="ar-SA" sz="1800" dirty="0"/>
          </a:p>
        </p:txBody>
      </p:sp>
      <p:sp>
        <p:nvSpPr>
          <p:cNvPr id="4" name="Shape 2"/>
          <p:cNvSpPr/>
          <p:nvPr/>
        </p:nvSpPr>
        <p:spPr>
          <a:xfrm>
            <a:off x="822960" y="457200"/>
            <a:ext cx="1737360" cy="457200"/>
          </a:xfrm>
          <a:prstGeom prst="roundRect">
            <a:avLst>
              <a:gd name="adj" fmla="val 50000"/>
            </a:avLst>
          </a:prstGeom>
          <a:solidFill>
            <a:srgbClr val="FBECEC"/>
          </a:solidFill>
          <a:ln/>
        </p:spPr>
      </p:sp>
      <p:sp>
        <p:nvSpPr>
          <p:cNvPr id="5" name="Text 3"/>
          <p:cNvSpPr/>
          <p:nvPr/>
        </p:nvSpPr>
        <p:spPr>
          <a:xfrm>
            <a:off x="822960" y="457200"/>
            <a:ext cx="1737360"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D64545"/>
                </a:solidFill>
                <a:latin typeface="Cairo" pitchFamily="34" charset="0"/>
                <a:ea typeface="Cairo" pitchFamily="34" charset="-122"/>
                <a:cs typeface="Cairo" pitchFamily="34" charset="-120"/>
              </a:rPr>
              <a:t>⏱ ١٠ ثوانٍ</a:t>
            </a:r>
            <a:endParaRPr lang="ar-SA" sz="1600" dirty="0"/>
          </a:p>
        </p:txBody>
      </p:sp>
      <p:sp>
        <p:nvSpPr>
          <p:cNvPr id="6" name="Text 4"/>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أول ١٠ ثوانٍ</a:t>
            </a:r>
            <a:endParaRPr lang="ar-SA" sz="3800" dirty="0"/>
          </a:p>
        </p:txBody>
      </p:sp>
      <p:sp>
        <p:nvSpPr>
          <p:cNvPr id="7" name="anim-g1-1092"/>
          <p:cNvSpPr/>
          <p:nvPr/>
        </p:nvSpPr>
        <p:spPr>
          <a:xfrm>
            <a:off x="8903741" y="2148840"/>
            <a:ext cx="2464994" cy="3383280"/>
          </a:xfrm>
          <a:prstGeom prst="roundRect">
            <a:avLst>
              <a:gd name="adj" fmla="val 6677"/>
            </a:avLst>
          </a:prstGeom>
          <a:solidFill>
            <a:srgbClr val="FFFFFF"/>
          </a:solidFill>
          <a:ln w="12700">
            <a:solidFill>
              <a:srgbClr val="E4DCC8"/>
            </a:solidFill>
            <a:prstDash val="solid"/>
          </a:ln>
        </p:spPr>
      </p:sp>
      <p:sp>
        <p:nvSpPr>
          <p:cNvPr id="8" name="anim-g1-1093"/>
          <p:cNvSpPr/>
          <p:nvPr/>
        </p:nvSpPr>
        <p:spPr>
          <a:xfrm>
            <a:off x="9747618" y="2423160"/>
            <a:ext cx="777240" cy="777240"/>
          </a:xfrm>
          <a:prstGeom prst="ellipse">
            <a:avLst/>
          </a:prstGeom>
          <a:solidFill>
            <a:srgbClr val="D9AE4B"/>
          </a:solidFill>
          <a:ln/>
        </p:spPr>
      </p:sp>
      <p:sp>
        <p:nvSpPr>
          <p:cNvPr id="9" name="anim-g1-1094"/>
          <p:cNvSpPr/>
          <p:nvPr/>
        </p:nvSpPr>
        <p:spPr>
          <a:xfrm>
            <a:off x="9747618"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١</a:t>
            </a:r>
            <a:endParaRPr lang="ar-SA" sz="2800" dirty="0"/>
          </a:p>
        </p:txBody>
      </p:sp>
      <p:sp>
        <p:nvSpPr>
          <p:cNvPr id="10" name="anim-g1-1095"/>
          <p:cNvSpPr/>
          <p:nvPr/>
        </p:nvSpPr>
        <p:spPr>
          <a:xfrm>
            <a:off x="9040901"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ابتسم لحظة</a:t>
            </a:r>
            <a:endParaRPr lang="ar-SA" sz="2500" dirty="0"/>
          </a:p>
        </p:txBody>
      </p:sp>
      <p:sp>
        <p:nvSpPr>
          <p:cNvPr id="11" name="anim-g1-1096"/>
          <p:cNvSpPr/>
          <p:nvPr/>
        </p:nvSpPr>
        <p:spPr>
          <a:xfrm>
            <a:off x="9086621"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لا تقاوم الضحك، بل امتصّه</a:t>
            </a:r>
            <a:endParaRPr lang="ar-SA" sz="2000" dirty="0"/>
          </a:p>
        </p:txBody>
      </p:sp>
      <p:sp>
        <p:nvSpPr>
          <p:cNvPr id="12" name="anim-g2-1097"/>
          <p:cNvSpPr/>
          <p:nvPr/>
        </p:nvSpPr>
        <p:spPr>
          <a:xfrm>
            <a:off x="6210148" y="2148840"/>
            <a:ext cx="2464994" cy="3383280"/>
          </a:xfrm>
          <a:prstGeom prst="roundRect">
            <a:avLst>
              <a:gd name="adj" fmla="val 6677"/>
            </a:avLst>
          </a:prstGeom>
          <a:solidFill>
            <a:srgbClr val="FFFFFF"/>
          </a:solidFill>
          <a:ln w="12700">
            <a:solidFill>
              <a:srgbClr val="E4DCC8"/>
            </a:solidFill>
            <a:prstDash val="solid"/>
          </a:ln>
        </p:spPr>
      </p:sp>
      <p:sp>
        <p:nvSpPr>
          <p:cNvPr id="13" name="anim-g2-1098"/>
          <p:cNvSpPr/>
          <p:nvPr/>
        </p:nvSpPr>
        <p:spPr>
          <a:xfrm>
            <a:off x="7054024" y="2423160"/>
            <a:ext cx="777240" cy="777240"/>
          </a:xfrm>
          <a:prstGeom prst="ellipse">
            <a:avLst/>
          </a:prstGeom>
          <a:solidFill>
            <a:srgbClr val="D9AE4B"/>
          </a:solidFill>
          <a:ln/>
        </p:spPr>
      </p:sp>
      <p:sp>
        <p:nvSpPr>
          <p:cNvPr id="14" name="anim-g2-1099"/>
          <p:cNvSpPr/>
          <p:nvPr/>
        </p:nvSpPr>
        <p:spPr>
          <a:xfrm>
            <a:off x="7054024"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٢</a:t>
            </a:r>
            <a:endParaRPr lang="ar-SA" sz="2800" dirty="0"/>
          </a:p>
        </p:txBody>
      </p:sp>
      <p:sp>
        <p:nvSpPr>
          <p:cNvPr id="15" name="anim-g2-1100"/>
          <p:cNvSpPr/>
          <p:nvPr/>
        </p:nvSpPr>
        <p:spPr>
          <a:xfrm>
            <a:off x="6347308"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أعِد التوجيه</a:t>
            </a:r>
            <a:endParaRPr lang="ar-SA" sz="2500" dirty="0"/>
          </a:p>
        </p:txBody>
      </p:sp>
      <p:sp>
        <p:nvSpPr>
          <p:cNvPr id="16" name="anim-g2-1101"/>
          <p:cNvSpPr/>
          <p:nvPr/>
        </p:nvSpPr>
        <p:spPr>
          <a:xfrm>
            <a:off x="6393028"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«جميل يا إيهاب، ولماذا سُمّي باسمه؟»</a:t>
            </a:r>
            <a:endParaRPr lang="ar-SA" sz="2000" dirty="0"/>
          </a:p>
        </p:txBody>
      </p:sp>
      <p:sp>
        <p:nvSpPr>
          <p:cNvPr id="17" name="anim-g3-1102"/>
          <p:cNvSpPr/>
          <p:nvPr/>
        </p:nvSpPr>
        <p:spPr>
          <a:xfrm>
            <a:off x="3516554" y="2148840"/>
            <a:ext cx="2464994" cy="3383280"/>
          </a:xfrm>
          <a:prstGeom prst="roundRect">
            <a:avLst>
              <a:gd name="adj" fmla="val 6677"/>
            </a:avLst>
          </a:prstGeom>
          <a:solidFill>
            <a:srgbClr val="FFFFFF"/>
          </a:solidFill>
          <a:ln w="12700">
            <a:solidFill>
              <a:srgbClr val="E4DCC8"/>
            </a:solidFill>
            <a:prstDash val="solid"/>
          </a:ln>
        </p:spPr>
      </p:sp>
      <p:sp>
        <p:nvSpPr>
          <p:cNvPr id="18" name="anim-g3-1103"/>
          <p:cNvSpPr/>
          <p:nvPr/>
        </p:nvSpPr>
        <p:spPr>
          <a:xfrm>
            <a:off x="4360431" y="2423160"/>
            <a:ext cx="777240" cy="777240"/>
          </a:xfrm>
          <a:prstGeom prst="ellipse">
            <a:avLst/>
          </a:prstGeom>
          <a:solidFill>
            <a:srgbClr val="D9AE4B"/>
          </a:solidFill>
          <a:ln/>
        </p:spPr>
      </p:sp>
      <p:sp>
        <p:nvSpPr>
          <p:cNvPr id="19" name="anim-g3-1104"/>
          <p:cNvSpPr/>
          <p:nvPr/>
        </p:nvSpPr>
        <p:spPr>
          <a:xfrm>
            <a:off x="4360431"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٣</a:t>
            </a:r>
            <a:endParaRPr lang="ar-SA" sz="2800" dirty="0"/>
          </a:p>
        </p:txBody>
      </p:sp>
      <p:sp>
        <p:nvSpPr>
          <p:cNvPr id="20" name="anim-g3-1105"/>
          <p:cNvSpPr/>
          <p:nvPr/>
        </p:nvSpPr>
        <p:spPr>
          <a:xfrm>
            <a:off x="3653714"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غيّر النشاط</a:t>
            </a:r>
            <a:endParaRPr lang="ar-SA" sz="2500" dirty="0"/>
          </a:p>
        </p:txBody>
      </p:sp>
      <p:sp>
        <p:nvSpPr>
          <p:cNvPr id="21" name="anim-g3-1106"/>
          <p:cNvSpPr/>
          <p:nvPr/>
        </p:nvSpPr>
        <p:spPr>
          <a:xfrm>
            <a:off x="3699434"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من إلقاء إلى سؤال أو تحدٍّ جماعي</a:t>
            </a:r>
            <a:endParaRPr lang="ar-SA" sz="2000" dirty="0"/>
          </a:p>
        </p:txBody>
      </p:sp>
      <p:sp>
        <p:nvSpPr>
          <p:cNvPr id="22" name="anim-g4-1107"/>
          <p:cNvSpPr/>
          <p:nvPr/>
        </p:nvSpPr>
        <p:spPr>
          <a:xfrm>
            <a:off x="822960" y="2148840"/>
            <a:ext cx="2464994" cy="3383280"/>
          </a:xfrm>
          <a:prstGeom prst="roundRect">
            <a:avLst>
              <a:gd name="adj" fmla="val 6677"/>
            </a:avLst>
          </a:prstGeom>
          <a:solidFill>
            <a:srgbClr val="FFFFFF"/>
          </a:solidFill>
          <a:ln w="12700">
            <a:solidFill>
              <a:srgbClr val="E4DCC8"/>
            </a:solidFill>
            <a:prstDash val="solid"/>
          </a:ln>
        </p:spPr>
      </p:sp>
      <p:sp>
        <p:nvSpPr>
          <p:cNvPr id="23" name="anim-g4-1108"/>
          <p:cNvSpPr/>
          <p:nvPr/>
        </p:nvSpPr>
        <p:spPr>
          <a:xfrm>
            <a:off x="1666837" y="2423160"/>
            <a:ext cx="777240" cy="777240"/>
          </a:xfrm>
          <a:prstGeom prst="ellipse">
            <a:avLst/>
          </a:prstGeom>
          <a:solidFill>
            <a:srgbClr val="D9AE4B"/>
          </a:solidFill>
          <a:ln/>
        </p:spPr>
      </p:sp>
      <p:sp>
        <p:nvSpPr>
          <p:cNvPr id="24" name="anim-g4-1109"/>
          <p:cNvSpPr/>
          <p:nvPr/>
        </p:nvSpPr>
        <p:spPr>
          <a:xfrm>
            <a:off x="1666837"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٤</a:t>
            </a:r>
            <a:endParaRPr lang="ar-SA" sz="2800" dirty="0"/>
          </a:p>
        </p:txBody>
      </p:sp>
      <p:sp>
        <p:nvSpPr>
          <p:cNvPr id="25" name="anim-g4-1110"/>
          <p:cNvSpPr/>
          <p:nvPr/>
        </p:nvSpPr>
        <p:spPr>
          <a:xfrm>
            <a:off x="960120"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حدّد الخط</a:t>
            </a:r>
            <a:endParaRPr lang="ar-SA" sz="2500" dirty="0"/>
          </a:p>
        </p:txBody>
      </p:sp>
      <p:sp>
        <p:nvSpPr>
          <p:cNvPr id="26" name="anim-g4-1111"/>
          <p:cNvSpPr/>
          <p:nvPr/>
        </p:nvSpPr>
        <p:spPr>
          <a:xfrm>
            <a:off x="1005840"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طرفة الدرس مرحّب بها، والمعطِّلة لا</a:t>
            </a:r>
            <a:endParaRPr lang="ar-SA" sz="2000" dirty="0"/>
          </a:p>
        </p:txBody>
      </p:sp>
      <p:sp>
        <p:nvSpPr>
          <p:cNvPr id="27" name="Text 2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8" name="Text 2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مهرّجو الفصل  ·  ١٠٤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400"/>
                                        <p:tgtEl>
                                          <p:spTgt spid="1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40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4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400"/>
                                        <p:tgtEl>
                                          <p:spTgt spid="1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400"/>
                                        <p:tgtEl>
                                          <p:spTgt spid="2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400"/>
                                        <p:tgtEl>
                                          <p:spTgt spid="21"/>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400"/>
                                        <p:tgtEl>
                                          <p:spTgt spid="2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400"/>
                                        <p:tgtEl>
                                          <p:spTgt spid="2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400"/>
                                        <p:tgtEl>
                                          <p:spTgt spid="2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400"/>
                                        <p:tgtEl>
                                          <p:spTgt spid="2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name="Slide 10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588959" y="457200"/>
            <a:ext cx="2779776" cy="457200"/>
          </a:xfrm>
          <a:prstGeom prst="roundRect">
            <a:avLst>
              <a:gd name="adj" fmla="val 50000"/>
            </a:avLst>
          </a:prstGeom>
          <a:solidFill>
            <a:srgbClr val="F6EBCF"/>
          </a:solidFill>
          <a:ln/>
        </p:spPr>
      </p:sp>
      <p:sp>
        <p:nvSpPr>
          <p:cNvPr id="3" name="Text 1"/>
          <p:cNvSpPr/>
          <p:nvPr/>
        </p:nvSpPr>
        <p:spPr>
          <a:xfrm>
            <a:off x="8588959" y="457200"/>
            <a:ext cx="277977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الجُمل الجاهزة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ماذا تقول بالحرف؟</a:t>
            </a:r>
            <a:endParaRPr lang="ar-SA" sz="3800" dirty="0"/>
          </a:p>
        </p:txBody>
      </p:sp>
      <p:sp>
        <p:nvSpPr>
          <p:cNvPr id="5" name="anim-g1-1112"/>
          <p:cNvSpPr/>
          <p:nvPr/>
        </p:nvSpPr>
        <p:spPr>
          <a:xfrm>
            <a:off x="9768535" y="2130552"/>
            <a:ext cx="1600200" cy="1018032"/>
          </a:xfrm>
          <a:prstGeom prst="roundRect">
            <a:avLst>
              <a:gd name="adj" fmla="val 13473"/>
            </a:avLst>
          </a:prstGeom>
          <a:solidFill>
            <a:srgbClr val="E9EDF9"/>
          </a:solidFill>
          <a:ln/>
        </p:spPr>
      </p:sp>
      <p:sp>
        <p:nvSpPr>
          <p:cNvPr id="6" name="anim-g1-1113"/>
          <p:cNvSpPr/>
          <p:nvPr/>
        </p:nvSpPr>
        <p:spPr>
          <a:xfrm>
            <a:off x="9814255" y="2130552"/>
            <a:ext cx="1508760" cy="101803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بعد الطرفة</a:t>
            </a:r>
            <a:endParaRPr lang="ar-SA" sz="1800" dirty="0"/>
          </a:p>
        </p:txBody>
      </p:sp>
      <p:sp>
        <p:nvSpPr>
          <p:cNvPr id="7" name="anim-g1-1114"/>
          <p:cNvSpPr/>
          <p:nvPr/>
        </p:nvSpPr>
        <p:spPr>
          <a:xfrm>
            <a:off x="822960" y="2057400"/>
            <a:ext cx="8716975" cy="1164336"/>
          </a:xfrm>
          <a:prstGeom prst="roundRect">
            <a:avLst>
              <a:gd name="adj" fmla="val 17277"/>
            </a:avLst>
          </a:prstGeom>
          <a:solidFill>
            <a:srgbClr val="101B45"/>
          </a:solidFill>
          <a:ln/>
        </p:spPr>
      </p:sp>
      <p:sp>
        <p:nvSpPr>
          <p:cNvPr id="8" name="anim-g1-1115"/>
          <p:cNvSpPr/>
          <p:nvPr/>
        </p:nvSpPr>
        <p:spPr>
          <a:xfrm>
            <a:off x="1097280" y="2057400"/>
            <a:ext cx="8168335" cy="1164336"/>
          </a:xfrm>
          <a:prstGeom prst="rect">
            <a:avLst/>
          </a:prstGeom>
          <a:noFill/>
          <a:ln/>
        </p:spPr>
        <p:txBody>
          <a:bodyPr wrap="square" lIns="0" tIns="0" rIns="0" bIns="0" rtlCol="0" anchor="ctr">
            <a:normAutofit/>
          </a:bodyPr>
          <a:lstStyle/>
          <a:p>
            <a:pPr algn="r" indent="0" marL="0">
              <a:buNone/>
            </a:pPr>
            <a:r>
              <a:rPr lang="ar-SA" altLang="en-US" sz="2200" b="1" dirty="0">
                <a:solidFill>
                  <a:srgbClr val="D9AE4B"/>
                </a:solidFill>
                <a:latin typeface="Cairo" pitchFamily="34" charset="0"/>
                <a:ea typeface="Cairo" pitchFamily="34" charset="-122"/>
                <a:cs typeface="Cairo" pitchFamily="34" charset="-120"/>
              </a:rPr>
              <a:t>« </a:t>
            </a:r>
            <a:pPr algn="r" indent="0" marL="0">
              <a:buNone/>
            </a:pPr>
            <a:r>
              <a:rPr lang="ar-SA" altLang="en-US" sz="2200" b="1" dirty="0">
                <a:solidFill>
                  <a:srgbClr val="FFFFFF"/>
                </a:solidFill>
                <a:latin typeface="Cairo" pitchFamily="34" charset="0"/>
                <a:ea typeface="Cairo" pitchFamily="34" charset="-122"/>
                <a:cs typeface="Cairo" pitchFamily="34" charset="-120"/>
              </a:rPr>
              <a:t>ذكي يا إيهاب! ولماذا اختاروا اسم صلاح الدين لهذا الحي؟ من يعرف؟</a:t>
            </a:r>
            <a:pPr algn="r" indent="0" marL="0">
              <a:buNone/>
            </a:pPr>
            <a:r>
              <a:rPr lang="ar-SA" altLang="en-US" sz="2200" b="1" dirty="0">
                <a:solidFill>
                  <a:srgbClr val="D9AE4B"/>
                </a:solidFill>
                <a:latin typeface="Cairo" pitchFamily="34" charset="0"/>
                <a:ea typeface="Cairo" pitchFamily="34" charset="-122"/>
                <a:cs typeface="Cairo" pitchFamily="34" charset="-120"/>
              </a:rPr>
              <a:t> »</a:t>
            </a:r>
            <a:endParaRPr lang="ar-SA" sz="2200" dirty="0"/>
          </a:p>
        </p:txBody>
      </p:sp>
      <p:sp>
        <p:nvSpPr>
          <p:cNvPr id="9" name="anim-g2-1116"/>
          <p:cNvSpPr/>
          <p:nvPr/>
        </p:nvSpPr>
        <p:spPr>
          <a:xfrm>
            <a:off x="9768535" y="3441192"/>
            <a:ext cx="1600200" cy="1018032"/>
          </a:xfrm>
          <a:prstGeom prst="roundRect">
            <a:avLst>
              <a:gd name="adj" fmla="val 13473"/>
            </a:avLst>
          </a:prstGeom>
          <a:solidFill>
            <a:srgbClr val="E9EDF9"/>
          </a:solidFill>
          <a:ln/>
        </p:spPr>
      </p:sp>
      <p:sp>
        <p:nvSpPr>
          <p:cNvPr id="10" name="anim-g2-1117"/>
          <p:cNvSpPr/>
          <p:nvPr/>
        </p:nvSpPr>
        <p:spPr>
          <a:xfrm>
            <a:off x="9814255" y="3441192"/>
            <a:ext cx="1508760" cy="101803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إن تكرر التعطيل</a:t>
            </a:r>
            <a:endParaRPr lang="ar-SA" sz="1800" dirty="0"/>
          </a:p>
        </p:txBody>
      </p:sp>
      <p:sp>
        <p:nvSpPr>
          <p:cNvPr id="11" name="anim-g2-1118"/>
          <p:cNvSpPr/>
          <p:nvPr/>
        </p:nvSpPr>
        <p:spPr>
          <a:xfrm>
            <a:off x="822960" y="3368040"/>
            <a:ext cx="8716975" cy="1164336"/>
          </a:xfrm>
          <a:prstGeom prst="roundRect">
            <a:avLst>
              <a:gd name="adj" fmla="val 17277"/>
            </a:avLst>
          </a:prstGeom>
          <a:solidFill>
            <a:srgbClr val="101B45"/>
          </a:solidFill>
          <a:ln/>
        </p:spPr>
      </p:sp>
      <p:sp>
        <p:nvSpPr>
          <p:cNvPr id="12" name="anim-g2-1119"/>
          <p:cNvSpPr/>
          <p:nvPr/>
        </p:nvSpPr>
        <p:spPr>
          <a:xfrm>
            <a:off x="1097280" y="3368040"/>
            <a:ext cx="8168335" cy="1164336"/>
          </a:xfrm>
          <a:prstGeom prst="rect">
            <a:avLst/>
          </a:prstGeom>
          <a:noFill/>
          <a:ln/>
        </p:spPr>
        <p:txBody>
          <a:bodyPr wrap="square" lIns="0" tIns="0" rIns="0" bIns="0" rtlCol="0" anchor="ctr">
            <a:normAutofit/>
          </a:bodyPr>
          <a:lstStyle/>
          <a:p>
            <a:pPr algn="r" indent="0" marL="0">
              <a:buNone/>
            </a:pPr>
            <a:r>
              <a:rPr lang="ar-SA" altLang="en-US" sz="2200" b="1" dirty="0">
                <a:solidFill>
                  <a:srgbClr val="D9AE4B"/>
                </a:solidFill>
                <a:latin typeface="Cairo" pitchFamily="34" charset="0"/>
                <a:ea typeface="Cairo" pitchFamily="34" charset="-122"/>
                <a:cs typeface="Cairo" pitchFamily="34" charset="-120"/>
              </a:rPr>
              <a:t>« </a:t>
            </a:r>
            <a:pPr algn="r" indent="0" marL="0">
              <a:buNone/>
            </a:pPr>
            <a:r>
              <a:rPr lang="ar-SA" altLang="en-US" sz="2200" b="1" dirty="0">
                <a:solidFill>
                  <a:srgbClr val="FFFFFF"/>
                </a:solidFill>
                <a:latin typeface="Cairo" pitchFamily="34" charset="0"/>
                <a:ea typeface="Cairo" pitchFamily="34" charset="-122"/>
                <a:cs typeface="Cairo" pitchFamily="34" charset="-120"/>
              </a:rPr>
              <a:t>أحب روح الفكاهة عندكم، والآن نحتاج خمس دقائق جادة، وبعدها مفاجأة</a:t>
            </a:r>
            <a:pPr algn="r" indent="0" marL="0">
              <a:buNone/>
            </a:pPr>
            <a:r>
              <a:rPr lang="ar-SA" altLang="en-US" sz="2200" b="1" dirty="0">
                <a:solidFill>
                  <a:srgbClr val="D9AE4B"/>
                </a:solidFill>
                <a:latin typeface="Cairo" pitchFamily="34" charset="0"/>
                <a:ea typeface="Cairo" pitchFamily="34" charset="-122"/>
                <a:cs typeface="Cairo" pitchFamily="34" charset="-120"/>
              </a:rPr>
              <a:t> »</a:t>
            </a:r>
            <a:endParaRPr lang="ar-SA" sz="2200" dirty="0"/>
          </a:p>
        </p:txBody>
      </p:sp>
      <p:sp>
        <p:nvSpPr>
          <p:cNvPr id="13" name="anim-g3-1120"/>
          <p:cNvSpPr/>
          <p:nvPr/>
        </p:nvSpPr>
        <p:spPr>
          <a:xfrm>
            <a:off x="9768535" y="4751832"/>
            <a:ext cx="1600200" cy="1018032"/>
          </a:xfrm>
          <a:prstGeom prst="roundRect">
            <a:avLst>
              <a:gd name="adj" fmla="val 13473"/>
            </a:avLst>
          </a:prstGeom>
          <a:solidFill>
            <a:srgbClr val="E9EDF9"/>
          </a:solidFill>
          <a:ln/>
        </p:spPr>
      </p:sp>
      <p:sp>
        <p:nvSpPr>
          <p:cNvPr id="14" name="anim-g3-1121"/>
          <p:cNvSpPr/>
          <p:nvPr/>
        </p:nvSpPr>
        <p:spPr>
          <a:xfrm>
            <a:off x="9814255" y="4751832"/>
            <a:ext cx="1508760" cy="101803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مع الثلاثة بعد الحصة</a:t>
            </a:r>
            <a:endParaRPr lang="ar-SA" sz="1800" dirty="0"/>
          </a:p>
        </p:txBody>
      </p:sp>
      <p:sp>
        <p:nvSpPr>
          <p:cNvPr id="15" name="anim-g3-1122"/>
          <p:cNvSpPr/>
          <p:nvPr/>
        </p:nvSpPr>
        <p:spPr>
          <a:xfrm>
            <a:off x="822960" y="4678680"/>
            <a:ext cx="8716975" cy="1164336"/>
          </a:xfrm>
          <a:prstGeom prst="roundRect">
            <a:avLst>
              <a:gd name="adj" fmla="val 17277"/>
            </a:avLst>
          </a:prstGeom>
          <a:solidFill>
            <a:srgbClr val="101B45"/>
          </a:solidFill>
          <a:ln/>
        </p:spPr>
      </p:sp>
      <p:sp>
        <p:nvSpPr>
          <p:cNvPr id="16" name="anim-g3-1123"/>
          <p:cNvSpPr/>
          <p:nvPr/>
        </p:nvSpPr>
        <p:spPr>
          <a:xfrm>
            <a:off x="1097280" y="4678680"/>
            <a:ext cx="8168335" cy="1164336"/>
          </a:xfrm>
          <a:prstGeom prst="rect">
            <a:avLst/>
          </a:prstGeom>
          <a:noFill/>
          <a:ln/>
        </p:spPr>
        <p:txBody>
          <a:bodyPr wrap="square" lIns="0" tIns="0" rIns="0" bIns="0" rtlCol="0" anchor="ctr">
            <a:normAutofit/>
          </a:bodyPr>
          <a:lstStyle/>
          <a:p>
            <a:pPr algn="r" indent="0" marL="0">
              <a:buNone/>
            </a:pPr>
            <a:r>
              <a:rPr lang="ar-SA" altLang="en-US" sz="2000" b="1" dirty="0">
                <a:solidFill>
                  <a:srgbClr val="D9AE4B"/>
                </a:solidFill>
                <a:latin typeface="Cairo" pitchFamily="34" charset="0"/>
                <a:ea typeface="Cairo" pitchFamily="34" charset="-122"/>
                <a:cs typeface="Cairo" pitchFamily="34" charset="-120"/>
              </a:rPr>
              <a:t>« </a:t>
            </a:r>
            <a:pPr algn="r" indent="0" marL="0">
              <a:buNone/>
            </a:pPr>
            <a:r>
              <a:rPr lang="ar-SA" altLang="en-US" sz="2000" b="1" dirty="0">
                <a:solidFill>
                  <a:srgbClr val="FFFFFF"/>
                </a:solidFill>
                <a:latin typeface="Cairo" pitchFamily="34" charset="0"/>
                <a:ea typeface="Cairo" pitchFamily="34" charset="-122"/>
                <a:cs typeface="Cairo" pitchFamily="34" charset="-120"/>
              </a:rPr>
              <a:t>أنتم قادة هذا الفصل فعلًا، وأريدكم أن تقودوه معي. من يحضّر مسابقة الأسبوع القادم؟</a:t>
            </a:r>
            <a:pPr algn="r" indent="0" marL="0">
              <a:buNone/>
            </a:pPr>
            <a:r>
              <a:rPr lang="ar-SA" altLang="en-US" sz="2000" b="1" dirty="0">
                <a:solidFill>
                  <a:srgbClr val="D9AE4B"/>
                </a:solidFill>
                <a:latin typeface="Cairo" pitchFamily="34" charset="0"/>
                <a:ea typeface="Cairo" pitchFamily="34" charset="-122"/>
                <a:cs typeface="Cairo" pitchFamily="34" charset="-120"/>
              </a:rPr>
              <a:t> »</a:t>
            </a:r>
            <a:endParaRPr lang="ar-SA" sz="2000" dirty="0"/>
          </a:p>
        </p:txBody>
      </p:sp>
      <p:sp>
        <p:nvSpPr>
          <p:cNvPr id="17" name="Text 1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18" name="Text 1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مهرّجو الفصل  ·  ١٠٥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name="Slide 10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5486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أخطاء شائعة… وبدائلها</a:t>
            </a:r>
            <a:endParaRPr lang="ar-SA" sz="3800" dirty="0"/>
          </a:p>
        </p:txBody>
      </p:sp>
      <p:sp>
        <p:nvSpPr>
          <p:cNvPr id="3" name="Text 1"/>
          <p:cNvSpPr/>
          <p:nvPr/>
        </p:nvSpPr>
        <p:spPr>
          <a:xfrm>
            <a:off x="6415888"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D64545"/>
                </a:solidFill>
                <a:latin typeface="Cairo Black" pitchFamily="34" charset="0"/>
                <a:ea typeface="Cairo Black" pitchFamily="34" charset="-122"/>
                <a:cs typeface="Cairo Black" pitchFamily="34" charset="-120"/>
              </a:rPr>
              <a:t>❌ الخطأ الشائع</a:t>
            </a:r>
            <a:endParaRPr lang="ar-SA" sz="2100" dirty="0"/>
          </a:p>
        </p:txBody>
      </p:sp>
      <p:sp>
        <p:nvSpPr>
          <p:cNvPr id="4" name="Text 2"/>
          <p:cNvSpPr/>
          <p:nvPr/>
        </p:nvSpPr>
        <p:spPr>
          <a:xfrm>
            <a:off x="822960"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2E9E6B"/>
                </a:solidFill>
                <a:latin typeface="Cairo Black" pitchFamily="34" charset="0"/>
                <a:ea typeface="Cairo Black" pitchFamily="34" charset="-122"/>
                <a:cs typeface="Cairo Black" pitchFamily="34" charset="-120"/>
              </a:rPr>
              <a:t>✅ البديل</a:t>
            </a:r>
            <a:endParaRPr lang="ar-SA" sz="2100" dirty="0"/>
          </a:p>
        </p:txBody>
      </p:sp>
      <p:sp>
        <p:nvSpPr>
          <p:cNvPr id="5" name="anim-g1-1124"/>
          <p:cNvSpPr/>
          <p:nvPr/>
        </p:nvSpPr>
        <p:spPr>
          <a:xfrm>
            <a:off x="6415888" y="2194560"/>
            <a:ext cx="4952848" cy="804672"/>
          </a:xfrm>
          <a:prstGeom prst="roundRect">
            <a:avLst>
              <a:gd name="adj" fmla="val 15909"/>
            </a:avLst>
          </a:prstGeom>
          <a:solidFill>
            <a:srgbClr val="FBECEC"/>
          </a:solidFill>
          <a:ln/>
        </p:spPr>
      </p:sp>
      <p:sp>
        <p:nvSpPr>
          <p:cNvPr id="6" name="anim-g1-1125"/>
          <p:cNvSpPr/>
          <p:nvPr/>
        </p:nvSpPr>
        <p:spPr>
          <a:xfrm>
            <a:off x="6644488"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التحول إلى إلقاء صامت</a:t>
            </a:r>
            <a:endParaRPr lang="ar-SA" sz="2200" dirty="0"/>
          </a:p>
        </p:txBody>
      </p:sp>
      <p:sp>
        <p:nvSpPr>
          <p:cNvPr id="7" name="anim-g1-1126"/>
          <p:cNvSpPr/>
          <p:nvPr/>
        </p:nvSpPr>
        <p:spPr>
          <a:xfrm>
            <a:off x="822960" y="2194560"/>
            <a:ext cx="4952848" cy="804672"/>
          </a:xfrm>
          <a:prstGeom prst="roundRect">
            <a:avLst>
              <a:gd name="adj" fmla="val 15909"/>
            </a:avLst>
          </a:prstGeom>
          <a:solidFill>
            <a:srgbClr val="FFFFFF"/>
          </a:solidFill>
          <a:ln w="19050">
            <a:solidFill>
              <a:srgbClr val="BFD9CB"/>
            </a:solidFill>
            <a:prstDash val="dash"/>
          </a:ln>
        </p:spPr>
      </p:sp>
      <p:sp>
        <p:nvSpPr>
          <p:cNvPr id="8" name="anim-g1-1127"/>
          <p:cNvSpPr/>
          <p:nvPr/>
        </p:nvSpPr>
        <p:spPr>
          <a:xfrm>
            <a:off x="822960" y="219456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9" name="anim-g2-1128"/>
          <p:cNvSpPr/>
          <p:nvPr/>
        </p:nvSpPr>
        <p:spPr>
          <a:xfrm>
            <a:off x="5775808" y="219456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0" name="anim-g2-1129"/>
          <p:cNvSpPr/>
          <p:nvPr/>
        </p:nvSpPr>
        <p:spPr>
          <a:xfrm>
            <a:off x="822960" y="2194560"/>
            <a:ext cx="4952848" cy="804672"/>
          </a:xfrm>
          <a:prstGeom prst="roundRect">
            <a:avLst>
              <a:gd name="adj" fmla="val 15909"/>
            </a:avLst>
          </a:prstGeom>
          <a:solidFill>
            <a:srgbClr val="E6F4EC"/>
          </a:solidFill>
          <a:ln/>
        </p:spPr>
      </p:sp>
      <p:sp>
        <p:nvSpPr>
          <p:cNvPr id="11" name="anim-g2-1130"/>
          <p:cNvSpPr/>
          <p:nvPr/>
        </p:nvSpPr>
        <p:spPr>
          <a:xfrm>
            <a:off x="1051560"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نشاط تفاعلي يُشغل الجميع</a:t>
            </a:r>
            <a:endParaRPr lang="ar-SA" sz="2200" dirty="0"/>
          </a:p>
        </p:txBody>
      </p:sp>
      <p:sp>
        <p:nvSpPr>
          <p:cNvPr id="12" name="anim-g3-1131"/>
          <p:cNvSpPr/>
          <p:nvPr/>
        </p:nvSpPr>
        <p:spPr>
          <a:xfrm>
            <a:off x="6415888" y="3154680"/>
            <a:ext cx="4952848" cy="804672"/>
          </a:xfrm>
          <a:prstGeom prst="roundRect">
            <a:avLst>
              <a:gd name="adj" fmla="val 15909"/>
            </a:avLst>
          </a:prstGeom>
          <a:solidFill>
            <a:srgbClr val="FBECEC"/>
          </a:solidFill>
          <a:ln/>
        </p:spPr>
      </p:sp>
      <p:sp>
        <p:nvSpPr>
          <p:cNvPr id="13" name="anim-g3-1132"/>
          <p:cNvSpPr/>
          <p:nvPr/>
        </p:nvSpPr>
        <p:spPr>
          <a:xfrm>
            <a:off x="6644488"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معاقبة المجموعة علنًا</a:t>
            </a:r>
            <a:endParaRPr lang="ar-SA" sz="2200" dirty="0"/>
          </a:p>
        </p:txBody>
      </p:sp>
      <p:sp>
        <p:nvSpPr>
          <p:cNvPr id="14" name="anim-g3-1133"/>
          <p:cNvSpPr/>
          <p:nvPr/>
        </p:nvSpPr>
        <p:spPr>
          <a:xfrm>
            <a:off x="822960" y="3154680"/>
            <a:ext cx="4952848" cy="804672"/>
          </a:xfrm>
          <a:prstGeom prst="roundRect">
            <a:avLst>
              <a:gd name="adj" fmla="val 15909"/>
            </a:avLst>
          </a:prstGeom>
          <a:solidFill>
            <a:srgbClr val="FFFFFF"/>
          </a:solidFill>
          <a:ln w="19050">
            <a:solidFill>
              <a:srgbClr val="BFD9CB"/>
            </a:solidFill>
            <a:prstDash val="dash"/>
          </a:ln>
        </p:spPr>
      </p:sp>
      <p:sp>
        <p:nvSpPr>
          <p:cNvPr id="15" name="anim-g3-1134"/>
          <p:cNvSpPr/>
          <p:nvPr/>
        </p:nvSpPr>
        <p:spPr>
          <a:xfrm>
            <a:off x="822960" y="315468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16" name="anim-g4-1135"/>
          <p:cNvSpPr/>
          <p:nvPr/>
        </p:nvSpPr>
        <p:spPr>
          <a:xfrm>
            <a:off x="5775808" y="315468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7" name="anim-g4-1136"/>
          <p:cNvSpPr/>
          <p:nvPr/>
        </p:nvSpPr>
        <p:spPr>
          <a:xfrm>
            <a:off x="822960" y="3154680"/>
            <a:ext cx="4952848" cy="804672"/>
          </a:xfrm>
          <a:prstGeom prst="roundRect">
            <a:avLst>
              <a:gd name="adj" fmla="val 15909"/>
            </a:avLst>
          </a:prstGeom>
          <a:solidFill>
            <a:srgbClr val="E6F4EC"/>
          </a:solidFill>
          <a:ln/>
        </p:spPr>
      </p:sp>
      <p:sp>
        <p:nvSpPr>
          <p:cNvPr id="18" name="anim-g4-1137"/>
          <p:cNvSpPr/>
          <p:nvPr/>
        </p:nvSpPr>
        <p:spPr>
          <a:xfrm>
            <a:off x="1051560"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حوار خاص مع قادة المجموعة</a:t>
            </a:r>
            <a:endParaRPr lang="ar-SA" sz="2200" dirty="0"/>
          </a:p>
        </p:txBody>
      </p:sp>
      <p:sp>
        <p:nvSpPr>
          <p:cNvPr id="19" name="anim-g5-1138"/>
          <p:cNvSpPr/>
          <p:nvPr/>
        </p:nvSpPr>
        <p:spPr>
          <a:xfrm>
            <a:off x="6415888" y="4114800"/>
            <a:ext cx="4952848" cy="804672"/>
          </a:xfrm>
          <a:prstGeom prst="roundRect">
            <a:avLst>
              <a:gd name="adj" fmla="val 15909"/>
            </a:avLst>
          </a:prstGeom>
          <a:solidFill>
            <a:srgbClr val="FBECEC"/>
          </a:solidFill>
          <a:ln/>
        </p:spPr>
      </p:sp>
      <p:sp>
        <p:nvSpPr>
          <p:cNvPr id="20" name="anim-g5-1139"/>
          <p:cNvSpPr/>
          <p:nvPr/>
        </p:nvSpPr>
        <p:spPr>
          <a:xfrm>
            <a:off x="6644488"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قمع كل فكاهة</a:t>
            </a:r>
            <a:endParaRPr lang="ar-SA" sz="2200" dirty="0"/>
          </a:p>
        </p:txBody>
      </p:sp>
      <p:sp>
        <p:nvSpPr>
          <p:cNvPr id="21" name="anim-g5-1140"/>
          <p:cNvSpPr/>
          <p:nvPr/>
        </p:nvSpPr>
        <p:spPr>
          <a:xfrm>
            <a:off x="822960" y="4114800"/>
            <a:ext cx="4952848" cy="804672"/>
          </a:xfrm>
          <a:prstGeom prst="roundRect">
            <a:avLst>
              <a:gd name="adj" fmla="val 15909"/>
            </a:avLst>
          </a:prstGeom>
          <a:solidFill>
            <a:srgbClr val="FFFFFF"/>
          </a:solidFill>
          <a:ln w="19050">
            <a:solidFill>
              <a:srgbClr val="BFD9CB"/>
            </a:solidFill>
            <a:prstDash val="dash"/>
          </a:ln>
        </p:spPr>
      </p:sp>
      <p:sp>
        <p:nvSpPr>
          <p:cNvPr id="22" name="anim-g5-1141"/>
          <p:cNvSpPr/>
          <p:nvPr/>
        </p:nvSpPr>
        <p:spPr>
          <a:xfrm>
            <a:off x="822960" y="411480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23" name="anim-g6-1142"/>
          <p:cNvSpPr/>
          <p:nvPr/>
        </p:nvSpPr>
        <p:spPr>
          <a:xfrm>
            <a:off x="5775808" y="411480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24" name="anim-g6-1143"/>
          <p:cNvSpPr/>
          <p:nvPr/>
        </p:nvSpPr>
        <p:spPr>
          <a:xfrm>
            <a:off x="822960" y="4114800"/>
            <a:ext cx="4952848" cy="804672"/>
          </a:xfrm>
          <a:prstGeom prst="roundRect">
            <a:avLst>
              <a:gd name="adj" fmla="val 15909"/>
            </a:avLst>
          </a:prstGeom>
          <a:solidFill>
            <a:srgbClr val="E6F4EC"/>
          </a:solidFill>
          <a:ln/>
        </p:spPr>
      </p:sp>
      <p:sp>
        <p:nvSpPr>
          <p:cNvPr id="25" name="anim-g6-1144"/>
          <p:cNvSpPr/>
          <p:nvPr/>
        </p:nvSpPr>
        <p:spPr>
          <a:xfrm>
            <a:off x="1051560"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فكاهة مرتبطة بالدرس ولها وقت</a:t>
            </a:r>
            <a:endParaRPr lang="ar-SA" sz="2200" dirty="0"/>
          </a:p>
        </p:txBody>
      </p:sp>
      <p:sp>
        <p:nvSpPr>
          <p:cNvPr id="26" name="Text 24"/>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7" name="Text 25"/>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مهرّجو الفصل  ·  ١٠٦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0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400"/>
                                        <p:tgtEl>
                                          <p:spTgt spid="1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400"/>
                                        <p:tgtEl>
                                          <p:spTgt spid="2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400"/>
                                        <p:tgtEl>
                                          <p:spTgt spid="2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400"/>
                                        <p:tgtEl>
                                          <p:spTgt spid="2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name="Slide 10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5486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ماذا لو لم ينجح الحل؟</a:t>
            </a:r>
            <a:endParaRPr lang="ar-SA" sz="3800" dirty="0"/>
          </a:p>
        </p:txBody>
      </p:sp>
      <p:sp>
        <p:nvSpPr>
          <p:cNvPr id="3" name="Text 1"/>
          <p:cNvSpPr/>
          <p:nvPr/>
        </p:nvSpPr>
        <p:spPr>
          <a:xfrm>
            <a:off x="6415888"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D64545"/>
                </a:solidFill>
                <a:latin typeface="Cairo Black" pitchFamily="34" charset="0"/>
                <a:ea typeface="Cairo Black" pitchFamily="34" charset="-122"/>
                <a:cs typeface="Cairo Black" pitchFamily="34" charset="-120"/>
              </a:rPr>
              <a:t>❌ الخطأ الشائع</a:t>
            </a:r>
            <a:endParaRPr lang="ar-SA" sz="2100" dirty="0"/>
          </a:p>
        </p:txBody>
      </p:sp>
      <p:sp>
        <p:nvSpPr>
          <p:cNvPr id="4" name="Text 2"/>
          <p:cNvSpPr/>
          <p:nvPr/>
        </p:nvSpPr>
        <p:spPr>
          <a:xfrm>
            <a:off x="822960"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2E9E6B"/>
                </a:solidFill>
                <a:latin typeface="Cairo Black" pitchFamily="34" charset="0"/>
                <a:ea typeface="Cairo Black" pitchFamily="34" charset="-122"/>
                <a:cs typeface="Cairo Black" pitchFamily="34" charset="-120"/>
              </a:rPr>
              <a:t>✅ البديل</a:t>
            </a:r>
            <a:endParaRPr lang="ar-SA" sz="2100" dirty="0"/>
          </a:p>
        </p:txBody>
      </p:sp>
      <p:sp>
        <p:nvSpPr>
          <p:cNvPr id="5" name="anim-g1-1145"/>
          <p:cNvSpPr/>
          <p:nvPr/>
        </p:nvSpPr>
        <p:spPr>
          <a:xfrm>
            <a:off x="6415888" y="2194560"/>
            <a:ext cx="4952848" cy="804672"/>
          </a:xfrm>
          <a:prstGeom prst="roundRect">
            <a:avLst>
              <a:gd name="adj" fmla="val 15909"/>
            </a:avLst>
          </a:prstGeom>
          <a:solidFill>
            <a:srgbClr val="FBECEC"/>
          </a:solidFill>
          <a:ln/>
        </p:spPr>
      </p:sp>
      <p:sp>
        <p:nvSpPr>
          <p:cNvPr id="6" name="anim-g1-1146"/>
          <p:cNvSpPr/>
          <p:nvPr/>
        </p:nvSpPr>
        <p:spPr>
          <a:xfrm>
            <a:off x="6644488"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تحولت الفكاهة إلى سخرية من زميل</a:t>
            </a:r>
            <a:endParaRPr lang="ar-SA" sz="2200" dirty="0"/>
          </a:p>
        </p:txBody>
      </p:sp>
      <p:sp>
        <p:nvSpPr>
          <p:cNvPr id="7" name="anim-g1-1147"/>
          <p:cNvSpPr/>
          <p:nvPr/>
        </p:nvSpPr>
        <p:spPr>
          <a:xfrm>
            <a:off x="822960" y="2194560"/>
            <a:ext cx="4952848" cy="804672"/>
          </a:xfrm>
          <a:prstGeom prst="roundRect">
            <a:avLst>
              <a:gd name="adj" fmla="val 15909"/>
            </a:avLst>
          </a:prstGeom>
          <a:solidFill>
            <a:srgbClr val="FFFFFF"/>
          </a:solidFill>
          <a:ln w="19050">
            <a:solidFill>
              <a:srgbClr val="BFD9CB"/>
            </a:solidFill>
            <a:prstDash val="dash"/>
          </a:ln>
        </p:spPr>
      </p:sp>
      <p:sp>
        <p:nvSpPr>
          <p:cNvPr id="8" name="anim-g1-1148"/>
          <p:cNvSpPr/>
          <p:nvPr/>
        </p:nvSpPr>
        <p:spPr>
          <a:xfrm>
            <a:off x="822960" y="219456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9" name="anim-g2-1149"/>
          <p:cNvSpPr/>
          <p:nvPr/>
        </p:nvSpPr>
        <p:spPr>
          <a:xfrm>
            <a:off x="5775808" y="219456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0" name="anim-g2-1150"/>
          <p:cNvSpPr/>
          <p:nvPr/>
        </p:nvSpPr>
        <p:spPr>
          <a:xfrm>
            <a:off x="822960" y="2194560"/>
            <a:ext cx="4952848" cy="804672"/>
          </a:xfrm>
          <a:prstGeom prst="roundRect">
            <a:avLst>
              <a:gd name="adj" fmla="val 15909"/>
            </a:avLst>
          </a:prstGeom>
          <a:solidFill>
            <a:srgbClr val="E6F4EC"/>
          </a:solidFill>
          <a:ln/>
        </p:spPr>
      </p:sp>
      <p:sp>
        <p:nvSpPr>
          <p:cNvPr id="11" name="anim-g2-1151"/>
          <p:cNvSpPr/>
          <p:nvPr/>
        </p:nvSpPr>
        <p:spPr>
          <a:xfrm>
            <a:off x="1051560"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أوقفها فورًا بحزم هادئ: «الطرفة التي تجرح زميلًا ليست طرفة»</a:t>
            </a:r>
            <a:endParaRPr lang="ar-SA" sz="2200" dirty="0"/>
          </a:p>
        </p:txBody>
      </p:sp>
      <p:sp>
        <p:nvSpPr>
          <p:cNvPr id="12" name="anim-g3-1152"/>
          <p:cNvSpPr/>
          <p:nvPr/>
        </p:nvSpPr>
        <p:spPr>
          <a:xfrm>
            <a:off x="6415888" y="3154680"/>
            <a:ext cx="4952848" cy="804672"/>
          </a:xfrm>
          <a:prstGeom prst="roundRect">
            <a:avLst>
              <a:gd name="adj" fmla="val 15909"/>
            </a:avLst>
          </a:prstGeom>
          <a:solidFill>
            <a:srgbClr val="FBECEC"/>
          </a:solidFill>
          <a:ln/>
        </p:spPr>
      </p:sp>
      <p:sp>
        <p:nvSpPr>
          <p:cNvPr id="13" name="anim-g3-1153"/>
          <p:cNvSpPr/>
          <p:nvPr/>
        </p:nvSpPr>
        <p:spPr>
          <a:xfrm>
            <a:off x="6644488"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رفض القادة الثلاثة الدور الجديد</a:t>
            </a:r>
            <a:endParaRPr lang="ar-SA" sz="2200" dirty="0"/>
          </a:p>
        </p:txBody>
      </p:sp>
      <p:sp>
        <p:nvSpPr>
          <p:cNvPr id="14" name="anim-g3-1154"/>
          <p:cNvSpPr/>
          <p:nvPr/>
        </p:nvSpPr>
        <p:spPr>
          <a:xfrm>
            <a:off x="822960" y="3154680"/>
            <a:ext cx="4952848" cy="804672"/>
          </a:xfrm>
          <a:prstGeom prst="roundRect">
            <a:avLst>
              <a:gd name="adj" fmla="val 15909"/>
            </a:avLst>
          </a:prstGeom>
          <a:solidFill>
            <a:srgbClr val="FFFFFF"/>
          </a:solidFill>
          <a:ln w="19050">
            <a:solidFill>
              <a:srgbClr val="BFD9CB"/>
            </a:solidFill>
            <a:prstDash val="dash"/>
          </a:ln>
        </p:spPr>
      </p:sp>
      <p:sp>
        <p:nvSpPr>
          <p:cNvPr id="15" name="anim-g3-1155"/>
          <p:cNvSpPr/>
          <p:nvPr/>
        </p:nvSpPr>
        <p:spPr>
          <a:xfrm>
            <a:off x="822960" y="315468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16" name="anim-g4-1156"/>
          <p:cNvSpPr/>
          <p:nvPr/>
        </p:nvSpPr>
        <p:spPr>
          <a:xfrm>
            <a:off x="5775808" y="315468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7" name="anim-g4-1157"/>
          <p:cNvSpPr/>
          <p:nvPr/>
        </p:nvSpPr>
        <p:spPr>
          <a:xfrm>
            <a:off x="822960" y="3154680"/>
            <a:ext cx="4952848" cy="804672"/>
          </a:xfrm>
          <a:prstGeom prst="roundRect">
            <a:avLst>
              <a:gd name="adj" fmla="val 15909"/>
            </a:avLst>
          </a:prstGeom>
          <a:solidFill>
            <a:srgbClr val="E6F4EC"/>
          </a:solidFill>
          <a:ln/>
        </p:spPr>
      </p:sp>
      <p:sp>
        <p:nvSpPr>
          <p:cNvPr id="18" name="anim-g4-1158"/>
          <p:cNvSpPr/>
          <p:nvPr/>
        </p:nvSpPr>
        <p:spPr>
          <a:xfrm>
            <a:off x="1051560"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أعطهم الخيار في شكل الدور، لا في وجود الدور</a:t>
            </a:r>
            <a:endParaRPr lang="ar-SA" sz="2200" dirty="0"/>
          </a:p>
        </p:txBody>
      </p:sp>
      <p:sp>
        <p:nvSpPr>
          <p:cNvPr id="19" name="anim-g5-1159"/>
          <p:cNvSpPr/>
          <p:nvPr/>
        </p:nvSpPr>
        <p:spPr>
          <a:xfrm>
            <a:off x="6415888" y="4114800"/>
            <a:ext cx="4952848" cy="804672"/>
          </a:xfrm>
          <a:prstGeom prst="roundRect">
            <a:avLst>
              <a:gd name="adj" fmla="val 15909"/>
            </a:avLst>
          </a:prstGeom>
          <a:solidFill>
            <a:srgbClr val="FBECEC"/>
          </a:solidFill>
          <a:ln/>
        </p:spPr>
      </p:sp>
      <p:sp>
        <p:nvSpPr>
          <p:cNvPr id="20" name="anim-g5-1160"/>
          <p:cNvSpPr/>
          <p:nvPr/>
        </p:nvSpPr>
        <p:spPr>
          <a:xfrm>
            <a:off x="6644488"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أصبح الفصل جادًا لكنه صامت</a:t>
            </a:r>
            <a:endParaRPr lang="ar-SA" sz="2200" dirty="0"/>
          </a:p>
        </p:txBody>
      </p:sp>
      <p:sp>
        <p:nvSpPr>
          <p:cNvPr id="21" name="anim-g5-1161"/>
          <p:cNvSpPr/>
          <p:nvPr/>
        </p:nvSpPr>
        <p:spPr>
          <a:xfrm>
            <a:off x="822960" y="4114800"/>
            <a:ext cx="4952848" cy="804672"/>
          </a:xfrm>
          <a:prstGeom prst="roundRect">
            <a:avLst>
              <a:gd name="adj" fmla="val 15909"/>
            </a:avLst>
          </a:prstGeom>
          <a:solidFill>
            <a:srgbClr val="FFFFFF"/>
          </a:solidFill>
          <a:ln w="19050">
            <a:solidFill>
              <a:srgbClr val="BFD9CB"/>
            </a:solidFill>
            <a:prstDash val="dash"/>
          </a:ln>
        </p:spPr>
      </p:sp>
      <p:sp>
        <p:nvSpPr>
          <p:cNvPr id="22" name="anim-g5-1162"/>
          <p:cNvSpPr/>
          <p:nvPr/>
        </p:nvSpPr>
        <p:spPr>
          <a:xfrm>
            <a:off x="822960" y="411480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23" name="anim-g6-1163"/>
          <p:cNvSpPr/>
          <p:nvPr/>
        </p:nvSpPr>
        <p:spPr>
          <a:xfrm>
            <a:off x="5775808" y="411480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24" name="anim-g6-1164"/>
          <p:cNvSpPr/>
          <p:nvPr/>
        </p:nvSpPr>
        <p:spPr>
          <a:xfrm>
            <a:off x="822960" y="4114800"/>
            <a:ext cx="4952848" cy="804672"/>
          </a:xfrm>
          <a:prstGeom prst="roundRect">
            <a:avLst>
              <a:gd name="adj" fmla="val 15909"/>
            </a:avLst>
          </a:prstGeom>
          <a:solidFill>
            <a:srgbClr val="E6F4EC"/>
          </a:solidFill>
          <a:ln/>
        </p:spPr>
      </p:sp>
      <p:sp>
        <p:nvSpPr>
          <p:cNvPr id="25" name="anim-g6-1165"/>
          <p:cNvSpPr/>
          <p:nvPr/>
        </p:nvSpPr>
        <p:spPr>
          <a:xfrm>
            <a:off x="1051560"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أعِد الفكاهة المرتبطة بالدرس: دقيقتان في آخر الحصة لطرفة علمية</a:t>
            </a:r>
            <a:endParaRPr lang="ar-SA" sz="2200" dirty="0"/>
          </a:p>
        </p:txBody>
      </p:sp>
      <p:sp>
        <p:nvSpPr>
          <p:cNvPr id="26" name="Text 24"/>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7" name="Text 25"/>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مهرّجو الفصل  ·  ١٠٧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0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400"/>
                                        <p:tgtEl>
                                          <p:spTgt spid="1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400"/>
                                        <p:tgtEl>
                                          <p:spTgt spid="2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400"/>
                                        <p:tgtEl>
                                          <p:spTgt spid="2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400"/>
                                        <p:tgtEl>
                                          <p:spTgt spid="2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name="Slide 10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125919" y="457200"/>
            <a:ext cx="4242816" cy="457200"/>
          </a:xfrm>
          <a:prstGeom prst="roundRect">
            <a:avLst>
              <a:gd name="adj" fmla="val 50000"/>
            </a:avLst>
          </a:prstGeom>
          <a:solidFill>
            <a:srgbClr val="F6EBCF"/>
          </a:solidFill>
          <a:ln/>
        </p:spPr>
      </p:sp>
      <p:sp>
        <p:nvSpPr>
          <p:cNvPr id="3" name="Text 1"/>
          <p:cNvSpPr/>
          <p:nvPr/>
        </p:nvSpPr>
        <p:spPr>
          <a:xfrm>
            <a:off x="7125919" y="457200"/>
            <a:ext cx="424281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من التهريج إلى المسؤولية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كيف يستثمر الموقف لتنمية المسؤولية؟</a:t>
            </a:r>
            <a:endParaRPr lang="ar-SA" sz="3200" dirty="0"/>
          </a:p>
        </p:txBody>
      </p:sp>
      <p:sp>
        <p:nvSpPr>
          <p:cNvPr id="5" name="anim-g1-1166"/>
          <p:cNvSpPr/>
          <p:nvPr/>
        </p:nvSpPr>
        <p:spPr>
          <a:xfrm>
            <a:off x="8036357"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1167"/>
          <p:cNvSpPr/>
          <p:nvPr/>
        </p:nvSpPr>
        <p:spPr>
          <a:xfrm>
            <a:off x="10362895" y="2404872"/>
            <a:ext cx="731520" cy="731520"/>
          </a:xfrm>
          <a:prstGeom prst="roundRect">
            <a:avLst>
              <a:gd name="adj" fmla="val 25000"/>
            </a:avLst>
          </a:prstGeom>
          <a:solidFill>
            <a:srgbClr val="F7E6BC"/>
          </a:solidFill>
          <a:ln/>
        </p:spPr>
      </p:sp>
      <p:sp>
        <p:nvSpPr>
          <p:cNvPr id="7" name="anim-g1-1168"/>
          <p:cNvSpPr/>
          <p:nvPr/>
        </p:nvSpPr>
        <p:spPr>
          <a:xfrm>
            <a:off x="10362895"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8" name="anim-g1-1169"/>
          <p:cNvSpPr/>
          <p:nvPr/>
        </p:nvSpPr>
        <p:spPr>
          <a:xfrm>
            <a:off x="8310677"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مسابقة يعدّونها</a:t>
            </a:r>
            <a:endParaRPr lang="ar-SA" sz="2300" dirty="0"/>
          </a:p>
        </p:txBody>
      </p:sp>
      <p:sp>
        <p:nvSpPr>
          <p:cNvPr id="9" name="anim-g1-1170"/>
          <p:cNvSpPr/>
          <p:nvPr/>
        </p:nvSpPr>
        <p:spPr>
          <a:xfrm>
            <a:off x="8310677"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الثلاثة يحضّرون مسابقة مراجعة للفصل</a:t>
            </a:r>
            <a:endParaRPr lang="ar-SA" sz="2100" dirty="0"/>
          </a:p>
        </p:txBody>
      </p:sp>
      <p:sp>
        <p:nvSpPr>
          <p:cNvPr id="10" name="anim-g2-1171"/>
          <p:cNvSpPr/>
          <p:nvPr/>
        </p:nvSpPr>
        <p:spPr>
          <a:xfrm>
            <a:off x="4429658"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1172"/>
          <p:cNvSpPr/>
          <p:nvPr/>
        </p:nvSpPr>
        <p:spPr>
          <a:xfrm>
            <a:off x="6756197" y="2404872"/>
            <a:ext cx="731520" cy="731520"/>
          </a:xfrm>
          <a:prstGeom prst="roundRect">
            <a:avLst>
              <a:gd name="adj" fmla="val 25000"/>
            </a:avLst>
          </a:prstGeom>
          <a:solidFill>
            <a:srgbClr val="F7E6BC"/>
          </a:solidFill>
          <a:ln/>
        </p:spPr>
      </p:sp>
      <p:sp>
        <p:nvSpPr>
          <p:cNvPr id="12" name="anim-g2-1173"/>
          <p:cNvSpPr/>
          <p:nvPr/>
        </p:nvSpPr>
        <p:spPr>
          <a:xfrm>
            <a:off x="6756197"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3" name="anim-g2-1174"/>
          <p:cNvSpPr/>
          <p:nvPr/>
        </p:nvSpPr>
        <p:spPr>
          <a:xfrm>
            <a:off x="4703978"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مدير الوقت</a:t>
            </a:r>
            <a:endParaRPr lang="ar-SA" sz="2300" dirty="0"/>
          </a:p>
        </p:txBody>
      </p:sp>
      <p:sp>
        <p:nvSpPr>
          <p:cNvPr id="14" name="anim-g2-1175"/>
          <p:cNvSpPr/>
          <p:nvPr/>
        </p:nvSpPr>
        <p:spPr>
          <a:xfrm>
            <a:off x="4703978"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أحدهم مسؤول عن التزام الفصل بوقت النشاط</a:t>
            </a:r>
            <a:endParaRPr lang="ar-SA" sz="2100" dirty="0"/>
          </a:p>
        </p:txBody>
      </p:sp>
      <p:sp>
        <p:nvSpPr>
          <p:cNvPr id="15" name="anim-g3-1176"/>
          <p:cNvSpPr/>
          <p:nvPr/>
        </p:nvSpPr>
        <p:spPr>
          <a:xfrm>
            <a:off x="822960"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1177"/>
          <p:cNvSpPr/>
          <p:nvPr/>
        </p:nvSpPr>
        <p:spPr>
          <a:xfrm>
            <a:off x="3149498" y="2404872"/>
            <a:ext cx="731520" cy="731520"/>
          </a:xfrm>
          <a:prstGeom prst="roundRect">
            <a:avLst>
              <a:gd name="adj" fmla="val 25000"/>
            </a:avLst>
          </a:prstGeom>
          <a:solidFill>
            <a:srgbClr val="F7E6BC"/>
          </a:solidFill>
          <a:ln/>
        </p:spPr>
      </p:sp>
      <p:sp>
        <p:nvSpPr>
          <p:cNvPr id="17" name="anim-g3-1178"/>
          <p:cNvSpPr/>
          <p:nvPr/>
        </p:nvSpPr>
        <p:spPr>
          <a:xfrm>
            <a:off x="3149498"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8" name="anim-g3-1179"/>
          <p:cNvSpPr/>
          <p:nvPr/>
        </p:nvSpPr>
        <p:spPr>
          <a:xfrm>
            <a:off x="1097280"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ميثاق الفكاهة</a:t>
            </a:r>
            <a:endParaRPr lang="ar-SA" sz="2300" dirty="0"/>
          </a:p>
        </p:txBody>
      </p:sp>
      <p:sp>
        <p:nvSpPr>
          <p:cNvPr id="19" name="anim-g3-1180"/>
          <p:cNvSpPr/>
          <p:nvPr/>
        </p:nvSpPr>
        <p:spPr>
          <a:xfrm>
            <a:off x="1097280"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يكتب الفصل متى تكون الطرفة مقبولة ومتى لا</a:t>
            </a:r>
            <a:endParaRPr lang="ar-SA" sz="21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مهرّجو الفصل  ·  ١٠٨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09.xml><?xml version="1.0" encoding="utf-8"?>
<p:sld xmlns:a="http://schemas.openxmlformats.org/drawingml/2006/main" xmlns:r="http://schemas.openxmlformats.org/officeDocument/2006/relationships" xmlns:p="http://schemas.openxmlformats.org/presentationml/2006/main">
  <p:cSld name="Slide 10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الموقف</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لا تطفئ روح الفصل…</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وجّهها</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موقف: مهرّجو الفصل  ·  ١٠٩</a:t>
            </a:r>
            <a:endParaRPr lang="ar-SA" sz="12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kb-1181" descr="/Users/mac/Desktop/أردوينو/المشاريع والكتب/younes-training/mawaqif/assets/scenes/sandwich.jpg">    </p:cNvPr>
          <p:cNvPicPr>
            <a:picLocks noChangeAspect="1"/>
          </p:cNvPicPr>
          <p:nvPr/>
        </p:nvPicPr>
        <p:blipFill>
          <a:blip r:embed="rId2"/>
          <a:stretch>
            <a:fillRect/>
          </a:stretch>
        </p:blipFill>
        <p:spPr>
          <a:xfrm>
            <a:off x="0" y="0"/>
            <a:ext cx="12191695" cy="6858000"/>
          </a:xfrm>
          <a:prstGeom prst="rect">
            <a:avLst/>
          </a:prstGeom>
        </p:spPr>
      </p:pic>
      <p:pic>
        <p:nvPicPr>
          <p:cNvPr id="3" name="Image 1" descr="/Users/mac/Desktop/أردوينو/المشاريع والكتب/younes-training/shared/assets/mcover-overlay.png">    </p:cNvPr>
          <p:cNvPicPr>
            <a:picLocks noChangeAspect="1"/>
          </p:cNvPicPr>
          <p:nvPr/>
        </p:nvPicPr>
        <p:blipFill>
          <a:blip r:embed="rId3"/>
          <a:stretch>
            <a:fillRect/>
          </a:stretch>
        </p:blipFill>
        <p:spPr>
          <a:xfrm>
            <a:off x="0" y="0"/>
            <a:ext cx="12191695" cy="6858000"/>
          </a:xfrm>
          <a:prstGeom prst="rect">
            <a:avLst/>
          </a:prstGeom>
        </p:spPr>
      </p:pic>
      <p:sp>
        <p:nvSpPr>
          <p:cNvPr id="4" name="Text 0"/>
          <p:cNvSpPr/>
          <p:nvPr/>
        </p:nvSpPr>
        <p:spPr>
          <a:xfrm>
            <a:off x="5669280" y="1737360"/>
            <a:ext cx="5699455" cy="502920"/>
          </a:xfrm>
          <a:prstGeom prst="rect">
            <a:avLst/>
          </a:prstGeom>
          <a:noFill/>
          <a:ln/>
        </p:spPr>
        <p:txBody>
          <a:bodyPr wrap="square" lIns="0" tIns="0" rIns="0" bIns="0" rtlCol="0" anchor="ctr">
            <a:normAutofit/>
          </a:bodyPr>
          <a:lstStyle/>
          <a:p>
            <a:pPr rtl="1" algn="r" indent="0" marL="0">
              <a:buNone/>
            </a:pPr>
            <a:r>
              <a:rPr lang="ar-SA" altLang="en-US" sz="2200" b="1" dirty="0">
                <a:solidFill>
                  <a:srgbClr val="D9AE4B"/>
                </a:solidFill>
                <a:latin typeface="Cairo" pitchFamily="34" charset="0"/>
                <a:ea typeface="Cairo" pitchFamily="34" charset="-122"/>
                <a:cs typeface="Cairo" pitchFamily="34" charset="-120"/>
              </a:rPr>
              <a:t>القواعد والإجراءات</a:t>
            </a:r>
            <a:endParaRPr lang="ar-SA" sz="2200" dirty="0"/>
          </a:p>
        </p:txBody>
      </p:sp>
      <p:sp>
        <p:nvSpPr>
          <p:cNvPr id="5" name="Text 1"/>
          <p:cNvSpPr/>
          <p:nvPr/>
        </p:nvSpPr>
        <p:spPr>
          <a:xfrm>
            <a:off x="5669280" y="2286000"/>
            <a:ext cx="5699455" cy="548640"/>
          </a:xfrm>
          <a:prstGeom prst="rect">
            <a:avLst/>
          </a:prstGeom>
          <a:noFill/>
          <a:ln/>
        </p:spPr>
        <p:txBody>
          <a:bodyPr wrap="square" lIns="0" tIns="0" rIns="0" bIns="0" rtlCol="0" anchor="ctr">
            <a:normAutofit/>
          </a:bodyPr>
          <a:lstStyle/>
          <a:p>
            <a:pPr rtl="1" algn="r" indent="0" marL="0">
              <a:buNone/>
            </a:pPr>
            <a:r>
              <a:rPr lang="ar-SA" altLang="en-US" sz="2600" b="1" dirty="0">
                <a:solidFill>
                  <a:srgbClr val="C9CFE6"/>
                </a:solidFill>
                <a:latin typeface="Cairo" pitchFamily="34" charset="0"/>
                <a:ea typeface="Cairo" pitchFamily="34" charset="-122"/>
                <a:cs typeface="Cairo" pitchFamily="34" charset="-120"/>
              </a:rPr>
              <a:t>الموقف ٧</a:t>
            </a:r>
            <a:endParaRPr lang="ar-SA" sz="2600" dirty="0"/>
          </a:p>
        </p:txBody>
      </p:sp>
      <p:sp>
        <p:nvSpPr>
          <p:cNvPr id="6" name="Text 2"/>
          <p:cNvSpPr/>
          <p:nvPr/>
        </p:nvSpPr>
        <p:spPr>
          <a:xfrm>
            <a:off x="4572000" y="2834640"/>
            <a:ext cx="6796735" cy="1188720"/>
          </a:xfrm>
          <a:prstGeom prst="rect">
            <a:avLst/>
          </a:prstGeom>
          <a:noFill/>
          <a:ln/>
        </p:spPr>
        <p:txBody>
          <a:bodyPr wrap="square" lIns="0" tIns="0" rIns="0" bIns="0" rtlCol="0" anchor="ctr">
            <a:normAutofit/>
          </a:bodyPr>
          <a:lstStyle/>
          <a:p>
            <a:pPr rtl="1" algn="r" indent="0" marL="0">
              <a:buNone/>
            </a:pPr>
            <a:r>
              <a:rPr lang="ar-SA" altLang="en-US" sz="5000" dirty="0">
                <a:solidFill>
                  <a:srgbClr val="FFFFFF"/>
                </a:solidFill>
                <a:latin typeface="Cairo Black" pitchFamily="34" charset="0"/>
                <a:ea typeface="Cairo Black" pitchFamily="34" charset="-122"/>
                <a:cs typeface="Cairo Black" pitchFamily="34" charset="-120"/>
              </a:rPr>
              <a:t>الساندويتش ينادي سالم</a:t>
            </a:r>
            <a:endParaRPr lang="ar-SA" sz="5000" dirty="0"/>
          </a:p>
        </p:txBody>
      </p:sp>
      <p:sp>
        <p:nvSpPr>
          <p:cNvPr id="7" name="Shape 3"/>
          <p:cNvSpPr/>
          <p:nvPr/>
        </p:nvSpPr>
        <p:spPr>
          <a:xfrm>
            <a:off x="10125151" y="4480560"/>
            <a:ext cx="1243584"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8" name="Text 4"/>
          <p:cNvSpPr/>
          <p:nvPr/>
        </p:nvSpPr>
        <p:spPr>
          <a:xfrm>
            <a:off x="10125151" y="4480560"/>
            <a:ext cx="1243584"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القصة</a:t>
            </a:r>
            <a:endParaRPr lang="ar-SA" sz="1500" dirty="0"/>
          </a:p>
        </p:txBody>
      </p:sp>
      <p:sp>
        <p:nvSpPr>
          <p:cNvPr id="9" name="Shape 5"/>
          <p:cNvSpPr/>
          <p:nvPr/>
        </p:nvSpPr>
        <p:spPr>
          <a:xfrm>
            <a:off x="8680399" y="4480560"/>
            <a:ext cx="1353312"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0" name="Text 6"/>
          <p:cNvSpPr/>
          <p:nvPr/>
        </p:nvSpPr>
        <p:spPr>
          <a:xfrm>
            <a:off x="8680399" y="4480560"/>
            <a:ext cx="1353312"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تصويت</a:t>
            </a:r>
            <a:endParaRPr lang="ar-SA" sz="1500" dirty="0"/>
          </a:p>
        </p:txBody>
      </p:sp>
      <p:sp>
        <p:nvSpPr>
          <p:cNvPr id="11" name="Shape 7"/>
          <p:cNvSpPr/>
          <p:nvPr/>
        </p:nvSpPr>
        <p:spPr>
          <a:xfrm>
            <a:off x="7235647" y="4480560"/>
            <a:ext cx="1353312"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2" name="Text 8"/>
          <p:cNvSpPr/>
          <p:nvPr/>
        </p:nvSpPr>
        <p:spPr>
          <a:xfrm>
            <a:off x="7235647" y="4480560"/>
            <a:ext cx="1353312"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لماذا؟</a:t>
            </a:r>
            <a:endParaRPr lang="ar-SA" sz="1500" dirty="0"/>
          </a:p>
        </p:txBody>
      </p:sp>
      <p:sp>
        <p:nvSpPr>
          <p:cNvPr id="13" name="Shape 9"/>
          <p:cNvSpPr/>
          <p:nvPr/>
        </p:nvSpPr>
        <p:spPr>
          <a:xfrm>
            <a:off x="5571439" y="4480560"/>
            <a:ext cx="1572768"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4" name="Text 10"/>
          <p:cNvSpPr/>
          <p:nvPr/>
        </p:nvSpPr>
        <p:spPr>
          <a:xfrm>
            <a:off x="5571439" y="4480560"/>
            <a:ext cx="1572768"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أول خطوة</a:t>
            </a:r>
            <a:endParaRPr lang="ar-SA" sz="1500" dirty="0"/>
          </a:p>
        </p:txBody>
      </p:sp>
      <p:sp>
        <p:nvSpPr>
          <p:cNvPr id="15" name="Shape 11"/>
          <p:cNvSpPr/>
          <p:nvPr/>
        </p:nvSpPr>
        <p:spPr>
          <a:xfrm>
            <a:off x="3687775" y="4480560"/>
            <a:ext cx="1792224"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6" name="Text 12"/>
          <p:cNvSpPr/>
          <p:nvPr/>
        </p:nvSpPr>
        <p:spPr>
          <a:xfrm>
            <a:off x="3687775" y="4480560"/>
            <a:ext cx="1792224"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ماذا تقول؟</a:t>
            </a:r>
            <a:endParaRPr lang="ar-SA" sz="1500" dirty="0"/>
          </a:p>
        </p:txBody>
      </p:sp>
      <p:sp>
        <p:nvSpPr>
          <p:cNvPr id="17" name="Text 1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18" name="Text 1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موقف: الساندويتش ينادي سالم  ·  ١١٠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16000" fill="hold"/>
                                        <p:tgtEl>
                                          <p:spTgt spid="2"/>
                                        </p:tgtEl>
                                      </p:cBhvr>
                                      <p:by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name="Slide 1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kb-1182" descr="/Users/mac/Desktop/أردوينو/المشاريع والكتب/younes-training/mawaqif/assets/scenes/sandwich.jpg">    </p:cNvPr>
          <p:cNvPicPr>
            <a:picLocks noChangeAspect="1"/>
          </p:cNvPicPr>
          <p:nvPr/>
        </p:nvPicPr>
        <p:blipFill>
          <a:blip r:embed="rId2"/>
          <a:stretch>
            <a:fillRect/>
          </a:stretch>
        </p:blipFill>
        <p:spPr>
          <a:xfrm>
            <a:off x="0" y="0"/>
            <a:ext cx="12191695" cy="6858000"/>
          </a:xfrm>
          <a:prstGeom prst="rect">
            <a:avLst/>
          </a:prstGeom>
        </p:spPr>
      </p:pic>
      <p:pic>
        <p:nvPicPr>
          <p:cNvPr id="3" name="Image 1" descr="/Users/mac/Desktop/أردوينو/المشاريع والكتب/younes-training/shared/assets/story-overlay.png">    </p:cNvPr>
          <p:cNvPicPr>
            <a:picLocks noChangeAspect="1"/>
          </p:cNvPicPr>
          <p:nvPr/>
        </p:nvPicPr>
        <p:blipFill>
          <a:blip r:embed="rId3"/>
          <a:stretch>
            <a:fillRect/>
          </a:stretch>
        </p:blipFill>
        <p:spPr>
          <a:xfrm>
            <a:off x="0" y="0"/>
            <a:ext cx="12191695" cy="6858000"/>
          </a:xfrm>
          <a:prstGeom prst="rect">
            <a:avLst/>
          </a:prstGeom>
        </p:spPr>
      </p:pic>
      <p:sp>
        <p:nvSpPr>
          <p:cNvPr id="4" name="Shape 0"/>
          <p:cNvSpPr/>
          <p:nvPr/>
        </p:nvSpPr>
        <p:spPr>
          <a:xfrm>
            <a:off x="7985455" y="365760"/>
            <a:ext cx="3657600" cy="502920"/>
          </a:xfrm>
          <a:prstGeom prst="roundRect">
            <a:avLst>
              <a:gd name="adj" fmla="val 49091"/>
            </a:avLst>
          </a:prstGeom>
          <a:solidFill>
            <a:srgbClr val="0A1230">
              <a:alpha val="80000"/>
            </a:srgbClr>
          </a:solidFill>
          <a:ln w="12700">
            <a:solidFill>
              <a:srgbClr val="D9AE4B">
                <a:alpha val="60000"/>
              </a:srgbClr>
            </a:solidFill>
            <a:prstDash val="solid"/>
          </a:ln>
        </p:spPr>
      </p:sp>
      <p:sp>
        <p:nvSpPr>
          <p:cNvPr id="5" name="Text 1"/>
          <p:cNvSpPr/>
          <p:nvPr/>
        </p:nvSpPr>
        <p:spPr>
          <a:xfrm>
            <a:off x="7985455" y="365760"/>
            <a:ext cx="3657600" cy="50292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 القصة · ماذا حدث؟</a:t>
            </a:r>
            <a:endParaRPr lang="ar-SA" sz="1800" dirty="0"/>
          </a:p>
        </p:txBody>
      </p:sp>
      <p:sp>
        <p:nvSpPr>
          <p:cNvPr id="6" name="Shape 2"/>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7" name="Text 3"/>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يعرف سالم (الخامس الابتدائي) أن الأكل ممنوع أثناء الحصة، لكن كلما أدار أ. سند ظهره أخرج الساندويتش من الدرج وقضم قطعة.</a:t>
            </a:r>
            <a:endParaRPr lang="ar-SA" sz="2400" dirty="0"/>
          </a:p>
        </p:txBody>
      </p:sp>
      <p:sp>
        <p:nvSpPr>
          <p:cNvPr id="8" name="anim-g1-1183"/>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9" name="anim-g1-1184"/>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أكل نصفه تقريبًا قبل أن ينتبه أ. سند: «سالم! لا أكل في الحصة، اتركه للفسحة». «آسف يا أستاذ».</a:t>
            </a:r>
            <a:endParaRPr lang="ar-SA" sz="2400" dirty="0"/>
          </a:p>
        </p:txBody>
      </p:sp>
      <p:sp>
        <p:nvSpPr>
          <p:cNvPr id="10" name="anim-g2-1185"/>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11" name="anim-g2-1186"/>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بعد دقائق عاد سالم للعبة نفسها، فأمسكه أ. سند ثانية، وعلا صوته: «ألم أقل لك؟ عيب!»</a:t>
            </a:r>
            <a:endParaRPr lang="ar-SA" sz="2400" dirty="0"/>
          </a:p>
        </p:txBody>
      </p:sp>
      <p:sp>
        <p:nvSpPr>
          <p:cNvPr id="12" name="anim-g3-1187"/>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13" name="anim-g3-1188"/>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600" b="1" dirty="0">
                <a:solidFill>
                  <a:srgbClr val="F0CC7A"/>
                </a:solidFill>
                <a:latin typeface="Cairo" pitchFamily="34" charset="0"/>
                <a:ea typeface="Cairo" pitchFamily="34" charset="-122"/>
                <a:cs typeface="Cairo" pitchFamily="34" charset="-120"/>
              </a:rPr>
              <a:t>وعاد سالم… للمرة الثالثة.</a:t>
            </a:r>
            <a:endParaRPr lang="ar-SA" sz="2600" dirty="0"/>
          </a:p>
        </p:txBody>
      </p:sp>
      <p:sp>
        <p:nvSpPr>
          <p:cNvPr id="14" name="Text 1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15" name="Text 1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موقف: الساندويتش ينادي سالم  ·  ١١١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16000" fill="hold"/>
                                        <p:tgtEl>
                                          <p:spTgt spid="2"/>
                                        </p:tgtEl>
                                      </p:cBhvr>
                                      <p:by x="112000" y="112000"/>
                                    </p:animScale>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Lst>
  </p:timing>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pic>
        <p:nvPicPr>
          <p:cNvPr id="2" name="Image 0" descr="/Users/mac/Desktop/أردوينو/المشاريع والكتب/younes-training/mawaqif/.pptx-cache/s1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711135" y="457200"/>
            <a:ext cx="3657600" cy="457200"/>
          </a:xfrm>
          <a:prstGeom prst="roundRect">
            <a:avLst>
              <a:gd name="adj" fmla="val 50000"/>
            </a:avLst>
          </a:prstGeom>
          <a:solidFill>
            <a:srgbClr val="F6EBCF"/>
          </a:solidFill>
          <a:ln/>
        </p:spPr>
      </p:sp>
      <p:sp>
        <p:nvSpPr>
          <p:cNvPr id="3" name="Text 1"/>
          <p:cNvSpPr/>
          <p:nvPr/>
        </p:nvSpPr>
        <p:spPr>
          <a:xfrm>
            <a:off x="7711135" y="457200"/>
            <a:ext cx="365760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وراء كل سلوك حاجة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لماذا يكرر سالم؟</a:t>
            </a:r>
            <a:endParaRPr lang="ar-SA" sz="3800" dirty="0"/>
          </a:p>
        </p:txBody>
      </p:sp>
      <p:sp>
        <p:nvSpPr>
          <p:cNvPr id="5" name="anim-g1-1189"/>
          <p:cNvSpPr/>
          <p:nvPr/>
        </p:nvSpPr>
        <p:spPr>
          <a:xfrm>
            <a:off x="8903741" y="2011680"/>
            <a:ext cx="2464994" cy="2514600"/>
          </a:xfrm>
          <a:prstGeom prst="roundRect">
            <a:avLst>
              <a:gd name="adj" fmla="val 6677"/>
            </a:avLst>
          </a:prstGeom>
          <a:solidFill>
            <a:srgbClr val="FFFFFF"/>
          </a:solidFill>
          <a:ln w="12700">
            <a:solidFill>
              <a:srgbClr val="E4DCC8"/>
            </a:solidFill>
            <a:prstDash val="solid"/>
          </a:ln>
        </p:spPr>
      </p:sp>
      <p:sp>
        <p:nvSpPr>
          <p:cNvPr id="6" name="anim-g1-1190"/>
          <p:cNvSpPr/>
          <p:nvPr/>
        </p:nvSpPr>
        <p:spPr>
          <a:xfrm>
            <a:off x="9816198" y="2194560"/>
            <a:ext cx="640080" cy="640080"/>
          </a:xfrm>
          <a:prstGeom prst="roundRect">
            <a:avLst>
              <a:gd name="adj" fmla="val 25714"/>
            </a:avLst>
          </a:prstGeom>
          <a:solidFill>
            <a:srgbClr val="F7E6BC"/>
          </a:solidFill>
          <a:ln/>
        </p:spPr>
      </p:sp>
      <p:sp>
        <p:nvSpPr>
          <p:cNvPr id="7" name="anim-g1-1191"/>
          <p:cNvSpPr/>
          <p:nvPr/>
        </p:nvSpPr>
        <p:spPr>
          <a:xfrm>
            <a:off x="9816198"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8" name="anim-g1-1192"/>
          <p:cNvSpPr/>
          <p:nvPr/>
        </p:nvSpPr>
        <p:spPr>
          <a:xfrm>
            <a:off x="9040901"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جوع حقيقي</a:t>
            </a:r>
            <a:endParaRPr lang="ar-SA" sz="2200" dirty="0"/>
          </a:p>
        </p:txBody>
      </p:sp>
      <p:sp>
        <p:nvSpPr>
          <p:cNvPr id="9" name="anim-g1-1193"/>
          <p:cNvSpPr/>
          <p:nvPr/>
        </p:nvSpPr>
        <p:spPr>
          <a:xfrm>
            <a:off x="9040901"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ربما لم يفطر في البيت</a:t>
            </a:r>
            <a:endParaRPr lang="ar-SA" sz="1900" dirty="0"/>
          </a:p>
        </p:txBody>
      </p:sp>
      <p:sp>
        <p:nvSpPr>
          <p:cNvPr id="10" name="anim-g2-1194"/>
          <p:cNvSpPr/>
          <p:nvPr/>
        </p:nvSpPr>
        <p:spPr>
          <a:xfrm>
            <a:off x="6210148" y="2011680"/>
            <a:ext cx="2464994" cy="2514600"/>
          </a:xfrm>
          <a:prstGeom prst="roundRect">
            <a:avLst>
              <a:gd name="adj" fmla="val 6677"/>
            </a:avLst>
          </a:prstGeom>
          <a:solidFill>
            <a:srgbClr val="FFFFFF"/>
          </a:solidFill>
          <a:ln w="12700">
            <a:solidFill>
              <a:srgbClr val="E4DCC8"/>
            </a:solidFill>
            <a:prstDash val="solid"/>
          </a:ln>
        </p:spPr>
      </p:sp>
      <p:sp>
        <p:nvSpPr>
          <p:cNvPr id="11" name="anim-g2-1195"/>
          <p:cNvSpPr/>
          <p:nvPr/>
        </p:nvSpPr>
        <p:spPr>
          <a:xfrm>
            <a:off x="7122604" y="2194560"/>
            <a:ext cx="640080" cy="640080"/>
          </a:xfrm>
          <a:prstGeom prst="roundRect">
            <a:avLst>
              <a:gd name="adj" fmla="val 25714"/>
            </a:avLst>
          </a:prstGeom>
          <a:solidFill>
            <a:srgbClr val="F7E6BC"/>
          </a:solidFill>
          <a:ln/>
        </p:spPr>
      </p:sp>
      <p:sp>
        <p:nvSpPr>
          <p:cNvPr id="12" name="anim-g2-1196"/>
          <p:cNvSpPr/>
          <p:nvPr/>
        </p:nvSpPr>
        <p:spPr>
          <a:xfrm>
            <a:off x="7122604"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13" name="anim-g2-1197"/>
          <p:cNvSpPr/>
          <p:nvPr/>
        </p:nvSpPr>
        <p:spPr>
          <a:xfrm>
            <a:off x="6347308"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التوقيت</a:t>
            </a:r>
            <a:endParaRPr lang="ar-SA" sz="2200" dirty="0"/>
          </a:p>
        </p:txBody>
      </p:sp>
      <p:sp>
        <p:nvSpPr>
          <p:cNvPr id="14" name="anim-g2-1198"/>
          <p:cNvSpPr/>
          <p:nvPr/>
        </p:nvSpPr>
        <p:spPr>
          <a:xfrm>
            <a:off x="6347308"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الحصة قبل الفسحة مباشرة</a:t>
            </a:r>
            <a:endParaRPr lang="ar-SA" sz="1900" dirty="0"/>
          </a:p>
        </p:txBody>
      </p:sp>
      <p:sp>
        <p:nvSpPr>
          <p:cNvPr id="15" name="anim-g3-1199"/>
          <p:cNvSpPr/>
          <p:nvPr/>
        </p:nvSpPr>
        <p:spPr>
          <a:xfrm>
            <a:off x="3516554" y="2011680"/>
            <a:ext cx="2464994" cy="2514600"/>
          </a:xfrm>
          <a:prstGeom prst="roundRect">
            <a:avLst>
              <a:gd name="adj" fmla="val 6677"/>
            </a:avLst>
          </a:prstGeom>
          <a:solidFill>
            <a:srgbClr val="FFFFFF"/>
          </a:solidFill>
          <a:ln w="12700">
            <a:solidFill>
              <a:srgbClr val="E4DCC8"/>
            </a:solidFill>
            <a:prstDash val="solid"/>
          </a:ln>
        </p:spPr>
      </p:sp>
      <p:sp>
        <p:nvSpPr>
          <p:cNvPr id="16" name="anim-g3-1200"/>
          <p:cNvSpPr/>
          <p:nvPr/>
        </p:nvSpPr>
        <p:spPr>
          <a:xfrm>
            <a:off x="4429011" y="2194560"/>
            <a:ext cx="640080" cy="640080"/>
          </a:xfrm>
          <a:prstGeom prst="roundRect">
            <a:avLst>
              <a:gd name="adj" fmla="val 25714"/>
            </a:avLst>
          </a:prstGeom>
          <a:solidFill>
            <a:srgbClr val="F7E6BC"/>
          </a:solidFill>
          <a:ln/>
        </p:spPr>
      </p:sp>
      <p:sp>
        <p:nvSpPr>
          <p:cNvPr id="17" name="anim-g3-1201"/>
          <p:cNvSpPr/>
          <p:nvPr/>
        </p:nvSpPr>
        <p:spPr>
          <a:xfrm>
            <a:off x="4429011"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18" name="anim-g3-1202"/>
          <p:cNvSpPr/>
          <p:nvPr/>
        </p:nvSpPr>
        <p:spPr>
          <a:xfrm>
            <a:off x="3653714"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عادة</a:t>
            </a:r>
            <a:endParaRPr lang="ar-SA" sz="2200" dirty="0"/>
          </a:p>
        </p:txBody>
      </p:sp>
      <p:sp>
        <p:nvSpPr>
          <p:cNvPr id="19" name="anim-g3-1203"/>
          <p:cNvSpPr/>
          <p:nvPr/>
        </p:nvSpPr>
        <p:spPr>
          <a:xfrm>
            <a:off x="3653714"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الأكل أثناء الانشغال عادة منزلية</a:t>
            </a:r>
            <a:endParaRPr lang="ar-SA" sz="1900" dirty="0"/>
          </a:p>
        </p:txBody>
      </p:sp>
      <p:sp>
        <p:nvSpPr>
          <p:cNvPr id="20" name="anim-g4-1204"/>
          <p:cNvSpPr/>
          <p:nvPr/>
        </p:nvSpPr>
        <p:spPr>
          <a:xfrm>
            <a:off x="822960" y="2011680"/>
            <a:ext cx="2464994" cy="2514600"/>
          </a:xfrm>
          <a:prstGeom prst="roundRect">
            <a:avLst>
              <a:gd name="adj" fmla="val 6677"/>
            </a:avLst>
          </a:prstGeom>
          <a:solidFill>
            <a:srgbClr val="FFFFFF"/>
          </a:solidFill>
          <a:ln w="12700">
            <a:solidFill>
              <a:srgbClr val="E4DCC8"/>
            </a:solidFill>
            <a:prstDash val="solid"/>
          </a:ln>
        </p:spPr>
      </p:sp>
      <p:sp>
        <p:nvSpPr>
          <p:cNvPr id="21" name="anim-g4-1205"/>
          <p:cNvSpPr/>
          <p:nvPr/>
        </p:nvSpPr>
        <p:spPr>
          <a:xfrm>
            <a:off x="1735417" y="2194560"/>
            <a:ext cx="640080" cy="640080"/>
          </a:xfrm>
          <a:prstGeom prst="roundRect">
            <a:avLst>
              <a:gd name="adj" fmla="val 25714"/>
            </a:avLst>
          </a:prstGeom>
          <a:solidFill>
            <a:srgbClr val="F7E6BC"/>
          </a:solidFill>
          <a:ln/>
        </p:spPr>
      </p:sp>
      <p:sp>
        <p:nvSpPr>
          <p:cNvPr id="22" name="anim-g4-1206"/>
          <p:cNvSpPr/>
          <p:nvPr/>
        </p:nvSpPr>
        <p:spPr>
          <a:xfrm>
            <a:off x="1735417"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23" name="anim-g4-1207"/>
          <p:cNvSpPr/>
          <p:nvPr/>
        </p:nvSpPr>
        <p:spPr>
          <a:xfrm>
            <a:off x="960120"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لعبة</a:t>
            </a:r>
            <a:endParaRPr lang="ar-SA" sz="2200" dirty="0"/>
          </a:p>
        </p:txBody>
      </p:sp>
      <p:sp>
        <p:nvSpPr>
          <p:cNvPr id="24" name="anim-g4-1208"/>
          <p:cNvSpPr/>
          <p:nvPr/>
        </p:nvSpPr>
        <p:spPr>
          <a:xfrm>
            <a:off x="960120"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التحدي الصغير ممتع حين يدير المعلم ظهره</a:t>
            </a:r>
            <a:endParaRPr lang="ar-SA" sz="1900" dirty="0"/>
          </a:p>
        </p:txBody>
      </p:sp>
      <p:sp>
        <p:nvSpPr>
          <p:cNvPr id="25" name="anim-g5-1209"/>
          <p:cNvSpPr/>
          <p:nvPr/>
        </p:nvSpPr>
        <p:spPr>
          <a:xfrm>
            <a:off x="822960" y="4754880"/>
            <a:ext cx="10545775" cy="1051560"/>
          </a:xfrm>
          <a:prstGeom prst="roundRect">
            <a:avLst>
              <a:gd name="adj" fmla="val 17391"/>
            </a:avLst>
          </a:prstGeom>
          <a:solidFill>
            <a:srgbClr val="101B45"/>
          </a:solidFill>
          <a:ln/>
        </p:spPr>
      </p:sp>
      <p:sp>
        <p:nvSpPr>
          <p:cNvPr id="26" name="anim-g5-1210"/>
          <p:cNvSpPr/>
          <p:nvPr/>
        </p:nvSpPr>
        <p:spPr>
          <a:xfrm>
            <a:off x="1097280" y="4754880"/>
            <a:ext cx="9997135" cy="1051560"/>
          </a:xfrm>
          <a:prstGeom prst="rect">
            <a:avLst/>
          </a:prstGeom>
          <a:noFill/>
          <a:ln/>
        </p:spPr>
        <p:txBody>
          <a:bodyPr wrap="square" lIns="0" tIns="0" rIns="0" bIns="0" rtlCol="0" anchor="ctr">
            <a:normAutofit/>
          </a:bodyPr>
          <a:lstStyle/>
          <a:p>
            <a:pPr algn="ctr" indent="0" marL="0">
              <a:buNone/>
            </a:pPr>
            <a:r>
              <a:rPr lang="ar-SA" altLang="en-US" sz="2200" b="1" dirty="0">
                <a:solidFill>
                  <a:srgbClr val="FFFFFF"/>
                </a:solidFill>
                <a:latin typeface="Cairo" pitchFamily="34" charset="0"/>
                <a:ea typeface="Cairo" pitchFamily="34" charset="-122"/>
                <a:cs typeface="Cairo" pitchFamily="34" charset="-120"/>
              </a:rPr>
              <a:t>💡 حين يتكرر السلوك رغم معرفة القاعدة…</a:t>
            </a:r>
            <a:endParaRPr lang="ar-SA" sz="2200" dirty="0"/>
          </a:p>
          <a:p>
            <a:pPr algn="ctr" indent="0" marL="0">
              <a:buNone/>
            </a:pPr>
            <a:r>
              <a:rPr lang="ar-SA" altLang="en-US" sz="2200" b="1" dirty="0">
                <a:solidFill>
                  <a:srgbClr val="F0CC7A"/>
                </a:solidFill>
                <a:latin typeface="Cairo" pitchFamily="34" charset="0"/>
                <a:ea typeface="Cairo" pitchFamily="34" charset="-122"/>
                <a:cs typeface="Cairo" pitchFamily="34" charset="-120"/>
              </a:rPr>
              <a:t> ابحث عن الحاجة</a:t>
            </a:r>
            <a:endParaRPr lang="ar-SA" sz="2200" dirty="0"/>
          </a:p>
        </p:txBody>
      </p:sp>
      <p:sp>
        <p:nvSpPr>
          <p:cNvPr id="27" name="Text 2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8" name="Text 2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الساندويتش ينادي سالم  ·  ١١٣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40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114.xml><?xml version="1.0" encoding="utf-8"?>
<p:sld xmlns:a="http://schemas.openxmlformats.org/drawingml/2006/main" xmlns:r="http://schemas.openxmlformats.org/officeDocument/2006/relationships" xmlns:p="http://schemas.openxmlformats.org/presentationml/2006/main">
  <p:cSld name="Slide 1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57439" y="457200"/>
            <a:ext cx="3511296" cy="457200"/>
          </a:xfrm>
          <a:prstGeom prst="roundRect">
            <a:avLst>
              <a:gd name="adj" fmla="val 50000"/>
            </a:avLst>
          </a:prstGeom>
          <a:solidFill>
            <a:srgbClr val="F6EBCF"/>
          </a:solidFill>
          <a:ln/>
        </p:spPr>
      </p:sp>
      <p:sp>
        <p:nvSpPr>
          <p:cNvPr id="3" name="Text 1"/>
          <p:cNvSpPr/>
          <p:nvPr/>
        </p:nvSpPr>
        <p:spPr>
          <a:xfrm>
            <a:off x="7857439" y="457200"/>
            <a:ext cx="351129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ماذا تفعل فورًا؟</a:t>
            </a:r>
            <a:endParaRPr lang="ar-SA" sz="1800" dirty="0"/>
          </a:p>
        </p:txBody>
      </p:sp>
      <p:sp>
        <p:nvSpPr>
          <p:cNvPr id="4" name="Shape 2"/>
          <p:cNvSpPr/>
          <p:nvPr/>
        </p:nvSpPr>
        <p:spPr>
          <a:xfrm>
            <a:off x="822960" y="457200"/>
            <a:ext cx="1737360" cy="457200"/>
          </a:xfrm>
          <a:prstGeom prst="roundRect">
            <a:avLst>
              <a:gd name="adj" fmla="val 50000"/>
            </a:avLst>
          </a:prstGeom>
          <a:solidFill>
            <a:srgbClr val="FBECEC"/>
          </a:solidFill>
          <a:ln/>
        </p:spPr>
      </p:sp>
      <p:sp>
        <p:nvSpPr>
          <p:cNvPr id="5" name="Text 3"/>
          <p:cNvSpPr/>
          <p:nvPr/>
        </p:nvSpPr>
        <p:spPr>
          <a:xfrm>
            <a:off x="822960" y="457200"/>
            <a:ext cx="1737360"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D64545"/>
                </a:solidFill>
                <a:latin typeface="Cairo" pitchFamily="34" charset="0"/>
                <a:ea typeface="Cairo" pitchFamily="34" charset="-122"/>
                <a:cs typeface="Cairo" pitchFamily="34" charset="-120"/>
              </a:rPr>
              <a:t>⏱ ١٠ ثوانٍ</a:t>
            </a:r>
            <a:endParaRPr lang="ar-SA" sz="1600" dirty="0"/>
          </a:p>
        </p:txBody>
      </p:sp>
      <p:sp>
        <p:nvSpPr>
          <p:cNvPr id="6" name="Text 4"/>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أول ١٠ ثوانٍ</a:t>
            </a:r>
            <a:endParaRPr lang="ar-SA" sz="3800" dirty="0"/>
          </a:p>
        </p:txBody>
      </p:sp>
      <p:sp>
        <p:nvSpPr>
          <p:cNvPr id="7" name="anim-g1-1211"/>
          <p:cNvSpPr/>
          <p:nvPr/>
        </p:nvSpPr>
        <p:spPr>
          <a:xfrm>
            <a:off x="8903741" y="2148840"/>
            <a:ext cx="2464994" cy="3383280"/>
          </a:xfrm>
          <a:prstGeom prst="roundRect">
            <a:avLst>
              <a:gd name="adj" fmla="val 6677"/>
            </a:avLst>
          </a:prstGeom>
          <a:solidFill>
            <a:srgbClr val="FFFFFF"/>
          </a:solidFill>
          <a:ln w="12700">
            <a:solidFill>
              <a:srgbClr val="E4DCC8"/>
            </a:solidFill>
            <a:prstDash val="solid"/>
          </a:ln>
        </p:spPr>
      </p:sp>
      <p:sp>
        <p:nvSpPr>
          <p:cNvPr id="8" name="anim-g1-1212"/>
          <p:cNvSpPr/>
          <p:nvPr/>
        </p:nvSpPr>
        <p:spPr>
          <a:xfrm>
            <a:off x="9747618" y="2423160"/>
            <a:ext cx="777240" cy="777240"/>
          </a:xfrm>
          <a:prstGeom prst="ellipse">
            <a:avLst/>
          </a:prstGeom>
          <a:solidFill>
            <a:srgbClr val="D9AE4B"/>
          </a:solidFill>
          <a:ln/>
        </p:spPr>
      </p:sp>
      <p:sp>
        <p:nvSpPr>
          <p:cNvPr id="9" name="anim-g1-1213"/>
          <p:cNvSpPr/>
          <p:nvPr/>
        </p:nvSpPr>
        <p:spPr>
          <a:xfrm>
            <a:off x="9747618"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١</a:t>
            </a:r>
            <a:endParaRPr lang="ar-SA" sz="2800" dirty="0"/>
          </a:p>
        </p:txBody>
      </p:sp>
      <p:sp>
        <p:nvSpPr>
          <p:cNvPr id="10" name="anim-g1-1214"/>
          <p:cNvSpPr/>
          <p:nvPr/>
        </p:nvSpPr>
        <p:spPr>
          <a:xfrm>
            <a:off x="9040901"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اقترب</a:t>
            </a:r>
            <a:endParaRPr lang="ar-SA" sz="2500" dirty="0"/>
          </a:p>
        </p:txBody>
      </p:sp>
      <p:sp>
        <p:nvSpPr>
          <p:cNvPr id="11" name="anim-g1-1215"/>
          <p:cNvSpPr/>
          <p:nvPr/>
        </p:nvSpPr>
        <p:spPr>
          <a:xfrm>
            <a:off x="9086621"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دون أن تتوقف عن الشرح</a:t>
            </a:r>
            <a:endParaRPr lang="ar-SA" sz="2000" dirty="0"/>
          </a:p>
        </p:txBody>
      </p:sp>
      <p:sp>
        <p:nvSpPr>
          <p:cNvPr id="12" name="anim-g2-1216"/>
          <p:cNvSpPr/>
          <p:nvPr/>
        </p:nvSpPr>
        <p:spPr>
          <a:xfrm>
            <a:off x="6210148" y="2148840"/>
            <a:ext cx="2464994" cy="3383280"/>
          </a:xfrm>
          <a:prstGeom prst="roundRect">
            <a:avLst>
              <a:gd name="adj" fmla="val 6677"/>
            </a:avLst>
          </a:prstGeom>
          <a:solidFill>
            <a:srgbClr val="FFFFFF"/>
          </a:solidFill>
          <a:ln w="12700">
            <a:solidFill>
              <a:srgbClr val="E4DCC8"/>
            </a:solidFill>
            <a:prstDash val="solid"/>
          </a:ln>
        </p:spPr>
      </p:sp>
      <p:sp>
        <p:nvSpPr>
          <p:cNvPr id="13" name="anim-g2-1217"/>
          <p:cNvSpPr/>
          <p:nvPr/>
        </p:nvSpPr>
        <p:spPr>
          <a:xfrm>
            <a:off x="7054024" y="2423160"/>
            <a:ext cx="777240" cy="777240"/>
          </a:xfrm>
          <a:prstGeom prst="ellipse">
            <a:avLst/>
          </a:prstGeom>
          <a:solidFill>
            <a:srgbClr val="D9AE4B"/>
          </a:solidFill>
          <a:ln/>
        </p:spPr>
      </p:sp>
      <p:sp>
        <p:nvSpPr>
          <p:cNvPr id="14" name="anim-g2-1218"/>
          <p:cNvSpPr/>
          <p:nvPr/>
        </p:nvSpPr>
        <p:spPr>
          <a:xfrm>
            <a:off x="7054024"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٢</a:t>
            </a:r>
            <a:endParaRPr lang="ar-SA" sz="2800" dirty="0"/>
          </a:p>
        </p:txBody>
      </p:sp>
      <p:sp>
        <p:nvSpPr>
          <p:cNvPr id="15" name="anim-g2-1219"/>
          <p:cNvSpPr/>
          <p:nvPr/>
        </p:nvSpPr>
        <p:spPr>
          <a:xfrm>
            <a:off x="6347308"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اسأل همسًا</a:t>
            </a:r>
            <a:endParaRPr lang="ar-SA" sz="2500" dirty="0"/>
          </a:p>
        </p:txBody>
      </p:sp>
      <p:sp>
        <p:nvSpPr>
          <p:cNvPr id="16" name="anim-g2-1220"/>
          <p:cNvSpPr/>
          <p:nvPr/>
        </p:nvSpPr>
        <p:spPr>
          <a:xfrm>
            <a:off x="6393028"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«جائع؟»</a:t>
            </a:r>
            <a:endParaRPr lang="ar-SA" sz="2000" dirty="0"/>
          </a:p>
        </p:txBody>
      </p:sp>
      <p:sp>
        <p:nvSpPr>
          <p:cNvPr id="17" name="anim-g3-1221"/>
          <p:cNvSpPr/>
          <p:nvPr/>
        </p:nvSpPr>
        <p:spPr>
          <a:xfrm>
            <a:off x="3516554" y="2148840"/>
            <a:ext cx="2464994" cy="3383280"/>
          </a:xfrm>
          <a:prstGeom prst="roundRect">
            <a:avLst>
              <a:gd name="adj" fmla="val 6677"/>
            </a:avLst>
          </a:prstGeom>
          <a:solidFill>
            <a:srgbClr val="FFFFFF"/>
          </a:solidFill>
          <a:ln w="12700">
            <a:solidFill>
              <a:srgbClr val="E4DCC8"/>
            </a:solidFill>
            <a:prstDash val="solid"/>
          </a:ln>
        </p:spPr>
      </p:sp>
      <p:sp>
        <p:nvSpPr>
          <p:cNvPr id="18" name="anim-g3-1222"/>
          <p:cNvSpPr/>
          <p:nvPr/>
        </p:nvSpPr>
        <p:spPr>
          <a:xfrm>
            <a:off x="4360431" y="2423160"/>
            <a:ext cx="777240" cy="777240"/>
          </a:xfrm>
          <a:prstGeom prst="ellipse">
            <a:avLst/>
          </a:prstGeom>
          <a:solidFill>
            <a:srgbClr val="D9AE4B"/>
          </a:solidFill>
          <a:ln/>
        </p:spPr>
      </p:sp>
      <p:sp>
        <p:nvSpPr>
          <p:cNvPr id="19" name="anim-g3-1223"/>
          <p:cNvSpPr/>
          <p:nvPr/>
        </p:nvSpPr>
        <p:spPr>
          <a:xfrm>
            <a:off x="4360431"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٣</a:t>
            </a:r>
            <a:endParaRPr lang="ar-SA" sz="2800" dirty="0"/>
          </a:p>
        </p:txBody>
      </p:sp>
      <p:sp>
        <p:nvSpPr>
          <p:cNvPr id="20" name="anim-g3-1224"/>
          <p:cNvSpPr/>
          <p:nvPr/>
        </p:nvSpPr>
        <p:spPr>
          <a:xfrm>
            <a:off x="3653714"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حل عملي</a:t>
            </a:r>
            <a:endParaRPr lang="ar-SA" sz="2500" dirty="0"/>
          </a:p>
        </p:txBody>
      </p:sp>
      <p:sp>
        <p:nvSpPr>
          <p:cNvPr id="21" name="anim-g3-1225"/>
          <p:cNvSpPr/>
          <p:nvPr/>
        </p:nvSpPr>
        <p:spPr>
          <a:xfrm>
            <a:off x="3699434"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«في الحقيبة الآن، ولك دقيقة قبل الجرس»</a:t>
            </a:r>
            <a:endParaRPr lang="ar-SA" sz="2000" dirty="0"/>
          </a:p>
        </p:txBody>
      </p:sp>
      <p:sp>
        <p:nvSpPr>
          <p:cNvPr id="22" name="anim-g4-1226"/>
          <p:cNvSpPr/>
          <p:nvPr/>
        </p:nvSpPr>
        <p:spPr>
          <a:xfrm>
            <a:off x="822960" y="2148840"/>
            <a:ext cx="2464994" cy="3383280"/>
          </a:xfrm>
          <a:prstGeom prst="roundRect">
            <a:avLst>
              <a:gd name="adj" fmla="val 6677"/>
            </a:avLst>
          </a:prstGeom>
          <a:solidFill>
            <a:srgbClr val="FFFFFF"/>
          </a:solidFill>
          <a:ln w="12700">
            <a:solidFill>
              <a:srgbClr val="E4DCC8"/>
            </a:solidFill>
            <a:prstDash val="solid"/>
          </a:ln>
        </p:spPr>
      </p:sp>
      <p:sp>
        <p:nvSpPr>
          <p:cNvPr id="23" name="anim-g4-1227"/>
          <p:cNvSpPr/>
          <p:nvPr/>
        </p:nvSpPr>
        <p:spPr>
          <a:xfrm>
            <a:off x="1666837" y="2423160"/>
            <a:ext cx="777240" cy="777240"/>
          </a:xfrm>
          <a:prstGeom prst="ellipse">
            <a:avLst/>
          </a:prstGeom>
          <a:solidFill>
            <a:srgbClr val="D9AE4B"/>
          </a:solidFill>
          <a:ln/>
        </p:spPr>
      </p:sp>
      <p:sp>
        <p:nvSpPr>
          <p:cNvPr id="24" name="anim-g4-1228"/>
          <p:cNvSpPr/>
          <p:nvPr/>
        </p:nvSpPr>
        <p:spPr>
          <a:xfrm>
            <a:off x="1666837"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٤</a:t>
            </a:r>
            <a:endParaRPr lang="ar-SA" sz="2800" dirty="0"/>
          </a:p>
        </p:txBody>
      </p:sp>
      <p:sp>
        <p:nvSpPr>
          <p:cNvPr id="25" name="anim-g4-1229"/>
          <p:cNvSpPr/>
          <p:nvPr/>
        </p:nvSpPr>
        <p:spPr>
          <a:xfrm>
            <a:off x="960120"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تابع</a:t>
            </a:r>
            <a:endParaRPr lang="ar-SA" sz="2500" dirty="0"/>
          </a:p>
        </p:txBody>
      </p:sp>
      <p:sp>
        <p:nvSpPr>
          <p:cNvPr id="26" name="anim-g4-1230"/>
          <p:cNvSpPr/>
          <p:nvPr/>
        </p:nvSpPr>
        <p:spPr>
          <a:xfrm>
            <a:off x="1005840"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هل يتكرر الجوع يوميًا؟</a:t>
            </a:r>
            <a:endParaRPr lang="ar-SA" sz="2000" dirty="0"/>
          </a:p>
        </p:txBody>
      </p:sp>
      <p:sp>
        <p:nvSpPr>
          <p:cNvPr id="27" name="Text 2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8" name="Text 2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الساندويتش ينادي سالم  ·  ١١٤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400"/>
                                        <p:tgtEl>
                                          <p:spTgt spid="1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40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4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400"/>
                                        <p:tgtEl>
                                          <p:spTgt spid="1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400"/>
                                        <p:tgtEl>
                                          <p:spTgt spid="2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400"/>
                                        <p:tgtEl>
                                          <p:spTgt spid="21"/>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400"/>
                                        <p:tgtEl>
                                          <p:spTgt spid="2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400"/>
                                        <p:tgtEl>
                                          <p:spTgt spid="2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400"/>
                                        <p:tgtEl>
                                          <p:spTgt spid="2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400"/>
                                        <p:tgtEl>
                                          <p:spTgt spid="2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name="Slide 1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588959" y="457200"/>
            <a:ext cx="2779776" cy="457200"/>
          </a:xfrm>
          <a:prstGeom prst="roundRect">
            <a:avLst>
              <a:gd name="adj" fmla="val 50000"/>
            </a:avLst>
          </a:prstGeom>
          <a:solidFill>
            <a:srgbClr val="F6EBCF"/>
          </a:solidFill>
          <a:ln/>
        </p:spPr>
      </p:sp>
      <p:sp>
        <p:nvSpPr>
          <p:cNvPr id="3" name="Text 1"/>
          <p:cNvSpPr/>
          <p:nvPr/>
        </p:nvSpPr>
        <p:spPr>
          <a:xfrm>
            <a:off x="8588959" y="457200"/>
            <a:ext cx="277977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الجُمل الجاهزة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ماذا تقول بالحرف؟</a:t>
            </a:r>
            <a:endParaRPr lang="ar-SA" sz="3800" dirty="0"/>
          </a:p>
        </p:txBody>
      </p:sp>
      <p:sp>
        <p:nvSpPr>
          <p:cNvPr id="5" name="anim-g1-1231"/>
          <p:cNvSpPr/>
          <p:nvPr/>
        </p:nvSpPr>
        <p:spPr>
          <a:xfrm>
            <a:off x="9768535" y="2130552"/>
            <a:ext cx="1600200" cy="819912"/>
          </a:xfrm>
          <a:prstGeom prst="roundRect">
            <a:avLst>
              <a:gd name="adj" fmla="val 16729"/>
            </a:avLst>
          </a:prstGeom>
          <a:solidFill>
            <a:srgbClr val="E9EDF9"/>
          </a:solidFill>
          <a:ln/>
        </p:spPr>
      </p:sp>
      <p:sp>
        <p:nvSpPr>
          <p:cNvPr id="6" name="anim-g1-1232"/>
          <p:cNvSpPr/>
          <p:nvPr/>
        </p:nvSpPr>
        <p:spPr>
          <a:xfrm>
            <a:off x="9814255" y="2130552"/>
            <a:ext cx="1508760" cy="81991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همسًا</a:t>
            </a:r>
            <a:endParaRPr lang="ar-SA" sz="1800" dirty="0"/>
          </a:p>
        </p:txBody>
      </p:sp>
      <p:sp>
        <p:nvSpPr>
          <p:cNvPr id="7" name="anim-g1-1233"/>
          <p:cNvSpPr/>
          <p:nvPr/>
        </p:nvSpPr>
        <p:spPr>
          <a:xfrm>
            <a:off x="822960" y="2057400"/>
            <a:ext cx="8716975" cy="966216"/>
          </a:xfrm>
          <a:prstGeom prst="roundRect">
            <a:avLst>
              <a:gd name="adj" fmla="val 20820"/>
            </a:avLst>
          </a:prstGeom>
          <a:solidFill>
            <a:srgbClr val="101B45"/>
          </a:solidFill>
          <a:ln/>
        </p:spPr>
      </p:sp>
      <p:sp>
        <p:nvSpPr>
          <p:cNvPr id="8" name="anim-g1-1234"/>
          <p:cNvSpPr/>
          <p:nvPr/>
        </p:nvSpPr>
        <p:spPr>
          <a:xfrm>
            <a:off x="1097280" y="2057400"/>
            <a:ext cx="8168335" cy="966216"/>
          </a:xfrm>
          <a:prstGeom prst="rect">
            <a:avLst/>
          </a:prstGeom>
          <a:noFill/>
          <a:ln/>
        </p:spPr>
        <p:txBody>
          <a:bodyPr wrap="square" lIns="0" tIns="0" rIns="0" bIns="0" rtlCol="0" anchor="ctr">
            <a:normAutofit/>
          </a:bodyPr>
          <a:lstStyle/>
          <a:p>
            <a:pPr algn="r" indent="0" marL="0">
              <a:buNone/>
            </a:pPr>
            <a:r>
              <a:rPr lang="ar-SA" altLang="en-US" sz="2000" b="1" dirty="0">
                <a:solidFill>
                  <a:srgbClr val="D9AE4B"/>
                </a:solidFill>
                <a:latin typeface="Cairo" pitchFamily="34" charset="0"/>
                <a:ea typeface="Cairo" pitchFamily="34" charset="-122"/>
                <a:cs typeface="Cairo" pitchFamily="34" charset="-120"/>
              </a:rPr>
              <a:t>« </a:t>
            </a:r>
            <a:pPr algn="r" indent="0" marL="0">
              <a:buNone/>
            </a:pPr>
            <a:r>
              <a:rPr lang="ar-SA" altLang="en-US" sz="2000" b="1" dirty="0">
                <a:solidFill>
                  <a:srgbClr val="FFFFFF"/>
                </a:solidFill>
                <a:latin typeface="Cairo" pitchFamily="34" charset="0"/>
                <a:ea typeface="Cairo" pitchFamily="34" charset="-122"/>
                <a:cs typeface="Cairo" pitchFamily="34" charset="-120"/>
              </a:rPr>
              <a:t>سالم، يبدو أنك جائع. الساندويتش في الحقيبة الآن، وأعدك بدقيقة قبل الجرس</a:t>
            </a:r>
            <a:pPr algn="r" indent="0" marL="0">
              <a:buNone/>
            </a:pPr>
            <a:r>
              <a:rPr lang="ar-SA" altLang="en-US" sz="2000" b="1" dirty="0">
                <a:solidFill>
                  <a:srgbClr val="D9AE4B"/>
                </a:solidFill>
                <a:latin typeface="Cairo" pitchFamily="34" charset="0"/>
                <a:ea typeface="Cairo" pitchFamily="34" charset="-122"/>
                <a:cs typeface="Cairo" pitchFamily="34" charset="-120"/>
              </a:rPr>
              <a:t> »</a:t>
            </a:r>
            <a:endParaRPr lang="ar-SA" sz="2000" dirty="0"/>
          </a:p>
        </p:txBody>
      </p:sp>
      <p:sp>
        <p:nvSpPr>
          <p:cNvPr id="9" name="anim-g2-1235"/>
          <p:cNvSpPr/>
          <p:nvPr/>
        </p:nvSpPr>
        <p:spPr>
          <a:xfrm>
            <a:off x="9768535" y="3243072"/>
            <a:ext cx="1600200" cy="819912"/>
          </a:xfrm>
          <a:prstGeom prst="roundRect">
            <a:avLst>
              <a:gd name="adj" fmla="val 16729"/>
            </a:avLst>
          </a:prstGeom>
          <a:solidFill>
            <a:srgbClr val="E9EDF9"/>
          </a:solidFill>
          <a:ln/>
        </p:spPr>
      </p:sp>
      <p:sp>
        <p:nvSpPr>
          <p:cNvPr id="10" name="anim-g2-1236"/>
          <p:cNvSpPr/>
          <p:nvPr/>
        </p:nvSpPr>
        <p:spPr>
          <a:xfrm>
            <a:off x="9814255" y="3243072"/>
            <a:ext cx="1508760" cy="81991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بعد الحصة</a:t>
            </a:r>
            <a:endParaRPr lang="ar-SA" sz="1800" dirty="0"/>
          </a:p>
        </p:txBody>
      </p:sp>
      <p:sp>
        <p:nvSpPr>
          <p:cNvPr id="11" name="anim-g2-1237"/>
          <p:cNvSpPr/>
          <p:nvPr/>
        </p:nvSpPr>
        <p:spPr>
          <a:xfrm>
            <a:off x="822960" y="3169920"/>
            <a:ext cx="8716975" cy="966216"/>
          </a:xfrm>
          <a:prstGeom prst="roundRect">
            <a:avLst>
              <a:gd name="adj" fmla="val 20820"/>
            </a:avLst>
          </a:prstGeom>
          <a:solidFill>
            <a:srgbClr val="101B45"/>
          </a:solidFill>
          <a:ln/>
        </p:spPr>
      </p:sp>
      <p:sp>
        <p:nvSpPr>
          <p:cNvPr id="12" name="anim-g2-1238"/>
          <p:cNvSpPr/>
          <p:nvPr/>
        </p:nvSpPr>
        <p:spPr>
          <a:xfrm>
            <a:off x="1097280" y="3169920"/>
            <a:ext cx="8168335" cy="966216"/>
          </a:xfrm>
          <a:prstGeom prst="rect">
            <a:avLst/>
          </a:prstGeom>
          <a:noFill/>
          <a:ln/>
        </p:spPr>
        <p:txBody>
          <a:bodyPr wrap="square" lIns="0" tIns="0" rIns="0" bIns="0" rtlCol="0" anchor="ctr">
            <a:normAutofit/>
          </a:bodyPr>
          <a:lstStyle/>
          <a:p>
            <a:pPr algn="r" indent="0" marL="0">
              <a:buNone/>
            </a:pPr>
            <a:r>
              <a:rPr lang="ar-SA" altLang="en-US" sz="2400" b="1" dirty="0">
                <a:solidFill>
                  <a:srgbClr val="D9AE4B"/>
                </a:solidFill>
                <a:latin typeface="Cairo" pitchFamily="34" charset="0"/>
                <a:ea typeface="Cairo" pitchFamily="34" charset="-122"/>
                <a:cs typeface="Cairo" pitchFamily="34" charset="-120"/>
              </a:rPr>
              <a:t>« </a:t>
            </a:r>
            <a:pPr algn="r" indent="0" marL="0">
              <a:buNone/>
            </a:pPr>
            <a:r>
              <a:rPr lang="ar-SA" altLang="en-US" sz="2400" b="1" dirty="0">
                <a:solidFill>
                  <a:srgbClr val="FFFFFF"/>
                </a:solidFill>
                <a:latin typeface="Cairo" pitchFamily="34" charset="0"/>
                <a:ea typeface="Cairo" pitchFamily="34" charset="-122"/>
                <a:cs typeface="Cairo" pitchFamily="34" charset="-120"/>
              </a:rPr>
              <a:t>هل تفطر في البيت قبل أن تأتي إلى المدرسة؟</a:t>
            </a:r>
            <a:pPr algn="r" indent="0" marL="0">
              <a:buNone/>
            </a:pPr>
            <a:r>
              <a:rPr lang="ar-SA" altLang="en-US" sz="2400" b="1" dirty="0">
                <a:solidFill>
                  <a:srgbClr val="D9AE4B"/>
                </a:solidFill>
                <a:latin typeface="Cairo" pitchFamily="34" charset="0"/>
                <a:ea typeface="Cairo" pitchFamily="34" charset="-122"/>
                <a:cs typeface="Cairo" pitchFamily="34" charset="-120"/>
              </a:rPr>
              <a:t> »</a:t>
            </a:r>
            <a:endParaRPr lang="ar-SA" sz="2400" dirty="0"/>
          </a:p>
        </p:txBody>
      </p:sp>
      <p:sp>
        <p:nvSpPr>
          <p:cNvPr id="13" name="anim-g3-1239"/>
          <p:cNvSpPr/>
          <p:nvPr/>
        </p:nvSpPr>
        <p:spPr>
          <a:xfrm>
            <a:off x="9768535" y="4355592"/>
            <a:ext cx="1600200" cy="819912"/>
          </a:xfrm>
          <a:prstGeom prst="roundRect">
            <a:avLst>
              <a:gd name="adj" fmla="val 16729"/>
            </a:avLst>
          </a:prstGeom>
          <a:solidFill>
            <a:srgbClr val="E9EDF9"/>
          </a:solidFill>
          <a:ln/>
        </p:spPr>
      </p:sp>
      <p:sp>
        <p:nvSpPr>
          <p:cNvPr id="14" name="anim-g3-1240"/>
          <p:cNvSpPr/>
          <p:nvPr/>
        </p:nvSpPr>
        <p:spPr>
          <a:xfrm>
            <a:off x="9814255" y="4355592"/>
            <a:ext cx="1508760" cy="81991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لولي الأمر إن تكرر</a:t>
            </a:r>
            <a:endParaRPr lang="ar-SA" sz="1800" dirty="0"/>
          </a:p>
        </p:txBody>
      </p:sp>
      <p:sp>
        <p:nvSpPr>
          <p:cNvPr id="15" name="anim-g3-1241"/>
          <p:cNvSpPr/>
          <p:nvPr/>
        </p:nvSpPr>
        <p:spPr>
          <a:xfrm>
            <a:off x="822960" y="4282440"/>
            <a:ext cx="8716975" cy="966216"/>
          </a:xfrm>
          <a:prstGeom prst="roundRect">
            <a:avLst>
              <a:gd name="adj" fmla="val 20820"/>
            </a:avLst>
          </a:prstGeom>
          <a:solidFill>
            <a:srgbClr val="101B45"/>
          </a:solidFill>
          <a:ln/>
        </p:spPr>
      </p:sp>
      <p:sp>
        <p:nvSpPr>
          <p:cNvPr id="16" name="anim-g3-1242"/>
          <p:cNvSpPr/>
          <p:nvPr/>
        </p:nvSpPr>
        <p:spPr>
          <a:xfrm>
            <a:off x="1097280" y="4282440"/>
            <a:ext cx="8168335" cy="966216"/>
          </a:xfrm>
          <a:prstGeom prst="rect">
            <a:avLst/>
          </a:prstGeom>
          <a:noFill/>
          <a:ln/>
        </p:spPr>
        <p:txBody>
          <a:bodyPr wrap="square" lIns="0" tIns="0" rIns="0" bIns="0" rtlCol="0" anchor="ctr">
            <a:normAutofit/>
          </a:bodyPr>
          <a:lstStyle/>
          <a:p>
            <a:pPr algn="r" indent="0" marL="0">
              <a:buNone/>
            </a:pPr>
            <a:r>
              <a:rPr lang="ar-SA" altLang="en-US" sz="2000" b="1" dirty="0">
                <a:solidFill>
                  <a:srgbClr val="D9AE4B"/>
                </a:solidFill>
                <a:latin typeface="Cairo" pitchFamily="34" charset="0"/>
                <a:ea typeface="Cairo" pitchFamily="34" charset="-122"/>
                <a:cs typeface="Cairo" pitchFamily="34" charset="-120"/>
              </a:rPr>
              <a:t>« </a:t>
            </a:r>
            <a:pPr algn="r" indent="0" marL="0">
              <a:buNone/>
            </a:pPr>
            <a:r>
              <a:rPr lang="ar-SA" altLang="en-US" sz="2000" b="1" dirty="0">
                <a:solidFill>
                  <a:srgbClr val="FFFFFF"/>
                </a:solidFill>
                <a:latin typeface="Cairo" pitchFamily="34" charset="0"/>
                <a:ea typeface="Cairo" pitchFamily="34" charset="-122"/>
                <a:cs typeface="Cairo" pitchFamily="34" charset="-120"/>
              </a:rPr>
              <a:t>لاحظنا أن سالم يجوع كثيرًا في الحصص الأولى، فهل نتعاون على وجبة الفطور؟</a:t>
            </a:r>
            <a:pPr algn="r" indent="0" marL="0">
              <a:buNone/>
            </a:pPr>
            <a:r>
              <a:rPr lang="ar-SA" altLang="en-US" sz="2000" b="1" dirty="0">
                <a:solidFill>
                  <a:srgbClr val="D9AE4B"/>
                </a:solidFill>
                <a:latin typeface="Cairo" pitchFamily="34" charset="0"/>
                <a:ea typeface="Cairo" pitchFamily="34" charset="-122"/>
                <a:cs typeface="Cairo" pitchFamily="34" charset="-120"/>
              </a:rPr>
              <a:t> »</a:t>
            </a:r>
            <a:endParaRPr lang="ar-SA" sz="2000" dirty="0"/>
          </a:p>
        </p:txBody>
      </p:sp>
      <p:sp>
        <p:nvSpPr>
          <p:cNvPr id="17" name="anim-g4-1243"/>
          <p:cNvSpPr/>
          <p:nvPr/>
        </p:nvSpPr>
        <p:spPr>
          <a:xfrm>
            <a:off x="822960" y="5532120"/>
            <a:ext cx="10545775" cy="548640"/>
          </a:xfrm>
          <a:prstGeom prst="roundRect">
            <a:avLst>
              <a:gd name="adj" fmla="val 20000"/>
            </a:avLst>
          </a:prstGeom>
          <a:solidFill>
            <a:srgbClr val="FBECEC"/>
          </a:solidFill>
          <a:ln/>
        </p:spPr>
      </p:sp>
      <p:sp>
        <p:nvSpPr>
          <p:cNvPr id="18" name="anim-g4-1244"/>
          <p:cNvSpPr/>
          <p:nvPr/>
        </p:nvSpPr>
        <p:spPr>
          <a:xfrm>
            <a:off x="11295583" y="5532120"/>
            <a:ext cx="73152" cy="548640"/>
          </a:xfrm>
          <a:prstGeom prst="rect">
            <a:avLst/>
          </a:prstGeom>
          <a:solidFill>
            <a:srgbClr val="D64545"/>
          </a:solidFill>
          <a:ln/>
        </p:spPr>
      </p:sp>
      <p:sp>
        <p:nvSpPr>
          <p:cNvPr id="19" name="anim-g4-1245"/>
          <p:cNvSpPr/>
          <p:nvPr/>
        </p:nvSpPr>
        <p:spPr>
          <a:xfrm>
            <a:off x="1005840" y="5532120"/>
            <a:ext cx="10088575" cy="548640"/>
          </a:xfrm>
          <a:prstGeom prst="rect">
            <a:avLst/>
          </a:prstGeom>
          <a:noFill/>
          <a:ln/>
        </p:spPr>
        <p:txBody>
          <a:bodyPr wrap="square" lIns="0" tIns="0" rIns="0" bIns="0" rtlCol="0" anchor="ctr">
            <a:normAutofit/>
          </a:bodyPr>
          <a:lstStyle/>
          <a:p>
            <a:pPr rtl="1" algn="r" indent="0" marL="0">
              <a:buNone/>
            </a:pPr>
            <a:r>
              <a:rPr lang="ar-SA" altLang="en-US" sz="1900" b="1" dirty="0">
                <a:solidFill>
                  <a:srgbClr val="8E2A2A"/>
                </a:solidFill>
                <a:latin typeface="Cairo" pitchFamily="34" charset="0"/>
                <a:ea typeface="Cairo" pitchFamily="34" charset="-122"/>
                <a:cs typeface="Cairo" pitchFamily="34" charset="-120"/>
              </a:rPr>
              <a:t>⚠️ تجنّب: «عيب عليك!» — الجوع ليس عيبًا</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الساندويتش ينادي سالم  ·  ١١٥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16.xml><?xml version="1.0" encoding="utf-8"?>
<p:sld xmlns:a="http://schemas.openxmlformats.org/drawingml/2006/main" xmlns:r="http://schemas.openxmlformats.org/officeDocument/2006/relationships" xmlns:p="http://schemas.openxmlformats.org/presentationml/2006/main">
  <p:cSld name="Slide 1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5486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أخطاء شائعة… وبدائلها</a:t>
            </a:r>
            <a:endParaRPr lang="ar-SA" sz="3800" dirty="0"/>
          </a:p>
        </p:txBody>
      </p:sp>
      <p:sp>
        <p:nvSpPr>
          <p:cNvPr id="3" name="Text 1"/>
          <p:cNvSpPr/>
          <p:nvPr/>
        </p:nvSpPr>
        <p:spPr>
          <a:xfrm>
            <a:off x="6415888"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D64545"/>
                </a:solidFill>
                <a:latin typeface="Cairo Black" pitchFamily="34" charset="0"/>
                <a:ea typeface="Cairo Black" pitchFamily="34" charset="-122"/>
                <a:cs typeface="Cairo Black" pitchFamily="34" charset="-120"/>
              </a:rPr>
              <a:t>❌ الخطأ الشائع</a:t>
            </a:r>
            <a:endParaRPr lang="ar-SA" sz="2100" dirty="0"/>
          </a:p>
        </p:txBody>
      </p:sp>
      <p:sp>
        <p:nvSpPr>
          <p:cNvPr id="4" name="Text 2"/>
          <p:cNvSpPr/>
          <p:nvPr/>
        </p:nvSpPr>
        <p:spPr>
          <a:xfrm>
            <a:off x="822960"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2E9E6B"/>
                </a:solidFill>
                <a:latin typeface="Cairo Black" pitchFamily="34" charset="0"/>
                <a:ea typeface="Cairo Black" pitchFamily="34" charset="-122"/>
                <a:cs typeface="Cairo Black" pitchFamily="34" charset="-120"/>
              </a:rPr>
              <a:t>✅ البديل</a:t>
            </a:r>
            <a:endParaRPr lang="ar-SA" sz="2100" dirty="0"/>
          </a:p>
        </p:txBody>
      </p:sp>
      <p:sp>
        <p:nvSpPr>
          <p:cNvPr id="5" name="anim-g1-1246"/>
          <p:cNvSpPr/>
          <p:nvPr/>
        </p:nvSpPr>
        <p:spPr>
          <a:xfrm>
            <a:off x="6415888" y="2194560"/>
            <a:ext cx="4952848" cy="804672"/>
          </a:xfrm>
          <a:prstGeom prst="roundRect">
            <a:avLst>
              <a:gd name="adj" fmla="val 15909"/>
            </a:avLst>
          </a:prstGeom>
          <a:solidFill>
            <a:srgbClr val="FBECEC"/>
          </a:solidFill>
          <a:ln/>
        </p:spPr>
      </p:sp>
      <p:sp>
        <p:nvSpPr>
          <p:cNvPr id="6" name="anim-g1-1247"/>
          <p:cNvSpPr/>
          <p:nvPr/>
        </p:nvSpPr>
        <p:spPr>
          <a:xfrm>
            <a:off x="6644488"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رفع الصوت مع كل تكرار</a:t>
            </a:r>
            <a:endParaRPr lang="ar-SA" sz="2200" dirty="0"/>
          </a:p>
        </p:txBody>
      </p:sp>
      <p:sp>
        <p:nvSpPr>
          <p:cNvPr id="7" name="anim-g1-1248"/>
          <p:cNvSpPr/>
          <p:nvPr/>
        </p:nvSpPr>
        <p:spPr>
          <a:xfrm>
            <a:off x="822960" y="2194560"/>
            <a:ext cx="4952848" cy="804672"/>
          </a:xfrm>
          <a:prstGeom prst="roundRect">
            <a:avLst>
              <a:gd name="adj" fmla="val 15909"/>
            </a:avLst>
          </a:prstGeom>
          <a:solidFill>
            <a:srgbClr val="FFFFFF"/>
          </a:solidFill>
          <a:ln w="19050">
            <a:solidFill>
              <a:srgbClr val="BFD9CB"/>
            </a:solidFill>
            <a:prstDash val="dash"/>
          </a:ln>
        </p:spPr>
      </p:sp>
      <p:sp>
        <p:nvSpPr>
          <p:cNvPr id="8" name="anim-g1-1249"/>
          <p:cNvSpPr/>
          <p:nvPr/>
        </p:nvSpPr>
        <p:spPr>
          <a:xfrm>
            <a:off x="822960" y="219456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9" name="anim-g2-1250"/>
          <p:cNvSpPr/>
          <p:nvPr/>
        </p:nvSpPr>
        <p:spPr>
          <a:xfrm>
            <a:off x="5775808" y="219456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0" name="anim-g2-1251"/>
          <p:cNvSpPr/>
          <p:nvPr/>
        </p:nvSpPr>
        <p:spPr>
          <a:xfrm>
            <a:off x="822960" y="2194560"/>
            <a:ext cx="4952848" cy="804672"/>
          </a:xfrm>
          <a:prstGeom prst="roundRect">
            <a:avLst>
              <a:gd name="adj" fmla="val 15909"/>
            </a:avLst>
          </a:prstGeom>
          <a:solidFill>
            <a:srgbClr val="E6F4EC"/>
          </a:solidFill>
          <a:ln/>
        </p:spPr>
      </p:sp>
      <p:sp>
        <p:nvSpPr>
          <p:cNvPr id="11" name="anim-g2-1252"/>
          <p:cNvSpPr/>
          <p:nvPr/>
        </p:nvSpPr>
        <p:spPr>
          <a:xfrm>
            <a:off x="1051560"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تغيير الأسلوب بعد أول تكرار</a:t>
            </a:r>
            <a:endParaRPr lang="ar-SA" sz="2200" dirty="0"/>
          </a:p>
        </p:txBody>
      </p:sp>
      <p:sp>
        <p:nvSpPr>
          <p:cNvPr id="12" name="anim-g3-1253"/>
          <p:cNvSpPr/>
          <p:nvPr/>
        </p:nvSpPr>
        <p:spPr>
          <a:xfrm>
            <a:off x="6415888" y="3154680"/>
            <a:ext cx="4952848" cy="804672"/>
          </a:xfrm>
          <a:prstGeom prst="roundRect">
            <a:avLst>
              <a:gd name="adj" fmla="val 15909"/>
            </a:avLst>
          </a:prstGeom>
          <a:solidFill>
            <a:srgbClr val="FBECEC"/>
          </a:solidFill>
          <a:ln/>
        </p:spPr>
      </p:sp>
      <p:sp>
        <p:nvSpPr>
          <p:cNvPr id="13" name="anim-g3-1254"/>
          <p:cNvSpPr/>
          <p:nvPr/>
        </p:nvSpPr>
        <p:spPr>
          <a:xfrm>
            <a:off x="6644488"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الإحراج بكلمة «عيب»</a:t>
            </a:r>
            <a:endParaRPr lang="ar-SA" sz="2200" dirty="0"/>
          </a:p>
        </p:txBody>
      </p:sp>
      <p:sp>
        <p:nvSpPr>
          <p:cNvPr id="14" name="anim-g3-1255"/>
          <p:cNvSpPr/>
          <p:nvPr/>
        </p:nvSpPr>
        <p:spPr>
          <a:xfrm>
            <a:off x="822960" y="3154680"/>
            <a:ext cx="4952848" cy="804672"/>
          </a:xfrm>
          <a:prstGeom prst="roundRect">
            <a:avLst>
              <a:gd name="adj" fmla="val 15909"/>
            </a:avLst>
          </a:prstGeom>
          <a:solidFill>
            <a:srgbClr val="FFFFFF"/>
          </a:solidFill>
          <a:ln w="19050">
            <a:solidFill>
              <a:srgbClr val="BFD9CB"/>
            </a:solidFill>
            <a:prstDash val="dash"/>
          </a:ln>
        </p:spPr>
      </p:sp>
      <p:sp>
        <p:nvSpPr>
          <p:cNvPr id="15" name="anim-g3-1256"/>
          <p:cNvSpPr/>
          <p:nvPr/>
        </p:nvSpPr>
        <p:spPr>
          <a:xfrm>
            <a:off x="822960" y="315468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16" name="anim-g4-1257"/>
          <p:cNvSpPr/>
          <p:nvPr/>
        </p:nvSpPr>
        <p:spPr>
          <a:xfrm>
            <a:off x="5775808" y="315468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7" name="anim-g4-1258"/>
          <p:cNvSpPr/>
          <p:nvPr/>
        </p:nvSpPr>
        <p:spPr>
          <a:xfrm>
            <a:off x="822960" y="3154680"/>
            <a:ext cx="4952848" cy="804672"/>
          </a:xfrm>
          <a:prstGeom prst="roundRect">
            <a:avLst>
              <a:gd name="adj" fmla="val 15909"/>
            </a:avLst>
          </a:prstGeom>
          <a:solidFill>
            <a:srgbClr val="E6F4EC"/>
          </a:solidFill>
          <a:ln/>
        </p:spPr>
      </p:sp>
      <p:sp>
        <p:nvSpPr>
          <p:cNvPr id="18" name="anim-g4-1259"/>
          <p:cNvSpPr/>
          <p:nvPr/>
        </p:nvSpPr>
        <p:spPr>
          <a:xfrm>
            <a:off x="1051560"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سؤال عن الحاجة همسًا</a:t>
            </a:r>
            <a:endParaRPr lang="ar-SA" sz="2200" dirty="0"/>
          </a:p>
        </p:txBody>
      </p:sp>
      <p:sp>
        <p:nvSpPr>
          <p:cNvPr id="19" name="anim-g5-1260"/>
          <p:cNvSpPr/>
          <p:nvPr/>
        </p:nvSpPr>
        <p:spPr>
          <a:xfrm>
            <a:off x="6415888" y="4114800"/>
            <a:ext cx="4952848" cy="804672"/>
          </a:xfrm>
          <a:prstGeom prst="roundRect">
            <a:avLst>
              <a:gd name="adj" fmla="val 15909"/>
            </a:avLst>
          </a:prstGeom>
          <a:solidFill>
            <a:srgbClr val="FBECEC"/>
          </a:solidFill>
          <a:ln/>
        </p:spPr>
      </p:sp>
      <p:sp>
        <p:nvSpPr>
          <p:cNvPr id="20" name="anim-g5-1261"/>
          <p:cNvSpPr/>
          <p:nvPr/>
        </p:nvSpPr>
        <p:spPr>
          <a:xfrm>
            <a:off x="6644488"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تجاهل الجوع المتكرر</a:t>
            </a:r>
            <a:endParaRPr lang="ar-SA" sz="2200" dirty="0"/>
          </a:p>
        </p:txBody>
      </p:sp>
      <p:sp>
        <p:nvSpPr>
          <p:cNvPr id="21" name="anim-g5-1262"/>
          <p:cNvSpPr/>
          <p:nvPr/>
        </p:nvSpPr>
        <p:spPr>
          <a:xfrm>
            <a:off x="822960" y="4114800"/>
            <a:ext cx="4952848" cy="804672"/>
          </a:xfrm>
          <a:prstGeom prst="roundRect">
            <a:avLst>
              <a:gd name="adj" fmla="val 15909"/>
            </a:avLst>
          </a:prstGeom>
          <a:solidFill>
            <a:srgbClr val="FFFFFF"/>
          </a:solidFill>
          <a:ln w="19050">
            <a:solidFill>
              <a:srgbClr val="BFD9CB"/>
            </a:solidFill>
            <a:prstDash val="dash"/>
          </a:ln>
        </p:spPr>
      </p:sp>
      <p:sp>
        <p:nvSpPr>
          <p:cNvPr id="22" name="anim-g5-1263"/>
          <p:cNvSpPr/>
          <p:nvPr/>
        </p:nvSpPr>
        <p:spPr>
          <a:xfrm>
            <a:off x="822960" y="411480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23" name="anim-g6-1264"/>
          <p:cNvSpPr/>
          <p:nvPr/>
        </p:nvSpPr>
        <p:spPr>
          <a:xfrm>
            <a:off x="5775808" y="411480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24" name="anim-g6-1265"/>
          <p:cNvSpPr/>
          <p:nvPr/>
        </p:nvSpPr>
        <p:spPr>
          <a:xfrm>
            <a:off x="822960" y="4114800"/>
            <a:ext cx="4952848" cy="804672"/>
          </a:xfrm>
          <a:prstGeom prst="roundRect">
            <a:avLst>
              <a:gd name="adj" fmla="val 15909"/>
            </a:avLst>
          </a:prstGeom>
          <a:solidFill>
            <a:srgbClr val="E6F4EC"/>
          </a:solidFill>
          <a:ln/>
        </p:spPr>
      </p:sp>
      <p:sp>
        <p:nvSpPr>
          <p:cNvPr id="25" name="anim-g6-1266"/>
          <p:cNvSpPr/>
          <p:nvPr/>
        </p:nvSpPr>
        <p:spPr>
          <a:xfrm>
            <a:off x="1051560"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إبلاغ المرشد وولي الأمر بلطف</a:t>
            </a:r>
            <a:endParaRPr lang="ar-SA" sz="2200" dirty="0"/>
          </a:p>
        </p:txBody>
      </p:sp>
      <p:sp>
        <p:nvSpPr>
          <p:cNvPr id="26" name="Text 24"/>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7" name="Text 25"/>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الساندويتش ينادي سالم  ·  ١١٦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0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400"/>
                                        <p:tgtEl>
                                          <p:spTgt spid="1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400"/>
                                        <p:tgtEl>
                                          <p:spTgt spid="2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400"/>
                                        <p:tgtEl>
                                          <p:spTgt spid="2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400"/>
                                        <p:tgtEl>
                                          <p:spTgt spid="2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117.xml><?xml version="1.0" encoding="utf-8"?>
<p:sld xmlns:a="http://schemas.openxmlformats.org/drawingml/2006/main" xmlns:r="http://schemas.openxmlformats.org/officeDocument/2006/relationships" xmlns:p="http://schemas.openxmlformats.org/presentationml/2006/main">
  <p:cSld name="Slide 1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الموقف</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وراء كل سلوك متكرر…</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حاجة لم تُلبَّ</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موقف: الساندويتش ينادي سالم  ·  ١١٧</a:t>
            </a:r>
            <a:endParaRPr lang="ar-SA" sz="12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٧</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المحطة ٧</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الطالب والأسرة</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وليّ الأمر شريك… كيف نجعله معنا لا علينا؟</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الطالب والأسرة  ·  ١١٨</a:t>
            </a:r>
            <a:endParaRPr lang="ar-SA" sz="12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735263" y="457200"/>
            <a:ext cx="2633472" cy="457200"/>
          </a:xfrm>
          <a:prstGeom prst="roundRect">
            <a:avLst>
              <a:gd name="adj" fmla="val 50000"/>
            </a:avLst>
          </a:prstGeom>
          <a:solidFill>
            <a:srgbClr val="F6EBCF"/>
          </a:solidFill>
          <a:ln/>
        </p:spPr>
      </p:sp>
      <p:sp>
        <p:nvSpPr>
          <p:cNvPr id="3" name="Text 1"/>
          <p:cNvSpPr/>
          <p:nvPr/>
        </p:nvSpPr>
        <p:spPr>
          <a:xfrm>
            <a:off x="8735263" y="457200"/>
            <a:ext cx="263347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قواعد الشراكة</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أربع قواعد للتواصل مع أولياء الأمور</a:t>
            </a:r>
            <a:endParaRPr lang="ar-SA" sz="3200" dirty="0"/>
          </a:p>
        </p:txBody>
      </p:sp>
      <p:sp>
        <p:nvSpPr>
          <p:cNvPr id="5" name="anim-g1-1267"/>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1268"/>
          <p:cNvSpPr/>
          <p:nvPr/>
        </p:nvSpPr>
        <p:spPr>
          <a:xfrm>
            <a:off x="10573207" y="2109978"/>
            <a:ext cx="566928" cy="566928"/>
          </a:xfrm>
          <a:prstGeom prst="ellipse">
            <a:avLst/>
          </a:prstGeom>
          <a:solidFill>
            <a:srgbClr val="D9AE4B"/>
          </a:solidFill>
          <a:ln/>
        </p:spPr>
      </p:sp>
      <p:sp>
        <p:nvSpPr>
          <p:cNvPr id="7" name="anim-g1-1269"/>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1270"/>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ابدأ بالإيجابي قبل أي مشكلة</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رسالة شكر مبكرة تجعل مكالمة المشكلة لاحقًا أسهل بكثير</a:t>
            </a:r>
            <a:endParaRPr lang="ar-SA" sz="2400" dirty="0"/>
          </a:p>
        </p:txBody>
      </p:sp>
      <p:sp>
        <p:nvSpPr>
          <p:cNvPr id="9" name="anim-g2-1271"/>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1272"/>
          <p:cNvSpPr/>
          <p:nvPr/>
        </p:nvSpPr>
        <p:spPr>
          <a:xfrm>
            <a:off x="10573207" y="3166110"/>
            <a:ext cx="566928" cy="566928"/>
          </a:xfrm>
          <a:prstGeom prst="ellipse">
            <a:avLst/>
          </a:prstGeom>
          <a:solidFill>
            <a:srgbClr val="D9AE4B"/>
          </a:solidFill>
          <a:ln/>
        </p:spPr>
      </p:sp>
      <p:sp>
        <p:nvSpPr>
          <p:cNvPr id="11" name="anim-g2-1273"/>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1274"/>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صِف بالحقائق لا بالأحكام</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«لم يسلّم الواجب ثلاث مرات» بدل «ابنك مهمل»</a:t>
            </a:r>
            <a:endParaRPr lang="ar-SA" sz="2400" dirty="0"/>
          </a:p>
        </p:txBody>
      </p:sp>
      <p:sp>
        <p:nvSpPr>
          <p:cNvPr id="13" name="anim-g3-1275"/>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1276"/>
          <p:cNvSpPr/>
          <p:nvPr/>
        </p:nvSpPr>
        <p:spPr>
          <a:xfrm>
            <a:off x="10573207" y="4222242"/>
            <a:ext cx="566928" cy="566928"/>
          </a:xfrm>
          <a:prstGeom prst="ellipse">
            <a:avLst/>
          </a:prstGeom>
          <a:solidFill>
            <a:srgbClr val="D9AE4B"/>
          </a:solidFill>
          <a:ln/>
        </p:spPr>
      </p:sp>
      <p:sp>
        <p:nvSpPr>
          <p:cNvPr id="15" name="anim-g3-1277"/>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1278"/>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اقترح خطة مشتركة</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ما الذي أفعله أنا في المدرسة؟ وما الذي تفعلونه في البيت؟</a:t>
            </a:r>
            <a:endParaRPr lang="ar-SA" sz="2400" dirty="0"/>
          </a:p>
        </p:txBody>
      </p:sp>
      <p:sp>
        <p:nvSpPr>
          <p:cNvPr id="17" name="anim-g4-1279"/>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1280"/>
          <p:cNvSpPr/>
          <p:nvPr/>
        </p:nvSpPr>
        <p:spPr>
          <a:xfrm>
            <a:off x="10573207" y="5278374"/>
            <a:ext cx="566928" cy="566928"/>
          </a:xfrm>
          <a:prstGeom prst="ellipse">
            <a:avLst/>
          </a:prstGeom>
          <a:solidFill>
            <a:srgbClr val="D9AE4B"/>
          </a:solidFill>
          <a:ln/>
        </p:spPr>
      </p:sp>
      <p:sp>
        <p:nvSpPr>
          <p:cNvPr id="19" name="anim-g4-1281"/>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1282"/>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وثّق وحدّد أوقات التواصل</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سجّل ما اتُّفق عليه، واتفق على أوقات مناسبة للتواصل</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الطالب والأسرة  ·  ١١٩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120.xml><?xml version="1.0" encoding="utf-8"?>
<p:sld xmlns:a="http://schemas.openxmlformats.org/drawingml/2006/main" xmlns:r="http://schemas.openxmlformats.org/officeDocument/2006/relationships" xmlns:p="http://schemas.openxmlformats.org/presentationml/2006/main">
  <p:cSld name="Slide 1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kb-1283" descr="/Users/mac/Desktop/أردوينو/المشاريع والكتب/younes-training/mawaqif/assets/scenes/nightcall.jpg">    </p:cNvPr>
          <p:cNvPicPr>
            <a:picLocks noChangeAspect="1"/>
          </p:cNvPicPr>
          <p:nvPr/>
        </p:nvPicPr>
        <p:blipFill>
          <a:blip r:embed="rId2"/>
          <a:stretch>
            <a:fillRect/>
          </a:stretch>
        </p:blipFill>
        <p:spPr>
          <a:xfrm>
            <a:off x="0" y="0"/>
            <a:ext cx="12191695" cy="6858000"/>
          </a:xfrm>
          <a:prstGeom prst="rect">
            <a:avLst/>
          </a:prstGeom>
        </p:spPr>
      </p:pic>
      <p:pic>
        <p:nvPicPr>
          <p:cNvPr id="3" name="Image 1" descr="/Users/mac/Desktop/أردوينو/المشاريع والكتب/younes-training/shared/assets/mcover-overlay.png">    </p:cNvPr>
          <p:cNvPicPr>
            <a:picLocks noChangeAspect="1"/>
          </p:cNvPicPr>
          <p:nvPr/>
        </p:nvPicPr>
        <p:blipFill>
          <a:blip r:embed="rId3"/>
          <a:stretch>
            <a:fillRect/>
          </a:stretch>
        </p:blipFill>
        <p:spPr>
          <a:xfrm>
            <a:off x="0" y="0"/>
            <a:ext cx="12191695" cy="6858000"/>
          </a:xfrm>
          <a:prstGeom prst="rect">
            <a:avLst/>
          </a:prstGeom>
        </p:spPr>
      </p:pic>
      <p:sp>
        <p:nvSpPr>
          <p:cNvPr id="4" name="Text 0"/>
          <p:cNvSpPr/>
          <p:nvPr/>
        </p:nvSpPr>
        <p:spPr>
          <a:xfrm>
            <a:off x="5669280" y="1737360"/>
            <a:ext cx="5699455" cy="502920"/>
          </a:xfrm>
          <a:prstGeom prst="rect">
            <a:avLst/>
          </a:prstGeom>
          <a:noFill/>
          <a:ln/>
        </p:spPr>
        <p:txBody>
          <a:bodyPr wrap="square" lIns="0" tIns="0" rIns="0" bIns="0" rtlCol="0" anchor="ctr">
            <a:normAutofit/>
          </a:bodyPr>
          <a:lstStyle/>
          <a:p>
            <a:pPr rtl="1" algn="r" indent="0" marL="0">
              <a:buNone/>
            </a:pPr>
            <a:r>
              <a:rPr lang="ar-SA" altLang="en-US" sz="2200" b="1" dirty="0">
                <a:solidFill>
                  <a:srgbClr val="D9AE4B"/>
                </a:solidFill>
                <a:latin typeface="Cairo" pitchFamily="34" charset="0"/>
                <a:ea typeface="Cairo" pitchFamily="34" charset="-122"/>
                <a:cs typeface="Cairo" pitchFamily="34" charset="-120"/>
              </a:rPr>
              <a:t>الطالب والأسرة</a:t>
            </a:r>
            <a:endParaRPr lang="ar-SA" sz="2200" dirty="0"/>
          </a:p>
        </p:txBody>
      </p:sp>
      <p:sp>
        <p:nvSpPr>
          <p:cNvPr id="5" name="Text 1"/>
          <p:cNvSpPr/>
          <p:nvPr/>
        </p:nvSpPr>
        <p:spPr>
          <a:xfrm>
            <a:off x="5669280" y="2286000"/>
            <a:ext cx="5699455" cy="548640"/>
          </a:xfrm>
          <a:prstGeom prst="rect">
            <a:avLst/>
          </a:prstGeom>
          <a:noFill/>
          <a:ln/>
        </p:spPr>
        <p:txBody>
          <a:bodyPr wrap="square" lIns="0" tIns="0" rIns="0" bIns="0" rtlCol="0" anchor="ctr">
            <a:normAutofit/>
          </a:bodyPr>
          <a:lstStyle/>
          <a:p>
            <a:pPr rtl="1" algn="r" indent="0" marL="0">
              <a:buNone/>
            </a:pPr>
            <a:r>
              <a:rPr lang="ar-SA" altLang="en-US" sz="2600" b="1" dirty="0">
                <a:solidFill>
                  <a:srgbClr val="C9CFE6"/>
                </a:solidFill>
                <a:latin typeface="Cairo" pitchFamily="34" charset="0"/>
                <a:ea typeface="Cairo" pitchFamily="34" charset="-122"/>
                <a:cs typeface="Cairo" pitchFamily="34" charset="-120"/>
              </a:rPr>
              <a:t>الموقف ٨</a:t>
            </a:r>
            <a:endParaRPr lang="ar-SA" sz="2600" dirty="0"/>
          </a:p>
        </p:txBody>
      </p:sp>
      <p:sp>
        <p:nvSpPr>
          <p:cNvPr id="6" name="Text 2"/>
          <p:cNvSpPr/>
          <p:nvPr/>
        </p:nvSpPr>
        <p:spPr>
          <a:xfrm>
            <a:off x="4572000" y="2834640"/>
            <a:ext cx="6796735" cy="1188720"/>
          </a:xfrm>
          <a:prstGeom prst="rect">
            <a:avLst/>
          </a:prstGeom>
          <a:noFill/>
          <a:ln/>
        </p:spPr>
        <p:txBody>
          <a:bodyPr wrap="square" lIns="0" tIns="0" rIns="0" bIns="0" rtlCol="0" anchor="ctr">
            <a:normAutofit/>
          </a:bodyPr>
          <a:lstStyle/>
          <a:p>
            <a:pPr rtl="1" algn="r" indent="0" marL="0">
              <a:buNone/>
            </a:pPr>
            <a:r>
              <a:rPr lang="ar-SA" altLang="en-US" sz="6000" dirty="0">
                <a:solidFill>
                  <a:srgbClr val="FFFFFF"/>
                </a:solidFill>
                <a:latin typeface="Cairo Black" pitchFamily="34" charset="0"/>
                <a:ea typeface="Cairo Black" pitchFamily="34" charset="-122"/>
                <a:cs typeface="Cairo Black" pitchFamily="34" charset="-120"/>
              </a:rPr>
              <a:t>مكالمة المساء</a:t>
            </a:r>
            <a:endParaRPr lang="ar-SA" sz="6000" dirty="0"/>
          </a:p>
        </p:txBody>
      </p:sp>
      <p:sp>
        <p:nvSpPr>
          <p:cNvPr id="7" name="Shape 3"/>
          <p:cNvSpPr/>
          <p:nvPr/>
        </p:nvSpPr>
        <p:spPr>
          <a:xfrm>
            <a:off x="10125151" y="4480560"/>
            <a:ext cx="1243584"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8" name="Text 4"/>
          <p:cNvSpPr/>
          <p:nvPr/>
        </p:nvSpPr>
        <p:spPr>
          <a:xfrm>
            <a:off x="10125151" y="4480560"/>
            <a:ext cx="1243584"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القصة</a:t>
            </a:r>
            <a:endParaRPr lang="ar-SA" sz="1500" dirty="0"/>
          </a:p>
        </p:txBody>
      </p:sp>
      <p:sp>
        <p:nvSpPr>
          <p:cNvPr id="9" name="Shape 5"/>
          <p:cNvSpPr/>
          <p:nvPr/>
        </p:nvSpPr>
        <p:spPr>
          <a:xfrm>
            <a:off x="8680399" y="4480560"/>
            <a:ext cx="1353312"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0" name="Text 6"/>
          <p:cNvSpPr/>
          <p:nvPr/>
        </p:nvSpPr>
        <p:spPr>
          <a:xfrm>
            <a:off x="8680399" y="4480560"/>
            <a:ext cx="1353312"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تصويت</a:t>
            </a:r>
            <a:endParaRPr lang="ar-SA" sz="1500" dirty="0"/>
          </a:p>
        </p:txBody>
      </p:sp>
      <p:sp>
        <p:nvSpPr>
          <p:cNvPr id="11" name="Shape 7"/>
          <p:cNvSpPr/>
          <p:nvPr/>
        </p:nvSpPr>
        <p:spPr>
          <a:xfrm>
            <a:off x="7235647" y="4480560"/>
            <a:ext cx="1353312"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2" name="Text 8"/>
          <p:cNvSpPr/>
          <p:nvPr/>
        </p:nvSpPr>
        <p:spPr>
          <a:xfrm>
            <a:off x="7235647" y="4480560"/>
            <a:ext cx="1353312"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لماذا؟</a:t>
            </a:r>
            <a:endParaRPr lang="ar-SA" sz="1500" dirty="0"/>
          </a:p>
        </p:txBody>
      </p:sp>
      <p:sp>
        <p:nvSpPr>
          <p:cNvPr id="13" name="Shape 9"/>
          <p:cNvSpPr/>
          <p:nvPr/>
        </p:nvSpPr>
        <p:spPr>
          <a:xfrm>
            <a:off x="5571439" y="4480560"/>
            <a:ext cx="1572768"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4" name="Text 10"/>
          <p:cNvSpPr/>
          <p:nvPr/>
        </p:nvSpPr>
        <p:spPr>
          <a:xfrm>
            <a:off x="5571439" y="4480560"/>
            <a:ext cx="1572768"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أول خطوة</a:t>
            </a:r>
            <a:endParaRPr lang="ar-SA" sz="1500" dirty="0"/>
          </a:p>
        </p:txBody>
      </p:sp>
      <p:sp>
        <p:nvSpPr>
          <p:cNvPr id="15" name="Shape 11"/>
          <p:cNvSpPr/>
          <p:nvPr/>
        </p:nvSpPr>
        <p:spPr>
          <a:xfrm>
            <a:off x="3687775" y="4480560"/>
            <a:ext cx="1792224"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6" name="Text 12"/>
          <p:cNvSpPr/>
          <p:nvPr/>
        </p:nvSpPr>
        <p:spPr>
          <a:xfrm>
            <a:off x="3687775" y="4480560"/>
            <a:ext cx="1792224"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ماذا تقول؟</a:t>
            </a:r>
            <a:endParaRPr lang="ar-SA" sz="1500" dirty="0"/>
          </a:p>
        </p:txBody>
      </p:sp>
      <p:sp>
        <p:nvSpPr>
          <p:cNvPr id="17" name="Text 1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18" name="Text 1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موقف: مكالمة المساء  ·  ١٢٠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16000" fill="hold"/>
                                        <p:tgtEl>
                                          <p:spTgt spid="2"/>
                                        </p:tgtEl>
                                      </p:cBhvr>
                                      <p:by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name="Slide 1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kb-1284" descr="/Users/mac/Desktop/أردوينو/المشاريع والكتب/younes-training/mawaqif/assets/scenes/nightcall.jpg">    </p:cNvPr>
          <p:cNvPicPr>
            <a:picLocks noChangeAspect="1"/>
          </p:cNvPicPr>
          <p:nvPr/>
        </p:nvPicPr>
        <p:blipFill>
          <a:blip r:embed="rId2"/>
          <a:stretch>
            <a:fillRect/>
          </a:stretch>
        </p:blipFill>
        <p:spPr>
          <a:xfrm>
            <a:off x="0" y="0"/>
            <a:ext cx="12191695" cy="6858000"/>
          </a:xfrm>
          <a:prstGeom prst="rect">
            <a:avLst/>
          </a:prstGeom>
        </p:spPr>
      </p:pic>
      <p:pic>
        <p:nvPicPr>
          <p:cNvPr id="3" name="Image 1" descr="/Users/mac/Desktop/أردوينو/المشاريع والكتب/younes-training/shared/assets/story-overlay.png">    </p:cNvPr>
          <p:cNvPicPr>
            <a:picLocks noChangeAspect="1"/>
          </p:cNvPicPr>
          <p:nvPr/>
        </p:nvPicPr>
        <p:blipFill>
          <a:blip r:embed="rId3"/>
          <a:stretch>
            <a:fillRect/>
          </a:stretch>
        </p:blipFill>
        <p:spPr>
          <a:xfrm>
            <a:off x="0" y="0"/>
            <a:ext cx="12191695" cy="6858000"/>
          </a:xfrm>
          <a:prstGeom prst="rect">
            <a:avLst/>
          </a:prstGeom>
        </p:spPr>
      </p:pic>
      <p:sp>
        <p:nvSpPr>
          <p:cNvPr id="4" name="Shape 0"/>
          <p:cNvSpPr/>
          <p:nvPr/>
        </p:nvSpPr>
        <p:spPr>
          <a:xfrm>
            <a:off x="7985455" y="365760"/>
            <a:ext cx="3657600" cy="502920"/>
          </a:xfrm>
          <a:prstGeom prst="roundRect">
            <a:avLst>
              <a:gd name="adj" fmla="val 49091"/>
            </a:avLst>
          </a:prstGeom>
          <a:solidFill>
            <a:srgbClr val="0A1230">
              <a:alpha val="80000"/>
            </a:srgbClr>
          </a:solidFill>
          <a:ln w="12700">
            <a:solidFill>
              <a:srgbClr val="D9AE4B">
                <a:alpha val="60000"/>
              </a:srgbClr>
            </a:solidFill>
            <a:prstDash val="solid"/>
          </a:ln>
        </p:spPr>
      </p:sp>
      <p:sp>
        <p:nvSpPr>
          <p:cNvPr id="5" name="Text 1"/>
          <p:cNvSpPr/>
          <p:nvPr/>
        </p:nvSpPr>
        <p:spPr>
          <a:xfrm>
            <a:off x="7985455" y="365760"/>
            <a:ext cx="3657600" cy="50292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 القصة · ماذا حدث؟</a:t>
            </a:r>
            <a:endParaRPr lang="ar-SA" sz="1800" dirty="0"/>
          </a:p>
        </p:txBody>
      </p:sp>
      <p:sp>
        <p:nvSpPr>
          <p:cNvPr id="6" name="Shape 2"/>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7" name="Text 3"/>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في التاسعة مساءً رنّ هاتف أ. ماجد. كانت والدة علاء، تلميذه في الرابع الابتدائي.</a:t>
            </a:r>
            <a:endParaRPr lang="ar-SA" sz="2400" dirty="0"/>
          </a:p>
        </p:txBody>
      </p:sp>
      <p:sp>
        <p:nvSpPr>
          <p:cNvPr id="8" name="anim-g1-1285"/>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9" name="anim-g1-1286"/>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«علاء يسهر كل ليلة على الأجهزة، ولا يسمع كلامي أبدًا… أرجوك كلّمه، فهو يسمعك أكثر مني!»</a:t>
            </a:r>
            <a:endParaRPr lang="ar-SA" sz="2400" dirty="0"/>
          </a:p>
        </p:txBody>
      </p:sp>
      <p:sp>
        <p:nvSpPr>
          <p:cNvPr id="10" name="anim-g2-1287"/>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11" name="anim-g2-1288"/>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600" b="1" dirty="0">
                <a:solidFill>
                  <a:srgbClr val="F0CC7A"/>
                </a:solidFill>
                <a:latin typeface="Cairo" pitchFamily="34" charset="0"/>
                <a:ea typeface="Cairo" pitchFamily="34" charset="-122"/>
                <a:cs typeface="Cairo" pitchFamily="34" charset="-120"/>
              </a:rPr>
              <a:t>وقف أ. ماجد بين حرجين: أن يردّ طلب أم قلقة… أو أن يتحمّل مسؤولية ليست مسؤوليته.</a:t>
            </a:r>
            <a:endParaRPr lang="ar-SA" sz="2600" dirty="0"/>
          </a:p>
        </p:txBody>
      </p:sp>
      <p:sp>
        <p:nvSpPr>
          <p:cNvPr id="12" name="Text 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13" name="Text 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موقف: مكالمة المساء  ·  ١٢١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16000" fill="hold"/>
                                        <p:tgtEl>
                                          <p:spTgt spid="2"/>
                                        </p:tgtEl>
                                      </p:cBhvr>
                                      <p:by x="112000" y="112000"/>
                                    </p:animScale>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slides/slide122.xml><?xml version="1.0" encoding="utf-8"?>
<p:sld xmlns:a="http://schemas.openxmlformats.org/drawingml/2006/main" xmlns:r="http://schemas.openxmlformats.org/officeDocument/2006/relationships" xmlns:p="http://schemas.openxmlformats.org/presentationml/2006/main">
  <p:cSld name="Slide 1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296351" y="457200"/>
            <a:ext cx="3072384" cy="457200"/>
          </a:xfrm>
          <a:prstGeom prst="roundRect">
            <a:avLst>
              <a:gd name="adj" fmla="val 50000"/>
            </a:avLst>
          </a:prstGeom>
          <a:solidFill>
            <a:srgbClr val="F6EBCF"/>
          </a:solidFill>
          <a:ln/>
        </p:spPr>
      </p:sp>
      <p:sp>
        <p:nvSpPr>
          <p:cNvPr id="3" name="Text 1"/>
          <p:cNvSpPr/>
          <p:nvPr/>
        </p:nvSpPr>
        <p:spPr>
          <a:xfrm>
            <a:off x="8296351" y="457200"/>
            <a:ext cx="307238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صوّت قبل أن نكشف</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ماذا يفعل أ. ماجد؟</a:t>
            </a:r>
            <a:endParaRPr lang="ar-SA" sz="38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يوافق، ويكلّم علاء غدًا أمام زملائه</a:t>
            </a:r>
            <a:endParaRPr lang="ar-SA" sz="2500" dirty="0"/>
          </a:p>
        </p:txBody>
      </p:sp>
      <p:sp>
        <p:nvSpPr>
          <p:cNvPr id="9" name="anim-g1-1289"/>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1290"/>
          <p:cNvSpPr/>
          <p:nvPr/>
        </p:nvSpPr>
        <p:spPr>
          <a:xfrm>
            <a:off x="10231831" y="2194560"/>
            <a:ext cx="954024" cy="954024"/>
          </a:xfrm>
          <a:prstGeom prst="roundRect">
            <a:avLst>
              <a:gd name="adj" fmla="val 11502"/>
            </a:avLst>
          </a:prstGeom>
          <a:solidFill>
            <a:srgbClr val="A3A9BA"/>
          </a:solidFill>
          <a:ln/>
        </p:spPr>
      </p:sp>
      <p:sp>
        <p:nvSpPr>
          <p:cNvPr id="11" name="anim-g1-1291"/>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1292"/>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يوافق، ويكلّم علاء غدًا أمام زملائه</a:t>
            </a:r>
            <a:endParaRPr lang="ar-SA" sz="2400" dirty="0"/>
          </a:p>
        </p:txBody>
      </p:sp>
      <p:sp>
        <p:nvSpPr>
          <p:cNvPr id="13" name="anim-g1-1293"/>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يصبح المعلم «الشرطي» البديل، فتضعف سلطة الأم أكثر</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يرفض: «هذه مسؤوليتكِ لا مسؤوليتي»</a:t>
            </a:r>
            <a:endParaRPr lang="ar-SA" sz="2500" dirty="0"/>
          </a:p>
        </p:txBody>
      </p:sp>
      <p:sp>
        <p:nvSpPr>
          <p:cNvPr id="18" name="anim-g1-1294"/>
          <p:cNvSpPr/>
          <p:nvPr/>
        </p:nvSpPr>
        <p:spPr>
          <a:xfrm>
            <a:off x="822960" y="3432048"/>
            <a:ext cx="10545775" cy="1228344"/>
          </a:xfrm>
          <a:prstGeom prst="roundRect">
            <a:avLst>
              <a:gd name="adj" fmla="val 11911"/>
            </a:avLst>
          </a:prstGeom>
          <a:solidFill>
            <a:srgbClr val="F7F7F9"/>
          </a:solidFill>
          <a:ln w="19050">
            <a:solidFill>
              <a:srgbClr val="E4DCC8"/>
            </a:solidFill>
            <a:prstDash val="solid"/>
          </a:ln>
        </p:spPr>
      </p:sp>
      <p:sp>
        <p:nvSpPr>
          <p:cNvPr id="19" name="anim-g1-1295"/>
          <p:cNvSpPr/>
          <p:nvPr/>
        </p:nvSpPr>
        <p:spPr>
          <a:xfrm>
            <a:off x="10231831" y="3569208"/>
            <a:ext cx="954024" cy="954024"/>
          </a:xfrm>
          <a:prstGeom prst="roundRect">
            <a:avLst>
              <a:gd name="adj" fmla="val 11502"/>
            </a:avLst>
          </a:prstGeom>
          <a:solidFill>
            <a:srgbClr val="A3A9BA"/>
          </a:solidFill>
          <a:ln/>
        </p:spPr>
      </p:sp>
      <p:sp>
        <p:nvSpPr>
          <p:cNvPr id="20" name="anim-g1-1296"/>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21" name="anim-g1-1297"/>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يرفض: «هذه مسؤوليتكِ لا مسؤوليتي»</a:t>
            </a:r>
            <a:endParaRPr lang="ar-SA" sz="2400" dirty="0"/>
          </a:p>
        </p:txBody>
      </p:sp>
      <p:sp>
        <p:nvSpPr>
          <p:cNvPr id="22" name="anim-g1-1298"/>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الرفض الجاف يخسر شريكًا مهمًا في تربية الطالب</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يساعد بطريقة تعيد السلطة للأم ولا تأخذها منها</a:t>
            </a:r>
            <a:endParaRPr lang="ar-SA" sz="2500" dirty="0"/>
          </a:p>
        </p:txBody>
      </p:sp>
      <p:sp>
        <p:nvSpPr>
          <p:cNvPr id="27" name="anim-g1-1299"/>
          <p:cNvSpPr/>
          <p:nvPr/>
        </p:nvSpPr>
        <p:spPr>
          <a:xfrm>
            <a:off x="822960" y="4806696"/>
            <a:ext cx="10545775" cy="1228344"/>
          </a:xfrm>
          <a:prstGeom prst="roundRect">
            <a:avLst>
              <a:gd name="adj" fmla="val 11911"/>
            </a:avLst>
          </a:prstGeom>
          <a:solidFill>
            <a:srgbClr val="E6F4EC"/>
          </a:solidFill>
          <a:ln w="31750">
            <a:solidFill>
              <a:srgbClr val="2E9E6B"/>
            </a:solidFill>
            <a:prstDash val="solid"/>
          </a:ln>
        </p:spPr>
      </p:sp>
      <p:sp>
        <p:nvSpPr>
          <p:cNvPr id="28" name="anim-g1-1300"/>
          <p:cNvSpPr/>
          <p:nvPr/>
        </p:nvSpPr>
        <p:spPr>
          <a:xfrm>
            <a:off x="10231831" y="4943856"/>
            <a:ext cx="954024" cy="954024"/>
          </a:xfrm>
          <a:prstGeom prst="roundRect">
            <a:avLst>
              <a:gd name="adj" fmla="val 11502"/>
            </a:avLst>
          </a:prstGeom>
          <a:solidFill>
            <a:srgbClr val="2E9E6B"/>
          </a:solidFill>
          <a:ln/>
        </p:spPr>
      </p:sp>
      <p:sp>
        <p:nvSpPr>
          <p:cNvPr id="29" name="anim-g1-1301"/>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30" name="anim-g1-1302"/>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يساعد بطريقة تعيد السلطة للأم ولا تأخذها منها</a:t>
            </a:r>
            <a:endParaRPr lang="ar-SA" sz="2400" dirty="0"/>
          </a:p>
        </p:txBody>
      </p:sp>
      <p:sp>
        <p:nvSpPr>
          <p:cNvPr id="31" name="anim-g1-1303"/>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الأم صاحبة القاعدة في البيت، والمعلم داعم لا بديل</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مكالمة المساء  ·  ١٢٢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123.xml><?xml version="1.0" encoding="utf-8"?>
<p:sld xmlns:a="http://schemas.openxmlformats.org/drawingml/2006/main" xmlns:r="http://schemas.openxmlformats.org/officeDocument/2006/relationships" xmlns:p="http://schemas.openxmlformats.org/presentationml/2006/main">
  <p:cSld name="Slide 1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442655" y="457200"/>
            <a:ext cx="2926080" cy="457200"/>
          </a:xfrm>
          <a:prstGeom prst="roundRect">
            <a:avLst>
              <a:gd name="adj" fmla="val 50000"/>
            </a:avLst>
          </a:prstGeom>
          <a:solidFill>
            <a:srgbClr val="F6EBCF"/>
          </a:solidFill>
          <a:ln/>
        </p:spPr>
      </p:sp>
      <p:sp>
        <p:nvSpPr>
          <p:cNvPr id="3" name="Text 1"/>
          <p:cNvSpPr/>
          <p:nvPr/>
        </p:nvSpPr>
        <p:spPr>
          <a:xfrm>
            <a:off x="8442655" y="457200"/>
            <a:ext cx="292608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لكلٍّ مملكته</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من صاحب السلطة؟</a:t>
            </a:r>
            <a:endParaRPr lang="ar-SA" sz="3800" dirty="0"/>
          </a:p>
        </p:txBody>
      </p:sp>
      <p:sp>
        <p:nvSpPr>
          <p:cNvPr id="5" name="anim-g1-1304"/>
          <p:cNvSpPr/>
          <p:nvPr/>
        </p:nvSpPr>
        <p:spPr>
          <a:xfrm>
            <a:off x="8005877" y="2011680"/>
            <a:ext cx="3362858" cy="2514600"/>
          </a:xfrm>
          <a:prstGeom prst="roundRect">
            <a:avLst>
              <a:gd name="adj" fmla="val 6545"/>
            </a:avLst>
          </a:prstGeom>
          <a:solidFill>
            <a:srgbClr val="FFFFFF"/>
          </a:solidFill>
          <a:ln w="12700">
            <a:solidFill>
              <a:srgbClr val="E4DCC8"/>
            </a:solidFill>
            <a:prstDash val="solid"/>
          </a:ln>
        </p:spPr>
      </p:sp>
      <p:sp>
        <p:nvSpPr>
          <p:cNvPr id="6" name="anim-g1-1305"/>
          <p:cNvSpPr/>
          <p:nvPr/>
        </p:nvSpPr>
        <p:spPr>
          <a:xfrm>
            <a:off x="9367266" y="2194560"/>
            <a:ext cx="640080" cy="640080"/>
          </a:xfrm>
          <a:prstGeom prst="roundRect">
            <a:avLst>
              <a:gd name="adj" fmla="val 25714"/>
            </a:avLst>
          </a:prstGeom>
          <a:solidFill>
            <a:srgbClr val="F7E6BC"/>
          </a:solidFill>
          <a:ln/>
        </p:spPr>
      </p:sp>
      <p:sp>
        <p:nvSpPr>
          <p:cNvPr id="7" name="anim-g1-1306"/>
          <p:cNvSpPr/>
          <p:nvPr/>
        </p:nvSpPr>
        <p:spPr>
          <a:xfrm>
            <a:off x="9367266"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8" name="anim-g1-1307"/>
          <p:cNvSpPr/>
          <p:nvPr/>
        </p:nvSpPr>
        <p:spPr>
          <a:xfrm>
            <a:off x="8143037" y="2926080"/>
            <a:ext cx="3088538"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في البيت</a:t>
            </a:r>
            <a:endParaRPr lang="ar-SA" sz="2200" dirty="0"/>
          </a:p>
        </p:txBody>
      </p:sp>
      <p:sp>
        <p:nvSpPr>
          <p:cNvPr id="9" name="anim-g1-1308"/>
          <p:cNvSpPr/>
          <p:nvPr/>
        </p:nvSpPr>
        <p:spPr>
          <a:xfrm>
            <a:off x="8143037" y="3429000"/>
            <a:ext cx="3088538"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الوالدان يضعان القواعد ويتابعانها</a:t>
            </a:r>
            <a:endParaRPr lang="ar-SA" sz="1900" dirty="0"/>
          </a:p>
        </p:txBody>
      </p:sp>
      <p:sp>
        <p:nvSpPr>
          <p:cNvPr id="10" name="anim-g2-1309"/>
          <p:cNvSpPr/>
          <p:nvPr/>
        </p:nvSpPr>
        <p:spPr>
          <a:xfrm>
            <a:off x="4414418" y="2011680"/>
            <a:ext cx="3362858" cy="2514600"/>
          </a:xfrm>
          <a:prstGeom prst="roundRect">
            <a:avLst>
              <a:gd name="adj" fmla="val 6545"/>
            </a:avLst>
          </a:prstGeom>
          <a:solidFill>
            <a:srgbClr val="FFFFFF"/>
          </a:solidFill>
          <a:ln w="12700">
            <a:solidFill>
              <a:srgbClr val="E4DCC8"/>
            </a:solidFill>
            <a:prstDash val="solid"/>
          </a:ln>
        </p:spPr>
      </p:sp>
      <p:sp>
        <p:nvSpPr>
          <p:cNvPr id="11" name="anim-g2-1310"/>
          <p:cNvSpPr/>
          <p:nvPr/>
        </p:nvSpPr>
        <p:spPr>
          <a:xfrm>
            <a:off x="5775808" y="2194560"/>
            <a:ext cx="640080" cy="640080"/>
          </a:xfrm>
          <a:prstGeom prst="roundRect">
            <a:avLst>
              <a:gd name="adj" fmla="val 25714"/>
            </a:avLst>
          </a:prstGeom>
          <a:solidFill>
            <a:srgbClr val="F7E6BC"/>
          </a:solidFill>
          <a:ln/>
        </p:spPr>
      </p:sp>
      <p:sp>
        <p:nvSpPr>
          <p:cNvPr id="12" name="anim-g2-1311"/>
          <p:cNvSpPr/>
          <p:nvPr/>
        </p:nvSpPr>
        <p:spPr>
          <a:xfrm>
            <a:off x="5775808"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13" name="anim-g2-1312"/>
          <p:cNvSpPr/>
          <p:nvPr/>
        </p:nvSpPr>
        <p:spPr>
          <a:xfrm>
            <a:off x="4551578" y="2926080"/>
            <a:ext cx="3088538"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في الفصل</a:t>
            </a:r>
            <a:endParaRPr lang="ar-SA" sz="2200" dirty="0"/>
          </a:p>
        </p:txBody>
      </p:sp>
      <p:sp>
        <p:nvSpPr>
          <p:cNvPr id="14" name="anim-g2-1313"/>
          <p:cNvSpPr/>
          <p:nvPr/>
        </p:nvSpPr>
        <p:spPr>
          <a:xfrm>
            <a:off x="4551578" y="3429000"/>
            <a:ext cx="3088538"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المعلم هو السلطة، لا الوكيل ولا المرشد</a:t>
            </a:r>
            <a:endParaRPr lang="ar-SA" sz="1900" dirty="0"/>
          </a:p>
        </p:txBody>
      </p:sp>
      <p:sp>
        <p:nvSpPr>
          <p:cNvPr id="15" name="anim-g3-1314"/>
          <p:cNvSpPr/>
          <p:nvPr/>
        </p:nvSpPr>
        <p:spPr>
          <a:xfrm>
            <a:off x="822960" y="2011680"/>
            <a:ext cx="3362858" cy="2514600"/>
          </a:xfrm>
          <a:prstGeom prst="roundRect">
            <a:avLst>
              <a:gd name="adj" fmla="val 6545"/>
            </a:avLst>
          </a:prstGeom>
          <a:solidFill>
            <a:srgbClr val="FFFFFF"/>
          </a:solidFill>
          <a:ln w="12700">
            <a:solidFill>
              <a:srgbClr val="E4DCC8"/>
            </a:solidFill>
            <a:prstDash val="solid"/>
          </a:ln>
        </p:spPr>
      </p:sp>
      <p:sp>
        <p:nvSpPr>
          <p:cNvPr id="16" name="anim-g3-1315"/>
          <p:cNvSpPr/>
          <p:nvPr/>
        </p:nvSpPr>
        <p:spPr>
          <a:xfrm>
            <a:off x="2184349" y="2194560"/>
            <a:ext cx="640080" cy="640080"/>
          </a:xfrm>
          <a:prstGeom prst="roundRect">
            <a:avLst>
              <a:gd name="adj" fmla="val 25714"/>
            </a:avLst>
          </a:prstGeom>
          <a:solidFill>
            <a:srgbClr val="F7E6BC"/>
          </a:solidFill>
          <a:ln/>
        </p:spPr>
      </p:sp>
      <p:sp>
        <p:nvSpPr>
          <p:cNvPr id="17" name="anim-g3-1316"/>
          <p:cNvSpPr/>
          <p:nvPr/>
        </p:nvSpPr>
        <p:spPr>
          <a:xfrm>
            <a:off x="2184349"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18" name="anim-g3-1317"/>
          <p:cNvSpPr/>
          <p:nvPr/>
        </p:nvSpPr>
        <p:spPr>
          <a:xfrm>
            <a:off x="960120" y="2926080"/>
            <a:ext cx="3088538"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بين الاثنين</a:t>
            </a:r>
            <a:endParaRPr lang="ar-SA" sz="2200" dirty="0"/>
          </a:p>
        </p:txBody>
      </p:sp>
      <p:sp>
        <p:nvSpPr>
          <p:cNvPr id="19" name="anim-g3-1318"/>
          <p:cNvSpPr/>
          <p:nvPr/>
        </p:nvSpPr>
        <p:spPr>
          <a:xfrm>
            <a:off x="960120" y="3429000"/>
            <a:ext cx="3088538"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كلٌّ يدعم الآخر، ولا يحلّ محله</a:t>
            </a:r>
            <a:endParaRPr lang="ar-SA" sz="1900" dirty="0"/>
          </a:p>
        </p:txBody>
      </p:sp>
      <p:sp>
        <p:nvSpPr>
          <p:cNvPr id="20" name="anim-g4-1319"/>
          <p:cNvSpPr/>
          <p:nvPr/>
        </p:nvSpPr>
        <p:spPr>
          <a:xfrm>
            <a:off x="822960" y="4754880"/>
            <a:ext cx="10545775" cy="1051560"/>
          </a:xfrm>
          <a:prstGeom prst="roundRect">
            <a:avLst>
              <a:gd name="adj" fmla="val 17391"/>
            </a:avLst>
          </a:prstGeom>
          <a:solidFill>
            <a:srgbClr val="101B45"/>
          </a:solidFill>
          <a:ln/>
        </p:spPr>
      </p:sp>
      <p:sp>
        <p:nvSpPr>
          <p:cNvPr id="21" name="anim-g4-1320"/>
          <p:cNvSpPr/>
          <p:nvPr/>
        </p:nvSpPr>
        <p:spPr>
          <a:xfrm>
            <a:off x="1097280" y="4754880"/>
            <a:ext cx="9997135" cy="1051560"/>
          </a:xfrm>
          <a:prstGeom prst="rect">
            <a:avLst/>
          </a:prstGeom>
          <a:noFill/>
          <a:ln/>
        </p:spPr>
        <p:txBody>
          <a:bodyPr wrap="square" lIns="0" tIns="0" rIns="0" bIns="0" rtlCol="0" anchor="ctr">
            <a:normAutofit/>
          </a:bodyPr>
          <a:lstStyle/>
          <a:p>
            <a:pPr algn="ctr" indent="0" marL="0">
              <a:buNone/>
            </a:pPr>
            <a:r>
              <a:rPr lang="ar-SA" altLang="en-US" sz="2200" b="1" dirty="0">
                <a:solidFill>
                  <a:srgbClr val="FFFFFF"/>
                </a:solidFill>
                <a:latin typeface="Cairo" pitchFamily="34" charset="0"/>
                <a:ea typeface="Cairo" pitchFamily="34" charset="-122"/>
                <a:cs typeface="Cairo" pitchFamily="34" charset="-120"/>
              </a:rPr>
              <a:t>💡 كما أن الأم سلطة البيت…</a:t>
            </a:r>
            <a:endParaRPr lang="ar-SA" sz="2200" dirty="0"/>
          </a:p>
          <a:p>
            <a:pPr algn="ctr" indent="0" marL="0">
              <a:buNone/>
            </a:pPr>
            <a:r>
              <a:rPr lang="ar-SA" altLang="en-US" sz="2200" b="1" dirty="0">
                <a:solidFill>
                  <a:srgbClr val="F0CC7A"/>
                </a:solidFill>
                <a:latin typeface="Cairo" pitchFamily="34" charset="0"/>
                <a:ea typeface="Cairo" pitchFamily="34" charset="-122"/>
                <a:cs typeface="Cairo" pitchFamily="34" charset="-120"/>
              </a:rPr>
              <a:t> فالمعلم سلطة الفصل. والشريك يدعم ولا ينوب</a:t>
            </a:r>
            <a:endParaRPr lang="ar-SA" sz="2200" dirty="0"/>
          </a:p>
        </p:txBody>
      </p:sp>
      <p:sp>
        <p:nvSpPr>
          <p:cNvPr id="22" name="Text 2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3" name="Text 2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مكالمة المساء  ·  ١٢٣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124.xml><?xml version="1.0" encoding="utf-8"?>
<p:sld xmlns:a="http://schemas.openxmlformats.org/drawingml/2006/main" xmlns:r="http://schemas.openxmlformats.org/officeDocument/2006/relationships" xmlns:p="http://schemas.openxmlformats.org/presentationml/2006/main">
  <p:cSld name="Slide 1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296351" y="457200"/>
            <a:ext cx="3072384" cy="457200"/>
          </a:xfrm>
          <a:prstGeom prst="roundRect">
            <a:avLst>
              <a:gd name="adj" fmla="val 50000"/>
            </a:avLst>
          </a:prstGeom>
          <a:solidFill>
            <a:srgbClr val="F6EBCF"/>
          </a:solidFill>
          <a:ln/>
        </p:spPr>
      </p:sp>
      <p:sp>
        <p:nvSpPr>
          <p:cNvPr id="3" name="Text 1"/>
          <p:cNvSpPr/>
          <p:nvPr/>
        </p:nvSpPr>
        <p:spPr>
          <a:xfrm>
            <a:off x="8296351" y="457200"/>
            <a:ext cx="307238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خلال المكالمة</a:t>
            </a:r>
            <a:endParaRPr lang="ar-SA" sz="1800" dirty="0"/>
          </a:p>
        </p:txBody>
      </p:sp>
      <p:sp>
        <p:nvSpPr>
          <p:cNvPr id="4" name="Shape 2"/>
          <p:cNvSpPr/>
          <p:nvPr/>
        </p:nvSpPr>
        <p:spPr>
          <a:xfrm>
            <a:off x="822960" y="457200"/>
            <a:ext cx="1737360" cy="457200"/>
          </a:xfrm>
          <a:prstGeom prst="roundRect">
            <a:avLst>
              <a:gd name="adj" fmla="val 50000"/>
            </a:avLst>
          </a:prstGeom>
          <a:solidFill>
            <a:srgbClr val="FBECEC"/>
          </a:solidFill>
          <a:ln/>
        </p:spPr>
      </p:sp>
      <p:sp>
        <p:nvSpPr>
          <p:cNvPr id="5" name="Text 3"/>
          <p:cNvSpPr/>
          <p:nvPr/>
        </p:nvSpPr>
        <p:spPr>
          <a:xfrm>
            <a:off x="822960" y="457200"/>
            <a:ext cx="1737360"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D64545"/>
                </a:solidFill>
                <a:latin typeface="Cairo" pitchFamily="34" charset="0"/>
                <a:ea typeface="Cairo" pitchFamily="34" charset="-122"/>
                <a:cs typeface="Cairo" pitchFamily="34" charset="-120"/>
              </a:rPr>
              <a:t>⏱ المكالمة</a:t>
            </a:r>
            <a:endParaRPr lang="ar-SA" sz="1600" dirty="0"/>
          </a:p>
        </p:txBody>
      </p:sp>
      <p:sp>
        <p:nvSpPr>
          <p:cNvPr id="6" name="Text 4"/>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كيف يرد أ. ماجد؟</a:t>
            </a:r>
            <a:endParaRPr lang="ar-SA" sz="3800" dirty="0"/>
          </a:p>
        </p:txBody>
      </p:sp>
      <p:sp>
        <p:nvSpPr>
          <p:cNvPr id="7" name="anim-g1-1321"/>
          <p:cNvSpPr/>
          <p:nvPr/>
        </p:nvSpPr>
        <p:spPr>
          <a:xfrm>
            <a:off x="8903741" y="2148840"/>
            <a:ext cx="2464994" cy="3383280"/>
          </a:xfrm>
          <a:prstGeom prst="roundRect">
            <a:avLst>
              <a:gd name="adj" fmla="val 6677"/>
            </a:avLst>
          </a:prstGeom>
          <a:solidFill>
            <a:srgbClr val="FFFFFF"/>
          </a:solidFill>
          <a:ln w="12700">
            <a:solidFill>
              <a:srgbClr val="E4DCC8"/>
            </a:solidFill>
            <a:prstDash val="solid"/>
          </a:ln>
        </p:spPr>
      </p:sp>
      <p:sp>
        <p:nvSpPr>
          <p:cNvPr id="8" name="anim-g1-1322"/>
          <p:cNvSpPr/>
          <p:nvPr/>
        </p:nvSpPr>
        <p:spPr>
          <a:xfrm>
            <a:off x="9747618" y="2423160"/>
            <a:ext cx="777240" cy="777240"/>
          </a:xfrm>
          <a:prstGeom prst="ellipse">
            <a:avLst/>
          </a:prstGeom>
          <a:solidFill>
            <a:srgbClr val="D9AE4B"/>
          </a:solidFill>
          <a:ln/>
        </p:spPr>
      </p:sp>
      <p:sp>
        <p:nvSpPr>
          <p:cNvPr id="9" name="anim-g1-1323"/>
          <p:cNvSpPr/>
          <p:nvPr/>
        </p:nvSpPr>
        <p:spPr>
          <a:xfrm>
            <a:off x="9747618"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١</a:t>
            </a:r>
            <a:endParaRPr lang="ar-SA" sz="2800" dirty="0"/>
          </a:p>
        </p:txBody>
      </p:sp>
      <p:sp>
        <p:nvSpPr>
          <p:cNvPr id="10" name="anim-g1-1324"/>
          <p:cNvSpPr/>
          <p:nvPr/>
        </p:nvSpPr>
        <p:spPr>
          <a:xfrm>
            <a:off x="9040901"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اشكر</a:t>
            </a:r>
            <a:endParaRPr lang="ar-SA" sz="2500" dirty="0"/>
          </a:p>
        </p:txBody>
      </p:sp>
      <p:sp>
        <p:nvSpPr>
          <p:cNvPr id="11" name="anim-g1-1325"/>
          <p:cNvSpPr/>
          <p:nvPr/>
        </p:nvSpPr>
        <p:spPr>
          <a:xfrm>
            <a:off x="9086621"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ثقتها بك بداية شراكة</a:t>
            </a:r>
            <a:endParaRPr lang="ar-SA" sz="2000" dirty="0"/>
          </a:p>
        </p:txBody>
      </p:sp>
      <p:sp>
        <p:nvSpPr>
          <p:cNvPr id="12" name="anim-g2-1326"/>
          <p:cNvSpPr/>
          <p:nvPr/>
        </p:nvSpPr>
        <p:spPr>
          <a:xfrm>
            <a:off x="6210148" y="2148840"/>
            <a:ext cx="2464994" cy="3383280"/>
          </a:xfrm>
          <a:prstGeom prst="roundRect">
            <a:avLst>
              <a:gd name="adj" fmla="val 6677"/>
            </a:avLst>
          </a:prstGeom>
          <a:solidFill>
            <a:srgbClr val="FFFFFF"/>
          </a:solidFill>
          <a:ln w="12700">
            <a:solidFill>
              <a:srgbClr val="E4DCC8"/>
            </a:solidFill>
            <a:prstDash val="solid"/>
          </a:ln>
        </p:spPr>
      </p:sp>
      <p:sp>
        <p:nvSpPr>
          <p:cNvPr id="13" name="anim-g2-1327"/>
          <p:cNvSpPr/>
          <p:nvPr/>
        </p:nvSpPr>
        <p:spPr>
          <a:xfrm>
            <a:off x="7054024" y="2423160"/>
            <a:ext cx="777240" cy="777240"/>
          </a:xfrm>
          <a:prstGeom prst="ellipse">
            <a:avLst/>
          </a:prstGeom>
          <a:solidFill>
            <a:srgbClr val="D9AE4B"/>
          </a:solidFill>
          <a:ln/>
        </p:spPr>
      </p:sp>
      <p:sp>
        <p:nvSpPr>
          <p:cNvPr id="14" name="anim-g2-1328"/>
          <p:cNvSpPr/>
          <p:nvPr/>
        </p:nvSpPr>
        <p:spPr>
          <a:xfrm>
            <a:off x="7054024"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٢</a:t>
            </a:r>
            <a:endParaRPr lang="ar-SA" sz="2800" dirty="0"/>
          </a:p>
        </p:txBody>
      </p:sp>
      <p:sp>
        <p:nvSpPr>
          <p:cNvPr id="15" name="anim-g2-1329"/>
          <p:cNvSpPr/>
          <p:nvPr/>
        </p:nvSpPr>
        <p:spPr>
          <a:xfrm>
            <a:off x="6347308"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أعِد السلطة</a:t>
            </a:r>
            <a:endParaRPr lang="ar-SA" sz="2500" dirty="0"/>
          </a:p>
        </p:txBody>
      </p:sp>
      <p:sp>
        <p:nvSpPr>
          <p:cNvPr id="16" name="anim-g2-1330"/>
          <p:cNvSpPr/>
          <p:nvPr/>
        </p:nvSpPr>
        <p:spPr>
          <a:xfrm>
            <a:off x="6393028"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«أنتِ صاحبة القرار في البيت»</a:t>
            </a:r>
            <a:endParaRPr lang="ar-SA" sz="2000" dirty="0"/>
          </a:p>
        </p:txBody>
      </p:sp>
      <p:sp>
        <p:nvSpPr>
          <p:cNvPr id="17" name="anim-g3-1331"/>
          <p:cNvSpPr/>
          <p:nvPr/>
        </p:nvSpPr>
        <p:spPr>
          <a:xfrm>
            <a:off x="3516554" y="2148840"/>
            <a:ext cx="2464994" cy="3383280"/>
          </a:xfrm>
          <a:prstGeom prst="roundRect">
            <a:avLst>
              <a:gd name="adj" fmla="val 6677"/>
            </a:avLst>
          </a:prstGeom>
          <a:solidFill>
            <a:srgbClr val="FFFFFF"/>
          </a:solidFill>
          <a:ln w="12700">
            <a:solidFill>
              <a:srgbClr val="E4DCC8"/>
            </a:solidFill>
            <a:prstDash val="solid"/>
          </a:ln>
        </p:spPr>
      </p:sp>
      <p:sp>
        <p:nvSpPr>
          <p:cNvPr id="18" name="anim-g3-1332"/>
          <p:cNvSpPr/>
          <p:nvPr/>
        </p:nvSpPr>
        <p:spPr>
          <a:xfrm>
            <a:off x="4360431" y="2423160"/>
            <a:ext cx="777240" cy="777240"/>
          </a:xfrm>
          <a:prstGeom prst="ellipse">
            <a:avLst/>
          </a:prstGeom>
          <a:solidFill>
            <a:srgbClr val="D9AE4B"/>
          </a:solidFill>
          <a:ln/>
        </p:spPr>
      </p:sp>
      <p:sp>
        <p:nvSpPr>
          <p:cNvPr id="19" name="anim-g3-1333"/>
          <p:cNvSpPr/>
          <p:nvPr/>
        </p:nvSpPr>
        <p:spPr>
          <a:xfrm>
            <a:off x="4360431"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٣</a:t>
            </a:r>
            <a:endParaRPr lang="ar-SA" sz="2800" dirty="0"/>
          </a:p>
        </p:txBody>
      </p:sp>
      <p:sp>
        <p:nvSpPr>
          <p:cNvPr id="20" name="anim-g3-1334"/>
          <p:cNvSpPr/>
          <p:nvPr/>
        </p:nvSpPr>
        <p:spPr>
          <a:xfrm>
            <a:off x="3653714"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اقترح أداة</a:t>
            </a:r>
            <a:endParaRPr lang="ar-SA" sz="2500" dirty="0"/>
          </a:p>
        </p:txBody>
      </p:sp>
      <p:sp>
        <p:nvSpPr>
          <p:cNvPr id="21" name="anim-g3-1335"/>
          <p:cNvSpPr/>
          <p:nvPr/>
        </p:nvSpPr>
        <p:spPr>
          <a:xfrm>
            <a:off x="3699434"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جدول نوم يتفق عليه علاء مع والدته</a:t>
            </a:r>
            <a:endParaRPr lang="ar-SA" sz="2000" dirty="0"/>
          </a:p>
        </p:txBody>
      </p:sp>
      <p:sp>
        <p:nvSpPr>
          <p:cNvPr id="22" name="anim-g4-1336"/>
          <p:cNvSpPr/>
          <p:nvPr/>
        </p:nvSpPr>
        <p:spPr>
          <a:xfrm>
            <a:off x="822960" y="2148840"/>
            <a:ext cx="2464994" cy="3383280"/>
          </a:xfrm>
          <a:prstGeom prst="roundRect">
            <a:avLst>
              <a:gd name="adj" fmla="val 6677"/>
            </a:avLst>
          </a:prstGeom>
          <a:solidFill>
            <a:srgbClr val="FFFFFF"/>
          </a:solidFill>
          <a:ln w="12700">
            <a:solidFill>
              <a:srgbClr val="E4DCC8"/>
            </a:solidFill>
            <a:prstDash val="solid"/>
          </a:ln>
        </p:spPr>
      </p:sp>
      <p:sp>
        <p:nvSpPr>
          <p:cNvPr id="23" name="anim-g4-1337"/>
          <p:cNvSpPr/>
          <p:nvPr/>
        </p:nvSpPr>
        <p:spPr>
          <a:xfrm>
            <a:off x="1666837" y="2423160"/>
            <a:ext cx="777240" cy="777240"/>
          </a:xfrm>
          <a:prstGeom prst="ellipse">
            <a:avLst/>
          </a:prstGeom>
          <a:solidFill>
            <a:srgbClr val="D9AE4B"/>
          </a:solidFill>
          <a:ln/>
        </p:spPr>
      </p:sp>
      <p:sp>
        <p:nvSpPr>
          <p:cNvPr id="24" name="anim-g4-1338"/>
          <p:cNvSpPr/>
          <p:nvPr/>
        </p:nvSpPr>
        <p:spPr>
          <a:xfrm>
            <a:off x="1666837"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٤</a:t>
            </a:r>
            <a:endParaRPr lang="ar-SA" sz="2800" dirty="0"/>
          </a:p>
        </p:txBody>
      </p:sp>
      <p:sp>
        <p:nvSpPr>
          <p:cNvPr id="25" name="anim-g4-1339"/>
          <p:cNvSpPr/>
          <p:nvPr/>
        </p:nvSpPr>
        <p:spPr>
          <a:xfrm>
            <a:off x="960120"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ادعم في الفصل</a:t>
            </a:r>
            <a:endParaRPr lang="ar-SA" sz="2500" dirty="0"/>
          </a:p>
        </p:txBody>
      </p:sp>
      <p:sp>
        <p:nvSpPr>
          <p:cNvPr id="26" name="anim-g4-1340"/>
          <p:cNvSpPr/>
          <p:nvPr/>
        </p:nvSpPr>
        <p:spPr>
          <a:xfrm>
            <a:off x="1005840"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حديث عام عن النوم دون ذكر علاء</a:t>
            </a:r>
            <a:endParaRPr lang="ar-SA" sz="2000" dirty="0"/>
          </a:p>
        </p:txBody>
      </p:sp>
      <p:sp>
        <p:nvSpPr>
          <p:cNvPr id="27" name="Text 2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8" name="Text 2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مكالمة المساء  ·  ١٢٤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400"/>
                                        <p:tgtEl>
                                          <p:spTgt spid="1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40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4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400"/>
                                        <p:tgtEl>
                                          <p:spTgt spid="1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400"/>
                                        <p:tgtEl>
                                          <p:spTgt spid="2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400"/>
                                        <p:tgtEl>
                                          <p:spTgt spid="21"/>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400"/>
                                        <p:tgtEl>
                                          <p:spTgt spid="2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400"/>
                                        <p:tgtEl>
                                          <p:spTgt spid="2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400"/>
                                        <p:tgtEl>
                                          <p:spTgt spid="2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400"/>
                                        <p:tgtEl>
                                          <p:spTgt spid="2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125.xml><?xml version="1.0" encoding="utf-8"?>
<p:sld xmlns:a="http://schemas.openxmlformats.org/drawingml/2006/main" xmlns:r="http://schemas.openxmlformats.org/officeDocument/2006/relationships" xmlns:p="http://schemas.openxmlformats.org/presentationml/2006/main">
  <p:cSld name="Slide 1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588959" y="457200"/>
            <a:ext cx="2779776" cy="457200"/>
          </a:xfrm>
          <a:prstGeom prst="roundRect">
            <a:avLst>
              <a:gd name="adj" fmla="val 50000"/>
            </a:avLst>
          </a:prstGeom>
          <a:solidFill>
            <a:srgbClr val="F6EBCF"/>
          </a:solidFill>
          <a:ln/>
        </p:spPr>
      </p:sp>
      <p:sp>
        <p:nvSpPr>
          <p:cNvPr id="3" name="Text 1"/>
          <p:cNvSpPr/>
          <p:nvPr/>
        </p:nvSpPr>
        <p:spPr>
          <a:xfrm>
            <a:off x="8588959" y="457200"/>
            <a:ext cx="277977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الجُمل الجاهزة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ماذا تقول بالحرف؟</a:t>
            </a:r>
            <a:endParaRPr lang="ar-SA" sz="3800" dirty="0"/>
          </a:p>
        </p:txBody>
      </p:sp>
      <p:sp>
        <p:nvSpPr>
          <p:cNvPr id="5" name="anim-g1-1341"/>
          <p:cNvSpPr/>
          <p:nvPr/>
        </p:nvSpPr>
        <p:spPr>
          <a:xfrm>
            <a:off x="9768535" y="2130552"/>
            <a:ext cx="1600200" cy="819912"/>
          </a:xfrm>
          <a:prstGeom prst="roundRect">
            <a:avLst>
              <a:gd name="adj" fmla="val 16729"/>
            </a:avLst>
          </a:prstGeom>
          <a:solidFill>
            <a:srgbClr val="E9EDF9"/>
          </a:solidFill>
          <a:ln/>
        </p:spPr>
      </p:sp>
      <p:sp>
        <p:nvSpPr>
          <p:cNvPr id="6" name="anim-g1-1342"/>
          <p:cNvSpPr/>
          <p:nvPr/>
        </p:nvSpPr>
        <p:spPr>
          <a:xfrm>
            <a:off x="9814255" y="2130552"/>
            <a:ext cx="1508760" cy="81991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للأم</a:t>
            </a:r>
            <a:endParaRPr lang="ar-SA" sz="1800" dirty="0"/>
          </a:p>
        </p:txBody>
      </p:sp>
      <p:sp>
        <p:nvSpPr>
          <p:cNvPr id="7" name="anim-g1-1343"/>
          <p:cNvSpPr/>
          <p:nvPr/>
        </p:nvSpPr>
        <p:spPr>
          <a:xfrm>
            <a:off x="822960" y="2057400"/>
            <a:ext cx="8716975" cy="966216"/>
          </a:xfrm>
          <a:prstGeom prst="roundRect">
            <a:avLst>
              <a:gd name="adj" fmla="val 20820"/>
            </a:avLst>
          </a:prstGeom>
          <a:solidFill>
            <a:srgbClr val="101B45"/>
          </a:solidFill>
          <a:ln/>
        </p:spPr>
      </p:sp>
      <p:sp>
        <p:nvSpPr>
          <p:cNvPr id="8" name="anim-g1-1344"/>
          <p:cNvSpPr/>
          <p:nvPr/>
        </p:nvSpPr>
        <p:spPr>
          <a:xfrm>
            <a:off x="1097280" y="2057400"/>
            <a:ext cx="8168335" cy="966216"/>
          </a:xfrm>
          <a:prstGeom prst="rect">
            <a:avLst/>
          </a:prstGeom>
          <a:noFill/>
          <a:ln/>
        </p:spPr>
        <p:txBody>
          <a:bodyPr wrap="square" lIns="0" tIns="0" rIns="0" bIns="0" rtlCol="0" anchor="ctr">
            <a:normAutofit/>
          </a:bodyPr>
          <a:lstStyle/>
          <a:p>
            <a:pPr algn="r" indent="0" marL="0">
              <a:buNone/>
            </a:pPr>
            <a:r>
              <a:rPr lang="ar-SA" altLang="en-US" sz="2200" b="1" dirty="0">
                <a:solidFill>
                  <a:srgbClr val="D9AE4B"/>
                </a:solidFill>
                <a:latin typeface="Cairo" pitchFamily="34" charset="0"/>
                <a:ea typeface="Cairo" pitchFamily="34" charset="-122"/>
                <a:cs typeface="Cairo" pitchFamily="34" charset="-120"/>
              </a:rPr>
              <a:t>« </a:t>
            </a:r>
            <a:pPr algn="r" indent="0" marL="0">
              <a:buNone/>
            </a:pPr>
            <a:r>
              <a:rPr lang="ar-SA" altLang="en-US" sz="2200" b="1" dirty="0">
                <a:solidFill>
                  <a:srgbClr val="FFFFFF"/>
                </a:solidFill>
                <a:latin typeface="Cairo" pitchFamily="34" charset="0"/>
                <a:ea typeface="Cairo" pitchFamily="34" charset="-122"/>
                <a:cs typeface="Cairo" pitchFamily="34" charset="-120"/>
              </a:rPr>
              <a:t>أشكرك على ثقتك. أنتِ صاحبة القاعدة في البيت، وأنا سأدعمك</a:t>
            </a:r>
            <a:pPr algn="r" indent="0" marL="0">
              <a:buNone/>
            </a:pPr>
            <a:r>
              <a:rPr lang="ar-SA" altLang="en-US" sz="2200" b="1" dirty="0">
                <a:solidFill>
                  <a:srgbClr val="D9AE4B"/>
                </a:solidFill>
                <a:latin typeface="Cairo" pitchFamily="34" charset="0"/>
                <a:ea typeface="Cairo" pitchFamily="34" charset="-122"/>
                <a:cs typeface="Cairo" pitchFamily="34" charset="-120"/>
              </a:rPr>
              <a:t> »</a:t>
            </a:r>
            <a:endParaRPr lang="ar-SA" sz="2200" dirty="0"/>
          </a:p>
        </p:txBody>
      </p:sp>
      <p:sp>
        <p:nvSpPr>
          <p:cNvPr id="9" name="anim-g2-1345"/>
          <p:cNvSpPr/>
          <p:nvPr/>
        </p:nvSpPr>
        <p:spPr>
          <a:xfrm>
            <a:off x="9768535" y="3243072"/>
            <a:ext cx="1600200" cy="819912"/>
          </a:xfrm>
          <a:prstGeom prst="roundRect">
            <a:avLst>
              <a:gd name="adj" fmla="val 16729"/>
            </a:avLst>
          </a:prstGeom>
          <a:solidFill>
            <a:srgbClr val="E9EDF9"/>
          </a:solidFill>
          <a:ln/>
        </p:spPr>
      </p:sp>
      <p:sp>
        <p:nvSpPr>
          <p:cNvPr id="10" name="anim-g2-1346"/>
          <p:cNvSpPr/>
          <p:nvPr/>
        </p:nvSpPr>
        <p:spPr>
          <a:xfrm>
            <a:off x="9814255" y="3243072"/>
            <a:ext cx="1508760" cy="81991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اقتراح</a:t>
            </a:r>
            <a:endParaRPr lang="ar-SA" sz="1800" dirty="0"/>
          </a:p>
        </p:txBody>
      </p:sp>
      <p:sp>
        <p:nvSpPr>
          <p:cNvPr id="11" name="anim-g2-1347"/>
          <p:cNvSpPr/>
          <p:nvPr/>
        </p:nvSpPr>
        <p:spPr>
          <a:xfrm>
            <a:off x="822960" y="3169920"/>
            <a:ext cx="8716975" cy="966216"/>
          </a:xfrm>
          <a:prstGeom prst="roundRect">
            <a:avLst>
              <a:gd name="adj" fmla="val 20820"/>
            </a:avLst>
          </a:prstGeom>
          <a:solidFill>
            <a:srgbClr val="101B45"/>
          </a:solidFill>
          <a:ln/>
        </p:spPr>
      </p:sp>
      <p:sp>
        <p:nvSpPr>
          <p:cNvPr id="12" name="anim-g2-1348"/>
          <p:cNvSpPr/>
          <p:nvPr/>
        </p:nvSpPr>
        <p:spPr>
          <a:xfrm>
            <a:off x="1097280" y="3169920"/>
            <a:ext cx="8168335" cy="966216"/>
          </a:xfrm>
          <a:prstGeom prst="rect">
            <a:avLst/>
          </a:prstGeom>
          <a:noFill/>
          <a:ln/>
        </p:spPr>
        <p:txBody>
          <a:bodyPr wrap="square" lIns="0" tIns="0" rIns="0" bIns="0" rtlCol="0" anchor="ctr">
            <a:normAutofit/>
          </a:bodyPr>
          <a:lstStyle/>
          <a:p>
            <a:pPr algn="r" indent="0" marL="0">
              <a:buNone/>
            </a:pPr>
            <a:r>
              <a:rPr lang="ar-SA" altLang="en-US" sz="2000" b="1" dirty="0">
                <a:solidFill>
                  <a:srgbClr val="D9AE4B"/>
                </a:solidFill>
                <a:latin typeface="Cairo" pitchFamily="34" charset="0"/>
                <a:ea typeface="Cairo" pitchFamily="34" charset="-122"/>
                <a:cs typeface="Cairo" pitchFamily="34" charset="-120"/>
              </a:rPr>
              <a:t>« </a:t>
            </a:r>
            <a:pPr algn="r" indent="0" marL="0">
              <a:buNone/>
            </a:pPr>
            <a:r>
              <a:rPr lang="ar-SA" altLang="en-US" sz="2000" b="1" dirty="0">
                <a:solidFill>
                  <a:srgbClr val="FFFFFF"/>
                </a:solidFill>
                <a:latin typeface="Cairo" pitchFamily="34" charset="0"/>
                <a:ea typeface="Cairo" pitchFamily="34" charset="-122"/>
                <a:cs typeface="Cairo" pitchFamily="34" charset="-120"/>
              </a:rPr>
              <a:t>ما رأيك أن تتفقي معه على موعد نوم مكتوب، ويسلّمك الجهاز قبله بنصف ساعة؟</a:t>
            </a:r>
            <a:pPr algn="r" indent="0" marL="0">
              <a:buNone/>
            </a:pPr>
            <a:r>
              <a:rPr lang="ar-SA" altLang="en-US" sz="2000" b="1" dirty="0">
                <a:solidFill>
                  <a:srgbClr val="D9AE4B"/>
                </a:solidFill>
                <a:latin typeface="Cairo" pitchFamily="34" charset="0"/>
                <a:ea typeface="Cairo" pitchFamily="34" charset="-122"/>
                <a:cs typeface="Cairo" pitchFamily="34" charset="-120"/>
              </a:rPr>
              <a:t> »</a:t>
            </a:r>
            <a:endParaRPr lang="ar-SA" sz="2000" dirty="0"/>
          </a:p>
        </p:txBody>
      </p:sp>
      <p:sp>
        <p:nvSpPr>
          <p:cNvPr id="13" name="anim-g3-1349"/>
          <p:cNvSpPr/>
          <p:nvPr/>
        </p:nvSpPr>
        <p:spPr>
          <a:xfrm>
            <a:off x="9768535" y="4355592"/>
            <a:ext cx="1600200" cy="819912"/>
          </a:xfrm>
          <a:prstGeom prst="roundRect">
            <a:avLst>
              <a:gd name="adj" fmla="val 16729"/>
            </a:avLst>
          </a:prstGeom>
          <a:solidFill>
            <a:srgbClr val="E9EDF9"/>
          </a:solidFill>
          <a:ln/>
        </p:spPr>
      </p:sp>
      <p:sp>
        <p:nvSpPr>
          <p:cNvPr id="14" name="anim-g3-1350"/>
          <p:cNvSpPr/>
          <p:nvPr/>
        </p:nvSpPr>
        <p:spPr>
          <a:xfrm>
            <a:off x="9814255" y="4355592"/>
            <a:ext cx="1508760" cy="81991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في الفصل للجميع</a:t>
            </a:r>
            <a:endParaRPr lang="ar-SA" sz="1800" dirty="0"/>
          </a:p>
        </p:txBody>
      </p:sp>
      <p:sp>
        <p:nvSpPr>
          <p:cNvPr id="15" name="anim-g3-1351"/>
          <p:cNvSpPr/>
          <p:nvPr/>
        </p:nvSpPr>
        <p:spPr>
          <a:xfrm>
            <a:off x="822960" y="4282440"/>
            <a:ext cx="8716975" cy="966216"/>
          </a:xfrm>
          <a:prstGeom prst="roundRect">
            <a:avLst>
              <a:gd name="adj" fmla="val 20820"/>
            </a:avLst>
          </a:prstGeom>
          <a:solidFill>
            <a:srgbClr val="101B45"/>
          </a:solidFill>
          <a:ln/>
        </p:spPr>
      </p:sp>
      <p:sp>
        <p:nvSpPr>
          <p:cNvPr id="16" name="anim-g3-1352"/>
          <p:cNvSpPr/>
          <p:nvPr/>
        </p:nvSpPr>
        <p:spPr>
          <a:xfrm>
            <a:off x="1097280" y="4282440"/>
            <a:ext cx="8168335" cy="966216"/>
          </a:xfrm>
          <a:prstGeom prst="rect">
            <a:avLst/>
          </a:prstGeom>
          <a:noFill/>
          <a:ln/>
        </p:spPr>
        <p:txBody>
          <a:bodyPr wrap="square" lIns="0" tIns="0" rIns="0" bIns="0" rtlCol="0" anchor="ctr">
            <a:normAutofit/>
          </a:bodyPr>
          <a:lstStyle/>
          <a:p>
            <a:pPr algn="r" indent="0" marL="0">
              <a:buNone/>
            </a:pPr>
            <a:r>
              <a:rPr lang="ar-SA" altLang="en-US" sz="2200" b="1" dirty="0">
                <a:solidFill>
                  <a:srgbClr val="D9AE4B"/>
                </a:solidFill>
                <a:latin typeface="Cairo" pitchFamily="34" charset="0"/>
                <a:ea typeface="Cairo" pitchFamily="34" charset="-122"/>
                <a:cs typeface="Cairo" pitchFamily="34" charset="-120"/>
              </a:rPr>
              <a:t>« </a:t>
            </a:r>
            <a:pPr algn="r" indent="0" marL="0">
              <a:buNone/>
            </a:pPr>
            <a:r>
              <a:rPr lang="ar-SA" altLang="en-US" sz="2200" b="1" dirty="0">
                <a:solidFill>
                  <a:srgbClr val="FFFFFF"/>
                </a:solidFill>
                <a:latin typeface="Cairo" pitchFamily="34" charset="0"/>
                <a:ea typeface="Cairo" pitchFamily="34" charset="-122"/>
                <a:cs typeface="Cairo" pitchFamily="34" charset="-120"/>
              </a:rPr>
              <a:t>من يعرف كم ساعة نوم يحتاج دماغ البطل ليتذكر ما تعلّمه؟</a:t>
            </a:r>
            <a:pPr algn="r" indent="0" marL="0">
              <a:buNone/>
            </a:pPr>
            <a:r>
              <a:rPr lang="ar-SA" altLang="en-US" sz="2200" b="1" dirty="0">
                <a:solidFill>
                  <a:srgbClr val="D9AE4B"/>
                </a:solidFill>
                <a:latin typeface="Cairo" pitchFamily="34" charset="0"/>
                <a:ea typeface="Cairo" pitchFamily="34" charset="-122"/>
                <a:cs typeface="Cairo" pitchFamily="34" charset="-120"/>
              </a:rPr>
              <a:t> »</a:t>
            </a:r>
            <a:endParaRPr lang="ar-SA" sz="2200" dirty="0"/>
          </a:p>
        </p:txBody>
      </p:sp>
      <p:sp>
        <p:nvSpPr>
          <p:cNvPr id="17" name="anim-g4-1353"/>
          <p:cNvSpPr/>
          <p:nvPr/>
        </p:nvSpPr>
        <p:spPr>
          <a:xfrm>
            <a:off x="822960" y="5532120"/>
            <a:ext cx="10545775" cy="548640"/>
          </a:xfrm>
          <a:prstGeom prst="roundRect">
            <a:avLst>
              <a:gd name="adj" fmla="val 20000"/>
            </a:avLst>
          </a:prstGeom>
          <a:solidFill>
            <a:srgbClr val="FBECEC"/>
          </a:solidFill>
          <a:ln/>
        </p:spPr>
      </p:sp>
      <p:sp>
        <p:nvSpPr>
          <p:cNvPr id="18" name="anim-g4-1354"/>
          <p:cNvSpPr/>
          <p:nvPr/>
        </p:nvSpPr>
        <p:spPr>
          <a:xfrm>
            <a:off x="11295583" y="5532120"/>
            <a:ext cx="73152" cy="548640"/>
          </a:xfrm>
          <a:prstGeom prst="rect">
            <a:avLst/>
          </a:prstGeom>
          <a:solidFill>
            <a:srgbClr val="D64545"/>
          </a:solidFill>
          <a:ln/>
        </p:spPr>
      </p:sp>
      <p:sp>
        <p:nvSpPr>
          <p:cNvPr id="19" name="anim-g4-1355"/>
          <p:cNvSpPr/>
          <p:nvPr/>
        </p:nvSpPr>
        <p:spPr>
          <a:xfrm>
            <a:off x="1005840" y="5532120"/>
            <a:ext cx="10088575" cy="548640"/>
          </a:xfrm>
          <a:prstGeom prst="rect">
            <a:avLst/>
          </a:prstGeom>
          <a:noFill/>
          <a:ln/>
        </p:spPr>
        <p:txBody>
          <a:bodyPr wrap="square" lIns="0" tIns="0" rIns="0" bIns="0" rtlCol="0" anchor="ctr">
            <a:normAutofit/>
          </a:bodyPr>
          <a:lstStyle/>
          <a:p>
            <a:pPr rtl="1" algn="r" indent="0" marL="0">
              <a:buNone/>
            </a:pPr>
            <a:r>
              <a:rPr lang="ar-SA" altLang="en-US" sz="1900" b="1" dirty="0">
                <a:solidFill>
                  <a:srgbClr val="8E2A2A"/>
                </a:solidFill>
                <a:latin typeface="Cairo" pitchFamily="34" charset="0"/>
                <a:ea typeface="Cairo" pitchFamily="34" charset="-122"/>
                <a:cs typeface="Cairo" pitchFamily="34" charset="-120"/>
              </a:rPr>
              <a:t>⚠️ تجنّب: ذكر ما قالته الأم أمام الطالب أو زملائه</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مكالمة المساء  ·  ١٢٥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26.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pic>
        <p:nvPicPr>
          <p:cNvPr id="2" name="Image 0" descr="/Users/mac/Desktop/أردوينو/المشاريع والكتب/younes-training/mawaqif/.pptx-cache/s12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5486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أخطاء شائعة… وبدائلها</a:t>
            </a:r>
            <a:endParaRPr lang="ar-SA" sz="3800" dirty="0"/>
          </a:p>
        </p:txBody>
      </p:sp>
      <p:sp>
        <p:nvSpPr>
          <p:cNvPr id="3" name="Text 1"/>
          <p:cNvSpPr/>
          <p:nvPr/>
        </p:nvSpPr>
        <p:spPr>
          <a:xfrm>
            <a:off x="6415888"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D64545"/>
                </a:solidFill>
                <a:latin typeface="Cairo Black" pitchFamily="34" charset="0"/>
                <a:ea typeface="Cairo Black" pitchFamily="34" charset="-122"/>
                <a:cs typeface="Cairo Black" pitchFamily="34" charset="-120"/>
              </a:rPr>
              <a:t>❌ الخطأ الشائع</a:t>
            </a:r>
            <a:endParaRPr lang="ar-SA" sz="2100" dirty="0"/>
          </a:p>
        </p:txBody>
      </p:sp>
      <p:sp>
        <p:nvSpPr>
          <p:cNvPr id="4" name="Text 2"/>
          <p:cNvSpPr/>
          <p:nvPr/>
        </p:nvSpPr>
        <p:spPr>
          <a:xfrm>
            <a:off x="822960"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2E9E6B"/>
                </a:solidFill>
                <a:latin typeface="Cairo Black" pitchFamily="34" charset="0"/>
                <a:ea typeface="Cairo Black" pitchFamily="34" charset="-122"/>
                <a:cs typeface="Cairo Black" pitchFamily="34" charset="-120"/>
              </a:rPr>
              <a:t>✅ البديل</a:t>
            </a:r>
            <a:endParaRPr lang="ar-SA" sz="2100" dirty="0"/>
          </a:p>
        </p:txBody>
      </p:sp>
      <p:sp>
        <p:nvSpPr>
          <p:cNvPr id="5" name="anim-g1-1356"/>
          <p:cNvSpPr/>
          <p:nvPr/>
        </p:nvSpPr>
        <p:spPr>
          <a:xfrm>
            <a:off x="6415888" y="2194560"/>
            <a:ext cx="4952848" cy="804672"/>
          </a:xfrm>
          <a:prstGeom prst="roundRect">
            <a:avLst>
              <a:gd name="adj" fmla="val 15909"/>
            </a:avLst>
          </a:prstGeom>
          <a:solidFill>
            <a:srgbClr val="FBECEC"/>
          </a:solidFill>
          <a:ln/>
        </p:spPr>
      </p:sp>
      <p:sp>
        <p:nvSpPr>
          <p:cNvPr id="6" name="anim-g1-1357"/>
          <p:cNvSpPr/>
          <p:nvPr/>
        </p:nvSpPr>
        <p:spPr>
          <a:xfrm>
            <a:off x="6644488"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أن يصبح المعلم «الشرطي» البديل</a:t>
            </a:r>
            <a:endParaRPr lang="ar-SA" sz="2200" dirty="0"/>
          </a:p>
        </p:txBody>
      </p:sp>
      <p:sp>
        <p:nvSpPr>
          <p:cNvPr id="7" name="anim-g1-1358"/>
          <p:cNvSpPr/>
          <p:nvPr/>
        </p:nvSpPr>
        <p:spPr>
          <a:xfrm>
            <a:off x="822960" y="2194560"/>
            <a:ext cx="4952848" cy="804672"/>
          </a:xfrm>
          <a:prstGeom prst="roundRect">
            <a:avLst>
              <a:gd name="adj" fmla="val 15909"/>
            </a:avLst>
          </a:prstGeom>
          <a:solidFill>
            <a:srgbClr val="FFFFFF"/>
          </a:solidFill>
          <a:ln w="19050">
            <a:solidFill>
              <a:srgbClr val="BFD9CB"/>
            </a:solidFill>
            <a:prstDash val="dash"/>
          </a:ln>
        </p:spPr>
      </p:sp>
      <p:sp>
        <p:nvSpPr>
          <p:cNvPr id="8" name="anim-g1-1359"/>
          <p:cNvSpPr/>
          <p:nvPr/>
        </p:nvSpPr>
        <p:spPr>
          <a:xfrm>
            <a:off x="822960" y="219456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9" name="anim-g2-1360"/>
          <p:cNvSpPr/>
          <p:nvPr/>
        </p:nvSpPr>
        <p:spPr>
          <a:xfrm>
            <a:off x="5775808" y="219456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0" name="anim-g2-1361"/>
          <p:cNvSpPr/>
          <p:nvPr/>
        </p:nvSpPr>
        <p:spPr>
          <a:xfrm>
            <a:off x="822960" y="2194560"/>
            <a:ext cx="4952848" cy="804672"/>
          </a:xfrm>
          <a:prstGeom prst="roundRect">
            <a:avLst>
              <a:gd name="adj" fmla="val 15909"/>
            </a:avLst>
          </a:prstGeom>
          <a:solidFill>
            <a:srgbClr val="E6F4EC"/>
          </a:solidFill>
          <a:ln/>
        </p:spPr>
      </p:sp>
      <p:sp>
        <p:nvSpPr>
          <p:cNvPr id="11" name="anim-g2-1362"/>
          <p:cNvSpPr/>
          <p:nvPr/>
        </p:nvSpPr>
        <p:spPr>
          <a:xfrm>
            <a:off x="1051560"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دعم الأم لتبقى صاحبة القرار</a:t>
            </a:r>
            <a:endParaRPr lang="ar-SA" sz="2200" dirty="0"/>
          </a:p>
        </p:txBody>
      </p:sp>
      <p:sp>
        <p:nvSpPr>
          <p:cNvPr id="12" name="anim-g3-1363"/>
          <p:cNvSpPr/>
          <p:nvPr/>
        </p:nvSpPr>
        <p:spPr>
          <a:xfrm>
            <a:off x="6415888" y="3154680"/>
            <a:ext cx="4952848" cy="804672"/>
          </a:xfrm>
          <a:prstGeom prst="roundRect">
            <a:avLst>
              <a:gd name="adj" fmla="val 15909"/>
            </a:avLst>
          </a:prstGeom>
          <a:solidFill>
            <a:srgbClr val="FBECEC"/>
          </a:solidFill>
          <a:ln/>
        </p:spPr>
      </p:sp>
      <p:sp>
        <p:nvSpPr>
          <p:cNvPr id="13" name="anim-g3-1364"/>
          <p:cNvSpPr/>
          <p:nvPr/>
        </p:nvSpPr>
        <p:spPr>
          <a:xfrm>
            <a:off x="6644488"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الحديث مع علاء أمام زملائه</a:t>
            </a:r>
            <a:endParaRPr lang="ar-SA" sz="2200" dirty="0"/>
          </a:p>
        </p:txBody>
      </p:sp>
      <p:sp>
        <p:nvSpPr>
          <p:cNvPr id="14" name="anim-g3-1365"/>
          <p:cNvSpPr/>
          <p:nvPr/>
        </p:nvSpPr>
        <p:spPr>
          <a:xfrm>
            <a:off x="822960" y="3154680"/>
            <a:ext cx="4952848" cy="804672"/>
          </a:xfrm>
          <a:prstGeom prst="roundRect">
            <a:avLst>
              <a:gd name="adj" fmla="val 15909"/>
            </a:avLst>
          </a:prstGeom>
          <a:solidFill>
            <a:srgbClr val="FFFFFF"/>
          </a:solidFill>
          <a:ln w="19050">
            <a:solidFill>
              <a:srgbClr val="BFD9CB"/>
            </a:solidFill>
            <a:prstDash val="dash"/>
          </a:ln>
        </p:spPr>
      </p:sp>
      <p:sp>
        <p:nvSpPr>
          <p:cNvPr id="15" name="anim-g3-1366"/>
          <p:cNvSpPr/>
          <p:nvPr/>
        </p:nvSpPr>
        <p:spPr>
          <a:xfrm>
            <a:off x="822960" y="315468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16" name="anim-g4-1367"/>
          <p:cNvSpPr/>
          <p:nvPr/>
        </p:nvSpPr>
        <p:spPr>
          <a:xfrm>
            <a:off x="5775808" y="315468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7" name="anim-g4-1368"/>
          <p:cNvSpPr/>
          <p:nvPr/>
        </p:nvSpPr>
        <p:spPr>
          <a:xfrm>
            <a:off x="822960" y="3154680"/>
            <a:ext cx="4952848" cy="804672"/>
          </a:xfrm>
          <a:prstGeom prst="roundRect">
            <a:avLst>
              <a:gd name="adj" fmla="val 15909"/>
            </a:avLst>
          </a:prstGeom>
          <a:solidFill>
            <a:srgbClr val="E6F4EC"/>
          </a:solidFill>
          <a:ln/>
        </p:spPr>
      </p:sp>
      <p:sp>
        <p:nvSpPr>
          <p:cNvPr id="18" name="anim-g4-1369"/>
          <p:cNvSpPr/>
          <p:nvPr/>
        </p:nvSpPr>
        <p:spPr>
          <a:xfrm>
            <a:off x="1051560"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حديث عام للفصل كله عن النوم</a:t>
            </a:r>
            <a:endParaRPr lang="ar-SA" sz="2200" dirty="0"/>
          </a:p>
        </p:txBody>
      </p:sp>
      <p:sp>
        <p:nvSpPr>
          <p:cNvPr id="19" name="anim-g5-1370"/>
          <p:cNvSpPr/>
          <p:nvPr/>
        </p:nvSpPr>
        <p:spPr>
          <a:xfrm>
            <a:off x="6415888" y="4114800"/>
            <a:ext cx="4952848" cy="804672"/>
          </a:xfrm>
          <a:prstGeom prst="roundRect">
            <a:avLst>
              <a:gd name="adj" fmla="val 15909"/>
            </a:avLst>
          </a:prstGeom>
          <a:solidFill>
            <a:srgbClr val="FBECEC"/>
          </a:solidFill>
          <a:ln/>
        </p:spPr>
      </p:sp>
      <p:sp>
        <p:nvSpPr>
          <p:cNvPr id="20" name="anim-g5-1371"/>
          <p:cNvSpPr/>
          <p:nvPr/>
        </p:nvSpPr>
        <p:spPr>
          <a:xfrm>
            <a:off x="6644488"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الرد على المكالمات في أي وقت</a:t>
            </a:r>
            <a:endParaRPr lang="ar-SA" sz="2200" dirty="0"/>
          </a:p>
        </p:txBody>
      </p:sp>
      <p:sp>
        <p:nvSpPr>
          <p:cNvPr id="21" name="anim-g5-1372"/>
          <p:cNvSpPr/>
          <p:nvPr/>
        </p:nvSpPr>
        <p:spPr>
          <a:xfrm>
            <a:off x="822960" y="4114800"/>
            <a:ext cx="4952848" cy="804672"/>
          </a:xfrm>
          <a:prstGeom prst="roundRect">
            <a:avLst>
              <a:gd name="adj" fmla="val 15909"/>
            </a:avLst>
          </a:prstGeom>
          <a:solidFill>
            <a:srgbClr val="FFFFFF"/>
          </a:solidFill>
          <a:ln w="19050">
            <a:solidFill>
              <a:srgbClr val="BFD9CB"/>
            </a:solidFill>
            <a:prstDash val="dash"/>
          </a:ln>
        </p:spPr>
      </p:sp>
      <p:sp>
        <p:nvSpPr>
          <p:cNvPr id="22" name="anim-g5-1373"/>
          <p:cNvSpPr/>
          <p:nvPr/>
        </p:nvSpPr>
        <p:spPr>
          <a:xfrm>
            <a:off x="822960" y="411480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23" name="anim-g6-1374"/>
          <p:cNvSpPr/>
          <p:nvPr/>
        </p:nvSpPr>
        <p:spPr>
          <a:xfrm>
            <a:off x="5775808" y="411480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24" name="anim-g6-1375"/>
          <p:cNvSpPr/>
          <p:nvPr/>
        </p:nvSpPr>
        <p:spPr>
          <a:xfrm>
            <a:off x="822960" y="4114800"/>
            <a:ext cx="4952848" cy="804672"/>
          </a:xfrm>
          <a:prstGeom prst="roundRect">
            <a:avLst>
              <a:gd name="adj" fmla="val 15909"/>
            </a:avLst>
          </a:prstGeom>
          <a:solidFill>
            <a:srgbClr val="E6F4EC"/>
          </a:solidFill>
          <a:ln/>
        </p:spPr>
      </p:sp>
      <p:sp>
        <p:nvSpPr>
          <p:cNvPr id="25" name="anim-g6-1376"/>
          <p:cNvSpPr/>
          <p:nvPr/>
        </p:nvSpPr>
        <p:spPr>
          <a:xfrm>
            <a:off x="1051560"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أوقات تواصل واضحة ومتفق عليها</a:t>
            </a:r>
            <a:endParaRPr lang="ar-SA" sz="2200" dirty="0"/>
          </a:p>
        </p:txBody>
      </p:sp>
      <p:sp>
        <p:nvSpPr>
          <p:cNvPr id="26" name="Text 24"/>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7" name="Text 25"/>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مكالمة المساء  ·  ١٢٧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0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400"/>
                                        <p:tgtEl>
                                          <p:spTgt spid="1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400"/>
                                        <p:tgtEl>
                                          <p:spTgt spid="2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400"/>
                                        <p:tgtEl>
                                          <p:spTgt spid="2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400"/>
                                        <p:tgtEl>
                                          <p:spTgt spid="2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name="Slide 1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الموقف</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المعلم شريك للأسرة…</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لا بديل عنها</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موقف: مكالمة المساء  ·  ١٢٨</a:t>
            </a:r>
            <a:endParaRPr lang="ar-SA" sz="120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kb-1377" descr="/Users/mac/Desktop/أردوينو/المشاريع والكتب/younes-training/mawaqif/assets/scenes/shy.jpg">    </p:cNvPr>
          <p:cNvPicPr>
            <a:picLocks noChangeAspect="1"/>
          </p:cNvPicPr>
          <p:nvPr/>
        </p:nvPicPr>
        <p:blipFill>
          <a:blip r:embed="rId2"/>
          <a:stretch>
            <a:fillRect/>
          </a:stretch>
        </p:blipFill>
        <p:spPr>
          <a:xfrm>
            <a:off x="0" y="0"/>
            <a:ext cx="12191695" cy="6858000"/>
          </a:xfrm>
          <a:prstGeom prst="rect">
            <a:avLst/>
          </a:prstGeom>
        </p:spPr>
      </p:pic>
      <p:pic>
        <p:nvPicPr>
          <p:cNvPr id="3" name="Image 1" descr="/Users/mac/Desktop/أردوينو/المشاريع والكتب/younes-training/shared/assets/mcover-overlay.png">    </p:cNvPr>
          <p:cNvPicPr>
            <a:picLocks noChangeAspect="1"/>
          </p:cNvPicPr>
          <p:nvPr/>
        </p:nvPicPr>
        <p:blipFill>
          <a:blip r:embed="rId3"/>
          <a:stretch>
            <a:fillRect/>
          </a:stretch>
        </p:blipFill>
        <p:spPr>
          <a:xfrm>
            <a:off x="0" y="0"/>
            <a:ext cx="12191695" cy="6858000"/>
          </a:xfrm>
          <a:prstGeom prst="rect">
            <a:avLst/>
          </a:prstGeom>
        </p:spPr>
      </p:pic>
      <p:sp>
        <p:nvSpPr>
          <p:cNvPr id="4" name="Text 0"/>
          <p:cNvSpPr/>
          <p:nvPr/>
        </p:nvSpPr>
        <p:spPr>
          <a:xfrm>
            <a:off x="5669280" y="1737360"/>
            <a:ext cx="5699455" cy="502920"/>
          </a:xfrm>
          <a:prstGeom prst="rect">
            <a:avLst/>
          </a:prstGeom>
          <a:noFill/>
          <a:ln/>
        </p:spPr>
        <p:txBody>
          <a:bodyPr wrap="square" lIns="0" tIns="0" rIns="0" bIns="0" rtlCol="0" anchor="ctr">
            <a:normAutofit/>
          </a:bodyPr>
          <a:lstStyle/>
          <a:p>
            <a:pPr rtl="1" algn="r" indent="0" marL="0">
              <a:buNone/>
            </a:pPr>
            <a:r>
              <a:rPr lang="ar-SA" altLang="en-US" sz="2200" b="1" dirty="0">
                <a:solidFill>
                  <a:srgbClr val="D9AE4B"/>
                </a:solidFill>
                <a:latin typeface="Cairo" pitchFamily="34" charset="0"/>
                <a:ea typeface="Cairo" pitchFamily="34" charset="-122"/>
                <a:cs typeface="Cairo" pitchFamily="34" charset="-120"/>
              </a:rPr>
              <a:t>الطالب والأسرة</a:t>
            </a:r>
            <a:endParaRPr lang="ar-SA" sz="2200" dirty="0"/>
          </a:p>
        </p:txBody>
      </p:sp>
      <p:sp>
        <p:nvSpPr>
          <p:cNvPr id="5" name="Text 1"/>
          <p:cNvSpPr/>
          <p:nvPr/>
        </p:nvSpPr>
        <p:spPr>
          <a:xfrm>
            <a:off x="5669280" y="2286000"/>
            <a:ext cx="5699455" cy="548640"/>
          </a:xfrm>
          <a:prstGeom prst="rect">
            <a:avLst/>
          </a:prstGeom>
          <a:noFill/>
          <a:ln/>
        </p:spPr>
        <p:txBody>
          <a:bodyPr wrap="square" lIns="0" tIns="0" rIns="0" bIns="0" rtlCol="0" anchor="ctr">
            <a:normAutofit/>
          </a:bodyPr>
          <a:lstStyle/>
          <a:p>
            <a:pPr rtl="1" algn="r" indent="0" marL="0">
              <a:buNone/>
            </a:pPr>
            <a:r>
              <a:rPr lang="ar-SA" altLang="en-US" sz="2600" b="1" dirty="0">
                <a:solidFill>
                  <a:srgbClr val="C9CFE6"/>
                </a:solidFill>
                <a:latin typeface="Cairo" pitchFamily="34" charset="0"/>
                <a:ea typeface="Cairo" pitchFamily="34" charset="-122"/>
                <a:cs typeface="Cairo" pitchFamily="34" charset="-120"/>
              </a:rPr>
              <a:t>الموقف ٩</a:t>
            </a:r>
            <a:endParaRPr lang="ar-SA" sz="2600" dirty="0"/>
          </a:p>
        </p:txBody>
      </p:sp>
      <p:sp>
        <p:nvSpPr>
          <p:cNvPr id="6" name="Text 2"/>
          <p:cNvSpPr/>
          <p:nvPr/>
        </p:nvSpPr>
        <p:spPr>
          <a:xfrm>
            <a:off x="4572000" y="2834640"/>
            <a:ext cx="6796735" cy="1188720"/>
          </a:xfrm>
          <a:prstGeom prst="rect">
            <a:avLst/>
          </a:prstGeom>
          <a:noFill/>
          <a:ln/>
        </p:spPr>
        <p:txBody>
          <a:bodyPr wrap="square" lIns="0" tIns="0" rIns="0" bIns="0" rtlCol="0" anchor="ctr">
            <a:normAutofit/>
          </a:bodyPr>
          <a:lstStyle/>
          <a:p>
            <a:pPr rtl="1" algn="r" indent="0" marL="0">
              <a:buNone/>
            </a:pPr>
            <a:r>
              <a:rPr lang="ar-SA" altLang="en-US" sz="5000" dirty="0">
                <a:solidFill>
                  <a:srgbClr val="FFFFFF"/>
                </a:solidFill>
                <a:latin typeface="Cairo Black" pitchFamily="34" charset="0"/>
                <a:ea typeface="Cairo Black" pitchFamily="34" charset="-122"/>
                <a:cs typeface="Cairo Black" pitchFamily="34" charset="-120"/>
              </a:rPr>
              <a:t>لماذا تتجاهلون ابني؟</a:t>
            </a:r>
            <a:endParaRPr lang="ar-SA" sz="5000" dirty="0"/>
          </a:p>
        </p:txBody>
      </p:sp>
      <p:sp>
        <p:nvSpPr>
          <p:cNvPr id="7" name="Shape 3"/>
          <p:cNvSpPr/>
          <p:nvPr/>
        </p:nvSpPr>
        <p:spPr>
          <a:xfrm>
            <a:off x="10125151" y="4480560"/>
            <a:ext cx="1243584"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8" name="Text 4"/>
          <p:cNvSpPr/>
          <p:nvPr/>
        </p:nvSpPr>
        <p:spPr>
          <a:xfrm>
            <a:off x="10125151" y="4480560"/>
            <a:ext cx="1243584"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القصة</a:t>
            </a:r>
            <a:endParaRPr lang="ar-SA" sz="1500" dirty="0"/>
          </a:p>
        </p:txBody>
      </p:sp>
      <p:sp>
        <p:nvSpPr>
          <p:cNvPr id="9" name="Shape 5"/>
          <p:cNvSpPr/>
          <p:nvPr/>
        </p:nvSpPr>
        <p:spPr>
          <a:xfrm>
            <a:off x="8680399" y="4480560"/>
            <a:ext cx="1353312"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0" name="Text 6"/>
          <p:cNvSpPr/>
          <p:nvPr/>
        </p:nvSpPr>
        <p:spPr>
          <a:xfrm>
            <a:off x="8680399" y="4480560"/>
            <a:ext cx="1353312"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تصويت</a:t>
            </a:r>
            <a:endParaRPr lang="ar-SA" sz="1500" dirty="0"/>
          </a:p>
        </p:txBody>
      </p:sp>
      <p:sp>
        <p:nvSpPr>
          <p:cNvPr id="11" name="Shape 7"/>
          <p:cNvSpPr/>
          <p:nvPr/>
        </p:nvSpPr>
        <p:spPr>
          <a:xfrm>
            <a:off x="7235647" y="4480560"/>
            <a:ext cx="1353312"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2" name="Text 8"/>
          <p:cNvSpPr/>
          <p:nvPr/>
        </p:nvSpPr>
        <p:spPr>
          <a:xfrm>
            <a:off x="7235647" y="4480560"/>
            <a:ext cx="1353312"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لماذا؟</a:t>
            </a:r>
            <a:endParaRPr lang="ar-SA" sz="1500" dirty="0"/>
          </a:p>
        </p:txBody>
      </p:sp>
      <p:sp>
        <p:nvSpPr>
          <p:cNvPr id="13" name="Shape 9"/>
          <p:cNvSpPr/>
          <p:nvPr/>
        </p:nvSpPr>
        <p:spPr>
          <a:xfrm>
            <a:off x="5571439" y="4480560"/>
            <a:ext cx="1572768"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4" name="Text 10"/>
          <p:cNvSpPr/>
          <p:nvPr/>
        </p:nvSpPr>
        <p:spPr>
          <a:xfrm>
            <a:off x="5571439" y="4480560"/>
            <a:ext cx="1572768"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أول خطوة</a:t>
            </a:r>
            <a:endParaRPr lang="ar-SA" sz="1500" dirty="0"/>
          </a:p>
        </p:txBody>
      </p:sp>
      <p:sp>
        <p:nvSpPr>
          <p:cNvPr id="15" name="Shape 11"/>
          <p:cNvSpPr/>
          <p:nvPr/>
        </p:nvSpPr>
        <p:spPr>
          <a:xfrm>
            <a:off x="3687775" y="4480560"/>
            <a:ext cx="1792224"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6" name="Text 12"/>
          <p:cNvSpPr/>
          <p:nvPr/>
        </p:nvSpPr>
        <p:spPr>
          <a:xfrm>
            <a:off x="3687775" y="4480560"/>
            <a:ext cx="1792224"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ماذا تقول؟</a:t>
            </a:r>
            <a:endParaRPr lang="ar-SA" sz="1500" dirty="0"/>
          </a:p>
        </p:txBody>
      </p:sp>
      <p:sp>
        <p:nvSpPr>
          <p:cNvPr id="17" name="Text 1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18" name="Text 1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موقف: لماذا تتجاهلون ابني؟  ·  ١٢٩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16000" fill="hold"/>
                                        <p:tgtEl>
                                          <p:spTgt spid="2"/>
                                        </p:tgtEl>
                                      </p:cBhvr>
                                      <p:by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name="Slide 1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kb-1378" descr="/Users/mac/Desktop/أردوينو/المشاريع والكتب/younes-training/mawaqif/assets/scenes/shy.jpg">    </p:cNvPr>
          <p:cNvPicPr>
            <a:picLocks noChangeAspect="1"/>
          </p:cNvPicPr>
          <p:nvPr/>
        </p:nvPicPr>
        <p:blipFill>
          <a:blip r:embed="rId2"/>
          <a:stretch>
            <a:fillRect/>
          </a:stretch>
        </p:blipFill>
        <p:spPr>
          <a:xfrm>
            <a:off x="0" y="0"/>
            <a:ext cx="12191695" cy="6858000"/>
          </a:xfrm>
          <a:prstGeom prst="rect">
            <a:avLst/>
          </a:prstGeom>
        </p:spPr>
      </p:pic>
      <p:pic>
        <p:nvPicPr>
          <p:cNvPr id="3" name="Image 1" descr="/Users/mac/Desktop/أردوينو/المشاريع والكتب/younes-training/shared/assets/story-overlay.png">    </p:cNvPr>
          <p:cNvPicPr>
            <a:picLocks noChangeAspect="1"/>
          </p:cNvPicPr>
          <p:nvPr/>
        </p:nvPicPr>
        <p:blipFill>
          <a:blip r:embed="rId3"/>
          <a:stretch>
            <a:fillRect/>
          </a:stretch>
        </p:blipFill>
        <p:spPr>
          <a:xfrm>
            <a:off x="0" y="0"/>
            <a:ext cx="12191695" cy="6858000"/>
          </a:xfrm>
          <a:prstGeom prst="rect">
            <a:avLst/>
          </a:prstGeom>
        </p:spPr>
      </p:pic>
      <p:sp>
        <p:nvSpPr>
          <p:cNvPr id="4" name="Shape 0"/>
          <p:cNvSpPr/>
          <p:nvPr/>
        </p:nvSpPr>
        <p:spPr>
          <a:xfrm>
            <a:off x="7985455" y="365760"/>
            <a:ext cx="3657600" cy="502920"/>
          </a:xfrm>
          <a:prstGeom prst="roundRect">
            <a:avLst>
              <a:gd name="adj" fmla="val 49091"/>
            </a:avLst>
          </a:prstGeom>
          <a:solidFill>
            <a:srgbClr val="0A1230">
              <a:alpha val="80000"/>
            </a:srgbClr>
          </a:solidFill>
          <a:ln w="12700">
            <a:solidFill>
              <a:srgbClr val="D9AE4B">
                <a:alpha val="60000"/>
              </a:srgbClr>
            </a:solidFill>
            <a:prstDash val="solid"/>
          </a:ln>
        </p:spPr>
      </p:sp>
      <p:sp>
        <p:nvSpPr>
          <p:cNvPr id="5" name="Text 1"/>
          <p:cNvSpPr/>
          <p:nvPr/>
        </p:nvSpPr>
        <p:spPr>
          <a:xfrm>
            <a:off x="7985455" y="365760"/>
            <a:ext cx="3657600" cy="50292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 القصة · ماذا حدث؟</a:t>
            </a:r>
            <a:endParaRPr lang="ar-SA" sz="1800" dirty="0"/>
          </a:p>
        </p:txBody>
      </p:sp>
      <p:sp>
        <p:nvSpPr>
          <p:cNvPr id="6" name="Shape 2"/>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7" name="Text 3"/>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أشرك أ. محمود طلابه في اختيار قادة الفصل. لم يُختر فيصل (الخامس الابتدائي)، الهادئ الذي لا يحب الأضواء، ولم ينزعج أبدًا.</a:t>
            </a:r>
            <a:endParaRPr lang="ar-SA" sz="2400" dirty="0"/>
          </a:p>
        </p:txBody>
      </p:sp>
      <p:sp>
        <p:nvSpPr>
          <p:cNvPr id="8" name="anim-g1-1379"/>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9" name="anim-g1-1380"/>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لكن في المساء اتصلت والدته غاضبة: «هذا تجاهل واضطهاد لابني!»</a:t>
            </a:r>
            <a:endParaRPr lang="ar-SA" sz="2400" dirty="0"/>
          </a:p>
        </p:txBody>
      </p:sp>
      <p:sp>
        <p:nvSpPr>
          <p:cNvPr id="10" name="anim-g2-1381"/>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11" name="anim-g2-1382"/>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قضى أ. محمود الليل يفكر: هل يعطيه دورًا قياديًا ترضيةً للأم؟ وكيف سيراه زملاؤه؟</a:t>
            </a:r>
            <a:endParaRPr lang="ar-SA" sz="2400" dirty="0"/>
          </a:p>
        </p:txBody>
      </p:sp>
      <p:sp>
        <p:nvSpPr>
          <p:cNvPr id="12" name="anim-g3-1383"/>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13" name="anim-g3-1384"/>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600" b="1" dirty="0">
                <a:solidFill>
                  <a:srgbClr val="F0CC7A"/>
                </a:solidFill>
                <a:latin typeface="Cairo" pitchFamily="34" charset="0"/>
                <a:ea typeface="Cairo" pitchFamily="34" charset="-122"/>
                <a:cs typeface="Cairo" pitchFamily="34" charset="-120"/>
              </a:rPr>
              <a:t>وفي الصباح جاءك يسأل: «بماذا تنصحني؟»</a:t>
            </a:r>
            <a:endParaRPr lang="ar-SA" sz="2600" dirty="0"/>
          </a:p>
        </p:txBody>
      </p:sp>
      <p:sp>
        <p:nvSpPr>
          <p:cNvPr id="14" name="Text 1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15" name="Text 1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موقف: لماذا تتجاهلون ابني؟  ·  ١٣٠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16000" fill="hold"/>
                                        <p:tgtEl>
                                          <p:spTgt spid="2"/>
                                        </p:tgtEl>
                                      </p:cBhvr>
                                      <p:by x="112000" y="112000"/>
                                    </p:animScale>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Lst>
  </p:timing>
</p:sld>
</file>

<file path=ppt/slides/slide131.xml><?xml version="1.0" encoding="utf-8"?>
<p:sld xmlns:a="http://schemas.openxmlformats.org/drawingml/2006/main" xmlns:r="http://schemas.openxmlformats.org/officeDocument/2006/relationships" xmlns:p="http://schemas.openxmlformats.org/presentationml/2006/main">
  <p:cSld name="Slide 1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296351" y="457200"/>
            <a:ext cx="3072384" cy="457200"/>
          </a:xfrm>
          <a:prstGeom prst="roundRect">
            <a:avLst>
              <a:gd name="adj" fmla="val 50000"/>
            </a:avLst>
          </a:prstGeom>
          <a:solidFill>
            <a:srgbClr val="F6EBCF"/>
          </a:solidFill>
          <a:ln/>
        </p:spPr>
      </p:sp>
      <p:sp>
        <p:nvSpPr>
          <p:cNvPr id="3" name="Text 1"/>
          <p:cNvSpPr/>
          <p:nvPr/>
        </p:nvSpPr>
        <p:spPr>
          <a:xfrm>
            <a:off x="8296351" y="457200"/>
            <a:ext cx="307238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صوّت قبل أن نكشف</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بماذا تنصح أ. محمود؟</a:t>
            </a:r>
            <a:endParaRPr lang="ar-SA" sz="38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يعيّنه قائدًا فورًا إرضاءً للأم</a:t>
            </a:r>
            <a:endParaRPr lang="ar-SA" sz="2500" dirty="0"/>
          </a:p>
        </p:txBody>
      </p:sp>
      <p:sp>
        <p:nvSpPr>
          <p:cNvPr id="9" name="anim-g1-1385"/>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1386"/>
          <p:cNvSpPr/>
          <p:nvPr/>
        </p:nvSpPr>
        <p:spPr>
          <a:xfrm>
            <a:off x="10231831" y="2194560"/>
            <a:ext cx="954024" cy="954024"/>
          </a:xfrm>
          <a:prstGeom prst="roundRect">
            <a:avLst>
              <a:gd name="adj" fmla="val 11502"/>
            </a:avLst>
          </a:prstGeom>
          <a:solidFill>
            <a:srgbClr val="A3A9BA"/>
          </a:solidFill>
          <a:ln/>
        </p:spPr>
      </p:sp>
      <p:sp>
        <p:nvSpPr>
          <p:cNvPr id="11" name="anim-g1-1387"/>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1388"/>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يعيّنه قائدًا فورًا إرضاءً للأم</a:t>
            </a:r>
            <a:endParaRPr lang="ar-SA" sz="2400" dirty="0"/>
          </a:p>
        </p:txBody>
      </p:sp>
      <p:sp>
        <p:nvSpPr>
          <p:cNvPr id="13" name="anim-g1-1389"/>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الترضية تُفقد القرار عدالته أمام الطلاب، وقد تضغط على فيصل نفسه</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يرفض أي تغيير: «الطلاب اختاروا»</a:t>
            </a:r>
            <a:endParaRPr lang="ar-SA" sz="2500" dirty="0"/>
          </a:p>
        </p:txBody>
      </p:sp>
      <p:sp>
        <p:nvSpPr>
          <p:cNvPr id="18" name="anim-g1-1390"/>
          <p:cNvSpPr/>
          <p:nvPr/>
        </p:nvSpPr>
        <p:spPr>
          <a:xfrm>
            <a:off x="822960" y="3432048"/>
            <a:ext cx="10545775" cy="1228344"/>
          </a:xfrm>
          <a:prstGeom prst="roundRect">
            <a:avLst>
              <a:gd name="adj" fmla="val 11911"/>
            </a:avLst>
          </a:prstGeom>
          <a:solidFill>
            <a:srgbClr val="F7F7F9"/>
          </a:solidFill>
          <a:ln w="19050">
            <a:solidFill>
              <a:srgbClr val="E4DCC8"/>
            </a:solidFill>
            <a:prstDash val="solid"/>
          </a:ln>
        </p:spPr>
      </p:sp>
      <p:sp>
        <p:nvSpPr>
          <p:cNvPr id="19" name="anim-g1-1391"/>
          <p:cNvSpPr/>
          <p:nvPr/>
        </p:nvSpPr>
        <p:spPr>
          <a:xfrm>
            <a:off x="10231831" y="3569208"/>
            <a:ext cx="954024" cy="954024"/>
          </a:xfrm>
          <a:prstGeom prst="roundRect">
            <a:avLst>
              <a:gd name="adj" fmla="val 11502"/>
            </a:avLst>
          </a:prstGeom>
          <a:solidFill>
            <a:srgbClr val="A3A9BA"/>
          </a:solidFill>
          <a:ln/>
        </p:spPr>
      </p:sp>
      <p:sp>
        <p:nvSpPr>
          <p:cNvPr id="20" name="anim-g1-1392"/>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21" name="anim-g1-1393"/>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يرفض أي تغيير: «الطلاب اختاروا»</a:t>
            </a:r>
            <a:endParaRPr lang="ar-SA" sz="2400" dirty="0"/>
          </a:p>
        </p:txBody>
      </p:sp>
      <p:sp>
        <p:nvSpPr>
          <p:cNvPr id="22" name="anim-g1-1394"/>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الجمود يتجاهل قلقًا حقيقيًا يستحق الاستماع</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يشرح للأم آلية الاختيار، ويبحث عن دور يناسب شخصية فيصل فعلًا</a:t>
            </a:r>
            <a:endParaRPr lang="ar-SA" sz="2500" dirty="0"/>
          </a:p>
        </p:txBody>
      </p:sp>
      <p:sp>
        <p:nvSpPr>
          <p:cNvPr id="27" name="anim-g1-1395"/>
          <p:cNvSpPr/>
          <p:nvPr/>
        </p:nvSpPr>
        <p:spPr>
          <a:xfrm>
            <a:off x="822960" y="4806696"/>
            <a:ext cx="10545775" cy="1228344"/>
          </a:xfrm>
          <a:prstGeom prst="roundRect">
            <a:avLst>
              <a:gd name="adj" fmla="val 11911"/>
            </a:avLst>
          </a:prstGeom>
          <a:solidFill>
            <a:srgbClr val="E6F4EC"/>
          </a:solidFill>
          <a:ln w="31750">
            <a:solidFill>
              <a:srgbClr val="2E9E6B"/>
            </a:solidFill>
            <a:prstDash val="solid"/>
          </a:ln>
        </p:spPr>
      </p:sp>
      <p:sp>
        <p:nvSpPr>
          <p:cNvPr id="28" name="anim-g1-1396"/>
          <p:cNvSpPr/>
          <p:nvPr/>
        </p:nvSpPr>
        <p:spPr>
          <a:xfrm>
            <a:off x="10231831" y="4943856"/>
            <a:ext cx="954024" cy="954024"/>
          </a:xfrm>
          <a:prstGeom prst="roundRect">
            <a:avLst>
              <a:gd name="adj" fmla="val 11502"/>
            </a:avLst>
          </a:prstGeom>
          <a:solidFill>
            <a:srgbClr val="2E9E6B"/>
          </a:solidFill>
          <a:ln/>
        </p:spPr>
      </p:sp>
      <p:sp>
        <p:nvSpPr>
          <p:cNvPr id="29" name="anim-g1-1397"/>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30" name="anim-g1-1398"/>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يشرح للأم آلية الاختيار، ويبحث عن دور يناسب شخصية فيصل فعلًا</a:t>
            </a:r>
            <a:endParaRPr lang="ar-SA" sz="2400" dirty="0"/>
          </a:p>
        </p:txBody>
      </p:sp>
      <p:sp>
        <p:nvSpPr>
          <p:cNvPr id="31" name="anim-g1-1399"/>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ليست كل قيادة وقوفًا في المقدمة؛ للهادئين أدوار قيادية أيضًا</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لماذا تتجاهلون ابني؟  ·  ١٣١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132.xml><?xml version="1.0" encoding="utf-8"?>
<p:sld xmlns:a="http://schemas.openxmlformats.org/drawingml/2006/main" xmlns:r="http://schemas.openxmlformats.org/officeDocument/2006/relationships" xmlns:p="http://schemas.openxmlformats.org/presentationml/2006/main">
  <p:cSld name="Slide 1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711135" y="457200"/>
            <a:ext cx="3657600" cy="457200"/>
          </a:xfrm>
          <a:prstGeom prst="roundRect">
            <a:avLst>
              <a:gd name="adj" fmla="val 50000"/>
            </a:avLst>
          </a:prstGeom>
          <a:solidFill>
            <a:srgbClr val="F6EBCF"/>
          </a:solidFill>
          <a:ln/>
        </p:spPr>
      </p:sp>
      <p:sp>
        <p:nvSpPr>
          <p:cNvPr id="3" name="Text 1"/>
          <p:cNvSpPr/>
          <p:nvPr/>
        </p:nvSpPr>
        <p:spPr>
          <a:xfrm>
            <a:off x="7711135" y="457200"/>
            <a:ext cx="365760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وراء كل سلوك حاجة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ماذا وراء غضب الأم؟</a:t>
            </a:r>
            <a:endParaRPr lang="ar-SA" sz="3800" dirty="0"/>
          </a:p>
        </p:txBody>
      </p:sp>
      <p:sp>
        <p:nvSpPr>
          <p:cNvPr id="5" name="anim-g1-1400"/>
          <p:cNvSpPr/>
          <p:nvPr/>
        </p:nvSpPr>
        <p:spPr>
          <a:xfrm>
            <a:off x="8903741" y="2011680"/>
            <a:ext cx="2464994" cy="2514600"/>
          </a:xfrm>
          <a:prstGeom prst="roundRect">
            <a:avLst>
              <a:gd name="adj" fmla="val 6677"/>
            </a:avLst>
          </a:prstGeom>
          <a:solidFill>
            <a:srgbClr val="FFFFFF"/>
          </a:solidFill>
          <a:ln w="12700">
            <a:solidFill>
              <a:srgbClr val="E4DCC8"/>
            </a:solidFill>
            <a:prstDash val="solid"/>
          </a:ln>
        </p:spPr>
      </p:sp>
      <p:sp>
        <p:nvSpPr>
          <p:cNvPr id="6" name="anim-g1-1401"/>
          <p:cNvSpPr/>
          <p:nvPr/>
        </p:nvSpPr>
        <p:spPr>
          <a:xfrm>
            <a:off x="9816198" y="2194560"/>
            <a:ext cx="640080" cy="640080"/>
          </a:xfrm>
          <a:prstGeom prst="roundRect">
            <a:avLst>
              <a:gd name="adj" fmla="val 25714"/>
            </a:avLst>
          </a:prstGeom>
          <a:solidFill>
            <a:srgbClr val="F7E6BC"/>
          </a:solidFill>
          <a:ln/>
        </p:spPr>
      </p:sp>
      <p:sp>
        <p:nvSpPr>
          <p:cNvPr id="7" name="anim-g1-1402"/>
          <p:cNvSpPr/>
          <p:nvPr/>
        </p:nvSpPr>
        <p:spPr>
          <a:xfrm>
            <a:off x="9816198"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8" name="anim-g1-1403"/>
          <p:cNvSpPr/>
          <p:nvPr/>
        </p:nvSpPr>
        <p:spPr>
          <a:xfrm>
            <a:off x="9040901"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قلق</a:t>
            </a:r>
            <a:endParaRPr lang="ar-SA" sz="2200" dirty="0"/>
          </a:p>
        </p:txBody>
      </p:sp>
      <p:sp>
        <p:nvSpPr>
          <p:cNvPr id="9" name="anim-g1-1404"/>
          <p:cNvSpPr/>
          <p:nvPr/>
        </p:nvSpPr>
        <p:spPr>
          <a:xfrm>
            <a:off x="9040901"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تخشى أن ابنها غير مقدَّر</a:t>
            </a:r>
            <a:endParaRPr lang="ar-SA" sz="1900" dirty="0"/>
          </a:p>
        </p:txBody>
      </p:sp>
      <p:sp>
        <p:nvSpPr>
          <p:cNvPr id="10" name="anim-g2-1405"/>
          <p:cNvSpPr/>
          <p:nvPr/>
        </p:nvSpPr>
        <p:spPr>
          <a:xfrm>
            <a:off x="6210148" y="2011680"/>
            <a:ext cx="2464994" cy="2514600"/>
          </a:xfrm>
          <a:prstGeom prst="roundRect">
            <a:avLst>
              <a:gd name="adj" fmla="val 6677"/>
            </a:avLst>
          </a:prstGeom>
          <a:solidFill>
            <a:srgbClr val="FFFFFF"/>
          </a:solidFill>
          <a:ln w="12700">
            <a:solidFill>
              <a:srgbClr val="E4DCC8"/>
            </a:solidFill>
            <a:prstDash val="solid"/>
          </a:ln>
        </p:spPr>
      </p:sp>
      <p:sp>
        <p:nvSpPr>
          <p:cNvPr id="11" name="anim-g2-1406"/>
          <p:cNvSpPr/>
          <p:nvPr/>
        </p:nvSpPr>
        <p:spPr>
          <a:xfrm>
            <a:off x="7122604" y="2194560"/>
            <a:ext cx="640080" cy="640080"/>
          </a:xfrm>
          <a:prstGeom prst="roundRect">
            <a:avLst>
              <a:gd name="adj" fmla="val 25714"/>
            </a:avLst>
          </a:prstGeom>
          <a:solidFill>
            <a:srgbClr val="F7E6BC"/>
          </a:solidFill>
          <a:ln/>
        </p:spPr>
      </p:sp>
      <p:sp>
        <p:nvSpPr>
          <p:cNvPr id="12" name="anim-g2-1407"/>
          <p:cNvSpPr/>
          <p:nvPr/>
        </p:nvSpPr>
        <p:spPr>
          <a:xfrm>
            <a:off x="7122604"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13" name="anim-g2-1408"/>
          <p:cNvSpPr/>
          <p:nvPr/>
        </p:nvSpPr>
        <p:spPr>
          <a:xfrm>
            <a:off x="6347308"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غموض</a:t>
            </a:r>
            <a:endParaRPr lang="ar-SA" sz="2200" dirty="0"/>
          </a:p>
        </p:txBody>
      </p:sp>
      <p:sp>
        <p:nvSpPr>
          <p:cNvPr id="14" name="anim-g2-1409"/>
          <p:cNvSpPr/>
          <p:nvPr/>
        </p:nvSpPr>
        <p:spPr>
          <a:xfrm>
            <a:off x="6347308"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لم تعرف كيف تم الاختيار</a:t>
            </a:r>
            <a:endParaRPr lang="ar-SA" sz="1900" dirty="0"/>
          </a:p>
        </p:txBody>
      </p:sp>
      <p:sp>
        <p:nvSpPr>
          <p:cNvPr id="15" name="anim-g3-1410"/>
          <p:cNvSpPr/>
          <p:nvPr/>
        </p:nvSpPr>
        <p:spPr>
          <a:xfrm>
            <a:off x="3516554" y="2011680"/>
            <a:ext cx="2464994" cy="2514600"/>
          </a:xfrm>
          <a:prstGeom prst="roundRect">
            <a:avLst>
              <a:gd name="adj" fmla="val 6677"/>
            </a:avLst>
          </a:prstGeom>
          <a:solidFill>
            <a:srgbClr val="FFFFFF"/>
          </a:solidFill>
          <a:ln w="12700">
            <a:solidFill>
              <a:srgbClr val="E4DCC8"/>
            </a:solidFill>
            <a:prstDash val="solid"/>
          </a:ln>
        </p:spPr>
      </p:sp>
      <p:sp>
        <p:nvSpPr>
          <p:cNvPr id="16" name="anim-g3-1411"/>
          <p:cNvSpPr/>
          <p:nvPr/>
        </p:nvSpPr>
        <p:spPr>
          <a:xfrm>
            <a:off x="4429011" y="2194560"/>
            <a:ext cx="640080" cy="640080"/>
          </a:xfrm>
          <a:prstGeom prst="roundRect">
            <a:avLst>
              <a:gd name="adj" fmla="val 25714"/>
            </a:avLst>
          </a:prstGeom>
          <a:solidFill>
            <a:srgbClr val="F7E6BC"/>
          </a:solidFill>
          <a:ln/>
        </p:spPr>
      </p:sp>
      <p:sp>
        <p:nvSpPr>
          <p:cNvPr id="17" name="anim-g3-1412"/>
          <p:cNvSpPr/>
          <p:nvPr/>
        </p:nvSpPr>
        <p:spPr>
          <a:xfrm>
            <a:off x="4429011"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18" name="anim-g3-1413"/>
          <p:cNvSpPr/>
          <p:nvPr/>
        </p:nvSpPr>
        <p:spPr>
          <a:xfrm>
            <a:off x="3653714"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مقارنة</a:t>
            </a:r>
            <a:endParaRPr lang="ar-SA" sz="2200" dirty="0"/>
          </a:p>
        </p:txBody>
      </p:sp>
      <p:sp>
        <p:nvSpPr>
          <p:cNvPr id="19" name="anim-g3-1414"/>
          <p:cNvSpPr/>
          <p:nvPr/>
        </p:nvSpPr>
        <p:spPr>
          <a:xfrm>
            <a:off x="3653714"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ترى أبناء غيرها في المقدمة</a:t>
            </a:r>
            <a:endParaRPr lang="ar-SA" sz="1900" dirty="0"/>
          </a:p>
        </p:txBody>
      </p:sp>
      <p:sp>
        <p:nvSpPr>
          <p:cNvPr id="20" name="anim-g4-1415"/>
          <p:cNvSpPr/>
          <p:nvPr/>
        </p:nvSpPr>
        <p:spPr>
          <a:xfrm>
            <a:off x="822960" y="2011680"/>
            <a:ext cx="2464994" cy="2514600"/>
          </a:xfrm>
          <a:prstGeom prst="roundRect">
            <a:avLst>
              <a:gd name="adj" fmla="val 6677"/>
            </a:avLst>
          </a:prstGeom>
          <a:solidFill>
            <a:srgbClr val="FFFFFF"/>
          </a:solidFill>
          <a:ln w="12700">
            <a:solidFill>
              <a:srgbClr val="E4DCC8"/>
            </a:solidFill>
            <a:prstDash val="solid"/>
          </a:ln>
        </p:spPr>
      </p:sp>
      <p:sp>
        <p:nvSpPr>
          <p:cNvPr id="21" name="anim-g4-1416"/>
          <p:cNvSpPr/>
          <p:nvPr/>
        </p:nvSpPr>
        <p:spPr>
          <a:xfrm>
            <a:off x="1735417" y="2194560"/>
            <a:ext cx="640080" cy="640080"/>
          </a:xfrm>
          <a:prstGeom prst="roundRect">
            <a:avLst>
              <a:gd name="adj" fmla="val 25714"/>
            </a:avLst>
          </a:prstGeom>
          <a:solidFill>
            <a:srgbClr val="F7E6BC"/>
          </a:solidFill>
          <a:ln/>
        </p:spPr>
      </p:sp>
      <p:sp>
        <p:nvSpPr>
          <p:cNvPr id="22" name="anim-g4-1417"/>
          <p:cNvSpPr/>
          <p:nvPr/>
        </p:nvSpPr>
        <p:spPr>
          <a:xfrm>
            <a:off x="1735417"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23" name="anim-g4-1418"/>
          <p:cNvSpPr/>
          <p:nvPr/>
        </p:nvSpPr>
        <p:spPr>
          <a:xfrm>
            <a:off x="960120"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أمنية</a:t>
            </a:r>
            <a:endParaRPr lang="ar-SA" sz="2200" dirty="0"/>
          </a:p>
        </p:txBody>
      </p:sp>
      <p:sp>
        <p:nvSpPr>
          <p:cNvPr id="24" name="anim-g4-1419"/>
          <p:cNvSpPr/>
          <p:nvPr/>
        </p:nvSpPr>
        <p:spPr>
          <a:xfrm>
            <a:off x="960120"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ربما تتمنى له ما لم تنله</a:t>
            </a:r>
            <a:endParaRPr lang="ar-SA" sz="1900" dirty="0"/>
          </a:p>
        </p:txBody>
      </p:sp>
      <p:sp>
        <p:nvSpPr>
          <p:cNvPr id="25" name="anim-g5-1420"/>
          <p:cNvSpPr/>
          <p:nvPr/>
        </p:nvSpPr>
        <p:spPr>
          <a:xfrm>
            <a:off x="822960" y="4754880"/>
            <a:ext cx="10545775" cy="1051560"/>
          </a:xfrm>
          <a:prstGeom prst="roundRect">
            <a:avLst>
              <a:gd name="adj" fmla="val 17391"/>
            </a:avLst>
          </a:prstGeom>
          <a:solidFill>
            <a:srgbClr val="101B45"/>
          </a:solidFill>
          <a:ln/>
        </p:spPr>
      </p:sp>
      <p:sp>
        <p:nvSpPr>
          <p:cNvPr id="26" name="anim-g5-1421"/>
          <p:cNvSpPr/>
          <p:nvPr/>
        </p:nvSpPr>
        <p:spPr>
          <a:xfrm>
            <a:off x="1097280" y="4754880"/>
            <a:ext cx="9997135" cy="1051560"/>
          </a:xfrm>
          <a:prstGeom prst="rect">
            <a:avLst/>
          </a:prstGeom>
          <a:noFill/>
          <a:ln/>
        </p:spPr>
        <p:txBody>
          <a:bodyPr wrap="square" lIns="0" tIns="0" rIns="0" bIns="0" rtlCol="0" anchor="ctr">
            <a:normAutofit/>
          </a:bodyPr>
          <a:lstStyle/>
          <a:p>
            <a:pPr algn="ctr" indent="0" marL="0">
              <a:buNone/>
            </a:pPr>
            <a:r>
              <a:rPr lang="ar-SA" altLang="en-US" sz="2200" b="1" dirty="0">
                <a:solidFill>
                  <a:srgbClr val="FFFFFF"/>
                </a:solidFill>
                <a:latin typeface="Cairo" pitchFamily="34" charset="0"/>
                <a:ea typeface="Cairo" pitchFamily="34" charset="-122"/>
                <a:cs typeface="Cairo" pitchFamily="34" charset="-120"/>
              </a:rPr>
              <a:t>💡 الأم لا تطلب منصبًا…</a:t>
            </a:r>
            <a:endParaRPr lang="ar-SA" sz="2200" dirty="0"/>
          </a:p>
          <a:p>
            <a:pPr algn="ctr" indent="0" marL="0">
              <a:buNone/>
            </a:pPr>
            <a:r>
              <a:rPr lang="ar-SA" altLang="en-US" sz="2200" b="1" dirty="0">
                <a:solidFill>
                  <a:srgbClr val="F0CC7A"/>
                </a:solidFill>
                <a:latin typeface="Cairo" pitchFamily="34" charset="0"/>
                <a:ea typeface="Cairo" pitchFamily="34" charset="-122"/>
                <a:cs typeface="Cairo" pitchFamily="34" charset="-120"/>
              </a:rPr>
              <a:t> بل تطمئن أن ابنها مرئي</a:t>
            </a:r>
            <a:endParaRPr lang="ar-SA" sz="2200" dirty="0"/>
          </a:p>
        </p:txBody>
      </p:sp>
      <p:sp>
        <p:nvSpPr>
          <p:cNvPr id="27" name="Text 2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8" name="Text 2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لماذا تتجاهلون ابني؟  ·  ١٣٢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40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133.xml><?xml version="1.0" encoding="utf-8"?>
<p:sld xmlns:a="http://schemas.openxmlformats.org/drawingml/2006/main" xmlns:r="http://schemas.openxmlformats.org/officeDocument/2006/relationships" xmlns:p="http://schemas.openxmlformats.org/presentationml/2006/main">
  <p:cSld name="Slide 1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442655" y="457200"/>
            <a:ext cx="2926080" cy="457200"/>
          </a:xfrm>
          <a:prstGeom prst="roundRect">
            <a:avLst>
              <a:gd name="adj" fmla="val 50000"/>
            </a:avLst>
          </a:prstGeom>
          <a:solidFill>
            <a:srgbClr val="F6EBCF"/>
          </a:solidFill>
          <a:ln/>
        </p:spPr>
      </p:sp>
      <p:sp>
        <p:nvSpPr>
          <p:cNvPr id="3" name="Text 1"/>
          <p:cNvSpPr/>
          <p:nvPr/>
        </p:nvSpPr>
        <p:spPr>
          <a:xfrm>
            <a:off x="8442655" y="457200"/>
            <a:ext cx="292608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خطة يوم واحد</a:t>
            </a:r>
            <a:endParaRPr lang="ar-SA" sz="1800" dirty="0"/>
          </a:p>
        </p:txBody>
      </p:sp>
      <p:sp>
        <p:nvSpPr>
          <p:cNvPr id="4" name="Shape 2"/>
          <p:cNvSpPr/>
          <p:nvPr/>
        </p:nvSpPr>
        <p:spPr>
          <a:xfrm>
            <a:off x="822960" y="457200"/>
            <a:ext cx="1737360" cy="457200"/>
          </a:xfrm>
          <a:prstGeom prst="roundRect">
            <a:avLst>
              <a:gd name="adj" fmla="val 50000"/>
            </a:avLst>
          </a:prstGeom>
          <a:solidFill>
            <a:srgbClr val="FBECEC"/>
          </a:solidFill>
          <a:ln/>
        </p:spPr>
      </p:sp>
      <p:sp>
        <p:nvSpPr>
          <p:cNvPr id="5" name="Text 3"/>
          <p:cNvSpPr/>
          <p:nvPr/>
        </p:nvSpPr>
        <p:spPr>
          <a:xfrm>
            <a:off x="822960" y="457200"/>
            <a:ext cx="1737360"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D64545"/>
                </a:solidFill>
                <a:latin typeface="Cairo" pitchFamily="34" charset="0"/>
                <a:ea typeface="Cairo" pitchFamily="34" charset="-122"/>
                <a:cs typeface="Cairo" pitchFamily="34" charset="-120"/>
              </a:rPr>
              <a:t>⏱ يوم واحد</a:t>
            </a:r>
            <a:endParaRPr lang="ar-SA" sz="1600" dirty="0"/>
          </a:p>
        </p:txBody>
      </p:sp>
      <p:sp>
        <p:nvSpPr>
          <p:cNvPr id="6" name="Text 4"/>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كيف يتصرف أ. محمود؟</a:t>
            </a:r>
            <a:endParaRPr lang="ar-SA" sz="3800" dirty="0"/>
          </a:p>
        </p:txBody>
      </p:sp>
      <p:sp>
        <p:nvSpPr>
          <p:cNvPr id="7" name="anim-g1-1422"/>
          <p:cNvSpPr/>
          <p:nvPr/>
        </p:nvSpPr>
        <p:spPr>
          <a:xfrm>
            <a:off x="8903741" y="2148840"/>
            <a:ext cx="2464994" cy="3383280"/>
          </a:xfrm>
          <a:prstGeom prst="roundRect">
            <a:avLst>
              <a:gd name="adj" fmla="val 6677"/>
            </a:avLst>
          </a:prstGeom>
          <a:solidFill>
            <a:srgbClr val="FFFFFF"/>
          </a:solidFill>
          <a:ln w="12700">
            <a:solidFill>
              <a:srgbClr val="E4DCC8"/>
            </a:solidFill>
            <a:prstDash val="solid"/>
          </a:ln>
        </p:spPr>
      </p:sp>
      <p:sp>
        <p:nvSpPr>
          <p:cNvPr id="8" name="anim-g1-1423"/>
          <p:cNvSpPr/>
          <p:nvPr/>
        </p:nvSpPr>
        <p:spPr>
          <a:xfrm>
            <a:off x="9747618" y="2423160"/>
            <a:ext cx="777240" cy="777240"/>
          </a:xfrm>
          <a:prstGeom prst="ellipse">
            <a:avLst/>
          </a:prstGeom>
          <a:solidFill>
            <a:srgbClr val="D9AE4B"/>
          </a:solidFill>
          <a:ln/>
        </p:spPr>
      </p:sp>
      <p:sp>
        <p:nvSpPr>
          <p:cNvPr id="9" name="anim-g1-1424"/>
          <p:cNvSpPr/>
          <p:nvPr/>
        </p:nvSpPr>
        <p:spPr>
          <a:xfrm>
            <a:off x="9747618"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١</a:t>
            </a:r>
            <a:endParaRPr lang="ar-SA" sz="2800" dirty="0"/>
          </a:p>
        </p:txBody>
      </p:sp>
      <p:sp>
        <p:nvSpPr>
          <p:cNvPr id="10" name="anim-g1-1425"/>
          <p:cNvSpPr/>
          <p:nvPr/>
        </p:nvSpPr>
        <p:spPr>
          <a:xfrm>
            <a:off x="9040901"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اسمع الأم</a:t>
            </a:r>
            <a:endParaRPr lang="ar-SA" sz="2500" dirty="0"/>
          </a:p>
        </p:txBody>
      </p:sp>
      <p:sp>
        <p:nvSpPr>
          <p:cNvPr id="11" name="anim-g1-1426"/>
          <p:cNvSpPr/>
          <p:nvPr/>
        </p:nvSpPr>
        <p:spPr>
          <a:xfrm>
            <a:off x="9086621"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قلقها مفهوم، فاشكرها عليه</a:t>
            </a:r>
            <a:endParaRPr lang="ar-SA" sz="2000" dirty="0"/>
          </a:p>
        </p:txBody>
      </p:sp>
      <p:sp>
        <p:nvSpPr>
          <p:cNvPr id="12" name="anim-g2-1427"/>
          <p:cNvSpPr/>
          <p:nvPr/>
        </p:nvSpPr>
        <p:spPr>
          <a:xfrm>
            <a:off x="6210148" y="2148840"/>
            <a:ext cx="2464994" cy="3383280"/>
          </a:xfrm>
          <a:prstGeom prst="roundRect">
            <a:avLst>
              <a:gd name="adj" fmla="val 6677"/>
            </a:avLst>
          </a:prstGeom>
          <a:solidFill>
            <a:srgbClr val="FFFFFF"/>
          </a:solidFill>
          <a:ln w="12700">
            <a:solidFill>
              <a:srgbClr val="E4DCC8"/>
            </a:solidFill>
            <a:prstDash val="solid"/>
          </a:ln>
        </p:spPr>
      </p:sp>
      <p:sp>
        <p:nvSpPr>
          <p:cNvPr id="13" name="anim-g2-1428"/>
          <p:cNvSpPr/>
          <p:nvPr/>
        </p:nvSpPr>
        <p:spPr>
          <a:xfrm>
            <a:off x="7054024" y="2423160"/>
            <a:ext cx="777240" cy="777240"/>
          </a:xfrm>
          <a:prstGeom prst="ellipse">
            <a:avLst/>
          </a:prstGeom>
          <a:solidFill>
            <a:srgbClr val="D9AE4B"/>
          </a:solidFill>
          <a:ln/>
        </p:spPr>
      </p:sp>
      <p:sp>
        <p:nvSpPr>
          <p:cNvPr id="14" name="anim-g2-1429"/>
          <p:cNvSpPr/>
          <p:nvPr/>
        </p:nvSpPr>
        <p:spPr>
          <a:xfrm>
            <a:off x="7054024"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٢</a:t>
            </a:r>
            <a:endParaRPr lang="ar-SA" sz="2800" dirty="0"/>
          </a:p>
        </p:txBody>
      </p:sp>
      <p:sp>
        <p:nvSpPr>
          <p:cNvPr id="15" name="anim-g2-1430"/>
          <p:cNvSpPr/>
          <p:nvPr/>
        </p:nvSpPr>
        <p:spPr>
          <a:xfrm>
            <a:off x="6347308"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اشرح الآلية</a:t>
            </a:r>
            <a:endParaRPr lang="ar-SA" sz="2500" dirty="0"/>
          </a:p>
        </p:txBody>
      </p:sp>
      <p:sp>
        <p:nvSpPr>
          <p:cNvPr id="16" name="anim-g2-1431"/>
          <p:cNvSpPr/>
          <p:nvPr/>
        </p:nvSpPr>
        <p:spPr>
          <a:xfrm>
            <a:off x="6393028"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الاختيار تم بشفافية وبأصوات الطلاب</a:t>
            </a:r>
            <a:endParaRPr lang="ar-SA" sz="2000" dirty="0"/>
          </a:p>
        </p:txBody>
      </p:sp>
      <p:sp>
        <p:nvSpPr>
          <p:cNvPr id="17" name="anim-g3-1432"/>
          <p:cNvSpPr/>
          <p:nvPr/>
        </p:nvSpPr>
        <p:spPr>
          <a:xfrm>
            <a:off x="3516554" y="2148840"/>
            <a:ext cx="2464994" cy="3383280"/>
          </a:xfrm>
          <a:prstGeom prst="roundRect">
            <a:avLst>
              <a:gd name="adj" fmla="val 6677"/>
            </a:avLst>
          </a:prstGeom>
          <a:solidFill>
            <a:srgbClr val="FFFFFF"/>
          </a:solidFill>
          <a:ln w="12700">
            <a:solidFill>
              <a:srgbClr val="E4DCC8"/>
            </a:solidFill>
            <a:prstDash val="solid"/>
          </a:ln>
        </p:spPr>
      </p:sp>
      <p:sp>
        <p:nvSpPr>
          <p:cNvPr id="18" name="anim-g3-1433"/>
          <p:cNvSpPr/>
          <p:nvPr/>
        </p:nvSpPr>
        <p:spPr>
          <a:xfrm>
            <a:off x="4360431" y="2423160"/>
            <a:ext cx="777240" cy="777240"/>
          </a:xfrm>
          <a:prstGeom prst="ellipse">
            <a:avLst/>
          </a:prstGeom>
          <a:solidFill>
            <a:srgbClr val="D9AE4B"/>
          </a:solidFill>
          <a:ln/>
        </p:spPr>
      </p:sp>
      <p:sp>
        <p:nvSpPr>
          <p:cNvPr id="19" name="anim-g3-1434"/>
          <p:cNvSpPr/>
          <p:nvPr/>
        </p:nvSpPr>
        <p:spPr>
          <a:xfrm>
            <a:off x="4360431"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٣</a:t>
            </a:r>
            <a:endParaRPr lang="ar-SA" sz="2800" dirty="0"/>
          </a:p>
        </p:txBody>
      </p:sp>
      <p:sp>
        <p:nvSpPr>
          <p:cNvPr id="20" name="anim-g3-1435"/>
          <p:cNvSpPr/>
          <p:nvPr/>
        </p:nvSpPr>
        <p:spPr>
          <a:xfrm>
            <a:off x="3653714"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اسأل فيصل</a:t>
            </a:r>
            <a:endParaRPr lang="ar-SA" sz="2500" dirty="0"/>
          </a:p>
        </p:txBody>
      </p:sp>
      <p:sp>
        <p:nvSpPr>
          <p:cNvPr id="21" name="anim-g3-1436"/>
          <p:cNvSpPr/>
          <p:nvPr/>
        </p:nvSpPr>
        <p:spPr>
          <a:xfrm>
            <a:off x="3699434"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ماذا يحب؟ وأين يرتاح؟</a:t>
            </a:r>
            <a:endParaRPr lang="ar-SA" sz="2000" dirty="0"/>
          </a:p>
        </p:txBody>
      </p:sp>
      <p:sp>
        <p:nvSpPr>
          <p:cNvPr id="22" name="anim-g4-1437"/>
          <p:cNvSpPr/>
          <p:nvPr/>
        </p:nvSpPr>
        <p:spPr>
          <a:xfrm>
            <a:off x="822960" y="2148840"/>
            <a:ext cx="2464994" cy="3383280"/>
          </a:xfrm>
          <a:prstGeom prst="roundRect">
            <a:avLst>
              <a:gd name="adj" fmla="val 6677"/>
            </a:avLst>
          </a:prstGeom>
          <a:solidFill>
            <a:srgbClr val="FFFFFF"/>
          </a:solidFill>
          <a:ln w="12700">
            <a:solidFill>
              <a:srgbClr val="E4DCC8"/>
            </a:solidFill>
            <a:prstDash val="solid"/>
          </a:ln>
        </p:spPr>
      </p:sp>
      <p:sp>
        <p:nvSpPr>
          <p:cNvPr id="23" name="anim-g4-1438"/>
          <p:cNvSpPr/>
          <p:nvPr/>
        </p:nvSpPr>
        <p:spPr>
          <a:xfrm>
            <a:off x="1666837" y="2423160"/>
            <a:ext cx="777240" cy="777240"/>
          </a:xfrm>
          <a:prstGeom prst="ellipse">
            <a:avLst/>
          </a:prstGeom>
          <a:solidFill>
            <a:srgbClr val="D9AE4B"/>
          </a:solidFill>
          <a:ln/>
        </p:spPr>
      </p:sp>
      <p:sp>
        <p:nvSpPr>
          <p:cNvPr id="24" name="anim-g4-1439"/>
          <p:cNvSpPr/>
          <p:nvPr/>
        </p:nvSpPr>
        <p:spPr>
          <a:xfrm>
            <a:off x="1666837"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٤</a:t>
            </a:r>
            <a:endParaRPr lang="ar-SA" sz="2800" dirty="0"/>
          </a:p>
        </p:txBody>
      </p:sp>
      <p:sp>
        <p:nvSpPr>
          <p:cNvPr id="25" name="anim-g4-1440"/>
          <p:cNvSpPr/>
          <p:nvPr/>
        </p:nvSpPr>
        <p:spPr>
          <a:xfrm>
            <a:off x="960120"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دور يناسبه</a:t>
            </a:r>
            <a:endParaRPr lang="ar-SA" sz="2500" dirty="0"/>
          </a:p>
        </p:txBody>
      </p:sp>
      <p:sp>
        <p:nvSpPr>
          <p:cNvPr id="26" name="anim-g4-1441"/>
          <p:cNvSpPr/>
          <p:nvPr/>
        </p:nvSpPr>
        <p:spPr>
          <a:xfrm>
            <a:off x="1005840"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أمين المكتبة، أو مسؤول التوثيق</a:t>
            </a:r>
            <a:endParaRPr lang="ar-SA" sz="2000" dirty="0"/>
          </a:p>
        </p:txBody>
      </p:sp>
      <p:sp>
        <p:nvSpPr>
          <p:cNvPr id="27" name="Text 2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8" name="Text 2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لماذا تتجاهلون ابني؟  ·  ١٣٣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400"/>
                                        <p:tgtEl>
                                          <p:spTgt spid="1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40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4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400"/>
                                        <p:tgtEl>
                                          <p:spTgt spid="1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400"/>
                                        <p:tgtEl>
                                          <p:spTgt spid="2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400"/>
                                        <p:tgtEl>
                                          <p:spTgt spid="21"/>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400"/>
                                        <p:tgtEl>
                                          <p:spTgt spid="2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400"/>
                                        <p:tgtEl>
                                          <p:spTgt spid="2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400"/>
                                        <p:tgtEl>
                                          <p:spTgt spid="2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400"/>
                                        <p:tgtEl>
                                          <p:spTgt spid="2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134.xml><?xml version="1.0" encoding="utf-8"?>
<p:sld xmlns:a="http://schemas.openxmlformats.org/drawingml/2006/main" xmlns:r="http://schemas.openxmlformats.org/officeDocument/2006/relationships" xmlns:p="http://schemas.openxmlformats.org/presentationml/2006/main">
  <p:cSld name="Slide 1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588959" y="457200"/>
            <a:ext cx="2779776" cy="457200"/>
          </a:xfrm>
          <a:prstGeom prst="roundRect">
            <a:avLst>
              <a:gd name="adj" fmla="val 50000"/>
            </a:avLst>
          </a:prstGeom>
          <a:solidFill>
            <a:srgbClr val="F6EBCF"/>
          </a:solidFill>
          <a:ln/>
        </p:spPr>
      </p:sp>
      <p:sp>
        <p:nvSpPr>
          <p:cNvPr id="3" name="Text 1"/>
          <p:cNvSpPr/>
          <p:nvPr/>
        </p:nvSpPr>
        <p:spPr>
          <a:xfrm>
            <a:off x="8588959" y="457200"/>
            <a:ext cx="277977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الجُمل الجاهزة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ماذا تقول بالحرف؟</a:t>
            </a:r>
            <a:endParaRPr lang="ar-SA" sz="3800" dirty="0"/>
          </a:p>
        </p:txBody>
      </p:sp>
      <p:sp>
        <p:nvSpPr>
          <p:cNvPr id="5" name="anim-g1-1442"/>
          <p:cNvSpPr/>
          <p:nvPr/>
        </p:nvSpPr>
        <p:spPr>
          <a:xfrm>
            <a:off x="9768535" y="2130552"/>
            <a:ext cx="1600200" cy="1018032"/>
          </a:xfrm>
          <a:prstGeom prst="roundRect">
            <a:avLst>
              <a:gd name="adj" fmla="val 13473"/>
            </a:avLst>
          </a:prstGeom>
          <a:solidFill>
            <a:srgbClr val="E9EDF9"/>
          </a:solidFill>
          <a:ln/>
        </p:spPr>
      </p:sp>
      <p:sp>
        <p:nvSpPr>
          <p:cNvPr id="6" name="anim-g1-1443"/>
          <p:cNvSpPr/>
          <p:nvPr/>
        </p:nvSpPr>
        <p:spPr>
          <a:xfrm>
            <a:off x="9814255" y="2130552"/>
            <a:ext cx="1508760" cy="101803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للأم</a:t>
            </a:r>
            <a:endParaRPr lang="ar-SA" sz="1800" dirty="0"/>
          </a:p>
        </p:txBody>
      </p:sp>
      <p:sp>
        <p:nvSpPr>
          <p:cNvPr id="7" name="anim-g1-1444"/>
          <p:cNvSpPr/>
          <p:nvPr/>
        </p:nvSpPr>
        <p:spPr>
          <a:xfrm>
            <a:off x="822960" y="2057400"/>
            <a:ext cx="8716975" cy="1164336"/>
          </a:xfrm>
          <a:prstGeom prst="roundRect">
            <a:avLst>
              <a:gd name="adj" fmla="val 17277"/>
            </a:avLst>
          </a:prstGeom>
          <a:solidFill>
            <a:srgbClr val="101B45"/>
          </a:solidFill>
          <a:ln/>
        </p:spPr>
      </p:sp>
      <p:sp>
        <p:nvSpPr>
          <p:cNvPr id="8" name="anim-g1-1445"/>
          <p:cNvSpPr/>
          <p:nvPr/>
        </p:nvSpPr>
        <p:spPr>
          <a:xfrm>
            <a:off x="1097280" y="2057400"/>
            <a:ext cx="8168335" cy="1164336"/>
          </a:xfrm>
          <a:prstGeom prst="rect">
            <a:avLst/>
          </a:prstGeom>
          <a:noFill/>
          <a:ln/>
        </p:spPr>
        <p:txBody>
          <a:bodyPr wrap="square" lIns="0" tIns="0" rIns="0" bIns="0" rtlCol="0" anchor="ctr">
            <a:normAutofit/>
          </a:bodyPr>
          <a:lstStyle/>
          <a:p>
            <a:pPr algn="r" indent="0" marL="0">
              <a:buNone/>
            </a:pPr>
            <a:r>
              <a:rPr lang="ar-SA" altLang="en-US" sz="2000" b="1" dirty="0">
                <a:solidFill>
                  <a:srgbClr val="D9AE4B"/>
                </a:solidFill>
                <a:latin typeface="Cairo" pitchFamily="34" charset="0"/>
                <a:ea typeface="Cairo" pitchFamily="34" charset="-122"/>
                <a:cs typeface="Cairo" pitchFamily="34" charset="-120"/>
              </a:rPr>
              <a:t>« </a:t>
            </a:r>
            <a:pPr algn="r" indent="0" marL="0">
              <a:buNone/>
            </a:pPr>
            <a:r>
              <a:rPr lang="ar-SA" altLang="en-US" sz="2000" b="1" dirty="0">
                <a:solidFill>
                  <a:srgbClr val="FFFFFF"/>
                </a:solidFill>
                <a:latin typeface="Cairo" pitchFamily="34" charset="0"/>
                <a:ea typeface="Cairo" pitchFamily="34" charset="-122"/>
                <a:cs typeface="Cairo" pitchFamily="34" charset="-120"/>
              </a:rPr>
              <a:t>فيصل يهمّني كثيرًا. الاختيار تم بأصوات زملائه، وأنا أبحث عن دور يناسب شخصيته الهادئة</a:t>
            </a:r>
            <a:pPr algn="r" indent="0" marL="0">
              <a:buNone/>
            </a:pPr>
            <a:r>
              <a:rPr lang="ar-SA" altLang="en-US" sz="2000" b="1" dirty="0">
                <a:solidFill>
                  <a:srgbClr val="D9AE4B"/>
                </a:solidFill>
                <a:latin typeface="Cairo" pitchFamily="34" charset="0"/>
                <a:ea typeface="Cairo" pitchFamily="34" charset="-122"/>
                <a:cs typeface="Cairo" pitchFamily="34" charset="-120"/>
              </a:rPr>
              <a:t> »</a:t>
            </a:r>
            <a:endParaRPr lang="ar-SA" sz="2000" dirty="0"/>
          </a:p>
        </p:txBody>
      </p:sp>
      <p:sp>
        <p:nvSpPr>
          <p:cNvPr id="9" name="anim-g2-1446"/>
          <p:cNvSpPr/>
          <p:nvPr/>
        </p:nvSpPr>
        <p:spPr>
          <a:xfrm>
            <a:off x="9768535" y="3441192"/>
            <a:ext cx="1600200" cy="1018032"/>
          </a:xfrm>
          <a:prstGeom prst="roundRect">
            <a:avLst>
              <a:gd name="adj" fmla="val 13473"/>
            </a:avLst>
          </a:prstGeom>
          <a:solidFill>
            <a:srgbClr val="E9EDF9"/>
          </a:solidFill>
          <a:ln/>
        </p:spPr>
      </p:sp>
      <p:sp>
        <p:nvSpPr>
          <p:cNvPr id="10" name="anim-g2-1447"/>
          <p:cNvSpPr/>
          <p:nvPr/>
        </p:nvSpPr>
        <p:spPr>
          <a:xfrm>
            <a:off x="9814255" y="3441192"/>
            <a:ext cx="1508760" cy="101803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لفيصل</a:t>
            </a:r>
            <a:endParaRPr lang="ar-SA" sz="1800" dirty="0"/>
          </a:p>
        </p:txBody>
      </p:sp>
      <p:sp>
        <p:nvSpPr>
          <p:cNvPr id="11" name="anim-g2-1448"/>
          <p:cNvSpPr/>
          <p:nvPr/>
        </p:nvSpPr>
        <p:spPr>
          <a:xfrm>
            <a:off x="822960" y="3368040"/>
            <a:ext cx="8716975" cy="1164336"/>
          </a:xfrm>
          <a:prstGeom prst="roundRect">
            <a:avLst>
              <a:gd name="adj" fmla="val 17277"/>
            </a:avLst>
          </a:prstGeom>
          <a:solidFill>
            <a:srgbClr val="101B45"/>
          </a:solidFill>
          <a:ln/>
        </p:spPr>
      </p:sp>
      <p:sp>
        <p:nvSpPr>
          <p:cNvPr id="12" name="anim-g2-1449"/>
          <p:cNvSpPr/>
          <p:nvPr/>
        </p:nvSpPr>
        <p:spPr>
          <a:xfrm>
            <a:off x="1097280" y="3368040"/>
            <a:ext cx="8168335" cy="1164336"/>
          </a:xfrm>
          <a:prstGeom prst="rect">
            <a:avLst/>
          </a:prstGeom>
          <a:noFill/>
          <a:ln/>
        </p:spPr>
        <p:txBody>
          <a:bodyPr wrap="square" lIns="0" tIns="0" rIns="0" bIns="0" rtlCol="0" anchor="ctr">
            <a:normAutofit/>
          </a:bodyPr>
          <a:lstStyle/>
          <a:p>
            <a:pPr algn="r" indent="0" marL="0">
              <a:buNone/>
            </a:pPr>
            <a:r>
              <a:rPr lang="ar-SA" altLang="en-US" sz="2200" b="1" dirty="0">
                <a:solidFill>
                  <a:srgbClr val="D9AE4B"/>
                </a:solidFill>
                <a:latin typeface="Cairo" pitchFamily="34" charset="0"/>
                <a:ea typeface="Cairo" pitchFamily="34" charset="-122"/>
                <a:cs typeface="Cairo" pitchFamily="34" charset="-120"/>
              </a:rPr>
              <a:t>« </a:t>
            </a:r>
            <a:pPr algn="r" indent="0" marL="0">
              <a:buNone/>
            </a:pPr>
            <a:r>
              <a:rPr lang="ar-SA" altLang="en-US" sz="2200" b="1" dirty="0">
                <a:solidFill>
                  <a:srgbClr val="FFFFFF"/>
                </a:solidFill>
                <a:latin typeface="Cairo" pitchFamily="34" charset="0"/>
                <a:ea typeface="Cairo" pitchFamily="34" charset="-122"/>
                <a:cs typeface="Cairo" pitchFamily="34" charset="-120"/>
              </a:rPr>
              <a:t>لاحظت أنك تحب القراءة والترتيب. ما رأيك أن تكون أمين مكتبة الفصل؟</a:t>
            </a:r>
            <a:pPr algn="r" indent="0" marL="0">
              <a:buNone/>
            </a:pPr>
            <a:r>
              <a:rPr lang="ar-SA" altLang="en-US" sz="2200" b="1" dirty="0">
                <a:solidFill>
                  <a:srgbClr val="D9AE4B"/>
                </a:solidFill>
                <a:latin typeface="Cairo" pitchFamily="34" charset="0"/>
                <a:ea typeface="Cairo" pitchFamily="34" charset="-122"/>
                <a:cs typeface="Cairo" pitchFamily="34" charset="-120"/>
              </a:rPr>
              <a:t> »</a:t>
            </a:r>
            <a:endParaRPr lang="ar-SA" sz="2200" dirty="0"/>
          </a:p>
        </p:txBody>
      </p:sp>
      <p:sp>
        <p:nvSpPr>
          <p:cNvPr id="13" name="anim-g3-1450"/>
          <p:cNvSpPr/>
          <p:nvPr/>
        </p:nvSpPr>
        <p:spPr>
          <a:xfrm>
            <a:off x="9768535" y="4751832"/>
            <a:ext cx="1600200" cy="1018032"/>
          </a:xfrm>
          <a:prstGeom prst="roundRect">
            <a:avLst>
              <a:gd name="adj" fmla="val 13473"/>
            </a:avLst>
          </a:prstGeom>
          <a:solidFill>
            <a:srgbClr val="E9EDF9"/>
          </a:solidFill>
          <a:ln/>
        </p:spPr>
      </p:sp>
      <p:sp>
        <p:nvSpPr>
          <p:cNvPr id="14" name="anim-g3-1451"/>
          <p:cNvSpPr/>
          <p:nvPr/>
        </p:nvSpPr>
        <p:spPr>
          <a:xfrm>
            <a:off x="9814255" y="4751832"/>
            <a:ext cx="1508760" cy="101803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للفصل</a:t>
            </a:r>
            <a:endParaRPr lang="ar-SA" sz="1800" dirty="0"/>
          </a:p>
        </p:txBody>
      </p:sp>
      <p:sp>
        <p:nvSpPr>
          <p:cNvPr id="15" name="anim-g3-1452"/>
          <p:cNvSpPr/>
          <p:nvPr/>
        </p:nvSpPr>
        <p:spPr>
          <a:xfrm>
            <a:off x="822960" y="4678680"/>
            <a:ext cx="8716975" cy="1164336"/>
          </a:xfrm>
          <a:prstGeom prst="roundRect">
            <a:avLst>
              <a:gd name="adj" fmla="val 17277"/>
            </a:avLst>
          </a:prstGeom>
          <a:solidFill>
            <a:srgbClr val="101B45"/>
          </a:solidFill>
          <a:ln/>
        </p:spPr>
      </p:sp>
      <p:sp>
        <p:nvSpPr>
          <p:cNvPr id="16" name="anim-g3-1453"/>
          <p:cNvSpPr/>
          <p:nvPr/>
        </p:nvSpPr>
        <p:spPr>
          <a:xfrm>
            <a:off x="1097280" y="4678680"/>
            <a:ext cx="8168335" cy="1164336"/>
          </a:xfrm>
          <a:prstGeom prst="rect">
            <a:avLst/>
          </a:prstGeom>
          <a:noFill/>
          <a:ln/>
        </p:spPr>
        <p:txBody>
          <a:bodyPr wrap="square" lIns="0" tIns="0" rIns="0" bIns="0" rtlCol="0" anchor="ctr">
            <a:normAutofit/>
          </a:bodyPr>
          <a:lstStyle/>
          <a:p>
            <a:pPr algn="r" indent="0" marL="0">
              <a:buNone/>
            </a:pPr>
            <a:r>
              <a:rPr lang="ar-SA" altLang="en-US" sz="2200" b="1" dirty="0">
                <a:solidFill>
                  <a:srgbClr val="D9AE4B"/>
                </a:solidFill>
                <a:latin typeface="Cairo" pitchFamily="34" charset="0"/>
                <a:ea typeface="Cairo" pitchFamily="34" charset="-122"/>
                <a:cs typeface="Cairo" pitchFamily="34" charset="-120"/>
              </a:rPr>
              <a:t>« </a:t>
            </a:r>
            <a:pPr algn="r" indent="0" marL="0">
              <a:buNone/>
            </a:pPr>
            <a:r>
              <a:rPr lang="ar-SA" altLang="en-US" sz="2200" b="1" dirty="0">
                <a:solidFill>
                  <a:srgbClr val="FFFFFF"/>
                </a:solidFill>
                <a:latin typeface="Cairo" pitchFamily="34" charset="0"/>
                <a:ea typeface="Cairo" pitchFamily="34" charset="-122"/>
                <a:cs typeface="Cairo" pitchFamily="34" charset="-120"/>
              </a:rPr>
              <a:t>عندنا أدوار جديدة هذا الشهر، وكل شهر نبدّل الأدوار ليجرّب الجميع</a:t>
            </a:r>
            <a:pPr algn="r" indent="0" marL="0">
              <a:buNone/>
            </a:pPr>
            <a:r>
              <a:rPr lang="ar-SA" altLang="en-US" sz="2200" b="1" dirty="0">
                <a:solidFill>
                  <a:srgbClr val="D9AE4B"/>
                </a:solidFill>
                <a:latin typeface="Cairo" pitchFamily="34" charset="0"/>
                <a:ea typeface="Cairo" pitchFamily="34" charset="-122"/>
                <a:cs typeface="Cairo" pitchFamily="34" charset="-120"/>
              </a:rPr>
              <a:t> »</a:t>
            </a:r>
            <a:endParaRPr lang="ar-SA" sz="2200" dirty="0"/>
          </a:p>
        </p:txBody>
      </p:sp>
      <p:sp>
        <p:nvSpPr>
          <p:cNvPr id="17" name="Text 1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18" name="Text 1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لماذا تتجاهلون ابني؟  ·  ١٣٤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135.xml><?xml version="1.0" encoding="utf-8"?>
<p:sld xmlns:a="http://schemas.openxmlformats.org/drawingml/2006/main" xmlns:r="http://schemas.openxmlformats.org/officeDocument/2006/relationships" xmlns:p="http://schemas.openxmlformats.org/presentationml/2006/main">
  <p:cSld name="Slide 1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5486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أخطاء شائعة… وبدائلها</a:t>
            </a:r>
            <a:endParaRPr lang="ar-SA" sz="3800" dirty="0"/>
          </a:p>
        </p:txBody>
      </p:sp>
      <p:sp>
        <p:nvSpPr>
          <p:cNvPr id="3" name="Text 1"/>
          <p:cNvSpPr/>
          <p:nvPr/>
        </p:nvSpPr>
        <p:spPr>
          <a:xfrm>
            <a:off x="6415888"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D64545"/>
                </a:solidFill>
                <a:latin typeface="Cairo Black" pitchFamily="34" charset="0"/>
                <a:ea typeface="Cairo Black" pitchFamily="34" charset="-122"/>
                <a:cs typeface="Cairo Black" pitchFamily="34" charset="-120"/>
              </a:rPr>
              <a:t>❌ الخطأ الشائع</a:t>
            </a:r>
            <a:endParaRPr lang="ar-SA" sz="2100" dirty="0"/>
          </a:p>
        </p:txBody>
      </p:sp>
      <p:sp>
        <p:nvSpPr>
          <p:cNvPr id="4" name="Text 2"/>
          <p:cNvSpPr/>
          <p:nvPr/>
        </p:nvSpPr>
        <p:spPr>
          <a:xfrm>
            <a:off x="822960"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2E9E6B"/>
                </a:solidFill>
                <a:latin typeface="Cairo Black" pitchFamily="34" charset="0"/>
                <a:ea typeface="Cairo Black" pitchFamily="34" charset="-122"/>
                <a:cs typeface="Cairo Black" pitchFamily="34" charset="-120"/>
              </a:rPr>
              <a:t>✅ البديل</a:t>
            </a:r>
            <a:endParaRPr lang="ar-SA" sz="2100" dirty="0"/>
          </a:p>
        </p:txBody>
      </p:sp>
      <p:sp>
        <p:nvSpPr>
          <p:cNvPr id="5" name="anim-g1-1454"/>
          <p:cNvSpPr/>
          <p:nvPr/>
        </p:nvSpPr>
        <p:spPr>
          <a:xfrm>
            <a:off x="6415888" y="2194560"/>
            <a:ext cx="4952848" cy="804672"/>
          </a:xfrm>
          <a:prstGeom prst="roundRect">
            <a:avLst>
              <a:gd name="adj" fmla="val 15909"/>
            </a:avLst>
          </a:prstGeom>
          <a:solidFill>
            <a:srgbClr val="FBECEC"/>
          </a:solidFill>
          <a:ln/>
        </p:spPr>
      </p:sp>
      <p:sp>
        <p:nvSpPr>
          <p:cNvPr id="6" name="anim-g1-1455"/>
          <p:cNvSpPr/>
          <p:nvPr/>
        </p:nvSpPr>
        <p:spPr>
          <a:xfrm>
            <a:off x="6644488"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تعيينه قائدًا ترضيةً للأم</a:t>
            </a:r>
            <a:endParaRPr lang="ar-SA" sz="2200" dirty="0"/>
          </a:p>
        </p:txBody>
      </p:sp>
      <p:sp>
        <p:nvSpPr>
          <p:cNvPr id="7" name="anim-g1-1456"/>
          <p:cNvSpPr/>
          <p:nvPr/>
        </p:nvSpPr>
        <p:spPr>
          <a:xfrm>
            <a:off x="822960" y="2194560"/>
            <a:ext cx="4952848" cy="804672"/>
          </a:xfrm>
          <a:prstGeom prst="roundRect">
            <a:avLst>
              <a:gd name="adj" fmla="val 15909"/>
            </a:avLst>
          </a:prstGeom>
          <a:solidFill>
            <a:srgbClr val="FFFFFF"/>
          </a:solidFill>
          <a:ln w="19050">
            <a:solidFill>
              <a:srgbClr val="BFD9CB"/>
            </a:solidFill>
            <a:prstDash val="dash"/>
          </a:ln>
        </p:spPr>
      </p:sp>
      <p:sp>
        <p:nvSpPr>
          <p:cNvPr id="8" name="anim-g1-1457"/>
          <p:cNvSpPr/>
          <p:nvPr/>
        </p:nvSpPr>
        <p:spPr>
          <a:xfrm>
            <a:off x="822960" y="219456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9" name="anim-g2-1458"/>
          <p:cNvSpPr/>
          <p:nvPr/>
        </p:nvSpPr>
        <p:spPr>
          <a:xfrm>
            <a:off x="5775808" y="219456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0" name="anim-g2-1459"/>
          <p:cNvSpPr/>
          <p:nvPr/>
        </p:nvSpPr>
        <p:spPr>
          <a:xfrm>
            <a:off x="822960" y="2194560"/>
            <a:ext cx="4952848" cy="804672"/>
          </a:xfrm>
          <a:prstGeom prst="roundRect">
            <a:avLst>
              <a:gd name="adj" fmla="val 15909"/>
            </a:avLst>
          </a:prstGeom>
          <a:solidFill>
            <a:srgbClr val="E6F4EC"/>
          </a:solidFill>
          <a:ln/>
        </p:spPr>
      </p:sp>
      <p:sp>
        <p:nvSpPr>
          <p:cNvPr id="11" name="anim-g2-1460"/>
          <p:cNvSpPr/>
          <p:nvPr/>
        </p:nvSpPr>
        <p:spPr>
          <a:xfrm>
            <a:off x="1051560"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دور حقيقي يناسب شخصيته</a:t>
            </a:r>
            <a:endParaRPr lang="ar-SA" sz="2200" dirty="0"/>
          </a:p>
        </p:txBody>
      </p:sp>
      <p:sp>
        <p:nvSpPr>
          <p:cNvPr id="12" name="anim-g3-1461"/>
          <p:cNvSpPr/>
          <p:nvPr/>
        </p:nvSpPr>
        <p:spPr>
          <a:xfrm>
            <a:off x="6415888" y="3154680"/>
            <a:ext cx="4952848" cy="804672"/>
          </a:xfrm>
          <a:prstGeom prst="roundRect">
            <a:avLst>
              <a:gd name="adj" fmla="val 15909"/>
            </a:avLst>
          </a:prstGeom>
          <a:solidFill>
            <a:srgbClr val="FBECEC"/>
          </a:solidFill>
          <a:ln/>
        </p:spPr>
      </p:sp>
      <p:sp>
        <p:nvSpPr>
          <p:cNvPr id="13" name="anim-g3-1462"/>
          <p:cNvSpPr/>
          <p:nvPr/>
        </p:nvSpPr>
        <p:spPr>
          <a:xfrm>
            <a:off x="6644488"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القيادة = الوقوف في المقدمة</a:t>
            </a:r>
            <a:endParaRPr lang="ar-SA" sz="2200" dirty="0"/>
          </a:p>
        </p:txBody>
      </p:sp>
      <p:sp>
        <p:nvSpPr>
          <p:cNvPr id="14" name="anim-g3-1463"/>
          <p:cNvSpPr/>
          <p:nvPr/>
        </p:nvSpPr>
        <p:spPr>
          <a:xfrm>
            <a:off x="822960" y="3154680"/>
            <a:ext cx="4952848" cy="804672"/>
          </a:xfrm>
          <a:prstGeom prst="roundRect">
            <a:avLst>
              <a:gd name="adj" fmla="val 15909"/>
            </a:avLst>
          </a:prstGeom>
          <a:solidFill>
            <a:srgbClr val="FFFFFF"/>
          </a:solidFill>
          <a:ln w="19050">
            <a:solidFill>
              <a:srgbClr val="BFD9CB"/>
            </a:solidFill>
            <a:prstDash val="dash"/>
          </a:ln>
        </p:spPr>
      </p:sp>
      <p:sp>
        <p:nvSpPr>
          <p:cNvPr id="15" name="anim-g3-1464"/>
          <p:cNvSpPr/>
          <p:nvPr/>
        </p:nvSpPr>
        <p:spPr>
          <a:xfrm>
            <a:off x="822960" y="315468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16" name="anim-g4-1465"/>
          <p:cNvSpPr/>
          <p:nvPr/>
        </p:nvSpPr>
        <p:spPr>
          <a:xfrm>
            <a:off x="5775808" y="315468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7" name="anim-g4-1466"/>
          <p:cNvSpPr/>
          <p:nvPr/>
        </p:nvSpPr>
        <p:spPr>
          <a:xfrm>
            <a:off x="822960" y="3154680"/>
            <a:ext cx="4952848" cy="804672"/>
          </a:xfrm>
          <a:prstGeom prst="roundRect">
            <a:avLst>
              <a:gd name="adj" fmla="val 15909"/>
            </a:avLst>
          </a:prstGeom>
          <a:solidFill>
            <a:srgbClr val="E6F4EC"/>
          </a:solidFill>
          <a:ln/>
        </p:spPr>
      </p:sp>
      <p:sp>
        <p:nvSpPr>
          <p:cNvPr id="18" name="anim-g4-1467"/>
          <p:cNvSpPr/>
          <p:nvPr/>
        </p:nvSpPr>
        <p:spPr>
          <a:xfrm>
            <a:off x="1051560"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أدوار قيادية هادئة: توثيق، ومكتبة، وتنظيم</a:t>
            </a:r>
            <a:endParaRPr lang="ar-SA" sz="2200" dirty="0"/>
          </a:p>
        </p:txBody>
      </p:sp>
      <p:sp>
        <p:nvSpPr>
          <p:cNvPr id="19" name="anim-g5-1468"/>
          <p:cNvSpPr/>
          <p:nvPr/>
        </p:nvSpPr>
        <p:spPr>
          <a:xfrm>
            <a:off x="6415888" y="4114800"/>
            <a:ext cx="4952848" cy="804672"/>
          </a:xfrm>
          <a:prstGeom prst="roundRect">
            <a:avLst>
              <a:gd name="adj" fmla="val 15909"/>
            </a:avLst>
          </a:prstGeom>
          <a:solidFill>
            <a:srgbClr val="FBECEC"/>
          </a:solidFill>
          <a:ln/>
        </p:spPr>
      </p:sp>
      <p:sp>
        <p:nvSpPr>
          <p:cNvPr id="20" name="anim-g5-1469"/>
          <p:cNvSpPr/>
          <p:nvPr/>
        </p:nvSpPr>
        <p:spPr>
          <a:xfrm>
            <a:off x="6644488"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أدوار ثابتة طوال العام</a:t>
            </a:r>
            <a:endParaRPr lang="ar-SA" sz="2200" dirty="0"/>
          </a:p>
        </p:txBody>
      </p:sp>
      <p:sp>
        <p:nvSpPr>
          <p:cNvPr id="21" name="anim-g5-1470"/>
          <p:cNvSpPr/>
          <p:nvPr/>
        </p:nvSpPr>
        <p:spPr>
          <a:xfrm>
            <a:off x="822960" y="4114800"/>
            <a:ext cx="4952848" cy="804672"/>
          </a:xfrm>
          <a:prstGeom prst="roundRect">
            <a:avLst>
              <a:gd name="adj" fmla="val 15909"/>
            </a:avLst>
          </a:prstGeom>
          <a:solidFill>
            <a:srgbClr val="FFFFFF"/>
          </a:solidFill>
          <a:ln w="19050">
            <a:solidFill>
              <a:srgbClr val="BFD9CB"/>
            </a:solidFill>
            <a:prstDash val="dash"/>
          </a:ln>
        </p:spPr>
      </p:sp>
      <p:sp>
        <p:nvSpPr>
          <p:cNvPr id="22" name="anim-g5-1471"/>
          <p:cNvSpPr/>
          <p:nvPr/>
        </p:nvSpPr>
        <p:spPr>
          <a:xfrm>
            <a:off x="822960" y="411480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23" name="anim-g6-1472"/>
          <p:cNvSpPr/>
          <p:nvPr/>
        </p:nvSpPr>
        <p:spPr>
          <a:xfrm>
            <a:off x="5775808" y="411480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24" name="anim-g6-1473"/>
          <p:cNvSpPr/>
          <p:nvPr/>
        </p:nvSpPr>
        <p:spPr>
          <a:xfrm>
            <a:off x="822960" y="4114800"/>
            <a:ext cx="4952848" cy="804672"/>
          </a:xfrm>
          <a:prstGeom prst="roundRect">
            <a:avLst>
              <a:gd name="adj" fmla="val 15909"/>
            </a:avLst>
          </a:prstGeom>
          <a:solidFill>
            <a:srgbClr val="E6F4EC"/>
          </a:solidFill>
          <a:ln/>
        </p:spPr>
      </p:sp>
      <p:sp>
        <p:nvSpPr>
          <p:cNvPr id="25" name="anim-g6-1474"/>
          <p:cNvSpPr/>
          <p:nvPr/>
        </p:nvSpPr>
        <p:spPr>
          <a:xfrm>
            <a:off x="1051560"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تدوير الأدوار شهريًا</a:t>
            </a:r>
            <a:endParaRPr lang="ar-SA" sz="2200" dirty="0"/>
          </a:p>
        </p:txBody>
      </p:sp>
      <p:sp>
        <p:nvSpPr>
          <p:cNvPr id="26" name="Text 24"/>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7" name="Text 25"/>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لماذا تتجاهلون ابني؟  ·  ١٣٥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0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400"/>
                                        <p:tgtEl>
                                          <p:spTgt spid="1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400"/>
                                        <p:tgtEl>
                                          <p:spTgt spid="2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400"/>
                                        <p:tgtEl>
                                          <p:spTgt spid="2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400"/>
                                        <p:tgtEl>
                                          <p:spTgt spid="2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136.xml><?xml version="1.0" encoding="utf-8"?>
<p:sld xmlns:a="http://schemas.openxmlformats.org/drawingml/2006/main" xmlns:r="http://schemas.openxmlformats.org/officeDocument/2006/relationships" xmlns:p="http://schemas.openxmlformats.org/presentationml/2006/main">
  <p:cSld name="Slide 1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الموقف</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لكل طالب مكان في القيادة…</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إن وسّعنا معنى القيادة</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موقف: لماذا تتجاهلون ابني؟  ·  ١٣٦</a:t>
            </a:r>
            <a:endParaRPr lang="ar-SA" sz="120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kb-1475" descr="/Users/mac/Desktop/أردوينو/المشاريع والكتب/younes-training/mawaqif/assets/scenes/slow.jpg">    </p:cNvPr>
          <p:cNvPicPr>
            <a:picLocks noChangeAspect="1"/>
          </p:cNvPicPr>
          <p:nvPr/>
        </p:nvPicPr>
        <p:blipFill>
          <a:blip r:embed="rId2"/>
          <a:stretch>
            <a:fillRect/>
          </a:stretch>
        </p:blipFill>
        <p:spPr>
          <a:xfrm>
            <a:off x="0" y="0"/>
            <a:ext cx="12191695" cy="6858000"/>
          </a:xfrm>
          <a:prstGeom prst="rect">
            <a:avLst/>
          </a:prstGeom>
        </p:spPr>
      </p:pic>
      <p:pic>
        <p:nvPicPr>
          <p:cNvPr id="3" name="Image 1" descr="/Users/mac/Desktop/أردوينو/المشاريع والكتب/younes-training/shared/assets/mcover-overlay.png">    </p:cNvPr>
          <p:cNvPicPr>
            <a:picLocks noChangeAspect="1"/>
          </p:cNvPicPr>
          <p:nvPr/>
        </p:nvPicPr>
        <p:blipFill>
          <a:blip r:embed="rId3"/>
          <a:stretch>
            <a:fillRect/>
          </a:stretch>
        </p:blipFill>
        <p:spPr>
          <a:xfrm>
            <a:off x="0" y="0"/>
            <a:ext cx="12191695" cy="6858000"/>
          </a:xfrm>
          <a:prstGeom prst="rect">
            <a:avLst/>
          </a:prstGeom>
        </p:spPr>
      </p:pic>
      <p:sp>
        <p:nvSpPr>
          <p:cNvPr id="4" name="Text 0"/>
          <p:cNvSpPr/>
          <p:nvPr/>
        </p:nvSpPr>
        <p:spPr>
          <a:xfrm>
            <a:off x="5669280" y="1737360"/>
            <a:ext cx="5699455" cy="502920"/>
          </a:xfrm>
          <a:prstGeom prst="rect">
            <a:avLst/>
          </a:prstGeom>
          <a:noFill/>
          <a:ln/>
        </p:spPr>
        <p:txBody>
          <a:bodyPr wrap="square" lIns="0" tIns="0" rIns="0" bIns="0" rtlCol="0" anchor="ctr">
            <a:normAutofit/>
          </a:bodyPr>
          <a:lstStyle/>
          <a:p>
            <a:pPr rtl="1" algn="r" indent="0" marL="0">
              <a:buNone/>
            </a:pPr>
            <a:r>
              <a:rPr lang="ar-SA" altLang="en-US" sz="2200" b="1" dirty="0">
                <a:solidFill>
                  <a:srgbClr val="D9AE4B"/>
                </a:solidFill>
                <a:latin typeface="Cairo" pitchFamily="34" charset="0"/>
                <a:ea typeface="Cairo" pitchFamily="34" charset="-122"/>
                <a:cs typeface="Cairo" pitchFamily="34" charset="-120"/>
              </a:rPr>
              <a:t>الطالب والأسرة</a:t>
            </a:r>
            <a:endParaRPr lang="ar-SA" sz="2200" dirty="0"/>
          </a:p>
        </p:txBody>
      </p:sp>
      <p:sp>
        <p:nvSpPr>
          <p:cNvPr id="5" name="Text 1"/>
          <p:cNvSpPr/>
          <p:nvPr/>
        </p:nvSpPr>
        <p:spPr>
          <a:xfrm>
            <a:off x="5669280" y="2286000"/>
            <a:ext cx="5699455" cy="548640"/>
          </a:xfrm>
          <a:prstGeom prst="rect">
            <a:avLst/>
          </a:prstGeom>
          <a:noFill/>
          <a:ln/>
        </p:spPr>
        <p:txBody>
          <a:bodyPr wrap="square" lIns="0" tIns="0" rIns="0" bIns="0" rtlCol="0" anchor="ctr">
            <a:normAutofit/>
          </a:bodyPr>
          <a:lstStyle/>
          <a:p>
            <a:pPr rtl="1" algn="r" indent="0" marL="0">
              <a:buNone/>
            </a:pPr>
            <a:r>
              <a:rPr lang="ar-SA" altLang="en-US" sz="2600" b="1" dirty="0">
                <a:solidFill>
                  <a:srgbClr val="C9CFE6"/>
                </a:solidFill>
                <a:latin typeface="Cairo" pitchFamily="34" charset="0"/>
                <a:ea typeface="Cairo" pitchFamily="34" charset="-122"/>
                <a:cs typeface="Cairo" pitchFamily="34" charset="-120"/>
              </a:rPr>
              <a:t>الموقف ١٠</a:t>
            </a:r>
            <a:endParaRPr lang="ar-SA" sz="2600" dirty="0"/>
          </a:p>
        </p:txBody>
      </p:sp>
      <p:sp>
        <p:nvSpPr>
          <p:cNvPr id="6" name="Text 2"/>
          <p:cNvSpPr/>
          <p:nvPr/>
        </p:nvSpPr>
        <p:spPr>
          <a:xfrm>
            <a:off x="4572000" y="2834640"/>
            <a:ext cx="6796735" cy="1188720"/>
          </a:xfrm>
          <a:prstGeom prst="rect">
            <a:avLst/>
          </a:prstGeom>
          <a:noFill/>
          <a:ln/>
        </p:spPr>
        <p:txBody>
          <a:bodyPr wrap="square" lIns="0" tIns="0" rIns="0" bIns="0" rtlCol="0" anchor="ctr">
            <a:normAutofit/>
          </a:bodyPr>
          <a:lstStyle/>
          <a:p>
            <a:pPr rtl="1" algn="r" indent="0" marL="0">
              <a:buNone/>
            </a:pPr>
            <a:r>
              <a:rPr lang="ar-SA" altLang="en-US" sz="5000" dirty="0">
                <a:solidFill>
                  <a:srgbClr val="FFFFFF"/>
                </a:solidFill>
                <a:latin typeface="Cairo Black" pitchFamily="34" charset="0"/>
                <a:ea typeface="Cairo Black" pitchFamily="34" charset="-122"/>
                <a:cs typeface="Cairo Black" pitchFamily="34" charset="-120"/>
              </a:rPr>
              <a:t>هل مساعد المعلم مطلوب؟</a:t>
            </a:r>
            <a:endParaRPr lang="ar-SA" sz="5000" dirty="0"/>
          </a:p>
        </p:txBody>
      </p:sp>
      <p:sp>
        <p:nvSpPr>
          <p:cNvPr id="7" name="Shape 3"/>
          <p:cNvSpPr/>
          <p:nvPr/>
        </p:nvSpPr>
        <p:spPr>
          <a:xfrm>
            <a:off x="10125151" y="4480560"/>
            <a:ext cx="1243584"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8" name="Text 4"/>
          <p:cNvSpPr/>
          <p:nvPr/>
        </p:nvSpPr>
        <p:spPr>
          <a:xfrm>
            <a:off x="10125151" y="4480560"/>
            <a:ext cx="1243584"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القصة</a:t>
            </a:r>
            <a:endParaRPr lang="ar-SA" sz="1500" dirty="0"/>
          </a:p>
        </p:txBody>
      </p:sp>
      <p:sp>
        <p:nvSpPr>
          <p:cNvPr id="9" name="Shape 5"/>
          <p:cNvSpPr/>
          <p:nvPr/>
        </p:nvSpPr>
        <p:spPr>
          <a:xfrm>
            <a:off x="8680399" y="4480560"/>
            <a:ext cx="1353312"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0" name="Text 6"/>
          <p:cNvSpPr/>
          <p:nvPr/>
        </p:nvSpPr>
        <p:spPr>
          <a:xfrm>
            <a:off x="8680399" y="4480560"/>
            <a:ext cx="1353312"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تصويت</a:t>
            </a:r>
            <a:endParaRPr lang="ar-SA" sz="1500" dirty="0"/>
          </a:p>
        </p:txBody>
      </p:sp>
      <p:sp>
        <p:nvSpPr>
          <p:cNvPr id="11" name="Shape 7"/>
          <p:cNvSpPr/>
          <p:nvPr/>
        </p:nvSpPr>
        <p:spPr>
          <a:xfrm>
            <a:off x="7235647" y="4480560"/>
            <a:ext cx="1353312"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2" name="Text 8"/>
          <p:cNvSpPr/>
          <p:nvPr/>
        </p:nvSpPr>
        <p:spPr>
          <a:xfrm>
            <a:off x="7235647" y="4480560"/>
            <a:ext cx="1353312"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لماذا؟</a:t>
            </a:r>
            <a:endParaRPr lang="ar-SA" sz="1500" dirty="0"/>
          </a:p>
        </p:txBody>
      </p:sp>
      <p:sp>
        <p:nvSpPr>
          <p:cNvPr id="13" name="Shape 9"/>
          <p:cNvSpPr/>
          <p:nvPr/>
        </p:nvSpPr>
        <p:spPr>
          <a:xfrm>
            <a:off x="5571439" y="4480560"/>
            <a:ext cx="1572768"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4" name="Text 10"/>
          <p:cNvSpPr/>
          <p:nvPr/>
        </p:nvSpPr>
        <p:spPr>
          <a:xfrm>
            <a:off x="5571439" y="4480560"/>
            <a:ext cx="1572768"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أول خطوة</a:t>
            </a:r>
            <a:endParaRPr lang="ar-SA" sz="1500" dirty="0"/>
          </a:p>
        </p:txBody>
      </p:sp>
      <p:sp>
        <p:nvSpPr>
          <p:cNvPr id="15" name="Shape 11"/>
          <p:cNvSpPr/>
          <p:nvPr/>
        </p:nvSpPr>
        <p:spPr>
          <a:xfrm>
            <a:off x="3687775" y="4480560"/>
            <a:ext cx="1792224"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6" name="Text 12"/>
          <p:cNvSpPr/>
          <p:nvPr/>
        </p:nvSpPr>
        <p:spPr>
          <a:xfrm>
            <a:off x="3687775" y="4480560"/>
            <a:ext cx="1792224"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ماذا تقول؟</a:t>
            </a:r>
            <a:endParaRPr lang="ar-SA" sz="1500" dirty="0"/>
          </a:p>
        </p:txBody>
      </p:sp>
      <p:sp>
        <p:nvSpPr>
          <p:cNvPr id="17" name="Text 1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18" name="Text 1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موقف: هل مساعد المعلم مطلوب؟  ·  ١٣٧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16000" fill="hold"/>
                                        <p:tgtEl>
                                          <p:spTgt spid="2"/>
                                        </p:tgtEl>
                                      </p:cBhvr>
                                      <p:by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name="Slide 1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kb-1476" descr="/Users/mac/Desktop/أردوينو/المشاريع والكتب/younes-training/mawaqif/assets/scenes/slow.jpg">    </p:cNvPr>
          <p:cNvPicPr>
            <a:picLocks noChangeAspect="1"/>
          </p:cNvPicPr>
          <p:nvPr/>
        </p:nvPicPr>
        <p:blipFill>
          <a:blip r:embed="rId2"/>
          <a:stretch>
            <a:fillRect/>
          </a:stretch>
        </p:blipFill>
        <p:spPr>
          <a:xfrm>
            <a:off x="0" y="0"/>
            <a:ext cx="12191695" cy="6858000"/>
          </a:xfrm>
          <a:prstGeom prst="rect">
            <a:avLst/>
          </a:prstGeom>
        </p:spPr>
      </p:pic>
      <p:pic>
        <p:nvPicPr>
          <p:cNvPr id="3" name="Image 1" descr="/Users/mac/Desktop/أردوينو/المشاريع والكتب/younes-training/shared/assets/story-overlay.png">    </p:cNvPr>
          <p:cNvPicPr>
            <a:picLocks noChangeAspect="1"/>
          </p:cNvPicPr>
          <p:nvPr/>
        </p:nvPicPr>
        <p:blipFill>
          <a:blip r:embed="rId3"/>
          <a:stretch>
            <a:fillRect/>
          </a:stretch>
        </p:blipFill>
        <p:spPr>
          <a:xfrm>
            <a:off x="0" y="0"/>
            <a:ext cx="12191695" cy="6858000"/>
          </a:xfrm>
          <a:prstGeom prst="rect">
            <a:avLst/>
          </a:prstGeom>
        </p:spPr>
      </p:pic>
      <p:sp>
        <p:nvSpPr>
          <p:cNvPr id="4" name="Shape 0"/>
          <p:cNvSpPr/>
          <p:nvPr/>
        </p:nvSpPr>
        <p:spPr>
          <a:xfrm>
            <a:off x="7985455" y="365760"/>
            <a:ext cx="3657600" cy="502920"/>
          </a:xfrm>
          <a:prstGeom prst="roundRect">
            <a:avLst>
              <a:gd name="adj" fmla="val 49091"/>
            </a:avLst>
          </a:prstGeom>
          <a:solidFill>
            <a:srgbClr val="0A1230">
              <a:alpha val="80000"/>
            </a:srgbClr>
          </a:solidFill>
          <a:ln w="12700">
            <a:solidFill>
              <a:srgbClr val="D9AE4B">
                <a:alpha val="60000"/>
              </a:srgbClr>
            </a:solidFill>
            <a:prstDash val="solid"/>
          </a:ln>
        </p:spPr>
      </p:sp>
      <p:sp>
        <p:nvSpPr>
          <p:cNvPr id="5" name="Text 1"/>
          <p:cNvSpPr/>
          <p:nvPr/>
        </p:nvSpPr>
        <p:spPr>
          <a:xfrm>
            <a:off x="7985455" y="365760"/>
            <a:ext cx="3657600" cy="50292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 القصة · ماذا حدث؟</a:t>
            </a:r>
            <a:endParaRPr lang="ar-SA" sz="1800" dirty="0"/>
          </a:p>
        </p:txBody>
      </p:sp>
      <p:sp>
        <p:nvSpPr>
          <p:cNvPr id="6" name="Shape 2"/>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7" name="Text 3"/>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خالد بطيء جدًا في الفهم، ودائم السؤال وطلب إعادة الشرح. وزملاؤه يملّون ويضيقون.</a:t>
            </a:r>
            <a:endParaRPr lang="ar-SA" sz="2400" dirty="0"/>
          </a:p>
        </p:txBody>
      </p:sp>
      <p:sp>
        <p:nvSpPr>
          <p:cNvPr id="8" name="anim-g1-1477"/>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9" name="anim-g1-1478"/>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أ. جلال معلم الرياضيات قادر دائمًا على احتواء الفصل، وتقدّره الإدارة لذلك.</a:t>
            </a:r>
            <a:endParaRPr lang="ar-SA" sz="2400" dirty="0"/>
          </a:p>
        </p:txBody>
      </p:sp>
      <p:sp>
        <p:nvSpPr>
          <p:cNvPr id="10" name="anim-g2-1479"/>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11" name="anim-g2-1480"/>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لكن ثلاثة من أولياء الأمور اعترضوا: «نصف وقت الحصة يضيع في الإعادة لخالد!»</a:t>
            </a:r>
            <a:endParaRPr lang="ar-SA" sz="2400" dirty="0"/>
          </a:p>
        </p:txBody>
      </p:sp>
      <p:sp>
        <p:nvSpPr>
          <p:cNvPr id="12" name="anim-g3-1481"/>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13" name="anim-g3-1482"/>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600" b="1" dirty="0">
                <a:solidFill>
                  <a:srgbClr val="F0CC7A"/>
                </a:solidFill>
                <a:latin typeface="Cairo" pitchFamily="34" charset="0"/>
                <a:ea typeface="Cairo" pitchFamily="34" charset="-122"/>
                <a:cs typeface="Cairo" pitchFamily="34" charset="-120"/>
              </a:rPr>
              <a:t>وأصرّوا على وجود مساعد معلم في الفصل… وإلا نقلوا أبناءهم.</a:t>
            </a:r>
            <a:endParaRPr lang="ar-SA" sz="2600" dirty="0"/>
          </a:p>
        </p:txBody>
      </p:sp>
      <p:sp>
        <p:nvSpPr>
          <p:cNvPr id="14" name="Text 1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15" name="Text 1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موقف: هل مساعد المعلم مطلوب؟  ·  ١٣٨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16000" fill="hold"/>
                                        <p:tgtEl>
                                          <p:spTgt spid="2"/>
                                        </p:tgtEl>
                                      </p:cBhvr>
                                      <p:by x="112000" y="112000"/>
                                    </p:animScale>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Lst>
  </p:timing>
</p:sld>
</file>

<file path=ppt/slides/slide139.xml><?xml version="1.0" encoding="utf-8"?>
<p:sld xmlns:a="http://schemas.openxmlformats.org/drawingml/2006/main" xmlns:r="http://schemas.openxmlformats.org/officeDocument/2006/relationships" xmlns:p="http://schemas.openxmlformats.org/presentationml/2006/main">
  <p:cSld name="Slide 1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296351" y="457200"/>
            <a:ext cx="3072384" cy="457200"/>
          </a:xfrm>
          <a:prstGeom prst="roundRect">
            <a:avLst>
              <a:gd name="adj" fmla="val 50000"/>
            </a:avLst>
          </a:prstGeom>
          <a:solidFill>
            <a:srgbClr val="F6EBCF"/>
          </a:solidFill>
          <a:ln/>
        </p:spPr>
      </p:sp>
      <p:sp>
        <p:nvSpPr>
          <p:cNvPr id="3" name="Text 1"/>
          <p:cNvSpPr/>
          <p:nvPr/>
        </p:nvSpPr>
        <p:spPr>
          <a:xfrm>
            <a:off x="8296351" y="457200"/>
            <a:ext cx="307238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صوّت قبل أن نكشف</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ما الحل الأنسب؟</a:t>
            </a:r>
            <a:endParaRPr lang="ar-SA" sz="3800" dirty="0"/>
          </a:p>
        </p:txBody>
      </p:sp>
      <p:sp>
        <p:nvSpPr>
          <p:cNvPr id="5" name="Shape 3"/>
          <p:cNvSpPr/>
          <p:nvPr/>
        </p:nvSpPr>
        <p:spPr>
          <a:xfrm>
            <a:off x="822960" y="2057400"/>
            <a:ext cx="10545775" cy="884682"/>
          </a:xfrm>
          <a:prstGeom prst="roundRect">
            <a:avLst>
              <a:gd name="adj" fmla="val 16537"/>
            </a:avLst>
          </a:prstGeom>
          <a:solidFill>
            <a:srgbClr val="FFFFFF"/>
          </a:solidFill>
          <a:ln w="19050">
            <a:solidFill>
              <a:srgbClr val="E4DCC8"/>
            </a:solidFill>
            <a:prstDash val="solid"/>
          </a:ln>
        </p:spPr>
      </p:sp>
      <p:sp>
        <p:nvSpPr>
          <p:cNvPr id="6" name="Shape 4"/>
          <p:cNvSpPr/>
          <p:nvPr/>
        </p:nvSpPr>
        <p:spPr>
          <a:xfrm>
            <a:off x="10575493" y="2194560"/>
            <a:ext cx="610362" cy="610362"/>
          </a:xfrm>
          <a:prstGeom prst="roundRect">
            <a:avLst>
              <a:gd name="adj" fmla="val 17978"/>
            </a:avLst>
          </a:prstGeom>
          <a:solidFill>
            <a:srgbClr val="101B45"/>
          </a:solidFill>
          <a:ln/>
        </p:spPr>
      </p:sp>
      <p:sp>
        <p:nvSpPr>
          <p:cNvPr id="7" name="Text 5"/>
          <p:cNvSpPr/>
          <p:nvPr/>
        </p:nvSpPr>
        <p:spPr>
          <a:xfrm>
            <a:off x="10575493" y="2194560"/>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أ</a:t>
            </a:r>
            <a:endParaRPr lang="ar-SA" sz="2000" dirty="0"/>
          </a:p>
        </p:txBody>
      </p:sp>
      <p:sp>
        <p:nvSpPr>
          <p:cNvPr id="8" name="Text 6"/>
          <p:cNvSpPr/>
          <p:nvPr/>
        </p:nvSpPr>
        <p:spPr>
          <a:xfrm>
            <a:off x="1097280" y="2057400"/>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نقل خالد إلى فصل آخر</a:t>
            </a:r>
            <a:endParaRPr lang="ar-SA" sz="2200" dirty="0"/>
          </a:p>
        </p:txBody>
      </p:sp>
      <p:sp>
        <p:nvSpPr>
          <p:cNvPr id="9" name="anim-g1-1483"/>
          <p:cNvSpPr/>
          <p:nvPr/>
        </p:nvSpPr>
        <p:spPr>
          <a:xfrm>
            <a:off x="822960" y="2057400"/>
            <a:ext cx="10545775" cy="884682"/>
          </a:xfrm>
          <a:prstGeom prst="roundRect">
            <a:avLst>
              <a:gd name="adj" fmla="val 16537"/>
            </a:avLst>
          </a:prstGeom>
          <a:solidFill>
            <a:srgbClr val="F7F7F9"/>
          </a:solidFill>
          <a:ln w="19050">
            <a:solidFill>
              <a:srgbClr val="E4DCC8"/>
            </a:solidFill>
            <a:prstDash val="solid"/>
          </a:ln>
        </p:spPr>
      </p:sp>
      <p:sp>
        <p:nvSpPr>
          <p:cNvPr id="10" name="anim-g1-1484"/>
          <p:cNvSpPr/>
          <p:nvPr/>
        </p:nvSpPr>
        <p:spPr>
          <a:xfrm>
            <a:off x="10575493" y="2194560"/>
            <a:ext cx="610362" cy="610362"/>
          </a:xfrm>
          <a:prstGeom prst="roundRect">
            <a:avLst>
              <a:gd name="adj" fmla="val 17978"/>
            </a:avLst>
          </a:prstGeom>
          <a:solidFill>
            <a:srgbClr val="A3A9BA"/>
          </a:solidFill>
          <a:ln/>
        </p:spPr>
      </p:sp>
      <p:sp>
        <p:nvSpPr>
          <p:cNvPr id="11" name="anim-g1-1485"/>
          <p:cNvSpPr/>
          <p:nvPr/>
        </p:nvSpPr>
        <p:spPr>
          <a:xfrm>
            <a:off x="10575493" y="2194560"/>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أ</a:t>
            </a:r>
            <a:endParaRPr lang="ar-SA" sz="2000" dirty="0"/>
          </a:p>
        </p:txBody>
      </p:sp>
      <p:sp>
        <p:nvSpPr>
          <p:cNvPr id="12" name="anim-g1-1486"/>
          <p:cNvSpPr/>
          <p:nvPr/>
        </p:nvSpPr>
        <p:spPr>
          <a:xfrm>
            <a:off x="1097280" y="2093976"/>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نقل خالد إلى فصل آخر</a:t>
            </a:r>
            <a:endParaRPr lang="ar-SA" sz="2200" dirty="0"/>
          </a:p>
        </p:txBody>
      </p:sp>
      <p:sp>
        <p:nvSpPr>
          <p:cNvPr id="13" name="anim-g1-1487"/>
          <p:cNvSpPr/>
          <p:nvPr/>
        </p:nvSpPr>
        <p:spPr>
          <a:xfrm>
            <a:off x="1097280" y="2535128"/>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النقل يصدّر المشكلة ولا يحلها، ويجرح خالد</a:t>
            </a:r>
            <a:endParaRPr lang="ar-SA" sz="1800" dirty="0"/>
          </a:p>
        </p:txBody>
      </p:sp>
      <p:sp>
        <p:nvSpPr>
          <p:cNvPr id="14" name="Shape 12"/>
          <p:cNvSpPr/>
          <p:nvPr/>
        </p:nvSpPr>
        <p:spPr>
          <a:xfrm>
            <a:off x="822960" y="3088386"/>
            <a:ext cx="10545775" cy="884682"/>
          </a:xfrm>
          <a:prstGeom prst="roundRect">
            <a:avLst>
              <a:gd name="adj" fmla="val 16537"/>
            </a:avLst>
          </a:prstGeom>
          <a:solidFill>
            <a:srgbClr val="FFFFFF"/>
          </a:solidFill>
          <a:ln w="19050">
            <a:solidFill>
              <a:srgbClr val="E4DCC8"/>
            </a:solidFill>
            <a:prstDash val="solid"/>
          </a:ln>
        </p:spPr>
      </p:sp>
      <p:sp>
        <p:nvSpPr>
          <p:cNvPr id="15" name="Shape 13"/>
          <p:cNvSpPr/>
          <p:nvPr/>
        </p:nvSpPr>
        <p:spPr>
          <a:xfrm>
            <a:off x="10575493" y="3225546"/>
            <a:ext cx="610362" cy="610362"/>
          </a:xfrm>
          <a:prstGeom prst="roundRect">
            <a:avLst>
              <a:gd name="adj" fmla="val 17978"/>
            </a:avLst>
          </a:prstGeom>
          <a:solidFill>
            <a:srgbClr val="101B45"/>
          </a:solidFill>
          <a:ln/>
        </p:spPr>
      </p:sp>
      <p:sp>
        <p:nvSpPr>
          <p:cNvPr id="16" name="Text 14"/>
          <p:cNvSpPr/>
          <p:nvPr/>
        </p:nvSpPr>
        <p:spPr>
          <a:xfrm>
            <a:off x="10575493" y="3225546"/>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ب</a:t>
            </a:r>
            <a:endParaRPr lang="ar-SA" sz="2000" dirty="0"/>
          </a:p>
        </p:txBody>
      </p:sp>
      <p:sp>
        <p:nvSpPr>
          <p:cNvPr id="17" name="Text 15"/>
          <p:cNvSpPr/>
          <p:nvPr/>
        </p:nvSpPr>
        <p:spPr>
          <a:xfrm>
            <a:off x="1097280" y="3088386"/>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تجاهل اعتراض أولياء الأمور</a:t>
            </a:r>
            <a:endParaRPr lang="ar-SA" sz="2200" dirty="0"/>
          </a:p>
        </p:txBody>
      </p:sp>
      <p:sp>
        <p:nvSpPr>
          <p:cNvPr id="18" name="anim-g1-1488"/>
          <p:cNvSpPr/>
          <p:nvPr/>
        </p:nvSpPr>
        <p:spPr>
          <a:xfrm>
            <a:off x="822960" y="3088386"/>
            <a:ext cx="10545775" cy="884682"/>
          </a:xfrm>
          <a:prstGeom prst="roundRect">
            <a:avLst>
              <a:gd name="adj" fmla="val 16537"/>
            </a:avLst>
          </a:prstGeom>
          <a:solidFill>
            <a:srgbClr val="F7F7F9"/>
          </a:solidFill>
          <a:ln w="19050">
            <a:solidFill>
              <a:srgbClr val="E4DCC8"/>
            </a:solidFill>
            <a:prstDash val="solid"/>
          </a:ln>
        </p:spPr>
      </p:sp>
      <p:sp>
        <p:nvSpPr>
          <p:cNvPr id="19" name="anim-g1-1489"/>
          <p:cNvSpPr/>
          <p:nvPr/>
        </p:nvSpPr>
        <p:spPr>
          <a:xfrm>
            <a:off x="10575493" y="3225546"/>
            <a:ext cx="610362" cy="610362"/>
          </a:xfrm>
          <a:prstGeom prst="roundRect">
            <a:avLst>
              <a:gd name="adj" fmla="val 17978"/>
            </a:avLst>
          </a:prstGeom>
          <a:solidFill>
            <a:srgbClr val="A3A9BA"/>
          </a:solidFill>
          <a:ln/>
        </p:spPr>
      </p:sp>
      <p:sp>
        <p:nvSpPr>
          <p:cNvPr id="20" name="anim-g1-1490"/>
          <p:cNvSpPr/>
          <p:nvPr/>
        </p:nvSpPr>
        <p:spPr>
          <a:xfrm>
            <a:off x="10575493" y="3225546"/>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ب</a:t>
            </a:r>
            <a:endParaRPr lang="ar-SA" sz="2000" dirty="0"/>
          </a:p>
        </p:txBody>
      </p:sp>
      <p:sp>
        <p:nvSpPr>
          <p:cNvPr id="21" name="anim-g1-1491"/>
          <p:cNvSpPr/>
          <p:nvPr/>
        </p:nvSpPr>
        <p:spPr>
          <a:xfrm>
            <a:off x="1097280" y="3124962"/>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تجاهل اعتراض أولياء الأمور</a:t>
            </a:r>
            <a:endParaRPr lang="ar-SA" sz="2200" dirty="0"/>
          </a:p>
        </p:txBody>
      </p:sp>
      <p:sp>
        <p:nvSpPr>
          <p:cNvPr id="22" name="anim-g1-1492"/>
          <p:cNvSpPr/>
          <p:nvPr/>
        </p:nvSpPr>
        <p:spPr>
          <a:xfrm>
            <a:off x="1097280" y="3566114"/>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في اعتراض الأهل جانب مشروع يستحق الاستماع</a:t>
            </a:r>
            <a:endParaRPr lang="ar-SA" sz="1800" dirty="0"/>
          </a:p>
        </p:txBody>
      </p:sp>
      <p:sp>
        <p:nvSpPr>
          <p:cNvPr id="23" name="Shape 21"/>
          <p:cNvSpPr/>
          <p:nvPr/>
        </p:nvSpPr>
        <p:spPr>
          <a:xfrm>
            <a:off x="822960" y="4119372"/>
            <a:ext cx="10545775" cy="884682"/>
          </a:xfrm>
          <a:prstGeom prst="roundRect">
            <a:avLst>
              <a:gd name="adj" fmla="val 16537"/>
            </a:avLst>
          </a:prstGeom>
          <a:solidFill>
            <a:srgbClr val="FFFFFF"/>
          </a:solidFill>
          <a:ln w="19050">
            <a:solidFill>
              <a:srgbClr val="E4DCC8"/>
            </a:solidFill>
            <a:prstDash val="solid"/>
          </a:ln>
        </p:spPr>
      </p:sp>
      <p:sp>
        <p:nvSpPr>
          <p:cNvPr id="24" name="Shape 22"/>
          <p:cNvSpPr/>
          <p:nvPr/>
        </p:nvSpPr>
        <p:spPr>
          <a:xfrm>
            <a:off x="10575493" y="4256532"/>
            <a:ext cx="610362" cy="610362"/>
          </a:xfrm>
          <a:prstGeom prst="roundRect">
            <a:avLst>
              <a:gd name="adj" fmla="val 17978"/>
            </a:avLst>
          </a:prstGeom>
          <a:solidFill>
            <a:srgbClr val="101B45"/>
          </a:solidFill>
          <a:ln/>
        </p:spPr>
      </p:sp>
      <p:sp>
        <p:nvSpPr>
          <p:cNvPr id="25" name="Text 23"/>
          <p:cNvSpPr/>
          <p:nvPr/>
        </p:nvSpPr>
        <p:spPr>
          <a:xfrm>
            <a:off x="10575493" y="4256532"/>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ج</a:t>
            </a:r>
            <a:endParaRPr lang="ar-SA" sz="2000" dirty="0"/>
          </a:p>
        </p:txBody>
      </p:sp>
      <p:sp>
        <p:nvSpPr>
          <p:cNvPr id="26" name="Text 24"/>
          <p:cNvSpPr/>
          <p:nvPr/>
        </p:nvSpPr>
        <p:spPr>
          <a:xfrm>
            <a:off x="1097280" y="4119372"/>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التدريس المتمايز: دعم خاص لخالد، وتحديات إضافية للمتقدمين</a:t>
            </a:r>
            <a:endParaRPr lang="ar-SA" sz="2200" dirty="0"/>
          </a:p>
        </p:txBody>
      </p:sp>
      <p:sp>
        <p:nvSpPr>
          <p:cNvPr id="27" name="anim-g1-1493"/>
          <p:cNvSpPr/>
          <p:nvPr/>
        </p:nvSpPr>
        <p:spPr>
          <a:xfrm>
            <a:off x="822960" y="4119372"/>
            <a:ext cx="10545775" cy="884682"/>
          </a:xfrm>
          <a:prstGeom prst="roundRect">
            <a:avLst>
              <a:gd name="adj" fmla="val 16537"/>
            </a:avLst>
          </a:prstGeom>
          <a:solidFill>
            <a:srgbClr val="E6F4EC"/>
          </a:solidFill>
          <a:ln w="31750">
            <a:solidFill>
              <a:srgbClr val="2E9E6B"/>
            </a:solidFill>
            <a:prstDash val="solid"/>
          </a:ln>
        </p:spPr>
      </p:sp>
      <p:sp>
        <p:nvSpPr>
          <p:cNvPr id="28" name="anim-g1-1494"/>
          <p:cNvSpPr/>
          <p:nvPr/>
        </p:nvSpPr>
        <p:spPr>
          <a:xfrm>
            <a:off x="10575493" y="4256532"/>
            <a:ext cx="610362" cy="610362"/>
          </a:xfrm>
          <a:prstGeom prst="roundRect">
            <a:avLst>
              <a:gd name="adj" fmla="val 17978"/>
            </a:avLst>
          </a:prstGeom>
          <a:solidFill>
            <a:srgbClr val="2E9E6B"/>
          </a:solidFill>
          <a:ln/>
        </p:spPr>
      </p:sp>
      <p:sp>
        <p:nvSpPr>
          <p:cNvPr id="29" name="anim-g1-1495"/>
          <p:cNvSpPr/>
          <p:nvPr/>
        </p:nvSpPr>
        <p:spPr>
          <a:xfrm>
            <a:off x="10575493" y="4256532"/>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a:t>
            </a:r>
            <a:endParaRPr lang="ar-SA" sz="2000" dirty="0"/>
          </a:p>
        </p:txBody>
      </p:sp>
      <p:sp>
        <p:nvSpPr>
          <p:cNvPr id="30" name="anim-g1-1496"/>
          <p:cNvSpPr/>
          <p:nvPr/>
        </p:nvSpPr>
        <p:spPr>
          <a:xfrm>
            <a:off x="1097280" y="4155948"/>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التدريس المتمايز: دعم خاص لخالد، وتحديات إضافية للمتقدمين</a:t>
            </a:r>
            <a:endParaRPr lang="ar-SA" sz="2200" dirty="0"/>
          </a:p>
        </p:txBody>
      </p:sp>
      <p:sp>
        <p:nvSpPr>
          <p:cNvPr id="31" name="anim-g1-1497"/>
          <p:cNvSpPr/>
          <p:nvPr/>
        </p:nvSpPr>
        <p:spPr>
          <a:xfrm>
            <a:off x="1097280" y="4597100"/>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كل طالب يأخذ ما يحتاجه دون أن يتعطل غيره</a:t>
            </a:r>
            <a:endParaRPr lang="ar-SA" sz="1800" dirty="0"/>
          </a:p>
        </p:txBody>
      </p:sp>
      <p:sp>
        <p:nvSpPr>
          <p:cNvPr id="32" name="Shape 30"/>
          <p:cNvSpPr/>
          <p:nvPr/>
        </p:nvSpPr>
        <p:spPr>
          <a:xfrm>
            <a:off x="822960" y="5150358"/>
            <a:ext cx="10545775" cy="884682"/>
          </a:xfrm>
          <a:prstGeom prst="roundRect">
            <a:avLst>
              <a:gd name="adj" fmla="val 16537"/>
            </a:avLst>
          </a:prstGeom>
          <a:solidFill>
            <a:srgbClr val="FFFFFF"/>
          </a:solidFill>
          <a:ln w="19050">
            <a:solidFill>
              <a:srgbClr val="E4DCC8"/>
            </a:solidFill>
            <a:prstDash val="solid"/>
          </a:ln>
        </p:spPr>
      </p:sp>
      <p:sp>
        <p:nvSpPr>
          <p:cNvPr id="33" name="Shape 31"/>
          <p:cNvSpPr/>
          <p:nvPr/>
        </p:nvSpPr>
        <p:spPr>
          <a:xfrm>
            <a:off x="10575493" y="5287518"/>
            <a:ext cx="610362" cy="610362"/>
          </a:xfrm>
          <a:prstGeom prst="roundRect">
            <a:avLst>
              <a:gd name="adj" fmla="val 17978"/>
            </a:avLst>
          </a:prstGeom>
          <a:solidFill>
            <a:srgbClr val="101B45"/>
          </a:solidFill>
          <a:ln/>
        </p:spPr>
      </p:sp>
      <p:sp>
        <p:nvSpPr>
          <p:cNvPr id="34" name="Text 32"/>
          <p:cNvSpPr/>
          <p:nvPr/>
        </p:nvSpPr>
        <p:spPr>
          <a:xfrm>
            <a:off x="10575493" y="5287518"/>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د</a:t>
            </a:r>
            <a:endParaRPr lang="ar-SA" sz="2000" dirty="0"/>
          </a:p>
        </p:txBody>
      </p:sp>
      <p:sp>
        <p:nvSpPr>
          <p:cNvPr id="35" name="Text 33"/>
          <p:cNvSpPr/>
          <p:nvPr/>
        </p:nvSpPr>
        <p:spPr>
          <a:xfrm>
            <a:off x="1097280" y="5150358"/>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مساعد معلم دائم لخالد وحده</a:t>
            </a:r>
            <a:endParaRPr lang="ar-SA" sz="2200" dirty="0"/>
          </a:p>
        </p:txBody>
      </p:sp>
      <p:sp>
        <p:nvSpPr>
          <p:cNvPr id="36" name="anim-g1-1498"/>
          <p:cNvSpPr/>
          <p:nvPr/>
        </p:nvSpPr>
        <p:spPr>
          <a:xfrm>
            <a:off x="822960" y="5150358"/>
            <a:ext cx="10545775" cy="884682"/>
          </a:xfrm>
          <a:prstGeom prst="roundRect">
            <a:avLst>
              <a:gd name="adj" fmla="val 16537"/>
            </a:avLst>
          </a:prstGeom>
          <a:solidFill>
            <a:srgbClr val="F7F7F9"/>
          </a:solidFill>
          <a:ln w="19050">
            <a:solidFill>
              <a:srgbClr val="E4DCC8"/>
            </a:solidFill>
            <a:prstDash val="solid"/>
          </a:ln>
        </p:spPr>
      </p:sp>
      <p:sp>
        <p:nvSpPr>
          <p:cNvPr id="37" name="anim-g1-1499"/>
          <p:cNvSpPr/>
          <p:nvPr/>
        </p:nvSpPr>
        <p:spPr>
          <a:xfrm>
            <a:off x="10575493" y="5287518"/>
            <a:ext cx="610362" cy="610362"/>
          </a:xfrm>
          <a:prstGeom prst="roundRect">
            <a:avLst>
              <a:gd name="adj" fmla="val 17978"/>
            </a:avLst>
          </a:prstGeom>
          <a:solidFill>
            <a:srgbClr val="A3A9BA"/>
          </a:solidFill>
          <a:ln/>
        </p:spPr>
      </p:sp>
      <p:sp>
        <p:nvSpPr>
          <p:cNvPr id="38" name="anim-g1-1500"/>
          <p:cNvSpPr/>
          <p:nvPr/>
        </p:nvSpPr>
        <p:spPr>
          <a:xfrm>
            <a:off x="10575493" y="5287518"/>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د</a:t>
            </a:r>
            <a:endParaRPr lang="ar-SA" sz="2000" dirty="0"/>
          </a:p>
        </p:txBody>
      </p:sp>
      <p:sp>
        <p:nvSpPr>
          <p:cNvPr id="39" name="anim-g1-1501"/>
          <p:cNvSpPr/>
          <p:nvPr/>
        </p:nvSpPr>
        <p:spPr>
          <a:xfrm>
            <a:off x="1097280" y="5186934"/>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مساعد معلم دائم لخالد وحده</a:t>
            </a:r>
            <a:endParaRPr lang="ar-SA" sz="2200" dirty="0"/>
          </a:p>
        </p:txBody>
      </p:sp>
      <p:sp>
        <p:nvSpPr>
          <p:cNvPr id="40" name="anim-g1-1502"/>
          <p:cNvSpPr/>
          <p:nvPr/>
        </p:nvSpPr>
        <p:spPr>
          <a:xfrm>
            <a:off x="1097280" y="5628086"/>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قد يفيد أحيانًا، لكنه مكلف، وقد يعزل خالد عن زملائه</a:t>
            </a:r>
            <a:endParaRPr lang="ar-SA" sz="1800" dirty="0"/>
          </a:p>
        </p:txBody>
      </p:sp>
      <p:sp>
        <p:nvSpPr>
          <p:cNvPr id="41" name="Text 3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42" name="Text 4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هل مساعد المعلم مطلوب؟  ·  ١٣٩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400"/>
                                        <p:tgtEl>
                                          <p:spTgt spid="3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400"/>
                                        <p:tgtEl>
                                          <p:spTgt spid="3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400"/>
                                        <p:tgtEl>
                                          <p:spTgt spid="38"/>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9"/>
                                        </p:tgtEl>
                                        <p:attrNameLst>
                                          <p:attrName>style.visibility</p:attrName>
                                        </p:attrNameLst>
                                      </p:cBhvr>
                                      <p:to>
                                        <p:strVal val="visible"/>
                                      </p:to>
                                    </p:set>
                                    <p:animEffect transition="in" filter="fade">
                                      <p:cBhvr>
                                        <p:cTn id="61" dur="400"/>
                                        <p:tgtEl>
                                          <p:spTgt spid="3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0"/>
                                        </p:tgtEl>
                                        <p:attrNameLst>
                                          <p:attrName>style.visibility</p:attrName>
                                        </p:attrNameLst>
                                      </p:cBhvr>
                                      <p:to>
                                        <p:strVal val="visible"/>
                                      </p:to>
                                    </p:set>
                                    <p:animEffect transition="in" filter="fade">
                                      <p:cBhvr>
                                        <p:cTn id="64"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P spid="36" grpId="0" animBg="1"/>
      <p:bldP spid="37" grpId="0" animBg="1"/>
      <p:bldP spid="38" grpId="0" animBg="1"/>
      <p:bldP spid="39" grpId="0" animBg="1"/>
      <p:bldP spid="40" grpId="0" animBg="1"/>
    </p:bldLst>
  </p:timing>
</p:sld>
</file>

<file path=ppt/slides/slide140.xml><?xml version="1.0" encoding="utf-8"?>
<p:sld xmlns:a="http://schemas.openxmlformats.org/drawingml/2006/main" xmlns:r="http://schemas.openxmlformats.org/officeDocument/2006/relationships" xmlns:p="http://schemas.openxmlformats.org/presentationml/2006/main">
  <p:cSld name="Slide 1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125919" y="457200"/>
            <a:ext cx="4242816" cy="457200"/>
          </a:xfrm>
          <a:prstGeom prst="roundRect">
            <a:avLst>
              <a:gd name="adj" fmla="val 50000"/>
            </a:avLst>
          </a:prstGeom>
          <a:solidFill>
            <a:srgbClr val="F6EBCF"/>
          </a:solidFill>
          <a:ln/>
        </p:spPr>
      </p:sp>
      <p:sp>
        <p:nvSpPr>
          <p:cNvPr id="3" name="Text 1"/>
          <p:cNvSpPr/>
          <p:nvPr/>
        </p:nvSpPr>
        <p:spPr>
          <a:xfrm>
            <a:off x="7125919" y="457200"/>
            <a:ext cx="424281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أربعة أطراف… وحل واحد</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ما احتياج كل طرف؟</a:t>
            </a:r>
            <a:endParaRPr lang="ar-SA" sz="3800" dirty="0"/>
          </a:p>
        </p:txBody>
      </p:sp>
      <p:sp>
        <p:nvSpPr>
          <p:cNvPr id="5" name="anim-g1-1503"/>
          <p:cNvSpPr/>
          <p:nvPr/>
        </p:nvSpPr>
        <p:spPr>
          <a:xfrm>
            <a:off x="8903741" y="2011680"/>
            <a:ext cx="2464994" cy="2514600"/>
          </a:xfrm>
          <a:prstGeom prst="roundRect">
            <a:avLst>
              <a:gd name="adj" fmla="val 6677"/>
            </a:avLst>
          </a:prstGeom>
          <a:solidFill>
            <a:srgbClr val="FFFFFF"/>
          </a:solidFill>
          <a:ln w="12700">
            <a:solidFill>
              <a:srgbClr val="E4DCC8"/>
            </a:solidFill>
            <a:prstDash val="solid"/>
          </a:ln>
        </p:spPr>
      </p:sp>
      <p:sp>
        <p:nvSpPr>
          <p:cNvPr id="6" name="anim-g1-1504"/>
          <p:cNvSpPr/>
          <p:nvPr/>
        </p:nvSpPr>
        <p:spPr>
          <a:xfrm>
            <a:off x="9816198" y="2194560"/>
            <a:ext cx="640080" cy="640080"/>
          </a:xfrm>
          <a:prstGeom prst="roundRect">
            <a:avLst>
              <a:gd name="adj" fmla="val 25714"/>
            </a:avLst>
          </a:prstGeom>
          <a:solidFill>
            <a:srgbClr val="F7E6BC"/>
          </a:solidFill>
          <a:ln/>
        </p:spPr>
      </p:sp>
      <p:sp>
        <p:nvSpPr>
          <p:cNvPr id="7" name="anim-g1-1505"/>
          <p:cNvSpPr/>
          <p:nvPr/>
        </p:nvSpPr>
        <p:spPr>
          <a:xfrm>
            <a:off x="9816198"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8" name="anim-g1-1506"/>
          <p:cNvSpPr/>
          <p:nvPr/>
        </p:nvSpPr>
        <p:spPr>
          <a:xfrm>
            <a:off x="9040901"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خالد</a:t>
            </a:r>
            <a:endParaRPr lang="ar-SA" sz="2200" dirty="0"/>
          </a:p>
        </p:txBody>
      </p:sp>
      <p:sp>
        <p:nvSpPr>
          <p:cNvPr id="9" name="anim-g1-1507"/>
          <p:cNvSpPr/>
          <p:nvPr/>
        </p:nvSpPr>
        <p:spPr>
          <a:xfrm>
            <a:off x="9040901"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وقت أطول وطرق مختلفة</a:t>
            </a:r>
            <a:endParaRPr lang="ar-SA" sz="1900" dirty="0"/>
          </a:p>
        </p:txBody>
      </p:sp>
      <p:sp>
        <p:nvSpPr>
          <p:cNvPr id="10" name="anim-g2-1508"/>
          <p:cNvSpPr/>
          <p:nvPr/>
        </p:nvSpPr>
        <p:spPr>
          <a:xfrm>
            <a:off x="6210148" y="2011680"/>
            <a:ext cx="2464994" cy="2514600"/>
          </a:xfrm>
          <a:prstGeom prst="roundRect">
            <a:avLst>
              <a:gd name="adj" fmla="val 6677"/>
            </a:avLst>
          </a:prstGeom>
          <a:solidFill>
            <a:srgbClr val="FFFFFF"/>
          </a:solidFill>
          <a:ln w="12700">
            <a:solidFill>
              <a:srgbClr val="E4DCC8"/>
            </a:solidFill>
            <a:prstDash val="solid"/>
          </a:ln>
        </p:spPr>
      </p:sp>
      <p:sp>
        <p:nvSpPr>
          <p:cNvPr id="11" name="anim-g2-1509"/>
          <p:cNvSpPr/>
          <p:nvPr/>
        </p:nvSpPr>
        <p:spPr>
          <a:xfrm>
            <a:off x="7122604" y="2194560"/>
            <a:ext cx="640080" cy="640080"/>
          </a:xfrm>
          <a:prstGeom prst="roundRect">
            <a:avLst>
              <a:gd name="adj" fmla="val 25714"/>
            </a:avLst>
          </a:prstGeom>
          <a:solidFill>
            <a:srgbClr val="F7E6BC"/>
          </a:solidFill>
          <a:ln/>
        </p:spPr>
      </p:sp>
      <p:sp>
        <p:nvSpPr>
          <p:cNvPr id="12" name="anim-g2-1510"/>
          <p:cNvSpPr/>
          <p:nvPr/>
        </p:nvSpPr>
        <p:spPr>
          <a:xfrm>
            <a:off x="7122604"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13" name="anim-g2-1511"/>
          <p:cNvSpPr/>
          <p:nvPr/>
        </p:nvSpPr>
        <p:spPr>
          <a:xfrm>
            <a:off x="6347308"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المتقدمون</a:t>
            </a:r>
            <a:endParaRPr lang="ar-SA" sz="2200" dirty="0"/>
          </a:p>
        </p:txBody>
      </p:sp>
      <p:sp>
        <p:nvSpPr>
          <p:cNvPr id="14" name="anim-g2-1512"/>
          <p:cNvSpPr/>
          <p:nvPr/>
        </p:nvSpPr>
        <p:spPr>
          <a:xfrm>
            <a:off x="6347308"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تحدٍّ لا انتظار</a:t>
            </a:r>
            <a:endParaRPr lang="ar-SA" sz="1900" dirty="0"/>
          </a:p>
        </p:txBody>
      </p:sp>
      <p:sp>
        <p:nvSpPr>
          <p:cNvPr id="15" name="anim-g3-1513"/>
          <p:cNvSpPr/>
          <p:nvPr/>
        </p:nvSpPr>
        <p:spPr>
          <a:xfrm>
            <a:off x="3516554" y="2011680"/>
            <a:ext cx="2464994" cy="2514600"/>
          </a:xfrm>
          <a:prstGeom prst="roundRect">
            <a:avLst>
              <a:gd name="adj" fmla="val 6677"/>
            </a:avLst>
          </a:prstGeom>
          <a:solidFill>
            <a:srgbClr val="FFFFFF"/>
          </a:solidFill>
          <a:ln w="12700">
            <a:solidFill>
              <a:srgbClr val="E4DCC8"/>
            </a:solidFill>
            <a:prstDash val="solid"/>
          </a:ln>
        </p:spPr>
      </p:sp>
      <p:sp>
        <p:nvSpPr>
          <p:cNvPr id="16" name="anim-g3-1514"/>
          <p:cNvSpPr/>
          <p:nvPr/>
        </p:nvSpPr>
        <p:spPr>
          <a:xfrm>
            <a:off x="4429011" y="2194560"/>
            <a:ext cx="640080" cy="640080"/>
          </a:xfrm>
          <a:prstGeom prst="roundRect">
            <a:avLst>
              <a:gd name="adj" fmla="val 25714"/>
            </a:avLst>
          </a:prstGeom>
          <a:solidFill>
            <a:srgbClr val="F7E6BC"/>
          </a:solidFill>
          <a:ln/>
        </p:spPr>
      </p:sp>
      <p:sp>
        <p:nvSpPr>
          <p:cNvPr id="17" name="anim-g3-1515"/>
          <p:cNvSpPr/>
          <p:nvPr/>
        </p:nvSpPr>
        <p:spPr>
          <a:xfrm>
            <a:off x="4429011"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18" name="anim-g3-1516"/>
          <p:cNvSpPr/>
          <p:nvPr/>
        </p:nvSpPr>
        <p:spPr>
          <a:xfrm>
            <a:off x="3653714"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الأهل</a:t>
            </a:r>
            <a:endParaRPr lang="ar-SA" sz="2200" dirty="0"/>
          </a:p>
        </p:txBody>
      </p:sp>
      <p:sp>
        <p:nvSpPr>
          <p:cNvPr id="19" name="anim-g3-1517"/>
          <p:cNvSpPr/>
          <p:nvPr/>
        </p:nvSpPr>
        <p:spPr>
          <a:xfrm>
            <a:off x="3653714"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ضمان حق أبنائهم</a:t>
            </a:r>
            <a:endParaRPr lang="ar-SA" sz="1900" dirty="0"/>
          </a:p>
        </p:txBody>
      </p:sp>
      <p:sp>
        <p:nvSpPr>
          <p:cNvPr id="20" name="anim-g4-1518"/>
          <p:cNvSpPr/>
          <p:nvPr/>
        </p:nvSpPr>
        <p:spPr>
          <a:xfrm>
            <a:off x="822960" y="2011680"/>
            <a:ext cx="2464994" cy="2514600"/>
          </a:xfrm>
          <a:prstGeom prst="roundRect">
            <a:avLst>
              <a:gd name="adj" fmla="val 6677"/>
            </a:avLst>
          </a:prstGeom>
          <a:solidFill>
            <a:srgbClr val="FFFFFF"/>
          </a:solidFill>
          <a:ln w="12700">
            <a:solidFill>
              <a:srgbClr val="E4DCC8"/>
            </a:solidFill>
            <a:prstDash val="solid"/>
          </a:ln>
        </p:spPr>
      </p:sp>
      <p:sp>
        <p:nvSpPr>
          <p:cNvPr id="21" name="anim-g4-1519"/>
          <p:cNvSpPr/>
          <p:nvPr/>
        </p:nvSpPr>
        <p:spPr>
          <a:xfrm>
            <a:off x="1735417" y="2194560"/>
            <a:ext cx="640080" cy="640080"/>
          </a:xfrm>
          <a:prstGeom prst="roundRect">
            <a:avLst>
              <a:gd name="adj" fmla="val 25714"/>
            </a:avLst>
          </a:prstGeom>
          <a:solidFill>
            <a:srgbClr val="F7E6BC"/>
          </a:solidFill>
          <a:ln/>
        </p:spPr>
      </p:sp>
      <p:sp>
        <p:nvSpPr>
          <p:cNvPr id="22" name="anim-g4-1520"/>
          <p:cNvSpPr/>
          <p:nvPr/>
        </p:nvSpPr>
        <p:spPr>
          <a:xfrm>
            <a:off x="1735417"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23" name="anim-g4-1521"/>
          <p:cNvSpPr/>
          <p:nvPr/>
        </p:nvSpPr>
        <p:spPr>
          <a:xfrm>
            <a:off x="960120"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المعلم</a:t>
            </a:r>
            <a:endParaRPr lang="ar-SA" sz="2200" dirty="0"/>
          </a:p>
        </p:txBody>
      </p:sp>
      <p:sp>
        <p:nvSpPr>
          <p:cNvPr id="24" name="anim-g4-1522"/>
          <p:cNvSpPr/>
          <p:nvPr/>
        </p:nvSpPr>
        <p:spPr>
          <a:xfrm>
            <a:off x="960120"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أدوات للتدريس المتمايز</a:t>
            </a:r>
            <a:endParaRPr lang="ar-SA" sz="1900" dirty="0"/>
          </a:p>
        </p:txBody>
      </p:sp>
      <p:sp>
        <p:nvSpPr>
          <p:cNvPr id="25" name="anim-g5-1523"/>
          <p:cNvSpPr/>
          <p:nvPr/>
        </p:nvSpPr>
        <p:spPr>
          <a:xfrm>
            <a:off x="822960" y="4754880"/>
            <a:ext cx="10545775" cy="1051560"/>
          </a:xfrm>
          <a:prstGeom prst="roundRect">
            <a:avLst>
              <a:gd name="adj" fmla="val 17391"/>
            </a:avLst>
          </a:prstGeom>
          <a:solidFill>
            <a:srgbClr val="101B45"/>
          </a:solidFill>
          <a:ln/>
        </p:spPr>
      </p:sp>
      <p:sp>
        <p:nvSpPr>
          <p:cNvPr id="26" name="anim-g5-1524"/>
          <p:cNvSpPr/>
          <p:nvPr/>
        </p:nvSpPr>
        <p:spPr>
          <a:xfrm>
            <a:off x="1097280" y="4754880"/>
            <a:ext cx="9997135" cy="1051560"/>
          </a:xfrm>
          <a:prstGeom prst="rect">
            <a:avLst/>
          </a:prstGeom>
          <a:noFill/>
          <a:ln/>
        </p:spPr>
        <p:txBody>
          <a:bodyPr wrap="square" lIns="0" tIns="0" rIns="0" bIns="0" rtlCol="0" anchor="ctr">
            <a:normAutofit/>
          </a:bodyPr>
          <a:lstStyle/>
          <a:p>
            <a:pPr algn="ctr" indent="0" marL="0">
              <a:buNone/>
            </a:pPr>
            <a:r>
              <a:rPr lang="ar-SA" altLang="en-US" sz="2200" b="1" dirty="0">
                <a:solidFill>
                  <a:srgbClr val="FFFFFF"/>
                </a:solidFill>
                <a:latin typeface="Cairo" pitchFamily="34" charset="0"/>
                <a:ea typeface="Cairo" pitchFamily="34" charset="-122"/>
                <a:cs typeface="Cairo" pitchFamily="34" charset="-120"/>
              </a:rPr>
              <a:t>💡 العدل ليس أن يأخذ الجميع الشيء نفسه…</a:t>
            </a:r>
            <a:endParaRPr lang="ar-SA" sz="2200" dirty="0"/>
          </a:p>
          <a:p>
            <a:pPr algn="ctr" indent="0" marL="0">
              <a:buNone/>
            </a:pPr>
            <a:r>
              <a:rPr lang="ar-SA" altLang="en-US" sz="2200" b="1" dirty="0">
                <a:solidFill>
                  <a:srgbClr val="F0CC7A"/>
                </a:solidFill>
                <a:latin typeface="Cairo" pitchFamily="34" charset="0"/>
                <a:ea typeface="Cairo" pitchFamily="34" charset="-122"/>
                <a:cs typeface="Cairo" pitchFamily="34" charset="-120"/>
              </a:rPr>
              <a:t> بل أن يأخذ كلٌّ ما يحتاجه</a:t>
            </a:r>
            <a:endParaRPr lang="ar-SA" sz="2200" dirty="0"/>
          </a:p>
        </p:txBody>
      </p:sp>
      <p:sp>
        <p:nvSpPr>
          <p:cNvPr id="27" name="Text 2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8" name="Text 2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هل مساعد المعلم مطلوب؟  ·  ١٤٠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40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141.xml><?xml version="1.0" encoding="utf-8"?>
<p:sld xmlns:a="http://schemas.openxmlformats.org/drawingml/2006/main" xmlns:r="http://schemas.openxmlformats.org/officeDocument/2006/relationships" xmlns:p="http://schemas.openxmlformats.org/presentationml/2006/main">
  <p:cSld name="Slide 1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في كل حصة</a:t>
            </a:r>
            <a:endParaRPr lang="ar-SA" sz="1800" dirty="0"/>
          </a:p>
        </p:txBody>
      </p:sp>
      <p:sp>
        <p:nvSpPr>
          <p:cNvPr id="4" name="Shape 2"/>
          <p:cNvSpPr/>
          <p:nvPr/>
        </p:nvSpPr>
        <p:spPr>
          <a:xfrm>
            <a:off x="822960" y="457200"/>
            <a:ext cx="1499616" cy="457200"/>
          </a:xfrm>
          <a:prstGeom prst="roundRect">
            <a:avLst>
              <a:gd name="adj" fmla="val 50000"/>
            </a:avLst>
          </a:prstGeom>
          <a:solidFill>
            <a:srgbClr val="FBECEC"/>
          </a:solidFill>
          <a:ln/>
        </p:spPr>
      </p:sp>
      <p:sp>
        <p:nvSpPr>
          <p:cNvPr id="5" name="Text 3"/>
          <p:cNvSpPr/>
          <p:nvPr/>
        </p:nvSpPr>
        <p:spPr>
          <a:xfrm>
            <a:off x="822960" y="457200"/>
            <a:ext cx="1499616"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D64545"/>
                </a:solidFill>
                <a:latin typeface="Cairo" pitchFamily="34" charset="0"/>
                <a:ea typeface="Cairo" pitchFamily="34" charset="-122"/>
                <a:cs typeface="Cairo" pitchFamily="34" charset="-120"/>
              </a:rPr>
              <a:t>⏱ كل حصة</a:t>
            </a:r>
            <a:endParaRPr lang="ar-SA" sz="1600" dirty="0"/>
          </a:p>
        </p:txBody>
      </p:sp>
      <p:sp>
        <p:nvSpPr>
          <p:cNvPr id="6" name="Text 4"/>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أدوات أ. جلال داخل الحصة</a:t>
            </a:r>
            <a:endParaRPr lang="ar-SA" sz="3800" dirty="0"/>
          </a:p>
        </p:txBody>
      </p:sp>
      <p:sp>
        <p:nvSpPr>
          <p:cNvPr id="7" name="anim-g1-1525"/>
          <p:cNvSpPr/>
          <p:nvPr/>
        </p:nvSpPr>
        <p:spPr>
          <a:xfrm>
            <a:off x="8903741" y="2148840"/>
            <a:ext cx="2464994" cy="3383280"/>
          </a:xfrm>
          <a:prstGeom prst="roundRect">
            <a:avLst>
              <a:gd name="adj" fmla="val 6677"/>
            </a:avLst>
          </a:prstGeom>
          <a:solidFill>
            <a:srgbClr val="FFFFFF"/>
          </a:solidFill>
          <a:ln w="12700">
            <a:solidFill>
              <a:srgbClr val="E4DCC8"/>
            </a:solidFill>
            <a:prstDash val="solid"/>
          </a:ln>
        </p:spPr>
      </p:sp>
      <p:sp>
        <p:nvSpPr>
          <p:cNvPr id="8" name="anim-g1-1526"/>
          <p:cNvSpPr/>
          <p:nvPr/>
        </p:nvSpPr>
        <p:spPr>
          <a:xfrm>
            <a:off x="9747618" y="2423160"/>
            <a:ext cx="777240" cy="777240"/>
          </a:xfrm>
          <a:prstGeom prst="ellipse">
            <a:avLst/>
          </a:prstGeom>
          <a:solidFill>
            <a:srgbClr val="D9AE4B"/>
          </a:solidFill>
          <a:ln/>
        </p:spPr>
      </p:sp>
      <p:sp>
        <p:nvSpPr>
          <p:cNvPr id="9" name="anim-g1-1527"/>
          <p:cNvSpPr/>
          <p:nvPr/>
        </p:nvSpPr>
        <p:spPr>
          <a:xfrm>
            <a:off x="9747618"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١</a:t>
            </a:r>
            <a:endParaRPr lang="ar-SA" sz="2800" dirty="0"/>
          </a:p>
        </p:txBody>
      </p:sp>
      <p:sp>
        <p:nvSpPr>
          <p:cNvPr id="10" name="anim-g1-1528"/>
          <p:cNvSpPr/>
          <p:nvPr/>
        </p:nvSpPr>
        <p:spPr>
          <a:xfrm>
            <a:off x="9040901"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بطاقة المساعدة</a:t>
            </a:r>
            <a:endParaRPr lang="ar-SA" sz="2500" dirty="0"/>
          </a:p>
        </p:txBody>
      </p:sp>
      <p:sp>
        <p:nvSpPr>
          <p:cNvPr id="11" name="anim-g1-1529"/>
          <p:cNvSpPr/>
          <p:nvPr/>
        </p:nvSpPr>
        <p:spPr>
          <a:xfrm>
            <a:off x="9086621"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يرفعها خالد بدل السؤال العلني المتكرر</a:t>
            </a:r>
            <a:endParaRPr lang="ar-SA" sz="2000" dirty="0"/>
          </a:p>
        </p:txBody>
      </p:sp>
      <p:sp>
        <p:nvSpPr>
          <p:cNvPr id="12" name="anim-g2-1530"/>
          <p:cNvSpPr/>
          <p:nvPr/>
        </p:nvSpPr>
        <p:spPr>
          <a:xfrm>
            <a:off x="6210148" y="2148840"/>
            <a:ext cx="2464994" cy="3383280"/>
          </a:xfrm>
          <a:prstGeom prst="roundRect">
            <a:avLst>
              <a:gd name="adj" fmla="val 6677"/>
            </a:avLst>
          </a:prstGeom>
          <a:solidFill>
            <a:srgbClr val="FFFFFF"/>
          </a:solidFill>
          <a:ln w="12700">
            <a:solidFill>
              <a:srgbClr val="E4DCC8"/>
            </a:solidFill>
            <a:prstDash val="solid"/>
          </a:ln>
        </p:spPr>
      </p:sp>
      <p:sp>
        <p:nvSpPr>
          <p:cNvPr id="13" name="anim-g2-1531"/>
          <p:cNvSpPr/>
          <p:nvPr/>
        </p:nvSpPr>
        <p:spPr>
          <a:xfrm>
            <a:off x="7054024" y="2423160"/>
            <a:ext cx="777240" cy="777240"/>
          </a:xfrm>
          <a:prstGeom prst="ellipse">
            <a:avLst/>
          </a:prstGeom>
          <a:solidFill>
            <a:srgbClr val="D9AE4B"/>
          </a:solidFill>
          <a:ln/>
        </p:spPr>
      </p:sp>
      <p:sp>
        <p:nvSpPr>
          <p:cNvPr id="14" name="anim-g2-1532"/>
          <p:cNvSpPr/>
          <p:nvPr/>
        </p:nvSpPr>
        <p:spPr>
          <a:xfrm>
            <a:off x="7054024"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٢</a:t>
            </a:r>
            <a:endParaRPr lang="ar-SA" sz="2800" dirty="0"/>
          </a:p>
        </p:txBody>
      </p:sp>
      <p:sp>
        <p:nvSpPr>
          <p:cNvPr id="15" name="anim-g2-1533"/>
          <p:cNvSpPr/>
          <p:nvPr/>
        </p:nvSpPr>
        <p:spPr>
          <a:xfrm>
            <a:off x="6347308"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الزميل المساعد</a:t>
            </a:r>
            <a:endParaRPr lang="ar-SA" sz="2500" dirty="0"/>
          </a:p>
        </p:txBody>
      </p:sp>
      <p:sp>
        <p:nvSpPr>
          <p:cNvPr id="16" name="anim-g2-1534"/>
          <p:cNvSpPr/>
          <p:nvPr/>
        </p:nvSpPr>
        <p:spPr>
          <a:xfrm>
            <a:off x="6393028"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متقدم يشرح لخالد، فيتعلم الاثنان</a:t>
            </a:r>
            <a:endParaRPr lang="ar-SA" sz="2000" dirty="0"/>
          </a:p>
        </p:txBody>
      </p:sp>
      <p:sp>
        <p:nvSpPr>
          <p:cNvPr id="17" name="anim-g3-1535"/>
          <p:cNvSpPr/>
          <p:nvPr/>
        </p:nvSpPr>
        <p:spPr>
          <a:xfrm>
            <a:off x="3516554" y="2148840"/>
            <a:ext cx="2464994" cy="3383280"/>
          </a:xfrm>
          <a:prstGeom prst="roundRect">
            <a:avLst>
              <a:gd name="adj" fmla="val 6677"/>
            </a:avLst>
          </a:prstGeom>
          <a:solidFill>
            <a:srgbClr val="FFFFFF"/>
          </a:solidFill>
          <a:ln w="12700">
            <a:solidFill>
              <a:srgbClr val="E4DCC8"/>
            </a:solidFill>
            <a:prstDash val="solid"/>
          </a:ln>
        </p:spPr>
      </p:sp>
      <p:sp>
        <p:nvSpPr>
          <p:cNvPr id="18" name="anim-g3-1536"/>
          <p:cNvSpPr/>
          <p:nvPr/>
        </p:nvSpPr>
        <p:spPr>
          <a:xfrm>
            <a:off x="4360431" y="2423160"/>
            <a:ext cx="777240" cy="777240"/>
          </a:xfrm>
          <a:prstGeom prst="ellipse">
            <a:avLst/>
          </a:prstGeom>
          <a:solidFill>
            <a:srgbClr val="D9AE4B"/>
          </a:solidFill>
          <a:ln/>
        </p:spPr>
      </p:sp>
      <p:sp>
        <p:nvSpPr>
          <p:cNvPr id="19" name="anim-g3-1537"/>
          <p:cNvSpPr/>
          <p:nvPr/>
        </p:nvSpPr>
        <p:spPr>
          <a:xfrm>
            <a:off x="4360431"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٣</a:t>
            </a:r>
            <a:endParaRPr lang="ar-SA" sz="2800" dirty="0"/>
          </a:p>
        </p:txBody>
      </p:sp>
      <p:sp>
        <p:nvSpPr>
          <p:cNvPr id="20" name="anim-g3-1538"/>
          <p:cNvSpPr/>
          <p:nvPr/>
        </p:nvSpPr>
        <p:spPr>
          <a:xfrm>
            <a:off x="3653714"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تحدٍّ إضافي</a:t>
            </a:r>
            <a:endParaRPr lang="ar-SA" sz="2500" dirty="0"/>
          </a:p>
        </p:txBody>
      </p:sp>
      <p:sp>
        <p:nvSpPr>
          <p:cNvPr id="21" name="anim-g3-1539"/>
          <p:cNvSpPr/>
          <p:nvPr/>
        </p:nvSpPr>
        <p:spPr>
          <a:xfrm>
            <a:off x="3699434"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للمنجزين أولًا، فلا وقت انتظار</a:t>
            </a:r>
            <a:endParaRPr lang="ar-SA" sz="2000" dirty="0"/>
          </a:p>
        </p:txBody>
      </p:sp>
      <p:sp>
        <p:nvSpPr>
          <p:cNvPr id="22" name="anim-g4-1540"/>
          <p:cNvSpPr/>
          <p:nvPr/>
        </p:nvSpPr>
        <p:spPr>
          <a:xfrm>
            <a:off x="822960" y="2148840"/>
            <a:ext cx="2464994" cy="3383280"/>
          </a:xfrm>
          <a:prstGeom prst="roundRect">
            <a:avLst>
              <a:gd name="adj" fmla="val 6677"/>
            </a:avLst>
          </a:prstGeom>
          <a:solidFill>
            <a:srgbClr val="FFFFFF"/>
          </a:solidFill>
          <a:ln w="12700">
            <a:solidFill>
              <a:srgbClr val="E4DCC8"/>
            </a:solidFill>
            <a:prstDash val="solid"/>
          </a:ln>
        </p:spPr>
      </p:sp>
      <p:sp>
        <p:nvSpPr>
          <p:cNvPr id="23" name="anim-g4-1541"/>
          <p:cNvSpPr/>
          <p:nvPr/>
        </p:nvSpPr>
        <p:spPr>
          <a:xfrm>
            <a:off x="1666837" y="2423160"/>
            <a:ext cx="777240" cy="777240"/>
          </a:xfrm>
          <a:prstGeom prst="ellipse">
            <a:avLst/>
          </a:prstGeom>
          <a:solidFill>
            <a:srgbClr val="D9AE4B"/>
          </a:solidFill>
          <a:ln/>
        </p:spPr>
      </p:sp>
      <p:sp>
        <p:nvSpPr>
          <p:cNvPr id="24" name="anim-g4-1542"/>
          <p:cNvSpPr/>
          <p:nvPr/>
        </p:nvSpPr>
        <p:spPr>
          <a:xfrm>
            <a:off x="1666837"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٤</a:t>
            </a:r>
            <a:endParaRPr lang="ar-SA" sz="2800" dirty="0"/>
          </a:p>
        </p:txBody>
      </p:sp>
      <p:sp>
        <p:nvSpPr>
          <p:cNvPr id="25" name="anim-g4-1543"/>
          <p:cNvSpPr/>
          <p:nvPr/>
        </p:nvSpPr>
        <p:spPr>
          <a:xfrm>
            <a:off x="960120"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دقيقتان لخالد</a:t>
            </a:r>
            <a:endParaRPr lang="ar-SA" sz="2500" dirty="0"/>
          </a:p>
        </p:txBody>
      </p:sp>
      <p:sp>
        <p:nvSpPr>
          <p:cNvPr id="26" name="anim-g4-1544"/>
          <p:cNvSpPr/>
          <p:nvPr/>
        </p:nvSpPr>
        <p:spPr>
          <a:xfrm>
            <a:off x="1005840"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أثناء عمل الفصل الفردي</a:t>
            </a:r>
            <a:endParaRPr lang="ar-SA" sz="2000" dirty="0"/>
          </a:p>
        </p:txBody>
      </p:sp>
      <p:sp>
        <p:nvSpPr>
          <p:cNvPr id="27" name="Text 2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8" name="Text 2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هل مساعد المعلم مطلوب؟  ·  ١٤١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400"/>
                                        <p:tgtEl>
                                          <p:spTgt spid="1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40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4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400"/>
                                        <p:tgtEl>
                                          <p:spTgt spid="1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400"/>
                                        <p:tgtEl>
                                          <p:spTgt spid="2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400"/>
                                        <p:tgtEl>
                                          <p:spTgt spid="21"/>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400"/>
                                        <p:tgtEl>
                                          <p:spTgt spid="2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400"/>
                                        <p:tgtEl>
                                          <p:spTgt spid="2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400"/>
                                        <p:tgtEl>
                                          <p:spTgt spid="2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400"/>
                                        <p:tgtEl>
                                          <p:spTgt spid="2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142.xml><?xml version="1.0" encoding="utf-8"?>
<p:sld xmlns:a="http://schemas.openxmlformats.org/drawingml/2006/main" xmlns:r="http://schemas.openxmlformats.org/officeDocument/2006/relationships" xmlns:p="http://schemas.openxmlformats.org/presentationml/2006/main">
  <p:cSld name="Slide 1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588959" y="457200"/>
            <a:ext cx="2779776" cy="457200"/>
          </a:xfrm>
          <a:prstGeom prst="roundRect">
            <a:avLst>
              <a:gd name="adj" fmla="val 50000"/>
            </a:avLst>
          </a:prstGeom>
          <a:solidFill>
            <a:srgbClr val="F6EBCF"/>
          </a:solidFill>
          <a:ln/>
        </p:spPr>
      </p:sp>
      <p:sp>
        <p:nvSpPr>
          <p:cNvPr id="3" name="Text 1"/>
          <p:cNvSpPr/>
          <p:nvPr/>
        </p:nvSpPr>
        <p:spPr>
          <a:xfrm>
            <a:off x="8588959" y="457200"/>
            <a:ext cx="277977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الجُمل الجاهزة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ماذا تقول بالحرف؟</a:t>
            </a:r>
            <a:endParaRPr lang="ar-SA" sz="3800" dirty="0"/>
          </a:p>
        </p:txBody>
      </p:sp>
      <p:sp>
        <p:nvSpPr>
          <p:cNvPr id="5" name="anim-g1-1545"/>
          <p:cNvSpPr/>
          <p:nvPr/>
        </p:nvSpPr>
        <p:spPr>
          <a:xfrm>
            <a:off x="9768535" y="2130552"/>
            <a:ext cx="1600200" cy="1018032"/>
          </a:xfrm>
          <a:prstGeom prst="roundRect">
            <a:avLst>
              <a:gd name="adj" fmla="val 13473"/>
            </a:avLst>
          </a:prstGeom>
          <a:solidFill>
            <a:srgbClr val="E9EDF9"/>
          </a:solidFill>
          <a:ln/>
        </p:spPr>
      </p:sp>
      <p:sp>
        <p:nvSpPr>
          <p:cNvPr id="6" name="anim-g1-1546"/>
          <p:cNvSpPr/>
          <p:nvPr/>
        </p:nvSpPr>
        <p:spPr>
          <a:xfrm>
            <a:off x="9814255" y="2130552"/>
            <a:ext cx="1508760" cy="101803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لخالد</a:t>
            </a:r>
            <a:endParaRPr lang="ar-SA" sz="1800" dirty="0"/>
          </a:p>
        </p:txBody>
      </p:sp>
      <p:sp>
        <p:nvSpPr>
          <p:cNvPr id="7" name="anim-g1-1547"/>
          <p:cNvSpPr/>
          <p:nvPr/>
        </p:nvSpPr>
        <p:spPr>
          <a:xfrm>
            <a:off x="822960" y="2057400"/>
            <a:ext cx="8716975" cy="1164336"/>
          </a:xfrm>
          <a:prstGeom prst="roundRect">
            <a:avLst>
              <a:gd name="adj" fmla="val 17277"/>
            </a:avLst>
          </a:prstGeom>
          <a:solidFill>
            <a:srgbClr val="101B45"/>
          </a:solidFill>
          <a:ln/>
        </p:spPr>
      </p:sp>
      <p:sp>
        <p:nvSpPr>
          <p:cNvPr id="8" name="anim-g1-1548"/>
          <p:cNvSpPr/>
          <p:nvPr/>
        </p:nvSpPr>
        <p:spPr>
          <a:xfrm>
            <a:off x="1097280" y="2057400"/>
            <a:ext cx="8168335" cy="1164336"/>
          </a:xfrm>
          <a:prstGeom prst="rect">
            <a:avLst/>
          </a:prstGeom>
          <a:noFill/>
          <a:ln/>
        </p:spPr>
        <p:txBody>
          <a:bodyPr wrap="square" lIns="0" tIns="0" rIns="0" bIns="0" rtlCol="0" anchor="ctr">
            <a:normAutofit/>
          </a:bodyPr>
          <a:lstStyle/>
          <a:p>
            <a:pPr algn="r" indent="0" marL="0">
              <a:buNone/>
            </a:pPr>
            <a:r>
              <a:rPr lang="ar-SA" altLang="en-US" sz="2200" b="1" dirty="0">
                <a:solidFill>
                  <a:srgbClr val="D9AE4B"/>
                </a:solidFill>
                <a:latin typeface="Cairo" pitchFamily="34" charset="0"/>
                <a:ea typeface="Cairo" pitchFamily="34" charset="-122"/>
                <a:cs typeface="Cairo" pitchFamily="34" charset="-120"/>
              </a:rPr>
              <a:t>« </a:t>
            </a:r>
            <a:pPr algn="r" indent="0" marL="0">
              <a:buNone/>
            </a:pPr>
            <a:r>
              <a:rPr lang="ar-SA" altLang="en-US" sz="2200" b="1" dirty="0">
                <a:solidFill>
                  <a:srgbClr val="FFFFFF"/>
                </a:solidFill>
                <a:latin typeface="Cairo" pitchFamily="34" charset="0"/>
                <a:ea typeface="Cairo" pitchFamily="34" charset="-122"/>
                <a:cs typeface="Cairo" pitchFamily="34" charset="-120"/>
              </a:rPr>
              <a:t>سؤالك مهم. ارفع البطاقة الصفراء، وسآتيك أول ما يبدأ الجميع الحل</a:t>
            </a:r>
            <a:pPr algn="r" indent="0" marL="0">
              <a:buNone/>
            </a:pPr>
            <a:r>
              <a:rPr lang="ar-SA" altLang="en-US" sz="2200" b="1" dirty="0">
                <a:solidFill>
                  <a:srgbClr val="D9AE4B"/>
                </a:solidFill>
                <a:latin typeface="Cairo" pitchFamily="34" charset="0"/>
                <a:ea typeface="Cairo" pitchFamily="34" charset="-122"/>
                <a:cs typeface="Cairo" pitchFamily="34" charset="-120"/>
              </a:rPr>
              <a:t> »</a:t>
            </a:r>
            <a:endParaRPr lang="ar-SA" sz="2200" dirty="0"/>
          </a:p>
        </p:txBody>
      </p:sp>
      <p:sp>
        <p:nvSpPr>
          <p:cNvPr id="9" name="anim-g2-1549"/>
          <p:cNvSpPr/>
          <p:nvPr/>
        </p:nvSpPr>
        <p:spPr>
          <a:xfrm>
            <a:off x="9768535" y="3441192"/>
            <a:ext cx="1600200" cy="1018032"/>
          </a:xfrm>
          <a:prstGeom prst="roundRect">
            <a:avLst>
              <a:gd name="adj" fmla="val 13473"/>
            </a:avLst>
          </a:prstGeom>
          <a:solidFill>
            <a:srgbClr val="E9EDF9"/>
          </a:solidFill>
          <a:ln/>
        </p:spPr>
      </p:sp>
      <p:sp>
        <p:nvSpPr>
          <p:cNvPr id="10" name="anim-g2-1550"/>
          <p:cNvSpPr/>
          <p:nvPr/>
        </p:nvSpPr>
        <p:spPr>
          <a:xfrm>
            <a:off x="9814255" y="3441192"/>
            <a:ext cx="1508760" cy="101803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للمتقدمين</a:t>
            </a:r>
            <a:endParaRPr lang="ar-SA" sz="1800" dirty="0"/>
          </a:p>
        </p:txBody>
      </p:sp>
      <p:sp>
        <p:nvSpPr>
          <p:cNvPr id="11" name="anim-g2-1551"/>
          <p:cNvSpPr/>
          <p:nvPr/>
        </p:nvSpPr>
        <p:spPr>
          <a:xfrm>
            <a:off x="822960" y="3368040"/>
            <a:ext cx="8716975" cy="1164336"/>
          </a:xfrm>
          <a:prstGeom prst="roundRect">
            <a:avLst>
              <a:gd name="adj" fmla="val 17277"/>
            </a:avLst>
          </a:prstGeom>
          <a:solidFill>
            <a:srgbClr val="101B45"/>
          </a:solidFill>
          <a:ln/>
        </p:spPr>
      </p:sp>
      <p:sp>
        <p:nvSpPr>
          <p:cNvPr id="12" name="anim-g2-1552"/>
          <p:cNvSpPr/>
          <p:nvPr/>
        </p:nvSpPr>
        <p:spPr>
          <a:xfrm>
            <a:off x="1097280" y="3368040"/>
            <a:ext cx="8168335" cy="1164336"/>
          </a:xfrm>
          <a:prstGeom prst="rect">
            <a:avLst/>
          </a:prstGeom>
          <a:noFill/>
          <a:ln/>
        </p:spPr>
        <p:txBody>
          <a:bodyPr wrap="square" lIns="0" tIns="0" rIns="0" bIns="0" rtlCol="0" anchor="ctr">
            <a:normAutofit/>
          </a:bodyPr>
          <a:lstStyle/>
          <a:p>
            <a:pPr algn="r" indent="0" marL="0">
              <a:buNone/>
            </a:pPr>
            <a:r>
              <a:rPr lang="ar-SA" altLang="en-US" sz="2400" b="1" dirty="0">
                <a:solidFill>
                  <a:srgbClr val="D9AE4B"/>
                </a:solidFill>
                <a:latin typeface="Cairo" pitchFamily="34" charset="0"/>
                <a:ea typeface="Cairo" pitchFamily="34" charset="-122"/>
                <a:cs typeface="Cairo" pitchFamily="34" charset="-120"/>
              </a:rPr>
              <a:t>« </a:t>
            </a:r>
            <a:pPr algn="r" indent="0" marL="0">
              <a:buNone/>
            </a:pPr>
            <a:r>
              <a:rPr lang="ar-SA" altLang="en-US" sz="2400" b="1" dirty="0">
                <a:solidFill>
                  <a:srgbClr val="FFFFFF"/>
                </a:solidFill>
                <a:latin typeface="Cairo" pitchFamily="34" charset="0"/>
                <a:ea typeface="Cairo" pitchFamily="34" charset="-122"/>
                <a:cs typeface="Cairo" pitchFamily="34" charset="-120"/>
              </a:rPr>
              <a:t>من أنهى، فعنده تحدي النجمة على السبورة</a:t>
            </a:r>
            <a:pPr algn="r" indent="0" marL="0">
              <a:buNone/>
            </a:pPr>
            <a:r>
              <a:rPr lang="ar-SA" altLang="en-US" sz="2400" b="1" dirty="0">
                <a:solidFill>
                  <a:srgbClr val="D9AE4B"/>
                </a:solidFill>
                <a:latin typeface="Cairo" pitchFamily="34" charset="0"/>
                <a:ea typeface="Cairo" pitchFamily="34" charset="-122"/>
                <a:cs typeface="Cairo" pitchFamily="34" charset="-120"/>
              </a:rPr>
              <a:t> »</a:t>
            </a:r>
            <a:endParaRPr lang="ar-SA" sz="2400" dirty="0"/>
          </a:p>
        </p:txBody>
      </p:sp>
      <p:sp>
        <p:nvSpPr>
          <p:cNvPr id="13" name="anim-g3-1553"/>
          <p:cNvSpPr/>
          <p:nvPr/>
        </p:nvSpPr>
        <p:spPr>
          <a:xfrm>
            <a:off x="9768535" y="4751832"/>
            <a:ext cx="1600200" cy="1018032"/>
          </a:xfrm>
          <a:prstGeom prst="roundRect">
            <a:avLst>
              <a:gd name="adj" fmla="val 13473"/>
            </a:avLst>
          </a:prstGeom>
          <a:solidFill>
            <a:srgbClr val="E9EDF9"/>
          </a:solidFill>
          <a:ln/>
        </p:spPr>
      </p:sp>
      <p:sp>
        <p:nvSpPr>
          <p:cNvPr id="14" name="anim-g3-1554"/>
          <p:cNvSpPr/>
          <p:nvPr/>
        </p:nvSpPr>
        <p:spPr>
          <a:xfrm>
            <a:off x="9814255" y="4751832"/>
            <a:ext cx="1508760" cy="101803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المدير لأولياء الأمور</a:t>
            </a:r>
            <a:endParaRPr lang="ar-SA" sz="1800" dirty="0"/>
          </a:p>
        </p:txBody>
      </p:sp>
      <p:sp>
        <p:nvSpPr>
          <p:cNvPr id="15" name="anim-g3-1555"/>
          <p:cNvSpPr/>
          <p:nvPr/>
        </p:nvSpPr>
        <p:spPr>
          <a:xfrm>
            <a:off x="822960" y="4678680"/>
            <a:ext cx="8716975" cy="1164336"/>
          </a:xfrm>
          <a:prstGeom prst="roundRect">
            <a:avLst>
              <a:gd name="adj" fmla="val 17277"/>
            </a:avLst>
          </a:prstGeom>
          <a:solidFill>
            <a:srgbClr val="101B45"/>
          </a:solidFill>
          <a:ln/>
        </p:spPr>
      </p:sp>
      <p:sp>
        <p:nvSpPr>
          <p:cNvPr id="16" name="anim-g3-1556"/>
          <p:cNvSpPr/>
          <p:nvPr/>
        </p:nvSpPr>
        <p:spPr>
          <a:xfrm>
            <a:off x="1097280" y="4678680"/>
            <a:ext cx="8168335" cy="1164336"/>
          </a:xfrm>
          <a:prstGeom prst="rect">
            <a:avLst/>
          </a:prstGeom>
          <a:noFill/>
          <a:ln/>
        </p:spPr>
        <p:txBody>
          <a:bodyPr wrap="square" lIns="0" tIns="0" rIns="0" bIns="0" rtlCol="0" anchor="ctr">
            <a:normAutofit/>
          </a:bodyPr>
          <a:lstStyle/>
          <a:p>
            <a:pPr algn="r" indent="0" marL="0">
              <a:buNone/>
            </a:pPr>
            <a:r>
              <a:rPr lang="ar-SA" altLang="en-US" sz="2000" b="1" dirty="0">
                <a:solidFill>
                  <a:srgbClr val="D9AE4B"/>
                </a:solidFill>
                <a:latin typeface="Cairo" pitchFamily="34" charset="0"/>
                <a:ea typeface="Cairo" pitchFamily="34" charset="-122"/>
                <a:cs typeface="Cairo" pitchFamily="34" charset="-120"/>
              </a:rPr>
              <a:t>« </a:t>
            </a:r>
            <a:pPr algn="r" indent="0" marL="0">
              <a:buNone/>
            </a:pPr>
            <a:r>
              <a:rPr lang="ar-SA" altLang="en-US" sz="2000" b="1" dirty="0">
                <a:solidFill>
                  <a:srgbClr val="FFFFFF"/>
                </a:solidFill>
                <a:latin typeface="Cairo" pitchFamily="34" charset="0"/>
                <a:ea typeface="Cairo" pitchFamily="34" charset="-122"/>
                <a:cs typeface="Cairo" pitchFamily="34" charset="-120"/>
              </a:rPr>
              <a:t>حق أبنائكم محفوظ، وهذه خطتنا ليتقدم كل طالب بسرعته، وسنطلعكم على النتائج بعد شهر</a:t>
            </a:r>
            <a:pPr algn="r" indent="0" marL="0">
              <a:buNone/>
            </a:pPr>
            <a:r>
              <a:rPr lang="ar-SA" altLang="en-US" sz="2000" b="1" dirty="0">
                <a:solidFill>
                  <a:srgbClr val="D9AE4B"/>
                </a:solidFill>
                <a:latin typeface="Cairo" pitchFamily="34" charset="0"/>
                <a:ea typeface="Cairo" pitchFamily="34" charset="-122"/>
                <a:cs typeface="Cairo" pitchFamily="34" charset="-120"/>
              </a:rPr>
              <a:t> »</a:t>
            </a:r>
            <a:endParaRPr lang="ar-SA" sz="2000" dirty="0"/>
          </a:p>
        </p:txBody>
      </p:sp>
      <p:sp>
        <p:nvSpPr>
          <p:cNvPr id="17" name="Text 1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18" name="Text 1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هل مساعد المعلم مطلوب؟  ·  ١٤٢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143.xml><?xml version="1.0" encoding="utf-8"?>
<p:sld xmlns:a="http://schemas.openxmlformats.org/drawingml/2006/main" xmlns:r="http://schemas.openxmlformats.org/officeDocument/2006/relationships" xmlns:p="http://schemas.openxmlformats.org/presentationml/2006/main">
  <p:cSld name="Slide 14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5486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أخطاء شائعة… وبدائلها</a:t>
            </a:r>
            <a:endParaRPr lang="ar-SA" sz="3800" dirty="0"/>
          </a:p>
        </p:txBody>
      </p:sp>
      <p:sp>
        <p:nvSpPr>
          <p:cNvPr id="3" name="Text 1"/>
          <p:cNvSpPr/>
          <p:nvPr/>
        </p:nvSpPr>
        <p:spPr>
          <a:xfrm>
            <a:off x="6415888"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D64545"/>
                </a:solidFill>
                <a:latin typeface="Cairo Black" pitchFamily="34" charset="0"/>
                <a:ea typeface="Cairo Black" pitchFamily="34" charset="-122"/>
                <a:cs typeface="Cairo Black" pitchFamily="34" charset="-120"/>
              </a:rPr>
              <a:t>❌ الخطأ الشائع</a:t>
            </a:r>
            <a:endParaRPr lang="ar-SA" sz="2100" dirty="0"/>
          </a:p>
        </p:txBody>
      </p:sp>
      <p:sp>
        <p:nvSpPr>
          <p:cNvPr id="4" name="Text 2"/>
          <p:cNvSpPr/>
          <p:nvPr/>
        </p:nvSpPr>
        <p:spPr>
          <a:xfrm>
            <a:off x="822960"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2E9E6B"/>
                </a:solidFill>
                <a:latin typeface="Cairo Black" pitchFamily="34" charset="0"/>
                <a:ea typeface="Cairo Black" pitchFamily="34" charset="-122"/>
                <a:cs typeface="Cairo Black" pitchFamily="34" charset="-120"/>
              </a:rPr>
              <a:t>✅ البديل</a:t>
            </a:r>
            <a:endParaRPr lang="ar-SA" sz="2100" dirty="0"/>
          </a:p>
        </p:txBody>
      </p:sp>
      <p:sp>
        <p:nvSpPr>
          <p:cNvPr id="5" name="anim-g1-1557"/>
          <p:cNvSpPr/>
          <p:nvPr/>
        </p:nvSpPr>
        <p:spPr>
          <a:xfrm>
            <a:off x="6415888" y="2194560"/>
            <a:ext cx="4952848" cy="804672"/>
          </a:xfrm>
          <a:prstGeom prst="roundRect">
            <a:avLst>
              <a:gd name="adj" fmla="val 15909"/>
            </a:avLst>
          </a:prstGeom>
          <a:solidFill>
            <a:srgbClr val="FBECEC"/>
          </a:solidFill>
          <a:ln/>
        </p:spPr>
      </p:sp>
      <p:sp>
        <p:nvSpPr>
          <p:cNvPr id="6" name="anim-g1-1558"/>
          <p:cNvSpPr/>
          <p:nvPr/>
        </p:nvSpPr>
        <p:spPr>
          <a:xfrm>
            <a:off x="6644488"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إعادة الشرح كاملًا للفصل كله</a:t>
            </a:r>
            <a:endParaRPr lang="ar-SA" sz="2200" dirty="0"/>
          </a:p>
        </p:txBody>
      </p:sp>
      <p:sp>
        <p:nvSpPr>
          <p:cNvPr id="7" name="anim-g1-1559"/>
          <p:cNvSpPr/>
          <p:nvPr/>
        </p:nvSpPr>
        <p:spPr>
          <a:xfrm>
            <a:off x="822960" y="2194560"/>
            <a:ext cx="4952848" cy="804672"/>
          </a:xfrm>
          <a:prstGeom prst="roundRect">
            <a:avLst>
              <a:gd name="adj" fmla="val 15909"/>
            </a:avLst>
          </a:prstGeom>
          <a:solidFill>
            <a:srgbClr val="FFFFFF"/>
          </a:solidFill>
          <a:ln w="19050">
            <a:solidFill>
              <a:srgbClr val="BFD9CB"/>
            </a:solidFill>
            <a:prstDash val="dash"/>
          </a:ln>
        </p:spPr>
      </p:sp>
      <p:sp>
        <p:nvSpPr>
          <p:cNvPr id="8" name="anim-g1-1560"/>
          <p:cNvSpPr/>
          <p:nvPr/>
        </p:nvSpPr>
        <p:spPr>
          <a:xfrm>
            <a:off x="822960" y="219456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9" name="anim-g2-1561"/>
          <p:cNvSpPr/>
          <p:nvPr/>
        </p:nvSpPr>
        <p:spPr>
          <a:xfrm>
            <a:off x="5775808" y="219456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0" name="anim-g2-1562"/>
          <p:cNvSpPr/>
          <p:nvPr/>
        </p:nvSpPr>
        <p:spPr>
          <a:xfrm>
            <a:off x="822960" y="2194560"/>
            <a:ext cx="4952848" cy="804672"/>
          </a:xfrm>
          <a:prstGeom prst="roundRect">
            <a:avLst>
              <a:gd name="adj" fmla="val 15909"/>
            </a:avLst>
          </a:prstGeom>
          <a:solidFill>
            <a:srgbClr val="E6F4EC"/>
          </a:solidFill>
          <a:ln/>
        </p:spPr>
      </p:sp>
      <p:sp>
        <p:nvSpPr>
          <p:cNvPr id="11" name="anim-g2-1563"/>
          <p:cNvSpPr/>
          <p:nvPr/>
        </p:nvSpPr>
        <p:spPr>
          <a:xfrm>
            <a:off x="1051560"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دعم فردي أثناء العمل المستقل</a:t>
            </a:r>
            <a:endParaRPr lang="ar-SA" sz="2200" dirty="0"/>
          </a:p>
        </p:txBody>
      </p:sp>
      <p:sp>
        <p:nvSpPr>
          <p:cNvPr id="12" name="anim-g3-1564"/>
          <p:cNvSpPr/>
          <p:nvPr/>
        </p:nvSpPr>
        <p:spPr>
          <a:xfrm>
            <a:off x="6415888" y="3154680"/>
            <a:ext cx="4952848" cy="804672"/>
          </a:xfrm>
          <a:prstGeom prst="roundRect">
            <a:avLst>
              <a:gd name="adj" fmla="val 15909"/>
            </a:avLst>
          </a:prstGeom>
          <a:solidFill>
            <a:srgbClr val="FBECEC"/>
          </a:solidFill>
          <a:ln/>
        </p:spPr>
      </p:sp>
      <p:sp>
        <p:nvSpPr>
          <p:cNvPr id="13" name="anim-g3-1565"/>
          <p:cNvSpPr/>
          <p:nvPr/>
        </p:nvSpPr>
        <p:spPr>
          <a:xfrm>
            <a:off x="6644488"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نقل الطالب إرضاءً للأهل</a:t>
            </a:r>
            <a:endParaRPr lang="ar-SA" sz="2200" dirty="0"/>
          </a:p>
        </p:txBody>
      </p:sp>
      <p:sp>
        <p:nvSpPr>
          <p:cNvPr id="14" name="anim-g3-1566"/>
          <p:cNvSpPr/>
          <p:nvPr/>
        </p:nvSpPr>
        <p:spPr>
          <a:xfrm>
            <a:off x="822960" y="3154680"/>
            <a:ext cx="4952848" cy="804672"/>
          </a:xfrm>
          <a:prstGeom prst="roundRect">
            <a:avLst>
              <a:gd name="adj" fmla="val 15909"/>
            </a:avLst>
          </a:prstGeom>
          <a:solidFill>
            <a:srgbClr val="FFFFFF"/>
          </a:solidFill>
          <a:ln w="19050">
            <a:solidFill>
              <a:srgbClr val="BFD9CB"/>
            </a:solidFill>
            <a:prstDash val="dash"/>
          </a:ln>
        </p:spPr>
      </p:sp>
      <p:sp>
        <p:nvSpPr>
          <p:cNvPr id="15" name="anim-g3-1567"/>
          <p:cNvSpPr/>
          <p:nvPr/>
        </p:nvSpPr>
        <p:spPr>
          <a:xfrm>
            <a:off x="822960" y="315468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16" name="anim-g4-1568"/>
          <p:cNvSpPr/>
          <p:nvPr/>
        </p:nvSpPr>
        <p:spPr>
          <a:xfrm>
            <a:off x="5775808" y="315468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7" name="anim-g4-1569"/>
          <p:cNvSpPr/>
          <p:nvPr/>
        </p:nvSpPr>
        <p:spPr>
          <a:xfrm>
            <a:off x="822960" y="3154680"/>
            <a:ext cx="4952848" cy="804672"/>
          </a:xfrm>
          <a:prstGeom prst="roundRect">
            <a:avLst>
              <a:gd name="adj" fmla="val 15909"/>
            </a:avLst>
          </a:prstGeom>
          <a:solidFill>
            <a:srgbClr val="E6F4EC"/>
          </a:solidFill>
          <a:ln/>
        </p:spPr>
      </p:sp>
      <p:sp>
        <p:nvSpPr>
          <p:cNvPr id="18" name="anim-g4-1570"/>
          <p:cNvSpPr/>
          <p:nvPr/>
        </p:nvSpPr>
        <p:spPr>
          <a:xfrm>
            <a:off x="1051560"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خطة واضحة تُشرح للأهل</a:t>
            </a:r>
            <a:endParaRPr lang="ar-SA" sz="2200" dirty="0"/>
          </a:p>
        </p:txBody>
      </p:sp>
      <p:sp>
        <p:nvSpPr>
          <p:cNvPr id="19" name="anim-g5-1571"/>
          <p:cNvSpPr/>
          <p:nvPr/>
        </p:nvSpPr>
        <p:spPr>
          <a:xfrm>
            <a:off x="6415888" y="4114800"/>
            <a:ext cx="4952848" cy="804672"/>
          </a:xfrm>
          <a:prstGeom prst="roundRect">
            <a:avLst>
              <a:gd name="adj" fmla="val 15909"/>
            </a:avLst>
          </a:prstGeom>
          <a:solidFill>
            <a:srgbClr val="FBECEC"/>
          </a:solidFill>
          <a:ln/>
        </p:spPr>
      </p:sp>
      <p:sp>
        <p:nvSpPr>
          <p:cNvPr id="20" name="anim-g5-1572"/>
          <p:cNvSpPr/>
          <p:nvPr/>
        </p:nvSpPr>
        <p:spPr>
          <a:xfrm>
            <a:off x="6644488"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انتظار المتقدمين بلا عمل</a:t>
            </a:r>
            <a:endParaRPr lang="ar-SA" sz="2200" dirty="0"/>
          </a:p>
        </p:txBody>
      </p:sp>
      <p:sp>
        <p:nvSpPr>
          <p:cNvPr id="21" name="anim-g5-1573"/>
          <p:cNvSpPr/>
          <p:nvPr/>
        </p:nvSpPr>
        <p:spPr>
          <a:xfrm>
            <a:off x="822960" y="4114800"/>
            <a:ext cx="4952848" cy="804672"/>
          </a:xfrm>
          <a:prstGeom prst="roundRect">
            <a:avLst>
              <a:gd name="adj" fmla="val 15909"/>
            </a:avLst>
          </a:prstGeom>
          <a:solidFill>
            <a:srgbClr val="FFFFFF"/>
          </a:solidFill>
          <a:ln w="19050">
            <a:solidFill>
              <a:srgbClr val="BFD9CB"/>
            </a:solidFill>
            <a:prstDash val="dash"/>
          </a:ln>
        </p:spPr>
      </p:sp>
      <p:sp>
        <p:nvSpPr>
          <p:cNvPr id="22" name="anim-g5-1574"/>
          <p:cNvSpPr/>
          <p:nvPr/>
        </p:nvSpPr>
        <p:spPr>
          <a:xfrm>
            <a:off x="822960" y="411480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23" name="anim-g6-1575"/>
          <p:cNvSpPr/>
          <p:nvPr/>
        </p:nvSpPr>
        <p:spPr>
          <a:xfrm>
            <a:off x="5775808" y="411480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24" name="anim-g6-1576"/>
          <p:cNvSpPr/>
          <p:nvPr/>
        </p:nvSpPr>
        <p:spPr>
          <a:xfrm>
            <a:off x="822960" y="4114800"/>
            <a:ext cx="4952848" cy="804672"/>
          </a:xfrm>
          <a:prstGeom prst="roundRect">
            <a:avLst>
              <a:gd name="adj" fmla="val 15909"/>
            </a:avLst>
          </a:prstGeom>
          <a:solidFill>
            <a:srgbClr val="E6F4EC"/>
          </a:solidFill>
          <a:ln/>
        </p:spPr>
      </p:sp>
      <p:sp>
        <p:nvSpPr>
          <p:cNvPr id="25" name="anim-g6-1577"/>
          <p:cNvSpPr/>
          <p:nvPr/>
        </p:nvSpPr>
        <p:spPr>
          <a:xfrm>
            <a:off x="1051560"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مهام إثرائية جاهزة دائمًا</a:t>
            </a:r>
            <a:endParaRPr lang="ar-SA" sz="2200" dirty="0"/>
          </a:p>
        </p:txBody>
      </p:sp>
      <p:sp>
        <p:nvSpPr>
          <p:cNvPr id="26" name="Text 24"/>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7" name="Text 25"/>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هل مساعد المعلم مطلوب؟  ·  ١٤٣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0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400"/>
                                        <p:tgtEl>
                                          <p:spTgt spid="1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400"/>
                                        <p:tgtEl>
                                          <p:spTgt spid="2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400"/>
                                        <p:tgtEl>
                                          <p:spTgt spid="2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400"/>
                                        <p:tgtEl>
                                          <p:spTgt spid="2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144.xml><?xml version="1.0" encoding="utf-8"?>
<p:sld xmlns:a="http://schemas.openxmlformats.org/drawingml/2006/main" xmlns:r="http://schemas.openxmlformats.org/officeDocument/2006/relationships" xmlns:p="http://schemas.openxmlformats.org/presentationml/2006/main">
  <p:cSld name="Slide 1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الموقف</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فصل واحد…</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وسرعات متعددة. هذا هو التدريس الحقيقي</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موقف: هل مساعد المعلم مطلوب؟  ·  ١٤٤</a:t>
            </a:r>
            <a:endParaRPr lang="ar-SA" sz="120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٨</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المحطة ٨</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مواقف العصر الرقمي</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مشكلات لم تكن في كتبنا… وتحدث في فصولنا كل يوم</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مواقف العصر الرقمي  ·  ١٤٥</a:t>
            </a:r>
            <a:endParaRPr lang="ar-SA" sz="120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kb-1578" descr="/Users/mac/Desktop/أردوينو/المشاريع والكتب/younes-training/mawaqif/assets/scenes/phone.jpg">    </p:cNvPr>
          <p:cNvPicPr>
            <a:picLocks noChangeAspect="1"/>
          </p:cNvPicPr>
          <p:nvPr/>
        </p:nvPicPr>
        <p:blipFill>
          <a:blip r:embed="rId2"/>
          <a:stretch>
            <a:fillRect/>
          </a:stretch>
        </p:blipFill>
        <p:spPr>
          <a:xfrm>
            <a:off x="0" y="0"/>
            <a:ext cx="12191695" cy="6858000"/>
          </a:xfrm>
          <a:prstGeom prst="rect">
            <a:avLst/>
          </a:prstGeom>
        </p:spPr>
      </p:pic>
      <p:pic>
        <p:nvPicPr>
          <p:cNvPr id="3" name="Image 1" descr="/Users/mac/Desktop/أردوينو/المشاريع والكتب/younes-training/shared/assets/mcover-overlay.png">    </p:cNvPr>
          <p:cNvPicPr>
            <a:picLocks noChangeAspect="1"/>
          </p:cNvPicPr>
          <p:nvPr/>
        </p:nvPicPr>
        <p:blipFill>
          <a:blip r:embed="rId3"/>
          <a:stretch>
            <a:fillRect/>
          </a:stretch>
        </p:blipFill>
        <p:spPr>
          <a:xfrm>
            <a:off x="0" y="0"/>
            <a:ext cx="12191695" cy="6858000"/>
          </a:xfrm>
          <a:prstGeom prst="rect">
            <a:avLst/>
          </a:prstGeom>
        </p:spPr>
      </p:pic>
      <p:sp>
        <p:nvSpPr>
          <p:cNvPr id="4" name="Text 0"/>
          <p:cNvSpPr/>
          <p:nvPr/>
        </p:nvSpPr>
        <p:spPr>
          <a:xfrm>
            <a:off x="5669280" y="1737360"/>
            <a:ext cx="5699455" cy="502920"/>
          </a:xfrm>
          <a:prstGeom prst="rect">
            <a:avLst/>
          </a:prstGeom>
          <a:noFill/>
          <a:ln/>
        </p:spPr>
        <p:txBody>
          <a:bodyPr wrap="square" lIns="0" tIns="0" rIns="0" bIns="0" rtlCol="0" anchor="ctr">
            <a:normAutofit/>
          </a:bodyPr>
          <a:lstStyle/>
          <a:p>
            <a:pPr rtl="1" algn="r" indent="0" marL="0">
              <a:buNone/>
            </a:pPr>
            <a:r>
              <a:rPr lang="ar-SA" altLang="en-US" sz="2200" b="1" dirty="0">
                <a:solidFill>
                  <a:srgbClr val="D9AE4B"/>
                </a:solidFill>
                <a:latin typeface="Cairo" pitchFamily="34" charset="0"/>
                <a:ea typeface="Cairo" pitchFamily="34" charset="-122"/>
                <a:cs typeface="Cairo" pitchFamily="34" charset="-120"/>
              </a:rPr>
              <a:t>مواقف العصر الرقمي</a:t>
            </a:r>
            <a:endParaRPr lang="ar-SA" sz="2200" dirty="0"/>
          </a:p>
        </p:txBody>
      </p:sp>
      <p:sp>
        <p:nvSpPr>
          <p:cNvPr id="5" name="Text 1"/>
          <p:cNvSpPr/>
          <p:nvPr/>
        </p:nvSpPr>
        <p:spPr>
          <a:xfrm>
            <a:off x="5669280" y="2286000"/>
            <a:ext cx="5699455" cy="548640"/>
          </a:xfrm>
          <a:prstGeom prst="rect">
            <a:avLst/>
          </a:prstGeom>
          <a:noFill/>
          <a:ln/>
        </p:spPr>
        <p:txBody>
          <a:bodyPr wrap="square" lIns="0" tIns="0" rIns="0" bIns="0" rtlCol="0" anchor="ctr">
            <a:normAutofit/>
          </a:bodyPr>
          <a:lstStyle/>
          <a:p>
            <a:pPr rtl="1" algn="r" indent="0" marL="0">
              <a:buNone/>
            </a:pPr>
            <a:r>
              <a:rPr lang="ar-SA" altLang="en-US" sz="2600" b="1" dirty="0">
                <a:solidFill>
                  <a:srgbClr val="C9CFE6"/>
                </a:solidFill>
                <a:latin typeface="Cairo" pitchFamily="34" charset="0"/>
                <a:ea typeface="Cairo" pitchFamily="34" charset="-122"/>
                <a:cs typeface="Cairo" pitchFamily="34" charset="-120"/>
              </a:rPr>
              <a:t>الموقف ١١</a:t>
            </a:r>
            <a:endParaRPr lang="ar-SA" sz="2600" dirty="0"/>
          </a:p>
        </p:txBody>
      </p:sp>
      <p:sp>
        <p:nvSpPr>
          <p:cNvPr id="6" name="Text 2"/>
          <p:cNvSpPr/>
          <p:nvPr/>
        </p:nvSpPr>
        <p:spPr>
          <a:xfrm>
            <a:off x="4572000" y="2834640"/>
            <a:ext cx="6796735" cy="1188720"/>
          </a:xfrm>
          <a:prstGeom prst="rect">
            <a:avLst/>
          </a:prstGeom>
          <a:noFill/>
          <a:ln/>
        </p:spPr>
        <p:txBody>
          <a:bodyPr wrap="square" lIns="0" tIns="0" rIns="0" bIns="0" rtlCol="0" anchor="ctr">
            <a:normAutofit/>
          </a:bodyPr>
          <a:lstStyle/>
          <a:p>
            <a:pPr rtl="1" algn="r" indent="0" marL="0">
              <a:buNone/>
            </a:pPr>
            <a:r>
              <a:rPr lang="ar-SA" altLang="en-US" sz="5000" dirty="0">
                <a:solidFill>
                  <a:srgbClr val="FFFFFF"/>
                </a:solidFill>
                <a:latin typeface="Cairo Black" pitchFamily="34" charset="0"/>
                <a:ea typeface="Cairo Black" pitchFamily="34" charset="-122"/>
                <a:cs typeface="Cairo Black" pitchFamily="34" charset="-120"/>
              </a:rPr>
              <a:t>شاشة تحت الطاولة</a:t>
            </a:r>
            <a:endParaRPr lang="ar-SA" sz="5000" dirty="0"/>
          </a:p>
        </p:txBody>
      </p:sp>
      <p:sp>
        <p:nvSpPr>
          <p:cNvPr id="7" name="Shape 3"/>
          <p:cNvSpPr/>
          <p:nvPr/>
        </p:nvSpPr>
        <p:spPr>
          <a:xfrm>
            <a:off x="10125151" y="4480560"/>
            <a:ext cx="1243584"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8" name="Text 4"/>
          <p:cNvSpPr/>
          <p:nvPr/>
        </p:nvSpPr>
        <p:spPr>
          <a:xfrm>
            <a:off x="10125151" y="4480560"/>
            <a:ext cx="1243584"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القصة</a:t>
            </a:r>
            <a:endParaRPr lang="ar-SA" sz="1500" dirty="0"/>
          </a:p>
        </p:txBody>
      </p:sp>
      <p:sp>
        <p:nvSpPr>
          <p:cNvPr id="9" name="Shape 5"/>
          <p:cNvSpPr/>
          <p:nvPr/>
        </p:nvSpPr>
        <p:spPr>
          <a:xfrm>
            <a:off x="8680399" y="4480560"/>
            <a:ext cx="1353312"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0" name="Text 6"/>
          <p:cNvSpPr/>
          <p:nvPr/>
        </p:nvSpPr>
        <p:spPr>
          <a:xfrm>
            <a:off x="8680399" y="4480560"/>
            <a:ext cx="1353312"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تصويت</a:t>
            </a:r>
            <a:endParaRPr lang="ar-SA" sz="1500" dirty="0"/>
          </a:p>
        </p:txBody>
      </p:sp>
      <p:sp>
        <p:nvSpPr>
          <p:cNvPr id="11" name="Shape 7"/>
          <p:cNvSpPr/>
          <p:nvPr/>
        </p:nvSpPr>
        <p:spPr>
          <a:xfrm>
            <a:off x="7235647" y="4480560"/>
            <a:ext cx="1353312"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2" name="Text 8"/>
          <p:cNvSpPr/>
          <p:nvPr/>
        </p:nvSpPr>
        <p:spPr>
          <a:xfrm>
            <a:off x="7235647" y="4480560"/>
            <a:ext cx="1353312"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لماذا؟</a:t>
            </a:r>
            <a:endParaRPr lang="ar-SA" sz="1500" dirty="0"/>
          </a:p>
        </p:txBody>
      </p:sp>
      <p:sp>
        <p:nvSpPr>
          <p:cNvPr id="13" name="Shape 9"/>
          <p:cNvSpPr/>
          <p:nvPr/>
        </p:nvSpPr>
        <p:spPr>
          <a:xfrm>
            <a:off x="5571439" y="4480560"/>
            <a:ext cx="1572768"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4" name="Text 10"/>
          <p:cNvSpPr/>
          <p:nvPr/>
        </p:nvSpPr>
        <p:spPr>
          <a:xfrm>
            <a:off x="5571439" y="4480560"/>
            <a:ext cx="1572768"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أول خطوة</a:t>
            </a:r>
            <a:endParaRPr lang="ar-SA" sz="1500" dirty="0"/>
          </a:p>
        </p:txBody>
      </p:sp>
      <p:sp>
        <p:nvSpPr>
          <p:cNvPr id="15" name="Shape 11"/>
          <p:cNvSpPr/>
          <p:nvPr/>
        </p:nvSpPr>
        <p:spPr>
          <a:xfrm>
            <a:off x="3687775" y="4480560"/>
            <a:ext cx="1792224"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6" name="Text 12"/>
          <p:cNvSpPr/>
          <p:nvPr/>
        </p:nvSpPr>
        <p:spPr>
          <a:xfrm>
            <a:off x="3687775" y="4480560"/>
            <a:ext cx="1792224"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ماذا تقول؟</a:t>
            </a:r>
            <a:endParaRPr lang="ar-SA" sz="1500" dirty="0"/>
          </a:p>
        </p:txBody>
      </p:sp>
      <p:sp>
        <p:nvSpPr>
          <p:cNvPr id="17" name="Text 1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18" name="Text 1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موقف: شاشة تحت الطاولة  ·  ١٤٦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16000" fill="hold"/>
                                        <p:tgtEl>
                                          <p:spTgt spid="2"/>
                                        </p:tgtEl>
                                      </p:cBhvr>
                                      <p:by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name="Slide 14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kb-1579" descr="/Users/mac/Desktop/أردوينو/المشاريع والكتب/younes-training/mawaqif/assets/scenes/phone.jpg">    </p:cNvPr>
          <p:cNvPicPr>
            <a:picLocks noChangeAspect="1"/>
          </p:cNvPicPr>
          <p:nvPr/>
        </p:nvPicPr>
        <p:blipFill>
          <a:blip r:embed="rId2"/>
          <a:stretch>
            <a:fillRect/>
          </a:stretch>
        </p:blipFill>
        <p:spPr>
          <a:xfrm>
            <a:off x="0" y="0"/>
            <a:ext cx="12191695" cy="6858000"/>
          </a:xfrm>
          <a:prstGeom prst="rect">
            <a:avLst/>
          </a:prstGeom>
        </p:spPr>
      </p:pic>
      <p:pic>
        <p:nvPicPr>
          <p:cNvPr id="3" name="Image 1" descr="/Users/mac/Desktop/أردوينو/المشاريع والكتب/younes-training/shared/assets/story-overlay.png">    </p:cNvPr>
          <p:cNvPicPr>
            <a:picLocks noChangeAspect="1"/>
          </p:cNvPicPr>
          <p:nvPr/>
        </p:nvPicPr>
        <p:blipFill>
          <a:blip r:embed="rId3"/>
          <a:stretch>
            <a:fillRect/>
          </a:stretch>
        </p:blipFill>
        <p:spPr>
          <a:xfrm>
            <a:off x="0" y="0"/>
            <a:ext cx="12191695" cy="6858000"/>
          </a:xfrm>
          <a:prstGeom prst="rect">
            <a:avLst/>
          </a:prstGeom>
        </p:spPr>
      </p:pic>
      <p:sp>
        <p:nvSpPr>
          <p:cNvPr id="4" name="Shape 0"/>
          <p:cNvSpPr/>
          <p:nvPr/>
        </p:nvSpPr>
        <p:spPr>
          <a:xfrm>
            <a:off x="7985455" y="365760"/>
            <a:ext cx="3657600" cy="502920"/>
          </a:xfrm>
          <a:prstGeom prst="roundRect">
            <a:avLst>
              <a:gd name="adj" fmla="val 49091"/>
            </a:avLst>
          </a:prstGeom>
          <a:solidFill>
            <a:srgbClr val="0A1230">
              <a:alpha val="80000"/>
            </a:srgbClr>
          </a:solidFill>
          <a:ln w="12700">
            <a:solidFill>
              <a:srgbClr val="D9AE4B">
                <a:alpha val="60000"/>
              </a:srgbClr>
            </a:solidFill>
            <a:prstDash val="solid"/>
          </a:ln>
        </p:spPr>
      </p:sp>
      <p:sp>
        <p:nvSpPr>
          <p:cNvPr id="5" name="Text 1"/>
          <p:cNvSpPr/>
          <p:nvPr/>
        </p:nvSpPr>
        <p:spPr>
          <a:xfrm>
            <a:off x="7985455" y="365760"/>
            <a:ext cx="3657600" cy="50292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 القصة · ماذا حدث؟</a:t>
            </a:r>
            <a:endParaRPr lang="ar-SA" sz="1800" dirty="0"/>
          </a:p>
        </p:txBody>
      </p:sp>
      <p:sp>
        <p:nvSpPr>
          <p:cNvPr id="6" name="Shape 2"/>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7" name="Text 3"/>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في منتصف الشرح، لاحظ أ. سامي أن يزن (الثاني المتوسط) يخفض رأسه باستمرار، وضوء خافت يلمع من تحت الطاولة، وهو يبتسم.</a:t>
            </a:r>
            <a:endParaRPr lang="ar-SA" sz="2400" dirty="0"/>
          </a:p>
        </p:txBody>
      </p:sp>
      <p:sp>
        <p:nvSpPr>
          <p:cNvPr id="8" name="anim-g1-1580"/>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9" name="anim-g1-1581"/>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سأله: «يزن، ماذا معك؟». ردّ: «لا شيء يا أستاذ». فضحك بعض زملائه.</a:t>
            </a:r>
            <a:endParaRPr lang="ar-SA" sz="2400" dirty="0"/>
          </a:p>
        </p:txBody>
      </p:sp>
      <p:sp>
        <p:nvSpPr>
          <p:cNvPr id="10" name="anim-g2-1582"/>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11" name="anim-g2-1583"/>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اقترب أ. سامي وقال بصوت عالٍ: «هات الجوال فورًا!». فأمسك يزن جواله بقوة وقال أمام الجميع: «لن أعطيك جوالي!».</a:t>
            </a:r>
            <a:endParaRPr lang="ar-SA" sz="2400" dirty="0"/>
          </a:p>
        </p:txBody>
      </p:sp>
      <p:sp>
        <p:nvSpPr>
          <p:cNvPr id="12" name="anim-g3-1584"/>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13" name="anim-g3-1585"/>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600" b="1" dirty="0">
                <a:solidFill>
                  <a:srgbClr val="F0CC7A"/>
                </a:solidFill>
                <a:latin typeface="Cairo" pitchFamily="34" charset="0"/>
                <a:ea typeface="Cairo" pitchFamily="34" charset="-122"/>
                <a:cs typeface="Cairo" pitchFamily="34" charset="-120"/>
              </a:rPr>
              <a:t>ساد صمت ثقيل… وثلاثون طالبًا ينظرون: من سيتراجع؟</a:t>
            </a:r>
            <a:endParaRPr lang="ar-SA" sz="2600" dirty="0"/>
          </a:p>
        </p:txBody>
      </p:sp>
      <p:sp>
        <p:nvSpPr>
          <p:cNvPr id="14" name="Text 1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15" name="Text 1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موقف: شاشة تحت الطاولة  ·  ١٤٧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16000" fill="hold"/>
                                        <p:tgtEl>
                                          <p:spTgt spid="2"/>
                                        </p:tgtEl>
                                      </p:cBhvr>
                                      <p:by x="112000" y="112000"/>
                                    </p:animScale>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Lst>
  </p:timing>
</p:sld>
</file>

<file path=ppt/slides/slide148.xml><?xml version="1.0" encoding="utf-8"?>
<p:sld xmlns:a="http://schemas.openxmlformats.org/drawingml/2006/main" xmlns:r="http://schemas.openxmlformats.org/officeDocument/2006/relationships" xmlns:p="http://schemas.openxmlformats.org/presentationml/2006/main">
  <p:cSld name="Slide 14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296351" y="457200"/>
            <a:ext cx="3072384" cy="457200"/>
          </a:xfrm>
          <a:prstGeom prst="roundRect">
            <a:avLst>
              <a:gd name="adj" fmla="val 50000"/>
            </a:avLst>
          </a:prstGeom>
          <a:solidFill>
            <a:srgbClr val="F6EBCF"/>
          </a:solidFill>
          <a:ln/>
        </p:spPr>
      </p:sp>
      <p:sp>
        <p:nvSpPr>
          <p:cNvPr id="3" name="Text 1"/>
          <p:cNvSpPr/>
          <p:nvPr/>
        </p:nvSpPr>
        <p:spPr>
          <a:xfrm>
            <a:off x="8296351" y="457200"/>
            <a:ext cx="307238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صوّت قبل أن نكشف</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لو كنت مكان أ. سامي الآن… ماذا تفعل؟</a:t>
            </a:r>
            <a:endParaRPr lang="ar-SA" sz="3200" dirty="0"/>
          </a:p>
        </p:txBody>
      </p:sp>
      <p:sp>
        <p:nvSpPr>
          <p:cNvPr id="5" name="Shape 3"/>
          <p:cNvSpPr/>
          <p:nvPr/>
        </p:nvSpPr>
        <p:spPr>
          <a:xfrm>
            <a:off x="822960" y="2057400"/>
            <a:ext cx="10545775" cy="884682"/>
          </a:xfrm>
          <a:prstGeom prst="roundRect">
            <a:avLst>
              <a:gd name="adj" fmla="val 16537"/>
            </a:avLst>
          </a:prstGeom>
          <a:solidFill>
            <a:srgbClr val="FFFFFF"/>
          </a:solidFill>
          <a:ln w="19050">
            <a:solidFill>
              <a:srgbClr val="E4DCC8"/>
            </a:solidFill>
            <a:prstDash val="solid"/>
          </a:ln>
        </p:spPr>
      </p:sp>
      <p:sp>
        <p:nvSpPr>
          <p:cNvPr id="6" name="Shape 4"/>
          <p:cNvSpPr/>
          <p:nvPr/>
        </p:nvSpPr>
        <p:spPr>
          <a:xfrm>
            <a:off x="10575493" y="2194560"/>
            <a:ext cx="610362" cy="610362"/>
          </a:xfrm>
          <a:prstGeom prst="roundRect">
            <a:avLst>
              <a:gd name="adj" fmla="val 17978"/>
            </a:avLst>
          </a:prstGeom>
          <a:solidFill>
            <a:srgbClr val="101B45"/>
          </a:solidFill>
          <a:ln/>
        </p:spPr>
      </p:sp>
      <p:sp>
        <p:nvSpPr>
          <p:cNvPr id="7" name="Text 5"/>
          <p:cNvSpPr/>
          <p:nvPr/>
        </p:nvSpPr>
        <p:spPr>
          <a:xfrm>
            <a:off x="10575493" y="2194560"/>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أ</a:t>
            </a:r>
            <a:endParaRPr lang="ar-SA" sz="2000" dirty="0"/>
          </a:p>
        </p:txBody>
      </p:sp>
      <p:sp>
        <p:nvSpPr>
          <p:cNvPr id="8" name="Text 6"/>
          <p:cNvSpPr/>
          <p:nvPr/>
        </p:nvSpPr>
        <p:spPr>
          <a:xfrm>
            <a:off x="1097280" y="2057400"/>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أُصرّ على أخذ الجوال فورًا حتى لا تسقط هيبتي</a:t>
            </a:r>
            <a:endParaRPr lang="ar-SA" sz="2200" dirty="0"/>
          </a:p>
        </p:txBody>
      </p:sp>
      <p:sp>
        <p:nvSpPr>
          <p:cNvPr id="9" name="anim-g1-1586"/>
          <p:cNvSpPr/>
          <p:nvPr/>
        </p:nvSpPr>
        <p:spPr>
          <a:xfrm>
            <a:off x="822960" y="2057400"/>
            <a:ext cx="10545775" cy="884682"/>
          </a:xfrm>
          <a:prstGeom prst="roundRect">
            <a:avLst>
              <a:gd name="adj" fmla="val 16537"/>
            </a:avLst>
          </a:prstGeom>
          <a:solidFill>
            <a:srgbClr val="F7F7F9"/>
          </a:solidFill>
          <a:ln w="19050">
            <a:solidFill>
              <a:srgbClr val="E4DCC8"/>
            </a:solidFill>
            <a:prstDash val="solid"/>
          </a:ln>
        </p:spPr>
      </p:sp>
      <p:sp>
        <p:nvSpPr>
          <p:cNvPr id="10" name="anim-g1-1587"/>
          <p:cNvSpPr/>
          <p:nvPr/>
        </p:nvSpPr>
        <p:spPr>
          <a:xfrm>
            <a:off x="10575493" y="2194560"/>
            <a:ext cx="610362" cy="610362"/>
          </a:xfrm>
          <a:prstGeom prst="roundRect">
            <a:avLst>
              <a:gd name="adj" fmla="val 17978"/>
            </a:avLst>
          </a:prstGeom>
          <a:solidFill>
            <a:srgbClr val="A3A9BA"/>
          </a:solidFill>
          <a:ln/>
        </p:spPr>
      </p:sp>
      <p:sp>
        <p:nvSpPr>
          <p:cNvPr id="11" name="anim-g1-1588"/>
          <p:cNvSpPr/>
          <p:nvPr/>
        </p:nvSpPr>
        <p:spPr>
          <a:xfrm>
            <a:off x="10575493" y="2194560"/>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أ</a:t>
            </a:r>
            <a:endParaRPr lang="ar-SA" sz="2000" dirty="0"/>
          </a:p>
        </p:txBody>
      </p:sp>
      <p:sp>
        <p:nvSpPr>
          <p:cNvPr id="12" name="anim-g1-1589"/>
          <p:cNvSpPr/>
          <p:nvPr/>
        </p:nvSpPr>
        <p:spPr>
          <a:xfrm>
            <a:off x="1097280" y="2093976"/>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أُصرّ على أخذ الجوال فورًا حتى لا تسقط هيبتي</a:t>
            </a:r>
            <a:endParaRPr lang="ar-SA" sz="2200" dirty="0"/>
          </a:p>
        </p:txBody>
      </p:sp>
      <p:sp>
        <p:nvSpPr>
          <p:cNvPr id="13" name="anim-g1-1590"/>
          <p:cNvSpPr/>
          <p:nvPr/>
        </p:nvSpPr>
        <p:spPr>
          <a:xfrm>
            <a:off x="1097280" y="2535128"/>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الإصرار أمام الجمهور يجعل تراجع الطالب هزيمة علنية، فيتمسك أكثر</a:t>
            </a:r>
            <a:endParaRPr lang="ar-SA" sz="1800" dirty="0"/>
          </a:p>
        </p:txBody>
      </p:sp>
      <p:sp>
        <p:nvSpPr>
          <p:cNvPr id="14" name="Shape 12"/>
          <p:cNvSpPr/>
          <p:nvPr/>
        </p:nvSpPr>
        <p:spPr>
          <a:xfrm>
            <a:off x="822960" y="3088386"/>
            <a:ext cx="10545775" cy="884682"/>
          </a:xfrm>
          <a:prstGeom prst="roundRect">
            <a:avLst>
              <a:gd name="adj" fmla="val 16537"/>
            </a:avLst>
          </a:prstGeom>
          <a:solidFill>
            <a:srgbClr val="FFFFFF"/>
          </a:solidFill>
          <a:ln w="19050">
            <a:solidFill>
              <a:srgbClr val="E4DCC8"/>
            </a:solidFill>
            <a:prstDash val="solid"/>
          </a:ln>
        </p:spPr>
      </p:sp>
      <p:sp>
        <p:nvSpPr>
          <p:cNvPr id="15" name="Shape 13"/>
          <p:cNvSpPr/>
          <p:nvPr/>
        </p:nvSpPr>
        <p:spPr>
          <a:xfrm>
            <a:off x="10575493" y="3225546"/>
            <a:ext cx="610362" cy="610362"/>
          </a:xfrm>
          <a:prstGeom prst="roundRect">
            <a:avLst>
              <a:gd name="adj" fmla="val 17978"/>
            </a:avLst>
          </a:prstGeom>
          <a:solidFill>
            <a:srgbClr val="101B45"/>
          </a:solidFill>
          <a:ln/>
        </p:spPr>
      </p:sp>
      <p:sp>
        <p:nvSpPr>
          <p:cNvPr id="16" name="Text 14"/>
          <p:cNvSpPr/>
          <p:nvPr/>
        </p:nvSpPr>
        <p:spPr>
          <a:xfrm>
            <a:off x="10575493" y="3225546"/>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ب</a:t>
            </a:r>
            <a:endParaRPr lang="ar-SA" sz="2000" dirty="0"/>
          </a:p>
        </p:txBody>
      </p:sp>
      <p:sp>
        <p:nvSpPr>
          <p:cNvPr id="17" name="Text 15"/>
          <p:cNvSpPr/>
          <p:nvPr/>
        </p:nvSpPr>
        <p:spPr>
          <a:xfrm>
            <a:off x="1097280" y="3088386"/>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أتجاهل الموقف وأكمل الشرح</a:t>
            </a:r>
            <a:endParaRPr lang="ar-SA" sz="2200" dirty="0"/>
          </a:p>
        </p:txBody>
      </p:sp>
      <p:sp>
        <p:nvSpPr>
          <p:cNvPr id="18" name="anim-g1-1591"/>
          <p:cNvSpPr/>
          <p:nvPr/>
        </p:nvSpPr>
        <p:spPr>
          <a:xfrm>
            <a:off x="822960" y="3088386"/>
            <a:ext cx="10545775" cy="884682"/>
          </a:xfrm>
          <a:prstGeom prst="roundRect">
            <a:avLst>
              <a:gd name="adj" fmla="val 16537"/>
            </a:avLst>
          </a:prstGeom>
          <a:solidFill>
            <a:srgbClr val="F7F7F9"/>
          </a:solidFill>
          <a:ln w="19050">
            <a:solidFill>
              <a:srgbClr val="E4DCC8"/>
            </a:solidFill>
            <a:prstDash val="solid"/>
          </a:ln>
        </p:spPr>
      </p:sp>
      <p:sp>
        <p:nvSpPr>
          <p:cNvPr id="19" name="anim-g1-1592"/>
          <p:cNvSpPr/>
          <p:nvPr/>
        </p:nvSpPr>
        <p:spPr>
          <a:xfrm>
            <a:off x="10575493" y="3225546"/>
            <a:ext cx="610362" cy="610362"/>
          </a:xfrm>
          <a:prstGeom prst="roundRect">
            <a:avLst>
              <a:gd name="adj" fmla="val 17978"/>
            </a:avLst>
          </a:prstGeom>
          <a:solidFill>
            <a:srgbClr val="A3A9BA"/>
          </a:solidFill>
          <a:ln/>
        </p:spPr>
      </p:sp>
      <p:sp>
        <p:nvSpPr>
          <p:cNvPr id="20" name="anim-g1-1593"/>
          <p:cNvSpPr/>
          <p:nvPr/>
        </p:nvSpPr>
        <p:spPr>
          <a:xfrm>
            <a:off x="10575493" y="3225546"/>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ب</a:t>
            </a:r>
            <a:endParaRPr lang="ar-SA" sz="2000" dirty="0"/>
          </a:p>
        </p:txBody>
      </p:sp>
      <p:sp>
        <p:nvSpPr>
          <p:cNvPr id="21" name="anim-g1-1594"/>
          <p:cNvSpPr/>
          <p:nvPr/>
        </p:nvSpPr>
        <p:spPr>
          <a:xfrm>
            <a:off x="1097280" y="3124962"/>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أتجاهل الموقف وأكمل الشرح</a:t>
            </a:r>
            <a:endParaRPr lang="ar-SA" sz="2200" dirty="0"/>
          </a:p>
        </p:txBody>
      </p:sp>
      <p:sp>
        <p:nvSpPr>
          <p:cNvPr id="22" name="anim-g1-1595"/>
          <p:cNvSpPr/>
          <p:nvPr/>
        </p:nvSpPr>
        <p:spPr>
          <a:xfrm>
            <a:off x="1097280" y="3566114"/>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التجاهل يعلّم الفصل كله أن القاعدة غير حقيقية</a:t>
            </a:r>
            <a:endParaRPr lang="ar-SA" sz="1800" dirty="0"/>
          </a:p>
        </p:txBody>
      </p:sp>
      <p:sp>
        <p:nvSpPr>
          <p:cNvPr id="23" name="Shape 21"/>
          <p:cNvSpPr/>
          <p:nvPr/>
        </p:nvSpPr>
        <p:spPr>
          <a:xfrm>
            <a:off x="822960" y="4119372"/>
            <a:ext cx="10545775" cy="884682"/>
          </a:xfrm>
          <a:prstGeom prst="roundRect">
            <a:avLst>
              <a:gd name="adj" fmla="val 16537"/>
            </a:avLst>
          </a:prstGeom>
          <a:solidFill>
            <a:srgbClr val="FFFFFF"/>
          </a:solidFill>
          <a:ln w="19050">
            <a:solidFill>
              <a:srgbClr val="E4DCC8"/>
            </a:solidFill>
            <a:prstDash val="solid"/>
          </a:ln>
        </p:spPr>
      </p:sp>
      <p:sp>
        <p:nvSpPr>
          <p:cNvPr id="24" name="Shape 22"/>
          <p:cNvSpPr/>
          <p:nvPr/>
        </p:nvSpPr>
        <p:spPr>
          <a:xfrm>
            <a:off x="10575493" y="4256532"/>
            <a:ext cx="610362" cy="610362"/>
          </a:xfrm>
          <a:prstGeom prst="roundRect">
            <a:avLst>
              <a:gd name="adj" fmla="val 17978"/>
            </a:avLst>
          </a:prstGeom>
          <a:solidFill>
            <a:srgbClr val="101B45"/>
          </a:solidFill>
          <a:ln/>
        </p:spPr>
      </p:sp>
      <p:sp>
        <p:nvSpPr>
          <p:cNvPr id="25" name="Text 23"/>
          <p:cNvSpPr/>
          <p:nvPr/>
        </p:nvSpPr>
        <p:spPr>
          <a:xfrm>
            <a:off x="10575493" y="4256532"/>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ج</a:t>
            </a:r>
            <a:endParaRPr lang="ar-SA" sz="2000" dirty="0"/>
          </a:p>
        </p:txBody>
      </p:sp>
      <p:sp>
        <p:nvSpPr>
          <p:cNvPr id="26" name="Text 24"/>
          <p:cNvSpPr/>
          <p:nvPr/>
        </p:nvSpPr>
        <p:spPr>
          <a:xfrm>
            <a:off x="1097280" y="4119372"/>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أهدده بالوكيل وخصم الدرجات</a:t>
            </a:r>
            <a:endParaRPr lang="ar-SA" sz="2200" dirty="0"/>
          </a:p>
        </p:txBody>
      </p:sp>
      <p:sp>
        <p:nvSpPr>
          <p:cNvPr id="27" name="anim-g1-1596"/>
          <p:cNvSpPr/>
          <p:nvPr/>
        </p:nvSpPr>
        <p:spPr>
          <a:xfrm>
            <a:off x="822960" y="4119372"/>
            <a:ext cx="10545775" cy="884682"/>
          </a:xfrm>
          <a:prstGeom prst="roundRect">
            <a:avLst>
              <a:gd name="adj" fmla="val 16537"/>
            </a:avLst>
          </a:prstGeom>
          <a:solidFill>
            <a:srgbClr val="F7F7F9"/>
          </a:solidFill>
          <a:ln w="19050">
            <a:solidFill>
              <a:srgbClr val="E4DCC8"/>
            </a:solidFill>
            <a:prstDash val="solid"/>
          </a:ln>
        </p:spPr>
      </p:sp>
      <p:sp>
        <p:nvSpPr>
          <p:cNvPr id="28" name="anim-g1-1597"/>
          <p:cNvSpPr/>
          <p:nvPr/>
        </p:nvSpPr>
        <p:spPr>
          <a:xfrm>
            <a:off x="10575493" y="4256532"/>
            <a:ext cx="610362" cy="610362"/>
          </a:xfrm>
          <a:prstGeom prst="roundRect">
            <a:avLst>
              <a:gd name="adj" fmla="val 17978"/>
            </a:avLst>
          </a:prstGeom>
          <a:solidFill>
            <a:srgbClr val="A3A9BA"/>
          </a:solidFill>
          <a:ln/>
        </p:spPr>
      </p:sp>
      <p:sp>
        <p:nvSpPr>
          <p:cNvPr id="29" name="anim-g1-1598"/>
          <p:cNvSpPr/>
          <p:nvPr/>
        </p:nvSpPr>
        <p:spPr>
          <a:xfrm>
            <a:off x="10575493" y="4256532"/>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ج</a:t>
            </a:r>
            <a:endParaRPr lang="ar-SA" sz="2000" dirty="0"/>
          </a:p>
        </p:txBody>
      </p:sp>
      <p:sp>
        <p:nvSpPr>
          <p:cNvPr id="30" name="anim-g1-1599"/>
          <p:cNvSpPr/>
          <p:nvPr/>
        </p:nvSpPr>
        <p:spPr>
          <a:xfrm>
            <a:off x="1097280" y="4155948"/>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أهدده بالوكيل وخصم الدرجات</a:t>
            </a:r>
            <a:endParaRPr lang="ar-SA" sz="2200" dirty="0"/>
          </a:p>
        </p:txBody>
      </p:sp>
      <p:sp>
        <p:nvSpPr>
          <p:cNvPr id="31" name="anim-g1-1600"/>
          <p:cNvSpPr/>
          <p:nvPr/>
        </p:nvSpPr>
        <p:spPr>
          <a:xfrm>
            <a:off x="1097280" y="4597100"/>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التهديد في لحظة غضب غالبًا تهديد لن تنفذه، فتفقد مصداقيتك</a:t>
            </a:r>
            <a:endParaRPr lang="ar-SA" sz="1800" dirty="0"/>
          </a:p>
        </p:txBody>
      </p:sp>
      <p:sp>
        <p:nvSpPr>
          <p:cNvPr id="32" name="Shape 30"/>
          <p:cNvSpPr/>
          <p:nvPr/>
        </p:nvSpPr>
        <p:spPr>
          <a:xfrm>
            <a:off x="822960" y="5150358"/>
            <a:ext cx="10545775" cy="884682"/>
          </a:xfrm>
          <a:prstGeom prst="roundRect">
            <a:avLst>
              <a:gd name="adj" fmla="val 16537"/>
            </a:avLst>
          </a:prstGeom>
          <a:solidFill>
            <a:srgbClr val="FFFFFF"/>
          </a:solidFill>
          <a:ln w="19050">
            <a:solidFill>
              <a:srgbClr val="E4DCC8"/>
            </a:solidFill>
            <a:prstDash val="solid"/>
          </a:ln>
        </p:spPr>
      </p:sp>
      <p:sp>
        <p:nvSpPr>
          <p:cNvPr id="33" name="Shape 31"/>
          <p:cNvSpPr/>
          <p:nvPr/>
        </p:nvSpPr>
        <p:spPr>
          <a:xfrm>
            <a:off x="10575493" y="5287518"/>
            <a:ext cx="610362" cy="610362"/>
          </a:xfrm>
          <a:prstGeom prst="roundRect">
            <a:avLst>
              <a:gd name="adj" fmla="val 17978"/>
            </a:avLst>
          </a:prstGeom>
          <a:solidFill>
            <a:srgbClr val="101B45"/>
          </a:solidFill>
          <a:ln/>
        </p:spPr>
      </p:sp>
      <p:sp>
        <p:nvSpPr>
          <p:cNvPr id="34" name="Text 32"/>
          <p:cNvSpPr/>
          <p:nvPr/>
        </p:nvSpPr>
        <p:spPr>
          <a:xfrm>
            <a:off x="10575493" y="5287518"/>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د</a:t>
            </a:r>
            <a:endParaRPr lang="ar-SA" sz="2000" dirty="0"/>
          </a:p>
        </p:txBody>
      </p:sp>
      <p:sp>
        <p:nvSpPr>
          <p:cNvPr id="35" name="Text 33"/>
          <p:cNvSpPr/>
          <p:nvPr/>
        </p:nvSpPr>
        <p:spPr>
          <a:xfrm>
            <a:off x="1097280" y="5150358"/>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أُنهي المواجهة العلنية الآن، وأؤجل الحل لحوار خاص بعد الحصة</a:t>
            </a:r>
            <a:endParaRPr lang="ar-SA" sz="2200" dirty="0"/>
          </a:p>
        </p:txBody>
      </p:sp>
      <p:sp>
        <p:nvSpPr>
          <p:cNvPr id="36" name="anim-g1-1601"/>
          <p:cNvSpPr/>
          <p:nvPr/>
        </p:nvSpPr>
        <p:spPr>
          <a:xfrm>
            <a:off x="822960" y="5150358"/>
            <a:ext cx="10545775" cy="884682"/>
          </a:xfrm>
          <a:prstGeom prst="roundRect">
            <a:avLst>
              <a:gd name="adj" fmla="val 16537"/>
            </a:avLst>
          </a:prstGeom>
          <a:solidFill>
            <a:srgbClr val="E6F4EC"/>
          </a:solidFill>
          <a:ln w="31750">
            <a:solidFill>
              <a:srgbClr val="2E9E6B"/>
            </a:solidFill>
            <a:prstDash val="solid"/>
          </a:ln>
        </p:spPr>
      </p:sp>
      <p:sp>
        <p:nvSpPr>
          <p:cNvPr id="37" name="anim-g1-1602"/>
          <p:cNvSpPr/>
          <p:nvPr/>
        </p:nvSpPr>
        <p:spPr>
          <a:xfrm>
            <a:off x="10575493" y="5287518"/>
            <a:ext cx="610362" cy="610362"/>
          </a:xfrm>
          <a:prstGeom prst="roundRect">
            <a:avLst>
              <a:gd name="adj" fmla="val 17978"/>
            </a:avLst>
          </a:prstGeom>
          <a:solidFill>
            <a:srgbClr val="2E9E6B"/>
          </a:solidFill>
          <a:ln/>
        </p:spPr>
      </p:sp>
      <p:sp>
        <p:nvSpPr>
          <p:cNvPr id="38" name="anim-g1-1603"/>
          <p:cNvSpPr/>
          <p:nvPr/>
        </p:nvSpPr>
        <p:spPr>
          <a:xfrm>
            <a:off x="10575493" y="5287518"/>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a:t>
            </a:r>
            <a:endParaRPr lang="ar-SA" sz="2000" dirty="0"/>
          </a:p>
        </p:txBody>
      </p:sp>
      <p:sp>
        <p:nvSpPr>
          <p:cNvPr id="39" name="anim-g1-1604"/>
          <p:cNvSpPr/>
          <p:nvPr/>
        </p:nvSpPr>
        <p:spPr>
          <a:xfrm>
            <a:off x="1097280" y="5186934"/>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أُنهي المواجهة العلنية الآن، وأؤجل الحل لحوار خاص بعد الحصة</a:t>
            </a:r>
            <a:endParaRPr lang="ar-SA" sz="2200" dirty="0"/>
          </a:p>
        </p:txBody>
      </p:sp>
      <p:sp>
        <p:nvSpPr>
          <p:cNvPr id="40" name="anim-g1-1605"/>
          <p:cNvSpPr/>
          <p:nvPr/>
        </p:nvSpPr>
        <p:spPr>
          <a:xfrm>
            <a:off x="1097280" y="5628086"/>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تحفظ كرامتك وكرامته، وتطبق القاعدة بعيدًا عن الجمهور</a:t>
            </a:r>
            <a:endParaRPr lang="ar-SA" sz="1800" dirty="0"/>
          </a:p>
        </p:txBody>
      </p:sp>
      <p:sp>
        <p:nvSpPr>
          <p:cNvPr id="41" name="Text 3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42" name="Text 4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شاشة تحت الطاولة  ·  ١٤٨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400"/>
                                        <p:tgtEl>
                                          <p:spTgt spid="3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400"/>
                                        <p:tgtEl>
                                          <p:spTgt spid="3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400"/>
                                        <p:tgtEl>
                                          <p:spTgt spid="38"/>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9"/>
                                        </p:tgtEl>
                                        <p:attrNameLst>
                                          <p:attrName>style.visibility</p:attrName>
                                        </p:attrNameLst>
                                      </p:cBhvr>
                                      <p:to>
                                        <p:strVal val="visible"/>
                                      </p:to>
                                    </p:set>
                                    <p:animEffect transition="in" filter="fade">
                                      <p:cBhvr>
                                        <p:cTn id="61" dur="400"/>
                                        <p:tgtEl>
                                          <p:spTgt spid="3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0"/>
                                        </p:tgtEl>
                                        <p:attrNameLst>
                                          <p:attrName>style.visibility</p:attrName>
                                        </p:attrNameLst>
                                      </p:cBhvr>
                                      <p:to>
                                        <p:strVal val="visible"/>
                                      </p:to>
                                    </p:set>
                                    <p:animEffect transition="in" filter="fade">
                                      <p:cBhvr>
                                        <p:cTn id="64"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P spid="36" grpId="0" animBg="1"/>
      <p:bldP spid="37" grpId="0" animBg="1"/>
      <p:bldP spid="38" grpId="0" animBg="1"/>
      <p:bldP spid="39" grpId="0" animBg="1"/>
      <p:bldP spid="40" grpId="0" animBg="1"/>
    </p:bldLst>
  </p:timing>
</p:sld>
</file>

<file path=ppt/slides/slide149.xml><?xml version="1.0" encoding="utf-8"?>
<p:sld xmlns:a="http://schemas.openxmlformats.org/drawingml/2006/main" xmlns:r="http://schemas.openxmlformats.org/officeDocument/2006/relationships" xmlns:p="http://schemas.openxmlformats.org/presentationml/2006/main">
  <p:cSld name="Slide 14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711135" y="457200"/>
            <a:ext cx="3657600" cy="457200"/>
          </a:xfrm>
          <a:prstGeom prst="roundRect">
            <a:avLst>
              <a:gd name="adj" fmla="val 50000"/>
            </a:avLst>
          </a:prstGeom>
          <a:solidFill>
            <a:srgbClr val="F6EBCF"/>
          </a:solidFill>
          <a:ln/>
        </p:spPr>
      </p:sp>
      <p:sp>
        <p:nvSpPr>
          <p:cNvPr id="3" name="Text 1"/>
          <p:cNvSpPr/>
          <p:nvPr/>
        </p:nvSpPr>
        <p:spPr>
          <a:xfrm>
            <a:off x="7711135" y="457200"/>
            <a:ext cx="365760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وراء كل سلوك حاجة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لماذا يفعل يزن هذا؟</a:t>
            </a:r>
            <a:endParaRPr lang="ar-SA" sz="3800" dirty="0"/>
          </a:p>
        </p:txBody>
      </p:sp>
      <p:sp>
        <p:nvSpPr>
          <p:cNvPr id="5" name="anim-g1-1606"/>
          <p:cNvSpPr/>
          <p:nvPr/>
        </p:nvSpPr>
        <p:spPr>
          <a:xfrm>
            <a:off x="8903741" y="2011680"/>
            <a:ext cx="2464994" cy="2514600"/>
          </a:xfrm>
          <a:prstGeom prst="roundRect">
            <a:avLst>
              <a:gd name="adj" fmla="val 6677"/>
            </a:avLst>
          </a:prstGeom>
          <a:solidFill>
            <a:srgbClr val="FFFFFF"/>
          </a:solidFill>
          <a:ln w="12700">
            <a:solidFill>
              <a:srgbClr val="E4DCC8"/>
            </a:solidFill>
            <a:prstDash val="solid"/>
          </a:ln>
        </p:spPr>
      </p:sp>
      <p:sp>
        <p:nvSpPr>
          <p:cNvPr id="6" name="anim-g1-1607"/>
          <p:cNvSpPr/>
          <p:nvPr/>
        </p:nvSpPr>
        <p:spPr>
          <a:xfrm>
            <a:off x="9816198" y="2194560"/>
            <a:ext cx="640080" cy="640080"/>
          </a:xfrm>
          <a:prstGeom prst="roundRect">
            <a:avLst>
              <a:gd name="adj" fmla="val 25714"/>
            </a:avLst>
          </a:prstGeom>
          <a:solidFill>
            <a:srgbClr val="F7E6BC"/>
          </a:solidFill>
          <a:ln/>
        </p:spPr>
      </p:sp>
      <p:sp>
        <p:nvSpPr>
          <p:cNvPr id="7" name="anim-g1-1608"/>
          <p:cNvSpPr/>
          <p:nvPr/>
        </p:nvSpPr>
        <p:spPr>
          <a:xfrm>
            <a:off x="9816198"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8" name="anim-g1-1609"/>
          <p:cNvSpPr/>
          <p:nvPr/>
        </p:nvSpPr>
        <p:spPr>
          <a:xfrm>
            <a:off x="9040901"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قلق الانقطاع</a:t>
            </a:r>
            <a:endParaRPr lang="ar-SA" sz="2200" dirty="0"/>
          </a:p>
        </p:txBody>
      </p:sp>
      <p:sp>
        <p:nvSpPr>
          <p:cNvPr id="9" name="anim-g1-1610"/>
          <p:cNvSpPr/>
          <p:nvPr/>
        </p:nvSpPr>
        <p:spPr>
          <a:xfrm>
            <a:off x="9040901"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خوف دائم من أن يفوته شيء في مجموعات أصدقائه</a:t>
            </a:r>
            <a:endParaRPr lang="ar-SA" sz="1900" dirty="0"/>
          </a:p>
        </p:txBody>
      </p:sp>
      <p:sp>
        <p:nvSpPr>
          <p:cNvPr id="10" name="anim-g2-1611"/>
          <p:cNvSpPr/>
          <p:nvPr/>
        </p:nvSpPr>
        <p:spPr>
          <a:xfrm>
            <a:off x="6210148" y="2011680"/>
            <a:ext cx="2464994" cy="2514600"/>
          </a:xfrm>
          <a:prstGeom prst="roundRect">
            <a:avLst>
              <a:gd name="adj" fmla="val 6677"/>
            </a:avLst>
          </a:prstGeom>
          <a:solidFill>
            <a:srgbClr val="FFFFFF"/>
          </a:solidFill>
          <a:ln w="12700">
            <a:solidFill>
              <a:srgbClr val="E4DCC8"/>
            </a:solidFill>
            <a:prstDash val="solid"/>
          </a:ln>
        </p:spPr>
      </p:sp>
      <p:sp>
        <p:nvSpPr>
          <p:cNvPr id="11" name="anim-g2-1612"/>
          <p:cNvSpPr/>
          <p:nvPr/>
        </p:nvSpPr>
        <p:spPr>
          <a:xfrm>
            <a:off x="7122604" y="2194560"/>
            <a:ext cx="640080" cy="640080"/>
          </a:xfrm>
          <a:prstGeom prst="roundRect">
            <a:avLst>
              <a:gd name="adj" fmla="val 25714"/>
            </a:avLst>
          </a:prstGeom>
          <a:solidFill>
            <a:srgbClr val="F7E6BC"/>
          </a:solidFill>
          <a:ln/>
        </p:spPr>
      </p:sp>
      <p:sp>
        <p:nvSpPr>
          <p:cNvPr id="12" name="anim-g2-1613"/>
          <p:cNvSpPr/>
          <p:nvPr/>
        </p:nvSpPr>
        <p:spPr>
          <a:xfrm>
            <a:off x="7122604"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13" name="anim-g2-1614"/>
          <p:cNvSpPr/>
          <p:nvPr/>
        </p:nvSpPr>
        <p:spPr>
          <a:xfrm>
            <a:off x="6347308"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ملل</a:t>
            </a:r>
            <a:endParaRPr lang="ar-SA" sz="2200" dirty="0"/>
          </a:p>
        </p:txBody>
      </p:sp>
      <p:sp>
        <p:nvSpPr>
          <p:cNvPr id="14" name="anim-g2-1615"/>
          <p:cNvSpPr/>
          <p:nvPr/>
        </p:nvSpPr>
        <p:spPr>
          <a:xfrm>
            <a:off x="6347308"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الحصة لم تشدّه، فالشاشة أقوى منافس</a:t>
            </a:r>
            <a:endParaRPr lang="ar-SA" sz="1900" dirty="0"/>
          </a:p>
        </p:txBody>
      </p:sp>
      <p:sp>
        <p:nvSpPr>
          <p:cNvPr id="15" name="anim-g3-1616"/>
          <p:cNvSpPr/>
          <p:nvPr/>
        </p:nvSpPr>
        <p:spPr>
          <a:xfrm>
            <a:off x="3516554" y="2011680"/>
            <a:ext cx="2464994" cy="2514600"/>
          </a:xfrm>
          <a:prstGeom prst="roundRect">
            <a:avLst>
              <a:gd name="adj" fmla="val 6677"/>
            </a:avLst>
          </a:prstGeom>
          <a:solidFill>
            <a:srgbClr val="FFFFFF"/>
          </a:solidFill>
          <a:ln w="12700">
            <a:solidFill>
              <a:srgbClr val="E4DCC8"/>
            </a:solidFill>
            <a:prstDash val="solid"/>
          </a:ln>
        </p:spPr>
      </p:sp>
      <p:sp>
        <p:nvSpPr>
          <p:cNvPr id="16" name="anim-g3-1617"/>
          <p:cNvSpPr/>
          <p:nvPr/>
        </p:nvSpPr>
        <p:spPr>
          <a:xfrm>
            <a:off x="4429011" y="2194560"/>
            <a:ext cx="640080" cy="640080"/>
          </a:xfrm>
          <a:prstGeom prst="roundRect">
            <a:avLst>
              <a:gd name="adj" fmla="val 25714"/>
            </a:avLst>
          </a:prstGeom>
          <a:solidFill>
            <a:srgbClr val="F7E6BC"/>
          </a:solidFill>
          <a:ln/>
        </p:spPr>
      </p:sp>
      <p:sp>
        <p:nvSpPr>
          <p:cNvPr id="17" name="anim-g3-1618"/>
          <p:cNvSpPr/>
          <p:nvPr/>
        </p:nvSpPr>
        <p:spPr>
          <a:xfrm>
            <a:off x="4429011"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18" name="anim-g3-1619"/>
          <p:cNvSpPr/>
          <p:nvPr/>
        </p:nvSpPr>
        <p:spPr>
          <a:xfrm>
            <a:off x="3653714"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همّ خفي</a:t>
            </a:r>
            <a:endParaRPr lang="ar-SA" sz="2200" dirty="0"/>
          </a:p>
        </p:txBody>
      </p:sp>
      <p:sp>
        <p:nvSpPr>
          <p:cNvPr id="19" name="anim-g3-1620"/>
          <p:cNvSpPr/>
          <p:nvPr/>
        </p:nvSpPr>
        <p:spPr>
          <a:xfrm>
            <a:off x="3653714"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قد تكون رسالة عن مشكلة أسرية تشغله</a:t>
            </a:r>
            <a:endParaRPr lang="ar-SA" sz="1900" dirty="0"/>
          </a:p>
        </p:txBody>
      </p:sp>
      <p:sp>
        <p:nvSpPr>
          <p:cNvPr id="20" name="anim-g4-1621"/>
          <p:cNvSpPr/>
          <p:nvPr/>
        </p:nvSpPr>
        <p:spPr>
          <a:xfrm>
            <a:off x="822960" y="2011680"/>
            <a:ext cx="2464994" cy="2514600"/>
          </a:xfrm>
          <a:prstGeom prst="roundRect">
            <a:avLst>
              <a:gd name="adj" fmla="val 6677"/>
            </a:avLst>
          </a:prstGeom>
          <a:solidFill>
            <a:srgbClr val="FFFFFF"/>
          </a:solidFill>
          <a:ln w="12700">
            <a:solidFill>
              <a:srgbClr val="E4DCC8"/>
            </a:solidFill>
            <a:prstDash val="solid"/>
          </a:ln>
        </p:spPr>
      </p:sp>
      <p:sp>
        <p:nvSpPr>
          <p:cNvPr id="21" name="anim-g4-1622"/>
          <p:cNvSpPr/>
          <p:nvPr/>
        </p:nvSpPr>
        <p:spPr>
          <a:xfrm>
            <a:off x="1735417" y="2194560"/>
            <a:ext cx="640080" cy="640080"/>
          </a:xfrm>
          <a:prstGeom prst="roundRect">
            <a:avLst>
              <a:gd name="adj" fmla="val 25714"/>
            </a:avLst>
          </a:prstGeom>
          <a:solidFill>
            <a:srgbClr val="F7E6BC"/>
          </a:solidFill>
          <a:ln/>
        </p:spPr>
      </p:sp>
      <p:sp>
        <p:nvSpPr>
          <p:cNvPr id="22" name="anim-g4-1623"/>
          <p:cNvSpPr/>
          <p:nvPr/>
        </p:nvSpPr>
        <p:spPr>
          <a:xfrm>
            <a:off x="1735417"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23" name="anim-g4-1624"/>
          <p:cNvSpPr/>
          <p:nvPr/>
        </p:nvSpPr>
        <p:spPr>
          <a:xfrm>
            <a:off x="960120"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الجمهور</a:t>
            </a:r>
            <a:endParaRPr lang="ar-SA" sz="2200" dirty="0"/>
          </a:p>
        </p:txBody>
      </p:sp>
      <p:sp>
        <p:nvSpPr>
          <p:cNvPr id="24" name="anim-g4-1625"/>
          <p:cNvSpPr/>
          <p:nvPr/>
        </p:nvSpPr>
        <p:spPr>
          <a:xfrm>
            <a:off x="960120"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التسليم أمام زملائه يعني هزيمة علنية</a:t>
            </a:r>
            <a:endParaRPr lang="ar-SA" sz="1900" dirty="0"/>
          </a:p>
        </p:txBody>
      </p:sp>
      <p:sp>
        <p:nvSpPr>
          <p:cNvPr id="25" name="anim-g5-1626"/>
          <p:cNvSpPr/>
          <p:nvPr/>
        </p:nvSpPr>
        <p:spPr>
          <a:xfrm>
            <a:off x="822960" y="4754880"/>
            <a:ext cx="10545775" cy="1051560"/>
          </a:xfrm>
          <a:prstGeom prst="roundRect">
            <a:avLst>
              <a:gd name="adj" fmla="val 17391"/>
            </a:avLst>
          </a:prstGeom>
          <a:solidFill>
            <a:srgbClr val="101B45"/>
          </a:solidFill>
          <a:ln/>
        </p:spPr>
      </p:sp>
      <p:sp>
        <p:nvSpPr>
          <p:cNvPr id="26" name="anim-g5-1627"/>
          <p:cNvSpPr/>
          <p:nvPr/>
        </p:nvSpPr>
        <p:spPr>
          <a:xfrm>
            <a:off x="1097280" y="4754880"/>
            <a:ext cx="9997135" cy="1051560"/>
          </a:xfrm>
          <a:prstGeom prst="rect">
            <a:avLst/>
          </a:prstGeom>
          <a:noFill/>
          <a:ln/>
        </p:spPr>
        <p:txBody>
          <a:bodyPr wrap="square" lIns="0" tIns="0" rIns="0" bIns="0" rtlCol="0" anchor="ctr">
            <a:normAutofit/>
          </a:bodyPr>
          <a:lstStyle/>
          <a:p>
            <a:pPr algn="ctr" indent="0" marL="0">
              <a:buNone/>
            </a:pPr>
            <a:r>
              <a:rPr lang="ar-SA" altLang="en-US" sz="2200" b="1" dirty="0">
                <a:solidFill>
                  <a:srgbClr val="FFFFFF"/>
                </a:solidFill>
                <a:latin typeface="Cairo" pitchFamily="34" charset="0"/>
                <a:ea typeface="Cairo" pitchFamily="34" charset="-122"/>
                <a:cs typeface="Cairo" pitchFamily="34" charset="-120"/>
              </a:rPr>
              <a:t>💡 رفضه تسليم الجوال ليس عنادًا معك…</a:t>
            </a:r>
            <a:endParaRPr lang="ar-SA" sz="2200" dirty="0"/>
          </a:p>
          <a:p>
            <a:pPr algn="ctr" indent="0" marL="0">
              <a:buNone/>
            </a:pPr>
            <a:r>
              <a:rPr lang="ar-SA" altLang="en-US" sz="2200" b="1" dirty="0">
                <a:solidFill>
                  <a:srgbClr val="F0CC7A"/>
                </a:solidFill>
                <a:latin typeface="Cairo" pitchFamily="34" charset="0"/>
                <a:ea typeface="Cairo" pitchFamily="34" charset="-122"/>
                <a:cs typeface="Cairo" pitchFamily="34" charset="-120"/>
              </a:rPr>
              <a:t> بل دفاع عن كرامته أمام الجمهور</a:t>
            </a:r>
            <a:endParaRPr lang="ar-SA" sz="2200" dirty="0"/>
          </a:p>
        </p:txBody>
      </p:sp>
      <p:sp>
        <p:nvSpPr>
          <p:cNvPr id="27" name="Text 2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8" name="Text 2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شاشة تحت الطاولة  ·  ١٤٩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40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150.xml><?xml version="1.0" encoding="utf-8"?>
<p:sld xmlns:a="http://schemas.openxmlformats.org/drawingml/2006/main" xmlns:r="http://schemas.openxmlformats.org/officeDocument/2006/relationships" xmlns:p="http://schemas.openxmlformats.org/presentationml/2006/main">
  <p:cSld name="Slide 15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57439" y="457200"/>
            <a:ext cx="3511296" cy="457200"/>
          </a:xfrm>
          <a:prstGeom prst="roundRect">
            <a:avLst>
              <a:gd name="adj" fmla="val 50000"/>
            </a:avLst>
          </a:prstGeom>
          <a:solidFill>
            <a:srgbClr val="F6EBCF"/>
          </a:solidFill>
          <a:ln/>
        </p:spPr>
      </p:sp>
      <p:sp>
        <p:nvSpPr>
          <p:cNvPr id="3" name="Text 1"/>
          <p:cNvSpPr/>
          <p:nvPr/>
        </p:nvSpPr>
        <p:spPr>
          <a:xfrm>
            <a:off x="7857439" y="457200"/>
            <a:ext cx="351129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ماذا تفعل فورًا؟</a:t>
            </a:r>
            <a:endParaRPr lang="ar-SA" sz="1800" dirty="0"/>
          </a:p>
        </p:txBody>
      </p:sp>
      <p:sp>
        <p:nvSpPr>
          <p:cNvPr id="4" name="Shape 2"/>
          <p:cNvSpPr/>
          <p:nvPr/>
        </p:nvSpPr>
        <p:spPr>
          <a:xfrm>
            <a:off x="822960" y="457200"/>
            <a:ext cx="1737360" cy="457200"/>
          </a:xfrm>
          <a:prstGeom prst="roundRect">
            <a:avLst>
              <a:gd name="adj" fmla="val 50000"/>
            </a:avLst>
          </a:prstGeom>
          <a:solidFill>
            <a:srgbClr val="FBECEC"/>
          </a:solidFill>
          <a:ln/>
        </p:spPr>
      </p:sp>
      <p:sp>
        <p:nvSpPr>
          <p:cNvPr id="5" name="Text 3"/>
          <p:cNvSpPr/>
          <p:nvPr/>
        </p:nvSpPr>
        <p:spPr>
          <a:xfrm>
            <a:off x="822960" y="457200"/>
            <a:ext cx="1737360"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D64545"/>
                </a:solidFill>
                <a:latin typeface="Cairo" pitchFamily="34" charset="0"/>
                <a:ea typeface="Cairo" pitchFamily="34" charset="-122"/>
                <a:cs typeface="Cairo" pitchFamily="34" charset="-120"/>
              </a:rPr>
              <a:t>⏱ ١٠ ثوانٍ</a:t>
            </a:r>
            <a:endParaRPr lang="ar-SA" sz="1600" dirty="0"/>
          </a:p>
        </p:txBody>
      </p:sp>
      <p:sp>
        <p:nvSpPr>
          <p:cNvPr id="6" name="Text 4"/>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أول ١٠ ثوانٍ</a:t>
            </a:r>
            <a:endParaRPr lang="ar-SA" sz="3800" dirty="0"/>
          </a:p>
        </p:txBody>
      </p:sp>
      <p:sp>
        <p:nvSpPr>
          <p:cNvPr id="7" name="anim-g1-1628"/>
          <p:cNvSpPr/>
          <p:nvPr/>
        </p:nvSpPr>
        <p:spPr>
          <a:xfrm>
            <a:off x="8903741" y="2148840"/>
            <a:ext cx="2464994" cy="3383280"/>
          </a:xfrm>
          <a:prstGeom prst="roundRect">
            <a:avLst>
              <a:gd name="adj" fmla="val 6677"/>
            </a:avLst>
          </a:prstGeom>
          <a:solidFill>
            <a:srgbClr val="FFFFFF"/>
          </a:solidFill>
          <a:ln w="12700">
            <a:solidFill>
              <a:srgbClr val="E4DCC8"/>
            </a:solidFill>
            <a:prstDash val="solid"/>
          </a:ln>
        </p:spPr>
      </p:sp>
      <p:sp>
        <p:nvSpPr>
          <p:cNvPr id="8" name="anim-g1-1629"/>
          <p:cNvSpPr/>
          <p:nvPr/>
        </p:nvSpPr>
        <p:spPr>
          <a:xfrm>
            <a:off x="9747618" y="2423160"/>
            <a:ext cx="777240" cy="777240"/>
          </a:xfrm>
          <a:prstGeom prst="ellipse">
            <a:avLst/>
          </a:prstGeom>
          <a:solidFill>
            <a:srgbClr val="D9AE4B"/>
          </a:solidFill>
          <a:ln/>
        </p:spPr>
      </p:sp>
      <p:sp>
        <p:nvSpPr>
          <p:cNvPr id="9" name="anim-g1-1630"/>
          <p:cNvSpPr/>
          <p:nvPr/>
        </p:nvSpPr>
        <p:spPr>
          <a:xfrm>
            <a:off x="9747618"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١</a:t>
            </a:r>
            <a:endParaRPr lang="ar-SA" sz="2800" dirty="0"/>
          </a:p>
        </p:txBody>
      </p:sp>
      <p:sp>
        <p:nvSpPr>
          <p:cNvPr id="10" name="anim-g1-1631"/>
          <p:cNvSpPr/>
          <p:nvPr/>
        </p:nvSpPr>
        <p:spPr>
          <a:xfrm>
            <a:off x="9040901"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لا تتوقف</a:t>
            </a:r>
            <a:endParaRPr lang="ar-SA" sz="2500" dirty="0"/>
          </a:p>
        </p:txBody>
      </p:sp>
      <p:sp>
        <p:nvSpPr>
          <p:cNvPr id="11" name="anim-g1-1632"/>
          <p:cNvSpPr/>
          <p:nvPr/>
        </p:nvSpPr>
        <p:spPr>
          <a:xfrm>
            <a:off x="9086621"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تابع الشرح، فإيقاف الدرس يصنع مسرحًا</a:t>
            </a:r>
            <a:endParaRPr lang="ar-SA" sz="2000" dirty="0"/>
          </a:p>
        </p:txBody>
      </p:sp>
      <p:sp>
        <p:nvSpPr>
          <p:cNvPr id="12" name="anim-g2-1633"/>
          <p:cNvSpPr/>
          <p:nvPr/>
        </p:nvSpPr>
        <p:spPr>
          <a:xfrm>
            <a:off x="6210148" y="2148840"/>
            <a:ext cx="2464994" cy="3383280"/>
          </a:xfrm>
          <a:prstGeom prst="roundRect">
            <a:avLst>
              <a:gd name="adj" fmla="val 6677"/>
            </a:avLst>
          </a:prstGeom>
          <a:solidFill>
            <a:srgbClr val="FFFFFF"/>
          </a:solidFill>
          <a:ln w="12700">
            <a:solidFill>
              <a:srgbClr val="E4DCC8"/>
            </a:solidFill>
            <a:prstDash val="solid"/>
          </a:ln>
        </p:spPr>
      </p:sp>
      <p:sp>
        <p:nvSpPr>
          <p:cNvPr id="13" name="anim-g2-1634"/>
          <p:cNvSpPr/>
          <p:nvPr/>
        </p:nvSpPr>
        <p:spPr>
          <a:xfrm>
            <a:off x="7054024" y="2423160"/>
            <a:ext cx="777240" cy="777240"/>
          </a:xfrm>
          <a:prstGeom prst="ellipse">
            <a:avLst/>
          </a:prstGeom>
          <a:solidFill>
            <a:srgbClr val="D9AE4B"/>
          </a:solidFill>
          <a:ln/>
        </p:spPr>
      </p:sp>
      <p:sp>
        <p:nvSpPr>
          <p:cNvPr id="14" name="anim-g2-1635"/>
          <p:cNvSpPr/>
          <p:nvPr/>
        </p:nvSpPr>
        <p:spPr>
          <a:xfrm>
            <a:off x="7054024"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٢</a:t>
            </a:r>
            <a:endParaRPr lang="ar-SA" sz="2800" dirty="0"/>
          </a:p>
        </p:txBody>
      </p:sp>
      <p:sp>
        <p:nvSpPr>
          <p:cNvPr id="15" name="anim-g2-1636"/>
          <p:cNvSpPr/>
          <p:nvPr/>
        </p:nvSpPr>
        <p:spPr>
          <a:xfrm>
            <a:off x="6347308"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اقترب</a:t>
            </a:r>
            <a:endParaRPr lang="ar-SA" sz="2500" dirty="0"/>
          </a:p>
        </p:txBody>
      </p:sp>
      <p:sp>
        <p:nvSpPr>
          <p:cNvPr id="16" name="anim-g2-1637"/>
          <p:cNvSpPr/>
          <p:nvPr/>
        </p:nvSpPr>
        <p:spPr>
          <a:xfrm>
            <a:off x="6393028"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امشِ نحو طاولته وأنت تشرح</a:t>
            </a:r>
            <a:endParaRPr lang="ar-SA" sz="2000" dirty="0"/>
          </a:p>
        </p:txBody>
      </p:sp>
      <p:sp>
        <p:nvSpPr>
          <p:cNvPr id="17" name="anim-g3-1638"/>
          <p:cNvSpPr/>
          <p:nvPr/>
        </p:nvSpPr>
        <p:spPr>
          <a:xfrm>
            <a:off x="3516554" y="2148840"/>
            <a:ext cx="2464994" cy="3383280"/>
          </a:xfrm>
          <a:prstGeom prst="roundRect">
            <a:avLst>
              <a:gd name="adj" fmla="val 6677"/>
            </a:avLst>
          </a:prstGeom>
          <a:solidFill>
            <a:srgbClr val="FFFFFF"/>
          </a:solidFill>
          <a:ln w="12700">
            <a:solidFill>
              <a:srgbClr val="E4DCC8"/>
            </a:solidFill>
            <a:prstDash val="solid"/>
          </a:ln>
        </p:spPr>
      </p:sp>
      <p:sp>
        <p:nvSpPr>
          <p:cNvPr id="18" name="anim-g3-1639"/>
          <p:cNvSpPr/>
          <p:nvPr/>
        </p:nvSpPr>
        <p:spPr>
          <a:xfrm>
            <a:off x="4360431" y="2423160"/>
            <a:ext cx="777240" cy="777240"/>
          </a:xfrm>
          <a:prstGeom prst="ellipse">
            <a:avLst/>
          </a:prstGeom>
          <a:solidFill>
            <a:srgbClr val="D9AE4B"/>
          </a:solidFill>
          <a:ln/>
        </p:spPr>
      </p:sp>
      <p:sp>
        <p:nvSpPr>
          <p:cNvPr id="19" name="anim-g3-1640"/>
          <p:cNvSpPr/>
          <p:nvPr/>
        </p:nvSpPr>
        <p:spPr>
          <a:xfrm>
            <a:off x="4360431"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٣</a:t>
            </a:r>
            <a:endParaRPr lang="ar-SA" sz="2800" dirty="0"/>
          </a:p>
        </p:txBody>
      </p:sp>
      <p:sp>
        <p:nvSpPr>
          <p:cNvPr id="20" name="anim-g3-1641"/>
          <p:cNvSpPr/>
          <p:nvPr/>
        </p:nvSpPr>
        <p:spPr>
          <a:xfrm>
            <a:off x="3653714"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همسة</a:t>
            </a:r>
            <a:endParaRPr lang="ar-SA" sz="2500" dirty="0"/>
          </a:p>
        </p:txBody>
      </p:sp>
      <p:sp>
        <p:nvSpPr>
          <p:cNvPr id="21" name="anim-g3-1642"/>
          <p:cNvSpPr/>
          <p:nvPr/>
        </p:nvSpPr>
        <p:spPr>
          <a:xfrm>
            <a:off x="3699434"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جملة قصيرة بصوت لا يسمعه غيره</a:t>
            </a:r>
            <a:endParaRPr lang="ar-SA" sz="2000" dirty="0"/>
          </a:p>
        </p:txBody>
      </p:sp>
      <p:sp>
        <p:nvSpPr>
          <p:cNvPr id="22" name="anim-g4-1643"/>
          <p:cNvSpPr/>
          <p:nvPr/>
        </p:nvSpPr>
        <p:spPr>
          <a:xfrm>
            <a:off x="822960" y="2148840"/>
            <a:ext cx="2464994" cy="3383280"/>
          </a:xfrm>
          <a:prstGeom prst="roundRect">
            <a:avLst>
              <a:gd name="adj" fmla="val 6677"/>
            </a:avLst>
          </a:prstGeom>
          <a:solidFill>
            <a:srgbClr val="FFFFFF"/>
          </a:solidFill>
          <a:ln w="12700">
            <a:solidFill>
              <a:srgbClr val="E4DCC8"/>
            </a:solidFill>
            <a:prstDash val="solid"/>
          </a:ln>
        </p:spPr>
      </p:sp>
      <p:sp>
        <p:nvSpPr>
          <p:cNvPr id="23" name="anim-g4-1644"/>
          <p:cNvSpPr/>
          <p:nvPr/>
        </p:nvSpPr>
        <p:spPr>
          <a:xfrm>
            <a:off x="1666837" y="2423160"/>
            <a:ext cx="777240" cy="777240"/>
          </a:xfrm>
          <a:prstGeom prst="ellipse">
            <a:avLst/>
          </a:prstGeom>
          <a:solidFill>
            <a:srgbClr val="D9AE4B"/>
          </a:solidFill>
          <a:ln/>
        </p:spPr>
      </p:sp>
      <p:sp>
        <p:nvSpPr>
          <p:cNvPr id="24" name="anim-g4-1645"/>
          <p:cNvSpPr/>
          <p:nvPr/>
        </p:nvSpPr>
        <p:spPr>
          <a:xfrm>
            <a:off x="1666837"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٤</a:t>
            </a:r>
            <a:endParaRPr lang="ar-SA" sz="2800" dirty="0"/>
          </a:p>
        </p:txBody>
      </p:sp>
      <p:sp>
        <p:nvSpPr>
          <p:cNvPr id="25" name="anim-g4-1646"/>
          <p:cNvSpPr/>
          <p:nvPr/>
        </p:nvSpPr>
        <p:spPr>
          <a:xfrm>
            <a:off x="960120"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ابتعد</a:t>
            </a:r>
            <a:endParaRPr lang="ar-SA" sz="2500" dirty="0"/>
          </a:p>
        </p:txBody>
      </p:sp>
      <p:sp>
        <p:nvSpPr>
          <p:cNvPr id="26" name="anim-g4-1647"/>
          <p:cNvSpPr/>
          <p:nvPr/>
        </p:nvSpPr>
        <p:spPr>
          <a:xfrm>
            <a:off x="1005840"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امنحه فرصة ليمتثل بلا جمهور</a:t>
            </a:r>
            <a:endParaRPr lang="ar-SA" sz="2000" dirty="0"/>
          </a:p>
        </p:txBody>
      </p:sp>
      <p:sp>
        <p:nvSpPr>
          <p:cNvPr id="27" name="Text 2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8" name="Text 2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شاشة تحت الطاولة  ·  ١٥٠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400"/>
                                        <p:tgtEl>
                                          <p:spTgt spid="1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40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4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400"/>
                                        <p:tgtEl>
                                          <p:spTgt spid="1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400"/>
                                        <p:tgtEl>
                                          <p:spTgt spid="2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400"/>
                                        <p:tgtEl>
                                          <p:spTgt spid="21"/>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400"/>
                                        <p:tgtEl>
                                          <p:spTgt spid="2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400"/>
                                        <p:tgtEl>
                                          <p:spTgt spid="2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400"/>
                                        <p:tgtEl>
                                          <p:spTgt spid="2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400"/>
                                        <p:tgtEl>
                                          <p:spTgt spid="2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151.xml><?xml version="1.0" encoding="utf-8"?>
<p:sld xmlns:a="http://schemas.openxmlformats.org/drawingml/2006/main" xmlns:r="http://schemas.openxmlformats.org/officeDocument/2006/relationships" xmlns:p="http://schemas.openxmlformats.org/presentationml/2006/main">
  <p:cSld name="Slide 15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588959" y="457200"/>
            <a:ext cx="2779776" cy="457200"/>
          </a:xfrm>
          <a:prstGeom prst="roundRect">
            <a:avLst>
              <a:gd name="adj" fmla="val 50000"/>
            </a:avLst>
          </a:prstGeom>
          <a:solidFill>
            <a:srgbClr val="F6EBCF"/>
          </a:solidFill>
          <a:ln/>
        </p:spPr>
      </p:sp>
      <p:sp>
        <p:nvSpPr>
          <p:cNvPr id="3" name="Text 1"/>
          <p:cNvSpPr/>
          <p:nvPr/>
        </p:nvSpPr>
        <p:spPr>
          <a:xfrm>
            <a:off x="8588959" y="457200"/>
            <a:ext cx="277977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الجُمل الجاهزة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ماذا تقول بالحرف؟</a:t>
            </a:r>
            <a:endParaRPr lang="ar-SA" sz="3800" dirty="0"/>
          </a:p>
        </p:txBody>
      </p:sp>
      <p:sp>
        <p:nvSpPr>
          <p:cNvPr id="5" name="anim-g1-1648"/>
          <p:cNvSpPr/>
          <p:nvPr/>
        </p:nvSpPr>
        <p:spPr>
          <a:xfrm>
            <a:off x="9768535" y="2130552"/>
            <a:ext cx="1600200" cy="819912"/>
          </a:xfrm>
          <a:prstGeom prst="roundRect">
            <a:avLst>
              <a:gd name="adj" fmla="val 16729"/>
            </a:avLst>
          </a:prstGeom>
          <a:solidFill>
            <a:srgbClr val="E9EDF9"/>
          </a:solidFill>
          <a:ln/>
        </p:spPr>
      </p:sp>
      <p:sp>
        <p:nvSpPr>
          <p:cNvPr id="6" name="anim-g1-1649"/>
          <p:cNvSpPr/>
          <p:nvPr/>
        </p:nvSpPr>
        <p:spPr>
          <a:xfrm>
            <a:off x="9814255" y="2130552"/>
            <a:ext cx="1508760" cy="81991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همسًا بجانبه</a:t>
            </a:r>
            <a:endParaRPr lang="ar-SA" sz="1800" dirty="0"/>
          </a:p>
        </p:txBody>
      </p:sp>
      <p:sp>
        <p:nvSpPr>
          <p:cNvPr id="7" name="anim-g1-1650"/>
          <p:cNvSpPr/>
          <p:nvPr/>
        </p:nvSpPr>
        <p:spPr>
          <a:xfrm>
            <a:off x="822960" y="2057400"/>
            <a:ext cx="8716975" cy="966216"/>
          </a:xfrm>
          <a:prstGeom prst="roundRect">
            <a:avLst>
              <a:gd name="adj" fmla="val 20820"/>
            </a:avLst>
          </a:prstGeom>
          <a:solidFill>
            <a:srgbClr val="101B45"/>
          </a:solidFill>
          <a:ln/>
        </p:spPr>
      </p:sp>
      <p:sp>
        <p:nvSpPr>
          <p:cNvPr id="8" name="anim-g1-1651"/>
          <p:cNvSpPr/>
          <p:nvPr/>
        </p:nvSpPr>
        <p:spPr>
          <a:xfrm>
            <a:off x="1097280" y="2057400"/>
            <a:ext cx="8168335" cy="966216"/>
          </a:xfrm>
          <a:prstGeom prst="rect">
            <a:avLst/>
          </a:prstGeom>
          <a:noFill/>
          <a:ln/>
        </p:spPr>
        <p:txBody>
          <a:bodyPr wrap="square" lIns="0" tIns="0" rIns="0" bIns="0" rtlCol="0" anchor="ctr">
            <a:normAutofit/>
          </a:bodyPr>
          <a:lstStyle/>
          <a:p>
            <a:pPr algn="r" indent="0" marL="0">
              <a:buNone/>
            </a:pPr>
            <a:r>
              <a:rPr lang="ar-SA" altLang="en-US" sz="2400" b="1" dirty="0">
                <a:solidFill>
                  <a:srgbClr val="D9AE4B"/>
                </a:solidFill>
                <a:latin typeface="Cairo" pitchFamily="34" charset="0"/>
                <a:ea typeface="Cairo" pitchFamily="34" charset="-122"/>
                <a:cs typeface="Cairo" pitchFamily="34" charset="-120"/>
              </a:rPr>
              <a:t>« </a:t>
            </a:r>
            <a:pPr algn="r" indent="0" marL="0">
              <a:buNone/>
            </a:pPr>
            <a:r>
              <a:rPr lang="ar-SA" altLang="en-US" sz="2400" b="1" dirty="0">
                <a:solidFill>
                  <a:srgbClr val="FFFFFF"/>
                </a:solidFill>
                <a:latin typeface="Cairo" pitchFamily="34" charset="0"/>
                <a:ea typeface="Cairo" pitchFamily="34" charset="-122"/>
                <a:cs typeface="Cairo" pitchFamily="34" charset="-120"/>
              </a:rPr>
              <a:t>يزن، الجوال في الحقيبة الآن، وتابع معنا. شكرًا لك</a:t>
            </a:r>
            <a:pPr algn="r" indent="0" marL="0">
              <a:buNone/>
            </a:pPr>
            <a:r>
              <a:rPr lang="ar-SA" altLang="en-US" sz="2400" b="1" dirty="0">
                <a:solidFill>
                  <a:srgbClr val="D9AE4B"/>
                </a:solidFill>
                <a:latin typeface="Cairo" pitchFamily="34" charset="0"/>
                <a:ea typeface="Cairo" pitchFamily="34" charset="-122"/>
                <a:cs typeface="Cairo" pitchFamily="34" charset="-120"/>
              </a:rPr>
              <a:t> »</a:t>
            </a:r>
            <a:endParaRPr lang="ar-SA" sz="2400" dirty="0"/>
          </a:p>
        </p:txBody>
      </p:sp>
      <p:sp>
        <p:nvSpPr>
          <p:cNvPr id="9" name="anim-g2-1652"/>
          <p:cNvSpPr/>
          <p:nvPr/>
        </p:nvSpPr>
        <p:spPr>
          <a:xfrm>
            <a:off x="9768535" y="3243072"/>
            <a:ext cx="1600200" cy="819912"/>
          </a:xfrm>
          <a:prstGeom prst="roundRect">
            <a:avLst>
              <a:gd name="adj" fmla="val 16729"/>
            </a:avLst>
          </a:prstGeom>
          <a:solidFill>
            <a:srgbClr val="E9EDF9"/>
          </a:solidFill>
          <a:ln/>
        </p:spPr>
      </p:sp>
      <p:sp>
        <p:nvSpPr>
          <p:cNvPr id="10" name="anim-g2-1653"/>
          <p:cNvSpPr/>
          <p:nvPr/>
        </p:nvSpPr>
        <p:spPr>
          <a:xfrm>
            <a:off x="9814255" y="3243072"/>
            <a:ext cx="1508760" cy="81991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إن رفض أمام الجميع</a:t>
            </a:r>
            <a:endParaRPr lang="ar-SA" sz="1800" dirty="0"/>
          </a:p>
        </p:txBody>
      </p:sp>
      <p:sp>
        <p:nvSpPr>
          <p:cNvPr id="11" name="anim-g2-1654"/>
          <p:cNvSpPr/>
          <p:nvPr/>
        </p:nvSpPr>
        <p:spPr>
          <a:xfrm>
            <a:off x="822960" y="3169920"/>
            <a:ext cx="8716975" cy="966216"/>
          </a:xfrm>
          <a:prstGeom prst="roundRect">
            <a:avLst>
              <a:gd name="adj" fmla="val 20820"/>
            </a:avLst>
          </a:prstGeom>
          <a:solidFill>
            <a:srgbClr val="101B45"/>
          </a:solidFill>
          <a:ln/>
        </p:spPr>
      </p:sp>
      <p:sp>
        <p:nvSpPr>
          <p:cNvPr id="12" name="anim-g2-1655"/>
          <p:cNvSpPr/>
          <p:nvPr/>
        </p:nvSpPr>
        <p:spPr>
          <a:xfrm>
            <a:off x="1097280" y="3169920"/>
            <a:ext cx="8168335" cy="966216"/>
          </a:xfrm>
          <a:prstGeom prst="rect">
            <a:avLst/>
          </a:prstGeom>
          <a:noFill/>
          <a:ln/>
        </p:spPr>
        <p:txBody>
          <a:bodyPr wrap="square" lIns="0" tIns="0" rIns="0" bIns="0" rtlCol="0" anchor="ctr">
            <a:normAutofit/>
          </a:bodyPr>
          <a:lstStyle/>
          <a:p>
            <a:pPr algn="r" indent="0" marL="0">
              <a:buNone/>
            </a:pPr>
            <a:r>
              <a:rPr lang="ar-SA" altLang="en-US" sz="2200" b="1" dirty="0">
                <a:solidFill>
                  <a:srgbClr val="D9AE4B"/>
                </a:solidFill>
                <a:latin typeface="Cairo" pitchFamily="34" charset="0"/>
                <a:ea typeface="Cairo" pitchFamily="34" charset="-122"/>
                <a:cs typeface="Cairo" pitchFamily="34" charset="-120"/>
              </a:rPr>
              <a:t>« </a:t>
            </a:r>
            <a:pPr algn="r" indent="0" marL="0">
              <a:buNone/>
            </a:pPr>
            <a:r>
              <a:rPr lang="ar-SA" altLang="en-US" sz="2200" b="1" dirty="0">
                <a:solidFill>
                  <a:srgbClr val="FFFFFF"/>
                </a:solidFill>
                <a:latin typeface="Cairo" pitchFamily="34" charset="0"/>
                <a:ea typeface="Cairo" pitchFamily="34" charset="-122"/>
                <a:cs typeface="Cairo" pitchFamily="34" charset="-120"/>
              </a:rPr>
              <a:t>لن نتناقش الآن. نكمل الدرس، وأنت وأنا نتحدث دقيقتين بعد الحصة</a:t>
            </a:r>
            <a:pPr algn="r" indent="0" marL="0">
              <a:buNone/>
            </a:pPr>
            <a:r>
              <a:rPr lang="ar-SA" altLang="en-US" sz="2200" b="1" dirty="0">
                <a:solidFill>
                  <a:srgbClr val="D9AE4B"/>
                </a:solidFill>
                <a:latin typeface="Cairo" pitchFamily="34" charset="0"/>
                <a:ea typeface="Cairo" pitchFamily="34" charset="-122"/>
                <a:cs typeface="Cairo" pitchFamily="34" charset="-120"/>
              </a:rPr>
              <a:t> »</a:t>
            </a:r>
            <a:endParaRPr lang="ar-SA" sz="2200" dirty="0"/>
          </a:p>
        </p:txBody>
      </p:sp>
      <p:sp>
        <p:nvSpPr>
          <p:cNvPr id="13" name="anim-g3-1656"/>
          <p:cNvSpPr/>
          <p:nvPr/>
        </p:nvSpPr>
        <p:spPr>
          <a:xfrm>
            <a:off x="9768535" y="4355592"/>
            <a:ext cx="1600200" cy="819912"/>
          </a:xfrm>
          <a:prstGeom prst="roundRect">
            <a:avLst>
              <a:gd name="adj" fmla="val 16729"/>
            </a:avLst>
          </a:prstGeom>
          <a:solidFill>
            <a:srgbClr val="E9EDF9"/>
          </a:solidFill>
          <a:ln/>
        </p:spPr>
      </p:sp>
      <p:sp>
        <p:nvSpPr>
          <p:cNvPr id="14" name="anim-g3-1657"/>
          <p:cNvSpPr/>
          <p:nvPr/>
        </p:nvSpPr>
        <p:spPr>
          <a:xfrm>
            <a:off x="9814255" y="4355592"/>
            <a:ext cx="1508760" cy="81991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في الحوار الخاص</a:t>
            </a:r>
            <a:endParaRPr lang="ar-SA" sz="1800" dirty="0"/>
          </a:p>
        </p:txBody>
      </p:sp>
      <p:sp>
        <p:nvSpPr>
          <p:cNvPr id="15" name="anim-g3-1658"/>
          <p:cNvSpPr/>
          <p:nvPr/>
        </p:nvSpPr>
        <p:spPr>
          <a:xfrm>
            <a:off x="822960" y="4282440"/>
            <a:ext cx="8716975" cy="966216"/>
          </a:xfrm>
          <a:prstGeom prst="roundRect">
            <a:avLst>
              <a:gd name="adj" fmla="val 20820"/>
            </a:avLst>
          </a:prstGeom>
          <a:solidFill>
            <a:srgbClr val="101B45"/>
          </a:solidFill>
          <a:ln/>
        </p:spPr>
      </p:sp>
      <p:sp>
        <p:nvSpPr>
          <p:cNvPr id="16" name="anim-g3-1659"/>
          <p:cNvSpPr/>
          <p:nvPr/>
        </p:nvSpPr>
        <p:spPr>
          <a:xfrm>
            <a:off x="1097280" y="4282440"/>
            <a:ext cx="8168335" cy="966216"/>
          </a:xfrm>
          <a:prstGeom prst="rect">
            <a:avLst/>
          </a:prstGeom>
          <a:noFill/>
          <a:ln/>
        </p:spPr>
        <p:txBody>
          <a:bodyPr wrap="square" lIns="0" tIns="0" rIns="0" bIns="0" rtlCol="0" anchor="ctr">
            <a:normAutofit/>
          </a:bodyPr>
          <a:lstStyle/>
          <a:p>
            <a:pPr algn="r" indent="0" marL="0">
              <a:buNone/>
            </a:pPr>
            <a:r>
              <a:rPr lang="ar-SA" altLang="en-US" sz="2000" b="1" dirty="0">
                <a:solidFill>
                  <a:srgbClr val="D9AE4B"/>
                </a:solidFill>
                <a:latin typeface="Cairo" pitchFamily="34" charset="0"/>
                <a:ea typeface="Cairo" pitchFamily="34" charset="-122"/>
                <a:cs typeface="Cairo" pitchFamily="34" charset="-120"/>
              </a:rPr>
              <a:t>« </a:t>
            </a:r>
            <a:pPr algn="r" indent="0" marL="0">
              <a:buNone/>
            </a:pPr>
            <a:r>
              <a:rPr lang="ar-SA" altLang="en-US" sz="2000" b="1" dirty="0">
                <a:solidFill>
                  <a:srgbClr val="FFFFFF"/>
                </a:solidFill>
                <a:latin typeface="Cairo" pitchFamily="34" charset="0"/>
                <a:ea typeface="Cairo" pitchFamily="34" charset="-122"/>
                <a:cs typeface="Cairo" pitchFamily="34" charset="-120"/>
              </a:rPr>
              <a:t>لاحظت أن الجوال أخذك مني اليوم، هل هناك أمر مهم؟ القاعدة للجميع، فما الذي يساعدك على الالتزام بها؟</a:t>
            </a:r>
            <a:pPr algn="r" indent="0" marL="0">
              <a:buNone/>
            </a:pPr>
            <a:r>
              <a:rPr lang="ar-SA" altLang="en-US" sz="2000" b="1" dirty="0">
                <a:solidFill>
                  <a:srgbClr val="D9AE4B"/>
                </a:solidFill>
                <a:latin typeface="Cairo" pitchFamily="34" charset="0"/>
                <a:ea typeface="Cairo" pitchFamily="34" charset="-122"/>
                <a:cs typeface="Cairo" pitchFamily="34" charset="-120"/>
              </a:rPr>
              <a:t> »</a:t>
            </a:r>
            <a:endParaRPr lang="ar-SA" sz="2000" dirty="0"/>
          </a:p>
        </p:txBody>
      </p:sp>
      <p:sp>
        <p:nvSpPr>
          <p:cNvPr id="17" name="anim-g4-1660"/>
          <p:cNvSpPr/>
          <p:nvPr/>
        </p:nvSpPr>
        <p:spPr>
          <a:xfrm>
            <a:off x="822960" y="5532120"/>
            <a:ext cx="10545775" cy="548640"/>
          </a:xfrm>
          <a:prstGeom prst="roundRect">
            <a:avLst>
              <a:gd name="adj" fmla="val 20000"/>
            </a:avLst>
          </a:prstGeom>
          <a:solidFill>
            <a:srgbClr val="FBECEC"/>
          </a:solidFill>
          <a:ln/>
        </p:spPr>
      </p:sp>
      <p:sp>
        <p:nvSpPr>
          <p:cNvPr id="18" name="anim-g4-1661"/>
          <p:cNvSpPr/>
          <p:nvPr/>
        </p:nvSpPr>
        <p:spPr>
          <a:xfrm>
            <a:off x="11295583" y="5532120"/>
            <a:ext cx="73152" cy="548640"/>
          </a:xfrm>
          <a:prstGeom prst="rect">
            <a:avLst/>
          </a:prstGeom>
          <a:solidFill>
            <a:srgbClr val="D64545"/>
          </a:solidFill>
          <a:ln/>
        </p:spPr>
      </p:sp>
      <p:sp>
        <p:nvSpPr>
          <p:cNvPr id="19" name="anim-g4-1662"/>
          <p:cNvSpPr/>
          <p:nvPr/>
        </p:nvSpPr>
        <p:spPr>
          <a:xfrm>
            <a:off x="1005840" y="5532120"/>
            <a:ext cx="10088575" cy="548640"/>
          </a:xfrm>
          <a:prstGeom prst="rect">
            <a:avLst/>
          </a:prstGeom>
          <a:noFill/>
          <a:ln/>
        </p:spPr>
        <p:txBody>
          <a:bodyPr wrap="square" lIns="0" tIns="0" rIns="0" bIns="0" rtlCol="0" anchor="ctr">
            <a:normAutofit/>
          </a:bodyPr>
          <a:lstStyle/>
          <a:p>
            <a:pPr rtl="1" algn="r" indent="0" marL="0">
              <a:buNone/>
            </a:pPr>
            <a:r>
              <a:rPr lang="ar-SA" altLang="en-US" sz="1900" b="1" dirty="0">
                <a:solidFill>
                  <a:srgbClr val="8E2A2A"/>
                </a:solidFill>
                <a:latin typeface="Cairo" pitchFamily="34" charset="0"/>
                <a:ea typeface="Cairo" pitchFamily="34" charset="-122"/>
                <a:cs typeface="Cairo" pitchFamily="34" charset="-120"/>
              </a:rPr>
              <a:t>⚠️ تجنّب: «هات الجوال حالًا!» · «أنت دائمًا هكذا»</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شاشة تحت الطاولة  ·  ١٥١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52.xml><?xml version="1.0" encoding="utf-8"?>
<p:sld xmlns:a="http://schemas.openxmlformats.org/drawingml/2006/main" xmlns:r="http://schemas.openxmlformats.org/officeDocument/2006/relationships" xmlns:p="http://schemas.openxmlformats.org/presentationml/2006/main">
  <p:cSld name="Slide 15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931359" y="457200"/>
            <a:ext cx="6437376" cy="457200"/>
          </a:xfrm>
          <a:prstGeom prst="roundRect">
            <a:avLst>
              <a:gd name="adj" fmla="val 50000"/>
            </a:avLst>
          </a:prstGeom>
          <a:solidFill>
            <a:srgbClr val="F6EBCF"/>
          </a:solidFill>
          <a:ln/>
        </p:spPr>
      </p:sp>
      <p:sp>
        <p:nvSpPr>
          <p:cNvPr id="3" name="Text 1"/>
          <p:cNvSpPr/>
          <p:nvPr/>
        </p:nvSpPr>
        <p:spPr>
          <a:xfrm>
            <a:off x="4931359" y="457200"/>
            <a:ext cx="643737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اصعد درجة فقط إذا لم تنجح التي قبلها</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سلّم التدخّل</a:t>
            </a:r>
            <a:endParaRPr lang="ar-SA" sz="3800" dirty="0"/>
          </a:p>
        </p:txBody>
      </p:sp>
      <p:sp>
        <p:nvSpPr>
          <p:cNvPr id="5" name="anim-g1-1663"/>
          <p:cNvSpPr/>
          <p:nvPr/>
        </p:nvSpPr>
        <p:spPr>
          <a:xfrm>
            <a:off x="822960" y="5349240"/>
            <a:ext cx="10545775" cy="594360"/>
          </a:xfrm>
          <a:prstGeom prst="roundRect">
            <a:avLst>
              <a:gd name="adj" fmla="val 21538"/>
            </a:avLst>
          </a:prstGeom>
          <a:solidFill>
            <a:srgbClr val="2E9E6B"/>
          </a:solidFill>
          <a:ln/>
        </p:spPr>
      </p:sp>
      <p:sp>
        <p:nvSpPr>
          <p:cNvPr id="6" name="anim-g1-1664"/>
          <p:cNvSpPr/>
          <p:nvPr/>
        </p:nvSpPr>
        <p:spPr>
          <a:xfrm>
            <a:off x="10801807" y="5440680"/>
            <a:ext cx="411480" cy="411480"/>
          </a:xfrm>
          <a:prstGeom prst="ellipse">
            <a:avLst/>
          </a:prstGeom>
          <a:solidFill>
            <a:srgbClr val="FFFFFF"/>
          </a:solidFill>
          <a:ln/>
        </p:spPr>
      </p:sp>
      <p:sp>
        <p:nvSpPr>
          <p:cNvPr id="7" name="anim-g1-1665"/>
          <p:cNvSpPr/>
          <p:nvPr/>
        </p:nvSpPr>
        <p:spPr>
          <a:xfrm>
            <a:off x="10801807" y="5440680"/>
            <a:ext cx="411480" cy="411480"/>
          </a:xfrm>
          <a:prstGeom prst="rect">
            <a:avLst/>
          </a:prstGeom>
          <a:noFill/>
          <a:ln/>
        </p:spPr>
        <p:txBody>
          <a:bodyPr wrap="square" lIns="0" tIns="0" rIns="0" bIns="0" rtlCol="0" anchor="ctr">
            <a:normAutofit/>
          </a:bodyPr>
          <a:lstStyle/>
          <a:p>
            <a:pPr rtl="1" algn="ctr" indent="0" marL="0">
              <a:buNone/>
            </a:pPr>
            <a:r>
              <a:rPr lang="ar-SA" altLang="en-US" sz="1500" dirty="0">
                <a:solidFill>
                  <a:srgbClr val="2E9E6B"/>
                </a:solidFill>
                <a:latin typeface="Cairo Black" pitchFamily="34" charset="0"/>
                <a:ea typeface="Cairo Black" pitchFamily="34" charset="-122"/>
                <a:cs typeface="Cairo Black" pitchFamily="34" charset="-120"/>
              </a:rPr>
              <a:t>١</a:t>
            </a:r>
            <a:endParaRPr lang="ar-SA" sz="1500" dirty="0"/>
          </a:p>
        </p:txBody>
      </p:sp>
      <p:sp>
        <p:nvSpPr>
          <p:cNvPr id="8" name="anim-g1-1666"/>
          <p:cNvSpPr/>
          <p:nvPr/>
        </p:nvSpPr>
        <p:spPr>
          <a:xfrm>
            <a:off x="1005840" y="5349240"/>
            <a:ext cx="9631375" cy="594360"/>
          </a:xfrm>
          <a:prstGeom prst="rect">
            <a:avLst/>
          </a:prstGeom>
          <a:noFill/>
          <a:ln/>
        </p:spPr>
        <p:txBody>
          <a:bodyPr wrap="square" lIns="0" tIns="0" rIns="0" bIns="0" rtlCol="0" anchor="ctr">
            <a:normAutofit/>
          </a:bodyPr>
          <a:lstStyle/>
          <a:p>
            <a:pPr rtl="1" algn="r" indent="0" marL="0">
              <a:buNone/>
            </a:pPr>
            <a:r>
              <a:rPr lang="ar-SA" altLang="en-US" sz="2100" b="1" dirty="0">
                <a:solidFill>
                  <a:srgbClr val="FFFFFF"/>
                </a:solidFill>
                <a:latin typeface="Cairo" pitchFamily="34" charset="0"/>
                <a:ea typeface="Cairo" pitchFamily="34" charset="-122"/>
                <a:cs typeface="Cairo" pitchFamily="34" charset="-120"/>
              </a:rPr>
              <a:t>نظرة واقتراب صامت</a:t>
            </a:r>
            <a:endParaRPr lang="ar-SA" sz="2100" dirty="0"/>
          </a:p>
        </p:txBody>
      </p:sp>
      <p:sp>
        <p:nvSpPr>
          <p:cNvPr id="9" name="anim-g2-1667"/>
          <p:cNvSpPr/>
          <p:nvPr/>
        </p:nvSpPr>
        <p:spPr>
          <a:xfrm>
            <a:off x="822960" y="4663440"/>
            <a:ext cx="10088575" cy="594360"/>
          </a:xfrm>
          <a:prstGeom prst="roundRect">
            <a:avLst>
              <a:gd name="adj" fmla="val 21538"/>
            </a:avLst>
          </a:prstGeom>
          <a:solidFill>
            <a:srgbClr val="5A9E4B"/>
          </a:solidFill>
          <a:ln/>
        </p:spPr>
      </p:sp>
      <p:sp>
        <p:nvSpPr>
          <p:cNvPr id="10" name="anim-g2-1668"/>
          <p:cNvSpPr/>
          <p:nvPr/>
        </p:nvSpPr>
        <p:spPr>
          <a:xfrm>
            <a:off x="10344607" y="4754880"/>
            <a:ext cx="411480" cy="411480"/>
          </a:xfrm>
          <a:prstGeom prst="ellipse">
            <a:avLst/>
          </a:prstGeom>
          <a:solidFill>
            <a:srgbClr val="FFFFFF"/>
          </a:solidFill>
          <a:ln/>
        </p:spPr>
      </p:sp>
      <p:sp>
        <p:nvSpPr>
          <p:cNvPr id="11" name="anim-g2-1669"/>
          <p:cNvSpPr/>
          <p:nvPr/>
        </p:nvSpPr>
        <p:spPr>
          <a:xfrm>
            <a:off x="10344607" y="4754880"/>
            <a:ext cx="411480" cy="411480"/>
          </a:xfrm>
          <a:prstGeom prst="rect">
            <a:avLst/>
          </a:prstGeom>
          <a:noFill/>
          <a:ln/>
        </p:spPr>
        <p:txBody>
          <a:bodyPr wrap="square" lIns="0" tIns="0" rIns="0" bIns="0" rtlCol="0" anchor="ctr">
            <a:normAutofit/>
          </a:bodyPr>
          <a:lstStyle/>
          <a:p>
            <a:pPr rtl="1" algn="ctr" indent="0" marL="0">
              <a:buNone/>
            </a:pPr>
            <a:r>
              <a:rPr lang="ar-SA" altLang="en-US" sz="1500" dirty="0">
                <a:solidFill>
                  <a:srgbClr val="5A9E4B"/>
                </a:solidFill>
                <a:latin typeface="Cairo Black" pitchFamily="34" charset="0"/>
                <a:ea typeface="Cairo Black" pitchFamily="34" charset="-122"/>
                <a:cs typeface="Cairo Black" pitchFamily="34" charset="-120"/>
              </a:rPr>
              <a:t>٢</a:t>
            </a:r>
            <a:endParaRPr lang="ar-SA" sz="1500" dirty="0"/>
          </a:p>
        </p:txBody>
      </p:sp>
      <p:sp>
        <p:nvSpPr>
          <p:cNvPr id="12" name="anim-g2-1670"/>
          <p:cNvSpPr/>
          <p:nvPr/>
        </p:nvSpPr>
        <p:spPr>
          <a:xfrm>
            <a:off x="1005840" y="4663440"/>
            <a:ext cx="9174175" cy="594360"/>
          </a:xfrm>
          <a:prstGeom prst="rect">
            <a:avLst/>
          </a:prstGeom>
          <a:noFill/>
          <a:ln/>
        </p:spPr>
        <p:txBody>
          <a:bodyPr wrap="square" lIns="0" tIns="0" rIns="0" bIns="0" rtlCol="0" anchor="ctr">
            <a:normAutofit/>
          </a:bodyPr>
          <a:lstStyle/>
          <a:p>
            <a:pPr rtl="1" algn="r" indent="0" marL="0">
              <a:buNone/>
            </a:pPr>
            <a:r>
              <a:rPr lang="ar-SA" altLang="en-US" sz="2100" b="1" dirty="0">
                <a:solidFill>
                  <a:srgbClr val="FFFFFF"/>
                </a:solidFill>
                <a:latin typeface="Cairo" pitchFamily="34" charset="0"/>
                <a:ea typeface="Cairo" pitchFamily="34" charset="-122"/>
                <a:cs typeface="Cairo" pitchFamily="34" charset="-120"/>
              </a:rPr>
              <a:t>همسة بجانبه</a:t>
            </a:r>
            <a:endParaRPr lang="ar-SA" sz="2100" dirty="0"/>
          </a:p>
        </p:txBody>
      </p:sp>
      <p:sp>
        <p:nvSpPr>
          <p:cNvPr id="13" name="anim-g3-1671"/>
          <p:cNvSpPr/>
          <p:nvPr/>
        </p:nvSpPr>
        <p:spPr>
          <a:xfrm>
            <a:off x="822960" y="3977640"/>
            <a:ext cx="9631375" cy="594360"/>
          </a:xfrm>
          <a:prstGeom prst="roundRect">
            <a:avLst>
              <a:gd name="adj" fmla="val 21538"/>
            </a:avLst>
          </a:prstGeom>
          <a:solidFill>
            <a:srgbClr val="B7A034"/>
          </a:solidFill>
          <a:ln/>
        </p:spPr>
      </p:sp>
      <p:sp>
        <p:nvSpPr>
          <p:cNvPr id="14" name="anim-g3-1672"/>
          <p:cNvSpPr/>
          <p:nvPr/>
        </p:nvSpPr>
        <p:spPr>
          <a:xfrm>
            <a:off x="9887407" y="4069080"/>
            <a:ext cx="411480" cy="411480"/>
          </a:xfrm>
          <a:prstGeom prst="ellipse">
            <a:avLst/>
          </a:prstGeom>
          <a:solidFill>
            <a:srgbClr val="FFFFFF"/>
          </a:solidFill>
          <a:ln/>
        </p:spPr>
      </p:sp>
      <p:sp>
        <p:nvSpPr>
          <p:cNvPr id="15" name="anim-g3-1673"/>
          <p:cNvSpPr/>
          <p:nvPr/>
        </p:nvSpPr>
        <p:spPr>
          <a:xfrm>
            <a:off x="9887407" y="4069080"/>
            <a:ext cx="411480" cy="411480"/>
          </a:xfrm>
          <a:prstGeom prst="rect">
            <a:avLst/>
          </a:prstGeom>
          <a:noFill/>
          <a:ln/>
        </p:spPr>
        <p:txBody>
          <a:bodyPr wrap="square" lIns="0" tIns="0" rIns="0" bIns="0" rtlCol="0" anchor="ctr">
            <a:normAutofit/>
          </a:bodyPr>
          <a:lstStyle/>
          <a:p>
            <a:pPr rtl="1" algn="ctr" indent="0" marL="0">
              <a:buNone/>
            </a:pPr>
            <a:r>
              <a:rPr lang="ar-SA" altLang="en-US" sz="1500" dirty="0">
                <a:solidFill>
                  <a:srgbClr val="B7A034"/>
                </a:solidFill>
                <a:latin typeface="Cairo Black" pitchFamily="34" charset="0"/>
                <a:ea typeface="Cairo Black" pitchFamily="34" charset="-122"/>
                <a:cs typeface="Cairo Black" pitchFamily="34" charset="-120"/>
              </a:rPr>
              <a:t>٣</a:t>
            </a:r>
            <a:endParaRPr lang="ar-SA" sz="1500" dirty="0"/>
          </a:p>
        </p:txBody>
      </p:sp>
      <p:sp>
        <p:nvSpPr>
          <p:cNvPr id="16" name="anim-g3-1674"/>
          <p:cNvSpPr/>
          <p:nvPr/>
        </p:nvSpPr>
        <p:spPr>
          <a:xfrm>
            <a:off x="1005840" y="3977640"/>
            <a:ext cx="8716975" cy="594360"/>
          </a:xfrm>
          <a:prstGeom prst="rect">
            <a:avLst/>
          </a:prstGeom>
          <a:noFill/>
          <a:ln/>
        </p:spPr>
        <p:txBody>
          <a:bodyPr wrap="square" lIns="0" tIns="0" rIns="0" bIns="0" rtlCol="0" anchor="ctr">
            <a:normAutofit/>
          </a:bodyPr>
          <a:lstStyle/>
          <a:p>
            <a:pPr rtl="1" algn="r" indent="0" marL="0">
              <a:buNone/>
            </a:pPr>
            <a:r>
              <a:rPr lang="ar-SA" altLang="en-US" sz="2100" b="1" dirty="0">
                <a:solidFill>
                  <a:srgbClr val="FFFFFF"/>
                </a:solidFill>
                <a:latin typeface="Cairo" pitchFamily="34" charset="0"/>
                <a:ea typeface="Cairo" pitchFamily="34" charset="-122"/>
                <a:cs typeface="Cairo" pitchFamily="34" charset="-120"/>
              </a:rPr>
              <a:t>خيار محدد: «في الحقيبة أو على طاولتي حتى نهاية الحصة، أنت تختار»</a:t>
            </a:r>
            <a:endParaRPr lang="ar-SA" sz="2100" dirty="0"/>
          </a:p>
        </p:txBody>
      </p:sp>
      <p:sp>
        <p:nvSpPr>
          <p:cNvPr id="17" name="anim-g4-1675"/>
          <p:cNvSpPr/>
          <p:nvPr/>
        </p:nvSpPr>
        <p:spPr>
          <a:xfrm>
            <a:off x="822960" y="3291840"/>
            <a:ext cx="9174175" cy="594360"/>
          </a:xfrm>
          <a:prstGeom prst="roundRect">
            <a:avLst>
              <a:gd name="adj" fmla="val 21538"/>
            </a:avLst>
          </a:prstGeom>
          <a:solidFill>
            <a:srgbClr val="D99A2B"/>
          </a:solidFill>
          <a:ln/>
        </p:spPr>
      </p:sp>
      <p:sp>
        <p:nvSpPr>
          <p:cNvPr id="18" name="anim-g4-1676"/>
          <p:cNvSpPr/>
          <p:nvPr/>
        </p:nvSpPr>
        <p:spPr>
          <a:xfrm>
            <a:off x="9430207" y="3383280"/>
            <a:ext cx="411480" cy="411480"/>
          </a:xfrm>
          <a:prstGeom prst="ellipse">
            <a:avLst/>
          </a:prstGeom>
          <a:solidFill>
            <a:srgbClr val="FFFFFF"/>
          </a:solidFill>
          <a:ln/>
        </p:spPr>
      </p:sp>
      <p:sp>
        <p:nvSpPr>
          <p:cNvPr id="19" name="anim-g4-1677"/>
          <p:cNvSpPr/>
          <p:nvPr/>
        </p:nvSpPr>
        <p:spPr>
          <a:xfrm>
            <a:off x="9430207" y="3383280"/>
            <a:ext cx="411480" cy="411480"/>
          </a:xfrm>
          <a:prstGeom prst="rect">
            <a:avLst/>
          </a:prstGeom>
          <a:noFill/>
          <a:ln/>
        </p:spPr>
        <p:txBody>
          <a:bodyPr wrap="square" lIns="0" tIns="0" rIns="0" bIns="0" rtlCol="0" anchor="ctr">
            <a:normAutofit/>
          </a:bodyPr>
          <a:lstStyle/>
          <a:p>
            <a:pPr rtl="1" algn="ctr" indent="0" marL="0">
              <a:buNone/>
            </a:pPr>
            <a:r>
              <a:rPr lang="ar-SA" altLang="en-US" sz="1500" dirty="0">
                <a:solidFill>
                  <a:srgbClr val="D99A2B"/>
                </a:solidFill>
                <a:latin typeface="Cairo Black" pitchFamily="34" charset="0"/>
                <a:ea typeface="Cairo Black" pitchFamily="34" charset="-122"/>
                <a:cs typeface="Cairo Black" pitchFamily="34" charset="-120"/>
              </a:rPr>
              <a:t>٤</a:t>
            </a:r>
            <a:endParaRPr lang="ar-SA" sz="1500" dirty="0"/>
          </a:p>
        </p:txBody>
      </p:sp>
      <p:sp>
        <p:nvSpPr>
          <p:cNvPr id="20" name="anim-g4-1678"/>
          <p:cNvSpPr/>
          <p:nvPr/>
        </p:nvSpPr>
        <p:spPr>
          <a:xfrm>
            <a:off x="1005840" y="3291840"/>
            <a:ext cx="8259775" cy="594360"/>
          </a:xfrm>
          <a:prstGeom prst="rect">
            <a:avLst/>
          </a:prstGeom>
          <a:noFill/>
          <a:ln/>
        </p:spPr>
        <p:txBody>
          <a:bodyPr wrap="square" lIns="0" tIns="0" rIns="0" bIns="0" rtlCol="0" anchor="ctr">
            <a:normAutofit/>
          </a:bodyPr>
          <a:lstStyle/>
          <a:p>
            <a:pPr rtl="1" algn="r" indent="0" marL="0">
              <a:buNone/>
            </a:pPr>
            <a:r>
              <a:rPr lang="ar-SA" altLang="en-US" sz="2100" b="1" dirty="0">
                <a:solidFill>
                  <a:srgbClr val="FFFFFF"/>
                </a:solidFill>
                <a:latin typeface="Cairo" pitchFamily="34" charset="0"/>
                <a:ea typeface="Cairo" pitchFamily="34" charset="-122"/>
                <a:cs typeface="Cairo" pitchFamily="34" charset="-120"/>
              </a:rPr>
              <a:t>حوار خاص بعد الحصة</a:t>
            </a:r>
            <a:endParaRPr lang="ar-SA" sz="2100" dirty="0"/>
          </a:p>
        </p:txBody>
      </p:sp>
      <p:sp>
        <p:nvSpPr>
          <p:cNvPr id="21" name="anim-g5-1679"/>
          <p:cNvSpPr/>
          <p:nvPr/>
        </p:nvSpPr>
        <p:spPr>
          <a:xfrm>
            <a:off x="822960" y="2606040"/>
            <a:ext cx="8716975" cy="594360"/>
          </a:xfrm>
          <a:prstGeom prst="roundRect">
            <a:avLst>
              <a:gd name="adj" fmla="val 21538"/>
            </a:avLst>
          </a:prstGeom>
          <a:solidFill>
            <a:srgbClr val="D9722B"/>
          </a:solidFill>
          <a:ln/>
        </p:spPr>
      </p:sp>
      <p:sp>
        <p:nvSpPr>
          <p:cNvPr id="22" name="anim-g5-1680"/>
          <p:cNvSpPr/>
          <p:nvPr/>
        </p:nvSpPr>
        <p:spPr>
          <a:xfrm>
            <a:off x="8973007" y="2697480"/>
            <a:ext cx="411480" cy="411480"/>
          </a:xfrm>
          <a:prstGeom prst="ellipse">
            <a:avLst/>
          </a:prstGeom>
          <a:solidFill>
            <a:srgbClr val="FFFFFF"/>
          </a:solidFill>
          <a:ln/>
        </p:spPr>
      </p:sp>
      <p:sp>
        <p:nvSpPr>
          <p:cNvPr id="23" name="anim-g5-1681"/>
          <p:cNvSpPr/>
          <p:nvPr/>
        </p:nvSpPr>
        <p:spPr>
          <a:xfrm>
            <a:off x="8973007" y="2697480"/>
            <a:ext cx="411480" cy="411480"/>
          </a:xfrm>
          <a:prstGeom prst="rect">
            <a:avLst/>
          </a:prstGeom>
          <a:noFill/>
          <a:ln/>
        </p:spPr>
        <p:txBody>
          <a:bodyPr wrap="square" lIns="0" tIns="0" rIns="0" bIns="0" rtlCol="0" anchor="ctr">
            <a:normAutofit/>
          </a:bodyPr>
          <a:lstStyle/>
          <a:p>
            <a:pPr rtl="1" algn="ctr" indent="0" marL="0">
              <a:buNone/>
            </a:pPr>
            <a:r>
              <a:rPr lang="ar-SA" altLang="en-US" sz="1500" dirty="0">
                <a:solidFill>
                  <a:srgbClr val="D9722B"/>
                </a:solidFill>
                <a:latin typeface="Cairo Black" pitchFamily="34" charset="0"/>
                <a:ea typeface="Cairo Black" pitchFamily="34" charset="-122"/>
                <a:cs typeface="Cairo Black" pitchFamily="34" charset="-120"/>
              </a:rPr>
              <a:t>٥</a:t>
            </a:r>
            <a:endParaRPr lang="ar-SA" sz="1500" dirty="0"/>
          </a:p>
        </p:txBody>
      </p:sp>
      <p:sp>
        <p:nvSpPr>
          <p:cNvPr id="24" name="anim-g5-1682"/>
          <p:cNvSpPr/>
          <p:nvPr/>
        </p:nvSpPr>
        <p:spPr>
          <a:xfrm>
            <a:off x="1005840" y="2606040"/>
            <a:ext cx="7802575" cy="594360"/>
          </a:xfrm>
          <a:prstGeom prst="rect">
            <a:avLst/>
          </a:prstGeom>
          <a:noFill/>
          <a:ln/>
        </p:spPr>
        <p:txBody>
          <a:bodyPr wrap="square" lIns="0" tIns="0" rIns="0" bIns="0" rtlCol="0" anchor="ctr">
            <a:normAutofit/>
          </a:bodyPr>
          <a:lstStyle/>
          <a:p>
            <a:pPr rtl="1" algn="r" indent="0" marL="0">
              <a:buNone/>
            </a:pPr>
            <a:r>
              <a:rPr lang="ar-SA" altLang="en-US" sz="2100" b="1" dirty="0">
                <a:solidFill>
                  <a:srgbClr val="FFFFFF"/>
                </a:solidFill>
                <a:latin typeface="Cairo" pitchFamily="34" charset="0"/>
                <a:ea typeface="Cairo" pitchFamily="34" charset="-122"/>
                <a:cs typeface="Cairo" pitchFamily="34" charset="-120"/>
              </a:rPr>
              <a:t>تواصل مع ولي الأمر بلغة الشراكة</a:t>
            </a:r>
            <a:endParaRPr lang="ar-SA" sz="2100" dirty="0"/>
          </a:p>
        </p:txBody>
      </p:sp>
      <p:sp>
        <p:nvSpPr>
          <p:cNvPr id="25" name="anim-g6-1683"/>
          <p:cNvSpPr/>
          <p:nvPr/>
        </p:nvSpPr>
        <p:spPr>
          <a:xfrm>
            <a:off x="822960" y="1920240"/>
            <a:ext cx="8259775" cy="594360"/>
          </a:xfrm>
          <a:prstGeom prst="roundRect">
            <a:avLst>
              <a:gd name="adj" fmla="val 21538"/>
            </a:avLst>
          </a:prstGeom>
          <a:solidFill>
            <a:srgbClr val="C94040"/>
          </a:solidFill>
          <a:ln/>
        </p:spPr>
      </p:sp>
      <p:sp>
        <p:nvSpPr>
          <p:cNvPr id="26" name="anim-g6-1684"/>
          <p:cNvSpPr/>
          <p:nvPr/>
        </p:nvSpPr>
        <p:spPr>
          <a:xfrm>
            <a:off x="8515807" y="2011680"/>
            <a:ext cx="411480" cy="411480"/>
          </a:xfrm>
          <a:prstGeom prst="ellipse">
            <a:avLst/>
          </a:prstGeom>
          <a:solidFill>
            <a:srgbClr val="FFFFFF"/>
          </a:solidFill>
          <a:ln/>
        </p:spPr>
      </p:sp>
      <p:sp>
        <p:nvSpPr>
          <p:cNvPr id="27" name="anim-g6-1685"/>
          <p:cNvSpPr/>
          <p:nvPr/>
        </p:nvSpPr>
        <p:spPr>
          <a:xfrm>
            <a:off x="8515807" y="2011680"/>
            <a:ext cx="411480" cy="411480"/>
          </a:xfrm>
          <a:prstGeom prst="rect">
            <a:avLst/>
          </a:prstGeom>
          <a:noFill/>
          <a:ln/>
        </p:spPr>
        <p:txBody>
          <a:bodyPr wrap="square" lIns="0" tIns="0" rIns="0" bIns="0" rtlCol="0" anchor="ctr">
            <a:normAutofit/>
          </a:bodyPr>
          <a:lstStyle/>
          <a:p>
            <a:pPr rtl="1" algn="ctr" indent="0" marL="0">
              <a:buNone/>
            </a:pPr>
            <a:r>
              <a:rPr lang="ar-SA" altLang="en-US" sz="1500" dirty="0">
                <a:solidFill>
                  <a:srgbClr val="C94040"/>
                </a:solidFill>
                <a:latin typeface="Cairo Black" pitchFamily="34" charset="0"/>
                <a:ea typeface="Cairo Black" pitchFamily="34" charset="-122"/>
                <a:cs typeface="Cairo Black" pitchFamily="34" charset="-120"/>
              </a:rPr>
              <a:t>٦</a:t>
            </a:r>
            <a:endParaRPr lang="ar-SA" sz="1500" dirty="0"/>
          </a:p>
        </p:txBody>
      </p:sp>
      <p:sp>
        <p:nvSpPr>
          <p:cNvPr id="28" name="anim-g6-1686"/>
          <p:cNvSpPr/>
          <p:nvPr/>
        </p:nvSpPr>
        <p:spPr>
          <a:xfrm>
            <a:off x="1005840" y="1920240"/>
            <a:ext cx="7345375" cy="594360"/>
          </a:xfrm>
          <a:prstGeom prst="rect">
            <a:avLst/>
          </a:prstGeom>
          <a:noFill/>
          <a:ln/>
        </p:spPr>
        <p:txBody>
          <a:bodyPr wrap="square" lIns="0" tIns="0" rIns="0" bIns="0" rtlCol="0" anchor="ctr">
            <a:normAutofit/>
          </a:bodyPr>
          <a:lstStyle/>
          <a:p>
            <a:pPr rtl="1" algn="r" indent="0" marL="0">
              <a:buNone/>
            </a:pPr>
            <a:r>
              <a:rPr lang="ar-SA" altLang="en-US" sz="2100" b="1" dirty="0">
                <a:solidFill>
                  <a:srgbClr val="FFFFFF"/>
                </a:solidFill>
                <a:latin typeface="Cairo" pitchFamily="34" charset="0"/>
                <a:ea typeface="Cairo" pitchFamily="34" charset="-122"/>
                <a:cs typeface="Cairo" pitchFamily="34" charset="-120"/>
              </a:rPr>
              <a:t>الإدارة وفق لائحة السلوك في مدرستك</a:t>
            </a:r>
            <a:endParaRPr lang="ar-SA" sz="2100" dirty="0"/>
          </a:p>
        </p:txBody>
      </p:sp>
      <p:sp>
        <p:nvSpPr>
          <p:cNvPr id="29" name="Text 27"/>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30" name="Text 28"/>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شاشة تحت الطاولة  ·  ١٥٢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400"/>
                                        <p:tgtEl>
                                          <p:spTgt spid="2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400"/>
                                        <p:tgtEl>
                                          <p:spTgt spid="24"/>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400"/>
                                        <p:tgtEl>
                                          <p:spTgt spid="25"/>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6"/>
                                        </p:tgtEl>
                                        <p:attrNameLst>
                                          <p:attrName>style.visibility</p:attrName>
                                        </p:attrNameLst>
                                      </p:cBhvr>
                                      <p:to>
                                        <p:strVal val="visible"/>
                                      </p:to>
                                    </p:set>
                                    <p:animEffect transition="in" filter="fade">
                                      <p:cBhvr>
                                        <p:cTn id="80" dur="400"/>
                                        <p:tgtEl>
                                          <p:spTgt spid="26"/>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7"/>
                                        </p:tgtEl>
                                        <p:attrNameLst>
                                          <p:attrName>style.visibility</p:attrName>
                                        </p:attrNameLst>
                                      </p:cBhvr>
                                      <p:to>
                                        <p:strVal val="visible"/>
                                      </p:to>
                                    </p:set>
                                    <p:animEffect transition="in" filter="fade">
                                      <p:cBhvr>
                                        <p:cTn id="83" dur="400"/>
                                        <p:tgtEl>
                                          <p:spTgt spid="27"/>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8"/>
                                        </p:tgtEl>
                                        <p:attrNameLst>
                                          <p:attrName>style.visibility</p:attrName>
                                        </p:attrNameLst>
                                      </p:cBhvr>
                                      <p:to>
                                        <p:strVal val="visible"/>
                                      </p:to>
                                    </p:set>
                                    <p:animEffect transition="in" filter="fade">
                                      <p:cBhvr>
                                        <p:cTn id="86"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153.xml><?xml version="1.0" encoding="utf-8"?>
<p:sld xmlns:a="http://schemas.openxmlformats.org/drawingml/2006/main" xmlns:r="http://schemas.openxmlformats.org/officeDocument/2006/relationships" xmlns:p="http://schemas.openxmlformats.org/presentationml/2006/main">
  <p:cSld name="Slide 15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5486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أخطاء شائعة… وبدائلها</a:t>
            </a:r>
            <a:endParaRPr lang="ar-SA" sz="3800" dirty="0"/>
          </a:p>
        </p:txBody>
      </p:sp>
      <p:sp>
        <p:nvSpPr>
          <p:cNvPr id="3" name="Text 1"/>
          <p:cNvSpPr/>
          <p:nvPr/>
        </p:nvSpPr>
        <p:spPr>
          <a:xfrm>
            <a:off x="6415888"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D64545"/>
                </a:solidFill>
                <a:latin typeface="Cairo Black" pitchFamily="34" charset="0"/>
                <a:ea typeface="Cairo Black" pitchFamily="34" charset="-122"/>
                <a:cs typeface="Cairo Black" pitchFamily="34" charset="-120"/>
              </a:rPr>
              <a:t>❌ الخطأ الشائع</a:t>
            </a:r>
            <a:endParaRPr lang="ar-SA" sz="2100" dirty="0"/>
          </a:p>
        </p:txBody>
      </p:sp>
      <p:sp>
        <p:nvSpPr>
          <p:cNvPr id="4" name="Text 2"/>
          <p:cNvSpPr/>
          <p:nvPr/>
        </p:nvSpPr>
        <p:spPr>
          <a:xfrm>
            <a:off x="822960"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2E9E6B"/>
                </a:solidFill>
                <a:latin typeface="Cairo Black" pitchFamily="34" charset="0"/>
                <a:ea typeface="Cairo Black" pitchFamily="34" charset="-122"/>
                <a:cs typeface="Cairo Black" pitchFamily="34" charset="-120"/>
              </a:rPr>
              <a:t>✅ البديل</a:t>
            </a:r>
            <a:endParaRPr lang="ar-SA" sz="2100" dirty="0"/>
          </a:p>
        </p:txBody>
      </p:sp>
      <p:sp>
        <p:nvSpPr>
          <p:cNvPr id="5" name="anim-g1-1687"/>
          <p:cNvSpPr/>
          <p:nvPr/>
        </p:nvSpPr>
        <p:spPr>
          <a:xfrm>
            <a:off x="6415888" y="2194560"/>
            <a:ext cx="4952848" cy="804672"/>
          </a:xfrm>
          <a:prstGeom prst="roundRect">
            <a:avLst>
              <a:gd name="adj" fmla="val 15909"/>
            </a:avLst>
          </a:prstGeom>
          <a:solidFill>
            <a:srgbClr val="FBECEC"/>
          </a:solidFill>
          <a:ln/>
        </p:spPr>
      </p:sp>
      <p:sp>
        <p:nvSpPr>
          <p:cNvPr id="6" name="anim-g1-1688"/>
          <p:cNvSpPr/>
          <p:nvPr/>
        </p:nvSpPr>
        <p:spPr>
          <a:xfrm>
            <a:off x="6644488"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انتزاع الجوال بالقوة أمام الجميع</a:t>
            </a:r>
            <a:endParaRPr lang="ar-SA" sz="2200" dirty="0"/>
          </a:p>
        </p:txBody>
      </p:sp>
      <p:sp>
        <p:nvSpPr>
          <p:cNvPr id="7" name="anim-g1-1689"/>
          <p:cNvSpPr/>
          <p:nvPr/>
        </p:nvSpPr>
        <p:spPr>
          <a:xfrm>
            <a:off x="822960" y="2194560"/>
            <a:ext cx="4952848" cy="804672"/>
          </a:xfrm>
          <a:prstGeom prst="roundRect">
            <a:avLst>
              <a:gd name="adj" fmla="val 15909"/>
            </a:avLst>
          </a:prstGeom>
          <a:solidFill>
            <a:srgbClr val="FFFFFF"/>
          </a:solidFill>
          <a:ln w="19050">
            <a:solidFill>
              <a:srgbClr val="BFD9CB"/>
            </a:solidFill>
            <a:prstDash val="dash"/>
          </a:ln>
        </p:spPr>
      </p:sp>
      <p:sp>
        <p:nvSpPr>
          <p:cNvPr id="8" name="anim-g1-1690"/>
          <p:cNvSpPr/>
          <p:nvPr/>
        </p:nvSpPr>
        <p:spPr>
          <a:xfrm>
            <a:off x="822960" y="219456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9" name="anim-g2-1691"/>
          <p:cNvSpPr/>
          <p:nvPr/>
        </p:nvSpPr>
        <p:spPr>
          <a:xfrm>
            <a:off x="5775808" y="219456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0" name="anim-g2-1692"/>
          <p:cNvSpPr/>
          <p:nvPr/>
        </p:nvSpPr>
        <p:spPr>
          <a:xfrm>
            <a:off x="822960" y="2194560"/>
            <a:ext cx="4952848" cy="804672"/>
          </a:xfrm>
          <a:prstGeom prst="roundRect">
            <a:avLst>
              <a:gd name="adj" fmla="val 15909"/>
            </a:avLst>
          </a:prstGeom>
          <a:solidFill>
            <a:srgbClr val="E6F4EC"/>
          </a:solidFill>
          <a:ln/>
        </p:spPr>
      </p:sp>
      <p:sp>
        <p:nvSpPr>
          <p:cNvPr id="11" name="anim-g2-1693"/>
          <p:cNvSpPr/>
          <p:nvPr/>
        </p:nvSpPr>
        <p:spPr>
          <a:xfrm>
            <a:off x="1051560"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خيار محدد بهدوء، ثم حوار خاص</a:t>
            </a:r>
            <a:endParaRPr lang="ar-SA" sz="2200" dirty="0"/>
          </a:p>
        </p:txBody>
      </p:sp>
      <p:sp>
        <p:nvSpPr>
          <p:cNvPr id="12" name="anim-g3-1694"/>
          <p:cNvSpPr/>
          <p:nvPr/>
        </p:nvSpPr>
        <p:spPr>
          <a:xfrm>
            <a:off x="6415888" y="3154680"/>
            <a:ext cx="4952848" cy="804672"/>
          </a:xfrm>
          <a:prstGeom prst="roundRect">
            <a:avLst>
              <a:gd name="adj" fmla="val 15909"/>
            </a:avLst>
          </a:prstGeom>
          <a:solidFill>
            <a:srgbClr val="FBECEC"/>
          </a:solidFill>
          <a:ln/>
        </p:spPr>
      </p:sp>
      <p:sp>
        <p:nvSpPr>
          <p:cNvPr id="13" name="anim-g3-1695"/>
          <p:cNvSpPr/>
          <p:nvPr/>
        </p:nvSpPr>
        <p:spPr>
          <a:xfrm>
            <a:off x="6644488"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فتح الجوال وقراءة رسائله</a:t>
            </a:r>
            <a:endParaRPr lang="ar-SA" sz="2200" dirty="0"/>
          </a:p>
        </p:txBody>
      </p:sp>
      <p:sp>
        <p:nvSpPr>
          <p:cNvPr id="14" name="anim-g3-1696"/>
          <p:cNvSpPr/>
          <p:nvPr/>
        </p:nvSpPr>
        <p:spPr>
          <a:xfrm>
            <a:off x="822960" y="3154680"/>
            <a:ext cx="4952848" cy="804672"/>
          </a:xfrm>
          <a:prstGeom prst="roundRect">
            <a:avLst>
              <a:gd name="adj" fmla="val 15909"/>
            </a:avLst>
          </a:prstGeom>
          <a:solidFill>
            <a:srgbClr val="FFFFFF"/>
          </a:solidFill>
          <a:ln w="19050">
            <a:solidFill>
              <a:srgbClr val="BFD9CB"/>
            </a:solidFill>
            <a:prstDash val="dash"/>
          </a:ln>
        </p:spPr>
      </p:sp>
      <p:sp>
        <p:nvSpPr>
          <p:cNvPr id="15" name="anim-g3-1697"/>
          <p:cNvSpPr/>
          <p:nvPr/>
        </p:nvSpPr>
        <p:spPr>
          <a:xfrm>
            <a:off x="822960" y="315468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16" name="anim-g4-1698"/>
          <p:cNvSpPr/>
          <p:nvPr/>
        </p:nvSpPr>
        <p:spPr>
          <a:xfrm>
            <a:off x="5775808" y="315468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7" name="anim-g4-1699"/>
          <p:cNvSpPr/>
          <p:nvPr/>
        </p:nvSpPr>
        <p:spPr>
          <a:xfrm>
            <a:off x="822960" y="3154680"/>
            <a:ext cx="4952848" cy="804672"/>
          </a:xfrm>
          <a:prstGeom prst="roundRect">
            <a:avLst>
              <a:gd name="adj" fmla="val 15909"/>
            </a:avLst>
          </a:prstGeom>
          <a:solidFill>
            <a:srgbClr val="E6F4EC"/>
          </a:solidFill>
          <a:ln/>
        </p:spPr>
      </p:sp>
      <p:sp>
        <p:nvSpPr>
          <p:cNvPr id="18" name="anim-g4-1700"/>
          <p:cNvSpPr/>
          <p:nvPr/>
        </p:nvSpPr>
        <p:spPr>
          <a:xfrm>
            <a:off x="1051560"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لا تطّلع على محتوى جوال طالب أبدًا</a:t>
            </a:r>
            <a:endParaRPr lang="ar-SA" sz="2200" dirty="0"/>
          </a:p>
        </p:txBody>
      </p:sp>
      <p:sp>
        <p:nvSpPr>
          <p:cNvPr id="19" name="anim-g5-1701"/>
          <p:cNvSpPr/>
          <p:nvPr/>
        </p:nvSpPr>
        <p:spPr>
          <a:xfrm>
            <a:off x="6415888" y="4114800"/>
            <a:ext cx="4952848" cy="804672"/>
          </a:xfrm>
          <a:prstGeom prst="roundRect">
            <a:avLst>
              <a:gd name="adj" fmla="val 15909"/>
            </a:avLst>
          </a:prstGeom>
          <a:solidFill>
            <a:srgbClr val="FBECEC"/>
          </a:solidFill>
          <a:ln/>
        </p:spPr>
      </p:sp>
      <p:sp>
        <p:nvSpPr>
          <p:cNvPr id="20" name="anim-g5-1702"/>
          <p:cNvSpPr/>
          <p:nvPr/>
        </p:nvSpPr>
        <p:spPr>
          <a:xfrm>
            <a:off x="6644488"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تهديد بما لا تملكه: «سأكسره!»</a:t>
            </a:r>
            <a:endParaRPr lang="ar-SA" sz="2200" dirty="0"/>
          </a:p>
        </p:txBody>
      </p:sp>
      <p:sp>
        <p:nvSpPr>
          <p:cNvPr id="21" name="anim-g5-1703"/>
          <p:cNvSpPr/>
          <p:nvPr/>
        </p:nvSpPr>
        <p:spPr>
          <a:xfrm>
            <a:off x="822960" y="4114800"/>
            <a:ext cx="4952848" cy="804672"/>
          </a:xfrm>
          <a:prstGeom prst="roundRect">
            <a:avLst>
              <a:gd name="adj" fmla="val 15909"/>
            </a:avLst>
          </a:prstGeom>
          <a:solidFill>
            <a:srgbClr val="FFFFFF"/>
          </a:solidFill>
          <a:ln w="19050">
            <a:solidFill>
              <a:srgbClr val="BFD9CB"/>
            </a:solidFill>
            <a:prstDash val="dash"/>
          </a:ln>
        </p:spPr>
      </p:sp>
      <p:sp>
        <p:nvSpPr>
          <p:cNvPr id="22" name="anim-g5-1704"/>
          <p:cNvSpPr/>
          <p:nvPr/>
        </p:nvSpPr>
        <p:spPr>
          <a:xfrm>
            <a:off x="822960" y="411480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23" name="anim-g6-1705"/>
          <p:cNvSpPr/>
          <p:nvPr/>
        </p:nvSpPr>
        <p:spPr>
          <a:xfrm>
            <a:off x="5775808" y="411480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24" name="anim-g6-1706"/>
          <p:cNvSpPr/>
          <p:nvPr/>
        </p:nvSpPr>
        <p:spPr>
          <a:xfrm>
            <a:off x="822960" y="4114800"/>
            <a:ext cx="4952848" cy="804672"/>
          </a:xfrm>
          <a:prstGeom prst="roundRect">
            <a:avLst>
              <a:gd name="adj" fmla="val 15909"/>
            </a:avLst>
          </a:prstGeom>
          <a:solidFill>
            <a:srgbClr val="E6F4EC"/>
          </a:solidFill>
          <a:ln/>
        </p:spPr>
      </p:sp>
      <p:sp>
        <p:nvSpPr>
          <p:cNvPr id="25" name="anim-g6-1707"/>
          <p:cNvSpPr/>
          <p:nvPr/>
        </p:nvSpPr>
        <p:spPr>
          <a:xfrm>
            <a:off x="1051560"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عاقبة واضحة ومتفق عليها مسبقًا</a:t>
            </a:r>
            <a:endParaRPr lang="ar-SA" sz="2200" dirty="0"/>
          </a:p>
        </p:txBody>
      </p:sp>
      <p:sp>
        <p:nvSpPr>
          <p:cNvPr id="26" name="anim-g7-1708"/>
          <p:cNvSpPr/>
          <p:nvPr/>
        </p:nvSpPr>
        <p:spPr>
          <a:xfrm>
            <a:off x="6415888" y="5074920"/>
            <a:ext cx="4952848" cy="804672"/>
          </a:xfrm>
          <a:prstGeom prst="roundRect">
            <a:avLst>
              <a:gd name="adj" fmla="val 15909"/>
            </a:avLst>
          </a:prstGeom>
          <a:solidFill>
            <a:srgbClr val="FBECEC"/>
          </a:solidFill>
          <a:ln/>
        </p:spPr>
      </p:sp>
      <p:sp>
        <p:nvSpPr>
          <p:cNvPr id="27" name="anim-g7-1709"/>
          <p:cNvSpPr/>
          <p:nvPr/>
        </p:nvSpPr>
        <p:spPr>
          <a:xfrm>
            <a:off x="6644488" y="507492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التشدد مع طالب والتغاضي عن آخر</a:t>
            </a:r>
            <a:endParaRPr lang="ar-SA" sz="2200" dirty="0"/>
          </a:p>
        </p:txBody>
      </p:sp>
      <p:sp>
        <p:nvSpPr>
          <p:cNvPr id="28" name="anim-g7-1710"/>
          <p:cNvSpPr/>
          <p:nvPr/>
        </p:nvSpPr>
        <p:spPr>
          <a:xfrm>
            <a:off x="822960" y="5074920"/>
            <a:ext cx="4952848" cy="804672"/>
          </a:xfrm>
          <a:prstGeom prst="roundRect">
            <a:avLst>
              <a:gd name="adj" fmla="val 15909"/>
            </a:avLst>
          </a:prstGeom>
          <a:solidFill>
            <a:srgbClr val="FFFFFF"/>
          </a:solidFill>
          <a:ln w="19050">
            <a:solidFill>
              <a:srgbClr val="BFD9CB"/>
            </a:solidFill>
            <a:prstDash val="dash"/>
          </a:ln>
        </p:spPr>
      </p:sp>
      <p:sp>
        <p:nvSpPr>
          <p:cNvPr id="29" name="anim-g7-1711"/>
          <p:cNvSpPr/>
          <p:nvPr/>
        </p:nvSpPr>
        <p:spPr>
          <a:xfrm>
            <a:off x="822960" y="507492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30" name="anim-g8-1712"/>
          <p:cNvSpPr/>
          <p:nvPr/>
        </p:nvSpPr>
        <p:spPr>
          <a:xfrm>
            <a:off x="5775808" y="507492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31" name="anim-g8-1713"/>
          <p:cNvSpPr/>
          <p:nvPr/>
        </p:nvSpPr>
        <p:spPr>
          <a:xfrm>
            <a:off x="822960" y="5074920"/>
            <a:ext cx="4952848" cy="804672"/>
          </a:xfrm>
          <a:prstGeom prst="roundRect">
            <a:avLst>
              <a:gd name="adj" fmla="val 15909"/>
            </a:avLst>
          </a:prstGeom>
          <a:solidFill>
            <a:srgbClr val="E6F4EC"/>
          </a:solidFill>
          <a:ln/>
        </p:spPr>
      </p:sp>
      <p:sp>
        <p:nvSpPr>
          <p:cNvPr id="32" name="anim-g8-1714"/>
          <p:cNvSpPr/>
          <p:nvPr/>
        </p:nvSpPr>
        <p:spPr>
          <a:xfrm>
            <a:off x="1051560" y="507492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القاعدة نفسها على الجميع دائمًا</a:t>
            </a:r>
            <a:endParaRPr lang="ar-SA" sz="2200" dirty="0"/>
          </a:p>
        </p:txBody>
      </p:sp>
      <p:sp>
        <p:nvSpPr>
          <p:cNvPr id="33" name="Text 31"/>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34" name="Text 32"/>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شاشة تحت الطاولة  ·  ١٥٣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0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400"/>
                                        <p:tgtEl>
                                          <p:spTgt spid="1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400"/>
                                        <p:tgtEl>
                                          <p:spTgt spid="2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400"/>
                                        <p:tgtEl>
                                          <p:spTgt spid="2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400"/>
                                        <p:tgtEl>
                                          <p:spTgt spid="2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400"/>
                                        <p:tgtEl>
                                          <p:spTgt spid="25"/>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26"/>
                                        </p:tgtEl>
                                        <p:attrNameLst>
                                          <p:attrName>style.visibility</p:attrName>
                                        </p:attrNameLst>
                                      </p:cBhvr>
                                      <p:to>
                                        <p:strVal val="visible"/>
                                      </p:to>
                                    </p:set>
                                    <p:animEffect transition="in" filter="fade">
                                      <p:cBhvr>
                                        <p:cTn id="82" dur="400"/>
                                        <p:tgtEl>
                                          <p:spTgt spid="26"/>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7"/>
                                        </p:tgtEl>
                                        <p:attrNameLst>
                                          <p:attrName>style.visibility</p:attrName>
                                        </p:attrNameLst>
                                      </p:cBhvr>
                                      <p:to>
                                        <p:strVal val="visible"/>
                                      </p:to>
                                    </p:set>
                                    <p:animEffect transition="in" filter="fade">
                                      <p:cBhvr>
                                        <p:cTn id="85" dur="400"/>
                                        <p:tgtEl>
                                          <p:spTgt spid="27"/>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8"/>
                                        </p:tgtEl>
                                        <p:attrNameLst>
                                          <p:attrName>style.visibility</p:attrName>
                                        </p:attrNameLst>
                                      </p:cBhvr>
                                      <p:to>
                                        <p:strVal val="visible"/>
                                      </p:to>
                                    </p:set>
                                    <p:animEffect transition="in" filter="fade">
                                      <p:cBhvr>
                                        <p:cTn id="88" dur="400"/>
                                        <p:tgtEl>
                                          <p:spTgt spid="28"/>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29"/>
                                        </p:tgtEl>
                                        <p:attrNameLst>
                                          <p:attrName>style.visibility</p:attrName>
                                        </p:attrNameLst>
                                      </p:cBhvr>
                                      <p:to>
                                        <p:strVal val="visible"/>
                                      </p:to>
                                    </p:set>
                                    <p:animEffect transition="in" filter="fade">
                                      <p:cBhvr>
                                        <p:cTn id="91" dur="400"/>
                                        <p:tgtEl>
                                          <p:spTgt spid="29"/>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30"/>
                                        </p:tgtEl>
                                        <p:attrNameLst>
                                          <p:attrName>style.visibility</p:attrName>
                                        </p:attrNameLst>
                                      </p:cBhvr>
                                      <p:to>
                                        <p:strVal val="visible"/>
                                      </p:to>
                                    </p:set>
                                    <p:animEffect transition="in" filter="fade">
                                      <p:cBhvr>
                                        <p:cTn id="96" dur="400"/>
                                        <p:tgtEl>
                                          <p:spTgt spid="30"/>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1"/>
                                        </p:tgtEl>
                                        <p:attrNameLst>
                                          <p:attrName>style.visibility</p:attrName>
                                        </p:attrNameLst>
                                      </p:cBhvr>
                                      <p:to>
                                        <p:strVal val="visible"/>
                                      </p:to>
                                    </p:set>
                                    <p:animEffect transition="in" filter="fade">
                                      <p:cBhvr>
                                        <p:cTn id="99" dur="400"/>
                                        <p:tgtEl>
                                          <p:spTgt spid="31"/>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2"/>
                                        </p:tgtEl>
                                        <p:attrNameLst>
                                          <p:attrName>style.visibility</p:attrName>
                                        </p:attrNameLst>
                                      </p:cBhvr>
                                      <p:to>
                                        <p:strVal val="visible"/>
                                      </p:to>
                                    </p:set>
                                    <p:animEffect transition="in" filter="fade">
                                      <p:cBhvr>
                                        <p:cTn id="102"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Lst>
  </p:timing>
</p:sld>
</file>

<file path=ppt/slides/slide154.xml><?xml version="1.0" encoding="utf-8"?>
<p:sld xmlns:a="http://schemas.openxmlformats.org/drawingml/2006/main" xmlns:r="http://schemas.openxmlformats.org/officeDocument/2006/relationships" xmlns:p="http://schemas.openxmlformats.org/presentationml/2006/main">
  <p:cSld name="Slide 15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5486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ماذا لو لم ينجح الحل؟</a:t>
            </a:r>
            <a:endParaRPr lang="ar-SA" sz="3800" dirty="0"/>
          </a:p>
        </p:txBody>
      </p:sp>
      <p:sp>
        <p:nvSpPr>
          <p:cNvPr id="3" name="Text 1"/>
          <p:cNvSpPr/>
          <p:nvPr/>
        </p:nvSpPr>
        <p:spPr>
          <a:xfrm>
            <a:off x="6415888"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D64545"/>
                </a:solidFill>
                <a:latin typeface="Cairo Black" pitchFamily="34" charset="0"/>
                <a:ea typeface="Cairo Black" pitchFamily="34" charset="-122"/>
                <a:cs typeface="Cairo Black" pitchFamily="34" charset="-120"/>
              </a:rPr>
              <a:t>❌ الخطأ الشائع</a:t>
            </a:r>
            <a:endParaRPr lang="ar-SA" sz="2100" dirty="0"/>
          </a:p>
        </p:txBody>
      </p:sp>
      <p:sp>
        <p:nvSpPr>
          <p:cNvPr id="4" name="Text 2"/>
          <p:cNvSpPr/>
          <p:nvPr/>
        </p:nvSpPr>
        <p:spPr>
          <a:xfrm>
            <a:off x="822960"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2E9E6B"/>
                </a:solidFill>
                <a:latin typeface="Cairo Black" pitchFamily="34" charset="0"/>
                <a:ea typeface="Cairo Black" pitchFamily="34" charset="-122"/>
                <a:cs typeface="Cairo Black" pitchFamily="34" charset="-120"/>
              </a:rPr>
              <a:t>✅ البديل</a:t>
            </a:r>
            <a:endParaRPr lang="ar-SA" sz="2100" dirty="0"/>
          </a:p>
        </p:txBody>
      </p:sp>
      <p:sp>
        <p:nvSpPr>
          <p:cNvPr id="5" name="anim-g1-1715"/>
          <p:cNvSpPr/>
          <p:nvPr/>
        </p:nvSpPr>
        <p:spPr>
          <a:xfrm>
            <a:off x="6415888" y="2194560"/>
            <a:ext cx="4952848" cy="804672"/>
          </a:xfrm>
          <a:prstGeom prst="roundRect">
            <a:avLst>
              <a:gd name="adj" fmla="val 15909"/>
            </a:avLst>
          </a:prstGeom>
          <a:solidFill>
            <a:srgbClr val="FBECEC"/>
          </a:solidFill>
          <a:ln/>
        </p:spPr>
      </p:sp>
      <p:sp>
        <p:nvSpPr>
          <p:cNvPr id="6" name="anim-g1-1716"/>
          <p:cNvSpPr/>
          <p:nvPr/>
        </p:nvSpPr>
        <p:spPr>
          <a:xfrm>
            <a:off x="6644488"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همست له فتجاهلك وأكمل على الجوال</a:t>
            </a:r>
            <a:endParaRPr lang="ar-SA" sz="2200" dirty="0"/>
          </a:p>
        </p:txBody>
      </p:sp>
      <p:sp>
        <p:nvSpPr>
          <p:cNvPr id="7" name="anim-g1-1717"/>
          <p:cNvSpPr/>
          <p:nvPr/>
        </p:nvSpPr>
        <p:spPr>
          <a:xfrm>
            <a:off x="822960" y="2194560"/>
            <a:ext cx="4952848" cy="804672"/>
          </a:xfrm>
          <a:prstGeom prst="roundRect">
            <a:avLst>
              <a:gd name="adj" fmla="val 15909"/>
            </a:avLst>
          </a:prstGeom>
          <a:solidFill>
            <a:srgbClr val="FFFFFF"/>
          </a:solidFill>
          <a:ln w="19050">
            <a:solidFill>
              <a:srgbClr val="BFD9CB"/>
            </a:solidFill>
            <a:prstDash val="dash"/>
          </a:ln>
        </p:spPr>
      </p:sp>
      <p:sp>
        <p:nvSpPr>
          <p:cNvPr id="8" name="anim-g1-1718"/>
          <p:cNvSpPr/>
          <p:nvPr/>
        </p:nvSpPr>
        <p:spPr>
          <a:xfrm>
            <a:off x="822960" y="219456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9" name="anim-g2-1719"/>
          <p:cNvSpPr/>
          <p:nvPr/>
        </p:nvSpPr>
        <p:spPr>
          <a:xfrm>
            <a:off x="5775808" y="219456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0" name="anim-g2-1720"/>
          <p:cNvSpPr/>
          <p:nvPr/>
        </p:nvSpPr>
        <p:spPr>
          <a:xfrm>
            <a:off x="822960" y="2194560"/>
            <a:ext cx="4952848" cy="804672"/>
          </a:xfrm>
          <a:prstGeom prst="roundRect">
            <a:avLst>
              <a:gd name="adj" fmla="val 15909"/>
            </a:avLst>
          </a:prstGeom>
          <a:solidFill>
            <a:srgbClr val="E6F4EC"/>
          </a:solidFill>
          <a:ln/>
        </p:spPr>
      </p:sp>
      <p:sp>
        <p:nvSpPr>
          <p:cNvPr id="11" name="anim-g2-1721"/>
          <p:cNvSpPr/>
          <p:nvPr/>
        </p:nvSpPr>
        <p:spPr>
          <a:xfrm>
            <a:off x="1051560"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خيار محدد بهدوء: «في الحقيبة أو على طاولتي حتى نهاية الحصة، أنت تختار»</a:t>
            </a:r>
            <a:endParaRPr lang="ar-SA" sz="2200" dirty="0"/>
          </a:p>
        </p:txBody>
      </p:sp>
      <p:sp>
        <p:nvSpPr>
          <p:cNvPr id="12" name="anim-g3-1722"/>
          <p:cNvSpPr/>
          <p:nvPr/>
        </p:nvSpPr>
        <p:spPr>
          <a:xfrm>
            <a:off x="6415888" y="3154680"/>
            <a:ext cx="4952848" cy="804672"/>
          </a:xfrm>
          <a:prstGeom prst="roundRect">
            <a:avLst>
              <a:gd name="adj" fmla="val 15909"/>
            </a:avLst>
          </a:prstGeom>
          <a:solidFill>
            <a:srgbClr val="FBECEC"/>
          </a:solidFill>
          <a:ln/>
        </p:spPr>
      </p:sp>
      <p:sp>
        <p:nvSpPr>
          <p:cNvPr id="13" name="anim-g3-1723"/>
          <p:cNvSpPr/>
          <p:nvPr/>
        </p:nvSpPr>
        <p:spPr>
          <a:xfrm>
            <a:off x="6644488"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رفض الخيارين معًا أمام الجميع</a:t>
            </a:r>
            <a:endParaRPr lang="ar-SA" sz="2200" dirty="0"/>
          </a:p>
        </p:txBody>
      </p:sp>
      <p:sp>
        <p:nvSpPr>
          <p:cNvPr id="14" name="anim-g3-1724"/>
          <p:cNvSpPr/>
          <p:nvPr/>
        </p:nvSpPr>
        <p:spPr>
          <a:xfrm>
            <a:off x="822960" y="3154680"/>
            <a:ext cx="4952848" cy="804672"/>
          </a:xfrm>
          <a:prstGeom prst="roundRect">
            <a:avLst>
              <a:gd name="adj" fmla="val 15909"/>
            </a:avLst>
          </a:prstGeom>
          <a:solidFill>
            <a:srgbClr val="FFFFFF"/>
          </a:solidFill>
          <a:ln w="19050">
            <a:solidFill>
              <a:srgbClr val="BFD9CB"/>
            </a:solidFill>
            <a:prstDash val="dash"/>
          </a:ln>
        </p:spPr>
      </p:sp>
      <p:sp>
        <p:nvSpPr>
          <p:cNvPr id="15" name="anim-g3-1725"/>
          <p:cNvSpPr/>
          <p:nvPr/>
        </p:nvSpPr>
        <p:spPr>
          <a:xfrm>
            <a:off x="822960" y="315468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16" name="anim-g4-1726"/>
          <p:cNvSpPr/>
          <p:nvPr/>
        </p:nvSpPr>
        <p:spPr>
          <a:xfrm>
            <a:off x="5775808" y="315468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7" name="anim-g4-1727"/>
          <p:cNvSpPr/>
          <p:nvPr/>
        </p:nvSpPr>
        <p:spPr>
          <a:xfrm>
            <a:off x="822960" y="3154680"/>
            <a:ext cx="4952848" cy="804672"/>
          </a:xfrm>
          <a:prstGeom prst="roundRect">
            <a:avLst>
              <a:gd name="adj" fmla="val 15909"/>
            </a:avLst>
          </a:prstGeom>
          <a:solidFill>
            <a:srgbClr val="E6F4EC"/>
          </a:solidFill>
          <a:ln/>
        </p:spPr>
      </p:sp>
      <p:sp>
        <p:nvSpPr>
          <p:cNvPr id="18" name="anim-g4-1728"/>
          <p:cNvSpPr/>
          <p:nvPr/>
        </p:nvSpPr>
        <p:spPr>
          <a:xfrm>
            <a:off x="1051560"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لا جدال الآن: «نكمل الدرس، ونتحدث بعد الحصة»، ثم وثّق وأبلغ وليّ الأمر بلغة شراكة</a:t>
            </a:r>
            <a:endParaRPr lang="ar-SA" sz="2200" dirty="0"/>
          </a:p>
        </p:txBody>
      </p:sp>
      <p:sp>
        <p:nvSpPr>
          <p:cNvPr id="19" name="anim-g5-1729"/>
          <p:cNvSpPr/>
          <p:nvPr/>
        </p:nvSpPr>
        <p:spPr>
          <a:xfrm>
            <a:off x="6415888" y="4114800"/>
            <a:ext cx="4952848" cy="804672"/>
          </a:xfrm>
          <a:prstGeom prst="roundRect">
            <a:avLst>
              <a:gd name="adj" fmla="val 15909"/>
            </a:avLst>
          </a:prstGeom>
          <a:solidFill>
            <a:srgbClr val="FBECEC"/>
          </a:solidFill>
          <a:ln/>
        </p:spPr>
      </p:sp>
      <p:sp>
        <p:nvSpPr>
          <p:cNvPr id="20" name="anim-g5-1730"/>
          <p:cNvSpPr/>
          <p:nvPr/>
        </p:nvSpPr>
        <p:spPr>
          <a:xfrm>
            <a:off x="6644488"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تكرر الأمر في كل حصة</a:t>
            </a:r>
            <a:endParaRPr lang="ar-SA" sz="2200" dirty="0"/>
          </a:p>
        </p:txBody>
      </p:sp>
      <p:sp>
        <p:nvSpPr>
          <p:cNvPr id="21" name="anim-g5-1731"/>
          <p:cNvSpPr/>
          <p:nvPr/>
        </p:nvSpPr>
        <p:spPr>
          <a:xfrm>
            <a:off x="822960" y="4114800"/>
            <a:ext cx="4952848" cy="804672"/>
          </a:xfrm>
          <a:prstGeom prst="roundRect">
            <a:avLst>
              <a:gd name="adj" fmla="val 15909"/>
            </a:avLst>
          </a:prstGeom>
          <a:solidFill>
            <a:srgbClr val="FFFFFF"/>
          </a:solidFill>
          <a:ln w="19050">
            <a:solidFill>
              <a:srgbClr val="BFD9CB"/>
            </a:solidFill>
            <a:prstDash val="dash"/>
          </a:ln>
        </p:spPr>
      </p:sp>
      <p:sp>
        <p:nvSpPr>
          <p:cNvPr id="22" name="anim-g5-1732"/>
          <p:cNvSpPr/>
          <p:nvPr/>
        </p:nvSpPr>
        <p:spPr>
          <a:xfrm>
            <a:off x="822960" y="411480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23" name="anim-g6-1733"/>
          <p:cNvSpPr/>
          <p:nvPr/>
        </p:nvSpPr>
        <p:spPr>
          <a:xfrm>
            <a:off x="5775808" y="411480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24" name="anim-g6-1734"/>
          <p:cNvSpPr/>
          <p:nvPr/>
        </p:nvSpPr>
        <p:spPr>
          <a:xfrm>
            <a:off x="822960" y="4114800"/>
            <a:ext cx="4952848" cy="804672"/>
          </a:xfrm>
          <a:prstGeom prst="roundRect">
            <a:avLst>
              <a:gd name="adj" fmla="val 15909"/>
            </a:avLst>
          </a:prstGeom>
          <a:solidFill>
            <a:srgbClr val="E6F4EC"/>
          </a:solidFill>
          <a:ln/>
        </p:spPr>
      </p:sp>
      <p:sp>
        <p:nvSpPr>
          <p:cNvPr id="25" name="anim-g6-1735"/>
          <p:cNvSpPr/>
          <p:nvPr/>
        </p:nvSpPr>
        <p:spPr>
          <a:xfrm>
            <a:off x="1051560"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اتفاق مكتوب معه ومع وليّ أمره، ومتابعة أسبوعية مع المرشد</a:t>
            </a:r>
            <a:endParaRPr lang="ar-SA" sz="2200" dirty="0"/>
          </a:p>
        </p:txBody>
      </p:sp>
      <p:sp>
        <p:nvSpPr>
          <p:cNvPr id="26" name="Text 24"/>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7" name="Text 25"/>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شاشة تحت الطاولة  ·  ١٥٤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0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400"/>
                                        <p:tgtEl>
                                          <p:spTgt spid="1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400"/>
                                        <p:tgtEl>
                                          <p:spTgt spid="2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400"/>
                                        <p:tgtEl>
                                          <p:spTgt spid="2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400"/>
                                        <p:tgtEl>
                                          <p:spTgt spid="2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155.xml><?xml version="1.0" encoding="utf-8"?>
<p:sld xmlns:a="http://schemas.openxmlformats.org/drawingml/2006/main" xmlns:r="http://schemas.openxmlformats.org/officeDocument/2006/relationships" xmlns:p="http://schemas.openxmlformats.org/presentationml/2006/main">
  <p:cSld name="Slide 15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564831" y="457200"/>
            <a:ext cx="3803904" cy="457200"/>
          </a:xfrm>
          <a:prstGeom prst="roundRect">
            <a:avLst>
              <a:gd name="adj" fmla="val 50000"/>
            </a:avLst>
          </a:prstGeom>
          <a:solidFill>
            <a:srgbClr val="F6EBCF"/>
          </a:solidFill>
          <a:ln/>
        </p:spPr>
      </p:sp>
      <p:sp>
        <p:nvSpPr>
          <p:cNvPr id="3" name="Text 1"/>
          <p:cNvSpPr/>
          <p:nvPr/>
        </p:nvSpPr>
        <p:spPr>
          <a:xfrm>
            <a:off x="7564831" y="457200"/>
            <a:ext cx="380390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الوقاية خير من العلاج</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بعد الحصة… وغدًا</a:t>
            </a:r>
            <a:endParaRPr lang="ar-SA" sz="3800" dirty="0"/>
          </a:p>
        </p:txBody>
      </p:sp>
      <p:sp>
        <p:nvSpPr>
          <p:cNvPr id="5" name="anim-g1-1736"/>
          <p:cNvSpPr/>
          <p:nvPr/>
        </p:nvSpPr>
        <p:spPr>
          <a:xfrm>
            <a:off x="8036357"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1737"/>
          <p:cNvSpPr/>
          <p:nvPr/>
        </p:nvSpPr>
        <p:spPr>
          <a:xfrm>
            <a:off x="10362895" y="2404872"/>
            <a:ext cx="731520" cy="731520"/>
          </a:xfrm>
          <a:prstGeom prst="roundRect">
            <a:avLst>
              <a:gd name="adj" fmla="val 25000"/>
            </a:avLst>
          </a:prstGeom>
          <a:solidFill>
            <a:srgbClr val="F7E6BC"/>
          </a:solidFill>
          <a:ln/>
        </p:spPr>
      </p:sp>
      <p:sp>
        <p:nvSpPr>
          <p:cNvPr id="7" name="anim-g1-1738"/>
          <p:cNvSpPr/>
          <p:nvPr/>
        </p:nvSpPr>
        <p:spPr>
          <a:xfrm>
            <a:off x="10362895"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8" name="anim-g1-1739"/>
          <p:cNvSpPr/>
          <p:nvPr/>
        </p:nvSpPr>
        <p:spPr>
          <a:xfrm>
            <a:off x="8310677"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«فندق الجوالات»</a:t>
            </a:r>
            <a:endParaRPr lang="ar-SA" sz="2300" dirty="0"/>
          </a:p>
        </p:txBody>
      </p:sp>
      <p:sp>
        <p:nvSpPr>
          <p:cNvPr id="9" name="anim-g1-1740"/>
          <p:cNvSpPr/>
          <p:nvPr/>
        </p:nvSpPr>
        <p:spPr>
          <a:xfrm>
            <a:off x="8310677"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جيوب مرقّمة عند الباب، يضع فيها كل طالب جواله أول الحصة</a:t>
            </a:r>
            <a:endParaRPr lang="ar-SA" sz="2100" dirty="0"/>
          </a:p>
        </p:txBody>
      </p:sp>
      <p:sp>
        <p:nvSpPr>
          <p:cNvPr id="10" name="anim-g2-1741"/>
          <p:cNvSpPr/>
          <p:nvPr/>
        </p:nvSpPr>
        <p:spPr>
          <a:xfrm>
            <a:off x="4429658"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1742"/>
          <p:cNvSpPr/>
          <p:nvPr/>
        </p:nvSpPr>
        <p:spPr>
          <a:xfrm>
            <a:off x="6756197" y="2404872"/>
            <a:ext cx="731520" cy="731520"/>
          </a:xfrm>
          <a:prstGeom prst="roundRect">
            <a:avLst>
              <a:gd name="adj" fmla="val 25000"/>
            </a:avLst>
          </a:prstGeom>
          <a:solidFill>
            <a:srgbClr val="F7E6BC"/>
          </a:solidFill>
          <a:ln/>
        </p:spPr>
      </p:sp>
      <p:sp>
        <p:nvSpPr>
          <p:cNvPr id="12" name="anim-g2-1743"/>
          <p:cNvSpPr/>
          <p:nvPr/>
        </p:nvSpPr>
        <p:spPr>
          <a:xfrm>
            <a:off x="6756197"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3" name="anim-g2-1744"/>
          <p:cNvSpPr/>
          <p:nvPr/>
        </p:nvSpPr>
        <p:spPr>
          <a:xfrm>
            <a:off x="4703978"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قاعدة من اليوم الأول</a:t>
            </a:r>
            <a:endParaRPr lang="ar-SA" sz="2300" dirty="0"/>
          </a:p>
        </p:txBody>
      </p:sp>
      <p:sp>
        <p:nvSpPr>
          <p:cNvPr id="14" name="anim-g2-1745"/>
          <p:cNvSpPr/>
          <p:nvPr/>
        </p:nvSpPr>
        <p:spPr>
          <a:xfrm>
            <a:off x="4703978"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تُكتب مع الطلاب، وتُعلَّق في الفصل، ويُذكَّر بها دوريًا</a:t>
            </a:r>
            <a:endParaRPr lang="ar-SA" sz="2100" dirty="0"/>
          </a:p>
        </p:txBody>
      </p:sp>
      <p:sp>
        <p:nvSpPr>
          <p:cNvPr id="15" name="anim-g3-1746"/>
          <p:cNvSpPr/>
          <p:nvPr/>
        </p:nvSpPr>
        <p:spPr>
          <a:xfrm>
            <a:off x="822960"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1747"/>
          <p:cNvSpPr/>
          <p:nvPr/>
        </p:nvSpPr>
        <p:spPr>
          <a:xfrm>
            <a:off x="3149498" y="2404872"/>
            <a:ext cx="731520" cy="731520"/>
          </a:xfrm>
          <a:prstGeom prst="roundRect">
            <a:avLst>
              <a:gd name="adj" fmla="val 25000"/>
            </a:avLst>
          </a:prstGeom>
          <a:solidFill>
            <a:srgbClr val="F7E6BC"/>
          </a:solidFill>
          <a:ln/>
        </p:spPr>
      </p:sp>
      <p:sp>
        <p:nvSpPr>
          <p:cNvPr id="17" name="anim-g3-1748"/>
          <p:cNvSpPr/>
          <p:nvPr/>
        </p:nvSpPr>
        <p:spPr>
          <a:xfrm>
            <a:off x="3149498"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8" name="anim-g3-1749"/>
          <p:cNvSpPr/>
          <p:nvPr/>
        </p:nvSpPr>
        <p:spPr>
          <a:xfrm>
            <a:off x="1097280"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كن القدوة</a:t>
            </a:r>
            <a:endParaRPr lang="ar-SA" sz="2300" dirty="0"/>
          </a:p>
        </p:txBody>
      </p:sp>
      <p:sp>
        <p:nvSpPr>
          <p:cNvPr id="19" name="anim-g3-1750"/>
          <p:cNvSpPr/>
          <p:nvPr/>
        </p:nvSpPr>
        <p:spPr>
          <a:xfrm>
            <a:off x="1097280"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جوالك مقلوب على الطاولة، لا تردّ عليه أثناء الحصة</a:t>
            </a:r>
            <a:endParaRPr lang="ar-SA" sz="21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شاشة تحت الطاولة  ·  ١٥٥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56.xml><?xml version="1.0" encoding="utf-8"?>
<p:sld xmlns:a="http://schemas.openxmlformats.org/drawingml/2006/main" xmlns:r="http://schemas.openxmlformats.org/officeDocument/2006/relationships" xmlns:p="http://schemas.openxmlformats.org/presentationml/2006/main">
  <p:cSld name="Slide 15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الموقف</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في المواجهة العلنية يخسر الطرفان…</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القاعدة تُطبَّق بهدوء، والكرامة تُحفظ دائمًا</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موقف: شاشة تحت الطاولة  ·  ١٥٦</a:t>
            </a:r>
            <a:endParaRPr lang="ar-SA" sz="120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kb-1751" descr="/Users/mac/Desktop/أردوينو/المشاريع والكتب/younes-training/mawaqif/assets/scenes/filming.jpg">    </p:cNvPr>
          <p:cNvPicPr>
            <a:picLocks noChangeAspect="1"/>
          </p:cNvPicPr>
          <p:nvPr/>
        </p:nvPicPr>
        <p:blipFill>
          <a:blip r:embed="rId2"/>
          <a:stretch>
            <a:fillRect/>
          </a:stretch>
        </p:blipFill>
        <p:spPr>
          <a:xfrm>
            <a:off x="0" y="0"/>
            <a:ext cx="12191695" cy="6858000"/>
          </a:xfrm>
          <a:prstGeom prst="rect">
            <a:avLst/>
          </a:prstGeom>
        </p:spPr>
      </p:pic>
      <p:pic>
        <p:nvPicPr>
          <p:cNvPr id="3" name="Image 1" descr="/Users/mac/Desktop/أردوينو/المشاريع والكتب/younes-training/shared/assets/mcover-overlay.png">    </p:cNvPr>
          <p:cNvPicPr>
            <a:picLocks noChangeAspect="1"/>
          </p:cNvPicPr>
          <p:nvPr/>
        </p:nvPicPr>
        <p:blipFill>
          <a:blip r:embed="rId3"/>
          <a:stretch>
            <a:fillRect/>
          </a:stretch>
        </p:blipFill>
        <p:spPr>
          <a:xfrm>
            <a:off x="0" y="0"/>
            <a:ext cx="12191695" cy="6858000"/>
          </a:xfrm>
          <a:prstGeom prst="rect">
            <a:avLst/>
          </a:prstGeom>
        </p:spPr>
      </p:pic>
      <p:sp>
        <p:nvSpPr>
          <p:cNvPr id="4" name="Text 0"/>
          <p:cNvSpPr/>
          <p:nvPr/>
        </p:nvSpPr>
        <p:spPr>
          <a:xfrm>
            <a:off x="5669280" y="1737360"/>
            <a:ext cx="5699455" cy="502920"/>
          </a:xfrm>
          <a:prstGeom prst="rect">
            <a:avLst/>
          </a:prstGeom>
          <a:noFill/>
          <a:ln/>
        </p:spPr>
        <p:txBody>
          <a:bodyPr wrap="square" lIns="0" tIns="0" rIns="0" bIns="0" rtlCol="0" anchor="ctr">
            <a:normAutofit/>
          </a:bodyPr>
          <a:lstStyle/>
          <a:p>
            <a:pPr rtl="1" algn="r" indent="0" marL="0">
              <a:buNone/>
            </a:pPr>
            <a:r>
              <a:rPr lang="ar-SA" altLang="en-US" sz="2200" b="1" dirty="0">
                <a:solidFill>
                  <a:srgbClr val="D9AE4B"/>
                </a:solidFill>
                <a:latin typeface="Cairo" pitchFamily="34" charset="0"/>
                <a:ea typeface="Cairo" pitchFamily="34" charset="-122"/>
                <a:cs typeface="Cairo" pitchFamily="34" charset="-120"/>
              </a:rPr>
              <a:t>مواقف العصر الرقمي</a:t>
            </a:r>
            <a:endParaRPr lang="ar-SA" sz="2200" dirty="0"/>
          </a:p>
        </p:txBody>
      </p:sp>
      <p:sp>
        <p:nvSpPr>
          <p:cNvPr id="5" name="Text 1"/>
          <p:cNvSpPr/>
          <p:nvPr/>
        </p:nvSpPr>
        <p:spPr>
          <a:xfrm>
            <a:off x="5669280" y="2286000"/>
            <a:ext cx="5699455" cy="548640"/>
          </a:xfrm>
          <a:prstGeom prst="rect">
            <a:avLst/>
          </a:prstGeom>
          <a:noFill/>
          <a:ln/>
        </p:spPr>
        <p:txBody>
          <a:bodyPr wrap="square" lIns="0" tIns="0" rIns="0" bIns="0" rtlCol="0" anchor="ctr">
            <a:normAutofit/>
          </a:bodyPr>
          <a:lstStyle/>
          <a:p>
            <a:pPr rtl="1" algn="r" indent="0" marL="0">
              <a:buNone/>
            </a:pPr>
            <a:r>
              <a:rPr lang="ar-SA" altLang="en-US" sz="2600" b="1" dirty="0">
                <a:solidFill>
                  <a:srgbClr val="C9CFE6"/>
                </a:solidFill>
                <a:latin typeface="Cairo" pitchFamily="34" charset="0"/>
                <a:ea typeface="Cairo" pitchFamily="34" charset="-122"/>
                <a:cs typeface="Cairo" pitchFamily="34" charset="-120"/>
              </a:rPr>
              <a:t>الموقف ١٢</a:t>
            </a:r>
            <a:endParaRPr lang="ar-SA" sz="2600" dirty="0"/>
          </a:p>
        </p:txBody>
      </p:sp>
      <p:sp>
        <p:nvSpPr>
          <p:cNvPr id="6" name="Text 2"/>
          <p:cNvSpPr/>
          <p:nvPr/>
        </p:nvSpPr>
        <p:spPr>
          <a:xfrm>
            <a:off x="4572000" y="2834640"/>
            <a:ext cx="6796735" cy="1188720"/>
          </a:xfrm>
          <a:prstGeom prst="rect">
            <a:avLst/>
          </a:prstGeom>
          <a:noFill/>
          <a:ln/>
        </p:spPr>
        <p:txBody>
          <a:bodyPr wrap="square" lIns="0" tIns="0" rIns="0" bIns="0" rtlCol="0" anchor="ctr">
            <a:normAutofit/>
          </a:bodyPr>
          <a:lstStyle/>
          <a:p>
            <a:pPr rtl="1" algn="r" indent="0" marL="0">
              <a:buNone/>
            </a:pPr>
            <a:r>
              <a:rPr lang="ar-SA" altLang="en-US" sz="5000" dirty="0">
                <a:solidFill>
                  <a:srgbClr val="FFFFFF"/>
                </a:solidFill>
                <a:latin typeface="Cairo Black" pitchFamily="34" charset="0"/>
                <a:ea typeface="Cairo Black" pitchFamily="34" charset="-122"/>
                <a:cs typeface="Cairo Black" pitchFamily="34" charset="-120"/>
              </a:rPr>
              <a:t>الكاميرا في الصف الأخير</a:t>
            </a:r>
            <a:endParaRPr lang="ar-SA" sz="5000" dirty="0"/>
          </a:p>
        </p:txBody>
      </p:sp>
      <p:sp>
        <p:nvSpPr>
          <p:cNvPr id="7" name="Shape 3"/>
          <p:cNvSpPr/>
          <p:nvPr/>
        </p:nvSpPr>
        <p:spPr>
          <a:xfrm>
            <a:off x="10125151" y="4480560"/>
            <a:ext cx="1243584"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8" name="Text 4"/>
          <p:cNvSpPr/>
          <p:nvPr/>
        </p:nvSpPr>
        <p:spPr>
          <a:xfrm>
            <a:off x="10125151" y="4480560"/>
            <a:ext cx="1243584"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القصة</a:t>
            </a:r>
            <a:endParaRPr lang="ar-SA" sz="1500" dirty="0"/>
          </a:p>
        </p:txBody>
      </p:sp>
      <p:sp>
        <p:nvSpPr>
          <p:cNvPr id="9" name="Shape 5"/>
          <p:cNvSpPr/>
          <p:nvPr/>
        </p:nvSpPr>
        <p:spPr>
          <a:xfrm>
            <a:off x="8680399" y="4480560"/>
            <a:ext cx="1353312"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0" name="Text 6"/>
          <p:cNvSpPr/>
          <p:nvPr/>
        </p:nvSpPr>
        <p:spPr>
          <a:xfrm>
            <a:off x="8680399" y="4480560"/>
            <a:ext cx="1353312"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تصويت</a:t>
            </a:r>
            <a:endParaRPr lang="ar-SA" sz="1500" dirty="0"/>
          </a:p>
        </p:txBody>
      </p:sp>
      <p:sp>
        <p:nvSpPr>
          <p:cNvPr id="11" name="Shape 7"/>
          <p:cNvSpPr/>
          <p:nvPr/>
        </p:nvSpPr>
        <p:spPr>
          <a:xfrm>
            <a:off x="7235647" y="4480560"/>
            <a:ext cx="1353312"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2" name="Text 8"/>
          <p:cNvSpPr/>
          <p:nvPr/>
        </p:nvSpPr>
        <p:spPr>
          <a:xfrm>
            <a:off x="7235647" y="4480560"/>
            <a:ext cx="1353312"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لماذا؟</a:t>
            </a:r>
            <a:endParaRPr lang="ar-SA" sz="1500" dirty="0"/>
          </a:p>
        </p:txBody>
      </p:sp>
      <p:sp>
        <p:nvSpPr>
          <p:cNvPr id="13" name="Shape 9"/>
          <p:cNvSpPr/>
          <p:nvPr/>
        </p:nvSpPr>
        <p:spPr>
          <a:xfrm>
            <a:off x="5571439" y="4480560"/>
            <a:ext cx="1572768"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4" name="Text 10"/>
          <p:cNvSpPr/>
          <p:nvPr/>
        </p:nvSpPr>
        <p:spPr>
          <a:xfrm>
            <a:off x="5571439" y="4480560"/>
            <a:ext cx="1572768"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أول خطوة</a:t>
            </a:r>
            <a:endParaRPr lang="ar-SA" sz="1500" dirty="0"/>
          </a:p>
        </p:txBody>
      </p:sp>
      <p:sp>
        <p:nvSpPr>
          <p:cNvPr id="15" name="Shape 11"/>
          <p:cNvSpPr/>
          <p:nvPr/>
        </p:nvSpPr>
        <p:spPr>
          <a:xfrm>
            <a:off x="3687775" y="4480560"/>
            <a:ext cx="1792224"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6" name="Text 12"/>
          <p:cNvSpPr/>
          <p:nvPr/>
        </p:nvSpPr>
        <p:spPr>
          <a:xfrm>
            <a:off x="3687775" y="4480560"/>
            <a:ext cx="1792224"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ماذا تقول؟</a:t>
            </a:r>
            <a:endParaRPr lang="ar-SA" sz="1500" dirty="0"/>
          </a:p>
        </p:txBody>
      </p:sp>
      <p:sp>
        <p:nvSpPr>
          <p:cNvPr id="17" name="Text 1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18" name="Text 1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موقف: الكاميرا في الصف الأخير  ·  ١٥٧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16000" fill="hold"/>
                                        <p:tgtEl>
                                          <p:spTgt spid="2"/>
                                        </p:tgtEl>
                                      </p:cBhvr>
                                      <p:by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8.xml><?xml version="1.0" encoding="utf-8"?>
<p:sld xmlns:a="http://schemas.openxmlformats.org/drawingml/2006/main" xmlns:r="http://schemas.openxmlformats.org/officeDocument/2006/relationships" xmlns:p="http://schemas.openxmlformats.org/presentationml/2006/main">
  <p:cSld name="Slide 15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kb-1752" descr="/Users/mac/Desktop/أردوينو/المشاريع والكتب/younes-training/mawaqif/assets/scenes/filming.jpg">    </p:cNvPr>
          <p:cNvPicPr>
            <a:picLocks noChangeAspect="1"/>
          </p:cNvPicPr>
          <p:nvPr/>
        </p:nvPicPr>
        <p:blipFill>
          <a:blip r:embed="rId2"/>
          <a:stretch>
            <a:fillRect/>
          </a:stretch>
        </p:blipFill>
        <p:spPr>
          <a:xfrm>
            <a:off x="0" y="0"/>
            <a:ext cx="12191695" cy="6858000"/>
          </a:xfrm>
          <a:prstGeom prst="rect">
            <a:avLst/>
          </a:prstGeom>
        </p:spPr>
      </p:pic>
      <p:pic>
        <p:nvPicPr>
          <p:cNvPr id="3" name="Image 1" descr="/Users/mac/Desktop/أردوينو/المشاريع والكتب/younes-training/shared/assets/story-overlay.png">    </p:cNvPr>
          <p:cNvPicPr>
            <a:picLocks noChangeAspect="1"/>
          </p:cNvPicPr>
          <p:nvPr/>
        </p:nvPicPr>
        <p:blipFill>
          <a:blip r:embed="rId3"/>
          <a:stretch>
            <a:fillRect/>
          </a:stretch>
        </p:blipFill>
        <p:spPr>
          <a:xfrm>
            <a:off x="0" y="0"/>
            <a:ext cx="12191695" cy="6858000"/>
          </a:xfrm>
          <a:prstGeom prst="rect">
            <a:avLst/>
          </a:prstGeom>
        </p:spPr>
      </p:pic>
      <p:sp>
        <p:nvSpPr>
          <p:cNvPr id="4" name="Shape 0"/>
          <p:cNvSpPr/>
          <p:nvPr/>
        </p:nvSpPr>
        <p:spPr>
          <a:xfrm>
            <a:off x="7985455" y="365760"/>
            <a:ext cx="3657600" cy="502920"/>
          </a:xfrm>
          <a:prstGeom prst="roundRect">
            <a:avLst>
              <a:gd name="adj" fmla="val 49091"/>
            </a:avLst>
          </a:prstGeom>
          <a:solidFill>
            <a:srgbClr val="0A1230">
              <a:alpha val="80000"/>
            </a:srgbClr>
          </a:solidFill>
          <a:ln w="12700">
            <a:solidFill>
              <a:srgbClr val="D9AE4B">
                <a:alpha val="60000"/>
              </a:srgbClr>
            </a:solidFill>
            <a:prstDash val="solid"/>
          </a:ln>
        </p:spPr>
      </p:sp>
      <p:sp>
        <p:nvSpPr>
          <p:cNvPr id="5" name="Text 1"/>
          <p:cNvSpPr/>
          <p:nvPr/>
        </p:nvSpPr>
        <p:spPr>
          <a:xfrm>
            <a:off x="7985455" y="365760"/>
            <a:ext cx="3657600" cy="50292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 القصة · ماذا حدث؟</a:t>
            </a:r>
            <a:endParaRPr lang="ar-SA" sz="1800" dirty="0"/>
          </a:p>
        </p:txBody>
      </p:sp>
      <p:sp>
        <p:nvSpPr>
          <p:cNvPr id="6" name="Shape 2"/>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7" name="Text 3"/>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في حصة متوترة، رفع أ. عادل صوته على طالب تأخر للمرة الثالثة.</a:t>
            </a:r>
            <a:endParaRPr lang="ar-SA" sz="2400" dirty="0"/>
          </a:p>
        </p:txBody>
      </p:sp>
      <p:sp>
        <p:nvSpPr>
          <p:cNvPr id="8" name="anim-g1-1753"/>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9" name="anim-g1-1754"/>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في الصف الأخير، كان راكان (الثاني الثانوي) يرفع جواله بهدوء… والنقطة الحمراء تومض: إنه يصوّر.</a:t>
            </a:r>
            <a:endParaRPr lang="ar-SA" sz="2400" dirty="0"/>
          </a:p>
        </p:txBody>
      </p:sp>
      <p:sp>
        <p:nvSpPr>
          <p:cNvPr id="10" name="anim-g2-1755"/>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11" name="anim-g2-1756"/>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لاحظه زميله، وتبادل الطلاب النظرات، ولمح أ. عادل الجوال المرفوع.</a:t>
            </a:r>
            <a:endParaRPr lang="ar-SA" sz="2400" dirty="0"/>
          </a:p>
        </p:txBody>
      </p:sp>
      <p:sp>
        <p:nvSpPr>
          <p:cNvPr id="12" name="anim-g3-1757"/>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13" name="anim-g3-1758"/>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600" b="1" dirty="0">
                <a:solidFill>
                  <a:srgbClr val="F0CC7A"/>
                </a:solidFill>
                <a:latin typeface="Cairo" pitchFamily="34" charset="0"/>
                <a:ea typeface="Cairo" pitchFamily="34" charset="-122"/>
                <a:cs typeface="Cairo" pitchFamily="34" charset="-120"/>
              </a:rPr>
              <a:t>المقطع قد يصل إلى مواقع التواصل خلال دقائق… مقتطعًا من سياقه.</a:t>
            </a:r>
            <a:endParaRPr lang="ar-SA" sz="2600" dirty="0"/>
          </a:p>
        </p:txBody>
      </p:sp>
      <p:sp>
        <p:nvSpPr>
          <p:cNvPr id="14" name="Text 1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15" name="Text 1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موقف: الكاميرا في الصف الأخير  ·  ١٥٨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16000" fill="hold"/>
                                        <p:tgtEl>
                                          <p:spTgt spid="2"/>
                                        </p:tgtEl>
                                      </p:cBhvr>
                                      <p:by x="112000" y="112000"/>
                                    </p:animScale>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Lst>
  </p:timing>
</p:sld>
</file>

<file path=ppt/slides/slide159.xml><?xml version="1.0" encoding="utf-8"?>
<p:sld xmlns:a="http://schemas.openxmlformats.org/drawingml/2006/main" xmlns:r="http://schemas.openxmlformats.org/officeDocument/2006/relationships" xmlns:p="http://schemas.openxmlformats.org/presentationml/2006/main">
  <p:cSld name="Slide 15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296351" y="457200"/>
            <a:ext cx="3072384" cy="457200"/>
          </a:xfrm>
          <a:prstGeom prst="roundRect">
            <a:avLst>
              <a:gd name="adj" fmla="val 50000"/>
            </a:avLst>
          </a:prstGeom>
          <a:solidFill>
            <a:srgbClr val="F6EBCF"/>
          </a:solidFill>
          <a:ln/>
        </p:spPr>
      </p:sp>
      <p:sp>
        <p:nvSpPr>
          <p:cNvPr id="3" name="Text 1"/>
          <p:cNvSpPr/>
          <p:nvPr/>
        </p:nvSpPr>
        <p:spPr>
          <a:xfrm>
            <a:off x="8296351" y="457200"/>
            <a:ext cx="307238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صوّت قبل أن نكشف</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ماذا يفعل أ. عادل الآن؟</a:t>
            </a:r>
            <a:endParaRPr lang="ar-SA" sz="3800" dirty="0"/>
          </a:p>
        </p:txBody>
      </p:sp>
      <p:sp>
        <p:nvSpPr>
          <p:cNvPr id="5" name="Shape 3"/>
          <p:cNvSpPr/>
          <p:nvPr/>
        </p:nvSpPr>
        <p:spPr>
          <a:xfrm>
            <a:off x="822960" y="2057400"/>
            <a:ext cx="10545775" cy="884682"/>
          </a:xfrm>
          <a:prstGeom prst="roundRect">
            <a:avLst>
              <a:gd name="adj" fmla="val 16537"/>
            </a:avLst>
          </a:prstGeom>
          <a:solidFill>
            <a:srgbClr val="FFFFFF"/>
          </a:solidFill>
          <a:ln w="19050">
            <a:solidFill>
              <a:srgbClr val="E4DCC8"/>
            </a:solidFill>
            <a:prstDash val="solid"/>
          </a:ln>
        </p:spPr>
      </p:sp>
      <p:sp>
        <p:nvSpPr>
          <p:cNvPr id="6" name="Shape 4"/>
          <p:cNvSpPr/>
          <p:nvPr/>
        </p:nvSpPr>
        <p:spPr>
          <a:xfrm>
            <a:off x="10575493" y="2194560"/>
            <a:ext cx="610362" cy="610362"/>
          </a:xfrm>
          <a:prstGeom prst="roundRect">
            <a:avLst>
              <a:gd name="adj" fmla="val 17978"/>
            </a:avLst>
          </a:prstGeom>
          <a:solidFill>
            <a:srgbClr val="101B45"/>
          </a:solidFill>
          <a:ln/>
        </p:spPr>
      </p:sp>
      <p:sp>
        <p:nvSpPr>
          <p:cNvPr id="7" name="Text 5"/>
          <p:cNvSpPr/>
          <p:nvPr/>
        </p:nvSpPr>
        <p:spPr>
          <a:xfrm>
            <a:off x="10575493" y="2194560"/>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أ</a:t>
            </a:r>
            <a:endParaRPr lang="ar-SA" sz="2000" dirty="0"/>
          </a:p>
        </p:txBody>
      </p:sp>
      <p:sp>
        <p:nvSpPr>
          <p:cNvPr id="8" name="Text 6"/>
          <p:cNvSpPr/>
          <p:nvPr/>
        </p:nvSpPr>
        <p:spPr>
          <a:xfrm>
            <a:off x="1097280" y="2057400"/>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ينتزع الجوال ويحذف المقطع بنفسه</a:t>
            </a:r>
            <a:endParaRPr lang="ar-SA" sz="2200" dirty="0"/>
          </a:p>
        </p:txBody>
      </p:sp>
      <p:sp>
        <p:nvSpPr>
          <p:cNvPr id="9" name="anim-g1-1759"/>
          <p:cNvSpPr/>
          <p:nvPr/>
        </p:nvSpPr>
        <p:spPr>
          <a:xfrm>
            <a:off x="822960" y="2057400"/>
            <a:ext cx="10545775" cy="884682"/>
          </a:xfrm>
          <a:prstGeom prst="roundRect">
            <a:avLst>
              <a:gd name="adj" fmla="val 16537"/>
            </a:avLst>
          </a:prstGeom>
          <a:solidFill>
            <a:srgbClr val="F7F7F9"/>
          </a:solidFill>
          <a:ln w="19050">
            <a:solidFill>
              <a:srgbClr val="E4DCC8"/>
            </a:solidFill>
            <a:prstDash val="solid"/>
          </a:ln>
        </p:spPr>
      </p:sp>
      <p:sp>
        <p:nvSpPr>
          <p:cNvPr id="10" name="anim-g1-1760"/>
          <p:cNvSpPr/>
          <p:nvPr/>
        </p:nvSpPr>
        <p:spPr>
          <a:xfrm>
            <a:off x="10575493" y="2194560"/>
            <a:ext cx="610362" cy="610362"/>
          </a:xfrm>
          <a:prstGeom prst="roundRect">
            <a:avLst>
              <a:gd name="adj" fmla="val 17978"/>
            </a:avLst>
          </a:prstGeom>
          <a:solidFill>
            <a:srgbClr val="A3A9BA"/>
          </a:solidFill>
          <a:ln/>
        </p:spPr>
      </p:sp>
      <p:sp>
        <p:nvSpPr>
          <p:cNvPr id="11" name="anim-g1-1761"/>
          <p:cNvSpPr/>
          <p:nvPr/>
        </p:nvSpPr>
        <p:spPr>
          <a:xfrm>
            <a:off x="10575493" y="2194560"/>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أ</a:t>
            </a:r>
            <a:endParaRPr lang="ar-SA" sz="2000" dirty="0"/>
          </a:p>
        </p:txBody>
      </p:sp>
      <p:sp>
        <p:nvSpPr>
          <p:cNvPr id="12" name="anim-g1-1762"/>
          <p:cNvSpPr/>
          <p:nvPr/>
        </p:nvSpPr>
        <p:spPr>
          <a:xfrm>
            <a:off x="1097280" y="2093976"/>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ينتزع الجوال ويحذف المقطع بنفسه</a:t>
            </a:r>
            <a:endParaRPr lang="ar-SA" sz="2200" dirty="0"/>
          </a:p>
        </p:txBody>
      </p:sp>
      <p:sp>
        <p:nvSpPr>
          <p:cNvPr id="13" name="anim-g1-1763"/>
          <p:cNvSpPr/>
          <p:nvPr/>
        </p:nvSpPr>
        <p:spPr>
          <a:xfrm>
            <a:off x="1097280" y="2535128"/>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فتح جوال الطالب والعبث به يحوّلك من متضرر إلى مخالف</a:t>
            </a:r>
            <a:endParaRPr lang="ar-SA" sz="1800" dirty="0"/>
          </a:p>
        </p:txBody>
      </p:sp>
      <p:sp>
        <p:nvSpPr>
          <p:cNvPr id="14" name="Shape 12"/>
          <p:cNvSpPr/>
          <p:nvPr/>
        </p:nvSpPr>
        <p:spPr>
          <a:xfrm>
            <a:off x="822960" y="3088386"/>
            <a:ext cx="10545775" cy="884682"/>
          </a:xfrm>
          <a:prstGeom prst="roundRect">
            <a:avLst>
              <a:gd name="adj" fmla="val 16537"/>
            </a:avLst>
          </a:prstGeom>
          <a:solidFill>
            <a:srgbClr val="FFFFFF"/>
          </a:solidFill>
          <a:ln w="19050">
            <a:solidFill>
              <a:srgbClr val="E4DCC8"/>
            </a:solidFill>
            <a:prstDash val="solid"/>
          </a:ln>
        </p:spPr>
      </p:sp>
      <p:sp>
        <p:nvSpPr>
          <p:cNvPr id="15" name="Shape 13"/>
          <p:cNvSpPr/>
          <p:nvPr/>
        </p:nvSpPr>
        <p:spPr>
          <a:xfrm>
            <a:off x="10575493" y="3225546"/>
            <a:ext cx="610362" cy="610362"/>
          </a:xfrm>
          <a:prstGeom prst="roundRect">
            <a:avLst>
              <a:gd name="adj" fmla="val 17978"/>
            </a:avLst>
          </a:prstGeom>
          <a:solidFill>
            <a:srgbClr val="101B45"/>
          </a:solidFill>
          <a:ln/>
        </p:spPr>
      </p:sp>
      <p:sp>
        <p:nvSpPr>
          <p:cNvPr id="16" name="Text 14"/>
          <p:cNvSpPr/>
          <p:nvPr/>
        </p:nvSpPr>
        <p:spPr>
          <a:xfrm>
            <a:off x="10575493" y="3225546"/>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ب</a:t>
            </a:r>
            <a:endParaRPr lang="ar-SA" sz="2000" dirty="0"/>
          </a:p>
        </p:txBody>
      </p:sp>
      <p:sp>
        <p:nvSpPr>
          <p:cNvPr id="17" name="Text 15"/>
          <p:cNvSpPr/>
          <p:nvPr/>
        </p:nvSpPr>
        <p:spPr>
          <a:xfrm>
            <a:off x="1097280" y="3088386"/>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يصرخ: «أوقف التصوير فورًا!»</a:t>
            </a:r>
            <a:endParaRPr lang="ar-SA" sz="2200" dirty="0"/>
          </a:p>
        </p:txBody>
      </p:sp>
      <p:sp>
        <p:nvSpPr>
          <p:cNvPr id="18" name="anim-g1-1764"/>
          <p:cNvSpPr/>
          <p:nvPr/>
        </p:nvSpPr>
        <p:spPr>
          <a:xfrm>
            <a:off x="822960" y="3088386"/>
            <a:ext cx="10545775" cy="884682"/>
          </a:xfrm>
          <a:prstGeom prst="roundRect">
            <a:avLst>
              <a:gd name="adj" fmla="val 16537"/>
            </a:avLst>
          </a:prstGeom>
          <a:solidFill>
            <a:srgbClr val="F7F7F9"/>
          </a:solidFill>
          <a:ln w="19050">
            <a:solidFill>
              <a:srgbClr val="E4DCC8"/>
            </a:solidFill>
            <a:prstDash val="solid"/>
          </a:ln>
        </p:spPr>
      </p:sp>
      <p:sp>
        <p:nvSpPr>
          <p:cNvPr id="19" name="anim-g1-1765"/>
          <p:cNvSpPr/>
          <p:nvPr/>
        </p:nvSpPr>
        <p:spPr>
          <a:xfrm>
            <a:off x="10575493" y="3225546"/>
            <a:ext cx="610362" cy="610362"/>
          </a:xfrm>
          <a:prstGeom prst="roundRect">
            <a:avLst>
              <a:gd name="adj" fmla="val 17978"/>
            </a:avLst>
          </a:prstGeom>
          <a:solidFill>
            <a:srgbClr val="A3A9BA"/>
          </a:solidFill>
          <a:ln/>
        </p:spPr>
      </p:sp>
      <p:sp>
        <p:nvSpPr>
          <p:cNvPr id="20" name="anim-g1-1766"/>
          <p:cNvSpPr/>
          <p:nvPr/>
        </p:nvSpPr>
        <p:spPr>
          <a:xfrm>
            <a:off x="10575493" y="3225546"/>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ب</a:t>
            </a:r>
            <a:endParaRPr lang="ar-SA" sz="2000" dirty="0"/>
          </a:p>
        </p:txBody>
      </p:sp>
      <p:sp>
        <p:nvSpPr>
          <p:cNvPr id="21" name="anim-g1-1767"/>
          <p:cNvSpPr/>
          <p:nvPr/>
        </p:nvSpPr>
        <p:spPr>
          <a:xfrm>
            <a:off x="1097280" y="3124962"/>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يصرخ: «أوقف التصوير فورًا!»</a:t>
            </a:r>
            <a:endParaRPr lang="ar-SA" sz="2200" dirty="0"/>
          </a:p>
        </p:txBody>
      </p:sp>
      <p:sp>
        <p:nvSpPr>
          <p:cNvPr id="22" name="anim-g1-1768"/>
          <p:cNvSpPr/>
          <p:nvPr/>
        </p:nvSpPr>
        <p:spPr>
          <a:xfrm>
            <a:off x="1097280" y="3566114"/>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الصراخ الآن هو بالضبط المقطع الذي يريده</a:t>
            </a:r>
            <a:endParaRPr lang="ar-SA" sz="1800" dirty="0"/>
          </a:p>
        </p:txBody>
      </p:sp>
      <p:sp>
        <p:nvSpPr>
          <p:cNvPr id="23" name="Shape 21"/>
          <p:cNvSpPr/>
          <p:nvPr/>
        </p:nvSpPr>
        <p:spPr>
          <a:xfrm>
            <a:off x="822960" y="4119372"/>
            <a:ext cx="10545775" cy="884682"/>
          </a:xfrm>
          <a:prstGeom prst="roundRect">
            <a:avLst>
              <a:gd name="adj" fmla="val 16537"/>
            </a:avLst>
          </a:prstGeom>
          <a:solidFill>
            <a:srgbClr val="FFFFFF"/>
          </a:solidFill>
          <a:ln w="19050">
            <a:solidFill>
              <a:srgbClr val="E4DCC8"/>
            </a:solidFill>
            <a:prstDash val="solid"/>
          </a:ln>
        </p:spPr>
      </p:sp>
      <p:sp>
        <p:nvSpPr>
          <p:cNvPr id="24" name="Shape 22"/>
          <p:cNvSpPr/>
          <p:nvPr/>
        </p:nvSpPr>
        <p:spPr>
          <a:xfrm>
            <a:off x="10575493" y="4256532"/>
            <a:ext cx="610362" cy="610362"/>
          </a:xfrm>
          <a:prstGeom prst="roundRect">
            <a:avLst>
              <a:gd name="adj" fmla="val 17978"/>
            </a:avLst>
          </a:prstGeom>
          <a:solidFill>
            <a:srgbClr val="101B45"/>
          </a:solidFill>
          <a:ln/>
        </p:spPr>
      </p:sp>
      <p:sp>
        <p:nvSpPr>
          <p:cNvPr id="25" name="Text 23"/>
          <p:cNvSpPr/>
          <p:nvPr/>
        </p:nvSpPr>
        <p:spPr>
          <a:xfrm>
            <a:off x="10575493" y="4256532"/>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ج</a:t>
            </a:r>
            <a:endParaRPr lang="ar-SA" sz="2000" dirty="0"/>
          </a:p>
        </p:txBody>
      </p:sp>
      <p:sp>
        <p:nvSpPr>
          <p:cNvPr id="26" name="Text 24"/>
          <p:cNvSpPr/>
          <p:nvPr/>
        </p:nvSpPr>
        <p:spPr>
          <a:xfrm>
            <a:off x="1097280" y="4119372"/>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يستعيد هدوءه فورًا، ويطلب بحزم إيقاف التصوير، ثم يبلّغ الإدارة وفق النظام</a:t>
            </a:r>
            <a:endParaRPr lang="ar-SA" sz="2200" dirty="0"/>
          </a:p>
        </p:txBody>
      </p:sp>
      <p:sp>
        <p:nvSpPr>
          <p:cNvPr id="27" name="anim-g1-1769"/>
          <p:cNvSpPr/>
          <p:nvPr/>
        </p:nvSpPr>
        <p:spPr>
          <a:xfrm>
            <a:off x="822960" y="4119372"/>
            <a:ext cx="10545775" cy="884682"/>
          </a:xfrm>
          <a:prstGeom prst="roundRect">
            <a:avLst>
              <a:gd name="adj" fmla="val 16537"/>
            </a:avLst>
          </a:prstGeom>
          <a:solidFill>
            <a:srgbClr val="E6F4EC"/>
          </a:solidFill>
          <a:ln w="31750">
            <a:solidFill>
              <a:srgbClr val="2E9E6B"/>
            </a:solidFill>
            <a:prstDash val="solid"/>
          </a:ln>
        </p:spPr>
      </p:sp>
      <p:sp>
        <p:nvSpPr>
          <p:cNvPr id="28" name="anim-g1-1770"/>
          <p:cNvSpPr/>
          <p:nvPr/>
        </p:nvSpPr>
        <p:spPr>
          <a:xfrm>
            <a:off x="10575493" y="4256532"/>
            <a:ext cx="610362" cy="610362"/>
          </a:xfrm>
          <a:prstGeom prst="roundRect">
            <a:avLst>
              <a:gd name="adj" fmla="val 17978"/>
            </a:avLst>
          </a:prstGeom>
          <a:solidFill>
            <a:srgbClr val="2E9E6B"/>
          </a:solidFill>
          <a:ln/>
        </p:spPr>
      </p:sp>
      <p:sp>
        <p:nvSpPr>
          <p:cNvPr id="29" name="anim-g1-1771"/>
          <p:cNvSpPr/>
          <p:nvPr/>
        </p:nvSpPr>
        <p:spPr>
          <a:xfrm>
            <a:off x="10575493" y="4256532"/>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a:t>
            </a:r>
            <a:endParaRPr lang="ar-SA" sz="2000" dirty="0"/>
          </a:p>
        </p:txBody>
      </p:sp>
      <p:sp>
        <p:nvSpPr>
          <p:cNvPr id="30" name="anim-g1-1772"/>
          <p:cNvSpPr/>
          <p:nvPr/>
        </p:nvSpPr>
        <p:spPr>
          <a:xfrm>
            <a:off x="1097280" y="4155948"/>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يستعيد هدوءه فورًا، ويطلب بحزم إيقاف التصوير، ثم يبلّغ الإدارة وفق النظام</a:t>
            </a:r>
            <a:endParaRPr lang="ar-SA" sz="2200" dirty="0"/>
          </a:p>
        </p:txBody>
      </p:sp>
      <p:sp>
        <p:nvSpPr>
          <p:cNvPr id="31" name="anim-g1-1773"/>
          <p:cNvSpPr/>
          <p:nvPr/>
        </p:nvSpPr>
        <p:spPr>
          <a:xfrm>
            <a:off x="1097280" y="4597100"/>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الهدوء يجعل المقطع بلا قيمة، والنظام يحمي الطرفين</a:t>
            </a:r>
            <a:endParaRPr lang="ar-SA" sz="1800" dirty="0"/>
          </a:p>
        </p:txBody>
      </p:sp>
      <p:sp>
        <p:nvSpPr>
          <p:cNvPr id="32" name="Shape 30"/>
          <p:cNvSpPr/>
          <p:nvPr/>
        </p:nvSpPr>
        <p:spPr>
          <a:xfrm>
            <a:off x="822960" y="5150358"/>
            <a:ext cx="10545775" cy="884682"/>
          </a:xfrm>
          <a:prstGeom prst="roundRect">
            <a:avLst>
              <a:gd name="adj" fmla="val 16537"/>
            </a:avLst>
          </a:prstGeom>
          <a:solidFill>
            <a:srgbClr val="FFFFFF"/>
          </a:solidFill>
          <a:ln w="19050">
            <a:solidFill>
              <a:srgbClr val="E4DCC8"/>
            </a:solidFill>
            <a:prstDash val="solid"/>
          </a:ln>
        </p:spPr>
      </p:sp>
      <p:sp>
        <p:nvSpPr>
          <p:cNvPr id="33" name="Shape 31"/>
          <p:cNvSpPr/>
          <p:nvPr/>
        </p:nvSpPr>
        <p:spPr>
          <a:xfrm>
            <a:off x="10575493" y="5287518"/>
            <a:ext cx="610362" cy="610362"/>
          </a:xfrm>
          <a:prstGeom prst="roundRect">
            <a:avLst>
              <a:gd name="adj" fmla="val 17978"/>
            </a:avLst>
          </a:prstGeom>
          <a:solidFill>
            <a:srgbClr val="101B45"/>
          </a:solidFill>
          <a:ln/>
        </p:spPr>
      </p:sp>
      <p:sp>
        <p:nvSpPr>
          <p:cNvPr id="34" name="Text 32"/>
          <p:cNvSpPr/>
          <p:nvPr/>
        </p:nvSpPr>
        <p:spPr>
          <a:xfrm>
            <a:off x="10575493" y="5287518"/>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د</a:t>
            </a:r>
            <a:endParaRPr lang="ar-SA" sz="2000" dirty="0"/>
          </a:p>
        </p:txBody>
      </p:sp>
      <p:sp>
        <p:nvSpPr>
          <p:cNvPr id="35" name="Text 33"/>
          <p:cNvSpPr/>
          <p:nvPr/>
        </p:nvSpPr>
        <p:spPr>
          <a:xfrm>
            <a:off x="1097280" y="5150358"/>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يتجاهل ويكمل كأن شيئًا لم يحدث</a:t>
            </a:r>
            <a:endParaRPr lang="ar-SA" sz="2200" dirty="0"/>
          </a:p>
        </p:txBody>
      </p:sp>
      <p:sp>
        <p:nvSpPr>
          <p:cNvPr id="36" name="anim-g1-1774"/>
          <p:cNvSpPr/>
          <p:nvPr/>
        </p:nvSpPr>
        <p:spPr>
          <a:xfrm>
            <a:off x="822960" y="5150358"/>
            <a:ext cx="10545775" cy="884682"/>
          </a:xfrm>
          <a:prstGeom prst="roundRect">
            <a:avLst>
              <a:gd name="adj" fmla="val 16537"/>
            </a:avLst>
          </a:prstGeom>
          <a:solidFill>
            <a:srgbClr val="F7F7F9"/>
          </a:solidFill>
          <a:ln w="19050">
            <a:solidFill>
              <a:srgbClr val="E4DCC8"/>
            </a:solidFill>
            <a:prstDash val="solid"/>
          </a:ln>
        </p:spPr>
      </p:sp>
      <p:sp>
        <p:nvSpPr>
          <p:cNvPr id="37" name="anim-g1-1775"/>
          <p:cNvSpPr/>
          <p:nvPr/>
        </p:nvSpPr>
        <p:spPr>
          <a:xfrm>
            <a:off x="10575493" y="5287518"/>
            <a:ext cx="610362" cy="610362"/>
          </a:xfrm>
          <a:prstGeom prst="roundRect">
            <a:avLst>
              <a:gd name="adj" fmla="val 17978"/>
            </a:avLst>
          </a:prstGeom>
          <a:solidFill>
            <a:srgbClr val="A3A9BA"/>
          </a:solidFill>
          <a:ln/>
        </p:spPr>
      </p:sp>
      <p:sp>
        <p:nvSpPr>
          <p:cNvPr id="38" name="anim-g1-1776"/>
          <p:cNvSpPr/>
          <p:nvPr/>
        </p:nvSpPr>
        <p:spPr>
          <a:xfrm>
            <a:off x="10575493" y="5287518"/>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د</a:t>
            </a:r>
            <a:endParaRPr lang="ar-SA" sz="2000" dirty="0"/>
          </a:p>
        </p:txBody>
      </p:sp>
      <p:sp>
        <p:nvSpPr>
          <p:cNvPr id="39" name="anim-g1-1777"/>
          <p:cNvSpPr/>
          <p:nvPr/>
        </p:nvSpPr>
        <p:spPr>
          <a:xfrm>
            <a:off x="1097280" y="5186934"/>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يتجاهل ويكمل كأن شيئًا لم يحدث</a:t>
            </a:r>
            <a:endParaRPr lang="ar-SA" sz="2200" dirty="0"/>
          </a:p>
        </p:txBody>
      </p:sp>
      <p:sp>
        <p:nvSpPr>
          <p:cNvPr id="40" name="anim-g1-1778"/>
          <p:cNvSpPr/>
          <p:nvPr/>
        </p:nvSpPr>
        <p:spPr>
          <a:xfrm>
            <a:off x="1097280" y="5628086"/>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التصوير دون إذن مخالفة لا يصح تجاهلها</a:t>
            </a:r>
            <a:endParaRPr lang="ar-SA" sz="1800" dirty="0"/>
          </a:p>
        </p:txBody>
      </p:sp>
      <p:sp>
        <p:nvSpPr>
          <p:cNvPr id="41" name="Text 3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42" name="Text 4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الكاميرا في الصف الأخير  ·  ١٥٩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400"/>
                                        <p:tgtEl>
                                          <p:spTgt spid="3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400"/>
                                        <p:tgtEl>
                                          <p:spTgt spid="3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400"/>
                                        <p:tgtEl>
                                          <p:spTgt spid="38"/>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9"/>
                                        </p:tgtEl>
                                        <p:attrNameLst>
                                          <p:attrName>style.visibility</p:attrName>
                                        </p:attrNameLst>
                                      </p:cBhvr>
                                      <p:to>
                                        <p:strVal val="visible"/>
                                      </p:to>
                                    </p:set>
                                    <p:animEffect transition="in" filter="fade">
                                      <p:cBhvr>
                                        <p:cTn id="61" dur="400"/>
                                        <p:tgtEl>
                                          <p:spTgt spid="3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0"/>
                                        </p:tgtEl>
                                        <p:attrNameLst>
                                          <p:attrName>style.visibility</p:attrName>
                                        </p:attrNameLst>
                                      </p:cBhvr>
                                      <p:to>
                                        <p:strVal val="visible"/>
                                      </p:to>
                                    </p:set>
                                    <p:animEffect transition="in" filter="fade">
                                      <p:cBhvr>
                                        <p:cTn id="64"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P spid="36" grpId="0" animBg="1"/>
      <p:bldP spid="37" grpId="0" animBg="1"/>
      <p:bldP spid="38" grpId="0" animBg="1"/>
      <p:bldP spid="39" grpId="0" animBg="1"/>
      <p:bldP spid="40" grpId="0" animBg="1"/>
    </p:bldLst>
  </p:timing>
</p:sld>
</file>

<file path=ppt/slides/slide160.xml><?xml version="1.0" encoding="utf-8"?>
<p:sld xmlns:a="http://schemas.openxmlformats.org/drawingml/2006/main" xmlns:r="http://schemas.openxmlformats.org/officeDocument/2006/relationships" xmlns:p="http://schemas.openxmlformats.org/presentationml/2006/main">
  <p:cSld name="Slide 16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711135" y="457200"/>
            <a:ext cx="3657600" cy="457200"/>
          </a:xfrm>
          <a:prstGeom prst="roundRect">
            <a:avLst>
              <a:gd name="adj" fmla="val 50000"/>
            </a:avLst>
          </a:prstGeom>
          <a:solidFill>
            <a:srgbClr val="F6EBCF"/>
          </a:solidFill>
          <a:ln/>
        </p:spPr>
      </p:sp>
      <p:sp>
        <p:nvSpPr>
          <p:cNvPr id="3" name="Text 1"/>
          <p:cNvSpPr/>
          <p:nvPr/>
        </p:nvSpPr>
        <p:spPr>
          <a:xfrm>
            <a:off x="7711135" y="457200"/>
            <a:ext cx="365760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وراء كل سلوك حاجة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لماذا يصوّر الطالب معلمه؟</a:t>
            </a:r>
            <a:endParaRPr lang="ar-SA" sz="3800" dirty="0"/>
          </a:p>
        </p:txBody>
      </p:sp>
      <p:sp>
        <p:nvSpPr>
          <p:cNvPr id="5" name="anim-g1-1779"/>
          <p:cNvSpPr/>
          <p:nvPr/>
        </p:nvSpPr>
        <p:spPr>
          <a:xfrm>
            <a:off x="8903741" y="2011680"/>
            <a:ext cx="2464994" cy="2514600"/>
          </a:xfrm>
          <a:prstGeom prst="roundRect">
            <a:avLst>
              <a:gd name="adj" fmla="val 6677"/>
            </a:avLst>
          </a:prstGeom>
          <a:solidFill>
            <a:srgbClr val="FFFFFF"/>
          </a:solidFill>
          <a:ln w="12700">
            <a:solidFill>
              <a:srgbClr val="E4DCC8"/>
            </a:solidFill>
            <a:prstDash val="solid"/>
          </a:ln>
        </p:spPr>
      </p:sp>
      <p:sp>
        <p:nvSpPr>
          <p:cNvPr id="6" name="anim-g1-1780"/>
          <p:cNvSpPr/>
          <p:nvPr/>
        </p:nvSpPr>
        <p:spPr>
          <a:xfrm>
            <a:off x="9816198" y="2194560"/>
            <a:ext cx="640080" cy="640080"/>
          </a:xfrm>
          <a:prstGeom prst="roundRect">
            <a:avLst>
              <a:gd name="adj" fmla="val 25714"/>
            </a:avLst>
          </a:prstGeom>
          <a:solidFill>
            <a:srgbClr val="F7E6BC"/>
          </a:solidFill>
          <a:ln/>
        </p:spPr>
      </p:sp>
      <p:sp>
        <p:nvSpPr>
          <p:cNvPr id="7" name="anim-g1-1781"/>
          <p:cNvSpPr/>
          <p:nvPr/>
        </p:nvSpPr>
        <p:spPr>
          <a:xfrm>
            <a:off x="9816198"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8" name="anim-g1-1782"/>
          <p:cNvSpPr/>
          <p:nvPr/>
        </p:nvSpPr>
        <p:spPr>
          <a:xfrm>
            <a:off x="9040901"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الشهرة</a:t>
            </a:r>
            <a:endParaRPr lang="ar-SA" sz="2200" dirty="0"/>
          </a:p>
        </p:txBody>
      </p:sp>
      <p:sp>
        <p:nvSpPr>
          <p:cNvPr id="9" name="anim-g1-1783"/>
          <p:cNvSpPr/>
          <p:nvPr/>
        </p:nvSpPr>
        <p:spPr>
          <a:xfrm>
            <a:off x="9040901"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مقطع «مثير» يعني مشاهدات ومتابعين</a:t>
            </a:r>
            <a:endParaRPr lang="ar-SA" sz="1900" dirty="0"/>
          </a:p>
        </p:txBody>
      </p:sp>
      <p:sp>
        <p:nvSpPr>
          <p:cNvPr id="10" name="anim-g2-1784"/>
          <p:cNvSpPr/>
          <p:nvPr/>
        </p:nvSpPr>
        <p:spPr>
          <a:xfrm>
            <a:off x="6210148" y="2011680"/>
            <a:ext cx="2464994" cy="2514600"/>
          </a:xfrm>
          <a:prstGeom prst="roundRect">
            <a:avLst>
              <a:gd name="adj" fmla="val 6677"/>
            </a:avLst>
          </a:prstGeom>
          <a:solidFill>
            <a:srgbClr val="FFFFFF"/>
          </a:solidFill>
          <a:ln w="12700">
            <a:solidFill>
              <a:srgbClr val="E4DCC8"/>
            </a:solidFill>
            <a:prstDash val="solid"/>
          </a:ln>
        </p:spPr>
      </p:sp>
      <p:sp>
        <p:nvSpPr>
          <p:cNvPr id="11" name="anim-g2-1785"/>
          <p:cNvSpPr/>
          <p:nvPr/>
        </p:nvSpPr>
        <p:spPr>
          <a:xfrm>
            <a:off x="7122604" y="2194560"/>
            <a:ext cx="640080" cy="640080"/>
          </a:xfrm>
          <a:prstGeom prst="roundRect">
            <a:avLst>
              <a:gd name="adj" fmla="val 25714"/>
            </a:avLst>
          </a:prstGeom>
          <a:solidFill>
            <a:srgbClr val="F7E6BC"/>
          </a:solidFill>
          <a:ln/>
        </p:spPr>
      </p:sp>
      <p:sp>
        <p:nvSpPr>
          <p:cNvPr id="12" name="anim-g2-1786"/>
          <p:cNvSpPr/>
          <p:nvPr/>
        </p:nvSpPr>
        <p:spPr>
          <a:xfrm>
            <a:off x="7122604"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13" name="anim-g2-1787"/>
          <p:cNvSpPr/>
          <p:nvPr/>
        </p:nvSpPr>
        <p:spPr>
          <a:xfrm>
            <a:off x="6347308"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انتقام</a:t>
            </a:r>
            <a:endParaRPr lang="ar-SA" sz="2200" dirty="0"/>
          </a:p>
        </p:txBody>
      </p:sp>
      <p:sp>
        <p:nvSpPr>
          <p:cNvPr id="14" name="anim-g2-1788"/>
          <p:cNvSpPr/>
          <p:nvPr/>
        </p:nvSpPr>
        <p:spPr>
          <a:xfrm>
            <a:off x="6347308"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يشعر أن المعلم ظلمه أو ظلم زميله</a:t>
            </a:r>
            <a:endParaRPr lang="ar-SA" sz="1900" dirty="0"/>
          </a:p>
        </p:txBody>
      </p:sp>
      <p:sp>
        <p:nvSpPr>
          <p:cNvPr id="15" name="anim-g3-1789"/>
          <p:cNvSpPr/>
          <p:nvPr/>
        </p:nvSpPr>
        <p:spPr>
          <a:xfrm>
            <a:off x="3516554" y="2011680"/>
            <a:ext cx="2464994" cy="2514600"/>
          </a:xfrm>
          <a:prstGeom prst="roundRect">
            <a:avLst>
              <a:gd name="adj" fmla="val 6677"/>
            </a:avLst>
          </a:prstGeom>
          <a:solidFill>
            <a:srgbClr val="FFFFFF"/>
          </a:solidFill>
          <a:ln w="12700">
            <a:solidFill>
              <a:srgbClr val="E4DCC8"/>
            </a:solidFill>
            <a:prstDash val="solid"/>
          </a:ln>
        </p:spPr>
      </p:sp>
      <p:sp>
        <p:nvSpPr>
          <p:cNvPr id="16" name="anim-g3-1790"/>
          <p:cNvSpPr/>
          <p:nvPr/>
        </p:nvSpPr>
        <p:spPr>
          <a:xfrm>
            <a:off x="4429011" y="2194560"/>
            <a:ext cx="640080" cy="640080"/>
          </a:xfrm>
          <a:prstGeom prst="roundRect">
            <a:avLst>
              <a:gd name="adj" fmla="val 25714"/>
            </a:avLst>
          </a:prstGeom>
          <a:solidFill>
            <a:srgbClr val="F7E6BC"/>
          </a:solidFill>
          <a:ln/>
        </p:spPr>
      </p:sp>
      <p:sp>
        <p:nvSpPr>
          <p:cNvPr id="17" name="anim-g3-1791"/>
          <p:cNvSpPr/>
          <p:nvPr/>
        </p:nvSpPr>
        <p:spPr>
          <a:xfrm>
            <a:off x="4429011"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18" name="anim-g3-1792"/>
          <p:cNvSpPr/>
          <p:nvPr/>
        </p:nvSpPr>
        <p:spPr>
          <a:xfrm>
            <a:off x="3653714"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تسلية</a:t>
            </a:r>
            <a:endParaRPr lang="ar-SA" sz="2200" dirty="0"/>
          </a:p>
        </p:txBody>
      </p:sp>
      <p:sp>
        <p:nvSpPr>
          <p:cNvPr id="19" name="anim-g3-1793"/>
          <p:cNvSpPr/>
          <p:nvPr/>
        </p:nvSpPr>
        <p:spPr>
          <a:xfrm>
            <a:off x="3653714"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لا يدرك خطورة ما يفعل</a:t>
            </a:r>
            <a:endParaRPr lang="ar-SA" sz="1900" dirty="0"/>
          </a:p>
        </p:txBody>
      </p:sp>
      <p:sp>
        <p:nvSpPr>
          <p:cNvPr id="20" name="anim-g4-1794"/>
          <p:cNvSpPr/>
          <p:nvPr/>
        </p:nvSpPr>
        <p:spPr>
          <a:xfrm>
            <a:off x="822960" y="2011680"/>
            <a:ext cx="2464994" cy="2514600"/>
          </a:xfrm>
          <a:prstGeom prst="roundRect">
            <a:avLst>
              <a:gd name="adj" fmla="val 6677"/>
            </a:avLst>
          </a:prstGeom>
          <a:solidFill>
            <a:srgbClr val="FFFFFF"/>
          </a:solidFill>
          <a:ln w="12700">
            <a:solidFill>
              <a:srgbClr val="E4DCC8"/>
            </a:solidFill>
            <a:prstDash val="solid"/>
          </a:ln>
        </p:spPr>
      </p:sp>
      <p:sp>
        <p:nvSpPr>
          <p:cNvPr id="21" name="anim-g4-1795"/>
          <p:cNvSpPr/>
          <p:nvPr/>
        </p:nvSpPr>
        <p:spPr>
          <a:xfrm>
            <a:off x="1735417" y="2194560"/>
            <a:ext cx="640080" cy="640080"/>
          </a:xfrm>
          <a:prstGeom prst="roundRect">
            <a:avLst>
              <a:gd name="adj" fmla="val 25714"/>
            </a:avLst>
          </a:prstGeom>
          <a:solidFill>
            <a:srgbClr val="F7E6BC"/>
          </a:solidFill>
          <a:ln/>
        </p:spPr>
      </p:sp>
      <p:sp>
        <p:nvSpPr>
          <p:cNvPr id="22" name="anim-g4-1796"/>
          <p:cNvSpPr/>
          <p:nvPr/>
        </p:nvSpPr>
        <p:spPr>
          <a:xfrm>
            <a:off x="1735417"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23" name="anim-g4-1797"/>
          <p:cNvSpPr/>
          <p:nvPr/>
        </p:nvSpPr>
        <p:spPr>
          <a:xfrm>
            <a:off x="960120"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جهل بالنظام</a:t>
            </a:r>
            <a:endParaRPr lang="ar-SA" sz="2200" dirty="0"/>
          </a:p>
        </p:txBody>
      </p:sp>
      <p:sp>
        <p:nvSpPr>
          <p:cNvPr id="24" name="anim-g4-1798"/>
          <p:cNvSpPr/>
          <p:nvPr/>
        </p:nvSpPr>
        <p:spPr>
          <a:xfrm>
            <a:off x="960120"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لا يعرف أن التصوير دون إذن مخالفة</a:t>
            </a:r>
            <a:endParaRPr lang="ar-SA" sz="1900" dirty="0"/>
          </a:p>
        </p:txBody>
      </p:sp>
      <p:sp>
        <p:nvSpPr>
          <p:cNvPr id="25" name="anim-g5-1799"/>
          <p:cNvSpPr/>
          <p:nvPr/>
        </p:nvSpPr>
        <p:spPr>
          <a:xfrm>
            <a:off x="822960" y="4754880"/>
            <a:ext cx="10545775" cy="1051560"/>
          </a:xfrm>
          <a:prstGeom prst="roundRect">
            <a:avLst>
              <a:gd name="adj" fmla="val 17391"/>
            </a:avLst>
          </a:prstGeom>
          <a:solidFill>
            <a:srgbClr val="101B45"/>
          </a:solidFill>
          <a:ln/>
        </p:spPr>
      </p:sp>
      <p:sp>
        <p:nvSpPr>
          <p:cNvPr id="26" name="anim-g5-1800"/>
          <p:cNvSpPr/>
          <p:nvPr/>
        </p:nvSpPr>
        <p:spPr>
          <a:xfrm>
            <a:off x="1097280" y="4754880"/>
            <a:ext cx="9997135" cy="1051560"/>
          </a:xfrm>
          <a:prstGeom prst="rect">
            <a:avLst/>
          </a:prstGeom>
          <a:noFill/>
          <a:ln/>
        </p:spPr>
        <p:txBody>
          <a:bodyPr wrap="square" lIns="0" tIns="0" rIns="0" bIns="0" rtlCol="0" anchor="ctr">
            <a:normAutofit/>
          </a:bodyPr>
          <a:lstStyle/>
          <a:p>
            <a:pPr algn="ctr" indent="0" marL="0">
              <a:buNone/>
            </a:pPr>
            <a:r>
              <a:rPr lang="ar-SA" altLang="en-US" sz="2200" b="1" dirty="0">
                <a:solidFill>
                  <a:srgbClr val="FFFFFF"/>
                </a:solidFill>
                <a:latin typeface="Cairo" pitchFamily="34" charset="0"/>
                <a:ea typeface="Cairo" pitchFamily="34" charset="-122"/>
                <a:cs typeface="Cairo" pitchFamily="34" charset="-120"/>
              </a:rPr>
              <a:t>💡 أفضل حماية من الكاميرا…</a:t>
            </a:r>
            <a:endParaRPr lang="ar-SA" sz="2200" dirty="0"/>
          </a:p>
          <a:p>
            <a:pPr algn="ctr" indent="0" marL="0">
              <a:buNone/>
            </a:pPr>
            <a:r>
              <a:rPr lang="ar-SA" altLang="en-US" sz="2200" b="1" dirty="0">
                <a:solidFill>
                  <a:srgbClr val="F0CC7A"/>
                </a:solidFill>
                <a:latin typeface="Cairo" pitchFamily="34" charset="0"/>
                <a:ea typeface="Cairo" pitchFamily="34" charset="-122"/>
                <a:cs typeface="Cairo" pitchFamily="34" charset="-120"/>
              </a:rPr>
              <a:t> أن تتصرف دائمًا كأنها تصوّرك</a:t>
            </a:r>
            <a:endParaRPr lang="ar-SA" sz="2200" dirty="0"/>
          </a:p>
        </p:txBody>
      </p:sp>
      <p:sp>
        <p:nvSpPr>
          <p:cNvPr id="27" name="Text 2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8" name="Text 2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الكاميرا في الصف الأخير  ·  ١٦٠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40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161.xml><?xml version="1.0" encoding="utf-8"?>
<p:sld xmlns:a="http://schemas.openxmlformats.org/drawingml/2006/main" xmlns:r="http://schemas.openxmlformats.org/officeDocument/2006/relationships" xmlns:p="http://schemas.openxmlformats.org/presentationml/2006/main">
  <p:cSld name="Slide 16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57439" y="457200"/>
            <a:ext cx="3511296" cy="457200"/>
          </a:xfrm>
          <a:prstGeom prst="roundRect">
            <a:avLst>
              <a:gd name="adj" fmla="val 50000"/>
            </a:avLst>
          </a:prstGeom>
          <a:solidFill>
            <a:srgbClr val="F6EBCF"/>
          </a:solidFill>
          <a:ln/>
        </p:spPr>
      </p:sp>
      <p:sp>
        <p:nvSpPr>
          <p:cNvPr id="3" name="Text 1"/>
          <p:cNvSpPr/>
          <p:nvPr/>
        </p:nvSpPr>
        <p:spPr>
          <a:xfrm>
            <a:off x="7857439" y="457200"/>
            <a:ext cx="351129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ماذا تفعل فورًا؟</a:t>
            </a:r>
            <a:endParaRPr lang="ar-SA" sz="1800" dirty="0"/>
          </a:p>
        </p:txBody>
      </p:sp>
      <p:sp>
        <p:nvSpPr>
          <p:cNvPr id="4" name="Shape 2"/>
          <p:cNvSpPr/>
          <p:nvPr/>
        </p:nvSpPr>
        <p:spPr>
          <a:xfrm>
            <a:off x="822960" y="457200"/>
            <a:ext cx="1737360" cy="457200"/>
          </a:xfrm>
          <a:prstGeom prst="roundRect">
            <a:avLst>
              <a:gd name="adj" fmla="val 50000"/>
            </a:avLst>
          </a:prstGeom>
          <a:solidFill>
            <a:srgbClr val="FBECEC"/>
          </a:solidFill>
          <a:ln/>
        </p:spPr>
      </p:sp>
      <p:sp>
        <p:nvSpPr>
          <p:cNvPr id="5" name="Text 3"/>
          <p:cNvSpPr/>
          <p:nvPr/>
        </p:nvSpPr>
        <p:spPr>
          <a:xfrm>
            <a:off x="822960" y="457200"/>
            <a:ext cx="1737360"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D64545"/>
                </a:solidFill>
                <a:latin typeface="Cairo" pitchFamily="34" charset="0"/>
                <a:ea typeface="Cairo" pitchFamily="34" charset="-122"/>
                <a:cs typeface="Cairo" pitchFamily="34" charset="-120"/>
              </a:rPr>
              <a:t>⏱ ١٠ ثوانٍ</a:t>
            </a:r>
            <a:endParaRPr lang="ar-SA" sz="1600" dirty="0"/>
          </a:p>
        </p:txBody>
      </p:sp>
      <p:sp>
        <p:nvSpPr>
          <p:cNvPr id="6" name="Text 4"/>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أول ١٠ ثوانٍ</a:t>
            </a:r>
            <a:endParaRPr lang="ar-SA" sz="3800" dirty="0"/>
          </a:p>
        </p:txBody>
      </p:sp>
      <p:sp>
        <p:nvSpPr>
          <p:cNvPr id="7" name="anim-g1-1801"/>
          <p:cNvSpPr/>
          <p:nvPr/>
        </p:nvSpPr>
        <p:spPr>
          <a:xfrm>
            <a:off x="8903741" y="2148840"/>
            <a:ext cx="2464994" cy="3383280"/>
          </a:xfrm>
          <a:prstGeom prst="roundRect">
            <a:avLst>
              <a:gd name="adj" fmla="val 6677"/>
            </a:avLst>
          </a:prstGeom>
          <a:solidFill>
            <a:srgbClr val="FFFFFF"/>
          </a:solidFill>
          <a:ln w="12700">
            <a:solidFill>
              <a:srgbClr val="E4DCC8"/>
            </a:solidFill>
            <a:prstDash val="solid"/>
          </a:ln>
        </p:spPr>
      </p:sp>
      <p:sp>
        <p:nvSpPr>
          <p:cNvPr id="8" name="anim-g1-1802"/>
          <p:cNvSpPr/>
          <p:nvPr/>
        </p:nvSpPr>
        <p:spPr>
          <a:xfrm>
            <a:off x="9747618" y="2423160"/>
            <a:ext cx="777240" cy="777240"/>
          </a:xfrm>
          <a:prstGeom prst="ellipse">
            <a:avLst/>
          </a:prstGeom>
          <a:solidFill>
            <a:srgbClr val="D9AE4B"/>
          </a:solidFill>
          <a:ln/>
        </p:spPr>
      </p:sp>
      <p:sp>
        <p:nvSpPr>
          <p:cNvPr id="9" name="anim-g1-1803"/>
          <p:cNvSpPr/>
          <p:nvPr/>
        </p:nvSpPr>
        <p:spPr>
          <a:xfrm>
            <a:off x="9747618"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١</a:t>
            </a:r>
            <a:endParaRPr lang="ar-SA" sz="2800" dirty="0"/>
          </a:p>
        </p:txBody>
      </p:sp>
      <p:sp>
        <p:nvSpPr>
          <p:cNvPr id="10" name="anim-g1-1804"/>
          <p:cNvSpPr/>
          <p:nvPr/>
        </p:nvSpPr>
        <p:spPr>
          <a:xfrm>
            <a:off x="9040901"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تنفّس</a:t>
            </a:r>
            <a:endParaRPr lang="ar-SA" sz="2500" dirty="0"/>
          </a:p>
        </p:txBody>
      </p:sp>
      <p:sp>
        <p:nvSpPr>
          <p:cNvPr id="11" name="anim-g1-1805"/>
          <p:cNvSpPr/>
          <p:nvPr/>
        </p:nvSpPr>
        <p:spPr>
          <a:xfrm>
            <a:off x="9086621"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اخفض صوتك فورًا</a:t>
            </a:r>
            <a:endParaRPr lang="ar-SA" sz="2000" dirty="0"/>
          </a:p>
        </p:txBody>
      </p:sp>
      <p:sp>
        <p:nvSpPr>
          <p:cNvPr id="12" name="anim-g2-1806"/>
          <p:cNvSpPr/>
          <p:nvPr/>
        </p:nvSpPr>
        <p:spPr>
          <a:xfrm>
            <a:off x="6210148" y="2148840"/>
            <a:ext cx="2464994" cy="3383280"/>
          </a:xfrm>
          <a:prstGeom prst="roundRect">
            <a:avLst>
              <a:gd name="adj" fmla="val 6677"/>
            </a:avLst>
          </a:prstGeom>
          <a:solidFill>
            <a:srgbClr val="FFFFFF"/>
          </a:solidFill>
          <a:ln w="12700">
            <a:solidFill>
              <a:srgbClr val="E4DCC8"/>
            </a:solidFill>
            <a:prstDash val="solid"/>
          </a:ln>
        </p:spPr>
      </p:sp>
      <p:sp>
        <p:nvSpPr>
          <p:cNvPr id="13" name="anim-g2-1807"/>
          <p:cNvSpPr/>
          <p:nvPr/>
        </p:nvSpPr>
        <p:spPr>
          <a:xfrm>
            <a:off x="7054024" y="2423160"/>
            <a:ext cx="777240" cy="777240"/>
          </a:xfrm>
          <a:prstGeom prst="ellipse">
            <a:avLst/>
          </a:prstGeom>
          <a:solidFill>
            <a:srgbClr val="D9AE4B"/>
          </a:solidFill>
          <a:ln/>
        </p:spPr>
      </p:sp>
      <p:sp>
        <p:nvSpPr>
          <p:cNvPr id="14" name="anim-g2-1808"/>
          <p:cNvSpPr/>
          <p:nvPr/>
        </p:nvSpPr>
        <p:spPr>
          <a:xfrm>
            <a:off x="7054024"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٢</a:t>
            </a:r>
            <a:endParaRPr lang="ar-SA" sz="2800" dirty="0"/>
          </a:p>
        </p:txBody>
      </p:sp>
      <p:sp>
        <p:nvSpPr>
          <p:cNvPr id="15" name="anim-g2-1809"/>
          <p:cNvSpPr/>
          <p:nvPr/>
        </p:nvSpPr>
        <p:spPr>
          <a:xfrm>
            <a:off x="6347308"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اطلب بحزم</a:t>
            </a:r>
            <a:endParaRPr lang="ar-SA" sz="2500" dirty="0"/>
          </a:p>
        </p:txBody>
      </p:sp>
      <p:sp>
        <p:nvSpPr>
          <p:cNvPr id="16" name="anim-g2-1810"/>
          <p:cNvSpPr/>
          <p:nvPr/>
        </p:nvSpPr>
        <p:spPr>
          <a:xfrm>
            <a:off x="6393028"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«أوقف التصوير، وضع الجوال على الطاولة»</a:t>
            </a:r>
            <a:endParaRPr lang="ar-SA" sz="2000" dirty="0"/>
          </a:p>
        </p:txBody>
      </p:sp>
      <p:sp>
        <p:nvSpPr>
          <p:cNvPr id="17" name="anim-g3-1811"/>
          <p:cNvSpPr/>
          <p:nvPr/>
        </p:nvSpPr>
        <p:spPr>
          <a:xfrm>
            <a:off x="3516554" y="2148840"/>
            <a:ext cx="2464994" cy="3383280"/>
          </a:xfrm>
          <a:prstGeom prst="roundRect">
            <a:avLst>
              <a:gd name="adj" fmla="val 6677"/>
            </a:avLst>
          </a:prstGeom>
          <a:solidFill>
            <a:srgbClr val="FFFFFF"/>
          </a:solidFill>
          <a:ln w="12700">
            <a:solidFill>
              <a:srgbClr val="E4DCC8"/>
            </a:solidFill>
            <a:prstDash val="solid"/>
          </a:ln>
        </p:spPr>
      </p:sp>
      <p:sp>
        <p:nvSpPr>
          <p:cNvPr id="18" name="anim-g3-1812"/>
          <p:cNvSpPr/>
          <p:nvPr/>
        </p:nvSpPr>
        <p:spPr>
          <a:xfrm>
            <a:off x="4360431" y="2423160"/>
            <a:ext cx="777240" cy="777240"/>
          </a:xfrm>
          <a:prstGeom prst="ellipse">
            <a:avLst/>
          </a:prstGeom>
          <a:solidFill>
            <a:srgbClr val="D9AE4B"/>
          </a:solidFill>
          <a:ln/>
        </p:spPr>
      </p:sp>
      <p:sp>
        <p:nvSpPr>
          <p:cNvPr id="19" name="anim-g3-1813"/>
          <p:cNvSpPr/>
          <p:nvPr/>
        </p:nvSpPr>
        <p:spPr>
          <a:xfrm>
            <a:off x="4360431"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٣</a:t>
            </a:r>
            <a:endParaRPr lang="ar-SA" sz="2800" dirty="0"/>
          </a:p>
        </p:txBody>
      </p:sp>
      <p:sp>
        <p:nvSpPr>
          <p:cNvPr id="20" name="anim-g3-1814"/>
          <p:cNvSpPr/>
          <p:nvPr/>
        </p:nvSpPr>
        <p:spPr>
          <a:xfrm>
            <a:off x="3653714"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لا تلمس الجوال</a:t>
            </a:r>
            <a:endParaRPr lang="ar-SA" sz="2500" dirty="0"/>
          </a:p>
        </p:txBody>
      </p:sp>
      <p:sp>
        <p:nvSpPr>
          <p:cNvPr id="21" name="anim-g3-1815"/>
          <p:cNvSpPr/>
          <p:nvPr/>
        </p:nvSpPr>
        <p:spPr>
          <a:xfrm>
            <a:off x="3699434"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ولا تطلب فتحه أو حذف شيء منه</a:t>
            </a:r>
            <a:endParaRPr lang="ar-SA" sz="2000" dirty="0"/>
          </a:p>
        </p:txBody>
      </p:sp>
      <p:sp>
        <p:nvSpPr>
          <p:cNvPr id="22" name="anim-g4-1816"/>
          <p:cNvSpPr/>
          <p:nvPr/>
        </p:nvSpPr>
        <p:spPr>
          <a:xfrm>
            <a:off x="822960" y="2148840"/>
            <a:ext cx="2464994" cy="3383280"/>
          </a:xfrm>
          <a:prstGeom prst="roundRect">
            <a:avLst>
              <a:gd name="adj" fmla="val 6677"/>
            </a:avLst>
          </a:prstGeom>
          <a:solidFill>
            <a:srgbClr val="FFFFFF"/>
          </a:solidFill>
          <a:ln w="12700">
            <a:solidFill>
              <a:srgbClr val="E4DCC8"/>
            </a:solidFill>
            <a:prstDash val="solid"/>
          </a:ln>
        </p:spPr>
      </p:sp>
      <p:sp>
        <p:nvSpPr>
          <p:cNvPr id="23" name="anim-g4-1817"/>
          <p:cNvSpPr/>
          <p:nvPr/>
        </p:nvSpPr>
        <p:spPr>
          <a:xfrm>
            <a:off x="1666837" y="2423160"/>
            <a:ext cx="777240" cy="777240"/>
          </a:xfrm>
          <a:prstGeom prst="ellipse">
            <a:avLst/>
          </a:prstGeom>
          <a:solidFill>
            <a:srgbClr val="D9AE4B"/>
          </a:solidFill>
          <a:ln/>
        </p:spPr>
      </p:sp>
      <p:sp>
        <p:nvSpPr>
          <p:cNvPr id="24" name="anim-g4-1818"/>
          <p:cNvSpPr/>
          <p:nvPr/>
        </p:nvSpPr>
        <p:spPr>
          <a:xfrm>
            <a:off x="1666837"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٤</a:t>
            </a:r>
            <a:endParaRPr lang="ar-SA" sz="2800" dirty="0"/>
          </a:p>
        </p:txBody>
      </p:sp>
      <p:sp>
        <p:nvSpPr>
          <p:cNvPr id="25" name="anim-g4-1819"/>
          <p:cNvSpPr/>
          <p:nvPr/>
        </p:nvSpPr>
        <p:spPr>
          <a:xfrm>
            <a:off x="960120"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أكمل ثم بلّغ</a:t>
            </a:r>
            <a:endParaRPr lang="ar-SA" sz="2500" dirty="0"/>
          </a:p>
        </p:txBody>
      </p:sp>
      <p:sp>
        <p:nvSpPr>
          <p:cNvPr id="26" name="anim-g4-1820"/>
          <p:cNvSpPr/>
          <p:nvPr/>
        </p:nvSpPr>
        <p:spPr>
          <a:xfrm>
            <a:off x="1005840"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الإدارة تتعامل بعد الحصة</a:t>
            </a:r>
            <a:endParaRPr lang="ar-SA" sz="2000" dirty="0"/>
          </a:p>
        </p:txBody>
      </p:sp>
      <p:sp>
        <p:nvSpPr>
          <p:cNvPr id="27" name="Text 2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8" name="Text 2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الكاميرا في الصف الأخير  ·  ١٦١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400"/>
                                        <p:tgtEl>
                                          <p:spTgt spid="1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40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4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400"/>
                                        <p:tgtEl>
                                          <p:spTgt spid="1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400"/>
                                        <p:tgtEl>
                                          <p:spTgt spid="2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400"/>
                                        <p:tgtEl>
                                          <p:spTgt spid="21"/>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400"/>
                                        <p:tgtEl>
                                          <p:spTgt spid="2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400"/>
                                        <p:tgtEl>
                                          <p:spTgt spid="2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400"/>
                                        <p:tgtEl>
                                          <p:spTgt spid="2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400"/>
                                        <p:tgtEl>
                                          <p:spTgt spid="2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162.xml><?xml version="1.0" encoding="utf-8"?>
<p:sld xmlns:a="http://schemas.openxmlformats.org/drawingml/2006/main" xmlns:r="http://schemas.openxmlformats.org/officeDocument/2006/relationships" xmlns:p="http://schemas.openxmlformats.org/presentationml/2006/main">
  <p:cSld name="Slide 16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588959" y="457200"/>
            <a:ext cx="2779776" cy="457200"/>
          </a:xfrm>
          <a:prstGeom prst="roundRect">
            <a:avLst>
              <a:gd name="adj" fmla="val 50000"/>
            </a:avLst>
          </a:prstGeom>
          <a:solidFill>
            <a:srgbClr val="F6EBCF"/>
          </a:solidFill>
          <a:ln/>
        </p:spPr>
      </p:sp>
      <p:sp>
        <p:nvSpPr>
          <p:cNvPr id="3" name="Text 1"/>
          <p:cNvSpPr/>
          <p:nvPr/>
        </p:nvSpPr>
        <p:spPr>
          <a:xfrm>
            <a:off x="8588959" y="457200"/>
            <a:ext cx="277977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الجُمل الجاهزة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ماذا تقول بالحرف؟</a:t>
            </a:r>
            <a:endParaRPr lang="ar-SA" sz="3800" dirty="0"/>
          </a:p>
        </p:txBody>
      </p:sp>
      <p:sp>
        <p:nvSpPr>
          <p:cNvPr id="5" name="anim-g1-1821"/>
          <p:cNvSpPr/>
          <p:nvPr/>
        </p:nvSpPr>
        <p:spPr>
          <a:xfrm>
            <a:off x="9768535" y="2130552"/>
            <a:ext cx="1600200" cy="819912"/>
          </a:xfrm>
          <a:prstGeom prst="roundRect">
            <a:avLst>
              <a:gd name="adj" fmla="val 16729"/>
            </a:avLst>
          </a:prstGeom>
          <a:solidFill>
            <a:srgbClr val="E9EDF9"/>
          </a:solidFill>
          <a:ln/>
        </p:spPr>
      </p:sp>
      <p:sp>
        <p:nvSpPr>
          <p:cNvPr id="6" name="anim-g1-1822"/>
          <p:cNvSpPr/>
          <p:nvPr/>
        </p:nvSpPr>
        <p:spPr>
          <a:xfrm>
            <a:off x="9814255" y="2130552"/>
            <a:ext cx="1508760" cy="81991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بهدوء وحزم</a:t>
            </a:r>
            <a:endParaRPr lang="ar-SA" sz="1800" dirty="0"/>
          </a:p>
        </p:txBody>
      </p:sp>
      <p:sp>
        <p:nvSpPr>
          <p:cNvPr id="7" name="anim-g1-1823"/>
          <p:cNvSpPr/>
          <p:nvPr/>
        </p:nvSpPr>
        <p:spPr>
          <a:xfrm>
            <a:off x="822960" y="2057400"/>
            <a:ext cx="8716975" cy="966216"/>
          </a:xfrm>
          <a:prstGeom prst="roundRect">
            <a:avLst>
              <a:gd name="adj" fmla="val 20820"/>
            </a:avLst>
          </a:prstGeom>
          <a:solidFill>
            <a:srgbClr val="101B45"/>
          </a:solidFill>
          <a:ln/>
        </p:spPr>
      </p:sp>
      <p:sp>
        <p:nvSpPr>
          <p:cNvPr id="8" name="anim-g1-1824"/>
          <p:cNvSpPr/>
          <p:nvPr/>
        </p:nvSpPr>
        <p:spPr>
          <a:xfrm>
            <a:off x="1097280" y="2057400"/>
            <a:ext cx="8168335" cy="966216"/>
          </a:xfrm>
          <a:prstGeom prst="rect">
            <a:avLst/>
          </a:prstGeom>
          <a:noFill/>
          <a:ln/>
        </p:spPr>
        <p:txBody>
          <a:bodyPr wrap="square" lIns="0" tIns="0" rIns="0" bIns="0" rtlCol="0" anchor="ctr">
            <a:normAutofit/>
          </a:bodyPr>
          <a:lstStyle/>
          <a:p>
            <a:pPr algn="r" indent="0" marL="0">
              <a:buNone/>
            </a:pPr>
            <a:r>
              <a:rPr lang="ar-SA" altLang="en-US" sz="2200" b="1" dirty="0">
                <a:solidFill>
                  <a:srgbClr val="D9AE4B"/>
                </a:solidFill>
                <a:latin typeface="Cairo" pitchFamily="34" charset="0"/>
                <a:ea typeface="Cairo" pitchFamily="34" charset="-122"/>
                <a:cs typeface="Cairo" pitchFamily="34" charset="-120"/>
              </a:rPr>
              <a:t>« </a:t>
            </a:r>
            <a:pPr algn="r" indent="0" marL="0">
              <a:buNone/>
            </a:pPr>
            <a:r>
              <a:rPr lang="ar-SA" altLang="en-US" sz="2200" b="1" dirty="0">
                <a:solidFill>
                  <a:srgbClr val="FFFFFF"/>
                </a:solidFill>
                <a:latin typeface="Cairo" pitchFamily="34" charset="0"/>
                <a:ea typeface="Cairo" pitchFamily="34" charset="-122"/>
                <a:cs typeface="Cairo" pitchFamily="34" charset="-120"/>
              </a:rPr>
              <a:t>راكان، التصوير في الفصل غير مسموح. أوقفه الآن، وضع الجوال على الطاولة</a:t>
            </a:r>
            <a:pPr algn="r" indent="0" marL="0">
              <a:buNone/>
            </a:pPr>
            <a:r>
              <a:rPr lang="ar-SA" altLang="en-US" sz="2200" b="1" dirty="0">
                <a:solidFill>
                  <a:srgbClr val="D9AE4B"/>
                </a:solidFill>
                <a:latin typeface="Cairo" pitchFamily="34" charset="0"/>
                <a:ea typeface="Cairo" pitchFamily="34" charset="-122"/>
                <a:cs typeface="Cairo" pitchFamily="34" charset="-120"/>
              </a:rPr>
              <a:t> »</a:t>
            </a:r>
            <a:endParaRPr lang="ar-SA" sz="2200" dirty="0"/>
          </a:p>
        </p:txBody>
      </p:sp>
      <p:sp>
        <p:nvSpPr>
          <p:cNvPr id="9" name="anim-g2-1825"/>
          <p:cNvSpPr/>
          <p:nvPr/>
        </p:nvSpPr>
        <p:spPr>
          <a:xfrm>
            <a:off x="9768535" y="3243072"/>
            <a:ext cx="1600200" cy="819912"/>
          </a:xfrm>
          <a:prstGeom prst="roundRect">
            <a:avLst>
              <a:gd name="adj" fmla="val 16729"/>
            </a:avLst>
          </a:prstGeom>
          <a:solidFill>
            <a:srgbClr val="E9EDF9"/>
          </a:solidFill>
          <a:ln/>
        </p:spPr>
      </p:sp>
      <p:sp>
        <p:nvSpPr>
          <p:cNvPr id="10" name="anim-g2-1826"/>
          <p:cNvSpPr/>
          <p:nvPr/>
        </p:nvSpPr>
        <p:spPr>
          <a:xfrm>
            <a:off x="9814255" y="3243072"/>
            <a:ext cx="1508760" cy="81991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للفصل</a:t>
            </a:r>
            <a:endParaRPr lang="ar-SA" sz="1800" dirty="0"/>
          </a:p>
        </p:txBody>
      </p:sp>
      <p:sp>
        <p:nvSpPr>
          <p:cNvPr id="11" name="anim-g2-1827"/>
          <p:cNvSpPr/>
          <p:nvPr/>
        </p:nvSpPr>
        <p:spPr>
          <a:xfrm>
            <a:off x="822960" y="3169920"/>
            <a:ext cx="8716975" cy="966216"/>
          </a:xfrm>
          <a:prstGeom prst="roundRect">
            <a:avLst>
              <a:gd name="adj" fmla="val 20820"/>
            </a:avLst>
          </a:prstGeom>
          <a:solidFill>
            <a:srgbClr val="101B45"/>
          </a:solidFill>
          <a:ln/>
        </p:spPr>
      </p:sp>
      <p:sp>
        <p:nvSpPr>
          <p:cNvPr id="12" name="anim-g2-1828"/>
          <p:cNvSpPr/>
          <p:nvPr/>
        </p:nvSpPr>
        <p:spPr>
          <a:xfrm>
            <a:off x="1097280" y="3169920"/>
            <a:ext cx="8168335" cy="966216"/>
          </a:xfrm>
          <a:prstGeom prst="rect">
            <a:avLst/>
          </a:prstGeom>
          <a:noFill/>
          <a:ln/>
        </p:spPr>
        <p:txBody>
          <a:bodyPr wrap="square" lIns="0" tIns="0" rIns="0" bIns="0" rtlCol="0" anchor="ctr">
            <a:normAutofit/>
          </a:bodyPr>
          <a:lstStyle/>
          <a:p>
            <a:pPr algn="r" indent="0" marL="0">
              <a:buNone/>
            </a:pPr>
            <a:r>
              <a:rPr lang="ar-SA" altLang="en-US" sz="2400" b="1" dirty="0">
                <a:solidFill>
                  <a:srgbClr val="D9AE4B"/>
                </a:solidFill>
                <a:latin typeface="Cairo" pitchFamily="34" charset="0"/>
                <a:ea typeface="Cairo" pitchFamily="34" charset="-122"/>
                <a:cs typeface="Cairo" pitchFamily="34" charset="-120"/>
              </a:rPr>
              <a:t>« </a:t>
            </a:r>
            <a:pPr algn="r" indent="0" marL="0">
              <a:buNone/>
            </a:pPr>
            <a:r>
              <a:rPr lang="ar-SA" altLang="en-US" sz="2400" b="1" dirty="0">
                <a:solidFill>
                  <a:srgbClr val="FFFFFF"/>
                </a:solidFill>
                <a:latin typeface="Cairo" pitchFamily="34" charset="0"/>
                <a:ea typeface="Cairo" pitchFamily="34" charset="-122"/>
                <a:cs typeface="Cairo" pitchFamily="34" charset="-120"/>
              </a:rPr>
              <a:t>نكمل درسنا. وأعتذر عن ارتفاع صوتي قبل قليل</a:t>
            </a:r>
            <a:pPr algn="r" indent="0" marL="0">
              <a:buNone/>
            </a:pPr>
            <a:r>
              <a:rPr lang="ar-SA" altLang="en-US" sz="2400" b="1" dirty="0">
                <a:solidFill>
                  <a:srgbClr val="D9AE4B"/>
                </a:solidFill>
                <a:latin typeface="Cairo" pitchFamily="34" charset="0"/>
                <a:ea typeface="Cairo" pitchFamily="34" charset="-122"/>
                <a:cs typeface="Cairo" pitchFamily="34" charset="-120"/>
              </a:rPr>
              <a:t> »</a:t>
            </a:r>
            <a:endParaRPr lang="ar-SA" sz="2400" dirty="0"/>
          </a:p>
        </p:txBody>
      </p:sp>
      <p:sp>
        <p:nvSpPr>
          <p:cNvPr id="13" name="anim-g3-1829"/>
          <p:cNvSpPr/>
          <p:nvPr/>
        </p:nvSpPr>
        <p:spPr>
          <a:xfrm>
            <a:off x="9768535" y="4355592"/>
            <a:ext cx="1600200" cy="819912"/>
          </a:xfrm>
          <a:prstGeom prst="roundRect">
            <a:avLst>
              <a:gd name="adj" fmla="val 16729"/>
            </a:avLst>
          </a:prstGeom>
          <a:solidFill>
            <a:srgbClr val="E9EDF9"/>
          </a:solidFill>
          <a:ln/>
        </p:spPr>
      </p:sp>
      <p:sp>
        <p:nvSpPr>
          <p:cNvPr id="14" name="anim-g3-1830"/>
          <p:cNvSpPr/>
          <p:nvPr/>
        </p:nvSpPr>
        <p:spPr>
          <a:xfrm>
            <a:off x="9814255" y="4355592"/>
            <a:ext cx="1508760" cy="81991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بعد الحصة مع الإدارة</a:t>
            </a:r>
            <a:endParaRPr lang="ar-SA" sz="1800" dirty="0"/>
          </a:p>
        </p:txBody>
      </p:sp>
      <p:sp>
        <p:nvSpPr>
          <p:cNvPr id="15" name="anim-g3-1831"/>
          <p:cNvSpPr/>
          <p:nvPr/>
        </p:nvSpPr>
        <p:spPr>
          <a:xfrm>
            <a:off x="822960" y="4282440"/>
            <a:ext cx="8716975" cy="966216"/>
          </a:xfrm>
          <a:prstGeom prst="roundRect">
            <a:avLst>
              <a:gd name="adj" fmla="val 20820"/>
            </a:avLst>
          </a:prstGeom>
          <a:solidFill>
            <a:srgbClr val="101B45"/>
          </a:solidFill>
          <a:ln/>
        </p:spPr>
      </p:sp>
      <p:sp>
        <p:nvSpPr>
          <p:cNvPr id="16" name="anim-g3-1832"/>
          <p:cNvSpPr/>
          <p:nvPr/>
        </p:nvSpPr>
        <p:spPr>
          <a:xfrm>
            <a:off x="1097280" y="4282440"/>
            <a:ext cx="8168335" cy="966216"/>
          </a:xfrm>
          <a:prstGeom prst="rect">
            <a:avLst/>
          </a:prstGeom>
          <a:noFill/>
          <a:ln/>
        </p:spPr>
        <p:txBody>
          <a:bodyPr wrap="square" lIns="0" tIns="0" rIns="0" bIns="0" rtlCol="0" anchor="ctr">
            <a:normAutofit/>
          </a:bodyPr>
          <a:lstStyle/>
          <a:p>
            <a:pPr algn="r" indent="0" marL="0">
              <a:buNone/>
            </a:pPr>
            <a:r>
              <a:rPr lang="ar-SA" altLang="en-US" sz="2200" b="1" dirty="0">
                <a:solidFill>
                  <a:srgbClr val="D9AE4B"/>
                </a:solidFill>
                <a:latin typeface="Cairo" pitchFamily="34" charset="0"/>
                <a:ea typeface="Cairo" pitchFamily="34" charset="-122"/>
                <a:cs typeface="Cairo" pitchFamily="34" charset="-120"/>
              </a:rPr>
              <a:t>« </a:t>
            </a:r>
            <a:pPr algn="r" indent="0" marL="0">
              <a:buNone/>
            </a:pPr>
            <a:r>
              <a:rPr lang="ar-SA" altLang="en-US" sz="2200" b="1" dirty="0">
                <a:solidFill>
                  <a:srgbClr val="FFFFFF"/>
                </a:solidFill>
                <a:latin typeface="Cairo" pitchFamily="34" charset="0"/>
                <a:ea typeface="Cairo" pitchFamily="34" charset="-122"/>
                <a:cs typeface="Cairo" pitchFamily="34" charset="-120"/>
              </a:rPr>
              <a:t>نريد أن نفهم لماذا صوّرت، وماذا تنوي به. والقرار يتم وفق لائحة المدرسة</a:t>
            </a:r>
            <a:pPr algn="r" indent="0" marL="0">
              <a:buNone/>
            </a:pPr>
            <a:r>
              <a:rPr lang="ar-SA" altLang="en-US" sz="2200" b="1" dirty="0">
                <a:solidFill>
                  <a:srgbClr val="D9AE4B"/>
                </a:solidFill>
                <a:latin typeface="Cairo" pitchFamily="34" charset="0"/>
                <a:ea typeface="Cairo" pitchFamily="34" charset="-122"/>
                <a:cs typeface="Cairo" pitchFamily="34" charset="-120"/>
              </a:rPr>
              <a:t> »</a:t>
            </a:r>
            <a:endParaRPr lang="ar-SA" sz="2200" dirty="0"/>
          </a:p>
        </p:txBody>
      </p:sp>
      <p:sp>
        <p:nvSpPr>
          <p:cNvPr id="17" name="anim-g4-1833"/>
          <p:cNvSpPr/>
          <p:nvPr/>
        </p:nvSpPr>
        <p:spPr>
          <a:xfrm>
            <a:off x="822960" y="5532120"/>
            <a:ext cx="10545775" cy="548640"/>
          </a:xfrm>
          <a:prstGeom prst="roundRect">
            <a:avLst>
              <a:gd name="adj" fmla="val 20000"/>
            </a:avLst>
          </a:prstGeom>
          <a:solidFill>
            <a:srgbClr val="FBECEC"/>
          </a:solidFill>
          <a:ln/>
        </p:spPr>
      </p:sp>
      <p:sp>
        <p:nvSpPr>
          <p:cNvPr id="18" name="anim-g4-1834"/>
          <p:cNvSpPr/>
          <p:nvPr/>
        </p:nvSpPr>
        <p:spPr>
          <a:xfrm>
            <a:off x="11295583" y="5532120"/>
            <a:ext cx="73152" cy="548640"/>
          </a:xfrm>
          <a:prstGeom prst="rect">
            <a:avLst/>
          </a:prstGeom>
          <a:solidFill>
            <a:srgbClr val="D64545"/>
          </a:solidFill>
          <a:ln/>
        </p:spPr>
      </p:sp>
      <p:sp>
        <p:nvSpPr>
          <p:cNvPr id="19" name="anim-g4-1835"/>
          <p:cNvSpPr/>
          <p:nvPr/>
        </p:nvSpPr>
        <p:spPr>
          <a:xfrm>
            <a:off x="1005840" y="5532120"/>
            <a:ext cx="10088575" cy="548640"/>
          </a:xfrm>
          <a:prstGeom prst="rect">
            <a:avLst/>
          </a:prstGeom>
          <a:noFill/>
          <a:ln/>
        </p:spPr>
        <p:txBody>
          <a:bodyPr wrap="square" lIns="0" tIns="0" rIns="0" bIns="0" rtlCol="0" anchor="ctr">
            <a:normAutofit/>
          </a:bodyPr>
          <a:lstStyle/>
          <a:p>
            <a:pPr rtl="1" algn="r" indent="0" marL="0">
              <a:buNone/>
            </a:pPr>
            <a:r>
              <a:rPr lang="ar-SA" altLang="en-US" sz="1900" b="1" dirty="0">
                <a:solidFill>
                  <a:srgbClr val="8E2A2A"/>
                </a:solidFill>
                <a:latin typeface="Cairo" pitchFamily="34" charset="0"/>
                <a:ea typeface="Cairo" pitchFamily="34" charset="-122"/>
                <a:cs typeface="Cairo" pitchFamily="34" charset="-120"/>
              </a:rPr>
              <a:t>⚠️ تجنّب: انتزاع الجوال أو فتحه أو حذف المقطع بنفسك</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الكاميرا في الصف الأخير  ·  ١٦٢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63.xml><?xml version="1.0" encoding="utf-8"?>
<p:sld xmlns:a="http://schemas.openxmlformats.org/drawingml/2006/main" xmlns:r="http://schemas.openxmlformats.org/officeDocument/2006/relationships" xmlns:p="http://schemas.openxmlformats.org/presentationml/2006/main">
  <p:cSld name="Slide 16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5486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أخطاء شائعة… وبدائلها</a:t>
            </a:r>
            <a:endParaRPr lang="ar-SA" sz="3800" dirty="0"/>
          </a:p>
        </p:txBody>
      </p:sp>
      <p:sp>
        <p:nvSpPr>
          <p:cNvPr id="3" name="Text 1"/>
          <p:cNvSpPr/>
          <p:nvPr/>
        </p:nvSpPr>
        <p:spPr>
          <a:xfrm>
            <a:off x="6415888"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D64545"/>
                </a:solidFill>
                <a:latin typeface="Cairo Black" pitchFamily="34" charset="0"/>
                <a:ea typeface="Cairo Black" pitchFamily="34" charset="-122"/>
                <a:cs typeface="Cairo Black" pitchFamily="34" charset="-120"/>
              </a:rPr>
              <a:t>❌ الخطأ الشائع</a:t>
            </a:r>
            <a:endParaRPr lang="ar-SA" sz="2100" dirty="0"/>
          </a:p>
        </p:txBody>
      </p:sp>
      <p:sp>
        <p:nvSpPr>
          <p:cNvPr id="4" name="Text 2"/>
          <p:cNvSpPr/>
          <p:nvPr/>
        </p:nvSpPr>
        <p:spPr>
          <a:xfrm>
            <a:off x="822960"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2E9E6B"/>
                </a:solidFill>
                <a:latin typeface="Cairo Black" pitchFamily="34" charset="0"/>
                <a:ea typeface="Cairo Black" pitchFamily="34" charset="-122"/>
                <a:cs typeface="Cairo Black" pitchFamily="34" charset="-120"/>
              </a:rPr>
              <a:t>✅ البديل</a:t>
            </a:r>
            <a:endParaRPr lang="ar-SA" sz="2100" dirty="0"/>
          </a:p>
        </p:txBody>
      </p:sp>
      <p:sp>
        <p:nvSpPr>
          <p:cNvPr id="5" name="anim-g1-1836"/>
          <p:cNvSpPr/>
          <p:nvPr/>
        </p:nvSpPr>
        <p:spPr>
          <a:xfrm>
            <a:off x="6415888" y="2194560"/>
            <a:ext cx="4952848" cy="804672"/>
          </a:xfrm>
          <a:prstGeom prst="roundRect">
            <a:avLst>
              <a:gd name="adj" fmla="val 15909"/>
            </a:avLst>
          </a:prstGeom>
          <a:solidFill>
            <a:srgbClr val="FBECEC"/>
          </a:solidFill>
          <a:ln/>
        </p:spPr>
      </p:sp>
      <p:sp>
        <p:nvSpPr>
          <p:cNvPr id="6" name="anim-g1-1837"/>
          <p:cNvSpPr/>
          <p:nvPr/>
        </p:nvSpPr>
        <p:spPr>
          <a:xfrm>
            <a:off x="6644488"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انتزاع الجوال وحذف المقطع</a:t>
            </a:r>
            <a:endParaRPr lang="ar-SA" sz="2200" dirty="0"/>
          </a:p>
        </p:txBody>
      </p:sp>
      <p:sp>
        <p:nvSpPr>
          <p:cNvPr id="7" name="anim-g1-1838"/>
          <p:cNvSpPr/>
          <p:nvPr/>
        </p:nvSpPr>
        <p:spPr>
          <a:xfrm>
            <a:off x="822960" y="2194560"/>
            <a:ext cx="4952848" cy="804672"/>
          </a:xfrm>
          <a:prstGeom prst="roundRect">
            <a:avLst>
              <a:gd name="adj" fmla="val 15909"/>
            </a:avLst>
          </a:prstGeom>
          <a:solidFill>
            <a:srgbClr val="FFFFFF"/>
          </a:solidFill>
          <a:ln w="19050">
            <a:solidFill>
              <a:srgbClr val="BFD9CB"/>
            </a:solidFill>
            <a:prstDash val="dash"/>
          </a:ln>
        </p:spPr>
      </p:sp>
      <p:sp>
        <p:nvSpPr>
          <p:cNvPr id="8" name="anim-g1-1839"/>
          <p:cNvSpPr/>
          <p:nvPr/>
        </p:nvSpPr>
        <p:spPr>
          <a:xfrm>
            <a:off x="822960" y="219456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9" name="anim-g2-1840"/>
          <p:cNvSpPr/>
          <p:nvPr/>
        </p:nvSpPr>
        <p:spPr>
          <a:xfrm>
            <a:off x="5775808" y="219456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0" name="anim-g2-1841"/>
          <p:cNvSpPr/>
          <p:nvPr/>
        </p:nvSpPr>
        <p:spPr>
          <a:xfrm>
            <a:off x="822960" y="2194560"/>
            <a:ext cx="4952848" cy="804672"/>
          </a:xfrm>
          <a:prstGeom prst="roundRect">
            <a:avLst>
              <a:gd name="adj" fmla="val 15909"/>
            </a:avLst>
          </a:prstGeom>
          <a:solidFill>
            <a:srgbClr val="E6F4EC"/>
          </a:solidFill>
          <a:ln/>
        </p:spPr>
      </p:sp>
      <p:sp>
        <p:nvSpPr>
          <p:cNvPr id="11" name="anim-g2-1842"/>
          <p:cNvSpPr/>
          <p:nvPr/>
        </p:nvSpPr>
        <p:spPr>
          <a:xfrm>
            <a:off x="1051560"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طلب الإيقاف، وإحالة الأمر للإدارة</a:t>
            </a:r>
            <a:endParaRPr lang="ar-SA" sz="2200" dirty="0"/>
          </a:p>
        </p:txBody>
      </p:sp>
      <p:sp>
        <p:nvSpPr>
          <p:cNvPr id="12" name="anim-g3-1843"/>
          <p:cNvSpPr/>
          <p:nvPr/>
        </p:nvSpPr>
        <p:spPr>
          <a:xfrm>
            <a:off x="6415888" y="3154680"/>
            <a:ext cx="4952848" cy="804672"/>
          </a:xfrm>
          <a:prstGeom prst="roundRect">
            <a:avLst>
              <a:gd name="adj" fmla="val 15909"/>
            </a:avLst>
          </a:prstGeom>
          <a:solidFill>
            <a:srgbClr val="FBECEC"/>
          </a:solidFill>
          <a:ln/>
        </p:spPr>
      </p:sp>
      <p:sp>
        <p:nvSpPr>
          <p:cNvPr id="13" name="anim-g3-1844"/>
          <p:cNvSpPr/>
          <p:nvPr/>
        </p:nvSpPr>
        <p:spPr>
          <a:xfrm>
            <a:off x="6644488"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الانفعال أمام الكاميرا</a:t>
            </a:r>
            <a:endParaRPr lang="ar-SA" sz="2200" dirty="0"/>
          </a:p>
        </p:txBody>
      </p:sp>
      <p:sp>
        <p:nvSpPr>
          <p:cNvPr id="14" name="anim-g3-1845"/>
          <p:cNvSpPr/>
          <p:nvPr/>
        </p:nvSpPr>
        <p:spPr>
          <a:xfrm>
            <a:off x="822960" y="3154680"/>
            <a:ext cx="4952848" cy="804672"/>
          </a:xfrm>
          <a:prstGeom prst="roundRect">
            <a:avLst>
              <a:gd name="adj" fmla="val 15909"/>
            </a:avLst>
          </a:prstGeom>
          <a:solidFill>
            <a:srgbClr val="FFFFFF"/>
          </a:solidFill>
          <a:ln w="19050">
            <a:solidFill>
              <a:srgbClr val="BFD9CB"/>
            </a:solidFill>
            <a:prstDash val="dash"/>
          </a:ln>
        </p:spPr>
      </p:sp>
      <p:sp>
        <p:nvSpPr>
          <p:cNvPr id="15" name="anim-g3-1846"/>
          <p:cNvSpPr/>
          <p:nvPr/>
        </p:nvSpPr>
        <p:spPr>
          <a:xfrm>
            <a:off x="822960" y="315468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16" name="anim-g4-1847"/>
          <p:cNvSpPr/>
          <p:nvPr/>
        </p:nvSpPr>
        <p:spPr>
          <a:xfrm>
            <a:off x="5775808" y="315468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7" name="anim-g4-1848"/>
          <p:cNvSpPr/>
          <p:nvPr/>
        </p:nvSpPr>
        <p:spPr>
          <a:xfrm>
            <a:off x="822960" y="3154680"/>
            <a:ext cx="4952848" cy="804672"/>
          </a:xfrm>
          <a:prstGeom prst="roundRect">
            <a:avLst>
              <a:gd name="adj" fmla="val 15909"/>
            </a:avLst>
          </a:prstGeom>
          <a:solidFill>
            <a:srgbClr val="E6F4EC"/>
          </a:solidFill>
          <a:ln/>
        </p:spPr>
      </p:sp>
      <p:sp>
        <p:nvSpPr>
          <p:cNvPr id="18" name="anim-g4-1849"/>
          <p:cNvSpPr/>
          <p:nvPr/>
        </p:nvSpPr>
        <p:spPr>
          <a:xfrm>
            <a:off x="1051560"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هدوء يجعل المقطع بلا قيمة</a:t>
            </a:r>
            <a:endParaRPr lang="ar-SA" sz="2200" dirty="0"/>
          </a:p>
        </p:txBody>
      </p:sp>
      <p:sp>
        <p:nvSpPr>
          <p:cNvPr id="19" name="anim-g5-1850"/>
          <p:cNvSpPr/>
          <p:nvPr/>
        </p:nvSpPr>
        <p:spPr>
          <a:xfrm>
            <a:off x="6415888" y="4114800"/>
            <a:ext cx="4952848" cy="804672"/>
          </a:xfrm>
          <a:prstGeom prst="roundRect">
            <a:avLst>
              <a:gd name="adj" fmla="val 15909"/>
            </a:avLst>
          </a:prstGeom>
          <a:solidFill>
            <a:srgbClr val="FBECEC"/>
          </a:solidFill>
          <a:ln/>
        </p:spPr>
      </p:sp>
      <p:sp>
        <p:nvSpPr>
          <p:cNvPr id="20" name="anim-g5-1851"/>
          <p:cNvSpPr/>
          <p:nvPr/>
        </p:nvSpPr>
        <p:spPr>
          <a:xfrm>
            <a:off x="6644488"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التهديد بالفضيحة أو الانتقام</a:t>
            </a:r>
            <a:endParaRPr lang="ar-SA" sz="2200" dirty="0"/>
          </a:p>
        </p:txBody>
      </p:sp>
      <p:sp>
        <p:nvSpPr>
          <p:cNvPr id="21" name="anim-g5-1852"/>
          <p:cNvSpPr/>
          <p:nvPr/>
        </p:nvSpPr>
        <p:spPr>
          <a:xfrm>
            <a:off x="822960" y="4114800"/>
            <a:ext cx="4952848" cy="804672"/>
          </a:xfrm>
          <a:prstGeom prst="roundRect">
            <a:avLst>
              <a:gd name="adj" fmla="val 15909"/>
            </a:avLst>
          </a:prstGeom>
          <a:solidFill>
            <a:srgbClr val="FFFFFF"/>
          </a:solidFill>
          <a:ln w="19050">
            <a:solidFill>
              <a:srgbClr val="BFD9CB"/>
            </a:solidFill>
            <a:prstDash val="dash"/>
          </a:ln>
        </p:spPr>
      </p:sp>
      <p:sp>
        <p:nvSpPr>
          <p:cNvPr id="22" name="anim-g5-1853"/>
          <p:cNvSpPr/>
          <p:nvPr/>
        </p:nvSpPr>
        <p:spPr>
          <a:xfrm>
            <a:off x="822960" y="411480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23" name="anim-g6-1854"/>
          <p:cNvSpPr/>
          <p:nvPr/>
        </p:nvSpPr>
        <p:spPr>
          <a:xfrm>
            <a:off x="5775808" y="411480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24" name="anim-g6-1855"/>
          <p:cNvSpPr/>
          <p:nvPr/>
        </p:nvSpPr>
        <p:spPr>
          <a:xfrm>
            <a:off x="822960" y="4114800"/>
            <a:ext cx="4952848" cy="804672"/>
          </a:xfrm>
          <a:prstGeom prst="roundRect">
            <a:avLst>
              <a:gd name="adj" fmla="val 15909"/>
            </a:avLst>
          </a:prstGeom>
          <a:solidFill>
            <a:srgbClr val="E6F4EC"/>
          </a:solidFill>
          <a:ln/>
        </p:spPr>
      </p:sp>
      <p:sp>
        <p:nvSpPr>
          <p:cNvPr id="25" name="anim-g6-1856"/>
          <p:cNvSpPr/>
          <p:nvPr/>
        </p:nvSpPr>
        <p:spPr>
          <a:xfrm>
            <a:off x="1051560"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إجراء نظامي هادئ وموثّق</a:t>
            </a:r>
            <a:endParaRPr lang="ar-SA" sz="2200" dirty="0"/>
          </a:p>
        </p:txBody>
      </p:sp>
      <p:sp>
        <p:nvSpPr>
          <p:cNvPr id="26" name="anim-g7-1857"/>
          <p:cNvSpPr/>
          <p:nvPr/>
        </p:nvSpPr>
        <p:spPr>
          <a:xfrm>
            <a:off x="6415888" y="5074920"/>
            <a:ext cx="4952848" cy="804672"/>
          </a:xfrm>
          <a:prstGeom prst="roundRect">
            <a:avLst>
              <a:gd name="adj" fmla="val 15909"/>
            </a:avLst>
          </a:prstGeom>
          <a:solidFill>
            <a:srgbClr val="FBECEC"/>
          </a:solidFill>
          <a:ln/>
        </p:spPr>
      </p:sp>
      <p:sp>
        <p:nvSpPr>
          <p:cNvPr id="27" name="anim-g7-1858"/>
          <p:cNvSpPr/>
          <p:nvPr/>
        </p:nvSpPr>
        <p:spPr>
          <a:xfrm>
            <a:off x="6644488" y="507492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نسيان سبب التوتر الأصلي</a:t>
            </a:r>
            <a:endParaRPr lang="ar-SA" sz="2200" dirty="0"/>
          </a:p>
        </p:txBody>
      </p:sp>
      <p:sp>
        <p:nvSpPr>
          <p:cNvPr id="28" name="anim-g7-1859"/>
          <p:cNvSpPr/>
          <p:nvPr/>
        </p:nvSpPr>
        <p:spPr>
          <a:xfrm>
            <a:off x="822960" y="5074920"/>
            <a:ext cx="4952848" cy="804672"/>
          </a:xfrm>
          <a:prstGeom prst="roundRect">
            <a:avLst>
              <a:gd name="adj" fmla="val 15909"/>
            </a:avLst>
          </a:prstGeom>
          <a:solidFill>
            <a:srgbClr val="FFFFFF"/>
          </a:solidFill>
          <a:ln w="19050">
            <a:solidFill>
              <a:srgbClr val="BFD9CB"/>
            </a:solidFill>
            <a:prstDash val="dash"/>
          </a:ln>
        </p:spPr>
      </p:sp>
      <p:sp>
        <p:nvSpPr>
          <p:cNvPr id="29" name="anim-g7-1860"/>
          <p:cNvSpPr/>
          <p:nvPr/>
        </p:nvSpPr>
        <p:spPr>
          <a:xfrm>
            <a:off x="822960" y="507492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30" name="anim-g8-1861"/>
          <p:cNvSpPr/>
          <p:nvPr/>
        </p:nvSpPr>
        <p:spPr>
          <a:xfrm>
            <a:off x="5775808" y="507492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31" name="anim-g8-1862"/>
          <p:cNvSpPr/>
          <p:nvPr/>
        </p:nvSpPr>
        <p:spPr>
          <a:xfrm>
            <a:off x="822960" y="5074920"/>
            <a:ext cx="4952848" cy="804672"/>
          </a:xfrm>
          <a:prstGeom prst="roundRect">
            <a:avLst>
              <a:gd name="adj" fmla="val 15909"/>
            </a:avLst>
          </a:prstGeom>
          <a:solidFill>
            <a:srgbClr val="E6F4EC"/>
          </a:solidFill>
          <a:ln/>
        </p:spPr>
      </p:sp>
      <p:sp>
        <p:nvSpPr>
          <p:cNvPr id="32" name="anim-g8-1863"/>
          <p:cNvSpPr/>
          <p:nvPr/>
        </p:nvSpPr>
        <p:spPr>
          <a:xfrm>
            <a:off x="1051560" y="507492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مراجعة أسلوبك، والاعتذار إن أخطأت</a:t>
            </a:r>
            <a:endParaRPr lang="ar-SA" sz="2200" dirty="0"/>
          </a:p>
        </p:txBody>
      </p:sp>
      <p:sp>
        <p:nvSpPr>
          <p:cNvPr id="33" name="Text 31"/>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34" name="Text 32"/>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الكاميرا في الصف الأخير  ·  ١٦٣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0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400"/>
                                        <p:tgtEl>
                                          <p:spTgt spid="1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400"/>
                                        <p:tgtEl>
                                          <p:spTgt spid="2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400"/>
                                        <p:tgtEl>
                                          <p:spTgt spid="2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400"/>
                                        <p:tgtEl>
                                          <p:spTgt spid="2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400"/>
                                        <p:tgtEl>
                                          <p:spTgt spid="25"/>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26"/>
                                        </p:tgtEl>
                                        <p:attrNameLst>
                                          <p:attrName>style.visibility</p:attrName>
                                        </p:attrNameLst>
                                      </p:cBhvr>
                                      <p:to>
                                        <p:strVal val="visible"/>
                                      </p:to>
                                    </p:set>
                                    <p:animEffect transition="in" filter="fade">
                                      <p:cBhvr>
                                        <p:cTn id="82" dur="400"/>
                                        <p:tgtEl>
                                          <p:spTgt spid="26"/>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7"/>
                                        </p:tgtEl>
                                        <p:attrNameLst>
                                          <p:attrName>style.visibility</p:attrName>
                                        </p:attrNameLst>
                                      </p:cBhvr>
                                      <p:to>
                                        <p:strVal val="visible"/>
                                      </p:to>
                                    </p:set>
                                    <p:animEffect transition="in" filter="fade">
                                      <p:cBhvr>
                                        <p:cTn id="85" dur="400"/>
                                        <p:tgtEl>
                                          <p:spTgt spid="27"/>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8"/>
                                        </p:tgtEl>
                                        <p:attrNameLst>
                                          <p:attrName>style.visibility</p:attrName>
                                        </p:attrNameLst>
                                      </p:cBhvr>
                                      <p:to>
                                        <p:strVal val="visible"/>
                                      </p:to>
                                    </p:set>
                                    <p:animEffect transition="in" filter="fade">
                                      <p:cBhvr>
                                        <p:cTn id="88" dur="400"/>
                                        <p:tgtEl>
                                          <p:spTgt spid="28"/>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29"/>
                                        </p:tgtEl>
                                        <p:attrNameLst>
                                          <p:attrName>style.visibility</p:attrName>
                                        </p:attrNameLst>
                                      </p:cBhvr>
                                      <p:to>
                                        <p:strVal val="visible"/>
                                      </p:to>
                                    </p:set>
                                    <p:animEffect transition="in" filter="fade">
                                      <p:cBhvr>
                                        <p:cTn id="91" dur="400"/>
                                        <p:tgtEl>
                                          <p:spTgt spid="29"/>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30"/>
                                        </p:tgtEl>
                                        <p:attrNameLst>
                                          <p:attrName>style.visibility</p:attrName>
                                        </p:attrNameLst>
                                      </p:cBhvr>
                                      <p:to>
                                        <p:strVal val="visible"/>
                                      </p:to>
                                    </p:set>
                                    <p:animEffect transition="in" filter="fade">
                                      <p:cBhvr>
                                        <p:cTn id="96" dur="400"/>
                                        <p:tgtEl>
                                          <p:spTgt spid="30"/>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1"/>
                                        </p:tgtEl>
                                        <p:attrNameLst>
                                          <p:attrName>style.visibility</p:attrName>
                                        </p:attrNameLst>
                                      </p:cBhvr>
                                      <p:to>
                                        <p:strVal val="visible"/>
                                      </p:to>
                                    </p:set>
                                    <p:animEffect transition="in" filter="fade">
                                      <p:cBhvr>
                                        <p:cTn id="99" dur="400"/>
                                        <p:tgtEl>
                                          <p:spTgt spid="31"/>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2"/>
                                        </p:tgtEl>
                                        <p:attrNameLst>
                                          <p:attrName>style.visibility</p:attrName>
                                        </p:attrNameLst>
                                      </p:cBhvr>
                                      <p:to>
                                        <p:strVal val="visible"/>
                                      </p:to>
                                    </p:set>
                                    <p:animEffect transition="in" filter="fade">
                                      <p:cBhvr>
                                        <p:cTn id="102"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Lst>
  </p:timing>
</p:sld>
</file>

<file path=ppt/slides/slide164.xml><?xml version="1.0" encoding="utf-8"?>
<p:sld xmlns:a="http://schemas.openxmlformats.org/drawingml/2006/main" xmlns:r="http://schemas.openxmlformats.org/officeDocument/2006/relationships" xmlns:p="http://schemas.openxmlformats.org/presentationml/2006/main">
  <p:cSld name="Slide 16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5486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ماذا لو لم ينجح الحل؟</a:t>
            </a:r>
            <a:endParaRPr lang="ar-SA" sz="3800" dirty="0"/>
          </a:p>
        </p:txBody>
      </p:sp>
      <p:sp>
        <p:nvSpPr>
          <p:cNvPr id="3" name="Text 1"/>
          <p:cNvSpPr/>
          <p:nvPr/>
        </p:nvSpPr>
        <p:spPr>
          <a:xfrm>
            <a:off x="6415888"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D64545"/>
                </a:solidFill>
                <a:latin typeface="Cairo Black" pitchFamily="34" charset="0"/>
                <a:ea typeface="Cairo Black" pitchFamily="34" charset="-122"/>
                <a:cs typeface="Cairo Black" pitchFamily="34" charset="-120"/>
              </a:rPr>
              <a:t>❌ الخطأ الشائع</a:t>
            </a:r>
            <a:endParaRPr lang="ar-SA" sz="2100" dirty="0"/>
          </a:p>
        </p:txBody>
      </p:sp>
      <p:sp>
        <p:nvSpPr>
          <p:cNvPr id="4" name="Text 2"/>
          <p:cNvSpPr/>
          <p:nvPr/>
        </p:nvSpPr>
        <p:spPr>
          <a:xfrm>
            <a:off x="822960"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2E9E6B"/>
                </a:solidFill>
                <a:latin typeface="Cairo Black" pitchFamily="34" charset="0"/>
                <a:ea typeface="Cairo Black" pitchFamily="34" charset="-122"/>
                <a:cs typeface="Cairo Black" pitchFamily="34" charset="-120"/>
              </a:rPr>
              <a:t>✅ البديل</a:t>
            </a:r>
            <a:endParaRPr lang="ar-SA" sz="2100" dirty="0"/>
          </a:p>
        </p:txBody>
      </p:sp>
      <p:sp>
        <p:nvSpPr>
          <p:cNvPr id="5" name="anim-g1-1864"/>
          <p:cNvSpPr/>
          <p:nvPr/>
        </p:nvSpPr>
        <p:spPr>
          <a:xfrm>
            <a:off x="6415888" y="2194560"/>
            <a:ext cx="4952848" cy="804672"/>
          </a:xfrm>
          <a:prstGeom prst="roundRect">
            <a:avLst>
              <a:gd name="adj" fmla="val 15909"/>
            </a:avLst>
          </a:prstGeom>
          <a:solidFill>
            <a:srgbClr val="FBECEC"/>
          </a:solidFill>
          <a:ln/>
        </p:spPr>
      </p:sp>
      <p:sp>
        <p:nvSpPr>
          <p:cNvPr id="6" name="anim-g1-1865"/>
          <p:cNvSpPr/>
          <p:nvPr/>
        </p:nvSpPr>
        <p:spPr>
          <a:xfrm>
            <a:off x="6644488"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رفض إيقاف التصوير</a:t>
            </a:r>
            <a:endParaRPr lang="ar-SA" sz="2200" dirty="0"/>
          </a:p>
        </p:txBody>
      </p:sp>
      <p:sp>
        <p:nvSpPr>
          <p:cNvPr id="7" name="anim-g1-1866"/>
          <p:cNvSpPr/>
          <p:nvPr/>
        </p:nvSpPr>
        <p:spPr>
          <a:xfrm>
            <a:off x="822960" y="2194560"/>
            <a:ext cx="4952848" cy="804672"/>
          </a:xfrm>
          <a:prstGeom prst="roundRect">
            <a:avLst>
              <a:gd name="adj" fmla="val 15909"/>
            </a:avLst>
          </a:prstGeom>
          <a:solidFill>
            <a:srgbClr val="FFFFFF"/>
          </a:solidFill>
          <a:ln w="19050">
            <a:solidFill>
              <a:srgbClr val="BFD9CB"/>
            </a:solidFill>
            <a:prstDash val="dash"/>
          </a:ln>
        </p:spPr>
      </p:sp>
      <p:sp>
        <p:nvSpPr>
          <p:cNvPr id="8" name="anim-g1-1867"/>
          <p:cNvSpPr/>
          <p:nvPr/>
        </p:nvSpPr>
        <p:spPr>
          <a:xfrm>
            <a:off x="822960" y="219456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9" name="anim-g2-1868"/>
          <p:cNvSpPr/>
          <p:nvPr/>
        </p:nvSpPr>
        <p:spPr>
          <a:xfrm>
            <a:off x="5775808" y="219456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0" name="anim-g2-1869"/>
          <p:cNvSpPr/>
          <p:nvPr/>
        </p:nvSpPr>
        <p:spPr>
          <a:xfrm>
            <a:off x="822960" y="2194560"/>
            <a:ext cx="4952848" cy="804672"/>
          </a:xfrm>
          <a:prstGeom prst="roundRect">
            <a:avLst>
              <a:gd name="adj" fmla="val 15909"/>
            </a:avLst>
          </a:prstGeom>
          <a:solidFill>
            <a:srgbClr val="E6F4EC"/>
          </a:solidFill>
          <a:ln/>
        </p:spPr>
      </p:sp>
      <p:sp>
        <p:nvSpPr>
          <p:cNvPr id="11" name="anim-g2-1870"/>
          <p:cNvSpPr/>
          <p:nvPr/>
        </p:nvSpPr>
        <p:spPr>
          <a:xfrm>
            <a:off x="1051560"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لا تلمس الجوال، واطلب حضور الوكيل إلى الفصل مباشرة</a:t>
            </a:r>
            <a:endParaRPr lang="ar-SA" sz="2200" dirty="0"/>
          </a:p>
        </p:txBody>
      </p:sp>
      <p:sp>
        <p:nvSpPr>
          <p:cNvPr id="12" name="anim-g3-1871"/>
          <p:cNvSpPr/>
          <p:nvPr/>
        </p:nvSpPr>
        <p:spPr>
          <a:xfrm>
            <a:off x="6415888" y="3154680"/>
            <a:ext cx="4952848" cy="804672"/>
          </a:xfrm>
          <a:prstGeom prst="roundRect">
            <a:avLst>
              <a:gd name="adj" fmla="val 15909"/>
            </a:avLst>
          </a:prstGeom>
          <a:solidFill>
            <a:srgbClr val="FBECEC"/>
          </a:solidFill>
          <a:ln/>
        </p:spPr>
      </p:sp>
      <p:sp>
        <p:nvSpPr>
          <p:cNvPr id="13" name="anim-g3-1872"/>
          <p:cNvSpPr/>
          <p:nvPr/>
        </p:nvSpPr>
        <p:spPr>
          <a:xfrm>
            <a:off x="6644488"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انتشر المقطع قبل أن تتصرف</a:t>
            </a:r>
            <a:endParaRPr lang="ar-SA" sz="2200" dirty="0"/>
          </a:p>
        </p:txBody>
      </p:sp>
      <p:sp>
        <p:nvSpPr>
          <p:cNvPr id="14" name="anim-g3-1873"/>
          <p:cNvSpPr/>
          <p:nvPr/>
        </p:nvSpPr>
        <p:spPr>
          <a:xfrm>
            <a:off x="822960" y="3154680"/>
            <a:ext cx="4952848" cy="804672"/>
          </a:xfrm>
          <a:prstGeom prst="roundRect">
            <a:avLst>
              <a:gd name="adj" fmla="val 15909"/>
            </a:avLst>
          </a:prstGeom>
          <a:solidFill>
            <a:srgbClr val="FFFFFF"/>
          </a:solidFill>
          <a:ln w="19050">
            <a:solidFill>
              <a:srgbClr val="BFD9CB"/>
            </a:solidFill>
            <a:prstDash val="dash"/>
          </a:ln>
        </p:spPr>
      </p:sp>
      <p:sp>
        <p:nvSpPr>
          <p:cNvPr id="15" name="anim-g3-1874"/>
          <p:cNvSpPr/>
          <p:nvPr/>
        </p:nvSpPr>
        <p:spPr>
          <a:xfrm>
            <a:off x="822960" y="315468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16" name="anim-g4-1875"/>
          <p:cNvSpPr/>
          <p:nvPr/>
        </p:nvSpPr>
        <p:spPr>
          <a:xfrm>
            <a:off x="5775808" y="315468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7" name="anim-g4-1876"/>
          <p:cNvSpPr/>
          <p:nvPr/>
        </p:nvSpPr>
        <p:spPr>
          <a:xfrm>
            <a:off x="822960" y="3154680"/>
            <a:ext cx="4952848" cy="804672"/>
          </a:xfrm>
          <a:prstGeom prst="roundRect">
            <a:avLst>
              <a:gd name="adj" fmla="val 15909"/>
            </a:avLst>
          </a:prstGeom>
          <a:solidFill>
            <a:srgbClr val="E6F4EC"/>
          </a:solidFill>
          <a:ln/>
        </p:spPr>
      </p:sp>
      <p:sp>
        <p:nvSpPr>
          <p:cNvPr id="18" name="anim-g4-1877"/>
          <p:cNvSpPr/>
          <p:nvPr/>
        </p:nvSpPr>
        <p:spPr>
          <a:xfrm>
            <a:off x="1051560"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أبلغ الإدارة فورًا بالوقائع، ولا تعلّق على المقطع علنًا أبدًا</a:t>
            </a:r>
            <a:endParaRPr lang="ar-SA" sz="2200" dirty="0"/>
          </a:p>
        </p:txBody>
      </p:sp>
      <p:sp>
        <p:nvSpPr>
          <p:cNvPr id="19" name="anim-g5-1878"/>
          <p:cNvSpPr/>
          <p:nvPr/>
        </p:nvSpPr>
        <p:spPr>
          <a:xfrm>
            <a:off x="6415888" y="4114800"/>
            <a:ext cx="4952848" cy="804672"/>
          </a:xfrm>
          <a:prstGeom prst="roundRect">
            <a:avLst>
              <a:gd name="adj" fmla="val 15909"/>
            </a:avLst>
          </a:prstGeom>
          <a:solidFill>
            <a:srgbClr val="FBECEC"/>
          </a:solidFill>
          <a:ln/>
        </p:spPr>
      </p:sp>
      <p:sp>
        <p:nvSpPr>
          <p:cNvPr id="20" name="anim-g5-1879"/>
          <p:cNvSpPr/>
          <p:nvPr/>
        </p:nvSpPr>
        <p:spPr>
          <a:xfrm>
            <a:off x="6644488"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المقطع أظهرك منفعلًا فعلًا</a:t>
            </a:r>
            <a:endParaRPr lang="ar-SA" sz="2200" dirty="0"/>
          </a:p>
        </p:txBody>
      </p:sp>
      <p:sp>
        <p:nvSpPr>
          <p:cNvPr id="21" name="anim-g5-1880"/>
          <p:cNvSpPr/>
          <p:nvPr/>
        </p:nvSpPr>
        <p:spPr>
          <a:xfrm>
            <a:off x="822960" y="4114800"/>
            <a:ext cx="4952848" cy="804672"/>
          </a:xfrm>
          <a:prstGeom prst="roundRect">
            <a:avLst>
              <a:gd name="adj" fmla="val 15909"/>
            </a:avLst>
          </a:prstGeom>
          <a:solidFill>
            <a:srgbClr val="FFFFFF"/>
          </a:solidFill>
          <a:ln w="19050">
            <a:solidFill>
              <a:srgbClr val="BFD9CB"/>
            </a:solidFill>
            <a:prstDash val="dash"/>
          </a:ln>
        </p:spPr>
      </p:sp>
      <p:sp>
        <p:nvSpPr>
          <p:cNvPr id="22" name="anim-g5-1881"/>
          <p:cNvSpPr/>
          <p:nvPr/>
        </p:nvSpPr>
        <p:spPr>
          <a:xfrm>
            <a:off x="822960" y="411480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23" name="anim-g6-1882"/>
          <p:cNvSpPr/>
          <p:nvPr/>
        </p:nvSpPr>
        <p:spPr>
          <a:xfrm>
            <a:off x="5775808" y="411480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24" name="anim-g6-1883"/>
          <p:cNvSpPr/>
          <p:nvPr/>
        </p:nvSpPr>
        <p:spPr>
          <a:xfrm>
            <a:off x="822960" y="4114800"/>
            <a:ext cx="4952848" cy="804672"/>
          </a:xfrm>
          <a:prstGeom prst="roundRect">
            <a:avLst>
              <a:gd name="adj" fmla="val 15909"/>
            </a:avLst>
          </a:prstGeom>
          <a:solidFill>
            <a:srgbClr val="E6F4EC"/>
          </a:solidFill>
          <a:ln/>
        </p:spPr>
      </p:sp>
      <p:sp>
        <p:nvSpPr>
          <p:cNvPr id="25" name="anim-g6-1884"/>
          <p:cNvSpPr/>
          <p:nvPr/>
        </p:nvSpPr>
        <p:spPr>
          <a:xfrm>
            <a:off x="1051560"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اعترف بخطئك للإدارة، واعتذر للفصل، فالصدق يحميك أكثر من الإنكار</a:t>
            </a:r>
            <a:endParaRPr lang="ar-SA" sz="2200" dirty="0"/>
          </a:p>
        </p:txBody>
      </p:sp>
      <p:sp>
        <p:nvSpPr>
          <p:cNvPr id="26" name="Text 24"/>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7" name="Text 25"/>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الكاميرا في الصف الأخير  ·  ١٦٤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0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400"/>
                                        <p:tgtEl>
                                          <p:spTgt spid="1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400"/>
                                        <p:tgtEl>
                                          <p:spTgt spid="2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400"/>
                                        <p:tgtEl>
                                          <p:spTgt spid="2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400"/>
                                        <p:tgtEl>
                                          <p:spTgt spid="2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165.xml><?xml version="1.0" encoding="utf-8"?>
<p:sld xmlns:a="http://schemas.openxmlformats.org/drawingml/2006/main" xmlns:r="http://schemas.openxmlformats.org/officeDocument/2006/relationships" xmlns:p="http://schemas.openxmlformats.org/presentationml/2006/main">
  <p:cSld name="Slide 16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الموقف</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تصرّف دائمًا كأن الكاميرا تصوّرك…</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فتكون دائمًا المعلم الذي تفخر به</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موقف: الكاميرا في الصف الأخير  ·  ١٦٥</a:t>
            </a:r>
            <a:endParaRPr lang="ar-SA" sz="1200"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kb-1885" descr="/Users/mac/Desktop/أردوينو/المشاريع والكتب/younes-training/mawaqif/assets/scenes/aicheat.jpg">    </p:cNvPr>
          <p:cNvPicPr>
            <a:picLocks noChangeAspect="1"/>
          </p:cNvPicPr>
          <p:nvPr/>
        </p:nvPicPr>
        <p:blipFill>
          <a:blip r:embed="rId2"/>
          <a:stretch>
            <a:fillRect/>
          </a:stretch>
        </p:blipFill>
        <p:spPr>
          <a:xfrm>
            <a:off x="0" y="0"/>
            <a:ext cx="12191695" cy="6858000"/>
          </a:xfrm>
          <a:prstGeom prst="rect">
            <a:avLst/>
          </a:prstGeom>
        </p:spPr>
      </p:pic>
      <p:pic>
        <p:nvPicPr>
          <p:cNvPr id="3" name="Image 1" descr="/Users/mac/Desktop/أردوينو/المشاريع والكتب/younes-training/shared/assets/mcover-overlay.png">    </p:cNvPr>
          <p:cNvPicPr>
            <a:picLocks noChangeAspect="1"/>
          </p:cNvPicPr>
          <p:nvPr/>
        </p:nvPicPr>
        <p:blipFill>
          <a:blip r:embed="rId3"/>
          <a:stretch>
            <a:fillRect/>
          </a:stretch>
        </p:blipFill>
        <p:spPr>
          <a:xfrm>
            <a:off x="0" y="0"/>
            <a:ext cx="12191695" cy="6858000"/>
          </a:xfrm>
          <a:prstGeom prst="rect">
            <a:avLst/>
          </a:prstGeom>
        </p:spPr>
      </p:pic>
      <p:sp>
        <p:nvSpPr>
          <p:cNvPr id="4" name="Text 0"/>
          <p:cNvSpPr/>
          <p:nvPr/>
        </p:nvSpPr>
        <p:spPr>
          <a:xfrm>
            <a:off x="5669280" y="1737360"/>
            <a:ext cx="5699455" cy="502920"/>
          </a:xfrm>
          <a:prstGeom prst="rect">
            <a:avLst/>
          </a:prstGeom>
          <a:noFill/>
          <a:ln/>
        </p:spPr>
        <p:txBody>
          <a:bodyPr wrap="square" lIns="0" tIns="0" rIns="0" bIns="0" rtlCol="0" anchor="ctr">
            <a:normAutofit/>
          </a:bodyPr>
          <a:lstStyle/>
          <a:p>
            <a:pPr rtl="1" algn="r" indent="0" marL="0">
              <a:buNone/>
            </a:pPr>
            <a:r>
              <a:rPr lang="ar-SA" altLang="en-US" sz="2200" b="1" dirty="0">
                <a:solidFill>
                  <a:srgbClr val="D9AE4B"/>
                </a:solidFill>
                <a:latin typeface="Cairo" pitchFamily="34" charset="0"/>
                <a:ea typeface="Cairo" pitchFamily="34" charset="-122"/>
                <a:cs typeface="Cairo" pitchFamily="34" charset="-120"/>
              </a:rPr>
              <a:t>مواقف العصر الرقمي</a:t>
            </a:r>
            <a:endParaRPr lang="ar-SA" sz="2200" dirty="0"/>
          </a:p>
        </p:txBody>
      </p:sp>
      <p:sp>
        <p:nvSpPr>
          <p:cNvPr id="5" name="Text 1"/>
          <p:cNvSpPr/>
          <p:nvPr/>
        </p:nvSpPr>
        <p:spPr>
          <a:xfrm>
            <a:off x="5669280" y="2286000"/>
            <a:ext cx="5699455" cy="548640"/>
          </a:xfrm>
          <a:prstGeom prst="rect">
            <a:avLst/>
          </a:prstGeom>
          <a:noFill/>
          <a:ln/>
        </p:spPr>
        <p:txBody>
          <a:bodyPr wrap="square" lIns="0" tIns="0" rIns="0" bIns="0" rtlCol="0" anchor="ctr">
            <a:normAutofit/>
          </a:bodyPr>
          <a:lstStyle/>
          <a:p>
            <a:pPr rtl="1" algn="r" indent="0" marL="0">
              <a:buNone/>
            </a:pPr>
            <a:r>
              <a:rPr lang="ar-SA" altLang="en-US" sz="2600" b="1" dirty="0">
                <a:solidFill>
                  <a:srgbClr val="C9CFE6"/>
                </a:solidFill>
                <a:latin typeface="Cairo" pitchFamily="34" charset="0"/>
                <a:ea typeface="Cairo" pitchFamily="34" charset="-122"/>
                <a:cs typeface="Cairo" pitchFamily="34" charset="-120"/>
              </a:rPr>
              <a:t>الموقف ١٣</a:t>
            </a:r>
            <a:endParaRPr lang="ar-SA" sz="2600" dirty="0"/>
          </a:p>
        </p:txBody>
      </p:sp>
      <p:sp>
        <p:nvSpPr>
          <p:cNvPr id="6" name="Text 2"/>
          <p:cNvSpPr/>
          <p:nvPr/>
        </p:nvSpPr>
        <p:spPr>
          <a:xfrm>
            <a:off x="4572000" y="2834640"/>
            <a:ext cx="6796735" cy="1188720"/>
          </a:xfrm>
          <a:prstGeom prst="rect">
            <a:avLst/>
          </a:prstGeom>
          <a:noFill/>
          <a:ln/>
        </p:spPr>
        <p:txBody>
          <a:bodyPr wrap="square" lIns="0" tIns="0" rIns="0" bIns="0" rtlCol="0" anchor="ctr">
            <a:normAutofit/>
          </a:bodyPr>
          <a:lstStyle/>
          <a:p>
            <a:pPr rtl="1" algn="r" indent="0" marL="0">
              <a:buNone/>
            </a:pPr>
            <a:r>
              <a:rPr lang="ar-SA" altLang="en-US" sz="6000" dirty="0">
                <a:solidFill>
                  <a:srgbClr val="FFFFFF"/>
                </a:solidFill>
                <a:latin typeface="Cairo Black" pitchFamily="34" charset="0"/>
                <a:ea typeface="Cairo Black" pitchFamily="34" charset="-122"/>
                <a:cs typeface="Cairo Black" pitchFamily="34" charset="-120"/>
              </a:rPr>
              <a:t>واجب بلا بصمة</a:t>
            </a:r>
            <a:endParaRPr lang="ar-SA" sz="6000" dirty="0"/>
          </a:p>
        </p:txBody>
      </p:sp>
      <p:sp>
        <p:nvSpPr>
          <p:cNvPr id="7" name="Shape 3"/>
          <p:cNvSpPr/>
          <p:nvPr/>
        </p:nvSpPr>
        <p:spPr>
          <a:xfrm>
            <a:off x="10125151" y="4480560"/>
            <a:ext cx="1243584"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8" name="Text 4"/>
          <p:cNvSpPr/>
          <p:nvPr/>
        </p:nvSpPr>
        <p:spPr>
          <a:xfrm>
            <a:off x="10125151" y="4480560"/>
            <a:ext cx="1243584"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القصة</a:t>
            </a:r>
            <a:endParaRPr lang="ar-SA" sz="1500" dirty="0"/>
          </a:p>
        </p:txBody>
      </p:sp>
      <p:sp>
        <p:nvSpPr>
          <p:cNvPr id="9" name="Shape 5"/>
          <p:cNvSpPr/>
          <p:nvPr/>
        </p:nvSpPr>
        <p:spPr>
          <a:xfrm>
            <a:off x="8680399" y="4480560"/>
            <a:ext cx="1353312"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0" name="Text 6"/>
          <p:cNvSpPr/>
          <p:nvPr/>
        </p:nvSpPr>
        <p:spPr>
          <a:xfrm>
            <a:off x="8680399" y="4480560"/>
            <a:ext cx="1353312"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تصويت</a:t>
            </a:r>
            <a:endParaRPr lang="ar-SA" sz="1500" dirty="0"/>
          </a:p>
        </p:txBody>
      </p:sp>
      <p:sp>
        <p:nvSpPr>
          <p:cNvPr id="11" name="Shape 7"/>
          <p:cNvSpPr/>
          <p:nvPr/>
        </p:nvSpPr>
        <p:spPr>
          <a:xfrm>
            <a:off x="7235647" y="4480560"/>
            <a:ext cx="1353312"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2" name="Text 8"/>
          <p:cNvSpPr/>
          <p:nvPr/>
        </p:nvSpPr>
        <p:spPr>
          <a:xfrm>
            <a:off x="7235647" y="4480560"/>
            <a:ext cx="1353312"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لماذا؟</a:t>
            </a:r>
            <a:endParaRPr lang="ar-SA" sz="1500" dirty="0"/>
          </a:p>
        </p:txBody>
      </p:sp>
      <p:sp>
        <p:nvSpPr>
          <p:cNvPr id="13" name="Shape 9"/>
          <p:cNvSpPr/>
          <p:nvPr/>
        </p:nvSpPr>
        <p:spPr>
          <a:xfrm>
            <a:off x="5571439" y="4480560"/>
            <a:ext cx="1572768"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4" name="Text 10"/>
          <p:cNvSpPr/>
          <p:nvPr/>
        </p:nvSpPr>
        <p:spPr>
          <a:xfrm>
            <a:off x="5571439" y="4480560"/>
            <a:ext cx="1572768"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أول خطوة</a:t>
            </a:r>
            <a:endParaRPr lang="ar-SA" sz="1500" dirty="0"/>
          </a:p>
        </p:txBody>
      </p:sp>
      <p:sp>
        <p:nvSpPr>
          <p:cNvPr id="15" name="Shape 11"/>
          <p:cNvSpPr/>
          <p:nvPr/>
        </p:nvSpPr>
        <p:spPr>
          <a:xfrm>
            <a:off x="3687775" y="4480560"/>
            <a:ext cx="1792224"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6" name="Text 12"/>
          <p:cNvSpPr/>
          <p:nvPr/>
        </p:nvSpPr>
        <p:spPr>
          <a:xfrm>
            <a:off x="3687775" y="4480560"/>
            <a:ext cx="1792224"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ماذا تقول؟</a:t>
            </a:r>
            <a:endParaRPr lang="ar-SA" sz="1500" dirty="0"/>
          </a:p>
        </p:txBody>
      </p:sp>
      <p:sp>
        <p:nvSpPr>
          <p:cNvPr id="17" name="Text 1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18" name="Text 1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موقف: واجب بلا بصمة  ·  ١٦٦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16000" fill="hold"/>
                                        <p:tgtEl>
                                          <p:spTgt spid="2"/>
                                        </p:tgtEl>
                                      </p:cBhvr>
                                      <p:by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7.xml><?xml version="1.0" encoding="utf-8"?>
<p:sld xmlns:a="http://schemas.openxmlformats.org/drawingml/2006/main" xmlns:r="http://schemas.openxmlformats.org/officeDocument/2006/relationships" xmlns:p="http://schemas.openxmlformats.org/presentationml/2006/main">
  <p:cSld name="Slide 16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kb-1886" descr="/Users/mac/Desktop/أردوينو/المشاريع والكتب/younes-training/mawaqif/assets/scenes/aicheat.jpg">    </p:cNvPr>
          <p:cNvPicPr>
            <a:picLocks noChangeAspect="1"/>
          </p:cNvPicPr>
          <p:nvPr/>
        </p:nvPicPr>
        <p:blipFill>
          <a:blip r:embed="rId2"/>
          <a:stretch>
            <a:fillRect/>
          </a:stretch>
        </p:blipFill>
        <p:spPr>
          <a:xfrm>
            <a:off x="0" y="0"/>
            <a:ext cx="12191695" cy="6858000"/>
          </a:xfrm>
          <a:prstGeom prst="rect">
            <a:avLst/>
          </a:prstGeom>
        </p:spPr>
      </p:pic>
      <p:pic>
        <p:nvPicPr>
          <p:cNvPr id="3" name="Image 1" descr="/Users/mac/Desktop/أردوينو/المشاريع والكتب/younes-training/shared/assets/story-overlay.png">    </p:cNvPr>
          <p:cNvPicPr>
            <a:picLocks noChangeAspect="1"/>
          </p:cNvPicPr>
          <p:nvPr/>
        </p:nvPicPr>
        <p:blipFill>
          <a:blip r:embed="rId3"/>
          <a:stretch>
            <a:fillRect/>
          </a:stretch>
        </p:blipFill>
        <p:spPr>
          <a:xfrm>
            <a:off x="0" y="0"/>
            <a:ext cx="12191695" cy="6858000"/>
          </a:xfrm>
          <a:prstGeom prst="rect">
            <a:avLst/>
          </a:prstGeom>
        </p:spPr>
      </p:pic>
      <p:sp>
        <p:nvSpPr>
          <p:cNvPr id="4" name="Shape 0"/>
          <p:cNvSpPr/>
          <p:nvPr/>
        </p:nvSpPr>
        <p:spPr>
          <a:xfrm>
            <a:off x="7985455" y="365760"/>
            <a:ext cx="3657600" cy="502920"/>
          </a:xfrm>
          <a:prstGeom prst="roundRect">
            <a:avLst>
              <a:gd name="adj" fmla="val 49091"/>
            </a:avLst>
          </a:prstGeom>
          <a:solidFill>
            <a:srgbClr val="0A1230">
              <a:alpha val="80000"/>
            </a:srgbClr>
          </a:solidFill>
          <a:ln w="12700">
            <a:solidFill>
              <a:srgbClr val="D9AE4B">
                <a:alpha val="60000"/>
              </a:srgbClr>
            </a:solidFill>
            <a:prstDash val="solid"/>
          </a:ln>
        </p:spPr>
      </p:sp>
      <p:sp>
        <p:nvSpPr>
          <p:cNvPr id="5" name="Text 1"/>
          <p:cNvSpPr/>
          <p:nvPr/>
        </p:nvSpPr>
        <p:spPr>
          <a:xfrm>
            <a:off x="7985455" y="365760"/>
            <a:ext cx="3657600" cy="50292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 القصة · ماذا حدث؟</a:t>
            </a:r>
            <a:endParaRPr lang="ar-SA" sz="1800" dirty="0"/>
          </a:p>
        </p:txBody>
      </p:sp>
      <p:sp>
        <p:nvSpPr>
          <p:cNvPr id="6" name="Shape 2"/>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7" name="Text 3"/>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طلبت أ. نورة من طالبات الثاني الثانوي مقالًا عن «أثر القراءة في حياتي».</a:t>
            </a:r>
            <a:endParaRPr lang="ar-SA" sz="2400" dirty="0"/>
          </a:p>
        </p:txBody>
      </p:sp>
      <p:sp>
        <p:nvSpPr>
          <p:cNvPr id="8" name="anim-g1-1887"/>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9" name="anim-g1-1888"/>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وصلتها مقالات متقنة جدًا: لغة لا تشبه طالباتها، وعبارات شبه متطابقة في ثلاث أوراق.</a:t>
            </a:r>
            <a:endParaRPr lang="ar-SA" sz="2400" dirty="0"/>
          </a:p>
        </p:txBody>
      </p:sp>
      <p:sp>
        <p:nvSpPr>
          <p:cNvPr id="10" name="anim-g2-1889"/>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11" name="anim-g2-1890"/>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سألت ريم عن معنى كلمة في مقالها… فلم تعرفها.</a:t>
            </a:r>
            <a:endParaRPr lang="ar-SA" sz="2400" dirty="0"/>
          </a:p>
        </p:txBody>
      </p:sp>
      <p:sp>
        <p:nvSpPr>
          <p:cNvPr id="12" name="anim-g3-1891"/>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13" name="anim-g3-1892"/>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600" b="1" dirty="0">
                <a:solidFill>
                  <a:srgbClr val="F0CC7A"/>
                </a:solidFill>
                <a:latin typeface="Cairo" pitchFamily="34" charset="0"/>
                <a:ea typeface="Cairo" pitchFamily="34" charset="-122"/>
                <a:cs typeface="Cairo" pitchFamily="34" charset="-120"/>
              </a:rPr>
              <a:t>أدركت أ. نورة أن المقالات كتبها الذكاء الاصطناعي… والمقال القادم بعد أسبوع.</a:t>
            </a:r>
            <a:endParaRPr lang="ar-SA" sz="2600" dirty="0"/>
          </a:p>
        </p:txBody>
      </p:sp>
      <p:sp>
        <p:nvSpPr>
          <p:cNvPr id="14" name="Text 1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15" name="Text 1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موقف: واجب بلا بصمة  ·  ١٦٧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16000" fill="hold"/>
                                        <p:tgtEl>
                                          <p:spTgt spid="2"/>
                                        </p:tgtEl>
                                      </p:cBhvr>
                                      <p:by x="112000" y="112000"/>
                                    </p:animScale>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Lst>
  </p:timing>
</p:sld>
</file>

<file path=ppt/slides/slide168.xml><?xml version="1.0" encoding="utf-8"?>
<p:sld xmlns:a="http://schemas.openxmlformats.org/drawingml/2006/main" xmlns:r="http://schemas.openxmlformats.org/officeDocument/2006/relationships" xmlns:p="http://schemas.openxmlformats.org/presentationml/2006/main">
  <p:cSld name="Slide 16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296351" y="457200"/>
            <a:ext cx="3072384" cy="457200"/>
          </a:xfrm>
          <a:prstGeom prst="roundRect">
            <a:avLst>
              <a:gd name="adj" fmla="val 50000"/>
            </a:avLst>
          </a:prstGeom>
          <a:solidFill>
            <a:srgbClr val="F6EBCF"/>
          </a:solidFill>
          <a:ln/>
        </p:spPr>
      </p:sp>
      <p:sp>
        <p:nvSpPr>
          <p:cNvPr id="3" name="Text 1"/>
          <p:cNvSpPr/>
          <p:nvPr/>
        </p:nvSpPr>
        <p:spPr>
          <a:xfrm>
            <a:off x="8296351" y="457200"/>
            <a:ext cx="307238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صوّت قبل أن نكشف</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ماذا تفعل أ. نورة؟</a:t>
            </a:r>
            <a:endParaRPr lang="ar-SA" sz="3800" dirty="0"/>
          </a:p>
        </p:txBody>
      </p:sp>
      <p:sp>
        <p:nvSpPr>
          <p:cNvPr id="5" name="Shape 3"/>
          <p:cNvSpPr/>
          <p:nvPr/>
        </p:nvSpPr>
        <p:spPr>
          <a:xfrm>
            <a:off x="822960" y="2057400"/>
            <a:ext cx="10545775" cy="884682"/>
          </a:xfrm>
          <a:prstGeom prst="roundRect">
            <a:avLst>
              <a:gd name="adj" fmla="val 16537"/>
            </a:avLst>
          </a:prstGeom>
          <a:solidFill>
            <a:srgbClr val="FFFFFF"/>
          </a:solidFill>
          <a:ln w="19050">
            <a:solidFill>
              <a:srgbClr val="E4DCC8"/>
            </a:solidFill>
            <a:prstDash val="solid"/>
          </a:ln>
        </p:spPr>
      </p:sp>
      <p:sp>
        <p:nvSpPr>
          <p:cNvPr id="6" name="Shape 4"/>
          <p:cNvSpPr/>
          <p:nvPr/>
        </p:nvSpPr>
        <p:spPr>
          <a:xfrm>
            <a:off x="10575493" y="2194560"/>
            <a:ext cx="610362" cy="610362"/>
          </a:xfrm>
          <a:prstGeom prst="roundRect">
            <a:avLst>
              <a:gd name="adj" fmla="val 17978"/>
            </a:avLst>
          </a:prstGeom>
          <a:solidFill>
            <a:srgbClr val="101B45"/>
          </a:solidFill>
          <a:ln/>
        </p:spPr>
      </p:sp>
      <p:sp>
        <p:nvSpPr>
          <p:cNvPr id="7" name="Text 5"/>
          <p:cNvSpPr/>
          <p:nvPr/>
        </p:nvSpPr>
        <p:spPr>
          <a:xfrm>
            <a:off x="10575493" y="2194560"/>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أ</a:t>
            </a:r>
            <a:endParaRPr lang="ar-SA" sz="2000" dirty="0"/>
          </a:p>
        </p:txBody>
      </p:sp>
      <p:sp>
        <p:nvSpPr>
          <p:cNvPr id="8" name="Text 6"/>
          <p:cNvSpPr/>
          <p:nvPr/>
        </p:nvSpPr>
        <p:spPr>
          <a:xfrm>
            <a:off x="1097280" y="2057400"/>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تعطي الطالبات صفرًا وتفضحهن أمام الفصل</a:t>
            </a:r>
            <a:endParaRPr lang="ar-SA" sz="2200" dirty="0"/>
          </a:p>
        </p:txBody>
      </p:sp>
      <p:sp>
        <p:nvSpPr>
          <p:cNvPr id="9" name="anim-g1-1893"/>
          <p:cNvSpPr/>
          <p:nvPr/>
        </p:nvSpPr>
        <p:spPr>
          <a:xfrm>
            <a:off x="822960" y="2057400"/>
            <a:ext cx="10545775" cy="884682"/>
          </a:xfrm>
          <a:prstGeom prst="roundRect">
            <a:avLst>
              <a:gd name="adj" fmla="val 16537"/>
            </a:avLst>
          </a:prstGeom>
          <a:solidFill>
            <a:srgbClr val="F7F7F9"/>
          </a:solidFill>
          <a:ln w="19050">
            <a:solidFill>
              <a:srgbClr val="E4DCC8"/>
            </a:solidFill>
            <a:prstDash val="solid"/>
          </a:ln>
        </p:spPr>
      </p:sp>
      <p:sp>
        <p:nvSpPr>
          <p:cNvPr id="10" name="anim-g1-1894"/>
          <p:cNvSpPr/>
          <p:nvPr/>
        </p:nvSpPr>
        <p:spPr>
          <a:xfrm>
            <a:off x="10575493" y="2194560"/>
            <a:ext cx="610362" cy="610362"/>
          </a:xfrm>
          <a:prstGeom prst="roundRect">
            <a:avLst>
              <a:gd name="adj" fmla="val 17978"/>
            </a:avLst>
          </a:prstGeom>
          <a:solidFill>
            <a:srgbClr val="A3A9BA"/>
          </a:solidFill>
          <a:ln/>
        </p:spPr>
      </p:sp>
      <p:sp>
        <p:nvSpPr>
          <p:cNvPr id="11" name="anim-g1-1895"/>
          <p:cNvSpPr/>
          <p:nvPr/>
        </p:nvSpPr>
        <p:spPr>
          <a:xfrm>
            <a:off x="10575493" y="2194560"/>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أ</a:t>
            </a:r>
            <a:endParaRPr lang="ar-SA" sz="2000" dirty="0"/>
          </a:p>
        </p:txBody>
      </p:sp>
      <p:sp>
        <p:nvSpPr>
          <p:cNvPr id="12" name="anim-g1-1896"/>
          <p:cNvSpPr/>
          <p:nvPr/>
        </p:nvSpPr>
        <p:spPr>
          <a:xfrm>
            <a:off x="1097280" y="2093976"/>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تعطي الطالبات صفرًا وتفضحهن أمام الفصل</a:t>
            </a:r>
            <a:endParaRPr lang="ar-SA" sz="2200" dirty="0"/>
          </a:p>
        </p:txBody>
      </p:sp>
      <p:sp>
        <p:nvSpPr>
          <p:cNvPr id="13" name="anim-g1-1897"/>
          <p:cNvSpPr/>
          <p:nvPr/>
        </p:nvSpPr>
        <p:spPr>
          <a:xfrm>
            <a:off x="1097280" y="2535128"/>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الفضح يهدم الثقة، ولا يعلّم النزاهة</a:t>
            </a:r>
            <a:endParaRPr lang="ar-SA" sz="1800" dirty="0"/>
          </a:p>
        </p:txBody>
      </p:sp>
      <p:sp>
        <p:nvSpPr>
          <p:cNvPr id="14" name="Shape 12"/>
          <p:cNvSpPr/>
          <p:nvPr/>
        </p:nvSpPr>
        <p:spPr>
          <a:xfrm>
            <a:off x="822960" y="3088386"/>
            <a:ext cx="10545775" cy="884682"/>
          </a:xfrm>
          <a:prstGeom prst="roundRect">
            <a:avLst>
              <a:gd name="adj" fmla="val 16537"/>
            </a:avLst>
          </a:prstGeom>
          <a:solidFill>
            <a:srgbClr val="FFFFFF"/>
          </a:solidFill>
          <a:ln w="19050">
            <a:solidFill>
              <a:srgbClr val="E4DCC8"/>
            </a:solidFill>
            <a:prstDash val="solid"/>
          </a:ln>
        </p:spPr>
      </p:sp>
      <p:sp>
        <p:nvSpPr>
          <p:cNvPr id="15" name="Shape 13"/>
          <p:cNvSpPr/>
          <p:nvPr/>
        </p:nvSpPr>
        <p:spPr>
          <a:xfrm>
            <a:off x="10575493" y="3225546"/>
            <a:ext cx="610362" cy="610362"/>
          </a:xfrm>
          <a:prstGeom prst="roundRect">
            <a:avLst>
              <a:gd name="adj" fmla="val 17978"/>
            </a:avLst>
          </a:prstGeom>
          <a:solidFill>
            <a:srgbClr val="101B45"/>
          </a:solidFill>
          <a:ln/>
        </p:spPr>
      </p:sp>
      <p:sp>
        <p:nvSpPr>
          <p:cNvPr id="16" name="Text 14"/>
          <p:cNvSpPr/>
          <p:nvPr/>
        </p:nvSpPr>
        <p:spPr>
          <a:xfrm>
            <a:off x="10575493" y="3225546"/>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ب</a:t>
            </a:r>
            <a:endParaRPr lang="ar-SA" sz="2000" dirty="0"/>
          </a:p>
        </p:txBody>
      </p:sp>
      <p:sp>
        <p:nvSpPr>
          <p:cNvPr id="17" name="Text 15"/>
          <p:cNvSpPr/>
          <p:nvPr/>
        </p:nvSpPr>
        <p:spPr>
          <a:xfrm>
            <a:off x="1097280" y="3088386"/>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تمنع أي استخدام للتقنية في الواجبات</a:t>
            </a:r>
            <a:endParaRPr lang="ar-SA" sz="2200" dirty="0"/>
          </a:p>
        </p:txBody>
      </p:sp>
      <p:sp>
        <p:nvSpPr>
          <p:cNvPr id="18" name="anim-g1-1898"/>
          <p:cNvSpPr/>
          <p:nvPr/>
        </p:nvSpPr>
        <p:spPr>
          <a:xfrm>
            <a:off x="822960" y="3088386"/>
            <a:ext cx="10545775" cy="884682"/>
          </a:xfrm>
          <a:prstGeom prst="roundRect">
            <a:avLst>
              <a:gd name="adj" fmla="val 16537"/>
            </a:avLst>
          </a:prstGeom>
          <a:solidFill>
            <a:srgbClr val="F7F7F9"/>
          </a:solidFill>
          <a:ln w="19050">
            <a:solidFill>
              <a:srgbClr val="E4DCC8"/>
            </a:solidFill>
            <a:prstDash val="solid"/>
          </a:ln>
        </p:spPr>
      </p:sp>
      <p:sp>
        <p:nvSpPr>
          <p:cNvPr id="19" name="anim-g1-1899"/>
          <p:cNvSpPr/>
          <p:nvPr/>
        </p:nvSpPr>
        <p:spPr>
          <a:xfrm>
            <a:off x="10575493" y="3225546"/>
            <a:ext cx="610362" cy="610362"/>
          </a:xfrm>
          <a:prstGeom prst="roundRect">
            <a:avLst>
              <a:gd name="adj" fmla="val 17978"/>
            </a:avLst>
          </a:prstGeom>
          <a:solidFill>
            <a:srgbClr val="A3A9BA"/>
          </a:solidFill>
          <a:ln/>
        </p:spPr>
      </p:sp>
      <p:sp>
        <p:nvSpPr>
          <p:cNvPr id="20" name="anim-g1-1900"/>
          <p:cNvSpPr/>
          <p:nvPr/>
        </p:nvSpPr>
        <p:spPr>
          <a:xfrm>
            <a:off x="10575493" y="3225546"/>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ب</a:t>
            </a:r>
            <a:endParaRPr lang="ar-SA" sz="2000" dirty="0"/>
          </a:p>
        </p:txBody>
      </p:sp>
      <p:sp>
        <p:nvSpPr>
          <p:cNvPr id="21" name="anim-g1-1901"/>
          <p:cNvSpPr/>
          <p:nvPr/>
        </p:nvSpPr>
        <p:spPr>
          <a:xfrm>
            <a:off x="1097280" y="3124962"/>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تمنع أي استخدام للتقنية في الواجبات</a:t>
            </a:r>
            <a:endParaRPr lang="ar-SA" sz="2200" dirty="0"/>
          </a:p>
        </p:txBody>
      </p:sp>
      <p:sp>
        <p:nvSpPr>
          <p:cNvPr id="22" name="anim-g1-1902"/>
          <p:cNvSpPr/>
          <p:nvPr/>
        </p:nvSpPr>
        <p:spPr>
          <a:xfrm>
            <a:off x="1097280" y="3566114"/>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المنع الكامل مستحيل التطبيق، والذكاء الاصطناعي جزء من مستقبلهن</a:t>
            </a:r>
            <a:endParaRPr lang="ar-SA" sz="1800" dirty="0"/>
          </a:p>
        </p:txBody>
      </p:sp>
      <p:sp>
        <p:nvSpPr>
          <p:cNvPr id="23" name="Shape 21"/>
          <p:cNvSpPr/>
          <p:nvPr/>
        </p:nvSpPr>
        <p:spPr>
          <a:xfrm>
            <a:off x="822960" y="4119372"/>
            <a:ext cx="10545775" cy="884682"/>
          </a:xfrm>
          <a:prstGeom prst="roundRect">
            <a:avLst>
              <a:gd name="adj" fmla="val 16537"/>
            </a:avLst>
          </a:prstGeom>
          <a:solidFill>
            <a:srgbClr val="FFFFFF"/>
          </a:solidFill>
          <a:ln w="19050">
            <a:solidFill>
              <a:srgbClr val="E4DCC8"/>
            </a:solidFill>
            <a:prstDash val="solid"/>
          </a:ln>
        </p:spPr>
      </p:sp>
      <p:sp>
        <p:nvSpPr>
          <p:cNvPr id="24" name="Shape 22"/>
          <p:cNvSpPr/>
          <p:nvPr/>
        </p:nvSpPr>
        <p:spPr>
          <a:xfrm>
            <a:off x="10575493" y="4256532"/>
            <a:ext cx="610362" cy="610362"/>
          </a:xfrm>
          <a:prstGeom prst="roundRect">
            <a:avLst>
              <a:gd name="adj" fmla="val 17978"/>
            </a:avLst>
          </a:prstGeom>
          <a:solidFill>
            <a:srgbClr val="101B45"/>
          </a:solidFill>
          <a:ln/>
        </p:spPr>
      </p:sp>
      <p:sp>
        <p:nvSpPr>
          <p:cNvPr id="25" name="Text 23"/>
          <p:cNvSpPr/>
          <p:nvPr/>
        </p:nvSpPr>
        <p:spPr>
          <a:xfrm>
            <a:off x="10575493" y="4256532"/>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ج</a:t>
            </a:r>
            <a:endParaRPr lang="ar-SA" sz="2000" dirty="0"/>
          </a:p>
        </p:txBody>
      </p:sp>
      <p:sp>
        <p:nvSpPr>
          <p:cNvPr id="26" name="Text 24"/>
          <p:cNvSpPr/>
          <p:nvPr/>
        </p:nvSpPr>
        <p:spPr>
          <a:xfrm>
            <a:off x="1097280" y="4119372"/>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تحاور الطالبات، وتغيّر طريقة الواجب بحيث يكشف تفكير الطالبة الحقيقي</a:t>
            </a:r>
            <a:endParaRPr lang="ar-SA" sz="2200" dirty="0"/>
          </a:p>
        </p:txBody>
      </p:sp>
      <p:sp>
        <p:nvSpPr>
          <p:cNvPr id="27" name="anim-g1-1903"/>
          <p:cNvSpPr/>
          <p:nvPr/>
        </p:nvSpPr>
        <p:spPr>
          <a:xfrm>
            <a:off x="822960" y="4119372"/>
            <a:ext cx="10545775" cy="884682"/>
          </a:xfrm>
          <a:prstGeom prst="roundRect">
            <a:avLst>
              <a:gd name="adj" fmla="val 16537"/>
            </a:avLst>
          </a:prstGeom>
          <a:solidFill>
            <a:srgbClr val="E6F4EC"/>
          </a:solidFill>
          <a:ln w="31750">
            <a:solidFill>
              <a:srgbClr val="2E9E6B"/>
            </a:solidFill>
            <a:prstDash val="solid"/>
          </a:ln>
        </p:spPr>
      </p:sp>
      <p:sp>
        <p:nvSpPr>
          <p:cNvPr id="28" name="anim-g1-1904"/>
          <p:cNvSpPr/>
          <p:nvPr/>
        </p:nvSpPr>
        <p:spPr>
          <a:xfrm>
            <a:off x="10575493" y="4256532"/>
            <a:ext cx="610362" cy="610362"/>
          </a:xfrm>
          <a:prstGeom prst="roundRect">
            <a:avLst>
              <a:gd name="adj" fmla="val 17978"/>
            </a:avLst>
          </a:prstGeom>
          <a:solidFill>
            <a:srgbClr val="2E9E6B"/>
          </a:solidFill>
          <a:ln/>
        </p:spPr>
      </p:sp>
      <p:sp>
        <p:nvSpPr>
          <p:cNvPr id="29" name="anim-g1-1905"/>
          <p:cNvSpPr/>
          <p:nvPr/>
        </p:nvSpPr>
        <p:spPr>
          <a:xfrm>
            <a:off x="10575493" y="4256532"/>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a:t>
            </a:r>
            <a:endParaRPr lang="ar-SA" sz="2000" dirty="0"/>
          </a:p>
        </p:txBody>
      </p:sp>
      <p:sp>
        <p:nvSpPr>
          <p:cNvPr id="30" name="anim-g1-1906"/>
          <p:cNvSpPr/>
          <p:nvPr/>
        </p:nvSpPr>
        <p:spPr>
          <a:xfrm>
            <a:off x="1097280" y="4155948"/>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تحاور الطالبات، وتغيّر طريقة الواجب بحيث يكشف تفكير الطالبة الحقيقي</a:t>
            </a:r>
            <a:endParaRPr lang="ar-SA" sz="2200" dirty="0"/>
          </a:p>
        </p:txBody>
      </p:sp>
      <p:sp>
        <p:nvSpPr>
          <p:cNvPr id="31" name="anim-g1-1907"/>
          <p:cNvSpPr/>
          <p:nvPr/>
        </p:nvSpPr>
        <p:spPr>
          <a:xfrm>
            <a:off x="1097280" y="4597100"/>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حين يتغير الواجب، يصبح الغش أصعب من العمل الحقيقي</a:t>
            </a:r>
            <a:endParaRPr lang="ar-SA" sz="1800" dirty="0"/>
          </a:p>
        </p:txBody>
      </p:sp>
      <p:sp>
        <p:nvSpPr>
          <p:cNvPr id="32" name="Shape 30"/>
          <p:cNvSpPr/>
          <p:nvPr/>
        </p:nvSpPr>
        <p:spPr>
          <a:xfrm>
            <a:off x="822960" y="5150358"/>
            <a:ext cx="10545775" cy="884682"/>
          </a:xfrm>
          <a:prstGeom prst="roundRect">
            <a:avLst>
              <a:gd name="adj" fmla="val 16537"/>
            </a:avLst>
          </a:prstGeom>
          <a:solidFill>
            <a:srgbClr val="FFFFFF"/>
          </a:solidFill>
          <a:ln w="19050">
            <a:solidFill>
              <a:srgbClr val="E4DCC8"/>
            </a:solidFill>
            <a:prstDash val="solid"/>
          </a:ln>
        </p:spPr>
      </p:sp>
      <p:sp>
        <p:nvSpPr>
          <p:cNvPr id="33" name="Shape 31"/>
          <p:cNvSpPr/>
          <p:nvPr/>
        </p:nvSpPr>
        <p:spPr>
          <a:xfrm>
            <a:off x="10575493" y="5287518"/>
            <a:ext cx="610362" cy="610362"/>
          </a:xfrm>
          <a:prstGeom prst="roundRect">
            <a:avLst>
              <a:gd name="adj" fmla="val 17978"/>
            </a:avLst>
          </a:prstGeom>
          <a:solidFill>
            <a:srgbClr val="101B45"/>
          </a:solidFill>
          <a:ln/>
        </p:spPr>
      </p:sp>
      <p:sp>
        <p:nvSpPr>
          <p:cNvPr id="34" name="Text 32"/>
          <p:cNvSpPr/>
          <p:nvPr/>
        </p:nvSpPr>
        <p:spPr>
          <a:xfrm>
            <a:off x="10575493" y="5287518"/>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د</a:t>
            </a:r>
            <a:endParaRPr lang="ar-SA" sz="2000" dirty="0"/>
          </a:p>
        </p:txBody>
      </p:sp>
      <p:sp>
        <p:nvSpPr>
          <p:cNvPr id="35" name="Text 33"/>
          <p:cNvSpPr/>
          <p:nvPr/>
        </p:nvSpPr>
        <p:spPr>
          <a:xfrm>
            <a:off x="1097280" y="5150358"/>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تتجاهل، فالمهم أن الواجب وصل</a:t>
            </a:r>
            <a:endParaRPr lang="ar-SA" sz="2200" dirty="0"/>
          </a:p>
        </p:txBody>
      </p:sp>
      <p:sp>
        <p:nvSpPr>
          <p:cNvPr id="36" name="anim-g1-1908"/>
          <p:cNvSpPr/>
          <p:nvPr/>
        </p:nvSpPr>
        <p:spPr>
          <a:xfrm>
            <a:off x="822960" y="5150358"/>
            <a:ext cx="10545775" cy="884682"/>
          </a:xfrm>
          <a:prstGeom prst="roundRect">
            <a:avLst>
              <a:gd name="adj" fmla="val 16537"/>
            </a:avLst>
          </a:prstGeom>
          <a:solidFill>
            <a:srgbClr val="F7F7F9"/>
          </a:solidFill>
          <a:ln w="19050">
            <a:solidFill>
              <a:srgbClr val="E4DCC8"/>
            </a:solidFill>
            <a:prstDash val="solid"/>
          </a:ln>
        </p:spPr>
      </p:sp>
      <p:sp>
        <p:nvSpPr>
          <p:cNvPr id="37" name="anim-g1-1909"/>
          <p:cNvSpPr/>
          <p:nvPr/>
        </p:nvSpPr>
        <p:spPr>
          <a:xfrm>
            <a:off x="10575493" y="5287518"/>
            <a:ext cx="610362" cy="610362"/>
          </a:xfrm>
          <a:prstGeom prst="roundRect">
            <a:avLst>
              <a:gd name="adj" fmla="val 17978"/>
            </a:avLst>
          </a:prstGeom>
          <a:solidFill>
            <a:srgbClr val="A3A9BA"/>
          </a:solidFill>
          <a:ln/>
        </p:spPr>
      </p:sp>
      <p:sp>
        <p:nvSpPr>
          <p:cNvPr id="38" name="anim-g1-1910"/>
          <p:cNvSpPr/>
          <p:nvPr/>
        </p:nvSpPr>
        <p:spPr>
          <a:xfrm>
            <a:off x="10575493" y="5287518"/>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د</a:t>
            </a:r>
            <a:endParaRPr lang="ar-SA" sz="2000" dirty="0"/>
          </a:p>
        </p:txBody>
      </p:sp>
      <p:sp>
        <p:nvSpPr>
          <p:cNvPr id="39" name="anim-g1-1911"/>
          <p:cNvSpPr/>
          <p:nvPr/>
        </p:nvSpPr>
        <p:spPr>
          <a:xfrm>
            <a:off x="1097280" y="5186934"/>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تتجاهل، فالمهم أن الواجب وصل</a:t>
            </a:r>
            <a:endParaRPr lang="ar-SA" sz="2200" dirty="0"/>
          </a:p>
        </p:txBody>
      </p:sp>
      <p:sp>
        <p:nvSpPr>
          <p:cNvPr id="40" name="anim-g1-1912"/>
          <p:cNvSpPr/>
          <p:nvPr/>
        </p:nvSpPr>
        <p:spPr>
          <a:xfrm>
            <a:off x="1097280" y="5628086"/>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التجاهل يعني أن الطالبة لم تتعلم شيئًا</a:t>
            </a:r>
            <a:endParaRPr lang="ar-SA" sz="1800" dirty="0"/>
          </a:p>
        </p:txBody>
      </p:sp>
      <p:sp>
        <p:nvSpPr>
          <p:cNvPr id="41" name="Text 3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42" name="Text 4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واجب بلا بصمة  ·  ١٦٨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400"/>
                                        <p:tgtEl>
                                          <p:spTgt spid="3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400"/>
                                        <p:tgtEl>
                                          <p:spTgt spid="3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400"/>
                                        <p:tgtEl>
                                          <p:spTgt spid="38"/>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9"/>
                                        </p:tgtEl>
                                        <p:attrNameLst>
                                          <p:attrName>style.visibility</p:attrName>
                                        </p:attrNameLst>
                                      </p:cBhvr>
                                      <p:to>
                                        <p:strVal val="visible"/>
                                      </p:to>
                                    </p:set>
                                    <p:animEffect transition="in" filter="fade">
                                      <p:cBhvr>
                                        <p:cTn id="61" dur="400"/>
                                        <p:tgtEl>
                                          <p:spTgt spid="3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0"/>
                                        </p:tgtEl>
                                        <p:attrNameLst>
                                          <p:attrName>style.visibility</p:attrName>
                                        </p:attrNameLst>
                                      </p:cBhvr>
                                      <p:to>
                                        <p:strVal val="visible"/>
                                      </p:to>
                                    </p:set>
                                    <p:animEffect transition="in" filter="fade">
                                      <p:cBhvr>
                                        <p:cTn id="64"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P spid="36" grpId="0" animBg="1"/>
      <p:bldP spid="37" grpId="0" animBg="1"/>
      <p:bldP spid="38" grpId="0" animBg="1"/>
      <p:bldP spid="39" grpId="0" animBg="1"/>
      <p:bldP spid="40" grpId="0" animBg="1"/>
    </p:bldLst>
  </p:timing>
</p:sld>
</file>

<file path=ppt/slides/slide169.xml><?xml version="1.0" encoding="utf-8"?>
<p:sld xmlns:a="http://schemas.openxmlformats.org/drawingml/2006/main" xmlns:r="http://schemas.openxmlformats.org/officeDocument/2006/relationships" xmlns:p="http://schemas.openxmlformats.org/presentationml/2006/main">
  <p:cSld name="Slide 16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711135" y="457200"/>
            <a:ext cx="3657600" cy="457200"/>
          </a:xfrm>
          <a:prstGeom prst="roundRect">
            <a:avLst>
              <a:gd name="adj" fmla="val 50000"/>
            </a:avLst>
          </a:prstGeom>
          <a:solidFill>
            <a:srgbClr val="F6EBCF"/>
          </a:solidFill>
          <a:ln/>
        </p:spPr>
      </p:sp>
      <p:sp>
        <p:nvSpPr>
          <p:cNvPr id="3" name="Text 1"/>
          <p:cNvSpPr/>
          <p:nvPr/>
        </p:nvSpPr>
        <p:spPr>
          <a:xfrm>
            <a:off x="7711135" y="457200"/>
            <a:ext cx="365760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وراء كل سلوك حاجة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لماذا تلجأ الطالبة إلى الغش؟</a:t>
            </a:r>
            <a:endParaRPr lang="ar-SA" sz="3800" dirty="0"/>
          </a:p>
        </p:txBody>
      </p:sp>
      <p:sp>
        <p:nvSpPr>
          <p:cNvPr id="5" name="anim-g1-1913"/>
          <p:cNvSpPr/>
          <p:nvPr/>
        </p:nvSpPr>
        <p:spPr>
          <a:xfrm>
            <a:off x="8903741" y="2011680"/>
            <a:ext cx="2464994" cy="2514600"/>
          </a:xfrm>
          <a:prstGeom prst="roundRect">
            <a:avLst>
              <a:gd name="adj" fmla="val 6677"/>
            </a:avLst>
          </a:prstGeom>
          <a:solidFill>
            <a:srgbClr val="FFFFFF"/>
          </a:solidFill>
          <a:ln w="12700">
            <a:solidFill>
              <a:srgbClr val="E4DCC8"/>
            </a:solidFill>
            <a:prstDash val="solid"/>
          </a:ln>
        </p:spPr>
      </p:sp>
      <p:sp>
        <p:nvSpPr>
          <p:cNvPr id="6" name="anim-g1-1914"/>
          <p:cNvSpPr/>
          <p:nvPr/>
        </p:nvSpPr>
        <p:spPr>
          <a:xfrm>
            <a:off x="9816198" y="2194560"/>
            <a:ext cx="640080" cy="640080"/>
          </a:xfrm>
          <a:prstGeom prst="roundRect">
            <a:avLst>
              <a:gd name="adj" fmla="val 25714"/>
            </a:avLst>
          </a:prstGeom>
          <a:solidFill>
            <a:srgbClr val="F7E6BC"/>
          </a:solidFill>
          <a:ln/>
        </p:spPr>
      </p:sp>
      <p:sp>
        <p:nvSpPr>
          <p:cNvPr id="7" name="anim-g1-1915"/>
          <p:cNvSpPr/>
          <p:nvPr/>
        </p:nvSpPr>
        <p:spPr>
          <a:xfrm>
            <a:off x="9816198"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8" name="anim-g1-1916"/>
          <p:cNvSpPr/>
          <p:nvPr/>
        </p:nvSpPr>
        <p:spPr>
          <a:xfrm>
            <a:off x="9040901"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ضغط</a:t>
            </a:r>
            <a:endParaRPr lang="ar-SA" sz="2200" dirty="0"/>
          </a:p>
        </p:txBody>
      </p:sp>
      <p:sp>
        <p:nvSpPr>
          <p:cNvPr id="9" name="anim-g1-1917"/>
          <p:cNvSpPr/>
          <p:nvPr/>
        </p:nvSpPr>
        <p:spPr>
          <a:xfrm>
            <a:off x="9040901"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واجبات كثيرة ووقت قليل</a:t>
            </a:r>
            <a:endParaRPr lang="ar-SA" sz="1900" dirty="0"/>
          </a:p>
        </p:txBody>
      </p:sp>
      <p:sp>
        <p:nvSpPr>
          <p:cNvPr id="10" name="anim-g2-1918"/>
          <p:cNvSpPr/>
          <p:nvPr/>
        </p:nvSpPr>
        <p:spPr>
          <a:xfrm>
            <a:off x="6210148" y="2011680"/>
            <a:ext cx="2464994" cy="2514600"/>
          </a:xfrm>
          <a:prstGeom prst="roundRect">
            <a:avLst>
              <a:gd name="adj" fmla="val 6677"/>
            </a:avLst>
          </a:prstGeom>
          <a:solidFill>
            <a:srgbClr val="FFFFFF"/>
          </a:solidFill>
          <a:ln w="12700">
            <a:solidFill>
              <a:srgbClr val="E4DCC8"/>
            </a:solidFill>
            <a:prstDash val="solid"/>
          </a:ln>
        </p:spPr>
      </p:sp>
      <p:sp>
        <p:nvSpPr>
          <p:cNvPr id="11" name="anim-g2-1919"/>
          <p:cNvSpPr/>
          <p:nvPr/>
        </p:nvSpPr>
        <p:spPr>
          <a:xfrm>
            <a:off x="7122604" y="2194560"/>
            <a:ext cx="640080" cy="640080"/>
          </a:xfrm>
          <a:prstGeom prst="roundRect">
            <a:avLst>
              <a:gd name="adj" fmla="val 25714"/>
            </a:avLst>
          </a:prstGeom>
          <a:solidFill>
            <a:srgbClr val="F7E6BC"/>
          </a:solidFill>
          <a:ln/>
        </p:spPr>
      </p:sp>
      <p:sp>
        <p:nvSpPr>
          <p:cNvPr id="12" name="anim-g2-1920"/>
          <p:cNvSpPr/>
          <p:nvPr/>
        </p:nvSpPr>
        <p:spPr>
          <a:xfrm>
            <a:off x="7122604"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13" name="anim-g2-1921"/>
          <p:cNvSpPr/>
          <p:nvPr/>
        </p:nvSpPr>
        <p:spPr>
          <a:xfrm>
            <a:off x="6347308"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خوف</a:t>
            </a:r>
            <a:endParaRPr lang="ar-SA" sz="2200" dirty="0"/>
          </a:p>
        </p:txBody>
      </p:sp>
      <p:sp>
        <p:nvSpPr>
          <p:cNvPr id="14" name="anim-g2-1922"/>
          <p:cNvSpPr/>
          <p:nvPr/>
        </p:nvSpPr>
        <p:spPr>
          <a:xfrm>
            <a:off x="6347308"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تخشى أن يكون مقالها ضعيفًا</a:t>
            </a:r>
            <a:endParaRPr lang="ar-SA" sz="1900" dirty="0"/>
          </a:p>
        </p:txBody>
      </p:sp>
      <p:sp>
        <p:nvSpPr>
          <p:cNvPr id="15" name="anim-g3-1923"/>
          <p:cNvSpPr/>
          <p:nvPr/>
        </p:nvSpPr>
        <p:spPr>
          <a:xfrm>
            <a:off x="3516554" y="2011680"/>
            <a:ext cx="2464994" cy="2514600"/>
          </a:xfrm>
          <a:prstGeom prst="roundRect">
            <a:avLst>
              <a:gd name="adj" fmla="val 6677"/>
            </a:avLst>
          </a:prstGeom>
          <a:solidFill>
            <a:srgbClr val="FFFFFF"/>
          </a:solidFill>
          <a:ln w="12700">
            <a:solidFill>
              <a:srgbClr val="E4DCC8"/>
            </a:solidFill>
            <a:prstDash val="solid"/>
          </a:ln>
        </p:spPr>
      </p:sp>
      <p:sp>
        <p:nvSpPr>
          <p:cNvPr id="16" name="anim-g3-1924"/>
          <p:cNvSpPr/>
          <p:nvPr/>
        </p:nvSpPr>
        <p:spPr>
          <a:xfrm>
            <a:off x="4429011" y="2194560"/>
            <a:ext cx="640080" cy="640080"/>
          </a:xfrm>
          <a:prstGeom prst="roundRect">
            <a:avLst>
              <a:gd name="adj" fmla="val 25714"/>
            </a:avLst>
          </a:prstGeom>
          <a:solidFill>
            <a:srgbClr val="F7E6BC"/>
          </a:solidFill>
          <a:ln/>
        </p:spPr>
      </p:sp>
      <p:sp>
        <p:nvSpPr>
          <p:cNvPr id="17" name="anim-g3-1925"/>
          <p:cNvSpPr/>
          <p:nvPr/>
        </p:nvSpPr>
        <p:spPr>
          <a:xfrm>
            <a:off x="4429011"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18" name="anim-g3-1926"/>
          <p:cNvSpPr/>
          <p:nvPr/>
        </p:nvSpPr>
        <p:spPr>
          <a:xfrm>
            <a:off x="3653714"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التباس</a:t>
            </a:r>
            <a:endParaRPr lang="ar-SA" sz="2200" dirty="0"/>
          </a:p>
        </p:txBody>
      </p:sp>
      <p:sp>
        <p:nvSpPr>
          <p:cNvPr id="19" name="anim-g3-1927"/>
          <p:cNvSpPr/>
          <p:nvPr/>
        </p:nvSpPr>
        <p:spPr>
          <a:xfrm>
            <a:off x="3653714"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لا تعرف أين تنتهي «الاستعانة» ويبدأ «الغش»</a:t>
            </a:r>
            <a:endParaRPr lang="ar-SA" sz="1900" dirty="0"/>
          </a:p>
        </p:txBody>
      </p:sp>
      <p:sp>
        <p:nvSpPr>
          <p:cNvPr id="20" name="anim-g4-1928"/>
          <p:cNvSpPr/>
          <p:nvPr/>
        </p:nvSpPr>
        <p:spPr>
          <a:xfrm>
            <a:off x="822960" y="2011680"/>
            <a:ext cx="2464994" cy="2514600"/>
          </a:xfrm>
          <a:prstGeom prst="roundRect">
            <a:avLst>
              <a:gd name="adj" fmla="val 6677"/>
            </a:avLst>
          </a:prstGeom>
          <a:solidFill>
            <a:srgbClr val="FFFFFF"/>
          </a:solidFill>
          <a:ln w="12700">
            <a:solidFill>
              <a:srgbClr val="E4DCC8"/>
            </a:solidFill>
            <a:prstDash val="solid"/>
          </a:ln>
        </p:spPr>
      </p:sp>
      <p:sp>
        <p:nvSpPr>
          <p:cNvPr id="21" name="anim-g4-1929"/>
          <p:cNvSpPr/>
          <p:nvPr/>
        </p:nvSpPr>
        <p:spPr>
          <a:xfrm>
            <a:off x="1735417" y="2194560"/>
            <a:ext cx="640080" cy="640080"/>
          </a:xfrm>
          <a:prstGeom prst="roundRect">
            <a:avLst>
              <a:gd name="adj" fmla="val 25714"/>
            </a:avLst>
          </a:prstGeom>
          <a:solidFill>
            <a:srgbClr val="F7E6BC"/>
          </a:solidFill>
          <a:ln/>
        </p:spPr>
      </p:sp>
      <p:sp>
        <p:nvSpPr>
          <p:cNvPr id="22" name="anim-g4-1930"/>
          <p:cNvSpPr/>
          <p:nvPr/>
        </p:nvSpPr>
        <p:spPr>
          <a:xfrm>
            <a:off x="1735417"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23" name="anim-g4-1931"/>
          <p:cNvSpPr/>
          <p:nvPr/>
        </p:nvSpPr>
        <p:spPr>
          <a:xfrm>
            <a:off x="960120"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واجب عام</a:t>
            </a:r>
            <a:endParaRPr lang="ar-SA" sz="2200" dirty="0"/>
          </a:p>
        </p:txBody>
      </p:sp>
      <p:sp>
        <p:nvSpPr>
          <p:cNvPr id="24" name="anim-g4-1932"/>
          <p:cNvSpPr/>
          <p:nvPr/>
        </p:nvSpPr>
        <p:spPr>
          <a:xfrm>
            <a:off x="960120"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سؤال يجيب عنه أي برنامج</a:t>
            </a:r>
            <a:endParaRPr lang="ar-SA" sz="1900" dirty="0"/>
          </a:p>
        </p:txBody>
      </p:sp>
      <p:sp>
        <p:nvSpPr>
          <p:cNvPr id="25" name="anim-g5-1933"/>
          <p:cNvSpPr/>
          <p:nvPr/>
        </p:nvSpPr>
        <p:spPr>
          <a:xfrm>
            <a:off x="822960" y="4754880"/>
            <a:ext cx="10545775" cy="1051560"/>
          </a:xfrm>
          <a:prstGeom prst="roundRect">
            <a:avLst>
              <a:gd name="adj" fmla="val 17391"/>
            </a:avLst>
          </a:prstGeom>
          <a:solidFill>
            <a:srgbClr val="101B45"/>
          </a:solidFill>
          <a:ln/>
        </p:spPr>
      </p:sp>
      <p:sp>
        <p:nvSpPr>
          <p:cNvPr id="26" name="anim-g5-1934"/>
          <p:cNvSpPr/>
          <p:nvPr/>
        </p:nvSpPr>
        <p:spPr>
          <a:xfrm>
            <a:off x="1097280" y="4754880"/>
            <a:ext cx="9997135" cy="1051560"/>
          </a:xfrm>
          <a:prstGeom prst="rect">
            <a:avLst/>
          </a:prstGeom>
          <a:noFill/>
          <a:ln/>
        </p:spPr>
        <p:txBody>
          <a:bodyPr wrap="square" lIns="0" tIns="0" rIns="0" bIns="0" rtlCol="0" anchor="ctr">
            <a:normAutofit/>
          </a:bodyPr>
          <a:lstStyle/>
          <a:p>
            <a:pPr algn="ctr" indent="0" marL="0">
              <a:buNone/>
            </a:pPr>
            <a:r>
              <a:rPr lang="ar-SA" altLang="en-US" sz="2200" b="1" dirty="0">
                <a:solidFill>
                  <a:srgbClr val="FFFFFF"/>
                </a:solidFill>
                <a:latin typeface="Cairo" pitchFamily="34" charset="0"/>
                <a:ea typeface="Cairo" pitchFamily="34" charset="-122"/>
                <a:cs typeface="Cairo" pitchFamily="34" charset="-120"/>
              </a:rPr>
              <a:t>💡 إن استطاع برنامج أن يحل واجبك كاملًا…</a:t>
            </a:r>
            <a:endParaRPr lang="ar-SA" sz="2200" dirty="0"/>
          </a:p>
          <a:p>
            <a:pPr algn="ctr" indent="0" marL="0">
              <a:buNone/>
            </a:pPr>
            <a:r>
              <a:rPr lang="ar-SA" altLang="en-US" sz="2200" b="1" dirty="0">
                <a:solidFill>
                  <a:srgbClr val="F0CC7A"/>
                </a:solidFill>
                <a:latin typeface="Cairo" pitchFamily="34" charset="0"/>
                <a:ea typeface="Cairo" pitchFamily="34" charset="-122"/>
                <a:cs typeface="Cairo" pitchFamily="34" charset="-120"/>
              </a:rPr>
              <a:t> فالمشكلة في الواجب قبل الطالبة</a:t>
            </a:r>
            <a:endParaRPr lang="ar-SA" sz="2200" dirty="0"/>
          </a:p>
        </p:txBody>
      </p:sp>
      <p:sp>
        <p:nvSpPr>
          <p:cNvPr id="27" name="Text 2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8" name="Text 2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واجب بلا بصمة  ·  ١٦٩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40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170.xml><?xml version="1.0" encoding="utf-8"?>
<p:sld xmlns:a="http://schemas.openxmlformats.org/drawingml/2006/main" xmlns:r="http://schemas.openxmlformats.org/officeDocument/2006/relationships" xmlns:p="http://schemas.openxmlformats.org/presentationml/2006/main">
  <p:cSld name="Slide 17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418527" y="457200"/>
            <a:ext cx="3950208" cy="457200"/>
          </a:xfrm>
          <a:prstGeom prst="roundRect">
            <a:avLst>
              <a:gd name="adj" fmla="val 50000"/>
            </a:avLst>
          </a:prstGeom>
          <a:solidFill>
            <a:srgbClr val="F6EBCF"/>
          </a:solidFill>
          <a:ln/>
        </p:spPr>
      </p:sp>
      <p:sp>
        <p:nvSpPr>
          <p:cNvPr id="3" name="Text 1"/>
          <p:cNvSpPr/>
          <p:nvPr/>
        </p:nvSpPr>
        <p:spPr>
          <a:xfrm>
            <a:off x="7418527" y="457200"/>
            <a:ext cx="395020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تصميم الواجب القادم</a:t>
            </a:r>
            <a:endParaRPr lang="ar-SA" sz="1800" dirty="0"/>
          </a:p>
        </p:txBody>
      </p:sp>
      <p:sp>
        <p:nvSpPr>
          <p:cNvPr id="4" name="Shape 2"/>
          <p:cNvSpPr/>
          <p:nvPr/>
        </p:nvSpPr>
        <p:spPr>
          <a:xfrm>
            <a:off x="822960" y="457200"/>
            <a:ext cx="2331720" cy="457200"/>
          </a:xfrm>
          <a:prstGeom prst="roundRect">
            <a:avLst>
              <a:gd name="adj" fmla="val 50000"/>
            </a:avLst>
          </a:prstGeom>
          <a:solidFill>
            <a:srgbClr val="FBECEC"/>
          </a:solidFill>
          <a:ln/>
        </p:spPr>
      </p:sp>
      <p:sp>
        <p:nvSpPr>
          <p:cNvPr id="5" name="Text 3"/>
          <p:cNvSpPr/>
          <p:nvPr/>
        </p:nvSpPr>
        <p:spPr>
          <a:xfrm>
            <a:off x="822960" y="457200"/>
            <a:ext cx="2331720"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D64545"/>
                </a:solidFill>
                <a:latin typeface="Cairo" pitchFamily="34" charset="0"/>
                <a:ea typeface="Cairo" pitchFamily="34" charset="-122"/>
                <a:cs typeface="Cairo" pitchFamily="34" charset="-120"/>
              </a:rPr>
              <a:t>⏱ الواجب القادم</a:t>
            </a:r>
            <a:endParaRPr lang="ar-SA" sz="1600" dirty="0"/>
          </a:p>
        </p:txBody>
      </p:sp>
      <p:sp>
        <p:nvSpPr>
          <p:cNvPr id="6" name="Text 4"/>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واجب لا يُنسخ</a:t>
            </a:r>
            <a:endParaRPr lang="ar-SA" sz="3800" dirty="0"/>
          </a:p>
        </p:txBody>
      </p:sp>
      <p:sp>
        <p:nvSpPr>
          <p:cNvPr id="7" name="anim-g1-1935"/>
          <p:cNvSpPr/>
          <p:nvPr/>
        </p:nvSpPr>
        <p:spPr>
          <a:xfrm>
            <a:off x="8903741" y="2148840"/>
            <a:ext cx="2464994" cy="3383280"/>
          </a:xfrm>
          <a:prstGeom prst="roundRect">
            <a:avLst>
              <a:gd name="adj" fmla="val 6677"/>
            </a:avLst>
          </a:prstGeom>
          <a:solidFill>
            <a:srgbClr val="FFFFFF"/>
          </a:solidFill>
          <a:ln w="12700">
            <a:solidFill>
              <a:srgbClr val="E4DCC8"/>
            </a:solidFill>
            <a:prstDash val="solid"/>
          </a:ln>
        </p:spPr>
      </p:sp>
      <p:sp>
        <p:nvSpPr>
          <p:cNvPr id="8" name="anim-g1-1936"/>
          <p:cNvSpPr/>
          <p:nvPr/>
        </p:nvSpPr>
        <p:spPr>
          <a:xfrm>
            <a:off x="9747618" y="2423160"/>
            <a:ext cx="777240" cy="777240"/>
          </a:xfrm>
          <a:prstGeom prst="ellipse">
            <a:avLst/>
          </a:prstGeom>
          <a:solidFill>
            <a:srgbClr val="D9AE4B"/>
          </a:solidFill>
          <a:ln/>
        </p:spPr>
      </p:sp>
      <p:sp>
        <p:nvSpPr>
          <p:cNvPr id="9" name="anim-g1-1937"/>
          <p:cNvSpPr/>
          <p:nvPr/>
        </p:nvSpPr>
        <p:spPr>
          <a:xfrm>
            <a:off x="9747618"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١</a:t>
            </a:r>
            <a:endParaRPr lang="ar-SA" sz="2800" dirty="0"/>
          </a:p>
        </p:txBody>
      </p:sp>
      <p:sp>
        <p:nvSpPr>
          <p:cNvPr id="10" name="anim-g1-1938"/>
          <p:cNvSpPr/>
          <p:nvPr/>
        </p:nvSpPr>
        <p:spPr>
          <a:xfrm>
            <a:off x="9040901"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شخصي</a:t>
            </a:r>
            <a:endParaRPr lang="ar-SA" sz="2500" dirty="0"/>
          </a:p>
        </p:txBody>
      </p:sp>
      <p:sp>
        <p:nvSpPr>
          <p:cNvPr id="11" name="anim-g1-1939"/>
          <p:cNvSpPr/>
          <p:nvPr/>
        </p:nvSpPr>
        <p:spPr>
          <a:xfrm>
            <a:off x="9086621"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من تجربتها: «كتاب غيّر رأيك في شيء»</a:t>
            </a:r>
            <a:endParaRPr lang="ar-SA" sz="2000" dirty="0"/>
          </a:p>
        </p:txBody>
      </p:sp>
      <p:sp>
        <p:nvSpPr>
          <p:cNvPr id="12" name="anim-g2-1940"/>
          <p:cNvSpPr/>
          <p:nvPr/>
        </p:nvSpPr>
        <p:spPr>
          <a:xfrm>
            <a:off x="6210148" y="2148840"/>
            <a:ext cx="2464994" cy="3383280"/>
          </a:xfrm>
          <a:prstGeom prst="roundRect">
            <a:avLst>
              <a:gd name="adj" fmla="val 6677"/>
            </a:avLst>
          </a:prstGeom>
          <a:solidFill>
            <a:srgbClr val="FFFFFF"/>
          </a:solidFill>
          <a:ln w="12700">
            <a:solidFill>
              <a:srgbClr val="E4DCC8"/>
            </a:solidFill>
            <a:prstDash val="solid"/>
          </a:ln>
        </p:spPr>
      </p:sp>
      <p:sp>
        <p:nvSpPr>
          <p:cNvPr id="13" name="anim-g2-1941"/>
          <p:cNvSpPr/>
          <p:nvPr/>
        </p:nvSpPr>
        <p:spPr>
          <a:xfrm>
            <a:off x="7054024" y="2423160"/>
            <a:ext cx="777240" cy="777240"/>
          </a:xfrm>
          <a:prstGeom prst="ellipse">
            <a:avLst/>
          </a:prstGeom>
          <a:solidFill>
            <a:srgbClr val="D9AE4B"/>
          </a:solidFill>
          <a:ln/>
        </p:spPr>
      </p:sp>
      <p:sp>
        <p:nvSpPr>
          <p:cNvPr id="14" name="anim-g2-1942"/>
          <p:cNvSpPr/>
          <p:nvPr/>
        </p:nvSpPr>
        <p:spPr>
          <a:xfrm>
            <a:off x="7054024"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٢</a:t>
            </a:r>
            <a:endParaRPr lang="ar-SA" sz="2800" dirty="0"/>
          </a:p>
        </p:txBody>
      </p:sp>
      <p:sp>
        <p:nvSpPr>
          <p:cNvPr id="15" name="anim-g2-1943"/>
          <p:cNvSpPr/>
          <p:nvPr/>
        </p:nvSpPr>
        <p:spPr>
          <a:xfrm>
            <a:off x="6347308"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على مراحل</a:t>
            </a:r>
            <a:endParaRPr lang="ar-SA" sz="2500" dirty="0"/>
          </a:p>
        </p:txBody>
      </p:sp>
      <p:sp>
        <p:nvSpPr>
          <p:cNvPr id="16" name="anim-g2-1944"/>
          <p:cNvSpPr/>
          <p:nvPr/>
        </p:nvSpPr>
        <p:spPr>
          <a:xfrm>
            <a:off x="6393028"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مسودة في الفصل، ثم تطوير في البيت</a:t>
            </a:r>
            <a:endParaRPr lang="ar-SA" sz="2000" dirty="0"/>
          </a:p>
        </p:txBody>
      </p:sp>
      <p:sp>
        <p:nvSpPr>
          <p:cNvPr id="17" name="anim-g3-1945"/>
          <p:cNvSpPr/>
          <p:nvPr/>
        </p:nvSpPr>
        <p:spPr>
          <a:xfrm>
            <a:off x="3516554" y="2148840"/>
            <a:ext cx="2464994" cy="3383280"/>
          </a:xfrm>
          <a:prstGeom prst="roundRect">
            <a:avLst>
              <a:gd name="adj" fmla="val 6677"/>
            </a:avLst>
          </a:prstGeom>
          <a:solidFill>
            <a:srgbClr val="FFFFFF"/>
          </a:solidFill>
          <a:ln w="12700">
            <a:solidFill>
              <a:srgbClr val="E4DCC8"/>
            </a:solidFill>
            <a:prstDash val="solid"/>
          </a:ln>
        </p:spPr>
      </p:sp>
      <p:sp>
        <p:nvSpPr>
          <p:cNvPr id="18" name="anim-g3-1946"/>
          <p:cNvSpPr/>
          <p:nvPr/>
        </p:nvSpPr>
        <p:spPr>
          <a:xfrm>
            <a:off x="4360431" y="2423160"/>
            <a:ext cx="777240" cy="777240"/>
          </a:xfrm>
          <a:prstGeom prst="ellipse">
            <a:avLst/>
          </a:prstGeom>
          <a:solidFill>
            <a:srgbClr val="D9AE4B"/>
          </a:solidFill>
          <a:ln/>
        </p:spPr>
      </p:sp>
      <p:sp>
        <p:nvSpPr>
          <p:cNvPr id="19" name="anim-g3-1947"/>
          <p:cNvSpPr/>
          <p:nvPr/>
        </p:nvSpPr>
        <p:spPr>
          <a:xfrm>
            <a:off x="4360431"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٣</a:t>
            </a:r>
            <a:endParaRPr lang="ar-SA" sz="2800" dirty="0"/>
          </a:p>
        </p:txBody>
      </p:sp>
      <p:sp>
        <p:nvSpPr>
          <p:cNvPr id="20" name="anim-g3-1948"/>
          <p:cNvSpPr/>
          <p:nvPr/>
        </p:nvSpPr>
        <p:spPr>
          <a:xfrm>
            <a:off x="3653714"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شفهي</a:t>
            </a:r>
            <a:endParaRPr lang="ar-SA" sz="2500" dirty="0"/>
          </a:p>
        </p:txBody>
      </p:sp>
      <p:sp>
        <p:nvSpPr>
          <p:cNvPr id="21" name="anim-g3-1949"/>
          <p:cNvSpPr/>
          <p:nvPr/>
        </p:nvSpPr>
        <p:spPr>
          <a:xfrm>
            <a:off x="3699434"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دقيقتان تشرح فيهما فكرتها</a:t>
            </a:r>
            <a:endParaRPr lang="ar-SA" sz="2000" dirty="0"/>
          </a:p>
        </p:txBody>
      </p:sp>
      <p:sp>
        <p:nvSpPr>
          <p:cNvPr id="22" name="anim-g4-1950"/>
          <p:cNvSpPr/>
          <p:nvPr/>
        </p:nvSpPr>
        <p:spPr>
          <a:xfrm>
            <a:off x="822960" y="2148840"/>
            <a:ext cx="2464994" cy="3383280"/>
          </a:xfrm>
          <a:prstGeom prst="roundRect">
            <a:avLst>
              <a:gd name="adj" fmla="val 6677"/>
            </a:avLst>
          </a:prstGeom>
          <a:solidFill>
            <a:srgbClr val="FFFFFF"/>
          </a:solidFill>
          <a:ln w="12700">
            <a:solidFill>
              <a:srgbClr val="E4DCC8"/>
            </a:solidFill>
            <a:prstDash val="solid"/>
          </a:ln>
        </p:spPr>
      </p:sp>
      <p:sp>
        <p:nvSpPr>
          <p:cNvPr id="23" name="anim-g4-1951"/>
          <p:cNvSpPr/>
          <p:nvPr/>
        </p:nvSpPr>
        <p:spPr>
          <a:xfrm>
            <a:off x="1666837" y="2423160"/>
            <a:ext cx="777240" cy="777240"/>
          </a:xfrm>
          <a:prstGeom prst="ellipse">
            <a:avLst/>
          </a:prstGeom>
          <a:solidFill>
            <a:srgbClr val="D9AE4B"/>
          </a:solidFill>
          <a:ln/>
        </p:spPr>
      </p:sp>
      <p:sp>
        <p:nvSpPr>
          <p:cNvPr id="24" name="anim-g4-1952"/>
          <p:cNvSpPr/>
          <p:nvPr/>
        </p:nvSpPr>
        <p:spPr>
          <a:xfrm>
            <a:off x="1666837"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٤</a:t>
            </a:r>
            <a:endParaRPr lang="ar-SA" sz="2800" dirty="0"/>
          </a:p>
        </p:txBody>
      </p:sp>
      <p:sp>
        <p:nvSpPr>
          <p:cNvPr id="25" name="anim-g4-1953"/>
          <p:cNvSpPr/>
          <p:nvPr/>
        </p:nvSpPr>
        <p:spPr>
          <a:xfrm>
            <a:off x="960120"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قاعدة واضحة</a:t>
            </a:r>
            <a:endParaRPr lang="ar-SA" sz="2500" dirty="0"/>
          </a:p>
        </p:txBody>
      </p:sp>
      <p:sp>
        <p:nvSpPr>
          <p:cNvPr id="26" name="anim-g4-1954"/>
          <p:cNvSpPr/>
          <p:nvPr/>
        </p:nvSpPr>
        <p:spPr>
          <a:xfrm>
            <a:off x="1005840"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متى يُسمح بالذكاء الاصطناعي؟ وكيف يُذكر؟</a:t>
            </a:r>
            <a:endParaRPr lang="ar-SA" sz="2000" dirty="0"/>
          </a:p>
        </p:txBody>
      </p:sp>
      <p:sp>
        <p:nvSpPr>
          <p:cNvPr id="27" name="Text 2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8" name="Text 2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واجب بلا بصمة  ·  ١٧٠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400"/>
                                        <p:tgtEl>
                                          <p:spTgt spid="1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40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4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400"/>
                                        <p:tgtEl>
                                          <p:spTgt spid="1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400"/>
                                        <p:tgtEl>
                                          <p:spTgt spid="2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400"/>
                                        <p:tgtEl>
                                          <p:spTgt spid="21"/>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400"/>
                                        <p:tgtEl>
                                          <p:spTgt spid="2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400"/>
                                        <p:tgtEl>
                                          <p:spTgt spid="2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400"/>
                                        <p:tgtEl>
                                          <p:spTgt spid="2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400"/>
                                        <p:tgtEl>
                                          <p:spTgt spid="2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171.xml><?xml version="1.0" encoding="utf-8"?>
<p:sld xmlns:a="http://schemas.openxmlformats.org/drawingml/2006/main" xmlns:r="http://schemas.openxmlformats.org/officeDocument/2006/relationships" xmlns:p="http://schemas.openxmlformats.org/presentationml/2006/main">
  <p:cSld name="Slide 17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588959" y="457200"/>
            <a:ext cx="2779776" cy="457200"/>
          </a:xfrm>
          <a:prstGeom prst="roundRect">
            <a:avLst>
              <a:gd name="adj" fmla="val 50000"/>
            </a:avLst>
          </a:prstGeom>
          <a:solidFill>
            <a:srgbClr val="F6EBCF"/>
          </a:solidFill>
          <a:ln/>
        </p:spPr>
      </p:sp>
      <p:sp>
        <p:nvSpPr>
          <p:cNvPr id="3" name="Text 1"/>
          <p:cNvSpPr/>
          <p:nvPr/>
        </p:nvSpPr>
        <p:spPr>
          <a:xfrm>
            <a:off x="8588959" y="457200"/>
            <a:ext cx="277977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الجُمل الجاهزة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ماذا تقول بالحرف؟</a:t>
            </a:r>
            <a:endParaRPr lang="ar-SA" sz="3800" dirty="0"/>
          </a:p>
        </p:txBody>
      </p:sp>
      <p:sp>
        <p:nvSpPr>
          <p:cNvPr id="5" name="anim-g1-1955"/>
          <p:cNvSpPr/>
          <p:nvPr/>
        </p:nvSpPr>
        <p:spPr>
          <a:xfrm>
            <a:off x="9768535" y="2130552"/>
            <a:ext cx="1600200" cy="819912"/>
          </a:xfrm>
          <a:prstGeom prst="roundRect">
            <a:avLst>
              <a:gd name="adj" fmla="val 16729"/>
            </a:avLst>
          </a:prstGeom>
          <a:solidFill>
            <a:srgbClr val="E9EDF9"/>
          </a:solidFill>
          <a:ln/>
        </p:spPr>
      </p:sp>
      <p:sp>
        <p:nvSpPr>
          <p:cNvPr id="6" name="anim-g1-1956"/>
          <p:cNvSpPr/>
          <p:nvPr/>
        </p:nvSpPr>
        <p:spPr>
          <a:xfrm>
            <a:off x="9814255" y="2130552"/>
            <a:ext cx="1508760" cy="81991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على انفراد</a:t>
            </a:r>
            <a:endParaRPr lang="ar-SA" sz="1800" dirty="0"/>
          </a:p>
        </p:txBody>
      </p:sp>
      <p:sp>
        <p:nvSpPr>
          <p:cNvPr id="7" name="anim-g1-1957"/>
          <p:cNvSpPr/>
          <p:nvPr/>
        </p:nvSpPr>
        <p:spPr>
          <a:xfrm>
            <a:off x="822960" y="2057400"/>
            <a:ext cx="8716975" cy="966216"/>
          </a:xfrm>
          <a:prstGeom prst="roundRect">
            <a:avLst>
              <a:gd name="adj" fmla="val 20820"/>
            </a:avLst>
          </a:prstGeom>
          <a:solidFill>
            <a:srgbClr val="101B45"/>
          </a:solidFill>
          <a:ln/>
        </p:spPr>
      </p:sp>
      <p:sp>
        <p:nvSpPr>
          <p:cNvPr id="8" name="anim-g1-1958"/>
          <p:cNvSpPr/>
          <p:nvPr/>
        </p:nvSpPr>
        <p:spPr>
          <a:xfrm>
            <a:off x="1097280" y="2057400"/>
            <a:ext cx="8168335" cy="966216"/>
          </a:xfrm>
          <a:prstGeom prst="rect">
            <a:avLst/>
          </a:prstGeom>
          <a:noFill/>
          <a:ln/>
        </p:spPr>
        <p:txBody>
          <a:bodyPr wrap="square" lIns="0" tIns="0" rIns="0" bIns="0" rtlCol="0" anchor="ctr">
            <a:normAutofit/>
          </a:bodyPr>
          <a:lstStyle/>
          <a:p>
            <a:pPr algn="r" indent="0" marL="0">
              <a:buNone/>
            </a:pPr>
            <a:r>
              <a:rPr lang="ar-SA" altLang="en-US" sz="2000" b="1" dirty="0">
                <a:solidFill>
                  <a:srgbClr val="D9AE4B"/>
                </a:solidFill>
                <a:latin typeface="Cairo" pitchFamily="34" charset="0"/>
                <a:ea typeface="Cairo" pitchFamily="34" charset="-122"/>
                <a:cs typeface="Cairo" pitchFamily="34" charset="-120"/>
              </a:rPr>
              <a:t>« </a:t>
            </a:r>
            <a:pPr algn="r" indent="0" marL="0">
              <a:buNone/>
            </a:pPr>
            <a:r>
              <a:rPr lang="ar-SA" altLang="en-US" sz="2000" b="1" dirty="0">
                <a:solidFill>
                  <a:srgbClr val="FFFFFF"/>
                </a:solidFill>
                <a:latin typeface="Cairo" pitchFamily="34" charset="0"/>
                <a:ea typeface="Cairo" pitchFamily="34" charset="-122"/>
                <a:cs typeface="Cairo" pitchFamily="34" charset="-120"/>
              </a:rPr>
              <a:t>مقالك جميل لغويًا، لكنني أريد أن أسمع صوتك أنتِ. حدثيني عن فكرته بكلماتك</a:t>
            </a:r>
            <a:pPr algn="r" indent="0" marL="0">
              <a:buNone/>
            </a:pPr>
            <a:r>
              <a:rPr lang="ar-SA" altLang="en-US" sz="2000" b="1" dirty="0">
                <a:solidFill>
                  <a:srgbClr val="D9AE4B"/>
                </a:solidFill>
                <a:latin typeface="Cairo" pitchFamily="34" charset="0"/>
                <a:ea typeface="Cairo" pitchFamily="34" charset="-122"/>
                <a:cs typeface="Cairo" pitchFamily="34" charset="-120"/>
              </a:rPr>
              <a:t> »</a:t>
            </a:r>
            <a:endParaRPr lang="ar-SA" sz="2000" dirty="0"/>
          </a:p>
        </p:txBody>
      </p:sp>
      <p:sp>
        <p:nvSpPr>
          <p:cNvPr id="9" name="anim-g2-1959"/>
          <p:cNvSpPr/>
          <p:nvPr/>
        </p:nvSpPr>
        <p:spPr>
          <a:xfrm>
            <a:off x="9768535" y="3243072"/>
            <a:ext cx="1600200" cy="819912"/>
          </a:xfrm>
          <a:prstGeom prst="roundRect">
            <a:avLst>
              <a:gd name="adj" fmla="val 16729"/>
            </a:avLst>
          </a:prstGeom>
          <a:solidFill>
            <a:srgbClr val="E9EDF9"/>
          </a:solidFill>
          <a:ln/>
        </p:spPr>
      </p:sp>
      <p:sp>
        <p:nvSpPr>
          <p:cNvPr id="10" name="anim-g2-1960"/>
          <p:cNvSpPr/>
          <p:nvPr/>
        </p:nvSpPr>
        <p:spPr>
          <a:xfrm>
            <a:off x="9814255" y="3243072"/>
            <a:ext cx="1508760" cy="81991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للفصل</a:t>
            </a:r>
            <a:endParaRPr lang="ar-SA" sz="1800" dirty="0"/>
          </a:p>
        </p:txBody>
      </p:sp>
      <p:sp>
        <p:nvSpPr>
          <p:cNvPr id="11" name="anim-g2-1961"/>
          <p:cNvSpPr/>
          <p:nvPr/>
        </p:nvSpPr>
        <p:spPr>
          <a:xfrm>
            <a:off x="822960" y="3169920"/>
            <a:ext cx="8716975" cy="966216"/>
          </a:xfrm>
          <a:prstGeom prst="roundRect">
            <a:avLst>
              <a:gd name="adj" fmla="val 20820"/>
            </a:avLst>
          </a:prstGeom>
          <a:solidFill>
            <a:srgbClr val="101B45"/>
          </a:solidFill>
          <a:ln/>
        </p:spPr>
      </p:sp>
      <p:sp>
        <p:nvSpPr>
          <p:cNvPr id="12" name="anim-g2-1962"/>
          <p:cNvSpPr/>
          <p:nvPr/>
        </p:nvSpPr>
        <p:spPr>
          <a:xfrm>
            <a:off x="1097280" y="3169920"/>
            <a:ext cx="8168335" cy="966216"/>
          </a:xfrm>
          <a:prstGeom prst="rect">
            <a:avLst/>
          </a:prstGeom>
          <a:noFill/>
          <a:ln/>
        </p:spPr>
        <p:txBody>
          <a:bodyPr wrap="square" lIns="0" tIns="0" rIns="0" bIns="0" rtlCol="0" anchor="ctr">
            <a:normAutofit/>
          </a:bodyPr>
          <a:lstStyle/>
          <a:p>
            <a:pPr algn="r" indent="0" marL="0">
              <a:buNone/>
            </a:pPr>
            <a:r>
              <a:rPr lang="ar-SA" altLang="en-US" sz="2000" b="1" dirty="0">
                <a:solidFill>
                  <a:srgbClr val="D9AE4B"/>
                </a:solidFill>
                <a:latin typeface="Cairo" pitchFamily="34" charset="0"/>
                <a:ea typeface="Cairo" pitchFamily="34" charset="-122"/>
                <a:cs typeface="Cairo" pitchFamily="34" charset="-120"/>
              </a:rPr>
              <a:t>« </a:t>
            </a:r>
            <a:pPr algn="r" indent="0" marL="0">
              <a:buNone/>
            </a:pPr>
            <a:r>
              <a:rPr lang="ar-SA" altLang="en-US" sz="2000" b="1" dirty="0">
                <a:solidFill>
                  <a:srgbClr val="FFFFFF"/>
                </a:solidFill>
                <a:latin typeface="Cairo" pitchFamily="34" charset="0"/>
                <a:ea typeface="Cairo" pitchFamily="34" charset="-122"/>
                <a:cs typeface="Cairo" pitchFamily="34" charset="-120"/>
              </a:rPr>
              <a:t>الذكاء الاصطناعي أداة رائعة للأفكار والمراجعة، لكن الكتابة النهائية لكِ، ومن استخدمته تذكر ذلك آخر الورقة</a:t>
            </a:r>
            <a:pPr algn="r" indent="0" marL="0">
              <a:buNone/>
            </a:pPr>
            <a:r>
              <a:rPr lang="ar-SA" altLang="en-US" sz="2000" b="1" dirty="0">
                <a:solidFill>
                  <a:srgbClr val="D9AE4B"/>
                </a:solidFill>
                <a:latin typeface="Cairo" pitchFamily="34" charset="0"/>
                <a:ea typeface="Cairo" pitchFamily="34" charset="-122"/>
                <a:cs typeface="Cairo" pitchFamily="34" charset="-120"/>
              </a:rPr>
              <a:t> »</a:t>
            </a:r>
            <a:endParaRPr lang="ar-SA" sz="2000" dirty="0"/>
          </a:p>
        </p:txBody>
      </p:sp>
      <p:sp>
        <p:nvSpPr>
          <p:cNvPr id="13" name="anim-g3-1963"/>
          <p:cNvSpPr/>
          <p:nvPr/>
        </p:nvSpPr>
        <p:spPr>
          <a:xfrm>
            <a:off x="9768535" y="4355592"/>
            <a:ext cx="1600200" cy="819912"/>
          </a:xfrm>
          <a:prstGeom prst="roundRect">
            <a:avLst>
              <a:gd name="adj" fmla="val 16729"/>
            </a:avLst>
          </a:prstGeom>
          <a:solidFill>
            <a:srgbClr val="E9EDF9"/>
          </a:solidFill>
          <a:ln/>
        </p:spPr>
      </p:sp>
      <p:sp>
        <p:nvSpPr>
          <p:cNvPr id="14" name="anim-g3-1964"/>
          <p:cNvSpPr/>
          <p:nvPr/>
        </p:nvSpPr>
        <p:spPr>
          <a:xfrm>
            <a:off x="9814255" y="4355592"/>
            <a:ext cx="1508760" cy="81991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عند الاعتراف</a:t>
            </a:r>
            <a:endParaRPr lang="ar-SA" sz="1800" dirty="0"/>
          </a:p>
        </p:txBody>
      </p:sp>
      <p:sp>
        <p:nvSpPr>
          <p:cNvPr id="15" name="anim-g3-1965"/>
          <p:cNvSpPr/>
          <p:nvPr/>
        </p:nvSpPr>
        <p:spPr>
          <a:xfrm>
            <a:off x="822960" y="4282440"/>
            <a:ext cx="8716975" cy="966216"/>
          </a:xfrm>
          <a:prstGeom prst="roundRect">
            <a:avLst>
              <a:gd name="adj" fmla="val 20820"/>
            </a:avLst>
          </a:prstGeom>
          <a:solidFill>
            <a:srgbClr val="101B45"/>
          </a:solidFill>
          <a:ln/>
        </p:spPr>
      </p:sp>
      <p:sp>
        <p:nvSpPr>
          <p:cNvPr id="16" name="anim-g3-1966"/>
          <p:cNvSpPr/>
          <p:nvPr/>
        </p:nvSpPr>
        <p:spPr>
          <a:xfrm>
            <a:off x="1097280" y="4282440"/>
            <a:ext cx="8168335" cy="966216"/>
          </a:xfrm>
          <a:prstGeom prst="rect">
            <a:avLst/>
          </a:prstGeom>
          <a:noFill/>
          <a:ln/>
        </p:spPr>
        <p:txBody>
          <a:bodyPr wrap="square" lIns="0" tIns="0" rIns="0" bIns="0" rtlCol="0" anchor="ctr">
            <a:normAutofit/>
          </a:bodyPr>
          <a:lstStyle/>
          <a:p>
            <a:pPr algn="r" indent="0" marL="0">
              <a:buNone/>
            </a:pPr>
            <a:r>
              <a:rPr lang="ar-SA" altLang="en-US" sz="2400" b="1" dirty="0">
                <a:solidFill>
                  <a:srgbClr val="D9AE4B"/>
                </a:solidFill>
                <a:latin typeface="Cairo" pitchFamily="34" charset="0"/>
                <a:ea typeface="Cairo" pitchFamily="34" charset="-122"/>
                <a:cs typeface="Cairo" pitchFamily="34" charset="-120"/>
              </a:rPr>
              <a:t>« </a:t>
            </a:r>
            <a:pPr algn="r" indent="0" marL="0">
              <a:buNone/>
            </a:pPr>
            <a:r>
              <a:rPr lang="ar-SA" altLang="en-US" sz="2400" b="1" dirty="0">
                <a:solidFill>
                  <a:srgbClr val="FFFFFF"/>
                </a:solidFill>
                <a:latin typeface="Cairo" pitchFamily="34" charset="0"/>
                <a:ea typeface="Cairo" pitchFamily="34" charset="-122"/>
                <a:cs typeface="Cairo" pitchFamily="34" charset="-120"/>
              </a:rPr>
              <a:t>شكرًا لصدقك. أعيدي كتابته بصوتك، وسأقيّمه من جديد</a:t>
            </a:r>
            <a:pPr algn="r" indent="0" marL="0">
              <a:buNone/>
            </a:pPr>
            <a:r>
              <a:rPr lang="ar-SA" altLang="en-US" sz="2400" b="1" dirty="0">
                <a:solidFill>
                  <a:srgbClr val="D9AE4B"/>
                </a:solidFill>
                <a:latin typeface="Cairo" pitchFamily="34" charset="0"/>
                <a:ea typeface="Cairo" pitchFamily="34" charset="-122"/>
                <a:cs typeface="Cairo" pitchFamily="34" charset="-120"/>
              </a:rPr>
              <a:t> »</a:t>
            </a:r>
            <a:endParaRPr lang="ar-SA" sz="2400" dirty="0"/>
          </a:p>
        </p:txBody>
      </p:sp>
      <p:sp>
        <p:nvSpPr>
          <p:cNvPr id="17" name="anim-g4-1967"/>
          <p:cNvSpPr/>
          <p:nvPr/>
        </p:nvSpPr>
        <p:spPr>
          <a:xfrm>
            <a:off x="822960" y="5532120"/>
            <a:ext cx="10545775" cy="548640"/>
          </a:xfrm>
          <a:prstGeom prst="roundRect">
            <a:avLst>
              <a:gd name="adj" fmla="val 20000"/>
            </a:avLst>
          </a:prstGeom>
          <a:solidFill>
            <a:srgbClr val="FBECEC"/>
          </a:solidFill>
          <a:ln/>
        </p:spPr>
      </p:sp>
      <p:sp>
        <p:nvSpPr>
          <p:cNvPr id="18" name="anim-g4-1968"/>
          <p:cNvSpPr/>
          <p:nvPr/>
        </p:nvSpPr>
        <p:spPr>
          <a:xfrm>
            <a:off x="11295583" y="5532120"/>
            <a:ext cx="73152" cy="548640"/>
          </a:xfrm>
          <a:prstGeom prst="rect">
            <a:avLst/>
          </a:prstGeom>
          <a:solidFill>
            <a:srgbClr val="D64545"/>
          </a:solidFill>
          <a:ln/>
        </p:spPr>
      </p:sp>
      <p:sp>
        <p:nvSpPr>
          <p:cNvPr id="19" name="anim-g4-1969"/>
          <p:cNvSpPr/>
          <p:nvPr/>
        </p:nvSpPr>
        <p:spPr>
          <a:xfrm>
            <a:off x="1005840" y="5532120"/>
            <a:ext cx="10088575" cy="548640"/>
          </a:xfrm>
          <a:prstGeom prst="rect">
            <a:avLst/>
          </a:prstGeom>
          <a:noFill/>
          <a:ln/>
        </p:spPr>
        <p:txBody>
          <a:bodyPr wrap="square" lIns="0" tIns="0" rIns="0" bIns="0" rtlCol="0" anchor="ctr">
            <a:normAutofit/>
          </a:bodyPr>
          <a:lstStyle/>
          <a:p>
            <a:pPr rtl="1" algn="r" indent="0" marL="0">
              <a:buNone/>
            </a:pPr>
            <a:r>
              <a:rPr lang="ar-SA" altLang="en-US" sz="1900" b="1" dirty="0">
                <a:solidFill>
                  <a:srgbClr val="8E2A2A"/>
                </a:solidFill>
                <a:latin typeface="Cairo" pitchFamily="34" charset="0"/>
                <a:ea typeface="Cairo" pitchFamily="34" charset="-122"/>
                <a:cs typeface="Cairo" pitchFamily="34" charset="-120"/>
              </a:rPr>
              <a:t>⚠️ تجنّب: الاتهام دون دليل — أدوات كشف الذكاء الاصطناعي ليست دقيقة دائمًا</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واجب بلا بصمة  ·  ١٧١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72.xml><?xml version="1.0" encoding="utf-8"?>
<p:sld xmlns:a="http://schemas.openxmlformats.org/drawingml/2006/main" xmlns:r="http://schemas.openxmlformats.org/officeDocument/2006/relationships" xmlns:p="http://schemas.openxmlformats.org/presentationml/2006/main">
  <p:cSld name="Slide 172">
    <p:spTree>
      <p:nvGrpSpPr>
        <p:cNvPr id="1" name=""/>
        <p:cNvGrpSpPr/>
        <p:nvPr/>
      </p:nvGrpSpPr>
      <p:grpSpPr>
        <a:xfrm>
          <a:off x="0" y="0"/>
          <a:ext cx="0" cy="0"/>
          <a:chOff x="0" y="0"/>
          <a:chExt cx="0" cy="0"/>
        </a:xfrm>
      </p:grpSpPr>
      <p:pic>
        <p:nvPicPr>
          <p:cNvPr id="2" name="Image 0" descr="/Users/mac/Desktop/أردوينو/المشاريع والكتب/younes-training/mawaqif/.pptx-cache/s17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5486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أخطاء شائعة… وبدائلها</a:t>
            </a:r>
            <a:endParaRPr lang="ar-SA" sz="3800" dirty="0"/>
          </a:p>
        </p:txBody>
      </p:sp>
      <p:sp>
        <p:nvSpPr>
          <p:cNvPr id="3" name="Text 1"/>
          <p:cNvSpPr/>
          <p:nvPr/>
        </p:nvSpPr>
        <p:spPr>
          <a:xfrm>
            <a:off x="6415888"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D64545"/>
                </a:solidFill>
                <a:latin typeface="Cairo Black" pitchFamily="34" charset="0"/>
                <a:ea typeface="Cairo Black" pitchFamily="34" charset="-122"/>
                <a:cs typeface="Cairo Black" pitchFamily="34" charset="-120"/>
              </a:rPr>
              <a:t>❌ الخطأ الشائع</a:t>
            </a:r>
            <a:endParaRPr lang="ar-SA" sz="2100" dirty="0"/>
          </a:p>
        </p:txBody>
      </p:sp>
      <p:sp>
        <p:nvSpPr>
          <p:cNvPr id="4" name="Text 2"/>
          <p:cNvSpPr/>
          <p:nvPr/>
        </p:nvSpPr>
        <p:spPr>
          <a:xfrm>
            <a:off x="822960"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2E9E6B"/>
                </a:solidFill>
                <a:latin typeface="Cairo Black" pitchFamily="34" charset="0"/>
                <a:ea typeface="Cairo Black" pitchFamily="34" charset="-122"/>
                <a:cs typeface="Cairo Black" pitchFamily="34" charset="-120"/>
              </a:rPr>
              <a:t>✅ البديل</a:t>
            </a:r>
            <a:endParaRPr lang="ar-SA" sz="2100" dirty="0"/>
          </a:p>
        </p:txBody>
      </p:sp>
      <p:sp>
        <p:nvSpPr>
          <p:cNvPr id="5" name="anim-g1-1970"/>
          <p:cNvSpPr/>
          <p:nvPr/>
        </p:nvSpPr>
        <p:spPr>
          <a:xfrm>
            <a:off x="6415888" y="2194560"/>
            <a:ext cx="4952848" cy="804672"/>
          </a:xfrm>
          <a:prstGeom prst="roundRect">
            <a:avLst>
              <a:gd name="adj" fmla="val 15909"/>
            </a:avLst>
          </a:prstGeom>
          <a:solidFill>
            <a:srgbClr val="FBECEC"/>
          </a:solidFill>
          <a:ln/>
        </p:spPr>
      </p:sp>
      <p:sp>
        <p:nvSpPr>
          <p:cNvPr id="6" name="anim-g1-1971"/>
          <p:cNvSpPr/>
          <p:nvPr/>
        </p:nvSpPr>
        <p:spPr>
          <a:xfrm>
            <a:off x="6644488"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اتهام الطالبة أمام زميلاتها</a:t>
            </a:r>
            <a:endParaRPr lang="ar-SA" sz="2200" dirty="0"/>
          </a:p>
        </p:txBody>
      </p:sp>
      <p:sp>
        <p:nvSpPr>
          <p:cNvPr id="7" name="anim-g1-1972"/>
          <p:cNvSpPr/>
          <p:nvPr/>
        </p:nvSpPr>
        <p:spPr>
          <a:xfrm>
            <a:off x="822960" y="2194560"/>
            <a:ext cx="4952848" cy="804672"/>
          </a:xfrm>
          <a:prstGeom prst="roundRect">
            <a:avLst>
              <a:gd name="adj" fmla="val 15909"/>
            </a:avLst>
          </a:prstGeom>
          <a:solidFill>
            <a:srgbClr val="FFFFFF"/>
          </a:solidFill>
          <a:ln w="19050">
            <a:solidFill>
              <a:srgbClr val="BFD9CB"/>
            </a:solidFill>
            <a:prstDash val="dash"/>
          </a:ln>
        </p:spPr>
      </p:sp>
      <p:sp>
        <p:nvSpPr>
          <p:cNvPr id="8" name="anim-g1-1973"/>
          <p:cNvSpPr/>
          <p:nvPr/>
        </p:nvSpPr>
        <p:spPr>
          <a:xfrm>
            <a:off x="822960" y="219456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9" name="anim-g2-1974"/>
          <p:cNvSpPr/>
          <p:nvPr/>
        </p:nvSpPr>
        <p:spPr>
          <a:xfrm>
            <a:off x="5775808" y="219456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0" name="anim-g2-1975"/>
          <p:cNvSpPr/>
          <p:nvPr/>
        </p:nvSpPr>
        <p:spPr>
          <a:xfrm>
            <a:off x="822960" y="2194560"/>
            <a:ext cx="4952848" cy="804672"/>
          </a:xfrm>
          <a:prstGeom prst="roundRect">
            <a:avLst>
              <a:gd name="adj" fmla="val 15909"/>
            </a:avLst>
          </a:prstGeom>
          <a:solidFill>
            <a:srgbClr val="E6F4EC"/>
          </a:solidFill>
          <a:ln/>
        </p:spPr>
      </p:sp>
      <p:sp>
        <p:nvSpPr>
          <p:cNvPr id="11" name="anim-g2-1976"/>
          <p:cNvSpPr/>
          <p:nvPr/>
        </p:nvSpPr>
        <p:spPr>
          <a:xfrm>
            <a:off x="1051560"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حوار خاص يكشف مدى فهمها</a:t>
            </a:r>
            <a:endParaRPr lang="ar-SA" sz="2200" dirty="0"/>
          </a:p>
        </p:txBody>
      </p:sp>
      <p:sp>
        <p:nvSpPr>
          <p:cNvPr id="12" name="anim-g3-1977"/>
          <p:cNvSpPr/>
          <p:nvPr/>
        </p:nvSpPr>
        <p:spPr>
          <a:xfrm>
            <a:off x="6415888" y="3154680"/>
            <a:ext cx="4952848" cy="804672"/>
          </a:xfrm>
          <a:prstGeom prst="roundRect">
            <a:avLst>
              <a:gd name="adj" fmla="val 15909"/>
            </a:avLst>
          </a:prstGeom>
          <a:solidFill>
            <a:srgbClr val="FBECEC"/>
          </a:solidFill>
          <a:ln/>
        </p:spPr>
      </p:sp>
      <p:sp>
        <p:nvSpPr>
          <p:cNvPr id="13" name="anim-g3-1978"/>
          <p:cNvSpPr/>
          <p:nvPr/>
        </p:nvSpPr>
        <p:spPr>
          <a:xfrm>
            <a:off x="6644488"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منع التقنية كليًا</a:t>
            </a:r>
            <a:endParaRPr lang="ar-SA" sz="2200" dirty="0"/>
          </a:p>
        </p:txBody>
      </p:sp>
      <p:sp>
        <p:nvSpPr>
          <p:cNvPr id="14" name="anim-g3-1979"/>
          <p:cNvSpPr/>
          <p:nvPr/>
        </p:nvSpPr>
        <p:spPr>
          <a:xfrm>
            <a:off x="822960" y="3154680"/>
            <a:ext cx="4952848" cy="804672"/>
          </a:xfrm>
          <a:prstGeom prst="roundRect">
            <a:avLst>
              <a:gd name="adj" fmla="val 15909"/>
            </a:avLst>
          </a:prstGeom>
          <a:solidFill>
            <a:srgbClr val="FFFFFF"/>
          </a:solidFill>
          <a:ln w="19050">
            <a:solidFill>
              <a:srgbClr val="BFD9CB"/>
            </a:solidFill>
            <a:prstDash val="dash"/>
          </a:ln>
        </p:spPr>
      </p:sp>
      <p:sp>
        <p:nvSpPr>
          <p:cNvPr id="15" name="anim-g3-1980"/>
          <p:cNvSpPr/>
          <p:nvPr/>
        </p:nvSpPr>
        <p:spPr>
          <a:xfrm>
            <a:off x="822960" y="315468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16" name="anim-g4-1981"/>
          <p:cNvSpPr/>
          <p:nvPr/>
        </p:nvSpPr>
        <p:spPr>
          <a:xfrm>
            <a:off x="5775808" y="315468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7" name="anim-g4-1982"/>
          <p:cNvSpPr/>
          <p:nvPr/>
        </p:nvSpPr>
        <p:spPr>
          <a:xfrm>
            <a:off x="822960" y="3154680"/>
            <a:ext cx="4952848" cy="804672"/>
          </a:xfrm>
          <a:prstGeom prst="roundRect">
            <a:avLst>
              <a:gd name="adj" fmla="val 15909"/>
            </a:avLst>
          </a:prstGeom>
          <a:solidFill>
            <a:srgbClr val="E6F4EC"/>
          </a:solidFill>
          <a:ln/>
        </p:spPr>
      </p:sp>
      <p:sp>
        <p:nvSpPr>
          <p:cNvPr id="18" name="anim-g4-1983"/>
          <p:cNvSpPr/>
          <p:nvPr/>
        </p:nvSpPr>
        <p:spPr>
          <a:xfrm>
            <a:off x="1051560"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قاعدة واضحة للاستخدام المسموح</a:t>
            </a:r>
            <a:endParaRPr lang="ar-SA" sz="2200" dirty="0"/>
          </a:p>
        </p:txBody>
      </p:sp>
      <p:sp>
        <p:nvSpPr>
          <p:cNvPr id="19" name="anim-g5-1984"/>
          <p:cNvSpPr/>
          <p:nvPr/>
        </p:nvSpPr>
        <p:spPr>
          <a:xfrm>
            <a:off x="6415888" y="4114800"/>
            <a:ext cx="4952848" cy="804672"/>
          </a:xfrm>
          <a:prstGeom prst="roundRect">
            <a:avLst>
              <a:gd name="adj" fmla="val 15909"/>
            </a:avLst>
          </a:prstGeom>
          <a:solidFill>
            <a:srgbClr val="FBECEC"/>
          </a:solidFill>
          <a:ln/>
        </p:spPr>
      </p:sp>
      <p:sp>
        <p:nvSpPr>
          <p:cNvPr id="20" name="anim-g5-1985"/>
          <p:cNvSpPr/>
          <p:nvPr/>
        </p:nvSpPr>
        <p:spPr>
          <a:xfrm>
            <a:off x="6644488"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واجبات عامة قابلة للنسخ</a:t>
            </a:r>
            <a:endParaRPr lang="ar-SA" sz="2200" dirty="0"/>
          </a:p>
        </p:txBody>
      </p:sp>
      <p:sp>
        <p:nvSpPr>
          <p:cNvPr id="21" name="anim-g5-1986"/>
          <p:cNvSpPr/>
          <p:nvPr/>
        </p:nvSpPr>
        <p:spPr>
          <a:xfrm>
            <a:off x="822960" y="4114800"/>
            <a:ext cx="4952848" cy="804672"/>
          </a:xfrm>
          <a:prstGeom prst="roundRect">
            <a:avLst>
              <a:gd name="adj" fmla="val 15909"/>
            </a:avLst>
          </a:prstGeom>
          <a:solidFill>
            <a:srgbClr val="FFFFFF"/>
          </a:solidFill>
          <a:ln w="19050">
            <a:solidFill>
              <a:srgbClr val="BFD9CB"/>
            </a:solidFill>
            <a:prstDash val="dash"/>
          </a:ln>
        </p:spPr>
      </p:sp>
      <p:sp>
        <p:nvSpPr>
          <p:cNvPr id="22" name="anim-g5-1987"/>
          <p:cNvSpPr/>
          <p:nvPr/>
        </p:nvSpPr>
        <p:spPr>
          <a:xfrm>
            <a:off x="822960" y="411480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23" name="anim-g6-1988"/>
          <p:cNvSpPr/>
          <p:nvPr/>
        </p:nvSpPr>
        <p:spPr>
          <a:xfrm>
            <a:off x="5775808" y="411480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24" name="anim-g6-1989"/>
          <p:cNvSpPr/>
          <p:nvPr/>
        </p:nvSpPr>
        <p:spPr>
          <a:xfrm>
            <a:off x="822960" y="4114800"/>
            <a:ext cx="4952848" cy="804672"/>
          </a:xfrm>
          <a:prstGeom prst="roundRect">
            <a:avLst>
              <a:gd name="adj" fmla="val 15909"/>
            </a:avLst>
          </a:prstGeom>
          <a:solidFill>
            <a:srgbClr val="E6F4EC"/>
          </a:solidFill>
          <a:ln/>
        </p:spPr>
      </p:sp>
      <p:sp>
        <p:nvSpPr>
          <p:cNvPr id="25" name="anim-g6-1990"/>
          <p:cNvSpPr/>
          <p:nvPr/>
        </p:nvSpPr>
        <p:spPr>
          <a:xfrm>
            <a:off x="1051560"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واجبات شخصية بمراحل وتقديم شفهي</a:t>
            </a:r>
            <a:endParaRPr lang="ar-SA" sz="2200" dirty="0"/>
          </a:p>
        </p:txBody>
      </p:sp>
      <p:sp>
        <p:nvSpPr>
          <p:cNvPr id="26" name="anim-g7-1991"/>
          <p:cNvSpPr/>
          <p:nvPr/>
        </p:nvSpPr>
        <p:spPr>
          <a:xfrm>
            <a:off x="6415888" y="5074920"/>
            <a:ext cx="4952848" cy="804672"/>
          </a:xfrm>
          <a:prstGeom prst="roundRect">
            <a:avLst>
              <a:gd name="adj" fmla="val 15909"/>
            </a:avLst>
          </a:prstGeom>
          <a:solidFill>
            <a:srgbClr val="FBECEC"/>
          </a:solidFill>
          <a:ln/>
        </p:spPr>
      </p:sp>
      <p:sp>
        <p:nvSpPr>
          <p:cNvPr id="27" name="anim-g7-1992"/>
          <p:cNvSpPr/>
          <p:nvPr/>
        </p:nvSpPr>
        <p:spPr>
          <a:xfrm>
            <a:off x="6644488" y="507492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الاعتماد على أدوات الكشف وحدها</a:t>
            </a:r>
            <a:endParaRPr lang="ar-SA" sz="2200" dirty="0"/>
          </a:p>
        </p:txBody>
      </p:sp>
      <p:sp>
        <p:nvSpPr>
          <p:cNvPr id="28" name="anim-g7-1993"/>
          <p:cNvSpPr/>
          <p:nvPr/>
        </p:nvSpPr>
        <p:spPr>
          <a:xfrm>
            <a:off x="822960" y="5074920"/>
            <a:ext cx="4952848" cy="804672"/>
          </a:xfrm>
          <a:prstGeom prst="roundRect">
            <a:avLst>
              <a:gd name="adj" fmla="val 15909"/>
            </a:avLst>
          </a:prstGeom>
          <a:solidFill>
            <a:srgbClr val="FFFFFF"/>
          </a:solidFill>
          <a:ln w="19050">
            <a:solidFill>
              <a:srgbClr val="BFD9CB"/>
            </a:solidFill>
            <a:prstDash val="dash"/>
          </a:ln>
        </p:spPr>
      </p:sp>
      <p:sp>
        <p:nvSpPr>
          <p:cNvPr id="29" name="anim-g7-1994"/>
          <p:cNvSpPr/>
          <p:nvPr/>
        </p:nvSpPr>
        <p:spPr>
          <a:xfrm>
            <a:off x="822960" y="507492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30" name="anim-g8-1995"/>
          <p:cNvSpPr/>
          <p:nvPr/>
        </p:nvSpPr>
        <p:spPr>
          <a:xfrm>
            <a:off x="5775808" y="507492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31" name="anim-g8-1996"/>
          <p:cNvSpPr/>
          <p:nvPr/>
        </p:nvSpPr>
        <p:spPr>
          <a:xfrm>
            <a:off x="822960" y="5074920"/>
            <a:ext cx="4952848" cy="804672"/>
          </a:xfrm>
          <a:prstGeom prst="roundRect">
            <a:avLst>
              <a:gd name="adj" fmla="val 15909"/>
            </a:avLst>
          </a:prstGeom>
          <a:solidFill>
            <a:srgbClr val="E6F4EC"/>
          </a:solidFill>
          <a:ln/>
        </p:spPr>
      </p:sp>
      <p:sp>
        <p:nvSpPr>
          <p:cNvPr id="32" name="anim-g8-1997"/>
          <p:cNvSpPr/>
          <p:nvPr/>
        </p:nvSpPr>
        <p:spPr>
          <a:xfrm>
            <a:off x="1051560" y="507492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معرفتك بأسلوب طالبتك أدق دليل</a:t>
            </a:r>
            <a:endParaRPr lang="ar-SA" sz="2200" dirty="0"/>
          </a:p>
        </p:txBody>
      </p:sp>
      <p:sp>
        <p:nvSpPr>
          <p:cNvPr id="33" name="Text 31"/>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34" name="Text 32"/>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واجب بلا بصمة  ·  ١٧٣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0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400"/>
                                        <p:tgtEl>
                                          <p:spTgt spid="1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400"/>
                                        <p:tgtEl>
                                          <p:spTgt spid="2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400"/>
                                        <p:tgtEl>
                                          <p:spTgt spid="2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400"/>
                                        <p:tgtEl>
                                          <p:spTgt spid="2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400"/>
                                        <p:tgtEl>
                                          <p:spTgt spid="25"/>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26"/>
                                        </p:tgtEl>
                                        <p:attrNameLst>
                                          <p:attrName>style.visibility</p:attrName>
                                        </p:attrNameLst>
                                      </p:cBhvr>
                                      <p:to>
                                        <p:strVal val="visible"/>
                                      </p:to>
                                    </p:set>
                                    <p:animEffect transition="in" filter="fade">
                                      <p:cBhvr>
                                        <p:cTn id="82" dur="400"/>
                                        <p:tgtEl>
                                          <p:spTgt spid="26"/>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7"/>
                                        </p:tgtEl>
                                        <p:attrNameLst>
                                          <p:attrName>style.visibility</p:attrName>
                                        </p:attrNameLst>
                                      </p:cBhvr>
                                      <p:to>
                                        <p:strVal val="visible"/>
                                      </p:to>
                                    </p:set>
                                    <p:animEffect transition="in" filter="fade">
                                      <p:cBhvr>
                                        <p:cTn id="85" dur="400"/>
                                        <p:tgtEl>
                                          <p:spTgt spid="27"/>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8"/>
                                        </p:tgtEl>
                                        <p:attrNameLst>
                                          <p:attrName>style.visibility</p:attrName>
                                        </p:attrNameLst>
                                      </p:cBhvr>
                                      <p:to>
                                        <p:strVal val="visible"/>
                                      </p:to>
                                    </p:set>
                                    <p:animEffect transition="in" filter="fade">
                                      <p:cBhvr>
                                        <p:cTn id="88" dur="400"/>
                                        <p:tgtEl>
                                          <p:spTgt spid="28"/>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29"/>
                                        </p:tgtEl>
                                        <p:attrNameLst>
                                          <p:attrName>style.visibility</p:attrName>
                                        </p:attrNameLst>
                                      </p:cBhvr>
                                      <p:to>
                                        <p:strVal val="visible"/>
                                      </p:to>
                                    </p:set>
                                    <p:animEffect transition="in" filter="fade">
                                      <p:cBhvr>
                                        <p:cTn id="91" dur="400"/>
                                        <p:tgtEl>
                                          <p:spTgt spid="29"/>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30"/>
                                        </p:tgtEl>
                                        <p:attrNameLst>
                                          <p:attrName>style.visibility</p:attrName>
                                        </p:attrNameLst>
                                      </p:cBhvr>
                                      <p:to>
                                        <p:strVal val="visible"/>
                                      </p:to>
                                    </p:set>
                                    <p:animEffect transition="in" filter="fade">
                                      <p:cBhvr>
                                        <p:cTn id="96" dur="400"/>
                                        <p:tgtEl>
                                          <p:spTgt spid="30"/>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1"/>
                                        </p:tgtEl>
                                        <p:attrNameLst>
                                          <p:attrName>style.visibility</p:attrName>
                                        </p:attrNameLst>
                                      </p:cBhvr>
                                      <p:to>
                                        <p:strVal val="visible"/>
                                      </p:to>
                                    </p:set>
                                    <p:animEffect transition="in" filter="fade">
                                      <p:cBhvr>
                                        <p:cTn id="99" dur="400"/>
                                        <p:tgtEl>
                                          <p:spTgt spid="31"/>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2"/>
                                        </p:tgtEl>
                                        <p:attrNameLst>
                                          <p:attrName>style.visibility</p:attrName>
                                        </p:attrNameLst>
                                      </p:cBhvr>
                                      <p:to>
                                        <p:strVal val="visible"/>
                                      </p:to>
                                    </p:set>
                                    <p:animEffect transition="in" filter="fade">
                                      <p:cBhvr>
                                        <p:cTn id="102"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Lst>
  </p:timing>
</p:sld>
</file>

<file path=ppt/slides/slide174.xml><?xml version="1.0" encoding="utf-8"?>
<p:sld xmlns:a="http://schemas.openxmlformats.org/drawingml/2006/main" xmlns:r="http://schemas.openxmlformats.org/officeDocument/2006/relationships" xmlns:p="http://schemas.openxmlformats.org/presentationml/2006/main">
  <p:cSld name="Slide 17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الموقف</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لا تحارب الأداة…</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علّم النزاهة في استخدامها</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موقف: واجب بلا بصمة  ·  ١٧٤</a:t>
            </a:r>
            <a:endParaRPr lang="ar-SA" sz="1200" dirty="0"/>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kb-1998" descr="/Users/mac/Desktop/أردوينو/المشاريع والكتب/younes-training/mawaqif/assets/scenes/whatsapp.jpg">    </p:cNvPr>
          <p:cNvPicPr>
            <a:picLocks noChangeAspect="1"/>
          </p:cNvPicPr>
          <p:nvPr/>
        </p:nvPicPr>
        <p:blipFill>
          <a:blip r:embed="rId2"/>
          <a:stretch>
            <a:fillRect/>
          </a:stretch>
        </p:blipFill>
        <p:spPr>
          <a:xfrm>
            <a:off x="0" y="0"/>
            <a:ext cx="12191695" cy="6858000"/>
          </a:xfrm>
          <a:prstGeom prst="rect">
            <a:avLst/>
          </a:prstGeom>
        </p:spPr>
      </p:pic>
      <p:pic>
        <p:nvPicPr>
          <p:cNvPr id="3" name="Image 1" descr="/Users/mac/Desktop/أردوينو/المشاريع والكتب/younes-training/shared/assets/mcover-overlay.png">    </p:cNvPr>
          <p:cNvPicPr>
            <a:picLocks noChangeAspect="1"/>
          </p:cNvPicPr>
          <p:nvPr/>
        </p:nvPicPr>
        <p:blipFill>
          <a:blip r:embed="rId3"/>
          <a:stretch>
            <a:fillRect/>
          </a:stretch>
        </p:blipFill>
        <p:spPr>
          <a:xfrm>
            <a:off x="0" y="0"/>
            <a:ext cx="12191695" cy="6858000"/>
          </a:xfrm>
          <a:prstGeom prst="rect">
            <a:avLst/>
          </a:prstGeom>
        </p:spPr>
      </p:pic>
      <p:sp>
        <p:nvSpPr>
          <p:cNvPr id="4" name="Text 0"/>
          <p:cNvSpPr/>
          <p:nvPr/>
        </p:nvSpPr>
        <p:spPr>
          <a:xfrm>
            <a:off x="5669280" y="1737360"/>
            <a:ext cx="5699455" cy="502920"/>
          </a:xfrm>
          <a:prstGeom prst="rect">
            <a:avLst/>
          </a:prstGeom>
          <a:noFill/>
          <a:ln/>
        </p:spPr>
        <p:txBody>
          <a:bodyPr wrap="square" lIns="0" tIns="0" rIns="0" bIns="0" rtlCol="0" anchor="ctr">
            <a:normAutofit/>
          </a:bodyPr>
          <a:lstStyle/>
          <a:p>
            <a:pPr rtl="1" algn="r" indent="0" marL="0">
              <a:buNone/>
            </a:pPr>
            <a:r>
              <a:rPr lang="ar-SA" altLang="en-US" sz="2200" b="1" dirty="0">
                <a:solidFill>
                  <a:srgbClr val="D9AE4B"/>
                </a:solidFill>
                <a:latin typeface="Cairo" pitchFamily="34" charset="0"/>
                <a:ea typeface="Cairo" pitchFamily="34" charset="-122"/>
                <a:cs typeface="Cairo" pitchFamily="34" charset="-120"/>
              </a:rPr>
              <a:t>مواقف العصر الرقمي</a:t>
            </a:r>
            <a:endParaRPr lang="ar-SA" sz="2200" dirty="0"/>
          </a:p>
        </p:txBody>
      </p:sp>
      <p:sp>
        <p:nvSpPr>
          <p:cNvPr id="5" name="Text 1"/>
          <p:cNvSpPr/>
          <p:nvPr/>
        </p:nvSpPr>
        <p:spPr>
          <a:xfrm>
            <a:off x="5669280" y="2286000"/>
            <a:ext cx="5699455" cy="548640"/>
          </a:xfrm>
          <a:prstGeom prst="rect">
            <a:avLst/>
          </a:prstGeom>
          <a:noFill/>
          <a:ln/>
        </p:spPr>
        <p:txBody>
          <a:bodyPr wrap="square" lIns="0" tIns="0" rIns="0" bIns="0" rtlCol="0" anchor="ctr">
            <a:normAutofit/>
          </a:bodyPr>
          <a:lstStyle/>
          <a:p>
            <a:pPr rtl="1" algn="r" indent="0" marL="0">
              <a:buNone/>
            </a:pPr>
            <a:r>
              <a:rPr lang="ar-SA" altLang="en-US" sz="2600" b="1" dirty="0">
                <a:solidFill>
                  <a:srgbClr val="C9CFE6"/>
                </a:solidFill>
                <a:latin typeface="Cairo" pitchFamily="34" charset="0"/>
                <a:ea typeface="Cairo" pitchFamily="34" charset="-122"/>
                <a:cs typeface="Cairo" pitchFamily="34" charset="-120"/>
              </a:rPr>
              <a:t>الموقف ١٤</a:t>
            </a:r>
            <a:endParaRPr lang="ar-SA" sz="2600" dirty="0"/>
          </a:p>
        </p:txBody>
      </p:sp>
      <p:sp>
        <p:nvSpPr>
          <p:cNvPr id="6" name="Text 2"/>
          <p:cNvSpPr/>
          <p:nvPr/>
        </p:nvSpPr>
        <p:spPr>
          <a:xfrm>
            <a:off x="4572000" y="2834640"/>
            <a:ext cx="6796735" cy="1188720"/>
          </a:xfrm>
          <a:prstGeom prst="rect">
            <a:avLst/>
          </a:prstGeom>
          <a:noFill/>
          <a:ln/>
        </p:spPr>
        <p:txBody>
          <a:bodyPr wrap="square" lIns="0" tIns="0" rIns="0" bIns="0" rtlCol="0" anchor="ctr">
            <a:normAutofit/>
          </a:bodyPr>
          <a:lstStyle/>
          <a:p>
            <a:pPr rtl="1" algn="r" indent="0" marL="0">
              <a:buNone/>
            </a:pPr>
            <a:r>
              <a:rPr lang="ar-SA" altLang="en-US" sz="5000" dirty="0">
                <a:solidFill>
                  <a:srgbClr val="FFFFFF"/>
                </a:solidFill>
                <a:latin typeface="Cairo Black" pitchFamily="34" charset="0"/>
                <a:ea typeface="Cairo Black" pitchFamily="34" charset="-122"/>
                <a:cs typeface="Cairo Black" pitchFamily="34" charset="-120"/>
              </a:rPr>
              <a:t>رسالة في القروب</a:t>
            </a:r>
            <a:endParaRPr lang="ar-SA" sz="5000" dirty="0"/>
          </a:p>
        </p:txBody>
      </p:sp>
      <p:sp>
        <p:nvSpPr>
          <p:cNvPr id="7" name="Shape 3"/>
          <p:cNvSpPr/>
          <p:nvPr/>
        </p:nvSpPr>
        <p:spPr>
          <a:xfrm>
            <a:off x="10125151" y="4480560"/>
            <a:ext cx="1243584"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8" name="Text 4"/>
          <p:cNvSpPr/>
          <p:nvPr/>
        </p:nvSpPr>
        <p:spPr>
          <a:xfrm>
            <a:off x="10125151" y="4480560"/>
            <a:ext cx="1243584"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القصة</a:t>
            </a:r>
            <a:endParaRPr lang="ar-SA" sz="1500" dirty="0"/>
          </a:p>
        </p:txBody>
      </p:sp>
      <p:sp>
        <p:nvSpPr>
          <p:cNvPr id="9" name="Shape 5"/>
          <p:cNvSpPr/>
          <p:nvPr/>
        </p:nvSpPr>
        <p:spPr>
          <a:xfrm>
            <a:off x="8680399" y="4480560"/>
            <a:ext cx="1353312"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0" name="Text 6"/>
          <p:cNvSpPr/>
          <p:nvPr/>
        </p:nvSpPr>
        <p:spPr>
          <a:xfrm>
            <a:off x="8680399" y="4480560"/>
            <a:ext cx="1353312"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تصويت</a:t>
            </a:r>
            <a:endParaRPr lang="ar-SA" sz="1500" dirty="0"/>
          </a:p>
        </p:txBody>
      </p:sp>
      <p:sp>
        <p:nvSpPr>
          <p:cNvPr id="11" name="Shape 7"/>
          <p:cNvSpPr/>
          <p:nvPr/>
        </p:nvSpPr>
        <p:spPr>
          <a:xfrm>
            <a:off x="7235647" y="4480560"/>
            <a:ext cx="1353312"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2" name="Text 8"/>
          <p:cNvSpPr/>
          <p:nvPr/>
        </p:nvSpPr>
        <p:spPr>
          <a:xfrm>
            <a:off x="7235647" y="4480560"/>
            <a:ext cx="1353312"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لماذا؟</a:t>
            </a:r>
            <a:endParaRPr lang="ar-SA" sz="1500" dirty="0"/>
          </a:p>
        </p:txBody>
      </p:sp>
      <p:sp>
        <p:nvSpPr>
          <p:cNvPr id="13" name="Shape 9"/>
          <p:cNvSpPr/>
          <p:nvPr/>
        </p:nvSpPr>
        <p:spPr>
          <a:xfrm>
            <a:off x="5571439" y="4480560"/>
            <a:ext cx="1572768"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4" name="Text 10"/>
          <p:cNvSpPr/>
          <p:nvPr/>
        </p:nvSpPr>
        <p:spPr>
          <a:xfrm>
            <a:off x="5571439" y="4480560"/>
            <a:ext cx="1572768"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أول خطوة</a:t>
            </a:r>
            <a:endParaRPr lang="ar-SA" sz="1500" dirty="0"/>
          </a:p>
        </p:txBody>
      </p:sp>
      <p:sp>
        <p:nvSpPr>
          <p:cNvPr id="15" name="Shape 11"/>
          <p:cNvSpPr/>
          <p:nvPr/>
        </p:nvSpPr>
        <p:spPr>
          <a:xfrm>
            <a:off x="3687775" y="4480560"/>
            <a:ext cx="1792224"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6" name="Text 12"/>
          <p:cNvSpPr/>
          <p:nvPr/>
        </p:nvSpPr>
        <p:spPr>
          <a:xfrm>
            <a:off x="3687775" y="4480560"/>
            <a:ext cx="1792224"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ماذا تقول؟</a:t>
            </a:r>
            <a:endParaRPr lang="ar-SA" sz="1500" dirty="0"/>
          </a:p>
        </p:txBody>
      </p:sp>
      <p:sp>
        <p:nvSpPr>
          <p:cNvPr id="17" name="Text 1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18" name="Text 1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موقف: رسالة في القروب  ·  ١٧٥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16000" fill="hold"/>
                                        <p:tgtEl>
                                          <p:spTgt spid="2"/>
                                        </p:tgtEl>
                                      </p:cBhvr>
                                      <p:by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6.xml><?xml version="1.0" encoding="utf-8"?>
<p:sld xmlns:a="http://schemas.openxmlformats.org/drawingml/2006/main" xmlns:r="http://schemas.openxmlformats.org/officeDocument/2006/relationships" xmlns:p="http://schemas.openxmlformats.org/presentationml/2006/main">
  <p:cSld name="Slide 17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kb-1999" descr="/Users/mac/Desktop/أردوينو/المشاريع والكتب/younes-training/mawaqif/assets/scenes/whatsapp.jpg">    </p:cNvPr>
          <p:cNvPicPr>
            <a:picLocks noChangeAspect="1"/>
          </p:cNvPicPr>
          <p:nvPr/>
        </p:nvPicPr>
        <p:blipFill>
          <a:blip r:embed="rId2"/>
          <a:stretch>
            <a:fillRect/>
          </a:stretch>
        </p:blipFill>
        <p:spPr>
          <a:xfrm>
            <a:off x="0" y="0"/>
            <a:ext cx="12191695" cy="6858000"/>
          </a:xfrm>
          <a:prstGeom prst="rect">
            <a:avLst/>
          </a:prstGeom>
        </p:spPr>
      </p:pic>
      <p:pic>
        <p:nvPicPr>
          <p:cNvPr id="3" name="Image 1" descr="/Users/mac/Desktop/أردوينو/المشاريع والكتب/younes-training/shared/assets/story-overlay.png">    </p:cNvPr>
          <p:cNvPicPr>
            <a:picLocks noChangeAspect="1"/>
          </p:cNvPicPr>
          <p:nvPr/>
        </p:nvPicPr>
        <p:blipFill>
          <a:blip r:embed="rId3"/>
          <a:stretch>
            <a:fillRect/>
          </a:stretch>
        </p:blipFill>
        <p:spPr>
          <a:xfrm>
            <a:off x="0" y="0"/>
            <a:ext cx="12191695" cy="6858000"/>
          </a:xfrm>
          <a:prstGeom prst="rect">
            <a:avLst/>
          </a:prstGeom>
        </p:spPr>
      </p:pic>
      <p:sp>
        <p:nvSpPr>
          <p:cNvPr id="4" name="Shape 0"/>
          <p:cNvSpPr/>
          <p:nvPr/>
        </p:nvSpPr>
        <p:spPr>
          <a:xfrm>
            <a:off x="7985455" y="365760"/>
            <a:ext cx="3657600" cy="502920"/>
          </a:xfrm>
          <a:prstGeom prst="roundRect">
            <a:avLst>
              <a:gd name="adj" fmla="val 49091"/>
            </a:avLst>
          </a:prstGeom>
          <a:solidFill>
            <a:srgbClr val="0A1230">
              <a:alpha val="80000"/>
            </a:srgbClr>
          </a:solidFill>
          <a:ln w="12700">
            <a:solidFill>
              <a:srgbClr val="D9AE4B">
                <a:alpha val="60000"/>
              </a:srgbClr>
            </a:solidFill>
            <a:prstDash val="solid"/>
          </a:ln>
        </p:spPr>
      </p:sp>
      <p:sp>
        <p:nvSpPr>
          <p:cNvPr id="5" name="Text 1"/>
          <p:cNvSpPr/>
          <p:nvPr/>
        </p:nvSpPr>
        <p:spPr>
          <a:xfrm>
            <a:off x="7985455" y="365760"/>
            <a:ext cx="3657600" cy="50292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 القصة · ماذا حدث؟</a:t>
            </a:r>
            <a:endParaRPr lang="ar-SA" sz="1800" dirty="0"/>
          </a:p>
        </p:txBody>
      </p:sp>
      <p:sp>
        <p:nvSpPr>
          <p:cNvPr id="6" name="Shape 2"/>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7" name="Text 3"/>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في العاشرة ليلًا، كتبت إحدى الأمهات في قروب أولياء الأمور: «معلمة العلوم ظلمت ابنتي في الدرجة، وليست أول مرة!»</a:t>
            </a:r>
            <a:endParaRPr lang="ar-SA" sz="2400" dirty="0"/>
          </a:p>
        </p:txBody>
      </p:sp>
      <p:sp>
        <p:nvSpPr>
          <p:cNvPr id="8" name="anim-g1-2000"/>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9" name="anim-g1-2001"/>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انهالت الردود: من يؤيد، ومن يسأل، ومن يرسل وجوهًا متعجبة.</a:t>
            </a:r>
            <a:endParaRPr lang="ar-SA" sz="2400" dirty="0"/>
          </a:p>
        </p:txBody>
      </p:sp>
      <p:sp>
        <p:nvSpPr>
          <p:cNvPr id="10" name="anim-g2-2002"/>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11" name="anim-g2-2003"/>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قرأت أ. هند الرسائل وقلبها يخفق، وأصابعها على لوحة المفاتيح.</a:t>
            </a:r>
            <a:endParaRPr lang="ar-SA" sz="2400" dirty="0"/>
          </a:p>
        </p:txBody>
      </p:sp>
      <p:sp>
        <p:nvSpPr>
          <p:cNvPr id="12" name="anim-g3-2004"/>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13" name="anim-g3-2005"/>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600" b="1" dirty="0">
                <a:solidFill>
                  <a:srgbClr val="F0CC7A"/>
                </a:solidFill>
                <a:latin typeface="Cairo" pitchFamily="34" charset="0"/>
                <a:ea typeface="Cairo" pitchFamily="34" charset="-122"/>
                <a:cs typeface="Cairo" pitchFamily="34" charset="-120"/>
              </a:rPr>
              <a:t>ردٌّ واحد متسرّع… قد يشعل القروب كله.</a:t>
            </a:r>
            <a:endParaRPr lang="ar-SA" sz="2600" dirty="0"/>
          </a:p>
        </p:txBody>
      </p:sp>
      <p:sp>
        <p:nvSpPr>
          <p:cNvPr id="14" name="Text 1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15" name="Text 1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موقف: رسالة في القروب  ·  ١٧٦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16000" fill="hold"/>
                                        <p:tgtEl>
                                          <p:spTgt spid="2"/>
                                        </p:tgtEl>
                                      </p:cBhvr>
                                      <p:by x="112000" y="112000"/>
                                    </p:animScale>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Lst>
  </p:timing>
</p:sld>
</file>

<file path=ppt/slides/slide177.xml><?xml version="1.0" encoding="utf-8"?>
<p:sld xmlns:a="http://schemas.openxmlformats.org/drawingml/2006/main" xmlns:r="http://schemas.openxmlformats.org/officeDocument/2006/relationships" xmlns:p="http://schemas.openxmlformats.org/presentationml/2006/main">
  <p:cSld name="Slide 177">
    <p:spTree>
      <p:nvGrpSpPr>
        <p:cNvPr id="1" name=""/>
        <p:cNvGrpSpPr/>
        <p:nvPr/>
      </p:nvGrpSpPr>
      <p:grpSpPr>
        <a:xfrm>
          <a:off x="0" y="0"/>
          <a:ext cx="0" cy="0"/>
          <a:chOff x="0" y="0"/>
          <a:chExt cx="0" cy="0"/>
        </a:xfrm>
      </p:grpSpPr>
      <p:pic>
        <p:nvPicPr>
          <p:cNvPr id="2" name="Image 0" descr="/Users/mac/Desktop/أردوينو/المشاريع والكتب/younes-training/mawaqif/.pptx-cache/s17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711135" y="457200"/>
            <a:ext cx="3657600" cy="457200"/>
          </a:xfrm>
          <a:prstGeom prst="roundRect">
            <a:avLst>
              <a:gd name="adj" fmla="val 50000"/>
            </a:avLst>
          </a:prstGeom>
          <a:solidFill>
            <a:srgbClr val="F6EBCF"/>
          </a:solidFill>
          <a:ln/>
        </p:spPr>
      </p:sp>
      <p:sp>
        <p:nvSpPr>
          <p:cNvPr id="3" name="Text 1"/>
          <p:cNvSpPr/>
          <p:nvPr/>
        </p:nvSpPr>
        <p:spPr>
          <a:xfrm>
            <a:off x="7711135" y="457200"/>
            <a:ext cx="365760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وراء كل سلوك حاجة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لماذا اختارت الأم القروب؟</a:t>
            </a:r>
            <a:endParaRPr lang="ar-SA" sz="3800" dirty="0"/>
          </a:p>
        </p:txBody>
      </p:sp>
      <p:sp>
        <p:nvSpPr>
          <p:cNvPr id="5" name="anim-g1-2006"/>
          <p:cNvSpPr/>
          <p:nvPr/>
        </p:nvSpPr>
        <p:spPr>
          <a:xfrm>
            <a:off x="8903741" y="2011680"/>
            <a:ext cx="2464994" cy="2514600"/>
          </a:xfrm>
          <a:prstGeom prst="roundRect">
            <a:avLst>
              <a:gd name="adj" fmla="val 6677"/>
            </a:avLst>
          </a:prstGeom>
          <a:solidFill>
            <a:srgbClr val="FFFFFF"/>
          </a:solidFill>
          <a:ln w="12700">
            <a:solidFill>
              <a:srgbClr val="E4DCC8"/>
            </a:solidFill>
            <a:prstDash val="solid"/>
          </a:ln>
        </p:spPr>
      </p:sp>
      <p:sp>
        <p:nvSpPr>
          <p:cNvPr id="6" name="anim-g1-2007"/>
          <p:cNvSpPr/>
          <p:nvPr/>
        </p:nvSpPr>
        <p:spPr>
          <a:xfrm>
            <a:off x="9816198" y="2194560"/>
            <a:ext cx="640080" cy="640080"/>
          </a:xfrm>
          <a:prstGeom prst="roundRect">
            <a:avLst>
              <a:gd name="adj" fmla="val 25714"/>
            </a:avLst>
          </a:prstGeom>
          <a:solidFill>
            <a:srgbClr val="F7E6BC"/>
          </a:solidFill>
          <a:ln/>
        </p:spPr>
      </p:sp>
      <p:sp>
        <p:nvSpPr>
          <p:cNvPr id="7" name="anim-g1-2008"/>
          <p:cNvSpPr/>
          <p:nvPr/>
        </p:nvSpPr>
        <p:spPr>
          <a:xfrm>
            <a:off x="9816198"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8" name="anim-g1-2009"/>
          <p:cNvSpPr/>
          <p:nvPr/>
        </p:nvSpPr>
        <p:spPr>
          <a:xfrm>
            <a:off x="9040901"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انفعال</a:t>
            </a:r>
            <a:endParaRPr lang="ar-SA" sz="2200" dirty="0"/>
          </a:p>
        </p:txBody>
      </p:sp>
      <p:sp>
        <p:nvSpPr>
          <p:cNvPr id="9" name="anim-g1-2010"/>
          <p:cNvSpPr/>
          <p:nvPr/>
        </p:nvSpPr>
        <p:spPr>
          <a:xfrm>
            <a:off x="9040901"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كتبت وهي غاضبة، قبل أن تفكر</a:t>
            </a:r>
            <a:endParaRPr lang="ar-SA" sz="1900" dirty="0"/>
          </a:p>
        </p:txBody>
      </p:sp>
      <p:sp>
        <p:nvSpPr>
          <p:cNvPr id="10" name="anim-g2-2011"/>
          <p:cNvSpPr/>
          <p:nvPr/>
        </p:nvSpPr>
        <p:spPr>
          <a:xfrm>
            <a:off x="6210148" y="2011680"/>
            <a:ext cx="2464994" cy="2514600"/>
          </a:xfrm>
          <a:prstGeom prst="roundRect">
            <a:avLst>
              <a:gd name="adj" fmla="val 6677"/>
            </a:avLst>
          </a:prstGeom>
          <a:solidFill>
            <a:srgbClr val="FFFFFF"/>
          </a:solidFill>
          <a:ln w="12700">
            <a:solidFill>
              <a:srgbClr val="E4DCC8"/>
            </a:solidFill>
            <a:prstDash val="solid"/>
          </a:ln>
        </p:spPr>
      </p:sp>
      <p:sp>
        <p:nvSpPr>
          <p:cNvPr id="11" name="anim-g2-2012"/>
          <p:cNvSpPr/>
          <p:nvPr/>
        </p:nvSpPr>
        <p:spPr>
          <a:xfrm>
            <a:off x="7122604" y="2194560"/>
            <a:ext cx="640080" cy="640080"/>
          </a:xfrm>
          <a:prstGeom prst="roundRect">
            <a:avLst>
              <a:gd name="adj" fmla="val 25714"/>
            </a:avLst>
          </a:prstGeom>
          <a:solidFill>
            <a:srgbClr val="F7E6BC"/>
          </a:solidFill>
          <a:ln/>
        </p:spPr>
      </p:sp>
      <p:sp>
        <p:nvSpPr>
          <p:cNvPr id="12" name="anim-g2-2013"/>
          <p:cNvSpPr/>
          <p:nvPr/>
        </p:nvSpPr>
        <p:spPr>
          <a:xfrm>
            <a:off x="7122604"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13" name="anim-g2-2014"/>
          <p:cNvSpPr/>
          <p:nvPr/>
        </p:nvSpPr>
        <p:spPr>
          <a:xfrm>
            <a:off x="6347308"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ضغط</a:t>
            </a:r>
            <a:endParaRPr lang="ar-SA" sz="2200" dirty="0"/>
          </a:p>
        </p:txBody>
      </p:sp>
      <p:sp>
        <p:nvSpPr>
          <p:cNvPr id="14" name="anim-g2-2015"/>
          <p:cNvSpPr/>
          <p:nvPr/>
        </p:nvSpPr>
        <p:spPr>
          <a:xfrm>
            <a:off x="6347308"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تظن أن العلن يضمن الاستجابة</a:t>
            </a:r>
            <a:endParaRPr lang="ar-SA" sz="1900" dirty="0"/>
          </a:p>
        </p:txBody>
      </p:sp>
      <p:sp>
        <p:nvSpPr>
          <p:cNvPr id="15" name="anim-g3-2016"/>
          <p:cNvSpPr/>
          <p:nvPr/>
        </p:nvSpPr>
        <p:spPr>
          <a:xfrm>
            <a:off x="3516554" y="2011680"/>
            <a:ext cx="2464994" cy="2514600"/>
          </a:xfrm>
          <a:prstGeom prst="roundRect">
            <a:avLst>
              <a:gd name="adj" fmla="val 6677"/>
            </a:avLst>
          </a:prstGeom>
          <a:solidFill>
            <a:srgbClr val="FFFFFF"/>
          </a:solidFill>
          <a:ln w="12700">
            <a:solidFill>
              <a:srgbClr val="E4DCC8"/>
            </a:solidFill>
            <a:prstDash val="solid"/>
          </a:ln>
        </p:spPr>
      </p:sp>
      <p:sp>
        <p:nvSpPr>
          <p:cNvPr id="16" name="anim-g3-2017"/>
          <p:cNvSpPr/>
          <p:nvPr/>
        </p:nvSpPr>
        <p:spPr>
          <a:xfrm>
            <a:off x="4429011" y="2194560"/>
            <a:ext cx="640080" cy="640080"/>
          </a:xfrm>
          <a:prstGeom prst="roundRect">
            <a:avLst>
              <a:gd name="adj" fmla="val 25714"/>
            </a:avLst>
          </a:prstGeom>
          <a:solidFill>
            <a:srgbClr val="F7E6BC"/>
          </a:solidFill>
          <a:ln/>
        </p:spPr>
      </p:sp>
      <p:sp>
        <p:nvSpPr>
          <p:cNvPr id="17" name="anim-g3-2018"/>
          <p:cNvSpPr/>
          <p:nvPr/>
        </p:nvSpPr>
        <p:spPr>
          <a:xfrm>
            <a:off x="4429011"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18" name="anim-g3-2019"/>
          <p:cNvSpPr/>
          <p:nvPr/>
        </p:nvSpPr>
        <p:spPr>
          <a:xfrm>
            <a:off x="3653714"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غياب القناة</a:t>
            </a:r>
            <a:endParaRPr lang="ar-SA" sz="2200" dirty="0"/>
          </a:p>
        </p:txBody>
      </p:sp>
      <p:sp>
        <p:nvSpPr>
          <p:cNvPr id="19" name="anim-g3-2020"/>
          <p:cNvSpPr/>
          <p:nvPr/>
        </p:nvSpPr>
        <p:spPr>
          <a:xfrm>
            <a:off x="3653714"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لا تعرف طريقًا رسميًا للشكوى</a:t>
            </a:r>
            <a:endParaRPr lang="ar-SA" sz="1900" dirty="0"/>
          </a:p>
        </p:txBody>
      </p:sp>
      <p:sp>
        <p:nvSpPr>
          <p:cNvPr id="20" name="anim-g4-2021"/>
          <p:cNvSpPr/>
          <p:nvPr/>
        </p:nvSpPr>
        <p:spPr>
          <a:xfrm>
            <a:off x="822960" y="2011680"/>
            <a:ext cx="2464994" cy="2514600"/>
          </a:xfrm>
          <a:prstGeom prst="roundRect">
            <a:avLst>
              <a:gd name="adj" fmla="val 6677"/>
            </a:avLst>
          </a:prstGeom>
          <a:solidFill>
            <a:srgbClr val="FFFFFF"/>
          </a:solidFill>
          <a:ln w="12700">
            <a:solidFill>
              <a:srgbClr val="E4DCC8"/>
            </a:solidFill>
            <a:prstDash val="solid"/>
          </a:ln>
        </p:spPr>
      </p:sp>
      <p:sp>
        <p:nvSpPr>
          <p:cNvPr id="21" name="anim-g4-2022"/>
          <p:cNvSpPr/>
          <p:nvPr/>
        </p:nvSpPr>
        <p:spPr>
          <a:xfrm>
            <a:off x="1735417" y="2194560"/>
            <a:ext cx="640080" cy="640080"/>
          </a:xfrm>
          <a:prstGeom prst="roundRect">
            <a:avLst>
              <a:gd name="adj" fmla="val 25714"/>
            </a:avLst>
          </a:prstGeom>
          <a:solidFill>
            <a:srgbClr val="F7E6BC"/>
          </a:solidFill>
          <a:ln/>
        </p:spPr>
      </p:sp>
      <p:sp>
        <p:nvSpPr>
          <p:cNvPr id="22" name="anim-g4-2023"/>
          <p:cNvSpPr/>
          <p:nvPr/>
        </p:nvSpPr>
        <p:spPr>
          <a:xfrm>
            <a:off x="1735417"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23" name="anim-g4-2024"/>
          <p:cNvSpPr/>
          <p:nvPr/>
        </p:nvSpPr>
        <p:spPr>
          <a:xfrm>
            <a:off x="960120"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تأييد</a:t>
            </a:r>
            <a:endParaRPr lang="ar-SA" sz="2200" dirty="0"/>
          </a:p>
        </p:txBody>
      </p:sp>
      <p:sp>
        <p:nvSpPr>
          <p:cNvPr id="24" name="anim-g4-2025"/>
          <p:cNvSpPr/>
          <p:nvPr/>
        </p:nvSpPr>
        <p:spPr>
          <a:xfrm>
            <a:off x="960120"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تبحث عن أمهات يشاركنها الرأي</a:t>
            </a:r>
            <a:endParaRPr lang="ar-SA" sz="1900" dirty="0"/>
          </a:p>
        </p:txBody>
      </p:sp>
      <p:sp>
        <p:nvSpPr>
          <p:cNvPr id="25" name="anim-g5-2026"/>
          <p:cNvSpPr/>
          <p:nvPr/>
        </p:nvSpPr>
        <p:spPr>
          <a:xfrm>
            <a:off x="822960" y="4754880"/>
            <a:ext cx="10545775" cy="1051560"/>
          </a:xfrm>
          <a:prstGeom prst="roundRect">
            <a:avLst>
              <a:gd name="adj" fmla="val 17391"/>
            </a:avLst>
          </a:prstGeom>
          <a:solidFill>
            <a:srgbClr val="101B45"/>
          </a:solidFill>
          <a:ln/>
        </p:spPr>
      </p:sp>
      <p:sp>
        <p:nvSpPr>
          <p:cNvPr id="26" name="anim-g5-2027"/>
          <p:cNvSpPr/>
          <p:nvPr/>
        </p:nvSpPr>
        <p:spPr>
          <a:xfrm>
            <a:off x="1097280" y="4754880"/>
            <a:ext cx="9997135" cy="1051560"/>
          </a:xfrm>
          <a:prstGeom prst="rect">
            <a:avLst/>
          </a:prstGeom>
          <a:noFill/>
          <a:ln/>
        </p:spPr>
        <p:txBody>
          <a:bodyPr wrap="square" lIns="0" tIns="0" rIns="0" bIns="0" rtlCol="0" anchor="ctr">
            <a:normAutofit/>
          </a:bodyPr>
          <a:lstStyle/>
          <a:p>
            <a:pPr algn="ctr" indent="0" marL="0">
              <a:buNone/>
            </a:pPr>
            <a:r>
              <a:rPr lang="ar-SA" altLang="en-US" sz="2200" b="1" dirty="0">
                <a:solidFill>
                  <a:srgbClr val="FFFFFF"/>
                </a:solidFill>
                <a:latin typeface="Cairo" pitchFamily="34" charset="0"/>
                <a:ea typeface="Cairo" pitchFamily="34" charset="-122"/>
                <a:cs typeface="Cairo" pitchFamily="34" charset="-120"/>
              </a:rPr>
              <a:t>💡 الشكوى العلنية غالبًا…</a:t>
            </a:r>
            <a:endParaRPr lang="ar-SA" sz="2200" dirty="0"/>
          </a:p>
          <a:p>
            <a:pPr algn="ctr" indent="0" marL="0">
              <a:buNone/>
            </a:pPr>
            <a:r>
              <a:rPr lang="ar-SA" altLang="en-US" sz="2200" b="1" dirty="0">
                <a:solidFill>
                  <a:srgbClr val="F0CC7A"/>
                </a:solidFill>
                <a:latin typeface="Cairo" pitchFamily="34" charset="0"/>
                <a:ea typeface="Cairo" pitchFamily="34" charset="-122"/>
                <a:cs typeface="Cairo" pitchFamily="34" charset="-120"/>
              </a:rPr>
              <a:t> صرخة من لم يجد بابًا مفتوحًا</a:t>
            </a:r>
            <a:endParaRPr lang="ar-SA" sz="2200" dirty="0"/>
          </a:p>
        </p:txBody>
      </p:sp>
      <p:sp>
        <p:nvSpPr>
          <p:cNvPr id="27" name="Text 2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8" name="Text 2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رسالة في القروب  ·  ١٧٨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40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179.xml><?xml version="1.0" encoding="utf-8"?>
<p:sld xmlns:a="http://schemas.openxmlformats.org/drawingml/2006/main" xmlns:r="http://schemas.openxmlformats.org/officeDocument/2006/relationships" xmlns:p="http://schemas.openxmlformats.org/presentationml/2006/main">
  <p:cSld name="Slide 17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قبل أي رد</a:t>
            </a:r>
            <a:endParaRPr lang="ar-SA" sz="1800" dirty="0"/>
          </a:p>
        </p:txBody>
      </p:sp>
      <p:sp>
        <p:nvSpPr>
          <p:cNvPr id="4" name="Shape 2"/>
          <p:cNvSpPr/>
          <p:nvPr/>
        </p:nvSpPr>
        <p:spPr>
          <a:xfrm>
            <a:off x="822960" y="457200"/>
            <a:ext cx="1737360" cy="457200"/>
          </a:xfrm>
          <a:prstGeom prst="roundRect">
            <a:avLst>
              <a:gd name="adj" fmla="val 50000"/>
            </a:avLst>
          </a:prstGeom>
          <a:solidFill>
            <a:srgbClr val="FBECEC"/>
          </a:solidFill>
          <a:ln/>
        </p:spPr>
      </p:sp>
      <p:sp>
        <p:nvSpPr>
          <p:cNvPr id="5" name="Text 3"/>
          <p:cNvSpPr/>
          <p:nvPr/>
        </p:nvSpPr>
        <p:spPr>
          <a:xfrm>
            <a:off x="822960" y="457200"/>
            <a:ext cx="1737360"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D64545"/>
                </a:solidFill>
                <a:latin typeface="Cairo" pitchFamily="34" charset="0"/>
                <a:ea typeface="Cairo" pitchFamily="34" charset="-122"/>
                <a:cs typeface="Cairo" pitchFamily="34" charset="-120"/>
              </a:rPr>
              <a:t>⏱ قبل الرد</a:t>
            </a:r>
            <a:endParaRPr lang="ar-SA" sz="1600" dirty="0"/>
          </a:p>
        </p:txBody>
      </p:sp>
      <p:sp>
        <p:nvSpPr>
          <p:cNvPr id="6" name="Text 4"/>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خطوات أ. هند</a:t>
            </a:r>
            <a:endParaRPr lang="ar-SA" sz="3800" dirty="0"/>
          </a:p>
        </p:txBody>
      </p:sp>
      <p:sp>
        <p:nvSpPr>
          <p:cNvPr id="7" name="anim-g1-2028"/>
          <p:cNvSpPr/>
          <p:nvPr/>
        </p:nvSpPr>
        <p:spPr>
          <a:xfrm>
            <a:off x="8903741" y="2148840"/>
            <a:ext cx="2464994" cy="3383280"/>
          </a:xfrm>
          <a:prstGeom prst="roundRect">
            <a:avLst>
              <a:gd name="adj" fmla="val 6677"/>
            </a:avLst>
          </a:prstGeom>
          <a:solidFill>
            <a:srgbClr val="FFFFFF"/>
          </a:solidFill>
          <a:ln w="12700">
            <a:solidFill>
              <a:srgbClr val="E4DCC8"/>
            </a:solidFill>
            <a:prstDash val="solid"/>
          </a:ln>
        </p:spPr>
      </p:sp>
      <p:sp>
        <p:nvSpPr>
          <p:cNvPr id="8" name="anim-g1-2029"/>
          <p:cNvSpPr/>
          <p:nvPr/>
        </p:nvSpPr>
        <p:spPr>
          <a:xfrm>
            <a:off x="9747618" y="2423160"/>
            <a:ext cx="777240" cy="777240"/>
          </a:xfrm>
          <a:prstGeom prst="ellipse">
            <a:avLst/>
          </a:prstGeom>
          <a:solidFill>
            <a:srgbClr val="D9AE4B"/>
          </a:solidFill>
          <a:ln/>
        </p:spPr>
      </p:sp>
      <p:sp>
        <p:nvSpPr>
          <p:cNvPr id="9" name="anim-g1-2030"/>
          <p:cNvSpPr/>
          <p:nvPr/>
        </p:nvSpPr>
        <p:spPr>
          <a:xfrm>
            <a:off x="9747618"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١</a:t>
            </a:r>
            <a:endParaRPr lang="ar-SA" sz="2800" dirty="0"/>
          </a:p>
        </p:txBody>
      </p:sp>
      <p:sp>
        <p:nvSpPr>
          <p:cNvPr id="10" name="anim-g1-2031"/>
          <p:cNvSpPr/>
          <p:nvPr/>
        </p:nvSpPr>
        <p:spPr>
          <a:xfrm>
            <a:off x="9040901"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لا ترد ليلًا</a:t>
            </a:r>
            <a:endParaRPr lang="ar-SA" sz="2500" dirty="0"/>
          </a:p>
        </p:txBody>
      </p:sp>
      <p:sp>
        <p:nvSpPr>
          <p:cNvPr id="11" name="anim-g1-2032"/>
          <p:cNvSpPr/>
          <p:nvPr/>
        </p:nvSpPr>
        <p:spPr>
          <a:xfrm>
            <a:off x="9086621"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الانفعال أسوأ مستشار</a:t>
            </a:r>
            <a:endParaRPr lang="ar-SA" sz="2000" dirty="0"/>
          </a:p>
        </p:txBody>
      </p:sp>
      <p:sp>
        <p:nvSpPr>
          <p:cNvPr id="12" name="anim-g2-2033"/>
          <p:cNvSpPr/>
          <p:nvPr/>
        </p:nvSpPr>
        <p:spPr>
          <a:xfrm>
            <a:off x="6210148" y="2148840"/>
            <a:ext cx="2464994" cy="3383280"/>
          </a:xfrm>
          <a:prstGeom prst="roundRect">
            <a:avLst>
              <a:gd name="adj" fmla="val 6677"/>
            </a:avLst>
          </a:prstGeom>
          <a:solidFill>
            <a:srgbClr val="FFFFFF"/>
          </a:solidFill>
          <a:ln w="12700">
            <a:solidFill>
              <a:srgbClr val="E4DCC8"/>
            </a:solidFill>
            <a:prstDash val="solid"/>
          </a:ln>
        </p:spPr>
      </p:sp>
      <p:sp>
        <p:nvSpPr>
          <p:cNvPr id="13" name="anim-g2-2034"/>
          <p:cNvSpPr/>
          <p:nvPr/>
        </p:nvSpPr>
        <p:spPr>
          <a:xfrm>
            <a:off x="7054024" y="2423160"/>
            <a:ext cx="777240" cy="777240"/>
          </a:xfrm>
          <a:prstGeom prst="ellipse">
            <a:avLst/>
          </a:prstGeom>
          <a:solidFill>
            <a:srgbClr val="D9AE4B"/>
          </a:solidFill>
          <a:ln/>
        </p:spPr>
      </p:sp>
      <p:sp>
        <p:nvSpPr>
          <p:cNvPr id="14" name="anim-g2-2035"/>
          <p:cNvSpPr/>
          <p:nvPr/>
        </p:nvSpPr>
        <p:spPr>
          <a:xfrm>
            <a:off x="7054024"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٢</a:t>
            </a:r>
            <a:endParaRPr lang="ar-SA" sz="2800" dirty="0"/>
          </a:p>
        </p:txBody>
      </p:sp>
      <p:sp>
        <p:nvSpPr>
          <p:cNvPr id="15" name="anim-g2-2036"/>
          <p:cNvSpPr/>
          <p:nvPr/>
        </p:nvSpPr>
        <p:spPr>
          <a:xfrm>
            <a:off x="6347308"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وثّق</a:t>
            </a:r>
            <a:endParaRPr lang="ar-SA" sz="2500" dirty="0"/>
          </a:p>
        </p:txBody>
      </p:sp>
      <p:sp>
        <p:nvSpPr>
          <p:cNvPr id="16" name="anim-g2-2037"/>
          <p:cNvSpPr/>
          <p:nvPr/>
        </p:nvSpPr>
        <p:spPr>
          <a:xfrm>
            <a:off x="6393028"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صورة للرسائل دون أي تعليق</a:t>
            </a:r>
            <a:endParaRPr lang="ar-SA" sz="2000" dirty="0"/>
          </a:p>
        </p:txBody>
      </p:sp>
      <p:sp>
        <p:nvSpPr>
          <p:cNvPr id="17" name="anim-g3-2038"/>
          <p:cNvSpPr/>
          <p:nvPr/>
        </p:nvSpPr>
        <p:spPr>
          <a:xfrm>
            <a:off x="3516554" y="2148840"/>
            <a:ext cx="2464994" cy="3383280"/>
          </a:xfrm>
          <a:prstGeom prst="roundRect">
            <a:avLst>
              <a:gd name="adj" fmla="val 6677"/>
            </a:avLst>
          </a:prstGeom>
          <a:solidFill>
            <a:srgbClr val="FFFFFF"/>
          </a:solidFill>
          <a:ln w="12700">
            <a:solidFill>
              <a:srgbClr val="E4DCC8"/>
            </a:solidFill>
            <a:prstDash val="solid"/>
          </a:ln>
        </p:spPr>
      </p:sp>
      <p:sp>
        <p:nvSpPr>
          <p:cNvPr id="18" name="anim-g3-2039"/>
          <p:cNvSpPr/>
          <p:nvPr/>
        </p:nvSpPr>
        <p:spPr>
          <a:xfrm>
            <a:off x="4360431" y="2423160"/>
            <a:ext cx="777240" cy="777240"/>
          </a:xfrm>
          <a:prstGeom prst="ellipse">
            <a:avLst/>
          </a:prstGeom>
          <a:solidFill>
            <a:srgbClr val="D9AE4B"/>
          </a:solidFill>
          <a:ln/>
        </p:spPr>
      </p:sp>
      <p:sp>
        <p:nvSpPr>
          <p:cNvPr id="19" name="anim-g3-2040"/>
          <p:cNvSpPr/>
          <p:nvPr/>
        </p:nvSpPr>
        <p:spPr>
          <a:xfrm>
            <a:off x="4360431"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٣</a:t>
            </a:r>
            <a:endParaRPr lang="ar-SA" sz="2800" dirty="0"/>
          </a:p>
        </p:txBody>
      </p:sp>
      <p:sp>
        <p:nvSpPr>
          <p:cNvPr id="20" name="anim-g3-2041"/>
          <p:cNvSpPr/>
          <p:nvPr/>
        </p:nvSpPr>
        <p:spPr>
          <a:xfrm>
            <a:off x="3653714"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أبلغ الإدارة</a:t>
            </a:r>
            <a:endParaRPr lang="ar-SA" sz="2500" dirty="0"/>
          </a:p>
        </p:txBody>
      </p:sp>
      <p:sp>
        <p:nvSpPr>
          <p:cNvPr id="21" name="anim-g3-2042"/>
          <p:cNvSpPr/>
          <p:nvPr/>
        </p:nvSpPr>
        <p:spPr>
          <a:xfrm>
            <a:off x="3699434"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قبل أي تواصل مع الأم</a:t>
            </a:r>
            <a:endParaRPr lang="ar-SA" sz="2000" dirty="0"/>
          </a:p>
        </p:txBody>
      </p:sp>
      <p:sp>
        <p:nvSpPr>
          <p:cNvPr id="22" name="anim-g4-2043"/>
          <p:cNvSpPr/>
          <p:nvPr/>
        </p:nvSpPr>
        <p:spPr>
          <a:xfrm>
            <a:off x="822960" y="2148840"/>
            <a:ext cx="2464994" cy="3383280"/>
          </a:xfrm>
          <a:prstGeom prst="roundRect">
            <a:avLst>
              <a:gd name="adj" fmla="val 6677"/>
            </a:avLst>
          </a:prstGeom>
          <a:solidFill>
            <a:srgbClr val="FFFFFF"/>
          </a:solidFill>
          <a:ln w="12700">
            <a:solidFill>
              <a:srgbClr val="E4DCC8"/>
            </a:solidFill>
            <a:prstDash val="solid"/>
          </a:ln>
        </p:spPr>
      </p:sp>
      <p:sp>
        <p:nvSpPr>
          <p:cNvPr id="23" name="anim-g4-2044"/>
          <p:cNvSpPr/>
          <p:nvPr/>
        </p:nvSpPr>
        <p:spPr>
          <a:xfrm>
            <a:off x="1666837" y="2423160"/>
            <a:ext cx="777240" cy="777240"/>
          </a:xfrm>
          <a:prstGeom prst="ellipse">
            <a:avLst/>
          </a:prstGeom>
          <a:solidFill>
            <a:srgbClr val="D9AE4B"/>
          </a:solidFill>
          <a:ln/>
        </p:spPr>
      </p:sp>
      <p:sp>
        <p:nvSpPr>
          <p:cNvPr id="24" name="anim-g4-2045"/>
          <p:cNvSpPr/>
          <p:nvPr/>
        </p:nvSpPr>
        <p:spPr>
          <a:xfrm>
            <a:off x="1666837"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٤</a:t>
            </a:r>
            <a:endParaRPr lang="ar-SA" sz="2800" dirty="0"/>
          </a:p>
        </p:txBody>
      </p:sp>
      <p:sp>
        <p:nvSpPr>
          <p:cNvPr id="25" name="anim-g4-2046"/>
          <p:cNvSpPr/>
          <p:nvPr/>
        </p:nvSpPr>
        <p:spPr>
          <a:xfrm>
            <a:off x="960120"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انفراد</a:t>
            </a:r>
            <a:endParaRPr lang="ar-SA" sz="2500" dirty="0"/>
          </a:p>
        </p:txBody>
      </p:sp>
      <p:sp>
        <p:nvSpPr>
          <p:cNvPr id="26" name="anim-g4-2047"/>
          <p:cNvSpPr/>
          <p:nvPr/>
        </p:nvSpPr>
        <p:spPr>
          <a:xfrm>
            <a:off x="1005840"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اتصال محترم يبدأ بالاستماع</a:t>
            </a:r>
            <a:endParaRPr lang="ar-SA" sz="2000" dirty="0"/>
          </a:p>
        </p:txBody>
      </p:sp>
      <p:sp>
        <p:nvSpPr>
          <p:cNvPr id="27" name="Text 2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8" name="Text 2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رسالة في القروب  ·  ١٧٩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400"/>
                                        <p:tgtEl>
                                          <p:spTgt spid="1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40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4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400"/>
                                        <p:tgtEl>
                                          <p:spTgt spid="1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400"/>
                                        <p:tgtEl>
                                          <p:spTgt spid="2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400"/>
                                        <p:tgtEl>
                                          <p:spTgt spid="21"/>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400"/>
                                        <p:tgtEl>
                                          <p:spTgt spid="2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400"/>
                                        <p:tgtEl>
                                          <p:spTgt spid="2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400"/>
                                        <p:tgtEl>
                                          <p:spTgt spid="2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400"/>
                                        <p:tgtEl>
                                          <p:spTgt spid="2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180.xml><?xml version="1.0" encoding="utf-8"?>
<p:sld xmlns:a="http://schemas.openxmlformats.org/drawingml/2006/main" xmlns:r="http://schemas.openxmlformats.org/officeDocument/2006/relationships" xmlns:p="http://schemas.openxmlformats.org/presentationml/2006/main">
  <p:cSld name="Slide 18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588959" y="457200"/>
            <a:ext cx="2779776" cy="457200"/>
          </a:xfrm>
          <a:prstGeom prst="roundRect">
            <a:avLst>
              <a:gd name="adj" fmla="val 50000"/>
            </a:avLst>
          </a:prstGeom>
          <a:solidFill>
            <a:srgbClr val="F6EBCF"/>
          </a:solidFill>
          <a:ln/>
        </p:spPr>
      </p:sp>
      <p:sp>
        <p:nvSpPr>
          <p:cNvPr id="3" name="Text 1"/>
          <p:cNvSpPr/>
          <p:nvPr/>
        </p:nvSpPr>
        <p:spPr>
          <a:xfrm>
            <a:off x="8588959" y="457200"/>
            <a:ext cx="277977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الجُمل الجاهزة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ماذا تقول بالحرف؟</a:t>
            </a:r>
            <a:endParaRPr lang="ar-SA" sz="3800" dirty="0"/>
          </a:p>
        </p:txBody>
      </p:sp>
      <p:sp>
        <p:nvSpPr>
          <p:cNvPr id="5" name="anim-g1-2048"/>
          <p:cNvSpPr/>
          <p:nvPr/>
        </p:nvSpPr>
        <p:spPr>
          <a:xfrm>
            <a:off x="9768535" y="2130552"/>
            <a:ext cx="1600200" cy="819912"/>
          </a:xfrm>
          <a:prstGeom prst="roundRect">
            <a:avLst>
              <a:gd name="adj" fmla="val 16729"/>
            </a:avLst>
          </a:prstGeom>
          <a:solidFill>
            <a:srgbClr val="E9EDF9"/>
          </a:solidFill>
          <a:ln/>
        </p:spPr>
      </p:sp>
      <p:sp>
        <p:nvSpPr>
          <p:cNvPr id="6" name="anim-g1-2049"/>
          <p:cNvSpPr/>
          <p:nvPr/>
        </p:nvSpPr>
        <p:spPr>
          <a:xfrm>
            <a:off x="9814255" y="2130552"/>
            <a:ext cx="1508760" cy="81991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في القروب (بعد الإدارة)</a:t>
            </a:r>
            <a:endParaRPr lang="ar-SA" sz="1800" dirty="0"/>
          </a:p>
        </p:txBody>
      </p:sp>
      <p:sp>
        <p:nvSpPr>
          <p:cNvPr id="7" name="anim-g1-2050"/>
          <p:cNvSpPr/>
          <p:nvPr/>
        </p:nvSpPr>
        <p:spPr>
          <a:xfrm>
            <a:off x="822960" y="2057400"/>
            <a:ext cx="8716975" cy="966216"/>
          </a:xfrm>
          <a:prstGeom prst="roundRect">
            <a:avLst>
              <a:gd name="adj" fmla="val 20820"/>
            </a:avLst>
          </a:prstGeom>
          <a:solidFill>
            <a:srgbClr val="101B45"/>
          </a:solidFill>
          <a:ln/>
        </p:spPr>
      </p:sp>
      <p:sp>
        <p:nvSpPr>
          <p:cNvPr id="8" name="anim-g1-2051"/>
          <p:cNvSpPr/>
          <p:nvPr/>
        </p:nvSpPr>
        <p:spPr>
          <a:xfrm>
            <a:off x="1097280" y="2057400"/>
            <a:ext cx="8168335" cy="966216"/>
          </a:xfrm>
          <a:prstGeom prst="rect">
            <a:avLst/>
          </a:prstGeom>
          <a:noFill/>
          <a:ln/>
        </p:spPr>
        <p:txBody>
          <a:bodyPr wrap="square" lIns="0" tIns="0" rIns="0" bIns="0" rtlCol="0" anchor="ctr">
            <a:normAutofit/>
          </a:bodyPr>
          <a:lstStyle/>
          <a:p>
            <a:pPr algn="r" indent="0" marL="0">
              <a:buNone/>
            </a:pPr>
            <a:r>
              <a:rPr lang="ar-SA" altLang="en-US" sz="2000" b="1" dirty="0">
                <a:solidFill>
                  <a:srgbClr val="D9AE4B"/>
                </a:solidFill>
                <a:latin typeface="Cairo" pitchFamily="34" charset="0"/>
                <a:ea typeface="Cairo" pitchFamily="34" charset="-122"/>
                <a:cs typeface="Cairo" pitchFamily="34" charset="-120"/>
              </a:rPr>
              <a:t>« </a:t>
            </a:r>
            <a:pPr algn="r" indent="0" marL="0">
              <a:buNone/>
            </a:pPr>
            <a:r>
              <a:rPr lang="ar-SA" altLang="en-US" sz="2000" b="1" dirty="0">
                <a:solidFill>
                  <a:srgbClr val="FFFFFF"/>
                </a:solidFill>
                <a:latin typeface="Cairo" pitchFamily="34" charset="0"/>
                <a:ea typeface="Cairo" pitchFamily="34" charset="-122"/>
                <a:cs typeface="Cairo" pitchFamily="34" charset="-120"/>
              </a:rPr>
              <a:t>أهلًا بكم، يسعدني التواصل مع أي ولي أمر مباشرة لمناقشة أي ملاحظة. شكرًا لكم</a:t>
            </a:r>
            <a:pPr algn="r" indent="0" marL="0">
              <a:buNone/>
            </a:pPr>
            <a:r>
              <a:rPr lang="ar-SA" altLang="en-US" sz="2000" b="1" dirty="0">
                <a:solidFill>
                  <a:srgbClr val="D9AE4B"/>
                </a:solidFill>
                <a:latin typeface="Cairo" pitchFamily="34" charset="0"/>
                <a:ea typeface="Cairo" pitchFamily="34" charset="-122"/>
                <a:cs typeface="Cairo" pitchFamily="34" charset="-120"/>
              </a:rPr>
              <a:t> »</a:t>
            </a:r>
            <a:endParaRPr lang="ar-SA" sz="2000" dirty="0"/>
          </a:p>
        </p:txBody>
      </p:sp>
      <p:sp>
        <p:nvSpPr>
          <p:cNvPr id="9" name="anim-g2-2052"/>
          <p:cNvSpPr/>
          <p:nvPr/>
        </p:nvSpPr>
        <p:spPr>
          <a:xfrm>
            <a:off x="9768535" y="3243072"/>
            <a:ext cx="1600200" cy="819912"/>
          </a:xfrm>
          <a:prstGeom prst="roundRect">
            <a:avLst>
              <a:gd name="adj" fmla="val 16729"/>
            </a:avLst>
          </a:prstGeom>
          <a:solidFill>
            <a:srgbClr val="E9EDF9"/>
          </a:solidFill>
          <a:ln/>
        </p:spPr>
      </p:sp>
      <p:sp>
        <p:nvSpPr>
          <p:cNvPr id="10" name="anim-g2-2053"/>
          <p:cNvSpPr/>
          <p:nvPr/>
        </p:nvSpPr>
        <p:spPr>
          <a:xfrm>
            <a:off x="9814255" y="3243072"/>
            <a:ext cx="1508760" cy="81991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للأم على انفراد</a:t>
            </a:r>
            <a:endParaRPr lang="ar-SA" sz="1800" dirty="0"/>
          </a:p>
        </p:txBody>
      </p:sp>
      <p:sp>
        <p:nvSpPr>
          <p:cNvPr id="11" name="anim-g2-2054"/>
          <p:cNvSpPr/>
          <p:nvPr/>
        </p:nvSpPr>
        <p:spPr>
          <a:xfrm>
            <a:off x="822960" y="3169920"/>
            <a:ext cx="8716975" cy="966216"/>
          </a:xfrm>
          <a:prstGeom prst="roundRect">
            <a:avLst>
              <a:gd name="adj" fmla="val 20820"/>
            </a:avLst>
          </a:prstGeom>
          <a:solidFill>
            <a:srgbClr val="101B45"/>
          </a:solidFill>
          <a:ln/>
        </p:spPr>
      </p:sp>
      <p:sp>
        <p:nvSpPr>
          <p:cNvPr id="12" name="anim-g2-2055"/>
          <p:cNvSpPr/>
          <p:nvPr/>
        </p:nvSpPr>
        <p:spPr>
          <a:xfrm>
            <a:off x="1097280" y="3169920"/>
            <a:ext cx="8168335" cy="966216"/>
          </a:xfrm>
          <a:prstGeom prst="rect">
            <a:avLst/>
          </a:prstGeom>
          <a:noFill/>
          <a:ln/>
        </p:spPr>
        <p:txBody>
          <a:bodyPr wrap="square" lIns="0" tIns="0" rIns="0" bIns="0" rtlCol="0" anchor="ctr">
            <a:normAutofit/>
          </a:bodyPr>
          <a:lstStyle/>
          <a:p>
            <a:pPr algn="r" indent="0" marL="0">
              <a:buNone/>
            </a:pPr>
            <a:r>
              <a:rPr lang="ar-SA" altLang="en-US" sz="2200" b="1" dirty="0">
                <a:solidFill>
                  <a:srgbClr val="D9AE4B"/>
                </a:solidFill>
                <a:latin typeface="Cairo" pitchFamily="34" charset="0"/>
                <a:ea typeface="Cairo" pitchFamily="34" charset="-122"/>
                <a:cs typeface="Cairo" pitchFamily="34" charset="-120"/>
              </a:rPr>
              <a:t>« </a:t>
            </a:r>
            <a:pPr algn="r" indent="0" marL="0">
              <a:buNone/>
            </a:pPr>
            <a:r>
              <a:rPr lang="ar-SA" altLang="en-US" sz="2200" b="1" dirty="0">
                <a:solidFill>
                  <a:srgbClr val="FFFFFF"/>
                </a:solidFill>
                <a:latin typeface="Cairo" pitchFamily="34" charset="0"/>
                <a:ea typeface="Cairo" pitchFamily="34" charset="-122"/>
                <a:cs typeface="Cairo" pitchFamily="34" charset="-120"/>
              </a:rPr>
              <a:t>قرأت رسالتك، ويهمني أن أفهم ما حدث. هل نراجع ورقة ابنتك معًا؟</a:t>
            </a:r>
            <a:pPr algn="r" indent="0" marL="0">
              <a:buNone/>
            </a:pPr>
            <a:r>
              <a:rPr lang="ar-SA" altLang="en-US" sz="2200" b="1" dirty="0">
                <a:solidFill>
                  <a:srgbClr val="D9AE4B"/>
                </a:solidFill>
                <a:latin typeface="Cairo" pitchFamily="34" charset="0"/>
                <a:ea typeface="Cairo" pitchFamily="34" charset="-122"/>
                <a:cs typeface="Cairo" pitchFamily="34" charset="-120"/>
              </a:rPr>
              <a:t> »</a:t>
            </a:r>
            <a:endParaRPr lang="ar-SA" sz="2200" dirty="0"/>
          </a:p>
        </p:txBody>
      </p:sp>
      <p:sp>
        <p:nvSpPr>
          <p:cNvPr id="13" name="anim-g3-2056"/>
          <p:cNvSpPr/>
          <p:nvPr/>
        </p:nvSpPr>
        <p:spPr>
          <a:xfrm>
            <a:off x="9768535" y="4355592"/>
            <a:ext cx="1600200" cy="819912"/>
          </a:xfrm>
          <a:prstGeom prst="roundRect">
            <a:avLst>
              <a:gd name="adj" fmla="val 16729"/>
            </a:avLst>
          </a:prstGeom>
          <a:solidFill>
            <a:srgbClr val="E9EDF9"/>
          </a:solidFill>
          <a:ln/>
        </p:spPr>
      </p:sp>
      <p:sp>
        <p:nvSpPr>
          <p:cNvPr id="14" name="anim-g3-2057"/>
          <p:cNvSpPr/>
          <p:nvPr/>
        </p:nvSpPr>
        <p:spPr>
          <a:xfrm>
            <a:off x="9814255" y="4355592"/>
            <a:ext cx="1508760" cy="81991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بعد التوضيح</a:t>
            </a:r>
            <a:endParaRPr lang="ar-SA" sz="1800" dirty="0"/>
          </a:p>
        </p:txBody>
      </p:sp>
      <p:sp>
        <p:nvSpPr>
          <p:cNvPr id="15" name="anim-g3-2058"/>
          <p:cNvSpPr/>
          <p:nvPr/>
        </p:nvSpPr>
        <p:spPr>
          <a:xfrm>
            <a:off x="822960" y="4282440"/>
            <a:ext cx="8716975" cy="966216"/>
          </a:xfrm>
          <a:prstGeom prst="roundRect">
            <a:avLst>
              <a:gd name="adj" fmla="val 20820"/>
            </a:avLst>
          </a:prstGeom>
          <a:solidFill>
            <a:srgbClr val="101B45"/>
          </a:solidFill>
          <a:ln/>
        </p:spPr>
      </p:sp>
      <p:sp>
        <p:nvSpPr>
          <p:cNvPr id="16" name="anim-g3-2059"/>
          <p:cNvSpPr/>
          <p:nvPr/>
        </p:nvSpPr>
        <p:spPr>
          <a:xfrm>
            <a:off x="1097280" y="4282440"/>
            <a:ext cx="8168335" cy="966216"/>
          </a:xfrm>
          <a:prstGeom prst="rect">
            <a:avLst/>
          </a:prstGeom>
          <a:noFill/>
          <a:ln/>
        </p:spPr>
        <p:txBody>
          <a:bodyPr wrap="square" lIns="0" tIns="0" rIns="0" bIns="0" rtlCol="0" anchor="ctr">
            <a:normAutofit/>
          </a:bodyPr>
          <a:lstStyle/>
          <a:p>
            <a:pPr algn="r" indent="0" marL="0">
              <a:buNone/>
            </a:pPr>
            <a:r>
              <a:rPr lang="ar-SA" altLang="en-US" sz="2200" b="1" dirty="0">
                <a:solidFill>
                  <a:srgbClr val="D9AE4B"/>
                </a:solidFill>
                <a:latin typeface="Cairo" pitchFamily="34" charset="0"/>
                <a:ea typeface="Cairo" pitchFamily="34" charset="-122"/>
                <a:cs typeface="Cairo" pitchFamily="34" charset="-120"/>
              </a:rPr>
              <a:t>« </a:t>
            </a:r>
            <a:pPr algn="r" indent="0" marL="0">
              <a:buNone/>
            </a:pPr>
            <a:r>
              <a:rPr lang="ar-SA" altLang="en-US" sz="2200" b="1" dirty="0">
                <a:solidFill>
                  <a:srgbClr val="FFFFFF"/>
                </a:solidFill>
                <a:latin typeface="Cairo" pitchFamily="34" charset="0"/>
                <a:ea typeface="Cairo" pitchFamily="34" charset="-122"/>
                <a:cs typeface="Cairo" pitchFamily="34" charset="-120"/>
              </a:rPr>
              <a:t>أتمنى في المرة القادمة أن تتواصلي معي مباشرة، فبابي مفتوح دائمًا</a:t>
            </a:r>
            <a:pPr algn="r" indent="0" marL="0">
              <a:buNone/>
            </a:pPr>
            <a:r>
              <a:rPr lang="ar-SA" altLang="en-US" sz="2200" b="1" dirty="0">
                <a:solidFill>
                  <a:srgbClr val="D9AE4B"/>
                </a:solidFill>
                <a:latin typeface="Cairo" pitchFamily="34" charset="0"/>
                <a:ea typeface="Cairo" pitchFamily="34" charset="-122"/>
                <a:cs typeface="Cairo" pitchFamily="34" charset="-120"/>
              </a:rPr>
              <a:t> »</a:t>
            </a:r>
            <a:endParaRPr lang="ar-SA" sz="2200" dirty="0"/>
          </a:p>
        </p:txBody>
      </p:sp>
      <p:sp>
        <p:nvSpPr>
          <p:cNvPr id="17" name="anim-g4-2060"/>
          <p:cNvSpPr/>
          <p:nvPr/>
        </p:nvSpPr>
        <p:spPr>
          <a:xfrm>
            <a:off x="822960" y="5532120"/>
            <a:ext cx="10545775" cy="548640"/>
          </a:xfrm>
          <a:prstGeom prst="roundRect">
            <a:avLst>
              <a:gd name="adj" fmla="val 20000"/>
            </a:avLst>
          </a:prstGeom>
          <a:solidFill>
            <a:srgbClr val="FBECEC"/>
          </a:solidFill>
          <a:ln/>
        </p:spPr>
      </p:sp>
      <p:sp>
        <p:nvSpPr>
          <p:cNvPr id="18" name="anim-g4-2061"/>
          <p:cNvSpPr/>
          <p:nvPr/>
        </p:nvSpPr>
        <p:spPr>
          <a:xfrm>
            <a:off x="11295583" y="5532120"/>
            <a:ext cx="73152" cy="548640"/>
          </a:xfrm>
          <a:prstGeom prst="rect">
            <a:avLst/>
          </a:prstGeom>
          <a:solidFill>
            <a:srgbClr val="D64545"/>
          </a:solidFill>
          <a:ln/>
        </p:spPr>
      </p:sp>
      <p:sp>
        <p:nvSpPr>
          <p:cNvPr id="19" name="anim-g4-2062"/>
          <p:cNvSpPr/>
          <p:nvPr/>
        </p:nvSpPr>
        <p:spPr>
          <a:xfrm>
            <a:off x="1005840" y="5532120"/>
            <a:ext cx="10088575" cy="548640"/>
          </a:xfrm>
          <a:prstGeom prst="rect">
            <a:avLst/>
          </a:prstGeom>
          <a:noFill/>
          <a:ln/>
        </p:spPr>
        <p:txBody>
          <a:bodyPr wrap="square" lIns="0" tIns="0" rIns="0" bIns="0" rtlCol="0" anchor="ctr">
            <a:normAutofit/>
          </a:bodyPr>
          <a:lstStyle/>
          <a:p>
            <a:pPr rtl="1" algn="r" indent="0" marL="0">
              <a:buNone/>
            </a:pPr>
            <a:r>
              <a:rPr lang="ar-SA" altLang="en-US" sz="1900" b="1" dirty="0">
                <a:solidFill>
                  <a:srgbClr val="8E2A2A"/>
                </a:solidFill>
                <a:latin typeface="Cairo" pitchFamily="34" charset="0"/>
                <a:ea typeface="Cairo" pitchFamily="34" charset="-122"/>
                <a:cs typeface="Cairo" pitchFamily="34" charset="-120"/>
              </a:rPr>
              <a:t>⚠️ تجنّب: ذكر الدرجات أو التفاصيل في القروب — خصوصية الطالبة أولًا</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رسالة في القروب  ·  ١٨٠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81.xml><?xml version="1.0" encoding="utf-8"?>
<p:sld xmlns:a="http://schemas.openxmlformats.org/drawingml/2006/main" xmlns:r="http://schemas.openxmlformats.org/officeDocument/2006/relationships" xmlns:p="http://schemas.openxmlformats.org/presentationml/2006/main">
  <p:cSld name="Slide 18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5486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أخطاء شائعة… وبدائلها</a:t>
            </a:r>
            <a:endParaRPr lang="ar-SA" sz="3800" dirty="0"/>
          </a:p>
        </p:txBody>
      </p:sp>
      <p:sp>
        <p:nvSpPr>
          <p:cNvPr id="3" name="Text 1"/>
          <p:cNvSpPr/>
          <p:nvPr/>
        </p:nvSpPr>
        <p:spPr>
          <a:xfrm>
            <a:off x="6415888"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D64545"/>
                </a:solidFill>
                <a:latin typeface="Cairo Black" pitchFamily="34" charset="0"/>
                <a:ea typeface="Cairo Black" pitchFamily="34" charset="-122"/>
                <a:cs typeface="Cairo Black" pitchFamily="34" charset="-120"/>
              </a:rPr>
              <a:t>❌ الخطأ الشائع</a:t>
            </a:r>
            <a:endParaRPr lang="ar-SA" sz="2100" dirty="0"/>
          </a:p>
        </p:txBody>
      </p:sp>
      <p:sp>
        <p:nvSpPr>
          <p:cNvPr id="4" name="Text 2"/>
          <p:cNvSpPr/>
          <p:nvPr/>
        </p:nvSpPr>
        <p:spPr>
          <a:xfrm>
            <a:off x="822960"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2E9E6B"/>
                </a:solidFill>
                <a:latin typeface="Cairo Black" pitchFamily="34" charset="0"/>
                <a:ea typeface="Cairo Black" pitchFamily="34" charset="-122"/>
                <a:cs typeface="Cairo Black" pitchFamily="34" charset="-120"/>
              </a:rPr>
              <a:t>✅ البديل</a:t>
            </a:r>
            <a:endParaRPr lang="ar-SA" sz="2100" dirty="0"/>
          </a:p>
        </p:txBody>
      </p:sp>
      <p:sp>
        <p:nvSpPr>
          <p:cNvPr id="5" name="anim-g1-2063"/>
          <p:cNvSpPr/>
          <p:nvPr/>
        </p:nvSpPr>
        <p:spPr>
          <a:xfrm>
            <a:off x="6415888" y="2194560"/>
            <a:ext cx="4952848" cy="804672"/>
          </a:xfrm>
          <a:prstGeom prst="roundRect">
            <a:avLst>
              <a:gd name="adj" fmla="val 15909"/>
            </a:avLst>
          </a:prstGeom>
          <a:solidFill>
            <a:srgbClr val="FBECEC"/>
          </a:solidFill>
          <a:ln/>
        </p:spPr>
      </p:sp>
      <p:sp>
        <p:nvSpPr>
          <p:cNvPr id="6" name="anim-g1-2064"/>
          <p:cNvSpPr/>
          <p:nvPr/>
        </p:nvSpPr>
        <p:spPr>
          <a:xfrm>
            <a:off x="6644488"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الرد الليلي المنفعل</a:t>
            </a:r>
            <a:endParaRPr lang="ar-SA" sz="2200" dirty="0"/>
          </a:p>
        </p:txBody>
      </p:sp>
      <p:sp>
        <p:nvSpPr>
          <p:cNvPr id="7" name="anim-g1-2065"/>
          <p:cNvSpPr/>
          <p:nvPr/>
        </p:nvSpPr>
        <p:spPr>
          <a:xfrm>
            <a:off x="822960" y="2194560"/>
            <a:ext cx="4952848" cy="804672"/>
          </a:xfrm>
          <a:prstGeom prst="roundRect">
            <a:avLst>
              <a:gd name="adj" fmla="val 15909"/>
            </a:avLst>
          </a:prstGeom>
          <a:solidFill>
            <a:srgbClr val="FFFFFF"/>
          </a:solidFill>
          <a:ln w="19050">
            <a:solidFill>
              <a:srgbClr val="BFD9CB"/>
            </a:solidFill>
            <a:prstDash val="dash"/>
          </a:ln>
        </p:spPr>
      </p:sp>
      <p:sp>
        <p:nvSpPr>
          <p:cNvPr id="8" name="anim-g1-2066"/>
          <p:cNvSpPr/>
          <p:nvPr/>
        </p:nvSpPr>
        <p:spPr>
          <a:xfrm>
            <a:off x="822960" y="219456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9" name="anim-g2-2067"/>
          <p:cNvSpPr/>
          <p:nvPr/>
        </p:nvSpPr>
        <p:spPr>
          <a:xfrm>
            <a:off x="5775808" y="219456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0" name="anim-g2-2068"/>
          <p:cNvSpPr/>
          <p:nvPr/>
        </p:nvSpPr>
        <p:spPr>
          <a:xfrm>
            <a:off x="822960" y="2194560"/>
            <a:ext cx="4952848" cy="804672"/>
          </a:xfrm>
          <a:prstGeom prst="roundRect">
            <a:avLst>
              <a:gd name="adj" fmla="val 15909"/>
            </a:avLst>
          </a:prstGeom>
          <a:solidFill>
            <a:srgbClr val="E6F4EC"/>
          </a:solidFill>
          <a:ln/>
        </p:spPr>
      </p:sp>
      <p:sp>
        <p:nvSpPr>
          <p:cNvPr id="11" name="anim-g2-2069"/>
          <p:cNvSpPr/>
          <p:nvPr/>
        </p:nvSpPr>
        <p:spPr>
          <a:xfrm>
            <a:off x="1051560"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رد هادئ في الصباح بعد التفكير</a:t>
            </a:r>
            <a:endParaRPr lang="ar-SA" sz="2200" dirty="0"/>
          </a:p>
        </p:txBody>
      </p:sp>
      <p:sp>
        <p:nvSpPr>
          <p:cNvPr id="12" name="anim-g3-2070"/>
          <p:cNvSpPr/>
          <p:nvPr/>
        </p:nvSpPr>
        <p:spPr>
          <a:xfrm>
            <a:off x="6415888" y="3154680"/>
            <a:ext cx="4952848" cy="804672"/>
          </a:xfrm>
          <a:prstGeom prst="roundRect">
            <a:avLst>
              <a:gd name="adj" fmla="val 15909"/>
            </a:avLst>
          </a:prstGeom>
          <a:solidFill>
            <a:srgbClr val="FBECEC"/>
          </a:solidFill>
          <a:ln/>
        </p:spPr>
      </p:sp>
      <p:sp>
        <p:nvSpPr>
          <p:cNvPr id="13" name="anim-g3-2071"/>
          <p:cNvSpPr/>
          <p:nvPr/>
        </p:nvSpPr>
        <p:spPr>
          <a:xfrm>
            <a:off x="6644488"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الدفاع العلني بالتفاصيل</a:t>
            </a:r>
            <a:endParaRPr lang="ar-SA" sz="2200" dirty="0"/>
          </a:p>
        </p:txBody>
      </p:sp>
      <p:sp>
        <p:nvSpPr>
          <p:cNvPr id="14" name="anim-g3-2072"/>
          <p:cNvSpPr/>
          <p:nvPr/>
        </p:nvSpPr>
        <p:spPr>
          <a:xfrm>
            <a:off x="822960" y="3154680"/>
            <a:ext cx="4952848" cy="804672"/>
          </a:xfrm>
          <a:prstGeom prst="roundRect">
            <a:avLst>
              <a:gd name="adj" fmla="val 15909"/>
            </a:avLst>
          </a:prstGeom>
          <a:solidFill>
            <a:srgbClr val="FFFFFF"/>
          </a:solidFill>
          <a:ln w="19050">
            <a:solidFill>
              <a:srgbClr val="BFD9CB"/>
            </a:solidFill>
            <a:prstDash val="dash"/>
          </a:ln>
        </p:spPr>
      </p:sp>
      <p:sp>
        <p:nvSpPr>
          <p:cNvPr id="15" name="anim-g3-2073"/>
          <p:cNvSpPr/>
          <p:nvPr/>
        </p:nvSpPr>
        <p:spPr>
          <a:xfrm>
            <a:off x="822960" y="315468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16" name="anim-g4-2074"/>
          <p:cNvSpPr/>
          <p:nvPr/>
        </p:nvSpPr>
        <p:spPr>
          <a:xfrm>
            <a:off x="5775808" y="315468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7" name="anim-g4-2075"/>
          <p:cNvSpPr/>
          <p:nvPr/>
        </p:nvSpPr>
        <p:spPr>
          <a:xfrm>
            <a:off x="822960" y="3154680"/>
            <a:ext cx="4952848" cy="804672"/>
          </a:xfrm>
          <a:prstGeom prst="roundRect">
            <a:avLst>
              <a:gd name="adj" fmla="val 15909"/>
            </a:avLst>
          </a:prstGeom>
          <a:solidFill>
            <a:srgbClr val="E6F4EC"/>
          </a:solidFill>
          <a:ln/>
        </p:spPr>
      </p:sp>
      <p:sp>
        <p:nvSpPr>
          <p:cNvPr id="18" name="anim-g4-2076"/>
          <p:cNvSpPr/>
          <p:nvPr/>
        </p:nvSpPr>
        <p:spPr>
          <a:xfrm>
            <a:off x="1051560"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حوار خاص مع الأم فقط</a:t>
            </a:r>
            <a:endParaRPr lang="ar-SA" sz="2200" dirty="0"/>
          </a:p>
        </p:txBody>
      </p:sp>
      <p:sp>
        <p:nvSpPr>
          <p:cNvPr id="19" name="anim-g5-2077"/>
          <p:cNvSpPr/>
          <p:nvPr/>
        </p:nvSpPr>
        <p:spPr>
          <a:xfrm>
            <a:off x="6415888" y="4114800"/>
            <a:ext cx="4952848" cy="804672"/>
          </a:xfrm>
          <a:prstGeom prst="roundRect">
            <a:avLst>
              <a:gd name="adj" fmla="val 15909"/>
            </a:avLst>
          </a:prstGeom>
          <a:solidFill>
            <a:srgbClr val="FBECEC"/>
          </a:solidFill>
          <a:ln/>
        </p:spPr>
      </p:sp>
      <p:sp>
        <p:nvSpPr>
          <p:cNvPr id="20" name="anim-g5-2078"/>
          <p:cNvSpPr/>
          <p:nvPr/>
        </p:nvSpPr>
        <p:spPr>
          <a:xfrm>
            <a:off x="6644488"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التصرف دون علم الإدارة</a:t>
            </a:r>
            <a:endParaRPr lang="ar-SA" sz="2200" dirty="0"/>
          </a:p>
        </p:txBody>
      </p:sp>
      <p:sp>
        <p:nvSpPr>
          <p:cNvPr id="21" name="anim-g5-2079"/>
          <p:cNvSpPr/>
          <p:nvPr/>
        </p:nvSpPr>
        <p:spPr>
          <a:xfrm>
            <a:off x="822960" y="4114800"/>
            <a:ext cx="4952848" cy="804672"/>
          </a:xfrm>
          <a:prstGeom prst="roundRect">
            <a:avLst>
              <a:gd name="adj" fmla="val 15909"/>
            </a:avLst>
          </a:prstGeom>
          <a:solidFill>
            <a:srgbClr val="FFFFFF"/>
          </a:solidFill>
          <a:ln w="19050">
            <a:solidFill>
              <a:srgbClr val="BFD9CB"/>
            </a:solidFill>
            <a:prstDash val="dash"/>
          </a:ln>
        </p:spPr>
      </p:sp>
      <p:sp>
        <p:nvSpPr>
          <p:cNvPr id="22" name="anim-g5-2080"/>
          <p:cNvSpPr/>
          <p:nvPr/>
        </p:nvSpPr>
        <p:spPr>
          <a:xfrm>
            <a:off x="822960" y="411480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23" name="anim-g6-2081"/>
          <p:cNvSpPr/>
          <p:nvPr/>
        </p:nvSpPr>
        <p:spPr>
          <a:xfrm>
            <a:off x="5775808" y="411480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24" name="anim-g6-2082"/>
          <p:cNvSpPr/>
          <p:nvPr/>
        </p:nvSpPr>
        <p:spPr>
          <a:xfrm>
            <a:off x="822960" y="4114800"/>
            <a:ext cx="4952848" cy="804672"/>
          </a:xfrm>
          <a:prstGeom prst="roundRect">
            <a:avLst>
              <a:gd name="adj" fmla="val 15909"/>
            </a:avLst>
          </a:prstGeom>
          <a:solidFill>
            <a:srgbClr val="E6F4EC"/>
          </a:solidFill>
          <a:ln/>
        </p:spPr>
      </p:sp>
      <p:sp>
        <p:nvSpPr>
          <p:cNvPr id="25" name="anim-g6-2083"/>
          <p:cNvSpPr/>
          <p:nvPr/>
        </p:nvSpPr>
        <p:spPr>
          <a:xfrm>
            <a:off x="1051560"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إبلاغ الإدارة وتوثيق كل شيء</a:t>
            </a:r>
            <a:endParaRPr lang="ar-SA" sz="2200" dirty="0"/>
          </a:p>
        </p:txBody>
      </p:sp>
      <p:sp>
        <p:nvSpPr>
          <p:cNvPr id="26" name="anim-g7-2084"/>
          <p:cNvSpPr/>
          <p:nvPr/>
        </p:nvSpPr>
        <p:spPr>
          <a:xfrm>
            <a:off x="6415888" y="5074920"/>
            <a:ext cx="4952848" cy="804672"/>
          </a:xfrm>
          <a:prstGeom prst="roundRect">
            <a:avLst>
              <a:gd name="adj" fmla="val 15909"/>
            </a:avLst>
          </a:prstGeom>
          <a:solidFill>
            <a:srgbClr val="FBECEC"/>
          </a:solidFill>
          <a:ln/>
        </p:spPr>
      </p:sp>
      <p:sp>
        <p:nvSpPr>
          <p:cNvPr id="27" name="anim-g7-2085"/>
          <p:cNvSpPr/>
          <p:nvPr/>
        </p:nvSpPr>
        <p:spPr>
          <a:xfrm>
            <a:off x="6644488" y="507492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قروب بلا قواعد</a:t>
            </a:r>
            <a:endParaRPr lang="ar-SA" sz="2200" dirty="0"/>
          </a:p>
        </p:txBody>
      </p:sp>
      <p:sp>
        <p:nvSpPr>
          <p:cNvPr id="28" name="anim-g7-2086"/>
          <p:cNvSpPr/>
          <p:nvPr/>
        </p:nvSpPr>
        <p:spPr>
          <a:xfrm>
            <a:off x="822960" y="5074920"/>
            <a:ext cx="4952848" cy="804672"/>
          </a:xfrm>
          <a:prstGeom prst="roundRect">
            <a:avLst>
              <a:gd name="adj" fmla="val 15909"/>
            </a:avLst>
          </a:prstGeom>
          <a:solidFill>
            <a:srgbClr val="FFFFFF"/>
          </a:solidFill>
          <a:ln w="19050">
            <a:solidFill>
              <a:srgbClr val="BFD9CB"/>
            </a:solidFill>
            <a:prstDash val="dash"/>
          </a:ln>
        </p:spPr>
      </p:sp>
      <p:sp>
        <p:nvSpPr>
          <p:cNvPr id="29" name="anim-g7-2087"/>
          <p:cNvSpPr/>
          <p:nvPr/>
        </p:nvSpPr>
        <p:spPr>
          <a:xfrm>
            <a:off x="822960" y="507492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30" name="anim-g8-2088"/>
          <p:cNvSpPr/>
          <p:nvPr/>
        </p:nvSpPr>
        <p:spPr>
          <a:xfrm>
            <a:off x="5775808" y="507492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31" name="anim-g8-2089"/>
          <p:cNvSpPr/>
          <p:nvPr/>
        </p:nvSpPr>
        <p:spPr>
          <a:xfrm>
            <a:off x="822960" y="5074920"/>
            <a:ext cx="4952848" cy="804672"/>
          </a:xfrm>
          <a:prstGeom prst="roundRect">
            <a:avLst>
              <a:gd name="adj" fmla="val 15909"/>
            </a:avLst>
          </a:prstGeom>
          <a:solidFill>
            <a:srgbClr val="E6F4EC"/>
          </a:solidFill>
          <a:ln/>
        </p:spPr>
      </p:sp>
      <p:sp>
        <p:nvSpPr>
          <p:cNvPr id="32" name="anim-g8-2090"/>
          <p:cNvSpPr/>
          <p:nvPr/>
        </p:nvSpPr>
        <p:spPr>
          <a:xfrm>
            <a:off x="1051560" y="507492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ميثاق للقروب يُعلن من البداية</a:t>
            </a:r>
            <a:endParaRPr lang="ar-SA" sz="2200" dirty="0"/>
          </a:p>
        </p:txBody>
      </p:sp>
      <p:sp>
        <p:nvSpPr>
          <p:cNvPr id="33" name="Text 31"/>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34" name="Text 32"/>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رسالة في القروب  ·  ١٨١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0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400"/>
                                        <p:tgtEl>
                                          <p:spTgt spid="1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400"/>
                                        <p:tgtEl>
                                          <p:spTgt spid="2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400"/>
                                        <p:tgtEl>
                                          <p:spTgt spid="2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400"/>
                                        <p:tgtEl>
                                          <p:spTgt spid="2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400"/>
                                        <p:tgtEl>
                                          <p:spTgt spid="25"/>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26"/>
                                        </p:tgtEl>
                                        <p:attrNameLst>
                                          <p:attrName>style.visibility</p:attrName>
                                        </p:attrNameLst>
                                      </p:cBhvr>
                                      <p:to>
                                        <p:strVal val="visible"/>
                                      </p:to>
                                    </p:set>
                                    <p:animEffect transition="in" filter="fade">
                                      <p:cBhvr>
                                        <p:cTn id="82" dur="400"/>
                                        <p:tgtEl>
                                          <p:spTgt spid="26"/>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7"/>
                                        </p:tgtEl>
                                        <p:attrNameLst>
                                          <p:attrName>style.visibility</p:attrName>
                                        </p:attrNameLst>
                                      </p:cBhvr>
                                      <p:to>
                                        <p:strVal val="visible"/>
                                      </p:to>
                                    </p:set>
                                    <p:animEffect transition="in" filter="fade">
                                      <p:cBhvr>
                                        <p:cTn id="85" dur="400"/>
                                        <p:tgtEl>
                                          <p:spTgt spid="27"/>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8"/>
                                        </p:tgtEl>
                                        <p:attrNameLst>
                                          <p:attrName>style.visibility</p:attrName>
                                        </p:attrNameLst>
                                      </p:cBhvr>
                                      <p:to>
                                        <p:strVal val="visible"/>
                                      </p:to>
                                    </p:set>
                                    <p:animEffect transition="in" filter="fade">
                                      <p:cBhvr>
                                        <p:cTn id="88" dur="400"/>
                                        <p:tgtEl>
                                          <p:spTgt spid="28"/>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29"/>
                                        </p:tgtEl>
                                        <p:attrNameLst>
                                          <p:attrName>style.visibility</p:attrName>
                                        </p:attrNameLst>
                                      </p:cBhvr>
                                      <p:to>
                                        <p:strVal val="visible"/>
                                      </p:to>
                                    </p:set>
                                    <p:animEffect transition="in" filter="fade">
                                      <p:cBhvr>
                                        <p:cTn id="91" dur="400"/>
                                        <p:tgtEl>
                                          <p:spTgt spid="29"/>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30"/>
                                        </p:tgtEl>
                                        <p:attrNameLst>
                                          <p:attrName>style.visibility</p:attrName>
                                        </p:attrNameLst>
                                      </p:cBhvr>
                                      <p:to>
                                        <p:strVal val="visible"/>
                                      </p:to>
                                    </p:set>
                                    <p:animEffect transition="in" filter="fade">
                                      <p:cBhvr>
                                        <p:cTn id="96" dur="400"/>
                                        <p:tgtEl>
                                          <p:spTgt spid="30"/>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1"/>
                                        </p:tgtEl>
                                        <p:attrNameLst>
                                          <p:attrName>style.visibility</p:attrName>
                                        </p:attrNameLst>
                                      </p:cBhvr>
                                      <p:to>
                                        <p:strVal val="visible"/>
                                      </p:to>
                                    </p:set>
                                    <p:animEffect transition="in" filter="fade">
                                      <p:cBhvr>
                                        <p:cTn id="99" dur="400"/>
                                        <p:tgtEl>
                                          <p:spTgt spid="31"/>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2"/>
                                        </p:tgtEl>
                                        <p:attrNameLst>
                                          <p:attrName>style.visibility</p:attrName>
                                        </p:attrNameLst>
                                      </p:cBhvr>
                                      <p:to>
                                        <p:strVal val="visible"/>
                                      </p:to>
                                    </p:set>
                                    <p:animEffect transition="in" filter="fade">
                                      <p:cBhvr>
                                        <p:cTn id="102"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Lst>
  </p:timing>
</p:sld>
</file>

<file path=ppt/slides/slide182.xml><?xml version="1.0" encoding="utf-8"?>
<p:sld xmlns:a="http://schemas.openxmlformats.org/drawingml/2006/main" xmlns:r="http://schemas.openxmlformats.org/officeDocument/2006/relationships" xmlns:p="http://schemas.openxmlformats.org/presentationml/2006/main">
  <p:cSld name="Slide 18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الموقف</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أطفئ الجمهور أولًا…</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ثم عالج الشكوى</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موقف: رسالة في القروب  ·  ١٨٢</a:t>
            </a:r>
            <a:endParaRPr lang="ar-SA" sz="1200" dirty="0"/>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kb-2091" descr="/Users/mac/Desktop/أردوينو/المشاريع والكتب/younes-training/mawaqif/assets/scenes/smartboard.jpg">    </p:cNvPr>
          <p:cNvPicPr>
            <a:picLocks noChangeAspect="1"/>
          </p:cNvPicPr>
          <p:nvPr/>
        </p:nvPicPr>
        <p:blipFill>
          <a:blip r:embed="rId2"/>
          <a:stretch>
            <a:fillRect/>
          </a:stretch>
        </p:blipFill>
        <p:spPr>
          <a:xfrm>
            <a:off x="0" y="0"/>
            <a:ext cx="12191695" cy="6858000"/>
          </a:xfrm>
          <a:prstGeom prst="rect">
            <a:avLst/>
          </a:prstGeom>
        </p:spPr>
      </p:pic>
      <p:pic>
        <p:nvPicPr>
          <p:cNvPr id="3" name="Image 1" descr="/Users/mac/Desktop/أردوينو/المشاريع والكتب/younes-training/shared/assets/mcover-overlay.png">    </p:cNvPr>
          <p:cNvPicPr>
            <a:picLocks noChangeAspect="1"/>
          </p:cNvPicPr>
          <p:nvPr/>
        </p:nvPicPr>
        <p:blipFill>
          <a:blip r:embed="rId3"/>
          <a:stretch>
            <a:fillRect/>
          </a:stretch>
        </p:blipFill>
        <p:spPr>
          <a:xfrm>
            <a:off x="0" y="0"/>
            <a:ext cx="12191695" cy="6858000"/>
          </a:xfrm>
          <a:prstGeom prst="rect">
            <a:avLst/>
          </a:prstGeom>
        </p:spPr>
      </p:pic>
      <p:sp>
        <p:nvSpPr>
          <p:cNvPr id="4" name="Text 0"/>
          <p:cNvSpPr/>
          <p:nvPr/>
        </p:nvSpPr>
        <p:spPr>
          <a:xfrm>
            <a:off x="5669280" y="1737360"/>
            <a:ext cx="5699455" cy="502920"/>
          </a:xfrm>
          <a:prstGeom prst="rect">
            <a:avLst/>
          </a:prstGeom>
          <a:noFill/>
          <a:ln/>
        </p:spPr>
        <p:txBody>
          <a:bodyPr wrap="square" lIns="0" tIns="0" rIns="0" bIns="0" rtlCol="0" anchor="ctr">
            <a:normAutofit/>
          </a:bodyPr>
          <a:lstStyle/>
          <a:p>
            <a:pPr rtl="1" algn="r" indent="0" marL="0">
              <a:buNone/>
            </a:pPr>
            <a:r>
              <a:rPr lang="ar-SA" altLang="en-US" sz="2200" b="1" dirty="0">
                <a:solidFill>
                  <a:srgbClr val="D9AE4B"/>
                </a:solidFill>
                <a:latin typeface="Cairo" pitchFamily="34" charset="0"/>
                <a:ea typeface="Cairo" pitchFamily="34" charset="-122"/>
                <a:cs typeface="Cairo" pitchFamily="34" charset="-120"/>
              </a:rPr>
              <a:t>مواقف العصر الرقمي</a:t>
            </a:r>
            <a:endParaRPr lang="ar-SA" sz="2200" dirty="0"/>
          </a:p>
        </p:txBody>
      </p:sp>
      <p:sp>
        <p:nvSpPr>
          <p:cNvPr id="5" name="Text 1"/>
          <p:cNvSpPr/>
          <p:nvPr/>
        </p:nvSpPr>
        <p:spPr>
          <a:xfrm>
            <a:off x="5669280" y="2286000"/>
            <a:ext cx="5699455" cy="548640"/>
          </a:xfrm>
          <a:prstGeom prst="rect">
            <a:avLst/>
          </a:prstGeom>
          <a:noFill/>
          <a:ln/>
        </p:spPr>
        <p:txBody>
          <a:bodyPr wrap="square" lIns="0" tIns="0" rIns="0" bIns="0" rtlCol="0" anchor="ctr">
            <a:normAutofit/>
          </a:bodyPr>
          <a:lstStyle/>
          <a:p>
            <a:pPr rtl="1" algn="r" indent="0" marL="0">
              <a:buNone/>
            </a:pPr>
            <a:r>
              <a:rPr lang="ar-SA" altLang="en-US" sz="2600" b="1" dirty="0">
                <a:solidFill>
                  <a:srgbClr val="C9CFE6"/>
                </a:solidFill>
                <a:latin typeface="Cairo" pitchFamily="34" charset="0"/>
                <a:ea typeface="Cairo" pitchFamily="34" charset="-122"/>
                <a:cs typeface="Cairo" pitchFamily="34" charset="-120"/>
              </a:rPr>
              <a:t>الموقف ١٥</a:t>
            </a:r>
            <a:endParaRPr lang="ar-SA" sz="2600" dirty="0"/>
          </a:p>
        </p:txBody>
      </p:sp>
      <p:sp>
        <p:nvSpPr>
          <p:cNvPr id="6" name="Text 2"/>
          <p:cNvSpPr/>
          <p:nvPr/>
        </p:nvSpPr>
        <p:spPr>
          <a:xfrm>
            <a:off x="4572000" y="2834640"/>
            <a:ext cx="6796735" cy="1188720"/>
          </a:xfrm>
          <a:prstGeom prst="rect">
            <a:avLst/>
          </a:prstGeom>
          <a:noFill/>
          <a:ln/>
        </p:spPr>
        <p:txBody>
          <a:bodyPr wrap="square" lIns="0" tIns="0" rIns="0" bIns="0" rtlCol="0" anchor="ctr">
            <a:normAutofit/>
          </a:bodyPr>
          <a:lstStyle/>
          <a:p>
            <a:pPr rtl="1" algn="r" indent="0" marL="0">
              <a:buNone/>
            </a:pPr>
            <a:r>
              <a:rPr lang="ar-SA" altLang="en-US" sz="5000" dirty="0">
                <a:solidFill>
                  <a:srgbClr val="FFFFFF"/>
                </a:solidFill>
                <a:latin typeface="Cairo Black" pitchFamily="34" charset="0"/>
                <a:ea typeface="Cairo Black" pitchFamily="34" charset="-122"/>
                <a:cs typeface="Cairo Black" pitchFamily="34" charset="-120"/>
              </a:rPr>
              <a:t>من يتحكم بالسبورة؟</a:t>
            </a:r>
            <a:endParaRPr lang="ar-SA" sz="5000" dirty="0"/>
          </a:p>
        </p:txBody>
      </p:sp>
      <p:sp>
        <p:nvSpPr>
          <p:cNvPr id="7" name="Shape 3"/>
          <p:cNvSpPr/>
          <p:nvPr/>
        </p:nvSpPr>
        <p:spPr>
          <a:xfrm>
            <a:off x="10125151" y="4480560"/>
            <a:ext cx="1243584"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8" name="Text 4"/>
          <p:cNvSpPr/>
          <p:nvPr/>
        </p:nvSpPr>
        <p:spPr>
          <a:xfrm>
            <a:off x="10125151" y="4480560"/>
            <a:ext cx="1243584"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القصة</a:t>
            </a:r>
            <a:endParaRPr lang="ar-SA" sz="1500" dirty="0"/>
          </a:p>
        </p:txBody>
      </p:sp>
      <p:sp>
        <p:nvSpPr>
          <p:cNvPr id="9" name="Shape 5"/>
          <p:cNvSpPr/>
          <p:nvPr/>
        </p:nvSpPr>
        <p:spPr>
          <a:xfrm>
            <a:off x="8680399" y="4480560"/>
            <a:ext cx="1353312"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0" name="Text 6"/>
          <p:cNvSpPr/>
          <p:nvPr/>
        </p:nvSpPr>
        <p:spPr>
          <a:xfrm>
            <a:off x="8680399" y="4480560"/>
            <a:ext cx="1353312"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تصويت</a:t>
            </a:r>
            <a:endParaRPr lang="ar-SA" sz="1500" dirty="0"/>
          </a:p>
        </p:txBody>
      </p:sp>
      <p:sp>
        <p:nvSpPr>
          <p:cNvPr id="11" name="Shape 7"/>
          <p:cNvSpPr/>
          <p:nvPr/>
        </p:nvSpPr>
        <p:spPr>
          <a:xfrm>
            <a:off x="7235647" y="4480560"/>
            <a:ext cx="1353312"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2" name="Text 8"/>
          <p:cNvSpPr/>
          <p:nvPr/>
        </p:nvSpPr>
        <p:spPr>
          <a:xfrm>
            <a:off x="7235647" y="4480560"/>
            <a:ext cx="1353312"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لماذا؟</a:t>
            </a:r>
            <a:endParaRPr lang="ar-SA" sz="1500" dirty="0"/>
          </a:p>
        </p:txBody>
      </p:sp>
      <p:sp>
        <p:nvSpPr>
          <p:cNvPr id="13" name="Shape 9"/>
          <p:cNvSpPr/>
          <p:nvPr/>
        </p:nvSpPr>
        <p:spPr>
          <a:xfrm>
            <a:off x="5571439" y="4480560"/>
            <a:ext cx="1572768"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4" name="Text 10"/>
          <p:cNvSpPr/>
          <p:nvPr/>
        </p:nvSpPr>
        <p:spPr>
          <a:xfrm>
            <a:off x="5571439" y="4480560"/>
            <a:ext cx="1572768"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أول خطوة</a:t>
            </a:r>
            <a:endParaRPr lang="ar-SA" sz="1500" dirty="0"/>
          </a:p>
        </p:txBody>
      </p:sp>
      <p:sp>
        <p:nvSpPr>
          <p:cNvPr id="15" name="Shape 11"/>
          <p:cNvSpPr/>
          <p:nvPr/>
        </p:nvSpPr>
        <p:spPr>
          <a:xfrm>
            <a:off x="3687775" y="4480560"/>
            <a:ext cx="1792224"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6" name="Text 12"/>
          <p:cNvSpPr/>
          <p:nvPr/>
        </p:nvSpPr>
        <p:spPr>
          <a:xfrm>
            <a:off x="3687775" y="4480560"/>
            <a:ext cx="1792224"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ماذا تقول؟</a:t>
            </a:r>
            <a:endParaRPr lang="ar-SA" sz="1500" dirty="0"/>
          </a:p>
        </p:txBody>
      </p:sp>
      <p:sp>
        <p:nvSpPr>
          <p:cNvPr id="17" name="Text 1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18" name="Text 1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موقف: من يتحكم بالسبورة؟  ·  ١٨٣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16000" fill="hold"/>
                                        <p:tgtEl>
                                          <p:spTgt spid="2"/>
                                        </p:tgtEl>
                                      </p:cBhvr>
                                      <p:by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4.xml><?xml version="1.0" encoding="utf-8"?>
<p:sld xmlns:a="http://schemas.openxmlformats.org/drawingml/2006/main" xmlns:r="http://schemas.openxmlformats.org/officeDocument/2006/relationships" xmlns:p="http://schemas.openxmlformats.org/presentationml/2006/main">
  <p:cSld name="Slide 18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kb-2092" descr="/Users/mac/Desktop/أردوينو/المشاريع والكتب/younes-training/mawaqif/assets/scenes/smartboard.jpg">    </p:cNvPr>
          <p:cNvPicPr>
            <a:picLocks noChangeAspect="1"/>
          </p:cNvPicPr>
          <p:nvPr/>
        </p:nvPicPr>
        <p:blipFill>
          <a:blip r:embed="rId2"/>
          <a:stretch>
            <a:fillRect/>
          </a:stretch>
        </p:blipFill>
        <p:spPr>
          <a:xfrm>
            <a:off x="0" y="0"/>
            <a:ext cx="12191695" cy="6858000"/>
          </a:xfrm>
          <a:prstGeom prst="rect">
            <a:avLst/>
          </a:prstGeom>
        </p:spPr>
      </p:pic>
      <p:pic>
        <p:nvPicPr>
          <p:cNvPr id="3" name="Image 1" descr="/Users/mac/Desktop/أردوينو/المشاريع والكتب/younes-training/shared/assets/story-overlay.png">    </p:cNvPr>
          <p:cNvPicPr>
            <a:picLocks noChangeAspect="1"/>
          </p:cNvPicPr>
          <p:nvPr/>
        </p:nvPicPr>
        <p:blipFill>
          <a:blip r:embed="rId3"/>
          <a:stretch>
            <a:fillRect/>
          </a:stretch>
        </p:blipFill>
        <p:spPr>
          <a:xfrm>
            <a:off x="0" y="0"/>
            <a:ext cx="12191695" cy="6858000"/>
          </a:xfrm>
          <a:prstGeom prst="rect">
            <a:avLst/>
          </a:prstGeom>
        </p:spPr>
      </p:pic>
      <p:sp>
        <p:nvSpPr>
          <p:cNvPr id="4" name="Shape 0"/>
          <p:cNvSpPr/>
          <p:nvPr/>
        </p:nvSpPr>
        <p:spPr>
          <a:xfrm>
            <a:off x="7985455" y="365760"/>
            <a:ext cx="3657600" cy="502920"/>
          </a:xfrm>
          <a:prstGeom prst="roundRect">
            <a:avLst>
              <a:gd name="adj" fmla="val 49091"/>
            </a:avLst>
          </a:prstGeom>
          <a:solidFill>
            <a:srgbClr val="0A1230">
              <a:alpha val="80000"/>
            </a:srgbClr>
          </a:solidFill>
          <a:ln w="12700">
            <a:solidFill>
              <a:srgbClr val="D9AE4B">
                <a:alpha val="60000"/>
              </a:srgbClr>
            </a:solidFill>
            <a:prstDash val="solid"/>
          </a:ln>
        </p:spPr>
      </p:sp>
      <p:sp>
        <p:nvSpPr>
          <p:cNvPr id="5" name="Text 1"/>
          <p:cNvSpPr/>
          <p:nvPr/>
        </p:nvSpPr>
        <p:spPr>
          <a:xfrm>
            <a:off x="7985455" y="365760"/>
            <a:ext cx="3657600" cy="50292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 القصة · ماذا حدث؟</a:t>
            </a:r>
            <a:endParaRPr lang="ar-SA" sz="1800" dirty="0"/>
          </a:p>
        </p:txBody>
      </p:sp>
      <p:sp>
        <p:nvSpPr>
          <p:cNvPr id="6" name="Shape 2"/>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7" name="Text 3"/>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بدأت أ. أمل عرض الدرس على السبورة الذكية، فظهرت فجأة ملصقات ووجوه ضاحكة تملأ الشاشة.</a:t>
            </a:r>
            <a:endParaRPr lang="ar-SA" sz="2400" dirty="0"/>
          </a:p>
        </p:txBody>
      </p:sp>
      <p:sp>
        <p:nvSpPr>
          <p:cNvPr id="8" name="anim-g1-2093"/>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9" name="anim-g1-2094"/>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ضغطت على جهاز التحكم فلم يستجب، ثم انتقل العرض وحده إلى صفحة أخرى.</a:t>
            </a:r>
            <a:endParaRPr lang="ar-SA" sz="2400" dirty="0"/>
          </a:p>
        </p:txBody>
      </p:sp>
      <p:sp>
        <p:nvSpPr>
          <p:cNvPr id="10" name="anim-g2-2095"/>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11" name="anim-g2-2096"/>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كانت بعض طالبات الثاني المتوسط قد اتصلن بالسبورة من جوالاتهن عبر خاصية العرض اللاسلكي، والضحكات المكتومة تملأ الفصل.</a:t>
            </a:r>
            <a:endParaRPr lang="ar-SA" sz="2400" dirty="0"/>
          </a:p>
        </p:txBody>
      </p:sp>
      <p:sp>
        <p:nvSpPr>
          <p:cNvPr id="12" name="anim-g3-2097"/>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13" name="anim-g3-2098"/>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600" b="1" dirty="0">
                <a:solidFill>
                  <a:srgbClr val="F0CC7A"/>
                </a:solidFill>
                <a:latin typeface="Cairo" pitchFamily="34" charset="0"/>
                <a:ea typeface="Cairo" pitchFamily="34" charset="-122"/>
                <a:cs typeface="Cairo" pitchFamily="34" charset="-120"/>
              </a:rPr>
              <a:t>ضاع ربع الحصة… وأ. أمل لا تعرف من يتحكم، ولا كيف توقفه.</a:t>
            </a:r>
            <a:endParaRPr lang="ar-SA" sz="2600" dirty="0"/>
          </a:p>
        </p:txBody>
      </p:sp>
      <p:sp>
        <p:nvSpPr>
          <p:cNvPr id="14" name="Text 1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15" name="Text 1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موقف: من يتحكم بالسبورة؟  ·  ١٨٤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16000" fill="hold"/>
                                        <p:tgtEl>
                                          <p:spTgt spid="2"/>
                                        </p:tgtEl>
                                      </p:cBhvr>
                                      <p:by x="112000" y="112000"/>
                                    </p:animScale>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Lst>
  </p:timing>
</p:sld>
</file>

<file path=ppt/slides/slide185.xml><?xml version="1.0" encoding="utf-8"?>
<p:sld xmlns:a="http://schemas.openxmlformats.org/drawingml/2006/main" xmlns:r="http://schemas.openxmlformats.org/officeDocument/2006/relationships" xmlns:p="http://schemas.openxmlformats.org/presentationml/2006/main">
  <p:cSld name="Slide 18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296351" y="457200"/>
            <a:ext cx="3072384" cy="457200"/>
          </a:xfrm>
          <a:prstGeom prst="roundRect">
            <a:avLst>
              <a:gd name="adj" fmla="val 50000"/>
            </a:avLst>
          </a:prstGeom>
          <a:solidFill>
            <a:srgbClr val="F6EBCF"/>
          </a:solidFill>
          <a:ln/>
        </p:spPr>
      </p:sp>
      <p:sp>
        <p:nvSpPr>
          <p:cNvPr id="3" name="Text 1"/>
          <p:cNvSpPr/>
          <p:nvPr/>
        </p:nvSpPr>
        <p:spPr>
          <a:xfrm>
            <a:off x="8296351" y="457200"/>
            <a:ext cx="307238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صوّت قبل أن نكشف</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ماذا تفعل أ. أمل؟</a:t>
            </a:r>
            <a:endParaRPr lang="ar-SA" sz="3800" dirty="0"/>
          </a:p>
        </p:txBody>
      </p:sp>
      <p:sp>
        <p:nvSpPr>
          <p:cNvPr id="5" name="Shape 3"/>
          <p:cNvSpPr/>
          <p:nvPr/>
        </p:nvSpPr>
        <p:spPr>
          <a:xfrm>
            <a:off x="822960" y="2057400"/>
            <a:ext cx="10545775" cy="884682"/>
          </a:xfrm>
          <a:prstGeom prst="roundRect">
            <a:avLst>
              <a:gd name="adj" fmla="val 16537"/>
            </a:avLst>
          </a:prstGeom>
          <a:solidFill>
            <a:srgbClr val="FFFFFF"/>
          </a:solidFill>
          <a:ln w="19050">
            <a:solidFill>
              <a:srgbClr val="E4DCC8"/>
            </a:solidFill>
            <a:prstDash val="solid"/>
          </a:ln>
        </p:spPr>
      </p:sp>
      <p:sp>
        <p:nvSpPr>
          <p:cNvPr id="6" name="Shape 4"/>
          <p:cNvSpPr/>
          <p:nvPr/>
        </p:nvSpPr>
        <p:spPr>
          <a:xfrm>
            <a:off x="10575493" y="2194560"/>
            <a:ext cx="610362" cy="610362"/>
          </a:xfrm>
          <a:prstGeom prst="roundRect">
            <a:avLst>
              <a:gd name="adj" fmla="val 17978"/>
            </a:avLst>
          </a:prstGeom>
          <a:solidFill>
            <a:srgbClr val="101B45"/>
          </a:solidFill>
          <a:ln/>
        </p:spPr>
      </p:sp>
      <p:sp>
        <p:nvSpPr>
          <p:cNvPr id="7" name="Text 5"/>
          <p:cNvSpPr/>
          <p:nvPr/>
        </p:nvSpPr>
        <p:spPr>
          <a:xfrm>
            <a:off x="10575493" y="2194560"/>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أ</a:t>
            </a:r>
            <a:endParaRPr lang="ar-SA" sz="2000" dirty="0"/>
          </a:p>
        </p:txBody>
      </p:sp>
      <p:sp>
        <p:nvSpPr>
          <p:cNvPr id="8" name="Text 6"/>
          <p:cNvSpPr/>
          <p:nvPr/>
        </p:nvSpPr>
        <p:spPr>
          <a:xfrm>
            <a:off x="1097280" y="2057400"/>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تغلق السبورة وتلغي الشرح الإلكتروني نهائيًا</a:t>
            </a:r>
            <a:endParaRPr lang="ar-SA" sz="2200" dirty="0"/>
          </a:p>
        </p:txBody>
      </p:sp>
      <p:sp>
        <p:nvSpPr>
          <p:cNvPr id="9" name="anim-g1-2099"/>
          <p:cNvSpPr/>
          <p:nvPr/>
        </p:nvSpPr>
        <p:spPr>
          <a:xfrm>
            <a:off x="822960" y="2057400"/>
            <a:ext cx="10545775" cy="884682"/>
          </a:xfrm>
          <a:prstGeom prst="roundRect">
            <a:avLst>
              <a:gd name="adj" fmla="val 16537"/>
            </a:avLst>
          </a:prstGeom>
          <a:solidFill>
            <a:srgbClr val="F7F7F9"/>
          </a:solidFill>
          <a:ln w="19050">
            <a:solidFill>
              <a:srgbClr val="E4DCC8"/>
            </a:solidFill>
            <a:prstDash val="solid"/>
          </a:ln>
        </p:spPr>
      </p:sp>
      <p:sp>
        <p:nvSpPr>
          <p:cNvPr id="10" name="anim-g1-2100"/>
          <p:cNvSpPr/>
          <p:nvPr/>
        </p:nvSpPr>
        <p:spPr>
          <a:xfrm>
            <a:off x="10575493" y="2194560"/>
            <a:ext cx="610362" cy="610362"/>
          </a:xfrm>
          <a:prstGeom prst="roundRect">
            <a:avLst>
              <a:gd name="adj" fmla="val 17978"/>
            </a:avLst>
          </a:prstGeom>
          <a:solidFill>
            <a:srgbClr val="A3A9BA"/>
          </a:solidFill>
          <a:ln/>
        </p:spPr>
      </p:sp>
      <p:sp>
        <p:nvSpPr>
          <p:cNvPr id="11" name="anim-g1-2101"/>
          <p:cNvSpPr/>
          <p:nvPr/>
        </p:nvSpPr>
        <p:spPr>
          <a:xfrm>
            <a:off x="10575493" y="2194560"/>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أ</a:t>
            </a:r>
            <a:endParaRPr lang="ar-SA" sz="2000" dirty="0"/>
          </a:p>
        </p:txBody>
      </p:sp>
      <p:sp>
        <p:nvSpPr>
          <p:cNvPr id="12" name="anim-g1-2102"/>
          <p:cNvSpPr/>
          <p:nvPr/>
        </p:nvSpPr>
        <p:spPr>
          <a:xfrm>
            <a:off x="1097280" y="2093976"/>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تغلق السبورة وتلغي الشرح الإلكتروني نهائيًا</a:t>
            </a:r>
            <a:endParaRPr lang="ar-SA" sz="2200" dirty="0"/>
          </a:p>
        </p:txBody>
      </p:sp>
      <p:sp>
        <p:nvSpPr>
          <p:cNvPr id="13" name="anim-g1-2103"/>
          <p:cNvSpPr/>
          <p:nvPr/>
        </p:nvSpPr>
        <p:spPr>
          <a:xfrm>
            <a:off x="1097280" y="2535128"/>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الاستسلام للتقنية يحرم الطالبات من أداة مفيدة</a:t>
            </a:r>
            <a:endParaRPr lang="ar-SA" sz="1800" dirty="0"/>
          </a:p>
        </p:txBody>
      </p:sp>
      <p:sp>
        <p:nvSpPr>
          <p:cNvPr id="14" name="Shape 12"/>
          <p:cNvSpPr/>
          <p:nvPr/>
        </p:nvSpPr>
        <p:spPr>
          <a:xfrm>
            <a:off x="822960" y="3088386"/>
            <a:ext cx="10545775" cy="884682"/>
          </a:xfrm>
          <a:prstGeom prst="roundRect">
            <a:avLst>
              <a:gd name="adj" fmla="val 16537"/>
            </a:avLst>
          </a:prstGeom>
          <a:solidFill>
            <a:srgbClr val="FFFFFF"/>
          </a:solidFill>
          <a:ln w="19050">
            <a:solidFill>
              <a:srgbClr val="E4DCC8"/>
            </a:solidFill>
            <a:prstDash val="solid"/>
          </a:ln>
        </p:spPr>
      </p:sp>
      <p:sp>
        <p:nvSpPr>
          <p:cNvPr id="15" name="Shape 13"/>
          <p:cNvSpPr/>
          <p:nvPr/>
        </p:nvSpPr>
        <p:spPr>
          <a:xfrm>
            <a:off x="10575493" y="3225546"/>
            <a:ext cx="610362" cy="610362"/>
          </a:xfrm>
          <a:prstGeom prst="roundRect">
            <a:avLst>
              <a:gd name="adj" fmla="val 17978"/>
            </a:avLst>
          </a:prstGeom>
          <a:solidFill>
            <a:srgbClr val="101B45"/>
          </a:solidFill>
          <a:ln/>
        </p:spPr>
      </p:sp>
      <p:sp>
        <p:nvSpPr>
          <p:cNvPr id="16" name="Text 14"/>
          <p:cNvSpPr/>
          <p:nvPr/>
        </p:nvSpPr>
        <p:spPr>
          <a:xfrm>
            <a:off x="10575493" y="3225546"/>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ب</a:t>
            </a:r>
            <a:endParaRPr lang="ar-SA" sz="2000" dirty="0"/>
          </a:p>
        </p:txBody>
      </p:sp>
      <p:sp>
        <p:nvSpPr>
          <p:cNvPr id="17" name="Text 15"/>
          <p:cNvSpPr/>
          <p:nvPr/>
        </p:nvSpPr>
        <p:spPr>
          <a:xfrm>
            <a:off x="1097280" y="3088386"/>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تصرخ وتفتش جوالات الطالبات</a:t>
            </a:r>
            <a:endParaRPr lang="ar-SA" sz="2200" dirty="0"/>
          </a:p>
        </p:txBody>
      </p:sp>
      <p:sp>
        <p:nvSpPr>
          <p:cNvPr id="18" name="anim-g1-2104"/>
          <p:cNvSpPr/>
          <p:nvPr/>
        </p:nvSpPr>
        <p:spPr>
          <a:xfrm>
            <a:off x="822960" y="3088386"/>
            <a:ext cx="10545775" cy="884682"/>
          </a:xfrm>
          <a:prstGeom prst="roundRect">
            <a:avLst>
              <a:gd name="adj" fmla="val 16537"/>
            </a:avLst>
          </a:prstGeom>
          <a:solidFill>
            <a:srgbClr val="F7F7F9"/>
          </a:solidFill>
          <a:ln w="19050">
            <a:solidFill>
              <a:srgbClr val="E4DCC8"/>
            </a:solidFill>
            <a:prstDash val="solid"/>
          </a:ln>
        </p:spPr>
      </p:sp>
      <p:sp>
        <p:nvSpPr>
          <p:cNvPr id="19" name="anim-g1-2105"/>
          <p:cNvSpPr/>
          <p:nvPr/>
        </p:nvSpPr>
        <p:spPr>
          <a:xfrm>
            <a:off x="10575493" y="3225546"/>
            <a:ext cx="610362" cy="610362"/>
          </a:xfrm>
          <a:prstGeom prst="roundRect">
            <a:avLst>
              <a:gd name="adj" fmla="val 17978"/>
            </a:avLst>
          </a:prstGeom>
          <a:solidFill>
            <a:srgbClr val="A3A9BA"/>
          </a:solidFill>
          <a:ln/>
        </p:spPr>
      </p:sp>
      <p:sp>
        <p:nvSpPr>
          <p:cNvPr id="20" name="anim-g1-2106"/>
          <p:cNvSpPr/>
          <p:nvPr/>
        </p:nvSpPr>
        <p:spPr>
          <a:xfrm>
            <a:off x="10575493" y="3225546"/>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ب</a:t>
            </a:r>
            <a:endParaRPr lang="ar-SA" sz="2000" dirty="0"/>
          </a:p>
        </p:txBody>
      </p:sp>
      <p:sp>
        <p:nvSpPr>
          <p:cNvPr id="21" name="anim-g1-2107"/>
          <p:cNvSpPr/>
          <p:nvPr/>
        </p:nvSpPr>
        <p:spPr>
          <a:xfrm>
            <a:off x="1097280" y="3124962"/>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تصرخ وتفتش جوالات الطالبات</a:t>
            </a:r>
            <a:endParaRPr lang="ar-SA" sz="2200" dirty="0"/>
          </a:p>
        </p:txBody>
      </p:sp>
      <p:sp>
        <p:nvSpPr>
          <p:cNvPr id="22" name="anim-g1-2108"/>
          <p:cNvSpPr/>
          <p:nvPr/>
        </p:nvSpPr>
        <p:spPr>
          <a:xfrm>
            <a:off x="1097280" y="3566114"/>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التفتيش يحوّل الموقف إلى معركة، والصراخ يمنحهن ما أردن</a:t>
            </a:r>
            <a:endParaRPr lang="ar-SA" sz="1800" dirty="0"/>
          </a:p>
        </p:txBody>
      </p:sp>
      <p:sp>
        <p:nvSpPr>
          <p:cNvPr id="23" name="Shape 21"/>
          <p:cNvSpPr/>
          <p:nvPr/>
        </p:nvSpPr>
        <p:spPr>
          <a:xfrm>
            <a:off x="822960" y="4119372"/>
            <a:ext cx="10545775" cy="884682"/>
          </a:xfrm>
          <a:prstGeom prst="roundRect">
            <a:avLst>
              <a:gd name="adj" fmla="val 16537"/>
            </a:avLst>
          </a:prstGeom>
          <a:solidFill>
            <a:srgbClr val="FFFFFF"/>
          </a:solidFill>
          <a:ln w="19050">
            <a:solidFill>
              <a:srgbClr val="E4DCC8"/>
            </a:solidFill>
            <a:prstDash val="solid"/>
          </a:ln>
        </p:spPr>
      </p:sp>
      <p:sp>
        <p:nvSpPr>
          <p:cNvPr id="24" name="Shape 22"/>
          <p:cNvSpPr/>
          <p:nvPr/>
        </p:nvSpPr>
        <p:spPr>
          <a:xfrm>
            <a:off x="10575493" y="4256532"/>
            <a:ext cx="610362" cy="610362"/>
          </a:xfrm>
          <a:prstGeom prst="roundRect">
            <a:avLst>
              <a:gd name="adj" fmla="val 17978"/>
            </a:avLst>
          </a:prstGeom>
          <a:solidFill>
            <a:srgbClr val="101B45"/>
          </a:solidFill>
          <a:ln/>
        </p:spPr>
      </p:sp>
      <p:sp>
        <p:nvSpPr>
          <p:cNvPr id="25" name="Text 23"/>
          <p:cNvSpPr/>
          <p:nvPr/>
        </p:nvSpPr>
        <p:spPr>
          <a:xfrm>
            <a:off x="10575493" y="4256532"/>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ج</a:t>
            </a:r>
            <a:endParaRPr lang="ar-SA" sz="2000" dirty="0"/>
          </a:p>
        </p:txBody>
      </p:sp>
      <p:sp>
        <p:nvSpPr>
          <p:cNvPr id="26" name="Text 24"/>
          <p:cNvSpPr/>
          <p:nvPr/>
        </p:nvSpPr>
        <p:spPr>
          <a:xfrm>
            <a:off x="1097280" y="4119372"/>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توقف الاتصال بهدوء، وتكمل، ثم تضع قاعدة وتؤمّن الجهاز</a:t>
            </a:r>
            <a:endParaRPr lang="ar-SA" sz="2200" dirty="0"/>
          </a:p>
        </p:txBody>
      </p:sp>
      <p:sp>
        <p:nvSpPr>
          <p:cNvPr id="27" name="anim-g1-2109"/>
          <p:cNvSpPr/>
          <p:nvPr/>
        </p:nvSpPr>
        <p:spPr>
          <a:xfrm>
            <a:off x="822960" y="4119372"/>
            <a:ext cx="10545775" cy="884682"/>
          </a:xfrm>
          <a:prstGeom prst="roundRect">
            <a:avLst>
              <a:gd name="adj" fmla="val 16537"/>
            </a:avLst>
          </a:prstGeom>
          <a:solidFill>
            <a:srgbClr val="E6F4EC"/>
          </a:solidFill>
          <a:ln w="31750">
            <a:solidFill>
              <a:srgbClr val="2E9E6B"/>
            </a:solidFill>
            <a:prstDash val="solid"/>
          </a:ln>
        </p:spPr>
      </p:sp>
      <p:sp>
        <p:nvSpPr>
          <p:cNvPr id="28" name="anim-g1-2110"/>
          <p:cNvSpPr/>
          <p:nvPr/>
        </p:nvSpPr>
        <p:spPr>
          <a:xfrm>
            <a:off x="10575493" y="4256532"/>
            <a:ext cx="610362" cy="610362"/>
          </a:xfrm>
          <a:prstGeom prst="roundRect">
            <a:avLst>
              <a:gd name="adj" fmla="val 17978"/>
            </a:avLst>
          </a:prstGeom>
          <a:solidFill>
            <a:srgbClr val="2E9E6B"/>
          </a:solidFill>
          <a:ln/>
        </p:spPr>
      </p:sp>
      <p:sp>
        <p:nvSpPr>
          <p:cNvPr id="29" name="anim-g1-2111"/>
          <p:cNvSpPr/>
          <p:nvPr/>
        </p:nvSpPr>
        <p:spPr>
          <a:xfrm>
            <a:off x="10575493" y="4256532"/>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a:t>
            </a:r>
            <a:endParaRPr lang="ar-SA" sz="2000" dirty="0"/>
          </a:p>
        </p:txBody>
      </p:sp>
      <p:sp>
        <p:nvSpPr>
          <p:cNvPr id="30" name="anim-g1-2112"/>
          <p:cNvSpPr/>
          <p:nvPr/>
        </p:nvSpPr>
        <p:spPr>
          <a:xfrm>
            <a:off x="1097280" y="4155948"/>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توقف الاتصال بهدوء، وتكمل، ثم تضع قاعدة وتؤمّن الجهاز</a:t>
            </a:r>
            <a:endParaRPr lang="ar-SA" sz="2200" dirty="0"/>
          </a:p>
        </p:txBody>
      </p:sp>
      <p:sp>
        <p:nvSpPr>
          <p:cNvPr id="31" name="anim-g1-2113"/>
          <p:cNvSpPr/>
          <p:nvPr/>
        </p:nvSpPr>
        <p:spPr>
          <a:xfrm>
            <a:off x="1097280" y="4597100"/>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المشكلة تقنية قبل أن تكون سلوكية، والحل تقني وسلوكي معًا</a:t>
            </a:r>
            <a:endParaRPr lang="ar-SA" sz="1800" dirty="0"/>
          </a:p>
        </p:txBody>
      </p:sp>
      <p:sp>
        <p:nvSpPr>
          <p:cNvPr id="32" name="Shape 30"/>
          <p:cNvSpPr/>
          <p:nvPr/>
        </p:nvSpPr>
        <p:spPr>
          <a:xfrm>
            <a:off x="822960" y="5150358"/>
            <a:ext cx="10545775" cy="884682"/>
          </a:xfrm>
          <a:prstGeom prst="roundRect">
            <a:avLst>
              <a:gd name="adj" fmla="val 16537"/>
            </a:avLst>
          </a:prstGeom>
          <a:solidFill>
            <a:srgbClr val="FFFFFF"/>
          </a:solidFill>
          <a:ln w="19050">
            <a:solidFill>
              <a:srgbClr val="E4DCC8"/>
            </a:solidFill>
            <a:prstDash val="solid"/>
          </a:ln>
        </p:spPr>
      </p:sp>
      <p:sp>
        <p:nvSpPr>
          <p:cNvPr id="33" name="Shape 31"/>
          <p:cNvSpPr/>
          <p:nvPr/>
        </p:nvSpPr>
        <p:spPr>
          <a:xfrm>
            <a:off x="10575493" y="5287518"/>
            <a:ext cx="610362" cy="610362"/>
          </a:xfrm>
          <a:prstGeom prst="roundRect">
            <a:avLst>
              <a:gd name="adj" fmla="val 17978"/>
            </a:avLst>
          </a:prstGeom>
          <a:solidFill>
            <a:srgbClr val="101B45"/>
          </a:solidFill>
          <a:ln/>
        </p:spPr>
      </p:sp>
      <p:sp>
        <p:nvSpPr>
          <p:cNvPr id="34" name="Text 32"/>
          <p:cNvSpPr/>
          <p:nvPr/>
        </p:nvSpPr>
        <p:spPr>
          <a:xfrm>
            <a:off x="10575493" y="5287518"/>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د</a:t>
            </a:r>
            <a:endParaRPr lang="ar-SA" sz="2000" dirty="0"/>
          </a:p>
        </p:txBody>
      </p:sp>
      <p:sp>
        <p:nvSpPr>
          <p:cNvPr id="35" name="Text 33"/>
          <p:cNvSpPr/>
          <p:nvPr/>
        </p:nvSpPr>
        <p:spPr>
          <a:xfrm>
            <a:off x="1097280" y="5150358"/>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تتجاهل وتحاول الشرح وسط الفوضى</a:t>
            </a:r>
            <a:endParaRPr lang="ar-SA" sz="2200" dirty="0"/>
          </a:p>
        </p:txBody>
      </p:sp>
      <p:sp>
        <p:nvSpPr>
          <p:cNvPr id="36" name="anim-g1-2114"/>
          <p:cNvSpPr/>
          <p:nvPr/>
        </p:nvSpPr>
        <p:spPr>
          <a:xfrm>
            <a:off x="822960" y="5150358"/>
            <a:ext cx="10545775" cy="884682"/>
          </a:xfrm>
          <a:prstGeom prst="roundRect">
            <a:avLst>
              <a:gd name="adj" fmla="val 16537"/>
            </a:avLst>
          </a:prstGeom>
          <a:solidFill>
            <a:srgbClr val="F7F7F9"/>
          </a:solidFill>
          <a:ln w="19050">
            <a:solidFill>
              <a:srgbClr val="E4DCC8"/>
            </a:solidFill>
            <a:prstDash val="solid"/>
          </a:ln>
        </p:spPr>
      </p:sp>
      <p:sp>
        <p:nvSpPr>
          <p:cNvPr id="37" name="anim-g1-2115"/>
          <p:cNvSpPr/>
          <p:nvPr/>
        </p:nvSpPr>
        <p:spPr>
          <a:xfrm>
            <a:off x="10575493" y="5287518"/>
            <a:ext cx="610362" cy="610362"/>
          </a:xfrm>
          <a:prstGeom prst="roundRect">
            <a:avLst>
              <a:gd name="adj" fmla="val 17978"/>
            </a:avLst>
          </a:prstGeom>
          <a:solidFill>
            <a:srgbClr val="A3A9BA"/>
          </a:solidFill>
          <a:ln/>
        </p:spPr>
      </p:sp>
      <p:sp>
        <p:nvSpPr>
          <p:cNvPr id="38" name="anim-g1-2116"/>
          <p:cNvSpPr/>
          <p:nvPr/>
        </p:nvSpPr>
        <p:spPr>
          <a:xfrm>
            <a:off x="10575493" y="5287518"/>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د</a:t>
            </a:r>
            <a:endParaRPr lang="ar-SA" sz="2000" dirty="0"/>
          </a:p>
        </p:txBody>
      </p:sp>
      <p:sp>
        <p:nvSpPr>
          <p:cNvPr id="39" name="anim-g1-2117"/>
          <p:cNvSpPr/>
          <p:nvPr/>
        </p:nvSpPr>
        <p:spPr>
          <a:xfrm>
            <a:off x="1097280" y="5186934"/>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تتجاهل وتحاول الشرح وسط الفوضى</a:t>
            </a:r>
            <a:endParaRPr lang="ar-SA" sz="2200" dirty="0"/>
          </a:p>
        </p:txBody>
      </p:sp>
      <p:sp>
        <p:nvSpPr>
          <p:cNvPr id="40" name="anim-g1-2118"/>
          <p:cNvSpPr/>
          <p:nvPr/>
        </p:nvSpPr>
        <p:spPr>
          <a:xfrm>
            <a:off x="1097280" y="5628086"/>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كل دقيقة فوضى تعلّم الفصل أن هذا مقبول</a:t>
            </a:r>
            <a:endParaRPr lang="ar-SA" sz="1800" dirty="0"/>
          </a:p>
        </p:txBody>
      </p:sp>
      <p:sp>
        <p:nvSpPr>
          <p:cNvPr id="41" name="Text 3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42" name="Text 4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من يتحكم بالسبورة؟  ·  ١٨٥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400"/>
                                        <p:tgtEl>
                                          <p:spTgt spid="3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400"/>
                                        <p:tgtEl>
                                          <p:spTgt spid="3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400"/>
                                        <p:tgtEl>
                                          <p:spTgt spid="38"/>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9"/>
                                        </p:tgtEl>
                                        <p:attrNameLst>
                                          <p:attrName>style.visibility</p:attrName>
                                        </p:attrNameLst>
                                      </p:cBhvr>
                                      <p:to>
                                        <p:strVal val="visible"/>
                                      </p:to>
                                    </p:set>
                                    <p:animEffect transition="in" filter="fade">
                                      <p:cBhvr>
                                        <p:cTn id="61" dur="400"/>
                                        <p:tgtEl>
                                          <p:spTgt spid="3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0"/>
                                        </p:tgtEl>
                                        <p:attrNameLst>
                                          <p:attrName>style.visibility</p:attrName>
                                        </p:attrNameLst>
                                      </p:cBhvr>
                                      <p:to>
                                        <p:strVal val="visible"/>
                                      </p:to>
                                    </p:set>
                                    <p:animEffect transition="in" filter="fade">
                                      <p:cBhvr>
                                        <p:cTn id="64"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P spid="36" grpId="0" animBg="1"/>
      <p:bldP spid="37" grpId="0" animBg="1"/>
      <p:bldP spid="38" grpId="0" animBg="1"/>
      <p:bldP spid="39" grpId="0" animBg="1"/>
      <p:bldP spid="40" grpId="0" animBg="1"/>
    </p:bldLst>
  </p:timing>
</p:sld>
</file>

<file path=ppt/slides/slide186.xml><?xml version="1.0" encoding="utf-8"?>
<p:sld xmlns:a="http://schemas.openxmlformats.org/drawingml/2006/main" xmlns:r="http://schemas.openxmlformats.org/officeDocument/2006/relationships" xmlns:p="http://schemas.openxmlformats.org/presentationml/2006/main">
  <p:cSld name="Slide 18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711135" y="457200"/>
            <a:ext cx="3657600" cy="457200"/>
          </a:xfrm>
          <a:prstGeom prst="roundRect">
            <a:avLst>
              <a:gd name="adj" fmla="val 50000"/>
            </a:avLst>
          </a:prstGeom>
          <a:solidFill>
            <a:srgbClr val="F6EBCF"/>
          </a:solidFill>
          <a:ln/>
        </p:spPr>
      </p:sp>
      <p:sp>
        <p:nvSpPr>
          <p:cNvPr id="3" name="Text 1"/>
          <p:cNvSpPr/>
          <p:nvPr/>
        </p:nvSpPr>
        <p:spPr>
          <a:xfrm>
            <a:off x="7711135" y="457200"/>
            <a:ext cx="365760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وراء كل سلوك حاجة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لماذا حدث هذا؟</a:t>
            </a:r>
            <a:endParaRPr lang="ar-SA" sz="3800" dirty="0"/>
          </a:p>
        </p:txBody>
      </p:sp>
      <p:sp>
        <p:nvSpPr>
          <p:cNvPr id="5" name="anim-g1-2119"/>
          <p:cNvSpPr/>
          <p:nvPr/>
        </p:nvSpPr>
        <p:spPr>
          <a:xfrm>
            <a:off x="8903741" y="2011680"/>
            <a:ext cx="2464994" cy="2514600"/>
          </a:xfrm>
          <a:prstGeom prst="roundRect">
            <a:avLst>
              <a:gd name="adj" fmla="val 6677"/>
            </a:avLst>
          </a:prstGeom>
          <a:solidFill>
            <a:srgbClr val="FFFFFF"/>
          </a:solidFill>
          <a:ln w="12700">
            <a:solidFill>
              <a:srgbClr val="E4DCC8"/>
            </a:solidFill>
            <a:prstDash val="solid"/>
          </a:ln>
        </p:spPr>
      </p:sp>
      <p:sp>
        <p:nvSpPr>
          <p:cNvPr id="6" name="anim-g1-2120"/>
          <p:cNvSpPr/>
          <p:nvPr/>
        </p:nvSpPr>
        <p:spPr>
          <a:xfrm>
            <a:off x="9816198" y="2194560"/>
            <a:ext cx="640080" cy="640080"/>
          </a:xfrm>
          <a:prstGeom prst="roundRect">
            <a:avLst>
              <a:gd name="adj" fmla="val 25714"/>
            </a:avLst>
          </a:prstGeom>
          <a:solidFill>
            <a:srgbClr val="F7E6BC"/>
          </a:solidFill>
          <a:ln/>
        </p:spPr>
      </p:sp>
      <p:sp>
        <p:nvSpPr>
          <p:cNvPr id="7" name="anim-g1-2121"/>
          <p:cNvSpPr/>
          <p:nvPr/>
        </p:nvSpPr>
        <p:spPr>
          <a:xfrm>
            <a:off x="9816198"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8" name="anim-g1-2122"/>
          <p:cNvSpPr/>
          <p:nvPr/>
        </p:nvSpPr>
        <p:spPr>
          <a:xfrm>
            <a:off x="9040901"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جهاز مفتوح</a:t>
            </a:r>
            <a:endParaRPr lang="ar-SA" sz="2200" dirty="0"/>
          </a:p>
        </p:txBody>
      </p:sp>
      <p:sp>
        <p:nvSpPr>
          <p:cNvPr id="9" name="anim-g1-2123"/>
          <p:cNvSpPr/>
          <p:nvPr/>
        </p:nvSpPr>
        <p:spPr>
          <a:xfrm>
            <a:off x="9040901"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العرض اللاسلكي متاح بلا رمز</a:t>
            </a:r>
            <a:endParaRPr lang="ar-SA" sz="1900" dirty="0"/>
          </a:p>
        </p:txBody>
      </p:sp>
      <p:sp>
        <p:nvSpPr>
          <p:cNvPr id="10" name="anim-g2-2124"/>
          <p:cNvSpPr/>
          <p:nvPr/>
        </p:nvSpPr>
        <p:spPr>
          <a:xfrm>
            <a:off x="6210148" y="2011680"/>
            <a:ext cx="2464994" cy="2514600"/>
          </a:xfrm>
          <a:prstGeom prst="roundRect">
            <a:avLst>
              <a:gd name="adj" fmla="val 6677"/>
            </a:avLst>
          </a:prstGeom>
          <a:solidFill>
            <a:srgbClr val="FFFFFF"/>
          </a:solidFill>
          <a:ln w="12700">
            <a:solidFill>
              <a:srgbClr val="E4DCC8"/>
            </a:solidFill>
            <a:prstDash val="solid"/>
          </a:ln>
        </p:spPr>
      </p:sp>
      <p:sp>
        <p:nvSpPr>
          <p:cNvPr id="11" name="anim-g2-2125"/>
          <p:cNvSpPr/>
          <p:nvPr/>
        </p:nvSpPr>
        <p:spPr>
          <a:xfrm>
            <a:off x="7122604" y="2194560"/>
            <a:ext cx="640080" cy="640080"/>
          </a:xfrm>
          <a:prstGeom prst="roundRect">
            <a:avLst>
              <a:gd name="adj" fmla="val 25714"/>
            </a:avLst>
          </a:prstGeom>
          <a:solidFill>
            <a:srgbClr val="F7E6BC"/>
          </a:solidFill>
          <a:ln/>
        </p:spPr>
      </p:sp>
      <p:sp>
        <p:nvSpPr>
          <p:cNvPr id="12" name="anim-g2-2126"/>
          <p:cNvSpPr/>
          <p:nvPr/>
        </p:nvSpPr>
        <p:spPr>
          <a:xfrm>
            <a:off x="7122604"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13" name="anim-g2-2127"/>
          <p:cNvSpPr/>
          <p:nvPr/>
        </p:nvSpPr>
        <p:spPr>
          <a:xfrm>
            <a:off x="6347308"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مهارة تقنية</a:t>
            </a:r>
            <a:endParaRPr lang="ar-SA" sz="2200" dirty="0"/>
          </a:p>
        </p:txBody>
      </p:sp>
      <p:sp>
        <p:nvSpPr>
          <p:cNvPr id="14" name="anim-g2-2128"/>
          <p:cNvSpPr/>
          <p:nvPr/>
        </p:nvSpPr>
        <p:spPr>
          <a:xfrm>
            <a:off x="6347308"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الطالبات يعرفن التقنية أحيانًا أكثر منا</a:t>
            </a:r>
            <a:endParaRPr lang="ar-SA" sz="1900" dirty="0"/>
          </a:p>
        </p:txBody>
      </p:sp>
      <p:sp>
        <p:nvSpPr>
          <p:cNvPr id="15" name="anim-g3-2129"/>
          <p:cNvSpPr/>
          <p:nvPr/>
        </p:nvSpPr>
        <p:spPr>
          <a:xfrm>
            <a:off x="3516554" y="2011680"/>
            <a:ext cx="2464994" cy="2514600"/>
          </a:xfrm>
          <a:prstGeom prst="roundRect">
            <a:avLst>
              <a:gd name="adj" fmla="val 6677"/>
            </a:avLst>
          </a:prstGeom>
          <a:solidFill>
            <a:srgbClr val="FFFFFF"/>
          </a:solidFill>
          <a:ln w="12700">
            <a:solidFill>
              <a:srgbClr val="E4DCC8"/>
            </a:solidFill>
            <a:prstDash val="solid"/>
          </a:ln>
        </p:spPr>
      </p:sp>
      <p:sp>
        <p:nvSpPr>
          <p:cNvPr id="16" name="anim-g3-2130"/>
          <p:cNvSpPr/>
          <p:nvPr/>
        </p:nvSpPr>
        <p:spPr>
          <a:xfrm>
            <a:off x="4429011" y="2194560"/>
            <a:ext cx="640080" cy="640080"/>
          </a:xfrm>
          <a:prstGeom prst="roundRect">
            <a:avLst>
              <a:gd name="adj" fmla="val 25714"/>
            </a:avLst>
          </a:prstGeom>
          <a:solidFill>
            <a:srgbClr val="F7E6BC"/>
          </a:solidFill>
          <a:ln/>
        </p:spPr>
      </p:sp>
      <p:sp>
        <p:nvSpPr>
          <p:cNvPr id="17" name="anim-g3-2131"/>
          <p:cNvSpPr/>
          <p:nvPr/>
        </p:nvSpPr>
        <p:spPr>
          <a:xfrm>
            <a:off x="4429011"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18" name="anim-g3-2132"/>
          <p:cNvSpPr/>
          <p:nvPr/>
        </p:nvSpPr>
        <p:spPr>
          <a:xfrm>
            <a:off x="3653714"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تسلية</a:t>
            </a:r>
            <a:endParaRPr lang="ar-SA" sz="2200" dirty="0"/>
          </a:p>
        </p:txBody>
      </p:sp>
      <p:sp>
        <p:nvSpPr>
          <p:cNvPr id="19" name="anim-g3-2133"/>
          <p:cNvSpPr/>
          <p:nvPr/>
        </p:nvSpPr>
        <p:spPr>
          <a:xfrm>
            <a:off x="3653714"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مغامرة جماعية ممتعة</a:t>
            </a:r>
            <a:endParaRPr lang="ar-SA" sz="1900" dirty="0"/>
          </a:p>
        </p:txBody>
      </p:sp>
      <p:sp>
        <p:nvSpPr>
          <p:cNvPr id="20" name="anim-g4-2134"/>
          <p:cNvSpPr/>
          <p:nvPr/>
        </p:nvSpPr>
        <p:spPr>
          <a:xfrm>
            <a:off x="822960" y="2011680"/>
            <a:ext cx="2464994" cy="2514600"/>
          </a:xfrm>
          <a:prstGeom prst="roundRect">
            <a:avLst>
              <a:gd name="adj" fmla="val 6677"/>
            </a:avLst>
          </a:prstGeom>
          <a:solidFill>
            <a:srgbClr val="FFFFFF"/>
          </a:solidFill>
          <a:ln w="12700">
            <a:solidFill>
              <a:srgbClr val="E4DCC8"/>
            </a:solidFill>
            <a:prstDash val="solid"/>
          </a:ln>
        </p:spPr>
      </p:sp>
      <p:sp>
        <p:nvSpPr>
          <p:cNvPr id="21" name="anim-g4-2135"/>
          <p:cNvSpPr/>
          <p:nvPr/>
        </p:nvSpPr>
        <p:spPr>
          <a:xfrm>
            <a:off x="1735417" y="2194560"/>
            <a:ext cx="640080" cy="640080"/>
          </a:xfrm>
          <a:prstGeom prst="roundRect">
            <a:avLst>
              <a:gd name="adj" fmla="val 25714"/>
            </a:avLst>
          </a:prstGeom>
          <a:solidFill>
            <a:srgbClr val="F7E6BC"/>
          </a:solidFill>
          <a:ln/>
        </p:spPr>
      </p:sp>
      <p:sp>
        <p:nvSpPr>
          <p:cNvPr id="22" name="anim-g4-2136"/>
          <p:cNvSpPr/>
          <p:nvPr/>
        </p:nvSpPr>
        <p:spPr>
          <a:xfrm>
            <a:off x="1735417"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23" name="anim-g4-2137"/>
          <p:cNvSpPr/>
          <p:nvPr/>
        </p:nvSpPr>
        <p:spPr>
          <a:xfrm>
            <a:off x="960120"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غياب قاعدة</a:t>
            </a:r>
            <a:endParaRPr lang="ar-SA" sz="2200" dirty="0"/>
          </a:p>
        </p:txBody>
      </p:sp>
      <p:sp>
        <p:nvSpPr>
          <p:cNvPr id="24" name="anim-g4-2138"/>
          <p:cNvSpPr/>
          <p:nvPr/>
        </p:nvSpPr>
        <p:spPr>
          <a:xfrm>
            <a:off x="960120"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لم يُتفق على استخدام الأجهزة</a:t>
            </a:r>
            <a:endParaRPr lang="ar-SA" sz="1900" dirty="0"/>
          </a:p>
        </p:txBody>
      </p:sp>
      <p:sp>
        <p:nvSpPr>
          <p:cNvPr id="25" name="anim-g5-2139"/>
          <p:cNvSpPr/>
          <p:nvPr/>
        </p:nvSpPr>
        <p:spPr>
          <a:xfrm>
            <a:off x="822960" y="4754880"/>
            <a:ext cx="10545775" cy="1051560"/>
          </a:xfrm>
          <a:prstGeom prst="roundRect">
            <a:avLst>
              <a:gd name="adj" fmla="val 17391"/>
            </a:avLst>
          </a:prstGeom>
          <a:solidFill>
            <a:srgbClr val="101B45"/>
          </a:solidFill>
          <a:ln/>
        </p:spPr>
      </p:sp>
      <p:sp>
        <p:nvSpPr>
          <p:cNvPr id="26" name="anim-g5-2140"/>
          <p:cNvSpPr/>
          <p:nvPr/>
        </p:nvSpPr>
        <p:spPr>
          <a:xfrm>
            <a:off x="1097280" y="4754880"/>
            <a:ext cx="9997135" cy="1051560"/>
          </a:xfrm>
          <a:prstGeom prst="rect">
            <a:avLst/>
          </a:prstGeom>
          <a:noFill/>
          <a:ln/>
        </p:spPr>
        <p:txBody>
          <a:bodyPr wrap="square" lIns="0" tIns="0" rIns="0" bIns="0" rtlCol="0" anchor="ctr">
            <a:normAutofit/>
          </a:bodyPr>
          <a:lstStyle/>
          <a:p>
            <a:pPr algn="ctr" indent="0" marL="0">
              <a:buNone/>
            </a:pPr>
            <a:r>
              <a:rPr lang="ar-SA" altLang="en-US" sz="2200" b="1" dirty="0">
                <a:solidFill>
                  <a:srgbClr val="FFFFFF"/>
                </a:solidFill>
                <a:latin typeface="Cairo" pitchFamily="34" charset="0"/>
                <a:ea typeface="Cairo" pitchFamily="34" charset="-122"/>
                <a:cs typeface="Cairo" pitchFamily="34" charset="-120"/>
              </a:rPr>
              <a:t>💡 السيطرة على الفصل اليوم…</a:t>
            </a:r>
            <a:endParaRPr lang="ar-SA" sz="2200" dirty="0"/>
          </a:p>
          <a:p>
            <a:pPr algn="ctr" indent="0" marL="0">
              <a:buNone/>
            </a:pPr>
            <a:r>
              <a:rPr lang="ar-SA" altLang="en-US" sz="2200" b="1" dirty="0">
                <a:solidFill>
                  <a:srgbClr val="F0CC7A"/>
                </a:solidFill>
                <a:latin typeface="Cairo" pitchFamily="34" charset="0"/>
                <a:ea typeface="Cairo" pitchFamily="34" charset="-122"/>
                <a:cs typeface="Cairo" pitchFamily="34" charset="-120"/>
              </a:rPr>
              <a:t> تبدأ من إعدادات الجهاز</a:t>
            </a:r>
            <a:endParaRPr lang="ar-SA" sz="2200" dirty="0"/>
          </a:p>
        </p:txBody>
      </p:sp>
      <p:sp>
        <p:nvSpPr>
          <p:cNvPr id="27" name="Text 2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8" name="Text 2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من يتحكم بالسبورة؟  ·  ١٨٦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40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187.xml><?xml version="1.0" encoding="utf-8"?>
<p:sld xmlns:a="http://schemas.openxmlformats.org/drawingml/2006/main" xmlns:r="http://schemas.openxmlformats.org/officeDocument/2006/relationships" xmlns:p="http://schemas.openxmlformats.org/presentationml/2006/main">
  <p:cSld name="Slide 18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57439" y="457200"/>
            <a:ext cx="3511296" cy="457200"/>
          </a:xfrm>
          <a:prstGeom prst="roundRect">
            <a:avLst>
              <a:gd name="adj" fmla="val 50000"/>
            </a:avLst>
          </a:prstGeom>
          <a:solidFill>
            <a:srgbClr val="F6EBCF"/>
          </a:solidFill>
          <a:ln/>
        </p:spPr>
      </p:sp>
      <p:sp>
        <p:nvSpPr>
          <p:cNvPr id="3" name="Text 1"/>
          <p:cNvSpPr/>
          <p:nvPr/>
        </p:nvSpPr>
        <p:spPr>
          <a:xfrm>
            <a:off x="7857439" y="457200"/>
            <a:ext cx="351129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ماذا تفعل فورًا؟</a:t>
            </a:r>
            <a:endParaRPr lang="ar-SA" sz="1800" dirty="0"/>
          </a:p>
        </p:txBody>
      </p:sp>
      <p:sp>
        <p:nvSpPr>
          <p:cNvPr id="4" name="Shape 2"/>
          <p:cNvSpPr/>
          <p:nvPr/>
        </p:nvSpPr>
        <p:spPr>
          <a:xfrm>
            <a:off x="822960" y="457200"/>
            <a:ext cx="1737360" cy="457200"/>
          </a:xfrm>
          <a:prstGeom prst="roundRect">
            <a:avLst>
              <a:gd name="adj" fmla="val 50000"/>
            </a:avLst>
          </a:prstGeom>
          <a:solidFill>
            <a:srgbClr val="FBECEC"/>
          </a:solidFill>
          <a:ln/>
        </p:spPr>
      </p:sp>
      <p:sp>
        <p:nvSpPr>
          <p:cNvPr id="5" name="Text 3"/>
          <p:cNvSpPr/>
          <p:nvPr/>
        </p:nvSpPr>
        <p:spPr>
          <a:xfrm>
            <a:off x="822960" y="457200"/>
            <a:ext cx="1737360"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D64545"/>
                </a:solidFill>
                <a:latin typeface="Cairo" pitchFamily="34" charset="0"/>
                <a:ea typeface="Cairo" pitchFamily="34" charset="-122"/>
                <a:cs typeface="Cairo" pitchFamily="34" charset="-120"/>
              </a:rPr>
              <a:t>⏱ ١٠ ثوانٍ</a:t>
            </a:r>
            <a:endParaRPr lang="ar-SA" sz="1600" dirty="0"/>
          </a:p>
        </p:txBody>
      </p:sp>
      <p:sp>
        <p:nvSpPr>
          <p:cNvPr id="6" name="Text 4"/>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أول ١٠ ثوانٍ</a:t>
            </a:r>
            <a:endParaRPr lang="ar-SA" sz="3800" dirty="0"/>
          </a:p>
        </p:txBody>
      </p:sp>
      <p:sp>
        <p:nvSpPr>
          <p:cNvPr id="7" name="anim-g1-2141"/>
          <p:cNvSpPr/>
          <p:nvPr/>
        </p:nvSpPr>
        <p:spPr>
          <a:xfrm>
            <a:off x="8903741" y="2148840"/>
            <a:ext cx="2464994" cy="3383280"/>
          </a:xfrm>
          <a:prstGeom prst="roundRect">
            <a:avLst>
              <a:gd name="adj" fmla="val 6677"/>
            </a:avLst>
          </a:prstGeom>
          <a:solidFill>
            <a:srgbClr val="FFFFFF"/>
          </a:solidFill>
          <a:ln w="12700">
            <a:solidFill>
              <a:srgbClr val="E4DCC8"/>
            </a:solidFill>
            <a:prstDash val="solid"/>
          </a:ln>
        </p:spPr>
      </p:sp>
      <p:sp>
        <p:nvSpPr>
          <p:cNvPr id="8" name="anim-g1-2142"/>
          <p:cNvSpPr/>
          <p:nvPr/>
        </p:nvSpPr>
        <p:spPr>
          <a:xfrm>
            <a:off x="9747618" y="2423160"/>
            <a:ext cx="777240" cy="777240"/>
          </a:xfrm>
          <a:prstGeom prst="ellipse">
            <a:avLst/>
          </a:prstGeom>
          <a:solidFill>
            <a:srgbClr val="D9AE4B"/>
          </a:solidFill>
          <a:ln/>
        </p:spPr>
      </p:sp>
      <p:sp>
        <p:nvSpPr>
          <p:cNvPr id="9" name="anim-g1-2143"/>
          <p:cNvSpPr/>
          <p:nvPr/>
        </p:nvSpPr>
        <p:spPr>
          <a:xfrm>
            <a:off x="9747618"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١</a:t>
            </a:r>
            <a:endParaRPr lang="ar-SA" sz="2800" dirty="0"/>
          </a:p>
        </p:txBody>
      </p:sp>
      <p:sp>
        <p:nvSpPr>
          <p:cNvPr id="10" name="anim-g1-2144"/>
          <p:cNvSpPr/>
          <p:nvPr/>
        </p:nvSpPr>
        <p:spPr>
          <a:xfrm>
            <a:off x="9040901"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بلا انفعال</a:t>
            </a:r>
            <a:endParaRPr lang="ar-SA" sz="2500" dirty="0"/>
          </a:p>
        </p:txBody>
      </p:sp>
      <p:sp>
        <p:nvSpPr>
          <p:cNvPr id="11" name="anim-g1-2145"/>
          <p:cNvSpPr/>
          <p:nvPr/>
        </p:nvSpPr>
        <p:spPr>
          <a:xfrm>
            <a:off x="9086621"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ابتسامة: «عندنا مبرمجات موهوبات!»</a:t>
            </a:r>
            <a:endParaRPr lang="ar-SA" sz="2000" dirty="0"/>
          </a:p>
        </p:txBody>
      </p:sp>
      <p:sp>
        <p:nvSpPr>
          <p:cNvPr id="12" name="anim-g2-2146"/>
          <p:cNvSpPr/>
          <p:nvPr/>
        </p:nvSpPr>
        <p:spPr>
          <a:xfrm>
            <a:off x="6210148" y="2148840"/>
            <a:ext cx="2464994" cy="3383280"/>
          </a:xfrm>
          <a:prstGeom prst="roundRect">
            <a:avLst>
              <a:gd name="adj" fmla="val 6677"/>
            </a:avLst>
          </a:prstGeom>
          <a:solidFill>
            <a:srgbClr val="FFFFFF"/>
          </a:solidFill>
          <a:ln w="12700">
            <a:solidFill>
              <a:srgbClr val="E4DCC8"/>
            </a:solidFill>
            <a:prstDash val="solid"/>
          </a:ln>
        </p:spPr>
      </p:sp>
      <p:sp>
        <p:nvSpPr>
          <p:cNvPr id="13" name="anim-g2-2147"/>
          <p:cNvSpPr/>
          <p:nvPr/>
        </p:nvSpPr>
        <p:spPr>
          <a:xfrm>
            <a:off x="7054024" y="2423160"/>
            <a:ext cx="777240" cy="777240"/>
          </a:xfrm>
          <a:prstGeom prst="ellipse">
            <a:avLst/>
          </a:prstGeom>
          <a:solidFill>
            <a:srgbClr val="D9AE4B"/>
          </a:solidFill>
          <a:ln/>
        </p:spPr>
      </p:sp>
      <p:sp>
        <p:nvSpPr>
          <p:cNvPr id="14" name="anim-g2-2148"/>
          <p:cNvSpPr/>
          <p:nvPr/>
        </p:nvSpPr>
        <p:spPr>
          <a:xfrm>
            <a:off x="7054024"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٢</a:t>
            </a:r>
            <a:endParaRPr lang="ar-SA" sz="2800" dirty="0"/>
          </a:p>
        </p:txBody>
      </p:sp>
      <p:sp>
        <p:nvSpPr>
          <p:cNvPr id="15" name="anim-g2-2149"/>
          <p:cNvSpPr/>
          <p:nvPr/>
        </p:nvSpPr>
        <p:spPr>
          <a:xfrm>
            <a:off x="6347308"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افصل المصدر</a:t>
            </a:r>
            <a:endParaRPr lang="ar-SA" sz="2500" dirty="0"/>
          </a:p>
        </p:txBody>
      </p:sp>
      <p:sp>
        <p:nvSpPr>
          <p:cNvPr id="16" name="anim-g2-2150"/>
          <p:cNvSpPr/>
          <p:nvPr/>
        </p:nvSpPr>
        <p:spPr>
          <a:xfrm>
            <a:off x="6393028"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أوقف العرض اللاسلكي أو الشبكة مؤقتًا</a:t>
            </a:r>
            <a:endParaRPr lang="ar-SA" sz="2000" dirty="0"/>
          </a:p>
        </p:txBody>
      </p:sp>
      <p:sp>
        <p:nvSpPr>
          <p:cNvPr id="17" name="anim-g3-2151"/>
          <p:cNvSpPr/>
          <p:nvPr/>
        </p:nvSpPr>
        <p:spPr>
          <a:xfrm>
            <a:off x="3516554" y="2148840"/>
            <a:ext cx="2464994" cy="3383280"/>
          </a:xfrm>
          <a:prstGeom prst="roundRect">
            <a:avLst>
              <a:gd name="adj" fmla="val 6677"/>
            </a:avLst>
          </a:prstGeom>
          <a:solidFill>
            <a:srgbClr val="FFFFFF"/>
          </a:solidFill>
          <a:ln w="12700">
            <a:solidFill>
              <a:srgbClr val="E4DCC8"/>
            </a:solidFill>
            <a:prstDash val="solid"/>
          </a:ln>
        </p:spPr>
      </p:sp>
      <p:sp>
        <p:nvSpPr>
          <p:cNvPr id="18" name="anim-g3-2152"/>
          <p:cNvSpPr/>
          <p:nvPr/>
        </p:nvSpPr>
        <p:spPr>
          <a:xfrm>
            <a:off x="4360431" y="2423160"/>
            <a:ext cx="777240" cy="777240"/>
          </a:xfrm>
          <a:prstGeom prst="ellipse">
            <a:avLst/>
          </a:prstGeom>
          <a:solidFill>
            <a:srgbClr val="D9AE4B"/>
          </a:solidFill>
          <a:ln/>
        </p:spPr>
      </p:sp>
      <p:sp>
        <p:nvSpPr>
          <p:cNvPr id="19" name="anim-g3-2153"/>
          <p:cNvSpPr/>
          <p:nvPr/>
        </p:nvSpPr>
        <p:spPr>
          <a:xfrm>
            <a:off x="4360431"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٣</a:t>
            </a:r>
            <a:endParaRPr lang="ar-SA" sz="2800" dirty="0"/>
          </a:p>
        </p:txBody>
      </p:sp>
      <p:sp>
        <p:nvSpPr>
          <p:cNvPr id="20" name="anim-g3-2154"/>
          <p:cNvSpPr/>
          <p:nvPr/>
        </p:nvSpPr>
        <p:spPr>
          <a:xfrm>
            <a:off x="3653714"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الجوالات جانبًا</a:t>
            </a:r>
            <a:endParaRPr lang="ar-SA" sz="2500" dirty="0"/>
          </a:p>
        </p:txBody>
      </p:sp>
      <p:sp>
        <p:nvSpPr>
          <p:cNvPr id="21" name="anim-g3-2155"/>
          <p:cNvSpPr/>
          <p:nvPr/>
        </p:nvSpPr>
        <p:spPr>
          <a:xfrm>
            <a:off x="3699434"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مقلوبة على الطاولات حتى نهاية الحصة</a:t>
            </a:r>
            <a:endParaRPr lang="ar-SA" sz="2000" dirty="0"/>
          </a:p>
        </p:txBody>
      </p:sp>
      <p:sp>
        <p:nvSpPr>
          <p:cNvPr id="22" name="anim-g4-2156"/>
          <p:cNvSpPr/>
          <p:nvPr/>
        </p:nvSpPr>
        <p:spPr>
          <a:xfrm>
            <a:off x="822960" y="2148840"/>
            <a:ext cx="2464994" cy="3383280"/>
          </a:xfrm>
          <a:prstGeom prst="roundRect">
            <a:avLst>
              <a:gd name="adj" fmla="val 6677"/>
            </a:avLst>
          </a:prstGeom>
          <a:solidFill>
            <a:srgbClr val="FFFFFF"/>
          </a:solidFill>
          <a:ln w="12700">
            <a:solidFill>
              <a:srgbClr val="E4DCC8"/>
            </a:solidFill>
            <a:prstDash val="solid"/>
          </a:ln>
        </p:spPr>
      </p:sp>
      <p:sp>
        <p:nvSpPr>
          <p:cNvPr id="23" name="anim-g4-2157"/>
          <p:cNvSpPr/>
          <p:nvPr/>
        </p:nvSpPr>
        <p:spPr>
          <a:xfrm>
            <a:off x="1666837" y="2423160"/>
            <a:ext cx="777240" cy="777240"/>
          </a:xfrm>
          <a:prstGeom prst="ellipse">
            <a:avLst/>
          </a:prstGeom>
          <a:solidFill>
            <a:srgbClr val="D9AE4B"/>
          </a:solidFill>
          <a:ln/>
        </p:spPr>
      </p:sp>
      <p:sp>
        <p:nvSpPr>
          <p:cNvPr id="24" name="anim-g4-2158"/>
          <p:cNvSpPr/>
          <p:nvPr/>
        </p:nvSpPr>
        <p:spPr>
          <a:xfrm>
            <a:off x="1666837"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٤</a:t>
            </a:r>
            <a:endParaRPr lang="ar-SA" sz="2800" dirty="0"/>
          </a:p>
        </p:txBody>
      </p:sp>
      <p:sp>
        <p:nvSpPr>
          <p:cNvPr id="25" name="anim-g4-2159"/>
          <p:cNvSpPr/>
          <p:nvPr/>
        </p:nvSpPr>
        <p:spPr>
          <a:xfrm>
            <a:off x="960120"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أكملي</a:t>
            </a:r>
            <a:endParaRPr lang="ar-SA" sz="2500" dirty="0"/>
          </a:p>
        </p:txBody>
      </p:sp>
      <p:sp>
        <p:nvSpPr>
          <p:cNvPr id="26" name="anim-g4-2160"/>
          <p:cNvSpPr/>
          <p:nvPr/>
        </p:nvSpPr>
        <p:spPr>
          <a:xfrm>
            <a:off x="1005840"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بخطة بديلة جاهزة: ورقة أو سبورة عادية</a:t>
            </a:r>
            <a:endParaRPr lang="ar-SA" sz="2000" dirty="0"/>
          </a:p>
        </p:txBody>
      </p:sp>
      <p:sp>
        <p:nvSpPr>
          <p:cNvPr id="27" name="Text 2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8" name="Text 2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من يتحكم بالسبورة؟  ·  ١٨٧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400"/>
                                        <p:tgtEl>
                                          <p:spTgt spid="1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40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4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400"/>
                                        <p:tgtEl>
                                          <p:spTgt spid="1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400"/>
                                        <p:tgtEl>
                                          <p:spTgt spid="2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400"/>
                                        <p:tgtEl>
                                          <p:spTgt spid="21"/>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400"/>
                                        <p:tgtEl>
                                          <p:spTgt spid="2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400"/>
                                        <p:tgtEl>
                                          <p:spTgt spid="2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400"/>
                                        <p:tgtEl>
                                          <p:spTgt spid="2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400"/>
                                        <p:tgtEl>
                                          <p:spTgt spid="2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188.xml><?xml version="1.0" encoding="utf-8"?>
<p:sld xmlns:a="http://schemas.openxmlformats.org/drawingml/2006/main" xmlns:r="http://schemas.openxmlformats.org/officeDocument/2006/relationships" xmlns:p="http://schemas.openxmlformats.org/presentationml/2006/main">
  <p:cSld name="Slide 18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588959" y="457200"/>
            <a:ext cx="2779776" cy="457200"/>
          </a:xfrm>
          <a:prstGeom prst="roundRect">
            <a:avLst>
              <a:gd name="adj" fmla="val 50000"/>
            </a:avLst>
          </a:prstGeom>
          <a:solidFill>
            <a:srgbClr val="F6EBCF"/>
          </a:solidFill>
          <a:ln/>
        </p:spPr>
      </p:sp>
      <p:sp>
        <p:nvSpPr>
          <p:cNvPr id="3" name="Text 1"/>
          <p:cNvSpPr/>
          <p:nvPr/>
        </p:nvSpPr>
        <p:spPr>
          <a:xfrm>
            <a:off x="8588959" y="457200"/>
            <a:ext cx="277977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الجُمل الجاهزة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ماذا تقول بالحرف؟</a:t>
            </a:r>
            <a:endParaRPr lang="ar-SA" sz="3800" dirty="0"/>
          </a:p>
        </p:txBody>
      </p:sp>
      <p:sp>
        <p:nvSpPr>
          <p:cNvPr id="5" name="anim-g1-2161"/>
          <p:cNvSpPr/>
          <p:nvPr/>
        </p:nvSpPr>
        <p:spPr>
          <a:xfrm>
            <a:off x="9768535" y="2130552"/>
            <a:ext cx="1600200" cy="1018032"/>
          </a:xfrm>
          <a:prstGeom prst="roundRect">
            <a:avLst>
              <a:gd name="adj" fmla="val 13473"/>
            </a:avLst>
          </a:prstGeom>
          <a:solidFill>
            <a:srgbClr val="E9EDF9"/>
          </a:solidFill>
          <a:ln/>
        </p:spPr>
      </p:sp>
      <p:sp>
        <p:nvSpPr>
          <p:cNvPr id="6" name="anim-g1-2162"/>
          <p:cNvSpPr/>
          <p:nvPr/>
        </p:nvSpPr>
        <p:spPr>
          <a:xfrm>
            <a:off x="9814255" y="2130552"/>
            <a:ext cx="1508760" cy="101803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للفصل بهدوء</a:t>
            </a:r>
            <a:endParaRPr lang="ar-SA" sz="1800" dirty="0"/>
          </a:p>
        </p:txBody>
      </p:sp>
      <p:sp>
        <p:nvSpPr>
          <p:cNvPr id="7" name="anim-g1-2163"/>
          <p:cNvSpPr/>
          <p:nvPr/>
        </p:nvSpPr>
        <p:spPr>
          <a:xfrm>
            <a:off x="822960" y="2057400"/>
            <a:ext cx="8716975" cy="1164336"/>
          </a:xfrm>
          <a:prstGeom prst="roundRect">
            <a:avLst>
              <a:gd name="adj" fmla="val 17277"/>
            </a:avLst>
          </a:prstGeom>
          <a:solidFill>
            <a:srgbClr val="101B45"/>
          </a:solidFill>
          <a:ln/>
        </p:spPr>
      </p:sp>
      <p:sp>
        <p:nvSpPr>
          <p:cNvPr id="8" name="anim-g1-2164"/>
          <p:cNvSpPr/>
          <p:nvPr/>
        </p:nvSpPr>
        <p:spPr>
          <a:xfrm>
            <a:off x="1097280" y="2057400"/>
            <a:ext cx="8168335" cy="1164336"/>
          </a:xfrm>
          <a:prstGeom prst="rect">
            <a:avLst/>
          </a:prstGeom>
          <a:noFill/>
          <a:ln/>
        </p:spPr>
        <p:txBody>
          <a:bodyPr wrap="square" lIns="0" tIns="0" rIns="0" bIns="0" rtlCol="0" anchor="ctr">
            <a:normAutofit/>
          </a:bodyPr>
          <a:lstStyle/>
          <a:p>
            <a:pPr algn="r" indent="0" marL="0">
              <a:buNone/>
            </a:pPr>
            <a:r>
              <a:rPr lang="ar-SA" altLang="en-US" sz="2200" b="1" dirty="0">
                <a:solidFill>
                  <a:srgbClr val="D9AE4B"/>
                </a:solidFill>
                <a:latin typeface="Cairo" pitchFamily="34" charset="0"/>
                <a:ea typeface="Cairo" pitchFamily="34" charset="-122"/>
                <a:cs typeface="Cairo" pitchFamily="34" charset="-120"/>
              </a:rPr>
              <a:t>« </a:t>
            </a:r>
            <a:pPr algn="r" indent="0" marL="0">
              <a:buNone/>
            </a:pPr>
            <a:r>
              <a:rPr lang="ar-SA" altLang="en-US" sz="2200" b="1" dirty="0">
                <a:solidFill>
                  <a:srgbClr val="FFFFFF"/>
                </a:solidFill>
                <a:latin typeface="Cairo" pitchFamily="34" charset="0"/>
                <a:ea typeface="Cairo" pitchFamily="34" charset="-122"/>
                <a:cs typeface="Cairo" pitchFamily="34" charset="-120"/>
              </a:rPr>
              <a:t>واضح أن عندنا مبرمجات ماهرات! الجوالات مقلوبة على الطاولات الآن، ونكمل</a:t>
            </a:r>
            <a:pPr algn="r" indent="0" marL="0">
              <a:buNone/>
            </a:pPr>
            <a:r>
              <a:rPr lang="ar-SA" altLang="en-US" sz="2200" b="1" dirty="0">
                <a:solidFill>
                  <a:srgbClr val="D9AE4B"/>
                </a:solidFill>
                <a:latin typeface="Cairo" pitchFamily="34" charset="0"/>
                <a:ea typeface="Cairo" pitchFamily="34" charset="-122"/>
                <a:cs typeface="Cairo" pitchFamily="34" charset="-120"/>
              </a:rPr>
              <a:t> »</a:t>
            </a:r>
            <a:endParaRPr lang="ar-SA" sz="2200" dirty="0"/>
          </a:p>
        </p:txBody>
      </p:sp>
      <p:sp>
        <p:nvSpPr>
          <p:cNvPr id="9" name="anim-g2-2165"/>
          <p:cNvSpPr/>
          <p:nvPr/>
        </p:nvSpPr>
        <p:spPr>
          <a:xfrm>
            <a:off x="9768535" y="3441192"/>
            <a:ext cx="1600200" cy="1018032"/>
          </a:xfrm>
          <a:prstGeom prst="roundRect">
            <a:avLst>
              <a:gd name="adj" fmla="val 13473"/>
            </a:avLst>
          </a:prstGeom>
          <a:solidFill>
            <a:srgbClr val="E9EDF9"/>
          </a:solidFill>
          <a:ln/>
        </p:spPr>
      </p:sp>
      <p:sp>
        <p:nvSpPr>
          <p:cNvPr id="10" name="anim-g2-2166"/>
          <p:cNvSpPr/>
          <p:nvPr/>
        </p:nvSpPr>
        <p:spPr>
          <a:xfrm>
            <a:off x="9814255" y="3441192"/>
            <a:ext cx="1508760" cy="101803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بعد الحصة</a:t>
            </a:r>
            <a:endParaRPr lang="ar-SA" sz="1800" dirty="0"/>
          </a:p>
        </p:txBody>
      </p:sp>
      <p:sp>
        <p:nvSpPr>
          <p:cNvPr id="11" name="anim-g2-2167"/>
          <p:cNvSpPr/>
          <p:nvPr/>
        </p:nvSpPr>
        <p:spPr>
          <a:xfrm>
            <a:off x="822960" y="3368040"/>
            <a:ext cx="8716975" cy="1164336"/>
          </a:xfrm>
          <a:prstGeom prst="roundRect">
            <a:avLst>
              <a:gd name="adj" fmla="val 17277"/>
            </a:avLst>
          </a:prstGeom>
          <a:solidFill>
            <a:srgbClr val="101B45"/>
          </a:solidFill>
          <a:ln/>
        </p:spPr>
      </p:sp>
      <p:sp>
        <p:nvSpPr>
          <p:cNvPr id="12" name="anim-g2-2168"/>
          <p:cNvSpPr/>
          <p:nvPr/>
        </p:nvSpPr>
        <p:spPr>
          <a:xfrm>
            <a:off x="1097280" y="3368040"/>
            <a:ext cx="8168335" cy="1164336"/>
          </a:xfrm>
          <a:prstGeom prst="rect">
            <a:avLst/>
          </a:prstGeom>
          <a:noFill/>
          <a:ln/>
        </p:spPr>
        <p:txBody>
          <a:bodyPr wrap="square" lIns="0" tIns="0" rIns="0" bIns="0" rtlCol="0" anchor="ctr">
            <a:normAutofit/>
          </a:bodyPr>
          <a:lstStyle/>
          <a:p>
            <a:pPr algn="r" indent="0" marL="0">
              <a:buNone/>
            </a:pPr>
            <a:r>
              <a:rPr lang="ar-SA" altLang="en-US" sz="2000" b="1" dirty="0">
                <a:solidFill>
                  <a:srgbClr val="D9AE4B"/>
                </a:solidFill>
                <a:latin typeface="Cairo" pitchFamily="34" charset="0"/>
                <a:ea typeface="Cairo" pitchFamily="34" charset="-122"/>
                <a:cs typeface="Cairo" pitchFamily="34" charset="-120"/>
              </a:rPr>
              <a:t>« </a:t>
            </a:r>
            <a:pPr algn="r" indent="0" marL="0">
              <a:buNone/>
            </a:pPr>
            <a:r>
              <a:rPr lang="ar-SA" altLang="en-US" sz="2000" b="1" dirty="0">
                <a:solidFill>
                  <a:srgbClr val="FFFFFF"/>
                </a:solidFill>
                <a:latin typeface="Cairo" pitchFamily="34" charset="0"/>
                <a:ea typeface="Cairo" pitchFamily="34" charset="-122"/>
                <a:cs typeface="Cairo" pitchFamily="34" charset="-120"/>
              </a:rPr>
              <a:t>مهارتكن التقنية رائعة، وأريدها لخدمة الفصل. من تساعدني في تجهيز العرض كل أسبوع؟</a:t>
            </a:r>
            <a:pPr algn="r" indent="0" marL="0">
              <a:buNone/>
            </a:pPr>
            <a:r>
              <a:rPr lang="ar-SA" altLang="en-US" sz="2000" b="1" dirty="0">
                <a:solidFill>
                  <a:srgbClr val="D9AE4B"/>
                </a:solidFill>
                <a:latin typeface="Cairo" pitchFamily="34" charset="0"/>
                <a:ea typeface="Cairo" pitchFamily="34" charset="-122"/>
                <a:cs typeface="Cairo" pitchFamily="34" charset="-120"/>
              </a:rPr>
              <a:t> »</a:t>
            </a:r>
            <a:endParaRPr lang="ar-SA" sz="2000" dirty="0"/>
          </a:p>
        </p:txBody>
      </p:sp>
      <p:sp>
        <p:nvSpPr>
          <p:cNvPr id="13" name="anim-g3-2169"/>
          <p:cNvSpPr/>
          <p:nvPr/>
        </p:nvSpPr>
        <p:spPr>
          <a:xfrm>
            <a:off x="9768535" y="4751832"/>
            <a:ext cx="1600200" cy="1018032"/>
          </a:xfrm>
          <a:prstGeom prst="roundRect">
            <a:avLst>
              <a:gd name="adj" fmla="val 13473"/>
            </a:avLst>
          </a:prstGeom>
          <a:solidFill>
            <a:srgbClr val="E9EDF9"/>
          </a:solidFill>
          <a:ln/>
        </p:spPr>
      </p:sp>
      <p:sp>
        <p:nvSpPr>
          <p:cNvPr id="14" name="anim-g3-2170"/>
          <p:cNvSpPr/>
          <p:nvPr/>
        </p:nvSpPr>
        <p:spPr>
          <a:xfrm>
            <a:off x="9814255" y="4751832"/>
            <a:ext cx="1508760" cy="101803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للدعم الفني</a:t>
            </a:r>
            <a:endParaRPr lang="ar-SA" sz="1800" dirty="0"/>
          </a:p>
        </p:txBody>
      </p:sp>
      <p:sp>
        <p:nvSpPr>
          <p:cNvPr id="15" name="anim-g3-2171"/>
          <p:cNvSpPr/>
          <p:nvPr/>
        </p:nvSpPr>
        <p:spPr>
          <a:xfrm>
            <a:off x="822960" y="4678680"/>
            <a:ext cx="8716975" cy="1164336"/>
          </a:xfrm>
          <a:prstGeom prst="roundRect">
            <a:avLst>
              <a:gd name="adj" fmla="val 17277"/>
            </a:avLst>
          </a:prstGeom>
          <a:solidFill>
            <a:srgbClr val="101B45"/>
          </a:solidFill>
          <a:ln/>
        </p:spPr>
      </p:sp>
      <p:sp>
        <p:nvSpPr>
          <p:cNvPr id="16" name="anim-g3-2172"/>
          <p:cNvSpPr/>
          <p:nvPr/>
        </p:nvSpPr>
        <p:spPr>
          <a:xfrm>
            <a:off x="1097280" y="4678680"/>
            <a:ext cx="8168335" cy="1164336"/>
          </a:xfrm>
          <a:prstGeom prst="rect">
            <a:avLst/>
          </a:prstGeom>
          <a:noFill/>
          <a:ln/>
        </p:spPr>
        <p:txBody>
          <a:bodyPr wrap="square" lIns="0" tIns="0" rIns="0" bIns="0" rtlCol="0" anchor="ctr">
            <a:normAutofit/>
          </a:bodyPr>
          <a:lstStyle/>
          <a:p>
            <a:pPr algn="r" indent="0" marL="0">
              <a:buNone/>
            </a:pPr>
            <a:r>
              <a:rPr lang="ar-SA" altLang="en-US" sz="2000" b="1" dirty="0">
                <a:solidFill>
                  <a:srgbClr val="D9AE4B"/>
                </a:solidFill>
                <a:latin typeface="Cairo" pitchFamily="34" charset="0"/>
                <a:ea typeface="Cairo" pitchFamily="34" charset="-122"/>
                <a:cs typeface="Cairo" pitchFamily="34" charset="-120"/>
              </a:rPr>
              <a:t>« </a:t>
            </a:r>
            <a:pPr algn="r" indent="0" marL="0">
              <a:buNone/>
            </a:pPr>
            <a:r>
              <a:rPr lang="ar-SA" altLang="en-US" sz="2000" b="1" dirty="0">
                <a:solidFill>
                  <a:srgbClr val="FFFFFF"/>
                </a:solidFill>
                <a:latin typeface="Cairo" pitchFamily="34" charset="0"/>
                <a:ea typeface="Cairo" pitchFamily="34" charset="-122"/>
                <a:cs typeface="Cairo" pitchFamily="34" charset="-120"/>
              </a:rPr>
              <a:t>أحتاج رمز حماية للعرض اللاسلكي في سبورة فصلي، ومنع الاتصال إلا من جهازي</a:t>
            </a:r>
            <a:pPr algn="r" indent="0" marL="0">
              <a:buNone/>
            </a:pPr>
            <a:r>
              <a:rPr lang="ar-SA" altLang="en-US" sz="2000" b="1" dirty="0">
                <a:solidFill>
                  <a:srgbClr val="D9AE4B"/>
                </a:solidFill>
                <a:latin typeface="Cairo" pitchFamily="34" charset="0"/>
                <a:ea typeface="Cairo" pitchFamily="34" charset="-122"/>
                <a:cs typeface="Cairo" pitchFamily="34" charset="-120"/>
              </a:rPr>
              <a:t> »</a:t>
            </a:r>
            <a:endParaRPr lang="ar-SA" sz="2000" dirty="0"/>
          </a:p>
        </p:txBody>
      </p:sp>
      <p:sp>
        <p:nvSpPr>
          <p:cNvPr id="17" name="Text 1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18" name="Text 1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من يتحكم بالسبورة؟  ·  ١٨٨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189.xml><?xml version="1.0" encoding="utf-8"?>
<p:sld xmlns:a="http://schemas.openxmlformats.org/drawingml/2006/main" xmlns:r="http://schemas.openxmlformats.org/officeDocument/2006/relationships" xmlns:p="http://schemas.openxmlformats.org/presentationml/2006/main">
  <p:cSld name="Slide 18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5486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أخطاء شائعة… وبدائلها</a:t>
            </a:r>
            <a:endParaRPr lang="ar-SA" sz="3800" dirty="0"/>
          </a:p>
        </p:txBody>
      </p:sp>
      <p:sp>
        <p:nvSpPr>
          <p:cNvPr id="3" name="Text 1"/>
          <p:cNvSpPr/>
          <p:nvPr/>
        </p:nvSpPr>
        <p:spPr>
          <a:xfrm>
            <a:off x="6415888"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D64545"/>
                </a:solidFill>
                <a:latin typeface="Cairo Black" pitchFamily="34" charset="0"/>
                <a:ea typeface="Cairo Black" pitchFamily="34" charset="-122"/>
                <a:cs typeface="Cairo Black" pitchFamily="34" charset="-120"/>
              </a:rPr>
              <a:t>❌ الخطأ الشائع</a:t>
            </a:r>
            <a:endParaRPr lang="ar-SA" sz="2100" dirty="0"/>
          </a:p>
        </p:txBody>
      </p:sp>
      <p:sp>
        <p:nvSpPr>
          <p:cNvPr id="4" name="Text 2"/>
          <p:cNvSpPr/>
          <p:nvPr/>
        </p:nvSpPr>
        <p:spPr>
          <a:xfrm>
            <a:off x="822960"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2E9E6B"/>
                </a:solidFill>
                <a:latin typeface="Cairo Black" pitchFamily="34" charset="0"/>
                <a:ea typeface="Cairo Black" pitchFamily="34" charset="-122"/>
                <a:cs typeface="Cairo Black" pitchFamily="34" charset="-120"/>
              </a:rPr>
              <a:t>✅ البديل</a:t>
            </a:r>
            <a:endParaRPr lang="ar-SA" sz="2100" dirty="0"/>
          </a:p>
        </p:txBody>
      </p:sp>
      <p:sp>
        <p:nvSpPr>
          <p:cNvPr id="5" name="anim-g1-2173"/>
          <p:cNvSpPr/>
          <p:nvPr/>
        </p:nvSpPr>
        <p:spPr>
          <a:xfrm>
            <a:off x="6415888" y="2194560"/>
            <a:ext cx="4952848" cy="804672"/>
          </a:xfrm>
          <a:prstGeom prst="roundRect">
            <a:avLst>
              <a:gd name="adj" fmla="val 15909"/>
            </a:avLst>
          </a:prstGeom>
          <a:solidFill>
            <a:srgbClr val="FBECEC"/>
          </a:solidFill>
          <a:ln/>
        </p:spPr>
      </p:sp>
      <p:sp>
        <p:nvSpPr>
          <p:cNvPr id="6" name="anim-g1-2174"/>
          <p:cNvSpPr/>
          <p:nvPr/>
        </p:nvSpPr>
        <p:spPr>
          <a:xfrm>
            <a:off x="6644488"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إلغاء التقنية بسبب الموقف</a:t>
            </a:r>
            <a:endParaRPr lang="ar-SA" sz="2200" dirty="0"/>
          </a:p>
        </p:txBody>
      </p:sp>
      <p:sp>
        <p:nvSpPr>
          <p:cNvPr id="7" name="anim-g1-2175"/>
          <p:cNvSpPr/>
          <p:nvPr/>
        </p:nvSpPr>
        <p:spPr>
          <a:xfrm>
            <a:off x="822960" y="2194560"/>
            <a:ext cx="4952848" cy="804672"/>
          </a:xfrm>
          <a:prstGeom prst="roundRect">
            <a:avLst>
              <a:gd name="adj" fmla="val 15909"/>
            </a:avLst>
          </a:prstGeom>
          <a:solidFill>
            <a:srgbClr val="FFFFFF"/>
          </a:solidFill>
          <a:ln w="19050">
            <a:solidFill>
              <a:srgbClr val="BFD9CB"/>
            </a:solidFill>
            <a:prstDash val="dash"/>
          </a:ln>
        </p:spPr>
      </p:sp>
      <p:sp>
        <p:nvSpPr>
          <p:cNvPr id="8" name="anim-g1-2176"/>
          <p:cNvSpPr/>
          <p:nvPr/>
        </p:nvSpPr>
        <p:spPr>
          <a:xfrm>
            <a:off x="822960" y="219456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9" name="anim-g2-2177"/>
          <p:cNvSpPr/>
          <p:nvPr/>
        </p:nvSpPr>
        <p:spPr>
          <a:xfrm>
            <a:off x="5775808" y="219456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0" name="anim-g2-2178"/>
          <p:cNvSpPr/>
          <p:nvPr/>
        </p:nvSpPr>
        <p:spPr>
          <a:xfrm>
            <a:off x="822960" y="2194560"/>
            <a:ext cx="4952848" cy="804672"/>
          </a:xfrm>
          <a:prstGeom prst="roundRect">
            <a:avLst>
              <a:gd name="adj" fmla="val 15909"/>
            </a:avLst>
          </a:prstGeom>
          <a:solidFill>
            <a:srgbClr val="E6F4EC"/>
          </a:solidFill>
          <a:ln/>
        </p:spPr>
      </p:sp>
      <p:sp>
        <p:nvSpPr>
          <p:cNvPr id="11" name="anim-g2-2179"/>
          <p:cNvSpPr/>
          <p:nvPr/>
        </p:nvSpPr>
        <p:spPr>
          <a:xfrm>
            <a:off x="1051560"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تأمين الجهاز وقواعد استخدام واضحة</a:t>
            </a:r>
            <a:endParaRPr lang="ar-SA" sz="2200" dirty="0"/>
          </a:p>
        </p:txBody>
      </p:sp>
      <p:sp>
        <p:nvSpPr>
          <p:cNvPr id="12" name="anim-g3-2180"/>
          <p:cNvSpPr/>
          <p:nvPr/>
        </p:nvSpPr>
        <p:spPr>
          <a:xfrm>
            <a:off x="6415888" y="3154680"/>
            <a:ext cx="4952848" cy="804672"/>
          </a:xfrm>
          <a:prstGeom prst="roundRect">
            <a:avLst>
              <a:gd name="adj" fmla="val 15909"/>
            </a:avLst>
          </a:prstGeom>
          <a:solidFill>
            <a:srgbClr val="FBECEC"/>
          </a:solidFill>
          <a:ln/>
        </p:spPr>
      </p:sp>
      <p:sp>
        <p:nvSpPr>
          <p:cNvPr id="13" name="anim-g3-2181"/>
          <p:cNvSpPr/>
          <p:nvPr/>
        </p:nvSpPr>
        <p:spPr>
          <a:xfrm>
            <a:off x="6644488"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تفتيش الجوالات بحثًا عن الفاعلة</a:t>
            </a:r>
            <a:endParaRPr lang="ar-SA" sz="2200" dirty="0"/>
          </a:p>
        </p:txBody>
      </p:sp>
      <p:sp>
        <p:nvSpPr>
          <p:cNvPr id="14" name="anim-g3-2182"/>
          <p:cNvSpPr/>
          <p:nvPr/>
        </p:nvSpPr>
        <p:spPr>
          <a:xfrm>
            <a:off x="822960" y="3154680"/>
            <a:ext cx="4952848" cy="804672"/>
          </a:xfrm>
          <a:prstGeom prst="roundRect">
            <a:avLst>
              <a:gd name="adj" fmla="val 15909"/>
            </a:avLst>
          </a:prstGeom>
          <a:solidFill>
            <a:srgbClr val="FFFFFF"/>
          </a:solidFill>
          <a:ln w="19050">
            <a:solidFill>
              <a:srgbClr val="BFD9CB"/>
            </a:solidFill>
            <a:prstDash val="dash"/>
          </a:ln>
        </p:spPr>
      </p:sp>
      <p:sp>
        <p:nvSpPr>
          <p:cNvPr id="15" name="anim-g3-2183"/>
          <p:cNvSpPr/>
          <p:nvPr/>
        </p:nvSpPr>
        <p:spPr>
          <a:xfrm>
            <a:off x="822960" y="315468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16" name="anim-g4-2184"/>
          <p:cNvSpPr/>
          <p:nvPr/>
        </p:nvSpPr>
        <p:spPr>
          <a:xfrm>
            <a:off x="5775808" y="315468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7" name="anim-g4-2185"/>
          <p:cNvSpPr/>
          <p:nvPr/>
        </p:nvSpPr>
        <p:spPr>
          <a:xfrm>
            <a:off x="822960" y="3154680"/>
            <a:ext cx="4952848" cy="804672"/>
          </a:xfrm>
          <a:prstGeom prst="roundRect">
            <a:avLst>
              <a:gd name="adj" fmla="val 15909"/>
            </a:avLst>
          </a:prstGeom>
          <a:solidFill>
            <a:srgbClr val="E6F4EC"/>
          </a:solidFill>
          <a:ln/>
        </p:spPr>
      </p:sp>
      <p:sp>
        <p:nvSpPr>
          <p:cNvPr id="18" name="anim-g4-2186"/>
          <p:cNvSpPr/>
          <p:nvPr/>
        </p:nvSpPr>
        <p:spPr>
          <a:xfrm>
            <a:off x="1051560"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إجراء جماعي هادئ: الجوالات مقلوبة</a:t>
            </a:r>
            <a:endParaRPr lang="ar-SA" sz="2200" dirty="0"/>
          </a:p>
        </p:txBody>
      </p:sp>
      <p:sp>
        <p:nvSpPr>
          <p:cNvPr id="19" name="anim-g5-2187"/>
          <p:cNvSpPr/>
          <p:nvPr/>
        </p:nvSpPr>
        <p:spPr>
          <a:xfrm>
            <a:off x="6415888" y="4114800"/>
            <a:ext cx="4952848" cy="804672"/>
          </a:xfrm>
          <a:prstGeom prst="roundRect">
            <a:avLst>
              <a:gd name="adj" fmla="val 15909"/>
            </a:avLst>
          </a:prstGeom>
          <a:solidFill>
            <a:srgbClr val="FBECEC"/>
          </a:solidFill>
          <a:ln/>
        </p:spPr>
      </p:sp>
      <p:sp>
        <p:nvSpPr>
          <p:cNvPr id="20" name="anim-g5-2188"/>
          <p:cNvSpPr/>
          <p:nvPr/>
        </p:nvSpPr>
        <p:spPr>
          <a:xfrm>
            <a:off x="6644488"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الارتباك أمام الطالبات</a:t>
            </a:r>
            <a:endParaRPr lang="ar-SA" sz="2200" dirty="0"/>
          </a:p>
        </p:txBody>
      </p:sp>
      <p:sp>
        <p:nvSpPr>
          <p:cNvPr id="21" name="anim-g5-2189"/>
          <p:cNvSpPr/>
          <p:nvPr/>
        </p:nvSpPr>
        <p:spPr>
          <a:xfrm>
            <a:off x="822960" y="4114800"/>
            <a:ext cx="4952848" cy="804672"/>
          </a:xfrm>
          <a:prstGeom prst="roundRect">
            <a:avLst>
              <a:gd name="adj" fmla="val 15909"/>
            </a:avLst>
          </a:prstGeom>
          <a:solidFill>
            <a:srgbClr val="FFFFFF"/>
          </a:solidFill>
          <a:ln w="19050">
            <a:solidFill>
              <a:srgbClr val="BFD9CB"/>
            </a:solidFill>
            <a:prstDash val="dash"/>
          </a:ln>
        </p:spPr>
      </p:sp>
      <p:sp>
        <p:nvSpPr>
          <p:cNvPr id="22" name="anim-g5-2190"/>
          <p:cNvSpPr/>
          <p:nvPr/>
        </p:nvSpPr>
        <p:spPr>
          <a:xfrm>
            <a:off x="822960" y="411480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23" name="anim-g6-2191"/>
          <p:cNvSpPr/>
          <p:nvPr/>
        </p:nvSpPr>
        <p:spPr>
          <a:xfrm>
            <a:off x="5775808" y="411480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24" name="anim-g6-2192"/>
          <p:cNvSpPr/>
          <p:nvPr/>
        </p:nvSpPr>
        <p:spPr>
          <a:xfrm>
            <a:off x="822960" y="4114800"/>
            <a:ext cx="4952848" cy="804672"/>
          </a:xfrm>
          <a:prstGeom prst="roundRect">
            <a:avLst>
              <a:gd name="adj" fmla="val 15909"/>
            </a:avLst>
          </a:prstGeom>
          <a:solidFill>
            <a:srgbClr val="E6F4EC"/>
          </a:solidFill>
          <a:ln/>
        </p:spPr>
      </p:sp>
      <p:sp>
        <p:nvSpPr>
          <p:cNvPr id="25" name="anim-g6-2193"/>
          <p:cNvSpPr/>
          <p:nvPr/>
        </p:nvSpPr>
        <p:spPr>
          <a:xfrm>
            <a:off x="1051560"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خطة بديلة جاهزة دائمًا</a:t>
            </a:r>
            <a:endParaRPr lang="ar-SA" sz="2200" dirty="0"/>
          </a:p>
        </p:txBody>
      </p:sp>
      <p:sp>
        <p:nvSpPr>
          <p:cNvPr id="26" name="anim-g7-2194"/>
          <p:cNvSpPr/>
          <p:nvPr/>
        </p:nvSpPr>
        <p:spPr>
          <a:xfrm>
            <a:off x="6415888" y="5074920"/>
            <a:ext cx="4952848" cy="804672"/>
          </a:xfrm>
          <a:prstGeom prst="roundRect">
            <a:avLst>
              <a:gd name="adj" fmla="val 15909"/>
            </a:avLst>
          </a:prstGeom>
          <a:solidFill>
            <a:srgbClr val="FBECEC"/>
          </a:solidFill>
          <a:ln/>
        </p:spPr>
      </p:sp>
      <p:sp>
        <p:nvSpPr>
          <p:cNvPr id="27" name="anim-g7-2195"/>
          <p:cNvSpPr/>
          <p:nvPr/>
        </p:nvSpPr>
        <p:spPr>
          <a:xfrm>
            <a:off x="6644488" y="507492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تجاهل الموهبة التقنية</a:t>
            </a:r>
            <a:endParaRPr lang="ar-SA" sz="2200" dirty="0"/>
          </a:p>
        </p:txBody>
      </p:sp>
      <p:sp>
        <p:nvSpPr>
          <p:cNvPr id="28" name="anim-g7-2196"/>
          <p:cNvSpPr/>
          <p:nvPr/>
        </p:nvSpPr>
        <p:spPr>
          <a:xfrm>
            <a:off x="822960" y="5074920"/>
            <a:ext cx="4952848" cy="804672"/>
          </a:xfrm>
          <a:prstGeom prst="roundRect">
            <a:avLst>
              <a:gd name="adj" fmla="val 15909"/>
            </a:avLst>
          </a:prstGeom>
          <a:solidFill>
            <a:srgbClr val="FFFFFF"/>
          </a:solidFill>
          <a:ln w="19050">
            <a:solidFill>
              <a:srgbClr val="BFD9CB"/>
            </a:solidFill>
            <a:prstDash val="dash"/>
          </a:ln>
        </p:spPr>
      </p:sp>
      <p:sp>
        <p:nvSpPr>
          <p:cNvPr id="29" name="anim-g7-2197"/>
          <p:cNvSpPr/>
          <p:nvPr/>
        </p:nvSpPr>
        <p:spPr>
          <a:xfrm>
            <a:off x="822960" y="507492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30" name="anim-g8-2198"/>
          <p:cNvSpPr/>
          <p:nvPr/>
        </p:nvSpPr>
        <p:spPr>
          <a:xfrm>
            <a:off x="5775808" y="507492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31" name="anim-g8-2199"/>
          <p:cNvSpPr/>
          <p:nvPr/>
        </p:nvSpPr>
        <p:spPr>
          <a:xfrm>
            <a:off x="822960" y="5074920"/>
            <a:ext cx="4952848" cy="804672"/>
          </a:xfrm>
          <a:prstGeom prst="roundRect">
            <a:avLst>
              <a:gd name="adj" fmla="val 15909"/>
            </a:avLst>
          </a:prstGeom>
          <a:solidFill>
            <a:srgbClr val="E6F4EC"/>
          </a:solidFill>
          <a:ln/>
        </p:spPr>
      </p:sp>
      <p:sp>
        <p:nvSpPr>
          <p:cNvPr id="32" name="anim-g8-2200"/>
          <p:cNvSpPr/>
          <p:nvPr/>
        </p:nvSpPr>
        <p:spPr>
          <a:xfrm>
            <a:off x="1051560" y="507492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توظيفها: «مساعدة التقنية» في الفصل</a:t>
            </a:r>
            <a:endParaRPr lang="ar-SA" sz="2200" dirty="0"/>
          </a:p>
        </p:txBody>
      </p:sp>
      <p:sp>
        <p:nvSpPr>
          <p:cNvPr id="33" name="Text 31"/>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34" name="Text 32"/>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من يتحكم بالسبورة؟  ·  ١٨٩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0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400"/>
                                        <p:tgtEl>
                                          <p:spTgt spid="1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400"/>
                                        <p:tgtEl>
                                          <p:spTgt spid="2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400"/>
                                        <p:tgtEl>
                                          <p:spTgt spid="2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400"/>
                                        <p:tgtEl>
                                          <p:spTgt spid="2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400"/>
                                        <p:tgtEl>
                                          <p:spTgt spid="25"/>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26"/>
                                        </p:tgtEl>
                                        <p:attrNameLst>
                                          <p:attrName>style.visibility</p:attrName>
                                        </p:attrNameLst>
                                      </p:cBhvr>
                                      <p:to>
                                        <p:strVal val="visible"/>
                                      </p:to>
                                    </p:set>
                                    <p:animEffect transition="in" filter="fade">
                                      <p:cBhvr>
                                        <p:cTn id="82" dur="400"/>
                                        <p:tgtEl>
                                          <p:spTgt spid="26"/>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7"/>
                                        </p:tgtEl>
                                        <p:attrNameLst>
                                          <p:attrName>style.visibility</p:attrName>
                                        </p:attrNameLst>
                                      </p:cBhvr>
                                      <p:to>
                                        <p:strVal val="visible"/>
                                      </p:to>
                                    </p:set>
                                    <p:animEffect transition="in" filter="fade">
                                      <p:cBhvr>
                                        <p:cTn id="85" dur="400"/>
                                        <p:tgtEl>
                                          <p:spTgt spid="27"/>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8"/>
                                        </p:tgtEl>
                                        <p:attrNameLst>
                                          <p:attrName>style.visibility</p:attrName>
                                        </p:attrNameLst>
                                      </p:cBhvr>
                                      <p:to>
                                        <p:strVal val="visible"/>
                                      </p:to>
                                    </p:set>
                                    <p:animEffect transition="in" filter="fade">
                                      <p:cBhvr>
                                        <p:cTn id="88" dur="400"/>
                                        <p:tgtEl>
                                          <p:spTgt spid="28"/>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29"/>
                                        </p:tgtEl>
                                        <p:attrNameLst>
                                          <p:attrName>style.visibility</p:attrName>
                                        </p:attrNameLst>
                                      </p:cBhvr>
                                      <p:to>
                                        <p:strVal val="visible"/>
                                      </p:to>
                                    </p:set>
                                    <p:animEffect transition="in" filter="fade">
                                      <p:cBhvr>
                                        <p:cTn id="91" dur="400"/>
                                        <p:tgtEl>
                                          <p:spTgt spid="29"/>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30"/>
                                        </p:tgtEl>
                                        <p:attrNameLst>
                                          <p:attrName>style.visibility</p:attrName>
                                        </p:attrNameLst>
                                      </p:cBhvr>
                                      <p:to>
                                        <p:strVal val="visible"/>
                                      </p:to>
                                    </p:set>
                                    <p:animEffect transition="in" filter="fade">
                                      <p:cBhvr>
                                        <p:cTn id="96" dur="400"/>
                                        <p:tgtEl>
                                          <p:spTgt spid="30"/>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1"/>
                                        </p:tgtEl>
                                        <p:attrNameLst>
                                          <p:attrName>style.visibility</p:attrName>
                                        </p:attrNameLst>
                                      </p:cBhvr>
                                      <p:to>
                                        <p:strVal val="visible"/>
                                      </p:to>
                                    </p:set>
                                    <p:animEffect transition="in" filter="fade">
                                      <p:cBhvr>
                                        <p:cTn id="99" dur="400"/>
                                        <p:tgtEl>
                                          <p:spTgt spid="31"/>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2"/>
                                        </p:tgtEl>
                                        <p:attrNameLst>
                                          <p:attrName>style.visibility</p:attrName>
                                        </p:attrNameLst>
                                      </p:cBhvr>
                                      <p:to>
                                        <p:strVal val="visible"/>
                                      </p:to>
                                    </p:set>
                                    <p:animEffect transition="in" filter="fade">
                                      <p:cBhvr>
                                        <p:cTn id="102"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Lst>
  </p:timing>
</p:sld>
</file>

<file path=ppt/slides/slide190.xml><?xml version="1.0" encoding="utf-8"?>
<p:sld xmlns:a="http://schemas.openxmlformats.org/drawingml/2006/main" xmlns:r="http://schemas.openxmlformats.org/officeDocument/2006/relationships" xmlns:p="http://schemas.openxmlformats.org/presentationml/2006/main">
  <p:cSld name="Slide 19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57439" y="457200"/>
            <a:ext cx="3511296" cy="457200"/>
          </a:xfrm>
          <a:prstGeom prst="roundRect">
            <a:avLst>
              <a:gd name="adj" fmla="val 50000"/>
            </a:avLst>
          </a:prstGeom>
          <a:solidFill>
            <a:srgbClr val="F6EBCF"/>
          </a:solidFill>
          <a:ln/>
        </p:spPr>
      </p:sp>
      <p:sp>
        <p:nvSpPr>
          <p:cNvPr id="3" name="Text 1"/>
          <p:cNvSpPr/>
          <p:nvPr/>
        </p:nvSpPr>
        <p:spPr>
          <a:xfrm>
            <a:off x="7857439" y="457200"/>
            <a:ext cx="351129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قائمة فحص قبل الحصة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أمّن سبورتك الذكية في خمس دقائق</a:t>
            </a:r>
            <a:endParaRPr lang="ar-SA" sz="3800" dirty="0"/>
          </a:p>
        </p:txBody>
      </p:sp>
      <p:sp>
        <p:nvSpPr>
          <p:cNvPr id="5" name="anim-g1-2201"/>
          <p:cNvSpPr/>
          <p:nvPr/>
        </p:nvSpPr>
        <p:spPr>
          <a:xfrm>
            <a:off x="8938031"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2202"/>
          <p:cNvSpPr/>
          <p:nvPr/>
        </p:nvSpPr>
        <p:spPr>
          <a:xfrm>
            <a:off x="10362895" y="2404872"/>
            <a:ext cx="731520" cy="731520"/>
          </a:xfrm>
          <a:prstGeom prst="roundRect">
            <a:avLst>
              <a:gd name="adj" fmla="val 25000"/>
            </a:avLst>
          </a:prstGeom>
          <a:solidFill>
            <a:srgbClr val="F7E6BC"/>
          </a:solidFill>
          <a:ln/>
        </p:spPr>
      </p:sp>
      <p:sp>
        <p:nvSpPr>
          <p:cNvPr id="7" name="anim-g1-2203"/>
          <p:cNvSpPr/>
          <p:nvPr/>
        </p:nvSpPr>
        <p:spPr>
          <a:xfrm>
            <a:off x="10362895"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8" name="anim-g1-2204"/>
          <p:cNvSpPr/>
          <p:nvPr/>
        </p:nvSpPr>
        <p:spPr>
          <a:xfrm>
            <a:off x="9212351"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رمز للعرض اللاسلكي</a:t>
            </a:r>
            <a:endParaRPr lang="ar-SA" sz="2300" dirty="0"/>
          </a:p>
        </p:txBody>
      </p:sp>
      <p:sp>
        <p:nvSpPr>
          <p:cNvPr id="9" name="anim-g1-2205"/>
          <p:cNvSpPr/>
          <p:nvPr/>
        </p:nvSpPr>
        <p:spPr>
          <a:xfrm>
            <a:off x="9212351"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لا يتصل أحد بالسبورة دون رمز يظهر على الشاشة</a:t>
            </a:r>
            <a:endParaRPr lang="ar-SA" sz="2100" dirty="0"/>
          </a:p>
        </p:txBody>
      </p:sp>
      <p:sp>
        <p:nvSpPr>
          <p:cNvPr id="10" name="anim-g2-2206"/>
          <p:cNvSpPr/>
          <p:nvPr/>
        </p:nvSpPr>
        <p:spPr>
          <a:xfrm>
            <a:off x="6233008"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2207"/>
          <p:cNvSpPr/>
          <p:nvPr/>
        </p:nvSpPr>
        <p:spPr>
          <a:xfrm>
            <a:off x="7657871" y="2404872"/>
            <a:ext cx="731520" cy="731520"/>
          </a:xfrm>
          <a:prstGeom prst="roundRect">
            <a:avLst>
              <a:gd name="adj" fmla="val 25000"/>
            </a:avLst>
          </a:prstGeom>
          <a:solidFill>
            <a:srgbClr val="F7E6BC"/>
          </a:solidFill>
          <a:ln/>
        </p:spPr>
      </p:sp>
      <p:sp>
        <p:nvSpPr>
          <p:cNvPr id="12" name="anim-g2-2208"/>
          <p:cNvSpPr/>
          <p:nvPr/>
        </p:nvSpPr>
        <p:spPr>
          <a:xfrm>
            <a:off x="7657871"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3" name="anim-g2-2209"/>
          <p:cNvSpPr/>
          <p:nvPr/>
        </p:nvSpPr>
        <p:spPr>
          <a:xfrm>
            <a:off x="6507328"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منع الأجهزة المجهولة</a:t>
            </a:r>
            <a:endParaRPr lang="ar-SA" sz="2300" dirty="0"/>
          </a:p>
        </p:txBody>
      </p:sp>
      <p:sp>
        <p:nvSpPr>
          <p:cNvPr id="14" name="anim-g2-2210"/>
          <p:cNvSpPr/>
          <p:nvPr/>
        </p:nvSpPr>
        <p:spPr>
          <a:xfrm>
            <a:off x="6507328"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فعّل خيار الاتصال بالأجهزة المعروفة فقط</a:t>
            </a:r>
            <a:endParaRPr lang="ar-SA" sz="2100" dirty="0"/>
          </a:p>
        </p:txBody>
      </p:sp>
      <p:sp>
        <p:nvSpPr>
          <p:cNvPr id="15" name="anim-g3-2211"/>
          <p:cNvSpPr/>
          <p:nvPr/>
        </p:nvSpPr>
        <p:spPr>
          <a:xfrm>
            <a:off x="3527984"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2212"/>
          <p:cNvSpPr/>
          <p:nvPr/>
        </p:nvSpPr>
        <p:spPr>
          <a:xfrm>
            <a:off x="4952848" y="2404872"/>
            <a:ext cx="731520" cy="731520"/>
          </a:xfrm>
          <a:prstGeom prst="roundRect">
            <a:avLst>
              <a:gd name="adj" fmla="val 25000"/>
            </a:avLst>
          </a:prstGeom>
          <a:solidFill>
            <a:srgbClr val="F7E6BC"/>
          </a:solidFill>
          <a:ln/>
        </p:spPr>
      </p:sp>
      <p:sp>
        <p:nvSpPr>
          <p:cNvPr id="17" name="anim-g3-2213"/>
          <p:cNvSpPr/>
          <p:nvPr/>
        </p:nvSpPr>
        <p:spPr>
          <a:xfrm>
            <a:off x="4952848"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8" name="anim-g3-2214"/>
          <p:cNvSpPr/>
          <p:nvPr/>
        </p:nvSpPr>
        <p:spPr>
          <a:xfrm>
            <a:off x="3802304"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حساب للمعلم</a:t>
            </a:r>
            <a:endParaRPr lang="ar-SA" sz="2300" dirty="0"/>
          </a:p>
        </p:txBody>
      </p:sp>
      <p:sp>
        <p:nvSpPr>
          <p:cNvPr id="19" name="anim-g3-2215"/>
          <p:cNvSpPr/>
          <p:nvPr/>
        </p:nvSpPr>
        <p:spPr>
          <a:xfrm>
            <a:off x="3802304"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بكلمة مرور خاصة، لا يعرفها الطلاب</a:t>
            </a:r>
            <a:endParaRPr lang="ar-SA" sz="2100" dirty="0"/>
          </a:p>
        </p:txBody>
      </p:sp>
      <p:sp>
        <p:nvSpPr>
          <p:cNvPr id="20" name="anim-g4-2216"/>
          <p:cNvSpPr/>
          <p:nvPr/>
        </p:nvSpPr>
        <p:spPr>
          <a:xfrm>
            <a:off x="822960"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2217"/>
          <p:cNvSpPr/>
          <p:nvPr/>
        </p:nvSpPr>
        <p:spPr>
          <a:xfrm>
            <a:off x="2247824" y="2404872"/>
            <a:ext cx="731520" cy="731520"/>
          </a:xfrm>
          <a:prstGeom prst="roundRect">
            <a:avLst>
              <a:gd name="adj" fmla="val 25000"/>
            </a:avLst>
          </a:prstGeom>
          <a:solidFill>
            <a:srgbClr val="F7E6BC"/>
          </a:solidFill>
          <a:ln/>
        </p:spPr>
      </p:sp>
      <p:sp>
        <p:nvSpPr>
          <p:cNvPr id="22" name="anim-g4-2218"/>
          <p:cNvSpPr/>
          <p:nvPr/>
        </p:nvSpPr>
        <p:spPr>
          <a:xfrm>
            <a:off x="2247824"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23" name="anim-g4-2219"/>
          <p:cNvSpPr/>
          <p:nvPr/>
        </p:nvSpPr>
        <p:spPr>
          <a:xfrm>
            <a:off x="1097280"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خطة بديلة</a:t>
            </a:r>
            <a:endParaRPr lang="ar-SA" sz="2300" dirty="0"/>
          </a:p>
        </p:txBody>
      </p:sp>
      <p:sp>
        <p:nvSpPr>
          <p:cNvPr id="24" name="anim-g4-2220"/>
          <p:cNvSpPr/>
          <p:nvPr/>
        </p:nvSpPr>
        <p:spPr>
          <a:xfrm>
            <a:off x="1097280"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نسخة ورقية أو سبورة عادية لأي عطل</a:t>
            </a:r>
            <a:endParaRPr lang="ar-SA" sz="21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من يتحكم بالسبورة؟  ·  ١٩٠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191.xml><?xml version="1.0" encoding="utf-8"?>
<p:sld xmlns:a="http://schemas.openxmlformats.org/drawingml/2006/main" xmlns:r="http://schemas.openxmlformats.org/officeDocument/2006/relationships" xmlns:p="http://schemas.openxmlformats.org/presentationml/2006/main">
  <p:cSld name="Slide 19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الموقف</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التقنية في الفصل تحتاج قواعد…</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تمامًا مثل الطلاب</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موقف: من يتحكم بالسبورة؟  ·  ١٩١</a:t>
            </a:r>
            <a:endParaRPr lang="ar-SA" sz="1200" dirty="0"/>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lide 19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kb-2221" descr="/Users/mac/Desktop/أردوينو/المشاريع والكتب/younes-training/mawaqif/assets/scenes/bully.jpg">    </p:cNvPr>
          <p:cNvPicPr>
            <a:picLocks noChangeAspect="1"/>
          </p:cNvPicPr>
          <p:nvPr/>
        </p:nvPicPr>
        <p:blipFill>
          <a:blip r:embed="rId2"/>
          <a:stretch>
            <a:fillRect/>
          </a:stretch>
        </p:blipFill>
        <p:spPr>
          <a:xfrm>
            <a:off x="0" y="0"/>
            <a:ext cx="12191695" cy="6858000"/>
          </a:xfrm>
          <a:prstGeom prst="rect">
            <a:avLst/>
          </a:prstGeom>
        </p:spPr>
      </p:pic>
      <p:pic>
        <p:nvPicPr>
          <p:cNvPr id="3" name="Image 1" descr="/Users/mac/Desktop/أردوينو/المشاريع والكتب/younes-training/shared/assets/mcover-overlay.png">    </p:cNvPr>
          <p:cNvPicPr>
            <a:picLocks noChangeAspect="1"/>
          </p:cNvPicPr>
          <p:nvPr/>
        </p:nvPicPr>
        <p:blipFill>
          <a:blip r:embed="rId3"/>
          <a:stretch>
            <a:fillRect/>
          </a:stretch>
        </p:blipFill>
        <p:spPr>
          <a:xfrm>
            <a:off x="0" y="0"/>
            <a:ext cx="12191695" cy="6858000"/>
          </a:xfrm>
          <a:prstGeom prst="rect">
            <a:avLst/>
          </a:prstGeom>
        </p:spPr>
      </p:pic>
      <p:sp>
        <p:nvSpPr>
          <p:cNvPr id="4" name="Text 0"/>
          <p:cNvSpPr/>
          <p:nvPr/>
        </p:nvSpPr>
        <p:spPr>
          <a:xfrm>
            <a:off x="5669280" y="1737360"/>
            <a:ext cx="5699455" cy="502920"/>
          </a:xfrm>
          <a:prstGeom prst="rect">
            <a:avLst/>
          </a:prstGeom>
          <a:noFill/>
          <a:ln/>
        </p:spPr>
        <p:txBody>
          <a:bodyPr wrap="square" lIns="0" tIns="0" rIns="0" bIns="0" rtlCol="0" anchor="ctr">
            <a:normAutofit/>
          </a:bodyPr>
          <a:lstStyle/>
          <a:p>
            <a:pPr rtl="1" algn="r" indent="0" marL="0">
              <a:buNone/>
            </a:pPr>
            <a:r>
              <a:rPr lang="ar-SA" altLang="en-US" sz="2200" b="1" dirty="0">
                <a:solidFill>
                  <a:srgbClr val="D9AE4B"/>
                </a:solidFill>
                <a:latin typeface="Cairo" pitchFamily="34" charset="0"/>
                <a:ea typeface="Cairo" pitchFamily="34" charset="-122"/>
                <a:cs typeface="Cairo" pitchFamily="34" charset="-120"/>
              </a:rPr>
              <a:t>مواقف العصر الرقمي</a:t>
            </a:r>
            <a:endParaRPr lang="ar-SA" sz="2200" dirty="0"/>
          </a:p>
        </p:txBody>
      </p:sp>
      <p:sp>
        <p:nvSpPr>
          <p:cNvPr id="5" name="Text 1"/>
          <p:cNvSpPr/>
          <p:nvPr/>
        </p:nvSpPr>
        <p:spPr>
          <a:xfrm>
            <a:off x="5669280" y="2286000"/>
            <a:ext cx="5699455" cy="548640"/>
          </a:xfrm>
          <a:prstGeom prst="rect">
            <a:avLst/>
          </a:prstGeom>
          <a:noFill/>
          <a:ln/>
        </p:spPr>
        <p:txBody>
          <a:bodyPr wrap="square" lIns="0" tIns="0" rIns="0" bIns="0" rtlCol="0" anchor="ctr">
            <a:normAutofit/>
          </a:bodyPr>
          <a:lstStyle/>
          <a:p>
            <a:pPr rtl="1" algn="r" indent="0" marL="0">
              <a:buNone/>
            </a:pPr>
            <a:r>
              <a:rPr lang="ar-SA" altLang="en-US" sz="2600" b="1" dirty="0">
                <a:solidFill>
                  <a:srgbClr val="C9CFE6"/>
                </a:solidFill>
                <a:latin typeface="Cairo" pitchFamily="34" charset="0"/>
                <a:ea typeface="Cairo" pitchFamily="34" charset="-122"/>
                <a:cs typeface="Cairo" pitchFamily="34" charset="-120"/>
              </a:rPr>
              <a:t>الموقف ١٦</a:t>
            </a:r>
            <a:endParaRPr lang="ar-SA" sz="2600" dirty="0"/>
          </a:p>
        </p:txBody>
      </p:sp>
      <p:sp>
        <p:nvSpPr>
          <p:cNvPr id="6" name="Text 2"/>
          <p:cNvSpPr/>
          <p:nvPr/>
        </p:nvSpPr>
        <p:spPr>
          <a:xfrm>
            <a:off x="4572000" y="2834640"/>
            <a:ext cx="6796735" cy="1188720"/>
          </a:xfrm>
          <a:prstGeom prst="rect">
            <a:avLst/>
          </a:prstGeom>
          <a:noFill/>
          <a:ln/>
        </p:spPr>
        <p:txBody>
          <a:bodyPr wrap="square" lIns="0" tIns="0" rIns="0" bIns="0" rtlCol="0" anchor="ctr">
            <a:normAutofit/>
          </a:bodyPr>
          <a:lstStyle/>
          <a:p>
            <a:pPr rtl="1" algn="r" indent="0" marL="0">
              <a:buNone/>
            </a:pPr>
            <a:r>
              <a:rPr lang="ar-SA" altLang="en-US" sz="6000" dirty="0">
                <a:solidFill>
                  <a:srgbClr val="FFFFFF"/>
                </a:solidFill>
                <a:latin typeface="Cairo Black" pitchFamily="34" charset="0"/>
                <a:ea typeface="Cairo Black" pitchFamily="34" charset="-122"/>
                <a:cs typeface="Cairo Black" pitchFamily="34" charset="-120"/>
              </a:rPr>
              <a:t>رسائل تؤلم</a:t>
            </a:r>
            <a:endParaRPr lang="ar-SA" sz="6000" dirty="0"/>
          </a:p>
        </p:txBody>
      </p:sp>
      <p:sp>
        <p:nvSpPr>
          <p:cNvPr id="7" name="Shape 3"/>
          <p:cNvSpPr/>
          <p:nvPr/>
        </p:nvSpPr>
        <p:spPr>
          <a:xfrm>
            <a:off x="10125151" y="4480560"/>
            <a:ext cx="1243584"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8" name="Text 4"/>
          <p:cNvSpPr/>
          <p:nvPr/>
        </p:nvSpPr>
        <p:spPr>
          <a:xfrm>
            <a:off x="10125151" y="4480560"/>
            <a:ext cx="1243584"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القصة</a:t>
            </a:r>
            <a:endParaRPr lang="ar-SA" sz="1500" dirty="0"/>
          </a:p>
        </p:txBody>
      </p:sp>
      <p:sp>
        <p:nvSpPr>
          <p:cNvPr id="9" name="Shape 5"/>
          <p:cNvSpPr/>
          <p:nvPr/>
        </p:nvSpPr>
        <p:spPr>
          <a:xfrm>
            <a:off x="8680399" y="4480560"/>
            <a:ext cx="1353312"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0" name="Text 6"/>
          <p:cNvSpPr/>
          <p:nvPr/>
        </p:nvSpPr>
        <p:spPr>
          <a:xfrm>
            <a:off x="8680399" y="4480560"/>
            <a:ext cx="1353312"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تصويت</a:t>
            </a:r>
            <a:endParaRPr lang="ar-SA" sz="1500" dirty="0"/>
          </a:p>
        </p:txBody>
      </p:sp>
      <p:sp>
        <p:nvSpPr>
          <p:cNvPr id="11" name="Shape 7"/>
          <p:cNvSpPr/>
          <p:nvPr/>
        </p:nvSpPr>
        <p:spPr>
          <a:xfrm>
            <a:off x="7235647" y="4480560"/>
            <a:ext cx="1353312"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2" name="Text 8"/>
          <p:cNvSpPr/>
          <p:nvPr/>
        </p:nvSpPr>
        <p:spPr>
          <a:xfrm>
            <a:off x="7235647" y="4480560"/>
            <a:ext cx="1353312"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لماذا؟</a:t>
            </a:r>
            <a:endParaRPr lang="ar-SA" sz="1500" dirty="0"/>
          </a:p>
        </p:txBody>
      </p:sp>
      <p:sp>
        <p:nvSpPr>
          <p:cNvPr id="13" name="Shape 9"/>
          <p:cNvSpPr/>
          <p:nvPr/>
        </p:nvSpPr>
        <p:spPr>
          <a:xfrm>
            <a:off x="5571439" y="4480560"/>
            <a:ext cx="1572768"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4" name="Text 10"/>
          <p:cNvSpPr/>
          <p:nvPr/>
        </p:nvSpPr>
        <p:spPr>
          <a:xfrm>
            <a:off x="5571439" y="4480560"/>
            <a:ext cx="1572768"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أول خطوة</a:t>
            </a:r>
            <a:endParaRPr lang="ar-SA" sz="1500" dirty="0"/>
          </a:p>
        </p:txBody>
      </p:sp>
      <p:sp>
        <p:nvSpPr>
          <p:cNvPr id="15" name="Shape 11"/>
          <p:cNvSpPr/>
          <p:nvPr/>
        </p:nvSpPr>
        <p:spPr>
          <a:xfrm>
            <a:off x="3687775" y="4480560"/>
            <a:ext cx="1792224"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6" name="Text 12"/>
          <p:cNvSpPr/>
          <p:nvPr/>
        </p:nvSpPr>
        <p:spPr>
          <a:xfrm>
            <a:off x="3687775" y="4480560"/>
            <a:ext cx="1792224"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ماذا تقول؟</a:t>
            </a:r>
            <a:endParaRPr lang="ar-SA" sz="1500" dirty="0"/>
          </a:p>
        </p:txBody>
      </p:sp>
      <p:sp>
        <p:nvSpPr>
          <p:cNvPr id="17" name="Text 1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18" name="Text 1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موقف: رسائل تؤلم  ·  ١٩٢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16000" fill="hold"/>
                                        <p:tgtEl>
                                          <p:spTgt spid="2"/>
                                        </p:tgtEl>
                                      </p:cBhvr>
                                      <p:by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3.xml><?xml version="1.0" encoding="utf-8"?>
<p:sld xmlns:a="http://schemas.openxmlformats.org/drawingml/2006/main" xmlns:r="http://schemas.openxmlformats.org/officeDocument/2006/relationships" xmlns:p="http://schemas.openxmlformats.org/presentationml/2006/main">
  <p:cSld name="Slide 19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kb-2222" descr="/Users/mac/Desktop/أردوينو/المشاريع والكتب/younes-training/mawaqif/assets/scenes/bully.jpg">    </p:cNvPr>
          <p:cNvPicPr>
            <a:picLocks noChangeAspect="1"/>
          </p:cNvPicPr>
          <p:nvPr/>
        </p:nvPicPr>
        <p:blipFill>
          <a:blip r:embed="rId2"/>
          <a:stretch>
            <a:fillRect/>
          </a:stretch>
        </p:blipFill>
        <p:spPr>
          <a:xfrm>
            <a:off x="0" y="0"/>
            <a:ext cx="12191695" cy="6858000"/>
          </a:xfrm>
          <a:prstGeom prst="rect">
            <a:avLst/>
          </a:prstGeom>
        </p:spPr>
      </p:pic>
      <p:pic>
        <p:nvPicPr>
          <p:cNvPr id="3" name="Image 1" descr="/Users/mac/Desktop/أردوينو/المشاريع والكتب/younes-training/shared/assets/story-overlay.png">    </p:cNvPr>
          <p:cNvPicPr>
            <a:picLocks noChangeAspect="1"/>
          </p:cNvPicPr>
          <p:nvPr/>
        </p:nvPicPr>
        <p:blipFill>
          <a:blip r:embed="rId3"/>
          <a:stretch>
            <a:fillRect/>
          </a:stretch>
        </p:blipFill>
        <p:spPr>
          <a:xfrm>
            <a:off x="0" y="0"/>
            <a:ext cx="12191695" cy="6858000"/>
          </a:xfrm>
          <a:prstGeom prst="rect">
            <a:avLst/>
          </a:prstGeom>
        </p:spPr>
      </p:pic>
      <p:sp>
        <p:nvSpPr>
          <p:cNvPr id="4" name="Shape 0"/>
          <p:cNvSpPr/>
          <p:nvPr/>
        </p:nvSpPr>
        <p:spPr>
          <a:xfrm>
            <a:off x="7985455" y="365760"/>
            <a:ext cx="3657600" cy="502920"/>
          </a:xfrm>
          <a:prstGeom prst="roundRect">
            <a:avLst>
              <a:gd name="adj" fmla="val 49091"/>
            </a:avLst>
          </a:prstGeom>
          <a:solidFill>
            <a:srgbClr val="0A1230">
              <a:alpha val="80000"/>
            </a:srgbClr>
          </a:solidFill>
          <a:ln w="12700">
            <a:solidFill>
              <a:srgbClr val="D9AE4B">
                <a:alpha val="60000"/>
              </a:srgbClr>
            </a:solidFill>
            <a:prstDash val="solid"/>
          </a:ln>
        </p:spPr>
      </p:sp>
      <p:sp>
        <p:nvSpPr>
          <p:cNvPr id="5" name="Text 1"/>
          <p:cNvSpPr/>
          <p:nvPr/>
        </p:nvSpPr>
        <p:spPr>
          <a:xfrm>
            <a:off x="7985455" y="365760"/>
            <a:ext cx="3657600" cy="50292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 القصة · ماذا حدث؟</a:t>
            </a:r>
            <a:endParaRPr lang="ar-SA" sz="1800" dirty="0"/>
          </a:p>
        </p:txBody>
      </p:sp>
      <p:sp>
        <p:nvSpPr>
          <p:cNvPr id="6" name="Shape 2"/>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7" name="Text 3"/>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لاحظت أ. مها أن لمى (الأول المتوسط)، الطالبة المرحة، صارت صامتة، تجلس وحدها، وعيناها على جوالها.</a:t>
            </a:r>
            <a:endParaRPr lang="ar-SA" sz="2400" dirty="0"/>
          </a:p>
        </p:txBody>
      </p:sp>
      <p:sp>
        <p:nvSpPr>
          <p:cNvPr id="8" name="anim-g1-2223"/>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9" name="anim-g1-2224"/>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وفي الفسحة سمعت طالبتين تضحكان: «رأيتِ ما كتبناه عنها في المجموعة؟»</a:t>
            </a:r>
            <a:endParaRPr lang="ar-SA" sz="2400" dirty="0"/>
          </a:p>
        </p:txBody>
      </p:sp>
      <p:sp>
        <p:nvSpPr>
          <p:cNvPr id="10" name="anim-g2-2225"/>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11" name="anim-g2-2226"/>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اقتربت لمى من أ. مها بعد الحصة، وقالت بصوت مرتجف: «أستاذة… لا أريد أن آتي إلى المدرسة بعد اليوم».</a:t>
            </a:r>
            <a:endParaRPr lang="ar-SA" sz="2400" dirty="0"/>
          </a:p>
        </p:txBody>
      </p:sp>
      <p:sp>
        <p:nvSpPr>
          <p:cNvPr id="12" name="anim-g3-2227"/>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13" name="anim-g3-2228"/>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600" b="1" dirty="0">
                <a:solidFill>
                  <a:srgbClr val="F0CC7A"/>
                </a:solidFill>
                <a:latin typeface="Cairo" pitchFamily="34" charset="0"/>
                <a:ea typeface="Cairo" pitchFamily="34" charset="-122"/>
                <a:cs typeface="Cairo" pitchFamily="34" charset="-120"/>
              </a:rPr>
              <a:t>التنمّر لم يعد في الساحة فقط… صار في جيب كل طالبة، ليلًا ونهارًا.</a:t>
            </a:r>
            <a:endParaRPr lang="ar-SA" sz="2600" dirty="0"/>
          </a:p>
        </p:txBody>
      </p:sp>
      <p:sp>
        <p:nvSpPr>
          <p:cNvPr id="14" name="Text 1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15" name="Text 1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موقف: رسائل تؤلم  ·  ١٩٣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16000" fill="hold"/>
                                        <p:tgtEl>
                                          <p:spTgt spid="2"/>
                                        </p:tgtEl>
                                      </p:cBhvr>
                                      <p:by x="112000" y="112000"/>
                                    </p:animScale>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Lst>
  </p:timing>
</p:sld>
</file>

<file path=ppt/slides/slide194.xml><?xml version="1.0" encoding="utf-8"?>
<p:sld xmlns:a="http://schemas.openxmlformats.org/drawingml/2006/main" xmlns:r="http://schemas.openxmlformats.org/officeDocument/2006/relationships" xmlns:p="http://schemas.openxmlformats.org/presentationml/2006/main">
  <p:cSld name="Slide 19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296351" y="457200"/>
            <a:ext cx="3072384" cy="457200"/>
          </a:xfrm>
          <a:prstGeom prst="roundRect">
            <a:avLst>
              <a:gd name="adj" fmla="val 50000"/>
            </a:avLst>
          </a:prstGeom>
          <a:solidFill>
            <a:srgbClr val="F6EBCF"/>
          </a:solidFill>
          <a:ln/>
        </p:spPr>
      </p:sp>
      <p:sp>
        <p:nvSpPr>
          <p:cNvPr id="3" name="Text 1"/>
          <p:cNvSpPr/>
          <p:nvPr/>
        </p:nvSpPr>
        <p:spPr>
          <a:xfrm>
            <a:off x="8296351" y="457200"/>
            <a:ext cx="307238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صوّت قبل أن نكشف</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ماذا تفعل أ. مها؟</a:t>
            </a:r>
            <a:endParaRPr lang="ar-SA" sz="3800" dirty="0"/>
          </a:p>
        </p:txBody>
      </p:sp>
      <p:sp>
        <p:nvSpPr>
          <p:cNvPr id="5" name="Shape 3"/>
          <p:cNvSpPr/>
          <p:nvPr/>
        </p:nvSpPr>
        <p:spPr>
          <a:xfrm>
            <a:off x="822960" y="2057400"/>
            <a:ext cx="10545775" cy="884682"/>
          </a:xfrm>
          <a:prstGeom prst="roundRect">
            <a:avLst>
              <a:gd name="adj" fmla="val 16537"/>
            </a:avLst>
          </a:prstGeom>
          <a:solidFill>
            <a:srgbClr val="FFFFFF"/>
          </a:solidFill>
          <a:ln w="19050">
            <a:solidFill>
              <a:srgbClr val="E4DCC8"/>
            </a:solidFill>
            <a:prstDash val="solid"/>
          </a:ln>
        </p:spPr>
      </p:sp>
      <p:sp>
        <p:nvSpPr>
          <p:cNvPr id="6" name="Shape 4"/>
          <p:cNvSpPr/>
          <p:nvPr/>
        </p:nvSpPr>
        <p:spPr>
          <a:xfrm>
            <a:off x="10575493" y="2194560"/>
            <a:ext cx="610362" cy="610362"/>
          </a:xfrm>
          <a:prstGeom prst="roundRect">
            <a:avLst>
              <a:gd name="adj" fmla="val 17978"/>
            </a:avLst>
          </a:prstGeom>
          <a:solidFill>
            <a:srgbClr val="101B45"/>
          </a:solidFill>
          <a:ln/>
        </p:spPr>
      </p:sp>
      <p:sp>
        <p:nvSpPr>
          <p:cNvPr id="7" name="Text 5"/>
          <p:cNvSpPr/>
          <p:nvPr/>
        </p:nvSpPr>
        <p:spPr>
          <a:xfrm>
            <a:off x="10575493" y="2194560"/>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أ</a:t>
            </a:r>
            <a:endParaRPr lang="ar-SA" sz="2000" dirty="0"/>
          </a:p>
        </p:txBody>
      </p:sp>
      <p:sp>
        <p:nvSpPr>
          <p:cNvPr id="8" name="Text 6"/>
          <p:cNvSpPr/>
          <p:nvPr/>
        </p:nvSpPr>
        <p:spPr>
          <a:xfrm>
            <a:off x="1097280" y="2057400"/>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تواجه الطالبتين فورًا أمام الفصل</a:t>
            </a:r>
            <a:endParaRPr lang="ar-SA" sz="2200" dirty="0"/>
          </a:p>
        </p:txBody>
      </p:sp>
      <p:sp>
        <p:nvSpPr>
          <p:cNvPr id="9" name="anim-g1-2229"/>
          <p:cNvSpPr/>
          <p:nvPr/>
        </p:nvSpPr>
        <p:spPr>
          <a:xfrm>
            <a:off x="822960" y="2057400"/>
            <a:ext cx="10545775" cy="884682"/>
          </a:xfrm>
          <a:prstGeom prst="roundRect">
            <a:avLst>
              <a:gd name="adj" fmla="val 16537"/>
            </a:avLst>
          </a:prstGeom>
          <a:solidFill>
            <a:srgbClr val="F7F7F9"/>
          </a:solidFill>
          <a:ln w="19050">
            <a:solidFill>
              <a:srgbClr val="E4DCC8"/>
            </a:solidFill>
            <a:prstDash val="solid"/>
          </a:ln>
        </p:spPr>
      </p:sp>
      <p:sp>
        <p:nvSpPr>
          <p:cNvPr id="10" name="anim-g1-2230"/>
          <p:cNvSpPr/>
          <p:nvPr/>
        </p:nvSpPr>
        <p:spPr>
          <a:xfrm>
            <a:off x="10575493" y="2194560"/>
            <a:ext cx="610362" cy="610362"/>
          </a:xfrm>
          <a:prstGeom prst="roundRect">
            <a:avLst>
              <a:gd name="adj" fmla="val 17978"/>
            </a:avLst>
          </a:prstGeom>
          <a:solidFill>
            <a:srgbClr val="A3A9BA"/>
          </a:solidFill>
          <a:ln/>
        </p:spPr>
      </p:sp>
      <p:sp>
        <p:nvSpPr>
          <p:cNvPr id="11" name="anim-g1-2231"/>
          <p:cNvSpPr/>
          <p:nvPr/>
        </p:nvSpPr>
        <p:spPr>
          <a:xfrm>
            <a:off x="10575493" y="2194560"/>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أ</a:t>
            </a:r>
            <a:endParaRPr lang="ar-SA" sz="2000" dirty="0"/>
          </a:p>
        </p:txBody>
      </p:sp>
      <p:sp>
        <p:nvSpPr>
          <p:cNvPr id="12" name="anim-g1-2232"/>
          <p:cNvSpPr/>
          <p:nvPr/>
        </p:nvSpPr>
        <p:spPr>
          <a:xfrm>
            <a:off x="1097280" y="2093976"/>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تواجه الطالبتين فورًا أمام الفصل</a:t>
            </a:r>
            <a:endParaRPr lang="ar-SA" sz="2200" dirty="0"/>
          </a:p>
        </p:txBody>
      </p:sp>
      <p:sp>
        <p:nvSpPr>
          <p:cNvPr id="13" name="anim-g1-2233"/>
          <p:cNvSpPr/>
          <p:nvPr/>
        </p:nvSpPr>
        <p:spPr>
          <a:xfrm>
            <a:off x="1097280" y="2535128"/>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المواجهة العلنية قد تزيد التنمّر على لمى انتقامًا</a:t>
            </a:r>
            <a:endParaRPr lang="ar-SA" sz="1800" dirty="0"/>
          </a:p>
        </p:txBody>
      </p:sp>
      <p:sp>
        <p:nvSpPr>
          <p:cNvPr id="14" name="Shape 12"/>
          <p:cNvSpPr/>
          <p:nvPr/>
        </p:nvSpPr>
        <p:spPr>
          <a:xfrm>
            <a:off x="822960" y="3088386"/>
            <a:ext cx="10545775" cy="884682"/>
          </a:xfrm>
          <a:prstGeom prst="roundRect">
            <a:avLst>
              <a:gd name="adj" fmla="val 16537"/>
            </a:avLst>
          </a:prstGeom>
          <a:solidFill>
            <a:srgbClr val="FFFFFF"/>
          </a:solidFill>
          <a:ln w="19050">
            <a:solidFill>
              <a:srgbClr val="E4DCC8"/>
            </a:solidFill>
            <a:prstDash val="solid"/>
          </a:ln>
        </p:spPr>
      </p:sp>
      <p:sp>
        <p:nvSpPr>
          <p:cNvPr id="15" name="Shape 13"/>
          <p:cNvSpPr/>
          <p:nvPr/>
        </p:nvSpPr>
        <p:spPr>
          <a:xfrm>
            <a:off x="10575493" y="3225546"/>
            <a:ext cx="610362" cy="610362"/>
          </a:xfrm>
          <a:prstGeom prst="roundRect">
            <a:avLst>
              <a:gd name="adj" fmla="val 17978"/>
            </a:avLst>
          </a:prstGeom>
          <a:solidFill>
            <a:srgbClr val="101B45"/>
          </a:solidFill>
          <a:ln/>
        </p:spPr>
      </p:sp>
      <p:sp>
        <p:nvSpPr>
          <p:cNvPr id="16" name="Text 14"/>
          <p:cNvSpPr/>
          <p:nvPr/>
        </p:nvSpPr>
        <p:spPr>
          <a:xfrm>
            <a:off x="10575493" y="3225546"/>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ب</a:t>
            </a:r>
            <a:endParaRPr lang="ar-SA" sz="2000" dirty="0"/>
          </a:p>
        </p:txBody>
      </p:sp>
      <p:sp>
        <p:nvSpPr>
          <p:cNvPr id="17" name="Text 15"/>
          <p:cNvSpPr/>
          <p:nvPr/>
        </p:nvSpPr>
        <p:spPr>
          <a:xfrm>
            <a:off x="1097280" y="3088386"/>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تنصح لمى بتجاهلهن وحذف التطبيق</a:t>
            </a:r>
            <a:endParaRPr lang="ar-SA" sz="2200" dirty="0"/>
          </a:p>
        </p:txBody>
      </p:sp>
      <p:sp>
        <p:nvSpPr>
          <p:cNvPr id="18" name="anim-g1-2234"/>
          <p:cNvSpPr/>
          <p:nvPr/>
        </p:nvSpPr>
        <p:spPr>
          <a:xfrm>
            <a:off x="822960" y="3088386"/>
            <a:ext cx="10545775" cy="884682"/>
          </a:xfrm>
          <a:prstGeom prst="roundRect">
            <a:avLst>
              <a:gd name="adj" fmla="val 16537"/>
            </a:avLst>
          </a:prstGeom>
          <a:solidFill>
            <a:srgbClr val="F7F7F9"/>
          </a:solidFill>
          <a:ln w="19050">
            <a:solidFill>
              <a:srgbClr val="E4DCC8"/>
            </a:solidFill>
            <a:prstDash val="solid"/>
          </a:ln>
        </p:spPr>
      </p:sp>
      <p:sp>
        <p:nvSpPr>
          <p:cNvPr id="19" name="anim-g1-2235"/>
          <p:cNvSpPr/>
          <p:nvPr/>
        </p:nvSpPr>
        <p:spPr>
          <a:xfrm>
            <a:off x="10575493" y="3225546"/>
            <a:ext cx="610362" cy="610362"/>
          </a:xfrm>
          <a:prstGeom prst="roundRect">
            <a:avLst>
              <a:gd name="adj" fmla="val 17978"/>
            </a:avLst>
          </a:prstGeom>
          <a:solidFill>
            <a:srgbClr val="A3A9BA"/>
          </a:solidFill>
          <a:ln/>
        </p:spPr>
      </p:sp>
      <p:sp>
        <p:nvSpPr>
          <p:cNvPr id="20" name="anim-g1-2236"/>
          <p:cNvSpPr/>
          <p:nvPr/>
        </p:nvSpPr>
        <p:spPr>
          <a:xfrm>
            <a:off x="10575493" y="3225546"/>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ب</a:t>
            </a:r>
            <a:endParaRPr lang="ar-SA" sz="2000" dirty="0"/>
          </a:p>
        </p:txBody>
      </p:sp>
      <p:sp>
        <p:nvSpPr>
          <p:cNvPr id="21" name="anim-g1-2237"/>
          <p:cNvSpPr/>
          <p:nvPr/>
        </p:nvSpPr>
        <p:spPr>
          <a:xfrm>
            <a:off x="1097280" y="3124962"/>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تنصح لمى بتجاهلهن وحذف التطبيق</a:t>
            </a:r>
            <a:endParaRPr lang="ar-SA" sz="2200" dirty="0"/>
          </a:p>
        </p:txBody>
      </p:sp>
      <p:sp>
        <p:nvSpPr>
          <p:cNvPr id="22" name="anim-g1-2238"/>
          <p:cNvSpPr/>
          <p:nvPr/>
        </p:nvSpPr>
        <p:spPr>
          <a:xfrm>
            <a:off x="1097280" y="3566114"/>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النصيحة وحدها تحمّل الضحية المسؤولية، وتتركها وحيدة</a:t>
            </a:r>
            <a:endParaRPr lang="ar-SA" sz="1800" dirty="0"/>
          </a:p>
        </p:txBody>
      </p:sp>
      <p:sp>
        <p:nvSpPr>
          <p:cNvPr id="23" name="Shape 21"/>
          <p:cNvSpPr/>
          <p:nvPr/>
        </p:nvSpPr>
        <p:spPr>
          <a:xfrm>
            <a:off x="822960" y="4119372"/>
            <a:ext cx="10545775" cy="884682"/>
          </a:xfrm>
          <a:prstGeom prst="roundRect">
            <a:avLst>
              <a:gd name="adj" fmla="val 16537"/>
            </a:avLst>
          </a:prstGeom>
          <a:solidFill>
            <a:srgbClr val="FFFFFF"/>
          </a:solidFill>
          <a:ln w="19050">
            <a:solidFill>
              <a:srgbClr val="E4DCC8"/>
            </a:solidFill>
            <a:prstDash val="solid"/>
          </a:ln>
        </p:spPr>
      </p:sp>
      <p:sp>
        <p:nvSpPr>
          <p:cNvPr id="24" name="Shape 22"/>
          <p:cNvSpPr/>
          <p:nvPr/>
        </p:nvSpPr>
        <p:spPr>
          <a:xfrm>
            <a:off x="10575493" y="4256532"/>
            <a:ext cx="610362" cy="610362"/>
          </a:xfrm>
          <a:prstGeom prst="roundRect">
            <a:avLst>
              <a:gd name="adj" fmla="val 17978"/>
            </a:avLst>
          </a:prstGeom>
          <a:solidFill>
            <a:srgbClr val="101B45"/>
          </a:solidFill>
          <a:ln/>
        </p:spPr>
      </p:sp>
      <p:sp>
        <p:nvSpPr>
          <p:cNvPr id="25" name="Text 23"/>
          <p:cNvSpPr/>
          <p:nvPr/>
        </p:nvSpPr>
        <p:spPr>
          <a:xfrm>
            <a:off x="10575493" y="4256532"/>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ج</a:t>
            </a:r>
            <a:endParaRPr lang="ar-SA" sz="2000" dirty="0"/>
          </a:p>
        </p:txBody>
      </p:sp>
      <p:sp>
        <p:nvSpPr>
          <p:cNvPr id="26" name="Text 24"/>
          <p:cNvSpPr/>
          <p:nvPr/>
        </p:nvSpPr>
        <p:spPr>
          <a:xfrm>
            <a:off x="1097280" y="4119372"/>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تطمئن لمى، وتوثّق بإذنها، وتحيل الأمر للمرشدة والإدارة وفق النظام</a:t>
            </a:r>
            <a:endParaRPr lang="ar-SA" sz="2200" dirty="0"/>
          </a:p>
        </p:txBody>
      </p:sp>
      <p:sp>
        <p:nvSpPr>
          <p:cNvPr id="27" name="anim-g1-2239"/>
          <p:cNvSpPr/>
          <p:nvPr/>
        </p:nvSpPr>
        <p:spPr>
          <a:xfrm>
            <a:off x="822960" y="4119372"/>
            <a:ext cx="10545775" cy="884682"/>
          </a:xfrm>
          <a:prstGeom prst="roundRect">
            <a:avLst>
              <a:gd name="adj" fmla="val 16537"/>
            </a:avLst>
          </a:prstGeom>
          <a:solidFill>
            <a:srgbClr val="E6F4EC"/>
          </a:solidFill>
          <a:ln w="31750">
            <a:solidFill>
              <a:srgbClr val="2E9E6B"/>
            </a:solidFill>
            <a:prstDash val="solid"/>
          </a:ln>
        </p:spPr>
      </p:sp>
      <p:sp>
        <p:nvSpPr>
          <p:cNvPr id="28" name="anim-g1-2240"/>
          <p:cNvSpPr/>
          <p:nvPr/>
        </p:nvSpPr>
        <p:spPr>
          <a:xfrm>
            <a:off x="10575493" y="4256532"/>
            <a:ext cx="610362" cy="610362"/>
          </a:xfrm>
          <a:prstGeom prst="roundRect">
            <a:avLst>
              <a:gd name="adj" fmla="val 17978"/>
            </a:avLst>
          </a:prstGeom>
          <a:solidFill>
            <a:srgbClr val="2E9E6B"/>
          </a:solidFill>
          <a:ln/>
        </p:spPr>
      </p:sp>
      <p:sp>
        <p:nvSpPr>
          <p:cNvPr id="29" name="anim-g1-2241"/>
          <p:cNvSpPr/>
          <p:nvPr/>
        </p:nvSpPr>
        <p:spPr>
          <a:xfrm>
            <a:off x="10575493" y="4256532"/>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a:t>
            </a:r>
            <a:endParaRPr lang="ar-SA" sz="2000" dirty="0"/>
          </a:p>
        </p:txBody>
      </p:sp>
      <p:sp>
        <p:nvSpPr>
          <p:cNvPr id="30" name="anim-g1-2242"/>
          <p:cNvSpPr/>
          <p:nvPr/>
        </p:nvSpPr>
        <p:spPr>
          <a:xfrm>
            <a:off x="1097280" y="4155948"/>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تطمئن لمى، وتوثّق بإذنها، وتحيل الأمر للمرشدة والإدارة وفق النظام</a:t>
            </a:r>
            <a:endParaRPr lang="ar-SA" sz="2200" dirty="0"/>
          </a:p>
        </p:txBody>
      </p:sp>
      <p:sp>
        <p:nvSpPr>
          <p:cNvPr id="31" name="anim-g1-2243"/>
          <p:cNvSpPr/>
          <p:nvPr/>
        </p:nvSpPr>
        <p:spPr>
          <a:xfrm>
            <a:off x="1097280" y="4597100"/>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الضحية تحتاج أمانًا أولًا، والنظام يحمي الجميع ويضمن المتابعة</a:t>
            </a:r>
            <a:endParaRPr lang="ar-SA" sz="1800" dirty="0"/>
          </a:p>
        </p:txBody>
      </p:sp>
      <p:sp>
        <p:nvSpPr>
          <p:cNvPr id="32" name="Shape 30"/>
          <p:cNvSpPr/>
          <p:nvPr/>
        </p:nvSpPr>
        <p:spPr>
          <a:xfrm>
            <a:off x="822960" y="5150358"/>
            <a:ext cx="10545775" cy="884682"/>
          </a:xfrm>
          <a:prstGeom prst="roundRect">
            <a:avLst>
              <a:gd name="adj" fmla="val 16537"/>
            </a:avLst>
          </a:prstGeom>
          <a:solidFill>
            <a:srgbClr val="FFFFFF"/>
          </a:solidFill>
          <a:ln w="19050">
            <a:solidFill>
              <a:srgbClr val="E4DCC8"/>
            </a:solidFill>
            <a:prstDash val="solid"/>
          </a:ln>
        </p:spPr>
      </p:sp>
      <p:sp>
        <p:nvSpPr>
          <p:cNvPr id="33" name="Shape 31"/>
          <p:cNvSpPr/>
          <p:nvPr/>
        </p:nvSpPr>
        <p:spPr>
          <a:xfrm>
            <a:off x="10575493" y="5287518"/>
            <a:ext cx="610362" cy="610362"/>
          </a:xfrm>
          <a:prstGeom prst="roundRect">
            <a:avLst>
              <a:gd name="adj" fmla="val 17978"/>
            </a:avLst>
          </a:prstGeom>
          <a:solidFill>
            <a:srgbClr val="101B45"/>
          </a:solidFill>
          <a:ln/>
        </p:spPr>
      </p:sp>
      <p:sp>
        <p:nvSpPr>
          <p:cNvPr id="34" name="Text 32"/>
          <p:cNvSpPr/>
          <p:nvPr/>
        </p:nvSpPr>
        <p:spPr>
          <a:xfrm>
            <a:off x="10575493" y="5287518"/>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د</a:t>
            </a:r>
            <a:endParaRPr lang="ar-SA" sz="2000" dirty="0"/>
          </a:p>
        </p:txBody>
      </p:sp>
      <p:sp>
        <p:nvSpPr>
          <p:cNvPr id="35" name="Text 33"/>
          <p:cNvSpPr/>
          <p:nvPr/>
        </p:nvSpPr>
        <p:spPr>
          <a:xfrm>
            <a:off x="1097280" y="5150358"/>
            <a:ext cx="9295333" cy="884682"/>
          </a:xfrm>
          <a:prstGeom prst="rect">
            <a:avLst/>
          </a:prstGeom>
          <a:noFill/>
          <a:ln/>
        </p:spPr>
        <p:txBody>
          <a:bodyPr wrap="square" lIns="0" tIns="0" rIns="0" bIns="0" rtlCol="0" anchor="ctr">
            <a:normAutofit/>
          </a:bodyPr>
          <a:lstStyle/>
          <a:p>
            <a:pPr rtl="1" algn="r" indent="0" marL="0">
              <a:buNone/>
            </a:pPr>
            <a:r>
              <a:rPr lang="ar-SA" altLang="en-US" sz="2200" b="1" dirty="0">
                <a:solidFill>
                  <a:srgbClr val="131B34"/>
                </a:solidFill>
                <a:latin typeface="Cairo" pitchFamily="34" charset="0"/>
                <a:ea typeface="Cairo" pitchFamily="34" charset="-122"/>
                <a:cs typeface="Cairo" pitchFamily="34" charset="-120"/>
              </a:rPr>
              <a:t>تعتبره خلافًا بين طالبات يُحل وحده</a:t>
            </a:r>
            <a:endParaRPr lang="ar-SA" sz="2200" dirty="0"/>
          </a:p>
        </p:txBody>
      </p:sp>
      <p:sp>
        <p:nvSpPr>
          <p:cNvPr id="36" name="anim-g1-2244"/>
          <p:cNvSpPr/>
          <p:nvPr/>
        </p:nvSpPr>
        <p:spPr>
          <a:xfrm>
            <a:off x="822960" y="5150358"/>
            <a:ext cx="10545775" cy="884682"/>
          </a:xfrm>
          <a:prstGeom prst="roundRect">
            <a:avLst>
              <a:gd name="adj" fmla="val 16537"/>
            </a:avLst>
          </a:prstGeom>
          <a:solidFill>
            <a:srgbClr val="F7F7F9"/>
          </a:solidFill>
          <a:ln w="19050">
            <a:solidFill>
              <a:srgbClr val="E4DCC8"/>
            </a:solidFill>
            <a:prstDash val="solid"/>
          </a:ln>
        </p:spPr>
      </p:sp>
      <p:sp>
        <p:nvSpPr>
          <p:cNvPr id="37" name="anim-g1-2245"/>
          <p:cNvSpPr/>
          <p:nvPr/>
        </p:nvSpPr>
        <p:spPr>
          <a:xfrm>
            <a:off x="10575493" y="5287518"/>
            <a:ext cx="610362" cy="610362"/>
          </a:xfrm>
          <a:prstGeom prst="roundRect">
            <a:avLst>
              <a:gd name="adj" fmla="val 17978"/>
            </a:avLst>
          </a:prstGeom>
          <a:solidFill>
            <a:srgbClr val="A3A9BA"/>
          </a:solidFill>
          <a:ln/>
        </p:spPr>
      </p:sp>
      <p:sp>
        <p:nvSpPr>
          <p:cNvPr id="38" name="anim-g1-2246"/>
          <p:cNvSpPr/>
          <p:nvPr/>
        </p:nvSpPr>
        <p:spPr>
          <a:xfrm>
            <a:off x="10575493" y="5287518"/>
            <a:ext cx="610362" cy="610362"/>
          </a:xfrm>
          <a:prstGeom prst="rect">
            <a:avLst/>
          </a:prstGeom>
          <a:noFill/>
          <a:ln/>
        </p:spPr>
        <p:txBody>
          <a:bodyPr wrap="square" lIns="0" tIns="0" rIns="0" bIns="0" rtlCol="0" anchor="ctr">
            <a:normAutofit/>
          </a:bodyPr>
          <a:lstStyle/>
          <a:p>
            <a:pPr rtl="1" algn="ctr" indent="0" marL="0">
              <a:buNone/>
            </a:pPr>
            <a:r>
              <a:rPr lang="ar-SA" altLang="en-US" sz="2000" dirty="0">
                <a:solidFill>
                  <a:srgbClr val="FFFFFF"/>
                </a:solidFill>
                <a:latin typeface="Cairo Black" pitchFamily="34" charset="0"/>
                <a:ea typeface="Cairo Black" pitchFamily="34" charset="-122"/>
                <a:cs typeface="Cairo Black" pitchFamily="34" charset="-120"/>
              </a:rPr>
              <a:t>د</a:t>
            </a:r>
            <a:endParaRPr lang="ar-SA" sz="2000" dirty="0"/>
          </a:p>
        </p:txBody>
      </p:sp>
      <p:sp>
        <p:nvSpPr>
          <p:cNvPr id="39" name="anim-g1-2247"/>
          <p:cNvSpPr/>
          <p:nvPr/>
        </p:nvSpPr>
        <p:spPr>
          <a:xfrm>
            <a:off x="1097280" y="5186934"/>
            <a:ext cx="9295333" cy="442341"/>
          </a:xfrm>
          <a:prstGeom prst="rect">
            <a:avLst/>
          </a:prstGeom>
          <a:noFill/>
          <a:ln/>
        </p:spPr>
        <p:txBody>
          <a:bodyPr wrap="square" lIns="0" tIns="0" rIns="0" bIns="0" rtlCol="0" anchor="ctr">
            <a:normAutofit/>
          </a:bodyPr>
          <a:lstStyle/>
          <a:p>
            <a:pPr rtl="1" algn="r" indent="0" marL="0">
              <a:buNone/>
            </a:pPr>
            <a:r>
              <a:rPr lang="ar-SA" altLang="en-US" sz="2200" b="1" dirty="0">
                <a:solidFill>
                  <a:srgbClr val="8A90A3"/>
                </a:solidFill>
                <a:latin typeface="Cairo" pitchFamily="34" charset="0"/>
                <a:ea typeface="Cairo" pitchFamily="34" charset="-122"/>
                <a:cs typeface="Cairo" pitchFamily="34" charset="-120"/>
              </a:rPr>
              <a:t>تعتبره خلافًا بين طالبات يُحل وحده</a:t>
            </a:r>
            <a:endParaRPr lang="ar-SA" sz="2200" dirty="0"/>
          </a:p>
        </p:txBody>
      </p:sp>
      <p:sp>
        <p:nvSpPr>
          <p:cNvPr id="40" name="anim-g1-2248"/>
          <p:cNvSpPr/>
          <p:nvPr/>
        </p:nvSpPr>
        <p:spPr>
          <a:xfrm>
            <a:off x="1097280" y="5628086"/>
            <a:ext cx="9295333" cy="371566"/>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التنمّر الإلكتروني لا يتوقف وحده، بل يتصاعد</a:t>
            </a:r>
            <a:endParaRPr lang="ar-SA" sz="1800" dirty="0"/>
          </a:p>
        </p:txBody>
      </p:sp>
      <p:sp>
        <p:nvSpPr>
          <p:cNvPr id="41" name="Text 3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42" name="Text 4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رسائل تؤلم  ·  ١٩٤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400"/>
                                        <p:tgtEl>
                                          <p:spTgt spid="3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400"/>
                                        <p:tgtEl>
                                          <p:spTgt spid="3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400"/>
                                        <p:tgtEl>
                                          <p:spTgt spid="38"/>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9"/>
                                        </p:tgtEl>
                                        <p:attrNameLst>
                                          <p:attrName>style.visibility</p:attrName>
                                        </p:attrNameLst>
                                      </p:cBhvr>
                                      <p:to>
                                        <p:strVal val="visible"/>
                                      </p:to>
                                    </p:set>
                                    <p:animEffect transition="in" filter="fade">
                                      <p:cBhvr>
                                        <p:cTn id="61" dur="400"/>
                                        <p:tgtEl>
                                          <p:spTgt spid="3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0"/>
                                        </p:tgtEl>
                                        <p:attrNameLst>
                                          <p:attrName>style.visibility</p:attrName>
                                        </p:attrNameLst>
                                      </p:cBhvr>
                                      <p:to>
                                        <p:strVal val="visible"/>
                                      </p:to>
                                    </p:set>
                                    <p:animEffect transition="in" filter="fade">
                                      <p:cBhvr>
                                        <p:cTn id="64"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P spid="36" grpId="0" animBg="1"/>
      <p:bldP spid="37" grpId="0" animBg="1"/>
      <p:bldP spid="38" grpId="0" animBg="1"/>
      <p:bldP spid="39" grpId="0" animBg="1"/>
      <p:bldP spid="40" grpId="0" animBg="1"/>
    </p:bldLst>
  </p:timing>
</p:sld>
</file>

<file path=ppt/slides/slide195.xml><?xml version="1.0" encoding="utf-8"?>
<p:sld xmlns:a="http://schemas.openxmlformats.org/drawingml/2006/main" xmlns:r="http://schemas.openxmlformats.org/officeDocument/2006/relationships" xmlns:p="http://schemas.openxmlformats.org/presentationml/2006/main">
  <p:cSld name="Slide 19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516575" y="457200"/>
            <a:ext cx="5852160" cy="457200"/>
          </a:xfrm>
          <a:prstGeom prst="roundRect">
            <a:avLst>
              <a:gd name="adj" fmla="val 50000"/>
            </a:avLst>
          </a:prstGeom>
          <a:solidFill>
            <a:srgbClr val="F6EBCF"/>
          </a:solidFill>
          <a:ln/>
        </p:spPr>
      </p:sp>
      <p:sp>
        <p:nvSpPr>
          <p:cNvPr id="3" name="Text 1"/>
          <p:cNvSpPr/>
          <p:nvPr/>
        </p:nvSpPr>
        <p:spPr>
          <a:xfrm>
            <a:off x="5516575" y="457200"/>
            <a:ext cx="585216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الطالبة المتضررة نادرًا ما تتكلم</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علامات يجب أن تنتبه لها</a:t>
            </a:r>
            <a:endParaRPr lang="ar-SA" sz="3800" dirty="0"/>
          </a:p>
        </p:txBody>
      </p:sp>
      <p:sp>
        <p:nvSpPr>
          <p:cNvPr id="5" name="anim-g1-2249"/>
          <p:cNvSpPr/>
          <p:nvPr/>
        </p:nvSpPr>
        <p:spPr>
          <a:xfrm>
            <a:off x="8903741" y="2011680"/>
            <a:ext cx="2464994" cy="2514600"/>
          </a:xfrm>
          <a:prstGeom prst="roundRect">
            <a:avLst>
              <a:gd name="adj" fmla="val 6677"/>
            </a:avLst>
          </a:prstGeom>
          <a:solidFill>
            <a:srgbClr val="FFFFFF"/>
          </a:solidFill>
          <a:ln w="12700">
            <a:solidFill>
              <a:srgbClr val="E4DCC8"/>
            </a:solidFill>
            <a:prstDash val="solid"/>
          </a:ln>
        </p:spPr>
      </p:sp>
      <p:sp>
        <p:nvSpPr>
          <p:cNvPr id="6" name="anim-g1-2250"/>
          <p:cNvSpPr/>
          <p:nvPr/>
        </p:nvSpPr>
        <p:spPr>
          <a:xfrm>
            <a:off x="9816198" y="2194560"/>
            <a:ext cx="640080" cy="640080"/>
          </a:xfrm>
          <a:prstGeom prst="roundRect">
            <a:avLst>
              <a:gd name="adj" fmla="val 25714"/>
            </a:avLst>
          </a:prstGeom>
          <a:solidFill>
            <a:srgbClr val="F7E6BC"/>
          </a:solidFill>
          <a:ln/>
        </p:spPr>
      </p:sp>
      <p:sp>
        <p:nvSpPr>
          <p:cNvPr id="7" name="anim-g1-2251"/>
          <p:cNvSpPr/>
          <p:nvPr/>
        </p:nvSpPr>
        <p:spPr>
          <a:xfrm>
            <a:off x="9816198"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8" name="anim-g1-2252"/>
          <p:cNvSpPr/>
          <p:nvPr/>
        </p:nvSpPr>
        <p:spPr>
          <a:xfrm>
            <a:off x="9040901"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صمت مفاجئ</a:t>
            </a:r>
            <a:endParaRPr lang="ar-SA" sz="2200" dirty="0"/>
          </a:p>
        </p:txBody>
      </p:sp>
      <p:sp>
        <p:nvSpPr>
          <p:cNvPr id="9" name="anim-g1-2253"/>
          <p:cNvSpPr/>
          <p:nvPr/>
        </p:nvSpPr>
        <p:spPr>
          <a:xfrm>
            <a:off x="9040901"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طالبة مرحة صارت منعزلة</a:t>
            </a:r>
            <a:endParaRPr lang="ar-SA" sz="1900" dirty="0"/>
          </a:p>
        </p:txBody>
      </p:sp>
      <p:sp>
        <p:nvSpPr>
          <p:cNvPr id="10" name="anim-g2-2254"/>
          <p:cNvSpPr/>
          <p:nvPr/>
        </p:nvSpPr>
        <p:spPr>
          <a:xfrm>
            <a:off x="6210148" y="2011680"/>
            <a:ext cx="2464994" cy="2514600"/>
          </a:xfrm>
          <a:prstGeom prst="roundRect">
            <a:avLst>
              <a:gd name="adj" fmla="val 6677"/>
            </a:avLst>
          </a:prstGeom>
          <a:solidFill>
            <a:srgbClr val="FFFFFF"/>
          </a:solidFill>
          <a:ln w="12700">
            <a:solidFill>
              <a:srgbClr val="E4DCC8"/>
            </a:solidFill>
            <a:prstDash val="solid"/>
          </a:ln>
        </p:spPr>
      </p:sp>
      <p:sp>
        <p:nvSpPr>
          <p:cNvPr id="11" name="anim-g2-2255"/>
          <p:cNvSpPr/>
          <p:nvPr/>
        </p:nvSpPr>
        <p:spPr>
          <a:xfrm>
            <a:off x="7122604" y="2194560"/>
            <a:ext cx="640080" cy="640080"/>
          </a:xfrm>
          <a:prstGeom prst="roundRect">
            <a:avLst>
              <a:gd name="adj" fmla="val 25714"/>
            </a:avLst>
          </a:prstGeom>
          <a:solidFill>
            <a:srgbClr val="F7E6BC"/>
          </a:solidFill>
          <a:ln/>
        </p:spPr>
      </p:sp>
      <p:sp>
        <p:nvSpPr>
          <p:cNvPr id="12" name="anim-g2-2256"/>
          <p:cNvSpPr/>
          <p:nvPr/>
        </p:nvSpPr>
        <p:spPr>
          <a:xfrm>
            <a:off x="7122604"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13" name="anim-g2-2257"/>
          <p:cNvSpPr/>
          <p:nvPr/>
        </p:nvSpPr>
        <p:spPr>
          <a:xfrm>
            <a:off x="6347308"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قلق من الجوال</a:t>
            </a:r>
            <a:endParaRPr lang="ar-SA" sz="2200" dirty="0"/>
          </a:p>
        </p:txBody>
      </p:sp>
      <p:sp>
        <p:nvSpPr>
          <p:cNvPr id="14" name="anim-g2-2258"/>
          <p:cNvSpPr/>
          <p:nvPr/>
        </p:nvSpPr>
        <p:spPr>
          <a:xfrm>
            <a:off x="6347308"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تتوتر عند كل إشعار</a:t>
            </a:r>
            <a:endParaRPr lang="ar-SA" sz="1900" dirty="0"/>
          </a:p>
        </p:txBody>
      </p:sp>
      <p:sp>
        <p:nvSpPr>
          <p:cNvPr id="15" name="anim-g3-2259"/>
          <p:cNvSpPr/>
          <p:nvPr/>
        </p:nvSpPr>
        <p:spPr>
          <a:xfrm>
            <a:off x="3516554" y="2011680"/>
            <a:ext cx="2464994" cy="2514600"/>
          </a:xfrm>
          <a:prstGeom prst="roundRect">
            <a:avLst>
              <a:gd name="adj" fmla="val 6677"/>
            </a:avLst>
          </a:prstGeom>
          <a:solidFill>
            <a:srgbClr val="FFFFFF"/>
          </a:solidFill>
          <a:ln w="12700">
            <a:solidFill>
              <a:srgbClr val="E4DCC8"/>
            </a:solidFill>
            <a:prstDash val="solid"/>
          </a:ln>
        </p:spPr>
      </p:sp>
      <p:sp>
        <p:nvSpPr>
          <p:cNvPr id="16" name="anim-g3-2260"/>
          <p:cNvSpPr/>
          <p:nvPr/>
        </p:nvSpPr>
        <p:spPr>
          <a:xfrm>
            <a:off x="4429011" y="2194560"/>
            <a:ext cx="640080" cy="640080"/>
          </a:xfrm>
          <a:prstGeom prst="roundRect">
            <a:avLst>
              <a:gd name="adj" fmla="val 25714"/>
            </a:avLst>
          </a:prstGeom>
          <a:solidFill>
            <a:srgbClr val="F7E6BC"/>
          </a:solidFill>
          <a:ln/>
        </p:spPr>
      </p:sp>
      <p:sp>
        <p:nvSpPr>
          <p:cNvPr id="17" name="anim-g3-2261"/>
          <p:cNvSpPr/>
          <p:nvPr/>
        </p:nvSpPr>
        <p:spPr>
          <a:xfrm>
            <a:off x="4429011"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18" name="anim-g3-2262"/>
          <p:cNvSpPr/>
          <p:nvPr/>
        </p:nvSpPr>
        <p:spPr>
          <a:xfrm>
            <a:off x="3653714"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تجنّب</a:t>
            </a:r>
            <a:endParaRPr lang="ar-SA" sz="2200" dirty="0"/>
          </a:p>
        </p:txBody>
      </p:sp>
      <p:sp>
        <p:nvSpPr>
          <p:cNvPr id="19" name="anim-g3-2263"/>
          <p:cNvSpPr/>
          <p:nvPr/>
        </p:nvSpPr>
        <p:spPr>
          <a:xfrm>
            <a:off x="3653714"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غياب متكرر، أو رغبة في ترك المدرسة</a:t>
            </a:r>
            <a:endParaRPr lang="ar-SA" sz="1900" dirty="0"/>
          </a:p>
        </p:txBody>
      </p:sp>
      <p:sp>
        <p:nvSpPr>
          <p:cNvPr id="20" name="anim-g4-2264"/>
          <p:cNvSpPr/>
          <p:nvPr/>
        </p:nvSpPr>
        <p:spPr>
          <a:xfrm>
            <a:off x="822960" y="2011680"/>
            <a:ext cx="2464994" cy="2514600"/>
          </a:xfrm>
          <a:prstGeom prst="roundRect">
            <a:avLst>
              <a:gd name="adj" fmla="val 6677"/>
            </a:avLst>
          </a:prstGeom>
          <a:solidFill>
            <a:srgbClr val="FFFFFF"/>
          </a:solidFill>
          <a:ln w="12700">
            <a:solidFill>
              <a:srgbClr val="E4DCC8"/>
            </a:solidFill>
            <a:prstDash val="solid"/>
          </a:ln>
        </p:spPr>
      </p:sp>
      <p:sp>
        <p:nvSpPr>
          <p:cNvPr id="21" name="anim-g4-2265"/>
          <p:cNvSpPr/>
          <p:nvPr/>
        </p:nvSpPr>
        <p:spPr>
          <a:xfrm>
            <a:off x="1735417" y="2194560"/>
            <a:ext cx="640080" cy="640080"/>
          </a:xfrm>
          <a:prstGeom prst="roundRect">
            <a:avLst>
              <a:gd name="adj" fmla="val 25714"/>
            </a:avLst>
          </a:prstGeom>
          <a:solidFill>
            <a:srgbClr val="F7E6BC"/>
          </a:solidFill>
          <a:ln/>
        </p:spPr>
      </p:sp>
      <p:sp>
        <p:nvSpPr>
          <p:cNvPr id="22" name="anim-g4-2266"/>
          <p:cNvSpPr/>
          <p:nvPr/>
        </p:nvSpPr>
        <p:spPr>
          <a:xfrm>
            <a:off x="1735417"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23" name="anim-g4-2267"/>
          <p:cNvSpPr/>
          <p:nvPr/>
        </p:nvSpPr>
        <p:spPr>
          <a:xfrm>
            <a:off x="960120"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تراجع</a:t>
            </a:r>
            <a:endParaRPr lang="ar-SA" sz="2200" dirty="0"/>
          </a:p>
        </p:txBody>
      </p:sp>
      <p:sp>
        <p:nvSpPr>
          <p:cNvPr id="24" name="anim-g4-2268"/>
          <p:cNvSpPr/>
          <p:nvPr/>
        </p:nvSpPr>
        <p:spPr>
          <a:xfrm>
            <a:off x="960120"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انخفاض مفاجئ في المستوى</a:t>
            </a:r>
            <a:endParaRPr lang="ar-SA" sz="1900" dirty="0"/>
          </a:p>
        </p:txBody>
      </p:sp>
      <p:sp>
        <p:nvSpPr>
          <p:cNvPr id="25" name="anim-g5-2269"/>
          <p:cNvSpPr/>
          <p:nvPr/>
        </p:nvSpPr>
        <p:spPr>
          <a:xfrm>
            <a:off x="822960" y="4754880"/>
            <a:ext cx="10545775" cy="1051560"/>
          </a:xfrm>
          <a:prstGeom prst="roundRect">
            <a:avLst>
              <a:gd name="adj" fmla="val 17391"/>
            </a:avLst>
          </a:prstGeom>
          <a:solidFill>
            <a:srgbClr val="101B45"/>
          </a:solidFill>
          <a:ln/>
        </p:spPr>
      </p:sp>
      <p:sp>
        <p:nvSpPr>
          <p:cNvPr id="26" name="anim-g5-2270"/>
          <p:cNvSpPr/>
          <p:nvPr/>
        </p:nvSpPr>
        <p:spPr>
          <a:xfrm>
            <a:off x="1097280" y="4754880"/>
            <a:ext cx="9997135" cy="1051560"/>
          </a:xfrm>
          <a:prstGeom prst="rect">
            <a:avLst/>
          </a:prstGeom>
          <a:noFill/>
          <a:ln/>
        </p:spPr>
        <p:txBody>
          <a:bodyPr wrap="square" lIns="0" tIns="0" rIns="0" bIns="0" rtlCol="0" anchor="ctr">
            <a:normAutofit/>
          </a:bodyPr>
          <a:lstStyle/>
          <a:p>
            <a:pPr algn="ctr" indent="0" marL="0">
              <a:buNone/>
            </a:pPr>
            <a:r>
              <a:rPr lang="ar-SA" altLang="en-US" sz="2200" b="1" dirty="0">
                <a:solidFill>
                  <a:srgbClr val="FFFFFF"/>
                </a:solidFill>
                <a:latin typeface="Cairo" pitchFamily="34" charset="0"/>
                <a:ea typeface="Cairo" pitchFamily="34" charset="-122"/>
                <a:cs typeface="Cairo" pitchFamily="34" charset="-120"/>
              </a:rPr>
              <a:t>💡 الطالبة المتضررة من التنمّر…</a:t>
            </a:r>
            <a:endParaRPr lang="ar-SA" sz="2200" dirty="0"/>
          </a:p>
          <a:p>
            <a:pPr algn="ctr" indent="0" marL="0">
              <a:buNone/>
            </a:pPr>
            <a:r>
              <a:rPr lang="ar-SA" altLang="en-US" sz="2200" b="1" dirty="0">
                <a:solidFill>
                  <a:srgbClr val="F0CC7A"/>
                </a:solidFill>
                <a:latin typeface="Cairo" pitchFamily="34" charset="0"/>
                <a:ea typeface="Cairo" pitchFamily="34" charset="-122"/>
                <a:cs typeface="Cairo" pitchFamily="34" charset="-120"/>
              </a:rPr>
              <a:t> تحتاج شخصًا بالغًا واحدًا يصدّقها</a:t>
            </a:r>
            <a:endParaRPr lang="ar-SA" sz="2200" dirty="0"/>
          </a:p>
        </p:txBody>
      </p:sp>
      <p:sp>
        <p:nvSpPr>
          <p:cNvPr id="27" name="Text 2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8" name="Text 2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رسائل تؤلم  ·  ١٩٥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40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196.xml><?xml version="1.0" encoding="utf-8"?>
<p:sld xmlns:a="http://schemas.openxmlformats.org/drawingml/2006/main" xmlns:r="http://schemas.openxmlformats.org/officeDocument/2006/relationships" xmlns:p="http://schemas.openxmlformats.org/presentationml/2006/main">
  <p:cSld name="Slide 19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296351" y="457200"/>
            <a:ext cx="3072384" cy="457200"/>
          </a:xfrm>
          <a:prstGeom prst="roundRect">
            <a:avLst>
              <a:gd name="adj" fmla="val 50000"/>
            </a:avLst>
          </a:prstGeom>
          <a:solidFill>
            <a:srgbClr val="F6EBCF"/>
          </a:solidFill>
          <a:ln/>
        </p:spPr>
      </p:sp>
      <p:sp>
        <p:nvSpPr>
          <p:cNvPr id="3" name="Text 1"/>
          <p:cNvSpPr/>
          <p:nvPr/>
        </p:nvSpPr>
        <p:spPr>
          <a:xfrm>
            <a:off x="8296351" y="457200"/>
            <a:ext cx="307238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اللحظة الأولى</a:t>
            </a:r>
            <a:endParaRPr lang="ar-SA" sz="1800" dirty="0"/>
          </a:p>
        </p:txBody>
      </p:sp>
      <p:sp>
        <p:nvSpPr>
          <p:cNvPr id="4" name="Shape 2"/>
          <p:cNvSpPr/>
          <p:nvPr/>
        </p:nvSpPr>
        <p:spPr>
          <a:xfrm>
            <a:off x="822960" y="457200"/>
            <a:ext cx="2331720" cy="457200"/>
          </a:xfrm>
          <a:prstGeom prst="roundRect">
            <a:avLst>
              <a:gd name="adj" fmla="val 50000"/>
            </a:avLst>
          </a:prstGeom>
          <a:solidFill>
            <a:srgbClr val="FBECEC"/>
          </a:solidFill>
          <a:ln/>
        </p:spPr>
      </p:sp>
      <p:sp>
        <p:nvSpPr>
          <p:cNvPr id="5" name="Text 3"/>
          <p:cNvSpPr/>
          <p:nvPr/>
        </p:nvSpPr>
        <p:spPr>
          <a:xfrm>
            <a:off x="822960" y="457200"/>
            <a:ext cx="2331720"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D64545"/>
                </a:solidFill>
                <a:latin typeface="Cairo" pitchFamily="34" charset="0"/>
                <a:ea typeface="Cairo" pitchFamily="34" charset="-122"/>
                <a:cs typeface="Cairo" pitchFamily="34" charset="-120"/>
              </a:rPr>
              <a:t>⏱ اللحظة الأولى</a:t>
            </a:r>
            <a:endParaRPr lang="ar-SA" sz="1600" dirty="0"/>
          </a:p>
        </p:txBody>
      </p:sp>
      <p:sp>
        <p:nvSpPr>
          <p:cNvPr id="6" name="Text 4"/>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حين تأتيك الطالبة</a:t>
            </a:r>
            <a:endParaRPr lang="ar-SA" sz="3800" dirty="0"/>
          </a:p>
        </p:txBody>
      </p:sp>
      <p:sp>
        <p:nvSpPr>
          <p:cNvPr id="7" name="anim-g1-2271"/>
          <p:cNvSpPr/>
          <p:nvPr/>
        </p:nvSpPr>
        <p:spPr>
          <a:xfrm>
            <a:off x="8903741" y="2148840"/>
            <a:ext cx="2464994" cy="3383280"/>
          </a:xfrm>
          <a:prstGeom prst="roundRect">
            <a:avLst>
              <a:gd name="adj" fmla="val 6677"/>
            </a:avLst>
          </a:prstGeom>
          <a:solidFill>
            <a:srgbClr val="FFFFFF"/>
          </a:solidFill>
          <a:ln w="12700">
            <a:solidFill>
              <a:srgbClr val="E4DCC8"/>
            </a:solidFill>
            <a:prstDash val="solid"/>
          </a:ln>
        </p:spPr>
      </p:sp>
      <p:sp>
        <p:nvSpPr>
          <p:cNvPr id="8" name="anim-g1-2272"/>
          <p:cNvSpPr/>
          <p:nvPr/>
        </p:nvSpPr>
        <p:spPr>
          <a:xfrm>
            <a:off x="9747618" y="2423160"/>
            <a:ext cx="777240" cy="777240"/>
          </a:xfrm>
          <a:prstGeom prst="ellipse">
            <a:avLst/>
          </a:prstGeom>
          <a:solidFill>
            <a:srgbClr val="D9AE4B"/>
          </a:solidFill>
          <a:ln/>
        </p:spPr>
      </p:sp>
      <p:sp>
        <p:nvSpPr>
          <p:cNvPr id="9" name="anim-g1-2273"/>
          <p:cNvSpPr/>
          <p:nvPr/>
        </p:nvSpPr>
        <p:spPr>
          <a:xfrm>
            <a:off x="9747618"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١</a:t>
            </a:r>
            <a:endParaRPr lang="ar-SA" sz="2800" dirty="0"/>
          </a:p>
        </p:txBody>
      </p:sp>
      <p:sp>
        <p:nvSpPr>
          <p:cNvPr id="10" name="anim-g1-2274"/>
          <p:cNvSpPr/>
          <p:nvPr/>
        </p:nvSpPr>
        <p:spPr>
          <a:xfrm>
            <a:off x="9040901"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صدّقها</a:t>
            </a:r>
            <a:endParaRPr lang="ar-SA" sz="2500" dirty="0"/>
          </a:p>
        </p:txBody>
      </p:sp>
      <p:sp>
        <p:nvSpPr>
          <p:cNvPr id="11" name="anim-g1-2275"/>
          <p:cNvSpPr/>
          <p:nvPr/>
        </p:nvSpPr>
        <p:spPr>
          <a:xfrm>
            <a:off x="9086621"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«أنا أصدقك، ولستِ وحدك»</a:t>
            </a:r>
            <a:endParaRPr lang="ar-SA" sz="2000" dirty="0"/>
          </a:p>
        </p:txBody>
      </p:sp>
      <p:sp>
        <p:nvSpPr>
          <p:cNvPr id="12" name="anim-g2-2276"/>
          <p:cNvSpPr/>
          <p:nvPr/>
        </p:nvSpPr>
        <p:spPr>
          <a:xfrm>
            <a:off x="6210148" y="2148840"/>
            <a:ext cx="2464994" cy="3383280"/>
          </a:xfrm>
          <a:prstGeom prst="roundRect">
            <a:avLst>
              <a:gd name="adj" fmla="val 6677"/>
            </a:avLst>
          </a:prstGeom>
          <a:solidFill>
            <a:srgbClr val="FFFFFF"/>
          </a:solidFill>
          <a:ln w="12700">
            <a:solidFill>
              <a:srgbClr val="E4DCC8"/>
            </a:solidFill>
            <a:prstDash val="solid"/>
          </a:ln>
        </p:spPr>
      </p:sp>
      <p:sp>
        <p:nvSpPr>
          <p:cNvPr id="13" name="anim-g2-2277"/>
          <p:cNvSpPr/>
          <p:nvPr/>
        </p:nvSpPr>
        <p:spPr>
          <a:xfrm>
            <a:off x="7054024" y="2423160"/>
            <a:ext cx="777240" cy="777240"/>
          </a:xfrm>
          <a:prstGeom prst="ellipse">
            <a:avLst/>
          </a:prstGeom>
          <a:solidFill>
            <a:srgbClr val="D9AE4B"/>
          </a:solidFill>
          <a:ln/>
        </p:spPr>
      </p:sp>
      <p:sp>
        <p:nvSpPr>
          <p:cNvPr id="14" name="anim-g2-2278"/>
          <p:cNvSpPr/>
          <p:nvPr/>
        </p:nvSpPr>
        <p:spPr>
          <a:xfrm>
            <a:off x="7054024"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٢</a:t>
            </a:r>
            <a:endParaRPr lang="ar-SA" sz="2800" dirty="0"/>
          </a:p>
        </p:txBody>
      </p:sp>
      <p:sp>
        <p:nvSpPr>
          <p:cNvPr id="15" name="anim-g2-2279"/>
          <p:cNvSpPr/>
          <p:nvPr/>
        </p:nvSpPr>
        <p:spPr>
          <a:xfrm>
            <a:off x="6347308"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لا تلُمها</a:t>
            </a:r>
            <a:endParaRPr lang="ar-SA" sz="2500" dirty="0"/>
          </a:p>
        </p:txBody>
      </p:sp>
      <p:sp>
        <p:nvSpPr>
          <p:cNvPr id="16" name="anim-g2-2280"/>
          <p:cNvSpPr/>
          <p:nvPr/>
        </p:nvSpPr>
        <p:spPr>
          <a:xfrm>
            <a:off x="6393028"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لا تسأل: ماذا فعلتِ لهن؟</a:t>
            </a:r>
            <a:endParaRPr lang="ar-SA" sz="2000" dirty="0"/>
          </a:p>
        </p:txBody>
      </p:sp>
      <p:sp>
        <p:nvSpPr>
          <p:cNvPr id="17" name="anim-g3-2281"/>
          <p:cNvSpPr/>
          <p:nvPr/>
        </p:nvSpPr>
        <p:spPr>
          <a:xfrm>
            <a:off x="3516554" y="2148840"/>
            <a:ext cx="2464994" cy="3383280"/>
          </a:xfrm>
          <a:prstGeom prst="roundRect">
            <a:avLst>
              <a:gd name="adj" fmla="val 6677"/>
            </a:avLst>
          </a:prstGeom>
          <a:solidFill>
            <a:srgbClr val="FFFFFF"/>
          </a:solidFill>
          <a:ln w="12700">
            <a:solidFill>
              <a:srgbClr val="E4DCC8"/>
            </a:solidFill>
            <a:prstDash val="solid"/>
          </a:ln>
        </p:spPr>
      </p:sp>
      <p:sp>
        <p:nvSpPr>
          <p:cNvPr id="18" name="anim-g3-2282"/>
          <p:cNvSpPr/>
          <p:nvPr/>
        </p:nvSpPr>
        <p:spPr>
          <a:xfrm>
            <a:off x="4360431" y="2423160"/>
            <a:ext cx="777240" cy="777240"/>
          </a:xfrm>
          <a:prstGeom prst="ellipse">
            <a:avLst/>
          </a:prstGeom>
          <a:solidFill>
            <a:srgbClr val="D9AE4B"/>
          </a:solidFill>
          <a:ln/>
        </p:spPr>
      </p:sp>
      <p:sp>
        <p:nvSpPr>
          <p:cNvPr id="19" name="anim-g3-2283"/>
          <p:cNvSpPr/>
          <p:nvPr/>
        </p:nvSpPr>
        <p:spPr>
          <a:xfrm>
            <a:off x="4360431"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٣</a:t>
            </a:r>
            <a:endParaRPr lang="ar-SA" sz="2800" dirty="0"/>
          </a:p>
        </p:txBody>
      </p:sp>
      <p:sp>
        <p:nvSpPr>
          <p:cNvPr id="20" name="anim-g3-2284"/>
          <p:cNvSpPr/>
          <p:nvPr/>
        </p:nvSpPr>
        <p:spPr>
          <a:xfrm>
            <a:off x="3653714"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وثّق بإذنها</a:t>
            </a:r>
            <a:endParaRPr lang="ar-SA" sz="2500" dirty="0"/>
          </a:p>
        </p:txBody>
      </p:sp>
      <p:sp>
        <p:nvSpPr>
          <p:cNvPr id="21" name="anim-g3-2285"/>
          <p:cNvSpPr/>
          <p:nvPr/>
        </p:nvSpPr>
        <p:spPr>
          <a:xfrm>
            <a:off x="3699434"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صور للرسائل مع الوقت والتاريخ</a:t>
            </a:r>
            <a:endParaRPr lang="ar-SA" sz="2000" dirty="0"/>
          </a:p>
        </p:txBody>
      </p:sp>
      <p:sp>
        <p:nvSpPr>
          <p:cNvPr id="22" name="anim-g4-2286"/>
          <p:cNvSpPr/>
          <p:nvPr/>
        </p:nvSpPr>
        <p:spPr>
          <a:xfrm>
            <a:off x="822960" y="2148840"/>
            <a:ext cx="2464994" cy="3383280"/>
          </a:xfrm>
          <a:prstGeom prst="roundRect">
            <a:avLst>
              <a:gd name="adj" fmla="val 6677"/>
            </a:avLst>
          </a:prstGeom>
          <a:solidFill>
            <a:srgbClr val="FFFFFF"/>
          </a:solidFill>
          <a:ln w="12700">
            <a:solidFill>
              <a:srgbClr val="E4DCC8"/>
            </a:solidFill>
            <a:prstDash val="solid"/>
          </a:ln>
        </p:spPr>
      </p:sp>
      <p:sp>
        <p:nvSpPr>
          <p:cNvPr id="23" name="anim-g4-2287"/>
          <p:cNvSpPr/>
          <p:nvPr/>
        </p:nvSpPr>
        <p:spPr>
          <a:xfrm>
            <a:off x="1666837" y="2423160"/>
            <a:ext cx="777240" cy="777240"/>
          </a:xfrm>
          <a:prstGeom prst="ellipse">
            <a:avLst/>
          </a:prstGeom>
          <a:solidFill>
            <a:srgbClr val="D9AE4B"/>
          </a:solidFill>
          <a:ln/>
        </p:spPr>
      </p:sp>
      <p:sp>
        <p:nvSpPr>
          <p:cNvPr id="24" name="anim-g4-2288"/>
          <p:cNvSpPr/>
          <p:nvPr/>
        </p:nvSpPr>
        <p:spPr>
          <a:xfrm>
            <a:off x="1666837"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٤</a:t>
            </a:r>
            <a:endParaRPr lang="ar-SA" sz="2800" dirty="0"/>
          </a:p>
        </p:txBody>
      </p:sp>
      <p:sp>
        <p:nvSpPr>
          <p:cNvPr id="25" name="anim-g4-2289"/>
          <p:cNvSpPr/>
          <p:nvPr/>
        </p:nvSpPr>
        <p:spPr>
          <a:xfrm>
            <a:off x="960120"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أحِل فورًا</a:t>
            </a:r>
            <a:endParaRPr lang="ar-SA" sz="2500" dirty="0"/>
          </a:p>
        </p:txBody>
      </p:sp>
      <p:sp>
        <p:nvSpPr>
          <p:cNvPr id="26" name="anim-g4-2290"/>
          <p:cNvSpPr/>
          <p:nvPr/>
        </p:nvSpPr>
        <p:spPr>
          <a:xfrm>
            <a:off x="1005840"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للمرشدة الطلابية والإدارة اليوم</a:t>
            </a:r>
            <a:endParaRPr lang="ar-SA" sz="2000" dirty="0"/>
          </a:p>
        </p:txBody>
      </p:sp>
      <p:sp>
        <p:nvSpPr>
          <p:cNvPr id="27" name="Text 2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8" name="Text 2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رسائل تؤلم  ·  ١٩٦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400"/>
                                        <p:tgtEl>
                                          <p:spTgt spid="1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40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4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400"/>
                                        <p:tgtEl>
                                          <p:spTgt spid="1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400"/>
                                        <p:tgtEl>
                                          <p:spTgt spid="2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400"/>
                                        <p:tgtEl>
                                          <p:spTgt spid="21"/>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400"/>
                                        <p:tgtEl>
                                          <p:spTgt spid="2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400"/>
                                        <p:tgtEl>
                                          <p:spTgt spid="2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400"/>
                                        <p:tgtEl>
                                          <p:spTgt spid="2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400"/>
                                        <p:tgtEl>
                                          <p:spTgt spid="2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197.xml><?xml version="1.0" encoding="utf-8"?>
<p:sld xmlns:a="http://schemas.openxmlformats.org/drawingml/2006/main" xmlns:r="http://schemas.openxmlformats.org/officeDocument/2006/relationships" xmlns:p="http://schemas.openxmlformats.org/presentationml/2006/main">
  <p:cSld name="Slide 19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588959" y="457200"/>
            <a:ext cx="2779776" cy="457200"/>
          </a:xfrm>
          <a:prstGeom prst="roundRect">
            <a:avLst>
              <a:gd name="adj" fmla="val 50000"/>
            </a:avLst>
          </a:prstGeom>
          <a:solidFill>
            <a:srgbClr val="F6EBCF"/>
          </a:solidFill>
          <a:ln/>
        </p:spPr>
      </p:sp>
      <p:sp>
        <p:nvSpPr>
          <p:cNvPr id="3" name="Text 1"/>
          <p:cNvSpPr/>
          <p:nvPr/>
        </p:nvSpPr>
        <p:spPr>
          <a:xfrm>
            <a:off x="8588959" y="457200"/>
            <a:ext cx="277977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الجُمل الجاهزة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ماذا تقول بالحرف؟</a:t>
            </a:r>
            <a:endParaRPr lang="ar-SA" sz="3800" dirty="0"/>
          </a:p>
        </p:txBody>
      </p:sp>
      <p:sp>
        <p:nvSpPr>
          <p:cNvPr id="5" name="anim-g1-2291"/>
          <p:cNvSpPr/>
          <p:nvPr/>
        </p:nvSpPr>
        <p:spPr>
          <a:xfrm>
            <a:off x="9768535" y="2130552"/>
            <a:ext cx="1600200" cy="819912"/>
          </a:xfrm>
          <a:prstGeom prst="roundRect">
            <a:avLst>
              <a:gd name="adj" fmla="val 16729"/>
            </a:avLst>
          </a:prstGeom>
          <a:solidFill>
            <a:srgbClr val="E9EDF9"/>
          </a:solidFill>
          <a:ln/>
        </p:spPr>
      </p:sp>
      <p:sp>
        <p:nvSpPr>
          <p:cNvPr id="6" name="anim-g1-2292"/>
          <p:cNvSpPr/>
          <p:nvPr/>
        </p:nvSpPr>
        <p:spPr>
          <a:xfrm>
            <a:off x="9814255" y="2130552"/>
            <a:ext cx="1508760" cy="81991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للطالبة</a:t>
            </a:r>
            <a:endParaRPr lang="ar-SA" sz="1800" dirty="0"/>
          </a:p>
        </p:txBody>
      </p:sp>
      <p:sp>
        <p:nvSpPr>
          <p:cNvPr id="7" name="anim-g1-2293"/>
          <p:cNvSpPr/>
          <p:nvPr/>
        </p:nvSpPr>
        <p:spPr>
          <a:xfrm>
            <a:off x="822960" y="2057400"/>
            <a:ext cx="8716975" cy="966216"/>
          </a:xfrm>
          <a:prstGeom prst="roundRect">
            <a:avLst>
              <a:gd name="adj" fmla="val 20820"/>
            </a:avLst>
          </a:prstGeom>
          <a:solidFill>
            <a:srgbClr val="101B45"/>
          </a:solidFill>
          <a:ln/>
        </p:spPr>
      </p:sp>
      <p:sp>
        <p:nvSpPr>
          <p:cNvPr id="8" name="anim-g1-2294"/>
          <p:cNvSpPr/>
          <p:nvPr/>
        </p:nvSpPr>
        <p:spPr>
          <a:xfrm>
            <a:off x="1097280" y="2057400"/>
            <a:ext cx="8168335" cy="966216"/>
          </a:xfrm>
          <a:prstGeom prst="rect">
            <a:avLst/>
          </a:prstGeom>
          <a:noFill/>
          <a:ln/>
        </p:spPr>
        <p:txBody>
          <a:bodyPr wrap="square" lIns="0" tIns="0" rIns="0" bIns="0" rtlCol="0" anchor="ctr">
            <a:normAutofit/>
          </a:bodyPr>
          <a:lstStyle/>
          <a:p>
            <a:pPr algn="r" indent="0" marL="0">
              <a:buNone/>
            </a:pPr>
            <a:r>
              <a:rPr lang="ar-SA" altLang="en-US" sz="2200" b="1" dirty="0">
                <a:solidFill>
                  <a:srgbClr val="D9AE4B"/>
                </a:solidFill>
                <a:latin typeface="Cairo" pitchFamily="34" charset="0"/>
                <a:ea typeface="Cairo" pitchFamily="34" charset="-122"/>
                <a:cs typeface="Cairo" pitchFamily="34" charset="-120"/>
              </a:rPr>
              <a:t>« </a:t>
            </a:r>
            <a:pPr algn="r" indent="0" marL="0">
              <a:buNone/>
            </a:pPr>
            <a:r>
              <a:rPr lang="ar-SA" altLang="en-US" sz="2200" b="1" dirty="0">
                <a:solidFill>
                  <a:srgbClr val="FFFFFF"/>
                </a:solidFill>
                <a:latin typeface="Cairo" pitchFamily="34" charset="0"/>
                <a:ea typeface="Cairo" pitchFamily="34" charset="-122"/>
                <a:cs typeface="Cairo" pitchFamily="34" charset="-120"/>
              </a:rPr>
              <a:t>شكرًا لأنك أخبرتني، هذه شجاعة. ما يحدث ليس ذنبك، وسنوقفه معًا</a:t>
            </a:r>
            <a:pPr algn="r" indent="0" marL="0">
              <a:buNone/>
            </a:pPr>
            <a:r>
              <a:rPr lang="ar-SA" altLang="en-US" sz="2200" b="1" dirty="0">
                <a:solidFill>
                  <a:srgbClr val="D9AE4B"/>
                </a:solidFill>
                <a:latin typeface="Cairo" pitchFamily="34" charset="0"/>
                <a:ea typeface="Cairo" pitchFamily="34" charset="-122"/>
                <a:cs typeface="Cairo" pitchFamily="34" charset="-120"/>
              </a:rPr>
              <a:t> »</a:t>
            </a:r>
            <a:endParaRPr lang="ar-SA" sz="2200" dirty="0"/>
          </a:p>
        </p:txBody>
      </p:sp>
      <p:sp>
        <p:nvSpPr>
          <p:cNvPr id="9" name="anim-g2-2295"/>
          <p:cNvSpPr/>
          <p:nvPr/>
        </p:nvSpPr>
        <p:spPr>
          <a:xfrm>
            <a:off x="9768535" y="3243072"/>
            <a:ext cx="1600200" cy="819912"/>
          </a:xfrm>
          <a:prstGeom prst="roundRect">
            <a:avLst>
              <a:gd name="adj" fmla="val 16729"/>
            </a:avLst>
          </a:prstGeom>
          <a:solidFill>
            <a:srgbClr val="E9EDF9"/>
          </a:solidFill>
          <a:ln/>
        </p:spPr>
      </p:sp>
      <p:sp>
        <p:nvSpPr>
          <p:cNvPr id="10" name="anim-g2-2296"/>
          <p:cNvSpPr/>
          <p:nvPr/>
        </p:nvSpPr>
        <p:spPr>
          <a:xfrm>
            <a:off x="9814255" y="3243072"/>
            <a:ext cx="1508760" cy="81991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للمتنمّرة (مع المرشدة)</a:t>
            </a:r>
            <a:endParaRPr lang="ar-SA" sz="1800" dirty="0"/>
          </a:p>
        </p:txBody>
      </p:sp>
      <p:sp>
        <p:nvSpPr>
          <p:cNvPr id="11" name="anim-g2-2297"/>
          <p:cNvSpPr/>
          <p:nvPr/>
        </p:nvSpPr>
        <p:spPr>
          <a:xfrm>
            <a:off x="822960" y="3169920"/>
            <a:ext cx="8716975" cy="966216"/>
          </a:xfrm>
          <a:prstGeom prst="roundRect">
            <a:avLst>
              <a:gd name="adj" fmla="val 20820"/>
            </a:avLst>
          </a:prstGeom>
          <a:solidFill>
            <a:srgbClr val="101B45"/>
          </a:solidFill>
          <a:ln/>
        </p:spPr>
      </p:sp>
      <p:sp>
        <p:nvSpPr>
          <p:cNvPr id="12" name="anim-g2-2298"/>
          <p:cNvSpPr/>
          <p:nvPr/>
        </p:nvSpPr>
        <p:spPr>
          <a:xfrm>
            <a:off x="1097280" y="3169920"/>
            <a:ext cx="8168335" cy="966216"/>
          </a:xfrm>
          <a:prstGeom prst="rect">
            <a:avLst/>
          </a:prstGeom>
          <a:noFill/>
          <a:ln/>
        </p:spPr>
        <p:txBody>
          <a:bodyPr wrap="square" lIns="0" tIns="0" rIns="0" bIns="0" rtlCol="0" anchor="ctr">
            <a:normAutofit/>
          </a:bodyPr>
          <a:lstStyle/>
          <a:p>
            <a:pPr algn="r" indent="0" marL="0">
              <a:buNone/>
            </a:pPr>
            <a:r>
              <a:rPr lang="ar-SA" altLang="en-US" sz="2200" b="1" dirty="0">
                <a:solidFill>
                  <a:srgbClr val="D9AE4B"/>
                </a:solidFill>
                <a:latin typeface="Cairo" pitchFamily="34" charset="0"/>
                <a:ea typeface="Cairo" pitchFamily="34" charset="-122"/>
                <a:cs typeface="Cairo" pitchFamily="34" charset="-120"/>
              </a:rPr>
              <a:t>« </a:t>
            </a:r>
            <a:pPr algn="r" indent="0" marL="0">
              <a:buNone/>
            </a:pPr>
            <a:r>
              <a:rPr lang="ar-SA" altLang="en-US" sz="2200" b="1" dirty="0">
                <a:solidFill>
                  <a:srgbClr val="FFFFFF"/>
                </a:solidFill>
                <a:latin typeface="Cairo" pitchFamily="34" charset="0"/>
                <a:ea typeface="Cairo" pitchFamily="34" charset="-122"/>
                <a:cs typeface="Cairo" pitchFamily="34" charset="-120"/>
              </a:rPr>
              <a:t>ما كُتب آذى زميلتك أذى حقيقيًا. ماذا ستفعلين لإصلاح ذلك؟</a:t>
            </a:r>
            <a:pPr algn="r" indent="0" marL="0">
              <a:buNone/>
            </a:pPr>
            <a:r>
              <a:rPr lang="ar-SA" altLang="en-US" sz="2200" b="1" dirty="0">
                <a:solidFill>
                  <a:srgbClr val="D9AE4B"/>
                </a:solidFill>
                <a:latin typeface="Cairo" pitchFamily="34" charset="0"/>
                <a:ea typeface="Cairo" pitchFamily="34" charset="-122"/>
                <a:cs typeface="Cairo" pitchFamily="34" charset="-120"/>
              </a:rPr>
              <a:t> »</a:t>
            </a:r>
            <a:endParaRPr lang="ar-SA" sz="2200" dirty="0"/>
          </a:p>
        </p:txBody>
      </p:sp>
      <p:sp>
        <p:nvSpPr>
          <p:cNvPr id="13" name="anim-g3-2299"/>
          <p:cNvSpPr/>
          <p:nvPr/>
        </p:nvSpPr>
        <p:spPr>
          <a:xfrm>
            <a:off x="9768535" y="4355592"/>
            <a:ext cx="1600200" cy="819912"/>
          </a:xfrm>
          <a:prstGeom prst="roundRect">
            <a:avLst>
              <a:gd name="adj" fmla="val 16729"/>
            </a:avLst>
          </a:prstGeom>
          <a:solidFill>
            <a:srgbClr val="E9EDF9"/>
          </a:solidFill>
          <a:ln/>
        </p:spPr>
      </p:sp>
      <p:sp>
        <p:nvSpPr>
          <p:cNvPr id="14" name="anim-g3-2300"/>
          <p:cNvSpPr/>
          <p:nvPr/>
        </p:nvSpPr>
        <p:spPr>
          <a:xfrm>
            <a:off x="9814255" y="4355592"/>
            <a:ext cx="1508760" cy="81991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للفصل دون أسماء</a:t>
            </a:r>
            <a:endParaRPr lang="ar-SA" sz="1800" dirty="0"/>
          </a:p>
        </p:txBody>
      </p:sp>
      <p:sp>
        <p:nvSpPr>
          <p:cNvPr id="15" name="anim-g3-2301"/>
          <p:cNvSpPr/>
          <p:nvPr/>
        </p:nvSpPr>
        <p:spPr>
          <a:xfrm>
            <a:off x="822960" y="4282440"/>
            <a:ext cx="8716975" cy="966216"/>
          </a:xfrm>
          <a:prstGeom prst="roundRect">
            <a:avLst>
              <a:gd name="adj" fmla="val 20820"/>
            </a:avLst>
          </a:prstGeom>
          <a:solidFill>
            <a:srgbClr val="101B45"/>
          </a:solidFill>
          <a:ln/>
        </p:spPr>
      </p:sp>
      <p:sp>
        <p:nvSpPr>
          <p:cNvPr id="16" name="anim-g3-2302"/>
          <p:cNvSpPr/>
          <p:nvPr/>
        </p:nvSpPr>
        <p:spPr>
          <a:xfrm>
            <a:off x="1097280" y="4282440"/>
            <a:ext cx="8168335" cy="966216"/>
          </a:xfrm>
          <a:prstGeom prst="rect">
            <a:avLst/>
          </a:prstGeom>
          <a:noFill/>
          <a:ln/>
        </p:spPr>
        <p:txBody>
          <a:bodyPr wrap="square" lIns="0" tIns="0" rIns="0" bIns="0" rtlCol="0" anchor="ctr">
            <a:normAutofit/>
          </a:bodyPr>
          <a:lstStyle/>
          <a:p>
            <a:pPr algn="r" indent="0" marL="0">
              <a:buNone/>
            </a:pPr>
            <a:r>
              <a:rPr lang="ar-SA" altLang="en-US" sz="2000" b="1" dirty="0">
                <a:solidFill>
                  <a:srgbClr val="D9AE4B"/>
                </a:solidFill>
                <a:latin typeface="Cairo" pitchFamily="34" charset="0"/>
                <a:ea typeface="Cairo" pitchFamily="34" charset="-122"/>
                <a:cs typeface="Cairo" pitchFamily="34" charset="-120"/>
              </a:rPr>
              <a:t>« </a:t>
            </a:r>
            <a:pPr algn="r" indent="0" marL="0">
              <a:buNone/>
            </a:pPr>
            <a:r>
              <a:rPr lang="ar-SA" altLang="en-US" sz="2000" b="1" dirty="0">
                <a:solidFill>
                  <a:srgbClr val="FFFFFF"/>
                </a:solidFill>
                <a:latin typeface="Cairo" pitchFamily="34" charset="0"/>
                <a:ea typeface="Cairo" pitchFamily="34" charset="-122"/>
                <a:cs typeface="Cairo" pitchFamily="34" charset="-120"/>
              </a:rPr>
              <a:t>الكلمة المكتوبة تجرح مثل المنطوقة وأكثر، لأنها تبقى. ومن يرى الإساءة ويسكت يشارك فيها</a:t>
            </a:r>
            <a:pPr algn="r" indent="0" marL="0">
              <a:buNone/>
            </a:pPr>
            <a:r>
              <a:rPr lang="ar-SA" altLang="en-US" sz="2000" b="1" dirty="0">
                <a:solidFill>
                  <a:srgbClr val="D9AE4B"/>
                </a:solidFill>
                <a:latin typeface="Cairo" pitchFamily="34" charset="0"/>
                <a:ea typeface="Cairo" pitchFamily="34" charset="-122"/>
                <a:cs typeface="Cairo" pitchFamily="34" charset="-120"/>
              </a:rPr>
              <a:t> »</a:t>
            </a:r>
            <a:endParaRPr lang="ar-SA" sz="2000" dirty="0"/>
          </a:p>
        </p:txBody>
      </p:sp>
      <p:sp>
        <p:nvSpPr>
          <p:cNvPr id="17" name="anim-g4-2303"/>
          <p:cNvSpPr/>
          <p:nvPr/>
        </p:nvSpPr>
        <p:spPr>
          <a:xfrm>
            <a:off x="822960" y="5532120"/>
            <a:ext cx="10545775" cy="548640"/>
          </a:xfrm>
          <a:prstGeom prst="roundRect">
            <a:avLst>
              <a:gd name="adj" fmla="val 20000"/>
            </a:avLst>
          </a:prstGeom>
          <a:solidFill>
            <a:srgbClr val="FBECEC"/>
          </a:solidFill>
          <a:ln/>
        </p:spPr>
      </p:sp>
      <p:sp>
        <p:nvSpPr>
          <p:cNvPr id="18" name="anim-g4-2304"/>
          <p:cNvSpPr/>
          <p:nvPr/>
        </p:nvSpPr>
        <p:spPr>
          <a:xfrm>
            <a:off x="11295583" y="5532120"/>
            <a:ext cx="73152" cy="548640"/>
          </a:xfrm>
          <a:prstGeom prst="rect">
            <a:avLst/>
          </a:prstGeom>
          <a:solidFill>
            <a:srgbClr val="D64545"/>
          </a:solidFill>
          <a:ln/>
        </p:spPr>
      </p:sp>
      <p:sp>
        <p:nvSpPr>
          <p:cNvPr id="19" name="anim-g4-2305"/>
          <p:cNvSpPr/>
          <p:nvPr/>
        </p:nvSpPr>
        <p:spPr>
          <a:xfrm>
            <a:off x="1005840" y="5532120"/>
            <a:ext cx="10088575" cy="548640"/>
          </a:xfrm>
          <a:prstGeom prst="rect">
            <a:avLst/>
          </a:prstGeom>
          <a:noFill/>
          <a:ln/>
        </p:spPr>
        <p:txBody>
          <a:bodyPr wrap="square" lIns="0" tIns="0" rIns="0" bIns="0" rtlCol="0" anchor="ctr">
            <a:normAutofit/>
          </a:bodyPr>
          <a:lstStyle/>
          <a:p>
            <a:pPr rtl="1" algn="r" indent="0" marL="0">
              <a:buNone/>
            </a:pPr>
            <a:r>
              <a:rPr lang="ar-SA" altLang="en-US" sz="1900" b="1" dirty="0">
                <a:solidFill>
                  <a:srgbClr val="8E2A2A"/>
                </a:solidFill>
                <a:latin typeface="Cairo" pitchFamily="34" charset="0"/>
                <a:ea typeface="Cairo" pitchFamily="34" charset="-122"/>
                <a:cs typeface="Cairo" pitchFamily="34" charset="-120"/>
              </a:rPr>
              <a:t>⚠️ تجنّب: كشف اسم الطالبة المتضررة أمام الفصل</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رسائل تؤلم  ·  ١٩٧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98.xml><?xml version="1.0" encoding="utf-8"?>
<p:sld xmlns:a="http://schemas.openxmlformats.org/drawingml/2006/main" xmlns:r="http://schemas.openxmlformats.org/officeDocument/2006/relationships" xmlns:p="http://schemas.openxmlformats.org/presentationml/2006/main">
  <p:cSld name="Slide 19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5486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أخطاء شائعة… وبدائلها</a:t>
            </a:r>
            <a:endParaRPr lang="ar-SA" sz="3800" dirty="0"/>
          </a:p>
        </p:txBody>
      </p:sp>
      <p:sp>
        <p:nvSpPr>
          <p:cNvPr id="3" name="Text 1"/>
          <p:cNvSpPr/>
          <p:nvPr/>
        </p:nvSpPr>
        <p:spPr>
          <a:xfrm>
            <a:off x="6415888"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D64545"/>
                </a:solidFill>
                <a:latin typeface="Cairo Black" pitchFamily="34" charset="0"/>
                <a:ea typeface="Cairo Black" pitchFamily="34" charset="-122"/>
                <a:cs typeface="Cairo Black" pitchFamily="34" charset="-120"/>
              </a:rPr>
              <a:t>❌ الخطأ الشائع</a:t>
            </a:r>
            <a:endParaRPr lang="ar-SA" sz="2100" dirty="0"/>
          </a:p>
        </p:txBody>
      </p:sp>
      <p:sp>
        <p:nvSpPr>
          <p:cNvPr id="4" name="Text 2"/>
          <p:cNvSpPr/>
          <p:nvPr/>
        </p:nvSpPr>
        <p:spPr>
          <a:xfrm>
            <a:off x="822960"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2E9E6B"/>
                </a:solidFill>
                <a:latin typeface="Cairo Black" pitchFamily="34" charset="0"/>
                <a:ea typeface="Cairo Black" pitchFamily="34" charset="-122"/>
                <a:cs typeface="Cairo Black" pitchFamily="34" charset="-120"/>
              </a:rPr>
              <a:t>✅ البديل</a:t>
            </a:r>
            <a:endParaRPr lang="ar-SA" sz="2100" dirty="0"/>
          </a:p>
        </p:txBody>
      </p:sp>
      <p:sp>
        <p:nvSpPr>
          <p:cNvPr id="5" name="anim-g1-2306"/>
          <p:cNvSpPr/>
          <p:nvPr/>
        </p:nvSpPr>
        <p:spPr>
          <a:xfrm>
            <a:off x="6415888" y="2194560"/>
            <a:ext cx="4952848" cy="804672"/>
          </a:xfrm>
          <a:prstGeom prst="roundRect">
            <a:avLst>
              <a:gd name="adj" fmla="val 15909"/>
            </a:avLst>
          </a:prstGeom>
          <a:solidFill>
            <a:srgbClr val="FBECEC"/>
          </a:solidFill>
          <a:ln/>
        </p:spPr>
      </p:sp>
      <p:sp>
        <p:nvSpPr>
          <p:cNvPr id="6" name="anim-g1-2307"/>
          <p:cNvSpPr/>
          <p:nvPr/>
        </p:nvSpPr>
        <p:spPr>
          <a:xfrm>
            <a:off x="6644488"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المواجهة العلنية للمتنمّرات</a:t>
            </a:r>
            <a:endParaRPr lang="ar-SA" sz="2200" dirty="0"/>
          </a:p>
        </p:txBody>
      </p:sp>
      <p:sp>
        <p:nvSpPr>
          <p:cNvPr id="7" name="anim-g1-2308"/>
          <p:cNvSpPr/>
          <p:nvPr/>
        </p:nvSpPr>
        <p:spPr>
          <a:xfrm>
            <a:off x="822960" y="2194560"/>
            <a:ext cx="4952848" cy="804672"/>
          </a:xfrm>
          <a:prstGeom prst="roundRect">
            <a:avLst>
              <a:gd name="adj" fmla="val 15909"/>
            </a:avLst>
          </a:prstGeom>
          <a:solidFill>
            <a:srgbClr val="FFFFFF"/>
          </a:solidFill>
          <a:ln w="19050">
            <a:solidFill>
              <a:srgbClr val="BFD9CB"/>
            </a:solidFill>
            <a:prstDash val="dash"/>
          </a:ln>
        </p:spPr>
      </p:sp>
      <p:sp>
        <p:nvSpPr>
          <p:cNvPr id="8" name="anim-g1-2309"/>
          <p:cNvSpPr/>
          <p:nvPr/>
        </p:nvSpPr>
        <p:spPr>
          <a:xfrm>
            <a:off x="822960" y="219456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9" name="anim-g2-2310"/>
          <p:cNvSpPr/>
          <p:nvPr/>
        </p:nvSpPr>
        <p:spPr>
          <a:xfrm>
            <a:off x="5775808" y="219456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0" name="anim-g2-2311"/>
          <p:cNvSpPr/>
          <p:nvPr/>
        </p:nvSpPr>
        <p:spPr>
          <a:xfrm>
            <a:off x="822960" y="2194560"/>
            <a:ext cx="4952848" cy="804672"/>
          </a:xfrm>
          <a:prstGeom prst="roundRect">
            <a:avLst>
              <a:gd name="adj" fmla="val 15909"/>
            </a:avLst>
          </a:prstGeom>
          <a:solidFill>
            <a:srgbClr val="E6F4EC"/>
          </a:solidFill>
          <a:ln/>
        </p:spPr>
      </p:sp>
      <p:sp>
        <p:nvSpPr>
          <p:cNvPr id="11" name="anim-g2-2312"/>
          <p:cNvSpPr/>
          <p:nvPr/>
        </p:nvSpPr>
        <p:spPr>
          <a:xfrm>
            <a:off x="1051560"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إجراء خاص عبر المرشدة والإدارة</a:t>
            </a:r>
            <a:endParaRPr lang="ar-SA" sz="2200" dirty="0"/>
          </a:p>
        </p:txBody>
      </p:sp>
      <p:sp>
        <p:nvSpPr>
          <p:cNvPr id="12" name="anim-g3-2313"/>
          <p:cNvSpPr/>
          <p:nvPr/>
        </p:nvSpPr>
        <p:spPr>
          <a:xfrm>
            <a:off x="6415888" y="3154680"/>
            <a:ext cx="4952848" cy="804672"/>
          </a:xfrm>
          <a:prstGeom prst="roundRect">
            <a:avLst>
              <a:gd name="adj" fmla="val 15909"/>
            </a:avLst>
          </a:prstGeom>
          <a:solidFill>
            <a:srgbClr val="FBECEC"/>
          </a:solidFill>
          <a:ln/>
        </p:spPr>
      </p:sp>
      <p:sp>
        <p:nvSpPr>
          <p:cNvPr id="13" name="anim-g3-2314"/>
          <p:cNvSpPr/>
          <p:nvPr/>
        </p:nvSpPr>
        <p:spPr>
          <a:xfrm>
            <a:off x="6644488"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«تجاهليهن» فقط</a:t>
            </a:r>
            <a:endParaRPr lang="ar-SA" sz="2200" dirty="0"/>
          </a:p>
        </p:txBody>
      </p:sp>
      <p:sp>
        <p:nvSpPr>
          <p:cNvPr id="14" name="anim-g3-2315"/>
          <p:cNvSpPr/>
          <p:nvPr/>
        </p:nvSpPr>
        <p:spPr>
          <a:xfrm>
            <a:off x="822960" y="3154680"/>
            <a:ext cx="4952848" cy="804672"/>
          </a:xfrm>
          <a:prstGeom prst="roundRect">
            <a:avLst>
              <a:gd name="adj" fmla="val 15909"/>
            </a:avLst>
          </a:prstGeom>
          <a:solidFill>
            <a:srgbClr val="FFFFFF"/>
          </a:solidFill>
          <a:ln w="19050">
            <a:solidFill>
              <a:srgbClr val="BFD9CB"/>
            </a:solidFill>
            <a:prstDash val="dash"/>
          </a:ln>
        </p:spPr>
      </p:sp>
      <p:sp>
        <p:nvSpPr>
          <p:cNvPr id="15" name="anim-g3-2316"/>
          <p:cNvSpPr/>
          <p:nvPr/>
        </p:nvSpPr>
        <p:spPr>
          <a:xfrm>
            <a:off x="822960" y="315468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16" name="anim-g4-2317"/>
          <p:cNvSpPr/>
          <p:nvPr/>
        </p:nvSpPr>
        <p:spPr>
          <a:xfrm>
            <a:off x="5775808" y="315468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7" name="anim-g4-2318"/>
          <p:cNvSpPr/>
          <p:nvPr/>
        </p:nvSpPr>
        <p:spPr>
          <a:xfrm>
            <a:off x="822960" y="3154680"/>
            <a:ext cx="4952848" cy="804672"/>
          </a:xfrm>
          <a:prstGeom prst="roundRect">
            <a:avLst>
              <a:gd name="adj" fmla="val 15909"/>
            </a:avLst>
          </a:prstGeom>
          <a:solidFill>
            <a:srgbClr val="E6F4EC"/>
          </a:solidFill>
          <a:ln/>
        </p:spPr>
      </p:sp>
      <p:sp>
        <p:nvSpPr>
          <p:cNvPr id="18" name="anim-g4-2319"/>
          <p:cNvSpPr/>
          <p:nvPr/>
        </p:nvSpPr>
        <p:spPr>
          <a:xfrm>
            <a:off x="1051560"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حماية فعلية ومتابعة يومية</a:t>
            </a:r>
            <a:endParaRPr lang="ar-SA" sz="2200" dirty="0"/>
          </a:p>
        </p:txBody>
      </p:sp>
      <p:sp>
        <p:nvSpPr>
          <p:cNvPr id="19" name="anim-g5-2320"/>
          <p:cNvSpPr/>
          <p:nvPr/>
        </p:nvSpPr>
        <p:spPr>
          <a:xfrm>
            <a:off x="6415888" y="4114800"/>
            <a:ext cx="4952848" cy="804672"/>
          </a:xfrm>
          <a:prstGeom prst="roundRect">
            <a:avLst>
              <a:gd name="adj" fmla="val 15909"/>
            </a:avLst>
          </a:prstGeom>
          <a:solidFill>
            <a:srgbClr val="FBECEC"/>
          </a:solidFill>
          <a:ln/>
        </p:spPr>
      </p:sp>
      <p:sp>
        <p:nvSpPr>
          <p:cNvPr id="20" name="anim-g5-2321"/>
          <p:cNvSpPr/>
          <p:nvPr/>
        </p:nvSpPr>
        <p:spPr>
          <a:xfrm>
            <a:off x="6644488"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حذف الرسائل فورًا</a:t>
            </a:r>
            <a:endParaRPr lang="ar-SA" sz="2200" dirty="0"/>
          </a:p>
        </p:txBody>
      </p:sp>
      <p:sp>
        <p:nvSpPr>
          <p:cNvPr id="21" name="anim-g5-2322"/>
          <p:cNvSpPr/>
          <p:nvPr/>
        </p:nvSpPr>
        <p:spPr>
          <a:xfrm>
            <a:off x="822960" y="4114800"/>
            <a:ext cx="4952848" cy="804672"/>
          </a:xfrm>
          <a:prstGeom prst="roundRect">
            <a:avLst>
              <a:gd name="adj" fmla="val 15909"/>
            </a:avLst>
          </a:prstGeom>
          <a:solidFill>
            <a:srgbClr val="FFFFFF"/>
          </a:solidFill>
          <a:ln w="19050">
            <a:solidFill>
              <a:srgbClr val="BFD9CB"/>
            </a:solidFill>
            <a:prstDash val="dash"/>
          </a:ln>
        </p:spPr>
      </p:sp>
      <p:sp>
        <p:nvSpPr>
          <p:cNvPr id="22" name="anim-g5-2323"/>
          <p:cNvSpPr/>
          <p:nvPr/>
        </p:nvSpPr>
        <p:spPr>
          <a:xfrm>
            <a:off x="822960" y="411480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23" name="anim-g6-2324"/>
          <p:cNvSpPr/>
          <p:nvPr/>
        </p:nvSpPr>
        <p:spPr>
          <a:xfrm>
            <a:off x="5775808" y="411480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24" name="anim-g6-2325"/>
          <p:cNvSpPr/>
          <p:nvPr/>
        </p:nvSpPr>
        <p:spPr>
          <a:xfrm>
            <a:off x="822960" y="4114800"/>
            <a:ext cx="4952848" cy="804672"/>
          </a:xfrm>
          <a:prstGeom prst="roundRect">
            <a:avLst>
              <a:gd name="adj" fmla="val 15909"/>
            </a:avLst>
          </a:prstGeom>
          <a:solidFill>
            <a:srgbClr val="E6F4EC"/>
          </a:solidFill>
          <a:ln/>
        </p:spPr>
      </p:sp>
      <p:sp>
        <p:nvSpPr>
          <p:cNvPr id="25" name="anim-g6-2326"/>
          <p:cNvSpPr/>
          <p:nvPr/>
        </p:nvSpPr>
        <p:spPr>
          <a:xfrm>
            <a:off x="1051560"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توثيقها أولًا كدليل</a:t>
            </a:r>
            <a:endParaRPr lang="ar-SA" sz="2200" dirty="0"/>
          </a:p>
        </p:txBody>
      </p:sp>
      <p:sp>
        <p:nvSpPr>
          <p:cNvPr id="26" name="anim-g7-2327"/>
          <p:cNvSpPr/>
          <p:nvPr/>
        </p:nvSpPr>
        <p:spPr>
          <a:xfrm>
            <a:off x="6415888" y="5074920"/>
            <a:ext cx="4952848" cy="804672"/>
          </a:xfrm>
          <a:prstGeom prst="roundRect">
            <a:avLst>
              <a:gd name="adj" fmla="val 15909"/>
            </a:avLst>
          </a:prstGeom>
          <a:solidFill>
            <a:srgbClr val="FBECEC"/>
          </a:solidFill>
          <a:ln/>
        </p:spPr>
      </p:sp>
      <p:sp>
        <p:nvSpPr>
          <p:cNvPr id="27" name="anim-g7-2328"/>
          <p:cNvSpPr/>
          <p:nvPr/>
        </p:nvSpPr>
        <p:spPr>
          <a:xfrm>
            <a:off x="6644488" y="507492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اعتباره مزاحًا بين طالبات</a:t>
            </a:r>
            <a:endParaRPr lang="ar-SA" sz="2200" dirty="0"/>
          </a:p>
        </p:txBody>
      </p:sp>
      <p:sp>
        <p:nvSpPr>
          <p:cNvPr id="28" name="anim-g7-2329"/>
          <p:cNvSpPr/>
          <p:nvPr/>
        </p:nvSpPr>
        <p:spPr>
          <a:xfrm>
            <a:off x="822960" y="5074920"/>
            <a:ext cx="4952848" cy="804672"/>
          </a:xfrm>
          <a:prstGeom prst="roundRect">
            <a:avLst>
              <a:gd name="adj" fmla="val 15909"/>
            </a:avLst>
          </a:prstGeom>
          <a:solidFill>
            <a:srgbClr val="FFFFFF"/>
          </a:solidFill>
          <a:ln w="19050">
            <a:solidFill>
              <a:srgbClr val="BFD9CB"/>
            </a:solidFill>
            <a:prstDash val="dash"/>
          </a:ln>
        </p:spPr>
      </p:sp>
      <p:sp>
        <p:nvSpPr>
          <p:cNvPr id="29" name="anim-g7-2330"/>
          <p:cNvSpPr/>
          <p:nvPr/>
        </p:nvSpPr>
        <p:spPr>
          <a:xfrm>
            <a:off x="822960" y="507492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30" name="anim-g8-2331"/>
          <p:cNvSpPr/>
          <p:nvPr/>
        </p:nvSpPr>
        <p:spPr>
          <a:xfrm>
            <a:off x="5775808" y="507492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31" name="anim-g8-2332"/>
          <p:cNvSpPr/>
          <p:nvPr/>
        </p:nvSpPr>
        <p:spPr>
          <a:xfrm>
            <a:off x="822960" y="5074920"/>
            <a:ext cx="4952848" cy="804672"/>
          </a:xfrm>
          <a:prstGeom prst="roundRect">
            <a:avLst>
              <a:gd name="adj" fmla="val 15909"/>
            </a:avLst>
          </a:prstGeom>
          <a:solidFill>
            <a:srgbClr val="E6F4EC"/>
          </a:solidFill>
          <a:ln/>
        </p:spPr>
      </p:sp>
      <p:sp>
        <p:nvSpPr>
          <p:cNvPr id="32" name="anim-g8-2333"/>
          <p:cNvSpPr/>
          <p:nvPr/>
        </p:nvSpPr>
        <p:spPr>
          <a:xfrm>
            <a:off x="1051560" y="507492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أخذ كل بلاغ بجدية</a:t>
            </a:r>
            <a:endParaRPr lang="ar-SA" sz="2200" dirty="0"/>
          </a:p>
        </p:txBody>
      </p:sp>
      <p:sp>
        <p:nvSpPr>
          <p:cNvPr id="33" name="Text 31"/>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34" name="Text 32"/>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رسائل تؤلم  ·  ١٩٨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0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400"/>
                                        <p:tgtEl>
                                          <p:spTgt spid="1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400"/>
                                        <p:tgtEl>
                                          <p:spTgt spid="2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400"/>
                                        <p:tgtEl>
                                          <p:spTgt spid="2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400"/>
                                        <p:tgtEl>
                                          <p:spTgt spid="2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400"/>
                                        <p:tgtEl>
                                          <p:spTgt spid="25"/>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26"/>
                                        </p:tgtEl>
                                        <p:attrNameLst>
                                          <p:attrName>style.visibility</p:attrName>
                                        </p:attrNameLst>
                                      </p:cBhvr>
                                      <p:to>
                                        <p:strVal val="visible"/>
                                      </p:to>
                                    </p:set>
                                    <p:animEffect transition="in" filter="fade">
                                      <p:cBhvr>
                                        <p:cTn id="82" dur="400"/>
                                        <p:tgtEl>
                                          <p:spTgt spid="26"/>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7"/>
                                        </p:tgtEl>
                                        <p:attrNameLst>
                                          <p:attrName>style.visibility</p:attrName>
                                        </p:attrNameLst>
                                      </p:cBhvr>
                                      <p:to>
                                        <p:strVal val="visible"/>
                                      </p:to>
                                    </p:set>
                                    <p:animEffect transition="in" filter="fade">
                                      <p:cBhvr>
                                        <p:cTn id="85" dur="400"/>
                                        <p:tgtEl>
                                          <p:spTgt spid="27"/>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8"/>
                                        </p:tgtEl>
                                        <p:attrNameLst>
                                          <p:attrName>style.visibility</p:attrName>
                                        </p:attrNameLst>
                                      </p:cBhvr>
                                      <p:to>
                                        <p:strVal val="visible"/>
                                      </p:to>
                                    </p:set>
                                    <p:animEffect transition="in" filter="fade">
                                      <p:cBhvr>
                                        <p:cTn id="88" dur="400"/>
                                        <p:tgtEl>
                                          <p:spTgt spid="28"/>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29"/>
                                        </p:tgtEl>
                                        <p:attrNameLst>
                                          <p:attrName>style.visibility</p:attrName>
                                        </p:attrNameLst>
                                      </p:cBhvr>
                                      <p:to>
                                        <p:strVal val="visible"/>
                                      </p:to>
                                    </p:set>
                                    <p:animEffect transition="in" filter="fade">
                                      <p:cBhvr>
                                        <p:cTn id="91" dur="400"/>
                                        <p:tgtEl>
                                          <p:spTgt spid="29"/>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30"/>
                                        </p:tgtEl>
                                        <p:attrNameLst>
                                          <p:attrName>style.visibility</p:attrName>
                                        </p:attrNameLst>
                                      </p:cBhvr>
                                      <p:to>
                                        <p:strVal val="visible"/>
                                      </p:to>
                                    </p:set>
                                    <p:animEffect transition="in" filter="fade">
                                      <p:cBhvr>
                                        <p:cTn id="96" dur="400"/>
                                        <p:tgtEl>
                                          <p:spTgt spid="30"/>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1"/>
                                        </p:tgtEl>
                                        <p:attrNameLst>
                                          <p:attrName>style.visibility</p:attrName>
                                        </p:attrNameLst>
                                      </p:cBhvr>
                                      <p:to>
                                        <p:strVal val="visible"/>
                                      </p:to>
                                    </p:set>
                                    <p:animEffect transition="in" filter="fade">
                                      <p:cBhvr>
                                        <p:cTn id="99" dur="400"/>
                                        <p:tgtEl>
                                          <p:spTgt spid="31"/>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2"/>
                                        </p:tgtEl>
                                        <p:attrNameLst>
                                          <p:attrName>style.visibility</p:attrName>
                                        </p:attrNameLst>
                                      </p:cBhvr>
                                      <p:to>
                                        <p:strVal val="visible"/>
                                      </p:to>
                                    </p:set>
                                    <p:animEffect transition="in" filter="fade">
                                      <p:cBhvr>
                                        <p:cTn id="102"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Lst>
  </p:timing>
</p:sld>
</file>

<file path=ppt/slides/slide199.xml><?xml version="1.0" encoding="utf-8"?>
<p:sld xmlns:a="http://schemas.openxmlformats.org/drawingml/2006/main" xmlns:r="http://schemas.openxmlformats.org/officeDocument/2006/relationships" xmlns:p="http://schemas.openxmlformats.org/presentationml/2006/main">
  <p:cSld name="Slide 19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5486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ماذا لو لم ينجح الحل؟</a:t>
            </a:r>
            <a:endParaRPr lang="ar-SA" sz="3800" dirty="0"/>
          </a:p>
        </p:txBody>
      </p:sp>
      <p:sp>
        <p:nvSpPr>
          <p:cNvPr id="3" name="Text 1"/>
          <p:cNvSpPr/>
          <p:nvPr/>
        </p:nvSpPr>
        <p:spPr>
          <a:xfrm>
            <a:off x="6415888"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D64545"/>
                </a:solidFill>
                <a:latin typeface="Cairo Black" pitchFamily="34" charset="0"/>
                <a:ea typeface="Cairo Black" pitchFamily="34" charset="-122"/>
                <a:cs typeface="Cairo Black" pitchFamily="34" charset="-120"/>
              </a:rPr>
              <a:t>❌ الخطأ الشائع</a:t>
            </a:r>
            <a:endParaRPr lang="ar-SA" sz="2100" dirty="0"/>
          </a:p>
        </p:txBody>
      </p:sp>
      <p:sp>
        <p:nvSpPr>
          <p:cNvPr id="4" name="Text 2"/>
          <p:cNvSpPr/>
          <p:nvPr/>
        </p:nvSpPr>
        <p:spPr>
          <a:xfrm>
            <a:off x="822960"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2E9E6B"/>
                </a:solidFill>
                <a:latin typeface="Cairo Black" pitchFamily="34" charset="0"/>
                <a:ea typeface="Cairo Black" pitchFamily="34" charset="-122"/>
                <a:cs typeface="Cairo Black" pitchFamily="34" charset="-120"/>
              </a:rPr>
              <a:t>✅ البديل</a:t>
            </a:r>
            <a:endParaRPr lang="ar-SA" sz="2100" dirty="0"/>
          </a:p>
        </p:txBody>
      </p:sp>
      <p:sp>
        <p:nvSpPr>
          <p:cNvPr id="5" name="anim-g1-2334"/>
          <p:cNvSpPr/>
          <p:nvPr/>
        </p:nvSpPr>
        <p:spPr>
          <a:xfrm>
            <a:off x="6415888" y="2194560"/>
            <a:ext cx="4952848" cy="804672"/>
          </a:xfrm>
          <a:prstGeom prst="roundRect">
            <a:avLst>
              <a:gd name="adj" fmla="val 15909"/>
            </a:avLst>
          </a:prstGeom>
          <a:solidFill>
            <a:srgbClr val="FBECEC"/>
          </a:solidFill>
          <a:ln/>
        </p:spPr>
      </p:sp>
      <p:sp>
        <p:nvSpPr>
          <p:cNvPr id="6" name="anim-g1-2335"/>
          <p:cNvSpPr/>
          <p:nvPr/>
        </p:nvSpPr>
        <p:spPr>
          <a:xfrm>
            <a:off x="6644488"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الطالبة ترفض أن تخبر أحدًا غيرك</a:t>
            </a:r>
            <a:endParaRPr lang="ar-SA" sz="2200" dirty="0"/>
          </a:p>
        </p:txBody>
      </p:sp>
      <p:sp>
        <p:nvSpPr>
          <p:cNvPr id="7" name="anim-g1-2336"/>
          <p:cNvSpPr/>
          <p:nvPr/>
        </p:nvSpPr>
        <p:spPr>
          <a:xfrm>
            <a:off x="822960" y="2194560"/>
            <a:ext cx="4952848" cy="804672"/>
          </a:xfrm>
          <a:prstGeom prst="roundRect">
            <a:avLst>
              <a:gd name="adj" fmla="val 15909"/>
            </a:avLst>
          </a:prstGeom>
          <a:solidFill>
            <a:srgbClr val="FFFFFF"/>
          </a:solidFill>
          <a:ln w="19050">
            <a:solidFill>
              <a:srgbClr val="BFD9CB"/>
            </a:solidFill>
            <a:prstDash val="dash"/>
          </a:ln>
        </p:spPr>
      </p:sp>
      <p:sp>
        <p:nvSpPr>
          <p:cNvPr id="8" name="anim-g1-2337"/>
          <p:cNvSpPr/>
          <p:nvPr/>
        </p:nvSpPr>
        <p:spPr>
          <a:xfrm>
            <a:off x="822960" y="219456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9" name="anim-g2-2338"/>
          <p:cNvSpPr/>
          <p:nvPr/>
        </p:nvSpPr>
        <p:spPr>
          <a:xfrm>
            <a:off x="5775808" y="219456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0" name="anim-g2-2339"/>
          <p:cNvSpPr/>
          <p:nvPr/>
        </p:nvSpPr>
        <p:spPr>
          <a:xfrm>
            <a:off x="822960" y="2194560"/>
            <a:ext cx="4952848" cy="804672"/>
          </a:xfrm>
          <a:prstGeom prst="roundRect">
            <a:avLst>
              <a:gd name="adj" fmla="val 15909"/>
            </a:avLst>
          </a:prstGeom>
          <a:solidFill>
            <a:srgbClr val="E6F4EC"/>
          </a:solidFill>
          <a:ln/>
        </p:spPr>
      </p:sp>
      <p:sp>
        <p:nvSpPr>
          <p:cNvPr id="11" name="anim-g2-2340"/>
          <p:cNvSpPr/>
          <p:nvPr/>
        </p:nvSpPr>
        <p:spPr>
          <a:xfrm>
            <a:off x="1051560"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طمئنها أن المرشدة ستحفظ سرها، واحضر معها اللقاء الأول بنفسك</a:t>
            </a:r>
            <a:endParaRPr lang="ar-SA" sz="2200" dirty="0"/>
          </a:p>
        </p:txBody>
      </p:sp>
      <p:sp>
        <p:nvSpPr>
          <p:cNvPr id="12" name="anim-g3-2341"/>
          <p:cNvSpPr/>
          <p:nvPr/>
        </p:nvSpPr>
        <p:spPr>
          <a:xfrm>
            <a:off x="6415888" y="3154680"/>
            <a:ext cx="4952848" cy="804672"/>
          </a:xfrm>
          <a:prstGeom prst="roundRect">
            <a:avLst>
              <a:gd name="adj" fmla="val 15909"/>
            </a:avLst>
          </a:prstGeom>
          <a:solidFill>
            <a:srgbClr val="FBECEC"/>
          </a:solidFill>
          <a:ln/>
        </p:spPr>
      </p:sp>
      <p:sp>
        <p:nvSpPr>
          <p:cNvPr id="13" name="anim-g3-2342"/>
          <p:cNvSpPr/>
          <p:nvPr/>
        </p:nvSpPr>
        <p:spPr>
          <a:xfrm>
            <a:off x="6644488"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المتنمرات أنكرن كل شيء</a:t>
            </a:r>
            <a:endParaRPr lang="ar-SA" sz="2200" dirty="0"/>
          </a:p>
        </p:txBody>
      </p:sp>
      <p:sp>
        <p:nvSpPr>
          <p:cNvPr id="14" name="anim-g3-2343"/>
          <p:cNvSpPr/>
          <p:nvPr/>
        </p:nvSpPr>
        <p:spPr>
          <a:xfrm>
            <a:off x="822960" y="3154680"/>
            <a:ext cx="4952848" cy="804672"/>
          </a:xfrm>
          <a:prstGeom prst="roundRect">
            <a:avLst>
              <a:gd name="adj" fmla="val 15909"/>
            </a:avLst>
          </a:prstGeom>
          <a:solidFill>
            <a:srgbClr val="FFFFFF"/>
          </a:solidFill>
          <a:ln w="19050">
            <a:solidFill>
              <a:srgbClr val="BFD9CB"/>
            </a:solidFill>
            <a:prstDash val="dash"/>
          </a:ln>
        </p:spPr>
      </p:sp>
      <p:sp>
        <p:nvSpPr>
          <p:cNvPr id="15" name="anim-g3-2344"/>
          <p:cNvSpPr/>
          <p:nvPr/>
        </p:nvSpPr>
        <p:spPr>
          <a:xfrm>
            <a:off x="822960" y="315468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16" name="anim-g4-2345"/>
          <p:cNvSpPr/>
          <p:nvPr/>
        </p:nvSpPr>
        <p:spPr>
          <a:xfrm>
            <a:off x="5775808" y="315468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7" name="anim-g4-2346"/>
          <p:cNvSpPr/>
          <p:nvPr/>
        </p:nvSpPr>
        <p:spPr>
          <a:xfrm>
            <a:off x="822960" y="3154680"/>
            <a:ext cx="4952848" cy="804672"/>
          </a:xfrm>
          <a:prstGeom prst="roundRect">
            <a:avLst>
              <a:gd name="adj" fmla="val 15909"/>
            </a:avLst>
          </a:prstGeom>
          <a:solidFill>
            <a:srgbClr val="E6F4EC"/>
          </a:solidFill>
          <a:ln/>
        </p:spPr>
      </p:sp>
      <p:sp>
        <p:nvSpPr>
          <p:cNvPr id="18" name="anim-g4-2347"/>
          <p:cNvSpPr/>
          <p:nvPr/>
        </p:nvSpPr>
        <p:spPr>
          <a:xfrm>
            <a:off x="1051560"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اعتمد على الرسائل الموثقة، واترك الإجراء للمرشدة والإدارة</a:t>
            </a:r>
            <a:endParaRPr lang="ar-SA" sz="2200" dirty="0"/>
          </a:p>
        </p:txBody>
      </p:sp>
      <p:sp>
        <p:nvSpPr>
          <p:cNvPr id="19" name="anim-g5-2348"/>
          <p:cNvSpPr/>
          <p:nvPr/>
        </p:nvSpPr>
        <p:spPr>
          <a:xfrm>
            <a:off x="6415888" y="4114800"/>
            <a:ext cx="4952848" cy="804672"/>
          </a:xfrm>
          <a:prstGeom prst="roundRect">
            <a:avLst>
              <a:gd name="adj" fmla="val 15909"/>
            </a:avLst>
          </a:prstGeom>
          <a:solidFill>
            <a:srgbClr val="FBECEC"/>
          </a:solidFill>
          <a:ln/>
        </p:spPr>
      </p:sp>
      <p:sp>
        <p:nvSpPr>
          <p:cNvPr id="20" name="anim-g5-2349"/>
          <p:cNvSpPr/>
          <p:nvPr/>
        </p:nvSpPr>
        <p:spPr>
          <a:xfrm>
            <a:off x="6644488"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توقف التنمر ثم عاد بحساب مجهول</a:t>
            </a:r>
            <a:endParaRPr lang="ar-SA" sz="2200" dirty="0"/>
          </a:p>
        </p:txBody>
      </p:sp>
      <p:sp>
        <p:nvSpPr>
          <p:cNvPr id="21" name="anim-g5-2350"/>
          <p:cNvSpPr/>
          <p:nvPr/>
        </p:nvSpPr>
        <p:spPr>
          <a:xfrm>
            <a:off x="822960" y="4114800"/>
            <a:ext cx="4952848" cy="804672"/>
          </a:xfrm>
          <a:prstGeom prst="roundRect">
            <a:avLst>
              <a:gd name="adj" fmla="val 15909"/>
            </a:avLst>
          </a:prstGeom>
          <a:solidFill>
            <a:srgbClr val="FFFFFF"/>
          </a:solidFill>
          <a:ln w="19050">
            <a:solidFill>
              <a:srgbClr val="BFD9CB"/>
            </a:solidFill>
            <a:prstDash val="dash"/>
          </a:ln>
        </p:spPr>
      </p:sp>
      <p:sp>
        <p:nvSpPr>
          <p:cNvPr id="22" name="anim-g5-2351"/>
          <p:cNvSpPr/>
          <p:nvPr/>
        </p:nvSpPr>
        <p:spPr>
          <a:xfrm>
            <a:off x="822960" y="411480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23" name="anim-g6-2352"/>
          <p:cNvSpPr/>
          <p:nvPr/>
        </p:nvSpPr>
        <p:spPr>
          <a:xfrm>
            <a:off x="5775808" y="411480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24" name="anim-g6-2353"/>
          <p:cNvSpPr/>
          <p:nvPr/>
        </p:nvSpPr>
        <p:spPr>
          <a:xfrm>
            <a:off x="822960" y="4114800"/>
            <a:ext cx="4952848" cy="804672"/>
          </a:xfrm>
          <a:prstGeom prst="roundRect">
            <a:avLst>
              <a:gd name="adj" fmla="val 15909"/>
            </a:avLst>
          </a:prstGeom>
          <a:solidFill>
            <a:srgbClr val="E6F4EC"/>
          </a:solidFill>
          <a:ln/>
        </p:spPr>
      </p:sp>
      <p:sp>
        <p:nvSpPr>
          <p:cNvPr id="25" name="anim-g6-2354"/>
          <p:cNvSpPr/>
          <p:nvPr/>
        </p:nvSpPr>
        <p:spPr>
          <a:xfrm>
            <a:off x="1051560"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أبلغ الإدارة وولي الأمر، ووعِّ الفصل كله بخطورة الحسابات المجهولة</a:t>
            </a:r>
            <a:endParaRPr lang="ar-SA" sz="2200" dirty="0"/>
          </a:p>
        </p:txBody>
      </p:sp>
      <p:sp>
        <p:nvSpPr>
          <p:cNvPr id="26" name="Text 24"/>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7" name="Text 25"/>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رسائل تؤلم  ·  ١٩٩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0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400"/>
                                        <p:tgtEl>
                                          <p:spTgt spid="1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400"/>
                                        <p:tgtEl>
                                          <p:spTgt spid="2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400"/>
                                        <p:tgtEl>
                                          <p:spTgt spid="2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400"/>
                                        <p:tgtEl>
                                          <p:spTgt spid="2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200.xml><?xml version="1.0" encoding="utf-8"?>
<p:sld xmlns:a="http://schemas.openxmlformats.org/drawingml/2006/main" xmlns:r="http://schemas.openxmlformats.org/officeDocument/2006/relationships" xmlns:p="http://schemas.openxmlformats.org/presentationml/2006/main">
  <p:cSld name="Slide 20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الموقف</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في التنمّر الإلكتروني…</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صمت الكبار أخطر رسالة</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موقف: رسائل تؤلم  ·  ٢٠٠</a:t>
            </a:r>
            <a:endParaRPr lang="ar-SA" sz="1200" dirty="0"/>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name="Slide 20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kb-2355" descr="/Users/mac/Desktop/أردوينو/المشاريع والكتب/younes-training/mawaqif/assets/scenes/internet.jpg">    </p:cNvPr>
          <p:cNvPicPr>
            <a:picLocks noChangeAspect="1"/>
          </p:cNvPicPr>
          <p:nvPr/>
        </p:nvPicPr>
        <p:blipFill>
          <a:blip r:embed="rId2"/>
          <a:stretch>
            <a:fillRect/>
          </a:stretch>
        </p:blipFill>
        <p:spPr>
          <a:xfrm>
            <a:off x="0" y="0"/>
            <a:ext cx="12191695" cy="6858000"/>
          </a:xfrm>
          <a:prstGeom prst="rect">
            <a:avLst/>
          </a:prstGeom>
        </p:spPr>
      </p:pic>
      <p:pic>
        <p:nvPicPr>
          <p:cNvPr id="3" name="Image 1" descr="/Users/mac/Desktop/أردوينو/المشاريع والكتب/younes-training/shared/assets/mcover-overlay.png">    </p:cNvPr>
          <p:cNvPicPr>
            <a:picLocks noChangeAspect="1"/>
          </p:cNvPicPr>
          <p:nvPr/>
        </p:nvPicPr>
        <p:blipFill>
          <a:blip r:embed="rId3"/>
          <a:stretch>
            <a:fillRect/>
          </a:stretch>
        </p:blipFill>
        <p:spPr>
          <a:xfrm>
            <a:off x="0" y="0"/>
            <a:ext cx="12191695" cy="6858000"/>
          </a:xfrm>
          <a:prstGeom prst="rect">
            <a:avLst/>
          </a:prstGeom>
        </p:spPr>
      </p:pic>
      <p:sp>
        <p:nvSpPr>
          <p:cNvPr id="4" name="Text 0"/>
          <p:cNvSpPr/>
          <p:nvPr/>
        </p:nvSpPr>
        <p:spPr>
          <a:xfrm>
            <a:off x="5669280" y="1737360"/>
            <a:ext cx="5699455" cy="502920"/>
          </a:xfrm>
          <a:prstGeom prst="rect">
            <a:avLst/>
          </a:prstGeom>
          <a:noFill/>
          <a:ln/>
        </p:spPr>
        <p:txBody>
          <a:bodyPr wrap="square" lIns="0" tIns="0" rIns="0" bIns="0" rtlCol="0" anchor="ctr">
            <a:normAutofit/>
          </a:bodyPr>
          <a:lstStyle/>
          <a:p>
            <a:pPr rtl="1" algn="r" indent="0" marL="0">
              <a:buNone/>
            </a:pPr>
            <a:r>
              <a:rPr lang="ar-SA" altLang="en-US" sz="2200" b="1" dirty="0">
                <a:solidFill>
                  <a:srgbClr val="D9AE4B"/>
                </a:solidFill>
                <a:latin typeface="Cairo" pitchFamily="34" charset="0"/>
                <a:ea typeface="Cairo" pitchFamily="34" charset="-122"/>
                <a:cs typeface="Cairo" pitchFamily="34" charset="-120"/>
              </a:rPr>
              <a:t>مواقف العصر الرقمي</a:t>
            </a:r>
            <a:endParaRPr lang="ar-SA" sz="2200" dirty="0"/>
          </a:p>
        </p:txBody>
      </p:sp>
      <p:sp>
        <p:nvSpPr>
          <p:cNvPr id="5" name="Text 1"/>
          <p:cNvSpPr/>
          <p:nvPr/>
        </p:nvSpPr>
        <p:spPr>
          <a:xfrm>
            <a:off x="5669280" y="2286000"/>
            <a:ext cx="5699455" cy="548640"/>
          </a:xfrm>
          <a:prstGeom prst="rect">
            <a:avLst/>
          </a:prstGeom>
          <a:noFill/>
          <a:ln/>
        </p:spPr>
        <p:txBody>
          <a:bodyPr wrap="square" lIns="0" tIns="0" rIns="0" bIns="0" rtlCol="0" anchor="ctr">
            <a:normAutofit/>
          </a:bodyPr>
          <a:lstStyle/>
          <a:p>
            <a:pPr rtl="1" algn="r" indent="0" marL="0">
              <a:buNone/>
            </a:pPr>
            <a:r>
              <a:rPr lang="ar-SA" altLang="en-US" sz="2600" b="1" dirty="0">
                <a:solidFill>
                  <a:srgbClr val="C9CFE6"/>
                </a:solidFill>
                <a:latin typeface="Cairo" pitchFamily="34" charset="0"/>
                <a:ea typeface="Cairo" pitchFamily="34" charset="-122"/>
                <a:cs typeface="Cairo" pitchFamily="34" charset="-120"/>
              </a:rPr>
              <a:t>الموقف ١٧</a:t>
            </a:r>
            <a:endParaRPr lang="ar-SA" sz="2600" dirty="0"/>
          </a:p>
        </p:txBody>
      </p:sp>
      <p:sp>
        <p:nvSpPr>
          <p:cNvPr id="6" name="Text 2"/>
          <p:cNvSpPr/>
          <p:nvPr/>
        </p:nvSpPr>
        <p:spPr>
          <a:xfrm>
            <a:off x="4572000" y="2834640"/>
            <a:ext cx="6796735" cy="1188720"/>
          </a:xfrm>
          <a:prstGeom prst="rect">
            <a:avLst/>
          </a:prstGeom>
          <a:noFill/>
          <a:ln/>
        </p:spPr>
        <p:txBody>
          <a:bodyPr wrap="square" lIns="0" tIns="0" rIns="0" bIns="0" rtlCol="0" anchor="ctr">
            <a:normAutofit/>
          </a:bodyPr>
          <a:lstStyle/>
          <a:p>
            <a:pPr rtl="1" algn="r" indent="0" marL="0">
              <a:buNone/>
            </a:pPr>
            <a:r>
              <a:rPr lang="ar-SA" altLang="en-US" sz="5000" dirty="0">
                <a:solidFill>
                  <a:srgbClr val="FFFFFF"/>
                </a:solidFill>
                <a:latin typeface="Cairo Black" pitchFamily="34" charset="0"/>
                <a:ea typeface="Cairo Black" pitchFamily="34" charset="-122"/>
                <a:cs typeface="Cairo Black" pitchFamily="34" charset="-120"/>
              </a:rPr>
              <a:t>المعلومة على الشاشة</a:t>
            </a:r>
            <a:endParaRPr lang="ar-SA" sz="5000" dirty="0"/>
          </a:p>
        </p:txBody>
      </p:sp>
      <p:sp>
        <p:nvSpPr>
          <p:cNvPr id="7" name="Shape 3"/>
          <p:cNvSpPr/>
          <p:nvPr/>
        </p:nvSpPr>
        <p:spPr>
          <a:xfrm>
            <a:off x="10125151" y="4480560"/>
            <a:ext cx="1243584"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8" name="Text 4"/>
          <p:cNvSpPr/>
          <p:nvPr/>
        </p:nvSpPr>
        <p:spPr>
          <a:xfrm>
            <a:off x="10125151" y="4480560"/>
            <a:ext cx="1243584"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القصة</a:t>
            </a:r>
            <a:endParaRPr lang="ar-SA" sz="1500" dirty="0"/>
          </a:p>
        </p:txBody>
      </p:sp>
      <p:sp>
        <p:nvSpPr>
          <p:cNvPr id="9" name="Shape 5"/>
          <p:cNvSpPr/>
          <p:nvPr/>
        </p:nvSpPr>
        <p:spPr>
          <a:xfrm>
            <a:off x="8680399" y="4480560"/>
            <a:ext cx="1353312"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0" name="Text 6"/>
          <p:cNvSpPr/>
          <p:nvPr/>
        </p:nvSpPr>
        <p:spPr>
          <a:xfrm>
            <a:off x="8680399" y="4480560"/>
            <a:ext cx="1353312"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تصويت</a:t>
            </a:r>
            <a:endParaRPr lang="ar-SA" sz="1500" dirty="0"/>
          </a:p>
        </p:txBody>
      </p:sp>
      <p:sp>
        <p:nvSpPr>
          <p:cNvPr id="11" name="Shape 7"/>
          <p:cNvSpPr/>
          <p:nvPr/>
        </p:nvSpPr>
        <p:spPr>
          <a:xfrm>
            <a:off x="7235647" y="4480560"/>
            <a:ext cx="1353312"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2" name="Text 8"/>
          <p:cNvSpPr/>
          <p:nvPr/>
        </p:nvSpPr>
        <p:spPr>
          <a:xfrm>
            <a:off x="7235647" y="4480560"/>
            <a:ext cx="1353312"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لماذا؟</a:t>
            </a:r>
            <a:endParaRPr lang="ar-SA" sz="1500" dirty="0"/>
          </a:p>
        </p:txBody>
      </p:sp>
      <p:sp>
        <p:nvSpPr>
          <p:cNvPr id="13" name="Shape 9"/>
          <p:cNvSpPr/>
          <p:nvPr/>
        </p:nvSpPr>
        <p:spPr>
          <a:xfrm>
            <a:off x="5571439" y="4480560"/>
            <a:ext cx="1572768"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4" name="Text 10"/>
          <p:cNvSpPr/>
          <p:nvPr/>
        </p:nvSpPr>
        <p:spPr>
          <a:xfrm>
            <a:off x="5571439" y="4480560"/>
            <a:ext cx="1572768"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أول خطوة</a:t>
            </a:r>
            <a:endParaRPr lang="ar-SA" sz="1500" dirty="0"/>
          </a:p>
        </p:txBody>
      </p:sp>
      <p:sp>
        <p:nvSpPr>
          <p:cNvPr id="15" name="Shape 11"/>
          <p:cNvSpPr/>
          <p:nvPr/>
        </p:nvSpPr>
        <p:spPr>
          <a:xfrm>
            <a:off x="3687775" y="4480560"/>
            <a:ext cx="1792224" cy="457200"/>
          </a:xfrm>
          <a:prstGeom prst="roundRect">
            <a:avLst>
              <a:gd name="adj" fmla="val 50000"/>
            </a:avLst>
          </a:prstGeom>
          <a:solidFill>
            <a:srgbClr val="FFFFFF">
              <a:alpha val="12000"/>
            </a:srgbClr>
          </a:solidFill>
          <a:ln w="12700">
            <a:solidFill>
              <a:srgbClr val="FFFFFF">
                <a:alpha val="25000"/>
              </a:srgbClr>
            </a:solidFill>
            <a:prstDash val="solid"/>
          </a:ln>
        </p:spPr>
      </p:sp>
      <p:sp>
        <p:nvSpPr>
          <p:cNvPr id="16" name="Text 12"/>
          <p:cNvSpPr/>
          <p:nvPr/>
        </p:nvSpPr>
        <p:spPr>
          <a:xfrm>
            <a:off x="3687775" y="4480560"/>
            <a:ext cx="1792224" cy="457200"/>
          </a:xfrm>
          <a:prstGeom prst="rect">
            <a:avLst/>
          </a:prstGeom>
          <a:noFill/>
          <a:ln/>
        </p:spPr>
        <p:txBody>
          <a:bodyPr wrap="square" lIns="0" tIns="0" rIns="0" bIns="0" rtlCol="0" anchor="ctr">
            <a:normAutofit/>
          </a:bodyPr>
          <a:lstStyle/>
          <a:p>
            <a:pPr rtl="1" algn="ctr" indent="0" marL="0">
              <a:buNone/>
            </a:pPr>
            <a:r>
              <a:rPr lang="ar-SA" altLang="en-US" sz="1500" b="1" dirty="0">
                <a:solidFill>
                  <a:srgbClr val="FFFFFF"/>
                </a:solidFill>
                <a:latin typeface="Cairo" pitchFamily="34" charset="0"/>
                <a:ea typeface="Cairo" pitchFamily="34" charset="-122"/>
                <a:cs typeface="Cairo" pitchFamily="34" charset="-120"/>
              </a:rPr>
              <a:t>💬 ماذا تقول؟</a:t>
            </a:r>
            <a:endParaRPr lang="ar-SA" sz="1500" dirty="0"/>
          </a:p>
        </p:txBody>
      </p:sp>
      <p:sp>
        <p:nvSpPr>
          <p:cNvPr id="17" name="Text 1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18" name="Text 1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موقف: المعلومة على الشاشة  ·  ٢٠١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16000" fill="hold"/>
                                        <p:tgtEl>
                                          <p:spTgt spid="2"/>
                                        </p:tgtEl>
                                      </p:cBhvr>
                                      <p:by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2.xml><?xml version="1.0" encoding="utf-8"?>
<p:sld xmlns:a="http://schemas.openxmlformats.org/drawingml/2006/main" xmlns:r="http://schemas.openxmlformats.org/officeDocument/2006/relationships" xmlns:p="http://schemas.openxmlformats.org/presentationml/2006/main">
  <p:cSld name="Slide 20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kb-2356" descr="/Users/mac/Desktop/أردوينو/المشاريع والكتب/younes-training/mawaqif/assets/scenes/internet.jpg">    </p:cNvPr>
          <p:cNvPicPr>
            <a:picLocks noChangeAspect="1"/>
          </p:cNvPicPr>
          <p:nvPr/>
        </p:nvPicPr>
        <p:blipFill>
          <a:blip r:embed="rId2"/>
          <a:stretch>
            <a:fillRect/>
          </a:stretch>
        </p:blipFill>
        <p:spPr>
          <a:xfrm>
            <a:off x="0" y="0"/>
            <a:ext cx="12191695" cy="6858000"/>
          </a:xfrm>
          <a:prstGeom prst="rect">
            <a:avLst/>
          </a:prstGeom>
        </p:spPr>
      </p:pic>
      <p:pic>
        <p:nvPicPr>
          <p:cNvPr id="3" name="Image 1" descr="/Users/mac/Desktop/أردوينو/المشاريع والكتب/younes-training/shared/assets/story-overlay.png">    </p:cNvPr>
          <p:cNvPicPr>
            <a:picLocks noChangeAspect="1"/>
          </p:cNvPicPr>
          <p:nvPr/>
        </p:nvPicPr>
        <p:blipFill>
          <a:blip r:embed="rId3"/>
          <a:stretch>
            <a:fillRect/>
          </a:stretch>
        </p:blipFill>
        <p:spPr>
          <a:xfrm>
            <a:off x="0" y="0"/>
            <a:ext cx="12191695" cy="6858000"/>
          </a:xfrm>
          <a:prstGeom prst="rect">
            <a:avLst/>
          </a:prstGeom>
        </p:spPr>
      </p:pic>
      <p:sp>
        <p:nvSpPr>
          <p:cNvPr id="4" name="Shape 0"/>
          <p:cNvSpPr/>
          <p:nvPr/>
        </p:nvSpPr>
        <p:spPr>
          <a:xfrm>
            <a:off x="7985455" y="365760"/>
            <a:ext cx="3657600" cy="502920"/>
          </a:xfrm>
          <a:prstGeom prst="roundRect">
            <a:avLst>
              <a:gd name="adj" fmla="val 49091"/>
            </a:avLst>
          </a:prstGeom>
          <a:solidFill>
            <a:srgbClr val="0A1230">
              <a:alpha val="80000"/>
            </a:srgbClr>
          </a:solidFill>
          <a:ln w="12700">
            <a:solidFill>
              <a:srgbClr val="D9AE4B">
                <a:alpha val="60000"/>
              </a:srgbClr>
            </a:solidFill>
            <a:prstDash val="solid"/>
          </a:ln>
        </p:spPr>
      </p:sp>
      <p:sp>
        <p:nvSpPr>
          <p:cNvPr id="5" name="Text 1"/>
          <p:cNvSpPr/>
          <p:nvPr/>
        </p:nvSpPr>
        <p:spPr>
          <a:xfrm>
            <a:off x="7985455" y="365760"/>
            <a:ext cx="3657600" cy="50292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 القصة · ماذا حدث؟</a:t>
            </a:r>
            <a:endParaRPr lang="ar-SA" sz="1800" dirty="0"/>
          </a:p>
        </p:txBody>
      </p:sp>
      <p:sp>
        <p:nvSpPr>
          <p:cNvPr id="6" name="Shape 2"/>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7" name="Text 3"/>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كان أ. ناصر يشرح درس الفيزياء، حين رفع بدر (الثالث الثانوي) جواله عاليًا: «أستاذ، المعلومة خطأ! المكتوب هنا عكس كلامك».</a:t>
            </a:r>
            <a:endParaRPr lang="ar-SA" sz="2400" dirty="0"/>
          </a:p>
        </p:txBody>
      </p:sp>
      <p:sp>
        <p:nvSpPr>
          <p:cNvPr id="8" name="anim-g1-2357"/>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9" name="anim-g1-2358"/>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التفت الطلاب جميعًا، وبعضهم يبتسم منتظرًا ردّ المعلم.</a:t>
            </a:r>
            <a:endParaRPr lang="ar-SA" sz="2400" dirty="0"/>
          </a:p>
        </p:txBody>
      </p:sp>
      <p:sp>
        <p:nvSpPr>
          <p:cNvPr id="10" name="anim-g2-2359"/>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11" name="anim-g2-2360"/>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400" b="1" dirty="0">
                <a:solidFill>
                  <a:srgbClr val="FFFFFF"/>
                </a:solidFill>
                <a:latin typeface="Cairo" pitchFamily="34" charset="0"/>
                <a:ea typeface="Cairo" pitchFamily="34" charset="-122"/>
                <a:cs typeface="Cairo" pitchFamily="34" charset="-120"/>
              </a:rPr>
              <a:t>نظر أ. ناصر إلى الشاشة… وكان محتملًا أن يكون بدر محقًّا.</a:t>
            </a:r>
            <a:endParaRPr lang="ar-SA" sz="2400" dirty="0"/>
          </a:p>
        </p:txBody>
      </p:sp>
      <p:sp>
        <p:nvSpPr>
          <p:cNvPr id="12" name="anim-g3-2361"/>
          <p:cNvSpPr/>
          <p:nvPr/>
        </p:nvSpPr>
        <p:spPr>
          <a:xfrm>
            <a:off x="685800" y="4160520"/>
            <a:ext cx="10820095" cy="1874520"/>
          </a:xfrm>
          <a:prstGeom prst="roundRect">
            <a:avLst>
              <a:gd name="adj" fmla="val 10732"/>
            </a:avLst>
          </a:prstGeom>
          <a:solidFill>
            <a:srgbClr val="0A1230"/>
          </a:solidFill>
          <a:ln w="15240">
            <a:solidFill>
              <a:srgbClr val="D9AE4B">
                <a:alpha val="50000"/>
              </a:srgbClr>
            </a:solidFill>
            <a:prstDash val="solid"/>
          </a:ln>
        </p:spPr>
      </p:sp>
      <p:sp>
        <p:nvSpPr>
          <p:cNvPr id="13" name="anim-g3-2362"/>
          <p:cNvSpPr/>
          <p:nvPr/>
        </p:nvSpPr>
        <p:spPr>
          <a:xfrm>
            <a:off x="960120" y="4206240"/>
            <a:ext cx="10271455" cy="1783080"/>
          </a:xfrm>
          <a:prstGeom prst="rect">
            <a:avLst/>
          </a:prstGeom>
          <a:noFill/>
          <a:ln/>
        </p:spPr>
        <p:txBody>
          <a:bodyPr wrap="square" lIns="0" tIns="0" rIns="0" bIns="0" rtlCol="0" anchor="ctr">
            <a:normAutofit/>
          </a:bodyPr>
          <a:lstStyle/>
          <a:p>
            <a:pPr rtl="1" algn="r" indent="0" marL="0">
              <a:lnSpc>
                <a:spcPct val="120000"/>
              </a:lnSpc>
              <a:buNone/>
            </a:pPr>
            <a:r>
              <a:rPr lang="ar-SA" altLang="en-US" sz="2600" b="1" dirty="0">
                <a:solidFill>
                  <a:srgbClr val="F0CC7A"/>
                </a:solidFill>
                <a:latin typeface="Cairo" pitchFamily="34" charset="0"/>
                <a:ea typeface="Cairo" pitchFamily="34" charset="-122"/>
                <a:cs typeface="Cairo" pitchFamily="34" charset="-120"/>
              </a:rPr>
              <a:t>لحظة واحدة ستحدد: هل يخسر المعلم هيبته… أم يكسب احترامًا أعمق؟</a:t>
            </a:r>
            <a:endParaRPr lang="ar-SA" sz="2600" dirty="0"/>
          </a:p>
        </p:txBody>
      </p:sp>
      <p:sp>
        <p:nvSpPr>
          <p:cNvPr id="14" name="Text 1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15" name="Text 1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موقف: المعلومة على الشاشة  ·  ٢٠٢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16000" fill="hold"/>
                                        <p:tgtEl>
                                          <p:spTgt spid="2"/>
                                        </p:tgtEl>
                                      </p:cBhvr>
                                      <p:by x="112000" y="112000"/>
                                    </p:animScale>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Lst>
  </p:timing>
</p:sld>
</file>

<file path=ppt/slides/slide203.xml><?xml version="1.0" encoding="utf-8"?>
<p:sld xmlns:a="http://schemas.openxmlformats.org/drawingml/2006/main" xmlns:r="http://schemas.openxmlformats.org/officeDocument/2006/relationships" xmlns:p="http://schemas.openxmlformats.org/presentationml/2006/main">
  <p:cSld name="Slide 203">
    <p:spTree>
      <p:nvGrpSpPr>
        <p:cNvPr id="1" name=""/>
        <p:cNvGrpSpPr/>
        <p:nvPr/>
      </p:nvGrpSpPr>
      <p:grpSpPr>
        <a:xfrm>
          <a:off x="0" y="0"/>
          <a:ext cx="0" cy="0"/>
          <a:chOff x="0" y="0"/>
          <a:chExt cx="0" cy="0"/>
        </a:xfrm>
      </p:grpSpPr>
      <p:pic>
        <p:nvPicPr>
          <p:cNvPr id="2" name="Image 0" descr="/Users/mac/Desktop/أردوينو/المشاريع والكتب/younes-training/mawaqif/.pptx-cache/s2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name="Slide 20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711135" y="457200"/>
            <a:ext cx="3657600" cy="457200"/>
          </a:xfrm>
          <a:prstGeom prst="roundRect">
            <a:avLst>
              <a:gd name="adj" fmla="val 50000"/>
            </a:avLst>
          </a:prstGeom>
          <a:solidFill>
            <a:srgbClr val="F6EBCF"/>
          </a:solidFill>
          <a:ln/>
        </p:spPr>
      </p:sp>
      <p:sp>
        <p:nvSpPr>
          <p:cNvPr id="3" name="Text 1"/>
          <p:cNvSpPr/>
          <p:nvPr/>
        </p:nvSpPr>
        <p:spPr>
          <a:xfrm>
            <a:off x="7711135" y="457200"/>
            <a:ext cx="365760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وراء كل سلوك حاجة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لماذا فعل بدر ذلك؟</a:t>
            </a:r>
            <a:endParaRPr lang="ar-SA" sz="3800" dirty="0"/>
          </a:p>
        </p:txBody>
      </p:sp>
      <p:sp>
        <p:nvSpPr>
          <p:cNvPr id="5" name="anim-g1-2363"/>
          <p:cNvSpPr/>
          <p:nvPr/>
        </p:nvSpPr>
        <p:spPr>
          <a:xfrm>
            <a:off x="8903741" y="2011680"/>
            <a:ext cx="2464994" cy="2514600"/>
          </a:xfrm>
          <a:prstGeom prst="roundRect">
            <a:avLst>
              <a:gd name="adj" fmla="val 6677"/>
            </a:avLst>
          </a:prstGeom>
          <a:solidFill>
            <a:srgbClr val="FFFFFF"/>
          </a:solidFill>
          <a:ln w="12700">
            <a:solidFill>
              <a:srgbClr val="E4DCC8"/>
            </a:solidFill>
            <a:prstDash val="solid"/>
          </a:ln>
        </p:spPr>
      </p:sp>
      <p:sp>
        <p:nvSpPr>
          <p:cNvPr id="6" name="anim-g1-2364"/>
          <p:cNvSpPr/>
          <p:nvPr/>
        </p:nvSpPr>
        <p:spPr>
          <a:xfrm>
            <a:off x="9816198" y="2194560"/>
            <a:ext cx="640080" cy="640080"/>
          </a:xfrm>
          <a:prstGeom prst="roundRect">
            <a:avLst>
              <a:gd name="adj" fmla="val 25714"/>
            </a:avLst>
          </a:prstGeom>
          <a:solidFill>
            <a:srgbClr val="F7E6BC"/>
          </a:solidFill>
          <a:ln/>
        </p:spPr>
      </p:sp>
      <p:sp>
        <p:nvSpPr>
          <p:cNvPr id="7" name="anim-g1-2365"/>
          <p:cNvSpPr/>
          <p:nvPr/>
        </p:nvSpPr>
        <p:spPr>
          <a:xfrm>
            <a:off x="9816198"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8" name="anim-g1-2366"/>
          <p:cNvSpPr/>
          <p:nvPr/>
        </p:nvSpPr>
        <p:spPr>
          <a:xfrm>
            <a:off x="9040901"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فضول</a:t>
            </a:r>
            <a:endParaRPr lang="ar-SA" sz="2200" dirty="0"/>
          </a:p>
        </p:txBody>
      </p:sp>
      <p:sp>
        <p:nvSpPr>
          <p:cNvPr id="9" name="anim-g1-2367"/>
          <p:cNvSpPr/>
          <p:nvPr/>
        </p:nvSpPr>
        <p:spPr>
          <a:xfrm>
            <a:off x="9040901"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يريد فعلًا أن يعرف الصحيح</a:t>
            </a:r>
            <a:endParaRPr lang="ar-SA" sz="1900" dirty="0"/>
          </a:p>
        </p:txBody>
      </p:sp>
      <p:sp>
        <p:nvSpPr>
          <p:cNvPr id="10" name="anim-g2-2368"/>
          <p:cNvSpPr/>
          <p:nvPr/>
        </p:nvSpPr>
        <p:spPr>
          <a:xfrm>
            <a:off x="6210148" y="2011680"/>
            <a:ext cx="2464994" cy="2514600"/>
          </a:xfrm>
          <a:prstGeom prst="roundRect">
            <a:avLst>
              <a:gd name="adj" fmla="val 6677"/>
            </a:avLst>
          </a:prstGeom>
          <a:solidFill>
            <a:srgbClr val="FFFFFF"/>
          </a:solidFill>
          <a:ln w="12700">
            <a:solidFill>
              <a:srgbClr val="E4DCC8"/>
            </a:solidFill>
            <a:prstDash val="solid"/>
          </a:ln>
        </p:spPr>
      </p:sp>
      <p:sp>
        <p:nvSpPr>
          <p:cNvPr id="11" name="anim-g2-2369"/>
          <p:cNvSpPr/>
          <p:nvPr/>
        </p:nvSpPr>
        <p:spPr>
          <a:xfrm>
            <a:off x="7122604" y="2194560"/>
            <a:ext cx="640080" cy="640080"/>
          </a:xfrm>
          <a:prstGeom prst="roundRect">
            <a:avLst>
              <a:gd name="adj" fmla="val 25714"/>
            </a:avLst>
          </a:prstGeom>
          <a:solidFill>
            <a:srgbClr val="F7E6BC"/>
          </a:solidFill>
          <a:ln/>
        </p:spPr>
      </p:sp>
      <p:sp>
        <p:nvSpPr>
          <p:cNvPr id="12" name="anim-g2-2370"/>
          <p:cNvSpPr/>
          <p:nvPr/>
        </p:nvSpPr>
        <p:spPr>
          <a:xfrm>
            <a:off x="7122604"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13" name="anim-g2-2371"/>
          <p:cNvSpPr/>
          <p:nvPr/>
        </p:nvSpPr>
        <p:spPr>
          <a:xfrm>
            <a:off x="6347308"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إثبات الذات</a:t>
            </a:r>
            <a:endParaRPr lang="ar-SA" sz="2200" dirty="0"/>
          </a:p>
        </p:txBody>
      </p:sp>
      <p:sp>
        <p:nvSpPr>
          <p:cNvPr id="14" name="anim-g2-2372"/>
          <p:cNvSpPr/>
          <p:nvPr/>
        </p:nvSpPr>
        <p:spPr>
          <a:xfrm>
            <a:off x="6347308"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يريد أن يظهر ذكيًا أمام زملائه</a:t>
            </a:r>
            <a:endParaRPr lang="ar-SA" sz="1900" dirty="0"/>
          </a:p>
        </p:txBody>
      </p:sp>
      <p:sp>
        <p:nvSpPr>
          <p:cNvPr id="15" name="anim-g3-2373"/>
          <p:cNvSpPr/>
          <p:nvPr/>
        </p:nvSpPr>
        <p:spPr>
          <a:xfrm>
            <a:off x="3516554" y="2011680"/>
            <a:ext cx="2464994" cy="2514600"/>
          </a:xfrm>
          <a:prstGeom prst="roundRect">
            <a:avLst>
              <a:gd name="adj" fmla="val 6677"/>
            </a:avLst>
          </a:prstGeom>
          <a:solidFill>
            <a:srgbClr val="FFFFFF"/>
          </a:solidFill>
          <a:ln w="12700">
            <a:solidFill>
              <a:srgbClr val="E4DCC8"/>
            </a:solidFill>
            <a:prstDash val="solid"/>
          </a:ln>
        </p:spPr>
      </p:sp>
      <p:sp>
        <p:nvSpPr>
          <p:cNvPr id="16" name="anim-g3-2374"/>
          <p:cNvSpPr/>
          <p:nvPr/>
        </p:nvSpPr>
        <p:spPr>
          <a:xfrm>
            <a:off x="4429011" y="2194560"/>
            <a:ext cx="640080" cy="640080"/>
          </a:xfrm>
          <a:prstGeom prst="roundRect">
            <a:avLst>
              <a:gd name="adj" fmla="val 25714"/>
            </a:avLst>
          </a:prstGeom>
          <a:solidFill>
            <a:srgbClr val="F7E6BC"/>
          </a:solidFill>
          <a:ln/>
        </p:spPr>
      </p:sp>
      <p:sp>
        <p:nvSpPr>
          <p:cNvPr id="17" name="anim-g3-2375"/>
          <p:cNvSpPr/>
          <p:nvPr/>
        </p:nvSpPr>
        <p:spPr>
          <a:xfrm>
            <a:off x="4429011"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18" name="anim-g3-2376"/>
          <p:cNvSpPr/>
          <p:nvPr/>
        </p:nvSpPr>
        <p:spPr>
          <a:xfrm>
            <a:off x="3653714"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اختبار</a:t>
            </a:r>
            <a:endParaRPr lang="ar-SA" sz="2200" dirty="0"/>
          </a:p>
        </p:txBody>
      </p:sp>
      <p:sp>
        <p:nvSpPr>
          <p:cNvPr id="19" name="anim-g3-2377"/>
          <p:cNvSpPr/>
          <p:nvPr/>
        </p:nvSpPr>
        <p:spPr>
          <a:xfrm>
            <a:off x="3653714"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يقيس ردّ فعل المعلم</a:t>
            </a:r>
            <a:endParaRPr lang="ar-SA" sz="1900" dirty="0"/>
          </a:p>
        </p:txBody>
      </p:sp>
      <p:sp>
        <p:nvSpPr>
          <p:cNvPr id="20" name="anim-g4-2378"/>
          <p:cNvSpPr/>
          <p:nvPr/>
        </p:nvSpPr>
        <p:spPr>
          <a:xfrm>
            <a:off x="822960" y="2011680"/>
            <a:ext cx="2464994" cy="2514600"/>
          </a:xfrm>
          <a:prstGeom prst="roundRect">
            <a:avLst>
              <a:gd name="adj" fmla="val 6677"/>
            </a:avLst>
          </a:prstGeom>
          <a:solidFill>
            <a:srgbClr val="FFFFFF"/>
          </a:solidFill>
          <a:ln w="12700">
            <a:solidFill>
              <a:srgbClr val="E4DCC8"/>
            </a:solidFill>
            <a:prstDash val="solid"/>
          </a:ln>
        </p:spPr>
      </p:sp>
      <p:sp>
        <p:nvSpPr>
          <p:cNvPr id="21" name="anim-g4-2379"/>
          <p:cNvSpPr/>
          <p:nvPr/>
        </p:nvSpPr>
        <p:spPr>
          <a:xfrm>
            <a:off x="1735417" y="2194560"/>
            <a:ext cx="640080" cy="640080"/>
          </a:xfrm>
          <a:prstGeom prst="roundRect">
            <a:avLst>
              <a:gd name="adj" fmla="val 25714"/>
            </a:avLst>
          </a:prstGeom>
          <a:solidFill>
            <a:srgbClr val="F7E6BC"/>
          </a:solidFill>
          <a:ln/>
        </p:spPr>
      </p:sp>
      <p:sp>
        <p:nvSpPr>
          <p:cNvPr id="22" name="anim-g4-2380"/>
          <p:cNvSpPr/>
          <p:nvPr/>
        </p:nvSpPr>
        <p:spPr>
          <a:xfrm>
            <a:off x="1735417" y="2194560"/>
            <a:ext cx="640080" cy="640080"/>
          </a:xfrm>
          <a:prstGeom prst="rect">
            <a:avLst/>
          </a:prstGeom>
          <a:noFill/>
          <a:ln/>
        </p:spPr>
        <p:txBody>
          <a:bodyPr wrap="square" lIns="0" tIns="0" rIns="0" bIns="0" rtlCol="0" anchor="ctr">
            <a:normAutofit/>
          </a:bodyPr>
          <a:lstStyle/>
          <a:p>
            <a:pPr rtl="1" algn="ctr" indent="0" marL="0">
              <a:buNone/>
            </a:pPr>
            <a:r>
              <a:rPr lang="ar-SA" altLang="en-US" sz="2600" dirty="0">
                <a:solidFill>
                  <a:srgbClr val="131B34"/>
                </a:solidFill>
                <a:latin typeface="Cairo" pitchFamily="34" charset="0"/>
                <a:ea typeface="Cairo" pitchFamily="34" charset="-122"/>
                <a:cs typeface="Cairo" pitchFamily="34" charset="-120"/>
              </a:rPr>
              <a:t>🌐</a:t>
            </a:r>
            <a:endParaRPr lang="ar-SA" sz="2600" dirty="0"/>
          </a:p>
        </p:txBody>
      </p:sp>
      <p:sp>
        <p:nvSpPr>
          <p:cNvPr id="23" name="anim-g4-2381"/>
          <p:cNvSpPr/>
          <p:nvPr/>
        </p:nvSpPr>
        <p:spPr>
          <a:xfrm>
            <a:off x="960120" y="2926080"/>
            <a:ext cx="2190674" cy="502920"/>
          </a:xfrm>
          <a:prstGeom prst="rect">
            <a:avLst/>
          </a:prstGeom>
          <a:noFill/>
          <a:ln/>
        </p:spPr>
        <p:txBody>
          <a:bodyPr wrap="square" lIns="0" tIns="0" rIns="0" bIns="0" rtlCol="0" anchor="ctr">
            <a:normAutofit/>
          </a:bodyPr>
          <a:lstStyle/>
          <a:p>
            <a:pPr rtl="1" algn="ctr" indent="0" marL="0">
              <a:buNone/>
            </a:pPr>
            <a:r>
              <a:rPr lang="ar-SA" altLang="en-US" sz="2200" dirty="0">
                <a:solidFill>
                  <a:srgbClr val="101B45"/>
                </a:solidFill>
                <a:latin typeface="Cairo Black" pitchFamily="34" charset="0"/>
                <a:ea typeface="Cairo Black" pitchFamily="34" charset="-122"/>
                <a:cs typeface="Cairo Black" pitchFamily="34" charset="-120"/>
              </a:rPr>
              <a:t>ثقة بالشاشة</a:t>
            </a:r>
            <a:endParaRPr lang="ar-SA" sz="2200" dirty="0"/>
          </a:p>
        </p:txBody>
      </p:sp>
      <p:sp>
        <p:nvSpPr>
          <p:cNvPr id="24" name="anim-g4-2382"/>
          <p:cNvSpPr/>
          <p:nvPr/>
        </p:nvSpPr>
        <p:spPr>
          <a:xfrm>
            <a:off x="960120" y="3429000"/>
            <a:ext cx="2190674" cy="1051560"/>
          </a:xfrm>
          <a:prstGeom prst="rect">
            <a:avLst/>
          </a:prstGeom>
          <a:noFill/>
          <a:ln/>
        </p:spPr>
        <p:txBody>
          <a:bodyPr wrap="square" lIns="0" tIns="0" rIns="0" bIns="0" rtlCol="0" anchor="t">
            <a:normAutofit/>
          </a:bodyPr>
          <a:lstStyle/>
          <a:p>
            <a:pPr rtl="1" algn="ctr" indent="0" marL="0">
              <a:buNone/>
            </a:pPr>
            <a:r>
              <a:rPr lang="ar-SA" altLang="en-US" sz="1900" b="1" dirty="0">
                <a:solidFill>
                  <a:srgbClr val="3B4460"/>
                </a:solidFill>
                <a:latin typeface="Cairo" pitchFamily="34" charset="0"/>
                <a:ea typeface="Cairo" pitchFamily="34" charset="-122"/>
                <a:cs typeface="Cairo" pitchFamily="34" charset="-120"/>
              </a:rPr>
              <a:t>يصدّق كل ما يقرؤه على الإنترنت</a:t>
            </a:r>
            <a:endParaRPr lang="ar-SA" sz="1900" dirty="0"/>
          </a:p>
        </p:txBody>
      </p:sp>
      <p:sp>
        <p:nvSpPr>
          <p:cNvPr id="25" name="anim-g5-2383"/>
          <p:cNvSpPr/>
          <p:nvPr/>
        </p:nvSpPr>
        <p:spPr>
          <a:xfrm>
            <a:off x="822960" y="4754880"/>
            <a:ext cx="10545775" cy="1051560"/>
          </a:xfrm>
          <a:prstGeom prst="roundRect">
            <a:avLst>
              <a:gd name="adj" fmla="val 17391"/>
            </a:avLst>
          </a:prstGeom>
          <a:solidFill>
            <a:srgbClr val="101B45"/>
          </a:solidFill>
          <a:ln/>
        </p:spPr>
      </p:sp>
      <p:sp>
        <p:nvSpPr>
          <p:cNvPr id="26" name="anim-g5-2384"/>
          <p:cNvSpPr/>
          <p:nvPr/>
        </p:nvSpPr>
        <p:spPr>
          <a:xfrm>
            <a:off x="1097280" y="4754880"/>
            <a:ext cx="9997135" cy="1051560"/>
          </a:xfrm>
          <a:prstGeom prst="rect">
            <a:avLst/>
          </a:prstGeom>
          <a:noFill/>
          <a:ln/>
        </p:spPr>
        <p:txBody>
          <a:bodyPr wrap="square" lIns="0" tIns="0" rIns="0" bIns="0" rtlCol="0" anchor="ctr">
            <a:normAutofit/>
          </a:bodyPr>
          <a:lstStyle/>
          <a:p>
            <a:pPr algn="ctr" indent="0" marL="0">
              <a:buNone/>
            </a:pPr>
            <a:r>
              <a:rPr lang="ar-SA" altLang="en-US" sz="2200" b="1" dirty="0">
                <a:solidFill>
                  <a:srgbClr val="FFFFFF"/>
                </a:solidFill>
                <a:latin typeface="Cairo" pitchFamily="34" charset="0"/>
                <a:ea typeface="Cairo" pitchFamily="34" charset="-122"/>
                <a:cs typeface="Cairo" pitchFamily="34" charset="-120"/>
              </a:rPr>
              <a:t>💡 المعلم اليوم ليس المصدر الوحيد للمعلومة…</a:t>
            </a:r>
            <a:endParaRPr lang="ar-SA" sz="2200" dirty="0"/>
          </a:p>
          <a:p>
            <a:pPr algn="ctr" indent="0" marL="0">
              <a:buNone/>
            </a:pPr>
            <a:r>
              <a:rPr lang="ar-SA" altLang="en-US" sz="2200" b="1" dirty="0">
                <a:solidFill>
                  <a:srgbClr val="F0CC7A"/>
                </a:solidFill>
                <a:latin typeface="Cairo" pitchFamily="34" charset="0"/>
                <a:ea typeface="Cairo" pitchFamily="34" charset="-122"/>
                <a:cs typeface="Cairo" pitchFamily="34" charset="-120"/>
              </a:rPr>
              <a:t> بل مرشد يعلّم كيف نتحقق منها</a:t>
            </a:r>
            <a:endParaRPr lang="ar-SA" sz="2200" dirty="0"/>
          </a:p>
        </p:txBody>
      </p:sp>
      <p:sp>
        <p:nvSpPr>
          <p:cNvPr id="27" name="Text 2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8" name="Text 2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المعلومة على الشاشة  ·  ٢٠٤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40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205.xml><?xml version="1.0" encoding="utf-8"?>
<p:sld xmlns:a="http://schemas.openxmlformats.org/drawingml/2006/main" xmlns:r="http://schemas.openxmlformats.org/officeDocument/2006/relationships" xmlns:p="http://schemas.openxmlformats.org/presentationml/2006/main">
  <p:cSld name="Slide 20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57439" y="457200"/>
            <a:ext cx="3511296" cy="457200"/>
          </a:xfrm>
          <a:prstGeom prst="roundRect">
            <a:avLst>
              <a:gd name="adj" fmla="val 50000"/>
            </a:avLst>
          </a:prstGeom>
          <a:solidFill>
            <a:srgbClr val="F6EBCF"/>
          </a:solidFill>
          <a:ln/>
        </p:spPr>
      </p:sp>
      <p:sp>
        <p:nvSpPr>
          <p:cNvPr id="3" name="Text 1"/>
          <p:cNvSpPr/>
          <p:nvPr/>
        </p:nvSpPr>
        <p:spPr>
          <a:xfrm>
            <a:off x="7857439" y="457200"/>
            <a:ext cx="351129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ماذا تفعل فورًا؟</a:t>
            </a:r>
            <a:endParaRPr lang="ar-SA" sz="1800" dirty="0"/>
          </a:p>
        </p:txBody>
      </p:sp>
      <p:sp>
        <p:nvSpPr>
          <p:cNvPr id="4" name="Shape 2"/>
          <p:cNvSpPr/>
          <p:nvPr/>
        </p:nvSpPr>
        <p:spPr>
          <a:xfrm>
            <a:off x="822960" y="457200"/>
            <a:ext cx="1737360" cy="457200"/>
          </a:xfrm>
          <a:prstGeom prst="roundRect">
            <a:avLst>
              <a:gd name="adj" fmla="val 50000"/>
            </a:avLst>
          </a:prstGeom>
          <a:solidFill>
            <a:srgbClr val="FBECEC"/>
          </a:solidFill>
          <a:ln/>
        </p:spPr>
      </p:sp>
      <p:sp>
        <p:nvSpPr>
          <p:cNvPr id="5" name="Text 3"/>
          <p:cNvSpPr/>
          <p:nvPr/>
        </p:nvSpPr>
        <p:spPr>
          <a:xfrm>
            <a:off x="822960" y="457200"/>
            <a:ext cx="1737360"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D64545"/>
                </a:solidFill>
                <a:latin typeface="Cairo" pitchFamily="34" charset="0"/>
                <a:ea typeface="Cairo" pitchFamily="34" charset="-122"/>
                <a:cs typeface="Cairo" pitchFamily="34" charset="-120"/>
              </a:rPr>
              <a:t>⏱ ١٠ ثوانٍ</a:t>
            </a:r>
            <a:endParaRPr lang="ar-SA" sz="1600" dirty="0"/>
          </a:p>
        </p:txBody>
      </p:sp>
      <p:sp>
        <p:nvSpPr>
          <p:cNvPr id="6" name="Text 4"/>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أول ١٠ ثوانٍ</a:t>
            </a:r>
            <a:endParaRPr lang="ar-SA" sz="3800" dirty="0"/>
          </a:p>
        </p:txBody>
      </p:sp>
      <p:sp>
        <p:nvSpPr>
          <p:cNvPr id="7" name="anim-g1-2385"/>
          <p:cNvSpPr/>
          <p:nvPr/>
        </p:nvSpPr>
        <p:spPr>
          <a:xfrm>
            <a:off x="8903741" y="2148840"/>
            <a:ext cx="2464994" cy="3383280"/>
          </a:xfrm>
          <a:prstGeom prst="roundRect">
            <a:avLst>
              <a:gd name="adj" fmla="val 6677"/>
            </a:avLst>
          </a:prstGeom>
          <a:solidFill>
            <a:srgbClr val="FFFFFF"/>
          </a:solidFill>
          <a:ln w="12700">
            <a:solidFill>
              <a:srgbClr val="E4DCC8"/>
            </a:solidFill>
            <a:prstDash val="solid"/>
          </a:ln>
        </p:spPr>
      </p:sp>
      <p:sp>
        <p:nvSpPr>
          <p:cNvPr id="8" name="anim-g1-2386"/>
          <p:cNvSpPr/>
          <p:nvPr/>
        </p:nvSpPr>
        <p:spPr>
          <a:xfrm>
            <a:off x="9747618" y="2423160"/>
            <a:ext cx="777240" cy="777240"/>
          </a:xfrm>
          <a:prstGeom prst="ellipse">
            <a:avLst/>
          </a:prstGeom>
          <a:solidFill>
            <a:srgbClr val="D9AE4B"/>
          </a:solidFill>
          <a:ln/>
        </p:spPr>
      </p:sp>
      <p:sp>
        <p:nvSpPr>
          <p:cNvPr id="9" name="anim-g1-2387"/>
          <p:cNvSpPr/>
          <p:nvPr/>
        </p:nvSpPr>
        <p:spPr>
          <a:xfrm>
            <a:off x="9747618"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١</a:t>
            </a:r>
            <a:endParaRPr lang="ar-SA" sz="2800" dirty="0"/>
          </a:p>
        </p:txBody>
      </p:sp>
      <p:sp>
        <p:nvSpPr>
          <p:cNvPr id="10" name="anim-g1-2388"/>
          <p:cNvSpPr/>
          <p:nvPr/>
        </p:nvSpPr>
        <p:spPr>
          <a:xfrm>
            <a:off x="9040901"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اشكره</a:t>
            </a:r>
            <a:endParaRPr lang="ar-SA" sz="2500" dirty="0"/>
          </a:p>
        </p:txBody>
      </p:sp>
      <p:sp>
        <p:nvSpPr>
          <p:cNvPr id="11" name="anim-g1-2389"/>
          <p:cNvSpPr/>
          <p:nvPr/>
        </p:nvSpPr>
        <p:spPr>
          <a:xfrm>
            <a:off x="9086621"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«سؤال رائع يا بدر»</a:t>
            </a:r>
            <a:endParaRPr lang="ar-SA" sz="2000" dirty="0"/>
          </a:p>
        </p:txBody>
      </p:sp>
      <p:sp>
        <p:nvSpPr>
          <p:cNvPr id="12" name="anim-g2-2390"/>
          <p:cNvSpPr/>
          <p:nvPr/>
        </p:nvSpPr>
        <p:spPr>
          <a:xfrm>
            <a:off x="6210148" y="2148840"/>
            <a:ext cx="2464994" cy="3383280"/>
          </a:xfrm>
          <a:prstGeom prst="roundRect">
            <a:avLst>
              <a:gd name="adj" fmla="val 6677"/>
            </a:avLst>
          </a:prstGeom>
          <a:solidFill>
            <a:srgbClr val="FFFFFF"/>
          </a:solidFill>
          <a:ln w="12700">
            <a:solidFill>
              <a:srgbClr val="E4DCC8"/>
            </a:solidFill>
            <a:prstDash val="solid"/>
          </a:ln>
        </p:spPr>
      </p:sp>
      <p:sp>
        <p:nvSpPr>
          <p:cNvPr id="13" name="anim-g2-2391"/>
          <p:cNvSpPr/>
          <p:nvPr/>
        </p:nvSpPr>
        <p:spPr>
          <a:xfrm>
            <a:off x="7054024" y="2423160"/>
            <a:ext cx="777240" cy="777240"/>
          </a:xfrm>
          <a:prstGeom prst="ellipse">
            <a:avLst/>
          </a:prstGeom>
          <a:solidFill>
            <a:srgbClr val="D9AE4B"/>
          </a:solidFill>
          <a:ln/>
        </p:spPr>
      </p:sp>
      <p:sp>
        <p:nvSpPr>
          <p:cNvPr id="14" name="anim-g2-2392"/>
          <p:cNvSpPr/>
          <p:nvPr/>
        </p:nvSpPr>
        <p:spPr>
          <a:xfrm>
            <a:off x="7054024"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٢</a:t>
            </a:r>
            <a:endParaRPr lang="ar-SA" sz="2800" dirty="0"/>
          </a:p>
        </p:txBody>
      </p:sp>
      <p:sp>
        <p:nvSpPr>
          <p:cNvPr id="15" name="anim-g2-2393"/>
          <p:cNvSpPr/>
          <p:nvPr/>
        </p:nvSpPr>
        <p:spPr>
          <a:xfrm>
            <a:off x="6347308"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لا تدافع</a:t>
            </a:r>
            <a:endParaRPr lang="ar-SA" sz="2500" dirty="0"/>
          </a:p>
        </p:txBody>
      </p:sp>
      <p:sp>
        <p:nvSpPr>
          <p:cNvPr id="16" name="anim-g2-2394"/>
          <p:cNvSpPr/>
          <p:nvPr/>
        </p:nvSpPr>
        <p:spPr>
          <a:xfrm>
            <a:off x="6393028"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المهم الحقيقة، لا من المحق</a:t>
            </a:r>
            <a:endParaRPr lang="ar-SA" sz="2000" dirty="0"/>
          </a:p>
        </p:txBody>
      </p:sp>
      <p:sp>
        <p:nvSpPr>
          <p:cNvPr id="17" name="anim-g3-2395"/>
          <p:cNvSpPr/>
          <p:nvPr/>
        </p:nvSpPr>
        <p:spPr>
          <a:xfrm>
            <a:off x="3516554" y="2148840"/>
            <a:ext cx="2464994" cy="3383280"/>
          </a:xfrm>
          <a:prstGeom prst="roundRect">
            <a:avLst>
              <a:gd name="adj" fmla="val 6677"/>
            </a:avLst>
          </a:prstGeom>
          <a:solidFill>
            <a:srgbClr val="FFFFFF"/>
          </a:solidFill>
          <a:ln w="12700">
            <a:solidFill>
              <a:srgbClr val="E4DCC8"/>
            </a:solidFill>
            <a:prstDash val="solid"/>
          </a:ln>
        </p:spPr>
      </p:sp>
      <p:sp>
        <p:nvSpPr>
          <p:cNvPr id="18" name="anim-g3-2396"/>
          <p:cNvSpPr/>
          <p:nvPr/>
        </p:nvSpPr>
        <p:spPr>
          <a:xfrm>
            <a:off x="4360431" y="2423160"/>
            <a:ext cx="777240" cy="777240"/>
          </a:xfrm>
          <a:prstGeom prst="ellipse">
            <a:avLst/>
          </a:prstGeom>
          <a:solidFill>
            <a:srgbClr val="D9AE4B"/>
          </a:solidFill>
          <a:ln/>
        </p:spPr>
      </p:sp>
      <p:sp>
        <p:nvSpPr>
          <p:cNvPr id="19" name="anim-g3-2397"/>
          <p:cNvSpPr/>
          <p:nvPr/>
        </p:nvSpPr>
        <p:spPr>
          <a:xfrm>
            <a:off x="4360431"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٣</a:t>
            </a:r>
            <a:endParaRPr lang="ar-SA" sz="2800" dirty="0"/>
          </a:p>
        </p:txBody>
      </p:sp>
      <p:sp>
        <p:nvSpPr>
          <p:cNvPr id="20" name="anim-g3-2398"/>
          <p:cNvSpPr/>
          <p:nvPr/>
        </p:nvSpPr>
        <p:spPr>
          <a:xfrm>
            <a:off x="3653714"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تحققوا معًا</a:t>
            </a:r>
            <a:endParaRPr lang="ar-SA" sz="2500" dirty="0"/>
          </a:p>
        </p:txBody>
      </p:sp>
      <p:sp>
        <p:nvSpPr>
          <p:cNvPr id="21" name="anim-g3-2399"/>
          <p:cNvSpPr/>
          <p:nvPr/>
        </p:nvSpPr>
        <p:spPr>
          <a:xfrm>
            <a:off x="3699434"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ما المصدر؟ وماذا يقول الكتاب؟ ومصدر ثالث؟</a:t>
            </a:r>
            <a:endParaRPr lang="ar-SA" sz="2000" dirty="0"/>
          </a:p>
        </p:txBody>
      </p:sp>
      <p:sp>
        <p:nvSpPr>
          <p:cNvPr id="22" name="anim-g4-2400"/>
          <p:cNvSpPr/>
          <p:nvPr/>
        </p:nvSpPr>
        <p:spPr>
          <a:xfrm>
            <a:off x="822960" y="2148840"/>
            <a:ext cx="2464994" cy="3383280"/>
          </a:xfrm>
          <a:prstGeom prst="roundRect">
            <a:avLst>
              <a:gd name="adj" fmla="val 6677"/>
            </a:avLst>
          </a:prstGeom>
          <a:solidFill>
            <a:srgbClr val="FFFFFF"/>
          </a:solidFill>
          <a:ln w="12700">
            <a:solidFill>
              <a:srgbClr val="E4DCC8"/>
            </a:solidFill>
            <a:prstDash val="solid"/>
          </a:ln>
        </p:spPr>
      </p:sp>
      <p:sp>
        <p:nvSpPr>
          <p:cNvPr id="23" name="anim-g4-2401"/>
          <p:cNvSpPr/>
          <p:nvPr/>
        </p:nvSpPr>
        <p:spPr>
          <a:xfrm>
            <a:off x="1666837" y="2423160"/>
            <a:ext cx="777240" cy="777240"/>
          </a:xfrm>
          <a:prstGeom prst="ellipse">
            <a:avLst/>
          </a:prstGeom>
          <a:solidFill>
            <a:srgbClr val="D9AE4B"/>
          </a:solidFill>
          <a:ln/>
        </p:spPr>
      </p:sp>
      <p:sp>
        <p:nvSpPr>
          <p:cNvPr id="24" name="anim-g4-2402"/>
          <p:cNvSpPr/>
          <p:nvPr/>
        </p:nvSpPr>
        <p:spPr>
          <a:xfrm>
            <a:off x="1666837" y="2423160"/>
            <a:ext cx="777240" cy="777240"/>
          </a:xfrm>
          <a:prstGeom prst="rect">
            <a:avLst/>
          </a:prstGeom>
          <a:noFill/>
          <a:ln/>
        </p:spPr>
        <p:txBody>
          <a:bodyPr wrap="square" lIns="0" tIns="0" rIns="0" bIns="0" rtlCol="0" anchor="ctr">
            <a:normAutofit/>
          </a:bodyPr>
          <a:lstStyle/>
          <a:p>
            <a:pPr rtl="1" algn="ctr" indent="0" marL="0">
              <a:buNone/>
            </a:pPr>
            <a:r>
              <a:rPr lang="ar-SA" altLang="en-US" sz="2800" dirty="0">
                <a:solidFill>
                  <a:srgbClr val="0A1230"/>
                </a:solidFill>
                <a:latin typeface="Cairo Black" pitchFamily="34" charset="0"/>
                <a:ea typeface="Cairo Black" pitchFamily="34" charset="-122"/>
                <a:cs typeface="Cairo Black" pitchFamily="34" charset="-120"/>
              </a:rPr>
              <a:t>٤</a:t>
            </a:r>
            <a:endParaRPr lang="ar-SA" sz="2800" dirty="0"/>
          </a:p>
        </p:txBody>
      </p:sp>
      <p:sp>
        <p:nvSpPr>
          <p:cNvPr id="25" name="anim-g4-2403"/>
          <p:cNvSpPr/>
          <p:nvPr/>
        </p:nvSpPr>
        <p:spPr>
          <a:xfrm>
            <a:off x="960120" y="3383280"/>
            <a:ext cx="2190674" cy="640080"/>
          </a:xfrm>
          <a:prstGeom prst="rect">
            <a:avLst/>
          </a:prstGeom>
          <a:noFill/>
          <a:ln/>
        </p:spPr>
        <p:txBody>
          <a:bodyPr wrap="square" lIns="0" tIns="0" rIns="0" bIns="0" rtlCol="0" anchor="ctr">
            <a:normAutofit/>
          </a:bodyPr>
          <a:lstStyle/>
          <a:p>
            <a:pPr rtl="1" algn="ctr" indent="0" marL="0">
              <a:buNone/>
            </a:pPr>
            <a:r>
              <a:rPr lang="ar-SA" altLang="en-US" sz="2500" dirty="0">
                <a:solidFill>
                  <a:srgbClr val="101B45"/>
                </a:solidFill>
                <a:latin typeface="Cairo Black" pitchFamily="34" charset="0"/>
                <a:ea typeface="Cairo Black" pitchFamily="34" charset="-122"/>
                <a:cs typeface="Cairo Black" pitchFamily="34" charset="-120"/>
              </a:rPr>
              <a:t>اعترف إن أخطأت</a:t>
            </a:r>
            <a:endParaRPr lang="ar-SA" sz="2500" dirty="0"/>
          </a:p>
        </p:txBody>
      </p:sp>
      <p:sp>
        <p:nvSpPr>
          <p:cNvPr id="26" name="anim-g4-2404"/>
          <p:cNvSpPr/>
          <p:nvPr/>
        </p:nvSpPr>
        <p:spPr>
          <a:xfrm>
            <a:off x="1005840" y="4069080"/>
            <a:ext cx="2099234" cy="1280160"/>
          </a:xfrm>
          <a:prstGeom prst="rect">
            <a:avLst/>
          </a:prstGeom>
          <a:noFill/>
          <a:ln/>
        </p:spPr>
        <p:txBody>
          <a:bodyPr wrap="square" lIns="0" tIns="0" rIns="0" bIns="0" rtlCol="0" anchor="t">
            <a:normAutofit/>
          </a:bodyPr>
          <a:lstStyle/>
          <a:p>
            <a:pPr rtl="1" algn="ctr" indent="0" marL="0">
              <a:buNone/>
            </a:pPr>
            <a:r>
              <a:rPr lang="ar-SA" altLang="en-US" sz="2000" b="1" dirty="0">
                <a:solidFill>
                  <a:srgbClr val="3B4460"/>
                </a:solidFill>
                <a:latin typeface="Cairo" pitchFamily="34" charset="0"/>
                <a:ea typeface="Cairo" pitchFamily="34" charset="-122"/>
                <a:cs typeface="Cairo" pitchFamily="34" charset="-120"/>
              </a:rPr>
              <a:t>«تعلمت منك اليوم»</a:t>
            </a:r>
            <a:endParaRPr lang="ar-SA" sz="2000" dirty="0"/>
          </a:p>
        </p:txBody>
      </p:sp>
      <p:sp>
        <p:nvSpPr>
          <p:cNvPr id="27" name="Text 2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8" name="Text 2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المعلومة على الشاشة  ·  ٢٠٥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400"/>
                                        <p:tgtEl>
                                          <p:spTgt spid="1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40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4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400"/>
                                        <p:tgtEl>
                                          <p:spTgt spid="1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400"/>
                                        <p:tgtEl>
                                          <p:spTgt spid="2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400"/>
                                        <p:tgtEl>
                                          <p:spTgt spid="21"/>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400"/>
                                        <p:tgtEl>
                                          <p:spTgt spid="2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400"/>
                                        <p:tgtEl>
                                          <p:spTgt spid="2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400"/>
                                        <p:tgtEl>
                                          <p:spTgt spid="2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400"/>
                                        <p:tgtEl>
                                          <p:spTgt spid="2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206.xml><?xml version="1.0" encoding="utf-8"?>
<p:sld xmlns:a="http://schemas.openxmlformats.org/drawingml/2006/main" xmlns:r="http://schemas.openxmlformats.org/officeDocument/2006/relationships" xmlns:p="http://schemas.openxmlformats.org/presentationml/2006/main">
  <p:cSld name="Slide 20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588959" y="457200"/>
            <a:ext cx="2779776" cy="457200"/>
          </a:xfrm>
          <a:prstGeom prst="roundRect">
            <a:avLst>
              <a:gd name="adj" fmla="val 50000"/>
            </a:avLst>
          </a:prstGeom>
          <a:solidFill>
            <a:srgbClr val="F6EBCF"/>
          </a:solidFill>
          <a:ln/>
        </p:spPr>
      </p:sp>
      <p:sp>
        <p:nvSpPr>
          <p:cNvPr id="3" name="Text 1"/>
          <p:cNvSpPr/>
          <p:nvPr/>
        </p:nvSpPr>
        <p:spPr>
          <a:xfrm>
            <a:off x="8588959" y="457200"/>
            <a:ext cx="277977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الجُمل الجاهزة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ماذا تقول بالحرف؟</a:t>
            </a:r>
            <a:endParaRPr lang="ar-SA" sz="3800" dirty="0"/>
          </a:p>
        </p:txBody>
      </p:sp>
      <p:sp>
        <p:nvSpPr>
          <p:cNvPr id="5" name="anim-g1-2405"/>
          <p:cNvSpPr/>
          <p:nvPr/>
        </p:nvSpPr>
        <p:spPr>
          <a:xfrm>
            <a:off x="9768535" y="2130552"/>
            <a:ext cx="1600200" cy="819912"/>
          </a:xfrm>
          <a:prstGeom prst="roundRect">
            <a:avLst>
              <a:gd name="adj" fmla="val 16729"/>
            </a:avLst>
          </a:prstGeom>
          <a:solidFill>
            <a:srgbClr val="E9EDF9"/>
          </a:solidFill>
          <a:ln/>
        </p:spPr>
      </p:sp>
      <p:sp>
        <p:nvSpPr>
          <p:cNvPr id="6" name="anim-g1-2406"/>
          <p:cNvSpPr/>
          <p:nvPr/>
        </p:nvSpPr>
        <p:spPr>
          <a:xfrm>
            <a:off x="9814255" y="2130552"/>
            <a:ext cx="1508760" cy="81991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فورًا</a:t>
            </a:r>
            <a:endParaRPr lang="ar-SA" sz="1800" dirty="0"/>
          </a:p>
        </p:txBody>
      </p:sp>
      <p:sp>
        <p:nvSpPr>
          <p:cNvPr id="7" name="anim-g1-2407"/>
          <p:cNvSpPr/>
          <p:nvPr/>
        </p:nvSpPr>
        <p:spPr>
          <a:xfrm>
            <a:off x="822960" y="2057400"/>
            <a:ext cx="8716975" cy="966216"/>
          </a:xfrm>
          <a:prstGeom prst="roundRect">
            <a:avLst>
              <a:gd name="adj" fmla="val 20820"/>
            </a:avLst>
          </a:prstGeom>
          <a:solidFill>
            <a:srgbClr val="101B45"/>
          </a:solidFill>
          <a:ln/>
        </p:spPr>
      </p:sp>
      <p:sp>
        <p:nvSpPr>
          <p:cNvPr id="8" name="anim-g1-2408"/>
          <p:cNvSpPr/>
          <p:nvPr/>
        </p:nvSpPr>
        <p:spPr>
          <a:xfrm>
            <a:off x="1097280" y="2057400"/>
            <a:ext cx="8168335" cy="966216"/>
          </a:xfrm>
          <a:prstGeom prst="rect">
            <a:avLst/>
          </a:prstGeom>
          <a:noFill/>
          <a:ln/>
        </p:spPr>
        <p:txBody>
          <a:bodyPr wrap="square" lIns="0" tIns="0" rIns="0" bIns="0" rtlCol="0" anchor="ctr">
            <a:normAutofit/>
          </a:bodyPr>
          <a:lstStyle/>
          <a:p>
            <a:pPr algn="r" indent="0" marL="0">
              <a:buNone/>
            </a:pPr>
            <a:r>
              <a:rPr lang="ar-SA" altLang="en-US" sz="2200" b="1" dirty="0">
                <a:solidFill>
                  <a:srgbClr val="D9AE4B"/>
                </a:solidFill>
                <a:latin typeface="Cairo" pitchFamily="34" charset="0"/>
                <a:ea typeface="Cairo" pitchFamily="34" charset="-122"/>
                <a:cs typeface="Cairo" pitchFamily="34" charset="-120"/>
              </a:rPr>
              <a:t>« </a:t>
            </a:r>
            <a:pPr algn="r" indent="0" marL="0">
              <a:buNone/>
            </a:pPr>
            <a:r>
              <a:rPr lang="ar-SA" altLang="en-US" sz="2200" b="1" dirty="0">
                <a:solidFill>
                  <a:srgbClr val="FFFFFF"/>
                </a:solidFill>
                <a:latin typeface="Cairo" pitchFamily="34" charset="0"/>
                <a:ea typeface="Cairo" pitchFamily="34" charset="-122"/>
                <a:cs typeface="Cairo" pitchFamily="34" charset="-120"/>
              </a:rPr>
              <a:t>سؤال ممتاز يا بدر! تعالوا نتحقق معًا: من أين هذه المعلومة؟</a:t>
            </a:r>
            <a:pPr algn="r" indent="0" marL="0">
              <a:buNone/>
            </a:pPr>
            <a:r>
              <a:rPr lang="ar-SA" altLang="en-US" sz="2200" b="1" dirty="0">
                <a:solidFill>
                  <a:srgbClr val="D9AE4B"/>
                </a:solidFill>
                <a:latin typeface="Cairo" pitchFamily="34" charset="0"/>
                <a:ea typeface="Cairo" pitchFamily="34" charset="-122"/>
                <a:cs typeface="Cairo" pitchFamily="34" charset="-120"/>
              </a:rPr>
              <a:t> »</a:t>
            </a:r>
            <a:endParaRPr lang="ar-SA" sz="2200" dirty="0"/>
          </a:p>
        </p:txBody>
      </p:sp>
      <p:sp>
        <p:nvSpPr>
          <p:cNvPr id="9" name="anim-g2-2409"/>
          <p:cNvSpPr/>
          <p:nvPr/>
        </p:nvSpPr>
        <p:spPr>
          <a:xfrm>
            <a:off x="9768535" y="3243072"/>
            <a:ext cx="1600200" cy="819912"/>
          </a:xfrm>
          <a:prstGeom prst="roundRect">
            <a:avLst>
              <a:gd name="adj" fmla="val 16729"/>
            </a:avLst>
          </a:prstGeom>
          <a:solidFill>
            <a:srgbClr val="E9EDF9"/>
          </a:solidFill>
          <a:ln/>
        </p:spPr>
      </p:sp>
      <p:sp>
        <p:nvSpPr>
          <p:cNvPr id="10" name="anim-g2-2410"/>
          <p:cNvSpPr/>
          <p:nvPr/>
        </p:nvSpPr>
        <p:spPr>
          <a:xfrm>
            <a:off x="9814255" y="3243072"/>
            <a:ext cx="1508760" cy="81991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إن كان محقًّا</a:t>
            </a:r>
            <a:endParaRPr lang="ar-SA" sz="1800" dirty="0"/>
          </a:p>
        </p:txBody>
      </p:sp>
      <p:sp>
        <p:nvSpPr>
          <p:cNvPr id="11" name="anim-g2-2411"/>
          <p:cNvSpPr/>
          <p:nvPr/>
        </p:nvSpPr>
        <p:spPr>
          <a:xfrm>
            <a:off x="822960" y="3169920"/>
            <a:ext cx="8716975" cy="966216"/>
          </a:xfrm>
          <a:prstGeom prst="roundRect">
            <a:avLst>
              <a:gd name="adj" fmla="val 20820"/>
            </a:avLst>
          </a:prstGeom>
          <a:solidFill>
            <a:srgbClr val="101B45"/>
          </a:solidFill>
          <a:ln/>
        </p:spPr>
      </p:sp>
      <p:sp>
        <p:nvSpPr>
          <p:cNvPr id="12" name="anim-g2-2412"/>
          <p:cNvSpPr/>
          <p:nvPr/>
        </p:nvSpPr>
        <p:spPr>
          <a:xfrm>
            <a:off x="1097280" y="3169920"/>
            <a:ext cx="8168335" cy="966216"/>
          </a:xfrm>
          <a:prstGeom prst="rect">
            <a:avLst/>
          </a:prstGeom>
          <a:noFill/>
          <a:ln/>
        </p:spPr>
        <p:txBody>
          <a:bodyPr wrap="square" lIns="0" tIns="0" rIns="0" bIns="0" rtlCol="0" anchor="ctr">
            <a:normAutofit/>
          </a:bodyPr>
          <a:lstStyle/>
          <a:p>
            <a:pPr algn="r" indent="0" marL="0">
              <a:buNone/>
            </a:pPr>
            <a:r>
              <a:rPr lang="ar-SA" altLang="en-US" sz="2200" b="1" dirty="0">
                <a:solidFill>
                  <a:srgbClr val="D9AE4B"/>
                </a:solidFill>
                <a:latin typeface="Cairo" pitchFamily="34" charset="0"/>
                <a:ea typeface="Cairo" pitchFamily="34" charset="-122"/>
                <a:cs typeface="Cairo" pitchFamily="34" charset="-120"/>
              </a:rPr>
              <a:t>« </a:t>
            </a:r>
            <a:pPr algn="r" indent="0" marL="0">
              <a:buNone/>
            </a:pPr>
            <a:r>
              <a:rPr lang="ar-SA" altLang="en-US" sz="2200" b="1" dirty="0">
                <a:solidFill>
                  <a:srgbClr val="FFFFFF"/>
                </a:solidFill>
                <a:latin typeface="Cairo" pitchFamily="34" charset="0"/>
                <a:ea typeface="Cairo" pitchFamily="34" charset="-122"/>
                <a:cs typeface="Cairo" pitchFamily="34" charset="-120"/>
              </a:rPr>
              <a:t>معك حق، وأشكرك. هكذا يتعلم العلماء: يراجعون ويصححون</a:t>
            </a:r>
            <a:pPr algn="r" indent="0" marL="0">
              <a:buNone/>
            </a:pPr>
            <a:r>
              <a:rPr lang="ar-SA" altLang="en-US" sz="2200" b="1" dirty="0">
                <a:solidFill>
                  <a:srgbClr val="D9AE4B"/>
                </a:solidFill>
                <a:latin typeface="Cairo" pitchFamily="34" charset="0"/>
                <a:ea typeface="Cairo" pitchFamily="34" charset="-122"/>
                <a:cs typeface="Cairo" pitchFamily="34" charset="-120"/>
              </a:rPr>
              <a:t> »</a:t>
            </a:r>
            <a:endParaRPr lang="ar-SA" sz="2200" dirty="0"/>
          </a:p>
        </p:txBody>
      </p:sp>
      <p:sp>
        <p:nvSpPr>
          <p:cNvPr id="13" name="anim-g3-2413"/>
          <p:cNvSpPr/>
          <p:nvPr/>
        </p:nvSpPr>
        <p:spPr>
          <a:xfrm>
            <a:off x="9768535" y="4355592"/>
            <a:ext cx="1600200" cy="819912"/>
          </a:xfrm>
          <a:prstGeom prst="roundRect">
            <a:avLst>
              <a:gd name="adj" fmla="val 16729"/>
            </a:avLst>
          </a:prstGeom>
          <a:solidFill>
            <a:srgbClr val="E9EDF9"/>
          </a:solidFill>
          <a:ln/>
        </p:spPr>
      </p:sp>
      <p:sp>
        <p:nvSpPr>
          <p:cNvPr id="14" name="anim-g3-2414"/>
          <p:cNvSpPr/>
          <p:nvPr/>
        </p:nvSpPr>
        <p:spPr>
          <a:xfrm>
            <a:off x="9814255" y="4355592"/>
            <a:ext cx="1508760" cy="819912"/>
          </a:xfrm>
          <a:prstGeom prst="rect">
            <a:avLst/>
          </a:prstGeom>
          <a:noFill/>
          <a:ln/>
        </p:spPr>
        <p:txBody>
          <a:bodyPr wrap="square" lIns="0" tIns="0" rIns="0" bIns="0" rtlCol="0" anchor="ctr">
            <a:normAutofit/>
          </a:bodyPr>
          <a:lstStyle/>
          <a:p>
            <a:pPr rtl="1" algn="ctr" indent="0" marL="0">
              <a:buNone/>
            </a:pPr>
            <a:r>
              <a:rPr lang="ar-SA" altLang="en-US" sz="1800" b="1" dirty="0">
                <a:solidFill>
                  <a:srgbClr val="22346F"/>
                </a:solidFill>
                <a:latin typeface="Cairo" pitchFamily="34" charset="0"/>
                <a:ea typeface="Cairo" pitchFamily="34" charset="-122"/>
                <a:cs typeface="Cairo" pitchFamily="34" charset="-120"/>
              </a:rPr>
              <a:t>إن كان المصدر ضعيفًا</a:t>
            </a:r>
            <a:endParaRPr lang="ar-SA" sz="1800" dirty="0"/>
          </a:p>
        </p:txBody>
      </p:sp>
      <p:sp>
        <p:nvSpPr>
          <p:cNvPr id="15" name="anim-g3-2415"/>
          <p:cNvSpPr/>
          <p:nvPr/>
        </p:nvSpPr>
        <p:spPr>
          <a:xfrm>
            <a:off x="822960" y="4282440"/>
            <a:ext cx="8716975" cy="966216"/>
          </a:xfrm>
          <a:prstGeom prst="roundRect">
            <a:avLst>
              <a:gd name="adj" fmla="val 20820"/>
            </a:avLst>
          </a:prstGeom>
          <a:solidFill>
            <a:srgbClr val="101B45"/>
          </a:solidFill>
          <a:ln/>
        </p:spPr>
      </p:sp>
      <p:sp>
        <p:nvSpPr>
          <p:cNvPr id="16" name="anim-g3-2416"/>
          <p:cNvSpPr/>
          <p:nvPr/>
        </p:nvSpPr>
        <p:spPr>
          <a:xfrm>
            <a:off x="1097280" y="4282440"/>
            <a:ext cx="8168335" cy="966216"/>
          </a:xfrm>
          <a:prstGeom prst="rect">
            <a:avLst/>
          </a:prstGeom>
          <a:noFill/>
          <a:ln/>
        </p:spPr>
        <p:txBody>
          <a:bodyPr wrap="square" lIns="0" tIns="0" rIns="0" bIns="0" rtlCol="0" anchor="ctr">
            <a:normAutofit/>
          </a:bodyPr>
          <a:lstStyle/>
          <a:p>
            <a:pPr algn="r" indent="0" marL="0">
              <a:buNone/>
            </a:pPr>
            <a:r>
              <a:rPr lang="ar-SA" altLang="en-US" sz="2200" b="1" dirty="0">
                <a:solidFill>
                  <a:srgbClr val="D9AE4B"/>
                </a:solidFill>
                <a:latin typeface="Cairo" pitchFamily="34" charset="0"/>
                <a:ea typeface="Cairo" pitchFamily="34" charset="-122"/>
                <a:cs typeface="Cairo" pitchFamily="34" charset="-120"/>
              </a:rPr>
              <a:t>« </a:t>
            </a:r>
            <a:pPr algn="r" indent="0" marL="0">
              <a:buNone/>
            </a:pPr>
            <a:r>
              <a:rPr lang="ar-SA" altLang="en-US" sz="2200" b="1" dirty="0">
                <a:solidFill>
                  <a:srgbClr val="FFFFFF"/>
                </a:solidFill>
                <a:latin typeface="Cairo" pitchFamily="34" charset="0"/>
                <a:ea typeface="Cairo" pitchFamily="34" charset="-122"/>
                <a:cs typeface="Cairo" pitchFamily="34" charset="-120"/>
              </a:rPr>
              <a:t>لاحظوا: هذا الموقع غير موثوق. ما علامات المصدر الذي نثق به؟</a:t>
            </a:r>
            <a:pPr algn="r" indent="0" marL="0">
              <a:buNone/>
            </a:pPr>
            <a:r>
              <a:rPr lang="ar-SA" altLang="en-US" sz="2200" b="1" dirty="0">
                <a:solidFill>
                  <a:srgbClr val="D9AE4B"/>
                </a:solidFill>
                <a:latin typeface="Cairo" pitchFamily="34" charset="0"/>
                <a:ea typeface="Cairo" pitchFamily="34" charset="-122"/>
                <a:cs typeface="Cairo" pitchFamily="34" charset="-120"/>
              </a:rPr>
              <a:t> »</a:t>
            </a:r>
            <a:endParaRPr lang="ar-SA" sz="2200" dirty="0"/>
          </a:p>
        </p:txBody>
      </p:sp>
      <p:sp>
        <p:nvSpPr>
          <p:cNvPr id="17" name="anim-g4-2417"/>
          <p:cNvSpPr/>
          <p:nvPr/>
        </p:nvSpPr>
        <p:spPr>
          <a:xfrm>
            <a:off x="822960" y="5532120"/>
            <a:ext cx="10545775" cy="548640"/>
          </a:xfrm>
          <a:prstGeom prst="roundRect">
            <a:avLst>
              <a:gd name="adj" fmla="val 20000"/>
            </a:avLst>
          </a:prstGeom>
          <a:solidFill>
            <a:srgbClr val="FBECEC"/>
          </a:solidFill>
          <a:ln/>
        </p:spPr>
      </p:sp>
      <p:sp>
        <p:nvSpPr>
          <p:cNvPr id="18" name="anim-g4-2418"/>
          <p:cNvSpPr/>
          <p:nvPr/>
        </p:nvSpPr>
        <p:spPr>
          <a:xfrm>
            <a:off x="11295583" y="5532120"/>
            <a:ext cx="73152" cy="548640"/>
          </a:xfrm>
          <a:prstGeom prst="rect">
            <a:avLst/>
          </a:prstGeom>
          <a:solidFill>
            <a:srgbClr val="D64545"/>
          </a:solidFill>
          <a:ln/>
        </p:spPr>
      </p:sp>
      <p:sp>
        <p:nvSpPr>
          <p:cNvPr id="19" name="anim-g4-2419"/>
          <p:cNvSpPr/>
          <p:nvPr/>
        </p:nvSpPr>
        <p:spPr>
          <a:xfrm>
            <a:off x="1005840" y="5532120"/>
            <a:ext cx="10088575" cy="548640"/>
          </a:xfrm>
          <a:prstGeom prst="rect">
            <a:avLst/>
          </a:prstGeom>
          <a:noFill/>
          <a:ln/>
        </p:spPr>
        <p:txBody>
          <a:bodyPr wrap="square" lIns="0" tIns="0" rIns="0" bIns="0" rtlCol="0" anchor="ctr">
            <a:normAutofit/>
          </a:bodyPr>
          <a:lstStyle/>
          <a:p>
            <a:pPr rtl="1" algn="r" indent="0" marL="0">
              <a:buNone/>
            </a:pPr>
            <a:r>
              <a:rPr lang="ar-SA" altLang="en-US" sz="1900" b="1" dirty="0">
                <a:solidFill>
                  <a:srgbClr val="8E2A2A"/>
                </a:solidFill>
                <a:latin typeface="Cairo" pitchFamily="34" charset="0"/>
                <a:ea typeface="Cairo" pitchFamily="34" charset="-122"/>
                <a:cs typeface="Cairo" pitchFamily="34" charset="-120"/>
              </a:rPr>
              <a:t>⚠️ تجنّب: «أنا المعلم، وكلامي هو الصحيح»</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المعلومة على الشاشة  ·  ٢٠٦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207.xml><?xml version="1.0" encoding="utf-8"?>
<p:sld xmlns:a="http://schemas.openxmlformats.org/drawingml/2006/main" xmlns:r="http://schemas.openxmlformats.org/officeDocument/2006/relationships" xmlns:p="http://schemas.openxmlformats.org/presentationml/2006/main">
  <p:cSld name="Slide 20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5486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أخطاء شائعة… وبدائلها</a:t>
            </a:r>
            <a:endParaRPr lang="ar-SA" sz="3800" dirty="0"/>
          </a:p>
        </p:txBody>
      </p:sp>
      <p:sp>
        <p:nvSpPr>
          <p:cNvPr id="3" name="Text 1"/>
          <p:cNvSpPr/>
          <p:nvPr/>
        </p:nvSpPr>
        <p:spPr>
          <a:xfrm>
            <a:off x="6415888"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D64545"/>
                </a:solidFill>
                <a:latin typeface="Cairo Black" pitchFamily="34" charset="0"/>
                <a:ea typeface="Cairo Black" pitchFamily="34" charset="-122"/>
                <a:cs typeface="Cairo Black" pitchFamily="34" charset="-120"/>
              </a:rPr>
              <a:t>❌ الخطأ الشائع</a:t>
            </a:r>
            <a:endParaRPr lang="ar-SA" sz="2100" dirty="0"/>
          </a:p>
        </p:txBody>
      </p:sp>
      <p:sp>
        <p:nvSpPr>
          <p:cNvPr id="4" name="Text 2"/>
          <p:cNvSpPr/>
          <p:nvPr/>
        </p:nvSpPr>
        <p:spPr>
          <a:xfrm>
            <a:off x="822960"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2E9E6B"/>
                </a:solidFill>
                <a:latin typeface="Cairo Black" pitchFamily="34" charset="0"/>
                <a:ea typeface="Cairo Black" pitchFamily="34" charset="-122"/>
                <a:cs typeface="Cairo Black" pitchFamily="34" charset="-120"/>
              </a:rPr>
              <a:t>✅ البديل</a:t>
            </a:r>
            <a:endParaRPr lang="ar-SA" sz="2100" dirty="0"/>
          </a:p>
        </p:txBody>
      </p:sp>
      <p:sp>
        <p:nvSpPr>
          <p:cNvPr id="5" name="anim-g1-2420"/>
          <p:cNvSpPr/>
          <p:nvPr/>
        </p:nvSpPr>
        <p:spPr>
          <a:xfrm>
            <a:off x="6415888" y="2194560"/>
            <a:ext cx="4952848" cy="804672"/>
          </a:xfrm>
          <a:prstGeom prst="roundRect">
            <a:avLst>
              <a:gd name="adj" fmla="val 15909"/>
            </a:avLst>
          </a:prstGeom>
          <a:solidFill>
            <a:srgbClr val="FBECEC"/>
          </a:solidFill>
          <a:ln/>
        </p:spPr>
      </p:sp>
      <p:sp>
        <p:nvSpPr>
          <p:cNvPr id="6" name="anim-g1-2421"/>
          <p:cNvSpPr/>
          <p:nvPr/>
        </p:nvSpPr>
        <p:spPr>
          <a:xfrm>
            <a:off x="6644488"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الدفاع عن الخطأ حفاظًا على الهيبة</a:t>
            </a:r>
            <a:endParaRPr lang="ar-SA" sz="2200" dirty="0"/>
          </a:p>
        </p:txBody>
      </p:sp>
      <p:sp>
        <p:nvSpPr>
          <p:cNvPr id="7" name="anim-g1-2422"/>
          <p:cNvSpPr/>
          <p:nvPr/>
        </p:nvSpPr>
        <p:spPr>
          <a:xfrm>
            <a:off x="822960" y="2194560"/>
            <a:ext cx="4952848" cy="804672"/>
          </a:xfrm>
          <a:prstGeom prst="roundRect">
            <a:avLst>
              <a:gd name="adj" fmla="val 15909"/>
            </a:avLst>
          </a:prstGeom>
          <a:solidFill>
            <a:srgbClr val="FFFFFF"/>
          </a:solidFill>
          <a:ln w="19050">
            <a:solidFill>
              <a:srgbClr val="BFD9CB"/>
            </a:solidFill>
            <a:prstDash val="dash"/>
          </a:ln>
        </p:spPr>
      </p:sp>
      <p:sp>
        <p:nvSpPr>
          <p:cNvPr id="8" name="anim-g1-2423"/>
          <p:cNvSpPr/>
          <p:nvPr/>
        </p:nvSpPr>
        <p:spPr>
          <a:xfrm>
            <a:off x="822960" y="219456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9" name="anim-g2-2424"/>
          <p:cNvSpPr/>
          <p:nvPr/>
        </p:nvSpPr>
        <p:spPr>
          <a:xfrm>
            <a:off x="5775808" y="219456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0" name="anim-g2-2425"/>
          <p:cNvSpPr/>
          <p:nvPr/>
        </p:nvSpPr>
        <p:spPr>
          <a:xfrm>
            <a:off x="822960" y="2194560"/>
            <a:ext cx="4952848" cy="804672"/>
          </a:xfrm>
          <a:prstGeom prst="roundRect">
            <a:avLst>
              <a:gd name="adj" fmla="val 15909"/>
            </a:avLst>
          </a:prstGeom>
          <a:solidFill>
            <a:srgbClr val="E6F4EC"/>
          </a:solidFill>
          <a:ln/>
        </p:spPr>
      </p:sp>
      <p:sp>
        <p:nvSpPr>
          <p:cNvPr id="11" name="anim-g2-2426"/>
          <p:cNvSpPr/>
          <p:nvPr/>
        </p:nvSpPr>
        <p:spPr>
          <a:xfrm>
            <a:off x="1051560"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الاعتراف بالخطأ يرفع الهيبة</a:t>
            </a:r>
            <a:endParaRPr lang="ar-SA" sz="2200" dirty="0"/>
          </a:p>
        </p:txBody>
      </p:sp>
      <p:sp>
        <p:nvSpPr>
          <p:cNvPr id="12" name="anim-g3-2427"/>
          <p:cNvSpPr/>
          <p:nvPr/>
        </p:nvSpPr>
        <p:spPr>
          <a:xfrm>
            <a:off x="6415888" y="3154680"/>
            <a:ext cx="4952848" cy="804672"/>
          </a:xfrm>
          <a:prstGeom prst="roundRect">
            <a:avLst>
              <a:gd name="adj" fmla="val 15909"/>
            </a:avLst>
          </a:prstGeom>
          <a:solidFill>
            <a:srgbClr val="FBECEC"/>
          </a:solidFill>
          <a:ln/>
        </p:spPr>
      </p:sp>
      <p:sp>
        <p:nvSpPr>
          <p:cNvPr id="13" name="anim-g3-2428"/>
          <p:cNvSpPr/>
          <p:nvPr/>
        </p:nvSpPr>
        <p:spPr>
          <a:xfrm>
            <a:off x="6644488"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اعتبار السؤال تحديًا شخصيًا</a:t>
            </a:r>
            <a:endParaRPr lang="ar-SA" sz="2200" dirty="0"/>
          </a:p>
        </p:txBody>
      </p:sp>
      <p:sp>
        <p:nvSpPr>
          <p:cNvPr id="14" name="anim-g3-2429"/>
          <p:cNvSpPr/>
          <p:nvPr/>
        </p:nvSpPr>
        <p:spPr>
          <a:xfrm>
            <a:off x="822960" y="3154680"/>
            <a:ext cx="4952848" cy="804672"/>
          </a:xfrm>
          <a:prstGeom prst="roundRect">
            <a:avLst>
              <a:gd name="adj" fmla="val 15909"/>
            </a:avLst>
          </a:prstGeom>
          <a:solidFill>
            <a:srgbClr val="FFFFFF"/>
          </a:solidFill>
          <a:ln w="19050">
            <a:solidFill>
              <a:srgbClr val="BFD9CB"/>
            </a:solidFill>
            <a:prstDash val="dash"/>
          </a:ln>
        </p:spPr>
      </p:sp>
      <p:sp>
        <p:nvSpPr>
          <p:cNvPr id="15" name="anim-g3-2430"/>
          <p:cNvSpPr/>
          <p:nvPr/>
        </p:nvSpPr>
        <p:spPr>
          <a:xfrm>
            <a:off x="822960" y="315468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16" name="anim-g4-2431"/>
          <p:cNvSpPr/>
          <p:nvPr/>
        </p:nvSpPr>
        <p:spPr>
          <a:xfrm>
            <a:off x="5775808" y="315468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7" name="anim-g4-2432"/>
          <p:cNvSpPr/>
          <p:nvPr/>
        </p:nvSpPr>
        <p:spPr>
          <a:xfrm>
            <a:off x="822960" y="3154680"/>
            <a:ext cx="4952848" cy="804672"/>
          </a:xfrm>
          <a:prstGeom prst="roundRect">
            <a:avLst>
              <a:gd name="adj" fmla="val 15909"/>
            </a:avLst>
          </a:prstGeom>
          <a:solidFill>
            <a:srgbClr val="E6F4EC"/>
          </a:solidFill>
          <a:ln/>
        </p:spPr>
      </p:sp>
      <p:sp>
        <p:nvSpPr>
          <p:cNvPr id="18" name="anim-g4-2433"/>
          <p:cNvSpPr/>
          <p:nvPr/>
        </p:nvSpPr>
        <p:spPr>
          <a:xfrm>
            <a:off x="1051560"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اعتباره فرصة تعليمية</a:t>
            </a:r>
            <a:endParaRPr lang="ar-SA" sz="2200" dirty="0"/>
          </a:p>
        </p:txBody>
      </p:sp>
      <p:sp>
        <p:nvSpPr>
          <p:cNvPr id="19" name="anim-g5-2434"/>
          <p:cNvSpPr/>
          <p:nvPr/>
        </p:nvSpPr>
        <p:spPr>
          <a:xfrm>
            <a:off x="6415888" y="4114800"/>
            <a:ext cx="4952848" cy="804672"/>
          </a:xfrm>
          <a:prstGeom prst="roundRect">
            <a:avLst>
              <a:gd name="adj" fmla="val 15909"/>
            </a:avLst>
          </a:prstGeom>
          <a:solidFill>
            <a:srgbClr val="FBECEC"/>
          </a:solidFill>
          <a:ln/>
        </p:spPr>
      </p:sp>
      <p:sp>
        <p:nvSpPr>
          <p:cNvPr id="20" name="anim-g5-2435"/>
          <p:cNvSpPr/>
          <p:nvPr/>
        </p:nvSpPr>
        <p:spPr>
          <a:xfrm>
            <a:off x="6644488"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منع الأسئلة من الإنترنت</a:t>
            </a:r>
            <a:endParaRPr lang="ar-SA" sz="2200" dirty="0"/>
          </a:p>
        </p:txBody>
      </p:sp>
      <p:sp>
        <p:nvSpPr>
          <p:cNvPr id="21" name="anim-g5-2436"/>
          <p:cNvSpPr/>
          <p:nvPr/>
        </p:nvSpPr>
        <p:spPr>
          <a:xfrm>
            <a:off x="822960" y="4114800"/>
            <a:ext cx="4952848" cy="804672"/>
          </a:xfrm>
          <a:prstGeom prst="roundRect">
            <a:avLst>
              <a:gd name="adj" fmla="val 15909"/>
            </a:avLst>
          </a:prstGeom>
          <a:solidFill>
            <a:srgbClr val="FFFFFF"/>
          </a:solidFill>
          <a:ln w="19050">
            <a:solidFill>
              <a:srgbClr val="BFD9CB"/>
            </a:solidFill>
            <a:prstDash val="dash"/>
          </a:ln>
        </p:spPr>
      </p:sp>
      <p:sp>
        <p:nvSpPr>
          <p:cNvPr id="22" name="anim-g5-2437"/>
          <p:cNvSpPr/>
          <p:nvPr/>
        </p:nvSpPr>
        <p:spPr>
          <a:xfrm>
            <a:off x="822960" y="411480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23" name="anim-g6-2438"/>
          <p:cNvSpPr/>
          <p:nvPr/>
        </p:nvSpPr>
        <p:spPr>
          <a:xfrm>
            <a:off x="5775808" y="411480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24" name="anim-g6-2439"/>
          <p:cNvSpPr/>
          <p:nvPr/>
        </p:nvSpPr>
        <p:spPr>
          <a:xfrm>
            <a:off x="822960" y="4114800"/>
            <a:ext cx="4952848" cy="804672"/>
          </a:xfrm>
          <a:prstGeom prst="roundRect">
            <a:avLst>
              <a:gd name="adj" fmla="val 15909"/>
            </a:avLst>
          </a:prstGeom>
          <a:solidFill>
            <a:srgbClr val="E6F4EC"/>
          </a:solidFill>
          <a:ln/>
        </p:spPr>
      </p:sp>
      <p:sp>
        <p:nvSpPr>
          <p:cNvPr id="25" name="anim-g6-2440"/>
          <p:cNvSpPr/>
          <p:nvPr/>
        </p:nvSpPr>
        <p:spPr>
          <a:xfrm>
            <a:off x="1051560"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تعليم مهارة التحقق من المصادر</a:t>
            </a:r>
            <a:endParaRPr lang="ar-SA" sz="2200" dirty="0"/>
          </a:p>
        </p:txBody>
      </p:sp>
      <p:sp>
        <p:nvSpPr>
          <p:cNvPr id="26" name="Text 24"/>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27" name="Text 25"/>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موقف: المعلومة على الشاشة  ·  ٢٠٧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0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400"/>
                                        <p:tgtEl>
                                          <p:spTgt spid="1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400"/>
                                        <p:tgtEl>
                                          <p:spTgt spid="2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400"/>
                                        <p:tgtEl>
                                          <p:spTgt spid="2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400"/>
                                        <p:tgtEl>
                                          <p:spTgt spid="2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208.xml><?xml version="1.0" encoding="utf-8"?>
<p:sld xmlns:a="http://schemas.openxmlformats.org/drawingml/2006/main" xmlns:r="http://schemas.openxmlformats.org/officeDocument/2006/relationships" xmlns:p="http://schemas.openxmlformats.org/presentationml/2006/main">
  <p:cSld name="Slide 20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الموقف</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المعلم الذي يقول «تعلّمت منك»…</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يعلّم أعظم درس</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موقف: المعلومة على الشاشة  ·  ٢٠٨</a:t>
            </a:r>
            <a:endParaRPr lang="ar-SA" sz="1200" dirty="0"/>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name="Slide 20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٩</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المحطة ٩</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عيادة المواقف</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دليل سريع لأشهر السلوكيات… ثم خطتك أنت</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عيادة المواقف والختام  ·  ٢٠٩</a:t>
            </a:r>
            <a:endParaRPr lang="ar-SA" sz="1200" dirty="0"/>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name="Slide 2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418527" y="457200"/>
            <a:ext cx="3950208" cy="457200"/>
          </a:xfrm>
          <a:prstGeom prst="roundRect">
            <a:avLst>
              <a:gd name="adj" fmla="val 50000"/>
            </a:avLst>
          </a:prstGeom>
          <a:solidFill>
            <a:srgbClr val="F6EBCF"/>
          </a:solidFill>
          <a:ln/>
        </p:spPr>
      </p:sp>
      <p:sp>
        <p:nvSpPr>
          <p:cNvPr id="3" name="Text 1"/>
          <p:cNvSpPr/>
          <p:nvPr/>
        </p:nvSpPr>
        <p:spPr>
          <a:xfrm>
            <a:off x="7418527" y="457200"/>
            <a:ext cx="395020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الدليل السريع (١ من ٣)</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السلوك… سببه… وماذا تفعل غدًا</a:t>
            </a:r>
            <a:endParaRPr lang="ar-SA" sz="3800" dirty="0"/>
          </a:p>
        </p:txBody>
      </p:sp>
      <p:sp>
        <p:nvSpPr>
          <p:cNvPr id="5" name="Shape 3"/>
          <p:cNvSpPr/>
          <p:nvPr/>
        </p:nvSpPr>
        <p:spPr>
          <a:xfrm>
            <a:off x="8615050" y="1874520"/>
            <a:ext cx="2753685" cy="548640"/>
          </a:xfrm>
          <a:prstGeom prst="roundRect">
            <a:avLst>
              <a:gd name="adj" fmla="val 20000"/>
            </a:avLst>
          </a:prstGeom>
          <a:solidFill>
            <a:srgbClr val="101B45"/>
          </a:solidFill>
          <a:ln/>
        </p:spPr>
      </p:sp>
      <p:sp>
        <p:nvSpPr>
          <p:cNvPr id="6" name="Text 4"/>
          <p:cNvSpPr/>
          <p:nvPr/>
        </p:nvSpPr>
        <p:spPr>
          <a:xfrm>
            <a:off x="8615050" y="1874520"/>
            <a:ext cx="2753685"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السلوك</a:t>
            </a:r>
            <a:endParaRPr lang="ar-SA" sz="1900" dirty="0"/>
          </a:p>
        </p:txBody>
      </p:sp>
      <p:sp>
        <p:nvSpPr>
          <p:cNvPr id="7" name="Shape 5"/>
          <p:cNvSpPr/>
          <p:nvPr/>
        </p:nvSpPr>
        <p:spPr>
          <a:xfrm>
            <a:off x="6164690" y="1874520"/>
            <a:ext cx="2340632" cy="548640"/>
          </a:xfrm>
          <a:prstGeom prst="roundRect">
            <a:avLst>
              <a:gd name="adj" fmla="val 20000"/>
            </a:avLst>
          </a:prstGeom>
          <a:solidFill>
            <a:srgbClr val="101B45"/>
          </a:solidFill>
          <a:ln/>
        </p:spPr>
      </p:sp>
      <p:sp>
        <p:nvSpPr>
          <p:cNvPr id="8" name="Text 6"/>
          <p:cNvSpPr/>
          <p:nvPr/>
        </p:nvSpPr>
        <p:spPr>
          <a:xfrm>
            <a:off x="6164690" y="1874520"/>
            <a:ext cx="2340632"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السبب المحتمل</a:t>
            </a:r>
            <a:endParaRPr lang="ar-SA" sz="1900" dirty="0"/>
          </a:p>
        </p:txBody>
      </p:sp>
      <p:sp>
        <p:nvSpPr>
          <p:cNvPr id="9" name="Shape 7"/>
          <p:cNvSpPr/>
          <p:nvPr/>
        </p:nvSpPr>
        <p:spPr>
          <a:xfrm>
            <a:off x="822960" y="1874520"/>
            <a:ext cx="5232002" cy="548640"/>
          </a:xfrm>
          <a:prstGeom prst="roundRect">
            <a:avLst>
              <a:gd name="adj" fmla="val 20000"/>
            </a:avLst>
          </a:prstGeom>
          <a:solidFill>
            <a:srgbClr val="101B45"/>
          </a:solidFill>
          <a:ln/>
        </p:spPr>
      </p:sp>
      <p:sp>
        <p:nvSpPr>
          <p:cNvPr id="10" name="Text 8"/>
          <p:cNvSpPr/>
          <p:nvPr/>
        </p:nvSpPr>
        <p:spPr>
          <a:xfrm>
            <a:off x="822960" y="1874520"/>
            <a:ext cx="5232002"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ماذا تفعل عمليًا؟</a:t>
            </a:r>
            <a:endParaRPr lang="ar-SA" sz="1900" dirty="0"/>
          </a:p>
        </p:txBody>
      </p:sp>
      <p:sp>
        <p:nvSpPr>
          <p:cNvPr id="11" name="anim-g1-2441"/>
          <p:cNvSpPr/>
          <p:nvPr/>
        </p:nvSpPr>
        <p:spPr>
          <a:xfrm>
            <a:off x="8615050" y="2514600"/>
            <a:ext cx="2753685" cy="1100328"/>
          </a:xfrm>
          <a:prstGeom prst="roundRect">
            <a:avLst>
              <a:gd name="adj" fmla="val 9972"/>
            </a:avLst>
          </a:prstGeom>
          <a:solidFill>
            <a:srgbClr val="FBF3DF"/>
          </a:solidFill>
          <a:ln w="12700">
            <a:solidFill>
              <a:srgbClr val="EFDDAF"/>
            </a:solidFill>
            <a:prstDash val="solid"/>
          </a:ln>
        </p:spPr>
      </p:sp>
      <p:sp>
        <p:nvSpPr>
          <p:cNvPr id="12" name="anim-g1-2442"/>
          <p:cNvSpPr/>
          <p:nvPr/>
        </p:nvSpPr>
        <p:spPr>
          <a:xfrm>
            <a:off x="8752210" y="2514600"/>
            <a:ext cx="2479365"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السخرية والمضايقة العلنية</a:t>
            </a:r>
            <a:endParaRPr lang="ar-SA" sz="2100" dirty="0"/>
          </a:p>
        </p:txBody>
      </p:sp>
      <p:sp>
        <p:nvSpPr>
          <p:cNvPr id="13" name="anim-g1-2443"/>
          <p:cNvSpPr/>
          <p:nvPr/>
        </p:nvSpPr>
        <p:spPr>
          <a:xfrm>
            <a:off x="6164690" y="2514600"/>
            <a:ext cx="2340632" cy="1100328"/>
          </a:xfrm>
          <a:prstGeom prst="roundRect">
            <a:avLst>
              <a:gd name="adj" fmla="val 9972"/>
            </a:avLst>
          </a:prstGeom>
          <a:solidFill>
            <a:srgbClr val="FFFFFF"/>
          </a:solidFill>
          <a:ln w="12700">
            <a:solidFill>
              <a:srgbClr val="E4DCC8"/>
            </a:solidFill>
            <a:prstDash val="solid"/>
          </a:ln>
        </p:spPr>
      </p:sp>
      <p:sp>
        <p:nvSpPr>
          <p:cNvPr id="14" name="anim-g1-2444"/>
          <p:cNvSpPr/>
          <p:nvPr/>
        </p:nvSpPr>
        <p:spPr>
          <a:xfrm>
            <a:off x="6301850" y="2514600"/>
            <a:ext cx="2066312"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لفت الانتباه</a:t>
            </a:r>
            <a:endParaRPr lang="ar-SA" sz="2100" dirty="0"/>
          </a:p>
        </p:txBody>
      </p:sp>
      <p:sp>
        <p:nvSpPr>
          <p:cNvPr id="15" name="anim-g1-2445"/>
          <p:cNvSpPr/>
          <p:nvPr/>
        </p:nvSpPr>
        <p:spPr>
          <a:xfrm>
            <a:off x="822960" y="2514600"/>
            <a:ext cx="5232002" cy="1100328"/>
          </a:xfrm>
          <a:prstGeom prst="roundRect">
            <a:avLst>
              <a:gd name="adj" fmla="val 9972"/>
            </a:avLst>
          </a:prstGeom>
          <a:solidFill>
            <a:srgbClr val="E6F4EC"/>
          </a:solidFill>
          <a:ln w="12700">
            <a:solidFill>
              <a:srgbClr val="CDE9D9"/>
            </a:solidFill>
            <a:prstDash val="solid"/>
          </a:ln>
        </p:spPr>
      </p:sp>
      <p:sp>
        <p:nvSpPr>
          <p:cNvPr id="16" name="anim-g1-2446"/>
          <p:cNvSpPr/>
          <p:nvPr/>
        </p:nvSpPr>
        <p:spPr>
          <a:xfrm>
            <a:off x="960120" y="2514600"/>
            <a:ext cx="4957682"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انتباه للسلوك الجيد فقط، ومهمة لها قيمة، وحوار خاص: «أريد صوتك في الإجابات لا في التعليقات»</a:t>
            </a:r>
            <a:endParaRPr lang="ar-SA" sz="2100" dirty="0"/>
          </a:p>
        </p:txBody>
      </p:sp>
      <p:sp>
        <p:nvSpPr>
          <p:cNvPr id="17" name="anim-g2-2447"/>
          <p:cNvSpPr/>
          <p:nvPr/>
        </p:nvSpPr>
        <p:spPr>
          <a:xfrm>
            <a:off x="8615050" y="3724656"/>
            <a:ext cx="2753685" cy="1100328"/>
          </a:xfrm>
          <a:prstGeom prst="roundRect">
            <a:avLst>
              <a:gd name="adj" fmla="val 9972"/>
            </a:avLst>
          </a:prstGeom>
          <a:solidFill>
            <a:srgbClr val="FBF3DF"/>
          </a:solidFill>
          <a:ln w="12700">
            <a:solidFill>
              <a:srgbClr val="EFDDAF"/>
            </a:solidFill>
            <a:prstDash val="solid"/>
          </a:ln>
        </p:spPr>
      </p:sp>
      <p:sp>
        <p:nvSpPr>
          <p:cNvPr id="18" name="anim-g2-2448"/>
          <p:cNvSpPr/>
          <p:nvPr/>
        </p:nvSpPr>
        <p:spPr>
          <a:xfrm>
            <a:off x="8752210" y="3724656"/>
            <a:ext cx="2479365"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العدوان اللفظي أو الجسدي</a:t>
            </a:r>
            <a:endParaRPr lang="ar-SA" sz="2100" dirty="0"/>
          </a:p>
        </p:txBody>
      </p:sp>
      <p:sp>
        <p:nvSpPr>
          <p:cNvPr id="19" name="anim-g2-2449"/>
          <p:cNvSpPr/>
          <p:nvPr/>
        </p:nvSpPr>
        <p:spPr>
          <a:xfrm>
            <a:off x="6164690" y="3724656"/>
            <a:ext cx="2340632" cy="1100328"/>
          </a:xfrm>
          <a:prstGeom prst="roundRect">
            <a:avLst>
              <a:gd name="adj" fmla="val 9972"/>
            </a:avLst>
          </a:prstGeom>
          <a:solidFill>
            <a:srgbClr val="FFFFFF"/>
          </a:solidFill>
          <a:ln w="12700">
            <a:solidFill>
              <a:srgbClr val="E4DCC8"/>
            </a:solidFill>
            <a:prstDash val="solid"/>
          </a:ln>
        </p:spPr>
      </p:sp>
      <p:sp>
        <p:nvSpPr>
          <p:cNvPr id="20" name="anim-g2-2450"/>
          <p:cNvSpPr/>
          <p:nvPr/>
        </p:nvSpPr>
        <p:spPr>
          <a:xfrm>
            <a:off x="6301850" y="3724656"/>
            <a:ext cx="2066312"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غضب، أو غيرة، أو مشكلة خارجية</a:t>
            </a:r>
            <a:endParaRPr lang="ar-SA" sz="2100" dirty="0"/>
          </a:p>
        </p:txBody>
      </p:sp>
      <p:sp>
        <p:nvSpPr>
          <p:cNvPr id="21" name="anim-g2-2451"/>
          <p:cNvSpPr/>
          <p:nvPr/>
        </p:nvSpPr>
        <p:spPr>
          <a:xfrm>
            <a:off x="822960" y="3724656"/>
            <a:ext cx="5232002" cy="1100328"/>
          </a:xfrm>
          <a:prstGeom prst="roundRect">
            <a:avLst>
              <a:gd name="adj" fmla="val 9972"/>
            </a:avLst>
          </a:prstGeom>
          <a:solidFill>
            <a:srgbClr val="E6F4EC"/>
          </a:solidFill>
          <a:ln w="12700">
            <a:solidFill>
              <a:srgbClr val="CDE9D9"/>
            </a:solidFill>
            <a:prstDash val="solid"/>
          </a:ln>
        </p:spPr>
      </p:sp>
      <p:sp>
        <p:nvSpPr>
          <p:cNvPr id="22" name="anim-g2-2452"/>
          <p:cNvSpPr/>
          <p:nvPr/>
        </p:nvSpPr>
        <p:spPr>
          <a:xfrm>
            <a:off x="960120" y="3724656"/>
            <a:ext cx="4957682"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أوقف الأذى وافصل بهدوء، ثم تهدئة، ثم حوار ترميمي، وإبلاغ المرشد</a:t>
            </a:r>
            <a:endParaRPr lang="ar-SA" sz="2100" dirty="0"/>
          </a:p>
        </p:txBody>
      </p:sp>
      <p:sp>
        <p:nvSpPr>
          <p:cNvPr id="23" name="anim-g3-2453"/>
          <p:cNvSpPr/>
          <p:nvPr/>
        </p:nvSpPr>
        <p:spPr>
          <a:xfrm>
            <a:off x="8615050" y="4934712"/>
            <a:ext cx="2753685" cy="1100328"/>
          </a:xfrm>
          <a:prstGeom prst="roundRect">
            <a:avLst>
              <a:gd name="adj" fmla="val 9972"/>
            </a:avLst>
          </a:prstGeom>
          <a:solidFill>
            <a:srgbClr val="FBF3DF"/>
          </a:solidFill>
          <a:ln w="12700">
            <a:solidFill>
              <a:srgbClr val="EFDDAF"/>
            </a:solidFill>
            <a:prstDash val="solid"/>
          </a:ln>
        </p:spPr>
      </p:sp>
      <p:sp>
        <p:nvSpPr>
          <p:cNvPr id="24" name="anim-g3-2454"/>
          <p:cNvSpPr/>
          <p:nvPr/>
        </p:nvSpPr>
        <p:spPr>
          <a:xfrm>
            <a:off x="8752210" y="4934712"/>
            <a:ext cx="2479365"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تحدّي المعلم وعصيانه</a:t>
            </a:r>
            <a:endParaRPr lang="ar-SA" sz="2100" dirty="0"/>
          </a:p>
        </p:txBody>
      </p:sp>
      <p:sp>
        <p:nvSpPr>
          <p:cNvPr id="25" name="anim-g3-2455"/>
          <p:cNvSpPr/>
          <p:nvPr/>
        </p:nvSpPr>
        <p:spPr>
          <a:xfrm>
            <a:off x="6164690" y="4934712"/>
            <a:ext cx="2340632" cy="1100328"/>
          </a:xfrm>
          <a:prstGeom prst="roundRect">
            <a:avLst>
              <a:gd name="adj" fmla="val 9972"/>
            </a:avLst>
          </a:prstGeom>
          <a:solidFill>
            <a:srgbClr val="FFFFFF"/>
          </a:solidFill>
          <a:ln w="12700">
            <a:solidFill>
              <a:srgbClr val="E4DCC8"/>
            </a:solidFill>
            <a:prstDash val="solid"/>
          </a:ln>
        </p:spPr>
      </p:sp>
      <p:sp>
        <p:nvSpPr>
          <p:cNvPr id="26" name="anim-g3-2456"/>
          <p:cNvSpPr/>
          <p:nvPr/>
        </p:nvSpPr>
        <p:spPr>
          <a:xfrm>
            <a:off x="6301850" y="4934712"/>
            <a:ext cx="2066312"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إثبات القوة</a:t>
            </a:r>
            <a:endParaRPr lang="ar-SA" sz="2100" dirty="0"/>
          </a:p>
        </p:txBody>
      </p:sp>
      <p:sp>
        <p:nvSpPr>
          <p:cNvPr id="27" name="anim-g3-2457"/>
          <p:cNvSpPr/>
          <p:nvPr/>
        </p:nvSpPr>
        <p:spPr>
          <a:xfrm>
            <a:off x="822960" y="4934712"/>
            <a:ext cx="5232002" cy="1100328"/>
          </a:xfrm>
          <a:prstGeom prst="roundRect">
            <a:avLst>
              <a:gd name="adj" fmla="val 9972"/>
            </a:avLst>
          </a:prstGeom>
          <a:solidFill>
            <a:srgbClr val="E6F4EC"/>
          </a:solidFill>
          <a:ln w="12700">
            <a:solidFill>
              <a:srgbClr val="CDE9D9"/>
            </a:solidFill>
            <a:prstDash val="solid"/>
          </a:ln>
        </p:spPr>
      </p:sp>
      <p:sp>
        <p:nvSpPr>
          <p:cNvPr id="28" name="anim-g3-2458"/>
          <p:cNvSpPr/>
          <p:nvPr/>
        </p:nvSpPr>
        <p:spPr>
          <a:xfrm>
            <a:off x="960120" y="4934712"/>
            <a:ext cx="4957682"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لا جدال أمام الجمهور، وخياران محددان، ودور قيادي بحدود</a:t>
            </a:r>
            <a:endParaRPr lang="ar-SA" sz="2100" dirty="0"/>
          </a:p>
        </p:txBody>
      </p:sp>
      <p:sp>
        <p:nvSpPr>
          <p:cNvPr id="29" name="Text 27"/>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30" name="Text 28"/>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عيادة المواقف والختام  ·  ٢١٠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400"/>
                                        <p:tgtEl>
                                          <p:spTgt spid="20"/>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0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400"/>
                                        <p:tgtEl>
                                          <p:spTgt spid="2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400"/>
                                        <p:tgtEl>
                                          <p:spTgt spid="2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fade">
                                      <p:cBhvr>
                                        <p:cTn id="59" dur="400"/>
                                        <p:tgtEl>
                                          <p:spTgt spid="27"/>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211.xml><?xml version="1.0" encoding="utf-8"?>
<p:sld xmlns:a="http://schemas.openxmlformats.org/drawingml/2006/main" xmlns:r="http://schemas.openxmlformats.org/officeDocument/2006/relationships" xmlns:p="http://schemas.openxmlformats.org/presentationml/2006/main">
  <p:cSld name="Slide 2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418527" y="457200"/>
            <a:ext cx="3950208" cy="457200"/>
          </a:xfrm>
          <a:prstGeom prst="roundRect">
            <a:avLst>
              <a:gd name="adj" fmla="val 50000"/>
            </a:avLst>
          </a:prstGeom>
          <a:solidFill>
            <a:srgbClr val="F6EBCF"/>
          </a:solidFill>
          <a:ln/>
        </p:spPr>
      </p:sp>
      <p:sp>
        <p:nvSpPr>
          <p:cNvPr id="3" name="Text 1"/>
          <p:cNvSpPr/>
          <p:nvPr/>
        </p:nvSpPr>
        <p:spPr>
          <a:xfrm>
            <a:off x="7418527" y="457200"/>
            <a:ext cx="395020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الدليل السريع (٢ من ٣)</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السلوك… سببه… وماذا تفعل غدًا</a:t>
            </a:r>
            <a:endParaRPr lang="ar-SA" sz="3800" dirty="0"/>
          </a:p>
        </p:txBody>
      </p:sp>
      <p:sp>
        <p:nvSpPr>
          <p:cNvPr id="5" name="Shape 3"/>
          <p:cNvSpPr/>
          <p:nvPr/>
        </p:nvSpPr>
        <p:spPr>
          <a:xfrm>
            <a:off x="8615050" y="1874520"/>
            <a:ext cx="2753685" cy="548640"/>
          </a:xfrm>
          <a:prstGeom prst="roundRect">
            <a:avLst>
              <a:gd name="adj" fmla="val 20000"/>
            </a:avLst>
          </a:prstGeom>
          <a:solidFill>
            <a:srgbClr val="101B45"/>
          </a:solidFill>
          <a:ln/>
        </p:spPr>
      </p:sp>
      <p:sp>
        <p:nvSpPr>
          <p:cNvPr id="6" name="Text 4"/>
          <p:cNvSpPr/>
          <p:nvPr/>
        </p:nvSpPr>
        <p:spPr>
          <a:xfrm>
            <a:off x="8615050" y="1874520"/>
            <a:ext cx="2753685"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السلوك</a:t>
            </a:r>
            <a:endParaRPr lang="ar-SA" sz="1900" dirty="0"/>
          </a:p>
        </p:txBody>
      </p:sp>
      <p:sp>
        <p:nvSpPr>
          <p:cNvPr id="7" name="Shape 5"/>
          <p:cNvSpPr/>
          <p:nvPr/>
        </p:nvSpPr>
        <p:spPr>
          <a:xfrm>
            <a:off x="6164690" y="1874520"/>
            <a:ext cx="2340632" cy="548640"/>
          </a:xfrm>
          <a:prstGeom prst="roundRect">
            <a:avLst>
              <a:gd name="adj" fmla="val 20000"/>
            </a:avLst>
          </a:prstGeom>
          <a:solidFill>
            <a:srgbClr val="101B45"/>
          </a:solidFill>
          <a:ln/>
        </p:spPr>
      </p:sp>
      <p:sp>
        <p:nvSpPr>
          <p:cNvPr id="8" name="Text 6"/>
          <p:cNvSpPr/>
          <p:nvPr/>
        </p:nvSpPr>
        <p:spPr>
          <a:xfrm>
            <a:off x="6164690" y="1874520"/>
            <a:ext cx="2340632"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السبب المحتمل</a:t>
            </a:r>
            <a:endParaRPr lang="ar-SA" sz="1900" dirty="0"/>
          </a:p>
        </p:txBody>
      </p:sp>
      <p:sp>
        <p:nvSpPr>
          <p:cNvPr id="9" name="Shape 7"/>
          <p:cNvSpPr/>
          <p:nvPr/>
        </p:nvSpPr>
        <p:spPr>
          <a:xfrm>
            <a:off x="822960" y="1874520"/>
            <a:ext cx="5232002" cy="548640"/>
          </a:xfrm>
          <a:prstGeom prst="roundRect">
            <a:avLst>
              <a:gd name="adj" fmla="val 20000"/>
            </a:avLst>
          </a:prstGeom>
          <a:solidFill>
            <a:srgbClr val="101B45"/>
          </a:solidFill>
          <a:ln/>
        </p:spPr>
      </p:sp>
      <p:sp>
        <p:nvSpPr>
          <p:cNvPr id="10" name="Text 8"/>
          <p:cNvSpPr/>
          <p:nvPr/>
        </p:nvSpPr>
        <p:spPr>
          <a:xfrm>
            <a:off x="822960" y="1874520"/>
            <a:ext cx="5232002"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ماذا تفعل عمليًا؟</a:t>
            </a:r>
            <a:endParaRPr lang="ar-SA" sz="1900" dirty="0"/>
          </a:p>
        </p:txBody>
      </p:sp>
      <p:sp>
        <p:nvSpPr>
          <p:cNvPr id="11" name="anim-g1-2459"/>
          <p:cNvSpPr/>
          <p:nvPr/>
        </p:nvSpPr>
        <p:spPr>
          <a:xfrm>
            <a:off x="8615050" y="2514600"/>
            <a:ext cx="2753685" cy="1100328"/>
          </a:xfrm>
          <a:prstGeom prst="roundRect">
            <a:avLst>
              <a:gd name="adj" fmla="val 9972"/>
            </a:avLst>
          </a:prstGeom>
          <a:solidFill>
            <a:srgbClr val="FBF3DF"/>
          </a:solidFill>
          <a:ln w="12700">
            <a:solidFill>
              <a:srgbClr val="EFDDAF"/>
            </a:solidFill>
            <a:prstDash val="solid"/>
          </a:ln>
        </p:spPr>
      </p:sp>
      <p:sp>
        <p:nvSpPr>
          <p:cNvPr id="12" name="anim-g1-2460"/>
          <p:cNvSpPr/>
          <p:nvPr/>
        </p:nvSpPr>
        <p:spPr>
          <a:xfrm>
            <a:off x="8752210" y="2514600"/>
            <a:ext cx="2479365"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رفض المشاركة</a:t>
            </a:r>
            <a:endParaRPr lang="ar-SA" sz="2100" dirty="0"/>
          </a:p>
        </p:txBody>
      </p:sp>
      <p:sp>
        <p:nvSpPr>
          <p:cNvPr id="13" name="anim-g1-2461"/>
          <p:cNvSpPr/>
          <p:nvPr/>
        </p:nvSpPr>
        <p:spPr>
          <a:xfrm>
            <a:off x="6164690" y="2514600"/>
            <a:ext cx="2340632" cy="1100328"/>
          </a:xfrm>
          <a:prstGeom prst="roundRect">
            <a:avLst>
              <a:gd name="adj" fmla="val 9972"/>
            </a:avLst>
          </a:prstGeom>
          <a:solidFill>
            <a:srgbClr val="FFFFFF"/>
          </a:solidFill>
          <a:ln w="12700">
            <a:solidFill>
              <a:srgbClr val="E4DCC8"/>
            </a:solidFill>
            <a:prstDash val="solid"/>
          </a:ln>
        </p:spPr>
      </p:sp>
      <p:sp>
        <p:nvSpPr>
          <p:cNvPr id="14" name="anim-g1-2462"/>
          <p:cNvSpPr/>
          <p:nvPr/>
        </p:nvSpPr>
        <p:spPr>
          <a:xfrm>
            <a:off x="6301850" y="2514600"/>
            <a:ext cx="2066312"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ضعف المهارة أو خوف الفشل</a:t>
            </a:r>
            <a:endParaRPr lang="ar-SA" sz="2100" dirty="0"/>
          </a:p>
        </p:txBody>
      </p:sp>
      <p:sp>
        <p:nvSpPr>
          <p:cNvPr id="15" name="anim-g1-2463"/>
          <p:cNvSpPr/>
          <p:nvPr/>
        </p:nvSpPr>
        <p:spPr>
          <a:xfrm>
            <a:off x="822960" y="2514600"/>
            <a:ext cx="5232002" cy="1100328"/>
          </a:xfrm>
          <a:prstGeom prst="roundRect">
            <a:avLst>
              <a:gd name="adj" fmla="val 9972"/>
            </a:avLst>
          </a:prstGeom>
          <a:solidFill>
            <a:srgbClr val="E6F4EC"/>
          </a:solidFill>
          <a:ln w="12700">
            <a:solidFill>
              <a:srgbClr val="CDE9D9"/>
            </a:solidFill>
            <a:prstDash val="solid"/>
          </a:ln>
        </p:spPr>
      </p:sp>
      <p:sp>
        <p:nvSpPr>
          <p:cNvPr id="16" name="anim-g1-2464"/>
          <p:cNvSpPr/>
          <p:nvPr/>
        </p:nvSpPr>
        <p:spPr>
          <a:xfrm>
            <a:off x="960120" y="2514600"/>
            <a:ext cx="4957682"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مهمة صغيرة يضمن نجاحه فيها، ومدح المحاولة، ودعم خاص دون إشارة لضعفه</a:t>
            </a:r>
            <a:endParaRPr lang="ar-SA" sz="2100" dirty="0"/>
          </a:p>
        </p:txBody>
      </p:sp>
      <p:sp>
        <p:nvSpPr>
          <p:cNvPr id="17" name="anim-g2-2465"/>
          <p:cNvSpPr/>
          <p:nvPr/>
        </p:nvSpPr>
        <p:spPr>
          <a:xfrm>
            <a:off x="8615050" y="3724656"/>
            <a:ext cx="2753685" cy="1100328"/>
          </a:xfrm>
          <a:prstGeom prst="roundRect">
            <a:avLst>
              <a:gd name="adj" fmla="val 9972"/>
            </a:avLst>
          </a:prstGeom>
          <a:solidFill>
            <a:srgbClr val="FBF3DF"/>
          </a:solidFill>
          <a:ln w="12700">
            <a:solidFill>
              <a:srgbClr val="EFDDAF"/>
            </a:solidFill>
            <a:prstDash val="solid"/>
          </a:ln>
        </p:spPr>
      </p:sp>
      <p:sp>
        <p:nvSpPr>
          <p:cNvPr id="18" name="anim-g2-2466"/>
          <p:cNvSpPr/>
          <p:nvPr/>
        </p:nvSpPr>
        <p:spPr>
          <a:xfrm>
            <a:off x="8752210" y="3724656"/>
            <a:ext cx="2479365"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صراع المجموعات</a:t>
            </a:r>
            <a:endParaRPr lang="ar-SA" sz="2100" dirty="0"/>
          </a:p>
        </p:txBody>
      </p:sp>
      <p:sp>
        <p:nvSpPr>
          <p:cNvPr id="19" name="anim-g2-2467"/>
          <p:cNvSpPr/>
          <p:nvPr/>
        </p:nvSpPr>
        <p:spPr>
          <a:xfrm>
            <a:off x="6164690" y="3724656"/>
            <a:ext cx="2340632" cy="1100328"/>
          </a:xfrm>
          <a:prstGeom prst="roundRect">
            <a:avLst>
              <a:gd name="adj" fmla="val 9972"/>
            </a:avLst>
          </a:prstGeom>
          <a:solidFill>
            <a:srgbClr val="FFFFFF"/>
          </a:solidFill>
          <a:ln w="12700">
            <a:solidFill>
              <a:srgbClr val="E4DCC8"/>
            </a:solidFill>
            <a:prstDash val="solid"/>
          </a:ln>
        </p:spPr>
      </p:sp>
      <p:sp>
        <p:nvSpPr>
          <p:cNvPr id="20" name="anim-g2-2468"/>
          <p:cNvSpPr/>
          <p:nvPr/>
        </p:nvSpPr>
        <p:spPr>
          <a:xfrm>
            <a:off x="6301850" y="3724656"/>
            <a:ext cx="2066312"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خلافات بين الطلاب</a:t>
            </a:r>
            <a:endParaRPr lang="ar-SA" sz="2100" dirty="0"/>
          </a:p>
        </p:txBody>
      </p:sp>
      <p:sp>
        <p:nvSpPr>
          <p:cNvPr id="21" name="anim-g2-2469"/>
          <p:cNvSpPr/>
          <p:nvPr/>
        </p:nvSpPr>
        <p:spPr>
          <a:xfrm>
            <a:off x="822960" y="3724656"/>
            <a:ext cx="5232002" cy="1100328"/>
          </a:xfrm>
          <a:prstGeom prst="roundRect">
            <a:avLst>
              <a:gd name="adj" fmla="val 9972"/>
            </a:avLst>
          </a:prstGeom>
          <a:solidFill>
            <a:srgbClr val="E6F4EC"/>
          </a:solidFill>
          <a:ln w="12700">
            <a:solidFill>
              <a:srgbClr val="CDE9D9"/>
            </a:solidFill>
            <a:prstDash val="solid"/>
          </a:ln>
        </p:spPr>
      </p:sp>
      <p:sp>
        <p:nvSpPr>
          <p:cNvPr id="22" name="anim-g2-2470"/>
          <p:cNvSpPr/>
          <p:nvPr/>
        </p:nvSpPr>
        <p:spPr>
          <a:xfrm>
            <a:off x="960120" y="3724656"/>
            <a:ext cx="4957682"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تغيير تشكيل المجموعات دوريًا، وأدوار محددة لكل عضو</a:t>
            </a:r>
            <a:endParaRPr lang="ar-SA" sz="2100" dirty="0"/>
          </a:p>
        </p:txBody>
      </p:sp>
      <p:sp>
        <p:nvSpPr>
          <p:cNvPr id="23" name="anim-g3-2471"/>
          <p:cNvSpPr/>
          <p:nvPr/>
        </p:nvSpPr>
        <p:spPr>
          <a:xfrm>
            <a:off x="8615050" y="4934712"/>
            <a:ext cx="2753685" cy="1100328"/>
          </a:xfrm>
          <a:prstGeom prst="roundRect">
            <a:avLst>
              <a:gd name="adj" fmla="val 9972"/>
            </a:avLst>
          </a:prstGeom>
          <a:solidFill>
            <a:srgbClr val="FBF3DF"/>
          </a:solidFill>
          <a:ln w="12700">
            <a:solidFill>
              <a:srgbClr val="EFDDAF"/>
            </a:solidFill>
            <a:prstDash val="solid"/>
          </a:ln>
        </p:spPr>
      </p:sp>
      <p:sp>
        <p:nvSpPr>
          <p:cNvPr id="24" name="anim-g3-2472"/>
          <p:cNvSpPr/>
          <p:nvPr/>
        </p:nvSpPr>
        <p:spPr>
          <a:xfrm>
            <a:off x="8752210" y="4934712"/>
            <a:ext cx="2479365"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كسر القواعد باستمرار</a:t>
            </a:r>
            <a:endParaRPr lang="ar-SA" sz="2100" dirty="0"/>
          </a:p>
        </p:txBody>
      </p:sp>
      <p:sp>
        <p:nvSpPr>
          <p:cNvPr id="25" name="anim-g3-2473"/>
          <p:cNvSpPr/>
          <p:nvPr/>
        </p:nvSpPr>
        <p:spPr>
          <a:xfrm>
            <a:off x="6164690" y="4934712"/>
            <a:ext cx="2340632" cy="1100328"/>
          </a:xfrm>
          <a:prstGeom prst="roundRect">
            <a:avLst>
              <a:gd name="adj" fmla="val 9972"/>
            </a:avLst>
          </a:prstGeom>
          <a:solidFill>
            <a:srgbClr val="FFFFFF"/>
          </a:solidFill>
          <a:ln w="12700">
            <a:solidFill>
              <a:srgbClr val="E4DCC8"/>
            </a:solidFill>
            <a:prstDash val="solid"/>
          </a:ln>
        </p:spPr>
      </p:sp>
      <p:sp>
        <p:nvSpPr>
          <p:cNvPr id="26" name="anim-g3-2474"/>
          <p:cNvSpPr/>
          <p:nvPr/>
        </p:nvSpPr>
        <p:spPr>
          <a:xfrm>
            <a:off x="6301850" y="4934712"/>
            <a:ext cx="2066312"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تطبيق غير ثابت</a:t>
            </a:r>
            <a:endParaRPr lang="ar-SA" sz="2100" dirty="0"/>
          </a:p>
        </p:txBody>
      </p:sp>
      <p:sp>
        <p:nvSpPr>
          <p:cNvPr id="27" name="anim-g3-2475"/>
          <p:cNvSpPr/>
          <p:nvPr/>
        </p:nvSpPr>
        <p:spPr>
          <a:xfrm>
            <a:off x="822960" y="4934712"/>
            <a:ext cx="5232002" cy="1100328"/>
          </a:xfrm>
          <a:prstGeom prst="roundRect">
            <a:avLst>
              <a:gd name="adj" fmla="val 9972"/>
            </a:avLst>
          </a:prstGeom>
          <a:solidFill>
            <a:srgbClr val="E6F4EC"/>
          </a:solidFill>
          <a:ln w="12700">
            <a:solidFill>
              <a:srgbClr val="CDE9D9"/>
            </a:solidFill>
            <a:prstDash val="solid"/>
          </a:ln>
        </p:spPr>
      </p:sp>
      <p:sp>
        <p:nvSpPr>
          <p:cNvPr id="28" name="anim-g3-2476"/>
          <p:cNvSpPr/>
          <p:nvPr/>
        </p:nvSpPr>
        <p:spPr>
          <a:xfrm>
            <a:off x="960120" y="4934712"/>
            <a:ext cx="4957682"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الثبات: العاقبة نفسها، كل مرة، مع الجميع</a:t>
            </a:r>
            <a:endParaRPr lang="ar-SA" sz="2100" dirty="0"/>
          </a:p>
        </p:txBody>
      </p:sp>
      <p:sp>
        <p:nvSpPr>
          <p:cNvPr id="29" name="Text 27"/>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30" name="Text 28"/>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عيادة المواقف والختام  ·  ٢١١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400"/>
                                        <p:tgtEl>
                                          <p:spTgt spid="20"/>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0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400"/>
                                        <p:tgtEl>
                                          <p:spTgt spid="2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400"/>
                                        <p:tgtEl>
                                          <p:spTgt spid="2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fade">
                                      <p:cBhvr>
                                        <p:cTn id="59" dur="400"/>
                                        <p:tgtEl>
                                          <p:spTgt spid="27"/>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212.xml><?xml version="1.0" encoding="utf-8"?>
<p:sld xmlns:a="http://schemas.openxmlformats.org/drawingml/2006/main" xmlns:r="http://schemas.openxmlformats.org/officeDocument/2006/relationships" xmlns:p="http://schemas.openxmlformats.org/presentationml/2006/main">
  <p:cSld name="Slide 2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418527" y="457200"/>
            <a:ext cx="3950208" cy="457200"/>
          </a:xfrm>
          <a:prstGeom prst="roundRect">
            <a:avLst>
              <a:gd name="adj" fmla="val 50000"/>
            </a:avLst>
          </a:prstGeom>
          <a:solidFill>
            <a:srgbClr val="F6EBCF"/>
          </a:solidFill>
          <a:ln/>
        </p:spPr>
      </p:sp>
      <p:sp>
        <p:nvSpPr>
          <p:cNvPr id="3" name="Text 1"/>
          <p:cNvSpPr/>
          <p:nvPr/>
        </p:nvSpPr>
        <p:spPr>
          <a:xfrm>
            <a:off x="7418527" y="457200"/>
            <a:ext cx="395020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الدليل السريع (٣ من ٣)</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السلوك… سببه… وماذا تفعل غدًا</a:t>
            </a:r>
            <a:endParaRPr lang="ar-SA" sz="3800" dirty="0"/>
          </a:p>
        </p:txBody>
      </p:sp>
      <p:sp>
        <p:nvSpPr>
          <p:cNvPr id="5" name="Shape 3"/>
          <p:cNvSpPr/>
          <p:nvPr/>
        </p:nvSpPr>
        <p:spPr>
          <a:xfrm>
            <a:off x="8615050" y="1874520"/>
            <a:ext cx="2753685" cy="548640"/>
          </a:xfrm>
          <a:prstGeom prst="roundRect">
            <a:avLst>
              <a:gd name="adj" fmla="val 20000"/>
            </a:avLst>
          </a:prstGeom>
          <a:solidFill>
            <a:srgbClr val="101B45"/>
          </a:solidFill>
          <a:ln/>
        </p:spPr>
      </p:sp>
      <p:sp>
        <p:nvSpPr>
          <p:cNvPr id="6" name="Text 4"/>
          <p:cNvSpPr/>
          <p:nvPr/>
        </p:nvSpPr>
        <p:spPr>
          <a:xfrm>
            <a:off x="8615050" y="1874520"/>
            <a:ext cx="2753685"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السلوك</a:t>
            </a:r>
            <a:endParaRPr lang="ar-SA" sz="1900" dirty="0"/>
          </a:p>
        </p:txBody>
      </p:sp>
      <p:sp>
        <p:nvSpPr>
          <p:cNvPr id="7" name="Shape 5"/>
          <p:cNvSpPr/>
          <p:nvPr/>
        </p:nvSpPr>
        <p:spPr>
          <a:xfrm>
            <a:off x="6164690" y="1874520"/>
            <a:ext cx="2340632" cy="548640"/>
          </a:xfrm>
          <a:prstGeom prst="roundRect">
            <a:avLst>
              <a:gd name="adj" fmla="val 20000"/>
            </a:avLst>
          </a:prstGeom>
          <a:solidFill>
            <a:srgbClr val="101B45"/>
          </a:solidFill>
          <a:ln/>
        </p:spPr>
      </p:sp>
      <p:sp>
        <p:nvSpPr>
          <p:cNvPr id="8" name="Text 6"/>
          <p:cNvSpPr/>
          <p:nvPr/>
        </p:nvSpPr>
        <p:spPr>
          <a:xfrm>
            <a:off x="6164690" y="1874520"/>
            <a:ext cx="2340632"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السبب المحتمل</a:t>
            </a:r>
            <a:endParaRPr lang="ar-SA" sz="1900" dirty="0"/>
          </a:p>
        </p:txBody>
      </p:sp>
      <p:sp>
        <p:nvSpPr>
          <p:cNvPr id="9" name="Shape 7"/>
          <p:cNvSpPr/>
          <p:nvPr/>
        </p:nvSpPr>
        <p:spPr>
          <a:xfrm>
            <a:off x="822960" y="1874520"/>
            <a:ext cx="5232002" cy="548640"/>
          </a:xfrm>
          <a:prstGeom prst="roundRect">
            <a:avLst>
              <a:gd name="adj" fmla="val 20000"/>
            </a:avLst>
          </a:prstGeom>
          <a:solidFill>
            <a:srgbClr val="101B45"/>
          </a:solidFill>
          <a:ln/>
        </p:spPr>
      </p:sp>
      <p:sp>
        <p:nvSpPr>
          <p:cNvPr id="10" name="Text 8"/>
          <p:cNvSpPr/>
          <p:nvPr/>
        </p:nvSpPr>
        <p:spPr>
          <a:xfrm>
            <a:off x="822960" y="1874520"/>
            <a:ext cx="5232002"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ماذا تفعل عمليًا؟</a:t>
            </a:r>
            <a:endParaRPr lang="ar-SA" sz="1900" dirty="0"/>
          </a:p>
        </p:txBody>
      </p:sp>
      <p:sp>
        <p:nvSpPr>
          <p:cNvPr id="11" name="anim-g1-2477"/>
          <p:cNvSpPr/>
          <p:nvPr/>
        </p:nvSpPr>
        <p:spPr>
          <a:xfrm>
            <a:off x="8615050" y="2514600"/>
            <a:ext cx="2753685" cy="1100328"/>
          </a:xfrm>
          <a:prstGeom prst="roundRect">
            <a:avLst>
              <a:gd name="adj" fmla="val 9972"/>
            </a:avLst>
          </a:prstGeom>
          <a:solidFill>
            <a:srgbClr val="FBF3DF"/>
          </a:solidFill>
          <a:ln w="12700">
            <a:solidFill>
              <a:srgbClr val="EFDDAF"/>
            </a:solidFill>
            <a:prstDash val="solid"/>
          </a:ln>
        </p:spPr>
      </p:sp>
      <p:sp>
        <p:nvSpPr>
          <p:cNvPr id="12" name="anim-g1-2478"/>
          <p:cNvSpPr/>
          <p:nvPr/>
        </p:nvSpPr>
        <p:spPr>
          <a:xfrm>
            <a:off x="8752210" y="2514600"/>
            <a:ext cx="2479365"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صعوبة التكيّف</a:t>
            </a:r>
            <a:endParaRPr lang="ar-SA" sz="2100" dirty="0"/>
          </a:p>
        </p:txBody>
      </p:sp>
      <p:sp>
        <p:nvSpPr>
          <p:cNvPr id="13" name="anim-g1-2479"/>
          <p:cNvSpPr/>
          <p:nvPr/>
        </p:nvSpPr>
        <p:spPr>
          <a:xfrm>
            <a:off x="6164690" y="2514600"/>
            <a:ext cx="2340632" cy="1100328"/>
          </a:xfrm>
          <a:prstGeom prst="roundRect">
            <a:avLst>
              <a:gd name="adj" fmla="val 9972"/>
            </a:avLst>
          </a:prstGeom>
          <a:solidFill>
            <a:srgbClr val="FFFFFF"/>
          </a:solidFill>
          <a:ln w="12700">
            <a:solidFill>
              <a:srgbClr val="E4DCC8"/>
            </a:solidFill>
            <a:prstDash val="solid"/>
          </a:ln>
        </p:spPr>
      </p:sp>
      <p:sp>
        <p:nvSpPr>
          <p:cNvPr id="14" name="anim-g1-2480"/>
          <p:cNvSpPr/>
          <p:nvPr/>
        </p:nvSpPr>
        <p:spPr>
          <a:xfrm>
            <a:off x="6301850" y="2514600"/>
            <a:ext cx="2066312"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انتقال إلى مدرسة أو مرحلة جديدة</a:t>
            </a:r>
            <a:endParaRPr lang="ar-SA" sz="2100" dirty="0"/>
          </a:p>
        </p:txBody>
      </p:sp>
      <p:sp>
        <p:nvSpPr>
          <p:cNvPr id="15" name="anim-g1-2481"/>
          <p:cNvSpPr/>
          <p:nvPr/>
        </p:nvSpPr>
        <p:spPr>
          <a:xfrm>
            <a:off x="822960" y="2514600"/>
            <a:ext cx="5232002" cy="1100328"/>
          </a:xfrm>
          <a:prstGeom prst="roundRect">
            <a:avLst>
              <a:gd name="adj" fmla="val 9972"/>
            </a:avLst>
          </a:prstGeom>
          <a:solidFill>
            <a:srgbClr val="E6F4EC"/>
          </a:solidFill>
          <a:ln w="12700">
            <a:solidFill>
              <a:srgbClr val="CDE9D9"/>
            </a:solidFill>
            <a:prstDash val="solid"/>
          </a:ln>
        </p:spPr>
      </p:sp>
      <p:sp>
        <p:nvSpPr>
          <p:cNvPr id="16" name="anim-g1-2482"/>
          <p:cNvSpPr/>
          <p:nvPr/>
        </p:nvSpPr>
        <p:spPr>
          <a:xfrm>
            <a:off x="960120" y="2514600"/>
            <a:ext cx="4957682"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زميل مرافق أسبوعًا، وتواصل يومي قصير، ومهمة تمنحه الانتماء</a:t>
            </a:r>
            <a:endParaRPr lang="ar-SA" sz="2100" dirty="0"/>
          </a:p>
        </p:txBody>
      </p:sp>
      <p:sp>
        <p:nvSpPr>
          <p:cNvPr id="17" name="anim-g2-2483"/>
          <p:cNvSpPr/>
          <p:nvPr/>
        </p:nvSpPr>
        <p:spPr>
          <a:xfrm>
            <a:off x="8615050" y="3724656"/>
            <a:ext cx="2753685" cy="1100328"/>
          </a:xfrm>
          <a:prstGeom prst="roundRect">
            <a:avLst>
              <a:gd name="adj" fmla="val 9972"/>
            </a:avLst>
          </a:prstGeom>
          <a:solidFill>
            <a:srgbClr val="FBF3DF"/>
          </a:solidFill>
          <a:ln w="12700">
            <a:solidFill>
              <a:srgbClr val="EFDDAF"/>
            </a:solidFill>
            <a:prstDash val="solid"/>
          </a:ln>
        </p:spPr>
      </p:sp>
      <p:sp>
        <p:nvSpPr>
          <p:cNvPr id="18" name="anim-g2-2484"/>
          <p:cNvSpPr/>
          <p:nvPr/>
        </p:nvSpPr>
        <p:spPr>
          <a:xfrm>
            <a:off x="8752210" y="3724656"/>
            <a:ext cx="2479365"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تأييد الفصل للسلوك السيئ</a:t>
            </a:r>
            <a:endParaRPr lang="ar-SA" sz="2100" dirty="0"/>
          </a:p>
        </p:txBody>
      </p:sp>
      <p:sp>
        <p:nvSpPr>
          <p:cNvPr id="19" name="anim-g2-2485"/>
          <p:cNvSpPr/>
          <p:nvPr/>
        </p:nvSpPr>
        <p:spPr>
          <a:xfrm>
            <a:off x="6164690" y="3724656"/>
            <a:ext cx="2340632" cy="1100328"/>
          </a:xfrm>
          <a:prstGeom prst="roundRect">
            <a:avLst>
              <a:gd name="adj" fmla="val 9972"/>
            </a:avLst>
          </a:prstGeom>
          <a:solidFill>
            <a:srgbClr val="FFFFFF"/>
          </a:solidFill>
          <a:ln w="12700">
            <a:solidFill>
              <a:srgbClr val="E4DCC8"/>
            </a:solidFill>
            <a:prstDash val="solid"/>
          </a:ln>
        </p:spPr>
      </p:sp>
      <p:sp>
        <p:nvSpPr>
          <p:cNvPr id="20" name="anim-g2-2486"/>
          <p:cNvSpPr/>
          <p:nvPr/>
        </p:nvSpPr>
        <p:spPr>
          <a:xfrm>
            <a:off x="6301850" y="3724656"/>
            <a:ext cx="2066312"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شعور بعدم العدالة</a:t>
            </a:r>
            <a:endParaRPr lang="ar-SA" sz="2100" dirty="0"/>
          </a:p>
        </p:txBody>
      </p:sp>
      <p:sp>
        <p:nvSpPr>
          <p:cNvPr id="21" name="anim-g2-2487"/>
          <p:cNvSpPr/>
          <p:nvPr/>
        </p:nvSpPr>
        <p:spPr>
          <a:xfrm>
            <a:off x="822960" y="3724656"/>
            <a:ext cx="5232002" cy="1100328"/>
          </a:xfrm>
          <a:prstGeom prst="roundRect">
            <a:avLst>
              <a:gd name="adj" fmla="val 9972"/>
            </a:avLst>
          </a:prstGeom>
          <a:solidFill>
            <a:srgbClr val="E6F4EC"/>
          </a:solidFill>
          <a:ln w="12700">
            <a:solidFill>
              <a:srgbClr val="CDE9D9"/>
            </a:solidFill>
            <a:prstDash val="solid"/>
          </a:ln>
        </p:spPr>
      </p:sp>
      <p:sp>
        <p:nvSpPr>
          <p:cNvPr id="22" name="anim-g2-2488"/>
          <p:cNvSpPr/>
          <p:nvPr/>
        </p:nvSpPr>
        <p:spPr>
          <a:xfrm>
            <a:off x="960120" y="3724656"/>
            <a:ext cx="4957682"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عدالة معلنة، واستماع لشكواهم، وشرح أسباب قراراتك</a:t>
            </a:r>
            <a:endParaRPr lang="ar-SA" sz="2100" dirty="0"/>
          </a:p>
        </p:txBody>
      </p:sp>
      <p:sp>
        <p:nvSpPr>
          <p:cNvPr id="23" name="anim-g3-2489"/>
          <p:cNvSpPr/>
          <p:nvPr/>
        </p:nvSpPr>
        <p:spPr>
          <a:xfrm>
            <a:off x="8615050" y="4934712"/>
            <a:ext cx="2753685" cy="1100328"/>
          </a:xfrm>
          <a:prstGeom prst="roundRect">
            <a:avLst>
              <a:gd name="adj" fmla="val 9972"/>
            </a:avLst>
          </a:prstGeom>
          <a:solidFill>
            <a:srgbClr val="FBF3DF"/>
          </a:solidFill>
          <a:ln w="12700">
            <a:solidFill>
              <a:srgbClr val="EFDDAF"/>
            </a:solidFill>
            <a:prstDash val="solid"/>
          </a:ln>
        </p:spPr>
      </p:sp>
      <p:sp>
        <p:nvSpPr>
          <p:cNvPr id="24" name="anim-g3-2490"/>
          <p:cNvSpPr/>
          <p:nvPr/>
        </p:nvSpPr>
        <p:spPr>
          <a:xfrm>
            <a:off x="8752210" y="4934712"/>
            <a:ext cx="2479365"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عناد المعلم ورفضه</a:t>
            </a:r>
            <a:endParaRPr lang="ar-SA" sz="2100" dirty="0"/>
          </a:p>
        </p:txBody>
      </p:sp>
      <p:sp>
        <p:nvSpPr>
          <p:cNvPr id="25" name="anim-g3-2491"/>
          <p:cNvSpPr/>
          <p:nvPr/>
        </p:nvSpPr>
        <p:spPr>
          <a:xfrm>
            <a:off x="6164690" y="4934712"/>
            <a:ext cx="2340632" cy="1100328"/>
          </a:xfrm>
          <a:prstGeom prst="roundRect">
            <a:avLst>
              <a:gd name="adj" fmla="val 9972"/>
            </a:avLst>
          </a:prstGeom>
          <a:solidFill>
            <a:srgbClr val="FFFFFF"/>
          </a:solidFill>
          <a:ln w="12700">
            <a:solidFill>
              <a:srgbClr val="E4DCC8"/>
            </a:solidFill>
            <a:prstDash val="solid"/>
          </a:ln>
        </p:spPr>
      </p:sp>
      <p:sp>
        <p:nvSpPr>
          <p:cNvPr id="26" name="anim-g3-2492"/>
          <p:cNvSpPr/>
          <p:nvPr/>
        </p:nvSpPr>
        <p:spPr>
          <a:xfrm>
            <a:off x="6301850" y="4934712"/>
            <a:ext cx="2066312"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أسلوب المعلم أو تكليفات زائدة</a:t>
            </a:r>
            <a:endParaRPr lang="ar-SA" sz="2100" dirty="0"/>
          </a:p>
        </p:txBody>
      </p:sp>
      <p:sp>
        <p:nvSpPr>
          <p:cNvPr id="27" name="anim-g3-2493"/>
          <p:cNvSpPr/>
          <p:nvPr/>
        </p:nvSpPr>
        <p:spPr>
          <a:xfrm>
            <a:off x="822960" y="4934712"/>
            <a:ext cx="5232002" cy="1100328"/>
          </a:xfrm>
          <a:prstGeom prst="roundRect">
            <a:avLst>
              <a:gd name="adj" fmla="val 9972"/>
            </a:avLst>
          </a:prstGeom>
          <a:solidFill>
            <a:srgbClr val="E6F4EC"/>
          </a:solidFill>
          <a:ln w="12700">
            <a:solidFill>
              <a:srgbClr val="CDE9D9"/>
            </a:solidFill>
            <a:prstDash val="solid"/>
          </a:ln>
        </p:spPr>
      </p:sp>
      <p:sp>
        <p:nvSpPr>
          <p:cNvPr id="28" name="anim-g3-2494"/>
          <p:cNvSpPr/>
          <p:nvPr/>
        </p:nvSpPr>
        <p:spPr>
          <a:xfrm>
            <a:off x="960120" y="4934712"/>
            <a:ext cx="4957682"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راجع أسلوبك أولًا، وخفّف التكليف، وابدأ معه علاقة جديدة</a:t>
            </a:r>
            <a:endParaRPr lang="ar-SA" sz="2100" dirty="0"/>
          </a:p>
        </p:txBody>
      </p:sp>
      <p:sp>
        <p:nvSpPr>
          <p:cNvPr id="29" name="Text 27"/>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30" name="Text 28"/>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عيادة المواقف والختام  ·  ٢١٢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400"/>
                                        <p:tgtEl>
                                          <p:spTgt spid="20"/>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0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400"/>
                                        <p:tgtEl>
                                          <p:spTgt spid="2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400"/>
                                        <p:tgtEl>
                                          <p:spTgt spid="2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fade">
                                      <p:cBhvr>
                                        <p:cTn id="59" dur="400"/>
                                        <p:tgtEl>
                                          <p:spTgt spid="27"/>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213.xml><?xml version="1.0" encoding="utf-8"?>
<p:sld xmlns:a="http://schemas.openxmlformats.org/drawingml/2006/main" xmlns:r="http://schemas.openxmlformats.org/officeDocument/2006/relationships" xmlns:p="http://schemas.openxmlformats.org/presentationml/2006/main">
  <p:cSld name="Slide 2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833311" y="457200"/>
            <a:ext cx="4535424"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6833311" y="457200"/>
            <a:ext cx="453542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نشاط المجموعات — عشر دقائق</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F0CC7A"/>
                </a:solidFill>
                <a:latin typeface="Cairo Black" pitchFamily="34" charset="0"/>
                <a:ea typeface="Cairo Black" pitchFamily="34" charset="-122"/>
                <a:cs typeface="Cairo Black" pitchFamily="34" charset="-120"/>
              </a:rPr>
              <a:t>عيادة المواقف</a:t>
            </a:r>
            <a:endParaRPr lang="ar-SA" sz="3800" dirty="0"/>
          </a:p>
        </p:txBody>
      </p:sp>
      <p:sp>
        <p:nvSpPr>
          <p:cNvPr id="5" name="anim-g1-2495"/>
          <p:cNvSpPr/>
          <p:nvPr/>
        </p:nvSpPr>
        <p:spPr>
          <a:xfrm>
            <a:off x="10637215" y="2286000"/>
            <a:ext cx="731520" cy="731520"/>
          </a:xfrm>
          <a:prstGeom prst="ellipse">
            <a:avLst/>
          </a:prstGeom>
          <a:solidFill>
            <a:srgbClr val="D9AE4B"/>
          </a:solidFill>
          <a:ln/>
        </p:spPr>
      </p:sp>
      <p:sp>
        <p:nvSpPr>
          <p:cNvPr id="6" name="anim-g1-2496"/>
          <p:cNvSpPr/>
          <p:nvPr/>
        </p:nvSpPr>
        <p:spPr>
          <a:xfrm>
            <a:off x="10637215" y="228600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١</a:t>
            </a:r>
            <a:endParaRPr lang="ar-SA" sz="2400" dirty="0"/>
          </a:p>
        </p:txBody>
      </p:sp>
      <p:sp>
        <p:nvSpPr>
          <p:cNvPr id="7" name="anim-g1-2497"/>
          <p:cNvSpPr/>
          <p:nvPr/>
        </p:nvSpPr>
        <p:spPr>
          <a:xfrm>
            <a:off x="4023360" y="219456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اختاروا موقفًا حقيقيًا مررتم به هذا العام</a:t>
            </a:r>
            <a:endParaRPr lang="ar-SA" sz="2200" dirty="0"/>
          </a:p>
        </p:txBody>
      </p:sp>
      <p:sp>
        <p:nvSpPr>
          <p:cNvPr id="8" name="anim-g2-2498"/>
          <p:cNvSpPr/>
          <p:nvPr/>
        </p:nvSpPr>
        <p:spPr>
          <a:xfrm>
            <a:off x="10637215" y="3383280"/>
            <a:ext cx="731520" cy="731520"/>
          </a:xfrm>
          <a:prstGeom prst="ellipse">
            <a:avLst/>
          </a:prstGeom>
          <a:solidFill>
            <a:srgbClr val="D9AE4B"/>
          </a:solidFill>
          <a:ln/>
        </p:spPr>
      </p:sp>
      <p:sp>
        <p:nvSpPr>
          <p:cNvPr id="9" name="anim-g2-2499"/>
          <p:cNvSpPr/>
          <p:nvPr/>
        </p:nvSpPr>
        <p:spPr>
          <a:xfrm>
            <a:off x="10637215" y="338328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٢</a:t>
            </a:r>
            <a:endParaRPr lang="ar-SA" sz="2400" dirty="0"/>
          </a:p>
        </p:txBody>
      </p:sp>
      <p:sp>
        <p:nvSpPr>
          <p:cNvPr id="10" name="anim-g2-2500"/>
          <p:cNvSpPr/>
          <p:nvPr/>
        </p:nvSpPr>
        <p:spPr>
          <a:xfrm>
            <a:off x="4023360" y="329184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اكتبوا له «بطاقة تدخّل»: السبب، وأول خطوة، والجملة، والبديل</a:t>
            </a:r>
            <a:endParaRPr lang="ar-SA" sz="2200" dirty="0"/>
          </a:p>
        </p:txBody>
      </p:sp>
      <p:sp>
        <p:nvSpPr>
          <p:cNvPr id="11" name="anim-g3-2501"/>
          <p:cNvSpPr/>
          <p:nvPr/>
        </p:nvSpPr>
        <p:spPr>
          <a:xfrm>
            <a:off x="10637215" y="4480560"/>
            <a:ext cx="731520" cy="731520"/>
          </a:xfrm>
          <a:prstGeom prst="ellipse">
            <a:avLst/>
          </a:prstGeom>
          <a:solidFill>
            <a:srgbClr val="D9AE4B"/>
          </a:solidFill>
          <a:ln/>
        </p:spPr>
      </p:sp>
      <p:sp>
        <p:nvSpPr>
          <p:cNvPr id="12" name="anim-g3-2502"/>
          <p:cNvSpPr/>
          <p:nvPr/>
        </p:nvSpPr>
        <p:spPr>
          <a:xfrm>
            <a:off x="10637215" y="448056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٣</a:t>
            </a:r>
            <a:endParaRPr lang="ar-SA" sz="2400" dirty="0"/>
          </a:p>
        </p:txBody>
      </p:sp>
      <p:sp>
        <p:nvSpPr>
          <p:cNvPr id="13" name="anim-g3-2503"/>
          <p:cNvSpPr/>
          <p:nvPr/>
        </p:nvSpPr>
        <p:spPr>
          <a:xfrm>
            <a:off x="4023360" y="438912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قدّموه للقاعة في دقيقتين، ولنتعلم من خبراتكم</a:t>
            </a:r>
            <a:endParaRPr lang="ar-SA" sz="2200" dirty="0"/>
          </a:p>
        </p:txBody>
      </p:sp>
      <p:sp>
        <p:nvSpPr>
          <p:cNvPr id="14" name="Shape 12"/>
          <p:cNvSpPr/>
          <p:nvPr/>
        </p:nvSpPr>
        <p:spPr>
          <a:xfrm>
            <a:off x="822960" y="2194560"/>
            <a:ext cx="2834640" cy="2834640"/>
          </a:xfrm>
          <a:prstGeom prst="ellipse">
            <a:avLst/>
          </a:prstGeom>
          <a:solidFill>
            <a:srgbClr val="FFFFFF">
              <a:alpha val="5000"/>
            </a:srgbClr>
          </a:solidFill>
          <a:ln w="88900">
            <a:solidFill>
              <a:srgbClr val="D9AE4B">
                <a:alpha val="50000"/>
              </a:srgbClr>
            </a:solidFill>
            <a:prstDash val="solid"/>
          </a:ln>
        </p:spPr>
      </p:sp>
      <p:sp>
        <p:nvSpPr>
          <p:cNvPr id="15" name="Text 13"/>
          <p:cNvSpPr/>
          <p:nvPr/>
        </p:nvSpPr>
        <p:spPr>
          <a:xfrm>
            <a:off x="822960" y="2834640"/>
            <a:ext cx="2834640" cy="1097280"/>
          </a:xfrm>
          <a:prstGeom prst="rect">
            <a:avLst/>
          </a:prstGeom>
          <a:noFill/>
          <a:ln/>
        </p:spPr>
        <p:txBody>
          <a:bodyPr wrap="square" lIns="0" tIns="0" rIns="0" bIns="0" rtlCol="0" anchor="ctr">
            <a:normAutofit/>
          </a:bodyPr>
          <a:lstStyle/>
          <a:p>
            <a:pPr algn="ctr" indent="0" marL="0">
              <a:buNone/>
            </a:pPr>
            <a:r>
              <a:rPr lang="ar-SA" altLang="en-US" sz="6000" dirty="0">
                <a:solidFill>
                  <a:srgbClr val="F0CC7A"/>
                </a:solidFill>
                <a:latin typeface="Cairo Black" pitchFamily="34" charset="0"/>
                <a:ea typeface="Cairo Black" pitchFamily="34" charset="-122"/>
                <a:cs typeface="Cairo Black" pitchFamily="34" charset="-120"/>
              </a:rPr>
              <a:t>10:00</a:t>
            </a:r>
            <a:endParaRPr lang="ar-SA" sz="6000" dirty="0"/>
          </a:p>
        </p:txBody>
      </p:sp>
      <p:sp>
        <p:nvSpPr>
          <p:cNvPr id="16" name="Text 14"/>
          <p:cNvSpPr/>
          <p:nvPr/>
        </p:nvSpPr>
        <p:spPr>
          <a:xfrm>
            <a:off x="822960" y="3840480"/>
            <a:ext cx="2834640"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C9CFE6"/>
                </a:solidFill>
                <a:latin typeface="Cairo" pitchFamily="34" charset="0"/>
                <a:ea typeface="Cairo" pitchFamily="34" charset="-122"/>
                <a:cs typeface="Cairo" pitchFamily="34" charset="-120"/>
              </a:rPr>
              <a:t>١٠ دقائق</a:t>
            </a:r>
            <a:endParaRPr lang="ar-SA" sz="1600" dirty="0"/>
          </a:p>
        </p:txBody>
      </p:sp>
      <p:sp>
        <p:nvSpPr>
          <p:cNvPr id="17" name="Text 1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18" name="Text 1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عيادة المواقف والختام  ·  ٢١٣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214.xml><?xml version="1.0" encoding="utf-8"?>
<p:sld xmlns:a="http://schemas.openxmlformats.org/drawingml/2006/main" xmlns:r="http://schemas.openxmlformats.org/officeDocument/2006/relationships" xmlns:p="http://schemas.openxmlformats.org/presentationml/2006/main">
  <p:cSld name="Slide 2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خطتي الشخصية</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ثلاثة التزامات… أبدأ بها غدًا</a:t>
            </a:r>
            <a:endParaRPr lang="ar-SA" sz="3800" dirty="0"/>
          </a:p>
        </p:txBody>
      </p:sp>
      <p:sp>
        <p:nvSpPr>
          <p:cNvPr id="5" name="anim-g1-2504"/>
          <p:cNvSpPr/>
          <p:nvPr/>
        </p:nvSpPr>
        <p:spPr>
          <a:xfrm>
            <a:off x="822960" y="1920240"/>
            <a:ext cx="10545775" cy="1298448"/>
          </a:xfrm>
          <a:prstGeom prst="roundRect">
            <a:avLst>
              <a:gd name="adj" fmla="val 11268"/>
            </a:avLst>
          </a:prstGeom>
          <a:solidFill>
            <a:srgbClr val="FFFFFF"/>
          </a:solidFill>
          <a:ln w="12700">
            <a:solidFill>
              <a:srgbClr val="E4DCC8"/>
            </a:solidFill>
            <a:prstDash val="solid"/>
          </a:ln>
        </p:spPr>
      </p:sp>
      <p:sp>
        <p:nvSpPr>
          <p:cNvPr id="6" name="anim-g1-2505"/>
          <p:cNvSpPr/>
          <p:nvPr/>
        </p:nvSpPr>
        <p:spPr>
          <a:xfrm>
            <a:off x="10573207" y="2286000"/>
            <a:ext cx="566928" cy="566928"/>
          </a:xfrm>
          <a:prstGeom prst="ellipse">
            <a:avLst/>
          </a:prstGeom>
          <a:solidFill>
            <a:srgbClr val="D9AE4B"/>
          </a:solidFill>
          <a:ln/>
        </p:spPr>
      </p:sp>
      <p:sp>
        <p:nvSpPr>
          <p:cNvPr id="7" name="anim-g1-2506"/>
          <p:cNvSpPr/>
          <p:nvPr/>
        </p:nvSpPr>
        <p:spPr>
          <a:xfrm>
            <a:off x="10573207" y="228600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2507"/>
          <p:cNvSpPr/>
          <p:nvPr/>
        </p:nvSpPr>
        <p:spPr>
          <a:xfrm>
            <a:off x="1097280" y="1920240"/>
            <a:ext cx="9247327" cy="1298448"/>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جملة جديدة سأقولها</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من الجمل الجاهزة التي تعلمتها اليوم</a:t>
            </a:r>
            <a:endParaRPr lang="ar-SA" sz="2400" dirty="0"/>
          </a:p>
        </p:txBody>
      </p:sp>
      <p:sp>
        <p:nvSpPr>
          <p:cNvPr id="9" name="anim-g2-2508"/>
          <p:cNvSpPr/>
          <p:nvPr/>
        </p:nvSpPr>
        <p:spPr>
          <a:xfrm>
            <a:off x="822960" y="3328416"/>
            <a:ext cx="10545775" cy="1298448"/>
          </a:xfrm>
          <a:prstGeom prst="roundRect">
            <a:avLst>
              <a:gd name="adj" fmla="val 11268"/>
            </a:avLst>
          </a:prstGeom>
          <a:solidFill>
            <a:srgbClr val="FFFFFF"/>
          </a:solidFill>
          <a:ln w="12700">
            <a:solidFill>
              <a:srgbClr val="E4DCC8"/>
            </a:solidFill>
            <a:prstDash val="solid"/>
          </a:ln>
        </p:spPr>
      </p:sp>
      <p:sp>
        <p:nvSpPr>
          <p:cNvPr id="10" name="anim-g2-2509"/>
          <p:cNvSpPr/>
          <p:nvPr/>
        </p:nvSpPr>
        <p:spPr>
          <a:xfrm>
            <a:off x="10573207" y="3694176"/>
            <a:ext cx="566928" cy="566928"/>
          </a:xfrm>
          <a:prstGeom prst="ellipse">
            <a:avLst/>
          </a:prstGeom>
          <a:solidFill>
            <a:srgbClr val="D9AE4B"/>
          </a:solidFill>
          <a:ln/>
        </p:spPr>
      </p:sp>
      <p:sp>
        <p:nvSpPr>
          <p:cNvPr id="11" name="anim-g2-2510"/>
          <p:cNvSpPr/>
          <p:nvPr/>
        </p:nvSpPr>
        <p:spPr>
          <a:xfrm>
            <a:off x="10573207" y="3694176"/>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2511"/>
          <p:cNvSpPr/>
          <p:nvPr/>
        </p:nvSpPr>
        <p:spPr>
          <a:xfrm>
            <a:off x="1097280" y="3328416"/>
            <a:ext cx="9247327" cy="1298448"/>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إجراء سأعلّمه لطلابي</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بالخطوات الأربع: اشرح، أرِهم، تدرّبوا، عزّز</a:t>
            </a:r>
            <a:endParaRPr lang="ar-SA" sz="2400" dirty="0"/>
          </a:p>
        </p:txBody>
      </p:sp>
      <p:sp>
        <p:nvSpPr>
          <p:cNvPr id="13" name="anim-g3-2512"/>
          <p:cNvSpPr/>
          <p:nvPr/>
        </p:nvSpPr>
        <p:spPr>
          <a:xfrm>
            <a:off x="822960" y="4736592"/>
            <a:ext cx="10545775" cy="1298448"/>
          </a:xfrm>
          <a:prstGeom prst="roundRect">
            <a:avLst>
              <a:gd name="adj" fmla="val 11268"/>
            </a:avLst>
          </a:prstGeom>
          <a:solidFill>
            <a:srgbClr val="FFFFFF"/>
          </a:solidFill>
          <a:ln w="12700">
            <a:solidFill>
              <a:srgbClr val="E4DCC8"/>
            </a:solidFill>
            <a:prstDash val="solid"/>
          </a:ln>
        </p:spPr>
      </p:sp>
      <p:sp>
        <p:nvSpPr>
          <p:cNvPr id="14" name="anim-g3-2513"/>
          <p:cNvSpPr/>
          <p:nvPr/>
        </p:nvSpPr>
        <p:spPr>
          <a:xfrm>
            <a:off x="10573207" y="5102352"/>
            <a:ext cx="566928" cy="566928"/>
          </a:xfrm>
          <a:prstGeom prst="ellipse">
            <a:avLst/>
          </a:prstGeom>
          <a:solidFill>
            <a:srgbClr val="D9AE4B"/>
          </a:solidFill>
          <a:ln/>
        </p:spPr>
      </p:sp>
      <p:sp>
        <p:nvSpPr>
          <p:cNvPr id="15" name="anim-g3-2514"/>
          <p:cNvSpPr/>
          <p:nvPr/>
        </p:nvSpPr>
        <p:spPr>
          <a:xfrm>
            <a:off x="10573207" y="510235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2515"/>
          <p:cNvSpPr/>
          <p:nvPr/>
        </p:nvSpPr>
        <p:spPr>
          <a:xfrm>
            <a:off x="1097280" y="4736592"/>
            <a:ext cx="9247327" cy="1298448"/>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طالب سأدعو له كل يوم</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وأراقب: من يتغير أولًا… هو أم أنا؟</a:t>
            </a:r>
            <a:endParaRPr lang="ar-SA" sz="2400" dirty="0"/>
          </a:p>
        </p:txBody>
      </p:sp>
      <p:sp>
        <p:nvSpPr>
          <p:cNvPr id="17" name="Text 1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مواقف صفية</a:t>
            </a:r>
            <a:endParaRPr lang="ar-SA" sz="1200" dirty="0"/>
          </a:p>
        </p:txBody>
      </p:sp>
      <p:sp>
        <p:nvSpPr>
          <p:cNvPr id="18" name="Text 1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عيادة المواقف والختام  ·  ٢١٤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215.xml><?xml version="1.0" encoding="utf-8"?>
<p:sld xmlns:a="http://schemas.openxmlformats.org/drawingml/2006/main" xmlns:r="http://schemas.openxmlformats.org/officeDocument/2006/relationships" xmlns:p="http://schemas.openxmlformats.org/presentationml/2006/main">
  <p:cSld name="Slide 215">
    <p:spTree>
      <p:nvGrpSpPr>
        <p:cNvPr id="1" name=""/>
        <p:cNvGrpSpPr/>
        <p:nvPr/>
      </p:nvGrpSpPr>
      <p:grpSpPr>
        <a:xfrm>
          <a:off x="0" y="0"/>
          <a:ext cx="0" cy="0"/>
          <a:chOff x="0" y="0"/>
          <a:chExt cx="0" cy="0"/>
        </a:xfrm>
      </p:grpSpPr>
      <p:pic>
        <p:nvPicPr>
          <p:cNvPr id="2" name="Image 0" descr="/Users/mac/Desktop/أردوينو/المشاريع والكتب/younes-training/mawaqif/.pptx-cache/s21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name="Slide 2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705960" y="1097280"/>
            <a:ext cx="2779776"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705960" y="1097280"/>
            <a:ext cx="277977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نختم كما بدأنا</a:t>
            </a:r>
            <a:endParaRPr lang="ar-SA" sz="1800" dirty="0"/>
          </a:p>
        </p:txBody>
      </p:sp>
      <p:sp>
        <p:nvSpPr>
          <p:cNvPr id="4" name="Shape 2"/>
          <p:cNvSpPr/>
          <p:nvPr/>
        </p:nvSpPr>
        <p:spPr>
          <a:xfrm>
            <a:off x="5181448" y="2103120"/>
            <a:ext cx="1828800" cy="32004"/>
          </a:xfrm>
          <a:prstGeom prst="rect">
            <a:avLst/>
          </a:prstGeom>
          <a:solidFill>
            <a:srgbClr val="D9AE4B"/>
          </a:solidFill>
          <a:ln/>
        </p:spPr>
      </p:sp>
      <p:sp>
        <p:nvSpPr>
          <p:cNvPr id="5" name="Text 3"/>
          <p:cNvSpPr/>
          <p:nvPr/>
        </p:nvSpPr>
        <p:spPr>
          <a:xfrm>
            <a:off x="1188720" y="2286000"/>
            <a:ext cx="9814255" cy="2377440"/>
          </a:xfrm>
          <a:prstGeom prst="rect">
            <a:avLst/>
          </a:prstGeom>
          <a:noFill/>
          <a:ln/>
        </p:spPr>
        <p:txBody>
          <a:bodyPr wrap="square" lIns="0" tIns="0" rIns="0" bIns="0" rtlCol="0" anchor="ctr">
            <a:normAutofit/>
          </a:bodyPr>
          <a:lstStyle/>
          <a:p>
            <a:pPr rtl="1" algn="ctr" indent="0" marL="0">
              <a:lnSpc>
                <a:spcPct val="125000"/>
              </a:lnSpc>
              <a:buNone/>
            </a:pPr>
            <a:r>
              <a:rPr lang="ar-SA" altLang="en-US" sz="4000" b="1" dirty="0">
                <a:solidFill>
                  <a:srgbClr val="FFFFFF"/>
                </a:solidFill>
                <a:latin typeface="Amiri" pitchFamily="34" charset="0"/>
                <a:ea typeface="Amiri" pitchFamily="34" charset="-122"/>
                <a:cs typeface="Amiri" pitchFamily="34" charset="-120"/>
              </a:rPr>
              <a:t>إن الرفق لا يكون في شيء إلا زانه، ولا يُنزع من شيء إلا شانه</a:t>
            </a:r>
            <a:endParaRPr lang="ar-SA" sz="4000" dirty="0"/>
          </a:p>
        </p:txBody>
      </p:sp>
      <p:sp>
        <p:nvSpPr>
          <p:cNvPr id="6" name="Shape 4"/>
          <p:cNvSpPr/>
          <p:nvPr/>
        </p:nvSpPr>
        <p:spPr>
          <a:xfrm>
            <a:off x="5181448" y="4800600"/>
            <a:ext cx="1828800" cy="32004"/>
          </a:xfrm>
          <a:prstGeom prst="rect">
            <a:avLst/>
          </a:prstGeom>
          <a:solidFill>
            <a:srgbClr val="D9AE4B"/>
          </a:solidFill>
          <a:ln/>
        </p:spPr>
      </p:sp>
      <p:sp>
        <p:nvSpPr>
          <p:cNvPr id="7" name="anim-g1-2516"/>
          <p:cNvSpPr/>
          <p:nvPr/>
        </p:nvSpPr>
        <p:spPr>
          <a:xfrm>
            <a:off x="0" y="5029200"/>
            <a:ext cx="12191695"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D9AE4B"/>
                </a:solidFill>
                <a:latin typeface="Cairo" pitchFamily="34" charset="0"/>
                <a:ea typeface="Cairo" pitchFamily="34" charset="-122"/>
                <a:cs typeface="Cairo" pitchFamily="34" charset="-120"/>
              </a:rPr>
              <a:t>رواه مسلم</a:t>
            </a:r>
            <a:endParaRPr lang="ar-SA" sz="1600" dirty="0"/>
          </a:p>
        </p:txBody>
      </p:sp>
      <p:sp>
        <p:nvSpPr>
          <p:cNvPr id="8" name="Text 6"/>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9" name="Text 7"/>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عيادة المواقف والختام  ·  ٢١٦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17.xml><?xml version="1.0" encoding="utf-8"?>
<p:sld xmlns:a="http://schemas.openxmlformats.org/drawingml/2006/main" xmlns:r="http://schemas.openxmlformats.org/officeDocument/2006/relationships" xmlns:p="http://schemas.openxmlformats.org/presentationml/2006/main">
  <p:cSld name="Slide 2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رسالة الدورة</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لا يوجد طالب مستحيل…</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يوجد موقف لم نجد مفتاحه بعد</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مواقف صفية</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عيادة المواقف والختام  ·  ٢١٧</a:t>
            </a:r>
            <a:endParaRPr lang="ar-SA" sz="1200" dirty="0"/>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name="Slide 218">
    <p:spTree>
      <p:nvGrpSpPr>
        <p:cNvPr id="1" name=""/>
        <p:cNvGrpSpPr/>
        <p:nvPr/>
      </p:nvGrpSpPr>
      <p:grpSpPr>
        <a:xfrm>
          <a:off x="0" y="0"/>
          <a:ext cx="0" cy="0"/>
          <a:chOff x="0" y="0"/>
          <a:chExt cx="0" cy="0"/>
        </a:xfrm>
      </p:grpSpPr>
      <p:pic>
        <p:nvPicPr>
          <p:cNvPr id="2" name="Image 0" descr="/Users/mac/Desktop/أردوينو/المشاريع والكتب/younes-training/mawaqif/.pptx-cache/s21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name="Slide 2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615788" y="914400"/>
            <a:ext cx="960120" cy="960120"/>
          </a:xfrm>
          <a:prstGeom prst="roundRect">
            <a:avLst>
              <a:gd name="adj" fmla="val 26667"/>
            </a:avLst>
          </a:prstGeom>
          <a:solidFill>
            <a:srgbClr val="D9AE4B"/>
          </a:solidFill>
          <a:ln/>
        </p:spPr>
      </p:sp>
      <p:sp>
        <p:nvSpPr>
          <p:cNvPr id="3" name="Text 1"/>
          <p:cNvSpPr/>
          <p:nvPr/>
        </p:nvSpPr>
        <p:spPr>
          <a:xfrm>
            <a:off x="5615788" y="914400"/>
            <a:ext cx="960120" cy="960120"/>
          </a:xfrm>
          <a:prstGeom prst="rect">
            <a:avLst/>
          </a:prstGeom>
          <a:noFill/>
          <a:ln/>
        </p:spPr>
        <p:txBody>
          <a:bodyPr wrap="square" lIns="0" tIns="0" rIns="0" bIns="0" rtlCol="0" anchor="ctr">
            <a:normAutofit/>
          </a:bodyPr>
          <a:lstStyle/>
          <a:p>
            <a:pPr rtl="1" algn="ctr" indent="0" marL="0">
              <a:buNone/>
            </a:pPr>
            <a:r>
              <a:rPr lang="ar-SA" altLang="en-US" sz="4400" dirty="0">
                <a:solidFill>
                  <a:srgbClr val="131B34"/>
                </a:solidFill>
                <a:latin typeface="Cairo" pitchFamily="34" charset="0"/>
                <a:ea typeface="Cairo" pitchFamily="34" charset="-122"/>
                <a:cs typeface="Cairo" pitchFamily="34" charset="-120"/>
              </a:rPr>
              <a:t>🌳</a:t>
            </a:r>
            <a:endParaRPr lang="ar-SA" sz="4400" dirty="0"/>
          </a:p>
        </p:txBody>
      </p:sp>
      <p:sp>
        <p:nvSpPr>
          <p:cNvPr id="4" name="Text 2"/>
          <p:cNvSpPr/>
          <p:nvPr/>
        </p:nvSpPr>
        <p:spPr>
          <a:xfrm>
            <a:off x="0" y="2194560"/>
            <a:ext cx="12191695" cy="1280160"/>
          </a:xfrm>
          <a:prstGeom prst="rect">
            <a:avLst/>
          </a:prstGeom>
          <a:noFill/>
          <a:ln/>
        </p:spPr>
        <p:txBody>
          <a:bodyPr wrap="square" lIns="0" tIns="0" rIns="0" bIns="0" rtlCol="0" anchor="ctr">
            <a:normAutofit/>
          </a:bodyPr>
          <a:lstStyle/>
          <a:p>
            <a:pPr rtl="1" algn="ctr" indent="0" marL="0">
              <a:buNone/>
            </a:pPr>
            <a:r>
              <a:rPr lang="ar-SA" altLang="en-US" sz="8000" dirty="0">
                <a:solidFill>
                  <a:srgbClr val="FFF3D6"/>
                </a:solidFill>
                <a:latin typeface="Cairo Black" pitchFamily="34" charset="0"/>
                <a:ea typeface="Cairo Black" pitchFamily="34" charset="-122"/>
                <a:cs typeface="Cairo Black" pitchFamily="34" charset="-120"/>
              </a:rPr>
              <a:t>شكرًا لكم</a:t>
            </a:r>
            <a:endParaRPr lang="ar-SA" sz="8000" dirty="0"/>
          </a:p>
        </p:txBody>
      </p:sp>
      <p:sp>
        <p:nvSpPr>
          <p:cNvPr id="5" name="Text 3"/>
          <p:cNvSpPr/>
          <p:nvPr/>
        </p:nvSpPr>
        <p:spPr>
          <a:xfrm>
            <a:off x="0" y="3566160"/>
            <a:ext cx="12191695" cy="640080"/>
          </a:xfrm>
          <a:prstGeom prst="rect">
            <a:avLst/>
          </a:prstGeom>
          <a:noFill/>
          <a:ln/>
        </p:spPr>
        <p:txBody>
          <a:bodyPr wrap="square" lIns="0" tIns="0" rIns="0" bIns="0" rtlCol="0" anchor="ctr">
            <a:normAutofit/>
          </a:bodyPr>
          <a:lstStyle/>
          <a:p>
            <a:pPr rtl="1" algn="ctr" indent="0" marL="0">
              <a:buNone/>
            </a:pPr>
            <a:r>
              <a:rPr lang="ar-SA" altLang="en-US" sz="2800" b="1" dirty="0">
                <a:solidFill>
                  <a:srgbClr val="FFFFFF"/>
                </a:solidFill>
                <a:latin typeface="Cairo" pitchFamily="34" charset="0"/>
                <a:ea typeface="Cairo" pitchFamily="34" charset="-122"/>
                <a:cs typeface="Cairo" pitchFamily="34" charset="-120"/>
              </a:rPr>
              <a:t>دمتم معلمين ميسّرين… لا متعنّتين</a:t>
            </a:r>
            <a:endParaRPr lang="ar-SA" sz="2800" dirty="0"/>
          </a:p>
        </p:txBody>
      </p:sp>
      <p:sp>
        <p:nvSpPr>
          <p:cNvPr id="6" name="Shape 4"/>
          <p:cNvSpPr/>
          <p:nvPr/>
        </p:nvSpPr>
        <p:spPr>
          <a:xfrm>
            <a:off x="5364328" y="4434840"/>
            <a:ext cx="1463040" cy="36576"/>
          </a:xfrm>
          <a:prstGeom prst="rect">
            <a:avLst/>
          </a:prstGeom>
          <a:solidFill>
            <a:srgbClr val="D9AE4B"/>
          </a:solidFill>
          <a:ln/>
        </p:spPr>
      </p:sp>
      <p:sp>
        <p:nvSpPr>
          <p:cNvPr id="7" name="Text 5"/>
          <p:cNvSpPr/>
          <p:nvPr/>
        </p:nvSpPr>
        <p:spPr>
          <a:xfrm>
            <a:off x="0" y="4846320"/>
            <a:ext cx="12191695"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C9CFE6"/>
                </a:solidFill>
                <a:latin typeface="Cairo" pitchFamily="34" charset="0"/>
                <a:ea typeface="Cairo" pitchFamily="34" charset="-122"/>
                <a:cs typeface="Cairo" pitchFamily="34" charset="-120"/>
              </a:rPr>
              <a:t>مواقف صفية · إعداد وتقديم: أ. محمد زيتون</a:t>
            </a:r>
            <a:endParaRPr lang="ar-SA"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219</Slides>
  <Notes>219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219</vt:i4>
      </vt:variant>
    </vt:vector>
  </HeadingPairs>
  <TitlesOfParts>
    <vt:vector size="2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lpstr>Slide 187</vt:lpstr>
      <vt:lpstr>Slide 188</vt:lpstr>
      <vt:lpstr>Slide 189</vt:lpstr>
      <vt:lpstr>Slide 190</vt:lpstr>
      <vt:lpstr>Slide 191</vt:lpstr>
      <vt:lpstr>Slide 192</vt:lpstr>
      <vt:lpstr>Slide 193</vt:lpstr>
      <vt:lpstr>Slide 194</vt:lpstr>
      <vt:lpstr>Slide 195</vt:lpstr>
      <vt:lpstr>Slide 196</vt:lpstr>
      <vt:lpstr>Slide 197</vt:lpstr>
      <vt:lpstr>Slide 198</vt:lpstr>
      <vt:lpstr>Slide 199</vt:lpstr>
      <vt:lpstr>Slide 200</vt:lpstr>
      <vt:lpstr>Slide 201</vt:lpstr>
      <vt:lpstr>Slide 202</vt:lpstr>
      <vt:lpstr>Slide 203</vt:lpstr>
      <vt:lpstr>Slide 204</vt:lpstr>
      <vt:lpstr>Slide 205</vt:lpstr>
      <vt:lpstr>Slide 206</vt:lpstr>
      <vt:lpstr>Slide 207</vt:lpstr>
      <vt:lpstr>Slide 208</vt:lpstr>
      <vt:lpstr>Slide 209</vt:lpstr>
      <vt:lpstr>Slide 210</vt:lpstr>
      <vt:lpstr>Slide 211</vt:lpstr>
      <vt:lpstr>Slide 212</vt:lpstr>
      <vt:lpstr>Slide 213</vt:lpstr>
      <vt:lpstr>Slide 214</vt:lpstr>
      <vt:lpstr>Slide 215</vt:lpstr>
      <vt:lpstr>Slide 216</vt:lpstr>
      <vt:lpstr>Slide 217</vt:lpstr>
      <vt:lpstr>Slide 218</vt:lpstr>
      <vt:lpstr>Slide 219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مواقف صفية</dc:title>
  <dc:subject>PptxGenJS Presentation</dc:subject>
  <dc:creator>أ. محمد زيتون</dc:creator>
  <cp:lastModifiedBy>أ. محمد زيتون</cp:lastModifiedBy>
  <cp:revision>1</cp:revision>
  <dcterms:created xsi:type="dcterms:W3CDTF">2026-09-28T04:15:28Z</dcterms:created>
  <dcterms:modified xsi:type="dcterms:W3CDTF">2026-09-28T04:15:28Z</dcterms:modified>
</cp:coreProperties>
</file>